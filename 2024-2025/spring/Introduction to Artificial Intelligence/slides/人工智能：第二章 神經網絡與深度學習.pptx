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ags/tag14.xml" ContentType="application/vnd.openxmlformats-officedocument.presentationml.tag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68" r:id="rId2"/>
    <p:sldMasterId id="2147483780" r:id="rId3"/>
    <p:sldMasterId id="2147483792" r:id="rId4"/>
    <p:sldMasterId id="2147483804" r:id="rId5"/>
  </p:sldMasterIdLst>
  <p:notesMasterIdLst>
    <p:notesMasterId r:id="rId213"/>
  </p:notesMasterIdLst>
  <p:handoutMasterIdLst>
    <p:handoutMasterId r:id="rId214"/>
  </p:handoutMasterIdLst>
  <p:sldIdLst>
    <p:sldId id="599" r:id="rId6"/>
    <p:sldId id="621" r:id="rId7"/>
    <p:sldId id="601" r:id="rId8"/>
    <p:sldId id="602" r:id="rId9"/>
    <p:sldId id="603" r:id="rId10"/>
    <p:sldId id="604" r:id="rId11"/>
    <p:sldId id="605" r:id="rId12"/>
    <p:sldId id="505" r:id="rId13"/>
    <p:sldId id="825" r:id="rId14"/>
    <p:sldId id="606" r:id="rId15"/>
    <p:sldId id="607" r:id="rId16"/>
    <p:sldId id="608" r:id="rId17"/>
    <p:sldId id="609" r:id="rId18"/>
    <p:sldId id="610" r:id="rId19"/>
    <p:sldId id="612" r:id="rId20"/>
    <p:sldId id="613" r:id="rId21"/>
    <p:sldId id="616" r:id="rId22"/>
    <p:sldId id="614" r:id="rId23"/>
    <p:sldId id="615" r:id="rId24"/>
    <p:sldId id="617" r:id="rId25"/>
    <p:sldId id="618" r:id="rId26"/>
    <p:sldId id="619" r:id="rId27"/>
    <p:sldId id="320" r:id="rId28"/>
    <p:sldId id="321" r:id="rId29"/>
    <p:sldId id="622" r:id="rId30"/>
    <p:sldId id="623" r:id="rId31"/>
    <p:sldId id="625" r:id="rId32"/>
    <p:sldId id="626" r:id="rId33"/>
    <p:sldId id="627" r:id="rId34"/>
    <p:sldId id="628" r:id="rId35"/>
    <p:sldId id="629" r:id="rId36"/>
    <p:sldId id="809" r:id="rId37"/>
    <p:sldId id="810" r:id="rId38"/>
    <p:sldId id="811" r:id="rId39"/>
    <p:sldId id="652" r:id="rId40"/>
    <p:sldId id="653" r:id="rId41"/>
    <p:sldId id="654" r:id="rId42"/>
    <p:sldId id="655" r:id="rId43"/>
    <p:sldId id="657" r:id="rId44"/>
    <p:sldId id="658" r:id="rId45"/>
    <p:sldId id="659" r:id="rId46"/>
    <p:sldId id="660" r:id="rId47"/>
    <p:sldId id="661" r:id="rId48"/>
    <p:sldId id="814" r:id="rId49"/>
    <p:sldId id="662" r:id="rId50"/>
    <p:sldId id="663" r:id="rId51"/>
    <p:sldId id="815" r:id="rId52"/>
    <p:sldId id="664" r:id="rId53"/>
    <p:sldId id="665" r:id="rId54"/>
    <p:sldId id="666" r:id="rId55"/>
    <p:sldId id="667" r:id="rId56"/>
    <p:sldId id="668" r:id="rId57"/>
    <p:sldId id="669" r:id="rId58"/>
    <p:sldId id="670" r:id="rId59"/>
    <p:sldId id="671" r:id="rId60"/>
    <p:sldId id="673" r:id="rId61"/>
    <p:sldId id="674" r:id="rId62"/>
    <p:sldId id="675" r:id="rId63"/>
    <p:sldId id="676" r:id="rId64"/>
    <p:sldId id="677" r:id="rId65"/>
    <p:sldId id="678" r:id="rId66"/>
    <p:sldId id="679" r:id="rId67"/>
    <p:sldId id="680" r:id="rId68"/>
    <p:sldId id="826" r:id="rId69"/>
    <p:sldId id="681" r:id="rId70"/>
    <p:sldId id="812" r:id="rId71"/>
    <p:sldId id="647" r:id="rId72"/>
    <p:sldId id="816" r:id="rId73"/>
    <p:sldId id="648" r:id="rId74"/>
    <p:sldId id="649" r:id="rId75"/>
    <p:sldId id="650" r:id="rId76"/>
    <p:sldId id="682" r:id="rId77"/>
    <p:sldId id="683" r:id="rId78"/>
    <p:sldId id="684" r:id="rId79"/>
    <p:sldId id="685" r:id="rId80"/>
    <p:sldId id="686" r:id="rId81"/>
    <p:sldId id="687" r:id="rId82"/>
    <p:sldId id="688" r:id="rId83"/>
    <p:sldId id="817" r:id="rId84"/>
    <p:sldId id="690" r:id="rId85"/>
    <p:sldId id="691" r:id="rId86"/>
    <p:sldId id="692" r:id="rId87"/>
    <p:sldId id="693" r:id="rId88"/>
    <p:sldId id="694" r:id="rId89"/>
    <p:sldId id="695" r:id="rId90"/>
    <p:sldId id="696" r:id="rId91"/>
    <p:sldId id="697" r:id="rId92"/>
    <p:sldId id="804" r:id="rId93"/>
    <p:sldId id="698" r:id="rId94"/>
    <p:sldId id="699" r:id="rId95"/>
    <p:sldId id="700" r:id="rId96"/>
    <p:sldId id="701" r:id="rId97"/>
    <p:sldId id="702" r:id="rId98"/>
    <p:sldId id="805" r:id="rId99"/>
    <p:sldId id="806" r:id="rId100"/>
    <p:sldId id="703" r:id="rId101"/>
    <p:sldId id="705" r:id="rId102"/>
    <p:sldId id="706" r:id="rId103"/>
    <p:sldId id="707" r:id="rId104"/>
    <p:sldId id="708" r:id="rId105"/>
    <p:sldId id="813" r:id="rId106"/>
    <p:sldId id="710" r:id="rId107"/>
    <p:sldId id="715" r:id="rId108"/>
    <p:sldId id="828" r:id="rId109"/>
    <p:sldId id="829" r:id="rId110"/>
    <p:sldId id="832" r:id="rId111"/>
    <p:sldId id="831" r:id="rId112"/>
    <p:sldId id="711" r:id="rId113"/>
    <p:sldId id="712" r:id="rId114"/>
    <p:sldId id="713" r:id="rId115"/>
    <p:sldId id="714" r:id="rId116"/>
    <p:sldId id="716" r:id="rId117"/>
    <p:sldId id="717" r:id="rId118"/>
    <p:sldId id="818" r:id="rId119"/>
    <p:sldId id="718" r:id="rId120"/>
    <p:sldId id="827" r:id="rId121"/>
    <p:sldId id="719" r:id="rId122"/>
    <p:sldId id="822" r:id="rId123"/>
    <p:sldId id="720" r:id="rId124"/>
    <p:sldId id="721" r:id="rId125"/>
    <p:sldId id="722" r:id="rId126"/>
    <p:sldId id="723" r:id="rId127"/>
    <p:sldId id="724" r:id="rId128"/>
    <p:sldId id="770" r:id="rId129"/>
    <p:sldId id="725" r:id="rId130"/>
    <p:sldId id="726" r:id="rId131"/>
    <p:sldId id="729" r:id="rId132"/>
    <p:sldId id="730" r:id="rId133"/>
    <p:sldId id="731" r:id="rId134"/>
    <p:sldId id="732" r:id="rId135"/>
    <p:sldId id="733" r:id="rId136"/>
    <p:sldId id="734" r:id="rId137"/>
    <p:sldId id="735" r:id="rId138"/>
    <p:sldId id="736" r:id="rId139"/>
    <p:sldId id="834" r:id="rId140"/>
    <p:sldId id="835" r:id="rId141"/>
    <p:sldId id="836" r:id="rId142"/>
    <p:sldId id="737" r:id="rId143"/>
    <p:sldId id="738" r:id="rId144"/>
    <p:sldId id="739" r:id="rId145"/>
    <p:sldId id="740" r:id="rId146"/>
    <p:sldId id="741" r:id="rId147"/>
    <p:sldId id="742" r:id="rId148"/>
    <p:sldId id="743" r:id="rId149"/>
    <p:sldId id="744" r:id="rId150"/>
    <p:sldId id="745" r:id="rId151"/>
    <p:sldId id="746" r:id="rId152"/>
    <p:sldId id="747" r:id="rId153"/>
    <p:sldId id="748" r:id="rId154"/>
    <p:sldId id="749" r:id="rId155"/>
    <p:sldId id="750" r:id="rId156"/>
    <p:sldId id="751" r:id="rId157"/>
    <p:sldId id="752" r:id="rId158"/>
    <p:sldId id="753" r:id="rId159"/>
    <p:sldId id="754" r:id="rId160"/>
    <p:sldId id="755" r:id="rId161"/>
    <p:sldId id="756" r:id="rId162"/>
    <p:sldId id="757" r:id="rId163"/>
    <p:sldId id="833" r:id="rId164"/>
    <p:sldId id="758" r:id="rId165"/>
    <p:sldId id="759" r:id="rId166"/>
    <p:sldId id="760" r:id="rId167"/>
    <p:sldId id="761" r:id="rId168"/>
    <p:sldId id="762" r:id="rId169"/>
    <p:sldId id="763" r:id="rId170"/>
    <p:sldId id="764" r:id="rId171"/>
    <p:sldId id="765" r:id="rId172"/>
    <p:sldId id="766" r:id="rId173"/>
    <p:sldId id="767" r:id="rId174"/>
    <p:sldId id="823" r:id="rId175"/>
    <p:sldId id="768" r:id="rId176"/>
    <p:sldId id="824" r:id="rId177"/>
    <p:sldId id="769" r:id="rId178"/>
    <p:sldId id="771" r:id="rId179"/>
    <p:sldId id="772" r:id="rId180"/>
    <p:sldId id="773" r:id="rId181"/>
    <p:sldId id="774" r:id="rId182"/>
    <p:sldId id="775" r:id="rId183"/>
    <p:sldId id="776" r:id="rId184"/>
    <p:sldId id="777" r:id="rId185"/>
    <p:sldId id="778" r:id="rId186"/>
    <p:sldId id="779" r:id="rId187"/>
    <p:sldId id="780" r:id="rId188"/>
    <p:sldId id="781" r:id="rId189"/>
    <p:sldId id="782" r:id="rId190"/>
    <p:sldId id="783" r:id="rId191"/>
    <p:sldId id="784" r:id="rId192"/>
    <p:sldId id="785" r:id="rId193"/>
    <p:sldId id="786" r:id="rId194"/>
    <p:sldId id="787" r:id="rId195"/>
    <p:sldId id="788" r:id="rId196"/>
    <p:sldId id="789" r:id="rId197"/>
    <p:sldId id="790" r:id="rId198"/>
    <p:sldId id="791" r:id="rId199"/>
    <p:sldId id="792" r:id="rId200"/>
    <p:sldId id="793" r:id="rId201"/>
    <p:sldId id="794" r:id="rId202"/>
    <p:sldId id="795" r:id="rId203"/>
    <p:sldId id="796" r:id="rId204"/>
    <p:sldId id="797" r:id="rId205"/>
    <p:sldId id="798" r:id="rId206"/>
    <p:sldId id="799" r:id="rId207"/>
    <p:sldId id="808" r:id="rId208"/>
    <p:sldId id="800" r:id="rId209"/>
    <p:sldId id="801" r:id="rId210"/>
    <p:sldId id="802" r:id="rId211"/>
    <p:sldId id="803"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续 第四堂课第一节" id="{1060AA40-5714-DD4F-91C5-E81DE2DD51E4}">
          <p14:sldIdLst>
            <p14:sldId id="599"/>
            <p14:sldId id="621"/>
          </p14:sldIdLst>
        </p14:section>
        <p14:section name="第四堂课第二节" id="{1C7B2E7B-1DEF-A847-9B08-94A24FD160C4}">
          <p14:sldIdLst>
            <p14:sldId id="601"/>
            <p14:sldId id="602"/>
            <p14:sldId id="603"/>
            <p14:sldId id="604"/>
            <p14:sldId id="605"/>
            <p14:sldId id="505"/>
            <p14:sldId id="825"/>
            <p14:sldId id="606"/>
            <p14:sldId id="607"/>
            <p14:sldId id="608"/>
            <p14:sldId id="609"/>
            <p14:sldId id="610"/>
            <p14:sldId id="612"/>
            <p14:sldId id="613"/>
            <p14:sldId id="616"/>
            <p14:sldId id="614"/>
            <p14:sldId id="615"/>
            <p14:sldId id="617"/>
            <p14:sldId id="618"/>
            <p14:sldId id="619"/>
            <p14:sldId id="320"/>
            <p14:sldId id="321"/>
            <p14:sldId id="622"/>
            <p14:sldId id="623"/>
            <p14:sldId id="625"/>
            <p14:sldId id="626"/>
            <p14:sldId id="627"/>
            <p14:sldId id="628"/>
            <p14:sldId id="629"/>
            <p14:sldId id="809"/>
            <p14:sldId id="810"/>
          </p14:sldIdLst>
        </p14:section>
        <p14:section name="第五堂课第一节" id="{6762259E-27D3-CE41-AA74-F5E1DB036397}">
          <p14:sldIdLst>
            <p14:sldId id="811"/>
            <p14:sldId id="652"/>
            <p14:sldId id="653"/>
            <p14:sldId id="654"/>
            <p14:sldId id="655"/>
            <p14:sldId id="657"/>
            <p14:sldId id="658"/>
            <p14:sldId id="659"/>
            <p14:sldId id="660"/>
            <p14:sldId id="661"/>
            <p14:sldId id="814"/>
            <p14:sldId id="662"/>
            <p14:sldId id="663"/>
            <p14:sldId id="815"/>
            <p14:sldId id="664"/>
            <p14:sldId id="665"/>
            <p14:sldId id="666"/>
          </p14:sldIdLst>
        </p14:section>
        <p14:section name="第五堂课第二节" id="{B86B90AB-153B-4E44-87BD-908D30F35B04}">
          <p14:sldIdLst>
            <p14:sldId id="667"/>
            <p14:sldId id="668"/>
            <p14:sldId id="669"/>
            <p14:sldId id="670"/>
            <p14:sldId id="671"/>
            <p14:sldId id="673"/>
            <p14:sldId id="674"/>
            <p14:sldId id="675"/>
            <p14:sldId id="676"/>
            <p14:sldId id="677"/>
            <p14:sldId id="678"/>
            <p14:sldId id="679"/>
            <p14:sldId id="680"/>
            <p14:sldId id="826"/>
            <p14:sldId id="681"/>
            <p14:sldId id="812"/>
            <p14:sldId id="647"/>
            <p14:sldId id="816"/>
            <p14:sldId id="648"/>
            <p14:sldId id="649"/>
            <p14:sldId id="650"/>
            <p14:sldId id="682"/>
            <p14:sldId id="683"/>
            <p14:sldId id="684"/>
            <p14:sldId id="685"/>
            <p14:sldId id="686"/>
            <p14:sldId id="687"/>
            <p14:sldId id="688"/>
            <p14:sldId id="817"/>
            <p14:sldId id="690"/>
            <p14:sldId id="691"/>
            <p14:sldId id="692"/>
          </p14:sldIdLst>
        </p14:section>
        <p14:section name="第六堂课第一节" id="{AE89913A-A8B8-CF45-86E8-B0E4B844B81F}">
          <p14:sldIdLst>
            <p14:sldId id="693"/>
            <p14:sldId id="694"/>
            <p14:sldId id="695"/>
            <p14:sldId id="696"/>
            <p14:sldId id="697"/>
            <p14:sldId id="804"/>
            <p14:sldId id="698"/>
            <p14:sldId id="699"/>
            <p14:sldId id="700"/>
            <p14:sldId id="701"/>
            <p14:sldId id="702"/>
            <p14:sldId id="805"/>
            <p14:sldId id="806"/>
            <p14:sldId id="703"/>
          </p14:sldIdLst>
        </p14:section>
        <p14:section name="第六堂课第二节" id="{3222A101-2B39-524C-88DC-B53164183AEB}">
          <p14:sldIdLst>
            <p14:sldId id="705"/>
            <p14:sldId id="706"/>
            <p14:sldId id="707"/>
            <p14:sldId id="708"/>
            <p14:sldId id="813"/>
            <p14:sldId id="710"/>
            <p14:sldId id="715"/>
            <p14:sldId id="828"/>
            <p14:sldId id="829"/>
            <p14:sldId id="832"/>
            <p14:sldId id="831"/>
            <p14:sldId id="711"/>
            <p14:sldId id="712"/>
            <p14:sldId id="713"/>
            <p14:sldId id="714"/>
            <p14:sldId id="716"/>
            <p14:sldId id="717"/>
            <p14:sldId id="818"/>
            <p14:sldId id="718"/>
            <p14:sldId id="827"/>
            <p14:sldId id="719"/>
            <p14:sldId id="822"/>
            <p14:sldId id="720"/>
          </p14:sldIdLst>
        </p14:section>
        <p14:section name="第七堂课第一节" id="{985BB9CF-33C7-6A45-BF41-193EB8BEBEE7}">
          <p14:sldIdLst>
            <p14:sldId id="721"/>
            <p14:sldId id="722"/>
            <p14:sldId id="723"/>
            <p14:sldId id="724"/>
            <p14:sldId id="770"/>
            <p14:sldId id="725"/>
            <p14:sldId id="726"/>
            <p14:sldId id="729"/>
            <p14:sldId id="730"/>
            <p14:sldId id="731"/>
            <p14:sldId id="732"/>
            <p14:sldId id="733"/>
            <p14:sldId id="734"/>
            <p14:sldId id="735"/>
            <p14:sldId id="736"/>
            <p14:sldId id="834"/>
            <p14:sldId id="835"/>
            <p14:sldId id="836"/>
            <p14:sldId id="737"/>
            <p14:sldId id="738"/>
            <p14:sldId id="739"/>
            <p14:sldId id="740"/>
            <p14:sldId id="741"/>
            <p14:sldId id="742"/>
          </p14:sldIdLst>
        </p14:section>
        <p14:section name="第七堂课第二节" id="{9F52ABCF-B12A-444A-929F-8254DAF90251}">
          <p14:sldIdLst>
            <p14:sldId id="743"/>
            <p14:sldId id="744"/>
            <p14:sldId id="745"/>
            <p14:sldId id="746"/>
            <p14:sldId id="747"/>
            <p14:sldId id="748"/>
            <p14:sldId id="749"/>
            <p14:sldId id="750"/>
            <p14:sldId id="751"/>
            <p14:sldId id="752"/>
            <p14:sldId id="753"/>
            <p14:sldId id="754"/>
            <p14:sldId id="755"/>
            <p14:sldId id="756"/>
            <p14:sldId id="757"/>
            <p14:sldId id="833"/>
            <p14:sldId id="758"/>
            <p14:sldId id="759"/>
            <p14:sldId id="760"/>
            <p14:sldId id="761"/>
            <p14:sldId id="762"/>
            <p14:sldId id="763"/>
            <p14:sldId id="764"/>
            <p14:sldId id="765"/>
          </p14:sldIdLst>
        </p14:section>
        <p14:section name="第八堂课第一节" id="{64B95E47-A80B-8D43-8C55-860A38DE96F8}">
          <p14:sldIdLst>
            <p14:sldId id="766"/>
            <p14:sldId id="767"/>
            <p14:sldId id="823"/>
            <p14:sldId id="768"/>
            <p14:sldId id="824"/>
            <p14:sldId id="769"/>
            <p14:sldId id="771"/>
            <p14:sldId id="772"/>
            <p14:sldId id="773"/>
            <p14:sldId id="774"/>
            <p14:sldId id="775"/>
            <p14:sldId id="776"/>
            <p14:sldId id="777"/>
          </p14:sldIdLst>
        </p14:section>
        <p14:section name="第八堂课第二节" id="{6E72F508-6F7D-5A42-8532-DBFC254D3965}">
          <p14:sldIdLst>
            <p14:sldId id="778"/>
            <p14:sldId id="779"/>
            <p14:sldId id="780"/>
            <p14:sldId id="781"/>
            <p14:sldId id="782"/>
            <p14:sldId id="783"/>
            <p14:sldId id="784"/>
            <p14:sldId id="785"/>
            <p14:sldId id="786"/>
            <p14:sldId id="787"/>
            <p14:sldId id="788"/>
            <p14:sldId id="789"/>
            <p14:sldId id="790"/>
            <p14:sldId id="791"/>
            <p14:sldId id="792"/>
            <p14:sldId id="793"/>
            <p14:sldId id="794"/>
            <p14:sldId id="795"/>
            <p14:sldId id="796"/>
            <p14:sldId id="797"/>
            <p14:sldId id="798"/>
            <p14:sldId id="799"/>
            <p14:sldId id="808"/>
            <p14:sldId id="800"/>
            <p14:sldId id="801"/>
            <p14:sldId id="802"/>
            <p14:sldId id="803"/>
          </p14:sldIdLst>
        </p14:section>
      </p14:sectionLst>
    </p:ex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2EFD9"/>
    <a:srgbClr val="FFF2CC"/>
    <a:srgbClr val="FFFFFF"/>
    <a:srgbClr val="FFFF00"/>
    <a:srgbClr val="86F260"/>
    <a:srgbClr val="119F14"/>
    <a:srgbClr val="9900CC"/>
    <a:srgbClr val="FB81E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45" autoAdjust="0"/>
    <p:restoredTop sz="96897" autoAdjust="0"/>
  </p:normalViewPr>
  <p:slideViewPr>
    <p:cSldViewPr snapToGrid="0">
      <p:cViewPr varScale="1">
        <p:scale>
          <a:sx n="83" d="100"/>
          <a:sy n="83" d="100"/>
        </p:scale>
        <p:origin x="162" y="39"/>
      </p:cViewPr>
      <p:guideLst>
        <p:guide orient="horz" pos="2137"/>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88" d="100"/>
          <a:sy n="88" d="100"/>
        </p:scale>
        <p:origin x="-387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91" Type="http://schemas.openxmlformats.org/officeDocument/2006/relationships/slide" Target="slides/slide186.xml"/><Relationship Id="rId205" Type="http://schemas.openxmlformats.org/officeDocument/2006/relationships/slide" Target="slides/slide200.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5.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16" Type="http://schemas.openxmlformats.org/officeDocument/2006/relationships/viewProps" Target="viewProps.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206" Type="http://schemas.openxmlformats.org/officeDocument/2006/relationships/slide" Target="slides/slide201.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217" Type="http://schemas.openxmlformats.org/officeDocument/2006/relationships/theme" Target="theme/theme1.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207" Type="http://schemas.openxmlformats.org/officeDocument/2006/relationships/slide" Target="slides/slide202.xml"/><Relationship Id="rId13" Type="http://schemas.openxmlformats.org/officeDocument/2006/relationships/slide" Target="slides/slide8.xml"/><Relationship Id="rId109" Type="http://schemas.openxmlformats.org/officeDocument/2006/relationships/slide" Target="slides/slide104.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tableStyles" Target="tableStyles.xml"/><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189" Type="http://schemas.openxmlformats.org/officeDocument/2006/relationships/slide" Target="slides/slide184.xml"/><Relationship Id="rId3" Type="http://schemas.openxmlformats.org/officeDocument/2006/relationships/slideMaster" Target="slideMasters/slideMaster3.xml"/><Relationship Id="rId214" Type="http://schemas.openxmlformats.org/officeDocument/2006/relationships/handoutMaster" Target="handoutMasters/handoutMaster1.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slide" Target="slides/slide174.xml"/><Relationship Id="rId195" Type="http://schemas.openxmlformats.org/officeDocument/2006/relationships/slide" Target="slides/slide190.xml"/><Relationship Id="rId209" Type="http://schemas.openxmlformats.org/officeDocument/2006/relationships/slide" Target="slides/slide204.xml"/><Relationship Id="rId190" Type="http://schemas.openxmlformats.org/officeDocument/2006/relationships/slide" Target="slides/slide185.xml"/><Relationship Id="rId204" Type="http://schemas.openxmlformats.org/officeDocument/2006/relationships/slide" Target="slides/slide199.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185" Type="http://schemas.openxmlformats.org/officeDocument/2006/relationships/slide" Target="slides/slide180.xml"/><Relationship Id="rId4" Type="http://schemas.openxmlformats.org/officeDocument/2006/relationships/slideMaster" Target="slideMasters/slideMaster4.xml"/><Relationship Id="rId9" Type="http://schemas.openxmlformats.org/officeDocument/2006/relationships/slide" Target="slides/slide4.xml"/><Relationship Id="rId180" Type="http://schemas.openxmlformats.org/officeDocument/2006/relationships/slide" Target="slides/slide175.xml"/><Relationship Id="rId210" Type="http://schemas.openxmlformats.org/officeDocument/2006/relationships/slide" Target="slides/slide205.xml"/><Relationship Id="rId215" Type="http://schemas.openxmlformats.org/officeDocument/2006/relationships/presProps" Target="presProps.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slideMaster" Target="slideMasters/slideMaster1.xml"/><Relationship Id="rId212" Type="http://schemas.openxmlformats.org/officeDocument/2006/relationships/slide" Target="slides/slide207.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202" Type="http://schemas.openxmlformats.org/officeDocument/2006/relationships/slide" Target="slides/slide197.xml"/><Relationship Id="rId18" Type="http://schemas.openxmlformats.org/officeDocument/2006/relationships/slide" Target="slides/slide13.xml"/><Relationship Id="rId39" Type="http://schemas.openxmlformats.org/officeDocument/2006/relationships/slide" Target="slides/slide34.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4.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5A66E1-596A-496E-B96E-FE454130F19C}" type="datetimeFigureOut">
              <a:rPr lang="zh-CN" altLang="en-US" smtClean="0"/>
              <a:pPr/>
              <a:t>2025/4/14</a:t>
            </a:fld>
            <a:endParaRPr lang="zh-CN"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153B57A-208D-4E21-8008-BCE8E94FCB4F}" type="slidenum">
              <a:rPr lang="zh-CN" altLang="en-US" smtClean="0"/>
              <a:pPr/>
              <a:t>‹N°›</a:t>
            </a:fld>
            <a:endParaRPr lang="zh-CN" altLang="en-US"/>
          </a:p>
        </p:txBody>
      </p:sp>
    </p:spTree>
    <p:extLst>
      <p:ext uri="{BB962C8B-B14F-4D97-AF65-F5344CB8AC3E}">
        <p14:creationId xmlns:p14="http://schemas.microsoft.com/office/powerpoint/2010/main" val="23564863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02705F-8347-41A8-82E6-B2920132BF3D}" type="datetimeFigureOut">
              <a:rPr lang="en-US" smtClean="0"/>
              <a:pPr/>
              <a:t>4/14/2025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0AF6DD-051E-413B-8808-23D5AB3BD9E4}" type="slidenum">
              <a:rPr lang="en-US" smtClean="0"/>
              <a:pPr/>
              <a:t>‹N°›</a:t>
            </a:fld>
            <a:endParaRPr lang="en-US"/>
          </a:p>
        </p:txBody>
      </p:sp>
    </p:spTree>
    <p:extLst>
      <p:ext uri="{BB962C8B-B14F-4D97-AF65-F5344CB8AC3E}">
        <p14:creationId xmlns:p14="http://schemas.microsoft.com/office/powerpoint/2010/main" val="4179078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8" Type="http://schemas.openxmlformats.org/officeDocument/2006/relationships/hyperlink" Target="https://en.wikipedia.org/wiki/Adjoint_state_method" TargetMode="External"/><Relationship Id="rId13" Type="http://schemas.openxmlformats.org/officeDocument/2006/relationships/hyperlink" Target="https://en.wikipedia.org/wiki/Backpropagation#cite_note-robbins1951-28" TargetMode="External"/><Relationship Id="rId18" Type="http://schemas.openxmlformats.org/officeDocument/2006/relationships/hyperlink" Target="https://en.wikipedia.org/wiki/Backpropagation#cite_note-bryson1961-2" TargetMode="External"/><Relationship Id="rId26" Type="http://schemas.openxmlformats.org/officeDocument/2006/relationships/hyperlink" Target="https://en.wikipedia.org/wiki/Backpropagation#cite_note-DLhistory-33" TargetMode="External"/><Relationship Id="rId3" Type="http://schemas.openxmlformats.org/officeDocument/2006/relationships/hyperlink" Target="https://en.wikipedia.org/wiki/Frank_Rosenblatt" TargetMode="External"/><Relationship Id="rId21" Type="http://schemas.openxmlformats.org/officeDocument/2006/relationships/hyperlink" Target="https://en.wikipedia.org/wiki/Backpropagation#cite_note-29" TargetMode="External"/><Relationship Id="rId7" Type="http://schemas.openxmlformats.org/officeDocument/2006/relationships/hyperlink" Target="https://en.wikipedia.org/wiki/Lev_Pontryagin" TargetMode="External"/><Relationship Id="rId12" Type="http://schemas.openxmlformats.org/officeDocument/2006/relationships/hyperlink" Target="https://en.wikipedia.org/wiki/Stochastic_approximation" TargetMode="External"/><Relationship Id="rId17" Type="http://schemas.openxmlformats.org/officeDocument/2006/relationships/hyperlink" Target="https://en.wikipedia.org/wiki/Backpropagation#cite_note-kelley1960-1" TargetMode="External"/><Relationship Id="rId25" Type="http://schemas.openxmlformats.org/officeDocument/2006/relationships/hyperlink" Target="https://en.wikipedia.org/wiki/Backpropagation#cite_note-dreyfus1973-32" TargetMode="External"/><Relationship Id="rId2" Type="http://schemas.openxmlformats.org/officeDocument/2006/relationships/slide" Target="../slides/slide53.xml"/><Relationship Id="rId16" Type="http://schemas.openxmlformats.org/officeDocument/2006/relationships/hyperlink" Target="https://en.wikipedia.org/wiki/Henry_J._Kelley" TargetMode="External"/><Relationship Id="rId20" Type="http://schemas.openxmlformats.org/officeDocument/2006/relationships/hyperlink" Target="https://en.wikipedia.org/wiki/Chain_rule" TargetMode="External"/><Relationship Id="rId1" Type="http://schemas.openxmlformats.org/officeDocument/2006/relationships/notesMaster" Target="../notesMasters/notesMaster1.xml"/><Relationship Id="rId6" Type="http://schemas.openxmlformats.org/officeDocument/2006/relationships/hyperlink" Target="https://en.wikipedia.org/wiki/Yann_LeCun" TargetMode="External"/><Relationship Id="rId11" Type="http://schemas.openxmlformats.org/officeDocument/2006/relationships/hyperlink" Target="https://en.wikipedia.org/wiki/Backpropagation#cite_note-27" TargetMode="External"/><Relationship Id="rId24" Type="http://schemas.openxmlformats.org/officeDocument/2006/relationships/hyperlink" Target="https://en.wikipedia.org/wiki/Parameter" TargetMode="External"/><Relationship Id="rId5" Type="http://schemas.openxmlformats.org/officeDocument/2006/relationships/hyperlink" Target="https://en.wikipedia.org/wiki/Optimal_control" TargetMode="External"/><Relationship Id="rId15" Type="http://schemas.openxmlformats.org/officeDocument/2006/relationships/hyperlink" Target="https://en.wikipedia.org/wiki/Yu-Chi_Ho" TargetMode="External"/><Relationship Id="rId23" Type="http://schemas.openxmlformats.org/officeDocument/2006/relationships/hyperlink" Target="https://en.wikipedia.org/wiki/Backpropagation#cite_note-31" TargetMode="External"/><Relationship Id="rId10" Type="http://schemas.openxmlformats.org/officeDocument/2006/relationships/hyperlink" Target="https://en.wikipedia.org/wiki/Robert_Hecht-Nielsen" TargetMode="External"/><Relationship Id="rId19" Type="http://schemas.openxmlformats.org/officeDocument/2006/relationships/hyperlink" Target="https://en.wikipedia.org/wiki/Stuart_Dreyfus" TargetMode="External"/><Relationship Id="rId4" Type="http://schemas.openxmlformats.org/officeDocument/2006/relationships/hyperlink" Target="https://en.wikipedia.org/wiki/Backpropagation#cite_note-25" TargetMode="External"/><Relationship Id="rId9" Type="http://schemas.openxmlformats.org/officeDocument/2006/relationships/hyperlink" Target="https://en.wikipedia.org/wiki/Backpropagation#cite_note-26" TargetMode="External"/><Relationship Id="rId14" Type="http://schemas.openxmlformats.org/officeDocument/2006/relationships/hyperlink" Target="https://en.wikipedia.org/wiki/Arthur_E._Bryson" TargetMode="External"/><Relationship Id="rId22" Type="http://schemas.openxmlformats.org/officeDocument/2006/relationships/hyperlink" Target="https://en.wikipedia.org/wiki/Backpropagation#cite_note-dreyfus1990-30"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yann.lecun.com/exdb/lenet/" TargetMode="External"/><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so.csdn.net/so/search?q=%E5%85%A8%E8%BF%9E%E6%8E%A5%E5%B1%82&amp;spm=1001.2101.3001.7020" TargetMode="External"/><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yann.lecun.com/exdb/lenet/" TargetMode="External"/><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3" Type="http://schemas.openxmlformats.org/officeDocument/2006/relationships/hyperlink" Target="https://en.wikipedia.org/wiki/Recurrent_neural_network" TargetMode="External"/><Relationship Id="rId2" Type="http://schemas.openxmlformats.org/officeDocument/2006/relationships/slide" Target="../slides/slide174.xml"/><Relationship Id="rId1" Type="http://schemas.openxmlformats.org/officeDocument/2006/relationships/notesMaster" Target="../notesMasters/notesMaster1.xml"/><Relationship Id="rId4" Type="http://schemas.openxmlformats.org/officeDocument/2006/relationships/hyperlink" Target="https://en.wikipedia.org/wiki/Artificial_neural_network" TargetMode="Externa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s://en.wikipedia.org/wiki/Samy_Bengio" TargetMode="External"/><Relationship Id="rId2" Type="http://schemas.openxmlformats.org/officeDocument/2006/relationships/slide" Target="../slides/slide202.xml"/><Relationship Id="rId1" Type="http://schemas.openxmlformats.org/officeDocument/2006/relationships/notesMaster" Target="../notesMasters/notesMaster1.xml"/><Relationship Id="rId4" Type="http://schemas.openxmlformats.org/officeDocument/2006/relationships/hyperlink" Target="https://en.wikipedia.org/wiki/Torch_(machine_learning)#cite_note-torch-modular-1" TargetMode="Externa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a:t>
            </a:fld>
            <a:endParaRPr lang="en-US" dirty="0"/>
          </a:p>
        </p:txBody>
      </p:sp>
    </p:spTree>
    <p:extLst>
      <p:ext uri="{BB962C8B-B14F-4D97-AF65-F5344CB8AC3E}">
        <p14:creationId xmlns:p14="http://schemas.microsoft.com/office/powerpoint/2010/main" val="2753169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第四次课第一节结束</a:t>
            </a: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2</a:t>
            </a:fld>
            <a:endParaRPr lang="en-US" dirty="0"/>
          </a:p>
        </p:txBody>
      </p:sp>
    </p:spTree>
    <p:extLst>
      <p:ext uri="{BB962C8B-B14F-4D97-AF65-F5344CB8AC3E}">
        <p14:creationId xmlns:p14="http://schemas.microsoft.com/office/powerpoint/2010/main" val="2243717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神经网络</a:t>
            </a:r>
            <a:endParaRPr lang="en-US" altLang="zh-CN" dirty="0"/>
          </a:p>
          <a:p>
            <a:pPr lvl="1"/>
            <a:r>
              <a:rPr lang="en-US" altLang="zh-CN" dirty="0"/>
              <a:t>40</a:t>
            </a:r>
            <a:r>
              <a:rPr lang="zh-CN" altLang="en-US" dirty="0"/>
              <a:t>年代开始研究，提出</a:t>
            </a:r>
            <a:r>
              <a:rPr lang="en-US" altLang="zh-CN" dirty="0"/>
              <a:t>MP</a:t>
            </a:r>
            <a:r>
              <a:rPr lang="zh-CN" altLang="en-US" dirty="0"/>
              <a:t>（两位提出者的名字）模型，即神经元</a:t>
            </a:r>
            <a:endParaRPr lang="en-US" altLang="zh-CN" dirty="0"/>
          </a:p>
          <a:p>
            <a:pPr lvl="1"/>
            <a:r>
              <a:rPr lang="en-US" altLang="zh-CN" dirty="0"/>
              <a:t>60</a:t>
            </a:r>
            <a:r>
              <a:rPr lang="zh-CN" altLang="en-US" dirty="0"/>
              <a:t>年代开始落入低潮</a:t>
            </a:r>
            <a:endParaRPr lang="en-US" altLang="zh-CN" dirty="0"/>
          </a:p>
          <a:p>
            <a:pPr lvl="2"/>
            <a:r>
              <a:rPr lang="zh-CN" altLang="en-US" dirty="0"/>
              <a:t>异或（</a:t>
            </a:r>
            <a:r>
              <a:rPr lang="en-US" altLang="zh-CN" dirty="0"/>
              <a:t>XOR</a:t>
            </a:r>
            <a:r>
              <a:rPr lang="zh-CN" altLang="en-US" dirty="0"/>
              <a:t>）问题</a:t>
            </a:r>
            <a:endParaRPr lang="en-US" altLang="zh-CN" dirty="0"/>
          </a:p>
          <a:p>
            <a:pPr lvl="1"/>
            <a:r>
              <a:rPr lang="en-US" altLang="zh-CN" dirty="0"/>
              <a:t>80</a:t>
            </a:r>
            <a:r>
              <a:rPr lang="zh-CN" altLang="en-US" dirty="0"/>
              <a:t>年代再次兴起</a:t>
            </a:r>
            <a:endParaRPr lang="en-US" altLang="zh-CN" dirty="0"/>
          </a:p>
          <a:p>
            <a:pPr lvl="1"/>
            <a:r>
              <a:rPr lang="en-US" altLang="zh-CN" dirty="0"/>
              <a:t>	Hopfield</a:t>
            </a:r>
            <a:r>
              <a:rPr lang="zh-CN" altLang="en-US" dirty="0"/>
              <a:t> </a:t>
            </a:r>
            <a:r>
              <a:rPr lang="en-US" altLang="zh-CN" dirty="0"/>
              <a:t>Network,</a:t>
            </a:r>
            <a:r>
              <a:rPr lang="zh-CN" altLang="en-US" dirty="0"/>
              <a:t> 求解组合优化问题</a:t>
            </a:r>
            <a:endParaRPr lang="en-US" altLang="zh-CN" dirty="0"/>
          </a:p>
          <a:p>
            <a:pPr lvl="2"/>
            <a:r>
              <a:rPr lang="en-US" altLang="zh-CN" dirty="0"/>
              <a:t>BP</a:t>
            </a:r>
            <a:r>
              <a:rPr lang="zh-CN" altLang="en-US" dirty="0"/>
              <a:t>（反向传播）算法</a:t>
            </a:r>
            <a:endParaRPr lang="en-US" altLang="zh-CN" dirty="0"/>
          </a:p>
          <a:p>
            <a:pPr lvl="1"/>
            <a:r>
              <a:rPr lang="en-US" altLang="zh-CN" dirty="0"/>
              <a:t>90</a:t>
            </a:r>
            <a:r>
              <a:rPr lang="zh-CN" altLang="en-US" dirty="0"/>
              <a:t>年代再次落入低潮</a:t>
            </a:r>
            <a:endParaRPr lang="en-US" altLang="zh-CN" dirty="0"/>
          </a:p>
          <a:p>
            <a:pPr lvl="1"/>
            <a:r>
              <a:rPr lang="en-US" altLang="zh-CN" dirty="0"/>
              <a:t>2006</a:t>
            </a:r>
            <a:r>
              <a:rPr lang="zh-CN" altLang="en-US" dirty="0"/>
              <a:t>年提出深度学习</a:t>
            </a:r>
            <a:endParaRPr lang="en-US" altLang="zh-CN" dirty="0"/>
          </a:p>
          <a:p>
            <a:pPr lvl="2"/>
            <a:r>
              <a:rPr lang="zh-CN" altLang="en-US" dirty="0"/>
              <a:t>语音识别</a:t>
            </a:r>
            <a:endParaRPr lang="en-US" altLang="zh-CN" dirty="0"/>
          </a:p>
          <a:p>
            <a:pPr lvl="2"/>
            <a:r>
              <a:rPr lang="zh-CN" altLang="en-US" dirty="0"/>
              <a:t>图象识别</a:t>
            </a:r>
            <a:endParaRPr lang="en-US" altLang="zh-CN" dirty="0"/>
          </a:p>
          <a:p>
            <a:pPr lvl="1"/>
            <a:r>
              <a:rPr lang="en-US" altLang="zh-CN" dirty="0"/>
              <a:t>2018</a:t>
            </a:r>
            <a:r>
              <a:rPr lang="zh-CN" altLang="en-US" dirty="0"/>
              <a:t>年 大模型提出</a:t>
            </a:r>
            <a:endParaRPr lang="en-US" altLang="zh-CN" dirty="0"/>
          </a:p>
          <a:p>
            <a:pPr lvl="2"/>
            <a:r>
              <a:rPr lang="en-US" altLang="zh-CN" dirty="0"/>
              <a:t>BERT</a:t>
            </a:r>
          </a:p>
          <a:p>
            <a:pPr lvl="2"/>
            <a:endParaRPr lang="en-US" altLang="zh-CN" dirty="0"/>
          </a:p>
          <a:p>
            <a:pPr lvl="2"/>
            <a:endParaRPr lang="en-US" altLang="zh-CN" dirty="0"/>
          </a:p>
          <a:p>
            <a:pPr lvl="2"/>
            <a:r>
              <a:rPr lang="zh-CN" altLang="en-US" dirty="0"/>
              <a:t>为什么叫深度学习？</a:t>
            </a:r>
            <a:endParaRPr lang="en-US" altLang="zh-CN" dirty="0"/>
          </a:p>
          <a:p>
            <a:pPr lvl="2"/>
            <a:r>
              <a:rPr lang="zh-CN" altLang="en-US" dirty="0"/>
              <a:t>不是简单加深就可以，就像建楼，不是建一层楼的难度和建</a:t>
            </a:r>
            <a:r>
              <a:rPr lang="en-US" altLang="zh-CN" dirty="0"/>
              <a:t>10</a:t>
            </a:r>
            <a:r>
              <a:rPr lang="zh-CN" altLang="en-US" dirty="0"/>
              <a:t>层楼的难度一样</a:t>
            </a:r>
            <a:endParaRPr lang="en-US" altLang="zh-CN" dirty="0"/>
          </a:p>
          <a:p>
            <a:pPr lvl="2"/>
            <a:endParaRPr lang="en-US" altLang="zh-CN" dirty="0"/>
          </a:p>
          <a:p>
            <a:pPr lvl="2"/>
            <a:endParaRPr lang="en-US" altLang="zh-CN" dirty="0"/>
          </a:p>
          <a:p>
            <a:pPr lvl="2"/>
            <a:endParaRPr lang="en-US" altLang="zh-CN" dirty="0"/>
          </a:p>
        </p:txBody>
      </p:sp>
      <p:sp>
        <p:nvSpPr>
          <p:cNvPr id="4" name="灯片编号占位符 3"/>
          <p:cNvSpPr>
            <a:spLocks noGrp="1"/>
          </p:cNvSpPr>
          <p:nvPr>
            <p:ph type="sldNum" sz="quarter" idx="10"/>
          </p:nvPr>
        </p:nvSpPr>
        <p:spPr/>
        <p:txBody>
          <a:bodyPr/>
          <a:lstStyle/>
          <a:p>
            <a:fld id="{D50AF6DD-051E-413B-8808-23D5AB3BD9E4}" type="slidenum">
              <a:rPr lang="en-US" smtClean="0"/>
              <a:pPr/>
              <a:t>3</a:t>
            </a:fld>
            <a:endParaRPr lang="en-US" dirty="0"/>
          </a:p>
        </p:txBody>
      </p:sp>
    </p:spTree>
    <p:extLst>
      <p:ext uri="{BB962C8B-B14F-4D97-AF65-F5344CB8AC3E}">
        <p14:creationId xmlns:p14="http://schemas.microsoft.com/office/powerpoint/2010/main" val="2380518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一般来说，人工神经网络是受大脑神经网络的启发提出的，但是这么简单说还是不清楚神经网络是怎么一回事。让我们从一个简单的数字识别谈起，看看神经网络到底是怎么一回事。</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4</a:t>
            </a:fld>
            <a:endParaRPr lang="en-US" dirty="0"/>
          </a:p>
        </p:txBody>
      </p:sp>
    </p:spTree>
    <p:extLst>
      <p:ext uri="{BB962C8B-B14F-4D97-AF65-F5344CB8AC3E}">
        <p14:creationId xmlns:p14="http://schemas.microsoft.com/office/powerpoint/2010/main" val="77547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用</a:t>
            </a:r>
            <a:r>
              <a:rPr kumimoji="1" lang="en-US" altLang="zh-CN" dirty="0"/>
              <a:t>Viterbi</a:t>
            </a:r>
            <a:r>
              <a:rPr kumimoji="1" lang="zh-CN" altLang="en-US" dirty="0"/>
              <a:t>算法</a:t>
            </a:r>
            <a:endParaRPr kumimoji="1" lang="en-US" altLang="zh-CN" dirty="0"/>
          </a:p>
          <a:p>
            <a:endParaRPr kumimoji="1" lang="en-US" altLang="zh-CN" dirty="0"/>
          </a:p>
          <a:p>
            <a:r>
              <a:rPr kumimoji="1" lang="zh-CN" altLang="en-US" dirty="0"/>
              <a:t>考虑更多前置的字</a:t>
            </a:r>
            <a:endParaRPr kumimoji="1" lang="en-US" altLang="zh-CN" dirty="0"/>
          </a:p>
          <a:p>
            <a:endParaRPr kumimoji="1" lang="en-US" altLang="zh-CN" dirty="0"/>
          </a:p>
          <a:p>
            <a:r>
              <a:rPr kumimoji="1" lang="zh-CN" altLang="en-US" dirty="0"/>
              <a:t>用词代替字</a:t>
            </a:r>
            <a:endParaRPr kumimoji="1" lang="en-US" altLang="zh-CN" dirty="0"/>
          </a:p>
          <a:p>
            <a:endParaRPr kumimoji="1" lang="en-US" altLang="zh-CN" dirty="0"/>
          </a:p>
          <a:p>
            <a:r>
              <a:rPr kumimoji="1" lang="zh-CN" altLang="en-US" dirty="0"/>
              <a:t>第一次作业就是拼音输入法</a:t>
            </a:r>
            <a:endParaRPr kumimoji="1" lang="en-US" altLang="zh-CN" dirty="0"/>
          </a:p>
          <a:p>
            <a:r>
              <a:rPr kumimoji="1" lang="zh-CN" altLang="en-US" dirty="0"/>
              <a:t>按字做就行</a:t>
            </a:r>
            <a:endParaRPr kumimoji="1" lang="en-US" altLang="zh-CN" dirty="0"/>
          </a:p>
          <a:p>
            <a:r>
              <a:rPr kumimoji="1" lang="zh-CN" altLang="en-US" dirty="0"/>
              <a:t>作业中的拼音用空格做了分隔 （真实中更复杂，没有空格）</a:t>
            </a:r>
            <a:endParaRPr kumimoji="1" lang="en-US" altLang="zh-CN" dirty="0"/>
          </a:p>
          <a:p>
            <a:r>
              <a:rPr kumimoji="1" lang="zh-CN" altLang="en-US" dirty="0"/>
              <a:t>数据可能有错</a:t>
            </a:r>
            <a:endParaRPr kumimoji="1" lang="en-US" altLang="zh-CN" dirty="0"/>
          </a:p>
          <a:p>
            <a:r>
              <a:rPr kumimoji="1" lang="zh-CN" altLang="en-US" dirty="0"/>
              <a:t>一切以助教为准</a:t>
            </a:r>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搜狗的创始人是我们组的博士生</a:t>
            </a: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8</a:t>
            </a:fld>
            <a:endParaRPr lang="en-US" dirty="0"/>
          </a:p>
        </p:txBody>
      </p:sp>
    </p:spTree>
    <p:extLst>
      <p:ext uri="{BB962C8B-B14F-4D97-AF65-F5344CB8AC3E}">
        <p14:creationId xmlns:p14="http://schemas.microsoft.com/office/powerpoint/2010/main" val="38735411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笔画多少，算出来的数值不一样，没法比较</a:t>
            </a:r>
          </a:p>
        </p:txBody>
      </p:sp>
      <p:sp>
        <p:nvSpPr>
          <p:cNvPr id="4" name="灯片编号占位符 3"/>
          <p:cNvSpPr>
            <a:spLocks noGrp="1"/>
          </p:cNvSpPr>
          <p:nvPr>
            <p:ph type="sldNum" sz="quarter" idx="5"/>
          </p:nvPr>
        </p:nvSpPr>
        <p:spPr/>
        <p:txBody>
          <a:bodyPr/>
          <a:lstStyle/>
          <a:p>
            <a:fld id="{D50AF6DD-051E-413B-8808-23D5AB3BD9E4}" type="slidenum">
              <a:rPr lang="en-US" smtClean="0"/>
              <a:pPr/>
              <a:t>10</a:t>
            </a:fld>
            <a:endParaRPr lang="en-US" dirty="0"/>
          </a:p>
        </p:txBody>
      </p:sp>
    </p:spTree>
    <p:extLst>
      <p:ext uri="{BB962C8B-B14F-4D97-AF65-F5344CB8AC3E}">
        <p14:creationId xmlns:p14="http://schemas.microsoft.com/office/powerpoint/2010/main" val="76398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为什么需要这么个操作？</a:t>
            </a:r>
            <a:endParaRPr lang="en-US" altLang="zh-CN" dirty="0"/>
          </a:p>
          <a:p>
            <a:endParaRPr lang="zh-CN" altLang="en-US" dirty="0"/>
          </a:p>
          <a:p>
            <a:r>
              <a:rPr lang="zh-CN" altLang="en-US" dirty="0"/>
              <a:t>归一化</a:t>
            </a:r>
            <a:endParaRPr lang="en-US" altLang="zh-CN" dirty="0"/>
          </a:p>
          <a:p>
            <a:r>
              <a:rPr lang="zh-CN" altLang="en-US" dirty="0"/>
              <a:t>非线性</a:t>
            </a:r>
          </a:p>
        </p:txBody>
      </p:sp>
      <p:sp>
        <p:nvSpPr>
          <p:cNvPr id="4" name="灯片编号占位符 3"/>
          <p:cNvSpPr>
            <a:spLocks noGrp="1"/>
          </p:cNvSpPr>
          <p:nvPr>
            <p:ph type="sldNum" sz="quarter" idx="10"/>
          </p:nvPr>
        </p:nvSpPr>
        <p:spPr/>
        <p:txBody>
          <a:bodyPr/>
          <a:lstStyle/>
          <a:p>
            <a:fld id="{D50AF6DD-051E-413B-8808-23D5AB3BD9E4}" type="slidenum">
              <a:rPr lang="en-US" smtClean="0"/>
              <a:pPr/>
              <a:t>11</a:t>
            </a:fld>
            <a:endParaRPr lang="en-US" dirty="0"/>
          </a:p>
        </p:txBody>
      </p:sp>
    </p:spTree>
    <p:extLst>
      <p:ext uri="{BB962C8B-B14F-4D97-AF65-F5344CB8AC3E}">
        <p14:creationId xmlns:p14="http://schemas.microsoft.com/office/powerpoint/2010/main" val="253362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一个图是</a:t>
            </a:r>
            <a:r>
              <a:rPr lang="en-US" altLang="zh-CN" dirty="0"/>
              <a:t>3</a:t>
            </a:r>
            <a:r>
              <a:rPr lang="zh-CN" altLang="en-US" dirty="0"/>
              <a:t>，那匹配度是</a:t>
            </a:r>
            <a:r>
              <a:rPr lang="en-US" altLang="zh-CN" dirty="0"/>
              <a:t>143</a:t>
            </a:r>
          </a:p>
          <a:p>
            <a:r>
              <a:rPr lang="zh-CN" altLang="en-US" dirty="0"/>
              <a:t>一个图是</a:t>
            </a:r>
            <a:r>
              <a:rPr lang="en-US" altLang="zh-CN" dirty="0"/>
              <a:t>8</a:t>
            </a:r>
            <a:r>
              <a:rPr lang="zh-CN" altLang="en-US" dirty="0"/>
              <a:t>，那匹配度是</a:t>
            </a:r>
            <a:r>
              <a:rPr lang="en-US" altLang="zh-CN" dirty="0"/>
              <a:t>115</a:t>
            </a:r>
          </a:p>
          <a:p>
            <a:endParaRPr lang="en-US" altLang="zh-CN" dirty="0"/>
          </a:p>
          <a:p>
            <a:r>
              <a:rPr lang="zh-CN" altLang="en-US" dirty="0"/>
              <a:t>直接放到</a:t>
            </a:r>
            <a:r>
              <a:rPr lang="en-US" altLang="zh-CN" dirty="0"/>
              <a:t>sigmoid</a:t>
            </a:r>
            <a:r>
              <a:rPr lang="zh-CN" altLang="en-US" dirty="0"/>
              <a:t>里，算出来差不多，怎么办？</a:t>
            </a:r>
            <a:endParaRPr lang="en-US" altLang="zh-CN" dirty="0"/>
          </a:p>
          <a:p>
            <a:endParaRPr lang="en-US" altLang="zh-CN" dirty="0"/>
          </a:p>
          <a:p>
            <a:r>
              <a:rPr lang="zh-CN" altLang="en-US" dirty="0"/>
              <a:t>为什么需要偏置项</a:t>
            </a:r>
            <a:endParaRPr lang="en-US" altLang="zh-CN" dirty="0"/>
          </a:p>
          <a:p>
            <a:r>
              <a:rPr lang="zh-CN" altLang="en-US" dirty="0"/>
              <a:t>移动区分粒度的位置</a:t>
            </a:r>
          </a:p>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12</a:t>
            </a:fld>
            <a:endParaRPr lang="en-US" dirty="0"/>
          </a:p>
        </p:txBody>
      </p:sp>
    </p:spTree>
    <p:extLst>
      <p:ext uri="{BB962C8B-B14F-4D97-AF65-F5344CB8AC3E}">
        <p14:creationId xmlns:p14="http://schemas.microsoft.com/office/powerpoint/2010/main" val="1466344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13</a:t>
            </a:fld>
            <a:endParaRPr lang="en-US" dirty="0"/>
          </a:p>
        </p:txBody>
      </p:sp>
    </p:spTree>
    <p:extLst>
      <p:ext uri="{BB962C8B-B14F-4D97-AF65-F5344CB8AC3E}">
        <p14:creationId xmlns:p14="http://schemas.microsoft.com/office/powerpoint/2010/main" val="3223022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一个神经元相当于表示了一种模式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权重：描述了匹配模式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激活函数</a:t>
            </a:r>
          </a:p>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14</a:t>
            </a:fld>
            <a:endParaRPr lang="en-US" dirty="0"/>
          </a:p>
        </p:txBody>
      </p:sp>
    </p:spTree>
    <p:extLst>
      <p:ext uri="{BB962C8B-B14F-4D97-AF65-F5344CB8AC3E}">
        <p14:creationId xmlns:p14="http://schemas.microsoft.com/office/powerpoint/2010/main" val="2256657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15</a:t>
            </a:fld>
            <a:endParaRPr lang="en-US" dirty="0"/>
          </a:p>
        </p:txBody>
      </p:sp>
    </p:spTree>
    <p:extLst>
      <p:ext uri="{BB962C8B-B14F-4D97-AF65-F5344CB8AC3E}">
        <p14:creationId xmlns:p14="http://schemas.microsoft.com/office/powerpoint/2010/main" val="965976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16</a:t>
            </a:fld>
            <a:endParaRPr lang="en-US" dirty="0"/>
          </a:p>
        </p:txBody>
      </p:sp>
    </p:spTree>
    <p:extLst>
      <p:ext uri="{BB962C8B-B14F-4D97-AF65-F5344CB8AC3E}">
        <p14:creationId xmlns:p14="http://schemas.microsoft.com/office/powerpoint/2010/main" val="891091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引出</a:t>
            </a:r>
            <a:r>
              <a:rPr lang="en-US" altLang="zh-CN" dirty="0"/>
              <a:t>10</a:t>
            </a:r>
            <a:r>
              <a:rPr lang="zh-CN" altLang="en-US" dirty="0"/>
              <a:t>个数字识别网络，哪个输出最大，结果为哪个。</a:t>
            </a:r>
          </a:p>
        </p:txBody>
      </p:sp>
      <p:sp>
        <p:nvSpPr>
          <p:cNvPr id="4" name="灯片编号占位符 3"/>
          <p:cNvSpPr>
            <a:spLocks noGrp="1"/>
          </p:cNvSpPr>
          <p:nvPr>
            <p:ph type="sldNum" sz="quarter" idx="10"/>
          </p:nvPr>
        </p:nvSpPr>
        <p:spPr/>
        <p:txBody>
          <a:bodyPr/>
          <a:lstStyle/>
          <a:p>
            <a:fld id="{D50AF6DD-051E-413B-8808-23D5AB3BD9E4}" type="slidenum">
              <a:rPr lang="en-US" smtClean="0"/>
              <a:pPr/>
              <a:t>17</a:t>
            </a:fld>
            <a:endParaRPr lang="en-US" dirty="0"/>
          </a:p>
        </p:txBody>
      </p:sp>
    </p:spTree>
    <p:extLst>
      <p:ext uri="{BB962C8B-B14F-4D97-AF65-F5344CB8AC3E}">
        <p14:creationId xmlns:p14="http://schemas.microsoft.com/office/powerpoint/2010/main" val="3795866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如何增加一个模式</a:t>
            </a:r>
            <a:endParaRPr lang="en-US" altLang="zh-CN" dirty="0"/>
          </a:p>
          <a:p>
            <a:endParaRPr lang="en-US" altLang="zh-CN" dirty="0"/>
          </a:p>
          <a:p>
            <a:r>
              <a:rPr lang="zh-CN" altLang="en-US" dirty="0"/>
              <a:t>如果</a:t>
            </a:r>
            <a:r>
              <a:rPr lang="en-US" altLang="zh-CN" dirty="0"/>
              <a:t>3</a:t>
            </a:r>
            <a:r>
              <a:rPr lang="zh-CN" altLang="en-US" dirty="0"/>
              <a:t>有不止一个样子，我们怎么处理？</a:t>
            </a:r>
            <a:endParaRPr lang="en-US" altLang="zh-CN" dirty="0"/>
          </a:p>
          <a:p>
            <a:r>
              <a:rPr lang="zh-CN" altLang="en-US" dirty="0"/>
              <a:t>如何增加一个模式</a:t>
            </a:r>
            <a:endParaRPr lang="en-US" altLang="zh-CN" dirty="0"/>
          </a:p>
          <a:p>
            <a:endParaRPr lang="zh-CN" altLang="en-US" dirty="0"/>
          </a:p>
          <a:p>
            <a:r>
              <a:rPr lang="zh-CN" altLang="en-US" dirty="0"/>
              <a:t>横向拓展，就是增加模式</a:t>
            </a:r>
          </a:p>
        </p:txBody>
      </p:sp>
      <p:sp>
        <p:nvSpPr>
          <p:cNvPr id="4" name="灯片编号占位符 3"/>
          <p:cNvSpPr>
            <a:spLocks noGrp="1"/>
          </p:cNvSpPr>
          <p:nvPr>
            <p:ph type="sldNum" sz="quarter" idx="10"/>
          </p:nvPr>
        </p:nvSpPr>
        <p:spPr/>
        <p:txBody>
          <a:bodyPr/>
          <a:lstStyle/>
          <a:p>
            <a:fld id="{D50AF6DD-051E-413B-8808-23D5AB3BD9E4}" type="slidenum">
              <a:rPr lang="en-US" smtClean="0"/>
              <a:pPr/>
              <a:t>18</a:t>
            </a:fld>
            <a:endParaRPr lang="en-US" dirty="0"/>
          </a:p>
        </p:txBody>
      </p:sp>
    </p:spTree>
    <p:extLst>
      <p:ext uri="{BB962C8B-B14F-4D97-AF65-F5344CB8AC3E}">
        <p14:creationId xmlns:p14="http://schemas.microsoft.com/office/powerpoint/2010/main" val="1454261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纵向拓展，增加深度，就是增加局部模式</a:t>
            </a:r>
            <a:endParaRPr lang="en-US" altLang="zh-CN" dirty="0"/>
          </a:p>
          <a:p>
            <a:endParaRPr lang="en-US" altLang="zh-CN" dirty="0"/>
          </a:p>
          <a:p>
            <a:r>
              <a:rPr lang="zh-CN" altLang="en-US" dirty="0"/>
              <a:t>每层每个神经元表示一个局部模式</a:t>
            </a:r>
            <a:endParaRPr lang="en-US" altLang="zh-CN" dirty="0"/>
          </a:p>
          <a:p>
            <a:r>
              <a:rPr lang="zh-CN" altLang="en-US" dirty="0"/>
              <a:t>增加层的含义，不同粒度的模式</a:t>
            </a:r>
          </a:p>
        </p:txBody>
      </p:sp>
      <p:sp>
        <p:nvSpPr>
          <p:cNvPr id="4" name="灯片编号占位符 3"/>
          <p:cNvSpPr>
            <a:spLocks noGrp="1"/>
          </p:cNvSpPr>
          <p:nvPr>
            <p:ph type="sldNum" sz="quarter" idx="10"/>
          </p:nvPr>
        </p:nvSpPr>
        <p:spPr/>
        <p:txBody>
          <a:bodyPr/>
          <a:lstStyle/>
          <a:p>
            <a:fld id="{D50AF6DD-051E-413B-8808-23D5AB3BD9E4}" type="slidenum">
              <a:rPr lang="en-US" smtClean="0"/>
              <a:pPr/>
              <a:t>19</a:t>
            </a:fld>
            <a:endParaRPr lang="en-US" dirty="0"/>
          </a:p>
        </p:txBody>
      </p:sp>
    </p:spTree>
    <p:extLst>
      <p:ext uri="{BB962C8B-B14F-4D97-AF65-F5344CB8AC3E}">
        <p14:creationId xmlns:p14="http://schemas.microsoft.com/office/powerpoint/2010/main" val="4291675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可以引申出更多的层，深度学习</a:t>
            </a:r>
            <a:endParaRPr lang="en-US" altLang="zh-CN" dirty="0"/>
          </a:p>
          <a:p>
            <a:endParaRPr lang="en-US" altLang="zh-CN" dirty="0"/>
          </a:p>
          <a:p>
            <a:r>
              <a:rPr lang="zh-CN" altLang="en-US" dirty="0"/>
              <a:t>变得更深有什么好处？</a:t>
            </a:r>
            <a:endParaRPr lang="en-US" altLang="zh-CN" dirty="0"/>
          </a:p>
          <a:p>
            <a:r>
              <a:rPr lang="en-US" altLang="zh-CN" dirty="0"/>
              <a:t>	</a:t>
            </a:r>
            <a:r>
              <a:rPr lang="zh-CN" altLang="en-US" dirty="0"/>
              <a:t>更多的模式可以复用</a:t>
            </a:r>
            <a:endParaRPr lang="en-US" altLang="zh-CN" dirty="0"/>
          </a:p>
          <a:p>
            <a:r>
              <a:rPr lang="en-US" altLang="zh-CN" dirty="0"/>
              <a:t>	</a:t>
            </a:r>
            <a:r>
              <a:rPr lang="zh-CN" altLang="en-US" dirty="0"/>
              <a:t>可以使用更少的神经元</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20</a:t>
            </a:fld>
            <a:endParaRPr lang="en-US" dirty="0"/>
          </a:p>
        </p:txBody>
      </p:sp>
    </p:spTree>
    <p:extLst>
      <p:ext uri="{BB962C8B-B14F-4D97-AF65-F5344CB8AC3E}">
        <p14:creationId xmlns:p14="http://schemas.microsoft.com/office/powerpoint/2010/main" val="1244544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输入层，眼睛和耳朵</a:t>
            </a:r>
            <a:endParaRPr kumimoji="1" lang="en-US" altLang="zh-CN" dirty="0"/>
          </a:p>
          <a:p>
            <a:r>
              <a:rPr kumimoji="1" lang="zh-CN" altLang="en-US" dirty="0"/>
              <a:t>输出层，这是一只猫，一只狗</a:t>
            </a:r>
            <a:endParaRPr kumimoji="1" lang="en-US" altLang="zh-CN" dirty="0"/>
          </a:p>
          <a:p>
            <a:r>
              <a:rPr kumimoji="1" lang="zh-CN" altLang="en-US" dirty="0"/>
              <a:t>隐含层，匹配的模型</a:t>
            </a:r>
          </a:p>
        </p:txBody>
      </p:sp>
      <p:sp>
        <p:nvSpPr>
          <p:cNvPr id="4" name="灯片编号占位符 3"/>
          <p:cNvSpPr>
            <a:spLocks noGrp="1"/>
          </p:cNvSpPr>
          <p:nvPr>
            <p:ph type="sldNum" sz="quarter" idx="5"/>
          </p:nvPr>
        </p:nvSpPr>
        <p:spPr/>
        <p:txBody>
          <a:bodyPr/>
          <a:lstStyle/>
          <a:p>
            <a:fld id="{D50AF6DD-051E-413B-8808-23D5AB3BD9E4}" type="slidenum">
              <a:rPr lang="en-US" smtClean="0"/>
              <a:pPr/>
              <a:t>21</a:t>
            </a:fld>
            <a:endParaRPr lang="en-US" dirty="0"/>
          </a:p>
        </p:txBody>
      </p:sp>
    </p:spTree>
    <p:extLst>
      <p:ext uri="{BB962C8B-B14F-4D97-AF65-F5344CB8AC3E}">
        <p14:creationId xmlns:p14="http://schemas.microsoft.com/office/powerpoint/2010/main" val="2919239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22</a:t>
            </a:fld>
            <a:endParaRPr lang="en-US" dirty="0"/>
          </a:p>
        </p:txBody>
      </p:sp>
    </p:spTree>
    <p:extLst>
      <p:ext uri="{BB962C8B-B14F-4D97-AF65-F5344CB8AC3E}">
        <p14:creationId xmlns:p14="http://schemas.microsoft.com/office/powerpoint/2010/main" val="4093782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输出的结果可以当做概率</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31</a:t>
            </a:fld>
            <a:endParaRPr lang="en-US" dirty="0"/>
          </a:p>
        </p:txBody>
      </p:sp>
    </p:spTree>
    <p:extLst>
      <p:ext uri="{BB962C8B-B14F-4D97-AF65-F5344CB8AC3E}">
        <p14:creationId xmlns:p14="http://schemas.microsoft.com/office/powerpoint/2010/main" val="2187957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用什么训练就学到了什么，就可以识别什么</a:t>
            </a: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33</a:t>
            </a:fld>
            <a:endParaRPr lang="en-US" dirty="0"/>
          </a:p>
        </p:txBody>
      </p:sp>
    </p:spTree>
    <p:extLst>
      <p:ext uri="{BB962C8B-B14F-4D97-AF65-F5344CB8AC3E}">
        <p14:creationId xmlns:p14="http://schemas.microsoft.com/office/powerpoint/2010/main" val="2163330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第四次课第二节结束</a:t>
            </a: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34</a:t>
            </a:fld>
            <a:endParaRPr lang="en-US" dirty="0"/>
          </a:p>
        </p:txBody>
      </p:sp>
    </p:spTree>
    <p:extLst>
      <p:ext uri="{BB962C8B-B14F-4D97-AF65-F5344CB8AC3E}">
        <p14:creationId xmlns:p14="http://schemas.microsoft.com/office/powerpoint/2010/main" val="3461111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同是猫也有很多种，见多识广 人会总结归纳，举一反三 机器目前还做不到，只能靠众多的数据 </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52348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25381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37</a:t>
            </a:fld>
            <a:endParaRPr lang="en-US" dirty="0"/>
          </a:p>
        </p:txBody>
      </p:sp>
    </p:spTree>
    <p:extLst>
      <p:ext uri="{BB962C8B-B14F-4D97-AF65-F5344CB8AC3E}">
        <p14:creationId xmlns:p14="http://schemas.microsoft.com/office/powerpoint/2010/main" val="2694369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调整哪个？大小？方向？</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28273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BP</a:t>
            </a:r>
            <a:r>
              <a:rPr kumimoji="1" lang="zh-CN" altLang="en-US" dirty="0"/>
              <a:t>算法</a:t>
            </a:r>
            <a:endParaRPr kumimoji="1" lang="en-US" altLang="zh-CN" dirty="0"/>
          </a:p>
          <a:p>
            <a:endParaRPr kumimoji="1" lang="en-US" altLang="zh-CN" dirty="0"/>
          </a:p>
          <a:p>
            <a:r>
              <a:rPr kumimoji="1" lang="en-US" altLang="zh-CN" dirty="0"/>
              <a:t>BP</a:t>
            </a:r>
            <a:r>
              <a:rPr kumimoji="1" lang="zh-CN" altLang="en-US" dirty="0"/>
              <a:t>的提出与</a:t>
            </a:r>
            <a:r>
              <a:rPr kumimoji="1" lang="en-US" altLang="zh-CN" dirty="0"/>
              <a:t>XOR</a:t>
            </a:r>
            <a:r>
              <a:rPr kumimoji="1" lang="zh-CN" altLang="en-US" dirty="0"/>
              <a:t>算法</a:t>
            </a:r>
            <a:endParaRPr kumimoji="1" lang="en-US" altLang="zh-CN" dirty="0"/>
          </a:p>
          <a:p>
            <a:endParaRPr kumimoji="1" lang="en-US" altLang="zh-CN" dirty="0"/>
          </a:p>
          <a:p>
            <a:r>
              <a:rPr kumimoji="1" lang="zh-CN" altLang="en-US" dirty="0"/>
              <a:t>为什么有</a:t>
            </a:r>
            <a:r>
              <a:rPr kumimoji="1" lang="en-US" altLang="zh-CN" dirty="0"/>
              <a:t>1/2</a:t>
            </a:r>
            <a:r>
              <a:rPr kumimoji="1" lang="zh-CN" altLang="en-US" dirty="0"/>
              <a:t>的系数？为了之后计算公式上好看，其实没有特别的含义。</a:t>
            </a:r>
            <a:endParaRPr kumimoji="1" lang="en-US" altLang="zh-CN" dirty="0"/>
          </a:p>
          <a:p>
            <a:endParaRPr kumimoji="1" lang="en-US" altLang="zh-CN" dirty="0"/>
          </a:p>
          <a:p>
            <a:r>
              <a:rPr lang="zh-CN" altLang="en-US" b="0" i="0" u="none" strike="noStrike" dirty="0">
                <a:solidFill>
                  <a:srgbClr val="202122"/>
                </a:solidFill>
                <a:effectLst/>
                <a:latin typeface="Arial" panose="020B0604020202020204" pitchFamily="34" charset="0"/>
              </a:rPr>
              <a:t>。</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39</a:t>
            </a:fld>
            <a:endParaRPr lang="en-US" dirty="0"/>
          </a:p>
        </p:txBody>
      </p:sp>
    </p:spTree>
    <p:extLst>
      <p:ext uri="{BB962C8B-B14F-4D97-AF65-F5344CB8AC3E}">
        <p14:creationId xmlns:p14="http://schemas.microsoft.com/office/powerpoint/2010/main" val="25642184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导数决定了修改的方向</a:t>
            </a:r>
          </a:p>
        </p:txBody>
      </p:sp>
      <p:sp>
        <p:nvSpPr>
          <p:cNvPr id="4" name="灯片编号占位符 3"/>
          <p:cNvSpPr>
            <a:spLocks noGrp="1"/>
          </p:cNvSpPr>
          <p:nvPr>
            <p:ph type="sldNum" sz="quarter" idx="5"/>
          </p:nvPr>
        </p:nvSpPr>
        <p:spPr/>
        <p:txBody>
          <a:bodyPr/>
          <a:lstStyle/>
          <a:p>
            <a:fld id="{D50AF6DD-051E-413B-8808-23D5AB3BD9E4}" type="slidenum">
              <a:rPr lang="en-US" smtClean="0"/>
              <a:pPr/>
              <a:t>41</a:t>
            </a:fld>
            <a:endParaRPr lang="en-US" dirty="0"/>
          </a:p>
        </p:txBody>
      </p:sp>
    </p:spTree>
    <p:extLst>
      <p:ext uri="{BB962C8B-B14F-4D97-AF65-F5344CB8AC3E}">
        <p14:creationId xmlns:p14="http://schemas.microsoft.com/office/powerpoint/2010/main" val="15657814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42</a:t>
            </a:fld>
            <a:endParaRPr lang="en-US" dirty="0"/>
          </a:p>
        </p:txBody>
      </p:sp>
    </p:spTree>
    <p:extLst>
      <p:ext uri="{BB962C8B-B14F-4D97-AF65-F5344CB8AC3E}">
        <p14:creationId xmlns:p14="http://schemas.microsoft.com/office/powerpoint/2010/main" val="2096151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多维情况：梯度下降，导数变偏导数。</a:t>
            </a:r>
            <a:endParaRPr lang="en-US" altLang="zh-CN" dirty="0"/>
          </a:p>
          <a:p>
            <a:endParaRPr lang="en-US" altLang="zh-CN" dirty="0"/>
          </a:p>
          <a:p>
            <a:r>
              <a:rPr lang="zh-CN" altLang="en-US" dirty="0"/>
              <a:t>用笔把参数</a:t>
            </a:r>
            <a:r>
              <a:rPr lang="en-US" altLang="zh-CN" dirty="0"/>
              <a:t>w</a:t>
            </a:r>
            <a:r>
              <a:rPr lang="zh-CN" altLang="en-US" dirty="0"/>
              <a:t>写成向量</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80246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多维情况：梯度下降，导数变偏导数。梯度的物理意义，神经网络比较复杂，如何计算梯度？</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95893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批量</a:t>
            </a:r>
            <a:r>
              <a:rPr kumimoji="1" lang="en-US" altLang="zh-CN" dirty="0"/>
              <a:t>-》</a:t>
            </a:r>
            <a:r>
              <a:rPr kumimoji="1" lang="zh-CN" altLang="en-US" dirty="0"/>
              <a:t>稳定</a:t>
            </a:r>
            <a:endParaRPr kumimoji="1" lang="en-US" altLang="zh-CN" dirty="0"/>
          </a:p>
          <a:p>
            <a:r>
              <a:rPr kumimoji="1" lang="zh-CN" altLang="en-US" dirty="0"/>
              <a:t>随机梯度下降</a:t>
            </a:r>
            <a:r>
              <a:rPr kumimoji="1" lang="en-US" altLang="zh-CN" dirty="0"/>
              <a:t>-》</a:t>
            </a:r>
            <a:r>
              <a:rPr kumimoji="1" lang="zh-CN" altLang="en-US" dirty="0"/>
              <a:t>随机选一个</a:t>
            </a:r>
          </a:p>
        </p:txBody>
      </p:sp>
      <p:sp>
        <p:nvSpPr>
          <p:cNvPr id="4" name="灯片编号占位符 3"/>
          <p:cNvSpPr>
            <a:spLocks noGrp="1"/>
          </p:cNvSpPr>
          <p:nvPr>
            <p:ph type="sldNum" sz="quarter" idx="5"/>
          </p:nvPr>
        </p:nvSpPr>
        <p:spPr/>
        <p:txBody>
          <a:bodyPr/>
          <a:lstStyle/>
          <a:p>
            <a:fld id="{D50AF6DD-051E-413B-8808-23D5AB3BD9E4}" type="slidenum">
              <a:rPr lang="en-US" smtClean="0"/>
              <a:pPr/>
              <a:t>45</a:t>
            </a:fld>
            <a:endParaRPr lang="en-US" dirty="0"/>
          </a:p>
        </p:txBody>
      </p:sp>
    </p:spTree>
    <p:extLst>
      <p:ext uri="{BB962C8B-B14F-4D97-AF65-F5344CB8AC3E}">
        <p14:creationId xmlns:p14="http://schemas.microsoft.com/office/powerpoint/2010/main" val="12110603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G</a:t>
            </a:r>
            <a:r>
              <a:rPr kumimoji="1" lang="zh-CN" altLang="en-US" dirty="0"/>
              <a:t>的后继：当前的神经元是</a:t>
            </a:r>
            <a:r>
              <a:rPr kumimoji="1" lang="en-US" altLang="zh-CN" dirty="0"/>
              <a:t>g,</a:t>
            </a:r>
            <a:r>
              <a:rPr kumimoji="1" lang="zh-CN" altLang="en-US" dirty="0"/>
              <a:t>它的后继就是以它的输出位输入的神经元</a:t>
            </a:r>
          </a:p>
        </p:txBody>
      </p:sp>
      <p:sp>
        <p:nvSpPr>
          <p:cNvPr id="4" name="灯片编号占位符 3"/>
          <p:cNvSpPr>
            <a:spLocks noGrp="1"/>
          </p:cNvSpPr>
          <p:nvPr>
            <p:ph type="sldNum" sz="quarter" idx="5"/>
          </p:nvPr>
        </p:nvSpPr>
        <p:spPr/>
        <p:txBody>
          <a:bodyPr/>
          <a:lstStyle/>
          <a:p>
            <a:fld id="{D50AF6DD-051E-413B-8808-23D5AB3BD9E4}" type="slidenum">
              <a:rPr lang="en-US" smtClean="0"/>
              <a:pPr/>
              <a:t>46</a:t>
            </a:fld>
            <a:endParaRPr lang="en-US" dirty="0"/>
          </a:p>
        </p:txBody>
      </p:sp>
    </p:spTree>
    <p:extLst>
      <p:ext uri="{BB962C8B-B14F-4D97-AF65-F5344CB8AC3E}">
        <p14:creationId xmlns:p14="http://schemas.microsoft.com/office/powerpoint/2010/main" val="2613689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47</a:t>
            </a:fld>
            <a:endParaRPr lang="en-US" dirty="0"/>
          </a:p>
        </p:txBody>
      </p:sp>
    </p:spTree>
    <p:extLst>
      <p:ext uri="{BB962C8B-B14F-4D97-AF65-F5344CB8AC3E}">
        <p14:creationId xmlns:p14="http://schemas.microsoft.com/office/powerpoint/2010/main" val="30478998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48</a:t>
            </a:fld>
            <a:endParaRPr lang="en-US" dirty="0"/>
          </a:p>
        </p:txBody>
      </p:sp>
    </p:spTree>
    <p:extLst>
      <p:ext uri="{BB962C8B-B14F-4D97-AF65-F5344CB8AC3E}">
        <p14:creationId xmlns:p14="http://schemas.microsoft.com/office/powerpoint/2010/main" val="12105519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定义</a:t>
            </a:r>
            <a:r>
              <a:rPr kumimoji="1" lang="en-US" altLang="zh-CN" dirty="0" err="1"/>
              <a:t>delta_j</a:t>
            </a:r>
            <a:endParaRPr kumimoji="1" lang="en-US" altLang="zh-CN" dirty="0"/>
          </a:p>
          <a:p>
            <a:endParaRPr kumimoji="1" lang="en-US" altLang="zh-CN" dirty="0"/>
          </a:p>
          <a:p>
            <a:r>
              <a:rPr kumimoji="1" lang="zh-CN" altLang="en-US" dirty="0"/>
              <a:t>激活函数的梯度的计算非常特别，梯度由它本身计算获得</a:t>
            </a:r>
            <a:endParaRPr kumimoji="1" lang="en-US" altLang="zh-CN" dirty="0"/>
          </a:p>
          <a:p>
            <a:endParaRPr kumimoji="1" lang="en-US" altLang="zh-CN" dirty="0"/>
          </a:p>
          <a:p>
            <a:r>
              <a:rPr kumimoji="1" lang="zh-CN" altLang="en-US" dirty="0"/>
              <a:t>没有激活函数，解决不了</a:t>
            </a:r>
            <a:r>
              <a:rPr kumimoji="1" lang="en-US" altLang="zh-CN" dirty="0"/>
              <a:t>XOR</a:t>
            </a:r>
            <a:r>
              <a:rPr kumimoji="1" lang="zh-CN" altLang="en-US" dirty="0"/>
              <a:t>问题</a:t>
            </a:r>
            <a:endParaRPr kumimoji="1" lang="en-US" altLang="zh-CN" dirty="0"/>
          </a:p>
          <a:p>
            <a:endParaRPr kumimoji="1" lang="en-US" altLang="zh-CN" dirty="0"/>
          </a:p>
          <a:p>
            <a:r>
              <a:rPr kumimoji="1" lang="zh-CN" altLang="en-US" dirty="0"/>
              <a:t>马文</a:t>
            </a:r>
            <a:r>
              <a:rPr kumimoji="1" lang="en-US" altLang="zh-CN" dirty="0"/>
              <a:t>·</a:t>
            </a:r>
            <a:r>
              <a:rPr kumimoji="1" lang="zh-CN" altLang="en-US" dirty="0"/>
              <a:t>李</a:t>
            </a:r>
            <a:r>
              <a:rPr kumimoji="1" lang="en-US" altLang="zh-CN" dirty="0"/>
              <a:t>·</a:t>
            </a:r>
            <a:r>
              <a:rPr kumimoji="1" lang="zh-CN" altLang="en-US" dirty="0"/>
              <a:t>明斯基（英语：</a:t>
            </a:r>
            <a:r>
              <a:rPr kumimoji="1" lang="en-US" altLang="zh-CN" dirty="0"/>
              <a:t>Marvin Lee Minsky</a:t>
            </a:r>
            <a:r>
              <a:rPr kumimoji="1" lang="zh-CN" altLang="en-US" dirty="0"/>
              <a:t>，</a:t>
            </a:r>
            <a:r>
              <a:rPr kumimoji="1" lang="en-US" altLang="zh-CN" dirty="0"/>
              <a:t>1927</a:t>
            </a:r>
            <a:r>
              <a:rPr kumimoji="1" lang="zh-CN" altLang="en-US" dirty="0"/>
              <a:t>年</a:t>
            </a:r>
            <a:r>
              <a:rPr kumimoji="1" lang="en-US" altLang="zh-CN" dirty="0"/>
              <a:t>8</a:t>
            </a:r>
            <a:r>
              <a:rPr kumimoji="1" lang="zh-CN" altLang="en-US" dirty="0"/>
              <a:t>月</a:t>
            </a:r>
            <a:r>
              <a:rPr kumimoji="1" lang="en-US" altLang="zh-CN" dirty="0"/>
              <a:t>9</a:t>
            </a:r>
            <a:r>
              <a:rPr kumimoji="1" lang="zh-CN" altLang="en-US" dirty="0"/>
              <a:t>日</a:t>
            </a:r>
            <a:r>
              <a:rPr kumimoji="1" lang="en-US" altLang="zh-CN" dirty="0"/>
              <a:t>—2016</a:t>
            </a:r>
            <a:r>
              <a:rPr kumimoji="1" lang="zh-CN" altLang="en-US" dirty="0"/>
              <a:t>年</a:t>
            </a:r>
            <a:r>
              <a:rPr kumimoji="1" lang="en-US" altLang="zh-CN" dirty="0"/>
              <a:t>1</a:t>
            </a:r>
            <a:r>
              <a:rPr kumimoji="1" lang="zh-CN" altLang="en-US" dirty="0"/>
              <a:t>月</a:t>
            </a:r>
            <a:r>
              <a:rPr kumimoji="1" lang="en-US" altLang="zh-CN" dirty="0"/>
              <a:t>24</a:t>
            </a:r>
            <a:r>
              <a:rPr kumimoji="1" lang="zh-CN" altLang="en-US" dirty="0"/>
              <a:t>日），生于美国纽约州纽约市，美国科学家，专长于认知科学与人工智能领域，麻省理工学院人工智能实验室的创始人之一，著有几部人工智能和哲学方面的作品。</a:t>
            </a:r>
            <a:r>
              <a:rPr kumimoji="1" lang="en-US" altLang="zh-CN" dirty="0"/>
              <a:t>1969</a:t>
            </a:r>
            <a:r>
              <a:rPr kumimoji="1" lang="zh-CN" altLang="en-US" dirty="0"/>
              <a:t>年，因为在人工智能领域的贡献，获得图灵奖。</a:t>
            </a:r>
          </a:p>
          <a:p>
            <a:endParaRPr kumimoji="1" lang="zh-CN" altLang="en-US" dirty="0"/>
          </a:p>
          <a:p>
            <a:r>
              <a:rPr kumimoji="1" lang="zh-CN" altLang="en-US" dirty="0"/>
              <a:t>在马文</a:t>
            </a:r>
            <a:r>
              <a:rPr kumimoji="1" lang="en-US" altLang="zh-CN" dirty="0"/>
              <a:t>·</a:t>
            </a:r>
            <a:r>
              <a:rPr kumimoji="1" lang="zh-CN" altLang="en-US" dirty="0"/>
              <a:t>明斯基和西摩爾</a:t>
            </a:r>
            <a:r>
              <a:rPr kumimoji="1" lang="en-US" altLang="zh-CN" dirty="0"/>
              <a:t>·</a:t>
            </a:r>
            <a:r>
              <a:rPr kumimoji="1" lang="zh-CN" altLang="en-US" dirty="0"/>
              <a:t>派普特（</a:t>
            </a:r>
            <a:r>
              <a:rPr kumimoji="1" lang="en-US" altLang="zh-CN" dirty="0"/>
              <a:t>1969</a:t>
            </a:r>
            <a:r>
              <a:rPr kumimoji="1" lang="zh-CN" altLang="en-US" dirty="0"/>
              <a:t>）发表了一项关于机器学习的研究以后，神经网络的研究停滞不前。他们发现了神经网络的两个关键问题。第一是基本感知机无法处理异或回路。第二个重要的问题是电脑没有足够的能力来处理大型神经网络所需要的很长的计算时间。直到计算机具有更强的计算能力之前，神经网络的研究进展缓慢</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49</a:t>
            </a:fld>
            <a:endParaRPr lang="en-US" dirty="0"/>
          </a:p>
        </p:txBody>
      </p:sp>
    </p:spTree>
    <p:extLst>
      <p:ext uri="{BB962C8B-B14F-4D97-AF65-F5344CB8AC3E}">
        <p14:creationId xmlns:p14="http://schemas.microsoft.com/office/powerpoint/2010/main" val="3993425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701427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每一个后继都对应了一条梯度传导链</a:t>
            </a:r>
            <a:endParaRPr kumimoji="1" lang="en-US" altLang="zh-CN" dirty="0"/>
          </a:p>
          <a:p>
            <a:endParaRPr kumimoji="1" lang="en-US" altLang="zh-CN" dirty="0"/>
          </a:p>
          <a:p>
            <a:endParaRPr kumimoji="1" lang="en-US" altLang="zh-CN" dirty="0"/>
          </a:p>
          <a:p>
            <a:r>
              <a:rPr kumimoji="1" lang="zh-CN" altLang="en-US" dirty="0"/>
              <a:t>第五堂课第一节结束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51</a:t>
            </a:fld>
            <a:endParaRPr lang="en-US" dirty="0"/>
          </a:p>
        </p:txBody>
      </p:sp>
    </p:spTree>
    <p:extLst>
      <p:ext uri="{BB962C8B-B14F-4D97-AF65-F5344CB8AC3E}">
        <p14:creationId xmlns:p14="http://schemas.microsoft.com/office/powerpoint/2010/main" val="202038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kumimoji="1" lang="en-US" altLang="zh-CN" dirty="0"/>
              <a:t>70</a:t>
            </a:r>
            <a:r>
              <a:rPr kumimoji="1" lang="zh-CN" altLang="en-US" dirty="0"/>
              <a:t>年代有个博士生创建</a:t>
            </a:r>
            <a:endParaRPr kumimoji="1" lang="en-US" altLang="zh-CN" dirty="0"/>
          </a:p>
          <a:p>
            <a:r>
              <a:rPr kumimoji="1" lang="en-US" altLang="zh-CN" dirty="0"/>
              <a:t>80</a:t>
            </a:r>
            <a:r>
              <a:rPr kumimoji="1" lang="zh-CN" altLang="en-US" dirty="0"/>
              <a:t>年代</a:t>
            </a:r>
            <a:r>
              <a:rPr kumimoji="1" lang="en-US" altLang="zh-CN" dirty="0"/>
              <a:t>Hinton</a:t>
            </a:r>
            <a:r>
              <a:rPr kumimoji="1" lang="zh-CN" altLang="en-US" dirty="0"/>
              <a:t>再次提出，但这次发扬光大，</a:t>
            </a:r>
            <a:r>
              <a:rPr kumimoji="1" lang="en-US" altLang="zh-CN" dirty="0" err="1"/>
              <a:t>turing</a:t>
            </a:r>
            <a:r>
              <a:rPr kumimoji="1" lang="zh-CN" altLang="en-US" dirty="0"/>
              <a:t> </a:t>
            </a:r>
            <a:r>
              <a:rPr kumimoji="1" lang="en-US" altLang="zh-CN" dirty="0"/>
              <a:t>award</a:t>
            </a:r>
            <a:r>
              <a:rPr kumimoji="1" lang="zh-CN" altLang="en-US" dirty="0"/>
              <a:t>写的是</a:t>
            </a:r>
            <a:r>
              <a:rPr kumimoji="1" lang="en-US" altLang="zh-CN" dirty="0"/>
              <a:t>popularize</a:t>
            </a:r>
            <a:r>
              <a:rPr kumimoji="1" lang="zh-CN" altLang="en-US" dirty="0"/>
              <a:t> </a:t>
            </a:r>
            <a:r>
              <a:rPr kumimoji="1" lang="en-US" altLang="zh-CN" dirty="0"/>
              <a:t>BP</a:t>
            </a:r>
            <a:r>
              <a:rPr kumimoji="1" lang="zh-CN" altLang="en-US" dirty="0"/>
              <a:t>，不是创建</a:t>
            </a:r>
            <a:r>
              <a:rPr kumimoji="1" lang="en-US" altLang="zh-CN" dirty="0"/>
              <a:t>BP</a:t>
            </a:r>
          </a:p>
          <a:p>
            <a:endParaRPr kumimoji="1" lang="en-US" altLang="zh-CN" dirty="0"/>
          </a:p>
          <a:p>
            <a:r>
              <a:rPr kumimoji="1" lang="en-US" altLang="zh-CN" dirty="0"/>
              <a:t>https://</a:t>
            </a:r>
            <a:r>
              <a:rPr kumimoji="1" lang="en-US" altLang="zh-CN" dirty="0" err="1"/>
              <a:t>www.nobelprize.org</a:t>
            </a:r>
            <a:r>
              <a:rPr kumimoji="1" lang="en-US" altLang="zh-CN" dirty="0"/>
              <a:t>/prizes/physics/2024/press-release/</a:t>
            </a:r>
          </a:p>
          <a:p>
            <a:pPr algn="l" fontAlgn="base"/>
            <a:endParaRPr lang="en-US" altLang="zh-CN" b="1" i="0" u="none" strike="noStrike" dirty="0">
              <a:solidFill>
                <a:srgbClr val="2E2A25"/>
              </a:solidFill>
              <a:effectLst/>
              <a:latin typeface="var(--secondary-font-semi-bold)"/>
            </a:endParaRPr>
          </a:p>
          <a:p>
            <a:pPr algn="l" fontAlgn="base"/>
            <a:r>
              <a:rPr lang="en-US" altLang="zh-CN" b="1" i="0" u="none" strike="noStrike" dirty="0">
                <a:solidFill>
                  <a:srgbClr val="2E2A25"/>
                </a:solidFill>
                <a:effectLst/>
                <a:latin typeface="var(--secondary-font-semi-bold)"/>
              </a:rPr>
              <a:t>John Hopfield</a:t>
            </a:r>
            <a:r>
              <a:rPr lang="en-US" altLang="zh-CN" b="0" i="0" u="none" strike="noStrike" dirty="0">
                <a:solidFill>
                  <a:srgbClr val="2E2A25"/>
                </a:solidFill>
                <a:effectLst/>
                <a:latin typeface="Alfred Serif Regular"/>
              </a:rPr>
              <a:t> invented a network that uses a method for saving and recreating patterns. We can imagine the nodes as pixels. The </a:t>
            </a:r>
            <a:r>
              <a:rPr lang="en-US" altLang="zh-CN" b="0" i="1" u="none" strike="noStrike" dirty="0">
                <a:solidFill>
                  <a:srgbClr val="2E2A25"/>
                </a:solidFill>
                <a:effectLst/>
                <a:latin typeface="var(--secondary-font-italic)"/>
              </a:rPr>
              <a:t>Hopfield network</a:t>
            </a:r>
            <a:r>
              <a:rPr lang="en-US" altLang="zh-CN" b="0" i="0" u="none" strike="noStrike" dirty="0">
                <a:solidFill>
                  <a:srgbClr val="2E2A25"/>
                </a:solidFill>
                <a:effectLst/>
                <a:latin typeface="Alfred Serif Regular"/>
              </a:rPr>
              <a:t> </a:t>
            </a:r>
            <a:r>
              <a:rPr lang="en-US" altLang="zh-CN" b="0" i="0" u="none" strike="noStrike" dirty="0" err="1">
                <a:solidFill>
                  <a:srgbClr val="2E2A25"/>
                </a:solidFill>
                <a:effectLst/>
                <a:latin typeface="Alfred Serif Regular"/>
              </a:rPr>
              <a:t>utilises</a:t>
            </a:r>
            <a:r>
              <a:rPr lang="en-US" altLang="zh-CN" b="0" i="0" u="none" strike="noStrike" dirty="0">
                <a:solidFill>
                  <a:srgbClr val="2E2A25"/>
                </a:solidFill>
                <a:effectLst/>
                <a:latin typeface="Alfred Serif Regular"/>
              </a:rPr>
              <a:t> physics that describes a material’s characteristics due to its atomic spin – a property that makes each atom a tiny magnet. The network as a whole is described in a manner equivalent to the energy in the spin system found in physics, and is trained by finding values for the connections between the nodes so that the saved images have low energy. When the Hopfield network is fed a distorted or incomplete image, it methodically works through the nodes and updates their values so the network’s energy falls. The network thus works stepwise to find the saved image that is most like the imperfect one it was fed with.</a:t>
            </a:r>
          </a:p>
          <a:p>
            <a:pPr algn="l" fontAlgn="base"/>
            <a:r>
              <a:rPr lang="en-US" altLang="zh-CN" b="0" i="0" u="none" strike="noStrike" dirty="0">
                <a:solidFill>
                  <a:srgbClr val="2E2A25"/>
                </a:solidFill>
                <a:effectLst/>
                <a:latin typeface="Alfred Serif Regular"/>
              </a:rPr>
              <a:t>Proposed</a:t>
            </a:r>
            <a:r>
              <a:rPr lang="zh-CN" altLang="en-US" b="0" i="0" u="none" strike="noStrike" dirty="0">
                <a:solidFill>
                  <a:srgbClr val="2E2A25"/>
                </a:solidFill>
                <a:effectLst/>
                <a:latin typeface="Alfred Serif Regular"/>
              </a:rPr>
              <a:t> </a:t>
            </a:r>
            <a:r>
              <a:rPr lang="en-US" altLang="zh-CN" b="0" i="0" u="none" strike="noStrike" dirty="0">
                <a:solidFill>
                  <a:srgbClr val="2E2A25"/>
                </a:solidFill>
                <a:effectLst/>
                <a:latin typeface="Alfred Serif Regular"/>
              </a:rPr>
              <a:t>in</a:t>
            </a:r>
            <a:r>
              <a:rPr lang="zh-CN" altLang="en-US" b="0" i="0" u="none" strike="noStrike" dirty="0">
                <a:solidFill>
                  <a:srgbClr val="2E2A25"/>
                </a:solidFill>
                <a:effectLst/>
                <a:latin typeface="Alfred Serif Regular"/>
              </a:rPr>
              <a:t> </a:t>
            </a:r>
            <a:r>
              <a:rPr lang="en-US" altLang="zh-CN" b="0" i="0" u="none" strike="noStrike" dirty="0">
                <a:solidFill>
                  <a:srgbClr val="2E2A25"/>
                </a:solidFill>
                <a:effectLst/>
                <a:latin typeface="Alfred Serif Regular"/>
              </a:rPr>
              <a:t>1982</a:t>
            </a:r>
          </a:p>
          <a:p>
            <a:pPr algn="l" fontAlgn="base"/>
            <a:endParaRPr lang="en-US" altLang="zh-CN" b="1" i="0" u="none" strike="noStrike" dirty="0">
              <a:solidFill>
                <a:srgbClr val="2E2A25"/>
              </a:solidFill>
              <a:effectLst/>
              <a:latin typeface="var(--secondary-font-semi-bold)"/>
            </a:endParaRPr>
          </a:p>
          <a:p>
            <a:pPr algn="l" fontAlgn="base"/>
            <a:r>
              <a:rPr lang="en-US" altLang="zh-CN" b="1" i="0" u="none" strike="noStrike" dirty="0">
                <a:solidFill>
                  <a:srgbClr val="2E2A25"/>
                </a:solidFill>
                <a:effectLst/>
                <a:latin typeface="var(--secondary-font-semi-bold)"/>
              </a:rPr>
              <a:t>Geoffrey Hinton</a:t>
            </a:r>
            <a:r>
              <a:rPr lang="en-US" altLang="zh-CN" b="0" i="0" u="none" strike="noStrike" dirty="0">
                <a:solidFill>
                  <a:srgbClr val="2E2A25"/>
                </a:solidFill>
                <a:effectLst/>
                <a:latin typeface="Alfred Serif Regular"/>
              </a:rPr>
              <a:t> used the Hopfield network as the foundation for a new network that uses a different method: the </a:t>
            </a:r>
            <a:r>
              <a:rPr lang="en-US" altLang="zh-CN" b="0" i="1" u="none" strike="noStrike" dirty="0">
                <a:solidFill>
                  <a:srgbClr val="2E2A25"/>
                </a:solidFill>
                <a:effectLst/>
                <a:latin typeface="var(--secondary-font-italic)"/>
              </a:rPr>
              <a:t>Boltzmann machine</a:t>
            </a:r>
            <a:r>
              <a:rPr lang="en-US" altLang="zh-CN" b="0" i="0" u="none" strike="noStrike" dirty="0">
                <a:solidFill>
                  <a:srgbClr val="2E2A25"/>
                </a:solidFill>
                <a:effectLst/>
                <a:latin typeface="Alfred Serif Regular"/>
              </a:rPr>
              <a:t>. This can learn to </a:t>
            </a:r>
            <a:r>
              <a:rPr lang="en-US" altLang="zh-CN" b="0" i="0" u="none" strike="noStrike" dirty="0" err="1">
                <a:solidFill>
                  <a:srgbClr val="2E2A25"/>
                </a:solidFill>
                <a:effectLst/>
                <a:latin typeface="Alfred Serif Regular"/>
              </a:rPr>
              <a:t>recognise</a:t>
            </a:r>
            <a:r>
              <a:rPr lang="en-US" altLang="zh-CN" b="0" i="0" u="none" strike="noStrike" dirty="0">
                <a:solidFill>
                  <a:srgbClr val="2E2A25"/>
                </a:solidFill>
                <a:effectLst/>
                <a:latin typeface="Alfred Serif Regular"/>
              </a:rPr>
              <a:t> characteristic elements in a given type of data. Hinton used tools from statistical physics, the science of systems built from many similar components. The machine is trained by feeding it examples that are very likely to arise when the machine is run. The Boltzmann machine can be used to classify images or create new examples of the type of pattern on which it was trained. Hinton has built upon this work, helping initiate the current explosive development of machine learning.</a:t>
            </a:r>
          </a:p>
          <a:p>
            <a:endParaRPr kumimoji="1" lang="en-US" altLang="zh-CN" dirty="0"/>
          </a:p>
          <a:p>
            <a:endParaRPr kumimoji="1" lang="en-US" altLang="zh-CN" dirty="0"/>
          </a:p>
          <a:p>
            <a:endParaRPr kumimoji="1" lang="en-US" altLang="zh-CN" dirty="0"/>
          </a:p>
          <a:p>
            <a:pPr algn="l"/>
            <a:r>
              <a:rPr lang="en-US" altLang="zh-CN" b="0" i="0" u="none" strike="noStrike" dirty="0">
                <a:solidFill>
                  <a:srgbClr val="202122"/>
                </a:solidFill>
                <a:effectLst/>
                <a:latin typeface="Arial" panose="020B0604020202020204" pitchFamily="34" charset="0"/>
              </a:rPr>
              <a:t>The terminology "back-propagating error correction" was introduced in 1962 by </a:t>
            </a:r>
            <a:r>
              <a:rPr lang="en-US" altLang="zh-CN" b="0" i="0" u="none" strike="noStrike" dirty="0">
                <a:solidFill>
                  <a:srgbClr val="202122"/>
                </a:solidFill>
                <a:effectLst/>
                <a:latin typeface="Arial" panose="020B0604020202020204" pitchFamily="34" charset="0"/>
                <a:hlinkClick r:id="rId3" tooltip="Frank Rosenblatt"/>
              </a:rPr>
              <a:t>Frank Rosenblatt</a:t>
            </a:r>
            <a:r>
              <a:rPr lang="en-US" altLang="zh-CN" b="0" i="0" u="none" strike="noStrike" dirty="0">
                <a:solidFill>
                  <a:srgbClr val="202122"/>
                </a:solidFill>
                <a:effectLst/>
                <a:latin typeface="Arial" panose="020B0604020202020204" pitchFamily="34" charset="0"/>
              </a:rPr>
              <a:t>, but he did not know how to implement this.</a:t>
            </a:r>
            <a:r>
              <a:rPr lang="en-US" altLang="zh-CN" b="0" i="0" u="none" strike="noStrike" baseline="30000" dirty="0">
                <a:solidFill>
                  <a:srgbClr val="202122"/>
                </a:solidFill>
                <a:effectLst/>
                <a:latin typeface="Arial" panose="020B0604020202020204" pitchFamily="34" charset="0"/>
                <a:hlinkClick r:id="rId4"/>
              </a:rPr>
              <a:t>[17]</a:t>
            </a:r>
            <a:r>
              <a:rPr lang="en-US" altLang="zh-CN" b="0" i="0" u="none" strike="noStrike" dirty="0">
                <a:solidFill>
                  <a:srgbClr val="202122"/>
                </a:solidFill>
                <a:effectLst/>
                <a:latin typeface="Arial" panose="020B0604020202020204" pitchFamily="34" charset="0"/>
              </a:rPr>
              <a:t> In any case, he only studied neurons whose outputs were discrete levels, which only had zero derivatives, making backpropagation impossible.</a:t>
            </a:r>
          </a:p>
          <a:p>
            <a:pPr algn="l"/>
            <a:endParaRPr lang="en-US" altLang="zh-CN" b="0" i="0" u="none" strike="noStrike" dirty="0">
              <a:solidFill>
                <a:srgbClr val="202122"/>
              </a:solidFill>
              <a:effectLst/>
              <a:latin typeface="Arial" panose="020B0604020202020204" pitchFamily="34" charset="0"/>
            </a:endParaRPr>
          </a:p>
          <a:p>
            <a:pPr algn="l"/>
            <a:r>
              <a:rPr lang="en-US" altLang="zh-CN" b="0" i="0" u="none" strike="noStrike" dirty="0">
                <a:solidFill>
                  <a:srgbClr val="202122"/>
                </a:solidFill>
                <a:effectLst/>
                <a:latin typeface="Arial" panose="020B0604020202020204" pitchFamily="34" charset="0"/>
              </a:rPr>
              <a:t>Precursors to backpropagation appeared in </a:t>
            </a:r>
            <a:r>
              <a:rPr lang="en-US" altLang="zh-CN" b="0" i="0" u="none" strike="noStrike" dirty="0">
                <a:solidFill>
                  <a:srgbClr val="202122"/>
                </a:solidFill>
                <a:effectLst/>
                <a:latin typeface="Arial" panose="020B0604020202020204" pitchFamily="34" charset="0"/>
                <a:hlinkClick r:id="rId5" tooltip="Optimal control"/>
              </a:rPr>
              <a:t>optimal control theory</a:t>
            </a:r>
            <a:r>
              <a:rPr lang="en-US" altLang="zh-CN" b="0" i="0" u="none" strike="noStrike" dirty="0">
                <a:solidFill>
                  <a:srgbClr val="202122"/>
                </a:solidFill>
                <a:effectLst/>
                <a:latin typeface="Arial" panose="020B0604020202020204" pitchFamily="34" charset="0"/>
              </a:rPr>
              <a:t> since 1950s. </a:t>
            </a:r>
            <a:r>
              <a:rPr lang="en-US" altLang="zh-CN" b="0" i="0" u="none" strike="noStrike" dirty="0">
                <a:solidFill>
                  <a:srgbClr val="202122"/>
                </a:solidFill>
                <a:effectLst/>
                <a:latin typeface="Arial" panose="020B0604020202020204" pitchFamily="34" charset="0"/>
                <a:hlinkClick r:id="rId6" tooltip="Yann LeCun"/>
              </a:rPr>
              <a:t>Yann LeCun</a:t>
            </a:r>
            <a:r>
              <a:rPr lang="en-US" altLang="zh-CN" b="0" i="0" u="none" strike="noStrike" dirty="0">
                <a:solidFill>
                  <a:srgbClr val="202122"/>
                </a:solidFill>
                <a:effectLst/>
                <a:latin typeface="Arial" panose="020B0604020202020204" pitchFamily="34" charset="0"/>
              </a:rPr>
              <a:t> et al credits 1950s work by </a:t>
            </a:r>
            <a:r>
              <a:rPr lang="en-US" altLang="zh-CN" b="0" i="0" u="none" strike="noStrike" dirty="0" err="1">
                <a:solidFill>
                  <a:srgbClr val="202122"/>
                </a:solidFill>
                <a:effectLst/>
                <a:latin typeface="Arial" panose="020B0604020202020204" pitchFamily="34" charset="0"/>
                <a:hlinkClick r:id="rId7" tooltip="Lev Pontryagin"/>
              </a:rPr>
              <a:t>Pontryagin</a:t>
            </a:r>
            <a:r>
              <a:rPr lang="en-US" altLang="zh-CN" b="0" i="0" u="none" strike="noStrike" dirty="0" err="1">
                <a:solidFill>
                  <a:srgbClr val="202122"/>
                </a:solidFill>
                <a:effectLst/>
                <a:latin typeface="Arial" panose="020B0604020202020204" pitchFamily="34" charset="0"/>
              </a:rPr>
              <a:t>and</a:t>
            </a:r>
            <a:r>
              <a:rPr lang="en-US" altLang="zh-CN" b="0" i="0" u="none" strike="noStrike" dirty="0">
                <a:solidFill>
                  <a:srgbClr val="202122"/>
                </a:solidFill>
                <a:effectLst/>
                <a:latin typeface="Arial" panose="020B0604020202020204" pitchFamily="34" charset="0"/>
              </a:rPr>
              <a:t> others in optimal control theory, especially the </a:t>
            </a:r>
            <a:r>
              <a:rPr lang="en-US" altLang="zh-CN" b="0" i="0" u="none" strike="noStrike" dirty="0">
                <a:solidFill>
                  <a:srgbClr val="202122"/>
                </a:solidFill>
                <a:effectLst/>
                <a:latin typeface="Arial" panose="020B0604020202020204" pitchFamily="34" charset="0"/>
                <a:hlinkClick r:id="rId8" tooltip="Adjoint state method"/>
              </a:rPr>
              <a:t>adjoint state method</a:t>
            </a:r>
            <a:r>
              <a:rPr lang="en-US" altLang="zh-CN" b="0" i="0" u="none" strike="noStrike" dirty="0">
                <a:solidFill>
                  <a:srgbClr val="202122"/>
                </a:solidFill>
                <a:effectLst/>
                <a:latin typeface="Arial" panose="020B0604020202020204" pitchFamily="34" charset="0"/>
              </a:rPr>
              <a:t>, for being a continuous-time version of backpropagation.</a:t>
            </a:r>
            <a:r>
              <a:rPr lang="en-US" altLang="zh-CN" b="0" i="0" u="none" strike="noStrike" baseline="30000" dirty="0">
                <a:solidFill>
                  <a:srgbClr val="202122"/>
                </a:solidFill>
                <a:effectLst/>
                <a:latin typeface="Arial" panose="020B0604020202020204" pitchFamily="34" charset="0"/>
                <a:hlinkClick r:id="rId9"/>
              </a:rPr>
              <a:t>[18]</a:t>
            </a:r>
            <a:r>
              <a:rPr lang="en-US" altLang="zh-CN" b="0" i="0" u="none" strike="noStrike" dirty="0">
                <a:solidFill>
                  <a:srgbClr val="202122"/>
                </a:solidFill>
                <a:effectLst/>
                <a:latin typeface="Arial" panose="020B0604020202020204" pitchFamily="34" charset="0"/>
                <a:hlinkClick r:id="rId10" tooltip="Robert Hecht-Nielsen"/>
              </a:rPr>
              <a:t>Hecht-Nielsen</a:t>
            </a:r>
            <a:r>
              <a:rPr lang="en-US" altLang="zh-CN" b="0" i="0" u="none" strike="noStrike" baseline="30000" dirty="0">
                <a:solidFill>
                  <a:srgbClr val="202122"/>
                </a:solidFill>
                <a:effectLst/>
                <a:latin typeface="Arial" panose="020B0604020202020204" pitchFamily="34" charset="0"/>
                <a:hlinkClick r:id="rId11"/>
              </a:rPr>
              <a:t>[19]</a:t>
            </a:r>
            <a:r>
              <a:rPr lang="en-US" altLang="zh-CN" b="0" i="0" u="none" strike="noStrike" dirty="0">
                <a:solidFill>
                  <a:srgbClr val="202122"/>
                </a:solidFill>
                <a:effectLst/>
                <a:latin typeface="Arial" panose="020B0604020202020204" pitchFamily="34" charset="0"/>
              </a:rPr>
              <a:t> credits the </a:t>
            </a:r>
            <a:r>
              <a:rPr lang="en-US" altLang="zh-CN" b="0" i="0" u="none" strike="noStrike" dirty="0">
                <a:solidFill>
                  <a:srgbClr val="202122"/>
                </a:solidFill>
                <a:effectLst/>
                <a:latin typeface="Arial" panose="020B0604020202020204" pitchFamily="34" charset="0"/>
                <a:hlinkClick r:id="rId12" tooltip="Stochastic approximation"/>
              </a:rPr>
              <a:t>Robbins–Monro algorithm</a:t>
            </a:r>
            <a:r>
              <a:rPr lang="en-US" altLang="zh-CN" b="0" i="0" u="none" strike="noStrike" dirty="0">
                <a:solidFill>
                  <a:srgbClr val="202122"/>
                </a:solidFill>
                <a:effectLst/>
                <a:latin typeface="Arial" panose="020B0604020202020204" pitchFamily="34" charset="0"/>
              </a:rPr>
              <a:t> (1951)</a:t>
            </a:r>
            <a:r>
              <a:rPr lang="en-US" altLang="zh-CN" b="0" i="0" u="none" strike="noStrike" baseline="30000" dirty="0">
                <a:solidFill>
                  <a:srgbClr val="202122"/>
                </a:solidFill>
                <a:effectLst/>
                <a:latin typeface="Arial" panose="020B0604020202020204" pitchFamily="34" charset="0"/>
                <a:hlinkClick r:id="rId13"/>
              </a:rPr>
              <a:t>[20]</a:t>
            </a:r>
            <a:r>
              <a:rPr lang="en-US" altLang="zh-CN" b="0" i="0" u="none" strike="noStrike" dirty="0">
                <a:solidFill>
                  <a:srgbClr val="202122"/>
                </a:solidFill>
                <a:effectLst/>
                <a:latin typeface="Arial" panose="020B0604020202020204" pitchFamily="34" charset="0"/>
              </a:rPr>
              <a:t> and </a:t>
            </a:r>
            <a:r>
              <a:rPr lang="en-US" altLang="zh-CN" b="0" i="0" u="none" strike="noStrike" dirty="0">
                <a:solidFill>
                  <a:srgbClr val="202122"/>
                </a:solidFill>
                <a:effectLst/>
                <a:latin typeface="Arial" panose="020B0604020202020204" pitchFamily="34" charset="0"/>
                <a:hlinkClick r:id="rId14" tooltip="Arthur E. Bryson"/>
              </a:rPr>
              <a:t>Arthur Bryson</a:t>
            </a:r>
            <a:r>
              <a:rPr lang="en-US" altLang="zh-CN" b="0" i="0" u="none" strike="noStrike" dirty="0">
                <a:solidFill>
                  <a:srgbClr val="202122"/>
                </a:solidFill>
                <a:effectLst/>
                <a:latin typeface="Arial" panose="020B0604020202020204" pitchFamily="34" charset="0"/>
              </a:rPr>
              <a:t> and </a:t>
            </a:r>
            <a:r>
              <a:rPr lang="en-US" altLang="zh-CN" b="0" i="0" u="none" strike="noStrike" dirty="0">
                <a:solidFill>
                  <a:srgbClr val="202122"/>
                </a:solidFill>
                <a:effectLst/>
                <a:latin typeface="Arial" panose="020B0604020202020204" pitchFamily="34" charset="0"/>
                <a:hlinkClick r:id="rId15" tooltip="Yu-Chi Ho"/>
              </a:rPr>
              <a:t>Yu-Chi Ho</a:t>
            </a:r>
            <a:r>
              <a:rPr lang="en-US" altLang="zh-CN" b="0" i="0" u="none" strike="noStrike" dirty="0">
                <a:solidFill>
                  <a:srgbClr val="202122"/>
                </a:solidFill>
                <a:effectLst/>
                <a:latin typeface="Arial" panose="020B0604020202020204" pitchFamily="34" charset="0"/>
              </a:rPr>
              <a:t>'s </a:t>
            </a:r>
            <a:r>
              <a:rPr lang="en-US" altLang="zh-CN" b="0" i="1" u="none" strike="noStrike" dirty="0">
                <a:solidFill>
                  <a:srgbClr val="202122"/>
                </a:solidFill>
                <a:effectLst/>
                <a:latin typeface="Arial" panose="020B0604020202020204" pitchFamily="34" charset="0"/>
              </a:rPr>
              <a:t>Applied Optimal Control</a:t>
            </a:r>
            <a:r>
              <a:rPr lang="en-US" altLang="zh-CN" b="0" i="0" u="none" strike="noStrike" dirty="0">
                <a:solidFill>
                  <a:srgbClr val="202122"/>
                </a:solidFill>
                <a:effectLst/>
                <a:latin typeface="Arial" panose="020B0604020202020204" pitchFamily="34" charset="0"/>
              </a:rPr>
              <a:t> (1969) as presages of backpropagation. Other precursors were </a:t>
            </a:r>
            <a:r>
              <a:rPr lang="en-US" altLang="zh-CN" b="0" i="0" u="none" strike="noStrike" dirty="0">
                <a:solidFill>
                  <a:srgbClr val="202122"/>
                </a:solidFill>
                <a:effectLst/>
                <a:latin typeface="Arial" panose="020B0604020202020204" pitchFamily="34" charset="0"/>
                <a:hlinkClick r:id="rId16" tooltip="Henry J. Kelley"/>
              </a:rPr>
              <a:t>Henry J. Kelley</a:t>
            </a:r>
            <a:r>
              <a:rPr lang="en-US" altLang="zh-CN" b="0" i="0" u="none" strike="noStrike" dirty="0">
                <a:solidFill>
                  <a:srgbClr val="202122"/>
                </a:solidFill>
                <a:effectLst/>
                <a:latin typeface="Arial" panose="020B0604020202020204" pitchFamily="34" charset="0"/>
              </a:rPr>
              <a:t> 1960,</a:t>
            </a:r>
            <a:r>
              <a:rPr lang="en-US" altLang="zh-CN" b="0" i="0" u="none" strike="noStrike" baseline="30000" dirty="0">
                <a:solidFill>
                  <a:srgbClr val="202122"/>
                </a:solidFill>
                <a:effectLst/>
                <a:latin typeface="Arial" panose="020B0604020202020204" pitchFamily="34" charset="0"/>
                <a:hlinkClick r:id="rId17"/>
              </a:rPr>
              <a:t>[1]</a:t>
            </a:r>
            <a:r>
              <a:rPr lang="en-US" altLang="zh-CN" b="0" i="0" u="none" strike="noStrike" dirty="0">
                <a:solidFill>
                  <a:srgbClr val="202122"/>
                </a:solidFill>
                <a:effectLst/>
                <a:latin typeface="Arial" panose="020B0604020202020204" pitchFamily="34" charset="0"/>
              </a:rPr>
              <a:t> and </a:t>
            </a:r>
            <a:r>
              <a:rPr lang="en-US" altLang="zh-CN" b="0" i="0" u="none" strike="noStrike" dirty="0">
                <a:solidFill>
                  <a:srgbClr val="202122"/>
                </a:solidFill>
                <a:effectLst/>
                <a:latin typeface="Arial" panose="020B0604020202020204" pitchFamily="34" charset="0"/>
                <a:hlinkClick r:id="rId14" tooltip="Arthur E. Bryson"/>
              </a:rPr>
              <a:t>Arthur E. Bryson</a:t>
            </a:r>
            <a:r>
              <a:rPr lang="en-US" altLang="zh-CN" b="0" i="0" u="none" strike="noStrike" dirty="0">
                <a:solidFill>
                  <a:srgbClr val="202122"/>
                </a:solidFill>
                <a:effectLst/>
                <a:latin typeface="Arial" panose="020B0604020202020204" pitchFamily="34" charset="0"/>
              </a:rPr>
              <a:t> (1961).</a:t>
            </a:r>
            <a:r>
              <a:rPr lang="en-US" altLang="zh-CN" b="0" i="0" u="none" strike="noStrike" baseline="30000" dirty="0">
                <a:solidFill>
                  <a:srgbClr val="202122"/>
                </a:solidFill>
                <a:effectLst/>
                <a:latin typeface="Arial" panose="020B0604020202020204" pitchFamily="34" charset="0"/>
                <a:hlinkClick r:id="rId18"/>
              </a:rPr>
              <a:t>[2]</a:t>
            </a:r>
            <a:r>
              <a:rPr lang="en-US" altLang="zh-CN" b="0" i="0" u="none" strike="noStrike" dirty="0">
                <a:solidFill>
                  <a:srgbClr val="202122"/>
                </a:solidFill>
                <a:effectLst/>
                <a:latin typeface="Arial" panose="020B0604020202020204" pitchFamily="34" charset="0"/>
              </a:rPr>
              <a:t> In 1962, </a:t>
            </a:r>
            <a:r>
              <a:rPr lang="en-US" altLang="zh-CN" b="0" i="0" u="none" strike="noStrike" dirty="0">
                <a:solidFill>
                  <a:srgbClr val="202122"/>
                </a:solidFill>
                <a:effectLst/>
                <a:latin typeface="Arial" panose="020B0604020202020204" pitchFamily="34" charset="0"/>
                <a:hlinkClick r:id="rId19" tooltip="Stuart Dreyfus"/>
              </a:rPr>
              <a:t>Stuart Dreyfus</a:t>
            </a:r>
            <a:r>
              <a:rPr lang="en-US" altLang="zh-CN" b="0" i="0" u="none" strike="noStrike" dirty="0">
                <a:solidFill>
                  <a:srgbClr val="202122"/>
                </a:solidFill>
                <a:effectLst/>
                <a:latin typeface="Arial" panose="020B0604020202020204" pitchFamily="34" charset="0"/>
              </a:rPr>
              <a:t> published a simpler derivation based only on the </a:t>
            </a:r>
            <a:r>
              <a:rPr lang="en-US" altLang="zh-CN" b="0" i="0" u="none" strike="noStrike" dirty="0">
                <a:solidFill>
                  <a:srgbClr val="202122"/>
                </a:solidFill>
                <a:effectLst/>
                <a:latin typeface="Arial" panose="020B0604020202020204" pitchFamily="34" charset="0"/>
                <a:hlinkClick r:id="rId20" tooltip="Chain rule"/>
              </a:rPr>
              <a:t>chain rule</a:t>
            </a:r>
            <a:r>
              <a:rPr lang="en-US" altLang="zh-CN" b="0" i="0" u="none" strike="noStrike" dirty="0">
                <a:solidFill>
                  <a:srgbClr val="202122"/>
                </a:solidFill>
                <a:effectLst/>
                <a:latin typeface="Arial" panose="020B0604020202020204" pitchFamily="34" charset="0"/>
              </a:rPr>
              <a:t>.</a:t>
            </a:r>
            <a:r>
              <a:rPr lang="en-US" altLang="zh-CN" b="0" i="0" u="none" strike="noStrike" baseline="30000" dirty="0">
                <a:solidFill>
                  <a:srgbClr val="202122"/>
                </a:solidFill>
                <a:effectLst/>
                <a:latin typeface="Arial" panose="020B0604020202020204" pitchFamily="34" charset="0"/>
                <a:hlinkClick r:id="rId21"/>
              </a:rPr>
              <a:t>[21]</a:t>
            </a:r>
            <a:r>
              <a:rPr lang="en-US" altLang="zh-CN" b="0" i="0" u="none" strike="noStrike" baseline="30000" dirty="0">
                <a:solidFill>
                  <a:srgbClr val="202122"/>
                </a:solidFill>
                <a:effectLst/>
                <a:latin typeface="Arial" panose="020B0604020202020204" pitchFamily="34" charset="0"/>
                <a:hlinkClick r:id="rId22"/>
              </a:rPr>
              <a:t>[22]</a:t>
            </a:r>
            <a:r>
              <a:rPr lang="en-US" altLang="zh-CN" b="0" i="0" u="none" strike="noStrike" baseline="30000" dirty="0">
                <a:solidFill>
                  <a:srgbClr val="202122"/>
                </a:solidFill>
                <a:effectLst/>
                <a:latin typeface="Arial" panose="020B0604020202020204" pitchFamily="34" charset="0"/>
                <a:hlinkClick r:id="rId23"/>
              </a:rPr>
              <a:t>[23]</a:t>
            </a:r>
            <a:r>
              <a:rPr lang="en-US" altLang="zh-CN" b="0" i="0" u="none" strike="noStrike" dirty="0">
                <a:solidFill>
                  <a:srgbClr val="202122"/>
                </a:solidFill>
                <a:effectLst/>
                <a:latin typeface="Arial" panose="020B0604020202020204" pitchFamily="34" charset="0"/>
              </a:rPr>
              <a:t> In 1973, he adapted </a:t>
            </a:r>
            <a:r>
              <a:rPr lang="en-US" altLang="zh-CN" b="0" i="0" u="none" strike="noStrike" dirty="0">
                <a:solidFill>
                  <a:srgbClr val="202122"/>
                </a:solidFill>
                <a:effectLst/>
                <a:latin typeface="Arial" panose="020B0604020202020204" pitchFamily="34" charset="0"/>
                <a:hlinkClick r:id="rId24" tooltip="Parameter"/>
              </a:rPr>
              <a:t>parameters</a:t>
            </a:r>
            <a:r>
              <a:rPr lang="en-US" altLang="zh-CN" b="0" i="0" u="none" strike="noStrike" dirty="0">
                <a:solidFill>
                  <a:srgbClr val="202122"/>
                </a:solidFill>
                <a:effectLst/>
                <a:latin typeface="Arial" panose="020B0604020202020204" pitchFamily="34" charset="0"/>
              </a:rPr>
              <a:t> of controllers in proportion to error gradients.</a:t>
            </a:r>
            <a:r>
              <a:rPr lang="en-US" altLang="zh-CN" b="0" i="0" u="none" strike="noStrike" baseline="30000" dirty="0">
                <a:solidFill>
                  <a:srgbClr val="202122"/>
                </a:solidFill>
                <a:effectLst/>
                <a:latin typeface="Arial" panose="020B0604020202020204" pitchFamily="34" charset="0"/>
                <a:hlinkClick r:id="rId25"/>
              </a:rPr>
              <a:t>[24]</a:t>
            </a:r>
            <a:r>
              <a:rPr lang="en-US" altLang="zh-CN" b="0" i="0" u="none" strike="noStrike" dirty="0">
                <a:solidFill>
                  <a:srgbClr val="202122"/>
                </a:solidFill>
                <a:effectLst/>
                <a:latin typeface="Arial" panose="020B0604020202020204" pitchFamily="34" charset="0"/>
              </a:rPr>
              <a:t> Unlike modern backpropagation, these precursors used standard Jacobian matrix calculations from one stage to the previous one, neither addressing direct links across several stages nor potential additional efficiency gains due to network sparsity.</a:t>
            </a:r>
            <a:r>
              <a:rPr lang="en-US" altLang="zh-CN" b="0" i="0" u="none" strike="noStrike" baseline="30000" dirty="0">
                <a:solidFill>
                  <a:srgbClr val="202122"/>
                </a:solidFill>
                <a:effectLst/>
                <a:latin typeface="Arial" panose="020B0604020202020204" pitchFamily="34" charset="0"/>
                <a:hlinkClick r:id="rId26"/>
              </a:rPr>
              <a:t>[25]</a:t>
            </a:r>
            <a:endParaRPr lang="en-US" altLang="zh-CN" b="0" i="0" u="none" strike="noStrike" dirty="0">
              <a:solidFill>
                <a:srgbClr val="202122"/>
              </a:solidFill>
              <a:effectLst/>
              <a:latin typeface="Arial" panose="020B0604020202020204" pitchFamily="34" charset="0"/>
            </a:endParaRP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53</a:t>
            </a:fld>
            <a:endParaRPr lang="en-US" dirty="0"/>
          </a:p>
        </p:txBody>
      </p:sp>
    </p:spTree>
    <p:extLst>
      <p:ext uri="{BB962C8B-B14F-4D97-AF65-F5344CB8AC3E}">
        <p14:creationId xmlns:p14="http://schemas.microsoft.com/office/powerpoint/2010/main" val="19181685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BP</a:t>
            </a:r>
            <a:r>
              <a:rPr lang="zh-CN" altLang="en-US" dirty="0"/>
              <a:t>算法 ，解释为什么叫</a:t>
            </a:r>
            <a:r>
              <a:rPr lang="en-US" altLang="zh-CN" dirty="0"/>
              <a:t>BP</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795439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903735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C64254-AE04-A443-9D3D-29319D37A88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78714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C64254-AE04-A443-9D3D-29319D37A88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534432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C64254-AE04-A443-9D3D-29319D37A88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355168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C64254-AE04-A443-9D3D-29319D37A88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66471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C64254-AE04-A443-9D3D-29319D37A88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871270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C64254-AE04-A443-9D3D-29319D37A88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30160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C64254-AE04-A443-9D3D-29319D37A88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442133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D608-9E24-C447-C124-70AFDE95BD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E8EFC8-F5B2-E355-ECB5-B1D5DA2738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4E5881-9ECF-0532-406F-7EDDC3BD00B3}"/>
              </a:ext>
            </a:extLst>
          </p:cNvPr>
          <p:cNvSpPr>
            <a:spLocks noGrp="1"/>
          </p:cNvSpPr>
          <p:nvPr>
            <p:ph type="body" idx="1"/>
          </p:nvPr>
        </p:nvSpPr>
        <p:spPr/>
        <p:txBody>
          <a:bodyPr/>
          <a:lstStyle/>
          <a:p>
            <a:r>
              <a:rPr lang="en-US" altLang="zh-CN" dirty="0"/>
              <a:t>BP</a:t>
            </a:r>
            <a:r>
              <a:rPr lang="zh-CN" altLang="en-US" dirty="0"/>
              <a:t>算法 ，解释为什么叫</a:t>
            </a:r>
            <a:r>
              <a:rPr lang="en-US" altLang="zh-CN" dirty="0"/>
              <a:t>BP</a:t>
            </a:r>
            <a:endParaRPr lang="zh-CN" altLang="en-US" dirty="0"/>
          </a:p>
        </p:txBody>
      </p:sp>
      <p:sp>
        <p:nvSpPr>
          <p:cNvPr id="4" name="灯片编号占位符 3">
            <a:extLst>
              <a:ext uri="{FF2B5EF4-FFF2-40B4-BE49-F238E27FC236}">
                <a16:creationId xmlns:a16="http://schemas.microsoft.com/office/drawing/2014/main" id="{410B5F7B-4E63-A5C4-72B5-DC36B0373F0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3391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导论 本科 </a:t>
            </a:r>
            <a:r>
              <a:rPr lang="en-US" altLang="zh-CN" dirty="0"/>
              <a:t>20230320</a:t>
            </a:r>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66</a:t>
            </a:fld>
            <a:endParaRPr lang="en-US" dirty="0"/>
          </a:p>
        </p:txBody>
      </p:sp>
    </p:spTree>
    <p:extLst>
      <p:ext uri="{BB962C8B-B14F-4D97-AF65-F5344CB8AC3E}">
        <p14:creationId xmlns:p14="http://schemas.microsoft.com/office/powerpoint/2010/main" val="37926553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我只需要局部信息</a:t>
            </a:r>
            <a:endParaRPr kumimoji="1" lang="en-US" altLang="zh-CN" dirty="0"/>
          </a:p>
          <a:p>
            <a:endParaRPr kumimoji="1" lang="en-US" altLang="zh-CN" dirty="0"/>
          </a:p>
          <a:p>
            <a:r>
              <a:rPr kumimoji="1" lang="zh-CN" altLang="en-US" dirty="0"/>
              <a:t>局部匹配的模式可以复用</a:t>
            </a:r>
          </a:p>
        </p:txBody>
      </p:sp>
      <p:sp>
        <p:nvSpPr>
          <p:cNvPr id="4" name="灯片编号占位符 3"/>
          <p:cNvSpPr>
            <a:spLocks noGrp="1"/>
          </p:cNvSpPr>
          <p:nvPr>
            <p:ph type="sldNum" sz="quarter" idx="5"/>
          </p:nvPr>
        </p:nvSpPr>
        <p:spPr/>
        <p:txBody>
          <a:bodyPr/>
          <a:lstStyle/>
          <a:p>
            <a:fld id="{D50AF6DD-051E-413B-8808-23D5AB3BD9E4}" type="slidenum">
              <a:rPr lang="en-US" smtClean="0"/>
              <a:pPr/>
              <a:t>73</a:t>
            </a:fld>
            <a:endParaRPr lang="en-US" dirty="0"/>
          </a:p>
        </p:txBody>
      </p:sp>
    </p:spTree>
    <p:extLst>
      <p:ext uri="{BB962C8B-B14F-4D97-AF65-F5344CB8AC3E}">
        <p14:creationId xmlns:p14="http://schemas.microsoft.com/office/powerpoint/2010/main" val="19426473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28136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80</a:t>
            </a:fld>
            <a:endParaRPr lang="en-US" dirty="0"/>
          </a:p>
        </p:txBody>
      </p:sp>
    </p:spTree>
    <p:extLst>
      <p:ext uri="{BB962C8B-B14F-4D97-AF65-F5344CB8AC3E}">
        <p14:creationId xmlns:p14="http://schemas.microsoft.com/office/powerpoint/2010/main" val="21386052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第五次课第二节结束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83</a:t>
            </a:fld>
            <a:endParaRPr lang="en-US" dirty="0"/>
          </a:p>
        </p:txBody>
      </p:sp>
    </p:spTree>
    <p:extLst>
      <p:ext uri="{BB962C8B-B14F-4D97-AF65-F5344CB8AC3E}">
        <p14:creationId xmlns:p14="http://schemas.microsoft.com/office/powerpoint/2010/main" val="26472251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84</a:t>
            </a:fld>
            <a:endParaRPr lang="en-US" dirty="0"/>
          </a:p>
        </p:txBody>
      </p:sp>
    </p:spTree>
    <p:extLst>
      <p:ext uri="{BB962C8B-B14F-4D97-AF65-F5344CB8AC3E}">
        <p14:creationId xmlns:p14="http://schemas.microsoft.com/office/powerpoint/2010/main" val="7845194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RGB</a:t>
            </a:r>
            <a:r>
              <a:rPr lang="zh-CN" altLang="en-US" dirty="0"/>
              <a:t>当作一个整体，所以要一起处理。捲積是个立体的。</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282184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不同通道算出来相加</a:t>
            </a:r>
          </a:p>
        </p:txBody>
      </p:sp>
      <p:sp>
        <p:nvSpPr>
          <p:cNvPr id="4" name="灯片编号占位符 3"/>
          <p:cNvSpPr>
            <a:spLocks noGrp="1"/>
          </p:cNvSpPr>
          <p:nvPr>
            <p:ph type="sldNum" sz="quarter" idx="5"/>
          </p:nvPr>
        </p:nvSpPr>
        <p:spPr/>
        <p:txBody>
          <a:bodyPr/>
          <a:lstStyle/>
          <a:p>
            <a:fld id="{D50AF6DD-051E-413B-8808-23D5AB3BD9E4}" type="slidenum">
              <a:rPr lang="en-US" smtClean="0"/>
              <a:pPr/>
              <a:t>86</a:t>
            </a:fld>
            <a:endParaRPr lang="en-US" dirty="0"/>
          </a:p>
        </p:txBody>
      </p:sp>
    </p:spTree>
    <p:extLst>
      <p:ext uri="{BB962C8B-B14F-4D97-AF65-F5344CB8AC3E}">
        <p14:creationId xmlns:p14="http://schemas.microsoft.com/office/powerpoint/2010/main" val="17291729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46515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u="sng" dirty="0">
                <a:effectLst/>
                <a:latin typeface="-apple-system"/>
                <a:hlinkClick r:id="rId3"/>
              </a:rPr>
              <a:t>LeNet</a:t>
            </a:r>
            <a:r>
              <a:rPr lang="en-US" altLang="zh-CN" b="0" i="0" u="none" strike="noStrike" dirty="0">
                <a:solidFill>
                  <a:srgbClr val="0C0D0E"/>
                </a:solidFill>
                <a:effectLst/>
                <a:highlight>
                  <a:srgbClr val="FFFFFF"/>
                </a:highlight>
                <a:latin typeface="-apple-system"/>
              </a:rPr>
              <a:t> is a family (LeNet-1, LeNet-4, LeNet-5) of convolutional neural network designed by Yann LeCun et al. The name is a play on his name and the French language, where "le" means "the", hence </a:t>
            </a:r>
            <a:r>
              <a:rPr lang="en-US" altLang="zh-CN" b="0" i="0" u="none" strike="noStrike" dirty="0" err="1">
                <a:solidFill>
                  <a:srgbClr val="0C0D0E"/>
                </a:solidFill>
                <a:effectLst/>
                <a:highlight>
                  <a:srgbClr val="FFFFFF"/>
                </a:highlight>
                <a:latin typeface="-apple-system"/>
              </a:rPr>
              <a:t>LeNet</a:t>
            </a:r>
            <a:r>
              <a:rPr lang="en-US" altLang="zh-CN" b="0" i="0" u="none" strike="noStrike" dirty="0">
                <a:solidFill>
                  <a:srgbClr val="0C0D0E"/>
                </a:solidFill>
                <a:effectLst/>
                <a:highlight>
                  <a:srgbClr val="FFFFFF"/>
                </a:highlight>
                <a:latin typeface="-apple-system"/>
              </a:rPr>
              <a:t> means "the network". I believe it was originally devised to recognize handwritten numbers on checks (cheques). </a:t>
            </a:r>
            <a:r>
              <a:rPr lang="en-US" altLang="zh-CN" b="0" i="0" u="none" strike="noStrike" dirty="0" err="1">
                <a:solidFill>
                  <a:srgbClr val="0C0D0E"/>
                </a:solidFill>
                <a:effectLst/>
                <a:highlight>
                  <a:srgbClr val="FFFFFF"/>
                </a:highlight>
                <a:latin typeface="-apple-system"/>
              </a:rPr>
              <a:t>LeNet</a:t>
            </a:r>
            <a:r>
              <a:rPr lang="en-US" altLang="zh-CN" b="0" i="0" u="none" strike="noStrike" dirty="0">
                <a:solidFill>
                  <a:srgbClr val="0C0D0E"/>
                </a:solidFill>
                <a:effectLst/>
                <a:highlight>
                  <a:srgbClr val="FFFFFF"/>
                </a:highlight>
                <a:latin typeface="-apple-system"/>
              </a:rPr>
              <a:t> is only one early instance of a convolutional neural network; many others exist today.</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92</a:t>
            </a:fld>
            <a:endParaRPr lang="en-US" dirty="0"/>
          </a:p>
        </p:txBody>
      </p:sp>
    </p:spTree>
    <p:extLst>
      <p:ext uri="{BB962C8B-B14F-4D97-AF65-F5344CB8AC3E}">
        <p14:creationId xmlns:p14="http://schemas.microsoft.com/office/powerpoint/2010/main" val="29421384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ImageNet</a:t>
            </a:r>
            <a:r>
              <a:rPr kumimoji="1" lang="zh-CN" altLang="en-US" dirty="0"/>
              <a:t> 比赛</a:t>
            </a:r>
            <a:endParaRPr kumimoji="1" lang="en-US" altLang="zh-CN" dirty="0"/>
          </a:p>
          <a:p>
            <a:r>
              <a:rPr kumimoji="1" lang="en-US" altLang="zh-CN" dirty="0"/>
              <a:t>2012</a:t>
            </a:r>
            <a:r>
              <a:rPr kumimoji="1" lang="zh-CN" altLang="en-US" dirty="0"/>
              <a:t> </a:t>
            </a:r>
            <a:r>
              <a:rPr kumimoji="1" lang="en-US" altLang="zh-CN" dirty="0"/>
              <a:t>Hinton</a:t>
            </a:r>
            <a:r>
              <a:rPr kumimoji="1" lang="zh-CN" altLang="en-US" dirty="0"/>
              <a:t>让学生参赛</a:t>
            </a:r>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VGG</a:t>
            </a:r>
            <a:r>
              <a:rPr kumimoji="1" lang="zh-CN" altLang="en-US" dirty="0"/>
              <a:t>是一组神经网络，</a:t>
            </a:r>
            <a:r>
              <a:rPr kumimoji="1" lang="en-US" altLang="zh-CN" dirty="0"/>
              <a:t>16</a:t>
            </a:r>
            <a:r>
              <a:rPr kumimoji="1" lang="zh-CN" altLang="en-US" dirty="0"/>
              <a:t>层（不算</a:t>
            </a:r>
            <a:r>
              <a:rPr kumimoji="1" lang="en-US" altLang="zh-CN" dirty="0"/>
              <a:t>pooling</a:t>
            </a:r>
            <a:r>
              <a:rPr kumimoji="1" lang="zh-CN" altLang="en-US" dirty="0"/>
              <a:t>）</a:t>
            </a:r>
            <a:endParaRPr kumimoji="1" lang="en-US" altLang="zh-CN" dirty="0"/>
          </a:p>
          <a:p>
            <a:r>
              <a:rPr kumimoji="1" lang="zh-CN" altLang="en-US" dirty="0"/>
              <a:t>但</a:t>
            </a:r>
            <a:r>
              <a:rPr kumimoji="1" lang="en-US" altLang="zh-CN" dirty="0"/>
              <a:t>VGG-16</a:t>
            </a:r>
            <a:r>
              <a:rPr kumimoji="1" lang="zh-CN" altLang="en-US" dirty="0"/>
              <a:t>是后面一届的第二名，这个的特点是特别规范</a:t>
            </a:r>
            <a:endParaRPr kumimoji="1" lang="en-US" altLang="zh-CN" dirty="0"/>
          </a:p>
          <a:p>
            <a:pPr algn="l"/>
            <a:endParaRPr kumimoji="1" lang="en-US" altLang="zh-CN" b="0" i="0" u="none" strike="noStrike" dirty="0">
              <a:solidFill>
                <a:schemeClr val="tx1"/>
              </a:solidFill>
              <a:effectLst/>
              <a:latin typeface="+mn-lt"/>
              <a:ea typeface="+mn-ea"/>
            </a:endParaRPr>
          </a:p>
          <a:p>
            <a:pPr algn="l"/>
            <a:r>
              <a:rPr kumimoji="1" lang="zh-CN" altLang="en-US" b="0" i="0" u="none" strike="noStrike" dirty="0">
                <a:solidFill>
                  <a:schemeClr val="tx1"/>
                </a:solidFill>
                <a:effectLst/>
                <a:latin typeface="+mn-lt"/>
                <a:ea typeface="+mn-ea"/>
              </a:rPr>
              <a:t>为什么图像尺寸是</a:t>
            </a:r>
            <a:r>
              <a:rPr kumimoji="1" lang="en-US" altLang="zh-CN" b="0" i="0" u="none" strike="noStrike" dirty="0">
                <a:solidFill>
                  <a:schemeClr val="tx1"/>
                </a:solidFill>
                <a:effectLst/>
                <a:latin typeface="+mn-lt"/>
                <a:ea typeface="+mn-ea"/>
              </a:rPr>
              <a:t>224</a:t>
            </a:r>
            <a:r>
              <a:rPr kumimoji="1" lang="zh-CN" altLang="en-US" b="0" i="0" u="none" strike="noStrike" dirty="0">
                <a:solidFill>
                  <a:schemeClr val="tx1"/>
                </a:solidFill>
                <a:effectLst/>
                <a:latin typeface="+mn-lt"/>
                <a:ea typeface="+mn-ea"/>
              </a:rPr>
              <a:t>？ </a:t>
            </a:r>
            <a:endParaRPr kumimoji="1" lang="en-US" altLang="zh-CN" b="0" i="0" u="none" strike="noStrike" dirty="0">
              <a:solidFill>
                <a:schemeClr val="tx1"/>
              </a:solidFill>
              <a:effectLst/>
              <a:latin typeface="+mn-lt"/>
              <a:ea typeface="+mn-ea"/>
            </a:endParaRPr>
          </a:p>
          <a:p>
            <a:pPr algn="l"/>
            <a:r>
              <a:rPr lang="zh-CN" altLang="en-US" b="0" i="0" u="none" strike="noStrike" dirty="0">
                <a:solidFill>
                  <a:srgbClr val="333333"/>
                </a:solidFill>
                <a:effectLst/>
                <a:latin typeface="PingFang SC" panose="020B0400000000000000" pitchFamily="34" charset="-122"/>
                <a:ea typeface="PingFang SC" panose="020B0400000000000000" pitchFamily="34" charset="-122"/>
              </a:rPr>
              <a:t>从输入到最后一个捲積特征</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feature map</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，就是进行信息抽象的过程，然后就经过</a:t>
            </a:r>
            <a:r>
              <a:rPr lang="zh-CN" altLang="en-US" b="0" i="0" u="sng" strike="noStrike" dirty="0">
                <a:solidFill>
                  <a:srgbClr val="000000"/>
                </a:solidFill>
                <a:effectLst/>
                <a:latin typeface="PingFang SC" panose="020B0400000000000000" pitchFamily="34" charset="-122"/>
                <a:ea typeface="PingFang SC" panose="020B0400000000000000" pitchFamily="34" charset="-122"/>
                <a:hlinkClick r:id="rId3"/>
              </a:rPr>
              <a:t>全连接层</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全局池化层的变换进行分类了，这个</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feature map</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的大小，可以是</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3*3</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5*5</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7*7</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等等。在这些尺寸中，如果尺寸太小，那么信息就丢失太严重，如果尺寸太大，信息的抽象层次不够高，计算量也更大，所以</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7*7</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的大小是一个最好的平衡。</a:t>
            </a:r>
          </a:p>
          <a:p>
            <a:pPr algn="l"/>
            <a:r>
              <a:rPr lang="zh-CN" altLang="en-US" b="0" i="0" u="none" strike="noStrike" dirty="0">
                <a:solidFill>
                  <a:srgbClr val="333333"/>
                </a:solidFill>
                <a:effectLst/>
                <a:latin typeface="PingFang SC" panose="020B0400000000000000" pitchFamily="34" charset="-122"/>
                <a:ea typeface="PingFang SC" panose="020B0400000000000000" pitchFamily="34" charset="-122"/>
              </a:rPr>
              <a:t>另一方面，图像从大分辨率降低到小分辨率，降低倍数通常是</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2</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的指数次方，所以图像的输入一定是</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7*2</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的指数次方。以</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ImageNet</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为代表的大多数分类数据集，图像的长宽在</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300</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分辨率左右。所以要找一个</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7*2</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的指数次方，并且在</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300</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左右的，其中</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7*2</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4</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次方</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=7*16=112</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7*2</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5</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次方等于</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7*32=224</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7*2</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6</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次方</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=448</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，与</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300</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最接近的就是</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224</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了。 </a:t>
            </a:r>
            <a:endParaRPr lang="en-US" altLang="zh-CN" b="0" i="0" u="none" strike="noStrike" dirty="0">
              <a:solidFill>
                <a:srgbClr val="333333"/>
              </a:solidFill>
              <a:effectLst/>
              <a:latin typeface="PingFang SC" panose="020B0400000000000000" pitchFamily="34" charset="-122"/>
              <a:ea typeface="PingFang SC" panose="020B0400000000000000" pitchFamily="34" charset="-122"/>
            </a:endParaRPr>
          </a:p>
          <a:p>
            <a:pPr algn="l"/>
            <a:endParaRPr lang="zh-CN" altLang="en-US" b="0" i="0" u="none" strike="noStrike" dirty="0">
              <a:solidFill>
                <a:srgbClr val="333333"/>
              </a:solidFill>
              <a:effectLst/>
              <a:latin typeface="PingFang SC" panose="020B0400000000000000" pitchFamily="34" charset="-122"/>
              <a:ea typeface="PingFang SC" panose="020B0400000000000000" pitchFamily="34" charset="-122"/>
            </a:endParaRPr>
          </a:p>
        </p:txBody>
      </p:sp>
      <p:sp>
        <p:nvSpPr>
          <p:cNvPr id="4" name="灯片编号占位符 3"/>
          <p:cNvSpPr>
            <a:spLocks noGrp="1"/>
          </p:cNvSpPr>
          <p:nvPr>
            <p:ph type="sldNum" sz="quarter" idx="5"/>
          </p:nvPr>
        </p:nvSpPr>
        <p:spPr/>
        <p:txBody>
          <a:bodyPr/>
          <a:lstStyle/>
          <a:p>
            <a:fld id="{D50AF6DD-051E-413B-8808-23D5AB3BD9E4}" type="slidenum">
              <a:rPr lang="en-US" smtClean="0"/>
              <a:pPr/>
              <a:t>93</a:t>
            </a:fld>
            <a:endParaRPr lang="en-US" dirty="0"/>
          </a:p>
        </p:txBody>
      </p:sp>
    </p:spTree>
    <p:extLst>
      <p:ext uri="{BB962C8B-B14F-4D97-AF65-F5344CB8AC3E}">
        <p14:creationId xmlns:p14="http://schemas.microsoft.com/office/powerpoint/2010/main" val="9062859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95</a:t>
            </a:fld>
            <a:endParaRPr lang="en-US" dirty="0"/>
          </a:p>
        </p:txBody>
      </p:sp>
    </p:spTree>
    <p:extLst>
      <p:ext uri="{BB962C8B-B14F-4D97-AF65-F5344CB8AC3E}">
        <p14:creationId xmlns:p14="http://schemas.microsoft.com/office/powerpoint/2010/main" val="34650702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目前举例都是图片，</a:t>
            </a:r>
            <a:endParaRPr kumimoji="1" lang="en-US" altLang="zh-CN" dirty="0"/>
          </a:p>
          <a:p>
            <a:endParaRPr kumimoji="1" lang="en-US" altLang="zh-CN" dirty="0"/>
          </a:p>
          <a:p>
            <a:r>
              <a:rPr kumimoji="1" lang="zh-CN" altLang="en-US" dirty="0"/>
              <a:t>怎么解决文字建模的问题？</a:t>
            </a:r>
            <a:endParaRPr kumimoji="1" lang="en-US" altLang="zh-CN" dirty="0"/>
          </a:p>
          <a:p>
            <a:endParaRPr kumimoji="1" lang="en-US" altLang="zh-CN" dirty="0"/>
          </a:p>
          <a:p>
            <a:r>
              <a:rPr kumimoji="1" lang="zh-CN" altLang="en-US" dirty="0"/>
              <a:t>怎么解决下棋的问题？</a:t>
            </a:r>
            <a:endParaRPr kumimoji="1" lang="en-US" altLang="zh-CN" dirty="0"/>
          </a:p>
          <a:p>
            <a:endParaRPr kumimoji="1" lang="en-US" altLang="zh-CN" dirty="0"/>
          </a:p>
          <a:p>
            <a:r>
              <a:rPr kumimoji="1" lang="zh-CN" altLang="en-US" dirty="0"/>
              <a:t>大模型是不是解决所有问题的核心方法？</a:t>
            </a:r>
            <a:endParaRPr kumimoji="1" lang="en-US" altLang="zh-CN" dirty="0"/>
          </a:p>
          <a:p>
            <a:endParaRPr kumimoji="1" lang="en-US" altLang="zh-CN" dirty="0"/>
          </a:p>
          <a:p>
            <a:r>
              <a:rPr kumimoji="1" lang="zh-CN" altLang="en-US" dirty="0"/>
              <a:t>第</a:t>
            </a:r>
            <a:r>
              <a:rPr kumimoji="1" lang="en-US" altLang="zh-CN" dirty="0"/>
              <a:t>6</a:t>
            </a:r>
            <a:r>
              <a:rPr kumimoji="1" lang="zh-CN" altLang="en-US" dirty="0"/>
              <a:t>堂课第一节结束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96</a:t>
            </a:fld>
            <a:endParaRPr lang="en-US" dirty="0"/>
          </a:p>
        </p:txBody>
      </p:sp>
    </p:spTree>
    <p:extLst>
      <p:ext uri="{BB962C8B-B14F-4D97-AF65-F5344CB8AC3E}">
        <p14:creationId xmlns:p14="http://schemas.microsoft.com/office/powerpoint/2010/main" val="33903648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GoogleNet</a:t>
            </a:r>
            <a:endParaRPr lang="en-US" altLang="zh-CN" dirty="0"/>
          </a:p>
          <a:p>
            <a:endParaRPr lang="en-US" altLang="zh-CN" dirty="0"/>
          </a:p>
          <a:p>
            <a:r>
              <a:rPr lang="en-US" altLang="zh-CN" dirty="0"/>
              <a:t>L</a:t>
            </a:r>
            <a:r>
              <a:rPr lang="zh-CN" altLang="en-US" dirty="0"/>
              <a:t>大写是因为他们是基于</a:t>
            </a:r>
            <a:r>
              <a:rPr lang="en-US" altLang="zh-CN" dirty="0"/>
              <a:t>LeNet</a:t>
            </a:r>
            <a:r>
              <a:rPr lang="zh-CN" altLang="en-US" dirty="0"/>
              <a:t>进行拓展的，比较谦虚</a:t>
            </a:r>
            <a:endParaRPr lang="en-US" altLang="zh-CN" dirty="0"/>
          </a:p>
          <a:p>
            <a:endParaRPr lang="en-US" altLang="zh-CN" dirty="0"/>
          </a:p>
          <a:p>
            <a:endParaRPr lang="en-US" altLang="zh-CN" dirty="0"/>
          </a:p>
          <a:p>
            <a:r>
              <a:rPr lang="en-US" altLang="zh-CN" dirty="0"/>
              <a:t>S</a:t>
            </a:r>
            <a:r>
              <a:rPr lang="zh-CN" altLang="en-US" dirty="0"/>
              <a:t>表示有填充，</a:t>
            </a:r>
            <a:r>
              <a:rPr lang="en-US" altLang="zh-CN" dirty="0"/>
              <a:t>V</a:t>
            </a:r>
            <a:r>
              <a:rPr lang="zh-CN" altLang="en-US" dirty="0"/>
              <a:t>表示无填充，</a:t>
            </a:r>
            <a:r>
              <a:rPr lang="en-US" altLang="zh-CN" dirty="0"/>
              <a:t>n</a:t>
            </a:r>
            <a:r>
              <a:rPr lang="zh-CN" altLang="en-US" dirty="0"/>
              <a:t>*</a:t>
            </a:r>
            <a:r>
              <a:rPr lang="en-US" altLang="zh-CN" dirty="0" err="1"/>
              <a:t>n+m</a:t>
            </a:r>
            <a:r>
              <a:rPr lang="zh-CN" altLang="en-US" dirty="0"/>
              <a:t>中的</a:t>
            </a:r>
            <a:r>
              <a:rPr lang="en-US" altLang="zh-CN" dirty="0"/>
              <a:t>m</a:t>
            </a:r>
            <a:r>
              <a:rPr lang="zh-CN" altLang="en-US" dirty="0"/>
              <a:t>表示步长。</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226987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95909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1DC2D-D899-32B3-D3F9-6FF632410D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D736A0-3636-5EC0-1B45-A3D9CA0C56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875A5E-99DE-67FD-6699-326D5CB30F2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F6087F54-F796-BB61-9BBF-7FD980E80E5C}"/>
              </a:ext>
            </a:extLst>
          </p:cNvPr>
          <p:cNvSpPr>
            <a:spLocks noGrp="1"/>
          </p:cNvSpPr>
          <p:nvPr>
            <p:ph type="sldNum" sz="quarter" idx="5"/>
          </p:nvPr>
        </p:nvSpPr>
        <p:spPr/>
        <p:txBody>
          <a:bodyPr/>
          <a:lstStyle/>
          <a:p>
            <a:fld id="{D50AF6DD-051E-413B-8808-23D5AB3BD9E4}" type="slidenum">
              <a:rPr lang="en-US" smtClean="0"/>
              <a:pPr/>
              <a:t>104</a:t>
            </a:fld>
            <a:endParaRPr lang="en-US" dirty="0"/>
          </a:p>
        </p:txBody>
      </p:sp>
    </p:spTree>
    <p:extLst>
      <p:ext uri="{BB962C8B-B14F-4D97-AF65-F5344CB8AC3E}">
        <p14:creationId xmlns:p14="http://schemas.microsoft.com/office/powerpoint/2010/main" val="38716062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3FA06-B307-877F-4A81-3FEF2CBBF0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C67CD0-1100-2240-4DC1-A78E9AC88E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6A3800-FA5E-DCC7-C5F9-CC21EBA84839}"/>
              </a:ext>
            </a:extLst>
          </p:cNvPr>
          <p:cNvSpPr>
            <a:spLocks noGrp="1"/>
          </p:cNvSpPr>
          <p:nvPr>
            <p:ph type="body" idx="1"/>
          </p:nvPr>
        </p:nvSpPr>
        <p:spPr/>
        <p:txBody>
          <a:bodyPr/>
          <a:lstStyle/>
          <a:p>
            <a:r>
              <a:rPr lang="en-US" altLang="zh-CN" dirty="0"/>
              <a:t>RGB</a:t>
            </a:r>
            <a:r>
              <a:rPr lang="zh-CN" altLang="en-US" dirty="0"/>
              <a:t>当作一个整体，所以要一起处理。捲積是个立体的。</a:t>
            </a:r>
          </a:p>
        </p:txBody>
      </p:sp>
      <p:sp>
        <p:nvSpPr>
          <p:cNvPr id="4" name="灯片编号占位符 3">
            <a:extLst>
              <a:ext uri="{FF2B5EF4-FFF2-40B4-BE49-F238E27FC236}">
                <a16:creationId xmlns:a16="http://schemas.microsoft.com/office/drawing/2014/main" id="{075610A7-7A5E-8462-03DF-8FBDCD06881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046118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4E8EB-0479-317E-03AF-C98BCF4E0B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6B9C0B-E171-2DDC-3D8F-5D71DFF4DD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966829-7E16-A105-7D9A-EC0E4DFDBE6C}"/>
              </a:ext>
            </a:extLst>
          </p:cNvPr>
          <p:cNvSpPr>
            <a:spLocks noGrp="1"/>
          </p:cNvSpPr>
          <p:nvPr>
            <p:ph type="body" idx="1"/>
          </p:nvPr>
        </p:nvSpPr>
        <p:spPr/>
        <p:txBody>
          <a:bodyPr/>
          <a:lstStyle/>
          <a:p>
            <a:pPr algn="l"/>
            <a:r>
              <a:rPr lang="en-US" altLang="zh-CN" b="0" i="0" u="sng" dirty="0">
                <a:effectLst/>
                <a:latin typeface="-apple-system"/>
                <a:hlinkClick r:id="rId3"/>
              </a:rPr>
              <a:t>LeNet</a:t>
            </a:r>
            <a:r>
              <a:rPr lang="en-US" altLang="zh-CN" b="0" i="0" u="none" strike="noStrike" dirty="0">
                <a:solidFill>
                  <a:srgbClr val="0C0D0E"/>
                </a:solidFill>
                <a:effectLst/>
                <a:highlight>
                  <a:srgbClr val="FFFFFF"/>
                </a:highlight>
                <a:latin typeface="-apple-system"/>
              </a:rPr>
              <a:t> is a family (LeNet-1, LeNet-4, LeNet-5) of convolutional neural network designed by Yann LeCun et al. The name is a play on his name and the French language, where "le" means "the", hence </a:t>
            </a:r>
            <a:r>
              <a:rPr lang="en-US" altLang="zh-CN" b="0" i="0" u="none" strike="noStrike" dirty="0" err="1">
                <a:solidFill>
                  <a:srgbClr val="0C0D0E"/>
                </a:solidFill>
                <a:effectLst/>
                <a:highlight>
                  <a:srgbClr val="FFFFFF"/>
                </a:highlight>
                <a:latin typeface="-apple-system"/>
              </a:rPr>
              <a:t>LeNet</a:t>
            </a:r>
            <a:r>
              <a:rPr lang="en-US" altLang="zh-CN" b="0" i="0" u="none" strike="noStrike" dirty="0">
                <a:solidFill>
                  <a:srgbClr val="0C0D0E"/>
                </a:solidFill>
                <a:effectLst/>
                <a:highlight>
                  <a:srgbClr val="FFFFFF"/>
                </a:highlight>
                <a:latin typeface="-apple-system"/>
              </a:rPr>
              <a:t> means "the network". I believe it was originally devised to recognize handwritten numbers on checks (cheques). </a:t>
            </a:r>
            <a:r>
              <a:rPr lang="en-US" altLang="zh-CN" b="0" i="0" u="none" strike="noStrike" dirty="0" err="1">
                <a:solidFill>
                  <a:srgbClr val="0C0D0E"/>
                </a:solidFill>
                <a:effectLst/>
                <a:highlight>
                  <a:srgbClr val="FFFFFF"/>
                </a:highlight>
                <a:latin typeface="-apple-system"/>
              </a:rPr>
              <a:t>LeNet</a:t>
            </a:r>
            <a:r>
              <a:rPr lang="en-US" altLang="zh-CN" b="0" i="0" u="none" strike="noStrike" dirty="0">
                <a:solidFill>
                  <a:srgbClr val="0C0D0E"/>
                </a:solidFill>
                <a:effectLst/>
                <a:highlight>
                  <a:srgbClr val="FFFFFF"/>
                </a:highlight>
                <a:latin typeface="-apple-system"/>
              </a:rPr>
              <a:t> is only one early instance of a convolutional neural network; many others exist today.</a:t>
            </a:r>
            <a:endParaRPr kumimoji="1" lang="zh-CN" altLang="en-US" dirty="0"/>
          </a:p>
        </p:txBody>
      </p:sp>
      <p:sp>
        <p:nvSpPr>
          <p:cNvPr id="4" name="灯片编号占位符 3">
            <a:extLst>
              <a:ext uri="{FF2B5EF4-FFF2-40B4-BE49-F238E27FC236}">
                <a16:creationId xmlns:a16="http://schemas.microsoft.com/office/drawing/2014/main" id="{7CDF97DA-0568-64E4-3B96-47D66A29E392}"/>
              </a:ext>
            </a:extLst>
          </p:cNvPr>
          <p:cNvSpPr>
            <a:spLocks noGrp="1"/>
          </p:cNvSpPr>
          <p:nvPr>
            <p:ph type="sldNum" sz="quarter" idx="5"/>
          </p:nvPr>
        </p:nvSpPr>
        <p:spPr/>
        <p:txBody>
          <a:bodyPr/>
          <a:lstStyle/>
          <a:p>
            <a:fld id="{D50AF6DD-051E-413B-8808-23D5AB3BD9E4}" type="slidenum">
              <a:rPr lang="en-US" smtClean="0"/>
              <a:pPr/>
              <a:t>106</a:t>
            </a:fld>
            <a:endParaRPr lang="en-US" dirty="0"/>
          </a:p>
        </p:txBody>
      </p:sp>
    </p:spTree>
    <p:extLst>
      <p:ext uri="{BB962C8B-B14F-4D97-AF65-F5344CB8AC3E}">
        <p14:creationId xmlns:p14="http://schemas.microsoft.com/office/powerpoint/2010/main" val="10238923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20220328</a:t>
            </a:r>
            <a:r>
              <a:rPr lang="zh-CN" altLang="en-US" dirty="0"/>
              <a:t>导论</a:t>
            </a:r>
          </a:p>
        </p:txBody>
      </p:sp>
      <p:sp>
        <p:nvSpPr>
          <p:cNvPr id="4" name="灯片编号占位符 3"/>
          <p:cNvSpPr>
            <a:spLocks noGrp="1"/>
          </p:cNvSpPr>
          <p:nvPr>
            <p:ph type="sldNum" sz="quarter" idx="5"/>
          </p:nvPr>
        </p:nvSpPr>
        <p:spPr/>
        <p:txBody>
          <a:bodyPr/>
          <a:lstStyle/>
          <a:p>
            <a:fld id="{D50AF6DD-051E-413B-8808-23D5AB3BD9E4}" type="slidenum">
              <a:rPr lang="en-US" smtClean="0"/>
              <a:pPr/>
              <a:t>115</a:t>
            </a:fld>
            <a:endParaRPr lang="en-US" dirty="0"/>
          </a:p>
        </p:txBody>
      </p:sp>
    </p:spTree>
    <p:extLst>
      <p:ext uri="{BB962C8B-B14F-4D97-AF65-F5344CB8AC3E}">
        <p14:creationId xmlns:p14="http://schemas.microsoft.com/office/powerpoint/2010/main" val="27373886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/2:</a:t>
            </a:r>
            <a:r>
              <a:rPr kumimoji="1" lang="zh-CN" altLang="en-US" dirty="0"/>
              <a:t> 步长为</a:t>
            </a:r>
            <a:r>
              <a:rPr kumimoji="1" lang="en-US" altLang="zh-CN" dirty="0"/>
              <a:t>2</a:t>
            </a:r>
            <a:r>
              <a:rPr kumimoji="1" lang="zh-CN" altLang="en-US" dirty="0"/>
              <a:t>的捲積</a:t>
            </a:r>
            <a:endParaRPr kumimoji="1" lang="en-US" altLang="zh-CN" dirty="0"/>
          </a:p>
          <a:p>
            <a:r>
              <a:rPr kumimoji="1" lang="zh-CN" altLang="en-US" dirty="0"/>
              <a:t>虚线：输入该层的前后通道数不一致，需要特殊处理，一般是用</a:t>
            </a:r>
            <a:r>
              <a:rPr kumimoji="1" lang="en-US" altLang="zh-CN" dirty="0"/>
              <a:t>padding</a:t>
            </a:r>
            <a:r>
              <a:rPr kumimoji="1" lang="zh-CN" altLang="en-US" dirty="0"/>
              <a:t>或者</a:t>
            </a:r>
            <a:r>
              <a:rPr kumimoji="1" lang="en-US" altLang="zh-CN" dirty="0"/>
              <a:t>1x1</a:t>
            </a:r>
            <a:r>
              <a:rPr kumimoji="1" lang="zh-CN" altLang="en-US" dirty="0"/>
              <a:t>的捲積层实现</a:t>
            </a:r>
            <a:endParaRPr kumimoji="1" lang="en-US" altLang="zh-CN" dirty="0"/>
          </a:p>
          <a:p>
            <a:r>
              <a:rPr kumimoji="1" lang="zh-CN" altLang="en-US" dirty="0"/>
              <a:t>图中使用</a:t>
            </a:r>
            <a:r>
              <a:rPr kumimoji="1" lang="en-US" altLang="zh-CN" dirty="0"/>
              <a:t>1x1</a:t>
            </a:r>
            <a:r>
              <a:rPr kumimoji="1" lang="zh-CN" altLang="en-US" dirty="0"/>
              <a:t>的捲積层实现</a:t>
            </a:r>
            <a:endParaRPr kumimoji="1" lang="en-US" altLang="zh-CN" dirty="0"/>
          </a:p>
          <a:p>
            <a:endParaRPr kumimoji="1" lang="en-US" altLang="zh-CN" dirty="0"/>
          </a:p>
          <a:p>
            <a:r>
              <a:rPr kumimoji="1" lang="en-US" altLang="zh-CN" dirty="0"/>
              <a:t>1000</a:t>
            </a:r>
            <a:r>
              <a:rPr kumimoji="1" lang="zh-CN" altLang="en-US" dirty="0"/>
              <a:t>层之内基本没有退化问题</a:t>
            </a:r>
          </a:p>
        </p:txBody>
      </p:sp>
      <p:sp>
        <p:nvSpPr>
          <p:cNvPr id="4" name="灯片编号占位符 3"/>
          <p:cNvSpPr>
            <a:spLocks noGrp="1"/>
          </p:cNvSpPr>
          <p:nvPr>
            <p:ph type="sldNum" sz="quarter" idx="5"/>
          </p:nvPr>
        </p:nvSpPr>
        <p:spPr/>
        <p:txBody>
          <a:bodyPr/>
          <a:lstStyle/>
          <a:p>
            <a:fld id="{D50AF6DD-051E-413B-8808-23D5AB3BD9E4}" type="slidenum">
              <a:rPr lang="en-US" smtClean="0"/>
              <a:pPr/>
              <a:t>117</a:t>
            </a:fld>
            <a:endParaRPr lang="en-US" dirty="0"/>
          </a:p>
        </p:txBody>
      </p:sp>
    </p:spTree>
    <p:extLst>
      <p:ext uri="{BB962C8B-B14F-4D97-AF65-F5344CB8AC3E}">
        <p14:creationId xmlns:p14="http://schemas.microsoft.com/office/powerpoint/2010/main" val="196445828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/2:</a:t>
            </a:r>
            <a:r>
              <a:rPr kumimoji="1" lang="zh-CN" altLang="en-US" dirty="0"/>
              <a:t> 步长为</a:t>
            </a:r>
            <a:r>
              <a:rPr kumimoji="1" lang="en-US" altLang="zh-CN" dirty="0"/>
              <a:t>2</a:t>
            </a:r>
            <a:r>
              <a:rPr kumimoji="1" lang="zh-CN" altLang="en-US" dirty="0"/>
              <a:t>的捲積</a:t>
            </a:r>
            <a:endParaRPr kumimoji="1" lang="en-US" altLang="zh-CN" dirty="0"/>
          </a:p>
          <a:p>
            <a:r>
              <a:rPr kumimoji="1" lang="zh-CN" altLang="en-US" dirty="0"/>
              <a:t>虚线：输入该层的前后通道数不一致，需要特殊处理，一般是用</a:t>
            </a:r>
            <a:r>
              <a:rPr kumimoji="1" lang="en-US" altLang="zh-CN" dirty="0"/>
              <a:t>padding</a:t>
            </a:r>
            <a:r>
              <a:rPr kumimoji="1" lang="zh-CN" altLang="en-US" dirty="0"/>
              <a:t>或者</a:t>
            </a:r>
            <a:r>
              <a:rPr kumimoji="1" lang="en-US" altLang="zh-CN" dirty="0"/>
              <a:t>1x1</a:t>
            </a:r>
            <a:r>
              <a:rPr kumimoji="1" lang="zh-CN" altLang="en-US" dirty="0"/>
              <a:t>的捲積层实现</a:t>
            </a:r>
            <a:endParaRPr kumimoji="1" lang="en-US" altLang="zh-CN" dirty="0"/>
          </a:p>
          <a:p>
            <a:r>
              <a:rPr kumimoji="1" lang="zh-CN" altLang="en-US" dirty="0"/>
              <a:t>图中使用</a:t>
            </a:r>
            <a:r>
              <a:rPr kumimoji="1" lang="en-US" altLang="zh-CN" dirty="0"/>
              <a:t>1x1</a:t>
            </a:r>
            <a:r>
              <a:rPr kumimoji="1" lang="zh-CN" altLang="en-US" dirty="0"/>
              <a:t>的捲積层实现</a:t>
            </a:r>
            <a:endParaRPr kumimoji="1" lang="en-US" altLang="zh-CN" dirty="0"/>
          </a:p>
          <a:p>
            <a:endParaRPr kumimoji="1" lang="en-US" altLang="zh-CN" dirty="0"/>
          </a:p>
          <a:p>
            <a:r>
              <a:rPr kumimoji="1" lang="en-US" altLang="zh-CN" dirty="0"/>
              <a:t>1000</a:t>
            </a:r>
            <a:r>
              <a:rPr kumimoji="1" lang="zh-CN" altLang="en-US" dirty="0"/>
              <a:t>层之内基本没有退化问题</a:t>
            </a:r>
          </a:p>
        </p:txBody>
      </p:sp>
      <p:sp>
        <p:nvSpPr>
          <p:cNvPr id="4" name="灯片编号占位符 3"/>
          <p:cNvSpPr>
            <a:spLocks noGrp="1"/>
          </p:cNvSpPr>
          <p:nvPr>
            <p:ph type="sldNum" sz="quarter" idx="5"/>
          </p:nvPr>
        </p:nvSpPr>
        <p:spPr/>
        <p:txBody>
          <a:bodyPr/>
          <a:lstStyle/>
          <a:p>
            <a:fld id="{D50AF6DD-051E-413B-8808-23D5AB3BD9E4}" type="slidenum">
              <a:rPr lang="en-US" smtClean="0"/>
              <a:pPr/>
              <a:t>118</a:t>
            </a:fld>
            <a:endParaRPr lang="en-US" dirty="0"/>
          </a:p>
        </p:txBody>
      </p:sp>
    </p:spTree>
    <p:extLst>
      <p:ext uri="{BB962C8B-B14F-4D97-AF65-F5344CB8AC3E}">
        <p14:creationId xmlns:p14="http://schemas.microsoft.com/office/powerpoint/2010/main" val="1744853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第六堂课第二节结束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119</a:t>
            </a:fld>
            <a:endParaRPr lang="en-US" dirty="0"/>
          </a:p>
        </p:txBody>
      </p:sp>
    </p:spTree>
    <p:extLst>
      <p:ext uri="{BB962C8B-B14F-4D97-AF65-F5344CB8AC3E}">
        <p14:creationId xmlns:p14="http://schemas.microsoft.com/office/powerpoint/2010/main" val="10796395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从</a:t>
            </a:r>
            <a:r>
              <a:rPr kumimoji="1" lang="en-US" altLang="zh-CN" dirty="0"/>
              <a:t>256x256</a:t>
            </a:r>
            <a:r>
              <a:rPr kumimoji="1" lang="zh-CN" altLang="en-US" dirty="0"/>
              <a:t>图中随机抽出</a:t>
            </a:r>
            <a:r>
              <a:rPr kumimoji="1" lang="en-US" altLang="zh-CN" dirty="0"/>
              <a:t>224x224</a:t>
            </a:r>
            <a:r>
              <a:rPr kumimoji="1" lang="zh-CN" altLang="en-US" dirty="0"/>
              <a:t>的图</a:t>
            </a:r>
            <a:endParaRPr kumimoji="1" lang="en-US" altLang="zh-CN" dirty="0"/>
          </a:p>
          <a:p>
            <a:r>
              <a:rPr kumimoji="1" lang="zh-CN" altLang="en-US" dirty="0"/>
              <a:t>简单的数据增强就可以显著提高模型性能</a:t>
            </a:r>
          </a:p>
        </p:txBody>
      </p:sp>
      <p:sp>
        <p:nvSpPr>
          <p:cNvPr id="4" name="灯片编号占位符 3"/>
          <p:cNvSpPr>
            <a:spLocks noGrp="1"/>
          </p:cNvSpPr>
          <p:nvPr>
            <p:ph type="sldNum" sz="quarter" idx="5"/>
          </p:nvPr>
        </p:nvSpPr>
        <p:spPr/>
        <p:txBody>
          <a:bodyPr/>
          <a:lstStyle/>
          <a:p>
            <a:fld id="{D50AF6DD-051E-413B-8808-23D5AB3BD9E4}" type="slidenum">
              <a:rPr lang="en-US" smtClean="0"/>
              <a:pPr/>
              <a:t>129</a:t>
            </a:fld>
            <a:endParaRPr lang="en-US" dirty="0"/>
          </a:p>
        </p:txBody>
      </p:sp>
    </p:spTree>
    <p:extLst>
      <p:ext uri="{BB962C8B-B14F-4D97-AF65-F5344CB8AC3E}">
        <p14:creationId xmlns:p14="http://schemas.microsoft.com/office/powerpoint/2010/main" val="211654123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7FE88-BE4F-EFA1-CD66-2D7842B6AA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BBD232-A3C8-8CA2-6B29-6C0676FC11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140493-EBB5-8D94-9E30-9558F58715B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090185A-A532-6635-1114-D2C4C0785379}"/>
              </a:ext>
            </a:extLst>
          </p:cNvPr>
          <p:cNvSpPr>
            <a:spLocks noGrp="1"/>
          </p:cNvSpPr>
          <p:nvPr>
            <p:ph type="sldNum" sz="quarter" idx="5"/>
          </p:nvPr>
        </p:nvSpPr>
        <p:spPr/>
        <p:txBody>
          <a:bodyPr/>
          <a:lstStyle/>
          <a:p>
            <a:fld id="{D50AF6DD-051E-413B-8808-23D5AB3BD9E4}" type="slidenum">
              <a:rPr lang="en-US" smtClean="0"/>
              <a:pPr/>
              <a:t>135</a:t>
            </a:fld>
            <a:endParaRPr lang="en-US" dirty="0"/>
          </a:p>
        </p:txBody>
      </p:sp>
    </p:spTree>
    <p:extLst>
      <p:ext uri="{BB962C8B-B14F-4D97-AF65-F5344CB8AC3E}">
        <p14:creationId xmlns:p14="http://schemas.microsoft.com/office/powerpoint/2010/main" val="26751369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20230403</a:t>
            </a:r>
            <a:r>
              <a:rPr lang="zh-CN" altLang="en-US" dirty="0"/>
              <a:t>本科 导论</a:t>
            </a:r>
          </a:p>
        </p:txBody>
      </p:sp>
      <p:sp>
        <p:nvSpPr>
          <p:cNvPr id="4" name="灯片编号占位符 3"/>
          <p:cNvSpPr>
            <a:spLocks noGrp="1"/>
          </p:cNvSpPr>
          <p:nvPr>
            <p:ph type="sldNum" sz="quarter" idx="5"/>
          </p:nvPr>
        </p:nvSpPr>
        <p:spPr/>
        <p:txBody>
          <a:bodyPr/>
          <a:lstStyle/>
          <a:p>
            <a:fld id="{D50AF6DD-051E-413B-8808-23D5AB3BD9E4}" type="slidenum">
              <a:rPr lang="en-US" smtClean="0"/>
              <a:pPr/>
              <a:t>140</a:t>
            </a:fld>
            <a:endParaRPr lang="en-US" dirty="0"/>
          </a:p>
        </p:txBody>
      </p:sp>
    </p:spTree>
    <p:extLst>
      <p:ext uri="{BB962C8B-B14F-4D97-AF65-F5344CB8AC3E}">
        <p14:creationId xmlns:p14="http://schemas.microsoft.com/office/powerpoint/2010/main" val="383768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第七堂课第一节结束</a:t>
            </a:r>
            <a:endParaRPr kumimoji="1" lang="en-US" altLang="zh-CN" dirty="0"/>
          </a:p>
          <a:p>
            <a:endParaRPr kumimoji="1" lang="en-US" altLang="zh-CN" dirty="0"/>
          </a:p>
          <a:p>
            <a:r>
              <a:rPr kumimoji="1" lang="en-US" altLang="zh-CN" dirty="0"/>
              <a:t>Bengio</a:t>
            </a:r>
            <a:r>
              <a:rPr kumimoji="1" lang="zh-CN" altLang="en-US" dirty="0"/>
              <a:t> </a:t>
            </a:r>
            <a:r>
              <a:rPr kumimoji="1" lang="en-US" altLang="zh-CN" dirty="0"/>
              <a:t>proposes</a:t>
            </a:r>
            <a:r>
              <a:rPr kumimoji="1" lang="zh-CN" altLang="en-US" dirty="0"/>
              <a:t> </a:t>
            </a:r>
            <a:r>
              <a:rPr kumimoji="1" lang="en-US" altLang="zh-CN" dirty="0"/>
              <a:t>the</a:t>
            </a:r>
            <a:r>
              <a:rPr kumimoji="1" lang="zh-CN" altLang="en-US" dirty="0"/>
              <a:t> </a:t>
            </a:r>
            <a:r>
              <a:rPr kumimoji="1" lang="en-US" altLang="zh-CN" dirty="0"/>
              <a:t>first</a:t>
            </a:r>
            <a:r>
              <a:rPr kumimoji="1" lang="zh-CN" altLang="en-US" dirty="0"/>
              <a:t> </a:t>
            </a:r>
            <a:r>
              <a:rPr kumimoji="1" lang="en-US" altLang="zh-CN" dirty="0"/>
              <a:t>neural</a:t>
            </a:r>
            <a:r>
              <a:rPr kumimoji="1" lang="zh-CN" altLang="en-US" dirty="0"/>
              <a:t> </a:t>
            </a:r>
            <a:r>
              <a:rPr kumimoji="1" lang="en-US" altLang="zh-CN" dirty="0"/>
              <a:t>language</a:t>
            </a:r>
            <a:r>
              <a:rPr kumimoji="1" lang="zh-CN" altLang="en-US" dirty="0"/>
              <a:t> </a:t>
            </a:r>
            <a:r>
              <a:rPr kumimoji="1" lang="en-US" altLang="zh-CN" dirty="0"/>
              <a:t>model</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144</a:t>
            </a:fld>
            <a:endParaRPr lang="en-US" dirty="0"/>
          </a:p>
        </p:txBody>
      </p:sp>
    </p:spTree>
    <p:extLst>
      <p:ext uri="{BB962C8B-B14F-4D97-AF65-F5344CB8AC3E}">
        <p14:creationId xmlns:p14="http://schemas.microsoft.com/office/powerpoint/2010/main" val="387786917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只有一个隐藏层的全连接神经网络</a:t>
            </a:r>
          </a:p>
        </p:txBody>
      </p:sp>
      <p:sp>
        <p:nvSpPr>
          <p:cNvPr id="4" name="灯片编号占位符 3"/>
          <p:cNvSpPr>
            <a:spLocks noGrp="1"/>
          </p:cNvSpPr>
          <p:nvPr>
            <p:ph type="sldNum" sz="quarter" idx="5"/>
          </p:nvPr>
        </p:nvSpPr>
        <p:spPr/>
        <p:txBody>
          <a:bodyPr/>
          <a:lstStyle/>
          <a:p>
            <a:fld id="{D50AF6DD-051E-413B-8808-23D5AB3BD9E4}" type="slidenum">
              <a:rPr lang="en-US" smtClean="0"/>
              <a:pPr/>
              <a:t>145</a:t>
            </a:fld>
            <a:endParaRPr lang="en-US" dirty="0"/>
          </a:p>
        </p:txBody>
      </p:sp>
    </p:spTree>
    <p:extLst>
      <p:ext uri="{BB962C8B-B14F-4D97-AF65-F5344CB8AC3E}">
        <p14:creationId xmlns:p14="http://schemas.microsoft.com/office/powerpoint/2010/main" val="373270492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20220402</a:t>
            </a:r>
            <a:r>
              <a:rPr lang="zh-CN" altLang="en-US" dirty="0"/>
              <a:t>导论</a:t>
            </a:r>
          </a:p>
        </p:txBody>
      </p:sp>
      <p:sp>
        <p:nvSpPr>
          <p:cNvPr id="4" name="灯片编号占位符 3"/>
          <p:cNvSpPr>
            <a:spLocks noGrp="1"/>
          </p:cNvSpPr>
          <p:nvPr>
            <p:ph type="sldNum" sz="quarter" idx="5"/>
          </p:nvPr>
        </p:nvSpPr>
        <p:spPr/>
        <p:txBody>
          <a:bodyPr/>
          <a:lstStyle/>
          <a:p>
            <a:fld id="{D50AF6DD-051E-413B-8808-23D5AB3BD9E4}" type="slidenum">
              <a:rPr lang="en-US" smtClean="0"/>
              <a:pPr/>
              <a:t>146</a:t>
            </a:fld>
            <a:endParaRPr lang="en-US" dirty="0"/>
          </a:p>
        </p:txBody>
      </p:sp>
    </p:spTree>
    <p:extLst>
      <p:ext uri="{BB962C8B-B14F-4D97-AF65-F5344CB8AC3E}">
        <p14:creationId xmlns:p14="http://schemas.microsoft.com/office/powerpoint/2010/main" val="402622989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9F3D0-E6D4-7C41-E3BA-442A78EB7B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CB5FE1-202B-2676-B2FE-0FDBB86ACF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4E2BB2-EE16-ABEF-E0AC-6CF417A28EC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E008E7E-95A8-7FDA-435B-61CE11516BA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211331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5741804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a:t>
            </a:r>
            <a:r>
              <a:rPr lang="en-US" altLang="zh-CN" dirty="0"/>
              <a:t>w2</a:t>
            </a:r>
            <a:r>
              <a:rPr lang="zh-CN" altLang="en-US" dirty="0"/>
              <a:t>来说，要求</a:t>
            </a:r>
            <a:r>
              <a:rPr lang="en-US" altLang="zh-CN" sz="1200" b="0" i="0" u="none" strike="noStrike" kern="1200" dirty="0">
                <a:solidFill>
                  <a:schemeClr val="tx1"/>
                </a:solidFill>
                <a:effectLst/>
                <a:latin typeface="+mn-lt"/>
                <a:ea typeface="+mn-ea"/>
                <a:cs typeface="+mn-cs"/>
              </a:rPr>
              <a:t>n(w2,1)</a:t>
            </a:r>
            <a:r>
              <a:rPr lang="zh-CN" altLang="en-US" sz="1200" b="0" i="0" kern="1200" dirty="0">
                <a:solidFill>
                  <a:schemeClr val="tx1"/>
                </a:solidFill>
                <a:effectLst/>
                <a:latin typeface="+mn-lt"/>
                <a:ea typeface="+mn-ea"/>
                <a:cs typeface="+mn-cs"/>
              </a:rPr>
              <a:t>的</a:t>
            </a:r>
            <a:r>
              <a:rPr lang="en-US" altLang="zh-CN" sz="1200" b="0" i="0" u="none" strike="noStrike" kern="1200" dirty="0">
                <a:solidFill>
                  <a:schemeClr val="tx1"/>
                </a:solidFill>
                <a:effectLst/>
                <a:latin typeface="+mn-lt"/>
                <a:ea typeface="+mn-ea"/>
                <a:cs typeface="+mn-cs"/>
              </a:rPr>
              <a:t>P(L)</a:t>
            </a:r>
            <a:r>
              <a:rPr lang="zh-CN" altLang="en-US" sz="1200" b="0" i="0" kern="1200" dirty="0">
                <a:solidFill>
                  <a:schemeClr val="tx1"/>
                </a:solidFill>
                <a:effectLst/>
                <a:latin typeface="+mn-lt"/>
                <a:ea typeface="+mn-ea"/>
                <a:cs typeface="+mn-cs"/>
              </a:rPr>
              <a:t>概率大，</a:t>
            </a:r>
            <a:r>
              <a:rPr lang="en-US" altLang="zh-CN" sz="1200" b="0" i="0" u="none" strike="noStrike" kern="1200" dirty="0">
                <a:solidFill>
                  <a:schemeClr val="tx1"/>
                </a:solidFill>
                <a:effectLst/>
                <a:latin typeface="+mn-lt"/>
                <a:ea typeface="+mn-ea"/>
                <a:cs typeface="+mn-cs"/>
              </a:rPr>
              <a:t>n(w2,2)</a:t>
            </a:r>
            <a:r>
              <a:rPr lang="zh-CN" altLang="en-US" sz="1200" b="0" i="0" kern="1200" dirty="0">
                <a:solidFill>
                  <a:schemeClr val="tx1"/>
                </a:solidFill>
                <a:effectLst/>
                <a:latin typeface="+mn-lt"/>
                <a:ea typeface="+mn-ea"/>
                <a:cs typeface="+mn-cs"/>
              </a:rPr>
              <a:t>的</a:t>
            </a:r>
            <a:r>
              <a:rPr lang="en-US" altLang="zh-CN" sz="1200" b="0" i="0" u="none" strike="noStrike" kern="1200" dirty="0">
                <a:solidFill>
                  <a:schemeClr val="tx1"/>
                </a:solidFill>
                <a:effectLst/>
                <a:latin typeface="+mn-lt"/>
                <a:ea typeface="+mn-ea"/>
                <a:cs typeface="+mn-cs"/>
              </a:rPr>
              <a:t>P(L)</a:t>
            </a:r>
            <a:r>
              <a:rPr lang="zh-CN" altLang="en-US" sz="1200" b="0" i="0" kern="1200" dirty="0">
                <a:solidFill>
                  <a:schemeClr val="tx1"/>
                </a:solidFill>
                <a:effectLst/>
                <a:latin typeface="+mn-lt"/>
                <a:ea typeface="+mn-ea"/>
                <a:cs typeface="+mn-cs"/>
              </a:rPr>
              <a:t>概率大，</a:t>
            </a:r>
            <a:r>
              <a:rPr lang="en-US" altLang="zh-CN" sz="1200" b="0" i="0" u="none" strike="noStrike" kern="1200" dirty="0">
                <a:solidFill>
                  <a:schemeClr val="tx1"/>
                </a:solidFill>
                <a:effectLst/>
                <a:latin typeface="+mn-lt"/>
                <a:ea typeface="+mn-ea"/>
                <a:cs typeface="+mn-cs"/>
              </a:rPr>
              <a:t>n(w2,3)</a:t>
            </a:r>
            <a:r>
              <a:rPr lang="zh-CN" altLang="en-US" sz="1200" b="0" i="0" kern="1200" dirty="0">
                <a:solidFill>
                  <a:schemeClr val="tx1"/>
                </a:solidFill>
                <a:effectLst/>
                <a:latin typeface="+mn-lt"/>
                <a:ea typeface="+mn-ea"/>
                <a:cs typeface="+mn-cs"/>
              </a:rPr>
              <a:t>的</a:t>
            </a:r>
            <a:r>
              <a:rPr lang="en-US" altLang="zh-CN" sz="1200" b="0" i="0" u="none" strike="noStrike" kern="1200" dirty="0">
                <a:solidFill>
                  <a:schemeClr val="tx1"/>
                </a:solidFill>
                <a:effectLst/>
                <a:latin typeface="+mn-lt"/>
                <a:ea typeface="+mn-ea"/>
                <a:cs typeface="+mn-cs"/>
              </a:rPr>
              <a:t>P(R)</a:t>
            </a:r>
            <a:r>
              <a:rPr lang="zh-CN" altLang="en-US" sz="1200" b="0" i="0" kern="1200" dirty="0">
                <a:solidFill>
                  <a:schemeClr val="tx1"/>
                </a:solidFill>
                <a:effectLst/>
                <a:latin typeface="+mn-lt"/>
                <a:ea typeface="+mn-ea"/>
                <a:cs typeface="+mn-cs"/>
              </a:rPr>
              <a:t>概率大。</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8638984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经过每个节点的概率是其父节点的分类结果，所以参数是用</a:t>
            </a:r>
            <a:r>
              <a:rPr lang="en-US" altLang="zh-CN" dirty="0"/>
              <a:t>i-1</a:t>
            </a:r>
          </a:p>
          <a:p>
            <a:r>
              <a:rPr lang="zh-CN" altLang="en-US" dirty="0"/>
              <a:t>上面的</a:t>
            </a:r>
            <a:r>
              <a:rPr lang="en-US" altLang="zh-CN" dirty="0" err="1"/>
              <a:t>pwi</a:t>
            </a:r>
            <a:r>
              <a:rPr lang="zh-CN" altLang="en-US" dirty="0"/>
              <a:t>是下面公式的</a:t>
            </a:r>
            <a:r>
              <a:rPr lang="en-US" altLang="zh-CN" dirty="0"/>
              <a:t>p</a:t>
            </a:r>
            <a:r>
              <a:rPr lang="zh-CN" altLang="en-US" dirty="0"/>
              <a:t>的简写</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F6DD-051E-413B-8808-23D5AB3BD9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2705724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a:t>
            </a:r>
            <a:r>
              <a:rPr kumimoji="1" lang="en-US" altLang="zh-CN" dirty="0"/>
              <a:t>7</a:t>
            </a:r>
            <a:r>
              <a:rPr kumimoji="1" lang="zh-CN" altLang="en-US" dirty="0"/>
              <a:t>堂课第二节结束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167</a:t>
            </a:fld>
            <a:endParaRPr lang="en-US"/>
          </a:p>
        </p:txBody>
      </p:sp>
    </p:spTree>
    <p:extLst>
      <p:ext uri="{BB962C8B-B14F-4D97-AF65-F5344CB8AC3E}">
        <p14:creationId xmlns:p14="http://schemas.microsoft.com/office/powerpoint/2010/main" val="100671085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170</a:t>
            </a:fld>
            <a:endParaRPr lang="en-US"/>
          </a:p>
        </p:txBody>
      </p:sp>
    </p:spTree>
    <p:extLst>
      <p:ext uri="{BB962C8B-B14F-4D97-AF65-F5344CB8AC3E}">
        <p14:creationId xmlns:p14="http://schemas.microsoft.com/office/powerpoint/2010/main" val="27490970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前馈：输出就输出</a:t>
            </a:r>
            <a:endParaRPr kumimoji="1" lang="en-US" altLang="zh-CN" dirty="0"/>
          </a:p>
          <a:p>
            <a:r>
              <a:rPr kumimoji="1" lang="zh-CN" altLang="en-US" dirty="0"/>
              <a:t>反馈：前面的输出还会影响后面</a:t>
            </a:r>
            <a:endParaRPr kumimoji="1" lang="en-US" altLang="zh-CN" dirty="0"/>
          </a:p>
          <a:p>
            <a:endParaRPr kumimoji="1" lang="en-US" altLang="zh-CN" dirty="0"/>
          </a:p>
          <a:p>
            <a:r>
              <a:rPr lang="en-US" altLang="zh-CN" b="0" i="0" u="none" strike="noStrike" dirty="0">
                <a:solidFill>
                  <a:srgbClr val="795CB2"/>
                </a:solidFill>
                <a:effectLst/>
                <a:latin typeface="Arial" panose="020B0604020202020204" pitchFamily="34" charset="0"/>
                <a:hlinkClick r:id="rId3" tooltip="Recurrent neural network"/>
              </a:rPr>
              <a:t>Recurrent neural networks</a:t>
            </a:r>
            <a:r>
              <a:rPr lang="en-US" altLang="zh-CN" b="0" i="0" u="none" strike="noStrike" dirty="0">
                <a:solidFill>
                  <a:srgbClr val="202122"/>
                </a:solidFill>
                <a:effectLst/>
                <a:latin typeface="Arial" panose="020B0604020202020204" pitchFamily="34" charset="0"/>
              </a:rPr>
              <a:t> are recursive </a:t>
            </a:r>
            <a:r>
              <a:rPr lang="en-US" altLang="zh-CN" b="0" i="0" u="none" strike="noStrike" dirty="0">
                <a:solidFill>
                  <a:srgbClr val="795CB2"/>
                </a:solidFill>
                <a:effectLst/>
                <a:latin typeface="Arial" panose="020B0604020202020204" pitchFamily="34" charset="0"/>
                <a:hlinkClick r:id="rId4" tooltip="Artificial neural network"/>
              </a:rPr>
              <a:t>artificial neural networks</a:t>
            </a:r>
            <a:r>
              <a:rPr lang="en-US" altLang="zh-CN" b="0" i="0" u="none" strike="noStrike" dirty="0">
                <a:solidFill>
                  <a:srgbClr val="202122"/>
                </a:solidFill>
                <a:effectLst/>
                <a:latin typeface="Arial" panose="020B0604020202020204" pitchFamily="34" charset="0"/>
              </a:rPr>
              <a:t> with a certain structure: that of a linear chain. Whereas recursive neural networks operate on any hierarchical structure, combining child representations into parent representations, recurrent neural networks operate on the linear progression of time, combining the previous time step and a hidden representation into the representation for the current time step.</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174</a:t>
            </a:fld>
            <a:endParaRPr lang="en-US"/>
          </a:p>
        </p:txBody>
      </p:sp>
    </p:spTree>
    <p:extLst>
      <p:ext uri="{BB962C8B-B14F-4D97-AF65-F5344CB8AC3E}">
        <p14:creationId xmlns:p14="http://schemas.microsoft.com/office/powerpoint/2010/main" val="258440570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看到一个词，脑袋里有一个想法</a:t>
            </a:r>
            <a:endParaRPr kumimoji="1" lang="en-US" altLang="zh-CN" dirty="0"/>
          </a:p>
          <a:p>
            <a:r>
              <a:rPr kumimoji="1" lang="zh-CN" altLang="en-US" dirty="0"/>
              <a:t>顺序的理解</a:t>
            </a:r>
          </a:p>
        </p:txBody>
      </p:sp>
      <p:sp>
        <p:nvSpPr>
          <p:cNvPr id="4" name="灯片编号占位符 3"/>
          <p:cNvSpPr>
            <a:spLocks noGrp="1"/>
          </p:cNvSpPr>
          <p:nvPr>
            <p:ph type="sldNum" sz="quarter" idx="5"/>
          </p:nvPr>
        </p:nvSpPr>
        <p:spPr/>
        <p:txBody>
          <a:bodyPr/>
          <a:lstStyle/>
          <a:p>
            <a:fld id="{D50AF6DD-051E-413B-8808-23D5AB3BD9E4}" type="slidenum">
              <a:rPr lang="en-US" smtClean="0"/>
              <a:pPr/>
              <a:t>176</a:t>
            </a:fld>
            <a:endParaRPr lang="en-US"/>
          </a:p>
        </p:txBody>
      </p:sp>
    </p:spTree>
    <p:extLst>
      <p:ext uri="{BB962C8B-B14F-4D97-AF65-F5344CB8AC3E}">
        <p14:creationId xmlns:p14="http://schemas.microsoft.com/office/powerpoint/2010/main" val="406442075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177</a:t>
            </a:fld>
            <a:endParaRPr lang="en-US"/>
          </a:p>
        </p:txBody>
      </p:sp>
    </p:spTree>
    <p:extLst>
      <p:ext uri="{BB962C8B-B14F-4D97-AF65-F5344CB8AC3E}">
        <p14:creationId xmlns:p14="http://schemas.microsoft.com/office/powerpoint/2010/main" val="46392727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a:t>
            </a:r>
            <a:r>
              <a:rPr kumimoji="1" lang="en-US" altLang="zh-CN" dirty="0"/>
              <a:t>8</a:t>
            </a:r>
            <a:r>
              <a:rPr kumimoji="1" lang="zh-CN" altLang="en-US" dirty="0"/>
              <a:t>堂课第一节结束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181</a:t>
            </a:fld>
            <a:endParaRPr lang="en-US"/>
          </a:p>
        </p:txBody>
      </p:sp>
    </p:spTree>
    <p:extLst>
      <p:ext uri="{BB962C8B-B14F-4D97-AF65-F5344CB8AC3E}">
        <p14:creationId xmlns:p14="http://schemas.microsoft.com/office/powerpoint/2010/main" val="314112091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1" dirty="0"/>
          </a:p>
        </p:txBody>
      </p:sp>
      <p:sp>
        <p:nvSpPr>
          <p:cNvPr id="4" name="灯片编号占位符 3"/>
          <p:cNvSpPr>
            <a:spLocks noGrp="1"/>
          </p:cNvSpPr>
          <p:nvPr>
            <p:ph type="sldNum" sz="quarter" idx="5"/>
          </p:nvPr>
        </p:nvSpPr>
        <p:spPr/>
        <p:txBody>
          <a:bodyPr/>
          <a:lstStyle/>
          <a:p>
            <a:fld id="{D50AF6DD-051E-413B-8808-23D5AB3BD9E4}" type="slidenum">
              <a:rPr lang="en-US" smtClean="0"/>
              <a:pPr/>
              <a:t>188</a:t>
            </a:fld>
            <a:endParaRPr lang="en-US"/>
          </a:p>
        </p:txBody>
      </p:sp>
    </p:spTree>
    <p:extLst>
      <p:ext uri="{BB962C8B-B14F-4D97-AF65-F5344CB8AC3E}">
        <p14:creationId xmlns:p14="http://schemas.microsoft.com/office/powerpoint/2010/main" val="12007945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dirty="0">
                <a:effectLst/>
                <a:latin typeface="Linux Libertine"/>
              </a:rPr>
              <a:t>Jürgen </a:t>
            </a:r>
            <a:r>
              <a:rPr lang="en-US" altLang="zh-CN" b="0" i="0" u="none" strike="noStrike" dirty="0" err="1">
                <a:effectLst/>
                <a:latin typeface="Linux Libertine"/>
              </a:rPr>
              <a:t>Schmidhuber</a:t>
            </a:r>
            <a:endParaRPr lang="en-US" altLang="zh-CN" b="0" i="0" u="none" strike="noStrike" dirty="0">
              <a:effectLst/>
              <a:latin typeface="Linux Liberti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dirty="0">
                <a:effectLst/>
                <a:latin typeface="Linux Libertine"/>
              </a:rPr>
              <a:t>Pissed off when not receiving the Turing Award</a:t>
            </a:r>
          </a:p>
          <a:p>
            <a:endParaRPr kumimoji="1" lang="en-US" altLang="zh-CN" b="1" dirty="0"/>
          </a:p>
          <a:p>
            <a:r>
              <a:rPr kumimoji="1" lang="en-US" altLang="zh-CN" b="1" dirty="0"/>
              <a:t>https://</a:t>
            </a:r>
            <a:r>
              <a:rPr kumimoji="1" lang="en-US" altLang="zh-CN" b="1" dirty="0" err="1"/>
              <a:t>people.idsia.ch</a:t>
            </a:r>
            <a:r>
              <a:rPr kumimoji="1" lang="en-US" altLang="zh-CN" b="1" dirty="0"/>
              <a:t>/~</a:t>
            </a:r>
            <a:r>
              <a:rPr kumimoji="1" lang="en-US" altLang="zh-CN" b="1" dirty="0" err="1"/>
              <a:t>juergen</a:t>
            </a:r>
            <a:r>
              <a:rPr kumimoji="1" lang="en-US" altLang="zh-CN" b="1" dirty="0"/>
              <a:t>/ai-priority-</a:t>
            </a:r>
            <a:r>
              <a:rPr kumimoji="1" lang="en-US" altLang="zh-CN" b="1" dirty="0" err="1"/>
              <a:t>disputes.html</a:t>
            </a:r>
            <a:endParaRPr kumimoji="1"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u="none" strike="noStrike" dirty="0">
                <a:solidFill>
                  <a:srgbClr val="000000"/>
                </a:solidFill>
                <a:effectLst/>
                <a:latin typeface="arial" panose="020B0604020202020204" pitchFamily="34" charset="0"/>
              </a:rPr>
              <a:t>How 3 Turing Awardees Republished Key Methods and Ideas Whose Creators They Failed to Credit</a:t>
            </a:r>
          </a:p>
          <a:p>
            <a:endParaRPr kumimoji="1" lang="zh-CN" altLang="en-US" b="1" dirty="0"/>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189</a:t>
            </a:fld>
            <a:endParaRPr lang="en-US"/>
          </a:p>
        </p:txBody>
      </p:sp>
    </p:spTree>
    <p:extLst>
      <p:ext uri="{BB962C8B-B14F-4D97-AF65-F5344CB8AC3E}">
        <p14:creationId xmlns:p14="http://schemas.microsoft.com/office/powerpoint/2010/main" val="285778215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a:t>
            </a:r>
            <a:r>
              <a:rPr kumimoji="1" lang="en-US" altLang="zh-CN" dirty="0"/>
              <a:t>8</a:t>
            </a:r>
            <a:r>
              <a:rPr kumimoji="1" lang="zh-CN" altLang="en-US" dirty="0"/>
              <a:t>次课第二节结束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200</a:t>
            </a:fld>
            <a:endParaRPr lang="en-US"/>
          </a:p>
        </p:txBody>
      </p:sp>
    </p:spTree>
    <p:extLst>
      <p:ext uri="{BB962C8B-B14F-4D97-AF65-F5344CB8AC3E}">
        <p14:creationId xmlns:p14="http://schemas.microsoft.com/office/powerpoint/2010/main" val="11942730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Torch 2002, developed by </a:t>
            </a:r>
            <a:r>
              <a:rPr lang="en-US" altLang="zh-CN" b="0" i="0" u="none" strike="noStrike" dirty="0">
                <a:solidFill>
                  <a:srgbClr val="000000"/>
                </a:solidFill>
                <a:effectLst/>
                <a:highlight>
                  <a:srgbClr val="F8F9FA"/>
                </a:highlight>
                <a:latin typeface="Arial" panose="020B0604020202020204" pitchFamily="34" charset="0"/>
              </a:rPr>
              <a:t>Ronan </a:t>
            </a:r>
            <a:r>
              <a:rPr lang="en-US" altLang="zh-CN" b="0" i="0" u="none" strike="noStrike" dirty="0" err="1">
                <a:solidFill>
                  <a:srgbClr val="000000"/>
                </a:solidFill>
                <a:effectLst/>
                <a:highlight>
                  <a:srgbClr val="F8F9FA"/>
                </a:highlight>
                <a:latin typeface="Arial" panose="020B0604020202020204" pitchFamily="34" charset="0"/>
              </a:rPr>
              <a:t>Collobert</a:t>
            </a:r>
            <a:r>
              <a:rPr lang="en-US" altLang="zh-CN" b="0" i="0" u="none" strike="noStrike" dirty="0">
                <a:solidFill>
                  <a:srgbClr val="000000"/>
                </a:solidFill>
                <a:effectLst/>
                <a:highlight>
                  <a:srgbClr val="F8F9FA"/>
                </a:highlight>
                <a:latin typeface="Arial" panose="020B0604020202020204" pitchFamily="34" charset="0"/>
              </a:rPr>
              <a:t>, </a:t>
            </a:r>
            <a:r>
              <a:rPr lang="en-US" altLang="zh-CN" b="0" i="0" u="none" strike="noStrike" dirty="0">
                <a:effectLst/>
                <a:latin typeface="Arial" panose="020B0604020202020204" pitchFamily="34" charset="0"/>
                <a:hlinkClick r:id="rId3" tooltip="Samy Bengio"/>
              </a:rPr>
              <a:t>Samy Bengio</a:t>
            </a:r>
            <a:r>
              <a:rPr lang="en-US" altLang="zh-CN" b="0" i="0" u="none" strike="noStrike" dirty="0">
                <a:solidFill>
                  <a:srgbClr val="000000"/>
                </a:solidFill>
                <a:effectLst/>
                <a:highlight>
                  <a:srgbClr val="F8F9FA"/>
                </a:highlight>
                <a:latin typeface="Arial" panose="020B0604020202020204" pitchFamily="34" charset="0"/>
              </a:rPr>
              <a:t>, Johnny </a:t>
            </a:r>
            <a:r>
              <a:rPr lang="en-US" altLang="zh-CN" b="0" i="0" u="none" strike="noStrike" dirty="0" err="1">
                <a:solidFill>
                  <a:srgbClr val="000000"/>
                </a:solidFill>
                <a:effectLst/>
                <a:highlight>
                  <a:srgbClr val="F8F9FA"/>
                </a:highlight>
                <a:latin typeface="Arial" panose="020B0604020202020204" pitchFamily="34" charset="0"/>
              </a:rPr>
              <a:t>Mariéthoz</a:t>
            </a:r>
            <a:r>
              <a:rPr lang="en-US" altLang="zh-CN" b="0" i="0" u="none" strike="noStrike" baseline="30000" dirty="0">
                <a:solidFill>
                  <a:srgbClr val="000000"/>
                </a:solidFill>
                <a:effectLst/>
                <a:latin typeface="Arial" panose="020B0604020202020204" pitchFamily="34" charset="0"/>
                <a:hlinkClick r:id="rId4"/>
              </a:rPr>
              <a:t>[1]</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202</a:t>
            </a:fld>
            <a:endParaRPr lang="en-US"/>
          </a:p>
        </p:txBody>
      </p:sp>
    </p:spTree>
    <p:extLst>
      <p:ext uri="{BB962C8B-B14F-4D97-AF65-F5344CB8AC3E}">
        <p14:creationId xmlns:p14="http://schemas.microsoft.com/office/powerpoint/2010/main" val="185954827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D50AF6DD-051E-413B-8808-23D5AB3BD9E4}" type="slidenum">
              <a:rPr lang="en-US" smtClean="0"/>
              <a:pPr/>
              <a:t>207</a:t>
            </a:fld>
            <a:endParaRPr lang="en-US"/>
          </a:p>
        </p:txBody>
      </p:sp>
    </p:spTree>
    <p:extLst>
      <p:ext uri="{BB962C8B-B14F-4D97-AF65-F5344CB8AC3E}">
        <p14:creationId xmlns:p14="http://schemas.microsoft.com/office/powerpoint/2010/main" val="947645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35101B3-0010-49BE-8236-66B90211FF04}" type="datetime1">
              <a:rPr lang="en-US" altLang="zh-CN" smtClean="0"/>
              <a:pPr/>
              <a:t>4/14/2025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501D8D0-7646-4D22-887C-459A4F2FEB61}" type="slidenum">
              <a:rPr lang="en-US" smtClean="0"/>
              <a:pPr/>
              <a:t>‹N°›</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rgbClr val="C00000"/>
                </a:solidFill>
                <a:latin typeface="Times New Roman" pitchFamily="18" charset="0"/>
                <a:cs typeface="Times New Roman" pitchFamily="18"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fld id="{79694328-A6FB-477A-B9C5-7FEFDBDE1042}" type="datetime1">
              <a:rPr lang="en-US" altLang="zh-CN"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‹N°›</a:t>
            </a:fld>
            <a:endParaRPr lang="en-US"/>
          </a:p>
        </p:txBody>
      </p:sp>
      <p:sp>
        <p:nvSpPr>
          <p:cNvPr id="8" name="Content Placeholder 7"/>
          <p:cNvSpPr>
            <a:spLocks noGrp="1"/>
          </p:cNvSpPr>
          <p:nvPr>
            <p:ph sz="quarter" idx="1"/>
          </p:nvPr>
        </p:nvSpPr>
        <p:spPr>
          <a:xfrm>
            <a:off x="1219200" y="1447800"/>
            <a:ext cx="10363200" cy="4572000"/>
          </a:xfrm>
        </p:spPr>
        <p:txBody>
          <a:bodyPr vert="horz"/>
          <a:lstStyle>
            <a:lvl1pPr>
              <a:buFontTx/>
              <a:buBlip>
                <a:blip r:embed="rId2"/>
              </a:buBlip>
              <a:defRPr/>
            </a:lvl1pPr>
            <a:lvl2pPr>
              <a:buClr>
                <a:srgbClr val="503DDB"/>
              </a:buClr>
              <a:buSzPct val="45000"/>
              <a:buFont typeface="Wingdings" pitchFamily="2" charset="2"/>
              <a:buChar char="q"/>
              <a:defRPr/>
            </a:lvl2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02081" name="Picture 1" descr="E:\resume\logo-tsinghua.jpg"/>
          <p:cNvPicPr>
            <a:picLocks noChangeAspect="1" noChangeArrowheads="1"/>
          </p:cNvPicPr>
          <p:nvPr userDrawn="1"/>
        </p:nvPicPr>
        <p:blipFill>
          <a:blip r:embed="rId3" cstate="print"/>
          <a:srcRect/>
          <a:stretch>
            <a:fillRect/>
          </a:stretch>
        </p:blipFill>
        <p:spPr bwMode="auto">
          <a:xfrm>
            <a:off x="9135414" y="90152"/>
            <a:ext cx="2727375" cy="643813"/>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5629C65-C267-4342-9116-A00B6E7C55AD}" type="datetime1">
              <a:rPr lang="en-US" altLang="zh-CN" smtClean="0"/>
              <a:pPr/>
              <a:t>4/14/2025</a:t>
            </a:fld>
            <a:endParaRPr lang="en-US"/>
          </a:p>
        </p:txBody>
      </p:sp>
      <p:sp>
        <p:nvSpPr>
          <p:cNvPr id="5" name="Footer Placeholder 4"/>
          <p:cNvSpPr>
            <a:spLocks noGrp="1"/>
          </p:cNvSpPr>
          <p:nvPr>
            <p:ph type="ftr" sz="quarter" idx="11"/>
          </p:nvPr>
        </p:nvSpPr>
        <p:spPr>
          <a:xfrm>
            <a:off x="1066800" y="6172200"/>
            <a:ext cx="5334000" cy="457200"/>
          </a:xfrm>
        </p:spPr>
        <p:txBody>
          <a:bodyPr/>
          <a:lstStyle/>
          <a:p>
            <a:endParaRPr lang="en-US"/>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195072" y="6208776"/>
            <a:ext cx="609600" cy="457200"/>
          </a:xfrm>
        </p:spPr>
        <p:txBody>
          <a:bodyPr/>
          <a:lstStyle/>
          <a:p>
            <a:fld id="{5501D8D0-7646-4D22-887C-459A4F2FEB61}" type="slidenum">
              <a:rPr lang="en-US" smtClean="0"/>
              <a:pPr/>
              <a:t>‹N°›</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BC48BA6D-2268-450C-9E6F-6553A2809D14}" type="datetime1">
              <a:rPr lang="en-US" altLang="zh-CN"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01D8D0-7646-4D22-887C-459A4F2FEB61}" type="slidenum">
              <a:rPr lang="en-US" smtClean="0"/>
              <a:pPr/>
              <a:t>‹N°›</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1976173-FFAF-40B2-BD71-0C474124F5CA}" type="datetime1">
              <a:rPr lang="en-US" altLang="zh-CN" smtClean="0"/>
              <a:pPr/>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01D8D0-7646-4D22-887C-459A4F2FEB61}" type="slidenum">
              <a:rPr lang="en-US" smtClean="0"/>
              <a:pPr/>
              <a:t>‹N°›</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2EAAC5F-3C7D-47E2-8137-0D0E13270C17}" type="datetime1">
              <a:rPr lang="en-US" altLang="zh-CN" smtClean="0"/>
              <a:pPr/>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01D8D0-7646-4D22-887C-459A4F2FEB61}"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B44C75-2845-4A49-8407-B10E57DDCB66}" type="datetime1">
              <a:rPr lang="en-US" altLang="zh-CN" smtClean="0"/>
              <a:pPr/>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01D8D0-7646-4D22-887C-459A4F2FEB61}"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49D93C6-C0E5-4C94-83B0-EBE524181AA9}" type="datetime1">
              <a:rPr lang="en-US" altLang="zh-CN"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01D8D0-7646-4D22-887C-459A4F2FEB61}" type="slidenum">
              <a:rPr lang="en-US" smtClean="0"/>
              <a:pPr/>
              <a:t>‹N°›</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5A46CFF-7119-486E-A242-14937EB72380}" type="datetime1">
              <a:rPr lang="en-US" altLang="zh-CN" smtClean="0"/>
              <a:pPr/>
              <a:t>4/14/2025</a:t>
            </a:fld>
            <a:endParaRPr lang="en-US"/>
          </a:p>
        </p:txBody>
      </p:sp>
      <p:sp>
        <p:nvSpPr>
          <p:cNvPr id="6" name="Footer Placeholder 5"/>
          <p:cNvSpPr>
            <a:spLocks noGrp="1"/>
          </p:cNvSpPr>
          <p:nvPr>
            <p:ph type="ftr" sz="quarter" idx="11"/>
          </p:nvPr>
        </p:nvSpPr>
        <p:spPr>
          <a:xfrm>
            <a:off x="1219200" y="6172200"/>
            <a:ext cx="5181600" cy="457200"/>
          </a:xfrm>
        </p:spPr>
        <p:txBody>
          <a:bodyPr/>
          <a:lstStyle/>
          <a:p>
            <a:endParaRPr lang="en-US"/>
          </a:p>
        </p:txBody>
      </p:sp>
      <p:sp>
        <p:nvSpPr>
          <p:cNvPr id="7" name="Slide Number Placeholder 6"/>
          <p:cNvSpPr>
            <a:spLocks noGrp="1"/>
          </p:cNvSpPr>
          <p:nvPr>
            <p:ph type="sldNum" sz="quarter" idx="12"/>
          </p:nvPr>
        </p:nvSpPr>
        <p:spPr>
          <a:xfrm>
            <a:off x="195072" y="6208776"/>
            <a:ext cx="609600" cy="457200"/>
          </a:xfrm>
        </p:spPr>
        <p:txBody>
          <a:bodyPr/>
          <a:lstStyle/>
          <a:p>
            <a:fld id="{5501D8D0-7646-4D22-887C-459A4F2FEB61}" type="slidenum">
              <a:rPr lang="en-US" smtClean="0"/>
              <a:pPr/>
              <a:t>‹N°›</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C97D574-52BE-4187-8AF7-E201A70CB6DC}" type="datetime1">
              <a:rPr lang="en-US" altLang="zh-CN"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CC6442-F0BB-4DBA-B030-4A0192701801}" type="datetime1">
              <a:rPr lang="en-US" altLang="zh-CN"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5101B3-0010-49BE-8236-66B90211FF04}"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17" name="Footer Placeholder 16"/>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353889758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rgbClr val="C00000"/>
                </a:solidFill>
                <a:latin typeface="Times New Roman" pitchFamily="18" charset="0"/>
                <a:cs typeface="Times New Roman" pitchFamily="18"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694328-A6FB-477A-B9C5-7FEFDBDE1042}"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8" name="Content Placeholder 7"/>
          <p:cNvSpPr>
            <a:spLocks noGrp="1"/>
          </p:cNvSpPr>
          <p:nvPr>
            <p:ph sz="quarter" idx="1"/>
          </p:nvPr>
        </p:nvSpPr>
        <p:spPr>
          <a:xfrm>
            <a:off x="1219200" y="1447800"/>
            <a:ext cx="10363200" cy="4572000"/>
          </a:xfrm>
        </p:spPr>
        <p:txBody>
          <a:bodyPr vert="horz"/>
          <a:lstStyle>
            <a:lvl1pPr>
              <a:buFontTx/>
              <a:buBlip>
                <a:blip r:embed="rId2"/>
              </a:buBlip>
              <a:defRPr/>
            </a:lvl1pPr>
            <a:lvl2pPr>
              <a:buClr>
                <a:srgbClr val="503DDB"/>
              </a:buClr>
              <a:buSzPct val="45000"/>
              <a:buFont typeface="Wingdings" pitchFamily="2" charset="2"/>
              <a:buChar char="q"/>
              <a:defRPr/>
            </a:lvl2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02081" name="Picture 1" descr="E:\resume\logo-tsinghua.jpg"/>
          <p:cNvPicPr>
            <a:picLocks noChangeAspect="1" noChangeArrowheads="1"/>
          </p:cNvPicPr>
          <p:nvPr userDrawn="1"/>
        </p:nvPicPr>
        <p:blipFill>
          <a:blip r:embed="rId3" cstate="print"/>
          <a:srcRect/>
          <a:stretch>
            <a:fillRect/>
          </a:stretch>
        </p:blipFill>
        <p:spPr bwMode="auto">
          <a:xfrm>
            <a:off x="9135414" y="90152"/>
            <a:ext cx="2727375" cy="643813"/>
          </a:xfrm>
          <a:prstGeom prst="rect">
            <a:avLst/>
          </a:prstGeom>
          <a:noFill/>
        </p:spPr>
      </p:pic>
    </p:spTree>
    <p:extLst>
      <p:ext uri="{BB962C8B-B14F-4D97-AF65-F5344CB8AC3E}">
        <p14:creationId xmlns:p14="http://schemas.microsoft.com/office/powerpoint/2010/main" val="3907141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629C65-C267-4342-9116-A00B6E7C55AD}"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a:xfrm>
            <a:off x="1066800" y="6172200"/>
            <a:ext cx="53340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6" name="Slide Number Placeholder 5"/>
          <p:cNvSpPr>
            <a:spLocks noGrp="1"/>
          </p:cNvSpPr>
          <p:nvPr>
            <p:ph type="sldNum" sz="quarter" idx="12"/>
          </p:nvPr>
        </p:nvSpPr>
        <p:spPr>
          <a:xfrm>
            <a:off x="195072" y="6208776"/>
            <a:ext cx="6096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89172523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48BA6D-2268-450C-9E6F-6553A2809D14}"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286584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976173-FFAF-40B2-BD71-0C474124F5CA}"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035061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EAAC5F-3C7D-47E2-8137-0D0E13270C17}"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981945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B44C75-2845-4A49-8407-B10E57DDCB66}"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1855381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D93C6-C0E5-4C94-83B0-EBE524181AA9}"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2437675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A46CFF-7119-486E-A242-14937EB72380}"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a:xfrm>
            <a:off x="1219200" y="6172200"/>
            <a:ext cx="51816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a:xfrm>
            <a:off x="195072" y="6208776"/>
            <a:ext cx="6096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38751303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97D574-52BE-4187-8AF7-E201A70CB6DC}"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9575697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CC6442-F0BB-4DBA-B030-4A0192701801}"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9215679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5101B3-0010-49BE-8236-66B90211FF04}"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17" name="Footer Placeholder 16"/>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425481522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rgbClr val="C00000"/>
                </a:solidFill>
                <a:latin typeface="Times New Roman" pitchFamily="18" charset="0"/>
                <a:cs typeface="Times New Roman" pitchFamily="18"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694328-A6FB-477A-B9C5-7FEFDBDE1042}"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8" name="Content Placeholder 7"/>
          <p:cNvSpPr>
            <a:spLocks noGrp="1"/>
          </p:cNvSpPr>
          <p:nvPr>
            <p:ph sz="quarter" idx="1"/>
          </p:nvPr>
        </p:nvSpPr>
        <p:spPr>
          <a:xfrm>
            <a:off x="1219200" y="1447800"/>
            <a:ext cx="10363200" cy="4572000"/>
          </a:xfrm>
        </p:spPr>
        <p:txBody>
          <a:bodyPr vert="horz"/>
          <a:lstStyle>
            <a:lvl1pPr>
              <a:buFontTx/>
              <a:buBlip>
                <a:blip r:embed="rId2"/>
              </a:buBlip>
              <a:defRPr/>
            </a:lvl1pPr>
            <a:lvl2pPr>
              <a:buClr>
                <a:srgbClr val="503DDB"/>
              </a:buClr>
              <a:buSzPct val="45000"/>
              <a:buFont typeface="Wingdings" pitchFamily="2" charset="2"/>
              <a:buChar char="q"/>
              <a:defRPr/>
            </a:lvl2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02081" name="Picture 1" descr="E:\resume\logo-tsinghua.jpg"/>
          <p:cNvPicPr>
            <a:picLocks noChangeAspect="1" noChangeArrowheads="1"/>
          </p:cNvPicPr>
          <p:nvPr userDrawn="1"/>
        </p:nvPicPr>
        <p:blipFill>
          <a:blip r:embed="rId3" cstate="print"/>
          <a:srcRect/>
          <a:stretch>
            <a:fillRect/>
          </a:stretch>
        </p:blipFill>
        <p:spPr bwMode="auto">
          <a:xfrm>
            <a:off x="9135414" y="90152"/>
            <a:ext cx="2727375" cy="643813"/>
          </a:xfrm>
          <a:prstGeom prst="rect">
            <a:avLst/>
          </a:prstGeom>
          <a:noFill/>
        </p:spPr>
      </p:pic>
    </p:spTree>
    <p:extLst>
      <p:ext uri="{BB962C8B-B14F-4D97-AF65-F5344CB8AC3E}">
        <p14:creationId xmlns:p14="http://schemas.microsoft.com/office/powerpoint/2010/main" val="28252901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629C65-C267-4342-9116-A00B6E7C55AD}"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a:xfrm>
            <a:off x="1066800" y="6172200"/>
            <a:ext cx="53340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6" name="Slide Number Placeholder 5"/>
          <p:cNvSpPr>
            <a:spLocks noGrp="1"/>
          </p:cNvSpPr>
          <p:nvPr>
            <p:ph type="sldNum" sz="quarter" idx="12"/>
          </p:nvPr>
        </p:nvSpPr>
        <p:spPr>
          <a:xfrm>
            <a:off x="195072" y="6208776"/>
            <a:ext cx="6096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60009737"/>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48BA6D-2268-450C-9E6F-6553A2809D14}"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229172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976173-FFAF-40B2-BD71-0C474124F5CA}"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657296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EAAC5F-3C7D-47E2-8137-0D0E13270C17}"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3374603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B44C75-2845-4A49-8407-B10E57DDCB66}"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1981684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D93C6-C0E5-4C94-83B0-EBE524181AA9}"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7634484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A46CFF-7119-486E-A242-14937EB72380}"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a:xfrm>
            <a:off x="1219200" y="6172200"/>
            <a:ext cx="51816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a:xfrm>
            <a:off x="195072" y="6208776"/>
            <a:ext cx="6096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18121449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97D574-52BE-4187-8AF7-E201A70CB6DC}"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908270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CC6442-F0BB-4DBA-B030-4A0192701801}"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3355076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5101B3-0010-49BE-8236-66B90211FF04}"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17" name="Footer Placeholder 16"/>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2707675115"/>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rgbClr val="C00000"/>
                </a:solidFill>
                <a:latin typeface="Times New Roman" pitchFamily="18" charset="0"/>
                <a:cs typeface="Times New Roman" pitchFamily="18"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694328-A6FB-477A-B9C5-7FEFDBDE1042}"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8" name="Content Placeholder 7"/>
          <p:cNvSpPr>
            <a:spLocks noGrp="1"/>
          </p:cNvSpPr>
          <p:nvPr>
            <p:ph sz="quarter" idx="1"/>
          </p:nvPr>
        </p:nvSpPr>
        <p:spPr>
          <a:xfrm>
            <a:off x="1219200" y="1447800"/>
            <a:ext cx="10363200" cy="4572000"/>
          </a:xfrm>
        </p:spPr>
        <p:txBody>
          <a:bodyPr vert="horz"/>
          <a:lstStyle>
            <a:lvl1pPr>
              <a:buFontTx/>
              <a:buBlip>
                <a:blip r:embed="rId2"/>
              </a:buBlip>
              <a:defRPr/>
            </a:lvl1pPr>
            <a:lvl2pPr>
              <a:buClr>
                <a:srgbClr val="503DDB"/>
              </a:buClr>
              <a:buSzPct val="45000"/>
              <a:buFont typeface="Wingdings" pitchFamily="2" charset="2"/>
              <a:buChar char="q"/>
              <a:defRPr/>
            </a:lvl2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02081" name="Picture 1" descr="E:\resume\logo-tsinghua.jpg"/>
          <p:cNvPicPr>
            <a:picLocks noChangeAspect="1" noChangeArrowheads="1"/>
          </p:cNvPicPr>
          <p:nvPr userDrawn="1"/>
        </p:nvPicPr>
        <p:blipFill>
          <a:blip r:embed="rId3" cstate="print"/>
          <a:srcRect/>
          <a:stretch>
            <a:fillRect/>
          </a:stretch>
        </p:blipFill>
        <p:spPr bwMode="auto">
          <a:xfrm>
            <a:off x="9135414" y="90152"/>
            <a:ext cx="2727375" cy="643813"/>
          </a:xfrm>
          <a:prstGeom prst="rect">
            <a:avLst/>
          </a:prstGeom>
          <a:noFill/>
        </p:spPr>
      </p:pic>
    </p:spTree>
    <p:extLst>
      <p:ext uri="{BB962C8B-B14F-4D97-AF65-F5344CB8AC3E}">
        <p14:creationId xmlns:p14="http://schemas.microsoft.com/office/powerpoint/2010/main" val="27765030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629C65-C267-4342-9116-A00B6E7C55AD}"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a:xfrm>
            <a:off x="1066800" y="6172200"/>
            <a:ext cx="53340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6" name="Slide Number Placeholder 5"/>
          <p:cNvSpPr>
            <a:spLocks noGrp="1"/>
          </p:cNvSpPr>
          <p:nvPr>
            <p:ph type="sldNum" sz="quarter" idx="12"/>
          </p:nvPr>
        </p:nvSpPr>
        <p:spPr>
          <a:xfrm>
            <a:off x="195072" y="6208776"/>
            <a:ext cx="6096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25989028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48BA6D-2268-450C-9E6F-6553A2809D14}"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135047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976173-FFAF-40B2-BD71-0C474124F5CA}"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728629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EAAC5F-3C7D-47E2-8137-0D0E13270C17}"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5245876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B44C75-2845-4A49-8407-B10E57DDCB66}"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0081241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D93C6-C0E5-4C94-83B0-EBE524181AA9}"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5237513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A46CFF-7119-486E-A242-14937EB72380}"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Footer Placeholder 5"/>
          <p:cNvSpPr>
            <a:spLocks noGrp="1"/>
          </p:cNvSpPr>
          <p:nvPr>
            <p:ph type="ftr" sz="quarter" idx="11"/>
          </p:nvPr>
        </p:nvSpPr>
        <p:spPr>
          <a:xfrm>
            <a:off x="1219200" y="6172200"/>
            <a:ext cx="51816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7" name="Slide Number Placeholder 6"/>
          <p:cNvSpPr>
            <a:spLocks noGrp="1"/>
          </p:cNvSpPr>
          <p:nvPr>
            <p:ph type="sldNum" sz="quarter" idx="12"/>
          </p:nvPr>
        </p:nvSpPr>
        <p:spPr>
          <a:xfrm>
            <a:off x="195072" y="6208776"/>
            <a:ext cx="6096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23478908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97D574-52BE-4187-8AF7-E201A70CB6DC}"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5627918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CC6442-F0BB-4DBA-B030-4A0192701801}"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89972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35101B3-0010-49BE-8236-66B90211FF04}" type="datetime1">
              <a:rPr lang="en-US" altLang="zh-CN" smtClean="0">
                <a:solidFill>
                  <a:srgbClr val="696464"/>
                </a:solidFill>
              </a:rPr>
              <a:pPr/>
              <a:t>4/14/2025</a:t>
            </a:fld>
            <a:endParaRPr lang="en-US">
              <a:solidFill>
                <a:srgbClr val="696464"/>
              </a:solidFill>
            </a:endParaRPr>
          </a:p>
        </p:txBody>
      </p:sp>
      <p:sp>
        <p:nvSpPr>
          <p:cNvPr id="17" name="Footer Placeholder 16"/>
          <p:cNvSpPr>
            <a:spLocks noGrp="1"/>
          </p:cNvSpPr>
          <p:nvPr>
            <p:ph type="ftr" sz="quarter" idx="11"/>
          </p:nvPr>
        </p:nvSpPr>
        <p:spPr/>
        <p:txBody>
          <a:bodyPr/>
          <a:lstStyle/>
          <a:p>
            <a:endParaRPr lang="en-US">
              <a:solidFill>
                <a:srgbClr val="696464"/>
              </a:solidFill>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501D8D0-7646-4D22-887C-459A4F2FEB61}" type="slidenum">
              <a:rPr lang="en-US" smtClean="0"/>
              <a:pPr/>
              <a:t>‹N°›</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425350965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rgbClr val="C00000"/>
                </a:solidFill>
                <a:latin typeface="Times New Roman" pitchFamily="18" charset="0"/>
                <a:cs typeface="Times New Roman" pitchFamily="18"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fld id="{79694328-A6FB-477A-B9C5-7FEFDBDE1042}" type="datetime1">
              <a:rPr lang="en-US" altLang="zh-CN" smtClean="0">
                <a:solidFill>
                  <a:srgbClr val="696464"/>
                </a:solidFill>
              </a:rPr>
              <a:pPr/>
              <a:t>4/14/2025</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5501D8D0-7646-4D22-887C-459A4F2FEB61}" type="slidenum">
              <a:rPr lang="en-US" smtClean="0"/>
              <a:pPr/>
              <a:t>‹N°›</a:t>
            </a:fld>
            <a:endParaRPr lang="en-US"/>
          </a:p>
        </p:txBody>
      </p:sp>
      <p:sp>
        <p:nvSpPr>
          <p:cNvPr id="8" name="Content Placeholder 7"/>
          <p:cNvSpPr>
            <a:spLocks noGrp="1"/>
          </p:cNvSpPr>
          <p:nvPr>
            <p:ph sz="quarter" idx="1"/>
          </p:nvPr>
        </p:nvSpPr>
        <p:spPr>
          <a:xfrm>
            <a:off x="1219200" y="1447800"/>
            <a:ext cx="10363200" cy="4572000"/>
          </a:xfrm>
        </p:spPr>
        <p:txBody>
          <a:bodyPr vert="horz"/>
          <a:lstStyle>
            <a:lvl1pPr>
              <a:buFontTx/>
              <a:buBlip>
                <a:blip r:embed="rId2"/>
              </a:buBlip>
              <a:defRPr/>
            </a:lvl1pPr>
            <a:lvl2pPr>
              <a:buClr>
                <a:srgbClr val="503DDB"/>
              </a:buClr>
              <a:buSzPct val="45000"/>
              <a:buFont typeface="Wingdings" pitchFamily="2" charset="2"/>
              <a:buChar char="q"/>
              <a:defRPr/>
            </a:lvl2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02081" name="Picture 1" descr="E:\resume\logo-tsinghua.jpg"/>
          <p:cNvPicPr>
            <a:picLocks noChangeAspect="1" noChangeArrowheads="1"/>
          </p:cNvPicPr>
          <p:nvPr userDrawn="1"/>
        </p:nvPicPr>
        <p:blipFill>
          <a:blip r:embed="rId3" cstate="print"/>
          <a:srcRect/>
          <a:stretch>
            <a:fillRect/>
          </a:stretch>
        </p:blipFill>
        <p:spPr bwMode="auto">
          <a:xfrm>
            <a:off x="9135414" y="90152"/>
            <a:ext cx="2727375" cy="643813"/>
          </a:xfrm>
          <a:prstGeom prst="rect">
            <a:avLst/>
          </a:prstGeom>
          <a:noFill/>
        </p:spPr>
      </p:pic>
    </p:spTree>
    <p:extLst>
      <p:ext uri="{BB962C8B-B14F-4D97-AF65-F5344CB8AC3E}">
        <p14:creationId xmlns:p14="http://schemas.microsoft.com/office/powerpoint/2010/main" val="20515162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5629C65-C267-4342-9116-A00B6E7C55AD}" type="datetime1">
              <a:rPr lang="en-US" altLang="zh-CN" smtClean="0">
                <a:solidFill>
                  <a:srgbClr val="696464"/>
                </a:solidFill>
              </a:rPr>
              <a:pPr/>
              <a:t>4/14/2025</a:t>
            </a:fld>
            <a:endParaRPr lang="en-US">
              <a:solidFill>
                <a:srgbClr val="696464"/>
              </a:solidFill>
            </a:endParaRPr>
          </a:p>
        </p:txBody>
      </p:sp>
      <p:sp>
        <p:nvSpPr>
          <p:cNvPr id="5" name="Footer Placeholder 4"/>
          <p:cNvSpPr>
            <a:spLocks noGrp="1"/>
          </p:cNvSpPr>
          <p:nvPr>
            <p:ph type="ftr" sz="quarter" idx="11"/>
          </p:nvPr>
        </p:nvSpPr>
        <p:spPr>
          <a:xfrm>
            <a:off x="1066800" y="6172200"/>
            <a:ext cx="5334000" cy="457200"/>
          </a:xfrm>
        </p:spPr>
        <p:txBody>
          <a:bodyPr/>
          <a:lstStyle/>
          <a:p>
            <a:endParaRPr lang="en-US">
              <a:solidFill>
                <a:srgbClr val="696464"/>
              </a:solidFill>
            </a:endParaRPr>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6" name="Slide Number Placeholder 5"/>
          <p:cNvSpPr>
            <a:spLocks noGrp="1"/>
          </p:cNvSpPr>
          <p:nvPr>
            <p:ph type="sldNum" sz="quarter" idx="12"/>
          </p:nvPr>
        </p:nvSpPr>
        <p:spPr>
          <a:xfrm>
            <a:off x="195072" y="6208776"/>
            <a:ext cx="609600" cy="457200"/>
          </a:xfrm>
        </p:spPr>
        <p:txBody>
          <a:bodyPr/>
          <a:lstStyle/>
          <a:p>
            <a:fld id="{5501D8D0-7646-4D22-887C-459A4F2FEB61}" type="slidenum">
              <a:rPr lang="en-US" smtClean="0"/>
              <a:pPr/>
              <a:t>‹N°›</a:t>
            </a:fld>
            <a:endParaRPr lang="en-US"/>
          </a:p>
        </p:txBody>
      </p:sp>
    </p:spTree>
    <p:extLst>
      <p:ext uri="{BB962C8B-B14F-4D97-AF65-F5344CB8AC3E}">
        <p14:creationId xmlns:p14="http://schemas.microsoft.com/office/powerpoint/2010/main" val="1594221221"/>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BC48BA6D-2268-450C-9E6F-6553A2809D14}" type="datetime1">
              <a:rPr lang="en-US" altLang="zh-CN" smtClean="0">
                <a:solidFill>
                  <a:srgbClr val="696464"/>
                </a:solidFill>
              </a:rPr>
              <a:pPr/>
              <a:t>4/14/2025</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5501D8D0-7646-4D22-887C-459A4F2FEB61}" type="slidenum">
              <a:rPr lang="en-US" smtClean="0"/>
              <a:pPr/>
              <a:t>‹N°›</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278131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1976173-FFAF-40B2-BD71-0C474124F5CA}" type="datetime1">
              <a:rPr lang="en-US" altLang="zh-CN" smtClean="0">
                <a:solidFill>
                  <a:srgbClr val="696464"/>
                </a:solidFill>
              </a:rPr>
              <a:pPr/>
              <a:t>4/14/2025</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5501D8D0-7646-4D22-887C-459A4F2FEB61}" type="slidenum">
              <a:rPr lang="en-US" smtClean="0"/>
              <a:pPr/>
              <a:t>‹N°›</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2194719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2EAAC5F-3C7D-47E2-8137-0D0E13270C17}" type="datetime1">
              <a:rPr lang="en-US" altLang="zh-CN" smtClean="0">
                <a:solidFill>
                  <a:srgbClr val="696464"/>
                </a:solidFill>
              </a:rPr>
              <a:pPr/>
              <a:t>4/14/2025</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5501D8D0-7646-4D22-887C-459A4F2FEB61}" type="slidenum">
              <a:rPr lang="en-US" smtClean="0"/>
              <a:pPr/>
              <a:t>‹N°›</a:t>
            </a:fld>
            <a:endParaRPr lang="en-US"/>
          </a:p>
        </p:txBody>
      </p:sp>
    </p:spTree>
    <p:extLst>
      <p:ext uri="{BB962C8B-B14F-4D97-AF65-F5344CB8AC3E}">
        <p14:creationId xmlns:p14="http://schemas.microsoft.com/office/powerpoint/2010/main" val="37397222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B44C75-2845-4A49-8407-B10E57DDCB66}" type="datetime1">
              <a:rPr lang="en-US" altLang="zh-CN" smtClean="0">
                <a:solidFill>
                  <a:srgbClr val="696464"/>
                </a:solidFill>
              </a:rPr>
              <a:pPr/>
              <a:t>4/14/2025</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5501D8D0-7646-4D22-887C-459A4F2FEB61}" type="slidenum">
              <a:rPr lang="en-US" smtClean="0"/>
              <a:pPr/>
              <a:t>‹N°›</a:t>
            </a:fld>
            <a:endParaRPr lang="en-US"/>
          </a:p>
        </p:txBody>
      </p:sp>
    </p:spTree>
    <p:extLst>
      <p:ext uri="{BB962C8B-B14F-4D97-AF65-F5344CB8AC3E}">
        <p14:creationId xmlns:p14="http://schemas.microsoft.com/office/powerpoint/2010/main" val="41118086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49D93C6-C0E5-4C94-83B0-EBE524181AA9}" type="datetime1">
              <a:rPr lang="en-US" altLang="zh-CN" smtClean="0">
                <a:solidFill>
                  <a:srgbClr val="696464"/>
                </a:solidFill>
              </a:rPr>
              <a:pPr/>
              <a:t>4/14/2025</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5501D8D0-7646-4D22-887C-459A4F2FEB61}" type="slidenum">
              <a:rPr lang="en-US" smtClean="0"/>
              <a:pPr/>
              <a:t>‹N°›</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570382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5A46CFF-7119-486E-A242-14937EB72380}" type="datetime1">
              <a:rPr lang="en-US" altLang="zh-CN" smtClean="0">
                <a:solidFill>
                  <a:srgbClr val="696464"/>
                </a:solidFill>
              </a:rPr>
              <a:pPr/>
              <a:t>4/14/2025</a:t>
            </a:fld>
            <a:endParaRPr lang="en-US">
              <a:solidFill>
                <a:srgbClr val="696464"/>
              </a:solidFill>
            </a:endParaRPr>
          </a:p>
        </p:txBody>
      </p:sp>
      <p:sp>
        <p:nvSpPr>
          <p:cNvPr id="6" name="Footer Placeholder 5"/>
          <p:cNvSpPr>
            <a:spLocks noGrp="1"/>
          </p:cNvSpPr>
          <p:nvPr>
            <p:ph type="ftr" sz="quarter" idx="11"/>
          </p:nvPr>
        </p:nvSpPr>
        <p:spPr>
          <a:xfrm>
            <a:off x="1219200" y="6172200"/>
            <a:ext cx="5181600" cy="457200"/>
          </a:xfrm>
        </p:spPr>
        <p:txBody>
          <a:bodyPr/>
          <a:lstStyle/>
          <a:p>
            <a:endParaRPr lang="en-US">
              <a:solidFill>
                <a:srgbClr val="696464"/>
              </a:solidFill>
            </a:endParaRPr>
          </a:p>
        </p:txBody>
      </p:sp>
      <p:sp>
        <p:nvSpPr>
          <p:cNvPr id="7" name="Slide Number Placeholder 6"/>
          <p:cNvSpPr>
            <a:spLocks noGrp="1"/>
          </p:cNvSpPr>
          <p:nvPr>
            <p:ph type="sldNum" sz="quarter" idx="12"/>
          </p:nvPr>
        </p:nvSpPr>
        <p:spPr>
          <a:xfrm>
            <a:off x="195072" y="6208776"/>
            <a:ext cx="609600" cy="457200"/>
          </a:xfrm>
        </p:spPr>
        <p:txBody>
          <a:bodyPr/>
          <a:lstStyle/>
          <a:p>
            <a:fld id="{5501D8D0-7646-4D22-887C-459A4F2FEB61}" type="slidenum">
              <a:rPr lang="en-US" smtClean="0"/>
              <a:pPr/>
              <a:t>‹N°›</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5192046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C97D574-52BE-4187-8AF7-E201A70CB6DC}" type="datetime1">
              <a:rPr lang="en-US" altLang="zh-CN" smtClean="0">
                <a:solidFill>
                  <a:srgbClr val="696464"/>
                </a:solidFill>
              </a:rPr>
              <a:pPr/>
              <a:t>4/14/2025</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5501D8D0-7646-4D22-887C-459A4F2FEB61}" type="slidenum">
              <a:rPr lang="en-US" smtClean="0"/>
              <a:pPr/>
              <a:t>‹N°›</a:t>
            </a:fld>
            <a:endParaRPr lang="en-US"/>
          </a:p>
        </p:txBody>
      </p:sp>
    </p:spTree>
    <p:extLst>
      <p:ext uri="{BB962C8B-B14F-4D97-AF65-F5344CB8AC3E}">
        <p14:creationId xmlns:p14="http://schemas.microsoft.com/office/powerpoint/2010/main" val="4198491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CC6442-F0BB-4DBA-B030-4A0192701801}" type="datetime1">
              <a:rPr lang="en-US" altLang="zh-CN" smtClean="0">
                <a:solidFill>
                  <a:srgbClr val="696464"/>
                </a:solidFill>
              </a:rPr>
              <a:pPr/>
              <a:t>4/14/2025</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5501D8D0-7646-4D22-887C-459A4F2FEB61}" type="slidenum">
              <a:rPr lang="en-US" smtClean="0"/>
              <a:pPr/>
              <a:t>‹N°›</a:t>
            </a:fld>
            <a:endParaRPr lang="en-US"/>
          </a:p>
        </p:txBody>
      </p:sp>
    </p:spTree>
    <p:extLst>
      <p:ext uri="{BB962C8B-B14F-4D97-AF65-F5344CB8AC3E}">
        <p14:creationId xmlns:p14="http://schemas.microsoft.com/office/powerpoint/2010/main" val="4249737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917F057F-A64E-4BDF-9C5A-7B9C1755BBD0}" type="datetime1">
              <a:rPr lang="en-US" altLang="zh-CN" smtClean="0"/>
              <a:pPr/>
              <a:t>4/14/2025</a:t>
            </a:fld>
            <a:endParaRPr lang="en-US"/>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501D8D0-7646-4D22-887C-459A4F2FEB61}"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17F057F-A64E-4BDF-9C5A-7B9C1755BBD0}"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85584789"/>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17F057F-A64E-4BDF-9C5A-7B9C1755BBD0}"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112952214"/>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17F057F-A64E-4BDF-9C5A-7B9C1755BBD0}" type="datetime1">
              <a:rPr kumimoji="0" lang="en-US" altLang="zh-CN" sz="1400" b="0" i="0" u="none" strike="noStrike" kern="1200" cap="none" spc="0" normalizeH="0" baseline="0" noProof="0" smtClean="0">
                <a:ln>
                  <a:noFill/>
                </a:ln>
                <a:solidFill>
                  <a:srgbClr val="696464"/>
                </a:solidFill>
                <a:effectLst/>
                <a:uLnTx/>
                <a:uFillTx/>
                <a:latin typeface="Perpetua"/>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4/14/2025</a:t>
            </a:fld>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696464"/>
              </a:solidFill>
              <a:effectLst/>
              <a:uLnTx/>
              <a:uFillTx/>
              <a:latin typeface="Perpetua"/>
              <a:ea typeface="+mn-ea"/>
              <a:cs typeface="+mn-cs"/>
            </a:endParaRPr>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501D8D0-7646-4D22-887C-459A4F2FEB61}"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73340988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erpetua"/>
              <a:ea typeface="+mn-ea"/>
              <a:cs typeface="+mn-cs"/>
            </a:endParaRPr>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917F057F-A64E-4BDF-9C5A-7B9C1755BBD0}" type="datetime1">
              <a:rPr lang="en-US" altLang="zh-CN" smtClean="0">
                <a:solidFill>
                  <a:srgbClr val="696464"/>
                </a:solidFill>
              </a:rPr>
              <a:pPr/>
              <a:t>4/14/2025</a:t>
            </a:fld>
            <a:endParaRPr lang="en-US">
              <a:solidFill>
                <a:srgbClr val="696464"/>
              </a:solidFill>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solidFill>
                <a:srgbClr val="696464"/>
              </a:solidFill>
            </a:endParaRPr>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501D8D0-7646-4D22-887C-459A4F2FEB61}" type="slidenum">
              <a:rPr lang="en-US" smtClean="0"/>
              <a:pPr/>
              <a:t>‹N°›</a:t>
            </a:fld>
            <a:endParaRPr lang="en-US"/>
          </a:p>
        </p:txBody>
      </p:sp>
    </p:spTree>
    <p:extLst>
      <p:ext uri="{BB962C8B-B14F-4D97-AF65-F5344CB8AC3E}">
        <p14:creationId xmlns:p14="http://schemas.microsoft.com/office/powerpoint/2010/main" val="190262193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5.jpeg"/><Relationship Id="rId7" Type="http://schemas.openxmlformats.org/officeDocument/2006/relationships/image" Target="../media/image6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jpeg"/><Relationship Id="rId4" Type="http://schemas.openxmlformats.org/officeDocument/2006/relationships/image" Target="../media/image64.png"/></Relationships>
</file>

<file path=ppt/slides/_rels/slide34.xml.rels><?xml version="1.0" encoding="UTF-8" standalone="yes"?>
<Relationships xmlns="http://schemas.openxmlformats.org/package/2006/relationships"><Relationship Id="rId3" Type="http://schemas.openxmlformats.org/officeDocument/2006/relationships/image" Target="../media/image65.jpeg"/><Relationship Id="rId7"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jpeg"/><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71.jpeg"/><Relationship Id="rId4" Type="http://schemas.openxmlformats.org/officeDocument/2006/relationships/image" Target="../media/image70.jpg"/></Relationships>
</file>

<file path=ppt/slides/_rels/slide36.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0.jpg"/></Relationships>
</file>

<file path=ppt/slides/_rels/slide3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6.jpeg"/></Relationships>
</file>

<file path=ppt/slides/_rels/slide3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2.gif"/><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4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4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png"/></Relationships>
</file>

<file path=ppt/slides/_rels/slide48.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49.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5.png"/><Relationship Id="rId7" Type="http://schemas.openxmlformats.org/officeDocument/2006/relationships/image" Target="../media/image110.png"/><Relationship Id="rId12" Type="http://schemas.openxmlformats.org/officeDocument/2006/relationships/image" Target="../media/image115.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s>
</file>

<file path=ppt/slides/_rels/slide50.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51.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781.png"/><Relationship Id="rId3" Type="http://schemas.openxmlformats.org/officeDocument/2006/relationships/image" Target="../media/image121.png"/><Relationship Id="rId7" Type="http://schemas.openxmlformats.org/officeDocument/2006/relationships/image" Target="../media/image772.png"/><Relationship Id="rId12" Type="http://schemas.openxmlformats.org/officeDocument/2006/relationships/image" Target="../media/image123.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22.png"/><Relationship Id="rId11" Type="http://schemas.openxmlformats.org/officeDocument/2006/relationships/image" Target="../media/image741.png"/><Relationship Id="rId5" Type="http://schemas.openxmlformats.org/officeDocument/2006/relationships/image" Target="../media/image612.png"/><Relationship Id="rId10" Type="http://schemas.openxmlformats.org/officeDocument/2006/relationships/image" Target="../media/image660.png"/><Relationship Id="rId4" Type="http://schemas.openxmlformats.org/officeDocument/2006/relationships/image" Target="../media/image600.png"/><Relationship Id="rId9" Type="http://schemas.openxmlformats.org/officeDocument/2006/relationships/image" Target="../media/image650.png"/></Relationships>
</file>

<file path=ppt/slides/_rels/slide52.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700.png"/><Relationship Id="rId1"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image" Target="../media/image750.png"/><Relationship Id="rId4" Type="http://schemas.openxmlformats.org/officeDocument/2006/relationships/image" Target="../media/image12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s>
</file>

<file path=ppt/slides/_rels/slide55.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oleObject" Target="../embeddings/oleObject1.bin"/><Relationship Id="rId7" Type="http://schemas.openxmlformats.org/officeDocument/2006/relationships/image" Target="../media/image137.png"/><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136.wmf"/><Relationship Id="rId5" Type="http://schemas.openxmlformats.org/officeDocument/2006/relationships/oleObject" Target="../embeddings/oleObject2.bin"/><Relationship Id="rId4" Type="http://schemas.openxmlformats.org/officeDocument/2006/relationships/image" Target="../media/image135.wmf"/></Relationships>
</file>

<file path=ppt/slides/_rels/slide5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140.jpeg"/></Relationships>
</file>

<file path=ppt/slides/_rels/slide58.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139.jpeg"/></Relationships>
</file>

<file path=ppt/slides/_rels/slide59.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139.jpeg"/></Relationships>
</file>

<file path=ppt/slides/_rels/slide60.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139.jpeg"/></Relationships>
</file>

<file path=ppt/slides/_rels/slide61.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139.jpeg"/></Relationships>
</file>

<file path=ppt/slides/_rels/slide62.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139.jpeg"/></Relationships>
</file>

<file path=ppt/slides/_rels/slide63.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139.jpeg"/></Relationships>
</file>

<file path=ppt/slides/_rels/slide64.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6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5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52.xml"/><Relationship Id="rId1" Type="http://schemas.openxmlformats.org/officeDocument/2006/relationships/slideLayout" Target="../slideLayouts/slideLayout24.xml"/><Relationship Id="rId4" Type="http://schemas.openxmlformats.org/officeDocument/2006/relationships/image" Target="../media/image156.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3" Type="http://schemas.openxmlformats.org/officeDocument/2006/relationships/image" Target="../media/image157.emf"/><Relationship Id="rId7" Type="http://schemas.openxmlformats.org/officeDocument/2006/relationships/image" Target="../media/image161.emf"/><Relationship Id="rId2" Type="http://schemas.openxmlformats.org/officeDocument/2006/relationships/notesSlide" Target="../notesSlides/notesSlide54.xml"/><Relationship Id="rId1" Type="http://schemas.openxmlformats.org/officeDocument/2006/relationships/slideLayout" Target="../slideLayouts/slideLayout24.xml"/><Relationship Id="rId6" Type="http://schemas.openxmlformats.org/officeDocument/2006/relationships/image" Target="../media/image160.emf"/><Relationship Id="rId5" Type="http://schemas.openxmlformats.org/officeDocument/2006/relationships/image" Target="../media/image159.emf"/><Relationship Id="rId4" Type="http://schemas.openxmlformats.org/officeDocument/2006/relationships/image" Target="../media/image158.emf"/></Relationships>
</file>

<file path=ppt/slides/_rels/slide85.xml.rels><?xml version="1.0" encoding="UTF-8" standalone="yes"?>
<Relationships xmlns="http://schemas.openxmlformats.org/package/2006/relationships"><Relationship Id="rId3" Type="http://schemas.openxmlformats.org/officeDocument/2006/relationships/image" Target="../media/image162.png"/><Relationship Id="rId7" Type="http://schemas.openxmlformats.org/officeDocument/2006/relationships/image" Target="../media/image166.png"/><Relationship Id="rId2" Type="http://schemas.openxmlformats.org/officeDocument/2006/relationships/notesSlide" Target="../notesSlides/notesSlide55.xml"/><Relationship Id="rId1" Type="http://schemas.openxmlformats.org/officeDocument/2006/relationships/slideLayout" Target="../slideLayouts/slideLayout24.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86.xml.rels><?xml version="1.0" encoding="UTF-8" standalone="yes"?>
<Relationships xmlns="http://schemas.openxmlformats.org/package/2006/relationships"><Relationship Id="rId3" Type="http://schemas.openxmlformats.org/officeDocument/2006/relationships/image" Target="../media/image167.emf"/><Relationship Id="rId7" Type="http://schemas.openxmlformats.org/officeDocument/2006/relationships/image" Target="../media/image171.emf"/><Relationship Id="rId2" Type="http://schemas.openxmlformats.org/officeDocument/2006/relationships/notesSlide" Target="../notesSlides/notesSlide56.xml"/><Relationship Id="rId1" Type="http://schemas.openxmlformats.org/officeDocument/2006/relationships/slideLayout" Target="../slideLayouts/slideLayout24.xml"/><Relationship Id="rId6" Type="http://schemas.openxmlformats.org/officeDocument/2006/relationships/image" Target="../media/image170.emf"/><Relationship Id="rId5" Type="http://schemas.openxmlformats.org/officeDocument/2006/relationships/image" Target="../media/image169.emf"/><Relationship Id="rId4" Type="http://schemas.openxmlformats.org/officeDocument/2006/relationships/image" Target="../media/image168.emf"/></Relationships>
</file>

<file path=ppt/slides/_rels/slide87.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4.xml"/></Relationships>
</file>

<file path=ppt/slides/_rels/slide8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74.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7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5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175.tmp"/></Relationships>
</file>

<file path=ppt/slides/_rels/slide8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0.emf"/><Relationship Id="rId1" Type="http://schemas.openxmlformats.org/officeDocument/2006/relationships/slideLayout" Target="../slideLayouts/slideLayout24.xml"/><Relationship Id="rId4" Type="http://schemas.openxmlformats.org/officeDocument/2006/relationships/image" Target="../media/image2.gi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8.xml"/><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59.xml"/><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2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79.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9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182.png"/></Relationships>
</file>

<file path=ppt/slides/_rels/slide102.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83.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57.emf"/><Relationship Id="rId7" Type="http://schemas.openxmlformats.org/officeDocument/2006/relationships/image" Target="../media/image161.emf"/><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160.emf"/><Relationship Id="rId5" Type="http://schemas.openxmlformats.org/officeDocument/2006/relationships/image" Target="../media/image159.emf"/><Relationship Id="rId4" Type="http://schemas.openxmlformats.org/officeDocument/2006/relationships/image" Target="../media/image158.emf"/></Relationships>
</file>

<file path=ppt/slides/_rels/slide105.xml.rels><?xml version="1.0" encoding="UTF-8" standalone="yes"?>
<Relationships xmlns="http://schemas.openxmlformats.org/package/2006/relationships"><Relationship Id="rId3" Type="http://schemas.openxmlformats.org/officeDocument/2006/relationships/image" Target="../media/image162.png"/><Relationship Id="rId7" Type="http://schemas.openxmlformats.org/officeDocument/2006/relationships/image" Target="../media/image166.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106.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86.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89.png"/></Relationships>
</file>

<file path=ppt/slides/_rels/slide11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2.xml"/><Relationship Id="rId4" Type="http://schemas.openxmlformats.org/officeDocument/2006/relationships/image" Target="../media/image192.png"/></Relationships>
</file>

<file path=ppt/slides/_rels/slide117.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118.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97.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2.png"/><Relationship Id="rId1" Type="http://schemas.openxmlformats.org/officeDocument/2006/relationships/slideLayout" Target="../slideLayouts/slideLayout2.xml"/><Relationship Id="rId4" Type="http://schemas.openxmlformats.org/officeDocument/2006/relationships/image" Target="../media/image204.png"/></Relationships>
</file>

<file path=ppt/slides/_rels/slide127.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06.png"/><Relationship Id="rId7" Type="http://schemas.openxmlformats.org/officeDocument/2006/relationships/image" Target="../media/image210.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209.png"/><Relationship Id="rId5" Type="http://schemas.openxmlformats.org/officeDocument/2006/relationships/image" Target="../media/image208.png"/><Relationship Id="rId4" Type="http://schemas.openxmlformats.org/officeDocument/2006/relationships/image" Target="../media/image207.jpe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89.png"/></Relationships>
</file>

<file path=ppt/slides/_rels/slide136.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15.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216.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217.png"/><Relationship Id="rId7" Type="http://schemas.openxmlformats.org/officeDocument/2006/relationships/image" Target="../media/image221.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image" Target="../media/image219.png"/><Relationship Id="rId4" Type="http://schemas.openxmlformats.org/officeDocument/2006/relationships/image" Target="../media/image218.png"/></Relationships>
</file>

<file path=ppt/slides/_rels/slide145.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223.png"/></Relationships>
</file>

<file path=ppt/slides/_rels/slide146.xml.rels><?xml version="1.0" encoding="UTF-8" standalone="yes"?>
<Relationships xmlns="http://schemas.openxmlformats.org/package/2006/relationships"><Relationship Id="rId3" Type="http://schemas.openxmlformats.org/officeDocument/2006/relationships/image" Target="../media/image224.png"/><Relationship Id="rId7" Type="http://schemas.openxmlformats.org/officeDocument/2006/relationships/image" Target="../media/image228.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227.png"/><Relationship Id="rId5" Type="http://schemas.openxmlformats.org/officeDocument/2006/relationships/image" Target="../media/image226.png"/><Relationship Id="rId4" Type="http://schemas.openxmlformats.org/officeDocument/2006/relationships/image" Target="../media/image22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234.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image" Target="../media/image237.png"/><Relationship Id="rId1" Type="http://schemas.openxmlformats.org/officeDocument/2006/relationships/slideLayout" Target="../slideLayouts/slideLayout2.xml"/><Relationship Id="rId6" Type="http://schemas.openxmlformats.org/officeDocument/2006/relationships/image" Target="../media/image301.png"/><Relationship Id="rId5" Type="http://schemas.openxmlformats.org/officeDocument/2006/relationships/image" Target="../media/image290.png"/><Relationship Id="rId4" Type="http://schemas.openxmlformats.org/officeDocument/2006/relationships/image" Target="../media/image280.png"/></Relationships>
</file>

<file path=ppt/slides/_rels/slide159.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239.emf"/></Relationships>
</file>

<file path=ppt/slides/_rels/slide161.xml.rels><?xml version="1.0" encoding="UTF-8" standalone="yes"?>
<Relationships xmlns="http://schemas.openxmlformats.org/package/2006/relationships"><Relationship Id="rId7" Type="http://schemas.openxmlformats.org/officeDocument/2006/relationships/image" Target="../media/image237.png"/><Relationship Id="rId2" Type="http://schemas.openxmlformats.org/officeDocument/2006/relationships/image" Target="../media/image224.png"/><Relationship Id="rId1" Type="http://schemas.openxmlformats.org/officeDocument/2006/relationships/slideLayout" Target="../slideLayouts/slideLayout2.xml"/><Relationship Id="rId6" Type="http://schemas.openxmlformats.org/officeDocument/2006/relationships/image" Target="../media/image351.png"/><Relationship Id="rId5" Type="http://schemas.openxmlformats.org/officeDocument/2006/relationships/image" Target="../media/image341.png"/><Relationship Id="rId4" Type="http://schemas.openxmlformats.org/officeDocument/2006/relationships/image" Target="../media/image331.png"/></Relationships>
</file>

<file path=ppt/slides/_rels/slide162.xml.rels><?xml version="1.0" encoding="UTF-8" standalone="yes"?>
<Relationships xmlns="http://schemas.openxmlformats.org/package/2006/relationships"><Relationship Id="rId8" Type="http://schemas.openxmlformats.org/officeDocument/2006/relationships/image" Target="../media/image411.png"/><Relationship Id="rId3" Type="http://schemas.openxmlformats.org/officeDocument/2006/relationships/image" Target="../media/image240.png"/><Relationship Id="rId7" Type="http://schemas.openxmlformats.org/officeDocument/2006/relationships/image" Target="../media/image401.png"/><Relationship Id="rId2" Type="http://schemas.openxmlformats.org/officeDocument/2006/relationships/notesSlide" Target="../notesSlides/notesSlide79.xml"/><Relationship Id="rId1" Type="http://schemas.openxmlformats.org/officeDocument/2006/relationships/slideLayout" Target="../slideLayouts/slideLayout35.xml"/><Relationship Id="rId6" Type="http://schemas.openxmlformats.org/officeDocument/2006/relationships/image" Target="../media/image391.png"/><Relationship Id="rId11" Type="http://schemas.openxmlformats.org/officeDocument/2006/relationships/image" Target="../media/image421.png"/><Relationship Id="rId5" Type="http://schemas.openxmlformats.org/officeDocument/2006/relationships/image" Target="../media/image382.png"/><Relationship Id="rId10" Type="http://schemas.openxmlformats.org/officeDocument/2006/relationships/image" Target="../media/image2.gif"/><Relationship Id="rId4" Type="http://schemas.openxmlformats.org/officeDocument/2006/relationships/image" Target="../media/image372.png"/><Relationship Id="rId9" Type="http://schemas.openxmlformats.org/officeDocument/2006/relationships/image" Target="../media/image361.png"/></Relationships>
</file>

<file path=ppt/slides/_rels/slide163.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80.xml"/><Relationship Id="rId1" Type="http://schemas.openxmlformats.org/officeDocument/2006/relationships/slideLayout" Target="../slideLayouts/slideLayout35.xml"/><Relationship Id="rId5" Type="http://schemas.openxmlformats.org/officeDocument/2006/relationships/image" Target="../media/image452.png"/><Relationship Id="rId4" Type="http://schemas.openxmlformats.org/officeDocument/2006/relationships/image" Target="../media/image442.png"/></Relationships>
</file>

<file path=ppt/slides/_rels/slide164.xml.rels><?xml version="1.0" encoding="UTF-8" standalone="yes"?>
<Relationships xmlns="http://schemas.openxmlformats.org/package/2006/relationships"><Relationship Id="rId2" Type="http://schemas.openxmlformats.org/officeDocument/2006/relationships/image" Target="../media/image462.png"/><Relationship Id="rId1" Type="http://schemas.openxmlformats.org/officeDocument/2006/relationships/slideLayout" Target="../slideLayouts/slideLayout35.xml"/></Relationships>
</file>

<file path=ppt/slides/_rels/slide165.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35.xml"/></Relationships>
</file>

<file path=ppt/slides/_rels/slide166.xml.rels><?xml version="1.0" encoding="UTF-8" standalone="yes"?>
<Relationships xmlns="http://schemas.openxmlformats.org/package/2006/relationships"><Relationship Id="rId2" Type="http://schemas.openxmlformats.org/officeDocument/2006/relationships/image" Target="../media/image242.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244.png"/><Relationship Id="rId1" Type="http://schemas.openxmlformats.org/officeDocument/2006/relationships/slideLayout" Target="../slideLayouts/slideLayout2.xml"/><Relationship Id="rId4" Type="http://schemas.openxmlformats.org/officeDocument/2006/relationships/image" Target="../media/image246.png"/></Relationships>
</file>

<file path=ppt/slides/_rels/slide170.xml.rels><?xml version="1.0" encoding="UTF-8" standalone="yes"?>
<Relationships xmlns="http://schemas.openxmlformats.org/package/2006/relationships"><Relationship Id="rId3" Type="http://schemas.openxmlformats.org/officeDocument/2006/relationships/image" Target="../media/image247.e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248.emf"/><Relationship Id="rId2" Type="http://schemas.openxmlformats.org/officeDocument/2006/relationships/image" Target="../media/image247.emf"/><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244.png"/><Relationship Id="rId1" Type="http://schemas.openxmlformats.org/officeDocument/2006/relationships/slideLayout" Target="../slideLayouts/slideLayout2.xml"/><Relationship Id="rId4" Type="http://schemas.openxmlformats.org/officeDocument/2006/relationships/image" Target="../media/image246.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249.e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8" Type="http://schemas.openxmlformats.org/officeDocument/2006/relationships/image" Target="../media/image1310.png"/><Relationship Id="rId3" Type="http://schemas.openxmlformats.org/officeDocument/2006/relationships/image" Target="../media/image252.png"/><Relationship Id="rId7" Type="http://schemas.openxmlformats.org/officeDocument/2006/relationships/image" Target="../media/image1260.png"/><Relationship Id="rId2"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1160.png"/><Relationship Id="rId5" Type="http://schemas.openxmlformats.org/officeDocument/2006/relationships/image" Target="../media/image1010.png"/><Relationship Id="rId4" Type="http://schemas.openxmlformats.org/officeDocument/2006/relationships/image" Target="../media/image910.png"/><Relationship Id="rId9" Type="http://schemas.openxmlformats.org/officeDocument/2006/relationships/image" Target="../media/image1480.png"/></Relationships>
</file>

<file path=ppt/slides/_rels/slide179.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1100.png"/><Relationship Id="rId7" Type="http://schemas.openxmlformats.org/officeDocument/2006/relationships/image" Target="../media/image253.png"/><Relationship Id="rId1" Type="http://schemas.openxmlformats.org/officeDocument/2006/relationships/slideLayout" Target="../slideLayouts/slideLayout2.xml"/><Relationship Id="rId6" Type="http://schemas.openxmlformats.org/officeDocument/2006/relationships/image" Target="../media/image1400.png"/><Relationship Id="rId5" Type="http://schemas.openxmlformats.org/officeDocument/2006/relationships/image" Target="../media/image1300.png"/><Relationship Id="rId4" Type="http://schemas.openxmlformats.org/officeDocument/2006/relationships/image" Target="../media/image1200.png"/></Relationships>
</file>

<file path=ppt/slides/_rels/slide180.xml.rels><?xml version="1.0" encoding="UTF-8" standalone="yes"?>
<Relationships xmlns="http://schemas.openxmlformats.org/package/2006/relationships"><Relationship Id="rId8" Type="http://schemas.openxmlformats.org/officeDocument/2006/relationships/image" Target="../media/image2120.png"/><Relationship Id="rId3" Type="http://schemas.openxmlformats.org/officeDocument/2006/relationships/image" Target="../media/image255.png"/><Relationship Id="rId7" Type="http://schemas.openxmlformats.org/officeDocument/2006/relationships/image" Target="../media/image2020.png"/><Relationship Id="rId2" Type="http://schemas.openxmlformats.org/officeDocument/2006/relationships/image" Target="../media/image254.png"/><Relationship Id="rId1" Type="http://schemas.openxmlformats.org/officeDocument/2006/relationships/slideLayout" Target="../slideLayouts/slideLayout2.xml"/><Relationship Id="rId6" Type="http://schemas.openxmlformats.org/officeDocument/2006/relationships/image" Target="../media/image1930.png"/><Relationship Id="rId5" Type="http://schemas.openxmlformats.org/officeDocument/2006/relationships/image" Target="../media/image183.png"/><Relationship Id="rId4" Type="http://schemas.openxmlformats.org/officeDocument/2006/relationships/image" Target="../media/image171.png"/></Relationships>
</file>

<file path=ppt/slides/_rels/slide181.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257.jpe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258.png"/><Relationship Id="rId1" Type="http://schemas.openxmlformats.org/officeDocument/2006/relationships/slideLayout" Target="../slideLayouts/slideLayout2.xml"/><Relationship Id="rId4" Type="http://schemas.openxmlformats.org/officeDocument/2006/relationships/image" Target="../media/image1800.png"/></Relationships>
</file>

<file path=ppt/slides/_rels/slide184.xml.rels><?xml version="1.0" encoding="UTF-8" standalone="yes"?>
<Relationships xmlns="http://schemas.openxmlformats.org/package/2006/relationships"><Relationship Id="rId2" Type="http://schemas.openxmlformats.org/officeDocument/2006/relationships/image" Target="../media/image254.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261.jpeg"/><Relationship Id="rId5" Type="http://schemas.openxmlformats.org/officeDocument/2006/relationships/image" Target="../media/image1670.png"/><Relationship Id="rId4" Type="http://schemas.openxmlformats.org/officeDocument/2006/relationships/image" Target="../media/image252.png"/></Relationships>
</file>

<file path=ppt/slides/_rels/slide190.xml.rels><?xml version="1.0" encoding="UTF-8" standalone="yes"?>
<Relationships xmlns="http://schemas.openxmlformats.org/package/2006/relationships"><Relationship Id="rId8" Type="http://schemas.openxmlformats.org/officeDocument/2006/relationships/image" Target="../media/image263.png"/><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262.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19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4.pn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9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5.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7.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8.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9.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70.png"/><Relationship Id="rId1" Type="http://schemas.openxmlformats.org/officeDocument/2006/relationships/slideLayout" Target="../slideLayouts/slideLayout2.xml"/><Relationship Id="rId4" Type="http://schemas.openxmlformats.org/officeDocument/2006/relationships/image" Target="NULL"/></Relationships>
</file>

<file path=ppt/slides/_rels/slide19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271.png"/></Relationships>
</file>

<file path=ppt/slides/_rels/slide199.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zh-CN" altLang="en-US" dirty="0">
                <a:solidFill>
                  <a:srgbClr val="000000"/>
                </a:solidFill>
              </a:rPr>
              <a:t>第二章 神經網路與深度學習</a:t>
            </a:r>
          </a:p>
        </p:txBody>
      </p:sp>
      <p:sp>
        <p:nvSpPr>
          <p:cNvPr id="4" name="副标题 3"/>
          <p:cNvSpPr>
            <a:spLocks noGrp="1"/>
          </p:cNvSpPr>
          <p:nvPr>
            <p:ph type="subTitle" idx="1"/>
          </p:nvPr>
        </p:nvSpPr>
        <p:spPr>
          <a:xfrm>
            <a:off x="2819400" y="3200400"/>
            <a:ext cx="6400800" cy="2320834"/>
          </a:xfrm>
        </p:spPr>
        <p:txBody>
          <a:bodyPr>
            <a:normAutofit/>
          </a:bodyPr>
          <a:lstStyle/>
          <a:p>
            <a:endParaRPr lang="en-US" altLang="zh-CN" b="1" dirty="0"/>
          </a:p>
          <a:p>
            <a:endParaRPr lang="en-US" altLang="zh-CN" b="1" dirty="0"/>
          </a:p>
          <a:p>
            <a:r>
              <a:rPr lang="zh-CN" altLang="en-US" b="1" dirty="0">
                <a:latin typeface="华文楷体" panose="02010600040101010101" pitchFamily="2" charset="-122"/>
                <a:ea typeface="华文楷体" panose="02010600040101010101" pitchFamily="2" charset="-122"/>
              </a:rPr>
              <a:t>清華大學 電腦系</a:t>
            </a:r>
            <a:endParaRPr lang="en-US" altLang="zh-CN" b="1" dirty="0">
              <a:latin typeface="华文楷体" panose="02010600040101010101" pitchFamily="2" charset="-122"/>
              <a:ea typeface="华文楷体" panose="02010600040101010101" pitchFamily="2" charset="-122"/>
            </a:endParaRPr>
          </a:p>
          <a:p>
            <a:r>
              <a:rPr lang="zh-CN" altLang="en-US" b="1" dirty="0">
                <a:latin typeface="华文楷体" panose="02010600040101010101" pitchFamily="2" charset="-122"/>
                <a:ea typeface="华文楷体" panose="02010600040101010101" pitchFamily="2" charset="-122"/>
              </a:rPr>
              <a:t>王宏寧</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人工智慧、機器學習與深度學習</a:t>
            </a:r>
          </a:p>
        </p:txBody>
      </p:sp>
      <p:pic>
        <p:nvPicPr>
          <p:cNvPr id="418820" name="Picture 4" descr="人工智能、机器学习和深度学习之间的区别和联系"/>
          <p:cNvPicPr>
            <a:picLocks noChangeAspect="1" noChangeArrowheads="1"/>
          </p:cNvPicPr>
          <p:nvPr/>
        </p:nvPicPr>
        <p:blipFill>
          <a:blip r:embed="rId3" cstate="print"/>
          <a:srcRect/>
          <a:stretch>
            <a:fillRect/>
          </a:stretch>
        </p:blipFill>
        <p:spPr bwMode="auto">
          <a:xfrm>
            <a:off x="1444604" y="1541109"/>
            <a:ext cx="9046370" cy="4773656"/>
          </a:xfrm>
          <a:prstGeom prst="rect">
            <a:avLst/>
          </a:prstGeom>
          <a:noFill/>
        </p:spPr>
      </p:pic>
      <p:pic>
        <p:nvPicPr>
          <p:cNvPr id="413697" name="Picture 1"/>
          <p:cNvPicPr>
            <a:picLocks noChangeAspect="1" noChangeArrowheads="1"/>
          </p:cNvPicPr>
          <p:nvPr/>
        </p:nvPicPr>
        <p:blipFill>
          <a:blip r:embed="rId4" cstate="print"/>
          <a:srcRect/>
          <a:stretch>
            <a:fillRect/>
          </a:stretch>
        </p:blipFill>
        <p:spPr bwMode="auto">
          <a:xfrm>
            <a:off x="6879771" y="2993111"/>
            <a:ext cx="631211" cy="2885174"/>
          </a:xfrm>
          <a:prstGeom prst="rect">
            <a:avLst/>
          </a:prstGeom>
          <a:noFill/>
          <a:ln w="9525">
            <a:noFill/>
            <a:miter lim="800000"/>
            <a:headEnd/>
            <a:tailEnd/>
          </a:ln>
        </p:spPr>
      </p:pic>
    </p:spTree>
    <p:extLst>
      <p:ext uri="{BB962C8B-B14F-4D97-AF65-F5344CB8AC3E}">
        <p14:creationId xmlns:p14="http://schemas.microsoft.com/office/powerpoint/2010/main" val="870613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神經網路發展簡史</a:t>
            </a:r>
          </a:p>
        </p:txBody>
      </p:sp>
      <p:sp>
        <p:nvSpPr>
          <p:cNvPr id="5" name="内容占位符 4"/>
          <p:cNvSpPr>
            <a:spLocks noGrp="1"/>
          </p:cNvSpPr>
          <p:nvPr>
            <p:ph sz="quarter" idx="1"/>
          </p:nvPr>
        </p:nvSpPr>
        <p:spPr/>
        <p:txBody>
          <a:bodyPr/>
          <a:lstStyle/>
          <a:p>
            <a:endParaRPr lang="en-US" altLang="zh-CN" dirty="0"/>
          </a:p>
          <a:p>
            <a:r>
              <a:rPr lang="zh-CN" altLang="en-US" dirty="0"/>
              <a:t>神經網路發展歷史</a:t>
            </a:r>
          </a:p>
        </p:txBody>
      </p:sp>
      <p:pic>
        <p:nvPicPr>
          <p:cNvPr id="7" name="图片 6"/>
          <p:cNvPicPr>
            <a:picLocks noChangeAspect="1"/>
          </p:cNvPicPr>
          <p:nvPr/>
        </p:nvPicPr>
        <p:blipFill>
          <a:blip r:embed="rId3"/>
          <a:stretch>
            <a:fillRect/>
          </a:stretch>
        </p:blipFill>
        <p:spPr>
          <a:xfrm>
            <a:off x="1314994" y="1388730"/>
            <a:ext cx="8987246" cy="4884274"/>
          </a:xfrm>
          <a:prstGeom prst="rect">
            <a:avLst/>
          </a:prstGeom>
        </p:spPr>
      </p:pic>
      <p:sp>
        <p:nvSpPr>
          <p:cNvPr id="8" name="文本框 7"/>
          <p:cNvSpPr txBox="1"/>
          <p:nvPr/>
        </p:nvSpPr>
        <p:spPr>
          <a:xfrm>
            <a:off x="8229599" y="4040781"/>
            <a:ext cx="870857" cy="169277"/>
          </a:xfrm>
          <a:prstGeom prst="rect">
            <a:avLst/>
          </a:prstGeom>
          <a:solidFill>
            <a:schemeClr val="bg1"/>
          </a:solidFill>
        </p:spPr>
        <p:txBody>
          <a:bodyPr wrap="square" tIns="0" bIns="0" rtlCol="0">
            <a:spAutoFit/>
          </a:bodyPr>
          <a:lstStyle/>
          <a:p>
            <a:r>
              <a:rPr lang="zh-CN" altLang="en-US" sz="1100" b="1" dirty="0"/>
              <a:t>深度學習</a:t>
            </a:r>
          </a:p>
        </p:txBody>
      </p:sp>
      <p:sp>
        <p:nvSpPr>
          <p:cNvPr id="9" name="文本框 8"/>
          <p:cNvSpPr txBox="1"/>
          <p:nvPr/>
        </p:nvSpPr>
        <p:spPr>
          <a:xfrm>
            <a:off x="8830490" y="3323167"/>
            <a:ext cx="870857" cy="169277"/>
          </a:xfrm>
          <a:prstGeom prst="rect">
            <a:avLst/>
          </a:prstGeom>
          <a:solidFill>
            <a:schemeClr val="bg1"/>
          </a:solidFill>
        </p:spPr>
        <p:txBody>
          <a:bodyPr wrap="square" tIns="0" bIns="0" rtlCol="0">
            <a:spAutoFit/>
          </a:bodyPr>
          <a:lstStyle/>
          <a:p>
            <a:r>
              <a:rPr lang="zh-CN" altLang="en-US" sz="1100" b="1" dirty="0"/>
              <a:t>圖像識別</a:t>
            </a:r>
          </a:p>
        </p:txBody>
      </p:sp>
      <p:sp>
        <p:nvSpPr>
          <p:cNvPr id="10" name="文本框 9"/>
          <p:cNvSpPr txBox="1"/>
          <p:nvPr/>
        </p:nvSpPr>
        <p:spPr>
          <a:xfrm>
            <a:off x="8665027" y="2777172"/>
            <a:ext cx="635728" cy="353943"/>
          </a:xfrm>
          <a:prstGeom prst="rect">
            <a:avLst/>
          </a:prstGeom>
          <a:solidFill>
            <a:schemeClr val="bg1"/>
          </a:solidFill>
        </p:spPr>
        <p:txBody>
          <a:bodyPr wrap="square" lIns="0" tIns="0" rIns="0" bIns="0" rtlCol="0">
            <a:spAutoFit/>
          </a:bodyPr>
          <a:lstStyle/>
          <a:p>
            <a:pPr algn="ctr"/>
            <a:r>
              <a:rPr lang="en-US" altLang="zh-CN" sz="1200" b="1" dirty="0"/>
              <a:t>2011</a:t>
            </a:r>
          </a:p>
          <a:p>
            <a:pPr algn="ctr"/>
            <a:r>
              <a:rPr lang="zh-CN" altLang="en-US" sz="1100" b="1" dirty="0"/>
              <a:t>語音辨識</a:t>
            </a:r>
          </a:p>
        </p:txBody>
      </p:sp>
      <p:sp>
        <p:nvSpPr>
          <p:cNvPr id="11" name="TextBox 30"/>
          <p:cNvSpPr txBox="1">
            <a:spLocks noChangeArrowheads="1"/>
          </p:cNvSpPr>
          <p:nvPr/>
        </p:nvSpPr>
        <p:spPr bwMode="auto">
          <a:xfrm>
            <a:off x="5522844" y="4900551"/>
            <a:ext cx="571546" cy="415498"/>
          </a:xfrm>
          <a:prstGeom prst="rect">
            <a:avLst/>
          </a:prstGeom>
          <a:noFill/>
          <a:ln w="9525">
            <a:noFill/>
            <a:miter lim="800000"/>
            <a:headEnd/>
            <a:tailEnd/>
          </a:ln>
        </p:spPr>
        <p:txBody>
          <a:bodyPr wrap="square">
            <a:spAutoFit/>
          </a:bodyPr>
          <a:lstStyle/>
          <a:p>
            <a:r>
              <a:rPr lang="en-US" altLang="zh-CN" sz="1050" dirty="0">
                <a:latin typeface="Times New Roman" panose="02020603050405020304" pitchFamily="18" charset="0"/>
                <a:cs typeface="Times New Roman" panose="02020603050405020304" pitchFamily="18" charset="0"/>
              </a:rPr>
              <a:t>1981</a:t>
            </a:r>
          </a:p>
          <a:p>
            <a:r>
              <a:rPr lang="en-US" altLang="zh-CN" sz="1050" dirty="0">
                <a:latin typeface="Times New Roman" panose="02020603050405020304" pitchFamily="18" charset="0"/>
                <a:cs typeface="Times New Roman" panose="02020603050405020304" pitchFamily="18" charset="0"/>
              </a:rPr>
              <a:t>MLP</a:t>
            </a:r>
            <a:endParaRPr lang="zh-CN" altLang="en-US" sz="1050" baseline="-25000" dirty="0">
              <a:latin typeface="Times New Roman" panose="02020603050405020304" pitchFamily="18" charset="0"/>
              <a:cs typeface="Times New Roman" panose="02020603050405020304" pitchFamily="18" charset="0"/>
            </a:endParaRPr>
          </a:p>
        </p:txBody>
      </p:sp>
      <p:cxnSp>
        <p:nvCxnSpPr>
          <p:cNvPr id="4" name="直接连接符 3"/>
          <p:cNvCxnSpPr/>
          <p:nvPr/>
        </p:nvCxnSpPr>
        <p:spPr>
          <a:xfrm>
            <a:off x="5765076" y="5651863"/>
            <a:ext cx="0" cy="367937"/>
          </a:xfrm>
          <a:prstGeom prst="line">
            <a:avLst/>
          </a:prstGeom>
          <a:ln>
            <a:solidFill>
              <a:schemeClr val="tx1">
                <a:lumMod val="50000"/>
                <a:lumOff val="50000"/>
              </a:schemeClr>
            </a:solidFill>
            <a:prstDash val="dash"/>
          </a:ln>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B43E32CB-BE5F-4C2B-8631-3F21DECCF418}"/>
              </a:ext>
            </a:extLst>
          </p:cNvPr>
          <p:cNvCxnSpPr/>
          <p:nvPr/>
        </p:nvCxnSpPr>
        <p:spPr>
          <a:xfrm>
            <a:off x="10036098" y="6031523"/>
            <a:ext cx="120433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423FC920-B0C4-463C-AD75-FF79ACD40ABA}"/>
              </a:ext>
            </a:extLst>
          </p:cNvPr>
          <p:cNvSpPr txBox="1"/>
          <p:nvPr/>
        </p:nvSpPr>
        <p:spPr>
          <a:xfrm>
            <a:off x="10511235" y="2833125"/>
            <a:ext cx="843569" cy="184666"/>
          </a:xfrm>
          <a:prstGeom prst="rect">
            <a:avLst/>
          </a:prstGeom>
          <a:solidFill>
            <a:schemeClr val="bg1"/>
          </a:solidFill>
        </p:spPr>
        <p:txBody>
          <a:bodyPr wrap="square" lIns="0" tIns="0" rIns="0" bIns="0" rtlCol="0">
            <a:spAutoFit/>
          </a:bodyPr>
          <a:lstStyle/>
          <a:p>
            <a:pPr algn="ctr"/>
            <a:r>
              <a:rPr lang="zh-CN" altLang="en-US" sz="1200" b="1" dirty="0">
                <a:solidFill>
                  <a:srgbClr val="FF0000"/>
                </a:solidFill>
              </a:rPr>
              <a:t>大語言模型</a:t>
            </a:r>
            <a:endParaRPr lang="en-US" altLang="zh-CN" sz="1200" b="1" dirty="0">
              <a:solidFill>
                <a:srgbClr val="FF0000"/>
              </a:solidFill>
            </a:endParaRPr>
          </a:p>
        </p:txBody>
      </p:sp>
      <p:sp>
        <p:nvSpPr>
          <p:cNvPr id="14" name="文本框 13">
            <a:extLst>
              <a:ext uri="{FF2B5EF4-FFF2-40B4-BE49-F238E27FC236}">
                <a16:creationId xmlns:a16="http://schemas.microsoft.com/office/drawing/2014/main" id="{AD12240C-DD1E-4CDE-A488-33E374D85EBE}"/>
              </a:ext>
            </a:extLst>
          </p:cNvPr>
          <p:cNvSpPr txBox="1"/>
          <p:nvPr/>
        </p:nvSpPr>
        <p:spPr>
          <a:xfrm>
            <a:off x="9703953" y="3074545"/>
            <a:ext cx="635728" cy="169277"/>
          </a:xfrm>
          <a:prstGeom prst="rect">
            <a:avLst/>
          </a:prstGeom>
          <a:solidFill>
            <a:schemeClr val="bg1"/>
          </a:solidFill>
        </p:spPr>
        <p:txBody>
          <a:bodyPr wrap="square" lIns="0" tIns="0" rIns="0" bIns="0" rtlCol="0">
            <a:spAutoFit/>
          </a:bodyPr>
          <a:lstStyle/>
          <a:p>
            <a:pPr algn="ctr"/>
            <a:r>
              <a:rPr lang="zh-CN" altLang="en-US" sz="1100" b="1" dirty="0">
                <a:solidFill>
                  <a:srgbClr val="FF0000"/>
                </a:solidFill>
              </a:rPr>
              <a:t>預測</a:t>
            </a:r>
          </a:p>
        </p:txBody>
      </p:sp>
      <p:sp>
        <p:nvSpPr>
          <p:cNvPr id="12" name="圆角矩形 11">
            <a:extLst>
              <a:ext uri="{FF2B5EF4-FFF2-40B4-BE49-F238E27FC236}">
                <a16:creationId xmlns:a16="http://schemas.microsoft.com/office/drawing/2014/main" id="{33548000-7527-590E-3F92-34A9E0BFF18C}"/>
              </a:ext>
            </a:extLst>
          </p:cNvPr>
          <p:cNvSpPr/>
          <p:nvPr/>
        </p:nvSpPr>
        <p:spPr>
          <a:xfrm>
            <a:off x="9514447" y="3990745"/>
            <a:ext cx="1343542" cy="2029056"/>
          </a:xfrm>
          <a:prstGeom prst="round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noFill/>
              <a:latin typeface="Times New Roman" panose="02020603050405020304" pitchFamily="18" charset="0"/>
              <a:cs typeface="Times New Roman" panose="02020603050405020304" pitchFamily="18" charset="0"/>
            </a:endParaRPr>
          </a:p>
        </p:txBody>
      </p:sp>
      <p:sp>
        <p:nvSpPr>
          <p:cNvPr id="3" name="弧 2">
            <a:extLst>
              <a:ext uri="{FF2B5EF4-FFF2-40B4-BE49-F238E27FC236}">
                <a16:creationId xmlns:a16="http://schemas.microsoft.com/office/drawing/2014/main" id="{EB356C17-1FA0-8737-F752-9C842D5A6E62}"/>
              </a:ext>
            </a:extLst>
          </p:cNvPr>
          <p:cNvSpPr/>
          <p:nvPr/>
        </p:nvSpPr>
        <p:spPr>
          <a:xfrm rot="8702655">
            <a:off x="9048735" y="2879721"/>
            <a:ext cx="2086708" cy="886891"/>
          </a:xfrm>
          <a:prstGeom prst="arc">
            <a:avLst>
              <a:gd name="adj1" fmla="val 11985632"/>
              <a:gd name="adj2" fmla="val 2039134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289976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blinds(horizontal)">
                                      <p:cBhvr>
                                        <p:cTn id="9" dur="500"/>
                                        <p:tgtEl>
                                          <p:spTgt spid="3"/>
                                        </p:tgtEl>
                                      </p:cBhvr>
                                    </p:animEffect>
                                  </p:childTnLst>
                                </p:cTn>
                              </p:par>
                              <p:par>
                                <p:cTn id="10" presetID="3" presetClass="entr" presetSubtype="1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什麼是神經網路（</a:t>
            </a:r>
            <a:r>
              <a:rPr lang="en-US" altLang="zh-CN" dirty="0"/>
              <a:t>Neural Network</a:t>
            </a:r>
            <a:r>
              <a:rPr lang="zh-CN" altLang="en-US" dirty="0"/>
              <a:t>）？</a:t>
            </a:r>
          </a:p>
        </p:txBody>
      </p:sp>
      <p:sp>
        <p:nvSpPr>
          <p:cNvPr id="3" name="内容占位符 2"/>
          <p:cNvSpPr>
            <a:spLocks noGrp="1"/>
          </p:cNvSpPr>
          <p:nvPr>
            <p:ph sz="quarter" idx="1"/>
          </p:nvPr>
        </p:nvSpPr>
        <p:spPr>
          <a:xfrm>
            <a:off x="1219200" y="1417638"/>
            <a:ext cx="10363200" cy="4572000"/>
          </a:xfrm>
        </p:spPr>
        <p:txBody>
          <a:bodyPr/>
          <a:lstStyle/>
          <a:p>
            <a:endParaRPr lang="en-US" altLang="zh-CN" dirty="0"/>
          </a:p>
          <a:p>
            <a:r>
              <a:rPr lang="zh-CN" altLang="en-US" dirty="0"/>
              <a:t>人工神經元網路（</a:t>
            </a:r>
            <a:r>
              <a:rPr lang="en-US" altLang="zh-CN" dirty="0"/>
              <a:t>ANN</a:t>
            </a:r>
            <a:r>
              <a:rPr lang="zh-CN" altLang="en-US" dirty="0"/>
              <a:t>或者</a:t>
            </a:r>
            <a:r>
              <a:rPr lang="en-US" altLang="zh-CN" dirty="0"/>
              <a:t>NN</a:t>
            </a:r>
            <a:r>
              <a:rPr lang="zh-CN" altLang="en-US" dirty="0"/>
              <a:t>）</a:t>
            </a:r>
            <a:endParaRPr lang="en-US" altLang="zh-CN" dirty="0"/>
          </a:p>
          <a:p>
            <a:pPr marL="320040" lvl="1" indent="0">
              <a:buNone/>
            </a:pPr>
            <a:endParaRPr lang="zh-CN" altLang="en-US" dirty="0"/>
          </a:p>
        </p:txBody>
      </p:sp>
      <p:pic>
        <p:nvPicPr>
          <p:cNvPr id="5" name="图片 4"/>
          <p:cNvPicPr>
            <a:picLocks noChangeAspect="1"/>
          </p:cNvPicPr>
          <p:nvPr/>
        </p:nvPicPr>
        <p:blipFill>
          <a:blip r:embed="rId3"/>
          <a:stretch>
            <a:fillRect/>
          </a:stretch>
        </p:blipFill>
        <p:spPr>
          <a:xfrm>
            <a:off x="931817" y="2961292"/>
            <a:ext cx="4913096" cy="2669449"/>
          </a:xfrm>
          <a:prstGeom prst="rect">
            <a:avLst/>
          </a:prstGeom>
        </p:spPr>
      </p:pic>
      <p:pic>
        <p:nvPicPr>
          <p:cNvPr id="6" name="图片 5"/>
          <p:cNvPicPr>
            <a:picLocks noChangeAspect="1"/>
          </p:cNvPicPr>
          <p:nvPr/>
        </p:nvPicPr>
        <p:blipFill>
          <a:blip r:embed="rId4"/>
          <a:stretch>
            <a:fillRect/>
          </a:stretch>
        </p:blipFill>
        <p:spPr>
          <a:xfrm>
            <a:off x="6031366" y="2961292"/>
            <a:ext cx="5310160" cy="2900363"/>
          </a:xfrm>
          <a:prstGeom prst="rect">
            <a:avLst/>
          </a:prstGeom>
        </p:spPr>
      </p:pic>
    </p:spTree>
    <p:extLst>
      <p:ext uri="{BB962C8B-B14F-4D97-AF65-F5344CB8AC3E}">
        <p14:creationId xmlns:p14="http://schemas.microsoft.com/office/powerpoint/2010/main" val="1363569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初識神經網路</a:t>
            </a:r>
            <a:r>
              <a:rPr lang="en-US" altLang="zh-CN" dirty="0"/>
              <a:t>——</a:t>
            </a:r>
            <a:r>
              <a:rPr lang="zh-CN" altLang="en-US" dirty="0"/>
              <a:t>從數位識別談起</a:t>
            </a:r>
          </a:p>
        </p:txBody>
      </p:sp>
      <p:grpSp>
        <p:nvGrpSpPr>
          <p:cNvPr id="14" name="组合 13"/>
          <p:cNvGrpSpPr/>
          <p:nvPr/>
        </p:nvGrpSpPr>
        <p:grpSpPr>
          <a:xfrm>
            <a:off x="197510" y="1735558"/>
            <a:ext cx="6664993" cy="4102415"/>
            <a:chOff x="-264193" y="1608816"/>
            <a:chExt cx="6664993" cy="4102415"/>
          </a:xfrm>
        </p:grpSpPr>
        <p:pic>
          <p:nvPicPr>
            <p:cNvPr id="4" name="图片 3"/>
            <p:cNvPicPr>
              <a:picLocks noChangeAspect="1"/>
            </p:cNvPicPr>
            <p:nvPr/>
          </p:nvPicPr>
          <p:blipFill>
            <a:blip r:embed="rId2"/>
            <a:stretch>
              <a:fillRect/>
            </a:stretch>
          </p:blipFill>
          <p:spPr>
            <a:xfrm>
              <a:off x="-264193" y="1608816"/>
              <a:ext cx="6664993" cy="3678675"/>
            </a:xfrm>
            <a:prstGeom prst="rect">
              <a:avLst/>
            </a:prstGeom>
          </p:spPr>
        </p:pic>
        <p:sp>
          <p:nvSpPr>
            <p:cNvPr id="7" name="文本框 6"/>
            <p:cNvSpPr txBox="1"/>
            <p:nvPr/>
          </p:nvSpPr>
          <p:spPr>
            <a:xfrm>
              <a:off x="1969176" y="5218788"/>
              <a:ext cx="2603863" cy="492443"/>
            </a:xfrm>
            <a:prstGeom prst="rect">
              <a:avLst/>
            </a:prstGeom>
            <a:noFill/>
          </p:spPr>
          <p:txBody>
            <a:bodyPr wrap="square" rtlCol="0">
              <a:spAutoFit/>
            </a:bodyPr>
            <a:lstStyle/>
            <a:p>
              <a:r>
                <a:rPr lang="zh-CN" altLang="en-US" sz="2600" dirty="0"/>
                <a:t>數字</a:t>
              </a:r>
              <a:r>
                <a:rPr lang="en-US" altLang="zh-CN" sz="2600" b="1" dirty="0">
                  <a:solidFill>
                    <a:srgbClr val="FF0000"/>
                  </a:solidFill>
                </a:rPr>
                <a:t>3</a:t>
              </a:r>
              <a:r>
                <a:rPr lang="zh-CN" altLang="en-US" sz="2600" dirty="0"/>
                <a:t>的圖像</a:t>
              </a:r>
            </a:p>
          </p:txBody>
        </p:sp>
      </p:grpSp>
      <p:grpSp>
        <p:nvGrpSpPr>
          <p:cNvPr id="13" name="组合 12"/>
          <p:cNvGrpSpPr/>
          <p:nvPr/>
        </p:nvGrpSpPr>
        <p:grpSpPr>
          <a:xfrm>
            <a:off x="197510" y="1709782"/>
            <a:ext cx="6719644" cy="4174423"/>
            <a:chOff x="3572910" y="1611839"/>
            <a:chExt cx="6719644" cy="4174423"/>
          </a:xfrm>
        </p:grpSpPr>
        <p:sp>
          <p:nvSpPr>
            <p:cNvPr id="12" name="文本框 11"/>
            <p:cNvSpPr txBox="1"/>
            <p:nvPr/>
          </p:nvSpPr>
          <p:spPr>
            <a:xfrm>
              <a:off x="5814532" y="5293819"/>
              <a:ext cx="2866145" cy="492443"/>
            </a:xfrm>
            <a:prstGeom prst="rect">
              <a:avLst/>
            </a:prstGeom>
            <a:solidFill>
              <a:schemeClr val="bg1"/>
            </a:solidFill>
          </p:spPr>
          <p:txBody>
            <a:bodyPr wrap="square" rtlCol="0">
              <a:spAutoFit/>
            </a:bodyPr>
            <a:lstStyle/>
            <a:p>
              <a:r>
                <a:rPr lang="zh-CN" altLang="en-US" sz="2600" dirty="0"/>
                <a:t>數字</a:t>
              </a:r>
              <a:r>
                <a:rPr lang="en-US" altLang="zh-CN" sz="2600" b="1" dirty="0">
                  <a:solidFill>
                    <a:srgbClr val="FF0000"/>
                  </a:solidFill>
                </a:rPr>
                <a:t>8</a:t>
              </a:r>
              <a:r>
                <a:rPr lang="zh-CN" altLang="en-US" sz="2600" dirty="0"/>
                <a:t>的圖像</a:t>
              </a:r>
            </a:p>
          </p:txBody>
        </p:sp>
        <p:pic>
          <p:nvPicPr>
            <p:cNvPr id="9" name="图片 8"/>
            <p:cNvPicPr>
              <a:picLocks noChangeAspect="1"/>
            </p:cNvPicPr>
            <p:nvPr/>
          </p:nvPicPr>
          <p:blipFill>
            <a:blip r:embed="rId3"/>
            <a:stretch>
              <a:fillRect/>
            </a:stretch>
          </p:blipFill>
          <p:spPr>
            <a:xfrm>
              <a:off x="3572910" y="1611839"/>
              <a:ext cx="6719644" cy="3708840"/>
            </a:xfrm>
            <a:prstGeom prst="rect">
              <a:avLst/>
            </a:prstGeom>
            <a:solidFill>
              <a:schemeClr val="bg1"/>
            </a:solidFill>
          </p:spPr>
        </p:pic>
      </p:grpSp>
      <p:grpSp>
        <p:nvGrpSpPr>
          <p:cNvPr id="11" name="组合 10"/>
          <p:cNvGrpSpPr/>
          <p:nvPr/>
        </p:nvGrpSpPr>
        <p:grpSpPr>
          <a:xfrm>
            <a:off x="5297024" y="1735558"/>
            <a:ext cx="6719642" cy="4125297"/>
            <a:chOff x="5054640" y="1927241"/>
            <a:chExt cx="6719642" cy="4125297"/>
          </a:xfrm>
        </p:grpSpPr>
        <p:pic>
          <p:nvPicPr>
            <p:cNvPr id="6" name="图片 5"/>
            <p:cNvPicPr>
              <a:picLocks noChangeAspect="1"/>
            </p:cNvPicPr>
            <p:nvPr/>
          </p:nvPicPr>
          <p:blipFill>
            <a:blip r:embed="rId4"/>
            <a:stretch>
              <a:fillRect/>
            </a:stretch>
          </p:blipFill>
          <p:spPr>
            <a:xfrm>
              <a:off x="5054640" y="1927241"/>
              <a:ext cx="6719642" cy="3708838"/>
            </a:xfrm>
            <a:prstGeom prst="rect">
              <a:avLst/>
            </a:prstGeom>
          </p:spPr>
        </p:pic>
        <p:sp>
          <p:nvSpPr>
            <p:cNvPr id="8" name="文本框 7"/>
            <p:cNvSpPr txBox="1"/>
            <p:nvPr/>
          </p:nvSpPr>
          <p:spPr>
            <a:xfrm>
              <a:off x="7532914" y="5560095"/>
              <a:ext cx="2603863" cy="492443"/>
            </a:xfrm>
            <a:prstGeom prst="rect">
              <a:avLst/>
            </a:prstGeom>
            <a:noFill/>
          </p:spPr>
          <p:txBody>
            <a:bodyPr wrap="square" rtlCol="0">
              <a:spAutoFit/>
            </a:bodyPr>
            <a:lstStyle/>
            <a:p>
              <a:r>
                <a:rPr lang="zh-CN" altLang="en-US" sz="2600" dirty="0"/>
                <a:t>數字</a:t>
              </a:r>
              <a:r>
                <a:rPr lang="en-US" altLang="zh-CN" sz="2600" b="1" dirty="0">
                  <a:solidFill>
                    <a:srgbClr val="FF0000"/>
                  </a:solidFill>
                </a:rPr>
                <a:t>3</a:t>
              </a:r>
              <a:r>
                <a:rPr lang="zh-CN" altLang="en-US" sz="2600" dirty="0"/>
                <a:t>的模式</a:t>
              </a:r>
            </a:p>
          </p:txBody>
        </p:sp>
      </p:grpSp>
      <p:sp>
        <p:nvSpPr>
          <p:cNvPr id="3" name="矩形 2">
            <a:extLst>
              <a:ext uri="{FF2B5EF4-FFF2-40B4-BE49-F238E27FC236}">
                <a16:creationId xmlns:a16="http://schemas.microsoft.com/office/drawing/2014/main" id="{BBD2EB05-BA3B-9001-912B-A707A2DD3686}"/>
              </a:ext>
            </a:extLst>
          </p:cNvPr>
          <p:cNvSpPr/>
          <p:nvPr/>
        </p:nvSpPr>
        <p:spPr>
          <a:xfrm>
            <a:off x="5043218" y="6126919"/>
            <a:ext cx="304800" cy="288115"/>
          </a:xfrm>
          <a:prstGeom prst="rect">
            <a:avLst/>
          </a:prstGeom>
          <a:solidFill>
            <a:srgbClr val="FFF2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10E5FC49-6215-55A5-8BE4-AB7A8F39513B}"/>
              </a:ext>
            </a:extLst>
          </p:cNvPr>
          <p:cNvSpPr/>
          <p:nvPr/>
        </p:nvSpPr>
        <p:spPr>
          <a:xfrm>
            <a:off x="5791200" y="6126919"/>
            <a:ext cx="304800" cy="28811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379D8E16-46B0-45E1-62DC-66ADA6F8DF3F}"/>
              </a:ext>
            </a:extLst>
          </p:cNvPr>
          <p:cNvSpPr txBox="1"/>
          <p:nvPr/>
        </p:nvSpPr>
        <p:spPr>
          <a:xfrm>
            <a:off x="5349039" y="6086310"/>
            <a:ext cx="290464" cy="369332"/>
          </a:xfrm>
          <a:prstGeom prst="rect">
            <a:avLst/>
          </a:prstGeom>
          <a:noFill/>
        </p:spPr>
        <p:txBody>
          <a:bodyPr wrap="none" rtlCol="0">
            <a:spAutoFit/>
          </a:bodyPr>
          <a:lstStyle/>
          <a:p>
            <a:r>
              <a:rPr kumimoji="1" lang="en-US" altLang="zh-CN" dirty="0"/>
              <a:t>1</a:t>
            </a:r>
            <a:endParaRPr kumimoji="1" lang="zh-CN" altLang="en-US" dirty="0"/>
          </a:p>
        </p:txBody>
      </p:sp>
      <p:sp>
        <p:nvSpPr>
          <p:cNvPr id="15" name="文本框 14">
            <a:extLst>
              <a:ext uri="{FF2B5EF4-FFF2-40B4-BE49-F238E27FC236}">
                <a16:creationId xmlns:a16="http://schemas.microsoft.com/office/drawing/2014/main" id="{02C9CB98-47B6-D244-B10B-7A3D1C1F7A96}"/>
              </a:ext>
            </a:extLst>
          </p:cNvPr>
          <p:cNvSpPr txBox="1"/>
          <p:nvPr/>
        </p:nvSpPr>
        <p:spPr>
          <a:xfrm>
            <a:off x="6102882" y="6086310"/>
            <a:ext cx="290464" cy="369332"/>
          </a:xfrm>
          <a:prstGeom prst="rect">
            <a:avLst/>
          </a:prstGeom>
          <a:noFill/>
        </p:spPr>
        <p:txBody>
          <a:bodyPr wrap="none" rtlCol="0">
            <a:spAutoFit/>
          </a:bodyPr>
          <a:lstStyle/>
          <a:p>
            <a:r>
              <a:rPr kumimoji="1" lang="en-US" altLang="zh-CN" dirty="0"/>
              <a:t>0</a:t>
            </a:r>
            <a:endParaRPr kumimoji="1" lang="zh-CN" altLang="en-US" dirty="0"/>
          </a:p>
        </p:txBody>
      </p:sp>
      <p:sp>
        <p:nvSpPr>
          <p:cNvPr id="16" name="矩形 15">
            <a:extLst>
              <a:ext uri="{FF2B5EF4-FFF2-40B4-BE49-F238E27FC236}">
                <a16:creationId xmlns:a16="http://schemas.microsoft.com/office/drawing/2014/main" id="{125B579D-FEDF-C7E6-8271-462E9E5DBC8E}"/>
              </a:ext>
            </a:extLst>
          </p:cNvPr>
          <p:cNvSpPr/>
          <p:nvPr/>
        </p:nvSpPr>
        <p:spPr>
          <a:xfrm>
            <a:off x="6545043" y="6126919"/>
            <a:ext cx="304800" cy="288115"/>
          </a:xfrm>
          <a:prstGeom prst="rect">
            <a:avLst/>
          </a:prstGeom>
          <a:solidFill>
            <a:srgbClr val="E2EFD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7B2737AF-947F-3278-4B73-7448CF023CA1}"/>
              </a:ext>
            </a:extLst>
          </p:cNvPr>
          <p:cNvSpPr txBox="1"/>
          <p:nvPr/>
        </p:nvSpPr>
        <p:spPr>
          <a:xfrm>
            <a:off x="6856725" y="6086310"/>
            <a:ext cx="362600" cy="369332"/>
          </a:xfrm>
          <a:prstGeom prst="rect">
            <a:avLst/>
          </a:prstGeom>
          <a:noFill/>
        </p:spPr>
        <p:txBody>
          <a:bodyPr wrap="none" rtlCol="0">
            <a:spAutoFit/>
          </a:bodyPr>
          <a:lstStyle/>
          <a:p>
            <a:r>
              <a:rPr kumimoji="1" lang="en-US" altLang="zh-CN" dirty="0"/>
              <a:t>-1</a:t>
            </a:r>
            <a:endParaRPr kumimoji="1" lang="zh-CN" altLang="en-US" dirty="0"/>
          </a:p>
        </p:txBody>
      </p:sp>
    </p:spTree>
    <p:extLst>
      <p:ext uri="{BB962C8B-B14F-4D97-AF65-F5344CB8AC3E}">
        <p14:creationId xmlns:p14="http://schemas.microsoft.com/office/powerpoint/2010/main" val="3963978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模式匹配</a:t>
            </a:r>
          </a:p>
        </p:txBody>
      </p:sp>
      <p:pic>
        <p:nvPicPr>
          <p:cNvPr id="8" name="图片 7"/>
          <p:cNvPicPr>
            <a:picLocks noChangeAspect="1"/>
          </p:cNvPicPr>
          <p:nvPr/>
        </p:nvPicPr>
        <p:blipFill>
          <a:blip r:embed="rId2"/>
          <a:stretch>
            <a:fillRect/>
          </a:stretch>
        </p:blipFill>
        <p:spPr>
          <a:xfrm>
            <a:off x="-443610" y="1286546"/>
            <a:ext cx="10720037" cy="2236205"/>
          </a:xfrm>
          <a:prstGeom prst="rect">
            <a:avLst/>
          </a:prstGeom>
        </p:spPr>
      </p:pic>
      <p:pic>
        <p:nvPicPr>
          <p:cNvPr id="9" name="图片 8"/>
          <p:cNvPicPr>
            <a:picLocks noChangeAspect="1"/>
          </p:cNvPicPr>
          <p:nvPr/>
        </p:nvPicPr>
        <p:blipFill>
          <a:blip r:embed="rId3"/>
          <a:stretch>
            <a:fillRect/>
          </a:stretch>
        </p:blipFill>
        <p:spPr>
          <a:xfrm>
            <a:off x="-175979" y="1286546"/>
            <a:ext cx="10503034" cy="2190938"/>
          </a:xfrm>
          <a:prstGeom prst="rect">
            <a:avLst/>
          </a:prstGeom>
        </p:spPr>
      </p:pic>
      <p:sp>
        <p:nvSpPr>
          <p:cNvPr id="10" name="文本框 448"/>
          <p:cNvSpPr txBox="1"/>
          <p:nvPr/>
        </p:nvSpPr>
        <p:spPr>
          <a:xfrm>
            <a:off x="3172306" y="2247400"/>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sz="4800" kern="100" dirty="0">
                <a:effectLst/>
                <a:latin typeface="宋体"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2" name="文本框 448"/>
          <p:cNvSpPr txBox="1"/>
          <p:nvPr/>
        </p:nvSpPr>
        <p:spPr>
          <a:xfrm>
            <a:off x="6260166" y="2202133"/>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altLang="zh-CN" sz="4800" b="1" kern="100" dirty="0">
                <a:latin typeface="宋体"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3" name="图片 12"/>
          <p:cNvPicPr>
            <a:picLocks noChangeAspect="1"/>
          </p:cNvPicPr>
          <p:nvPr/>
        </p:nvPicPr>
        <p:blipFill>
          <a:blip r:embed="rId4"/>
          <a:stretch>
            <a:fillRect/>
          </a:stretch>
        </p:blipFill>
        <p:spPr>
          <a:xfrm>
            <a:off x="7008020" y="1715975"/>
            <a:ext cx="4418724" cy="1928171"/>
          </a:xfrm>
          <a:prstGeom prst="rect">
            <a:avLst/>
          </a:prstGeom>
        </p:spPr>
      </p:pic>
      <mc:AlternateContent xmlns:mc="http://schemas.openxmlformats.org/markup-compatibility/2006">
        <mc:Choice xmlns:a14="http://schemas.microsoft.com/office/drawing/2010/main" Requires="a14">
          <p:sp>
            <p:nvSpPr>
              <p:cNvPr id="14" name="文本框 13"/>
              <p:cNvSpPr txBox="1"/>
              <p:nvPr/>
            </p:nvSpPr>
            <p:spPr>
              <a:xfrm>
                <a:off x="1077362" y="4364604"/>
                <a:ext cx="10349382" cy="18466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600" b="0" i="1" smtClean="0">
                          <a:latin typeface="Cambria Math" panose="02040503050406030204" pitchFamily="18" charset="0"/>
                        </a:rPr>
                        <m:t>𝑛𝑒𝑡</m:t>
                      </m:r>
                      <m:r>
                        <a:rPr lang="en-US" altLang="zh-CN" sz="3600" b="0" i="1" smtClean="0">
                          <a:latin typeface="Cambria Math" panose="02040503050406030204" pitchFamily="18" charset="0"/>
                        </a:rPr>
                        <m:t>=</m:t>
                      </m:r>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𝑤</m:t>
                          </m:r>
                        </m:e>
                        <m:sub>
                          <m:r>
                            <a:rPr lang="en-US" altLang="zh-CN" sz="3600" b="0" i="1" smtClean="0">
                              <a:latin typeface="Cambria Math" panose="02040503050406030204" pitchFamily="18" charset="0"/>
                            </a:rPr>
                            <m:t>1</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i="1">
                              <a:latin typeface="Cambria Math" panose="02040503050406030204" pitchFamily="18" charset="0"/>
                            </a:rPr>
                            <m:t>1</m:t>
                          </m:r>
                        </m:sub>
                      </m:sSub>
                      <m:r>
                        <a:rPr lang="en-US" altLang="zh-CN" sz="3600" b="0" i="1" smtClean="0">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𝑤</m:t>
                          </m:r>
                        </m:e>
                        <m:sub>
                          <m:r>
                            <a:rPr lang="en-US" altLang="zh-CN" sz="3600" b="0" i="1" smtClean="0">
                              <a:latin typeface="Cambria Math" panose="02040503050406030204" pitchFamily="18" charset="0"/>
                            </a:rPr>
                            <m:t>2</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𝑥</m:t>
                          </m:r>
                        </m:e>
                        <m:sub>
                          <m:r>
                            <a:rPr lang="en-US" altLang="zh-CN" sz="3600" b="0" i="1" smtClean="0">
                              <a:latin typeface="Cambria Math" panose="02040503050406030204" pitchFamily="18" charset="0"/>
                            </a:rPr>
                            <m:t>2</m:t>
                          </m:r>
                        </m:sub>
                      </m:sSub>
                      <m:r>
                        <a:rPr lang="en-US" altLang="zh-CN" sz="3600" b="0" i="1" smtClean="0">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𝑤</m:t>
                          </m:r>
                        </m:e>
                        <m:sub>
                          <m:r>
                            <a:rPr lang="en-US" altLang="zh-CN" sz="3600" b="0" i="1" smtClean="0">
                              <a:latin typeface="Cambria Math" panose="02040503050406030204" pitchFamily="18" charset="0"/>
                            </a:rPr>
                            <m:t>𝑛</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𝑥</m:t>
                          </m:r>
                        </m:e>
                        <m:sub>
                          <m:r>
                            <a:rPr lang="en-US" altLang="zh-CN" sz="3600" b="0" i="1" smtClean="0">
                              <a:latin typeface="Cambria Math" panose="02040503050406030204" pitchFamily="18" charset="0"/>
                            </a:rPr>
                            <m:t>𝑛</m:t>
                          </m:r>
                        </m:sub>
                      </m:sSub>
                    </m:oMath>
                  </m:oMathPara>
                </a14:m>
                <a:endParaRPr lang="en-US" altLang="zh-CN" sz="2600" i="1" dirty="0">
                  <a:latin typeface="Cambria Math" panose="02040503050406030204" pitchFamily="18" charset="0"/>
                </a:endParaRPr>
              </a:p>
              <a:p>
                <a:endParaRPr lang="en-US" altLang="zh-CN" sz="2600" i="1" dirty="0">
                  <a:latin typeface="Cambria Math" panose="02040503050406030204" pitchFamily="18" charset="0"/>
                </a:endParaRPr>
              </a:p>
              <a:p>
                <a:r>
                  <a:rPr lang="zh-CN" altLang="en-US" sz="2600" dirty="0"/>
                  <a:t>其中：</a:t>
                </a:r>
                <a14:m>
                  <m:oMath xmlns:m="http://schemas.openxmlformats.org/officeDocument/2006/math">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𝑤</m:t>
                        </m:r>
                      </m:e>
                      <m:sub>
                        <m:r>
                          <a:rPr lang="en-US" altLang="zh-CN" sz="2600" b="0" i="1" smtClean="0">
                            <a:latin typeface="Cambria Math" panose="02040503050406030204" pitchFamily="18" charset="0"/>
                          </a:rPr>
                          <m:t>𝑖</m:t>
                        </m:r>
                      </m:sub>
                    </m:sSub>
                    <m:d>
                      <m:dPr>
                        <m:ctrlPr>
                          <a:rPr lang="en-US" altLang="zh-CN" sz="2600" b="0" i="1" smtClean="0">
                            <a:latin typeface="Cambria Math" panose="02040503050406030204" pitchFamily="18" charset="0"/>
                          </a:rPr>
                        </m:ctrlPr>
                      </m:dPr>
                      <m:e>
                        <m:r>
                          <a:rPr lang="en-US" altLang="zh-CN" sz="2600" b="0" i="1" smtClean="0">
                            <a:latin typeface="Cambria Math" panose="02040503050406030204" pitchFamily="18" charset="0"/>
                          </a:rPr>
                          <m:t>𝑖</m:t>
                        </m:r>
                        <m:r>
                          <a:rPr lang="en-US" altLang="zh-CN" sz="2600" b="0" i="1" smtClean="0">
                            <a:latin typeface="Cambria Math" panose="02040503050406030204" pitchFamily="18" charset="0"/>
                          </a:rPr>
                          <m:t>=1,2,…,</m:t>
                        </m:r>
                        <m:r>
                          <a:rPr lang="en-US" altLang="zh-CN" sz="2600" b="0" i="1" smtClean="0">
                            <a:latin typeface="Cambria Math" panose="02040503050406030204" pitchFamily="18" charset="0"/>
                          </a:rPr>
                          <m:t>𝑛</m:t>
                        </m:r>
                      </m:e>
                    </m:d>
                    <m:r>
                      <a:rPr lang="zh-CN" altLang="en-US" sz="2600" i="1">
                        <a:latin typeface="Cambria Math" panose="02040503050406030204" pitchFamily="18" charset="0"/>
                      </a:rPr>
                      <m:t>：</m:t>
                    </m:r>
                  </m:oMath>
                </a14:m>
                <a:r>
                  <a:rPr lang="zh-CN" altLang="en-US" sz="2600" dirty="0"/>
                  <a:t>表示數位模式</a:t>
                </a:r>
                <a:endParaRPr lang="en-US" altLang="zh-CN" sz="2600" dirty="0"/>
              </a:p>
              <a:p>
                <a:r>
                  <a:rPr lang="en-US" altLang="zh-CN" sz="2600" dirty="0"/>
                  <a:t>              </a:t>
                </a:r>
                <a14:m>
                  <m:oMath xmlns:m="http://schemas.openxmlformats.org/officeDocument/2006/math">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𝑥</m:t>
                        </m:r>
                      </m:e>
                      <m:sub>
                        <m:r>
                          <a:rPr lang="en-US" altLang="zh-CN" sz="2600" i="1">
                            <a:latin typeface="Cambria Math" panose="02040503050406030204" pitchFamily="18" charset="0"/>
                          </a:rPr>
                          <m:t>𝑖</m:t>
                        </m:r>
                      </m:sub>
                    </m:sSub>
                    <m:d>
                      <m:dPr>
                        <m:ctrlPr>
                          <a:rPr lang="en-US" altLang="zh-CN" sz="2600" i="1">
                            <a:latin typeface="Cambria Math" panose="02040503050406030204" pitchFamily="18" charset="0"/>
                          </a:rPr>
                        </m:ctrlPr>
                      </m:dPr>
                      <m:e>
                        <m:r>
                          <a:rPr lang="en-US" altLang="zh-CN" sz="2600" i="1">
                            <a:latin typeface="Cambria Math" panose="02040503050406030204" pitchFamily="18" charset="0"/>
                          </a:rPr>
                          <m:t>𝑖</m:t>
                        </m:r>
                        <m:r>
                          <a:rPr lang="en-US" altLang="zh-CN" sz="2600" i="1">
                            <a:latin typeface="Cambria Math" panose="02040503050406030204" pitchFamily="18" charset="0"/>
                          </a:rPr>
                          <m:t>=1,2,…,</m:t>
                        </m:r>
                        <m:r>
                          <a:rPr lang="en-US" altLang="zh-CN" sz="2600" i="1">
                            <a:latin typeface="Cambria Math" panose="02040503050406030204" pitchFamily="18" charset="0"/>
                          </a:rPr>
                          <m:t>𝑛</m:t>
                        </m:r>
                      </m:e>
                    </m:d>
                    <m:r>
                      <a:rPr lang="zh-CN" altLang="en-US" sz="2600" i="1">
                        <a:latin typeface="Cambria Math" panose="02040503050406030204" pitchFamily="18" charset="0"/>
                      </a:rPr>
                      <m:t>：</m:t>
                    </m:r>
                  </m:oMath>
                </a14:m>
                <a:r>
                  <a:rPr lang="zh-CN" altLang="en-US" sz="2600" dirty="0"/>
                  <a:t>表示數位圖像</a:t>
                </a:r>
                <a:endParaRPr lang="en-US" altLang="zh-CN" sz="2600" dirty="0"/>
              </a:p>
            </p:txBody>
          </p:sp>
        </mc:Choice>
        <mc:Fallback>
          <p:sp>
            <p:nvSpPr>
              <p:cNvPr id="14" name="文本框 13"/>
              <p:cNvSpPr txBox="1">
                <a:spLocks noRot="1" noChangeAspect="1" noMove="1" noResize="1" noEditPoints="1" noAdjustHandles="1" noChangeArrowheads="1" noChangeShapeType="1" noTextEdit="1"/>
              </p:cNvSpPr>
              <p:nvPr/>
            </p:nvSpPr>
            <p:spPr>
              <a:xfrm>
                <a:off x="1077362" y="4364604"/>
                <a:ext cx="10349382" cy="1846659"/>
              </a:xfrm>
              <a:prstGeom prst="rect">
                <a:avLst/>
              </a:prstGeom>
              <a:blipFill>
                <a:blip r:embed="rId5"/>
                <a:stretch>
                  <a:fillRect l="-1061" b="-5281"/>
                </a:stretch>
              </a:blipFill>
            </p:spPr>
            <p:txBody>
              <a:bodyPr/>
              <a:lstStyle/>
              <a:p>
                <a:r>
                  <a:rPr lang="zh-TW" altLang="en-US">
                    <a:noFill/>
                  </a:rPr>
                  <a:t> </a:t>
                </a:r>
              </a:p>
            </p:txBody>
          </p:sp>
        </mc:Fallback>
      </mc:AlternateContent>
      <p:sp>
        <p:nvSpPr>
          <p:cNvPr id="11" name="文本框 10">
            <a:extLst>
              <a:ext uri="{FF2B5EF4-FFF2-40B4-BE49-F238E27FC236}">
                <a16:creationId xmlns:a16="http://schemas.microsoft.com/office/drawing/2014/main" id="{F64CDBC4-75C7-458D-8A92-6229659EB817}"/>
              </a:ext>
            </a:extLst>
          </p:cNvPr>
          <p:cNvSpPr txBox="1"/>
          <p:nvPr/>
        </p:nvSpPr>
        <p:spPr>
          <a:xfrm>
            <a:off x="1284980" y="3713504"/>
            <a:ext cx="2866145" cy="400110"/>
          </a:xfrm>
          <a:prstGeom prst="rect">
            <a:avLst/>
          </a:prstGeom>
          <a:solidFill>
            <a:schemeClr val="bg1"/>
          </a:solidFill>
        </p:spPr>
        <p:txBody>
          <a:bodyPr wrap="square" rtlCol="0">
            <a:spAutoFit/>
          </a:bodyPr>
          <a:lstStyle/>
          <a:p>
            <a:r>
              <a:rPr lang="zh-CN" altLang="en-US" sz="2000" dirty="0"/>
              <a:t>數字</a:t>
            </a:r>
            <a:r>
              <a:rPr lang="en-US" altLang="zh-CN" sz="2000" b="1" dirty="0">
                <a:solidFill>
                  <a:srgbClr val="FF0000"/>
                </a:solidFill>
              </a:rPr>
              <a:t>8</a:t>
            </a:r>
            <a:r>
              <a:rPr lang="zh-CN" altLang="en-US" sz="2000" dirty="0"/>
              <a:t>的圖像</a:t>
            </a:r>
          </a:p>
        </p:txBody>
      </p:sp>
      <p:sp>
        <p:nvSpPr>
          <p:cNvPr id="15" name="文本框 14">
            <a:extLst>
              <a:ext uri="{FF2B5EF4-FFF2-40B4-BE49-F238E27FC236}">
                <a16:creationId xmlns:a16="http://schemas.microsoft.com/office/drawing/2014/main" id="{6480AD58-FA7E-4CFB-8C5B-75E35254E39A}"/>
              </a:ext>
            </a:extLst>
          </p:cNvPr>
          <p:cNvSpPr txBox="1"/>
          <p:nvPr/>
        </p:nvSpPr>
        <p:spPr>
          <a:xfrm>
            <a:off x="4404157" y="3713504"/>
            <a:ext cx="2603863" cy="400110"/>
          </a:xfrm>
          <a:prstGeom prst="rect">
            <a:avLst/>
          </a:prstGeom>
          <a:noFill/>
        </p:spPr>
        <p:txBody>
          <a:bodyPr wrap="square" rtlCol="0">
            <a:spAutoFit/>
          </a:bodyPr>
          <a:lstStyle/>
          <a:p>
            <a:r>
              <a:rPr lang="zh-CN" altLang="en-US" sz="2000" dirty="0"/>
              <a:t>數字</a:t>
            </a:r>
            <a:r>
              <a:rPr lang="en-US" altLang="zh-CN" sz="2000" b="1" dirty="0">
                <a:solidFill>
                  <a:srgbClr val="FF0000"/>
                </a:solidFill>
              </a:rPr>
              <a:t>3</a:t>
            </a:r>
            <a:r>
              <a:rPr lang="zh-CN" altLang="en-US" sz="2000" dirty="0"/>
              <a:t>的模式</a:t>
            </a:r>
          </a:p>
        </p:txBody>
      </p:sp>
      <p:sp>
        <p:nvSpPr>
          <p:cNvPr id="3" name="矩形 2">
            <a:extLst>
              <a:ext uri="{FF2B5EF4-FFF2-40B4-BE49-F238E27FC236}">
                <a16:creationId xmlns:a16="http://schemas.microsoft.com/office/drawing/2014/main" id="{02FD4392-04CE-3D2D-3C59-2F59A4A4CBFF}"/>
              </a:ext>
            </a:extLst>
          </p:cNvPr>
          <p:cNvSpPr/>
          <p:nvPr/>
        </p:nvSpPr>
        <p:spPr>
          <a:xfrm>
            <a:off x="8796693" y="1205760"/>
            <a:ext cx="304800" cy="288115"/>
          </a:xfrm>
          <a:prstGeom prst="rect">
            <a:avLst/>
          </a:prstGeom>
          <a:solidFill>
            <a:srgbClr val="FFF2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74E2384A-DE0E-AE2F-EAC9-7821999537D0}"/>
              </a:ext>
            </a:extLst>
          </p:cNvPr>
          <p:cNvSpPr/>
          <p:nvPr/>
        </p:nvSpPr>
        <p:spPr>
          <a:xfrm>
            <a:off x="9544675" y="1205760"/>
            <a:ext cx="304800" cy="28811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F172E327-1CF8-138F-4AD1-D8E9D9BFD9D4}"/>
              </a:ext>
            </a:extLst>
          </p:cNvPr>
          <p:cNvSpPr txBox="1"/>
          <p:nvPr/>
        </p:nvSpPr>
        <p:spPr>
          <a:xfrm>
            <a:off x="9102514" y="1165151"/>
            <a:ext cx="290464" cy="369332"/>
          </a:xfrm>
          <a:prstGeom prst="rect">
            <a:avLst/>
          </a:prstGeom>
          <a:noFill/>
        </p:spPr>
        <p:txBody>
          <a:bodyPr wrap="none" rtlCol="0">
            <a:spAutoFit/>
          </a:bodyPr>
          <a:lstStyle/>
          <a:p>
            <a:r>
              <a:rPr kumimoji="1" lang="en-US" altLang="zh-CN" dirty="0"/>
              <a:t>1</a:t>
            </a:r>
            <a:endParaRPr kumimoji="1" lang="zh-CN" altLang="en-US" dirty="0"/>
          </a:p>
        </p:txBody>
      </p:sp>
      <p:sp>
        <p:nvSpPr>
          <p:cNvPr id="6" name="文本框 5">
            <a:extLst>
              <a:ext uri="{FF2B5EF4-FFF2-40B4-BE49-F238E27FC236}">
                <a16:creationId xmlns:a16="http://schemas.microsoft.com/office/drawing/2014/main" id="{DC63C932-2D05-4530-57AB-C255B43CB38F}"/>
              </a:ext>
            </a:extLst>
          </p:cNvPr>
          <p:cNvSpPr txBox="1"/>
          <p:nvPr/>
        </p:nvSpPr>
        <p:spPr>
          <a:xfrm>
            <a:off x="9856357" y="1165151"/>
            <a:ext cx="290464" cy="369332"/>
          </a:xfrm>
          <a:prstGeom prst="rect">
            <a:avLst/>
          </a:prstGeom>
          <a:noFill/>
        </p:spPr>
        <p:txBody>
          <a:bodyPr wrap="none" rtlCol="0">
            <a:spAutoFit/>
          </a:bodyPr>
          <a:lstStyle/>
          <a:p>
            <a:r>
              <a:rPr kumimoji="1" lang="en-US" altLang="zh-CN" dirty="0"/>
              <a:t>0</a:t>
            </a:r>
            <a:endParaRPr kumimoji="1" lang="zh-CN" altLang="en-US" dirty="0"/>
          </a:p>
        </p:txBody>
      </p:sp>
      <p:sp>
        <p:nvSpPr>
          <p:cNvPr id="7" name="矩形 6">
            <a:extLst>
              <a:ext uri="{FF2B5EF4-FFF2-40B4-BE49-F238E27FC236}">
                <a16:creationId xmlns:a16="http://schemas.microsoft.com/office/drawing/2014/main" id="{D8292570-14C9-ED57-4122-E3917C3A8CCE}"/>
              </a:ext>
            </a:extLst>
          </p:cNvPr>
          <p:cNvSpPr/>
          <p:nvPr/>
        </p:nvSpPr>
        <p:spPr>
          <a:xfrm>
            <a:off x="10298518" y="1205760"/>
            <a:ext cx="304800" cy="288115"/>
          </a:xfrm>
          <a:prstGeom prst="rect">
            <a:avLst/>
          </a:prstGeom>
          <a:solidFill>
            <a:srgbClr val="E2EFD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0450B841-1A72-3560-7FDC-D04D255BDE63}"/>
              </a:ext>
            </a:extLst>
          </p:cNvPr>
          <p:cNvSpPr txBox="1"/>
          <p:nvPr/>
        </p:nvSpPr>
        <p:spPr>
          <a:xfrm>
            <a:off x="10610200" y="1165151"/>
            <a:ext cx="362600" cy="369332"/>
          </a:xfrm>
          <a:prstGeom prst="rect">
            <a:avLst/>
          </a:prstGeom>
          <a:noFill/>
        </p:spPr>
        <p:txBody>
          <a:bodyPr wrap="none" rtlCol="0">
            <a:spAutoFit/>
          </a:bodyPr>
          <a:lstStyle/>
          <a:p>
            <a:r>
              <a:rPr kumimoji="1" lang="en-US" altLang="zh-CN" dirty="0"/>
              <a:t>-1</a:t>
            </a:r>
            <a:endParaRPr kumimoji="1" lang="zh-CN" altLang="en-US" dirty="0"/>
          </a:p>
        </p:txBody>
      </p:sp>
    </p:spTree>
    <p:extLst>
      <p:ext uri="{BB962C8B-B14F-4D97-AF65-F5344CB8AC3E}">
        <p14:creationId xmlns:p14="http://schemas.microsoft.com/office/powerpoint/2010/main" val="402934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數字</a:t>
            </a:r>
            <a:r>
              <a:rPr lang="en-US" altLang="zh-CN" dirty="0"/>
              <a:t>3</a:t>
            </a:r>
            <a:r>
              <a:rPr lang="zh-CN" altLang="en-US" dirty="0"/>
              <a:t>、數字</a:t>
            </a:r>
            <a:r>
              <a:rPr lang="en-US" altLang="zh-CN" dirty="0"/>
              <a:t>8</a:t>
            </a:r>
            <a:r>
              <a:rPr lang="zh-CN" altLang="en-US" dirty="0"/>
              <a:t>與模式</a:t>
            </a:r>
            <a:r>
              <a:rPr lang="en-US" altLang="zh-CN" dirty="0"/>
              <a:t>3</a:t>
            </a:r>
            <a:r>
              <a:rPr lang="zh-CN" altLang="en-US" dirty="0"/>
              <a:t>的匹配</a:t>
            </a:r>
          </a:p>
        </p:txBody>
      </p:sp>
      <p:pic>
        <p:nvPicPr>
          <p:cNvPr id="5" name="图片 4"/>
          <p:cNvPicPr>
            <a:picLocks noChangeAspect="1"/>
          </p:cNvPicPr>
          <p:nvPr/>
        </p:nvPicPr>
        <p:blipFill>
          <a:blip r:embed="rId2"/>
          <a:stretch>
            <a:fillRect/>
          </a:stretch>
        </p:blipFill>
        <p:spPr>
          <a:xfrm>
            <a:off x="479834" y="1597625"/>
            <a:ext cx="4513879" cy="2491389"/>
          </a:xfrm>
          <a:prstGeom prst="rect">
            <a:avLst/>
          </a:prstGeom>
        </p:spPr>
      </p:pic>
      <p:pic>
        <p:nvPicPr>
          <p:cNvPr id="9" name="图片 8"/>
          <p:cNvPicPr>
            <a:picLocks noChangeAspect="1"/>
          </p:cNvPicPr>
          <p:nvPr/>
        </p:nvPicPr>
        <p:blipFill>
          <a:blip r:embed="rId3"/>
          <a:stretch>
            <a:fillRect/>
          </a:stretch>
        </p:blipFill>
        <p:spPr>
          <a:xfrm>
            <a:off x="492868" y="4176158"/>
            <a:ext cx="4513876" cy="2491388"/>
          </a:xfrm>
          <a:prstGeom prst="rect">
            <a:avLst/>
          </a:prstGeom>
          <a:solidFill>
            <a:schemeClr val="bg1"/>
          </a:solidFill>
        </p:spPr>
      </p:pic>
      <p:pic>
        <p:nvPicPr>
          <p:cNvPr id="11" name="图片 10"/>
          <p:cNvPicPr>
            <a:picLocks noChangeAspect="1"/>
          </p:cNvPicPr>
          <p:nvPr/>
        </p:nvPicPr>
        <p:blipFill>
          <a:blip r:embed="rId4"/>
          <a:stretch>
            <a:fillRect/>
          </a:stretch>
        </p:blipFill>
        <p:spPr>
          <a:xfrm>
            <a:off x="3911095" y="1597626"/>
            <a:ext cx="4381879" cy="2418533"/>
          </a:xfrm>
          <a:prstGeom prst="rect">
            <a:avLst/>
          </a:prstGeom>
        </p:spPr>
      </p:pic>
      <p:pic>
        <p:nvPicPr>
          <p:cNvPr id="13" name="图片 12"/>
          <p:cNvPicPr>
            <a:picLocks noChangeAspect="1"/>
          </p:cNvPicPr>
          <p:nvPr/>
        </p:nvPicPr>
        <p:blipFill>
          <a:blip r:embed="rId4"/>
          <a:stretch>
            <a:fillRect/>
          </a:stretch>
        </p:blipFill>
        <p:spPr>
          <a:xfrm>
            <a:off x="3911095" y="4132586"/>
            <a:ext cx="4381879" cy="2418533"/>
          </a:xfrm>
          <a:prstGeom prst="rect">
            <a:avLst/>
          </a:prstGeom>
        </p:spPr>
      </p:pic>
      <p:sp>
        <p:nvSpPr>
          <p:cNvPr id="14" name="文本框 448"/>
          <p:cNvSpPr txBox="1"/>
          <p:nvPr/>
        </p:nvSpPr>
        <p:spPr>
          <a:xfrm>
            <a:off x="4095760" y="2410657"/>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sz="4800" kern="100" dirty="0">
                <a:effectLst/>
                <a:latin typeface="宋体"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5" name="文本框 448"/>
          <p:cNvSpPr txBox="1"/>
          <p:nvPr/>
        </p:nvSpPr>
        <p:spPr>
          <a:xfrm>
            <a:off x="7677119" y="2374230"/>
            <a:ext cx="2191158"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altLang="zh-CN" sz="4800" b="1" kern="100" dirty="0">
                <a:latin typeface="宋体" panose="02010600030101010101" pitchFamily="2" charset="-122"/>
                <a:ea typeface="等线" panose="02010600030101010101" pitchFamily="2" charset="-122"/>
                <a:cs typeface="Times New Roman" panose="02020603050405020304" pitchFamily="18" charset="0"/>
              </a:rPr>
              <a:t>=  143</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448"/>
          <p:cNvSpPr txBox="1"/>
          <p:nvPr/>
        </p:nvSpPr>
        <p:spPr>
          <a:xfrm>
            <a:off x="4095760" y="4989190"/>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sz="4800" kern="100" dirty="0">
                <a:effectLst/>
                <a:latin typeface="宋体"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7" name="文本框 448"/>
          <p:cNvSpPr txBox="1"/>
          <p:nvPr/>
        </p:nvSpPr>
        <p:spPr>
          <a:xfrm>
            <a:off x="7740488" y="4909190"/>
            <a:ext cx="2553302"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altLang="zh-CN" sz="4800" b="1" kern="100" dirty="0">
                <a:latin typeface="宋体" panose="02010600030101010101" pitchFamily="2" charset="-122"/>
                <a:ea typeface="等线" panose="02010600030101010101" pitchFamily="2" charset="-122"/>
                <a:cs typeface="Times New Roman" panose="02020603050405020304" pitchFamily="18" charset="0"/>
              </a:rPr>
              <a:t>=  115</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2" name="矩形 11">
            <a:extLst>
              <a:ext uri="{FF2B5EF4-FFF2-40B4-BE49-F238E27FC236}">
                <a16:creationId xmlns:a16="http://schemas.microsoft.com/office/drawing/2014/main" id="{77975D1E-AB21-C03F-66A4-473D8C4ED51E}"/>
              </a:ext>
            </a:extLst>
          </p:cNvPr>
          <p:cNvSpPr/>
          <p:nvPr/>
        </p:nvSpPr>
        <p:spPr>
          <a:xfrm>
            <a:off x="8796693" y="1205760"/>
            <a:ext cx="304800" cy="288115"/>
          </a:xfrm>
          <a:prstGeom prst="rect">
            <a:avLst/>
          </a:prstGeom>
          <a:solidFill>
            <a:srgbClr val="FFF2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E0EC894C-7FF8-6036-E5D1-6550ECC46BFA}"/>
              </a:ext>
            </a:extLst>
          </p:cNvPr>
          <p:cNvSpPr/>
          <p:nvPr/>
        </p:nvSpPr>
        <p:spPr>
          <a:xfrm>
            <a:off x="9544675" y="1205760"/>
            <a:ext cx="304800" cy="28811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6F0B4B7A-D681-3C71-719C-5925ABF8E378}"/>
              </a:ext>
            </a:extLst>
          </p:cNvPr>
          <p:cNvSpPr txBox="1"/>
          <p:nvPr/>
        </p:nvSpPr>
        <p:spPr>
          <a:xfrm>
            <a:off x="9102514" y="1165151"/>
            <a:ext cx="290464" cy="369332"/>
          </a:xfrm>
          <a:prstGeom prst="rect">
            <a:avLst/>
          </a:prstGeom>
          <a:noFill/>
        </p:spPr>
        <p:txBody>
          <a:bodyPr wrap="none" rtlCol="0">
            <a:spAutoFit/>
          </a:bodyPr>
          <a:lstStyle/>
          <a:p>
            <a:r>
              <a:rPr kumimoji="1" lang="en-US" altLang="zh-CN" dirty="0"/>
              <a:t>1</a:t>
            </a:r>
            <a:endParaRPr kumimoji="1" lang="zh-CN" altLang="en-US" dirty="0"/>
          </a:p>
        </p:txBody>
      </p:sp>
      <p:sp>
        <p:nvSpPr>
          <p:cNvPr id="20" name="文本框 19">
            <a:extLst>
              <a:ext uri="{FF2B5EF4-FFF2-40B4-BE49-F238E27FC236}">
                <a16:creationId xmlns:a16="http://schemas.microsoft.com/office/drawing/2014/main" id="{99E26070-5825-B676-0BA4-C10E57C19228}"/>
              </a:ext>
            </a:extLst>
          </p:cNvPr>
          <p:cNvSpPr txBox="1"/>
          <p:nvPr/>
        </p:nvSpPr>
        <p:spPr>
          <a:xfrm>
            <a:off x="9856357" y="1165151"/>
            <a:ext cx="290464" cy="369332"/>
          </a:xfrm>
          <a:prstGeom prst="rect">
            <a:avLst/>
          </a:prstGeom>
          <a:noFill/>
        </p:spPr>
        <p:txBody>
          <a:bodyPr wrap="none" rtlCol="0">
            <a:spAutoFit/>
          </a:bodyPr>
          <a:lstStyle/>
          <a:p>
            <a:r>
              <a:rPr kumimoji="1" lang="en-US" altLang="zh-CN" dirty="0"/>
              <a:t>0</a:t>
            </a:r>
            <a:endParaRPr kumimoji="1" lang="zh-CN" altLang="en-US" dirty="0"/>
          </a:p>
        </p:txBody>
      </p:sp>
      <p:sp>
        <p:nvSpPr>
          <p:cNvPr id="21" name="矩形 20">
            <a:extLst>
              <a:ext uri="{FF2B5EF4-FFF2-40B4-BE49-F238E27FC236}">
                <a16:creationId xmlns:a16="http://schemas.microsoft.com/office/drawing/2014/main" id="{F7837BDE-2F19-7464-A1CD-4B39FEFDA787}"/>
              </a:ext>
            </a:extLst>
          </p:cNvPr>
          <p:cNvSpPr/>
          <p:nvPr/>
        </p:nvSpPr>
        <p:spPr>
          <a:xfrm>
            <a:off x="10298518" y="1205760"/>
            <a:ext cx="304800" cy="288115"/>
          </a:xfrm>
          <a:prstGeom prst="rect">
            <a:avLst/>
          </a:prstGeom>
          <a:solidFill>
            <a:srgbClr val="E2EFD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13F6D6B0-27ED-B991-209D-33ABEB4FB3D6}"/>
              </a:ext>
            </a:extLst>
          </p:cNvPr>
          <p:cNvSpPr txBox="1"/>
          <p:nvPr/>
        </p:nvSpPr>
        <p:spPr>
          <a:xfrm>
            <a:off x="10610200" y="1165151"/>
            <a:ext cx="362600" cy="369332"/>
          </a:xfrm>
          <a:prstGeom prst="rect">
            <a:avLst/>
          </a:prstGeom>
          <a:noFill/>
        </p:spPr>
        <p:txBody>
          <a:bodyPr wrap="none" rtlCol="0">
            <a:spAutoFit/>
          </a:bodyPr>
          <a:lstStyle/>
          <a:p>
            <a:r>
              <a:rPr kumimoji="1" lang="en-US" altLang="zh-CN" dirty="0"/>
              <a:t>-1</a:t>
            </a:r>
            <a:endParaRPr kumimoji="1" lang="zh-CN" altLang="en-US" dirty="0"/>
          </a:p>
        </p:txBody>
      </p:sp>
    </p:spTree>
    <p:extLst>
      <p:ext uri="{BB962C8B-B14F-4D97-AF65-F5344CB8AC3E}">
        <p14:creationId xmlns:p14="http://schemas.microsoft.com/office/powerpoint/2010/main" val="1636764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直接箭头连接符 82"/>
          <p:cNvCxnSpPr/>
          <p:nvPr/>
        </p:nvCxnSpPr>
        <p:spPr>
          <a:xfrm>
            <a:off x="3012077" y="4288974"/>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3012895" y="3437710"/>
            <a:ext cx="544801" cy="8599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a:off x="3012077" y="2555958"/>
            <a:ext cx="593273" cy="17970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flipV="1">
            <a:off x="3000641" y="2612572"/>
            <a:ext cx="564409" cy="16681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p>
            <a:r>
              <a:rPr lang="zh-CN" altLang="en-US" dirty="0"/>
              <a:t>前期回顧：拼音輸入法</a:t>
            </a:r>
          </a:p>
        </p:txBody>
      </p:sp>
      <p:sp>
        <p:nvSpPr>
          <p:cNvPr id="3" name="内容占位符 2"/>
          <p:cNvSpPr>
            <a:spLocks noGrp="1"/>
          </p:cNvSpPr>
          <p:nvPr>
            <p:ph sz="quarter" idx="1"/>
          </p:nvPr>
        </p:nvSpPr>
        <p:spPr>
          <a:xfrm>
            <a:off x="2603871" y="1447800"/>
            <a:ext cx="7271656" cy="4108269"/>
          </a:xfrm>
        </p:spPr>
        <p:txBody>
          <a:bodyPr>
            <a:normAutofit/>
          </a:bodyPr>
          <a:lstStyle/>
          <a:p>
            <a:pPr>
              <a:buNone/>
            </a:pPr>
            <a:endParaRPr lang="en-US" altLang="zh-CN" sz="2400" b="1" dirty="0"/>
          </a:p>
          <a:p>
            <a:pPr>
              <a:buNone/>
            </a:pPr>
            <a:endParaRPr lang="en-US" altLang="zh-CN" sz="2400" b="1" dirty="0"/>
          </a:p>
          <a:p>
            <a:pPr>
              <a:buNone/>
            </a:pPr>
            <a:r>
              <a:rPr lang="zh-CN" altLang="en-US" sz="2400" b="1" dirty="0"/>
              <a:t>及</a:t>
            </a:r>
            <a:r>
              <a:rPr lang="en-US" altLang="zh-CN" sz="2400" b="1" dirty="0"/>
              <a:t>	</a:t>
            </a:r>
            <a:r>
              <a:rPr lang="zh-CN" altLang="en-US" sz="2400" b="1" dirty="0"/>
              <a:t>期</a:t>
            </a:r>
            <a:r>
              <a:rPr lang="en-US" altLang="zh-CN" sz="2400" b="1" dirty="0"/>
              <a:t>	</a:t>
            </a:r>
            <a:r>
              <a:rPr lang="zh-CN" altLang="en-US" sz="2400" b="1" dirty="0">
                <a:solidFill>
                  <a:srgbClr val="0000FF"/>
                </a:solidFill>
              </a:rPr>
              <a:t>學</a:t>
            </a:r>
            <a:r>
              <a:rPr lang="en-US" altLang="zh-CN" sz="2400" b="1" dirty="0"/>
              <a:t>	</a:t>
            </a:r>
            <a:r>
              <a:rPr lang="zh-CN" altLang="en-US" sz="2400" b="1" dirty="0"/>
              <a:t>系</a:t>
            </a:r>
            <a:r>
              <a:rPr lang="en-US" altLang="zh-CN" sz="2400" b="1" dirty="0"/>
              <a:t>	</a:t>
            </a:r>
            <a:r>
              <a:rPr lang="zh-CN" altLang="en-US" sz="2400" b="1" dirty="0">
                <a:solidFill>
                  <a:srgbClr val="0000FF"/>
                </a:solidFill>
              </a:rPr>
              <a:t>及</a:t>
            </a:r>
            <a:r>
              <a:rPr lang="en-US" altLang="zh-CN" sz="2400" b="1" dirty="0"/>
              <a:t>	</a:t>
            </a:r>
            <a:r>
              <a:rPr lang="zh-CN" altLang="en-US" sz="2400" b="1" dirty="0"/>
              <a:t>期</a:t>
            </a:r>
            <a:r>
              <a:rPr lang="en-US" altLang="zh-CN" sz="2400" b="1" dirty="0"/>
              <a:t>	</a:t>
            </a:r>
            <a:r>
              <a:rPr lang="zh-CN" altLang="en-US" sz="2400" b="1" dirty="0">
                <a:solidFill>
                  <a:srgbClr val="0000FF"/>
                </a:solidFill>
              </a:rPr>
              <a:t>應</a:t>
            </a:r>
            <a:r>
              <a:rPr lang="en-US" altLang="zh-CN" sz="2400" b="1" dirty="0"/>
              <a:t>	</a:t>
            </a:r>
            <a:r>
              <a:rPr lang="zh-CN" altLang="en-US" sz="2400" b="1" dirty="0"/>
              <a:t>勇</a:t>
            </a:r>
            <a:endParaRPr lang="en-US" altLang="zh-CN" sz="2400" b="1" dirty="0"/>
          </a:p>
          <a:p>
            <a:pPr>
              <a:buNone/>
            </a:pPr>
            <a:endParaRPr lang="en-US" altLang="zh-CN" sz="2400" b="1" dirty="0"/>
          </a:p>
          <a:p>
            <a:pPr>
              <a:buNone/>
            </a:pPr>
            <a:r>
              <a:rPr lang="zh-CN" altLang="en-US" sz="2400" b="1" dirty="0"/>
              <a:t>計</a:t>
            </a:r>
            <a:r>
              <a:rPr lang="en-US" altLang="zh-CN" sz="2400" b="1" dirty="0"/>
              <a:t>	</a:t>
            </a:r>
            <a:r>
              <a:rPr lang="zh-CN" altLang="en-US" sz="2400" b="1" dirty="0">
                <a:solidFill>
                  <a:srgbClr val="0000FF"/>
                </a:solidFill>
              </a:rPr>
              <a:t>器</a:t>
            </a:r>
            <a:r>
              <a:rPr lang="en-US" altLang="zh-CN" sz="2400" b="1" dirty="0"/>
              <a:t>	</a:t>
            </a:r>
            <a:r>
              <a:rPr lang="zh-CN" altLang="en-US" sz="2400" b="1" dirty="0"/>
              <a:t>雪</a:t>
            </a:r>
            <a:r>
              <a:rPr lang="en-US" altLang="zh-CN" sz="2400" b="1" dirty="0"/>
              <a:t>	</a:t>
            </a:r>
            <a:r>
              <a:rPr lang="zh-CN" altLang="en-US" sz="2400" b="1" dirty="0">
                <a:solidFill>
                  <a:srgbClr val="0000FF"/>
                </a:solidFill>
              </a:rPr>
              <a:t>習</a:t>
            </a:r>
            <a:r>
              <a:rPr lang="en-US" altLang="zh-CN" sz="2400" b="1" dirty="0"/>
              <a:t>	</a:t>
            </a:r>
            <a:r>
              <a:rPr lang="zh-CN" altLang="en-US" sz="2400" b="1" dirty="0"/>
              <a:t>計</a:t>
            </a:r>
            <a:r>
              <a:rPr lang="en-US" altLang="zh-CN" sz="2400" b="1" dirty="0"/>
              <a:t>	</a:t>
            </a:r>
            <a:r>
              <a:rPr lang="zh-CN" altLang="en-US" sz="2400" b="1" dirty="0"/>
              <a:t>器</a:t>
            </a:r>
            <a:r>
              <a:rPr lang="en-US" altLang="zh-CN" sz="2400" b="1" dirty="0"/>
              <a:t>	</a:t>
            </a:r>
            <a:r>
              <a:rPr lang="zh-CN" altLang="en-US" sz="2400" b="1" dirty="0"/>
              <a:t>英</a:t>
            </a:r>
            <a:r>
              <a:rPr lang="en-US" altLang="zh-CN" sz="2400" b="1" dirty="0"/>
              <a:t>	</a:t>
            </a:r>
            <a:r>
              <a:rPr lang="zh-CN" altLang="en-US" sz="2400" b="1" dirty="0">
                <a:solidFill>
                  <a:srgbClr val="0000FF"/>
                </a:solidFill>
              </a:rPr>
              <a:t>用</a:t>
            </a:r>
            <a:endParaRPr lang="en-US" altLang="zh-CN" sz="2400" b="1" dirty="0">
              <a:solidFill>
                <a:srgbClr val="0000FF"/>
              </a:solidFill>
            </a:endParaRPr>
          </a:p>
          <a:p>
            <a:pPr>
              <a:buNone/>
            </a:pPr>
            <a:endParaRPr lang="en-US" altLang="zh-CN" sz="2400" b="1" dirty="0">
              <a:solidFill>
                <a:srgbClr val="0000FF"/>
              </a:solidFill>
            </a:endParaRPr>
          </a:p>
          <a:p>
            <a:pPr>
              <a:buNone/>
            </a:pPr>
            <a:r>
              <a:rPr lang="zh-CN" altLang="en-US" sz="2400" b="1" dirty="0">
                <a:solidFill>
                  <a:srgbClr val="0000FF"/>
                </a:solidFill>
              </a:rPr>
              <a:t>機</a:t>
            </a:r>
            <a:r>
              <a:rPr lang="en-US" altLang="zh-CN" sz="2400" b="1" dirty="0"/>
              <a:t>	</a:t>
            </a:r>
            <a:r>
              <a:rPr lang="zh-CN" altLang="en-US" sz="2400" b="1" dirty="0"/>
              <a:t>其</a:t>
            </a:r>
            <a:r>
              <a:rPr lang="en-US" altLang="zh-CN" sz="2400" b="1" dirty="0"/>
              <a:t>	</a:t>
            </a:r>
            <a:r>
              <a:rPr lang="zh-CN" altLang="en-US" sz="2400" b="1" dirty="0"/>
              <a:t>薛</a:t>
            </a:r>
            <a:r>
              <a:rPr lang="en-US" altLang="zh-CN" sz="2400" b="1" dirty="0"/>
              <a:t>	</a:t>
            </a:r>
            <a:r>
              <a:rPr lang="zh-CN" altLang="en-US" sz="2400" b="1" dirty="0"/>
              <a:t>西</a:t>
            </a:r>
            <a:r>
              <a:rPr lang="en-US" altLang="zh-CN" sz="2400" b="1" dirty="0"/>
              <a:t>	</a:t>
            </a:r>
            <a:r>
              <a:rPr lang="zh-CN" altLang="en-US" sz="2400" b="1" dirty="0"/>
              <a:t>機</a:t>
            </a:r>
            <a:r>
              <a:rPr lang="en-US" altLang="zh-CN" sz="2400" b="1" dirty="0"/>
              <a:t>	</a:t>
            </a:r>
            <a:r>
              <a:rPr lang="zh-CN" altLang="en-US" sz="2400" b="1" dirty="0">
                <a:solidFill>
                  <a:srgbClr val="0000FF"/>
                </a:solidFill>
              </a:rPr>
              <a:t>其</a:t>
            </a:r>
            <a:r>
              <a:rPr lang="en-US" altLang="zh-CN" sz="2400" b="1" dirty="0"/>
              <a:t>	</a:t>
            </a:r>
            <a:r>
              <a:rPr lang="zh-CN" altLang="en-US" sz="2400" b="1" dirty="0"/>
              <a:t>營</a:t>
            </a:r>
            <a:r>
              <a:rPr lang="en-US" altLang="zh-CN" sz="2400" b="1" dirty="0"/>
              <a:t>	</a:t>
            </a:r>
            <a:r>
              <a:rPr lang="zh-CN" altLang="en-US" sz="2400" b="1" dirty="0"/>
              <a:t>永</a:t>
            </a:r>
            <a:endParaRPr lang="en-US" altLang="zh-CN" sz="2400" b="1" dirty="0"/>
          </a:p>
          <a:p>
            <a:pPr>
              <a:buNone/>
            </a:pPr>
            <a:r>
              <a:rPr lang="en-US" altLang="zh-CN" sz="2400" b="1" dirty="0"/>
              <a:t>…  	…  	 …   	…  	…   	…  	 …  	…</a:t>
            </a:r>
          </a:p>
          <a:p>
            <a:pPr marL="0" indent="0">
              <a:buNone/>
            </a:pPr>
            <a:endParaRPr lang="zh-CN" altLang="en-US" dirty="0"/>
          </a:p>
        </p:txBody>
      </p:sp>
      <p:sp>
        <p:nvSpPr>
          <p:cNvPr id="4" name="椭圆 3"/>
          <p:cNvSpPr/>
          <p:nvPr/>
        </p:nvSpPr>
        <p:spPr>
          <a:xfrm>
            <a:off x="1896279" y="3345982"/>
            <a:ext cx="200297" cy="2002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0010504" y="3300549"/>
            <a:ext cx="200297" cy="2002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p:nvPr/>
        </p:nvCxnSpPr>
        <p:spPr>
          <a:xfrm flipV="1">
            <a:off x="2106402" y="2547252"/>
            <a:ext cx="568217" cy="85344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2128676" y="3426823"/>
            <a:ext cx="545942" cy="182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3012077" y="2547252"/>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a:off x="3012077" y="3426823"/>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flipV="1">
            <a:off x="3001188" y="2582087"/>
            <a:ext cx="568217" cy="85344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3024604" y="2558140"/>
            <a:ext cx="544801" cy="8599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2087876" y="3537574"/>
            <a:ext cx="586743" cy="8154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3012077" y="3457304"/>
            <a:ext cx="532313" cy="8098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a:off x="3908521" y="2569019"/>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a:off x="3947143" y="3418107"/>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a:off x="3947143" y="4297686"/>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p:nvPr/>
        </p:nvCxnSpPr>
        <p:spPr>
          <a:xfrm>
            <a:off x="4850664" y="4297686"/>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p:nvPr/>
        </p:nvCxnSpPr>
        <p:spPr>
          <a:xfrm>
            <a:off x="4850664" y="3457302"/>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a:off x="4850664" y="2547252"/>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a:off x="5756106" y="2569019"/>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a:off x="6653352" y="2534175"/>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a:off x="5756106" y="3448583"/>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5756106" y="4306383"/>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p:nvPr/>
        </p:nvCxnSpPr>
        <p:spPr>
          <a:xfrm>
            <a:off x="6675125" y="3436371"/>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a:off x="6666416" y="4335588"/>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p:cNvCxnSpPr/>
          <p:nvPr/>
        </p:nvCxnSpPr>
        <p:spPr>
          <a:xfrm>
            <a:off x="7602577" y="4316892"/>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p:nvPr/>
        </p:nvCxnSpPr>
        <p:spPr>
          <a:xfrm>
            <a:off x="7602577" y="3467806"/>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p:nvPr/>
        </p:nvCxnSpPr>
        <p:spPr>
          <a:xfrm>
            <a:off x="7602577" y="2534175"/>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p:nvPr/>
        </p:nvCxnSpPr>
        <p:spPr>
          <a:xfrm>
            <a:off x="8532239" y="2555957"/>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nvCxnSpPr>
        <p:spPr>
          <a:xfrm>
            <a:off x="8512632" y="3479063"/>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p:cNvCxnSpPr/>
          <p:nvPr/>
        </p:nvCxnSpPr>
        <p:spPr>
          <a:xfrm>
            <a:off x="8503923" y="4353006"/>
            <a:ext cx="59327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a:endCxn id="5" idx="2"/>
          </p:cNvCxnSpPr>
          <p:nvPr/>
        </p:nvCxnSpPr>
        <p:spPr>
          <a:xfrm flipV="1">
            <a:off x="9409605" y="3400698"/>
            <a:ext cx="600899" cy="9523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a:endCxn id="5" idx="2"/>
          </p:cNvCxnSpPr>
          <p:nvPr/>
        </p:nvCxnSpPr>
        <p:spPr>
          <a:xfrm>
            <a:off x="9409605" y="2534175"/>
            <a:ext cx="600899" cy="8665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接箭头连接符 130"/>
          <p:cNvCxnSpPr/>
          <p:nvPr/>
        </p:nvCxnSpPr>
        <p:spPr>
          <a:xfrm flipV="1">
            <a:off x="3956958" y="3435520"/>
            <a:ext cx="555186" cy="8450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p:nvPr/>
        </p:nvCxnSpPr>
        <p:spPr>
          <a:xfrm flipV="1">
            <a:off x="3947143" y="2586441"/>
            <a:ext cx="593273" cy="17112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p:cNvCxnSpPr/>
          <p:nvPr/>
        </p:nvCxnSpPr>
        <p:spPr>
          <a:xfrm>
            <a:off x="3925355" y="2547253"/>
            <a:ext cx="565017" cy="8795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箭头连接符 154"/>
          <p:cNvCxnSpPr/>
          <p:nvPr/>
        </p:nvCxnSpPr>
        <p:spPr>
          <a:xfrm>
            <a:off x="3942744" y="3444235"/>
            <a:ext cx="565017" cy="8795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p:nvPr/>
        </p:nvCxnSpPr>
        <p:spPr>
          <a:xfrm>
            <a:off x="3908521" y="2551599"/>
            <a:ext cx="631895" cy="18114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3947143" y="2612572"/>
            <a:ext cx="544301" cy="7881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4850663" y="2612571"/>
            <a:ext cx="515994" cy="8142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5756106" y="2612573"/>
            <a:ext cx="568495" cy="8142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675124" y="2547252"/>
            <a:ext cx="571500" cy="180575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7602577" y="2612574"/>
            <a:ext cx="548647" cy="16546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8532239" y="2586441"/>
            <a:ext cx="564957" cy="8708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endCxn id="5" idx="2"/>
          </p:cNvCxnSpPr>
          <p:nvPr/>
        </p:nvCxnSpPr>
        <p:spPr>
          <a:xfrm flipV="1">
            <a:off x="9409605" y="3400697"/>
            <a:ext cx="600899" cy="261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p:nvPr/>
        </p:nvCxnSpPr>
        <p:spPr>
          <a:xfrm flipV="1">
            <a:off x="4850663" y="3500846"/>
            <a:ext cx="515994" cy="7797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直接箭头连接符 164"/>
          <p:cNvCxnSpPr/>
          <p:nvPr/>
        </p:nvCxnSpPr>
        <p:spPr>
          <a:xfrm flipV="1">
            <a:off x="4873517" y="2564354"/>
            <a:ext cx="538847" cy="8626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接箭头连接符 170"/>
          <p:cNvCxnSpPr/>
          <p:nvPr/>
        </p:nvCxnSpPr>
        <p:spPr>
          <a:xfrm flipV="1">
            <a:off x="6657691" y="3508668"/>
            <a:ext cx="608506" cy="7719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p:cNvCxnSpPr/>
          <p:nvPr/>
        </p:nvCxnSpPr>
        <p:spPr>
          <a:xfrm flipV="1">
            <a:off x="6675125" y="2581606"/>
            <a:ext cx="538847" cy="8626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直接箭头连接符 180"/>
          <p:cNvCxnSpPr/>
          <p:nvPr/>
        </p:nvCxnSpPr>
        <p:spPr>
          <a:xfrm flipV="1">
            <a:off x="7598240" y="3509383"/>
            <a:ext cx="510574" cy="7624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接箭头连接符 181"/>
          <p:cNvCxnSpPr/>
          <p:nvPr/>
        </p:nvCxnSpPr>
        <p:spPr>
          <a:xfrm flipV="1">
            <a:off x="7615674" y="2572891"/>
            <a:ext cx="538847" cy="8626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接箭头连接符 182"/>
          <p:cNvCxnSpPr/>
          <p:nvPr/>
        </p:nvCxnSpPr>
        <p:spPr>
          <a:xfrm flipV="1">
            <a:off x="8521281" y="3488964"/>
            <a:ext cx="556280" cy="8279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接箭头连接符 183"/>
          <p:cNvCxnSpPr/>
          <p:nvPr/>
        </p:nvCxnSpPr>
        <p:spPr>
          <a:xfrm flipV="1">
            <a:off x="8538715" y="2617912"/>
            <a:ext cx="538847" cy="8626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直接箭头连接符 184"/>
          <p:cNvCxnSpPr/>
          <p:nvPr/>
        </p:nvCxnSpPr>
        <p:spPr>
          <a:xfrm flipV="1">
            <a:off x="5756911" y="3481091"/>
            <a:ext cx="515994" cy="7797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直接箭头连接符 185"/>
          <p:cNvCxnSpPr/>
          <p:nvPr/>
        </p:nvCxnSpPr>
        <p:spPr>
          <a:xfrm>
            <a:off x="4840118" y="2540692"/>
            <a:ext cx="631895" cy="18114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箭头连接符 187"/>
          <p:cNvCxnSpPr/>
          <p:nvPr/>
        </p:nvCxnSpPr>
        <p:spPr>
          <a:xfrm>
            <a:off x="5737057" y="2534114"/>
            <a:ext cx="631895" cy="18114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直接箭头连接符 188"/>
          <p:cNvCxnSpPr/>
          <p:nvPr/>
        </p:nvCxnSpPr>
        <p:spPr>
          <a:xfrm>
            <a:off x="7564249" y="2524180"/>
            <a:ext cx="631895" cy="18114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接箭头连接符 189"/>
          <p:cNvCxnSpPr/>
          <p:nvPr/>
        </p:nvCxnSpPr>
        <p:spPr>
          <a:xfrm>
            <a:off x="8502800" y="2605703"/>
            <a:ext cx="631895" cy="18114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直接箭头连接符 190"/>
          <p:cNvCxnSpPr/>
          <p:nvPr/>
        </p:nvCxnSpPr>
        <p:spPr>
          <a:xfrm>
            <a:off x="4858145" y="3435520"/>
            <a:ext cx="565017" cy="8795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直接箭头连接符 191"/>
          <p:cNvCxnSpPr/>
          <p:nvPr/>
        </p:nvCxnSpPr>
        <p:spPr>
          <a:xfrm>
            <a:off x="5755831" y="3444234"/>
            <a:ext cx="565017" cy="8795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直接箭头连接符 192"/>
          <p:cNvCxnSpPr/>
          <p:nvPr/>
        </p:nvCxnSpPr>
        <p:spPr>
          <a:xfrm>
            <a:off x="6653352" y="3435520"/>
            <a:ext cx="565017" cy="8795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直接箭头连接符 193"/>
          <p:cNvCxnSpPr/>
          <p:nvPr/>
        </p:nvCxnSpPr>
        <p:spPr>
          <a:xfrm>
            <a:off x="7577313" y="3458988"/>
            <a:ext cx="565017" cy="8795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直接箭头连接符 195"/>
          <p:cNvCxnSpPr/>
          <p:nvPr/>
        </p:nvCxnSpPr>
        <p:spPr>
          <a:xfrm>
            <a:off x="8532307" y="3504712"/>
            <a:ext cx="565017" cy="8795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直接箭头连接符 196"/>
          <p:cNvCxnSpPr/>
          <p:nvPr/>
        </p:nvCxnSpPr>
        <p:spPr>
          <a:xfrm flipV="1">
            <a:off x="6653223" y="2524182"/>
            <a:ext cx="560748" cy="17647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接箭头连接符 200"/>
          <p:cNvCxnSpPr/>
          <p:nvPr/>
        </p:nvCxnSpPr>
        <p:spPr>
          <a:xfrm flipV="1">
            <a:off x="8516813" y="2558448"/>
            <a:ext cx="560748" cy="17647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直接箭头连接符 201"/>
          <p:cNvCxnSpPr/>
          <p:nvPr/>
        </p:nvCxnSpPr>
        <p:spPr>
          <a:xfrm flipV="1">
            <a:off x="4833076" y="2515491"/>
            <a:ext cx="560748" cy="17647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接箭头连接符 202"/>
          <p:cNvCxnSpPr/>
          <p:nvPr/>
        </p:nvCxnSpPr>
        <p:spPr>
          <a:xfrm flipV="1">
            <a:off x="5774624" y="2558448"/>
            <a:ext cx="560748" cy="17647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直接箭头连接符 204"/>
          <p:cNvCxnSpPr/>
          <p:nvPr/>
        </p:nvCxnSpPr>
        <p:spPr>
          <a:xfrm>
            <a:off x="6675374" y="2551821"/>
            <a:ext cx="600899" cy="8665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接箭头连接符 205"/>
          <p:cNvCxnSpPr/>
          <p:nvPr/>
        </p:nvCxnSpPr>
        <p:spPr>
          <a:xfrm>
            <a:off x="7607295" y="2569920"/>
            <a:ext cx="600899" cy="8665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直接箭头连接符 206"/>
          <p:cNvCxnSpPr/>
          <p:nvPr/>
        </p:nvCxnSpPr>
        <p:spPr>
          <a:xfrm>
            <a:off x="5751879" y="2568999"/>
            <a:ext cx="600899" cy="8665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曲线连接符 211"/>
          <p:cNvCxnSpPr/>
          <p:nvPr/>
        </p:nvCxnSpPr>
        <p:spPr>
          <a:xfrm rot="16200000" flipH="1">
            <a:off x="7349823" y="1880902"/>
            <a:ext cx="711445" cy="404398"/>
          </a:xfrm>
          <a:prstGeom prst="curvedConnector3">
            <a:avLst/>
          </a:prstGeom>
          <a:ln w="38100">
            <a:solidFill>
              <a:srgbClr val="119F14"/>
            </a:solidFill>
            <a:tailEnd type="triangle"/>
          </a:ln>
        </p:spPr>
        <p:style>
          <a:lnRef idx="1">
            <a:schemeClr val="accent1"/>
          </a:lnRef>
          <a:fillRef idx="0">
            <a:schemeClr val="accent1"/>
          </a:fillRef>
          <a:effectRef idx="0">
            <a:schemeClr val="accent1"/>
          </a:effectRef>
          <a:fontRef idx="minor">
            <a:schemeClr val="tx1"/>
          </a:fontRef>
        </p:style>
      </p:cxnSp>
      <p:sp>
        <p:nvSpPr>
          <p:cNvPr id="215" name="Text Box 16"/>
          <p:cNvSpPr txBox="1">
            <a:spLocks noChangeArrowheads="1"/>
          </p:cNvSpPr>
          <p:nvPr/>
        </p:nvSpPr>
        <p:spPr bwMode="auto">
          <a:xfrm>
            <a:off x="2819170" y="5468510"/>
            <a:ext cx="543739" cy="523220"/>
          </a:xfrm>
          <a:prstGeom prst="rect">
            <a:avLst/>
          </a:prstGeom>
          <a:noFill/>
          <a:ln w="9525">
            <a:noFill/>
            <a:miter lim="800000"/>
            <a:headEnd/>
            <a:tailEnd/>
          </a:ln>
        </p:spPr>
        <p:txBody>
          <a:bodyPr wrap="none" anchor="ctr">
            <a:spAutoFit/>
          </a:bodyPr>
          <a:lstStyle/>
          <a:p>
            <a:pPr algn="ctr">
              <a:spcBef>
                <a:spcPct val="50000"/>
              </a:spcBef>
            </a:pPr>
            <a:r>
              <a:rPr lang="zh-CN" altLang="en-US" sz="2800" dirty="0"/>
              <a:t>求</a:t>
            </a:r>
          </a:p>
        </p:txBody>
      </p:sp>
      <p:sp>
        <p:nvSpPr>
          <p:cNvPr id="216" name="Text Box 18"/>
          <p:cNvSpPr txBox="1">
            <a:spLocks noChangeArrowheads="1"/>
          </p:cNvSpPr>
          <p:nvPr/>
        </p:nvSpPr>
        <p:spPr bwMode="auto">
          <a:xfrm>
            <a:off x="6611682" y="5409297"/>
            <a:ext cx="902811" cy="523220"/>
          </a:xfrm>
          <a:prstGeom prst="rect">
            <a:avLst/>
          </a:prstGeom>
          <a:noFill/>
          <a:ln w="9525">
            <a:noFill/>
            <a:miter lim="800000"/>
            <a:headEnd/>
            <a:tailEnd/>
          </a:ln>
        </p:spPr>
        <p:txBody>
          <a:bodyPr wrap="none" anchor="ctr">
            <a:spAutoFit/>
          </a:bodyPr>
          <a:lstStyle/>
          <a:p>
            <a:pPr algn="ctr">
              <a:spcBef>
                <a:spcPct val="50000"/>
              </a:spcBef>
            </a:pPr>
            <a:r>
              <a:rPr lang="zh-CN" altLang="en-US" sz="2800" dirty="0"/>
              <a:t>最小</a:t>
            </a: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90A6D83C-72E6-7DE0-D08B-CFA98A77F751}"/>
                  </a:ext>
                </a:extLst>
              </p:cNvPr>
              <p:cNvSpPr txBox="1"/>
              <p:nvPr/>
            </p:nvSpPr>
            <p:spPr>
              <a:xfrm>
                <a:off x="3278762" y="5094536"/>
                <a:ext cx="3429913" cy="117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a:latin typeface="Cambria Math" panose="02040503050406030204" pitchFamily="18" charset="0"/>
                        </a:rPr>
                        <m:t>−</m:t>
                      </m:r>
                      <m:nary>
                        <m:naryPr>
                          <m:chr m:val="∑"/>
                          <m:ctrlPr>
                            <a:rPr kumimoji="1" lang="en-US" altLang="zh-CN" sz="2800" i="1">
                              <a:latin typeface="Cambria Math" panose="02040503050406030204" pitchFamily="18" charset="0"/>
                            </a:rPr>
                          </m:ctrlPr>
                        </m:naryPr>
                        <m:sub>
                          <m:r>
                            <m:rPr>
                              <m:brk m:alnAt="23"/>
                            </m:rPr>
                            <a:rPr kumimoji="1" lang="en-US" altLang="zh-CN" sz="2800" i="1">
                              <a:latin typeface="Cambria Math" panose="02040503050406030204" pitchFamily="18" charset="0"/>
                            </a:rPr>
                            <m:t>𝑖</m:t>
                          </m:r>
                          <m:r>
                            <a:rPr kumimoji="1" lang="en-US" altLang="zh-CN" sz="2800" i="1">
                              <a:latin typeface="Cambria Math" panose="02040503050406030204" pitchFamily="18" charset="0"/>
                            </a:rPr>
                            <m:t>=1</m:t>
                          </m:r>
                        </m:sub>
                        <m:sup>
                          <m:r>
                            <a:rPr kumimoji="1" lang="en-US" altLang="zh-CN" sz="2800" i="1">
                              <a:latin typeface="Cambria Math" panose="02040503050406030204" pitchFamily="18" charset="0"/>
                            </a:rPr>
                            <m:t>𝑛</m:t>
                          </m:r>
                        </m:sup>
                        <m:e>
                          <m:r>
                            <m:rPr>
                              <m:sty m:val="p"/>
                            </m:rPr>
                            <a:rPr kumimoji="1" lang="en-US" altLang="zh-CN" sz="2800">
                              <a:latin typeface="Cambria Math" panose="02040503050406030204" pitchFamily="18" charset="0"/>
                            </a:rPr>
                            <m:t>log</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𝑃</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𝑤</m:t>
                                  </m:r>
                                </m:e>
                                <m:sub>
                                  <m:r>
                                    <a:rPr kumimoji="1" lang="en-US" altLang="zh-CN" sz="2800" i="1">
                                      <a:latin typeface="Cambria Math" panose="02040503050406030204" pitchFamily="18" charset="0"/>
                                    </a:rPr>
                                    <m:t>𝑖</m:t>
                                  </m:r>
                                </m:sub>
                              </m:sSub>
                            </m:e>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𝑤</m:t>
                                  </m:r>
                                </m:e>
                                <m:sub>
                                  <m:r>
                                    <a:rPr kumimoji="1" lang="en-US" altLang="zh-CN" sz="2800" i="1">
                                      <a:latin typeface="Cambria Math" panose="02040503050406030204" pitchFamily="18" charset="0"/>
                                    </a:rPr>
                                    <m:t>𝑖</m:t>
                                  </m:r>
                                  <m:r>
                                    <a:rPr kumimoji="1" lang="en-US" altLang="zh-CN" sz="2800" i="1">
                                      <a:latin typeface="Cambria Math" panose="02040503050406030204" pitchFamily="18" charset="0"/>
                                    </a:rPr>
                                    <m:t>−1</m:t>
                                  </m:r>
                                </m:sub>
                              </m:sSub>
                            </m:e>
                          </m:d>
                          <m:r>
                            <a:rPr kumimoji="1" lang="en-US" altLang="zh-CN" sz="2800" i="1">
                              <a:latin typeface="Cambria Math" panose="02040503050406030204" pitchFamily="18" charset="0"/>
                            </a:rPr>
                            <m:t>)</m:t>
                          </m:r>
                        </m:e>
                      </m:nary>
                    </m:oMath>
                  </m:oMathPara>
                </a14:m>
                <a:endParaRPr kumimoji="1" lang="zh-CN" altLang="en-US" sz="2800" dirty="0"/>
              </a:p>
            </p:txBody>
          </p:sp>
        </mc:Choice>
        <mc:Fallback>
          <p:sp>
            <p:nvSpPr>
              <p:cNvPr id="6" name="文本框 5">
                <a:extLst>
                  <a:ext uri="{FF2B5EF4-FFF2-40B4-BE49-F238E27FC236}">
                    <a16:creationId xmlns:a16="http://schemas.microsoft.com/office/drawing/2014/main" id="{90A6D83C-72E6-7DE0-D08B-CFA98A77F751}"/>
                  </a:ext>
                </a:extLst>
              </p:cNvPr>
              <p:cNvSpPr txBox="1">
                <a:spLocks noRot="1" noChangeAspect="1" noMove="1" noResize="1" noEditPoints="1" noAdjustHandles="1" noChangeArrowheads="1" noChangeShapeType="1" noTextEdit="1"/>
              </p:cNvSpPr>
              <p:nvPr/>
            </p:nvSpPr>
            <p:spPr>
              <a:xfrm>
                <a:off x="3278762" y="5094536"/>
                <a:ext cx="3429913" cy="117621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719BBC2B-A2A4-D2CE-49C1-67D430892F47}"/>
                  </a:ext>
                </a:extLst>
              </p:cNvPr>
              <p:cNvSpPr txBox="1"/>
              <p:nvPr/>
            </p:nvSpPr>
            <p:spPr>
              <a:xfrm>
                <a:off x="6157815" y="1047352"/>
                <a:ext cx="283423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a:latin typeface="Cambria Math" panose="02040503050406030204" pitchFamily="18" charset="0"/>
                        </a:rPr>
                        <m:t>−</m:t>
                      </m:r>
                      <m:r>
                        <m:rPr>
                          <m:sty m:val="p"/>
                        </m:rPr>
                        <a:rPr kumimoji="1" lang="en-US" altLang="zh-CN" sz="2800">
                          <a:latin typeface="Cambria Math" panose="02040503050406030204" pitchFamily="18" charset="0"/>
                        </a:rPr>
                        <m:t>log</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𝑃</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𝑤</m:t>
                              </m:r>
                            </m:e>
                            <m:sub>
                              <m:r>
                                <a:rPr kumimoji="1" lang="en-US" altLang="zh-CN" sz="2800" i="1">
                                  <a:latin typeface="Cambria Math" panose="02040503050406030204" pitchFamily="18" charset="0"/>
                                </a:rPr>
                                <m:t>𝑖</m:t>
                              </m:r>
                            </m:sub>
                          </m:sSub>
                        </m:e>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𝑤</m:t>
                              </m:r>
                            </m:e>
                            <m:sub>
                              <m:r>
                                <a:rPr kumimoji="1" lang="en-US" altLang="zh-CN" sz="2800" i="1">
                                  <a:latin typeface="Cambria Math" panose="02040503050406030204" pitchFamily="18" charset="0"/>
                                </a:rPr>
                                <m:t>𝑖</m:t>
                              </m:r>
                              <m:r>
                                <a:rPr kumimoji="1" lang="en-US" altLang="zh-CN" sz="2800" i="1">
                                  <a:latin typeface="Cambria Math" panose="02040503050406030204" pitchFamily="18" charset="0"/>
                                </a:rPr>
                                <m:t>−1</m:t>
                              </m:r>
                            </m:sub>
                          </m:sSub>
                        </m:e>
                      </m:d>
                      <m:r>
                        <a:rPr kumimoji="1" lang="en-US" altLang="zh-CN" sz="2800" i="1">
                          <a:latin typeface="Cambria Math" panose="02040503050406030204" pitchFamily="18" charset="0"/>
                        </a:rPr>
                        <m:t>)</m:t>
                      </m:r>
                    </m:oMath>
                  </m:oMathPara>
                </a14:m>
                <a:endParaRPr kumimoji="1" lang="zh-CN" altLang="en-US" sz="2800" dirty="0"/>
              </a:p>
            </p:txBody>
          </p:sp>
        </mc:Choice>
        <mc:Fallback>
          <p:sp>
            <p:nvSpPr>
              <p:cNvPr id="9" name="文本框 8">
                <a:extLst>
                  <a:ext uri="{FF2B5EF4-FFF2-40B4-BE49-F238E27FC236}">
                    <a16:creationId xmlns:a16="http://schemas.microsoft.com/office/drawing/2014/main" id="{719BBC2B-A2A4-D2CE-49C1-67D430892F47}"/>
                  </a:ext>
                </a:extLst>
              </p:cNvPr>
              <p:cNvSpPr txBox="1">
                <a:spLocks noRot="1" noChangeAspect="1" noMove="1" noResize="1" noEditPoints="1" noAdjustHandles="1" noChangeArrowheads="1" noChangeShapeType="1" noTextEdit="1"/>
              </p:cNvSpPr>
              <p:nvPr/>
            </p:nvSpPr>
            <p:spPr>
              <a:xfrm>
                <a:off x="6157815" y="1047352"/>
                <a:ext cx="2834237" cy="430887"/>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0214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1" presetClass="entr" presetSubtype="0" fill="hold" nodeType="withEffect">
                                  <p:stCondLst>
                                    <p:cond delay="0"/>
                                  </p:stCondLst>
                                  <p:childTnLst>
                                    <p:set>
                                      <p:cBhvr>
                                        <p:cTn id="9" dur="1" fill="hold">
                                          <p:stCondLst>
                                            <p:cond delay="0"/>
                                          </p:stCondLst>
                                        </p:cTn>
                                        <p:tgtEl>
                                          <p:spTgt spid="21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1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16"/>
                                        </p:tgtEl>
                                        <p:attrNameLst>
                                          <p:attrName>style.visibility</p:attrName>
                                        </p:attrNameLst>
                                      </p:cBhvr>
                                      <p:to>
                                        <p:strVal val="visible"/>
                                      </p:to>
                                    </p:set>
                                  </p:childTnLst>
                                </p:cTn>
                              </p:par>
                              <p:par>
                                <p:cTn id="16" presetID="3"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p:bldP spid="216" grpId="0"/>
      <p:bldP spid="6"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934DF-CC89-DF7D-9F98-279713B18A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BF2A2D6-9352-C0A9-6993-4369D10C64C5}"/>
              </a:ext>
            </a:extLst>
          </p:cNvPr>
          <p:cNvSpPr>
            <a:spLocks noGrp="1"/>
          </p:cNvSpPr>
          <p:nvPr>
            <p:ph type="title"/>
          </p:nvPr>
        </p:nvSpPr>
        <p:spPr/>
        <p:txBody>
          <a:bodyPr/>
          <a:lstStyle/>
          <a:p>
            <a:r>
              <a:rPr lang="zh-CN" altLang="en-US" dirty="0"/>
              <a:t>前期回顧：模式匹配</a:t>
            </a:r>
          </a:p>
        </p:txBody>
      </p:sp>
      <p:pic>
        <p:nvPicPr>
          <p:cNvPr id="8" name="图片 7">
            <a:extLst>
              <a:ext uri="{FF2B5EF4-FFF2-40B4-BE49-F238E27FC236}">
                <a16:creationId xmlns:a16="http://schemas.microsoft.com/office/drawing/2014/main" id="{EA48882F-787B-30B7-3CB5-B171B24570B7}"/>
              </a:ext>
            </a:extLst>
          </p:cNvPr>
          <p:cNvPicPr>
            <a:picLocks noChangeAspect="1"/>
          </p:cNvPicPr>
          <p:nvPr/>
        </p:nvPicPr>
        <p:blipFill>
          <a:blip r:embed="rId2"/>
          <a:stretch>
            <a:fillRect/>
          </a:stretch>
        </p:blipFill>
        <p:spPr>
          <a:xfrm>
            <a:off x="-443610" y="1286546"/>
            <a:ext cx="10720037" cy="2236205"/>
          </a:xfrm>
          <a:prstGeom prst="rect">
            <a:avLst/>
          </a:prstGeom>
        </p:spPr>
      </p:pic>
      <p:pic>
        <p:nvPicPr>
          <p:cNvPr id="9" name="图片 8">
            <a:extLst>
              <a:ext uri="{FF2B5EF4-FFF2-40B4-BE49-F238E27FC236}">
                <a16:creationId xmlns:a16="http://schemas.microsoft.com/office/drawing/2014/main" id="{A4AE2574-7FCA-09DB-BB19-E58D3EC7C962}"/>
              </a:ext>
            </a:extLst>
          </p:cNvPr>
          <p:cNvPicPr>
            <a:picLocks noChangeAspect="1"/>
          </p:cNvPicPr>
          <p:nvPr/>
        </p:nvPicPr>
        <p:blipFill>
          <a:blip r:embed="rId3"/>
          <a:stretch>
            <a:fillRect/>
          </a:stretch>
        </p:blipFill>
        <p:spPr>
          <a:xfrm>
            <a:off x="-175979" y="1286546"/>
            <a:ext cx="10503034" cy="2190938"/>
          </a:xfrm>
          <a:prstGeom prst="rect">
            <a:avLst/>
          </a:prstGeom>
        </p:spPr>
      </p:pic>
      <p:sp>
        <p:nvSpPr>
          <p:cNvPr id="10" name="文本框 448">
            <a:extLst>
              <a:ext uri="{FF2B5EF4-FFF2-40B4-BE49-F238E27FC236}">
                <a16:creationId xmlns:a16="http://schemas.microsoft.com/office/drawing/2014/main" id="{3A4D47AC-8CD0-D2AE-1016-9F1B1D0D7441}"/>
              </a:ext>
            </a:extLst>
          </p:cNvPr>
          <p:cNvSpPr txBox="1"/>
          <p:nvPr/>
        </p:nvSpPr>
        <p:spPr>
          <a:xfrm>
            <a:off x="3172306" y="2247400"/>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sz="4800" kern="100" dirty="0">
                <a:effectLst/>
                <a:latin typeface="宋体"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2" name="文本框 448">
            <a:extLst>
              <a:ext uri="{FF2B5EF4-FFF2-40B4-BE49-F238E27FC236}">
                <a16:creationId xmlns:a16="http://schemas.microsoft.com/office/drawing/2014/main" id="{20EC11A8-65A1-452F-FE52-DDD120AF4B4D}"/>
              </a:ext>
            </a:extLst>
          </p:cNvPr>
          <p:cNvSpPr txBox="1"/>
          <p:nvPr/>
        </p:nvSpPr>
        <p:spPr>
          <a:xfrm>
            <a:off x="6260166" y="2202133"/>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altLang="zh-CN" sz="4800" b="1" kern="100" dirty="0">
                <a:latin typeface="宋体"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3" name="图片 12">
            <a:extLst>
              <a:ext uri="{FF2B5EF4-FFF2-40B4-BE49-F238E27FC236}">
                <a16:creationId xmlns:a16="http://schemas.microsoft.com/office/drawing/2014/main" id="{AA7EE154-E370-8AF5-65A4-5689E7DBE153}"/>
              </a:ext>
            </a:extLst>
          </p:cNvPr>
          <p:cNvPicPr>
            <a:picLocks noChangeAspect="1"/>
          </p:cNvPicPr>
          <p:nvPr/>
        </p:nvPicPr>
        <p:blipFill>
          <a:blip r:embed="rId4"/>
          <a:stretch>
            <a:fillRect/>
          </a:stretch>
        </p:blipFill>
        <p:spPr>
          <a:xfrm>
            <a:off x="7008020" y="1715975"/>
            <a:ext cx="4418724" cy="1928171"/>
          </a:xfrm>
          <a:prstGeom prst="rect">
            <a:avLst/>
          </a:prstGeom>
        </p:spPr>
      </p:pic>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BA0BBC28-CED9-E9C0-BE31-B12D5AFAEAD0}"/>
                  </a:ext>
                </a:extLst>
              </p:cNvPr>
              <p:cNvSpPr txBox="1"/>
              <p:nvPr/>
            </p:nvSpPr>
            <p:spPr>
              <a:xfrm>
                <a:off x="1077362" y="4364604"/>
                <a:ext cx="10349382" cy="18466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600" b="0" i="1" smtClean="0">
                          <a:latin typeface="Cambria Math" panose="02040503050406030204" pitchFamily="18" charset="0"/>
                        </a:rPr>
                        <m:t>𝑛𝑒𝑡</m:t>
                      </m:r>
                      <m:r>
                        <a:rPr lang="en-US" altLang="zh-CN" sz="3600" b="0" i="1" smtClean="0">
                          <a:latin typeface="Cambria Math" panose="02040503050406030204" pitchFamily="18" charset="0"/>
                        </a:rPr>
                        <m:t>=</m:t>
                      </m:r>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𝑤</m:t>
                          </m:r>
                        </m:e>
                        <m:sub>
                          <m:r>
                            <a:rPr lang="en-US" altLang="zh-CN" sz="3600" b="0" i="1" smtClean="0">
                              <a:latin typeface="Cambria Math" panose="02040503050406030204" pitchFamily="18" charset="0"/>
                            </a:rPr>
                            <m:t>1</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i="1">
                              <a:latin typeface="Cambria Math" panose="02040503050406030204" pitchFamily="18" charset="0"/>
                            </a:rPr>
                            <m:t>1</m:t>
                          </m:r>
                        </m:sub>
                      </m:sSub>
                      <m:r>
                        <a:rPr lang="en-US" altLang="zh-CN" sz="3600" b="0" i="1" smtClean="0">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𝑤</m:t>
                          </m:r>
                        </m:e>
                        <m:sub>
                          <m:r>
                            <a:rPr lang="en-US" altLang="zh-CN" sz="3600" b="0" i="1" smtClean="0">
                              <a:latin typeface="Cambria Math" panose="02040503050406030204" pitchFamily="18" charset="0"/>
                            </a:rPr>
                            <m:t>2</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𝑥</m:t>
                          </m:r>
                        </m:e>
                        <m:sub>
                          <m:r>
                            <a:rPr lang="en-US" altLang="zh-CN" sz="3600" b="0" i="1" smtClean="0">
                              <a:latin typeface="Cambria Math" panose="02040503050406030204" pitchFamily="18" charset="0"/>
                            </a:rPr>
                            <m:t>2</m:t>
                          </m:r>
                        </m:sub>
                      </m:sSub>
                      <m:r>
                        <a:rPr lang="en-US" altLang="zh-CN" sz="3600" b="0" i="1" smtClean="0">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𝑤</m:t>
                          </m:r>
                        </m:e>
                        <m:sub>
                          <m:r>
                            <a:rPr lang="en-US" altLang="zh-CN" sz="3600" b="0" i="1" smtClean="0">
                              <a:latin typeface="Cambria Math" panose="02040503050406030204" pitchFamily="18" charset="0"/>
                            </a:rPr>
                            <m:t>𝑛</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𝑥</m:t>
                          </m:r>
                        </m:e>
                        <m:sub>
                          <m:r>
                            <a:rPr lang="en-US" altLang="zh-CN" sz="3600" b="0" i="1" smtClean="0">
                              <a:latin typeface="Cambria Math" panose="02040503050406030204" pitchFamily="18" charset="0"/>
                            </a:rPr>
                            <m:t>𝑛</m:t>
                          </m:r>
                        </m:sub>
                      </m:sSub>
                    </m:oMath>
                  </m:oMathPara>
                </a14:m>
                <a:endParaRPr lang="en-US" altLang="zh-CN" sz="2600" i="1" dirty="0">
                  <a:latin typeface="Cambria Math" panose="02040503050406030204" pitchFamily="18" charset="0"/>
                </a:endParaRPr>
              </a:p>
              <a:p>
                <a:endParaRPr lang="en-US" altLang="zh-CN" sz="2600" i="1" dirty="0">
                  <a:latin typeface="Cambria Math" panose="02040503050406030204" pitchFamily="18" charset="0"/>
                </a:endParaRPr>
              </a:p>
              <a:p>
                <a:r>
                  <a:rPr lang="zh-CN" altLang="en-US" sz="2600" dirty="0"/>
                  <a:t>其中：</a:t>
                </a:r>
                <a14:m>
                  <m:oMath xmlns:m="http://schemas.openxmlformats.org/officeDocument/2006/math">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𝑤</m:t>
                        </m:r>
                      </m:e>
                      <m:sub>
                        <m:r>
                          <a:rPr lang="en-US" altLang="zh-CN" sz="2600" b="0" i="1" smtClean="0">
                            <a:latin typeface="Cambria Math" panose="02040503050406030204" pitchFamily="18" charset="0"/>
                          </a:rPr>
                          <m:t>𝑖</m:t>
                        </m:r>
                      </m:sub>
                    </m:sSub>
                    <m:d>
                      <m:dPr>
                        <m:ctrlPr>
                          <a:rPr lang="en-US" altLang="zh-CN" sz="2600" b="0" i="1" smtClean="0">
                            <a:latin typeface="Cambria Math" panose="02040503050406030204" pitchFamily="18" charset="0"/>
                          </a:rPr>
                        </m:ctrlPr>
                      </m:dPr>
                      <m:e>
                        <m:r>
                          <a:rPr lang="en-US" altLang="zh-CN" sz="2600" b="0" i="1" smtClean="0">
                            <a:latin typeface="Cambria Math" panose="02040503050406030204" pitchFamily="18" charset="0"/>
                          </a:rPr>
                          <m:t>𝑖</m:t>
                        </m:r>
                        <m:r>
                          <a:rPr lang="en-US" altLang="zh-CN" sz="2600" b="0" i="1" smtClean="0">
                            <a:latin typeface="Cambria Math" panose="02040503050406030204" pitchFamily="18" charset="0"/>
                          </a:rPr>
                          <m:t>=1,2,…,</m:t>
                        </m:r>
                        <m:r>
                          <a:rPr lang="en-US" altLang="zh-CN" sz="2600" b="0" i="1" smtClean="0">
                            <a:latin typeface="Cambria Math" panose="02040503050406030204" pitchFamily="18" charset="0"/>
                          </a:rPr>
                          <m:t>𝑛</m:t>
                        </m:r>
                      </m:e>
                    </m:d>
                    <m:r>
                      <a:rPr lang="zh-CN" altLang="en-US" sz="2600" i="1">
                        <a:latin typeface="Cambria Math" panose="02040503050406030204" pitchFamily="18" charset="0"/>
                      </a:rPr>
                      <m:t>：</m:t>
                    </m:r>
                  </m:oMath>
                </a14:m>
                <a:r>
                  <a:rPr lang="zh-CN" altLang="en-US" sz="2600" dirty="0"/>
                  <a:t>表示數位模式</a:t>
                </a:r>
                <a:endParaRPr lang="en-US" altLang="zh-CN" sz="2600" dirty="0"/>
              </a:p>
              <a:p>
                <a:r>
                  <a:rPr lang="en-US" altLang="zh-CN" sz="2600" dirty="0"/>
                  <a:t>              </a:t>
                </a:r>
                <a14:m>
                  <m:oMath xmlns:m="http://schemas.openxmlformats.org/officeDocument/2006/math">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𝑥</m:t>
                        </m:r>
                      </m:e>
                      <m:sub>
                        <m:r>
                          <a:rPr lang="en-US" altLang="zh-CN" sz="2600" i="1">
                            <a:latin typeface="Cambria Math" panose="02040503050406030204" pitchFamily="18" charset="0"/>
                          </a:rPr>
                          <m:t>𝑖</m:t>
                        </m:r>
                      </m:sub>
                    </m:sSub>
                    <m:d>
                      <m:dPr>
                        <m:ctrlPr>
                          <a:rPr lang="en-US" altLang="zh-CN" sz="2600" i="1">
                            <a:latin typeface="Cambria Math" panose="02040503050406030204" pitchFamily="18" charset="0"/>
                          </a:rPr>
                        </m:ctrlPr>
                      </m:dPr>
                      <m:e>
                        <m:r>
                          <a:rPr lang="en-US" altLang="zh-CN" sz="2600" i="1">
                            <a:latin typeface="Cambria Math" panose="02040503050406030204" pitchFamily="18" charset="0"/>
                          </a:rPr>
                          <m:t>𝑖</m:t>
                        </m:r>
                        <m:r>
                          <a:rPr lang="en-US" altLang="zh-CN" sz="2600" i="1">
                            <a:latin typeface="Cambria Math" panose="02040503050406030204" pitchFamily="18" charset="0"/>
                          </a:rPr>
                          <m:t>=1,2,…,</m:t>
                        </m:r>
                        <m:r>
                          <a:rPr lang="en-US" altLang="zh-CN" sz="2600" i="1">
                            <a:latin typeface="Cambria Math" panose="02040503050406030204" pitchFamily="18" charset="0"/>
                          </a:rPr>
                          <m:t>𝑛</m:t>
                        </m:r>
                      </m:e>
                    </m:d>
                    <m:r>
                      <a:rPr lang="zh-CN" altLang="en-US" sz="2600" i="1">
                        <a:latin typeface="Cambria Math" panose="02040503050406030204" pitchFamily="18" charset="0"/>
                      </a:rPr>
                      <m:t>：</m:t>
                    </m:r>
                  </m:oMath>
                </a14:m>
                <a:r>
                  <a:rPr lang="zh-CN" altLang="en-US" sz="2600" dirty="0"/>
                  <a:t>表示數位圖像</a:t>
                </a:r>
                <a:endParaRPr lang="en-US" altLang="zh-CN" sz="2600" dirty="0"/>
              </a:p>
            </p:txBody>
          </p:sp>
        </mc:Choice>
        <mc:Fallback>
          <p:sp>
            <p:nvSpPr>
              <p:cNvPr id="14" name="文本框 13">
                <a:extLst>
                  <a:ext uri="{FF2B5EF4-FFF2-40B4-BE49-F238E27FC236}">
                    <a16:creationId xmlns:a16="http://schemas.microsoft.com/office/drawing/2014/main" id="{BA0BBC28-CED9-E9C0-BE31-B12D5AFAEAD0}"/>
                  </a:ext>
                </a:extLst>
              </p:cNvPr>
              <p:cNvSpPr txBox="1">
                <a:spLocks noRot="1" noChangeAspect="1" noMove="1" noResize="1" noEditPoints="1" noAdjustHandles="1" noChangeArrowheads="1" noChangeShapeType="1" noTextEdit="1"/>
              </p:cNvSpPr>
              <p:nvPr/>
            </p:nvSpPr>
            <p:spPr>
              <a:xfrm>
                <a:off x="1077362" y="4364604"/>
                <a:ext cx="10349382" cy="1846659"/>
              </a:xfrm>
              <a:prstGeom prst="rect">
                <a:avLst/>
              </a:prstGeom>
              <a:blipFill>
                <a:blip r:embed="rId5"/>
                <a:stretch>
                  <a:fillRect l="-1061" b="-5281"/>
                </a:stretch>
              </a:blipFill>
            </p:spPr>
            <p:txBody>
              <a:bodyPr/>
              <a:lstStyle/>
              <a:p>
                <a:r>
                  <a:rPr lang="zh-TW" altLang="en-US">
                    <a:noFill/>
                  </a:rPr>
                  <a:t> </a:t>
                </a:r>
              </a:p>
            </p:txBody>
          </p:sp>
        </mc:Fallback>
      </mc:AlternateContent>
      <p:sp>
        <p:nvSpPr>
          <p:cNvPr id="11" name="文本框 10">
            <a:extLst>
              <a:ext uri="{FF2B5EF4-FFF2-40B4-BE49-F238E27FC236}">
                <a16:creationId xmlns:a16="http://schemas.microsoft.com/office/drawing/2014/main" id="{50F08D7B-BBB5-A598-C95C-47170709EBB7}"/>
              </a:ext>
            </a:extLst>
          </p:cNvPr>
          <p:cNvSpPr txBox="1"/>
          <p:nvPr/>
        </p:nvSpPr>
        <p:spPr>
          <a:xfrm>
            <a:off x="1284980" y="3713504"/>
            <a:ext cx="2866145" cy="400110"/>
          </a:xfrm>
          <a:prstGeom prst="rect">
            <a:avLst/>
          </a:prstGeom>
          <a:solidFill>
            <a:schemeClr val="bg1"/>
          </a:solidFill>
        </p:spPr>
        <p:txBody>
          <a:bodyPr wrap="square" rtlCol="0">
            <a:spAutoFit/>
          </a:bodyPr>
          <a:lstStyle/>
          <a:p>
            <a:r>
              <a:rPr lang="zh-CN" altLang="en-US" sz="2000" dirty="0"/>
              <a:t>數字</a:t>
            </a:r>
            <a:r>
              <a:rPr lang="en-US" altLang="zh-CN" sz="2000" b="1" dirty="0">
                <a:solidFill>
                  <a:srgbClr val="FF0000"/>
                </a:solidFill>
              </a:rPr>
              <a:t>8</a:t>
            </a:r>
            <a:r>
              <a:rPr lang="zh-CN" altLang="en-US" sz="2000" dirty="0"/>
              <a:t>的圖像</a:t>
            </a:r>
          </a:p>
        </p:txBody>
      </p:sp>
      <p:sp>
        <p:nvSpPr>
          <p:cNvPr id="15" name="文本框 14">
            <a:extLst>
              <a:ext uri="{FF2B5EF4-FFF2-40B4-BE49-F238E27FC236}">
                <a16:creationId xmlns:a16="http://schemas.microsoft.com/office/drawing/2014/main" id="{F734CD1E-7CA5-E0D4-5F70-0BDEF9FD5754}"/>
              </a:ext>
            </a:extLst>
          </p:cNvPr>
          <p:cNvSpPr txBox="1"/>
          <p:nvPr/>
        </p:nvSpPr>
        <p:spPr>
          <a:xfrm>
            <a:off x="4404157" y="3713504"/>
            <a:ext cx="2603863" cy="400110"/>
          </a:xfrm>
          <a:prstGeom prst="rect">
            <a:avLst/>
          </a:prstGeom>
          <a:noFill/>
        </p:spPr>
        <p:txBody>
          <a:bodyPr wrap="square" rtlCol="0">
            <a:spAutoFit/>
          </a:bodyPr>
          <a:lstStyle/>
          <a:p>
            <a:r>
              <a:rPr lang="zh-CN" altLang="en-US" sz="2000" dirty="0"/>
              <a:t>數字</a:t>
            </a:r>
            <a:r>
              <a:rPr lang="en-US" altLang="zh-CN" sz="2000" b="1" dirty="0">
                <a:solidFill>
                  <a:srgbClr val="FF0000"/>
                </a:solidFill>
              </a:rPr>
              <a:t>3</a:t>
            </a:r>
            <a:r>
              <a:rPr lang="zh-CN" altLang="en-US" sz="2000" dirty="0"/>
              <a:t>的模式</a:t>
            </a:r>
          </a:p>
        </p:txBody>
      </p:sp>
      <p:sp>
        <p:nvSpPr>
          <p:cNvPr id="3" name="矩形 2">
            <a:extLst>
              <a:ext uri="{FF2B5EF4-FFF2-40B4-BE49-F238E27FC236}">
                <a16:creationId xmlns:a16="http://schemas.microsoft.com/office/drawing/2014/main" id="{56B50097-1DBC-E3BF-8908-6E5804316E98}"/>
              </a:ext>
            </a:extLst>
          </p:cNvPr>
          <p:cNvSpPr/>
          <p:nvPr/>
        </p:nvSpPr>
        <p:spPr>
          <a:xfrm>
            <a:off x="8796693" y="1205760"/>
            <a:ext cx="304800" cy="288115"/>
          </a:xfrm>
          <a:prstGeom prst="rect">
            <a:avLst/>
          </a:prstGeom>
          <a:solidFill>
            <a:srgbClr val="FFF2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62050296-4553-D238-8B85-45EE7FA72D2B}"/>
              </a:ext>
            </a:extLst>
          </p:cNvPr>
          <p:cNvSpPr/>
          <p:nvPr/>
        </p:nvSpPr>
        <p:spPr>
          <a:xfrm>
            <a:off x="9544675" y="1205760"/>
            <a:ext cx="304800" cy="28811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D89DB3BD-BAF9-C556-B471-3F34BDEFBE42}"/>
              </a:ext>
            </a:extLst>
          </p:cNvPr>
          <p:cNvSpPr txBox="1"/>
          <p:nvPr/>
        </p:nvSpPr>
        <p:spPr>
          <a:xfrm>
            <a:off x="9102514" y="1165151"/>
            <a:ext cx="290464" cy="369332"/>
          </a:xfrm>
          <a:prstGeom prst="rect">
            <a:avLst/>
          </a:prstGeom>
          <a:noFill/>
        </p:spPr>
        <p:txBody>
          <a:bodyPr wrap="none" rtlCol="0">
            <a:spAutoFit/>
          </a:bodyPr>
          <a:lstStyle/>
          <a:p>
            <a:r>
              <a:rPr kumimoji="1" lang="en-US" altLang="zh-CN" dirty="0"/>
              <a:t>1</a:t>
            </a:r>
            <a:endParaRPr kumimoji="1" lang="zh-CN" altLang="en-US" dirty="0"/>
          </a:p>
        </p:txBody>
      </p:sp>
      <p:sp>
        <p:nvSpPr>
          <p:cNvPr id="6" name="文本框 5">
            <a:extLst>
              <a:ext uri="{FF2B5EF4-FFF2-40B4-BE49-F238E27FC236}">
                <a16:creationId xmlns:a16="http://schemas.microsoft.com/office/drawing/2014/main" id="{ACD9232E-046E-4024-61E0-7B8132ED04C1}"/>
              </a:ext>
            </a:extLst>
          </p:cNvPr>
          <p:cNvSpPr txBox="1"/>
          <p:nvPr/>
        </p:nvSpPr>
        <p:spPr>
          <a:xfrm>
            <a:off x="9856357" y="1165151"/>
            <a:ext cx="290464" cy="369332"/>
          </a:xfrm>
          <a:prstGeom prst="rect">
            <a:avLst/>
          </a:prstGeom>
          <a:noFill/>
        </p:spPr>
        <p:txBody>
          <a:bodyPr wrap="none" rtlCol="0">
            <a:spAutoFit/>
          </a:bodyPr>
          <a:lstStyle/>
          <a:p>
            <a:r>
              <a:rPr kumimoji="1" lang="en-US" altLang="zh-CN" dirty="0"/>
              <a:t>0</a:t>
            </a:r>
            <a:endParaRPr kumimoji="1" lang="zh-CN" altLang="en-US" dirty="0"/>
          </a:p>
        </p:txBody>
      </p:sp>
      <p:sp>
        <p:nvSpPr>
          <p:cNvPr id="7" name="矩形 6">
            <a:extLst>
              <a:ext uri="{FF2B5EF4-FFF2-40B4-BE49-F238E27FC236}">
                <a16:creationId xmlns:a16="http://schemas.microsoft.com/office/drawing/2014/main" id="{FA1794CD-95E5-AB94-0060-A8C16C7C6016}"/>
              </a:ext>
            </a:extLst>
          </p:cNvPr>
          <p:cNvSpPr/>
          <p:nvPr/>
        </p:nvSpPr>
        <p:spPr>
          <a:xfrm>
            <a:off x="10298518" y="1205760"/>
            <a:ext cx="304800" cy="288115"/>
          </a:xfrm>
          <a:prstGeom prst="rect">
            <a:avLst/>
          </a:prstGeom>
          <a:solidFill>
            <a:srgbClr val="E2EFD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C29B583B-A14A-14FA-BD1B-288BDCE965EE}"/>
              </a:ext>
            </a:extLst>
          </p:cNvPr>
          <p:cNvSpPr txBox="1"/>
          <p:nvPr/>
        </p:nvSpPr>
        <p:spPr>
          <a:xfrm>
            <a:off x="10610200" y="1165151"/>
            <a:ext cx="362600" cy="369332"/>
          </a:xfrm>
          <a:prstGeom prst="rect">
            <a:avLst/>
          </a:prstGeom>
          <a:noFill/>
        </p:spPr>
        <p:txBody>
          <a:bodyPr wrap="none" rtlCol="0">
            <a:spAutoFit/>
          </a:bodyPr>
          <a:lstStyle/>
          <a:p>
            <a:r>
              <a:rPr kumimoji="1" lang="en-US" altLang="zh-CN" dirty="0"/>
              <a:t>-1</a:t>
            </a:r>
            <a:endParaRPr kumimoji="1" lang="zh-CN" altLang="en-US" dirty="0"/>
          </a:p>
        </p:txBody>
      </p:sp>
    </p:spTree>
    <p:extLst>
      <p:ext uri="{BB962C8B-B14F-4D97-AF65-F5344CB8AC3E}">
        <p14:creationId xmlns:p14="http://schemas.microsoft.com/office/powerpoint/2010/main" val="60654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存在的問題</a:t>
            </a:r>
          </a:p>
        </p:txBody>
      </p:sp>
      <p:sp>
        <p:nvSpPr>
          <p:cNvPr id="3" name="内容占位符 2"/>
          <p:cNvSpPr>
            <a:spLocks noGrp="1"/>
          </p:cNvSpPr>
          <p:nvPr>
            <p:ph sz="quarter" idx="1"/>
          </p:nvPr>
        </p:nvSpPr>
        <p:spPr/>
        <p:txBody>
          <a:bodyPr/>
          <a:lstStyle/>
          <a:p>
            <a:endParaRPr lang="en-US" altLang="zh-CN" dirty="0"/>
          </a:p>
          <a:p>
            <a:r>
              <a:rPr lang="zh-CN" altLang="en-US" dirty="0"/>
              <a:t>筆劃多少帶來的問題</a:t>
            </a:r>
            <a:endParaRPr lang="en-US" altLang="zh-CN" dirty="0"/>
          </a:p>
          <a:p>
            <a:pPr lvl="1"/>
            <a:r>
              <a:rPr lang="en-US" altLang="zh-CN" dirty="0"/>
              <a:t>1</a:t>
            </a:r>
            <a:r>
              <a:rPr lang="zh-CN" altLang="en-US" dirty="0"/>
              <a:t>的筆劃少</a:t>
            </a:r>
            <a:endParaRPr lang="en-US" altLang="zh-CN" dirty="0"/>
          </a:p>
          <a:p>
            <a:pPr lvl="1"/>
            <a:r>
              <a:rPr lang="en-US" altLang="zh-CN" dirty="0"/>
              <a:t>8</a:t>
            </a:r>
            <a:r>
              <a:rPr lang="zh-CN" altLang="en-US" dirty="0"/>
              <a:t>的筆劃多</a:t>
            </a:r>
            <a:endParaRPr lang="en-US" altLang="zh-CN" dirty="0"/>
          </a:p>
          <a:p>
            <a:endParaRPr lang="en-US" altLang="zh-CN" dirty="0"/>
          </a:p>
          <a:p>
            <a:r>
              <a:rPr lang="zh-CN" altLang="en-US" dirty="0"/>
              <a:t>如何評判匹配的程度？</a:t>
            </a:r>
          </a:p>
        </p:txBody>
      </p:sp>
    </p:spTree>
    <p:extLst>
      <p:ext uri="{BB962C8B-B14F-4D97-AF65-F5344CB8AC3E}">
        <p14:creationId xmlns:p14="http://schemas.microsoft.com/office/powerpoint/2010/main" val="649485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dirty="0"/>
              <a:t>Sigmoid</a:t>
            </a:r>
            <a:r>
              <a:rPr lang="zh-CN" altLang="en-US" dirty="0"/>
              <a:t>函數</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p:txBody>
              <a:bodyPr/>
              <a:lstStyle/>
              <a:p>
                <a:pPr marL="0" indent="0">
                  <a:buNone/>
                </a:pPr>
                <a:endParaRPr lang="en-US" altLang="zh-CN" dirty="0"/>
              </a:p>
              <a:p>
                <a:r>
                  <a:rPr lang="zh-CN" altLang="en-US" dirty="0"/>
                  <a:t>使用</a:t>
                </a:r>
                <a:r>
                  <a:rPr lang="en-US" altLang="zh-CN" dirty="0"/>
                  <a:t>sigmoid</a:t>
                </a:r>
                <a:r>
                  <a:rPr lang="zh-CN" altLang="en-US" dirty="0"/>
                  <a:t>函數將匹配結果</a:t>
                </a:r>
                <a:endParaRPr lang="en-US" altLang="zh-CN" dirty="0"/>
              </a:p>
              <a:p>
                <a:pPr marL="0" indent="0">
                  <a:buNone/>
                </a:pPr>
                <a:r>
                  <a:rPr lang="en-US" altLang="zh-CN" dirty="0"/>
                  <a:t>    </a:t>
                </a:r>
                <a:r>
                  <a:rPr lang="zh-CN" altLang="en-US" dirty="0"/>
                  <a:t>變換到</a:t>
                </a:r>
                <a:r>
                  <a:rPr lang="en-US" altLang="zh-CN" dirty="0"/>
                  <a:t>0~1</a:t>
                </a:r>
                <a:r>
                  <a:rPr lang="zh-CN" altLang="en-US" dirty="0"/>
                  <a:t>之間</a:t>
                </a:r>
                <a:endParaRPr lang="en-US" altLang="zh-CN" dirty="0"/>
              </a:p>
              <a:p>
                <a:pPr marL="0" indent="0">
                  <a:buNone/>
                </a:pPr>
                <a:endParaRPr lang="en-US" altLang="zh-CN" sz="4800" b="0" dirty="0"/>
              </a:p>
              <a:p>
                <a:pPr marL="0" indent="0">
                  <a:buNone/>
                </a:pPr>
                <a:r>
                  <a:rPr lang="en-US" altLang="zh-CN" sz="4800" b="0" dirty="0"/>
                  <a:t> </a:t>
                </a:r>
                <a14:m>
                  <m:oMath xmlns:m="http://schemas.openxmlformats.org/officeDocument/2006/math">
                    <m:r>
                      <a:rPr lang="en-US" altLang="zh-CN" sz="3600" b="0" i="0" smtClean="0">
                        <a:latin typeface="Cambria Math" panose="02040503050406030204" pitchFamily="18" charset="0"/>
                      </a:rPr>
                      <m:t>  </m:t>
                    </m:r>
                    <m:r>
                      <m:rPr>
                        <m:sty m:val="p"/>
                      </m:rPr>
                      <a:rPr lang="zh-CN" altLang="zh-CN" sz="3600">
                        <a:latin typeface="Cambria Math" panose="02040503050406030204" pitchFamily="18" charset="0"/>
                      </a:rPr>
                      <m:t>σ</m:t>
                    </m:r>
                    <m:d>
                      <m:dPr>
                        <m:ctrlPr>
                          <a:rPr lang="zh-CN" altLang="zh-CN" sz="3600" i="1">
                            <a:latin typeface="Cambria Math" panose="02040503050406030204" pitchFamily="18" charset="0"/>
                          </a:rPr>
                        </m:ctrlPr>
                      </m:dPr>
                      <m:e>
                        <m:r>
                          <a:rPr lang="en-US" altLang="zh-CN" sz="3600" b="0" i="1" smtClean="0">
                            <a:latin typeface="Cambria Math" panose="02040503050406030204" pitchFamily="18" charset="0"/>
                          </a:rPr>
                          <m:t>𝑛𝑒𝑡</m:t>
                        </m:r>
                      </m:e>
                    </m:d>
                    <m:r>
                      <a:rPr lang="en-US" altLang="zh-CN" sz="3600">
                        <a:latin typeface="Cambria Math" panose="02040503050406030204" pitchFamily="18" charset="0"/>
                      </a:rPr>
                      <m:t>=</m:t>
                    </m:r>
                    <m:f>
                      <m:fPr>
                        <m:ctrlPr>
                          <a:rPr lang="zh-CN" altLang="zh-CN" sz="3600" i="1">
                            <a:latin typeface="Cambria Math" panose="02040503050406030204" pitchFamily="18" charset="0"/>
                          </a:rPr>
                        </m:ctrlPr>
                      </m:fPr>
                      <m:num>
                        <m:r>
                          <a:rPr lang="en-US" altLang="zh-CN" sz="3600" i="1">
                            <a:latin typeface="Cambria Math" panose="02040503050406030204" pitchFamily="18" charset="0"/>
                          </a:rPr>
                          <m:t>1</m:t>
                        </m:r>
                      </m:num>
                      <m:den>
                        <m:r>
                          <a:rPr lang="en-US" altLang="zh-CN" sz="3600" i="1">
                            <a:latin typeface="Cambria Math" panose="02040503050406030204" pitchFamily="18" charset="0"/>
                          </a:rPr>
                          <m:t>1+</m:t>
                        </m:r>
                        <m:sSup>
                          <m:sSupPr>
                            <m:ctrlPr>
                              <a:rPr lang="zh-CN" altLang="zh-CN" sz="3600" i="1">
                                <a:latin typeface="Cambria Math" panose="02040503050406030204" pitchFamily="18" charset="0"/>
                              </a:rPr>
                            </m:ctrlPr>
                          </m:sSupPr>
                          <m:e>
                            <m:r>
                              <a:rPr lang="en-US" altLang="zh-CN" sz="3600" i="1">
                                <a:latin typeface="Cambria Math" panose="02040503050406030204" pitchFamily="18" charset="0"/>
                              </a:rPr>
                              <m:t>𝑒</m:t>
                            </m:r>
                          </m:e>
                          <m:sup>
                            <m:r>
                              <a:rPr lang="en-US" altLang="zh-CN" sz="3600" i="1">
                                <a:latin typeface="Cambria Math" panose="02040503050406030204" pitchFamily="18" charset="0"/>
                              </a:rPr>
                              <m:t>−</m:t>
                            </m:r>
                            <m:r>
                              <a:rPr lang="en-US" altLang="zh-CN" sz="3600" b="0" i="1" smtClean="0">
                                <a:latin typeface="Cambria Math" panose="02040503050406030204" pitchFamily="18" charset="0"/>
                              </a:rPr>
                              <m:t>𝑛𝑒𝑡</m:t>
                            </m:r>
                          </m:sup>
                        </m:sSup>
                      </m:den>
                    </m:f>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blipFill>
                <a:blip r:embed="rId3"/>
                <a:stretch>
                  <a:fillRect/>
                </a:stretch>
              </a:blipFill>
            </p:spPr>
            <p:txBody>
              <a:bodyPr/>
              <a:lstStyle/>
              <a:p>
                <a:r>
                  <a:rPr lang="zh-TW" altLang="en-US">
                    <a:noFill/>
                  </a:rPr>
                  <a:t> </a:t>
                </a:r>
              </a:p>
            </p:txBody>
          </p:sp>
        </mc:Fallback>
      </mc:AlternateContent>
      <p:pic>
        <p:nvPicPr>
          <p:cNvPr id="4" name="图片 3"/>
          <p:cNvPicPr>
            <a:picLocks noChangeAspect="1"/>
          </p:cNvPicPr>
          <p:nvPr/>
        </p:nvPicPr>
        <p:blipFill>
          <a:blip r:embed="rId4"/>
          <a:stretch>
            <a:fillRect/>
          </a:stretch>
        </p:blipFill>
        <p:spPr>
          <a:xfrm>
            <a:off x="5610888" y="1757393"/>
            <a:ext cx="5640568" cy="4139869"/>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10903760" y="5276422"/>
                <a:ext cx="695392"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𝑛𝑒𝑡</m:t>
                      </m:r>
                    </m:oMath>
                  </m:oMathPara>
                </a14:m>
                <a:endParaRPr lang="zh-CN" altLang="en-US" sz="2400" dirty="0"/>
              </a:p>
            </p:txBody>
          </p:sp>
        </mc:Choice>
        <mc:Fallback>
          <p:sp>
            <p:nvSpPr>
              <p:cNvPr id="5" name="文本框 4"/>
              <p:cNvSpPr txBox="1">
                <a:spLocks noRot="1" noChangeAspect="1" noMove="1" noResize="1" noEditPoints="1" noAdjustHandles="1" noChangeArrowheads="1" noChangeShapeType="1" noTextEdit="1"/>
              </p:cNvSpPr>
              <p:nvPr/>
            </p:nvSpPr>
            <p:spPr>
              <a:xfrm>
                <a:off x="10903760" y="5276422"/>
                <a:ext cx="695392" cy="46166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000187" y="1417638"/>
                <a:ext cx="998252"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zh-CN" altLang="zh-CN" sz="2400" smtClean="0">
                          <a:latin typeface="Cambria Math" panose="02040503050406030204" pitchFamily="18" charset="0"/>
                        </a:rPr>
                        <m:t>σ</m:t>
                      </m:r>
                      <m:d>
                        <m:dPr>
                          <m:ctrlPr>
                            <a:rPr lang="en-US" altLang="zh-CN" sz="2400" b="0" i="1" smtClean="0">
                              <a:latin typeface="Cambria Math" panose="02040503050406030204" pitchFamily="18" charset="0"/>
                            </a:rPr>
                          </m:ctrlPr>
                        </m:dPr>
                        <m:e>
                          <m:r>
                            <a:rPr lang="en-US" altLang="zh-CN" sz="2400" i="1">
                              <a:latin typeface="Cambria Math" panose="02040503050406030204" pitchFamily="18" charset="0"/>
                            </a:rPr>
                            <m:t>𝑛𝑒𝑡</m:t>
                          </m:r>
                        </m:e>
                      </m:d>
                    </m:oMath>
                  </m:oMathPara>
                </a14:m>
                <a:endParaRPr lang="en-US" altLang="zh-CN" sz="2400" b="0" dirty="0"/>
              </a:p>
            </p:txBody>
          </p:sp>
        </mc:Choice>
        <mc:Fallback>
          <p:sp>
            <p:nvSpPr>
              <p:cNvPr id="6" name="文本框 5"/>
              <p:cNvSpPr txBox="1">
                <a:spLocks noRot="1" noChangeAspect="1" noMove="1" noResize="1" noEditPoints="1" noAdjustHandles="1" noChangeArrowheads="1" noChangeShapeType="1" noTextEdit="1"/>
              </p:cNvSpPr>
              <p:nvPr/>
            </p:nvSpPr>
            <p:spPr>
              <a:xfrm>
                <a:off x="6000187" y="1417638"/>
                <a:ext cx="998252" cy="461665"/>
              </a:xfrm>
              <a:prstGeom prst="rect">
                <a:avLst/>
              </a:prstGeom>
              <a:blipFill>
                <a:blip r:embed="rId6"/>
                <a:stretch>
                  <a:fillRect/>
                </a:stretch>
              </a:blipFill>
            </p:spPr>
            <p:txBody>
              <a:bodyPr/>
              <a:lstStyle/>
              <a:p>
                <a:r>
                  <a:rPr lang="zh-TW" altLang="en-US">
                    <a:noFill/>
                  </a:rPr>
                  <a:t> </a:t>
                </a:r>
              </a:p>
            </p:txBody>
          </p:sp>
        </mc:Fallback>
      </mc:AlternateContent>
      <p:sp>
        <p:nvSpPr>
          <p:cNvPr id="7" name="文本框 6"/>
          <p:cNvSpPr txBox="1"/>
          <p:nvPr/>
        </p:nvSpPr>
        <p:spPr>
          <a:xfrm>
            <a:off x="5358980" y="3490991"/>
            <a:ext cx="686830" cy="830997"/>
          </a:xfrm>
          <a:prstGeom prst="rect">
            <a:avLst/>
          </a:prstGeom>
          <a:solidFill>
            <a:schemeClr val="bg1"/>
          </a:solidFill>
        </p:spPr>
        <p:txBody>
          <a:bodyPr wrap="square" rtlCol="0">
            <a:spAutoFit/>
          </a:bodyPr>
          <a:lstStyle/>
          <a:p>
            <a:endParaRPr lang="en-US" altLang="zh-CN" sz="2400" b="0" dirty="0">
              <a:solidFill>
                <a:srgbClr val="FF0000"/>
              </a:solidFill>
            </a:endParaRPr>
          </a:p>
          <a:p>
            <a:endParaRPr lang="en-US" altLang="zh-CN" sz="2400" b="0" dirty="0">
              <a:solidFill>
                <a:srgbClr val="FF0000"/>
              </a:solidFill>
            </a:endParaRPr>
          </a:p>
        </p:txBody>
      </p:sp>
    </p:spTree>
    <p:extLst>
      <p:ext uri="{BB962C8B-B14F-4D97-AF65-F5344CB8AC3E}">
        <p14:creationId xmlns:p14="http://schemas.microsoft.com/office/powerpoint/2010/main" val="3155268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增加偏置項</a:t>
            </a:r>
          </a:p>
        </p:txBody>
      </p:sp>
      <p:sp>
        <p:nvSpPr>
          <p:cNvPr id="3" name="内容占位符 2"/>
          <p:cNvSpPr>
            <a:spLocks noGrp="1"/>
          </p:cNvSpPr>
          <p:nvPr>
            <p:ph sz="quarter" idx="1"/>
          </p:nvPr>
        </p:nvSpPr>
        <p:spPr>
          <a:xfrm>
            <a:off x="1219200" y="1141437"/>
            <a:ext cx="10363200" cy="5038965"/>
          </a:xfrm>
        </p:spPr>
        <p:txBody>
          <a:bodyPr>
            <a:normAutofit/>
          </a:bodyPr>
          <a:lstStyle/>
          <a:p>
            <a:endParaRPr lang="en-US" altLang="zh-CN" dirty="0"/>
          </a:p>
          <a:p>
            <a:r>
              <a:rPr lang="zh-CN" altLang="en-US" dirty="0"/>
              <a:t>通過增加偏置項讓</a:t>
            </a:r>
            <a:r>
              <a:rPr lang="en-US" altLang="zh-CN" dirty="0"/>
              <a:t>sigmoid</a:t>
            </a:r>
            <a:r>
              <a:rPr lang="zh-CN" altLang="en-US" dirty="0"/>
              <a:t>函數平移</a:t>
            </a:r>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pPr marL="0" indent="0">
              <a:buNone/>
            </a:pPr>
            <a:endParaRPr lang="en-US" altLang="zh-CN" sz="2000" i="1" dirty="0">
              <a:latin typeface="Cambria Math" panose="02040503050406030204" pitchFamily="18" charset="0"/>
            </a:endParaRPr>
          </a:p>
          <a:p>
            <a:pPr marL="0" indent="0">
              <a:buNone/>
            </a:pPr>
            <a:r>
              <a:rPr lang="en-US" altLang="zh-CN" sz="2000" i="1" dirty="0">
                <a:latin typeface="Cambria Math" panose="02040503050406030204" pitchFamily="18" charset="0"/>
              </a:rPr>
              <a:t>                                         </a:t>
            </a:r>
            <a:r>
              <a:rPr lang="en-US" altLang="zh-CN" sz="2400" dirty="0">
                <a:solidFill>
                  <a:srgbClr val="FF0000"/>
                </a:solidFill>
                <a:latin typeface="Cambria Math" panose="02040503050406030204" pitchFamily="18" charset="0"/>
              </a:rPr>
              <a:t>net                                                                     </a:t>
            </a:r>
            <a:r>
              <a:rPr lang="en-US" altLang="zh-CN" sz="2400" dirty="0" err="1">
                <a:solidFill>
                  <a:srgbClr val="FF0000"/>
                </a:solidFill>
                <a:latin typeface="Cambria Math" panose="02040503050406030204" pitchFamily="18" charset="0"/>
              </a:rPr>
              <a:t>net+b</a:t>
            </a:r>
            <a:r>
              <a:rPr lang="en-US" altLang="zh-CN" sz="2400" dirty="0">
                <a:solidFill>
                  <a:srgbClr val="FF0000"/>
                </a:solidFill>
                <a:latin typeface="Cambria Math" panose="02040503050406030204" pitchFamily="18" charset="0"/>
              </a:rPr>
              <a:t> (b</a:t>
            </a:r>
            <a:r>
              <a:rPr lang="en-US" altLang="zh-CN" dirty="0">
                <a:solidFill>
                  <a:srgbClr val="FF0000"/>
                </a:solidFill>
              </a:rPr>
              <a:t>&lt;0</a:t>
            </a:r>
            <a:r>
              <a:rPr lang="en-US" altLang="zh-CN" sz="2400" dirty="0">
                <a:solidFill>
                  <a:srgbClr val="FF0000"/>
                </a:solidFill>
                <a:latin typeface="Cambria Math" panose="02040503050406030204" pitchFamily="18" charset="0"/>
              </a:rPr>
              <a:t>)</a:t>
            </a:r>
          </a:p>
          <a:p>
            <a:endParaRPr lang="zh-CN" altLang="en-US" dirty="0"/>
          </a:p>
        </p:txBody>
      </p:sp>
      <p:pic>
        <p:nvPicPr>
          <p:cNvPr id="4" name="图片 3"/>
          <p:cNvPicPr>
            <a:picLocks noChangeAspect="1"/>
          </p:cNvPicPr>
          <p:nvPr/>
        </p:nvPicPr>
        <p:blipFill>
          <a:blip r:embed="rId3"/>
          <a:stretch>
            <a:fillRect/>
          </a:stretch>
        </p:blipFill>
        <p:spPr>
          <a:xfrm>
            <a:off x="1006977" y="2818350"/>
            <a:ext cx="4958393" cy="2990274"/>
          </a:xfrm>
          <a:prstGeom prst="rect">
            <a:avLst/>
          </a:prstGeom>
        </p:spPr>
      </p:pic>
      <p:pic>
        <p:nvPicPr>
          <p:cNvPr id="5" name="图片 4"/>
          <p:cNvPicPr>
            <a:picLocks noChangeAspect="1"/>
          </p:cNvPicPr>
          <p:nvPr/>
        </p:nvPicPr>
        <p:blipFill>
          <a:blip r:embed="rId3"/>
          <a:stretch>
            <a:fillRect/>
          </a:stretch>
        </p:blipFill>
        <p:spPr>
          <a:xfrm>
            <a:off x="5965371" y="2800932"/>
            <a:ext cx="5376405" cy="3026792"/>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1297578" y="2378002"/>
                <a:ext cx="998252"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zh-CN" altLang="zh-CN" sz="2400" smtClean="0">
                          <a:solidFill>
                            <a:srgbClr val="FF0000"/>
                          </a:solidFill>
                          <a:latin typeface="Cambria Math" panose="02040503050406030204" pitchFamily="18" charset="0"/>
                        </a:rPr>
                        <m:t>σ</m:t>
                      </m:r>
                      <m:d>
                        <m:dPr>
                          <m:ctrlPr>
                            <a:rPr lang="en-US" altLang="zh-CN" sz="2400" b="0" i="1" smtClean="0">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𝑛𝑒𝑡</m:t>
                          </m:r>
                        </m:e>
                      </m:d>
                    </m:oMath>
                  </m:oMathPara>
                </a14:m>
                <a:endParaRPr lang="en-US" altLang="zh-CN" sz="2400" b="0" dirty="0">
                  <a:solidFill>
                    <a:srgbClr val="FF0000"/>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1297578" y="2378002"/>
                <a:ext cx="998252"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6476440" y="2352943"/>
                <a:ext cx="1866372"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zh-CN" altLang="zh-CN" sz="2400" smtClean="0">
                          <a:solidFill>
                            <a:srgbClr val="FF0000"/>
                          </a:solidFill>
                          <a:latin typeface="Cambria Math" panose="02040503050406030204" pitchFamily="18" charset="0"/>
                        </a:rPr>
                        <m:t>σ</m:t>
                      </m:r>
                      <m:d>
                        <m:dPr>
                          <m:ctrlPr>
                            <a:rPr lang="en-US" altLang="zh-CN" sz="2400" b="0" i="1" smtClean="0">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𝑛𝑒𝑡</m:t>
                          </m:r>
                          <m:r>
                            <a:rPr lang="en-US" altLang="zh-CN" sz="2400" b="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𝑏</m:t>
                          </m:r>
                        </m:e>
                      </m:d>
                    </m:oMath>
                  </m:oMathPara>
                </a14:m>
                <a:endParaRPr lang="en-US" altLang="zh-CN" sz="2400" b="0" dirty="0">
                  <a:solidFill>
                    <a:srgbClr val="FF0000"/>
                  </a:solidFill>
                </a:endParaRPr>
              </a:p>
            </p:txBody>
          </p:sp>
        </mc:Choice>
        <mc:Fallback>
          <p:sp>
            <p:nvSpPr>
              <p:cNvPr id="9" name="文本框 8"/>
              <p:cNvSpPr txBox="1">
                <a:spLocks noRot="1" noChangeAspect="1" noMove="1" noResize="1" noEditPoints="1" noAdjustHandles="1" noChangeArrowheads="1" noChangeShapeType="1" noTextEdit="1"/>
              </p:cNvSpPr>
              <p:nvPr/>
            </p:nvSpPr>
            <p:spPr>
              <a:xfrm>
                <a:off x="6476440" y="2352943"/>
                <a:ext cx="1866372" cy="461665"/>
              </a:xfrm>
              <a:prstGeom prst="rect">
                <a:avLst/>
              </a:prstGeom>
              <a:blipFill>
                <a:blip r:embed="rId5"/>
                <a:stretch>
                  <a:fillRect/>
                </a:stretch>
              </a:blipFill>
            </p:spPr>
            <p:txBody>
              <a:bodyPr/>
              <a:lstStyle/>
              <a:p>
                <a:r>
                  <a:rPr lang="zh-TW" altLang="en-US">
                    <a:noFill/>
                  </a:rPr>
                  <a:t> </a:t>
                </a:r>
              </a:p>
            </p:txBody>
          </p:sp>
        </mc:Fallback>
      </mc:AlternateContent>
      <p:sp>
        <p:nvSpPr>
          <p:cNvPr id="10" name="文本框 9"/>
          <p:cNvSpPr txBox="1"/>
          <p:nvPr/>
        </p:nvSpPr>
        <p:spPr>
          <a:xfrm>
            <a:off x="645584" y="3899938"/>
            <a:ext cx="686830" cy="830997"/>
          </a:xfrm>
          <a:prstGeom prst="rect">
            <a:avLst/>
          </a:prstGeom>
          <a:solidFill>
            <a:schemeClr val="bg1"/>
          </a:solidFill>
        </p:spPr>
        <p:txBody>
          <a:bodyPr wrap="square" rtlCol="0">
            <a:spAutoFit/>
          </a:bodyPr>
          <a:lstStyle/>
          <a:p>
            <a:endParaRPr lang="en-US" altLang="zh-CN" sz="2400" b="0" dirty="0">
              <a:solidFill>
                <a:srgbClr val="FF0000"/>
              </a:solidFill>
            </a:endParaRPr>
          </a:p>
          <a:p>
            <a:endParaRPr lang="en-US" altLang="zh-CN" sz="2400" b="0" dirty="0">
              <a:solidFill>
                <a:srgbClr val="FF0000"/>
              </a:solidFill>
            </a:endParaRPr>
          </a:p>
        </p:txBody>
      </p:sp>
      <p:sp>
        <p:nvSpPr>
          <p:cNvPr id="11" name="文本框 10"/>
          <p:cNvSpPr txBox="1"/>
          <p:nvPr/>
        </p:nvSpPr>
        <p:spPr>
          <a:xfrm>
            <a:off x="5700222" y="3924863"/>
            <a:ext cx="686830" cy="830997"/>
          </a:xfrm>
          <a:prstGeom prst="rect">
            <a:avLst/>
          </a:prstGeom>
          <a:solidFill>
            <a:schemeClr val="bg1"/>
          </a:solidFill>
        </p:spPr>
        <p:txBody>
          <a:bodyPr wrap="square" rtlCol="0">
            <a:spAutoFit/>
          </a:bodyPr>
          <a:lstStyle/>
          <a:p>
            <a:endParaRPr lang="en-US" altLang="zh-CN" sz="2400" b="0" dirty="0">
              <a:solidFill>
                <a:srgbClr val="FF0000"/>
              </a:solidFill>
            </a:endParaRPr>
          </a:p>
          <a:p>
            <a:endParaRPr lang="en-US" altLang="zh-CN" sz="2400" b="0" dirty="0">
              <a:solidFill>
                <a:srgbClr val="FF0000"/>
              </a:solidFill>
            </a:endParaRPr>
          </a:p>
        </p:txBody>
      </p:sp>
      <p:sp>
        <p:nvSpPr>
          <p:cNvPr id="12" name="文本框 11"/>
          <p:cNvSpPr txBox="1"/>
          <p:nvPr/>
        </p:nvSpPr>
        <p:spPr>
          <a:xfrm>
            <a:off x="1767840" y="5540999"/>
            <a:ext cx="9309463" cy="830997"/>
          </a:xfrm>
          <a:prstGeom prst="rect">
            <a:avLst/>
          </a:prstGeom>
          <a:solidFill>
            <a:schemeClr val="bg1"/>
          </a:solidFill>
        </p:spPr>
        <p:txBody>
          <a:bodyPr wrap="square" rtlCol="0">
            <a:spAutoFit/>
          </a:bodyPr>
          <a:lstStyle/>
          <a:p>
            <a:r>
              <a:rPr lang="en-US" altLang="zh-CN" sz="2400" b="0" dirty="0">
                <a:solidFill>
                  <a:srgbClr val="FF0000"/>
                </a:solidFill>
              </a:rPr>
              <a:t>                          </a:t>
            </a:r>
            <a:r>
              <a:rPr lang="en-US" altLang="zh-CN" sz="2400" dirty="0">
                <a:solidFill>
                  <a:srgbClr val="FF0000"/>
                </a:solidFill>
                <a:latin typeface="Cambria Math" panose="02040503050406030204" pitchFamily="18" charset="0"/>
              </a:rPr>
              <a:t>net</a:t>
            </a:r>
            <a:r>
              <a:rPr lang="en-US" altLang="zh-CN" sz="2400" b="0" dirty="0">
                <a:solidFill>
                  <a:srgbClr val="FF0000"/>
                </a:solidFill>
              </a:rPr>
              <a:t>                                                                  </a:t>
            </a:r>
            <a:r>
              <a:rPr lang="en-US" altLang="zh-CN" sz="2400" dirty="0" err="1">
                <a:solidFill>
                  <a:srgbClr val="FF0000"/>
                </a:solidFill>
                <a:latin typeface="Cambria Math" panose="02040503050406030204" pitchFamily="18" charset="0"/>
              </a:rPr>
              <a:t>net+b</a:t>
            </a:r>
            <a:r>
              <a:rPr lang="en-US" altLang="zh-CN" sz="2400" dirty="0">
                <a:solidFill>
                  <a:srgbClr val="FF0000"/>
                </a:solidFill>
                <a:latin typeface="Cambria Math" panose="02040503050406030204" pitchFamily="18" charset="0"/>
              </a:rPr>
              <a:t> (b</a:t>
            </a:r>
            <a:r>
              <a:rPr lang="en-US" altLang="zh-CN" sz="2400" dirty="0">
                <a:solidFill>
                  <a:srgbClr val="FF0000"/>
                </a:solidFill>
              </a:rPr>
              <a:t>&lt;0</a:t>
            </a:r>
            <a:r>
              <a:rPr lang="en-US" altLang="zh-CN" sz="2400" dirty="0">
                <a:solidFill>
                  <a:srgbClr val="FF0000"/>
                </a:solidFill>
                <a:latin typeface="Cambria Math" panose="02040503050406030204" pitchFamily="18" charset="0"/>
              </a:rPr>
              <a:t>)</a:t>
            </a:r>
          </a:p>
          <a:p>
            <a:endParaRPr lang="en-US" altLang="zh-CN" sz="2400" b="0" dirty="0">
              <a:solidFill>
                <a:srgbClr val="FF0000"/>
              </a:solidFill>
            </a:endParaRPr>
          </a:p>
        </p:txBody>
      </p:sp>
      <mc:AlternateContent xmlns:mc="http://schemas.openxmlformats.org/markup-compatibility/2006">
        <mc:Choice xmlns:a14="http://schemas.microsoft.com/office/drawing/2010/main" Requires="a14">
          <p:sp>
            <p:nvSpPr>
              <p:cNvPr id="13" name="文本框 12"/>
              <p:cNvSpPr txBox="1"/>
              <p:nvPr/>
            </p:nvSpPr>
            <p:spPr>
              <a:xfrm>
                <a:off x="9280602" y="996111"/>
                <a:ext cx="1674783" cy="1200329"/>
              </a:xfrm>
              <a:prstGeom prst="rect">
                <a:avLst/>
              </a:prstGeom>
              <a:solidFill>
                <a:srgbClr val="00B0F0"/>
              </a:solidFill>
            </p:spPr>
            <p:txBody>
              <a:bodyPr wrap="square" rtlCol="0">
                <a:spAutoFit/>
              </a:bodyPr>
              <a:lstStyle/>
              <a:p>
                <a14:m>
                  <m:oMath xmlns:m="http://schemas.openxmlformats.org/officeDocument/2006/math">
                    <m:r>
                      <m:rPr>
                        <m:sty m:val="p"/>
                      </m:rPr>
                      <a:rPr lang="zh-CN" altLang="zh-CN" sz="2400" smtClean="0">
                        <a:solidFill>
                          <a:srgbClr val="FF0000"/>
                        </a:solidFill>
                        <a:latin typeface="Cambria Math" panose="02040503050406030204" pitchFamily="18" charset="0"/>
                      </a:rPr>
                      <m:t>σ</m:t>
                    </m:r>
                  </m:oMath>
                </a14:m>
                <a:r>
                  <a:rPr lang="en-US" altLang="zh-CN" sz="2400" b="0" dirty="0">
                    <a:solidFill>
                      <a:srgbClr val="FF0000"/>
                    </a:solidFill>
                  </a:rPr>
                  <a:t>(143-129)</a:t>
                </a:r>
              </a:p>
              <a:p>
                <a:r>
                  <a:rPr lang="en-US" altLang="zh-CN" sz="2400" b="0" dirty="0">
                    <a:solidFill>
                      <a:srgbClr val="FF0000"/>
                    </a:solidFill>
                  </a:rPr>
                  <a:t>=</a:t>
                </a:r>
                <a:r>
                  <a:rPr lang="zh-CN" altLang="zh-CN" sz="2400" dirty="0">
                    <a:solidFill>
                      <a:srgbClr val="FF0000"/>
                    </a:solidFill>
                  </a:rPr>
                  <a:t> </a:t>
                </a:r>
                <a14:m>
                  <m:oMath xmlns:m="http://schemas.openxmlformats.org/officeDocument/2006/math">
                    <m:r>
                      <m:rPr>
                        <m:sty m:val="p"/>
                      </m:rPr>
                      <a:rPr lang="zh-CN" altLang="zh-CN" sz="2400">
                        <a:solidFill>
                          <a:srgbClr val="FF0000"/>
                        </a:solidFill>
                        <a:latin typeface="Cambria Math" panose="02040503050406030204" pitchFamily="18" charset="0"/>
                      </a:rPr>
                      <m:t>σ</m:t>
                    </m:r>
                    <m:r>
                      <a:rPr lang="zh-CN" altLang="zh-CN" sz="2400" i="1">
                        <a:solidFill>
                          <a:srgbClr val="FF0000"/>
                        </a:solidFill>
                        <a:latin typeface="Cambria Math" panose="02040503050406030204" pitchFamily="18" charset="0"/>
                      </a:rPr>
                      <m:t> </m:t>
                    </m:r>
                  </m:oMath>
                </a14:m>
                <a:r>
                  <a:rPr lang="en-US" altLang="zh-CN" sz="2400" b="0" dirty="0">
                    <a:solidFill>
                      <a:srgbClr val="FF0000"/>
                    </a:solidFill>
                  </a:rPr>
                  <a:t>(14)</a:t>
                </a:r>
              </a:p>
              <a:p>
                <a:r>
                  <a:rPr lang="en-US" altLang="zh-CN" sz="2400" dirty="0">
                    <a:solidFill>
                      <a:srgbClr val="FF0000"/>
                    </a:solidFill>
                  </a:rPr>
                  <a:t>=0.999999</a:t>
                </a:r>
                <a:endParaRPr lang="en-US" altLang="zh-CN" sz="2400" b="0" dirty="0">
                  <a:solidFill>
                    <a:srgbClr val="FF000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9280602" y="996111"/>
                <a:ext cx="1674783" cy="1200329"/>
              </a:xfrm>
              <a:prstGeom prst="rect">
                <a:avLst/>
              </a:prstGeom>
              <a:blipFill>
                <a:blip r:embed="rId6"/>
                <a:stretch>
                  <a:fillRect l="-5455" t="-3553" b="-10660"/>
                </a:stretch>
              </a:blipFill>
            </p:spPr>
            <p:txBody>
              <a:bodyPr/>
              <a:lstStyle/>
              <a:p>
                <a:r>
                  <a:rPr lang="zh-TW" altLang="en-US">
                    <a:noFill/>
                  </a:rPr>
                  <a:t> </a:t>
                </a:r>
              </a:p>
            </p:txBody>
          </p:sp>
        </mc:Fallback>
      </mc:AlternateContent>
      <p:cxnSp>
        <p:nvCxnSpPr>
          <p:cNvPr id="16" name="曲线连接符 15"/>
          <p:cNvCxnSpPr/>
          <p:nvPr/>
        </p:nvCxnSpPr>
        <p:spPr>
          <a:xfrm rot="16200000" flipH="1">
            <a:off x="10082209" y="2297290"/>
            <a:ext cx="747602" cy="598155"/>
          </a:xfrm>
          <a:prstGeom prst="curvedConnector3">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文本框 16"/>
              <p:cNvSpPr txBox="1"/>
              <p:nvPr/>
            </p:nvSpPr>
            <p:spPr>
              <a:xfrm>
                <a:off x="4311239" y="2352756"/>
                <a:ext cx="1674783" cy="1200329"/>
              </a:xfrm>
              <a:prstGeom prst="rect">
                <a:avLst/>
              </a:prstGeom>
              <a:solidFill>
                <a:srgbClr val="00B0F0"/>
              </a:solidFill>
            </p:spPr>
            <p:txBody>
              <a:bodyPr wrap="square" rtlCol="0">
                <a:spAutoFit/>
              </a:bodyPr>
              <a:lstStyle/>
              <a:p>
                <a14:m>
                  <m:oMath xmlns:m="http://schemas.openxmlformats.org/officeDocument/2006/math">
                    <m:r>
                      <m:rPr>
                        <m:sty m:val="p"/>
                      </m:rPr>
                      <a:rPr lang="zh-CN" altLang="zh-CN" sz="2400" smtClean="0">
                        <a:solidFill>
                          <a:srgbClr val="FF0000"/>
                        </a:solidFill>
                        <a:latin typeface="Cambria Math" panose="02040503050406030204" pitchFamily="18" charset="0"/>
                      </a:rPr>
                      <m:t>σ</m:t>
                    </m:r>
                  </m:oMath>
                </a14:m>
                <a:r>
                  <a:rPr lang="en-US" altLang="zh-CN" sz="2400" b="0" dirty="0">
                    <a:solidFill>
                      <a:srgbClr val="FF0000"/>
                    </a:solidFill>
                  </a:rPr>
                  <a:t>(115-129)</a:t>
                </a:r>
              </a:p>
              <a:p>
                <a:r>
                  <a:rPr lang="en-US" altLang="zh-CN" sz="2400" b="0" dirty="0">
                    <a:solidFill>
                      <a:srgbClr val="FF0000"/>
                    </a:solidFill>
                  </a:rPr>
                  <a:t>=</a:t>
                </a:r>
                <a:r>
                  <a:rPr lang="zh-CN" altLang="zh-CN" sz="2400" dirty="0">
                    <a:solidFill>
                      <a:srgbClr val="FF0000"/>
                    </a:solidFill>
                  </a:rPr>
                  <a:t> </a:t>
                </a:r>
                <a14:m>
                  <m:oMath xmlns:m="http://schemas.openxmlformats.org/officeDocument/2006/math">
                    <m:r>
                      <m:rPr>
                        <m:sty m:val="p"/>
                      </m:rPr>
                      <a:rPr lang="zh-CN" altLang="zh-CN" sz="2400">
                        <a:solidFill>
                          <a:srgbClr val="FF0000"/>
                        </a:solidFill>
                        <a:latin typeface="Cambria Math" panose="02040503050406030204" pitchFamily="18" charset="0"/>
                      </a:rPr>
                      <m:t>σ</m:t>
                    </m:r>
                    <m:r>
                      <a:rPr lang="zh-CN" altLang="zh-CN" sz="2400" i="1">
                        <a:solidFill>
                          <a:srgbClr val="FF0000"/>
                        </a:solidFill>
                        <a:latin typeface="Cambria Math" panose="02040503050406030204" pitchFamily="18" charset="0"/>
                      </a:rPr>
                      <m:t> </m:t>
                    </m:r>
                  </m:oMath>
                </a14:m>
                <a:r>
                  <a:rPr lang="en-US" altLang="zh-CN" sz="2400" b="0" dirty="0">
                    <a:solidFill>
                      <a:srgbClr val="FF0000"/>
                    </a:solidFill>
                  </a:rPr>
                  <a:t>(-14)</a:t>
                </a:r>
              </a:p>
              <a:p>
                <a:r>
                  <a:rPr lang="en-US" altLang="zh-CN" sz="2400" dirty="0">
                    <a:solidFill>
                      <a:srgbClr val="FF0000"/>
                    </a:solidFill>
                  </a:rPr>
                  <a:t>=0.000001</a:t>
                </a:r>
                <a:endParaRPr lang="en-US" altLang="zh-CN" sz="2400" b="0" dirty="0">
                  <a:solidFill>
                    <a:srgbClr val="FF0000"/>
                  </a:solidFill>
                </a:endParaRPr>
              </a:p>
            </p:txBody>
          </p:sp>
        </mc:Choice>
        <mc:Fallback>
          <p:sp>
            <p:nvSpPr>
              <p:cNvPr id="17" name="文本框 16"/>
              <p:cNvSpPr txBox="1">
                <a:spLocks noRot="1" noChangeAspect="1" noMove="1" noResize="1" noEditPoints="1" noAdjustHandles="1" noChangeArrowheads="1" noChangeShapeType="1" noTextEdit="1"/>
              </p:cNvSpPr>
              <p:nvPr/>
            </p:nvSpPr>
            <p:spPr>
              <a:xfrm>
                <a:off x="4311239" y="2352756"/>
                <a:ext cx="1674783" cy="1200329"/>
              </a:xfrm>
              <a:prstGeom prst="rect">
                <a:avLst/>
              </a:prstGeom>
              <a:blipFill>
                <a:blip r:embed="rId7"/>
                <a:stretch>
                  <a:fillRect l="-5455" t="-3553" b="-10660"/>
                </a:stretch>
              </a:blipFill>
            </p:spPr>
            <p:txBody>
              <a:bodyPr/>
              <a:lstStyle/>
              <a:p>
                <a:r>
                  <a:rPr lang="zh-TW" altLang="en-US">
                    <a:noFill/>
                  </a:rPr>
                  <a:t> </a:t>
                </a:r>
              </a:p>
            </p:txBody>
          </p:sp>
        </mc:Fallback>
      </mc:AlternateContent>
      <p:cxnSp>
        <p:nvCxnSpPr>
          <p:cNvPr id="18" name="曲线连接符 17"/>
          <p:cNvCxnSpPr/>
          <p:nvPr/>
        </p:nvCxnSpPr>
        <p:spPr>
          <a:xfrm rot="16200000" flipH="1">
            <a:off x="5340510" y="3689590"/>
            <a:ext cx="1778901" cy="1540725"/>
          </a:xfrm>
          <a:prstGeom prst="curvedConnector3">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6743170" y="5596891"/>
            <a:ext cx="632990" cy="461665"/>
          </a:xfrm>
          <a:prstGeom prst="rect">
            <a:avLst/>
          </a:prstGeom>
          <a:solidFill>
            <a:srgbClr val="00B0F0"/>
          </a:solidFill>
        </p:spPr>
        <p:txBody>
          <a:bodyPr wrap="square" rtlCol="0">
            <a:spAutoFit/>
          </a:bodyPr>
          <a:lstStyle/>
          <a:p>
            <a:r>
              <a:rPr lang="en-US" altLang="zh-CN" sz="2400" b="0" dirty="0">
                <a:solidFill>
                  <a:srgbClr val="FF0000"/>
                </a:solidFill>
              </a:rPr>
              <a:t>-14</a:t>
            </a:r>
          </a:p>
        </p:txBody>
      </p:sp>
      <p:sp>
        <p:nvSpPr>
          <p:cNvPr id="30" name="文本框 29"/>
          <p:cNvSpPr txBox="1"/>
          <p:nvPr/>
        </p:nvSpPr>
        <p:spPr>
          <a:xfrm>
            <a:off x="10476390" y="5589801"/>
            <a:ext cx="632990" cy="461665"/>
          </a:xfrm>
          <a:prstGeom prst="rect">
            <a:avLst/>
          </a:prstGeom>
          <a:solidFill>
            <a:srgbClr val="00B0F0"/>
          </a:solidFill>
        </p:spPr>
        <p:txBody>
          <a:bodyPr wrap="square" rtlCol="0">
            <a:spAutoFit/>
          </a:bodyPr>
          <a:lstStyle/>
          <a:p>
            <a:pPr algn="ctr"/>
            <a:r>
              <a:rPr lang="en-US" altLang="zh-CN" sz="2400" b="0" dirty="0">
                <a:solidFill>
                  <a:srgbClr val="FF0000"/>
                </a:solidFill>
              </a:rPr>
              <a:t>14</a:t>
            </a:r>
          </a:p>
        </p:txBody>
      </p:sp>
      <p:sp>
        <p:nvSpPr>
          <p:cNvPr id="6" name="文本框 5">
            <a:extLst>
              <a:ext uri="{FF2B5EF4-FFF2-40B4-BE49-F238E27FC236}">
                <a16:creationId xmlns:a16="http://schemas.microsoft.com/office/drawing/2014/main" id="{B1D4A07B-331A-21EC-C044-CF6B3ABAC809}"/>
              </a:ext>
            </a:extLst>
          </p:cNvPr>
          <p:cNvSpPr txBox="1"/>
          <p:nvPr/>
        </p:nvSpPr>
        <p:spPr>
          <a:xfrm>
            <a:off x="5194783" y="5576962"/>
            <a:ext cx="632990" cy="461665"/>
          </a:xfrm>
          <a:prstGeom prst="rect">
            <a:avLst/>
          </a:prstGeom>
          <a:solidFill>
            <a:srgbClr val="00B0F0"/>
          </a:solidFill>
        </p:spPr>
        <p:txBody>
          <a:bodyPr wrap="square" rtlCol="0">
            <a:spAutoFit/>
          </a:bodyPr>
          <a:lstStyle/>
          <a:p>
            <a:r>
              <a:rPr lang="en-US" altLang="zh-CN" sz="2400" dirty="0">
                <a:solidFill>
                  <a:srgbClr val="FF0000"/>
                </a:solidFill>
              </a:rPr>
              <a:t>115</a:t>
            </a:r>
            <a:endParaRPr lang="en-US" altLang="zh-CN" sz="2400" b="0" dirty="0">
              <a:solidFill>
                <a:srgbClr val="FF0000"/>
              </a:solidFill>
            </a:endParaRPr>
          </a:p>
        </p:txBody>
      </p:sp>
      <p:sp>
        <p:nvSpPr>
          <p:cNvPr id="7" name="文本框 6">
            <a:extLst>
              <a:ext uri="{FF2B5EF4-FFF2-40B4-BE49-F238E27FC236}">
                <a16:creationId xmlns:a16="http://schemas.microsoft.com/office/drawing/2014/main" id="{ACE05880-3657-EC28-1899-66A3CC58CB1E}"/>
              </a:ext>
            </a:extLst>
          </p:cNvPr>
          <p:cNvSpPr txBox="1"/>
          <p:nvPr/>
        </p:nvSpPr>
        <p:spPr>
          <a:xfrm>
            <a:off x="5448831" y="5930562"/>
            <a:ext cx="632990" cy="461665"/>
          </a:xfrm>
          <a:prstGeom prst="rect">
            <a:avLst/>
          </a:prstGeom>
          <a:solidFill>
            <a:srgbClr val="00B0F0"/>
          </a:solidFill>
        </p:spPr>
        <p:txBody>
          <a:bodyPr wrap="square" rtlCol="0">
            <a:spAutoFit/>
          </a:bodyPr>
          <a:lstStyle/>
          <a:p>
            <a:r>
              <a:rPr lang="en-US" altLang="zh-CN" sz="2400" dirty="0">
                <a:solidFill>
                  <a:srgbClr val="FF0000"/>
                </a:solidFill>
              </a:rPr>
              <a:t>143</a:t>
            </a:r>
            <a:endParaRPr lang="en-US" altLang="zh-CN" sz="2400" b="0" dirty="0">
              <a:solidFill>
                <a:srgbClr val="FF0000"/>
              </a:solidFill>
            </a:endParaRPr>
          </a:p>
        </p:txBody>
      </p:sp>
    </p:spTree>
    <p:extLst>
      <p:ext uri="{BB962C8B-B14F-4D97-AF65-F5344CB8AC3E}">
        <p14:creationId xmlns:p14="http://schemas.microsoft.com/office/powerpoint/2010/main" val="402683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29" grpId="0" animBg="1"/>
      <p:bldP spid="30"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增加偏置項</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248624"/>
                <a:ext cx="10363200" cy="4572000"/>
              </a:xfrm>
            </p:spPr>
            <p:txBody>
              <a:bodyPr/>
              <a:lstStyle/>
              <a:p>
                <a:endParaRPr lang="en-US" altLang="zh-CN" dirty="0"/>
              </a:p>
              <a:p>
                <a:r>
                  <a:rPr lang="zh-CN" altLang="en-US" dirty="0"/>
                  <a:t>模式匹配：</a:t>
                </a:r>
                <a:endParaRPr lang="en-US" altLang="zh-CN" dirty="0"/>
              </a:p>
              <a:p>
                <a:endParaRPr lang="en-US" altLang="zh-CN" sz="2800" i="1" dirty="0">
                  <a:latin typeface="Cambria Math" panose="02040503050406030204" pitchFamily="18" charset="0"/>
                </a:endParaRPr>
              </a:p>
              <a:p>
                <a:endParaRPr lang="en-US" altLang="zh-CN" sz="2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4000" i="1">
                          <a:latin typeface="Cambria Math" panose="02040503050406030204" pitchFamily="18" charset="0"/>
                        </a:rPr>
                        <m:t>𝑛𝑒𝑡</m:t>
                      </m:r>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𝑤</m:t>
                          </m:r>
                        </m:e>
                        <m:sub>
                          <m:r>
                            <a:rPr lang="en-US" altLang="zh-CN" sz="4000" i="1">
                              <a:latin typeface="Cambria Math" panose="02040503050406030204" pitchFamily="18" charset="0"/>
                            </a:rPr>
                            <m:t>1</m:t>
                          </m:r>
                        </m:sub>
                      </m:sSub>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𝑥</m:t>
                          </m:r>
                        </m:e>
                        <m:sub>
                          <m:r>
                            <a:rPr lang="en-US" altLang="zh-CN" sz="4000" i="1">
                              <a:latin typeface="Cambria Math" panose="02040503050406030204" pitchFamily="18" charset="0"/>
                            </a:rPr>
                            <m:t>1</m:t>
                          </m:r>
                        </m:sub>
                      </m:sSub>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𝑤</m:t>
                          </m:r>
                        </m:e>
                        <m:sub>
                          <m:r>
                            <a:rPr lang="en-US" altLang="zh-CN" sz="4000" i="1">
                              <a:latin typeface="Cambria Math" panose="02040503050406030204" pitchFamily="18" charset="0"/>
                            </a:rPr>
                            <m:t>2</m:t>
                          </m:r>
                        </m:sub>
                      </m:sSub>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𝑥</m:t>
                          </m:r>
                        </m:e>
                        <m:sub>
                          <m:r>
                            <a:rPr lang="en-US" altLang="zh-CN" sz="4000" i="1">
                              <a:latin typeface="Cambria Math" panose="02040503050406030204" pitchFamily="18" charset="0"/>
                            </a:rPr>
                            <m:t>2</m:t>
                          </m:r>
                        </m:sub>
                      </m:sSub>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𝑤</m:t>
                          </m:r>
                        </m:e>
                        <m:sub>
                          <m:r>
                            <a:rPr lang="en-US" altLang="zh-CN" sz="4000" i="1">
                              <a:latin typeface="Cambria Math" panose="02040503050406030204" pitchFamily="18" charset="0"/>
                            </a:rPr>
                            <m:t>𝑛</m:t>
                          </m:r>
                        </m:sub>
                      </m:sSub>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𝑥</m:t>
                          </m:r>
                        </m:e>
                        <m:sub>
                          <m:r>
                            <a:rPr lang="en-US" altLang="zh-CN" sz="4000" i="1">
                              <a:latin typeface="Cambria Math" panose="02040503050406030204" pitchFamily="18" charset="0"/>
                            </a:rPr>
                            <m:t>𝑛</m:t>
                          </m:r>
                        </m:sub>
                      </m:sSub>
                      <m:r>
                        <a:rPr lang="en-US" altLang="zh-CN" sz="4000" i="1" smtClean="0">
                          <a:solidFill>
                            <a:srgbClr val="FF0000"/>
                          </a:solidFill>
                          <a:latin typeface="Cambria Math" panose="02040503050406030204" pitchFamily="18" charset="0"/>
                        </a:rPr>
                        <m:t>+</m:t>
                      </m:r>
                      <m:r>
                        <a:rPr lang="en-US" altLang="zh-CN" sz="4000" b="0" i="1" smtClean="0">
                          <a:solidFill>
                            <a:srgbClr val="FF0000"/>
                          </a:solidFill>
                          <a:latin typeface="Cambria Math" panose="02040503050406030204" pitchFamily="18" charset="0"/>
                        </a:rPr>
                        <m:t>𝑏</m:t>
                      </m:r>
                    </m:oMath>
                  </m:oMathPara>
                </a14:m>
                <a:endParaRPr lang="en-US" altLang="zh-CN" sz="3200" i="1" dirty="0">
                  <a:latin typeface="Cambria Math" panose="02040503050406030204" pitchFamily="18" charset="0"/>
                </a:endParaRPr>
              </a:p>
              <a:p>
                <a:pPr marL="0" indent="0">
                  <a:buNone/>
                </a:pPr>
                <a:r>
                  <a:rPr lang="en-US" altLang="zh-CN" sz="3200" i="1" dirty="0">
                    <a:latin typeface="Cambria Math" panose="02040503050406030204" pitchFamily="18" charset="0"/>
                  </a:rPr>
                  <a:t> </a:t>
                </a:r>
              </a:p>
              <a:p>
                <a:pPr marL="0" indent="0">
                  <a:buNone/>
                </a:pPr>
                <a:r>
                  <a:rPr lang="en-US" altLang="zh-CN" sz="4000" b="0" dirty="0"/>
                  <a:t>     </a:t>
                </a:r>
                <a14:m>
                  <m:oMath xmlns:m="http://schemas.openxmlformats.org/officeDocument/2006/math">
                    <m:r>
                      <a:rPr lang="en-US" altLang="zh-CN" sz="4000" b="0" i="1" smtClean="0">
                        <a:latin typeface="Cambria Math" panose="02040503050406030204" pitchFamily="18" charset="0"/>
                      </a:rPr>
                      <m:t>𝑦</m:t>
                    </m:r>
                    <m:r>
                      <a:rPr lang="en-US" altLang="zh-CN" sz="4000" b="0" i="1" smtClean="0">
                        <a:latin typeface="Cambria Math" panose="02040503050406030204" pitchFamily="18" charset="0"/>
                      </a:rPr>
                      <m:t>=</m:t>
                    </m:r>
                    <m:r>
                      <a:rPr lang="en-US" altLang="zh-CN" sz="4000" b="0" i="1" smtClean="0">
                        <a:latin typeface="Cambria Math" panose="02040503050406030204" pitchFamily="18" charset="0"/>
                      </a:rPr>
                      <m:t>𝑠𝑖𝑔𝑚𝑜𝑖𝑑</m:t>
                    </m:r>
                    <m:r>
                      <a:rPr lang="en-US" altLang="zh-CN" sz="4000" b="0" i="1" smtClean="0">
                        <a:latin typeface="Cambria Math" panose="02040503050406030204" pitchFamily="18" charset="0"/>
                      </a:rPr>
                      <m:t>(</m:t>
                    </m:r>
                    <m:r>
                      <a:rPr lang="en-US" altLang="zh-CN" sz="4000" i="1">
                        <a:latin typeface="Cambria Math" panose="02040503050406030204" pitchFamily="18" charset="0"/>
                      </a:rPr>
                      <m:t>𝑛𝑒𝑡</m:t>
                    </m:r>
                    <m:r>
                      <a:rPr lang="en-US" altLang="zh-CN" sz="4000" b="0" i="1" smtClean="0">
                        <a:latin typeface="Cambria Math" panose="02040503050406030204" pitchFamily="18" charset="0"/>
                      </a:rPr>
                      <m:t>)</m:t>
                    </m:r>
                  </m:oMath>
                </a14:m>
                <a:endParaRPr lang="en-US" altLang="zh-CN" sz="4000" i="1" dirty="0">
                  <a:latin typeface="Cambria Math" panose="02040503050406030204" pitchFamily="18" charset="0"/>
                </a:endParaRPr>
              </a:p>
              <a:p>
                <a:endParaRPr lang="en-US" altLang="zh-CN" sz="2000" i="1" dirty="0">
                  <a:latin typeface="Cambria Math" panose="02040503050406030204" pitchFamily="18" charset="0"/>
                </a:endParaRP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248624"/>
                <a:ext cx="10363200" cy="4572000"/>
              </a:xfr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5500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圖示表示</a:t>
            </a:r>
          </a:p>
        </p:txBody>
      </p:sp>
      <p:sp>
        <p:nvSpPr>
          <p:cNvPr id="4" name="椭圆 3"/>
          <p:cNvSpPr>
            <a:spLocks noChangeArrowheads="1"/>
          </p:cNvSpPr>
          <p:nvPr/>
        </p:nvSpPr>
        <p:spPr bwMode="auto">
          <a:xfrm>
            <a:off x="2410067" y="3118033"/>
            <a:ext cx="612000" cy="610641"/>
          </a:xfrm>
          <a:prstGeom prst="ellipse">
            <a:avLst/>
          </a:prstGeom>
          <a:noFill/>
          <a:ln w="53975" algn="ctr">
            <a:solidFill>
              <a:schemeClr val="tx1"/>
            </a:solidFill>
            <a:round/>
            <a:headEnd/>
            <a:tailEnd/>
          </a:ln>
        </p:spPr>
        <p:txBody>
          <a:bodyPr wrap="none"/>
          <a:lstStyle/>
          <a:p>
            <a:endParaRPr lang="zh-CN" altLang="en-US"/>
          </a:p>
        </p:txBody>
      </p:sp>
      <p:sp>
        <p:nvSpPr>
          <p:cNvPr id="5" name="椭圆 18"/>
          <p:cNvSpPr>
            <a:spLocks noChangeArrowheads="1"/>
          </p:cNvSpPr>
          <p:nvPr/>
        </p:nvSpPr>
        <p:spPr bwMode="auto">
          <a:xfrm>
            <a:off x="1554484" y="4984836"/>
            <a:ext cx="180000" cy="180000"/>
          </a:xfrm>
          <a:prstGeom prst="ellipse">
            <a:avLst/>
          </a:prstGeom>
          <a:solidFill>
            <a:schemeClr val="tx1"/>
          </a:solidFill>
          <a:ln w="53975" algn="ctr">
            <a:solidFill>
              <a:schemeClr val="tx1"/>
            </a:solidFill>
            <a:round/>
            <a:headEnd/>
            <a:tailEnd/>
          </a:ln>
        </p:spPr>
        <p:txBody>
          <a:bodyPr wrap="none"/>
          <a:lstStyle/>
          <a:p>
            <a:endParaRPr lang="zh-CN" altLang="en-US"/>
          </a:p>
        </p:txBody>
      </p:sp>
      <p:sp>
        <p:nvSpPr>
          <p:cNvPr id="6" name="椭圆 18"/>
          <p:cNvSpPr>
            <a:spLocks noChangeArrowheads="1"/>
          </p:cNvSpPr>
          <p:nvPr/>
        </p:nvSpPr>
        <p:spPr bwMode="auto">
          <a:xfrm>
            <a:off x="2139956" y="4984836"/>
            <a:ext cx="180000" cy="180000"/>
          </a:xfrm>
          <a:prstGeom prst="ellipse">
            <a:avLst/>
          </a:prstGeom>
          <a:solidFill>
            <a:schemeClr val="tx1"/>
          </a:solidFill>
          <a:ln w="53975" algn="ctr">
            <a:solidFill>
              <a:schemeClr val="tx1"/>
            </a:solidFill>
            <a:round/>
            <a:headEnd/>
            <a:tailEnd/>
          </a:ln>
        </p:spPr>
        <p:txBody>
          <a:bodyPr wrap="none"/>
          <a:lstStyle/>
          <a:p>
            <a:endParaRPr lang="zh-CN" altLang="en-US"/>
          </a:p>
        </p:txBody>
      </p:sp>
      <p:sp>
        <p:nvSpPr>
          <p:cNvPr id="7" name="椭圆 18"/>
          <p:cNvSpPr>
            <a:spLocks noChangeArrowheads="1"/>
          </p:cNvSpPr>
          <p:nvPr/>
        </p:nvSpPr>
        <p:spPr bwMode="auto">
          <a:xfrm>
            <a:off x="3509548" y="4984375"/>
            <a:ext cx="180000" cy="180000"/>
          </a:xfrm>
          <a:prstGeom prst="ellipse">
            <a:avLst/>
          </a:prstGeom>
          <a:solidFill>
            <a:schemeClr val="tx1"/>
          </a:solidFill>
          <a:ln w="53975" algn="ctr">
            <a:solidFill>
              <a:schemeClr val="tx1"/>
            </a:solidFill>
            <a:round/>
            <a:headEnd/>
            <a:tailEnd/>
          </a:ln>
        </p:spPr>
        <p:txBody>
          <a:bodyPr wrap="none"/>
          <a:lstStyle/>
          <a:p>
            <a:endParaRPr lang="zh-CN" altLang="en-US"/>
          </a:p>
        </p:txBody>
      </p:sp>
      <p:cxnSp>
        <p:nvCxnSpPr>
          <p:cNvPr id="8" name="直接箭头连接符 8"/>
          <p:cNvCxnSpPr>
            <a:cxnSpLocks noChangeShapeType="1"/>
            <a:stCxn id="5" idx="0"/>
          </p:cNvCxnSpPr>
          <p:nvPr/>
        </p:nvCxnSpPr>
        <p:spPr bwMode="auto">
          <a:xfrm flipV="1">
            <a:off x="1644484" y="3728444"/>
            <a:ext cx="954584" cy="1256392"/>
          </a:xfrm>
          <a:prstGeom prst="straightConnector1">
            <a:avLst/>
          </a:prstGeom>
          <a:noFill/>
          <a:ln w="38100" algn="ctr">
            <a:solidFill>
              <a:schemeClr val="tx1"/>
            </a:solidFill>
            <a:round/>
            <a:headEnd type="none" w="med" len="med"/>
            <a:tailEnd type="triangle" w="med" len="med"/>
          </a:ln>
        </p:spPr>
      </p:cxnSp>
      <p:cxnSp>
        <p:nvCxnSpPr>
          <p:cNvPr id="12" name="直接箭头连接符 8"/>
          <p:cNvCxnSpPr>
            <a:cxnSpLocks noChangeShapeType="1"/>
            <a:stCxn id="6" idx="0"/>
            <a:endCxn id="4" idx="4"/>
          </p:cNvCxnSpPr>
          <p:nvPr/>
        </p:nvCxnSpPr>
        <p:spPr bwMode="auto">
          <a:xfrm flipV="1">
            <a:off x="2229956" y="3728674"/>
            <a:ext cx="486111" cy="1256162"/>
          </a:xfrm>
          <a:prstGeom prst="straightConnector1">
            <a:avLst/>
          </a:prstGeom>
          <a:noFill/>
          <a:ln w="38100" algn="ctr">
            <a:solidFill>
              <a:schemeClr val="tx1"/>
            </a:solidFill>
            <a:round/>
            <a:headEnd type="none" w="med" len="med"/>
            <a:tailEnd type="triangle" w="med" len="med"/>
          </a:ln>
        </p:spPr>
      </p:cxnSp>
      <p:cxnSp>
        <p:nvCxnSpPr>
          <p:cNvPr id="15" name="直接箭头连接符 8"/>
          <p:cNvCxnSpPr>
            <a:cxnSpLocks noChangeShapeType="1"/>
            <a:stCxn id="7" idx="0"/>
          </p:cNvCxnSpPr>
          <p:nvPr/>
        </p:nvCxnSpPr>
        <p:spPr bwMode="auto">
          <a:xfrm flipH="1" flipV="1">
            <a:off x="2842178" y="3728675"/>
            <a:ext cx="757370" cy="1255700"/>
          </a:xfrm>
          <a:prstGeom prst="straightConnector1">
            <a:avLst/>
          </a:prstGeom>
          <a:noFill/>
          <a:ln w="38100" algn="ctr">
            <a:solidFill>
              <a:schemeClr val="tx1"/>
            </a:solidFill>
            <a:round/>
            <a:headEnd type="none" w="med" len="med"/>
            <a:tailEnd type="triangle" w="med" len="med"/>
          </a:ln>
        </p:spPr>
      </p:cxnSp>
      <p:cxnSp>
        <p:nvCxnSpPr>
          <p:cNvPr id="32" name="直接箭头连接符 8"/>
          <p:cNvCxnSpPr>
            <a:cxnSpLocks noChangeShapeType="1"/>
            <a:stCxn id="4" idx="0"/>
          </p:cNvCxnSpPr>
          <p:nvPr/>
        </p:nvCxnSpPr>
        <p:spPr bwMode="auto">
          <a:xfrm flipV="1">
            <a:off x="2716067" y="2055225"/>
            <a:ext cx="0" cy="1062808"/>
          </a:xfrm>
          <a:prstGeom prst="straightConnector1">
            <a:avLst/>
          </a:prstGeom>
          <a:noFill/>
          <a:ln w="38100" algn="ctr">
            <a:solidFill>
              <a:schemeClr val="tx1"/>
            </a:solidFill>
            <a:round/>
            <a:headEnd type="none" w="med" len="med"/>
            <a:tailEnd type="triangle" w="med" len="med"/>
          </a:ln>
        </p:spPr>
      </p:cxnSp>
      <mc:AlternateContent xmlns:mc="http://schemas.openxmlformats.org/markup-compatibility/2006">
        <mc:Choice xmlns:a14="http://schemas.microsoft.com/office/drawing/2010/main" Requires="a14">
          <p:sp>
            <p:nvSpPr>
              <p:cNvPr id="39" name="文本框 38"/>
              <p:cNvSpPr txBox="1"/>
              <p:nvPr/>
            </p:nvSpPr>
            <p:spPr>
              <a:xfrm>
                <a:off x="778409" y="5333637"/>
                <a:ext cx="3875315"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2 </m:t>
                          </m:r>
                        </m:sub>
                      </m:sSub>
                      <m:r>
                        <a:rPr lang="en-US" altLang="zh-CN" sz="2800" b="0" i="1">
                          <a:latin typeface="Cambria Math" panose="02040503050406030204" pitchFamily="18" charset="0"/>
                        </a:rPr>
                        <m:t>   </m:t>
                      </m:r>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𝑛</m:t>
                          </m:r>
                        </m:sub>
                      </m:sSub>
                    </m:oMath>
                  </m:oMathPara>
                </a14:m>
                <a:endParaRPr lang="zh-CN" altLang="en-US" sz="2800" dirty="0"/>
              </a:p>
            </p:txBody>
          </p:sp>
        </mc:Choice>
        <mc:Fallback>
          <p:sp>
            <p:nvSpPr>
              <p:cNvPr id="39" name="文本框 38"/>
              <p:cNvSpPr txBox="1">
                <a:spLocks noRot="1" noChangeAspect="1" noMove="1" noResize="1" noEditPoints="1" noAdjustHandles="1" noChangeArrowheads="1" noChangeShapeType="1" noTextEdit="1"/>
              </p:cNvSpPr>
              <p:nvPr/>
            </p:nvSpPr>
            <p:spPr>
              <a:xfrm>
                <a:off x="778409" y="5333637"/>
                <a:ext cx="3875315"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0" name="文本框 39"/>
              <p:cNvSpPr txBox="1"/>
              <p:nvPr/>
            </p:nvSpPr>
            <p:spPr>
              <a:xfrm>
                <a:off x="1746262" y="3784057"/>
                <a:ext cx="641869"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m:t>
                          </m:r>
                        </m:sub>
                      </m:sSub>
                    </m:oMath>
                  </m:oMathPara>
                </a14:m>
                <a:endParaRPr lang="zh-CN" altLang="en-US" sz="2400" dirty="0"/>
              </a:p>
            </p:txBody>
          </p:sp>
        </mc:Choice>
        <mc:Fallback>
          <p:sp>
            <p:nvSpPr>
              <p:cNvPr id="40" name="文本框 39"/>
              <p:cNvSpPr txBox="1">
                <a:spLocks noRot="1" noChangeAspect="1" noMove="1" noResize="1" noEditPoints="1" noAdjustHandles="1" noChangeArrowheads="1" noChangeShapeType="1" noTextEdit="1"/>
              </p:cNvSpPr>
              <p:nvPr/>
            </p:nvSpPr>
            <p:spPr>
              <a:xfrm>
                <a:off x="1746262" y="3784057"/>
                <a:ext cx="641869"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1" name="文本框 40"/>
              <p:cNvSpPr txBox="1"/>
              <p:nvPr/>
            </p:nvSpPr>
            <p:spPr>
              <a:xfrm>
                <a:off x="2412143" y="4177102"/>
                <a:ext cx="641869"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2</m:t>
                          </m:r>
                        </m:sub>
                      </m:sSub>
                    </m:oMath>
                  </m:oMathPara>
                </a14:m>
                <a:endParaRPr lang="zh-CN" altLang="en-US" sz="2400" dirty="0"/>
              </a:p>
            </p:txBody>
          </p:sp>
        </mc:Choice>
        <mc:Fallback>
          <p:sp>
            <p:nvSpPr>
              <p:cNvPr id="41" name="文本框 40"/>
              <p:cNvSpPr txBox="1">
                <a:spLocks noRot="1" noChangeAspect="1" noMove="1" noResize="1" noEditPoints="1" noAdjustHandles="1" noChangeArrowheads="1" noChangeShapeType="1" noTextEdit="1"/>
              </p:cNvSpPr>
              <p:nvPr/>
            </p:nvSpPr>
            <p:spPr>
              <a:xfrm>
                <a:off x="2412143" y="4177102"/>
                <a:ext cx="641869" cy="46166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3018085" y="3809368"/>
                <a:ext cx="641869"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𝑛</m:t>
                          </m:r>
                        </m:sub>
                      </m:sSub>
                    </m:oMath>
                  </m:oMathPara>
                </a14:m>
                <a:endParaRPr lang="zh-CN" altLang="en-US" sz="2400" dirty="0"/>
              </a:p>
            </p:txBody>
          </p:sp>
        </mc:Choice>
        <mc:Fallback>
          <p:sp>
            <p:nvSpPr>
              <p:cNvPr id="42" name="文本框 41"/>
              <p:cNvSpPr txBox="1">
                <a:spLocks noRot="1" noChangeAspect="1" noMove="1" noResize="1" noEditPoints="1" noAdjustHandles="1" noChangeArrowheads="1" noChangeShapeType="1" noTextEdit="1"/>
              </p:cNvSpPr>
              <p:nvPr/>
            </p:nvSpPr>
            <p:spPr>
              <a:xfrm>
                <a:off x="3018085" y="3809368"/>
                <a:ext cx="641869" cy="461665"/>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矩形 42"/>
              <p:cNvSpPr/>
              <p:nvPr/>
            </p:nvSpPr>
            <p:spPr>
              <a:xfrm>
                <a:off x="4801776" y="3894860"/>
                <a:ext cx="6644640" cy="123110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pitchFamily="18" charset="0"/>
                        </a:rPr>
                        <m:t>𝑛𝑒𝑡</m:t>
                      </m:r>
                      <m:r>
                        <a:rPr lang="en-US" altLang="zh-CN" sz="280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smtClean="0">
                              <a:latin typeface="Cambria Math" panose="02040503050406030204" pitchFamily="18" charset="0"/>
                            </a:rPr>
                            <m:t>𝑛</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smtClean="0">
                          <a:solidFill>
                            <a:schemeClr val="tx1"/>
                          </a:solidFill>
                          <a:latin typeface="Cambria Math" panose="02040503050406030204" pitchFamily="18" charset="0"/>
                        </a:rPr>
                        <m:t>+</m:t>
                      </m:r>
                      <m:r>
                        <a:rPr lang="en-US" altLang="zh-CN" sz="2800" i="1" smtClean="0">
                          <a:solidFill>
                            <a:schemeClr val="tx1"/>
                          </a:solidFill>
                          <a:latin typeface="Cambria Math" panose="02040503050406030204" pitchFamily="18" charset="0"/>
                        </a:rPr>
                        <m:t>𝑏</m:t>
                      </m:r>
                    </m:oMath>
                  </m:oMathPara>
                </a14:m>
                <a:endParaRPr lang="en-US" altLang="zh-CN" sz="2000" i="1" dirty="0">
                  <a:latin typeface="Cambria Math" panose="02040503050406030204" pitchFamily="18" charset="0"/>
                </a:endParaRPr>
              </a:p>
              <a:p>
                <a:endParaRPr lang="en-US" altLang="zh-CN" i="1" dirty="0">
                  <a:latin typeface="Cambria Math" panose="02040503050406030204" pitchFamily="18" charset="0"/>
                </a:endParaRPr>
              </a:p>
              <a:p>
                <a:r>
                  <a:rPr lang="en-US" altLang="zh-CN" sz="2000" i="1" dirty="0">
                    <a:latin typeface="Cambria Math" panose="02040503050406030204" pitchFamily="18" charset="0"/>
                  </a:rPr>
                  <a:t> </a:t>
                </a:r>
                <a14:m>
                  <m:oMath xmlns:m="http://schemas.openxmlformats.org/officeDocument/2006/math">
                    <m:r>
                      <a:rPr lang="en-US" altLang="zh-CN" sz="2800" b="0" i="1" smtClean="0">
                        <a:latin typeface="Cambria Math" panose="02040503050406030204" pitchFamily="18" charset="0"/>
                      </a:rPr>
                      <m:t>𝑦</m:t>
                    </m:r>
                    <m:r>
                      <a:rPr lang="en-US" altLang="zh-CN" sz="2800" i="1">
                        <a:latin typeface="Cambria Math" panose="02040503050406030204" pitchFamily="18" charset="0"/>
                      </a:rPr>
                      <m:t>=</m:t>
                    </m:r>
                    <m:r>
                      <a:rPr lang="en-US" altLang="zh-CN" sz="2800" i="1">
                        <a:latin typeface="Cambria Math" panose="02040503050406030204" pitchFamily="18" charset="0"/>
                      </a:rPr>
                      <m:t>𝑠𝑖𝑔𝑚𝑜𝑖𝑑</m:t>
                    </m:r>
                    <m:r>
                      <a:rPr lang="en-US" altLang="zh-CN" sz="2800" i="1">
                        <a:latin typeface="Cambria Math" panose="02040503050406030204" pitchFamily="18" charset="0"/>
                      </a:rPr>
                      <m:t>(</m:t>
                    </m:r>
                    <m:r>
                      <a:rPr lang="en-US" altLang="zh-CN" sz="2800" i="1">
                        <a:latin typeface="Cambria Math" panose="02040503050406030204" pitchFamily="18" charset="0"/>
                      </a:rPr>
                      <m:t>𝑛𝑒𝑡</m:t>
                    </m:r>
                    <m:r>
                      <a:rPr lang="en-US" altLang="zh-CN" sz="2800" i="1">
                        <a:latin typeface="Cambria Math" panose="02040503050406030204" pitchFamily="18" charset="0"/>
                      </a:rPr>
                      <m:t>)</m:t>
                    </m:r>
                  </m:oMath>
                </a14:m>
                <a:endParaRPr lang="en-US" altLang="zh-CN" sz="2800" i="1" dirty="0">
                  <a:latin typeface="Cambria Math" panose="02040503050406030204" pitchFamily="18" charset="0"/>
                </a:endParaRPr>
              </a:p>
            </p:txBody>
          </p:sp>
        </mc:Choice>
        <mc:Fallback>
          <p:sp>
            <p:nvSpPr>
              <p:cNvPr id="43" name="矩形 42"/>
              <p:cNvSpPr>
                <a:spLocks noRot="1" noChangeAspect="1" noMove="1" noResize="1" noEditPoints="1" noAdjustHandles="1" noChangeArrowheads="1" noChangeShapeType="1" noTextEdit="1"/>
              </p:cNvSpPr>
              <p:nvPr/>
            </p:nvSpPr>
            <p:spPr>
              <a:xfrm>
                <a:off x="4801776" y="3894860"/>
                <a:ext cx="6644640" cy="1231106"/>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5" name="文本框 44"/>
              <p:cNvSpPr txBox="1"/>
              <p:nvPr/>
            </p:nvSpPr>
            <p:spPr>
              <a:xfrm>
                <a:off x="2393933" y="1531890"/>
                <a:ext cx="641869"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CN" sz="2800" b="0" i="1" smtClean="0">
                          <a:latin typeface="Cambria Math" panose="02040503050406030204" pitchFamily="18" charset="0"/>
                        </a:rPr>
                        <m:t>𝑦</m:t>
                      </m:r>
                    </m:oMath>
                  </m:oMathPara>
                </a14:m>
                <a:endParaRPr lang="zh-CN" altLang="en-US" sz="2800" dirty="0"/>
              </a:p>
            </p:txBody>
          </p:sp>
        </mc:Choice>
        <mc:Fallback>
          <p:sp>
            <p:nvSpPr>
              <p:cNvPr id="45" name="文本框 44"/>
              <p:cNvSpPr txBox="1">
                <a:spLocks noRot="1" noChangeAspect="1" noMove="1" noResize="1" noEditPoints="1" noAdjustHandles="1" noChangeArrowheads="1" noChangeShapeType="1" noTextEdit="1"/>
              </p:cNvSpPr>
              <p:nvPr/>
            </p:nvSpPr>
            <p:spPr>
              <a:xfrm>
                <a:off x="2393933" y="1531890"/>
                <a:ext cx="641869" cy="523220"/>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6" name="文本框 45"/>
              <p:cNvSpPr txBox="1"/>
              <p:nvPr/>
            </p:nvSpPr>
            <p:spPr>
              <a:xfrm>
                <a:off x="2489375" y="4757197"/>
                <a:ext cx="760993"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CN" sz="2800" b="0" i="1" smtClean="0">
                          <a:latin typeface="Cambria Math" panose="02040503050406030204" pitchFamily="18" charset="0"/>
                        </a:rPr>
                        <m:t>…</m:t>
                      </m:r>
                    </m:oMath>
                  </m:oMathPara>
                </a14:m>
                <a:endParaRPr lang="zh-CN" altLang="en-US" sz="2800" dirty="0"/>
              </a:p>
            </p:txBody>
          </p:sp>
        </mc:Choice>
        <mc:Fallback>
          <p:sp>
            <p:nvSpPr>
              <p:cNvPr id="46" name="文本框 45"/>
              <p:cNvSpPr txBox="1">
                <a:spLocks noRot="1" noChangeAspect="1" noMove="1" noResize="1" noEditPoints="1" noAdjustHandles="1" noChangeArrowheads="1" noChangeShapeType="1" noTextEdit="1"/>
              </p:cNvSpPr>
              <p:nvPr/>
            </p:nvSpPr>
            <p:spPr>
              <a:xfrm>
                <a:off x="2489375" y="4757197"/>
                <a:ext cx="760993" cy="523220"/>
              </a:xfrm>
              <a:prstGeom prst="rect">
                <a:avLst/>
              </a:prstGeom>
              <a:blipFill>
                <a:blip r:embed="rId9"/>
                <a:stretch>
                  <a:fillRect/>
                </a:stretch>
              </a:blipFill>
            </p:spPr>
            <p:txBody>
              <a:bodyPr/>
              <a:lstStyle/>
              <a:p>
                <a:r>
                  <a:rPr lang="zh-TW" altLang="en-US">
                    <a:noFill/>
                  </a:rPr>
                  <a:t> </a:t>
                </a:r>
              </a:p>
            </p:txBody>
          </p:sp>
        </mc:Fallback>
      </mc:AlternateContent>
      <p:sp>
        <p:nvSpPr>
          <p:cNvPr id="47" name="椭圆 46"/>
          <p:cNvSpPr/>
          <p:nvPr/>
        </p:nvSpPr>
        <p:spPr>
          <a:xfrm>
            <a:off x="1553682" y="2343512"/>
            <a:ext cx="2340000" cy="2340000"/>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线形标注 1 47"/>
          <p:cNvSpPr/>
          <p:nvPr/>
        </p:nvSpPr>
        <p:spPr>
          <a:xfrm>
            <a:off x="4267202" y="2246811"/>
            <a:ext cx="1245326" cy="566058"/>
          </a:xfrm>
          <a:prstGeom prst="borderCallout1">
            <a:avLst>
              <a:gd name="adj1" fmla="val 288"/>
              <a:gd name="adj2" fmla="val 59"/>
              <a:gd name="adj3" fmla="val 107885"/>
              <a:gd name="adj4" fmla="val -49522"/>
            </a:avLst>
          </a:prstGeom>
          <a:noFill/>
          <a:ln w="381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400" dirty="0">
                <a:solidFill>
                  <a:schemeClr val="accent2"/>
                </a:solidFill>
                <a:latin typeface="Times New Roman" panose="02020603050405020304" pitchFamily="18" charset="0"/>
                <a:cs typeface="Times New Roman" panose="02020603050405020304" pitchFamily="18" charset="0"/>
              </a:rPr>
              <a:t>神經元</a:t>
            </a:r>
          </a:p>
        </p:txBody>
      </p:sp>
    </p:spTree>
    <p:extLst>
      <p:ext uri="{BB962C8B-B14F-4D97-AF65-F5344CB8AC3E}">
        <p14:creationId xmlns:p14="http://schemas.microsoft.com/office/powerpoint/2010/main" val="379988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神經網路</a:t>
            </a:r>
          </a:p>
        </p:txBody>
      </p:sp>
      <p:pic>
        <p:nvPicPr>
          <p:cNvPr id="3" name="图片 2"/>
          <p:cNvPicPr>
            <a:picLocks noChangeAspect="1"/>
          </p:cNvPicPr>
          <p:nvPr/>
        </p:nvPicPr>
        <p:blipFill>
          <a:blip r:embed="rId3"/>
          <a:stretch>
            <a:fillRect/>
          </a:stretch>
        </p:blipFill>
        <p:spPr>
          <a:xfrm>
            <a:off x="3550099" y="1417645"/>
            <a:ext cx="5612500" cy="4530315"/>
          </a:xfrm>
          <a:prstGeom prst="rect">
            <a:avLst/>
          </a:prstGeom>
        </p:spPr>
      </p:pic>
      <p:sp>
        <p:nvSpPr>
          <p:cNvPr id="55" name="椭圆 54"/>
          <p:cNvSpPr/>
          <p:nvPr/>
        </p:nvSpPr>
        <p:spPr>
          <a:xfrm>
            <a:off x="3857901" y="2425322"/>
            <a:ext cx="1188000" cy="1188000"/>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5643158" y="2425322"/>
            <a:ext cx="1188000" cy="1188000"/>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标注 8"/>
          <p:cNvSpPr/>
          <p:nvPr/>
        </p:nvSpPr>
        <p:spPr>
          <a:xfrm>
            <a:off x="2037812" y="2026544"/>
            <a:ext cx="1092049" cy="594000"/>
          </a:xfrm>
          <a:prstGeom prst="wedgeRoundRectCallout">
            <a:avLst>
              <a:gd name="adj1" fmla="val 116799"/>
              <a:gd name="adj2" fmla="val 85957"/>
              <a:gd name="adj3" fmla="val 16667"/>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800" dirty="0">
                <a:solidFill>
                  <a:schemeClr val="accent2"/>
                </a:solidFill>
                <a:latin typeface="Times New Roman" panose="02020603050405020304" pitchFamily="18" charset="0"/>
                <a:cs typeface="Times New Roman" panose="02020603050405020304" pitchFamily="18" charset="0"/>
              </a:rPr>
              <a:t>模式</a:t>
            </a:r>
            <a:r>
              <a:rPr lang="en-US" altLang="zh-CN" sz="2800" dirty="0">
                <a:solidFill>
                  <a:schemeClr val="accent2"/>
                </a:solidFill>
                <a:latin typeface="Times New Roman" panose="02020603050405020304" pitchFamily="18" charset="0"/>
                <a:cs typeface="Times New Roman" panose="02020603050405020304" pitchFamily="18" charset="0"/>
              </a:rPr>
              <a:t>3</a:t>
            </a:r>
            <a:endParaRPr lang="zh-CN" altLang="en-US" sz="2800" dirty="0" err="1">
              <a:solidFill>
                <a:schemeClr val="accent2"/>
              </a:solidFill>
              <a:latin typeface="Times New Roman" panose="02020603050405020304" pitchFamily="18" charset="0"/>
              <a:cs typeface="Times New Roman" panose="02020603050405020304" pitchFamily="18" charset="0"/>
            </a:endParaRPr>
          </a:p>
        </p:txBody>
      </p:sp>
      <p:sp>
        <p:nvSpPr>
          <p:cNvPr id="59" name="圆角矩形标注 58"/>
          <p:cNvSpPr/>
          <p:nvPr/>
        </p:nvSpPr>
        <p:spPr>
          <a:xfrm>
            <a:off x="7468901" y="2026544"/>
            <a:ext cx="1092049" cy="594000"/>
          </a:xfrm>
          <a:prstGeom prst="wedgeRoundRectCallout">
            <a:avLst>
              <a:gd name="adj1" fmla="val -114462"/>
              <a:gd name="adj2" fmla="val 63966"/>
              <a:gd name="adj3" fmla="val 16667"/>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800" dirty="0">
                <a:solidFill>
                  <a:schemeClr val="accent2"/>
                </a:solidFill>
                <a:latin typeface="Times New Roman" panose="02020603050405020304" pitchFamily="18" charset="0"/>
                <a:cs typeface="Times New Roman" panose="02020603050405020304" pitchFamily="18" charset="0"/>
              </a:rPr>
              <a:t>模式</a:t>
            </a:r>
            <a:r>
              <a:rPr lang="en-US" altLang="zh-CN" sz="2800" dirty="0">
                <a:solidFill>
                  <a:schemeClr val="accent2"/>
                </a:solidFill>
                <a:latin typeface="Times New Roman" panose="02020603050405020304" pitchFamily="18" charset="0"/>
                <a:cs typeface="Times New Roman" panose="02020603050405020304" pitchFamily="18" charset="0"/>
              </a:rPr>
              <a:t>8</a:t>
            </a:r>
            <a:endParaRPr lang="zh-CN" altLang="en-US" sz="2800" dirty="0" err="1">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0" name="文本框 59"/>
              <p:cNvSpPr txBox="1"/>
              <p:nvPr/>
            </p:nvSpPr>
            <p:spPr>
              <a:xfrm>
                <a:off x="3593586" y="5791206"/>
                <a:ext cx="387531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2 </m:t>
                          </m:r>
                        </m:sub>
                      </m:sSub>
                      <m:r>
                        <a:rPr lang="en-US" altLang="zh-CN" sz="2800" b="0" i="1">
                          <a:latin typeface="Cambria Math" panose="02040503050406030204" pitchFamily="18" charset="0"/>
                        </a:rPr>
                        <m:t>   </m:t>
                      </m:r>
                      <m:r>
                        <a:rPr lang="en-US" altLang="zh-CN" sz="2800" b="0" i="1" smtClean="0">
                          <a:latin typeface="Cambria Math" panose="02040503050406030204" pitchFamily="18" charset="0"/>
                        </a:rPr>
                        <m:t>    …</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𝑛</m:t>
                          </m:r>
                        </m:sub>
                      </m:sSub>
                    </m:oMath>
                  </m:oMathPara>
                </a14:m>
                <a:endParaRPr lang="zh-CN" altLang="en-US" sz="2800" dirty="0"/>
              </a:p>
            </p:txBody>
          </p:sp>
        </mc:Choice>
        <mc:Fallback>
          <p:sp>
            <p:nvSpPr>
              <p:cNvPr id="60" name="文本框 59"/>
              <p:cNvSpPr txBox="1">
                <a:spLocks noRot="1" noChangeAspect="1" noMove="1" noResize="1" noEditPoints="1" noAdjustHandles="1" noChangeArrowheads="1" noChangeShapeType="1" noTextEdit="1"/>
              </p:cNvSpPr>
              <p:nvPr/>
            </p:nvSpPr>
            <p:spPr>
              <a:xfrm>
                <a:off x="3593586" y="5791206"/>
                <a:ext cx="3875315" cy="523220"/>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83655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神經網路</a:t>
            </a:r>
          </a:p>
        </p:txBody>
      </p:sp>
      <mc:AlternateContent xmlns:mc="http://schemas.openxmlformats.org/markup-compatibility/2006">
        <mc:Choice xmlns:a14="http://schemas.microsoft.com/office/drawing/2010/main" Requires="a14">
          <p:sp>
            <p:nvSpPr>
              <p:cNvPr id="4" name="文本框 3"/>
              <p:cNvSpPr txBox="1"/>
              <p:nvPr/>
            </p:nvSpPr>
            <p:spPr>
              <a:xfrm>
                <a:off x="1908740" y="4708544"/>
                <a:ext cx="8825407" cy="13112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3</m:t>
                          </m:r>
                        </m:sub>
                      </m:sSub>
                      <m:r>
                        <a:rPr lang="en-US" altLang="zh-CN" sz="2800" i="1">
                          <a:latin typeface="Cambria Math" panose="02040503050406030204" pitchFamily="18" charset="0"/>
                        </a:rPr>
                        <m:t>=</m:t>
                      </m:r>
                      <m:r>
                        <a:rPr lang="en-US" altLang="zh-CN" sz="2800" i="1">
                          <a:latin typeface="Cambria Math" panose="02040503050406030204" pitchFamily="18" charset="0"/>
                        </a:rPr>
                        <m:t>𝑠𝑖𝑔𝑚𝑜𝑖𝑑</m:t>
                      </m:r>
                      <m:d>
                        <m:dPr>
                          <m:ctrlPr>
                            <a:rPr lang="zh-CN" altLang="zh-CN" sz="2800" i="1">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3,1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3,2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3,</m:t>
                              </m:r>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i="1">
                                  <a:latin typeface="Cambria Math" panose="02040503050406030204" pitchFamily="18" charset="0"/>
                                </a:rPr>
                                <m:t>3</m:t>
                              </m:r>
                            </m:sub>
                          </m:sSub>
                        </m:e>
                      </m:d>
                    </m:oMath>
                  </m:oMathPara>
                </a14:m>
                <a:endParaRPr lang="en-US" altLang="zh-CN" sz="2800" dirty="0"/>
              </a:p>
              <a:p>
                <a:endParaRPr lang="zh-CN" altLang="zh-CN" sz="1400" dirty="0"/>
              </a:p>
              <a:p>
                <a:pPr/>
                <a14:m>
                  <m:oMathPara xmlns:m="http://schemas.openxmlformats.org/officeDocument/2006/math">
                    <m:oMathParaPr>
                      <m:jc m:val="centerGroup"/>
                    </m:oMathParaPr>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8</m:t>
                          </m:r>
                        </m:sub>
                      </m:sSub>
                      <m:r>
                        <a:rPr lang="en-US" altLang="zh-CN" sz="2800" i="1">
                          <a:latin typeface="Cambria Math" panose="02040503050406030204" pitchFamily="18" charset="0"/>
                        </a:rPr>
                        <m:t>=</m:t>
                      </m:r>
                      <m:r>
                        <a:rPr lang="en-US" altLang="zh-CN" sz="2800" i="1">
                          <a:latin typeface="Cambria Math" panose="02040503050406030204" pitchFamily="18" charset="0"/>
                        </a:rPr>
                        <m:t>𝑠𝑖𝑔𝑚𝑜𝑖𝑑</m:t>
                      </m:r>
                      <m:d>
                        <m:dPr>
                          <m:ctrlPr>
                            <a:rPr lang="zh-CN" altLang="zh-CN" sz="2800" i="1">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8,1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8,2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8,</m:t>
                              </m:r>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i="1">
                                  <a:latin typeface="Cambria Math" panose="02040503050406030204" pitchFamily="18" charset="0"/>
                                </a:rPr>
                                <m:t>8</m:t>
                              </m:r>
                            </m:sub>
                          </m:sSub>
                        </m:e>
                      </m:d>
                    </m:oMath>
                  </m:oMathPara>
                </a14:m>
                <a:endParaRPr lang="zh-CN" altLang="zh-CN" sz="2800" dirty="0"/>
              </a:p>
            </p:txBody>
          </p:sp>
        </mc:Choice>
        <mc:Fallback>
          <p:sp>
            <p:nvSpPr>
              <p:cNvPr id="4" name="文本框 3"/>
              <p:cNvSpPr txBox="1">
                <a:spLocks noRot="1" noChangeAspect="1" noMove="1" noResize="1" noEditPoints="1" noAdjustHandles="1" noChangeArrowheads="1" noChangeShapeType="1" noTextEdit="1"/>
              </p:cNvSpPr>
              <p:nvPr/>
            </p:nvSpPr>
            <p:spPr>
              <a:xfrm>
                <a:off x="1908740" y="4708544"/>
                <a:ext cx="8825407" cy="1311256"/>
              </a:xfrm>
              <a:prstGeom prst="rect">
                <a:avLst/>
              </a:prstGeom>
              <a:blipFill>
                <a:blip r:embed="rId3"/>
                <a:stretch>
                  <a:fillRect/>
                </a:stretch>
              </a:blipFill>
            </p:spPr>
            <p:txBody>
              <a:bodyPr/>
              <a:lstStyle/>
              <a:p>
                <a:r>
                  <a:rPr lang="zh-TW" altLang="en-US">
                    <a:noFill/>
                  </a:rPr>
                  <a:t> </a:t>
                </a:r>
              </a:p>
            </p:txBody>
          </p:sp>
        </mc:Fallback>
      </mc:AlternateContent>
      <p:pic>
        <p:nvPicPr>
          <p:cNvPr id="5" name="图片 4"/>
          <p:cNvPicPr>
            <a:picLocks noChangeAspect="1"/>
          </p:cNvPicPr>
          <p:nvPr/>
        </p:nvPicPr>
        <p:blipFill>
          <a:blip r:embed="rId4"/>
          <a:stretch>
            <a:fillRect/>
          </a:stretch>
        </p:blipFill>
        <p:spPr>
          <a:xfrm>
            <a:off x="4628362" y="860819"/>
            <a:ext cx="4219548" cy="3405948"/>
          </a:xfrm>
          <a:prstGeom prst="rect">
            <a:avLst/>
          </a:prstGeom>
        </p:spPr>
      </p:pic>
      <mc:AlternateContent xmlns:mc="http://schemas.openxmlformats.org/markup-compatibility/2006">
        <mc:Choice xmlns:a14="http://schemas.microsoft.com/office/drawing/2010/main" Requires="a14">
          <p:sp>
            <p:nvSpPr>
              <p:cNvPr id="10" name="文本框 9"/>
              <p:cNvSpPr txBox="1"/>
              <p:nvPr/>
            </p:nvSpPr>
            <p:spPr>
              <a:xfrm>
                <a:off x="4628362" y="4093344"/>
                <a:ext cx="2667877" cy="37590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𝑥</m:t>
                          </m:r>
                        </m:e>
                        <m:sub>
                          <m:r>
                            <a:rPr lang="en-US" altLang="zh-CN" b="0" i="1" smtClean="0">
                              <a:latin typeface="Cambria Math" panose="02040503050406030204" pitchFamily="18" charset="0"/>
                            </a:rPr>
                            <m:t>2 </m:t>
                          </m:r>
                        </m:sub>
                      </m:sSub>
                      <m:r>
                        <a:rPr lang="en-US" altLang="zh-CN" b="0" i="1">
                          <a:latin typeface="Cambria Math" panose="02040503050406030204" pitchFamily="18" charset="0"/>
                        </a:rPr>
                        <m:t>   </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oMath>
                  </m:oMathPara>
                </a14:m>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4628362" y="4093344"/>
                <a:ext cx="2667877" cy="375907"/>
              </a:xfrm>
              <a:prstGeom prst="rect">
                <a:avLst/>
              </a:prstGeom>
              <a:blipFill>
                <a:blip r:embed="rId5"/>
                <a:stretch>
                  <a:fillRect r="-84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44777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數位識別神經網路</a:t>
            </a:r>
          </a:p>
        </p:txBody>
      </p:sp>
      <mc:AlternateContent xmlns:mc="http://schemas.openxmlformats.org/markup-compatibility/2006">
        <mc:Choice xmlns:a14="http://schemas.microsoft.com/office/drawing/2010/main" Requires="a14">
          <p:sp>
            <p:nvSpPr>
              <p:cNvPr id="4" name="文本框 3"/>
              <p:cNvSpPr txBox="1"/>
              <p:nvPr/>
            </p:nvSpPr>
            <p:spPr>
              <a:xfrm>
                <a:off x="737641" y="5720916"/>
                <a:ext cx="10189892" cy="5786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2800" i="1" smtClean="0">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b="0" i="1" smtClean="0">
                              <a:latin typeface="Cambria Math" panose="02040503050406030204" pitchFamily="18" charset="0"/>
                            </a:rPr>
                            <m:t>𝑖</m:t>
                          </m:r>
                        </m:sub>
                      </m:sSub>
                      <m:r>
                        <a:rPr lang="en-US" altLang="zh-CN" sz="2800" i="1">
                          <a:latin typeface="Cambria Math" panose="02040503050406030204" pitchFamily="18" charset="0"/>
                        </a:rPr>
                        <m:t>=</m:t>
                      </m:r>
                      <m:r>
                        <a:rPr lang="en-US" altLang="zh-CN" sz="2800" i="1">
                          <a:latin typeface="Cambria Math" panose="02040503050406030204" pitchFamily="18" charset="0"/>
                        </a:rPr>
                        <m:t>𝑠𝑖𝑔𝑚𝑜𝑖𝑑</m:t>
                      </m:r>
                      <m:d>
                        <m:dPr>
                          <m:ctrlPr>
                            <a:rPr lang="zh-CN" altLang="zh-CN" sz="2800" i="1">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𝑖</m:t>
                              </m:r>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𝑖</m:t>
                              </m:r>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𝑖</m:t>
                              </m:r>
                              <m:r>
                                <a:rPr lang="en-US" altLang="zh-CN" sz="2800" i="1">
                                  <a:latin typeface="Cambria Math" panose="02040503050406030204" pitchFamily="18" charset="0"/>
                                </a:rPr>
                                <m:t>,</m:t>
                              </m:r>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b="0" i="1" smtClean="0">
                                  <a:latin typeface="Cambria Math" panose="02040503050406030204" pitchFamily="18" charset="0"/>
                                </a:rPr>
                                <m:t>𝑖</m:t>
                              </m:r>
                            </m:sub>
                          </m:sSub>
                        </m:e>
                      </m:d>
                    </m:oMath>
                  </m:oMathPara>
                </a14:m>
                <a:endParaRPr lang="zh-CN" altLang="zh-CN" sz="2400" dirty="0"/>
              </a:p>
            </p:txBody>
          </p:sp>
        </mc:Choice>
        <mc:Fallback>
          <p:sp>
            <p:nvSpPr>
              <p:cNvPr id="4" name="文本框 3"/>
              <p:cNvSpPr txBox="1">
                <a:spLocks noRot="1" noChangeAspect="1" noMove="1" noResize="1" noEditPoints="1" noAdjustHandles="1" noChangeArrowheads="1" noChangeShapeType="1" noTextEdit="1"/>
              </p:cNvSpPr>
              <p:nvPr/>
            </p:nvSpPr>
            <p:spPr>
              <a:xfrm>
                <a:off x="737641" y="5720916"/>
                <a:ext cx="10189892" cy="578685"/>
              </a:xfrm>
              <a:prstGeom prst="rect">
                <a:avLst/>
              </a:prstGeom>
              <a:blipFill>
                <a:blip r:embed="rId3"/>
                <a:stretch>
                  <a:fillRect/>
                </a:stretch>
              </a:blipFill>
            </p:spPr>
            <p:txBody>
              <a:bodyPr/>
              <a:lstStyle/>
              <a:p>
                <a:r>
                  <a:rPr lang="zh-TW" altLang="en-US">
                    <a:noFill/>
                  </a:rPr>
                  <a:t> </a:t>
                </a:r>
              </a:p>
            </p:txBody>
          </p:sp>
        </mc:Fallback>
      </mc:AlternateContent>
      <p:grpSp>
        <p:nvGrpSpPr>
          <p:cNvPr id="146" name="组合 145"/>
          <p:cNvGrpSpPr/>
          <p:nvPr/>
        </p:nvGrpSpPr>
        <p:grpSpPr>
          <a:xfrm>
            <a:off x="2382366" y="1567900"/>
            <a:ext cx="6835769" cy="3881689"/>
            <a:chOff x="3170016" y="1567900"/>
            <a:chExt cx="6835769" cy="3881689"/>
          </a:xfrm>
        </p:grpSpPr>
        <p:sp>
          <p:nvSpPr>
            <p:cNvPr id="7" name="椭圆 6"/>
            <p:cNvSpPr/>
            <p:nvPr/>
          </p:nvSpPr>
          <p:spPr>
            <a:xfrm>
              <a:off x="5315391" y="2676814"/>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8" name="椭圆 7"/>
            <p:cNvSpPr/>
            <p:nvPr/>
          </p:nvSpPr>
          <p:spPr>
            <a:xfrm>
              <a:off x="6723914" y="2648761"/>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9" name="直接箭头连接符 8"/>
            <p:cNvCxnSpPr/>
            <p:nvPr/>
          </p:nvCxnSpPr>
          <p:spPr>
            <a:xfrm flipH="1" flipV="1">
              <a:off x="5476565" y="2136810"/>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flipH="1" flipV="1">
              <a:off x="6871074" y="2115771"/>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椭圆 11"/>
            <p:cNvSpPr/>
            <p:nvPr/>
          </p:nvSpPr>
          <p:spPr>
            <a:xfrm>
              <a:off x="4754785" y="4689548"/>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3" name="椭圆 12"/>
            <p:cNvSpPr/>
            <p:nvPr/>
          </p:nvSpPr>
          <p:spPr>
            <a:xfrm>
              <a:off x="5623725" y="4689548"/>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4" name="椭圆 13"/>
            <p:cNvSpPr/>
            <p:nvPr/>
          </p:nvSpPr>
          <p:spPr>
            <a:xfrm>
              <a:off x="7494748" y="4717599"/>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5" name="文本框 12"/>
            <p:cNvSpPr txBox="1"/>
            <p:nvPr/>
          </p:nvSpPr>
          <p:spPr>
            <a:xfrm>
              <a:off x="5252322" y="1617847"/>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4</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13"/>
            <p:cNvSpPr txBox="1"/>
            <p:nvPr/>
          </p:nvSpPr>
          <p:spPr>
            <a:xfrm>
              <a:off x="6625808" y="1582783"/>
              <a:ext cx="630683"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6</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7" name="文本框 14"/>
            <p:cNvSpPr txBox="1"/>
            <p:nvPr/>
          </p:nvSpPr>
          <p:spPr>
            <a:xfrm>
              <a:off x="6408051" y="4631658"/>
              <a:ext cx="889816"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8" name="直接箭头连接符 17"/>
            <p:cNvCxnSpPr/>
            <p:nvPr/>
          </p:nvCxnSpPr>
          <p:spPr>
            <a:xfrm flipV="1">
              <a:off x="4965013" y="3006424"/>
              <a:ext cx="510530" cy="171117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12" idx="0"/>
            </p:cNvCxnSpPr>
            <p:nvPr/>
          </p:nvCxnSpPr>
          <p:spPr>
            <a:xfrm flipV="1">
              <a:off x="4913161" y="2971360"/>
              <a:ext cx="1970078" cy="171818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p:nvPr/>
          </p:nvCxnSpPr>
          <p:spPr>
            <a:xfrm flipH="1" flipV="1">
              <a:off x="5525619" y="3034477"/>
              <a:ext cx="256263" cy="165507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13" idx="0"/>
            </p:cNvCxnSpPr>
            <p:nvPr/>
          </p:nvCxnSpPr>
          <p:spPr>
            <a:xfrm flipV="1">
              <a:off x="5782101" y="3013438"/>
              <a:ext cx="1115737" cy="167611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p:nvPr/>
          </p:nvCxnSpPr>
          <p:spPr>
            <a:xfrm flipH="1" flipV="1">
              <a:off x="5553648" y="2999412"/>
              <a:ext cx="2039206" cy="17532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14" idx="1"/>
            </p:cNvCxnSpPr>
            <p:nvPr/>
          </p:nvCxnSpPr>
          <p:spPr>
            <a:xfrm flipH="1" flipV="1">
              <a:off x="6934143" y="2971360"/>
              <a:ext cx="606992" cy="179266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4" name="文本框 23"/>
                <p:cNvSpPr txBox="1"/>
                <p:nvPr/>
              </p:nvSpPr>
              <p:spPr>
                <a:xfrm>
                  <a:off x="4789093" y="5049479"/>
                  <a:ext cx="2982979"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2 </m:t>
                            </m:r>
                          </m:sub>
                        </m:sSub>
                        <m:r>
                          <a:rPr lang="en-US" altLang="zh-CN" sz="2000" b="0" i="1">
                            <a:latin typeface="Cambria Math" panose="02040503050406030204" pitchFamily="18" charset="0"/>
                          </a:rPr>
                          <m:t>   </m:t>
                        </m:r>
                        <m:r>
                          <a:rPr lang="en-US" altLang="zh-CN" sz="2000" b="0" i="1" smtClean="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𝑛</m:t>
                            </m:r>
                          </m:sub>
                        </m:sSub>
                      </m:oMath>
                    </m:oMathPara>
                  </a14:m>
                  <a:endParaRPr lang="zh-CN" altLang="en-US" sz="2000" dirty="0"/>
                </a:p>
              </p:txBody>
            </p:sp>
          </mc:Choice>
          <mc:Fallback>
            <p:sp>
              <p:nvSpPr>
                <p:cNvPr id="24" name="文本框 23"/>
                <p:cNvSpPr txBox="1">
                  <a:spLocks noRot="1" noChangeAspect="1" noMove="1" noResize="1" noEditPoints="1" noAdjustHandles="1" noChangeArrowheads="1" noChangeShapeType="1" noTextEdit="1"/>
                </p:cNvSpPr>
                <p:nvPr/>
              </p:nvSpPr>
              <p:spPr>
                <a:xfrm>
                  <a:off x="4789093" y="5049479"/>
                  <a:ext cx="2982979" cy="400110"/>
                </a:xfrm>
                <a:prstGeom prst="rect">
                  <a:avLst/>
                </a:prstGeom>
                <a:blipFill>
                  <a:blip r:embed="rId4"/>
                  <a:stretch>
                    <a:fillRect r="-408"/>
                  </a:stretch>
                </a:blipFill>
              </p:spPr>
              <p:txBody>
                <a:bodyPr/>
                <a:lstStyle/>
                <a:p>
                  <a:r>
                    <a:rPr lang="zh-TW" altLang="en-US">
                      <a:noFill/>
                    </a:rPr>
                    <a:t> </a:t>
                  </a:r>
                </a:p>
              </p:txBody>
            </p:sp>
          </mc:Fallback>
        </mc:AlternateContent>
        <p:sp>
          <p:nvSpPr>
            <p:cNvPr id="25" name="椭圆 24"/>
            <p:cNvSpPr/>
            <p:nvPr/>
          </p:nvSpPr>
          <p:spPr>
            <a:xfrm>
              <a:off x="6007579" y="2655775"/>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27" name="直接箭头连接符 26"/>
            <p:cNvCxnSpPr/>
            <p:nvPr/>
          </p:nvCxnSpPr>
          <p:spPr>
            <a:xfrm flipH="1" flipV="1">
              <a:off x="6168753" y="2115771"/>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9" name="文本框 12"/>
            <p:cNvSpPr txBox="1"/>
            <p:nvPr/>
          </p:nvSpPr>
          <p:spPr>
            <a:xfrm>
              <a:off x="5944510" y="1596808"/>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5</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31" name="直接箭头连接符 30"/>
            <p:cNvCxnSpPr>
              <a:stCxn id="12" idx="0"/>
            </p:cNvCxnSpPr>
            <p:nvPr/>
          </p:nvCxnSpPr>
          <p:spPr>
            <a:xfrm flipV="1">
              <a:off x="4913161" y="2985387"/>
              <a:ext cx="1254570" cy="170416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0"/>
            </p:cNvCxnSpPr>
            <p:nvPr/>
          </p:nvCxnSpPr>
          <p:spPr>
            <a:xfrm flipV="1">
              <a:off x="5782101" y="3013439"/>
              <a:ext cx="435707" cy="167610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p:cNvCxnSpPr>
              <a:stCxn id="14" idx="1"/>
            </p:cNvCxnSpPr>
            <p:nvPr/>
          </p:nvCxnSpPr>
          <p:spPr>
            <a:xfrm flipH="1" flipV="1">
              <a:off x="6217388" y="2971359"/>
              <a:ext cx="1323747" cy="179266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5" name="椭圆 74"/>
            <p:cNvSpPr/>
            <p:nvPr/>
          </p:nvSpPr>
          <p:spPr>
            <a:xfrm>
              <a:off x="3233085" y="2694135"/>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76" name="椭圆 75"/>
            <p:cNvSpPr/>
            <p:nvPr/>
          </p:nvSpPr>
          <p:spPr>
            <a:xfrm>
              <a:off x="4641608" y="2666082"/>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77" name="直接箭头连接符 76"/>
            <p:cNvCxnSpPr/>
            <p:nvPr/>
          </p:nvCxnSpPr>
          <p:spPr>
            <a:xfrm flipH="1" flipV="1">
              <a:off x="3394259" y="2154131"/>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p:cNvCxnSpPr/>
            <p:nvPr/>
          </p:nvCxnSpPr>
          <p:spPr>
            <a:xfrm flipH="1" flipV="1">
              <a:off x="4788768" y="2133092"/>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9" name="文本框 12"/>
            <p:cNvSpPr txBox="1"/>
            <p:nvPr/>
          </p:nvSpPr>
          <p:spPr>
            <a:xfrm>
              <a:off x="3170016" y="1635168"/>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1</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0" name="文本框 13"/>
            <p:cNvSpPr txBox="1"/>
            <p:nvPr/>
          </p:nvSpPr>
          <p:spPr>
            <a:xfrm>
              <a:off x="4543502" y="1600104"/>
              <a:ext cx="630683"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3</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81" name="直接箭头连接符 80"/>
            <p:cNvCxnSpPr>
              <a:stCxn id="12" idx="0"/>
            </p:cNvCxnSpPr>
            <p:nvPr/>
          </p:nvCxnSpPr>
          <p:spPr>
            <a:xfrm flipH="1" flipV="1">
              <a:off x="3393237" y="3023746"/>
              <a:ext cx="1519924" cy="166580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2" name="直接箭头连接符 81"/>
            <p:cNvCxnSpPr>
              <a:stCxn id="12" idx="0"/>
            </p:cNvCxnSpPr>
            <p:nvPr/>
          </p:nvCxnSpPr>
          <p:spPr>
            <a:xfrm flipH="1" flipV="1">
              <a:off x="4800933" y="2988681"/>
              <a:ext cx="112228" cy="170086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3" name="直接箭头连接符 82"/>
            <p:cNvCxnSpPr>
              <a:stCxn id="13" idx="0"/>
            </p:cNvCxnSpPr>
            <p:nvPr/>
          </p:nvCxnSpPr>
          <p:spPr>
            <a:xfrm flipH="1" flipV="1">
              <a:off x="3443315" y="3051800"/>
              <a:ext cx="2338786" cy="16377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4" name="直接箭头连接符 83"/>
            <p:cNvCxnSpPr>
              <a:stCxn id="13" idx="0"/>
            </p:cNvCxnSpPr>
            <p:nvPr/>
          </p:nvCxnSpPr>
          <p:spPr>
            <a:xfrm flipH="1" flipV="1">
              <a:off x="4815532" y="3030759"/>
              <a:ext cx="966569" cy="165878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5" name="直接箭头连接符 84"/>
            <p:cNvCxnSpPr>
              <a:stCxn id="14" idx="1"/>
            </p:cNvCxnSpPr>
            <p:nvPr/>
          </p:nvCxnSpPr>
          <p:spPr>
            <a:xfrm flipH="1" flipV="1">
              <a:off x="3471342" y="3016734"/>
              <a:ext cx="4069793" cy="174728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6" name="直接箭头连接符 85"/>
            <p:cNvCxnSpPr>
              <a:stCxn id="14" idx="1"/>
            </p:cNvCxnSpPr>
            <p:nvPr/>
          </p:nvCxnSpPr>
          <p:spPr>
            <a:xfrm flipH="1" flipV="1">
              <a:off x="4851837" y="2988681"/>
              <a:ext cx="2689298" cy="177534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7" name="椭圆 86"/>
            <p:cNvSpPr/>
            <p:nvPr/>
          </p:nvSpPr>
          <p:spPr>
            <a:xfrm>
              <a:off x="3925273" y="2673096"/>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88" name="直接箭头连接符 87"/>
            <p:cNvCxnSpPr/>
            <p:nvPr/>
          </p:nvCxnSpPr>
          <p:spPr>
            <a:xfrm flipH="1" flipV="1">
              <a:off x="4086447" y="2133092"/>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9" name="文本框 12"/>
            <p:cNvSpPr txBox="1"/>
            <p:nvPr/>
          </p:nvSpPr>
          <p:spPr>
            <a:xfrm>
              <a:off x="3862204" y="1614129"/>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2</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90" name="直接箭头连接符 89"/>
            <p:cNvCxnSpPr>
              <a:stCxn id="12" idx="0"/>
            </p:cNvCxnSpPr>
            <p:nvPr/>
          </p:nvCxnSpPr>
          <p:spPr>
            <a:xfrm flipH="1" flipV="1">
              <a:off x="4085425" y="3002708"/>
              <a:ext cx="827736" cy="16868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1" name="直接箭头连接符 90"/>
            <p:cNvCxnSpPr>
              <a:stCxn id="13" idx="0"/>
            </p:cNvCxnSpPr>
            <p:nvPr/>
          </p:nvCxnSpPr>
          <p:spPr>
            <a:xfrm flipH="1" flipV="1">
              <a:off x="4135502" y="3030761"/>
              <a:ext cx="1646599" cy="165878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2" name="直接箭头连接符 91"/>
            <p:cNvCxnSpPr>
              <a:stCxn id="14" idx="1"/>
            </p:cNvCxnSpPr>
            <p:nvPr/>
          </p:nvCxnSpPr>
          <p:spPr>
            <a:xfrm flipH="1" flipV="1">
              <a:off x="4135084" y="2988683"/>
              <a:ext cx="3406051" cy="177533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0" name="椭圆 109"/>
            <p:cNvSpPr/>
            <p:nvPr/>
          </p:nvSpPr>
          <p:spPr>
            <a:xfrm>
              <a:off x="8064685" y="2661931"/>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11" name="椭圆 110"/>
            <p:cNvSpPr/>
            <p:nvPr/>
          </p:nvSpPr>
          <p:spPr>
            <a:xfrm>
              <a:off x="9473208" y="2633878"/>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112" name="直接箭头连接符 111"/>
            <p:cNvCxnSpPr/>
            <p:nvPr/>
          </p:nvCxnSpPr>
          <p:spPr>
            <a:xfrm flipH="1" flipV="1">
              <a:off x="8225859" y="2121927"/>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3" name="直接箭头连接符 112"/>
            <p:cNvCxnSpPr/>
            <p:nvPr/>
          </p:nvCxnSpPr>
          <p:spPr>
            <a:xfrm flipH="1" flipV="1">
              <a:off x="9620368" y="2100888"/>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4" name="文本框 12"/>
            <p:cNvSpPr txBox="1"/>
            <p:nvPr/>
          </p:nvSpPr>
          <p:spPr>
            <a:xfrm>
              <a:off x="8001616" y="1602964"/>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8</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5" name="文本框 13"/>
            <p:cNvSpPr txBox="1"/>
            <p:nvPr/>
          </p:nvSpPr>
          <p:spPr>
            <a:xfrm>
              <a:off x="9375102" y="1567900"/>
              <a:ext cx="630683"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0</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16" name="直接箭头连接符 115"/>
            <p:cNvCxnSpPr>
              <a:stCxn id="12" idx="0"/>
            </p:cNvCxnSpPr>
            <p:nvPr/>
          </p:nvCxnSpPr>
          <p:spPr>
            <a:xfrm flipV="1">
              <a:off x="4913161" y="2991542"/>
              <a:ext cx="3311676" cy="169800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7" name="直接箭头连接符 116"/>
            <p:cNvCxnSpPr>
              <a:stCxn id="12" idx="0"/>
            </p:cNvCxnSpPr>
            <p:nvPr/>
          </p:nvCxnSpPr>
          <p:spPr>
            <a:xfrm flipV="1">
              <a:off x="4913161" y="2956477"/>
              <a:ext cx="4719372" cy="173307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8" name="直接箭头连接符 117"/>
            <p:cNvCxnSpPr>
              <a:stCxn id="13" idx="0"/>
            </p:cNvCxnSpPr>
            <p:nvPr/>
          </p:nvCxnSpPr>
          <p:spPr>
            <a:xfrm flipV="1">
              <a:off x="5782101" y="3019595"/>
              <a:ext cx="2492813" cy="16699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9" name="直接箭头连接符 118"/>
            <p:cNvCxnSpPr>
              <a:stCxn id="13" idx="0"/>
            </p:cNvCxnSpPr>
            <p:nvPr/>
          </p:nvCxnSpPr>
          <p:spPr>
            <a:xfrm flipV="1">
              <a:off x="5782101" y="2998555"/>
              <a:ext cx="3865031" cy="169099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0" name="直接箭头连接符 119"/>
            <p:cNvCxnSpPr>
              <a:stCxn id="14" idx="1"/>
            </p:cNvCxnSpPr>
            <p:nvPr/>
          </p:nvCxnSpPr>
          <p:spPr>
            <a:xfrm flipV="1">
              <a:off x="7541135" y="2984530"/>
              <a:ext cx="761807" cy="177949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1" name="直接箭头连接符 120"/>
            <p:cNvCxnSpPr>
              <a:stCxn id="14" idx="1"/>
            </p:cNvCxnSpPr>
            <p:nvPr/>
          </p:nvCxnSpPr>
          <p:spPr>
            <a:xfrm flipV="1">
              <a:off x="7541135" y="2956477"/>
              <a:ext cx="2142302" cy="18075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2" name="椭圆 121"/>
            <p:cNvSpPr/>
            <p:nvPr/>
          </p:nvSpPr>
          <p:spPr>
            <a:xfrm>
              <a:off x="8756873" y="2640892"/>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123" name="直接箭头连接符 122"/>
            <p:cNvCxnSpPr/>
            <p:nvPr/>
          </p:nvCxnSpPr>
          <p:spPr>
            <a:xfrm flipH="1" flipV="1">
              <a:off x="8918047" y="2100888"/>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4" name="文本框 12"/>
            <p:cNvSpPr txBox="1"/>
            <p:nvPr/>
          </p:nvSpPr>
          <p:spPr>
            <a:xfrm>
              <a:off x="8693804" y="1581925"/>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9</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25" name="直接箭头连接符 124"/>
            <p:cNvCxnSpPr>
              <a:stCxn id="12" idx="0"/>
            </p:cNvCxnSpPr>
            <p:nvPr/>
          </p:nvCxnSpPr>
          <p:spPr>
            <a:xfrm flipV="1">
              <a:off x="4913161" y="2970505"/>
              <a:ext cx="4003864" cy="17190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6" name="直接箭头连接符 125"/>
            <p:cNvCxnSpPr>
              <a:stCxn id="13" idx="0"/>
            </p:cNvCxnSpPr>
            <p:nvPr/>
          </p:nvCxnSpPr>
          <p:spPr>
            <a:xfrm flipV="1">
              <a:off x="5782101" y="2998557"/>
              <a:ext cx="3185001" cy="169099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7" name="直接箭头连接符 126"/>
            <p:cNvCxnSpPr>
              <a:stCxn id="14" idx="1"/>
            </p:cNvCxnSpPr>
            <p:nvPr/>
          </p:nvCxnSpPr>
          <p:spPr>
            <a:xfrm flipV="1">
              <a:off x="7541135" y="2956477"/>
              <a:ext cx="1425548" cy="18075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8" name="椭圆 127"/>
            <p:cNvSpPr/>
            <p:nvPr/>
          </p:nvSpPr>
          <p:spPr>
            <a:xfrm>
              <a:off x="7390902" y="2651199"/>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129" name="直接箭头连接符 128"/>
            <p:cNvCxnSpPr/>
            <p:nvPr/>
          </p:nvCxnSpPr>
          <p:spPr>
            <a:xfrm flipH="1" flipV="1">
              <a:off x="7538062" y="2118209"/>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30" name="文本框 13"/>
            <p:cNvSpPr txBox="1"/>
            <p:nvPr/>
          </p:nvSpPr>
          <p:spPr>
            <a:xfrm>
              <a:off x="7292796" y="1585221"/>
              <a:ext cx="630683"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7</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31" name="直接箭头连接符 130"/>
            <p:cNvCxnSpPr>
              <a:stCxn id="12" idx="0"/>
            </p:cNvCxnSpPr>
            <p:nvPr/>
          </p:nvCxnSpPr>
          <p:spPr>
            <a:xfrm flipV="1">
              <a:off x="4913161" y="2973799"/>
              <a:ext cx="2637066" cy="171574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2" name="直接箭头连接符 131"/>
            <p:cNvCxnSpPr>
              <a:stCxn id="13" idx="0"/>
            </p:cNvCxnSpPr>
            <p:nvPr/>
          </p:nvCxnSpPr>
          <p:spPr>
            <a:xfrm flipV="1">
              <a:off x="5782101" y="3015877"/>
              <a:ext cx="1782726" cy="167367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3" name="直接箭头连接符 132"/>
            <p:cNvCxnSpPr>
              <a:stCxn id="14" idx="1"/>
            </p:cNvCxnSpPr>
            <p:nvPr/>
          </p:nvCxnSpPr>
          <p:spPr>
            <a:xfrm flipV="1">
              <a:off x="7541135" y="2973799"/>
              <a:ext cx="59996" cy="179022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534095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神經網路的橫向擴展</a:t>
            </a:r>
            <a:r>
              <a:rPr lang="en-US" altLang="zh-CN" dirty="0"/>
              <a:t>——</a:t>
            </a:r>
            <a:r>
              <a:rPr lang="zh-CN" altLang="en-US" dirty="0"/>
              <a:t>增加模式</a:t>
            </a:r>
          </a:p>
        </p:txBody>
      </p:sp>
      <p:sp>
        <p:nvSpPr>
          <p:cNvPr id="6" name="Rectangle 2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椭圆 7"/>
          <p:cNvSpPr/>
          <p:nvPr/>
        </p:nvSpPr>
        <p:spPr>
          <a:xfrm>
            <a:off x="2513558" y="2892898"/>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9" name="椭圆 8"/>
          <p:cNvSpPr/>
          <p:nvPr/>
        </p:nvSpPr>
        <p:spPr>
          <a:xfrm>
            <a:off x="4343430" y="2859304"/>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10" name="直接箭头连接符 9"/>
          <p:cNvCxnSpPr/>
          <p:nvPr/>
        </p:nvCxnSpPr>
        <p:spPr>
          <a:xfrm flipH="1" flipV="1">
            <a:off x="2722946" y="2246237"/>
            <a:ext cx="8725" cy="6371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flipH="1" flipV="1">
            <a:off x="4534612" y="2221042"/>
            <a:ext cx="8725" cy="6371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椭圆 11"/>
          <p:cNvSpPr/>
          <p:nvPr/>
        </p:nvSpPr>
        <p:spPr>
          <a:xfrm>
            <a:off x="1785251" y="5303173"/>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3" name="椭圆 12"/>
          <p:cNvSpPr/>
          <p:nvPr/>
        </p:nvSpPr>
        <p:spPr>
          <a:xfrm>
            <a:off x="2914128" y="5303173"/>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4" name="椭圆 13"/>
          <p:cNvSpPr/>
          <p:nvPr/>
        </p:nvSpPr>
        <p:spPr>
          <a:xfrm>
            <a:off x="5344854" y="5336764"/>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5" name="文本框 12"/>
          <p:cNvSpPr txBox="1"/>
          <p:nvPr/>
        </p:nvSpPr>
        <p:spPr>
          <a:xfrm>
            <a:off x="2431623" y="1624772"/>
            <a:ext cx="828007" cy="622398"/>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effectLst/>
                <a:latin typeface="等线" panose="02010600030101010101" pitchFamily="2" charset="-122"/>
                <a:ea typeface="等线" panose="02010600030101010101" pitchFamily="2" charset="-122"/>
                <a:cs typeface="Times New Roman" panose="02020603050405020304" pitchFamily="18" charset="0"/>
              </a:rPr>
              <a:t>3</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13"/>
          <p:cNvSpPr txBox="1"/>
          <p:nvPr/>
        </p:nvSpPr>
        <p:spPr>
          <a:xfrm>
            <a:off x="4215977" y="1582782"/>
            <a:ext cx="819347" cy="622398"/>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effectLst/>
                <a:latin typeface="等线" panose="02010600030101010101" pitchFamily="2" charset="-122"/>
                <a:ea typeface="等线" panose="02010600030101010101" pitchFamily="2" charset="-122"/>
                <a:cs typeface="Times New Roman" panose="02020603050405020304" pitchFamily="18" charset="0"/>
              </a:rPr>
              <a:t>8</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7" name="文本框 14"/>
          <p:cNvSpPr txBox="1"/>
          <p:nvPr/>
        </p:nvSpPr>
        <p:spPr>
          <a:xfrm>
            <a:off x="3819614" y="5255313"/>
            <a:ext cx="1155998" cy="622398"/>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8" name="直接箭头连接符 17"/>
          <p:cNvCxnSpPr/>
          <p:nvPr/>
        </p:nvCxnSpPr>
        <p:spPr>
          <a:xfrm flipV="1">
            <a:off x="2058367" y="3287610"/>
            <a:ext cx="663251" cy="20491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a:xfrm flipV="1">
            <a:off x="2094781" y="3245620"/>
            <a:ext cx="2455635" cy="209114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p:nvPr/>
        </p:nvCxnSpPr>
        <p:spPr>
          <a:xfrm flipH="1" flipV="1">
            <a:off x="2786674" y="3321204"/>
            <a:ext cx="332922" cy="198196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p:nvPr/>
        </p:nvCxnSpPr>
        <p:spPr>
          <a:xfrm flipV="1">
            <a:off x="3178139" y="3296009"/>
            <a:ext cx="1391244" cy="202395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p:nvPr/>
        </p:nvCxnSpPr>
        <p:spPr>
          <a:xfrm flipH="1" flipV="1">
            <a:off x="2823088" y="3279214"/>
            <a:ext cx="2649219" cy="20995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p:nvPr/>
        </p:nvCxnSpPr>
        <p:spPr>
          <a:xfrm flipH="1" flipV="1">
            <a:off x="4616547" y="3245620"/>
            <a:ext cx="892177" cy="211633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0" name="Rectangle 34"/>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椭圆 30"/>
          <p:cNvSpPr/>
          <p:nvPr/>
        </p:nvSpPr>
        <p:spPr>
          <a:xfrm>
            <a:off x="6264625" y="2859304"/>
            <a:ext cx="411506" cy="379609"/>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32" name="直接箭头连接符 31"/>
          <p:cNvCxnSpPr/>
          <p:nvPr/>
        </p:nvCxnSpPr>
        <p:spPr>
          <a:xfrm flipH="1" flipV="1">
            <a:off x="6455807" y="2221042"/>
            <a:ext cx="8725" cy="637153"/>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2" idx="7"/>
          </p:cNvCxnSpPr>
          <p:nvPr/>
        </p:nvCxnSpPr>
        <p:spPr>
          <a:xfrm flipV="1">
            <a:off x="2136493" y="3245620"/>
            <a:ext cx="4335118" cy="2113145"/>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3" idx="7"/>
          </p:cNvCxnSpPr>
          <p:nvPr/>
        </p:nvCxnSpPr>
        <p:spPr>
          <a:xfrm flipV="1">
            <a:off x="3265370" y="3296010"/>
            <a:ext cx="3225208" cy="2062755"/>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p:cNvCxnSpPr/>
          <p:nvPr/>
        </p:nvCxnSpPr>
        <p:spPr>
          <a:xfrm flipV="1">
            <a:off x="5573777" y="3245621"/>
            <a:ext cx="963966" cy="2074347"/>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9" name="文本框 38"/>
              <p:cNvSpPr txBox="1"/>
              <p:nvPr/>
            </p:nvSpPr>
            <p:spPr>
              <a:xfrm>
                <a:off x="1829822" y="5734195"/>
                <a:ext cx="387531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2 </m:t>
                          </m:r>
                        </m:sub>
                      </m:sSub>
                      <m:r>
                        <a:rPr lang="en-US" altLang="zh-CN" sz="2800" b="0" i="1">
                          <a:latin typeface="Cambria Math" panose="02040503050406030204" pitchFamily="18" charset="0"/>
                        </a:rPr>
                        <m:t>   </m:t>
                      </m:r>
                      <m:r>
                        <a:rPr lang="en-US" altLang="zh-CN" sz="2800" b="0" i="1" smtClean="0">
                          <a:latin typeface="Cambria Math" panose="02040503050406030204" pitchFamily="18" charset="0"/>
                        </a:rPr>
                        <m:t>    …</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𝑛</m:t>
                          </m:r>
                        </m:sub>
                      </m:sSub>
                    </m:oMath>
                  </m:oMathPara>
                </a14:m>
                <a:endParaRPr lang="zh-CN" altLang="en-US" sz="2800" dirty="0"/>
              </a:p>
            </p:txBody>
          </p:sp>
        </mc:Choice>
        <mc:Fallback>
          <p:sp>
            <p:nvSpPr>
              <p:cNvPr id="39" name="文本框 38"/>
              <p:cNvSpPr txBox="1">
                <a:spLocks noRot="1" noChangeAspect="1" noMove="1" noResize="1" noEditPoints="1" noAdjustHandles="1" noChangeArrowheads="1" noChangeShapeType="1" noTextEdit="1"/>
              </p:cNvSpPr>
              <p:nvPr/>
            </p:nvSpPr>
            <p:spPr>
              <a:xfrm>
                <a:off x="1829822" y="5734195"/>
                <a:ext cx="3875315" cy="523220"/>
              </a:xfrm>
              <a:prstGeom prst="rect">
                <a:avLst/>
              </a:prstGeom>
              <a:blipFill>
                <a:blip r:embed="rId3"/>
                <a:stretch>
                  <a:fillRect/>
                </a:stretch>
              </a:blipFill>
            </p:spPr>
            <p:txBody>
              <a:bodyPr/>
              <a:lstStyle/>
              <a:p>
                <a:r>
                  <a:rPr lang="zh-TW" altLang="en-US">
                    <a:noFill/>
                  </a:rPr>
                  <a:t> </a:t>
                </a:r>
              </a:p>
            </p:txBody>
          </p:sp>
        </mc:Fallback>
      </mc:AlternateContent>
      <p:sp>
        <p:nvSpPr>
          <p:cNvPr id="40" name="椭圆 39"/>
          <p:cNvSpPr/>
          <p:nvPr/>
        </p:nvSpPr>
        <p:spPr>
          <a:xfrm>
            <a:off x="7998399" y="2832616"/>
            <a:ext cx="411506" cy="379609"/>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41" name="直接箭头连接符 40"/>
          <p:cNvCxnSpPr/>
          <p:nvPr/>
        </p:nvCxnSpPr>
        <p:spPr>
          <a:xfrm flipH="1" flipV="1">
            <a:off x="8189581" y="2194354"/>
            <a:ext cx="8725" cy="637153"/>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p:nvPr/>
        </p:nvCxnSpPr>
        <p:spPr>
          <a:xfrm flipV="1">
            <a:off x="2094781" y="3218933"/>
            <a:ext cx="6110604" cy="2179896"/>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p:cNvCxnSpPr>
            <a:stCxn id="13" idx="7"/>
          </p:cNvCxnSpPr>
          <p:nvPr/>
        </p:nvCxnSpPr>
        <p:spPr>
          <a:xfrm flipV="1">
            <a:off x="3265370" y="3269323"/>
            <a:ext cx="4958982" cy="2089442"/>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p:cNvCxnSpPr/>
          <p:nvPr/>
        </p:nvCxnSpPr>
        <p:spPr>
          <a:xfrm flipV="1">
            <a:off x="5633205" y="3218934"/>
            <a:ext cx="2638312" cy="2094210"/>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49" name="任意多边形 48"/>
          <p:cNvSpPr/>
          <p:nvPr/>
        </p:nvSpPr>
        <p:spPr>
          <a:xfrm>
            <a:off x="6217920" y="1584961"/>
            <a:ext cx="600891" cy="574766"/>
          </a:xfrm>
          <a:custGeom>
            <a:avLst/>
            <a:gdLst>
              <a:gd name="connsiteX0" fmla="*/ 0 w 687977"/>
              <a:gd name="connsiteY0" fmla="*/ 0 h 592183"/>
              <a:gd name="connsiteX1" fmla="*/ 687977 w 687977"/>
              <a:gd name="connsiteY1" fmla="*/ 209006 h 592183"/>
              <a:gd name="connsiteX2" fmla="*/ 278675 w 687977"/>
              <a:gd name="connsiteY2" fmla="*/ 304800 h 592183"/>
              <a:gd name="connsiteX3" fmla="*/ 618309 w 687977"/>
              <a:gd name="connsiteY3" fmla="*/ 426720 h 592183"/>
              <a:gd name="connsiteX4" fmla="*/ 87086 w 687977"/>
              <a:gd name="connsiteY4" fmla="*/ 592183 h 592183"/>
              <a:gd name="connsiteX0" fmla="*/ 0 w 627017"/>
              <a:gd name="connsiteY0" fmla="*/ 0 h 592183"/>
              <a:gd name="connsiteX1" fmla="*/ 627017 w 627017"/>
              <a:gd name="connsiteY1" fmla="*/ 209006 h 592183"/>
              <a:gd name="connsiteX2" fmla="*/ 217715 w 627017"/>
              <a:gd name="connsiteY2" fmla="*/ 304800 h 592183"/>
              <a:gd name="connsiteX3" fmla="*/ 557349 w 627017"/>
              <a:gd name="connsiteY3" fmla="*/ 426720 h 592183"/>
              <a:gd name="connsiteX4" fmla="*/ 26126 w 627017"/>
              <a:gd name="connsiteY4" fmla="*/ 592183 h 592183"/>
              <a:gd name="connsiteX0" fmla="*/ 0 w 600891"/>
              <a:gd name="connsiteY0" fmla="*/ 0 h 574766"/>
              <a:gd name="connsiteX1" fmla="*/ 600891 w 600891"/>
              <a:gd name="connsiteY1" fmla="*/ 191589 h 574766"/>
              <a:gd name="connsiteX2" fmla="*/ 191589 w 600891"/>
              <a:gd name="connsiteY2" fmla="*/ 287383 h 574766"/>
              <a:gd name="connsiteX3" fmla="*/ 531223 w 600891"/>
              <a:gd name="connsiteY3" fmla="*/ 409303 h 574766"/>
              <a:gd name="connsiteX4" fmla="*/ 0 w 600891"/>
              <a:gd name="connsiteY4" fmla="*/ 574766 h 574766"/>
              <a:gd name="connsiteX0" fmla="*/ 0 w 600891"/>
              <a:gd name="connsiteY0" fmla="*/ 0 h 452846"/>
              <a:gd name="connsiteX1" fmla="*/ 600891 w 600891"/>
              <a:gd name="connsiteY1" fmla="*/ 191589 h 452846"/>
              <a:gd name="connsiteX2" fmla="*/ 191589 w 600891"/>
              <a:gd name="connsiteY2" fmla="*/ 287383 h 452846"/>
              <a:gd name="connsiteX3" fmla="*/ 531223 w 600891"/>
              <a:gd name="connsiteY3" fmla="*/ 409303 h 452846"/>
              <a:gd name="connsiteX4" fmla="*/ 113212 w 600891"/>
              <a:gd name="connsiteY4" fmla="*/ 452846 h 452846"/>
              <a:gd name="connsiteX0" fmla="*/ 0 w 600891"/>
              <a:gd name="connsiteY0" fmla="*/ 0 h 574766"/>
              <a:gd name="connsiteX1" fmla="*/ 600891 w 600891"/>
              <a:gd name="connsiteY1" fmla="*/ 191589 h 574766"/>
              <a:gd name="connsiteX2" fmla="*/ 191589 w 600891"/>
              <a:gd name="connsiteY2" fmla="*/ 287383 h 574766"/>
              <a:gd name="connsiteX3" fmla="*/ 531223 w 600891"/>
              <a:gd name="connsiteY3" fmla="*/ 409303 h 574766"/>
              <a:gd name="connsiteX4" fmla="*/ 60960 w 600891"/>
              <a:gd name="connsiteY4" fmla="*/ 574766 h 574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891" h="574766">
                <a:moveTo>
                  <a:pt x="0" y="0"/>
                </a:moveTo>
                <a:lnTo>
                  <a:pt x="600891" y="191589"/>
                </a:lnTo>
                <a:lnTo>
                  <a:pt x="191589" y="287383"/>
                </a:lnTo>
                <a:lnTo>
                  <a:pt x="531223" y="409303"/>
                </a:lnTo>
                <a:lnTo>
                  <a:pt x="60960" y="574766"/>
                </a:lnTo>
              </a:path>
            </a:pathLst>
          </a:cu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任意多边形 50"/>
          <p:cNvSpPr/>
          <p:nvPr/>
        </p:nvSpPr>
        <p:spPr>
          <a:xfrm>
            <a:off x="7829006" y="1480456"/>
            <a:ext cx="679268" cy="592183"/>
          </a:xfrm>
          <a:custGeom>
            <a:avLst/>
            <a:gdLst>
              <a:gd name="connsiteX0" fmla="*/ 226423 w 679268"/>
              <a:gd name="connsiteY0" fmla="*/ 0 h 539932"/>
              <a:gd name="connsiteX1" fmla="*/ 670560 w 679268"/>
              <a:gd name="connsiteY1" fmla="*/ 165463 h 539932"/>
              <a:gd name="connsiteX2" fmla="*/ 0 w 679268"/>
              <a:gd name="connsiteY2" fmla="*/ 418012 h 539932"/>
              <a:gd name="connsiteX3" fmla="*/ 452845 w 679268"/>
              <a:gd name="connsiteY3" fmla="*/ 539932 h 539932"/>
              <a:gd name="connsiteX4" fmla="*/ 679268 w 679268"/>
              <a:gd name="connsiteY4" fmla="*/ 426720 h 539932"/>
              <a:gd name="connsiteX5" fmla="*/ 269965 w 679268"/>
              <a:gd name="connsiteY5" fmla="*/ 95794 h 539932"/>
              <a:gd name="connsiteX6" fmla="*/ 269965 w 679268"/>
              <a:gd name="connsiteY6" fmla="*/ 95794 h 53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268" h="539932">
                <a:moveTo>
                  <a:pt x="226423" y="0"/>
                </a:moveTo>
                <a:lnTo>
                  <a:pt x="670560" y="165463"/>
                </a:lnTo>
                <a:lnTo>
                  <a:pt x="0" y="418012"/>
                </a:lnTo>
                <a:lnTo>
                  <a:pt x="452845" y="539932"/>
                </a:lnTo>
                <a:lnTo>
                  <a:pt x="679268" y="426720"/>
                </a:lnTo>
                <a:lnTo>
                  <a:pt x="269965" y="95794"/>
                </a:lnTo>
                <a:lnTo>
                  <a:pt x="269965" y="95794"/>
                </a:lnTo>
              </a:path>
            </a:pathLst>
          </a:custGeom>
          <a:noFill/>
          <a:ln w="38100">
            <a:solidFill>
              <a:srgbClr val="119F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9288817" y="3609441"/>
            <a:ext cx="1535769" cy="1870559"/>
          </a:xfrm>
          <a:custGeom>
            <a:avLst/>
            <a:gdLst>
              <a:gd name="connsiteX0" fmla="*/ 0 w 687977"/>
              <a:gd name="connsiteY0" fmla="*/ 0 h 592183"/>
              <a:gd name="connsiteX1" fmla="*/ 687977 w 687977"/>
              <a:gd name="connsiteY1" fmla="*/ 209006 h 592183"/>
              <a:gd name="connsiteX2" fmla="*/ 278675 w 687977"/>
              <a:gd name="connsiteY2" fmla="*/ 304800 h 592183"/>
              <a:gd name="connsiteX3" fmla="*/ 618309 w 687977"/>
              <a:gd name="connsiteY3" fmla="*/ 426720 h 592183"/>
              <a:gd name="connsiteX4" fmla="*/ 87086 w 687977"/>
              <a:gd name="connsiteY4" fmla="*/ 592183 h 592183"/>
              <a:gd name="connsiteX0" fmla="*/ 0 w 627017"/>
              <a:gd name="connsiteY0" fmla="*/ 0 h 592183"/>
              <a:gd name="connsiteX1" fmla="*/ 627017 w 627017"/>
              <a:gd name="connsiteY1" fmla="*/ 209006 h 592183"/>
              <a:gd name="connsiteX2" fmla="*/ 217715 w 627017"/>
              <a:gd name="connsiteY2" fmla="*/ 304800 h 592183"/>
              <a:gd name="connsiteX3" fmla="*/ 557349 w 627017"/>
              <a:gd name="connsiteY3" fmla="*/ 426720 h 592183"/>
              <a:gd name="connsiteX4" fmla="*/ 26126 w 627017"/>
              <a:gd name="connsiteY4" fmla="*/ 592183 h 592183"/>
              <a:gd name="connsiteX0" fmla="*/ 0 w 600891"/>
              <a:gd name="connsiteY0" fmla="*/ 0 h 574766"/>
              <a:gd name="connsiteX1" fmla="*/ 600891 w 600891"/>
              <a:gd name="connsiteY1" fmla="*/ 191589 h 574766"/>
              <a:gd name="connsiteX2" fmla="*/ 191589 w 600891"/>
              <a:gd name="connsiteY2" fmla="*/ 287383 h 574766"/>
              <a:gd name="connsiteX3" fmla="*/ 531223 w 600891"/>
              <a:gd name="connsiteY3" fmla="*/ 409303 h 574766"/>
              <a:gd name="connsiteX4" fmla="*/ 0 w 600891"/>
              <a:gd name="connsiteY4" fmla="*/ 574766 h 574766"/>
              <a:gd name="connsiteX0" fmla="*/ 0 w 600891"/>
              <a:gd name="connsiteY0" fmla="*/ 0 h 452846"/>
              <a:gd name="connsiteX1" fmla="*/ 600891 w 600891"/>
              <a:gd name="connsiteY1" fmla="*/ 191589 h 452846"/>
              <a:gd name="connsiteX2" fmla="*/ 191589 w 600891"/>
              <a:gd name="connsiteY2" fmla="*/ 287383 h 452846"/>
              <a:gd name="connsiteX3" fmla="*/ 531223 w 600891"/>
              <a:gd name="connsiteY3" fmla="*/ 409303 h 452846"/>
              <a:gd name="connsiteX4" fmla="*/ 113212 w 600891"/>
              <a:gd name="connsiteY4" fmla="*/ 452846 h 452846"/>
              <a:gd name="connsiteX0" fmla="*/ 0 w 600891"/>
              <a:gd name="connsiteY0" fmla="*/ 0 h 574766"/>
              <a:gd name="connsiteX1" fmla="*/ 600891 w 600891"/>
              <a:gd name="connsiteY1" fmla="*/ 191589 h 574766"/>
              <a:gd name="connsiteX2" fmla="*/ 191589 w 600891"/>
              <a:gd name="connsiteY2" fmla="*/ 287383 h 574766"/>
              <a:gd name="connsiteX3" fmla="*/ 531223 w 600891"/>
              <a:gd name="connsiteY3" fmla="*/ 409303 h 574766"/>
              <a:gd name="connsiteX4" fmla="*/ 60960 w 600891"/>
              <a:gd name="connsiteY4" fmla="*/ 574766 h 574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891" h="574766">
                <a:moveTo>
                  <a:pt x="0" y="0"/>
                </a:moveTo>
                <a:lnTo>
                  <a:pt x="600891" y="191589"/>
                </a:lnTo>
                <a:lnTo>
                  <a:pt x="191589" y="287383"/>
                </a:lnTo>
                <a:lnTo>
                  <a:pt x="531223" y="409303"/>
                </a:lnTo>
                <a:lnTo>
                  <a:pt x="60960" y="574766"/>
                </a:lnTo>
              </a:path>
            </a:pathLst>
          </a:cu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52"/>
          <p:cNvSpPr/>
          <p:nvPr/>
        </p:nvSpPr>
        <p:spPr>
          <a:xfrm>
            <a:off x="8957422" y="3771039"/>
            <a:ext cx="1600623" cy="1532134"/>
          </a:xfrm>
          <a:custGeom>
            <a:avLst/>
            <a:gdLst>
              <a:gd name="connsiteX0" fmla="*/ 226423 w 679268"/>
              <a:gd name="connsiteY0" fmla="*/ 0 h 539932"/>
              <a:gd name="connsiteX1" fmla="*/ 670560 w 679268"/>
              <a:gd name="connsiteY1" fmla="*/ 165463 h 539932"/>
              <a:gd name="connsiteX2" fmla="*/ 0 w 679268"/>
              <a:gd name="connsiteY2" fmla="*/ 418012 h 539932"/>
              <a:gd name="connsiteX3" fmla="*/ 452845 w 679268"/>
              <a:gd name="connsiteY3" fmla="*/ 539932 h 539932"/>
              <a:gd name="connsiteX4" fmla="*/ 679268 w 679268"/>
              <a:gd name="connsiteY4" fmla="*/ 426720 h 539932"/>
              <a:gd name="connsiteX5" fmla="*/ 269965 w 679268"/>
              <a:gd name="connsiteY5" fmla="*/ 95794 h 539932"/>
              <a:gd name="connsiteX6" fmla="*/ 269965 w 679268"/>
              <a:gd name="connsiteY6" fmla="*/ 95794 h 53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268" h="539932">
                <a:moveTo>
                  <a:pt x="226423" y="0"/>
                </a:moveTo>
                <a:lnTo>
                  <a:pt x="670560" y="165463"/>
                </a:lnTo>
                <a:lnTo>
                  <a:pt x="0" y="418012"/>
                </a:lnTo>
                <a:lnTo>
                  <a:pt x="452845" y="539932"/>
                </a:lnTo>
                <a:lnTo>
                  <a:pt x="679268" y="426720"/>
                </a:lnTo>
                <a:lnTo>
                  <a:pt x="269965" y="95794"/>
                </a:lnTo>
                <a:lnTo>
                  <a:pt x="269965" y="95794"/>
                </a:lnTo>
              </a:path>
            </a:pathLst>
          </a:custGeom>
          <a:noFill/>
          <a:ln w="38100">
            <a:solidFill>
              <a:srgbClr val="119F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91353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par>
                          <p:cTn id="21" fill="hold">
                            <p:stCondLst>
                              <p:cond delay="0"/>
                            </p:stCondLst>
                            <p:childTnLst>
                              <p:par>
                                <p:cTn id="22" presetID="1" presetClass="exit" presetSubtype="0" fill="hold" grpId="1" nodeType="afterEffect">
                                  <p:stCondLst>
                                    <p:cond delay="0"/>
                                  </p:stCondLst>
                                  <p:childTnLst>
                                    <p:set>
                                      <p:cBhvr>
                                        <p:cTn id="23" dur="1" fill="hold">
                                          <p:stCondLst>
                                            <p:cond delay="0"/>
                                          </p:stCondLst>
                                        </p:cTn>
                                        <p:tgtEl>
                                          <p:spTgt spid="5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3"/>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childTnLst>
                                </p:cTn>
                              </p:par>
                              <p:par>
                                <p:cTn id="42" presetID="1" presetClass="exit" presetSubtype="0" fill="hold" grpId="1" nodeType="withEffect">
                                  <p:stCondLst>
                                    <p:cond delay="0"/>
                                  </p:stCondLst>
                                  <p:childTnLst>
                                    <p:set>
                                      <p:cBhvr>
                                        <p:cTn id="43" dur="1" fill="hold">
                                          <p:stCondLst>
                                            <p:cond delay="0"/>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0" grpId="0" animBg="1"/>
      <p:bldP spid="49" grpId="0" animBg="1"/>
      <p:bldP spid="51" grpId="0" animBg="1"/>
      <p:bldP spid="52" grpId="0" animBg="1"/>
      <p:bldP spid="52" grpId="1" animBg="1"/>
      <p:bldP spid="53" grpId="0" animBg="1"/>
      <p:bldP spid="53"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神經網路的縱向擴展</a:t>
            </a:r>
            <a:r>
              <a:rPr lang="en-US" altLang="zh-CN" dirty="0"/>
              <a:t>——</a:t>
            </a:r>
            <a:r>
              <a:rPr lang="zh-CN" altLang="en-US" dirty="0"/>
              <a:t>局部模式</a:t>
            </a:r>
          </a:p>
        </p:txBody>
      </p:sp>
      <p:pic>
        <p:nvPicPr>
          <p:cNvPr id="5" name="图片 4"/>
          <p:cNvPicPr>
            <a:picLocks noChangeAspect="1"/>
          </p:cNvPicPr>
          <p:nvPr/>
        </p:nvPicPr>
        <p:blipFill>
          <a:blip r:embed="rId3"/>
          <a:stretch>
            <a:fillRect/>
          </a:stretch>
        </p:blipFill>
        <p:spPr>
          <a:xfrm>
            <a:off x="3340725" y="1597625"/>
            <a:ext cx="4513879" cy="2491389"/>
          </a:xfrm>
          <a:prstGeom prst="rect">
            <a:avLst/>
          </a:prstGeom>
        </p:spPr>
      </p:pic>
      <p:pic>
        <p:nvPicPr>
          <p:cNvPr id="6" name="图片 5"/>
          <p:cNvPicPr>
            <a:picLocks noChangeAspect="1"/>
          </p:cNvPicPr>
          <p:nvPr/>
        </p:nvPicPr>
        <p:blipFill>
          <a:blip r:embed="rId4"/>
          <a:stretch>
            <a:fillRect/>
          </a:stretch>
        </p:blipFill>
        <p:spPr>
          <a:xfrm>
            <a:off x="3353759" y="4176158"/>
            <a:ext cx="4513876" cy="2491388"/>
          </a:xfrm>
          <a:prstGeom prst="rect">
            <a:avLst/>
          </a:prstGeom>
          <a:solidFill>
            <a:schemeClr val="bg1"/>
          </a:solidFill>
        </p:spPr>
      </p:pic>
      <p:sp>
        <p:nvSpPr>
          <p:cNvPr id="7" name="椭圆 6"/>
          <p:cNvSpPr/>
          <p:nvPr/>
        </p:nvSpPr>
        <p:spPr>
          <a:xfrm>
            <a:off x="5685576" y="1486677"/>
            <a:ext cx="1240325" cy="253781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sp>
        <p:nvSpPr>
          <p:cNvPr id="9" name="椭圆 8"/>
          <p:cNvSpPr/>
          <p:nvPr/>
        </p:nvSpPr>
        <p:spPr>
          <a:xfrm>
            <a:off x="5685576" y="4101421"/>
            <a:ext cx="1253359" cy="253781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cxnSp>
        <p:nvCxnSpPr>
          <p:cNvPr id="11" name="直接箭头连接符 10"/>
          <p:cNvCxnSpPr/>
          <p:nvPr/>
        </p:nvCxnSpPr>
        <p:spPr>
          <a:xfrm flipH="1" flipV="1">
            <a:off x="7088863" y="2562131"/>
            <a:ext cx="1013988" cy="102304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7088863" y="3947311"/>
            <a:ext cx="1013988" cy="128619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8292974" y="3585172"/>
            <a:ext cx="1321806" cy="646331"/>
          </a:xfrm>
          <a:prstGeom prst="rect">
            <a:avLst/>
          </a:prstGeom>
          <a:noFill/>
        </p:spPr>
        <p:txBody>
          <a:bodyPr wrap="square" rtlCol="0">
            <a:spAutoFit/>
          </a:bodyPr>
          <a:lstStyle/>
          <a:p>
            <a:r>
              <a:rPr lang="zh-CN" altLang="en-US" sz="3600" dirty="0">
                <a:solidFill>
                  <a:srgbClr val="FF0000"/>
                </a:solidFill>
                <a:latin typeface="华文楷体" panose="02010600040101010101" pitchFamily="2" charset="-122"/>
                <a:ea typeface="华文楷体" panose="02010600040101010101" pitchFamily="2" charset="-122"/>
              </a:rPr>
              <a:t>相同</a:t>
            </a:r>
          </a:p>
        </p:txBody>
      </p:sp>
      <p:sp>
        <p:nvSpPr>
          <p:cNvPr id="17" name="椭圆 16"/>
          <p:cNvSpPr/>
          <p:nvPr/>
        </p:nvSpPr>
        <p:spPr>
          <a:xfrm>
            <a:off x="4101220" y="1458362"/>
            <a:ext cx="1240325" cy="253781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sp>
        <p:nvSpPr>
          <p:cNvPr id="19" name="椭圆 18"/>
          <p:cNvSpPr/>
          <p:nvPr/>
        </p:nvSpPr>
        <p:spPr>
          <a:xfrm>
            <a:off x="4101220" y="4073106"/>
            <a:ext cx="1253359" cy="253781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sp>
        <p:nvSpPr>
          <p:cNvPr id="22" name="文本框 21"/>
          <p:cNvSpPr txBox="1"/>
          <p:nvPr/>
        </p:nvSpPr>
        <p:spPr>
          <a:xfrm>
            <a:off x="1658222" y="3529826"/>
            <a:ext cx="1682500" cy="646331"/>
          </a:xfrm>
          <a:prstGeom prst="rect">
            <a:avLst/>
          </a:prstGeom>
          <a:noFill/>
          <a:ln>
            <a:noFill/>
          </a:ln>
        </p:spPr>
        <p:txBody>
          <a:bodyPr wrap="square" rtlCol="0">
            <a:spAutoFit/>
          </a:bodyPr>
          <a:lstStyle/>
          <a:p>
            <a:r>
              <a:rPr lang="zh-CN" altLang="en-US" sz="3600" dirty="0">
                <a:solidFill>
                  <a:srgbClr val="00B050"/>
                </a:solidFill>
                <a:latin typeface="华文楷体" panose="02010600040101010101" pitchFamily="2" charset="-122"/>
                <a:ea typeface="华文楷体" panose="02010600040101010101" pitchFamily="2" charset="-122"/>
              </a:rPr>
              <a:t>不相同</a:t>
            </a:r>
          </a:p>
        </p:txBody>
      </p:sp>
      <p:cxnSp>
        <p:nvCxnSpPr>
          <p:cNvPr id="24" name="直接箭头连接符 23"/>
          <p:cNvCxnSpPr/>
          <p:nvPr/>
        </p:nvCxnSpPr>
        <p:spPr>
          <a:xfrm flipV="1">
            <a:off x="3213977" y="2592921"/>
            <a:ext cx="534157" cy="106376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3213974" y="3943700"/>
            <a:ext cx="629775" cy="134350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079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6" grpId="0"/>
      <p:bldP spid="17" grpId="0" animBg="1"/>
      <p:bldP spid="19" grpId="0" animBg="1"/>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讓神經網路更深</a:t>
            </a:r>
            <a:r>
              <a:rPr lang="en-US" altLang="zh-CN" dirty="0"/>
              <a:t>——</a:t>
            </a:r>
            <a:r>
              <a:rPr lang="zh-CN" altLang="en-US" dirty="0"/>
              <a:t>模式組合</a:t>
            </a:r>
          </a:p>
        </p:txBody>
      </p:sp>
      <p:cxnSp>
        <p:nvCxnSpPr>
          <p:cNvPr id="5" name="直接箭头连接符 4"/>
          <p:cNvCxnSpPr/>
          <p:nvPr/>
        </p:nvCxnSpPr>
        <p:spPr>
          <a:xfrm flipH="1" flipV="1">
            <a:off x="4812358" y="2303956"/>
            <a:ext cx="6367" cy="489177"/>
          </a:xfrm>
          <a:prstGeom prst="straightConnector1">
            <a:avLst/>
          </a:prstGeom>
          <a:noFill/>
          <a:ln w="28575" cap="flat" cmpd="sng" algn="ctr">
            <a:solidFill>
              <a:sysClr val="windowText" lastClr="000000"/>
            </a:solidFill>
            <a:prstDash val="solid"/>
            <a:miter lim="800000"/>
            <a:tailEnd type="triangle"/>
          </a:ln>
          <a:effectLst/>
        </p:spPr>
      </p:cxnSp>
      <p:cxnSp>
        <p:nvCxnSpPr>
          <p:cNvPr id="6" name="直接箭头连接符 5"/>
          <p:cNvCxnSpPr/>
          <p:nvPr/>
        </p:nvCxnSpPr>
        <p:spPr>
          <a:xfrm flipH="1" flipV="1">
            <a:off x="6134548" y="2284610"/>
            <a:ext cx="6367" cy="489177"/>
          </a:xfrm>
          <a:prstGeom prst="straightConnector1">
            <a:avLst/>
          </a:prstGeom>
          <a:noFill/>
          <a:ln w="28575" cap="flat" cmpd="sng" algn="ctr">
            <a:solidFill>
              <a:sysClr val="windowText" lastClr="000000"/>
            </a:solidFill>
            <a:prstDash val="solid"/>
            <a:miter lim="800000"/>
            <a:tailEnd type="triangle"/>
          </a:ln>
          <a:effectLst/>
        </p:spPr>
      </p:cxnSp>
      <p:sp>
        <p:nvSpPr>
          <p:cNvPr id="7" name="椭圆 6"/>
          <p:cNvSpPr/>
          <p:nvPr/>
        </p:nvSpPr>
        <p:spPr>
          <a:xfrm>
            <a:off x="5995020" y="2774701"/>
            <a:ext cx="300326" cy="29144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 name="椭圆 7"/>
          <p:cNvSpPr/>
          <p:nvPr/>
        </p:nvSpPr>
        <p:spPr>
          <a:xfrm>
            <a:off x="4659542" y="2800495"/>
            <a:ext cx="300326" cy="29144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1" name="直接箭头连接符 10"/>
          <p:cNvCxnSpPr>
            <a:stCxn id="18" idx="0"/>
            <a:endCxn id="8" idx="4"/>
          </p:cNvCxnSpPr>
          <p:nvPr/>
        </p:nvCxnSpPr>
        <p:spPr>
          <a:xfrm flipV="1">
            <a:off x="4278170" y="3091943"/>
            <a:ext cx="531533" cy="1056300"/>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p:cNvCxnSpPr>
            <a:stCxn id="18" idx="0"/>
            <a:endCxn id="7" idx="4"/>
          </p:cNvCxnSpPr>
          <p:nvPr/>
        </p:nvCxnSpPr>
        <p:spPr>
          <a:xfrm flipV="1">
            <a:off x="4278170" y="3066149"/>
            <a:ext cx="1867012" cy="1082094"/>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19" idx="0"/>
            <a:endCxn id="7" idx="4"/>
          </p:cNvCxnSpPr>
          <p:nvPr/>
        </p:nvCxnSpPr>
        <p:spPr>
          <a:xfrm flipV="1">
            <a:off x="5572311" y="3066149"/>
            <a:ext cx="572873" cy="1082094"/>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a:stCxn id="20" idx="0"/>
            <a:endCxn id="8" idx="4"/>
          </p:cNvCxnSpPr>
          <p:nvPr/>
        </p:nvCxnSpPr>
        <p:spPr>
          <a:xfrm flipH="1" flipV="1">
            <a:off x="4809706" y="3091943"/>
            <a:ext cx="2066338" cy="1082095"/>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p:cNvCxnSpPr>
            <a:stCxn id="20" idx="0"/>
            <a:endCxn id="7" idx="4"/>
          </p:cNvCxnSpPr>
          <p:nvPr/>
        </p:nvCxnSpPr>
        <p:spPr>
          <a:xfrm flipH="1" flipV="1">
            <a:off x="6145182" y="3066149"/>
            <a:ext cx="730859" cy="1107889"/>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p:cNvCxnSpPr>
            <a:stCxn id="19" idx="0"/>
            <a:endCxn id="8" idx="4"/>
          </p:cNvCxnSpPr>
          <p:nvPr/>
        </p:nvCxnSpPr>
        <p:spPr>
          <a:xfrm flipH="1" flipV="1">
            <a:off x="4809706" y="3091943"/>
            <a:ext cx="762606" cy="1056300"/>
          </a:xfrm>
          <a:prstGeom prst="straightConnector1">
            <a:avLst/>
          </a:prstGeom>
          <a:noFill/>
          <a:ln w="28575" cap="flat" cmpd="sng" algn="ctr">
            <a:solidFill>
              <a:sysClr val="windowText" lastClr="000000"/>
            </a:solidFill>
            <a:prstDash val="solid"/>
            <a:miter lim="800000"/>
            <a:tailEnd type="triangle"/>
          </a:ln>
          <a:effectLst/>
        </p:spPr>
      </p:cxnSp>
      <p:sp>
        <p:nvSpPr>
          <p:cNvPr id="18" name="椭圆 17"/>
          <p:cNvSpPr/>
          <p:nvPr/>
        </p:nvSpPr>
        <p:spPr>
          <a:xfrm>
            <a:off x="4128008" y="4148243"/>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9" name="椭圆 18"/>
          <p:cNvSpPr/>
          <p:nvPr/>
        </p:nvSpPr>
        <p:spPr>
          <a:xfrm>
            <a:off x="5422148" y="4148243"/>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0" name="椭圆 19"/>
          <p:cNvSpPr/>
          <p:nvPr/>
        </p:nvSpPr>
        <p:spPr>
          <a:xfrm>
            <a:off x="6725880" y="4174038"/>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1" name="椭圆 20"/>
          <p:cNvSpPr/>
          <p:nvPr/>
        </p:nvSpPr>
        <p:spPr>
          <a:xfrm>
            <a:off x="7303923" y="5354124"/>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2" name="文本框 173"/>
          <p:cNvSpPr txBox="1"/>
          <p:nvPr/>
        </p:nvSpPr>
        <p:spPr>
          <a:xfrm>
            <a:off x="5693628" y="5207064"/>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3" name="椭圆 22"/>
          <p:cNvSpPr/>
          <p:nvPr/>
        </p:nvSpPr>
        <p:spPr>
          <a:xfrm>
            <a:off x="4951886" y="5334777"/>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p:cNvSpPr/>
          <p:nvPr/>
        </p:nvSpPr>
        <p:spPr>
          <a:xfrm>
            <a:off x="3736003" y="5334777"/>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5" name="直接箭头连接符 24"/>
          <p:cNvCxnSpPr>
            <a:endCxn id="18" idx="4"/>
          </p:cNvCxnSpPr>
          <p:nvPr/>
        </p:nvCxnSpPr>
        <p:spPr>
          <a:xfrm flipV="1">
            <a:off x="3902107" y="4438697"/>
            <a:ext cx="376064" cy="895815"/>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endCxn id="19" idx="4"/>
          </p:cNvCxnSpPr>
          <p:nvPr/>
        </p:nvCxnSpPr>
        <p:spPr>
          <a:xfrm flipV="1">
            <a:off x="3941972" y="4438697"/>
            <a:ext cx="1630339" cy="908979"/>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endCxn id="18" idx="4"/>
          </p:cNvCxnSpPr>
          <p:nvPr/>
        </p:nvCxnSpPr>
        <p:spPr>
          <a:xfrm flipH="1" flipV="1">
            <a:off x="4278170" y="4438697"/>
            <a:ext cx="859750" cy="915161"/>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endCxn id="20" idx="4"/>
          </p:cNvCxnSpPr>
          <p:nvPr/>
        </p:nvCxnSpPr>
        <p:spPr>
          <a:xfrm flipV="1">
            <a:off x="3981837" y="4464492"/>
            <a:ext cx="2894206" cy="915425"/>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endCxn id="19" idx="4"/>
          </p:cNvCxnSpPr>
          <p:nvPr/>
        </p:nvCxnSpPr>
        <p:spPr>
          <a:xfrm flipV="1">
            <a:off x="5117990" y="4438697"/>
            <a:ext cx="454322" cy="895815"/>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p:cNvCxnSpPr>
            <a:endCxn id="20" idx="4"/>
          </p:cNvCxnSpPr>
          <p:nvPr/>
        </p:nvCxnSpPr>
        <p:spPr>
          <a:xfrm flipV="1">
            <a:off x="5144567" y="4464492"/>
            <a:ext cx="1731476" cy="883227"/>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p:cNvCxnSpPr>
            <a:endCxn id="20" idx="4"/>
          </p:cNvCxnSpPr>
          <p:nvPr/>
        </p:nvCxnSpPr>
        <p:spPr>
          <a:xfrm flipH="1" flipV="1">
            <a:off x="6876043" y="4464492"/>
            <a:ext cx="534187" cy="882916"/>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p:cNvCxnSpPr>
            <a:endCxn id="19" idx="4"/>
          </p:cNvCxnSpPr>
          <p:nvPr/>
        </p:nvCxnSpPr>
        <p:spPr>
          <a:xfrm flipH="1" flipV="1">
            <a:off x="5572311" y="4438697"/>
            <a:ext cx="1851207" cy="921876"/>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p:cNvCxnSpPr>
            <a:endCxn id="18" idx="4"/>
          </p:cNvCxnSpPr>
          <p:nvPr/>
        </p:nvCxnSpPr>
        <p:spPr>
          <a:xfrm flipH="1" flipV="1">
            <a:off x="4278170" y="4438697"/>
            <a:ext cx="3131783" cy="940729"/>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59" name="文本框 58"/>
              <p:cNvSpPr txBox="1"/>
              <p:nvPr/>
            </p:nvSpPr>
            <p:spPr>
              <a:xfrm>
                <a:off x="3728934" y="5733887"/>
                <a:ext cx="38753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oMath>
                  </m:oMathPara>
                </a14:m>
                <a:endParaRPr lang="zh-CN" altLang="en-US" sz="2400" dirty="0"/>
              </a:p>
            </p:txBody>
          </p:sp>
        </mc:Choice>
        <mc:Fallback>
          <p:sp>
            <p:nvSpPr>
              <p:cNvPr id="59" name="文本框 58"/>
              <p:cNvSpPr txBox="1">
                <a:spLocks noRot="1" noChangeAspect="1" noMove="1" noResize="1" noEditPoints="1" noAdjustHandles="1" noChangeArrowheads="1" noChangeShapeType="1" noTextEdit="1"/>
              </p:cNvSpPr>
              <p:nvPr/>
            </p:nvSpPr>
            <p:spPr>
              <a:xfrm>
                <a:off x="3728934" y="5733887"/>
                <a:ext cx="3875315" cy="461665"/>
              </a:xfrm>
              <a:prstGeom prst="rect">
                <a:avLst/>
              </a:prstGeom>
              <a:blipFill>
                <a:blip r:embed="rId3"/>
                <a:stretch>
                  <a:fillRect r="-110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0" name="文本框 59"/>
              <p:cNvSpPr txBox="1"/>
              <p:nvPr/>
            </p:nvSpPr>
            <p:spPr>
              <a:xfrm>
                <a:off x="4708046" y="1677221"/>
                <a:ext cx="182925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3</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8 </m:t>
                          </m:r>
                        </m:sub>
                      </m:sSub>
                    </m:oMath>
                  </m:oMathPara>
                </a14:m>
                <a:endParaRPr lang="zh-CN" altLang="en-US" sz="2400" dirty="0"/>
              </a:p>
            </p:txBody>
          </p:sp>
        </mc:Choice>
        <mc:Fallback>
          <p:sp>
            <p:nvSpPr>
              <p:cNvPr id="60" name="文本框 59"/>
              <p:cNvSpPr txBox="1">
                <a:spLocks noRot="1" noChangeAspect="1" noMove="1" noResize="1" noEditPoints="1" noAdjustHandles="1" noChangeArrowheads="1" noChangeShapeType="1" noTextEdit="1"/>
              </p:cNvSpPr>
              <p:nvPr/>
            </p:nvSpPr>
            <p:spPr>
              <a:xfrm>
                <a:off x="4708046" y="1677221"/>
                <a:ext cx="1829254" cy="461665"/>
              </a:xfrm>
              <a:prstGeom prst="rect">
                <a:avLst/>
              </a:prstGeom>
              <a:blipFill>
                <a:blip r:embed="rId4"/>
                <a:stretch>
                  <a:fillRect l="-1000" b="-6579"/>
                </a:stretch>
              </a:blipFill>
            </p:spPr>
            <p:txBody>
              <a:bodyPr/>
              <a:lstStyle/>
              <a:p>
                <a:r>
                  <a:rPr lang="zh-TW" altLang="en-US">
                    <a:noFill/>
                  </a:rPr>
                  <a:t> </a:t>
                </a:r>
              </a:p>
            </p:txBody>
          </p:sp>
        </mc:Fallback>
      </mc:AlternateContent>
      <p:pic>
        <p:nvPicPr>
          <p:cNvPr id="64" name="图片 63"/>
          <p:cNvPicPr>
            <a:picLocks noChangeAspect="1"/>
          </p:cNvPicPr>
          <p:nvPr/>
        </p:nvPicPr>
        <p:blipFill>
          <a:blip r:embed="rId5"/>
          <a:stretch>
            <a:fillRect/>
          </a:stretch>
        </p:blipFill>
        <p:spPr>
          <a:xfrm>
            <a:off x="-48352" y="1720088"/>
            <a:ext cx="3481669" cy="1921672"/>
          </a:xfrm>
          <a:prstGeom prst="rect">
            <a:avLst/>
          </a:prstGeom>
        </p:spPr>
      </p:pic>
      <p:pic>
        <p:nvPicPr>
          <p:cNvPr id="65" name="图片 64"/>
          <p:cNvPicPr>
            <a:picLocks noChangeAspect="1"/>
          </p:cNvPicPr>
          <p:nvPr/>
        </p:nvPicPr>
        <p:blipFill>
          <a:blip r:embed="rId6"/>
          <a:stretch>
            <a:fillRect/>
          </a:stretch>
        </p:blipFill>
        <p:spPr>
          <a:xfrm>
            <a:off x="7098525" y="1593785"/>
            <a:ext cx="3481669" cy="1921672"/>
          </a:xfrm>
          <a:prstGeom prst="rect">
            <a:avLst/>
          </a:prstGeom>
          <a:solidFill>
            <a:schemeClr val="bg1"/>
          </a:solidFill>
        </p:spPr>
      </p:pic>
      <p:pic>
        <p:nvPicPr>
          <p:cNvPr id="66" name="图片 65"/>
          <p:cNvPicPr>
            <a:picLocks noChangeAspect="1"/>
          </p:cNvPicPr>
          <p:nvPr/>
        </p:nvPicPr>
        <p:blipFill>
          <a:blip r:embed="rId6"/>
          <a:stretch>
            <a:fillRect/>
          </a:stretch>
        </p:blipFill>
        <p:spPr>
          <a:xfrm>
            <a:off x="7975993" y="3925768"/>
            <a:ext cx="3481669" cy="1921672"/>
          </a:xfrm>
          <a:prstGeom prst="rect">
            <a:avLst/>
          </a:prstGeom>
          <a:solidFill>
            <a:schemeClr val="bg1"/>
          </a:solidFill>
        </p:spPr>
      </p:pic>
      <p:pic>
        <p:nvPicPr>
          <p:cNvPr id="67" name="图片 66"/>
          <p:cNvPicPr>
            <a:picLocks noChangeAspect="1"/>
          </p:cNvPicPr>
          <p:nvPr/>
        </p:nvPicPr>
        <p:blipFill>
          <a:blip r:embed="rId5"/>
          <a:stretch>
            <a:fillRect/>
          </a:stretch>
        </p:blipFill>
        <p:spPr>
          <a:xfrm>
            <a:off x="848651" y="3961368"/>
            <a:ext cx="3481669" cy="1921672"/>
          </a:xfrm>
          <a:prstGeom prst="rect">
            <a:avLst/>
          </a:prstGeom>
        </p:spPr>
      </p:pic>
      <p:sp>
        <p:nvSpPr>
          <p:cNvPr id="68" name="矩形 67"/>
          <p:cNvSpPr/>
          <p:nvPr/>
        </p:nvSpPr>
        <p:spPr>
          <a:xfrm>
            <a:off x="653143" y="1515291"/>
            <a:ext cx="1039339" cy="212646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69" name="矩形 68"/>
          <p:cNvSpPr/>
          <p:nvPr/>
        </p:nvSpPr>
        <p:spPr>
          <a:xfrm>
            <a:off x="2546147" y="3814846"/>
            <a:ext cx="1039339" cy="212646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70" name="矩形 69"/>
          <p:cNvSpPr/>
          <p:nvPr/>
        </p:nvSpPr>
        <p:spPr>
          <a:xfrm>
            <a:off x="7778121" y="1352839"/>
            <a:ext cx="1039339" cy="212646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71" name="矩形 70"/>
          <p:cNvSpPr/>
          <p:nvPr/>
        </p:nvSpPr>
        <p:spPr>
          <a:xfrm>
            <a:off x="9829467" y="3858969"/>
            <a:ext cx="1039339" cy="212646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73" name="曲线连接符 72"/>
          <p:cNvCxnSpPr/>
          <p:nvPr/>
        </p:nvCxnSpPr>
        <p:spPr>
          <a:xfrm flipV="1">
            <a:off x="2729210" y="4293470"/>
            <a:ext cx="1320407" cy="374324"/>
          </a:xfrm>
          <a:prstGeom prst="curvedConnector3">
            <a:avLst>
              <a:gd name="adj1" fmla="val 5000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曲线连接符 74"/>
          <p:cNvCxnSpPr/>
          <p:nvPr/>
        </p:nvCxnSpPr>
        <p:spPr>
          <a:xfrm rot="10800000">
            <a:off x="7136263" y="4317785"/>
            <a:ext cx="1553385" cy="454512"/>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曲线连接符 81"/>
          <p:cNvCxnSpPr/>
          <p:nvPr/>
        </p:nvCxnSpPr>
        <p:spPr>
          <a:xfrm rot="10800000" flipV="1">
            <a:off x="5826644" y="2439217"/>
            <a:ext cx="2785757" cy="1837117"/>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曲线连接符 83"/>
          <p:cNvCxnSpPr/>
          <p:nvPr/>
        </p:nvCxnSpPr>
        <p:spPr>
          <a:xfrm>
            <a:off x="2712443" y="2483731"/>
            <a:ext cx="2602500" cy="1768946"/>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文本框 105"/>
          <p:cNvSpPr txBox="1"/>
          <p:nvPr/>
        </p:nvSpPr>
        <p:spPr>
          <a:xfrm>
            <a:off x="1021151" y="1993500"/>
            <a:ext cx="553998" cy="1385426"/>
          </a:xfrm>
          <a:prstGeom prst="rect">
            <a:avLst/>
          </a:prstGeom>
          <a:noFill/>
        </p:spPr>
        <p:txBody>
          <a:bodyPr vert="eaVert" wrap="square" rtlCol="0">
            <a:spAutoFit/>
          </a:bodyPr>
          <a:lstStyle/>
          <a:p>
            <a:r>
              <a:rPr lang="zh-CN" altLang="en-US" sz="2400" dirty="0"/>
              <a:t>３的右部</a:t>
            </a:r>
          </a:p>
        </p:txBody>
      </p:sp>
      <p:sp>
        <p:nvSpPr>
          <p:cNvPr id="107" name="文本框 106"/>
          <p:cNvSpPr txBox="1"/>
          <p:nvPr/>
        </p:nvSpPr>
        <p:spPr>
          <a:xfrm>
            <a:off x="978337" y="4193891"/>
            <a:ext cx="553998" cy="1385426"/>
          </a:xfrm>
          <a:prstGeom prst="rect">
            <a:avLst/>
          </a:prstGeom>
          <a:noFill/>
        </p:spPr>
        <p:txBody>
          <a:bodyPr vert="eaVert" wrap="square" rtlCol="0">
            <a:spAutoFit/>
          </a:bodyPr>
          <a:lstStyle/>
          <a:p>
            <a:r>
              <a:rPr lang="zh-CN" altLang="en-US" sz="2400" dirty="0"/>
              <a:t>３的左部</a:t>
            </a:r>
          </a:p>
        </p:txBody>
      </p:sp>
      <p:sp>
        <p:nvSpPr>
          <p:cNvPr id="108" name="文本框 107"/>
          <p:cNvSpPr txBox="1"/>
          <p:nvPr/>
        </p:nvSpPr>
        <p:spPr>
          <a:xfrm>
            <a:off x="10026196" y="1766125"/>
            <a:ext cx="553998" cy="1385426"/>
          </a:xfrm>
          <a:prstGeom prst="rect">
            <a:avLst/>
          </a:prstGeom>
          <a:noFill/>
        </p:spPr>
        <p:txBody>
          <a:bodyPr vert="eaVert" wrap="square" rtlCol="0">
            <a:spAutoFit/>
          </a:bodyPr>
          <a:lstStyle/>
          <a:p>
            <a:r>
              <a:rPr lang="zh-CN" altLang="en-US" sz="2400" dirty="0"/>
              <a:t>８的右部</a:t>
            </a:r>
          </a:p>
        </p:txBody>
      </p:sp>
      <p:sp>
        <p:nvSpPr>
          <p:cNvPr id="109" name="文本框 108"/>
          <p:cNvSpPr txBox="1"/>
          <p:nvPr/>
        </p:nvSpPr>
        <p:spPr>
          <a:xfrm>
            <a:off x="10128594" y="4079585"/>
            <a:ext cx="553998" cy="1385426"/>
          </a:xfrm>
          <a:prstGeom prst="rect">
            <a:avLst/>
          </a:prstGeom>
          <a:noFill/>
        </p:spPr>
        <p:txBody>
          <a:bodyPr vert="eaVert" wrap="square" rtlCol="0">
            <a:spAutoFit/>
          </a:bodyPr>
          <a:lstStyle/>
          <a:p>
            <a:r>
              <a:rPr lang="zh-CN" altLang="en-US" sz="2400" dirty="0"/>
              <a:t>８的左部</a:t>
            </a:r>
          </a:p>
        </p:txBody>
      </p:sp>
    </p:spTree>
    <p:extLst>
      <p:ext uri="{BB962C8B-B14F-4D97-AF65-F5344CB8AC3E}">
        <p14:creationId xmlns:p14="http://schemas.microsoft.com/office/powerpoint/2010/main" val="119757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p:bldP spid="71" grpId="0" animBg="1"/>
      <p:bldP spid="106" grpId="0"/>
      <p:bldP spid="107" grpId="0"/>
      <p:bldP spid="108" grpId="0"/>
      <p:bldP spid="10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多層神經網路</a:t>
            </a:r>
          </a:p>
        </p:txBody>
      </p:sp>
      <p:cxnSp>
        <p:nvCxnSpPr>
          <p:cNvPr id="5" name="直接箭头连接符 4"/>
          <p:cNvCxnSpPr/>
          <p:nvPr/>
        </p:nvCxnSpPr>
        <p:spPr>
          <a:xfrm flipH="1" flipV="1">
            <a:off x="4315724" y="1529760"/>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6" name="直接箭头连接符 5"/>
          <p:cNvCxnSpPr/>
          <p:nvPr/>
        </p:nvCxnSpPr>
        <p:spPr>
          <a:xfrm flipH="1" flipV="1">
            <a:off x="5951529" y="1510601"/>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7" name="椭圆 6"/>
          <p:cNvSpPr/>
          <p:nvPr/>
        </p:nvSpPr>
        <p:spPr>
          <a:xfrm>
            <a:off x="5830371" y="1995962"/>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 name="椭圆 7"/>
          <p:cNvSpPr/>
          <p:nvPr/>
        </p:nvSpPr>
        <p:spPr>
          <a:xfrm>
            <a:off x="4183027" y="2021508"/>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1" name="直接箭头连接符 10"/>
          <p:cNvCxnSpPr>
            <a:stCxn id="18" idx="0"/>
            <a:endCxn id="44" idx="4"/>
          </p:cNvCxnSpPr>
          <p:nvPr/>
        </p:nvCxnSpPr>
        <p:spPr>
          <a:xfrm flipV="1">
            <a:off x="4050178" y="3241601"/>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p:cNvCxnSpPr>
            <a:stCxn id="18" idx="0"/>
            <a:endCxn id="45" idx="4"/>
          </p:cNvCxnSpPr>
          <p:nvPr/>
        </p:nvCxnSpPr>
        <p:spPr>
          <a:xfrm flipV="1">
            <a:off x="4050178" y="3241601"/>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19" idx="0"/>
            <a:endCxn id="45" idx="4"/>
          </p:cNvCxnSpPr>
          <p:nvPr/>
        </p:nvCxnSpPr>
        <p:spPr>
          <a:xfrm flipV="1">
            <a:off x="4765588" y="3241601"/>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a:stCxn id="20" idx="0"/>
            <a:endCxn id="45" idx="4"/>
          </p:cNvCxnSpPr>
          <p:nvPr/>
        </p:nvCxnSpPr>
        <p:spPr>
          <a:xfrm flipH="1" flipV="1">
            <a:off x="4769935" y="3241601"/>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p:cNvCxnSpPr>
            <a:stCxn id="20" idx="0"/>
            <a:endCxn id="46" idx="4"/>
          </p:cNvCxnSpPr>
          <p:nvPr/>
        </p:nvCxnSpPr>
        <p:spPr>
          <a:xfrm flipV="1">
            <a:off x="6306026" y="3267147"/>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p:cNvCxnSpPr>
            <a:stCxn id="19" idx="0"/>
            <a:endCxn id="44" idx="4"/>
          </p:cNvCxnSpPr>
          <p:nvPr/>
        </p:nvCxnSpPr>
        <p:spPr>
          <a:xfrm flipH="1" flipV="1">
            <a:off x="4054525" y="3241601"/>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18" name="椭圆 17"/>
          <p:cNvSpPr/>
          <p:nvPr/>
        </p:nvSpPr>
        <p:spPr>
          <a:xfrm>
            <a:off x="3910911" y="407300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9" name="椭圆 18"/>
          <p:cNvSpPr/>
          <p:nvPr/>
        </p:nvSpPr>
        <p:spPr>
          <a:xfrm>
            <a:off x="4626321" y="407300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0" name="椭圆 19"/>
          <p:cNvSpPr/>
          <p:nvPr/>
        </p:nvSpPr>
        <p:spPr>
          <a:xfrm>
            <a:off x="6166759" y="409854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1" name="椭圆 20"/>
          <p:cNvSpPr/>
          <p:nvPr/>
        </p:nvSpPr>
        <p:spPr>
          <a:xfrm>
            <a:off x="6668700" y="5267249"/>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3" name="椭圆 22"/>
          <p:cNvSpPr/>
          <p:nvPr/>
        </p:nvSpPr>
        <p:spPr>
          <a:xfrm>
            <a:off x="4626321" y="5248090"/>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p:cNvSpPr/>
          <p:nvPr/>
        </p:nvSpPr>
        <p:spPr>
          <a:xfrm>
            <a:off x="3570515" y="5248090"/>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5" name="直接箭头连接符 24"/>
          <p:cNvCxnSpPr>
            <a:stCxn id="24" idx="0"/>
            <a:endCxn id="18" idx="4"/>
          </p:cNvCxnSpPr>
          <p:nvPr/>
        </p:nvCxnSpPr>
        <p:spPr>
          <a:xfrm flipV="1">
            <a:off x="3709782" y="4360654"/>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24" idx="0"/>
            <a:endCxn id="19" idx="4"/>
          </p:cNvCxnSpPr>
          <p:nvPr/>
        </p:nvCxnSpPr>
        <p:spPr>
          <a:xfrm flipV="1">
            <a:off x="3709782" y="4360654"/>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23" idx="0"/>
            <a:endCxn id="18" idx="4"/>
          </p:cNvCxnSpPr>
          <p:nvPr/>
        </p:nvCxnSpPr>
        <p:spPr>
          <a:xfrm flipH="1" flipV="1">
            <a:off x="4050178" y="4360654"/>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24" idx="0"/>
            <a:endCxn id="20" idx="4"/>
          </p:cNvCxnSpPr>
          <p:nvPr/>
        </p:nvCxnSpPr>
        <p:spPr>
          <a:xfrm flipV="1">
            <a:off x="3709782" y="4386200"/>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stCxn id="23" idx="0"/>
            <a:endCxn id="19" idx="4"/>
          </p:cNvCxnSpPr>
          <p:nvPr/>
        </p:nvCxnSpPr>
        <p:spPr>
          <a:xfrm flipV="1">
            <a:off x="4765588" y="4360654"/>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p:cNvCxnSpPr>
            <a:stCxn id="23" idx="0"/>
            <a:endCxn id="20" idx="4"/>
          </p:cNvCxnSpPr>
          <p:nvPr/>
        </p:nvCxnSpPr>
        <p:spPr>
          <a:xfrm flipV="1">
            <a:off x="4765588" y="4386200"/>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p:cNvCxnSpPr>
            <a:stCxn id="21" idx="0"/>
            <a:endCxn id="20" idx="4"/>
          </p:cNvCxnSpPr>
          <p:nvPr/>
        </p:nvCxnSpPr>
        <p:spPr>
          <a:xfrm flipH="1" flipV="1">
            <a:off x="6306026" y="4386200"/>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p:cNvCxnSpPr>
            <a:stCxn id="21" idx="0"/>
            <a:endCxn id="19" idx="4"/>
          </p:cNvCxnSpPr>
          <p:nvPr/>
        </p:nvCxnSpPr>
        <p:spPr>
          <a:xfrm flipH="1" flipV="1">
            <a:off x="4765588" y="4360654"/>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p:cNvCxnSpPr>
            <a:stCxn id="21" idx="0"/>
            <a:endCxn id="18" idx="4"/>
          </p:cNvCxnSpPr>
          <p:nvPr/>
        </p:nvCxnSpPr>
        <p:spPr>
          <a:xfrm flipH="1" flipV="1">
            <a:off x="4050178" y="4360654"/>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5" name="文本框 187"/>
          <p:cNvSpPr txBox="1"/>
          <p:nvPr/>
        </p:nvSpPr>
        <p:spPr>
          <a:xfrm>
            <a:off x="7170641" y="5248090"/>
            <a:ext cx="1010451"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輸入層</a:t>
            </a:r>
          </a:p>
        </p:txBody>
      </p:sp>
      <p:sp>
        <p:nvSpPr>
          <p:cNvPr id="36" name="文本框 188"/>
          <p:cNvSpPr txBox="1"/>
          <p:nvPr/>
        </p:nvSpPr>
        <p:spPr>
          <a:xfrm>
            <a:off x="6302835" y="1986991"/>
            <a:ext cx="1113499"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輸出層</a:t>
            </a:r>
          </a:p>
        </p:txBody>
      </p:sp>
      <p:sp>
        <p:nvSpPr>
          <p:cNvPr id="37" name="文本框 189"/>
          <p:cNvSpPr txBox="1"/>
          <p:nvPr/>
        </p:nvSpPr>
        <p:spPr>
          <a:xfrm>
            <a:off x="6616775" y="4073002"/>
            <a:ext cx="999047"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隱含層</a:t>
            </a:r>
          </a:p>
        </p:txBody>
      </p:sp>
      <p:sp>
        <p:nvSpPr>
          <p:cNvPr id="44" name="椭圆 43"/>
          <p:cNvSpPr/>
          <p:nvPr/>
        </p:nvSpPr>
        <p:spPr>
          <a:xfrm>
            <a:off x="3915258" y="2953949"/>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5" name="椭圆 44"/>
          <p:cNvSpPr/>
          <p:nvPr/>
        </p:nvSpPr>
        <p:spPr>
          <a:xfrm>
            <a:off x="4630668" y="2953949"/>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6" name="椭圆 45"/>
          <p:cNvSpPr/>
          <p:nvPr/>
        </p:nvSpPr>
        <p:spPr>
          <a:xfrm>
            <a:off x="6171106" y="297949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73" name="直接箭头连接符 72"/>
          <p:cNvCxnSpPr>
            <a:stCxn id="18" idx="0"/>
            <a:endCxn id="46" idx="4"/>
          </p:cNvCxnSpPr>
          <p:nvPr/>
        </p:nvCxnSpPr>
        <p:spPr>
          <a:xfrm flipV="1">
            <a:off x="4050178" y="3267147"/>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76" name="直接箭头连接符 75"/>
          <p:cNvCxnSpPr>
            <a:stCxn id="19" idx="0"/>
            <a:endCxn id="46" idx="4"/>
          </p:cNvCxnSpPr>
          <p:nvPr/>
        </p:nvCxnSpPr>
        <p:spPr>
          <a:xfrm flipV="1">
            <a:off x="4765588" y="3267147"/>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80" name="直接箭头连接符 79"/>
          <p:cNvCxnSpPr>
            <a:stCxn id="20" idx="0"/>
            <a:endCxn id="44" idx="4"/>
          </p:cNvCxnSpPr>
          <p:nvPr/>
        </p:nvCxnSpPr>
        <p:spPr>
          <a:xfrm flipH="1" flipV="1">
            <a:off x="4054525" y="3241601"/>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83" name="直接箭头连接符 82"/>
          <p:cNvCxnSpPr>
            <a:stCxn id="44" idx="0"/>
            <a:endCxn id="8" idx="4"/>
          </p:cNvCxnSpPr>
          <p:nvPr/>
        </p:nvCxnSpPr>
        <p:spPr>
          <a:xfrm flipV="1">
            <a:off x="4054525" y="2310144"/>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86" name="直接箭头连接符 85"/>
          <p:cNvCxnSpPr>
            <a:stCxn id="44" idx="0"/>
            <a:endCxn id="7" idx="4"/>
          </p:cNvCxnSpPr>
          <p:nvPr/>
        </p:nvCxnSpPr>
        <p:spPr>
          <a:xfrm flipV="1">
            <a:off x="4054525" y="2284598"/>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89" name="直接箭头连接符 88"/>
          <p:cNvCxnSpPr>
            <a:stCxn id="45" idx="0"/>
            <a:endCxn id="8" idx="4"/>
          </p:cNvCxnSpPr>
          <p:nvPr/>
        </p:nvCxnSpPr>
        <p:spPr>
          <a:xfrm flipH="1" flipV="1">
            <a:off x="4322294" y="2310144"/>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92" name="直接箭头连接符 91"/>
          <p:cNvCxnSpPr>
            <a:stCxn id="45" idx="0"/>
            <a:endCxn id="7" idx="4"/>
          </p:cNvCxnSpPr>
          <p:nvPr/>
        </p:nvCxnSpPr>
        <p:spPr>
          <a:xfrm flipV="1">
            <a:off x="4769935" y="2284598"/>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95" name="直接箭头连接符 94"/>
          <p:cNvCxnSpPr>
            <a:stCxn id="46" idx="0"/>
            <a:endCxn id="8" idx="4"/>
          </p:cNvCxnSpPr>
          <p:nvPr/>
        </p:nvCxnSpPr>
        <p:spPr>
          <a:xfrm flipH="1" flipV="1">
            <a:off x="4322294" y="2310144"/>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98" name="直接箭头连接符 97"/>
          <p:cNvCxnSpPr>
            <a:stCxn id="46" idx="0"/>
            <a:endCxn id="7" idx="4"/>
          </p:cNvCxnSpPr>
          <p:nvPr/>
        </p:nvCxnSpPr>
        <p:spPr>
          <a:xfrm flipH="1" flipV="1">
            <a:off x="5969638" y="2284598"/>
            <a:ext cx="340735" cy="694897"/>
          </a:xfrm>
          <a:prstGeom prst="straightConnector1">
            <a:avLst/>
          </a:prstGeom>
          <a:noFill/>
          <a:ln w="28575" cap="flat" cmpd="sng" algn="ctr">
            <a:solidFill>
              <a:sysClr val="windowText" lastClr="000000"/>
            </a:solidFill>
            <a:prstDash val="solid"/>
            <a:miter lim="800000"/>
            <a:tailEnd type="triangle"/>
          </a:ln>
          <a:effectLst/>
        </p:spPr>
      </p:cxnSp>
      <p:sp>
        <p:nvSpPr>
          <p:cNvPr id="103" name="文本框 189"/>
          <p:cNvSpPr txBox="1"/>
          <p:nvPr/>
        </p:nvSpPr>
        <p:spPr>
          <a:xfrm>
            <a:off x="6632452" y="2966729"/>
            <a:ext cx="999047"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隱含層</a:t>
            </a:r>
          </a:p>
        </p:txBody>
      </p:sp>
      <mc:AlternateContent xmlns:mc="http://schemas.openxmlformats.org/markup-compatibility/2006">
        <mc:Choice xmlns:a14="http://schemas.microsoft.com/office/drawing/2010/main" Requires="a14">
          <p:sp>
            <p:nvSpPr>
              <p:cNvPr id="110" name="文本框 109"/>
              <p:cNvSpPr txBox="1"/>
              <p:nvPr/>
            </p:nvSpPr>
            <p:spPr>
              <a:xfrm>
                <a:off x="3491414" y="5676797"/>
                <a:ext cx="38753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oMath>
                  </m:oMathPara>
                </a14:m>
                <a:endParaRPr lang="zh-CN" altLang="en-US" sz="2400" dirty="0"/>
              </a:p>
            </p:txBody>
          </p:sp>
        </mc:Choice>
        <mc:Fallback>
          <p:sp>
            <p:nvSpPr>
              <p:cNvPr id="110" name="文本框 109"/>
              <p:cNvSpPr txBox="1">
                <a:spLocks noRot="1" noChangeAspect="1" noMove="1" noResize="1" noEditPoints="1" noAdjustHandles="1" noChangeArrowheads="1" noChangeShapeType="1" noTextEdit="1"/>
              </p:cNvSpPr>
              <p:nvPr/>
            </p:nvSpPr>
            <p:spPr>
              <a:xfrm>
                <a:off x="3491414" y="5676797"/>
                <a:ext cx="3875315" cy="461665"/>
              </a:xfrm>
              <a:prstGeom prst="rect">
                <a:avLst/>
              </a:prstGeom>
              <a:blipFill>
                <a:blip r:embed="rId3"/>
                <a:stretch>
                  <a:fillRect/>
                </a:stretch>
              </a:blipFill>
            </p:spPr>
            <p:txBody>
              <a:bodyPr/>
              <a:lstStyle/>
              <a:p>
                <a:r>
                  <a:rPr lang="zh-TW" altLang="en-US">
                    <a:noFill/>
                  </a:rPr>
                  <a:t> </a:t>
                </a:r>
              </a:p>
            </p:txBody>
          </p:sp>
        </mc:Fallback>
      </mc:AlternateContent>
      <p:sp>
        <p:nvSpPr>
          <p:cNvPr id="111" name="文本框 173"/>
          <p:cNvSpPr txBox="1"/>
          <p:nvPr/>
        </p:nvSpPr>
        <p:spPr>
          <a:xfrm>
            <a:off x="5493329" y="5189646"/>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2" name="文本框 173"/>
          <p:cNvSpPr txBox="1"/>
          <p:nvPr/>
        </p:nvSpPr>
        <p:spPr>
          <a:xfrm>
            <a:off x="5167713" y="3947541"/>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3" name="文本框 173"/>
          <p:cNvSpPr txBox="1"/>
          <p:nvPr/>
        </p:nvSpPr>
        <p:spPr>
          <a:xfrm>
            <a:off x="5058872" y="1875050"/>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4" name="文本框 173"/>
          <p:cNvSpPr txBox="1"/>
          <p:nvPr/>
        </p:nvSpPr>
        <p:spPr>
          <a:xfrm>
            <a:off x="5219498" y="2885225"/>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52" name="直接箭头连接符 51"/>
          <p:cNvCxnSpPr/>
          <p:nvPr/>
        </p:nvCxnSpPr>
        <p:spPr>
          <a:xfrm flipH="1" flipV="1">
            <a:off x="4897990" y="1529760"/>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53" name="椭圆 52"/>
          <p:cNvSpPr/>
          <p:nvPr/>
        </p:nvSpPr>
        <p:spPr>
          <a:xfrm>
            <a:off x="4765293" y="2021508"/>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54" name="直接箭头连接符 53"/>
          <p:cNvCxnSpPr>
            <a:stCxn id="44" idx="0"/>
            <a:endCxn id="53" idx="4"/>
          </p:cNvCxnSpPr>
          <p:nvPr/>
        </p:nvCxnSpPr>
        <p:spPr>
          <a:xfrm flipV="1">
            <a:off x="4054525" y="2310144"/>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8" name="直接箭头连接符 57"/>
          <p:cNvCxnSpPr>
            <a:stCxn id="45" idx="0"/>
            <a:endCxn id="53" idx="4"/>
          </p:cNvCxnSpPr>
          <p:nvPr/>
        </p:nvCxnSpPr>
        <p:spPr>
          <a:xfrm flipV="1">
            <a:off x="4769935" y="2310144"/>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61" name="直接箭头连接符 60"/>
          <p:cNvCxnSpPr>
            <a:stCxn id="46" idx="0"/>
            <a:endCxn id="53" idx="4"/>
          </p:cNvCxnSpPr>
          <p:nvPr/>
        </p:nvCxnSpPr>
        <p:spPr>
          <a:xfrm flipH="1" flipV="1">
            <a:off x="4904560" y="2310144"/>
            <a:ext cx="1405813" cy="669351"/>
          </a:xfrm>
          <a:prstGeom prst="straightConnector1">
            <a:avLst/>
          </a:prstGeom>
          <a:noFill/>
          <a:ln w="28575" cap="flat" cmpd="sng" algn="ctr">
            <a:solidFill>
              <a:sysClr val="windowText" lastClr="000000"/>
            </a:solidFill>
            <a:prstDash val="solid"/>
            <a:miter lim="800000"/>
            <a:tailEnd type="triangle"/>
          </a:ln>
          <a:effectLst/>
        </p:spPr>
      </p:cxnSp>
    </p:spTree>
    <p:extLst>
      <p:ext uri="{BB962C8B-B14F-4D97-AF65-F5344CB8AC3E}">
        <p14:creationId xmlns:p14="http://schemas.microsoft.com/office/powerpoint/2010/main" val="1022513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如何獲得模式？</a:t>
            </a:r>
          </a:p>
        </p:txBody>
      </p:sp>
      <p:sp>
        <p:nvSpPr>
          <p:cNvPr id="3" name="内容占位符 2"/>
          <p:cNvSpPr>
            <a:spLocks noGrp="1"/>
          </p:cNvSpPr>
          <p:nvPr>
            <p:ph sz="quarter" idx="1"/>
          </p:nvPr>
        </p:nvSpPr>
        <p:spPr/>
        <p:txBody>
          <a:bodyPr/>
          <a:lstStyle/>
          <a:p>
            <a:endParaRPr lang="en-US" altLang="zh-CN" dirty="0"/>
          </a:p>
          <a:p>
            <a:r>
              <a:rPr lang="zh-CN" altLang="en-US" dirty="0"/>
              <a:t>模式通過神經元的連接權重表示</a:t>
            </a:r>
            <a:endParaRPr lang="en-US" altLang="zh-CN" dirty="0"/>
          </a:p>
          <a:p>
            <a:r>
              <a:rPr lang="zh-CN" altLang="en-US" dirty="0"/>
              <a:t>通過訓練樣本，自動學習權重，也就是模式</a:t>
            </a:r>
            <a:endParaRPr lang="en-US" altLang="zh-CN" dirty="0"/>
          </a:p>
          <a:p>
            <a:r>
              <a:rPr lang="zh-CN" altLang="en-US" dirty="0"/>
              <a:t>不是人工設計！</a:t>
            </a:r>
            <a:endParaRPr lang="en-US" altLang="zh-CN" dirty="0"/>
          </a:p>
          <a:p>
            <a:r>
              <a:rPr lang="zh-CN" altLang="en-US" dirty="0"/>
              <a:t>學習到的模式是一種隱含表達，並不像我們舉例的這樣清晰</a:t>
            </a:r>
          </a:p>
        </p:txBody>
      </p:sp>
    </p:spTree>
    <p:extLst>
      <p:ext uri="{BB962C8B-B14F-4D97-AF65-F5344CB8AC3E}">
        <p14:creationId xmlns:p14="http://schemas.microsoft.com/office/powerpoint/2010/main" val="517583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3F47F-D16A-62C7-86AF-69C9E44D21BC}"/>
              </a:ext>
            </a:extLst>
          </p:cNvPr>
          <p:cNvSpPr>
            <a:spLocks noGrp="1"/>
          </p:cNvSpPr>
          <p:nvPr>
            <p:ph type="title"/>
          </p:nvPr>
        </p:nvSpPr>
        <p:spPr/>
        <p:txBody>
          <a:bodyPr/>
          <a:lstStyle/>
          <a:p>
            <a:r>
              <a:rPr lang="en-US" altLang="zh-CN" dirty="0"/>
              <a:t>The</a:t>
            </a:r>
            <a:r>
              <a:rPr lang="zh-CN" altLang="en-US" dirty="0"/>
              <a:t> </a:t>
            </a:r>
            <a:r>
              <a:rPr lang="en-US" altLang="zh-CN" dirty="0"/>
              <a:t>bitter</a:t>
            </a:r>
            <a:r>
              <a:rPr lang="zh-CN" altLang="en-US" dirty="0"/>
              <a:t> </a:t>
            </a:r>
            <a:r>
              <a:rPr lang="en-US" altLang="zh-CN" dirty="0"/>
              <a:t>lesson</a:t>
            </a:r>
            <a:endParaRPr lang="en-US" dirty="0"/>
          </a:p>
        </p:txBody>
      </p:sp>
      <p:sp>
        <p:nvSpPr>
          <p:cNvPr id="8" name="TextBox 7">
            <a:extLst>
              <a:ext uri="{FF2B5EF4-FFF2-40B4-BE49-F238E27FC236}">
                <a16:creationId xmlns:a16="http://schemas.microsoft.com/office/drawing/2014/main" id="{CD1CD1A5-F1B5-E4DC-F93C-6A6CC3B5E6AA}"/>
              </a:ext>
            </a:extLst>
          </p:cNvPr>
          <p:cNvSpPr txBox="1"/>
          <p:nvPr/>
        </p:nvSpPr>
        <p:spPr>
          <a:xfrm>
            <a:off x="1219200" y="2268199"/>
            <a:ext cx="7948246" cy="3046988"/>
          </a:xfrm>
          <a:prstGeom prst="rect">
            <a:avLst/>
          </a:prstGeom>
          <a:noFill/>
        </p:spPr>
        <p:txBody>
          <a:bodyPr wrap="square">
            <a:spAutoFit/>
          </a:bodyPr>
          <a:lstStyle/>
          <a:p>
            <a:r>
              <a:rPr lang="en-US" sz="2400" dirty="0"/>
              <a:t>1) AI researchers have often tried to build knowledge into their agents, </a:t>
            </a:r>
          </a:p>
          <a:p>
            <a:r>
              <a:rPr lang="en-US" sz="2400" dirty="0"/>
              <a:t>2) this always helps in the short term, and is personally satisfying to the researcher, </a:t>
            </a:r>
          </a:p>
          <a:p>
            <a:r>
              <a:rPr lang="en-US" altLang="zh-CN" sz="2400" b="1" dirty="0"/>
              <a:t>BUT</a:t>
            </a:r>
          </a:p>
          <a:p>
            <a:r>
              <a:rPr lang="en-US" sz="2400" dirty="0"/>
              <a:t>3) in the long run it plateaus and even inhibits further progress, </a:t>
            </a:r>
          </a:p>
          <a:p>
            <a:r>
              <a:rPr lang="en-US" sz="2400" dirty="0"/>
              <a:t>4) breakthrough progress eventually arrives by an opposing approach based on scaling computation by </a:t>
            </a:r>
            <a:r>
              <a:rPr lang="en-US" sz="2400" b="1" dirty="0"/>
              <a:t>search</a:t>
            </a:r>
            <a:r>
              <a:rPr lang="en-US" sz="2400" dirty="0"/>
              <a:t> and </a:t>
            </a:r>
            <a:r>
              <a:rPr lang="en-US" sz="2400" b="1" dirty="0"/>
              <a:t>learning</a:t>
            </a:r>
            <a:r>
              <a:rPr lang="en-US" sz="2400" dirty="0"/>
              <a:t>.</a:t>
            </a:r>
          </a:p>
          <a:p>
            <a:pPr algn="r"/>
            <a:r>
              <a:rPr lang="en-US" altLang="zh-CN" sz="2400" dirty="0"/>
              <a:t>-</a:t>
            </a:r>
            <a:r>
              <a:rPr lang="zh-CN" altLang="en-US" sz="2400" dirty="0"/>
              <a:t> </a:t>
            </a:r>
            <a:r>
              <a:rPr lang="en-US" altLang="zh-CN" sz="2400" dirty="0"/>
              <a:t>Richard</a:t>
            </a:r>
            <a:r>
              <a:rPr lang="zh-CN" altLang="en-US" sz="2400" dirty="0"/>
              <a:t> </a:t>
            </a:r>
            <a:r>
              <a:rPr lang="en-US" altLang="zh-CN" sz="2400" dirty="0"/>
              <a:t>Sutton</a:t>
            </a:r>
            <a:r>
              <a:rPr lang="en-US" sz="2400" dirty="0"/>
              <a:t> </a:t>
            </a:r>
          </a:p>
        </p:txBody>
      </p:sp>
      <p:pic>
        <p:nvPicPr>
          <p:cNvPr id="1026" name="Picture 2" descr="rich sutton head (Evolutionary&#10;            Portrait Art by Günter Bachelier)">
            <a:extLst>
              <a:ext uri="{FF2B5EF4-FFF2-40B4-BE49-F238E27FC236}">
                <a16:creationId xmlns:a16="http://schemas.microsoft.com/office/drawing/2014/main" id="{8D6B13A0-9BC7-29A3-E9CB-C4D5435FA0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67790" y="2369324"/>
            <a:ext cx="1738900" cy="2660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282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AD9BA-6DBE-75EB-0B4D-62EC470F7BB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B7CE372-19E4-B793-EF96-B6B30C652F40}"/>
              </a:ext>
            </a:extLst>
          </p:cNvPr>
          <p:cNvPicPr>
            <a:picLocks noChangeAspect="1"/>
          </p:cNvPicPr>
          <p:nvPr/>
        </p:nvPicPr>
        <p:blipFill>
          <a:blip r:embed="rId2"/>
          <a:stretch>
            <a:fillRect/>
          </a:stretch>
        </p:blipFill>
        <p:spPr>
          <a:xfrm>
            <a:off x="1901536" y="853167"/>
            <a:ext cx="8388928" cy="5503183"/>
          </a:xfrm>
          <a:prstGeom prst="rect">
            <a:avLst/>
          </a:prstGeom>
        </p:spPr>
      </p:pic>
    </p:spTree>
    <p:extLst>
      <p:ext uri="{BB962C8B-B14F-4D97-AF65-F5344CB8AC3E}">
        <p14:creationId xmlns:p14="http://schemas.microsoft.com/office/powerpoint/2010/main" val="192378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神經元與神經網路</a:t>
            </a:r>
          </a:p>
        </p:txBody>
      </p:sp>
      <p:grpSp>
        <p:nvGrpSpPr>
          <p:cNvPr id="35" name="组合 34"/>
          <p:cNvGrpSpPr/>
          <p:nvPr/>
        </p:nvGrpSpPr>
        <p:grpSpPr>
          <a:xfrm>
            <a:off x="2424114" y="1669802"/>
            <a:ext cx="8100037" cy="4303986"/>
            <a:chOff x="2424114" y="1504331"/>
            <a:chExt cx="8100037" cy="4303986"/>
          </a:xfrm>
        </p:grpSpPr>
        <p:grpSp>
          <p:nvGrpSpPr>
            <p:cNvPr id="34" name="组合 33"/>
            <p:cNvGrpSpPr/>
            <p:nvPr/>
          </p:nvGrpSpPr>
          <p:grpSpPr>
            <a:xfrm>
              <a:off x="2424114" y="1504331"/>
              <a:ext cx="8100037" cy="4303986"/>
              <a:chOff x="2424114" y="1434659"/>
              <a:chExt cx="8100037" cy="4303986"/>
            </a:xfrm>
          </p:grpSpPr>
          <p:sp>
            <p:nvSpPr>
              <p:cNvPr id="6" name="椭圆 35"/>
              <p:cNvSpPr>
                <a:spLocks noChangeArrowheads="1"/>
              </p:cNvSpPr>
              <p:nvPr/>
            </p:nvSpPr>
            <p:spPr bwMode="auto">
              <a:xfrm>
                <a:off x="9912149" y="3334672"/>
                <a:ext cx="288001" cy="288108"/>
              </a:xfrm>
              <a:prstGeom prst="ellipse">
                <a:avLst/>
              </a:prstGeom>
              <a:solidFill>
                <a:schemeClr val="tx1"/>
              </a:solid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grpSp>
            <p:nvGrpSpPr>
              <p:cNvPr id="33" name="组合 32"/>
              <p:cNvGrpSpPr/>
              <p:nvPr/>
            </p:nvGrpSpPr>
            <p:grpSpPr>
              <a:xfrm>
                <a:off x="2424114" y="1434659"/>
                <a:ext cx="8100037" cy="4303986"/>
                <a:chOff x="2424114" y="1434659"/>
                <a:chExt cx="8100037" cy="4303986"/>
              </a:xfrm>
            </p:grpSpPr>
            <p:grpSp>
              <p:nvGrpSpPr>
                <p:cNvPr id="32" name="组合 31"/>
                <p:cNvGrpSpPr/>
                <p:nvPr/>
              </p:nvGrpSpPr>
              <p:grpSpPr>
                <a:xfrm>
                  <a:off x="2424114" y="1750079"/>
                  <a:ext cx="8100037" cy="3525668"/>
                  <a:chOff x="2424114" y="1750079"/>
                  <a:chExt cx="8100037" cy="3525668"/>
                </a:xfrm>
              </p:grpSpPr>
              <p:sp>
                <p:nvSpPr>
                  <p:cNvPr id="7" name="椭圆 3"/>
                  <p:cNvSpPr>
                    <a:spLocks noChangeArrowheads="1"/>
                  </p:cNvSpPr>
                  <p:nvPr/>
                </p:nvSpPr>
                <p:spPr bwMode="auto">
                  <a:xfrm>
                    <a:off x="4944126" y="2900769"/>
                    <a:ext cx="1080005" cy="1080404"/>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8" name="椭圆 4"/>
                  <p:cNvSpPr>
                    <a:spLocks noChangeArrowheads="1"/>
                  </p:cNvSpPr>
                  <p:nvPr/>
                </p:nvSpPr>
                <p:spPr bwMode="auto">
                  <a:xfrm>
                    <a:off x="7536138" y="2900769"/>
                    <a:ext cx="1080005" cy="1080404"/>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9" name="TextBox 5"/>
                      <p:cNvSpPr txBox="1">
                        <a:spLocks noChangeArrowheads="1"/>
                      </p:cNvSpPr>
                      <p:nvPr/>
                    </p:nvSpPr>
                    <p:spPr bwMode="auto">
                      <a:xfrm>
                        <a:off x="7536138" y="3210138"/>
                        <a:ext cx="1760260" cy="46166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𝑔</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𝑛𝑒𝑡</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9" name="TextBox 5"/>
                      <p:cNvSpPr txBox="1">
                        <a:spLocks noRot="1" noChangeAspect="1" noMove="1" noResize="1" noEditPoints="1" noAdjustHandles="1" noChangeArrowheads="1" noChangeShapeType="1" noTextEdit="1"/>
                      </p:cNvSpPr>
                      <p:nvPr/>
                    </p:nvSpPr>
                    <p:spPr bwMode="auto">
                      <a:xfrm>
                        <a:off x="7536138" y="3210138"/>
                        <a:ext cx="1760260" cy="461665"/>
                      </a:xfrm>
                      <a:prstGeom prst="rect">
                        <a:avLst/>
                      </a:prstGeom>
                      <a:blipFill>
                        <a:blip r:embed="rId2"/>
                        <a:stretch>
                          <a:fillRect l="-1038" b="-13158"/>
                        </a:stretch>
                      </a:blipFill>
                      <a:ln w="9525">
                        <a:noFill/>
                        <a:miter lim="800000"/>
                        <a:headEnd/>
                        <a:tailEnd/>
                      </a:ln>
                    </p:spPr>
                    <p:txBody>
                      <a:bodyPr/>
                      <a:lstStyle/>
                      <a:p>
                        <a:r>
                          <a:rPr lang="zh-TW" altLang="en-US">
                            <a:noFill/>
                          </a:rPr>
                          <a:t> </a:t>
                        </a:r>
                      </a:p>
                    </p:txBody>
                  </p:sp>
                </mc:Fallback>
              </mc:AlternateContent>
              <p:cxnSp>
                <p:nvCxnSpPr>
                  <p:cNvPr id="10" name="直接箭头连接符 7"/>
                  <p:cNvCxnSpPr>
                    <a:cxnSpLocks noChangeShapeType="1"/>
                    <a:stCxn id="7" idx="6"/>
                    <a:endCxn id="8" idx="2"/>
                  </p:cNvCxnSpPr>
                  <p:nvPr/>
                </p:nvCxnSpPr>
                <p:spPr bwMode="auto">
                  <a:xfrm>
                    <a:off x="6024131" y="3440971"/>
                    <a:ext cx="1512007" cy="0"/>
                  </a:xfrm>
                  <a:prstGeom prst="straightConnector1">
                    <a:avLst/>
                  </a:prstGeom>
                  <a:noFill/>
                  <a:ln w="53975" algn="ctr">
                    <a:solidFill>
                      <a:schemeClr val="tx1"/>
                    </a:solidFill>
                    <a:round/>
                    <a:headEnd/>
                    <a:tailEnd type="arrow" w="med" len="med"/>
                  </a:ln>
                </p:spPr>
              </p:cxnSp>
              <p:cxnSp>
                <p:nvCxnSpPr>
                  <p:cNvPr id="11" name="直接箭头连接符 8"/>
                  <p:cNvCxnSpPr>
                    <a:cxnSpLocks noChangeShapeType="1"/>
                    <a:endCxn id="6" idx="2"/>
                  </p:cNvCxnSpPr>
                  <p:nvPr/>
                </p:nvCxnSpPr>
                <p:spPr bwMode="auto">
                  <a:xfrm>
                    <a:off x="8616143" y="3476985"/>
                    <a:ext cx="1296006" cy="1741"/>
                  </a:xfrm>
                  <a:prstGeom prst="straightConnector1">
                    <a:avLst/>
                  </a:prstGeom>
                  <a:noFill/>
                  <a:ln w="53975" algn="ctr">
                    <a:solidFill>
                      <a:schemeClr val="tx1"/>
                    </a:solidFill>
                    <a:round/>
                    <a:headEnd/>
                    <a:tailEnd type="arrow" w="med" len="med"/>
                  </a:ln>
                </p:spPr>
              </p:cxnSp>
              <p:sp>
                <p:nvSpPr>
                  <p:cNvPr id="12" name="TextBox 9"/>
                  <p:cNvSpPr txBox="1">
                    <a:spLocks noChangeArrowheads="1"/>
                  </p:cNvSpPr>
                  <p:nvPr/>
                </p:nvSpPr>
                <p:spPr bwMode="auto">
                  <a:xfrm>
                    <a:off x="5088126" y="3188877"/>
                    <a:ext cx="1152005" cy="523220"/>
                  </a:xfrm>
                  <a:prstGeom prst="rect">
                    <a:avLst/>
                  </a:prstGeom>
                  <a:noFill/>
                  <a:ln w="9525">
                    <a:noFill/>
                    <a:miter lim="800000"/>
                    <a:headEnd/>
                    <a:tailEnd/>
                  </a:ln>
                </p:spPr>
                <p:txBody>
                  <a:bodyPr>
                    <a:spAutoFit/>
                  </a:bodyPr>
                  <a:lstStyle>
                    <a:defPPr>
                      <a:defRPr lang="en-US"/>
                    </a:defPPr>
                    <a:lvl1pPr>
                      <a:defRPr sz="2800" i="1">
                        <a:latin typeface="Cambria Math" panose="020405030504060302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rPr>
                      <a:t>∑    </a:t>
                    </a:r>
                    <a: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rPr>
                      <a:t>b</a:t>
                    </a:r>
                    <a:endPar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p:sp>
                <p:nvSpPr>
                  <p:cNvPr id="13" name="任意多边形 15"/>
                  <p:cNvSpPr>
                    <a:spLocks/>
                  </p:cNvSpPr>
                  <p:nvPr/>
                </p:nvSpPr>
                <p:spPr bwMode="auto">
                  <a:xfrm>
                    <a:off x="5586795" y="3021527"/>
                    <a:ext cx="224829" cy="869659"/>
                  </a:xfrm>
                  <a:custGeom>
                    <a:avLst/>
                    <a:gdLst>
                      <a:gd name="T0" fmla="*/ 179882 w 224853"/>
                      <a:gd name="T1" fmla="*/ 0 h 869430"/>
                      <a:gd name="T2" fmla="*/ 89941 w 224853"/>
                      <a:gd name="T3" fmla="*/ 119921 h 869430"/>
                      <a:gd name="T4" fmla="*/ 29981 w 224853"/>
                      <a:gd name="T5" fmla="*/ 254833 h 869430"/>
                      <a:gd name="T6" fmla="*/ 0 w 224853"/>
                      <a:gd name="T7" fmla="*/ 434715 h 869430"/>
                      <a:gd name="T8" fmla="*/ 29981 w 224853"/>
                      <a:gd name="T9" fmla="*/ 614597 h 869430"/>
                      <a:gd name="T10" fmla="*/ 119922 w 224853"/>
                      <a:gd name="T11" fmla="*/ 749508 h 869430"/>
                      <a:gd name="T12" fmla="*/ 224853 w 224853"/>
                      <a:gd name="T13" fmla="*/ 869430 h 869430"/>
                      <a:gd name="T14" fmla="*/ 0 60000 65536"/>
                      <a:gd name="T15" fmla="*/ 0 60000 65536"/>
                      <a:gd name="T16" fmla="*/ 0 60000 65536"/>
                      <a:gd name="T17" fmla="*/ 0 60000 65536"/>
                      <a:gd name="T18" fmla="*/ 0 60000 65536"/>
                      <a:gd name="T19" fmla="*/ 0 60000 65536"/>
                      <a:gd name="T20" fmla="*/ 0 60000 65536"/>
                      <a:gd name="T21" fmla="*/ 0 w 224853"/>
                      <a:gd name="T22" fmla="*/ 0 h 869430"/>
                      <a:gd name="T23" fmla="*/ 224853 w 224853"/>
                      <a:gd name="T24" fmla="*/ 869430 h 8694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4853" h="869430">
                        <a:moveTo>
                          <a:pt x="179882" y="0"/>
                        </a:moveTo>
                        <a:lnTo>
                          <a:pt x="89941" y="119921"/>
                        </a:lnTo>
                        <a:lnTo>
                          <a:pt x="29981" y="254833"/>
                        </a:lnTo>
                        <a:lnTo>
                          <a:pt x="0" y="434715"/>
                        </a:lnTo>
                        <a:lnTo>
                          <a:pt x="29981" y="614597"/>
                        </a:lnTo>
                        <a:lnTo>
                          <a:pt x="119922" y="749508"/>
                        </a:lnTo>
                        <a:lnTo>
                          <a:pt x="224853" y="869430"/>
                        </a:lnTo>
                      </a:path>
                    </a:pathLst>
                  </a:custGeom>
                  <a:noFill/>
                  <a:ln w="53975" cap="flat" cmpd="sng" algn="ctr">
                    <a:solidFill>
                      <a:schemeClr val="tx1"/>
                    </a:solidFill>
                    <a:prstDash val="solid"/>
                    <a:round/>
                    <a:headEnd type="none" w="med" len="med"/>
                    <a:tailEnd type="none" w="med" len="me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4" name="椭圆 17"/>
                  <p:cNvSpPr>
                    <a:spLocks noChangeArrowheads="1"/>
                  </p:cNvSpPr>
                  <p:nvPr/>
                </p:nvSpPr>
                <p:spPr bwMode="auto">
                  <a:xfrm>
                    <a:off x="3000117" y="1964418"/>
                    <a:ext cx="288001" cy="288108"/>
                  </a:xfrm>
                  <a:prstGeom prst="ellipse">
                    <a:avLst/>
                  </a:prstGeom>
                  <a:solidFill>
                    <a:schemeClr val="tx1"/>
                  </a:solid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5" name="椭圆 18"/>
                  <p:cNvSpPr>
                    <a:spLocks noChangeArrowheads="1"/>
                  </p:cNvSpPr>
                  <p:nvPr/>
                </p:nvSpPr>
                <p:spPr bwMode="auto">
                  <a:xfrm>
                    <a:off x="3000117" y="4845497"/>
                    <a:ext cx="288001" cy="288108"/>
                  </a:xfrm>
                  <a:prstGeom prst="ellipse">
                    <a:avLst/>
                  </a:prstGeom>
                  <a:solidFill>
                    <a:schemeClr val="tx1"/>
                  </a:solid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6" name="椭圆 19"/>
                  <p:cNvSpPr>
                    <a:spLocks noChangeArrowheads="1"/>
                  </p:cNvSpPr>
                  <p:nvPr/>
                </p:nvSpPr>
                <p:spPr bwMode="auto">
                  <a:xfrm>
                    <a:off x="3000117" y="2756715"/>
                    <a:ext cx="288001" cy="288108"/>
                  </a:xfrm>
                  <a:prstGeom prst="ellipse">
                    <a:avLst/>
                  </a:prstGeom>
                  <a:solidFill>
                    <a:schemeClr val="tx1"/>
                  </a:solid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17" name="TextBox 20"/>
                  <p:cNvSpPr txBox="1">
                    <a:spLocks noChangeArrowheads="1"/>
                  </p:cNvSpPr>
                  <p:nvPr/>
                </p:nvSpPr>
                <p:spPr bwMode="auto">
                  <a:xfrm>
                    <a:off x="2920458" y="3188877"/>
                    <a:ext cx="1015663" cy="1296485"/>
                  </a:xfrm>
                  <a:prstGeom prst="rect">
                    <a:avLst/>
                  </a:prstGeom>
                  <a:noFill/>
                  <a:ln w="9525">
                    <a:noFill/>
                    <a:miter lim="800000"/>
                    <a:headEnd/>
                    <a:tailEnd/>
                  </a:ln>
                </p:spPr>
                <p:txBody>
                  <a:bodyPr vert="eaVe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5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cxnSp>
                <p:nvCxnSpPr>
                  <p:cNvPr id="18" name="直接箭头连接符 22"/>
                  <p:cNvCxnSpPr>
                    <a:cxnSpLocks noChangeShapeType="1"/>
                    <a:stCxn id="14" idx="6"/>
                    <a:endCxn id="7" idx="2"/>
                  </p:cNvCxnSpPr>
                  <p:nvPr/>
                </p:nvCxnSpPr>
                <p:spPr bwMode="auto">
                  <a:xfrm>
                    <a:off x="3288118" y="2108472"/>
                    <a:ext cx="1656008" cy="1332499"/>
                  </a:xfrm>
                  <a:prstGeom prst="straightConnector1">
                    <a:avLst/>
                  </a:prstGeom>
                  <a:noFill/>
                  <a:ln w="53975" algn="ctr">
                    <a:solidFill>
                      <a:schemeClr val="tx1"/>
                    </a:solidFill>
                    <a:round/>
                    <a:headEnd type="none" w="med" len="med"/>
                    <a:tailEnd type="triangle" w="med" len="med"/>
                  </a:ln>
                </p:spPr>
              </p:cxnSp>
              <p:cxnSp>
                <p:nvCxnSpPr>
                  <p:cNvPr id="19" name="直接箭头连接符 24"/>
                  <p:cNvCxnSpPr>
                    <a:cxnSpLocks noChangeShapeType="1"/>
                    <a:stCxn id="16" idx="6"/>
                    <a:endCxn id="7" idx="2"/>
                  </p:cNvCxnSpPr>
                  <p:nvPr/>
                </p:nvCxnSpPr>
                <p:spPr bwMode="auto">
                  <a:xfrm>
                    <a:off x="3288118" y="2900769"/>
                    <a:ext cx="1656008" cy="540202"/>
                  </a:xfrm>
                  <a:prstGeom prst="straightConnector1">
                    <a:avLst/>
                  </a:prstGeom>
                  <a:noFill/>
                  <a:ln w="53975" algn="ctr">
                    <a:solidFill>
                      <a:schemeClr val="tx1"/>
                    </a:solidFill>
                    <a:round/>
                    <a:headEnd type="none" w="med" len="med"/>
                    <a:tailEnd type="triangle" w="med" len="med"/>
                  </a:ln>
                </p:spPr>
              </p:cxnSp>
              <p:cxnSp>
                <p:nvCxnSpPr>
                  <p:cNvPr id="20" name="直接箭头连接符 26"/>
                  <p:cNvCxnSpPr>
                    <a:cxnSpLocks noChangeShapeType="1"/>
                    <a:stCxn id="15" idx="6"/>
                    <a:endCxn id="7" idx="2"/>
                  </p:cNvCxnSpPr>
                  <p:nvPr/>
                </p:nvCxnSpPr>
                <p:spPr bwMode="auto">
                  <a:xfrm flipV="1">
                    <a:off x="3288118" y="3440971"/>
                    <a:ext cx="1656008" cy="1548580"/>
                  </a:xfrm>
                  <a:prstGeom prst="straightConnector1">
                    <a:avLst/>
                  </a:prstGeom>
                  <a:noFill/>
                  <a:ln w="53975" algn="ctr">
                    <a:solidFill>
                      <a:schemeClr val="tx1"/>
                    </a:solidFill>
                    <a:round/>
                    <a:headEnd type="none" w="med" len="med"/>
                    <a:tailEnd type="triangle" w="med" len="med"/>
                  </a:ln>
                </p:spPr>
              </p:cxnSp>
              <p:sp>
                <p:nvSpPr>
                  <p:cNvPr id="21" name="TextBox 27"/>
                  <p:cNvSpPr txBox="1">
                    <a:spLocks noChangeArrowheads="1"/>
                  </p:cNvSpPr>
                  <p:nvPr/>
                </p:nvSpPr>
                <p:spPr bwMode="auto">
                  <a:xfrm>
                    <a:off x="2424114" y="1750079"/>
                    <a:ext cx="1152005" cy="6463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a:t>
                    </a:r>
                    <a:r>
                      <a:rPr kumimoji="0" lang="en-US" altLang="zh-CN"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rPr>
                      <a:t>1</a:t>
                    </a:r>
                    <a:endParaRPr kumimoji="0" lang="zh-CN" altLang="en-US"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endParaRPr>
                  </a:p>
                </p:txBody>
              </p:sp>
              <p:sp>
                <p:nvSpPr>
                  <p:cNvPr id="22" name="TextBox 28"/>
                  <p:cNvSpPr txBox="1">
                    <a:spLocks noChangeArrowheads="1"/>
                  </p:cNvSpPr>
                  <p:nvPr/>
                </p:nvSpPr>
                <p:spPr bwMode="auto">
                  <a:xfrm>
                    <a:off x="2424115" y="2540634"/>
                    <a:ext cx="689458" cy="646331"/>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a:t>
                    </a:r>
                    <a:r>
                      <a:rPr kumimoji="0" lang="en-US" altLang="zh-CN"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rPr>
                      <a:t>2</a:t>
                    </a:r>
                    <a:endParaRPr kumimoji="0" lang="zh-CN" altLang="en-US"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endParaRPr>
                  </a:p>
                </p:txBody>
              </p:sp>
              <p:sp>
                <p:nvSpPr>
                  <p:cNvPr id="23" name="TextBox 29"/>
                  <p:cNvSpPr txBox="1">
                    <a:spLocks noChangeArrowheads="1"/>
                  </p:cNvSpPr>
                  <p:nvPr/>
                </p:nvSpPr>
                <p:spPr bwMode="auto">
                  <a:xfrm>
                    <a:off x="2424114" y="4629416"/>
                    <a:ext cx="1152005" cy="6463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1" u="none" strike="noStrike" kern="1200" cap="none" spc="0" normalizeH="0" baseline="0" noProof="0" dirty="0" err="1">
                        <a:ln>
                          <a:noFill/>
                        </a:ln>
                        <a:solidFill>
                          <a:prstClr val="black"/>
                        </a:solidFill>
                        <a:effectLst/>
                        <a:uLnTx/>
                        <a:uFillTx/>
                        <a:latin typeface="Perpetua"/>
                        <a:ea typeface="宋体" panose="02010600030101010101" pitchFamily="2" charset="-122"/>
                        <a:cs typeface="+mn-cs"/>
                      </a:rPr>
                      <a:t>x</a:t>
                    </a:r>
                    <a:r>
                      <a:rPr kumimoji="0" lang="en-US" altLang="zh-CN" sz="3600" b="1" i="1" u="none" strike="noStrike" kern="1200" cap="none" spc="0" normalizeH="0" baseline="-25000" noProof="0" dirty="0" err="1">
                        <a:ln>
                          <a:noFill/>
                        </a:ln>
                        <a:solidFill>
                          <a:prstClr val="black"/>
                        </a:solidFill>
                        <a:effectLst/>
                        <a:uLnTx/>
                        <a:uFillTx/>
                        <a:latin typeface="Perpetua"/>
                        <a:ea typeface="宋体" panose="02010600030101010101" pitchFamily="2" charset="-122"/>
                        <a:cs typeface="+mn-cs"/>
                      </a:rPr>
                      <a:t>n</a:t>
                    </a:r>
                    <a:endParaRPr kumimoji="0" lang="zh-CN" altLang="en-US"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endParaRPr>
                  </a:p>
                </p:txBody>
              </p:sp>
              <p:sp>
                <p:nvSpPr>
                  <p:cNvPr id="24" name="TextBox 30"/>
                  <p:cNvSpPr txBox="1">
                    <a:spLocks noChangeArrowheads="1"/>
                  </p:cNvSpPr>
                  <p:nvPr/>
                </p:nvSpPr>
                <p:spPr bwMode="auto">
                  <a:xfrm>
                    <a:off x="3936121" y="2110214"/>
                    <a:ext cx="1152005" cy="6463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w</a:t>
                    </a:r>
                    <a:r>
                      <a:rPr kumimoji="0" lang="en-US" altLang="zh-CN"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rPr>
                      <a:t>1</a:t>
                    </a:r>
                    <a:endParaRPr kumimoji="0" lang="zh-CN" altLang="en-US"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endParaRPr>
                  </a:p>
                </p:txBody>
              </p:sp>
              <p:sp>
                <p:nvSpPr>
                  <p:cNvPr id="25" name="TextBox 31"/>
                  <p:cNvSpPr txBox="1">
                    <a:spLocks noChangeArrowheads="1"/>
                  </p:cNvSpPr>
                  <p:nvPr/>
                </p:nvSpPr>
                <p:spPr bwMode="auto">
                  <a:xfrm>
                    <a:off x="3576120" y="2972796"/>
                    <a:ext cx="689458" cy="646331"/>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w</a:t>
                    </a:r>
                    <a:r>
                      <a:rPr kumimoji="0" lang="en-US" altLang="zh-CN"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rPr>
                      <a:t>2</a:t>
                    </a:r>
                    <a:endParaRPr kumimoji="0" lang="zh-CN" altLang="en-US"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endParaRPr>
                  </a:p>
                </p:txBody>
              </p:sp>
              <p:sp>
                <p:nvSpPr>
                  <p:cNvPr id="26" name="TextBox 32"/>
                  <p:cNvSpPr txBox="1">
                    <a:spLocks noChangeArrowheads="1"/>
                  </p:cNvSpPr>
                  <p:nvPr/>
                </p:nvSpPr>
                <p:spPr bwMode="auto">
                  <a:xfrm>
                    <a:off x="3576119" y="4629416"/>
                    <a:ext cx="1152005" cy="6463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1" u="none" strike="noStrike" kern="1200" cap="none" spc="0" normalizeH="0" baseline="0" noProof="0" dirty="0" err="1">
                        <a:ln>
                          <a:noFill/>
                        </a:ln>
                        <a:solidFill>
                          <a:prstClr val="black"/>
                        </a:solidFill>
                        <a:effectLst/>
                        <a:uLnTx/>
                        <a:uFillTx/>
                        <a:latin typeface="Perpetua"/>
                        <a:ea typeface="宋体" panose="02010600030101010101" pitchFamily="2" charset="-122"/>
                        <a:cs typeface="+mn-cs"/>
                      </a:rPr>
                      <a:t>w</a:t>
                    </a:r>
                    <a:r>
                      <a:rPr kumimoji="0" lang="en-US" altLang="zh-CN" sz="3600" b="1" i="1" u="none" strike="noStrike" kern="1200" cap="none" spc="0" normalizeH="0" baseline="-25000" noProof="0" dirty="0" err="1">
                        <a:ln>
                          <a:noFill/>
                        </a:ln>
                        <a:solidFill>
                          <a:prstClr val="black"/>
                        </a:solidFill>
                        <a:effectLst/>
                        <a:uLnTx/>
                        <a:uFillTx/>
                        <a:latin typeface="Perpetua"/>
                        <a:ea typeface="宋体" panose="02010600030101010101" pitchFamily="2" charset="-122"/>
                        <a:cs typeface="+mn-cs"/>
                      </a:rPr>
                      <a:t>n</a:t>
                    </a:r>
                    <a:endParaRPr kumimoji="0" lang="zh-CN" altLang="en-US" sz="3600" b="1" i="1" u="none" strike="noStrike" kern="1200" cap="none" spc="0" normalizeH="0" baseline="-25000" noProof="0" dirty="0">
                      <a:ln>
                        <a:noFill/>
                      </a:ln>
                      <a:solidFill>
                        <a:prstClr val="black"/>
                      </a:solidFill>
                      <a:effectLst/>
                      <a:uLnTx/>
                      <a:uFillTx/>
                      <a:latin typeface="Perpetua"/>
                      <a:ea typeface="宋体" panose="02010600030101010101" pitchFamily="2" charset="-122"/>
                      <a:cs typeface="+mn-cs"/>
                    </a:endParaRPr>
                  </a:p>
                </p:txBody>
              </p:sp>
              <p:sp>
                <p:nvSpPr>
                  <p:cNvPr id="27" name="TextBox 39"/>
                  <p:cNvSpPr txBox="1">
                    <a:spLocks noChangeArrowheads="1"/>
                  </p:cNvSpPr>
                  <p:nvPr/>
                </p:nvSpPr>
                <p:spPr bwMode="auto">
                  <a:xfrm>
                    <a:off x="9876148" y="2637577"/>
                    <a:ext cx="648003" cy="6463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o</a:t>
                    </a:r>
                    <a:endParaRPr kumimoji="0" lang="zh-CN" altLang="en-US" sz="3600" b="1"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28" name="TextBox 5"/>
                  <p:cNvSpPr txBox="1">
                    <a:spLocks noChangeArrowheads="1"/>
                  </p:cNvSpPr>
                  <p:nvPr/>
                </p:nvSpPr>
                <p:spPr bwMode="auto">
                  <a:xfrm>
                    <a:off x="6384156" y="2893491"/>
                    <a:ext cx="1152005" cy="523220"/>
                  </a:xfrm>
                  <a:prstGeom prst="rect">
                    <a:avLst/>
                  </a:prstGeom>
                  <a:noFill/>
                  <a:ln w="9525">
                    <a:noFill/>
                    <a:miter lim="800000"/>
                    <a:headEnd/>
                    <a:tailEnd/>
                  </a:ln>
                </p:spPr>
                <p:txBody>
                  <a:bodyPr>
                    <a:spAutoFit/>
                  </a:bodyPr>
                  <a:lstStyle>
                    <a:defPPr>
                      <a:defRPr lang="en-US"/>
                    </a:defPPr>
                    <a:lvl1pPr>
                      <a:defRPr sz="2800" i="1">
                        <a:latin typeface="Cambria Math" panose="020405030504060302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rPr>
                      <a:t>net</a:t>
                    </a:r>
                    <a:endPar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p:grpSp>
            <p:sp>
              <p:nvSpPr>
                <p:cNvPr id="29" name="椭圆 28"/>
                <p:cNvSpPr/>
                <p:nvPr/>
              </p:nvSpPr>
              <p:spPr>
                <a:xfrm>
                  <a:off x="4630704" y="1434659"/>
                  <a:ext cx="4303986" cy="4303986"/>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mc:AlternateContent xmlns:mc="http://schemas.openxmlformats.org/markup-compatibility/2006">
          <mc:Choice xmlns:a14="http://schemas.microsoft.com/office/drawing/2010/main" Requires="a14">
            <p:sp>
              <p:nvSpPr>
                <p:cNvPr id="30" name="TextBox 32"/>
                <p:cNvSpPr txBox="1">
                  <a:spLocks noChangeArrowheads="1"/>
                </p:cNvSpPr>
                <p:nvPr/>
              </p:nvSpPr>
              <p:spPr bwMode="auto">
                <a:xfrm>
                  <a:off x="5916604" y="4507184"/>
                  <a:ext cx="2087107" cy="46166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𝑔</m:t>
                      </m:r>
                    </m:oMath>
                  </a14:m>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啟動函數</a:t>
                  </a:r>
                  <a:endParaRPr kumimoji="0" lang="zh-CN" altLang="en-US" sz="3600" b="1"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mc:Choice>
          <mc:Fallback>
            <p:sp>
              <p:nvSpPr>
                <p:cNvPr id="30" name="TextBox 32"/>
                <p:cNvSpPr txBox="1">
                  <a:spLocks noRot="1" noChangeAspect="1" noMove="1" noResize="1" noEditPoints="1" noAdjustHandles="1" noChangeArrowheads="1" noChangeShapeType="1" noTextEdit="1"/>
                </p:cNvSpPr>
                <p:nvPr/>
              </p:nvSpPr>
              <p:spPr bwMode="auto">
                <a:xfrm>
                  <a:off x="5916604" y="4507184"/>
                  <a:ext cx="2087107" cy="461665"/>
                </a:xfrm>
                <a:prstGeom prst="rect">
                  <a:avLst/>
                </a:prstGeom>
                <a:blipFill>
                  <a:blip r:embed="rId3"/>
                  <a:stretch>
                    <a:fillRect l="-877" t="-14667" b="-26667"/>
                  </a:stretch>
                </a:blipFill>
                <a:ln w="9525">
                  <a:noFill/>
                  <a:miter lim="800000"/>
                  <a:headEnd/>
                  <a:tailEnd/>
                </a:ln>
              </p:spPr>
              <p:txBody>
                <a:bodyPr/>
                <a:lstStyle/>
                <a:p>
                  <a:r>
                    <a:rPr lang="zh-TW" altLang="en-US">
                      <a:noFill/>
                    </a:rPr>
                    <a:t> </a:t>
                  </a:r>
                </a:p>
              </p:txBody>
            </p:sp>
          </mc:Fallback>
        </mc:AlternateContent>
      </p:grpSp>
    </p:spTree>
    <p:extLst>
      <p:ext uri="{BB962C8B-B14F-4D97-AF65-F5344CB8AC3E}">
        <p14:creationId xmlns:p14="http://schemas.microsoft.com/office/powerpoint/2010/main" val="2333143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神經元</a:t>
            </a:r>
          </a:p>
        </p:txBody>
      </p:sp>
      <mc:AlternateContent xmlns:mc="http://schemas.openxmlformats.org/markup-compatibility/2006">
        <mc:Choice xmlns:a14="http://schemas.microsoft.com/office/drawing/2010/main" Requires="a14">
          <p:sp>
            <p:nvSpPr>
              <p:cNvPr id="36" name="内容占位符 2"/>
              <p:cNvSpPr>
                <a:spLocks noGrp="1"/>
              </p:cNvSpPr>
              <p:nvPr>
                <p:ph sz="quarter" idx="1"/>
              </p:nvPr>
            </p:nvSpPr>
            <p:spPr>
              <a:xfrm>
                <a:off x="1071151" y="1417637"/>
                <a:ext cx="10363200" cy="5218294"/>
              </a:xfrm>
            </p:spPr>
            <p:txBody>
              <a:bodyPr>
                <a:normAutofit/>
              </a:bodyPr>
              <a:lstStyle/>
              <a:p>
                <a:endParaRPr lang="en-US" altLang="zh-CN" dirty="0"/>
              </a:p>
              <a:p>
                <a:endParaRPr lang="en-US" altLang="zh-CN" dirty="0"/>
              </a:p>
              <a:p>
                <a:endParaRPr lang="en-US" altLang="zh-CN" dirty="0"/>
              </a:p>
              <a:p>
                <a:pPr marL="0" indent="0">
                  <a:buNone/>
                </a:pPr>
                <a:endParaRPr lang="en-US" altLang="zh-CN" dirty="0"/>
              </a:p>
              <a:p>
                <a:pPr marL="0" indent="0">
                  <a:buNone/>
                </a:pPr>
                <a:endParaRPr lang="en-US" altLang="zh-CN" sz="1800" dirty="0"/>
              </a:p>
              <a:p>
                <a:pPr marL="0" indent="0">
                  <a:buNone/>
                </a:pPr>
                <a:endParaRPr lang="en-US" altLang="zh-CN" sz="2400" dirty="0"/>
              </a:p>
              <a:p>
                <a:pPr marL="0" indent="0">
                  <a:buNone/>
                </a:pPr>
                <a:r>
                  <a:rPr lang="zh-CN" altLang="en-US" dirty="0"/>
                  <a:t>令：</a:t>
                </a:r>
                <a14:m>
                  <m:oMath xmlns:m="http://schemas.openxmlformats.org/officeDocument/2006/math">
                    <m:sSub>
                      <m:sSubPr>
                        <m:ctrlPr>
                          <a:rPr lang="en-US" altLang="zh-CN" sz="2800" i="1" smtClean="0">
                            <a:solidFill>
                              <a:srgbClr val="FF0000"/>
                            </a:solidFill>
                            <a:latin typeface="Cambria Math" panose="02040503050406030204" pitchFamily="18" charset="0"/>
                          </a:rPr>
                        </m:ctrlPr>
                      </m:sSubPr>
                      <m:e>
                        <m:r>
                          <a:rPr lang="en-US" altLang="zh-CN" sz="2800" b="0" i="1" smtClean="0">
                            <a:solidFill>
                              <a:srgbClr val="FF0000"/>
                            </a:solidFill>
                            <a:latin typeface="Cambria Math" panose="02040503050406030204" pitchFamily="18" charset="0"/>
                          </a:rPr>
                          <m:t>𝑥</m:t>
                        </m:r>
                      </m:e>
                      <m:sub>
                        <m:r>
                          <a:rPr lang="en-US" altLang="zh-CN" sz="2800" b="0" i="1" smtClean="0">
                            <a:solidFill>
                              <a:srgbClr val="FF0000"/>
                            </a:solidFill>
                            <a:latin typeface="Cambria Math" panose="02040503050406030204" pitchFamily="18" charset="0"/>
                          </a:rPr>
                          <m:t>0</m:t>
                        </m:r>
                      </m:sub>
                    </m:sSub>
                    <m:r>
                      <a:rPr lang="en-US" altLang="zh-CN" sz="2800" b="0" i="1" smtClean="0">
                        <a:solidFill>
                          <a:srgbClr val="FF0000"/>
                        </a:solidFill>
                        <a:latin typeface="Cambria Math" panose="02040503050406030204" pitchFamily="18" charset="0"/>
                      </a:rPr>
                      <m:t>=1,    </m:t>
                    </m:r>
                    <m:sSub>
                      <m:sSubPr>
                        <m:ctrlPr>
                          <a:rPr lang="en-US" altLang="zh-CN" sz="2800" b="0" i="1" smtClean="0">
                            <a:solidFill>
                              <a:srgbClr val="FF0000"/>
                            </a:solidFill>
                            <a:latin typeface="Cambria Math" panose="02040503050406030204" pitchFamily="18" charset="0"/>
                          </a:rPr>
                        </m:ctrlPr>
                      </m:sSubPr>
                      <m:e>
                        <m:r>
                          <a:rPr lang="en-US" altLang="zh-CN" sz="2800" b="0" i="1" smtClean="0">
                            <a:solidFill>
                              <a:srgbClr val="FF0000"/>
                            </a:solidFill>
                            <a:latin typeface="Cambria Math" panose="02040503050406030204" pitchFamily="18" charset="0"/>
                          </a:rPr>
                          <m:t>𝑤</m:t>
                        </m:r>
                      </m:e>
                      <m:sub>
                        <m:r>
                          <a:rPr lang="en-US" altLang="zh-CN" sz="2800" b="0" i="1" smtClean="0">
                            <a:solidFill>
                              <a:srgbClr val="FF0000"/>
                            </a:solidFill>
                            <a:latin typeface="Cambria Math" panose="02040503050406030204" pitchFamily="18" charset="0"/>
                          </a:rPr>
                          <m:t>0</m:t>
                        </m:r>
                      </m:sub>
                    </m:sSub>
                    <m:r>
                      <a:rPr lang="en-US" altLang="zh-CN" sz="2800" b="0" i="1" smtClean="0">
                        <a:solidFill>
                          <a:srgbClr val="FF0000"/>
                        </a:solidFill>
                        <a:latin typeface="Cambria Math" panose="02040503050406030204" pitchFamily="18" charset="0"/>
                      </a:rPr>
                      <m:t>=</m:t>
                    </m:r>
                    <m:r>
                      <a:rPr lang="en-US" altLang="zh-CN" sz="2800" b="0" i="1" smtClean="0">
                        <a:solidFill>
                          <a:srgbClr val="FF0000"/>
                        </a:solidFill>
                        <a:latin typeface="Cambria Math" panose="02040503050406030204" pitchFamily="18" charset="0"/>
                      </a:rPr>
                      <m:t>𝑏</m:t>
                    </m:r>
                  </m:oMath>
                </a14:m>
                <a:endParaRPr lang="en-US" altLang="zh-CN" dirty="0"/>
              </a:p>
              <a:p>
                <a:pPr marL="0" indent="0">
                  <a:buNone/>
                </a:pPr>
                <a:endParaRPr lang="en-US" altLang="zh-CN" sz="300" dirty="0"/>
              </a:p>
              <a:p>
                <a:pPr marL="0" indent="0">
                  <a:buNone/>
                </a:pPr>
                <a:r>
                  <a:rPr lang="zh-CN" altLang="en-US" dirty="0"/>
                  <a:t>則：</a:t>
                </a:r>
                <a14:m>
                  <m:oMath xmlns:m="http://schemas.openxmlformats.org/officeDocument/2006/math">
                    <m:r>
                      <a:rPr lang="en-US" altLang="zh-CN" sz="2800" i="1">
                        <a:latin typeface="Cambria Math" panose="02040503050406030204" pitchFamily="18" charset="0"/>
                      </a:rPr>
                      <m:t>𝑛𝑒𝑡</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0</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0</m:t>
                            </m:r>
                          </m:sub>
                        </m:sSub>
                        <m:r>
                          <a:rPr lang="en-US" altLang="zh-CN" sz="2800" i="1">
                            <a:latin typeface="Cambria Math" panose="02040503050406030204" pitchFamily="18" charset="0"/>
                          </a:rPr>
                          <m:t>+</m:t>
                        </m:r>
                        <m:r>
                          <a:rPr lang="en-US" altLang="zh-CN" sz="2800" i="1">
                            <a:latin typeface="Cambria Math" panose="02040503050406030204" pitchFamily="18" charset="0"/>
                          </a:rPr>
                          <m:t>𝑤</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oMath>
                </a14:m>
                <a:br>
                  <a:rPr lang="en-US" altLang="zh-CN" sz="2800" i="1" dirty="0">
                    <a:latin typeface="Cambria Math" panose="02040503050406030204" pitchFamily="18" charset="0"/>
                  </a:rPr>
                </a:br>
                <a14:m>
                  <m:oMathPara xmlns:m="http://schemas.openxmlformats.org/officeDocument/2006/math">
                    <m:oMathParaPr>
                      <m:jc m:val="left"/>
                    </m:oMathParaPr>
                    <m:oMath xmlns:m="http://schemas.openxmlformats.org/officeDocument/2006/math">
                      <m:r>
                        <a:rPr lang="en-US" altLang="zh-CN" sz="2800">
                          <a:latin typeface="Cambria Math" panose="02040503050406030204" pitchFamily="18" charset="0"/>
                        </a:rPr>
                        <m:t>        </m:t>
                      </m:r>
                      <m:r>
                        <a:rPr lang="en-US" altLang="zh-CN" sz="2800" b="0" i="1" smtClean="0">
                          <a:latin typeface="Cambria Math" panose="02040503050406030204" pitchFamily="18" charset="0"/>
                        </a:rPr>
                        <m:t>         </m:t>
                      </m:r>
                      <m:r>
                        <a:rPr lang="en-US" altLang="zh-CN" sz="2800" i="1">
                          <a:latin typeface="Cambria Math" panose="02040503050406030204" pitchFamily="18" charset="0"/>
                        </a:rPr>
                        <m:t>=</m:t>
                      </m:r>
                      <m:nary>
                        <m:naryPr>
                          <m:chr m:val="∑"/>
                          <m:ctrlPr>
                            <a:rPr lang="en-US" altLang="zh-CN" sz="2800" i="1" smtClean="0">
                              <a:latin typeface="Cambria Math" panose="02040503050406030204" pitchFamily="18" charset="0"/>
                            </a:rPr>
                          </m:ctrlPr>
                        </m:naryPr>
                        <m:sub>
                          <m:r>
                            <m:rPr>
                              <m:brk m:alnAt="23"/>
                            </m:rPr>
                            <a:rPr lang="en-US" altLang="zh-CN" sz="2800" i="1">
                              <a:latin typeface="Cambria Math" panose="02040503050406030204" pitchFamily="18" charset="0"/>
                            </a:rPr>
                            <m:t>𝑖</m:t>
                          </m:r>
                          <m:r>
                            <a:rPr lang="en-US" altLang="zh-CN" sz="2800" i="1">
                              <a:latin typeface="Cambria Math" panose="02040503050406030204" pitchFamily="18" charset="0"/>
                            </a:rPr>
                            <m:t>=</m:t>
                          </m:r>
                          <m:r>
                            <a:rPr lang="en-US" altLang="zh-CN" sz="2800" b="0" i="1" smtClean="0">
                              <a:latin typeface="Cambria Math" panose="02040503050406030204" pitchFamily="18" charset="0"/>
                            </a:rPr>
                            <m:t>0</m:t>
                          </m:r>
                        </m:sub>
                        <m:sup>
                          <m:r>
                            <a:rPr lang="en-US" altLang="zh-CN" sz="2800" i="1">
                              <a:latin typeface="Cambria Math" panose="02040503050406030204" pitchFamily="18" charset="0"/>
                            </a:rPr>
                            <m:t>𝑛</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𝑖</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𝑖</m:t>
                              </m:r>
                            </m:sub>
                          </m:sSub>
                        </m:e>
                      </m:nary>
                      <m:r>
                        <a:rPr lang="en-US" altLang="zh-CN" sz="2800" b="0" i="1" smtClean="0">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r>
                        <a:rPr lang="en-US" altLang="zh-CN" i="1">
                          <a:latin typeface="Cambria Math" panose="02040503050406030204" pitchFamily="18" charset="0"/>
                        </a:rPr>
                        <m:t>𝑥</m:t>
                      </m:r>
                    </m:oMath>
                  </m:oMathPara>
                </a14:m>
                <a:br>
                  <a:rPr lang="en-US" altLang="zh-CN" dirty="0"/>
                </a:br>
                <a:endParaRPr lang="en-US" altLang="zh-CN" dirty="0"/>
              </a:p>
              <a:p>
                <a:pPr marL="0" indent="0">
                  <a:buNone/>
                </a:pPr>
                <a:endParaRPr lang="zh-CN" altLang="en-US" dirty="0"/>
              </a:p>
            </p:txBody>
          </p:sp>
        </mc:Choice>
        <mc:Fallback>
          <p:sp>
            <p:nvSpPr>
              <p:cNvPr id="36" name="内容占位符 2"/>
              <p:cNvSpPr>
                <a:spLocks noGrp="1" noRot="1" noChangeAspect="1" noMove="1" noResize="1" noEditPoints="1" noAdjustHandles="1" noChangeArrowheads="1" noChangeShapeType="1" noTextEdit="1"/>
              </p:cNvSpPr>
              <p:nvPr>
                <p:ph sz="quarter" idx="1"/>
              </p:nvPr>
            </p:nvSpPr>
            <p:spPr>
              <a:xfrm>
                <a:off x="1071151" y="1417637"/>
                <a:ext cx="10363200" cy="5218294"/>
              </a:xfrm>
              <a:blipFill>
                <a:blip r:embed="rId2"/>
                <a:stretch>
                  <a:fillRect l="-105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1034686" y="1694208"/>
                <a:ext cx="5670911" cy="2116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𝑛𝑒𝑡</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oMath>
                    <m:oMath xmlns:m="http://schemas.openxmlformats.org/officeDocument/2006/math">
                      <m: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p>
                        <m:e>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e>
                      </m:nary>
                    </m:oMath>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m:oMath xmlns:m="http://schemas.openxmlformats.org/officeDocument/2006/math">
                      <m:r>
                        <m:rPr>
                          <m:sty m:val="p"/>
                        </m:rPr>
                        <a:rPr kumimoji="0" lang="en-US" altLang="zh-CN" sz="2400" b="0" i="0" u="none" strike="noStrike" kern="1200" cap="none" spc="0" normalizeH="0" baseline="0" noProof="0" dirty="0">
                          <a:ln>
                            <a:noFill/>
                          </a:ln>
                          <a:solidFill>
                            <a:prstClr val="black"/>
                          </a:solidFill>
                          <a:effectLst/>
                          <a:uLnTx/>
                          <a:uFillTx/>
                          <a:latin typeface="Cambria Math" panose="02040503050406030204" pitchFamily="18" charset="0"/>
                          <a:cs typeface="+mn-cs"/>
                        </a:rPr>
                        <m:t>o</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𝑔</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𝑛𝑒𝑡</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4" name="矩形 3"/>
              <p:cNvSpPr>
                <a:spLocks noRot="1" noChangeAspect="1" noMove="1" noResize="1" noEditPoints="1" noAdjustHandles="1" noChangeArrowheads="1" noChangeShapeType="1" noTextEdit="1"/>
              </p:cNvSpPr>
              <p:nvPr/>
            </p:nvSpPr>
            <p:spPr>
              <a:xfrm>
                <a:off x="1034686" y="1694208"/>
                <a:ext cx="5670911" cy="2116220"/>
              </a:xfrm>
              <a:prstGeom prst="rect">
                <a:avLst/>
              </a:prstGeom>
              <a:blipFill>
                <a:blip r:embed="rId3"/>
                <a:stretch>
                  <a:fillRect b="-2305"/>
                </a:stretch>
              </a:blipFill>
            </p:spPr>
            <p:txBody>
              <a:bodyPr/>
              <a:lstStyle/>
              <a:p>
                <a:r>
                  <a:rPr lang="zh-TW" altLang="en-US">
                    <a:noFill/>
                  </a:rPr>
                  <a:t> </a:t>
                </a:r>
              </a:p>
            </p:txBody>
          </p:sp>
        </mc:Fallback>
      </mc:AlternateContent>
      <p:pic>
        <p:nvPicPr>
          <p:cNvPr id="31" name="图片 30"/>
          <p:cNvPicPr>
            <a:picLocks noChangeAspect="1"/>
          </p:cNvPicPr>
          <p:nvPr/>
        </p:nvPicPr>
        <p:blipFill>
          <a:blip r:embed="rId4"/>
          <a:stretch>
            <a:fillRect/>
          </a:stretch>
        </p:blipFill>
        <p:spPr>
          <a:xfrm>
            <a:off x="6853646" y="1614904"/>
            <a:ext cx="4891528" cy="2559144"/>
          </a:xfrm>
          <a:prstGeom prst="rect">
            <a:avLst/>
          </a:prstGeom>
        </p:spPr>
      </p:pic>
      <p:cxnSp>
        <p:nvCxnSpPr>
          <p:cNvPr id="6" name="直接箭头连接符 22">
            <a:extLst>
              <a:ext uri="{FF2B5EF4-FFF2-40B4-BE49-F238E27FC236}">
                <a16:creationId xmlns:a16="http://schemas.microsoft.com/office/drawing/2014/main" id="{141B0BE0-F606-42C8-9817-C29BFA7FE4D4}"/>
              </a:ext>
            </a:extLst>
          </p:cNvPr>
          <p:cNvCxnSpPr>
            <a:cxnSpLocks noChangeShapeType="1"/>
          </p:cNvCxnSpPr>
          <p:nvPr/>
        </p:nvCxnSpPr>
        <p:spPr bwMode="auto">
          <a:xfrm>
            <a:off x="8058560" y="1614903"/>
            <a:ext cx="338308" cy="1137415"/>
          </a:xfrm>
          <a:prstGeom prst="straightConnector1">
            <a:avLst/>
          </a:prstGeom>
          <a:noFill/>
          <a:ln w="28575" algn="ctr">
            <a:solidFill>
              <a:srgbClr val="FF0000"/>
            </a:solidFill>
            <a:round/>
            <a:headEnd type="none" w="med" len="med"/>
            <a:tailEnd type="triangle" w="med" len="med"/>
          </a:ln>
        </p:spPr>
      </p:cxnSp>
      <p:sp>
        <p:nvSpPr>
          <p:cNvPr id="7" name="TextBox 27">
            <a:extLst>
              <a:ext uri="{FF2B5EF4-FFF2-40B4-BE49-F238E27FC236}">
                <a16:creationId xmlns:a16="http://schemas.microsoft.com/office/drawing/2014/main" id="{F0BC7900-1CFD-4102-A37B-AC278D9E55D2}"/>
              </a:ext>
            </a:extLst>
          </p:cNvPr>
          <p:cNvSpPr txBox="1">
            <a:spLocks noChangeArrowheads="1"/>
          </p:cNvSpPr>
          <p:nvPr/>
        </p:nvSpPr>
        <p:spPr bwMode="auto">
          <a:xfrm>
            <a:off x="7571402" y="1021885"/>
            <a:ext cx="1152005" cy="461665"/>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x</a:t>
            </a:r>
            <a:r>
              <a:rPr kumimoji="0" lang="en-US" altLang="zh-CN" sz="2400" b="1" i="1" u="none" strike="noStrike" kern="1200" cap="none" spc="0" normalizeH="0" baseline="-25000" noProof="0" dirty="0">
                <a:ln>
                  <a:noFill/>
                </a:ln>
                <a:solidFill>
                  <a:srgbClr val="FF0000"/>
                </a:solidFill>
                <a:effectLst/>
                <a:uLnTx/>
                <a:uFillTx/>
                <a:latin typeface="Perpetua"/>
                <a:ea typeface="宋体" panose="02010600030101010101" pitchFamily="2" charset="-122"/>
                <a:cs typeface="+mn-cs"/>
              </a:rPr>
              <a:t>0</a:t>
            </a:r>
            <a:endParaRPr kumimoji="0" lang="zh-CN" altLang="en-US" sz="2400" b="1" i="1" u="none" strike="noStrike" kern="1200" cap="none" spc="0" normalizeH="0" baseline="-25000" noProof="0" dirty="0">
              <a:ln>
                <a:noFill/>
              </a:ln>
              <a:solidFill>
                <a:srgbClr val="FF0000"/>
              </a:solidFill>
              <a:effectLst/>
              <a:uLnTx/>
              <a:uFillTx/>
              <a:latin typeface="Perpetua"/>
              <a:ea typeface="宋体" panose="02010600030101010101" pitchFamily="2" charset="-122"/>
              <a:cs typeface="+mn-cs"/>
            </a:endParaRPr>
          </a:p>
        </p:txBody>
      </p:sp>
      <p:sp>
        <p:nvSpPr>
          <p:cNvPr id="8" name="TextBox 30">
            <a:extLst>
              <a:ext uri="{FF2B5EF4-FFF2-40B4-BE49-F238E27FC236}">
                <a16:creationId xmlns:a16="http://schemas.microsoft.com/office/drawing/2014/main" id="{3AC44D5B-26DF-4611-AD5D-5B03BC912331}"/>
              </a:ext>
            </a:extLst>
          </p:cNvPr>
          <p:cNvSpPr txBox="1">
            <a:spLocks noChangeArrowheads="1"/>
          </p:cNvSpPr>
          <p:nvPr/>
        </p:nvSpPr>
        <p:spPr bwMode="auto">
          <a:xfrm>
            <a:off x="8147405" y="1582183"/>
            <a:ext cx="1152005" cy="400110"/>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w</a:t>
            </a:r>
            <a:r>
              <a:rPr kumimoji="0" lang="en-US" altLang="zh-CN" sz="2000" b="1" i="1" u="none" strike="noStrike" kern="1200" cap="none" spc="0" normalizeH="0" baseline="-25000" noProof="0" dirty="0">
                <a:ln>
                  <a:noFill/>
                </a:ln>
                <a:solidFill>
                  <a:srgbClr val="FF0000"/>
                </a:solidFill>
                <a:effectLst/>
                <a:uLnTx/>
                <a:uFillTx/>
                <a:latin typeface="Perpetua"/>
                <a:ea typeface="宋体" panose="02010600030101010101" pitchFamily="2" charset="-122"/>
                <a:cs typeface="+mn-cs"/>
              </a:rPr>
              <a:t>0</a:t>
            </a:r>
            <a:endParaRPr kumimoji="0" lang="zh-CN" altLang="en-US" sz="2000" b="1" i="1" u="none" strike="noStrike" kern="1200" cap="none" spc="0" normalizeH="0" baseline="-25000" noProof="0" dirty="0">
              <a:ln>
                <a:noFill/>
              </a:ln>
              <a:solidFill>
                <a:srgbClr val="FF0000"/>
              </a:solidFill>
              <a:effectLst/>
              <a:uLnTx/>
              <a:uFillTx/>
              <a:latin typeface="Perpetua"/>
              <a:ea typeface="宋体" panose="02010600030101010101" pitchFamily="2" charset="-122"/>
              <a:cs typeface="+mn-cs"/>
            </a:endParaRPr>
          </a:p>
        </p:txBody>
      </p:sp>
      <p:sp>
        <p:nvSpPr>
          <p:cNvPr id="11" name="椭圆 19">
            <a:extLst>
              <a:ext uri="{FF2B5EF4-FFF2-40B4-BE49-F238E27FC236}">
                <a16:creationId xmlns:a16="http://schemas.microsoft.com/office/drawing/2014/main" id="{AA5FB564-9C2A-4CAE-A0B9-7ADE359AC2AB}"/>
              </a:ext>
            </a:extLst>
          </p:cNvPr>
          <p:cNvSpPr>
            <a:spLocks noChangeArrowheads="1"/>
          </p:cNvSpPr>
          <p:nvPr/>
        </p:nvSpPr>
        <p:spPr bwMode="auto">
          <a:xfrm>
            <a:off x="7958983" y="1455299"/>
            <a:ext cx="144000" cy="144000"/>
          </a:xfrm>
          <a:prstGeom prst="ellipse">
            <a:avLst/>
          </a:prstGeom>
          <a:solidFill>
            <a:srgbClr val="FF0000"/>
          </a:solidFill>
          <a:ln w="53975" algn="ctr">
            <a:solidFill>
              <a:srgbClr val="FF0000"/>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1548594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激活函數</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p:txBody>
              <a:bodyPr/>
              <a:lstStyle/>
              <a:p>
                <a:endParaRPr lang="en-US" altLang="zh-CN" dirty="0"/>
              </a:p>
              <a:p>
                <a:r>
                  <a:rPr lang="zh-CN" altLang="en-US" dirty="0"/>
                  <a:t>符號函數</a:t>
                </a:r>
                <a:endParaRPr lang="en-US" altLang="zh-CN" dirty="0"/>
              </a:p>
              <a:p>
                <a:pPr marL="0" indent="0">
                  <a:buNone/>
                </a:pPr>
                <a:r>
                  <a:rPr lang="en-US" altLang="zh-CN" dirty="0"/>
                  <a:t>           </a:t>
                </a:r>
                <a14:m>
                  <m:oMath xmlns:m="http://schemas.openxmlformats.org/officeDocument/2006/math">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i="1">
                        <a:latin typeface="Cambria Math" panose="02040503050406030204" pitchFamily="18" charset="0"/>
                      </a:rPr>
                      <m:t>=</m:t>
                    </m:r>
                    <m:r>
                      <m:rPr>
                        <m:sty m:val="p"/>
                      </m:rPr>
                      <a:rPr lang="en-US" altLang="zh-CN" i="1">
                        <a:latin typeface="Cambria Math" panose="02040503050406030204" pitchFamily="18" charset="0"/>
                      </a:rPr>
                      <m:t>sgn</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a:rPr lang="en-US" altLang="zh-CN" i="1">
                                <a:latin typeface="Cambria Math" panose="02040503050406030204" pitchFamily="18" charset="0"/>
                              </a:rPr>
                              <m:t>1,    </m:t>
                            </m:r>
                            <m:r>
                              <a:rPr lang="zh-CN" altLang="zh-CN" i="1" smtClean="0">
                                <a:latin typeface="Cambria Math" panose="02040503050406030204" pitchFamily="18" charset="0"/>
                              </a:rPr>
                              <m:t>當</m:t>
                            </m:r>
                            <m:r>
                              <a:rPr lang="en-US" altLang="zh-CN" i="1">
                                <a:latin typeface="Cambria Math" panose="02040503050406030204" pitchFamily="18" charset="0"/>
                              </a:rPr>
                              <m:t>𝑛𝑒𝑡</m:t>
                            </m:r>
                            <m:r>
                              <a:rPr lang="en-US" altLang="zh-CN" i="1">
                                <a:latin typeface="Cambria Math" panose="02040503050406030204" pitchFamily="18" charset="0"/>
                              </a:rPr>
                              <m:t>≥0</m:t>
                            </m:r>
                          </m:e>
                          <m:e>
                            <m:r>
                              <a:rPr lang="en-US" altLang="zh-CN" i="1">
                                <a:latin typeface="Cambria Math" panose="02040503050406030204" pitchFamily="18" charset="0"/>
                              </a:rPr>
                              <m:t>−1    </m:t>
                            </m:r>
                            <m:r>
                              <a:rPr lang="zh-CN" altLang="zh-CN" i="1" smtClean="0">
                                <a:latin typeface="Cambria Math" panose="02040503050406030204" pitchFamily="18" charset="0"/>
                              </a:rPr>
                              <m:t>當</m:t>
                            </m:r>
                            <m:r>
                              <a:rPr lang="en-US" altLang="zh-CN" i="1">
                                <a:latin typeface="Cambria Math" panose="02040503050406030204" pitchFamily="18" charset="0"/>
                              </a:rPr>
                              <m:t>𝑛𝑒𝑡</m:t>
                            </m:r>
                            <m:r>
                              <a:rPr lang="en-US" altLang="zh-CN" i="1">
                                <a:latin typeface="Cambria Math" panose="02040503050406030204" pitchFamily="18" charset="0"/>
                              </a:rPr>
                              <m:t>&lt;0</m:t>
                            </m:r>
                          </m:e>
                        </m:eqArr>
                      </m:e>
                    </m:d>
                  </m:oMath>
                </a14:m>
                <a:endParaRPr lang="zh-CN" altLang="zh-CN" i="1" dirty="0">
                  <a:latin typeface="Cambria Math" panose="02040503050406030204" pitchFamily="18" charset="0"/>
                </a:endParaRPr>
              </a:p>
              <a:p>
                <a:endParaRPr lang="zh-CN" altLang="en-US" i="1" dirty="0">
                  <a:latin typeface="Cambria Math" panose="020405030504060302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blipFill>
                <a:blip r:embed="rId2"/>
                <a:stretch>
                  <a:fillRect/>
                </a:stretch>
              </a:blipFill>
            </p:spPr>
            <p:txBody>
              <a:bodyPr/>
              <a:lstStyle/>
              <a:p>
                <a:r>
                  <a:rPr lang="zh-TW" altLang="en-US">
                    <a:noFill/>
                  </a:rPr>
                  <a:t> </a:t>
                </a:r>
              </a:p>
            </p:txBody>
          </p:sp>
        </mc:Fallback>
      </mc:AlternateContent>
      <p:pic>
        <p:nvPicPr>
          <p:cNvPr id="14" name="图片 13"/>
          <p:cNvPicPr>
            <a:picLocks noChangeAspect="1"/>
          </p:cNvPicPr>
          <p:nvPr/>
        </p:nvPicPr>
        <p:blipFill>
          <a:blip r:embed="rId3"/>
          <a:stretch>
            <a:fillRect/>
          </a:stretch>
        </p:blipFill>
        <p:spPr>
          <a:xfrm>
            <a:off x="2646296" y="3611880"/>
            <a:ext cx="5455679" cy="2182271"/>
          </a:xfrm>
          <a:prstGeom prst="rect">
            <a:avLst/>
          </a:prstGeom>
        </p:spPr>
      </p:pic>
    </p:spTree>
    <p:extLst>
      <p:ext uri="{BB962C8B-B14F-4D97-AF65-F5344CB8AC3E}">
        <p14:creationId xmlns:p14="http://schemas.microsoft.com/office/powerpoint/2010/main" val="4026163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激活函數</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522141"/>
                <a:ext cx="10363200" cy="4572000"/>
              </a:xfrm>
            </p:spPr>
            <p:txBody>
              <a:bodyPr/>
              <a:lstStyle/>
              <a:p>
                <a:r>
                  <a:rPr lang="en-US" altLang="zh-CN" dirty="0"/>
                  <a:t>Sigmoid</a:t>
                </a:r>
                <a:r>
                  <a:rPr lang="zh-CN" altLang="en-US" dirty="0"/>
                  <a:t>函數</a:t>
                </a:r>
                <a:endParaRPr lang="en-US" altLang="zh-CN" dirty="0"/>
              </a:p>
              <a:p>
                <a:pPr marL="0" indent="0">
                  <a:buNone/>
                </a:pPr>
                <a:r>
                  <a:rPr lang="en-US" altLang="zh-CN" dirty="0"/>
                  <a:t>         </a:t>
                </a:r>
                <a14:m>
                  <m:oMath xmlns:m="http://schemas.openxmlformats.org/officeDocument/2006/math">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b="0" i="1" smtClean="0">
                            <a:latin typeface="Cambria Math" panose="02040503050406030204" pitchFamily="18" charset="0"/>
                          </a:rPr>
                          <m:t>𝑛𝑒𝑡</m:t>
                        </m:r>
                      </m:e>
                    </m:d>
                    <m:r>
                      <a:rPr lang="en-US" altLang="zh-CN" i="1">
                        <a:latin typeface="Cambria Math" panose="02040503050406030204" pitchFamily="18" charset="0"/>
                      </a:rPr>
                      <m:t>=</m:t>
                    </m:r>
                    <m:r>
                      <m:rPr>
                        <m:sty m:val="p"/>
                      </m:rPr>
                      <a:rPr lang="zh-CN" altLang="zh-CN" i="1">
                        <a:latin typeface="Cambria Math" panose="02040503050406030204" pitchFamily="18" charset="0"/>
                      </a:rPr>
                      <m:t>σ</m:t>
                    </m:r>
                    <m:d>
                      <m:dPr>
                        <m:ctrlPr>
                          <a:rPr lang="zh-CN" altLang="zh-CN" i="1">
                            <a:latin typeface="Cambria Math" panose="02040503050406030204" pitchFamily="18" charset="0"/>
                          </a:rPr>
                        </m:ctrlPr>
                      </m:dPr>
                      <m:e>
                        <m:r>
                          <a:rPr lang="en-US" altLang="zh-CN" b="0" i="1" smtClean="0">
                            <a:latin typeface="Cambria Math" panose="02040503050406030204" pitchFamily="18" charset="0"/>
                          </a:rPr>
                          <m:t>𝑛𝑒𝑡</m:t>
                        </m:r>
                      </m:e>
                    </m:d>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𝑛𝑒𝑡</m:t>
                            </m:r>
                          </m:sup>
                        </m:sSup>
                      </m:den>
                    </m:f>
                  </m:oMath>
                </a14:m>
                <a:endParaRPr lang="zh-CN" altLang="zh-CN" i="1" dirty="0">
                  <a:latin typeface="Cambria Math" panose="02040503050406030204" pitchFamily="18" charset="0"/>
                </a:endParaRPr>
              </a:p>
              <a:p>
                <a:endParaRPr lang="zh-CN" altLang="en-US" i="1" dirty="0">
                  <a:latin typeface="Cambria Math" panose="020405030504060302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522141"/>
                <a:ext cx="10363200" cy="4572000"/>
              </a:xfrm>
              <a:blipFill>
                <a:blip r:embed="rId2"/>
                <a:stretch>
                  <a:fillRect t="-2133"/>
                </a:stretch>
              </a:blipFill>
            </p:spPr>
            <p:txBody>
              <a:bodyPr/>
              <a:lstStyle/>
              <a:p>
                <a:r>
                  <a:rPr lang="zh-TW" altLang="en-US">
                    <a:noFill/>
                  </a:rPr>
                  <a:t> </a:t>
                </a:r>
              </a:p>
            </p:txBody>
          </p:sp>
        </mc:Fallback>
      </mc:AlternateContent>
      <p:grpSp>
        <p:nvGrpSpPr>
          <p:cNvPr id="6" name="组合 5"/>
          <p:cNvGrpSpPr/>
          <p:nvPr/>
        </p:nvGrpSpPr>
        <p:grpSpPr>
          <a:xfrm>
            <a:off x="6710309" y="1341119"/>
            <a:ext cx="4657083" cy="3801699"/>
            <a:chOff x="5369189" y="2664822"/>
            <a:chExt cx="4657083" cy="3801699"/>
          </a:xfrm>
        </p:grpSpPr>
        <p:pic>
          <p:nvPicPr>
            <p:cNvPr id="4" name="图片 3"/>
            <p:cNvPicPr>
              <a:picLocks noChangeAspect="1"/>
            </p:cNvPicPr>
            <p:nvPr/>
          </p:nvPicPr>
          <p:blipFill>
            <a:blip r:embed="rId3"/>
            <a:stretch>
              <a:fillRect/>
            </a:stretch>
          </p:blipFill>
          <p:spPr>
            <a:xfrm>
              <a:off x="5386607" y="3425002"/>
              <a:ext cx="3226178" cy="2831539"/>
            </a:xfrm>
            <a:prstGeom prst="rect">
              <a:avLst/>
            </a:prstGeom>
          </p:spPr>
        </p:pic>
        <p:pic>
          <p:nvPicPr>
            <p:cNvPr id="9" name="图片 8"/>
            <p:cNvPicPr>
              <a:picLocks noChangeAspect="1"/>
            </p:cNvPicPr>
            <p:nvPr/>
          </p:nvPicPr>
          <p:blipFill>
            <a:blip r:embed="rId4"/>
            <a:stretch>
              <a:fillRect/>
            </a:stretch>
          </p:blipFill>
          <p:spPr>
            <a:xfrm>
              <a:off x="5369189" y="2664822"/>
              <a:ext cx="4657083" cy="3801699"/>
            </a:xfrm>
            <a:prstGeom prst="rect">
              <a:avLst/>
            </a:prstGeom>
          </p:spPr>
        </p:pic>
        <p:sp>
          <p:nvSpPr>
            <p:cNvPr id="5" name="文本框 4"/>
            <p:cNvSpPr txBox="1"/>
            <p:nvPr/>
          </p:nvSpPr>
          <p:spPr>
            <a:xfrm>
              <a:off x="5412734" y="4565671"/>
              <a:ext cx="217715" cy="374469"/>
            </a:xfrm>
            <a:prstGeom prst="rect">
              <a:avLst/>
            </a:prstGeom>
            <a:solidFill>
              <a:schemeClr val="bg1"/>
            </a:solidFill>
          </p:spPr>
          <p:txBody>
            <a:bodyPr wrap="square" rtlCol="0">
              <a:spAutoFit/>
            </a:bodyPr>
            <a:lstStyle/>
            <a:p>
              <a:endParaRPr lang="zh-CN" altLang="en-US" dirty="0"/>
            </a:p>
          </p:txBody>
        </p:sp>
      </p:grpSp>
    </p:spTree>
    <p:extLst>
      <p:ext uri="{BB962C8B-B14F-4D97-AF65-F5344CB8AC3E}">
        <p14:creationId xmlns:p14="http://schemas.microsoft.com/office/powerpoint/2010/main" val="2085714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激活函數</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p:txBody>
              <a:bodyPr/>
              <a:lstStyle/>
              <a:p>
                <a:r>
                  <a:rPr lang="zh-CN" altLang="en-US" dirty="0"/>
                  <a:t>雙曲正切函數</a:t>
                </a:r>
                <a:endParaRPr lang="en-US" altLang="zh-CN" dirty="0"/>
              </a:p>
              <a:p>
                <a:pPr marL="0" indent="0">
                  <a:buNone/>
                </a:pPr>
                <a:r>
                  <a:rPr lang="en-US" altLang="zh-CN" dirty="0"/>
                  <a:t>        </a:t>
                </a:r>
                <a14:m>
                  <m:oMath xmlns:m="http://schemas.openxmlformats.org/officeDocument/2006/math">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tanh</m:t>
                        </m:r>
                      </m:fName>
                      <m:e>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e>
                    </m:func>
                  </m:oMath>
                </a14:m>
                <a:br>
                  <a:rPr lang="en-US" altLang="zh-CN" i="1" dirty="0"/>
                </a:br>
                <a:r>
                  <a:rPr lang="en-US" altLang="zh-CN" i="1" dirty="0"/>
                  <a:t>                      </a:t>
                </a:r>
                <a14:m>
                  <m:oMath xmlns:m="http://schemas.openxmlformats.org/officeDocument/2006/math">
                    <m:r>
                      <a:rPr lang="en-US" altLang="zh-CN">
                        <a:latin typeface="Cambria Math" panose="02040503050406030204" pitchFamily="18" charset="0"/>
                      </a:rPr>
                      <m:t>=</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𝑛𝑒𝑡</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𝑛𝑒𝑡</m:t>
                            </m:r>
                          </m:sup>
                        </m:sSup>
                      </m:num>
                      <m:den>
                        <m:sSup>
                          <m:sSupPr>
                            <m:ctrlPr>
                              <a:rPr lang="zh-CN"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𝑛𝑒𝑡</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𝑛𝑒𝑡</m:t>
                            </m:r>
                          </m:sup>
                        </m:sSup>
                      </m:den>
                    </m:f>
                  </m:oMath>
                </a14:m>
                <a:endParaRPr lang="zh-CN" altLang="zh-CN"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blipFill>
                <a:blip r:embed="rId2"/>
                <a:stretch>
                  <a:fillRect t="-2133"/>
                </a:stretch>
              </a:blipFill>
            </p:spPr>
            <p:txBody>
              <a:bodyPr/>
              <a:lstStyle/>
              <a:p>
                <a:r>
                  <a:rPr lang="zh-TW" altLang="en-US">
                    <a:noFill/>
                  </a:rPr>
                  <a:t> </a:t>
                </a:r>
              </a:p>
            </p:txBody>
          </p:sp>
        </mc:Fallback>
      </mc:AlternateContent>
      <p:grpSp>
        <p:nvGrpSpPr>
          <p:cNvPr id="4" name="组合 3"/>
          <p:cNvGrpSpPr/>
          <p:nvPr/>
        </p:nvGrpSpPr>
        <p:grpSpPr>
          <a:xfrm>
            <a:off x="5660315" y="1417638"/>
            <a:ext cx="5922085" cy="4292519"/>
            <a:chOff x="4365483" y="2064100"/>
            <a:chExt cx="5922085" cy="4292519"/>
          </a:xfrm>
        </p:grpSpPr>
        <p:pic>
          <p:nvPicPr>
            <p:cNvPr id="5" name="图片 4" descr="tf.nn.tanh 双曲正切曲线"/>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5318" y="3071495"/>
              <a:ext cx="4068764" cy="3078933"/>
            </a:xfrm>
            <a:prstGeom prst="rect">
              <a:avLst/>
            </a:prstGeom>
            <a:noFill/>
            <a:ln>
              <a:noFill/>
            </a:ln>
          </p:spPr>
        </p:pic>
        <p:pic>
          <p:nvPicPr>
            <p:cNvPr id="10" name="图片 9"/>
            <p:cNvPicPr>
              <a:picLocks noChangeAspect="1"/>
            </p:cNvPicPr>
            <p:nvPr/>
          </p:nvPicPr>
          <p:blipFill>
            <a:blip r:embed="rId4"/>
            <a:stretch>
              <a:fillRect/>
            </a:stretch>
          </p:blipFill>
          <p:spPr>
            <a:xfrm>
              <a:off x="4365483" y="2064100"/>
              <a:ext cx="5922085" cy="4292519"/>
            </a:xfrm>
            <a:prstGeom prst="rect">
              <a:avLst/>
            </a:prstGeom>
          </p:spPr>
        </p:pic>
      </p:grpSp>
    </p:spTree>
    <p:extLst>
      <p:ext uri="{BB962C8B-B14F-4D97-AF65-F5344CB8AC3E}">
        <p14:creationId xmlns:p14="http://schemas.microsoft.com/office/powerpoint/2010/main" val="4189089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激活函數</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p:txBody>
              <a:bodyPr/>
              <a:lstStyle/>
              <a:p>
                <a:r>
                  <a:rPr lang="zh-CN" altLang="en-US" dirty="0"/>
                  <a:t>線性整流函數</a:t>
                </a:r>
                <a:endParaRPr lang="en-US" altLang="zh-CN" dirty="0"/>
              </a:p>
              <a:p>
                <a:pPr marL="0" indent="0">
                  <a:buNone/>
                </a:pPr>
                <a:r>
                  <a:rPr lang="en-US" altLang="zh-CN" dirty="0"/>
                  <a:t>           </a:t>
                </a:r>
                <a14:m>
                  <m:oMath xmlns:m="http://schemas.openxmlformats.org/officeDocument/2006/math">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a:latin typeface="Cambria Math" panose="02040503050406030204" pitchFamily="18" charset="0"/>
                      </a:rPr>
                      <m:t>=</m:t>
                    </m:r>
                    <m:r>
                      <m:rPr>
                        <m:sty m:val="p"/>
                      </m:rPr>
                      <a:rPr lang="en-US" altLang="zh-CN">
                        <a:latin typeface="Cambria Math" panose="02040503050406030204" pitchFamily="18" charset="0"/>
                      </a:rPr>
                      <m:t>ReLU</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a:latin typeface="Cambria Math" panose="02040503050406030204" pitchFamily="18" charset="0"/>
                      </a:rPr>
                      <m:t>=</m:t>
                    </m:r>
                    <m:r>
                      <m:rPr>
                        <m:sty m:val="p"/>
                      </m:rPr>
                      <a:rPr lang="en-US" altLang="zh-CN">
                        <a:latin typeface="Cambria Math" panose="02040503050406030204" pitchFamily="18" charset="0"/>
                      </a:rPr>
                      <m:t>max</m:t>
                    </m:r>
                    <m:r>
                      <a:rPr lang="en-US" altLang="zh-CN">
                        <a:latin typeface="Cambria Math" panose="02040503050406030204" pitchFamily="18" charset="0"/>
                      </a:rPr>
                      <m:t>(0, </m:t>
                    </m:r>
                    <m:r>
                      <a:rPr lang="en-US" altLang="zh-CN" i="1">
                        <a:latin typeface="Cambria Math" panose="02040503050406030204" pitchFamily="18" charset="0"/>
                      </a:rPr>
                      <m:t>𝑛𝑒𝑡</m:t>
                    </m:r>
                    <m:r>
                      <a:rPr lang="en-US" altLang="zh-CN">
                        <a:latin typeface="Cambria Math" panose="02040503050406030204" pitchFamily="18" charset="0"/>
                      </a:rPr>
                      <m:t>)</m:t>
                    </m:r>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blipFill>
                <a:blip r:embed="rId2"/>
                <a:stretch>
                  <a:fillRect t="-2133"/>
                </a:stretch>
              </a:blipFill>
            </p:spPr>
            <p:txBody>
              <a:bodyPr/>
              <a:lstStyle/>
              <a:p>
                <a:r>
                  <a:rPr lang="zh-TW" altLang="en-US">
                    <a:noFill/>
                  </a:rPr>
                  <a:t> </a:t>
                </a:r>
              </a:p>
            </p:txBody>
          </p:sp>
        </mc:Fallback>
      </mc:AlternateContent>
      <p:pic>
        <p:nvPicPr>
          <p:cNvPr id="6" name="图片 5"/>
          <p:cNvPicPr>
            <a:picLocks noChangeAspect="1"/>
          </p:cNvPicPr>
          <p:nvPr/>
        </p:nvPicPr>
        <p:blipFill>
          <a:blip r:embed="rId3"/>
          <a:stretch>
            <a:fillRect/>
          </a:stretch>
        </p:blipFill>
        <p:spPr>
          <a:xfrm>
            <a:off x="2551611" y="2638962"/>
            <a:ext cx="6953264" cy="3476632"/>
          </a:xfrm>
          <a:prstGeom prst="rect">
            <a:avLst/>
          </a:prstGeom>
        </p:spPr>
      </p:pic>
    </p:spTree>
    <p:extLst>
      <p:ext uri="{BB962C8B-B14F-4D97-AF65-F5344CB8AC3E}">
        <p14:creationId xmlns:p14="http://schemas.microsoft.com/office/powerpoint/2010/main" val="663053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激活函數</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447800"/>
                <a:ext cx="10363200" cy="5292634"/>
              </a:xfrm>
            </p:spPr>
            <p:txBody>
              <a:bodyPr>
                <a:normAutofit/>
              </a:bodyPr>
              <a:lstStyle/>
              <a:p>
                <a:r>
                  <a:rPr lang="en-US" altLang="zh-CN" dirty="0" err="1"/>
                  <a:t>Softmax</a:t>
                </a:r>
                <a:r>
                  <a:rPr lang="zh-CN" altLang="en-US" dirty="0"/>
                  <a:t>函數</a:t>
                </a:r>
                <a:endParaRPr lang="en-US" altLang="zh-CN" dirty="0"/>
              </a:p>
              <a:p>
                <a:endParaRPr lang="en-US" altLang="zh-CN" dirty="0"/>
              </a:p>
              <a:p>
                <a:pPr marL="0" indent="0">
                  <a:buNone/>
                </a:pPr>
                <a:r>
                  <a:rPr lang="en-US" altLang="zh-CN" dirty="0"/>
                  <a:t>  </a:t>
                </a:r>
                <a14:m>
                  <m:oMath xmlns:m="http://schemas.openxmlformats.org/officeDocument/2006/math">
                    <m:sSub>
                      <m:sSubPr>
                        <m:ctrlPr>
                          <a:rPr lang="en-US" altLang="zh-CN" sz="3600" i="1" smtClean="0">
                            <a:latin typeface="Cambria Math" panose="02040503050406030204" pitchFamily="18" charset="0"/>
                          </a:rPr>
                        </m:ctrlPr>
                      </m:sSubPr>
                      <m:e>
                        <m:r>
                          <a:rPr lang="en-US" altLang="zh-CN" sz="3600" b="0" i="1" smtClean="0">
                            <a:latin typeface="Cambria Math" panose="02040503050406030204" pitchFamily="18" charset="0"/>
                          </a:rPr>
                          <m:t>𝑜</m:t>
                        </m:r>
                      </m:e>
                      <m:sub>
                        <m:r>
                          <a:rPr lang="en-US" altLang="zh-CN" sz="3600" b="0" i="1" smtClean="0">
                            <a:latin typeface="Cambria Math" panose="02040503050406030204" pitchFamily="18" charset="0"/>
                          </a:rPr>
                          <m:t>𝑘</m:t>
                        </m:r>
                      </m:sub>
                    </m:sSub>
                    <m:r>
                      <a:rPr lang="en-US" altLang="zh-CN" sz="3600" b="0" i="1" smtClean="0">
                        <a:latin typeface="Cambria Math" panose="02040503050406030204" pitchFamily="18" charset="0"/>
                      </a:rPr>
                      <m:t>=</m:t>
                    </m:r>
                    <m:f>
                      <m:fPr>
                        <m:ctrlPr>
                          <a:rPr lang="en-US" altLang="zh-CN" sz="3600" b="0" i="1" smtClean="0">
                            <a:latin typeface="Cambria Math" panose="02040503050406030204" pitchFamily="18" charset="0"/>
                          </a:rPr>
                        </m:ctrlPr>
                      </m:fPr>
                      <m:num>
                        <m:sSup>
                          <m:sSupPr>
                            <m:ctrlPr>
                              <a:rPr lang="en-US" altLang="zh-CN" sz="3600" b="0" i="1" smtClean="0">
                                <a:latin typeface="Cambria Math" panose="02040503050406030204" pitchFamily="18" charset="0"/>
                              </a:rPr>
                            </m:ctrlPr>
                          </m:sSupPr>
                          <m:e>
                            <m:r>
                              <a:rPr lang="en-US" altLang="zh-CN" sz="3600" b="0" i="1" smtClean="0">
                                <a:latin typeface="Cambria Math" panose="02040503050406030204" pitchFamily="18" charset="0"/>
                              </a:rPr>
                              <m:t>𝑒</m:t>
                            </m:r>
                          </m:e>
                          <m:sup>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𝑛𝑒𝑡</m:t>
                                </m:r>
                              </m:e>
                              <m:sub>
                                <m:r>
                                  <a:rPr lang="en-US" altLang="zh-CN" sz="3600" b="0" i="1" smtClean="0">
                                    <a:latin typeface="Cambria Math" panose="02040503050406030204" pitchFamily="18" charset="0"/>
                                  </a:rPr>
                                  <m:t>𝑘</m:t>
                                </m:r>
                              </m:sub>
                            </m:sSub>
                          </m:sup>
                        </m:sSup>
                      </m:num>
                      <m:den>
                        <m:nary>
                          <m:naryPr>
                            <m:chr m:val="∑"/>
                            <m:ctrlPr>
                              <a:rPr lang="en-US" altLang="zh-CN" sz="3600" b="0" i="1" smtClean="0">
                                <a:latin typeface="Cambria Math" panose="02040503050406030204" pitchFamily="18" charset="0"/>
                              </a:rPr>
                            </m:ctrlPr>
                          </m:naryPr>
                          <m:sub>
                            <m:r>
                              <m:rPr>
                                <m:brk m:alnAt="23"/>
                              </m:rPr>
                              <a:rPr lang="en-US" altLang="zh-CN" sz="3600" b="0" i="1" smtClean="0">
                                <a:latin typeface="Cambria Math" panose="02040503050406030204" pitchFamily="18" charset="0"/>
                              </a:rPr>
                              <m:t>𝑖</m:t>
                            </m:r>
                            <m:r>
                              <a:rPr lang="en-US" altLang="zh-CN" sz="3600" b="0" i="1" smtClean="0">
                                <a:latin typeface="Cambria Math" panose="02040503050406030204" pitchFamily="18" charset="0"/>
                              </a:rPr>
                              <m:t>=1</m:t>
                            </m:r>
                          </m:sub>
                          <m:sup>
                            <m:r>
                              <a:rPr lang="en-US" altLang="zh-CN" sz="3600" b="0" i="1" smtClean="0">
                                <a:latin typeface="Cambria Math" panose="02040503050406030204" pitchFamily="18" charset="0"/>
                              </a:rPr>
                              <m:t>𝑚</m:t>
                            </m:r>
                          </m:sup>
                          <m:e>
                            <m:sSup>
                              <m:sSupPr>
                                <m:ctrlPr>
                                  <a:rPr lang="en-US" altLang="zh-CN" sz="3600" i="1">
                                    <a:latin typeface="Cambria Math" panose="02040503050406030204" pitchFamily="18" charset="0"/>
                                  </a:rPr>
                                </m:ctrlPr>
                              </m:sSupPr>
                              <m:e>
                                <m:r>
                                  <a:rPr lang="en-US" altLang="zh-CN" sz="3600" i="1">
                                    <a:latin typeface="Cambria Math" panose="02040503050406030204" pitchFamily="18" charset="0"/>
                                  </a:rPr>
                                  <m:t>𝑒</m:t>
                                </m:r>
                              </m:e>
                              <m:sup>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𝑛𝑒𝑡</m:t>
                                    </m:r>
                                  </m:e>
                                  <m:sub>
                                    <m:r>
                                      <a:rPr lang="en-US" altLang="zh-CN" sz="3600" b="0" i="1" smtClean="0">
                                        <a:latin typeface="Cambria Math" panose="02040503050406030204" pitchFamily="18" charset="0"/>
                                      </a:rPr>
                                      <m:t>𝑖</m:t>
                                    </m:r>
                                  </m:sub>
                                </m:sSub>
                              </m:sup>
                            </m:sSup>
                          </m:e>
                        </m:nary>
                      </m:den>
                    </m:f>
                  </m:oMath>
                </a14:m>
                <a:endParaRPr lang="en-US" altLang="zh-CN" sz="3600" dirty="0"/>
              </a:p>
              <a:p>
                <a:pPr marL="0" indent="0">
                  <a:buNone/>
                </a:pPr>
                <a:endParaRPr lang="en-US" altLang="zh-CN" sz="2000" dirty="0"/>
              </a:p>
              <a:p>
                <a:pPr marL="0" indent="0">
                  <a:buNone/>
                </a:pPr>
                <a:r>
                  <a:rPr lang="en-US" altLang="zh-CN" sz="36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0</m:t>
                        </m:r>
                        <m:r>
                          <a:rPr lang="zh-CN" altLang="en-US" sz="2800" i="1">
                            <a:latin typeface="Cambria Math" panose="02040503050406030204" pitchFamily="18" charset="0"/>
                          </a:rPr>
                          <m:t>≤</m:t>
                        </m:r>
                        <m:r>
                          <a:rPr lang="en-US" altLang="zh-CN" sz="2800" i="1">
                            <a:latin typeface="Cambria Math" panose="02040503050406030204" pitchFamily="18" charset="0"/>
                          </a:rPr>
                          <m:t>𝑜</m:t>
                        </m:r>
                      </m:e>
                      <m:sub>
                        <m:r>
                          <a:rPr lang="en-US" altLang="zh-CN" sz="2800" i="1">
                            <a:latin typeface="Cambria Math" panose="02040503050406030204" pitchFamily="18" charset="0"/>
                          </a:rPr>
                          <m:t>𝑘</m:t>
                        </m:r>
                      </m:sub>
                    </m:sSub>
                    <m:r>
                      <a:rPr lang="zh-CN" altLang="en-US" sz="2800" i="1">
                        <a:latin typeface="Cambria Math" panose="02040503050406030204" pitchFamily="18" charset="0"/>
                      </a:rPr>
                      <m:t>≤</m:t>
                    </m:r>
                    <m:r>
                      <a:rPr lang="en-US" altLang="zh-CN" sz="2800" b="0" i="1" smtClean="0">
                        <a:latin typeface="Cambria Math" panose="02040503050406030204" pitchFamily="18" charset="0"/>
                      </a:rPr>
                      <m:t>1</m:t>
                    </m:r>
                  </m:oMath>
                </a14:m>
                <a:endParaRPr lang="en-US" altLang="zh-CN" sz="2800" b="0" dirty="0"/>
              </a:p>
              <a:p>
                <a:pPr marL="0" indent="0">
                  <a:buNone/>
                </a:pPr>
                <a:endParaRPr lang="en-US" altLang="zh-CN" sz="100" b="0" dirty="0"/>
              </a:p>
              <a:p>
                <a:pPr marL="0" indent="0">
                  <a:buNone/>
                </a:pPr>
                <a:r>
                  <a:rPr lang="en-US" altLang="zh-CN" sz="2800" dirty="0"/>
                  <a:t>  </a:t>
                </a:r>
                <a14:m>
                  <m:oMath xmlns:m="http://schemas.openxmlformats.org/officeDocument/2006/math">
                    <m:nary>
                      <m:naryPr>
                        <m:chr m:val="∑"/>
                        <m:ctrlPr>
                          <a:rPr lang="zh-CN" altLang="en-US" sz="280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𝑘</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rPr>
                          <m:t>𝑚</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𝑜</m:t>
                            </m:r>
                          </m:e>
                          <m:sub>
                            <m:r>
                              <a:rPr lang="en-US" altLang="zh-CN" sz="2800" i="1">
                                <a:latin typeface="Cambria Math" panose="02040503050406030204" pitchFamily="18" charset="0"/>
                              </a:rPr>
                              <m:t>𝑘</m:t>
                            </m:r>
                          </m:sub>
                        </m:sSub>
                        <m:r>
                          <a:rPr lang="en-US" altLang="zh-CN" sz="2800" b="0" i="1" smtClean="0">
                            <a:latin typeface="Cambria Math" panose="02040503050406030204" pitchFamily="18" charset="0"/>
                          </a:rPr>
                          <m:t>=1</m:t>
                        </m:r>
                      </m:e>
                    </m:nary>
                  </m:oMath>
                </a14:m>
                <a:endParaRPr lang="zh-CN" altLang="en-US" sz="3600"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447800"/>
                <a:ext cx="10363200" cy="5292634"/>
              </a:xfrm>
              <a:blipFill>
                <a:blip r:embed="rId3"/>
                <a:stretch>
                  <a:fillRect t="-1843"/>
                </a:stretch>
              </a:blipFill>
            </p:spPr>
            <p:txBody>
              <a:bodyPr/>
              <a:lstStyle/>
              <a:p>
                <a:r>
                  <a:rPr lang="zh-TW" altLang="en-US">
                    <a:noFill/>
                  </a:rPr>
                  <a:t> </a:t>
                </a:r>
              </a:p>
            </p:txBody>
          </p:sp>
        </mc:Fallback>
      </mc:AlternateContent>
      <p:cxnSp>
        <p:nvCxnSpPr>
          <p:cNvPr id="9" name="直接箭头连接符 8"/>
          <p:cNvCxnSpPr>
            <a:stCxn id="15" idx="0"/>
            <a:endCxn id="33" idx="4"/>
          </p:cNvCxnSpPr>
          <p:nvPr/>
        </p:nvCxnSpPr>
        <p:spPr>
          <a:xfrm flipV="1">
            <a:off x="5800623" y="3122939"/>
            <a:ext cx="13056"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0" name="直接箭头连接符 9"/>
          <p:cNvCxnSpPr>
            <a:stCxn id="15" idx="0"/>
            <a:endCxn id="34" idx="4"/>
          </p:cNvCxnSpPr>
          <p:nvPr/>
        </p:nvCxnSpPr>
        <p:spPr>
          <a:xfrm flipV="1">
            <a:off x="5800623" y="3122939"/>
            <a:ext cx="728466"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1" name="直接箭头连接符 10"/>
          <p:cNvCxnSpPr>
            <a:stCxn id="16" idx="0"/>
            <a:endCxn id="34" idx="4"/>
          </p:cNvCxnSpPr>
          <p:nvPr/>
        </p:nvCxnSpPr>
        <p:spPr>
          <a:xfrm flipV="1">
            <a:off x="6516033" y="3122939"/>
            <a:ext cx="13056"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p:cNvCxnSpPr>
            <a:stCxn id="17" idx="0"/>
            <a:endCxn id="34" idx="4"/>
          </p:cNvCxnSpPr>
          <p:nvPr/>
        </p:nvCxnSpPr>
        <p:spPr>
          <a:xfrm flipH="1" flipV="1">
            <a:off x="6529089" y="3122939"/>
            <a:ext cx="1527382"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17" idx="0"/>
            <a:endCxn id="35" idx="4"/>
          </p:cNvCxnSpPr>
          <p:nvPr/>
        </p:nvCxnSpPr>
        <p:spPr>
          <a:xfrm flipV="1">
            <a:off x="8056471" y="3148485"/>
            <a:ext cx="13056"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a:stCxn id="16" idx="0"/>
            <a:endCxn id="33" idx="4"/>
          </p:cNvCxnSpPr>
          <p:nvPr/>
        </p:nvCxnSpPr>
        <p:spPr>
          <a:xfrm flipH="1" flipV="1">
            <a:off x="5813679" y="3122939"/>
            <a:ext cx="702354" cy="831401"/>
          </a:xfrm>
          <a:prstGeom prst="straightConnector1">
            <a:avLst/>
          </a:prstGeom>
          <a:noFill/>
          <a:ln w="28575" cap="flat" cmpd="sng" algn="ctr">
            <a:solidFill>
              <a:sysClr val="windowText" lastClr="000000"/>
            </a:solidFill>
            <a:prstDash val="solid"/>
            <a:miter lim="800000"/>
            <a:tailEnd type="triangle"/>
          </a:ln>
          <a:effectLst/>
        </p:spPr>
      </p:cxnSp>
      <p:sp>
        <p:nvSpPr>
          <p:cNvPr id="15" name="椭圆 14"/>
          <p:cNvSpPr/>
          <p:nvPr/>
        </p:nvSpPr>
        <p:spPr>
          <a:xfrm>
            <a:off x="5661356" y="3954340"/>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6" name="椭圆 15"/>
          <p:cNvSpPr/>
          <p:nvPr/>
        </p:nvSpPr>
        <p:spPr>
          <a:xfrm>
            <a:off x="6376766" y="3954340"/>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7" name="椭圆 16"/>
          <p:cNvSpPr/>
          <p:nvPr/>
        </p:nvSpPr>
        <p:spPr>
          <a:xfrm>
            <a:off x="7917204" y="3979886"/>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8" name="椭圆 17"/>
          <p:cNvSpPr/>
          <p:nvPr/>
        </p:nvSpPr>
        <p:spPr>
          <a:xfrm>
            <a:off x="8419145" y="5148587"/>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6376766" y="512942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0" name="椭圆 19"/>
          <p:cNvSpPr/>
          <p:nvPr/>
        </p:nvSpPr>
        <p:spPr>
          <a:xfrm>
            <a:off x="5320960" y="512942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1" name="直接箭头连接符 20"/>
          <p:cNvCxnSpPr>
            <a:stCxn id="20" idx="0"/>
            <a:endCxn id="15" idx="4"/>
          </p:cNvCxnSpPr>
          <p:nvPr/>
        </p:nvCxnSpPr>
        <p:spPr>
          <a:xfrm flipV="1">
            <a:off x="5460227" y="4241992"/>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2" name="直接箭头连接符 21"/>
          <p:cNvCxnSpPr>
            <a:stCxn id="20" idx="0"/>
            <a:endCxn id="16" idx="4"/>
          </p:cNvCxnSpPr>
          <p:nvPr/>
        </p:nvCxnSpPr>
        <p:spPr>
          <a:xfrm flipV="1">
            <a:off x="5460227" y="4241992"/>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3" name="直接箭头连接符 22"/>
          <p:cNvCxnSpPr>
            <a:stCxn id="19" idx="0"/>
            <a:endCxn id="15" idx="4"/>
          </p:cNvCxnSpPr>
          <p:nvPr/>
        </p:nvCxnSpPr>
        <p:spPr>
          <a:xfrm flipH="1" flipV="1">
            <a:off x="5800623" y="4241992"/>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4" name="直接箭头连接符 23"/>
          <p:cNvCxnSpPr>
            <a:stCxn id="20" idx="0"/>
            <a:endCxn id="17" idx="4"/>
          </p:cNvCxnSpPr>
          <p:nvPr/>
        </p:nvCxnSpPr>
        <p:spPr>
          <a:xfrm flipV="1">
            <a:off x="5460227" y="4267538"/>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19" idx="0"/>
            <a:endCxn id="16" idx="4"/>
          </p:cNvCxnSpPr>
          <p:nvPr/>
        </p:nvCxnSpPr>
        <p:spPr>
          <a:xfrm flipV="1">
            <a:off x="6516033" y="4241992"/>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19" idx="0"/>
            <a:endCxn id="17" idx="4"/>
          </p:cNvCxnSpPr>
          <p:nvPr/>
        </p:nvCxnSpPr>
        <p:spPr>
          <a:xfrm flipV="1">
            <a:off x="6516033" y="4267538"/>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18" idx="0"/>
            <a:endCxn id="17" idx="4"/>
          </p:cNvCxnSpPr>
          <p:nvPr/>
        </p:nvCxnSpPr>
        <p:spPr>
          <a:xfrm flipH="1" flipV="1">
            <a:off x="8056471" y="4267538"/>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18" idx="0"/>
            <a:endCxn id="16" idx="4"/>
          </p:cNvCxnSpPr>
          <p:nvPr/>
        </p:nvCxnSpPr>
        <p:spPr>
          <a:xfrm flipH="1" flipV="1">
            <a:off x="6516033" y="4241992"/>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stCxn id="18" idx="0"/>
            <a:endCxn id="15" idx="4"/>
          </p:cNvCxnSpPr>
          <p:nvPr/>
        </p:nvCxnSpPr>
        <p:spPr>
          <a:xfrm flipH="1" flipV="1">
            <a:off x="5800623" y="4241992"/>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0" name="文本框 187"/>
          <p:cNvSpPr txBox="1"/>
          <p:nvPr/>
        </p:nvSpPr>
        <p:spPr>
          <a:xfrm>
            <a:off x="8921086" y="5129428"/>
            <a:ext cx="1010451"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輸入層</a:t>
            </a:r>
          </a:p>
        </p:txBody>
      </p:sp>
      <p:sp>
        <p:nvSpPr>
          <p:cNvPr id="31" name="文本框 188"/>
          <p:cNvSpPr txBox="1"/>
          <p:nvPr/>
        </p:nvSpPr>
        <p:spPr>
          <a:xfrm>
            <a:off x="8382897" y="2863429"/>
            <a:ext cx="1113499"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輸出層</a:t>
            </a:r>
          </a:p>
        </p:txBody>
      </p:sp>
      <p:sp>
        <p:nvSpPr>
          <p:cNvPr id="32" name="文本框 189"/>
          <p:cNvSpPr txBox="1"/>
          <p:nvPr/>
        </p:nvSpPr>
        <p:spPr>
          <a:xfrm>
            <a:off x="8367220" y="3954340"/>
            <a:ext cx="999047"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隱含層</a:t>
            </a:r>
          </a:p>
        </p:txBody>
      </p:sp>
      <p:sp>
        <p:nvSpPr>
          <p:cNvPr id="33" name="椭圆 32"/>
          <p:cNvSpPr/>
          <p:nvPr/>
        </p:nvSpPr>
        <p:spPr>
          <a:xfrm>
            <a:off x="5674412" y="2835287"/>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4" name="椭圆 33"/>
          <p:cNvSpPr/>
          <p:nvPr/>
        </p:nvSpPr>
        <p:spPr>
          <a:xfrm>
            <a:off x="6389822" y="2835287"/>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5" name="椭圆 34"/>
          <p:cNvSpPr/>
          <p:nvPr/>
        </p:nvSpPr>
        <p:spPr>
          <a:xfrm>
            <a:off x="7930260" y="286083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36" name="直接箭头连接符 35"/>
          <p:cNvCxnSpPr>
            <a:stCxn id="15" idx="0"/>
            <a:endCxn id="35" idx="4"/>
          </p:cNvCxnSpPr>
          <p:nvPr/>
        </p:nvCxnSpPr>
        <p:spPr>
          <a:xfrm flipV="1">
            <a:off x="5800623" y="3148485"/>
            <a:ext cx="2268904"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p:cNvCxnSpPr>
            <a:stCxn id="16" idx="0"/>
            <a:endCxn id="35" idx="4"/>
          </p:cNvCxnSpPr>
          <p:nvPr/>
        </p:nvCxnSpPr>
        <p:spPr>
          <a:xfrm flipV="1">
            <a:off x="6516033" y="3148485"/>
            <a:ext cx="1553494"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17" idx="0"/>
            <a:endCxn id="33" idx="4"/>
          </p:cNvCxnSpPr>
          <p:nvPr/>
        </p:nvCxnSpPr>
        <p:spPr>
          <a:xfrm flipH="1" flipV="1">
            <a:off x="5813679" y="3122939"/>
            <a:ext cx="2242792" cy="85694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46" name="文本框 45"/>
              <p:cNvSpPr txBox="1"/>
              <p:nvPr/>
            </p:nvSpPr>
            <p:spPr>
              <a:xfrm>
                <a:off x="5241859" y="5558135"/>
                <a:ext cx="38753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46" name="文本框 45"/>
              <p:cNvSpPr txBox="1">
                <a:spLocks noRot="1" noChangeAspect="1" noMove="1" noResize="1" noEditPoints="1" noAdjustHandles="1" noChangeArrowheads="1" noChangeShapeType="1" noTextEdit="1"/>
              </p:cNvSpPr>
              <p:nvPr/>
            </p:nvSpPr>
            <p:spPr>
              <a:xfrm>
                <a:off x="5241859" y="5558135"/>
                <a:ext cx="3875315" cy="461665"/>
              </a:xfrm>
              <a:prstGeom prst="rect">
                <a:avLst/>
              </a:prstGeom>
              <a:blipFill>
                <a:blip r:embed="rId4"/>
                <a:stretch>
                  <a:fillRect/>
                </a:stretch>
              </a:blipFill>
            </p:spPr>
            <p:txBody>
              <a:bodyPr/>
              <a:lstStyle/>
              <a:p>
                <a:r>
                  <a:rPr lang="zh-TW" altLang="en-US">
                    <a:noFill/>
                  </a:rPr>
                  <a:t> </a:t>
                </a:r>
              </a:p>
            </p:txBody>
          </p:sp>
        </mc:Fallback>
      </mc:AlternateContent>
      <p:sp>
        <p:nvSpPr>
          <p:cNvPr id="47" name="文本框 173"/>
          <p:cNvSpPr txBox="1"/>
          <p:nvPr/>
        </p:nvSpPr>
        <p:spPr>
          <a:xfrm>
            <a:off x="7243774" y="5070984"/>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8" name="文本框 173"/>
          <p:cNvSpPr txBox="1"/>
          <p:nvPr/>
        </p:nvSpPr>
        <p:spPr>
          <a:xfrm>
            <a:off x="6918158" y="3828879"/>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0" name="文本框 173"/>
          <p:cNvSpPr txBox="1"/>
          <p:nvPr/>
        </p:nvSpPr>
        <p:spPr>
          <a:xfrm>
            <a:off x="6969943" y="2766563"/>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51" name="直接箭头连接符 50"/>
          <p:cNvCxnSpPr/>
          <p:nvPr/>
        </p:nvCxnSpPr>
        <p:spPr>
          <a:xfrm flipV="1">
            <a:off x="5822388" y="1672416"/>
            <a:ext cx="0" cy="1162871"/>
          </a:xfrm>
          <a:prstGeom prst="straightConnector1">
            <a:avLst/>
          </a:prstGeom>
          <a:noFill/>
          <a:ln w="28575" cap="flat" cmpd="sng" algn="ctr">
            <a:solidFill>
              <a:sysClr val="windowText" lastClr="000000"/>
            </a:solidFill>
            <a:prstDash val="solid"/>
            <a:miter lim="800000"/>
            <a:tailEnd type="triangle"/>
          </a:ln>
          <a:effectLst/>
        </p:spPr>
      </p:cxnSp>
      <p:cxnSp>
        <p:nvCxnSpPr>
          <p:cNvPr id="58" name="直接箭头连接符 57"/>
          <p:cNvCxnSpPr/>
          <p:nvPr/>
        </p:nvCxnSpPr>
        <p:spPr>
          <a:xfrm flipV="1">
            <a:off x="6537798" y="1672416"/>
            <a:ext cx="0" cy="1162871"/>
          </a:xfrm>
          <a:prstGeom prst="straightConnector1">
            <a:avLst/>
          </a:prstGeom>
          <a:noFill/>
          <a:ln w="28575" cap="flat" cmpd="sng" algn="ctr">
            <a:solidFill>
              <a:sysClr val="windowText" lastClr="000000"/>
            </a:solidFill>
            <a:prstDash val="solid"/>
            <a:miter lim="800000"/>
            <a:tailEnd type="triangle"/>
          </a:ln>
          <a:effectLst/>
        </p:spPr>
      </p:cxnSp>
      <p:cxnSp>
        <p:nvCxnSpPr>
          <p:cNvPr id="59" name="直接箭头连接符 58"/>
          <p:cNvCxnSpPr/>
          <p:nvPr/>
        </p:nvCxnSpPr>
        <p:spPr>
          <a:xfrm flipV="1">
            <a:off x="8078236" y="1697962"/>
            <a:ext cx="0" cy="116287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60" name="文本框 59"/>
              <p:cNvSpPr txBox="1"/>
              <p:nvPr/>
            </p:nvSpPr>
            <p:spPr>
              <a:xfrm>
                <a:off x="5624390" y="1117503"/>
                <a:ext cx="38753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60" name="文本框 59"/>
              <p:cNvSpPr txBox="1">
                <a:spLocks noRot="1" noChangeAspect="1" noMove="1" noResize="1" noEditPoints="1" noAdjustHandles="1" noChangeArrowheads="1" noChangeShapeType="1" noTextEdit="1"/>
              </p:cNvSpPr>
              <p:nvPr/>
            </p:nvSpPr>
            <p:spPr>
              <a:xfrm>
                <a:off x="5624390" y="1117503"/>
                <a:ext cx="3875315" cy="461665"/>
              </a:xfrm>
              <a:prstGeom prst="rect">
                <a:avLst/>
              </a:prstGeom>
              <a:blipFill>
                <a:blip r:embed="rId5"/>
                <a:stretch>
                  <a:fillRect/>
                </a:stretch>
              </a:blipFill>
            </p:spPr>
            <p:txBody>
              <a:bodyPr/>
              <a:lstStyle/>
              <a:p>
                <a:r>
                  <a:rPr lang="zh-TW" altLang="en-US">
                    <a:noFill/>
                  </a:rPr>
                  <a:t> </a:t>
                </a:r>
              </a:p>
            </p:txBody>
          </p:sp>
        </mc:Fallback>
      </mc:AlternateContent>
      <p:sp>
        <p:nvSpPr>
          <p:cNvPr id="63" name="矩形 62"/>
          <p:cNvSpPr/>
          <p:nvPr/>
        </p:nvSpPr>
        <p:spPr>
          <a:xfrm>
            <a:off x="5621202" y="2066366"/>
            <a:ext cx="2707947" cy="391886"/>
          </a:xfrm>
          <a:prstGeom prst="rect">
            <a:avLst/>
          </a:prstGeom>
          <a:solidFill>
            <a:srgbClr val="86F260"/>
          </a:solidFill>
          <a:ln w="38100">
            <a:solidFill>
              <a:srgbClr val="FF0000"/>
            </a:solidFill>
          </a:ln>
        </p:spPr>
        <p:style>
          <a:lnRef idx="2">
            <a:schemeClr val="accent1"/>
          </a:lnRef>
          <a:fillRef idx="1">
            <a:schemeClr val="lt1"/>
          </a:fillRef>
          <a:effectRef idx="0">
            <a:schemeClr val="accent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softmax</a:t>
            </a:r>
            <a:endParaRPr kumimoji="0" lang="zh-CN" altLang="en-US" sz="1800" b="0"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54423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A597AC-B986-422B-B87D-E8E04387B129}"/>
              </a:ext>
            </a:extLst>
          </p:cNvPr>
          <p:cNvSpPr>
            <a:spLocks noGrp="1"/>
          </p:cNvSpPr>
          <p:nvPr>
            <p:ph type="title"/>
          </p:nvPr>
        </p:nvSpPr>
        <p:spPr/>
        <p:txBody>
          <a:bodyPr/>
          <a:lstStyle/>
          <a:p>
            <a:r>
              <a:rPr lang="zh-CN" altLang="en-US" dirty="0"/>
              <a:t>全連接網絡（</a:t>
            </a:r>
            <a:r>
              <a:rPr lang="en-US" altLang="zh-CN" dirty="0"/>
              <a:t>Fully-Connected Network</a:t>
            </a:r>
            <a:r>
              <a:rPr lang="zh-CN" altLang="en-US" dirty="0"/>
              <a:t>）</a:t>
            </a:r>
          </a:p>
        </p:txBody>
      </p:sp>
      <p:sp>
        <p:nvSpPr>
          <p:cNvPr id="3" name="内容占位符 2">
            <a:extLst>
              <a:ext uri="{FF2B5EF4-FFF2-40B4-BE49-F238E27FC236}">
                <a16:creationId xmlns:a16="http://schemas.microsoft.com/office/drawing/2014/main" id="{88D28104-8BA1-4CB5-8EE7-DBF701AEF712}"/>
              </a:ext>
            </a:extLst>
          </p:cNvPr>
          <p:cNvSpPr>
            <a:spLocks noGrp="1"/>
          </p:cNvSpPr>
          <p:nvPr>
            <p:ph sz="quarter" idx="1"/>
          </p:nvPr>
        </p:nvSpPr>
        <p:spPr/>
        <p:txBody>
          <a:bodyPr/>
          <a:lstStyle/>
          <a:p>
            <a:r>
              <a:rPr lang="zh-CN" altLang="en-US" dirty="0"/>
              <a:t>術語：全連接網絡，前饋網絡，多層感知機，全連接層，稠密層</a:t>
            </a:r>
          </a:p>
          <a:p>
            <a:endParaRPr lang="zh-CN" altLang="en-US" dirty="0"/>
          </a:p>
        </p:txBody>
      </p:sp>
      <p:pic>
        <p:nvPicPr>
          <p:cNvPr id="4" name="Picture 2" descr="http://neuralnetworksanddeeplearning.com/images/tikz41.png">
            <a:extLst>
              <a:ext uri="{FF2B5EF4-FFF2-40B4-BE49-F238E27FC236}">
                <a16:creationId xmlns:a16="http://schemas.microsoft.com/office/drawing/2014/main" id="{318AA69C-66E5-48B5-A562-84A0CFAF2AE7}"/>
              </a:ext>
            </a:extLst>
          </p:cNvPr>
          <p:cNvPicPr>
            <a:picLocks noChangeAspect="1" noChangeArrowheads="1"/>
          </p:cNvPicPr>
          <p:nvPr/>
        </p:nvPicPr>
        <p:blipFill>
          <a:blip r:embed="rId2" cstate="print"/>
          <a:srcRect/>
          <a:stretch>
            <a:fillRect/>
          </a:stretch>
        </p:blipFill>
        <p:spPr bwMode="auto">
          <a:xfrm>
            <a:off x="3120628" y="1950250"/>
            <a:ext cx="6687714" cy="3331916"/>
          </a:xfrm>
          <a:prstGeom prst="rect">
            <a:avLst/>
          </a:prstGeom>
          <a:noFill/>
        </p:spPr>
      </p:pic>
      <p:sp>
        <p:nvSpPr>
          <p:cNvPr id="5" name="文本框 4">
            <a:extLst>
              <a:ext uri="{FF2B5EF4-FFF2-40B4-BE49-F238E27FC236}">
                <a16:creationId xmlns:a16="http://schemas.microsoft.com/office/drawing/2014/main" id="{90FFE614-BC16-40A1-A981-0CAC9E995F95}"/>
              </a:ext>
            </a:extLst>
          </p:cNvPr>
          <p:cNvSpPr txBox="1"/>
          <p:nvPr/>
        </p:nvSpPr>
        <p:spPr>
          <a:xfrm>
            <a:off x="3025929" y="1983613"/>
            <a:ext cx="1116701"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輸入層</a:t>
            </a:r>
            <a:endParaRPr lang="en-US" altLang="zh-CN" sz="2400" b="1" dirty="0">
              <a:solidFill>
                <a:srgbClr val="FF0000"/>
              </a:solidFill>
            </a:endParaRPr>
          </a:p>
        </p:txBody>
      </p:sp>
      <p:sp>
        <p:nvSpPr>
          <p:cNvPr id="6" name="文本框 5">
            <a:extLst>
              <a:ext uri="{FF2B5EF4-FFF2-40B4-BE49-F238E27FC236}">
                <a16:creationId xmlns:a16="http://schemas.microsoft.com/office/drawing/2014/main" id="{9FADBAC1-AF3C-465D-9188-B876964C6ED5}"/>
              </a:ext>
            </a:extLst>
          </p:cNvPr>
          <p:cNvSpPr txBox="1"/>
          <p:nvPr/>
        </p:nvSpPr>
        <p:spPr>
          <a:xfrm>
            <a:off x="8536492" y="2650923"/>
            <a:ext cx="1255948" cy="341953"/>
          </a:xfrm>
          <a:prstGeom prst="rect">
            <a:avLst/>
          </a:prstGeom>
          <a:solidFill>
            <a:schemeClr val="bg1"/>
          </a:solidFill>
        </p:spPr>
        <p:txBody>
          <a:bodyPr wrap="square" tIns="0" bIns="0" rtlCol="0">
            <a:spAutoFit/>
          </a:bodyPr>
          <a:lstStyle/>
          <a:p>
            <a:pPr algn="ctr">
              <a:lnSpc>
                <a:spcPts val="2600"/>
              </a:lnSpc>
            </a:pPr>
            <a:r>
              <a:rPr lang="zh-CN" altLang="en-US" sz="2400" b="1" dirty="0">
                <a:solidFill>
                  <a:srgbClr val="FF0000"/>
                </a:solidFill>
              </a:rPr>
              <a:t>輸出層</a:t>
            </a:r>
            <a:endParaRPr lang="en-US" altLang="zh-CN" sz="2400" b="1" dirty="0">
              <a:solidFill>
                <a:srgbClr val="FF0000"/>
              </a:solidFill>
            </a:endParaRPr>
          </a:p>
        </p:txBody>
      </p:sp>
      <p:sp>
        <p:nvSpPr>
          <p:cNvPr id="7" name="文本框 6">
            <a:extLst>
              <a:ext uri="{FF2B5EF4-FFF2-40B4-BE49-F238E27FC236}">
                <a16:creationId xmlns:a16="http://schemas.microsoft.com/office/drawing/2014/main" id="{524031C8-F5E0-4534-ABC7-9A1450F52523}"/>
              </a:ext>
            </a:extLst>
          </p:cNvPr>
          <p:cNvSpPr txBox="1"/>
          <p:nvPr/>
        </p:nvSpPr>
        <p:spPr>
          <a:xfrm>
            <a:off x="4200551" y="1884186"/>
            <a:ext cx="1372533"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1</a:t>
            </a:r>
          </a:p>
        </p:txBody>
      </p:sp>
      <p:sp>
        <p:nvSpPr>
          <p:cNvPr id="8" name="文本框 7">
            <a:extLst>
              <a:ext uri="{FF2B5EF4-FFF2-40B4-BE49-F238E27FC236}">
                <a16:creationId xmlns:a16="http://schemas.microsoft.com/office/drawing/2014/main" id="{0C60347C-149D-47D4-9453-4939A86060F0}"/>
              </a:ext>
            </a:extLst>
          </p:cNvPr>
          <p:cNvSpPr txBox="1"/>
          <p:nvPr/>
        </p:nvSpPr>
        <p:spPr>
          <a:xfrm>
            <a:off x="5444979" y="1880347"/>
            <a:ext cx="1448802"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2</a:t>
            </a:r>
          </a:p>
        </p:txBody>
      </p:sp>
      <p:sp>
        <p:nvSpPr>
          <p:cNvPr id="9" name="文本框 8">
            <a:extLst>
              <a:ext uri="{FF2B5EF4-FFF2-40B4-BE49-F238E27FC236}">
                <a16:creationId xmlns:a16="http://schemas.microsoft.com/office/drawing/2014/main" id="{76AFEC4C-5587-4E07-9560-4E9AB328195C}"/>
              </a:ext>
            </a:extLst>
          </p:cNvPr>
          <p:cNvSpPr txBox="1"/>
          <p:nvPr/>
        </p:nvSpPr>
        <p:spPr>
          <a:xfrm>
            <a:off x="6747706" y="1884186"/>
            <a:ext cx="1589195"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3</a:t>
            </a:r>
          </a:p>
        </p:txBody>
      </p:sp>
    </p:spTree>
    <p:extLst>
      <p:ext uri="{BB962C8B-B14F-4D97-AF65-F5344CB8AC3E}">
        <p14:creationId xmlns:p14="http://schemas.microsoft.com/office/powerpoint/2010/main" val="50807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46498-1F4E-4A81-AF32-76679B5FEFDC}"/>
              </a:ext>
            </a:extLst>
          </p:cNvPr>
          <p:cNvSpPr>
            <a:spLocks noGrp="1"/>
          </p:cNvSpPr>
          <p:nvPr>
            <p:ph type="title"/>
          </p:nvPr>
        </p:nvSpPr>
        <p:spPr/>
        <p:txBody>
          <a:bodyPr/>
          <a:lstStyle/>
          <a:p>
            <a:r>
              <a:rPr lang="zh-CN" altLang="en-US" dirty="0"/>
              <a:t>全連接網絡（</a:t>
            </a:r>
            <a:r>
              <a:rPr lang="en-US" altLang="zh-CN" dirty="0"/>
              <a:t>Fully-Connected Network</a:t>
            </a:r>
            <a:r>
              <a:rPr lang="zh-CN" altLang="en-US" dirty="0"/>
              <a:t>）</a:t>
            </a:r>
          </a:p>
        </p:txBody>
      </p:sp>
      <p:pic>
        <p:nvPicPr>
          <p:cNvPr id="4" name="内容占位符 5">
            <a:extLst>
              <a:ext uri="{FF2B5EF4-FFF2-40B4-BE49-F238E27FC236}">
                <a16:creationId xmlns:a16="http://schemas.microsoft.com/office/drawing/2014/main" id="{DE337C7A-7BF5-4D2B-A1AC-DB260E4F49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188" y="1401248"/>
            <a:ext cx="797780" cy="884460"/>
          </a:xfrm>
          <a:prstGeom prst="rect">
            <a:avLst/>
          </a:prstGeom>
        </p:spPr>
      </p:pic>
      <p:pic>
        <p:nvPicPr>
          <p:cNvPr id="5" name="Picture 2" descr="http://neuralnetworksanddeeplearning.com/images/tikz41.png">
            <a:extLst>
              <a:ext uri="{FF2B5EF4-FFF2-40B4-BE49-F238E27FC236}">
                <a16:creationId xmlns:a16="http://schemas.microsoft.com/office/drawing/2014/main" id="{E77B1FBA-7980-4B19-A150-5D9161354715}"/>
              </a:ext>
            </a:extLst>
          </p:cNvPr>
          <p:cNvPicPr>
            <a:picLocks noChangeAspect="1" noChangeArrowheads="1"/>
          </p:cNvPicPr>
          <p:nvPr/>
        </p:nvPicPr>
        <p:blipFill>
          <a:blip r:embed="rId4" cstate="print"/>
          <a:srcRect/>
          <a:stretch>
            <a:fillRect/>
          </a:stretch>
        </p:blipFill>
        <p:spPr bwMode="auto">
          <a:xfrm>
            <a:off x="3120628" y="2039466"/>
            <a:ext cx="6687714" cy="3331916"/>
          </a:xfrm>
          <a:prstGeom prst="rect">
            <a:avLst/>
          </a:prstGeom>
          <a:noFill/>
        </p:spPr>
      </p:pic>
      <p:sp>
        <p:nvSpPr>
          <p:cNvPr id="6" name="文本框 5">
            <a:extLst>
              <a:ext uri="{FF2B5EF4-FFF2-40B4-BE49-F238E27FC236}">
                <a16:creationId xmlns:a16="http://schemas.microsoft.com/office/drawing/2014/main" id="{484A2C22-A21A-42F2-91B1-E0C3E0056E41}"/>
              </a:ext>
            </a:extLst>
          </p:cNvPr>
          <p:cNvSpPr txBox="1"/>
          <p:nvPr/>
        </p:nvSpPr>
        <p:spPr>
          <a:xfrm>
            <a:off x="10718808" y="2829458"/>
            <a:ext cx="615553" cy="2120881"/>
          </a:xfrm>
          <a:prstGeom prst="rect">
            <a:avLst/>
          </a:prstGeom>
          <a:solidFill>
            <a:schemeClr val="bg1"/>
          </a:solidFill>
          <a:ln>
            <a:noFill/>
          </a:ln>
        </p:spPr>
        <p:txBody>
          <a:bodyPr vert="eaVert" wrap="square" rtlCol="0">
            <a:spAutoFit/>
          </a:bodyPr>
          <a:lstStyle/>
          <a:p>
            <a:r>
              <a:rPr lang="zh-CN" altLang="en-US" sz="2800" dirty="0">
                <a:solidFill>
                  <a:srgbClr val="0000FF"/>
                </a:solidFill>
                <a:latin typeface="Perpetua"/>
                <a:ea typeface="宋体" panose="02010600030101010101" pitchFamily="2" charset="-122"/>
              </a:rPr>
              <a:t>貓  狗  兔  鳥</a:t>
            </a:r>
          </a:p>
        </p:txBody>
      </p:sp>
      <p:pic>
        <p:nvPicPr>
          <p:cNvPr id="7" name="图片 6">
            <a:extLst>
              <a:ext uri="{FF2B5EF4-FFF2-40B4-BE49-F238E27FC236}">
                <a16:creationId xmlns:a16="http://schemas.microsoft.com/office/drawing/2014/main" id="{2A2BADE4-E4D1-45C0-997A-BFF1EC5D63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188" y="2444506"/>
            <a:ext cx="797779" cy="1061659"/>
          </a:xfrm>
          <a:prstGeom prst="rect">
            <a:avLst/>
          </a:prstGeom>
        </p:spPr>
      </p:pic>
      <p:pic>
        <p:nvPicPr>
          <p:cNvPr id="8" name="图片 7">
            <a:extLst>
              <a:ext uri="{FF2B5EF4-FFF2-40B4-BE49-F238E27FC236}">
                <a16:creationId xmlns:a16="http://schemas.microsoft.com/office/drawing/2014/main" id="{652CAC09-CE6E-4815-8B10-D5106101E39B}"/>
              </a:ext>
            </a:extLst>
          </p:cNvPr>
          <p:cNvPicPr>
            <a:picLocks noChangeAspect="1"/>
          </p:cNvPicPr>
          <p:nvPr/>
        </p:nvPicPr>
        <p:blipFill>
          <a:blip r:embed="rId6"/>
          <a:stretch>
            <a:fillRect/>
          </a:stretch>
        </p:blipFill>
        <p:spPr>
          <a:xfrm>
            <a:off x="740187" y="3746826"/>
            <a:ext cx="854421" cy="895142"/>
          </a:xfrm>
          <a:prstGeom prst="rect">
            <a:avLst/>
          </a:prstGeom>
        </p:spPr>
      </p:pic>
      <p:pic>
        <p:nvPicPr>
          <p:cNvPr id="9" name="图片 8">
            <a:extLst>
              <a:ext uri="{FF2B5EF4-FFF2-40B4-BE49-F238E27FC236}">
                <a16:creationId xmlns:a16="http://schemas.microsoft.com/office/drawing/2014/main" id="{BFA4F2D0-CECE-4B9D-88CD-135E518F1538}"/>
              </a:ext>
            </a:extLst>
          </p:cNvPr>
          <p:cNvPicPr>
            <a:picLocks noChangeAspect="1"/>
          </p:cNvPicPr>
          <p:nvPr/>
        </p:nvPicPr>
        <p:blipFill>
          <a:blip r:embed="rId7"/>
          <a:stretch>
            <a:fillRect/>
          </a:stretch>
        </p:blipFill>
        <p:spPr>
          <a:xfrm>
            <a:off x="608569" y="4763359"/>
            <a:ext cx="986040" cy="1220457"/>
          </a:xfrm>
          <a:prstGeom prst="rect">
            <a:avLst/>
          </a:prstGeom>
        </p:spPr>
      </p:pic>
      <p:sp>
        <p:nvSpPr>
          <p:cNvPr id="10" name="文本框 9">
            <a:extLst>
              <a:ext uri="{FF2B5EF4-FFF2-40B4-BE49-F238E27FC236}">
                <a16:creationId xmlns:a16="http://schemas.microsoft.com/office/drawing/2014/main" id="{F4D547BD-F23E-4FAD-93F1-24EC70F6F005}"/>
              </a:ext>
            </a:extLst>
          </p:cNvPr>
          <p:cNvSpPr txBox="1"/>
          <p:nvPr/>
        </p:nvSpPr>
        <p:spPr>
          <a:xfrm>
            <a:off x="9751703" y="3160982"/>
            <a:ext cx="972822" cy="1426031"/>
          </a:xfrm>
          <a:prstGeom prst="rect">
            <a:avLst/>
          </a:prstGeom>
          <a:noFill/>
        </p:spPr>
        <p:txBody>
          <a:bodyPr wrap="square" rtlCol="0">
            <a:spAutoFit/>
          </a:bodyPr>
          <a:lstStyle/>
          <a:p>
            <a:pPr>
              <a:lnSpc>
                <a:spcPts val="2600"/>
              </a:lnSpc>
            </a:pPr>
            <a:r>
              <a:rPr lang="en-US" altLang="zh-CN" sz="2000" b="1" dirty="0">
                <a:solidFill>
                  <a:srgbClr val="FF0000"/>
                </a:solidFill>
              </a:rPr>
              <a:t>1</a:t>
            </a:r>
          </a:p>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0</a:t>
            </a:r>
          </a:p>
        </p:txBody>
      </p:sp>
      <p:pic>
        <p:nvPicPr>
          <p:cNvPr id="11" name="内容占位符 5">
            <a:extLst>
              <a:ext uri="{FF2B5EF4-FFF2-40B4-BE49-F238E27FC236}">
                <a16:creationId xmlns:a16="http://schemas.microsoft.com/office/drawing/2014/main" id="{63CB52E3-E0CA-44D9-B81F-8FFBBEEF5A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187" y="1401248"/>
            <a:ext cx="797780" cy="884460"/>
          </a:xfrm>
          <a:prstGeom prst="rect">
            <a:avLst/>
          </a:prstGeom>
        </p:spPr>
      </p:pic>
      <p:pic>
        <p:nvPicPr>
          <p:cNvPr id="12" name="图片 11">
            <a:extLst>
              <a:ext uri="{FF2B5EF4-FFF2-40B4-BE49-F238E27FC236}">
                <a16:creationId xmlns:a16="http://schemas.microsoft.com/office/drawing/2014/main" id="{F4DB94A7-B7A1-49AD-9A75-CA21A8EBB6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188" y="2444505"/>
            <a:ext cx="797779" cy="1061659"/>
          </a:xfrm>
          <a:prstGeom prst="rect">
            <a:avLst/>
          </a:prstGeom>
        </p:spPr>
      </p:pic>
      <p:sp>
        <p:nvSpPr>
          <p:cNvPr id="13" name="文本框 12">
            <a:extLst>
              <a:ext uri="{FF2B5EF4-FFF2-40B4-BE49-F238E27FC236}">
                <a16:creationId xmlns:a16="http://schemas.microsoft.com/office/drawing/2014/main" id="{9E412DF5-7D45-42F3-A8AA-C4689E583F86}"/>
              </a:ext>
            </a:extLst>
          </p:cNvPr>
          <p:cNvSpPr txBox="1"/>
          <p:nvPr/>
        </p:nvSpPr>
        <p:spPr>
          <a:xfrm>
            <a:off x="9751703" y="3144613"/>
            <a:ext cx="972822" cy="1426031"/>
          </a:xfrm>
          <a:prstGeom prst="rect">
            <a:avLst/>
          </a:prstGeom>
          <a:noFill/>
        </p:spPr>
        <p:txBody>
          <a:bodyPr wrap="square" rtlCol="0">
            <a:spAutoFit/>
          </a:bodyPr>
          <a:lstStyle/>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1</a:t>
            </a:r>
          </a:p>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0</a:t>
            </a:r>
          </a:p>
        </p:txBody>
      </p:sp>
      <p:sp>
        <p:nvSpPr>
          <p:cNvPr id="14" name="文本框 13">
            <a:extLst>
              <a:ext uri="{FF2B5EF4-FFF2-40B4-BE49-F238E27FC236}">
                <a16:creationId xmlns:a16="http://schemas.microsoft.com/office/drawing/2014/main" id="{F1283288-F86C-4574-9A33-64BB87D25B6E}"/>
              </a:ext>
            </a:extLst>
          </p:cNvPr>
          <p:cNvSpPr txBox="1"/>
          <p:nvPr/>
        </p:nvSpPr>
        <p:spPr>
          <a:xfrm>
            <a:off x="9751703" y="3152200"/>
            <a:ext cx="972822" cy="1426031"/>
          </a:xfrm>
          <a:prstGeom prst="rect">
            <a:avLst/>
          </a:prstGeom>
          <a:noFill/>
        </p:spPr>
        <p:txBody>
          <a:bodyPr wrap="square" rtlCol="0">
            <a:spAutoFit/>
          </a:bodyPr>
          <a:lstStyle/>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1</a:t>
            </a:r>
          </a:p>
          <a:p>
            <a:pPr>
              <a:lnSpc>
                <a:spcPts val="2600"/>
              </a:lnSpc>
            </a:pPr>
            <a:r>
              <a:rPr lang="en-US" altLang="zh-CN" sz="2000" b="1" dirty="0">
                <a:solidFill>
                  <a:srgbClr val="FF0000"/>
                </a:solidFill>
              </a:rPr>
              <a:t>0</a:t>
            </a:r>
          </a:p>
        </p:txBody>
      </p:sp>
      <p:pic>
        <p:nvPicPr>
          <p:cNvPr id="15" name="图片 14">
            <a:extLst>
              <a:ext uri="{FF2B5EF4-FFF2-40B4-BE49-F238E27FC236}">
                <a16:creationId xmlns:a16="http://schemas.microsoft.com/office/drawing/2014/main" id="{4BAE4A7B-2110-454B-A1DE-53ECAA8C1057}"/>
              </a:ext>
            </a:extLst>
          </p:cNvPr>
          <p:cNvPicPr>
            <a:picLocks noChangeAspect="1"/>
          </p:cNvPicPr>
          <p:nvPr/>
        </p:nvPicPr>
        <p:blipFill>
          <a:blip r:embed="rId6"/>
          <a:stretch>
            <a:fillRect/>
          </a:stretch>
        </p:blipFill>
        <p:spPr>
          <a:xfrm>
            <a:off x="711866" y="3746825"/>
            <a:ext cx="854421" cy="895142"/>
          </a:xfrm>
          <a:prstGeom prst="rect">
            <a:avLst/>
          </a:prstGeom>
        </p:spPr>
      </p:pic>
      <p:sp>
        <p:nvSpPr>
          <p:cNvPr id="16" name="文本框 15">
            <a:extLst>
              <a:ext uri="{FF2B5EF4-FFF2-40B4-BE49-F238E27FC236}">
                <a16:creationId xmlns:a16="http://schemas.microsoft.com/office/drawing/2014/main" id="{6BF69D84-E876-496E-9E00-AFD8D07E959F}"/>
              </a:ext>
            </a:extLst>
          </p:cNvPr>
          <p:cNvSpPr txBox="1"/>
          <p:nvPr/>
        </p:nvSpPr>
        <p:spPr>
          <a:xfrm>
            <a:off x="9751703" y="3138584"/>
            <a:ext cx="972822" cy="1426031"/>
          </a:xfrm>
          <a:prstGeom prst="rect">
            <a:avLst/>
          </a:prstGeom>
          <a:noFill/>
        </p:spPr>
        <p:txBody>
          <a:bodyPr wrap="square" rtlCol="0">
            <a:spAutoFit/>
          </a:bodyPr>
          <a:lstStyle/>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1</a:t>
            </a:r>
          </a:p>
        </p:txBody>
      </p:sp>
      <p:pic>
        <p:nvPicPr>
          <p:cNvPr id="17" name="图片 16">
            <a:extLst>
              <a:ext uri="{FF2B5EF4-FFF2-40B4-BE49-F238E27FC236}">
                <a16:creationId xmlns:a16="http://schemas.microsoft.com/office/drawing/2014/main" id="{80EF5B62-75C0-40E4-813D-99D18788A126}"/>
              </a:ext>
            </a:extLst>
          </p:cNvPr>
          <p:cNvPicPr>
            <a:picLocks noChangeAspect="1"/>
          </p:cNvPicPr>
          <p:nvPr/>
        </p:nvPicPr>
        <p:blipFill>
          <a:blip r:embed="rId7"/>
          <a:stretch>
            <a:fillRect/>
          </a:stretch>
        </p:blipFill>
        <p:spPr>
          <a:xfrm>
            <a:off x="608569" y="4763359"/>
            <a:ext cx="986040" cy="1220457"/>
          </a:xfrm>
          <a:prstGeom prst="rect">
            <a:avLst/>
          </a:prstGeom>
        </p:spPr>
      </p:pic>
      <p:sp>
        <p:nvSpPr>
          <p:cNvPr id="18" name="标题 1">
            <a:extLst>
              <a:ext uri="{FF2B5EF4-FFF2-40B4-BE49-F238E27FC236}">
                <a16:creationId xmlns:a16="http://schemas.microsoft.com/office/drawing/2014/main" id="{DE84BF02-A140-49F3-9C03-A54B566E9579}"/>
              </a:ext>
            </a:extLst>
          </p:cNvPr>
          <p:cNvSpPr txBox="1">
            <a:spLocks/>
          </p:cNvSpPr>
          <p:nvPr/>
        </p:nvSpPr>
        <p:spPr bwMode="auto">
          <a:xfrm>
            <a:off x="2207568" y="5418290"/>
            <a:ext cx="825581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spcBef>
                <a:spcPct val="0"/>
              </a:spcBef>
              <a:spcAft>
                <a:spcPct val="0"/>
              </a:spcAft>
              <a:defRPr sz="36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Arial" pitchFamily="34" charset="0"/>
                <a:ea typeface="宋体" pitchFamily="2" charset="-122"/>
              </a:defRPr>
            </a:lvl2pPr>
            <a:lvl3pPr algn="l" rtl="0" eaLnBrk="0" fontAlgn="base" hangingPunct="0">
              <a:spcBef>
                <a:spcPct val="0"/>
              </a:spcBef>
              <a:spcAft>
                <a:spcPct val="0"/>
              </a:spcAft>
              <a:defRPr sz="3600">
                <a:solidFill>
                  <a:schemeClr val="tx1"/>
                </a:solidFill>
                <a:latin typeface="Arial" pitchFamily="34" charset="0"/>
                <a:ea typeface="宋体" pitchFamily="2" charset="-122"/>
              </a:defRPr>
            </a:lvl3pPr>
            <a:lvl4pPr algn="l" rtl="0" eaLnBrk="0" fontAlgn="base" hangingPunct="0">
              <a:spcBef>
                <a:spcPct val="0"/>
              </a:spcBef>
              <a:spcAft>
                <a:spcPct val="0"/>
              </a:spcAft>
              <a:defRPr sz="3600">
                <a:solidFill>
                  <a:schemeClr val="tx1"/>
                </a:solidFill>
                <a:latin typeface="Arial" pitchFamily="34" charset="0"/>
                <a:ea typeface="宋体" pitchFamily="2" charset="-122"/>
              </a:defRPr>
            </a:lvl4pPr>
            <a:lvl5pPr algn="l" rtl="0" eaLnBrk="0" fontAlgn="base" hangingPunct="0">
              <a:spcBef>
                <a:spcPct val="0"/>
              </a:spcBef>
              <a:spcAft>
                <a:spcPct val="0"/>
              </a:spcAft>
              <a:defRPr sz="3600">
                <a:solidFill>
                  <a:schemeClr val="tx1"/>
                </a:solidFill>
                <a:latin typeface="Arial" pitchFamily="34" charset="0"/>
                <a:ea typeface="宋体" pitchFamily="2" charset="-122"/>
              </a:defRPr>
            </a:lvl5pPr>
            <a:lvl6pPr marL="457200" algn="l" rtl="0" fontAlgn="base">
              <a:spcBef>
                <a:spcPct val="0"/>
              </a:spcBef>
              <a:spcAft>
                <a:spcPct val="0"/>
              </a:spcAft>
              <a:defRPr sz="3600">
                <a:solidFill>
                  <a:schemeClr val="tx1"/>
                </a:solidFill>
                <a:latin typeface="Arial" pitchFamily="34" charset="0"/>
                <a:ea typeface="宋体" pitchFamily="2" charset="-122"/>
              </a:defRPr>
            </a:lvl6pPr>
            <a:lvl7pPr marL="914400" algn="l" rtl="0" fontAlgn="base">
              <a:spcBef>
                <a:spcPct val="0"/>
              </a:spcBef>
              <a:spcAft>
                <a:spcPct val="0"/>
              </a:spcAft>
              <a:defRPr sz="3600">
                <a:solidFill>
                  <a:schemeClr val="tx1"/>
                </a:solidFill>
                <a:latin typeface="Arial" pitchFamily="34" charset="0"/>
                <a:ea typeface="宋体" pitchFamily="2" charset="-122"/>
              </a:defRPr>
            </a:lvl7pPr>
            <a:lvl8pPr marL="1371600" algn="l" rtl="0" fontAlgn="base">
              <a:spcBef>
                <a:spcPct val="0"/>
              </a:spcBef>
              <a:spcAft>
                <a:spcPct val="0"/>
              </a:spcAft>
              <a:defRPr sz="3600">
                <a:solidFill>
                  <a:schemeClr val="tx1"/>
                </a:solidFill>
                <a:latin typeface="Arial" pitchFamily="34" charset="0"/>
                <a:ea typeface="宋体" pitchFamily="2" charset="-122"/>
              </a:defRPr>
            </a:lvl8pPr>
            <a:lvl9pPr marL="1828800" algn="l" rtl="0" fontAlgn="base">
              <a:spcBef>
                <a:spcPct val="0"/>
              </a:spcBef>
              <a:spcAft>
                <a:spcPct val="0"/>
              </a:spcAft>
              <a:defRPr sz="3600">
                <a:solidFill>
                  <a:schemeClr val="tx1"/>
                </a:solidFill>
                <a:latin typeface="Arial" pitchFamily="34" charset="0"/>
                <a:ea typeface="宋体" pitchFamily="2" charset="-122"/>
              </a:defRPr>
            </a:lvl9pPr>
          </a:lstStyle>
          <a:p>
            <a:pPr algn="ctr" eaLnBrk="1" hangingPunct="1">
              <a:defRPr/>
            </a:pPr>
            <a:r>
              <a:rPr lang="zh-CN" altLang="en-US" sz="3200" b="1" kern="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如何得到這樣的效果呢？</a:t>
            </a:r>
            <a:endParaRPr lang="en-US" altLang="zh-CN" sz="3200" b="1" kern="0" dirty="0">
              <a:solidFill>
                <a:srgbClr val="00206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9" name="文本框 18">
            <a:extLst>
              <a:ext uri="{FF2B5EF4-FFF2-40B4-BE49-F238E27FC236}">
                <a16:creationId xmlns:a16="http://schemas.microsoft.com/office/drawing/2014/main" id="{C597DF14-8F70-4E85-A70D-2B864F43BA40}"/>
              </a:ext>
            </a:extLst>
          </p:cNvPr>
          <p:cNvSpPr txBox="1"/>
          <p:nvPr/>
        </p:nvSpPr>
        <p:spPr>
          <a:xfrm>
            <a:off x="3025929" y="2072829"/>
            <a:ext cx="1116701"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輸入層</a:t>
            </a:r>
            <a:endParaRPr lang="en-US" altLang="zh-CN" sz="2400" b="1" dirty="0">
              <a:solidFill>
                <a:srgbClr val="FF0000"/>
              </a:solidFill>
            </a:endParaRPr>
          </a:p>
        </p:txBody>
      </p:sp>
      <p:sp>
        <p:nvSpPr>
          <p:cNvPr id="20" name="文本框 19">
            <a:extLst>
              <a:ext uri="{FF2B5EF4-FFF2-40B4-BE49-F238E27FC236}">
                <a16:creationId xmlns:a16="http://schemas.microsoft.com/office/drawing/2014/main" id="{4A62175C-A4BD-43C9-9E84-1506CF6C2850}"/>
              </a:ext>
            </a:extLst>
          </p:cNvPr>
          <p:cNvSpPr txBox="1"/>
          <p:nvPr/>
        </p:nvSpPr>
        <p:spPr>
          <a:xfrm>
            <a:off x="8536492" y="2740139"/>
            <a:ext cx="1255948" cy="341953"/>
          </a:xfrm>
          <a:prstGeom prst="rect">
            <a:avLst/>
          </a:prstGeom>
          <a:solidFill>
            <a:schemeClr val="bg1"/>
          </a:solidFill>
        </p:spPr>
        <p:txBody>
          <a:bodyPr wrap="square" tIns="0" bIns="0" rtlCol="0">
            <a:spAutoFit/>
          </a:bodyPr>
          <a:lstStyle/>
          <a:p>
            <a:pPr algn="ctr">
              <a:lnSpc>
                <a:spcPts val="2600"/>
              </a:lnSpc>
            </a:pPr>
            <a:r>
              <a:rPr lang="zh-CN" altLang="en-US" sz="2400" b="1" dirty="0">
                <a:solidFill>
                  <a:srgbClr val="FF0000"/>
                </a:solidFill>
              </a:rPr>
              <a:t>輸出層</a:t>
            </a:r>
            <a:endParaRPr lang="en-US" altLang="zh-CN" sz="2400" b="1" dirty="0">
              <a:solidFill>
                <a:srgbClr val="FF0000"/>
              </a:solidFill>
            </a:endParaRPr>
          </a:p>
        </p:txBody>
      </p:sp>
      <p:sp>
        <p:nvSpPr>
          <p:cNvPr id="21" name="文本框 20">
            <a:extLst>
              <a:ext uri="{FF2B5EF4-FFF2-40B4-BE49-F238E27FC236}">
                <a16:creationId xmlns:a16="http://schemas.microsoft.com/office/drawing/2014/main" id="{43FDD557-A7AB-4B1B-A99F-ECB98958766A}"/>
              </a:ext>
            </a:extLst>
          </p:cNvPr>
          <p:cNvSpPr txBox="1"/>
          <p:nvPr/>
        </p:nvSpPr>
        <p:spPr>
          <a:xfrm>
            <a:off x="4200551" y="1973402"/>
            <a:ext cx="1372533"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1</a:t>
            </a:r>
          </a:p>
        </p:txBody>
      </p:sp>
      <p:sp>
        <p:nvSpPr>
          <p:cNvPr id="22" name="文本框 21">
            <a:extLst>
              <a:ext uri="{FF2B5EF4-FFF2-40B4-BE49-F238E27FC236}">
                <a16:creationId xmlns:a16="http://schemas.microsoft.com/office/drawing/2014/main" id="{8157E2E3-272E-47D9-9E4C-60563DD8819B}"/>
              </a:ext>
            </a:extLst>
          </p:cNvPr>
          <p:cNvSpPr txBox="1"/>
          <p:nvPr/>
        </p:nvSpPr>
        <p:spPr>
          <a:xfrm>
            <a:off x="5444979" y="1969563"/>
            <a:ext cx="1448802"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2</a:t>
            </a:r>
          </a:p>
        </p:txBody>
      </p:sp>
      <p:sp>
        <p:nvSpPr>
          <p:cNvPr id="23" name="文本框 22">
            <a:extLst>
              <a:ext uri="{FF2B5EF4-FFF2-40B4-BE49-F238E27FC236}">
                <a16:creationId xmlns:a16="http://schemas.microsoft.com/office/drawing/2014/main" id="{4A3CAAB2-51E1-4A94-BBCB-CC46749FC14C}"/>
              </a:ext>
            </a:extLst>
          </p:cNvPr>
          <p:cNvSpPr txBox="1"/>
          <p:nvPr/>
        </p:nvSpPr>
        <p:spPr>
          <a:xfrm>
            <a:off x="6747706" y="1973402"/>
            <a:ext cx="1589195"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3</a:t>
            </a:r>
          </a:p>
        </p:txBody>
      </p:sp>
      <p:cxnSp>
        <p:nvCxnSpPr>
          <p:cNvPr id="24" name="直接箭头连接符 23">
            <a:extLst>
              <a:ext uri="{FF2B5EF4-FFF2-40B4-BE49-F238E27FC236}">
                <a16:creationId xmlns:a16="http://schemas.microsoft.com/office/drawing/2014/main" id="{FD58C936-C61B-49EE-99D4-03C6E53E9FEF}"/>
              </a:ext>
            </a:extLst>
          </p:cNvPr>
          <p:cNvCxnSpPr/>
          <p:nvPr/>
        </p:nvCxnSpPr>
        <p:spPr>
          <a:xfrm flipV="1">
            <a:off x="10296939" y="3138584"/>
            <a:ext cx="508884" cy="21861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85F02E2D-1715-4EC2-A274-9A55C7F225B1}"/>
              </a:ext>
            </a:extLst>
          </p:cNvPr>
          <p:cNvCxnSpPr/>
          <p:nvPr/>
        </p:nvCxnSpPr>
        <p:spPr>
          <a:xfrm flipV="1">
            <a:off x="10266117" y="3625776"/>
            <a:ext cx="483646" cy="2239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5B51706-B12D-4335-89FF-99520B94F125}"/>
              </a:ext>
            </a:extLst>
          </p:cNvPr>
          <p:cNvCxnSpPr/>
          <p:nvPr/>
        </p:nvCxnSpPr>
        <p:spPr>
          <a:xfrm>
            <a:off x="10266117" y="4040358"/>
            <a:ext cx="508884" cy="4690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606E2021-288B-4939-8809-35AD5808A8BA}"/>
              </a:ext>
            </a:extLst>
          </p:cNvPr>
          <p:cNvCxnSpPr/>
          <p:nvPr/>
        </p:nvCxnSpPr>
        <p:spPr>
          <a:xfrm>
            <a:off x="10266117" y="4372938"/>
            <a:ext cx="534122" cy="184854"/>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62409CA2-9D2F-4E05-A0A7-66EAE0F89C25}"/>
              </a:ext>
            </a:extLst>
          </p:cNvPr>
          <p:cNvSpPr txBox="1"/>
          <p:nvPr/>
        </p:nvSpPr>
        <p:spPr>
          <a:xfrm>
            <a:off x="10787274" y="2813556"/>
            <a:ext cx="615553" cy="2120881"/>
          </a:xfrm>
          <a:prstGeom prst="rect">
            <a:avLst/>
          </a:prstGeom>
          <a:solidFill>
            <a:schemeClr val="bg1"/>
          </a:solidFill>
          <a:ln>
            <a:noFill/>
          </a:ln>
        </p:spPr>
        <p:txBody>
          <a:bodyPr vert="eaVert" wrap="square" rtlCol="0">
            <a:spAutoFit/>
          </a:bodyPr>
          <a:lstStyle/>
          <a:p>
            <a:r>
              <a:rPr lang="zh-CN" altLang="en-US" sz="2800" b="1" dirty="0">
                <a:solidFill>
                  <a:srgbClr val="FF0000"/>
                </a:solidFill>
                <a:latin typeface="Perpetua"/>
                <a:ea typeface="宋体" panose="02010600030101010101" pitchFamily="2" charset="-122"/>
              </a:rPr>
              <a:t>貓</a:t>
            </a:r>
            <a:r>
              <a:rPr lang="zh-CN" altLang="en-US" sz="2800" dirty="0">
                <a:solidFill>
                  <a:srgbClr val="0000FF"/>
                </a:solidFill>
                <a:latin typeface="Perpetua"/>
                <a:ea typeface="宋体" panose="02010600030101010101" pitchFamily="2" charset="-122"/>
              </a:rPr>
              <a:t>  狗  兔  鳥</a:t>
            </a:r>
          </a:p>
        </p:txBody>
      </p:sp>
      <p:sp>
        <p:nvSpPr>
          <p:cNvPr id="29" name="文本框 28">
            <a:extLst>
              <a:ext uri="{FF2B5EF4-FFF2-40B4-BE49-F238E27FC236}">
                <a16:creationId xmlns:a16="http://schemas.microsoft.com/office/drawing/2014/main" id="{8C0A4E6F-2C47-4034-B174-B34346F1D592}"/>
              </a:ext>
            </a:extLst>
          </p:cNvPr>
          <p:cNvSpPr txBox="1"/>
          <p:nvPr/>
        </p:nvSpPr>
        <p:spPr>
          <a:xfrm>
            <a:off x="10787273" y="2848301"/>
            <a:ext cx="615553" cy="2120881"/>
          </a:xfrm>
          <a:prstGeom prst="rect">
            <a:avLst/>
          </a:prstGeom>
          <a:solidFill>
            <a:schemeClr val="bg1"/>
          </a:solidFill>
          <a:ln>
            <a:noFill/>
          </a:ln>
        </p:spPr>
        <p:txBody>
          <a:bodyPr vert="eaVert" wrap="square" rtlCol="0">
            <a:spAutoFit/>
          </a:bodyPr>
          <a:lstStyle/>
          <a:p>
            <a:r>
              <a:rPr lang="zh-CN" altLang="en-US" sz="2800" dirty="0">
                <a:solidFill>
                  <a:srgbClr val="0000FF"/>
                </a:solidFill>
                <a:latin typeface="Perpetua"/>
                <a:ea typeface="宋体" panose="02010600030101010101" pitchFamily="2" charset="-122"/>
              </a:rPr>
              <a:t>貓  </a:t>
            </a:r>
            <a:r>
              <a:rPr lang="zh-CN" altLang="en-US" sz="2800" b="1" dirty="0">
                <a:solidFill>
                  <a:srgbClr val="FF0000"/>
                </a:solidFill>
                <a:latin typeface="Perpetua"/>
                <a:ea typeface="宋体" panose="02010600030101010101" pitchFamily="2" charset="-122"/>
              </a:rPr>
              <a:t>狗</a:t>
            </a:r>
            <a:r>
              <a:rPr lang="zh-CN" altLang="en-US" sz="2800" dirty="0">
                <a:solidFill>
                  <a:srgbClr val="0000FF"/>
                </a:solidFill>
                <a:latin typeface="Perpetua"/>
                <a:ea typeface="宋体" panose="02010600030101010101" pitchFamily="2" charset="-122"/>
              </a:rPr>
              <a:t>  兔  鳥</a:t>
            </a:r>
          </a:p>
        </p:txBody>
      </p:sp>
      <p:sp>
        <p:nvSpPr>
          <p:cNvPr id="30" name="文本框 29">
            <a:extLst>
              <a:ext uri="{FF2B5EF4-FFF2-40B4-BE49-F238E27FC236}">
                <a16:creationId xmlns:a16="http://schemas.microsoft.com/office/drawing/2014/main" id="{B6BB7908-0703-4095-B4F2-B46E69163B89}"/>
              </a:ext>
            </a:extLst>
          </p:cNvPr>
          <p:cNvSpPr txBox="1"/>
          <p:nvPr/>
        </p:nvSpPr>
        <p:spPr>
          <a:xfrm>
            <a:off x="10816638" y="2856251"/>
            <a:ext cx="615553" cy="2120881"/>
          </a:xfrm>
          <a:prstGeom prst="rect">
            <a:avLst/>
          </a:prstGeom>
          <a:solidFill>
            <a:schemeClr val="bg1"/>
          </a:solidFill>
          <a:ln>
            <a:noFill/>
          </a:ln>
        </p:spPr>
        <p:txBody>
          <a:bodyPr vert="eaVert" wrap="square" rtlCol="0">
            <a:spAutoFit/>
          </a:bodyPr>
          <a:lstStyle/>
          <a:p>
            <a:r>
              <a:rPr lang="zh-CN" altLang="en-US" sz="2800" dirty="0">
                <a:solidFill>
                  <a:srgbClr val="0000FF"/>
                </a:solidFill>
                <a:latin typeface="Perpetua"/>
                <a:ea typeface="宋体" panose="02010600030101010101" pitchFamily="2" charset="-122"/>
              </a:rPr>
              <a:t>貓  狗  </a:t>
            </a:r>
            <a:r>
              <a:rPr lang="zh-CN" altLang="en-US" sz="2800" b="1" dirty="0">
                <a:solidFill>
                  <a:srgbClr val="FF0000"/>
                </a:solidFill>
                <a:latin typeface="Perpetua"/>
                <a:ea typeface="宋体" panose="02010600030101010101" pitchFamily="2" charset="-122"/>
              </a:rPr>
              <a:t>兔</a:t>
            </a:r>
            <a:r>
              <a:rPr lang="zh-CN" altLang="en-US" sz="2800" dirty="0">
                <a:solidFill>
                  <a:srgbClr val="0000FF"/>
                </a:solidFill>
                <a:latin typeface="Perpetua"/>
                <a:ea typeface="宋体" panose="02010600030101010101" pitchFamily="2" charset="-122"/>
              </a:rPr>
              <a:t>  鳥</a:t>
            </a:r>
          </a:p>
        </p:txBody>
      </p:sp>
      <p:sp>
        <p:nvSpPr>
          <p:cNvPr id="31" name="文本框 30">
            <a:extLst>
              <a:ext uri="{FF2B5EF4-FFF2-40B4-BE49-F238E27FC236}">
                <a16:creationId xmlns:a16="http://schemas.microsoft.com/office/drawing/2014/main" id="{E2352D35-5AF8-4620-A1AD-6FAAEC3AA2DF}"/>
              </a:ext>
            </a:extLst>
          </p:cNvPr>
          <p:cNvSpPr txBox="1"/>
          <p:nvPr/>
        </p:nvSpPr>
        <p:spPr>
          <a:xfrm>
            <a:off x="10797519" y="2864201"/>
            <a:ext cx="615553" cy="2120881"/>
          </a:xfrm>
          <a:prstGeom prst="rect">
            <a:avLst/>
          </a:prstGeom>
          <a:solidFill>
            <a:schemeClr val="bg1"/>
          </a:solidFill>
          <a:ln>
            <a:noFill/>
          </a:ln>
        </p:spPr>
        <p:txBody>
          <a:bodyPr vert="eaVert" wrap="square" rtlCol="0">
            <a:spAutoFit/>
          </a:bodyPr>
          <a:lstStyle/>
          <a:p>
            <a:r>
              <a:rPr lang="zh-CN" altLang="en-US" sz="2800" dirty="0">
                <a:solidFill>
                  <a:srgbClr val="0000FF"/>
                </a:solidFill>
                <a:latin typeface="Perpetua"/>
                <a:ea typeface="宋体" panose="02010600030101010101" pitchFamily="2" charset="-122"/>
              </a:rPr>
              <a:t>貓  狗  兔  </a:t>
            </a:r>
            <a:r>
              <a:rPr lang="zh-CN" altLang="en-US" sz="2800" b="1" dirty="0">
                <a:solidFill>
                  <a:srgbClr val="FF0000"/>
                </a:solidFill>
                <a:latin typeface="Perpetua"/>
                <a:ea typeface="宋体" panose="02010600030101010101" pitchFamily="2" charset="-122"/>
              </a:rPr>
              <a:t>鳥</a:t>
            </a:r>
          </a:p>
        </p:txBody>
      </p:sp>
    </p:spTree>
    <p:extLst>
      <p:ext uri="{BB962C8B-B14F-4D97-AF65-F5344CB8AC3E}">
        <p14:creationId xmlns:p14="http://schemas.microsoft.com/office/powerpoint/2010/main" val="245312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4362 0.01435 L 0.04362 0.01458 C 0.04518 0.01921 0.0474 0.02361 0.04844 0.0294 C 0.04987 0.03681 0.04883 0.03333 0.05117 0.03981 C 0.0513 0.04097 0.05143 0.04213 0.05169 0.04329 C 0.05208 0.04491 0.05273 0.0463 0.05338 0.04792 C 0.05391 0.04977 0.05443 0.05162 0.05495 0.0537 C 0.05586 0.06111 0.05495 0.05579 0.05716 0.06412 C 0.05742 0.06551 0.05781 0.06713 0.0582 0.06875 C 0.05963 0.07454 0.05977 0.07407 0.06146 0.07917 C 0.06159 0.08148 0.06159 0.0838 0.06198 0.08611 C 0.06237 0.08819 0.06315 0.09005 0.06367 0.0919 C 0.06393 0.09352 0.06432 0.09514 0.06471 0.09653 C 0.06628 0.10231 0.06628 0.10208 0.06797 0.10694 C 0.0681 0.10903 0.0681 0.11088 0.06862 0.11273 C 0.06888 0.11458 0.06966 0.11574 0.07018 0.11736 C 0.0707 0.11921 0.07122 0.1213 0.07187 0.12315 C 0.07227 0.12477 0.07292 0.12616 0.07344 0.12778 C 0.07383 0.1294 0.07409 0.13102 0.07448 0.13241 C 0.07513 0.13449 0.07565 0.13634 0.07617 0.13819 C 0.07643 0.13935 0.07643 0.14074 0.07669 0.14167 C 0.07708 0.14375 0.07773 0.1456 0.07838 0.14745 C 0.07917 0.15741 0.07825 0.14954 0.08047 0.16042 C 0.08073 0.16134 0.08073 0.16273 0.08112 0.16389 C 0.08151 0.16505 0.08216 0.1662 0.08268 0.16736 C 0.08411 0.17639 0.08307 0.17222 0.08542 0.18009 C 0.08659 0.19051 0.0849 0.17778 0.08815 0.19167 C 0.08841 0.19306 0.08867 0.19491 0.08919 0.1963 C 0.08958 0.19722 0.09023 0.19792 0.09088 0.19861 C 0.09258 0.20625 0.09141 0.20208 0.09518 0.21019 C 0.0957 0.21134 0.09622 0.21273 0.09687 0.21366 L 0.10013 0.21829 C 0.10208 0.22477 0.10026 0.21991 0.10495 0.22639 C 0.11081 0.23449 0.10391 0.22546 0.10872 0.23333 C 0.10963 0.23472 0.11068 0.23565 0.11146 0.23681 C 0.11575 0.24282 0.11159 0.23819 0.11588 0.24259 C 0.11667 0.24421 0.11732 0.24583 0.11797 0.24722 C 0.11862 0.24815 0.11914 0.24884 0.11966 0.24954 C 0.12044 0.25069 0.12122 0.25185 0.12187 0.25301 C 0.12617 0.26134 0.12344 0.2588 0.12669 0.26111 C 0.12721 0.26227 0.12734 0.26366 0.12786 0.26458 C 0.12878 0.26644 0.13112 0.26921 0.13112 0.26944 C 0.13503 0.28171 0.12891 0.26296 0.13372 0.27616 C 0.13463 0.27847 0.13529 0.28079 0.13594 0.2831 C 0.13737 0.2875 0.13685 0.28542 0.13776 0.28912 L 0.13776 0.28935 " pathEditMode="relative" rAng="0" ptsTypes="AAAAAAAAAAAAAAAAAAAAAAAAAAAAAAAAAAAAAAAAAAAAAA">
                                      <p:cBhvr>
                                        <p:cTn id="18" dur="2000" fill="hold"/>
                                        <p:tgtEl>
                                          <p:spTgt spid="4"/>
                                        </p:tgtEl>
                                        <p:attrNameLst>
                                          <p:attrName>ppt_x</p:attrName>
                                          <p:attrName>ppt_y</p:attrName>
                                        </p:attrNameLst>
                                      </p:cBhvr>
                                      <p:rCtr x="4701" y="13750"/>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4"/>
                                        </p:tgtEl>
                                      </p:cBhvr>
                                    </p:animEffect>
                                    <p:set>
                                      <p:cBhvr>
                                        <p:cTn id="29" dur="1" fill="hold">
                                          <p:stCondLst>
                                            <p:cond delay="499"/>
                                          </p:stCondLst>
                                        </p:cTn>
                                        <p:tgtEl>
                                          <p:spTgt spid="4"/>
                                        </p:tgtEl>
                                        <p:attrNameLst>
                                          <p:attrName>style.visibility</p:attrName>
                                        </p:attrNameLst>
                                      </p:cBhvr>
                                      <p:to>
                                        <p:strVal val="hidden"/>
                                      </p:to>
                                    </p:se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 presetClass="exit" presetSubtype="0" fill="hold" grpId="1"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0.04492 0.16389 L 0.04492 0.16412 C 0.04753 0.16782 0.05182 0.17407 0.05404 0.17894 C 0.05482 0.18079 0.0556 0.1831 0.05664 0.18472 C 0.05781 0.18657 0.06055 0.18935 0.06055 0.18958 C 0.06094 0.19051 0.0612 0.1919 0.06185 0.19282 C 0.06302 0.19468 0.06575 0.19745 0.06575 0.19769 C 0.06849 0.20486 0.06536 0.19745 0.06901 0.20324 C 0.0763 0.21481 0.07096 0.20833 0.07552 0.21366 C 0.07917 0.22361 0.07305 0.20833 0.08073 0.22176 C 0.08333 0.22639 0.0819 0.22454 0.08529 0.22755 C 0.08659 0.22986 0.08763 0.23264 0.08919 0.23449 C 0.08984 0.23519 0.09049 0.23588 0.09115 0.23681 C 0.0918 0.23796 0.09245 0.23935 0.0931 0.24028 C 0.09375 0.2412 0.0944 0.24167 0.09505 0.24259 C 0.09831 0.24745 0.09557 0.24514 0.09896 0.24722 C 0.09987 0.24838 0.10065 0.24954 0.10156 0.25069 C 0.10221 0.25162 0.10286 0.25208 0.10352 0.25301 C 0.1043 0.25417 0.10482 0.25556 0.10547 0.25648 C 0.10833 0.26042 0.10911 0.26088 0.11198 0.26343 C 0.1125 0.26458 0.11276 0.2662 0.11328 0.2669 C 0.11393 0.26806 0.11836 0.26921 0.11849 0.26921 C 0.12448 0.27176 0.11745 0.26991 0.12825 0.27153 C 0.13359 0.27361 0.13047 0.27222 0.13737 0.27616 L 0.13932 0.27731 C 0.1401 0.28148 0.13958 0.28009 0.14075 0.28218 L 0.14075 0.28241 " pathEditMode="relative" rAng="0" ptsTypes="AAAAAAAAAAAAAAAAAAAAAAAAAAA">
                                      <p:cBhvr>
                                        <p:cTn id="40" dur="2000" fill="hold"/>
                                        <p:tgtEl>
                                          <p:spTgt spid="4"/>
                                        </p:tgtEl>
                                        <p:attrNameLst>
                                          <p:attrName>ppt_x</p:attrName>
                                          <p:attrName>ppt_y</p:attrName>
                                        </p:attrNameLst>
                                      </p:cBhvr>
                                      <p:rCtr x="4792" y="5926"/>
                                    </p:animMotion>
                                  </p:childTnLst>
                                </p:cTn>
                              </p:par>
                              <p:par>
                                <p:cTn id="41" presetID="0" presetClass="path" presetSubtype="0" accel="50000" decel="50000" fill="hold" nodeType="withEffect">
                                  <p:stCondLst>
                                    <p:cond delay="0"/>
                                  </p:stCondLst>
                                  <p:childTnLst>
                                    <p:animMotion origin="layout" path="M 0.04492 -0.00116 L 0.04492 -0.00093 C 0.04753 0.00277 0.05182 0.00902 0.05404 0.01389 C 0.05482 0.01574 0.0556 0.01805 0.05664 0.01967 C 0.05781 0.02152 0.06055 0.0243 0.06055 0.02453 C 0.06094 0.02546 0.0612 0.02685 0.06185 0.02777 C 0.06302 0.02963 0.06575 0.0324 0.06575 0.03264 C 0.06849 0.03981 0.06536 0.0324 0.06901 0.03819 C 0.0763 0.04976 0.07096 0.04328 0.07552 0.04861 C 0.07917 0.05856 0.07305 0.04328 0.08073 0.05671 C 0.08333 0.06134 0.0819 0.05949 0.08529 0.0625 C 0.08659 0.06481 0.08763 0.06759 0.08919 0.06944 C 0.08984 0.07014 0.09049 0.07083 0.09115 0.07176 C 0.0918 0.07291 0.09245 0.0743 0.0931 0.07523 C 0.09375 0.07615 0.0944 0.07662 0.09505 0.07754 C 0.09831 0.0824 0.09557 0.08009 0.09896 0.08217 C 0.09987 0.08333 0.10065 0.08449 0.10156 0.08564 C 0.10221 0.08657 0.10286 0.08703 0.10352 0.08796 C 0.1043 0.08912 0.10482 0.09051 0.10547 0.09143 C 0.10833 0.09537 0.10911 0.09583 0.11198 0.09838 C 0.1125 0.09953 0.11276 0.10115 0.11328 0.10185 C 0.11393 0.10301 0.11836 0.10416 0.11849 0.10416 C 0.12448 0.10671 0.11745 0.10486 0.12825 0.10648 C 0.13359 0.10856 0.13047 0.10717 0.13737 0.11111 L 0.13932 0.11226 C 0.1401 0.11643 0.13958 0.11504 0.14075 0.11713 L 0.14075 0.11736 " pathEditMode="relative" rAng="0" ptsTypes="AAAAAAAAAAAAAAAAAAAAAAAAAAA">
                                      <p:cBhvr>
                                        <p:cTn id="42" dur="2000" fill="hold"/>
                                        <p:tgtEl>
                                          <p:spTgt spid="7"/>
                                        </p:tgtEl>
                                        <p:attrNameLst>
                                          <p:attrName>ppt_x</p:attrName>
                                          <p:attrName>ppt_y</p:attrName>
                                        </p:attrNameLst>
                                      </p:cBhvr>
                                      <p:rCtr x="4792" y="5926"/>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500"/>
                                        <p:tgtEl>
                                          <p:spTgt spid="7"/>
                                        </p:tgtEl>
                                      </p:cBhvr>
                                    </p:animEffect>
                                    <p:set>
                                      <p:cBhvr>
                                        <p:cTn id="53" dur="1" fill="hold">
                                          <p:stCondLst>
                                            <p:cond delay="499"/>
                                          </p:stCondLst>
                                        </p:cTn>
                                        <p:tgtEl>
                                          <p:spTgt spid="7"/>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12"/>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13"/>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29"/>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0" presetClass="path" presetSubtype="0" accel="50000" decel="50000" fill="hold" nodeType="clickEffect">
                                  <p:stCondLst>
                                    <p:cond delay="0"/>
                                  </p:stCondLst>
                                  <p:childTnLst>
                                    <p:animMotion origin="layout" path="M 0.05013 0.18912 L 0.05013 0.18935 C 0.05378 0.18865 0.05742 0.18865 0.0612 0.18773 C 0.06341 0.1875 0.06549 0.18611 0.06771 0.18541 C 0.06953 0.18495 0.07227 0.18426 0.07422 0.1831 C 0.07526 0.18264 0.0763 0.18171 0.07747 0.18078 C 0.07812 0.18055 0.07878 0.18032 0.07943 0.17963 C 0.08008 0.17916 0.0806 0.17801 0.08138 0.17731 C 0.08203 0.17685 0.08268 0.17685 0.08333 0.17615 C 0.08398 0.17569 0.08463 0.17453 0.08529 0.17384 C 0.08607 0.17314 0.08711 0.17268 0.08789 0.17152 C 0.08867 0.1706 0.08919 0.16921 0.08984 0.16805 C 0.09479 0.16041 0.0901 0.16828 0.09505 0.16226 C 0.09648 0.16064 0.09857 0.15694 0.10026 0.15532 C 0.1013 0.15439 0.10247 0.1537 0.10352 0.15301 C 0.10391 0.15185 0.10417 0.15046 0.10482 0.14953 C 0.10534 0.14884 0.10625 0.14907 0.10677 0.14838 C 0.1082 0.14699 0.10937 0.14537 0.11068 0.14375 L 0.11458 0.13912 C 0.11523 0.13819 0.11588 0.13726 0.11654 0.1368 L 0.11849 0.13564 C 0.11901 0.13449 0.11914 0.13287 0.11979 0.13217 C 0.12096 0.13078 0.1224 0.13055 0.1237 0.12986 C 0.12656 0.12824 0.125 0.12893 0.12825 0.12754 C 0.12891 0.12662 0.12956 0.12569 0.13021 0.12523 C 0.13086 0.12453 0.13164 0.12476 0.13216 0.12407 C 0.13294 0.12314 0.13346 0.12152 0.13411 0.1206 C 0.13581 0.11805 0.13607 0.11828 0.13802 0.11713 L 0.1401 0.11481 L 0.1401 0.11504 L 0.1401 0.11481 " pathEditMode="relative" rAng="0" ptsTypes="AAAAAAAAAAAAAAAAAAAAAAAAAAAAAAA">
                                      <p:cBhvr>
                                        <p:cTn id="63" dur="2000" fill="hold"/>
                                        <p:tgtEl>
                                          <p:spTgt spid="7"/>
                                        </p:tgtEl>
                                        <p:attrNameLst>
                                          <p:attrName>ppt_x</p:attrName>
                                          <p:attrName>ppt_y</p:attrName>
                                        </p:attrNameLst>
                                      </p:cBhvr>
                                      <p:rCtr x="4492" y="-3704"/>
                                    </p:animMotion>
                                  </p:childTnLst>
                                </p:cTn>
                              </p:par>
                              <p:par>
                                <p:cTn id="64" presetID="0" presetClass="path" presetSubtype="0" accel="50000" decel="50000" fill="hold" nodeType="withEffect">
                                  <p:stCondLst>
                                    <p:cond delay="0"/>
                                  </p:stCondLst>
                                  <p:childTnLst>
                                    <p:animMotion origin="layout" path="M 0.04779 0.01135 L 0.04779 0.01158 C 0.05144 0.01088 0.05508 0.01088 0.05886 0.00996 C 0.06107 0.00973 0.06315 0.00834 0.06537 0.00764 C 0.06719 0.00718 0.06993 0.00649 0.07188 0.00533 C 0.07292 0.00487 0.07396 0.00394 0.07513 0.00301 C 0.07578 0.00278 0.07644 0.00255 0.07709 0.00186 C 0.07774 0.00139 0.07826 0.00024 0.07904 -0.00046 C 0.07969 -0.00092 0.08034 -0.00092 0.08099 -0.00162 C 0.08164 -0.00208 0.08229 -0.00324 0.08295 -0.00393 C 0.08373 -0.00463 0.08477 -0.00509 0.08555 -0.00625 C 0.08633 -0.00717 0.08685 -0.00856 0.0875 -0.00972 C 0.09245 -0.01736 0.08776 -0.00949 0.09271 -0.01551 C 0.09414 -0.01713 0.09623 -0.02083 0.09792 -0.02245 C 0.09896 -0.02338 0.10013 -0.02407 0.10118 -0.02476 C 0.10157 -0.02592 0.10183 -0.02731 0.10248 -0.02824 C 0.103 -0.02893 0.10391 -0.0287 0.10443 -0.02939 C 0.10586 -0.03078 0.10703 -0.0324 0.10834 -0.03402 L 0.11224 -0.03865 C 0.11289 -0.03958 0.11354 -0.04051 0.1142 -0.04097 L 0.11615 -0.04213 C 0.11667 -0.04328 0.1168 -0.0449 0.11745 -0.0456 C 0.11862 -0.04699 0.12006 -0.04722 0.12136 -0.04791 C 0.12422 -0.04953 0.12266 -0.04884 0.12591 -0.05023 C 0.12657 -0.05115 0.12722 -0.05208 0.12787 -0.05254 C 0.12852 -0.05324 0.1293 -0.05301 0.12982 -0.0537 C 0.1306 -0.05463 0.13112 -0.05625 0.13177 -0.05717 C 0.13347 -0.05972 0.13373 -0.05949 0.13568 -0.06064 L 0.13776 -0.06296 L 0.13776 -0.06273 L 0.13776 -0.06296 " pathEditMode="relative" rAng="0" ptsTypes="AAAAAAAAAAAAAAAAAAAAAAAAAAAAAAA">
                                      <p:cBhvr>
                                        <p:cTn id="65" dur="2000" fill="hold"/>
                                        <p:tgtEl>
                                          <p:spTgt spid="8"/>
                                        </p:tgtEl>
                                        <p:attrNameLst>
                                          <p:attrName>ppt_x</p:attrName>
                                          <p:attrName>ppt_y</p:attrName>
                                        </p:attrNameLst>
                                      </p:cBhvr>
                                      <p:rCtr x="4492" y="-3704"/>
                                    </p:animMotion>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nodeType="clickEffect">
                                  <p:stCondLst>
                                    <p:cond delay="0"/>
                                  </p:stCondLst>
                                  <p:childTnLst>
                                    <p:animEffect transition="out" filter="fade">
                                      <p:cBhvr>
                                        <p:cTn id="75" dur="500"/>
                                        <p:tgtEl>
                                          <p:spTgt spid="8"/>
                                        </p:tgtEl>
                                      </p:cBhvr>
                                    </p:animEffect>
                                    <p:set>
                                      <p:cBhvr>
                                        <p:cTn id="76" dur="1" fill="hold">
                                          <p:stCondLst>
                                            <p:cond delay="499"/>
                                          </p:stCondLst>
                                        </p:cTn>
                                        <p:tgtEl>
                                          <p:spTgt spid="8"/>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15"/>
                                        </p:tgtEl>
                                        <p:attrNameLst>
                                          <p:attrName>style.visibility</p:attrName>
                                        </p:attrNameLst>
                                      </p:cBhvr>
                                      <p:to>
                                        <p:strVal val="visible"/>
                                      </p:to>
                                    </p:set>
                                  </p:childTnLst>
                                </p:cTn>
                              </p:par>
                              <p:par>
                                <p:cTn id="79" presetID="10" presetClass="exit" presetSubtype="0" fill="hold" grpId="1" nodeType="withEffect">
                                  <p:stCondLst>
                                    <p:cond delay="0"/>
                                  </p:stCondLst>
                                  <p:childTnLst>
                                    <p:animEffect transition="out" filter="fade">
                                      <p:cBhvr>
                                        <p:cTn id="80" dur="500"/>
                                        <p:tgtEl>
                                          <p:spTgt spid="14"/>
                                        </p:tgtEl>
                                      </p:cBhvr>
                                    </p:animEffect>
                                    <p:set>
                                      <p:cBhvr>
                                        <p:cTn id="81" dur="1" fill="hold">
                                          <p:stCondLst>
                                            <p:cond delay="499"/>
                                          </p:stCondLst>
                                        </p:cTn>
                                        <p:tgtEl>
                                          <p:spTgt spid="14"/>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30"/>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0" presetClass="path" presetSubtype="0" accel="50000" decel="50000" fill="hold" nodeType="clickEffect">
                                  <p:stCondLst>
                                    <p:cond delay="0"/>
                                  </p:stCondLst>
                                  <p:childTnLst>
                                    <p:animMotion origin="layout" path="M 0.04453 0.18056 L 0.04453 0.18079 C 0.04714 0.17894 0.05013 0.17871 0.05235 0.1757 C 0.05573 0.1713 0.05391 0.17315 0.05756 0.16991 C 0.06159 0.16274 0.05703 0.17014 0.06276 0.16297 C 0.07474 0.14769 0.06381 0.16135 0.07188 0.14908 C 0.0737 0.1463 0.07774 0.14098 0.07774 0.14121 C 0.07839 0.13912 0.07878 0.13681 0.07969 0.13519 C 0.08034 0.1338 0.08151 0.13311 0.08229 0.13172 C 0.08451 0.12824 0.08594 0.12547 0.0875 0.1213 C 0.09193 0.10949 0.08698 0.12176 0.09141 0.10857 C 0.09193 0.10695 0.09271 0.10556 0.09336 0.10394 C 0.09401 0.10209 0.09466 0.1 0.09532 0.09815 C 0.09597 0.09653 0.09662 0.09514 0.09727 0.09352 C 0.09792 0.09167 0.09857 0.08959 0.09922 0.08774 C 0.09987 0.08612 0.10052 0.08473 0.10118 0.08311 C 0.10365 0.07639 0.10287 0.07755 0.10508 0.07037 C 0.10795 0.06112 0.10599 0.06783 0.10899 0.05973 C 0.11302 0.04931 0.10886 0.05834 0.1142 0.04237 C 0.1168 0.03496 0.11537 0.03843 0.1181 0.03195 C 0.1194 0.02061 0.11771 0.03149 0.12071 0.02153 C 0.12149 0.01899 0.12201 0.01621 0.12266 0.01343 C 0.12305 0.01181 0.12357 0.01042 0.12396 0.0088 C 0.12422 0.00718 0.12435 0.00556 0.12461 0.00417 C 0.125 0.00301 0.12552 0.00186 0.12591 0.0007 C 0.1267 -0.00115 0.12722 -0.00324 0.12787 -0.00509 C 0.12813 -0.00671 0.12826 -0.00833 0.12852 -0.00972 C 0.12891 -0.01111 0.12956 -0.01203 0.12982 -0.01319 C 0.13021 -0.01435 0.13021 -0.01551 0.13047 -0.01666 C 0.13112 -0.01875 0.1319 -0.02037 0.13243 -0.02245 C 0.13282 -0.02361 0.13282 -0.025 0.13308 -0.02592 C 0.13386 -0.02847 0.13568 -0.03287 0.13568 -0.03263 C 0.13594 -0.03402 0.13607 -0.03541 0.13633 -0.03634 C 0.13698 -0.03819 0.13789 -0.03935 0.13828 -0.04097 C 0.14206 -0.05601 0.13633 -0.03958 0.14024 -0.05023 C 0.1405 -0.05185 0.14102 -0.05347 0.14102 -0.05486 C 0.14102 -0.05625 0.1405 -0.05717 0.14024 -0.05833 C 0.14024 -0.05926 0.14024 -0.05995 0.14024 -0.06064 L 0.14024 -0.06041 " pathEditMode="relative" rAng="0" ptsTypes="AAAAAAAAAAAAAAAAAAAAAAAAAAAAAAAAAAAAAAA">
                                      <p:cBhvr>
                                        <p:cTn id="87" dur="2000" fill="hold"/>
                                        <p:tgtEl>
                                          <p:spTgt spid="8"/>
                                        </p:tgtEl>
                                        <p:attrNameLst>
                                          <p:attrName>ppt_x</p:attrName>
                                          <p:attrName>ppt_y</p:attrName>
                                        </p:attrNameLst>
                                      </p:cBhvr>
                                      <p:rCtr x="4818" y="-12060"/>
                                    </p:animMotion>
                                  </p:childTnLst>
                                </p:cTn>
                              </p:par>
                              <p:par>
                                <p:cTn id="88" presetID="0" presetClass="path" presetSubtype="0" accel="50000" decel="50000" fill="hold" nodeType="withEffect">
                                  <p:stCondLst>
                                    <p:cond delay="0"/>
                                  </p:stCondLst>
                                  <p:childTnLst>
                                    <p:animMotion origin="layout" path="M 0.05 0.00857 L 0.05 0.0088 C 0.05261 0.00695 0.0556 0.00672 0.05782 0.00371 C 0.0612 -0.00069 0.05938 0.00116 0.06303 -0.00208 C 0.06706 -0.00925 0.0625 -0.00185 0.06823 -0.00902 C 0.08021 -0.0243 0.06928 -0.01064 0.07735 -0.02291 C 0.07917 -0.02569 0.08321 -0.03101 0.08321 -0.03078 C 0.08386 -0.03287 0.08425 -0.03518 0.08516 -0.0368 C 0.08581 -0.03819 0.08698 -0.03888 0.08776 -0.04027 C 0.08998 -0.04375 0.09141 -0.04652 0.09297 -0.05069 C 0.0974 -0.0625 0.09245 -0.05023 0.09688 -0.06342 C 0.0974 -0.06504 0.09818 -0.06643 0.09883 -0.06805 C 0.09948 -0.0699 0.10013 -0.07199 0.10079 -0.07384 C 0.10144 -0.07546 0.10209 -0.07685 0.10274 -0.07847 C 0.10339 -0.08032 0.10404 -0.0824 0.10469 -0.08425 C 0.10534 -0.08587 0.10599 -0.08726 0.10665 -0.08888 C 0.10912 -0.0956 0.10834 -0.09444 0.11055 -0.10162 C 0.11342 -0.11087 0.11146 -0.10416 0.11446 -0.11226 C 0.11849 -0.12268 0.11433 -0.11365 0.11967 -0.12962 C 0.12227 -0.13703 0.12084 -0.13356 0.12357 -0.14004 C 0.12487 -0.15138 0.12318 -0.1405 0.12618 -0.15046 C 0.12696 -0.153 0.12748 -0.15578 0.12813 -0.15856 C 0.12852 -0.16018 0.12904 -0.16157 0.12943 -0.16319 C 0.12969 -0.16481 0.12982 -0.16643 0.13008 -0.16782 C 0.13047 -0.16898 0.13099 -0.17013 0.13138 -0.17129 C 0.13217 -0.17314 0.13269 -0.17523 0.13334 -0.17708 C 0.1336 -0.1787 0.13373 -0.18032 0.13399 -0.18171 C 0.13438 -0.1831 0.13503 -0.18402 0.13529 -0.18518 C 0.13568 -0.18634 0.13568 -0.1875 0.13594 -0.18865 C 0.13659 -0.19074 0.13737 -0.19236 0.1379 -0.19444 C 0.13829 -0.1956 0.13829 -0.19699 0.13855 -0.19791 C 0.13933 -0.20046 0.14115 -0.20486 0.14115 -0.20462 C 0.14141 -0.20601 0.14154 -0.2074 0.1418 -0.20833 C 0.14245 -0.21018 0.14336 -0.21134 0.14375 -0.21296 C 0.14753 -0.228 0.1418 -0.21157 0.14571 -0.22222 C 0.14597 -0.22384 0.14649 -0.22546 0.14649 -0.22685 C 0.14649 -0.22824 0.14597 -0.22916 0.14571 -0.23032 C 0.14571 -0.23125 0.14571 -0.23194 0.14571 -0.23263 L 0.14571 -0.2324 " pathEditMode="relative" rAng="0" ptsTypes="AAAAAAAAAAAAAAAAAAAAAAAAAAAAAAAAAAAAAAA">
                                      <p:cBhvr>
                                        <p:cTn id="89" dur="2000" fill="hold"/>
                                        <p:tgtEl>
                                          <p:spTgt spid="9"/>
                                        </p:tgtEl>
                                        <p:attrNameLst>
                                          <p:attrName>ppt_x</p:attrName>
                                          <p:attrName>ppt_y</p:attrName>
                                        </p:attrNameLst>
                                      </p:cBhvr>
                                      <p:rCtr x="4818" y="-12060"/>
                                    </p:animMotion>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6"/>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31"/>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0" presetClass="exit" presetSubtype="0" fill="hold" nodeType="clickEffect">
                                  <p:stCondLst>
                                    <p:cond delay="0"/>
                                  </p:stCondLst>
                                  <p:childTnLst>
                                    <p:animEffect transition="out" filter="fade">
                                      <p:cBhvr>
                                        <p:cTn id="99" dur="500"/>
                                        <p:tgtEl>
                                          <p:spTgt spid="9"/>
                                        </p:tgtEl>
                                      </p:cBhvr>
                                    </p:animEffect>
                                    <p:set>
                                      <p:cBhvr>
                                        <p:cTn id="100" dur="1" fill="hold">
                                          <p:stCondLst>
                                            <p:cond delay="499"/>
                                          </p:stCondLst>
                                        </p:cTn>
                                        <p:tgtEl>
                                          <p:spTgt spid="9"/>
                                        </p:tgtEl>
                                        <p:attrNameLst>
                                          <p:attrName>style.visibility</p:attrName>
                                        </p:attrNameLst>
                                      </p:cBhvr>
                                      <p:to>
                                        <p:strVal val="hidden"/>
                                      </p:to>
                                    </p:set>
                                  </p:childTnLst>
                                </p:cTn>
                              </p:par>
                              <p:par>
                                <p:cTn id="101" presetID="1" presetClass="entr" presetSubtype="0" fill="hold" nodeType="withEffect">
                                  <p:stCondLst>
                                    <p:cond delay="0"/>
                                  </p:stCondLst>
                                  <p:childTnLst>
                                    <p:set>
                                      <p:cBhvr>
                                        <p:cTn id="102" dur="1" fill="hold">
                                          <p:stCondLst>
                                            <p:cond delay="0"/>
                                          </p:stCondLst>
                                        </p:cTn>
                                        <p:tgtEl>
                                          <p:spTgt spid="17"/>
                                        </p:tgtEl>
                                        <p:attrNameLst>
                                          <p:attrName>style.visibility</p:attrName>
                                        </p:attrNameLst>
                                      </p:cBhvr>
                                      <p:to>
                                        <p:strVal val="visible"/>
                                      </p:to>
                                    </p:set>
                                  </p:childTnLst>
                                </p:cTn>
                              </p:par>
                              <p:par>
                                <p:cTn id="103" presetID="10" presetClass="exit" presetSubtype="0" fill="hold" grpId="1" nodeType="withEffect">
                                  <p:stCondLst>
                                    <p:cond delay="0"/>
                                  </p:stCondLst>
                                  <p:childTnLst>
                                    <p:animEffect transition="out" filter="fade">
                                      <p:cBhvr>
                                        <p:cTn id="104" dur="500"/>
                                        <p:tgtEl>
                                          <p:spTgt spid="16"/>
                                        </p:tgtEl>
                                      </p:cBhvr>
                                    </p:animEffect>
                                    <p:set>
                                      <p:cBhvr>
                                        <p:cTn id="105" dur="1" fill="hold">
                                          <p:stCondLst>
                                            <p:cond delay="499"/>
                                          </p:stCondLst>
                                        </p:cTn>
                                        <p:tgtEl>
                                          <p:spTgt spid="16"/>
                                        </p:tgtEl>
                                        <p:attrNameLst>
                                          <p:attrName>style.visibility</p:attrName>
                                        </p:attrNameLst>
                                      </p:cBhvr>
                                      <p:to>
                                        <p:strVal val="hidden"/>
                                      </p:to>
                                    </p:set>
                                  </p:childTnLst>
                                </p:cTn>
                              </p:par>
                              <p:par>
                                <p:cTn id="106" presetID="1" presetClass="exit" presetSubtype="0" fill="hold" grpId="1" nodeType="withEffect">
                                  <p:stCondLst>
                                    <p:cond delay="0"/>
                                  </p:stCondLst>
                                  <p:childTnLst>
                                    <p:set>
                                      <p:cBhvr>
                                        <p:cTn id="107" dur="1" fill="hold">
                                          <p:stCondLst>
                                            <p:cond delay="0"/>
                                          </p:stCondLst>
                                        </p:cTn>
                                        <p:tgtEl>
                                          <p:spTgt spid="31"/>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0" grpId="1"/>
      <p:bldP spid="13" grpId="0"/>
      <p:bldP spid="13" grpId="1"/>
      <p:bldP spid="14" grpId="0"/>
      <p:bldP spid="14" grpId="1"/>
      <p:bldP spid="16" grpId="0"/>
      <p:bldP spid="16" grpId="1"/>
      <p:bldP spid="18" grpId="0"/>
      <p:bldP spid="28" grpId="0" animBg="1"/>
      <p:bldP spid="28" grpId="1" animBg="1"/>
      <p:bldP spid="29" grpId="0" animBg="1"/>
      <p:bldP spid="29" grpId="1" animBg="1"/>
      <p:bldP spid="30" grpId="0" animBg="1"/>
      <p:bldP spid="30" grpId="1" animBg="1"/>
      <p:bldP spid="31" grpId="0" animBg="1"/>
      <p:bldP spid="31"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46498-1F4E-4A81-AF32-76679B5FEFDC}"/>
              </a:ext>
            </a:extLst>
          </p:cNvPr>
          <p:cNvSpPr>
            <a:spLocks noGrp="1"/>
          </p:cNvSpPr>
          <p:nvPr>
            <p:ph type="title"/>
          </p:nvPr>
        </p:nvSpPr>
        <p:spPr/>
        <p:txBody>
          <a:bodyPr/>
          <a:lstStyle/>
          <a:p>
            <a:r>
              <a:rPr lang="en-US" altLang="zh-CN" dirty="0"/>
              <a:t>2.3 </a:t>
            </a:r>
            <a:r>
              <a:rPr lang="zh-CN" altLang="en-US" dirty="0"/>
              <a:t>神經網絡是如何訓練的</a:t>
            </a:r>
          </a:p>
        </p:txBody>
      </p:sp>
      <p:pic>
        <p:nvPicPr>
          <p:cNvPr id="4" name="内容占位符 5">
            <a:extLst>
              <a:ext uri="{FF2B5EF4-FFF2-40B4-BE49-F238E27FC236}">
                <a16:creationId xmlns:a16="http://schemas.microsoft.com/office/drawing/2014/main" id="{DE337C7A-7BF5-4D2B-A1AC-DB260E4F49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188" y="1585236"/>
            <a:ext cx="797780" cy="884460"/>
          </a:xfrm>
          <a:prstGeom prst="rect">
            <a:avLst/>
          </a:prstGeom>
        </p:spPr>
      </p:pic>
      <p:pic>
        <p:nvPicPr>
          <p:cNvPr id="5" name="Picture 2" descr="http://neuralnetworksanddeeplearning.com/images/tikz41.png">
            <a:extLst>
              <a:ext uri="{FF2B5EF4-FFF2-40B4-BE49-F238E27FC236}">
                <a16:creationId xmlns:a16="http://schemas.microsoft.com/office/drawing/2014/main" id="{E77B1FBA-7980-4B19-A150-5D9161354715}"/>
              </a:ext>
            </a:extLst>
          </p:cNvPr>
          <p:cNvPicPr>
            <a:picLocks noChangeAspect="1" noChangeArrowheads="1"/>
          </p:cNvPicPr>
          <p:nvPr/>
        </p:nvPicPr>
        <p:blipFill>
          <a:blip r:embed="rId4" cstate="print"/>
          <a:srcRect/>
          <a:stretch>
            <a:fillRect/>
          </a:stretch>
        </p:blipFill>
        <p:spPr bwMode="auto">
          <a:xfrm>
            <a:off x="3120628" y="2223454"/>
            <a:ext cx="6687714" cy="3331916"/>
          </a:xfrm>
          <a:prstGeom prst="rect">
            <a:avLst/>
          </a:prstGeom>
          <a:noFill/>
        </p:spPr>
      </p:pic>
      <p:pic>
        <p:nvPicPr>
          <p:cNvPr id="7" name="图片 6">
            <a:extLst>
              <a:ext uri="{FF2B5EF4-FFF2-40B4-BE49-F238E27FC236}">
                <a16:creationId xmlns:a16="http://schemas.microsoft.com/office/drawing/2014/main" id="{2A2BADE4-E4D1-45C0-997A-BFF1EC5D63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188" y="2628494"/>
            <a:ext cx="797779" cy="1061659"/>
          </a:xfrm>
          <a:prstGeom prst="rect">
            <a:avLst/>
          </a:prstGeom>
        </p:spPr>
      </p:pic>
      <p:pic>
        <p:nvPicPr>
          <p:cNvPr id="8" name="图片 7">
            <a:extLst>
              <a:ext uri="{FF2B5EF4-FFF2-40B4-BE49-F238E27FC236}">
                <a16:creationId xmlns:a16="http://schemas.microsoft.com/office/drawing/2014/main" id="{652CAC09-CE6E-4815-8B10-D5106101E39B}"/>
              </a:ext>
            </a:extLst>
          </p:cNvPr>
          <p:cNvPicPr>
            <a:picLocks noChangeAspect="1"/>
          </p:cNvPicPr>
          <p:nvPr/>
        </p:nvPicPr>
        <p:blipFill>
          <a:blip r:embed="rId6"/>
          <a:stretch>
            <a:fillRect/>
          </a:stretch>
        </p:blipFill>
        <p:spPr>
          <a:xfrm>
            <a:off x="740187" y="3930814"/>
            <a:ext cx="854421" cy="895142"/>
          </a:xfrm>
          <a:prstGeom prst="rect">
            <a:avLst/>
          </a:prstGeom>
        </p:spPr>
      </p:pic>
      <p:pic>
        <p:nvPicPr>
          <p:cNvPr id="9" name="图片 8">
            <a:extLst>
              <a:ext uri="{FF2B5EF4-FFF2-40B4-BE49-F238E27FC236}">
                <a16:creationId xmlns:a16="http://schemas.microsoft.com/office/drawing/2014/main" id="{BFA4F2D0-CECE-4B9D-88CD-135E518F1538}"/>
              </a:ext>
            </a:extLst>
          </p:cNvPr>
          <p:cNvPicPr>
            <a:picLocks noChangeAspect="1"/>
          </p:cNvPicPr>
          <p:nvPr/>
        </p:nvPicPr>
        <p:blipFill>
          <a:blip r:embed="rId7"/>
          <a:stretch>
            <a:fillRect/>
          </a:stretch>
        </p:blipFill>
        <p:spPr>
          <a:xfrm>
            <a:off x="608569" y="4947347"/>
            <a:ext cx="986040" cy="1220457"/>
          </a:xfrm>
          <a:prstGeom prst="rect">
            <a:avLst/>
          </a:prstGeom>
        </p:spPr>
      </p:pic>
      <p:sp>
        <p:nvSpPr>
          <p:cNvPr id="10" name="文本框 9">
            <a:extLst>
              <a:ext uri="{FF2B5EF4-FFF2-40B4-BE49-F238E27FC236}">
                <a16:creationId xmlns:a16="http://schemas.microsoft.com/office/drawing/2014/main" id="{F4D547BD-F23E-4FAD-93F1-24EC70F6F005}"/>
              </a:ext>
            </a:extLst>
          </p:cNvPr>
          <p:cNvSpPr txBox="1"/>
          <p:nvPr/>
        </p:nvSpPr>
        <p:spPr>
          <a:xfrm>
            <a:off x="9751703" y="3344970"/>
            <a:ext cx="972822" cy="1426031"/>
          </a:xfrm>
          <a:prstGeom prst="rect">
            <a:avLst/>
          </a:prstGeom>
          <a:noFill/>
        </p:spPr>
        <p:txBody>
          <a:bodyPr wrap="square" rtlCol="0">
            <a:spAutoFit/>
          </a:bodyPr>
          <a:lstStyle/>
          <a:p>
            <a:pPr>
              <a:lnSpc>
                <a:spcPts val="2600"/>
              </a:lnSpc>
            </a:pPr>
            <a:r>
              <a:rPr lang="en-US" altLang="zh-CN" sz="2000" b="1" dirty="0">
                <a:solidFill>
                  <a:srgbClr val="FF0000"/>
                </a:solidFill>
              </a:rPr>
              <a:t>1</a:t>
            </a:r>
          </a:p>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0</a:t>
            </a:r>
          </a:p>
          <a:p>
            <a:pPr>
              <a:lnSpc>
                <a:spcPts val="2600"/>
              </a:lnSpc>
            </a:pPr>
            <a:r>
              <a:rPr lang="en-US" altLang="zh-CN" sz="2000" b="1" dirty="0">
                <a:solidFill>
                  <a:srgbClr val="FF0000"/>
                </a:solidFill>
              </a:rPr>
              <a:t>0</a:t>
            </a:r>
          </a:p>
        </p:txBody>
      </p:sp>
      <p:pic>
        <p:nvPicPr>
          <p:cNvPr id="11" name="内容占位符 5">
            <a:extLst>
              <a:ext uri="{FF2B5EF4-FFF2-40B4-BE49-F238E27FC236}">
                <a16:creationId xmlns:a16="http://schemas.microsoft.com/office/drawing/2014/main" id="{63CB52E3-E0CA-44D9-B81F-8FFBBEEF5A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4445" y="3363340"/>
            <a:ext cx="797780" cy="884460"/>
          </a:xfrm>
          <a:prstGeom prst="rect">
            <a:avLst/>
          </a:prstGeom>
        </p:spPr>
      </p:pic>
      <p:pic>
        <p:nvPicPr>
          <p:cNvPr id="12" name="图片 11">
            <a:extLst>
              <a:ext uri="{FF2B5EF4-FFF2-40B4-BE49-F238E27FC236}">
                <a16:creationId xmlns:a16="http://schemas.microsoft.com/office/drawing/2014/main" id="{F4DB94A7-B7A1-49AD-9A75-CA21A8EBB6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188" y="2628493"/>
            <a:ext cx="797779" cy="1061659"/>
          </a:xfrm>
          <a:prstGeom prst="rect">
            <a:avLst/>
          </a:prstGeom>
        </p:spPr>
      </p:pic>
      <p:pic>
        <p:nvPicPr>
          <p:cNvPr id="15" name="图片 14">
            <a:extLst>
              <a:ext uri="{FF2B5EF4-FFF2-40B4-BE49-F238E27FC236}">
                <a16:creationId xmlns:a16="http://schemas.microsoft.com/office/drawing/2014/main" id="{4BAE4A7B-2110-454B-A1DE-53ECAA8C1057}"/>
              </a:ext>
            </a:extLst>
          </p:cNvPr>
          <p:cNvPicPr>
            <a:picLocks noChangeAspect="1"/>
          </p:cNvPicPr>
          <p:nvPr/>
        </p:nvPicPr>
        <p:blipFill>
          <a:blip r:embed="rId6"/>
          <a:stretch>
            <a:fillRect/>
          </a:stretch>
        </p:blipFill>
        <p:spPr>
          <a:xfrm>
            <a:off x="711866" y="3930813"/>
            <a:ext cx="854421" cy="895142"/>
          </a:xfrm>
          <a:prstGeom prst="rect">
            <a:avLst/>
          </a:prstGeom>
        </p:spPr>
      </p:pic>
      <p:pic>
        <p:nvPicPr>
          <p:cNvPr id="17" name="图片 16">
            <a:extLst>
              <a:ext uri="{FF2B5EF4-FFF2-40B4-BE49-F238E27FC236}">
                <a16:creationId xmlns:a16="http://schemas.microsoft.com/office/drawing/2014/main" id="{80EF5B62-75C0-40E4-813D-99D18788A126}"/>
              </a:ext>
            </a:extLst>
          </p:cNvPr>
          <p:cNvPicPr>
            <a:picLocks noChangeAspect="1"/>
          </p:cNvPicPr>
          <p:nvPr/>
        </p:nvPicPr>
        <p:blipFill>
          <a:blip r:embed="rId7"/>
          <a:stretch>
            <a:fillRect/>
          </a:stretch>
        </p:blipFill>
        <p:spPr>
          <a:xfrm>
            <a:off x="608569" y="4947347"/>
            <a:ext cx="986040" cy="1220457"/>
          </a:xfrm>
          <a:prstGeom prst="rect">
            <a:avLst/>
          </a:prstGeom>
        </p:spPr>
      </p:pic>
      <p:sp>
        <p:nvSpPr>
          <p:cNvPr id="19" name="文本框 18">
            <a:extLst>
              <a:ext uri="{FF2B5EF4-FFF2-40B4-BE49-F238E27FC236}">
                <a16:creationId xmlns:a16="http://schemas.microsoft.com/office/drawing/2014/main" id="{C597DF14-8F70-4E85-A70D-2B864F43BA40}"/>
              </a:ext>
            </a:extLst>
          </p:cNvPr>
          <p:cNvSpPr txBox="1"/>
          <p:nvPr/>
        </p:nvSpPr>
        <p:spPr>
          <a:xfrm>
            <a:off x="3025929" y="2256817"/>
            <a:ext cx="1116701"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輸入層</a:t>
            </a:r>
            <a:endParaRPr lang="en-US" altLang="zh-CN" sz="2400" b="1" dirty="0">
              <a:solidFill>
                <a:srgbClr val="FF0000"/>
              </a:solidFill>
            </a:endParaRPr>
          </a:p>
        </p:txBody>
      </p:sp>
      <p:sp>
        <p:nvSpPr>
          <p:cNvPr id="20" name="文本框 19">
            <a:extLst>
              <a:ext uri="{FF2B5EF4-FFF2-40B4-BE49-F238E27FC236}">
                <a16:creationId xmlns:a16="http://schemas.microsoft.com/office/drawing/2014/main" id="{4A62175C-A4BD-43C9-9E84-1506CF6C2850}"/>
              </a:ext>
            </a:extLst>
          </p:cNvPr>
          <p:cNvSpPr txBox="1"/>
          <p:nvPr/>
        </p:nvSpPr>
        <p:spPr>
          <a:xfrm>
            <a:off x="8536492" y="2924127"/>
            <a:ext cx="1255948" cy="341953"/>
          </a:xfrm>
          <a:prstGeom prst="rect">
            <a:avLst/>
          </a:prstGeom>
          <a:solidFill>
            <a:schemeClr val="bg1"/>
          </a:solidFill>
        </p:spPr>
        <p:txBody>
          <a:bodyPr wrap="square" tIns="0" bIns="0" rtlCol="0">
            <a:spAutoFit/>
          </a:bodyPr>
          <a:lstStyle/>
          <a:p>
            <a:pPr algn="ctr">
              <a:lnSpc>
                <a:spcPts val="2600"/>
              </a:lnSpc>
            </a:pPr>
            <a:r>
              <a:rPr lang="zh-CN" altLang="en-US" sz="2400" b="1" dirty="0">
                <a:solidFill>
                  <a:srgbClr val="FF0000"/>
                </a:solidFill>
              </a:rPr>
              <a:t>輸出層</a:t>
            </a:r>
            <a:endParaRPr lang="en-US" altLang="zh-CN" sz="2400" b="1" dirty="0">
              <a:solidFill>
                <a:srgbClr val="FF0000"/>
              </a:solidFill>
            </a:endParaRPr>
          </a:p>
        </p:txBody>
      </p:sp>
      <p:sp>
        <p:nvSpPr>
          <p:cNvPr id="21" name="文本框 20">
            <a:extLst>
              <a:ext uri="{FF2B5EF4-FFF2-40B4-BE49-F238E27FC236}">
                <a16:creationId xmlns:a16="http://schemas.microsoft.com/office/drawing/2014/main" id="{43FDD557-A7AB-4B1B-A99F-ECB98958766A}"/>
              </a:ext>
            </a:extLst>
          </p:cNvPr>
          <p:cNvSpPr txBox="1"/>
          <p:nvPr/>
        </p:nvSpPr>
        <p:spPr>
          <a:xfrm>
            <a:off x="4200551" y="2157390"/>
            <a:ext cx="1372533"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1</a:t>
            </a:r>
          </a:p>
        </p:txBody>
      </p:sp>
      <p:sp>
        <p:nvSpPr>
          <p:cNvPr id="22" name="文本框 21">
            <a:extLst>
              <a:ext uri="{FF2B5EF4-FFF2-40B4-BE49-F238E27FC236}">
                <a16:creationId xmlns:a16="http://schemas.microsoft.com/office/drawing/2014/main" id="{8157E2E3-272E-47D9-9E4C-60563DD8819B}"/>
              </a:ext>
            </a:extLst>
          </p:cNvPr>
          <p:cNvSpPr txBox="1"/>
          <p:nvPr/>
        </p:nvSpPr>
        <p:spPr>
          <a:xfrm>
            <a:off x="5444979" y="2153551"/>
            <a:ext cx="1448802"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2</a:t>
            </a:r>
          </a:p>
        </p:txBody>
      </p:sp>
      <p:sp>
        <p:nvSpPr>
          <p:cNvPr id="23" name="文本框 22">
            <a:extLst>
              <a:ext uri="{FF2B5EF4-FFF2-40B4-BE49-F238E27FC236}">
                <a16:creationId xmlns:a16="http://schemas.microsoft.com/office/drawing/2014/main" id="{4A3CAAB2-51E1-4A94-BBCB-CC46749FC14C}"/>
              </a:ext>
            </a:extLst>
          </p:cNvPr>
          <p:cNvSpPr txBox="1"/>
          <p:nvPr/>
        </p:nvSpPr>
        <p:spPr>
          <a:xfrm>
            <a:off x="6747706" y="2157390"/>
            <a:ext cx="1589195" cy="434286"/>
          </a:xfrm>
          <a:prstGeom prst="rect">
            <a:avLst/>
          </a:prstGeom>
          <a:solidFill>
            <a:schemeClr val="bg1"/>
          </a:solidFill>
        </p:spPr>
        <p:txBody>
          <a:bodyPr wrap="square" rtlCol="0">
            <a:spAutoFit/>
          </a:bodyPr>
          <a:lstStyle/>
          <a:p>
            <a:pPr algn="ctr">
              <a:lnSpc>
                <a:spcPts val="2600"/>
              </a:lnSpc>
            </a:pPr>
            <a:r>
              <a:rPr lang="zh-CN" altLang="en-US" sz="2400" b="1" dirty="0">
                <a:solidFill>
                  <a:srgbClr val="FF0000"/>
                </a:solidFill>
              </a:rPr>
              <a:t>隱含層</a:t>
            </a:r>
            <a:r>
              <a:rPr lang="en-US" altLang="zh-CN" sz="2400" b="1" dirty="0">
                <a:solidFill>
                  <a:srgbClr val="FF0000"/>
                </a:solidFill>
              </a:rPr>
              <a:t>3</a:t>
            </a:r>
          </a:p>
        </p:txBody>
      </p:sp>
      <p:cxnSp>
        <p:nvCxnSpPr>
          <p:cNvPr id="24" name="直接箭头连接符 23">
            <a:extLst>
              <a:ext uri="{FF2B5EF4-FFF2-40B4-BE49-F238E27FC236}">
                <a16:creationId xmlns:a16="http://schemas.microsoft.com/office/drawing/2014/main" id="{FD58C936-C61B-49EE-99D4-03C6E53E9FEF}"/>
              </a:ext>
            </a:extLst>
          </p:cNvPr>
          <p:cNvCxnSpPr/>
          <p:nvPr/>
        </p:nvCxnSpPr>
        <p:spPr>
          <a:xfrm flipV="1">
            <a:off x="10296939" y="3322572"/>
            <a:ext cx="508884" cy="21861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85F02E2D-1715-4EC2-A274-9A55C7F225B1}"/>
              </a:ext>
            </a:extLst>
          </p:cNvPr>
          <p:cNvCxnSpPr/>
          <p:nvPr/>
        </p:nvCxnSpPr>
        <p:spPr>
          <a:xfrm flipV="1">
            <a:off x="10266117" y="3809764"/>
            <a:ext cx="483646" cy="2239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5B51706-B12D-4335-89FF-99520B94F125}"/>
              </a:ext>
            </a:extLst>
          </p:cNvPr>
          <p:cNvCxnSpPr/>
          <p:nvPr/>
        </p:nvCxnSpPr>
        <p:spPr>
          <a:xfrm>
            <a:off x="10266117" y="4224346"/>
            <a:ext cx="508884" cy="4690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606E2021-288B-4939-8809-35AD5808A8BA}"/>
              </a:ext>
            </a:extLst>
          </p:cNvPr>
          <p:cNvCxnSpPr/>
          <p:nvPr/>
        </p:nvCxnSpPr>
        <p:spPr>
          <a:xfrm>
            <a:off x="10266117" y="4556926"/>
            <a:ext cx="534122" cy="184854"/>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26ED6B5-D3BD-47C3-A242-0775E7CCEF9D}"/>
              </a:ext>
            </a:extLst>
          </p:cNvPr>
          <p:cNvSpPr txBox="1"/>
          <p:nvPr/>
        </p:nvSpPr>
        <p:spPr>
          <a:xfrm>
            <a:off x="10793249" y="2946563"/>
            <a:ext cx="615553" cy="2120881"/>
          </a:xfrm>
          <a:prstGeom prst="rect">
            <a:avLst/>
          </a:prstGeom>
          <a:solidFill>
            <a:schemeClr val="bg1"/>
          </a:solidFill>
          <a:ln>
            <a:noFill/>
          </a:ln>
        </p:spPr>
        <p:txBody>
          <a:bodyPr vert="eaVert" wrap="square" rtlCol="0">
            <a:spAutoFit/>
          </a:bodyPr>
          <a:lstStyle/>
          <a:p>
            <a:r>
              <a:rPr lang="zh-CN" altLang="en-US" sz="2800" b="1" dirty="0">
                <a:solidFill>
                  <a:srgbClr val="FF0000"/>
                </a:solidFill>
                <a:latin typeface="Perpetua"/>
                <a:ea typeface="宋体" panose="02010600030101010101" pitchFamily="2" charset="-122"/>
              </a:rPr>
              <a:t>貓</a:t>
            </a:r>
            <a:r>
              <a:rPr lang="zh-CN" altLang="en-US" sz="2800" dirty="0">
                <a:solidFill>
                  <a:srgbClr val="0000FF"/>
                </a:solidFill>
                <a:latin typeface="Perpetua"/>
                <a:ea typeface="宋体" panose="02010600030101010101" pitchFamily="2" charset="-122"/>
              </a:rPr>
              <a:t>  狗  兔  鳥</a:t>
            </a:r>
          </a:p>
        </p:txBody>
      </p:sp>
    </p:spTree>
    <p:extLst>
      <p:ext uri="{BB962C8B-B14F-4D97-AF65-F5344CB8AC3E}">
        <p14:creationId xmlns:p14="http://schemas.microsoft.com/office/powerpoint/2010/main" val="2115184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小朋友如何認識小動物？</a:t>
            </a:r>
          </a:p>
        </p:txBody>
      </p:sp>
      <p:pic>
        <p:nvPicPr>
          <p:cNvPr id="8" name="图片 7"/>
          <p:cNvPicPr>
            <a:picLocks noChangeAspect="1"/>
          </p:cNvPicPr>
          <p:nvPr/>
        </p:nvPicPr>
        <p:blipFill>
          <a:blip r:embed="rId3"/>
          <a:stretch>
            <a:fillRect/>
          </a:stretch>
        </p:blipFill>
        <p:spPr>
          <a:xfrm>
            <a:off x="524913" y="1986098"/>
            <a:ext cx="3892732" cy="2919549"/>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1092" y="1986098"/>
            <a:ext cx="2959271" cy="2919549"/>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80363" y="1992083"/>
            <a:ext cx="4362556" cy="2913564"/>
          </a:xfrm>
          <a:prstGeom prst="rect">
            <a:avLst/>
          </a:prstGeom>
        </p:spPr>
      </p:pic>
    </p:spTree>
    <p:extLst>
      <p:ext uri="{BB962C8B-B14F-4D97-AF65-F5344CB8AC3E}">
        <p14:creationId xmlns:p14="http://schemas.microsoft.com/office/powerpoint/2010/main" val="4096778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建立數據集</a:t>
            </a:r>
          </a:p>
        </p:txBody>
      </p:sp>
      <p:sp>
        <p:nvSpPr>
          <p:cNvPr id="3" name="内容占位符 2"/>
          <p:cNvSpPr>
            <a:spLocks noGrp="1"/>
          </p:cNvSpPr>
          <p:nvPr>
            <p:ph sz="quarter" idx="1"/>
          </p:nvPr>
        </p:nvSpPr>
        <p:spPr>
          <a:xfrm>
            <a:off x="1219200" y="1281429"/>
            <a:ext cx="10363200" cy="5467713"/>
          </a:xfrm>
        </p:spPr>
        <p:txBody>
          <a:bodyPr/>
          <a:lstStyle/>
          <a:p>
            <a:endParaRPr lang="en-US" altLang="zh-CN" dirty="0"/>
          </a:p>
          <a:p>
            <a:r>
              <a:rPr lang="zh-CN" altLang="en-US" dirty="0"/>
              <a:t>收集各種動物的照片</a:t>
            </a:r>
            <a:endParaRPr lang="en-US" altLang="zh-CN" dirty="0"/>
          </a:p>
          <a:p>
            <a:pPr lvl="1"/>
            <a:r>
              <a:rPr lang="zh-CN" altLang="en-US" dirty="0"/>
              <a:t>不同姿勢</a:t>
            </a:r>
            <a:endParaRPr lang="en-US" altLang="zh-CN" dirty="0"/>
          </a:p>
          <a:p>
            <a:pPr lvl="1"/>
            <a:r>
              <a:rPr lang="zh-CN" altLang="en-US" dirty="0"/>
              <a:t>不同角度</a:t>
            </a:r>
            <a:endParaRPr lang="en-US" altLang="zh-CN" dirty="0"/>
          </a:p>
          <a:p>
            <a:pPr lvl="1"/>
            <a:r>
              <a:rPr lang="zh-CN" altLang="en-US" dirty="0"/>
              <a:t>不同大小</a:t>
            </a:r>
            <a:endParaRPr lang="en-US" altLang="zh-CN" dirty="0"/>
          </a:p>
          <a:p>
            <a:pPr lvl="1"/>
            <a:endParaRPr lang="en-US" altLang="zh-CN" dirty="0"/>
          </a:p>
          <a:p>
            <a:r>
              <a:rPr lang="zh-CN" altLang="en-US" dirty="0"/>
              <a:t>數據標注</a:t>
            </a:r>
            <a:endParaRPr lang="en-US" altLang="zh-CN" dirty="0"/>
          </a:p>
          <a:p>
            <a:pPr lvl="1"/>
            <a:r>
              <a:rPr lang="zh-CN" altLang="en-US" dirty="0"/>
              <a:t>每張照片標注上動物的名稱</a:t>
            </a:r>
            <a:endParaRPr lang="en-US" altLang="zh-CN" dirty="0"/>
          </a:p>
          <a:p>
            <a:pPr lvl="1"/>
            <a:endParaRPr lang="en-US" altLang="zh-CN" dirty="0"/>
          </a:p>
          <a:p>
            <a:r>
              <a:rPr lang="zh-CN" altLang="en-US" dirty="0"/>
              <a:t>訓練集與測試集</a:t>
            </a:r>
            <a:endParaRPr lang="en-US" altLang="zh-CN" dirty="0"/>
          </a:p>
          <a:p>
            <a:pPr lvl="1"/>
            <a:r>
              <a:rPr lang="zh-CN" altLang="en-US" dirty="0"/>
              <a:t>樣本</a:t>
            </a:r>
          </a:p>
        </p:txBody>
      </p:sp>
      <p:pic>
        <p:nvPicPr>
          <p:cNvPr id="5" name="图片 4"/>
          <p:cNvPicPr>
            <a:picLocks noChangeAspect="1"/>
          </p:cNvPicPr>
          <p:nvPr/>
        </p:nvPicPr>
        <p:blipFill>
          <a:blip r:embed="rId3"/>
          <a:stretch>
            <a:fillRect/>
          </a:stretch>
        </p:blipFill>
        <p:spPr>
          <a:xfrm>
            <a:off x="6289983" y="4375198"/>
            <a:ext cx="2360747" cy="1770560"/>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52114" y="1512151"/>
            <a:ext cx="1789461" cy="1765442"/>
          </a:xfrm>
          <a:prstGeom prst="rect">
            <a:avLst/>
          </a:prstGeom>
        </p:spPr>
      </p:pic>
      <p:sp>
        <p:nvSpPr>
          <p:cNvPr id="8" name="椭圆形标注 7"/>
          <p:cNvSpPr/>
          <p:nvPr/>
        </p:nvSpPr>
        <p:spPr>
          <a:xfrm>
            <a:off x="5634445" y="1210506"/>
            <a:ext cx="1863635" cy="1227909"/>
          </a:xfrm>
          <a:prstGeom prst="wedgeEllipseCallout">
            <a:avLst>
              <a:gd name="adj1" fmla="val 108139"/>
              <a:gd name="adj2" fmla="val 29876"/>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這個是貓！</a:t>
            </a:r>
          </a:p>
        </p:txBody>
      </p:sp>
      <p:sp>
        <p:nvSpPr>
          <p:cNvPr id="9" name="椭圆形标注 8"/>
          <p:cNvSpPr/>
          <p:nvPr/>
        </p:nvSpPr>
        <p:spPr>
          <a:xfrm>
            <a:off x="9325318" y="3420787"/>
            <a:ext cx="1863635" cy="1227909"/>
          </a:xfrm>
          <a:prstGeom prst="wedgeEllipseCallout">
            <a:avLst>
              <a:gd name="adj1" fmla="val -82515"/>
              <a:gd name="adj2" fmla="val 76684"/>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這個是狗！</a:t>
            </a:r>
          </a:p>
        </p:txBody>
      </p:sp>
      <p:pic>
        <p:nvPicPr>
          <p:cNvPr id="10" name="图片 9"/>
          <p:cNvPicPr>
            <a:picLocks noChangeAspect="1"/>
          </p:cNvPicPr>
          <p:nvPr/>
        </p:nvPicPr>
        <p:blipFill>
          <a:blip r:embed="rId5"/>
          <a:stretch>
            <a:fillRect/>
          </a:stretch>
        </p:blipFill>
        <p:spPr>
          <a:xfrm>
            <a:off x="4583298" y="2199165"/>
            <a:ext cx="2242435" cy="1684042"/>
          </a:xfrm>
          <a:prstGeom prst="rect">
            <a:avLst/>
          </a:prstGeom>
        </p:spPr>
      </p:pic>
      <p:pic>
        <p:nvPicPr>
          <p:cNvPr id="11" name="图片 10"/>
          <p:cNvPicPr>
            <a:picLocks noChangeAspect="1"/>
          </p:cNvPicPr>
          <p:nvPr/>
        </p:nvPicPr>
        <p:blipFill>
          <a:blip r:embed="rId6"/>
          <a:stretch>
            <a:fillRect/>
          </a:stretch>
        </p:blipFill>
        <p:spPr>
          <a:xfrm>
            <a:off x="9335118" y="1115970"/>
            <a:ext cx="1853835" cy="1483068"/>
          </a:xfrm>
          <a:prstGeom prst="rect">
            <a:avLst/>
          </a:prstGeom>
        </p:spPr>
      </p:pic>
      <p:pic>
        <p:nvPicPr>
          <p:cNvPr id="12" name="图片 11"/>
          <p:cNvPicPr>
            <a:picLocks noChangeAspect="1"/>
          </p:cNvPicPr>
          <p:nvPr/>
        </p:nvPicPr>
        <p:blipFill>
          <a:blip r:embed="rId7"/>
          <a:stretch>
            <a:fillRect/>
          </a:stretch>
        </p:blipFill>
        <p:spPr>
          <a:xfrm>
            <a:off x="6958550" y="1685855"/>
            <a:ext cx="2119886" cy="1505119"/>
          </a:xfrm>
          <a:prstGeom prst="rect">
            <a:avLst/>
          </a:prstGeom>
        </p:spPr>
      </p:pic>
    </p:spTree>
    <p:extLst>
      <p:ext uri="{BB962C8B-B14F-4D97-AF65-F5344CB8AC3E}">
        <p14:creationId xmlns:p14="http://schemas.microsoft.com/office/powerpoint/2010/main" val="169435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2"/>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如何訓練？</a:t>
            </a:r>
          </a:p>
        </p:txBody>
      </p:sp>
      <p:pic>
        <p:nvPicPr>
          <p:cNvPr id="4" name="Picture 4" descr="http://imgsnew.jiatx.com/news/2011_05/06/home/1304672691103_000.jpg"/>
          <p:cNvPicPr>
            <a:picLocks noChangeAspect="1" noChangeArrowheads="1"/>
          </p:cNvPicPr>
          <p:nvPr/>
        </p:nvPicPr>
        <p:blipFill>
          <a:blip r:embed="rId3" cstate="print"/>
          <a:srcRect/>
          <a:stretch>
            <a:fillRect/>
          </a:stretch>
        </p:blipFill>
        <p:spPr bwMode="auto">
          <a:xfrm>
            <a:off x="1678036" y="2692153"/>
            <a:ext cx="5238750" cy="3495675"/>
          </a:xfrm>
          <a:prstGeom prst="rect">
            <a:avLst/>
          </a:prstGeom>
          <a:noFill/>
        </p:spPr>
      </p:pic>
      <p:pic>
        <p:nvPicPr>
          <p:cNvPr id="5" name="Picture 2" descr="http://img.shushi100.com/images/d2923ae9-0b45-4c59-abf0-010a60ac5876.jpg"/>
          <p:cNvPicPr>
            <a:picLocks noChangeAspect="1" noChangeArrowheads="1"/>
          </p:cNvPicPr>
          <p:nvPr/>
        </p:nvPicPr>
        <p:blipFill>
          <a:blip r:embed="rId4" cstate="print"/>
          <a:srcRect/>
          <a:stretch>
            <a:fillRect/>
          </a:stretch>
        </p:blipFill>
        <p:spPr bwMode="auto">
          <a:xfrm>
            <a:off x="5818832" y="1152853"/>
            <a:ext cx="4574849" cy="2914650"/>
          </a:xfrm>
          <a:prstGeom prst="rect">
            <a:avLst/>
          </a:prstGeom>
          <a:noFill/>
        </p:spPr>
      </p:pic>
      <p:sp>
        <p:nvSpPr>
          <p:cNvPr id="6" name="文本框 5"/>
          <p:cNvSpPr txBox="1"/>
          <p:nvPr/>
        </p:nvSpPr>
        <p:spPr>
          <a:xfrm>
            <a:off x="5468982" y="5442853"/>
            <a:ext cx="1393372" cy="707886"/>
          </a:xfrm>
          <a:prstGeom prst="rect">
            <a:avLst/>
          </a:prstGeom>
          <a:solidFill>
            <a:srgbClr val="B0A498"/>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3869177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淋浴器示意圖</a:t>
            </a:r>
          </a:p>
        </p:txBody>
      </p:sp>
      <p:sp>
        <p:nvSpPr>
          <p:cNvPr id="4" name="椭圆 3"/>
          <p:cNvSpPr/>
          <p:nvPr/>
        </p:nvSpPr>
        <p:spPr>
          <a:xfrm>
            <a:off x="4440459" y="4509120"/>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 name="椭圆 4"/>
          <p:cNvSpPr/>
          <p:nvPr/>
        </p:nvSpPr>
        <p:spPr>
          <a:xfrm>
            <a:off x="3288331" y="4509120"/>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 name="椭圆 5"/>
          <p:cNvSpPr/>
          <p:nvPr/>
        </p:nvSpPr>
        <p:spPr>
          <a:xfrm>
            <a:off x="4135304" y="3212976"/>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 name="TextBox 6"/>
          <p:cNvSpPr txBox="1"/>
          <p:nvPr/>
        </p:nvSpPr>
        <p:spPr>
          <a:xfrm>
            <a:off x="3013691" y="5435933"/>
            <a:ext cx="10801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熱水</a:t>
            </a:r>
          </a:p>
        </p:txBody>
      </p:sp>
      <p:sp>
        <p:nvSpPr>
          <p:cNvPr id="8" name="TextBox 7"/>
          <p:cNvSpPr txBox="1"/>
          <p:nvPr/>
        </p:nvSpPr>
        <p:spPr>
          <a:xfrm>
            <a:off x="4172179" y="5445225"/>
            <a:ext cx="10801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冷水</a:t>
            </a:r>
          </a:p>
        </p:txBody>
      </p:sp>
      <p:cxnSp>
        <p:nvCxnSpPr>
          <p:cNvPr id="9" name="直接箭头连接符 8"/>
          <p:cNvCxnSpPr/>
          <p:nvPr/>
        </p:nvCxnSpPr>
        <p:spPr>
          <a:xfrm flipV="1">
            <a:off x="4541963" y="4723507"/>
            <a:ext cx="0" cy="57606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3404583" y="4719105"/>
            <a:ext cx="0" cy="57606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5" idx="0"/>
            <a:endCxn id="6" idx="4"/>
          </p:cNvCxnSpPr>
          <p:nvPr/>
        </p:nvCxnSpPr>
        <p:spPr>
          <a:xfrm flipV="1">
            <a:off x="3396344" y="3429000"/>
            <a:ext cx="846973" cy="10801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4" idx="0"/>
            <a:endCxn id="6" idx="4"/>
          </p:cNvCxnSpPr>
          <p:nvPr/>
        </p:nvCxnSpPr>
        <p:spPr>
          <a:xfrm flipH="1" flipV="1">
            <a:off x="4243317" y="3429000"/>
            <a:ext cx="305155" cy="10801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6" idx="0"/>
          </p:cNvCxnSpPr>
          <p:nvPr/>
        </p:nvCxnSpPr>
        <p:spPr>
          <a:xfrm flipH="1" flipV="1">
            <a:off x="4223792" y="2060848"/>
            <a:ext cx="19524" cy="11521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236078" y="1628801"/>
            <a:ext cx="165554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水量 水溫</a:t>
            </a:r>
          </a:p>
        </p:txBody>
      </p:sp>
      <p:sp>
        <p:nvSpPr>
          <p:cNvPr id="15" name="TextBox 14"/>
          <p:cNvSpPr txBox="1"/>
          <p:nvPr/>
        </p:nvSpPr>
        <p:spPr>
          <a:xfrm>
            <a:off x="2682101" y="3891271"/>
            <a:ext cx="252028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w1                w2 </a:t>
            </a:r>
            <a:endPar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pic>
        <p:nvPicPr>
          <p:cNvPr id="16" name="Picture 2" descr="手 手的表情 手势 手的姿势"/>
          <p:cNvPicPr>
            <a:picLocks noChangeAspect="1" noChangeArrowheads="1"/>
          </p:cNvPicPr>
          <p:nvPr/>
        </p:nvPicPr>
        <p:blipFill>
          <a:blip r:embed="rId3" cstate="print"/>
          <a:srcRect/>
          <a:stretch>
            <a:fillRect/>
          </a:stretch>
        </p:blipFill>
        <p:spPr bwMode="auto">
          <a:xfrm>
            <a:off x="6312024" y="2780928"/>
            <a:ext cx="1419954" cy="1008112"/>
          </a:xfrm>
          <a:prstGeom prst="rect">
            <a:avLst/>
          </a:prstGeom>
          <a:noFill/>
        </p:spPr>
      </p:pic>
      <p:cxnSp>
        <p:nvCxnSpPr>
          <p:cNvPr id="17" name="形状 16"/>
          <p:cNvCxnSpPr>
            <a:endCxn id="16" idx="0"/>
          </p:cNvCxnSpPr>
          <p:nvPr/>
        </p:nvCxnSpPr>
        <p:spPr>
          <a:xfrm>
            <a:off x="4223793" y="2564904"/>
            <a:ext cx="2798209" cy="216024"/>
          </a:xfrm>
          <a:prstGeom prst="bentConnector2">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087888" y="2051557"/>
            <a:ext cx="10801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感知</a:t>
            </a:r>
          </a:p>
        </p:txBody>
      </p:sp>
      <p:cxnSp>
        <p:nvCxnSpPr>
          <p:cNvPr id="19" name="直接箭头连接符 18"/>
          <p:cNvCxnSpPr>
            <a:stCxn id="16" idx="1"/>
          </p:cNvCxnSpPr>
          <p:nvPr/>
        </p:nvCxnSpPr>
        <p:spPr>
          <a:xfrm flipH="1">
            <a:off x="3404584" y="3284984"/>
            <a:ext cx="2907441" cy="77321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4967765" y="3363366"/>
            <a:ext cx="1379097" cy="694829"/>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519936" y="3861049"/>
            <a:ext cx="10801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調節</a:t>
            </a:r>
          </a:p>
        </p:txBody>
      </p:sp>
      <p:sp>
        <p:nvSpPr>
          <p:cNvPr id="22" name="TextBox 21"/>
          <p:cNvSpPr txBox="1"/>
          <p:nvPr/>
        </p:nvSpPr>
        <p:spPr>
          <a:xfrm>
            <a:off x="4056319" y="3106467"/>
            <a:ext cx="10801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23" name="椭圆 22"/>
          <p:cNvSpPr/>
          <p:nvPr/>
        </p:nvSpPr>
        <p:spPr>
          <a:xfrm>
            <a:off x="3643271" y="3234746"/>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cxnSp>
        <p:nvCxnSpPr>
          <p:cNvPr id="24" name="直接箭头连接符 23"/>
          <p:cNvCxnSpPr/>
          <p:nvPr/>
        </p:nvCxnSpPr>
        <p:spPr>
          <a:xfrm flipH="1" flipV="1">
            <a:off x="3731759" y="2082613"/>
            <a:ext cx="19524" cy="11521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形状 16"/>
          <p:cNvCxnSpPr/>
          <p:nvPr/>
        </p:nvCxnSpPr>
        <p:spPr>
          <a:xfrm>
            <a:off x="3731760" y="2726013"/>
            <a:ext cx="2798209" cy="216024"/>
          </a:xfrm>
          <a:prstGeom prst="bentConnector2">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1"/>
          <p:cNvSpPr txBox="1"/>
          <p:nvPr/>
        </p:nvSpPr>
        <p:spPr>
          <a:xfrm>
            <a:off x="3563084" y="3134871"/>
            <a:ext cx="10801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cxnSp>
        <p:nvCxnSpPr>
          <p:cNvPr id="29" name="直接箭头连接符 28"/>
          <p:cNvCxnSpPr/>
          <p:nvPr/>
        </p:nvCxnSpPr>
        <p:spPr>
          <a:xfrm flipV="1">
            <a:off x="3402647" y="3480933"/>
            <a:ext cx="329112" cy="10406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flipV="1">
            <a:off x="3750081" y="3475334"/>
            <a:ext cx="792038" cy="10337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19722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損失函數</a:t>
            </a:r>
            <a:r>
              <a:rPr lang="en-US" altLang="zh-CN" dirty="0"/>
              <a:t>——</a:t>
            </a:r>
            <a:r>
              <a:rPr lang="zh-CN" altLang="en-US" dirty="0"/>
              <a:t>誤差平方和</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174898"/>
                <a:ext cx="10363200" cy="5048794"/>
              </a:xfrm>
            </p:spPr>
            <p:txBody>
              <a:bodyPr/>
              <a:lstStyle/>
              <a:p>
                <a:endParaRPr lang="en-US" altLang="zh-CN" dirty="0"/>
              </a:p>
              <a:p>
                <a:r>
                  <a:rPr lang="zh-CN" altLang="en-US" dirty="0"/>
                  <a:t>對樣本</a:t>
                </a:r>
                <a:r>
                  <a:rPr lang="en-US" altLang="zh-CN" dirty="0"/>
                  <a:t>d</a:t>
                </a:r>
                <a:r>
                  <a:rPr lang="zh-CN" altLang="en-US" dirty="0"/>
                  <a:t>的誤差</a:t>
                </a: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𝑑</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b="0" i="1" smtClean="0">
                            <a:latin typeface="Cambria Math" panose="02040503050406030204" pitchFamily="18" charset="0"/>
                          </a:rPr>
                          <m:t>𝑚</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oMath>
                </a14:m>
                <a:endParaRPr lang="zh-CN" altLang="zh-CN" dirty="0"/>
              </a:p>
              <a:p>
                <a:endParaRPr lang="en-US" altLang="zh-CN" dirty="0"/>
              </a:p>
              <a:p>
                <a:r>
                  <a:rPr lang="zh-CN" altLang="en-US" dirty="0"/>
                  <a:t>對所有樣本的誤差</a:t>
                </a:r>
                <a:endParaRPr lang="en-US" altLang="zh-CN" dirty="0"/>
              </a:p>
              <a:p>
                <a:pPr marL="0" indent="0">
                  <a:buNone/>
                </a:pPr>
                <a:r>
                  <a:rPr lang="en-US" altLang="zh-CN" dirty="0"/>
                  <a:t> </a:t>
                </a:r>
                <a14:m>
                  <m:oMath xmlns:m="http://schemas.openxmlformats.org/officeDocument/2006/math">
                    <m:r>
                      <a:rPr lang="en-US" altLang="zh-CN" i="1">
                        <a:latin typeface="Cambria Math" panose="02040503050406030204" pitchFamily="18" charset="0"/>
                      </a:rPr>
                      <m:t>𝐸</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𝑑</m:t>
                        </m:r>
                        <m:r>
                          <a:rPr lang="en-US" altLang="zh-CN" i="1">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𝑑</m:t>
                            </m:r>
                          </m:sub>
                        </m:sSub>
                        <m:r>
                          <a:rPr lang="en-US" altLang="zh-CN">
                            <a:latin typeface="Cambria Math" panose="02040503050406030204" pitchFamily="18" charset="0"/>
                          </a:rPr>
                          <m:t>(</m:t>
                        </m:r>
                        <m:r>
                          <m:rPr>
                            <m:sty m:val="p"/>
                          </m:rPr>
                          <a:rPr lang="en-US" altLang="zh-CN">
                            <a:latin typeface="Cambria Math" panose="02040503050406030204" pitchFamily="18" charset="0"/>
                          </a:rPr>
                          <m:t>w</m:t>
                        </m:r>
                        <m:r>
                          <a:rPr lang="en-US" altLang="zh-CN">
                            <a:latin typeface="Cambria Math" panose="02040503050406030204" pitchFamily="18" charset="0"/>
                          </a:rPr>
                          <m:t>)</m:t>
                        </m:r>
                      </m:e>
                    </m:nary>
                  </m:oMath>
                </a14:m>
                <a:endParaRPr lang="en-US" altLang="zh-CN" i="1" dirty="0"/>
              </a:p>
              <a:p>
                <a:pPr marL="0" indent="0">
                  <a:buNone/>
                </a:pPr>
                <a:r>
                  <a:rPr lang="en-US" altLang="zh-CN" dirty="0"/>
                  <a:t>            </a:t>
                </a:r>
                <a14:m>
                  <m:oMath xmlns:m="http://schemas.openxmlformats.org/officeDocument/2006/math">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𝑑</m:t>
                        </m:r>
                        <m:r>
                          <a:rPr lang="en-US" altLang="zh-CN" i="1">
                            <a:latin typeface="Cambria Math" panose="02040503050406030204" pitchFamily="18" charset="0"/>
                          </a:rPr>
                          <m:t>=1</m:t>
                        </m:r>
                      </m:sub>
                      <m:sup>
                        <m:r>
                          <a:rPr lang="en-US" altLang="zh-CN" b="0" i="1" smtClean="0">
                            <a:latin typeface="Cambria Math" panose="02040503050406030204" pitchFamily="18" charset="0"/>
                          </a:rPr>
                          <m:t>𝑛</m:t>
                        </m:r>
                      </m:sup>
                      <m:e>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b="0" i="1" smtClean="0">
                                <a:latin typeface="Cambria Math" panose="02040503050406030204" pitchFamily="18" charset="0"/>
                              </a:rPr>
                              <m:t>𝑚</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e>
                    </m:nary>
                  </m:oMath>
                </a14:m>
                <a:endParaRPr lang="zh-CN" altLang="zh-CN" dirty="0"/>
              </a:p>
              <a:p>
                <a:endParaRPr lang="en-US" altLang="zh-CN" dirty="0"/>
              </a:p>
              <a:p>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oMath>
                </a14:m>
                <a:r>
                  <a:rPr lang="zh-CN" altLang="en-US" dirty="0"/>
                  <a:t>：對應樣本</a:t>
                </a:r>
                <a:r>
                  <a:rPr lang="en-US" altLang="zh-CN" dirty="0"/>
                  <a:t>d</a:t>
                </a:r>
                <a:r>
                  <a:rPr lang="zh-CN" altLang="en-US" dirty="0"/>
                  <a:t>的第</a:t>
                </a:r>
                <a:r>
                  <a:rPr lang="en-US" altLang="zh-CN" dirty="0"/>
                  <a:t>k</a:t>
                </a:r>
                <a:r>
                  <a:rPr lang="zh-CN" altLang="en-US" dirty="0"/>
                  <a:t>個希望輸出</a:t>
                </a:r>
                <a:endParaRPr lang="en-US" altLang="zh-CN" dirty="0"/>
              </a:p>
              <a:p>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b="0" i="1" smtClean="0">
                            <a:latin typeface="Cambria Math" panose="02040503050406030204" pitchFamily="18" charset="0"/>
                          </a:rPr>
                          <m:t>𝑜</m:t>
                        </m:r>
                      </m:e>
                      <m:sub>
                        <m:r>
                          <a:rPr lang="en-US" altLang="zh-CN" i="1">
                            <a:latin typeface="Cambria Math" panose="02040503050406030204" pitchFamily="18" charset="0"/>
                          </a:rPr>
                          <m:t>𝑘𝑑</m:t>
                        </m:r>
                      </m:sub>
                    </m:sSub>
                  </m:oMath>
                </a14:m>
                <a:r>
                  <a:rPr lang="zh-CN" altLang="en-US" dirty="0"/>
                  <a:t>：對應樣本</a:t>
                </a:r>
                <a:r>
                  <a:rPr lang="en-US" altLang="zh-CN" dirty="0"/>
                  <a:t>d</a:t>
                </a:r>
                <a:r>
                  <a:rPr lang="zh-CN" altLang="en-US" dirty="0"/>
                  <a:t>的第</a:t>
                </a:r>
                <a:r>
                  <a:rPr lang="en-US" altLang="zh-CN" dirty="0"/>
                  <a:t>k</a:t>
                </a:r>
                <a:r>
                  <a:rPr lang="zh-CN" altLang="en-US" dirty="0"/>
                  <a:t>個實際輸出</a:t>
                </a:r>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174898"/>
                <a:ext cx="10363200" cy="5048794"/>
              </a:xfrm>
              <a:blipFill>
                <a:blip r:embed="rId3"/>
                <a:stretch>
                  <a:fillRect/>
                </a:stretch>
              </a:blipFill>
            </p:spPr>
            <p:txBody>
              <a:bodyPr/>
              <a:lstStyle/>
              <a:p>
                <a:r>
                  <a:rPr lang="zh-TW" altLang="en-US">
                    <a:noFill/>
                  </a:rPr>
                  <a:t> </a:t>
                </a:r>
              </a:p>
            </p:txBody>
          </p:sp>
        </mc:Fallback>
      </mc:AlternateContent>
      <p:cxnSp>
        <p:nvCxnSpPr>
          <p:cNvPr id="4" name="直接箭头连接符 3"/>
          <p:cNvCxnSpPr/>
          <p:nvPr/>
        </p:nvCxnSpPr>
        <p:spPr>
          <a:xfrm flipH="1" flipV="1">
            <a:off x="8278132" y="1747483"/>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5" name="直接箭头连接符 4"/>
          <p:cNvCxnSpPr/>
          <p:nvPr/>
        </p:nvCxnSpPr>
        <p:spPr>
          <a:xfrm flipH="1" flipV="1">
            <a:off x="9913937" y="1728324"/>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6" name="椭圆 5"/>
          <p:cNvSpPr/>
          <p:nvPr/>
        </p:nvSpPr>
        <p:spPr>
          <a:xfrm>
            <a:off x="9792779" y="2213685"/>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 name="椭圆 6"/>
          <p:cNvSpPr/>
          <p:nvPr/>
        </p:nvSpPr>
        <p:spPr>
          <a:xfrm>
            <a:off x="8145435"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8" name="直接箭头连接符 7"/>
          <p:cNvCxnSpPr>
            <a:stCxn id="14" idx="0"/>
            <a:endCxn id="32" idx="4"/>
          </p:cNvCxnSpPr>
          <p:nvPr/>
        </p:nvCxnSpPr>
        <p:spPr>
          <a:xfrm flipV="1">
            <a:off x="801258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9" name="直接箭头连接符 8"/>
          <p:cNvCxnSpPr>
            <a:stCxn id="14" idx="0"/>
            <a:endCxn id="33" idx="4"/>
          </p:cNvCxnSpPr>
          <p:nvPr/>
        </p:nvCxnSpPr>
        <p:spPr>
          <a:xfrm flipV="1">
            <a:off x="8012586" y="3459324"/>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0" name="直接箭头连接符 9"/>
          <p:cNvCxnSpPr>
            <a:stCxn id="15" idx="0"/>
            <a:endCxn id="33" idx="4"/>
          </p:cNvCxnSpPr>
          <p:nvPr/>
        </p:nvCxnSpPr>
        <p:spPr>
          <a:xfrm flipV="1">
            <a:off x="872799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1" name="直接箭头连接符 10"/>
          <p:cNvCxnSpPr>
            <a:stCxn id="16" idx="0"/>
            <a:endCxn id="33" idx="4"/>
          </p:cNvCxnSpPr>
          <p:nvPr/>
        </p:nvCxnSpPr>
        <p:spPr>
          <a:xfrm flipH="1" flipV="1">
            <a:off x="8732343" y="3459324"/>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p:cNvCxnSpPr>
            <a:stCxn id="16" idx="0"/>
            <a:endCxn id="34" idx="4"/>
          </p:cNvCxnSpPr>
          <p:nvPr/>
        </p:nvCxnSpPr>
        <p:spPr>
          <a:xfrm flipV="1">
            <a:off x="10268434" y="3484870"/>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15" idx="0"/>
            <a:endCxn id="32" idx="4"/>
          </p:cNvCxnSpPr>
          <p:nvPr/>
        </p:nvCxnSpPr>
        <p:spPr>
          <a:xfrm flipH="1" flipV="1">
            <a:off x="8016933" y="3459324"/>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14" name="椭圆 13"/>
          <p:cNvSpPr/>
          <p:nvPr/>
        </p:nvSpPr>
        <p:spPr>
          <a:xfrm>
            <a:off x="787331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5" name="椭圆 14"/>
          <p:cNvSpPr/>
          <p:nvPr/>
        </p:nvSpPr>
        <p:spPr>
          <a:xfrm>
            <a:off x="858872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6" name="椭圆 15"/>
          <p:cNvSpPr/>
          <p:nvPr/>
        </p:nvSpPr>
        <p:spPr>
          <a:xfrm>
            <a:off x="10129167" y="4316271"/>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7" name="椭圆 16"/>
          <p:cNvSpPr/>
          <p:nvPr/>
        </p:nvSpPr>
        <p:spPr>
          <a:xfrm>
            <a:off x="10631108" y="54849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8" name="椭圆 17"/>
          <p:cNvSpPr/>
          <p:nvPr/>
        </p:nvSpPr>
        <p:spPr>
          <a:xfrm>
            <a:off x="8588729"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7532923"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0" name="直接箭头连接符 19"/>
          <p:cNvCxnSpPr>
            <a:stCxn id="19" idx="0"/>
            <a:endCxn id="14" idx="4"/>
          </p:cNvCxnSpPr>
          <p:nvPr/>
        </p:nvCxnSpPr>
        <p:spPr>
          <a:xfrm flipV="1">
            <a:off x="7672190" y="4578377"/>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1" name="直接箭头连接符 20"/>
          <p:cNvCxnSpPr>
            <a:stCxn id="19" idx="0"/>
            <a:endCxn id="15" idx="4"/>
          </p:cNvCxnSpPr>
          <p:nvPr/>
        </p:nvCxnSpPr>
        <p:spPr>
          <a:xfrm flipV="1">
            <a:off x="7672190" y="4578377"/>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2" name="直接箭头连接符 21"/>
          <p:cNvCxnSpPr>
            <a:stCxn id="18" idx="0"/>
            <a:endCxn id="14" idx="4"/>
          </p:cNvCxnSpPr>
          <p:nvPr/>
        </p:nvCxnSpPr>
        <p:spPr>
          <a:xfrm flipH="1" flipV="1">
            <a:off x="8012586" y="4578377"/>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3" name="直接箭头连接符 22"/>
          <p:cNvCxnSpPr>
            <a:stCxn id="19" idx="0"/>
            <a:endCxn id="16" idx="4"/>
          </p:cNvCxnSpPr>
          <p:nvPr/>
        </p:nvCxnSpPr>
        <p:spPr>
          <a:xfrm flipV="1">
            <a:off x="7672190" y="4603923"/>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4" name="直接箭头连接符 23"/>
          <p:cNvCxnSpPr>
            <a:stCxn id="18" idx="0"/>
            <a:endCxn id="15" idx="4"/>
          </p:cNvCxnSpPr>
          <p:nvPr/>
        </p:nvCxnSpPr>
        <p:spPr>
          <a:xfrm flipV="1">
            <a:off x="8727996" y="4578377"/>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18" idx="0"/>
            <a:endCxn id="16" idx="4"/>
          </p:cNvCxnSpPr>
          <p:nvPr/>
        </p:nvCxnSpPr>
        <p:spPr>
          <a:xfrm flipV="1">
            <a:off x="8727996" y="4603923"/>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17" idx="0"/>
            <a:endCxn id="16" idx="4"/>
          </p:cNvCxnSpPr>
          <p:nvPr/>
        </p:nvCxnSpPr>
        <p:spPr>
          <a:xfrm flipH="1" flipV="1">
            <a:off x="10268434" y="4603923"/>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17" idx="0"/>
            <a:endCxn id="15" idx="4"/>
          </p:cNvCxnSpPr>
          <p:nvPr/>
        </p:nvCxnSpPr>
        <p:spPr>
          <a:xfrm flipH="1" flipV="1">
            <a:off x="8727996" y="4578377"/>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17" idx="0"/>
            <a:endCxn id="14" idx="4"/>
          </p:cNvCxnSpPr>
          <p:nvPr/>
        </p:nvCxnSpPr>
        <p:spPr>
          <a:xfrm flipH="1" flipV="1">
            <a:off x="8012586" y="4578377"/>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2" name="椭圆 31"/>
          <p:cNvSpPr/>
          <p:nvPr/>
        </p:nvSpPr>
        <p:spPr>
          <a:xfrm>
            <a:off x="787766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3" name="椭圆 32"/>
          <p:cNvSpPr/>
          <p:nvPr/>
        </p:nvSpPr>
        <p:spPr>
          <a:xfrm>
            <a:off x="859307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4" name="椭圆 33"/>
          <p:cNvSpPr/>
          <p:nvPr/>
        </p:nvSpPr>
        <p:spPr>
          <a:xfrm>
            <a:off x="10133514" y="319721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35" name="直接箭头连接符 34"/>
          <p:cNvCxnSpPr>
            <a:stCxn id="14" idx="0"/>
            <a:endCxn id="34" idx="4"/>
          </p:cNvCxnSpPr>
          <p:nvPr/>
        </p:nvCxnSpPr>
        <p:spPr>
          <a:xfrm flipV="1">
            <a:off x="8012586" y="3484870"/>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p:cNvCxnSpPr>
            <a:stCxn id="15" idx="0"/>
            <a:endCxn id="34" idx="4"/>
          </p:cNvCxnSpPr>
          <p:nvPr/>
        </p:nvCxnSpPr>
        <p:spPr>
          <a:xfrm flipV="1">
            <a:off x="8727996" y="3484870"/>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p:cNvCxnSpPr>
            <a:stCxn id="16" idx="0"/>
            <a:endCxn id="32" idx="4"/>
          </p:cNvCxnSpPr>
          <p:nvPr/>
        </p:nvCxnSpPr>
        <p:spPr>
          <a:xfrm flipH="1" flipV="1">
            <a:off x="8016933" y="3459324"/>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32" idx="0"/>
            <a:endCxn id="7" idx="4"/>
          </p:cNvCxnSpPr>
          <p:nvPr/>
        </p:nvCxnSpPr>
        <p:spPr>
          <a:xfrm flipV="1">
            <a:off x="8016933" y="2527867"/>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39" name="直接箭头连接符 38"/>
          <p:cNvCxnSpPr>
            <a:stCxn id="32" idx="0"/>
            <a:endCxn id="6" idx="4"/>
          </p:cNvCxnSpPr>
          <p:nvPr/>
        </p:nvCxnSpPr>
        <p:spPr>
          <a:xfrm flipV="1">
            <a:off x="8016933" y="2502321"/>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p:cNvCxnSpPr>
            <a:stCxn id="33" idx="0"/>
            <a:endCxn id="7" idx="4"/>
          </p:cNvCxnSpPr>
          <p:nvPr/>
        </p:nvCxnSpPr>
        <p:spPr>
          <a:xfrm flipH="1" flipV="1">
            <a:off x="8284702" y="2527867"/>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p:cNvCxnSpPr>
            <a:stCxn id="33" idx="0"/>
            <a:endCxn id="6" idx="4"/>
          </p:cNvCxnSpPr>
          <p:nvPr/>
        </p:nvCxnSpPr>
        <p:spPr>
          <a:xfrm flipV="1">
            <a:off x="8732343" y="2502321"/>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p:cNvCxnSpPr>
            <a:stCxn id="34" idx="0"/>
            <a:endCxn id="7" idx="4"/>
          </p:cNvCxnSpPr>
          <p:nvPr/>
        </p:nvCxnSpPr>
        <p:spPr>
          <a:xfrm flipH="1" flipV="1">
            <a:off x="8284702" y="2527867"/>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p:cNvCxnSpPr>
            <a:stCxn id="34" idx="0"/>
            <a:endCxn id="6" idx="4"/>
          </p:cNvCxnSpPr>
          <p:nvPr/>
        </p:nvCxnSpPr>
        <p:spPr>
          <a:xfrm flipH="1" flipV="1">
            <a:off x="9932046" y="2502321"/>
            <a:ext cx="340735" cy="69489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45" name="文本框 44"/>
              <p:cNvSpPr txBox="1"/>
              <p:nvPr/>
            </p:nvSpPr>
            <p:spPr>
              <a:xfrm>
                <a:off x="7453822" y="5790012"/>
                <a:ext cx="38753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45" name="文本框 44"/>
              <p:cNvSpPr txBox="1">
                <a:spLocks noRot="1" noChangeAspect="1" noMove="1" noResize="1" noEditPoints="1" noAdjustHandles="1" noChangeArrowheads="1" noChangeShapeType="1" noTextEdit="1"/>
              </p:cNvSpPr>
              <p:nvPr/>
            </p:nvSpPr>
            <p:spPr>
              <a:xfrm>
                <a:off x="7453822" y="5790012"/>
                <a:ext cx="3875315" cy="461665"/>
              </a:xfrm>
              <a:prstGeom prst="rect">
                <a:avLst/>
              </a:prstGeom>
              <a:blipFill>
                <a:blip r:embed="rId4"/>
                <a:stretch>
                  <a:fillRect/>
                </a:stretch>
              </a:blipFill>
            </p:spPr>
            <p:txBody>
              <a:bodyPr/>
              <a:lstStyle/>
              <a:p>
                <a:r>
                  <a:rPr lang="zh-TW" altLang="en-US">
                    <a:noFill/>
                  </a:rPr>
                  <a:t> </a:t>
                </a:r>
              </a:p>
            </p:txBody>
          </p:sp>
        </mc:Fallback>
      </mc:AlternateContent>
      <p:sp>
        <p:nvSpPr>
          <p:cNvPr id="46" name="文本框 173"/>
          <p:cNvSpPr txBox="1"/>
          <p:nvPr/>
        </p:nvSpPr>
        <p:spPr>
          <a:xfrm>
            <a:off x="9455737" y="5407369"/>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7" name="文本框 173"/>
          <p:cNvSpPr txBox="1"/>
          <p:nvPr/>
        </p:nvSpPr>
        <p:spPr>
          <a:xfrm>
            <a:off x="9130121" y="4165264"/>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8" name="文本框 173"/>
          <p:cNvSpPr txBox="1"/>
          <p:nvPr/>
        </p:nvSpPr>
        <p:spPr>
          <a:xfrm>
            <a:off x="9021280" y="2092773"/>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9" name="文本框 173"/>
          <p:cNvSpPr txBox="1"/>
          <p:nvPr/>
        </p:nvSpPr>
        <p:spPr>
          <a:xfrm>
            <a:off x="9181906" y="3102948"/>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50" name="直接箭头连接符 49"/>
          <p:cNvCxnSpPr/>
          <p:nvPr/>
        </p:nvCxnSpPr>
        <p:spPr>
          <a:xfrm flipH="1" flipV="1">
            <a:off x="8860398" y="1747483"/>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51" name="椭圆 50"/>
          <p:cNvSpPr/>
          <p:nvPr/>
        </p:nvSpPr>
        <p:spPr>
          <a:xfrm>
            <a:off x="8727701"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52" name="直接箭头连接符 51"/>
          <p:cNvCxnSpPr>
            <a:stCxn id="32" idx="0"/>
            <a:endCxn id="51" idx="4"/>
          </p:cNvCxnSpPr>
          <p:nvPr/>
        </p:nvCxnSpPr>
        <p:spPr>
          <a:xfrm flipV="1">
            <a:off x="8016933" y="2527867"/>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3" name="直接箭头连接符 52"/>
          <p:cNvCxnSpPr>
            <a:stCxn id="33" idx="0"/>
            <a:endCxn id="51" idx="4"/>
          </p:cNvCxnSpPr>
          <p:nvPr/>
        </p:nvCxnSpPr>
        <p:spPr>
          <a:xfrm flipV="1">
            <a:off x="8732343" y="2527867"/>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4" name="直接箭头连接符 53"/>
          <p:cNvCxnSpPr>
            <a:stCxn id="34" idx="0"/>
            <a:endCxn id="51" idx="4"/>
          </p:cNvCxnSpPr>
          <p:nvPr/>
        </p:nvCxnSpPr>
        <p:spPr>
          <a:xfrm flipH="1" flipV="1">
            <a:off x="8866968" y="2527867"/>
            <a:ext cx="1405813" cy="66935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55" name="文本框 54"/>
              <p:cNvSpPr txBox="1"/>
              <p:nvPr/>
            </p:nvSpPr>
            <p:spPr>
              <a:xfrm>
                <a:off x="8012586" y="1251824"/>
                <a:ext cx="23951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55" name="文本框 54"/>
              <p:cNvSpPr txBox="1">
                <a:spLocks noRot="1" noChangeAspect="1" noMove="1" noResize="1" noEditPoints="1" noAdjustHandles="1" noChangeArrowheads="1" noChangeShapeType="1" noTextEdit="1"/>
              </p:cNvSpPr>
              <p:nvPr/>
            </p:nvSpPr>
            <p:spPr>
              <a:xfrm>
                <a:off x="8012586" y="1251824"/>
                <a:ext cx="2395115" cy="46166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6" name="文本框 55"/>
              <p:cNvSpPr txBox="1"/>
              <p:nvPr/>
            </p:nvSpPr>
            <p:spPr>
              <a:xfrm>
                <a:off x="1240283" y="2147326"/>
                <a:ext cx="4546425" cy="657296"/>
              </a:xfrm>
              <a:prstGeom prst="rect">
                <a:avLst/>
              </a:prstGeom>
              <a:solidFill>
                <a:srgbClr val="CCFF99"/>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sub>
                    </m:sSub>
                    <m:d>
                      <m:d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d>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altLang="zh-CN" sz="2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srgbClr val="FF0000"/>
                            </a:solidFill>
                            <a:effectLst/>
                            <a:uLnTx/>
                            <a:uFillTx/>
                            <a:latin typeface="Cambria Math" panose="02040503050406030204" pitchFamily="18" charset="0"/>
                            <a:cs typeface="+mn-cs"/>
                          </a:rPr>
                          <m:t>1</m:t>
                        </m:r>
                      </m:num>
                      <m:den>
                        <m:r>
                          <a:rPr kumimoji="0" lang="en-US" altLang="zh-CN" sz="2600" b="0" i="1" u="none" strike="noStrike" kern="1200" cap="none" spc="0" normalizeH="0" baseline="0" noProof="0">
                            <a:ln>
                              <a:noFill/>
                            </a:ln>
                            <a:solidFill>
                              <a:srgbClr val="FF0000"/>
                            </a:solidFill>
                            <a:effectLst/>
                            <a:uLnTx/>
                            <a:uFillTx/>
                            <a:latin typeface="Cambria Math" panose="02040503050406030204" pitchFamily="18" charset="0"/>
                            <a:cs typeface="+mn-cs"/>
                          </a:rPr>
                          <m:t>2</m:t>
                        </m:r>
                      </m:den>
                    </m:f>
                    <m:nary>
                      <m:naryPr>
                        <m:chr m:val="∑"/>
                        <m:limLoc m:val="undOv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𝑚</m:t>
                        </m:r>
                      </m:sup>
                      <m:e>
                        <m:sSup>
                          <m:sSup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𝑡</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𝑘𝑑</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𝑘𝑑</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oMath>
                </a14:m>
                <a:endPar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56" name="文本框 55"/>
              <p:cNvSpPr txBox="1">
                <a:spLocks noRot="1" noChangeAspect="1" noMove="1" noResize="1" noEditPoints="1" noAdjustHandles="1" noChangeArrowheads="1" noChangeShapeType="1" noTextEdit="1"/>
              </p:cNvSpPr>
              <p:nvPr/>
            </p:nvSpPr>
            <p:spPr>
              <a:xfrm>
                <a:off x="1240283" y="2147326"/>
                <a:ext cx="4546425" cy="657296"/>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7" name="文本框 56"/>
              <p:cNvSpPr txBox="1"/>
              <p:nvPr/>
            </p:nvSpPr>
            <p:spPr>
              <a:xfrm>
                <a:off x="1230190" y="3554135"/>
                <a:ext cx="5102692" cy="1222258"/>
              </a:xfrm>
              <a:prstGeom prst="rect">
                <a:avLst/>
              </a:prstGeom>
              <a:solidFill>
                <a:srgbClr val="CCFF99"/>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𝐸</m:t>
                    </m:r>
                    <m:d>
                      <m:d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d>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altLang="zh-CN" sz="2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srgbClr val="FF0000"/>
                            </a:solidFill>
                            <a:effectLst/>
                            <a:uLnTx/>
                            <a:uFillTx/>
                            <a:latin typeface="Cambria Math" panose="02040503050406030204" pitchFamily="18" charset="0"/>
                            <a:cs typeface="+mn-cs"/>
                          </a:rPr>
                          <m:t>1</m:t>
                        </m:r>
                      </m:num>
                      <m:den>
                        <m:r>
                          <a:rPr kumimoji="0" lang="en-US" altLang="zh-CN" sz="2600" b="0" i="1" u="none" strike="noStrike" kern="1200" cap="none" spc="0" normalizeH="0" baseline="0" noProof="0">
                            <a:ln>
                              <a:noFill/>
                            </a:ln>
                            <a:solidFill>
                              <a:srgbClr val="FF0000"/>
                            </a:solidFill>
                            <a:effectLst/>
                            <a:uLnTx/>
                            <a:uFillTx/>
                            <a:latin typeface="Cambria Math" panose="02040503050406030204" pitchFamily="18" charset="0"/>
                            <a:cs typeface="+mn-cs"/>
                          </a:rPr>
                          <m:t>2</m:t>
                        </m:r>
                      </m:den>
                    </m:f>
                    <m:nary>
                      <m:naryPr>
                        <m:chr m:val="∑"/>
                        <m:limLoc m:val="undOv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p>
                      <m:e>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sty m:val="p"/>
                              </m:rP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sub>
                        </m:sSub>
                        <m: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w</m:t>
                        </m:r>
                        <m: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m:t>
                        </m:r>
                      </m:e>
                    </m:nary>
                  </m:oMath>
                </a14:m>
                <a:endParaRPr kumimoji="0" lang="en-US" altLang="zh-CN" sz="26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altLang="zh-CN" sz="2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srgbClr val="FF0000"/>
                            </a:solidFill>
                            <a:effectLst/>
                            <a:uLnTx/>
                            <a:uFillTx/>
                            <a:latin typeface="Cambria Math" panose="02040503050406030204" pitchFamily="18" charset="0"/>
                            <a:cs typeface="+mn-cs"/>
                          </a:rPr>
                          <m:t>1</m:t>
                        </m:r>
                      </m:num>
                      <m:den>
                        <m:r>
                          <a:rPr kumimoji="0" lang="en-US" altLang="zh-CN" sz="2600" b="0" i="1" u="none" strike="noStrike" kern="1200" cap="none" spc="0" normalizeH="0" baseline="0" noProof="0">
                            <a:ln>
                              <a:noFill/>
                            </a:ln>
                            <a:solidFill>
                              <a:srgbClr val="FF0000"/>
                            </a:solidFill>
                            <a:effectLst/>
                            <a:uLnTx/>
                            <a:uFillTx/>
                            <a:latin typeface="Cambria Math" panose="02040503050406030204" pitchFamily="18" charset="0"/>
                            <a:cs typeface="+mn-cs"/>
                          </a:rPr>
                          <m:t>2</m:t>
                        </m:r>
                      </m:den>
                    </m:f>
                    <m:nary>
                      <m:naryPr>
                        <m:chr m:val="∑"/>
                        <m:limLoc m:val="undOv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p>
                      <m:e>
                        <m:nary>
                          <m:naryPr>
                            <m:chr m:val="∑"/>
                            <m:limLoc m:val="undOv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𝑚</m:t>
                            </m:r>
                          </m:sup>
                          <m:e>
                            <m:sSup>
                              <m:sSup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𝑡</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𝑘𝑑</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𝑘𝑑</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e>
                    </m:nary>
                  </m:oMath>
                </a14:m>
                <a:endPar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57" name="文本框 56"/>
              <p:cNvSpPr txBox="1">
                <a:spLocks noRot="1" noChangeAspect="1" noMove="1" noResize="1" noEditPoints="1" noAdjustHandles="1" noChangeArrowheads="1" noChangeShapeType="1" noTextEdit="1"/>
              </p:cNvSpPr>
              <p:nvPr/>
            </p:nvSpPr>
            <p:spPr>
              <a:xfrm>
                <a:off x="1230190" y="3554135"/>
                <a:ext cx="5102692" cy="1222258"/>
              </a:xfrm>
              <a:prstGeom prst="rect">
                <a:avLst/>
              </a:prstGeom>
              <a:blipFill>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8702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如何訓練？</a:t>
            </a:r>
          </a:p>
        </p:txBody>
      </p:sp>
      <p:sp>
        <p:nvSpPr>
          <p:cNvPr id="3" name="内容占位符 2"/>
          <p:cNvSpPr>
            <a:spLocks noGrp="1"/>
          </p:cNvSpPr>
          <p:nvPr>
            <p:ph sz="quarter" idx="1"/>
          </p:nvPr>
        </p:nvSpPr>
        <p:spPr/>
        <p:txBody>
          <a:bodyPr/>
          <a:lstStyle/>
          <a:p>
            <a:endParaRPr lang="en-US" altLang="zh-CN" dirty="0"/>
          </a:p>
          <a:p>
            <a:r>
              <a:rPr lang="zh-CN" altLang="en-US" dirty="0"/>
              <a:t>損失函數最小化問題</a:t>
            </a:r>
          </a:p>
        </p:txBody>
      </p:sp>
      <mc:AlternateContent xmlns:mc="http://schemas.openxmlformats.org/markup-compatibility/2006">
        <mc:Choice xmlns:a14="http://schemas.microsoft.com/office/drawing/2010/main" Requires="a14">
          <p:sp>
            <p:nvSpPr>
              <p:cNvPr id="5" name="文本框 4"/>
              <p:cNvSpPr txBox="1"/>
              <p:nvPr/>
            </p:nvSpPr>
            <p:spPr>
              <a:xfrm>
                <a:off x="1314061" y="3014746"/>
                <a:ext cx="5102692" cy="11845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𝐸</m:t>
                      </m:r>
                      <m:d>
                        <m:d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d>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2</m:t>
                          </m:r>
                        </m:den>
                      </m:f>
                      <m:nary>
                        <m:naryPr>
                          <m:chr m:val="∑"/>
                          <m:limLoc m:val="undOv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p>
                        <m:e>
                          <m:nary>
                            <m:naryPr>
                              <m:chr m:val="∑"/>
                              <m:limLoc m:val="undOv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𝑚</m:t>
                              </m:r>
                            </m:sup>
                            <m:e>
                              <m:sSup>
                                <m:sSup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𝑡</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𝑘𝑑</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𝑘𝑑</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e>
                      </m:nary>
                    </m:oMath>
                  </m:oMathPara>
                </a14:m>
                <a:endPar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5" name="文本框 4"/>
              <p:cNvSpPr txBox="1">
                <a:spLocks noRot="1" noChangeAspect="1" noMove="1" noResize="1" noEditPoints="1" noAdjustHandles="1" noChangeArrowheads="1" noChangeShapeType="1" noTextEdit="1"/>
              </p:cNvSpPr>
              <p:nvPr/>
            </p:nvSpPr>
            <p:spPr>
              <a:xfrm>
                <a:off x="1314061" y="3014746"/>
                <a:ext cx="5102692" cy="1184555"/>
              </a:xfrm>
              <a:prstGeom prst="rect">
                <a:avLst/>
              </a:prstGeom>
              <a:blipFill>
                <a:blip r:embed="rId2"/>
                <a:stretch>
                  <a:fillRect/>
                </a:stretch>
              </a:blipFill>
            </p:spPr>
            <p:txBody>
              <a:bodyPr/>
              <a:lstStyle/>
              <a:p>
                <a:r>
                  <a:rPr lang="zh-TW" altLang="en-US">
                    <a:noFill/>
                  </a:rPr>
                  <a:t> </a:t>
                </a:r>
              </a:p>
            </p:txBody>
          </p:sp>
        </mc:Fallback>
      </mc:AlternateContent>
      <p:grpSp>
        <p:nvGrpSpPr>
          <p:cNvPr id="54" name="组合 53"/>
          <p:cNvGrpSpPr/>
          <p:nvPr/>
        </p:nvGrpSpPr>
        <p:grpSpPr>
          <a:xfrm>
            <a:off x="7480664" y="1486397"/>
            <a:ext cx="2873114" cy="4320583"/>
            <a:chOff x="7453822" y="1251824"/>
            <a:chExt cx="3875315" cy="4962382"/>
          </a:xfrm>
        </p:grpSpPr>
        <p:cxnSp>
          <p:nvCxnSpPr>
            <p:cNvPr id="6" name="直接箭头连接符 5"/>
            <p:cNvCxnSpPr/>
            <p:nvPr/>
          </p:nvCxnSpPr>
          <p:spPr>
            <a:xfrm flipH="1" flipV="1">
              <a:off x="8278132" y="1747483"/>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7" name="直接箭头连接符 6"/>
            <p:cNvCxnSpPr/>
            <p:nvPr/>
          </p:nvCxnSpPr>
          <p:spPr>
            <a:xfrm flipH="1" flipV="1">
              <a:off x="9913937" y="1728324"/>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8" name="椭圆 7"/>
            <p:cNvSpPr/>
            <p:nvPr/>
          </p:nvSpPr>
          <p:spPr>
            <a:xfrm>
              <a:off x="9792779" y="2213685"/>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9" name="椭圆 8"/>
            <p:cNvSpPr/>
            <p:nvPr/>
          </p:nvSpPr>
          <p:spPr>
            <a:xfrm>
              <a:off x="8145435"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0" name="直接箭头连接符 9"/>
            <p:cNvCxnSpPr>
              <a:stCxn id="16" idx="0"/>
              <a:endCxn id="31" idx="4"/>
            </p:cNvCxnSpPr>
            <p:nvPr/>
          </p:nvCxnSpPr>
          <p:spPr>
            <a:xfrm flipV="1">
              <a:off x="801258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1" name="直接箭头连接符 10"/>
            <p:cNvCxnSpPr>
              <a:stCxn id="16" idx="0"/>
              <a:endCxn id="32" idx="4"/>
            </p:cNvCxnSpPr>
            <p:nvPr/>
          </p:nvCxnSpPr>
          <p:spPr>
            <a:xfrm flipV="1">
              <a:off x="8012586" y="3459324"/>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p:cNvCxnSpPr>
              <a:stCxn id="17" idx="0"/>
              <a:endCxn id="32" idx="4"/>
            </p:cNvCxnSpPr>
            <p:nvPr/>
          </p:nvCxnSpPr>
          <p:spPr>
            <a:xfrm flipV="1">
              <a:off x="872799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18" idx="0"/>
              <a:endCxn id="32" idx="4"/>
            </p:cNvCxnSpPr>
            <p:nvPr/>
          </p:nvCxnSpPr>
          <p:spPr>
            <a:xfrm flipH="1" flipV="1">
              <a:off x="8732343" y="3459324"/>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a:stCxn id="18" idx="0"/>
              <a:endCxn id="33" idx="4"/>
            </p:cNvCxnSpPr>
            <p:nvPr/>
          </p:nvCxnSpPr>
          <p:spPr>
            <a:xfrm flipV="1">
              <a:off x="10268434" y="3484870"/>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p:cNvCxnSpPr>
              <a:stCxn id="17" idx="0"/>
              <a:endCxn id="31" idx="4"/>
            </p:cNvCxnSpPr>
            <p:nvPr/>
          </p:nvCxnSpPr>
          <p:spPr>
            <a:xfrm flipH="1" flipV="1">
              <a:off x="8016933" y="3459324"/>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16" name="椭圆 15"/>
            <p:cNvSpPr/>
            <p:nvPr/>
          </p:nvSpPr>
          <p:spPr>
            <a:xfrm>
              <a:off x="787331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7" name="椭圆 16"/>
            <p:cNvSpPr/>
            <p:nvPr/>
          </p:nvSpPr>
          <p:spPr>
            <a:xfrm>
              <a:off x="858872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8" name="椭圆 17"/>
            <p:cNvSpPr/>
            <p:nvPr/>
          </p:nvSpPr>
          <p:spPr>
            <a:xfrm>
              <a:off x="10129167" y="4316271"/>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10631108" y="54849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0" name="椭圆 19"/>
            <p:cNvSpPr/>
            <p:nvPr/>
          </p:nvSpPr>
          <p:spPr>
            <a:xfrm>
              <a:off x="8588729"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1" name="椭圆 20"/>
            <p:cNvSpPr/>
            <p:nvPr/>
          </p:nvSpPr>
          <p:spPr>
            <a:xfrm>
              <a:off x="7532923"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2" name="直接箭头连接符 21"/>
            <p:cNvCxnSpPr>
              <a:stCxn id="21" idx="0"/>
              <a:endCxn id="16" idx="4"/>
            </p:cNvCxnSpPr>
            <p:nvPr/>
          </p:nvCxnSpPr>
          <p:spPr>
            <a:xfrm flipV="1">
              <a:off x="7672190" y="4578377"/>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3" name="直接箭头连接符 22"/>
            <p:cNvCxnSpPr>
              <a:stCxn id="21" idx="0"/>
              <a:endCxn id="17" idx="4"/>
            </p:cNvCxnSpPr>
            <p:nvPr/>
          </p:nvCxnSpPr>
          <p:spPr>
            <a:xfrm flipV="1">
              <a:off x="7672190" y="4578377"/>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4" name="直接箭头连接符 23"/>
            <p:cNvCxnSpPr>
              <a:stCxn id="20" idx="0"/>
              <a:endCxn id="16" idx="4"/>
            </p:cNvCxnSpPr>
            <p:nvPr/>
          </p:nvCxnSpPr>
          <p:spPr>
            <a:xfrm flipH="1" flipV="1">
              <a:off x="8012586" y="4578377"/>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21" idx="0"/>
              <a:endCxn id="18" idx="4"/>
            </p:cNvCxnSpPr>
            <p:nvPr/>
          </p:nvCxnSpPr>
          <p:spPr>
            <a:xfrm flipV="1">
              <a:off x="7672190" y="4603923"/>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20" idx="0"/>
              <a:endCxn id="17" idx="4"/>
            </p:cNvCxnSpPr>
            <p:nvPr/>
          </p:nvCxnSpPr>
          <p:spPr>
            <a:xfrm flipV="1">
              <a:off x="8727996" y="4578377"/>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20" idx="0"/>
              <a:endCxn id="18" idx="4"/>
            </p:cNvCxnSpPr>
            <p:nvPr/>
          </p:nvCxnSpPr>
          <p:spPr>
            <a:xfrm flipV="1">
              <a:off x="8727996" y="4603923"/>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19" idx="0"/>
              <a:endCxn id="18" idx="4"/>
            </p:cNvCxnSpPr>
            <p:nvPr/>
          </p:nvCxnSpPr>
          <p:spPr>
            <a:xfrm flipH="1" flipV="1">
              <a:off x="10268434" y="4603923"/>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stCxn id="19" idx="0"/>
              <a:endCxn id="17" idx="4"/>
            </p:cNvCxnSpPr>
            <p:nvPr/>
          </p:nvCxnSpPr>
          <p:spPr>
            <a:xfrm flipH="1" flipV="1">
              <a:off x="8727996" y="4578377"/>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p:cNvCxnSpPr>
              <a:stCxn id="19" idx="0"/>
              <a:endCxn id="16" idx="4"/>
            </p:cNvCxnSpPr>
            <p:nvPr/>
          </p:nvCxnSpPr>
          <p:spPr>
            <a:xfrm flipH="1" flipV="1">
              <a:off x="8012586" y="4578377"/>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1" name="椭圆 30"/>
            <p:cNvSpPr/>
            <p:nvPr/>
          </p:nvSpPr>
          <p:spPr>
            <a:xfrm>
              <a:off x="787766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2" name="椭圆 31"/>
            <p:cNvSpPr/>
            <p:nvPr/>
          </p:nvSpPr>
          <p:spPr>
            <a:xfrm>
              <a:off x="859307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3" name="椭圆 32"/>
            <p:cNvSpPr/>
            <p:nvPr/>
          </p:nvSpPr>
          <p:spPr>
            <a:xfrm>
              <a:off x="10133514" y="319721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34" name="直接箭头连接符 33"/>
            <p:cNvCxnSpPr>
              <a:stCxn id="16" idx="0"/>
              <a:endCxn id="33" idx="4"/>
            </p:cNvCxnSpPr>
            <p:nvPr/>
          </p:nvCxnSpPr>
          <p:spPr>
            <a:xfrm flipV="1">
              <a:off x="8012586" y="3484870"/>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p:cNvCxnSpPr>
              <a:stCxn id="17" idx="0"/>
              <a:endCxn id="33" idx="4"/>
            </p:cNvCxnSpPr>
            <p:nvPr/>
          </p:nvCxnSpPr>
          <p:spPr>
            <a:xfrm flipV="1">
              <a:off x="8727996" y="3484870"/>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p:cNvCxnSpPr>
              <a:stCxn id="18" idx="0"/>
              <a:endCxn id="31" idx="4"/>
            </p:cNvCxnSpPr>
            <p:nvPr/>
          </p:nvCxnSpPr>
          <p:spPr>
            <a:xfrm flipH="1" flipV="1">
              <a:off x="8016933" y="3459324"/>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p:cNvCxnSpPr>
              <a:stCxn id="31" idx="0"/>
              <a:endCxn id="9" idx="4"/>
            </p:cNvCxnSpPr>
            <p:nvPr/>
          </p:nvCxnSpPr>
          <p:spPr>
            <a:xfrm flipV="1">
              <a:off x="8016933" y="2527867"/>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31" idx="0"/>
              <a:endCxn id="8" idx="4"/>
            </p:cNvCxnSpPr>
            <p:nvPr/>
          </p:nvCxnSpPr>
          <p:spPr>
            <a:xfrm flipV="1">
              <a:off x="8016933" y="2502321"/>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39" name="直接箭头连接符 38"/>
            <p:cNvCxnSpPr>
              <a:stCxn id="32" idx="0"/>
              <a:endCxn id="9" idx="4"/>
            </p:cNvCxnSpPr>
            <p:nvPr/>
          </p:nvCxnSpPr>
          <p:spPr>
            <a:xfrm flipH="1" flipV="1">
              <a:off x="8284702" y="2527867"/>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p:cNvCxnSpPr>
              <a:stCxn id="32" idx="0"/>
              <a:endCxn id="8" idx="4"/>
            </p:cNvCxnSpPr>
            <p:nvPr/>
          </p:nvCxnSpPr>
          <p:spPr>
            <a:xfrm flipV="1">
              <a:off x="8732343" y="2502321"/>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p:cNvCxnSpPr>
              <a:stCxn id="33" idx="0"/>
              <a:endCxn id="9" idx="4"/>
            </p:cNvCxnSpPr>
            <p:nvPr/>
          </p:nvCxnSpPr>
          <p:spPr>
            <a:xfrm flipH="1" flipV="1">
              <a:off x="8284702" y="2527867"/>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p:cNvCxnSpPr>
              <a:stCxn id="33" idx="0"/>
              <a:endCxn id="8" idx="4"/>
            </p:cNvCxnSpPr>
            <p:nvPr/>
          </p:nvCxnSpPr>
          <p:spPr>
            <a:xfrm flipH="1" flipV="1">
              <a:off x="9932046" y="2502321"/>
              <a:ext cx="340735" cy="69489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43" name="文本框 42"/>
                <p:cNvSpPr txBox="1"/>
                <p:nvPr/>
              </p:nvSpPr>
              <p:spPr>
                <a:xfrm>
                  <a:off x="7453822" y="5790012"/>
                  <a:ext cx="3875315" cy="4241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43" name="文本框 42"/>
                <p:cNvSpPr txBox="1">
                  <a:spLocks noRot="1" noChangeAspect="1" noMove="1" noResize="1" noEditPoints="1" noAdjustHandles="1" noChangeArrowheads="1" noChangeShapeType="1" noTextEdit="1"/>
                </p:cNvSpPr>
                <p:nvPr/>
              </p:nvSpPr>
              <p:spPr>
                <a:xfrm>
                  <a:off x="7453822" y="5790012"/>
                  <a:ext cx="3875315" cy="424194"/>
                </a:xfrm>
                <a:prstGeom prst="rect">
                  <a:avLst/>
                </a:prstGeom>
                <a:blipFill>
                  <a:blip r:embed="rId3"/>
                  <a:stretch>
                    <a:fillRect/>
                  </a:stretch>
                </a:blipFill>
              </p:spPr>
              <p:txBody>
                <a:bodyPr/>
                <a:lstStyle/>
                <a:p>
                  <a:r>
                    <a:rPr lang="zh-TW" altLang="en-US">
                      <a:noFill/>
                    </a:rPr>
                    <a:t> </a:t>
                  </a:r>
                </a:p>
              </p:txBody>
            </p:sp>
          </mc:Fallback>
        </mc:AlternateContent>
        <p:sp>
          <p:nvSpPr>
            <p:cNvPr id="44" name="文本框 173"/>
            <p:cNvSpPr txBox="1"/>
            <p:nvPr/>
          </p:nvSpPr>
          <p:spPr>
            <a:xfrm>
              <a:off x="9455737" y="5407369"/>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5" name="文本框 173"/>
            <p:cNvSpPr txBox="1"/>
            <p:nvPr/>
          </p:nvSpPr>
          <p:spPr>
            <a:xfrm>
              <a:off x="9130121" y="4165264"/>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6" name="文本框 173"/>
            <p:cNvSpPr txBox="1"/>
            <p:nvPr/>
          </p:nvSpPr>
          <p:spPr>
            <a:xfrm>
              <a:off x="9021280" y="2092773"/>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7" name="文本框 173"/>
            <p:cNvSpPr txBox="1"/>
            <p:nvPr/>
          </p:nvSpPr>
          <p:spPr>
            <a:xfrm>
              <a:off x="9181906" y="3102948"/>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48" name="直接箭头连接符 47"/>
            <p:cNvCxnSpPr/>
            <p:nvPr/>
          </p:nvCxnSpPr>
          <p:spPr>
            <a:xfrm flipH="1" flipV="1">
              <a:off x="8860398" y="1747483"/>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49" name="椭圆 48"/>
            <p:cNvSpPr/>
            <p:nvPr/>
          </p:nvSpPr>
          <p:spPr>
            <a:xfrm>
              <a:off x="8727701"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50" name="直接箭头连接符 49"/>
            <p:cNvCxnSpPr>
              <a:stCxn id="31" idx="0"/>
              <a:endCxn id="49" idx="4"/>
            </p:cNvCxnSpPr>
            <p:nvPr/>
          </p:nvCxnSpPr>
          <p:spPr>
            <a:xfrm flipV="1">
              <a:off x="8016933" y="2527867"/>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1" name="直接箭头连接符 50"/>
            <p:cNvCxnSpPr>
              <a:stCxn id="32" idx="0"/>
              <a:endCxn id="49" idx="4"/>
            </p:cNvCxnSpPr>
            <p:nvPr/>
          </p:nvCxnSpPr>
          <p:spPr>
            <a:xfrm flipV="1">
              <a:off x="8732343" y="2527867"/>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2" name="直接箭头连接符 51"/>
            <p:cNvCxnSpPr>
              <a:stCxn id="33" idx="0"/>
              <a:endCxn id="49" idx="4"/>
            </p:cNvCxnSpPr>
            <p:nvPr/>
          </p:nvCxnSpPr>
          <p:spPr>
            <a:xfrm flipH="1" flipV="1">
              <a:off x="8866968" y="2527867"/>
              <a:ext cx="1405813" cy="66935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53" name="文本框 52"/>
                <p:cNvSpPr txBox="1"/>
                <p:nvPr/>
              </p:nvSpPr>
              <p:spPr>
                <a:xfrm>
                  <a:off x="8012586" y="1251824"/>
                  <a:ext cx="2395115" cy="4241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53" name="文本框 52"/>
                <p:cNvSpPr txBox="1">
                  <a:spLocks noRot="1" noChangeAspect="1" noMove="1" noResize="1" noEditPoints="1" noAdjustHandles="1" noChangeArrowheads="1" noChangeShapeType="1" noTextEdit="1"/>
                </p:cNvSpPr>
                <p:nvPr/>
              </p:nvSpPr>
              <p:spPr>
                <a:xfrm>
                  <a:off x="8012586" y="1251824"/>
                  <a:ext cx="2395115" cy="424194"/>
                </a:xfrm>
                <a:prstGeom prst="rect">
                  <a:avLst/>
                </a:prstGeom>
                <a:blipFill>
                  <a:blip r:embed="rId4"/>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3296069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梯度下降法</a:t>
            </a:r>
          </a:p>
        </p:txBody>
      </p:sp>
      <p:pic>
        <p:nvPicPr>
          <p:cNvPr id="21" name="内容占位符 20"/>
          <p:cNvPicPr>
            <a:picLocks noGrp="1" noChangeAspect="1"/>
          </p:cNvPicPr>
          <p:nvPr>
            <p:ph sz="quarter" idx="1"/>
          </p:nvPr>
        </p:nvPicPr>
        <p:blipFill>
          <a:blip r:embed="rId3"/>
          <a:stretch>
            <a:fillRect/>
          </a:stretch>
        </p:blipFill>
        <p:spPr>
          <a:xfrm>
            <a:off x="6558795" y="2034558"/>
            <a:ext cx="4030828" cy="2894172"/>
          </a:xfrm>
          <a:prstGeom prst="rect">
            <a:avLst/>
          </a:prstGeom>
        </p:spPr>
      </p:pic>
      <p:pic>
        <p:nvPicPr>
          <p:cNvPr id="22" name="图片 21"/>
          <p:cNvPicPr>
            <a:picLocks noChangeAspect="1"/>
          </p:cNvPicPr>
          <p:nvPr/>
        </p:nvPicPr>
        <p:blipFill>
          <a:blip r:embed="rId4"/>
          <a:stretch>
            <a:fillRect/>
          </a:stretch>
        </p:blipFill>
        <p:spPr>
          <a:xfrm>
            <a:off x="5364473" y="1614642"/>
            <a:ext cx="6270181" cy="3536265"/>
          </a:xfrm>
          <a:prstGeom prst="rect">
            <a:avLst/>
          </a:prstGeom>
        </p:spPr>
      </p:pic>
      <mc:AlternateContent xmlns:mc="http://schemas.openxmlformats.org/markup-compatibility/2006">
        <mc:Choice xmlns:a14="http://schemas.microsoft.com/office/drawing/2010/main" Requires="a14">
          <p:sp>
            <p:nvSpPr>
              <p:cNvPr id="23" name="内容占位符 2"/>
              <p:cNvSpPr txBox="1">
                <a:spLocks/>
              </p:cNvSpPr>
              <p:nvPr/>
            </p:nvSpPr>
            <p:spPr>
              <a:xfrm>
                <a:off x="1219200" y="1635398"/>
                <a:ext cx="10363200" cy="4695733"/>
              </a:xfrm>
              <a:prstGeom prst="rect">
                <a:avLst/>
              </a:prstGeom>
            </p:spPr>
            <p:txBody>
              <a:bodyPr vert="horz">
                <a:normAutofit/>
              </a:bodyPr>
              <a:lstStyle>
                <a:lvl1pPr marL="274320" indent="-274320" algn="l" rtl="0" eaLnBrk="1" latinLnBrk="0" hangingPunct="1">
                  <a:spcBef>
                    <a:spcPts val="580"/>
                  </a:spcBef>
                  <a:buClr>
                    <a:schemeClr val="accent1"/>
                  </a:buClr>
                  <a:buSzPct val="85000"/>
                  <a:buFontTx/>
                  <a:buBlip>
                    <a:blip r:embed="rId5"/>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r>
                  <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求</a:t>
                </a:r>
                <a14:m>
                  <m:oMath xmlns:m="http://schemas.openxmlformats.org/officeDocument/2006/math">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𝜃</m:t>
                    </m:r>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r>
                  <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的最小值</a:t>
                </a: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r>
                  <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反覆運算逼近</a:t>
                </a: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sSub>
                      <m:sSubPr>
                        <m:ctrlP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𝜃</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𝜃</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oMath>
                </a14:m>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a:t>
                </a:r>
                <a14:m>
                  <m:oMath xmlns:m="http://schemas.openxmlformats.org/officeDocument/2006/math">
                    <m:sSub>
                      <m:sSub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𝜃</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oMath>
                </a14:m>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r>
                  <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兩個問題：</a:t>
                </a: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1" indent="0" algn="l" defTabSz="914400" rtl="0" eaLnBrk="1" fontAlgn="auto" latinLnBrk="0" hangingPunct="1">
                  <a:lnSpc>
                    <a:spcPct val="100000"/>
                  </a:lnSpc>
                  <a:spcBef>
                    <a:spcPts val="370"/>
                  </a:spcBef>
                  <a:spcAft>
                    <a:spcPts val="0"/>
                  </a:spcAft>
                  <a:buClr>
                    <a:srgbClr val="503DDB"/>
                  </a:buClr>
                  <a:buSzPct val="45000"/>
                  <a:buFont typeface="Wingdings" pitchFamily="2" charset="2"/>
                  <a:buNone/>
                  <a:tabLst/>
                  <a:defRPr/>
                </a:pP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修改量的大小</a:t>
                </a:r>
                <a:endPar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1" indent="0" algn="l" defTabSz="914400" rtl="0" eaLnBrk="1" fontAlgn="auto" latinLnBrk="0" hangingPunct="1">
                  <a:lnSpc>
                    <a:spcPct val="100000"/>
                  </a:lnSpc>
                  <a:spcBef>
                    <a:spcPts val="370"/>
                  </a:spcBef>
                  <a:spcAft>
                    <a:spcPts val="0"/>
                  </a:spcAft>
                  <a:buClr>
                    <a:srgbClr val="503DDB"/>
                  </a:buClr>
                  <a:buSzPct val="45000"/>
                  <a:buFont typeface="Wingdings" pitchFamily="2" charset="2"/>
                  <a:buNone/>
                  <a:tabLst/>
                  <a:defRPr/>
                </a:pP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修改的方向</a:t>
                </a:r>
                <a:endPar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zh-CN"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θ</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𝑑𝑓</m:t>
                        </m:r>
                      </m:num>
                      <m:den>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𝜃</m:t>
                        </m:r>
                      </m:den>
                    </m:f>
                  </m:oMath>
                </a14:m>
                <a:endParaRPr kumimoji="0" lang="zh-CN"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endPar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23" name="内容占位符 2"/>
              <p:cNvSpPr txBox="1">
                <a:spLocks noRot="1" noChangeAspect="1" noMove="1" noResize="1" noEditPoints="1" noAdjustHandles="1" noChangeArrowheads="1" noChangeShapeType="1" noTextEdit="1"/>
              </p:cNvSpPr>
              <p:nvPr/>
            </p:nvSpPr>
            <p:spPr>
              <a:xfrm>
                <a:off x="1219200" y="1635398"/>
                <a:ext cx="10363200" cy="4695733"/>
              </a:xfrm>
              <a:prstGeom prst="rect">
                <a:avLst/>
              </a:prstGeom>
              <a:blipFill>
                <a:blip r:embed="rId6"/>
                <a:stretch>
                  <a:fillRect l="-1059" t="-194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493917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梯度下降法</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p:txBody>
              <a:bodyPr/>
              <a:lstStyle/>
              <a:p>
                <a:endParaRPr lang="en-US" altLang="zh-CN" dirty="0"/>
              </a:p>
              <a:p>
                <a:r>
                  <a:rPr lang="zh-CN" altLang="en-US" dirty="0"/>
                  <a:t>震盪問題</a:t>
                </a:r>
                <a:endParaRPr lang="en-US" altLang="zh-CN" dirty="0"/>
              </a:p>
              <a:p>
                <a:endParaRPr lang="en-US" altLang="zh-CN" dirty="0"/>
              </a:p>
              <a:p>
                <a:r>
                  <a:rPr lang="zh-CN" altLang="en-US" dirty="0"/>
                  <a:t>步長</a:t>
                </a:r>
                <a14:m>
                  <m:oMath xmlns:m="http://schemas.openxmlformats.org/officeDocument/2006/math">
                    <m:r>
                      <a:rPr lang="en-US" altLang="zh-CN" i="1">
                        <a:latin typeface="Cambria Math" panose="02040503050406030204" pitchFamily="18" charset="0"/>
                      </a:rPr>
                      <m:t>𝜂</m:t>
                    </m:r>
                  </m:oMath>
                </a14:m>
                <a:endParaRPr lang="en-US" altLang="zh-CN" dirty="0"/>
              </a:p>
              <a:p>
                <a:endParaRPr lang="en-US" altLang="zh-CN" dirty="0"/>
              </a:p>
              <a:p>
                <a14:m>
                  <m:oMath xmlns:m="http://schemas.openxmlformats.org/officeDocument/2006/math">
                    <m:sSub>
                      <m:sSubPr>
                        <m:ctrlPr>
                          <a:rPr lang="zh-CN" altLang="zh-CN" i="1" smtClean="0">
                            <a:latin typeface="Cambria Math" panose="02040503050406030204" pitchFamily="18" charset="0"/>
                          </a:rPr>
                        </m:ctrlPr>
                      </m:sSubPr>
                      <m:e>
                        <m:r>
                          <a:rPr lang="zh-CN" altLang="en-US" i="1" smtClean="0">
                            <a:latin typeface="Cambria Math" panose="02040503050406030204" pitchFamily="18" charset="0"/>
                          </a:rPr>
                          <m:t>△</m:t>
                        </m:r>
                        <m:r>
                          <m:rPr>
                            <m:sty m:val="p"/>
                          </m:rPr>
                          <a:rPr lang="zh-CN" altLang="zh-CN">
                            <a:latin typeface="Cambria Math" panose="02040503050406030204" pitchFamily="18" charset="0"/>
                          </a:rPr>
                          <m:t>θ</m:t>
                        </m:r>
                      </m:e>
                      <m:sub>
                        <m:r>
                          <a:rPr lang="en-US" altLang="zh-CN" i="1" smtClean="0">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𝜂</m:t>
                    </m:r>
                    <m:f>
                      <m:fPr>
                        <m:ctrlPr>
                          <a:rPr lang="zh-CN" altLang="zh-CN" i="1">
                            <a:latin typeface="Cambria Math" panose="02040503050406030204" pitchFamily="18" charset="0"/>
                          </a:rPr>
                        </m:ctrlPr>
                      </m:fPr>
                      <m:num>
                        <m:r>
                          <a:rPr lang="en-US" altLang="zh-CN" i="1">
                            <a:latin typeface="Cambria Math" panose="02040503050406030204" pitchFamily="18" charset="0"/>
                          </a:rPr>
                          <m:t>𝑑𝑓</m:t>
                        </m:r>
                      </m:num>
                      <m:den>
                        <m:r>
                          <a:rPr lang="en-US" altLang="zh-CN" i="1">
                            <a:latin typeface="Cambria Math" panose="02040503050406030204" pitchFamily="18" charset="0"/>
                          </a:rPr>
                          <m:t>𝑑</m:t>
                        </m:r>
                        <m:r>
                          <a:rPr lang="en-US" altLang="zh-CN" i="1">
                            <a:latin typeface="Cambria Math" panose="02040503050406030204" pitchFamily="18" charset="0"/>
                          </a:rPr>
                          <m:t>𝜃</m:t>
                        </m:r>
                      </m:den>
                    </m:f>
                  </m:oMath>
                </a14:m>
                <a:endParaRPr lang="en-US" altLang="zh-CN" dirty="0"/>
              </a:p>
              <a:p>
                <a:pPr marL="320040" lvl="1" indent="0">
                  <a:buNone/>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blipFill>
                <a:blip r:embed="rId3"/>
                <a:stretch>
                  <a:fillRect/>
                </a:stretch>
              </a:blipFill>
            </p:spPr>
            <p:txBody>
              <a:bodyPr/>
              <a:lstStyle/>
              <a:p>
                <a:r>
                  <a:rPr lang="zh-TW" altLang="en-US">
                    <a:noFill/>
                  </a:rPr>
                  <a:t> </a:t>
                </a:r>
              </a:p>
            </p:txBody>
          </p:sp>
        </mc:Fallback>
      </mc:AlternateContent>
      <p:pic>
        <p:nvPicPr>
          <p:cNvPr id="4" name="图片 3"/>
          <p:cNvPicPr>
            <a:picLocks noChangeAspect="1"/>
          </p:cNvPicPr>
          <p:nvPr/>
        </p:nvPicPr>
        <p:blipFill>
          <a:blip r:embed="rId4"/>
          <a:stretch>
            <a:fillRect/>
          </a:stretch>
        </p:blipFill>
        <p:spPr>
          <a:xfrm>
            <a:off x="4909653" y="1898468"/>
            <a:ext cx="5942880" cy="4005941"/>
          </a:xfrm>
          <a:prstGeom prst="rect">
            <a:avLst/>
          </a:prstGeom>
        </p:spPr>
      </p:pic>
    </p:spTree>
    <p:extLst>
      <p:ext uri="{BB962C8B-B14F-4D97-AF65-F5344CB8AC3E}">
        <p14:creationId xmlns:p14="http://schemas.microsoft.com/office/powerpoint/2010/main" val="2370532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6979" y="274638"/>
            <a:ext cx="10363200" cy="1143000"/>
          </a:xfrm>
        </p:spPr>
        <p:txBody>
          <a:bodyPr/>
          <a:lstStyle/>
          <a:p>
            <a:r>
              <a:rPr lang="zh-CN" altLang="en-US" dirty="0"/>
              <a:t>梯度下降法</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896979" y="1508761"/>
                <a:ext cx="10363200" cy="4900748"/>
              </a:xfrm>
            </p:spPr>
            <p:txBody>
              <a:bodyPr>
                <a:normAutofit/>
              </a:bodyPr>
              <a:lstStyle/>
              <a:p>
                <a:pPr marL="0" indent="0">
                  <a:buNone/>
                </a:pPr>
                <a:r>
                  <a:rPr lang="en-US" altLang="zh-CN" dirty="0"/>
                  <a:t> </a:t>
                </a:r>
                <a:r>
                  <a:rPr lang="zh-CN" altLang="en-US" dirty="0"/>
                  <a:t>反覆運算公式：</a:t>
                </a:r>
                <a:endParaRPr lang="en-US" altLang="zh-CN" dirty="0"/>
              </a:p>
              <a:p>
                <a:pPr marL="0" indent="0">
                  <a:buNone/>
                </a:pPr>
                <a:endParaRPr lang="en-US" altLang="zh-CN" sz="1400" dirty="0"/>
              </a:p>
              <a:p>
                <a:pPr marL="0" indent="0">
                  <a:buNone/>
                </a:pPr>
                <a:r>
                  <a:rPr lang="en-US" altLang="zh-CN" dirty="0"/>
                  <a:t>     </a:t>
                </a:r>
                <a14:m>
                  <m:oMath xmlns:m="http://schemas.openxmlformats.org/officeDocument/2006/math">
                    <m:sSubSup>
                      <m:sSubSupPr>
                        <m:ctrlPr>
                          <a:rPr lang="zh-CN" altLang="zh-CN" i="1">
                            <a:latin typeface="Cambria Math" panose="02040503050406030204" pitchFamily="18" charset="0"/>
                          </a:rPr>
                        </m:ctrlPr>
                      </m:sSubSupPr>
                      <m:e>
                        <m:r>
                          <m:rPr>
                            <m:sty m:val="p"/>
                          </m:rPr>
                          <a:rPr lang="en-US" altLang="zh-CN">
                            <a:latin typeface="Cambria Math" panose="02040503050406030204" pitchFamily="18" charset="0"/>
                          </a:rPr>
                          <m:t>w</m:t>
                        </m:r>
                      </m:e>
                      <m:sub>
                        <m:r>
                          <a:rPr lang="en-US" altLang="zh-CN" i="1">
                            <a:latin typeface="Cambria Math" panose="02040503050406030204" pitchFamily="18" charset="0"/>
                          </a:rPr>
                          <m:t>𝑖</m:t>
                        </m:r>
                      </m:sub>
                      <m:sup>
                        <m:r>
                          <a:rPr lang="en-US" altLang="zh-CN" i="1">
                            <a:latin typeface="Cambria Math" panose="02040503050406030204" pitchFamily="18" charset="0"/>
                          </a:rPr>
                          <m:t>𝑛𝑒𝑤</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m:t>
                        </m:r>
                      </m:sub>
                      <m:sup>
                        <m:r>
                          <a:rPr lang="en-US" altLang="zh-CN" i="1">
                            <a:latin typeface="Cambria Math" panose="02040503050406030204" pitchFamily="18" charset="0"/>
                          </a:rPr>
                          <m:t>𝑜𝑙𝑑</m:t>
                        </m:r>
                      </m:sup>
                    </m:sSubSup>
                    <m:r>
                      <a:rPr lang="en-US" altLang="zh-CN" i="1">
                        <a:latin typeface="Cambria Math" panose="02040503050406030204" pitchFamily="18" charset="0"/>
                      </a:rPr>
                      <m:t>+</m:t>
                    </m:r>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sub>
                    </m:sSub>
                  </m:oMath>
                </a14:m>
                <a:endParaRPr lang="zh-CN" altLang="zh-CN" dirty="0"/>
              </a:p>
              <a:p>
                <a:pPr marL="0" indent="0">
                  <a:buNone/>
                </a:pPr>
                <a:r>
                  <a:rPr lang="en-US" altLang="zh-CN" b="0" dirty="0"/>
                  <a:t>     </a:t>
                </a:r>
                <a14:m>
                  <m:oMath xmlns:m="http://schemas.openxmlformats.org/officeDocument/2006/math">
                    <m:r>
                      <a:rPr lang="en-US" altLang="zh-CN" b="0" i="0" smtClean="0">
                        <a:latin typeface="Cambria Math" panose="02040503050406030204" pitchFamily="18" charset="0"/>
                      </a:rPr>
                      <m:t> </m:t>
                    </m:r>
                    <m:r>
                      <a:rPr lang="zh-CN" altLang="zh-CN" smtClean="0">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w</m:t>
                        </m:r>
                      </m:e>
                      <m:sub>
                        <m:r>
                          <a:rPr lang="en-US" altLang="zh-CN" i="1">
                            <a:latin typeface="Cambria Math" panose="02040503050406030204" pitchFamily="18" charset="0"/>
                          </a:rPr>
                          <m:t>𝑖</m:t>
                        </m:r>
                      </m:sub>
                    </m:sSub>
                    <m:r>
                      <a:rPr lang="en-US" altLang="zh-CN">
                        <a:latin typeface="Cambria Math" panose="02040503050406030204" pitchFamily="18" charset="0"/>
                      </a:rPr>
                      <m:t>=</m:t>
                    </m:r>
                    <m:r>
                      <a:rPr lang="zh-CN" altLang="en-US" i="1">
                        <a:latin typeface="Cambria Math" panose="02040503050406030204" pitchFamily="18" charset="0"/>
                      </a:rPr>
                      <m:t>−</m:t>
                    </m:r>
                    <m:r>
                      <m:rPr>
                        <m:sty m:val="p"/>
                      </m:rPr>
                      <a:rPr lang="zh-CN" altLang="zh-CN">
                        <a:latin typeface="Cambria Math" panose="02040503050406030204" pitchFamily="18" charset="0"/>
                      </a:rPr>
                      <m:t>η</m:t>
                    </m:r>
                    <m:f>
                      <m:fPr>
                        <m:ctrlPr>
                          <a:rPr lang="zh-CN"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num>
                      <m:den>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sub>
                        </m:sSub>
                      </m:den>
                    </m:f>
                  </m:oMath>
                </a14:m>
                <a:endParaRPr lang="en-US" altLang="zh-CN" dirty="0"/>
              </a:p>
              <a:p>
                <a:pPr marL="0" indent="0">
                  <a:buNone/>
                </a:pPr>
                <a:endParaRPr lang="en-US" altLang="zh-CN" sz="1400" dirty="0"/>
              </a:p>
              <a:p>
                <a:pPr marL="0" indent="0">
                  <a:buNone/>
                </a:pPr>
                <a:r>
                  <a:rPr lang="zh-CN" altLang="en-US" dirty="0"/>
                  <a:t>梯度：</a:t>
                </a: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m:t>
                        </m:r>
                      </m:e>
                      <m:sub>
                        <m:r>
                          <a:rPr lang="en-US" altLang="zh-CN" i="1">
                            <a:latin typeface="Cambria Math" panose="02040503050406030204" pitchFamily="18" charset="0"/>
                          </a:rPr>
                          <m:t>𝑤</m:t>
                        </m:r>
                      </m:sub>
                    </m:sSub>
                    <m:r>
                      <a:rPr lang="en-US" altLang="zh-CN" i="1">
                        <a:latin typeface="Cambria Math" panose="02040503050406030204" pitchFamily="18" charset="0"/>
                      </a:rPr>
                      <m:t>𝐸</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num>
                          <m:den>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num>
                          <m:den>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den>
                        </m:f>
                        <m:r>
                          <a:rPr lang="en-US" altLang="zh-CN" i="1">
                            <a:latin typeface="Cambria Math" panose="02040503050406030204" pitchFamily="18" charset="0"/>
                          </a:rPr>
                          <m:t>,</m:t>
                        </m:r>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num>
                          <m:den>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𝑙</m:t>
                                </m:r>
                              </m:sub>
                            </m:sSub>
                          </m:den>
                        </m:f>
                      </m:e>
                    </m:d>
                  </m:oMath>
                </a14:m>
                <a:endParaRPr lang="zh-CN" altLang="zh-CN" dirty="0"/>
              </a:p>
              <a:p>
                <a:pPr marL="0" indent="0">
                  <a:buNone/>
                </a:pPr>
                <a:endParaRPr lang="en-US" altLang="zh-CN" sz="1600" dirty="0"/>
              </a:p>
              <a:p>
                <a:pPr marL="0" indent="0">
                  <a:buNone/>
                </a:pPr>
                <a:r>
                  <a:rPr lang="en-US" altLang="zh-CN" dirty="0"/>
                  <a:t>     </a:t>
                </a:r>
                <a14:m>
                  <m:oMath xmlns:m="http://schemas.openxmlformats.org/officeDocument/2006/math">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w</m:t>
                        </m:r>
                      </m:e>
                      <m:sup>
                        <m:r>
                          <a:rPr lang="en-US" altLang="zh-CN" i="1">
                            <a:latin typeface="Cambria Math" panose="02040503050406030204" pitchFamily="18" charset="0"/>
                          </a:rPr>
                          <m:t>𝑛𝑒𝑤</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𝑤</m:t>
                        </m:r>
                      </m:e>
                      <m:sup>
                        <m:r>
                          <a:rPr lang="en-US" altLang="zh-CN" i="1">
                            <a:latin typeface="Cambria Math" panose="02040503050406030204" pitchFamily="18" charset="0"/>
                          </a:rPr>
                          <m:t>𝑜𝑙𝑑</m:t>
                        </m:r>
                      </m:sup>
                    </m:sSup>
                    <m:r>
                      <a:rPr lang="en-US" altLang="zh-CN" i="1">
                        <a:latin typeface="Cambria Math" panose="02040503050406030204" pitchFamily="18" charset="0"/>
                      </a:rPr>
                      <m:t>+</m:t>
                    </m:r>
                    <m:r>
                      <a:rPr lang="zh-CN" altLang="zh-CN" i="1">
                        <a:latin typeface="Cambria Math" panose="02040503050406030204" pitchFamily="18" charset="0"/>
                      </a:rPr>
                      <m:t>△</m:t>
                    </m:r>
                    <m:r>
                      <a:rPr lang="en-US" altLang="zh-CN" i="1">
                        <a:latin typeface="Cambria Math" panose="02040503050406030204" pitchFamily="18" charset="0"/>
                      </a:rPr>
                      <m:t>𝑤</m:t>
                    </m:r>
                  </m:oMath>
                </a14:m>
                <a:endParaRPr lang="zh-CN" altLang="zh-CN" dirty="0"/>
              </a:p>
              <a:p>
                <a:pPr marL="0" indent="0">
                  <a:buNone/>
                </a:pPr>
                <a:r>
                  <a:rPr lang="en-US" altLang="zh-CN" dirty="0"/>
                  <a:t>     </a:t>
                </a:r>
                <a14:m>
                  <m:oMath xmlns:m="http://schemas.openxmlformats.org/officeDocument/2006/math">
                    <m:r>
                      <a:rPr lang="zh-CN" altLang="zh-CN">
                        <a:latin typeface="Cambria Math" panose="02040503050406030204" pitchFamily="18" charset="0"/>
                      </a:rPr>
                      <m:t>△</m:t>
                    </m:r>
                    <m:r>
                      <m:rPr>
                        <m:sty m:val="p"/>
                      </m:rPr>
                      <a:rPr lang="en-US" altLang="zh-CN">
                        <a:latin typeface="Cambria Math" panose="02040503050406030204" pitchFamily="18" charset="0"/>
                      </a:rPr>
                      <m:t>w</m:t>
                    </m:r>
                    <m:r>
                      <a:rPr lang="en-US" altLang="zh-CN">
                        <a:latin typeface="Cambria Math" panose="02040503050406030204" pitchFamily="18" charset="0"/>
                      </a:rPr>
                      <m:t>=</m:t>
                    </m:r>
                    <m:r>
                      <a:rPr lang="zh-CN" altLang="en-US" i="1">
                        <a:latin typeface="Cambria Math" panose="02040503050406030204" pitchFamily="18" charset="0"/>
                      </a:rPr>
                      <m:t>−</m:t>
                    </m:r>
                    <m:r>
                      <m:rPr>
                        <m:sty m:val="p"/>
                      </m:rPr>
                      <a:rPr lang="zh-CN" altLang="zh-CN">
                        <a:latin typeface="Cambria Math" panose="02040503050406030204" pitchFamily="18" charset="0"/>
                      </a:rPr>
                      <m:t>η</m:t>
                    </m:r>
                    <m:sSub>
                      <m:sSubPr>
                        <m:ctrlPr>
                          <a:rPr lang="zh-CN" altLang="zh-CN" i="1">
                            <a:latin typeface="Cambria Math" panose="02040503050406030204" pitchFamily="18" charset="0"/>
                          </a:rPr>
                        </m:ctrlPr>
                      </m:sSubPr>
                      <m:e>
                        <m:r>
                          <a:rPr lang="en-US" altLang="zh-CN">
                            <a:latin typeface="Cambria Math" panose="02040503050406030204" pitchFamily="18" charset="0"/>
                          </a:rPr>
                          <m:t>𝛻</m:t>
                        </m:r>
                      </m:e>
                      <m:sub>
                        <m:r>
                          <a:rPr lang="en-US" altLang="zh-CN" i="1">
                            <a:latin typeface="Cambria Math" panose="02040503050406030204" pitchFamily="18" charset="0"/>
                          </a:rPr>
                          <m:t>𝑤</m:t>
                        </m:r>
                      </m:sub>
                    </m:sSub>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oMath>
                </a14:m>
                <a:endParaRPr lang="zh-CN" altLang="zh-CN"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896979" y="1508761"/>
                <a:ext cx="10363200" cy="4900748"/>
              </a:xfrm>
              <a:blipFill>
                <a:blip r:embed="rId3"/>
                <a:stretch>
                  <a:fillRect l="-1059" t="-199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785454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6979" y="274638"/>
            <a:ext cx="10363200" cy="1143000"/>
          </a:xfrm>
        </p:spPr>
        <p:txBody>
          <a:bodyPr/>
          <a:lstStyle/>
          <a:p>
            <a:r>
              <a:rPr lang="zh-CN" altLang="en-US" dirty="0"/>
              <a:t>梯度下降法</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896979" y="1508761"/>
                <a:ext cx="10363200" cy="4900748"/>
              </a:xfrm>
            </p:spPr>
            <p:txBody>
              <a:bodyPr>
                <a:normAutofit/>
              </a:bodyPr>
              <a:lstStyle/>
              <a:p>
                <a:pPr marL="0" indent="0">
                  <a:buNone/>
                </a:pPr>
                <a:r>
                  <a:rPr lang="en-US" altLang="zh-CN" dirty="0"/>
                  <a:t> </a:t>
                </a:r>
                <a:r>
                  <a:rPr lang="zh-CN" altLang="en-US" dirty="0"/>
                  <a:t>反覆運算公式：</a:t>
                </a:r>
                <a:endParaRPr lang="en-US" altLang="zh-CN" dirty="0"/>
              </a:p>
              <a:p>
                <a:pPr marL="0" indent="0">
                  <a:buNone/>
                </a:pPr>
                <a:endParaRPr lang="en-US" altLang="zh-CN" sz="1400" dirty="0"/>
              </a:p>
              <a:p>
                <a:pPr marL="0" indent="0">
                  <a:buNone/>
                </a:pPr>
                <a:r>
                  <a:rPr lang="en-US" altLang="zh-CN" dirty="0"/>
                  <a:t>     </a:t>
                </a:r>
                <a14:m>
                  <m:oMath xmlns:m="http://schemas.openxmlformats.org/officeDocument/2006/math">
                    <m:sSubSup>
                      <m:sSubSupPr>
                        <m:ctrlPr>
                          <a:rPr lang="zh-CN" altLang="zh-CN" i="1">
                            <a:latin typeface="Cambria Math" panose="02040503050406030204" pitchFamily="18" charset="0"/>
                          </a:rPr>
                        </m:ctrlPr>
                      </m:sSubSupPr>
                      <m:e>
                        <m:r>
                          <m:rPr>
                            <m:sty m:val="p"/>
                          </m:rPr>
                          <a:rPr lang="en-US" altLang="zh-CN">
                            <a:latin typeface="Cambria Math" panose="02040503050406030204" pitchFamily="18" charset="0"/>
                          </a:rPr>
                          <m:t>w</m:t>
                        </m:r>
                      </m:e>
                      <m:sub>
                        <m:r>
                          <a:rPr lang="en-US" altLang="zh-CN" i="1">
                            <a:latin typeface="Cambria Math" panose="02040503050406030204" pitchFamily="18" charset="0"/>
                          </a:rPr>
                          <m:t>𝑖</m:t>
                        </m:r>
                      </m:sub>
                      <m:sup>
                        <m:r>
                          <a:rPr lang="en-US" altLang="zh-CN" i="1">
                            <a:latin typeface="Cambria Math" panose="02040503050406030204" pitchFamily="18" charset="0"/>
                          </a:rPr>
                          <m:t>𝑛𝑒𝑤</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m:t>
                        </m:r>
                      </m:sub>
                      <m:sup>
                        <m:r>
                          <a:rPr lang="en-US" altLang="zh-CN" i="1">
                            <a:latin typeface="Cambria Math" panose="02040503050406030204" pitchFamily="18" charset="0"/>
                          </a:rPr>
                          <m:t>𝑜𝑙𝑑</m:t>
                        </m:r>
                      </m:sup>
                    </m:sSubSup>
                    <m:r>
                      <a:rPr lang="en-US" altLang="zh-CN" i="1">
                        <a:latin typeface="Cambria Math" panose="02040503050406030204" pitchFamily="18" charset="0"/>
                      </a:rPr>
                      <m:t>+</m:t>
                    </m:r>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sub>
                    </m:sSub>
                  </m:oMath>
                </a14:m>
                <a:endParaRPr lang="zh-CN" altLang="zh-CN" dirty="0"/>
              </a:p>
              <a:p>
                <a:pPr marL="0" indent="0">
                  <a:buNone/>
                </a:pPr>
                <a:r>
                  <a:rPr lang="en-US" altLang="zh-CN" b="0" dirty="0"/>
                  <a:t>     </a:t>
                </a:r>
                <a14:m>
                  <m:oMath xmlns:m="http://schemas.openxmlformats.org/officeDocument/2006/math">
                    <m:r>
                      <a:rPr lang="en-US" altLang="zh-CN" b="0" i="0" smtClean="0">
                        <a:latin typeface="Cambria Math" panose="02040503050406030204" pitchFamily="18" charset="0"/>
                      </a:rPr>
                      <m:t> </m:t>
                    </m:r>
                    <m:r>
                      <a:rPr lang="zh-CN" altLang="zh-CN" smtClean="0">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w</m:t>
                        </m:r>
                      </m:e>
                      <m:sub>
                        <m:r>
                          <a:rPr lang="en-US" altLang="zh-CN" i="1">
                            <a:latin typeface="Cambria Math" panose="02040503050406030204" pitchFamily="18" charset="0"/>
                          </a:rPr>
                          <m:t>𝑖</m:t>
                        </m:r>
                      </m:sub>
                    </m:sSub>
                    <m:r>
                      <a:rPr lang="en-US" altLang="zh-CN">
                        <a:latin typeface="Cambria Math" panose="02040503050406030204" pitchFamily="18" charset="0"/>
                      </a:rPr>
                      <m:t>=</m:t>
                    </m:r>
                    <m:r>
                      <a:rPr lang="zh-CN" altLang="en-US" i="1">
                        <a:latin typeface="Cambria Math" panose="02040503050406030204" pitchFamily="18" charset="0"/>
                      </a:rPr>
                      <m:t>−</m:t>
                    </m:r>
                    <m:r>
                      <m:rPr>
                        <m:sty m:val="p"/>
                      </m:rPr>
                      <a:rPr lang="zh-CN" altLang="zh-CN">
                        <a:latin typeface="Cambria Math" panose="02040503050406030204" pitchFamily="18" charset="0"/>
                      </a:rPr>
                      <m:t>η</m:t>
                    </m:r>
                    <m:f>
                      <m:fPr>
                        <m:ctrlPr>
                          <a:rPr lang="zh-CN"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num>
                      <m:den>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sub>
                        </m:sSub>
                      </m:den>
                    </m:f>
                  </m:oMath>
                </a14:m>
                <a:endParaRPr lang="en-US" altLang="zh-CN" dirty="0"/>
              </a:p>
              <a:p>
                <a:pPr marL="0" indent="0">
                  <a:buNone/>
                </a:pPr>
                <a:endParaRPr lang="en-US" altLang="zh-CN" sz="1400" dirty="0"/>
              </a:p>
              <a:p>
                <a:pPr marL="0" indent="0">
                  <a:buNone/>
                </a:pPr>
                <a:r>
                  <a:rPr lang="zh-CN" altLang="en-US" dirty="0"/>
                  <a:t>梯度：</a:t>
                </a: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m:t>
                        </m:r>
                      </m:e>
                      <m:sub>
                        <m:r>
                          <a:rPr lang="en-US" altLang="zh-CN" i="1">
                            <a:latin typeface="Cambria Math" panose="02040503050406030204" pitchFamily="18" charset="0"/>
                          </a:rPr>
                          <m:t>𝑤</m:t>
                        </m:r>
                      </m:sub>
                    </m:sSub>
                    <m:r>
                      <a:rPr lang="en-US" altLang="zh-CN" i="1">
                        <a:latin typeface="Cambria Math" panose="02040503050406030204" pitchFamily="18" charset="0"/>
                      </a:rPr>
                      <m:t>𝐸</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num>
                          <m:den>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num>
                          <m:den>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den>
                        </m:f>
                        <m:r>
                          <a:rPr lang="en-US" altLang="zh-CN" i="1">
                            <a:latin typeface="Cambria Math" panose="02040503050406030204" pitchFamily="18" charset="0"/>
                          </a:rPr>
                          <m:t>,</m:t>
                        </m:r>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num>
                          <m:den>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𝑙</m:t>
                                </m:r>
                              </m:sub>
                            </m:sSub>
                          </m:den>
                        </m:f>
                      </m:e>
                    </m:d>
                  </m:oMath>
                </a14:m>
                <a:endParaRPr lang="zh-CN" altLang="zh-CN" dirty="0"/>
              </a:p>
              <a:p>
                <a:pPr marL="0" indent="0">
                  <a:buNone/>
                </a:pPr>
                <a:endParaRPr lang="en-US" altLang="zh-CN" sz="1600" dirty="0"/>
              </a:p>
              <a:p>
                <a:pPr marL="0" indent="0">
                  <a:buNone/>
                </a:pPr>
                <a:r>
                  <a:rPr lang="en-US" altLang="zh-CN" dirty="0"/>
                  <a:t>     </a:t>
                </a:r>
                <a14:m>
                  <m:oMath xmlns:m="http://schemas.openxmlformats.org/officeDocument/2006/math">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w</m:t>
                        </m:r>
                      </m:e>
                      <m:sup>
                        <m:r>
                          <a:rPr lang="en-US" altLang="zh-CN" i="1">
                            <a:latin typeface="Cambria Math" panose="02040503050406030204" pitchFamily="18" charset="0"/>
                          </a:rPr>
                          <m:t>𝑛𝑒𝑤</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𝑤</m:t>
                        </m:r>
                      </m:e>
                      <m:sup>
                        <m:r>
                          <a:rPr lang="en-US" altLang="zh-CN" i="1">
                            <a:latin typeface="Cambria Math" panose="02040503050406030204" pitchFamily="18" charset="0"/>
                          </a:rPr>
                          <m:t>𝑜𝑙𝑑</m:t>
                        </m:r>
                      </m:sup>
                    </m:sSup>
                    <m:r>
                      <a:rPr lang="en-US" altLang="zh-CN" i="1">
                        <a:latin typeface="Cambria Math" panose="02040503050406030204" pitchFamily="18" charset="0"/>
                      </a:rPr>
                      <m:t>+</m:t>
                    </m:r>
                    <m:r>
                      <a:rPr lang="zh-CN" altLang="zh-CN" i="1">
                        <a:latin typeface="Cambria Math" panose="02040503050406030204" pitchFamily="18" charset="0"/>
                      </a:rPr>
                      <m:t>△</m:t>
                    </m:r>
                    <m:r>
                      <a:rPr lang="en-US" altLang="zh-CN" i="1">
                        <a:latin typeface="Cambria Math" panose="02040503050406030204" pitchFamily="18" charset="0"/>
                      </a:rPr>
                      <m:t>𝑤</m:t>
                    </m:r>
                  </m:oMath>
                </a14:m>
                <a:endParaRPr lang="zh-CN" altLang="zh-CN" dirty="0"/>
              </a:p>
              <a:p>
                <a:pPr marL="0" indent="0">
                  <a:buNone/>
                </a:pPr>
                <a:r>
                  <a:rPr lang="en-US" altLang="zh-CN" dirty="0"/>
                  <a:t>     </a:t>
                </a:r>
                <a14:m>
                  <m:oMath xmlns:m="http://schemas.openxmlformats.org/officeDocument/2006/math">
                    <m:r>
                      <a:rPr lang="zh-CN" altLang="zh-CN">
                        <a:latin typeface="Cambria Math" panose="02040503050406030204" pitchFamily="18" charset="0"/>
                      </a:rPr>
                      <m:t>△</m:t>
                    </m:r>
                    <m:r>
                      <m:rPr>
                        <m:sty m:val="p"/>
                      </m:rPr>
                      <a:rPr lang="en-US" altLang="zh-CN">
                        <a:latin typeface="Cambria Math" panose="02040503050406030204" pitchFamily="18" charset="0"/>
                      </a:rPr>
                      <m:t>w</m:t>
                    </m:r>
                    <m:r>
                      <a:rPr lang="en-US" altLang="zh-CN">
                        <a:latin typeface="Cambria Math" panose="02040503050406030204" pitchFamily="18" charset="0"/>
                      </a:rPr>
                      <m:t>=</m:t>
                    </m:r>
                    <m:r>
                      <a:rPr lang="zh-CN" altLang="en-US" i="1">
                        <a:latin typeface="Cambria Math" panose="02040503050406030204" pitchFamily="18" charset="0"/>
                      </a:rPr>
                      <m:t>−</m:t>
                    </m:r>
                    <m:r>
                      <m:rPr>
                        <m:sty m:val="p"/>
                      </m:rPr>
                      <a:rPr lang="zh-CN" altLang="zh-CN">
                        <a:latin typeface="Cambria Math" panose="02040503050406030204" pitchFamily="18" charset="0"/>
                      </a:rPr>
                      <m:t>η</m:t>
                    </m:r>
                    <m:sSub>
                      <m:sSubPr>
                        <m:ctrlPr>
                          <a:rPr lang="zh-CN" altLang="zh-CN" i="1">
                            <a:latin typeface="Cambria Math" panose="02040503050406030204" pitchFamily="18" charset="0"/>
                          </a:rPr>
                        </m:ctrlPr>
                      </m:sSubPr>
                      <m:e>
                        <m:r>
                          <a:rPr lang="en-US" altLang="zh-CN">
                            <a:latin typeface="Cambria Math" panose="02040503050406030204" pitchFamily="18" charset="0"/>
                          </a:rPr>
                          <m:t>𝛻</m:t>
                        </m:r>
                      </m:e>
                      <m:sub>
                        <m:r>
                          <a:rPr lang="en-US" altLang="zh-CN" i="1">
                            <a:latin typeface="Cambria Math" panose="02040503050406030204" pitchFamily="18" charset="0"/>
                          </a:rPr>
                          <m:t>𝑤</m:t>
                        </m:r>
                      </m:sub>
                    </m:sSub>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oMath>
                </a14:m>
                <a:endParaRPr lang="zh-CN" altLang="zh-CN"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896979" y="1508761"/>
                <a:ext cx="10363200" cy="4900748"/>
              </a:xfrm>
              <a:blipFill>
                <a:blip r:embed="rId3"/>
                <a:stretch>
                  <a:fillRect l="-1059" t="-1993"/>
                </a:stretch>
              </a:blipFill>
            </p:spPr>
            <p:txBody>
              <a:bodyPr/>
              <a:lstStyle/>
              <a:p>
                <a:r>
                  <a:rPr lang="zh-TW" altLang="en-US">
                    <a:noFill/>
                  </a:rPr>
                  <a:t> </a:t>
                </a:r>
              </a:p>
            </p:txBody>
          </p:sp>
        </mc:Fallback>
      </mc:AlternateContent>
      <p:pic>
        <p:nvPicPr>
          <p:cNvPr id="4" name="图片 3"/>
          <p:cNvPicPr>
            <a:picLocks noChangeAspect="1"/>
          </p:cNvPicPr>
          <p:nvPr/>
        </p:nvPicPr>
        <p:blipFill>
          <a:blip r:embed="rId4"/>
          <a:stretch>
            <a:fillRect/>
          </a:stretch>
        </p:blipFill>
        <p:spPr>
          <a:xfrm>
            <a:off x="6055815" y="1227909"/>
            <a:ext cx="5779129" cy="4754879"/>
          </a:xfrm>
          <a:prstGeom prst="rect">
            <a:avLst/>
          </a:prstGeom>
        </p:spPr>
      </p:pic>
    </p:spTree>
    <p:extLst>
      <p:ext uri="{BB962C8B-B14F-4D97-AF65-F5344CB8AC3E}">
        <p14:creationId xmlns:p14="http://schemas.microsoft.com/office/powerpoint/2010/main" val="28553223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梯度下降演算法</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p:txBody>
              <a:bodyPr>
                <a:normAutofit lnSpcReduction="10000"/>
              </a:bodyPr>
              <a:lstStyle/>
              <a:p>
                <a:endParaRPr lang="en-US" altLang="zh-CN" sz="2800" b="1" dirty="0"/>
              </a:p>
              <a:p>
                <a:r>
                  <a:rPr lang="zh-CN" altLang="en-US" b="1" dirty="0"/>
                  <a:t>梯度下降演算法                       </a:t>
                </a:r>
                <a14:m>
                  <m:oMath xmlns:m="http://schemas.openxmlformats.org/officeDocument/2006/math">
                    <m:r>
                      <a:rPr lang="en-US" altLang="zh-CN" i="1">
                        <a:latin typeface="Cambria Math" panose="02040503050406030204" pitchFamily="18" charset="0"/>
                      </a:rPr>
                      <m:t>𝐸</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𝑑</m:t>
                        </m:r>
                        <m:r>
                          <a:rPr lang="en-US" altLang="zh-CN" i="1">
                            <a:latin typeface="Cambria Math" panose="02040503050406030204" pitchFamily="18" charset="0"/>
                          </a:rPr>
                          <m:t>=1</m:t>
                        </m:r>
                      </m:sub>
                      <m:sup>
                        <m:r>
                          <a:rPr lang="en-US" altLang="zh-CN" i="1">
                            <a:latin typeface="Cambria Math" panose="02040503050406030204" pitchFamily="18" charset="0"/>
                          </a:rPr>
                          <m:t>𝑛</m:t>
                        </m:r>
                      </m:sup>
                      <m:e>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𝑚</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e>
                    </m:nary>
                  </m:oMath>
                </a14:m>
                <a:endParaRPr lang="en-US" altLang="zh-CN" b="1" dirty="0"/>
              </a:p>
              <a:p>
                <a:pPr lvl="1"/>
                <a:r>
                  <a:rPr lang="zh-CN" altLang="en-US" b="1" dirty="0"/>
                  <a:t>每次處理全部樣本</a:t>
                </a:r>
                <a:endParaRPr lang="en-US" altLang="zh-CN" sz="2800" dirty="0"/>
              </a:p>
              <a:p>
                <a:pPr lvl="1"/>
                <a:endParaRPr lang="en-US" altLang="zh-CN" b="1" dirty="0"/>
              </a:p>
              <a:p>
                <a:r>
                  <a:rPr lang="zh-CN" altLang="en-US" b="1" dirty="0"/>
                  <a:t>隨機梯度下降演算法                       </a:t>
                </a:r>
                <a14:m>
                  <m:oMath xmlns:m="http://schemas.openxmlformats.org/officeDocument/2006/math">
                    <m:sSub>
                      <m:sSubPr>
                        <m:ctrlPr>
                          <a:rPr lang="zh-CN" altLang="zh-CN" sz="2800" i="1">
                            <a:latin typeface="Cambria Math" panose="02040503050406030204" pitchFamily="18" charset="0"/>
                          </a:rPr>
                        </m:ctrlPr>
                      </m:sSubPr>
                      <m:e>
                        <m:r>
                          <m:rPr>
                            <m:sty m:val="p"/>
                          </m:rPr>
                          <a:rPr lang="en-US" altLang="zh-CN" sz="2800">
                            <a:latin typeface="Cambria Math" panose="02040503050406030204" pitchFamily="18" charset="0"/>
                          </a:rPr>
                          <m:t>E</m:t>
                        </m:r>
                      </m:e>
                      <m:sub>
                        <m:r>
                          <a:rPr lang="en-US" altLang="zh-CN" sz="2800" i="1">
                            <a:latin typeface="Cambria Math" panose="02040503050406030204" pitchFamily="18" charset="0"/>
                          </a:rPr>
                          <m:t>𝑑</m:t>
                        </m:r>
                      </m:sub>
                    </m:sSub>
                    <m:d>
                      <m:dPr>
                        <m:ctrlPr>
                          <a:rPr lang="zh-CN" altLang="zh-CN" sz="2800" i="1">
                            <a:latin typeface="Cambria Math" panose="02040503050406030204" pitchFamily="18" charset="0"/>
                          </a:rPr>
                        </m:ctrlPr>
                      </m:dPr>
                      <m:e>
                        <m:r>
                          <a:rPr lang="en-US" altLang="zh-CN" sz="2800" i="1">
                            <a:latin typeface="Cambria Math" panose="02040503050406030204" pitchFamily="18" charset="0"/>
                          </a:rPr>
                          <m:t>𝑤</m:t>
                        </m:r>
                      </m:e>
                    </m:d>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num>
                      <m:den>
                        <m:r>
                          <a:rPr lang="en-US" altLang="zh-CN" sz="2800" i="1">
                            <a:latin typeface="Cambria Math" panose="02040503050406030204" pitchFamily="18" charset="0"/>
                          </a:rPr>
                          <m:t>2</m:t>
                        </m:r>
                      </m:den>
                    </m:f>
                    <m:nary>
                      <m:naryPr>
                        <m:chr m:val="∑"/>
                        <m:limLoc m:val="undOvr"/>
                        <m:ctrlPr>
                          <a:rPr lang="zh-CN" altLang="zh-CN" sz="2800" i="1">
                            <a:latin typeface="Cambria Math" panose="02040503050406030204" pitchFamily="18" charset="0"/>
                          </a:rPr>
                        </m:ctrlPr>
                      </m:naryPr>
                      <m:sub>
                        <m:r>
                          <a:rPr lang="en-US" altLang="zh-CN" sz="2800" i="1">
                            <a:latin typeface="Cambria Math" panose="02040503050406030204" pitchFamily="18" charset="0"/>
                          </a:rPr>
                          <m:t>𝑘</m:t>
                        </m:r>
                        <m:r>
                          <a:rPr lang="en-US" altLang="zh-CN" sz="2800" i="1">
                            <a:latin typeface="Cambria Math" panose="02040503050406030204" pitchFamily="18" charset="0"/>
                          </a:rPr>
                          <m:t>=1</m:t>
                        </m:r>
                      </m:sub>
                      <m:sup>
                        <m:r>
                          <a:rPr lang="en-US" altLang="zh-CN" sz="2800" i="1">
                            <a:latin typeface="Cambria Math" panose="02040503050406030204" pitchFamily="18" charset="0"/>
                          </a:rPr>
                          <m:t>𝑚</m:t>
                        </m:r>
                      </m:sup>
                      <m:e>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𝑡</m:t>
                                </m:r>
                              </m:e>
                              <m:sub>
                                <m:r>
                                  <a:rPr lang="en-US" altLang="zh-CN" sz="2800" i="1">
                                    <a:latin typeface="Cambria Math" panose="02040503050406030204" pitchFamily="18" charset="0"/>
                                  </a:rPr>
                                  <m:t>𝑘𝑑</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𝑜</m:t>
                                </m:r>
                              </m:e>
                              <m:sub>
                                <m:r>
                                  <a:rPr lang="en-US" altLang="zh-CN" sz="2800" i="1">
                                    <a:latin typeface="Cambria Math" panose="02040503050406030204" pitchFamily="18" charset="0"/>
                                  </a:rPr>
                                  <m:t>𝑘𝑑</m:t>
                                </m:r>
                              </m:sub>
                            </m:sSub>
                            <m:r>
                              <a:rPr lang="en-US" altLang="zh-CN" sz="2800" i="1">
                                <a:latin typeface="Cambria Math" panose="02040503050406030204" pitchFamily="18" charset="0"/>
                              </a:rPr>
                              <m:t>)</m:t>
                            </m:r>
                          </m:e>
                          <m:sup>
                            <m:r>
                              <a:rPr lang="en-US" altLang="zh-CN" sz="2800" i="1">
                                <a:latin typeface="Cambria Math" panose="02040503050406030204" pitchFamily="18" charset="0"/>
                              </a:rPr>
                              <m:t>2</m:t>
                            </m:r>
                          </m:sup>
                        </m:sSup>
                      </m:e>
                    </m:nary>
                  </m:oMath>
                </a14:m>
                <a:r>
                  <a:rPr lang="zh-CN" altLang="en-US" b="1" dirty="0"/>
                  <a:t>    </a:t>
                </a:r>
                <a:endParaRPr lang="en-US" altLang="zh-CN" b="1" dirty="0"/>
              </a:p>
              <a:p>
                <a:pPr lvl="1"/>
                <a:r>
                  <a:rPr lang="zh-CN" altLang="en-US" b="1" dirty="0"/>
                  <a:t>每次處理一個樣本</a:t>
                </a:r>
                <a:endParaRPr lang="en-US" altLang="zh-CN" b="1" dirty="0"/>
              </a:p>
              <a:p>
                <a:pPr lvl="1"/>
                <a:endParaRPr lang="en-US" altLang="zh-CN" sz="2600" b="1" dirty="0"/>
              </a:p>
              <a:p>
                <a:r>
                  <a:rPr lang="zh-CN" altLang="en-US" b="1" dirty="0"/>
                  <a:t>批量梯度下降演算法                   </a:t>
                </a:r>
                <a14:m>
                  <m:oMath xmlns:m="http://schemas.openxmlformats.org/officeDocument/2006/math">
                    <m:r>
                      <a:rPr lang="en-US" altLang="zh-CN" i="1">
                        <a:latin typeface="Cambria Math" panose="02040503050406030204" pitchFamily="18" charset="0"/>
                      </a:rPr>
                      <m:t>𝐸</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𝑑</m:t>
                        </m:r>
                        <m:r>
                          <a:rPr lang="en-US" altLang="zh-CN" i="1">
                            <a:latin typeface="Cambria Math" panose="02040503050406030204" pitchFamily="18" charset="0"/>
                          </a:rPr>
                          <m:t>=</m:t>
                        </m:r>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sup>
                      <m:e>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𝑚</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e>
                    </m:nary>
                  </m:oMath>
                </a14:m>
                <a:endParaRPr lang="en-US" altLang="zh-CN" b="1" dirty="0"/>
              </a:p>
              <a:p>
                <a:pPr lvl="1"/>
                <a:r>
                  <a:rPr lang="zh-CN" altLang="en-US" b="1" dirty="0"/>
                  <a:t>每次處理小批量的樣本</a:t>
                </a:r>
                <a:endParaRPr lang="en-US" altLang="zh-CN" sz="2800" b="1" dirty="0"/>
              </a:p>
              <a:p>
                <a:pPr marL="0" indent="0">
                  <a:buNone/>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786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1028" y="-29269"/>
            <a:ext cx="10363200" cy="1143000"/>
          </a:xfrm>
        </p:spPr>
        <p:txBody>
          <a:bodyPr/>
          <a:lstStyle/>
          <a:p>
            <a:r>
              <a:rPr lang="zh-CN" altLang="en-US" dirty="0"/>
              <a:t>符號說明</a:t>
            </a:r>
          </a:p>
        </p:txBody>
      </p:sp>
      <p:cxnSp>
        <p:nvCxnSpPr>
          <p:cNvPr id="4" name="直接箭头连接符 3"/>
          <p:cNvCxnSpPr/>
          <p:nvPr/>
        </p:nvCxnSpPr>
        <p:spPr>
          <a:xfrm flipH="1" flipV="1">
            <a:off x="4389122" y="1157779"/>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5" name="直接箭头连接符 4"/>
          <p:cNvCxnSpPr/>
          <p:nvPr/>
        </p:nvCxnSpPr>
        <p:spPr>
          <a:xfrm flipH="1" flipV="1">
            <a:off x="6438723" y="1138464"/>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6" name="椭圆 5"/>
          <p:cNvSpPr/>
          <p:nvPr/>
        </p:nvSpPr>
        <p:spPr>
          <a:xfrm>
            <a:off x="6305143" y="1627818"/>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 name="文本框 35"/>
          <p:cNvSpPr txBox="1"/>
          <p:nvPr/>
        </p:nvSpPr>
        <p:spPr>
          <a:xfrm>
            <a:off x="4115900" y="681303"/>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49"/>
          <p:cNvSpPr txBox="1"/>
          <p:nvPr/>
        </p:nvSpPr>
        <p:spPr>
          <a:xfrm>
            <a:off x="6216090" y="649109"/>
            <a:ext cx="572484"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M</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9" name="椭圆 8"/>
          <p:cNvSpPr/>
          <p:nvPr/>
        </p:nvSpPr>
        <p:spPr>
          <a:xfrm>
            <a:off x="4234112" y="1653574"/>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0" name="直接箭头连接符 9"/>
          <p:cNvCxnSpPr>
            <a:stCxn id="32" idx="0"/>
            <a:endCxn id="9" idx="4"/>
          </p:cNvCxnSpPr>
          <p:nvPr/>
        </p:nvCxnSpPr>
        <p:spPr>
          <a:xfrm flipV="1">
            <a:off x="4287692" y="1944585"/>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11" name="直接箭头连接符 10"/>
          <p:cNvCxnSpPr>
            <a:stCxn id="32" idx="0"/>
            <a:endCxn id="6" idx="4"/>
          </p:cNvCxnSpPr>
          <p:nvPr/>
        </p:nvCxnSpPr>
        <p:spPr>
          <a:xfrm flipV="1">
            <a:off x="4287692" y="1918829"/>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p:cNvCxnSpPr>
            <a:stCxn id="33" idx="0"/>
            <a:endCxn id="6" idx="4"/>
          </p:cNvCxnSpPr>
          <p:nvPr/>
        </p:nvCxnSpPr>
        <p:spPr>
          <a:xfrm flipV="1">
            <a:off x="5450917" y="1918829"/>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34" idx="0"/>
            <a:endCxn id="9" idx="4"/>
          </p:cNvCxnSpPr>
          <p:nvPr/>
        </p:nvCxnSpPr>
        <p:spPr>
          <a:xfrm flipH="1" flipV="1">
            <a:off x="4377874" y="1944585"/>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a:stCxn id="34" idx="0"/>
            <a:endCxn id="6" idx="4"/>
          </p:cNvCxnSpPr>
          <p:nvPr/>
        </p:nvCxnSpPr>
        <p:spPr>
          <a:xfrm flipH="1" flipV="1">
            <a:off x="6448905" y="1918829"/>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p:cNvCxnSpPr>
            <a:stCxn id="33" idx="0"/>
            <a:endCxn id="9" idx="4"/>
          </p:cNvCxnSpPr>
          <p:nvPr/>
        </p:nvCxnSpPr>
        <p:spPr>
          <a:xfrm flipH="1" flipV="1">
            <a:off x="4377874" y="1944585"/>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16" name="椭圆 15"/>
          <p:cNvSpPr/>
          <p:nvPr/>
        </p:nvSpPr>
        <p:spPr>
          <a:xfrm>
            <a:off x="4143248" y="431926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7" name="椭圆 16"/>
          <p:cNvSpPr/>
          <p:nvPr/>
        </p:nvSpPr>
        <p:spPr>
          <a:xfrm>
            <a:off x="5306476" y="431926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8" name="椭圆 17"/>
          <p:cNvSpPr/>
          <p:nvPr/>
        </p:nvSpPr>
        <p:spPr>
          <a:xfrm>
            <a:off x="6630371" y="4345024"/>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7183772" y="5523340"/>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0" name="椭圆 19"/>
          <p:cNvSpPr/>
          <p:nvPr/>
        </p:nvSpPr>
        <p:spPr>
          <a:xfrm>
            <a:off x="5306480" y="550402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1" name="椭圆 20"/>
          <p:cNvSpPr/>
          <p:nvPr/>
        </p:nvSpPr>
        <p:spPr>
          <a:xfrm>
            <a:off x="3767952" y="550402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2" name="直接箭头连接符 21"/>
          <p:cNvCxnSpPr>
            <a:stCxn id="21" idx="0"/>
            <a:endCxn id="16" idx="4"/>
          </p:cNvCxnSpPr>
          <p:nvPr/>
        </p:nvCxnSpPr>
        <p:spPr>
          <a:xfrm flipV="1">
            <a:off x="3911712" y="4609287"/>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3" name="直接箭头连接符 22"/>
          <p:cNvCxnSpPr>
            <a:stCxn id="21" idx="0"/>
            <a:endCxn id="17" idx="4"/>
          </p:cNvCxnSpPr>
          <p:nvPr/>
        </p:nvCxnSpPr>
        <p:spPr>
          <a:xfrm flipV="1">
            <a:off x="3911714" y="4609287"/>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4" name="直接箭头连接符 23"/>
          <p:cNvCxnSpPr>
            <a:stCxn id="20" idx="0"/>
            <a:endCxn id="16" idx="4"/>
          </p:cNvCxnSpPr>
          <p:nvPr/>
        </p:nvCxnSpPr>
        <p:spPr>
          <a:xfrm flipH="1" flipV="1">
            <a:off x="4287010" y="4609287"/>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21" idx="0"/>
            <a:endCxn id="18" idx="4"/>
          </p:cNvCxnSpPr>
          <p:nvPr/>
        </p:nvCxnSpPr>
        <p:spPr>
          <a:xfrm flipV="1">
            <a:off x="3911712" y="4635040"/>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20" idx="0"/>
            <a:endCxn id="17" idx="4"/>
          </p:cNvCxnSpPr>
          <p:nvPr/>
        </p:nvCxnSpPr>
        <p:spPr>
          <a:xfrm flipH="1" flipV="1">
            <a:off x="5450238" y="4609287"/>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20" idx="0"/>
            <a:endCxn id="18" idx="4"/>
          </p:cNvCxnSpPr>
          <p:nvPr/>
        </p:nvCxnSpPr>
        <p:spPr>
          <a:xfrm flipV="1">
            <a:off x="5450242" y="4635042"/>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19" idx="0"/>
            <a:endCxn id="18" idx="4"/>
          </p:cNvCxnSpPr>
          <p:nvPr/>
        </p:nvCxnSpPr>
        <p:spPr>
          <a:xfrm flipH="1" flipV="1">
            <a:off x="6774133" y="4635040"/>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stCxn id="19" idx="0"/>
            <a:endCxn id="17" idx="4"/>
          </p:cNvCxnSpPr>
          <p:nvPr/>
        </p:nvCxnSpPr>
        <p:spPr>
          <a:xfrm flipH="1" flipV="1">
            <a:off x="5450238" y="4609287"/>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p:cNvCxnSpPr>
            <a:stCxn id="19" idx="0"/>
            <a:endCxn id="16" idx="4"/>
          </p:cNvCxnSpPr>
          <p:nvPr/>
        </p:nvCxnSpPr>
        <p:spPr>
          <a:xfrm flipH="1" flipV="1">
            <a:off x="4287010" y="4609287"/>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32" name="椭圆 31"/>
          <p:cNvSpPr/>
          <p:nvPr/>
        </p:nvSpPr>
        <p:spPr>
          <a:xfrm>
            <a:off x="4143930" y="2992860"/>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3" name="椭圆 32"/>
          <p:cNvSpPr/>
          <p:nvPr/>
        </p:nvSpPr>
        <p:spPr>
          <a:xfrm>
            <a:off x="5307155" y="2992860"/>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4" name="椭圆 33"/>
          <p:cNvSpPr/>
          <p:nvPr/>
        </p:nvSpPr>
        <p:spPr>
          <a:xfrm>
            <a:off x="6604926" y="3018616"/>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5" name="文本框 112"/>
          <p:cNvSpPr txBox="1"/>
          <p:nvPr/>
        </p:nvSpPr>
        <p:spPr>
          <a:xfrm>
            <a:off x="5876517" y="2960439"/>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36" name="直接箭头连接符 35"/>
          <p:cNvCxnSpPr>
            <a:stCxn id="16" idx="0"/>
            <a:endCxn id="32" idx="4"/>
          </p:cNvCxnSpPr>
          <p:nvPr/>
        </p:nvCxnSpPr>
        <p:spPr>
          <a:xfrm flipV="1">
            <a:off x="4287010" y="3282878"/>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p:cNvCxnSpPr>
            <a:stCxn id="17" idx="0"/>
            <a:endCxn id="33" idx="4"/>
          </p:cNvCxnSpPr>
          <p:nvPr/>
        </p:nvCxnSpPr>
        <p:spPr>
          <a:xfrm flipV="1">
            <a:off x="5450238" y="3282878"/>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18" idx="0"/>
            <a:endCxn id="34" idx="4"/>
          </p:cNvCxnSpPr>
          <p:nvPr/>
        </p:nvCxnSpPr>
        <p:spPr>
          <a:xfrm flipH="1" flipV="1">
            <a:off x="6748689" y="3308634"/>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39" name="直接箭头连接符 38"/>
          <p:cNvCxnSpPr>
            <a:stCxn id="16" idx="0"/>
            <a:endCxn id="33" idx="4"/>
          </p:cNvCxnSpPr>
          <p:nvPr/>
        </p:nvCxnSpPr>
        <p:spPr>
          <a:xfrm flipV="1">
            <a:off x="4287010" y="3282878"/>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p:cNvCxnSpPr>
            <a:stCxn id="16" idx="0"/>
            <a:endCxn id="34" idx="4"/>
          </p:cNvCxnSpPr>
          <p:nvPr/>
        </p:nvCxnSpPr>
        <p:spPr>
          <a:xfrm flipV="1">
            <a:off x="4287010" y="3308634"/>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p:cNvCxnSpPr>
            <a:stCxn id="17" idx="0"/>
            <a:endCxn id="32" idx="4"/>
          </p:cNvCxnSpPr>
          <p:nvPr/>
        </p:nvCxnSpPr>
        <p:spPr>
          <a:xfrm flipH="1" flipV="1">
            <a:off x="4287692" y="3282878"/>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p:cNvCxnSpPr>
            <a:stCxn id="17" idx="0"/>
            <a:endCxn id="34" idx="4"/>
          </p:cNvCxnSpPr>
          <p:nvPr/>
        </p:nvCxnSpPr>
        <p:spPr>
          <a:xfrm flipV="1">
            <a:off x="5450238" y="3308634"/>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p:cNvCxnSpPr>
            <a:stCxn id="18" idx="0"/>
            <a:endCxn id="33" idx="4"/>
          </p:cNvCxnSpPr>
          <p:nvPr/>
        </p:nvCxnSpPr>
        <p:spPr>
          <a:xfrm flipH="1" flipV="1">
            <a:off x="5450917" y="3282878"/>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p:cNvCxnSpPr>
            <a:stCxn id="18" idx="0"/>
            <a:endCxn id="32" idx="4"/>
          </p:cNvCxnSpPr>
          <p:nvPr/>
        </p:nvCxnSpPr>
        <p:spPr>
          <a:xfrm flipH="1" flipV="1">
            <a:off x="4287692" y="3282878"/>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45" name="文本框 112"/>
          <p:cNvSpPr txBox="1"/>
          <p:nvPr/>
        </p:nvSpPr>
        <p:spPr>
          <a:xfrm>
            <a:off x="4715396" y="1610415"/>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48" name="曲线连接符 47"/>
          <p:cNvCxnSpPr/>
          <p:nvPr/>
        </p:nvCxnSpPr>
        <p:spPr>
          <a:xfrm flipV="1">
            <a:off x="3171925" y="3505495"/>
            <a:ext cx="1944578" cy="917065"/>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50" name="曲线连接符 49"/>
          <p:cNvCxnSpPr>
            <a:stCxn id="163" idx="1"/>
            <a:endCxn id="65" idx="0"/>
          </p:cNvCxnSpPr>
          <p:nvPr/>
        </p:nvCxnSpPr>
        <p:spPr>
          <a:xfrm rot="10800000" flipV="1">
            <a:off x="5457820" y="2150605"/>
            <a:ext cx="3368340" cy="768061"/>
          </a:xfrm>
          <a:prstGeom prst="curvedConnector2">
            <a:avLst/>
          </a:prstGeom>
          <a:noFill/>
          <a:ln w="28575" cap="flat" cmpd="sng" algn="ctr">
            <a:solidFill>
              <a:srgbClr val="FF0000"/>
            </a:solidFill>
            <a:prstDash val="solid"/>
            <a:miter lim="800000"/>
            <a:tailEnd type="triangle"/>
          </a:ln>
          <a:effectLst/>
        </p:spPr>
      </p:cxnSp>
      <p:cxnSp>
        <p:nvCxnSpPr>
          <p:cNvPr id="51" name="曲线连接符 50"/>
          <p:cNvCxnSpPr>
            <a:stCxn id="163" idx="1"/>
            <a:endCxn id="34" idx="7"/>
          </p:cNvCxnSpPr>
          <p:nvPr/>
        </p:nvCxnSpPr>
        <p:spPr>
          <a:xfrm rot="10800000" flipV="1">
            <a:off x="6850342" y="2150606"/>
            <a:ext cx="1975818" cy="910482"/>
          </a:xfrm>
          <a:prstGeom prst="curvedConnector2">
            <a:avLst/>
          </a:prstGeom>
          <a:noFill/>
          <a:ln w="28575" cap="flat" cmpd="sng" algn="ctr">
            <a:solidFill>
              <a:srgbClr val="FF0000"/>
            </a:solidFill>
            <a:prstDash val="solid"/>
            <a:miter lim="800000"/>
            <a:tailEnd type="triangle"/>
          </a:ln>
          <a:effectLst/>
        </p:spPr>
      </p:cxnSp>
      <p:cxnSp>
        <p:nvCxnSpPr>
          <p:cNvPr id="52" name="曲线连接符 51"/>
          <p:cNvCxnSpPr/>
          <p:nvPr/>
        </p:nvCxnSpPr>
        <p:spPr>
          <a:xfrm flipV="1">
            <a:off x="2795462" y="1714576"/>
            <a:ext cx="2499433" cy="1108639"/>
          </a:xfrm>
          <a:prstGeom prst="curvedConnector3">
            <a:avLst>
              <a:gd name="adj1" fmla="val 37805"/>
            </a:avLst>
          </a:prstGeom>
          <a:noFill/>
          <a:ln w="28575" cap="flat" cmpd="sng" algn="ctr">
            <a:solidFill>
              <a:srgbClr val="FF0000"/>
            </a:solidFill>
            <a:prstDash val="solid"/>
            <a:miter lim="800000"/>
            <a:tailEnd type="triangle"/>
          </a:ln>
          <a:effectLst/>
        </p:spPr>
      </p:cxnSp>
      <p:cxnSp>
        <p:nvCxnSpPr>
          <p:cNvPr id="53" name="曲线连接符 52"/>
          <p:cNvCxnSpPr>
            <a:stCxn id="163" idx="1"/>
            <a:endCxn id="32" idx="7"/>
          </p:cNvCxnSpPr>
          <p:nvPr/>
        </p:nvCxnSpPr>
        <p:spPr>
          <a:xfrm rot="10800000" flipV="1">
            <a:off x="4389346" y="2150606"/>
            <a:ext cx="4436814" cy="884726"/>
          </a:xfrm>
          <a:prstGeom prst="curvedConnector2">
            <a:avLst/>
          </a:prstGeom>
          <a:noFill/>
          <a:ln w="28575" cap="flat" cmpd="sng" algn="ctr">
            <a:solidFill>
              <a:srgbClr val="FF0000"/>
            </a:solidFill>
            <a:prstDash val="solid"/>
            <a:miter lim="800000"/>
            <a:tailEnd type="triangle"/>
          </a:ln>
          <a:effectLst/>
        </p:spPr>
      </p:cxnSp>
      <p:cxnSp>
        <p:nvCxnSpPr>
          <p:cNvPr id="54" name="直接箭头连接符 53"/>
          <p:cNvCxnSpPr/>
          <p:nvPr/>
        </p:nvCxnSpPr>
        <p:spPr>
          <a:xfrm flipH="1" flipV="1">
            <a:off x="5487335" y="1122957"/>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55" name="文本框 35"/>
          <p:cNvSpPr txBox="1"/>
          <p:nvPr/>
        </p:nvSpPr>
        <p:spPr>
          <a:xfrm>
            <a:off x="5283785" y="646481"/>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k</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6" name="椭圆 55"/>
          <p:cNvSpPr/>
          <p:nvPr/>
        </p:nvSpPr>
        <p:spPr>
          <a:xfrm>
            <a:off x="5341034" y="1618752"/>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57" name="直接箭头连接符 56"/>
          <p:cNvCxnSpPr>
            <a:stCxn id="32" idx="0"/>
            <a:endCxn id="56" idx="4"/>
          </p:cNvCxnSpPr>
          <p:nvPr/>
        </p:nvCxnSpPr>
        <p:spPr>
          <a:xfrm flipV="1">
            <a:off x="4287692" y="1909763"/>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58" name="直接箭头连接符 57"/>
          <p:cNvCxnSpPr>
            <a:stCxn id="34" idx="0"/>
            <a:endCxn id="56" idx="4"/>
          </p:cNvCxnSpPr>
          <p:nvPr/>
        </p:nvCxnSpPr>
        <p:spPr>
          <a:xfrm flipH="1" flipV="1">
            <a:off x="5484796" y="1909763"/>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59" name="直接箭头连接符 58"/>
          <p:cNvCxnSpPr>
            <a:stCxn id="33" idx="0"/>
            <a:endCxn id="56" idx="4"/>
          </p:cNvCxnSpPr>
          <p:nvPr/>
        </p:nvCxnSpPr>
        <p:spPr>
          <a:xfrm flipV="1">
            <a:off x="5450917" y="1909763"/>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60" name="文本框 112"/>
          <p:cNvSpPr txBox="1"/>
          <p:nvPr/>
        </p:nvSpPr>
        <p:spPr>
          <a:xfrm>
            <a:off x="5780224" y="1594845"/>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1" name="文本框 112"/>
          <p:cNvSpPr txBox="1"/>
          <p:nvPr/>
        </p:nvSpPr>
        <p:spPr>
          <a:xfrm>
            <a:off x="4682147" y="296097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2" name="文本框 112"/>
          <p:cNvSpPr txBox="1"/>
          <p:nvPr/>
        </p:nvSpPr>
        <p:spPr>
          <a:xfrm>
            <a:off x="5719925" y="424943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3" name="文本框 112"/>
          <p:cNvSpPr txBox="1"/>
          <p:nvPr/>
        </p:nvSpPr>
        <p:spPr>
          <a:xfrm>
            <a:off x="4525555" y="424997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4" name="文本框 35"/>
              <p:cNvSpPr txBox="1"/>
              <p:nvPr/>
            </p:nvSpPr>
            <p:spPr>
              <a:xfrm>
                <a:off x="5212468" y="1565047"/>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𝑘</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64" name="文本框 35"/>
              <p:cNvSpPr txBox="1">
                <a:spLocks noRot="1" noChangeAspect="1" noMove="1" noResize="1" noEditPoints="1" noAdjustHandles="1" noChangeArrowheads="1" noChangeShapeType="1" noTextEdit="1"/>
              </p:cNvSpPr>
              <p:nvPr/>
            </p:nvSpPr>
            <p:spPr>
              <a:xfrm>
                <a:off x="5212468" y="1565047"/>
                <a:ext cx="578535" cy="477132"/>
              </a:xfrm>
              <a:prstGeom prst="rect">
                <a:avLst/>
              </a:prstGeom>
              <a:blipFill>
                <a:blip r:embed="rId3"/>
                <a:stretch>
                  <a:fillRect/>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5" name="文本框 35"/>
              <p:cNvSpPr txBox="1"/>
              <p:nvPr/>
            </p:nvSpPr>
            <p:spPr>
              <a:xfrm>
                <a:off x="5168552" y="2918667"/>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𝑗</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65" name="文本框 35"/>
              <p:cNvSpPr txBox="1">
                <a:spLocks noRot="1" noChangeAspect="1" noMove="1" noResize="1" noEditPoints="1" noAdjustHandles="1" noChangeArrowheads="1" noChangeShapeType="1" noTextEdit="1"/>
              </p:cNvSpPr>
              <p:nvPr/>
            </p:nvSpPr>
            <p:spPr>
              <a:xfrm>
                <a:off x="5168552" y="2918667"/>
                <a:ext cx="578535" cy="477132"/>
              </a:xfrm>
              <a:prstGeom prst="rect">
                <a:avLst/>
              </a:prstGeom>
              <a:blipFill>
                <a:blip r:embed="rId4"/>
                <a:stretch>
                  <a:fillRect/>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6" name="文本框 35"/>
              <p:cNvSpPr txBox="1"/>
              <p:nvPr/>
            </p:nvSpPr>
            <p:spPr>
              <a:xfrm>
                <a:off x="5170335" y="4228131"/>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𝑔</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66" name="文本框 35"/>
              <p:cNvSpPr txBox="1">
                <a:spLocks noRot="1" noChangeAspect="1" noMove="1" noResize="1" noEditPoints="1" noAdjustHandles="1" noChangeArrowheads="1" noChangeShapeType="1" noTextEdit="1"/>
              </p:cNvSpPr>
              <p:nvPr/>
            </p:nvSpPr>
            <p:spPr>
              <a:xfrm>
                <a:off x="5170335" y="4228131"/>
                <a:ext cx="578535" cy="477132"/>
              </a:xfrm>
              <a:prstGeom prst="rect">
                <a:avLst/>
              </a:prstGeom>
              <a:blipFill>
                <a:blip r:embed="rId5"/>
                <a:stretch>
                  <a:fillRect/>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0" name="文本框 132"/>
              <p:cNvSpPr txBox="1"/>
              <p:nvPr/>
            </p:nvSpPr>
            <p:spPr>
              <a:xfrm>
                <a:off x="529794" y="2414532"/>
                <a:ext cx="2968183" cy="74654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oMath>
                </a14:m>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k</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的希望輸出</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oMath>
                </a14:m>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k</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的實際輸出</a:t>
                </a:r>
              </a:p>
            </p:txBody>
          </p:sp>
        </mc:Choice>
        <mc:Fallback>
          <p:sp>
            <p:nvSpPr>
              <p:cNvPr id="150" name="文本框 132"/>
              <p:cNvSpPr txBox="1">
                <a:spLocks noRot="1" noChangeAspect="1" noMove="1" noResize="1" noEditPoints="1" noAdjustHandles="1" noChangeArrowheads="1" noChangeShapeType="1" noTextEdit="1"/>
              </p:cNvSpPr>
              <p:nvPr/>
            </p:nvSpPr>
            <p:spPr>
              <a:xfrm>
                <a:off x="529794" y="2414532"/>
                <a:ext cx="2968183" cy="746546"/>
              </a:xfrm>
              <a:prstGeom prst="rect">
                <a:avLst/>
              </a:prstGeom>
              <a:blipFill>
                <a:blip r:embed="rId6"/>
                <a:stretch>
                  <a:fillRect t="-5691" b="-6504"/>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1" name="文本框 132"/>
              <p:cNvSpPr txBox="1"/>
              <p:nvPr/>
            </p:nvSpPr>
            <p:spPr>
              <a:xfrm>
                <a:off x="759769" y="4135678"/>
                <a:ext cx="3165972" cy="74654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𝑗𝑖</m:t>
                        </m:r>
                      </m:sub>
                    </m:sSub>
                  </m:oMath>
                </a14:m>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j</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的第</a:t>
                </a:r>
                <a:r>
                  <a:rPr kumimoji="0" lang="en-US" altLang="zh-CN" sz="2000" b="0" i="0" u="none" strike="noStrike" kern="100" cap="none" spc="0" normalizeH="0" baseline="0" noProof="0" dirty="0" err="1">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i</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個輸入</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𝑗𝑖</m:t>
                        </m:r>
                      </m:sub>
                    </m:sSub>
                  </m:oMath>
                </a14:m>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j</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的第</a:t>
                </a:r>
                <a:r>
                  <a:rPr kumimoji="0" lang="en-US" altLang="zh-CN" sz="2000" b="0" i="0" u="none" strike="noStrike" kern="100" cap="none" spc="0" normalizeH="0" baseline="0" noProof="0" dirty="0" err="1">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i</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個權重</a:t>
                </a:r>
              </a:p>
            </p:txBody>
          </p:sp>
        </mc:Choice>
        <mc:Fallback>
          <p:sp>
            <p:nvSpPr>
              <p:cNvPr id="151" name="文本框 132"/>
              <p:cNvSpPr txBox="1">
                <a:spLocks noRot="1" noChangeAspect="1" noMove="1" noResize="1" noEditPoints="1" noAdjustHandles="1" noChangeArrowheads="1" noChangeShapeType="1" noTextEdit="1"/>
              </p:cNvSpPr>
              <p:nvPr/>
            </p:nvSpPr>
            <p:spPr>
              <a:xfrm>
                <a:off x="759769" y="4135678"/>
                <a:ext cx="3165972" cy="746546"/>
              </a:xfrm>
              <a:prstGeom prst="rect">
                <a:avLst/>
              </a:prstGeom>
              <a:blipFill>
                <a:blip r:embed="rId7"/>
                <a:stretch>
                  <a:fillRect t="-3252" b="-12195"/>
                </a:stretch>
              </a:blipFill>
              <a:ln w="6350">
                <a:noFill/>
              </a:ln>
            </p:spPr>
            <p:txBody>
              <a:bodyPr/>
              <a:lstStyle/>
              <a:p>
                <a:r>
                  <a:rPr lang="zh-TW" altLang="en-US">
                    <a:noFill/>
                  </a:rPr>
                  <a:t> </a:t>
                </a:r>
              </a:p>
            </p:txBody>
          </p:sp>
        </mc:Fallback>
      </mc:AlternateContent>
      <p:sp>
        <p:nvSpPr>
          <p:cNvPr id="163" name="文本框 132"/>
          <p:cNvSpPr txBox="1"/>
          <p:nvPr/>
        </p:nvSpPr>
        <p:spPr>
          <a:xfrm>
            <a:off x="8826160" y="1952798"/>
            <a:ext cx="1218108" cy="39561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g</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a:t>
            </a:r>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後繼</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198" name="曲线连接符 197"/>
          <p:cNvCxnSpPr/>
          <p:nvPr/>
        </p:nvCxnSpPr>
        <p:spPr>
          <a:xfrm>
            <a:off x="1541428" y="912565"/>
            <a:ext cx="26126" cy="12700"/>
          </a:xfrm>
          <a:prstGeom prst="curvedConnector3">
            <a:avLst/>
          </a:prstGeom>
          <a:ln>
            <a:solidFill>
              <a:srgbClr val="FB81E1"/>
            </a:solidFill>
          </a:ln>
        </p:spPr>
        <p:style>
          <a:lnRef idx="1">
            <a:schemeClr val="accent1"/>
          </a:lnRef>
          <a:fillRef idx="0">
            <a:schemeClr val="accent1"/>
          </a:fillRef>
          <a:effectRef idx="0">
            <a:schemeClr val="accent1"/>
          </a:effectRef>
          <a:fontRef idx="minor">
            <a:schemeClr val="tx1"/>
          </a:fontRef>
        </p:style>
      </p:cxnSp>
      <p:sp>
        <p:nvSpPr>
          <p:cNvPr id="219" name="椭圆 218"/>
          <p:cNvSpPr/>
          <p:nvPr/>
        </p:nvSpPr>
        <p:spPr>
          <a:xfrm>
            <a:off x="5343211" y="1622891"/>
            <a:ext cx="287523" cy="291011"/>
          </a:xfrm>
          <a:prstGeom prst="ellipse">
            <a:avLst/>
          </a:prstGeom>
          <a:noFill/>
          <a:ln w="28575" cap="flat" cmpd="sng" algn="ctr">
            <a:solidFill>
              <a:srgbClr val="119F1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46" name="直接箭头连接符 245"/>
          <p:cNvCxnSpPr/>
          <p:nvPr/>
        </p:nvCxnSpPr>
        <p:spPr>
          <a:xfrm flipV="1">
            <a:off x="5458542" y="3273358"/>
            <a:ext cx="679" cy="1036391"/>
          </a:xfrm>
          <a:prstGeom prst="straightConnector1">
            <a:avLst/>
          </a:prstGeom>
          <a:noFill/>
          <a:ln w="28575" cap="flat" cmpd="sng" algn="ctr">
            <a:solidFill>
              <a:srgbClr val="0000FF"/>
            </a:solidFill>
            <a:prstDash val="solid"/>
            <a:miter lim="800000"/>
            <a:tailEnd type="triangle"/>
          </a:ln>
          <a:effectLst/>
        </p:spPr>
      </p:cxnSp>
      <p:cxnSp>
        <p:nvCxnSpPr>
          <p:cNvPr id="247" name="直接箭头连接符 246"/>
          <p:cNvCxnSpPr/>
          <p:nvPr/>
        </p:nvCxnSpPr>
        <p:spPr>
          <a:xfrm flipV="1">
            <a:off x="4295314" y="3273358"/>
            <a:ext cx="1163907" cy="1036391"/>
          </a:xfrm>
          <a:prstGeom prst="straightConnector1">
            <a:avLst/>
          </a:prstGeom>
          <a:noFill/>
          <a:ln w="28575" cap="flat" cmpd="sng" algn="ctr">
            <a:solidFill>
              <a:srgbClr val="0000FF"/>
            </a:solidFill>
            <a:prstDash val="solid"/>
            <a:miter lim="800000"/>
            <a:tailEnd type="triangle"/>
          </a:ln>
          <a:effectLst/>
        </p:spPr>
      </p:cxnSp>
      <p:cxnSp>
        <p:nvCxnSpPr>
          <p:cNvPr id="248" name="直接箭头连接符 247"/>
          <p:cNvCxnSpPr/>
          <p:nvPr/>
        </p:nvCxnSpPr>
        <p:spPr>
          <a:xfrm flipH="1" flipV="1">
            <a:off x="5459221" y="3273358"/>
            <a:ext cx="1323216" cy="1062146"/>
          </a:xfrm>
          <a:prstGeom prst="straightConnector1">
            <a:avLst/>
          </a:prstGeom>
          <a:noFill/>
          <a:ln w="28575" cap="flat" cmpd="sng" algn="ctr">
            <a:solidFill>
              <a:srgbClr val="0000FF"/>
            </a:solidFill>
            <a:prstDash val="solid"/>
            <a:miter lim="800000"/>
            <a:tailEnd type="triangle"/>
          </a:ln>
          <a:effectLst/>
        </p:spPr>
      </p:cxnSp>
      <p:sp>
        <p:nvSpPr>
          <p:cNvPr id="270" name="椭圆 269"/>
          <p:cNvSpPr/>
          <p:nvPr/>
        </p:nvSpPr>
        <p:spPr>
          <a:xfrm>
            <a:off x="4136308" y="3002379"/>
            <a:ext cx="287523" cy="290018"/>
          </a:xfrm>
          <a:prstGeom prst="ellipse">
            <a:avLst/>
          </a:prstGeom>
          <a:noFill/>
          <a:ln w="28575" cap="flat" cmpd="sng" algn="ctr">
            <a:solidFill>
              <a:srgbClr val="FB81E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71" name="椭圆 270"/>
          <p:cNvSpPr/>
          <p:nvPr/>
        </p:nvSpPr>
        <p:spPr>
          <a:xfrm>
            <a:off x="5299533" y="3002379"/>
            <a:ext cx="287523" cy="290018"/>
          </a:xfrm>
          <a:prstGeom prst="ellipse">
            <a:avLst/>
          </a:prstGeom>
          <a:noFill/>
          <a:ln w="28575" cap="flat" cmpd="sng" algn="ctr">
            <a:solidFill>
              <a:srgbClr val="FB81E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72" name="椭圆 271"/>
          <p:cNvSpPr/>
          <p:nvPr/>
        </p:nvSpPr>
        <p:spPr>
          <a:xfrm>
            <a:off x="6597304" y="3028135"/>
            <a:ext cx="287523" cy="290018"/>
          </a:xfrm>
          <a:prstGeom prst="ellipse">
            <a:avLst/>
          </a:prstGeom>
          <a:noFill/>
          <a:ln w="28575" cap="flat" cmpd="sng" algn="ctr">
            <a:solidFill>
              <a:srgbClr val="FB81E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77" name="直接箭头连接符 276"/>
          <p:cNvCxnSpPr/>
          <p:nvPr/>
        </p:nvCxnSpPr>
        <p:spPr>
          <a:xfrm flipV="1">
            <a:off x="5451383" y="3287191"/>
            <a:ext cx="679" cy="1036391"/>
          </a:xfrm>
          <a:prstGeom prst="straightConnector1">
            <a:avLst/>
          </a:prstGeom>
          <a:noFill/>
          <a:ln w="28575" cap="flat" cmpd="sng" algn="ctr">
            <a:solidFill>
              <a:srgbClr val="FB81E1"/>
            </a:solidFill>
            <a:prstDash val="solid"/>
            <a:miter lim="800000"/>
            <a:tailEnd type="triangle"/>
          </a:ln>
          <a:effectLst/>
        </p:spPr>
      </p:cxnSp>
      <p:cxnSp>
        <p:nvCxnSpPr>
          <p:cNvPr id="278" name="直接箭头连接符 277"/>
          <p:cNvCxnSpPr/>
          <p:nvPr/>
        </p:nvCxnSpPr>
        <p:spPr>
          <a:xfrm flipH="1" flipV="1">
            <a:off x="4288837" y="3287191"/>
            <a:ext cx="1162546" cy="1036391"/>
          </a:xfrm>
          <a:prstGeom prst="straightConnector1">
            <a:avLst/>
          </a:prstGeom>
          <a:noFill/>
          <a:ln w="28575" cap="flat" cmpd="sng" algn="ctr">
            <a:solidFill>
              <a:srgbClr val="FB81E1"/>
            </a:solidFill>
            <a:prstDash val="solid"/>
            <a:miter lim="800000"/>
            <a:tailEnd type="triangle"/>
          </a:ln>
          <a:effectLst/>
        </p:spPr>
      </p:cxnSp>
      <p:cxnSp>
        <p:nvCxnSpPr>
          <p:cNvPr id="279" name="直接箭头连接符 278"/>
          <p:cNvCxnSpPr/>
          <p:nvPr/>
        </p:nvCxnSpPr>
        <p:spPr>
          <a:xfrm flipV="1">
            <a:off x="5451383" y="3312947"/>
            <a:ext cx="1298450" cy="1010635"/>
          </a:xfrm>
          <a:prstGeom prst="straightConnector1">
            <a:avLst/>
          </a:prstGeom>
          <a:noFill/>
          <a:ln w="28575" cap="flat" cmpd="sng" algn="ctr">
            <a:solidFill>
              <a:srgbClr val="FB81E1"/>
            </a:solidFill>
            <a:prstDash val="solid"/>
            <a:miter lim="800000"/>
            <a:tailEnd type="triangle"/>
          </a:ln>
          <a:effectLst/>
        </p:spPr>
      </p:cxnSp>
      <mc:AlternateContent xmlns:mc="http://schemas.openxmlformats.org/markup-compatibility/2006">
        <mc:Choice xmlns:a14="http://schemas.microsoft.com/office/drawing/2010/main" Requires="a14">
          <p:sp>
            <p:nvSpPr>
              <p:cNvPr id="285" name="矩形 284"/>
              <p:cNvSpPr/>
              <p:nvPr/>
            </p:nvSpPr>
            <p:spPr>
              <a:xfrm>
                <a:off x="7484255" y="2646632"/>
                <a:ext cx="3670174" cy="125855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sSubSup>
                      <m:sSubSup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m:rPr>
                            <m:sty m:val="p"/>
                          </m:rP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w</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𝑛𝑒𝑤</m:t>
                        </m:r>
                      </m:sup>
                    </m:sSub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Sup>
                      <m:sSubSup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𝑜𝑙𝑑</m:t>
                        </m:r>
                      </m:sup>
                    </m:sSub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oMath>
                </a14:m>
                <a:endParaRPr kumimoji="0" lang="zh-CN"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r>
                      <a:rPr kumimoji="0" lang="en-US" altLang="zh-CN" sz="2600" b="0" i="0"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zh-CN"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sty m:val="p"/>
                          </m:rP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w</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zh-CN"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η</m:t>
                    </m:r>
                    <m:f>
                      <m:f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𝐸</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m:t>
                            </m:r>
                          </m:sub>
                        </m:sSub>
                      </m:num>
                      <m:den>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den>
                    </m:f>
                  </m:oMath>
                </a14:m>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285" name="矩形 284"/>
              <p:cNvSpPr>
                <a:spLocks noRot="1" noChangeAspect="1" noMove="1" noResize="1" noEditPoints="1" noAdjustHandles="1" noChangeArrowheads="1" noChangeShapeType="1" noTextEdit="1"/>
              </p:cNvSpPr>
              <p:nvPr/>
            </p:nvSpPr>
            <p:spPr>
              <a:xfrm>
                <a:off x="7484255" y="2646632"/>
                <a:ext cx="3670174" cy="1258550"/>
              </a:xfrm>
              <a:prstGeom prst="rect">
                <a:avLst/>
              </a:prstGeom>
              <a:blipFill>
                <a:blip r:embed="rId8"/>
                <a:stretch>
                  <a:fillRect/>
                </a:stretch>
              </a:blipFill>
            </p:spPr>
            <p:txBody>
              <a:bodyPr/>
              <a:lstStyle/>
              <a:p>
                <a:r>
                  <a:rPr lang="zh-TW" altLang="en-US">
                    <a:noFill/>
                  </a:rPr>
                  <a:t> </a:t>
                </a:r>
              </a:p>
            </p:txBody>
          </p:sp>
        </mc:Fallback>
      </mc:AlternateContent>
      <p:cxnSp>
        <p:nvCxnSpPr>
          <p:cNvPr id="289" name="直接箭头连接符 288"/>
          <p:cNvCxnSpPr/>
          <p:nvPr/>
        </p:nvCxnSpPr>
        <p:spPr>
          <a:xfrm flipV="1">
            <a:off x="4285500" y="3275745"/>
            <a:ext cx="1163907" cy="1036391"/>
          </a:xfrm>
          <a:prstGeom prst="straightConnector1">
            <a:avLst/>
          </a:prstGeom>
          <a:noFill/>
          <a:ln w="28575" cap="flat" cmpd="sng" algn="ctr">
            <a:solidFill>
              <a:srgbClr val="FF0000"/>
            </a:solidFill>
            <a:prstDash val="solid"/>
            <a:miter lim="800000"/>
            <a:tailEnd type="triangle"/>
          </a:ln>
          <a:effectLst/>
        </p:spPr>
      </p:cxnSp>
      <p:cxnSp>
        <p:nvCxnSpPr>
          <p:cNvPr id="290" name="直接箭头连接符 289"/>
          <p:cNvCxnSpPr/>
          <p:nvPr/>
        </p:nvCxnSpPr>
        <p:spPr>
          <a:xfrm flipH="1" flipV="1">
            <a:off x="5449407" y="3275745"/>
            <a:ext cx="1323216" cy="1062146"/>
          </a:xfrm>
          <a:prstGeom prst="straightConnector1">
            <a:avLst/>
          </a:prstGeom>
          <a:noFill/>
          <a:ln w="28575" cap="flat" cmpd="sng" algn="ctr">
            <a:solidFill>
              <a:srgbClr val="FF0000"/>
            </a:solidFill>
            <a:prstDash val="solid"/>
            <a:miter lim="800000"/>
            <a:tailEnd type="triangle"/>
          </a:ln>
          <a:effectLst/>
        </p:spPr>
      </p:cxnSp>
      <p:cxnSp>
        <p:nvCxnSpPr>
          <p:cNvPr id="291" name="直接箭头连接符 290"/>
          <p:cNvCxnSpPr/>
          <p:nvPr/>
        </p:nvCxnSpPr>
        <p:spPr>
          <a:xfrm flipV="1">
            <a:off x="5441569" y="3289578"/>
            <a:ext cx="679" cy="1036391"/>
          </a:xfrm>
          <a:prstGeom prst="straightConnector1">
            <a:avLst/>
          </a:prstGeom>
          <a:noFill/>
          <a:ln w="28575" cap="flat" cmpd="sng" algn="ctr">
            <a:solidFill>
              <a:srgbClr val="FF0000"/>
            </a:solidFill>
            <a:prstDash val="solid"/>
            <a:miter lim="800000"/>
            <a:tailEnd type="triangle"/>
          </a:ln>
          <a:effectLst/>
        </p:spPr>
      </p:cxnSp>
      <p:sp>
        <p:nvSpPr>
          <p:cNvPr id="292" name="椭圆 291"/>
          <p:cNvSpPr/>
          <p:nvPr/>
        </p:nvSpPr>
        <p:spPr>
          <a:xfrm>
            <a:off x="5301829" y="2995162"/>
            <a:ext cx="287523" cy="290018"/>
          </a:xfrm>
          <a:prstGeom prst="ellipse">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307" name="曲线连接符 306"/>
          <p:cNvCxnSpPr/>
          <p:nvPr/>
        </p:nvCxnSpPr>
        <p:spPr>
          <a:xfrm rot="10800000" flipV="1">
            <a:off x="5556068" y="2960439"/>
            <a:ext cx="2108460" cy="674358"/>
          </a:xfrm>
          <a:prstGeom prst="curvedConnector3">
            <a:avLst>
              <a:gd name="adj1" fmla="val 33066"/>
            </a:avLst>
          </a:prstGeom>
          <a:noFill/>
          <a:ln w="28575" cap="flat" cmpd="sng" algn="ctr">
            <a:solidFill>
              <a:srgbClr val="FF0000"/>
            </a:solidFill>
            <a:prstDash val="solid"/>
            <a:miter lim="800000"/>
            <a:tailEnd type="triangle"/>
          </a:ln>
          <a:effectLst/>
        </p:spPr>
      </p:cxnSp>
      <p:sp>
        <p:nvSpPr>
          <p:cNvPr id="85" name="椭圆 84"/>
          <p:cNvSpPr/>
          <p:nvPr/>
        </p:nvSpPr>
        <p:spPr>
          <a:xfrm>
            <a:off x="5304691" y="2990704"/>
            <a:ext cx="287523" cy="290018"/>
          </a:xfrm>
          <a:prstGeom prst="ellipse">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111279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5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52"/>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64"/>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51"/>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85"/>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48"/>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65"/>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247"/>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46"/>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4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7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7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7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7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7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7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163"/>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51"/>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50"/>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53"/>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272"/>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271"/>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278"/>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270"/>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277"/>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279"/>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66"/>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2" nodeType="clickEffect">
                                  <p:stCondLst>
                                    <p:cond delay="0"/>
                                  </p:stCondLst>
                                  <p:childTnLst>
                                    <p:set>
                                      <p:cBhvr>
                                        <p:cTn id="106" dur="1" fill="hold">
                                          <p:stCondLst>
                                            <p:cond delay="0"/>
                                          </p:stCondLst>
                                        </p:cTn>
                                        <p:tgtEl>
                                          <p:spTgt spid="6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89"/>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9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90"/>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9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0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4" grpId="1"/>
      <p:bldP spid="65" grpId="0"/>
      <p:bldP spid="65" grpId="1"/>
      <p:bldP spid="65" grpId="2"/>
      <p:bldP spid="66" grpId="0"/>
      <p:bldP spid="66" grpId="1"/>
      <p:bldP spid="150" grpId="0"/>
      <p:bldP spid="150" grpId="1"/>
      <p:bldP spid="151" grpId="0"/>
      <p:bldP spid="151" grpId="1"/>
      <p:bldP spid="163" grpId="0"/>
      <p:bldP spid="163" grpId="1"/>
      <p:bldP spid="219" grpId="0" animBg="1"/>
      <p:bldP spid="219" grpId="1" animBg="1"/>
      <p:bldP spid="270" grpId="0" animBg="1"/>
      <p:bldP spid="270" grpId="1" animBg="1"/>
      <p:bldP spid="271" grpId="0" animBg="1"/>
      <p:bldP spid="271" grpId="1" animBg="1"/>
      <p:bldP spid="272" grpId="0" animBg="1"/>
      <p:bldP spid="272" grpId="1" animBg="1"/>
      <p:bldP spid="285" grpId="0"/>
      <p:bldP spid="292" grpId="0" animBg="1"/>
      <p:bldP spid="85" grpId="0" animBg="1"/>
      <p:bldP spid="85"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1324" y="152827"/>
            <a:ext cx="10363200" cy="1143000"/>
          </a:xfrm>
        </p:spPr>
        <p:txBody>
          <a:bodyPr/>
          <a:lstStyle/>
          <a:p>
            <a:r>
              <a:rPr lang="zh-CN" altLang="en-US" dirty="0"/>
              <a:t>梯度計算</a:t>
            </a:r>
            <a:r>
              <a:rPr lang="en-US" altLang="zh-CN" dirty="0"/>
              <a:t>——</a:t>
            </a:r>
            <a:r>
              <a:rPr lang="zh-CN" altLang="en-US" dirty="0"/>
              <a:t>輸出層</a:t>
            </a:r>
          </a:p>
        </p:txBody>
      </p:sp>
      <p:sp>
        <p:nvSpPr>
          <p:cNvPr id="3" name="内容占位符 2"/>
          <p:cNvSpPr>
            <a:spLocks noGrp="1"/>
          </p:cNvSpPr>
          <p:nvPr>
            <p:ph sz="quarter" idx="1"/>
          </p:nvPr>
        </p:nvSpPr>
        <p:spPr>
          <a:xfrm>
            <a:off x="1219200" y="1691640"/>
            <a:ext cx="10363200" cy="4572000"/>
          </a:xfrm>
        </p:spPr>
        <p:txBody>
          <a:bodyPr/>
          <a:lstStyle/>
          <a:p>
            <a:r>
              <a:rPr lang="zh-CN" altLang="en-US" dirty="0"/>
              <a:t>損失函數</a:t>
            </a:r>
          </a:p>
        </p:txBody>
      </p:sp>
      <mc:AlternateContent xmlns:mc="http://schemas.openxmlformats.org/markup-compatibility/2006">
        <mc:Choice xmlns:a14="http://schemas.microsoft.com/office/drawing/2010/main" Requires="a14">
          <p:sp>
            <p:nvSpPr>
              <p:cNvPr id="5" name="矩形 4"/>
              <p:cNvSpPr/>
              <p:nvPr/>
            </p:nvSpPr>
            <p:spPr>
              <a:xfrm>
                <a:off x="1371903" y="2398583"/>
                <a:ext cx="4376786" cy="11845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𝐸</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2</m:t>
                          </m:r>
                        </m:den>
                      </m:f>
                      <m:nary>
                        <m:naryPr>
                          <m:chr m:val="∑"/>
                          <m:limLoc m:val="undOv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𝑚</m:t>
                          </m:r>
                        </m:sup>
                        <m:e>
                          <m:sSup>
                            <m:sSup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𝑡</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oMath>
                  </m:oMathPara>
                </a14:m>
                <a:endPar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5" name="矩形 4"/>
              <p:cNvSpPr>
                <a:spLocks noRot="1" noChangeAspect="1" noMove="1" noResize="1" noEditPoints="1" noAdjustHandles="1" noChangeArrowheads="1" noChangeShapeType="1" noTextEdit="1"/>
              </p:cNvSpPr>
              <p:nvPr/>
            </p:nvSpPr>
            <p:spPr>
              <a:xfrm>
                <a:off x="1371903" y="2398583"/>
                <a:ext cx="4376786" cy="118455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846217" y="4109516"/>
                <a:ext cx="3422469" cy="12505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m:rPr>
                              <m:sty m:val="p"/>
                            </m:rP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w</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𝑛𝑒𝑤</m:t>
                          </m:r>
                        </m:sup>
                      </m:sSub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Sup>
                        <m:sSubSup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𝑜𝑙𝑑</m:t>
                          </m:r>
                        </m:sup>
                      </m:sSub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oMath>
                  </m:oMathPara>
                </a14:m>
                <a:endParaRPr kumimoji="0" lang="zh-CN"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zh-CN"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sty m:val="p"/>
                          </m:rP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w</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zh-CN"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η</m:t>
                    </m:r>
                    <m:f>
                      <m:f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𝐸</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sub>
                        </m:sSub>
                      </m:num>
                      <m:den>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den>
                    </m:f>
                  </m:oMath>
                </a14:m>
                <a:endPar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6" name="矩形 5"/>
              <p:cNvSpPr>
                <a:spLocks noRot="1" noChangeAspect="1" noMove="1" noResize="1" noEditPoints="1" noAdjustHandles="1" noChangeArrowheads="1" noChangeShapeType="1" noTextEdit="1"/>
              </p:cNvSpPr>
              <p:nvPr/>
            </p:nvSpPr>
            <p:spPr>
              <a:xfrm>
                <a:off x="1846217" y="4109516"/>
                <a:ext cx="3422469" cy="1250599"/>
              </a:xfrm>
              <a:prstGeom prst="rect">
                <a:avLst/>
              </a:prstGeom>
              <a:blipFill>
                <a:blip r:embed="rId4"/>
                <a:stretch>
                  <a:fillRect/>
                </a:stretch>
              </a:blipFill>
            </p:spPr>
            <p:txBody>
              <a:bodyPr/>
              <a:lstStyle/>
              <a:p>
                <a:r>
                  <a:rPr lang="zh-TW" altLang="en-US">
                    <a:noFill/>
                  </a:rPr>
                  <a:t> </a:t>
                </a:r>
              </a:p>
            </p:txBody>
          </p:sp>
        </mc:Fallback>
      </mc:AlternateContent>
      <p:cxnSp>
        <p:nvCxnSpPr>
          <p:cNvPr id="8" name="直接箭头连接符 7"/>
          <p:cNvCxnSpPr/>
          <p:nvPr/>
        </p:nvCxnSpPr>
        <p:spPr>
          <a:xfrm flipH="1" flipV="1">
            <a:off x="8342813" y="1243198"/>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9" name="直接箭头连接符 8"/>
          <p:cNvCxnSpPr/>
          <p:nvPr/>
        </p:nvCxnSpPr>
        <p:spPr>
          <a:xfrm flipH="1" flipV="1">
            <a:off x="10392414" y="1223883"/>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10" name="椭圆 9"/>
          <p:cNvSpPr/>
          <p:nvPr/>
        </p:nvSpPr>
        <p:spPr>
          <a:xfrm>
            <a:off x="10258834" y="1713237"/>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1" name="椭圆 10"/>
          <p:cNvSpPr/>
          <p:nvPr/>
        </p:nvSpPr>
        <p:spPr>
          <a:xfrm>
            <a:off x="8187803" y="1738993"/>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2" name="直接箭头连接符 11"/>
          <p:cNvCxnSpPr>
            <a:stCxn id="33" idx="0"/>
            <a:endCxn id="11" idx="4"/>
          </p:cNvCxnSpPr>
          <p:nvPr/>
        </p:nvCxnSpPr>
        <p:spPr>
          <a:xfrm flipV="1">
            <a:off x="8241383" y="2030004"/>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33" idx="0"/>
            <a:endCxn id="10" idx="4"/>
          </p:cNvCxnSpPr>
          <p:nvPr/>
        </p:nvCxnSpPr>
        <p:spPr>
          <a:xfrm flipV="1">
            <a:off x="8241383" y="2004248"/>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a:stCxn id="34" idx="0"/>
            <a:endCxn id="10" idx="4"/>
          </p:cNvCxnSpPr>
          <p:nvPr/>
        </p:nvCxnSpPr>
        <p:spPr>
          <a:xfrm flipV="1">
            <a:off x="9404608" y="2004248"/>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p:cNvCxnSpPr>
            <a:stCxn id="35" idx="0"/>
            <a:endCxn id="11" idx="4"/>
          </p:cNvCxnSpPr>
          <p:nvPr/>
        </p:nvCxnSpPr>
        <p:spPr>
          <a:xfrm flipH="1" flipV="1">
            <a:off x="8331565" y="2030004"/>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p:cNvCxnSpPr>
            <a:stCxn id="35" idx="0"/>
            <a:endCxn id="10" idx="4"/>
          </p:cNvCxnSpPr>
          <p:nvPr/>
        </p:nvCxnSpPr>
        <p:spPr>
          <a:xfrm flipH="1" flipV="1">
            <a:off x="10402596" y="2004248"/>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p:cNvCxnSpPr>
            <a:stCxn id="34" idx="0"/>
            <a:endCxn id="11" idx="4"/>
          </p:cNvCxnSpPr>
          <p:nvPr/>
        </p:nvCxnSpPr>
        <p:spPr>
          <a:xfrm flipH="1" flipV="1">
            <a:off x="8331565" y="2030004"/>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18" name="椭圆 17"/>
          <p:cNvSpPr/>
          <p:nvPr/>
        </p:nvSpPr>
        <p:spPr>
          <a:xfrm>
            <a:off x="8096939" y="440468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9260167" y="440468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0" name="椭圆 19"/>
          <p:cNvSpPr/>
          <p:nvPr/>
        </p:nvSpPr>
        <p:spPr>
          <a:xfrm>
            <a:off x="10584062" y="443044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1" name="椭圆 20"/>
          <p:cNvSpPr/>
          <p:nvPr/>
        </p:nvSpPr>
        <p:spPr>
          <a:xfrm>
            <a:off x="11137463" y="560875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2" name="椭圆 21"/>
          <p:cNvSpPr/>
          <p:nvPr/>
        </p:nvSpPr>
        <p:spPr>
          <a:xfrm>
            <a:off x="9260171" y="55894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3" name="椭圆 22"/>
          <p:cNvSpPr/>
          <p:nvPr/>
        </p:nvSpPr>
        <p:spPr>
          <a:xfrm>
            <a:off x="7721643" y="55894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4" name="直接箭头连接符 23"/>
          <p:cNvCxnSpPr>
            <a:stCxn id="23" idx="0"/>
            <a:endCxn id="18" idx="4"/>
          </p:cNvCxnSpPr>
          <p:nvPr/>
        </p:nvCxnSpPr>
        <p:spPr>
          <a:xfrm flipV="1">
            <a:off x="7865403" y="4694706"/>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23" idx="0"/>
            <a:endCxn id="19" idx="4"/>
          </p:cNvCxnSpPr>
          <p:nvPr/>
        </p:nvCxnSpPr>
        <p:spPr>
          <a:xfrm flipV="1">
            <a:off x="7865405" y="4694706"/>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22" idx="0"/>
            <a:endCxn id="18" idx="4"/>
          </p:cNvCxnSpPr>
          <p:nvPr/>
        </p:nvCxnSpPr>
        <p:spPr>
          <a:xfrm flipH="1" flipV="1">
            <a:off x="8240701" y="4694706"/>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23" idx="0"/>
            <a:endCxn id="20" idx="4"/>
          </p:cNvCxnSpPr>
          <p:nvPr/>
        </p:nvCxnSpPr>
        <p:spPr>
          <a:xfrm flipV="1">
            <a:off x="7865403" y="4720459"/>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22" idx="0"/>
            <a:endCxn id="19" idx="4"/>
          </p:cNvCxnSpPr>
          <p:nvPr/>
        </p:nvCxnSpPr>
        <p:spPr>
          <a:xfrm flipH="1" flipV="1">
            <a:off x="9403929" y="4694706"/>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stCxn id="22" idx="0"/>
            <a:endCxn id="20" idx="4"/>
          </p:cNvCxnSpPr>
          <p:nvPr/>
        </p:nvCxnSpPr>
        <p:spPr>
          <a:xfrm flipV="1">
            <a:off x="9403933" y="4720461"/>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p:cNvCxnSpPr>
            <a:stCxn id="21" idx="0"/>
            <a:endCxn id="20" idx="4"/>
          </p:cNvCxnSpPr>
          <p:nvPr/>
        </p:nvCxnSpPr>
        <p:spPr>
          <a:xfrm flipH="1" flipV="1">
            <a:off x="10727824" y="4720459"/>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p:cNvCxnSpPr>
            <a:stCxn id="21" idx="0"/>
            <a:endCxn id="19" idx="4"/>
          </p:cNvCxnSpPr>
          <p:nvPr/>
        </p:nvCxnSpPr>
        <p:spPr>
          <a:xfrm flipH="1" flipV="1">
            <a:off x="9403929" y="4694706"/>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p:cNvCxnSpPr>
            <a:stCxn id="21" idx="0"/>
            <a:endCxn id="18" idx="4"/>
          </p:cNvCxnSpPr>
          <p:nvPr/>
        </p:nvCxnSpPr>
        <p:spPr>
          <a:xfrm flipH="1" flipV="1">
            <a:off x="8240701" y="4694706"/>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33" name="椭圆 32"/>
          <p:cNvSpPr/>
          <p:nvPr/>
        </p:nvSpPr>
        <p:spPr>
          <a:xfrm>
            <a:off x="8097621" y="307827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4" name="椭圆 33"/>
          <p:cNvSpPr/>
          <p:nvPr/>
        </p:nvSpPr>
        <p:spPr>
          <a:xfrm>
            <a:off x="9260846" y="307827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5" name="椭圆 34"/>
          <p:cNvSpPr/>
          <p:nvPr/>
        </p:nvSpPr>
        <p:spPr>
          <a:xfrm>
            <a:off x="10558617" y="3104035"/>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6" name="文本框 112"/>
          <p:cNvSpPr txBox="1"/>
          <p:nvPr/>
        </p:nvSpPr>
        <p:spPr>
          <a:xfrm>
            <a:off x="9830208" y="304585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37" name="直接箭头连接符 36"/>
          <p:cNvCxnSpPr>
            <a:stCxn id="18" idx="0"/>
            <a:endCxn id="33" idx="4"/>
          </p:cNvCxnSpPr>
          <p:nvPr/>
        </p:nvCxnSpPr>
        <p:spPr>
          <a:xfrm flipV="1">
            <a:off x="8240701" y="3368297"/>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19" idx="0"/>
            <a:endCxn id="34" idx="4"/>
          </p:cNvCxnSpPr>
          <p:nvPr/>
        </p:nvCxnSpPr>
        <p:spPr>
          <a:xfrm flipV="1">
            <a:off x="9403929" y="3368297"/>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9" name="直接箭头连接符 38"/>
          <p:cNvCxnSpPr>
            <a:stCxn id="20" idx="0"/>
            <a:endCxn id="35" idx="4"/>
          </p:cNvCxnSpPr>
          <p:nvPr/>
        </p:nvCxnSpPr>
        <p:spPr>
          <a:xfrm flipH="1" flipV="1">
            <a:off x="10702380" y="3394053"/>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p:cNvCxnSpPr>
            <a:stCxn id="18" idx="0"/>
            <a:endCxn id="34" idx="4"/>
          </p:cNvCxnSpPr>
          <p:nvPr/>
        </p:nvCxnSpPr>
        <p:spPr>
          <a:xfrm flipV="1">
            <a:off x="8240701" y="3368297"/>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p:cNvCxnSpPr>
            <a:stCxn id="18" idx="0"/>
            <a:endCxn id="35" idx="4"/>
          </p:cNvCxnSpPr>
          <p:nvPr/>
        </p:nvCxnSpPr>
        <p:spPr>
          <a:xfrm flipV="1">
            <a:off x="8240701" y="3394053"/>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p:cNvCxnSpPr>
            <a:stCxn id="19" idx="0"/>
            <a:endCxn id="33" idx="4"/>
          </p:cNvCxnSpPr>
          <p:nvPr/>
        </p:nvCxnSpPr>
        <p:spPr>
          <a:xfrm flipH="1" flipV="1">
            <a:off x="8241383" y="3368297"/>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p:cNvCxnSpPr>
            <a:stCxn id="19" idx="0"/>
            <a:endCxn id="35" idx="4"/>
          </p:cNvCxnSpPr>
          <p:nvPr/>
        </p:nvCxnSpPr>
        <p:spPr>
          <a:xfrm flipV="1">
            <a:off x="9403929" y="3394053"/>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p:cNvCxnSpPr>
            <a:stCxn id="20" idx="0"/>
            <a:endCxn id="34" idx="4"/>
          </p:cNvCxnSpPr>
          <p:nvPr/>
        </p:nvCxnSpPr>
        <p:spPr>
          <a:xfrm flipH="1" flipV="1">
            <a:off x="9404608" y="3368297"/>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p:cNvCxnSpPr>
            <a:stCxn id="20" idx="0"/>
            <a:endCxn id="33" idx="4"/>
          </p:cNvCxnSpPr>
          <p:nvPr/>
        </p:nvCxnSpPr>
        <p:spPr>
          <a:xfrm flipH="1" flipV="1">
            <a:off x="8241383" y="3368297"/>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46" name="文本框 112"/>
          <p:cNvSpPr txBox="1"/>
          <p:nvPr/>
        </p:nvSpPr>
        <p:spPr>
          <a:xfrm>
            <a:off x="8669087" y="1695834"/>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47" name="直接箭头连接符 46"/>
          <p:cNvCxnSpPr/>
          <p:nvPr/>
        </p:nvCxnSpPr>
        <p:spPr>
          <a:xfrm flipH="1" flipV="1">
            <a:off x="9441026" y="1208376"/>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48" name="椭圆 47"/>
          <p:cNvSpPr/>
          <p:nvPr/>
        </p:nvSpPr>
        <p:spPr>
          <a:xfrm>
            <a:off x="9294725" y="1704171"/>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49" name="直接箭头连接符 48"/>
          <p:cNvCxnSpPr>
            <a:stCxn id="33" idx="0"/>
            <a:endCxn id="48" idx="4"/>
          </p:cNvCxnSpPr>
          <p:nvPr/>
        </p:nvCxnSpPr>
        <p:spPr>
          <a:xfrm flipV="1">
            <a:off x="8241383" y="1995182"/>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50" name="直接箭头连接符 49"/>
          <p:cNvCxnSpPr>
            <a:stCxn id="35" idx="0"/>
            <a:endCxn id="48" idx="4"/>
          </p:cNvCxnSpPr>
          <p:nvPr/>
        </p:nvCxnSpPr>
        <p:spPr>
          <a:xfrm flipH="1" flipV="1">
            <a:off x="9438487" y="1995182"/>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51" name="直接箭头连接符 50"/>
          <p:cNvCxnSpPr>
            <a:stCxn id="34" idx="0"/>
            <a:endCxn id="48" idx="4"/>
          </p:cNvCxnSpPr>
          <p:nvPr/>
        </p:nvCxnSpPr>
        <p:spPr>
          <a:xfrm flipV="1">
            <a:off x="9404608" y="1995182"/>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52" name="文本框 112"/>
          <p:cNvSpPr txBox="1"/>
          <p:nvPr/>
        </p:nvSpPr>
        <p:spPr>
          <a:xfrm>
            <a:off x="9733915" y="1680264"/>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3" name="文本框 112"/>
          <p:cNvSpPr txBox="1"/>
          <p:nvPr/>
        </p:nvSpPr>
        <p:spPr>
          <a:xfrm>
            <a:off x="8635838" y="304639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4" name="文本框 112"/>
          <p:cNvSpPr txBox="1"/>
          <p:nvPr/>
        </p:nvSpPr>
        <p:spPr>
          <a:xfrm>
            <a:off x="9673616" y="433485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5" name="文本框 112"/>
          <p:cNvSpPr txBox="1"/>
          <p:nvPr/>
        </p:nvSpPr>
        <p:spPr>
          <a:xfrm>
            <a:off x="8479246" y="4335396"/>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6" name="文本框 35"/>
              <p:cNvSpPr txBox="1"/>
              <p:nvPr/>
            </p:nvSpPr>
            <p:spPr>
              <a:xfrm>
                <a:off x="9166159" y="1633048"/>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𝑗</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56" name="文本框 35"/>
              <p:cNvSpPr txBox="1">
                <a:spLocks noRot="1" noChangeAspect="1" noMove="1" noResize="1" noEditPoints="1" noAdjustHandles="1" noChangeArrowheads="1" noChangeShapeType="1" noTextEdit="1"/>
              </p:cNvSpPr>
              <p:nvPr/>
            </p:nvSpPr>
            <p:spPr>
              <a:xfrm>
                <a:off x="9166159" y="1633048"/>
                <a:ext cx="578535" cy="477132"/>
              </a:xfrm>
              <a:prstGeom prst="rect">
                <a:avLst/>
              </a:prstGeom>
              <a:blipFill>
                <a:blip r:embed="rId5"/>
                <a:stretch>
                  <a:fillRect/>
                </a:stretch>
              </a:blipFill>
              <a:ln w="6350">
                <a:noFill/>
              </a:ln>
            </p:spPr>
            <p:txBody>
              <a:bodyPr/>
              <a:lstStyle/>
              <a:p>
                <a:r>
                  <a:rPr lang="zh-TW" altLang="en-US">
                    <a:noFill/>
                  </a:rPr>
                  <a:t> </a:t>
                </a:r>
              </a:p>
            </p:txBody>
          </p:sp>
        </mc:Fallback>
      </mc:AlternateContent>
      <p:sp>
        <p:nvSpPr>
          <p:cNvPr id="88" name="椭圆 87"/>
          <p:cNvSpPr/>
          <p:nvPr/>
        </p:nvSpPr>
        <p:spPr>
          <a:xfrm>
            <a:off x="9294400" y="1700995"/>
            <a:ext cx="287523" cy="290018"/>
          </a:xfrm>
          <a:prstGeom prst="ellipse">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167796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8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1324" y="152827"/>
            <a:ext cx="10363200" cy="1143000"/>
          </a:xfrm>
        </p:spPr>
        <p:txBody>
          <a:bodyPr/>
          <a:lstStyle/>
          <a:p>
            <a:r>
              <a:rPr lang="zh-CN" altLang="en-US" dirty="0"/>
              <a:t>梯度計算</a:t>
            </a:r>
            <a:r>
              <a:rPr lang="en-US" altLang="zh-CN" dirty="0"/>
              <a:t>——</a:t>
            </a:r>
            <a:r>
              <a:rPr lang="zh-CN" altLang="en-US" dirty="0"/>
              <a:t>輸出層</a:t>
            </a:r>
          </a:p>
        </p:txBody>
      </p:sp>
      <p:cxnSp>
        <p:nvCxnSpPr>
          <p:cNvPr id="8" name="直接箭头连接符 7"/>
          <p:cNvCxnSpPr/>
          <p:nvPr/>
        </p:nvCxnSpPr>
        <p:spPr>
          <a:xfrm flipH="1" flipV="1">
            <a:off x="8342813" y="1243198"/>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9" name="直接箭头连接符 8"/>
          <p:cNvCxnSpPr/>
          <p:nvPr/>
        </p:nvCxnSpPr>
        <p:spPr>
          <a:xfrm flipH="1" flipV="1">
            <a:off x="10392414" y="1223883"/>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10" name="椭圆 9"/>
          <p:cNvSpPr/>
          <p:nvPr/>
        </p:nvSpPr>
        <p:spPr>
          <a:xfrm>
            <a:off x="10258834" y="1713237"/>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1" name="椭圆 10"/>
          <p:cNvSpPr/>
          <p:nvPr/>
        </p:nvSpPr>
        <p:spPr>
          <a:xfrm>
            <a:off x="8187803" y="1738993"/>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2" name="直接箭头连接符 11"/>
          <p:cNvCxnSpPr>
            <a:stCxn id="33" idx="0"/>
            <a:endCxn id="11" idx="4"/>
          </p:cNvCxnSpPr>
          <p:nvPr/>
        </p:nvCxnSpPr>
        <p:spPr>
          <a:xfrm flipV="1">
            <a:off x="8241383" y="2030004"/>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33" idx="0"/>
            <a:endCxn id="10" idx="4"/>
          </p:cNvCxnSpPr>
          <p:nvPr/>
        </p:nvCxnSpPr>
        <p:spPr>
          <a:xfrm flipV="1">
            <a:off x="8241383" y="2004248"/>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a:stCxn id="34" idx="0"/>
            <a:endCxn id="10" idx="4"/>
          </p:cNvCxnSpPr>
          <p:nvPr/>
        </p:nvCxnSpPr>
        <p:spPr>
          <a:xfrm flipV="1">
            <a:off x="9404608" y="2004248"/>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p:cNvCxnSpPr>
            <a:stCxn id="35" idx="0"/>
            <a:endCxn id="11" idx="4"/>
          </p:cNvCxnSpPr>
          <p:nvPr/>
        </p:nvCxnSpPr>
        <p:spPr>
          <a:xfrm flipH="1" flipV="1">
            <a:off x="8331565" y="2030004"/>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p:cNvCxnSpPr>
            <a:stCxn id="35" idx="0"/>
            <a:endCxn id="10" idx="4"/>
          </p:cNvCxnSpPr>
          <p:nvPr/>
        </p:nvCxnSpPr>
        <p:spPr>
          <a:xfrm flipH="1" flipV="1">
            <a:off x="10402596" y="2004248"/>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p:cNvCxnSpPr>
            <a:stCxn id="34" idx="0"/>
            <a:endCxn id="11" idx="4"/>
          </p:cNvCxnSpPr>
          <p:nvPr/>
        </p:nvCxnSpPr>
        <p:spPr>
          <a:xfrm flipH="1" flipV="1">
            <a:off x="8331565" y="2030004"/>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18" name="椭圆 17"/>
          <p:cNvSpPr/>
          <p:nvPr/>
        </p:nvSpPr>
        <p:spPr>
          <a:xfrm>
            <a:off x="8096939" y="440468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9260167" y="440468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0" name="椭圆 19"/>
          <p:cNvSpPr/>
          <p:nvPr/>
        </p:nvSpPr>
        <p:spPr>
          <a:xfrm>
            <a:off x="10584062" y="443044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1" name="椭圆 20"/>
          <p:cNvSpPr/>
          <p:nvPr/>
        </p:nvSpPr>
        <p:spPr>
          <a:xfrm>
            <a:off x="11137463" y="560875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2" name="椭圆 21"/>
          <p:cNvSpPr/>
          <p:nvPr/>
        </p:nvSpPr>
        <p:spPr>
          <a:xfrm>
            <a:off x="9260171" y="55894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3" name="椭圆 22"/>
          <p:cNvSpPr/>
          <p:nvPr/>
        </p:nvSpPr>
        <p:spPr>
          <a:xfrm>
            <a:off x="7721643" y="55894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4" name="直接箭头连接符 23"/>
          <p:cNvCxnSpPr>
            <a:stCxn id="23" idx="0"/>
            <a:endCxn id="18" idx="4"/>
          </p:cNvCxnSpPr>
          <p:nvPr/>
        </p:nvCxnSpPr>
        <p:spPr>
          <a:xfrm flipV="1">
            <a:off x="7865403" y="4694706"/>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23" idx="0"/>
            <a:endCxn id="19" idx="4"/>
          </p:cNvCxnSpPr>
          <p:nvPr/>
        </p:nvCxnSpPr>
        <p:spPr>
          <a:xfrm flipV="1">
            <a:off x="7865405" y="4694706"/>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22" idx="0"/>
            <a:endCxn id="18" idx="4"/>
          </p:cNvCxnSpPr>
          <p:nvPr/>
        </p:nvCxnSpPr>
        <p:spPr>
          <a:xfrm flipH="1" flipV="1">
            <a:off x="8240701" y="4694706"/>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23" idx="0"/>
            <a:endCxn id="20" idx="4"/>
          </p:cNvCxnSpPr>
          <p:nvPr/>
        </p:nvCxnSpPr>
        <p:spPr>
          <a:xfrm flipV="1">
            <a:off x="7865403" y="4720459"/>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22" idx="0"/>
            <a:endCxn id="19" idx="4"/>
          </p:cNvCxnSpPr>
          <p:nvPr/>
        </p:nvCxnSpPr>
        <p:spPr>
          <a:xfrm flipH="1" flipV="1">
            <a:off x="9403929" y="4694706"/>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stCxn id="22" idx="0"/>
            <a:endCxn id="20" idx="4"/>
          </p:cNvCxnSpPr>
          <p:nvPr/>
        </p:nvCxnSpPr>
        <p:spPr>
          <a:xfrm flipV="1">
            <a:off x="9403933" y="4720461"/>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p:cNvCxnSpPr>
            <a:stCxn id="21" idx="0"/>
            <a:endCxn id="20" idx="4"/>
          </p:cNvCxnSpPr>
          <p:nvPr/>
        </p:nvCxnSpPr>
        <p:spPr>
          <a:xfrm flipH="1" flipV="1">
            <a:off x="10727824" y="4720459"/>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p:cNvCxnSpPr>
            <a:stCxn id="21" idx="0"/>
            <a:endCxn id="19" idx="4"/>
          </p:cNvCxnSpPr>
          <p:nvPr/>
        </p:nvCxnSpPr>
        <p:spPr>
          <a:xfrm flipH="1" flipV="1">
            <a:off x="9403929" y="4694706"/>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p:cNvCxnSpPr>
            <a:stCxn id="21" idx="0"/>
            <a:endCxn id="18" idx="4"/>
          </p:cNvCxnSpPr>
          <p:nvPr/>
        </p:nvCxnSpPr>
        <p:spPr>
          <a:xfrm flipH="1" flipV="1">
            <a:off x="8240701" y="4694706"/>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33" name="椭圆 32"/>
          <p:cNvSpPr/>
          <p:nvPr/>
        </p:nvSpPr>
        <p:spPr>
          <a:xfrm>
            <a:off x="8097621" y="307827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4" name="椭圆 33"/>
          <p:cNvSpPr/>
          <p:nvPr/>
        </p:nvSpPr>
        <p:spPr>
          <a:xfrm>
            <a:off x="9260846" y="307827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5" name="椭圆 34"/>
          <p:cNvSpPr/>
          <p:nvPr/>
        </p:nvSpPr>
        <p:spPr>
          <a:xfrm>
            <a:off x="10558617" y="3104035"/>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6" name="文本框 112"/>
          <p:cNvSpPr txBox="1"/>
          <p:nvPr/>
        </p:nvSpPr>
        <p:spPr>
          <a:xfrm>
            <a:off x="9830208" y="304585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37" name="直接箭头连接符 36"/>
          <p:cNvCxnSpPr>
            <a:stCxn id="18" idx="0"/>
            <a:endCxn id="33" idx="4"/>
          </p:cNvCxnSpPr>
          <p:nvPr/>
        </p:nvCxnSpPr>
        <p:spPr>
          <a:xfrm flipV="1">
            <a:off x="8240701" y="3368297"/>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19" idx="0"/>
            <a:endCxn id="34" idx="4"/>
          </p:cNvCxnSpPr>
          <p:nvPr/>
        </p:nvCxnSpPr>
        <p:spPr>
          <a:xfrm flipV="1">
            <a:off x="9403929" y="3368297"/>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9" name="直接箭头连接符 38"/>
          <p:cNvCxnSpPr>
            <a:stCxn id="20" idx="0"/>
            <a:endCxn id="35" idx="4"/>
          </p:cNvCxnSpPr>
          <p:nvPr/>
        </p:nvCxnSpPr>
        <p:spPr>
          <a:xfrm flipH="1" flipV="1">
            <a:off x="10702380" y="3394053"/>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p:cNvCxnSpPr>
            <a:stCxn id="18" idx="0"/>
            <a:endCxn id="34" idx="4"/>
          </p:cNvCxnSpPr>
          <p:nvPr/>
        </p:nvCxnSpPr>
        <p:spPr>
          <a:xfrm flipV="1">
            <a:off x="8240701" y="3368297"/>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p:cNvCxnSpPr>
            <a:stCxn id="18" idx="0"/>
            <a:endCxn id="35" idx="4"/>
          </p:cNvCxnSpPr>
          <p:nvPr/>
        </p:nvCxnSpPr>
        <p:spPr>
          <a:xfrm flipV="1">
            <a:off x="8240701" y="3394053"/>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p:cNvCxnSpPr>
            <a:stCxn id="19" idx="0"/>
            <a:endCxn id="33" idx="4"/>
          </p:cNvCxnSpPr>
          <p:nvPr/>
        </p:nvCxnSpPr>
        <p:spPr>
          <a:xfrm flipH="1" flipV="1">
            <a:off x="8241383" y="3368297"/>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p:cNvCxnSpPr>
            <a:stCxn id="19" idx="0"/>
            <a:endCxn id="35" idx="4"/>
          </p:cNvCxnSpPr>
          <p:nvPr/>
        </p:nvCxnSpPr>
        <p:spPr>
          <a:xfrm flipV="1">
            <a:off x="9403929" y="3394053"/>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p:cNvCxnSpPr>
            <a:stCxn id="20" idx="0"/>
            <a:endCxn id="34" idx="4"/>
          </p:cNvCxnSpPr>
          <p:nvPr/>
        </p:nvCxnSpPr>
        <p:spPr>
          <a:xfrm flipH="1" flipV="1">
            <a:off x="9404608" y="3368297"/>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p:cNvCxnSpPr>
            <a:stCxn id="20" idx="0"/>
            <a:endCxn id="33" idx="4"/>
          </p:cNvCxnSpPr>
          <p:nvPr/>
        </p:nvCxnSpPr>
        <p:spPr>
          <a:xfrm flipH="1" flipV="1">
            <a:off x="8241383" y="3368297"/>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46" name="文本框 112"/>
          <p:cNvSpPr txBox="1"/>
          <p:nvPr/>
        </p:nvSpPr>
        <p:spPr>
          <a:xfrm>
            <a:off x="8669087" y="1695834"/>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47" name="直接箭头连接符 46"/>
          <p:cNvCxnSpPr/>
          <p:nvPr/>
        </p:nvCxnSpPr>
        <p:spPr>
          <a:xfrm flipH="1" flipV="1">
            <a:off x="9441026" y="1208376"/>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48" name="椭圆 47"/>
          <p:cNvSpPr/>
          <p:nvPr/>
        </p:nvSpPr>
        <p:spPr>
          <a:xfrm>
            <a:off x="9294725" y="1704171"/>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49" name="直接箭头连接符 48"/>
          <p:cNvCxnSpPr>
            <a:stCxn id="33" idx="0"/>
            <a:endCxn id="48" idx="4"/>
          </p:cNvCxnSpPr>
          <p:nvPr/>
        </p:nvCxnSpPr>
        <p:spPr>
          <a:xfrm flipV="1">
            <a:off x="8241383" y="1995182"/>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50" name="直接箭头连接符 49"/>
          <p:cNvCxnSpPr>
            <a:stCxn id="35" idx="0"/>
            <a:endCxn id="48" idx="4"/>
          </p:cNvCxnSpPr>
          <p:nvPr/>
        </p:nvCxnSpPr>
        <p:spPr>
          <a:xfrm flipH="1" flipV="1">
            <a:off x="9438487" y="1995182"/>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51" name="直接箭头连接符 50"/>
          <p:cNvCxnSpPr>
            <a:stCxn id="34" idx="0"/>
            <a:endCxn id="48" idx="4"/>
          </p:cNvCxnSpPr>
          <p:nvPr/>
        </p:nvCxnSpPr>
        <p:spPr>
          <a:xfrm flipV="1">
            <a:off x="9404608" y="1995182"/>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52" name="文本框 112"/>
          <p:cNvSpPr txBox="1"/>
          <p:nvPr/>
        </p:nvSpPr>
        <p:spPr>
          <a:xfrm>
            <a:off x="9733915" y="1680264"/>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3" name="文本框 112"/>
          <p:cNvSpPr txBox="1"/>
          <p:nvPr/>
        </p:nvSpPr>
        <p:spPr>
          <a:xfrm>
            <a:off x="8635838" y="304639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4" name="文本框 112"/>
          <p:cNvSpPr txBox="1"/>
          <p:nvPr/>
        </p:nvSpPr>
        <p:spPr>
          <a:xfrm>
            <a:off x="9673616" y="433485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5" name="文本框 112"/>
          <p:cNvSpPr txBox="1"/>
          <p:nvPr/>
        </p:nvSpPr>
        <p:spPr>
          <a:xfrm>
            <a:off x="8479246" y="4335396"/>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6" name="文本框 35"/>
              <p:cNvSpPr txBox="1"/>
              <p:nvPr/>
            </p:nvSpPr>
            <p:spPr>
              <a:xfrm>
                <a:off x="9166159" y="1633048"/>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𝑗</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56" name="文本框 35"/>
              <p:cNvSpPr txBox="1">
                <a:spLocks noRot="1" noChangeAspect="1" noMove="1" noResize="1" noEditPoints="1" noAdjustHandles="1" noChangeArrowheads="1" noChangeShapeType="1" noTextEdit="1"/>
              </p:cNvSpPr>
              <p:nvPr/>
            </p:nvSpPr>
            <p:spPr>
              <a:xfrm>
                <a:off x="9166159" y="1633048"/>
                <a:ext cx="578535" cy="477132"/>
              </a:xfrm>
              <a:prstGeom prst="rect">
                <a:avLst/>
              </a:prstGeom>
              <a:blipFill>
                <a:blip r:embed="rId3"/>
                <a:stretch>
                  <a:fillRect/>
                </a:stretch>
              </a:blipFill>
              <a:ln w="6350">
                <a:noFill/>
              </a:ln>
            </p:spPr>
            <p:txBody>
              <a:bodyPr/>
              <a:lstStyle/>
              <a:p>
                <a:r>
                  <a:rPr lang="zh-TW" altLang="en-US">
                    <a:noFill/>
                  </a:rPr>
                  <a:t> </a:t>
                </a:r>
              </a:p>
            </p:txBody>
          </p:sp>
        </mc:Fallback>
      </mc:AlternateContent>
      <p:cxnSp>
        <p:nvCxnSpPr>
          <p:cNvPr id="80" name="曲线连接符 79"/>
          <p:cNvCxnSpPr>
            <a:stCxn id="56" idx="1"/>
            <a:endCxn id="84" idx="3"/>
          </p:cNvCxnSpPr>
          <p:nvPr/>
        </p:nvCxnSpPr>
        <p:spPr>
          <a:xfrm rot="10800000" flipV="1">
            <a:off x="7207595" y="1871613"/>
            <a:ext cx="1958564" cy="1794807"/>
          </a:xfrm>
          <a:prstGeom prst="curvedConnector3">
            <a:avLst>
              <a:gd name="adj1" fmla="val 53112"/>
            </a:avLst>
          </a:prstGeom>
          <a:noFill/>
          <a:ln w="28575" cap="flat" cmpd="sng" algn="ctr">
            <a:solidFill>
              <a:srgbClr val="FF0000"/>
            </a:solidFill>
            <a:prstDash val="solid"/>
            <a:miter lim="800000"/>
            <a:tailEnd type="triangle"/>
          </a:ln>
          <a:effectLst/>
        </p:spPr>
      </p:cxnSp>
      <mc:AlternateContent xmlns:mc="http://schemas.openxmlformats.org/markup-compatibility/2006">
        <mc:Choice xmlns:a14="http://schemas.microsoft.com/office/drawing/2010/main" Requires="a14">
          <p:sp>
            <p:nvSpPr>
              <p:cNvPr id="85" name="矩形 84"/>
              <p:cNvSpPr/>
              <p:nvPr/>
            </p:nvSpPr>
            <p:spPr>
              <a:xfrm>
                <a:off x="-2572" y="2927175"/>
                <a:ext cx="3422469" cy="98167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sty m:val="p"/>
                            </m:rP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w</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zh-CN" altLang="zh-CN" sz="2600" b="0" i="0" u="none" strike="noStrike" kern="1200" cap="none" spc="0" normalizeH="0" baseline="0" noProof="0">
                          <a:ln>
                            <a:noFill/>
                          </a:ln>
                          <a:solidFill>
                            <a:prstClr val="black"/>
                          </a:solidFill>
                          <a:effectLst/>
                          <a:uLnTx/>
                          <a:uFillTx/>
                          <a:latin typeface="Cambria Math" panose="02040503050406030204" pitchFamily="18" charset="0"/>
                          <a:cs typeface="+mn-cs"/>
                        </a:rPr>
                        <m:t>η</m:t>
                      </m:r>
                      <m:f>
                        <m:f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𝐸</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sub>
                          </m:sSub>
                        </m:num>
                        <m:den>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den>
                      </m:f>
                    </m:oMath>
                  </m:oMathPara>
                </a14:m>
                <a:endPar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85" name="矩形 84"/>
              <p:cNvSpPr>
                <a:spLocks noRot="1" noChangeAspect="1" noMove="1" noResize="1" noEditPoints="1" noAdjustHandles="1" noChangeArrowheads="1" noChangeShapeType="1" noTextEdit="1"/>
              </p:cNvSpPr>
              <p:nvPr/>
            </p:nvSpPr>
            <p:spPr>
              <a:xfrm>
                <a:off x="-2572" y="2927175"/>
                <a:ext cx="3422469" cy="981679"/>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9" name="矩形 88"/>
              <p:cNvSpPr/>
              <p:nvPr/>
            </p:nvSpPr>
            <p:spPr>
              <a:xfrm>
                <a:off x="-43610" y="1624443"/>
                <a:ext cx="4376786" cy="11845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𝐸</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𝑑</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2</m:t>
                          </m:r>
                        </m:den>
                      </m:f>
                      <m:nary>
                        <m:naryPr>
                          <m:chr m:val="∑"/>
                          <m:limLoc m:val="undOv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𝑚</m:t>
                          </m:r>
                        </m:sup>
                        <m:e>
                          <m:sSup>
                            <m:sSup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𝑡</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oMath>
                  </m:oMathPara>
                </a14:m>
                <a:endPar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89" name="矩形 88"/>
              <p:cNvSpPr>
                <a:spLocks noRot="1" noChangeAspect="1" noMove="1" noResize="1" noEditPoints="1" noAdjustHandles="1" noChangeArrowheads="1" noChangeShapeType="1" noTextEdit="1"/>
              </p:cNvSpPr>
              <p:nvPr/>
            </p:nvSpPr>
            <p:spPr>
              <a:xfrm>
                <a:off x="-43610" y="1624443"/>
                <a:ext cx="4376786" cy="1184555"/>
              </a:xfrm>
              <a:prstGeom prst="rect">
                <a:avLst/>
              </a:prstGeom>
              <a:blipFill>
                <a:blip r:embed="rId5"/>
                <a:stretch>
                  <a:fillRect/>
                </a:stretch>
              </a:blipFill>
            </p:spPr>
            <p:txBody>
              <a:bodyPr/>
              <a:lstStyle/>
              <a:p>
                <a:r>
                  <a:rPr lang="zh-TW" altLang="en-US">
                    <a:noFill/>
                  </a:rPr>
                  <a:t> </a:t>
                </a:r>
              </a:p>
            </p:txBody>
          </p:sp>
        </mc:Fallback>
      </mc:AlternateContent>
      <p:sp>
        <p:nvSpPr>
          <p:cNvPr id="88" name="椭圆 87"/>
          <p:cNvSpPr/>
          <p:nvPr/>
        </p:nvSpPr>
        <p:spPr>
          <a:xfrm>
            <a:off x="9294400" y="1700995"/>
            <a:ext cx="287523" cy="290018"/>
          </a:xfrm>
          <a:prstGeom prst="ellipse">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grpSp>
        <p:nvGrpSpPr>
          <p:cNvPr id="6" name="Group 5">
            <a:extLst>
              <a:ext uri="{FF2B5EF4-FFF2-40B4-BE49-F238E27FC236}">
                <a16:creationId xmlns:a16="http://schemas.microsoft.com/office/drawing/2014/main" id="{9E614AC8-524E-A859-2719-DACDEFDB3D25}"/>
              </a:ext>
            </a:extLst>
          </p:cNvPr>
          <p:cNvGrpSpPr/>
          <p:nvPr/>
        </p:nvGrpSpPr>
        <p:grpSpPr>
          <a:xfrm>
            <a:off x="4007779" y="1069201"/>
            <a:ext cx="3199816" cy="5194439"/>
            <a:chOff x="4007779" y="1069201"/>
            <a:chExt cx="3199816" cy="5194439"/>
          </a:xfrm>
        </p:grpSpPr>
        <p:pic>
          <p:nvPicPr>
            <p:cNvPr id="84" name="图片 83"/>
            <p:cNvPicPr>
              <a:picLocks noChangeAspect="1"/>
            </p:cNvPicPr>
            <p:nvPr/>
          </p:nvPicPr>
          <p:blipFill>
            <a:blip r:embed="rId6"/>
            <a:stretch>
              <a:fillRect/>
            </a:stretch>
          </p:blipFill>
          <p:spPr>
            <a:xfrm>
              <a:off x="4007779" y="1069201"/>
              <a:ext cx="3199816" cy="5194439"/>
            </a:xfrm>
            <a:prstGeom prst="rect">
              <a:avLst/>
            </a:prstGeom>
          </p:spPr>
        </p:pic>
        <p:sp>
          <p:nvSpPr>
            <p:cNvPr id="4" name="Rectangle 3">
              <a:extLst>
                <a:ext uri="{FF2B5EF4-FFF2-40B4-BE49-F238E27FC236}">
                  <a16:creationId xmlns:a16="http://schemas.microsoft.com/office/drawing/2014/main" id="{A0A9DFD9-5452-B18B-13C6-505A5D070C28}"/>
                </a:ext>
              </a:extLst>
            </p:cNvPr>
            <p:cNvSpPr/>
            <p:nvPr/>
          </p:nvSpPr>
          <p:spPr>
            <a:xfrm>
              <a:off x="6299850" y="5715825"/>
              <a:ext cx="483325" cy="36590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93E1C27-0F11-39AF-9D63-5092F492B2D0}"/>
                    </a:ext>
                  </a:extLst>
                </p:cNvPr>
                <p:cNvSpPr txBox="1"/>
                <p:nvPr/>
              </p:nvSpPr>
              <p:spPr>
                <a:xfrm>
                  <a:off x="6149812" y="5654400"/>
                  <a:ext cx="615993" cy="36183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1" i="1" dirty="0" smtClean="0">
                                <a:latin typeface="Cambria Math" panose="02040503050406030204" pitchFamily="18" charset="0"/>
                              </a:rPr>
                            </m:ctrlPr>
                          </m:sSubPr>
                          <m:e>
                            <m:r>
                              <a:rPr lang="en-US" sz="1600" b="1" i="1" dirty="0" smtClean="0">
                                <a:latin typeface="Cambria Math" panose="02040503050406030204" pitchFamily="18" charset="0"/>
                              </a:rPr>
                              <m:t>𝑿</m:t>
                            </m:r>
                          </m:e>
                          <m:sub>
                            <m:r>
                              <a:rPr lang="en-US" sz="1600" b="1" i="1" dirty="0" smtClean="0">
                                <a:latin typeface="Cambria Math" panose="02040503050406030204" pitchFamily="18" charset="0"/>
                              </a:rPr>
                              <m:t>𝒋𝒍</m:t>
                            </m:r>
                          </m:sub>
                        </m:sSub>
                      </m:oMath>
                    </m:oMathPara>
                  </a14:m>
                  <a:endParaRPr lang="en-US" sz="1600" b="1" dirty="0"/>
                </a:p>
              </p:txBody>
            </p:sp>
          </mc:Choice>
          <mc:Fallback>
            <p:sp>
              <p:nvSpPr>
                <p:cNvPr id="3" name="TextBox 2">
                  <a:extLst>
                    <a:ext uri="{FF2B5EF4-FFF2-40B4-BE49-F238E27FC236}">
                      <a16:creationId xmlns:a16="http://schemas.microsoft.com/office/drawing/2014/main" id="{D93E1C27-0F11-39AF-9D63-5092F492B2D0}"/>
                    </a:ext>
                  </a:extLst>
                </p:cNvPr>
                <p:cNvSpPr txBox="1">
                  <a:spLocks noRot="1" noChangeAspect="1" noMove="1" noResize="1" noEditPoints="1" noAdjustHandles="1" noChangeArrowheads="1" noChangeShapeType="1" noTextEdit="1"/>
                </p:cNvSpPr>
                <p:nvPr/>
              </p:nvSpPr>
              <p:spPr>
                <a:xfrm>
                  <a:off x="6149812" y="5654400"/>
                  <a:ext cx="615993" cy="361830"/>
                </a:xfrm>
                <a:prstGeom prst="rect">
                  <a:avLst/>
                </a:prstGeom>
                <a:blipFill>
                  <a:blip r:embed="rId7"/>
                  <a:stretch>
                    <a:fillRect b="-678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9111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8655186" y="1532709"/>
            <a:ext cx="2688980" cy="4365171"/>
          </a:xfrm>
          <a:prstGeom prst="rect">
            <a:avLst/>
          </a:prstGeom>
        </p:spPr>
      </p:pic>
      <mc:AlternateContent xmlns:mc="http://schemas.openxmlformats.org/markup-compatibility/2006">
        <mc:Choice xmlns:a14="http://schemas.microsoft.com/office/drawing/2010/main" Requires="a14">
          <p:sp>
            <p:nvSpPr>
              <p:cNvPr id="5" name="矩形 4"/>
              <p:cNvSpPr/>
              <p:nvPr/>
            </p:nvSpPr>
            <p:spPr>
              <a:xfrm>
                <a:off x="8463230" y="764725"/>
                <a:ext cx="3072892" cy="93262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num>
                        <m:den>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den>
                      </m:f>
                      <m:nary>
                        <m:naryPr>
                          <m:chr m:val="∑"/>
                          <m:limLoc m:val="undOv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𝑘</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sub>
                        <m:sup>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𝑚</m:t>
                          </m:r>
                        </m:sup>
                        <m:e>
                          <m:sSup>
                            <m:sSup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sup>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sup>
                          </m:sSup>
                        </m:e>
                      </m:nary>
                    </m:oMath>
                  </m:oMathPara>
                </a14:m>
                <a:endParaRPr kumimoji="0" lang="zh-CN" altLang="en-US" sz="20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mc:Choice>
        <mc:Fallback>
          <p:sp>
            <p:nvSpPr>
              <p:cNvPr id="5" name="矩形 4"/>
              <p:cNvSpPr>
                <a:spLocks noRot="1" noChangeAspect="1" noMove="1" noResize="1" noEditPoints="1" noAdjustHandles="1" noChangeArrowheads="1" noChangeShapeType="1" noTextEdit="1"/>
              </p:cNvSpPr>
              <p:nvPr/>
            </p:nvSpPr>
            <p:spPr>
              <a:xfrm>
                <a:off x="8463230" y="764725"/>
                <a:ext cx="3072892" cy="93262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089794" y="433542"/>
                <a:ext cx="3079626" cy="9630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𝑗𝑖</m:t>
                            </m:r>
                          </m:sub>
                        </m:sSub>
                      </m:den>
                    </m:f>
                  </m:oMath>
                </a14:m>
                <a:r>
                  <a:rPr kumimoji="0" lang="en-US" altLang="zh-CN" sz="32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a:t>
                </a:r>
                <a14:m>
                  <m:oMath xmlns:m="http://schemas.openxmlformats.org/officeDocument/2006/math">
                    <m:f>
                      <m:f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𝑗𝑖</m:t>
                            </m:r>
                          </m:sub>
                        </m:sSub>
                      </m:den>
                    </m:f>
                  </m:oMath>
                </a14:m>
                <a:endParaRPr kumimoji="0" lang="zh-CN" altLang="en-US" sz="32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mc:Choice>
        <mc:Fallback>
          <p:sp>
            <p:nvSpPr>
              <p:cNvPr id="6" name="矩形 5"/>
              <p:cNvSpPr>
                <a:spLocks noRot="1" noChangeAspect="1" noMove="1" noResize="1" noEditPoints="1" noAdjustHandles="1" noChangeArrowheads="1" noChangeShapeType="1" noTextEdit="1"/>
              </p:cNvSpPr>
              <p:nvPr/>
            </p:nvSpPr>
            <p:spPr>
              <a:xfrm>
                <a:off x="1089794" y="433542"/>
                <a:ext cx="3079626" cy="963021"/>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058053" y="1926637"/>
                <a:ext cx="2980816" cy="9630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3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oMath>
                </a14:m>
                <a:r>
                  <a:rPr kumimoji="0" lang="en-US" altLang="zh-CN" sz="32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a:t>
                </a:r>
                <a14:m>
                  <m:oMath xmlns:m="http://schemas.openxmlformats.org/officeDocument/2006/math">
                    <m:f>
                      <m:f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oMath>
                </a14:m>
                <a:endParaRPr kumimoji="0" lang="zh-CN" altLang="en-US" sz="32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mc:Choice>
        <mc:Fallback>
          <p:sp>
            <p:nvSpPr>
              <p:cNvPr id="8" name="矩形 7"/>
              <p:cNvSpPr>
                <a:spLocks noRot="1" noChangeAspect="1" noMove="1" noResize="1" noEditPoints="1" noAdjustHandles="1" noChangeArrowheads="1" noChangeShapeType="1" noTextEdit="1"/>
              </p:cNvSpPr>
              <p:nvPr/>
            </p:nvSpPr>
            <p:spPr>
              <a:xfrm>
                <a:off x="1058053" y="1926637"/>
                <a:ext cx="2980816" cy="96302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1127725" y="3237170"/>
                <a:ext cx="2493695" cy="89883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mc:Choice>
        <mc:Fallback>
          <p:sp>
            <p:nvSpPr>
              <p:cNvPr id="9" name="矩形 8"/>
              <p:cNvSpPr>
                <a:spLocks noRot="1" noChangeAspect="1" noMove="1" noResize="1" noEditPoints="1" noAdjustHandles="1" noChangeArrowheads="1" noChangeShapeType="1" noTextEdit="1"/>
              </p:cNvSpPr>
              <p:nvPr/>
            </p:nvSpPr>
            <p:spPr>
              <a:xfrm>
                <a:off x="1127725" y="3237170"/>
                <a:ext cx="2493695" cy="898836"/>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3921418" y="3255424"/>
                <a:ext cx="3800015" cy="90948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m:rPr>
                              <m:nor/>
                            </m:rPr>
                            <a:rPr kumimoji="0" lang="el-GR" altLang="zh-CN" sz="24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m:t>σ</m:t>
                          </m:r>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mc:Choice>
        <mc:Fallback>
          <p:sp>
            <p:nvSpPr>
              <p:cNvPr id="10" name="矩形 9"/>
              <p:cNvSpPr>
                <a:spLocks noRot="1" noChangeAspect="1" noMove="1" noResize="1" noEditPoints="1" noAdjustHandles="1" noChangeArrowheads="1" noChangeShapeType="1" noTextEdit="1"/>
              </p:cNvSpPr>
              <p:nvPr/>
            </p:nvSpPr>
            <p:spPr>
              <a:xfrm>
                <a:off x="3921418" y="3255424"/>
                <a:ext cx="3800015" cy="909480"/>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4284980" y="2129192"/>
                <a:ext cx="3682931" cy="5579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𝑡</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a14:m>
                <a:r>
                  <a:rPr kumimoji="0" lang="zh-CN" altLang="zh-CN" sz="2800" b="0" i="0"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rPr>
                  <a:t> </a:t>
                </a:r>
                <a14:m>
                  <m:oMath xmlns:m="http://schemas.openxmlformats.org/officeDocument/2006/math">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(1−</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a14:m>
                <a:endPar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endParaRPr>
              </a:p>
            </p:txBody>
          </p:sp>
        </mc:Choice>
        <mc:Fallback>
          <p:sp>
            <p:nvSpPr>
              <p:cNvPr id="11" name="矩形 10"/>
              <p:cNvSpPr>
                <a:spLocks noRot="1" noChangeAspect="1" noMove="1" noResize="1" noEditPoints="1" noAdjustHandles="1" noChangeArrowheads="1" noChangeShapeType="1" noTextEdit="1"/>
              </p:cNvSpPr>
              <p:nvPr/>
            </p:nvSpPr>
            <p:spPr>
              <a:xfrm>
                <a:off x="4284980" y="2129192"/>
                <a:ext cx="3682931" cy="557910"/>
              </a:xfrm>
              <a:prstGeom prst="rect">
                <a:avLst/>
              </a:prstGeom>
              <a:blipFill>
                <a:blip r:embed="rId9"/>
                <a:stretch>
                  <a:fillRect/>
                </a:stretch>
              </a:blipFill>
            </p:spPr>
            <p:txBody>
              <a:bodyPr/>
              <a:lstStyle/>
              <a:p>
                <a:r>
                  <a:rPr lang="zh-TW" altLang="en-US">
                    <a:noFill/>
                  </a:rPr>
                  <a:t> </a:t>
                </a:r>
              </a:p>
            </p:txBody>
          </p:sp>
        </mc:Fallback>
      </mc:AlternateContent>
      <p:cxnSp>
        <p:nvCxnSpPr>
          <p:cNvPr id="12" name="曲线连接符 11"/>
          <p:cNvCxnSpPr/>
          <p:nvPr/>
        </p:nvCxnSpPr>
        <p:spPr>
          <a:xfrm rot="10800000" flipV="1">
            <a:off x="1741715" y="2786749"/>
            <a:ext cx="783771" cy="531226"/>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15" name="曲线连接符 14"/>
          <p:cNvCxnSpPr/>
          <p:nvPr/>
        </p:nvCxnSpPr>
        <p:spPr>
          <a:xfrm>
            <a:off x="3496599" y="2786749"/>
            <a:ext cx="674462" cy="531227"/>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21" name="曲线连接符 20"/>
          <p:cNvCxnSpPr/>
          <p:nvPr/>
        </p:nvCxnSpPr>
        <p:spPr>
          <a:xfrm rot="5400000">
            <a:off x="1692624" y="1349010"/>
            <a:ext cx="794869" cy="696687"/>
          </a:xfrm>
          <a:prstGeom prst="curvedConnector3">
            <a:avLst>
              <a:gd name="adj1" fmla="val 50000"/>
            </a:avLst>
          </a:prstGeom>
          <a:noFill/>
          <a:ln w="28575" cap="flat" cmpd="sng" algn="ctr">
            <a:solidFill>
              <a:srgbClr val="FF0000"/>
            </a:solidFill>
            <a:prstDash val="solid"/>
            <a:miter lim="800000"/>
            <a:tailEnd type="triangle"/>
          </a:ln>
          <a:effectLst/>
        </p:spPr>
      </p:cxnSp>
      <mc:AlternateContent xmlns:mc="http://schemas.openxmlformats.org/markup-compatibility/2006">
        <mc:Choice xmlns:a14="http://schemas.microsoft.com/office/drawing/2010/main" Requires="a14">
          <p:sp>
            <p:nvSpPr>
              <p:cNvPr id="27" name="矩形 26"/>
              <p:cNvSpPr/>
              <p:nvPr/>
            </p:nvSpPr>
            <p:spPr>
              <a:xfrm>
                <a:off x="1033986" y="4356552"/>
                <a:ext cx="5494068" cy="78393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Perpetua"/>
                    <a:ea typeface="Cambria Math" panose="02040503050406030204" pitchFamily="18" charset="0"/>
                    <a:cs typeface="+mn-cs"/>
                  </a:rPr>
                  <a:t>令</a:t>
                </a:r>
                <a14:m>
                  <m:oMath xmlns:m="http://schemas.openxmlformats.org/officeDocument/2006/math">
                    <m:sSub>
                      <m:sSubPr>
                        <m:ctrlP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zh-CN" sz="24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f>
                      <m:fPr>
                        <m:ctrlPr>
                          <a:rPr kumimoji="0" lang="zh-CN" altLang="zh-CN"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𝐸</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𝑡</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a14:m>
                <a:r>
                  <a:rPr kumimoji="0" lang="zh-CN" altLang="zh-CN" sz="2800" b="0" i="0"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rPr>
                  <a:t> </a:t>
                </a:r>
                <a14:m>
                  <m:oMath xmlns:m="http://schemas.openxmlformats.org/officeDocument/2006/math">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(1−</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a14:m>
                <a:endPar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endParaRPr>
              </a:p>
            </p:txBody>
          </p:sp>
        </mc:Choice>
        <mc:Fallback>
          <p:sp>
            <p:nvSpPr>
              <p:cNvPr id="27" name="矩形 26"/>
              <p:cNvSpPr>
                <a:spLocks noRot="1" noChangeAspect="1" noMove="1" noResize="1" noEditPoints="1" noAdjustHandles="1" noChangeArrowheads="1" noChangeShapeType="1" noTextEdit="1"/>
              </p:cNvSpPr>
              <p:nvPr/>
            </p:nvSpPr>
            <p:spPr>
              <a:xfrm>
                <a:off x="1033986" y="4356552"/>
                <a:ext cx="5494068" cy="783933"/>
              </a:xfrm>
              <a:prstGeom prst="rect">
                <a:avLst/>
              </a:prstGeom>
              <a:blipFill>
                <a:blip r:embed="rId10"/>
                <a:stretch>
                  <a:fillRect l="-177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矩形 27"/>
              <p:cNvSpPr/>
              <p:nvPr/>
            </p:nvSpPr>
            <p:spPr>
              <a:xfrm>
                <a:off x="5385917" y="1070973"/>
                <a:ext cx="1559466" cy="85433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num>
                      <m:den>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𝑗𝑖</m:t>
                            </m:r>
                          </m:sub>
                        </m:sSub>
                      </m:den>
                    </m:f>
                  </m:oMath>
                </a14:m>
                <a:r>
                  <a:rPr kumimoji="0" lang="en-US" altLang="zh-CN" sz="28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rPr>
                  <a:t>=</a:t>
                </a:r>
                <a14:m>
                  <m:oMath xmlns:m="http://schemas.openxmlformats.org/officeDocument/2006/math">
                    <m:sSub>
                      <m:sSubPr>
                        <m:ctrlPr>
                          <a:rPr kumimoji="0" lang="zh-CN" altLang="zh-CN"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𝑗𝑖</m:t>
                        </m:r>
                      </m:sub>
                    </m:sSub>
                  </m:oMath>
                </a14:m>
                <a:endPar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mc:Choice>
        <mc:Fallback>
          <p:sp>
            <p:nvSpPr>
              <p:cNvPr id="28" name="矩形 27"/>
              <p:cNvSpPr>
                <a:spLocks noRot="1" noChangeAspect="1" noMove="1" noResize="1" noEditPoints="1" noAdjustHandles="1" noChangeArrowheads="1" noChangeShapeType="1" noTextEdit="1"/>
              </p:cNvSpPr>
              <p:nvPr/>
            </p:nvSpPr>
            <p:spPr>
              <a:xfrm>
                <a:off x="5385917" y="1070973"/>
                <a:ext cx="1559466" cy="854336"/>
              </a:xfrm>
              <a:prstGeom prst="rect">
                <a:avLst/>
              </a:prstGeom>
              <a:blipFill>
                <a:blip r:embed="rId11"/>
                <a:stretch>
                  <a:fillRect/>
                </a:stretch>
              </a:blipFill>
            </p:spPr>
            <p:txBody>
              <a:bodyPr/>
              <a:lstStyle/>
              <a:p>
                <a:r>
                  <a:rPr lang="zh-TW" altLang="en-US">
                    <a:noFill/>
                  </a:rPr>
                  <a:t> </a:t>
                </a:r>
              </a:p>
            </p:txBody>
          </p:sp>
        </mc:Fallback>
      </mc:AlternateContent>
      <p:cxnSp>
        <p:nvCxnSpPr>
          <p:cNvPr id="29" name="曲线连接符 28"/>
          <p:cNvCxnSpPr>
            <a:stCxn id="6" idx="3"/>
            <a:endCxn id="28" idx="1"/>
          </p:cNvCxnSpPr>
          <p:nvPr/>
        </p:nvCxnSpPr>
        <p:spPr>
          <a:xfrm>
            <a:off x="4169420" y="915053"/>
            <a:ext cx="1216497" cy="583088"/>
          </a:xfrm>
          <a:prstGeom prst="curvedConnector3">
            <a:avLst>
              <a:gd name="adj1" fmla="val 50000"/>
            </a:avLst>
          </a:prstGeom>
          <a:noFill/>
          <a:ln w="28575" cap="flat" cmpd="sng" algn="ctr">
            <a:solidFill>
              <a:srgbClr val="FF0000"/>
            </a:solidFill>
            <a:prstDash val="solid"/>
            <a:miter lim="800000"/>
            <a:tailEnd type="triangle"/>
          </a:ln>
          <a:effectLst/>
        </p:spPr>
      </p:cxnSp>
      <mc:AlternateContent xmlns:mc="http://schemas.openxmlformats.org/markup-compatibility/2006">
        <mc:Choice xmlns:a14="http://schemas.microsoft.com/office/drawing/2010/main" Requires="a14">
          <p:sp>
            <p:nvSpPr>
              <p:cNvPr id="33" name="矩形 32"/>
              <p:cNvSpPr/>
              <p:nvPr/>
            </p:nvSpPr>
            <p:spPr>
              <a:xfrm>
                <a:off x="1175542" y="5214100"/>
                <a:ext cx="1998047" cy="82529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𝐸</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𝑤</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den>
                    </m:f>
                  </m:oMath>
                </a14:m>
                <a:r>
                  <a:rPr kumimoji="0" lang="en-US" altLang="zh-CN" sz="2800" b="0" i="0"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a:t>=</a:t>
                </a:r>
                <a14:m>
                  <m:oMath xmlns:m="http://schemas.openxmlformats.org/officeDocument/2006/math">
                    <m:sSub>
                      <m:sSubPr>
                        <m:ctrlPr>
                          <a:rPr kumimoji="0" lang="en-US" altLang="zh-CN" sz="28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CN" sz="28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m:rPr>
                            <m:sty m:val="p"/>
                          </m:rPr>
                          <a:rPr kumimoji="0" lang="en-US" altLang="zh-CN" sz="28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8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𝑥</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oMath>
                </a14:m>
                <a:endParaRPr kumimoji="0" lang="zh-CN" altLang="en-US" sz="2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33" name="矩形 32"/>
              <p:cNvSpPr>
                <a:spLocks noRot="1" noChangeAspect="1" noMove="1" noResize="1" noEditPoints="1" noAdjustHandles="1" noChangeArrowheads="1" noChangeShapeType="1" noTextEdit="1"/>
              </p:cNvSpPr>
              <p:nvPr/>
            </p:nvSpPr>
            <p:spPr>
              <a:xfrm>
                <a:off x="1175542" y="5214100"/>
                <a:ext cx="1998047" cy="825291"/>
              </a:xfrm>
              <a:prstGeom prst="rect">
                <a:avLst/>
              </a:prstGeom>
              <a:blipFill>
                <a:blip r:embed="rId12"/>
                <a:stretch>
                  <a:fillRect/>
                </a:stretch>
              </a:blipFill>
            </p:spPr>
            <p:txBody>
              <a:bodyPr/>
              <a:lstStyle/>
              <a:p>
                <a:r>
                  <a:rPr lang="zh-TW" altLang="en-US">
                    <a:noFill/>
                  </a:rPr>
                  <a:t> </a:t>
                </a:r>
              </a:p>
            </p:txBody>
          </p:sp>
        </mc:Fallback>
      </mc:AlternateContent>
      <p:sp>
        <p:nvSpPr>
          <p:cNvPr id="3" name="弧形 2">
            <a:extLst>
              <a:ext uri="{FF2B5EF4-FFF2-40B4-BE49-F238E27FC236}">
                <a16:creationId xmlns:a16="http://schemas.microsoft.com/office/drawing/2014/main" id="{20F058CB-7A2B-44B7-8579-4D36D4E3B566}"/>
              </a:ext>
            </a:extLst>
          </p:cNvPr>
          <p:cNvSpPr/>
          <p:nvPr/>
        </p:nvSpPr>
        <p:spPr>
          <a:xfrm rot="10800000">
            <a:off x="397320" y="915053"/>
            <a:ext cx="1559466" cy="4711692"/>
          </a:xfrm>
          <a:prstGeom prst="arc">
            <a:avLst>
              <a:gd name="adj1" fmla="val 16200000"/>
              <a:gd name="adj2" fmla="val 5250400"/>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4" name="Group 13">
            <a:extLst>
              <a:ext uri="{FF2B5EF4-FFF2-40B4-BE49-F238E27FC236}">
                <a16:creationId xmlns:a16="http://schemas.microsoft.com/office/drawing/2014/main" id="{3732C8EA-1265-964D-3E83-0C73FF51B9B8}"/>
              </a:ext>
            </a:extLst>
          </p:cNvPr>
          <p:cNvGrpSpPr/>
          <p:nvPr/>
        </p:nvGrpSpPr>
        <p:grpSpPr>
          <a:xfrm>
            <a:off x="7495642" y="1625961"/>
            <a:ext cx="2127132" cy="956097"/>
            <a:chOff x="7707479" y="1590068"/>
            <a:chExt cx="2127132" cy="956097"/>
          </a:xfrm>
        </p:grpSpPr>
        <p:sp>
          <p:nvSpPr>
            <p:cNvPr id="2" name="TextBox 1">
              <a:extLst>
                <a:ext uri="{FF2B5EF4-FFF2-40B4-BE49-F238E27FC236}">
                  <a16:creationId xmlns:a16="http://schemas.microsoft.com/office/drawing/2014/main" id="{6F53AD73-66D9-2D84-1142-D6AD639BB2E6}"/>
                </a:ext>
              </a:extLst>
            </p:cNvPr>
            <p:cNvSpPr txBox="1"/>
            <p:nvPr/>
          </p:nvSpPr>
          <p:spPr>
            <a:xfrm>
              <a:off x="7707479" y="1590068"/>
              <a:ext cx="2127132" cy="369332"/>
            </a:xfrm>
            <a:prstGeom prst="rect">
              <a:avLst/>
            </a:prstGeom>
            <a:noFill/>
          </p:spPr>
          <p:txBody>
            <a:bodyPr wrap="square" rtlCol="0">
              <a:spAutoFit/>
            </a:bodyPr>
            <a:lstStyle/>
            <a:p>
              <a:r>
                <a:rPr lang="en-US" dirty="0">
                  <a:solidFill>
                    <a:srgbClr val="0000FF"/>
                  </a:solidFill>
                  <a:latin typeface="Microsoft YaHei" panose="020B0503020204020204" pitchFamily="34" charset="-122"/>
                  <a:ea typeface="Microsoft YaHei" panose="020B0503020204020204" pitchFamily="34" charset="-122"/>
                </a:rPr>
                <a:t>Sigmoid </a:t>
              </a:r>
              <a:r>
                <a:rPr lang="en-US" dirty="0" err="1">
                  <a:solidFill>
                    <a:srgbClr val="0000FF"/>
                  </a:solidFill>
                  <a:latin typeface="Microsoft YaHei" panose="020B0503020204020204" pitchFamily="34" charset="-122"/>
                  <a:ea typeface="Microsoft YaHei" panose="020B0503020204020204" pitchFamily="34" charset="-122"/>
                </a:rPr>
                <a:t>激活函數</a:t>
              </a:r>
              <a:endParaRPr lang="en-US" dirty="0">
                <a:solidFill>
                  <a:srgbClr val="0000FF"/>
                </a:solidFill>
                <a:latin typeface="Microsoft YaHei" panose="020B0503020204020204" pitchFamily="34" charset="-122"/>
                <a:ea typeface="Microsoft YaHei" panose="020B0503020204020204" pitchFamily="34" charset="-122"/>
              </a:endParaRPr>
            </a:p>
          </p:txBody>
        </p:sp>
        <p:cxnSp>
          <p:nvCxnSpPr>
            <p:cNvPr id="13" name="Straight Arrow Connector 12">
              <a:extLst>
                <a:ext uri="{FF2B5EF4-FFF2-40B4-BE49-F238E27FC236}">
                  <a16:creationId xmlns:a16="http://schemas.microsoft.com/office/drawing/2014/main" id="{013EEAB0-A7D4-A601-6CF0-3BA282799BCD}"/>
                </a:ext>
              </a:extLst>
            </p:cNvPr>
            <p:cNvCxnSpPr>
              <a:cxnSpLocks/>
            </p:cNvCxnSpPr>
            <p:nvPr/>
          </p:nvCxnSpPr>
          <p:spPr>
            <a:xfrm>
              <a:off x="9113501" y="2058895"/>
              <a:ext cx="618802" cy="48727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3898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27" grpId="0"/>
      <p:bldP spid="28" grpId="0"/>
      <p:bldP spid="33" grpId="0"/>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1324" y="152827"/>
            <a:ext cx="10363200" cy="1143000"/>
          </a:xfrm>
        </p:spPr>
        <p:txBody>
          <a:bodyPr/>
          <a:lstStyle/>
          <a:p>
            <a:r>
              <a:rPr lang="zh-CN" altLang="en-US" dirty="0"/>
              <a:t>梯度計算</a:t>
            </a:r>
            <a:r>
              <a:rPr lang="en-US" altLang="zh-CN" dirty="0"/>
              <a:t>——</a:t>
            </a:r>
            <a:r>
              <a:rPr lang="zh-CN" altLang="en-US" dirty="0"/>
              <a:t>隱含層</a:t>
            </a:r>
          </a:p>
        </p:txBody>
      </p:sp>
      <p:cxnSp>
        <p:nvCxnSpPr>
          <p:cNvPr id="8" name="直接箭头连接符 7"/>
          <p:cNvCxnSpPr/>
          <p:nvPr/>
        </p:nvCxnSpPr>
        <p:spPr>
          <a:xfrm flipH="1" flipV="1">
            <a:off x="8342813" y="1243198"/>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9" name="直接箭头连接符 8"/>
          <p:cNvCxnSpPr/>
          <p:nvPr/>
        </p:nvCxnSpPr>
        <p:spPr>
          <a:xfrm flipH="1" flipV="1">
            <a:off x="10392414" y="1223883"/>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10" name="椭圆 9"/>
          <p:cNvSpPr/>
          <p:nvPr/>
        </p:nvSpPr>
        <p:spPr>
          <a:xfrm>
            <a:off x="10258834" y="1713237"/>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1" name="椭圆 10"/>
          <p:cNvSpPr/>
          <p:nvPr/>
        </p:nvSpPr>
        <p:spPr>
          <a:xfrm>
            <a:off x="8187803" y="1738993"/>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2" name="直接箭头连接符 11"/>
          <p:cNvCxnSpPr>
            <a:stCxn id="33" idx="0"/>
            <a:endCxn id="11" idx="4"/>
          </p:cNvCxnSpPr>
          <p:nvPr/>
        </p:nvCxnSpPr>
        <p:spPr>
          <a:xfrm flipV="1">
            <a:off x="8241383" y="2030004"/>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33" idx="0"/>
            <a:endCxn id="10" idx="4"/>
          </p:cNvCxnSpPr>
          <p:nvPr/>
        </p:nvCxnSpPr>
        <p:spPr>
          <a:xfrm flipV="1">
            <a:off x="8241383" y="2004248"/>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a:stCxn id="34" idx="0"/>
            <a:endCxn id="10" idx="4"/>
          </p:cNvCxnSpPr>
          <p:nvPr/>
        </p:nvCxnSpPr>
        <p:spPr>
          <a:xfrm flipV="1">
            <a:off x="9404608" y="2004248"/>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p:cNvCxnSpPr>
            <a:stCxn id="35" idx="0"/>
            <a:endCxn id="11" idx="4"/>
          </p:cNvCxnSpPr>
          <p:nvPr/>
        </p:nvCxnSpPr>
        <p:spPr>
          <a:xfrm flipH="1" flipV="1">
            <a:off x="8331565" y="2030004"/>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p:cNvCxnSpPr>
            <a:stCxn id="35" idx="0"/>
            <a:endCxn id="10" idx="4"/>
          </p:cNvCxnSpPr>
          <p:nvPr/>
        </p:nvCxnSpPr>
        <p:spPr>
          <a:xfrm flipH="1" flipV="1">
            <a:off x="10402596" y="2004248"/>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p:cNvCxnSpPr>
            <a:stCxn id="34" idx="0"/>
            <a:endCxn id="11" idx="4"/>
          </p:cNvCxnSpPr>
          <p:nvPr/>
        </p:nvCxnSpPr>
        <p:spPr>
          <a:xfrm flipH="1" flipV="1">
            <a:off x="8331565" y="2030004"/>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18" name="椭圆 17"/>
          <p:cNvSpPr/>
          <p:nvPr/>
        </p:nvSpPr>
        <p:spPr>
          <a:xfrm>
            <a:off x="8096939" y="440468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9260167" y="440468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0" name="椭圆 19"/>
          <p:cNvSpPr/>
          <p:nvPr/>
        </p:nvSpPr>
        <p:spPr>
          <a:xfrm>
            <a:off x="10584062" y="443044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1" name="椭圆 20"/>
          <p:cNvSpPr/>
          <p:nvPr/>
        </p:nvSpPr>
        <p:spPr>
          <a:xfrm>
            <a:off x="11137463" y="560875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2" name="椭圆 21"/>
          <p:cNvSpPr/>
          <p:nvPr/>
        </p:nvSpPr>
        <p:spPr>
          <a:xfrm>
            <a:off x="9260171" y="55894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3" name="椭圆 22"/>
          <p:cNvSpPr/>
          <p:nvPr/>
        </p:nvSpPr>
        <p:spPr>
          <a:xfrm>
            <a:off x="7721643" y="55894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4" name="直接箭头连接符 23"/>
          <p:cNvCxnSpPr>
            <a:stCxn id="23" idx="0"/>
            <a:endCxn id="18" idx="4"/>
          </p:cNvCxnSpPr>
          <p:nvPr/>
        </p:nvCxnSpPr>
        <p:spPr>
          <a:xfrm flipV="1">
            <a:off x="7865403" y="4694706"/>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23" idx="0"/>
            <a:endCxn id="19" idx="4"/>
          </p:cNvCxnSpPr>
          <p:nvPr/>
        </p:nvCxnSpPr>
        <p:spPr>
          <a:xfrm flipV="1">
            <a:off x="7865405" y="4694706"/>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22" idx="0"/>
            <a:endCxn id="18" idx="4"/>
          </p:cNvCxnSpPr>
          <p:nvPr/>
        </p:nvCxnSpPr>
        <p:spPr>
          <a:xfrm flipH="1" flipV="1">
            <a:off x="8240701" y="4694706"/>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23" idx="0"/>
            <a:endCxn id="20" idx="4"/>
          </p:cNvCxnSpPr>
          <p:nvPr/>
        </p:nvCxnSpPr>
        <p:spPr>
          <a:xfrm flipV="1">
            <a:off x="7865403" y="4720459"/>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22" idx="0"/>
            <a:endCxn id="19" idx="4"/>
          </p:cNvCxnSpPr>
          <p:nvPr/>
        </p:nvCxnSpPr>
        <p:spPr>
          <a:xfrm flipH="1" flipV="1">
            <a:off x="9403929" y="4694706"/>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stCxn id="22" idx="0"/>
            <a:endCxn id="20" idx="4"/>
          </p:cNvCxnSpPr>
          <p:nvPr/>
        </p:nvCxnSpPr>
        <p:spPr>
          <a:xfrm flipV="1">
            <a:off x="9403933" y="4720461"/>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p:cNvCxnSpPr>
            <a:stCxn id="21" idx="0"/>
            <a:endCxn id="20" idx="4"/>
          </p:cNvCxnSpPr>
          <p:nvPr/>
        </p:nvCxnSpPr>
        <p:spPr>
          <a:xfrm flipH="1" flipV="1">
            <a:off x="10727824" y="4720459"/>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p:cNvCxnSpPr>
            <a:stCxn id="21" idx="0"/>
            <a:endCxn id="19" idx="4"/>
          </p:cNvCxnSpPr>
          <p:nvPr/>
        </p:nvCxnSpPr>
        <p:spPr>
          <a:xfrm flipH="1" flipV="1">
            <a:off x="9403929" y="4694706"/>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p:cNvCxnSpPr>
            <a:stCxn id="21" idx="0"/>
            <a:endCxn id="18" idx="4"/>
          </p:cNvCxnSpPr>
          <p:nvPr/>
        </p:nvCxnSpPr>
        <p:spPr>
          <a:xfrm flipH="1" flipV="1">
            <a:off x="8240701" y="4694706"/>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33" name="椭圆 32"/>
          <p:cNvSpPr/>
          <p:nvPr/>
        </p:nvSpPr>
        <p:spPr>
          <a:xfrm>
            <a:off x="8097621" y="307827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4" name="椭圆 33"/>
          <p:cNvSpPr/>
          <p:nvPr/>
        </p:nvSpPr>
        <p:spPr>
          <a:xfrm>
            <a:off x="9260846" y="307827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5" name="椭圆 34"/>
          <p:cNvSpPr/>
          <p:nvPr/>
        </p:nvSpPr>
        <p:spPr>
          <a:xfrm>
            <a:off x="10558617" y="3104035"/>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6" name="文本框 112"/>
          <p:cNvSpPr txBox="1"/>
          <p:nvPr/>
        </p:nvSpPr>
        <p:spPr>
          <a:xfrm>
            <a:off x="9830208" y="304585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37" name="直接箭头连接符 36"/>
          <p:cNvCxnSpPr>
            <a:stCxn id="18" idx="0"/>
            <a:endCxn id="33" idx="4"/>
          </p:cNvCxnSpPr>
          <p:nvPr/>
        </p:nvCxnSpPr>
        <p:spPr>
          <a:xfrm flipV="1">
            <a:off x="8240701" y="3368297"/>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19" idx="0"/>
            <a:endCxn id="34" idx="4"/>
          </p:cNvCxnSpPr>
          <p:nvPr/>
        </p:nvCxnSpPr>
        <p:spPr>
          <a:xfrm flipV="1">
            <a:off x="9403929" y="3368297"/>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9" name="直接箭头连接符 38"/>
          <p:cNvCxnSpPr>
            <a:stCxn id="20" idx="0"/>
            <a:endCxn id="35" idx="4"/>
          </p:cNvCxnSpPr>
          <p:nvPr/>
        </p:nvCxnSpPr>
        <p:spPr>
          <a:xfrm flipH="1" flipV="1">
            <a:off x="10702380" y="3394053"/>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p:cNvCxnSpPr>
            <a:stCxn id="18" idx="0"/>
            <a:endCxn id="34" idx="4"/>
          </p:cNvCxnSpPr>
          <p:nvPr/>
        </p:nvCxnSpPr>
        <p:spPr>
          <a:xfrm flipV="1">
            <a:off x="8240701" y="3368297"/>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p:cNvCxnSpPr>
            <a:stCxn id="18" idx="0"/>
            <a:endCxn id="35" idx="4"/>
          </p:cNvCxnSpPr>
          <p:nvPr/>
        </p:nvCxnSpPr>
        <p:spPr>
          <a:xfrm flipV="1">
            <a:off x="8240701" y="3394053"/>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p:cNvCxnSpPr>
            <a:stCxn id="19" idx="0"/>
            <a:endCxn id="33" idx="4"/>
          </p:cNvCxnSpPr>
          <p:nvPr/>
        </p:nvCxnSpPr>
        <p:spPr>
          <a:xfrm flipH="1" flipV="1">
            <a:off x="8241383" y="3368297"/>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p:cNvCxnSpPr>
            <a:stCxn id="19" idx="0"/>
            <a:endCxn id="35" idx="4"/>
          </p:cNvCxnSpPr>
          <p:nvPr/>
        </p:nvCxnSpPr>
        <p:spPr>
          <a:xfrm flipV="1">
            <a:off x="9403929" y="3394053"/>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p:cNvCxnSpPr>
            <a:stCxn id="20" idx="0"/>
            <a:endCxn id="34" idx="4"/>
          </p:cNvCxnSpPr>
          <p:nvPr/>
        </p:nvCxnSpPr>
        <p:spPr>
          <a:xfrm flipH="1" flipV="1">
            <a:off x="9404608" y="3368297"/>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p:cNvCxnSpPr>
            <a:stCxn id="20" idx="0"/>
            <a:endCxn id="33" idx="4"/>
          </p:cNvCxnSpPr>
          <p:nvPr/>
        </p:nvCxnSpPr>
        <p:spPr>
          <a:xfrm flipH="1" flipV="1">
            <a:off x="8241383" y="3368297"/>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46" name="文本框 112"/>
          <p:cNvSpPr txBox="1"/>
          <p:nvPr/>
        </p:nvSpPr>
        <p:spPr>
          <a:xfrm>
            <a:off x="8669087" y="1695834"/>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47" name="直接箭头连接符 46"/>
          <p:cNvCxnSpPr/>
          <p:nvPr/>
        </p:nvCxnSpPr>
        <p:spPr>
          <a:xfrm flipH="1" flipV="1">
            <a:off x="9441026" y="1208376"/>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48" name="椭圆 47"/>
          <p:cNvSpPr/>
          <p:nvPr/>
        </p:nvSpPr>
        <p:spPr>
          <a:xfrm>
            <a:off x="9294725" y="1704171"/>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49" name="直接箭头连接符 48"/>
          <p:cNvCxnSpPr>
            <a:stCxn id="33" idx="0"/>
            <a:endCxn id="48" idx="4"/>
          </p:cNvCxnSpPr>
          <p:nvPr/>
        </p:nvCxnSpPr>
        <p:spPr>
          <a:xfrm flipV="1">
            <a:off x="8241383" y="1995182"/>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50" name="直接箭头连接符 49"/>
          <p:cNvCxnSpPr>
            <a:stCxn id="35" idx="0"/>
            <a:endCxn id="48" idx="4"/>
          </p:cNvCxnSpPr>
          <p:nvPr/>
        </p:nvCxnSpPr>
        <p:spPr>
          <a:xfrm flipH="1" flipV="1">
            <a:off x="9438487" y="1995182"/>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51" name="直接箭头连接符 50"/>
          <p:cNvCxnSpPr>
            <a:stCxn id="34" idx="0"/>
            <a:endCxn id="48" idx="4"/>
          </p:cNvCxnSpPr>
          <p:nvPr/>
        </p:nvCxnSpPr>
        <p:spPr>
          <a:xfrm flipV="1">
            <a:off x="9404608" y="1995182"/>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52" name="文本框 112"/>
          <p:cNvSpPr txBox="1"/>
          <p:nvPr/>
        </p:nvSpPr>
        <p:spPr>
          <a:xfrm>
            <a:off x="9733915" y="1680264"/>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3" name="文本框 112"/>
          <p:cNvSpPr txBox="1"/>
          <p:nvPr/>
        </p:nvSpPr>
        <p:spPr>
          <a:xfrm>
            <a:off x="8635838" y="304639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4" name="文本框 112"/>
          <p:cNvSpPr txBox="1"/>
          <p:nvPr/>
        </p:nvSpPr>
        <p:spPr>
          <a:xfrm>
            <a:off x="9673616" y="433485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5" name="文本框 112"/>
          <p:cNvSpPr txBox="1"/>
          <p:nvPr/>
        </p:nvSpPr>
        <p:spPr>
          <a:xfrm>
            <a:off x="8479246" y="4335396"/>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6" name="文本框 35"/>
              <p:cNvSpPr txBox="1"/>
              <p:nvPr/>
            </p:nvSpPr>
            <p:spPr>
              <a:xfrm>
                <a:off x="9123542" y="3002847"/>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𝑗</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56" name="文本框 35"/>
              <p:cNvSpPr txBox="1">
                <a:spLocks noRot="1" noChangeAspect="1" noMove="1" noResize="1" noEditPoints="1" noAdjustHandles="1" noChangeArrowheads="1" noChangeShapeType="1" noTextEdit="1"/>
              </p:cNvSpPr>
              <p:nvPr/>
            </p:nvSpPr>
            <p:spPr>
              <a:xfrm>
                <a:off x="9123542" y="3002847"/>
                <a:ext cx="578535" cy="477132"/>
              </a:xfrm>
              <a:prstGeom prst="rect">
                <a:avLst/>
              </a:prstGeom>
              <a:blipFill>
                <a:blip r:embed="rId3"/>
                <a:stretch>
                  <a:fillRect/>
                </a:stretch>
              </a:blipFill>
              <a:ln w="6350">
                <a:noFill/>
              </a:ln>
            </p:spPr>
            <p:txBody>
              <a:bodyPr/>
              <a:lstStyle/>
              <a:p>
                <a:r>
                  <a:rPr lang="zh-TW" altLang="en-US">
                    <a:noFill/>
                  </a:rPr>
                  <a:t> </a:t>
                </a:r>
              </a:p>
            </p:txBody>
          </p:sp>
        </mc:Fallback>
      </mc:AlternateContent>
      <p:cxnSp>
        <p:nvCxnSpPr>
          <p:cNvPr id="80" name="曲线连接符 79"/>
          <p:cNvCxnSpPr/>
          <p:nvPr/>
        </p:nvCxnSpPr>
        <p:spPr>
          <a:xfrm rot="10800000" flipV="1">
            <a:off x="6388912" y="3245132"/>
            <a:ext cx="2793959" cy="992147"/>
          </a:xfrm>
          <a:prstGeom prst="curvedConnector3">
            <a:avLst>
              <a:gd name="adj1" fmla="val 50000"/>
            </a:avLst>
          </a:prstGeom>
          <a:noFill/>
          <a:ln w="28575" cap="flat" cmpd="sng" algn="ctr">
            <a:solidFill>
              <a:srgbClr val="FF0000"/>
            </a:solidFill>
            <a:prstDash val="solid"/>
            <a:miter lim="800000"/>
            <a:tailEnd type="triangle"/>
          </a:ln>
          <a:effectLst/>
        </p:spPr>
      </p:cxnSp>
      <p:sp>
        <p:nvSpPr>
          <p:cNvPr id="88" name="椭圆 87"/>
          <p:cNvSpPr/>
          <p:nvPr/>
        </p:nvSpPr>
        <p:spPr>
          <a:xfrm>
            <a:off x="9264797" y="3077052"/>
            <a:ext cx="287523" cy="290018"/>
          </a:xfrm>
          <a:prstGeom prst="ellipse">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pic>
        <p:nvPicPr>
          <p:cNvPr id="7" name="图片 6"/>
          <p:cNvPicPr>
            <a:picLocks noChangeAspect="1"/>
          </p:cNvPicPr>
          <p:nvPr/>
        </p:nvPicPr>
        <p:blipFill>
          <a:blip r:embed="rId4"/>
          <a:stretch>
            <a:fillRect/>
          </a:stretch>
        </p:blipFill>
        <p:spPr>
          <a:xfrm>
            <a:off x="3932132" y="994419"/>
            <a:ext cx="2461441" cy="4848008"/>
          </a:xfrm>
          <a:prstGeom prst="rect">
            <a:avLst/>
          </a:prstGeom>
        </p:spPr>
      </p:pic>
      <mc:AlternateContent xmlns:mc="http://schemas.openxmlformats.org/markup-compatibility/2006">
        <mc:Choice xmlns:a14="http://schemas.microsoft.com/office/drawing/2010/main" Requires="a14">
          <p:sp>
            <p:nvSpPr>
              <p:cNvPr id="62" name="文本框 35"/>
              <p:cNvSpPr txBox="1"/>
              <p:nvPr/>
            </p:nvSpPr>
            <p:spPr>
              <a:xfrm>
                <a:off x="6504620" y="1445633"/>
                <a:ext cx="1156029"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𝑗</m:t>
                    </m:r>
                  </m:oMath>
                </a14:m>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的後繼</a:t>
                </a:r>
              </a:p>
            </p:txBody>
          </p:sp>
        </mc:Choice>
        <mc:Fallback>
          <p:sp>
            <p:nvSpPr>
              <p:cNvPr id="62" name="文本框 35"/>
              <p:cNvSpPr txBox="1">
                <a:spLocks noRot="1" noChangeAspect="1" noMove="1" noResize="1" noEditPoints="1" noAdjustHandles="1" noChangeArrowheads="1" noChangeShapeType="1" noTextEdit="1"/>
              </p:cNvSpPr>
              <p:nvPr/>
            </p:nvSpPr>
            <p:spPr>
              <a:xfrm>
                <a:off x="6504620" y="1445633"/>
                <a:ext cx="1156029" cy="477132"/>
              </a:xfrm>
              <a:prstGeom prst="rect">
                <a:avLst/>
              </a:prstGeom>
              <a:blipFill>
                <a:blip r:embed="rId5"/>
                <a:stretch>
                  <a:fillRect l="-2105" t="-6410" b="-6410"/>
                </a:stretch>
              </a:blipFill>
              <a:ln w="6350">
                <a:noFill/>
              </a:ln>
            </p:spPr>
            <p:txBody>
              <a:bodyPr/>
              <a:lstStyle/>
              <a:p>
                <a:r>
                  <a:rPr lang="zh-TW" altLang="en-US">
                    <a:noFill/>
                  </a:rPr>
                  <a:t> </a:t>
                </a:r>
              </a:p>
            </p:txBody>
          </p:sp>
        </mc:Fallback>
      </mc:AlternateContent>
      <p:sp>
        <p:nvSpPr>
          <p:cNvPr id="64" name="文本框 35"/>
          <p:cNvSpPr txBox="1"/>
          <p:nvPr/>
        </p:nvSpPr>
        <p:spPr>
          <a:xfrm>
            <a:off x="2679222" y="1407366"/>
            <a:ext cx="1156029"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輸出層</a:t>
            </a:r>
          </a:p>
        </p:txBody>
      </p:sp>
      <p:sp>
        <p:nvSpPr>
          <p:cNvPr id="65" name="文本框 35"/>
          <p:cNvSpPr txBox="1"/>
          <p:nvPr/>
        </p:nvSpPr>
        <p:spPr>
          <a:xfrm>
            <a:off x="2803265" y="3536213"/>
            <a:ext cx="1156029"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隱含層</a:t>
            </a:r>
          </a:p>
        </p:txBody>
      </p:sp>
      <mc:AlternateContent xmlns:mc="http://schemas.openxmlformats.org/markup-compatibility/2006">
        <mc:Choice xmlns:a14="http://schemas.microsoft.com/office/drawing/2010/main" Requires="a14">
          <p:sp>
            <p:nvSpPr>
              <p:cNvPr id="58" name="矩形 57"/>
              <p:cNvSpPr/>
              <p:nvPr/>
            </p:nvSpPr>
            <p:spPr>
              <a:xfrm>
                <a:off x="1878113" y="4478468"/>
                <a:ext cx="1256102" cy="8988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𝐸</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𝑑</m:t>
                              </m:r>
                            </m:sub>
                          </m:sSub>
                        </m:num>
                        <m:den>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𝑗𝑖</m:t>
                              </m:r>
                            </m:sub>
                          </m:sSub>
                        </m:den>
                      </m:f>
                    </m:oMath>
                  </m:oMathPara>
                </a14:m>
                <a:endPar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58" name="矩形 57"/>
              <p:cNvSpPr>
                <a:spLocks noRot="1" noChangeAspect="1" noMove="1" noResize="1" noEditPoints="1" noAdjustHandles="1" noChangeArrowheads="1" noChangeShapeType="1" noTextEdit="1"/>
              </p:cNvSpPr>
              <p:nvPr/>
            </p:nvSpPr>
            <p:spPr>
              <a:xfrm>
                <a:off x="1878113" y="4478468"/>
                <a:ext cx="1256102" cy="898836"/>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289E113-7FE8-A362-A517-306E5C8F6FF1}"/>
                  </a:ext>
                </a:extLst>
              </p:cNvPr>
              <p:cNvSpPr txBox="1"/>
              <p:nvPr/>
            </p:nvSpPr>
            <p:spPr>
              <a:xfrm>
                <a:off x="5588674" y="5472327"/>
                <a:ext cx="615993" cy="294504"/>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b="1" i="1" dirty="0" smtClean="0">
                              <a:latin typeface="Cambria Math" panose="02040503050406030204" pitchFamily="18" charset="0"/>
                            </a:rPr>
                          </m:ctrlPr>
                        </m:sSubPr>
                        <m:e>
                          <m:r>
                            <a:rPr lang="en-US" sz="1200" b="1" i="1" dirty="0" smtClean="0">
                              <a:latin typeface="Cambria Math" panose="02040503050406030204" pitchFamily="18" charset="0"/>
                            </a:rPr>
                            <m:t>𝑿</m:t>
                          </m:r>
                        </m:e>
                        <m:sub>
                          <m:r>
                            <a:rPr lang="en-US" sz="1200" b="1" i="1" dirty="0" smtClean="0">
                              <a:latin typeface="Cambria Math" panose="02040503050406030204" pitchFamily="18" charset="0"/>
                            </a:rPr>
                            <m:t>𝒋𝒍</m:t>
                          </m:r>
                        </m:sub>
                      </m:sSub>
                    </m:oMath>
                  </m:oMathPara>
                </a14:m>
                <a:endParaRPr lang="en-US" sz="1200" b="1" dirty="0"/>
              </a:p>
            </p:txBody>
          </p:sp>
        </mc:Choice>
        <mc:Fallback>
          <p:sp>
            <p:nvSpPr>
              <p:cNvPr id="3" name="TextBox 2">
                <a:extLst>
                  <a:ext uri="{FF2B5EF4-FFF2-40B4-BE49-F238E27FC236}">
                    <a16:creationId xmlns:a16="http://schemas.microsoft.com/office/drawing/2014/main" id="{5289E113-7FE8-A362-A517-306E5C8F6FF1}"/>
                  </a:ext>
                </a:extLst>
              </p:cNvPr>
              <p:cNvSpPr txBox="1">
                <a:spLocks noRot="1" noChangeAspect="1" noMove="1" noResize="1" noEditPoints="1" noAdjustHandles="1" noChangeArrowheads="1" noChangeShapeType="1" noTextEdit="1"/>
              </p:cNvSpPr>
              <p:nvPr/>
            </p:nvSpPr>
            <p:spPr>
              <a:xfrm>
                <a:off x="5588674" y="5472327"/>
                <a:ext cx="615993" cy="294504"/>
              </a:xfrm>
              <a:prstGeom prst="rect">
                <a:avLst/>
              </a:prstGeom>
              <a:blipFill>
                <a:blip r:embed="rId7"/>
                <a:stretch>
                  <a:fillRect b="-41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50960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88" grpId="0" animBg="1"/>
      <p:bldP spid="62" grpId="0"/>
      <p:bldP spid="64" grpId="0"/>
      <p:bldP spid="65" grpId="0"/>
      <p:bldP spid="58" grpId="0"/>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9063859" y="1449595"/>
            <a:ext cx="2462997" cy="4768153"/>
          </a:xfrm>
          <a:prstGeom prst="rect">
            <a:avLst/>
          </a:prstGeom>
        </p:spPr>
      </p:pic>
      <mc:AlternateContent xmlns:mc="http://schemas.openxmlformats.org/markup-compatibility/2006" xmlns:a14="http://schemas.microsoft.com/office/drawing/2010/main">
        <mc:Choice Requires="a14">
          <p:sp>
            <p:nvSpPr>
              <p:cNvPr id="5" name="矩形 4"/>
              <p:cNvSpPr/>
              <p:nvPr/>
            </p:nvSpPr>
            <p:spPr>
              <a:xfrm>
                <a:off x="776281" y="529341"/>
                <a:ext cx="3079626" cy="9630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𝑗𝑖</m:t>
                            </m:r>
                          </m:sub>
                        </m:sSub>
                      </m:den>
                    </m:f>
                  </m:oMath>
                </a14:m>
                <a:r>
                  <a:rPr kumimoji="0" lang="en-US" altLang="zh-CN" sz="32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a:t>
                </a:r>
                <a14:m>
                  <m:oMath xmlns:m="http://schemas.openxmlformats.org/officeDocument/2006/math">
                    <m:f>
                      <m:f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num>
                      <m:den>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CN" sz="3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𝑗𝑖</m:t>
                            </m:r>
                          </m:sub>
                        </m:sSub>
                      </m:den>
                    </m:f>
                  </m:oMath>
                </a14:m>
                <a:endParaRPr kumimoji="0" lang="zh-CN" altLang="en-US" sz="32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mc:Choice>
        <mc:Fallback xmlns="">
          <p:sp>
            <p:nvSpPr>
              <p:cNvPr id="5" name="矩形 4"/>
              <p:cNvSpPr>
                <a:spLocks noRot="1" noChangeAspect="1" noMove="1" noResize="1" noEditPoints="1" noAdjustHandles="1" noChangeArrowheads="1" noChangeShapeType="1" noTextEdit="1"/>
              </p:cNvSpPr>
              <p:nvPr/>
            </p:nvSpPr>
            <p:spPr>
              <a:xfrm>
                <a:off x="776281" y="529341"/>
                <a:ext cx="3079626" cy="96302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5356793" y="1420514"/>
                <a:ext cx="1559466" cy="85433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num>
                      <m:den>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𝑗𝑖</m:t>
                            </m:r>
                          </m:sub>
                        </m:sSub>
                      </m:den>
                    </m:f>
                  </m:oMath>
                </a14:m>
                <a:r>
                  <a:rPr kumimoji="0" lang="en-US" altLang="zh-CN" sz="28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rPr>
                  <a:t>=</a:t>
                </a:r>
                <a14:m>
                  <m:oMath xmlns:m="http://schemas.openxmlformats.org/officeDocument/2006/math">
                    <m:sSub>
                      <m:sSubPr>
                        <m:ctrlPr>
                          <a:rPr kumimoji="0" lang="zh-CN" altLang="zh-CN"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𝑗𝑖</m:t>
                        </m:r>
                      </m:sub>
                    </m:sSub>
                  </m:oMath>
                </a14:m>
                <a:endPar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p:txBody>
          </p:sp>
        </mc:Choice>
        <mc:Fallback xmlns="">
          <p:sp>
            <p:nvSpPr>
              <p:cNvPr id="6" name="矩形 5"/>
              <p:cNvSpPr>
                <a:spLocks noRot="1" noChangeAspect="1" noMove="1" noResize="1" noEditPoints="1" noAdjustHandles="1" noChangeArrowheads="1" noChangeShapeType="1" noTextEdit="1"/>
              </p:cNvSpPr>
              <p:nvPr/>
            </p:nvSpPr>
            <p:spPr>
              <a:xfrm>
                <a:off x="5356793" y="1420514"/>
                <a:ext cx="1559466" cy="854336"/>
              </a:xfrm>
              <a:prstGeom prst="rect">
                <a:avLst/>
              </a:prstGeom>
              <a:blipFill>
                <a:blip r:embed="rId5"/>
                <a:stretch>
                  <a:fillRect/>
                </a:stretch>
              </a:blipFill>
            </p:spPr>
            <p:txBody>
              <a:bodyPr/>
              <a:lstStyle/>
              <a:p>
                <a:r>
                  <a:rPr lang="zh-CN" altLang="en-US">
                    <a:noFill/>
                  </a:rPr>
                  <a:t> </a:t>
                </a:r>
              </a:p>
            </p:txBody>
          </p:sp>
        </mc:Fallback>
      </mc:AlternateContent>
      <p:cxnSp>
        <p:nvCxnSpPr>
          <p:cNvPr id="7" name="曲线连接符 6"/>
          <p:cNvCxnSpPr>
            <a:endCxn id="6" idx="1"/>
          </p:cNvCxnSpPr>
          <p:nvPr/>
        </p:nvCxnSpPr>
        <p:spPr>
          <a:xfrm>
            <a:off x="3766434" y="1146595"/>
            <a:ext cx="1590359" cy="701087"/>
          </a:xfrm>
          <a:prstGeom prst="curvedConnector3">
            <a:avLst>
              <a:gd name="adj1" fmla="val 50000"/>
            </a:avLst>
          </a:prstGeom>
          <a:noFill/>
          <a:ln w="28575" cap="flat" cmpd="sng" algn="ctr">
            <a:solidFill>
              <a:srgbClr val="FF0000"/>
            </a:solidFill>
            <a:prstDash val="solid"/>
            <a:miter lim="800000"/>
            <a:tailEnd type="triangle"/>
          </a:ln>
          <a:effectLst/>
        </p:spPr>
      </p:cxnSp>
      <mc:AlternateContent xmlns:mc="http://schemas.openxmlformats.org/markup-compatibility/2006">
        <mc:Choice xmlns:a14="http://schemas.microsoft.com/office/drawing/2010/main" Requires="a14">
          <p:sp>
            <p:nvSpPr>
              <p:cNvPr id="8" name="矩形 7"/>
              <p:cNvSpPr/>
              <p:nvPr/>
            </p:nvSpPr>
            <p:spPr>
              <a:xfrm>
                <a:off x="664620" y="2226975"/>
                <a:ext cx="3707810" cy="94769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nary>
                        <m:naryPr>
                          <m:chr m:val="∑"/>
                          <m:supHide m:val="on"/>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m:rPr>
                              <m:brk m:alnAt="7"/>
                            </m:r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後繼</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ub>
                        <m:sup/>
                        <m:e>
                          <m:f>
                            <m:f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𝐸</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den>
                          </m:f>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num>
                            <m:den>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e>
                      </m:nary>
                    </m:oMath>
                  </m:oMathPara>
                </a14:m>
                <a:endParaRPr kumimoji="0" lang="zh-CN" altLang="en-US" sz="2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8" name="矩形 7"/>
              <p:cNvSpPr>
                <a:spLocks noRot="1" noChangeAspect="1" noMove="1" noResize="1" noEditPoints="1" noAdjustHandles="1" noChangeArrowheads="1" noChangeShapeType="1" noTextEdit="1"/>
              </p:cNvSpPr>
              <p:nvPr/>
            </p:nvSpPr>
            <p:spPr>
              <a:xfrm>
                <a:off x="664620" y="2226975"/>
                <a:ext cx="3707810" cy="947695"/>
              </a:xfrm>
              <a:prstGeom prst="rect">
                <a:avLst/>
              </a:prstGeom>
              <a:blipFill>
                <a:blip r:embed="rId6"/>
                <a:stretch>
                  <a:fillRect/>
                </a:stretch>
              </a:blipFill>
            </p:spPr>
            <p:txBody>
              <a:bodyPr/>
              <a:lstStyle/>
              <a:p>
                <a:r>
                  <a:rPr lang="zh-TW" altLang="en-US">
                    <a:noFill/>
                  </a:rPr>
                  <a:t> </a:t>
                </a:r>
              </a:p>
            </p:txBody>
          </p:sp>
        </mc:Fallback>
      </mc:AlternateContent>
      <p:cxnSp>
        <p:nvCxnSpPr>
          <p:cNvPr id="9" name="曲线连接符 8"/>
          <p:cNvCxnSpPr>
            <a:stCxn id="5" idx="2"/>
          </p:cNvCxnSpPr>
          <p:nvPr/>
        </p:nvCxnSpPr>
        <p:spPr>
          <a:xfrm rot="5400000">
            <a:off x="1507982" y="1517084"/>
            <a:ext cx="832834" cy="783390"/>
          </a:xfrm>
          <a:prstGeom prst="curvedConnector3">
            <a:avLst>
              <a:gd name="adj1" fmla="val 50000"/>
            </a:avLst>
          </a:prstGeom>
          <a:noFill/>
          <a:ln w="28575" cap="flat" cmpd="sng" algn="ctr">
            <a:solidFill>
              <a:srgbClr val="FF0000"/>
            </a:solidFill>
            <a:prstDash val="solid"/>
            <a:miter lim="800000"/>
            <a:tailEnd type="triangle"/>
          </a:ln>
          <a:effectLst/>
        </p:spPr>
      </p:cxnSp>
      <mc:AlternateContent xmlns:mc="http://schemas.openxmlformats.org/markup-compatibility/2006" xmlns:a14="http://schemas.microsoft.com/office/drawing/2010/main">
        <mc:Choice Requires="a14">
          <p:sp>
            <p:nvSpPr>
              <p:cNvPr id="15" name="矩形 14"/>
              <p:cNvSpPr/>
              <p:nvPr/>
            </p:nvSpPr>
            <p:spPr>
              <a:xfrm>
                <a:off x="3352591" y="1562362"/>
                <a:ext cx="800347"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m:rPr>
                              <m:sty m:val="p"/>
                            </m:rPr>
                            <a:rPr kumimoji="0" lang="en-US" altLang="zh-CN" sz="24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𝑘</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3352591" y="1562362"/>
                <a:ext cx="800347" cy="461665"/>
              </a:xfrm>
              <a:prstGeom prst="rect">
                <a:avLst/>
              </a:prstGeom>
              <a:blipFill>
                <a:blip r:embed="rId7"/>
                <a:stretch>
                  <a:fillRect/>
                </a:stretch>
              </a:blipFill>
            </p:spPr>
            <p:txBody>
              <a:bodyPr/>
              <a:lstStyle/>
              <a:p>
                <a:r>
                  <a:rPr lang="zh-CN" altLang="en-US">
                    <a:noFill/>
                  </a:rPr>
                  <a:t> </a:t>
                </a:r>
              </a:p>
            </p:txBody>
          </p:sp>
        </mc:Fallback>
      </mc:AlternateContent>
      <p:cxnSp>
        <p:nvCxnSpPr>
          <p:cNvPr id="16" name="曲线连接符 15"/>
          <p:cNvCxnSpPr>
            <a:cxnSpLocks/>
          </p:cNvCxnSpPr>
          <p:nvPr/>
        </p:nvCxnSpPr>
        <p:spPr>
          <a:xfrm rot="10800000" flipV="1">
            <a:off x="3209193" y="1896362"/>
            <a:ext cx="423472" cy="398189"/>
          </a:xfrm>
          <a:prstGeom prst="curvedConnector3">
            <a:avLst>
              <a:gd name="adj1" fmla="val 50000"/>
            </a:avLst>
          </a:prstGeom>
          <a:noFill/>
          <a:ln w="28575" cap="flat" cmpd="sng" algn="ctr">
            <a:solidFill>
              <a:srgbClr val="FF0000"/>
            </a:solidFill>
            <a:prstDash val="solid"/>
            <a:miter lim="800000"/>
            <a:tailEnd type="triangle"/>
          </a:ln>
          <a:effectLst/>
        </p:spPr>
      </p:cxnSp>
      <mc:AlternateContent xmlns:mc="http://schemas.openxmlformats.org/markup-compatibility/2006" xmlns:a14="http://schemas.microsoft.com/office/drawing/2010/main">
        <mc:Choice Requires="a14">
          <p:sp>
            <p:nvSpPr>
              <p:cNvPr id="19" name="矩形 18"/>
              <p:cNvSpPr/>
              <p:nvPr/>
            </p:nvSpPr>
            <p:spPr>
              <a:xfrm>
                <a:off x="2823514" y="4080292"/>
                <a:ext cx="3163174" cy="90948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2823514" y="4080292"/>
                <a:ext cx="3163174" cy="909480"/>
              </a:xfrm>
              <a:prstGeom prst="rect">
                <a:avLst/>
              </a:prstGeom>
              <a:blipFill>
                <a:blip r:embed="rId8"/>
                <a:stretch>
                  <a:fillRect/>
                </a:stretch>
              </a:blipFill>
            </p:spPr>
            <p:txBody>
              <a:bodyPr/>
              <a:lstStyle/>
              <a:p>
                <a:r>
                  <a:rPr lang="zh-CN" altLang="en-US">
                    <a:noFill/>
                  </a:rPr>
                  <a:t> </a:t>
                </a:r>
              </a:p>
            </p:txBody>
          </p:sp>
        </mc:Fallback>
      </mc:AlternateContent>
      <p:cxnSp>
        <p:nvCxnSpPr>
          <p:cNvPr id="20" name="曲线连接符 19"/>
          <p:cNvCxnSpPr>
            <a:cxnSpLocks/>
          </p:cNvCxnSpPr>
          <p:nvPr/>
        </p:nvCxnSpPr>
        <p:spPr>
          <a:xfrm rot="5400000">
            <a:off x="3233777" y="3308287"/>
            <a:ext cx="1112773" cy="596057"/>
          </a:xfrm>
          <a:prstGeom prst="curvedConnector3">
            <a:avLst>
              <a:gd name="adj1" fmla="val 50000"/>
            </a:avLst>
          </a:prstGeom>
          <a:noFill/>
          <a:ln w="28575" cap="flat" cmpd="sng" algn="ctr">
            <a:solidFill>
              <a:srgbClr val="FF0000"/>
            </a:solidFill>
            <a:prstDash val="solid"/>
            <a:miter lim="800000"/>
            <a:tailEnd type="triangle"/>
          </a:ln>
          <a:effectLst/>
        </p:spPr>
      </p:cxnSp>
      <mc:AlternateContent xmlns:mc="http://schemas.openxmlformats.org/markup-compatibility/2006" xmlns:a14="http://schemas.microsoft.com/office/drawing/2010/main">
        <mc:Choice Requires="a14">
          <p:sp>
            <p:nvSpPr>
              <p:cNvPr id="35" name="矩形 34"/>
              <p:cNvSpPr/>
              <p:nvPr/>
            </p:nvSpPr>
            <p:spPr>
              <a:xfrm>
                <a:off x="4867704" y="3345679"/>
                <a:ext cx="733534" cy="49141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35" name="矩形 34"/>
              <p:cNvSpPr>
                <a:spLocks noRot="1" noChangeAspect="1" noMove="1" noResize="1" noEditPoints="1" noAdjustHandles="1" noChangeArrowheads="1" noChangeShapeType="1" noTextEdit="1"/>
              </p:cNvSpPr>
              <p:nvPr/>
            </p:nvSpPr>
            <p:spPr>
              <a:xfrm>
                <a:off x="4867704" y="3345679"/>
                <a:ext cx="733534" cy="491417"/>
              </a:xfrm>
              <a:prstGeom prst="rect">
                <a:avLst/>
              </a:prstGeom>
              <a:blipFill>
                <a:blip r:embed="rId9"/>
                <a:stretch>
                  <a:fillRect b="-11250"/>
                </a:stretch>
              </a:blipFill>
            </p:spPr>
            <p:txBody>
              <a:bodyPr/>
              <a:lstStyle/>
              <a:p>
                <a:r>
                  <a:rPr lang="zh-CN" altLang="en-US">
                    <a:noFill/>
                  </a:rPr>
                  <a:t> </a:t>
                </a:r>
              </a:p>
            </p:txBody>
          </p:sp>
        </mc:Fallback>
      </mc:AlternateContent>
      <p:cxnSp>
        <p:nvCxnSpPr>
          <p:cNvPr id="36" name="曲线连接符 35"/>
          <p:cNvCxnSpPr>
            <a:stCxn id="19" idx="0"/>
          </p:cNvCxnSpPr>
          <p:nvPr/>
        </p:nvCxnSpPr>
        <p:spPr>
          <a:xfrm rot="5400000" flipH="1" flipV="1">
            <a:off x="4445337" y="3546816"/>
            <a:ext cx="493240" cy="573712"/>
          </a:xfrm>
          <a:prstGeom prst="curvedConnector2">
            <a:avLst/>
          </a:prstGeom>
          <a:noFill/>
          <a:ln w="28575" cap="flat" cmpd="sng" algn="ctr">
            <a:solidFill>
              <a:srgbClr val="FF0000"/>
            </a:solidFill>
            <a:prstDash val="solid"/>
            <a:miter lim="800000"/>
            <a:tailEnd type="triangle"/>
          </a:ln>
          <a:effectLst/>
        </p:spPr>
      </p:cxnSp>
      <mc:AlternateContent xmlns:mc="http://schemas.openxmlformats.org/markup-compatibility/2006" xmlns:a14="http://schemas.microsoft.com/office/drawing/2010/main">
        <mc:Choice Requires="a14">
          <p:sp>
            <p:nvSpPr>
              <p:cNvPr id="38" name="矩形 37"/>
              <p:cNvSpPr/>
              <p:nvPr/>
            </p:nvSpPr>
            <p:spPr>
              <a:xfrm>
                <a:off x="5930392" y="2712289"/>
                <a:ext cx="2675669" cy="89883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m:rPr>
                              <m:nor/>
                            </m:rPr>
                            <a:rPr kumimoji="0" lang="el-GR" altLang="zh-CN" sz="24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m:t>σ</m:t>
                          </m:r>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38" name="矩形 37"/>
              <p:cNvSpPr>
                <a:spLocks noRot="1" noChangeAspect="1" noMove="1" noResize="1" noEditPoints="1" noAdjustHandles="1" noChangeArrowheads="1" noChangeShapeType="1" noTextEdit="1"/>
              </p:cNvSpPr>
              <p:nvPr/>
            </p:nvSpPr>
            <p:spPr>
              <a:xfrm>
                <a:off x="5930392" y="2712289"/>
                <a:ext cx="2675669" cy="898836"/>
              </a:xfrm>
              <a:prstGeom prst="rect">
                <a:avLst/>
              </a:prstGeom>
              <a:blipFill>
                <a:blip r:embed="rId10"/>
                <a:stretch>
                  <a:fillRect/>
                </a:stretch>
              </a:blipFill>
            </p:spPr>
            <p:txBody>
              <a:bodyPr/>
              <a:lstStyle/>
              <a:p>
                <a:r>
                  <a:rPr lang="zh-CN" altLang="en-US">
                    <a:noFill/>
                  </a:rPr>
                  <a:t> </a:t>
                </a:r>
              </a:p>
            </p:txBody>
          </p:sp>
        </mc:Fallback>
      </mc:AlternateContent>
      <p:cxnSp>
        <p:nvCxnSpPr>
          <p:cNvPr id="39" name="曲线连接符 38"/>
          <p:cNvCxnSpPr/>
          <p:nvPr/>
        </p:nvCxnSpPr>
        <p:spPr>
          <a:xfrm rot="5400000" flipH="1" flipV="1">
            <a:off x="5761658" y="3612503"/>
            <a:ext cx="654026" cy="603126"/>
          </a:xfrm>
          <a:prstGeom prst="curvedConnector3">
            <a:avLst>
              <a:gd name="adj1" fmla="val 50000"/>
            </a:avLst>
          </a:prstGeom>
          <a:noFill/>
          <a:ln w="28575" cap="flat" cmpd="sng" algn="ctr">
            <a:solidFill>
              <a:srgbClr val="FF0000"/>
            </a:solidFill>
            <a:prstDash val="solid"/>
            <a:miter lim="800000"/>
            <a:tailEnd type="triangle"/>
          </a:ln>
          <a:effectLst/>
        </p:spPr>
      </p:cxnSp>
      <mc:AlternateContent xmlns:mc="http://schemas.openxmlformats.org/markup-compatibility/2006" xmlns:a14="http://schemas.microsoft.com/office/drawing/2010/main">
        <mc:Choice Requires="a14">
          <p:sp>
            <p:nvSpPr>
              <p:cNvPr id="42" name="矩形 41"/>
              <p:cNvSpPr/>
              <p:nvPr/>
            </p:nvSpPr>
            <p:spPr>
              <a:xfrm>
                <a:off x="225161" y="4074004"/>
                <a:ext cx="2486840" cy="8988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zh-CN" altLang="en-US"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令</m:t>
                          </m:r>
                          <m:r>
                            <m:rPr>
                              <m:sty m:val="p"/>
                            </m:rPr>
                            <a:rPr kumimoji="0" lang="en-US" altLang="zh-CN" sz="24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f>
                        <m:f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𝐸</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𝑛𝑒𝑡</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den>
                      </m:f>
                    </m:oMath>
                  </m:oMathPara>
                </a14:m>
                <a:endPar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42" name="矩形 41"/>
              <p:cNvSpPr>
                <a:spLocks noRot="1" noChangeAspect="1" noMove="1" noResize="1" noEditPoints="1" noAdjustHandles="1" noChangeArrowheads="1" noChangeShapeType="1" noTextEdit="1"/>
              </p:cNvSpPr>
              <p:nvPr/>
            </p:nvSpPr>
            <p:spPr>
              <a:xfrm>
                <a:off x="225161" y="4074004"/>
                <a:ext cx="2486840" cy="898836"/>
              </a:xfrm>
              <a:prstGeom prst="rect">
                <a:avLst/>
              </a:prstGeom>
              <a:blipFill>
                <a:blip r:embed="rId11"/>
                <a:stretch>
                  <a:fillRect/>
                </a:stretch>
              </a:blipFill>
            </p:spPr>
            <p:txBody>
              <a:bodyPr/>
              <a:lstStyle/>
              <a:p>
                <a:r>
                  <a:rPr lang="zh-CN" altLang="en-US">
                    <a:noFill/>
                  </a:rPr>
                  <a:t> </a:t>
                </a:r>
              </a:p>
            </p:txBody>
          </p:sp>
        </mc:Fallback>
      </mc:AlternateContent>
      <p:cxnSp>
        <p:nvCxnSpPr>
          <p:cNvPr id="43" name="曲线连接符 42"/>
          <p:cNvCxnSpPr/>
          <p:nvPr/>
        </p:nvCxnSpPr>
        <p:spPr>
          <a:xfrm rot="16200000" flipH="1">
            <a:off x="457440" y="3553500"/>
            <a:ext cx="1358580" cy="364930"/>
          </a:xfrm>
          <a:prstGeom prst="curvedConnector3">
            <a:avLst>
              <a:gd name="adj1" fmla="val 50000"/>
            </a:avLst>
          </a:prstGeom>
          <a:noFill/>
          <a:ln w="28575" cap="flat" cmpd="sng" algn="ctr">
            <a:solidFill>
              <a:srgbClr val="FF0000"/>
            </a:solidFill>
            <a:prstDash val="solid"/>
            <a:miter lim="800000"/>
            <a:tailEnd type="triangle"/>
          </a:ln>
          <a:effectLst/>
        </p:spPr>
      </p:cxnSp>
      <mc:AlternateContent xmlns:mc="http://schemas.openxmlformats.org/markup-compatibility/2006">
        <mc:Choice xmlns:a14="http://schemas.microsoft.com/office/drawing/2010/main" Requires="a14">
          <p:sp>
            <p:nvSpPr>
              <p:cNvPr id="55" name="矩形 54"/>
              <p:cNvSpPr/>
              <p:nvPr/>
            </p:nvSpPr>
            <p:spPr>
              <a:xfrm>
                <a:off x="615882" y="5168690"/>
                <a:ext cx="7320466" cy="94769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2000" i="1" dirty="0">
                              <a:solidFill>
                                <a:prstClr val="black"/>
                              </a:solidFill>
                              <a:latin typeface="Cambria Math" panose="02040503050406030204" pitchFamily="18" charset="0"/>
                              <a:ea typeface="Cambria Math" panose="02040503050406030204" pitchFamily="18" charset="0"/>
                            </a:rPr>
                          </m:ctrlPr>
                        </m:sSubPr>
                        <m:e>
                          <m:r>
                            <m:rPr>
                              <m:sty m:val="p"/>
                            </m:rPr>
                            <a:rPr lang="en-US" altLang="zh-CN" sz="2000" i="1" dirty="0">
                              <a:solidFill>
                                <a:prstClr val="black"/>
                              </a:solidFill>
                              <a:latin typeface="Cambria Math" panose="02040503050406030204" pitchFamily="18" charset="0"/>
                              <a:ea typeface="Cambria Math" panose="02040503050406030204" pitchFamily="18" charset="0"/>
                            </a:rPr>
                            <m:t>δ</m:t>
                          </m:r>
                        </m:e>
                        <m:sub>
                          <m:r>
                            <a:rPr lang="en-US" altLang="zh-CN" sz="2000" i="1" dirty="0">
                              <a:solidFill>
                                <a:prstClr val="black"/>
                              </a:solidFill>
                              <a:latin typeface="Cambria Math" panose="02040503050406030204" pitchFamily="18" charset="0"/>
                              <a:ea typeface="Cambria Math" panose="02040503050406030204" pitchFamily="18" charset="0"/>
                            </a:rPr>
                            <m:t>𝑗</m:t>
                          </m:r>
                        </m:sub>
                      </m:sSub>
                      <m:r>
                        <a:rPr lang="en-US" altLang="zh-CN" sz="2000" i="1" dirty="0">
                          <a:solidFill>
                            <a:prstClr val="black"/>
                          </a:solidFill>
                          <a:latin typeface="Cambria Math" panose="02040503050406030204" pitchFamily="18" charset="0"/>
                          <a:ea typeface="Cambria Math" panose="02040503050406030204" pitchFamily="18" charset="0"/>
                        </a:rPr>
                        <m:t>=</m:t>
                      </m:r>
                      <m:nary>
                        <m:naryPr>
                          <m:chr m:val="∑"/>
                          <m:supHide m:val="on"/>
                          <m:ctrlPr>
                            <a:rPr lang="en-US" altLang="zh-CN" sz="2000" i="1">
                              <a:solidFill>
                                <a:prstClr val="black"/>
                              </a:solidFill>
                              <a:latin typeface="Cambria Math" panose="02040503050406030204" pitchFamily="18" charset="0"/>
                              <a:ea typeface="Cambria Math" panose="02040503050406030204" pitchFamily="18" charset="0"/>
                            </a:rPr>
                          </m:ctrlPr>
                        </m:naryPr>
                        <m:sub>
                          <m:r>
                            <m:rPr>
                              <m:brk m:alnAt="7"/>
                            </m:rPr>
                            <a:rPr lang="en-US" altLang="zh-CN" sz="2000" i="1">
                              <a:solidFill>
                                <a:prstClr val="black"/>
                              </a:solidFill>
                              <a:latin typeface="Cambria Math" panose="02040503050406030204" pitchFamily="18" charset="0"/>
                              <a:ea typeface="Cambria Math" panose="02040503050406030204" pitchFamily="18" charset="0"/>
                            </a:rPr>
                            <m:t>𝑘</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smtClean="0">
                              <a:solidFill>
                                <a:prstClr val="black"/>
                              </a:solidFill>
                              <a:latin typeface="Cambria Math" panose="02040503050406030204" pitchFamily="18" charset="0"/>
                              <a:ea typeface="Cambria Math" panose="02040503050406030204" pitchFamily="18" charset="0"/>
                            </a:rPr>
                            <m:t>後繼</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𝑗</m:t>
                          </m:r>
                          <m:r>
                            <a:rPr lang="en-US" altLang="zh-CN" sz="2000" i="1">
                              <a:solidFill>
                                <a:prstClr val="black"/>
                              </a:solidFill>
                              <a:latin typeface="Cambria Math" panose="02040503050406030204" pitchFamily="18" charset="0"/>
                              <a:ea typeface="Cambria Math" panose="02040503050406030204" pitchFamily="18" charset="0"/>
                            </a:rPr>
                            <m:t>)</m:t>
                          </m:r>
                        </m:sub>
                        <m:sup/>
                        <m:e>
                          <m:sSub>
                            <m:sSubPr>
                              <m:ctrlPr>
                                <a:rPr lang="en-US" altLang="zh-CN" sz="2000" i="1" dirty="0">
                                  <a:solidFill>
                                    <a:prstClr val="black"/>
                                  </a:solidFill>
                                  <a:latin typeface="Cambria Math" panose="02040503050406030204" pitchFamily="18" charset="0"/>
                                  <a:ea typeface="Cambria Math" panose="02040503050406030204" pitchFamily="18" charset="0"/>
                                </a:rPr>
                              </m:ctrlPr>
                            </m:sSubPr>
                            <m:e>
                              <m:r>
                                <m:rPr>
                                  <m:sty m:val="p"/>
                                </m:rPr>
                                <a:rPr lang="en-US" altLang="zh-CN" sz="2000" i="1" dirty="0">
                                  <a:solidFill>
                                    <a:prstClr val="black"/>
                                  </a:solidFill>
                                  <a:latin typeface="Cambria Math" panose="02040503050406030204" pitchFamily="18" charset="0"/>
                                  <a:ea typeface="Cambria Math" panose="02040503050406030204" pitchFamily="18" charset="0"/>
                                </a:rPr>
                                <m:t>δ</m:t>
                              </m:r>
                            </m:e>
                            <m:sub>
                              <m:r>
                                <a:rPr lang="en-US" altLang="zh-CN" sz="2000" i="1" dirty="0">
                                  <a:solidFill>
                                    <a:prstClr val="black"/>
                                  </a:solidFill>
                                  <a:latin typeface="Cambria Math" panose="02040503050406030204" pitchFamily="18" charset="0"/>
                                  <a:ea typeface="Cambria Math" panose="02040503050406030204" pitchFamily="18" charset="0"/>
                                </a:rPr>
                                <m:t>𝑘</m:t>
                              </m:r>
                            </m:sub>
                          </m:sSub>
                          <m:r>
                            <a:rPr lang="en-US" altLang="zh-CN" sz="2000" i="1">
                              <a:solidFill>
                                <a:prstClr val="black"/>
                              </a:solidFill>
                              <a:latin typeface="Cambria Math" panose="02040503050406030204" pitchFamily="18" charset="0"/>
                              <a:ea typeface="Cambria Math" panose="02040503050406030204" pitchFamily="18" charset="0"/>
                            </a:rPr>
                            <m:t>·</m:t>
                          </m:r>
                          <m:sSub>
                            <m:sSubPr>
                              <m:ctrlPr>
                                <a:rPr lang="zh-CN" altLang="zh-CN" sz="2000" i="1">
                                  <a:solidFill>
                                    <a:prstClr val="black"/>
                                  </a:solidFill>
                                  <a:latin typeface="Cambria Math" panose="02040503050406030204" pitchFamily="18" charset="0"/>
                                  <a:ea typeface="Cambria Math" panose="02040503050406030204" pitchFamily="18" charset="0"/>
                                </a:rPr>
                              </m:ctrlPr>
                            </m:sSubPr>
                            <m:e>
                              <m:r>
                                <a:rPr lang="en-US" altLang="zh-CN" sz="2000" i="1">
                                  <a:solidFill>
                                    <a:prstClr val="black"/>
                                  </a:solidFill>
                                  <a:latin typeface="Cambria Math" panose="02040503050406030204" pitchFamily="18" charset="0"/>
                                  <a:ea typeface="Cambria Math" panose="02040503050406030204" pitchFamily="18" charset="0"/>
                                </a:rPr>
                                <m:t>𝑤</m:t>
                              </m:r>
                            </m:e>
                            <m:sub>
                              <m:r>
                                <a:rPr lang="en-US" altLang="zh-CN" sz="2000" i="1">
                                  <a:solidFill>
                                    <a:prstClr val="black"/>
                                  </a:solidFill>
                                  <a:latin typeface="Cambria Math" panose="02040503050406030204" pitchFamily="18" charset="0"/>
                                  <a:ea typeface="Cambria Math" panose="02040503050406030204" pitchFamily="18" charset="0"/>
                                </a:rPr>
                                <m:t>𝑘𝑗</m:t>
                              </m:r>
                            </m:sub>
                          </m:sSub>
                          <m:r>
                            <a:rPr lang="en-US" altLang="zh-CN" sz="2000" i="1">
                              <a:solidFill>
                                <a:prstClr val="black"/>
                              </a:solidFill>
                              <a:latin typeface="Cambria Math" panose="02040503050406030204" pitchFamily="18" charset="0"/>
                              <a:ea typeface="Cambria Math" panose="02040503050406030204" pitchFamily="18" charset="0"/>
                            </a:rPr>
                            <m:t>·</m:t>
                          </m:r>
                          <m:sSub>
                            <m:sSubPr>
                              <m:ctrlPr>
                                <a:rPr lang="zh-CN" altLang="zh-CN" sz="2000" i="1">
                                  <a:solidFill>
                                    <a:prstClr val="black"/>
                                  </a:solidFill>
                                  <a:latin typeface="Cambria Math" panose="02040503050406030204" pitchFamily="18" charset="0"/>
                                  <a:ea typeface="Cambria Math" panose="02040503050406030204" pitchFamily="18" charset="0"/>
                                </a:rPr>
                              </m:ctrlPr>
                            </m:sSubPr>
                            <m:e>
                              <m:r>
                                <a:rPr lang="en-US" altLang="zh-CN" sz="2000" i="1">
                                  <a:solidFill>
                                    <a:prstClr val="black"/>
                                  </a:solidFill>
                                  <a:latin typeface="Cambria Math" panose="02040503050406030204" pitchFamily="18" charset="0"/>
                                  <a:ea typeface="Cambria Math" panose="02040503050406030204" pitchFamily="18" charset="0"/>
                                </a:rPr>
                                <m:t>𝑜</m:t>
                              </m:r>
                            </m:e>
                            <m:sub>
                              <m:r>
                                <a:rPr lang="en-US" altLang="zh-CN" sz="2000" i="1">
                                  <a:solidFill>
                                    <a:prstClr val="black"/>
                                  </a:solidFill>
                                  <a:latin typeface="Cambria Math" panose="02040503050406030204" pitchFamily="18" charset="0"/>
                                  <a:ea typeface="Cambria Math" panose="02040503050406030204" pitchFamily="18" charset="0"/>
                                </a:rPr>
                                <m:t>𝑗</m:t>
                              </m:r>
                            </m:sub>
                          </m:sSub>
                          <m:d>
                            <m:dPr>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1−</m:t>
                              </m:r>
                              <m:sSub>
                                <m:sSubPr>
                                  <m:ctrlPr>
                                    <a:rPr lang="zh-CN" altLang="zh-CN" sz="2000" i="1">
                                      <a:solidFill>
                                        <a:prstClr val="black"/>
                                      </a:solidFill>
                                      <a:latin typeface="Cambria Math" panose="02040503050406030204" pitchFamily="18" charset="0"/>
                                      <a:ea typeface="Cambria Math" panose="02040503050406030204" pitchFamily="18" charset="0"/>
                                    </a:rPr>
                                  </m:ctrlPr>
                                </m:sSubPr>
                                <m:e>
                                  <m:r>
                                    <a:rPr lang="en-US" altLang="zh-CN" sz="2000" i="1">
                                      <a:solidFill>
                                        <a:prstClr val="black"/>
                                      </a:solidFill>
                                      <a:latin typeface="Cambria Math" panose="02040503050406030204" pitchFamily="18" charset="0"/>
                                      <a:ea typeface="Cambria Math" panose="02040503050406030204" pitchFamily="18" charset="0"/>
                                    </a:rPr>
                                    <m:t>𝑜</m:t>
                                  </m:r>
                                </m:e>
                                <m:sub>
                                  <m:r>
                                    <a:rPr lang="en-US" altLang="zh-CN" sz="2000" i="1">
                                      <a:solidFill>
                                        <a:prstClr val="black"/>
                                      </a:solidFill>
                                      <a:latin typeface="Cambria Math" panose="02040503050406030204" pitchFamily="18" charset="0"/>
                                      <a:ea typeface="Cambria Math" panose="02040503050406030204" pitchFamily="18" charset="0"/>
                                    </a:rPr>
                                    <m:t>𝑗</m:t>
                                  </m:r>
                                </m:sub>
                              </m:sSub>
                            </m:e>
                          </m:d>
                          <m:r>
                            <a:rPr lang="en-US" altLang="zh-CN" sz="2000" i="1">
                              <a:solidFill>
                                <a:prstClr val="black"/>
                              </a:solidFill>
                              <a:latin typeface="Cambria Math" panose="02040503050406030204" pitchFamily="18" charset="0"/>
                              <a:ea typeface="Cambria Math" panose="02040503050406030204" pitchFamily="18" charset="0"/>
                            </a:rPr>
                            <m:t>=</m:t>
                          </m:r>
                          <m:sSub>
                            <m:sSubPr>
                              <m:ctrlPr>
                                <a:rPr lang="zh-CN" altLang="zh-CN" sz="2000" i="1">
                                  <a:solidFill>
                                    <a:prstClr val="black"/>
                                  </a:solidFill>
                                  <a:latin typeface="Cambria Math" panose="02040503050406030204" pitchFamily="18" charset="0"/>
                                  <a:ea typeface="Cambria Math" panose="02040503050406030204" pitchFamily="18" charset="0"/>
                                </a:rPr>
                              </m:ctrlPr>
                            </m:sSubPr>
                            <m:e>
                              <m:r>
                                <a:rPr lang="en-US" altLang="zh-CN" sz="2000" i="1">
                                  <a:solidFill>
                                    <a:prstClr val="black"/>
                                  </a:solidFill>
                                  <a:latin typeface="Cambria Math" panose="02040503050406030204" pitchFamily="18" charset="0"/>
                                  <a:ea typeface="Cambria Math" panose="02040503050406030204" pitchFamily="18" charset="0"/>
                                </a:rPr>
                                <m:t>𝑜</m:t>
                              </m:r>
                            </m:e>
                            <m:sub>
                              <m:r>
                                <a:rPr lang="en-US" altLang="zh-CN" sz="2000" i="1">
                                  <a:solidFill>
                                    <a:prstClr val="black"/>
                                  </a:solidFill>
                                  <a:latin typeface="Cambria Math" panose="02040503050406030204" pitchFamily="18" charset="0"/>
                                  <a:ea typeface="Cambria Math" panose="02040503050406030204" pitchFamily="18" charset="0"/>
                                </a:rPr>
                                <m:t>𝑗</m:t>
                              </m:r>
                            </m:sub>
                          </m:sSub>
                          <m:r>
                            <a:rPr lang="en-US" altLang="zh-CN" sz="2000" i="1">
                              <a:solidFill>
                                <a:prstClr val="black"/>
                              </a:solidFill>
                              <a:latin typeface="Cambria Math" panose="02040503050406030204" pitchFamily="18" charset="0"/>
                              <a:ea typeface="Cambria Math" panose="02040503050406030204" pitchFamily="18" charset="0"/>
                            </a:rPr>
                            <m:t>(1−</m:t>
                          </m:r>
                          <m:sSub>
                            <m:sSubPr>
                              <m:ctrlPr>
                                <a:rPr lang="zh-CN" altLang="zh-CN" sz="2000" i="1">
                                  <a:solidFill>
                                    <a:prstClr val="black"/>
                                  </a:solidFill>
                                  <a:latin typeface="Cambria Math" panose="02040503050406030204" pitchFamily="18" charset="0"/>
                                  <a:ea typeface="Cambria Math" panose="02040503050406030204" pitchFamily="18" charset="0"/>
                                </a:rPr>
                              </m:ctrlPr>
                            </m:sSubPr>
                            <m:e>
                              <m:r>
                                <a:rPr lang="en-US" altLang="zh-CN" sz="2000" i="1">
                                  <a:solidFill>
                                    <a:prstClr val="black"/>
                                  </a:solidFill>
                                  <a:latin typeface="Cambria Math" panose="02040503050406030204" pitchFamily="18" charset="0"/>
                                  <a:ea typeface="Cambria Math" panose="02040503050406030204" pitchFamily="18" charset="0"/>
                                </a:rPr>
                                <m:t>𝑜</m:t>
                              </m:r>
                            </m:e>
                            <m:sub>
                              <m:r>
                                <a:rPr lang="en-US" altLang="zh-CN" sz="2000" i="1">
                                  <a:solidFill>
                                    <a:prstClr val="black"/>
                                  </a:solidFill>
                                  <a:latin typeface="Cambria Math" panose="02040503050406030204" pitchFamily="18" charset="0"/>
                                  <a:ea typeface="Cambria Math" panose="02040503050406030204" pitchFamily="18" charset="0"/>
                                </a:rPr>
                                <m:t>𝑗</m:t>
                              </m:r>
                            </m:sub>
                          </m:sSub>
                          <m:r>
                            <a:rPr lang="en-US" altLang="zh-CN" sz="2000" i="1">
                              <a:solidFill>
                                <a:prstClr val="black"/>
                              </a:solidFill>
                              <a:latin typeface="Cambria Math" panose="02040503050406030204" pitchFamily="18" charset="0"/>
                              <a:ea typeface="Cambria Math" panose="02040503050406030204" pitchFamily="18" charset="0"/>
                            </a:rPr>
                            <m:t>)</m:t>
                          </m:r>
                        </m:e>
                      </m:nary>
                      <m:nary>
                        <m:naryPr>
                          <m:chr m:val="∑"/>
                          <m:supHide m:val="on"/>
                          <m:ctrlPr>
                            <a:rPr lang="en-US" altLang="zh-CN" sz="2000" i="1">
                              <a:solidFill>
                                <a:prstClr val="black"/>
                              </a:solidFill>
                              <a:latin typeface="Cambria Math" panose="02040503050406030204" pitchFamily="18" charset="0"/>
                              <a:ea typeface="Cambria Math" panose="02040503050406030204" pitchFamily="18" charset="0"/>
                            </a:rPr>
                          </m:ctrlPr>
                        </m:naryPr>
                        <m:sub>
                          <m:r>
                            <m:rPr>
                              <m:brk m:alnAt="7"/>
                            </m:rPr>
                            <a:rPr lang="en-US" altLang="zh-CN" sz="2000" i="1">
                              <a:solidFill>
                                <a:prstClr val="black"/>
                              </a:solidFill>
                              <a:latin typeface="Cambria Math" panose="02040503050406030204" pitchFamily="18" charset="0"/>
                              <a:ea typeface="Cambria Math" panose="02040503050406030204" pitchFamily="18" charset="0"/>
                            </a:rPr>
                            <m:t>𝑘</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smtClean="0">
                              <a:solidFill>
                                <a:prstClr val="black"/>
                              </a:solidFill>
                              <a:latin typeface="Cambria Math" panose="02040503050406030204" pitchFamily="18" charset="0"/>
                              <a:ea typeface="Cambria Math" panose="02040503050406030204" pitchFamily="18" charset="0"/>
                            </a:rPr>
                            <m:t>後繼</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𝑗</m:t>
                          </m:r>
                          <m:r>
                            <a:rPr lang="en-US" altLang="zh-CN" sz="2000" i="1">
                              <a:solidFill>
                                <a:prstClr val="black"/>
                              </a:solidFill>
                              <a:latin typeface="Cambria Math" panose="02040503050406030204" pitchFamily="18" charset="0"/>
                              <a:ea typeface="Cambria Math" panose="02040503050406030204" pitchFamily="18" charset="0"/>
                            </a:rPr>
                            <m:t>)</m:t>
                          </m:r>
                        </m:sub>
                        <m:sup/>
                        <m:e>
                          <m:sSub>
                            <m:sSubPr>
                              <m:ctrlPr>
                                <a:rPr lang="en-US" altLang="zh-CN" sz="2000" i="1" dirty="0">
                                  <a:solidFill>
                                    <a:prstClr val="black"/>
                                  </a:solidFill>
                                  <a:latin typeface="Cambria Math" panose="02040503050406030204" pitchFamily="18" charset="0"/>
                                  <a:ea typeface="Cambria Math" panose="02040503050406030204" pitchFamily="18" charset="0"/>
                                </a:rPr>
                              </m:ctrlPr>
                            </m:sSubPr>
                            <m:e>
                              <m:r>
                                <m:rPr>
                                  <m:sty m:val="p"/>
                                </m:rPr>
                                <a:rPr lang="en-US" altLang="zh-CN" sz="2000" i="1" dirty="0">
                                  <a:solidFill>
                                    <a:prstClr val="black"/>
                                  </a:solidFill>
                                  <a:latin typeface="Cambria Math" panose="02040503050406030204" pitchFamily="18" charset="0"/>
                                  <a:ea typeface="Cambria Math" panose="02040503050406030204" pitchFamily="18" charset="0"/>
                                </a:rPr>
                                <m:t>δ</m:t>
                              </m:r>
                            </m:e>
                            <m:sub>
                              <m:r>
                                <a:rPr lang="en-US" altLang="zh-CN" sz="2000" i="1" dirty="0">
                                  <a:solidFill>
                                    <a:prstClr val="black"/>
                                  </a:solidFill>
                                  <a:latin typeface="Cambria Math" panose="02040503050406030204" pitchFamily="18" charset="0"/>
                                  <a:ea typeface="Cambria Math" panose="02040503050406030204" pitchFamily="18" charset="0"/>
                                </a:rPr>
                                <m:t>𝑘</m:t>
                              </m:r>
                            </m:sub>
                          </m:sSub>
                          <m:r>
                            <a:rPr lang="en-US" altLang="zh-CN" sz="2000" i="1">
                              <a:solidFill>
                                <a:prstClr val="black"/>
                              </a:solidFill>
                              <a:latin typeface="Cambria Math" panose="02040503050406030204" pitchFamily="18" charset="0"/>
                              <a:ea typeface="Cambria Math" panose="02040503050406030204" pitchFamily="18" charset="0"/>
                            </a:rPr>
                            <m:t>·</m:t>
                          </m:r>
                          <m:sSub>
                            <m:sSubPr>
                              <m:ctrlPr>
                                <a:rPr lang="zh-CN" altLang="zh-CN" sz="2000" i="1">
                                  <a:solidFill>
                                    <a:prstClr val="black"/>
                                  </a:solidFill>
                                  <a:latin typeface="Cambria Math" panose="02040503050406030204" pitchFamily="18" charset="0"/>
                                  <a:ea typeface="Cambria Math" panose="02040503050406030204" pitchFamily="18" charset="0"/>
                                </a:rPr>
                              </m:ctrlPr>
                            </m:sSubPr>
                            <m:e>
                              <m:r>
                                <a:rPr lang="en-US" altLang="zh-CN" sz="2000" i="1">
                                  <a:solidFill>
                                    <a:prstClr val="black"/>
                                  </a:solidFill>
                                  <a:latin typeface="Cambria Math" panose="02040503050406030204" pitchFamily="18" charset="0"/>
                                  <a:ea typeface="Cambria Math" panose="02040503050406030204" pitchFamily="18" charset="0"/>
                                </a:rPr>
                                <m:t>𝑤</m:t>
                              </m:r>
                            </m:e>
                            <m:sub>
                              <m:r>
                                <a:rPr lang="en-US" altLang="zh-CN" sz="2000" i="1">
                                  <a:solidFill>
                                    <a:prstClr val="black"/>
                                  </a:solidFill>
                                  <a:latin typeface="Cambria Math" panose="02040503050406030204" pitchFamily="18" charset="0"/>
                                  <a:ea typeface="Cambria Math" panose="02040503050406030204" pitchFamily="18" charset="0"/>
                                </a:rPr>
                                <m:t>𝑘𝑗</m:t>
                              </m:r>
                            </m:sub>
                          </m:sSub>
                        </m:e>
                      </m:nary>
                    </m:oMath>
                  </m:oMathPara>
                </a14:m>
                <a:endParaRPr lang="zh-CN" altLang="en-US" sz="2000" i="1" dirty="0">
                  <a:solidFill>
                    <a:prstClr val="black"/>
                  </a:solidFill>
                  <a:latin typeface="Cambria Math" panose="02040503050406030204" pitchFamily="18" charset="0"/>
                  <a:ea typeface="Cambria Math" panose="02040503050406030204" pitchFamily="18" charset="0"/>
                </a:endParaRPr>
              </a:p>
            </p:txBody>
          </p:sp>
        </mc:Choice>
        <mc:Fallback>
          <p:sp>
            <p:nvSpPr>
              <p:cNvPr id="55" name="矩形 54"/>
              <p:cNvSpPr>
                <a:spLocks noRot="1" noChangeAspect="1" noMove="1" noResize="1" noEditPoints="1" noAdjustHandles="1" noChangeArrowheads="1" noChangeShapeType="1" noTextEdit="1"/>
              </p:cNvSpPr>
              <p:nvPr/>
            </p:nvSpPr>
            <p:spPr>
              <a:xfrm>
                <a:off x="615882" y="5168690"/>
                <a:ext cx="7320466" cy="947695"/>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矩形 58"/>
              <p:cNvSpPr/>
              <p:nvPr/>
            </p:nvSpPr>
            <p:spPr>
              <a:xfrm>
                <a:off x="5128527" y="206822"/>
                <a:ext cx="2259208" cy="92999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32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𝐸</m:t>
                            </m:r>
                          </m:e>
                          <m:sub>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𝑤</m:t>
                            </m:r>
                          </m:e>
                          <m:sub>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den>
                    </m:f>
                  </m:oMath>
                </a14:m>
                <a:r>
                  <a:rPr kumimoji="0" lang="en-US" altLang="zh-CN" sz="3200" b="0" i="0"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a:t>=</a:t>
                </a:r>
                <a14:m>
                  <m:oMath xmlns:m="http://schemas.openxmlformats.org/officeDocument/2006/math">
                    <m:sSub>
                      <m:sSubPr>
                        <m:ctrlPr>
                          <a:rPr kumimoji="0" lang="en-US" altLang="zh-CN" sz="32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CN" sz="32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m:rPr>
                            <m:sty m:val="p"/>
                          </m:rPr>
                          <a:rPr kumimoji="0" lang="en-US" altLang="zh-CN" sz="32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32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sSub>
                      <m:sSubPr>
                        <m:ctrlPr>
                          <a:rPr kumimoji="0" lang="zh-CN" altLang="zh-CN" sz="3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𝑥</m:t>
                        </m:r>
                      </m:e>
                      <m:sub>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oMath>
                </a14:m>
                <a:endParaRPr kumimoji="0" lang="zh-CN" altLang="en-US" sz="32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59" name="矩形 58"/>
              <p:cNvSpPr>
                <a:spLocks noRot="1" noChangeAspect="1" noMove="1" noResize="1" noEditPoints="1" noAdjustHandles="1" noChangeArrowheads="1" noChangeShapeType="1" noTextEdit="1"/>
              </p:cNvSpPr>
              <p:nvPr/>
            </p:nvSpPr>
            <p:spPr>
              <a:xfrm>
                <a:off x="5128527" y="206822"/>
                <a:ext cx="2259208" cy="929998"/>
              </a:xfrm>
              <a:prstGeom prst="rect">
                <a:avLst/>
              </a:prstGeom>
              <a:blipFill>
                <a:blip r:embed="rId13"/>
                <a:stretch>
                  <a:fillRect/>
                </a:stretch>
              </a:blipFill>
            </p:spPr>
            <p:txBody>
              <a:bodyPr/>
              <a:lstStyle/>
              <a:p>
                <a:r>
                  <a:rPr lang="zh-CN" altLang="en-US">
                    <a:noFill/>
                  </a:rPr>
                  <a:t> </a:t>
                </a:r>
              </a:p>
            </p:txBody>
          </p:sp>
        </mc:Fallback>
      </mc:AlternateContent>
      <p:sp>
        <p:nvSpPr>
          <p:cNvPr id="22" name="弧形 21">
            <a:extLst>
              <a:ext uri="{FF2B5EF4-FFF2-40B4-BE49-F238E27FC236}">
                <a16:creationId xmlns:a16="http://schemas.microsoft.com/office/drawing/2014/main" id="{6674D0DA-8A07-443B-B97C-14EC5CCF6311}"/>
              </a:ext>
            </a:extLst>
          </p:cNvPr>
          <p:cNvSpPr/>
          <p:nvPr/>
        </p:nvSpPr>
        <p:spPr>
          <a:xfrm rot="16200000">
            <a:off x="2809840" y="-1318406"/>
            <a:ext cx="815421" cy="3818167"/>
          </a:xfrm>
          <a:prstGeom prst="arc">
            <a:avLst>
              <a:gd name="adj1" fmla="val 16247296"/>
              <a:gd name="adj2" fmla="val 5250400"/>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92594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5" grpId="0"/>
      <p:bldP spid="19" grpId="0"/>
      <p:bldP spid="35" grpId="0"/>
      <p:bldP spid="38" grpId="0"/>
      <p:bldP spid="42" grpId="0"/>
      <p:bldP spid="55" grpId="0"/>
      <p:bldP spid="59" grpId="0"/>
      <p:bldP spid="2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梯度計算</a:t>
            </a:r>
          </a:p>
        </p:txBody>
      </p:sp>
      <p:grpSp>
        <p:nvGrpSpPr>
          <p:cNvPr id="56" name="组合 55"/>
          <p:cNvGrpSpPr/>
          <p:nvPr/>
        </p:nvGrpSpPr>
        <p:grpSpPr>
          <a:xfrm>
            <a:off x="6171522" y="1190959"/>
            <a:ext cx="3703343" cy="4690401"/>
            <a:chOff x="7103334" y="1208376"/>
            <a:chExt cx="3703343" cy="4690401"/>
          </a:xfrm>
        </p:grpSpPr>
        <p:cxnSp>
          <p:nvCxnSpPr>
            <p:cNvPr id="4" name="直接箭头连接符 3"/>
            <p:cNvCxnSpPr/>
            <p:nvPr/>
          </p:nvCxnSpPr>
          <p:spPr>
            <a:xfrm flipH="1" flipV="1">
              <a:off x="7724504" y="1243198"/>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5" name="直接箭头连接符 4"/>
            <p:cNvCxnSpPr/>
            <p:nvPr/>
          </p:nvCxnSpPr>
          <p:spPr>
            <a:xfrm flipH="1" flipV="1">
              <a:off x="9774105" y="1223883"/>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6" name="椭圆 5"/>
            <p:cNvSpPr/>
            <p:nvPr/>
          </p:nvSpPr>
          <p:spPr>
            <a:xfrm>
              <a:off x="9640525" y="1713237"/>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 name="椭圆 6"/>
            <p:cNvSpPr/>
            <p:nvPr/>
          </p:nvSpPr>
          <p:spPr>
            <a:xfrm>
              <a:off x="7569494" y="1738993"/>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8" name="直接箭头连接符 7"/>
            <p:cNvCxnSpPr>
              <a:stCxn id="29" idx="0"/>
              <a:endCxn id="7" idx="4"/>
            </p:cNvCxnSpPr>
            <p:nvPr/>
          </p:nvCxnSpPr>
          <p:spPr>
            <a:xfrm flipV="1">
              <a:off x="7623074" y="2030004"/>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9" name="直接箭头连接符 8"/>
            <p:cNvCxnSpPr>
              <a:stCxn id="29" idx="0"/>
              <a:endCxn id="6" idx="4"/>
            </p:cNvCxnSpPr>
            <p:nvPr/>
          </p:nvCxnSpPr>
          <p:spPr>
            <a:xfrm flipV="1">
              <a:off x="7623074" y="2004248"/>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0" name="直接箭头连接符 9"/>
            <p:cNvCxnSpPr>
              <a:stCxn id="30" idx="0"/>
              <a:endCxn id="6" idx="4"/>
            </p:cNvCxnSpPr>
            <p:nvPr/>
          </p:nvCxnSpPr>
          <p:spPr>
            <a:xfrm flipV="1">
              <a:off x="8786299" y="2004248"/>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1" name="直接箭头连接符 10"/>
            <p:cNvCxnSpPr>
              <a:stCxn id="31" idx="0"/>
              <a:endCxn id="7" idx="4"/>
            </p:cNvCxnSpPr>
            <p:nvPr/>
          </p:nvCxnSpPr>
          <p:spPr>
            <a:xfrm flipH="1" flipV="1">
              <a:off x="7713256" y="2030004"/>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p:cNvCxnSpPr>
              <a:stCxn id="31" idx="0"/>
              <a:endCxn id="6" idx="4"/>
            </p:cNvCxnSpPr>
            <p:nvPr/>
          </p:nvCxnSpPr>
          <p:spPr>
            <a:xfrm flipH="1" flipV="1">
              <a:off x="9784287" y="2004248"/>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30" idx="0"/>
              <a:endCxn id="7" idx="4"/>
            </p:cNvCxnSpPr>
            <p:nvPr/>
          </p:nvCxnSpPr>
          <p:spPr>
            <a:xfrm flipH="1" flipV="1">
              <a:off x="7713256" y="2030004"/>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14" name="椭圆 13"/>
            <p:cNvSpPr/>
            <p:nvPr/>
          </p:nvSpPr>
          <p:spPr>
            <a:xfrm>
              <a:off x="7478630" y="440468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5" name="椭圆 14"/>
            <p:cNvSpPr/>
            <p:nvPr/>
          </p:nvSpPr>
          <p:spPr>
            <a:xfrm>
              <a:off x="8641858" y="440468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6" name="椭圆 15"/>
            <p:cNvSpPr/>
            <p:nvPr/>
          </p:nvSpPr>
          <p:spPr>
            <a:xfrm>
              <a:off x="9965753" y="443044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7" name="椭圆 16"/>
            <p:cNvSpPr/>
            <p:nvPr/>
          </p:nvSpPr>
          <p:spPr>
            <a:xfrm>
              <a:off x="10519154" y="560875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8" name="椭圆 17"/>
            <p:cNvSpPr/>
            <p:nvPr/>
          </p:nvSpPr>
          <p:spPr>
            <a:xfrm>
              <a:off x="8641862" y="55894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7103334" y="55894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0" name="直接箭头连接符 19"/>
            <p:cNvCxnSpPr>
              <a:stCxn id="19" idx="0"/>
              <a:endCxn id="14" idx="4"/>
            </p:cNvCxnSpPr>
            <p:nvPr/>
          </p:nvCxnSpPr>
          <p:spPr>
            <a:xfrm flipV="1">
              <a:off x="7247094" y="4694706"/>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1" name="直接箭头连接符 20"/>
            <p:cNvCxnSpPr>
              <a:stCxn id="19" idx="0"/>
              <a:endCxn id="15" idx="4"/>
            </p:cNvCxnSpPr>
            <p:nvPr/>
          </p:nvCxnSpPr>
          <p:spPr>
            <a:xfrm flipV="1">
              <a:off x="7247096" y="4694706"/>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2" name="直接箭头连接符 21"/>
            <p:cNvCxnSpPr>
              <a:stCxn id="18" idx="0"/>
              <a:endCxn id="14" idx="4"/>
            </p:cNvCxnSpPr>
            <p:nvPr/>
          </p:nvCxnSpPr>
          <p:spPr>
            <a:xfrm flipH="1" flipV="1">
              <a:off x="7622392" y="4694706"/>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3" name="直接箭头连接符 22"/>
            <p:cNvCxnSpPr>
              <a:stCxn id="19" idx="0"/>
              <a:endCxn id="16" idx="4"/>
            </p:cNvCxnSpPr>
            <p:nvPr/>
          </p:nvCxnSpPr>
          <p:spPr>
            <a:xfrm flipV="1">
              <a:off x="7247094" y="4720459"/>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24" name="直接箭头连接符 23"/>
            <p:cNvCxnSpPr>
              <a:stCxn id="18" idx="0"/>
              <a:endCxn id="15" idx="4"/>
            </p:cNvCxnSpPr>
            <p:nvPr/>
          </p:nvCxnSpPr>
          <p:spPr>
            <a:xfrm flipH="1" flipV="1">
              <a:off x="8785620" y="4694706"/>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18" idx="0"/>
              <a:endCxn id="16" idx="4"/>
            </p:cNvCxnSpPr>
            <p:nvPr/>
          </p:nvCxnSpPr>
          <p:spPr>
            <a:xfrm flipV="1">
              <a:off x="8785624" y="4720461"/>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17" idx="0"/>
              <a:endCxn id="16" idx="4"/>
            </p:cNvCxnSpPr>
            <p:nvPr/>
          </p:nvCxnSpPr>
          <p:spPr>
            <a:xfrm flipH="1" flipV="1">
              <a:off x="10109515" y="4720459"/>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17" idx="0"/>
              <a:endCxn id="15" idx="4"/>
            </p:cNvCxnSpPr>
            <p:nvPr/>
          </p:nvCxnSpPr>
          <p:spPr>
            <a:xfrm flipH="1" flipV="1">
              <a:off x="8785620" y="4694706"/>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17" idx="0"/>
              <a:endCxn id="14" idx="4"/>
            </p:cNvCxnSpPr>
            <p:nvPr/>
          </p:nvCxnSpPr>
          <p:spPr>
            <a:xfrm flipH="1" flipV="1">
              <a:off x="7622392" y="4694706"/>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29" name="椭圆 28"/>
            <p:cNvSpPr/>
            <p:nvPr/>
          </p:nvSpPr>
          <p:spPr>
            <a:xfrm>
              <a:off x="7479312" y="307827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0" name="椭圆 29"/>
            <p:cNvSpPr/>
            <p:nvPr/>
          </p:nvSpPr>
          <p:spPr>
            <a:xfrm>
              <a:off x="8642537" y="307827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1" name="椭圆 30"/>
            <p:cNvSpPr/>
            <p:nvPr/>
          </p:nvSpPr>
          <p:spPr>
            <a:xfrm>
              <a:off x="9940308" y="3104035"/>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2" name="文本框 112"/>
            <p:cNvSpPr txBox="1"/>
            <p:nvPr/>
          </p:nvSpPr>
          <p:spPr>
            <a:xfrm>
              <a:off x="9211899" y="304585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33" name="直接箭头连接符 32"/>
            <p:cNvCxnSpPr>
              <a:stCxn id="14" idx="0"/>
              <a:endCxn id="29" idx="4"/>
            </p:cNvCxnSpPr>
            <p:nvPr/>
          </p:nvCxnSpPr>
          <p:spPr>
            <a:xfrm flipV="1">
              <a:off x="7622392" y="3368297"/>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p:cNvCxnSpPr>
              <a:stCxn id="15" idx="0"/>
              <a:endCxn id="30" idx="4"/>
            </p:cNvCxnSpPr>
            <p:nvPr/>
          </p:nvCxnSpPr>
          <p:spPr>
            <a:xfrm flipV="1">
              <a:off x="8785620" y="3368297"/>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p:cNvCxnSpPr>
              <a:stCxn id="16" idx="0"/>
              <a:endCxn id="31" idx="4"/>
            </p:cNvCxnSpPr>
            <p:nvPr/>
          </p:nvCxnSpPr>
          <p:spPr>
            <a:xfrm flipH="1" flipV="1">
              <a:off x="10084071" y="3394053"/>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p:cNvCxnSpPr>
              <a:stCxn id="14" idx="0"/>
              <a:endCxn id="30" idx="4"/>
            </p:cNvCxnSpPr>
            <p:nvPr/>
          </p:nvCxnSpPr>
          <p:spPr>
            <a:xfrm flipV="1">
              <a:off x="7622392" y="3368297"/>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p:cNvCxnSpPr>
              <a:stCxn id="14" idx="0"/>
              <a:endCxn id="31" idx="4"/>
            </p:cNvCxnSpPr>
            <p:nvPr/>
          </p:nvCxnSpPr>
          <p:spPr>
            <a:xfrm flipV="1">
              <a:off x="7622392" y="3394053"/>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15" idx="0"/>
              <a:endCxn id="29" idx="4"/>
            </p:cNvCxnSpPr>
            <p:nvPr/>
          </p:nvCxnSpPr>
          <p:spPr>
            <a:xfrm flipH="1" flipV="1">
              <a:off x="7623074" y="3368297"/>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39" name="直接箭头连接符 38"/>
            <p:cNvCxnSpPr>
              <a:stCxn id="15" idx="0"/>
              <a:endCxn id="31" idx="4"/>
            </p:cNvCxnSpPr>
            <p:nvPr/>
          </p:nvCxnSpPr>
          <p:spPr>
            <a:xfrm flipV="1">
              <a:off x="8785620" y="3394053"/>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p:cNvCxnSpPr>
              <a:stCxn id="16" idx="0"/>
              <a:endCxn id="30" idx="4"/>
            </p:cNvCxnSpPr>
            <p:nvPr/>
          </p:nvCxnSpPr>
          <p:spPr>
            <a:xfrm flipH="1" flipV="1">
              <a:off x="8786299" y="3368297"/>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p:cNvCxnSpPr>
              <a:stCxn id="16" idx="0"/>
              <a:endCxn id="29" idx="4"/>
            </p:cNvCxnSpPr>
            <p:nvPr/>
          </p:nvCxnSpPr>
          <p:spPr>
            <a:xfrm flipH="1" flipV="1">
              <a:off x="7623074" y="3368297"/>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42" name="文本框 112"/>
            <p:cNvSpPr txBox="1"/>
            <p:nvPr/>
          </p:nvSpPr>
          <p:spPr>
            <a:xfrm>
              <a:off x="8050778" y="1695834"/>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43" name="直接箭头连接符 42"/>
            <p:cNvCxnSpPr/>
            <p:nvPr/>
          </p:nvCxnSpPr>
          <p:spPr>
            <a:xfrm flipH="1" flipV="1">
              <a:off x="8822717" y="1208376"/>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44" name="椭圆 43"/>
            <p:cNvSpPr/>
            <p:nvPr/>
          </p:nvSpPr>
          <p:spPr>
            <a:xfrm>
              <a:off x="8676416" y="1704171"/>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45" name="直接箭头连接符 44"/>
            <p:cNvCxnSpPr>
              <a:stCxn id="29" idx="0"/>
              <a:endCxn id="44" idx="4"/>
            </p:cNvCxnSpPr>
            <p:nvPr/>
          </p:nvCxnSpPr>
          <p:spPr>
            <a:xfrm flipV="1">
              <a:off x="7623074" y="1995182"/>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p:cNvCxnSpPr>
              <a:stCxn id="31" idx="0"/>
              <a:endCxn id="44" idx="4"/>
            </p:cNvCxnSpPr>
            <p:nvPr/>
          </p:nvCxnSpPr>
          <p:spPr>
            <a:xfrm flipH="1" flipV="1">
              <a:off x="8820178" y="1995182"/>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p:cNvCxnSpPr>
              <a:stCxn id="30" idx="0"/>
              <a:endCxn id="44" idx="4"/>
            </p:cNvCxnSpPr>
            <p:nvPr/>
          </p:nvCxnSpPr>
          <p:spPr>
            <a:xfrm flipV="1">
              <a:off x="8786299" y="1995182"/>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48" name="文本框 112"/>
            <p:cNvSpPr txBox="1"/>
            <p:nvPr/>
          </p:nvSpPr>
          <p:spPr>
            <a:xfrm>
              <a:off x="9115606" y="1680264"/>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9" name="文本框 112"/>
            <p:cNvSpPr txBox="1"/>
            <p:nvPr/>
          </p:nvSpPr>
          <p:spPr>
            <a:xfrm>
              <a:off x="8017529" y="304639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0" name="文本框 112"/>
            <p:cNvSpPr txBox="1"/>
            <p:nvPr/>
          </p:nvSpPr>
          <p:spPr>
            <a:xfrm>
              <a:off x="9055307" y="433485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1" name="文本框 112"/>
            <p:cNvSpPr txBox="1"/>
            <p:nvPr/>
          </p:nvSpPr>
          <p:spPr>
            <a:xfrm>
              <a:off x="7860937" y="4335396"/>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54" name="矩形 53"/>
              <p:cNvSpPr/>
              <p:nvPr/>
            </p:nvSpPr>
            <p:spPr>
              <a:xfrm>
                <a:off x="2804637" y="1576129"/>
                <a:ext cx="3806363" cy="5579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zh-CN" sz="24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𝑡</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a14:m>
                <a:r>
                  <a:rPr kumimoji="0" lang="zh-CN" altLang="zh-CN" sz="2800" b="0" i="0"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rPr>
                  <a:t> </a:t>
                </a:r>
                <a14:m>
                  <m:oMath xmlns:m="http://schemas.openxmlformats.org/officeDocument/2006/math">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(1−</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a14:m>
                <a:endPar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endParaRPr>
              </a:p>
            </p:txBody>
          </p:sp>
        </mc:Choice>
        <mc:Fallback xmlns="">
          <p:sp>
            <p:nvSpPr>
              <p:cNvPr id="54" name="矩形 53"/>
              <p:cNvSpPr>
                <a:spLocks noRot="1" noChangeAspect="1" noMove="1" noResize="1" noEditPoints="1" noAdjustHandles="1" noChangeArrowheads="1" noChangeShapeType="1" noTextEdit="1"/>
              </p:cNvSpPr>
              <p:nvPr/>
            </p:nvSpPr>
            <p:spPr>
              <a:xfrm>
                <a:off x="2804637" y="1576129"/>
                <a:ext cx="3806363" cy="55791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矩形 54"/>
              <p:cNvSpPr/>
              <p:nvPr/>
            </p:nvSpPr>
            <p:spPr>
              <a:xfrm>
                <a:off x="9509889" y="1435181"/>
                <a:ext cx="1998047" cy="82529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𝐸</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𝑤</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den>
                    </m:f>
                  </m:oMath>
                </a14:m>
                <a:r>
                  <a:rPr kumimoji="0" lang="en-US" altLang="zh-CN" sz="2800" b="0" i="0"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a:t>=</a:t>
                </a:r>
                <a14:m>
                  <m:oMath xmlns:m="http://schemas.openxmlformats.org/officeDocument/2006/math">
                    <m:sSub>
                      <m:sSubPr>
                        <m:ctrlPr>
                          <a:rPr kumimoji="0" lang="en-US" altLang="zh-CN" sz="28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CN" sz="28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m:rPr>
                            <m:sty m:val="p"/>
                          </m:rPr>
                          <a:rPr kumimoji="0" lang="en-US" altLang="zh-CN" sz="28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8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sSub>
                      <m:sSubPr>
                        <m:ctrlPr>
                          <a:rPr kumimoji="0" lang="zh-CN" altLang="zh-CN"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𝑥</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oMath>
                </a14:m>
                <a:endParaRPr kumimoji="0" lang="zh-CN" altLang="en-US" sz="2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55" name="矩形 54"/>
              <p:cNvSpPr>
                <a:spLocks noRot="1" noChangeAspect="1" noMove="1" noResize="1" noEditPoints="1" noAdjustHandles="1" noChangeArrowheads="1" noChangeShapeType="1" noTextEdit="1"/>
              </p:cNvSpPr>
              <p:nvPr/>
            </p:nvSpPr>
            <p:spPr>
              <a:xfrm>
                <a:off x="9509889" y="1435181"/>
                <a:ext cx="1998047" cy="82529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矩形 56"/>
              <p:cNvSpPr/>
              <p:nvPr/>
            </p:nvSpPr>
            <p:spPr>
              <a:xfrm>
                <a:off x="2319948" y="2837770"/>
                <a:ext cx="3809633" cy="94769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zh-CN" sz="20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0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0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(1−</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nary>
                        <m:naryPr>
                          <m:chr m:val="∑"/>
                          <m:supHide m:val="on"/>
                          <m:ctrlP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ctrlPr>
                        </m:naryPr>
                        <m:sub>
                          <m:r>
                            <m:rPr>
                              <m:brk m:alnAt="7"/>
                            </m:rP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後繼</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ub>
                        <m:sup/>
                        <m:e>
                          <m:sSub>
                            <m:sSubPr>
                              <m:ctrlPr>
                                <a:rPr kumimoji="0" lang="en-US" altLang="zh-CN" sz="20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zh-CN" sz="20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0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𝑤</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𝑘𝑗</m:t>
                              </m:r>
                            </m:sub>
                          </m:sSub>
                        </m:e>
                      </m:nary>
                    </m:oMath>
                  </m:oMathPara>
                </a14:m>
                <a:endPar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57" name="矩形 56"/>
              <p:cNvSpPr>
                <a:spLocks noRot="1" noChangeAspect="1" noMove="1" noResize="1" noEditPoints="1" noAdjustHandles="1" noChangeArrowheads="1" noChangeShapeType="1" noTextEdit="1"/>
              </p:cNvSpPr>
              <p:nvPr/>
            </p:nvSpPr>
            <p:spPr>
              <a:xfrm>
                <a:off x="2319948" y="2837770"/>
                <a:ext cx="3809633" cy="94769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矩形 57"/>
              <p:cNvSpPr/>
              <p:nvPr/>
            </p:nvSpPr>
            <p:spPr>
              <a:xfrm>
                <a:off x="9580884" y="2709526"/>
                <a:ext cx="2259208" cy="92999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zh-CN" altLang="zh-CN" sz="32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𝐸</m:t>
                            </m:r>
                          </m:e>
                          <m:sub>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𝑑</m:t>
                            </m:r>
                          </m:sub>
                        </m:sSub>
                      </m:num>
                      <m:den>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zh-CN" altLang="zh-CN" sz="3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𝑤</m:t>
                            </m:r>
                          </m:e>
                          <m:sub>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den>
                    </m:f>
                  </m:oMath>
                </a14:m>
                <a:r>
                  <a:rPr kumimoji="0" lang="en-US" altLang="zh-CN" sz="3200" b="0" i="0"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a:t>=</a:t>
                </a:r>
                <a14:m>
                  <m:oMath xmlns:m="http://schemas.openxmlformats.org/officeDocument/2006/math">
                    <m:sSub>
                      <m:sSubPr>
                        <m:ctrlPr>
                          <a:rPr kumimoji="0" lang="en-US" altLang="zh-CN" sz="32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CN" sz="3200" b="0" i="1" u="none" strike="noStrike" kern="1200" cap="none" spc="0" normalizeH="0" baseline="0" noProof="0" dirty="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m:rPr>
                            <m:sty m:val="p"/>
                          </m:rPr>
                          <a:rPr kumimoji="0" lang="en-US" altLang="zh-CN" sz="32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32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sSub>
                      <m:sSubPr>
                        <m:ctrlPr>
                          <a:rPr kumimoji="0" lang="zh-CN" altLang="zh-CN" sz="3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𝑥</m:t>
                        </m:r>
                      </m:e>
                      <m:sub>
                        <m:r>
                          <a:rPr kumimoji="0" lang="en-US" altLang="zh-CN" sz="3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oMath>
                </a14:m>
                <a:endParaRPr kumimoji="0" lang="zh-CN" altLang="en-US" sz="32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58" name="矩形 57"/>
              <p:cNvSpPr>
                <a:spLocks noRot="1" noChangeAspect="1" noMove="1" noResize="1" noEditPoints="1" noAdjustHandles="1" noChangeArrowheads="1" noChangeShapeType="1" noTextEdit="1"/>
              </p:cNvSpPr>
              <p:nvPr/>
            </p:nvSpPr>
            <p:spPr>
              <a:xfrm>
                <a:off x="9580884" y="2709526"/>
                <a:ext cx="2259208" cy="92999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2" name="矩形 61"/>
              <p:cNvSpPr/>
              <p:nvPr/>
            </p:nvSpPr>
            <p:spPr>
              <a:xfrm>
                <a:off x="779099" y="4323173"/>
                <a:ext cx="5582106" cy="126816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𝑗𝑖</m:t>
                          </m:r>
                        </m:sub>
                      </m:sSub>
                      <m:r>
                        <a:rPr kumimoji="0" lang="en-US"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m:rPr>
                          <m:sty m:val="p"/>
                        </m:rPr>
                        <a:rPr kumimoji="0" lang="zh-CN" altLang="zh-CN" sz="2400" b="0" i="0" u="none" strike="noStrike" kern="1200" cap="none" spc="0" normalizeH="0" baseline="0" noProof="0">
                          <a:ln>
                            <a:noFill/>
                          </a:ln>
                          <a:solidFill>
                            <a:srgbClr val="FF0000"/>
                          </a:solidFill>
                          <a:effectLst/>
                          <a:uLnTx/>
                          <a:uFillTx/>
                          <a:latin typeface="Cambria Math" panose="02040503050406030204" pitchFamily="18" charset="0"/>
                          <a:cs typeface="+mn-cs"/>
                        </a:rPr>
                        <m:t>η</m:t>
                      </m:r>
                      <m:f>
                        <m:f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𝐸</m:t>
                              </m:r>
                            </m:e>
                            <m:sub>
                              <m:r>
                                <a:rPr kumimoji="0" lang="en-US"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𝑑</m:t>
                              </m:r>
                            </m:sub>
                          </m:sSub>
                        </m:num>
                        <m:den>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𝑗𝑖</m:t>
                              </m:r>
                            </m:sub>
                          </m:sSub>
                        </m:den>
                      </m:f>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m:rPr>
                          <m:sty m:val="p"/>
                        </m:rPr>
                        <a:rPr kumimoji="0" lang="zh-CN" altLang="zh-CN" sz="2400" b="0" i="0" u="none" strike="noStrike" kern="1200" cap="none" spc="0" normalizeH="0" baseline="0" noProof="0">
                          <a:ln>
                            <a:noFill/>
                          </a:ln>
                          <a:solidFill>
                            <a:srgbClr val="FF0000"/>
                          </a:solidFill>
                          <a:effectLst/>
                          <a:uLnTx/>
                          <a:uFillTx/>
                          <a:latin typeface="Cambria Math" panose="02040503050406030204" pitchFamily="18" charset="0"/>
                          <a:cs typeface="+mn-cs"/>
                        </a:rPr>
                        <m:t>η</m:t>
                      </m:r>
                      <m:f>
                        <m:f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𝐸</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𝑑</m:t>
                              </m:r>
                            </m:sub>
                          </m:sSub>
                        </m:num>
                        <m:den>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𝑛𝑒𝑡</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Sub>
                        </m:den>
                      </m:f>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en-US"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b>
                      </m:sSub>
                      <m:r>
                        <a:rPr kumimoji="0" lang="en-US" altLang="zh-CN"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m:rPr>
                          <m:sty m:val="p"/>
                        </m:rPr>
                        <a:rPr kumimoji="0" lang="zh-CN" altLang="zh-CN" sz="2400" b="0" i="0" u="none" strike="noStrike" kern="1200" cap="none" spc="0" normalizeH="0" baseline="0" noProof="0">
                          <a:ln>
                            <a:noFill/>
                          </a:ln>
                          <a:solidFill>
                            <a:srgbClr val="FF0000"/>
                          </a:solidFill>
                          <a:effectLst/>
                          <a:uLnTx/>
                          <a:uFillTx/>
                          <a:latin typeface="Cambria Math" panose="02040503050406030204" pitchFamily="18" charset="0"/>
                          <a:cs typeface="+mn-cs"/>
                        </a:rPr>
                        <m:t>η</m:t>
                      </m:r>
                      <m:sSub>
                        <m:sSubPr>
                          <m:ctrlPr>
                            <a:rPr kumimoji="0" lang="en-US" altLang="zh-CN" sz="24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altLang="zh-CN" sz="24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δ</m:t>
                          </m:r>
                        </m:e>
                        <m:sub>
                          <m:r>
                            <a:rPr kumimoji="0" lang="en-US" altLang="zh-CN" sz="24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𝑗</m:t>
                          </m:r>
                        </m:sub>
                      </m:sSub>
                      <m:sSub>
                        <m:sSubPr>
                          <m:ctrlPr>
                            <a:rPr kumimoji="0" lang="zh-CN" altLang="zh-CN"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𝑥</m:t>
                          </m:r>
                        </m:e>
                        <m:sub>
                          <m:r>
                            <a:rPr kumimoji="0" lang="en-US" altLang="zh-CN"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𝑗𝑖</m:t>
                          </m:r>
                        </m:sub>
                      </m:sSub>
                    </m:oMath>
                  </m:oMathPara>
                </a14:m>
                <a:br>
                  <a:rPr kumimoji="0" lang="en-US" altLang="zh-CN" sz="2400" b="0" i="0" u="none" strike="noStrike" kern="1200" cap="none" spc="0" normalizeH="0" baseline="0" noProof="0" dirty="0">
                    <a:ln>
                      <a:noFill/>
                    </a:ln>
                    <a:solidFill>
                      <a:srgbClr val="FF0000"/>
                    </a:solidFill>
                    <a:effectLst/>
                    <a:uLnTx/>
                    <a:uFillTx/>
                    <a:latin typeface="Perpetua"/>
                    <a:ea typeface="Cambria Math" panose="02040503050406030204" pitchFamily="18" charset="0"/>
                    <a:cs typeface="+mn-cs"/>
                  </a:rPr>
                </a:br>
                <a:r>
                  <a:rPr kumimoji="0" lang="en-US" altLang="zh-CN" sz="2400" b="0" i="0" u="none" strike="noStrike" kern="1200" cap="none" spc="0" normalizeH="0" baseline="0" noProof="0" dirty="0">
                    <a:ln>
                      <a:noFill/>
                    </a:ln>
                    <a:solidFill>
                      <a:srgbClr val="FF0000"/>
                    </a:solidFill>
                    <a:effectLst/>
                    <a:uLnTx/>
                    <a:uFillTx/>
                    <a:latin typeface="Perpetua"/>
                    <a:ea typeface="Cambria Math" panose="02040503050406030204" pitchFamily="18" charset="0"/>
                    <a:cs typeface="+mn-cs"/>
                  </a:rPr>
                  <a:t> </a:t>
                </a:r>
                <a14:m>
                  <m:oMath xmlns:m="http://schemas.openxmlformats.org/officeDocument/2006/math">
                    <m:r>
                      <a:rPr kumimoji="0" lang="zh-CN" altLang="en-US" sz="2400" b="0" i="1"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mn-cs"/>
                      </a:rPr>
                      <m:t>其中</m:t>
                    </m:r>
                    <m:r>
                      <m:rPr>
                        <m:sty m:val="p"/>
                      </m:rPr>
                      <a:rPr kumimoji="0" lang="zh-CN" altLang="zh-CN" sz="2400" b="0" i="0" u="none" strike="noStrike" kern="1200" cap="none" spc="0" normalizeH="0" baseline="0" noProof="0">
                        <a:ln>
                          <a:noFill/>
                        </a:ln>
                        <a:solidFill>
                          <a:srgbClr val="FF0000"/>
                        </a:solidFill>
                        <a:effectLst/>
                        <a:uLnTx/>
                        <a:uFillTx/>
                        <a:latin typeface="Cambria Math" panose="02040503050406030204" pitchFamily="18" charset="0"/>
                        <a:cs typeface="+mn-cs"/>
                      </a:rPr>
                      <m:t>η</m:t>
                    </m:r>
                  </m:oMath>
                </a14:m>
                <a:r>
                  <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為學習速率</a:t>
                </a:r>
              </a:p>
            </p:txBody>
          </p:sp>
        </mc:Choice>
        <mc:Fallback>
          <p:sp>
            <p:nvSpPr>
              <p:cNvPr id="62" name="矩形 61"/>
              <p:cNvSpPr>
                <a:spLocks noRot="1" noChangeAspect="1" noMove="1" noResize="1" noEditPoints="1" noAdjustHandles="1" noChangeArrowheads="1" noChangeShapeType="1" noTextEdit="1"/>
              </p:cNvSpPr>
              <p:nvPr/>
            </p:nvSpPr>
            <p:spPr>
              <a:xfrm>
                <a:off x="779099" y="4323173"/>
                <a:ext cx="5582106" cy="1268168"/>
              </a:xfrm>
              <a:prstGeom prst="rect">
                <a:avLst/>
              </a:prstGeom>
              <a:blipFill>
                <a:blip r:embed="rId6"/>
                <a:stretch>
                  <a:fillRect b="-6731"/>
                </a:stretch>
              </a:blipFill>
            </p:spPr>
            <p:txBody>
              <a:bodyPr/>
              <a:lstStyle/>
              <a:p>
                <a:r>
                  <a:rPr lang="zh-TW" altLang="en-US">
                    <a:noFill/>
                  </a:rPr>
                  <a:t> </a:t>
                </a:r>
              </a:p>
            </p:txBody>
          </p:sp>
        </mc:Fallback>
      </mc:AlternateContent>
      <p:sp>
        <p:nvSpPr>
          <p:cNvPr id="64" name="矩形 63"/>
          <p:cNvSpPr/>
          <p:nvPr/>
        </p:nvSpPr>
        <p:spPr>
          <a:xfrm>
            <a:off x="9635268" y="4301449"/>
            <a:ext cx="800219"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同上</a:t>
            </a:r>
          </a:p>
        </p:txBody>
      </p:sp>
    </p:spTree>
    <p:extLst>
      <p:ext uri="{BB962C8B-B14F-4D97-AF65-F5344CB8AC3E}">
        <p14:creationId xmlns:p14="http://schemas.microsoft.com/office/powerpoint/2010/main" val="3193578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7" grpId="0"/>
      <p:bldP spid="58" grpId="0"/>
      <p:bldP spid="62" grpId="0"/>
      <p:bldP spid="6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反向傳播演算法（</a:t>
            </a:r>
            <a:r>
              <a:rPr lang="en-US" altLang="zh-CN" dirty="0"/>
              <a:t>BP</a:t>
            </a:r>
            <a:r>
              <a:rPr lang="zh-CN" altLang="en-US" dirty="0"/>
              <a:t>：</a:t>
            </a:r>
            <a:r>
              <a:rPr lang="en-US" altLang="zh-CN" dirty="0"/>
              <a:t>Back Propagation</a:t>
            </a:r>
            <a:r>
              <a:rPr lang="zh-CN" altLang="en-US" dirty="0"/>
              <a:t>）</a:t>
            </a:r>
          </a:p>
        </p:txBody>
      </p:sp>
      <p:sp>
        <p:nvSpPr>
          <p:cNvPr id="3" name="内容占位符 2"/>
          <p:cNvSpPr>
            <a:spLocks noGrp="1"/>
          </p:cNvSpPr>
          <p:nvPr>
            <p:ph sz="quarter" idx="1"/>
          </p:nvPr>
        </p:nvSpPr>
        <p:spPr/>
        <p:txBody>
          <a:bodyPr/>
          <a:lstStyle/>
          <a:p>
            <a:endParaRPr lang="en-US" altLang="zh-CN" dirty="0"/>
          </a:p>
          <a:p>
            <a:r>
              <a:rPr lang="zh-CN" altLang="en-US" dirty="0"/>
              <a:t>又稱作誤差反向傳播演算法</a:t>
            </a:r>
            <a:endParaRPr lang="en-US" altLang="zh-CN" dirty="0"/>
          </a:p>
          <a:p>
            <a:endParaRPr lang="en-US" altLang="zh-CN" dirty="0"/>
          </a:p>
          <a:p>
            <a:r>
              <a:rPr lang="zh-CN" altLang="en-US" dirty="0"/>
              <a:t>給出了一種計算偏導數的方法</a:t>
            </a:r>
            <a:endParaRPr lang="en-US" altLang="zh-CN" dirty="0"/>
          </a:p>
          <a:p>
            <a:endParaRPr lang="zh-CN" altLang="en-US" dirty="0"/>
          </a:p>
        </p:txBody>
      </p:sp>
    </p:spTree>
    <p:extLst>
      <p:ext uri="{BB962C8B-B14F-4D97-AF65-F5344CB8AC3E}">
        <p14:creationId xmlns:p14="http://schemas.microsoft.com/office/powerpoint/2010/main" val="26562296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文本框 135"/>
              <p:cNvSpPr txBox="1"/>
              <p:nvPr/>
            </p:nvSpPr>
            <p:spPr>
              <a:xfrm>
                <a:off x="7664491" y="2151967"/>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4</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k</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值更新權重</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r>
                      <a:rPr kumimoji="0" lang="zh-CN"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𝜂</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ub>
                    </m:sSub>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6" name="文本框 135"/>
              <p:cNvSpPr txBox="1">
                <a:spLocks noRot="1" noChangeAspect="1" noMove="1" noResize="1" noEditPoints="1" noAdjustHandles="1" noChangeArrowheads="1" noChangeShapeType="1" noTextEdit="1"/>
              </p:cNvSpPr>
              <p:nvPr/>
            </p:nvSpPr>
            <p:spPr>
              <a:xfrm>
                <a:off x="7664491" y="2151967"/>
                <a:ext cx="4179156" cy="817738"/>
              </a:xfrm>
              <a:prstGeom prst="rect">
                <a:avLst/>
              </a:prstGeom>
              <a:blipFill>
                <a:blip r:embed="rId3"/>
                <a:stretch>
                  <a:fillRect l="-1458" t="-5970" b="-746"/>
                </a:stretch>
              </a:blipFill>
              <a:ln w="6350">
                <a:noFill/>
              </a:ln>
            </p:spPr>
            <p:txBody>
              <a:bodyPr/>
              <a:lstStyle/>
              <a:p>
                <a:r>
                  <a:rPr lang="zh-TW" altLang="en-US">
                    <a:noFill/>
                  </a:rPr>
                  <a:t> </a:t>
                </a:r>
              </a:p>
            </p:txBody>
          </p:sp>
        </mc:Fallback>
      </mc:AlternateContent>
      <p:cxnSp>
        <p:nvCxnSpPr>
          <p:cNvPr id="22" name="直接箭头连接符 21"/>
          <p:cNvCxnSpPr/>
          <p:nvPr/>
        </p:nvCxnSpPr>
        <p:spPr>
          <a:xfrm flipH="1" flipV="1">
            <a:off x="5016143" y="1340668"/>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23" name="直接箭头连接符 22"/>
          <p:cNvCxnSpPr/>
          <p:nvPr/>
        </p:nvCxnSpPr>
        <p:spPr>
          <a:xfrm flipH="1" flipV="1">
            <a:off x="7065744" y="1321353"/>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24" name="椭圆 23"/>
          <p:cNvSpPr/>
          <p:nvPr/>
        </p:nvSpPr>
        <p:spPr>
          <a:xfrm>
            <a:off x="6932164" y="1810707"/>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5" name="文本框 35"/>
          <p:cNvSpPr txBox="1"/>
          <p:nvPr/>
        </p:nvSpPr>
        <p:spPr>
          <a:xfrm>
            <a:off x="4742921" y="864192"/>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6" name="文本框 49"/>
          <p:cNvSpPr txBox="1"/>
          <p:nvPr/>
        </p:nvSpPr>
        <p:spPr>
          <a:xfrm>
            <a:off x="6843111" y="831998"/>
            <a:ext cx="572484"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M</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7" name="椭圆 26"/>
          <p:cNvSpPr/>
          <p:nvPr/>
        </p:nvSpPr>
        <p:spPr>
          <a:xfrm>
            <a:off x="4861133" y="1836463"/>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8" name="直接箭头连接符 27"/>
          <p:cNvCxnSpPr>
            <a:stCxn id="55" idx="0"/>
            <a:endCxn id="27" idx="4"/>
          </p:cNvCxnSpPr>
          <p:nvPr/>
        </p:nvCxnSpPr>
        <p:spPr>
          <a:xfrm flipV="1">
            <a:off x="4914713" y="2127474"/>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p:cNvCxnSpPr>
            <a:stCxn id="55" idx="0"/>
            <a:endCxn id="24" idx="4"/>
          </p:cNvCxnSpPr>
          <p:nvPr/>
        </p:nvCxnSpPr>
        <p:spPr>
          <a:xfrm flipV="1">
            <a:off x="4914713" y="2101718"/>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p:cNvCxnSpPr>
            <a:stCxn id="56" idx="0"/>
            <a:endCxn id="24" idx="4"/>
          </p:cNvCxnSpPr>
          <p:nvPr/>
        </p:nvCxnSpPr>
        <p:spPr>
          <a:xfrm flipV="1">
            <a:off x="6077938" y="2101718"/>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p:cNvCxnSpPr>
            <a:stCxn id="57" idx="0"/>
            <a:endCxn id="27" idx="4"/>
          </p:cNvCxnSpPr>
          <p:nvPr/>
        </p:nvCxnSpPr>
        <p:spPr>
          <a:xfrm flipH="1" flipV="1">
            <a:off x="5004895" y="2127474"/>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p:cNvCxnSpPr>
            <a:stCxn id="57" idx="0"/>
            <a:endCxn id="24" idx="4"/>
          </p:cNvCxnSpPr>
          <p:nvPr/>
        </p:nvCxnSpPr>
        <p:spPr>
          <a:xfrm flipH="1" flipV="1">
            <a:off x="7075926" y="2101718"/>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p:cNvCxnSpPr>
            <a:stCxn id="56" idx="0"/>
            <a:endCxn id="27" idx="4"/>
          </p:cNvCxnSpPr>
          <p:nvPr/>
        </p:nvCxnSpPr>
        <p:spPr>
          <a:xfrm flipH="1" flipV="1">
            <a:off x="5004895" y="2127474"/>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35" name="椭圆 34"/>
          <p:cNvSpPr/>
          <p:nvPr/>
        </p:nvSpPr>
        <p:spPr>
          <a:xfrm>
            <a:off x="4770269" y="450215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6" name="椭圆 35"/>
          <p:cNvSpPr/>
          <p:nvPr/>
        </p:nvSpPr>
        <p:spPr>
          <a:xfrm>
            <a:off x="5933497" y="450215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7" name="椭圆 36"/>
          <p:cNvSpPr/>
          <p:nvPr/>
        </p:nvSpPr>
        <p:spPr>
          <a:xfrm>
            <a:off x="7257392" y="452791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8" name="椭圆 37"/>
          <p:cNvSpPr/>
          <p:nvPr/>
        </p:nvSpPr>
        <p:spPr>
          <a:xfrm>
            <a:off x="7810793" y="570622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40" name="椭圆 39"/>
          <p:cNvSpPr/>
          <p:nvPr/>
        </p:nvSpPr>
        <p:spPr>
          <a:xfrm>
            <a:off x="5933501" y="568691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41" name="椭圆 40"/>
          <p:cNvSpPr/>
          <p:nvPr/>
        </p:nvSpPr>
        <p:spPr>
          <a:xfrm>
            <a:off x="4394973" y="568691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42" name="直接箭头连接符 41"/>
          <p:cNvCxnSpPr>
            <a:stCxn id="41" idx="0"/>
            <a:endCxn id="35" idx="4"/>
          </p:cNvCxnSpPr>
          <p:nvPr/>
        </p:nvCxnSpPr>
        <p:spPr>
          <a:xfrm flipV="1">
            <a:off x="4538733" y="4792176"/>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p:cNvCxnSpPr>
            <a:stCxn id="41" idx="0"/>
            <a:endCxn id="36" idx="4"/>
          </p:cNvCxnSpPr>
          <p:nvPr/>
        </p:nvCxnSpPr>
        <p:spPr>
          <a:xfrm flipV="1">
            <a:off x="4538735" y="4792176"/>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p:cNvCxnSpPr>
            <a:stCxn id="40" idx="0"/>
            <a:endCxn id="35" idx="4"/>
          </p:cNvCxnSpPr>
          <p:nvPr/>
        </p:nvCxnSpPr>
        <p:spPr>
          <a:xfrm flipH="1" flipV="1">
            <a:off x="4914031" y="4792176"/>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p:cNvCxnSpPr>
            <a:stCxn id="41" idx="0"/>
            <a:endCxn id="37" idx="4"/>
          </p:cNvCxnSpPr>
          <p:nvPr/>
        </p:nvCxnSpPr>
        <p:spPr>
          <a:xfrm flipV="1">
            <a:off x="4538733" y="4817929"/>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p:cNvCxnSpPr>
            <a:stCxn id="40" idx="0"/>
            <a:endCxn id="36" idx="4"/>
          </p:cNvCxnSpPr>
          <p:nvPr/>
        </p:nvCxnSpPr>
        <p:spPr>
          <a:xfrm flipH="1" flipV="1">
            <a:off x="6077259" y="4792176"/>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p:cNvCxnSpPr>
            <a:stCxn id="40" idx="0"/>
            <a:endCxn id="37" idx="4"/>
          </p:cNvCxnSpPr>
          <p:nvPr/>
        </p:nvCxnSpPr>
        <p:spPr>
          <a:xfrm flipV="1">
            <a:off x="6077263" y="4817931"/>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p:cNvCxnSpPr>
            <a:stCxn id="38" idx="0"/>
            <a:endCxn id="37" idx="4"/>
          </p:cNvCxnSpPr>
          <p:nvPr/>
        </p:nvCxnSpPr>
        <p:spPr>
          <a:xfrm flipH="1" flipV="1">
            <a:off x="7401154" y="4817929"/>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49" name="直接箭头连接符 48"/>
          <p:cNvCxnSpPr>
            <a:stCxn id="38" idx="0"/>
            <a:endCxn id="36" idx="4"/>
          </p:cNvCxnSpPr>
          <p:nvPr/>
        </p:nvCxnSpPr>
        <p:spPr>
          <a:xfrm flipH="1" flipV="1">
            <a:off x="6077259" y="4792176"/>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50" name="直接箭头连接符 49"/>
          <p:cNvCxnSpPr>
            <a:stCxn id="38" idx="0"/>
            <a:endCxn id="35" idx="4"/>
          </p:cNvCxnSpPr>
          <p:nvPr/>
        </p:nvCxnSpPr>
        <p:spPr>
          <a:xfrm flipH="1" flipV="1">
            <a:off x="4914031" y="4792176"/>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51" name="文本框 94"/>
          <p:cNvSpPr txBox="1"/>
          <p:nvPr/>
        </p:nvSpPr>
        <p:spPr>
          <a:xfrm>
            <a:off x="4375890" y="6079682"/>
            <a:ext cx="3943025" cy="52141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x</a:t>
            </a:r>
            <a:r>
              <a:rPr kumimoji="0" lang="en-US" sz="2400" b="0" i="0" u="none" strike="noStrike" kern="100" cap="none" spc="0" normalizeH="0" baseline="-2500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         </a:t>
            </a:r>
            <a:r>
              <a:rPr kumimoji="0" lang="en-US" sz="2400" b="0" i="0" u="none" strike="noStrike" kern="1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x</a:t>
            </a:r>
            <a:r>
              <a:rPr kumimoji="0" lang="en-US" sz="2400" b="0" i="0" u="none" strike="noStrike" kern="100" cap="none" spc="0" normalizeH="0" baseline="-2500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j</a:t>
            </a:r>
            <a:r>
              <a:rPr kumimoji="0" 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           </a:t>
            </a:r>
            <a:r>
              <a:rPr kumimoji="0" lang="en-US" sz="2400" b="0" i="0" u="none" strike="noStrike" kern="1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x</a:t>
            </a:r>
            <a:r>
              <a:rPr kumimoji="0" lang="en-US" sz="2400" b="0" i="0" u="none" strike="noStrike" kern="100" cap="none" spc="0" normalizeH="0" baseline="-2500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n</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5" name="椭圆 54"/>
          <p:cNvSpPr/>
          <p:nvPr/>
        </p:nvSpPr>
        <p:spPr>
          <a:xfrm>
            <a:off x="4770951" y="317574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6" name="椭圆 55"/>
          <p:cNvSpPr/>
          <p:nvPr/>
        </p:nvSpPr>
        <p:spPr>
          <a:xfrm>
            <a:off x="5934176" y="317574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7" name="椭圆 56"/>
          <p:cNvSpPr/>
          <p:nvPr/>
        </p:nvSpPr>
        <p:spPr>
          <a:xfrm>
            <a:off x="7231947" y="3201505"/>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8" name="文本框 112"/>
          <p:cNvSpPr txBox="1"/>
          <p:nvPr/>
        </p:nvSpPr>
        <p:spPr>
          <a:xfrm>
            <a:off x="6503538" y="314332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60" name="直接箭头连接符 59"/>
          <p:cNvCxnSpPr>
            <a:stCxn id="35" idx="0"/>
            <a:endCxn id="55" idx="4"/>
          </p:cNvCxnSpPr>
          <p:nvPr/>
        </p:nvCxnSpPr>
        <p:spPr>
          <a:xfrm flipV="1">
            <a:off x="4914031" y="3465767"/>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61" name="直接箭头连接符 60"/>
          <p:cNvCxnSpPr>
            <a:stCxn id="36" idx="0"/>
            <a:endCxn id="56" idx="4"/>
          </p:cNvCxnSpPr>
          <p:nvPr/>
        </p:nvCxnSpPr>
        <p:spPr>
          <a:xfrm flipV="1">
            <a:off x="6077259" y="3465767"/>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62" name="直接箭头连接符 61"/>
          <p:cNvCxnSpPr>
            <a:stCxn id="37" idx="0"/>
            <a:endCxn id="57" idx="4"/>
          </p:cNvCxnSpPr>
          <p:nvPr/>
        </p:nvCxnSpPr>
        <p:spPr>
          <a:xfrm flipH="1" flipV="1">
            <a:off x="7375710" y="3491523"/>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63" name="直接箭头连接符 62"/>
          <p:cNvCxnSpPr>
            <a:stCxn id="35" idx="0"/>
            <a:endCxn id="56" idx="4"/>
          </p:cNvCxnSpPr>
          <p:nvPr/>
        </p:nvCxnSpPr>
        <p:spPr>
          <a:xfrm flipV="1">
            <a:off x="4914031" y="3465767"/>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64" name="直接箭头连接符 63"/>
          <p:cNvCxnSpPr>
            <a:stCxn id="35" idx="0"/>
            <a:endCxn id="57" idx="4"/>
          </p:cNvCxnSpPr>
          <p:nvPr/>
        </p:nvCxnSpPr>
        <p:spPr>
          <a:xfrm flipV="1">
            <a:off x="4914031" y="3491523"/>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65" name="直接箭头连接符 64"/>
          <p:cNvCxnSpPr>
            <a:stCxn id="36" idx="0"/>
            <a:endCxn id="55" idx="4"/>
          </p:cNvCxnSpPr>
          <p:nvPr/>
        </p:nvCxnSpPr>
        <p:spPr>
          <a:xfrm flipH="1" flipV="1">
            <a:off x="4914713" y="3465767"/>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66" name="直接箭头连接符 65"/>
          <p:cNvCxnSpPr>
            <a:stCxn id="36" idx="0"/>
            <a:endCxn id="57" idx="4"/>
          </p:cNvCxnSpPr>
          <p:nvPr/>
        </p:nvCxnSpPr>
        <p:spPr>
          <a:xfrm flipV="1">
            <a:off x="6077259" y="3491523"/>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67" name="直接箭头连接符 66"/>
          <p:cNvCxnSpPr>
            <a:stCxn id="37" idx="0"/>
            <a:endCxn id="56" idx="4"/>
          </p:cNvCxnSpPr>
          <p:nvPr/>
        </p:nvCxnSpPr>
        <p:spPr>
          <a:xfrm flipH="1" flipV="1">
            <a:off x="6077938" y="3465767"/>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68" name="直接箭头连接符 67"/>
          <p:cNvCxnSpPr>
            <a:stCxn id="37" idx="0"/>
            <a:endCxn id="55" idx="4"/>
          </p:cNvCxnSpPr>
          <p:nvPr/>
        </p:nvCxnSpPr>
        <p:spPr>
          <a:xfrm flipH="1" flipV="1">
            <a:off x="4914713" y="3465767"/>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71" name="文本框 112"/>
          <p:cNvSpPr txBox="1"/>
          <p:nvPr/>
        </p:nvSpPr>
        <p:spPr>
          <a:xfrm>
            <a:off x="5342417" y="1793304"/>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131"/>
          <p:cNvSpPr txBox="1"/>
          <p:nvPr/>
        </p:nvSpPr>
        <p:spPr>
          <a:xfrm>
            <a:off x="1039235" y="5245242"/>
            <a:ext cx="2124551" cy="103667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輸入一個樣本</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計算所有神經元的輸出</a:t>
            </a:r>
          </a:p>
        </p:txBody>
      </p:sp>
      <p:sp>
        <p:nvSpPr>
          <p:cNvPr id="9" name="文本框 132"/>
          <p:cNvSpPr txBox="1"/>
          <p:nvPr/>
        </p:nvSpPr>
        <p:spPr>
          <a:xfrm>
            <a:off x="7679316" y="913564"/>
            <a:ext cx="1909444" cy="74654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，得到輸出層神經元</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k</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的輸出</a:t>
            </a:r>
          </a:p>
        </p:txBody>
      </p:sp>
      <mc:AlternateContent xmlns:mc="http://schemas.openxmlformats.org/markup-compatibility/2006">
        <mc:Choice xmlns:a14="http://schemas.microsoft.com/office/drawing/2010/main" Requires="a14">
          <p:sp>
            <p:nvSpPr>
              <p:cNvPr id="10" name="文本框 134"/>
              <p:cNvSpPr txBox="1"/>
              <p:nvPr/>
            </p:nvSpPr>
            <p:spPr>
              <a:xfrm>
                <a:off x="1039235" y="853377"/>
                <a:ext cx="3538585" cy="77773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3</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，計算輸出層神經元的</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k</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(1−</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oMath>
                  </m:oMathPara>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0" name="文本框 134"/>
              <p:cNvSpPr txBox="1">
                <a:spLocks noRot="1" noChangeAspect="1" noMove="1" noResize="1" noEditPoints="1" noAdjustHandles="1" noChangeArrowheads="1" noChangeShapeType="1" noTextEdit="1"/>
              </p:cNvSpPr>
              <p:nvPr/>
            </p:nvSpPr>
            <p:spPr>
              <a:xfrm>
                <a:off x="1039235" y="853377"/>
                <a:ext cx="3538585" cy="777737"/>
              </a:xfrm>
              <a:prstGeom prst="rect">
                <a:avLst/>
              </a:prstGeom>
              <a:blipFill>
                <a:blip r:embed="rId4"/>
                <a:stretch>
                  <a:fillRect l="-1721" t="-7031"/>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文本框 136"/>
              <p:cNvSpPr txBox="1"/>
              <p:nvPr/>
            </p:nvSpPr>
            <p:spPr>
              <a:xfrm>
                <a:off x="609195" y="2165081"/>
                <a:ext cx="4031495" cy="130682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5</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k</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計算隱含層</a:t>
                </a: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h</a:t>
                </a:r>
                <a:endParaRPr kumimoji="0" lang="en-US" sz="2000" b="0" i="0" u="none" strike="noStrike" kern="100" cap="none" spc="0" normalizeH="0" baseline="-25000" noProof="0" dirty="0">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endParaRPr>
              </a:p>
              <a:p>
                <a:pPr marL="2286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𝛿</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h</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𝑜</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h</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(1−</m:t>
                      </m:r>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𝑜</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h</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nary>
                        <m:naryPr>
                          <m:chr m:val="∑"/>
                          <m:limLoc m:val="undOvr"/>
                          <m:supHide m:val="on"/>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naryPr>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r>
                            <a:rPr lang="zh-CN" altLang="en-US" i="1" smtClean="0">
                              <a:solidFill>
                                <a:srgbClr val="FF0000"/>
                              </a:solidFill>
                              <a:latin typeface="Cambria Math" panose="02040503050406030204" pitchFamily="18" charset="0"/>
                            </a:rPr>
                            <m:t>後繼</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h</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sub>
                        <m:sup/>
                        <m:e>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𝛿</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sub>
                          </m:sSub>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𝑤</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𝑘h</m:t>
                              </m:r>
                            </m:sub>
                          </m:sSub>
                        </m:e>
                      </m:nary>
                    </m:oMath>
                  </m:oMathPara>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22860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1" name="文本框 136"/>
              <p:cNvSpPr txBox="1">
                <a:spLocks noRot="1" noChangeAspect="1" noMove="1" noResize="1" noEditPoints="1" noAdjustHandles="1" noChangeArrowheads="1" noChangeShapeType="1" noTextEdit="1"/>
              </p:cNvSpPr>
              <p:nvPr/>
            </p:nvSpPr>
            <p:spPr>
              <a:xfrm>
                <a:off x="609195" y="2165081"/>
                <a:ext cx="4031495" cy="1306824"/>
              </a:xfrm>
              <a:prstGeom prst="rect">
                <a:avLst/>
              </a:prstGeom>
              <a:blipFill>
                <a:blip r:embed="rId5"/>
                <a:stretch>
                  <a:fillRect t="-3721"/>
                </a:stretch>
              </a:blipFill>
              <a:ln w="6350">
                <a:noFill/>
              </a:ln>
            </p:spPr>
            <p:txBody>
              <a:bodyPr/>
              <a:lstStyle/>
              <a:p>
                <a:r>
                  <a:rPr lang="zh-TW" altLang="en-US">
                    <a:noFill/>
                  </a:rPr>
                  <a:t> </a:t>
                </a:r>
              </a:p>
            </p:txBody>
          </p:sp>
        </mc:Fallback>
      </mc:AlternateContent>
      <p:cxnSp>
        <p:nvCxnSpPr>
          <p:cNvPr id="14" name="曲线连接符 13"/>
          <p:cNvCxnSpPr/>
          <p:nvPr/>
        </p:nvCxnSpPr>
        <p:spPr>
          <a:xfrm>
            <a:off x="3213324" y="5590326"/>
            <a:ext cx="1037888" cy="283156"/>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15" name="曲线连接符 14"/>
          <p:cNvCxnSpPr/>
          <p:nvPr/>
        </p:nvCxnSpPr>
        <p:spPr>
          <a:xfrm rot="10800000" flipV="1">
            <a:off x="6324009" y="1212636"/>
            <a:ext cx="1340483" cy="733408"/>
          </a:xfrm>
          <a:prstGeom prst="curvedConnector3">
            <a:avLst/>
          </a:prstGeom>
          <a:noFill/>
          <a:ln w="28575" cap="flat" cmpd="sng" algn="ctr">
            <a:solidFill>
              <a:srgbClr val="FF0000"/>
            </a:solidFill>
            <a:prstDash val="solid"/>
            <a:miter lim="800000"/>
            <a:tailEnd type="triangle"/>
          </a:ln>
          <a:effectLst/>
        </p:spPr>
      </p:cxnSp>
      <p:cxnSp>
        <p:nvCxnSpPr>
          <p:cNvPr id="16" name="曲线连接符 15"/>
          <p:cNvCxnSpPr/>
          <p:nvPr/>
        </p:nvCxnSpPr>
        <p:spPr>
          <a:xfrm>
            <a:off x="4252098" y="1268336"/>
            <a:ext cx="1550572" cy="632482"/>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17" name="曲线连接符 16"/>
          <p:cNvCxnSpPr/>
          <p:nvPr/>
        </p:nvCxnSpPr>
        <p:spPr>
          <a:xfrm rot="10800000" flipV="1">
            <a:off x="6984816" y="2383769"/>
            <a:ext cx="691602" cy="400016"/>
          </a:xfrm>
          <a:prstGeom prst="curvedConnector3">
            <a:avLst/>
          </a:prstGeom>
          <a:noFill/>
          <a:ln w="28575" cap="flat" cmpd="sng" algn="ctr">
            <a:solidFill>
              <a:srgbClr val="FF0000"/>
            </a:solidFill>
            <a:prstDash val="solid"/>
            <a:miter lim="800000"/>
            <a:tailEnd type="triangle"/>
          </a:ln>
          <a:effectLst/>
        </p:spPr>
      </p:cxnSp>
      <p:cxnSp>
        <p:nvCxnSpPr>
          <p:cNvPr id="18" name="曲线连接符 17"/>
          <p:cNvCxnSpPr/>
          <p:nvPr/>
        </p:nvCxnSpPr>
        <p:spPr>
          <a:xfrm>
            <a:off x="4131896" y="2500095"/>
            <a:ext cx="1797224" cy="800454"/>
          </a:xfrm>
          <a:prstGeom prst="curvedConnector3">
            <a:avLst/>
          </a:prstGeom>
          <a:noFill/>
          <a:ln w="28575" cap="flat" cmpd="sng" algn="ctr">
            <a:solidFill>
              <a:srgbClr val="FF0000"/>
            </a:solidFill>
            <a:prstDash val="solid"/>
            <a:miter lim="800000"/>
            <a:tailEnd type="triangle"/>
          </a:ln>
          <a:effectLst/>
        </p:spPr>
      </p:cxnSp>
      <p:cxnSp>
        <p:nvCxnSpPr>
          <p:cNvPr id="19" name="曲线连接符 18"/>
          <p:cNvCxnSpPr/>
          <p:nvPr/>
        </p:nvCxnSpPr>
        <p:spPr>
          <a:xfrm rot="10800000" flipV="1">
            <a:off x="6945991" y="3722244"/>
            <a:ext cx="729756" cy="314968"/>
          </a:xfrm>
          <a:prstGeom prst="curvedConnector3">
            <a:avLst/>
          </a:prstGeom>
          <a:noFill/>
          <a:ln w="28575" cap="flat" cmpd="sng" algn="ctr">
            <a:solidFill>
              <a:srgbClr val="FF0000"/>
            </a:solidFill>
            <a:prstDash val="solid"/>
            <a:miter lim="800000"/>
            <a:tailEnd type="triangle"/>
          </a:ln>
          <a:effectLst/>
        </p:spPr>
      </p:cxnSp>
      <p:cxnSp>
        <p:nvCxnSpPr>
          <p:cNvPr id="20" name="曲线连接符 19"/>
          <p:cNvCxnSpPr/>
          <p:nvPr/>
        </p:nvCxnSpPr>
        <p:spPr>
          <a:xfrm>
            <a:off x="4018350" y="4169532"/>
            <a:ext cx="1784320" cy="477635"/>
          </a:xfrm>
          <a:prstGeom prst="curvedConnector3">
            <a:avLst/>
          </a:prstGeom>
          <a:noFill/>
          <a:ln w="28575" cap="flat" cmpd="sng" algn="ctr">
            <a:solidFill>
              <a:srgbClr val="FF0000"/>
            </a:solidFill>
            <a:prstDash val="solid"/>
            <a:miter lim="800000"/>
            <a:tailEnd type="triangle"/>
          </a:ln>
          <a:effectLst/>
        </p:spPr>
      </p:cxnSp>
      <p:cxnSp>
        <p:nvCxnSpPr>
          <p:cNvPr id="21" name="曲线连接符 20"/>
          <p:cNvCxnSpPr/>
          <p:nvPr/>
        </p:nvCxnSpPr>
        <p:spPr>
          <a:xfrm rot="5400000">
            <a:off x="7192780" y="4773168"/>
            <a:ext cx="560509" cy="431279"/>
          </a:xfrm>
          <a:prstGeom prst="curvedConnector3">
            <a:avLst>
              <a:gd name="adj1" fmla="val 46893"/>
            </a:avLst>
          </a:prstGeom>
          <a:noFill/>
          <a:ln w="28575" cap="flat" cmpd="sng" algn="ctr">
            <a:solidFill>
              <a:srgbClr val="FF0000"/>
            </a:solidFill>
            <a:prstDash val="solid"/>
            <a:miter lim="800000"/>
            <a:tailEnd type="triangle"/>
          </a:ln>
          <a:effectLst/>
        </p:spPr>
      </p:cxnSp>
      <p:cxnSp>
        <p:nvCxnSpPr>
          <p:cNvPr id="85" name="直接箭头连接符 84"/>
          <p:cNvCxnSpPr/>
          <p:nvPr/>
        </p:nvCxnSpPr>
        <p:spPr>
          <a:xfrm flipH="1" flipV="1">
            <a:off x="6114356" y="1305846"/>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86" name="文本框 35"/>
          <p:cNvSpPr txBox="1"/>
          <p:nvPr/>
        </p:nvSpPr>
        <p:spPr>
          <a:xfrm>
            <a:off x="5910806" y="829370"/>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k</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87" name="椭圆 86"/>
          <p:cNvSpPr/>
          <p:nvPr/>
        </p:nvSpPr>
        <p:spPr>
          <a:xfrm>
            <a:off x="5968055" y="1801641"/>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88" name="直接箭头连接符 87"/>
          <p:cNvCxnSpPr>
            <a:stCxn id="55" idx="0"/>
            <a:endCxn id="87" idx="4"/>
          </p:cNvCxnSpPr>
          <p:nvPr/>
        </p:nvCxnSpPr>
        <p:spPr>
          <a:xfrm flipV="1">
            <a:off x="4914713" y="2092652"/>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89" name="直接箭头连接符 88"/>
          <p:cNvCxnSpPr>
            <a:stCxn id="57" idx="0"/>
            <a:endCxn id="87" idx="4"/>
          </p:cNvCxnSpPr>
          <p:nvPr/>
        </p:nvCxnSpPr>
        <p:spPr>
          <a:xfrm flipH="1" flipV="1">
            <a:off x="6111817" y="2092652"/>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90" name="直接箭头连接符 89"/>
          <p:cNvCxnSpPr>
            <a:stCxn id="56" idx="0"/>
            <a:endCxn id="87" idx="4"/>
          </p:cNvCxnSpPr>
          <p:nvPr/>
        </p:nvCxnSpPr>
        <p:spPr>
          <a:xfrm flipV="1">
            <a:off x="6077938" y="2092652"/>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91" name="文本框 112"/>
          <p:cNvSpPr txBox="1"/>
          <p:nvPr/>
        </p:nvSpPr>
        <p:spPr>
          <a:xfrm>
            <a:off x="6407245" y="1777734"/>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00" name="文本框 112"/>
          <p:cNvSpPr txBox="1"/>
          <p:nvPr/>
        </p:nvSpPr>
        <p:spPr>
          <a:xfrm>
            <a:off x="5309168" y="314386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01" name="文本框 112"/>
          <p:cNvSpPr txBox="1"/>
          <p:nvPr/>
        </p:nvSpPr>
        <p:spPr>
          <a:xfrm>
            <a:off x="6346946" y="443232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02" name="文本框 112"/>
          <p:cNvSpPr txBox="1"/>
          <p:nvPr/>
        </p:nvSpPr>
        <p:spPr>
          <a:xfrm>
            <a:off x="5152576" y="4432866"/>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6" name="文本框 135"/>
              <p:cNvSpPr txBox="1"/>
              <p:nvPr/>
            </p:nvSpPr>
            <p:spPr>
              <a:xfrm>
                <a:off x="7702964" y="3368453"/>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6</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h</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值更新權重</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r>
                      <a:rPr kumimoji="0" lang="zh-CN"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𝜂</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sub>
                    </m:sSub>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106" name="文本框 135"/>
              <p:cNvSpPr txBox="1">
                <a:spLocks noRot="1" noChangeAspect="1" noMove="1" noResize="1" noEditPoints="1" noAdjustHandles="1" noChangeArrowheads="1" noChangeShapeType="1" noTextEdit="1"/>
              </p:cNvSpPr>
              <p:nvPr/>
            </p:nvSpPr>
            <p:spPr>
              <a:xfrm>
                <a:off x="7702964" y="3368453"/>
                <a:ext cx="4179156" cy="817738"/>
              </a:xfrm>
              <a:prstGeom prst="rect">
                <a:avLst/>
              </a:prstGeom>
              <a:blipFill>
                <a:blip r:embed="rId6"/>
                <a:stretch>
                  <a:fillRect l="-1606" t="-6716" b="-746"/>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7" name="文本框 136"/>
              <p:cNvSpPr txBox="1"/>
              <p:nvPr/>
            </p:nvSpPr>
            <p:spPr>
              <a:xfrm>
                <a:off x="567785" y="3820743"/>
                <a:ext cx="4027588" cy="130682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7</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h</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計算隱含層</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g</a:t>
                </a:r>
                <a:endParaRPr kumimoji="0" lang="en-US" sz="2000" b="0" i="0" u="none" strike="noStrike" kern="100" cap="none" spc="0" normalizeH="0" baseline="-25000" noProof="0" dirty="0">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endParaRPr>
              </a:p>
              <a:p>
                <a:pPr marL="2286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𝛿</m:t>
                          </m:r>
                        </m:e>
                        <m:sub>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𝑜</m:t>
                          </m:r>
                        </m:e>
                        <m:sub>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(1−</m:t>
                      </m:r>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𝑜</m:t>
                          </m:r>
                        </m:e>
                        <m:sub>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nary>
                        <m:naryPr>
                          <m:chr m:val="∑"/>
                          <m:limLoc m:val="undOvr"/>
                          <m:supHide m:val="on"/>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naryPr>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r>
                            <a:rPr lang="zh-CN" altLang="en-US" i="1" smtClean="0">
                              <a:solidFill>
                                <a:srgbClr val="FF0000"/>
                              </a:solidFill>
                              <a:latin typeface="Cambria Math" panose="02040503050406030204" pitchFamily="18" charset="0"/>
                            </a:rPr>
                            <m:t>後繼</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sub>
                        <m:sup/>
                        <m:e>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𝛿</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sub>
                          </m:sSub>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𝑤</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sub>
                          </m:sSub>
                        </m:e>
                      </m:nary>
                    </m:oMath>
                  </m:oMathPara>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22860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07" name="文本框 136"/>
              <p:cNvSpPr txBox="1">
                <a:spLocks noRot="1" noChangeAspect="1" noMove="1" noResize="1" noEditPoints="1" noAdjustHandles="1" noChangeArrowheads="1" noChangeShapeType="1" noTextEdit="1"/>
              </p:cNvSpPr>
              <p:nvPr/>
            </p:nvSpPr>
            <p:spPr>
              <a:xfrm>
                <a:off x="567785" y="3820743"/>
                <a:ext cx="4027588" cy="1306824"/>
              </a:xfrm>
              <a:prstGeom prst="rect">
                <a:avLst/>
              </a:prstGeom>
              <a:blipFill>
                <a:blip r:embed="rId7"/>
                <a:stretch>
                  <a:fillRect t="-4206"/>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9" name="文本框 135"/>
              <p:cNvSpPr txBox="1"/>
              <p:nvPr/>
            </p:nvSpPr>
            <p:spPr>
              <a:xfrm>
                <a:off x="7677975" y="4432327"/>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8</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g</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值更新權重</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r>
                      <a:rPr kumimoji="0" lang="zh-CN"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𝜂</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sub>
                    </m:sSub>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119" name="文本框 135"/>
              <p:cNvSpPr txBox="1">
                <a:spLocks noRot="1" noChangeAspect="1" noMove="1" noResize="1" noEditPoints="1" noAdjustHandles="1" noChangeArrowheads="1" noChangeShapeType="1" noTextEdit="1"/>
              </p:cNvSpPr>
              <p:nvPr/>
            </p:nvSpPr>
            <p:spPr>
              <a:xfrm>
                <a:off x="7677975" y="4432327"/>
                <a:ext cx="4179156" cy="817738"/>
              </a:xfrm>
              <a:prstGeom prst="rect">
                <a:avLst/>
              </a:prstGeom>
              <a:blipFill>
                <a:blip r:embed="rId8"/>
                <a:stretch>
                  <a:fillRect l="-1606" t="-5970" b="-2985"/>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5" name="文本框 35"/>
              <p:cNvSpPr txBox="1"/>
              <p:nvPr/>
            </p:nvSpPr>
            <p:spPr>
              <a:xfrm>
                <a:off x="5822879" y="1747596"/>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𝑘</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25" name="文本框 35"/>
              <p:cNvSpPr txBox="1">
                <a:spLocks noRot="1" noChangeAspect="1" noMove="1" noResize="1" noEditPoints="1" noAdjustHandles="1" noChangeArrowheads="1" noChangeShapeType="1" noTextEdit="1"/>
              </p:cNvSpPr>
              <p:nvPr/>
            </p:nvSpPr>
            <p:spPr>
              <a:xfrm>
                <a:off x="5822879" y="1747596"/>
                <a:ext cx="578535" cy="477132"/>
              </a:xfrm>
              <a:prstGeom prst="rect">
                <a:avLst/>
              </a:prstGeom>
              <a:blipFill>
                <a:blip r:embed="rId9"/>
                <a:stretch>
                  <a:fillRect/>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6" name="文本框 35"/>
              <p:cNvSpPr txBox="1"/>
              <p:nvPr/>
            </p:nvSpPr>
            <p:spPr>
              <a:xfrm>
                <a:off x="5806398" y="3122234"/>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h</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26" name="文本框 35"/>
              <p:cNvSpPr txBox="1">
                <a:spLocks noRot="1" noChangeAspect="1" noMove="1" noResize="1" noEditPoints="1" noAdjustHandles="1" noChangeArrowheads="1" noChangeShapeType="1" noTextEdit="1"/>
              </p:cNvSpPr>
              <p:nvPr/>
            </p:nvSpPr>
            <p:spPr>
              <a:xfrm>
                <a:off x="5806398" y="3122234"/>
                <a:ext cx="578535" cy="477132"/>
              </a:xfrm>
              <a:prstGeom prst="rect">
                <a:avLst/>
              </a:prstGeom>
              <a:blipFill>
                <a:blip r:embed="rId10"/>
                <a:stretch>
                  <a:fillRect/>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7" name="文本框 35"/>
              <p:cNvSpPr txBox="1"/>
              <p:nvPr/>
            </p:nvSpPr>
            <p:spPr>
              <a:xfrm>
                <a:off x="5797356" y="4411020"/>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𝑔</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27" name="文本框 35"/>
              <p:cNvSpPr txBox="1">
                <a:spLocks noRot="1" noChangeAspect="1" noMove="1" noResize="1" noEditPoints="1" noAdjustHandles="1" noChangeArrowheads="1" noChangeShapeType="1" noTextEdit="1"/>
              </p:cNvSpPr>
              <p:nvPr/>
            </p:nvSpPr>
            <p:spPr>
              <a:xfrm>
                <a:off x="5797356" y="4411020"/>
                <a:ext cx="578535" cy="477132"/>
              </a:xfrm>
              <a:prstGeom prst="rect">
                <a:avLst/>
              </a:prstGeom>
              <a:blipFill>
                <a:blip r:embed="rId11"/>
                <a:stretch>
                  <a:fillRect/>
                </a:stretch>
              </a:blipFill>
              <a:ln w="6350">
                <a:noFill/>
              </a:ln>
            </p:spPr>
            <p:txBody>
              <a:bodyPr/>
              <a:lstStyle/>
              <a:p>
                <a:r>
                  <a:rPr lang="zh-TW" altLang="en-US">
                    <a:noFill/>
                  </a:rPr>
                  <a:t> </a:t>
                </a:r>
              </a:p>
            </p:txBody>
          </p:sp>
        </mc:Fallback>
      </mc:AlternateContent>
      <p:cxnSp>
        <p:nvCxnSpPr>
          <p:cNvPr id="128" name="直接箭头连接符 127"/>
          <p:cNvCxnSpPr/>
          <p:nvPr/>
        </p:nvCxnSpPr>
        <p:spPr>
          <a:xfrm flipV="1">
            <a:off x="4913044" y="2087298"/>
            <a:ext cx="1197104" cy="1083097"/>
          </a:xfrm>
          <a:prstGeom prst="straightConnector1">
            <a:avLst/>
          </a:prstGeom>
          <a:noFill/>
          <a:ln w="28575" cap="flat" cmpd="sng" algn="ctr">
            <a:solidFill>
              <a:srgbClr val="FF0000"/>
            </a:solidFill>
            <a:prstDash val="solid"/>
            <a:miter lim="800000"/>
            <a:tailEnd type="triangle"/>
          </a:ln>
          <a:effectLst/>
        </p:spPr>
      </p:cxnSp>
      <p:cxnSp>
        <p:nvCxnSpPr>
          <p:cNvPr id="129" name="直接箭头连接符 128"/>
          <p:cNvCxnSpPr/>
          <p:nvPr/>
        </p:nvCxnSpPr>
        <p:spPr>
          <a:xfrm flipH="1" flipV="1">
            <a:off x="6110148" y="2087298"/>
            <a:ext cx="1263892" cy="1108853"/>
          </a:xfrm>
          <a:prstGeom prst="straightConnector1">
            <a:avLst/>
          </a:prstGeom>
          <a:noFill/>
          <a:ln w="28575" cap="flat" cmpd="sng" algn="ctr">
            <a:solidFill>
              <a:srgbClr val="FF0000"/>
            </a:solidFill>
            <a:prstDash val="solid"/>
            <a:miter lim="800000"/>
            <a:tailEnd type="triangle"/>
          </a:ln>
          <a:effectLst/>
        </p:spPr>
      </p:cxnSp>
      <p:cxnSp>
        <p:nvCxnSpPr>
          <p:cNvPr id="130" name="直接箭头连接符 129"/>
          <p:cNvCxnSpPr/>
          <p:nvPr/>
        </p:nvCxnSpPr>
        <p:spPr>
          <a:xfrm flipV="1">
            <a:off x="6076269" y="2087298"/>
            <a:ext cx="33879" cy="1083097"/>
          </a:xfrm>
          <a:prstGeom prst="straightConnector1">
            <a:avLst/>
          </a:prstGeom>
          <a:noFill/>
          <a:ln w="28575" cap="flat" cmpd="sng" algn="ctr">
            <a:solidFill>
              <a:srgbClr val="FF0000"/>
            </a:solidFill>
            <a:prstDash val="solid"/>
            <a:miter lim="800000"/>
            <a:tailEnd type="triangle"/>
          </a:ln>
          <a:effectLst/>
        </p:spPr>
      </p:cxnSp>
      <p:cxnSp>
        <p:nvCxnSpPr>
          <p:cNvPr id="131" name="直接箭头连接符 130"/>
          <p:cNvCxnSpPr/>
          <p:nvPr/>
        </p:nvCxnSpPr>
        <p:spPr>
          <a:xfrm flipV="1">
            <a:off x="6077076" y="3464015"/>
            <a:ext cx="679" cy="1036391"/>
          </a:xfrm>
          <a:prstGeom prst="straightConnector1">
            <a:avLst/>
          </a:prstGeom>
          <a:noFill/>
          <a:ln w="28575" cap="flat" cmpd="sng" algn="ctr">
            <a:solidFill>
              <a:srgbClr val="FF0000"/>
            </a:solidFill>
            <a:prstDash val="solid"/>
            <a:miter lim="800000"/>
            <a:tailEnd type="triangle"/>
          </a:ln>
          <a:effectLst/>
        </p:spPr>
      </p:cxnSp>
      <p:cxnSp>
        <p:nvCxnSpPr>
          <p:cNvPr id="132" name="直接箭头连接符 131"/>
          <p:cNvCxnSpPr/>
          <p:nvPr/>
        </p:nvCxnSpPr>
        <p:spPr>
          <a:xfrm flipV="1">
            <a:off x="4913848" y="3464015"/>
            <a:ext cx="1163907" cy="1036391"/>
          </a:xfrm>
          <a:prstGeom prst="straightConnector1">
            <a:avLst/>
          </a:prstGeom>
          <a:noFill/>
          <a:ln w="28575" cap="flat" cmpd="sng" algn="ctr">
            <a:solidFill>
              <a:srgbClr val="FF0000"/>
            </a:solidFill>
            <a:prstDash val="solid"/>
            <a:miter lim="800000"/>
            <a:tailEnd type="triangle"/>
          </a:ln>
          <a:effectLst/>
        </p:spPr>
      </p:cxnSp>
      <p:cxnSp>
        <p:nvCxnSpPr>
          <p:cNvPr id="133" name="直接箭头连接符 132"/>
          <p:cNvCxnSpPr/>
          <p:nvPr/>
        </p:nvCxnSpPr>
        <p:spPr>
          <a:xfrm flipH="1" flipV="1">
            <a:off x="6077755" y="3464015"/>
            <a:ext cx="1323216" cy="1062146"/>
          </a:xfrm>
          <a:prstGeom prst="straightConnector1">
            <a:avLst/>
          </a:prstGeom>
          <a:noFill/>
          <a:ln w="28575" cap="flat" cmpd="sng" algn="ctr">
            <a:solidFill>
              <a:srgbClr val="FF0000"/>
            </a:solidFill>
            <a:prstDash val="solid"/>
            <a:miter lim="800000"/>
            <a:tailEnd type="triangle"/>
          </a:ln>
          <a:effectLst/>
        </p:spPr>
      </p:cxnSp>
      <p:cxnSp>
        <p:nvCxnSpPr>
          <p:cNvPr id="135" name="直接箭头连接符 134"/>
          <p:cNvCxnSpPr/>
          <p:nvPr/>
        </p:nvCxnSpPr>
        <p:spPr>
          <a:xfrm flipV="1">
            <a:off x="4534081" y="4790793"/>
            <a:ext cx="1538524" cy="894736"/>
          </a:xfrm>
          <a:prstGeom prst="straightConnector1">
            <a:avLst/>
          </a:prstGeom>
          <a:noFill/>
          <a:ln w="28575" cap="flat" cmpd="sng" algn="ctr">
            <a:solidFill>
              <a:srgbClr val="FF0000"/>
            </a:solidFill>
            <a:prstDash val="solid"/>
            <a:miter lim="800000"/>
            <a:tailEnd type="triangle"/>
          </a:ln>
          <a:effectLst/>
        </p:spPr>
      </p:cxnSp>
      <p:cxnSp>
        <p:nvCxnSpPr>
          <p:cNvPr id="136" name="直接箭头连接符 135"/>
          <p:cNvCxnSpPr/>
          <p:nvPr/>
        </p:nvCxnSpPr>
        <p:spPr>
          <a:xfrm flipH="1" flipV="1">
            <a:off x="6072605" y="4790793"/>
            <a:ext cx="4" cy="894736"/>
          </a:xfrm>
          <a:prstGeom prst="straightConnector1">
            <a:avLst/>
          </a:prstGeom>
          <a:noFill/>
          <a:ln w="28575" cap="flat" cmpd="sng" algn="ctr">
            <a:solidFill>
              <a:srgbClr val="FF0000"/>
            </a:solidFill>
            <a:prstDash val="solid"/>
            <a:miter lim="800000"/>
            <a:tailEnd type="triangle"/>
          </a:ln>
          <a:effectLst/>
        </p:spPr>
      </p:cxnSp>
      <p:cxnSp>
        <p:nvCxnSpPr>
          <p:cNvPr id="137" name="直接箭头连接符 136"/>
          <p:cNvCxnSpPr/>
          <p:nvPr/>
        </p:nvCxnSpPr>
        <p:spPr>
          <a:xfrm flipH="1" flipV="1">
            <a:off x="6072605" y="4790793"/>
            <a:ext cx="1877296" cy="914053"/>
          </a:xfrm>
          <a:prstGeom prst="straightConnector1">
            <a:avLst/>
          </a:prstGeom>
          <a:noFill/>
          <a:ln w="28575" cap="flat" cmpd="sng" algn="ctr">
            <a:solidFill>
              <a:srgbClr val="FF0000"/>
            </a:solidFill>
            <a:prstDash val="solid"/>
            <a:miter lim="800000"/>
            <a:tailEnd type="triangle"/>
          </a:ln>
          <a:effectLst/>
        </p:spPr>
      </p:cxnSp>
      <p:sp>
        <p:nvSpPr>
          <p:cNvPr id="138" name="文本框 137"/>
          <p:cNvSpPr txBox="1"/>
          <p:nvPr/>
        </p:nvSpPr>
        <p:spPr>
          <a:xfrm>
            <a:off x="4484460" y="443819"/>
            <a:ext cx="464212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反向傳播演算法（</a:t>
            </a:r>
            <a:r>
              <a:rPr kumimoji="0" lang="en-US" altLang="zh-CN" sz="3200" b="1"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BP</a:t>
            </a:r>
            <a:r>
              <a:rPr kumimoji="0" lang="zh-CN" altLang="en-US" sz="3200" b="1"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a:t>
            </a:r>
          </a:p>
        </p:txBody>
      </p:sp>
    </p:spTree>
    <p:extLst>
      <p:ext uri="{BB962C8B-B14F-4D97-AF65-F5344CB8AC3E}">
        <p14:creationId xmlns:p14="http://schemas.microsoft.com/office/powerpoint/2010/main" val="358173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2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30"/>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28"/>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133"/>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31"/>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32"/>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3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135"/>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36"/>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37"/>
                                        </p:tgtEl>
                                        <p:attrNameLst>
                                          <p:attrName>style.visibility</p:attrName>
                                        </p:attrNameLst>
                                      </p:cBhvr>
                                      <p:to>
                                        <p:strVal val="hidden"/>
                                      </p:to>
                                    </p:set>
                                  </p:childTnLst>
                                </p:cTn>
                              </p:par>
                              <p:par>
                                <p:cTn id="95" presetID="53" presetClass="entr" presetSubtype="16" fill="hold" grpId="0" nodeType="withEffect">
                                  <p:stCondLst>
                                    <p:cond delay="0"/>
                                  </p:stCondLst>
                                  <p:childTnLst>
                                    <p:set>
                                      <p:cBhvr>
                                        <p:cTn id="96" dur="1" fill="hold">
                                          <p:stCondLst>
                                            <p:cond delay="0"/>
                                          </p:stCondLst>
                                        </p:cTn>
                                        <p:tgtEl>
                                          <p:spTgt spid="138"/>
                                        </p:tgtEl>
                                        <p:attrNameLst>
                                          <p:attrName>style.visibility</p:attrName>
                                        </p:attrNameLst>
                                      </p:cBhvr>
                                      <p:to>
                                        <p:strVal val="visible"/>
                                      </p:to>
                                    </p:set>
                                    <p:anim calcmode="lin" valueType="num">
                                      <p:cBhvr>
                                        <p:cTn id="97" dur="500" fill="hold"/>
                                        <p:tgtEl>
                                          <p:spTgt spid="138"/>
                                        </p:tgtEl>
                                        <p:attrNameLst>
                                          <p:attrName>ppt_w</p:attrName>
                                        </p:attrNameLst>
                                      </p:cBhvr>
                                      <p:tavLst>
                                        <p:tav tm="0">
                                          <p:val>
                                            <p:fltVal val="0"/>
                                          </p:val>
                                        </p:tav>
                                        <p:tav tm="100000">
                                          <p:val>
                                            <p:strVal val="#ppt_w"/>
                                          </p:val>
                                        </p:tav>
                                      </p:tavLst>
                                    </p:anim>
                                    <p:anim calcmode="lin" valueType="num">
                                      <p:cBhvr>
                                        <p:cTn id="98" dur="500" fill="hold"/>
                                        <p:tgtEl>
                                          <p:spTgt spid="138"/>
                                        </p:tgtEl>
                                        <p:attrNameLst>
                                          <p:attrName>ppt_h</p:attrName>
                                        </p:attrNameLst>
                                      </p:cBhvr>
                                      <p:tavLst>
                                        <p:tav tm="0">
                                          <p:val>
                                            <p:fltVal val="0"/>
                                          </p:val>
                                        </p:tav>
                                        <p:tav tm="100000">
                                          <p:val>
                                            <p:strVal val="#ppt_h"/>
                                          </p:val>
                                        </p:tav>
                                      </p:tavLst>
                                    </p:anim>
                                    <p:animEffect transition="in" filter="fade">
                                      <p:cBhvr>
                                        <p:cTn id="99"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06" grpId="0"/>
      <p:bldP spid="107" grpId="0"/>
      <p:bldP spid="119" grpId="0"/>
      <p:bldP spid="125" grpId="0"/>
      <p:bldP spid="126" grpId="0"/>
      <p:bldP spid="127" grpId="0"/>
      <p:bldP spid="13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21109" y="234144"/>
            <a:ext cx="7772400" cy="1143000"/>
          </a:xfrm>
        </p:spPr>
        <p:txBody>
          <a:bodyPr/>
          <a:lstStyle/>
          <a:p>
            <a:pPr>
              <a:defRPr/>
            </a:pPr>
            <a:r>
              <a:rPr lang="en-US" altLang="zh-CN" dirty="0"/>
              <a:t>BP</a:t>
            </a:r>
            <a:r>
              <a:rPr lang="zh-CN" altLang="en-US" dirty="0"/>
              <a:t>演算法（隨機梯度下降版）</a:t>
            </a:r>
          </a:p>
        </p:txBody>
      </p:sp>
      <p:sp>
        <p:nvSpPr>
          <p:cNvPr id="15367" name="内容占位符 2"/>
          <p:cNvSpPr>
            <a:spLocks noGrp="1"/>
          </p:cNvSpPr>
          <p:nvPr>
            <p:ph idx="1"/>
          </p:nvPr>
        </p:nvSpPr>
        <p:spPr>
          <a:xfrm>
            <a:off x="1240435" y="1493713"/>
            <a:ext cx="9387519" cy="4808482"/>
          </a:xfrm>
        </p:spPr>
        <p:txBody>
          <a:bodyPr>
            <a:normAutofit/>
          </a:bodyPr>
          <a:lstStyle/>
          <a:p>
            <a:pPr marL="0" indent="0">
              <a:lnSpc>
                <a:spcPct val="120000"/>
              </a:lnSpc>
              <a:buNone/>
            </a:pPr>
            <a:r>
              <a:rPr lang="zh-CN" altLang="en-US" sz="3000" b="1" dirty="0"/>
              <a:t> 初始化所有權值為小的隨機值</a:t>
            </a:r>
            <a:r>
              <a:rPr lang="en-US" altLang="zh-CN" sz="3000" b="1" dirty="0"/>
              <a:t>(</a:t>
            </a:r>
            <a:r>
              <a:rPr lang="zh-CN" altLang="en-US" sz="3000" b="1" dirty="0"/>
              <a:t>如</a:t>
            </a:r>
            <a:r>
              <a:rPr lang="en-US" altLang="zh-CN" sz="3000" b="1" dirty="0"/>
              <a:t>[-0.05,0.05])</a:t>
            </a:r>
          </a:p>
          <a:p>
            <a:pPr marL="0" indent="0">
              <a:lnSpc>
                <a:spcPct val="120000"/>
              </a:lnSpc>
              <a:buNone/>
            </a:pPr>
            <a:r>
              <a:rPr lang="zh-CN" altLang="en-US" sz="3000" b="1" dirty="0"/>
              <a:t> 在滿足結束條件前：</a:t>
            </a:r>
            <a:endParaRPr lang="en-US" altLang="zh-CN" sz="3000" b="1" dirty="0"/>
          </a:p>
          <a:p>
            <a:pPr lvl="1">
              <a:lnSpc>
                <a:spcPct val="120000"/>
              </a:lnSpc>
              <a:buFontTx/>
              <a:buNone/>
            </a:pPr>
            <a:r>
              <a:rPr lang="zh-CN" altLang="en-US" sz="2800" b="1" dirty="0"/>
              <a:t>對於每個訓練樣例</a:t>
            </a:r>
            <a:endParaRPr lang="en-US" altLang="zh-CN" sz="2800" b="1" dirty="0"/>
          </a:p>
          <a:p>
            <a:pPr lvl="1">
              <a:lnSpc>
                <a:spcPct val="120000"/>
              </a:lnSpc>
              <a:buFontTx/>
              <a:buNone/>
            </a:pPr>
            <a:r>
              <a:rPr lang="zh-CN" altLang="en-US" sz="2800" b="1" dirty="0"/>
              <a:t>把樣例輸入網路，計算每個單元</a:t>
            </a:r>
            <a:r>
              <a:rPr lang="en-US" altLang="zh-CN" sz="2800" b="1" i="1" dirty="0"/>
              <a:t>u</a:t>
            </a:r>
            <a:r>
              <a:rPr lang="zh-CN" altLang="en-US" sz="2800" b="1" dirty="0"/>
              <a:t>的輸出</a:t>
            </a:r>
            <a:r>
              <a:rPr lang="en-US" altLang="zh-CN" sz="2800" b="1" i="1" dirty="0" err="1"/>
              <a:t>o</a:t>
            </a:r>
            <a:r>
              <a:rPr lang="en-US" altLang="zh-CN" sz="2800" b="1" i="1" baseline="-25000" dirty="0" err="1"/>
              <a:t>u</a:t>
            </a:r>
            <a:endParaRPr lang="en-US" altLang="zh-CN" sz="2800" b="1" i="1" baseline="-25000" dirty="0"/>
          </a:p>
          <a:p>
            <a:pPr lvl="2">
              <a:lnSpc>
                <a:spcPct val="120000"/>
              </a:lnSpc>
            </a:pPr>
            <a:r>
              <a:rPr lang="zh-CN" altLang="en-US" sz="2400" b="1" dirty="0"/>
              <a:t>對於輸出層單元</a:t>
            </a:r>
            <a:r>
              <a:rPr lang="en-US" altLang="zh-CN" sz="2400" b="1" i="1" dirty="0"/>
              <a:t>k</a:t>
            </a:r>
            <a:r>
              <a:rPr lang="zh-CN" altLang="en-US" sz="2400" b="1" dirty="0"/>
              <a:t>，計算誤差項</a:t>
            </a:r>
            <a:r>
              <a:rPr lang="zh-CN" altLang="en-US" sz="2600" b="1" dirty="0"/>
              <a:t>：</a:t>
            </a:r>
            <a:endParaRPr lang="en-US" altLang="zh-CN" sz="2600" b="1" dirty="0"/>
          </a:p>
          <a:p>
            <a:pPr marL="594360" lvl="2" indent="0">
              <a:lnSpc>
                <a:spcPct val="120000"/>
              </a:lnSpc>
              <a:buNone/>
            </a:pPr>
            <a:endParaRPr lang="en-US" altLang="zh-CN" sz="1000" b="1" dirty="0"/>
          </a:p>
          <a:p>
            <a:pPr lvl="2">
              <a:lnSpc>
                <a:spcPct val="120000"/>
              </a:lnSpc>
            </a:pPr>
            <a:r>
              <a:rPr lang="zh-CN" altLang="en-US" sz="2400" b="1" dirty="0"/>
              <a:t>對於隱含層單元</a:t>
            </a:r>
            <a:r>
              <a:rPr lang="en-US" altLang="zh-CN" sz="2400" b="1" i="1" dirty="0"/>
              <a:t>h</a:t>
            </a:r>
            <a:r>
              <a:rPr lang="zh-CN" altLang="en-US" sz="2400" b="1" dirty="0"/>
              <a:t>，計算誤差項：</a:t>
            </a:r>
            <a:endParaRPr lang="en-US" altLang="zh-CN" sz="2600" b="1" baseline="-25000" dirty="0"/>
          </a:p>
          <a:p>
            <a:pPr lvl="2">
              <a:lnSpc>
                <a:spcPct val="120000"/>
              </a:lnSpc>
            </a:pPr>
            <a:endParaRPr lang="en-US" altLang="zh-CN" sz="1000" b="1" baseline="-25000" dirty="0"/>
          </a:p>
          <a:p>
            <a:pPr lvl="2">
              <a:lnSpc>
                <a:spcPct val="120000"/>
              </a:lnSpc>
            </a:pPr>
            <a:r>
              <a:rPr lang="zh-CN" altLang="en-US" sz="2400" b="1" dirty="0"/>
              <a:t>更新每個權值：</a:t>
            </a:r>
            <a:endParaRPr lang="en-US" altLang="zh-CN" sz="2600" b="1" dirty="0"/>
          </a:p>
          <a:p>
            <a:pPr lvl="2">
              <a:lnSpc>
                <a:spcPct val="120000"/>
              </a:lnSpc>
            </a:pPr>
            <a:r>
              <a:rPr lang="zh-CN" altLang="en-US" sz="2400" b="1" dirty="0"/>
              <a:t>其中</a:t>
            </a:r>
            <a:r>
              <a:rPr lang="en-US" altLang="zh-CN" sz="2400" b="1" dirty="0"/>
              <a:t>:</a:t>
            </a:r>
            <a:endParaRPr lang="en-US" altLang="zh-CN" b="1" dirty="0"/>
          </a:p>
        </p:txBody>
      </p:sp>
      <p:graphicFrame>
        <p:nvGraphicFramePr>
          <p:cNvPr id="15364" name="Object 2"/>
          <p:cNvGraphicFramePr>
            <a:graphicFrameLocks noChangeAspect="1"/>
          </p:cNvGraphicFramePr>
          <p:nvPr/>
        </p:nvGraphicFramePr>
        <p:xfrm>
          <a:off x="4712585" y="5261577"/>
          <a:ext cx="2005012" cy="500062"/>
        </p:xfrm>
        <a:graphic>
          <a:graphicData uri="http://schemas.openxmlformats.org/presentationml/2006/ole">
            <mc:AlternateContent xmlns:mc="http://schemas.openxmlformats.org/markup-compatibility/2006">
              <mc:Choice xmlns:v="urn:schemas-microsoft-com:vml" Requires="v">
                <p:oleObj name="公式" r:id="rId3" imgW="965160" imgH="241200" progId="Equation.3">
                  <p:embed/>
                </p:oleObj>
              </mc:Choice>
              <mc:Fallback>
                <p:oleObj name="公式" r:id="rId3" imgW="965160" imgH="241200" progId="Equation.3">
                  <p:embed/>
                  <p:pic>
                    <p:nvPicPr>
                      <p:cNvPr id="1536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2585" y="5261577"/>
                        <a:ext cx="2005012" cy="500062"/>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graphicFrame>
        <p:nvGraphicFramePr>
          <p:cNvPr id="15365" name="Object 2"/>
          <p:cNvGraphicFramePr>
            <a:graphicFrameLocks noChangeAspect="1"/>
          </p:cNvGraphicFramePr>
          <p:nvPr/>
        </p:nvGraphicFramePr>
        <p:xfrm>
          <a:off x="3365822" y="5802133"/>
          <a:ext cx="1741487" cy="500062"/>
        </p:xfrm>
        <a:graphic>
          <a:graphicData uri="http://schemas.openxmlformats.org/presentationml/2006/ole">
            <mc:AlternateContent xmlns:mc="http://schemas.openxmlformats.org/markup-compatibility/2006">
              <mc:Choice xmlns:v="urn:schemas-microsoft-com:vml" Requires="v">
                <p:oleObj name="公式" r:id="rId5" imgW="838080" imgH="241200" progId="Equation.3">
                  <p:embed/>
                </p:oleObj>
              </mc:Choice>
              <mc:Fallback>
                <p:oleObj name="公式" r:id="rId5" imgW="838080" imgH="241200" progId="Equation.3">
                  <p:embed/>
                  <p:pic>
                    <p:nvPicPr>
                      <p:cNvPr id="15365"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5822" y="5802133"/>
                        <a:ext cx="1741487" cy="500062"/>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3" name="文本框 136">
                <a:extLst>
                  <a:ext uri="{FF2B5EF4-FFF2-40B4-BE49-F238E27FC236}">
                    <a16:creationId xmlns:a16="http://schemas.microsoft.com/office/drawing/2014/main" id="{5127BF8D-C439-B934-EFC8-28CC567F2C40}"/>
                  </a:ext>
                </a:extLst>
              </p:cNvPr>
              <p:cNvSpPr txBox="1"/>
              <p:nvPr/>
            </p:nvSpPr>
            <p:spPr>
              <a:xfrm>
                <a:off x="6180256" y="4442115"/>
                <a:ext cx="5499505" cy="130682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400" b="0" i="1" u="none" strike="noStrike" kern="1200" cap="none" spc="0" normalizeH="0" baseline="0" noProof="0" smtClean="0">
                              <a:ln>
                                <a:noFill/>
                              </a:ln>
                              <a:solidFill>
                                <a:schemeClr val="tx1"/>
                              </a:solidFill>
                              <a:effectLst/>
                              <a:uLnTx/>
                              <a:uFillTx/>
                              <a:latin typeface="Cambria Math" panose="02040503050406030204" pitchFamily="18" charset="0"/>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𝛿</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h</m:t>
                          </m:r>
                        </m:sub>
                      </m:s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m:t>
                      </m:r>
                      <m:sSub>
                        <m:sSubPr>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𝑜</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h</m:t>
                          </m:r>
                        </m:sub>
                      </m:s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(1−</m:t>
                      </m:r>
                      <m:sSub>
                        <m:sSubPr>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𝑜</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h</m:t>
                          </m:r>
                        </m:sub>
                      </m:s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m:t>
                      </m:r>
                      <m:nary>
                        <m:naryPr>
                          <m:chr m:val="∑"/>
                          <m:limLoc m:val="undOvr"/>
                          <m:supHide m:val="on"/>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rPr>
                          </m:ctrlPr>
                        </m:naryPr>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𝑘</m:t>
                          </m:r>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m:t>
                          </m:r>
                          <m:r>
                            <a:rPr lang="zh-CN" altLang="en-US" sz="2400" i="1" smtClean="0">
                              <a:solidFill>
                                <a:schemeClr val="tx1"/>
                              </a:solidFill>
                              <a:latin typeface="Cambria Math" panose="02040503050406030204" pitchFamily="18" charset="0"/>
                            </a:rPr>
                            <m:t>後繼</m:t>
                          </m:r>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m:t>
                          </m:r>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h</m:t>
                          </m:r>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m:t>
                          </m:r>
                        </m:sub>
                        <m:sup/>
                        <m:e>
                          <m:sSub>
                            <m:sSubPr>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𝛿</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𝑘</m:t>
                              </m:r>
                            </m:sub>
                          </m:sSub>
                          <m:sSub>
                            <m:sSubPr>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𝑤</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rPr>
                                <m:t>𝑘h</m:t>
                              </m:r>
                            </m:sub>
                          </m:sSub>
                        </m:e>
                      </m:nary>
                    </m:oMath>
                  </m:oMathPara>
                </a14:m>
                <a:endParaRPr kumimoji="0" lang="zh-CN" altLang="zh-CN" sz="2000" b="0" i="0" u="none" strike="noStrike" kern="1200" cap="none" spc="0" normalizeH="0" baseline="0" noProof="0" dirty="0">
                  <a:ln>
                    <a:noFill/>
                  </a:ln>
                  <a:solidFill>
                    <a:schemeClr val="tx1"/>
                  </a:solidFill>
                  <a:effectLst/>
                  <a:uLnTx/>
                  <a:uFillTx/>
                  <a:latin typeface="Perpetua"/>
                  <a:ea typeface="宋体" panose="02010600030101010101" pitchFamily="2" charset="-122"/>
                </a:endParaRPr>
              </a:p>
            </p:txBody>
          </p:sp>
        </mc:Choice>
        <mc:Fallback>
          <p:sp>
            <p:nvSpPr>
              <p:cNvPr id="3" name="文本框 136">
                <a:extLst>
                  <a:ext uri="{FF2B5EF4-FFF2-40B4-BE49-F238E27FC236}">
                    <a16:creationId xmlns:a16="http://schemas.microsoft.com/office/drawing/2014/main" id="{5127BF8D-C439-B934-EFC8-28CC567F2C40}"/>
                  </a:ext>
                </a:extLst>
              </p:cNvPr>
              <p:cNvSpPr txBox="1">
                <a:spLocks noRot="1" noChangeAspect="1" noMove="1" noResize="1" noEditPoints="1" noAdjustHandles="1" noChangeArrowheads="1" noChangeShapeType="1" noTextEdit="1"/>
              </p:cNvSpPr>
              <p:nvPr/>
            </p:nvSpPr>
            <p:spPr>
              <a:xfrm>
                <a:off x="6180256" y="4442115"/>
                <a:ext cx="5499505" cy="1306824"/>
              </a:xfrm>
              <a:prstGeom prst="rect">
                <a:avLst/>
              </a:prstGeom>
              <a:blipFill>
                <a:blip r:embed="rId7"/>
                <a:stretch>
                  <a:fillRect/>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 name="文本框 134">
                <a:extLst>
                  <a:ext uri="{FF2B5EF4-FFF2-40B4-BE49-F238E27FC236}">
                    <a16:creationId xmlns:a16="http://schemas.microsoft.com/office/drawing/2014/main" id="{D985C628-5C56-46AF-ED6B-0B56B0C0CF03}"/>
                  </a:ext>
                </a:extLst>
              </p:cNvPr>
              <p:cNvSpPr txBox="1"/>
              <p:nvPr/>
            </p:nvSpPr>
            <p:spPr>
              <a:xfrm>
                <a:off x="6041170" y="3906169"/>
                <a:ext cx="4624884" cy="77773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𝛿</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𝑘</m:t>
                          </m:r>
                        </m:sub>
                      </m:s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𝑡</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𝑘</m:t>
                          </m:r>
                        </m:sub>
                      </m:s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𝑘</m:t>
                          </m:r>
                        </m:sub>
                      </m:s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𝑘</m:t>
                          </m:r>
                        </m:sub>
                      </m:s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(1−</m:t>
                      </m:r>
                      <m:sSub>
                        <m:sSubPr>
                          <m:ctrlPr>
                            <a:rPr kumimoji="0" lang="zh-CN"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𝑘</m:t>
                          </m:r>
                        </m:sub>
                      </m:sSub>
                      <m:r>
                        <a:rPr kumimoji="0" lang="en-US" altLang="zh-CN" sz="2400" b="0" i="1" u="none" strike="noStrike" kern="1200" cap="none" spc="0" normalizeH="0" baseline="0" noProof="0">
                          <a:ln>
                            <a:noFill/>
                          </a:ln>
                          <a:solidFill>
                            <a:schemeClr val="tx1"/>
                          </a:solidFill>
                          <a:effectLst/>
                          <a:uLnTx/>
                          <a:uFillTx/>
                          <a:latin typeface="Cambria Math" panose="02040503050406030204" pitchFamily="18" charset="0"/>
                          <a:cs typeface="+mn-cs"/>
                        </a:rPr>
                        <m:t>)</m:t>
                      </m:r>
                    </m:oMath>
                  </m:oMathPara>
                </a14:m>
                <a:endParaRPr kumimoji="0" lang="zh-CN" altLang="zh-CN" sz="2000" b="0" i="0" u="none" strike="noStrike" kern="1200" cap="none" spc="0" normalizeH="0" baseline="0" noProof="0" dirty="0">
                  <a:ln>
                    <a:noFill/>
                  </a:ln>
                  <a:solidFill>
                    <a:schemeClr val="tx1"/>
                  </a:solidFill>
                  <a:effectLst/>
                  <a:uLnTx/>
                  <a:uFillTx/>
                  <a:latin typeface="Perpetua"/>
                  <a:ea typeface="宋体" panose="02010600030101010101" pitchFamily="2" charset="-122"/>
                  <a:cs typeface="+mn-cs"/>
                </a:endParaRPr>
              </a:p>
            </p:txBody>
          </p:sp>
        </mc:Choice>
        <mc:Fallback>
          <p:sp>
            <p:nvSpPr>
              <p:cNvPr id="4" name="文本框 134">
                <a:extLst>
                  <a:ext uri="{FF2B5EF4-FFF2-40B4-BE49-F238E27FC236}">
                    <a16:creationId xmlns:a16="http://schemas.microsoft.com/office/drawing/2014/main" id="{D985C628-5C56-46AF-ED6B-0B56B0C0CF03}"/>
                  </a:ext>
                </a:extLst>
              </p:cNvPr>
              <p:cNvSpPr txBox="1">
                <a:spLocks noRot="1" noChangeAspect="1" noMove="1" noResize="1" noEditPoints="1" noAdjustHandles="1" noChangeArrowheads="1" noChangeShapeType="1" noTextEdit="1"/>
              </p:cNvSpPr>
              <p:nvPr/>
            </p:nvSpPr>
            <p:spPr>
              <a:xfrm>
                <a:off x="6041170" y="3906169"/>
                <a:ext cx="4624884" cy="777737"/>
              </a:xfrm>
              <a:prstGeom prst="rect">
                <a:avLst/>
              </a:prstGeom>
              <a:blipFill>
                <a:blip r:embed="rId8"/>
                <a:stretch>
                  <a:fillRect/>
                </a:stretch>
              </a:blipFill>
              <a:ln w="6350">
                <a:noFill/>
              </a:ln>
            </p:spPr>
            <p:txBody>
              <a:bodyPr/>
              <a:lstStyle/>
              <a:p>
                <a:r>
                  <a:rPr lang="zh-TW" altLang="en-US">
                    <a:noFill/>
                  </a:rPr>
                  <a:t> </a:t>
                </a:r>
              </a:p>
            </p:txBody>
          </p:sp>
        </mc:Fallback>
      </mc:AlternateContent>
    </p:spTree>
    <p:extLst>
      <p:ext uri="{BB962C8B-B14F-4D97-AF65-F5344CB8AC3E}">
        <p14:creationId xmlns:p14="http://schemas.microsoft.com/office/powerpoint/2010/main" val="6294687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學到了什麼？</a:t>
            </a:r>
          </a:p>
        </p:txBody>
      </p:sp>
      <p:pic>
        <p:nvPicPr>
          <p:cNvPr id="489474" name="Picture 2" descr="http://neuralnetworksanddeeplearning.com/images/tikz41.png"/>
          <p:cNvPicPr>
            <a:picLocks noChangeAspect="1" noChangeArrowheads="1"/>
          </p:cNvPicPr>
          <p:nvPr/>
        </p:nvPicPr>
        <p:blipFill>
          <a:blip r:embed="rId2" cstate="print"/>
          <a:srcRect/>
          <a:stretch>
            <a:fillRect/>
          </a:stretch>
        </p:blipFill>
        <p:spPr bwMode="auto">
          <a:xfrm>
            <a:off x="2578207" y="1960343"/>
            <a:ext cx="7552049" cy="3762540"/>
          </a:xfrm>
          <a:prstGeom prst="rect">
            <a:avLst/>
          </a:prstGeom>
          <a:noFill/>
        </p:spPr>
      </p:pic>
    </p:spTree>
    <p:extLst>
      <p:ext uri="{BB962C8B-B14F-4D97-AF65-F5344CB8AC3E}">
        <p14:creationId xmlns:p14="http://schemas.microsoft.com/office/powerpoint/2010/main" val="28063868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4" descr="recon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43124" y="4629780"/>
            <a:ext cx="1439863" cy="809625"/>
          </a:xfrm>
          <a:prstGeom prst="rect">
            <a:avLst/>
          </a:prstGeom>
          <a:noFill/>
          <a:extLst>
            <a:ext uri="{909E8E84-426E-40dd-AFC4-6F175D3DCCD1}">
              <a14:hiddenFill xmlns="" xmlns:a14="http://schemas.microsoft.com/office/drawing/2010/main">
                <a:solidFill>
                  <a:srgbClr val="FFFFFF"/>
                </a:solidFill>
              </a14:hiddenFill>
            </a:ext>
          </a:extLst>
        </p:spPr>
      </p:pic>
      <p:sp>
        <p:nvSpPr>
          <p:cNvPr id="40" name="Text Box 5"/>
          <p:cNvSpPr txBox="1">
            <a:spLocks noChangeArrowheads="1"/>
          </p:cNvSpPr>
          <p:nvPr/>
        </p:nvSpPr>
        <p:spPr bwMode="auto">
          <a:xfrm>
            <a:off x="6819150" y="4821162"/>
            <a:ext cx="143986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lang="zh-CN" altLang="en-US" sz="2000" dirty="0">
                <a:solidFill>
                  <a:srgbClr val="3333CC"/>
                </a:solidFill>
                <a:latin typeface="Perpetua"/>
              </a:rPr>
              <a:t>輸入圖像</a:t>
            </a:r>
            <a:endParaRPr kumimoji="0" lang="en-US" sz="2000" b="0" i="0" u="none" strike="noStrike" kern="1200" cap="none" spc="0" normalizeH="0" baseline="0" noProof="0" dirty="0">
              <a:ln>
                <a:noFill/>
              </a:ln>
              <a:solidFill>
                <a:srgbClr val="3333CC"/>
              </a:solidFill>
              <a:effectLst/>
              <a:uLnTx/>
              <a:uFillTx/>
              <a:latin typeface="Perpetua"/>
              <a:ea typeface="+mn-ea"/>
              <a:cs typeface="+mn-cs"/>
            </a:endParaRPr>
          </a:p>
        </p:txBody>
      </p:sp>
      <p:pic>
        <p:nvPicPr>
          <p:cNvPr id="41" name="Picture 6" descr="outw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03035" y="3299853"/>
            <a:ext cx="7981950" cy="1178719"/>
          </a:xfrm>
          <a:prstGeom prst="rect">
            <a:avLst/>
          </a:prstGeom>
          <a:noFill/>
          <a:extLst>
            <a:ext uri="{909E8E84-426E-40dd-AFC4-6F175D3DCCD1}">
              <a14:hiddenFill xmlns="" xmlns:a14="http://schemas.microsoft.com/office/drawing/2010/main">
                <a:solidFill>
                  <a:srgbClr val="FFFFFF"/>
                </a:solidFill>
              </a14:hiddenFill>
            </a:ext>
          </a:extLst>
        </p:spPr>
      </p:pic>
      <p:sp>
        <p:nvSpPr>
          <p:cNvPr id="42" name="Line 7"/>
          <p:cNvSpPr>
            <a:spLocks noChangeShapeType="1"/>
          </p:cNvSpPr>
          <p:nvPr/>
        </p:nvSpPr>
        <p:spPr bwMode="auto">
          <a:xfrm flipV="1">
            <a:off x="6603599" y="4217825"/>
            <a:ext cx="298767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3" name="Line 8"/>
          <p:cNvSpPr>
            <a:spLocks noChangeShapeType="1"/>
          </p:cNvSpPr>
          <p:nvPr/>
        </p:nvSpPr>
        <p:spPr bwMode="auto">
          <a:xfrm flipV="1">
            <a:off x="6170212" y="4163054"/>
            <a:ext cx="288925" cy="48696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4" name="Line 9"/>
          <p:cNvSpPr>
            <a:spLocks noChangeShapeType="1"/>
          </p:cNvSpPr>
          <p:nvPr/>
        </p:nvSpPr>
        <p:spPr bwMode="auto">
          <a:xfrm flipH="1" flipV="1">
            <a:off x="5774924" y="4190441"/>
            <a:ext cx="252413"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5" name="Line 10"/>
          <p:cNvSpPr>
            <a:spLocks noChangeShapeType="1"/>
          </p:cNvSpPr>
          <p:nvPr/>
        </p:nvSpPr>
        <p:spPr bwMode="auto">
          <a:xfrm flipV="1">
            <a:off x="6278160" y="4190441"/>
            <a:ext cx="1008062"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6" name="Line 11"/>
          <p:cNvSpPr>
            <a:spLocks noChangeShapeType="1"/>
          </p:cNvSpPr>
          <p:nvPr/>
        </p:nvSpPr>
        <p:spPr bwMode="auto">
          <a:xfrm flipV="1">
            <a:off x="6351185" y="4190440"/>
            <a:ext cx="1655762" cy="48577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7" name="Line 12"/>
          <p:cNvSpPr>
            <a:spLocks noChangeShapeType="1"/>
          </p:cNvSpPr>
          <p:nvPr/>
        </p:nvSpPr>
        <p:spPr bwMode="auto">
          <a:xfrm flipV="1">
            <a:off x="6494062" y="4190441"/>
            <a:ext cx="2376487"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8" name="Line 13"/>
          <p:cNvSpPr>
            <a:spLocks noChangeShapeType="1"/>
          </p:cNvSpPr>
          <p:nvPr/>
        </p:nvSpPr>
        <p:spPr bwMode="auto">
          <a:xfrm flipH="1" flipV="1">
            <a:off x="2569760" y="4217825"/>
            <a:ext cx="2989262"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9" name="Line 14"/>
          <p:cNvSpPr>
            <a:spLocks noChangeShapeType="1"/>
          </p:cNvSpPr>
          <p:nvPr/>
        </p:nvSpPr>
        <p:spPr bwMode="auto">
          <a:xfrm flipH="1" flipV="1">
            <a:off x="3434949" y="4217825"/>
            <a:ext cx="223202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0" name="Line 15"/>
          <p:cNvSpPr>
            <a:spLocks noChangeShapeType="1"/>
          </p:cNvSpPr>
          <p:nvPr/>
        </p:nvSpPr>
        <p:spPr bwMode="auto">
          <a:xfrm flipH="1" flipV="1">
            <a:off x="4190597" y="4190441"/>
            <a:ext cx="1620838"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1" name="Line 16"/>
          <p:cNvSpPr>
            <a:spLocks noChangeShapeType="1"/>
          </p:cNvSpPr>
          <p:nvPr/>
        </p:nvSpPr>
        <p:spPr bwMode="auto">
          <a:xfrm flipH="1" flipV="1">
            <a:off x="4911322" y="4190441"/>
            <a:ext cx="971550"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2" name="Oval 17"/>
          <p:cNvSpPr>
            <a:spLocks noChangeArrowheads="1"/>
          </p:cNvSpPr>
          <p:nvPr/>
        </p:nvSpPr>
        <p:spPr bwMode="auto">
          <a:xfrm>
            <a:off x="22824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3" name="Oval 18"/>
          <p:cNvSpPr>
            <a:spLocks noChangeArrowheads="1"/>
          </p:cNvSpPr>
          <p:nvPr/>
        </p:nvSpPr>
        <p:spPr bwMode="auto">
          <a:xfrm>
            <a:off x="3038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4" name="Oval 19"/>
          <p:cNvSpPr>
            <a:spLocks noChangeArrowheads="1"/>
          </p:cNvSpPr>
          <p:nvPr/>
        </p:nvSpPr>
        <p:spPr bwMode="auto">
          <a:xfrm>
            <a:off x="386674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5" name="Oval 20"/>
          <p:cNvSpPr>
            <a:spLocks noChangeArrowheads="1"/>
          </p:cNvSpPr>
          <p:nvPr/>
        </p:nvSpPr>
        <p:spPr bwMode="auto">
          <a:xfrm>
            <a:off x="462239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6" name="Oval 21"/>
          <p:cNvSpPr>
            <a:spLocks noChangeArrowheads="1"/>
          </p:cNvSpPr>
          <p:nvPr/>
        </p:nvSpPr>
        <p:spPr bwMode="auto">
          <a:xfrm>
            <a:off x="5451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7" name="Oval 22"/>
          <p:cNvSpPr>
            <a:spLocks noChangeArrowheads="1"/>
          </p:cNvSpPr>
          <p:nvPr/>
        </p:nvSpPr>
        <p:spPr bwMode="auto">
          <a:xfrm>
            <a:off x="62067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8" name="Oval 23"/>
          <p:cNvSpPr>
            <a:spLocks noChangeArrowheads="1"/>
          </p:cNvSpPr>
          <p:nvPr/>
        </p:nvSpPr>
        <p:spPr bwMode="auto">
          <a:xfrm>
            <a:off x="70719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9" name="Oval 24"/>
          <p:cNvSpPr>
            <a:spLocks noChangeArrowheads="1"/>
          </p:cNvSpPr>
          <p:nvPr/>
        </p:nvSpPr>
        <p:spPr bwMode="auto">
          <a:xfrm>
            <a:off x="78275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0" name="Oval 25"/>
          <p:cNvSpPr>
            <a:spLocks noChangeArrowheads="1"/>
          </p:cNvSpPr>
          <p:nvPr/>
        </p:nvSpPr>
        <p:spPr bwMode="auto">
          <a:xfrm>
            <a:off x="86911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1" name="Oval 26"/>
          <p:cNvSpPr>
            <a:spLocks noChangeArrowheads="1"/>
          </p:cNvSpPr>
          <p:nvPr/>
        </p:nvSpPr>
        <p:spPr bwMode="auto">
          <a:xfrm>
            <a:off x="94468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2" name="Text Box 27"/>
          <p:cNvSpPr txBox="1">
            <a:spLocks noChangeArrowheads="1"/>
          </p:cNvSpPr>
          <p:nvPr/>
        </p:nvSpPr>
        <p:spPr bwMode="auto">
          <a:xfrm>
            <a:off x="2164949" y="2841531"/>
            <a:ext cx="79200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ea typeface="+mn-ea"/>
                <a:cs typeface="+mn-cs"/>
              </a:rPr>
              <a:t>   1         2          3         4          5         6           7         8           9         0</a:t>
            </a:r>
          </a:p>
        </p:txBody>
      </p:sp>
      <p:sp>
        <p:nvSpPr>
          <p:cNvPr id="63" name="Line 28"/>
          <p:cNvSpPr>
            <a:spLocks noChangeShapeType="1"/>
          </p:cNvSpPr>
          <p:nvPr/>
        </p:nvSpPr>
        <p:spPr bwMode="auto">
          <a:xfrm flipV="1">
            <a:off x="24983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4" name="Line 29"/>
          <p:cNvSpPr>
            <a:spLocks noChangeShapeType="1"/>
          </p:cNvSpPr>
          <p:nvPr/>
        </p:nvSpPr>
        <p:spPr bwMode="auto">
          <a:xfrm flipV="1">
            <a:off x="32539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5" name="Line 30"/>
          <p:cNvSpPr>
            <a:spLocks noChangeShapeType="1"/>
          </p:cNvSpPr>
          <p:nvPr/>
        </p:nvSpPr>
        <p:spPr bwMode="auto">
          <a:xfrm flipV="1">
            <a:off x="408264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6" name="Line 31"/>
          <p:cNvSpPr>
            <a:spLocks noChangeShapeType="1"/>
          </p:cNvSpPr>
          <p:nvPr/>
        </p:nvSpPr>
        <p:spPr bwMode="auto">
          <a:xfrm flipV="1">
            <a:off x="483829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7" name="Line 32"/>
          <p:cNvSpPr>
            <a:spLocks noChangeShapeType="1"/>
          </p:cNvSpPr>
          <p:nvPr/>
        </p:nvSpPr>
        <p:spPr bwMode="auto">
          <a:xfrm flipV="1">
            <a:off x="57034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8" name="Line 33"/>
          <p:cNvSpPr>
            <a:spLocks noChangeShapeType="1"/>
          </p:cNvSpPr>
          <p:nvPr/>
        </p:nvSpPr>
        <p:spPr bwMode="auto">
          <a:xfrm flipV="1">
            <a:off x="64591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9" name="Line 34"/>
          <p:cNvSpPr>
            <a:spLocks noChangeShapeType="1"/>
          </p:cNvSpPr>
          <p:nvPr/>
        </p:nvSpPr>
        <p:spPr bwMode="auto">
          <a:xfrm flipV="1">
            <a:off x="73227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0" name="Line 35"/>
          <p:cNvSpPr>
            <a:spLocks noChangeShapeType="1"/>
          </p:cNvSpPr>
          <p:nvPr/>
        </p:nvSpPr>
        <p:spPr bwMode="auto">
          <a:xfrm flipV="1">
            <a:off x="80783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1" name="Line 36"/>
          <p:cNvSpPr>
            <a:spLocks noChangeShapeType="1"/>
          </p:cNvSpPr>
          <p:nvPr/>
        </p:nvSpPr>
        <p:spPr bwMode="auto">
          <a:xfrm flipV="1">
            <a:off x="89435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2" name="Line 37"/>
          <p:cNvSpPr>
            <a:spLocks noChangeShapeType="1"/>
          </p:cNvSpPr>
          <p:nvPr/>
        </p:nvSpPr>
        <p:spPr bwMode="auto">
          <a:xfrm flipV="1">
            <a:off x="96992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Tree>
    <p:extLst>
      <p:ext uri="{BB962C8B-B14F-4D97-AF65-F5344CB8AC3E}">
        <p14:creationId xmlns:p14="http://schemas.microsoft.com/office/powerpoint/2010/main" val="3461691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6" descr="outw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9213" y="3290327"/>
            <a:ext cx="7981950" cy="1178719"/>
          </a:xfrm>
          <a:prstGeom prst="rect">
            <a:avLst/>
          </a:prstGeom>
          <a:noFill/>
          <a:extLst>
            <a:ext uri="{909E8E84-426E-40dd-AFC4-6F175D3DCCD1}">
              <a14:hiddenFill xmlns="" xmlns:a14="http://schemas.microsoft.com/office/drawing/2010/main">
                <a:solidFill>
                  <a:srgbClr val="FFFFFF"/>
                </a:solidFill>
              </a14:hiddenFill>
            </a:ext>
          </a:extLst>
        </p:spPr>
      </p:pic>
      <p:pic>
        <p:nvPicPr>
          <p:cNvPr id="39" name="Picture 4" descr="recon5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3124" y="4629780"/>
            <a:ext cx="1439863" cy="809625"/>
          </a:xfrm>
          <a:prstGeom prst="rect">
            <a:avLst/>
          </a:prstGeom>
          <a:noFill/>
          <a:extLst>
            <a:ext uri="{909E8E84-426E-40dd-AFC4-6F175D3DCCD1}">
              <a14:hiddenFill xmlns="" xmlns:a14="http://schemas.microsoft.com/office/drawing/2010/main">
                <a:solidFill>
                  <a:srgbClr val="FFFFFF"/>
                </a:solidFill>
              </a14:hiddenFill>
            </a:ext>
          </a:extLst>
        </p:spPr>
      </p:pic>
      <p:sp>
        <p:nvSpPr>
          <p:cNvPr id="42" name="Line 7"/>
          <p:cNvSpPr>
            <a:spLocks noChangeShapeType="1"/>
          </p:cNvSpPr>
          <p:nvPr/>
        </p:nvSpPr>
        <p:spPr bwMode="auto">
          <a:xfrm flipV="1">
            <a:off x="6603599" y="4217825"/>
            <a:ext cx="298767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3" name="Line 8"/>
          <p:cNvSpPr>
            <a:spLocks noChangeShapeType="1"/>
          </p:cNvSpPr>
          <p:nvPr/>
        </p:nvSpPr>
        <p:spPr bwMode="auto">
          <a:xfrm flipV="1">
            <a:off x="6170212" y="4163054"/>
            <a:ext cx="288925" cy="48696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4" name="Line 9"/>
          <p:cNvSpPr>
            <a:spLocks noChangeShapeType="1"/>
          </p:cNvSpPr>
          <p:nvPr/>
        </p:nvSpPr>
        <p:spPr bwMode="auto">
          <a:xfrm flipH="1" flipV="1">
            <a:off x="5774924" y="4190441"/>
            <a:ext cx="252413"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5" name="Line 10"/>
          <p:cNvSpPr>
            <a:spLocks noChangeShapeType="1"/>
          </p:cNvSpPr>
          <p:nvPr/>
        </p:nvSpPr>
        <p:spPr bwMode="auto">
          <a:xfrm flipV="1">
            <a:off x="6278160" y="4190441"/>
            <a:ext cx="1008062"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6" name="Line 11"/>
          <p:cNvSpPr>
            <a:spLocks noChangeShapeType="1"/>
          </p:cNvSpPr>
          <p:nvPr/>
        </p:nvSpPr>
        <p:spPr bwMode="auto">
          <a:xfrm flipV="1">
            <a:off x="6351185" y="4190440"/>
            <a:ext cx="1655762" cy="48577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7" name="Line 12"/>
          <p:cNvSpPr>
            <a:spLocks noChangeShapeType="1"/>
          </p:cNvSpPr>
          <p:nvPr/>
        </p:nvSpPr>
        <p:spPr bwMode="auto">
          <a:xfrm flipV="1">
            <a:off x="6494062" y="4190441"/>
            <a:ext cx="2376487"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8" name="Line 13"/>
          <p:cNvSpPr>
            <a:spLocks noChangeShapeType="1"/>
          </p:cNvSpPr>
          <p:nvPr/>
        </p:nvSpPr>
        <p:spPr bwMode="auto">
          <a:xfrm flipH="1" flipV="1">
            <a:off x="2569760" y="4217825"/>
            <a:ext cx="2989262"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9" name="Line 14"/>
          <p:cNvSpPr>
            <a:spLocks noChangeShapeType="1"/>
          </p:cNvSpPr>
          <p:nvPr/>
        </p:nvSpPr>
        <p:spPr bwMode="auto">
          <a:xfrm flipH="1" flipV="1">
            <a:off x="3434949" y="4217825"/>
            <a:ext cx="223202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0" name="Line 15"/>
          <p:cNvSpPr>
            <a:spLocks noChangeShapeType="1"/>
          </p:cNvSpPr>
          <p:nvPr/>
        </p:nvSpPr>
        <p:spPr bwMode="auto">
          <a:xfrm flipH="1" flipV="1">
            <a:off x="4190597" y="4190441"/>
            <a:ext cx="1620838"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1" name="Line 16"/>
          <p:cNvSpPr>
            <a:spLocks noChangeShapeType="1"/>
          </p:cNvSpPr>
          <p:nvPr/>
        </p:nvSpPr>
        <p:spPr bwMode="auto">
          <a:xfrm flipH="1" flipV="1">
            <a:off x="4911322" y="4190441"/>
            <a:ext cx="971550"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2" name="Oval 17"/>
          <p:cNvSpPr>
            <a:spLocks noChangeArrowheads="1"/>
          </p:cNvSpPr>
          <p:nvPr/>
        </p:nvSpPr>
        <p:spPr bwMode="auto">
          <a:xfrm>
            <a:off x="22824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3" name="Oval 18"/>
          <p:cNvSpPr>
            <a:spLocks noChangeArrowheads="1"/>
          </p:cNvSpPr>
          <p:nvPr/>
        </p:nvSpPr>
        <p:spPr bwMode="auto">
          <a:xfrm>
            <a:off x="3038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4" name="Oval 19"/>
          <p:cNvSpPr>
            <a:spLocks noChangeArrowheads="1"/>
          </p:cNvSpPr>
          <p:nvPr/>
        </p:nvSpPr>
        <p:spPr bwMode="auto">
          <a:xfrm>
            <a:off x="386674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5" name="Oval 20"/>
          <p:cNvSpPr>
            <a:spLocks noChangeArrowheads="1"/>
          </p:cNvSpPr>
          <p:nvPr/>
        </p:nvSpPr>
        <p:spPr bwMode="auto">
          <a:xfrm>
            <a:off x="462239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6" name="Oval 21"/>
          <p:cNvSpPr>
            <a:spLocks noChangeArrowheads="1"/>
          </p:cNvSpPr>
          <p:nvPr/>
        </p:nvSpPr>
        <p:spPr bwMode="auto">
          <a:xfrm>
            <a:off x="5451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7" name="Oval 22"/>
          <p:cNvSpPr>
            <a:spLocks noChangeArrowheads="1"/>
          </p:cNvSpPr>
          <p:nvPr/>
        </p:nvSpPr>
        <p:spPr bwMode="auto">
          <a:xfrm>
            <a:off x="62067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8" name="Oval 23"/>
          <p:cNvSpPr>
            <a:spLocks noChangeArrowheads="1"/>
          </p:cNvSpPr>
          <p:nvPr/>
        </p:nvSpPr>
        <p:spPr bwMode="auto">
          <a:xfrm>
            <a:off x="70719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9" name="Oval 24"/>
          <p:cNvSpPr>
            <a:spLocks noChangeArrowheads="1"/>
          </p:cNvSpPr>
          <p:nvPr/>
        </p:nvSpPr>
        <p:spPr bwMode="auto">
          <a:xfrm>
            <a:off x="78275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0" name="Oval 25"/>
          <p:cNvSpPr>
            <a:spLocks noChangeArrowheads="1"/>
          </p:cNvSpPr>
          <p:nvPr/>
        </p:nvSpPr>
        <p:spPr bwMode="auto">
          <a:xfrm>
            <a:off x="86911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1" name="Oval 26"/>
          <p:cNvSpPr>
            <a:spLocks noChangeArrowheads="1"/>
          </p:cNvSpPr>
          <p:nvPr/>
        </p:nvSpPr>
        <p:spPr bwMode="auto">
          <a:xfrm>
            <a:off x="94468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3" name="Line 28"/>
          <p:cNvSpPr>
            <a:spLocks noChangeShapeType="1"/>
          </p:cNvSpPr>
          <p:nvPr/>
        </p:nvSpPr>
        <p:spPr bwMode="auto">
          <a:xfrm flipV="1">
            <a:off x="24983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4" name="Line 29"/>
          <p:cNvSpPr>
            <a:spLocks noChangeShapeType="1"/>
          </p:cNvSpPr>
          <p:nvPr/>
        </p:nvSpPr>
        <p:spPr bwMode="auto">
          <a:xfrm flipV="1">
            <a:off x="32539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5" name="Line 30"/>
          <p:cNvSpPr>
            <a:spLocks noChangeShapeType="1"/>
          </p:cNvSpPr>
          <p:nvPr/>
        </p:nvSpPr>
        <p:spPr bwMode="auto">
          <a:xfrm flipV="1">
            <a:off x="408264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6" name="Line 31"/>
          <p:cNvSpPr>
            <a:spLocks noChangeShapeType="1"/>
          </p:cNvSpPr>
          <p:nvPr/>
        </p:nvSpPr>
        <p:spPr bwMode="auto">
          <a:xfrm flipV="1">
            <a:off x="483829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7" name="Line 32"/>
          <p:cNvSpPr>
            <a:spLocks noChangeShapeType="1"/>
          </p:cNvSpPr>
          <p:nvPr/>
        </p:nvSpPr>
        <p:spPr bwMode="auto">
          <a:xfrm flipV="1">
            <a:off x="57034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8" name="Line 33"/>
          <p:cNvSpPr>
            <a:spLocks noChangeShapeType="1"/>
          </p:cNvSpPr>
          <p:nvPr/>
        </p:nvSpPr>
        <p:spPr bwMode="auto">
          <a:xfrm flipV="1">
            <a:off x="64591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9" name="Line 34"/>
          <p:cNvSpPr>
            <a:spLocks noChangeShapeType="1"/>
          </p:cNvSpPr>
          <p:nvPr/>
        </p:nvSpPr>
        <p:spPr bwMode="auto">
          <a:xfrm flipV="1">
            <a:off x="73227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0" name="Line 35"/>
          <p:cNvSpPr>
            <a:spLocks noChangeShapeType="1"/>
          </p:cNvSpPr>
          <p:nvPr/>
        </p:nvSpPr>
        <p:spPr bwMode="auto">
          <a:xfrm flipV="1">
            <a:off x="80783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1" name="Line 36"/>
          <p:cNvSpPr>
            <a:spLocks noChangeShapeType="1"/>
          </p:cNvSpPr>
          <p:nvPr/>
        </p:nvSpPr>
        <p:spPr bwMode="auto">
          <a:xfrm flipV="1">
            <a:off x="89435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2" name="Line 37"/>
          <p:cNvSpPr>
            <a:spLocks noChangeShapeType="1"/>
          </p:cNvSpPr>
          <p:nvPr/>
        </p:nvSpPr>
        <p:spPr bwMode="auto">
          <a:xfrm flipV="1">
            <a:off x="96992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1" name="标题 40"/>
          <p:cNvSpPr>
            <a:spLocks noGrp="1"/>
          </p:cNvSpPr>
          <p:nvPr>
            <p:ph type="title"/>
          </p:nvPr>
        </p:nvSpPr>
        <p:spPr/>
        <p:txBody>
          <a:bodyPr/>
          <a:lstStyle/>
          <a:p>
            <a:endParaRPr lang="zh-CN" altLang="en-US"/>
          </a:p>
        </p:txBody>
      </p:sp>
      <p:sp>
        <p:nvSpPr>
          <p:cNvPr id="75" name="Text Box 27"/>
          <p:cNvSpPr txBox="1">
            <a:spLocks noChangeArrowheads="1"/>
          </p:cNvSpPr>
          <p:nvPr/>
        </p:nvSpPr>
        <p:spPr bwMode="auto">
          <a:xfrm>
            <a:off x="2164949" y="2841531"/>
            <a:ext cx="79200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ea typeface="+mn-ea"/>
                <a:cs typeface="+mn-cs"/>
              </a:rPr>
              <a:t>   1         2          3         4          5         6           7         8           9         0</a:t>
            </a:r>
          </a:p>
        </p:txBody>
      </p:sp>
      <p:sp>
        <p:nvSpPr>
          <p:cNvPr id="37" name="Text Box 5">
            <a:extLst>
              <a:ext uri="{FF2B5EF4-FFF2-40B4-BE49-F238E27FC236}">
                <a16:creationId xmlns:a16="http://schemas.microsoft.com/office/drawing/2014/main" id="{1FBB2BB4-BA4B-4627-9B77-D43B43CB6EFD}"/>
              </a:ext>
            </a:extLst>
          </p:cNvPr>
          <p:cNvSpPr txBox="1">
            <a:spLocks noChangeArrowheads="1"/>
          </p:cNvSpPr>
          <p:nvPr/>
        </p:nvSpPr>
        <p:spPr bwMode="auto">
          <a:xfrm>
            <a:off x="6819150" y="4821162"/>
            <a:ext cx="143986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lang="zh-CN" altLang="en-US" sz="2000" dirty="0">
                <a:solidFill>
                  <a:srgbClr val="3333CC"/>
                </a:solidFill>
                <a:latin typeface="Perpetua"/>
              </a:rPr>
              <a:t>輸入圖像</a:t>
            </a:r>
            <a:endParaRPr kumimoji="0" lang="en-US" sz="2000" b="0" i="0" u="none" strike="noStrike" kern="1200" cap="none" spc="0" normalizeH="0" baseline="0" noProof="0" dirty="0">
              <a:ln>
                <a:noFill/>
              </a:ln>
              <a:solidFill>
                <a:srgbClr val="3333CC"/>
              </a:solidFill>
              <a:effectLst/>
              <a:uLnTx/>
              <a:uFillTx/>
              <a:latin typeface="Perpetua"/>
              <a:ea typeface="+mn-ea"/>
              <a:cs typeface="+mn-cs"/>
            </a:endParaRPr>
          </a:p>
        </p:txBody>
      </p:sp>
    </p:spTree>
    <p:extLst>
      <p:ext uri="{BB962C8B-B14F-4D97-AF65-F5344CB8AC3E}">
        <p14:creationId xmlns:p14="http://schemas.microsoft.com/office/powerpoint/2010/main" val="34160504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descr="outw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72079" y="3277230"/>
            <a:ext cx="7981950" cy="1178719"/>
          </a:xfrm>
          <a:prstGeom prst="rect">
            <a:avLst/>
          </a:prstGeom>
          <a:noFill/>
          <a:extLst>
            <a:ext uri="{909E8E84-426E-40dd-AFC4-6F175D3DCCD1}">
              <a14:hiddenFill xmlns="" xmlns:a14="http://schemas.microsoft.com/office/drawing/2010/main">
                <a:solidFill>
                  <a:srgbClr val="FFFFFF"/>
                </a:solidFill>
              </a14:hiddenFill>
            </a:ext>
          </a:extLst>
        </p:spPr>
      </p:pic>
      <p:pic>
        <p:nvPicPr>
          <p:cNvPr id="39" name="Picture 4" descr="recon5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3124" y="4629780"/>
            <a:ext cx="1439863" cy="809625"/>
          </a:xfrm>
          <a:prstGeom prst="rect">
            <a:avLst/>
          </a:prstGeom>
          <a:noFill/>
          <a:extLst>
            <a:ext uri="{909E8E84-426E-40dd-AFC4-6F175D3DCCD1}">
              <a14:hiddenFill xmlns="" xmlns:a14="http://schemas.microsoft.com/office/drawing/2010/main">
                <a:solidFill>
                  <a:srgbClr val="FFFFFF"/>
                </a:solidFill>
              </a14:hiddenFill>
            </a:ext>
          </a:extLst>
        </p:spPr>
      </p:pic>
      <p:sp>
        <p:nvSpPr>
          <p:cNvPr id="42" name="Line 7"/>
          <p:cNvSpPr>
            <a:spLocks noChangeShapeType="1"/>
          </p:cNvSpPr>
          <p:nvPr/>
        </p:nvSpPr>
        <p:spPr bwMode="auto">
          <a:xfrm flipV="1">
            <a:off x="6603599" y="4217825"/>
            <a:ext cx="298767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3" name="Line 8"/>
          <p:cNvSpPr>
            <a:spLocks noChangeShapeType="1"/>
          </p:cNvSpPr>
          <p:nvPr/>
        </p:nvSpPr>
        <p:spPr bwMode="auto">
          <a:xfrm flipV="1">
            <a:off x="6170212" y="4163054"/>
            <a:ext cx="288925" cy="48696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4" name="Line 9"/>
          <p:cNvSpPr>
            <a:spLocks noChangeShapeType="1"/>
          </p:cNvSpPr>
          <p:nvPr/>
        </p:nvSpPr>
        <p:spPr bwMode="auto">
          <a:xfrm flipH="1" flipV="1">
            <a:off x="5774924" y="4190441"/>
            <a:ext cx="252413"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5" name="Line 10"/>
          <p:cNvSpPr>
            <a:spLocks noChangeShapeType="1"/>
          </p:cNvSpPr>
          <p:nvPr/>
        </p:nvSpPr>
        <p:spPr bwMode="auto">
          <a:xfrm flipV="1">
            <a:off x="6278160" y="4190441"/>
            <a:ext cx="1008062"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6" name="Line 11"/>
          <p:cNvSpPr>
            <a:spLocks noChangeShapeType="1"/>
          </p:cNvSpPr>
          <p:nvPr/>
        </p:nvSpPr>
        <p:spPr bwMode="auto">
          <a:xfrm flipV="1">
            <a:off x="6351185" y="4190440"/>
            <a:ext cx="1655762" cy="48577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7" name="Line 12"/>
          <p:cNvSpPr>
            <a:spLocks noChangeShapeType="1"/>
          </p:cNvSpPr>
          <p:nvPr/>
        </p:nvSpPr>
        <p:spPr bwMode="auto">
          <a:xfrm flipV="1">
            <a:off x="6494062" y="4190441"/>
            <a:ext cx="2376487"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8" name="Line 13"/>
          <p:cNvSpPr>
            <a:spLocks noChangeShapeType="1"/>
          </p:cNvSpPr>
          <p:nvPr/>
        </p:nvSpPr>
        <p:spPr bwMode="auto">
          <a:xfrm flipH="1" flipV="1">
            <a:off x="2569760" y="4217825"/>
            <a:ext cx="2989262"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9" name="Line 14"/>
          <p:cNvSpPr>
            <a:spLocks noChangeShapeType="1"/>
          </p:cNvSpPr>
          <p:nvPr/>
        </p:nvSpPr>
        <p:spPr bwMode="auto">
          <a:xfrm flipH="1" flipV="1">
            <a:off x="3434949" y="4217825"/>
            <a:ext cx="223202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0" name="Line 15"/>
          <p:cNvSpPr>
            <a:spLocks noChangeShapeType="1"/>
          </p:cNvSpPr>
          <p:nvPr/>
        </p:nvSpPr>
        <p:spPr bwMode="auto">
          <a:xfrm flipH="1" flipV="1">
            <a:off x="4190597" y="4190441"/>
            <a:ext cx="1620838"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1" name="Line 16"/>
          <p:cNvSpPr>
            <a:spLocks noChangeShapeType="1"/>
          </p:cNvSpPr>
          <p:nvPr/>
        </p:nvSpPr>
        <p:spPr bwMode="auto">
          <a:xfrm flipH="1" flipV="1">
            <a:off x="4911322" y="4190441"/>
            <a:ext cx="971550"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2" name="Oval 17"/>
          <p:cNvSpPr>
            <a:spLocks noChangeArrowheads="1"/>
          </p:cNvSpPr>
          <p:nvPr/>
        </p:nvSpPr>
        <p:spPr bwMode="auto">
          <a:xfrm>
            <a:off x="22824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3" name="Oval 18"/>
          <p:cNvSpPr>
            <a:spLocks noChangeArrowheads="1"/>
          </p:cNvSpPr>
          <p:nvPr/>
        </p:nvSpPr>
        <p:spPr bwMode="auto">
          <a:xfrm>
            <a:off x="3038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4" name="Oval 19"/>
          <p:cNvSpPr>
            <a:spLocks noChangeArrowheads="1"/>
          </p:cNvSpPr>
          <p:nvPr/>
        </p:nvSpPr>
        <p:spPr bwMode="auto">
          <a:xfrm>
            <a:off x="386674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5" name="Oval 20"/>
          <p:cNvSpPr>
            <a:spLocks noChangeArrowheads="1"/>
          </p:cNvSpPr>
          <p:nvPr/>
        </p:nvSpPr>
        <p:spPr bwMode="auto">
          <a:xfrm>
            <a:off x="462239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6" name="Oval 21"/>
          <p:cNvSpPr>
            <a:spLocks noChangeArrowheads="1"/>
          </p:cNvSpPr>
          <p:nvPr/>
        </p:nvSpPr>
        <p:spPr bwMode="auto">
          <a:xfrm>
            <a:off x="5451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7" name="Oval 22"/>
          <p:cNvSpPr>
            <a:spLocks noChangeArrowheads="1"/>
          </p:cNvSpPr>
          <p:nvPr/>
        </p:nvSpPr>
        <p:spPr bwMode="auto">
          <a:xfrm>
            <a:off x="62067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8" name="Oval 23"/>
          <p:cNvSpPr>
            <a:spLocks noChangeArrowheads="1"/>
          </p:cNvSpPr>
          <p:nvPr/>
        </p:nvSpPr>
        <p:spPr bwMode="auto">
          <a:xfrm>
            <a:off x="70719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9" name="Oval 24"/>
          <p:cNvSpPr>
            <a:spLocks noChangeArrowheads="1"/>
          </p:cNvSpPr>
          <p:nvPr/>
        </p:nvSpPr>
        <p:spPr bwMode="auto">
          <a:xfrm>
            <a:off x="78275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0" name="Oval 25"/>
          <p:cNvSpPr>
            <a:spLocks noChangeArrowheads="1"/>
          </p:cNvSpPr>
          <p:nvPr/>
        </p:nvSpPr>
        <p:spPr bwMode="auto">
          <a:xfrm>
            <a:off x="86911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1" name="Oval 26"/>
          <p:cNvSpPr>
            <a:spLocks noChangeArrowheads="1"/>
          </p:cNvSpPr>
          <p:nvPr/>
        </p:nvSpPr>
        <p:spPr bwMode="auto">
          <a:xfrm>
            <a:off x="94468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3" name="Line 28"/>
          <p:cNvSpPr>
            <a:spLocks noChangeShapeType="1"/>
          </p:cNvSpPr>
          <p:nvPr/>
        </p:nvSpPr>
        <p:spPr bwMode="auto">
          <a:xfrm flipV="1">
            <a:off x="24983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4" name="Line 29"/>
          <p:cNvSpPr>
            <a:spLocks noChangeShapeType="1"/>
          </p:cNvSpPr>
          <p:nvPr/>
        </p:nvSpPr>
        <p:spPr bwMode="auto">
          <a:xfrm flipV="1">
            <a:off x="32539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5" name="Line 30"/>
          <p:cNvSpPr>
            <a:spLocks noChangeShapeType="1"/>
          </p:cNvSpPr>
          <p:nvPr/>
        </p:nvSpPr>
        <p:spPr bwMode="auto">
          <a:xfrm flipV="1">
            <a:off x="408264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6" name="Line 31"/>
          <p:cNvSpPr>
            <a:spLocks noChangeShapeType="1"/>
          </p:cNvSpPr>
          <p:nvPr/>
        </p:nvSpPr>
        <p:spPr bwMode="auto">
          <a:xfrm flipV="1">
            <a:off x="483829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7" name="Line 32"/>
          <p:cNvSpPr>
            <a:spLocks noChangeShapeType="1"/>
          </p:cNvSpPr>
          <p:nvPr/>
        </p:nvSpPr>
        <p:spPr bwMode="auto">
          <a:xfrm flipV="1">
            <a:off x="57034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8" name="Line 33"/>
          <p:cNvSpPr>
            <a:spLocks noChangeShapeType="1"/>
          </p:cNvSpPr>
          <p:nvPr/>
        </p:nvSpPr>
        <p:spPr bwMode="auto">
          <a:xfrm flipV="1">
            <a:off x="64591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9" name="Line 34"/>
          <p:cNvSpPr>
            <a:spLocks noChangeShapeType="1"/>
          </p:cNvSpPr>
          <p:nvPr/>
        </p:nvSpPr>
        <p:spPr bwMode="auto">
          <a:xfrm flipV="1">
            <a:off x="73227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0" name="Line 35"/>
          <p:cNvSpPr>
            <a:spLocks noChangeShapeType="1"/>
          </p:cNvSpPr>
          <p:nvPr/>
        </p:nvSpPr>
        <p:spPr bwMode="auto">
          <a:xfrm flipV="1">
            <a:off x="80783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1" name="Line 36"/>
          <p:cNvSpPr>
            <a:spLocks noChangeShapeType="1"/>
          </p:cNvSpPr>
          <p:nvPr/>
        </p:nvSpPr>
        <p:spPr bwMode="auto">
          <a:xfrm flipV="1">
            <a:off x="89435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2" name="Line 37"/>
          <p:cNvSpPr>
            <a:spLocks noChangeShapeType="1"/>
          </p:cNvSpPr>
          <p:nvPr/>
        </p:nvSpPr>
        <p:spPr bwMode="auto">
          <a:xfrm flipV="1">
            <a:off x="96992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1" name="标题 40"/>
          <p:cNvSpPr>
            <a:spLocks noGrp="1"/>
          </p:cNvSpPr>
          <p:nvPr>
            <p:ph type="title"/>
          </p:nvPr>
        </p:nvSpPr>
        <p:spPr/>
        <p:txBody>
          <a:bodyPr/>
          <a:lstStyle/>
          <a:p>
            <a:endParaRPr lang="zh-CN" altLang="en-US"/>
          </a:p>
        </p:txBody>
      </p:sp>
      <p:sp>
        <p:nvSpPr>
          <p:cNvPr id="74" name="Text Box 27"/>
          <p:cNvSpPr txBox="1">
            <a:spLocks noChangeArrowheads="1"/>
          </p:cNvSpPr>
          <p:nvPr/>
        </p:nvSpPr>
        <p:spPr bwMode="auto">
          <a:xfrm>
            <a:off x="2164949" y="2841531"/>
            <a:ext cx="79200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ea typeface="+mn-ea"/>
                <a:cs typeface="+mn-cs"/>
              </a:rPr>
              <a:t>   1         2          3         4          5         6           7         8           9         0</a:t>
            </a:r>
          </a:p>
        </p:txBody>
      </p:sp>
      <p:sp>
        <p:nvSpPr>
          <p:cNvPr id="37" name="Text Box 5">
            <a:extLst>
              <a:ext uri="{FF2B5EF4-FFF2-40B4-BE49-F238E27FC236}">
                <a16:creationId xmlns:a16="http://schemas.microsoft.com/office/drawing/2014/main" id="{1F92CD67-8B54-4F34-94D4-D5652C90C39D}"/>
              </a:ext>
            </a:extLst>
          </p:cNvPr>
          <p:cNvSpPr txBox="1">
            <a:spLocks noChangeArrowheads="1"/>
          </p:cNvSpPr>
          <p:nvPr/>
        </p:nvSpPr>
        <p:spPr bwMode="auto">
          <a:xfrm>
            <a:off x="6819150" y="4821162"/>
            <a:ext cx="143986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lang="zh-CN" altLang="en-US" sz="2000" dirty="0">
                <a:solidFill>
                  <a:srgbClr val="3333CC"/>
                </a:solidFill>
                <a:latin typeface="Perpetua"/>
              </a:rPr>
              <a:t>輸入圖像</a:t>
            </a:r>
            <a:endParaRPr kumimoji="0" lang="en-US" sz="2000" b="0" i="0" u="none" strike="noStrike" kern="1200" cap="none" spc="0" normalizeH="0" baseline="0" noProof="0" dirty="0">
              <a:ln>
                <a:noFill/>
              </a:ln>
              <a:solidFill>
                <a:srgbClr val="3333CC"/>
              </a:solidFill>
              <a:effectLst/>
              <a:uLnTx/>
              <a:uFillTx/>
              <a:latin typeface="Perpetua"/>
              <a:ea typeface="+mn-ea"/>
              <a:cs typeface="+mn-cs"/>
            </a:endParaRPr>
          </a:p>
        </p:txBody>
      </p:sp>
    </p:spTree>
    <p:extLst>
      <p:ext uri="{BB962C8B-B14F-4D97-AF65-F5344CB8AC3E}">
        <p14:creationId xmlns:p14="http://schemas.microsoft.com/office/powerpoint/2010/main" val="13696507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descr="outw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72079" y="3303196"/>
            <a:ext cx="7981950" cy="1178719"/>
          </a:xfrm>
          <a:prstGeom prst="rect">
            <a:avLst/>
          </a:prstGeom>
          <a:noFill/>
          <a:extLst>
            <a:ext uri="{909E8E84-426E-40dd-AFC4-6F175D3DCCD1}">
              <a14:hiddenFill xmlns="" xmlns:a14="http://schemas.microsoft.com/office/drawing/2010/main">
                <a:solidFill>
                  <a:srgbClr val="FFFFFF"/>
                </a:solidFill>
              </a14:hiddenFill>
            </a:ext>
          </a:extLst>
        </p:spPr>
      </p:pic>
      <p:pic>
        <p:nvPicPr>
          <p:cNvPr id="39" name="Picture 4" descr="recon5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3124" y="4629780"/>
            <a:ext cx="1439863" cy="809625"/>
          </a:xfrm>
          <a:prstGeom prst="rect">
            <a:avLst/>
          </a:prstGeom>
          <a:noFill/>
          <a:extLst>
            <a:ext uri="{909E8E84-426E-40dd-AFC4-6F175D3DCCD1}">
              <a14:hiddenFill xmlns="" xmlns:a14="http://schemas.microsoft.com/office/drawing/2010/main">
                <a:solidFill>
                  <a:srgbClr val="FFFFFF"/>
                </a:solidFill>
              </a14:hiddenFill>
            </a:ext>
          </a:extLst>
        </p:spPr>
      </p:pic>
      <p:sp>
        <p:nvSpPr>
          <p:cNvPr id="42" name="Line 7"/>
          <p:cNvSpPr>
            <a:spLocks noChangeShapeType="1"/>
          </p:cNvSpPr>
          <p:nvPr/>
        </p:nvSpPr>
        <p:spPr bwMode="auto">
          <a:xfrm flipV="1">
            <a:off x="6603599" y="4217825"/>
            <a:ext cx="298767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3" name="Line 8"/>
          <p:cNvSpPr>
            <a:spLocks noChangeShapeType="1"/>
          </p:cNvSpPr>
          <p:nvPr/>
        </p:nvSpPr>
        <p:spPr bwMode="auto">
          <a:xfrm flipV="1">
            <a:off x="6170212" y="4163054"/>
            <a:ext cx="288925" cy="48696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4" name="Line 9"/>
          <p:cNvSpPr>
            <a:spLocks noChangeShapeType="1"/>
          </p:cNvSpPr>
          <p:nvPr/>
        </p:nvSpPr>
        <p:spPr bwMode="auto">
          <a:xfrm flipH="1" flipV="1">
            <a:off x="5774924" y="4190441"/>
            <a:ext cx="252413"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5" name="Line 10"/>
          <p:cNvSpPr>
            <a:spLocks noChangeShapeType="1"/>
          </p:cNvSpPr>
          <p:nvPr/>
        </p:nvSpPr>
        <p:spPr bwMode="auto">
          <a:xfrm flipV="1">
            <a:off x="6278160" y="4190441"/>
            <a:ext cx="1008062"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6" name="Line 11"/>
          <p:cNvSpPr>
            <a:spLocks noChangeShapeType="1"/>
          </p:cNvSpPr>
          <p:nvPr/>
        </p:nvSpPr>
        <p:spPr bwMode="auto">
          <a:xfrm flipV="1">
            <a:off x="6351185" y="4190440"/>
            <a:ext cx="1655762" cy="48577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7" name="Line 12"/>
          <p:cNvSpPr>
            <a:spLocks noChangeShapeType="1"/>
          </p:cNvSpPr>
          <p:nvPr/>
        </p:nvSpPr>
        <p:spPr bwMode="auto">
          <a:xfrm flipV="1">
            <a:off x="6494062" y="4190441"/>
            <a:ext cx="2376487"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8" name="Line 13"/>
          <p:cNvSpPr>
            <a:spLocks noChangeShapeType="1"/>
          </p:cNvSpPr>
          <p:nvPr/>
        </p:nvSpPr>
        <p:spPr bwMode="auto">
          <a:xfrm flipH="1" flipV="1">
            <a:off x="2569760" y="4217825"/>
            <a:ext cx="2989262"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9" name="Line 14"/>
          <p:cNvSpPr>
            <a:spLocks noChangeShapeType="1"/>
          </p:cNvSpPr>
          <p:nvPr/>
        </p:nvSpPr>
        <p:spPr bwMode="auto">
          <a:xfrm flipH="1" flipV="1">
            <a:off x="3434949" y="4217825"/>
            <a:ext cx="223202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0" name="Line 15"/>
          <p:cNvSpPr>
            <a:spLocks noChangeShapeType="1"/>
          </p:cNvSpPr>
          <p:nvPr/>
        </p:nvSpPr>
        <p:spPr bwMode="auto">
          <a:xfrm flipH="1" flipV="1">
            <a:off x="4190597" y="4190441"/>
            <a:ext cx="1620838"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1" name="Line 16"/>
          <p:cNvSpPr>
            <a:spLocks noChangeShapeType="1"/>
          </p:cNvSpPr>
          <p:nvPr/>
        </p:nvSpPr>
        <p:spPr bwMode="auto">
          <a:xfrm flipH="1" flipV="1">
            <a:off x="4911322" y="4190441"/>
            <a:ext cx="971550"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2" name="Oval 17"/>
          <p:cNvSpPr>
            <a:spLocks noChangeArrowheads="1"/>
          </p:cNvSpPr>
          <p:nvPr/>
        </p:nvSpPr>
        <p:spPr bwMode="auto">
          <a:xfrm>
            <a:off x="22824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3" name="Oval 18"/>
          <p:cNvSpPr>
            <a:spLocks noChangeArrowheads="1"/>
          </p:cNvSpPr>
          <p:nvPr/>
        </p:nvSpPr>
        <p:spPr bwMode="auto">
          <a:xfrm>
            <a:off x="3038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4" name="Oval 19"/>
          <p:cNvSpPr>
            <a:spLocks noChangeArrowheads="1"/>
          </p:cNvSpPr>
          <p:nvPr/>
        </p:nvSpPr>
        <p:spPr bwMode="auto">
          <a:xfrm>
            <a:off x="386674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5" name="Oval 20"/>
          <p:cNvSpPr>
            <a:spLocks noChangeArrowheads="1"/>
          </p:cNvSpPr>
          <p:nvPr/>
        </p:nvSpPr>
        <p:spPr bwMode="auto">
          <a:xfrm>
            <a:off x="462239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6" name="Oval 21"/>
          <p:cNvSpPr>
            <a:spLocks noChangeArrowheads="1"/>
          </p:cNvSpPr>
          <p:nvPr/>
        </p:nvSpPr>
        <p:spPr bwMode="auto">
          <a:xfrm>
            <a:off x="5451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7" name="Oval 22"/>
          <p:cNvSpPr>
            <a:spLocks noChangeArrowheads="1"/>
          </p:cNvSpPr>
          <p:nvPr/>
        </p:nvSpPr>
        <p:spPr bwMode="auto">
          <a:xfrm>
            <a:off x="62067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8" name="Oval 23"/>
          <p:cNvSpPr>
            <a:spLocks noChangeArrowheads="1"/>
          </p:cNvSpPr>
          <p:nvPr/>
        </p:nvSpPr>
        <p:spPr bwMode="auto">
          <a:xfrm>
            <a:off x="70719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9" name="Oval 24"/>
          <p:cNvSpPr>
            <a:spLocks noChangeArrowheads="1"/>
          </p:cNvSpPr>
          <p:nvPr/>
        </p:nvSpPr>
        <p:spPr bwMode="auto">
          <a:xfrm>
            <a:off x="78275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0" name="Oval 25"/>
          <p:cNvSpPr>
            <a:spLocks noChangeArrowheads="1"/>
          </p:cNvSpPr>
          <p:nvPr/>
        </p:nvSpPr>
        <p:spPr bwMode="auto">
          <a:xfrm>
            <a:off x="86911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1" name="Oval 26"/>
          <p:cNvSpPr>
            <a:spLocks noChangeArrowheads="1"/>
          </p:cNvSpPr>
          <p:nvPr/>
        </p:nvSpPr>
        <p:spPr bwMode="auto">
          <a:xfrm>
            <a:off x="94468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3" name="Line 28"/>
          <p:cNvSpPr>
            <a:spLocks noChangeShapeType="1"/>
          </p:cNvSpPr>
          <p:nvPr/>
        </p:nvSpPr>
        <p:spPr bwMode="auto">
          <a:xfrm flipV="1">
            <a:off x="24983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4" name="Line 29"/>
          <p:cNvSpPr>
            <a:spLocks noChangeShapeType="1"/>
          </p:cNvSpPr>
          <p:nvPr/>
        </p:nvSpPr>
        <p:spPr bwMode="auto">
          <a:xfrm flipV="1">
            <a:off x="32539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5" name="Line 30"/>
          <p:cNvSpPr>
            <a:spLocks noChangeShapeType="1"/>
          </p:cNvSpPr>
          <p:nvPr/>
        </p:nvSpPr>
        <p:spPr bwMode="auto">
          <a:xfrm flipV="1">
            <a:off x="408264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6" name="Line 31"/>
          <p:cNvSpPr>
            <a:spLocks noChangeShapeType="1"/>
          </p:cNvSpPr>
          <p:nvPr/>
        </p:nvSpPr>
        <p:spPr bwMode="auto">
          <a:xfrm flipV="1">
            <a:off x="483829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7" name="Line 32"/>
          <p:cNvSpPr>
            <a:spLocks noChangeShapeType="1"/>
          </p:cNvSpPr>
          <p:nvPr/>
        </p:nvSpPr>
        <p:spPr bwMode="auto">
          <a:xfrm flipV="1">
            <a:off x="57034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8" name="Line 33"/>
          <p:cNvSpPr>
            <a:spLocks noChangeShapeType="1"/>
          </p:cNvSpPr>
          <p:nvPr/>
        </p:nvSpPr>
        <p:spPr bwMode="auto">
          <a:xfrm flipV="1">
            <a:off x="64591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9" name="Line 34"/>
          <p:cNvSpPr>
            <a:spLocks noChangeShapeType="1"/>
          </p:cNvSpPr>
          <p:nvPr/>
        </p:nvSpPr>
        <p:spPr bwMode="auto">
          <a:xfrm flipV="1">
            <a:off x="73227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0" name="Line 35"/>
          <p:cNvSpPr>
            <a:spLocks noChangeShapeType="1"/>
          </p:cNvSpPr>
          <p:nvPr/>
        </p:nvSpPr>
        <p:spPr bwMode="auto">
          <a:xfrm flipV="1">
            <a:off x="80783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1" name="Line 36"/>
          <p:cNvSpPr>
            <a:spLocks noChangeShapeType="1"/>
          </p:cNvSpPr>
          <p:nvPr/>
        </p:nvSpPr>
        <p:spPr bwMode="auto">
          <a:xfrm flipV="1">
            <a:off x="89435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2" name="Line 37"/>
          <p:cNvSpPr>
            <a:spLocks noChangeShapeType="1"/>
          </p:cNvSpPr>
          <p:nvPr/>
        </p:nvSpPr>
        <p:spPr bwMode="auto">
          <a:xfrm flipV="1">
            <a:off x="96992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1" name="标题 40"/>
          <p:cNvSpPr>
            <a:spLocks noGrp="1"/>
          </p:cNvSpPr>
          <p:nvPr>
            <p:ph type="title"/>
          </p:nvPr>
        </p:nvSpPr>
        <p:spPr/>
        <p:txBody>
          <a:bodyPr/>
          <a:lstStyle/>
          <a:p>
            <a:endParaRPr lang="zh-CN" altLang="en-US"/>
          </a:p>
        </p:txBody>
      </p:sp>
      <p:sp>
        <p:nvSpPr>
          <p:cNvPr id="74" name="Text Box 27"/>
          <p:cNvSpPr txBox="1">
            <a:spLocks noChangeArrowheads="1"/>
          </p:cNvSpPr>
          <p:nvPr/>
        </p:nvSpPr>
        <p:spPr bwMode="auto">
          <a:xfrm>
            <a:off x="2164949" y="2841531"/>
            <a:ext cx="79200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ea typeface="+mn-ea"/>
                <a:cs typeface="+mn-cs"/>
              </a:rPr>
              <a:t>   1         2          3         4          5         6           7         8           9         0</a:t>
            </a:r>
          </a:p>
        </p:txBody>
      </p:sp>
      <p:sp>
        <p:nvSpPr>
          <p:cNvPr id="37" name="Text Box 5">
            <a:extLst>
              <a:ext uri="{FF2B5EF4-FFF2-40B4-BE49-F238E27FC236}">
                <a16:creationId xmlns:a16="http://schemas.microsoft.com/office/drawing/2014/main" id="{97E0FF00-1051-465F-983C-75CE3AC4A309}"/>
              </a:ext>
            </a:extLst>
          </p:cNvPr>
          <p:cNvSpPr txBox="1">
            <a:spLocks noChangeArrowheads="1"/>
          </p:cNvSpPr>
          <p:nvPr/>
        </p:nvSpPr>
        <p:spPr bwMode="auto">
          <a:xfrm>
            <a:off x="6819150" y="4821162"/>
            <a:ext cx="143986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lang="zh-CN" altLang="en-US" sz="2000" dirty="0">
                <a:solidFill>
                  <a:srgbClr val="3333CC"/>
                </a:solidFill>
                <a:latin typeface="Perpetua"/>
              </a:rPr>
              <a:t>輸入圖像</a:t>
            </a:r>
            <a:endParaRPr kumimoji="0" lang="en-US" sz="2000" b="0" i="0" u="none" strike="noStrike" kern="1200" cap="none" spc="0" normalizeH="0" baseline="0" noProof="0" dirty="0">
              <a:ln>
                <a:noFill/>
              </a:ln>
              <a:solidFill>
                <a:srgbClr val="3333CC"/>
              </a:solidFill>
              <a:effectLst/>
              <a:uLnTx/>
              <a:uFillTx/>
              <a:latin typeface="Perpetua"/>
              <a:ea typeface="+mn-ea"/>
              <a:cs typeface="+mn-cs"/>
            </a:endParaRPr>
          </a:p>
        </p:txBody>
      </p:sp>
    </p:spTree>
    <p:extLst>
      <p:ext uri="{BB962C8B-B14F-4D97-AF65-F5344CB8AC3E}">
        <p14:creationId xmlns:p14="http://schemas.microsoft.com/office/powerpoint/2010/main" val="30858472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descr="outw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0934" y="3312848"/>
            <a:ext cx="7981950" cy="1178719"/>
          </a:xfrm>
          <a:prstGeom prst="rect">
            <a:avLst/>
          </a:prstGeom>
          <a:noFill/>
          <a:extLst>
            <a:ext uri="{909E8E84-426E-40dd-AFC4-6F175D3DCCD1}">
              <a14:hiddenFill xmlns="" xmlns:a14="http://schemas.microsoft.com/office/drawing/2010/main">
                <a:solidFill>
                  <a:srgbClr val="FFFFFF"/>
                </a:solidFill>
              </a14:hiddenFill>
            </a:ext>
          </a:extLst>
        </p:spPr>
      </p:pic>
      <p:pic>
        <p:nvPicPr>
          <p:cNvPr id="39" name="Picture 4" descr="recon5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3124" y="4629780"/>
            <a:ext cx="1439863" cy="809625"/>
          </a:xfrm>
          <a:prstGeom prst="rect">
            <a:avLst/>
          </a:prstGeom>
          <a:noFill/>
          <a:extLst>
            <a:ext uri="{909E8E84-426E-40dd-AFC4-6F175D3DCCD1}">
              <a14:hiddenFill xmlns="" xmlns:a14="http://schemas.microsoft.com/office/drawing/2010/main">
                <a:solidFill>
                  <a:srgbClr val="FFFFFF"/>
                </a:solidFill>
              </a14:hiddenFill>
            </a:ext>
          </a:extLst>
        </p:spPr>
      </p:pic>
      <p:sp>
        <p:nvSpPr>
          <p:cNvPr id="42" name="Line 7"/>
          <p:cNvSpPr>
            <a:spLocks noChangeShapeType="1"/>
          </p:cNvSpPr>
          <p:nvPr/>
        </p:nvSpPr>
        <p:spPr bwMode="auto">
          <a:xfrm flipV="1">
            <a:off x="6603599" y="4217825"/>
            <a:ext cx="298767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3" name="Line 8"/>
          <p:cNvSpPr>
            <a:spLocks noChangeShapeType="1"/>
          </p:cNvSpPr>
          <p:nvPr/>
        </p:nvSpPr>
        <p:spPr bwMode="auto">
          <a:xfrm flipV="1">
            <a:off x="6170212" y="4163054"/>
            <a:ext cx="288925" cy="48696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4" name="Line 9"/>
          <p:cNvSpPr>
            <a:spLocks noChangeShapeType="1"/>
          </p:cNvSpPr>
          <p:nvPr/>
        </p:nvSpPr>
        <p:spPr bwMode="auto">
          <a:xfrm flipH="1" flipV="1">
            <a:off x="5774924" y="4190441"/>
            <a:ext cx="252413"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5" name="Line 10"/>
          <p:cNvSpPr>
            <a:spLocks noChangeShapeType="1"/>
          </p:cNvSpPr>
          <p:nvPr/>
        </p:nvSpPr>
        <p:spPr bwMode="auto">
          <a:xfrm flipV="1">
            <a:off x="6278160" y="4190441"/>
            <a:ext cx="1008062"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6" name="Line 11"/>
          <p:cNvSpPr>
            <a:spLocks noChangeShapeType="1"/>
          </p:cNvSpPr>
          <p:nvPr/>
        </p:nvSpPr>
        <p:spPr bwMode="auto">
          <a:xfrm flipV="1">
            <a:off x="6351185" y="4190440"/>
            <a:ext cx="1655762" cy="48577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7" name="Line 12"/>
          <p:cNvSpPr>
            <a:spLocks noChangeShapeType="1"/>
          </p:cNvSpPr>
          <p:nvPr/>
        </p:nvSpPr>
        <p:spPr bwMode="auto">
          <a:xfrm flipV="1">
            <a:off x="6494062" y="4190441"/>
            <a:ext cx="2376487"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8" name="Line 13"/>
          <p:cNvSpPr>
            <a:spLocks noChangeShapeType="1"/>
          </p:cNvSpPr>
          <p:nvPr/>
        </p:nvSpPr>
        <p:spPr bwMode="auto">
          <a:xfrm flipH="1" flipV="1">
            <a:off x="2569760" y="4217825"/>
            <a:ext cx="2989262"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9" name="Line 14"/>
          <p:cNvSpPr>
            <a:spLocks noChangeShapeType="1"/>
          </p:cNvSpPr>
          <p:nvPr/>
        </p:nvSpPr>
        <p:spPr bwMode="auto">
          <a:xfrm flipH="1" flipV="1">
            <a:off x="3434949" y="4217825"/>
            <a:ext cx="223202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0" name="Line 15"/>
          <p:cNvSpPr>
            <a:spLocks noChangeShapeType="1"/>
          </p:cNvSpPr>
          <p:nvPr/>
        </p:nvSpPr>
        <p:spPr bwMode="auto">
          <a:xfrm flipH="1" flipV="1">
            <a:off x="4190597" y="4190441"/>
            <a:ext cx="1620838"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1" name="Line 16"/>
          <p:cNvSpPr>
            <a:spLocks noChangeShapeType="1"/>
          </p:cNvSpPr>
          <p:nvPr/>
        </p:nvSpPr>
        <p:spPr bwMode="auto">
          <a:xfrm flipH="1" flipV="1">
            <a:off x="4911322" y="4190441"/>
            <a:ext cx="971550"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2" name="Oval 17"/>
          <p:cNvSpPr>
            <a:spLocks noChangeArrowheads="1"/>
          </p:cNvSpPr>
          <p:nvPr/>
        </p:nvSpPr>
        <p:spPr bwMode="auto">
          <a:xfrm>
            <a:off x="22824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3" name="Oval 18"/>
          <p:cNvSpPr>
            <a:spLocks noChangeArrowheads="1"/>
          </p:cNvSpPr>
          <p:nvPr/>
        </p:nvSpPr>
        <p:spPr bwMode="auto">
          <a:xfrm>
            <a:off x="3038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4" name="Oval 19"/>
          <p:cNvSpPr>
            <a:spLocks noChangeArrowheads="1"/>
          </p:cNvSpPr>
          <p:nvPr/>
        </p:nvSpPr>
        <p:spPr bwMode="auto">
          <a:xfrm>
            <a:off x="386674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5" name="Oval 20"/>
          <p:cNvSpPr>
            <a:spLocks noChangeArrowheads="1"/>
          </p:cNvSpPr>
          <p:nvPr/>
        </p:nvSpPr>
        <p:spPr bwMode="auto">
          <a:xfrm>
            <a:off x="462239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6" name="Oval 21"/>
          <p:cNvSpPr>
            <a:spLocks noChangeArrowheads="1"/>
          </p:cNvSpPr>
          <p:nvPr/>
        </p:nvSpPr>
        <p:spPr bwMode="auto">
          <a:xfrm>
            <a:off x="5451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7" name="Oval 22"/>
          <p:cNvSpPr>
            <a:spLocks noChangeArrowheads="1"/>
          </p:cNvSpPr>
          <p:nvPr/>
        </p:nvSpPr>
        <p:spPr bwMode="auto">
          <a:xfrm>
            <a:off x="62067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8" name="Oval 23"/>
          <p:cNvSpPr>
            <a:spLocks noChangeArrowheads="1"/>
          </p:cNvSpPr>
          <p:nvPr/>
        </p:nvSpPr>
        <p:spPr bwMode="auto">
          <a:xfrm>
            <a:off x="70719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9" name="Oval 24"/>
          <p:cNvSpPr>
            <a:spLocks noChangeArrowheads="1"/>
          </p:cNvSpPr>
          <p:nvPr/>
        </p:nvSpPr>
        <p:spPr bwMode="auto">
          <a:xfrm>
            <a:off x="78275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0" name="Oval 25"/>
          <p:cNvSpPr>
            <a:spLocks noChangeArrowheads="1"/>
          </p:cNvSpPr>
          <p:nvPr/>
        </p:nvSpPr>
        <p:spPr bwMode="auto">
          <a:xfrm>
            <a:off x="86911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1" name="Oval 26"/>
          <p:cNvSpPr>
            <a:spLocks noChangeArrowheads="1"/>
          </p:cNvSpPr>
          <p:nvPr/>
        </p:nvSpPr>
        <p:spPr bwMode="auto">
          <a:xfrm>
            <a:off x="94468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3" name="Line 28"/>
          <p:cNvSpPr>
            <a:spLocks noChangeShapeType="1"/>
          </p:cNvSpPr>
          <p:nvPr/>
        </p:nvSpPr>
        <p:spPr bwMode="auto">
          <a:xfrm flipV="1">
            <a:off x="24983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4" name="Line 29"/>
          <p:cNvSpPr>
            <a:spLocks noChangeShapeType="1"/>
          </p:cNvSpPr>
          <p:nvPr/>
        </p:nvSpPr>
        <p:spPr bwMode="auto">
          <a:xfrm flipV="1">
            <a:off x="32539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5" name="Line 30"/>
          <p:cNvSpPr>
            <a:spLocks noChangeShapeType="1"/>
          </p:cNvSpPr>
          <p:nvPr/>
        </p:nvSpPr>
        <p:spPr bwMode="auto">
          <a:xfrm flipV="1">
            <a:off x="408264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6" name="Line 31"/>
          <p:cNvSpPr>
            <a:spLocks noChangeShapeType="1"/>
          </p:cNvSpPr>
          <p:nvPr/>
        </p:nvSpPr>
        <p:spPr bwMode="auto">
          <a:xfrm flipV="1">
            <a:off x="483829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7" name="Line 32"/>
          <p:cNvSpPr>
            <a:spLocks noChangeShapeType="1"/>
          </p:cNvSpPr>
          <p:nvPr/>
        </p:nvSpPr>
        <p:spPr bwMode="auto">
          <a:xfrm flipV="1">
            <a:off x="57034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8" name="Line 33"/>
          <p:cNvSpPr>
            <a:spLocks noChangeShapeType="1"/>
          </p:cNvSpPr>
          <p:nvPr/>
        </p:nvSpPr>
        <p:spPr bwMode="auto">
          <a:xfrm flipV="1">
            <a:off x="64591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9" name="Line 34"/>
          <p:cNvSpPr>
            <a:spLocks noChangeShapeType="1"/>
          </p:cNvSpPr>
          <p:nvPr/>
        </p:nvSpPr>
        <p:spPr bwMode="auto">
          <a:xfrm flipV="1">
            <a:off x="73227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0" name="Line 35"/>
          <p:cNvSpPr>
            <a:spLocks noChangeShapeType="1"/>
          </p:cNvSpPr>
          <p:nvPr/>
        </p:nvSpPr>
        <p:spPr bwMode="auto">
          <a:xfrm flipV="1">
            <a:off x="80783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1" name="Line 36"/>
          <p:cNvSpPr>
            <a:spLocks noChangeShapeType="1"/>
          </p:cNvSpPr>
          <p:nvPr/>
        </p:nvSpPr>
        <p:spPr bwMode="auto">
          <a:xfrm flipV="1">
            <a:off x="89435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2" name="Line 37"/>
          <p:cNvSpPr>
            <a:spLocks noChangeShapeType="1"/>
          </p:cNvSpPr>
          <p:nvPr/>
        </p:nvSpPr>
        <p:spPr bwMode="auto">
          <a:xfrm flipV="1">
            <a:off x="96992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1" name="标题 40"/>
          <p:cNvSpPr>
            <a:spLocks noGrp="1"/>
          </p:cNvSpPr>
          <p:nvPr>
            <p:ph type="title"/>
          </p:nvPr>
        </p:nvSpPr>
        <p:spPr/>
        <p:txBody>
          <a:bodyPr/>
          <a:lstStyle/>
          <a:p>
            <a:endParaRPr lang="zh-CN" altLang="en-US"/>
          </a:p>
        </p:txBody>
      </p:sp>
      <p:sp>
        <p:nvSpPr>
          <p:cNvPr id="74" name="Text Box 27"/>
          <p:cNvSpPr txBox="1">
            <a:spLocks noChangeArrowheads="1"/>
          </p:cNvSpPr>
          <p:nvPr/>
        </p:nvSpPr>
        <p:spPr bwMode="auto">
          <a:xfrm>
            <a:off x="2164949" y="2841531"/>
            <a:ext cx="79200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ea typeface="+mn-ea"/>
                <a:cs typeface="+mn-cs"/>
              </a:rPr>
              <a:t>   1         2          3         4          5         6           7         8           9         0</a:t>
            </a:r>
          </a:p>
        </p:txBody>
      </p:sp>
      <p:sp>
        <p:nvSpPr>
          <p:cNvPr id="37" name="Text Box 5">
            <a:extLst>
              <a:ext uri="{FF2B5EF4-FFF2-40B4-BE49-F238E27FC236}">
                <a16:creationId xmlns:a16="http://schemas.microsoft.com/office/drawing/2014/main" id="{B17231E4-D21E-4FD6-A2CC-C60BEA0C70BC}"/>
              </a:ext>
            </a:extLst>
          </p:cNvPr>
          <p:cNvSpPr txBox="1">
            <a:spLocks noChangeArrowheads="1"/>
          </p:cNvSpPr>
          <p:nvPr/>
        </p:nvSpPr>
        <p:spPr bwMode="auto">
          <a:xfrm>
            <a:off x="6819150" y="4821162"/>
            <a:ext cx="143986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lang="zh-CN" altLang="en-US" sz="2000" dirty="0">
                <a:solidFill>
                  <a:srgbClr val="3333CC"/>
                </a:solidFill>
                <a:latin typeface="Perpetua"/>
              </a:rPr>
              <a:t>輸入圖像</a:t>
            </a:r>
            <a:endParaRPr kumimoji="0" lang="en-US" sz="2000" b="0" i="0" u="none" strike="noStrike" kern="1200" cap="none" spc="0" normalizeH="0" baseline="0" noProof="0" dirty="0">
              <a:ln>
                <a:noFill/>
              </a:ln>
              <a:solidFill>
                <a:srgbClr val="3333CC"/>
              </a:solidFill>
              <a:effectLst/>
              <a:uLnTx/>
              <a:uFillTx/>
              <a:latin typeface="Perpetua"/>
              <a:ea typeface="+mn-ea"/>
              <a:cs typeface="+mn-cs"/>
            </a:endParaRPr>
          </a:p>
        </p:txBody>
      </p:sp>
    </p:spTree>
    <p:extLst>
      <p:ext uri="{BB962C8B-B14F-4D97-AF65-F5344CB8AC3E}">
        <p14:creationId xmlns:p14="http://schemas.microsoft.com/office/powerpoint/2010/main" val="23633903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descr="outw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5573" y="3298422"/>
            <a:ext cx="7981950" cy="1178719"/>
          </a:xfrm>
          <a:prstGeom prst="rect">
            <a:avLst/>
          </a:prstGeom>
          <a:noFill/>
          <a:extLst>
            <a:ext uri="{909E8E84-426E-40dd-AFC4-6F175D3DCCD1}">
              <a14:hiddenFill xmlns="" xmlns:a14="http://schemas.microsoft.com/office/drawing/2010/main">
                <a:solidFill>
                  <a:srgbClr val="FFFFFF"/>
                </a:solidFill>
              </a14:hiddenFill>
            </a:ext>
          </a:extLst>
        </p:spPr>
      </p:pic>
      <p:pic>
        <p:nvPicPr>
          <p:cNvPr id="39" name="Picture 4" descr="recon5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3124" y="4629780"/>
            <a:ext cx="1439863" cy="809625"/>
          </a:xfrm>
          <a:prstGeom prst="rect">
            <a:avLst/>
          </a:prstGeom>
          <a:noFill/>
          <a:extLst>
            <a:ext uri="{909E8E84-426E-40dd-AFC4-6F175D3DCCD1}">
              <a14:hiddenFill xmlns="" xmlns:a14="http://schemas.microsoft.com/office/drawing/2010/main">
                <a:solidFill>
                  <a:srgbClr val="FFFFFF"/>
                </a:solidFill>
              </a14:hiddenFill>
            </a:ext>
          </a:extLst>
        </p:spPr>
      </p:pic>
      <p:sp>
        <p:nvSpPr>
          <p:cNvPr id="42" name="Line 7"/>
          <p:cNvSpPr>
            <a:spLocks noChangeShapeType="1"/>
          </p:cNvSpPr>
          <p:nvPr/>
        </p:nvSpPr>
        <p:spPr bwMode="auto">
          <a:xfrm flipV="1">
            <a:off x="6603599" y="4217825"/>
            <a:ext cx="298767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3" name="Line 8"/>
          <p:cNvSpPr>
            <a:spLocks noChangeShapeType="1"/>
          </p:cNvSpPr>
          <p:nvPr/>
        </p:nvSpPr>
        <p:spPr bwMode="auto">
          <a:xfrm flipV="1">
            <a:off x="6170212" y="4163054"/>
            <a:ext cx="288925" cy="48696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4" name="Line 9"/>
          <p:cNvSpPr>
            <a:spLocks noChangeShapeType="1"/>
          </p:cNvSpPr>
          <p:nvPr/>
        </p:nvSpPr>
        <p:spPr bwMode="auto">
          <a:xfrm flipH="1" flipV="1">
            <a:off x="5774924" y="4190441"/>
            <a:ext cx="252413"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5" name="Line 10"/>
          <p:cNvSpPr>
            <a:spLocks noChangeShapeType="1"/>
          </p:cNvSpPr>
          <p:nvPr/>
        </p:nvSpPr>
        <p:spPr bwMode="auto">
          <a:xfrm flipV="1">
            <a:off x="6278160" y="4190441"/>
            <a:ext cx="1008062"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6" name="Line 11"/>
          <p:cNvSpPr>
            <a:spLocks noChangeShapeType="1"/>
          </p:cNvSpPr>
          <p:nvPr/>
        </p:nvSpPr>
        <p:spPr bwMode="auto">
          <a:xfrm flipV="1">
            <a:off x="6351185" y="4190440"/>
            <a:ext cx="1655762" cy="48577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7" name="Line 12"/>
          <p:cNvSpPr>
            <a:spLocks noChangeShapeType="1"/>
          </p:cNvSpPr>
          <p:nvPr/>
        </p:nvSpPr>
        <p:spPr bwMode="auto">
          <a:xfrm flipV="1">
            <a:off x="6494062" y="4190441"/>
            <a:ext cx="2376487"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8" name="Line 13"/>
          <p:cNvSpPr>
            <a:spLocks noChangeShapeType="1"/>
          </p:cNvSpPr>
          <p:nvPr/>
        </p:nvSpPr>
        <p:spPr bwMode="auto">
          <a:xfrm flipH="1" flipV="1">
            <a:off x="2569760" y="4217825"/>
            <a:ext cx="2989262"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9" name="Line 14"/>
          <p:cNvSpPr>
            <a:spLocks noChangeShapeType="1"/>
          </p:cNvSpPr>
          <p:nvPr/>
        </p:nvSpPr>
        <p:spPr bwMode="auto">
          <a:xfrm flipH="1" flipV="1">
            <a:off x="3434949" y="4217825"/>
            <a:ext cx="223202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0" name="Line 15"/>
          <p:cNvSpPr>
            <a:spLocks noChangeShapeType="1"/>
          </p:cNvSpPr>
          <p:nvPr/>
        </p:nvSpPr>
        <p:spPr bwMode="auto">
          <a:xfrm flipH="1" flipV="1">
            <a:off x="4190597" y="4190441"/>
            <a:ext cx="1620838"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1" name="Line 16"/>
          <p:cNvSpPr>
            <a:spLocks noChangeShapeType="1"/>
          </p:cNvSpPr>
          <p:nvPr/>
        </p:nvSpPr>
        <p:spPr bwMode="auto">
          <a:xfrm flipH="1" flipV="1">
            <a:off x="4911322" y="4190441"/>
            <a:ext cx="971550"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2" name="Oval 17"/>
          <p:cNvSpPr>
            <a:spLocks noChangeArrowheads="1"/>
          </p:cNvSpPr>
          <p:nvPr/>
        </p:nvSpPr>
        <p:spPr bwMode="auto">
          <a:xfrm>
            <a:off x="22824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3" name="Oval 18"/>
          <p:cNvSpPr>
            <a:spLocks noChangeArrowheads="1"/>
          </p:cNvSpPr>
          <p:nvPr/>
        </p:nvSpPr>
        <p:spPr bwMode="auto">
          <a:xfrm>
            <a:off x="3038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4" name="Oval 19"/>
          <p:cNvSpPr>
            <a:spLocks noChangeArrowheads="1"/>
          </p:cNvSpPr>
          <p:nvPr/>
        </p:nvSpPr>
        <p:spPr bwMode="auto">
          <a:xfrm>
            <a:off x="386674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5" name="Oval 20"/>
          <p:cNvSpPr>
            <a:spLocks noChangeArrowheads="1"/>
          </p:cNvSpPr>
          <p:nvPr/>
        </p:nvSpPr>
        <p:spPr bwMode="auto">
          <a:xfrm>
            <a:off x="462239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6" name="Oval 21"/>
          <p:cNvSpPr>
            <a:spLocks noChangeArrowheads="1"/>
          </p:cNvSpPr>
          <p:nvPr/>
        </p:nvSpPr>
        <p:spPr bwMode="auto">
          <a:xfrm>
            <a:off x="5451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7" name="Oval 22"/>
          <p:cNvSpPr>
            <a:spLocks noChangeArrowheads="1"/>
          </p:cNvSpPr>
          <p:nvPr/>
        </p:nvSpPr>
        <p:spPr bwMode="auto">
          <a:xfrm>
            <a:off x="62067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8" name="Oval 23"/>
          <p:cNvSpPr>
            <a:spLocks noChangeArrowheads="1"/>
          </p:cNvSpPr>
          <p:nvPr/>
        </p:nvSpPr>
        <p:spPr bwMode="auto">
          <a:xfrm>
            <a:off x="70719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9" name="Oval 24"/>
          <p:cNvSpPr>
            <a:spLocks noChangeArrowheads="1"/>
          </p:cNvSpPr>
          <p:nvPr/>
        </p:nvSpPr>
        <p:spPr bwMode="auto">
          <a:xfrm>
            <a:off x="78275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0" name="Oval 25"/>
          <p:cNvSpPr>
            <a:spLocks noChangeArrowheads="1"/>
          </p:cNvSpPr>
          <p:nvPr/>
        </p:nvSpPr>
        <p:spPr bwMode="auto">
          <a:xfrm>
            <a:off x="86911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1" name="Oval 26"/>
          <p:cNvSpPr>
            <a:spLocks noChangeArrowheads="1"/>
          </p:cNvSpPr>
          <p:nvPr/>
        </p:nvSpPr>
        <p:spPr bwMode="auto">
          <a:xfrm>
            <a:off x="94468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3" name="Line 28"/>
          <p:cNvSpPr>
            <a:spLocks noChangeShapeType="1"/>
          </p:cNvSpPr>
          <p:nvPr/>
        </p:nvSpPr>
        <p:spPr bwMode="auto">
          <a:xfrm flipV="1">
            <a:off x="24983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4" name="Line 29"/>
          <p:cNvSpPr>
            <a:spLocks noChangeShapeType="1"/>
          </p:cNvSpPr>
          <p:nvPr/>
        </p:nvSpPr>
        <p:spPr bwMode="auto">
          <a:xfrm flipV="1">
            <a:off x="32539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5" name="Line 30"/>
          <p:cNvSpPr>
            <a:spLocks noChangeShapeType="1"/>
          </p:cNvSpPr>
          <p:nvPr/>
        </p:nvSpPr>
        <p:spPr bwMode="auto">
          <a:xfrm flipV="1">
            <a:off x="408264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6" name="Line 31"/>
          <p:cNvSpPr>
            <a:spLocks noChangeShapeType="1"/>
          </p:cNvSpPr>
          <p:nvPr/>
        </p:nvSpPr>
        <p:spPr bwMode="auto">
          <a:xfrm flipV="1">
            <a:off x="483829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7" name="Line 32"/>
          <p:cNvSpPr>
            <a:spLocks noChangeShapeType="1"/>
          </p:cNvSpPr>
          <p:nvPr/>
        </p:nvSpPr>
        <p:spPr bwMode="auto">
          <a:xfrm flipV="1">
            <a:off x="57034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8" name="Line 33"/>
          <p:cNvSpPr>
            <a:spLocks noChangeShapeType="1"/>
          </p:cNvSpPr>
          <p:nvPr/>
        </p:nvSpPr>
        <p:spPr bwMode="auto">
          <a:xfrm flipV="1">
            <a:off x="64591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9" name="Line 34"/>
          <p:cNvSpPr>
            <a:spLocks noChangeShapeType="1"/>
          </p:cNvSpPr>
          <p:nvPr/>
        </p:nvSpPr>
        <p:spPr bwMode="auto">
          <a:xfrm flipV="1">
            <a:off x="73227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0" name="Line 35"/>
          <p:cNvSpPr>
            <a:spLocks noChangeShapeType="1"/>
          </p:cNvSpPr>
          <p:nvPr/>
        </p:nvSpPr>
        <p:spPr bwMode="auto">
          <a:xfrm flipV="1">
            <a:off x="80783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1" name="Line 36"/>
          <p:cNvSpPr>
            <a:spLocks noChangeShapeType="1"/>
          </p:cNvSpPr>
          <p:nvPr/>
        </p:nvSpPr>
        <p:spPr bwMode="auto">
          <a:xfrm flipV="1">
            <a:off x="89435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2" name="Line 37"/>
          <p:cNvSpPr>
            <a:spLocks noChangeShapeType="1"/>
          </p:cNvSpPr>
          <p:nvPr/>
        </p:nvSpPr>
        <p:spPr bwMode="auto">
          <a:xfrm flipV="1">
            <a:off x="96992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1" name="Text Box 27"/>
          <p:cNvSpPr txBox="1">
            <a:spLocks noChangeArrowheads="1"/>
          </p:cNvSpPr>
          <p:nvPr/>
        </p:nvSpPr>
        <p:spPr bwMode="auto">
          <a:xfrm>
            <a:off x="2164949" y="2841531"/>
            <a:ext cx="79200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ea typeface="+mn-ea"/>
                <a:cs typeface="+mn-cs"/>
              </a:rPr>
              <a:t>   1         2          3         4          5         6           7         8           9         0</a:t>
            </a:r>
          </a:p>
        </p:txBody>
      </p:sp>
      <p:sp>
        <p:nvSpPr>
          <p:cNvPr id="74" name="标题 73"/>
          <p:cNvSpPr>
            <a:spLocks noGrp="1"/>
          </p:cNvSpPr>
          <p:nvPr>
            <p:ph type="title"/>
          </p:nvPr>
        </p:nvSpPr>
        <p:spPr/>
        <p:txBody>
          <a:bodyPr/>
          <a:lstStyle/>
          <a:p>
            <a:endParaRPr lang="zh-CN" altLang="en-US"/>
          </a:p>
        </p:txBody>
      </p:sp>
      <p:sp>
        <p:nvSpPr>
          <p:cNvPr id="37" name="Text Box 5">
            <a:extLst>
              <a:ext uri="{FF2B5EF4-FFF2-40B4-BE49-F238E27FC236}">
                <a16:creationId xmlns:a16="http://schemas.microsoft.com/office/drawing/2014/main" id="{3D300F90-5961-4CEF-A08D-AF70EAA0EE74}"/>
              </a:ext>
            </a:extLst>
          </p:cNvPr>
          <p:cNvSpPr txBox="1">
            <a:spLocks noChangeArrowheads="1"/>
          </p:cNvSpPr>
          <p:nvPr/>
        </p:nvSpPr>
        <p:spPr bwMode="auto">
          <a:xfrm>
            <a:off x="6819150" y="4821162"/>
            <a:ext cx="143986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lang="zh-CN" altLang="en-US" sz="2000" dirty="0">
                <a:solidFill>
                  <a:srgbClr val="3333CC"/>
                </a:solidFill>
                <a:latin typeface="Perpetua"/>
              </a:rPr>
              <a:t>輸入圖像</a:t>
            </a:r>
            <a:endParaRPr kumimoji="0" lang="en-US" sz="2000" b="0" i="0" u="none" strike="noStrike" kern="1200" cap="none" spc="0" normalizeH="0" baseline="0" noProof="0" dirty="0">
              <a:ln>
                <a:noFill/>
              </a:ln>
              <a:solidFill>
                <a:srgbClr val="3333CC"/>
              </a:solidFill>
              <a:effectLst/>
              <a:uLnTx/>
              <a:uFillTx/>
              <a:latin typeface="Perpetua"/>
              <a:ea typeface="+mn-ea"/>
              <a:cs typeface="+mn-cs"/>
            </a:endParaRPr>
          </a:p>
        </p:txBody>
      </p:sp>
    </p:spTree>
    <p:extLst>
      <p:ext uri="{BB962C8B-B14F-4D97-AF65-F5344CB8AC3E}">
        <p14:creationId xmlns:p14="http://schemas.microsoft.com/office/powerpoint/2010/main" val="5770325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descr="outw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1812" y="3293429"/>
            <a:ext cx="7981950" cy="1178719"/>
          </a:xfrm>
          <a:prstGeom prst="rect">
            <a:avLst/>
          </a:prstGeom>
          <a:noFill/>
          <a:extLst>
            <a:ext uri="{909E8E84-426E-40dd-AFC4-6F175D3DCCD1}">
              <a14:hiddenFill xmlns="" xmlns:a14="http://schemas.microsoft.com/office/drawing/2010/main">
                <a:solidFill>
                  <a:srgbClr val="FFFFFF"/>
                </a:solidFill>
              </a14:hiddenFill>
            </a:ext>
          </a:extLst>
        </p:spPr>
      </p:pic>
      <p:pic>
        <p:nvPicPr>
          <p:cNvPr id="39" name="Picture 4" descr="recon5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3124" y="4629780"/>
            <a:ext cx="1439863" cy="809625"/>
          </a:xfrm>
          <a:prstGeom prst="rect">
            <a:avLst/>
          </a:prstGeom>
          <a:noFill/>
          <a:extLst>
            <a:ext uri="{909E8E84-426E-40dd-AFC4-6F175D3DCCD1}">
              <a14:hiddenFill xmlns="" xmlns:a14="http://schemas.microsoft.com/office/drawing/2010/main">
                <a:solidFill>
                  <a:srgbClr val="FFFFFF"/>
                </a:solidFill>
              </a14:hiddenFill>
            </a:ext>
          </a:extLst>
        </p:spPr>
      </p:pic>
      <p:sp>
        <p:nvSpPr>
          <p:cNvPr id="42" name="Line 7"/>
          <p:cNvSpPr>
            <a:spLocks noChangeShapeType="1"/>
          </p:cNvSpPr>
          <p:nvPr/>
        </p:nvSpPr>
        <p:spPr bwMode="auto">
          <a:xfrm flipV="1">
            <a:off x="6603599" y="4217825"/>
            <a:ext cx="298767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3" name="Line 8"/>
          <p:cNvSpPr>
            <a:spLocks noChangeShapeType="1"/>
          </p:cNvSpPr>
          <p:nvPr/>
        </p:nvSpPr>
        <p:spPr bwMode="auto">
          <a:xfrm flipV="1">
            <a:off x="6170212" y="4163054"/>
            <a:ext cx="288925" cy="48696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4" name="Line 9"/>
          <p:cNvSpPr>
            <a:spLocks noChangeShapeType="1"/>
          </p:cNvSpPr>
          <p:nvPr/>
        </p:nvSpPr>
        <p:spPr bwMode="auto">
          <a:xfrm flipH="1" flipV="1">
            <a:off x="5774924" y="4190441"/>
            <a:ext cx="252413"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5" name="Line 10"/>
          <p:cNvSpPr>
            <a:spLocks noChangeShapeType="1"/>
          </p:cNvSpPr>
          <p:nvPr/>
        </p:nvSpPr>
        <p:spPr bwMode="auto">
          <a:xfrm flipV="1">
            <a:off x="6278160" y="4190441"/>
            <a:ext cx="1008062"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6" name="Line 11"/>
          <p:cNvSpPr>
            <a:spLocks noChangeShapeType="1"/>
          </p:cNvSpPr>
          <p:nvPr/>
        </p:nvSpPr>
        <p:spPr bwMode="auto">
          <a:xfrm flipV="1">
            <a:off x="6351185" y="4190440"/>
            <a:ext cx="1655762" cy="48577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7" name="Line 12"/>
          <p:cNvSpPr>
            <a:spLocks noChangeShapeType="1"/>
          </p:cNvSpPr>
          <p:nvPr/>
        </p:nvSpPr>
        <p:spPr bwMode="auto">
          <a:xfrm flipV="1">
            <a:off x="6494062" y="4190441"/>
            <a:ext cx="2376487"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8" name="Line 13"/>
          <p:cNvSpPr>
            <a:spLocks noChangeShapeType="1"/>
          </p:cNvSpPr>
          <p:nvPr/>
        </p:nvSpPr>
        <p:spPr bwMode="auto">
          <a:xfrm flipH="1" flipV="1">
            <a:off x="2569760" y="4217825"/>
            <a:ext cx="2989262"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49" name="Line 14"/>
          <p:cNvSpPr>
            <a:spLocks noChangeShapeType="1"/>
          </p:cNvSpPr>
          <p:nvPr/>
        </p:nvSpPr>
        <p:spPr bwMode="auto">
          <a:xfrm flipH="1" flipV="1">
            <a:off x="3434949" y="4217825"/>
            <a:ext cx="2232025" cy="43219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0" name="Line 15"/>
          <p:cNvSpPr>
            <a:spLocks noChangeShapeType="1"/>
          </p:cNvSpPr>
          <p:nvPr/>
        </p:nvSpPr>
        <p:spPr bwMode="auto">
          <a:xfrm flipH="1" flipV="1">
            <a:off x="4190597" y="4190441"/>
            <a:ext cx="1620838"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1" name="Line 16"/>
          <p:cNvSpPr>
            <a:spLocks noChangeShapeType="1"/>
          </p:cNvSpPr>
          <p:nvPr/>
        </p:nvSpPr>
        <p:spPr bwMode="auto">
          <a:xfrm flipH="1" flipV="1">
            <a:off x="4911322" y="4190441"/>
            <a:ext cx="971550" cy="45958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2" name="Oval 17"/>
          <p:cNvSpPr>
            <a:spLocks noChangeArrowheads="1"/>
          </p:cNvSpPr>
          <p:nvPr/>
        </p:nvSpPr>
        <p:spPr bwMode="auto">
          <a:xfrm>
            <a:off x="22824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3" name="Oval 18"/>
          <p:cNvSpPr>
            <a:spLocks noChangeArrowheads="1"/>
          </p:cNvSpPr>
          <p:nvPr/>
        </p:nvSpPr>
        <p:spPr bwMode="auto">
          <a:xfrm>
            <a:off x="3038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4" name="Oval 19"/>
          <p:cNvSpPr>
            <a:spLocks noChangeArrowheads="1"/>
          </p:cNvSpPr>
          <p:nvPr/>
        </p:nvSpPr>
        <p:spPr bwMode="auto">
          <a:xfrm>
            <a:off x="386674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5" name="Oval 20"/>
          <p:cNvSpPr>
            <a:spLocks noChangeArrowheads="1"/>
          </p:cNvSpPr>
          <p:nvPr/>
        </p:nvSpPr>
        <p:spPr bwMode="auto">
          <a:xfrm>
            <a:off x="4622397"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6" name="Oval 21"/>
          <p:cNvSpPr>
            <a:spLocks noChangeArrowheads="1"/>
          </p:cNvSpPr>
          <p:nvPr/>
        </p:nvSpPr>
        <p:spPr bwMode="auto">
          <a:xfrm>
            <a:off x="545107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7" name="Oval 22"/>
          <p:cNvSpPr>
            <a:spLocks noChangeArrowheads="1"/>
          </p:cNvSpPr>
          <p:nvPr/>
        </p:nvSpPr>
        <p:spPr bwMode="auto">
          <a:xfrm>
            <a:off x="6206722"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8" name="Oval 23"/>
          <p:cNvSpPr>
            <a:spLocks noChangeArrowheads="1"/>
          </p:cNvSpPr>
          <p:nvPr/>
        </p:nvSpPr>
        <p:spPr bwMode="auto">
          <a:xfrm>
            <a:off x="70719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59" name="Oval 24"/>
          <p:cNvSpPr>
            <a:spLocks noChangeArrowheads="1"/>
          </p:cNvSpPr>
          <p:nvPr/>
        </p:nvSpPr>
        <p:spPr bwMode="auto">
          <a:xfrm>
            <a:off x="78275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0" name="Oval 25"/>
          <p:cNvSpPr>
            <a:spLocks noChangeArrowheads="1"/>
          </p:cNvSpPr>
          <p:nvPr/>
        </p:nvSpPr>
        <p:spPr bwMode="auto">
          <a:xfrm>
            <a:off x="869116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1" name="Oval 26"/>
          <p:cNvSpPr>
            <a:spLocks noChangeArrowheads="1"/>
          </p:cNvSpPr>
          <p:nvPr/>
        </p:nvSpPr>
        <p:spPr bwMode="auto">
          <a:xfrm>
            <a:off x="9446810" y="2893849"/>
            <a:ext cx="431800" cy="325041"/>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3" name="Line 28"/>
          <p:cNvSpPr>
            <a:spLocks noChangeShapeType="1"/>
          </p:cNvSpPr>
          <p:nvPr/>
        </p:nvSpPr>
        <p:spPr bwMode="auto">
          <a:xfrm flipV="1">
            <a:off x="24983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4" name="Line 29"/>
          <p:cNvSpPr>
            <a:spLocks noChangeShapeType="1"/>
          </p:cNvSpPr>
          <p:nvPr/>
        </p:nvSpPr>
        <p:spPr bwMode="auto">
          <a:xfrm flipV="1">
            <a:off x="32539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5" name="Line 30"/>
          <p:cNvSpPr>
            <a:spLocks noChangeShapeType="1"/>
          </p:cNvSpPr>
          <p:nvPr/>
        </p:nvSpPr>
        <p:spPr bwMode="auto">
          <a:xfrm flipV="1">
            <a:off x="408264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6" name="Line 31"/>
          <p:cNvSpPr>
            <a:spLocks noChangeShapeType="1"/>
          </p:cNvSpPr>
          <p:nvPr/>
        </p:nvSpPr>
        <p:spPr bwMode="auto">
          <a:xfrm flipV="1">
            <a:off x="4838297" y="3218889"/>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7" name="Line 32"/>
          <p:cNvSpPr>
            <a:spLocks noChangeShapeType="1"/>
          </p:cNvSpPr>
          <p:nvPr/>
        </p:nvSpPr>
        <p:spPr bwMode="auto">
          <a:xfrm flipV="1">
            <a:off x="57034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8" name="Line 33"/>
          <p:cNvSpPr>
            <a:spLocks noChangeShapeType="1"/>
          </p:cNvSpPr>
          <p:nvPr/>
        </p:nvSpPr>
        <p:spPr bwMode="auto">
          <a:xfrm flipV="1">
            <a:off x="64591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69" name="Line 34"/>
          <p:cNvSpPr>
            <a:spLocks noChangeShapeType="1"/>
          </p:cNvSpPr>
          <p:nvPr/>
        </p:nvSpPr>
        <p:spPr bwMode="auto">
          <a:xfrm flipV="1">
            <a:off x="732273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0" name="Line 35"/>
          <p:cNvSpPr>
            <a:spLocks noChangeShapeType="1"/>
          </p:cNvSpPr>
          <p:nvPr/>
        </p:nvSpPr>
        <p:spPr bwMode="auto">
          <a:xfrm flipV="1">
            <a:off x="8078385"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1" name="Line 36"/>
          <p:cNvSpPr>
            <a:spLocks noChangeShapeType="1"/>
          </p:cNvSpPr>
          <p:nvPr/>
        </p:nvSpPr>
        <p:spPr bwMode="auto">
          <a:xfrm flipV="1">
            <a:off x="894357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2" name="Line 37"/>
          <p:cNvSpPr>
            <a:spLocks noChangeShapeType="1"/>
          </p:cNvSpPr>
          <p:nvPr/>
        </p:nvSpPr>
        <p:spPr bwMode="auto">
          <a:xfrm flipV="1">
            <a:off x="9699222" y="3245083"/>
            <a:ext cx="0" cy="35123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erpetua"/>
              <a:ea typeface="+mn-ea"/>
              <a:cs typeface="+mn-cs"/>
            </a:endParaRPr>
          </a:p>
        </p:txBody>
      </p:sp>
      <p:sp>
        <p:nvSpPr>
          <p:cNvPr id="74" name="内容占位符 2"/>
          <p:cNvSpPr>
            <a:spLocks noGrp="1"/>
          </p:cNvSpPr>
          <p:nvPr>
            <p:ph idx="1"/>
          </p:nvPr>
        </p:nvSpPr>
        <p:spPr>
          <a:xfrm>
            <a:off x="1766078" y="1472387"/>
            <a:ext cx="8484521" cy="4620449"/>
          </a:xfrm>
        </p:spPr>
        <p:txBody>
          <a:bodyPr/>
          <a:lstStyle/>
          <a:p>
            <a:pPr>
              <a:buNone/>
            </a:pPr>
            <a:endParaRPr lang="en-US" altLang="zh-CN" dirty="0">
              <a:latin typeface="+mn-lt"/>
            </a:endParaRPr>
          </a:p>
          <a:p>
            <a:endParaRPr lang="en-US" altLang="zh-CN" dirty="0">
              <a:latin typeface="+mn-lt"/>
            </a:endParaRPr>
          </a:p>
          <a:p>
            <a:endParaRPr lang="en-US" altLang="zh-CN" sz="2000" dirty="0"/>
          </a:p>
          <a:p>
            <a:pPr marL="742950" lvl="2" indent="-285750"/>
            <a:endParaRPr lang="en-US" altLang="zh-CN" dirty="0"/>
          </a:p>
          <a:p>
            <a:pPr marL="742950" lvl="2" indent="-285750"/>
            <a:endParaRPr lang="en-US" altLang="zh-CN" dirty="0"/>
          </a:p>
          <a:p>
            <a:endParaRPr lang="en-US" altLang="zh-CN" dirty="0">
              <a:latin typeface="+mn-lt"/>
            </a:endParaRPr>
          </a:p>
          <a:p>
            <a:pPr marL="457200" lvl="1" indent="0">
              <a:buNone/>
            </a:pPr>
            <a:endParaRPr lang="en-US" altLang="zh-CN" dirty="0">
              <a:latin typeface="+mn-lt"/>
            </a:endParaRPr>
          </a:p>
          <a:p>
            <a:pPr lvl="1"/>
            <a:endParaRPr lang="en-US" altLang="zh-CN" dirty="0">
              <a:latin typeface="+mn-lt"/>
            </a:endParaRPr>
          </a:p>
          <a:p>
            <a:pPr marL="457200" lvl="1" indent="0">
              <a:buNone/>
            </a:pPr>
            <a:endParaRPr lang="en-US" altLang="zh-CN" dirty="0">
              <a:latin typeface="+mn-lt"/>
            </a:endParaRPr>
          </a:p>
        </p:txBody>
      </p:sp>
      <p:sp>
        <p:nvSpPr>
          <p:cNvPr id="41" name="标题 40"/>
          <p:cNvSpPr>
            <a:spLocks noGrp="1"/>
          </p:cNvSpPr>
          <p:nvPr>
            <p:ph type="title"/>
          </p:nvPr>
        </p:nvSpPr>
        <p:spPr/>
        <p:txBody>
          <a:bodyPr/>
          <a:lstStyle/>
          <a:p>
            <a:endParaRPr lang="zh-CN" altLang="en-US" dirty="0"/>
          </a:p>
        </p:txBody>
      </p:sp>
      <p:sp>
        <p:nvSpPr>
          <p:cNvPr id="75" name="Text Box 27"/>
          <p:cNvSpPr txBox="1">
            <a:spLocks noChangeArrowheads="1"/>
          </p:cNvSpPr>
          <p:nvPr/>
        </p:nvSpPr>
        <p:spPr bwMode="auto">
          <a:xfrm>
            <a:off x="2164949" y="2841531"/>
            <a:ext cx="79200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ea typeface="+mn-ea"/>
                <a:cs typeface="+mn-cs"/>
              </a:rPr>
              <a:t>   1         2          3         4          5         6           7         8           9         0</a:t>
            </a:r>
          </a:p>
        </p:txBody>
      </p:sp>
      <p:sp>
        <p:nvSpPr>
          <p:cNvPr id="62" name="Text Box 5">
            <a:extLst>
              <a:ext uri="{FF2B5EF4-FFF2-40B4-BE49-F238E27FC236}">
                <a16:creationId xmlns:a16="http://schemas.microsoft.com/office/drawing/2014/main" id="{62EF0F40-52A4-45C3-B8D3-5B4E699CCD23}"/>
              </a:ext>
            </a:extLst>
          </p:cNvPr>
          <p:cNvSpPr txBox="1">
            <a:spLocks noChangeArrowheads="1"/>
          </p:cNvSpPr>
          <p:nvPr/>
        </p:nvSpPr>
        <p:spPr bwMode="auto">
          <a:xfrm>
            <a:off x="6819150" y="4821162"/>
            <a:ext cx="143986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lang="zh-CN" altLang="en-US" sz="2000" dirty="0">
                <a:solidFill>
                  <a:srgbClr val="3333CC"/>
                </a:solidFill>
                <a:latin typeface="Perpetua"/>
              </a:rPr>
              <a:t>輸入圖像</a:t>
            </a:r>
            <a:endParaRPr kumimoji="0" lang="en-US" sz="2000" b="0" i="0" u="none" strike="noStrike" kern="1200" cap="none" spc="0" normalizeH="0" baseline="0" noProof="0" dirty="0">
              <a:ln>
                <a:noFill/>
              </a:ln>
              <a:solidFill>
                <a:srgbClr val="3333CC"/>
              </a:solidFill>
              <a:effectLst/>
              <a:uLnTx/>
              <a:uFillTx/>
              <a:latin typeface="Perpetua"/>
              <a:ea typeface="+mn-ea"/>
              <a:cs typeface="+mn-cs"/>
            </a:endParaRPr>
          </a:p>
        </p:txBody>
      </p:sp>
      <p:sp>
        <p:nvSpPr>
          <p:cNvPr id="76" name="Text Box 5">
            <a:extLst>
              <a:ext uri="{FF2B5EF4-FFF2-40B4-BE49-F238E27FC236}">
                <a16:creationId xmlns:a16="http://schemas.microsoft.com/office/drawing/2014/main" id="{E763FD7A-3C62-456E-9BD9-994DBC3EE00E}"/>
              </a:ext>
            </a:extLst>
          </p:cNvPr>
          <p:cNvSpPr txBox="1">
            <a:spLocks noChangeArrowheads="1"/>
          </p:cNvSpPr>
          <p:nvPr/>
        </p:nvSpPr>
        <p:spPr bwMode="auto">
          <a:xfrm>
            <a:off x="8807988" y="4890203"/>
            <a:ext cx="1782468"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Perpetua"/>
                <a:ea typeface="+mn-ea"/>
                <a:cs typeface="+mn-cs"/>
              </a:rPr>
              <a:t>得到權重，也即模式</a:t>
            </a:r>
            <a:endParaRPr kumimoji="0" lang="en-US" sz="2400" b="0" i="0" u="none" strike="noStrike" kern="1200" cap="none" spc="0" normalizeH="0" baseline="0" noProof="0" dirty="0">
              <a:ln>
                <a:noFill/>
              </a:ln>
              <a:solidFill>
                <a:srgbClr val="FF0000"/>
              </a:solidFill>
              <a:effectLst/>
              <a:uLnTx/>
              <a:uFillTx/>
              <a:latin typeface="Perpetua"/>
              <a:ea typeface="+mn-ea"/>
              <a:cs typeface="+mn-cs"/>
            </a:endParaRPr>
          </a:p>
        </p:txBody>
      </p:sp>
    </p:spTree>
    <p:extLst>
      <p:ext uri="{BB962C8B-B14F-4D97-AF65-F5344CB8AC3E}">
        <p14:creationId xmlns:p14="http://schemas.microsoft.com/office/powerpoint/2010/main" val="40321231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6203-A8C9-1A17-5096-434B2FAB3E2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文本框 135">
                <a:extLst>
                  <a:ext uri="{FF2B5EF4-FFF2-40B4-BE49-F238E27FC236}">
                    <a16:creationId xmlns:a16="http://schemas.microsoft.com/office/drawing/2014/main" id="{FF508209-3B08-AD84-6DA0-325676EE1C94}"/>
                  </a:ext>
                </a:extLst>
              </p:cNvPr>
              <p:cNvSpPr txBox="1"/>
              <p:nvPr/>
            </p:nvSpPr>
            <p:spPr>
              <a:xfrm>
                <a:off x="7664491" y="2151967"/>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4</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k</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值更新權重</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r>
                      <a:rPr kumimoji="0" lang="zh-CN"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𝜂</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ub>
                    </m:sSub>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6" name="文本框 135">
                <a:extLst>
                  <a:ext uri="{FF2B5EF4-FFF2-40B4-BE49-F238E27FC236}">
                    <a16:creationId xmlns:a16="http://schemas.microsoft.com/office/drawing/2014/main" id="{FF508209-3B08-AD84-6DA0-325676EE1C94}"/>
                  </a:ext>
                </a:extLst>
              </p:cNvPr>
              <p:cNvSpPr txBox="1">
                <a:spLocks noRot="1" noChangeAspect="1" noMove="1" noResize="1" noEditPoints="1" noAdjustHandles="1" noChangeArrowheads="1" noChangeShapeType="1" noTextEdit="1"/>
              </p:cNvSpPr>
              <p:nvPr/>
            </p:nvSpPr>
            <p:spPr>
              <a:xfrm>
                <a:off x="7664491" y="2151967"/>
                <a:ext cx="4179156" cy="817738"/>
              </a:xfrm>
              <a:prstGeom prst="rect">
                <a:avLst/>
              </a:prstGeom>
              <a:blipFill>
                <a:blip r:embed="rId3"/>
                <a:stretch>
                  <a:fillRect l="-1458" t="-5970" b="-746"/>
                </a:stretch>
              </a:blipFill>
              <a:ln w="6350">
                <a:noFill/>
              </a:ln>
            </p:spPr>
            <p:txBody>
              <a:bodyPr/>
              <a:lstStyle/>
              <a:p>
                <a:r>
                  <a:rPr lang="zh-TW" altLang="en-US">
                    <a:noFill/>
                  </a:rPr>
                  <a:t> </a:t>
                </a:r>
              </a:p>
            </p:txBody>
          </p:sp>
        </mc:Fallback>
      </mc:AlternateContent>
      <p:cxnSp>
        <p:nvCxnSpPr>
          <p:cNvPr id="22" name="直接箭头连接符 21">
            <a:extLst>
              <a:ext uri="{FF2B5EF4-FFF2-40B4-BE49-F238E27FC236}">
                <a16:creationId xmlns:a16="http://schemas.microsoft.com/office/drawing/2014/main" id="{EE899928-7B94-9A22-7A34-BEE053CF4B59}"/>
              </a:ext>
            </a:extLst>
          </p:cNvPr>
          <p:cNvCxnSpPr/>
          <p:nvPr/>
        </p:nvCxnSpPr>
        <p:spPr>
          <a:xfrm flipH="1" flipV="1">
            <a:off x="5016143" y="1340668"/>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23" name="直接箭头连接符 22">
            <a:extLst>
              <a:ext uri="{FF2B5EF4-FFF2-40B4-BE49-F238E27FC236}">
                <a16:creationId xmlns:a16="http://schemas.microsoft.com/office/drawing/2014/main" id="{A9BCDEAC-97D9-FDF5-FF7E-C4340714943C}"/>
              </a:ext>
            </a:extLst>
          </p:cNvPr>
          <p:cNvCxnSpPr/>
          <p:nvPr/>
        </p:nvCxnSpPr>
        <p:spPr>
          <a:xfrm flipH="1" flipV="1">
            <a:off x="7065744" y="1321353"/>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24" name="椭圆 23">
            <a:extLst>
              <a:ext uri="{FF2B5EF4-FFF2-40B4-BE49-F238E27FC236}">
                <a16:creationId xmlns:a16="http://schemas.microsoft.com/office/drawing/2014/main" id="{304FF835-0596-76F7-BE16-2C9318FE99EE}"/>
              </a:ext>
            </a:extLst>
          </p:cNvPr>
          <p:cNvSpPr/>
          <p:nvPr/>
        </p:nvSpPr>
        <p:spPr>
          <a:xfrm>
            <a:off x="6932164" y="1810707"/>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5" name="文本框 35">
            <a:extLst>
              <a:ext uri="{FF2B5EF4-FFF2-40B4-BE49-F238E27FC236}">
                <a16:creationId xmlns:a16="http://schemas.microsoft.com/office/drawing/2014/main" id="{81A87DD8-FDEB-C219-E731-E25D39AAF887}"/>
              </a:ext>
            </a:extLst>
          </p:cNvPr>
          <p:cNvSpPr txBox="1"/>
          <p:nvPr/>
        </p:nvSpPr>
        <p:spPr>
          <a:xfrm>
            <a:off x="4742921" y="864192"/>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6" name="文本框 49">
            <a:extLst>
              <a:ext uri="{FF2B5EF4-FFF2-40B4-BE49-F238E27FC236}">
                <a16:creationId xmlns:a16="http://schemas.microsoft.com/office/drawing/2014/main" id="{40BAF54D-B885-6733-7AA1-EF221F8F047B}"/>
              </a:ext>
            </a:extLst>
          </p:cNvPr>
          <p:cNvSpPr txBox="1"/>
          <p:nvPr/>
        </p:nvSpPr>
        <p:spPr>
          <a:xfrm>
            <a:off x="6843111" y="831998"/>
            <a:ext cx="572484"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M</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7" name="椭圆 26">
            <a:extLst>
              <a:ext uri="{FF2B5EF4-FFF2-40B4-BE49-F238E27FC236}">
                <a16:creationId xmlns:a16="http://schemas.microsoft.com/office/drawing/2014/main" id="{F89A0C96-4A06-CE94-EA15-1F33A2C39E84}"/>
              </a:ext>
            </a:extLst>
          </p:cNvPr>
          <p:cNvSpPr/>
          <p:nvPr/>
        </p:nvSpPr>
        <p:spPr>
          <a:xfrm>
            <a:off x="4861133" y="1836463"/>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8" name="直接箭头连接符 27">
            <a:extLst>
              <a:ext uri="{FF2B5EF4-FFF2-40B4-BE49-F238E27FC236}">
                <a16:creationId xmlns:a16="http://schemas.microsoft.com/office/drawing/2014/main" id="{E816EE3C-AF3E-C3E5-E2EB-1F36A83C3F50}"/>
              </a:ext>
            </a:extLst>
          </p:cNvPr>
          <p:cNvCxnSpPr>
            <a:stCxn id="55" idx="0"/>
            <a:endCxn id="27" idx="4"/>
          </p:cNvCxnSpPr>
          <p:nvPr/>
        </p:nvCxnSpPr>
        <p:spPr>
          <a:xfrm flipV="1">
            <a:off x="4914713" y="2127474"/>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a:extLst>
              <a:ext uri="{FF2B5EF4-FFF2-40B4-BE49-F238E27FC236}">
                <a16:creationId xmlns:a16="http://schemas.microsoft.com/office/drawing/2014/main" id="{EF79BCFF-AF60-12BC-6DEA-E3BB03118DF9}"/>
              </a:ext>
            </a:extLst>
          </p:cNvPr>
          <p:cNvCxnSpPr>
            <a:stCxn id="55" idx="0"/>
            <a:endCxn id="24" idx="4"/>
          </p:cNvCxnSpPr>
          <p:nvPr/>
        </p:nvCxnSpPr>
        <p:spPr>
          <a:xfrm flipV="1">
            <a:off x="4914713" y="2101718"/>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7CFB2B10-76C9-C815-726A-99C3ABDACA33}"/>
              </a:ext>
            </a:extLst>
          </p:cNvPr>
          <p:cNvCxnSpPr>
            <a:stCxn id="56" idx="0"/>
            <a:endCxn id="24" idx="4"/>
          </p:cNvCxnSpPr>
          <p:nvPr/>
        </p:nvCxnSpPr>
        <p:spPr>
          <a:xfrm flipV="1">
            <a:off x="6077938" y="2101718"/>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1E913BE4-E939-897C-B71E-30013C97CE5C}"/>
              </a:ext>
            </a:extLst>
          </p:cNvPr>
          <p:cNvCxnSpPr>
            <a:stCxn id="57" idx="0"/>
            <a:endCxn id="27" idx="4"/>
          </p:cNvCxnSpPr>
          <p:nvPr/>
        </p:nvCxnSpPr>
        <p:spPr>
          <a:xfrm flipH="1" flipV="1">
            <a:off x="5004895" y="2127474"/>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A75D46E5-8BC6-137E-2538-8608D1148656}"/>
              </a:ext>
            </a:extLst>
          </p:cNvPr>
          <p:cNvCxnSpPr>
            <a:stCxn id="57" idx="0"/>
            <a:endCxn id="24" idx="4"/>
          </p:cNvCxnSpPr>
          <p:nvPr/>
        </p:nvCxnSpPr>
        <p:spPr>
          <a:xfrm flipH="1" flipV="1">
            <a:off x="7075926" y="2101718"/>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0BA3EB59-9D10-0466-FBC7-97EDDD36A082}"/>
              </a:ext>
            </a:extLst>
          </p:cNvPr>
          <p:cNvCxnSpPr>
            <a:stCxn id="56" idx="0"/>
            <a:endCxn id="27" idx="4"/>
          </p:cNvCxnSpPr>
          <p:nvPr/>
        </p:nvCxnSpPr>
        <p:spPr>
          <a:xfrm flipH="1" flipV="1">
            <a:off x="5004895" y="2127474"/>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35" name="椭圆 34">
            <a:extLst>
              <a:ext uri="{FF2B5EF4-FFF2-40B4-BE49-F238E27FC236}">
                <a16:creationId xmlns:a16="http://schemas.microsoft.com/office/drawing/2014/main" id="{326FE6CF-D3D3-B78A-1CB0-9A79B71EBBD3}"/>
              </a:ext>
            </a:extLst>
          </p:cNvPr>
          <p:cNvSpPr/>
          <p:nvPr/>
        </p:nvSpPr>
        <p:spPr>
          <a:xfrm>
            <a:off x="4770269" y="450215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6" name="椭圆 35">
            <a:extLst>
              <a:ext uri="{FF2B5EF4-FFF2-40B4-BE49-F238E27FC236}">
                <a16:creationId xmlns:a16="http://schemas.microsoft.com/office/drawing/2014/main" id="{C24076C6-71AB-40DA-D4A6-DAE3565E8772}"/>
              </a:ext>
            </a:extLst>
          </p:cNvPr>
          <p:cNvSpPr/>
          <p:nvPr/>
        </p:nvSpPr>
        <p:spPr>
          <a:xfrm>
            <a:off x="5933497" y="4502158"/>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7" name="椭圆 36">
            <a:extLst>
              <a:ext uri="{FF2B5EF4-FFF2-40B4-BE49-F238E27FC236}">
                <a16:creationId xmlns:a16="http://schemas.microsoft.com/office/drawing/2014/main" id="{A1E69C92-0909-CCB6-3560-402A59642D93}"/>
              </a:ext>
            </a:extLst>
          </p:cNvPr>
          <p:cNvSpPr/>
          <p:nvPr/>
        </p:nvSpPr>
        <p:spPr>
          <a:xfrm>
            <a:off x="7257392" y="452791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8" name="椭圆 37">
            <a:extLst>
              <a:ext uri="{FF2B5EF4-FFF2-40B4-BE49-F238E27FC236}">
                <a16:creationId xmlns:a16="http://schemas.microsoft.com/office/drawing/2014/main" id="{CC7386E2-8C59-8E0B-38EE-7B307A71DEFD}"/>
              </a:ext>
            </a:extLst>
          </p:cNvPr>
          <p:cNvSpPr/>
          <p:nvPr/>
        </p:nvSpPr>
        <p:spPr>
          <a:xfrm>
            <a:off x="7810793" y="570622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40" name="椭圆 39">
            <a:extLst>
              <a:ext uri="{FF2B5EF4-FFF2-40B4-BE49-F238E27FC236}">
                <a16:creationId xmlns:a16="http://schemas.microsoft.com/office/drawing/2014/main" id="{F67D8A59-6B58-FFB6-383D-ADB6377B1A20}"/>
              </a:ext>
            </a:extLst>
          </p:cNvPr>
          <p:cNvSpPr/>
          <p:nvPr/>
        </p:nvSpPr>
        <p:spPr>
          <a:xfrm>
            <a:off x="5933501" y="568691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41" name="椭圆 40">
            <a:extLst>
              <a:ext uri="{FF2B5EF4-FFF2-40B4-BE49-F238E27FC236}">
                <a16:creationId xmlns:a16="http://schemas.microsoft.com/office/drawing/2014/main" id="{43BBE0B1-0D04-CD43-9409-C8EC1E74C08F}"/>
              </a:ext>
            </a:extLst>
          </p:cNvPr>
          <p:cNvSpPr/>
          <p:nvPr/>
        </p:nvSpPr>
        <p:spPr>
          <a:xfrm>
            <a:off x="4394973" y="568691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42" name="直接箭头连接符 41">
            <a:extLst>
              <a:ext uri="{FF2B5EF4-FFF2-40B4-BE49-F238E27FC236}">
                <a16:creationId xmlns:a16="http://schemas.microsoft.com/office/drawing/2014/main" id="{E018799F-63EB-BBF2-5276-70976CB6ABFE}"/>
              </a:ext>
            </a:extLst>
          </p:cNvPr>
          <p:cNvCxnSpPr>
            <a:stCxn id="41" idx="0"/>
            <a:endCxn id="35" idx="4"/>
          </p:cNvCxnSpPr>
          <p:nvPr/>
        </p:nvCxnSpPr>
        <p:spPr>
          <a:xfrm flipV="1">
            <a:off x="4538733" y="4792176"/>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a:extLst>
              <a:ext uri="{FF2B5EF4-FFF2-40B4-BE49-F238E27FC236}">
                <a16:creationId xmlns:a16="http://schemas.microsoft.com/office/drawing/2014/main" id="{2F44957A-C6C6-F2B9-5154-FAFBEEB7CDE2}"/>
              </a:ext>
            </a:extLst>
          </p:cNvPr>
          <p:cNvCxnSpPr>
            <a:stCxn id="41" idx="0"/>
            <a:endCxn id="36" idx="4"/>
          </p:cNvCxnSpPr>
          <p:nvPr/>
        </p:nvCxnSpPr>
        <p:spPr>
          <a:xfrm flipV="1">
            <a:off x="4538735" y="4792176"/>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a:extLst>
              <a:ext uri="{FF2B5EF4-FFF2-40B4-BE49-F238E27FC236}">
                <a16:creationId xmlns:a16="http://schemas.microsoft.com/office/drawing/2014/main" id="{9140A20F-3425-B924-4491-358E9FD34B02}"/>
              </a:ext>
            </a:extLst>
          </p:cNvPr>
          <p:cNvCxnSpPr>
            <a:stCxn id="40" idx="0"/>
            <a:endCxn id="35" idx="4"/>
          </p:cNvCxnSpPr>
          <p:nvPr/>
        </p:nvCxnSpPr>
        <p:spPr>
          <a:xfrm flipH="1" flipV="1">
            <a:off x="4914031" y="4792176"/>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a:extLst>
              <a:ext uri="{FF2B5EF4-FFF2-40B4-BE49-F238E27FC236}">
                <a16:creationId xmlns:a16="http://schemas.microsoft.com/office/drawing/2014/main" id="{30EC00AE-321D-4543-B3D2-647A612BCB85}"/>
              </a:ext>
            </a:extLst>
          </p:cNvPr>
          <p:cNvCxnSpPr>
            <a:stCxn id="41" idx="0"/>
            <a:endCxn id="37" idx="4"/>
          </p:cNvCxnSpPr>
          <p:nvPr/>
        </p:nvCxnSpPr>
        <p:spPr>
          <a:xfrm flipV="1">
            <a:off x="4538733" y="4817929"/>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a:extLst>
              <a:ext uri="{FF2B5EF4-FFF2-40B4-BE49-F238E27FC236}">
                <a16:creationId xmlns:a16="http://schemas.microsoft.com/office/drawing/2014/main" id="{6D8DD4B8-600C-B0EE-5C1C-835CD6EE45A0}"/>
              </a:ext>
            </a:extLst>
          </p:cNvPr>
          <p:cNvCxnSpPr>
            <a:stCxn id="40" idx="0"/>
            <a:endCxn id="36" idx="4"/>
          </p:cNvCxnSpPr>
          <p:nvPr/>
        </p:nvCxnSpPr>
        <p:spPr>
          <a:xfrm flipH="1" flipV="1">
            <a:off x="6077259" y="4792176"/>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a:extLst>
              <a:ext uri="{FF2B5EF4-FFF2-40B4-BE49-F238E27FC236}">
                <a16:creationId xmlns:a16="http://schemas.microsoft.com/office/drawing/2014/main" id="{C44B1F36-405C-A0D7-673A-9688838428F0}"/>
              </a:ext>
            </a:extLst>
          </p:cNvPr>
          <p:cNvCxnSpPr>
            <a:stCxn id="40" idx="0"/>
            <a:endCxn id="37" idx="4"/>
          </p:cNvCxnSpPr>
          <p:nvPr/>
        </p:nvCxnSpPr>
        <p:spPr>
          <a:xfrm flipV="1">
            <a:off x="6077263" y="4817931"/>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a:extLst>
              <a:ext uri="{FF2B5EF4-FFF2-40B4-BE49-F238E27FC236}">
                <a16:creationId xmlns:a16="http://schemas.microsoft.com/office/drawing/2014/main" id="{3D973E90-4544-C02C-E792-C46587E5CE60}"/>
              </a:ext>
            </a:extLst>
          </p:cNvPr>
          <p:cNvCxnSpPr>
            <a:stCxn id="38" idx="0"/>
            <a:endCxn id="37" idx="4"/>
          </p:cNvCxnSpPr>
          <p:nvPr/>
        </p:nvCxnSpPr>
        <p:spPr>
          <a:xfrm flipH="1" flipV="1">
            <a:off x="7401154" y="4817929"/>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49" name="直接箭头连接符 48">
            <a:extLst>
              <a:ext uri="{FF2B5EF4-FFF2-40B4-BE49-F238E27FC236}">
                <a16:creationId xmlns:a16="http://schemas.microsoft.com/office/drawing/2014/main" id="{D35A18F0-BA7B-5F74-D5B8-DCA03CFC7EBC}"/>
              </a:ext>
            </a:extLst>
          </p:cNvPr>
          <p:cNvCxnSpPr>
            <a:stCxn id="38" idx="0"/>
            <a:endCxn id="36" idx="4"/>
          </p:cNvCxnSpPr>
          <p:nvPr/>
        </p:nvCxnSpPr>
        <p:spPr>
          <a:xfrm flipH="1" flipV="1">
            <a:off x="6077259" y="4792176"/>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50" name="直接箭头连接符 49">
            <a:extLst>
              <a:ext uri="{FF2B5EF4-FFF2-40B4-BE49-F238E27FC236}">
                <a16:creationId xmlns:a16="http://schemas.microsoft.com/office/drawing/2014/main" id="{A5C1E7CC-D6A2-4CA7-151D-C9180090FB3E}"/>
              </a:ext>
            </a:extLst>
          </p:cNvPr>
          <p:cNvCxnSpPr>
            <a:stCxn id="38" idx="0"/>
            <a:endCxn id="35" idx="4"/>
          </p:cNvCxnSpPr>
          <p:nvPr/>
        </p:nvCxnSpPr>
        <p:spPr>
          <a:xfrm flipH="1" flipV="1">
            <a:off x="4914031" y="4792176"/>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51" name="文本框 94">
            <a:extLst>
              <a:ext uri="{FF2B5EF4-FFF2-40B4-BE49-F238E27FC236}">
                <a16:creationId xmlns:a16="http://schemas.microsoft.com/office/drawing/2014/main" id="{BFD5C3F3-04A2-7468-854E-36D847379829}"/>
              </a:ext>
            </a:extLst>
          </p:cNvPr>
          <p:cNvSpPr txBox="1"/>
          <p:nvPr/>
        </p:nvSpPr>
        <p:spPr>
          <a:xfrm>
            <a:off x="4375890" y="6079682"/>
            <a:ext cx="3943025" cy="52141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x</a:t>
            </a:r>
            <a:r>
              <a:rPr kumimoji="0" lang="en-US" sz="2400" b="0" i="0" u="none" strike="noStrike" kern="100" cap="none" spc="0" normalizeH="0" baseline="-2500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         </a:t>
            </a:r>
            <a:r>
              <a:rPr kumimoji="0" lang="en-US" sz="2400" b="0" i="0" u="none" strike="noStrike" kern="1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x</a:t>
            </a:r>
            <a:r>
              <a:rPr kumimoji="0" lang="en-US" sz="2400" b="0" i="0" u="none" strike="noStrike" kern="100" cap="none" spc="0" normalizeH="0" baseline="-2500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j</a:t>
            </a:r>
            <a:r>
              <a:rPr kumimoji="0" 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           </a:t>
            </a:r>
            <a:r>
              <a:rPr kumimoji="0" lang="en-US" sz="2400" b="0" i="0" u="none" strike="noStrike" kern="1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x</a:t>
            </a:r>
            <a:r>
              <a:rPr kumimoji="0" lang="en-US" sz="2400" b="0" i="0" u="none" strike="noStrike" kern="100" cap="none" spc="0" normalizeH="0" baseline="-25000" noProof="0" dirty="0" err="1">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n</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55" name="椭圆 54">
            <a:extLst>
              <a:ext uri="{FF2B5EF4-FFF2-40B4-BE49-F238E27FC236}">
                <a16:creationId xmlns:a16="http://schemas.microsoft.com/office/drawing/2014/main" id="{E88AED95-5E30-C2D5-2440-CE58BF23698C}"/>
              </a:ext>
            </a:extLst>
          </p:cNvPr>
          <p:cNvSpPr/>
          <p:nvPr/>
        </p:nvSpPr>
        <p:spPr>
          <a:xfrm>
            <a:off x="4770951" y="317574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6" name="椭圆 55">
            <a:extLst>
              <a:ext uri="{FF2B5EF4-FFF2-40B4-BE49-F238E27FC236}">
                <a16:creationId xmlns:a16="http://schemas.microsoft.com/office/drawing/2014/main" id="{F953A4A5-B73D-0E59-85CF-1C6C7B189291}"/>
              </a:ext>
            </a:extLst>
          </p:cNvPr>
          <p:cNvSpPr/>
          <p:nvPr/>
        </p:nvSpPr>
        <p:spPr>
          <a:xfrm>
            <a:off x="5934176" y="317574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7" name="椭圆 56">
            <a:extLst>
              <a:ext uri="{FF2B5EF4-FFF2-40B4-BE49-F238E27FC236}">
                <a16:creationId xmlns:a16="http://schemas.microsoft.com/office/drawing/2014/main" id="{A8C24739-9E78-DFE1-A6A9-BF5CBA28DD5E}"/>
              </a:ext>
            </a:extLst>
          </p:cNvPr>
          <p:cNvSpPr/>
          <p:nvPr/>
        </p:nvSpPr>
        <p:spPr>
          <a:xfrm>
            <a:off x="7231947" y="3201505"/>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8" name="文本框 112">
            <a:extLst>
              <a:ext uri="{FF2B5EF4-FFF2-40B4-BE49-F238E27FC236}">
                <a16:creationId xmlns:a16="http://schemas.microsoft.com/office/drawing/2014/main" id="{AFAC6E7F-8319-AA6B-80E7-0C1BEC39C39F}"/>
              </a:ext>
            </a:extLst>
          </p:cNvPr>
          <p:cNvSpPr txBox="1"/>
          <p:nvPr/>
        </p:nvSpPr>
        <p:spPr>
          <a:xfrm>
            <a:off x="6503538" y="314332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60" name="直接箭头连接符 59">
            <a:extLst>
              <a:ext uri="{FF2B5EF4-FFF2-40B4-BE49-F238E27FC236}">
                <a16:creationId xmlns:a16="http://schemas.microsoft.com/office/drawing/2014/main" id="{20E98A44-7325-A757-6B82-BD94A401202E}"/>
              </a:ext>
            </a:extLst>
          </p:cNvPr>
          <p:cNvCxnSpPr>
            <a:stCxn id="35" idx="0"/>
            <a:endCxn id="55" idx="4"/>
          </p:cNvCxnSpPr>
          <p:nvPr/>
        </p:nvCxnSpPr>
        <p:spPr>
          <a:xfrm flipV="1">
            <a:off x="4914031" y="3465767"/>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61" name="直接箭头连接符 60">
            <a:extLst>
              <a:ext uri="{FF2B5EF4-FFF2-40B4-BE49-F238E27FC236}">
                <a16:creationId xmlns:a16="http://schemas.microsoft.com/office/drawing/2014/main" id="{A97501A2-8778-3A10-163F-563F25A45240}"/>
              </a:ext>
            </a:extLst>
          </p:cNvPr>
          <p:cNvCxnSpPr>
            <a:stCxn id="36" idx="0"/>
            <a:endCxn id="56" idx="4"/>
          </p:cNvCxnSpPr>
          <p:nvPr/>
        </p:nvCxnSpPr>
        <p:spPr>
          <a:xfrm flipV="1">
            <a:off x="6077259" y="3465767"/>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62" name="直接箭头连接符 61">
            <a:extLst>
              <a:ext uri="{FF2B5EF4-FFF2-40B4-BE49-F238E27FC236}">
                <a16:creationId xmlns:a16="http://schemas.microsoft.com/office/drawing/2014/main" id="{9DDA9F27-9C22-5071-D168-8423FC43DE43}"/>
              </a:ext>
            </a:extLst>
          </p:cNvPr>
          <p:cNvCxnSpPr>
            <a:stCxn id="37" idx="0"/>
            <a:endCxn id="57" idx="4"/>
          </p:cNvCxnSpPr>
          <p:nvPr/>
        </p:nvCxnSpPr>
        <p:spPr>
          <a:xfrm flipH="1" flipV="1">
            <a:off x="7375710" y="3491523"/>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63" name="直接箭头连接符 62">
            <a:extLst>
              <a:ext uri="{FF2B5EF4-FFF2-40B4-BE49-F238E27FC236}">
                <a16:creationId xmlns:a16="http://schemas.microsoft.com/office/drawing/2014/main" id="{46D773D8-7ED8-77F2-19D4-F901ED992641}"/>
              </a:ext>
            </a:extLst>
          </p:cNvPr>
          <p:cNvCxnSpPr>
            <a:stCxn id="35" idx="0"/>
            <a:endCxn id="56" idx="4"/>
          </p:cNvCxnSpPr>
          <p:nvPr/>
        </p:nvCxnSpPr>
        <p:spPr>
          <a:xfrm flipV="1">
            <a:off x="4914031" y="3465767"/>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64" name="直接箭头连接符 63">
            <a:extLst>
              <a:ext uri="{FF2B5EF4-FFF2-40B4-BE49-F238E27FC236}">
                <a16:creationId xmlns:a16="http://schemas.microsoft.com/office/drawing/2014/main" id="{4BA46985-9696-68D9-87C9-74678CB28374}"/>
              </a:ext>
            </a:extLst>
          </p:cNvPr>
          <p:cNvCxnSpPr>
            <a:stCxn id="35" idx="0"/>
            <a:endCxn id="57" idx="4"/>
          </p:cNvCxnSpPr>
          <p:nvPr/>
        </p:nvCxnSpPr>
        <p:spPr>
          <a:xfrm flipV="1">
            <a:off x="4914031" y="3491523"/>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65" name="直接箭头连接符 64">
            <a:extLst>
              <a:ext uri="{FF2B5EF4-FFF2-40B4-BE49-F238E27FC236}">
                <a16:creationId xmlns:a16="http://schemas.microsoft.com/office/drawing/2014/main" id="{7185F2D6-1D08-65BD-D912-EBF64DE99FFB}"/>
              </a:ext>
            </a:extLst>
          </p:cNvPr>
          <p:cNvCxnSpPr>
            <a:stCxn id="36" idx="0"/>
            <a:endCxn id="55" idx="4"/>
          </p:cNvCxnSpPr>
          <p:nvPr/>
        </p:nvCxnSpPr>
        <p:spPr>
          <a:xfrm flipH="1" flipV="1">
            <a:off x="4914713" y="3465767"/>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66" name="直接箭头连接符 65">
            <a:extLst>
              <a:ext uri="{FF2B5EF4-FFF2-40B4-BE49-F238E27FC236}">
                <a16:creationId xmlns:a16="http://schemas.microsoft.com/office/drawing/2014/main" id="{CCE0749B-EDB0-8400-F342-EC89D5740EFF}"/>
              </a:ext>
            </a:extLst>
          </p:cNvPr>
          <p:cNvCxnSpPr>
            <a:stCxn id="36" idx="0"/>
            <a:endCxn id="57" idx="4"/>
          </p:cNvCxnSpPr>
          <p:nvPr/>
        </p:nvCxnSpPr>
        <p:spPr>
          <a:xfrm flipV="1">
            <a:off x="6077259" y="3491523"/>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67" name="直接箭头连接符 66">
            <a:extLst>
              <a:ext uri="{FF2B5EF4-FFF2-40B4-BE49-F238E27FC236}">
                <a16:creationId xmlns:a16="http://schemas.microsoft.com/office/drawing/2014/main" id="{0875F620-ED5D-1A36-DAF1-BEBDD7105900}"/>
              </a:ext>
            </a:extLst>
          </p:cNvPr>
          <p:cNvCxnSpPr>
            <a:stCxn id="37" idx="0"/>
            <a:endCxn id="56" idx="4"/>
          </p:cNvCxnSpPr>
          <p:nvPr/>
        </p:nvCxnSpPr>
        <p:spPr>
          <a:xfrm flipH="1" flipV="1">
            <a:off x="6077938" y="3465767"/>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68" name="直接箭头连接符 67">
            <a:extLst>
              <a:ext uri="{FF2B5EF4-FFF2-40B4-BE49-F238E27FC236}">
                <a16:creationId xmlns:a16="http://schemas.microsoft.com/office/drawing/2014/main" id="{B167BF87-3047-CE0E-666D-D1749148B528}"/>
              </a:ext>
            </a:extLst>
          </p:cNvPr>
          <p:cNvCxnSpPr>
            <a:stCxn id="37" idx="0"/>
            <a:endCxn id="55" idx="4"/>
          </p:cNvCxnSpPr>
          <p:nvPr/>
        </p:nvCxnSpPr>
        <p:spPr>
          <a:xfrm flipH="1" flipV="1">
            <a:off x="4914713" y="3465767"/>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71" name="文本框 112">
            <a:extLst>
              <a:ext uri="{FF2B5EF4-FFF2-40B4-BE49-F238E27FC236}">
                <a16:creationId xmlns:a16="http://schemas.microsoft.com/office/drawing/2014/main" id="{220F1916-76C4-BAB2-38F5-C31C6A08D284}"/>
              </a:ext>
            </a:extLst>
          </p:cNvPr>
          <p:cNvSpPr txBox="1"/>
          <p:nvPr/>
        </p:nvSpPr>
        <p:spPr>
          <a:xfrm>
            <a:off x="5342417" y="1793304"/>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131">
            <a:extLst>
              <a:ext uri="{FF2B5EF4-FFF2-40B4-BE49-F238E27FC236}">
                <a16:creationId xmlns:a16="http://schemas.microsoft.com/office/drawing/2014/main" id="{FD17D5C3-6AE0-819A-CB30-FEB8185A75FA}"/>
              </a:ext>
            </a:extLst>
          </p:cNvPr>
          <p:cNvSpPr txBox="1"/>
          <p:nvPr/>
        </p:nvSpPr>
        <p:spPr>
          <a:xfrm>
            <a:off x="1039235" y="5245242"/>
            <a:ext cx="2124551" cy="103667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輸入一個樣本</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計算所有神經元的輸出</a:t>
            </a:r>
          </a:p>
        </p:txBody>
      </p:sp>
      <p:sp>
        <p:nvSpPr>
          <p:cNvPr id="9" name="文本框 132">
            <a:extLst>
              <a:ext uri="{FF2B5EF4-FFF2-40B4-BE49-F238E27FC236}">
                <a16:creationId xmlns:a16="http://schemas.microsoft.com/office/drawing/2014/main" id="{3D2A57E5-43CA-CF41-FEE5-9B7F540B694E}"/>
              </a:ext>
            </a:extLst>
          </p:cNvPr>
          <p:cNvSpPr txBox="1"/>
          <p:nvPr/>
        </p:nvSpPr>
        <p:spPr>
          <a:xfrm>
            <a:off x="7679316" y="913564"/>
            <a:ext cx="1909444" cy="74654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，得到輸出層神經元</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k</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的輸出</a:t>
            </a:r>
          </a:p>
        </p:txBody>
      </p:sp>
      <mc:AlternateContent xmlns:mc="http://schemas.openxmlformats.org/markup-compatibility/2006">
        <mc:Choice xmlns:a14="http://schemas.microsoft.com/office/drawing/2010/main" Requires="a14">
          <p:sp>
            <p:nvSpPr>
              <p:cNvPr id="10" name="文本框 134">
                <a:extLst>
                  <a:ext uri="{FF2B5EF4-FFF2-40B4-BE49-F238E27FC236}">
                    <a16:creationId xmlns:a16="http://schemas.microsoft.com/office/drawing/2014/main" id="{47A37847-2E54-3040-9FFC-E98A0DA52C8B}"/>
                  </a:ext>
                </a:extLst>
              </p:cNvPr>
              <p:cNvSpPr txBox="1"/>
              <p:nvPr/>
            </p:nvSpPr>
            <p:spPr>
              <a:xfrm>
                <a:off x="1039235" y="853377"/>
                <a:ext cx="3538585" cy="77773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3</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，計算輸出層神經元的</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k</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(1−</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oMath>
                  </m:oMathPara>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0" name="文本框 134">
                <a:extLst>
                  <a:ext uri="{FF2B5EF4-FFF2-40B4-BE49-F238E27FC236}">
                    <a16:creationId xmlns:a16="http://schemas.microsoft.com/office/drawing/2014/main" id="{47A37847-2E54-3040-9FFC-E98A0DA52C8B}"/>
                  </a:ext>
                </a:extLst>
              </p:cNvPr>
              <p:cNvSpPr txBox="1">
                <a:spLocks noRot="1" noChangeAspect="1" noMove="1" noResize="1" noEditPoints="1" noAdjustHandles="1" noChangeArrowheads="1" noChangeShapeType="1" noTextEdit="1"/>
              </p:cNvSpPr>
              <p:nvPr/>
            </p:nvSpPr>
            <p:spPr>
              <a:xfrm>
                <a:off x="1039235" y="853377"/>
                <a:ext cx="3538585" cy="777737"/>
              </a:xfrm>
              <a:prstGeom prst="rect">
                <a:avLst/>
              </a:prstGeom>
              <a:blipFill>
                <a:blip r:embed="rId4"/>
                <a:stretch>
                  <a:fillRect l="-1721" t="-7031"/>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文本框 136">
                <a:extLst>
                  <a:ext uri="{FF2B5EF4-FFF2-40B4-BE49-F238E27FC236}">
                    <a16:creationId xmlns:a16="http://schemas.microsoft.com/office/drawing/2014/main" id="{67F695EB-2A7C-9882-0B91-7B65952EF5EE}"/>
                  </a:ext>
                </a:extLst>
              </p:cNvPr>
              <p:cNvSpPr txBox="1"/>
              <p:nvPr/>
            </p:nvSpPr>
            <p:spPr>
              <a:xfrm>
                <a:off x="609195" y="2165081"/>
                <a:ext cx="4031495" cy="130682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5</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k</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計算隱含層</a:t>
                </a:r>
                <a:r>
                  <a:rPr kumimoji="0" 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h</a:t>
                </a:r>
                <a:endParaRPr kumimoji="0" lang="en-US" sz="2000" b="0" i="0" u="none" strike="noStrike" kern="100" cap="none" spc="0" normalizeH="0" baseline="-25000" noProof="0" dirty="0">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endParaRPr>
              </a:p>
              <a:p>
                <a:pPr marL="2286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𝛿</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h</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𝑜</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h</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(1−</m:t>
                      </m:r>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𝑜</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h</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nary>
                        <m:naryPr>
                          <m:chr m:val="∑"/>
                          <m:limLoc m:val="undOvr"/>
                          <m:supHide m:val="on"/>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naryPr>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r>
                            <a:rPr lang="zh-CN" altLang="en-US" i="1" smtClean="0">
                              <a:solidFill>
                                <a:srgbClr val="FF0000"/>
                              </a:solidFill>
                              <a:latin typeface="Cambria Math" panose="02040503050406030204" pitchFamily="18" charset="0"/>
                            </a:rPr>
                            <m:t>後繼</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h</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sub>
                        <m:sup/>
                        <m:e>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𝛿</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sub>
                          </m:sSub>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𝑤</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𝑘h</m:t>
                              </m:r>
                            </m:sub>
                          </m:sSub>
                        </m:e>
                      </m:nary>
                    </m:oMath>
                  </m:oMathPara>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22860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1" name="文本框 136">
                <a:extLst>
                  <a:ext uri="{FF2B5EF4-FFF2-40B4-BE49-F238E27FC236}">
                    <a16:creationId xmlns:a16="http://schemas.microsoft.com/office/drawing/2014/main" id="{67F695EB-2A7C-9882-0B91-7B65952EF5EE}"/>
                  </a:ext>
                </a:extLst>
              </p:cNvPr>
              <p:cNvSpPr txBox="1">
                <a:spLocks noRot="1" noChangeAspect="1" noMove="1" noResize="1" noEditPoints="1" noAdjustHandles="1" noChangeArrowheads="1" noChangeShapeType="1" noTextEdit="1"/>
              </p:cNvSpPr>
              <p:nvPr/>
            </p:nvSpPr>
            <p:spPr>
              <a:xfrm>
                <a:off x="609195" y="2165081"/>
                <a:ext cx="4031495" cy="1306824"/>
              </a:xfrm>
              <a:prstGeom prst="rect">
                <a:avLst/>
              </a:prstGeom>
              <a:blipFill>
                <a:blip r:embed="rId5"/>
                <a:stretch>
                  <a:fillRect t="-3721"/>
                </a:stretch>
              </a:blipFill>
              <a:ln w="6350">
                <a:noFill/>
              </a:ln>
            </p:spPr>
            <p:txBody>
              <a:bodyPr/>
              <a:lstStyle/>
              <a:p>
                <a:r>
                  <a:rPr lang="zh-TW" altLang="en-US">
                    <a:noFill/>
                  </a:rPr>
                  <a:t> </a:t>
                </a:r>
              </a:p>
            </p:txBody>
          </p:sp>
        </mc:Fallback>
      </mc:AlternateContent>
      <p:cxnSp>
        <p:nvCxnSpPr>
          <p:cNvPr id="14" name="曲线连接符 13">
            <a:extLst>
              <a:ext uri="{FF2B5EF4-FFF2-40B4-BE49-F238E27FC236}">
                <a16:creationId xmlns:a16="http://schemas.microsoft.com/office/drawing/2014/main" id="{6BA486AE-6E52-F066-7CC2-5984E82EEF18}"/>
              </a:ext>
            </a:extLst>
          </p:cNvPr>
          <p:cNvCxnSpPr/>
          <p:nvPr/>
        </p:nvCxnSpPr>
        <p:spPr>
          <a:xfrm>
            <a:off x="3213324" y="5590326"/>
            <a:ext cx="1037888" cy="283156"/>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15" name="曲线连接符 14">
            <a:extLst>
              <a:ext uri="{FF2B5EF4-FFF2-40B4-BE49-F238E27FC236}">
                <a16:creationId xmlns:a16="http://schemas.microsoft.com/office/drawing/2014/main" id="{6110BF3D-7890-80F1-3216-72E6CB187EE5}"/>
              </a:ext>
            </a:extLst>
          </p:cNvPr>
          <p:cNvCxnSpPr/>
          <p:nvPr/>
        </p:nvCxnSpPr>
        <p:spPr>
          <a:xfrm rot="10800000" flipV="1">
            <a:off x="6324009" y="1212636"/>
            <a:ext cx="1340483" cy="733408"/>
          </a:xfrm>
          <a:prstGeom prst="curvedConnector3">
            <a:avLst/>
          </a:prstGeom>
          <a:noFill/>
          <a:ln w="28575" cap="flat" cmpd="sng" algn="ctr">
            <a:solidFill>
              <a:srgbClr val="FF0000"/>
            </a:solidFill>
            <a:prstDash val="solid"/>
            <a:miter lim="800000"/>
            <a:tailEnd type="triangle"/>
          </a:ln>
          <a:effectLst/>
        </p:spPr>
      </p:cxnSp>
      <p:cxnSp>
        <p:nvCxnSpPr>
          <p:cNvPr id="16" name="曲线连接符 15">
            <a:extLst>
              <a:ext uri="{FF2B5EF4-FFF2-40B4-BE49-F238E27FC236}">
                <a16:creationId xmlns:a16="http://schemas.microsoft.com/office/drawing/2014/main" id="{0E0E1DA5-B70D-9C86-9B01-484A4F1BCC31}"/>
              </a:ext>
            </a:extLst>
          </p:cNvPr>
          <p:cNvCxnSpPr/>
          <p:nvPr/>
        </p:nvCxnSpPr>
        <p:spPr>
          <a:xfrm>
            <a:off x="4252098" y="1268336"/>
            <a:ext cx="1550572" cy="632482"/>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17" name="曲线连接符 16">
            <a:extLst>
              <a:ext uri="{FF2B5EF4-FFF2-40B4-BE49-F238E27FC236}">
                <a16:creationId xmlns:a16="http://schemas.microsoft.com/office/drawing/2014/main" id="{B33ABED9-A894-F47E-46DA-D9B8F3C6A2E2}"/>
              </a:ext>
            </a:extLst>
          </p:cNvPr>
          <p:cNvCxnSpPr/>
          <p:nvPr/>
        </p:nvCxnSpPr>
        <p:spPr>
          <a:xfrm rot="10800000" flipV="1">
            <a:off x="6984816" y="2383769"/>
            <a:ext cx="691602" cy="400016"/>
          </a:xfrm>
          <a:prstGeom prst="curvedConnector3">
            <a:avLst/>
          </a:prstGeom>
          <a:noFill/>
          <a:ln w="28575" cap="flat" cmpd="sng" algn="ctr">
            <a:solidFill>
              <a:srgbClr val="FF0000"/>
            </a:solidFill>
            <a:prstDash val="solid"/>
            <a:miter lim="800000"/>
            <a:tailEnd type="triangle"/>
          </a:ln>
          <a:effectLst/>
        </p:spPr>
      </p:cxnSp>
      <p:cxnSp>
        <p:nvCxnSpPr>
          <p:cNvPr id="18" name="曲线连接符 17">
            <a:extLst>
              <a:ext uri="{FF2B5EF4-FFF2-40B4-BE49-F238E27FC236}">
                <a16:creationId xmlns:a16="http://schemas.microsoft.com/office/drawing/2014/main" id="{788E0ED2-844E-BCE1-6078-39CDAF23940A}"/>
              </a:ext>
            </a:extLst>
          </p:cNvPr>
          <p:cNvCxnSpPr/>
          <p:nvPr/>
        </p:nvCxnSpPr>
        <p:spPr>
          <a:xfrm>
            <a:off x="4131896" y="2500095"/>
            <a:ext cx="1797224" cy="800454"/>
          </a:xfrm>
          <a:prstGeom prst="curvedConnector3">
            <a:avLst/>
          </a:prstGeom>
          <a:noFill/>
          <a:ln w="28575" cap="flat" cmpd="sng" algn="ctr">
            <a:solidFill>
              <a:srgbClr val="FF0000"/>
            </a:solidFill>
            <a:prstDash val="solid"/>
            <a:miter lim="800000"/>
            <a:tailEnd type="triangle"/>
          </a:ln>
          <a:effectLst/>
        </p:spPr>
      </p:cxnSp>
      <p:cxnSp>
        <p:nvCxnSpPr>
          <p:cNvPr id="19" name="曲线连接符 18">
            <a:extLst>
              <a:ext uri="{FF2B5EF4-FFF2-40B4-BE49-F238E27FC236}">
                <a16:creationId xmlns:a16="http://schemas.microsoft.com/office/drawing/2014/main" id="{D5A109D5-92C7-C3AE-659C-E892A104176A}"/>
              </a:ext>
            </a:extLst>
          </p:cNvPr>
          <p:cNvCxnSpPr/>
          <p:nvPr/>
        </p:nvCxnSpPr>
        <p:spPr>
          <a:xfrm rot="10800000" flipV="1">
            <a:off x="6945991" y="3722244"/>
            <a:ext cx="729756" cy="314968"/>
          </a:xfrm>
          <a:prstGeom prst="curvedConnector3">
            <a:avLst/>
          </a:prstGeom>
          <a:noFill/>
          <a:ln w="28575" cap="flat" cmpd="sng" algn="ctr">
            <a:solidFill>
              <a:srgbClr val="FF0000"/>
            </a:solidFill>
            <a:prstDash val="solid"/>
            <a:miter lim="800000"/>
            <a:tailEnd type="triangle"/>
          </a:ln>
          <a:effectLst/>
        </p:spPr>
      </p:cxnSp>
      <p:cxnSp>
        <p:nvCxnSpPr>
          <p:cNvPr id="20" name="曲线连接符 19">
            <a:extLst>
              <a:ext uri="{FF2B5EF4-FFF2-40B4-BE49-F238E27FC236}">
                <a16:creationId xmlns:a16="http://schemas.microsoft.com/office/drawing/2014/main" id="{175D6E0C-C3B2-0B94-67E6-6405140CA548}"/>
              </a:ext>
            </a:extLst>
          </p:cNvPr>
          <p:cNvCxnSpPr/>
          <p:nvPr/>
        </p:nvCxnSpPr>
        <p:spPr>
          <a:xfrm>
            <a:off x="4018350" y="4169532"/>
            <a:ext cx="1784320" cy="477635"/>
          </a:xfrm>
          <a:prstGeom prst="curvedConnector3">
            <a:avLst/>
          </a:prstGeom>
          <a:noFill/>
          <a:ln w="28575" cap="flat" cmpd="sng" algn="ctr">
            <a:solidFill>
              <a:srgbClr val="FF0000"/>
            </a:solidFill>
            <a:prstDash val="solid"/>
            <a:miter lim="800000"/>
            <a:tailEnd type="triangle"/>
          </a:ln>
          <a:effectLst/>
        </p:spPr>
      </p:cxnSp>
      <p:cxnSp>
        <p:nvCxnSpPr>
          <p:cNvPr id="21" name="曲线连接符 20">
            <a:extLst>
              <a:ext uri="{FF2B5EF4-FFF2-40B4-BE49-F238E27FC236}">
                <a16:creationId xmlns:a16="http://schemas.microsoft.com/office/drawing/2014/main" id="{F2ED65A7-3B71-F47C-E2DF-960CDC8F5C61}"/>
              </a:ext>
            </a:extLst>
          </p:cNvPr>
          <p:cNvCxnSpPr/>
          <p:nvPr/>
        </p:nvCxnSpPr>
        <p:spPr>
          <a:xfrm rot="5400000">
            <a:off x="7192780" y="4773168"/>
            <a:ext cx="560509" cy="431279"/>
          </a:xfrm>
          <a:prstGeom prst="curvedConnector3">
            <a:avLst>
              <a:gd name="adj1" fmla="val 46893"/>
            </a:avLst>
          </a:prstGeom>
          <a:noFill/>
          <a:ln w="28575" cap="flat" cmpd="sng" algn="ctr">
            <a:solidFill>
              <a:srgbClr val="FF0000"/>
            </a:solidFill>
            <a:prstDash val="solid"/>
            <a:miter lim="800000"/>
            <a:tailEnd type="triangle"/>
          </a:ln>
          <a:effectLst/>
        </p:spPr>
      </p:cxnSp>
      <p:cxnSp>
        <p:nvCxnSpPr>
          <p:cNvPr id="85" name="直接箭头连接符 84">
            <a:extLst>
              <a:ext uri="{FF2B5EF4-FFF2-40B4-BE49-F238E27FC236}">
                <a16:creationId xmlns:a16="http://schemas.microsoft.com/office/drawing/2014/main" id="{7281ADE9-D61D-87DF-F329-ABF940AF4733}"/>
              </a:ext>
            </a:extLst>
          </p:cNvPr>
          <p:cNvCxnSpPr/>
          <p:nvPr/>
        </p:nvCxnSpPr>
        <p:spPr>
          <a:xfrm flipH="1" flipV="1">
            <a:off x="6114356" y="1305846"/>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86" name="文本框 35">
            <a:extLst>
              <a:ext uri="{FF2B5EF4-FFF2-40B4-BE49-F238E27FC236}">
                <a16:creationId xmlns:a16="http://schemas.microsoft.com/office/drawing/2014/main" id="{372CE012-AC62-2DE9-04A3-3841A8A65415}"/>
              </a:ext>
            </a:extLst>
          </p:cNvPr>
          <p:cNvSpPr txBox="1"/>
          <p:nvPr/>
        </p:nvSpPr>
        <p:spPr>
          <a:xfrm>
            <a:off x="5910806" y="829370"/>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o</a:t>
            </a:r>
            <a:r>
              <a:rPr kumimoji="0" lang="en-US" sz="2000" b="0" i="0" u="none" strike="noStrike" kern="100" cap="none" spc="0" normalizeH="0" baseline="-2500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k</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87" name="椭圆 86">
            <a:extLst>
              <a:ext uri="{FF2B5EF4-FFF2-40B4-BE49-F238E27FC236}">
                <a16:creationId xmlns:a16="http://schemas.microsoft.com/office/drawing/2014/main" id="{84B40553-CCAC-EC0D-28F2-1BD6BBD917F2}"/>
              </a:ext>
            </a:extLst>
          </p:cNvPr>
          <p:cNvSpPr/>
          <p:nvPr/>
        </p:nvSpPr>
        <p:spPr>
          <a:xfrm>
            <a:off x="5968055" y="1801641"/>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88" name="直接箭头连接符 87">
            <a:extLst>
              <a:ext uri="{FF2B5EF4-FFF2-40B4-BE49-F238E27FC236}">
                <a16:creationId xmlns:a16="http://schemas.microsoft.com/office/drawing/2014/main" id="{934B0428-EF55-77AE-BCD0-3A1C4AF85384}"/>
              </a:ext>
            </a:extLst>
          </p:cNvPr>
          <p:cNvCxnSpPr>
            <a:stCxn id="55" idx="0"/>
            <a:endCxn id="87" idx="4"/>
          </p:cNvCxnSpPr>
          <p:nvPr/>
        </p:nvCxnSpPr>
        <p:spPr>
          <a:xfrm flipV="1">
            <a:off x="4914713" y="2092652"/>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89" name="直接箭头连接符 88">
            <a:extLst>
              <a:ext uri="{FF2B5EF4-FFF2-40B4-BE49-F238E27FC236}">
                <a16:creationId xmlns:a16="http://schemas.microsoft.com/office/drawing/2014/main" id="{14903BC2-8EAF-AE32-DF77-F7036644AB73}"/>
              </a:ext>
            </a:extLst>
          </p:cNvPr>
          <p:cNvCxnSpPr>
            <a:stCxn id="57" idx="0"/>
            <a:endCxn id="87" idx="4"/>
          </p:cNvCxnSpPr>
          <p:nvPr/>
        </p:nvCxnSpPr>
        <p:spPr>
          <a:xfrm flipH="1" flipV="1">
            <a:off x="6111817" y="2092652"/>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90" name="直接箭头连接符 89">
            <a:extLst>
              <a:ext uri="{FF2B5EF4-FFF2-40B4-BE49-F238E27FC236}">
                <a16:creationId xmlns:a16="http://schemas.microsoft.com/office/drawing/2014/main" id="{006DE3F1-7C54-AFF3-D9C2-B40C82B2A9FB}"/>
              </a:ext>
            </a:extLst>
          </p:cNvPr>
          <p:cNvCxnSpPr>
            <a:stCxn id="56" idx="0"/>
            <a:endCxn id="87" idx="4"/>
          </p:cNvCxnSpPr>
          <p:nvPr/>
        </p:nvCxnSpPr>
        <p:spPr>
          <a:xfrm flipV="1">
            <a:off x="6077938" y="2092652"/>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91" name="文本框 112">
            <a:extLst>
              <a:ext uri="{FF2B5EF4-FFF2-40B4-BE49-F238E27FC236}">
                <a16:creationId xmlns:a16="http://schemas.microsoft.com/office/drawing/2014/main" id="{DF683336-6FE6-D54E-1394-4DF002B3B75E}"/>
              </a:ext>
            </a:extLst>
          </p:cNvPr>
          <p:cNvSpPr txBox="1"/>
          <p:nvPr/>
        </p:nvSpPr>
        <p:spPr>
          <a:xfrm>
            <a:off x="6407245" y="1777734"/>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00" name="文本框 112">
            <a:extLst>
              <a:ext uri="{FF2B5EF4-FFF2-40B4-BE49-F238E27FC236}">
                <a16:creationId xmlns:a16="http://schemas.microsoft.com/office/drawing/2014/main" id="{6A8E0899-0E2F-77CA-906D-9523B8813F69}"/>
              </a:ext>
            </a:extLst>
          </p:cNvPr>
          <p:cNvSpPr txBox="1"/>
          <p:nvPr/>
        </p:nvSpPr>
        <p:spPr>
          <a:xfrm>
            <a:off x="5309168" y="314386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01" name="文本框 112">
            <a:extLst>
              <a:ext uri="{FF2B5EF4-FFF2-40B4-BE49-F238E27FC236}">
                <a16:creationId xmlns:a16="http://schemas.microsoft.com/office/drawing/2014/main" id="{2928E7AB-4239-AFE8-073E-35F3B9C6EBCB}"/>
              </a:ext>
            </a:extLst>
          </p:cNvPr>
          <p:cNvSpPr txBox="1"/>
          <p:nvPr/>
        </p:nvSpPr>
        <p:spPr>
          <a:xfrm>
            <a:off x="6346946" y="443232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02" name="文本框 112">
            <a:extLst>
              <a:ext uri="{FF2B5EF4-FFF2-40B4-BE49-F238E27FC236}">
                <a16:creationId xmlns:a16="http://schemas.microsoft.com/office/drawing/2014/main" id="{156DC6FF-590A-81E3-3D19-E049EFEE8556}"/>
              </a:ext>
            </a:extLst>
          </p:cNvPr>
          <p:cNvSpPr txBox="1"/>
          <p:nvPr/>
        </p:nvSpPr>
        <p:spPr>
          <a:xfrm>
            <a:off x="5152576" y="4432866"/>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6" name="文本框 135">
                <a:extLst>
                  <a:ext uri="{FF2B5EF4-FFF2-40B4-BE49-F238E27FC236}">
                    <a16:creationId xmlns:a16="http://schemas.microsoft.com/office/drawing/2014/main" id="{C52730C0-892F-E77A-D4F4-651548A5AE8A}"/>
                  </a:ext>
                </a:extLst>
              </p:cNvPr>
              <p:cNvSpPr txBox="1"/>
              <p:nvPr/>
            </p:nvSpPr>
            <p:spPr>
              <a:xfrm>
                <a:off x="7702964" y="3368453"/>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6</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h</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值更新權重</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r>
                      <a:rPr kumimoji="0" lang="zh-CN"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𝜂</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sub>
                    </m:sSub>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106" name="文本框 135">
                <a:extLst>
                  <a:ext uri="{FF2B5EF4-FFF2-40B4-BE49-F238E27FC236}">
                    <a16:creationId xmlns:a16="http://schemas.microsoft.com/office/drawing/2014/main" id="{C52730C0-892F-E77A-D4F4-651548A5AE8A}"/>
                  </a:ext>
                </a:extLst>
              </p:cNvPr>
              <p:cNvSpPr txBox="1">
                <a:spLocks noRot="1" noChangeAspect="1" noMove="1" noResize="1" noEditPoints="1" noAdjustHandles="1" noChangeArrowheads="1" noChangeShapeType="1" noTextEdit="1"/>
              </p:cNvSpPr>
              <p:nvPr/>
            </p:nvSpPr>
            <p:spPr>
              <a:xfrm>
                <a:off x="7702964" y="3368453"/>
                <a:ext cx="4179156" cy="817738"/>
              </a:xfrm>
              <a:prstGeom prst="rect">
                <a:avLst/>
              </a:prstGeom>
              <a:blipFill>
                <a:blip r:embed="rId6"/>
                <a:stretch>
                  <a:fillRect l="-1606" t="-6716" b="-746"/>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7" name="文本框 136">
                <a:extLst>
                  <a:ext uri="{FF2B5EF4-FFF2-40B4-BE49-F238E27FC236}">
                    <a16:creationId xmlns:a16="http://schemas.microsoft.com/office/drawing/2014/main" id="{5B557CAB-0814-0FB5-77F3-064C3DD28657}"/>
                  </a:ext>
                </a:extLst>
              </p:cNvPr>
              <p:cNvSpPr txBox="1"/>
              <p:nvPr/>
            </p:nvSpPr>
            <p:spPr>
              <a:xfrm>
                <a:off x="567785" y="3820743"/>
                <a:ext cx="4027588" cy="130682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7</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h</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計算隱含層</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g</a:t>
                </a:r>
                <a:endParaRPr kumimoji="0" lang="en-US" sz="2000" b="0" i="0" u="none" strike="noStrike" kern="100" cap="none" spc="0" normalizeH="0" baseline="-25000" noProof="0" dirty="0">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endParaRPr>
              </a:p>
              <a:p>
                <a:pPr marL="2286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𝛿</m:t>
                          </m:r>
                        </m:e>
                        <m:sub>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𝑜</m:t>
                          </m:r>
                        </m:e>
                        <m:sub>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(1−</m:t>
                      </m:r>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𝑜</m:t>
                          </m:r>
                        </m:e>
                        <m:sub>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sub>
                      </m:s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nary>
                        <m:naryPr>
                          <m:chr m:val="∑"/>
                          <m:limLoc m:val="undOvr"/>
                          <m:supHide m:val="on"/>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naryPr>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r>
                            <a:rPr lang="zh-CN" altLang="en-US" i="1" smtClean="0">
                              <a:solidFill>
                                <a:srgbClr val="FF0000"/>
                              </a:solidFill>
                              <a:latin typeface="Cambria Math" panose="02040503050406030204" pitchFamily="18" charset="0"/>
                            </a:rPr>
                            <m:t>後繼</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m:t>
                          </m:r>
                        </m:sub>
                        <m:sup/>
                        <m:e>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𝛿</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sub>
                          </m:sSub>
                          <m:sSub>
                            <m:sSubPr>
                              <m:ctrlPr>
                                <a:rPr kumimoji="0" lang="zh-CN" altLang="zh-CN"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𝑤</m:t>
                              </m:r>
                            </m:e>
                            <m:sub>
                              <m:r>
                                <a:rPr kumimoji="0" lang="en-US" altLang="zh-CN" b="0" i="1" u="none" strike="noStrike" kern="1200" cap="none" spc="0" normalizeH="0" baseline="0" noProof="0">
                                  <a:ln>
                                    <a:noFill/>
                                  </a:ln>
                                  <a:solidFill>
                                    <a:srgbClr val="FF0000"/>
                                  </a:solidFill>
                                  <a:effectLst/>
                                  <a:uLnTx/>
                                  <a:uFillTx/>
                                  <a:latin typeface="Cambria Math" panose="02040503050406030204" pitchFamily="18" charset="0"/>
                                </a:rPr>
                                <m:t>𝑘</m:t>
                              </m:r>
                              <m:r>
                                <a:rPr kumimoji="0" lang="en-US" altLang="zh-CN" b="0" i="1" u="none" strike="noStrike" kern="1200" cap="none" spc="0" normalizeH="0" baseline="0" noProof="0" smtClean="0">
                                  <a:ln>
                                    <a:noFill/>
                                  </a:ln>
                                  <a:solidFill>
                                    <a:srgbClr val="FF0000"/>
                                  </a:solidFill>
                                  <a:effectLst/>
                                  <a:uLnTx/>
                                  <a:uFillTx/>
                                  <a:latin typeface="Cambria Math" panose="02040503050406030204" pitchFamily="18" charset="0"/>
                                </a:rPr>
                                <m:t>𝑔</m:t>
                              </m:r>
                            </m:sub>
                          </m:sSub>
                        </m:e>
                      </m:nary>
                    </m:oMath>
                  </m:oMathPara>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22860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07" name="文本框 136">
                <a:extLst>
                  <a:ext uri="{FF2B5EF4-FFF2-40B4-BE49-F238E27FC236}">
                    <a16:creationId xmlns:a16="http://schemas.microsoft.com/office/drawing/2014/main" id="{5B557CAB-0814-0FB5-77F3-064C3DD28657}"/>
                  </a:ext>
                </a:extLst>
              </p:cNvPr>
              <p:cNvSpPr txBox="1">
                <a:spLocks noRot="1" noChangeAspect="1" noMove="1" noResize="1" noEditPoints="1" noAdjustHandles="1" noChangeArrowheads="1" noChangeShapeType="1" noTextEdit="1"/>
              </p:cNvSpPr>
              <p:nvPr/>
            </p:nvSpPr>
            <p:spPr>
              <a:xfrm>
                <a:off x="567785" y="3820743"/>
                <a:ext cx="4027588" cy="1306824"/>
              </a:xfrm>
              <a:prstGeom prst="rect">
                <a:avLst/>
              </a:prstGeom>
              <a:blipFill>
                <a:blip r:embed="rId7"/>
                <a:stretch>
                  <a:fillRect t="-4206"/>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9" name="文本框 135">
                <a:extLst>
                  <a:ext uri="{FF2B5EF4-FFF2-40B4-BE49-F238E27FC236}">
                    <a16:creationId xmlns:a16="http://schemas.microsoft.com/office/drawing/2014/main" id="{53A35D4A-C7AE-5B20-89D1-3F38C9F2E468}"/>
                  </a:ext>
                </a:extLst>
              </p:cNvPr>
              <p:cNvSpPr txBox="1"/>
              <p:nvPr/>
            </p:nvSpPr>
            <p:spPr>
              <a:xfrm>
                <a:off x="7677975" y="4432327"/>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8</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，用</a:t>
                </a:r>
                <a:r>
                  <a:rPr kumimoji="0" lang="en-US" sz="2000" b="0" i="0" u="none" strike="noStrike" kern="100" cap="none" spc="0" normalizeH="0" baseline="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δ</a:t>
                </a:r>
                <a:r>
                  <a:rPr kumimoji="0" lang="en-US" sz="2000" b="0" i="0" u="none" strike="noStrike" kern="100" cap="none" spc="0" normalizeH="0" baseline="-25000" noProof="0" dirty="0" err="1">
                    <a:ln>
                      <a:noFill/>
                    </a:ln>
                    <a:solidFill>
                      <a:srgbClr val="FF0000"/>
                    </a:solidFill>
                    <a:effectLst/>
                    <a:uLnTx/>
                    <a:uFillTx/>
                    <a:latin typeface="宋体" panose="02010600030101010101" pitchFamily="2" charset="-122"/>
                    <a:ea typeface="等线" panose="02010600030101010101" pitchFamily="2" charset="-122"/>
                    <a:cs typeface="Times New Roman" panose="02020603050405020304" pitchFamily="18" charset="0"/>
                  </a:rPr>
                  <a:t>g</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值更新權重</a:t>
                </a:r>
                <a:endPar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r>
                      <a:rPr kumimoji="0" lang="zh-CN"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𝜂</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sub>
                    </m:sSub>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m:rPr>
                            <m:sty m:val="p"/>
                          </m:rPr>
                          <a:rPr kumimoji="0" lang="en-US" altLang="zh-CN" sz="2000" b="0" i="0" u="none" strike="noStrike" kern="1200" cap="none" spc="0" normalizeH="0" baseline="0" noProof="0">
                            <a:ln>
                              <a:noFill/>
                            </a:ln>
                            <a:solidFill>
                              <a:srgbClr val="FF0000"/>
                            </a:solidFill>
                            <a:effectLst/>
                            <a:uLnTx/>
                            <a:uFillTx/>
                            <a:latin typeface="Cambria Math" panose="02040503050406030204" pitchFamily="18" charset="0"/>
                            <a:cs typeface="+mn-cs"/>
                          </a:rPr>
                          <m:t>w</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oMath>
                </a14:m>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119" name="文本框 135">
                <a:extLst>
                  <a:ext uri="{FF2B5EF4-FFF2-40B4-BE49-F238E27FC236}">
                    <a16:creationId xmlns:a16="http://schemas.microsoft.com/office/drawing/2014/main" id="{53A35D4A-C7AE-5B20-89D1-3F38C9F2E468}"/>
                  </a:ext>
                </a:extLst>
              </p:cNvPr>
              <p:cNvSpPr txBox="1">
                <a:spLocks noRot="1" noChangeAspect="1" noMove="1" noResize="1" noEditPoints="1" noAdjustHandles="1" noChangeArrowheads="1" noChangeShapeType="1" noTextEdit="1"/>
              </p:cNvSpPr>
              <p:nvPr/>
            </p:nvSpPr>
            <p:spPr>
              <a:xfrm>
                <a:off x="7677975" y="4432327"/>
                <a:ext cx="4179156" cy="817738"/>
              </a:xfrm>
              <a:prstGeom prst="rect">
                <a:avLst/>
              </a:prstGeom>
              <a:blipFill>
                <a:blip r:embed="rId8"/>
                <a:stretch>
                  <a:fillRect l="-1606" t="-5970" b="-2985"/>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5" name="文本框 35">
                <a:extLst>
                  <a:ext uri="{FF2B5EF4-FFF2-40B4-BE49-F238E27FC236}">
                    <a16:creationId xmlns:a16="http://schemas.microsoft.com/office/drawing/2014/main" id="{52A4DCF1-43B8-7397-0352-93EEF911AC46}"/>
                  </a:ext>
                </a:extLst>
              </p:cNvPr>
              <p:cNvSpPr txBox="1"/>
              <p:nvPr/>
            </p:nvSpPr>
            <p:spPr>
              <a:xfrm>
                <a:off x="5822879" y="1747596"/>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𝑘</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25" name="文本框 35">
                <a:extLst>
                  <a:ext uri="{FF2B5EF4-FFF2-40B4-BE49-F238E27FC236}">
                    <a16:creationId xmlns:a16="http://schemas.microsoft.com/office/drawing/2014/main" id="{52A4DCF1-43B8-7397-0352-93EEF911AC46}"/>
                  </a:ext>
                </a:extLst>
              </p:cNvPr>
              <p:cNvSpPr txBox="1">
                <a:spLocks noRot="1" noChangeAspect="1" noMove="1" noResize="1" noEditPoints="1" noAdjustHandles="1" noChangeArrowheads="1" noChangeShapeType="1" noTextEdit="1"/>
              </p:cNvSpPr>
              <p:nvPr/>
            </p:nvSpPr>
            <p:spPr>
              <a:xfrm>
                <a:off x="5822879" y="1747596"/>
                <a:ext cx="578535" cy="477132"/>
              </a:xfrm>
              <a:prstGeom prst="rect">
                <a:avLst/>
              </a:prstGeom>
              <a:blipFill>
                <a:blip r:embed="rId9"/>
                <a:stretch>
                  <a:fillRect/>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6" name="文本框 35">
                <a:extLst>
                  <a:ext uri="{FF2B5EF4-FFF2-40B4-BE49-F238E27FC236}">
                    <a16:creationId xmlns:a16="http://schemas.microsoft.com/office/drawing/2014/main" id="{2808F87A-1EC1-CC39-1452-E18B45F2C9EE}"/>
                  </a:ext>
                </a:extLst>
              </p:cNvPr>
              <p:cNvSpPr txBox="1"/>
              <p:nvPr/>
            </p:nvSpPr>
            <p:spPr>
              <a:xfrm>
                <a:off x="5806398" y="3122234"/>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h</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26" name="文本框 35">
                <a:extLst>
                  <a:ext uri="{FF2B5EF4-FFF2-40B4-BE49-F238E27FC236}">
                    <a16:creationId xmlns:a16="http://schemas.microsoft.com/office/drawing/2014/main" id="{2808F87A-1EC1-CC39-1452-E18B45F2C9EE}"/>
                  </a:ext>
                </a:extLst>
              </p:cNvPr>
              <p:cNvSpPr txBox="1">
                <a:spLocks noRot="1" noChangeAspect="1" noMove="1" noResize="1" noEditPoints="1" noAdjustHandles="1" noChangeArrowheads="1" noChangeShapeType="1" noTextEdit="1"/>
              </p:cNvSpPr>
              <p:nvPr/>
            </p:nvSpPr>
            <p:spPr>
              <a:xfrm>
                <a:off x="5806398" y="3122234"/>
                <a:ext cx="578535" cy="477132"/>
              </a:xfrm>
              <a:prstGeom prst="rect">
                <a:avLst/>
              </a:prstGeom>
              <a:blipFill>
                <a:blip r:embed="rId10"/>
                <a:stretch>
                  <a:fillRect/>
                </a:stretch>
              </a:blipFill>
              <a:ln w="6350">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7" name="文本框 35">
                <a:extLst>
                  <a:ext uri="{FF2B5EF4-FFF2-40B4-BE49-F238E27FC236}">
                    <a16:creationId xmlns:a16="http://schemas.microsoft.com/office/drawing/2014/main" id="{FC492DDF-E661-4550-69CD-82EFF2FE96A2}"/>
                  </a:ext>
                </a:extLst>
              </p:cNvPr>
              <p:cNvSpPr txBox="1"/>
              <p:nvPr/>
            </p:nvSpPr>
            <p:spPr>
              <a:xfrm>
                <a:off x="5797356" y="4411020"/>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00" cap="none" spc="0" normalizeH="0" baseline="0" noProof="0" smtClean="0">
                          <a:ln>
                            <a:noFill/>
                          </a:ln>
                          <a:solidFill>
                            <a:srgbClr val="FF0000"/>
                          </a:solidFill>
                          <a:effectLst/>
                          <a:uLnTx/>
                          <a:uFillTx/>
                          <a:latin typeface="Cambria Math" panose="02040503050406030204" pitchFamily="18" charset="0"/>
                          <a:ea typeface="等线" panose="02010600030101010101" pitchFamily="2" charset="-122"/>
                          <a:cs typeface="Times New Roman" panose="02020603050405020304" pitchFamily="18" charset="0"/>
                        </a:rPr>
                        <m:t>𝑔</m:t>
                      </m:r>
                    </m:oMath>
                  </m:oMathPara>
                </a14:m>
                <a:endPar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27" name="文本框 35">
                <a:extLst>
                  <a:ext uri="{FF2B5EF4-FFF2-40B4-BE49-F238E27FC236}">
                    <a16:creationId xmlns:a16="http://schemas.microsoft.com/office/drawing/2014/main" id="{FC492DDF-E661-4550-69CD-82EFF2FE96A2}"/>
                  </a:ext>
                </a:extLst>
              </p:cNvPr>
              <p:cNvSpPr txBox="1">
                <a:spLocks noRot="1" noChangeAspect="1" noMove="1" noResize="1" noEditPoints="1" noAdjustHandles="1" noChangeArrowheads="1" noChangeShapeType="1" noTextEdit="1"/>
              </p:cNvSpPr>
              <p:nvPr/>
            </p:nvSpPr>
            <p:spPr>
              <a:xfrm>
                <a:off x="5797356" y="4411020"/>
                <a:ext cx="578535" cy="477132"/>
              </a:xfrm>
              <a:prstGeom prst="rect">
                <a:avLst/>
              </a:prstGeom>
              <a:blipFill>
                <a:blip r:embed="rId11"/>
                <a:stretch>
                  <a:fillRect/>
                </a:stretch>
              </a:blipFill>
              <a:ln w="6350">
                <a:noFill/>
              </a:ln>
            </p:spPr>
            <p:txBody>
              <a:bodyPr/>
              <a:lstStyle/>
              <a:p>
                <a:r>
                  <a:rPr lang="zh-TW" altLang="en-US">
                    <a:noFill/>
                  </a:rPr>
                  <a:t> </a:t>
                </a:r>
              </a:p>
            </p:txBody>
          </p:sp>
        </mc:Fallback>
      </mc:AlternateContent>
      <p:cxnSp>
        <p:nvCxnSpPr>
          <p:cNvPr id="128" name="直接箭头连接符 127">
            <a:extLst>
              <a:ext uri="{FF2B5EF4-FFF2-40B4-BE49-F238E27FC236}">
                <a16:creationId xmlns:a16="http://schemas.microsoft.com/office/drawing/2014/main" id="{F915C060-12DC-79CA-644E-D65FB928F5C8}"/>
              </a:ext>
            </a:extLst>
          </p:cNvPr>
          <p:cNvCxnSpPr/>
          <p:nvPr/>
        </p:nvCxnSpPr>
        <p:spPr>
          <a:xfrm flipV="1">
            <a:off x="4913044" y="2087298"/>
            <a:ext cx="1197104" cy="1083097"/>
          </a:xfrm>
          <a:prstGeom prst="straightConnector1">
            <a:avLst/>
          </a:prstGeom>
          <a:noFill/>
          <a:ln w="28575" cap="flat" cmpd="sng" algn="ctr">
            <a:solidFill>
              <a:srgbClr val="FF0000"/>
            </a:solidFill>
            <a:prstDash val="solid"/>
            <a:miter lim="800000"/>
            <a:tailEnd type="triangle"/>
          </a:ln>
          <a:effectLst/>
        </p:spPr>
      </p:cxnSp>
      <p:cxnSp>
        <p:nvCxnSpPr>
          <p:cNvPr id="129" name="直接箭头连接符 128">
            <a:extLst>
              <a:ext uri="{FF2B5EF4-FFF2-40B4-BE49-F238E27FC236}">
                <a16:creationId xmlns:a16="http://schemas.microsoft.com/office/drawing/2014/main" id="{829E5E31-2CC1-E69C-9410-9C7AA83A453E}"/>
              </a:ext>
            </a:extLst>
          </p:cNvPr>
          <p:cNvCxnSpPr/>
          <p:nvPr/>
        </p:nvCxnSpPr>
        <p:spPr>
          <a:xfrm flipH="1" flipV="1">
            <a:off x="6110148" y="2087298"/>
            <a:ext cx="1263892" cy="1108853"/>
          </a:xfrm>
          <a:prstGeom prst="straightConnector1">
            <a:avLst/>
          </a:prstGeom>
          <a:noFill/>
          <a:ln w="28575" cap="flat" cmpd="sng" algn="ctr">
            <a:solidFill>
              <a:srgbClr val="FF0000"/>
            </a:solidFill>
            <a:prstDash val="solid"/>
            <a:miter lim="800000"/>
            <a:tailEnd type="triangle"/>
          </a:ln>
          <a:effectLst/>
        </p:spPr>
      </p:cxnSp>
      <p:cxnSp>
        <p:nvCxnSpPr>
          <p:cNvPr id="130" name="直接箭头连接符 129">
            <a:extLst>
              <a:ext uri="{FF2B5EF4-FFF2-40B4-BE49-F238E27FC236}">
                <a16:creationId xmlns:a16="http://schemas.microsoft.com/office/drawing/2014/main" id="{FFB3CC80-F250-AD61-053B-B8EDEAFE390E}"/>
              </a:ext>
            </a:extLst>
          </p:cNvPr>
          <p:cNvCxnSpPr/>
          <p:nvPr/>
        </p:nvCxnSpPr>
        <p:spPr>
          <a:xfrm flipV="1">
            <a:off x="6076269" y="2087298"/>
            <a:ext cx="33879" cy="1083097"/>
          </a:xfrm>
          <a:prstGeom prst="straightConnector1">
            <a:avLst/>
          </a:prstGeom>
          <a:noFill/>
          <a:ln w="28575" cap="flat" cmpd="sng" algn="ctr">
            <a:solidFill>
              <a:srgbClr val="FF0000"/>
            </a:solidFill>
            <a:prstDash val="solid"/>
            <a:miter lim="800000"/>
            <a:tailEnd type="triangle"/>
          </a:ln>
          <a:effectLst/>
        </p:spPr>
      </p:cxnSp>
      <p:cxnSp>
        <p:nvCxnSpPr>
          <p:cNvPr id="131" name="直接箭头连接符 130">
            <a:extLst>
              <a:ext uri="{FF2B5EF4-FFF2-40B4-BE49-F238E27FC236}">
                <a16:creationId xmlns:a16="http://schemas.microsoft.com/office/drawing/2014/main" id="{09FF1AB0-7DDB-FACB-3BC8-D508F9F54DB2}"/>
              </a:ext>
            </a:extLst>
          </p:cNvPr>
          <p:cNvCxnSpPr/>
          <p:nvPr/>
        </p:nvCxnSpPr>
        <p:spPr>
          <a:xfrm flipV="1">
            <a:off x="6077076" y="3464015"/>
            <a:ext cx="679" cy="1036391"/>
          </a:xfrm>
          <a:prstGeom prst="straightConnector1">
            <a:avLst/>
          </a:prstGeom>
          <a:noFill/>
          <a:ln w="28575" cap="flat" cmpd="sng" algn="ctr">
            <a:solidFill>
              <a:srgbClr val="FF0000"/>
            </a:solidFill>
            <a:prstDash val="solid"/>
            <a:miter lim="800000"/>
            <a:tailEnd type="triangle"/>
          </a:ln>
          <a:effectLst/>
        </p:spPr>
      </p:cxnSp>
      <p:cxnSp>
        <p:nvCxnSpPr>
          <p:cNvPr id="132" name="直接箭头连接符 131">
            <a:extLst>
              <a:ext uri="{FF2B5EF4-FFF2-40B4-BE49-F238E27FC236}">
                <a16:creationId xmlns:a16="http://schemas.microsoft.com/office/drawing/2014/main" id="{9DDFC14D-F12B-EB29-1582-EC674A1F4676}"/>
              </a:ext>
            </a:extLst>
          </p:cNvPr>
          <p:cNvCxnSpPr/>
          <p:nvPr/>
        </p:nvCxnSpPr>
        <p:spPr>
          <a:xfrm flipV="1">
            <a:off x="4913848" y="3464015"/>
            <a:ext cx="1163907" cy="1036391"/>
          </a:xfrm>
          <a:prstGeom prst="straightConnector1">
            <a:avLst/>
          </a:prstGeom>
          <a:noFill/>
          <a:ln w="28575" cap="flat" cmpd="sng" algn="ctr">
            <a:solidFill>
              <a:srgbClr val="FF0000"/>
            </a:solidFill>
            <a:prstDash val="solid"/>
            <a:miter lim="800000"/>
            <a:tailEnd type="triangle"/>
          </a:ln>
          <a:effectLst/>
        </p:spPr>
      </p:cxnSp>
      <p:cxnSp>
        <p:nvCxnSpPr>
          <p:cNvPr id="133" name="直接箭头连接符 132">
            <a:extLst>
              <a:ext uri="{FF2B5EF4-FFF2-40B4-BE49-F238E27FC236}">
                <a16:creationId xmlns:a16="http://schemas.microsoft.com/office/drawing/2014/main" id="{1456F2DD-CA91-D02D-5657-A6546707BBD6}"/>
              </a:ext>
            </a:extLst>
          </p:cNvPr>
          <p:cNvCxnSpPr/>
          <p:nvPr/>
        </p:nvCxnSpPr>
        <p:spPr>
          <a:xfrm flipH="1" flipV="1">
            <a:off x="6077755" y="3464015"/>
            <a:ext cx="1323216" cy="1062146"/>
          </a:xfrm>
          <a:prstGeom prst="straightConnector1">
            <a:avLst/>
          </a:prstGeom>
          <a:noFill/>
          <a:ln w="28575" cap="flat" cmpd="sng" algn="ctr">
            <a:solidFill>
              <a:srgbClr val="FF0000"/>
            </a:solidFill>
            <a:prstDash val="solid"/>
            <a:miter lim="800000"/>
            <a:tailEnd type="triangle"/>
          </a:ln>
          <a:effectLst/>
        </p:spPr>
      </p:cxnSp>
      <p:cxnSp>
        <p:nvCxnSpPr>
          <p:cNvPr id="135" name="直接箭头连接符 134">
            <a:extLst>
              <a:ext uri="{FF2B5EF4-FFF2-40B4-BE49-F238E27FC236}">
                <a16:creationId xmlns:a16="http://schemas.microsoft.com/office/drawing/2014/main" id="{8BEADDDC-CDE2-D0D9-9B5B-EFE6FE657F85}"/>
              </a:ext>
            </a:extLst>
          </p:cNvPr>
          <p:cNvCxnSpPr/>
          <p:nvPr/>
        </p:nvCxnSpPr>
        <p:spPr>
          <a:xfrm flipV="1">
            <a:off x="4534081" y="4790793"/>
            <a:ext cx="1538524" cy="894736"/>
          </a:xfrm>
          <a:prstGeom prst="straightConnector1">
            <a:avLst/>
          </a:prstGeom>
          <a:noFill/>
          <a:ln w="28575" cap="flat" cmpd="sng" algn="ctr">
            <a:solidFill>
              <a:srgbClr val="FF0000"/>
            </a:solidFill>
            <a:prstDash val="solid"/>
            <a:miter lim="800000"/>
            <a:tailEnd type="triangle"/>
          </a:ln>
          <a:effectLst/>
        </p:spPr>
      </p:cxnSp>
      <p:cxnSp>
        <p:nvCxnSpPr>
          <p:cNvPr id="136" name="直接箭头连接符 135">
            <a:extLst>
              <a:ext uri="{FF2B5EF4-FFF2-40B4-BE49-F238E27FC236}">
                <a16:creationId xmlns:a16="http://schemas.microsoft.com/office/drawing/2014/main" id="{E96A1138-30D5-0F4D-49B1-01D475851A9B}"/>
              </a:ext>
            </a:extLst>
          </p:cNvPr>
          <p:cNvCxnSpPr/>
          <p:nvPr/>
        </p:nvCxnSpPr>
        <p:spPr>
          <a:xfrm flipH="1" flipV="1">
            <a:off x="6072605" y="4790793"/>
            <a:ext cx="4" cy="894736"/>
          </a:xfrm>
          <a:prstGeom prst="straightConnector1">
            <a:avLst/>
          </a:prstGeom>
          <a:noFill/>
          <a:ln w="28575" cap="flat" cmpd="sng" algn="ctr">
            <a:solidFill>
              <a:srgbClr val="FF0000"/>
            </a:solidFill>
            <a:prstDash val="solid"/>
            <a:miter lim="800000"/>
            <a:tailEnd type="triangle"/>
          </a:ln>
          <a:effectLst/>
        </p:spPr>
      </p:cxnSp>
      <p:cxnSp>
        <p:nvCxnSpPr>
          <p:cNvPr id="137" name="直接箭头连接符 136">
            <a:extLst>
              <a:ext uri="{FF2B5EF4-FFF2-40B4-BE49-F238E27FC236}">
                <a16:creationId xmlns:a16="http://schemas.microsoft.com/office/drawing/2014/main" id="{73867E1A-5043-9102-CBE2-8DDE5E566743}"/>
              </a:ext>
            </a:extLst>
          </p:cNvPr>
          <p:cNvCxnSpPr/>
          <p:nvPr/>
        </p:nvCxnSpPr>
        <p:spPr>
          <a:xfrm flipH="1" flipV="1">
            <a:off x="6072605" y="4790793"/>
            <a:ext cx="1877296" cy="914053"/>
          </a:xfrm>
          <a:prstGeom prst="straightConnector1">
            <a:avLst/>
          </a:prstGeom>
          <a:noFill/>
          <a:ln w="28575" cap="flat" cmpd="sng" algn="ctr">
            <a:solidFill>
              <a:srgbClr val="FF0000"/>
            </a:solidFill>
            <a:prstDash val="solid"/>
            <a:miter lim="800000"/>
            <a:tailEnd type="triangle"/>
          </a:ln>
          <a:effectLst/>
        </p:spPr>
      </p:cxnSp>
      <p:sp>
        <p:nvSpPr>
          <p:cNvPr id="138" name="文本框 137">
            <a:extLst>
              <a:ext uri="{FF2B5EF4-FFF2-40B4-BE49-F238E27FC236}">
                <a16:creationId xmlns:a16="http://schemas.microsoft.com/office/drawing/2014/main" id="{E4892837-66DE-857F-192C-49D395DDB2E7}"/>
              </a:ext>
            </a:extLst>
          </p:cNvPr>
          <p:cNvSpPr txBox="1"/>
          <p:nvPr/>
        </p:nvSpPr>
        <p:spPr>
          <a:xfrm>
            <a:off x="4484460" y="443819"/>
            <a:ext cx="464212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反向傳播演算法（</a:t>
            </a:r>
            <a:r>
              <a:rPr kumimoji="0" lang="en-US" altLang="zh-CN" sz="3200" b="1"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BP</a:t>
            </a:r>
            <a:r>
              <a:rPr kumimoji="0" lang="zh-CN" altLang="en-US" sz="3200" b="1"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a:t>
            </a:r>
          </a:p>
        </p:txBody>
      </p:sp>
      <p:sp>
        <p:nvSpPr>
          <p:cNvPr id="2" name="TextBox 1">
            <a:extLst>
              <a:ext uri="{FF2B5EF4-FFF2-40B4-BE49-F238E27FC236}">
                <a16:creationId xmlns:a16="http://schemas.microsoft.com/office/drawing/2014/main" id="{8E051A85-79B8-AA32-B29E-BC5C166A3071}"/>
              </a:ext>
            </a:extLst>
          </p:cNvPr>
          <p:cNvSpPr txBox="1"/>
          <p:nvPr/>
        </p:nvSpPr>
        <p:spPr>
          <a:xfrm>
            <a:off x="880946" y="242929"/>
            <a:ext cx="2687444" cy="523220"/>
          </a:xfrm>
          <a:prstGeom prst="rect">
            <a:avLst/>
          </a:prstGeom>
          <a:noFill/>
        </p:spPr>
        <p:txBody>
          <a:bodyPr wrap="square" rtlCol="0">
            <a:spAutoFit/>
          </a:bodyPr>
          <a:lstStyle/>
          <a:p>
            <a:r>
              <a:rPr lang="en-US" sz="2800" b="1" dirty="0" err="1">
                <a:solidFill>
                  <a:srgbClr val="0000FF"/>
                </a:solidFill>
              </a:rPr>
              <a:t>前情提要</a:t>
            </a:r>
            <a:endParaRPr lang="en-US" sz="2800" b="1" dirty="0">
              <a:solidFill>
                <a:srgbClr val="0000FF"/>
              </a:solidFill>
            </a:endParaRPr>
          </a:p>
        </p:txBody>
      </p:sp>
    </p:spTree>
    <p:extLst>
      <p:ext uri="{BB962C8B-B14F-4D97-AF65-F5344CB8AC3E}">
        <p14:creationId xmlns:p14="http://schemas.microsoft.com/office/powerpoint/2010/main" val="403529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2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30"/>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28"/>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133"/>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31"/>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32"/>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3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135"/>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36"/>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37"/>
                                        </p:tgtEl>
                                        <p:attrNameLst>
                                          <p:attrName>style.visibility</p:attrName>
                                        </p:attrNameLst>
                                      </p:cBhvr>
                                      <p:to>
                                        <p:strVal val="hidden"/>
                                      </p:to>
                                    </p:set>
                                  </p:childTnLst>
                                </p:cTn>
                              </p:par>
                              <p:par>
                                <p:cTn id="95" presetID="53" presetClass="entr" presetSubtype="16" fill="hold" grpId="0" nodeType="withEffect">
                                  <p:stCondLst>
                                    <p:cond delay="0"/>
                                  </p:stCondLst>
                                  <p:childTnLst>
                                    <p:set>
                                      <p:cBhvr>
                                        <p:cTn id="96" dur="1" fill="hold">
                                          <p:stCondLst>
                                            <p:cond delay="0"/>
                                          </p:stCondLst>
                                        </p:cTn>
                                        <p:tgtEl>
                                          <p:spTgt spid="138"/>
                                        </p:tgtEl>
                                        <p:attrNameLst>
                                          <p:attrName>style.visibility</p:attrName>
                                        </p:attrNameLst>
                                      </p:cBhvr>
                                      <p:to>
                                        <p:strVal val="visible"/>
                                      </p:to>
                                    </p:set>
                                    <p:anim calcmode="lin" valueType="num">
                                      <p:cBhvr>
                                        <p:cTn id="97" dur="500" fill="hold"/>
                                        <p:tgtEl>
                                          <p:spTgt spid="138"/>
                                        </p:tgtEl>
                                        <p:attrNameLst>
                                          <p:attrName>ppt_w</p:attrName>
                                        </p:attrNameLst>
                                      </p:cBhvr>
                                      <p:tavLst>
                                        <p:tav tm="0">
                                          <p:val>
                                            <p:fltVal val="0"/>
                                          </p:val>
                                        </p:tav>
                                        <p:tav tm="100000">
                                          <p:val>
                                            <p:strVal val="#ppt_w"/>
                                          </p:val>
                                        </p:tav>
                                      </p:tavLst>
                                    </p:anim>
                                    <p:anim calcmode="lin" valueType="num">
                                      <p:cBhvr>
                                        <p:cTn id="98" dur="500" fill="hold"/>
                                        <p:tgtEl>
                                          <p:spTgt spid="138"/>
                                        </p:tgtEl>
                                        <p:attrNameLst>
                                          <p:attrName>ppt_h</p:attrName>
                                        </p:attrNameLst>
                                      </p:cBhvr>
                                      <p:tavLst>
                                        <p:tav tm="0">
                                          <p:val>
                                            <p:fltVal val="0"/>
                                          </p:val>
                                        </p:tav>
                                        <p:tav tm="100000">
                                          <p:val>
                                            <p:strVal val="#ppt_h"/>
                                          </p:val>
                                        </p:tav>
                                      </p:tavLst>
                                    </p:anim>
                                    <p:animEffect transition="in" filter="fade">
                                      <p:cBhvr>
                                        <p:cTn id="99"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06" grpId="0"/>
      <p:bldP spid="107" grpId="0"/>
      <p:bldP spid="119" grpId="0"/>
      <p:bldP spid="125" grpId="0"/>
      <p:bldP spid="126" grpId="0"/>
      <p:bldP spid="127" grpId="0"/>
      <p:bldP spid="13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BP</a:t>
            </a:r>
            <a:r>
              <a:rPr lang="zh-CN" altLang="en-US" dirty="0"/>
              <a:t>演算法的實現</a:t>
            </a:r>
          </a:p>
        </p:txBody>
      </p:sp>
      <p:sp>
        <p:nvSpPr>
          <p:cNvPr id="3" name="内容占位符 2"/>
          <p:cNvSpPr>
            <a:spLocks noGrp="1"/>
          </p:cNvSpPr>
          <p:nvPr>
            <p:ph sz="quarter" idx="1"/>
          </p:nvPr>
        </p:nvSpPr>
        <p:spPr>
          <a:xfrm>
            <a:off x="1219200" y="1648097"/>
            <a:ext cx="10363200" cy="4572000"/>
          </a:xfrm>
        </p:spPr>
        <p:txBody>
          <a:bodyPr/>
          <a:lstStyle/>
          <a:p>
            <a:r>
              <a:rPr lang="zh-CN" altLang="en-US" dirty="0"/>
              <a:t>具體條件不同，演算法會有差異，總體思路一樣</a:t>
            </a:r>
            <a:endParaRPr lang="en-US" altLang="zh-CN" dirty="0"/>
          </a:p>
          <a:p>
            <a:endParaRPr lang="en-US" altLang="zh-CN" sz="1600" dirty="0"/>
          </a:p>
          <a:p>
            <a:r>
              <a:rPr lang="zh-CN" altLang="en-US" dirty="0"/>
              <a:t>全連接網路</a:t>
            </a:r>
            <a:endParaRPr lang="en-US" altLang="zh-CN" dirty="0"/>
          </a:p>
          <a:p>
            <a:pPr lvl="1"/>
            <a:r>
              <a:rPr lang="zh-CN" altLang="en-US" dirty="0"/>
              <a:t>其他形式的網路</a:t>
            </a:r>
            <a:endParaRPr lang="en-US" altLang="zh-CN" dirty="0"/>
          </a:p>
          <a:p>
            <a:r>
              <a:rPr lang="zh-CN" altLang="en-US" dirty="0"/>
              <a:t>隨機梯度下降演算法</a:t>
            </a:r>
            <a:endParaRPr lang="en-US" altLang="zh-CN" dirty="0"/>
          </a:p>
          <a:p>
            <a:pPr lvl="1"/>
            <a:r>
              <a:rPr lang="zh-CN" altLang="en-US" dirty="0"/>
              <a:t>批量梯度下降演算法</a:t>
            </a:r>
            <a:endParaRPr lang="en-US" altLang="zh-CN" dirty="0"/>
          </a:p>
          <a:p>
            <a:r>
              <a:rPr lang="zh-CN" altLang="en-US" dirty="0"/>
              <a:t>啟動函數：</a:t>
            </a:r>
            <a:r>
              <a:rPr lang="en-US" altLang="zh-CN" dirty="0"/>
              <a:t>sigmoid</a:t>
            </a:r>
            <a:r>
              <a:rPr lang="zh-CN" altLang="en-US" dirty="0"/>
              <a:t>函數</a:t>
            </a:r>
            <a:endParaRPr lang="en-US" altLang="zh-CN" dirty="0"/>
          </a:p>
          <a:p>
            <a:pPr lvl="1"/>
            <a:r>
              <a:rPr lang="zh-CN" altLang="en-US" dirty="0"/>
              <a:t>其他的啟動函數</a:t>
            </a:r>
            <a:endParaRPr lang="en-US" altLang="zh-CN" dirty="0"/>
          </a:p>
          <a:p>
            <a:r>
              <a:rPr lang="zh-CN" altLang="en-US" dirty="0"/>
              <a:t>損失函數：誤差平方和</a:t>
            </a:r>
            <a:endParaRPr lang="en-US" altLang="zh-CN" dirty="0"/>
          </a:p>
          <a:p>
            <a:pPr lvl="1"/>
            <a:r>
              <a:rPr lang="zh-CN" altLang="en-US" dirty="0"/>
              <a:t>其他的損失函數</a:t>
            </a:r>
            <a:endParaRPr lang="en-US" altLang="zh-CN" dirty="0"/>
          </a:p>
          <a:p>
            <a:endParaRPr lang="zh-CN" altLang="en-US" dirty="0"/>
          </a:p>
        </p:txBody>
      </p:sp>
    </p:spTree>
    <p:extLst>
      <p:ext uri="{BB962C8B-B14F-4D97-AF65-F5344CB8AC3E}">
        <p14:creationId xmlns:p14="http://schemas.microsoft.com/office/powerpoint/2010/main" val="98372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練習題</a:t>
            </a:r>
          </a:p>
        </p:txBody>
      </p:sp>
      <p:sp>
        <p:nvSpPr>
          <p:cNvPr id="3" name="内容占位符 2"/>
          <p:cNvSpPr>
            <a:spLocks noGrp="1"/>
          </p:cNvSpPr>
          <p:nvPr>
            <p:ph sz="quarter" idx="1"/>
          </p:nvPr>
        </p:nvSpPr>
        <p:spPr/>
        <p:txBody>
          <a:bodyPr>
            <a:normAutofit lnSpcReduction="10000"/>
          </a:bodyPr>
          <a:lstStyle/>
          <a:p>
            <a:endParaRPr lang="en-US" altLang="zh-CN" sz="1000" dirty="0"/>
          </a:p>
          <a:p>
            <a:r>
              <a:rPr lang="zh-CN" altLang="en-US" dirty="0"/>
              <a:t>異或（</a:t>
            </a:r>
            <a:r>
              <a:rPr lang="en-US" altLang="zh-CN" dirty="0"/>
              <a:t>XOR</a:t>
            </a:r>
            <a:r>
              <a:rPr lang="zh-CN" altLang="en-US" dirty="0"/>
              <a:t>）問題如下：</a:t>
            </a:r>
            <a:endParaRPr lang="en-US" altLang="zh-CN" dirty="0"/>
          </a:p>
          <a:p>
            <a:pPr marL="0" indent="0">
              <a:buNone/>
            </a:pPr>
            <a:endParaRPr lang="pt-BR" altLang="zh-CN" sz="1000" dirty="0"/>
          </a:p>
          <a:p>
            <a:pPr marL="0" indent="0">
              <a:buNone/>
            </a:pPr>
            <a:r>
              <a:rPr lang="pt-BR" altLang="zh-CN" dirty="0"/>
              <a:t>    a⊕b = (¬a ∧ b) ∨ (a ∧¬b)</a:t>
            </a:r>
          </a:p>
          <a:p>
            <a:pPr marL="0" indent="0">
              <a:buNone/>
            </a:pPr>
            <a:endParaRPr lang="en-US" altLang="zh-CN" dirty="0"/>
          </a:p>
          <a:p>
            <a:endParaRPr lang="en-US" altLang="zh-CN" dirty="0"/>
          </a:p>
          <a:p>
            <a:endParaRPr lang="en-US" altLang="zh-CN" dirty="0"/>
          </a:p>
          <a:p>
            <a:endParaRPr lang="en-US" altLang="zh-CN" dirty="0"/>
          </a:p>
          <a:p>
            <a:endParaRPr lang="en-US" altLang="zh-CN" dirty="0"/>
          </a:p>
          <a:p>
            <a:r>
              <a:rPr lang="zh-CN" altLang="en-US" dirty="0"/>
              <a:t>程式設計實現用全連接神經網路求解</a:t>
            </a:r>
            <a:r>
              <a:rPr lang="en-US" altLang="zh-CN" dirty="0"/>
              <a:t>XOR</a:t>
            </a:r>
            <a:r>
              <a:rPr lang="zh-CN" altLang="en-US" dirty="0"/>
              <a:t>問題（用</a:t>
            </a:r>
            <a:r>
              <a:rPr lang="en-US" altLang="zh-CN" dirty="0"/>
              <a:t>BP</a:t>
            </a:r>
            <a:r>
              <a:rPr lang="zh-CN" altLang="en-US" dirty="0"/>
              <a:t>演算法訓練一個全連接神經網路）。</a:t>
            </a:r>
          </a:p>
        </p:txBody>
      </p:sp>
      <p:graphicFrame>
        <p:nvGraphicFramePr>
          <p:cNvPr id="4" name="表格 3"/>
          <p:cNvGraphicFramePr>
            <a:graphicFrameLocks noGrp="1"/>
          </p:cNvGraphicFramePr>
          <p:nvPr/>
        </p:nvGraphicFramePr>
        <p:xfrm>
          <a:off x="2856414" y="2878441"/>
          <a:ext cx="3274422" cy="1924050"/>
        </p:xfrm>
        <a:graphic>
          <a:graphicData uri="http://schemas.openxmlformats.org/drawingml/2006/table">
            <a:tbl>
              <a:tblPr/>
              <a:tblGrid>
                <a:gridCol w="1091474">
                  <a:extLst>
                    <a:ext uri="{9D8B030D-6E8A-4147-A177-3AD203B41FA5}">
                      <a16:colId xmlns:a16="http://schemas.microsoft.com/office/drawing/2014/main" val="786401348"/>
                    </a:ext>
                  </a:extLst>
                </a:gridCol>
                <a:gridCol w="1091474">
                  <a:extLst>
                    <a:ext uri="{9D8B030D-6E8A-4147-A177-3AD203B41FA5}">
                      <a16:colId xmlns:a16="http://schemas.microsoft.com/office/drawing/2014/main" val="2028343071"/>
                    </a:ext>
                  </a:extLst>
                </a:gridCol>
                <a:gridCol w="1091474">
                  <a:extLst>
                    <a:ext uri="{9D8B030D-6E8A-4147-A177-3AD203B41FA5}">
                      <a16:colId xmlns:a16="http://schemas.microsoft.com/office/drawing/2014/main" val="1506033385"/>
                    </a:ext>
                  </a:extLst>
                </a:gridCol>
              </a:tblGrid>
              <a:tr h="104775">
                <a:tc>
                  <a:txBody>
                    <a:bodyPr/>
                    <a:lstStyle/>
                    <a:p>
                      <a:pPr algn="l"/>
                      <a:r>
                        <a:rPr lang="en-US" sz="2400" dirty="0">
                          <a:ln>
                            <a:solidFill>
                              <a:schemeClr val="tx1"/>
                            </a:solidFill>
                          </a:ln>
                          <a:solidFill>
                            <a:srgbClr val="333333"/>
                          </a:solidFill>
                          <a:effectLst/>
                        </a:rPr>
                        <a:t>a</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pPr algn="l"/>
                      <a:r>
                        <a:rPr lang="en-US" sz="2400" dirty="0">
                          <a:ln>
                            <a:solidFill>
                              <a:schemeClr val="tx1"/>
                            </a:solidFill>
                          </a:ln>
                          <a:solidFill>
                            <a:srgbClr val="333333"/>
                          </a:solidFill>
                          <a:effectLst/>
                        </a:rPr>
                        <a:t>b</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pPr algn="l"/>
                      <a:r>
                        <a:rPr lang="en-US" sz="2400" dirty="0" err="1">
                          <a:ln>
                            <a:solidFill>
                              <a:schemeClr val="tx1"/>
                            </a:solidFill>
                          </a:ln>
                          <a:solidFill>
                            <a:srgbClr val="333333"/>
                          </a:solidFill>
                          <a:effectLst/>
                        </a:rPr>
                        <a:t>a⊕b</a:t>
                      </a:r>
                      <a:endParaRPr lang="en-US" sz="2400" dirty="0">
                        <a:ln>
                          <a:solidFill>
                            <a:schemeClr val="tx1"/>
                          </a:solidFill>
                        </a:ln>
                        <a:solidFill>
                          <a:srgbClr val="333333"/>
                        </a:solidFill>
                        <a:effectLst/>
                      </a:endParaRP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308010122"/>
                  </a:ext>
                </a:extLst>
              </a:tr>
              <a:tr h="104775">
                <a:tc>
                  <a:txBody>
                    <a:bodyPr/>
                    <a:lstStyle/>
                    <a:p>
                      <a:pPr algn="l"/>
                      <a:r>
                        <a:rPr lang="en-US" altLang="zh-CN" sz="2400" dirty="0">
                          <a:ln>
                            <a:solidFill>
                              <a:schemeClr val="tx1"/>
                            </a:solidFill>
                          </a:ln>
                          <a:solidFill>
                            <a:srgbClr val="333333"/>
                          </a:solidFill>
                          <a:effectLst/>
                        </a:rPr>
                        <a:t>1</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pPr algn="l"/>
                      <a:r>
                        <a:rPr lang="en-US" altLang="zh-CN" sz="2400" dirty="0">
                          <a:ln>
                            <a:solidFill>
                              <a:schemeClr val="tx1"/>
                            </a:solidFill>
                          </a:ln>
                          <a:solidFill>
                            <a:srgbClr val="333333"/>
                          </a:solidFill>
                          <a:effectLst/>
                        </a:rPr>
                        <a:t>0</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pPr algn="l"/>
                      <a:r>
                        <a:rPr lang="en-US" altLang="zh-CN" sz="2400" dirty="0">
                          <a:ln>
                            <a:solidFill>
                              <a:schemeClr val="tx1"/>
                            </a:solidFill>
                          </a:ln>
                          <a:solidFill>
                            <a:srgbClr val="333333"/>
                          </a:solidFill>
                          <a:effectLst/>
                        </a:rPr>
                        <a:t>1</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4162697318"/>
                  </a:ext>
                </a:extLst>
              </a:tr>
              <a:tr h="104775">
                <a:tc>
                  <a:txBody>
                    <a:bodyPr/>
                    <a:lstStyle/>
                    <a:p>
                      <a:pPr algn="l"/>
                      <a:r>
                        <a:rPr lang="en-US" altLang="zh-CN" sz="2400" dirty="0">
                          <a:ln>
                            <a:solidFill>
                              <a:schemeClr val="tx1"/>
                            </a:solidFill>
                          </a:ln>
                          <a:solidFill>
                            <a:srgbClr val="333333"/>
                          </a:solidFill>
                          <a:effectLst/>
                        </a:rPr>
                        <a:t>1</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pPr algn="l"/>
                      <a:r>
                        <a:rPr lang="en-US" altLang="zh-CN" sz="2400" dirty="0">
                          <a:ln>
                            <a:solidFill>
                              <a:schemeClr val="tx1"/>
                            </a:solidFill>
                          </a:ln>
                          <a:solidFill>
                            <a:srgbClr val="333333"/>
                          </a:solidFill>
                          <a:effectLst/>
                        </a:rPr>
                        <a:t>1</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pPr algn="l"/>
                      <a:r>
                        <a:rPr lang="en-US" altLang="zh-CN" sz="2400" dirty="0">
                          <a:ln>
                            <a:solidFill>
                              <a:schemeClr val="tx1"/>
                            </a:solidFill>
                          </a:ln>
                          <a:solidFill>
                            <a:srgbClr val="333333"/>
                          </a:solidFill>
                          <a:effectLst/>
                        </a:rPr>
                        <a:t>0</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308087879"/>
                  </a:ext>
                </a:extLst>
              </a:tr>
              <a:tr h="104775">
                <a:tc>
                  <a:txBody>
                    <a:bodyPr/>
                    <a:lstStyle/>
                    <a:p>
                      <a:pPr algn="l"/>
                      <a:r>
                        <a:rPr lang="en-US" altLang="zh-CN" sz="2400" dirty="0">
                          <a:ln>
                            <a:solidFill>
                              <a:schemeClr val="tx1"/>
                            </a:solidFill>
                          </a:ln>
                          <a:solidFill>
                            <a:srgbClr val="333333"/>
                          </a:solidFill>
                          <a:effectLst/>
                        </a:rPr>
                        <a:t>0</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pPr algn="l"/>
                      <a:r>
                        <a:rPr lang="en-US" altLang="zh-CN" sz="2400" dirty="0">
                          <a:ln>
                            <a:solidFill>
                              <a:schemeClr val="tx1"/>
                            </a:solidFill>
                          </a:ln>
                          <a:solidFill>
                            <a:srgbClr val="333333"/>
                          </a:solidFill>
                          <a:effectLst/>
                        </a:rPr>
                        <a:t>0</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pPr algn="l"/>
                      <a:r>
                        <a:rPr lang="en-US" altLang="zh-CN" sz="2400" dirty="0">
                          <a:ln>
                            <a:solidFill>
                              <a:schemeClr val="tx1"/>
                            </a:solidFill>
                          </a:ln>
                          <a:solidFill>
                            <a:srgbClr val="333333"/>
                          </a:solidFill>
                          <a:effectLst/>
                        </a:rPr>
                        <a:t>0</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154273738"/>
                  </a:ext>
                </a:extLst>
              </a:tr>
              <a:tr h="104775">
                <a:tc>
                  <a:txBody>
                    <a:bodyPr/>
                    <a:lstStyle/>
                    <a:p>
                      <a:r>
                        <a:rPr lang="en-US" altLang="zh-CN" sz="2400" dirty="0">
                          <a:ln>
                            <a:solidFill>
                              <a:schemeClr val="tx1"/>
                            </a:solidFill>
                          </a:ln>
                          <a:solidFill>
                            <a:srgbClr val="333333"/>
                          </a:solidFill>
                          <a:effectLst/>
                        </a:rPr>
                        <a:t>0</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r>
                        <a:rPr lang="en-US" altLang="zh-CN" sz="2400" dirty="0">
                          <a:ln>
                            <a:solidFill>
                              <a:schemeClr val="tx1"/>
                            </a:solidFill>
                          </a:ln>
                          <a:solidFill>
                            <a:srgbClr val="333333"/>
                          </a:solidFill>
                          <a:effectLst/>
                        </a:rPr>
                        <a:t>1</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tc>
                  <a:txBody>
                    <a:bodyPr/>
                    <a:lstStyle/>
                    <a:p>
                      <a:r>
                        <a:rPr lang="en-US" altLang="zh-CN" sz="2400" dirty="0">
                          <a:ln>
                            <a:solidFill>
                              <a:schemeClr val="tx1"/>
                            </a:solidFill>
                          </a:ln>
                          <a:solidFill>
                            <a:srgbClr val="333333"/>
                          </a:solidFill>
                          <a:effectLst/>
                        </a:rPr>
                        <a:t>1</a:t>
                      </a:r>
                    </a:p>
                  </a:txBody>
                  <a:tcPr marL="47625" marR="47625" marT="9525" marB="9525"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150445604"/>
                  </a:ext>
                </a:extLst>
              </a:tr>
            </a:tbl>
          </a:graphicData>
        </a:graphic>
      </p:graphicFrame>
    </p:spTree>
    <p:extLst>
      <p:ext uri="{BB962C8B-B14F-4D97-AF65-F5344CB8AC3E}">
        <p14:creationId xmlns:p14="http://schemas.microsoft.com/office/powerpoint/2010/main" val="401717793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交叉熵損失函數</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299754"/>
                <a:ext cx="10363200" cy="5188131"/>
              </a:xfrm>
            </p:spPr>
            <p:txBody>
              <a:bodyPr/>
              <a:lstStyle/>
              <a:p>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H</m:t>
                        </m:r>
                      </m:e>
                      <m:sub>
                        <m:r>
                          <a:rPr lang="en-US" altLang="zh-CN" i="1">
                            <a:latin typeface="Cambria Math" panose="02040503050406030204" pitchFamily="18" charset="0"/>
                          </a:rPr>
                          <m:t>𝑑</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𝑀</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m:rPr>
                            <m:sty m:val="p"/>
                          </m:rPr>
                          <a:rPr lang="en-US" altLang="zh-CN">
                            <a:latin typeface="Cambria Math" panose="02040503050406030204" pitchFamily="18" charset="0"/>
                          </a:rPr>
                          <m:t>log</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nary>
                  </m:oMath>
                </a14:m>
                <a:endParaRPr lang="zh-CN" altLang="zh-CN" dirty="0"/>
              </a:p>
              <a:p>
                <a:pPr marL="0" indent="0">
                  <a:buNone/>
                </a:pPr>
                <a:endParaRPr lang="en-US" altLang="zh-CN" dirty="0"/>
              </a:p>
              <a:p>
                <a:pPr marL="0" indent="0">
                  <a:buNone/>
                </a:pPr>
                <a:r>
                  <a:rPr lang="en-US" altLang="zh-CN" dirty="0"/>
                  <a:t> </a:t>
                </a:r>
                <a14:m>
                  <m:oMath xmlns:m="http://schemas.openxmlformats.org/officeDocument/2006/math">
                    <m:r>
                      <a:rPr lang="en-US" altLang="zh-CN" i="1">
                        <a:latin typeface="Cambria Math" panose="02040503050406030204" pitchFamily="18" charset="0"/>
                      </a:rPr>
                      <m:t>𝐻</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𝑑</m:t>
                        </m:r>
                        <m:r>
                          <a:rPr lang="en-US" altLang="zh-CN" i="1">
                            <a:latin typeface="Cambria Math" panose="02040503050406030204" pitchFamily="18" charset="0"/>
                          </a:rPr>
                          <m:t>=1</m:t>
                        </m:r>
                      </m:sub>
                      <m:sup>
                        <m:r>
                          <a:rPr lang="en-US" altLang="zh-CN" i="1">
                            <a:latin typeface="Cambria Math" panose="02040503050406030204" pitchFamily="18" charset="0"/>
                          </a:rPr>
                          <m:t>𝑁</m:t>
                        </m:r>
                      </m:sup>
                      <m:e>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H</m:t>
                            </m:r>
                          </m:e>
                          <m:sub>
                            <m:r>
                              <a:rPr lang="en-US" altLang="zh-CN" i="1">
                                <a:latin typeface="Cambria Math" panose="02040503050406030204" pitchFamily="18" charset="0"/>
                              </a:rPr>
                              <m:t>𝑑</m:t>
                            </m:r>
                          </m:sub>
                        </m:sSub>
                        <m:r>
                          <a:rPr lang="en-US" altLang="zh-CN">
                            <a:latin typeface="Cambria Math" panose="02040503050406030204" pitchFamily="18" charset="0"/>
                          </a:rPr>
                          <m:t>(</m:t>
                        </m:r>
                        <m:r>
                          <m:rPr>
                            <m:sty m:val="p"/>
                          </m:rPr>
                          <a:rPr lang="en-US" altLang="zh-CN">
                            <a:latin typeface="Cambria Math" panose="02040503050406030204" pitchFamily="18" charset="0"/>
                          </a:rPr>
                          <m:t>w</m:t>
                        </m:r>
                        <m:r>
                          <a:rPr lang="en-US" altLang="zh-CN">
                            <a:latin typeface="Cambria Math" panose="02040503050406030204" pitchFamily="18" charset="0"/>
                          </a:rPr>
                          <m:t>)</m:t>
                        </m:r>
                      </m:e>
                    </m:nary>
                    <m:r>
                      <a:rPr lang="en-US" altLang="zh-CN" i="1">
                        <a:latin typeface="Cambria Math" panose="02040503050406030204" pitchFamily="18" charset="0"/>
                      </a:rPr>
                      <m:t>=</m:t>
                    </m:r>
                    <m:r>
                      <a:rPr lang="zh-CN" altLang="en-US"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𝑑</m:t>
                        </m:r>
                        <m:r>
                          <a:rPr lang="en-US" altLang="zh-CN" i="1">
                            <a:latin typeface="Cambria Math" panose="02040503050406030204" pitchFamily="18" charset="0"/>
                          </a:rPr>
                          <m:t>=1</m:t>
                        </m:r>
                      </m:sub>
                      <m:sup>
                        <m:r>
                          <a:rPr lang="en-US" altLang="zh-CN" i="1">
                            <a:latin typeface="Cambria Math" panose="02040503050406030204" pitchFamily="18" charset="0"/>
                          </a:rPr>
                          <m:t>𝑁</m:t>
                        </m:r>
                      </m:sup>
                      <m:e>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𝑀</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m:rPr>
                                <m:sty m:val="p"/>
                              </m:rPr>
                              <a:rPr lang="en-US" altLang="zh-CN">
                                <a:latin typeface="Cambria Math" panose="02040503050406030204" pitchFamily="18" charset="0"/>
                              </a:rPr>
                              <m:t>log</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nary>
                      </m:e>
                    </m:nary>
                  </m:oMath>
                </a14:m>
                <a:endParaRPr lang="zh-CN" altLang="zh-CN" dirty="0"/>
              </a:p>
              <a:p>
                <a:pPr marL="0" indent="0">
                  <a:buNone/>
                </a:pP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oMath>
                </a14:m>
                <a:r>
                  <a:rPr lang="zh-CN" altLang="en-US" dirty="0"/>
                  <a:t>：樣本</a:t>
                </a:r>
                <a:r>
                  <a:rPr lang="en-US" altLang="zh-CN" dirty="0"/>
                  <a:t>d</a:t>
                </a:r>
                <a:r>
                  <a:rPr lang="zh-CN" altLang="en-US" dirty="0"/>
                  <a:t>對應的希望輸出值</a:t>
                </a: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b="0" i="1" smtClean="0">
                            <a:latin typeface="Cambria Math" panose="02040503050406030204" pitchFamily="18" charset="0"/>
                          </a:rPr>
                          <m:t>𝑜</m:t>
                        </m:r>
                      </m:e>
                      <m:sub>
                        <m:r>
                          <a:rPr lang="en-US" altLang="zh-CN" i="1">
                            <a:latin typeface="Cambria Math" panose="02040503050406030204" pitchFamily="18" charset="0"/>
                          </a:rPr>
                          <m:t>𝑘𝑑</m:t>
                        </m:r>
                      </m:sub>
                    </m:sSub>
                  </m:oMath>
                </a14:m>
                <a:r>
                  <a:rPr lang="zh-CN" altLang="en-US" dirty="0"/>
                  <a:t>：樣本</a:t>
                </a:r>
                <a:r>
                  <a:rPr lang="en-US" altLang="zh-CN" dirty="0"/>
                  <a:t>d</a:t>
                </a:r>
                <a:r>
                  <a:rPr lang="zh-CN" altLang="en-US" dirty="0"/>
                  <a:t>對應的實際輸出值，要求</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oMath>
                </a14:m>
                <a:r>
                  <a:rPr lang="zh-CN" altLang="en-US" dirty="0"/>
                  <a:t>是個概率值</a:t>
                </a:r>
              </a:p>
              <a:p>
                <a:pPr marL="0" indent="0">
                  <a:buNone/>
                </a:pP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299754"/>
                <a:ext cx="10363200" cy="5188131"/>
              </a:xfrm>
              <a:blipFill>
                <a:blip r:embed="rId2"/>
                <a:stretch>
                  <a:fillRect t="-317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3651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交叉熵損失函數</a:t>
            </a:r>
          </a:p>
        </p:txBody>
      </p:sp>
      <p:grpSp>
        <p:nvGrpSpPr>
          <p:cNvPr id="87" name="组合 86"/>
          <p:cNvGrpSpPr/>
          <p:nvPr/>
        </p:nvGrpSpPr>
        <p:grpSpPr>
          <a:xfrm>
            <a:off x="3021873" y="1417638"/>
            <a:ext cx="6435631" cy="4708749"/>
            <a:chOff x="3021873" y="1417638"/>
            <a:chExt cx="6435631" cy="4708749"/>
          </a:xfrm>
        </p:grpSpPr>
        <p:grpSp>
          <p:nvGrpSpPr>
            <p:cNvPr id="45" name="组合 44"/>
            <p:cNvGrpSpPr/>
            <p:nvPr/>
          </p:nvGrpSpPr>
          <p:grpSpPr>
            <a:xfrm>
              <a:off x="3021873" y="1417638"/>
              <a:ext cx="6435631" cy="4708749"/>
              <a:chOff x="6836227" y="1300334"/>
              <a:chExt cx="6435631" cy="4708749"/>
            </a:xfrm>
          </p:grpSpPr>
          <mc:AlternateContent xmlns:mc="http://schemas.openxmlformats.org/markup-compatibility/2006">
            <mc:Choice xmlns:a14="http://schemas.microsoft.com/office/drawing/2010/main" Requires="a14">
              <p:sp>
                <p:nvSpPr>
                  <p:cNvPr id="46" name="文本框 189"/>
                  <p:cNvSpPr txBox="1"/>
                  <p:nvPr/>
                </p:nvSpPr>
                <p:spPr>
                  <a:xfrm>
                    <a:off x="11036588" y="1300334"/>
                    <a:ext cx="2235270" cy="1864228"/>
                  </a:xfrm>
                  <a:prstGeom prst="rect">
                    <a:avLst/>
                  </a:prstGeom>
                  <a:solidFill>
                    <a:srgbClr val="CCFF99"/>
                  </a:solidFill>
                  <a:ln w="28575">
                    <a:solidFill>
                      <a:srgbClr val="FF0000"/>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𝑒</m:t>
                                </m:r>
                              </m:e>
                              <m:sup>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sup>
                            </m:sSup>
                          </m:num>
                          <m:den>
                            <m:nary>
                              <m:naryPr>
                                <m:chr m:val="∑"/>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𝑚</m:t>
                                </m:r>
                              </m:sup>
                              <m:e>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𝑒</m:t>
                                    </m:r>
                                  </m:e>
                                  <m:sup>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𝑛𝑒𝑡</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sup>
                                </m:sSup>
                              </m:e>
                            </m:nary>
                          </m:den>
                        </m:f>
                      </m:oMath>
                    </a14:m>
                    <a:endPar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0</m:t>
                            </m:r>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oMath>
                    </a14:m>
                    <a:endPar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5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nary>
                          <m:naryPr>
                            <m:chr m:val="∑"/>
                            <m:ctrlP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𝑚</m:t>
                            </m:r>
                          </m:sup>
                          <m:e>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e>
                        </m:nary>
                      </m:oMath>
                    </a14:m>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46" name="文本框 189"/>
                  <p:cNvSpPr txBox="1">
                    <a:spLocks noRot="1" noChangeAspect="1" noMove="1" noResize="1" noEditPoints="1" noAdjustHandles="1" noChangeArrowheads="1" noChangeShapeType="1" noTextEdit="1"/>
                  </p:cNvSpPr>
                  <p:nvPr/>
                </p:nvSpPr>
                <p:spPr>
                  <a:xfrm>
                    <a:off x="11036588" y="1300334"/>
                    <a:ext cx="2235270" cy="1864228"/>
                  </a:xfrm>
                  <a:prstGeom prst="rect">
                    <a:avLst/>
                  </a:prstGeom>
                  <a:blipFill>
                    <a:blip r:embed="rId2"/>
                    <a:stretch>
                      <a:fillRect l="-13747" b="-29355"/>
                    </a:stretch>
                  </a:blipFill>
                  <a:ln w="28575">
                    <a:solidFill>
                      <a:srgbClr val="FF0000"/>
                    </a:solidFill>
                  </a:ln>
                </p:spPr>
                <p:txBody>
                  <a:bodyPr/>
                  <a:lstStyle/>
                  <a:p>
                    <a:r>
                      <a:rPr lang="zh-TW" altLang="en-US">
                        <a:noFill/>
                      </a:rPr>
                      <a:t> </a:t>
                    </a:r>
                  </a:p>
                </p:txBody>
              </p:sp>
            </mc:Fallback>
          </mc:AlternateContent>
          <p:cxnSp>
            <p:nvCxnSpPr>
              <p:cNvPr id="47" name="直接箭头连接符 46"/>
              <p:cNvCxnSpPr>
                <a:stCxn id="53" idx="0"/>
                <a:endCxn id="71" idx="4"/>
              </p:cNvCxnSpPr>
              <p:nvPr/>
            </p:nvCxnSpPr>
            <p:spPr>
              <a:xfrm flipV="1">
                <a:off x="7309824" y="3396112"/>
                <a:ext cx="11066" cy="734478"/>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p:cNvCxnSpPr>
                <a:stCxn id="53" idx="0"/>
                <a:endCxn id="72" idx="4"/>
              </p:cNvCxnSpPr>
              <p:nvPr/>
            </p:nvCxnSpPr>
            <p:spPr>
              <a:xfrm flipV="1">
                <a:off x="7309824" y="3396112"/>
                <a:ext cx="617433" cy="734478"/>
              </a:xfrm>
              <a:prstGeom prst="straightConnector1">
                <a:avLst/>
              </a:prstGeom>
              <a:noFill/>
              <a:ln w="28575" cap="flat" cmpd="sng" algn="ctr">
                <a:solidFill>
                  <a:sysClr val="windowText" lastClr="000000"/>
                </a:solidFill>
                <a:prstDash val="solid"/>
                <a:miter lim="800000"/>
                <a:tailEnd type="triangle"/>
              </a:ln>
              <a:effectLst/>
            </p:spPr>
          </p:cxnSp>
          <p:cxnSp>
            <p:nvCxnSpPr>
              <p:cNvPr id="49" name="直接箭头连接符 48"/>
              <p:cNvCxnSpPr>
                <a:stCxn id="54" idx="0"/>
                <a:endCxn id="72" idx="4"/>
              </p:cNvCxnSpPr>
              <p:nvPr/>
            </p:nvCxnSpPr>
            <p:spPr>
              <a:xfrm flipV="1">
                <a:off x="7916191" y="3396112"/>
                <a:ext cx="11066" cy="734478"/>
              </a:xfrm>
              <a:prstGeom prst="straightConnector1">
                <a:avLst/>
              </a:prstGeom>
              <a:noFill/>
              <a:ln w="28575" cap="flat" cmpd="sng" algn="ctr">
                <a:solidFill>
                  <a:sysClr val="windowText" lastClr="000000"/>
                </a:solidFill>
                <a:prstDash val="solid"/>
                <a:miter lim="800000"/>
                <a:tailEnd type="triangle"/>
              </a:ln>
              <a:effectLst/>
            </p:spPr>
          </p:cxnSp>
          <p:cxnSp>
            <p:nvCxnSpPr>
              <p:cNvPr id="50" name="直接箭头连接符 49"/>
              <p:cNvCxnSpPr>
                <a:stCxn id="55" idx="0"/>
                <a:endCxn id="72" idx="4"/>
              </p:cNvCxnSpPr>
              <p:nvPr/>
            </p:nvCxnSpPr>
            <p:spPr>
              <a:xfrm flipH="1" flipV="1">
                <a:off x="7927257" y="3396112"/>
                <a:ext cx="1294577" cy="757046"/>
              </a:xfrm>
              <a:prstGeom prst="straightConnector1">
                <a:avLst/>
              </a:prstGeom>
              <a:noFill/>
              <a:ln w="28575" cap="flat" cmpd="sng" algn="ctr">
                <a:solidFill>
                  <a:sysClr val="windowText" lastClr="000000"/>
                </a:solidFill>
                <a:prstDash val="solid"/>
                <a:miter lim="800000"/>
                <a:tailEnd type="triangle"/>
              </a:ln>
              <a:effectLst/>
            </p:spPr>
          </p:cxnSp>
          <p:cxnSp>
            <p:nvCxnSpPr>
              <p:cNvPr id="51" name="直接箭头连接符 50"/>
              <p:cNvCxnSpPr>
                <a:stCxn id="55" idx="0"/>
                <a:endCxn id="73" idx="4"/>
              </p:cNvCxnSpPr>
              <p:nvPr/>
            </p:nvCxnSpPr>
            <p:spPr>
              <a:xfrm flipV="1">
                <a:off x="9221834" y="3418680"/>
                <a:ext cx="11066" cy="734478"/>
              </a:xfrm>
              <a:prstGeom prst="straightConnector1">
                <a:avLst/>
              </a:prstGeom>
              <a:noFill/>
              <a:ln w="28575" cap="flat" cmpd="sng" algn="ctr">
                <a:solidFill>
                  <a:sysClr val="windowText" lastClr="000000"/>
                </a:solidFill>
                <a:prstDash val="solid"/>
                <a:miter lim="800000"/>
                <a:tailEnd type="triangle"/>
              </a:ln>
              <a:effectLst/>
            </p:spPr>
          </p:cxnSp>
          <p:cxnSp>
            <p:nvCxnSpPr>
              <p:cNvPr id="52" name="直接箭头连接符 51"/>
              <p:cNvCxnSpPr>
                <a:stCxn id="54" idx="0"/>
                <a:endCxn id="71" idx="4"/>
              </p:cNvCxnSpPr>
              <p:nvPr/>
            </p:nvCxnSpPr>
            <p:spPr>
              <a:xfrm flipH="1" flipV="1">
                <a:off x="7320890" y="3396112"/>
                <a:ext cx="595301" cy="734478"/>
              </a:xfrm>
              <a:prstGeom prst="straightConnector1">
                <a:avLst/>
              </a:prstGeom>
              <a:noFill/>
              <a:ln w="28575" cap="flat" cmpd="sng" algn="ctr">
                <a:solidFill>
                  <a:sysClr val="windowText" lastClr="000000"/>
                </a:solidFill>
                <a:prstDash val="solid"/>
                <a:miter lim="800000"/>
                <a:tailEnd type="triangle"/>
              </a:ln>
              <a:effectLst/>
            </p:spPr>
          </p:cxnSp>
          <p:sp>
            <p:nvSpPr>
              <p:cNvPr id="53" name="椭圆 52"/>
              <p:cNvSpPr/>
              <p:nvPr/>
            </p:nvSpPr>
            <p:spPr>
              <a:xfrm>
                <a:off x="7191784" y="4130590"/>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4" name="椭圆 53"/>
              <p:cNvSpPr/>
              <p:nvPr/>
            </p:nvSpPr>
            <p:spPr>
              <a:xfrm>
                <a:off x="7798151" y="4130590"/>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5" name="椭圆 54"/>
              <p:cNvSpPr/>
              <p:nvPr/>
            </p:nvSpPr>
            <p:spPr>
              <a:xfrm>
                <a:off x="9103794" y="4153158"/>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6" name="椭圆 55"/>
              <p:cNvSpPr/>
              <p:nvPr/>
            </p:nvSpPr>
            <p:spPr>
              <a:xfrm>
                <a:off x="9529229" y="5185614"/>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7" name="椭圆 56"/>
              <p:cNvSpPr/>
              <p:nvPr/>
            </p:nvSpPr>
            <p:spPr>
              <a:xfrm>
                <a:off x="7798151" y="5168689"/>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8" name="椭圆 57"/>
              <p:cNvSpPr/>
              <p:nvPr/>
            </p:nvSpPr>
            <p:spPr>
              <a:xfrm>
                <a:off x="6903272" y="5168689"/>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59" name="直接箭头连接符 58"/>
              <p:cNvCxnSpPr>
                <a:stCxn id="58" idx="0"/>
                <a:endCxn id="53" idx="4"/>
              </p:cNvCxnSpPr>
              <p:nvPr/>
            </p:nvCxnSpPr>
            <p:spPr>
              <a:xfrm flipV="1">
                <a:off x="7021311" y="4384708"/>
                <a:ext cx="288513" cy="783981"/>
              </a:xfrm>
              <a:prstGeom prst="straightConnector1">
                <a:avLst/>
              </a:prstGeom>
              <a:noFill/>
              <a:ln w="28575" cap="flat" cmpd="sng" algn="ctr">
                <a:solidFill>
                  <a:sysClr val="windowText" lastClr="000000"/>
                </a:solidFill>
                <a:prstDash val="solid"/>
                <a:miter lim="800000"/>
                <a:tailEnd type="triangle"/>
              </a:ln>
              <a:effectLst/>
            </p:spPr>
          </p:cxnSp>
          <p:cxnSp>
            <p:nvCxnSpPr>
              <p:cNvPr id="60" name="直接箭头连接符 59"/>
              <p:cNvCxnSpPr>
                <a:stCxn id="58" idx="0"/>
                <a:endCxn id="54" idx="4"/>
              </p:cNvCxnSpPr>
              <p:nvPr/>
            </p:nvCxnSpPr>
            <p:spPr>
              <a:xfrm flipV="1">
                <a:off x="7021311" y="4384708"/>
                <a:ext cx="894879" cy="783981"/>
              </a:xfrm>
              <a:prstGeom prst="straightConnector1">
                <a:avLst/>
              </a:prstGeom>
              <a:noFill/>
              <a:ln w="28575" cap="flat" cmpd="sng" algn="ctr">
                <a:solidFill>
                  <a:sysClr val="windowText" lastClr="000000"/>
                </a:solidFill>
                <a:prstDash val="solid"/>
                <a:miter lim="800000"/>
                <a:tailEnd type="triangle"/>
              </a:ln>
              <a:effectLst/>
            </p:spPr>
          </p:cxnSp>
          <p:cxnSp>
            <p:nvCxnSpPr>
              <p:cNvPr id="61" name="直接箭头连接符 60"/>
              <p:cNvCxnSpPr>
                <a:stCxn id="57" idx="0"/>
                <a:endCxn id="53" idx="4"/>
              </p:cNvCxnSpPr>
              <p:nvPr/>
            </p:nvCxnSpPr>
            <p:spPr>
              <a:xfrm flipH="1" flipV="1">
                <a:off x="7309824" y="4384708"/>
                <a:ext cx="606367" cy="783981"/>
              </a:xfrm>
              <a:prstGeom prst="straightConnector1">
                <a:avLst/>
              </a:prstGeom>
              <a:noFill/>
              <a:ln w="28575" cap="flat" cmpd="sng" algn="ctr">
                <a:solidFill>
                  <a:sysClr val="windowText" lastClr="000000"/>
                </a:solidFill>
                <a:prstDash val="solid"/>
                <a:miter lim="800000"/>
                <a:tailEnd type="triangle"/>
              </a:ln>
              <a:effectLst/>
            </p:spPr>
          </p:cxnSp>
          <p:cxnSp>
            <p:nvCxnSpPr>
              <p:cNvPr id="62" name="直接箭头连接符 61"/>
              <p:cNvCxnSpPr>
                <a:stCxn id="58" idx="0"/>
                <a:endCxn id="55" idx="4"/>
              </p:cNvCxnSpPr>
              <p:nvPr/>
            </p:nvCxnSpPr>
            <p:spPr>
              <a:xfrm flipV="1">
                <a:off x="7021311" y="4407276"/>
                <a:ext cx="2200523" cy="761413"/>
              </a:xfrm>
              <a:prstGeom prst="straightConnector1">
                <a:avLst/>
              </a:prstGeom>
              <a:noFill/>
              <a:ln w="28575" cap="flat" cmpd="sng" algn="ctr">
                <a:solidFill>
                  <a:sysClr val="windowText" lastClr="000000"/>
                </a:solidFill>
                <a:prstDash val="solid"/>
                <a:miter lim="800000"/>
                <a:tailEnd type="triangle"/>
              </a:ln>
              <a:effectLst/>
            </p:spPr>
          </p:cxnSp>
          <p:cxnSp>
            <p:nvCxnSpPr>
              <p:cNvPr id="63" name="直接箭头连接符 62"/>
              <p:cNvCxnSpPr>
                <a:stCxn id="57" idx="0"/>
                <a:endCxn id="54" idx="4"/>
              </p:cNvCxnSpPr>
              <p:nvPr/>
            </p:nvCxnSpPr>
            <p:spPr>
              <a:xfrm flipV="1">
                <a:off x="7916191" y="4384708"/>
                <a:ext cx="0" cy="783981"/>
              </a:xfrm>
              <a:prstGeom prst="straightConnector1">
                <a:avLst/>
              </a:prstGeom>
              <a:noFill/>
              <a:ln w="28575" cap="flat" cmpd="sng" algn="ctr">
                <a:solidFill>
                  <a:sysClr val="windowText" lastClr="000000"/>
                </a:solidFill>
                <a:prstDash val="solid"/>
                <a:miter lim="800000"/>
                <a:tailEnd type="triangle"/>
              </a:ln>
              <a:effectLst/>
            </p:spPr>
          </p:cxnSp>
          <p:cxnSp>
            <p:nvCxnSpPr>
              <p:cNvPr id="64" name="直接箭头连接符 63"/>
              <p:cNvCxnSpPr>
                <a:stCxn id="57" idx="0"/>
                <a:endCxn id="55" idx="4"/>
              </p:cNvCxnSpPr>
              <p:nvPr/>
            </p:nvCxnSpPr>
            <p:spPr>
              <a:xfrm flipV="1">
                <a:off x="7916191" y="4407276"/>
                <a:ext cx="1305643" cy="761413"/>
              </a:xfrm>
              <a:prstGeom prst="straightConnector1">
                <a:avLst/>
              </a:prstGeom>
              <a:noFill/>
              <a:ln w="28575" cap="flat" cmpd="sng" algn="ctr">
                <a:solidFill>
                  <a:sysClr val="windowText" lastClr="000000"/>
                </a:solidFill>
                <a:prstDash val="solid"/>
                <a:miter lim="800000"/>
                <a:tailEnd type="triangle"/>
              </a:ln>
              <a:effectLst/>
            </p:spPr>
          </p:cxnSp>
          <p:cxnSp>
            <p:nvCxnSpPr>
              <p:cNvPr id="65" name="直接箭头连接符 64"/>
              <p:cNvCxnSpPr>
                <a:stCxn id="56" idx="0"/>
                <a:endCxn id="55" idx="4"/>
              </p:cNvCxnSpPr>
              <p:nvPr/>
            </p:nvCxnSpPr>
            <p:spPr>
              <a:xfrm flipH="1" flipV="1">
                <a:off x="9221834" y="4407276"/>
                <a:ext cx="425435" cy="778338"/>
              </a:xfrm>
              <a:prstGeom prst="straightConnector1">
                <a:avLst/>
              </a:prstGeom>
              <a:noFill/>
              <a:ln w="28575" cap="flat" cmpd="sng" algn="ctr">
                <a:solidFill>
                  <a:sysClr val="windowText" lastClr="000000"/>
                </a:solidFill>
                <a:prstDash val="solid"/>
                <a:miter lim="800000"/>
                <a:tailEnd type="triangle"/>
              </a:ln>
              <a:effectLst/>
            </p:spPr>
          </p:cxnSp>
          <p:cxnSp>
            <p:nvCxnSpPr>
              <p:cNvPr id="66" name="直接箭头连接符 65"/>
              <p:cNvCxnSpPr>
                <a:stCxn id="56" idx="0"/>
                <a:endCxn id="54" idx="4"/>
              </p:cNvCxnSpPr>
              <p:nvPr/>
            </p:nvCxnSpPr>
            <p:spPr>
              <a:xfrm flipH="1" flipV="1">
                <a:off x="7916191" y="4384708"/>
                <a:ext cx="1731078" cy="800906"/>
              </a:xfrm>
              <a:prstGeom prst="straightConnector1">
                <a:avLst/>
              </a:prstGeom>
              <a:noFill/>
              <a:ln w="28575" cap="flat" cmpd="sng" algn="ctr">
                <a:solidFill>
                  <a:sysClr val="windowText" lastClr="000000"/>
                </a:solidFill>
                <a:prstDash val="solid"/>
                <a:miter lim="800000"/>
                <a:tailEnd type="triangle"/>
              </a:ln>
              <a:effectLst/>
            </p:spPr>
          </p:cxnSp>
          <p:cxnSp>
            <p:nvCxnSpPr>
              <p:cNvPr id="67" name="直接箭头连接符 66"/>
              <p:cNvCxnSpPr>
                <a:stCxn id="56" idx="0"/>
                <a:endCxn id="53" idx="4"/>
              </p:cNvCxnSpPr>
              <p:nvPr/>
            </p:nvCxnSpPr>
            <p:spPr>
              <a:xfrm flipH="1" flipV="1">
                <a:off x="7309824" y="4384708"/>
                <a:ext cx="2337445" cy="800906"/>
              </a:xfrm>
              <a:prstGeom prst="straightConnector1">
                <a:avLst/>
              </a:prstGeom>
              <a:noFill/>
              <a:ln w="28575" cap="flat" cmpd="sng" algn="ctr">
                <a:solidFill>
                  <a:sysClr val="windowText" lastClr="000000"/>
                </a:solidFill>
                <a:prstDash val="solid"/>
                <a:miter lim="800000"/>
                <a:tailEnd type="triangle"/>
              </a:ln>
              <a:effectLst/>
            </p:spPr>
          </p:cxnSp>
          <p:sp>
            <p:nvSpPr>
              <p:cNvPr id="68" name="文本框 187"/>
              <p:cNvSpPr txBox="1"/>
              <p:nvPr/>
            </p:nvSpPr>
            <p:spPr>
              <a:xfrm>
                <a:off x="9781250" y="5087572"/>
                <a:ext cx="1163832" cy="459846"/>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輸入層</a:t>
                </a:r>
              </a:p>
            </p:txBody>
          </p:sp>
          <p:sp>
            <p:nvSpPr>
              <p:cNvPr id="69" name="文本框 188"/>
              <p:cNvSpPr txBox="1"/>
              <p:nvPr/>
            </p:nvSpPr>
            <p:spPr>
              <a:xfrm>
                <a:off x="9498506" y="3166855"/>
                <a:ext cx="943779" cy="417222"/>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輸出層</a:t>
                </a:r>
              </a:p>
            </p:txBody>
          </p:sp>
          <p:sp>
            <p:nvSpPr>
              <p:cNvPr id="70" name="文本框 189"/>
              <p:cNvSpPr txBox="1"/>
              <p:nvPr/>
            </p:nvSpPr>
            <p:spPr>
              <a:xfrm>
                <a:off x="9485217" y="4130589"/>
                <a:ext cx="957067" cy="419515"/>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隱含層</a:t>
                </a:r>
              </a:p>
            </p:txBody>
          </p:sp>
          <p:sp>
            <p:nvSpPr>
              <p:cNvPr id="71" name="椭圆 70"/>
              <p:cNvSpPr/>
              <p:nvPr/>
            </p:nvSpPr>
            <p:spPr>
              <a:xfrm>
                <a:off x="7202850" y="3141994"/>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2" name="椭圆 71"/>
              <p:cNvSpPr/>
              <p:nvPr/>
            </p:nvSpPr>
            <p:spPr>
              <a:xfrm>
                <a:off x="7809217" y="3141994"/>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3" name="椭圆 72"/>
              <p:cNvSpPr/>
              <p:nvPr/>
            </p:nvSpPr>
            <p:spPr>
              <a:xfrm>
                <a:off x="9114860" y="3164562"/>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74" name="直接箭头连接符 73"/>
              <p:cNvCxnSpPr>
                <a:stCxn id="53" idx="0"/>
                <a:endCxn id="73" idx="4"/>
              </p:cNvCxnSpPr>
              <p:nvPr/>
            </p:nvCxnSpPr>
            <p:spPr>
              <a:xfrm flipV="1">
                <a:off x="7309824" y="3418680"/>
                <a:ext cx="1923076" cy="711910"/>
              </a:xfrm>
              <a:prstGeom prst="straightConnector1">
                <a:avLst/>
              </a:prstGeom>
              <a:noFill/>
              <a:ln w="28575" cap="flat" cmpd="sng" algn="ctr">
                <a:solidFill>
                  <a:sysClr val="windowText" lastClr="000000"/>
                </a:solidFill>
                <a:prstDash val="solid"/>
                <a:miter lim="800000"/>
                <a:tailEnd type="triangle"/>
              </a:ln>
              <a:effectLst/>
            </p:spPr>
          </p:cxnSp>
          <p:cxnSp>
            <p:nvCxnSpPr>
              <p:cNvPr id="75" name="直接箭头连接符 74"/>
              <p:cNvCxnSpPr>
                <a:stCxn id="54" idx="0"/>
                <a:endCxn id="73" idx="4"/>
              </p:cNvCxnSpPr>
              <p:nvPr/>
            </p:nvCxnSpPr>
            <p:spPr>
              <a:xfrm flipV="1">
                <a:off x="7916191" y="3418680"/>
                <a:ext cx="1316709" cy="711910"/>
              </a:xfrm>
              <a:prstGeom prst="straightConnector1">
                <a:avLst/>
              </a:prstGeom>
              <a:noFill/>
              <a:ln w="28575" cap="flat" cmpd="sng" algn="ctr">
                <a:solidFill>
                  <a:sysClr val="windowText" lastClr="000000"/>
                </a:solidFill>
                <a:prstDash val="solid"/>
                <a:miter lim="800000"/>
                <a:tailEnd type="triangle"/>
              </a:ln>
              <a:effectLst/>
            </p:spPr>
          </p:cxnSp>
          <p:cxnSp>
            <p:nvCxnSpPr>
              <p:cNvPr id="76" name="直接箭头连接符 75"/>
              <p:cNvCxnSpPr>
                <a:stCxn id="55" idx="0"/>
                <a:endCxn id="71" idx="4"/>
              </p:cNvCxnSpPr>
              <p:nvPr/>
            </p:nvCxnSpPr>
            <p:spPr>
              <a:xfrm flipH="1" flipV="1">
                <a:off x="7320890" y="3396112"/>
                <a:ext cx="1900944" cy="757046"/>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77" name="文本框 76"/>
                  <p:cNvSpPr txBox="1"/>
                  <p:nvPr/>
                </p:nvSpPr>
                <p:spPr>
                  <a:xfrm>
                    <a:off x="6836227" y="5547418"/>
                    <a:ext cx="328463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77" name="文本框 76"/>
                  <p:cNvSpPr txBox="1">
                    <a:spLocks noRot="1" noChangeAspect="1" noMove="1" noResize="1" noEditPoints="1" noAdjustHandles="1" noChangeArrowheads="1" noChangeShapeType="1" noTextEdit="1"/>
                  </p:cNvSpPr>
                  <p:nvPr/>
                </p:nvSpPr>
                <p:spPr>
                  <a:xfrm>
                    <a:off x="6836227" y="5547418"/>
                    <a:ext cx="3284637" cy="461665"/>
                  </a:xfrm>
                  <a:prstGeom prst="rect">
                    <a:avLst/>
                  </a:prstGeom>
                  <a:blipFill>
                    <a:blip r:embed="rId3"/>
                    <a:stretch>
                      <a:fillRect/>
                    </a:stretch>
                  </a:blipFill>
                </p:spPr>
                <p:txBody>
                  <a:bodyPr/>
                  <a:lstStyle/>
                  <a:p>
                    <a:r>
                      <a:rPr lang="zh-TW" altLang="en-US">
                        <a:noFill/>
                      </a:rPr>
                      <a:t> </a:t>
                    </a:r>
                  </a:p>
                </p:txBody>
              </p:sp>
            </mc:Fallback>
          </mc:AlternateContent>
          <p:sp>
            <p:nvSpPr>
              <p:cNvPr id="78" name="文本框 173"/>
              <p:cNvSpPr txBox="1"/>
              <p:nvPr/>
            </p:nvSpPr>
            <p:spPr>
              <a:xfrm>
                <a:off x="8533009" y="5117058"/>
                <a:ext cx="715078" cy="421287"/>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79" name="文本框 173"/>
              <p:cNvSpPr txBox="1"/>
              <p:nvPr/>
            </p:nvSpPr>
            <p:spPr>
              <a:xfrm>
                <a:off x="8257023" y="4019755"/>
                <a:ext cx="583386" cy="421287"/>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80" name="文本框 173"/>
              <p:cNvSpPr txBox="1"/>
              <p:nvPr/>
            </p:nvSpPr>
            <p:spPr>
              <a:xfrm>
                <a:off x="8300915" y="3081282"/>
                <a:ext cx="583386" cy="421287"/>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1" name="文本框 80"/>
                  <p:cNvSpPr txBox="1"/>
                  <p:nvPr/>
                </p:nvSpPr>
                <p:spPr>
                  <a:xfrm>
                    <a:off x="7116907" y="1624466"/>
                    <a:ext cx="328463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81" name="文本框 80"/>
                  <p:cNvSpPr txBox="1">
                    <a:spLocks noRot="1" noChangeAspect="1" noMove="1" noResize="1" noEditPoints="1" noAdjustHandles="1" noChangeArrowheads="1" noChangeShapeType="1" noTextEdit="1"/>
                  </p:cNvSpPr>
                  <p:nvPr/>
                </p:nvSpPr>
                <p:spPr>
                  <a:xfrm>
                    <a:off x="7116907" y="1624466"/>
                    <a:ext cx="3284637" cy="461665"/>
                  </a:xfrm>
                  <a:prstGeom prst="rect">
                    <a:avLst/>
                  </a:prstGeom>
                  <a:blipFill>
                    <a:blip r:embed="rId4"/>
                    <a:stretch>
                      <a:fillRect/>
                    </a:stretch>
                  </a:blipFill>
                </p:spPr>
                <p:txBody>
                  <a:bodyPr/>
                  <a:lstStyle/>
                  <a:p>
                    <a:r>
                      <a:rPr lang="zh-TW" altLang="en-US">
                        <a:noFill/>
                      </a:rPr>
                      <a:t> </a:t>
                    </a:r>
                  </a:p>
                </p:txBody>
              </p:sp>
            </mc:Fallback>
          </mc:AlternateContent>
          <p:cxnSp>
            <p:nvCxnSpPr>
              <p:cNvPr id="82" name="直接箭头连接符 81"/>
              <p:cNvCxnSpPr/>
              <p:nvPr/>
            </p:nvCxnSpPr>
            <p:spPr>
              <a:xfrm flipV="1">
                <a:off x="7328271" y="2114688"/>
                <a:ext cx="0" cy="1027306"/>
              </a:xfrm>
              <a:prstGeom prst="straightConnector1">
                <a:avLst/>
              </a:prstGeom>
              <a:noFill/>
              <a:ln w="28575" cap="flat" cmpd="sng" algn="ctr">
                <a:solidFill>
                  <a:sysClr val="windowText" lastClr="000000"/>
                </a:solidFill>
                <a:prstDash val="solid"/>
                <a:miter lim="800000"/>
                <a:tailEnd type="triangle"/>
              </a:ln>
              <a:effectLst/>
            </p:spPr>
          </p:cxnSp>
          <p:cxnSp>
            <p:nvCxnSpPr>
              <p:cNvPr id="83" name="直接箭头连接符 82"/>
              <p:cNvCxnSpPr/>
              <p:nvPr/>
            </p:nvCxnSpPr>
            <p:spPr>
              <a:xfrm flipV="1">
                <a:off x="7934638" y="2114688"/>
                <a:ext cx="0" cy="1027306"/>
              </a:xfrm>
              <a:prstGeom prst="straightConnector1">
                <a:avLst/>
              </a:prstGeom>
              <a:noFill/>
              <a:ln w="28575" cap="flat" cmpd="sng" algn="ctr">
                <a:solidFill>
                  <a:sysClr val="windowText" lastClr="000000"/>
                </a:solidFill>
                <a:prstDash val="solid"/>
                <a:miter lim="800000"/>
                <a:tailEnd type="triangle"/>
              </a:ln>
              <a:effectLst/>
            </p:spPr>
          </p:cxnSp>
          <p:cxnSp>
            <p:nvCxnSpPr>
              <p:cNvPr id="84" name="直接箭头连接符 83"/>
              <p:cNvCxnSpPr/>
              <p:nvPr/>
            </p:nvCxnSpPr>
            <p:spPr>
              <a:xfrm flipV="1">
                <a:off x="9240281" y="2137256"/>
                <a:ext cx="0" cy="1027306"/>
              </a:xfrm>
              <a:prstGeom prst="straightConnector1">
                <a:avLst/>
              </a:prstGeom>
              <a:noFill/>
              <a:ln w="28575" cap="flat" cmpd="sng" algn="ctr">
                <a:solidFill>
                  <a:sysClr val="windowText" lastClr="000000"/>
                </a:solidFill>
                <a:prstDash val="solid"/>
                <a:miter lim="800000"/>
                <a:tailEnd type="triangle"/>
              </a:ln>
              <a:effectLst/>
            </p:spPr>
          </p:cxnSp>
          <p:sp>
            <p:nvSpPr>
              <p:cNvPr id="85" name="矩形 84"/>
              <p:cNvSpPr/>
              <p:nvPr/>
            </p:nvSpPr>
            <p:spPr>
              <a:xfrm>
                <a:off x="7157750" y="2462712"/>
                <a:ext cx="2295200" cy="346201"/>
              </a:xfrm>
              <a:prstGeom prst="rect">
                <a:avLst/>
              </a:prstGeom>
              <a:solidFill>
                <a:schemeClr val="bg1"/>
              </a:solidFill>
              <a:ln w="38100">
                <a:solidFill>
                  <a:srgbClr val="FF0000"/>
                </a:solidFill>
              </a:ln>
            </p:spPr>
            <p:style>
              <a:lnRef idx="2">
                <a:schemeClr val="accent1"/>
              </a:lnRef>
              <a:fillRef idx="1">
                <a:schemeClr val="lt1"/>
              </a:fillRef>
              <a:effectRef idx="0">
                <a:schemeClr val="accent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softmax</a:t>
                </a:r>
                <a:endParaRPr kumimoji="0" lang="zh-CN" altLang="en-US" sz="1800" b="0"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86" name="曲线连接符 85"/>
            <p:cNvCxnSpPr/>
            <p:nvPr/>
          </p:nvCxnSpPr>
          <p:spPr>
            <a:xfrm rot="10800000" flipV="1">
              <a:off x="5638596" y="1837881"/>
              <a:ext cx="1554960" cy="920088"/>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507397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交叉熵損失函數</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700349"/>
                <a:ext cx="10363200" cy="4572000"/>
              </a:xfrm>
            </p:spPr>
            <p:txBody>
              <a:bodyPr/>
              <a:lstStyle/>
              <a:p>
                <a:r>
                  <a:rPr lang="zh-CN" altLang="en-US" dirty="0"/>
                  <a:t>對於分類問題：</a:t>
                </a:r>
                <a:endParaRPr lang="en-US" altLang="zh-CN" dirty="0"/>
              </a:p>
              <a:p>
                <a:r>
                  <a:rPr lang="zh-CN" altLang="en-US" dirty="0"/>
                  <a:t>對於給定輸入樣本</a:t>
                </a:r>
                <a:r>
                  <a:rPr lang="en-US" altLang="zh-CN" dirty="0"/>
                  <a:t>d</a:t>
                </a:r>
                <a:r>
                  <a:rPr lang="zh-CN" altLang="en-US" dirty="0"/>
                  <a:t>，只有</a:t>
                </a:r>
                <a:r>
                  <a:rPr lang="en-US" altLang="zh-CN" dirty="0"/>
                  <a:t>d</a:t>
                </a:r>
                <a:r>
                  <a:rPr lang="zh-CN" altLang="en-US" dirty="0"/>
                  <a:t>對應的</a:t>
                </a:r>
                <a:endParaRPr lang="en-US" altLang="zh-CN" dirty="0"/>
              </a:p>
              <a:p>
                <a:pPr marL="0" indent="0">
                  <a:buNone/>
                </a:pPr>
                <a:r>
                  <a:rPr lang="en-US" altLang="zh-CN" dirty="0"/>
                  <a:t>    </a:t>
                </a:r>
                <a:r>
                  <a:rPr lang="zh-CN" altLang="en-US" dirty="0"/>
                  <a:t>希望輸出為</a:t>
                </a:r>
                <a:r>
                  <a:rPr lang="en-US" altLang="zh-CN" dirty="0"/>
                  <a:t>1</a:t>
                </a:r>
                <a:r>
                  <a:rPr lang="zh-CN" altLang="en-US" dirty="0"/>
                  <a:t>，其他為</a:t>
                </a:r>
                <a:r>
                  <a:rPr lang="en-US" altLang="zh-CN" dirty="0"/>
                  <a:t>0</a:t>
                </a:r>
              </a:p>
              <a:p>
                <a:pPr marL="0" indent="0">
                  <a:buNone/>
                </a:pPr>
                <a:endParaRPr lang="en-US" altLang="zh-CN" sz="1400"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H</m:t>
                        </m:r>
                      </m:e>
                      <m:sub>
                        <m:r>
                          <a:rPr lang="en-US" altLang="zh-CN" i="1">
                            <a:latin typeface="Cambria Math" panose="02040503050406030204" pitchFamily="18" charset="0"/>
                          </a:rPr>
                          <m:t>𝑑</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r>
                      <m:rPr>
                        <m:sty m:val="p"/>
                      </m:rPr>
                      <a:rPr lang="en-US" altLang="zh-CN">
                        <a:latin typeface="Cambria Math" panose="02040503050406030204" pitchFamily="18" charset="0"/>
                      </a:rPr>
                      <m:t>log</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oMath>
                </a14:m>
                <a:endParaRPr lang="zh-CN" altLang="en-US" dirty="0"/>
              </a:p>
              <a:p>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700349"/>
                <a:ext cx="10363200" cy="4572000"/>
              </a:xfrm>
              <a:blipFill>
                <a:blip r:embed="rId2"/>
                <a:stretch>
                  <a:fillRect t="-2000"/>
                </a:stretch>
              </a:blipFill>
            </p:spPr>
            <p:txBody>
              <a:bodyPr/>
              <a:lstStyle/>
              <a:p>
                <a:r>
                  <a:rPr lang="zh-TW" altLang="en-US">
                    <a:noFill/>
                  </a:rPr>
                  <a:t> </a:t>
                </a:r>
              </a:p>
            </p:txBody>
          </p:sp>
        </mc:Fallback>
      </mc:AlternateContent>
      <p:grpSp>
        <p:nvGrpSpPr>
          <p:cNvPr id="52" name="组合 51"/>
          <p:cNvGrpSpPr/>
          <p:nvPr/>
        </p:nvGrpSpPr>
        <p:grpSpPr>
          <a:xfrm>
            <a:off x="7527714" y="1242587"/>
            <a:ext cx="2770832" cy="3933494"/>
            <a:chOff x="7453822" y="1251824"/>
            <a:chExt cx="3875315" cy="5052079"/>
          </a:xfrm>
        </p:grpSpPr>
        <p:cxnSp>
          <p:nvCxnSpPr>
            <p:cNvPr id="4" name="直接箭头连接符 3"/>
            <p:cNvCxnSpPr/>
            <p:nvPr/>
          </p:nvCxnSpPr>
          <p:spPr>
            <a:xfrm flipH="1" flipV="1">
              <a:off x="8278132" y="1747483"/>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5" name="直接箭头连接符 4"/>
            <p:cNvCxnSpPr/>
            <p:nvPr/>
          </p:nvCxnSpPr>
          <p:spPr>
            <a:xfrm flipH="1" flipV="1">
              <a:off x="9913937" y="1728324"/>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6" name="椭圆 5"/>
            <p:cNvSpPr/>
            <p:nvPr/>
          </p:nvSpPr>
          <p:spPr>
            <a:xfrm>
              <a:off x="9792779" y="2213685"/>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 name="椭圆 6"/>
            <p:cNvSpPr/>
            <p:nvPr/>
          </p:nvSpPr>
          <p:spPr>
            <a:xfrm>
              <a:off x="8145435"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8" name="直接箭头连接符 7"/>
            <p:cNvCxnSpPr>
              <a:stCxn id="14" idx="0"/>
              <a:endCxn id="29" idx="4"/>
            </p:cNvCxnSpPr>
            <p:nvPr/>
          </p:nvCxnSpPr>
          <p:spPr>
            <a:xfrm flipV="1">
              <a:off x="801258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9" name="直接箭头连接符 8"/>
            <p:cNvCxnSpPr>
              <a:stCxn id="14" idx="0"/>
              <a:endCxn id="30" idx="4"/>
            </p:cNvCxnSpPr>
            <p:nvPr/>
          </p:nvCxnSpPr>
          <p:spPr>
            <a:xfrm flipV="1">
              <a:off x="8012586" y="3459324"/>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0" name="直接箭头连接符 9"/>
            <p:cNvCxnSpPr>
              <a:stCxn id="15" idx="0"/>
              <a:endCxn id="30" idx="4"/>
            </p:cNvCxnSpPr>
            <p:nvPr/>
          </p:nvCxnSpPr>
          <p:spPr>
            <a:xfrm flipV="1">
              <a:off x="872799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1" name="直接箭头连接符 10"/>
            <p:cNvCxnSpPr>
              <a:stCxn id="16" idx="0"/>
              <a:endCxn id="30" idx="4"/>
            </p:cNvCxnSpPr>
            <p:nvPr/>
          </p:nvCxnSpPr>
          <p:spPr>
            <a:xfrm flipH="1" flipV="1">
              <a:off x="8732343" y="3459324"/>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p:cNvCxnSpPr>
              <a:stCxn id="16" idx="0"/>
              <a:endCxn id="31" idx="4"/>
            </p:cNvCxnSpPr>
            <p:nvPr/>
          </p:nvCxnSpPr>
          <p:spPr>
            <a:xfrm flipV="1">
              <a:off x="10268434" y="3484870"/>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p:cNvCxnSpPr>
              <a:stCxn id="15" idx="0"/>
              <a:endCxn id="29" idx="4"/>
            </p:cNvCxnSpPr>
            <p:nvPr/>
          </p:nvCxnSpPr>
          <p:spPr>
            <a:xfrm flipH="1" flipV="1">
              <a:off x="8016933" y="3459324"/>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14" name="椭圆 13"/>
            <p:cNvSpPr/>
            <p:nvPr/>
          </p:nvSpPr>
          <p:spPr>
            <a:xfrm>
              <a:off x="787331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5" name="椭圆 14"/>
            <p:cNvSpPr/>
            <p:nvPr/>
          </p:nvSpPr>
          <p:spPr>
            <a:xfrm>
              <a:off x="858872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6" name="椭圆 15"/>
            <p:cNvSpPr/>
            <p:nvPr/>
          </p:nvSpPr>
          <p:spPr>
            <a:xfrm>
              <a:off x="10129167" y="4316271"/>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7" name="椭圆 16"/>
            <p:cNvSpPr/>
            <p:nvPr/>
          </p:nvSpPr>
          <p:spPr>
            <a:xfrm>
              <a:off x="10631108" y="54849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8" name="椭圆 17"/>
            <p:cNvSpPr/>
            <p:nvPr/>
          </p:nvSpPr>
          <p:spPr>
            <a:xfrm>
              <a:off x="8588729"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椭圆 18"/>
            <p:cNvSpPr/>
            <p:nvPr/>
          </p:nvSpPr>
          <p:spPr>
            <a:xfrm>
              <a:off x="7532923"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0" name="直接箭头连接符 19"/>
            <p:cNvCxnSpPr>
              <a:stCxn id="19" idx="0"/>
              <a:endCxn id="14" idx="4"/>
            </p:cNvCxnSpPr>
            <p:nvPr/>
          </p:nvCxnSpPr>
          <p:spPr>
            <a:xfrm flipV="1">
              <a:off x="7672190" y="4578377"/>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1" name="直接箭头连接符 20"/>
            <p:cNvCxnSpPr>
              <a:stCxn id="19" idx="0"/>
              <a:endCxn id="15" idx="4"/>
            </p:cNvCxnSpPr>
            <p:nvPr/>
          </p:nvCxnSpPr>
          <p:spPr>
            <a:xfrm flipV="1">
              <a:off x="7672190" y="4578377"/>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2" name="直接箭头连接符 21"/>
            <p:cNvCxnSpPr>
              <a:stCxn id="18" idx="0"/>
              <a:endCxn id="14" idx="4"/>
            </p:cNvCxnSpPr>
            <p:nvPr/>
          </p:nvCxnSpPr>
          <p:spPr>
            <a:xfrm flipH="1" flipV="1">
              <a:off x="8012586" y="4578377"/>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3" name="直接箭头连接符 22"/>
            <p:cNvCxnSpPr>
              <a:stCxn id="19" idx="0"/>
              <a:endCxn id="16" idx="4"/>
            </p:cNvCxnSpPr>
            <p:nvPr/>
          </p:nvCxnSpPr>
          <p:spPr>
            <a:xfrm flipV="1">
              <a:off x="7672190" y="4603923"/>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4" name="直接箭头连接符 23"/>
            <p:cNvCxnSpPr>
              <a:stCxn id="18" idx="0"/>
              <a:endCxn id="15" idx="4"/>
            </p:cNvCxnSpPr>
            <p:nvPr/>
          </p:nvCxnSpPr>
          <p:spPr>
            <a:xfrm flipV="1">
              <a:off x="8727996" y="4578377"/>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p:cNvCxnSpPr>
              <a:stCxn id="18" idx="0"/>
              <a:endCxn id="16" idx="4"/>
            </p:cNvCxnSpPr>
            <p:nvPr/>
          </p:nvCxnSpPr>
          <p:spPr>
            <a:xfrm flipV="1">
              <a:off x="8727996" y="4603923"/>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p:cNvCxnSpPr>
              <a:stCxn id="17" idx="0"/>
              <a:endCxn id="16" idx="4"/>
            </p:cNvCxnSpPr>
            <p:nvPr/>
          </p:nvCxnSpPr>
          <p:spPr>
            <a:xfrm flipH="1" flipV="1">
              <a:off x="10268434" y="4603923"/>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p:cNvCxnSpPr>
              <a:stCxn id="17" idx="0"/>
              <a:endCxn id="15" idx="4"/>
            </p:cNvCxnSpPr>
            <p:nvPr/>
          </p:nvCxnSpPr>
          <p:spPr>
            <a:xfrm flipH="1" flipV="1">
              <a:off x="8727996" y="4578377"/>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p:cNvCxnSpPr>
              <a:stCxn id="17" idx="0"/>
              <a:endCxn id="14" idx="4"/>
            </p:cNvCxnSpPr>
            <p:nvPr/>
          </p:nvCxnSpPr>
          <p:spPr>
            <a:xfrm flipH="1" flipV="1">
              <a:off x="8012586" y="4578377"/>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29" name="椭圆 28"/>
            <p:cNvSpPr/>
            <p:nvPr/>
          </p:nvSpPr>
          <p:spPr>
            <a:xfrm>
              <a:off x="787766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0" name="椭圆 29"/>
            <p:cNvSpPr/>
            <p:nvPr/>
          </p:nvSpPr>
          <p:spPr>
            <a:xfrm>
              <a:off x="859307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1" name="椭圆 30"/>
            <p:cNvSpPr/>
            <p:nvPr/>
          </p:nvSpPr>
          <p:spPr>
            <a:xfrm>
              <a:off x="10133514" y="319721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32" name="直接箭头连接符 31"/>
            <p:cNvCxnSpPr>
              <a:stCxn id="14" idx="0"/>
              <a:endCxn id="31" idx="4"/>
            </p:cNvCxnSpPr>
            <p:nvPr/>
          </p:nvCxnSpPr>
          <p:spPr>
            <a:xfrm flipV="1">
              <a:off x="8012586" y="3484870"/>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p:cNvCxnSpPr>
              <a:stCxn id="15" idx="0"/>
              <a:endCxn id="31" idx="4"/>
            </p:cNvCxnSpPr>
            <p:nvPr/>
          </p:nvCxnSpPr>
          <p:spPr>
            <a:xfrm flipV="1">
              <a:off x="8727996" y="3484870"/>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p:cNvCxnSpPr>
              <a:stCxn id="16" idx="0"/>
              <a:endCxn id="29" idx="4"/>
            </p:cNvCxnSpPr>
            <p:nvPr/>
          </p:nvCxnSpPr>
          <p:spPr>
            <a:xfrm flipH="1" flipV="1">
              <a:off x="8016933" y="3459324"/>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p:cNvCxnSpPr>
              <a:stCxn id="29" idx="0"/>
              <a:endCxn id="7" idx="4"/>
            </p:cNvCxnSpPr>
            <p:nvPr/>
          </p:nvCxnSpPr>
          <p:spPr>
            <a:xfrm flipV="1">
              <a:off x="8016933" y="2527867"/>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p:cNvCxnSpPr>
              <a:stCxn id="29" idx="0"/>
              <a:endCxn id="6" idx="4"/>
            </p:cNvCxnSpPr>
            <p:nvPr/>
          </p:nvCxnSpPr>
          <p:spPr>
            <a:xfrm flipV="1">
              <a:off x="8016933" y="2502321"/>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p:cNvCxnSpPr>
              <a:stCxn id="30" idx="0"/>
              <a:endCxn id="7" idx="4"/>
            </p:cNvCxnSpPr>
            <p:nvPr/>
          </p:nvCxnSpPr>
          <p:spPr>
            <a:xfrm flipH="1" flipV="1">
              <a:off x="8284702" y="2527867"/>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38" name="直接箭头连接符 37"/>
            <p:cNvCxnSpPr>
              <a:stCxn id="30" idx="0"/>
              <a:endCxn id="6" idx="4"/>
            </p:cNvCxnSpPr>
            <p:nvPr/>
          </p:nvCxnSpPr>
          <p:spPr>
            <a:xfrm flipV="1">
              <a:off x="8732343" y="2502321"/>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39" name="直接箭头连接符 38"/>
            <p:cNvCxnSpPr>
              <a:stCxn id="31" idx="0"/>
              <a:endCxn id="7" idx="4"/>
            </p:cNvCxnSpPr>
            <p:nvPr/>
          </p:nvCxnSpPr>
          <p:spPr>
            <a:xfrm flipH="1" flipV="1">
              <a:off x="8284702" y="2527867"/>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p:cNvCxnSpPr>
              <a:stCxn id="31" idx="0"/>
              <a:endCxn id="6" idx="4"/>
            </p:cNvCxnSpPr>
            <p:nvPr/>
          </p:nvCxnSpPr>
          <p:spPr>
            <a:xfrm flipH="1" flipV="1">
              <a:off x="9932046" y="2502321"/>
              <a:ext cx="340735" cy="69489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41" name="文本框 40"/>
                <p:cNvSpPr txBox="1"/>
                <p:nvPr/>
              </p:nvSpPr>
              <p:spPr>
                <a:xfrm>
                  <a:off x="7453822" y="5790012"/>
                  <a:ext cx="3875315" cy="51389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oMath>
                    </m:oMathPara>
                  </a14:m>
                  <a:endPar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41" name="文本框 40"/>
                <p:cNvSpPr txBox="1">
                  <a:spLocks noRot="1" noChangeAspect="1" noMove="1" noResize="1" noEditPoints="1" noAdjustHandles="1" noChangeArrowheads="1" noChangeShapeType="1" noTextEdit="1"/>
                </p:cNvSpPr>
                <p:nvPr/>
              </p:nvSpPr>
              <p:spPr>
                <a:xfrm>
                  <a:off x="7453822" y="5790012"/>
                  <a:ext cx="3875315" cy="513891"/>
                </a:xfrm>
                <a:prstGeom prst="rect">
                  <a:avLst/>
                </a:prstGeom>
                <a:blipFill>
                  <a:blip r:embed="rId3"/>
                  <a:stretch>
                    <a:fillRect/>
                  </a:stretch>
                </a:blipFill>
              </p:spPr>
              <p:txBody>
                <a:bodyPr/>
                <a:lstStyle/>
                <a:p>
                  <a:r>
                    <a:rPr lang="zh-TW" altLang="en-US">
                      <a:noFill/>
                    </a:rPr>
                    <a:t> </a:t>
                  </a:r>
                </a:p>
              </p:txBody>
            </p:sp>
          </mc:Fallback>
        </mc:AlternateContent>
        <p:sp>
          <p:nvSpPr>
            <p:cNvPr id="42" name="文本框 173"/>
            <p:cNvSpPr txBox="1"/>
            <p:nvPr/>
          </p:nvSpPr>
          <p:spPr>
            <a:xfrm>
              <a:off x="9455737" y="5407369"/>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3" name="文本框 173"/>
            <p:cNvSpPr txBox="1"/>
            <p:nvPr/>
          </p:nvSpPr>
          <p:spPr>
            <a:xfrm>
              <a:off x="9130121" y="4165264"/>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4" name="文本框 173"/>
            <p:cNvSpPr txBox="1"/>
            <p:nvPr/>
          </p:nvSpPr>
          <p:spPr>
            <a:xfrm>
              <a:off x="9021280" y="2092773"/>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45" name="文本框 173"/>
            <p:cNvSpPr txBox="1"/>
            <p:nvPr/>
          </p:nvSpPr>
          <p:spPr>
            <a:xfrm>
              <a:off x="9181906" y="3102948"/>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46" name="直接箭头连接符 45"/>
            <p:cNvCxnSpPr/>
            <p:nvPr/>
          </p:nvCxnSpPr>
          <p:spPr>
            <a:xfrm flipH="1" flipV="1">
              <a:off x="8860398" y="1747483"/>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47" name="椭圆 46"/>
            <p:cNvSpPr/>
            <p:nvPr/>
          </p:nvSpPr>
          <p:spPr>
            <a:xfrm>
              <a:off x="8727701"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48" name="直接箭头连接符 47"/>
            <p:cNvCxnSpPr>
              <a:stCxn id="29" idx="0"/>
              <a:endCxn id="47" idx="4"/>
            </p:cNvCxnSpPr>
            <p:nvPr/>
          </p:nvCxnSpPr>
          <p:spPr>
            <a:xfrm flipV="1">
              <a:off x="8016933" y="2527867"/>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9" name="直接箭头连接符 48"/>
            <p:cNvCxnSpPr>
              <a:stCxn id="30" idx="0"/>
              <a:endCxn id="47" idx="4"/>
            </p:cNvCxnSpPr>
            <p:nvPr/>
          </p:nvCxnSpPr>
          <p:spPr>
            <a:xfrm flipV="1">
              <a:off x="8732343" y="2527867"/>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0" name="直接箭头连接符 49"/>
            <p:cNvCxnSpPr>
              <a:stCxn id="31" idx="0"/>
              <a:endCxn id="47" idx="4"/>
            </p:cNvCxnSpPr>
            <p:nvPr/>
          </p:nvCxnSpPr>
          <p:spPr>
            <a:xfrm flipH="1" flipV="1">
              <a:off x="8866968" y="2527867"/>
              <a:ext cx="1405813" cy="66935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51" name="文本框 50"/>
                <p:cNvSpPr txBox="1"/>
                <p:nvPr/>
              </p:nvSpPr>
              <p:spPr>
                <a:xfrm>
                  <a:off x="8012587" y="1251824"/>
                  <a:ext cx="2395115" cy="51389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oMath>
                    </m:oMathPara>
                  </a14:m>
                  <a:endPar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51" name="文本框 50"/>
                <p:cNvSpPr txBox="1">
                  <a:spLocks noRot="1" noChangeAspect="1" noMove="1" noResize="1" noEditPoints="1" noAdjustHandles="1" noChangeArrowheads="1" noChangeShapeType="1" noTextEdit="1"/>
                </p:cNvSpPr>
                <p:nvPr/>
              </p:nvSpPr>
              <p:spPr>
                <a:xfrm>
                  <a:off x="8012587" y="1251824"/>
                  <a:ext cx="2395115" cy="513891"/>
                </a:xfrm>
                <a:prstGeom prst="rect">
                  <a:avLst/>
                </a:prstGeom>
                <a:blipFill>
                  <a:blip r:embed="rId4"/>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2285020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兩種損失函數的作用</a:t>
            </a:r>
          </a:p>
        </p:txBody>
      </p:sp>
      <p:sp>
        <p:nvSpPr>
          <p:cNvPr id="3" name="内容占位符 2"/>
          <p:cNvSpPr>
            <a:spLocks noGrp="1"/>
          </p:cNvSpPr>
          <p:nvPr>
            <p:ph sz="quarter" idx="1"/>
          </p:nvPr>
        </p:nvSpPr>
        <p:spPr/>
        <p:txBody>
          <a:bodyPr/>
          <a:lstStyle/>
          <a:p>
            <a:endParaRPr lang="en-US" altLang="zh-CN" dirty="0"/>
          </a:p>
          <a:p>
            <a:r>
              <a:rPr lang="zh-CN" altLang="en-US" dirty="0"/>
              <a:t>誤差平方和損失函數</a:t>
            </a:r>
            <a:endParaRPr lang="en-US" altLang="zh-CN" dirty="0"/>
          </a:p>
          <a:p>
            <a:pPr lvl="1"/>
            <a:r>
              <a:rPr lang="zh-CN" altLang="en-US" dirty="0"/>
              <a:t>用於輸出是具體數值的問題</a:t>
            </a:r>
            <a:endParaRPr lang="en-US" altLang="zh-CN" dirty="0"/>
          </a:p>
          <a:p>
            <a:endParaRPr lang="en-US" altLang="zh-CN" dirty="0"/>
          </a:p>
          <a:p>
            <a:r>
              <a:rPr lang="zh-CN" altLang="en-US" dirty="0"/>
              <a:t>交叉熵損失函數</a:t>
            </a:r>
            <a:endParaRPr lang="en-US" altLang="zh-CN" dirty="0"/>
          </a:p>
          <a:p>
            <a:pPr lvl="1"/>
            <a:r>
              <a:rPr lang="zh-CN" altLang="en-US" dirty="0"/>
              <a:t>用於分類問題</a:t>
            </a:r>
          </a:p>
        </p:txBody>
      </p:sp>
    </p:spTree>
    <p:extLst>
      <p:ext uri="{BB962C8B-B14F-4D97-AF65-F5344CB8AC3E}">
        <p14:creationId xmlns:p14="http://schemas.microsoft.com/office/powerpoint/2010/main" val="27367317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小結</a:t>
            </a:r>
          </a:p>
        </p:txBody>
      </p:sp>
      <p:sp>
        <p:nvSpPr>
          <p:cNvPr id="3" name="内容占位符 2"/>
          <p:cNvSpPr>
            <a:spLocks noGrp="1"/>
          </p:cNvSpPr>
          <p:nvPr>
            <p:ph sz="quarter" idx="1"/>
          </p:nvPr>
        </p:nvSpPr>
        <p:spPr>
          <a:xfrm>
            <a:off x="1219200" y="1687945"/>
            <a:ext cx="10363200" cy="4572000"/>
          </a:xfrm>
        </p:spPr>
        <p:txBody>
          <a:bodyPr/>
          <a:lstStyle/>
          <a:p>
            <a:r>
              <a:rPr lang="zh-CN" altLang="en-US" dirty="0"/>
              <a:t>建立資料集</a:t>
            </a:r>
            <a:endParaRPr lang="en-US" altLang="zh-CN" dirty="0"/>
          </a:p>
          <a:p>
            <a:r>
              <a:rPr lang="zh-CN" altLang="en-US" dirty="0"/>
              <a:t>損失函數</a:t>
            </a:r>
            <a:endParaRPr lang="en-US" altLang="zh-CN" dirty="0"/>
          </a:p>
          <a:p>
            <a:pPr lvl="1"/>
            <a:r>
              <a:rPr lang="zh-CN" altLang="en-US" dirty="0"/>
              <a:t>誤差平方和、交叉熵</a:t>
            </a:r>
            <a:endParaRPr lang="en-US" altLang="zh-CN" dirty="0"/>
          </a:p>
          <a:p>
            <a:r>
              <a:rPr lang="zh-CN" altLang="en-US" dirty="0"/>
              <a:t>梯度下降法</a:t>
            </a:r>
            <a:endParaRPr lang="en-US" altLang="zh-CN" dirty="0"/>
          </a:p>
          <a:p>
            <a:pPr lvl="1"/>
            <a:r>
              <a:rPr lang="zh-CN" altLang="en-US" dirty="0"/>
              <a:t>批量梯度下降演算法</a:t>
            </a:r>
            <a:endParaRPr lang="en-US" altLang="zh-CN" dirty="0"/>
          </a:p>
          <a:p>
            <a:pPr lvl="1"/>
            <a:r>
              <a:rPr lang="zh-CN" altLang="en-US" dirty="0"/>
              <a:t>隨機梯度下降演算法</a:t>
            </a:r>
            <a:endParaRPr lang="en-US" altLang="zh-CN" dirty="0"/>
          </a:p>
          <a:p>
            <a:pPr lvl="1"/>
            <a:r>
              <a:rPr lang="zh-CN" altLang="en-US" dirty="0"/>
              <a:t>小批量梯度下降演算法</a:t>
            </a:r>
            <a:endParaRPr lang="en-US" altLang="zh-CN" dirty="0"/>
          </a:p>
          <a:p>
            <a:r>
              <a:rPr lang="en-US" altLang="zh-CN" dirty="0"/>
              <a:t>BP</a:t>
            </a:r>
            <a:r>
              <a:rPr lang="zh-CN" altLang="en-US" dirty="0"/>
              <a:t>演算法</a:t>
            </a:r>
            <a:endParaRPr lang="en-US" altLang="zh-CN" dirty="0"/>
          </a:p>
          <a:p>
            <a:pPr lvl="1"/>
            <a:r>
              <a:rPr lang="zh-CN" altLang="en-US" dirty="0"/>
              <a:t>隨機梯度下降演算法的一種實現</a:t>
            </a:r>
          </a:p>
        </p:txBody>
      </p:sp>
    </p:spTree>
    <p:extLst>
      <p:ext uri="{BB962C8B-B14F-4D97-AF65-F5344CB8AC3E}">
        <p14:creationId xmlns:p14="http://schemas.microsoft.com/office/powerpoint/2010/main" val="4945281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捲積神經網路（</a:t>
            </a:r>
            <a:r>
              <a:rPr lang="en-US" altLang="zh-CN" dirty="0"/>
              <a:t>CNN</a:t>
            </a:r>
            <a:r>
              <a:rPr lang="zh-CN" altLang="en-US" dirty="0"/>
              <a:t>：</a:t>
            </a:r>
            <a:r>
              <a:rPr lang="en-US" altLang="zh-CN" b="0" dirty="0">
                <a:solidFill>
                  <a:srgbClr val="CC0000"/>
                </a:solidFill>
                <a:latin typeface="Arial" panose="020B0604020202020204" pitchFamily="34" charset="0"/>
              </a:rPr>
              <a:t>C</a:t>
            </a:r>
            <a:r>
              <a:rPr lang="en-US" altLang="zh-CN" b="0" i="0" dirty="0">
                <a:solidFill>
                  <a:srgbClr val="CC0000"/>
                </a:solidFill>
                <a:effectLst/>
                <a:latin typeface="Arial" panose="020B0604020202020204" pitchFamily="34" charset="0"/>
              </a:rPr>
              <a:t>onvolutional</a:t>
            </a:r>
            <a:r>
              <a:rPr lang="en-US" altLang="zh-CN" b="0" i="0" dirty="0">
                <a:solidFill>
                  <a:srgbClr val="333333"/>
                </a:solidFill>
                <a:effectLst/>
                <a:latin typeface="Arial" panose="020B0604020202020204" pitchFamily="34" charset="0"/>
              </a:rPr>
              <a:t> </a:t>
            </a:r>
            <a:r>
              <a:rPr lang="en-US" altLang="zh-CN" b="0" dirty="0">
                <a:solidFill>
                  <a:srgbClr val="CC0000"/>
                </a:solidFill>
                <a:latin typeface="Arial" panose="020B0604020202020204" pitchFamily="34" charset="0"/>
              </a:rPr>
              <a:t>N</a:t>
            </a:r>
            <a:r>
              <a:rPr lang="en-US" altLang="zh-CN" b="0" i="0" dirty="0">
                <a:solidFill>
                  <a:srgbClr val="CC0000"/>
                </a:solidFill>
                <a:effectLst/>
                <a:latin typeface="Arial" panose="020B0604020202020204" pitchFamily="34" charset="0"/>
              </a:rPr>
              <a:t>eural</a:t>
            </a:r>
            <a:r>
              <a:rPr lang="en-US" altLang="zh-CN" b="0" i="0" dirty="0">
                <a:solidFill>
                  <a:srgbClr val="333333"/>
                </a:solidFill>
                <a:effectLst/>
                <a:latin typeface="Arial" panose="020B0604020202020204" pitchFamily="34" charset="0"/>
              </a:rPr>
              <a:t> </a:t>
            </a:r>
            <a:r>
              <a:rPr lang="en-US" altLang="zh-CN" b="0" dirty="0">
                <a:solidFill>
                  <a:srgbClr val="CC0000"/>
                </a:solidFill>
                <a:latin typeface="Arial" panose="020B0604020202020204" pitchFamily="34" charset="0"/>
              </a:rPr>
              <a:t>N</a:t>
            </a:r>
            <a:r>
              <a:rPr lang="en-US" altLang="zh-CN" b="0" i="0" dirty="0">
                <a:solidFill>
                  <a:srgbClr val="CC0000"/>
                </a:solidFill>
                <a:effectLst/>
                <a:latin typeface="Arial" panose="020B0604020202020204" pitchFamily="34" charset="0"/>
              </a:rPr>
              <a:t>etwork</a:t>
            </a:r>
            <a:r>
              <a:rPr lang="zh-CN" altLang="en-US" dirty="0"/>
              <a:t>）</a:t>
            </a:r>
          </a:p>
        </p:txBody>
      </p:sp>
      <p:grpSp>
        <p:nvGrpSpPr>
          <p:cNvPr id="84" name="组合 83"/>
          <p:cNvGrpSpPr/>
          <p:nvPr/>
        </p:nvGrpSpPr>
        <p:grpSpPr>
          <a:xfrm>
            <a:off x="6618516" y="1547357"/>
            <a:ext cx="2873114" cy="4320583"/>
            <a:chOff x="7453822" y="1251824"/>
            <a:chExt cx="3875315" cy="4962382"/>
          </a:xfrm>
        </p:grpSpPr>
        <p:cxnSp>
          <p:nvCxnSpPr>
            <p:cNvPr id="85" name="直接箭头连接符 84"/>
            <p:cNvCxnSpPr/>
            <p:nvPr/>
          </p:nvCxnSpPr>
          <p:spPr>
            <a:xfrm flipH="1" flipV="1">
              <a:off x="8278132" y="1747483"/>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86" name="直接箭头连接符 85"/>
            <p:cNvCxnSpPr/>
            <p:nvPr/>
          </p:nvCxnSpPr>
          <p:spPr>
            <a:xfrm flipH="1" flipV="1">
              <a:off x="9913937" y="1728324"/>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87" name="椭圆 86"/>
            <p:cNvSpPr/>
            <p:nvPr/>
          </p:nvSpPr>
          <p:spPr>
            <a:xfrm>
              <a:off x="9792779" y="2213685"/>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88" name="椭圆 87"/>
            <p:cNvSpPr/>
            <p:nvPr/>
          </p:nvSpPr>
          <p:spPr>
            <a:xfrm>
              <a:off x="8145435"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89" name="直接箭头连接符 88"/>
            <p:cNvCxnSpPr>
              <a:stCxn id="95" idx="0"/>
              <a:endCxn id="110" idx="4"/>
            </p:cNvCxnSpPr>
            <p:nvPr/>
          </p:nvCxnSpPr>
          <p:spPr>
            <a:xfrm flipV="1">
              <a:off x="801258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90" name="直接箭头连接符 89"/>
            <p:cNvCxnSpPr>
              <a:stCxn id="95" idx="0"/>
              <a:endCxn id="111" idx="4"/>
            </p:cNvCxnSpPr>
            <p:nvPr/>
          </p:nvCxnSpPr>
          <p:spPr>
            <a:xfrm flipV="1">
              <a:off x="8012586" y="3459324"/>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91" name="直接箭头连接符 90"/>
            <p:cNvCxnSpPr>
              <a:stCxn id="96" idx="0"/>
              <a:endCxn id="111" idx="4"/>
            </p:cNvCxnSpPr>
            <p:nvPr/>
          </p:nvCxnSpPr>
          <p:spPr>
            <a:xfrm flipV="1">
              <a:off x="872799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92" name="直接箭头连接符 91"/>
            <p:cNvCxnSpPr>
              <a:stCxn id="97" idx="0"/>
              <a:endCxn id="111" idx="4"/>
            </p:cNvCxnSpPr>
            <p:nvPr/>
          </p:nvCxnSpPr>
          <p:spPr>
            <a:xfrm flipH="1" flipV="1">
              <a:off x="8732343" y="3459324"/>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93" name="直接箭头连接符 92"/>
            <p:cNvCxnSpPr>
              <a:stCxn id="97" idx="0"/>
              <a:endCxn id="112" idx="4"/>
            </p:cNvCxnSpPr>
            <p:nvPr/>
          </p:nvCxnSpPr>
          <p:spPr>
            <a:xfrm flipV="1">
              <a:off x="10268434" y="3484870"/>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94" name="直接箭头连接符 93"/>
            <p:cNvCxnSpPr>
              <a:stCxn id="96" idx="0"/>
              <a:endCxn id="110" idx="4"/>
            </p:cNvCxnSpPr>
            <p:nvPr/>
          </p:nvCxnSpPr>
          <p:spPr>
            <a:xfrm flipH="1" flipV="1">
              <a:off x="8016933" y="3459324"/>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95" name="椭圆 94"/>
            <p:cNvSpPr/>
            <p:nvPr/>
          </p:nvSpPr>
          <p:spPr>
            <a:xfrm>
              <a:off x="787331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96" name="椭圆 95"/>
            <p:cNvSpPr/>
            <p:nvPr/>
          </p:nvSpPr>
          <p:spPr>
            <a:xfrm>
              <a:off x="858872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97" name="椭圆 96"/>
            <p:cNvSpPr/>
            <p:nvPr/>
          </p:nvSpPr>
          <p:spPr>
            <a:xfrm>
              <a:off x="10129167" y="4316271"/>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98" name="椭圆 97"/>
            <p:cNvSpPr/>
            <p:nvPr/>
          </p:nvSpPr>
          <p:spPr>
            <a:xfrm>
              <a:off x="10631108" y="54849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99" name="椭圆 98"/>
            <p:cNvSpPr/>
            <p:nvPr/>
          </p:nvSpPr>
          <p:spPr>
            <a:xfrm>
              <a:off x="8588729"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00" name="椭圆 99"/>
            <p:cNvSpPr/>
            <p:nvPr/>
          </p:nvSpPr>
          <p:spPr>
            <a:xfrm>
              <a:off x="7532923"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01" name="直接箭头连接符 100"/>
            <p:cNvCxnSpPr>
              <a:stCxn id="100" idx="0"/>
              <a:endCxn id="95" idx="4"/>
            </p:cNvCxnSpPr>
            <p:nvPr/>
          </p:nvCxnSpPr>
          <p:spPr>
            <a:xfrm flipV="1">
              <a:off x="7672190" y="4578377"/>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102" name="直接箭头连接符 101"/>
            <p:cNvCxnSpPr>
              <a:stCxn id="100" idx="0"/>
              <a:endCxn id="96" idx="4"/>
            </p:cNvCxnSpPr>
            <p:nvPr/>
          </p:nvCxnSpPr>
          <p:spPr>
            <a:xfrm flipV="1">
              <a:off x="7672190" y="4578377"/>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103" name="直接箭头连接符 102"/>
            <p:cNvCxnSpPr>
              <a:stCxn id="99" idx="0"/>
              <a:endCxn id="95" idx="4"/>
            </p:cNvCxnSpPr>
            <p:nvPr/>
          </p:nvCxnSpPr>
          <p:spPr>
            <a:xfrm flipH="1" flipV="1">
              <a:off x="8012586" y="4578377"/>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104" name="直接箭头连接符 103"/>
            <p:cNvCxnSpPr>
              <a:stCxn id="100" idx="0"/>
              <a:endCxn id="97" idx="4"/>
            </p:cNvCxnSpPr>
            <p:nvPr/>
          </p:nvCxnSpPr>
          <p:spPr>
            <a:xfrm flipV="1">
              <a:off x="7672190" y="4603923"/>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105" name="直接箭头连接符 104"/>
            <p:cNvCxnSpPr>
              <a:stCxn id="99" idx="0"/>
              <a:endCxn id="96" idx="4"/>
            </p:cNvCxnSpPr>
            <p:nvPr/>
          </p:nvCxnSpPr>
          <p:spPr>
            <a:xfrm flipV="1">
              <a:off x="8727996" y="4578377"/>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106" name="直接箭头连接符 105"/>
            <p:cNvCxnSpPr>
              <a:stCxn id="99" idx="0"/>
              <a:endCxn id="97" idx="4"/>
            </p:cNvCxnSpPr>
            <p:nvPr/>
          </p:nvCxnSpPr>
          <p:spPr>
            <a:xfrm flipV="1">
              <a:off x="8727996" y="4603923"/>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107" name="直接箭头连接符 106"/>
            <p:cNvCxnSpPr>
              <a:stCxn id="98" idx="0"/>
              <a:endCxn id="97" idx="4"/>
            </p:cNvCxnSpPr>
            <p:nvPr/>
          </p:nvCxnSpPr>
          <p:spPr>
            <a:xfrm flipH="1" flipV="1">
              <a:off x="10268434" y="4603923"/>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108" name="直接箭头连接符 107"/>
            <p:cNvCxnSpPr>
              <a:stCxn id="98" idx="0"/>
              <a:endCxn id="96" idx="4"/>
            </p:cNvCxnSpPr>
            <p:nvPr/>
          </p:nvCxnSpPr>
          <p:spPr>
            <a:xfrm flipH="1" flipV="1">
              <a:off x="8727996" y="4578377"/>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109" name="直接箭头连接符 108"/>
            <p:cNvCxnSpPr>
              <a:stCxn id="98" idx="0"/>
              <a:endCxn id="95" idx="4"/>
            </p:cNvCxnSpPr>
            <p:nvPr/>
          </p:nvCxnSpPr>
          <p:spPr>
            <a:xfrm flipH="1" flipV="1">
              <a:off x="8012586" y="4578377"/>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110" name="椭圆 109"/>
            <p:cNvSpPr/>
            <p:nvPr/>
          </p:nvSpPr>
          <p:spPr>
            <a:xfrm>
              <a:off x="787766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11" name="椭圆 110"/>
            <p:cNvSpPr/>
            <p:nvPr/>
          </p:nvSpPr>
          <p:spPr>
            <a:xfrm>
              <a:off x="859307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12" name="椭圆 111"/>
            <p:cNvSpPr/>
            <p:nvPr/>
          </p:nvSpPr>
          <p:spPr>
            <a:xfrm>
              <a:off x="10133514" y="319721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13" name="直接箭头连接符 112"/>
            <p:cNvCxnSpPr>
              <a:stCxn id="95" idx="0"/>
              <a:endCxn id="112" idx="4"/>
            </p:cNvCxnSpPr>
            <p:nvPr/>
          </p:nvCxnSpPr>
          <p:spPr>
            <a:xfrm flipV="1">
              <a:off x="8012586" y="3484870"/>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114" name="直接箭头连接符 113"/>
            <p:cNvCxnSpPr>
              <a:stCxn id="96" idx="0"/>
              <a:endCxn id="112" idx="4"/>
            </p:cNvCxnSpPr>
            <p:nvPr/>
          </p:nvCxnSpPr>
          <p:spPr>
            <a:xfrm flipV="1">
              <a:off x="8727996" y="3484870"/>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115" name="直接箭头连接符 114"/>
            <p:cNvCxnSpPr>
              <a:stCxn id="97" idx="0"/>
              <a:endCxn id="110" idx="4"/>
            </p:cNvCxnSpPr>
            <p:nvPr/>
          </p:nvCxnSpPr>
          <p:spPr>
            <a:xfrm flipH="1" flipV="1">
              <a:off x="8016933" y="3459324"/>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16" name="直接箭头连接符 115"/>
            <p:cNvCxnSpPr>
              <a:stCxn id="110" idx="0"/>
              <a:endCxn id="88" idx="4"/>
            </p:cNvCxnSpPr>
            <p:nvPr/>
          </p:nvCxnSpPr>
          <p:spPr>
            <a:xfrm flipV="1">
              <a:off x="8016933" y="2527867"/>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117" name="直接箭头连接符 116"/>
            <p:cNvCxnSpPr>
              <a:stCxn id="110" idx="0"/>
              <a:endCxn id="87" idx="4"/>
            </p:cNvCxnSpPr>
            <p:nvPr/>
          </p:nvCxnSpPr>
          <p:spPr>
            <a:xfrm flipV="1">
              <a:off x="8016933" y="2502321"/>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118" name="直接箭头连接符 117"/>
            <p:cNvCxnSpPr>
              <a:stCxn id="111" idx="0"/>
              <a:endCxn id="88" idx="4"/>
            </p:cNvCxnSpPr>
            <p:nvPr/>
          </p:nvCxnSpPr>
          <p:spPr>
            <a:xfrm flipH="1" flipV="1">
              <a:off x="8284702" y="2527867"/>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119" name="直接箭头连接符 118"/>
            <p:cNvCxnSpPr>
              <a:stCxn id="111" idx="0"/>
              <a:endCxn id="87" idx="4"/>
            </p:cNvCxnSpPr>
            <p:nvPr/>
          </p:nvCxnSpPr>
          <p:spPr>
            <a:xfrm flipV="1">
              <a:off x="8732343" y="2502321"/>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120" name="直接箭头连接符 119"/>
            <p:cNvCxnSpPr>
              <a:stCxn id="112" idx="0"/>
              <a:endCxn id="88" idx="4"/>
            </p:cNvCxnSpPr>
            <p:nvPr/>
          </p:nvCxnSpPr>
          <p:spPr>
            <a:xfrm flipH="1" flipV="1">
              <a:off x="8284702" y="2527867"/>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121" name="直接箭头连接符 120"/>
            <p:cNvCxnSpPr>
              <a:stCxn id="112" idx="0"/>
              <a:endCxn id="87" idx="4"/>
            </p:cNvCxnSpPr>
            <p:nvPr/>
          </p:nvCxnSpPr>
          <p:spPr>
            <a:xfrm flipH="1" flipV="1">
              <a:off x="9932046" y="2502321"/>
              <a:ext cx="340735" cy="69489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122" name="文本框 121"/>
                <p:cNvSpPr txBox="1"/>
                <p:nvPr/>
              </p:nvSpPr>
              <p:spPr>
                <a:xfrm>
                  <a:off x="7453822" y="5790012"/>
                  <a:ext cx="3875315" cy="4241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122" name="文本框 121"/>
                <p:cNvSpPr txBox="1">
                  <a:spLocks noRot="1" noChangeAspect="1" noMove="1" noResize="1" noEditPoints="1" noAdjustHandles="1" noChangeArrowheads="1" noChangeShapeType="1" noTextEdit="1"/>
                </p:cNvSpPr>
                <p:nvPr/>
              </p:nvSpPr>
              <p:spPr>
                <a:xfrm>
                  <a:off x="7453822" y="5790012"/>
                  <a:ext cx="3875315" cy="424194"/>
                </a:xfrm>
                <a:prstGeom prst="rect">
                  <a:avLst/>
                </a:prstGeom>
                <a:blipFill>
                  <a:blip r:embed="rId2"/>
                  <a:stretch>
                    <a:fillRect/>
                  </a:stretch>
                </a:blipFill>
              </p:spPr>
              <p:txBody>
                <a:bodyPr/>
                <a:lstStyle/>
                <a:p>
                  <a:r>
                    <a:rPr lang="zh-TW" altLang="en-US">
                      <a:noFill/>
                    </a:rPr>
                    <a:t> </a:t>
                  </a:r>
                </a:p>
              </p:txBody>
            </p:sp>
          </mc:Fallback>
        </mc:AlternateContent>
        <p:sp>
          <p:nvSpPr>
            <p:cNvPr id="123" name="文本框 173"/>
            <p:cNvSpPr txBox="1"/>
            <p:nvPr/>
          </p:nvSpPr>
          <p:spPr>
            <a:xfrm>
              <a:off x="9455737" y="5407369"/>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4" name="文本框 173"/>
            <p:cNvSpPr txBox="1"/>
            <p:nvPr/>
          </p:nvSpPr>
          <p:spPr>
            <a:xfrm>
              <a:off x="9130121" y="4165264"/>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5" name="文本框 173"/>
            <p:cNvSpPr txBox="1"/>
            <p:nvPr/>
          </p:nvSpPr>
          <p:spPr>
            <a:xfrm>
              <a:off x="9021280" y="2092773"/>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6" name="文本框 173"/>
            <p:cNvSpPr txBox="1"/>
            <p:nvPr/>
          </p:nvSpPr>
          <p:spPr>
            <a:xfrm>
              <a:off x="9181906" y="3102948"/>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127" name="直接箭头连接符 126"/>
            <p:cNvCxnSpPr/>
            <p:nvPr/>
          </p:nvCxnSpPr>
          <p:spPr>
            <a:xfrm flipH="1" flipV="1">
              <a:off x="8860398" y="1747483"/>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128" name="椭圆 127"/>
            <p:cNvSpPr/>
            <p:nvPr/>
          </p:nvSpPr>
          <p:spPr>
            <a:xfrm>
              <a:off x="8727701"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29" name="直接箭头连接符 128"/>
            <p:cNvCxnSpPr>
              <a:stCxn id="110" idx="0"/>
              <a:endCxn id="128" idx="4"/>
            </p:cNvCxnSpPr>
            <p:nvPr/>
          </p:nvCxnSpPr>
          <p:spPr>
            <a:xfrm flipV="1">
              <a:off x="8016933" y="2527867"/>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130" name="直接箭头连接符 129"/>
            <p:cNvCxnSpPr>
              <a:stCxn id="111" idx="0"/>
              <a:endCxn id="128" idx="4"/>
            </p:cNvCxnSpPr>
            <p:nvPr/>
          </p:nvCxnSpPr>
          <p:spPr>
            <a:xfrm flipV="1">
              <a:off x="8732343" y="2527867"/>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131" name="直接箭头连接符 130"/>
            <p:cNvCxnSpPr>
              <a:stCxn id="112" idx="0"/>
              <a:endCxn id="128" idx="4"/>
            </p:cNvCxnSpPr>
            <p:nvPr/>
          </p:nvCxnSpPr>
          <p:spPr>
            <a:xfrm flipH="1" flipV="1">
              <a:off x="8866968" y="2527867"/>
              <a:ext cx="1405813" cy="66935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mc:Choice xmlns:a14="http://schemas.microsoft.com/office/drawing/2010/main" Requires="a14">
            <p:sp>
              <p:nvSpPr>
                <p:cNvPr id="132" name="文本框 131"/>
                <p:cNvSpPr txBox="1"/>
                <p:nvPr/>
              </p:nvSpPr>
              <p:spPr>
                <a:xfrm>
                  <a:off x="8012586" y="1251824"/>
                  <a:ext cx="2395115" cy="4241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2 </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𝑜</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132" name="文本框 131"/>
                <p:cNvSpPr txBox="1">
                  <a:spLocks noRot="1" noChangeAspect="1" noMove="1" noResize="1" noEditPoints="1" noAdjustHandles="1" noChangeArrowheads="1" noChangeShapeType="1" noTextEdit="1"/>
                </p:cNvSpPr>
                <p:nvPr/>
              </p:nvSpPr>
              <p:spPr>
                <a:xfrm>
                  <a:off x="8012586" y="1251824"/>
                  <a:ext cx="2395115" cy="424194"/>
                </a:xfrm>
                <a:prstGeom prst="rect">
                  <a:avLst/>
                </a:prstGeom>
                <a:blipFill>
                  <a:blip r:embed="rId3"/>
                  <a:stretch>
                    <a:fillRect/>
                  </a:stretch>
                </a:blipFill>
              </p:spPr>
              <p:txBody>
                <a:bodyPr/>
                <a:lstStyle/>
                <a:p>
                  <a:r>
                    <a:rPr lang="zh-TW" altLang="en-US">
                      <a:noFill/>
                    </a:rPr>
                    <a:t> </a:t>
                  </a:r>
                </a:p>
              </p:txBody>
            </p:sp>
          </mc:Fallback>
        </mc:AlternateContent>
      </p:grpSp>
      <p:sp>
        <p:nvSpPr>
          <p:cNvPr id="133" name="内容占位符 2"/>
          <p:cNvSpPr>
            <a:spLocks noGrp="1"/>
          </p:cNvSpPr>
          <p:nvPr>
            <p:ph sz="quarter" idx="1"/>
          </p:nvPr>
        </p:nvSpPr>
        <p:spPr>
          <a:xfrm>
            <a:off x="1219200" y="1447800"/>
            <a:ext cx="10363200" cy="4572000"/>
          </a:xfrm>
        </p:spPr>
        <p:txBody>
          <a:bodyPr/>
          <a:lstStyle/>
          <a:p>
            <a:endParaRPr lang="en-US" altLang="zh-CN" dirty="0"/>
          </a:p>
          <a:p>
            <a:r>
              <a:rPr lang="zh-CN" altLang="en-US" dirty="0"/>
              <a:t>全連接網路的不足</a:t>
            </a:r>
            <a:endParaRPr lang="en-US" altLang="zh-CN" dirty="0"/>
          </a:p>
          <a:p>
            <a:pPr lvl="1"/>
            <a:r>
              <a:rPr lang="zh-CN" altLang="en-US" dirty="0"/>
              <a:t>連接權重過多</a:t>
            </a:r>
            <a:endParaRPr lang="en-US" altLang="zh-CN" dirty="0"/>
          </a:p>
          <a:p>
            <a:pPr lvl="1"/>
            <a:r>
              <a:rPr lang="zh-CN" altLang="en-US" dirty="0"/>
              <a:t>影響訓練速度</a:t>
            </a:r>
            <a:endParaRPr lang="en-US" altLang="zh-CN" dirty="0"/>
          </a:p>
          <a:p>
            <a:pPr lvl="1"/>
            <a:r>
              <a:rPr lang="zh-CN" altLang="en-US" dirty="0"/>
              <a:t>影響使用速度</a:t>
            </a:r>
          </a:p>
        </p:txBody>
      </p:sp>
    </p:spTree>
    <p:extLst>
      <p:ext uri="{BB962C8B-B14F-4D97-AF65-F5344CB8AC3E}">
        <p14:creationId xmlns:p14="http://schemas.microsoft.com/office/powerpoint/2010/main" val="2123467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8FC82D3-E730-EC29-D99E-68778A6FB13F}"/>
              </a:ext>
            </a:extLst>
          </p:cNvPr>
          <p:cNvPicPr>
            <a:picLocks noChangeAspect="1"/>
          </p:cNvPicPr>
          <p:nvPr/>
        </p:nvPicPr>
        <p:blipFill rotWithShape="1">
          <a:blip r:embed="rId3"/>
          <a:srcRect l="9825" r="49191"/>
          <a:stretch/>
        </p:blipFill>
        <p:spPr>
          <a:xfrm>
            <a:off x="2591204" y="2143943"/>
            <a:ext cx="4124229" cy="3722515"/>
          </a:xfrm>
          <a:prstGeom prst="rect">
            <a:avLst/>
          </a:prstGeom>
        </p:spPr>
      </p:pic>
      <p:sp>
        <p:nvSpPr>
          <p:cNvPr id="2" name="标题 1"/>
          <p:cNvSpPr>
            <a:spLocks noGrp="1"/>
          </p:cNvSpPr>
          <p:nvPr>
            <p:ph type="title"/>
          </p:nvPr>
        </p:nvSpPr>
        <p:spPr/>
        <p:txBody>
          <a:bodyPr/>
          <a:lstStyle/>
          <a:p>
            <a:r>
              <a:rPr lang="zh-CN" altLang="en-US" dirty="0"/>
              <a:t>提取局部模式</a:t>
            </a:r>
          </a:p>
        </p:txBody>
      </p:sp>
      <p:sp>
        <p:nvSpPr>
          <p:cNvPr id="5" name="椭圆 4"/>
          <p:cNvSpPr/>
          <p:nvPr/>
        </p:nvSpPr>
        <p:spPr>
          <a:xfrm>
            <a:off x="3117669" y="2158803"/>
            <a:ext cx="1010194" cy="488603"/>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椭圆 5"/>
          <p:cNvSpPr/>
          <p:nvPr/>
        </p:nvSpPr>
        <p:spPr>
          <a:xfrm>
            <a:off x="4522197" y="4605910"/>
            <a:ext cx="1010194" cy="488603"/>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8217080" y="2325192"/>
            <a:ext cx="1667149" cy="627017"/>
          </a:xfrm>
          <a:prstGeom prst="rect">
            <a:avLst/>
          </a:prstGeom>
          <a:ln w="28575">
            <a:solidFill>
              <a:srgbClr val="FF00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邊緣資訊</a:t>
            </a:r>
          </a:p>
        </p:txBody>
      </p:sp>
      <p:sp>
        <p:nvSpPr>
          <p:cNvPr id="15" name="任意多边形 14"/>
          <p:cNvSpPr/>
          <p:nvPr/>
        </p:nvSpPr>
        <p:spPr>
          <a:xfrm>
            <a:off x="3753395" y="1461311"/>
            <a:ext cx="4441372" cy="1177390"/>
          </a:xfrm>
          <a:custGeom>
            <a:avLst/>
            <a:gdLst>
              <a:gd name="connsiteX0" fmla="*/ 0 w 5033555"/>
              <a:gd name="connsiteY0" fmla="*/ 585207 h 1177390"/>
              <a:gd name="connsiteX1" fmla="*/ 452846 w 5033555"/>
              <a:gd name="connsiteY1" fmla="*/ 271699 h 1177390"/>
              <a:gd name="connsiteX2" fmla="*/ 1132115 w 5033555"/>
              <a:gd name="connsiteY2" fmla="*/ 62693 h 1177390"/>
              <a:gd name="connsiteX3" fmla="*/ 2011680 w 5033555"/>
              <a:gd name="connsiteY3" fmla="*/ 1733 h 1177390"/>
              <a:gd name="connsiteX4" fmla="*/ 3082835 w 5033555"/>
              <a:gd name="connsiteY4" fmla="*/ 114944 h 1177390"/>
              <a:gd name="connsiteX5" fmla="*/ 3971109 w 5033555"/>
              <a:gd name="connsiteY5" fmla="*/ 402327 h 1177390"/>
              <a:gd name="connsiteX6" fmla="*/ 4615543 w 5033555"/>
              <a:gd name="connsiteY6" fmla="*/ 802921 h 1177390"/>
              <a:gd name="connsiteX7" fmla="*/ 5033555 w 5033555"/>
              <a:gd name="connsiteY7" fmla="*/ 1177390 h 1177390"/>
              <a:gd name="connsiteX8" fmla="*/ 5033555 w 5033555"/>
              <a:gd name="connsiteY8" fmla="*/ 1177390 h 1177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33555" h="1177390">
                <a:moveTo>
                  <a:pt x="0" y="585207"/>
                </a:moveTo>
                <a:cubicBezTo>
                  <a:pt x="132080" y="471996"/>
                  <a:pt x="264160" y="358785"/>
                  <a:pt x="452846" y="271699"/>
                </a:cubicBezTo>
                <a:cubicBezTo>
                  <a:pt x="641532" y="184613"/>
                  <a:pt x="872309" y="107687"/>
                  <a:pt x="1132115" y="62693"/>
                </a:cubicBezTo>
                <a:cubicBezTo>
                  <a:pt x="1391921" y="17699"/>
                  <a:pt x="1686560" y="-6975"/>
                  <a:pt x="2011680" y="1733"/>
                </a:cubicBezTo>
                <a:cubicBezTo>
                  <a:pt x="2336800" y="10441"/>
                  <a:pt x="2756264" y="48178"/>
                  <a:pt x="3082835" y="114944"/>
                </a:cubicBezTo>
                <a:cubicBezTo>
                  <a:pt x="3409406" y="181710"/>
                  <a:pt x="3715658" y="287664"/>
                  <a:pt x="3971109" y="402327"/>
                </a:cubicBezTo>
                <a:cubicBezTo>
                  <a:pt x="4226560" y="516990"/>
                  <a:pt x="4438469" y="673744"/>
                  <a:pt x="4615543" y="802921"/>
                </a:cubicBezTo>
                <a:cubicBezTo>
                  <a:pt x="4792617" y="932098"/>
                  <a:pt x="5033555" y="1177390"/>
                  <a:pt x="5033555" y="1177390"/>
                </a:cubicBezTo>
                <a:lnTo>
                  <a:pt x="5033555" y="1177390"/>
                </a:lnTo>
              </a:path>
            </a:pathLst>
          </a:custGeom>
          <a:noFill/>
          <a:ln w="38100">
            <a:solidFill>
              <a:srgbClr val="FF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7" name="任意多边形 16"/>
          <p:cNvSpPr/>
          <p:nvPr/>
        </p:nvSpPr>
        <p:spPr>
          <a:xfrm>
            <a:off x="5669281" y="2751909"/>
            <a:ext cx="2490651" cy="2063931"/>
          </a:xfrm>
          <a:custGeom>
            <a:avLst/>
            <a:gdLst>
              <a:gd name="connsiteX0" fmla="*/ 2490651 w 2490651"/>
              <a:gd name="connsiteY0" fmla="*/ 0 h 2063931"/>
              <a:gd name="connsiteX1" fmla="*/ 2185851 w 2490651"/>
              <a:gd name="connsiteY1" fmla="*/ 809897 h 2063931"/>
              <a:gd name="connsiteX2" fmla="*/ 1602377 w 2490651"/>
              <a:gd name="connsiteY2" fmla="*/ 1454331 h 2063931"/>
              <a:gd name="connsiteX3" fmla="*/ 827314 w 2490651"/>
              <a:gd name="connsiteY3" fmla="*/ 1881051 h 2063931"/>
              <a:gd name="connsiteX4" fmla="*/ 0 w 2490651"/>
              <a:gd name="connsiteY4" fmla="*/ 2063931 h 2063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0651" h="2063931">
                <a:moveTo>
                  <a:pt x="2490651" y="0"/>
                </a:moveTo>
                <a:cubicBezTo>
                  <a:pt x="2412274" y="283754"/>
                  <a:pt x="2333897" y="567509"/>
                  <a:pt x="2185851" y="809897"/>
                </a:cubicBezTo>
                <a:cubicBezTo>
                  <a:pt x="2037805" y="1052285"/>
                  <a:pt x="1828800" y="1275805"/>
                  <a:pt x="1602377" y="1454331"/>
                </a:cubicBezTo>
                <a:cubicBezTo>
                  <a:pt x="1375954" y="1632857"/>
                  <a:pt x="1094377" y="1779451"/>
                  <a:pt x="827314" y="1881051"/>
                </a:cubicBezTo>
                <a:cubicBezTo>
                  <a:pt x="560251" y="1982651"/>
                  <a:pt x="280125" y="2023291"/>
                  <a:pt x="0" y="2063931"/>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cxnSp>
        <p:nvCxnSpPr>
          <p:cNvPr id="19" name="直接连接符 18"/>
          <p:cNvCxnSpPr/>
          <p:nvPr/>
        </p:nvCxnSpPr>
        <p:spPr>
          <a:xfrm flipV="1">
            <a:off x="3210924" y="2376976"/>
            <a:ext cx="804152" cy="1"/>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4644026" y="4824085"/>
            <a:ext cx="804152" cy="1"/>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899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5" grpId="0" animBg="1"/>
      <p:bldP spid="1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表格 40"/>
          <p:cNvGraphicFramePr>
            <a:graphicFrameLocks noGrp="1"/>
          </p:cNvGraphicFramePr>
          <p:nvPr/>
        </p:nvGraphicFramePr>
        <p:xfrm>
          <a:off x="1747838" y="1428204"/>
          <a:ext cx="1726883" cy="1706880"/>
        </p:xfrm>
        <a:graphic>
          <a:graphicData uri="http://schemas.openxmlformats.org/drawingml/2006/table">
            <a:tbl>
              <a:tblPr firstRow="1" firstCol="1" bandRow="1"/>
              <a:tblGrid>
                <a:gridCol w="346120">
                  <a:extLst>
                    <a:ext uri="{9D8B030D-6E8A-4147-A177-3AD203B41FA5}">
                      <a16:colId xmlns:a16="http://schemas.microsoft.com/office/drawing/2014/main" val="1205115756"/>
                    </a:ext>
                  </a:extLst>
                </a:gridCol>
                <a:gridCol w="346120">
                  <a:extLst>
                    <a:ext uri="{9D8B030D-6E8A-4147-A177-3AD203B41FA5}">
                      <a16:colId xmlns:a16="http://schemas.microsoft.com/office/drawing/2014/main" val="3619789781"/>
                    </a:ext>
                  </a:extLst>
                </a:gridCol>
                <a:gridCol w="344881">
                  <a:extLst>
                    <a:ext uri="{9D8B030D-6E8A-4147-A177-3AD203B41FA5}">
                      <a16:colId xmlns:a16="http://schemas.microsoft.com/office/drawing/2014/main" val="214093591"/>
                    </a:ext>
                  </a:extLst>
                </a:gridCol>
                <a:gridCol w="344881">
                  <a:extLst>
                    <a:ext uri="{9D8B030D-6E8A-4147-A177-3AD203B41FA5}">
                      <a16:colId xmlns:a16="http://schemas.microsoft.com/office/drawing/2014/main" val="3859110971"/>
                    </a:ext>
                  </a:extLst>
                </a:gridCol>
                <a:gridCol w="344881">
                  <a:extLst>
                    <a:ext uri="{9D8B030D-6E8A-4147-A177-3AD203B41FA5}">
                      <a16:colId xmlns:a16="http://schemas.microsoft.com/office/drawing/2014/main" val="894518463"/>
                    </a:ext>
                  </a:extLst>
                </a:gridCol>
              </a:tblGrid>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280097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9</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06012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6</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951471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8541247"/>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424259"/>
                  </a:ext>
                </a:extLst>
              </a:tr>
            </a:tbl>
          </a:graphicData>
        </a:graphic>
      </p:graphicFrame>
      <p:graphicFrame>
        <p:nvGraphicFramePr>
          <p:cNvPr id="44" name="表格 43"/>
          <p:cNvGraphicFramePr>
            <a:graphicFrameLocks noGrp="1"/>
          </p:cNvGraphicFramePr>
          <p:nvPr/>
        </p:nvGraphicFramePr>
        <p:xfrm>
          <a:off x="5399315" y="2947848"/>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2906085491"/>
                    </a:ext>
                  </a:extLst>
                </a:gridCol>
                <a:gridCol w="340040">
                  <a:extLst>
                    <a:ext uri="{9D8B030D-6E8A-4147-A177-3AD203B41FA5}">
                      <a16:colId xmlns:a16="http://schemas.microsoft.com/office/drawing/2014/main" val="1955402845"/>
                    </a:ext>
                  </a:extLst>
                </a:gridCol>
                <a:gridCol w="338822">
                  <a:extLst>
                    <a:ext uri="{9D8B030D-6E8A-4147-A177-3AD203B41FA5}">
                      <a16:colId xmlns:a16="http://schemas.microsoft.com/office/drawing/2014/main" val="2646022527"/>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47910"/>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9858911"/>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7578730"/>
                  </a:ext>
                </a:extLst>
              </a:tr>
            </a:tbl>
          </a:graphicData>
        </a:graphic>
      </p:graphicFrame>
      <p:graphicFrame>
        <p:nvGraphicFramePr>
          <p:cNvPr id="46" name="表格 45"/>
          <p:cNvGraphicFramePr>
            <a:graphicFrameLocks noGrp="1"/>
          </p:cNvGraphicFramePr>
          <p:nvPr/>
        </p:nvGraphicFramePr>
        <p:xfrm>
          <a:off x="8586653" y="4332510"/>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3047243529"/>
                    </a:ext>
                  </a:extLst>
                </a:gridCol>
                <a:gridCol w="340040">
                  <a:extLst>
                    <a:ext uri="{9D8B030D-6E8A-4147-A177-3AD203B41FA5}">
                      <a16:colId xmlns:a16="http://schemas.microsoft.com/office/drawing/2014/main" val="1565311989"/>
                    </a:ext>
                  </a:extLst>
                </a:gridCol>
                <a:gridCol w="338822">
                  <a:extLst>
                    <a:ext uri="{9D8B030D-6E8A-4147-A177-3AD203B41FA5}">
                      <a16:colId xmlns:a16="http://schemas.microsoft.com/office/drawing/2014/main" val="4041907410"/>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01745"/>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737782"/>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993772"/>
                  </a:ext>
                </a:extLst>
              </a:tr>
            </a:tbl>
          </a:graphicData>
        </a:graphic>
      </p:graphicFrame>
      <p:cxnSp>
        <p:nvCxnSpPr>
          <p:cNvPr id="48" name="直接连接符 47"/>
          <p:cNvCxnSpPr/>
          <p:nvPr/>
        </p:nvCxnSpPr>
        <p:spPr>
          <a:xfrm>
            <a:off x="1747838" y="1428204"/>
            <a:ext cx="3651477"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766740" y="1428204"/>
            <a:ext cx="3651477"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739128" y="2451462"/>
            <a:ext cx="3651477"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2775450" y="2447109"/>
            <a:ext cx="3651477" cy="1519644"/>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426927" y="2947848"/>
            <a:ext cx="2499360" cy="138466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435637" y="3966753"/>
            <a:ext cx="2481940" cy="692331"/>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390605" y="2936966"/>
            <a:ext cx="3196048" cy="14042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5399315" y="3966753"/>
            <a:ext cx="3187338" cy="702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2" name="文本框 199"/>
          <p:cNvSpPr txBox="1"/>
          <p:nvPr/>
        </p:nvSpPr>
        <p:spPr>
          <a:xfrm>
            <a:off x="8126594" y="5608862"/>
            <a:ext cx="1939019" cy="43488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輸出（匹配結果）</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3" name="文本框 196"/>
          <p:cNvSpPr txBox="1"/>
          <p:nvPr/>
        </p:nvSpPr>
        <p:spPr>
          <a:xfrm>
            <a:off x="5464766" y="2160269"/>
            <a:ext cx="1580467"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權重（模式）</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4" name="文本框 198"/>
          <p:cNvSpPr txBox="1"/>
          <p:nvPr/>
        </p:nvSpPr>
        <p:spPr>
          <a:xfrm>
            <a:off x="2015014" y="857658"/>
            <a:ext cx="760436" cy="42408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輸入</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5" name="文本框 200"/>
          <p:cNvSpPr txBox="1"/>
          <p:nvPr/>
        </p:nvSpPr>
        <p:spPr>
          <a:xfrm>
            <a:off x="1597619" y="4059049"/>
            <a:ext cx="2531561" cy="93531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(-1)*2+0*1+1*0</a:t>
            </a:r>
            <a:endParaRPr kumimoji="0" lang="zh-CN" altLang="en-US" sz="32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+(-1)*9+0*5+1*4</a:t>
            </a:r>
            <a:endParaRPr kumimoji="0" lang="zh-CN" altLang="en-US" sz="32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+(-1)*2+0*3+1*4 = -5</a:t>
            </a:r>
            <a:endParaRPr kumimoji="0" lang="zh-CN" altLang="en-US" sz="32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137641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表格 40"/>
          <p:cNvGraphicFramePr>
            <a:graphicFrameLocks noGrp="1"/>
          </p:cNvGraphicFramePr>
          <p:nvPr/>
        </p:nvGraphicFramePr>
        <p:xfrm>
          <a:off x="1747838" y="1428204"/>
          <a:ext cx="1726883" cy="1706880"/>
        </p:xfrm>
        <a:graphic>
          <a:graphicData uri="http://schemas.openxmlformats.org/drawingml/2006/table">
            <a:tbl>
              <a:tblPr firstRow="1" firstCol="1" bandRow="1"/>
              <a:tblGrid>
                <a:gridCol w="346120">
                  <a:extLst>
                    <a:ext uri="{9D8B030D-6E8A-4147-A177-3AD203B41FA5}">
                      <a16:colId xmlns:a16="http://schemas.microsoft.com/office/drawing/2014/main" val="1205115756"/>
                    </a:ext>
                  </a:extLst>
                </a:gridCol>
                <a:gridCol w="346120">
                  <a:extLst>
                    <a:ext uri="{9D8B030D-6E8A-4147-A177-3AD203B41FA5}">
                      <a16:colId xmlns:a16="http://schemas.microsoft.com/office/drawing/2014/main" val="3619789781"/>
                    </a:ext>
                  </a:extLst>
                </a:gridCol>
                <a:gridCol w="344881">
                  <a:extLst>
                    <a:ext uri="{9D8B030D-6E8A-4147-A177-3AD203B41FA5}">
                      <a16:colId xmlns:a16="http://schemas.microsoft.com/office/drawing/2014/main" val="214093591"/>
                    </a:ext>
                  </a:extLst>
                </a:gridCol>
                <a:gridCol w="344881">
                  <a:extLst>
                    <a:ext uri="{9D8B030D-6E8A-4147-A177-3AD203B41FA5}">
                      <a16:colId xmlns:a16="http://schemas.microsoft.com/office/drawing/2014/main" val="3859110971"/>
                    </a:ext>
                  </a:extLst>
                </a:gridCol>
                <a:gridCol w="344881">
                  <a:extLst>
                    <a:ext uri="{9D8B030D-6E8A-4147-A177-3AD203B41FA5}">
                      <a16:colId xmlns:a16="http://schemas.microsoft.com/office/drawing/2014/main" val="894518463"/>
                    </a:ext>
                  </a:extLst>
                </a:gridCol>
              </a:tblGrid>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280097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9</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06012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6</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951471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8541247"/>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424259"/>
                  </a:ext>
                </a:extLst>
              </a:tr>
            </a:tbl>
          </a:graphicData>
        </a:graphic>
      </p:graphicFrame>
      <p:graphicFrame>
        <p:nvGraphicFramePr>
          <p:cNvPr id="44" name="表格 43"/>
          <p:cNvGraphicFramePr>
            <a:graphicFrameLocks noGrp="1"/>
          </p:cNvGraphicFramePr>
          <p:nvPr/>
        </p:nvGraphicFramePr>
        <p:xfrm>
          <a:off x="5399315" y="2947848"/>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2906085491"/>
                    </a:ext>
                  </a:extLst>
                </a:gridCol>
                <a:gridCol w="340040">
                  <a:extLst>
                    <a:ext uri="{9D8B030D-6E8A-4147-A177-3AD203B41FA5}">
                      <a16:colId xmlns:a16="http://schemas.microsoft.com/office/drawing/2014/main" val="1955402845"/>
                    </a:ext>
                  </a:extLst>
                </a:gridCol>
                <a:gridCol w="338822">
                  <a:extLst>
                    <a:ext uri="{9D8B030D-6E8A-4147-A177-3AD203B41FA5}">
                      <a16:colId xmlns:a16="http://schemas.microsoft.com/office/drawing/2014/main" val="2646022527"/>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47910"/>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9858911"/>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7578730"/>
                  </a:ext>
                </a:extLst>
              </a:tr>
            </a:tbl>
          </a:graphicData>
        </a:graphic>
      </p:graphicFrame>
      <p:graphicFrame>
        <p:nvGraphicFramePr>
          <p:cNvPr id="46" name="表格 45"/>
          <p:cNvGraphicFramePr>
            <a:graphicFrameLocks noGrp="1"/>
          </p:cNvGraphicFramePr>
          <p:nvPr/>
        </p:nvGraphicFramePr>
        <p:xfrm>
          <a:off x="8586653" y="4332510"/>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3047243529"/>
                    </a:ext>
                  </a:extLst>
                </a:gridCol>
                <a:gridCol w="340040">
                  <a:extLst>
                    <a:ext uri="{9D8B030D-6E8A-4147-A177-3AD203B41FA5}">
                      <a16:colId xmlns:a16="http://schemas.microsoft.com/office/drawing/2014/main" val="1565311989"/>
                    </a:ext>
                  </a:extLst>
                </a:gridCol>
                <a:gridCol w="338822">
                  <a:extLst>
                    <a:ext uri="{9D8B030D-6E8A-4147-A177-3AD203B41FA5}">
                      <a16:colId xmlns:a16="http://schemas.microsoft.com/office/drawing/2014/main" val="4041907410"/>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01745"/>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737782"/>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993772"/>
                  </a:ext>
                </a:extLst>
              </a:tr>
            </a:tbl>
          </a:graphicData>
        </a:graphic>
      </p:graphicFrame>
      <p:cxnSp>
        <p:nvCxnSpPr>
          <p:cNvPr id="48" name="直接连接符 47"/>
          <p:cNvCxnSpPr/>
          <p:nvPr/>
        </p:nvCxnSpPr>
        <p:spPr>
          <a:xfrm>
            <a:off x="2116183" y="1428204"/>
            <a:ext cx="3283132"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3126377" y="1428204"/>
            <a:ext cx="3291840"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116183" y="2447109"/>
            <a:ext cx="3274422" cy="152399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3126377" y="2447109"/>
            <a:ext cx="3300550" cy="1519644"/>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426927" y="2947848"/>
            <a:ext cx="2821576" cy="13933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435637" y="3966753"/>
            <a:ext cx="2812866" cy="702126"/>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390605" y="2936966"/>
            <a:ext cx="3526972" cy="14042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5399315" y="3966753"/>
            <a:ext cx="3518262" cy="702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2" name="文本框 199"/>
          <p:cNvSpPr txBox="1"/>
          <p:nvPr/>
        </p:nvSpPr>
        <p:spPr>
          <a:xfrm>
            <a:off x="8126594" y="5608862"/>
            <a:ext cx="1939019" cy="43488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輸出（匹配結果）</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3" name="文本框 196"/>
          <p:cNvSpPr txBox="1"/>
          <p:nvPr/>
        </p:nvSpPr>
        <p:spPr>
          <a:xfrm>
            <a:off x="5464766" y="2160269"/>
            <a:ext cx="1580467"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權重（模式）</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4" name="文本框 198"/>
          <p:cNvSpPr txBox="1"/>
          <p:nvPr/>
        </p:nvSpPr>
        <p:spPr>
          <a:xfrm>
            <a:off x="2015014" y="857658"/>
            <a:ext cx="760436" cy="42408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輸入</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418565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表格 40"/>
          <p:cNvGraphicFramePr>
            <a:graphicFrameLocks noGrp="1"/>
          </p:cNvGraphicFramePr>
          <p:nvPr/>
        </p:nvGraphicFramePr>
        <p:xfrm>
          <a:off x="1747838" y="1428204"/>
          <a:ext cx="1726883" cy="1706880"/>
        </p:xfrm>
        <a:graphic>
          <a:graphicData uri="http://schemas.openxmlformats.org/drawingml/2006/table">
            <a:tbl>
              <a:tblPr firstRow="1" firstCol="1" bandRow="1"/>
              <a:tblGrid>
                <a:gridCol w="346120">
                  <a:extLst>
                    <a:ext uri="{9D8B030D-6E8A-4147-A177-3AD203B41FA5}">
                      <a16:colId xmlns:a16="http://schemas.microsoft.com/office/drawing/2014/main" val="1205115756"/>
                    </a:ext>
                  </a:extLst>
                </a:gridCol>
                <a:gridCol w="346120">
                  <a:extLst>
                    <a:ext uri="{9D8B030D-6E8A-4147-A177-3AD203B41FA5}">
                      <a16:colId xmlns:a16="http://schemas.microsoft.com/office/drawing/2014/main" val="3619789781"/>
                    </a:ext>
                  </a:extLst>
                </a:gridCol>
                <a:gridCol w="344881">
                  <a:extLst>
                    <a:ext uri="{9D8B030D-6E8A-4147-A177-3AD203B41FA5}">
                      <a16:colId xmlns:a16="http://schemas.microsoft.com/office/drawing/2014/main" val="214093591"/>
                    </a:ext>
                  </a:extLst>
                </a:gridCol>
                <a:gridCol w="344881">
                  <a:extLst>
                    <a:ext uri="{9D8B030D-6E8A-4147-A177-3AD203B41FA5}">
                      <a16:colId xmlns:a16="http://schemas.microsoft.com/office/drawing/2014/main" val="3859110971"/>
                    </a:ext>
                  </a:extLst>
                </a:gridCol>
                <a:gridCol w="344881">
                  <a:extLst>
                    <a:ext uri="{9D8B030D-6E8A-4147-A177-3AD203B41FA5}">
                      <a16:colId xmlns:a16="http://schemas.microsoft.com/office/drawing/2014/main" val="894518463"/>
                    </a:ext>
                  </a:extLst>
                </a:gridCol>
              </a:tblGrid>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16280097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9</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606012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6</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6951471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8541247"/>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424259"/>
                  </a:ext>
                </a:extLst>
              </a:tr>
            </a:tbl>
          </a:graphicData>
        </a:graphic>
      </p:graphicFrame>
      <p:graphicFrame>
        <p:nvGraphicFramePr>
          <p:cNvPr id="44" name="表格 43"/>
          <p:cNvGraphicFramePr>
            <a:graphicFrameLocks noGrp="1"/>
          </p:cNvGraphicFramePr>
          <p:nvPr/>
        </p:nvGraphicFramePr>
        <p:xfrm>
          <a:off x="5399315" y="2947848"/>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2906085491"/>
                    </a:ext>
                  </a:extLst>
                </a:gridCol>
                <a:gridCol w="340040">
                  <a:extLst>
                    <a:ext uri="{9D8B030D-6E8A-4147-A177-3AD203B41FA5}">
                      <a16:colId xmlns:a16="http://schemas.microsoft.com/office/drawing/2014/main" val="1955402845"/>
                    </a:ext>
                  </a:extLst>
                </a:gridCol>
                <a:gridCol w="338822">
                  <a:extLst>
                    <a:ext uri="{9D8B030D-6E8A-4147-A177-3AD203B41FA5}">
                      <a16:colId xmlns:a16="http://schemas.microsoft.com/office/drawing/2014/main" val="2646022527"/>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47910"/>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9858911"/>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7578730"/>
                  </a:ext>
                </a:extLst>
              </a:tr>
            </a:tbl>
          </a:graphicData>
        </a:graphic>
      </p:graphicFrame>
      <p:graphicFrame>
        <p:nvGraphicFramePr>
          <p:cNvPr id="46" name="表格 45"/>
          <p:cNvGraphicFramePr>
            <a:graphicFrameLocks noGrp="1"/>
          </p:cNvGraphicFramePr>
          <p:nvPr/>
        </p:nvGraphicFramePr>
        <p:xfrm>
          <a:off x="8586653" y="4332510"/>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3047243529"/>
                    </a:ext>
                  </a:extLst>
                </a:gridCol>
                <a:gridCol w="340040">
                  <a:extLst>
                    <a:ext uri="{9D8B030D-6E8A-4147-A177-3AD203B41FA5}">
                      <a16:colId xmlns:a16="http://schemas.microsoft.com/office/drawing/2014/main" val="1565311989"/>
                    </a:ext>
                  </a:extLst>
                </a:gridCol>
                <a:gridCol w="338822">
                  <a:extLst>
                    <a:ext uri="{9D8B030D-6E8A-4147-A177-3AD203B41FA5}">
                      <a16:colId xmlns:a16="http://schemas.microsoft.com/office/drawing/2014/main" val="4041907410"/>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4401745"/>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737782"/>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993772"/>
                  </a:ext>
                </a:extLst>
              </a:tr>
            </a:tbl>
          </a:graphicData>
        </a:graphic>
      </p:graphicFrame>
      <p:cxnSp>
        <p:nvCxnSpPr>
          <p:cNvPr id="48" name="直接连接符 47"/>
          <p:cNvCxnSpPr/>
          <p:nvPr/>
        </p:nvCxnSpPr>
        <p:spPr>
          <a:xfrm>
            <a:off x="2438400" y="1428204"/>
            <a:ext cx="2960915"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3474721" y="1428204"/>
            <a:ext cx="2943496"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438400" y="2451462"/>
            <a:ext cx="2952205"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3474721" y="2451462"/>
            <a:ext cx="2952206" cy="1515291"/>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426927" y="2947848"/>
            <a:ext cx="3178628" cy="13933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435637" y="3966753"/>
            <a:ext cx="3169918" cy="702126"/>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390605" y="2936966"/>
            <a:ext cx="3857898" cy="14042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5399315" y="3966753"/>
            <a:ext cx="3849188" cy="702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2" name="文本框 199"/>
          <p:cNvSpPr txBox="1"/>
          <p:nvPr/>
        </p:nvSpPr>
        <p:spPr>
          <a:xfrm>
            <a:off x="8126594" y="5608862"/>
            <a:ext cx="1939019" cy="43488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輸出（匹配結果）</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3" name="文本框 196"/>
          <p:cNvSpPr txBox="1"/>
          <p:nvPr/>
        </p:nvSpPr>
        <p:spPr>
          <a:xfrm>
            <a:off x="5464766" y="2160269"/>
            <a:ext cx="1580467"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權重（模式）</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4" name="文本框 198"/>
          <p:cNvSpPr txBox="1"/>
          <p:nvPr/>
        </p:nvSpPr>
        <p:spPr>
          <a:xfrm>
            <a:off x="2015014" y="857658"/>
            <a:ext cx="760436" cy="42408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輸入</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491977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表格 40"/>
          <p:cNvGraphicFramePr>
            <a:graphicFrameLocks noGrp="1"/>
          </p:cNvGraphicFramePr>
          <p:nvPr/>
        </p:nvGraphicFramePr>
        <p:xfrm>
          <a:off x="1747838" y="1428204"/>
          <a:ext cx="1726883" cy="1706880"/>
        </p:xfrm>
        <a:graphic>
          <a:graphicData uri="http://schemas.openxmlformats.org/drawingml/2006/table">
            <a:tbl>
              <a:tblPr firstRow="1" firstCol="1" bandRow="1"/>
              <a:tblGrid>
                <a:gridCol w="346120">
                  <a:extLst>
                    <a:ext uri="{9D8B030D-6E8A-4147-A177-3AD203B41FA5}">
                      <a16:colId xmlns:a16="http://schemas.microsoft.com/office/drawing/2014/main" val="1205115756"/>
                    </a:ext>
                  </a:extLst>
                </a:gridCol>
                <a:gridCol w="346120">
                  <a:extLst>
                    <a:ext uri="{9D8B030D-6E8A-4147-A177-3AD203B41FA5}">
                      <a16:colId xmlns:a16="http://schemas.microsoft.com/office/drawing/2014/main" val="3619789781"/>
                    </a:ext>
                  </a:extLst>
                </a:gridCol>
                <a:gridCol w="344881">
                  <a:extLst>
                    <a:ext uri="{9D8B030D-6E8A-4147-A177-3AD203B41FA5}">
                      <a16:colId xmlns:a16="http://schemas.microsoft.com/office/drawing/2014/main" val="214093591"/>
                    </a:ext>
                  </a:extLst>
                </a:gridCol>
                <a:gridCol w="344881">
                  <a:extLst>
                    <a:ext uri="{9D8B030D-6E8A-4147-A177-3AD203B41FA5}">
                      <a16:colId xmlns:a16="http://schemas.microsoft.com/office/drawing/2014/main" val="3859110971"/>
                    </a:ext>
                  </a:extLst>
                </a:gridCol>
                <a:gridCol w="344881">
                  <a:extLst>
                    <a:ext uri="{9D8B030D-6E8A-4147-A177-3AD203B41FA5}">
                      <a16:colId xmlns:a16="http://schemas.microsoft.com/office/drawing/2014/main" val="894518463"/>
                    </a:ext>
                  </a:extLst>
                </a:gridCol>
              </a:tblGrid>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280097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9</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06012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6</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951471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8541247"/>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424259"/>
                  </a:ext>
                </a:extLst>
              </a:tr>
            </a:tbl>
          </a:graphicData>
        </a:graphic>
      </p:graphicFrame>
      <p:graphicFrame>
        <p:nvGraphicFramePr>
          <p:cNvPr id="44" name="表格 43"/>
          <p:cNvGraphicFramePr>
            <a:graphicFrameLocks noGrp="1"/>
          </p:cNvGraphicFramePr>
          <p:nvPr/>
        </p:nvGraphicFramePr>
        <p:xfrm>
          <a:off x="5399315" y="2947848"/>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2906085491"/>
                    </a:ext>
                  </a:extLst>
                </a:gridCol>
                <a:gridCol w="340040">
                  <a:extLst>
                    <a:ext uri="{9D8B030D-6E8A-4147-A177-3AD203B41FA5}">
                      <a16:colId xmlns:a16="http://schemas.microsoft.com/office/drawing/2014/main" val="1955402845"/>
                    </a:ext>
                  </a:extLst>
                </a:gridCol>
                <a:gridCol w="338822">
                  <a:extLst>
                    <a:ext uri="{9D8B030D-6E8A-4147-A177-3AD203B41FA5}">
                      <a16:colId xmlns:a16="http://schemas.microsoft.com/office/drawing/2014/main" val="2646022527"/>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47910"/>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9858911"/>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7578730"/>
                  </a:ext>
                </a:extLst>
              </a:tr>
            </a:tbl>
          </a:graphicData>
        </a:graphic>
      </p:graphicFrame>
      <p:graphicFrame>
        <p:nvGraphicFramePr>
          <p:cNvPr id="46" name="表格 45"/>
          <p:cNvGraphicFramePr>
            <a:graphicFrameLocks noGrp="1"/>
          </p:cNvGraphicFramePr>
          <p:nvPr/>
        </p:nvGraphicFramePr>
        <p:xfrm>
          <a:off x="8586653" y="4332510"/>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3047243529"/>
                    </a:ext>
                  </a:extLst>
                </a:gridCol>
                <a:gridCol w="340040">
                  <a:extLst>
                    <a:ext uri="{9D8B030D-6E8A-4147-A177-3AD203B41FA5}">
                      <a16:colId xmlns:a16="http://schemas.microsoft.com/office/drawing/2014/main" val="1565311989"/>
                    </a:ext>
                  </a:extLst>
                </a:gridCol>
                <a:gridCol w="338822">
                  <a:extLst>
                    <a:ext uri="{9D8B030D-6E8A-4147-A177-3AD203B41FA5}">
                      <a16:colId xmlns:a16="http://schemas.microsoft.com/office/drawing/2014/main" val="4041907410"/>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01745"/>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737782"/>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993772"/>
                  </a:ext>
                </a:extLst>
              </a:tr>
            </a:tbl>
          </a:graphicData>
        </a:graphic>
      </p:graphicFrame>
      <p:cxnSp>
        <p:nvCxnSpPr>
          <p:cNvPr id="48" name="直接连接符 47"/>
          <p:cNvCxnSpPr/>
          <p:nvPr/>
        </p:nvCxnSpPr>
        <p:spPr>
          <a:xfrm>
            <a:off x="1747838" y="1750423"/>
            <a:ext cx="3651477" cy="11974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775450" y="1750423"/>
            <a:ext cx="3642767" cy="11974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747838" y="2804160"/>
            <a:ext cx="3642767" cy="11669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2775450" y="2804160"/>
            <a:ext cx="3651477" cy="1162593"/>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426927" y="2947848"/>
            <a:ext cx="2499360" cy="17373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435637" y="3966753"/>
            <a:ext cx="2490650" cy="1031967"/>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390605" y="2936966"/>
            <a:ext cx="3196048" cy="174824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5399315" y="3966753"/>
            <a:ext cx="3187338" cy="10319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2" name="文本框 199"/>
          <p:cNvSpPr txBox="1"/>
          <p:nvPr/>
        </p:nvSpPr>
        <p:spPr>
          <a:xfrm>
            <a:off x="8126594" y="5608862"/>
            <a:ext cx="1939019" cy="43488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輸出（匹配結果）</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3" name="文本框 196"/>
          <p:cNvSpPr txBox="1"/>
          <p:nvPr/>
        </p:nvSpPr>
        <p:spPr>
          <a:xfrm>
            <a:off x="5212218" y="2151826"/>
            <a:ext cx="1580467"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權重（模式）</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64" name="文本框 198"/>
          <p:cNvSpPr txBox="1"/>
          <p:nvPr/>
        </p:nvSpPr>
        <p:spPr>
          <a:xfrm>
            <a:off x="2015014" y="857658"/>
            <a:ext cx="760436" cy="42408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輸入</a:t>
            </a:r>
            <a:endParaRPr kumimoji="0" lang="zh-CN" altLang="en-US" sz="24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 name="椭圆 11"/>
          <p:cNvSpPr/>
          <p:nvPr/>
        </p:nvSpPr>
        <p:spPr>
          <a:xfrm>
            <a:off x="5128642" y="2668282"/>
            <a:ext cx="1548000" cy="1548000"/>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文本框 196"/>
          <p:cNvSpPr txBox="1"/>
          <p:nvPr/>
        </p:nvSpPr>
        <p:spPr>
          <a:xfrm>
            <a:off x="7399454" y="2160269"/>
            <a:ext cx="1187199"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0B0F0"/>
                </a:solidFill>
                <a:effectLst/>
                <a:uLnTx/>
                <a:uFillTx/>
                <a:latin typeface="等线" panose="02010600030101010101" pitchFamily="2" charset="-122"/>
                <a:ea typeface="等线" panose="02010600030101010101" pitchFamily="2" charset="-122"/>
                <a:cs typeface="Times New Roman" panose="02020603050405020304" pitchFamily="18" charset="0"/>
              </a:rPr>
              <a:t>捲積核</a:t>
            </a:r>
            <a:endParaRPr kumimoji="0" lang="zh-CN" altLang="en-US" sz="3200" b="1" i="0" u="none" strike="noStrike" kern="100" cap="none" spc="0" normalizeH="0" baseline="0" noProof="0" dirty="0">
              <a:ln>
                <a:noFill/>
              </a:ln>
              <a:solidFill>
                <a:srgbClr val="00B0F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14" name="直接箭头连接符 13"/>
          <p:cNvCxnSpPr/>
          <p:nvPr/>
        </p:nvCxnSpPr>
        <p:spPr>
          <a:xfrm flipH="1">
            <a:off x="6493488" y="2519222"/>
            <a:ext cx="949511" cy="340923"/>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196"/>
          <p:cNvSpPr txBox="1"/>
          <p:nvPr/>
        </p:nvSpPr>
        <p:spPr>
          <a:xfrm>
            <a:off x="1458794" y="4216282"/>
            <a:ext cx="2249643" cy="13925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rPr>
              <a:t>捲積神經網路</a:t>
            </a:r>
            <a:endParaRPr kumimoji="0" lang="en-US" altLang="zh-CN" sz="26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rPr>
              <a:t>局部連接</a:t>
            </a:r>
            <a:endParaRPr kumimoji="0" lang="en-US" altLang="zh-CN" sz="24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rPr>
              <a:t>權值共用</a:t>
            </a:r>
            <a:endParaRPr kumimoji="0" lang="en-US" altLang="zh-CN" sz="32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rPr>
              <a:t>    </a:t>
            </a:r>
            <a:endParaRPr kumimoji="0" lang="en-US" altLang="zh-CN" sz="2400" b="1" i="0" u="none" strike="noStrike" kern="100" cap="none" spc="0" normalizeH="0" baseline="0" noProof="0" dirty="0">
              <a:ln>
                <a:noFill/>
              </a:ln>
              <a:solidFill>
                <a:srgbClr val="00B05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0" name="文本框 196"/>
          <p:cNvSpPr txBox="1"/>
          <p:nvPr/>
        </p:nvSpPr>
        <p:spPr>
          <a:xfrm>
            <a:off x="7288121" y="2672791"/>
            <a:ext cx="1483288" cy="43775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0B0F0"/>
                </a:solidFill>
                <a:effectLst/>
                <a:uLnTx/>
                <a:uFillTx/>
                <a:latin typeface="等线" panose="02010600030101010101" pitchFamily="2" charset="-122"/>
                <a:ea typeface="等线" panose="02010600030101010101" pitchFamily="2" charset="-122"/>
                <a:cs typeface="Times New Roman" panose="02020603050405020304" pitchFamily="18" charset="0"/>
              </a:rPr>
              <a:t>訓練獲得</a:t>
            </a:r>
            <a:endParaRPr kumimoji="0" lang="zh-CN" altLang="en-US" sz="3200" b="1" i="0" u="none" strike="noStrike" kern="100" cap="none" spc="0" normalizeH="0" baseline="0" noProof="0" dirty="0">
              <a:ln>
                <a:noFill/>
              </a:ln>
              <a:solidFill>
                <a:srgbClr val="00B0F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28737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8" grpId="0"/>
      <p:bldP spid="31" grpId="0"/>
      <p:bldP spid="2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全連接、捲積神經網路對比</a:t>
            </a:r>
          </a:p>
        </p:txBody>
      </p:sp>
      <p:grpSp>
        <p:nvGrpSpPr>
          <p:cNvPr id="14" name="组合 13"/>
          <p:cNvGrpSpPr/>
          <p:nvPr/>
        </p:nvGrpSpPr>
        <p:grpSpPr>
          <a:xfrm>
            <a:off x="4833254" y="2386148"/>
            <a:ext cx="953589" cy="1027612"/>
            <a:chOff x="1489165" y="2002971"/>
            <a:chExt cx="953589" cy="1027612"/>
          </a:xfrm>
          <a:solidFill>
            <a:srgbClr val="FFFF00"/>
          </a:solidFill>
        </p:grpSpPr>
        <p:sp>
          <p:nvSpPr>
            <p:cNvPr id="15" name="椭圆 14"/>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 name="椭圆 15"/>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7" name="椭圆 16"/>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 name="椭圆 17"/>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 name="椭圆 18"/>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 name="椭圆 19"/>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1" name="椭圆 20"/>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2" name="椭圆 21"/>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3" name="椭圆 22"/>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40" name="组合 39"/>
          <p:cNvGrpSpPr/>
          <p:nvPr/>
        </p:nvGrpSpPr>
        <p:grpSpPr>
          <a:xfrm>
            <a:off x="905688" y="3448581"/>
            <a:ext cx="1650278" cy="1752282"/>
            <a:chOff x="1489165" y="2002971"/>
            <a:chExt cx="1650278" cy="1752282"/>
          </a:xfrm>
          <a:solidFill>
            <a:schemeClr val="tx1"/>
          </a:solidFill>
        </p:grpSpPr>
        <p:sp>
          <p:nvSpPr>
            <p:cNvPr id="4" name="椭圆 3"/>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 name="椭圆 4"/>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 name="椭圆 5"/>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 name="椭圆 6"/>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 name="椭圆 7"/>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 name="椭圆 8"/>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 name="椭圆 9"/>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 name="椭圆 10"/>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 name="椭圆 11"/>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4" name="椭圆 23"/>
            <p:cNvSpPr/>
            <p:nvPr/>
          </p:nvSpPr>
          <p:spPr>
            <a:xfrm>
              <a:off x="1502226"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 name="椭圆 24"/>
            <p:cNvSpPr/>
            <p:nvPr/>
          </p:nvSpPr>
          <p:spPr>
            <a:xfrm>
              <a:off x="1859278"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 name="椭圆 25"/>
            <p:cNvSpPr/>
            <p:nvPr/>
          </p:nvSpPr>
          <p:spPr>
            <a:xfrm>
              <a:off x="2216330"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 name="椭圆 26"/>
            <p:cNvSpPr/>
            <p:nvPr/>
          </p:nvSpPr>
          <p:spPr>
            <a:xfrm>
              <a:off x="1502226"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8" name="椭圆 27"/>
            <p:cNvSpPr/>
            <p:nvPr/>
          </p:nvSpPr>
          <p:spPr>
            <a:xfrm>
              <a:off x="1859278"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9" name="椭圆 28"/>
            <p:cNvSpPr/>
            <p:nvPr/>
          </p:nvSpPr>
          <p:spPr>
            <a:xfrm>
              <a:off x="2216330"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0" name="椭圆 29"/>
            <p:cNvSpPr/>
            <p:nvPr/>
          </p:nvSpPr>
          <p:spPr>
            <a:xfrm>
              <a:off x="2547260"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 name="椭圆 30"/>
            <p:cNvSpPr/>
            <p:nvPr/>
          </p:nvSpPr>
          <p:spPr>
            <a:xfrm>
              <a:off x="2551614"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2" name="椭圆 31"/>
            <p:cNvSpPr/>
            <p:nvPr/>
          </p:nvSpPr>
          <p:spPr>
            <a:xfrm>
              <a:off x="2547260"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3" name="椭圆 32"/>
            <p:cNvSpPr/>
            <p:nvPr/>
          </p:nvSpPr>
          <p:spPr>
            <a:xfrm>
              <a:off x="2560321"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4" name="椭圆 33"/>
            <p:cNvSpPr/>
            <p:nvPr/>
          </p:nvSpPr>
          <p:spPr>
            <a:xfrm>
              <a:off x="2560321"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5" name="椭圆 34"/>
            <p:cNvSpPr/>
            <p:nvPr/>
          </p:nvSpPr>
          <p:spPr>
            <a:xfrm>
              <a:off x="2891251"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6" name="椭圆 35"/>
            <p:cNvSpPr/>
            <p:nvPr/>
          </p:nvSpPr>
          <p:spPr>
            <a:xfrm>
              <a:off x="2895605"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7" name="椭圆 36"/>
            <p:cNvSpPr/>
            <p:nvPr/>
          </p:nvSpPr>
          <p:spPr>
            <a:xfrm>
              <a:off x="2891251"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8" name="椭圆 37"/>
            <p:cNvSpPr/>
            <p:nvPr/>
          </p:nvSpPr>
          <p:spPr>
            <a:xfrm>
              <a:off x="2904312"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9" name="椭圆 38"/>
            <p:cNvSpPr/>
            <p:nvPr/>
          </p:nvSpPr>
          <p:spPr>
            <a:xfrm>
              <a:off x="2904312"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60" name="组合 59"/>
          <p:cNvGrpSpPr/>
          <p:nvPr/>
        </p:nvGrpSpPr>
        <p:grpSpPr>
          <a:xfrm>
            <a:off x="10341440" y="2425341"/>
            <a:ext cx="953589" cy="1027612"/>
            <a:chOff x="1489165" y="2002971"/>
            <a:chExt cx="953589" cy="1027612"/>
          </a:xfrm>
          <a:solidFill>
            <a:srgbClr val="FFFF00"/>
          </a:solidFill>
        </p:grpSpPr>
        <p:sp>
          <p:nvSpPr>
            <p:cNvPr id="62" name="椭圆 61"/>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4" name="椭圆 63"/>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5" name="椭圆 64"/>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6" name="椭圆 65"/>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7" name="椭圆 66"/>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9" name="椭圆 68"/>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0" name="椭圆 69"/>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2" name="椭圆 71"/>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3" name="椭圆 72"/>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74" name="组合 73"/>
          <p:cNvGrpSpPr/>
          <p:nvPr/>
        </p:nvGrpSpPr>
        <p:grpSpPr>
          <a:xfrm>
            <a:off x="6413874" y="3487774"/>
            <a:ext cx="1650278" cy="1752282"/>
            <a:chOff x="1489165" y="2002971"/>
            <a:chExt cx="1650278" cy="1752282"/>
          </a:xfrm>
          <a:solidFill>
            <a:schemeClr val="tx1"/>
          </a:solidFill>
        </p:grpSpPr>
        <p:sp>
          <p:nvSpPr>
            <p:cNvPr id="75" name="椭圆 74"/>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6" name="椭圆 75"/>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7" name="椭圆 76"/>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8" name="椭圆 77"/>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0" name="椭圆 79"/>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1" name="椭圆 80"/>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2" name="椭圆 81"/>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3" name="椭圆 82"/>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4" name="椭圆 83"/>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5" name="椭圆 84"/>
            <p:cNvSpPr/>
            <p:nvPr/>
          </p:nvSpPr>
          <p:spPr>
            <a:xfrm>
              <a:off x="1502226"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6" name="椭圆 85"/>
            <p:cNvSpPr/>
            <p:nvPr/>
          </p:nvSpPr>
          <p:spPr>
            <a:xfrm>
              <a:off x="1859278"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7" name="椭圆 86"/>
            <p:cNvSpPr/>
            <p:nvPr/>
          </p:nvSpPr>
          <p:spPr>
            <a:xfrm>
              <a:off x="2216330"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9" name="椭圆 88"/>
            <p:cNvSpPr/>
            <p:nvPr/>
          </p:nvSpPr>
          <p:spPr>
            <a:xfrm>
              <a:off x="1502226"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1" name="椭圆 90"/>
            <p:cNvSpPr/>
            <p:nvPr/>
          </p:nvSpPr>
          <p:spPr>
            <a:xfrm>
              <a:off x="1859278"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2" name="椭圆 91"/>
            <p:cNvSpPr/>
            <p:nvPr/>
          </p:nvSpPr>
          <p:spPr>
            <a:xfrm>
              <a:off x="2216330"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3" name="椭圆 92"/>
            <p:cNvSpPr/>
            <p:nvPr/>
          </p:nvSpPr>
          <p:spPr>
            <a:xfrm>
              <a:off x="2547260"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4" name="椭圆 93"/>
            <p:cNvSpPr/>
            <p:nvPr/>
          </p:nvSpPr>
          <p:spPr>
            <a:xfrm>
              <a:off x="2551614"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5" name="椭圆 94"/>
            <p:cNvSpPr/>
            <p:nvPr/>
          </p:nvSpPr>
          <p:spPr>
            <a:xfrm>
              <a:off x="2547260"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6" name="椭圆 95"/>
            <p:cNvSpPr/>
            <p:nvPr/>
          </p:nvSpPr>
          <p:spPr>
            <a:xfrm>
              <a:off x="2560321"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7" name="椭圆 96"/>
            <p:cNvSpPr/>
            <p:nvPr/>
          </p:nvSpPr>
          <p:spPr>
            <a:xfrm>
              <a:off x="2560321"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8" name="椭圆 97"/>
            <p:cNvSpPr/>
            <p:nvPr/>
          </p:nvSpPr>
          <p:spPr>
            <a:xfrm>
              <a:off x="2891251"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9" name="椭圆 98"/>
            <p:cNvSpPr/>
            <p:nvPr/>
          </p:nvSpPr>
          <p:spPr>
            <a:xfrm>
              <a:off x="2895605"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0" name="椭圆 99"/>
            <p:cNvSpPr/>
            <p:nvPr/>
          </p:nvSpPr>
          <p:spPr>
            <a:xfrm>
              <a:off x="2891251"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1" name="椭圆 100"/>
            <p:cNvSpPr/>
            <p:nvPr/>
          </p:nvSpPr>
          <p:spPr>
            <a:xfrm>
              <a:off x="2904312"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2" name="椭圆 101"/>
            <p:cNvSpPr/>
            <p:nvPr/>
          </p:nvSpPr>
          <p:spPr>
            <a:xfrm>
              <a:off x="2904312"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103" name="组合 102"/>
          <p:cNvGrpSpPr/>
          <p:nvPr/>
        </p:nvGrpSpPr>
        <p:grpSpPr>
          <a:xfrm>
            <a:off x="6418223" y="3487779"/>
            <a:ext cx="953589" cy="1027612"/>
            <a:chOff x="1489165" y="2002971"/>
            <a:chExt cx="953589" cy="1027612"/>
          </a:xfrm>
        </p:grpSpPr>
        <p:sp>
          <p:nvSpPr>
            <p:cNvPr id="104" name="椭圆 103"/>
            <p:cNvSpPr/>
            <p:nvPr/>
          </p:nvSpPr>
          <p:spPr>
            <a:xfrm>
              <a:off x="1489165"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5" name="椭圆 104"/>
            <p:cNvSpPr/>
            <p:nvPr/>
          </p:nvSpPr>
          <p:spPr>
            <a:xfrm>
              <a:off x="1846217"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6" name="椭圆 105"/>
            <p:cNvSpPr/>
            <p:nvPr/>
          </p:nvSpPr>
          <p:spPr>
            <a:xfrm>
              <a:off x="2203269"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7" name="椭圆 106"/>
            <p:cNvSpPr/>
            <p:nvPr/>
          </p:nvSpPr>
          <p:spPr>
            <a:xfrm>
              <a:off x="1493519"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8" name="椭圆 107"/>
            <p:cNvSpPr/>
            <p:nvPr/>
          </p:nvSpPr>
          <p:spPr>
            <a:xfrm>
              <a:off x="1850571"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9" name="椭圆 108"/>
            <p:cNvSpPr/>
            <p:nvPr/>
          </p:nvSpPr>
          <p:spPr>
            <a:xfrm>
              <a:off x="2207623"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0" name="椭圆 109"/>
            <p:cNvSpPr/>
            <p:nvPr/>
          </p:nvSpPr>
          <p:spPr>
            <a:xfrm>
              <a:off x="1489165"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1" name="椭圆 110"/>
            <p:cNvSpPr/>
            <p:nvPr/>
          </p:nvSpPr>
          <p:spPr>
            <a:xfrm>
              <a:off x="1846217"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2" name="椭圆 111"/>
            <p:cNvSpPr/>
            <p:nvPr/>
          </p:nvSpPr>
          <p:spPr>
            <a:xfrm>
              <a:off x="2203269"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431" name="组合 430"/>
          <p:cNvGrpSpPr/>
          <p:nvPr/>
        </p:nvGrpSpPr>
        <p:grpSpPr>
          <a:xfrm>
            <a:off x="6418222" y="2455767"/>
            <a:ext cx="3914508" cy="1928996"/>
            <a:chOff x="6418222" y="2455767"/>
            <a:chExt cx="3914508" cy="1928996"/>
          </a:xfrm>
        </p:grpSpPr>
        <p:cxnSp>
          <p:nvCxnSpPr>
            <p:cNvPr id="113" name="直接箭头连接符 112"/>
            <p:cNvCxnSpPr>
              <a:stCxn id="106" idx="2"/>
              <a:endCxn id="62" idx="2"/>
            </p:cNvCxnSpPr>
            <p:nvPr/>
          </p:nvCxnSpPr>
          <p:spPr>
            <a:xfrm flipV="1">
              <a:off x="7132326" y="2564674"/>
              <a:ext cx="3200404"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a:stCxn id="104" idx="2"/>
              <a:endCxn id="62" idx="2"/>
            </p:cNvCxnSpPr>
            <p:nvPr/>
          </p:nvCxnSpPr>
          <p:spPr>
            <a:xfrm flipV="1">
              <a:off x="6418222" y="2564674"/>
              <a:ext cx="3914508"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p:cNvCxnSpPr>
              <a:stCxn id="112" idx="2"/>
              <a:endCxn id="62" idx="2"/>
            </p:cNvCxnSpPr>
            <p:nvPr/>
          </p:nvCxnSpPr>
          <p:spPr>
            <a:xfrm flipV="1">
              <a:off x="7132326" y="2564674"/>
              <a:ext cx="3200404"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110" idx="2"/>
              <a:endCxn id="62" idx="2"/>
            </p:cNvCxnSpPr>
            <p:nvPr/>
          </p:nvCxnSpPr>
          <p:spPr>
            <a:xfrm flipV="1">
              <a:off x="6418222" y="2564674"/>
              <a:ext cx="3914508"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a:stCxn id="105" idx="2"/>
              <a:endCxn id="62"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a:stCxn id="111" idx="2"/>
              <a:endCxn id="62" idx="2"/>
            </p:cNvCxnSpPr>
            <p:nvPr/>
          </p:nvCxnSpPr>
          <p:spPr>
            <a:xfrm flipV="1">
              <a:off x="6775274" y="2564674"/>
              <a:ext cx="3557456"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a:stCxn id="107" idx="2"/>
              <a:endCxn id="62" idx="2"/>
            </p:cNvCxnSpPr>
            <p:nvPr/>
          </p:nvCxnSpPr>
          <p:spPr>
            <a:xfrm flipV="1">
              <a:off x="6422576" y="2564673"/>
              <a:ext cx="3910154"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a:stCxn id="105" idx="2"/>
              <a:endCxn id="62"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接箭头连接符 120"/>
            <p:cNvCxnSpPr>
              <a:stCxn id="108" idx="2"/>
              <a:endCxn id="62" idx="2"/>
            </p:cNvCxnSpPr>
            <p:nvPr/>
          </p:nvCxnSpPr>
          <p:spPr>
            <a:xfrm flipV="1">
              <a:off x="6779628" y="2564673"/>
              <a:ext cx="3553102"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a:stCxn id="109" idx="2"/>
              <a:endCxn id="62" idx="2"/>
            </p:cNvCxnSpPr>
            <p:nvPr/>
          </p:nvCxnSpPr>
          <p:spPr>
            <a:xfrm flipV="1">
              <a:off x="7136680" y="2564673"/>
              <a:ext cx="3196050"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3" name="文本框 122"/>
            <p:cNvSpPr txBox="1"/>
            <p:nvPr/>
          </p:nvSpPr>
          <p:spPr>
            <a:xfrm>
              <a:off x="8451677" y="2455767"/>
              <a:ext cx="59218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W</a:t>
              </a:r>
              <a:endParaRPr kumimoji="0" lang="zh-CN" altLang="en-US"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grpSp>
      <p:grpSp>
        <p:nvGrpSpPr>
          <p:cNvPr id="430" name="组合 429"/>
          <p:cNvGrpSpPr/>
          <p:nvPr/>
        </p:nvGrpSpPr>
        <p:grpSpPr>
          <a:xfrm>
            <a:off x="1023254" y="2511325"/>
            <a:ext cx="3810000" cy="2428280"/>
            <a:chOff x="1023254" y="2511325"/>
            <a:chExt cx="3810000" cy="2428280"/>
          </a:xfrm>
        </p:grpSpPr>
        <p:cxnSp>
          <p:nvCxnSpPr>
            <p:cNvPr id="52" name="直接箭头连接符 51"/>
            <p:cNvCxnSpPr>
              <a:stCxn id="6" idx="0"/>
              <a:endCxn id="15" idx="2"/>
            </p:cNvCxnSpPr>
            <p:nvPr/>
          </p:nvCxnSpPr>
          <p:spPr>
            <a:xfrm flipV="1">
              <a:off x="1737358" y="2516777"/>
              <a:ext cx="3095896" cy="9318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4" idx="0"/>
              <a:endCxn id="15" idx="2"/>
            </p:cNvCxnSpPr>
            <p:nvPr/>
          </p:nvCxnSpPr>
          <p:spPr>
            <a:xfrm flipV="1">
              <a:off x="1023254" y="2516777"/>
              <a:ext cx="3810000" cy="9318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12" idx="0"/>
              <a:endCxn id="15" idx="2"/>
            </p:cNvCxnSpPr>
            <p:nvPr/>
          </p:nvCxnSpPr>
          <p:spPr>
            <a:xfrm flipV="1">
              <a:off x="1737358" y="2516777"/>
              <a:ext cx="3095896" cy="16981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10" idx="0"/>
              <a:endCxn id="15" idx="2"/>
            </p:cNvCxnSpPr>
            <p:nvPr/>
          </p:nvCxnSpPr>
          <p:spPr>
            <a:xfrm flipV="1">
              <a:off x="1023254" y="2516777"/>
              <a:ext cx="3810000" cy="16981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5" idx="0"/>
              <a:endCxn id="15" idx="2"/>
            </p:cNvCxnSpPr>
            <p:nvPr/>
          </p:nvCxnSpPr>
          <p:spPr>
            <a:xfrm flipV="1">
              <a:off x="1380306" y="2516777"/>
              <a:ext cx="3452948" cy="9318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stCxn id="11" idx="0"/>
              <a:endCxn id="15" idx="2"/>
            </p:cNvCxnSpPr>
            <p:nvPr/>
          </p:nvCxnSpPr>
          <p:spPr>
            <a:xfrm flipV="1">
              <a:off x="1380306" y="2516777"/>
              <a:ext cx="3452948" cy="16981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7" idx="0"/>
              <a:endCxn id="15" idx="2"/>
            </p:cNvCxnSpPr>
            <p:nvPr/>
          </p:nvCxnSpPr>
          <p:spPr>
            <a:xfrm flipV="1">
              <a:off x="1027608" y="2516777"/>
              <a:ext cx="3805646" cy="13149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8" idx="0"/>
              <a:endCxn id="15" idx="2"/>
            </p:cNvCxnSpPr>
            <p:nvPr/>
          </p:nvCxnSpPr>
          <p:spPr>
            <a:xfrm flipV="1">
              <a:off x="1384660" y="2516777"/>
              <a:ext cx="3448594" cy="13149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9" idx="0"/>
              <a:endCxn id="15" idx="2"/>
            </p:cNvCxnSpPr>
            <p:nvPr/>
          </p:nvCxnSpPr>
          <p:spPr>
            <a:xfrm flipV="1">
              <a:off x="1741712" y="2516777"/>
              <a:ext cx="3091542" cy="13149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498203" y="2520555"/>
              <a:ext cx="592183" cy="461665"/>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W</a:t>
              </a:r>
              <a:endParaRPr kumimoji="0" lang="zh-CN" altLang="en-US"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grpSp>
          <p:nvGrpSpPr>
            <p:cNvPr id="133" name="组合 132"/>
            <p:cNvGrpSpPr/>
            <p:nvPr/>
          </p:nvGrpSpPr>
          <p:grpSpPr>
            <a:xfrm>
              <a:off x="2094410" y="2524378"/>
              <a:ext cx="2734475" cy="2415227"/>
              <a:chOff x="2490672" y="4139044"/>
              <a:chExt cx="2734475" cy="2415227"/>
            </a:xfrm>
          </p:grpSpPr>
          <p:cxnSp>
            <p:nvCxnSpPr>
              <p:cNvPr id="134" name="直接箭头连接符 133"/>
              <p:cNvCxnSpPr>
                <a:stCxn id="38" idx="0"/>
              </p:cNvCxnSpPr>
              <p:nvPr/>
            </p:nvCxnSpPr>
            <p:spPr>
              <a:xfrm flipV="1">
                <a:off x="2834663" y="4139045"/>
                <a:ext cx="2390484" cy="208244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a:stCxn id="34" idx="0"/>
              </p:cNvCxnSpPr>
              <p:nvPr/>
            </p:nvCxnSpPr>
            <p:spPr>
              <a:xfrm flipV="1">
                <a:off x="2490672" y="4139045"/>
                <a:ext cx="2734474" cy="241522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p:cNvCxnSpPr>
                <a:stCxn id="39" idx="0"/>
              </p:cNvCxnSpPr>
              <p:nvPr/>
            </p:nvCxnSpPr>
            <p:spPr>
              <a:xfrm flipV="1">
                <a:off x="2834663" y="4139044"/>
                <a:ext cx="2390483" cy="241522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6" name="组合 145"/>
            <p:cNvGrpSpPr/>
            <p:nvPr/>
          </p:nvGrpSpPr>
          <p:grpSpPr>
            <a:xfrm>
              <a:off x="1036315" y="2511325"/>
              <a:ext cx="3786604" cy="2086787"/>
              <a:chOff x="1438542" y="4139044"/>
              <a:chExt cx="3786604" cy="2086787"/>
            </a:xfrm>
          </p:grpSpPr>
          <p:cxnSp>
            <p:nvCxnSpPr>
              <p:cNvPr id="147" name="直接箭头连接符 146"/>
              <p:cNvCxnSpPr>
                <a:stCxn id="26" idx="0"/>
              </p:cNvCxnSpPr>
              <p:nvPr/>
            </p:nvCxnSpPr>
            <p:spPr>
              <a:xfrm flipV="1">
                <a:off x="2152646" y="4139044"/>
                <a:ext cx="3072500" cy="20867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p:cNvCxnSpPr>
                <a:stCxn id="24" idx="0"/>
              </p:cNvCxnSpPr>
              <p:nvPr/>
            </p:nvCxnSpPr>
            <p:spPr>
              <a:xfrm flipV="1">
                <a:off x="1438542" y="4139044"/>
                <a:ext cx="3786604" cy="20867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p:cNvCxnSpPr>
                <a:stCxn id="25" idx="0"/>
              </p:cNvCxnSpPr>
              <p:nvPr/>
            </p:nvCxnSpPr>
            <p:spPr>
              <a:xfrm flipV="1">
                <a:off x="1795594" y="4139045"/>
                <a:ext cx="3429552" cy="208678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3" name="组合 152"/>
            <p:cNvGrpSpPr/>
            <p:nvPr/>
          </p:nvGrpSpPr>
          <p:grpSpPr>
            <a:xfrm>
              <a:off x="1036315" y="2516759"/>
              <a:ext cx="3778974" cy="2414138"/>
              <a:chOff x="1446172" y="4139045"/>
              <a:chExt cx="3778974" cy="2414138"/>
            </a:xfrm>
          </p:grpSpPr>
          <p:cxnSp>
            <p:nvCxnSpPr>
              <p:cNvPr id="154" name="直接箭头连接符 153"/>
              <p:cNvCxnSpPr>
                <a:stCxn id="29" idx="0"/>
              </p:cNvCxnSpPr>
              <p:nvPr/>
            </p:nvCxnSpPr>
            <p:spPr>
              <a:xfrm flipV="1">
                <a:off x="2160276" y="4139045"/>
                <a:ext cx="3064870" cy="24141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箭头连接符 154"/>
              <p:cNvCxnSpPr>
                <a:stCxn id="27" idx="0"/>
              </p:cNvCxnSpPr>
              <p:nvPr/>
            </p:nvCxnSpPr>
            <p:spPr>
              <a:xfrm flipV="1">
                <a:off x="1446172" y="4139045"/>
                <a:ext cx="3778974" cy="24141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a:stCxn id="28" idx="0"/>
              </p:cNvCxnSpPr>
              <p:nvPr/>
            </p:nvCxnSpPr>
            <p:spPr>
              <a:xfrm flipV="1">
                <a:off x="1803224" y="4139045"/>
                <a:ext cx="3421922" cy="24141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9" name="组合 168"/>
            <p:cNvGrpSpPr/>
            <p:nvPr/>
          </p:nvGrpSpPr>
          <p:grpSpPr>
            <a:xfrm>
              <a:off x="2081349" y="2529843"/>
              <a:ext cx="2745094" cy="927446"/>
              <a:chOff x="2480052" y="4139044"/>
              <a:chExt cx="2745094" cy="927446"/>
            </a:xfrm>
          </p:grpSpPr>
          <p:cxnSp>
            <p:nvCxnSpPr>
              <p:cNvPr id="170" name="直接箭头连接符 169"/>
              <p:cNvCxnSpPr>
                <a:stCxn id="35" idx="0"/>
              </p:cNvCxnSpPr>
              <p:nvPr/>
            </p:nvCxnSpPr>
            <p:spPr>
              <a:xfrm flipV="1">
                <a:off x="2824043" y="4139044"/>
                <a:ext cx="2401103" cy="9274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p:cNvCxnSpPr>
                <a:stCxn id="30" idx="0"/>
              </p:cNvCxnSpPr>
              <p:nvPr/>
            </p:nvCxnSpPr>
            <p:spPr>
              <a:xfrm flipV="1">
                <a:off x="2480052" y="4139045"/>
                <a:ext cx="2745094" cy="92744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81" name="直接箭头连接符 180"/>
            <p:cNvCxnSpPr>
              <a:stCxn id="33" idx="0"/>
            </p:cNvCxnSpPr>
            <p:nvPr/>
          </p:nvCxnSpPr>
          <p:spPr>
            <a:xfrm flipV="1">
              <a:off x="2094410" y="2511325"/>
              <a:ext cx="2717061" cy="20954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85" name="组合 184"/>
            <p:cNvGrpSpPr/>
            <p:nvPr/>
          </p:nvGrpSpPr>
          <p:grpSpPr>
            <a:xfrm>
              <a:off x="2085703" y="2538537"/>
              <a:ext cx="2725768" cy="1301929"/>
              <a:chOff x="2499378" y="4139045"/>
              <a:chExt cx="2725768" cy="1301929"/>
            </a:xfrm>
          </p:grpSpPr>
          <p:cxnSp>
            <p:nvCxnSpPr>
              <p:cNvPr id="186" name="直接箭头连接符 185"/>
              <p:cNvCxnSpPr>
                <a:stCxn id="36" idx="0"/>
              </p:cNvCxnSpPr>
              <p:nvPr/>
            </p:nvCxnSpPr>
            <p:spPr>
              <a:xfrm flipV="1">
                <a:off x="2843369" y="4139045"/>
                <a:ext cx="2381777" cy="130192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直接箭头连接符 186"/>
              <p:cNvCxnSpPr>
                <a:stCxn id="31" idx="0"/>
              </p:cNvCxnSpPr>
              <p:nvPr/>
            </p:nvCxnSpPr>
            <p:spPr>
              <a:xfrm flipV="1">
                <a:off x="2499378" y="4139045"/>
                <a:ext cx="2725768" cy="130192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0" name="组合 189"/>
            <p:cNvGrpSpPr/>
            <p:nvPr/>
          </p:nvGrpSpPr>
          <p:grpSpPr>
            <a:xfrm>
              <a:off x="2164480" y="2515669"/>
              <a:ext cx="2651325" cy="1746234"/>
              <a:chOff x="2573821" y="4139045"/>
              <a:chExt cx="2651325" cy="1746234"/>
            </a:xfrm>
          </p:grpSpPr>
          <p:cxnSp>
            <p:nvCxnSpPr>
              <p:cNvPr id="191" name="直接箭头连接符 190"/>
              <p:cNvCxnSpPr>
                <a:stCxn id="37" idx="0"/>
              </p:cNvCxnSpPr>
              <p:nvPr/>
            </p:nvCxnSpPr>
            <p:spPr>
              <a:xfrm flipV="1">
                <a:off x="2834681" y="4139045"/>
                <a:ext cx="2390465" cy="170797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直接箭头连接符 191"/>
              <p:cNvCxnSpPr>
                <a:stCxn id="32" idx="7"/>
              </p:cNvCxnSpPr>
              <p:nvPr/>
            </p:nvCxnSpPr>
            <p:spPr>
              <a:xfrm flipV="1">
                <a:off x="2573821" y="4139045"/>
                <a:ext cx="2651325" cy="17462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71" name="组合 370"/>
          <p:cNvGrpSpPr/>
          <p:nvPr/>
        </p:nvGrpSpPr>
        <p:grpSpPr>
          <a:xfrm>
            <a:off x="1061354" y="2885841"/>
            <a:ext cx="3786077" cy="2053764"/>
            <a:chOff x="3168004" y="3608295"/>
            <a:chExt cx="3786077" cy="2053764"/>
          </a:xfrm>
        </p:grpSpPr>
        <p:cxnSp>
          <p:nvCxnSpPr>
            <p:cNvPr id="339" name="直接箭头连接符 338"/>
            <p:cNvCxnSpPr>
              <a:stCxn id="4" idx="0"/>
            </p:cNvCxnSpPr>
            <p:nvPr/>
          </p:nvCxnSpPr>
          <p:spPr>
            <a:xfrm flipV="1">
              <a:off x="3168004" y="3613747"/>
              <a:ext cx="3781723" cy="55728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0" name="直接箭头连接符 339"/>
            <p:cNvCxnSpPr>
              <a:stCxn id="35" idx="0"/>
            </p:cNvCxnSpPr>
            <p:nvPr/>
          </p:nvCxnSpPr>
          <p:spPr>
            <a:xfrm flipV="1">
              <a:off x="4570090" y="3613746"/>
              <a:ext cx="2379637" cy="5659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1" name="直接箭头连接符 340"/>
            <p:cNvCxnSpPr>
              <a:stCxn id="36" idx="0"/>
            </p:cNvCxnSpPr>
            <p:nvPr/>
          </p:nvCxnSpPr>
          <p:spPr>
            <a:xfrm flipV="1">
              <a:off x="4574444" y="3613746"/>
              <a:ext cx="2375283" cy="94917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2" name="直接箭头连接符 341"/>
            <p:cNvCxnSpPr>
              <a:stCxn id="9" idx="0"/>
            </p:cNvCxnSpPr>
            <p:nvPr/>
          </p:nvCxnSpPr>
          <p:spPr>
            <a:xfrm flipV="1">
              <a:off x="3886462" y="3613746"/>
              <a:ext cx="3063265" cy="94046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3" name="直接箭头连接符 342"/>
            <p:cNvCxnSpPr>
              <a:stCxn id="5" idx="0"/>
            </p:cNvCxnSpPr>
            <p:nvPr/>
          </p:nvCxnSpPr>
          <p:spPr>
            <a:xfrm flipV="1">
              <a:off x="3525056" y="3613747"/>
              <a:ext cx="3424671" cy="55728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4" name="直接箭头连接符 343"/>
            <p:cNvCxnSpPr>
              <a:stCxn id="31" idx="0"/>
            </p:cNvCxnSpPr>
            <p:nvPr/>
          </p:nvCxnSpPr>
          <p:spPr>
            <a:xfrm flipV="1">
              <a:off x="4230453" y="3613746"/>
              <a:ext cx="2719274" cy="94917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5" name="直接箭头连接符 344"/>
            <p:cNvCxnSpPr>
              <a:stCxn id="39" idx="0"/>
            </p:cNvCxnSpPr>
            <p:nvPr/>
          </p:nvCxnSpPr>
          <p:spPr>
            <a:xfrm flipV="1">
              <a:off x="4583151" y="3613748"/>
              <a:ext cx="2366576" cy="20483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6" name="直接箭头连接符 345"/>
            <p:cNvCxnSpPr>
              <a:stCxn id="7" idx="0"/>
            </p:cNvCxnSpPr>
            <p:nvPr/>
          </p:nvCxnSpPr>
          <p:spPr>
            <a:xfrm flipV="1">
              <a:off x="3172358" y="3613748"/>
              <a:ext cx="3777369" cy="94046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7" name="直接箭头连接符 346"/>
            <p:cNvCxnSpPr>
              <a:stCxn id="37" idx="0"/>
            </p:cNvCxnSpPr>
            <p:nvPr/>
          </p:nvCxnSpPr>
          <p:spPr>
            <a:xfrm flipV="1">
              <a:off x="4570090" y="3613747"/>
              <a:ext cx="2379637" cy="133235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349" name="组合 348"/>
            <p:cNvGrpSpPr/>
            <p:nvPr/>
          </p:nvGrpSpPr>
          <p:grpSpPr>
            <a:xfrm>
              <a:off x="3538117" y="3621349"/>
              <a:ext cx="3415964" cy="1707925"/>
              <a:chOff x="1817906" y="4139046"/>
              <a:chExt cx="3415964" cy="1707925"/>
            </a:xfrm>
          </p:grpSpPr>
          <p:cxnSp>
            <p:nvCxnSpPr>
              <p:cNvPr id="350" name="直接箭头连接符 349"/>
              <p:cNvCxnSpPr>
                <a:stCxn id="38" idx="0"/>
              </p:cNvCxnSpPr>
              <p:nvPr/>
            </p:nvCxnSpPr>
            <p:spPr>
              <a:xfrm flipV="1">
                <a:off x="2862940" y="4139046"/>
                <a:ext cx="2362208" cy="170792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1" name="直接箭头连接符 350"/>
              <p:cNvCxnSpPr>
                <a:stCxn id="26" idx="0"/>
              </p:cNvCxnSpPr>
              <p:nvPr/>
            </p:nvCxnSpPr>
            <p:spPr>
              <a:xfrm flipV="1">
                <a:off x="2174958" y="4172654"/>
                <a:ext cx="3058912" cy="166560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2" name="直接箭头连接符 351"/>
              <p:cNvCxnSpPr>
                <a:stCxn id="25" idx="0"/>
              </p:cNvCxnSpPr>
              <p:nvPr/>
            </p:nvCxnSpPr>
            <p:spPr>
              <a:xfrm flipV="1">
                <a:off x="1817906" y="4139046"/>
                <a:ext cx="3407240" cy="169921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3" name="组合 352"/>
            <p:cNvGrpSpPr/>
            <p:nvPr/>
          </p:nvGrpSpPr>
          <p:grpSpPr>
            <a:xfrm>
              <a:off x="3168004" y="3608295"/>
              <a:ext cx="3771388" cy="2053764"/>
              <a:chOff x="1453758" y="4139045"/>
              <a:chExt cx="3771388" cy="2053764"/>
            </a:xfrm>
          </p:grpSpPr>
          <p:cxnSp>
            <p:nvCxnSpPr>
              <p:cNvPr id="354" name="直接箭头连接符 353"/>
              <p:cNvCxnSpPr>
                <a:stCxn id="34" idx="0"/>
              </p:cNvCxnSpPr>
              <p:nvPr/>
            </p:nvCxnSpPr>
            <p:spPr>
              <a:xfrm flipV="1">
                <a:off x="2524914" y="4139045"/>
                <a:ext cx="2700232" cy="205376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5" name="直接箭头连接符 354"/>
              <p:cNvCxnSpPr>
                <a:stCxn id="10" idx="0"/>
              </p:cNvCxnSpPr>
              <p:nvPr/>
            </p:nvCxnSpPr>
            <p:spPr>
              <a:xfrm flipV="1">
                <a:off x="1453758" y="4139046"/>
                <a:ext cx="3771388" cy="132909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6" name="直接箭头连接符 355"/>
              <p:cNvCxnSpPr>
                <a:stCxn id="11" idx="0"/>
              </p:cNvCxnSpPr>
              <p:nvPr/>
            </p:nvCxnSpPr>
            <p:spPr>
              <a:xfrm flipV="1">
                <a:off x="1810810" y="4139046"/>
                <a:ext cx="3414336" cy="132909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7" name="组合 356"/>
            <p:cNvGrpSpPr/>
            <p:nvPr/>
          </p:nvGrpSpPr>
          <p:grpSpPr>
            <a:xfrm>
              <a:off x="3538117" y="3613728"/>
              <a:ext cx="3393646" cy="2039623"/>
              <a:chOff x="1831501" y="4139045"/>
              <a:chExt cx="3393646" cy="2039623"/>
            </a:xfrm>
          </p:grpSpPr>
          <p:cxnSp>
            <p:nvCxnSpPr>
              <p:cNvPr id="358" name="直接箭头连接符 357"/>
              <p:cNvCxnSpPr>
                <a:stCxn id="33" idx="0"/>
              </p:cNvCxnSpPr>
              <p:nvPr/>
            </p:nvCxnSpPr>
            <p:spPr>
              <a:xfrm flipV="1">
                <a:off x="2532544" y="4139045"/>
                <a:ext cx="2692603" cy="171554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9" name="直接箭头连接符 358"/>
              <p:cNvCxnSpPr>
                <a:stCxn id="29" idx="0"/>
              </p:cNvCxnSpPr>
              <p:nvPr/>
            </p:nvCxnSpPr>
            <p:spPr>
              <a:xfrm flipV="1">
                <a:off x="2188553" y="4139045"/>
                <a:ext cx="3036593" cy="203962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0" name="直接箭头连接符 359"/>
              <p:cNvCxnSpPr>
                <a:stCxn id="28" idx="0"/>
              </p:cNvCxnSpPr>
              <p:nvPr/>
            </p:nvCxnSpPr>
            <p:spPr>
              <a:xfrm flipV="1">
                <a:off x="1831501" y="4139046"/>
                <a:ext cx="3393645" cy="20396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1" name="组合 360"/>
            <p:cNvGrpSpPr/>
            <p:nvPr/>
          </p:nvGrpSpPr>
          <p:grpSpPr>
            <a:xfrm>
              <a:off x="3882108" y="3626812"/>
              <a:ext cx="3060808" cy="552931"/>
              <a:chOff x="2164338" y="4139044"/>
              <a:chExt cx="3060808" cy="552931"/>
            </a:xfrm>
          </p:grpSpPr>
          <p:cxnSp>
            <p:nvCxnSpPr>
              <p:cNvPr id="362" name="直接箭头连接符 361"/>
              <p:cNvCxnSpPr>
                <a:stCxn id="6" idx="0"/>
              </p:cNvCxnSpPr>
              <p:nvPr/>
            </p:nvCxnSpPr>
            <p:spPr>
              <a:xfrm flipV="1">
                <a:off x="2164338" y="4139044"/>
                <a:ext cx="3060808" cy="54422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3" name="直接箭头连接符 362"/>
              <p:cNvCxnSpPr>
                <a:stCxn id="30" idx="0"/>
              </p:cNvCxnSpPr>
              <p:nvPr/>
            </p:nvCxnSpPr>
            <p:spPr>
              <a:xfrm flipV="1">
                <a:off x="2508329" y="4139046"/>
                <a:ext cx="2716817" cy="55292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64" name="直接箭头连接符 363"/>
            <p:cNvCxnSpPr>
              <a:stCxn id="27" idx="0"/>
            </p:cNvCxnSpPr>
            <p:nvPr/>
          </p:nvCxnSpPr>
          <p:spPr>
            <a:xfrm flipV="1">
              <a:off x="3181065" y="3608295"/>
              <a:ext cx="3746879" cy="204505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365" name="组合 364"/>
            <p:cNvGrpSpPr/>
            <p:nvPr/>
          </p:nvGrpSpPr>
          <p:grpSpPr>
            <a:xfrm>
              <a:off x="3181065" y="3630926"/>
              <a:ext cx="3759923" cy="1689640"/>
              <a:chOff x="1465224" y="4139046"/>
              <a:chExt cx="3759923" cy="1689640"/>
            </a:xfrm>
          </p:grpSpPr>
          <p:cxnSp>
            <p:nvCxnSpPr>
              <p:cNvPr id="366" name="直接箭头连接符 365"/>
              <p:cNvCxnSpPr>
                <a:stCxn id="8" idx="0"/>
              </p:cNvCxnSpPr>
              <p:nvPr/>
            </p:nvCxnSpPr>
            <p:spPr>
              <a:xfrm flipV="1">
                <a:off x="1813569" y="4139046"/>
                <a:ext cx="3411577" cy="92328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7" name="直接箭头连接符 366"/>
              <p:cNvCxnSpPr>
                <a:stCxn id="24" idx="0"/>
              </p:cNvCxnSpPr>
              <p:nvPr/>
            </p:nvCxnSpPr>
            <p:spPr>
              <a:xfrm flipV="1">
                <a:off x="1465224" y="4139046"/>
                <a:ext cx="3759923" cy="168964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8" name="组合 367"/>
            <p:cNvGrpSpPr/>
            <p:nvPr/>
          </p:nvGrpSpPr>
          <p:grpSpPr>
            <a:xfrm>
              <a:off x="3882108" y="3612638"/>
              <a:ext cx="3050170" cy="1333459"/>
              <a:chOff x="2174976" y="4139045"/>
              <a:chExt cx="3050170" cy="1333459"/>
            </a:xfrm>
          </p:grpSpPr>
          <p:cxnSp>
            <p:nvCxnSpPr>
              <p:cNvPr id="369" name="直接箭头连接符 368"/>
              <p:cNvCxnSpPr>
                <a:stCxn id="32" idx="0"/>
              </p:cNvCxnSpPr>
              <p:nvPr/>
            </p:nvCxnSpPr>
            <p:spPr>
              <a:xfrm flipV="1">
                <a:off x="2518967" y="4139046"/>
                <a:ext cx="2706179" cy="133345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0" name="直接箭头连接符 369"/>
              <p:cNvCxnSpPr>
                <a:stCxn id="12" idx="0"/>
              </p:cNvCxnSpPr>
              <p:nvPr/>
            </p:nvCxnSpPr>
            <p:spPr>
              <a:xfrm flipV="1">
                <a:off x="2174976" y="4139045"/>
                <a:ext cx="3050170" cy="132475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429" name="文本框 428"/>
          <p:cNvSpPr txBox="1"/>
          <p:nvPr/>
        </p:nvSpPr>
        <p:spPr>
          <a:xfrm>
            <a:off x="4047299" y="3622640"/>
            <a:ext cx="592183" cy="461665"/>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W</a:t>
            </a:r>
            <a:endParaRPr kumimoji="0" lang="zh-CN" altLang="en-US" sz="2400" b="1" i="1"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p:grpSp>
        <p:nvGrpSpPr>
          <p:cNvPr id="432" name="组合 431"/>
          <p:cNvGrpSpPr/>
          <p:nvPr/>
        </p:nvGrpSpPr>
        <p:grpSpPr>
          <a:xfrm>
            <a:off x="6409515" y="2935339"/>
            <a:ext cx="3931921" cy="1837500"/>
            <a:chOff x="3296197" y="2891252"/>
            <a:chExt cx="3931921" cy="1837500"/>
          </a:xfrm>
        </p:grpSpPr>
        <p:cxnSp>
          <p:nvCxnSpPr>
            <p:cNvPr id="433" name="直接箭头连接符 432"/>
            <p:cNvCxnSpPr/>
            <p:nvPr/>
          </p:nvCxnSpPr>
          <p:spPr>
            <a:xfrm flipV="1">
              <a:off x="4010301" y="2891253"/>
              <a:ext cx="3217817" cy="1071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34" name="直接箭头连接符 433"/>
            <p:cNvCxnSpPr/>
            <p:nvPr/>
          </p:nvCxnSpPr>
          <p:spPr>
            <a:xfrm flipV="1">
              <a:off x="3296197" y="2891253"/>
              <a:ext cx="3931921" cy="1071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35" name="直接箭头连接符 434"/>
            <p:cNvCxnSpPr/>
            <p:nvPr/>
          </p:nvCxnSpPr>
          <p:spPr>
            <a:xfrm flipV="1">
              <a:off x="4010301" y="2891253"/>
              <a:ext cx="3217817" cy="183749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36" name="直接箭头连接符 435"/>
            <p:cNvCxnSpPr/>
            <p:nvPr/>
          </p:nvCxnSpPr>
          <p:spPr>
            <a:xfrm flipV="1">
              <a:off x="3296197" y="2891253"/>
              <a:ext cx="3931921" cy="183749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37" name="直接箭头连接符 436"/>
            <p:cNvCxnSpPr/>
            <p:nvPr/>
          </p:nvCxnSpPr>
          <p:spPr>
            <a:xfrm flipV="1">
              <a:off x="3653249" y="2891253"/>
              <a:ext cx="3574869" cy="1071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38" name="直接箭头连接符 437"/>
            <p:cNvCxnSpPr/>
            <p:nvPr/>
          </p:nvCxnSpPr>
          <p:spPr>
            <a:xfrm flipV="1">
              <a:off x="3653249" y="2891253"/>
              <a:ext cx="3574869" cy="183749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39" name="直接箭头连接符 438"/>
            <p:cNvCxnSpPr/>
            <p:nvPr/>
          </p:nvCxnSpPr>
          <p:spPr>
            <a:xfrm flipV="1">
              <a:off x="3300551" y="2891252"/>
              <a:ext cx="3927567" cy="14543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40" name="直接箭头连接符 439"/>
            <p:cNvCxnSpPr/>
            <p:nvPr/>
          </p:nvCxnSpPr>
          <p:spPr>
            <a:xfrm flipV="1">
              <a:off x="3653249" y="2891253"/>
              <a:ext cx="3574869" cy="1071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41" name="直接箭头连接符 440"/>
            <p:cNvCxnSpPr/>
            <p:nvPr/>
          </p:nvCxnSpPr>
          <p:spPr>
            <a:xfrm flipV="1">
              <a:off x="3657603" y="2891252"/>
              <a:ext cx="3570515" cy="14543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直接箭头连接符 441"/>
            <p:cNvCxnSpPr/>
            <p:nvPr/>
          </p:nvCxnSpPr>
          <p:spPr>
            <a:xfrm flipV="1">
              <a:off x="4014655" y="2891252"/>
              <a:ext cx="3213463" cy="14543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43" name="文本框 442"/>
            <p:cNvSpPr txBox="1"/>
            <p:nvPr/>
          </p:nvSpPr>
          <p:spPr>
            <a:xfrm>
              <a:off x="6265607" y="3366184"/>
              <a:ext cx="592183" cy="461665"/>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W</a:t>
              </a:r>
              <a:endParaRPr kumimoji="0" lang="zh-CN" altLang="en-US" sz="2400" b="1" i="1"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p:grpSp>
      <p:grpSp>
        <p:nvGrpSpPr>
          <p:cNvPr id="444" name="组合 443"/>
          <p:cNvGrpSpPr/>
          <p:nvPr/>
        </p:nvGrpSpPr>
        <p:grpSpPr>
          <a:xfrm>
            <a:off x="6415496" y="3863000"/>
            <a:ext cx="970458" cy="1027612"/>
            <a:chOff x="1489164" y="2002971"/>
            <a:chExt cx="970458" cy="1027612"/>
          </a:xfrm>
          <a:solidFill>
            <a:srgbClr val="00B050"/>
          </a:solidFill>
        </p:grpSpPr>
        <p:sp>
          <p:nvSpPr>
            <p:cNvPr id="445" name="椭圆 444"/>
            <p:cNvSpPr/>
            <p:nvPr/>
          </p:nvSpPr>
          <p:spPr>
            <a:xfrm>
              <a:off x="1489164" y="2002971"/>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6" name="椭圆 445"/>
            <p:cNvSpPr/>
            <p:nvPr/>
          </p:nvSpPr>
          <p:spPr>
            <a:xfrm>
              <a:off x="1846216" y="2002971"/>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7" name="椭圆 446"/>
            <p:cNvSpPr/>
            <p:nvPr/>
          </p:nvSpPr>
          <p:spPr>
            <a:xfrm>
              <a:off x="2203268" y="2002971"/>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8" name="椭圆 447"/>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9" name="椭圆 448"/>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50" name="椭圆 449"/>
            <p:cNvSpPr/>
            <p:nvPr/>
          </p:nvSpPr>
          <p:spPr>
            <a:xfrm>
              <a:off x="2207622" y="2386148"/>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51" name="椭圆 450"/>
            <p:cNvSpPr/>
            <p:nvPr/>
          </p:nvSpPr>
          <p:spPr>
            <a:xfrm>
              <a:off x="1489164" y="2769325"/>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52" name="椭圆 451"/>
            <p:cNvSpPr/>
            <p:nvPr/>
          </p:nvSpPr>
          <p:spPr>
            <a:xfrm>
              <a:off x="1846216" y="2769325"/>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53" name="椭圆 452"/>
            <p:cNvSpPr/>
            <p:nvPr/>
          </p:nvSpPr>
          <p:spPr>
            <a:xfrm>
              <a:off x="2203268" y="2769325"/>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sp>
        <p:nvSpPr>
          <p:cNvPr id="454" name="文本框 453"/>
          <p:cNvSpPr txBox="1"/>
          <p:nvPr/>
        </p:nvSpPr>
        <p:spPr>
          <a:xfrm>
            <a:off x="3052124" y="5444701"/>
            <a:ext cx="1480120" cy="461665"/>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權值不同</a:t>
            </a:r>
          </a:p>
        </p:txBody>
      </p:sp>
      <p:cxnSp>
        <p:nvCxnSpPr>
          <p:cNvPr id="456" name="直接箭头连接符 455"/>
          <p:cNvCxnSpPr/>
          <p:nvPr/>
        </p:nvCxnSpPr>
        <p:spPr>
          <a:xfrm>
            <a:off x="2925802" y="2808518"/>
            <a:ext cx="723847" cy="26361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57" name="直接箭头连接符 456"/>
          <p:cNvCxnSpPr/>
          <p:nvPr/>
        </p:nvCxnSpPr>
        <p:spPr>
          <a:xfrm flipH="1">
            <a:off x="3945210" y="3971095"/>
            <a:ext cx="324276" cy="147360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59" name="文本框 458"/>
          <p:cNvSpPr txBox="1"/>
          <p:nvPr/>
        </p:nvSpPr>
        <p:spPr>
          <a:xfrm>
            <a:off x="8800360" y="5388332"/>
            <a:ext cx="1480120" cy="461665"/>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權值共用</a:t>
            </a:r>
          </a:p>
        </p:txBody>
      </p:sp>
      <p:cxnSp>
        <p:nvCxnSpPr>
          <p:cNvPr id="460" name="直接箭头连接符 459"/>
          <p:cNvCxnSpPr/>
          <p:nvPr/>
        </p:nvCxnSpPr>
        <p:spPr>
          <a:xfrm>
            <a:off x="8815157" y="2769325"/>
            <a:ext cx="582728" cy="26190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1" name="直接箭头连接符 460"/>
          <p:cNvCxnSpPr>
            <a:stCxn id="443" idx="2"/>
          </p:cNvCxnSpPr>
          <p:nvPr/>
        </p:nvCxnSpPr>
        <p:spPr>
          <a:xfrm>
            <a:off x="9675017" y="3871936"/>
            <a:ext cx="18429" cy="151639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67" name="文本框 466"/>
          <p:cNvSpPr txBox="1"/>
          <p:nvPr/>
        </p:nvSpPr>
        <p:spPr>
          <a:xfrm>
            <a:off x="3535570" y="1817728"/>
            <a:ext cx="1134553" cy="461665"/>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全連接</a:t>
            </a:r>
          </a:p>
        </p:txBody>
      </p:sp>
      <p:cxnSp>
        <p:nvCxnSpPr>
          <p:cNvPr id="469" name="直接箭头连接符 468"/>
          <p:cNvCxnSpPr/>
          <p:nvPr/>
        </p:nvCxnSpPr>
        <p:spPr>
          <a:xfrm flipH="1">
            <a:off x="2998951" y="2267467"/>
            <a:ext cx="772200" cy="37703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4" name="直接箭头连接符 473"/>
          <p:cNvCxnSpPr>
            <a:endCxn id="429" idx="0"/>
          </p:cNvCxnSpPr>
          <p:nvPr/>
        </p:nvCxnSpPr>
        <p:spPr>
          <a:xfrm>
            <a:off x="4272497" y="2319229"/>
            <a:ext cx="70894" cy="13034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1" name="文本框 480"/>
          <p:cNvSpPr txBox="1"/>
          <p:nvPr/>
        </p:nvSpPr>
        <p:spPr>
          <a:xfrm>
            <a:off x="9335937" y="1492886"/>
            <a:ext cx="1480120" cy="461665"/>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局部連接</a:t>
            </a:r>
          </a:p>
        </p:txBody>
      </p:sp>
      <p:cxnSp>
        <p:nvCxnSpPr>
          <p:cNvPr id="482" name="直接箭头连接符 481"/>
          <p:cNvCxnSpPr>
            <a:endCxn id="123" idx="0"/>
          </p:cNvCxnSpPr>
          <p:nvPr/>
        </p:nvCxnSpPr>
        <p:spPr>
          <a:xfrm flipH="1">
            <a:off x="8747769" y="1942194"/>
            <a:ext cx="942492" cy="5135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3" name="直接箭头连接符 482"/>
          <p:cNvCxnSpPr/>
          <p:nvPr/>
        </p:nvCxnSpPr>
        <p:spPr>
          <a:xfrm flipH="1">
            <a:off x="9794865" y="1985971"/>
            <a:ext cx="230046" cy="14625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6" name="文本框 485"/>
          <p:cNvSpPr txBox="1"/>
          <p:nvPr/>
        </p:nvSpPr>
        <p:spPr>
          <a:xfrm>
            <a:off x="4434622" y="5354135"/>
            <a:ext cx="4391355" cy="969496"/>
          </a:xfrm>
          <a:prstGeom prst="rect">
            <a:avLst/>
          </a:prstGeom>
          <a:solidFill>
            <a:srgbClr val="EFF343"/>
          </a:solidFill>
          <a:ln>
            <a:solidFill>
              <a:srgbClr val="FF0000"/>
            </a:solidFill>
          </a:ln>
        </p:spPr>
        <p:txBody>
          <a:bodyPr wrap="square" rtlCol="0">
            <a:spAutoFit/>
          </a:bodyPr>
          <a:lstStyle/>
          <a:p>
            <a:pPr lvl="0">
              <a:spcBef>
                <a:spcPts val="600"/>
              </a:spcBef>
              <a:defRPr/>
            </a:pPr>
            <a:r>
              <a:rPr kumimoji="0" lang="zh-CN" altLang="en-US"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全連接參數：</a:t>
            </a:r>
            <a:r>
              <a:rPr lang="en-US" altLang="zh-CN" sz="2600" dirty="0">
                <a:solidFill>
                  <a:srgbClr val="FF0000"/>
                </a:solidFill>
                <a:latin typeface="宋体" panose="02010600030101010101" pitchFamily="2" charset="-122"/>
              </a:rPr>
              <a:t>5×5×9+9=234</a:t>
            </a:r>
            <a:endParaRPr kumimoji="0" lang="en-US" altLang="zh-CN"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zh-CN" altLang="en-US"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捲積核參數：</a:t>
            </a:r>
            <a:r>
              <a:rPr kumimoji="0" lang="en-US" altLang="zh-CN"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3×3+1=10</a:t>
            </a:r>
          </a:p>
        </p:txBody>
      </p:sp>
      <p:sp>
        <p:nvSpPr>
          <p:cNvPr id="198" name="文本框 197"/>
          <p:cNvSpPr txBox="1"/>
          <p:nvPr/>
        </p:nvSpPr>
        <p:spPr>
          <a:xfrm>
            <a:off x="1386726" y="5361042"/>
            <a:ext cx="1134553" cy="400110"/>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輸入</a:t>
            </a:r>
          </a:p>
        </p:txBody>
      </p:sp>
      <p:sp>
        <p:nvSpPr>
          <p:cNvPr id="199" name="文本框 198"/>
          <p:cNvSpPr txBox="1"/>
          <p:nvPr/>
        </p:nvSpPr>
        <p:spPr>
          <a:xfrm>
            <a:off x="4996534" y="3562927"/>
            <a:ext cx="766078" cy="400110"/>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輸出</a:t>
            </a:r>
          </a:p>
        </p:txBody>
      </p:sp>
      <p:sp>
        <p:nvSpPr>
          <p:cNvPr id="200" name="文本框 199"/>
          <p:cNvSpPr txBox="1"/>
          <p:nvPr/>
        </p:nvSpPr>
        <p:spPr>
          <a:xfrm>
            <a:off x="6840572" y="2814967"/>
            <a:ext cx="706697" cy="400110"/>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輸入</a:t>
            </a:r>
          </a:p>
        </p:txBody>
      </p:sp>
      <p:sp>
        <p:nvSpPr>
          <p:cNvPr id="201" name="文本框 200"/>
          <p:cNvSpPr txBox="1"/>
          <p:nvPr/>
        </p:nvSpPr>
        <p:spPr>
          <a:xfrm>
            <a:off x="10466346" y="3627111"/>
            <a:ext cx="766078" cy="400110"/>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輸出</a:t>
            </a:r>
          </a:p>
        </p:txBody>
      </p:sp>
    </p:spTree>
    <p:extLst>
      <p:ext uri="{BB962C8B-B14F-4D97-AF65-F5344CB8AC3E}">
        <p14:creationId xmlns:p14="http://schemas.microsoft.com/office/powerpoint/2010/main" val="239529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8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8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8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5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6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6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 grpId="0"/>
      <p:bldP spid="454" grpId="0"/>
      <p:bldP spid="459" grpId="0"/>
      <p:bldP spid="467" grpId="0"/>
      <p:bldP spid="481" grpId="0"/>
      <p:bldP spid="486" grpId="0" animBg="1"/>
      <p:bldP spid="200" grpId="0"/>
      <p:bldP spid="201"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5B768AC2-93FE-0FB4-7ECA-67E3CFD2A0E6}"/>
              </a:ext>
            </a:extLst>
          </p:cNvPr>
          <p:cNvPicPr>
            <a:picLocks noChangeAspect="1"/>
          </p:cNvPicPr>
          <p:nvPr/>
        </p:nvPicPr>
        <p:blipFill rotWithShape="1">
          <a:blip r:embed="rId2"/>
          <a:srcRect l="53439" t="2887" r="11331" b="7836"/>
          <a:stretch/>
        </p:blipFill>
        <p:spPr>
          <a:xfrm>
            <a:off x="5641711" y="2243931"/>
            <a:ext cx="3743589" cy="3509244"/>
          </a:xfrm>
          <a:prstGeom prst="rect">
            <a:avLst/>
          </a:prstGeom>
        </p:spPr>
      </p:pic>
      <p:pic>
        <p:nvPicPr>
          <p:cNvPr id="6" name="图片 5">
            <a:extLst>
              <a:ext uri="{FF2B5EF4-FFF2-40B4-BE49-F238E27FC236}">
                <a16:creationId xmlns:a16="http://schemas.microsoft.com/office/drawing/2014/main" id="{9AE32D49-84C4-8BC7-BA38-CEDF047B2162}"/>
              </a:ext>
            </a:extLst>
          </p:cNvPr>
          <p:cNvPicPr>
            <a:picLocks noChangeAspect="1"/>
          </p:cNvPicPr>
          <p:nvPr/>
        </p:nvPicPr>
        <p:blipFill rotWithShape="1">
          <a:blip r:embed="rId2"/>
          <a:srcRect l="9825" r="49191"/>
          <a:stretch/>
        </p:blipFill>
        <p:spPr>
          <a:xfrm>
            <a:off x="956729" y="2104381"/>
            <a:ext cx="4437230" cy="4005029"/>
          </a:xfrm>
          <a:prstGeom prst="rect">
            <a:avLst/>
          </a:prstGeom>
        </p:spPr>
      </p:pic>
      <p:sp>
        <p:nvSpPr>
          <p:cNvPr id="2" name="标题 1"/>
          <p:cNvSpPr>
            <a:spLocks noGrp="1"/>
          </p:cNvSpPr>
          <p:nvPr>
            <p:ph type="title"/>
          </p:nvPr>
        </p:nvSpPr>
        <p:spPr/>
        <p:txBody>
          <a:bodyPr/>
          <a:lstStyle/>
          <a:p>
            <a:r>
              <a:rPr lang="zh-CN" altLang="en-US" dirty="0"/>
              <a:t>舉例：邊緣提取</a:t>
            </a:r>
          </a:p>
        </p:txBody>
      </p:sp>
      <p:sp>
        <p:nvSpPr>
          <p:cNvPr id="7" name="矩形 6"/>
          <p:cNvSpPr/>
          <p:nvPr/>
        </p:nvSpPr>
        <p:spPr>
          <a:xfrm>
            <a:off x="1506583" y="2333052"/>
            <a:ext cx="3213463" cy="235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5865237" y="2337399"/>
            <a:ext cx="3213463" cy="235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5865237" y="846138"/>
            <a:ext cx="1225729"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zh-CN" altLang="en-US"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上邊緣</a:t>
            </a:r>
            <a:endParaRPr kumimoji="0" lang="en-US" altLang="zh-CN"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0" name="矩形 9"/>
          <p:cNvSpPr/>
          <p:nvPr/>
        </p:nvSpPr>
        <p:spPr>
          <a:xfrm>
            <a:off x="2159726" y="4963886"/>
            <a:ext cx="1915886" cy="2002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10"/>
          <p:cNvSpPr/>
          <p:nvPr/>
        </p:nvSpPr>
        <p:spPr>
          <a:xfrm>
            <a:off x="6517723" y="4955177"/>
            <a:ext cx="1915886" cy="2002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5" name="直接箭头连接符 14"/>
          <p:cNvCxnSpPr/>
          <p:nvPr/>
        </p:nvCxnSpPr>
        <p:spPr>
          <a:xfrm flipH="1">
            <a:off x="3300549" y="1295036"/>
            <a:ext cx="2564688" cy="9944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6791904" y="1314930"/>
            <a:ext cx="680065" cy="100505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3203048" y="1426091"/>
            <a:ext cx="3076772" cy="34624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6547969" y="1430123"/>
            <a:ext cx="896296" cy="34584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165182" y="2788008"/>
            <a:ext cx="1915886" cy="2002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矩形 24"/>
          <p:cNvSpPr/>
          <p:nvPr/>
        </p:nvSpPr>
        <p:spPr>
          <a:xfrm>
            <a:off x="6516659" y="2779299"/>
            <a:ext cx="1915886" cy="2002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矩形 26"/>
          <p:cNvSpPr/>
          <p:nvPr/>
        </p:nvSpPr>
        <p:spPr>
          <a:xfrm>
            <a:off x="1497873" y="5394226"/>
            <a:ext cx="3213463" cy="235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矩形 27"/>
          <p:cNvSpPr/>
          <p:nvPr/>
        </p:nvSpPr>
        <p:spPr>
          <a:xfrm>
            <a:off x="5873163" y="5380490"/>
            <a:ext cx="3213463" cy="235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文本框 28"/>
          <p:cNvSpPr txBox="1"/>
          <p:nvPr/>
        </p:nvSpPr>
        <p:spPr>
          <a:xfrm>
            <a:off x="5814694" y="820738"/>
            <a:ext cx="1225729"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zh-CN" altLang="en-US"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下邊緣</a:t>
            </a:r>
            <a:endParaRPr kumimoji="0" lang="en-US" altLang="zh-CN"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cxnSp>
        <p:nvCxnSpPr>
          <p:cNvPr id="30" name="直接箭头连接符 29"/>
          <p:cNvCxnSpPr/>
          <p:nvPr/>
        </p:nvCxnSpPr>
        <p:spPr>
          <a:xfrm flipH="1">
            <a:off x="3140543" y="1417638"/>
            <a:ext cx="2990291" cy="132076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H="1">
            <a:off x="3033841" y="1444441"/>
            <a:ext cx="3344921" cy="388274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6670766" y="1417638"/>
            <a:ext cx="754245" cy="13124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6516659" y="1444441"/>
            <a:ext cx="1005853" cy="38785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733272" y="5998274"/>
            <a:ext cx="1134553" cy="400110"/>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輸入</a:t>
            </a:r>
          </a:p>
        </p:txBody>
      </p:sp>
      <p:sp>
        <p:nvSpPr>
          <p:cNvPr id="31" name="文本框 30"/>
          <p:cNvSpPr txBox="1"/>
          <p:nvPr/>
        </p:nvSpPr>
        <p:spPr>
          <a:xfrm>
            <a:off x="6996117" y="5834636"/>
            <a:ext cx="1134553" cy="400110"/>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輸出</a:t>
            </a:r>
          </a:p>
        </p:txBody>
      </p:sp>
      <p:sp>
        <p:nvSpPr>
          <p:cNvPr id="32" name="文本框 31"/>
          <p:cNvSpPr txBox="1"/>
          <p:nvPr/>
        </p:nvSpPr>
        <p:spPr>
          <a:xfrm>
            <a:off x="10070180" y="4239877"/>
            <a:ext cx="1134553" cy="400110"/>
          </a:xfrm>
          <a:prstGeom prst="rect">
            <a:avLst/>
          </a:prstGeom>
          <a:noFill/>
          <a:ln w="1905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捲積核</a:t>
            </a:r>
          </a:p>
        </p:txBody>
      </p:sp>
      <p:graphicFrame>
        <p:nvGraphicFramePr>
          <p:cNvPr id="13" name="表格 12">
            <a:extLst>
              <a:ext uri="{FF2B5EF4-FFF2-40B4-BE49-F238E27FC236}">
                <a16:creationId xmlns:a16="http://schemas.microsoft.com/office/drawing/2014/main" id="{99EA27D9-FC3D-39B4-B071-4F7384C03D56}"/>
              </a:ext>
            </a:extLst>
          </p:cNvPr>
          <p:cNvGraphicFramePr>
            <a:graphicFrameLocks noGrp="1"/>
          </p:cNvGraphicFramePr>
          <p:nvPr>
            <p:extLst>
              <p:ext uri="{D42A27DB-BD31-4B8C-83A1-F6EECF244321}">
                <p14:modId xmlns:p14="http://schemas.microsoft.com/office/powerpoint/2010/main" val="1662626264"/>
              </p:ext>
            </p:extLst>
          </p:nvPr>
        </p:nvGraphicFramePr>
        <p:xfrm>
          <a:off x="9653449" y="2289507"/>
          <a:ext cx="1934955" cy="1643301"/>
        </p:xfrm>
        <a:graphic>
          <a:graphicData uri="http://schemas.openxmlformats.org/drawingml/2006/table">
            <a:tbl>
              <a:tblPr firstRow="1" bandRow="1">
                <a:tableStyleId>{5C22544A-7EE6-4342-B048-85BDC9FD1C3A}</a:tableStyleId>
              </a:tblPr>
              <a:tblGrid>
                <a:gridCol w="644985">
                  <a:extLst>
                    <a:ext uri="{9D8B030D-6E8A-4147-A177-3AD203B41FA5}">
                      <a16:colId xmlns:a16="http://schemas.microsoft.com/office/drawing/2014/main" val="3045806426"/>
                    </a:ext>
                  </a:extLst>
                </a:gridCol>
                <a:gridCol w="644985">
                  <a:extLst>
                    <a:ext uri="{9D8B030D-6E8A-4147-A177-3AD203B41FA5}">
                      <a16:colId xmlns:a16="http://schemas.microsoft.com/office/drawing/2014/main" val="1171089907"/>
                    </a:ext>
                  </a:extLst>
                </a:gridCol>
                <a:gridCol w="644985">
                  <a:extLst>
                    <a:ext uri="{9D8B030D-6E8A-4147-A177-3AD203B41FA5}">
                      <a16:colId xmlns:a16="http://schemas.microsoft.com/office/drawing/2014/main" val="248801779"/>
                    </a:ext>
                  </a:extLst>
                </a:gridCol>
              </a:tblGrid>
              <a:tr h="547767">
                <a:tc>
                  <a:txBody>
                    <a:bodyPr/>
                    <a:lstStyle/>
                    <a:p>
                      <a:pPr algn="ctr"/>
                      <a:r>
                        <a:rPr lang="en-US" altLang="zh-CN" b="1" dirty="0">
                          <a:solidFill>
                            <a:sysClr val="windowText" lastClr="000000"/>
                          </a:solidFill>
                          <a:latin typeface="+mj-ea"/>
                          <a:ea typeface="+mj-ea"/>
                        </a:rPr>
                        <a:t>-1</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solidFill>
                            <a:sysClr val="windowText" lastClr="000000"/>
                          </a:solidFill>
                          <a:latin typeface="+mj-ea"/>
                          <a:ea typeface="+mj-ea"/>
                        </a:rPr>
                        <a:t>-2</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solidFill>
                            <a:sysClr val="windowText" lastClr="000000"/>
                          </a:solidFill>
                          <a:latin typeface="+mj-ea"/>
                          <a:ea typeface="+mj-ea"/>
                        </a:rPr>
                        <a:t>-1</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7710273"/>
                  </a:ext>
                </a:extLst>
              </a:tr>
              <a:tr h="547767">
                <a:tc>
                  <a:txBody>
                    <a:bodyPr/>
                    <a:lstStyle/>
                    <a:p>
                      <a:pPr algn="ctr"/>
                      <a:r>
                        <a:rPr lang="en-US" altLang="zh-CN" b="1" dirty="0">
                          <a:solidFill>
                            <a:sysClr val="windowText" lastClr="000000"/>
                          </a:solidFill>
                          <a:latin typeface="+mj-ea"/>
                          <a:ea typeface="+mj-ea"/>
                        </a:rPr>
                        <a:t>0</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solidFill>
                            <a:sysClr val="windowText" lastClr="000000"/>
                          </a:solidFill>
                          <a:latin typeface="+mj-ea"/>
                          <a:ea typeface="+mj-ea"/>
                        </a:rPr>
                        <a:t>0</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solidFill>
                            <a:sysClr val="windowText" lastClr="000000"/>
                          </a:solidFill>
                          <a:latin typeface="+mj-ea"/>
                          <a:ea typeface="+mj-ea"/>
                        </a:rPr>
                        <a:t>0</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746340"/>
                  </a:ext>
                </a:extLst>
              </a:tr>
              <a:tr h="547767">
                <a:tc>
                  <a:txBody>
                    <a:bodyPr/>
                    <a:lstStyle/>
                    <a:p>
                      <a:pPr algn="ctr"/>
                      <a:r>
                        <a:rPr lang="en-US" altLang="zh-CN" b="1" dirty="0">
                          <a:solidFill>
                            <a:sysClr val="windowText" lastClr="000000"/>
                          </a:solidFill>
                          <a:latin typeface="+mj-ea"/>
                          <a:ea typeface="+mj-ea"/>
                        </a:rPr>
                        <a:t>1</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solidFill>
                            <a:sysClr val="windowText" lastClr="000000"/>
                          </a:solidFill>
                          <a:latin typeface="+mj-ea"/>
                          <a:ea typeface="+mj-ea"/>
                        </a:rPr>
                        <a:t>2</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solidFill>
                            <a:sysClr val="windowText" lastClr="000000"/>
                          </a:solidFill>
                          <a:latin typeface="+mj-ea"/>
                          <a:ea typeface="+mj-ea"/>
                        </a:rPr>
                        <a:t>1</a:t>
                      </a:r>
                      <a:endParaRPr lang="zh-CN" altLang="en-US" b="1" dirty="0">
                        <a:solidFill>
                          <a:sysClr val="windowText" lastClr="000000"/>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9892858"/>
                  </a:ext>
                </a:extLst>
              </a:tr>
            </a:tbl>
          </a:graphicData>
        </a:graphic>
      </p:graphicFrame>
    </p:spTree>
    <p:extLst>
      <p:ext uri="{BB962C8B-B14F-4D97-AF65-F5344CB8AC3E}">
        <p14:creationId xmlns:p14="http://schemas.microsoft.com/office/powerpoint/2010/main" val="391705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1"/>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8"/>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2"/>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6"/>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34"/>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30"/>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38"/>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36"/>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29"/>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24"/>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27"/>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28"/>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p:bldP spid="9" grpId="1"/>
      <p:bldP spid="10" grpId="0" animBg="1"/>
      <p:bldP spid="10" grpId="1" animBg="1"/>
      <p:bldP spid="11" grpId="0" animBg="1"/>
      <p:bldP spid="11" grpId="1" animBg="1"/>
      <p:bldP spid="24" grpId="0" animBg="1"/>
      <p:bldP spid="24" grpId="1" animBg="1"/>
      <p:bldP spid="25" grpId="0" animBg="1"/>
      <p:bldP spid="25" grpId="1" animBg="1"/>
      <p:bldP spid="27" grpId="0" animBg="1"/>
      <p:bldP spid="27" grpId="1" animBg="1"/>
      <p:bldP spid="28" grpId="0" animBg="1"/>
      <p:bldP spid="28" grpId="1" animBg="1"/>
      <p:bldP spid="29" grpId="0"/>
      <p:bldP spid="29"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舉例：邊緣提取</a:t>
            </a:r>
          </a:p>
        </p:txBody>
      </p:sp>
      <p:pic>
        <p:nvPicPr>
          <p:cNvPr id="6" name="图片 5"/>
          <p:cNvPicPr>
            <a:picLocks noChangeAspect="1"/>
          </p:cNvPicPr>
          <p:nvPr/>
        </p:nvPicPr>
        <p:blipFill>
          <a:blip r:embed="rId3"/>
          <a:stretch>
            <a:fillRect/>
          </a:stretch>
        </p:blipFill>
        <p:spPr>
          <a:xfrm>
            <a:off x="-197142" y="1716432"/>
            <a:ext cx="9258980" cy="3425135"/>
          </a:xfrm>
          <a:prstGeom prst="rect">
            <a:avLst/>
          </a:prstGeom>
        </p:spPr>
      </p:pic>
      <p:sp>
        <p:nvSpPr>
          <p:cNvPr id="8" name="内容占位符 2"/>
          <p:cNvSpPr>
            <a:spLocks noGrp="1"/>
          </p:cNvSpPr>
          <p:nvPr>
            <p:ph sz="quarter" idx="1"/>
          </p:nvPr>
        </p:nvSpPr>
        <p:spPr>
          <a:xfrm>
            <a:off x="1728846" y="1690443"/>
            <a:ext cx="10363200" cy="4572000"/>
          </a:xfrm>
        </p:spPr>
        <p:txBody>
          <a:bodyPr>
            <a:norm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a:p>
            <a:pPr marL="0" indent="0">
              <a:buNone/>
            </a:pPr>
            <a:r>
              <a:rPr lang="zh-CN" altLang="en-US" sz="2000" dirty="0"/>
              <a:t>      圖像                                                       匹配結果                                              加</a:t>
            </a:r>
            <a:r>
              <a:rPr lang="en-US" altLang="zh-CN" sz="2000" dirty="0"/>
              <a:t>sigmoid</a:t>
            </a:r>
            <a:endParaRPr lang="zh-CN" altLang="en-US" sz="2000" dirty="0"/>
          </a:p>
        </p:txBody>
      </p:sp>
      <p:grpSp>
        <p:nvGrpSpPr>
          <p:cNvPr id="276" name="组合 275">
            <a:extLst>
              <a:ext uri="{FF2B5EF4-FFF2-40B4-BE49-F238E27FC236}">
                <a16:creationId xmlns:a16="http://schemas.microsoft.com/office/drawing/2014/main" id="{317BE68D-4C2C-8888-541B-DA41041D9288}"/>
              </a:ext>
            </a:extLst>
          </p:cNvPr>
          <p:cNvGrpSpPr/>
          <p:nvPr/>
        </p:nvGrpSpPr>
        <p:grpSpPr>
          <a:xfrm>
            <a:off x="7119966" y="1873300"/>
            <a:ext cx="5577664" cy="3091733"/>
            <a:chOff x="6854495" y="1837318"/>
            <a:chExt cx="5577664" cy="3091733"/>
          </a:xfrm>
        </p:grpSpPr>
        <p:pic>
          <p:nvPicPr>
            <p:cNvPr id="9" name="图片 8"/>
            <p:cNvPicPr>
              <a:picLocks noChangeAspect="1"/>
            </p:cNvPicPr>
            <p:nvPr/>
          </p:nvPicPr>
          <p:blipFill>
            <a:blip r:embed="rId4"/>
            <a:stretch>
              <a:fillRect/>
            </a:stretch>
          </p:blipFill>
          <p:spPr>
            <a:xfrm>
              <a:off x="6854495" y="1851711"/>
              <a:ext cx="5577664" cy="3077340"/>
            </a:xfrm>
            <a:prstGeom prst="rect">
              <a:avLst/>
            </a:prstGeom>
          </p:spPr>
        </p:pic>
        <p:grpSp>
          <p:nvGrpSpPr>
            <p:cNvPr id="275" name="组合 274">
              <a:extLst>
                <a:ext uri="{FF2B5EF4-FFF2-40B4-BE49-F238E27FC236}">
                  <a16:creationId xmlns:a16="http://schemas.microsoft.com/office/drawing/2014/main" id="{C9C58971-1499-7C30-213B-809CC8E58A2F}"/>
                </a:ext>
              </a:extLst>
            </p:cNvPr>
            <p:cNvGrpSpPr/>
            <p:nvPr/>
          </p:nvGrpSpPr>
          <p:grpSpPr>
            <a:xfrm>
              <a:off x="8143951" y="1837318"/>
              <a:ext cx="3005216" cy="2891356"/>
              <a:chOff x="8143951" y="1837318"/>
              <a:chExt cx="3005216" cy="2891356"/>
            </a:xfrm>
          </p:grpSpPr>
          <p:sp>
            <p:nvSpPr>
              <p:cNvPr id="3" name="文本框 2">
                <a:extLst>
                  <a:ext uri="{FF2B5EF4-FFF2-40B4-BE49-F238E27FC236}">
                    <a16:creationId xmlns:a16="http://schemas.microsoft.com/office/drawing/2014/main" id="{DE44ADC3-0D8F-6528-4118-4B13B57DE01A}"/>
                  </a:ext>
                </a:extLst>
              </p:cNvPr>
              <p:cNvSpPr txBox="1"/>
              <p:nvPr/>
            </p:nvSpPr>
            <p:spPr>
              <a:xfrm>
                <a:off x="8143951"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5" name="文本框 4">
                <a:extLst>
                  <a:ext uri="{FF2B5EF4-FFF2-40B4-BE49-F238E27FC236}">
                    <a16:creationId xmlns:a16="http://schemas.microsoft.com/office/drawing/2014/main" id="{8FEEF4AC-57CE-091F-A963-9C0392CD260A}"/>
                  </a:ext>
                </a:extLst>
              </p:cNvPr>
              <p:cNvSpPr txBox="1"/>
              <p:nvPr/>
            </p:nvSpPr>
            <p:spPr>
              <a:xfrm>
                <a:off x="8333015"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 name="文本框 6">
                <a:extLst>
                  <a:ext uri="{FF2B5EF4-FFF2-40B4-BE49-F238E27FC236}">
                    <a16:creationId xmlns:a16="http://schemas.microsoft.com/office/drawing/2014/main" id="{3E56FE60-120A-0BB6-6138-274D76A265BA}"/>
                  </a:ext>
                </a:extLst>
              </p:cNvPr>
              <p:cNvSpPr txBox="1"/>
              <p:nvPr/>
            </p:nvSpPr>
            <p:spPr>
              <a:xfrm>
                <a:off x="8527490"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2" name="文本框 21">
                <a:extLst>
                  <a:ext uri="{FF2B5EF4-FFF2-40B4-BE49-F238E27FC236}">
                    <a16:creationId xmlns:a16="http://schemas.microsoft.com/office/drawing/2014/main" id="{883E4E0B-E9B0-21C9-1935-5A9D8343B270}"/>
                  </a:ext>
                </a:extLst>
              </p:cNvPr>
              <p:cNvSpPr txBox="1"/>
              <p:nvPr/>
            </p:nvSpPr>
            <p:spPr>
              <a:xfrm>
                <a:off x="8718869"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3" name="文本框 22">
                <a:extLst>
                  <a:ext uri="{FF2B5EF4-FFF2-40B4-BE49-F238E27FC236}">
                    <a16:creationId xmlns:a16="http://schemas.microsoft.com/office/drawing/2014/main" id="{6584DBD5-FA89-D834-5B73-12F43E55BBD8}"/>
                  </a:ext>
                </a:extLst>
              </p:cNvPr>
              <p:cNvSpPr txBox="1"/>
              <p:nvPr/>
            </p:nvSpPr>
            <p:spPr>
              <a:xfrm>
                <a:off x="8910248"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4" name="文本框 23">
                <a:extLst>
                  <a:ext uri="{FF2B5EF4-FFF2-40B4-BE49-F238E27FC236}">
                    <a16:creationId xmlns:a16="http://schemas.microsoft.com/office/drawing/2014/main" id="{579117DB-CD96-EF74-B3ED-489C1750A8C3}"/>
                  </a:ext>
                </a:extLst>
              </p:cNvPr>
              <p:cNvSpPr txBox="1"/>
              <p:nvPr/>
            </p:nvSpPr>
            <p:spPr>
              <a:xfrm>
                <a:off x="9101627"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5" name="文本框 24">
                <a:extLst>
                  <a:ext uri="{FF2B5EF4-FFF2-40B4-BE49-F238E27FC236}">
                    <a16:creationId xmlns:a16="http://schemas.microsoft.com/office/drawing/2014/main" id="{90751D0F-E22C-2CB8-BC09-234C0136ED98}"/>
                  </a:ext>
                </a:extLst>
              </p:cNvPr>
              <p:cNvSpPr txBox="1"/>
              <p:nvPr/>
            </p:nvSpPr>
            <p:spPr>
              <a:xfrm>
                <a:off x="9293006"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6" name="文本框 25">
                <a:extLst>
                  <a:ext uri="{FF2B5EF4-FFF2-40B4-BE49-F238E27FC236}">
                    <a16:creationId xmlns:a16="http://schemas.microsoft.com/office/drawing/2014/main" id="{EFDAD6EF-ECDA-7254-BC35-E84472FD2B1D}"/>
                  </a:ext>
                </a:extLst>
              </p:cNvPr>
              <p:cNvSpPr txBox="1"/>
              <p:nvPr/>
            </p:nvSpPr>
            <p:spPr>
              <a:xfrm>
                <a:off x="9484385"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7" name="文本框 26">
                <a:extLst>
                  <a:ext uri="{FF2B5EF4-FFF2-40B4-BE49-F238E27FC236}">
                    <a16:creationId xmlns:a16="http://schemas.microsoft.com/office/drawing/2014/main" id="{3F6746F8-9023-8E6C-8BF1-0D9B4B6E3031}"/>
                  </a:ext>
                </a:extLst>
              </p:cNvPr>
              <p:cNvSpPr txBox="1"/>
              <p:nvPr/>
            </p:nvSpPr>
            <p:spPr>
              <a:xfrm>
                <a:off x="9675764"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8" name="文本框 27">
                <a:extLst>
                  <a:ext uri="{FF2B5EF4-FFF2-40B4-BE49-F238E27FC236}">
                    <a16:creationId xmlns:a16="http://schemas.microsoft.com/office/drawing/2014/main" id="{3D410067-6D3F-53AE-D3F1-E607012E3FE1}"/>
                  </a:ext>
                </a:extLst>
              </p:cNvPr>
              <p:cNvSpPr txBox="1"/>
              <p:nvPr/>
            </p:nvSpPr>
            <p:spPr>
              <a:xfrm>
                <a:off x="9867143"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9" name="文本框 28">
                <a:extLst>
                  <a:ext uri="{FF2B5EF4-FFF2-40B4-BE49-F238E27FC236}">
                    <a16:creationId xmlns:a16="http://schemas.microsoft.com/office/drawing/2014/main" id="{B77CB43E-0D8B-04EF-D1BA-5CB3C4C65A90}"/>
                  </a:ext>
                </a:extLst>
              </p:cNvPr>
              <p:cNvSpPr txBox="1"/>
              <p:nvPr/>
            </p:nvSpPr>
            <p:spPr>
              <a:xfrm>
                <a:off x="10058522"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30" name="文本框 29">
                <a:extLst>
                  <a:ext uri="{FF2B5EF4-FFF2-40B4-BE49-F238E27FC236}">
                    <a16:creationId xmlns:a16="http://schemas.microsoft.com/office/drawing/2014/main" id="{3E2501D8-2D10-484B-6CE1-00776A2B19FD}"/>
                  </a:ext>
                </a:extLst>
              </p:cNvPr>
              <p:cNvSpPr txBox="1"/>
              <p:nvPr/>
            </p:nvSpPr>
            <p:spPr>
              <a:xfrm>
                <a:off x="10249901"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31" name="文本框 30">
                <a:extLst>
                  <a:ext uri="{FF2B5EF4-FFF2-40B4-BE49-F238E27FC236}">
                    <a16:creationId xmlns:a16="http://schemas.microsoft.com/office/drawing/2014/main" id="{82030DDA-29CD-C395-5562-834C157DD92F}"/>
                  </a:ext>
                </a:extLst>
              </p:cNvPr>
              <p:cNvSpPr txBox="1"/>
              <p:nvPr/>
            </p:nvSpPr>
            <p:spPr>
              <a:xfrm>
                <a:off x="10435869"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32" name="文本框 31">
                <a:extLst>
                  <a:ext uri="{FF2B5EF4-FFF2-40B4-BE49-F238E27FC236}">
                    <a16:creationId xmlns:a16="http://schemas.microsoft.com/office/drawing/2014/main" id="{B9187658-947A-87C5-233A-1CB790134926}"/>
                  </a:ext>
                </a:extLst>
              </p:cNvPr>
              <p:cNvSpPr txBox="1"/>
              <p:nvPr/>
            </p:nvSpPr>
            <p:spPr>
              <a:xfrm>
                <a:off x="10627248"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33" name="文本框 32">
                <a:extLst>
                  <a:ext uri="{FF2B5EF4-FFF2-40B4-BE49-F238E27FC236}">
                    <a16:creationId xmlns:a16="http://schemas.microsoft.com/office/drawing/2014/main" id="{CDE671D7-7073-B4DA-5BD8-72CF5587DFDB}"/>
                  </a:ext>
                </a:extLst>
              </p:cNvPr>
              <p:cNvSpPr txBox="1"/>
              <p:nvPr/>
            </p:nvSpPr>
            <p:spPr>
              <a:xfrm>
                <a:off x="10818627" y="432230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34" name="文本框 33">
                <a:extLst>
                  <a:ext uri="{FF2B5EF4-FFF2-40B4-BE49-F238E27FC236}">
                    <a16:creationId xmlns:a16="http://schemas.microsoft.com/office/drawing/2014/main" id="{0F816036-2A77-7722-31D7-26D0482789F7}"/>
                  </a:ext>
                </a:extLst>
              </p:cNvPr>
              <p:cNvSpPr txBox="1"/>
              <p:nvPr/>
            </p:nvSpPr>
            <p:spPr>
              <a:xfrm>
                <a:off x="8143951" y="4131384"/>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35" name="文本框 34">
                <a:extLst>
                  <a:ext uri="{FF2B5EF4-FFF2-40B4-BE49-F238E27FC236}">
                    <a16:creationId xmlns:a16="http://schemas.microsoft.com/office/drawing/2014/main" id="{7AA67638-6A43-E04D-7616-201D8E74F96D}"/>
                  </a:ext>
                </a:extLst>
              </p:cNvPr>
              <p:cNvSpPr txBox="1"/>
              <p:nvPr/>
            </p:nvSpPr>
            <p:spPr>
              <a:xfrm>
                <a:off x="8333015" y="4131384"/>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36" name="文本框 35">
                <a:extLst>
                  <a:ext uri="{FF2B5EF4-FFF2-40B4-BE49-F238E27FC236}">
                    <a16:creationId xmlns:a16="http://schemas.microsoft.com/office/drawing/2014/main" id="{4DDFD76D-D3C3-25B7-D95B-5538A8A9C0BA}"/>
                  </a:ext>
                </a:extLst>
              </p:cNvPr>
              <p:cNvSpPr txBox="1"/>
              <p:nvPr/>
            </p:nvSpPr>
            <p:spPr>
              <a:xfrm>
                <a:off x="8527490" y="4131384"/>
                <a:ext cx="330540" cy="215444"/>
              </a:xfrm>
              <a:prstGeom prst="rect">
                <a:avLst/>
              </a:prstGeom>
              <a:noFill/>
            </p:spPr>
            <p:txBody>
              <a:bodyPr wrap="none" rtlCol="0">
                <a:spAutoFit/>
              </a:bodyPr>
              <a:lstStyle/>
              <a:p>
                <a:r>
                  <a:rPr kumimoji="1" lang="en-US" altLang="zh-CN" sz="800" dirty="0">
                    <a:latin typeface="+mj-ea"/>
                    <a:ea typeface="+mj-ea"/>
                  </a:rPr>
                  <a:t>0.7</a:t>
                </a:r>
                <a:endParaRPr kumimoji="1" lang="zh-CN" altLang="en-US" sz="800" dirty="0">
                  <a:latin typeface="+mj-ea"/>
                  <a:ea typeface="+mj-ea"/>
                </a:endParaRPr>
              </a:p>
            </p:txBody>
          </p:sp>
          <p:sp>
            <p:nvSpPr>
              <p:cNvPr id="37" name="文本框 36">
                <a:extLst>
                  <a:ext uri="{FF2B5EF4-FFF2-40B4-BE49-F238E27FC236}">
                    <a16:creationId xmlns:a16="http://schemas.microsoft.com/office/drawing/2014/main" id="{37BCE571-F8A5-03B1-3253-B93AA7DA8CB5}"/>
                  </a:ext>
                </a:extLst>
              </p:cNvPr>
              <p:cNvSpPr txBox="1"/>
              <p:nvPr/>
            </p:nvSpPr>
            <p:spPr>
              <a:xfrm>
                <a:off x="8718869"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38" name="文本框 37">
                <a:extLst>
                  <a:ext uri="{FF2B5EF4-FFF2-40B4-BE49-F238E27FC236}">
                    <a16:creationId xmlns:a16="http://schemas.microsoft.com/office/drawing/2014/main" id="{0E71A538-17BE-B40C-4C76-A211502ADE99}"/>
                  </a:ext>
                </a:extLst>
              </p:cNvPr>
              <p:cNvSpPr txBox="1"/>
              <p:nvPr/>
            </p:nvSpPr>
            <p:spPr>
              <a:xfrm>
                <a:off x="8910248"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39" name="文本框 38">
                <a:extLst>
                  <a:ext uri="{FF2B5EF4-FFF2-40B4-BE49-F238E27FC236}">
                    <a16:creationId xmlns:a16="http://schemas.microsoft.com/office/drawing/2014/main" id="{6469C387-AE83-AD9B-DFAA-D8F4DC71EEE4}"/>
                  </a:ext>
                </a:extLst>
              </p:cNvPr>
              <p:cNvSpPr txBox="1"/>
              <p:nvPr/>
            </p:nvSpPr>
            <p:spPr>
              <a:xfrm>
                <a:off x="9101627"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40" name="文本框 39">
                <a:extLst>
                  <a:ext uri="{FF2B5EF4-FFF2-40B4-BE49-F238E27FC236}">
                    <a16:creationId xmlns:a16="http://schemas.microsoft.com/office/drawing/2014/main" id="{F5214DF3-F1F7-9A34-4D05-E7591C304912}"/>
                  </a:ext>
                </a:extLst>
              </p:cNvPr>
              <p:cNvSpPr txBox="1"/>
              <p:nvPr/>
            </p:nvSpPr>
            <p:spPr>
              <a:xfrm>
                <a:off x="9293006"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41" name="文本框 40">
                <a:extLst>
                  <a:ext uri="{FF2B5EF4-FFF2-40B4-BE49-F238E27FC236}">
                    <a16:creationId xmlns:a16="http://schemas.microsoft.com/office/drawing/2014/main" id="{637359D1-2069-F65D-002B-86A8070A8470}"/>
                  </a:ext>
                </a:extLst>
              </p:cNvPr>
              <p:cNvSpPr txBox="1"/>
              <p:nvPr/>
            </p:nvSpPr>
            <p:spPr>
              <a:xfrm>
                <a:off x="9484385"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42" name="文本框 41">
                <a:extLst>
                  <a:ext uri="{FF2B5EF4-FFF2-40B4-BE49-F238E27FC236}">
                    <a16:creationId xmlns:a16="http://schemas.microsoft.com/office/drawing/2014/main" id="{0AEAE87A-0D2F-B113-B1B3-0DC70F3260F6}"/>
                  </a:ext>
                </a:extLst>
              </p:cNvPr>
              <p:cNvSpPr txBox="1"/>
              <p:nvPr/>
            </p:nvSpPr>
            <p:spPr>
              <a:xfrm>
                <a:off x="9675764"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43" name="文本框 42">
                <a:extLst>
                  <a:ext uri="{FF2B5EF4-FFF2-40B4-BE49-F238E27FC236}">
                    <a16:creationId xmlns:a16="http://schemas.microsoft.com/office/drawing/2014/main" id="{68753150-FC7F-5D49-3710-D02D019D3F0C}"/>
                  </a:ext>
                </a:extLst>
              </p:cNvPr>
              <p:cNvSpPr txBox="1"/>
              <p:nvPr/>
            </p:nvSpPr>
            <p:spPr>
              <a:xfrm>
                <a:off x="9867143"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44" name="文本框 43">
                <a:extLst>
                  <a:ext uri="{FF2B5EF4-FFF2-40B4-BE49-F238E27FC236}">
                    <a16:creationId xmlns:a16="http://schemas.microsoft.com/office/drawing/2014/main" id="{BFE45F17-AA76-E8FD-CD98-289146DCAFF5}"/>
                  </a:ext>
                </a:extLst>
              </p:cNvPr>
              <p:cNvSpPr txBox="1"/>
              <p:nvPr/>
            </p:nvSpPr>
            <p:spPr>
              <a:xfrm>
                <a:off x="10058522"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45" name="文本框 44">
                <a:extLst>
                  <a:ext uri="{FF2B5EF4-FFF2-40B4-BE49-F238E27FC236}">
                    <a16:creationId xmlns:a16="http://schemas.microsoft.com/office/drawing/2014/main" id="{4B820BBD-2C68-26A7-C9C6-149A5CA45FA3}"/>
                  </a:ext>
                </a:extLst>
              </p:cNvPr>
              <p:cNvSpPr txBox="1"/>
              <p:nvPr/>
            </p:nvSpPr>
            <p:spPr>
              <a:xfrm>
                <a:off x="10249901" y="413138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46" name="文本框 45">
                <a:extLst>
                  <a:ext uri="{FF2B5EF4-FFF2-40B4-BE49-F238E27FC236}">
                    <a16:creationId xmlns:a16="http://schemas.microsoft.com/office/drawing/2014/main" id="{DAAA1E7F-CB94-EE2B-FE01-AAF55A4D5C46}"/>
                  </a:ext>
                </a:extLst>
              </p:cNvPr>
              <p:cNvSpPr txBox="1"/>
              <p:nvPr/>
            </p:nvSpPr>
            <p:spPr>
              <a:xfrm>
                <a:off x="10435869" y="4131384"/>
                <a:ext cx="330540" cy="215444"/>
              </a:xfrm>
              <a:prstGeom prst="rect">
                <a:avLst/>
              </a:prstGeom>
              <a:noFill/>
            </p:spPr>
            <p:txBody>
              <a:bodyPr wrap="none" rtlCol="0">
                <a:spAutoFit/>
              </a:bodyPr>
              <a:lstStyle/>
              <a:p>
                <a:r>
                  <a:rPr kumimoji="1" lang="en-US" altLang="zh-CN" sz="800" dirty="0">
                    <a:latin typeface="+mj-ea"/>
                    <a:ea typeface="+mj-ea"/>
                  </a:rPr>
                  <a:t>0.7</a:t>
                </a:r>
                <a:endParaRPr kumimoji="1" lang="zh-CN" altLang="en-US" sz="800" dirty="0">
                  <a:latin typeface="+mj-ea"/>
                  <a:ea typeface="+mj-ea"/>
                </a:endParaRPr>
              </a:p>
            </p:txBody>
          </p:sp>
          <p:sp>
            <p:nvSpPr>
              <p:cNvPr id="47" name="文本框 46">
                <a:extLst>
                  <a:ext uri="{FF2B5EF4-FFF2-40B4-BE49-F238E27FC236}">
                    <a16:creationId xmlns:a16="http://schemas.microsoft.com/office/drawing/2014/main" id="{EA11FEF7-6C25-C09B-92C7-2D2E78243C6D}"/>
                  </a:ext>
                </a:extLst>
              </p:cNvPr>
              <p:cNvSpPr txBox="1"/>
              <p:nvPr/>
            </p:nvSpPr>
            <p:spPr>
              <a:xfrm>
                <a:off x="10627248" y="4131384"/>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48" name="文本框 47">
                <a:extLst>
                  <a:ext uri="{FF2B5EF4-FFF2-40B4-BE49-F238E27FC236}">
                    <a16:creationId xmlns:a16="http://schemas.microsoft.com/office/drawing/2014/main" id="{BA9A9754-15D9-51FA-6B16-02E5ECFEF2AC}"/>
                  </a:ext>
                </a:extLst>
              </p:cNvPr>
              <p:cNvSpPr txBox="1"/>
              <p:nvPr/>
            </p:nvSpPr>
            <p:spPr>
              <a:xfrm>
                <a:off x="10818627" y="4131384"/>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49" name="文本框 48">
                <a:extLst>
                  <a:ext uri="{FF2B5EF4-FFF2-40B4-BE49-F238E27FC236}">
                    <a16:creationId xmlns:a16="http://schemas.microsoft.com/office/drawing/2014/main" id="{56E6213C-B14A-D3DD-A520-008270F28687}"/>
                  </a:ext>
                </a:extLst>
              </p:cNvPr>
              <p:cNvSpPr txBox="1"/>
              <p:nvPr/>
            </p:nvSpPr>
            <p:spPr>
              <a:xfrm>
                <a:off x="8143951" y="394046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50" name="文本框 49">
                <a:extLst>
                  <a:ext uri="{FF2B5EF4-FFF2-40B4-BE49-F238E27FC236}">
                    <a16:creationId xmlns:a16="http://schemas.microsoft.com/office/drawing/2014/main" id="{4C4A5CC7-DEE0-572D-1D23-9149697F33F5}"/>
                  </a:ext>
                </a:extLst>
              </p:cNvPr>
              <p:cNvSpPr txBox="1"/>
              <p:nvPr/>
            </p:nvSpPr>
            <p:spPr>
              <a:xfrm>
                <a:off x="8333015" y="394046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51" name="文本框 50">
                <a:extLst>
                  <a:ext uri="{FF2B5EF4-FFF2-40B4-BE49-F238E27FC236}">
                    <a16:creationId xmlns:a16="http://schemas.microsoft.com/office/drawing/2014/main" id="{CB2A2145-D924-073A-D7B4-871B90551CD7}"/>
                  </a:ext>
                </a:extLst>
              </p:cNvPr>
              <p:cNvSpPr txBox="1"/>
              <p:nvPr/>
            </p:nvSpPr>
            <p:spPr>
              <a:xfrm>
                <a:off x="8527490" y="3940461"/>
                <a:ext cx="330540" cy="215444"/>
              </a:xfrm>
              <a:prstGeom prst="rect">
                <a:avLst/>
              </a:prstGeom>
              <a:noFill/>
            </p:spPr>
            <p:txBody>
              <a:bodyPr wrap="none" rtlCol="0">
                <a:spAutoFit/>
              </a:bodyPr>
              <a:lstStyle/>
              <a:p>
                <a:r>
                  <a:rPr kumimoji="1" lang="en-US" altLang="zh-CN" sz="800" dirty="0">
                    <a:latin typeface="+mj-ea"/>
                    <a:ea typeface="+mj-ea"/>
                  </a:rPr>
                  <a:t>0.7</a:t>
                </a:r>
                <a:endParaRPr kumimoji="1" lang="zh-CN" altLang="en-US" sz="800" dirty="0">
                  <a:latin typeface="+mj-ea"/>
                  <a:ea typeface="+mj-ea"/>
                </a:endParaRPr>
              </a:p>
            </p:txBody>
          </p:sp>
          <p:sp>
            <p:nvSpPr>
              <p:cNvPr id="52" name="文本框 51">
                <a:extLst>
                  <a:ext uri="{FF2B5EF4-FFF2-40B4-BE49-F238E27FC236}">
                    <a16:creationId xmlns:a16="http://schemas.microsoft.com/office/drawing/2014/main" id="{6062FD36-9473-AD34-8800-E3920C621085}"/>
                  </a:ext>
                </a:extLst>
              </p:cNvPr>
              <p:cNvSpPr txBox="1"/>
              <p:nvPr/>
            </p:nvSpPr>
            <p:spPr>
              <a:xfrm>
                <a:off x="8718869"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53" name="文本框 52">
                <a:extLst>
                  <a:ext uri="{FF2B5EF4-FFF2-40B4-BE49-F238E27FC236}">
                    <a16:creationId xmlns:a16="http://schemas.microsoft.com/office/drawing/2014/main" id="{078A72BF-C105-8E36-7D5D-58F3F976F56C}"/>
                  </a:ext>
                </a:extLst>
              </p:cNvPr>
              <p:cNvSpPr txBox="1"/>
              <p:nvPr/>
            </p:nvSpPr>
            <p:spPr>
              <a:xfrm>
                <a:off x="8910248"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54" name="文本框 53">
                <a:extLst>
                  <a:ext uri="{FF2B5EF4-FFF2-40B4-BE49-F238E27FC236}">
                    <a16:creationId xmlns:a16="http://schemas.microsoft.com/office/drawing/2014/main" id="{5198366D-BE54-A8A1-0678-C341B65A0778}"/>
                  </a:ext>
                </a:extLst>
              </p:cNvPr>
              <p:cNvSpPr txBox="1"/>
              <p:nvPr/>
            </p:nvSpPr>
            <p:spPr>
              <a:xfrm>
                <a:off x="9101627"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55" name="文本框 54">
                <a:extLst>
                  <a:ext uri="{FF2B5EF4-FFF2-40B4-BE49-F238E27FC236}">
                    <a16:creationId xmlns:a16="http://schemas.microsoft.com/office/drawing/2014/main" id="{E0C0D35A-F8EE-3C3B-70A3-73A819A88638}"/>
                  </a:ext>
                </a:extLst>
              </p:cNvPr>
              <p:cNvSpPr txBox="1"/>
              <p:nvPr/>
            </p:nvSpPr>
            <p:spPr>
              <a:xfrm>
                <a:off x="9293006"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56" name="文本框 55">
                <a:extLst>
                  <a:ext uri="{FF2B5EF4-FFF2-40B4-BE49-F238E27FC236}">
                    <a16:creationId xmlns:a16="http://schemas.microsoft.com/office/drawing/2014/main" id="{0D3951CC-B0E9-BD07-80DF-53CBCA1DDFA0}"/>
                  </a:ext>
                </a:extLst>
              </p:cNvPr>
              <p:cNvSpPr txBox="1"/>
              <p:nvPr/>
            </p:nvSpPr>
            <p:spPr>
              <a:xfrm>
                <a:off x="9484385"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57" name="文本框 56">
                <a:extLst>
                  <a:ext uri="{FF2B5EF4-FFF2-40B4-BE49-F238E27FC236}">
                    <a16:creationId xmlns:a16="http://schemas.microsoft.com/office/drawing/2014/main" id="{B82D8CB2-B002-C1D5-31E0-DEB06A137FD5}"/>
                  </a:ext>
                </a:extLst>
              </p:cNvPr>
              <p:cNvSpPr txBox="1"/>
              <p:nvPr/>
            </p:nvSpPr>
            <p:spPr>
              <a:xfrm>
                <a:off x="9675764"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58" name="文本框 57">
                <a:extLst>
                  <a:ext uri="{FF2B5EF4-FFF2-40B4-BE49-F238E27FC236}">
                    <a16:creationId xmlns:a16="http://schemas.microsoft.com/office/drawing/2014/main" id="{206CA2CB-2492-7702-D314-35E6C749430F}"/>
                  </a:ext>
                </a:extLst>
              </p:cNvPr>
              <p:cNvSpPr txBox="1"/>
              <p:nvPr/>
            </p:nvSpPr>
            <p:spPr>
              <a:xfrm>
                <a:off x="9867143"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59" name="文本框 58">
                <a:extLst>
                  <a:ext uri="{FF2B5EF4-FFF2-40B4-BE49-F238E27FC236}">
                    <a16:creationId xmlns:a16="http://schemas.microsoft.com/office/drawing/2014/main" id="{78D0DC55-39A3-7C0D-F909-E3BEF76B55C2}"/>
                  </a:ext>
                </a:extLst>
              </p:cNvPr>
              <p:cNvSpPr txBox="1"/>
              <p:nvPr/>
            </p:nvSpPr>
            <p:spPr>
              <a:xfrm>
                <a:off x="10058522"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60" name="文本框 59">
                <a:extLst>
                  <a:ext uri="{FF2B5EF4-FFF2-40B4-BE49-F238E27FC236}">
                    <a16:creationId xmlns:a16="http://schemas.microsoft.com/office/drawing/2014/main" id="{ECF46022-9DED-7E3F-0E80-AB63527F76D6}"/>
                  </a:ext>
                </a:extLst>
              </p:cNvPr>
              <p:cNvSpPr txBox="1"/>
              <p:nvPr/>
            </p:nvSpPr>
            <p:spPr>
              <a:xfrm>
                <a:off x="10249901" y="394046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61" name="文本框 60">
                <a:extLst>
                  <a:ext uri="{FF2B5EF4-FFF2-40B4-BE49-F238E27FC236}">
                    <a16:creationId xmlns:a16="http://schemas.microsoft.com/office/drawing/2014/main" id="{E09AA6DD-0561-FF18-717A-CE7A87379E20}"/>
                  </a:ext>
                </a:extLst>
              </p:cNvPr>
              <p:cNvSpPr txBox="1"/>
              <p:nvPr/>
            </p:nvSpPr>
            <p:spPr>
              <a:xfrm>
                <a:off x="10435869" y="3940461"/>
                <a:ext cx="330540" cy="215444"/>
              </a:xfrm>
              <a:prstGeom prst="rect">
                <a:avLst/>
              </a:prstGeom>
              <a:noFill/>
            </p:spPr>
            <p:txBody>
              <a:bodyPr wrap="none" rtlCol="0">
                <a:spAutoFit/>
              </a:bodyPr>
              <a:lstStyle/>
              <a:p>
                <a:r>
                  <a:rPr kumimoji="1" lang="en-US" altLang="zh-CN" sz="800" dirty="0">
                    <a:latin typeface="+mj-ea"/>
                    <a:ea typeface="+mj-ea"/>
                  </a:rPr>
                  <a:t>0.7</a:t>
                </a:r>
                <a:endParaRPr kumimoji="1" lang="zh-CN" altLang="en-US" sz="800" dirty="0">
                  <a:latin typeface="+mj-ea"/>
                  <a:ea typeface="+mj-ea"/>
                </a:endParaRPr>
              </a:p>
            </p:txBody>
          </p:sp>
          <p:sp>
            <p:nvSpPr>
              <p:cNvPr id="62" name="文本框 61">
                <a:extLst>
                  <a:ext uri="{FF2B5EF4-FFF2-40B4-BE49-F238E27FC236}">
                    <a16:creationId xmlns:a16="http://schemas.microsoft.com/office/drawing/2014/main" id="{ECA44FA8-01B7-7B51-65E8-9F4DFBB5C6DF}"/>
                  </a:ext>
                </a:extLst>
              </p:cNvPr>
              <p:cNvSpPr txBox="1"/>
              <p:nvPr/>
            </p:nvSpPr>
            <p:spPr>
              <a:xfrm>
                <a:off x="10627248" y="394046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63" name="文本框 62">
                <a:extLst>
                  <a:ext uri="{FF2B5EF4-FFF2-40B4-BE49-F238E27FC236}">
                    <a16:creationId xmlns:a16="http://schemas.microsoft.com/office/drawing/2014/main" id="{4DC26350-D672-86E2-72B2-3631027CEE43}"/>
                  </a:ext>
                </a:extLst>
              </p:cNvPr>
              <p:cNvSpPr txBox="1"/>
              <p:nvPr/>
            </p:nvSpPr>
            <p:spPr>
              <a:xfrm>
                <a:off x="10818627" y="394046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64" name="文本框 63">
                <a:extLst>
                  <a:ext uri="{FF2B5EF4-FFF2-40B4-BE49-F238E27FC236}">
                    <a16:creationId xmlns:a16="http://schemas.microsoft.com/office/drawing/2014/main" id="{35C7F960-D38C-4FBC-FD40-B831E18A3DB7}"/>
                  </a:ext>
                </a:extLst>
              </p:cNvPr>
              <p:cNvSpPr txBox="1"/>
              <p:nvPr/>
            </p:nvSpPr>
            <p:spPr>
              <a:xfrm>
                <a:off x="8143951"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65" name="文本框 64">
                <a:extLst>
                  <a:ext uri="{FF2B5EF4-FFF2-40B4-BE49-F238E27FC236}">
                    <a16:creationId xmlns:a16="http://schemas.microsoft.com/office/drawing/2014/main" id="{D96F7D57-6B52-E802-7020-BA0DC94A06AF}"/>
                  </a:ext>
                </a:extLst>
              </p:cNvPr>
              <p:cNvSpPr txBox="1"/>
              <p:nvPr/>
            </p:nvSpPr>
            <p:spPr>
              <a:xfrm>
                <a:off x="8333015"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66" name="文本框 65">
                <a:extLst>
                  <a:ext uri="{FF2B5EF4-FFF2-40B4-BE49-F238E27FC236}">
                    <a16:creationId xmlns:a16="http://schemas.microsoft.com/office/drawing/2014/main" id="{E662B07E-2321-75A9-F04D-6AB17929324B}"/>
                  </a:ext>
                </a:extLst>
              </p:cNvPr>
              <p:cNvSpPr txBox="1"/>
              <p:nvPr/>
            </p:nvSpPr>
            <p:spPr>
              <a:xfrm>
                <a:off x="8527490"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67" name="文本框 66">
                <a:extLst>
                  <a:ext uri="{FF2B5EF4-FFF2-40B4-BE49-F238E27FC236}">
                    <a16:creationId xmlns:a16="http://schemas.microsoft.com/office/drawing/2014/main" id="{49F100E1-CE6E-94C7-9887-813B334D5268}"/>
                  </a:ext>
                </a:extLst>
              </p:cNvPr>
              <p:cNvSpPr txBox="1"/>
              <p:nvPr/>
            </p:nvSpPr>
            <p:spPr>
              <a:xfrm>
                <a:off x="8718869"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68" name="文本框 67">
                <a:extLst>
                  <a:ext uri="{FF2B5EF4-FFF2-40B4-BE49-F238E27FC236}">
                    <a16:creationId xmlns:a16="http://schemas.microsoft.com/office/drawing/2014/main" id="{EBC99BAB-4319-BB64-9156-6CA82D580369}"/>
                  </a:ext>
                </a:extLst>
              </p:cNvPr>
              <p:cNvSpPr txBox="1"/>
              <p:nvPr/>
            </p:nvSpPr>
            <p:spPr>
              <a:xfrm>
                <a:off x="8910248"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69" name="文本框 68">
                <a:extLst>
                  <a:ext uri="{FF2B5EF4-FFF2-40B4-BE49-F238E27FC236}">
                    <a16:creationId xmlns:a16="http://schemas.microsoft.com/office/drawing/2014/main" id="{E70A92E7-0F9C-5444-6A07-FDD1CBCCE71C}"/>
                  </a:ext>
                </a:extLst>
              </p:cNvPr>
              <p:cNvSpPr txBox="1"/>
              <p:nvPr/>
            </p:nvSpPr>
            <p:spPr>
              <a:xfrm>
                <a:off x="9101627"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0" name="文本框 69">
                <a:extLst>
                  <a:ext uri="{FF2B5EF4-FFF2-40B4-BE49-F238E27FC236}">
                    <a16:creationId xmlns:a16="http://schemas.microsoft.com/office/drawing/2014/main" id="{FE38B82B-3454-1116-9461-0AFCF8F76EA3}"/>
                  </a:ext>
                </a:extLst>
              </p:cNvPr>
              <p:cNvSpPr txBox="1"/>
              <p:nvPr/>
            </p:nvSpPr>
            <p:spPr>
              <a:xfrm>
                <a:off x="9293006"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1" name="文本框 70">
                <a:extLst>
                  <a:ext uri="{FF2B5EF4-FFF2-40B4-BE49-F238E27FC236}">
                    <a16:creationId xmlns:a16="http://schemas.microsoft.com/office/drawing/2014/main" id="{39F80A7D-5117-223B-154C-AA4A13052A63}"/>
                  </a:ext>
                </a:extLst>
              </p:cNvPr>
              <p:cNvSpPr txBox="1"/>
              <p:nvPr/>
            </p:nvSpPr>
            <p:spPr>
              <a:xfrm>
                <a:off x="9484385"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2" name="文本框 71">
                <a:extLst>
                  <a:ext uri="{FF2B5EF4-FFF2-40B4-BE49-F238E27FC236}">
                    <a16:creationId xmlns:a16="http://schemas.microsoft.com/office/drawing/2014/main" id="{9F21C99A-8DE7-076B-6BB8-FA58B5F5CFA2}"/>
                  </a:ext>
                </a:extLst>
              </p:cNvPr>
              <p:cNvSpPr txBox="1"/>
              <p:nvPr/>
            </p:nvSpPr>
            <p:spPr>
              <a:xfrm>
                <a:off x="9675764"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3" name="文本框 72">
                <a:extLst>
                  <a:ext uri="{FF2B5EF4-FFF2-40B4-BE49-F238E27FC236}">
                    <a16:creationId xmlns:a16="http://schemas.microsoft.com/office/drawing/2014/main" id="{5AEFF72E-F9F6-14AA-57FA-216E3BE813F0}"/>
                  </a:ext>
                </a:extLst>
              </p:cNvPr>
              <p:cNvSpPr txBox="1"/>
              <p:nvPr/>
            </p:nvSpPr>
            <p:spPr>
              <a:xfrm>
                <a:off x="9867143"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4" name="文本框 73">
                <a:extLst>
                  <a:ext uri="{FF2B5EF4-FFF2-40B4-BE49-F238E27FC236}">
                    <a16:creationId xmlns:a16="http://schemas.microsoft.com/office/drawing/2014/main" id="{6E3F4009-EC80-BDE2-C925-8359E4BBEDEE}"/>
                  </a:ext>
                </a:extLst>
              </p:cNvPr>
              <p:cNvSpPr txBox="1"/>
              <p:nvPr/>
            </p:nvSpPr>
            <p:spPr>
              <a:xfrm>
                <a:off x="10058522"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5" name="文本框 74">
                <a:extLst>
                  <a:ext uri="{FF2B5EF4-FFF2-40B4-BE49-F238E27FC236}">
                    <a16:creationId xmlns:a16="http://schemas.microsoft.com/office/drawing/2014/main" id="{1D2D8E92-78A6-1022-9640-3A094406D16A}"/>
                  </a:ext>
                </a:extLst>
              </p:cNvPr>
              <p:cNvSpPr txBox="1"/>
              <p:nvPr/>
            </p:nvSpPr>
            <p:spPr>
              <a:xfrm>
                <a:off x="10249901"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6" name="文本框 75">
                <a:extLst>
                  <a:ext uri="{FF2B5EF4-FFF2-40B4-BE49-F238E27FC236}">
                    <a16:creationId xmlns:a16="http://schemas.microsoft.com/office/drawing/2014/main" id="{27AE6CBE-4A37-93C5-822A-38C3831ED60B}"/>
                  </a:ext>
                </a:extLst>
              </p:cNvPr>
              <p:cNvSpPr txBox="1"/>
              <p:nvPr/>
            </p:nvSpPr>
            <p:spPr>
              <a:xfrm>
                <a:off x="10435869"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7" name="文本框 76">
                <a:extLst>
                  <a:ext uri="{FF2B5EF4-FFF2-40B4-BE49-F238E27FC236}">
                    <a16:creationId xmlns:a16="http://schemas.microsoft.com/office/drawing/2014/main" id="{399AC6F5-EEC9-ECE8-D52A-A88D21445209}"/>
                  </a:ext>
                </a:extLst>
              </p:cNvPr>
              <p:cNvSpPr txBox="1"/>
              <p:nvPr/>
            </p:nvSpPr>
            <p:spPr>
              <a:xfrm>
                <a:off x="10627248"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8" name="文本框 77">
                <a:extLst>
                  <a:ext uri="{FF2B5EF4-FFF2-40B4-BE49-F238E27FC236}">
                    <a16:creationId xmlns:a16="http://schemas.microsoft.com/office/drawing/2014/main" id="{AAF40756-C493-3876-171A-40FAD2658F5C}"/>
                  </a:ext>
                </a:extLst>
              </p:cNvPr>
              <p:cNvSpPr txBox="1"/>
              <p:nvPr/>
            </p:nvSpPr>
            <p:spPr>
              <a:xfrm>
                <a:off x="10818627" y="3749538"/>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79" name="文本框 78">
                <a:extLst>
                  <a:ext uri="{FF2B5EF4-FFF2-40B4-BE49-F238E27FC236}">
                    <a16:creationId xmlns:a16="http://schemas.microsoft.com/office/drawing/2014/main" id="{28FD9970-991E-2438-43BF-50EBF2EE944B}"/>
                  </a:ext>
                </a:extLst>
              </p:cNvPr>
              <p:cNvSpPr txBox="1"/>
              <p:nvPr/>
            </p:nvSpPr>
            <p:spPr>
              <a:xfrm>
                <a:off x="8143951"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0" name="文本框 79">
                <a:extLst>
                  <a:ext uri="{FF2B5EF4-FFF2-40B4-BE49-F238E27FC236}">
                    <a16:creationId xmlns:a16="http://schemas.microsoft.com/office/drawing/2014/main" id="{DCB7A6CD-ED7B-1DBB-80D1-57AB63131786}"/>
                  </a:ext>
                </a:extLst>
              </p:cNvPr>
              <p:cNvSpPr txBox="1"/>
              <p:nvPr/>
            </p:nvSpPr>
            <p:spPr>
              <a:xfrm>
                <a:off x="8333015"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1" name="文本框 80">
                <a:extLst>
                  <a:ext uri="{FF2B5EF4-FFF2-40B4-BE49-F238E27FC236}">
                    <a16:creationId xmlns:a16="http://schemas.microsoft.com/office/drawing/2014/main" id="{FB7F2B4F-59A8-2DFF-6B17-94776E6E3E91}"/>
                  </a:ext>
                </a:extLst>
              </p:cNvPr>
              <p:cNvSpPr txBox="1"/>
              <p:nvPr/>
            </p:nvSpPr>
            <p:spPr>
              <a:xfrm>
                <a:off x="8527490"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2" name="文本框 81">
                <a:extLst>
                  <a:ext uri="{FF2B5EF4-FFF2-40B4-BE49-F238E27FC236}">
                    <a16:creationId xmlns:a16="http://schemas.microsoft.com/office/drawing/2014/main" id="{7CA9C38D-BEEA-A4A0-7389-73B9FA7F1807}"/>
                  </a:ext>
                </a:extLst>
              </p:cNvPr>
              <p:cNvSpPr txBox="1"/>
              <p:nvPr/>
            </p:nvSpPr>
            <p:spPr>
              <a:xfrm>
                <a:off x="8718869"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3" name="文本框 82">
                <a:extLst>
                  <a:ext uri="{FF2B5EF4-FFF2-40B4-BE49-F238E27FC236}">
                    <a16:creationId xmlns:a16="http://schemas.microsoft.com/office/drawing/2014/main" id="{245BD1A9-E5F8-9C86-D450-FC48F7898BE9}"/>
                  </a:ext>
                </a:extLst>
              </p:cNvPr>
              <p:cNvSpPr txBox="1"/>
              <p:nvPr/>
            </p:nvSpPr>
            <p:spPr>
              <a:xfrm>
                <a:off x="8910248"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4" name="文本框 83">
                <a:extLst>
                  <a:ext uri="{FF2B5EF4-FFF2-40B4-BE49-F238E27FC236}">
                    <a16:creationId xmlns:a16="http://schemas.microsoft.com/office/drawing/2014/main" id="{C4D95BFB-A425-5174-3E5A-4A94A30615D0}"/>
                  </a:ext>
                </a:extLst>
              </p:cNvPr>
              <p:cNvSpPr txBox="1"/>
              <p:nvPr/>
            </p:nvSpPr>
            <p:spPr>
              <a:xfrm>
                <a:off x="9101627"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5" name="文本框 84">
                <a:extLst>
                  <a:ext uri="{FF2B5EF4-FFF2-40B4-BE49-F238E27FC236}">
                    <a16:creationId xmlns:a16="http://schemas.microsoft.com/office/drawing/2014/main" id="{64EB9E1D-67F1-13A2-F4DA-5D3956542655}"/>
                  </a:ext>
                </a:extLst>
              </p:cNvPr>
              <p:cNvSpPr txBox="1"/>
              <p:nvPr/>
            </p:nvSpPr>
            <p:spPr>
              <a:xfrm>
                <a:off x="9293006"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6" name="文本框 85">
                <a:extLst>
                  <a:ext uri="{FF2B5EF4-FFF2-40B4-BE49-F238E27FC236}">
                    <a16:creationId xmlns:a16="http://schemas.microsoft.com/office/drawing/2014/main" id="{147466F0-55EB-D6CD-67C1-2B202F4CCFD6}"/>
                  </a:ext>
                </a:extLst>
              </p:cNvPr>
              <p:cNvSpPr txBox="1"/>
              <p:nvPr/>
            </p:nvSpPr>
            <p:spPr>
              <a:xfrm>
                <a:off x="9484385"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7" name="文本框 86">
                <a:extLst>
                  <a:ext uri="{FF2B5EF4-FFF2-40B4-BE49-F238E27FC236}">
                    <a16:creationId xmlns:a16="http://schemas.microsoft.com/office/drawing/2014/main" id="{DE0A133B-CDFF-1207-B15E-6E1719D516BC}"/>
                  </a:ext>
                </a:extLst>
              </p:cNvPr>
              <p:cNvSpPr txBox="1"/>
              <p:nvPr/>
            </p:nvSpPr>
            <p:spPr>
              <a:xfrm>
                <a:off x="9675764"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8" name="文本框 87">
                <a:extLst>
                  <a:ext uri="{FF2B5EF4-FFF2-40B4-BE49-F238E27FC236}">
                    <a16:creationId xmlns:a16="http://schemas.microsoft.com/office/drawing/2014/main" id="{2EB73CDB-9444-0A25-4F51-99BB0086E6B0}"/>
                  </a:ext>
                </a:extLst>
              </p:cNvPr>
              <p:cNvSpPr txBox="1"/>
              <p:nvPr/>
            </p:nvSpPr>
            <p:spPr>
              <a:xfrm>
                <a:off x="9867143"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89" name="文本框 88">
                <a:extLst>
                  <a:ext uri="{FF2B5EF4-FFF2-40B4-BE49-F238E27FC236}">
                    <a16:creationId xmlns:a16="http://schemas.microsoft.com/office/drawing/2014/main" id="{83F0D81C-698D-A177-A799-17AEFA863B76}"/>
                  </a:ext>
                </a:extLst>
              </p:cNvPr>
              <p:cNvSpPr txBox="1"/>
              <p:nvPr/>
            </p:nvSpPr>
            <p:spPr>
              <a:xfrm>
                <a:off x="10058522"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0" name="文本框 89">
                <a:extLst>
                  <a:ext uri="{FF2B5EF4-FFF2-40B4-BE49-F238E27FC236}">
                    <a16:creationId xmlns:a16="http://schemas.microsoft.com/office/drawing/2014/main" id="{0ED27A36-237F-0443-DFCD-5D41848CEED6}"/>
                  </a:ext>
                </a:extLst>
              </p:cNvPr>
              <p:cNvSpPr txBox="1"/>
              <p:nvPr/>
            </p:nvSpPr>
            <p:spPr>
              <a:xfrm>
                <a:off x="10249901"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1" name="文本框 90">
                <a:extLst>
                  <a:ext uri="{FF2B5EF4-FFF2-40B4-BE49-F238E27FC236}">
                    <a16:creationId xmlns:a16="http://schemas.microsoft.com/office/drawing/2014/main" id="{D0FE6565-31FD-5749-538E-A319D890F3C3}"/>
                  </a:ext>
                </a:extLst>
              </p:cNvPr>
              <p:cNvSpPr txBox="1"/>
              <p:nvPr/>
            </p:nvSpPr>
            <p:spPr>
              <a:xfrm>
                <a:off x="10435869"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2" name="文本框 91">
                <a:extLst>
                  <a:ext uri="{FF2B5EF4-FFF2-40B4-BE49-F238E27FC236}">
                    <a16:creationId xmlns:a16="http://schemas.microsoft.com/office/drawing/2014/main" id="{AED5BDDB-E358-DA1D-2F12-B1499186AD88}"/>
                  </a:ext>
                </a:extLst>
              </p:cNvPr>
              <p:cNvSpPr txBox="1"/>
              <p:nvPr/>
            </p:nvSpPr>
            <p:spPr>
              <a:xfrm>
                <a:off x="10627248"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3" name="文本框 92">
                <a:extLst>
                  <a:ext uri="{FF2B5EF4-FFF2-40B4-BE49-F238E27FC236}">
                    <a16:creationId xmlns:a16="http://schemas.microsoft.com/office/drawing/2014/main" id="{CBD3962D-9FC4-618B-7C05-D34EAF54964B}"/>
                  </a:ext>
                </a:extLst>
              </p:cNvPr>
              <p:cNvSpPr txBox="1"/>
              <p:nvPr/>
            </p:nvSpPr>
            <p:spPr>
              <a:xfrm>
                <a:off x="10818627" y="3558615"/>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4" name="文本框 93">
                <a:extLst>
                  <a:ext uri="{FF2B5EF4-FFF2-40B4-BE49-F238E27FC236}">
                    <a16:creationId xmlns:a16="http://schemas.microsoft.com/office/drawing/2014/main" id="{26A72E99-60F8-1478-D7D4-7C3208200464}"/>
                  </a:ext>
                </a:extLst>
              </p:cNvPr>
              <p:cNvSpPr txBox="1"/>
              <p:nvPr/>
            </p:nvSpPr>
            <p:spPr>
              <a:xfrm>
                <a:off x="8143951"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5" name="文本框 94">
                <a:extLst>
                  <a:ext uri="{FF2B5EF4-FFF2-40B4-BE49-F238E27FC236}">
                    <a16:creationId xmlns:a16="http://schemas.microsoft.com/office/drawing/2014/main" id="{3DE41DBE-253F-A3EF-45E6-F171E8916979}"/>
                  </a:ext>
                </a:extLst>
              </p:cNvPr>
              <p:cNvSpPr txBox="1"/>
              <p:nvPr/>
            </p:nvSpPr>
            <p:spPr>
              <a:xfrm>
                <a:off x="8333015"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6" name="文本框 95">
                <a:extLst>
                  <a:ext uri="{FF2B5EF4-FFF2-40B4-BE49-F238E27FC236}">
                    <a16:creationId xmlns:a16="http://schemas.microsoft.com/office/drawing/2014/main" id="{2F0C0DEF-9BD3-0EC6-E683-60C3266424B2}"/>
                  </a:ext>
                </a:extLst>
              </p:cNvPr>
              <p:cNvSpPr txBox="1"/>
              <p:nvPr/>
            </p:nvSpPr>
            <p:spPr>
              <a:xfrm>
                <a:off x="8527490"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7" name="文本框 96">
                <a:extLst>
                  <a:ext uri="{FF2B5EF4-FFF2-40B4-BE49-F238E27FC236}">
                    <a16:creationId xmlns:a16="http://schemas.microsoft.com/office/drawing/2014/main" id="{E79BCE62-FA9D-2CD5-AA7C-3D3AE5940782}"/>
                  </a:ext>
                </a:extLst>
              </p:cNvPr>
              <p:cNvSpPr txBox="1"/>
              <p:nvPr/>
            </p:nvSpPr>
            <p:spPr>
              <a:xfrm>
                <a:off x="8718869"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8" name="文本框 97">
                <a:extLst>
                  <a:ext uri="{FF2B5EF4-FFF2-40B4-BE49-F238E27FC236}">
                    <a16:creationId xmlns:a16="http://schemas.microsoft.com/office/drawing/2014/main" id="{C6DFC23F-B10D-2938-C36C-9CC3BED6A9C6}"/>
                  </a:ext>
                </a:extLst>
              </p:cNvPr>
              <p:cNvSpPr txBox="1"/>
              <p:nvPr/>
            </p:nvSpPr>
            <p:spPr>
              <a:xfrm>
                <a:off x="8910248"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99" name="文本框 98">
                <a:extLst>
                  <a:ext uri="{FF2B5EF4-FFF2-40B4-BE49-F238E27FC236}">
                    <a16:creationId xmlns:a16="http://schemas.microsoft.com/office/drawing/2014/main" id="{39C48FBB-B839-C71B-C5DF-DD0879F11410}"/>
                  </a:ext>
                </a:extLst>
              </p:cNvPr>
              <p:cNvSpPr txBox="1"/>
              <p:nvPr/>
            </p:nvSpPr>
            <p:spPr>
              <a:xfrm>
                <a:off x="9101627"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0" name="文本框 99">
                <a:extLst>
                  <a:ext uri="{FF2B5EF4-FFF2-40B4-BE49-F238E27FC236}">
                    <a16:creationId xmlns:a16="http://schemas.microsoft.com/office/drawing/2014/main" id="{3FC0F2D2-00E4-DCC7-FBE1-CA020F6055D8}"/>
                  </a:ext>
                </a:extLst>
              </p:cNvPr>
              <p:cNvSpPr txBox="1"/>
              <p:nvPr/>
            </p:nvSpPr>
            <p:spPr>
              <a:xfrm>
                <a:off x="9293006"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1" name="文本框 100">
                <a:extLst>
                  <a:ext uri="{FF2B5EF4-FFF2-40B4-BE49-F238E27FC236}">
                    <a16:creationId xmlns:a16="http://schemas.microsoft.com/office/drawing/2014/main" id="{E758A15C-312C-8879-284B-0518F8C5EB62}"/>
                  </a:ext>
                </a:extLst>
              </p:cNvPr>
              <p:cNvSpPr txBox="1"/>
              <p:nvPr/>
            </p:nvSpPr>
            <p:spPr>
              <a:xfrm>
                <a:off x="9484385"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2" name="文本框 101">
                <a:extLst>
                  <a:ext uri="{FF2B5EF4-FFF2-40B4-BE49-F238E27FC236}">
                    <a16:creationId xmlns:a16="http://schemas.microsoft.com/office/drawing/2014/main" id="{D985B8FA-6F43-EC93-B790-9527C5E48FD2}"/>
                  </a:ext>
                </a:extLst>
              </p:cNvPr>
              <p:cNvSpPr txBox="1"/>
              <p:nvPr/>
            </p:nvSpPr>
            <p:spPr>
              <a:xfrm>
                <a:off x="9675764"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3" name="文本框 102">
                <a:extLst>
                  <a:ext uri="{FF2B5EF4-FFF2-40B4-BE49-F238E27FC236}">
                    <a16:creationId xmlns:a16="http://schemas.microsoft.com/office/drawing/2014/main" id="{73A0AA2F-31DC-8DA0-3404-5744E9D9B5F2}"/>
                  </a:ext>
                </a:extLst>
              </p:cNvPr>
              <p:cNvSpPr txBox="1"/>
              <p:nvPr/>
            </p:nvSpPr>
            <p:spPr>
              <a:xfrm>
                <a:off x="9867143"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4" name="文本框 103">
                <a:extLst>
                  <a:ext uri="{FF2B5EF4-FFF2-40B4-BE49-F238E27FC236}">
                    <a16:creationId xmlns:a16="http://schemas.microsoft.com/office/drawing/2014/main" id="{806C6C5F-FDBC-6AC7-21CF-62A7C8495493}"/>
                  </a:ext>
                </a:extLst>
              </p:cNvPr>
              <p:cNvSpPr txBox="1"/>
              <p:nvPr/>
            </p:nvSpPr>
            <p:spPr>
              <a:xfrm>
                <a:off x="10058522"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5" name="文本框 104">
                <a:extLst>
                  <a:ext uri="{FF2B5EF4-FFF2-40B4-BE49-F238E27FC236}">
                    <a16:creationId xmlns:a16="http://schemas.microsoft.com/office/drawing/2014/main" id="{9C53E589-D494-F837-603B-FD66488A999F}"/>
                  </a:ext>
                </a:extLst>
              </p:cNvPr>
              <p:cNvSpPr txBox="1"/>
              <p:nvPr/>
            </p:nvSpPr>
            <p:spPr>
              <a:xfrm>
                <a:off x="10249901"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6" name="文本框 105">
                <a:extLst>
                  <a:ext uri="{FF2B5EF4-FFF2-40B4-BE49-F238E27FC236}">
                    <a16:creationId xmlns:a16="http://schemas.microsoft.com/office/drawing/2014/main" id="{C3C729B9-66E6-3A7B-564D-6D6766C0C903}"/>
                  </a:ext>
                </a:extLst>
              </p:cNvPr>
              <p:cNvSpPr txBox="1"/>
              <p:nvPr/>
            </p:nvSpPr>
            <p:spPr>
              <a:xfrm>
                <a:off x="10435869"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7" name="文本框 106">
                <a:extLst>
                  <a:ext uri="{FF2B5EF4-FFF2-40B4-BE49-F238E27FC236}">
                    <a16:creationId xmlns:a16="http://schemas.microsoft.com/office/drawing/2014/main" id="{AA4ECA79-F4F7-6A1F-1398-EBBE134D5F95}"/>
                  </a:ext>
                </a:extLst>
              </p:cNvPr>
              <p:cNvSpPr txBox="1"/>
              <p:nvPr/>
            </p:nvSpPr>
            <p:spPr>
              <a:xfrm>
                <a:off x="10627248"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8" name="文本框 107">
                <a:extLst>
                  <a:ext uri="{FF2B5EF4-FFF2-40B4-BE49-F238E27FC236}">
                    <a16:creationId xmlns:a16="http://schemas.microsoft.com/office/drawing/2014/main" id="{8B81B6A7-6F5C-E8CB-DFB2-3C7693B4FBF1}"/>
                  </a:ext>
                </a:extLst>
              </p:cNvPr>
              <p:cNvSpPr txBox="1"/>
              <p:nvPr/>
            </p:nvSpPr>
            <p:spPr>
              <a:xfrm>
                <a:off x="10818627" y="3367692"/>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09" name="文本框 108">
                <a:extLst>
                  <a:ext uri="{FF2B5EF4-FFF2-40B4-BE49-F238E27FC236}">
                    <a16:creationId xmlns:a16="http://schemas.microsoft.com/office/drawing/2014/main" id="{360A2920-2DCC-E3D5-5BAE-F66656756E8F}"/>
                  </a:ext>
                </a:extLst>
              </p:cNvPr>
              <p:cNvSpPr txBox="1"/>
              <p:nvPr/>
            </p:nvSpPr>
            <p:spPr>
              <a:xfrm>
                <a:off x="8143951"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0" name="文本框 109">
                <a:extLst>
                  <a:ext uri="{FF2B5EF4-FFF2-40B4-BE49-F238E27FC236}">
                    <a16:creationId xmlns:a16="http://schemas.microsoft.com/office/drawing/2014/main" id="{1E53B614-9F82-737A-4187-08DC9A2CE426}"/>
                  </a:ext>
                </a:extLst>
              </p:cNvPr>
              <p:cNvSpPr txBox="1"/>
              <p:nvPr/>
            </p:nvSpPr>
            <p:spPr>
              <a:xfrm>
                <a:off x="8333015"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1" name="文本框 110">
                <a:extLst>
                  <a:ext uri="{FF2B5EF4-FFF2-40B4-BE49-F238E27FC236}">
                    <a16:creationId xmlns:a16="http://schemas.microsoft.com/office/drawing/2014/main" id="{003F373F-A32F-7D06-585A-ED6236DBA6E6}"/>
                  </a:ext>
                </a:extLst>
              </p:cNvPr>
              <p:cNvSpPr txBox="1"/>
              <p:nvPr/>
            </p:nvSpPr>
            <p:spPr>
              <a:xfrm>
                <a:off x="8527490"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2" name="文本框 111">
                <a:extLst>
                  <a:ext uri="{FF2B5EF4-FFF2-40B4-BE49-F238E27FC236}">
                    <a16:creationId xmlns:a16="http://schemas.microsoft.com/office/drawing/2014/main" id="{7B35CE60-52C7-4EB1-4BDB-02E66313DBEB}"/>
                  </a:ext>
                </a:extLst>
              </p:cNvPr>
              <p:cNvSpPr txBox="1"/>
              <p:nvPr/>
            </p:nvSpPr>
            <p:spPr>
              <a:xfrm>
                <a:off x="8718869"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3" name="文本框 112">
                <a:extLst>
                  <a:ext uri="{FF2B5EF4-FFF2-40B4-BE49-F238E27FC236}">
                    <a16:creationId xmlns:a16="http://schemas.microsoft.com/office/drawing/2014/main" id="{3327DA46-6A45-49A8-1550-B49463C1740B}"/>
                  </a:ext>
                </a:extLst>
              </p:cNvPr>
              <p:cNvSpPr txBox="1"/>
              <p:nvPr/>
            </p:nvSpPr>
            <p:spPr>
              <a:xfrm>
                <a:off x="8910248"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4" name="文本框 113">
                <a:extLst>
                  <a:ext uri="{FF2B5EF4-FFF2-40B4-BE49-F238E27FC236}">
                    <a16:creationId xmlns:a16="http://schemas.microsoft.com/office/drawing/2014/main" id="{DCC44773-5657-9903-CB0A-A1C0F535DFBD}"/>
                  </a:ext>
                </a:extLst>
              </p:cNvPr>
              <p:cNvSpPr txBox="1"/>
              <p:nvPr/>
            </p:nvSpPr>
            <p:spPr>
              <a:xfrm>
                <a:off x="9101627"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5" name="文本框 114">
                <a:extLst>
                  <a:ext uri="{FF2B5EF4-FFF2-40B4-BE49-F238E27FC236}">
                    <a16:creationId xmlns:a16="http://schemas.microsoft.com/office/drawing/2014/main" id="{D92D847F-6867-9A78-E76F-E94404ABF208}"/>
                  </a:ext>
                </a:extLst>
              </p:cNvPr>
              <p:cNvSpPr txBox="1"/>
              <p:nvPr/>
            </p:nvSpPr>
            <p:spPr>
              <a:xfrm>
                <a:off x="9293006"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6" name="文本框 115">
                <a:extLst>
                  <a:ext uri="{FF2B5EF4-FFF2-40B4-BE49-F238E27FC236}">
                    <a16:creationId xmlns:a16="http://schemas.microsoft.com/office/drawing/2014/main" id="{F782079C-5232-AA03-43D5-412A4FB7AB7D}"/>
                  </a:ext>
                </a:extLst>
              </p:cNvPr>
              <p:cNvSpPr txBox="1"/>
              <p:nvPr/>
            </p:nvSpPr>
            <p:spPr>
              <a:xfrm>
                <a:off x="9484385"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7" name="文本框 116">
                <a:extLst>
                  <a:ext uri="{FF2B5EF4-FFF2-40B4-BE49-F238E27FC236}">
                    <a16:creationId xmlns:a16="http://schemas.microsoft.com/office/drawing/2014/main" id="{A15DA319-8111-FC9C-0029-0778D390284C}"/>
                  </a:ext>
                </a:extLst>
              </p:cNvPr>
              <p:cNvSpPr txBox="1"/>
              <p:nvPr/>
            </p:nvSpPr>
            <p:spPr>
              <a:xfrm>
                <a:off x="9675764"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8" name="文本框 117">
                <a:extLst>
                  <a:ext uri="{FF2B5EF4-FFF2-40B4-BE49-F238E27FC236}">
                    <a16:creationId xmlns:a16="http://schemas.microsoft.com/office/drawing/2014/main" id="{57DB4245-B561-8728-BC34-FC79D646E7EE}"/>
                  </a:ext>
                </a:extLst>
              </p:cNvPr>
              <p:cNvSpPr txBox="1"/>
              <p:nvPr/>
            </p:nvSpPr>
            <p:spPr>
              <a:xfrm>
                <a:off x="9867143"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19" name="文本框 118">
                <a:extLst>
                  <a:ext uri="{FF2B5EF4-FFF2-40B4-BE49-F238E27FC236}">
                    <a16:creationId xmlns:a16="http://schemas.microsoft.com/office/drawing/2014/main" id="{9560777B-40BF-174B-B67D-E5B46B9EA117}"/>
                  </a:ext>
                </a:extLst>
              </p:cNvPr>
              <p:cNvSpPr txBox="1"/>
              <p:nvPr/>
            </p:nvSpPr>
            <p:spPr>
              <a:xfrm>
                <a:off x="10058522"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0" name="文本框 119">
                <a:extLst>
                  <a:ext uri="{FF2B5EF4-FFF2-40B4-BE49-F238E27FC236}">
                    <a16:creationId xmlns:a16="http://schemas.microsoft.com/office/drawing/2014/main" id="{4AF1E044-6D31-F82F-126C-36F2021CA626}"/>
                  </a:ext>
                </a:extLst>
              </p:cNvPr>
              <p:cNvSpPr txBox="1"/>
              <p:nvPr/>
            </p:nvSpPr>
            <p:spPr>
              <a:xfrm>
                <a:off x="10249901"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1" name="文本框 120">
                <a:extLst>
                  <a:ext uri="{FF2B5EF4-FFF2-40B4-BE49-F238E27FC236}">
                    <a16:creationId xmlns:a16="http://schemas.microsoft.com/office/drawing/2014/main" id="{91DF24A8-802C-5C07-34B1-1BDCD6CC15D9}"/>
                  </a:ext>
                </a:extLst>
              </p:cNvPr>
              <p:cNvSpPr txBox="1"/>
              <p:nvPr/>
            </p:nvSpPr>
            <p:spPr>
              <a:xfrm>
                <a:off x="10435869"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2" name="文本框 121">
                <a:extLst>
                  <a:ext uri="{FF2B5EF4-FFF2-40B4-BE49-F238E27FC236}">
                    <a16:creationId xmlns:a16="http://schemas.microsoft.com/office/drawing/2014/main" id="{6F167365-D647-B279-061F-C2E5887A9DA0}"/>
                  </a:ext>
                </a:extLst>
              </p:cNvPr>
              <p:cNvSpPr txBox="1"/>
              <p:nvPr/>
            </p:nvSpPr>
            <p:spPr>
              <a:xfrm>
                <a:off x="10627248"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3" name="文本框 122">
                <a:extLst>
                  <a:ext uri="{FF2B5EF4-FFF2-40B4-BE49-F238E27FC236}">
                    <a16:creationId xmlns:a16="http://schemas.microsoft.com/office/drawing/2014/main" id="{1917D2CE-B26C-95DA-CBF2-714069481630}"/>
                  </a:ext>
                </a:extLst>
              </p:cNvPr>
              <p:cNvSpPr txBox="1"/>
              <p:nvPr/>
            </p:nvSpPr>
            <p:spPr>
              <a:xfrm>
                <a:off x="10818627" y="3176769"/>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4" name="文本框 123">
                <a:extLst>
                  <a:ext uri="{FF2B5EF4-FFF2-40B4-BE49-F238E27FC236}">
                    <a16:creationId xmlns:a16="http://schemas.microsoft.com/office/drawing/2014/main" id="{4A89B579-6EBD-F69B-5C30-DA0DDAB70341}"/>
                  </a:ext>
                </a:extLst>
              </p:cNvPr>
              <p:cNvSpPr txBox="1"/>
              <p:nvPr/>
            </p:nvSpPr>
            <p:spPr>
              <a:xfrm>
                <a:off x="8143951"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5" name="文本框 124">
                <a:extLst>
                  <a:ext uri="{FF2B5EF4-FFF2-40B4-BE49-F238E27FC236}">
                    <a16:creationId xmlns:a16="http://schemas.microsoft.com/office/drawing/2014/main" id="{EC94B4F2-5B7A-19F0-B7B6-5E14EEA78C73}"/>
                  </a:ext>
                </a:extLst>
              </p:cNvPr>
              <p:cNvSpPr txBox="1"/>
              <p:nvPr/>
            </p:nvSpPr>
            <p:spPr>
              <a:xfrm>
                <a:off x="8333015"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6" name="文本框 125">
                <a:extLst>
                  <a:ext uri="{FF2B5EF4-FFF2-40B4-BE49-F238E27FC236}">
                    <a16:creationId xmlns:a16="http://schemas.microsoft.com/office/drawing/2014/main" id="{7774822D-B0DD-4EEB-485F-687A0CC65B42}"/>
                  </a:ext>
                </a:extLst>
              </p:cNvPr>
              <p:cNvSpPr txBox="1"/>
              <p:nvPr/>
            </p:nvSpPr>
            <p:spPr>
              <a:xfrm>
                <a:off x="8527490"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7" name="文本框 126">
                <a:extLst>
                  <a:ext uri="{FF2B5EF4-FFF2-40B4-BE49-F238E27FC236}">
                    <a16:creationId xmlns:a16="http://schemas.microsoft.com/office/drawing/2014/main" id="{452A444D-4E4F-0525-3298-F00E31DD0F4C}"/>
                  </a:ext>
                </a:extLst>
              </p:cNvPr>
              <p:cNvSpPr txBox="1"/>
              <p:nvPr/>
            </p:nvSpPr>
            <p:spPr>
              <a:xfrm>
                <a:off x="8718869"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8" name="文本框 127">
                <a:extLst>
                  <a:ext uri="{FF2B5EF4-FFF2-40B4-BE49-F238E27FC236}">
                    <a16:creationId xmlns:a16="http://schemas.microsoft.com/office/drawing/2014/main" id="{8A341A35-00B0-5AA5-B4B1-8C996CF93EA2}"/>
                  </a:ext>
                </a:extLst>
              </p:cNvPr>
              <p:cNvSpPr txBox="1"/>
              <p:nvPr/>
            </p:nvSpPr>
            <p:spPr>
              <a:xfrm>
                <a:off x="8910248"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29" name="文本框 128">
                <a:extLst>
                  <a:ext uri="{FF2B5EF4-FFF2-40B4-BE49-F238E27FC236}">
                    <a16:creationId xmlns:a16="http://schemas.microsoft.com/office/drawing/2014/main" id="{D8DF4C1D-F744-448D-C675-C19B0818A493}"/>
                  </a:ext>
                </a:extLst>
              </p:cNvPr>
              <p:cNvSpPr txBox="1"/>
              <p:nvPr/>
            </p:nvSpPr>
            <p:spPr>
              <a:xfrm>
                <a:off x="9101627"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0" name="文本框 129">
                <a:extLst>
                  <a:ext uri="{FF2B5EF4-FFF2-40B4-BE49-F238E27FC236}">
                    <a16:creationId xmlns:a16="http://schemas.microsoft.com/office/drawing/2014/main" id="{0932AA36-27DD-1DDA-573E-642C0ECA05D8}"/>
                  </a:ext>
                </a:extLst>
              </p:cNvPr>
              <p:cNvSpPr txBox="1"/>
              <p:nvPr/>
            </p:nvSpPr>
            <p:spPr>
              <a:xfrm>
                <a:off x="9293006"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1" name="文本框 130">
                <a:extLst>
                  <a:ext uri="{FF2B5EF4-FFF2-40B4-BE49-F238E27FC236}">
                    <a16:creationId xmlns:a16="http://schemas.microsoft.com/office/drawing/2014/main" id="{0321C976-C756-7CD2-6657-358ADF20ED99}"/>
                  </a:ext>
                </a:extLst>
              </p:cNvPr>
              <p:cNvSpPr txBox="1"/>
              <p:nvPr/>
            </p:nvSpPr>
            <p:spPr>
              <a:xfrm>
                <a:off x="9484385"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2" name="文本框 131">
                <a:extLst>
                  <a:ext uri="{FF2B5EF4-FFF2-40B4-BE49-F238E27FC236}">
                    <a16:creationId xmlns:a16="http://schemas.microsoft.com/office/drawing/2014/main" id="{E7F36DC9-18EB-ACE6-5860-FA0EAD9A20FE}"/>
                  </a:ext>
                </a:extLst>
              </p:cNvPr>
              <p:cNvSpPr txBox="1"/>
              <p:nvPr/>
            </p:nvSpPr>
            <p:spPr>
              <a:xfrm>
                <a:off x="9675764"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3" name="文本框 132">
                <a:extLst>
                  <a:ext uri="{FF2B5EF4-FFF2-40B4-BE49-F238E27FC236}">
                    <a16:creationId xmlns:a16="http://schemas.microsoft.com/office/drawing/2014/main" id="{369661A8-E8EE-54F5-E446-AE21D51BCBF4}"/>
                  </a:ext>
                </a:extLst>
              </p:cNvPr>
              <p:cNvSpPr txBox="1"/>
              <p:nvPr/>
            </p:nvSpPr>
            <p:spPr>
              <a:xfrm>
                <a:off x="9867143"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4" name="文本框 133">
                <a:extLst>
                  <a:ext uri="{FF2B5EF4-FFF2-40B4-BE49-F238E27FC236}">
                    <a16:creationId xmlns:a16="http://schemas.microsoft.com/office/drawing/2014/main" id="{1FCD349A-F0A2-9998-F674-5CD17F14C3FA}"/>
                  </a:ext>
                </a:extLst>
              </p:cNvPr>
              <p:cNvSpPr txBox="1"/>
              <p:nvPr/>
            </p:nvSpPr>
            <p:spPr>
              <a:xfrm>
                <a:off x="10058522"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5" name="文本框 134">
                <a:extLst>
                  <a:ext uri="{FF2B5EF4-FFF2-40B4-BE49-F238E27FC236}">
                    <a16:creationId xmlns:a16="http://schemas.microsoft.com/office/drawing/2014/main" id="{80E66105-AB7B-E4EC-091E-7A9FC187885F}"/>
                  </a:ext>
                </a:extLst>
              </p:cNvPr>
              <p:cNvSpPr txBox="1"/>
              <p:nvPr/>
            </p:nvSpPr>
            <p:spPr>
              <a:xfrm>
                <a:off x="10249901"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6" name="文本框 135">
                <a:extLst>
                  <a:ext uri="{FF2B5EF4-FFF2-40B4-BE49-F238E27FC236}">
                    <a16:creationId xmlns:a16="http://schemas.microsoft.com/office/drawing/2014/main" id="{F23064F4-693C-DE9B-0713-0F30E4C3167F}"/>
                  </a:ext>
                </a:extLst>
              </p:cNvPr>
              <p:cNvSpPr txBox="1"/>
              <p:nvPr/>
            </p:nvSpPr>
            <p:spPr>
              <a:xfrm>
                <a:off x="10435869"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7" name="文本框 136">
                <a:extLst>
                  <a:ext uri="{FF2B5EF4-FFF2-40B4-BE49-F238E27FC236}">
                    <a16:creationId xmlns:a16="http://schemas.microsoft.com/office/drawing/2014/main" id="{E7080402-F341-7FFB-A303-D5C512E53FC0}"/>
                  </a:ext>
                </a:extLst>
              </p:cNvPr>
              <p:cNvSpPr txBox="1"/>
              <p:nvPr/>
            </p:nvSpPr>
            <p:spPr>
              <a:xfrm>
                <a:off x="10627248"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8" name="文本框 137">
                <a:extLst>
                  <a:ext uri="{FF2B5EF4-FFF2-40B4-BE49-F238E27FC236}">
                    <a16:creationId xmlns:a16="http://schemas.microsoft.com/office/drawing/2014/main" id="{1F04BF75-D968-7682-29CB-0BE1807777BF}"/>
                  </a:ext>
                </a:extLst>
              </p:cNvPr>
              <p:cNvSpPr txBox="1"/>
              <p:nvPr/>
            </p:nvSpPr>
            <p:spPr>
              <a:xfrm>
                <a:off x="10818627" y="2985846"/>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39" name="文本框 138">
                <a:extLst>
                  <a:ext uri="{FF2B5EF4-FFF2-40B4-BE49-F238E27FC236}">
                    <a16:creationId xmlns:a16="http://schemas.microsoft.com/office/drawing/2014/main" id="{15DE0FFC-7938-89A0-AAEC-F4B7E42C2032}"/>
                  </a:ext>
                </a:extLst>
              </p:cNvPr>
              <p:cNvSpPr txBox="1"/>
              <p:nvPr/>
            </p:nvSpPr>
            <p:spPr>
              <a:xfrm>
                <a:off x="8143951"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0" name="文本框 139">
                <a:extLst>
                  <a:ext uri="{FF2B5EF4-FFF2-40B4-BE49-F238E27FC236}">
                    <a16:creationId xmlns:a16="http://schemas.microsoft.com/office/drawing/2014/main" id="{3A0176B9-A462-E766-EC02-93EBAA41C57A}"/>
                  </a:ext>
                </a:extLst>
              </p:cNvPr>
              <p:cNvSpPr txBox="1"/>
              <p:nvPr/>
            </p:nvSpPr>
            <p:spPr>
              <a:xfrm>
                <a:off x="8333015"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1" name="文本框 140">
                <a:extLst>
                  <a:ext uri="{FF2B5EF4-FFF2-40B4-BE49-F238E27FC236}">
                    <a16:creationId xmlns:a16="http://schemas.microsoft.com/office/drawing/2014/main" id="{AE32F944-13C4-A569-AFFD-2C165BA5FC91}"/>
                  </a:ext>
                </a:extLst>
              </p:cNvPr>
              <p:cNvSpPr txBox="1"/>
              <p:nvPr/>
            </p:nvSpPr>
            <p:spPr>
              <a:xfrm>
                <a:off x="8527490"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2" name="文本框 141">
                <a:extLst>
                  <a:ext uri="{FF2B5EF4-FFF2-40B4-BE49-F238E27FC236}">
                    <a16:creationId xmlns:a16="http://schemas.microsoft.com/office/drawing/2014/main" id="{CA737E1D-E2D5-2C86-6EDF-7BCF34B4E674}"/>
                  </a:ext>
                </a:extLst>
              </p:cNvPr>
              <p:cNvSpPr txBox="1"/>
              <p:nvPr/>
            </p:nvSpPr>
            <p:spPr>
              <a:xfrm>
                <a:off x="8718869"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3" name="文本框 142">
                <a:extLst>
                  <a:ext uri="{FF2B5EF4-FFF2-40B4-BE49-F238E27FC236}">
                    <a16:creationId xmlns:a16="http://schemas.microsoft.com/office/drawing/2014/main" id="{A7F28E3B-9F8E-7B20-7ADA-21E4DB9BEF3A}"/>
                  </a:ext>
                </a:extLst>
              </p:cNvPr>
              <p:cNvSpPr txBox="1"/>
              <p:nvPr/>
            </p:nvSpPr>
            <p:spPr>
              <a:xfrm>
                <a:off x="8910248"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4" name="文本框 143">
                <a:extLst>
                  <a:ext uri="{FF2B5EF4-FFF2-40B4-BE49-F238E27FC236}">
                    <a16:creationId xmlns:a16="http://schemas.microsoft.com/office/drawing/2014/main" id="{379A6D69-6C56-6935-77E3-AA3CC48585AD}"/>
                  </a:ext>
                </a:extLst>
              </p:cNvPr>
              <p:cNvSpPr txBox="1"/>
              <p:nvPr/>
            </p:nvSpPr>
            <p:spPr>
              <a:xfrm>
                <a:off x="9101627"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5" name="文本框 144">
                <a:extLst>
                  <a:ext uri="{FF2B5EF4-FFF2-40B4-BE49-F238E27FC236}">
                    <a16:creationId xmlns:a16="http://schemas.microsoft.com/office/drawing/2014/main" id="{170C0DE7-0935-4856-E6C3-0DBAB09C6CFD}"/>
                  </a:ext>
                </a:extLst>
              </p:cNvPr>
              <p:cNvSpPr txBox="1"/>
              <p:nvPr/>
            </p:nvSpPr>
            <p:spPr>
              <a:xfrm>
                <a:off x="9293006"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6" name="文本框 145">
                <a:extLst>
                  <a:ext uri="{FF2B5EF4-FFF2-40B4-BE49-F238E27FC236}">
                    <a16:creationId xmlns:a16="http://schemas.microsoft.com/office/drawing/2014/main" id="{AAA0A9A3-8A8F-E732-4BE6-CB1E004D9129}"/>
                  </a:ext>
                </a:extLst>
              </p:cNvPr>
              <p:cNvSpPr txBox="1"/>
              <p:nvPr/>
            </p:nvSpPr>
            <p:spPr>
              <a:xfrm>
                <a:off x="9484385"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7" name="文本框 146">
                <a:extLst>
                  <a:ext uri="{FF2B5EF4-FFF2-40B4-BE49-F238E27FC236}">
                    <a16:creationId xmlns:a16="http://schemas.microsoft.com/office/drawing/2014/main" id="{67306EB2-ECFC-E0CC-BADE-3C3D32FE37C6}"/>
                  </a:ext>
                </a:extLst>
              </p:cNvPr>
              <p:cNvSpPr txBox="1"/>
              <p:nvPr/>
            </p:nvSpPr>
            <p:spPr>
              <a:xfrm>
                <a:off x="9675764"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8" name="文本框 147">
                <a:extLst>
                  <a:ext uri="{FF2B5EF4-FFF2-40B4-BE49-F238E27FC236}">
                    <a16:creationId xmlns:a16="http://schemas.microsoft.com/office/drawing/2014/main" id="{7EA29DD3-9CBF-1C5B-5A8C-2A6AA8D0F697}"/>
                  </a:ext>
                </a:extLst>
              </p:cNvPr>
              <p:cNvSpPr txBox="1"/>
              <p:nvPr/>
            </p:nvSpPr>
            <p:spPr>
              <a:xfrm>
                <a:off x="9867143"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49" name="文本框 148">
                <a:extLst>
                  <a:ext uri="{FF2B5EF4-FFF2-40B4-BE49-F238E27FC236}">
                    <a16:creationId xmlns:a16="http://schemas.microsoft.com/office/drawing/2014/main" id="{A626980C-B452-C401-F4B7-3EE6697F2EBC}"/>
                  </a:ext>
                </a:extLst>
              </p:cNvPr>
              <p:cNvSpPr txBox="1"/>
              <p:nvPr/>
            </p:nvSpPr>
            <p:spPr>
              <a:xfrm>
                <a:off x="10058522"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0" name="文本框 149">
                <a:extLst>
                  <a:ext uri="{FF2B5EF4-FFF2-40B4-BE49-F238E27FC236}">
                    <a16:creationId xmlns:a16="http://schemas.microsoft.com/office/drawing/2014/main" id="{B337B1DA-8C63-3746-B20C-5BADD42772CA}"/>
                  </a:ext>
                </a:extLst>
              </p:cNvPr>
              <p:cNvSpPr txBox="1"/>
              <p:nvPr/>
            </p:nvSpPr>
            <p:spPr>
              <a:xfrm>
                <a:off x="10249901"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1" name="文本框 150">
                <a:extLst>
                  <a:ext uri="{FF2B5EF4-FFF2-40B4-BE49-F238E27FC236}">
                    <a16:creationId xmlns:a16="http://schemas.microsoft.com/office/drawing/2014/main" id="{AA807974-F6C8-35BF-CDD9-9DEE613BECC6}"/>
                  </a:ext>
                </a:extLst>
              </p:cNvPr>
              <p:cNvSpPr txBox="1"/>
              <p:nvPr/>
            </p:nvSpPr>
            <p:spPr>
              <a:xfrm>
                <a:off x="10435869"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2" name="文本框 151">
                <a:extLst>
                  <a:ext uri="{FF2B5EF4-FFF2-40B4-BE49-F238E27FC236}">
                    <a16:creationId xmlns:a16="http://schemas.microsoft.com/office/drawing/2014/main" id="{4077E132-13FC-20AA-E7CD-40C69BE9824D}"/>
                  </a:ext>
                </a:extLst>
              </p:cNvPr>
              <p:cNvSpPr txBox="1"/>
              <p:nvPr/>
            </p:nvSpPr>
            <p:spPr>
              <a:xfrm>
                <a:off x="10627248"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3" name="文本框 152">
                <a:extLst>
                  <a:ext uri="{FF2B5EF4-FFF2-40B4-BE49-F238E27FC236}">
                    <a16:creationId xmlns:a16="http://schemas.microsoft.com/office/drawing/2014/main" id="{D7EB2165-B9EE-81CD-6406-75078247B8AC}"/>
                  </a:ext>
                </a:extLst>
              </p:cNvPr>
              <p:cNvSpPr txBox="1"/>
              <p:nvPr/>
            </p:nvSpPr>
            <p:spPr>
              <a:xfrm>
                <a:off x="10818627" y="2794923"/>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4" name="文本框 153">
                <a:extLst>
                  <a:ext uri="{FF2B5EF4-FFF2-40B4-BE49-F238E27FC236}">
                    <a16:creationId xmlns:a16="http://schemas.microsoft.com/office/drawing/2014/main" id="{6B9C15B7-6950-A9E8-461B-89600E533488}"/>
                  </a:ext>
                </a:extLst>
              </p:cNvPr>
              <p:cNvSpPr txBox="1"/>
              <p:nvPr/>
            </p:nvSpPr>
            <p:spPr>
              <a:xfrm>
                <a:off x="8143951"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5" name="文本框 154">
                <a:extLst>
                  <a:ext uri="{FF2B5EF4-FFF2-40B4-BE49-F238E27FC236}">
                    <a16:creationId xmlns:a16="http://schemas.microsoft.com/office/drawing/2014/main" id="{9A539B08-1FA9-B901-4B4F-231BB23672FA}"/>
                  </a:ext>
                </a:extLst>
              </p:cNvPr>
              <p:cNvSpPr txBox="1"/>
              <p:nvPr/>
            </p:nvSpPr>
            <p:spPr>
              <a:xfrm>
                <a:off x="8333015"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6" name="文本框 155">
                <a:extLst>
                  <a:ext uri="{FF2B5EF4-FFF2-40B4-BE49-F238E27FC236}">
                    <a16:creationId xmlns:a16="http://schemas.microsoft.com/office/drawing/2014/main" id="{D8D64857-9951-CAE6-48A1-E0F11349AB51}"/>
                  </a:ext>
                </a:extLst>
              </p:cNvPr>
              <p:cNvSpPr txBox="1"/>
              <p:nvPr/>
            </p:nvSpPr>
            <p:spPr>
              <a:xfrm>
                <a:off x="8527490"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7" name="文本框 156">
                <a:extLst>
                  <a:ext uri="{FF2B5EF4-FFF2-40B4-BE49-F238E27FC236}">
                    <a16:creationId xmlns:a16="http://schemas.microsoft.com/office/drawing/2014/main" id="{550A9ADB-271C-8072-7F78-2A394FB33895}"/>
                  </a:ext>
                </a:extLst>
              </p:cNvPr>
              <p:cNvSpPr txBox="1"/>
              <p:nvPr/>
            </p:nvSpPr>
            <p:spPr>
              <a:xfrm>
                <a:off x="8718869"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8" name="文本框 157">
                <a:extLst>
                  <a:ext uri="{FF2B5EF4-FFF2-40B4-BE49-F238E27FC236}">
                    <a16:creationId xmlns:a16="http://schemas.microsoft.com/office/drawing/2014/main" id="{AD02F8A8-B781-9D38-9CED-B44EB738B78B}"/>
                  </a:ext>
                </a:extLst>
              </p:cNvPr>
              <p:cNvSpPr txBox="1"/>
              <p:nvPr/>
            </p:nvSpPr>
            <p:spPr>
              <a:xfrm>
                <a:off x="8910248"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59" name="文本框 158">
                <a:extLst>
                  <a:ext uri="{FF2B5EF4-FFF2-40B4-BE49-F238E27FC236}">
                    <a16:creationId xmlns:a16="http://schemas.microsoft.com/office/drawing/2014/main" id="{8BEDF1BA-C662-F27B-6757-118BDA3A8BFA}"/>
                  </a:ext>
                </a:extLst>
              </p:cNvPr>
              <p:cNvSpPr txBox="1"/>
              <p:nvPr/>
            </p:nvSpPr>
            <p:spPr>
              <a:xfrm>
                <a:off x="9101627"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0" name="文本框 159">
                <a:extLst>
                  <a:ext uri="{FF2B5EF4-FFF2-40B4-BE49-F238E27FC236}">
                    <a16:creationId xmlns:a16="http://schemas.microsoft.com/office/drawing/2014/main" id="{7BCEB33F-E831-8D68-6393-B700DC35E5AC}"/>
                  </a:ext>
                </a:extLst>
              </p:cNvPr>
              <p:cNvSpPr txBox="1"/>
              <p:nvPr/>
            </p:nvSpPr>
            <p:spPr>
              <a:xfrm>
                <a:off x="9293006"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1" name="文本框 160">
                <a:extLst>
                  <a:ext uri="{FF2B5EF4-FFF2-40B4-BE49-F238E27FC236}">
                    <a16:creationId xmlns:a16="http://schemas.microsoft.com/office/drawing/2014/main" id="{2FA0FCEF-34FE-E05C-876E-7CF683401E49}"/>
                  </a:ext>
                </a:extLst>
              </p:cNvPr>
              <p:cNvSpPr txBox="1"/>
              <p:nvPr/>
            </p:nvSpPr>
            <p:spPr>
              <a:xfrm>
                <a:off x="9484385"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2" name="文本框 161">
                <a:extLst>
                  <a:ext uri="{FF2B5EF4-FFF2-40B4-BE49-F238E27FC236}">
                    <a16:creationId xmlns:a16="http://schemas.microsoft.com/office/drawing/2014/main" id="{810F3369-41F3-4B73-3B36-35DCE3EFD18A}"/>
                  </a:ext>
                </a:extLst>
              </p:cNvPr>
              <p:cNvSpPr txBox="1"/>
              <p:nvPr/>
            </p:nvSpPr>
            <p:spPr>
              <a:xfrm>
                <a:off x="9675764"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3" name="文本框 162">
                <a:extLst>
                  <a:ext uri="{FF2B5EF4-FFF2-40B4-BE49-F238E27FC236}">
                    <a16:creationId xmlns:a16="http://schemas.microsoft.com/office/drawing/2014/main" id="{30A97DB3-EBDA-EFBD-3F2D-2F533F9B196E}"/>
                  </a:ext>
                </a:extLst>
              </p:cNvPr>
              <p:cNvSpPr txBox="1"/>
              <p:nvPr/>
            </p:nvSpPr>
            <p:spPr>
              <a:xfrm>
                <a:off x="9867143"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4" name="文本框 163">
                <a:extLst>
                  <a:ext uri="{FF2B5EF4-FFF2-40B4-BE49-F238E27FC236}">
                    <a16:creationId xmlns:a16="http://schemas.microsoft.com/office/drawing/2014/main" id="{8BC77B4D-E366-11EB-9B83-7D8C1A2696DA}"/>
                  </a:ext>
                </a:extLst>
              </p:cNvPr>
              <p:cNvSpPr txBox="1"/>
              <p:nvPr/>
            </p:nvSpPr>
            <p:spPr>
              <a:xfrm>
                <a:off x="10058522"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5" name="文本框 164">
                <a:extLst>
                  <a:ext uri="{FF2B5EF4-FFF2-40B4-BE49-F238E27FC236}">
                    <a16:creationId xmlns:a16="http://schemas.microsoft.com/office/drawing/2014/main" id="{92A4C0BA-83D1-37AD-892A-0BF42346281B}"/>
                  </a:ext>
                </a:extLst>
              </p:cNvPr>
              <p:cNvSpPr txBox="1"/>
              <p:nvPr/>
            </p:nvSpPr>
            <p:spPr>
              <a:xfrm>
                <a:off x="10249901"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6" name="文本框 165">
                <a:extLst>
                  <a:ext uri="{FF2B5EF4-FFF2-40B4-BE49-F238E27FC236}">
                    <a16:creationId xmlns:a16="http://schemas.microsoft.com/office/drawing/2014/main" id="{02EDE722-B2F2-6057-1CE8-CC26E86B2AE5}"/>
                  </a:ext>
                </a:extLst>
              </p:cNvPr>
              <p:cNvSpPr txBox="1"/>
              <p:nvPr/>
            </p:nvSpPr>
            <p:spPr>
              <a:xfrm>
                <a:off x="10435869"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7" name="文本框 166">
                <a:extLst>
                  <a:ext uri="{FF2B5EF4-FFF2-40B4-BE49-F238E27FC236}">
                    <a16:creationId xmlns:a16="http://schemas.microsoft.com/office/drawing/2014/main" id="{77AE001B-AAAC-DF92-E1C0-9335BD0F18D1}"/>
                  </a:ext>
                </a:extLst>
              </p:cNvPr>
              <p:cNvSpPr txBox="1"/>
              <p:nvPr/>
            </p:nvSpPr>
            <p:spPr>
              <a:xfrm>
                <a:off x="10627248"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8" name="文本框 167">
                <a:extLst>
                  <a:ext uri="{FF2B5EF4-FFF2-40B4-BE49-F238E27FC236}">
                    <a16:creationId xmlns:a16="http://schemas.microsoft.com/office/drawing/2014/main" id="{49A2677F-86A9-C87A-92A4-28975BF19AF6}"/>
                  </a:ext>
                </a:extLst>
              </p:cNvPr>
              <p:cNvSpPr txBox="1"/>
              <p:nvPr/>
            </p:nvSpPr>
            <p:spPr>
              <a:xfrm>
                <a:off x="10818627" y="2604000"/>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69" name="文本框 168">
                <a:extLst>
                  <a:ext uri="{FF2B5EF4-FFF2-40B4-BE49-F238E27FC236}">
                    <a16:creationId xmlns:a16="http://schemas.microsoft.com/office/drawing/2014/main" id="{E5ED6A43-879C-B593-3DC3-34418A64A139}"/>
                  </a:ext>
                </a:extLst>
              </p:cNvPr>
              <p:cNvSpPr txBox="1"/>
              <p:nvPr/>
            </p:nvSpPr>
            <p:spPr>
              <a:xfrm>
                <a:off x="8143951" y="241307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70" name="文本框 169">
                <a:extLst>
                  <a:ext uri="{FF2B5EF4-FFF2-40B4-BE49-F238E27FC236}">
                    <a16:creationId xmlns:a16="http://schemas.microsoft.com/office/drawing/2014/main" id="{1646FE60-0CE3-CD89-95CC-85D6A714A58E}"/>
                  </a:ext>
                </a:extLst>
              </p:cNvPr>
              <p:cNvSpPr txBox="1"/>
              <p:nvPr/>
            </p:nvSpPr>
            <p:spPr>
              <a:xfrm>
                <a:off x="8333015" y="241307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71" name="文本框 170">
                <a:extLst>
                  <a:ext uri="{FF2B5EF4-FFF2-40B4-BE49-F238E27FC236}">
                    <a16:creationId xmlns:a16="http://schemas.microsoft.com/office/drawing/2014/main" id="{3A573FEC-6DF9-AD22-B243-CE972B1858C3}"/>
                  </a:ext>
                </a:extLst>
              </p:cNvPr>
              <p:cNvSpPr txBox="1"/>
              <p:nvPr/>
            </p:nvSpPr>
            <p:spPr>
              <a:xfrm>
                <a:off x="8527490" y="2413077"/>
                <a:ext cx="330540" cy="215444"/>
              </a:xfrm>
              <a:prstGeom prst="rect">
                <a:avLst/>
              </a:prstGeom>
              <a:noFill/>
            </p:spPr>
            <p:txBody>
              <a:bodyPr wrap="none" rtlCol="0">
                <a:spAutoFit/>
              </a:bodyPr>
              <a:lstStyle/>
              <a:p>
                <a:r>
                  <a:rPr kumimoji="1" lang="en-US" altLang="zh-CN" sz="800" dirty="0">
                    <a:latin typeface="+mj-ea"/>
                    <a:ea typeface="+mj-ea"/>
                  </a:rPr>
                  <a:t>0.3</a:t>
                </a:r>
                <a:endParaRPr kumimoji="1" lang="zh-CN" altLang="en-US" sz="800" dirty="0">
                  <a:latin typeface="+mj-ea"/>
                  <a:ea typeface="+mj-ea"/>
                </a:endParaRPr>
              </a:p>
            </p:txBody>
          </p:sp>
          <p:sp>
            <p:nvSpPr>
              <p:cNvPr id="172" name="文本框 171">
                <a:extLst>
                  <a:ext uri="{FF2B5EF4-FFF2-40B4-BE49-F238E27FC236}">
                    <a16:creationId xmlns:a16="http://schemas.microsoft.com/office/drawing/2014/main" id="{F537C640-3284-6D70-7607-CC428F7199A9}"/>
                  </a:ext>
                </a:extLst>
              </p:cNvPr>
              <p:cNvSpPr txBox="1"/>
              <p:nvPr/>
            </p:nvSpPr>
            <p:spPr>
              <a:xfrm>
                <a:off x="8718869"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73" name="文本框 172">
                <a:extLst>
                  <a:ext uri="{FF2B5EF4-FFF2-40B4-BE49-F238E27FC236}">
                    <a16:creationId xmlns:a16="http://schemas.microsoft.com/office/drawing/2014/main" id="{66028F69-62EB-BB19-4B9A-92652B819295}"/>
                  </a:ext>
                </a:extLst>
              </p:cNvPr>
              <p:cNvSpPr txBox="1"/>
              <p:nvPr/>
            </p:nvSpPr>
            <p:spPr>
              <a:xfrm>
                <a:off x="8910248"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74" name="文本框 173">
                <a:extLst>
                  <a:ext uri="{FF2B5EF4-FFF2-40B4-BE49-F238E27FC236}">
                    <a16:creationId xmlns:a16="http://schemas.microsoft.com/office/drawing/2014/main" id="{498A1627-356E-59B1-B854-79D92A522CC3}"/>
                  </a:ext>
                </a:extLst>
              </p:cNvPr>
              <p:cNvSpPr txBox="1"/>
              <p:nvPr/>
            </p:nvSpPr>
            <p:spPr>
              <a:xfrm>
                <a:off x="9101627"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75" name="文本框 174">
                <a:extLst>
                  <a:ext uri="{FF2B5EF4-FFF2-40B4-BE49-F238E27FC236}">
                    <a16:creationId xmlns:a16="http://schemas.microsoft.com/office/drawing/2014/main" id="{69A38119-1975-3C91-E3FC-5F6A6DA2A611}"/>
                  </a:ext>
                </a:extLst>
              </p:cNvPr>
              <p:cNvSpPr txBox="1"/>
              <p:nvPr/>
            </p:nvSpPr>
            <p:spPr>
              <a:xfrm>
                <a:off x="9293006"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76" name="文本框 175">
                <a:extLst>
                  <a:ext uri="{FF2B5EF4-FFF2-40B4-BE49-F238E27FC236}">
                    <a16:creationId xmlns:a16="http://schemas.microsoft.com/office/drawing/2014/main" id="{92DA8963-03DC-95A3-2495-5F4D812D5A6B}"/>
                  </a:ext>
                </a:extLst>
              </p:cNvPr>
              <p:cNvSpPr txBox="1"/>
              <p:nvPr/>
            </p:nvSpPr>
            <p:spPr>
              <a:xfrm>
                <a:off x="9484385"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77" name="文本框 176">
                <a:extLst>
                  <a:ext uri="{FF2B5EF4-FFF2-40B4-BE49-F238E27FC236}">
                    <a16:creationId xmlns:a16="http://schemas.microsoft.com/office/drawing/2014/main" id="{6B913EB7-BF9C-0467-753B-3C07EC1D0AFD}"/>
                  </a:ext>
                </a:extLst>
              </p:cNvPr>
              <p:cNvSpPr txBox="1"/>
              <p:nvPr/>
            </p:nvSpPr>
            <p:spPr>
              <a:xfrm>
                <a:off x="9675764"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78" name="文本框 177">
                <a:extLst>
                  <a:ext uri="{FF2B5EF4-FFF2-40B4-BE49-F238E27FC236}">
                    <a16:creationId xmlns:a16="http://schemas.microsoft.com/office/drawing/2014/main" id="{E8CA674E-7E91-0117-3C52-CDFC3E650CC5}"/>
                  </a:ext>
                </a:extLst>
              </p:cNvPr>
              <p:cNvSpPr txBox="1"/>
              <p:nvPr/>
            </p:nvSpPr>
            <p:spPr>
              <a:xfrm>
                <a:off x="9867143"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79" name="文本框 178">
                <a:extLst>
                  <a:ext uri="{FF2B5EF4-FFF2-40B4-BE49-F238E27FC236}">
                    <a16:creationId xmlns:a16="http://schemas.microsoft.com/office/drawing/2014/main" id="{6C7DAB50-038F-1F3D-F349-19AC95AFC618}"/>
                  </a:ext>
                </a:extLst>
              </p:cNvPr>
              <p:cNvSpPr txBox="1"/>
              <p:nvPr/>
            </p:nvSpPr>
            <p:spPr>
              <a:xfrm>
                <a:off x="10058522"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80" name="文本框 179">
                <a:extLst>
                  <a:ext uri="{FF2B5EF4-FFF2-40B4-BE49-F238E27FC236}">
                    <a16:creationId xmlns:a16="http://schemas.microsoft.com/office/drawing/2014/main" id="{F4A8E8A1-BC2D-EBB6-F5A1-FC6E4A38563E}"/>
                  </a:ext>
                </a:extLst>
              </p:cNvPr>
              <p:cNvSpPr txBox="1"/>
              <p:nvPr/>
            </p:nvSpPr>
            <p:spPr>
              <a:xfrm>
                <a:off x="10249901" y="2413077"/>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81" name="文本框 180">
                <a:extLst>
                  <a:ext uri="{FF2B5EF4-FFF2-40B4-BE49-F238E27FC236}">
                    <a16:creationId xmlns:a16="http://schemas.microsoft.com/office/drawing/2014/main" id="{5D70211B-5816-3DC1-2D55-C1EEB8FE475D}"/>
                  </a:ext>
                </a:extLst>
              </p:cNvPr>
              <p:cNvSpPr txBox="1"/>
              <p:nvPr/>
            </p:nvSpPr>
            <p:spPr>
              <a:xfrm>
                <a:off x="10435869" y="2413077"/>
                <a:ext cx="330540" cy="215444"/>
              </a:xfrm>
              <a:prstGeom prst="rect">
                <a:avLst/>
              </a:prstGeom>
              <a:noFill/>
            </p:spPr>
            <p:txBody>
              <a:bodyPr wrap="none" rtlCol="0">
                <a:spAutoFit/>
              </a:bodyPr>
              <a:lstStyle/>
              <a:p>
                <a:r>
                  <a:rPr kumimoji="1" lang="en-US" altLang="zh-CN" sz="800" dirty="0">
                    <a:latin typeface="+mj-ea"/>
                    <a:ea typeface="+mj-ea"/>
                  </a:rPr>
                  <a:t>0.3</a:t>
                </a:r>
                <a:endParaRPr kumimoji="1" lang="zh-CN" altLang="en-US" sz="800" dirty="0">
                  <a:latin typeface="+mj-ea"/>
                  <a:ea typeface="+mj-ea"/>
                </a:endParaRPr>
              </a:p>
            </p:txBody>
          </p:sp>
          <p:sp>
            <p:nvSpPr>
              <p:cNvPr id="182" name="文本框 181">
                <a:extLst>
                  <a:ext uri="{FF2B5EF4-FFF2-40B4-BE49-F238E27FC236}">
                    <a16:creationId xmlns:a16="http://schemas.microsoft.com/office/drawing/2014/main" id="{63684BC6-B6D0-347E-E1D1-F1AC2259FA51}"/>
                  </a:ext>
                </a:extLst>
              </p:cNvPr>
              <p:cNvSpPr txBox="1"/>
              <p:nvPr/>
            </p:nvSpPr>
            <p:spPr>
              <a:xfrm>
                <a:off x="10627248" y="241307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83" name="文本框 182">
                <a:extLst>
                  <a:ext uri="{FF2B5EF4-FFF2-40B4-BE49-F238E27FC236}">
                    <a16:creationId xmlns:a16="http://schemas.microsoft.com/office/drawing/2014/main" id="{D2ED75D7-810E-C3BA-808B-770B9BF9DE0D}"/>
                  </a:ext>
                </a:extLst>
              </p:cNvPr>
              <p:cNvSpPr txBox="1"/>
              <p:nvPr/>
            </p:nvSpPr>
            <p:spPr>
              <a:xfrm>
                <a:off x="10818627" y="2413077"/>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84" name="文本框 183">
                <a:extLst>
                  <a:ext uri="{FF2B5EF4-FFF2-40B4-BE49-F238E27FC236}">
                    <a16:creationId xmlns:a16="http://schemas.microsoft.com/office/drawing/2014/main" id="{F87D58A1-4F06-FF20-DA7B-DE98246DD177}"/>
                  </a:ext>
                </a:extLst>
              </p:cNvPr>
              <p:cNvSpPr txBox="1"/>
              <p:nvPr/>
            </p:nvSpPr>
            <p:spPr>
              <a:xfrm>
                <a:off x="8143951" y="2222154"/>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85" name="文本框 184">
                <a:extLst>
                  <a:ext uri="{FF2B5EF4-FFF2-40B4-BE49-F238E27FC236}">
                    <a16:creationId xmlns:a16="http://schemas.microsoft.com/office/drawing/2014/main" id="{7F1521F7-7BAE-570D-1E16-A34B9FE9D20E}"/>
                  </a:ext>
                </a:extLst>
              </p:cNvPr>
              <p:cNvSpPr txBox="1"/>
              <p:nvPr/>
            </p:nvSpPr>
            <p:spPr>
              <a:xfrm>
                <a:off x="8333015" y="2222154"/>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86" name="文本框 185">
                <a:extLst>
                  <a:ext uri="{FF2B5EF4-FFF2-40B4-BE49-F238E27FC236}">
                    <a16:creationId xmlns:a16="http://schemas.microsoft.com/office/drawing/2014/main" id="{19A7209C-0F9E-7177-BB42-9785132E93EE}"/>
                  </a:ext>
                </a:extLst>
              </p:cNvPr>
              <p:cNvSpPr txBox="1"/>
              <p:nvPr/>
            </p:nvSpPr>
            <p:spPr>
              <a:xfrm>
                <a:off x="8527490" y="2222154"/>
                <a:ext cx="330540" cy="215444"/>
              </a:xfrm>
              <a:prstGeom prst="rect">
                <a:avLst/>
              </a:prstGeom>
              <a:noFill/>
            </p:spPr>
            <p:txBody>
              <a:bodyPr wrap="none" rtlCol="0">
                <a:spAutoFit/>
              </a:bodyPr>
              <a:lstStyle/>
              <a:p>
                <a:r>
                  <a:rPr kumimoji="1" lang="en-US" altLang="zh-CN" sz="800" dirty="0">
                    <a:latin typeface="+mj-ea"/>
                    <a:ea typeface="+mj-ea"/>
                  </a:rPr>
                  <a:t>0.3</a:t>
                </a:r>
                <a:endParaRPr kumimoji="1" lang="zh-CN" altLang="en-US" sz="800" dirty="0">
                  <a:latin typeface="+mj-ea"/>
                  <a:ea typeface="+mj-ea"/>
                </a:endParaRPr>
              </a:p>
            </p:txBody>
          </p:sp>
          <p:sp>
            <p:nvSpPr>
              <p:cNvPr id="187" name="文本框 186">
                <a:extLst>
                  <a:ext uri="{FF2B5EF4-FFF2-40B4-BE49-F238E27FC236}">
                    <a16:creationId xmlns:a16="http://schemas.microsoft.com/office/drawing/2014/main" id="{FE958AE6-0733-924F-5D35-A2037698189C}"/>
                  </a:ext>
                </a:extLst>
              </p:cNvPr>
              <p:cNvSpPr txBox="1"/>
              <p:nvPr/>
            </p:nvSpPr>
            <p:spPr>
              <a:xfrm>
                <a:off x="8718869" y="2222154"/>
                <a:ext cx="1107996" cy="215444"/>
              </a:xfrm>
              <a:prstGeom prst="rect">
                <a:avLst/>
              </a:prstGeom>
              <a:noFill/>
            </p:spPr>
            <p:txBody>
              <a:bodyPr wrap="none" rtlCol="0">
                <a:spAutoFit/>
              </a:bodyPr>
              <a:lstStyle/>
              <a:p>
                <a:r>
                  <a:rPr kumimoji="1" lang="en-US" altLang="zh-CN" sz="800" dirty="0">
                    <a:latin typeface="+mj-ea"/>
                    <a:ea typeface="+mj-ea"/>
                  </a:rPr>
                  <a:t>0.0	</a:t>
                </a:r>
                <a:endParaRPr kumimoji="1" lang="zh-CN" altLang="en-US" sz="800" dirty="0">
                  <a:latin typeface="+mj-ea"/>
                  <a:ea typeface="+mj-ea"/>
                </a:endParaRPr>
              </a:p>
            </p:txBody>
          </p:sp>
          <p:sp>
            <p:nvSpPr>
              <p:cNvPr id="188" name="文本框 187">
                <a:extLst>
                  <a:ext uri="{FF2B5EF4-FFF2-40B4-BE49-F238E27FC236}">
                    <a16:creationId xmlns:a16="http://schemas.microsoft.com/office/drawing/2014/main" id="{C7B86F00-F944-6159-5D14-8939EE54C43D}"/>
                  </a:ext>
                </a:extLst>
              </p:cNvPr>
              <p:cNvSpPr txBox="1"/>
              <p:nvPr/>
            </p:nvSpPr>
            <p:spPr>
              <a:xfrm>
                <a:off x="8910248" y="2222154"/>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89" name="文本框 188">
                <a:extLst>
                  <a:ext uri="{FF2B5EF4-FFF2-40B4-BE49-F238E27FC236}">
                    <a16:creationId xmlns:a16="http://schemas.microsoft.com/office/drawing/2014/main" id="{C28FAAD6-0664-B7CF-61C6-CFD4A753646D}"/>
                  </a:ext>
                </a:extLst>
              </p:cNvPr>
              <p:cNvSpPr txBox="1"/>
              <p:nvPr/>
            </p:nvSpPr>
            <p:spPr>
              <a:xfrm>
                <a:off x="9101627" y="2222154"/>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90" name="文本框 189">
                <a:extLst>
                  <a:ext uri="{FF2B5EF4-FFF2-40B4-BE49-F238E27FC236}">
                    <a16:creationId xmlns:a16="http://schemas.microsoft.com/office/drawing/2014/main" id="{EEFF0A2B-B6CB-7978-CCEB-D1B4948F6EE4}"/>
                  </a:ext>
                </a:extLst>
              </p:cNvPr>
              <p:cNvSpPr txBox="1"/>
              <p:nvPr/>
            </p:nvSpPr>
            <p:spPr>
              <a:xfrm>
                <a:off x="9293006" y="2222154"/>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91" name="文本框 190">
                <a:extLst>
                  <a:ext uri="{FF2B5EF4-FFF2-40B4-BE49-F238E27FC236}">
                    <a16:creationId xmlns:a16="http://schemas.microsoft.com/office/drawing/2014/main" id="{EDB0563C-CA10-D597-E4DB-378EE747BDEB}"/>
                  </a:ext>
                </a:extLst>
              </p:cNvPr>
              <p:cNvSpPr txBox="1"/>
              <p:nvPr/>
            </p:nvSpPr>
            <p:spPr>
              <a:xfrm>
                <a:off x="9484385" y="2222154"/>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92" name="文本框 191">
                <a:extLst>
                  <a:ext uri="{FF2B5EF4-FFF2-40B4-BE49-F238E27FC236}">
                    <a16:creationId xmlns:a16="http://schemas.microsoft.com/office/drawing/2014/main" id="{ED5A38FE-3ED7-22E3-D826-83B8E332C0B1}"/>
                  </a:ext>
                </a:extLst>
              </p:cNvPr>
              <p:cNvSpPr txBox="1"/>
              <p:nvPr/>
            </p:nvSpPr>
            <p:spPr>
              <a:xfrm>
                <a:off x="9675764" y="2222154"/>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93" name="文本框 192">
                <a:extLst>
                  <a:ext uri="{FF2B5EF4-FFF2-40B4-BE49-F238E27FC236}">
                    <a16:creationId xmlns:a16="http://schemas.microsoft.com/office/drawing/2014/main" id="{59838616-C99D-59E2-031A-B3B6F1198E01}"/>
                  </a:ext>
                </a:extLst>
              </p:cNvPr>
              <p:cNvSpPr txBox="1"/>
              <p:nvPr/>
            </p:nvSpPr>
            <p:spPr>
              <a:xfrm>
                <a:off x="9867143" y="2222154"/>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94" name="文本框 193">
                <a:extLst>
                  <a:ext uri="{FF2B5EF4-FFF2-40B4-BE49-F238E27FC236}">
                    <a16:creationId xmlns:a16="http://schemas.microsoft.com/office/drawing/2014/main" id="{9B9E11A7-EF8C-965D-0C1A-24E15570A69A}"/>
                  </a:ext>
                </a:extLst>
              </p:cNvPr>
              <p:cNvSpPr txBox="1"/>
              <p:nvPr/>
            </p:nvSpPr>
            <p:spPr>
              <a:xfrm>
                <a:off x="10058522" y="2222154"/>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95" name="文本框 194">
                <a:extLst>
                  <a:ext uri="{FF2B5EF4-FFF2-40B4-BE49-F238E27FC236}">
                    <a16:creationId xmlns:a16="http://schemas.microsoft.com/office/drawing/2014/main" id="{7E456D20-0BEF-B15E-AA3A-C05BB9F8EFCF}"/>
                  </a:ext>
                </a:extLst>
              </p:cNvPr>
              <p:cNvSpPr txBox="1"/>
              <p:nvPr/>
            </p:nvSpPr>
            <p:spPr>
              <a:xfrm>
                <a:off x="10249901" y="2222154"/>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196" name="文本框 195">
                <a:extLst>
                  <a:ext uri="{FF2B5EF4-FFF2-40B4-BE49-F238E27FC236}">
                    <a16:creationId xmlns:a16="http://schemas.microsoft.com/office/drawing/2014/main" id="{0E19A7BA-7E33-5148-6FBE-804E31C3B271}"/>
                  </a:ext>
                </a:extLst>
              </p:cNvPr>
              <p:cNvSpPr txBox="1"/>
              <p:nvPr/>
            </p:nvSpPr>
            <p:spPr>
              <a:xfrm>
                <a:off x="10435869" y="2222154"/>
                <a:ext cx="330540" cy="215444"/>
              </a:xfrm>
              <a:prstGeom prst="rect">
                <a:avLst/>
              </a:prstGeom>
              <a:noFill/>
            </p:spPr>
            <p:txBody>
              <a:bodyPr wrap="none" rtlCol="0">
                <a:spAutoFit/>
              </a:bodyPr>
              <a:lstStyle/>
              <a:p>
                <a:r>
                  <a:rPr kumimoji="1" lang="en-US" altLang="zh-CN" sz="800" dirty="0">
                    <a:latin typeface="+mj-ea"/>
                    <a:ea typeface="+mj-ea"/>
                  </a:rPr>
                  <a:t>0.3</a:t>
                </a:r>
                <a:endParaRPr kumimoji="1" lang="zh-CN" altLang="en-US" sz="800" dirty="0">
                  <a:latin typeface="+mj-ea"/>
                  <a:ea typeface="+mj-ea"/>
                </a:endParaRPr>
              </a:p>
            </p:txBody>
          </p:sp>
          <p:sp>
            <p:nvSpPr>
              <p:cNvPr id="197" name="文本框 196">
                <a:extLst>
                  <a:ext uri="{FF2B5EF4-FFF2-40B4-BE49-F238E27FC236}">
                    <a16:creationId xmlns:a16="http://schemas.microsoft.com/office/drawing/2014/main" id="{6A9DAE79-2A73-B337-1F6F-966DD9B9553A}"/>
                  </a:ext>
                </a:extLst>
              </p:cNvPr>
              <p:cNvSpPr txBox="1"/>
              <p:nvPr/>
            </p:nvSpPr>
            <p:spPr>
              <a:xfrm>
                <a:off x="10627248" y="2222154"/>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98" name="文本框 197">
                <a:extLst>
                  <a:ext uri="{FF2B5EF4-FFF2-40B4-BE49-F238E27FC236}">
                    <a16:creationId xmlns:a16="http://schemas.microsoft.com/office/drawing/2014/main" id="{27F47B09-442A-3ADB-9A7C-80CFF8CA71E0}"/>
                  </a:ext>
                </a:extLst>
              </p:cNvPr>
              <p:cNvSpPr txBox="1"/>
              <p:nvPr/>
            </p:nvSpPr>
            <p:spPr>
              <a:xfrm>
                <a:off x="10818627" y="2222154"/>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199" name="文本框 198">
                <a:extLst>
                  <a:ext uri="{FF2B5EF4-FFF2-40B4-BE49-F238E27FC236}">
                    <a16:creationId xmlns:a16="http://schemas.microsoft.com/office/drawing/2014/main" id="{924436B0-F52A-F304-E7E2-0978E346242E}"/>
                  </a:ext>
                </a:extLst>
              </p:cNvPr>
              <p:cNvSpPr txBox="1"/>
              <p:nvPr/>
            </p:nvSpPr>
            <p:spPr>
              <a:xfrm>
                <a:off x="8143951"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0" name="文本框 199">
                <a:extLst>
                  <a:ext uri="{FF2B5EF4-FFF2-40B4-BE49-F238E27FC236}">
                    <a16:creationId xmlns:a16="http://schemas.microsoft.com/office/drawing/2014/main" id="{1F2F5752-D2E3-CC2E-524D-7C1ED95762AA}"/>
                  </a:ext>
                </a:extLst>
              </p:cNvPr>
              <p:cNvSpPr txBox="1"/>
              <p:nvPr/>
            </p:nvSpPr>
            <p:spPr>
              <a:xfrm>
                <a:off x="8333015"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1" name="文本框 200">
                <a:extLst>
                  <a:ext uri="{FF2B5EF4-FFF2-40B4-BE49-F238E27FC236}">
                    <a16:creationId xmlns:a16="http://schemas.microsoft.com/office/drawing/2014/main" id="{77C52DF5-CAE9-7753-B327-2B9430E009B6}"/>
                  </a:ext>
                </a:extLst>
              </p:cNvPr>
              <p:cNvSpPr txBox="1"/>
              <p:nvPr/>
            </p:nvSpPr>
            <p:spPr>
              <a:xfrm>
                <a:off x="8527490"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2" name="文本框 201">
                <a:extLst>
                  <a:ext uri="{FF2B5EF4-FFF2-40B4-BE49-F238E27FC236}">
                    <a16:creationId xmlns:a16="http://schemas.microsoft.com/office/drawing/2014/main" id="{EE3C1F34-28F9-11B1-CC26-1FF41C0D5102}"/>
                  </a:ext>
                </a:extLst>
              </p:cNvPr>
              <p:cNvSpPr txBox="1"/>
              <p:nvPr/>
            </p:nvSpPr>
            <p:spPr>
              <a:xfrm>
                <a:off x="8718869"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3" name="文本框 202">
                <a:extLst>
                  <a:ext uri="{FF2B5EF4-FFF2-40B4-BE49-F238E27FC236}">
                    <a16:creationId xmlns:a16="http://schemas.microsoft.com/office/drawing/2014/main" id="{4AE37DB3-D131-383C-DB13-73925DD69C52}"/>
                  </a:ext>
                </a:extLst>
              </p:cNvPr>
              <p:cNvSpPr txBox="1"/>
              <p:nvPr/>
            </p:nvSpPr>
            <p:spPr>
              <a:xfrm>
                <a:off x="8910248"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4" name="文本框 203">
                <a:extLst>
                  <a:ext uri="{FF2B5EF4-FFF2-40B4-BE49-F238E27FC236}">
                    <a16:creationId xmlns:a16="http://schemas.microsoft.com/office/drawing/2014/main" id="{D3B52BB2-C0A4-379A-F985-BC33C8A760FB}"/>
                  </a:ext>
                </a:extLst>
              </p:cNvPr>
              <p:cNvSpPr txBox="1"/>
              <p:nvPr/>
            </p:nvSpPr>
            <p:spPr>
              <a:xfrm>
                <a:off x="9101627"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5" name="文本框 204">
                <a:extLst>
                  <a:ext uri="{FF2B5EF4-FFF2-40B4-BE49-F238E27FC236}">
                    <a16:creationId xmlns:a16="http://schemas.microsoft.com/office/drawing/2014/main" id="{AB5C6025-C913-3A13-BF16-223C095E9609}"/>
                  </a:ext>
                </a:extLst>
              </p:cNvPr>
              <p:cNvSpPr txBox="1"/>
              <p:nvPr/>
            </p:nvSpPr>
            <p:spPr>
              <a:xfrm>
                <a:off x="9293006"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6" name="文本框 205">
                <a:extLst>
                  <a:ext uri="{FF2B5EF4-FFF2-40B4-BE49-F238E27FC236}">
                    <a16:creationId xmlns:a16="http://schemas.microsoft.com/office/drawing/2014/main" id="{644FCD19-8C3E-A853-E524-D52F5695D20A}"/>
                  </a:ext>
                </a:extLst>
              </p:cNvPr>
              <p:cNvSpPr txBox="1"/>
              <p:nvPr/>
            </p:nvSpPr>
            <p:spPr>
              <a:xfrm>
                <a:off x="9484385"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7" name="文本框 206">
                <a:extLst>
                  <a:ext uri="{FF2B5EF4-FFF2-40B4-BE49-F238E27FC236}">
                    <a16:creationId xmlns:a16="http://schemas.microsoft.com/office/drawing/2014/main" id="{324CA8FD-70C7-DB26-077A-A0547C0009CB}"/>
                  </a:ext>
                </a:extLst>
              </p:cNvPr>
              <p:cNvSpPr txBox="1"/>
              <p:nvPr/>
            </p:nvSpPr>
            <p:spPr>
              <a:xfrm>
                <a:off x="9675764"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8" name="文本框 207">
                <a:extLst>
                  <a:ext uri="{FF2B5EF4-FFF2-40B4-BE49-F238E27FC236}">
                    <a16:creationId xmlns:a16="http://schemas.microsoft.com/office/drawing/2014/main" id="{9CC161AE-77AD-5DDB-5149-19525B2D1B4C}"/>
                  </a:ext>
                </a:extLst>
              </p:cNvPr>
              <p:cNvSpPr txBox="1"/>
              <p:nvPr/>
            </p:nvSpPr>
            <p:spPr>
              <a:xfrm>
                <a:off x="9867143"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09" name="文本框 208">
                <a:extLst>
                  <a:ext uri="{FF2B5EF4-FFF2-40B4-BE49-F238E27FC236}">
                    <a16:creationId xmlns:a16="http://schemas.microsoft.com/office/drawing/2014/main" id="{8F750C8A-BFDE-A0A7-3FA3-D713355D2E74}"/>
                  </a:ext>
                </a:extLst>
              </p:cNvPr>
              <p:cNvSpPr txBox="1"/>
              <p:nvPr/>
            </p:nvSpPr>
            <p:spPr>
              <a:xfrm>
                <a:off x="10058522"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10" name="文本框 209">
                <a:extLst>
                  <a:ext uri="{FF2B5EF4-FFF2-40B4-BE49-F238E27FC236}">
                    <a16:creationId xmlns:a16="http://schemas.microsoft.com/office/drawing/2014/main" id="{9238BC77-5F3A-B730-1FAC-30B3D589098F}"/>
                  </a:ext>
                </a:extLst>
              </p:cNvPr>
              <p:cNvSpPr txBox="1"/>
              <p:nvPr/>
            </p:nvSpPr>
            <p:spPr>
              <a:xfrm>
                <a:off x="10249901"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11" name="文本框 210">
                <a:extLst>
                  <a:ext uri="{FF2B5EF4-FFF2-40B4-BE49-F238E27FC236}">
                    <a16:creationId xmlns:a16="http://schemas.microsoft.com/office/drawing/2014/main" id="{B0786FF6-12C6-296F-6CCE-3DBEED1D55CD}"/>
                  </a:ext>
                </a:extLst>
              </p:cNvPr>
              <p:cNvSpPr txBox="1"/>
              <p:nvPr/>
            </p:nvSpPr>
            <p:spPr>
              <a:xfrm>
                <a:off x="10435869"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12" name="文本框 211">
                <a:extLst>
                  <a:ext uri="{FF2B5EF4-FFF2-40B4-BE49-F238E27FC236}">
                    <a16:creationId xmlns:a16="http://schemas.microsoft.com/office/drawing/2014/main" id="{37076008-F39B-7F32-0558-6A1EACF80BF2}"/>
                  </a:ext>
                </a:extLst>
              </p:cNvPr>
              <p:cNvSpPr txBox="1"/>
              <p:nvPr/>
            </p:nvSpPr>
            <p:spPr>
              <a:xfrm>
                <a:off x="10627248"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13" name="文本框 212">
                <a:extLst>
                  <a:ext uri="{FF2B5EF4-FFF2-40B4-BE49-F238E27FC236}">
                    <a16:creationId xmlns:a16="http://schemas.microsoft.com/office/drawing/2014/main" id="{A7225236-2A22-324E-1C5C-BA6DF383F7FF}"/>
                  </a:ext>
                </a:extLst>
              </p:cNvPr>
              <p:cNvSpPr txBox="1"/>
              <p:nvPr/>
            </p:nvSpPr>
            <p:spPr>
              <a:xfrm>
                <a:off x="10818627" y="2031231"/>
                <a:ext cx="330540" cy="215444"/>
              </a:xfrm>
              <a:prstGeom prst="rect">
                <a:avLst/>
              </a:prstGeom>
              <a:noFill/>
            </p:spPr>
            <p:txBody>
              <a:bodyPr wrap="none" rtlCol="0">
                <a:spAutoFit/>
              </a:bodyPr>
              <a:lstStyle/>
              <a:p>
                <a:r>
                  <a:rPr kumimoji="1" lang="en-US" altLang="zh-CN" sz="800" dirty="0">
                    <a:latin typeface="+mj-ea"/>
                    <a:ea typeface="+mj-ea"/>
                  </a:rPr>
                  <a:t>0.5</a:t>
                </a:r>
                <a:endParaRPr kumimoji="1" lang="zh-CN" altLang="en-US" sz="800" dirty="0">
                  <a:latin typeface="+mj-ea"/>
                  <a:ea typeface="+mj-ea"/>
                </a:endParaRPr>
              </a:p>
            </p:txBody>
          </p:sp>
          <p:sp>
            <p:nvSpPr>
              <p:cNvPr id="214" name="文本框 213">
                <a:extLst>
                  <a:ext uri="{FF2B5EF4-FFF2-40B4-BE49-F238E27FC236}">
                    <a16:creationId xmlns:a16="http://schemas.microsoft.com/office/drawing/2014/main" id="{8E8CE86A-A845-547E-C1E3-AFA9CC21364D}"/>
                  </a:ext>
                </a:extLst>
              </p:cNvPr>
              <p:cNvSpPr txBox="1"/>
              <p:nvPr/>
            </p:nvSpPr>
            <p:spPr>
              <a:xfrm>
                <a:off x="8143951" y="1840308"/>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15" name="文本框 214">
                <a:extLst>
                  <a:ext uri="{FF2B5EF4-FFF2-40B4-BE49-F238E27FC236}">
                    <a16:creationId xmlns:a16="http://schemas.microsoft.com/office/drawing/2014/main" id="{CFF57EDD-FF81-020E-1A66-2E3AAF4790EF}"/>
                  </a:ext>
                </a:extLst>
              </p:cNvPr>
              <p:cNvSpPr txBox="1"/>
              <p:nvPr/>
            </p:nvSpPr>
            <p:spPr>
              <a:xfrm>
                <a:off x="8333015" y="1840308"/>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29" name="文本框 228">
                <a:extLst>
                  <a:ext uri="{FF2B5EF4-FFF2-40B4-BE49-F238E27FC236}">
                    <a16:creationId xmlns:a16="http://schemas.microsoft.com/office/drawing/2014/main" id="{00EB2B13-DD0D-7593-A9FA-0C1AE7E8DF7E}"/>
                  </a:ext>
                </a:extLst>
              </p:cNvPr>
              <p:cNvSpPr txBox="1"/>
              <p:nvPr/>
            </p:nvSpPr>
            <p:spPr>
              <a:xfrm>
                <a:off x="8143951"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0" name="文本框 229">
                <a:extLst>
                  <a:ext uri="{FF2B5EF4-FFF2-40B4-BE49-F238E27FC236}">
                    <a16:creationId xmlns:a16="http://schemas.microsoft.com/office/drawing/2014/main" id="{46168961-2798-AEF4-4CA6-D11B8825CC96}"/>
                  </a:ext>
                </a:extLst>
              </p:cNvPr>
              <p:cNvSpPr txBox="1"/>
              <p:nvPr/>
            </p:nvSpPr>
            <p:spPr>
              <a:xfrm>
                <a:off x="8333015"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1" name="文本框 230">
                <a:extLst>
                  <a:ext uri="{FF2B5EF4-FFF2-40B4-BE49-F238E27FC236}">
                    <a16:creationId xmlns:a16="http://schemas.microsoft.com/office/drawing/2014/main" id="{B01EC16F-A9DA-E88D-E1CB-E0C0F6C15E7E}"/>
                  </a:ext>
                </a:extLst>
              </p:cNvPr>
              <p:cNvSpPr txBox="1"/>
              <p:nvPr/>
            </p:nvSpPr>
            <p:spPr>
              <a:xfrm>
                <a:off x="8527490"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2" name="文本框 231">
                <a:extLst>
                  <a:ext uri="{FF2B5EF4-FFF2-40B4-BE49-F238E27FC236}">
                    <a16:creationId xmlns:a16="http://schemas.microsoft.com/office/drawing/2014/main" id="{49548924-3F8A-1020-0748-4D8B76CAAA8F}"/>
                  </a:ext>
                </a:extLst>
              </p:cNvPr>
              <p:cNvSpPr txBox="1"/>
              <p:nvPr/>
            </p:nvSpPr>
            <p:spPr>
              <a:xfrm>
                <a:off x="8718869"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3" name="文本框 232">
                <a:extLst>
                  <a:ext uri="{FF2B5EF4-FFF2-40B4-BE49-F238E27FC236}">
                    <a16:creationId xmlns:a16="http://schemas.microsoft.com/office/drawing/2014/main" id="{DE70B350-38E1-BF97-D8D1-C3C211D10667}"/>
                  </a:ext>
                </a:extLst>
              </p:cNvPr>
              <p:cNvSpPr txBox="1"/>
              <p:nvPr/>
            </p:nvSpPr>
            <p:spPr>
              <a:xfrm>
                <a:off x="8910248"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4" name="文本框 233">
                <a:extLst>
                  <a:ext uri="{FF2B5EF4-FFF2-40B4-BE49-F238E27FC236}">
                    <a16:creationId xmlns:a16="http://schemas.microsoft.com/office/drawing/2014/main" id="{2CA57828-6881-9D97-A4B2-1F2FCA68D99D}"/>
                  </a:ext>
                </a:extLst>
              </p:cNvPr>
              <p:cNvSpPr txBox="1"/>
              <p:nvPr/>
            </p:nvSpPr>
            <p:spPr>
              <a:xfrm>
                <a:off x="9101627"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5" name="文本框 234">
                <a:extLst>
                  <a:ext uri="{FF2B5EF4-FFF2-40B4-BE49-F238E27FC236}">
                    <a16:creationId xmlns:a16="http://schemas.microsoft.com/office/drawing/2014/main" id="{EA801B07-CDA5-803A-AFAE-08ABC89FCB67}"/>
                  </a:ext>
                </a:extLst>
              </p:cNvPr>
              <p:cNvSpPr txBox="1"/>
              <p:nvPr/>
            </p:nvSpPr>
            <p:spPr>
              <a:xfrm>
                <a:off x="9293006"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6" name="文本框 235">
                <a:extLst>
                  <a:ext uri="{FF2B5EF4-FFF2-40B4-BE49-F238E27FC236}">
                    <a16:creationId xmlns:a16="http://schemas.microsoft.com/office/drawing/2014/main" id="{EC35ABFF-99A4-96E7-E851-EDE0EEA88561}"/>
                  </a:ext>
                </a:extLst>
              </p:cNvPr>
              <p:cNvSpPr txBox="1"/>
              <p:nvPr/>
            </p:nvSpPr>
            <p:spPr>
              <a:xfrm>
                <a:off x="9484385"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7" name="文本框 236">
                <a:extLst>
                  <a:ext uri="{FF2B5EF4-FFF2-40B4-BE49-F238E27FC236}">
                    <a16:creationId xmlns:a16="http://schemas.microsoft.com/office/drawing/2014/main" id="{9A828CCF-0A1E-8172-8712-3F6A08BA1EF6}"/>
                  </a:ext>
                </a:extLst>
              </p:cNvPr>
              <p:cNvSpPr txBox="1"/>
              <p:nvPr/>
            </p:nvSpPr>
            <p:spPr>
              <a:xfrm>
                <a:off x="9675764"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8" name="文本框 237">
                <a:extLst>
                  <a:ext uri="{FF2B5EF4-FFF2-40B4-BE49-F238E27FC236}">
                    <a16:creationId xmlns:a16="http://schemas.microsoft.com/office/drawing/2014/main" id="{119502B4-582B-754E-B8A4-07AFD81A3C54}"/>
                  </a:ext>
                </a:extLst>
              </p:cNvPr>
              <p:cNvSpPr txBox="1"/>
              <p:nvPr/>
            </p:nvSpPr>
            <p:spPr>
              <a:xfrm>
                <a:off x="9867143"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39" name="文本框 238">
                <a:extLst>
                  <a:ext uri="{FF2B5EF4-FFF2-40B4-BE49-F238E27FC236}">
                    <a16:creationId xmlns:a16="http://schemas.microsoft.com/office/drawing/2014/main" id="{C3F0D52B-3673-D548-5DEF-99B47723663A}"/>
                  </a:ext>
                </a:extLst>
              </p:cNvPr>
              <p:cNvSpPr txBox="1"/>
              <p:nvPr/>
            </p:nvSpPr>
            <p:spPr>
              <a:xfrm>
                <a:off x="10058522"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40" name="文本框 239">
                <a:extLst>
                  <a:ext uri="{FF2B5EF4-FFF2-40B4-BE49-F238E27FC236}">
                    <a16:creationId xmlns:a16="http://schemas.microsoft.com/office/drawing/2014/main" id="{B59D8B7E-3433-AB44-984B-684410FBE14D}"/>
                  </a:ext>
                </a:extLst>
              </p:cNvPr>
              <p:cNvSpPr txBox="1"/>
              <p:nvPr/>
            </p:nvSpPr>
            <p:spPr>
              <a:xfrm>
                <a:off x="10249901"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41" name="文本框 240">
                <a:extLst>
                  <a:ext uri="{FF2B5EF4-FFF2-40B4-BE49-F238E27FC236}">
                    <a16:creationId xmlns:a16="http://schemas.microsoft.com/office/drawing/2014/main" id="{773C5582-4CCD-9B8B-B420-084628D96326}"/>
                  </a:ext>
                </a:extLst>
              </p:cNvPr>
              <p:cNvSpPr txBox="1"/>
              <p:nvPr/>
            </p:nvSpPr>
            <p:spPr>
              <a:xfrm>
                <a:off x="10435869"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42" name="文本框 241">
                <a:extLst>
                  <a:ext uri="{FF2B5EF4-FFF2-40B4-BE49-F238E27FC236}">
                    <a16:creationId xmlns:a16="http://schemas.microsoft.com/office/drawing/2014/main" id="{B26EC509-0586-C815-5E9C-1D60A5C8B7EF}"/>
                  </a:ext>
                </a:extLst>
              </p:cNvPr>
              <p:cNvSpPr txBox="1"/>
              <p:nvPr/>
            </p:nvSpPr>
            <p:spPr>
              <a:xfrm>
                <a:off x="10627248"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43" name="文本框 242">
                <a:extLst>
                  <a:ext uri="{FF2B5EF4-FFF2-40B4-BE49-F238E27FC236}">
                    <a16:creationId xmlns:a16="http://schemas.microsoft.com/office/drawing/2014/main" id="{AB5D2AC2-077B-C6C3-D1EC-659CE9542919}"/>
                  </a:ext>
                </a:extLst>
              </p:cNvPr>
              <p:cNvSpPr txBox="1"/>
              <p:nvPr/>
            </p:nvSpPr>
            <p:spPr>
              <a:xfrm>
                <a:off x="10818627" y="4513230"/>
                <a:ext cx="330540" cy="215444"/>
              </a:xfrm>
              <a:prstGeom prst="rect">
                <a:avLst/>
              </a:prstGeom>
              <a:noFill/>
            </p:spPr>
            <p:txBody>
              <a:bodyPr wrap="none" rtlCol="0">
                <a:spAutoFit/>
              </a:bodyPr>
              <a:lstStyle/>
              <a:p>
                <a:r>
                  <a:rPr kumimoji="1" lang="en-US" altLang="zh-CN" sz="800" dirty="0">
                    <a:latin typeface="+mj-ea"/>
                    <a:ea typeface="+mj-ea"/>
                  </a:rPr>
                  <a:t>0.0</a:t>
                </a:r>
                <a:endParaRPr kumimoji="1" lang="zh-CN" altLang="en-US" sz="800" dirty="0">
                  <a:latin typeface="+mj-ea"/>
                  <a:ea typeface="+mj-ea"/>
                </a:endParaRPr>
              </a:p>
            </p:txBody>
          </p:sp>
          <p:sp>
            <p:nvSpPr>
              <p:cNvPr id="244" name="文本框 243">
                <a:extLst>
                  <a:ext uri="{FF2B5EF4-FFF2-40B4-BE49-F238E27FC236}">
                    <a16:creationId xmlns:a16="http://schemas.microsoft.com/office/drawing/2014/main" id="{41006773-97E8-A24C-B111-71C1E7B5D5E7}"/>
                  </a:ext>
                </a:extLst>
              </p:cNvPr>
              <p:cNvSpPr txBox="1"/>
              <p:nvPr/>
            </p:nvSpPr>
            <p:spPr>
              <a:xfrm>
                <a:off x="8516268" y="1840308"/>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48" name="文本框 247">
                <a:extLst>
                  <a:ext uri="{FF2B5EF4-FFF2-40B4-BE49-F238E27FC236}">
                    <a16:creationId xmlns:a16="http://schemas.microsoft.com/office/drawing/2014/main" id="{53838975-7582-5E42-F5A9-B8296A8CDA4C}"/>
                  </a:ext>
                </a:extLst>
              </p:cNvPr>
              <p:cNvSpPr txBox="1"/>
              <p:nvPr/>
            </p:nvSpPr>
            <p:spPr>
              <a:xfrm>
                <a:off x="8705507" y="1840607"/>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64" name="文本框 263">
                <a:extLst>
                  <a:ext uri="{FF2B5EF4-FFF2-40B4-BE49-F238E27FC236}">
                    <a16:creationId xmlns:a16="http://schemas.microsoft.com/office/drawing/2014/main" id="{CA6657A6-5AE2-9797-6887-0D4DE0FD30A4}"/>
                  </a:ext>
                </a:extLst>
              </p:cNvPr>
              <p:cNvSpPr txBox="1"/>
              <p:nvPr/>
            </p:nvSpPr>
            <p:spPr>
              <a:xfrm>
                <a:off x="8897501" y="1840308"/>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65" name="文本框 264">
                <a:extLst>
                  <a:ext uri="{FF2B5EF4-FFF2-40B4-BE49-F238E27FC236}">
                    <a16:creationId xmlns:a16="http://schemas.microsoft.com/office/drawing/2014/main" id="{467B3E5D-A0E8-C324-1A0E-6B3BEECED011}"/>
                  </a:ext>
                </a:extLst>
              </p:cNvPr>
              <p:cNvSpPr txBox="1"/>
              <p:nvPr/>
            </p:nvSpPr>
            <p:spPr>
              <a:xfrm>
                <a:off x="9089495" y="1840009"/>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66" name="文本框 265">
                <a:extLst>
                  <a:ext uri="{FF2B5EF4-FFF2-40B4-BE49-F238E27FC236}">
                    <a16:creationId xmlns:a16="http://schemas.microsoft.com/office/drawing/2014/main" id="{D1DF95C7-506F-0A8D-B77A-05E1C0040510}"/>
                  </a:ext>
                </a:extLst>
              </p:cNvPr>
              <p:cNvSpPr txBox="1"/>
              <p:nvPr/>
            </p:nvSpPr>
            <p:spPr>
              <a:xfrm>
                <a:off x="9281489" y="1839710"/>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67" name="文本框 266">
                <a:extLst>
                  <a:ext uri="{FF2B5EF4-FFF2-40B4-BE49-F238E27FC236}">
                    <a16:creationId xmlns:a16="http://schemas.microsoft.com/office/drawing/2014/main" id="{407A1123-320D-CA26-B8C5-B1ADEA432315}"/>
                  </a:ext>
                </a:extLst>
              </p:cNvPr>
              <p:cNvSpPr txBox="1"/>
              <p:nvPr/>
            </p:nvSpPr>
            <p:spPr>
              <a:xfrm>
                <a:off x="9473483" y="1839411"/>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68" name="文本框 267">
                <a:extLst>
                  <a:ext uri="{FF2B5EF4-FFF2-40B4-BE49-F238E27FC236}">
                    <a16:creationId xmlns:a16="http://schemas.microsoft.com/office/drawing/2014/main" id="{01BBABC9-4DFF-3712-75F1-40B4F6C6E6D9}"/>
                  </a:ext>
                </a:extLst>
              </p:cNvPr>
              <p:cNvSpPr txBox="1"/>
              <p:nvPr/>
            </p:nvSpPr>
            <p:spPr>
              <a:xfrm>
                <a:off x="9665477" y="1839112"/>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69" name="文本框 268">
                <a:extLst>
                  <a:ext uri="{FF2B5EF4-FFF2-40B4-BE49-F238E27FC236}">
                    <a16:creationId xmlns:a16="http://schemas.microsoft.com/office/drawing/2014/main" id="{0A9A48C5-9B7B-DA5A-5D59-BBC714EFF2C3}"/>
                  </a:ext>
                </a:extLst>
              </p:cNvPr>
              <p:cNvSpPr txBox="1"/>
              <p:nvPr/>
            </p:nvSpPr>
            <p:spPr>
              <a:xfrm>
                <a:off x="9857471" y="1838813"/>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70" name="文本框 269">
                <a:extLst>
                  <a:ext uri="{FF2B5EF4-FFF2-40B4-BE49-F238E27FC236}">
                    <a16:creationId xmlns:a16="http://schemas.microsoft.com/office/drawing/2014/main" id="{2AC0E1D5-6486-419E-7B7E-72D5DAE04EF7}"/>
                  </a:ext>
                </a:extLst>
              </p:cNvPr>
              <p:cNvSpPr txBox="1"/>
              <p:nvPr/>
            </p:nvSpPr>
            <p:spPr>
              <a:xfrm>
                <a:off x="10049465" y="1838514"/>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71" name="文本框 270">
                <a:extLst>
                  <a:ext uri="{FF2B5EF4-FFF2-40B4-BE49-F238E27FC236}">
                    <a16:creationId xmlns:a16="http://schemas.microsoft.com/office/drawing/2014/main" id="{D2111244-FC8D-D8C5-73BF-51F09A0BD35E}"/>
                  </a:ext>
                </a:extLst>
              </p:cNvPr>
              <p:cNvSpPr txBox="1"/>
              <p:nvPr/>
            </p:nvSpPr>
            <p:spPr>
              <a:xfrm>
                <a:off x="10241459" y="1838215"/>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72" name="文本框 271">
                <a:extLst>
                  <a:ext uri="{FF2B5EF4-FFF2-40B4-BE49-F238E27FC236}">
                    <a16:creationId xmlns:a16="http://schemas.microsoft.com/office/drawing/2014/main" id="{D23F4849-A387-59B7-1B91-1F3B43FE0DB3}"/>
                  </a:ext>
                </a:extLst>
              </p:cNvPr>
              <p:cNvSpPr txBox="1"/>
              <p:nvPr/>
            </p:nvSpPr>
            <p:spPr>
              <a:xfrm>
                <a:off x="10433453" y="1837916"/>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73" name="文本框 272">
                <a:extLst>
                  <a:ext uri="{FF2B5EF4-FFF2-40B4-BE49-F238E27FC236}">
                    <a16:creationId xmlns:a16="http://schemas.microsoft.com/office/drawing/2014/main" id="{4BB8A419-FD38-5F08-C1D9-AA5DE271ECD4}"/>
                  </a:ext>
                </a:extLst>
              </p:cNvPr>
              <p:cNvSpPr txBox="1"/>
              <p:nvPr/>
            </p:nvSpPr>
            <p:spPr>
              <a:xfrm>
                <a:off x="10625447" y="1837617"/>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sp>
            <p:nvSpPr>
              <p:cNvPr id="274" name="文本框 273">
                <a:extLst>
                  <a:ext uri="{FF2B5EF4-FFF2-40B4-BE49-F238E27FC236}">
                    <a16:creationId xmlns:a16="http://schemas.microsoft.com/office/drawing/2014/main" id="{89D1502F-86B7-7EA1-C6D3-F5495775C5FD}"/>
                  </a:ext>
                </a:extLst>
              </p:cNvPr>
              <p:cNvSpPr txBox="1"/>
              <p:nvPr/>
            </p:nvSpPr>
            <p:spPr>
              <a:xfrm>
                <a:off x="10817441" y="1837318"/>
                <a:ext cx="330540" cy="215444"/>
              </a:xfrm>
              <a:prstGeom prst="rect">
                <a:avLst/>
              </a:prstGeom>
              <a:noFill/>
            </p:spPr>
            <p:txBody>
              <a:bodyPr wrap="none" rtlCol="0">
                <a:spAutoFit/>
              </a:bodyPr>
              <a:lstStyle/>
              <a:p>
                <a:r>
                  <a:rPr kumimoji="1" lang="en-US" altLang="zh-CN" sz="800" dirty="0">
                    <a:latin typeface="+mj-ea"/>
                    <a:ea typeface="+mj-ea"/>
                  </a:rPr>
                  <a:t>1.0</a:t>
                </a:r>
                <a:endParaRPr kumimoji="1" lang="zh-CN" altLang="en-US" sz="800" dirty="0">
                  <a:latin typeface="+mj-ea"/>
                  <a:ea typeface="+mj-ea"/>
                </a:endParaRPr>
              </a:p>
            </p:txBody>
          </p:sp>
        </p:grpSp>
      </p:grpSp>
    </p:spTree>
    <p:extLst>
      <p:ext uri="{BB962C8B-B14F-4D97-AF65-F5344CB8AC3E}">
        <p14:creationId xmlns:p14="http://schemas.microsoft.com/office/powerpoint/2010/main" val="252776586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捲積核的大小 </a:t>
            </a:r>
            <a:r>
              <a:rPr lang="en-US" altLang="zh-CN" dirty="0"/>
              <a:t>(size)</a:t>
            </a:r>
            <a:endParaRPr lang="zh-CN" altLang="en-US" dirty="0"/>
          </a:p>
        </p:txBody>
      </p:sp>
      <p:sp>
        <p:nvSpPr>
          <p:cNvPr id="3" name="内容占位符 2"/>
          <p:cNvSpPr>
            <a:spLocks noGrp="1"/>
          </p:cNvSpPr>
          <p:nvPr>
            <p:ph sz="quarter" idx="1"/>
          </p:nvPr>
        </p:nvSpPr>
        <p:spPr>
          <a:xfrm>
            <a:off x="1219200" y="1209549"/>
            <a:ext cx="10363200" cy="4572000"/>
          </a:xfrm>
        </p:spPr>
        <p:txBody>
          <a:bodyPr/>
          <a:lstStyle/>
          <a:p>
            <a:endParaRPr lang="en-US" altLang="zh-CN" dirty="0"/>
          </a:p>
          <a:p>
            <a:r>
              <a:rPr lang="zh-CN" altLang="en-US" dirty="0"/>
              <a:t>對於二維輸入，一般是</a:t>
            </a:r>
            <a:r>
              <a:rPr lang="en-US" altLang="zh-CN" dirty="0"/>
              <a:t>3×3</a:t>
            </a:r>
            <a:r>
              <a:rPr lang="zh-CN" altLang="en-US" dirty="0"/>
              <a:t>、</a:t>
            </a:r>
            <a:r>
              <a:rPr lang="en-US" altLang="zh-CN" dirty="0"/>
              <a:t>5×5</a:t>
            </a:r>
            <a:r>
              <a:rPr lang="zh-CN" altLang="en-US" dirty="0"/>
              <a:t>、</a:t>
            </a:r>
            <a:r>
              <a:rPr lang="en-US" altLang="zh-CN" dirty="0"/>
              <a:t>7×7…</a:t>
            </a:r>
            <a:endParaRPr lang="zh-CN" altLang="en-US" dirty="0"/>
          </a:p>
        </p:txBody>
      </p:sp>
      <p:grpSp>
        <p:nvGrpSpPr>
          <p:cNvPr id="4" name="组合 3"/>
          <p:cNvGrpSpPr/>
          <p:nvPr/>
        </p:nvGrpSpPr>
        <p:grpSpPr>
          <a:xfrm>
            <a:off x="7886858" y="2451945"/>
            <a:ext cx="962296" cy="977220"/>
            <a:chOff x="1489165" y="2769325"/>
            <a:chExt cx="962296" cy="977220"/>
          </a:xfrm>
          <a:solidFill>
            <a:schemeClr val="tx1"/>
          </a:solidFill>
        </p:grpSpPr>
        <p:sp>
          <p:nvSpPr>
            <p:cNvPr id="11" name="椭圆 10"/>
            <p:cNvSpPr/>
            <p:nvPr/>
          </p:nvSpPr>
          <p:spPr>
            <a:xfrm>
              <a:off x="1489165" y="276932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 name="椭圆 11"/>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 name="椭圆 12"/>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 name="椭圆 13"/>
            <p:cNvSpPr/>
            <p:nvPr/>
          </p:nvSpPr>
          <p:spPr>
            <a:xfrm>
              <a:off x="1502226"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 name="椭圆 14"/>
            <p:cNvSpPr/>
            <p:nvPr/>
          </p:nvSpPr>
          <p:spPr>
            <a:xfrm>
              <a:off x="1859278"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 name="椭圆 15"/>
            <p:cNvSpPr/>
            <p:nvPr/>
          </p:nvSpPr>
          <p:spPr>
            <a:xfrm>
              <a:off x="2216330"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7" name="椭圆 16"/>
            <p:cNvSpPr/>
            <p:nvPr/>
          </p:nvSpPr>
          <p:spPr>
            <a:xfrm>
              <a:off x="1502226"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 name="椭圆 17"/>
            <p:cNvSpPr/>
            <p:nvPr/>
          </p:nvSpPr>
          <p:spPr>
            <a:xfrm>
              <a:off x="1859278"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 name="椭圆 18"/>
            <p:cNvSpPr/>
            <p:nvPr/>
          </p:nvSpPr>
          <p:spPr>
            <a:xfrm>
              <a:off x="2216330"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30" name="组合 29"/>
          <p:cNvGrpSpPr/>
          <p:nvPr/>
        </p:nvGrpSpPr>
        <p:grpSpPr>
          <a:xfrm>
            <a:off x="2647024" y="3225583"/>
            <a:ext cx="2378386" cy="2455640"/>
            <a:chOff x="1489165" y="2002971"/>
            <a:chExt cx="2378386" cy="2455640"/>
          </a:xfrm>
          <a:solidFill>
            <a:schemeClr val="tx1"/>
          </a:solidFill>
        </p:grpSpPr>
        <p:sp>
          <p:nvSpPr>
            <p:cNvPr id="31" name="椭圆 30"/>
            <p:cNvSpPr/>
            <p:nvPr/>
          </p:nvSpPr>
          <p:spPr>
            <a:xfrm>
              <a:off x="1489165" y="2002971"/>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2" name="椭圆 31"/>
            <p:cNvSpPr/>
            <p:nvPr/>
          </p:nvSpPr>
          <p:spPr>
            <a:xfrm>
              <a:off x="1846217" y="2002971"/>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3" name="椭圆 32"/>
            <p:cNvSpPr/>
            <p:nvPr/>
          </p:nvSpPr>
          <p:spPr>
            <a:xfrm>
              <a:off x="2203269" y="2002971"/>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4" name="椭圆 33"/>
            <p:cNvSpPr/>
            <p:nvPr/>
          </p:nvSpPr>
          <p:spPr>
            <a:xfrm>
              <a:off x="1493519" y="2386148"/>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5" name="椭圆 34"/>
            <p:cNvSpPr/>
            <p:nvPr/>
          </p:nvSpPr>
          <p:spPr>
            <a:xfrm>
              <a:off x="1850571" y="2386148"/>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6" name="椭圆 35"/>
            <p:cNvSpPr/>
            <p:nvPr/>
          </p:nvSpPr>
          <p:spPr>
            <a:xfrm>
              <a:off x="2207623" y="2386148"/>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7" name="椭圆 36"/>
            <p:cNvSpPr/>
            <p:nvPr/>
          </p:nvSpPr>
          <p:spPr>
            <a:xfrm>
              <a:off x="1489165" y="276932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8" name="椭圆 37"/>
            <p:cNvSpPr/>
            <p:nvPr/>
          </p:nvSpPr>
          <p:spPr>
            <a:xfrm>
              <a:off x="1846217" y="276932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9" name="椭圆 38"/>
            <p:cNvSpPr/>
            <p:nvPr/>
          </p:nvSpPr>
          <p:spPr>
            <a:xfrm>
              <a:off x="2203269" y="276932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0" name="椭圆 39"/>
            <p:cNvSpPr/>
            <p:nvPr/>
          </p:nvSpPr>
          <p:spPr>
            <a:xfrm>
              <a:off x="1502226" y="3152502"/>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1" name="椭圆 40"/>
            <p:cNvSpPr/>
            <p:nvPr/>
          </p:nvSpPr>
          <p:spPr>
            <a:xfrm>
              <a:off x="1859278" y="3152502"/>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 name="椭圆 41"/>
            <p:cNvSpPr/>
            <p:nvPr/>
          </p:nvSpPr>
          <p:spPr>
            <a:xfrm>
              <a:off x="2216330" y="3152502"/>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 name="椭圆 42"/>
            <p:cNvSpPr/>
            <p:nvPr/>
          </p:nvSpPr>
          <p:spPr>
            <a:xfrm>
              <a:off x="1502226" y="3485287"/>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 name="椭圆 43"/>
            <p:cNvSpPr/>
            <p:nvPr/>
          </p:nvSpPr>
          <p:spPr>
            <a:xfrm>
              <a:off x="1859278" y="3485287"/>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5" name="椭圆 44"/>
            <p:cNvSpPr/>
            <p:nvPr/>
          </p:nvSpPr>
          <p:spPr>
            <a:xfrm>
              <a:off x="2216330" y="3485287"/>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6" name="椭圆 45"/>
            <p:cNvSpPr/>
            <p:nvPr/>
          </p:nvSpPr>
          <p:spPr>
            <a:xfrm>
              <a:off x="2547260" y="2011679"/>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7" name="椭圆 46"/>
            <p:cNvSpPr/>
            <p:nvPr/>
          </p:nvSpPr>
          <p:spPr>
            <a:xfrm>
              <a:off x="2551614" y="2394856"/>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 name="椭圆 47"/>
            <p:cNvSpPr/>
            <p:nvPr/>
          </p:nvSpPr>
          <p:spPr>
            <a:xfrm>
              <a:off x="2547260" y="2778033"/>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9" name="椭圆 48"/>
            <p:cNvSpPr/>
            <p:nvPr/>
          </p:nvSpPr>
          <p:spPr>
            <a:xfrm>
              <a:off x="2560321" y="3161210"/>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 name="椭圆 49"/>
            <p:cNvSpPr/>
            <p:nvPr/>
          </p:nvSpPr>
          <p:spPr>
            <a:xfrm>
              <a:off x="2560321" y="349399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1" name="椭圆 50"/>
            <p:cNvSpPr/>
            <p:nvPr/>
          </p:nvSpPr>
          <p:spPr>
            <a:xfrm>
              <a:off x="2891251" y="2011679"/>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2" name="椭圆 51"/>
            <p:cNvSpPr/>
            <p:nvPr/>
          </p:nvSpPr>
          <p:spPr>
            <a:xfrm>
              <a:off x="2895605" y="2394856"/>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3" name="椭圆 52"/>
            <p:cNvSpPr/>
            <p:nvPr/>
          </p:nvSpPr>
          <p:spPr>
            <a:xfrm>
              <a:off x="2891251" y="2778033"/>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4" name="椭圆 53"/>
            <p:cNvSpPr/>
            <p:nvPr/>
          </p:nvSpPr>
          <p:spPr>
            <a:xfrm>
              <a:off x="2904312" y="3161210"/>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5" name="椭圆 54"/>
            <p:cNvSpPr/>
            <p:nvPr/>
          </p:nvSpPr>
          <p:spPr>
            <a:xfrm>
              <a:off x="2904312" y="349399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6" name="椭圆 55"/>
            <p:cNvSpPr/>
            <p:nvPr/>
          </p:nvSpPr>
          <p:spPr>
            <a:xfrm>
              <a:off x="3270068" y="200903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7" name="椭圆 56"/>
            <p:cNvSpPr/>
            <p:nvPr/>
          </p:nvSpPr>
          <p:spPr>
            <a:xfrm>
              <a:off x="3274422" y="239220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8" name="椭圆 57"/>
            <p:cNvSpPr/>
            <p:nvPr/>
          </p:nvSpPr>
          <p:spPr>
            <a:xfrm>
              <a:off x="3270068" y="277538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9" name="椭圆 58"/>
            <p:cNvSpPr/>
            <p:nvPr/>
          </p:nvSpPr>
          <p:spPr>
            <a:xfrm>
              <a:off x="3283129" y="315856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0" name="椭圆 59"/>
            <p:cNvSpPr/>
            <p:nvPr/>
          </p:nvSpPr>
          <p:spPr>
            <a:xfrm>
              <a:off x="3283129" y="34913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1" name="椭圆 60"/>
            <p:cNvSpPr/>
            <p:nvPr/>
          </p:nvSpPr>
          <p:spPr>
            <a:xfrm>
              <a:off x="3619359" y="200791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2" name="椭圆 61"/>
            <p:cNvSpPr/>
            <p:nvPr/>
          </p:nvSpPr>
          <p:spPr>
            <a:xfrm>
              <a:off x="3623713" y="239108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3" name="椭圆 62"/>
            <p:cNvSpPr/>
            <p:nvPr/>
          </p:nvSpPr>
          <p:spPr>
            <a:xfrm>
              <a:off x="3619359" y="277426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4" name="椭圆 63"/>
            <p:cNvSpPr/>
            <p:nvPr/>
          </p:nvSpPr>
          <p:spPr>
            <a:xfrm>
              <a:off x="3632420" y="315744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5" name="椭圆 64"/>
            <p:cNvSpPr/>
            <p:nvPr/>
          </p:nvSpPr>
          <p:spPr>
            <a:xfrm>
              <a:off x="3632420" y="349022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6" name="椭圆 65"/>
            <p:cNvSpPr/>
            <p:nvPr/>
          </p:nvSpPr>
          <p:spPr>
            <a:xfrm>
              <a:off x="1502226" y="383739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7" name="椭圆 66"/>
            <p:cNvSpPr/>
            <p:nvPr/>
          </p:nvSpPr>
          <p:spPr>
            <a:xfrm>
              <a:off x="1859278" y="383739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8" name="椭圆 67"/>
            <p:cNvSpPr/>
            <p:nvPr/>
          </p:nvSpPr>
          <p:spPr>
            <a:xfrm>
              <a:off x="2216330" y="383739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9" name="椭圆 68"/>
            <p:cNvSpPr/>
            <p:nvPr/>
          </p:nvSpPr>
          <p:spPr>
            <a:xfrm>
              <a:off x="2560321" y="384610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0" name="椭圆 69"/>
            <p:cNvSpPr/>
            <p:nvPr/>
          </p:nvSpPr>
          <p:spPr>
            <a:xfrm>
              <a:off x="2904312" y="384610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1" name="椭圆 70"/>
            <p:cNvSpPr/>
            <p:nvPr/>
          </p:nvSpPr>
          <p:spPr>
            <a:xfrm>
              <a:off x="3283129" y="384345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2" name="椭圆 71"/>
            <p:cNvSpPr/>
            <p:nvPr/>
          </p:nvSpPr>
          <p:spPr>
            <a:xfrm>
              <a:off x="3632420" y="384233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3" name="椭圆 72"/>
            <p:cNvSpPr/>
            <p:nvPr/>
          </p:nvSpPr>
          <p:spPr>
            <a:xfrm>
              <a:off x="1502226" y="418864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4" name="椭圆 73"/>
            <p:cNvSpPr/>
            <p:nvPr/>
          </p:nvSpPr>
          <p:spPr>
            <a:xfrm>
              <a:off x="1859278" y="418864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5" name="椭圆 74"/>
            <p:cNvSpPr/>
            <p:nvPr/>
          </p:nvSpPr>
          <p:spPr>
            <a:xfrm>
              <a:off x="2216330" y="418864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6" name="椭圆 75"/>
            <p:cNvSpPr/>
            <p:nvPr/>
          </p:nvSpPr>
          <p:spPr>
            <a:xfrm>
              <a:off x="2560321" y="419735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7" name="椭圆 76"/>
            <p:cNvSpPr/>
            <p:nvPr/>
          </p:nvSpPr>
          <p:spPr>
            <a:xfrm>
              <a:off x="2904312" y="419735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8" name="椭圆 77"/>
            <p:cNvSpPr/>
            <p:nvPr/>
          </p:nvSpPr>
          <p:spPr>
            <a:xfrm>
              <a:off x="3283129" y="419470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9" name="椭圆 78"/>
            <p:cNvSpPr/>
            <p:nvPr/>
          </p:nvSpPr>
          <p:spPr>
            <a:xfrm>
              <a:off x="3632420" y="419358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cxnSp>
        <p:nvCxnSpPr>
          <p:cNvPr id="80" name="直接箭头连接符 79"/>
          <p:cNvCxnSpPr>
            <a:stCxn id="31" idx="6"/>
            <a:endCxn id="11" idx="2"/>
          </p:cNvCxnSpPr>
          <p:nvPr/>
        </p:nvCxnSpPr>
        <p:spPr>
          <a:xfrm flipV="1">
            <a:off x="2882155" y="2582574"/>
            <a:ext cx="5004703" cy="7736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a:stCxn id="32" idx="6"/>
            <a:endCxn id="11" idx="2"/>
          </p:cNvCxnSpPr>
          <p:nvPr/>
        </p:nvCxnSpPr>
        <p:spPr>
          <a:xfrm flipV="1">
            <a:off x="3239207" y="2582574"/>
            <a:ext cx="4647651" cy="7736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33" idx="6"/>
            <a:endCxn id="11" idx="2"/>
          </p:cNvCxnSpPr>
          <p:nvPr/>
        </p:nvCxnSpPr>
        <p:spPr>
          <a:xfrm flipV="1">
            <a:off x="3596259" y="2582574"/>
            <a:ext cx="4290599" cy="7736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34" idx="6"/>
            <a:endCxn id="11" idx="2"/>
          </p:cNvCxnSpPr>
          <p:nvPr/>
        </p:nvCxnSpPr>
        <p:spPr>
          <a:xfrm flipV="1">
            <a:off x="2886509" y="2582574"/>
            <a:ext cx="5000349" cy="11568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51" idx="6"/>
            <a:endCxn id="11" idx="2"/>
          </p:cNvCxnSpPr>
          <p:nvPr/>
        </p:nvCxnSpPr>
        <p:spPr>
          <a:xfrm flipV="1">
            <a:off x="4284241" y="2582574"/>
            <a:ext cx="3602617" cy="7823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46" idx="6"/>
            <a:endCxn id="11" idx="2"/>
          </p:cNvCxnSpPr>
          <p:nvPr/>
        </p:nvCxnSpPr>
        <p:spPr>
          <a:xfrm flipV="1">
            <a:off x="3940250" y="2582574"/>
            <a:ext cx="3946608" cy="7823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52" idx="6"/>
            <a:endCxn id="11" idx="2"/>
          </p:cNvCxnSpPr>
          <p:nvPr/>
        </p:nvCxnSpPr>
        <p:spPr>
          <a:xfrm flipV="1">
            <a:off x="4288595" y="2582574"/>
            <a:ext cx="3598263" cy="116552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a:stCxn id="47" idx="6"/>
            <a:endCxn id="11" idx="2"/>
          </p:cNvCxnSpPr>
          <p:nvPr/>
        </p:nvCxnSpPr>
        <p:spPr>
          <a:xfrm flipV="1">
            <a:off x="3944604" y="2582574"/>
            <a:ext cx="3942254" cy="116552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36" idx="6"/>
            <a:endCxn id="11" idx="2"/>
          </p:cNvCxnSpPr>
          <p:nvPr/>
        </p:nvCxnSpPr>
        <p:spPr>
          <a:xfrm flipV="1">
            <a:off x="3600613" y="2582574"/>
            <a:ext cx="4286245" cy="11568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stCxn id="35" idx="6"/>
            <a:endCxn id="11" idx="2"/>
          </p:cNvCxnSpPr>
          <p:nvPr/>
        </p:nvCxnSpPr>
        <p:spPr>
          <a:xfrm flipV="1">
            <a:off x="3243561" y="2582574"/>
            <a:ext cx="4643297" cy="11568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a:stCxn id="53" idx="6"/>
            <a:endCxn id="11" idx="2"/>
          </p:cNvCxnSpPr>
          <p:nvPr/>
        </p:nvCxnSpPr>
        <p:spPr>
          <a:xfrm flipV="1">
            <a:off x="4284241" y="2582574"/>
            <a:ext cx="3602617" cy="15487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接箭头连接符 120"/>
          <p:cNvCxnSpPr>
            <a:stCxn id="48" idx="6"/>
            <a:endCxn id="11" idx="2"/>
          </p:cNvCxnSpPr>
          <p:nvPr/>
        </p:nvCxnSpPr>
        <p:spPr>
          <a:xfrm flipV="1">
            <a:off x="3940250" y="2582574"/>
            <a:ext cx="3946608" cy="15487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a:stCxn id="39" idx="6"/>
            <a:endCxn id="11" idx="2"/>
          </p:cNvCxnSpPr>
          <p:nvPr/>
        </p:nvCxnSpPr>
        <p:spPr>
          <a:xfrm flipV="1">
            <a:off x="3596259" y="2582574"/>
            <a:ext cx="4290599" cy="15399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p:cNvCxnSpPr>
            <a:stCxn id="38" idx="6"/>
            <a:endCxn id="11" idx="2"/>
          </p:cNvCxnSpPr>
          <p:nvPr/>
        </p:nvCxnSpPr>
        <p:spPr>
          <a:xfrm flipV="1">
            <a:off x="3239207" y="2582574"/>
            <a:ext cx="4647651" cy="15399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a:stCxn id="37" idx="6"/>
            <a:endCxn id="11" idx="2"/>
          </p:cNvCxnSpPr>
          <p:nvPr/>
        </p:nvCxnSpPr>
        <p:spPr>
          <a:xfrm flipV="1">
            <a:off x="2882155" y="2582574"/>
            <a:ext cx="5004703" cy="15399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a:stCxn id="54" idx="6"/>
            <a:endCxn id="11" idx="2"/>
          </p:cNvCxnSpPr>
          <p:nvPr/>
        </p:nvCxnSpPr>
        <p:spPr>
          <a:xfrm flipV="1">
            <a:off x="4297302" y="2582574"/>
            <a:ext cx="3589556" cy="19318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直接箭头连接符 138"/>
          <p:cNvCxnSpPr>
            <a:stCxn id="49" idx="6"/>
            <a:endCxn id="11" idx="2"/>
          </p:cNvCxnSpPr>
          <p:nvPr/>
        </p:nvCxnSpPr>
        <p:spPr>
          <a:xfrm flipV="1">
            <a:off x="3953311" y="2582574"/>
            <a:ext cx="3933547" cy="19318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a:stCxn id="42" idx="5"/>
            <a:endCxn id="11" idx="2"/>
          </p:cNvCxnSpPr>
          <p:nvPr/>
        </p:nvCxnSpPr>
        <p:spPr>
          <a:xfrm flipV="1">
            <a:off x="3574886" y="2582574"/>
            <a:ext cx="4311972" cy="20155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a:stCxn id="41" idx="6"/>
            <a:endCxn id="11" idx="2"/>
          </p:cNvCxnSpPr>
          <p:nvPr/>
        </p:nvCxnSpPr>
        <p:spPr>
          <a:xfrm flipV="1">
            <a:off x="3252268" y="2582574"/>
            <a:ext cx="4634590" cy="192316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a:stCxn id="40" idx="6"/>
            <a:endCxn id="11" idx="2"/>
          </p:cNvCxnSpPr>
          <p:nvPr/>
        </p:nvCxnSpPr>
        <p:spPr>
          <a:xfrm flipV="1">
            <a:off x="2895216" y="2582574"/>
            <a:ext cx="4991642" cy="192316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p:cNvCxnSpPr>
            <a:stCxn id="55" idx="6"/>
            <a:endCxn id="11" idx="2"/>
          </p:cNvCxnSpPr>
          <p:nvPr/>
        </p:nvCxnSpPr>
        <p:spPr>
          <a:xfrm flipV="1">
            <a:off x="4297302" y="2582574"/>
            <a:ext cx="3589556" cy="226466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p:cNvCxnSpPr>
            <a:stCxn id="50" idx="6"/>
            <a:endCxn id="11" idx="2"/>
          </p:cNvCxnSpPr>
          <p:nvPr/>
        </p:nvCxnSpPr>
        <p:spPr>
          <a:xfrm flipV="1">
            <a:off x="3953311" y="2582574"/>
            <a:ext cx="3933547" cy="226466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a:stCxn id="45" idx="6"/>
            <a:endCxn id="11" idx="2"/>
          </p:cNvCxnSpPr>
          <p:nvPr/>
        </p:nvCxnSpPr>
        <p:spPr>
          <a:xfrm flipV="1">
            <a:off x="3609320" y="2582574"/>
            <a:ext cx="4277538" cy="225595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a:stCxn id="44" idx="6"/>
            <a:endCxn id="11" idx="2"/>
          </p:cNvCxnSpPr>
          <p:nvPr/>
        </p:nvCxnSpPr>
        <p:spPr>
          <a:xfrm flipV="1">
            <a:off x="3252268" y="2582574"/>
            <a:ext cx="4634590" cy="225595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a:stCxn id="43" idx="6"/>
            <a:endCxn id="11" idx="2"/>
          </p:cNvCxnSpPr>
          <p:nvPr/>
        </p:nvCxnSpPr>
        <p:spPr>
          <a:xfrm flipV="1">
            <a:off x="2895216" y="2582574"/>
            <a:ext cx="4991642" cy="225595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74058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填充 </a:t>
            </a:r>
            <a:r>
              <a:rPr lang="en-US" altLang="zh-CN" dirty="0"/>
              <a:t>(padding)</a:t>
            </a:r>
            <a:endParaRPr lang="zh-CN" altLang="en-US" dirty="0"/>
          </a:p>
        </p:txBody>
      </p:sp>
      <p:sp>
        <p:nvSpPr>
          <p:cNvPr id="15" name="椭圆 14"/>
          <p:cNvSpPr/>
          <p:nvPr/>
        </p:nvSpPr>
        <p:spPr>
          <a:xfrm>
            <a:off x="3382349" y="3413633"/>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 name="椭圆 15"/>
          <p:cNvSpPr/>
          <p:nvPr/>
        </p:nvSpPr>
        <p:spPr>
          <a:xfrm>
            <a:off x="3739401" y="3413633"/>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7" name="椭圆 16"/>
          <p:cNvSpPr/>
          <p:nvPr/>
        </p:nvSpPr>
        <p:spPr>
          <a:xfrm>
            <a:off x="4096453" y="3413633"/>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 name="椭圆 17"/>
          <p:cNvSpPr/>
          <p:nvPr/>
        </p:nvSpPr>
        <p:spPr>
          <a:xfrm>
            <a:off x="3386703" y="3796810"/>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 name="椭圆 18"/>
          <p:cNvSpPr/>
          <p:nvPr/>
        </p:nvSpPr>
        <p:spPr>
          <a:xfrm>
            <a:off x="3743755" y="3796810"/>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 name="椭圆 19"/>
          <p:cNvSpPr/>
          <p:nvPr/>
        </p:nvSpPr>
        <p:spPr>
          <a:xfrm>
            <a:off x="4100807" y="3796810"/>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1" name="椭圆 20"/>
          <p:cNvSpPr/>
          <p:nvPr/>
        </p:nvSpPr>
        <p:spPr>
          <a:xfrm>
            <a:off x="3382349" y="4179987"/>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2" name="椭圆 21"/>
          <p:cNvSpPr/>
          <p:nvPr/>
        </p:nvSpPr>
        <p:spPr>
          <a:xfrm>
            <a:off x="3739401" y="4179987"/>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3" name="椭圆 22"/>
          <p:cNvSpPr/>
          <p:nvPr/>
        </p:nvSpPr>
        <p:spPr>
          <a:xfrm>
            <a:off x="4096453" y="4179987"/>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4" name="椭圆 23"/>
          <p:cNvSpPr/>
          <p:nvPr/>
        </p:nvSpPr>
        <p:spPr>
          <a:xfrm>
            <a:off x="3395410" y="4563164"/>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 name="椭圆 24"/>
          <p:cNvSpPr/>
          <p:nvPr/>
        </p:nvSpPr>
        <p:spPr>
          <a:xfrm>
            <a:off x="3752462" y="4563164"/>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 name="椭圆 25"/>
          <p:cNvSpPr/>
          <p:nvPr/>
        </p:nvSpPr>
        <p:spPr>
          <a:xfrm>
            <a:off x="4109514" y="4563164"/>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 name="椭圆 26"/>
          <p:cNvSpPr/>
          <p:nvPr/>
        </p:nvSpPr>
        <p:spPr>
          <a:xfrm>
            <a:off x="3395410" y="4895949"/>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8" name="椭圆 27"/>
          <p:cNvSpPr/>
          <p:nvPr/>
        </p:nvSpPr>
        <p:spPr>
          <a:xfrm>
            <a:off x="3752462" y="4895949"/>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9" name="椭圆 28"/>
          <p:cNvSpPr/>
          <p:nvPr/>
        </p:nvSpPr>
        <p:spPr>
          <a:xfrm>
            <a:off x="4109514" y="4895949"/>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0" name="椭圆 29"/>
          <p:cNvSpPr/>
          <p:nvPr/>
        </p:nvSpPr>
        <p:spPr>
          <a:xfrm>
            <a:off x="4440444" y="3422341"/>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 name="椭圆 30"/>
          <p:cNvSpPr/>
          <p:nvPr/>
        </p:nvSpPr>
        <p:spPr>
          <a:xfrm>
            <a:off x="4444798" y="3805518"/>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2" name="椭圆 31"/>
          <p:cNvSpPr/>
          <p:nvPr/>
        </p:nvSpPr>
        <p:spPr>
          <a:xfrm>
            <a:off x="4440444" y="4188695"/>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3" name="椭圆 32"/>
          <p:cNvSpPr/>
          <p:nvPr/>
        </p:nvSpPr>
        <p:spPr>
          <a:xfrm>
            <a:off x="4453505" y="4571872"/>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4" name="椭圆 33"/>
          <p:cNvSpPr/>
          <p:nvPr/>
        </p:nvSpPr>
        <p:spPr>
          <a:xfrm>
            <a:off x="4453505" y="4904657"/>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5" name="椭圆 34"/>
          <p:cNvSpPr/>
          <p:nvPr/>
        </p:nvSpPr>
        <p:spPr>
          <a:xfrm>
            <a:off x="4784435" y="3422341"/>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6" name="椭圆 35"/>
          <p:cNvSpPr/>
          <p:nvPr/>
        </p:nvSpPr>
        <p:spPr>
          <a:xfrm>
            <a:off x="4788789" y="3805518"/>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7" name="椭圆 36"/>
          <p:cNvSpPr/>
          <p:nvPr/>
        </p:nvSpPr>
        <p:spPr>
          <a:xfrm>
            <a:off x="4784435" y="4188695"/>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8" name="椭圆 37"/>
          <p:cNvSpPr/>
          <p:nvPr/>
        </p:nvSpPr>
        <p:spPr>
          <a:xfrm>
            <a:off x="4797496" y="4571872"/>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9" name="椭圆 38"/>
          <p:cNvSpPr/>
          <p:nvPr/>
        </p:nvSpPr>
        <p:spPr>
          <a:xfrm>
            <a:off x="4797496" y="4904657"/>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nvGrpSpPr>
          <p:cNvPr id="87" name="组合 86"/>
          <p:cNvGrpSpPr/>
          <p:nvPr/>
        </p:nvGrpSpPr>
        <p:grpSpPr>
          <a:xfrm>
            <a:off x="3003529" y="2979565"/>
            <a:ext cx="2421860" cy="2586547"/>
            <a:chOff x="3003529" y="2979565"/>
            <a:chExt cx="2421860" cy="2586547"/>
          </a:xfrm>
        </p:grpSpPr>
        <p:sp>
          <p:nvSpPr>
            <p:cNvPr id="63" name="椭圆 62"/>
            <p:cNvSpPr/>
            <p:nvPr/>
          </p:nvSpPr>
          <p:spPr>
            <a:xfrm>
              <a:off x="5154548" y="3424436"/>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4" name="椭圆 63"/>
            <p:cNvSpPr/>
            <p:nvPr/>
          </p:nvSpPr>
          <p:spPr>
            <a:xfrm>
              <a:off x="5158902" y="3807613"/>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5" name="椭圆 64"/>
            <p:cNvSpPr/>
            <p:nvPr/>
          </p:nvSpPr>
          <p:spPr>
            <a:xfrm>
              <a:off x="5154548" y="4190790"/>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6" name="椭圆 65"/>
            <p:cNvSpPr/>
            <p:nvPr/>
          </p:nvSpPr>
          <p:spPr>
            <a:xfrm>
              <a:off x="5167609" y="4573967"/>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7" name="椭圆 66"/>
            <p:cNvSpPr/>
            <p:nvPr/>
          </p:nvSpPr>
          <p:spPr>
            <a:xfrm>
              <a:off x="5167609" y="4906752"/>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8" name="椭圆 67"/>
            <p:cNvSpPr/>
            <p:nvPr/>
          </p:nvSpPr>
          <p:spPr>
            <a:xfrm>
              <a:off x="3003529" y="3386874"/>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9" name="椭圆 68"/>
            <p:cNvSpPr/>
            <p:nvPr/>
          </p:nvSpPr>
          <p:spPr>
            <a:xfrm>
              <a:off x="3007883" y="3770051"/>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0" name="椭圆 69"/>
            <p:cNvSpPr/>
            <p:nvPr/>
          </p:nvSpPr>
          <p:spPr>
            <a:xfrm>
              <a:off x="3003529" y="4153228"/>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1" name="椭圆 70"/>
            <p:cNvSpPr/>
            <p:nvPr/>
          </p:nvSpPr>
          <p:spPr>
            <a:xfrm>
              <a:off x="3016590" y="4536405"/>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2" name="椭圆 71"/>
            <p:cNvSpPr/>
            <p:nvPr/>
          </p:nvSpPr>
          <p:spPr>
            <a:xfrm>
              <a:off x="3016590" y="4869190"/>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3" name="椭圆 72"/>
            <p:cNvSpPr/>
            <p:nvPr/>
          </p:nvSpPr>
          <p:spPr>
            <a:xfrm>
              <a:off x="3418059" y="5294051"/>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4" name="椭圆 73"/>
            <p:cNvSpPr/>
            <p:nvPr/>
          </p:nvSpPr>
          <p:spPr>
            <a:xfrm>
              <a:off x="3775111" y="5294051"/>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5" name="椭圆 74"/>
            <p:cNvSpPr/>
            <p:nvPr/>
          </p:nvSpPr>
          <p:spPr>
            <a:xfrm>
              <a:off x="4132163" y="5294051"/>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6" name="椭圆 75"/>
            <p:cNvSpPr/>
            <p:nvPr/>
          </p:nvSpPr>
          <p:spPr>
            <a:xfrm>
              <a:off x="4476154" y="5302759"/>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7" name="椭圆 76"/>
            <p:cNvSpPr/>
            <p:nvPr/>
          </p:nvSpPr>
          <p:spPr>
            <a:xfrm>
              <a:off x="4820145" y="5302759"/>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8" name="椭圆 77"/>
            <p:cNvSpPr/>
            <p:nvPr/>
          </p:nvSpPr>
          <p:spPr>
            <a:xfrm>
              <a:off x="5190258" y="5304854"/>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9" name="椭圆 78"/>
            <p:cNvSpPr/>
            <p:nvPr/>
          </p:nvSpPr>
          <p:spPr>
            <a:xfrm>
              <a:off x="3039239" y="5267292"/>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0" name="椭圆 79"/>
            <p:cNvSpPr/>
            <p:nvPr/>
          </p:nvSpPr>
          <p:spPr>
            <a:xfrm>
              <a:off x="3396948" y="3006324"/>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1" name="椭圆 80"/>
            <p:cNvSpPr/>
            <p:nvPr/>
          </p:nvSpPr>
          <p:spPr>
            <a:xfrm>
              <a:off x="3754000" y="3006324"/>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2" name="椭圆 81"/>
            <p:cNvSpPr/>
            <p:nvPr/>
          </p:nvSpPr>
          <p:spPr>
            <a:xfrm>
              <a:off x="4111052" y="3006324"/>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3" name="椭圆 82"/>
            <p:cNvSpPr/>
            <p:nvPr/>
          </p:nvSpPr>
          <p:spPr>
            <a:xfrm>
              <a:off x="4455043" y="3015032"/>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4" name="椭圆 83"/>
            <p:cNvSpPr/>
            <p:nvPr/>
          </p:nvSpPr>
          <p:spPr>
            <a:xfrm>
              <a:off x="4799034" y="3015032"/>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5" name="椭圆 84"/>
            <p:cNvSpPr/>
            <p:nvPr/>
          </p:nvSpPr>
          <p:spPr>
            <a:xfrm>
              <a:off x="5169147" y="3017127"/>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6" name="椭圆 85"/>
            <p:cNvSpPr/>
            <p:nvPr/>
          </p:nvSpPr>
          <p:spPr>
            <a:xfrm>
              <a:off x="3018128" y="2979565"/>
              <a:ext cx="235131" cy="261258"/>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88" name="组合 87"/>
          <p:cNvGrpSpPr/>
          <p:nvPr/>
        </p:nvGrpSpPr>
        <p:grpSpPr>
          <a:xfrm>
            <a:off x="3016590" y="1965105"/>
            <a:ext cx="3914508" cy="2059624"/>
            <a:chOff x="3016590" y="1965105"/>
            <a:chExt cx="3914508" cy="2059624"/>
          </a:xfrm>
        </p:grpSpPr>
        <p:grpSp>
          <p:nvGrpSpPr>
            <p:cNvPr id="40" name="组合 39"/>
            <p:cNvGrpSpPr/>
            <p:nvPr/>
          </p:nvGrpSpPr>
          <p:grpSpPr>
            <a:xfrm>
              <a:off x="3016590" y="1965105"/>
              <a:ext cx="3914508" cy="1928996"/>
              <a:chOff x="6418222" y="2455767"/>
              <a:chExt cx="3914508" cy="1928996"/>
            </a:xfrm>
          </p:grpSpPr>
          <p:cxnSp>
            <p:nvCxnSpPr>
              <p:cNvPr id="41" name="直接箭头连接符 40"/>
              <p:cNvCxnSpPr>
                <a:endCxn id="5" idx="2"/>
              </p:cNvCxnSpPr>
              <p:nvPr/>
            </p:nvCxnSpPr>
            <p:spPr>
              <a:xfrm flipV="1">
                <a:off x="7132326" y="2564674"/>
                <a:ext cx="3200404"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5" idx="2"/>
              </p:cNvCxnSpPr>
              <p:nvPr/>
            </p:nvCxnSpPr>
            <p:spPr>
              <a:xfrm flipV="1">
                <a:off x="6418222" y="2564674"/>
                <a:ext cx="3914508"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endCxn id="5" idx="2"/>
              </p:cNvCxnSpPr>
              <p:nvPr/>
            </p:nvCxnSpPr>
            <p:spPr>
              <a:xfrm flipV="1">
                <a:off x="7132326" y="2564674"/>
                <a:ext cx="3200404"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endCxn id="5" idx="2"/>
              </p:cNvCxnSpPr>
              <p:nvPr/>
            </p:nvCxnSpPr>
            <p:spPr>
              <a:xfrm flipV="1">
                <a:off x="6418222" y="2564674"/>
                <a:ext cx="3914508"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endCxn id="5"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endCxn id="5" idx="2"/>
              </p:cNvCxnSpPr>
              <p:nvPr/>
            </p:nvCxnSpPr>
            <p:spPr>
              <a:xfrm flipV="1">
                <a:off x="6775274" y="2564674"/>
                <a:ext cx="3557456"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endCxn id="5" idx="2"/>
              </p:cNvCxnSpPr>
              <p:nvPr/>
            </p:nvCxnSpPr>
            <p:spPr>
              <a:xfrm flipV="1">
                <a:off x="6422576" y="2564673"/>
                <a:ext cx="3910154"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endCxn id="5"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endCxn id="5" idx="2"/>
              </p:cNvCxnSpPr>
              <p:nvPr/>
            </p:nvCxnSpPr>
            <p:spPr>
              <a:xfrm flipV="1">
                <a:off x="6779628" y="2564673"/>
                <a:ext cx="3553102"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endCxn id="5" idx="2"/>
              </p:cNvCxnSpPr>
              <p:nvPr/>
            </p:nvCxnSpPr>
            <p:spPr>
              <a:xfrm flipV="1">
                <a:off x="7136680" y="2564673"/>
                <a:ext cx="3196050"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8451677" y="2455767"/>
                <a:ext cx="59218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W</a:t>
                </a:r>
                <a:endParaRPr kumimoji="0" lang="zh-CN" altLang="en-US"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grpSp>
        <p:grpSp>
          <p:nvGrpSpPr>
            <p:cNvPr id="52" name="组合 51"/>
            <p:cNvGrpSpPr/>
            <p:nvPr/>
          </p:nvGrpSpPr>
          <p:grpSpPr>
            <a:xfrm>
              <a:off x="3016591" y="2997117"/>
              <a:ext cx="953589" cy="1027612"/>
              <a:chOff x="1489165" y="2002971"/>
              <a:chExt cx="953589" cy="1027612"/>
            </a:xfrm>
          </p:grpSpPr>
          <p:sp>
            <p:nvSpPr>
              <p:cNvPr id="53" name="椭圆 52"/>
              <p:cNvSpPr/>
              <p:nvPr/>
            </p:nvSpPr>
            <p:spPr>
              <a:xfrm>
                <a:off x="1489165"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4" name="椭圆 53"/>
              <p:cNvSpPr/>
              <p:nvPr/>
            </p:nvSpPr>
            <p:spPr>
              <a:xfrm>
                <a:off x="1846217"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5" name="椭圆 54"/>
              <p:cNvSpPr/>
              <p:nvPr/>
            </p:nvSpPr>
            <p:spPr>
              <a:xfrm>
                <a:off x="2203269"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6" name="椭圆 55"/>
              <p:cNvSpPr/>
              <p:nvPr/>
            </p:nvSpPr>
            <p:spPr>
              <a:xfrm>
                <a:off x="1493519"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7" name="椭圆 56"/>
              <p:cNvSpPr/>
              <p:nvPr/>
            </p:nvSpPr>
            <p:spPr>
              <a:xfrm>
                <a:off x="1850571"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8" name="椭圆 57"/>
              <p:cNvSpPr/>
              <p:nvPr/>
            </p:nvSpPr>
            <p:spPr>
              <a:xfrm>
                <a:off x="2207623"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9" name="椭圆 58"/>
              <p:cNvSpPr/>
              <p:nvPr/>
            </p:nvSpPr>
            <p:spPr>
              <a:xfrm>
                <a:off x="1489165"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0" name="椭圆 59"/>
              <p:cNvSpPr/>
              <p:nvPr/>
            </p:nvSpPr>
            <p:spPr>
              <a:xfrm>
                <a:off x="1846217"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1" name="椭圆 60"/>
              <p:cNvSpPr/>
              <p:nvPr/>
            </p:nvSpPr>
            <p:spPr>
              <a:xfrm>
                <a:off x="2203269"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grpSp>
        <p:nvGrpSpPr>
          <p:cNvPr id="141" name="组合 140"/>
          <p:cNvGrpSpPr/>
          <p:nvPr/>
        </p:nvGrpSpPr>
        <p:grpSpPr>
          <a:xfrm>
            <a:off x="6944163" y="1965105"/>
            <a:ext cx="1658984" cy="1793966"/>
            <a:chOff x="7309915" y="2351200"/>
            <a:chExt cx="1658984" cy="1793966"/>
          </a:xfrm>
        </p:grpSpPr>
        <p:sp>
          <p:nvSpPr>
            <p:cNvPr id="142" name="椭圆 141"/>
            <p:cNvSpPr/>
            <p:nvPr/>
          </p:nvSpPr>
          <p:spPr>
            <a:xfrm>
              <a:off x="7309915" y="2351200"/>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3" name="椭圆 142"/>
            <p:cNvSpPr/>
            <p:nvPr/>
          </p:nvSpPr>
          <p:spPr>
            <a:xfrm>
              <a:off x="7666967" y="2351200"/>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4" name="椭圆 143"/>
            <p:cNvSpPr/>
            <p:nvPr/>
          </p:nvSpPr>
          <p:spPr>
            <a:xfrm>
              <a:off x="8024019" y="2351200"/>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5" name="椭圆 144"/>
            <p:cNvSpPr/>
            <p:nvPr/>
          </p:nvSpPr>
          <p:spPr>
            <a:xfrm>
              <a:off x="7314269" y="2734377"/>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6" name="椭圆 145"/>
            <p:cNvSpPr/>
            <p:nvPr/>
          </p:nvSpPr>
          <p:spPr>
            <a:xfrm>
              <a:off x="7671321" y="2734377"/>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7" name="椭圆 146"/>
            <p:cNvSpPr/>
            <p:nvPr/>
          </p:nvSpPr>
          <p:spPr>
            <a:xfrm>
              <a:off x="8028373" y="2734377"/>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8" name="椭圆 147"/>
            <p:cNvSpPr/>
            <p:nvPr/>
          </p:nvSpPr>
          <p:spPr>
            <a:xfrm>
              <a:off x="7309915" y="3117554"/>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9" name="椭圆 148"/>
            <p:cNvSpPr/>
            <p:nvPr/>
          </p:nvSpPr>
          <p:spPr>
            <a:xfrm>
              <a:off x="7666967" y="3117554"/>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0" name="椭圆 149"/>
            <p:cNvSpPr/>
            <p:nvPr/>
          </p:nvSpPr>
          <p:spPr>
            <a:xfrm>
              <a:off x="8024019" y="3117554"/>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1" name="椭圆 150"/>
            <p:cNvSpPr/>
            <p:nvPr/>
          </p:nvSpPr>
          <p:spPr>
            <a:xfrm>
              <a:off x="7309915" y="3502213"/>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2" name="椭圆 151"/>
            <p:cNvSpPr/>
            <p:nvPr/>
          </p:nvSpPr>
          <p:spPr>
            <a:xfrm>
              <a:off x="7666967" y="3502213"/>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3" name="椭圆 152"/>
            <p:cNvSpPr/>
            <p:nvPr/>
          </p:nvSpPr>
          <p:spPr>
            <a:xfrm>
              <a:off x="8024019" y="3502213"/>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4" name="椭圆 153"/>
            <p:cNvSpPr/>
            <p:nvPr/>
          </p:nvSpPr>
          <p:spPr>
            <a:xfrm>
              <a:off x="7309915" y="3883908"/>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5" name="椭圆 154"/>
            <p:cNvSpPr/>
            <p:nvPr/>
          </p:nvSpPr>
          <p:spPr>
            <a:xfrm>
              <a:off x="7666967" y="3883908"/>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6" name="椭圆 155"/>
            <p:cNvSpPr/>
            <p:nvPr/>
          </p:nvSpPr>
          <p:spPr>
            <a:xfrm>
              <a:off x="8024019" y="3883908"/>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7" name="椭圆 156"/>
            <p:cNvSpPr/>
            <p:nvPr/>
          </p:nvSpPr>
          <p:spPr>
            <a:xfrm>
              <a:off x="8368016" y="2351200"/>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8" name="椭圆 157"/>
            <p:cNvSpPr/>
            <p:nvPr/>
          </p:nvSpPr>
          <p:spPr>
            <a:xfrm>
              <a:off x="8372370" y="2734377"/>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9" name="椭圆 158"/>
            <p:cNvSpPr/>
            <p:nvPr/>
          </p:nvSpPr>
          <p:spPr>
            <a:xfrm>
              <a:off x="8368016" y="3117554"/>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0" name="椭圆 159"/>
            <p:cNvSpPr/>
            <p:nvPr/>
          </p:nvSpPr>
          <p:spPr>
            <a:xfrm>
              <a:off x="8368016" y="3502213"/>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1" name="椭圆 160"/>
            <p:cNvSpPr/>
            <p:nvPr/>
          </p:nvSpPr>
          <p:spPr>
            <a:xfrm>
              <a:off x="8368016" y="3883908"/>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2" name="椭圆 161"/>
            <p:cNvSpPr/>
            <p:nvPr/>
          </p:nvSpPr>
          <p:spPr>
            <a:xfrm>
              <a:off x="8729414" y="2351200"/>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3" name="椭圆 162"/>
            <p:cNvSpPr/>
            <p:nvPr/>
          </p:nvSpPr>
          <p:spPr>
            <a:xfrm>
              <a:off x="8733768" y="2734377"/>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4" name="椭圆 163"/>
            <p:cNvSpPr/>
            <p:nvPr/>
          </p:nvSpPr>
          <p:spPr>
            <a:xfrm>
              <a:off x="8729414" y="3117554"/>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5" name="椭圆 164"/>
            <p:cNvSpPr/>
            <p:nvPr/>
          </p:nvSpPr>
          <p:spPr>
            <a:xfrm>
              <a:off x="8729414" y="3502213"/>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6" name="椭圆 165"/>
            <p:cNvSpPr/>
            <p:nvPr/>
          </p:nvSpPr>
          <p:spPr>
            <a:xfrm>
              <a:off x="8729414" y="3883908"/>
              <a:ext cx="235131" cy="2612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spTree>
    <p:extLst>
      <p:ext uri="{BB962C8B-B14F-4D97-AF65-F5344CB8AC3E}">
        <p14:creationId xmlns:p14="http://schemas.microsoft.com/office/powerpoint/2010/main" val="109869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步長 </a:t>
            </a:r>
            <a:r>
              <a:rPr lang="en-US" altLang="zh-CN" dirty="0"/>
              <a:t>(stride)</a:t>
            </a:r>
            <a:endParaRPr lang="zh-CN" altLang="en-US" dirty="0"/>
          </a:p>
        </p:txBody>
      </p:sp>
      <p:grpSp>
        <p:nvGrpSpPr>
          <p:cNvPr id="243" name="组合 242"/>
          <p:cNvGrpSpPr/>
          <p:nvPr/>
        </p:nvGrpSpPr>
        <p:grpSpPr>
          <a:xfrm>
            <a:off x="5495110" y="3213334"/>
            <a:ext cx="1650278" cy="1752282"/>
            <a:chOff x="1489165" y="2002971"/>
            <a:chExt cx="1650278" cy="1752282"/>
          </a:xfrm>
          <a:solidFill>
            <a:schemeClr val="tx1"/>
          </a:solidFill>
        </p:grpSpPr>
        <p:sp>
          <p:nvSpPr>
            <p:cNvPr id="244" name="椭圆 243"/>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45" name="椭圆 244"/>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46" name="椭圆 245"/>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47" name="椭圆 246"/>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48" name="椭圆 247"/>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49" name="椭圆 248"/>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0" name="椭圆 249"/>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1" name="椭圆 250"/>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2" name="椭圆 251"/>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3" name="椭圆 252"/>
            <p:cNvSpPr/>
            <p:nvPr/>
          </p:nvSpPr>
          <p:spPr>
            <a:xfrm>
              <a:off x="1502226"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4" name="椭圆 253"/>
            <p:cNvSpPr/>
            <p:nvPr/>
          </p:nvSpPr>
          <p:spPr>
            <a:xfrm>
              <a:off x="1859278"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5" name="椭圆 254"/>
            <p:cNvSpPr/>
            <p:nvPr/>
          </p:nvSpPr>
          <p:spPr>
            <a:xfrm>
              <a:off x="2216330"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6" name="椭圆 255"/>
            <p:cNvSpPr/>
            <p:nvPr/>
          </p:nvSpPr>
          <p:spPr>
            <a:xfrm>
              <a:off x="1502226"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7" name="椭圆 256"/>
            <p:cNvSpPr/>
            <p:nvPr/>
          </p:nvSpPr>
          <p:spPr>
            <a:xfrm>
              <a:off x="1859278"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8" name="椭圆 257"/>
            <p:cNvSpPr/>
            <p:nvPr/>
          </p:nvSpPr>
          <p:spPr>
            <a:xfrm>
              <a:off x="2216330"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9" name="椭圆 258"/>
            <p:cNvSpPr/>
            <p:nvPr/>
          </p:nvSpPr>
          <p:spPr>
            <a:xfrm>
              <a:off x="2547260"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0" name="椭圆 259"/>
            <p:cNvSpPr/>
            <p:nvPr/>
          </p:nvSpPr>
          <p:spPr>
            <a:xfrm>
              <a:off x="2551614"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1" name="椭圆 260"/>
            <p:cNvSpPr/>
            <p:nvPr/>
          </p:nvSpPr>
          <p:spPr>
            <a:xfrm>
              <a:off x="2547260"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2" name="椭圆 261"/>
            <p:cNvSpPr/>
            <p:nvPr/>
          </p:nvSpPr>
          <p:spPr>
            <a:xfrm>
              <a:off x="2560321"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3" name="椭圆 262"/>
            <p:cNvSpPr/>
            <p:nvPr/>
          </p:nvSpPr>
          <p:spPr>
            <a:xfrm>
              <a:off x="2560321"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4" name="椭圆 263"/>
            <p:cNvSpPr/>
            <p:nvPr/>
          </p:nvSpPr>
          <p:spPr>
            <a:xfrm>
              <a:off x="2891251"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5" name="椭圆 264"/>
            <p:cNvSpPr/>
            <p:nvPr/>
          </p:nvSpPr>
          <p:spPr>
            <a:xfrm>
              <a:off x="2895605"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6" name="椭圆 265"/>
            <p:cNvSpPr/>
            <p:nvPr/>
          </p:nvSpPr>
          <p:spPr>
            <a:xfrm>
              <a:off x="2891251"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7" name="椭圆 266"/>
            <p:cNvSpPr/>
            <p:nvPr/>
          </p:nvSpPr>
          <p:spPr>
            <a:xfrm>
              <a:off x="2904312"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8" name="椭圆 267"/>
            <p:cNvSpPr/>
            <p:nvPr/>
          </p:nvSpPr>
          <p:spPr>
            <a:xfrm>
              <a:off x="2904312"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269" name="组合 268"/>
          <p:cNvGrpSpPr/>
          <p:nvPr/>
        </p:nvGrpSpPr>
        <p:grpSpPr>
          <a:xfrm>
            <a:off x="9422676" y="2150901"/>
            <a:ext cx="938449" cy="938628"/>
            <a:chOff x="1489165" y="2002971"/>
            <a:chExt cx="938449" cy="938628"/>
          </a:xfrm>
          <a:solidFill>
            <a:srgbClr val="FFFF00"/>
          </a:solidFill>
        </p:grpSpPr>
        <p:sp>
          <p:nvSpPr>
            <p:cNvPr id="270" name="椭圆 269"/>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1" name="椭圆 270"/>
            <p:cNvSpPr/>
            <p:nvPr/>
          </p:nvSpPr>
          <p:spPr>
            <a:xfrm>
              <a:off x="218812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2" name="椭圆 271"/>
            <p:cNvSpPr/>
            <p:nvPr/>
          </p:nvSpPr>
          <p:spPr>
            <a:xfrm>
              <a:off x="1493519" y="268034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3" name="椭圆 272"/>
            <p:cNvSpPr/>
            <p:nvPr/>
          </p:nvSpPr>
          <p:spPr>
            <a:xfrm>
              <a:off x="2192483" y="268034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274" name="组合 273"/>
          <p:cNvGrpSpPr/>
          <p:nvPr/>
        </p:nvGrpSpPr>
        <p:grpSpPr>
          <a:xfrm>
            <a:off x="5499459" y="3213339"/>
            <a:ext cx="953589" cy="1027612"/>
            <a:chOff x="1489165" y="2002971"/>
            <a:chExt cx="953589" cy="1027612"/>
          </a:xfrm>
        </p:grpSpPr>
        <p:sp>
          <p:nvSpPr>
            <p:cNvPr id="275" name="椭圆 274"/>
            <p:cNvSpPr/>
            <p:nvPr/>
          </p:nvSpPr>
          <p:spPr>
            <a:xfrm>
              <a:off x="1489165"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6" name="椭圆 275"/>
            <p:cNvSpPr/>
            <p:nvPr/>
          </p:nvSpPr>
          <p:spPr>
            <a:xfrm>
              <a:off x="1846217"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7" name="椭圆 276"/>
            <p:cNvSpPr/>
            <p:nvPr/>
          </p:nvSpPr>
          <p:spPr>
            <a:xfrm>
              <a:off x="2203269"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8" name="椭圆 277"/>
            <p:cNvSpPr/>
            <p:nvPr/>
          </p:nvSpPr>
          <p:spPr>
            <a:xfrm>
              <a:off x="1493519"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9" name="椭圆 278"/>
            <p:cNvSpPr/>
            <p:nvPr/>
          </p:nvSpPr>
          <p:spPr>
            <a:xfrm>
              <a:off x="1850571"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80" name="椭圆 279"/>
            <p:cNvSpPr/>
            <p:nvPr/>
          </p:nvSpPr>
          <p:spPr>
            <a:xfrm>
              <a:off x="2207623"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81" name="椭圆 280"/>
            <p:cNvSpPr/>
            <p:nvPr/>
          </p:nvSpPr>
          <p:spPr>
            <a:xfrm>
              <a:off x="1489165"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82" name="椭圆 281"/>
            <p:cNvSpPr/>
            <p:nvPr/>
          </p:nvSpPr>
          <p:spPr>
            <a:xfrm>
              <a:off x="1846217"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83" name="椭圆 282"/>
            <p:cNvSpPr/>
            <p:nvPr/>
          </p:nvSpPr>
          <p:spPr>
            <a:xfrm>
              <a:off x="2203269"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284" name="组合 283"/>
          <p:cNvGrpSpPr/>
          <p:nvPr/>
        </p:nvGrpSpPr>
        <p:grpSpPr>
          <a:xfrm>
            <a:off x="5531264" y="2253638"/>
            <a:ext cx="3923217" cy="1856684"/>
            <a:chOff x="6806687" y="2757914"/>
            <a:chExt cx="3923217" cy="1856684"/>
          </a:xfrm>
        </p:grpSpPr>
        <p:cxnSp>
          <p:nvCxnSpPr>
            <p:cNvPr id="285" name="直接箭头连接符 284"/>
            <p:cNvCxnSpPr>
              <a:stCxn id="277" idx="2"/>
              <a:endCxn id="270" idx="2"/>
            </p:cNvCxnSpPr>
            <p:nvPr/>
          </p:nvCxnSpPr>
          <p:spPr>
            <a:xfrm flipV="1">
              <a:off x="7520791" y="2785806"/>
              <a:ext cx="3209113" cy="10624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6" name="直接箭头连接符 285"/>
            <p:cNvCxnSpPr>
              <a:stCxn id="275" idx="2"/>
              <a:endCxn id="270" idx="2"/>
            </p:cNvCxnSpPr>
            <p:nvPr/>
          </p:nvCxnSpPr>
          <p:spPr>
            <a:xfrm flipV="1">
              <a:off x="6806687" y="2785806"/>
              <a:ext cx="3923217" cy="10624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直接箭头连接符 286"/>
            <p:cNvCxnSpPr>
              <a:stCxn id="283" idx="2"/>
              <a:endCxn id="270" idx="2"/>
            </p:cNvCxnSpPr>
            <p:nvPr/>
          </p:nvCxnSpPr>
          <p:spPr>
            <a:xfrm flipV="1">
              <a:off x="7520791" y="2785806"/>
              <a:ext cx="3209113" cy="18287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8" name="直接箭头连接符 287"/>
            <p:cNvCxnSpPr>
              <a:stCxn id="281" idx="2"/>
              <a:endCxn id="270" idx="2"/>
            </p:cNvCxnSpPr>
            <p:nvPr/>
          </p:nvCxnSpPr>
          <p:spPr>
            <a:xfrm flipV="1">
              <a:off x="6806687" y="2785806"/>
              <a:ext cx="3923217" cy="18287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9" name="直接箭头连接符 288"/>
            <p:cNvCxnSpPr>
              <a:stCxn id="276" idx="2"/>
              <a:endCxn id="270" idx="2"/>
            </p:cNvCxnSpPr>
            <p:nvPr/>
          </p:nvCxnSpPr>
          <p:spPr>
            <a:xfrm flipV="1">
              <a:off x="7163739" y="2785806"/>
              <a:ext cx="3566165" cy="10624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0" name="直接箭头连接符 289"/>
            <p:cNvCxnSpPr>
              <a:stCxn id="282" idx="2"/>
              <a:endCxn id="270" idx="2"/>
            </p:cNvCxnSpPr>
            <p:nvPr/>
          </p:nvCxnSpPr>
          <p:spPr>
            <a:xfrm flipV="1">
              <a:off x="7163739" y="2785806"/>
              <a:ext cx="3566165" cy="18287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接箭头连接符 290"/>
            <p:cNvCxnSpPr>
              <a:stCxn id="278" idx="2"/>
              <a:endCxn id="270" idx="2"/>
            </p:cNvCxnSpPr>
            <p:nvPr/>
          </p:nvCxnSpPr>
          <p:spPr>
            <a:xfrm flipV="1">
              <a:off x="6811041" y="2785806"/>
              <a:ext cx="3918863" cy="14456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2" name="直接箭头连接符 291"/>
            <p:cNvCxnSpPr>
              <a:stCxn id="276" idx="2"/>
              <a:endCxn id="270" idx="2"/>
            </p:cNvCxnSpPr>
            <p:nvPr/>
          </p:nvCxnSpPr>
          <p:spPr>
            <a:xfrm flipV="1">
              <a:off x="7163739" y="2785806"/>
              <a:ext cx="3566165" cy="10624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3" name="直接箭头连接符 292"/>
            <p:cNvCxnSpPr>
              <a:stCxn id="279" idx="2"/>
              <a:endCxn id="270" idx="2"/>
            </p:cNvCxnSpPr>
            <p:nvPr/>
          </p:nvCxnSpPr>
          <p:spPr>
            <a:xfrm flipV="1">
              <a:off x="7168093" y="2785806"/>
              <a:ext cx="3561811" cy="14456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直接箭头连接符 293"/>
            <p:cNvCxnSpPr>
              <a:stCxn id="280" idx="2"/>
              <a:endCxn id="270" idx="2"/>
            </p:cNvCxnSpPr>
            <p:nvPr/>
          </p:nvCxnSpPr>
          <p:spPr>
            <a:xfrm flipV="1">
              <a:off x="7525145" y="2785806"/>
              <a:ext cx="3204759" cy="14456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5" name="文本框 294"/>
            <p:cNvSpPr txBox="1"/>
            <p:nvPr/>
          </p:nvSpPr>
          <p:spPr>
            <a:xfrm>
              <a:off x="8451677" y="2757914"/>
              <a:ext cx="59218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W</a:t>
              </a:r>
              <a:endParaRPr kumimoji="0" lang="zh-CN" altLang="en-US"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grpSp>
      <p:grpSp>
        <p:nvGrpSpPr>
          <p:cNvPr id="296" name="组合 295"/>
          <p:cNvGrpSpPr/>
          <p:nvPr/>
        </p:nvGrpSpPr>
        <p:grpSpPr>
          <a:xfrm>
            <a:off x="6196908" y="2183522"/>
            <a:ext cx="3914508" cy="2059624"/>
            <a:chOff x="1747321" y="2402459"/>
            <a:chExt cx="3914508" cy="2059624"/>
          </a:xfrm>
        </p:grpSpPr>
        <p:grpSp>
          <p:nvGrpSpPr>
            <p:cNvPr id="297" name="组合 296"/>
            <p:cNvGrpSpPr/>
            <p:nvPr/>
          </p:nvGrpSpPr>
          <p:grpSpPr>
            <a:xfrm>
              <a:off x="1747322" y="3434471"/>
              <a:ext cx="953589" cy="1027612"/>
              <a:chOff x="1489165" y="2002971"/>
              <a:chExt cx="953589" cy="1027612"/>
            </a:xfrm>
          </p:grpSpPr>
          <p:sp>
            <p:nvSpPr>
              <p:cNvPr id="310" name="椭圆 309"/>
              <p:cNvSpPr/>
              <p:nvPr/>
            </p:nvSpPr>
            <p:spPr>
              <a:xfrm>
                <a:off x="1489165"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1" name="椭圆 310"/>
              <p:cNvSpPr/>
              <p:nvPr/>
            </p:nvSpPr>
            <p:spPr>
              <a:xfrm>
                <a:off x="1846217"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2" name="椭圆 311"/>
              <p:cNvSpPr/>
              <p:nvPr/>
            </p:nvSpPr>
            <p:spPr>
              <a:xfrm>
                <a:off x="2203269"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3" name="椭圆 312"/>
              <p:cNvSpPr/>
              <p:nvPr/>
            </p:nvSpPr>
            <p:spPr>
              <a:xfrm>
                <a:off x="1493519"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4" name="椭圆 313"/>
              <p:cNvSpPr/>
              <p:nvPr/>
            </p:nvSpPr>
            <p:spPr>
              <a:xfrm>
                <a:off x="1850571"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5" name="椭圆 314"/>
              <p:cNvSpPr/>
              <p:nvPr/>
            </p:nvSpPr>
            <p:spPr>
              <a:xfrm>
                <a:off x="2207623"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6" name="椭圆 315"/>
              <p:cNvSpPr/>
              <p:nvPr/>
            </p:nvSpPr>
            <p:spPr>
              <a:xfrm>
                <a:off x="1489165"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7" name="椭圆 316"/>
              <p:cNvSpPr/>
              <p:nvPr/>
            </p:nvSpPr>
            <p:spPr>
              <a:xfrm>
                <a:off x="1846217"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18" name="椭圆 317"/>
              <p:cNvSpPr/>
              <p:nvPr/>
            </p:nvSpPr>
            <p:spPr>
              <a:xfrm>
                <a:off x="2203269"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298" name="组合 297"/>
            <p:cNvGrpSpPr/>
            <p:nvPr/>
          </p:nvGrpSpPr>
          <p:grpSpPr>
            <a:xfrm>
              <a:off x="1747321" y="2402459"/>
              <a:ext cx="3914508" cy="1928996"/>
              <a:chOff x="6418222" y="2455767"/>
              <a:chExt cx="3914508" cy="1928996"/>
            </a:xfrm>
          </p:grpSpPr>
          <p:cxnSp>
            <p:nvCxnSpPr>
              <p:cNvPr id="299" name="直接箭头连接符 298"/>
              <p:cNvCxnSpPr>
                <a:stCxn id="312" idx="2"/>
              </p:cNvCxnSpPr>
              <p:nvPr/>
            </p:nvCxnSpPr>
            <p:spPr>
              <a:xfrm flipV="1">
                <a:off x="7132326" y="2564674"/>
                <a:ext cx="3200404"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0" name="直接箭头连接符 299"/>
              <p:cNvCxnSpPr>
                <a:stCxn id="310" idx="2"/>
              </p:cNvCxnSpPr>
              <p:nvPr/>
            </p:nvCxnSpPr>
            <p:spPr>
              <a:xfrm flipV="1">
                <a:off x="6418222" y="2564674"/>
                <a:ext cx="3914508"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1" name="直接箭头连接符 300"/>
              <p:cNvCxnSpPr>
                <a:stCxn id="318" idx="2"/>
              </p:cNvCxnSpPr>
              <p:nvPr/>
            </p:nvCxnSpPr>
            <p:spPr>
              <a:xfrm flipV="1">
                <a:off x="7132326" y="2564674"/>
                <a:ext cx="3200404"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2" name="直接箭头连接符 301"/>
              <p:cNvCxnSpPr>
                <a:stCxn id="316" idx="2"/>
              </p:cNvCxnSpPr>
              <p:nvPr/>
            </p:nvCxnSpPr>
            <p:spPr>
              <a:xfrm flipV="1">
                <a:off x="6418222" y="2564674"/>
                <a:ext cx="3914508"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直接箭头连接符 302"/>
              <p:cNvCxnSpPr>
                <a:stCxn id="311"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4" name="直接箭头连接符 303"/>
              <p:cNvCxnSpPr>
                <a:stCxn id="317" idx="2"/>
              </p:cNvCxnSpPr>
              <p:nvPr/>
            </p:nvCxnSpPr>
            <p:spPr>
              <a:xfrm flipV="1">
                <a:off x="6775274" y="2564674"/>
                <a:ext cx="3557456"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5" name="直接箭头连接符 304"/>
              <p:cNvCxnSpPr>
                <a:stCxn id="313" idx="2"/>
              </p:cNvCxnSpPr>
              <p:nvPr/>
            </p:nvCxnSpPr>
            <p:spPr>
              <a:xfrm flipV="1">
                <a:off x="6422576" y="2564673"/>
                <a:ext cx="3910154"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直接箭头连接符 305"/>
              <p:cNvCxnSpPr>
                <a:stCxn id="311"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直接箭头连接符 306"/>
              <p:cNvCxnSpPr>
                <a:stCxn id="314" idx="2"/>
              </p:cNvCxnSpPr>
              <p:nvPr/>
            </p:nvCxnSpPr>
            <p:spPr>
              <a:xfrm flipV="1">
                <a:off x="6779628" y="2564673"/>
                <a:ext cx="3553102"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直接箭头连接符 307"/>
              <p:cNvCxnSpPr>
                <a:stCxn id="315" idx="2"/>
              </p:cNvCxnSpPr>
              <p:nvPr/>
            </p:nvCxnSpPr>
            <p:spPr>
              <a:xfrm flipV="1">
                <a:off x="7136680" y="2564673"/>
                <a:ext cx="3196050"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9" name="文本框 308"/>
              <p:cNvSpPr txBox="1"/>
              <p:nvPr/>
            </p:nvSpPr>
            <p:spPr>
              <a:xfrm>
                <a:off x="8451677" y="2455767"/>
                <a:ext cx="59218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W</a:t>
                </a:r>
                <a:endParaRPr kumimoji="0" lang="zh-CN" altLang="en-US"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grpSp>
      </p:grpSp>
      <p:sp>
        <p:nvSpPr>
          <p:cNvPr id="319" name="内容占位符 2"/>
          <p:cNvSpPr>
            <a:spLocks noGrp="1"/>
          </p:cNvSpPr>
          <p:nvPr>
            <p:ph sz="quarter" idx="1"/>
          </p:nvPr>
        </p:nvSpPr>
        <p:spPr>
          <a:xfrm>
            <a:off x="1274860" y="1693688"/>
            <a:ext cx="10363200" cy="4572000"/>
          </a:xfrm>
        </p:spPr>
        <p:txBody>
          <a:bodyPr/>
          <a:lstStyle/>
          <a:p>
            <a:r>
              <a:rPr lang="zh-CN" altLang="en-US" dirty="0"/>
              <a:t>步長</a:t>
            </a:r>
            <a:endParaRPr lang="en-US" altLang="zh-CN" dirty="0"/>
          </a:p>
          <a:p>
            <a:pPr lvl="1"/>
            <a:r>
              <a:rPr lang="zh-CN" altLang="en-US" dirty="0"/>
              <a:t>捲積核每次移動的距離</a:t>
            </a:r>
            <a:endParaRPr lang="en-US" altLang="zh-CN" dirty="0"/>
          </a:p>
          <a:p>
            <a:endParaRPr lang="en-US" altLang="zh-CN" dirty="0"/>
          </a:p>
          <a:p>
            <a:r>
              <a:rPr lang="zh-CN" altLang="en-US" dirty="0"/>
              <a:t>步長是可以設定的</a:t>
            </a:r>
            <a:endParaRPr lang="en-US" altLang="zh-CN" dirty="0"/>
          </a:p>
          <a:p>
            <a:pPr lvl="1"/>
            <a:r>
              <a:rPr lang="zh-CN" altLang="en-US" dirty="0"/>
              <a:t>以</a:t>
            </a:r>
            <a:r>
              <a:rPr lang="en-US" altLang="zh-CN" dirty="0"/>
              <a:t>2</a:t>
            </a:r>
            <a:r>
              <a:rPr lang="zh-CN" altLang="en-US" dirty="0"/>
              <a:t>為例</a:t>
            </a:r>
          </a:p>
        </p:txBody>
      </p:sp>
      <p:grpSp>
        <p:nvGrpSpPr>
          <p:cNvPr id="320" name="组合 319"/>
          <p:cNvGrpSpPr/>
          <p:nvPr/>
        </p:nvGrpSpPr>
        <p:grpSpPr>
          <a:xfrm>
            <a:off x="5505233" y="2927579"/>
            <a:ext cx="3914508" cy="2043722"/>
            <a:chOff x="1747321" y="2402459"/>
            <a:chExt cx="3914508" cy="2043722"/>
          </a:xfrm>
        </p:grpSpPr>
        <p:grpSp>
          <p:nvGrpSpPr>
            <p:cNvPr id="321" name="组合 320"/>
            <p:cNvGrpSpPr/>
            <p:nvPr/>
          </p:nvGrpSpPr>
          <p:grpSpPr>
            <a:xfrm>
              <a:off x="1747322" y="3434471"/>
              <a:ext cx="953589" cy="1011710"/>
              <a:chOff x="1489165" y="2002971"/>
              <a:chExt cx="953589" cy="1011710"/>
            </a:xfrm>
          </p:grpSpPr>
          <p:sp>
            <p:nvSpPr>
              <p:cNvPr id="334" name="椭圆 333"/>
              <p:cNvSpPr/>
              <p:nvPr/>
            </p:nvSpPr>
            <p:spPr>
              <a:xfrm>
                <a:off x="1489165"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35" name="椭圆 334"/>
              <p:cNvSpPr/>
              <p:nvPr/>
            </p:nvSpPr>
            <p:spPr>
              <a:xfrm>
                <a:off x="1846217"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36" name="椭圆 335"/>
              <p:cNvSpPr/>
              <p:nvPr/>
            </p:nvSpPr>
            <p:spPr>
              <a:xfrm>
                <a:off x="2203269"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37" name="椭圆 336"/>
              <p:cNvSpPr/>
              <p:nvPr/>
            </p:nvSpPr>
            <p:spPr>
              <a:xfrm>
                <a:off x="1493519"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38" name="椭圆 337"/>
              <p:cNvSpPr/>
              <p:nvPr/>
            </p:nvSpPr>
            <p:spPr>
              <a:xfrm>
                <a:off x="1850571"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39" name="椭圆 338"/>
              <p:cNvSpPr/>
              <p:nvPr/>
            </p:nvSpPr>
            <p:spPr>
              <a:xfrm>
                <a:off x="2207623"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40" name="椭圆 339"/>
              <p:cNvSpPr/>
              <p:nvPr/>
            </p:nvSpPr>
            <p:spPr>
              <a:xfrm>
                <a:off x="1489165" y="2753423"/>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41" name="椭圆 340"/>
              <p:cNvSpPr/>
              <p:nvPr/>
            </p:nvSpPr>
            <p:spPr>
              <a:xfrm>
                <a:off x="1846217" y="2753423"/>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42" name="椭圆 341"/>
              <p:cNvSpPr/>
              <p:nvPr/>
            </p:nvSpPr>
            <p:spPr>
              <a:xfrm>
                <a:off x="2203269" y="2753423"/>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322" name="组合 321"/>
            <p:cNvGrpSpPr/>
            <p:nvPr/>
          </p:nvGrpSpPr>
          <p:grpSpPr>
            <a:xfrm>
              <a:off x="1747321" y="2402459"/>
              <a:ext cx="3914508" cy="1913094"/>
              <a:chOff x="6418222" y="2455767"/>
              <a:chExt cx="3914508" cy="1913094"/>
            </a:xfrm>
          </p:grpSpPr>
          <p:cxnSp>
            <p:nvCxnSpPr>
              <p:cNvPr id="323" name="直接箭头连接符 322"/>
              <p:cNvCxnSpPr>
                <a:stCxn id="336" idx="2"/>
              </p:cNvCxnSpPr>
              <p:nvPr/>
            </p:nvCxnSpPr>
            <p:spPr>
              <a:xfrm flipV="1">
                <a:off x="7132326" y="2564674"/>
                <a:ext cx="3200404"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直接箭头连接符 323"/>
              <p:cNvCxnSpPr>
                <a:stCxn id="334" idx="2"/>
              </p:cNvCxnSpPr>
              <p:nvPr/>
            </p:nvCxnSpPr>
            <p:spPr>
              <a:xfrm flipV="1">
                <a:off x="6418222" y="2564674"/>
                <a:ext cx="3914508"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直接箭头连接符 324"/>
              <p:cNvCxnSpPr>
                <a:stCxn id="342" idx="2"/>
              </p:cNvCxnSpPr>
              <p:nvPr/>
            </p:nvCxnSpPr>
            <p:spPr>
              <a:xfrm flipV="1">
                <a:off x="7132326" y="2548772"/>
                <a:ext cx="3200404"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直接箭头连接符 325"/>
              <p:cNvCxnSpPr>
                <a:stCxn id="340" idx="2"/>
              </p:cNvCxnSpPr>
              <p:nvPr/>
            </p:nvCxnSpPr>
            <p:spPr>
              <a:xfrm flipV="1">
                <a:off x="6418222" y="2548772"/>
                <a:ext cx="3914508"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直接箭头连接符 326"/>
              <p:cNvCxnSpPr>
                <a:stCxn id="335"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直接箭头连接符 327"/>
              <p:cNvCxnSpPr>
                <a:stCxn id="341" idx="2"/>
              </p:cNvCxnSpPr>
              <p:nvPr/>
            </p:nvCxnSpPr>
            <p:spPr>
              <a:xfrm flipV="1">
                <a:off x="6775274" y="2548772"/>
                <a:ext cx="3557456"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直接箭头连接符 328"/>
              <p:cNvCxnSpPr>
                <a:stCxn id="337" idx="2"/>
              </p:cNvCxnSpPr>
              <p:nvPr/>
            </p:nvCxnSpPr>
            <p:spPr>
              <a:xfrm flipV="1">
                <a:off x="6422576" y="2564673"/>
                <a:ext cx="3910154"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直接箭头连接符 329"/>
              <p:cNvCxnSpPr>
                <a:stCxn id="335"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直接箭头连接符 330"/>
              <p:cNvCxnSpPr>
                <a:stCxn id="338" idx="2"/>
              </p:cNvCxnSpPr>
              <p:nvPr/>
            </p:nvCxnSpPr>
            <p:spPr>
              <a:xfrm flipV="1">
                <a:off x="6779628" y="2564673"/>
                <a:ext cx="3553102"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直接箭头连接符 331"/>
              <p:cNvCxnSpPr>
                <a:stCxn id="339" idx="2"/>
              </p:cNvCxnSpPr>
              <p:nvPr/>
            </p:nvCxnSpPr>
            <p:spPr>
              <a:xfrm flipV="1">
                <a:off x="7136680" y="2564673"/>
                <a:ext cx="3196050"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3" name="文本框 332"/>
              <p:cNvSpPr txBox="1"/>
              <p:nvPr/>
            </p:nvSpPr>
            <p:spPr>
              <a:xfrm>
                <a:off x="8451677" y="2455767"/>
                <a:ext cx="59218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W</a:t>
                </a:r>
                <a:endParaRPr kumimoji="0" lang="zh-CN" altLang="en-US" sz="2400" b="1"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grpSp>
      </p:grpSp>
    </p:spTree>
    <p:extLst>
      <p:ext uri="{BB962C8B-B14F-4D97-AF65-F5344CB8AC3E}">
        <p14:creationId xmlns:p14="http://schemas.microsoft.com/office/powerpoint/2010/main" val="7211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84"/>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274"/>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2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多捲積核</a:t>
            </a:r>
          </a:p>
        </p:txBody>
      </p:sp>
      <p:pic>
        <p:nvPicPr>
          <p:cNvPr id="5" name="图片 4"/>
          <p:cNvPicPr>
            <a:picLocks noChangeAspect="1"/>
          </p:cNvPicPr>
          <p:nvPr/>
        </p:nvPicPr>
        <p:blipFill rotWithShape="1">
          <a:blip r:embed="rId3"/>
          <a:srcRect l="15426" r="57264"/>
          <a:stretch/>
        </p:blipFill>
        <p:spPr>
          <a:xfrm>
            <a:off x="1299683" y="2364143"/>
            <a:ext cx="2223427" cy="1961365"/>
          </a:xfrm>
          <a:prstGeom prst="rect">
            <a:avLst/>
          </a:prstGeom>
        </p:spPr>
      </p:pic>
      <p:pic>
        <p:nvPicPr>
          <p:cNvPr id="7" name="图片 6"/>
          <p:cNvPicPr>
            <a:picLocks noChangeAspect="1"/>
          </p:cNvPicPr>
          <p:nvPr/>
        </p:nvPicPr>
        <p:blipFill rotWithShape="1">
          <a:blip r:embed="rId4"/>
          <a:srcRect l="73258" r="6689"/>
          <a:stretch/>
        </p:blipFill>
        <p:spPr>
          <a:xfrm>
            <a:off x="7088499" y="1186597"/>
            <a:ext cx="1637920" cy="1408588"/>
          </a:xfrm>
          <a:prstGeom prst="rect">
            <a:avLst/>
          </a:prstGeom>
        </p:spPr>
      </p:pic>
      <p:pic>
        <p:nvPicPr>
          <p:cNvPr id="8" name="图片 7"/>
          <p:cNvPicPr>
            <a:picLocks noChangeAspect="1"/>
          </p:cNvPicPr>
          <p:nvPr/>
        </p:nvPicPr>
        <p:blipFill rotWithShape="1">
          <a:blip r:embed="rId5"/>
          <a:srcRect l="73015"/>
          <a:stretch/>
        </p:blipFill>
        <p:spPr>
          <a:xfrm>
            <a:off x="7090971" y="4047393"/>
            <a:ext cx="2296472" cy="1467576"/>
          </a:xfrm>
          <a:prstGeom prst="rect">
            <a:avLst/>
          </a:prstGeom>
        </p:spPr>
      </p:pic>
      <p:pic>
        <p:nvPicPr>
          <p:cNvPr id="9" name="图片 8"/>
          <p:cNvPicPr>
            <a:picLocks noChangeAspect="1"/>
          </p:cNvPicPr>
          <p:nvPr/>
        </p:nvPicPr>
        <p:blipFill rotWithShape="1">
          <a:blip r:embed="rId6"/>
          <a:srcRect l="48926" t="14597" r="38002"/>
          <a:stretch/>
        </p:blipFill>
        <p:spPr>
          <a:xfrm>
            <a:off x="4527984" y="1470291"/>
            <a:ext cx="1016561" cy="884442"/>
          </a:xfrm>
          <a:prstGeom prst="rect">
            <a:avLst/>
          </a:prstGeom>
        </p:spPr>
      </p:pic>
      <p:pic>
        <p:nvPicPr>
          <p:cNvPr id="12" name="图片 11"/>
          <p:cNvPicPr>
            <a:picLocks noChangeAspect="1"/>
          </p:cNvPicPr>
          <p:nvPr/>
        </p:nvPicPr>
        <p:blipFill rotWithShape="1">
          <a:blip r:embed="rId7"/>
          <a:srcRect l="48910" t="14232" r="37819"/>
          <a:stretch/>
        </p:blipFill>
        <p:spPr>
          <a:xfrm>
            <a:off x="4527983" y="2856431"/>
            <a:ext cx="1016561" cy="872963"/>
          </a:xfrm>
          <a:prstGeom prst="rect">
            <a:avLst/>
          </a:prstGeom>
        </p:spPr>
      </p:pic>
      <p:cxnSp>
        <p:nvCxnSpPr>
          <p:cNvPr id="13" name="直接箭头连接符 12"/>
          <p:cNvCxnSpPr/>
          <p:nvPr/>
        </p:nvCxnSpPr>
        <p:spPr>
          <a:xfrm flipV="1">
            <a:off x="1415345" y="1550163"/>
            <a:ext cx="3196165" cy="813981"/>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V="1">
            <a:off x="2218427" y="1550162"/>
            <a:ext cx="3140765" cy="822879"/>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9" idx="2"/>
          </p:cNvCxnSpPr>
          <p:nvPr/>
        </p:nvCxnSpPr>
        <p:spPr>
          <a:xfrm flipV="1">
            <a:off x="1415345" y="2354733"/>
            <a:ext cx="3620920" cy="823390"/>
          </a:xfrm>
          <a:prstGeom prst="straightConnector1">
            <a:avLst/>
          </a:prstGeom>
          <a:ln w="1905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2218427" y="2345233"/>
            <a:ext cx="3196165" cy="832892"/>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4611510" y="1209425"/>
            <a:ext cx="2619539" cy="331238"/>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5414592" y="1474400"/>
            <a:ext cx="2067985" cy="880333"/>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5359192" y="1192736"/>
            <a:ext cx="2145259" cy="357427"/>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V="1">
            <a:off x="4611510" y="1462848"/>
            <a:ext cx="2609077" cy="892972"/>
          </a:xfrm>
          <a:prstGeom prst="straightConnector1">
            <a:avLst/>
          </a:prstGeom>
          <a:ln w="1905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2218427" y="2371185"/>
            <a:ext cx="3190143" cy="571428"/>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2218427" y="3178123"/>
            <a:ext cx="3190143" cy="500513"/>
          </a:xfrm>
          <a:prstGeom prst="straightConnector1">
            <a:avLst/>
          </a:prstGeom>
          <a:ln w="19050">
            <a:solidFill>
              <a:srgbClr val="00B0F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1415345" y="2380082"/>
            <a:ext cx="3225797" cy="568288"/>
          </a:xfrm>
          <a:prstGeom prst="straightConnector1">
            <a:avLst/>
          </a:prstGeom>
          <a:ln w="19050">
            <a:solidFill>
              <a:srgbClr val="00B0F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5378938" y="2942613"/>
            <a:ext cx="2182766" cy="1102026"/>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a:off x="4611510" y="3729395"/>
            <a:ext cx="2652887" cy="633243"/>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4611510" y="2949046"/>
            <a:ext cx="2652887" cy="1107243"/>
          </a:xfrm>
          <a:prstGeom prst="straightConnector1">
            <a:avLst/>
          </a:prstGeom>
          <a:ln w="19050">
            <a:solidFill>
              <a:srgbClr val="00B0F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endCxn id="12" idx="2"/>
          </p:cNvCxnSpPr>
          <p:nvPr/>
        </p:nvCxnSpPr>
        <p:spPr>
          <a:xfrm>
            <a:off x="1410716" y="3178123"/>
            <a:ext cx="3625548" cy="551271"/>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a:off x="5398949" y="3689405"/>
            <a:ext cx="2162755" cy="642537"/>
          </a:xfrm>
          <a:prstGeom prst="straightConnector1">
            <a:avLst/>
          </a:prstGeom>
          <a:ln w="19050">
            <a:solidFill>
              <a:srgbClr val="00B0F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1" name="文本框 258"/>
          <p:cNvSpPr txBox="1"/>
          <p:nvPr/>
        </p:nvSpPr>
        <p:spPr>
          <a:xfrm>
            <a:off x="8726418" y="1565066"/>
            <a:ext cx="2599568" cy="917460"/>
          </a:xfrm>
          <a:prstGeom prst="rect">
            <a:avLst/>
          </a:prstGeom>
          <a:solidFill>
            <a:sysClr val="window" lastClr="FFFFFF"/>
          </a:solidFill>
          <a:ln w="6350">
            <a:noFill/>
          </a:ln>
        </p:spPr>
        <p:txBody>
          <a:bodyPr rot="0" spcFirstLastPara="0" vert="horz" wrap="square" lIns="91440" tIns="108000" rIns="91440" bIns="45720" numCol="1" spcCol="0" rtlCol="0" fromWordArt="0" anchor="t" anchorCtr="0" forceAA="0" compatLnSpc="1">
            <a:prstTxWarp prst="textNoShape">
              <a:avLst/>
            </a:prstTxWarp>
            <a:noAutofit/>
          </a:bodyPr>
          <a:lstStyle/>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1*0+0*0+(-1)*0</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+(-1)*0+0*2+1*1</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+1*0+0*9+(-1)*5 = -4</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2" name="文本框 242"/>
          <p:cNvSpPr txBox="1"/>
          <p:nvPr/>
        </p:nvSpPr>
        <p:spPr>
          <a:xfrm>
            <a:off x="8810823" y="4056289"/>
            <a:ext cx="1781908" cy="49797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輸出（通道</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3" name="文本框 236"/>
          <p:cNvSpPr txBox="1"/>
          <p:nvPr/>
        </p:nvSpPr>
        <p:spPr>
          <a:xfrm>
            <a:off x="4557271" y="4140313"/>
            <a:ext cx="987274" cy="382528"/>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捲積核</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4" name="文本框 244"/>
          <p:cNvSpPr txBox="1"/>
          <p:nvPr/>
        </p:nvSpPr>
        <p:spPr>
          <a:xfrm>
            <a:off x="8726418" y="4402359"/>
            <a:ext cx="2196659" cy="965698"/>
          </a:xfrm>
          <a:prstGeom prst="rect">
            <a:avLst/>
          </a:prstGeom>
          <a:solidFill>
            <a:sysClr val="window" lastClr="FFFFFF"/>
          </a:solidFill>
          <a:ln w="6350">
            <a:noFill/>
          </a:ln>
        </p:spPr>
        <p:txBody>
          <a:bodyPr rot="0" spcFirstLastPara="0" vert="horz" wrap="square" lIns="91440" tIns="108000" rIns="91440" bIns="45720" numCol="1" spcCol="0" rtlCol="0" fromWordArt="0" anchor="t" anchorCtr="0" forceAA="0" compatLnSpc="1">
            <a:prstTxWarp prst="textNoShape">
              <a:avLst/>
            </a:prstTxWarp>
            <a:noAutofit/>
          </a:bodyPr>
          <a:lstStyle>
            <a:defPPr>
              <a:defRPr lang="en-US"/>
            </a:defPPr>
            <a:lvl1pPr indent="66675" algn="just">
              <a:spcAft>
                <a:spcPts val="0"/>
              </a:spcAft>
              <a:defRPr sz="1600" kern="100">
                <a:effectLst/>
                <a:latin typeface="等线" panose="02010600030101010101" pitchFamily="2" charset="-122"/>
                <a:ea typeface="等线" panose="02010600030101010101" pitchFamily="2" charset="-122"/>
                <a:cs typeface="Times New Roman" panose="02020603050405020304" pitchFamily="18" charset="0"/>
              </a:defRPr>
            </a:lvl1pPr>
          </a:lstStyle>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(-1)*0+0*0+1*0</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+(-1)*0+0*2+1*1</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+(-1)*0+0*9+1*5 = 6</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5" name="文本框 248"/>
          <p:cNvSpPr txBox="1"/>
          <p:nvPr/>
        </p:nvSpPr>
        <p:spPr>
          <a:xfrm>
            <a:off x="4611510" y="984237"/>
            <a:ext cx="987274" cy="398287"/>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捲積核</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6" name="文本框 249"/>
          <p:cNvSpPr txBox="1"/>
          <p:nvPr/>
        </p:nvSpPr>
        <p:spPr>
          <a:xfrm>
            <a:off x="8726418" y="1216896"/>
            <a:ext cx="1768360" cy="46083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輸出（通道</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30" name="文本框 248">
            <a:extLst>
              <a:ext uri="{FF2B5EF4-FFF2-40B4-BE49-F238E27FC236}">
                <a16:creationId xmlns:a16="http://schemas.microsoft.com/office/drawing/2014/main" id="{02E15FC4-972C-42A0-A050-3CAD95E62D63}"/>
              </a:ext>
            </a:extLst>
          </p:cNvPr>
          <p:cNvSpPr txBox="1"/>
          <p:nvPr/>
        </p:nvSpPr>
        <p:spPr>
          <a:xfrm>
            <a:off x="1410716" y="4974478"/>
            <a:ext cx="4388200" cy="1075473"/>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一個捲積核產生一個通道（</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channel</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輸出的通道數等於捲積核數</a:t>
            </a:r>
          </a:p>
        </p:txBody>
      </p:sp>
      <p:sp>
        <p:nvSpPr>
          <p:cNvPr id="3" name="文本框 2">
            <a:extLst>
              <a:ext uri="{FF2B5EF4-FFF2-40B4-BE49-F238E27FC236}">
                <a16:creationId xmlns:a16="http://schemas.microsoft.com/office/drawing/2014/main" id="{9E0CB8F6-E403-0AB3-98B5-69785BFC1B65}"/>
              </a:ext>
            </a:extLst>
          </p:cNvPr>
          <p:cNvSpPr txBox="1"/>
          <p:nvPr/>
        </p:nvSpPr>
        <p:spPr>
          <a:xfrm>
            <a:off x="1399437" y="233803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91C099E7-9D0A-E5BE-9DEF-322FAD17271B}"/>
              </a:ext>
            </a:extLst>
          </p:cNvPr>
          <p:cNvSpPr txBox="1"/>
          <p:nvPr/>
        </p:nvSpPr>
        <p:spPr>
          <a:xfrm>
            <a:off x="1672003" y="233577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39" name="文本框 38">
            <a:extLst>
              <a:ext uri="{FF2B5EF4-FFF2-40B4-BE49-F238E27FC236}">
                <a16:creationId xmlns:a16="http://schemas.microsoft.com/office/drawing/2014/main" id="{3EF4CCB1-9C34-1450-2727-2E4072AD4606}"/>
              </a:ext>
            </a:extLst>
          </p:cNvPr>
          <p:cNvSpPr txBox="1"/>
          <p:nvPr/>
        </p:nvSpPr>
        <p:spPr>
          <a:xfrm>
            <a:off x="1943637" y="233701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0" name="文本框 39">
            <a:extLst>
              <a:ext uri="{FF2B5EF4-FFF2-40B4-BE49-F238E27FC236}">
                <a16:creationId xmlns:a16="http://schemas.microsoft.com/office/drawing/2014/main" id="{F94C3C1E-A083-4D6A-3521-B2DFAC782057}"/>
              </a:ext>
            </a:extLst>
          </p:cNvPr>
          <p:cNvSpPr txBox="1"/>
          <p:nvPr/>
        </p:nvSpPr>
        <p:spPr>
          <a:xfrm>
            <a:off x="2215271" y="233825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1" name="文本框 40">
            <a:extLst>
              <a:ext uri="{FF2B5EF4-FFF2-40B4-BE49-F238E27FC236}">
                <a16:creationId xmlns:a16="http://schemas.microsoft.com/office/drawing/2014/main" id="{9AC5663A-9FCD-5562-363A-9DD0CB12E1B8}"/>
              </a:ext>
            </a:extLst>
          </p:cNvPr>
          <p:cNvSpPr txBox="1"/>
          <p:nvPr/>
        </p:nvSpPr>
        <p:spPr>
          <a:xfrm>
            <a:off x="2486905" y="23394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F0F15E15-244D-C50B-856B-7C89AC444C3F}"/>
              </a:ext>
            </a:extLst>
          </p:cNvPr>
          <p:cNvSpPr txBox="1"/>
          <p:nvPr/>
        </p:nvSpPr>
        <p:spPr>
          <a:xfrm>
            <a:off x="2758539" y="234073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4" name="文本框 43">
            <a:extLst>
              <a:ext uri="{FF2B5EF4-FFF2-40B4-BE49-F238E27FC236}">
                <a16:creationId xmlns:a16="http://schemas.microsoft.com/office/drawing/2014/main" id="{D91923DB-AD44-A504-33B2-61D62BD34C35}"/>
              </a:ext>
            </a:extLst>
          </p:cNvPr>
          <p:cNvSpPr txBox="1"/>
          <p:nvPr/>
        </p:nvSpPr>
        <p:spPr>
          <a:xfrm>
            <a:off x="3030173" y="234197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5" name="文本框 44">
            <a:extLst>
              <a:ext uri="{FF2B5EF4-FFF2-40B4-BE49-F238E27FC236}">
                <a16:creationId xmlns:a16="http://schemas.microsoft.com/office/drawing/2014/main" id="{27957939-EFFB-7DFC-CF50-F9E829C707FC}"/>
              </a:ext>
            </a:extLst>
          </p:cNvPr>
          <p:cNvSpPr txBox="1"/>
          <p:nvPr/>
        </p:nvSpPr>
        <p:spPr>
          <a:xfrm>
            <a:off x="1399437" y="263358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6" name="文本框 45">
            <a:extLst>
              <a:ext uri="{FF2B5EF4-FFF2-40B4-BE49-F238E27FC236}">
                <a16:creationId xmlns:a16="http://schemas.microsoft.com/office/drawing/2014/main" id="{356CED9D-A7A4-DC01-D4C6-627A1C4BD44B}"/>
              </a:ext>
            </a:extLst>
          </p:cNvPr>
          <p:cNvSpPr txBox="1"/>
          <p:nvPr/>
        </p:nvSpPr>
        <p:spPr>
          <a:xfrm>
            <a:off x="1672003" y="263132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49" name="文本框 48">
            <a:extLst>
              <a:ext uri="{FF2B5EF4-FFF2-40B4-BE49-F238E27FC236}">
                <a16:creationId xmlns:a16="http://schemas.microsoft.com/office/drawing/2014/main" id="{C0B4AADA-C17A-FE69-134F-71425B8F3FEB}"/>
              </a:ext>
            </a:extLst>
          </p:cNvPr>
          <p:cNvSpPr txBox="1"/>
          <p:nvPr/>
        </p:nvSpPr>
        <p:spPr>
          <a:xfrm>
            <a:off x="1943637" y="263256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50" name="文本框 49">
            <a:extLst>
              <a:ext uri="{FF2B5EF4-FFF2-40B4-BE49-F238E27FC236}">
                <a16:creationId xmlns:a16="http://schemas.microsoft.com/office/drawing/2014/main" id="{0F464DB9-7E73-47F0-06F9-23CDFF44FA14}"/>
              </a:ext>
            </a:extLst>
          </p:cNvPr>
          <p:cNvSpPr txBox="1"/>
          <p:nvPr/>
        </p:nvSpPr>
        <p:spPr>
          <a:xfrm>
            <a:off x="2215271" y="263380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51" name="文本框 50">
            <a:extLst>
              <a:ext uri="{FF2B5EF4-FFF2-40B4-BE49-F238E27FC236}">
                <a16:creationId xmlns:a16="http://schemas.microsoft.com/office/drawing/2014/main" id="{FAA38455-6744-42DF-969B-DB4BB518A616}"/>
              </a:ext>
            </a:extLst>
          </p:cNvPr>
          <p:cNvSpPr txBox="1"/>
          <p:nvPr/>
        </p:nvSpPr>
        <p:spPr>
          <a:xfrm>
            <a:off x="2486905" y="263504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52" name="文本框 51">
            <a:extLst>
              <a:ext uri="{FF2B5EF4-FFF2-40B4-BE49-F238E27FC236}">
                <a16:creationId xmlns:a16="http://schemas.microsoft.com/office/drawing/2014/main" id="{A45719EB-0065-A0DC-6A4C-10A175CF8314}"/>
              </a:ext>
            </a:extLst>
          </p:cNvPr>
          <p:cNvSpPr txBox="1"/>
          <p:nvPr/>
        </p:nvSpPr>
        <p:spPr>
          <a:xfrm>
            <a:off x="2758539" y="263628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53" name="文本框 52">
            <a:extLst>
              <a:ext uri="{FF2B5EF4-FFF2-40B4-BE49-F238E27FC236}">
                <a16:creationId xmlns:a16="http://schemas.microsoft.com/office/drawing/2014/main" id="{D9C90D7D-C89A-D2EE-C8A5-4EE9E0E1AC39}"/>
              </a:ext>
            </a:extLst>
          </p:cNvPr>
          <p:cNvSpPr txBox="1"/>
          <p:nvPr/>
        </p:nvSpPr>
        <p:spPr>
          <a:xfrm>
            <a:off x="3030173" y="263752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54" name="文本框 53">
            <a:extLst>
              <a:ext uri="{FF2B5EF4-FFF2-40B4-BE49-F238E27FC236}">
                <a16:creationId xmlns:a16="http://schemas.microsoft.com/office/drawing/2014/main" id="{489CD9E8-DF52-4762-B046-803F697D46F3}"/>
              </a:ext>
            </a:extLst>
          </p:cNvPr>
          <p:cNvSpPr txBox="1"/>
          <p:nvPr/>
        </p:nvSpPr>
        <p:spPr>
          <a:xfrm>
            <a:off x="1399437" y="291075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56" name="文本框 55">
            <a:extLst>
              <a:ext uri="{FF2B5EF4-FFF2-40B4-BE49-F238E27FC236}">
                <a16:creationId xmlns:a16="http://schemas.microsoft.com/office/drawing/2014/main" id="{E319135F-9728-89F9-13DB-F22D47CCAE36}"/>
              </a:ext>
            </a:extLst>
          </p:cNvPr>
          <p:cNvSpPr txBox="1"/>
          <p:nvPr/>
        </p:nvSpPr>
        <p:spPr>
          <a:xfrm>
            <a:off x="1672003" y="29084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57" name="文本框 56">
            <a:extLst>
              <a:ext uri="{FF2B5EF4-FFF2-40B4-BE49-F238E27FC236}">
                <a16:creationId xmlns:a16="http://schemas.microsoft.com/office/drawing/2014/main" id="{9BAC5C14-9831-C777-5DD1-D64326FABDCA}"/>
              </a:ext>
            </a:extLst>
          </p:cNvPr>
          <p:cNvSpPr txBox="1"/>
          <p:nvPr/>
        </p:nvSpPr>
        <p:spPr>
          <a:xfrm>
            <a:off x="1943637" y="290973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58" name="文本框 57">
            <a:extLst>
              <a:ext uri="{FF2B5EF4-FFF2-40B4-BE49-F238E27FC236}">
                <a16:creationId xmlns:a16="http://schemas.microsoft.com/office/drawing/2014/main" id="{B06FB8AF-5132-AE63-27EA-2826D15A0636}"/>
              </a:ext>
            </a:extLst>
          </p:cNvPr>
          <p:cNvSpPr txBox="1"/>
          <p:nvPr/>
        </p:nvSpPr>
        <p:spPr>
          <a:xfrm>
            <a:off x="2215271" y="291097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59" name="文本框 58">
            <a:extLst>
              <a:ext uri="{FF2B5EF4-FFF2-40B4-BE49-F238E27FC236}">
                <a16:creationId xmlns:a16="http://schemas.microsoft.com/office/drawing/2014/main" id="{5A374DBF-45BF-9BD9-D58F-30D7F8F973AE}"/>
              </a:ext>
            </a:extLst>
          </p:cNvPr>
          <p:cNvSpPr txBox="1"/>
          <p:nvPr/>
        </p:nvSpPr>
        <p:spPr>
          <a:xfrm>
            <a:off x="2486905" y="291221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60" name="文本框 59">
            <a:extLst>
              <a:ext uri="{FF2B5EF4-FFF2-40B4-BE49-F238E27FC236}">
                <a16:creationId xmlns:a16="http://schemas.microsoft.com/office/drawing/2014/main" id="{B6BD2BA1-E230-6D02-A912-A15D65A66018}"/>
              </a:ext>
            </a:extLst>
          </p:cNvPr>
          <p:cNvSpPr txBox="1"/>
          <p:nvPr/>
        </p:nvSpPr>
        <p:spPr>
          <a:xfrm>
            <a:off x="2758539" y="291345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61" name="文本框 60">
            <a:extLst>
              <a:ext uri="{FF2B5EF4-FFF2-40B4-BE49-F238E27FC236}">
                <a16:creationId xmlns:a16="http://schemas.microsoft.com/office/drawing/2014/main" id="{228E6F42-DD9F-61B7-B54E-03AB5F49E511}"/>
              </a:ext>
            </a:extLst>
          </p:cNvPr>
          <p:cNvSpPr txBox="1"/>
          <p:nvPr/>
        </p:nvSpPr>
        <p:spPr>
          <a:xfrm>
            <a:off x="3030173" y="29146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71" name="文本框 70">
            <a:extLst>
              <a:ext uri="{FF2B5EF4-FFF2-40B4-BE49-F238E27FC236}">
                <a16:creationId xmlns:a16="http://schemas.microsoft.com/office/drawing/2014/main" id="{622C9EB8-5AF5-BAEC-961F-5147BC5570C7}"/>
              </a:ext>
            </a:extLst>
          </p:cNvPr>
          <p:cNvSpPr txBox="1"/>
          <p:nvPr/>
        </p:nvSpPr>
        <p:spPr>
          <a:xfrm>
            <a:off x="1399437" y="318209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72" name="文本框 71">
            <a:extLst>
              <a:ext uri="{FF2B5EF4-FFF2-40B4-BE49-F238E27FC236}">
                <a16:creationId xmlns:a16="http://schemas.microsoft.com/office/drawing/2014/main" id="{3044925A-DF5A-1059-4245-2A1F42E6ADA5}"/>
              </a:ext>
            </a:extLst>
          </p:cNvPr>
          <p:cNvSpPr txBox="1"/>
          <p:nvPr/>
        </p:nvSpPr>
        <p:spPr>
          <a:xfrm>
            <a:off x="1672003" y="317983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73" name="文本框 72">
            <a:extLst>
              <a:ext uri="{FF2B5EF4-FFF2-40B4-BE49-F238E27FC236}">
                <a16:creationId xmlns:a16="http://schemas.microsoft.com/office/drawing/2014/main" id="{2340C49F-2960-488B-9A84-5A7E34C5A12A}"/>
              </a:ext>
            </a:extLst>
          </p:cNvPr>
          <p:cNvSpPr txBox="1"/>
          <p:nvPr/>
        </p:nvSpPr>
        <p:spPr>
          <a:xfrm>
            <a:off x="1943637" y="318107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74" name="文本框 73">
            <a:extLst>
              <a:ext uri="{FF2B5EF4-FFF2-40B4-BE49-F238E27FC236}">
                <a16:creationId xmlns:a16="http://schemas.microsoft.com/office/drawing/2014/main" id="{CFB1838A-8F35-19CA-35D9-88DCF8E1611E}"/>
              </a:ext>
            </a:extLst>
          </p:cNvPr>
          <p:cNvSpPr txBox="1"/>
          <p:nvPr/>
        </p:nvSpPr>
        <p:spPr>
          <a:xfrm>
            <a:off x="2215271" y="318231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76" name="文本框 75">
            <a:extLst>
              <a:ext uri="{FF2B5EF4-FFF2-40B4-BE49-F238E27FC236}">
                <a16:creationId xmlns:a16="http://schemas.microsoft.com/office/drawing/2014/main" id="{FC9A2C54-FCA6-E3DC-F034-33ED34523228}"/>
              </a:ext>
            </a:extLst>
          </p:cNvPr>
          <p:cNvSpPr txBox="1"/>
          <p:nvPr/>
        </p:nvSpPr>
        <p:spPr>
          <a:xfrm>
            <a:off x="2486905" y="318355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77" name="文本框 76">
            <a:extLst>
              <a:ext uri="{FF2B5EF4-FFF2-40B4-BE49-F238E27FC236}">
                <a16:creationId xmlns:a16="http://schemas.microsoft.com/office/drawing/2014/main" id="{CA4E8888-BBDB-4E23-034C-4FE51390507E}"/>
              </a:ext>
            </a:extLst>
          </p:cNvPr>
          <p:cNvSpPr txBox="1"/>
          <p:nvPr/>
        </p:nvSpPr>
        <p:spPr>
          <a:xfrm>
            <a:off x="2758539" y="318479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78" name="文本框 77">
            <a:extLst>
              <a:ext uri="{FF2B5EF4-FFF2-40B4-BE49-F238E27FC236}">
                <a16:creationId xmlns:a16="http://schemas.microsoft.com/office/drawing/2014/main" id="{3B7F755A-72FB-4133-B4C6-BCD23C72F48F}"/>
              </a:ext>
            </a:extLst>
          </p:cNvPr>
          <p:cNvSpPr txBox="1"/>
          <p:nvPr/>
        </p:nvSpPr>
        <p:spPr>
          <a:xfrm>
            <a:off x="3030173" y="318603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79" name="文本框 78">
            <a:extLst>
              <a:ext uri="{FF2B5EF4-FFF2-40B4-BE49-F238E27FC236}">
                <a16:creationId xmlns:a16="http://schemas.microsoft.com/office/drawing/2014/main" id="{AD19A37C-2986-46DD-5EF0-E7976AA68220}"/>
              </a:ext>
            </a:extLst>
          </p:cNvPr>
          <p:cNvSpPr txBox="1"/>
          <p:nvPr/>
        </p:nvSpPr>
        <p:spPr>
          <a:xfrm>
            <a:off x="1399437" y="345343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80" name="文本框 79">
            <a:extLst>
              <a:ext uri="{FF2B5EF4-FFF2-40B4-BE49-F238E27FC236}">
                <a16:creationId xmlns:a16="http://schemas.microsoft.com/office/drawing/2014/main" id="{7E89C40A-CD33-65E1-D133-8C1F78A92B65}"/>
              </a:ext>
            </a:extLst>
          </p:cNvPr>
          <p:cNvSpPr txBox="1"/>
          <p:nvPr/>
        </p:nvSpPr>
        <p:spPr>
          <a:xfrm>
            <a:off x="1672003" y="345117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85" name="文本框 84">
            <a:extLst>
              <a:ext uri="{FF2B5EF4-FFF2-40B4-BE49-F238E27FC236}">
                <a16:creationId xmlns:a16="http://schemas.microsoft.com/office/drawing/2014/main" id="{ACD879AC-B34E-3B56-32CF-1819F9A74C07}"/>
              </a:ext>
            </a:extLst>
          </p:cNvPr>
          <p:cNvSpPr txBox="1"/>
          <p:nvPr/>
        </p:nvSpPr>
        <p:spPr>
          <a:xfrm>
            <a:off x="1943637" y="345241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86" name="文本框 85">
            <a:extLst>
              <a:ext uri="{FF2B5EF4-FFF2-40B4-BE49-F238E27FC236}">
                <a16:creationId xmlns:a16="http://schemas.microsoft.com/office/drawing/2014/main" id="{D9524C03-22BA-DE7A-59E2-AFCA9D3B7ADD}"/>
              </a:ext>
            </a:extLst>
          </p:cNvPr>
          <p:cNvSpPr txBox="1"/>
          <p:nvPr/>
        </p:nvSpPr>
        <p:spPr>
          <a:xfrm>
            <a:off x="2215271" y="345365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87" name="文本框 86">
            <a:extLst>
              <a:ext uri="{FF2B5EF4-FFF2-40B4-BE49-F238E27FC236}">
                <a16:creationId xmlns:a16="http://schemas.microsoft.com/office/drawing/2014/main" id="{1A5DF3AA-D61E-1260-16AA-9D6771C0E86B}"/>
              </a:ext>
            </a:extLst>
          </p:cNvPr>
          <p:cNvSpPr txBox="1"/>
          <p:nvPr/>
        </p:nvSpPr>
        <p:spPr>
          <a:xfrm>
            <a:off x="2486905" y="345489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88" name="文本框 87">
            <a:extLst>
              <a:ext uri="{FF2B5EF4-FFF2-40B4-BE49-F238E27FC236}">
                <a16:creationId xmlns:a16="http://schemas.microsoft.com/office/drawing/2014/main" id="{A18FF24E-717A-A18E-70A9-8AD87F6AC25C}"/>
              </a:ext>
            </a:extLst>
          </p:cNvPr>
          <p:cNvSpPr txBox="1"/>
          <p:nvPr/>
        </p:nvSpPr>
        <p:spPr>
          <a:xfrm>
            <a:off x="2758539" y="345613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89" name="文本框 88">
            <a:extLst>
              <a:ext uri="{FF2B5EF4-FFF2-40B4-BE49-F238E27FC236}">
                <a16:creationId xmlns:a16="http://schemas.microsoft.com/office/drawing/2014/main" id="{1117DCBB-D876-5263-DCC2-848132321CEC}"/>
              </a:ext>
            </a:extLst>
          </p:cNvPr>
          <p:cNvSpPr txBox="1"/>
          <p:nvPr/>
        </p:nvSpPr>
        <p:spPr>
          <a:xfrm>
            <a:off x="3030173" y="345737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0" name="文本框 89">
            <a:extLst>
              <a:ext uri="{FF2B5EF4-FFF2-40B4-BE49-F238E27FC236}">
                <a16:creationId xmlns:a16="http://schemas.microsoft.com/office/drawing/2014/main" id="{F2826B75-F166-7619-A18D-E25E2BD41E6A}"/>
              </a:ext>
            </a:extLst>
          </p:cNvPr>
          <p:cNvSpPr txBox="1"/>
          <p:nvPr/>
        </p:nvSpPr>
        <p:spPr>
          <a:xfrm>
            <a:off x="1399437" y="372936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1" name="文本框 90">
            <a:extLst>
              <a:ext uri="{FF2B5EF4-FFF2-40B4-BE49-F238E27FC236}">
                <a16:creationId xmlns:a16="http://schemas.microsoft.com/office/drawing/2014/main" id="{2883C65B-A7BC-D28A-91F7-3D5BDF06B6F2}"/>
              </a:ext>
            </a:extLst>
          </p:cNvPr>
          <p:cNvSpPr txBox="1"/>
          <p:nvPr/>
        </p:nvSpPr>
        <p:spPr>
          <a:xfrm>
            <a:off x="1672003" y="372711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2" name="文本框 91">
            <a:extLst>
              <a:ext uri="{FF2B5EF4-FFF2-40B4-BE49-F238E27FC236}">
                <a16:creationId xmlns:a16="http://schemas.microsoft.com/office/drawing/2014/main" id="{23835EA7-1577-5BF1-90C5-5374BF24A5C8}"/>
              </a:ext>
            </a:extLst>
          </p:cNvPr>
          <p:cNvSpPr txBox="1"/>
          <p:nvPr/>
        </p:nvSpPr>
        <p:spPr>
          <a:xfrm>
            <a:off x="1943637" y="372835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93" name="文本框 92">
            <a:extLst>
              <a:ext uri="{FF2B5EF4-FFF2-40B4-BE49-F238E27FC236}">
                <a16:creationId xmlns:a16="http://schemas.microsoft.com/office/drawing/2014/main" id="{7BC103EE-E9A6-6F58-59BC-32771FE39B7F}"/>
              </a:ext>
            </a:extLst>
          </p:cNvPr>
          <p:cNvSpPr txBox="1"/>
          <p:nvPr/>
        </p:nvSpPr>
        <p:spPr>
          <a:xfrm>
            <a:off x="2215271" y="372959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94" name="文本框 93">
            <a:extLst>
              <a:ext uri="{FF2B5EF4-FFF2-40B4-BE49-F238E27FC236}">
                <a16:creationId xmlns:a16="http://schemas.microsoft.com/office/drawing/2014/main" id="{93DB32A8-8FE8-0E8B-E825-4A71199A5048}"/>
              </a:ext>
            </a:extLst>
          </p:cNvPr>
          <p:cNvSpPr txBox="1"/>
          <p:nvPr/>
        </p:nvSpPr>
        <p:spPr>
          <a:xfrm>
            <a:off x="2486905" y="373083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95" name="文本框 94">
            <a:extLst>
              <a:ext uri="{FF2B5EF4-FFF2-40B4-BE49-F238E27FC236}">
                <a16:creationId xmlns:a16="http://schemas.microsoft.com/office/drawing/2014/main" id="{9780304A-C6E8-7A03-2FE4-3202FA3EFCAB}"/>
              </a:ext>
            </a:extLst>
          </p:cNvPr>
          <p:cNvSpPr txBox="1"/>
          <p:nvPr/>
        </p:nvSpPr>
        <p:spPr>
          <a:xfrm>
            <a:off x="2758539" y="373207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96" name="文本框 95">
            <a:extLst>
              <a:ext uri="{FF2B5EF4-FFF2-40B4-BE49-F238E27FC236}">
                <a16:creationId xmlns:a16="http://schemas.microsoft.com/office/drawing/2014/main" id="{F0898E4F-B9B4-DA4A-182A-70DEC647BE8E}"/>
              </a:ext>
            </a:extLst>
          </p:cNvPr>
          <p:cNvSpPr txBox="1"/>
          <p:nvPr/>
        </p:nvSpPr>
        <p:spPr>
          <a:xfrm>
            <a:off x="3030173" y="373331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7" name="文本框 96">
            <a:extLst>
              <a:ext uri="{FF2B5EF4-FFF2-40B4-BE49-F238E27FC236}">
                <a16:creationId xmlns:a16="http://schemas.microsoft.com/office/drawing/2014/main" id="{36D13882-0D9C-B69E-9401-D712D81EB493}"/>
              </a:ext>
            </a:extLst>
          </p:cNvPr>
          <p:cNvSpPr txBox="1"/>
          <p:nvPr/>
        </p:nvSpPr>
        <p:spPr>
          <a:xfrm>
            <a:off x="1399437" y="4005304"/>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8" name="文本框 97">
            <a:extLst>
              <a:ext uri="{FF2B5EF4-FFF2-40B4-BE49-F238E27FC236}">
                <a16:creationId xmlns:a16="http://schemas.microsoft.com/office/drawing/2014/main" id="{211D3F42-74DF-88D8-1891-D655D6302E80}"/>
              </a:ext>
            </a:extLst>
          </p:cNvPr>
          <p:cNvSpPr txBox="1"/>
          <p:nvPr/>
        </p:nvSpPr>
        <p:spPr>
          <a:xfrm>
            <a:off x="1672003" y="400305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9" name="文本框 98">
            <a:extLst>
              <a:ext uri="{FF2B5EF4-FFF2-40B4-BE49-F238E27FC236}">
                <a16:creationId xmlns:a16="http://schemas.microsoft.com/office/drawing/2014/main" id="{8475BEE0-7812-E6A0-B99C-73EC9D43B33B}"/>
              </a:ext>
            </a:extLst>
          </p:cNvPr>
          <p:cNvSpPr txBox="1"/>
          <p:nvPr/>
        </p:nvSpPr>
        <p:spPr>
          <a:xfrm>
            <a:off x="1943637" y="400429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0" name="文本框 99">
            <a:extLst>
              <a:ext uri="{FF2B5EF4-FFF2-40B4-BE49-F238E27FC236}">
                <a16:creationId xmlns:a16="http://schemas.microsoft.com/office/drawing/2014/main" id="{CC49D0FA-7E63-1204-C7F7-BC5B1FB39A8C}"/>
              </a:ext>
            </a:extLst>
          </p:cNvPr>
          <p:cNvSpPr txBox="1"/>
          <p:nvPr/>
        </p:nvSpPr>
        <p:spPr>
          <a:xfrm>
            <a:off x="2215271" y="400553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1" name="文本框 100">
            <a:extLst>
              <a:ext uri="{FF2B5EF4-FFF2-40B4-BE49-F238E27FC236}">
                <a16:creationId xmlns:a16="http://schemas.microsoft.com/office/drawing/2014/main" id="{88762CC4-4B2B-85D8-A4C9-BB3C181BACA4}"/>
              </a:ext>
            </a:extLst>
          </p:cNvPr>
          <p:cNvSpPr txBox="1"/>
          <p:nvPr/>
        </p:nvSpPr>
        <p:spPr>
          <a:xfrm>
            <a:off x="2486905" y="400677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2" name="文本框 101">
            <a:extLst>
              <a:ext uri="{FF2B5EF4-FFF2-40B4-BE49-F238E27FC236}">
                <a16:creationId xmlns:a16="http://schemas.microsoft.com/office/drawing/2014/main" id="{B991A66C-0B7C-500A-6F5B-0F69E8AAE926}"/>
              </a:ext>
            </a:extLst>
          </p:cNvPr>
          <p:cNvSpPr txBox="1"/>
          <p:nvPr/>
        </p:nvSpPr>
        <p:spPr>
          <a:xfrm>
            <a:off x="2758539" y="400801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3" name="文本框 102">
            <a:extLst>
              <a:ext uri="{FF2B5EF4-FFF2-40B4-BE49-F238E27FC236}">
                <a16:creationId xmlns:a16="http://schemas.microsoft.com/office/drawing/2014/main" id="{E0986152-E245-9E89-789D-FD948A317722}"/>
              </a:ext>
            </a:extLst>
          </p:cNvPr>
          <p:cNvSpPr txBox="1"/>
          <p:nvPr/>
        </p:nvSpPr>
        <p:spPr>
          <a:xfrm>
            <a:off x="3030173" y="400925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4" name="文本框 103">
            <a:extLst>
              <a:ext uri="{FF2B5EF4-FFF2-40B4-BE49-F238E27FC236}">
                <a16:creationId xmlns:a16="http://schemas.microsoft.com/office/drawing/2014/main" id="{BCF89054-3C73-7727-6F93-00D23E1B1042}"/>
              </a:ext>
            </a:extLst>
          </p:cNvPr>
          <p:cNvSpPr txBox="1"/>
          <p:nvPr/>
        </p:nvSpPr>
        <p:spPr>
          <a:xfrm>
            <a:off x="4576914" y="290909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05" name="文本框 104">
            <a:extLst>
              <a:ext uri="{FF2B5EF4-FFF2-40B4-BE49-F238E27FC236}">
                <a16:creationId xmlns:a16="http://schemas.microsoft.com/office/drawing/2014/main" id="{5A208E60-D6A4-411F-5F16-68BEA0AAE307}"/>
              </a:ext>
            </a:extLst>
          </p:cNvPr>
          <p:cNvSpPr txBox="1"/>
          <p:nvPr/>
        </p:nvSpPr>
        <p:spPr>
          <a:xfrm>
            <a:off x="4867066" y="290684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6" name="文本框 105">
            <a:extLst>
              <a:ext uri="{FF2B5EF4-FFF2-40B4-BE49-F238E27FC236}">
                <a16:creationId xmlns:a16="http://schemas.microsoft.com/office/drawing/2014/main" id="{ED81537B-B959-2C52-0A8C-BA4AFA22D3FB}"/>
              </a:ext>
            </a:extLst>
          </p:cNvPr>
          <p:cNvSpPr txBox="1"/>
          <p:nvPr/>
        </p:nvSpPr>
        <p:spPr>
          <a:xfrm>
            <a:off x="5138700" y="290808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08" name="文本框 107">
            <a:extLst>
              <a:ext uri="{FF2B5EF4-FFF2-40B4-BE49-F238E27FC236}">
                <a16:creationId xmlns:a16="http://schemas.microsoft.com/office/drawing/2014/main" id="{A8BDB6D4-BACE-9A9B-BAB8-31EF1FA96F6D}"/>
              </a:ext>
            </a:extLst>
          </p:cNvPr>
          <p:cNvSpPr txBox="1"/>
          <p:nvPr/>
        </p:nvSpPr>
        <p:spPr>
          <a:xfrm>
            <a:off x="4576914" y="318626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09" name="文本框 108">
            <a:extLst>
              <a:ext uri="{FF2B5EF4-FFF2-40B4-BE49-F238E27FC236}">
                <a16:creationId xmlns:a16="http://schemas.microsoft.com/office/drawing/2014/main" id="{BFB90771-E10F-DEB3-8F75-A88D521D8758}"/>
              </a:ext>
            </a:extLst>
          </p:cNvPr>
          <p:cNvSpPr txBox="1"/>
          <p:nvPr/>
        </p:nvSpPr>
        <p:spPr>
          <a:xfrm>
            <a:off x="4867066" y="318401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10" name="文本框 109">
            <a:extLst>
              <a:ext uri="{FF2B5EF4-FFF2-40B4-BE49-F238E27FC236}">
                <a16:creationId xmlns:a16="http://schemas.microsoft.com/office/drawing/2014/main" id="{69DBAF75-45E3-7EA4-81CD-7EE7EDE88706}"/>
              </a:ext>
            </a:extLst>
          </p:cNvPr>
          <p:cNvSpPr txBox="1"/>
          <p:nvPr/>
        </p:nvSpPr>
        <p:spPr>
          <a:xfrm>
            <a:off x="5138700" y="318525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1" name="文本框 110">
            <a:extLst>
              <a:ext uri="{FF2B5EF4-FFF2-40B4-BE49-F238E27FC236}">
                <a16:creationId xmlns:a16="http://schemas.microsoft.com/office/drawing/2014/main" id="{DCAEEE17-41F1-D320-6AE1-986C8F5ADF1E}"/>
              </a:ext>
            </a:extLst>
          </p:cNvPr>
          <p:cNvSpPr txBox="1"/>
          <p:nvPr/>
        </p:nvSpPr>
        <p:spPr>
          <a:xfrm>
            <a:off x="4576914" y="343127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2" name="文本框 111">
            <a:extLst>
              <a:ext uri="{FF2B5EF4-FFF2-40B4-BE49-F238E27FC236}">
                <a16:creationId xmlns:a16="http://schemas.microsoft.com/office/drawing/2014/main" id="{67E677DD-5358-7141-C197-2B896F46766A}"/>
              </a:ext>
            </a:extLst>
          </p:cNvPr>
          <p:cNvSpPr txBox="1"/>
          <p:nvPr/>
        </p:nvSpPr>
        <p:spPr>
          <a:xfrm>
            <a:off x="4867066" y="342902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13" name="文本框 112">
            <a:extLst>
              <a:ext uri="{FF2B5EF4-FFF2-40B4-BE49-F238E27FC236}">
                <a16:creationId xmlns:a16="http://schemas.microsoft.com/office/drawing/2014/main" id="{530274DC-D72D-016B-5C68-DAF27BE19384}"/>
              </a:ext>
            </a:extLst>
          </p:cNvPr>
          <p:cNvSpPr txBox="1"/>
          <p:nvPr/>
        </p:nvSpPr>
        <p:spPr>
          <a:xfrm>
            <a:off x="5138700" y="343026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4" name="文本框 113">
            <a:extLst>
              <a:ext uri="{FF2B5EF4-FFF2-40B4-BE49-F238E27FC236}">
                <a16:creationId xmlns:a16="http://schemas.microsoft.com/office/drawing/2014/main" id="{1CA3E37F-8B04-66F7-907C-5F6F9522E9DE}"/>
              </a:ext>
            </a:extLst>
          </p:cNvPr>
          <p:cNvSpPr txBox="1"/>
          <p:nvPr/>
        </p:nvSpPr>
        <p:spPr>
          <a:xfrm>
            <a:off x="4577995" y="151410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5" name="文本框 114">
            <a:extLst>
              <a:ext uri="{FF2B5EF4-FFF2-40B4-BE49-F238E27FC236}">
                <a16:creationId xmlns:a16="http://schemas.microsoft.com/office/drawing/2014/main" id="{9E37BDF7-62B4-220F-5F5A-55666E5491AE}"/>
              </a:ext>
            </a:extLst>
          </p:cNvPr>
          <p:cNvSpPr txBox="1"/>
          <p:nvPr/>
        </p:nvSpPr>
        <p:spPr>
          <a:xfrm>
            <a:off x="4850561" y="151184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16" name="文本框 115">
            <a:extLst>
              <a:ext uri="{FF2B5EF4-FFF2-40B4-BE49-F238E27FC236}">
                <a16:creationId xmlns:a16="http://schemas.microsoft.com/office/drawing/2014/main" id="{73342242-9B31-DDC9-C172-B2392A716FA4}"/>
              </a:ext>
            </a:extLst>
          </p:cNvPr>
          <p:cNvSpPr txBox="1"/>
          <p:nvPr/>
        </p:nvSpPr>
        <p:spPr>
          <a:xfrm>
            <a:off x="5075301" y="151308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7" name="文本框 116">
            <a:extLst>
              <a:ext uri="{FF2B5EF4-FFF2-40B4-BE49-F238E27FC236}">
                <a16:creationId xmlns:a16="http://schemas.microsoft.com/office/drawing/2014/main" id="{0062A538-EBAC-8B02-E01A-487DC8FB5B91}"/>
              </a:ext>
            </a:extLst>
          </p:cNvPr>
          <p:cNvSpPr txBox="1"/>
          <p:nvPr/>
        </p:nvSpPr>
        <p:spPr>
          <a:xfrm>
            <a:off x="4542823" y="1791271"/>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8" name="文本框 117">
            <a:extLst>
              <a:ext uri="{FF2B5EF4-FFF2-40B4-BE49-F238E27FC236}">
                <a16:creationId xmlns:a16="http://schemas.microsoft.com/office/drawing/2014/main" id="{0B5549D6-0964-9601-07B5-95C39D9AD63F}"/>
              </a:ext>
            </a:extLst>
          </p:cNvPr>
          <p:cNvSpPr txBox="1"/>
          <p:nvPr/>
        </p:nvSpPr>
        <p:spPr>
          <a:xfrm>
            <a:off x="4850561" y="178901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19" name="文本框 118">
            <a:extLst>
              <a:ext uri="{FF2B5EF4-FFF2-40B4-BE49-F238E27FC236}">
                <a16:creationId xmlns:a16="http://schemas.microsoft.com/office/drawing/2014/main" id="{B9E51B4A-23AA-4C59-D1D6-5EFB3F993EAA}"/>
              </a:ext>
            </a:extLst>
          </p:cNvPr>
          <p:cNvSpPr txBox="1"/>
          <p:nvPr/>
        </p:nvSpPr>
        <p:spPr>
          <a:xfrm>
            <a:off x="5122195" y="179025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20" name="文本框 119">
            <a:extLst>
              <a:ext uri="{FF2B5EF4-FFF2-40B4-BE49-F238E27FC236}">
                <a16:creationId xmlns:a16="http://schemas.microsoft.com/office/drawing/2014/main" id="{8311F10E-517A-2E60-EF28-DDF15AF42639}"/>
              </a:ext>
            </a:extLst>
          </p:cNvPr>
          <p:cNvSpPr txBox="1"/>
          <p:nvPr/>
        </p:nvSpPr>
        <p:spPr>
          <a:xfrm>
            <a:off x="4577995" y="205006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27" name="文本框 126">
            <a:extLst>
              <a:ext uri="{FF2B5EF4-FFF2-40B4-BE49-F238E27FC236}">
                <a16:creationId xmlns:a16="http://schemas.microsoft.com/office/drawing/2014/main" id="{C286678D-F6C5-0DB0-116D-61091A8ECDE8}"/>
              </a:ext>
            </a:extLst>
          </p:cNvPr>
          <p:cNvSpPr txBox="1"/>
          <p:nvPr/>
        </p:nvSpPr>
        <p:spPr>
          <a:xfrm>
            <a:off x="4850561" y="204780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28" name="文本框 127">
            <a:extLst>
              <a:ext uri="{FF2B5EF4-FFF2-40B4-BE49-F238E27FC236}">
                <a16:creationId xmlns:a16="http://schemas.microsoft.com/office/drawing/2014/main" id="{E8D4FD13-62B8-7100-1BDE-662E9B745C4A}"/>
              </a:ext>
            </a:extLst>
          </p:cNvPr>
          <p:cNvSpPr txBox="1"/>
          <p:nvPr/>
        </p:nvSpPr>
        <p:spPr>
          <a:xfrm>
            <a:off x="5075301" y="204904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47" name="文本框 146">
            <a:extLst>
              <a:ext uri="{FF2B5EF4-FFF2-40B4-BE49-F238E27FC236}">
                <a16:creationId xmlns:a16="http://schemas.microsoft.com/office/drawing/2014/main" id="{6647A0F9-0C54-E8D5-D76B-193D38436E1A}"/>
              </a:ext>
            </a:extLst>
          </p:cNvPr>
          <p:cNvSpPr txBox="1"/>
          <p:nvPr/>
        </p:nvSpPr>
        <p:spPr>
          <a:xfrm>
            <a:off x="7168240" y="1172510"/>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48" name="文本框 147">
            <a:extLst>
              <a:ext uri="{FF2B5EF4-FFF2-40B4-BE49-F238E27FC236}">
                <a16:creationId xmlns:a16="http://schemas.microsoft.com/office/drawing/2014/main" id="{21D0564A-2CA5-159C-4094-AF7C50CA2BCC}"/>
              </a:ext>
            </a:extLst>
          </p:cNvPr>
          <p:cNvSpPr txBox="1"/>
          <p:nvPr/>
        </p:nvSpPr>
        <p:spPr>
          <a:xfrm>
            <a:off x="7487702" y="117025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49" name="文本框 148">
            <a:extLst>
              <a:ext uri="{FF2B5EF4-FFF2-40B4-BE49-F238E27FC236}">
                <a16:creationId xmlns:a16="http://schemas.microsoft.com/office/drawing/2014/main" id="{B0E7763B-F7D7-A2C4-5C42-7D2B6ABCE8CB}"/>
              </a:ext>
            </a:extLst>
          </p:cNvPr>
          <p:cNvSpPr txBox="1"/>
          <p:nvPr/>
        </p:nvSpPr>
        <p:spPr>
          <a:xfrm>
            <a:off x="7759336" y="11714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50" name="文本框 149">
            <a:extLst>
              <a:ext uri="{FF2B5EF4-FFF2-40B4-BE49-F238E27FC236}">
                <a16:creationId xmlns:a16="http://schemas.microsoft.com/office/drawing/2014/main" id="{C5C1ADD3-552A-D49C-43F7-C16C435B511E}"/>
              </a:ext>
            </a:extLst>
          </p:cNvPr>
          <p:cNvSpPr txBox="1"/>
          <p:nvPr/>
        </p:nvSpPr>
        <p:spPr>
          <a:xfrm>
            <a:off x="8036882" y="116698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7</a:t>
            </a:r>
            <a:endParaRPr kumimoji="1" lang="zh-CN" altLang="en-US" sz="1600" dirty="0">
              <a:latin typeface="Microsoft YaHei" panose="020B0503020204020204" pitchFamily="34" charset="-122"/>
              <a:ea typeface="Microsoft YaHei" panose="020B0503020204020204" pitchFamily="34" charset="-122"/>
            </a:endParaRPr>
          </a:p>
        </p:txBody>
      </p:sp>
      <p:sp>
        <p:nvSpPr>
          <p:cNvPr id="151" name="文本框 150">
            <a:extLst>
              <a:ext uri="{FF2B5EF4-FFF2-40B4-BE49-F238E27FC236}">
                <a16:creationId xmlns:a16="http://schemas.microsoft.com/office/drawing/2014/main" id="{26A5F04E-87E4-8FC9-3D0A-44AFCE8A2D69}"/>
              </a:ext>
            </a:extLst>
          </p:cNvPr>
          <p:cNvSpPr txBox="1"/>
          <p:nvPr/>
        </p:nvSpPr>
        <p:spPr>
          <a:xfrm>
            <a:off x="8314428" y="116698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52" name="文本框 151">
            <a:extLst>
              <a:ext uri="{FF2B5EF4-FFF2-40B4-BE49-F238E27FC236}">
                <a16:creationId xmlns:a16="http://schemas.microsoft.com/office/drawing/2014/main" id="{03A276C7-B546-5600-7658-5DA0C6038CBB}"/>
              </a:ext>
            </a:extLst>
          </p:cNvPr>
          <p:cNvSpPr txBox="1"/>
          <p:nvPr/>
        </p:nvSpPr>
        <p:spPr>
          <a:xfrm>
            <a:off x="7215136" y="145858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53" name="文本框 152">
            <a:extLst>
              <a:ext uri="{FF2B5EF4-FFF2-40B4-BE49-F238E27FC236}">
                <a16:creationId xmlns:a16="http://schemas.microsoft.com/office/drawing/2014/main" id="{B779B5D3-6966-B406-9DD5-2744D046AB1E}"/>
              </a:ext>
            </a:extLst>
          </p:cNvPr>
          <p:cNvSpPr txBox="1"/>
          <p:nvPr/>
        </p:nvSpPr>
        <p:spPr>
          <a:xfrm>
            <a:off x="7440806" y="1456330"/>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54" name="文本框 153">
            <a:extLst>
              <a:ext uri="{FF2B5EF4-FFF2-40B4-BE49-F238E27FC236}">
                <a16:creationId xmlns:a16="http://schemas.microsoft.com/office/drawing/2014/main" id="{B90AC2CA-9C8B-56D0-64FD-8167C91F90B9}"/>
              </a:ext>
            </a:extLst>
          </p:cNvPr>
          <p:cNvSpPr txBox="1"/>
          <p:nvPr/>
        </p:nvSpPr>
        <p:spPr>
          <a:xfrm>
            <a:off x="7712440" y="1457570"/>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55" name="文本框 154">
            <a:extLst>
              <a:ext uri="{FF2B5EF4-FFF2-40B4-BE49-F238E27FC236}">
                <a16:creationId xmlns:a16="http://schemas.microsoft.com/office/drawing/2014/main" id="{101DDF26-7417-218F-ACD3-A4D65F90B8D6}"/>
              </a:ext>
            </a:extLst>
          </p:cNvPr>
          <p:cNvSpPr txBox="1"/>
          <p:nvPr/>
        </p:nvSpPr>
        <p:spPr>
          <a:xfrm>
            <a:off x="7989986" y="145305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56" name="文本框 155">
            <a:extLst>
              <a:ext uri="{FF2B5EF4-FFF2-40B4-BE49-F238E27FC236}">
                <a16:creationId xmlns:a16="http://schemas.microsoft.com/office/drawing/2014/main" id="{64916546-7C84-3656-7CDA-783FB8EB7FA9}"/>
              </a:ext>
            </a:extLst>
          </p:cNvPr>
          <p:cNvSpPr txBox="1"/>
          <p:nvPr/>
        </p:nvSpPr>
        <p:spPr>
          <a:xfrm>
            <a:off x="8314428" y="145305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57" name="文本框 156">
            <a:extLst>
              <a:ext uri="{FF2B5EF4-FFF2-40B4-BE49-F238E27FC236}">
                <a16:creationId xmlns:a16="http://schemas.microsoft.com/office/drawing/2014/main" id="{A9590C3C-FBD4-4FC0-3341-1447C210E874}"/>
              </a:ext>
            </a:extLst>
          </p:cNvPr>
          <p:cNvSpPr txBox="1"/>
          <p:nvPr/>
        </p:nvSpPr>
        <p:spPr>
          <a:xfrm>
            <a:off x="7168240" y="1744656"/>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58" name="文本框 157">
            <a:extLst>
              <a:ext uri="{FF2B5EF4-FFF2-40B4-BE49-F238E27FC236}">
                <a16:creationId xmlns:a16="http://schemas.microsoft.com/office/drawing/2014/main" id="{8637B561-A9DF-0D8A-3624-402C822196CF}"/>
              </a:ext>
            </a:extLst>
          </p:cNvPr>
          <p:cNvSpPr txBox="1"/>
          <p:nvPr/>
        </p:nvSpPr>
        <p:spPr>
          <a:xfrm>
            <a:off x="7487702" y="174240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59" name="文本框 158">
            <a:extLst>
              <a:ext uri="{FF2B5EF4-FFF2-40B4-BE49-F238E27FC236}">
                <a16:creationId xmlns:a16="http://schemas.microsoft.com/office/drawing/2014/main" id="{B851A0AD-5CF3-0553-F6FC-B9788FBD8859}"/>
              </a:ext>
            </a:extLst>
          </p:cNvPr>
          <p:cNvSpPr txBox="1"/>
          <p:nvPr/>
        </p:nvSpPr>
        <p:spPr>
          <a:xfrm>
            <a:off x="7759336" y="174364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60" name="文本框 159">
            <a:extLst>
              <a:ext uri="{FF2B5EF4-FFF2-40B4-BE49-F238E27FC236}">
                <a16:creationId xmlns:a16="http://schemas.microsoft.com/office/drawing/2014/main" id="{F3137E18-7668-5C54-D398-0CCBEEF587E5}"/>
              </a:ext>
            </a:extLst>
          </p:cNvPr>
          <p:cNvSpPr txBox="1"/>
          <p:nvPr/>
        </p:nvSpPr>
        <p:spPr>
          <a:xfrm>
            <a:off x="8036882" y="173913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61" name="文本框 160">
            <a:extLst>
              <a:ext uri="{FF2B5EF4-FFF2-40B4-BE49-F238E27FC236}">
                <a16:creationId xmlns:a16="http://schemas.microsoft.com/office/drawing/2014/main" id="{2CC4D987-8876-445C-EBFA-86B5BE019DB3}"/>
              </a:ext>
            </a:extLst>
          </p:cNvPr>
          <p:cNvSpPr txBox="1"/>
          <p:nvPr/>
        </p:nvSpPr>
        <p:spPr>
          <a:xfrm>
            <a:off x="8267532" y="173913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62" name="文本框 161">
            <a:extLst>
              <a:ext uri="{FF2B5EF4-FFF2-40B4-BE49-F238E27FC236}">
                <a16:creationId xmlns:a16="http://schemas.microsoft.com/office/drawing/2014/main" id="{3E4DF3AF-B010-BA60-BCA6-C053258CACDB}"/>
              </a:ext>
            </a:extLst>
          </p:cNvPr>
          <p:cNvSpPr txBox="1"/>
          <p:nvPr/>
        </p:nvSpPr>
        <p:spPr>
          <a:xfrm>
            <a:off x="7168240" y="2012377"/>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63" name="文本框 162">
            <a:extLst>
              <a:ext uri="{FF2B5EF4-FFF2-40B4-BE49-F238E27FC236}">
                <a16:creationId xmlns:a16="http://schemas.microsoft.com/office/drawing/2014/main" id="{5D4CB836-5540-87F9-497A-481427D7D027}"/>
              </a:ext>
            </a:extLst>
          </p:cNvPr>
          <p:cNvSpPr txBox="1"/>
          <p:nvPr/>
        </p:nvSpPr>
        <p:spPr>
          <a:xfrm>
            <a:off x="7440806" y="201012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64" name="文本框 163">
            <a:extLst>
              <a:ext uri="{FF2B5EF4-FFF2-40B4-BE49-F238E27FC236}">
                <a16:creationId xmlns:a16="http://schemas.microsoft.com/office/drawing/2014/main" id="{F4D1E2C2-71EA-7DCD-3AAB-DB05FF3A4E0D}"/>
              </a:ext>
            </a:extLst>
          </p:cNvPr>
          <p:cNvSpPr txBox="1"/>
          <p:nvPr/>
        </p:nvSpPr>
        <p:spPr>
          <a:xfrm>
            <a:off x="7712440" y="201136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65" name="文本框 164">
            <a:extLst>
              <a:ext uri="{FF2B5EF4-FFF2-40B4-BE49-F238E27FC236}">
                <a16:creationId xmlns:a16="http://schemas.microsoft.com/office/drawing/2014/main" id="{C0B6E1FD-BADC-6570-78BE-300E44282F70}"/>
              </a:ext>
            </a:extLst>
          </p:cNvPr>
          <p:cNvSpPr txBox="1"/>
          <p:nvPr/>
        </p:nvSpPr>
        <p:spPr>
          <a:xfrm>
            <a:off x="7989986" y="2006853"/>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66" name="文本框 165">
            <a:extLst>
              <a:ext uri="{FF2B5EF4-FFF2-40B4-BE49-F238E27FC236}">
                <a16:creationId xmlns:a16="http://schemas.microsoft.com/office/drawing/2014/main" id="{07566227-758E-D61D-168A-5476B675BF47}"/>
              </a:ext>
            </a:extLst>
          </p:cNvPr>
          <p:cNvSpPr txBox="1"/>
          <p:nvPr/>
        </p:nvSpPr>
        <p:spPr>
          <a:xfrm>
            <a:off x="8314428" y="200685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67" name="文本框 166">
            <a:extLst>
              <a:ext uri="{FF2B5EF4-FFF2-40B4-BE49-F238E27FC236}">
                <a16:creationId xmlns:a16="http://schemas.microsoft.com/office/drawing/2014/main" id="{17EA2692-D2C4-C03C-D303-09E7AA7F02DF}"/>
              </a:ext>
            </a:extLst>
          </p:cNvPr>
          <p:cNvSpPr txBox="1"/>
          <p:nvPr/>
        </p:nvSpPr>
        <p:spPr>
          <a:xfrm>
            <a:off x="7215136" y="229182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68" name="文本框 167">
            <a:extLst>
              <a:ext uri="{FF2B5EF4-FFF2-40B4-BE49-F238E27FC236}">
                <a16:creationId xmlns:a16="http://schemas.microsoft.com/office/drawing/2014/main" id="{B0CEC59F-18F8-32BF-2A05-4CB834D9C1E9}"/>
              </a:ext>
            </a:extLst>
          </p:cNvPr>
          <p:cNvSpPr txBox="1"/>
          <p:nvPr/>
        </p:nvSpPr>
        <p:spPr>
          <a:xfrm>
            <a:off x="7487702" y="228956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69" name="文本框 168">
            <a:extLst>
              <a:ext uri="{FF2B5EF4-FFF2-40B4-BE49-F238E27FC236}">
                <a16:creationId xmlns:a16="http://schemas.microsoft.com/office/drawing/2014/main" id="{5F57FF1D-A8FE-0941-3BA1-788EA0C61237}"/>
              </a:ext>
            </a:extLst>
          </p:cNvPr>
          <p:cNvSpPr txBox="1"/>
          <p:nvPr/>
        </p:nvSpPr>
        <p:spPr>
          <a:xfrm>
            <a:off x="7712440" y="229080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70" name="文本框 169">
            <a:extLst>
              <a:ext uri="{FF2B5EF4-FFF2-40B4-BE49-F238E27FC236}">
                <a16:creationId xmlns:a16="http://schemas.microsoft.com/office/drawing/2014/main" id="{882444A4-5282-BF1C-3AB5-8DF39F401CB1}"/>
              </a:ext>
            </a:extLst>
          </p:cNvPr>
          <p:cNvSpPr txBox="1"/>
          <p:nvPr/>
        </p:nvSpPr>
        <p:spPr>
          <a:xfrm>
            <a:off x="8036882" y="228629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7</a:t>
            </a:r>
            <a:endParaRPr kumimoji="1" lang="zh-CN" altLang="en-US" sz="1600" dirty="0">
              <a:latin typeface="Microsoft YaHei" panose="020B0503020204020204" pitchFamily="34" charset="-122"/>
              <a:ea typeface="Microsoft YaHei" panose="020B0503020204020204" pitchFamily="34" charset="-122"/>
            </a:endParaRPr>
          </a:p>
        </p:txBody>
      </p:sp>
      <p:sp>
        <p:nvSpPr>
          <p:cNvPr id="171" name="文本框 170">
            <a:extLst>
              <a:ext uri="{FF2B5EF4-FFF2-40B4-BE49-F238E27FC236}">
                <a16:creationId xmlns:a16="http://schemas.microsoft.com/office/drawing/2014/main" id="{DF07942A-A1D8-4697-1888-421F7AA0D311}"/>
              </a:ext>
            </a:extLst>
          </p:cNvPr>
          <p:cNvSpPr txBox="1"/>
          <p:nvPr/>
        </p:nvSpPr>
        <p:spPr>
          <a:xfrm>
            <a:off x="8267532" y="228629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72" name="文本框 171">
            <a:extLst>
              <a:ext uri="{FF2B5EF4-FFF2-40B4-BE49-F238E27FC236}">
                <a16:creationId xmlns:a16="http://schemas.microsoft.com/office/drawing/2014/main" id="{529C8F02-1C49-4627-7D53-863FEB663B68}"/>
              </a:ext>
            </a:extLst>
          </p:cNvPr>
          <p:cNvSpPr txBox="1"/>
          <p:nvPr/>
        </p:nvSpPr>
        <p:spPr>
          <a:xfrm>
            <a:off x="7267253" y="405615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73" name="文本框 172">
            <a:extLst>
              <a:ext uri="{FF2B5EF4-FFF2-40B4-BE49-F238E27FC236}">
                <a16:creationId xmlns:a16="http://schemas.microsoft.com/office/drawing/2014/main" id="{E0F641F5-BAA0-1395-CB7A-70FD16BF6A0B}"/>
              </a:ext>
            </a:extLst>
          </p:cNvPr>
          <p:cNvSpPr txBox="1"/>
          <p:nvPr/>
        </p:nvSpPr>
        <p:spPr>
          <a:xfrm>
            <a:off x="7492923" y="405390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-7</a:t>
            </a:r>
            <a:endParaRPr kumimoji="1" lang="zh-CN" altLang="en-US" sz="1600" dirty="0">
              <a:latin typeface="Microsoft YaHei" panose="020B0503020204020204" pitchFamily="34" charset="-122"/>
              <a:ea typeface="Microsoft YaHei" panose="020B0503020204020204" pitchFamily="34" charset="-122"/>
            </a:endParaRPr>
          </a:p>
        </p:txBody>
      </p:sp>
      <p:sp>
        <p:nvSpPr>
          <p:cNvPr id="174" name="文本框 173">
            <a:extLst>
              <a:ext uri="{FF2B5EF4-FFF2-40B4-BE49-F238E27FC236}">
                <a16:creationId xmlns:a16="http://schemas.microsoft.com/office/drawing/2014/main" id="{218656A5-DDA0-FDFC-EA3A-1216EDEDC420}"/>
              </a:ext>
            </a:extLst>
          </p:cNvPr>
          <p:cNvSpPr txBox="1"/>
          <p:nvPr/>
        </p:nvSpPr>
        <p:spPr>
          <a:xfrm>
            <a:off x="7764557" y="405514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75" name="文本框 174">
            <a:extLst>
              <a:ext uri="{FF2B5EF4-FFF2-40B4-BE49-F238E27FC236}">
                <a16:creationId xmlns:a16="http://schemas.microsoft.com/office/drawing/2014/main" id="{5C22B8F5-5325-8026-7133-6C698B5E5493}"/>
              </a:ext>
            </a:extLst>
          </p:cNvPr>
          <p:cNvSpPr txBox="1"/>
          <p:nvPr/>
        </p:nvSpPr>
        <p:spPr>
          <a:xfrm>
            <a:off x="8042103" y="4050631"/>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76" name="文本框 175">
            <a:extLst>
              <a:ext uri="{FF2B5EF4-FFF2-40B4-BE49-F238E27FC236}">
                <a16:creationId xmlns:a16="http://schemas.microsoft.com/office/drawing/2014/main" id="{2A3E9488-3B81-ECFD-F3E3-D26220091E21}"/>
              </a:ext>
            </a:extLst>
          </p:cNvPr>
          <p:cNvSpPr txBox="1"/>
          <p:nvPr/>
        </p:nvSpPr>
        <p:spPr>
          <a:xfrm>
            <a:off x="8319649" y="4050631"/>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77" name="文本框 176">
            <a:extLst>
              <a:ext uri="{FF2B5EF4-FFF2-40B4-BE49-F238E27FC236}">
                <a16:creationId xmlns:a16="http://schemas.microsoft.com/office/drawing/2014/main" id="{B34A2E4B-47F0-0EC4-CD0F-682D07901C84}"/>
              </a:ext>
            </a:extLst>
          </p:cNvPr>
          <p:cNvSpPr txBox="1"/>
          <p:nvPr/>
        </p:nvSpPr>
        <p:spPr>
          <a:xfrm>
            <a:off x="7267253" y="434222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78" name="文本框 177">
            <a:extLst>
              <a:ext uri="{FF2B5EF4-FFF2-40B4-BE49-F238E27FC236}">
                <a16:creationId xmlns:a16="http://schemas.microsoft.com/office/drawing/2014/main" id="{1F36702F-3CBD-378F-C78B-AEB8364BCEEB}"/>
              </a:ext>
            </a:extLst>
          </p:cNvPr>
          <p:cNvSpPr txBox="1"/>
          <p:nvPr/>
        </p:nvSpPr>
        <p:spPr>
          <a:xfrm>
            <a:off x="7492923" y="4339975"/>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79" name="文本框 178">
            <a:extLst>
              <a:ext uri="{FF2B5EF4-FFF2-40B4-BE49-F238E27FC236}">
                <a16:creationId xmlns:a16="http://schemas.microsoft.com/office/drawing/2014/main" id="{6E63E52D-B1D5-E3DD-03CF-7C8D741B2062}"/>
              </a:ext>
            </a:extLst>
          </p:cNvPr>
          <p:cNvSpPr txBox="1"/>
          <p:nvPr/>
        </p:nvSpPr>
        <p:spPr>
          <a:xfrm>
            <a:off x="7811453" y="434121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80" name="文本框 179">
            <a:extLst>
              <a:ext uri="{FF2B5EF4-FFF2-40B4-BE49-F238E27FC236}">
                <a16:creationId xmlns:a16="http://schemas.microsoft.com/office/drawing/2014/main" id="{0FF3ACB6-AD4D-324D-80B9-F73628AF108D}"/>
              </a:ext>
            </a:extLst>
          </p:cNvPr>
          <p:cNvSpPr txBox="1"/>
          <p:nvPr/>
        </p:nvSpPr>
        <p:spPr>
          <a:xfrm>
            <a:off x="8088999" y="4336704"/>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81" name="文本框 180">
            <a:extLst>
              <a:ext uri="{FF2B5EF4-FFF2-40B4-BE49-F238E27FC236}">
                <a16:creationId xmlns:a16="http://schemas.microsoft.com/office/drawing/2014/main" id="{FF0174B3-775E-1BEF-C0E9-7DB4ED28ECD3}"/>
              </a:ext>
            </a:extLst>
          </p:cNvPr>
          <p:cNvSpPr txBox="1"/>
          <p:nvPr/>
        </p:nvSpPr>
        <p:spPr>
          <a:xfrm>
            <a:off x="8319649" y="433670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82" name="文本框 181">
            <a:extLst>
              <a:ext uri="{FF2B5EF4-FFF2-40B4-BE49-F238E27FC236}">
                <a16:creationId xmlns:a16="http://schemas.microsoft.com/office/drawing/2014/main" id="{EE0DEE29-506D-17F8-4D61-A863FC4FA536}"/>
              </a:ext>
            </a:extLst>
          </p:cNvPr>
          <p:cNvSpPr txBox="1"/>
          <p:nvPr/>
        </p:nvSpPr>
        <p:spPr>
          <a:xfrm>
            <a:off x="7185185" y="4628301"/>
            <a:ext cx="42511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10</a:t>
            </a:r>
            <a:endParaRPr kumimoji="1" lang="zh-CN" altLang="en-US" sz="1600" dirty="0">
              <a:latin typeface="Microsoft YaHei" panose="020B0503020204020204" pitchFamily="34" charset="-122"/>
              <a:ea typeface="Microsoft YaHei" panose="020B0503020204020204" pitchFamily="34" charset="-122"/>
            </a:endParaRPr>
          </a:p>
        </p:txBody>
      </p:sp>
      <p:sp>
        <p:nvSpPr>
          <p:cNvPr id="183" name="文本框 182">
            <a:extLst>
              <a:ext uri="{FF2B5EF4-FFF2-40B4-BE49-F238E27FC236}">
                <a16:creationId xmlns:a16="http://schemas.microsoft.com/office/drawing/2014/main" id="{FAD55040-24D2-A9E6-6D70-3334A489B581}"/>
              </a:ext>
            </a:extLst>
          </p:cNvPr>
          <p:cNvSpPr txBox="1"/>
          <p:nvPr/>
        </p:nvSpPr>
        <p:spPr>
          <a:xfrm>
            <a:off x="7492923" y="462604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84" name="文本框 183">
            <a:extLst>
              <a:ext uri="{FF2B5EF4-FFF2-40B4-BE49-F238E27FC236}">
                <a16:creationId xmlns:a16="http://schemas.microsoft.com/office/drawing/2014/main" id="{66282042-92B6-2841-2BE8-F36BDEAB788B}"/>
              </a:ext>
            </a:extLst>
          </p:cNvPr>
          <p:cNvSpPr txBox="1"/>
          <p:nvPr/>
        </p:nvSpPr>
        <p:spPr>
          <a:xfrm>
            <a:off x="7764557" y="462728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85" name="文本框 184">
            <a:extLst>
              <a:ext uri="{FF2B5EF4-FFF2-40B4-BE49-F238E27FC236}">
                <a16:creationId xmlns:a16="http://schemas.microsoft.com/office/drawing/2014/main" id="{2E1731C7-765B-2502-BED9-025AC3D9011C}"/>
              </a:ext>
            </a:extLst>
          </p:cNvPr>
          <p:cNvSpPr txBox="1"/>
          <p:nvPr/>
        </p:nvSpPr>
        <p:spPr>
          <a:xfrm>
            <a:off x="8042103" y="4622777"/>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86" name="文本框 185">
            <a:extLst>
              <a:ext uri="{FF2B5EF4-FFF2-40B4-BE49-F238E27FC236}">
                <a16:creationId xmlns:a16="http://schemas.microsoft.com/office/drawing/2014/main" id="{049ED56D-A2E8-A65E-3749-FAFD61556F99}"/>
              </a:ext>
            </a:extLst>
          </p:cNvPr>
          <p:cNvSpPr txBox="1"/>
          <p:nvPr/>
        </p:nvSpPr>
        <p:spPr>
          <a:xfrm>
            <a:off x="8319649" y="4622777"/>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187" name="文本框 186">
            <a:extLst>
              <a:ext uri="{FF2B5EF4-FFF2-40B4-BE49-F238E27FC236}">
                <a16:creationId xmlns:a16="http://schemas.microsoft.com/office/drawing/2014/main" id="{0F252949-12DE-B22B-D654-05C94D52E71C}"/>
              </a:ext>
            </a:extLst>
          </p:cNvPr>
          <p:cNvSpPr txBox="1"/>
          <p:nvPr/>
        </p:nvSpPr>
        <p:spPr>
          <a:xfrm>
            <a:off x="7267253" y="490774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88" name="文本框 187">
            <a:extLst>
              <a:ext uri="{FF2B5EF4-FFF2-40B4-BE49-F238E27FC236}">
                <a16:creationId xmlns:a16="http://schemas.microsoft.com/office/drawing/2014/main" id="{80EBE5EE-0F12-F56B-C688-D1CC3093A70F}"/>
              </a:ext>
            </a:extLst>
          </p:cNvPr>
          <p:cNvSpPr txBox="1"/>
          <p:nvPr/>
        </p:nvSpPr>
        <p:spPr>
          <a:xfrm>
            <a:off x="7539819" y="490549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189" name="文本框 188">
            <a:extLst>
              <a:ext uri="{FF2B5EF4-FFF2-40B4-BE49-F238E27FC236}">
                <a16:creationId xmlns:a16="http://schemas.microsoft.com/office/drawing/2014/main" id="{050EEDDB-C219-90FC-4F90-3051CE582128}"/>
              </a:ext>
            </a:extLst>
          </p:cNvPr>
          <p:cNvSpPr txBox="1"/>
          <p:nvPr/>
        </p:nvSpPr>
        <p:spPr>
          <a:xfrm>
            <a:off x="7764557" y="4906733"/>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90" name="文本框 189">
            <a:extLst>
              <a:ext uri="{FF2B5EF4-FFF2-40B4-BE49-F238E27FC236}">
                <a16:creationId xmlns:a16="http://schemas.microsoft.com/office/drawing/2014/main" id="{E434B951-82DE-C65A-7395-F7EE32506031}"/>
              </a:ext>
            </a:extLst>
          </p:cNvPr>
          <p:cNvSpPr txBox="1"/>
          <p:nvPr/>
        </p:nvSpPr>
        <p:spPr>
          <a:xfrm>
            <a:off x="8088999" y="490222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91" name="文本框 190">
            <a:extLst>
              <a:ext uri="{FF2B5EF4-FFF2-40B4-BE49-F238E27FC236}">
                <a16:creationId xmlns:a16="http://schemas.microsoft.com/office/drawing/2014/main" id="{CDC5EC91-2775-F025-0103-7C7E0868CE87}"/>
              </a:ext>
            </a:extLst>
          </p:cNvPr>
          <p:cNvSpPr txBox="1"/>
          <p:nvPr/>
        </p:nvSpPr>
        <p:spPr>
          <a:xfrm>
            <a:off x="8319649" y="490222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192" name="文本框 191">
            <a:extLst>
              <a:ext uri="{FF2B5EF4-FFF2-40B4-BE49-F238E27FC236}">
                <a16:creationId xmlns:a16="http://schemas.microsoft.com/office/drawing/2014/main" id="{33507E20-3D52-B5F3-78E0-6AB400E4493A}"/>
              </a:ext>
            </a:extLst>
          </p:cNvPr>
          <p:cNvSpPr txBox="1"/>
          <p:nvPr/>
        </p:nvSpPr>
        <p:spPr>
          <a:xfrm>
            <a:off x="7267253" y="520477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93" name="文本框 192">
            <a:extLst>
              <a:ext uri="{FF2B5EF4-FFF2-40B4-BE49-F238E27FC236}">
                <a16:creationId xmlns:a16="http://schemas.microsoft.com/office/drawing/2014/main" id="{B30771B0-BEE0-F13F-8CD2-2834449AD5CC}"/>
              </a:ext>
            </a:extLst>
          </p:cNvPr>
          <p:cNvSpPr txBox="1"/>
          <p:nvPr/>
        </p:nvSpPr>
        <p:spPr>
          <a:xfrm>
            <a:off x="7539819" y="5202524"/>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94" name="文本框 193">
            <a:extLst>
              <a:ext uri="{FF2B5EF4-FFF2-40B4-BE49-F238E27FC236}">
                <a16:creationId xmlns:a16="http://schemas.microsoft.com/office/drawing/2014/main" id="{89FA1A89-C403-9379-7807-9C9416831A14}"/>
              </a:ext>
            </a:extLst>
          </p:cNvPr>
          <p:cNvSpPr txBox="1"/>
          <p:nvPr/>
        </p:nvSpPr>
        <p:spPr>
          <a:xfrm>
            <a:off x="7764557" y="520376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95" name="文本框 194">
            <a:extLst>
              <a:ext uri="{FF2B5EF4-FFF2-40B4-BE49-F238E27FC236}">
                <a16:creationId xmlns:a16="http://schemas.microsoft.com/office/drawing/2014/main" id="{A4744C4D-1849-3E05-E845-45C4DF127EF4}"/>
              </a:ext>
            </a:extLst>
          </p:cNvPr>
          <p:cNvSpPr txBox="1"/>
          <p:nvPr/>
        </p:nvSpPr>
        <p:spPr>
          <a:xfrm>
            <a:off x="8088999" y="519925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96" name="文本框 195">
            <a:extLst>
              <a:ext uri="{FF2B5EF4-FFF2-40B4-BE49-F238E27FC236}">
                <a16:creationId xmlns:a16="http://schemas.microsoft.com/office/drawing/2014/main" id="{A3B063AF-3079-63B4-84EA-5A51AA052335}"/>
              </a:ext>
            </a:extLst>
          </p:cNvPr>
          <p:cNvSpPr txBox="1"/>
          <p:nvPr/>
        </p:nvSpPr>
        <p:spPr>
          <a:xfrm>
            <a:off x="8319649" y="5199253"/>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766494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49905" y="274682"/>
            <a:ext cx="10363200" cy="1143000"/>
          </a:xfrm>
        </p:spPr>
        <p:txBody>
          <a:bodyPr/>
          <a:lstStyle/>
          <a:p>
            <a:r>
              <a:rPr lang="zh-CN" altLang="en-US" dirty="0"/>
              <a:t>多通道輸入時的捲積</a:t>
            </a:r>
          </a:p>
        </p:txBody>
      </p:sp>
      <p:pic>
        <p:nvPicPr>
          <p:cNvPr id="8" name="图片 7"/>
          <p:cNvPicPr>
            <a:picLocks noChangeAspect="1"/>
          </p:cNvPicPr>
          <p:nvPr/>
        </p:nvPicPr>
        <p:blipFill>
          <a:blip r:embed="rId3"/>
          <a:stretch>
            <a:fillRect/>
          </a:stretch>
        </p:blipFill>
        <p:spPr>
          <a:xfrm>
            <a:off x="2228341" y="2313818"/>
            <a:ext cx="1615106" cy="1686213"/>
          </a:xfrm>
          <a:prstGeom prst="rect">
            <a:avLst/>
          </a:prstGeom>
        </p:spPr>
      </p:pic>
      <p:pic>
        <p:nvPicPr>
          <p:cNvPr id="11" name="图片 10"/>
          <p:cNvPicPr>
            <a:picLocks noChangeAspect="1"/>
          </p:cNvPicPr>
          <p:nvPr/>
        </p:nvPicPr>
        <p:blipFill>
          <a:blip r:embed="rId4"/>
          <a:stretch>
            <a:fillRect/>
          </a:stretch>
        </p:blipFill>
        <p:spPr>
          <a:xfrm>
            <a:off x="2104660" y="2454339"/>
            <a:ext cx="1615106" cy="1686213"/>
          </a:xfrm>
          <a:prstGeom prst="rect">
            <a:avLst/>
          </a:prstGeom>
        </p:spPr>
      </p:pic>
      <p:pic>
        <p:nvPicPr>
          <p:cNvPr id="12" name="图片 11"/>
          <p:cNvPicPr>
            <a:picLocks noChangeAspect="1"/>
          </p:cNvPicPr>
          <p:nvPr/>
        </p:nvPicPr>
        <p:blipFill>
          <a:blip r:embed="rId5"/>
          <a:stretch>
            <a:fillRect/>
          </a:stretch>
        </p:blipFill>
        <p:spPr>
          <a:xfrm>
            <a:off x="1956020" y="2597509"/>
            <a:ext cx="1617041" cy="1688235"/>
          </a:xfrm>
          <a:prstGeom prst="rect">
            <a:avLst/>
          </a:prstGeom>
        </p:spPr>
      </p:pic>
      <p:pic>
        <p:nvPicPr>
          <p:cNvPr id="14" name="图片 13"/>
          <p:cNvPicPr>
            <a:picLocks noChangeAspect="1"/>
          </p:cNvPicPr>
          <p:nvPr/>
        </p:nvPicPr>
        <p:blipFill>
          <a:blip r:embed="rId6"/>
          <a:stretch>
            <a:fillRect/>
          </a:stretch>
        </p:blipFill>
        <p:spPr>
          <a:xfrm>
            <a:off x="6016660" y="2634640"/>
            <a:ext cx="829690" cy="885522"/>
          </a:xfrm>
          <a:prstGeom prst="rect">
            <a:avLst/>
          </a:prstGeom>
        </p:spPr>
      </p:pic>
      <p:pic>
        <p:nvPicPr>
          <p:cNvPr id="15" name="图片 14"/>
          <p:cNvPicPr>
            <a:picLocks noChangeAspect="1"/>
          </p:cNvPicPr>
          <p:nvPr/>
        </p:nvPicPr>
        <p:blipFill>
          <a:blip r:embed="rId6"/>
          <a:stretch>
            <a:fillRect/>
          </a:stretch>
        </p:blipFill>
        <p:spPr>
          <a:xfrm>
            <a:off x="5884235" y="2770265"/>
            <a:ext cx="829690" cy="885522"/>
          </a:xfrm>
          <a:prstGeom prst="rect">
            <a:avLst/>
          </a:prstGeom>
        </p:spPr>
      </p:pic>
      <p:pic>
        <p:nvPicPr>
          <p:cNvPr id="16" name="图片 15"/>
          <p:cNvPicPr>
            <a:picLocks noChangeAspect="1"/>
          </p:cNvPicPr>
          <p:nvPr/>
        </p:nvPicPr>
        <p:blipFill>
          <a:blip r:embed="rId6"/>
          <a:stretch>
            <a:fillRect/>
          </a:stretch>
        </p:blipFill>
        <p:spPr>
          <a:xfrm>
            <a:off x="5751425" y="2921793"/>
            <a:ext cx="829690" cy="885522"/>
          </a:xfrm>
          <a:prstGeom prst="rect">
            <a:avLst/>
          </a:prstGeom>
        </p:spPr>
      </p:pic>
      <p:pic>
        <p:nvPicPr>
          <p:cNvPr id="19" name="图片 18"/>
          <p:cNvPicPr>
            <a:picLocks noChangeAspect="1"/>
          </p:cNvPicPr>
          <p:nvPr/>
        </p:nvPicPr>
        <p:blipFill>
          <a:blip r:embed="rId7"/>
          <a:stretch>
            <a:fillRect/>
          </a:stretch>
        </p:blipFill>
        <p:spPr>
          <a:xfrm>
            <a:off x="8751706" y="2597509"/>
            <a:ext cx="1068155" cy="1137015"/>
          </a:xfrm>
          <a:prstGeom prst="rect">
            <a:avLst/>
          </a:prstGeom>
        </p:spPr>
      </p:pic>
      <p:sp>
        <p:nvSpPr>
          <p:cNvPr id="21" name="立方体 20"/>
          <p:cNvSpPr/>
          <p:nvPr/>
        </p:nvSpPr>
        <p:spPr>
          <a:xfrm>
            <a:off x="1973026" y="2309147"/>
            <a:ext cx="1000762" cy="1109914"/>
          </a:xfrm>
          <a:prstGeom prst="cube">
            <a:avLst/>
          </a:prstGeom>
          <a:solidFill>
            <a:srgbClr val="86F260">
              <a:alpha val="60000"/>
            </a:srgbClr>
          </a:solidFill>
          <a:ln w="38100">
            <a:solidFill>
              <a:srgbClr val="86F26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36"/>
          <p:cNvSpPr txBox="1"/>
          <p:nvPr/>
        </p:nvSpPr>
        <p:spPr>
          <a:xfrm>
            <a:off x="5819092" y="4054935"/>
            <a:ext cx="116341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3×3×3</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25" name="直接箭头连接符 24"/>
          <p:cNvCxnSpPr>
            <a:stCxn id="39" idx="4"/>
          </p:cNvCxnSpPr>
          <p:nvPr/>
        </p:nvCxnSpPr>
        <p:spPr>
          <a:xfrm>
            <a:off x="3145774" y="4825403"/>
            <a:ext cx="1807889" cy="4218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40" idx="4"/>
          </p:cNvCxnSpPr>
          <p:nvPr/>
        </p:nvCxnSpPr>
        <p:spPr>
          <a:xfrm flipH="1">
            <a:off x="5365655" y="4418031"/>
            <a:ext cx="1215460" cy="8379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236"/>
          <p:cNvSpPr txBox="1"/>
          <p:nvPr/>
        </p:nvSpPr>
        <p:spPr>
          <a:xfrm>
            <a:off x="2392080" y="4461648"/>
            <a:ext cx="116341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6×6×3</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38" name="文本框 236"/>
          <p:cNvSpPr txBox="1"/>
          <p:nvPr/>
        </p:nvSpPr>
        <p:spPr>
          <a:xfrm>
            <a:off x="4539472" y="5256003"/>
            <a:ext cx="133748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必須一致</a:t>
            </a:r>
          </a:p>
        </p:txBody>
      </p:sp>
      <p:sp>
        <p:nvSpPr>
          <p:cNvPr id="39" name="椭圆 38"/>
          <p:cNvSpPr/>
          <p:nvPr/>
        </p:nvSpPr>
        <p:spPr>
          <a:xfrm>
            <a:off x="2983774" y="4501403"/>
            <a:ext cx="324000" cy="324000"/>
          </a:xfrm>
          <a:prstGeom prst="ellipse">
            <a:avLst/>
          </a:prstGeom>
          <a:noFill/>
          <a:ln w="222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椭圆 39"/>
          <p:cNvSpPr/>
          <p:nvPr/>
        </p:nvSpPr>
        <p:spPr>
          <a:xfrm>
            <a:off x="6419115" y="4094031"/>
            <a:ext cx="324000" cy="324000"/>
          </a:xfrm>
          <a:prstGeom prst="ellipse">
            <a:avLst/>
          </a:prstGeom>
          <a:noFill/>
          <a:ln w="222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文本框 236"/>
          <p:cNvSpPr txBox="1"/>
          <p:nvPr/>
        </p:nvSpPr>
        <p:spPr>
          <a:xfrm>
            <a:off x="8436909" y="4054934"/>
            <a:ext cx="1926599"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輸出一個通道</a:t>
            </a:r>
          </a:p>
        </p:txBody>
      </p:sp>
      <p:cxnSp>
        <p:nvCxnSpPr>
          <p:cNvPr id="51" name="直接箭头连接符 50"/>
          <p:cNvCxnSpPr>
            <a:stCxn id="14" idx="3"/>
          </p:cNvCxnSpPr>
          <p:nvPr/>
        </p:nvCxnSpPr>
        <p:spPr>
          <a:xfrm flipV="1">
            <a:off x="6846350" y="2751142"/>
            <a:ext cx="2053954" cy="32625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endCxn id="16" idx="1"/>
          </p:cNvCxnSpPr>
          <p:nvPr/>
        </p:nvCxnSpPr>
        <p:spPr>
          <a:xfrm>
            <a:off x="2872458" y="2864105"/>
            <a:ext cx="2878967" cy="50044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77" name="立方体 76"/>
          <p:cNvSpPr/>
          <p:nvPr/>
        </p:nvSpPr>
        <p:spPr>
          <a:xfrm>
            <a:off x="2236292" y="2329696"/>
            <a:ext cx="1000762" cy="1109914"/>
          </a:xfrm>
          <a:prstGeom prst="cube">
            <a:avLst/>
          </a:prstGeom>
          <a:solidFill>
            <a:srgbClr val="86F260">
              <a:alpha val="60000"/>
            </a:srgbClr>
          </a:solidFill>
          <a:ln w="38100">
            <a:solidFill>
              <a:srgbClr val="86F26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8" name="直接箭头连接符 77"/>
          <p:cNvCxnSpPr>
            <a:stCxn id="14" idx="3"/>
          </p:cNvCxnSpPr>
          <p:nvPr/>
        </p:nvCxnSpPr>
        <p:spPr>
          <a:xfrm flipV="1">
            <a:off x="6846350" y="2770266"/>
            <a:ext cx="2337407" cy="307135"/>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endCxn id="16" idx="1"/>
          </p:cNvCxnSpPr>
          <p:nvPr/>
        </p:nvCxnSpPr>
        <p:spPr>
          <a:xfrm>
            <a:off x="3071288" y="2887941"/>
            <a:ext cx="2680137" cy="47661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058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73"/>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5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2" grpId="0"/>
      <p:bldP spid="38" grpId="0"/>
      <p:bldP spid="39" grpId="0" animBg="1"/>
      <p:bldP spid="40" grpId="0" animBg="1"/>
      <p:bldP spid="48" grpId="0"/>
      <p:bldP spid="77"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多通道捲積舉例</a:t>
            </a:r>
          </a:p>
        </p:txBody>
      </p:sp>
      <p:pic>
        <p:nvPicPr>
          <p:cNvPr id="4" name="图片 3"/>
          <p:cNvPicPr>
            <a:picLocks noChangeAspect="1"/>
          </p:cNvPicPr>
          <p:nvPr/>
        </p:nvPicPr>
        <p:blipFill rotWithShape="1">
          <a:blip r:embed="rId3"/>
          <a:srcRect l="12483" t="11913" r="67420"/>
          <a:stretch/>
        </p:blipFill>
        <p:spPr>
          <a:xfrm>
            <a:off x="1664169" y="1806612"/>
            <a:ext cx="1731245" cy="1540894"/>
          </a:xfrm>
          <a:prstGeom prst="rect">
            <a:avLst/>
          </a:prstGeom>
        </p:spPr>
      </p:pic>
      <p:pic>
        <p:nvPicPr>
          <p:cNvPr id="5" name="图片 4"/>
          <p:cNvPicPr>
            <a:picLocks noChangeAspect="1"/>
          </p:cNvPicPr>
          <p:nvPr/>
        </p:nvPicPr>
        <p:blipFill rotWithShape="1">
          <a:blip r:embed="rId4"/>
          <a:srcRect l="12414" t="12365" r="68507"/>
          <a:stretch/>
        </p:blipFill>
        <p:spPr>
          <a:xfrm>
            <a:off x="1664169" y="4060368"/>
            <a:ext cx="1652640" cy="1541469"/>
          </a:xfrm>
          <a:prstGeom prst="rect">
            <a:avLst/>
          </a:prstGeom>
        </p:spPr>
      </p:pic>
      <p:pic>
        <p:nvPicPr>
          <p:cNvPr id="7" name="图片 6"/>
          <p:cNvPicPr>
            <a:picLocks noChangeAspect="1"/>
          </p:cNvPicPr>
          <p:nvPr/>
        </p:nvPicPr>
        <p:blipFill rotWithShape="1">
          <a:blip r:embed="rId5"/>
          <a:srcRect l="44226" t="26835" r="43880"/>
          <a:stretch/>
        </p:blipFill>
        <p:spPr>
          <a:xfrm>
            <a:off x="4701146" y="2602523"/>
            <a:ext cx="1043162" cy="978677"/>
          </a:xfrm>
          <a:prstGeom prst="rect">
            <a:avLst/>
          </a:prstGeom>
        </p:spPr>
      </p:pic>
      <p:pic>
        <p:nvPicPr>
          <p:cNvPr id="8" name="图片 7"/>
          <p:cNvPicPr>
            <a:picLocks noChangeAspect="1"/>
          </p:cNvPicPr>
          <p:nvPr/>
        </p:nvPicPr>
        <p:blipFill rotWithShape="1">
          <a:blip r:embed="rId6"/>
          <a:srcRect l="42962" t="5872" r="43423"/>
          <a:stretch/>
        </p:blipFill>
        <p:spPr>
          <a:xfrm>
            <a:off x="4583064" y="3671440"/>
            <a:ext cx="1208136" cy="996461"/>
          </a:xfrm>
          <a:prstGeom prst="rect">
            <a:avLst/>
          </a:prstGeom>
        </p:spPr>
      </p:pic>
      <p:pic>
        <p:nvPicPr>
          <p:cNvPr id="9" name="图片 8"/>
          <p:cNvPicPr>
            <a:picLocks noChangeAspect="1"/>
          </p:cNvPicPr>
          <p:nvPr/>
        </p:nvPicPr>
        <p:blipFill rotWithShape="1">
          <a:blip r:embed="rId7"/>
          <a:srcRect l="71818" t="14122" r="15826"/>
          <a:stretch/>
        </p:blipFill>
        <p:spPr>
          <a:xfrm>
            <a:off x="7534977" y="2921560"/>
            <a:ext cx="1086565" cy="977330"/>
          </a:xfrm>
          <a:prstGeom prst="rect">
            <a:avLst/>
          </a:prstGeom>
        </p:spPr>
      </p:pic>
      <p:sp>
        <p:nvSpPr>
          <p:cNvPr id="10" name="矩形 9"/>
          <p:cNvSpPr/>
          <p:nvPr/>
        </p:nvSpPr>
        <p:spPr>
          <a:xfrm>
            <a:off x="4561190" y="2472627"/>
            <a:ext cx="1272303" cy="2359552"/>
          </a:xfrm>
          <a:prstGeom prst="rect">
            <a:avLst/>
          </a:prstGeom>
          <a:noFill/>
          <a:ln w="19050" cap="flat" cmpd="sng" algn="ctr">
            <a:solidFill>
              <a:srgbClr val="FF000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等线" panose="020F0502020204030204"/>
              <a:ea typeface="等线" panose="02010600030101010101" pitchFamily="2" charset="-122"/>
              <a:cs typeface="+mn-cs"/>
            </a:endParaRPr>
          </a:p>
        </p:txBody>
      </p:sp>
      <p:cxnSp>
        <p:nvCxnSpPr>
          <p:cNvPr id="11" name="直接连接符 10"/>
          <p:cNvCxnSpPr/>
          <p:nvPr/>
        </p:nvCxnSpPr>
        <p:spPr>
          <a:xfrm>
            <a:off x="1773141" y="1880111"/>
            <a:ext cx="2973788" cy="795236"/>
          </a:xfrm>
          <a:prstGeom prst="line">
            <a:avLst/>
          </a:prstGeom>
          <a:noFill/>
          <a:ln w="19050" cap="flat" cmpd="sng" algn="ctr">
            <a:solidFill>
              <a:srgbClr val="00B0F0"/>
            </a:solidFill>
            <a:prstDash val="solid"/>
            <a:miter lim="800000"/>
          </a:ln>
          <a:effectLst/>
        </p:spPr>
      </p:cxnSp>
      <p:cxnSp>
        <p:nvCxnSpPr>
          <p:cNvPr id="12" name="直接连接符 11"/>
          <p:cNvCxnSpPr/>
          <p:nvPr/>
        </p:nvCxnSpPr>
        <p:spPr>
          <a:xfrm>
            <a:off x="1773141" y="2710012"/>
            <a:ext cx="2973788" cy="837639"/>
          </a:xfrm>
          <a:prstGeom prst="line">
            <a:avLst/>
          </a:prstGeom>
          <a:noFill/>
          <a:ln w="19050" cap="flat" cmpd="sng" algn="ctr">
            <a:solidFill>
              <a:srgbClr val="00B0F0"/>
            </a:solidFill>
            <a:prstDash val="solid"/>
            <a:miter lim="800000"/>
          </a:ln>
          <a:effectLst/>
        </p:spPr>
      </p:cxnSp>
      <p:cxnSp>
        <p:nvCxnSpPr>
          <p:cNvPr id="13" name="直接连接符 12"/>
          <p:cNvCxnSpPr/>
          <p:nvPr/>
        </p:nvCxnSpPr>
        <p:spPr>
          <a:xfrm>
            <a:off x="2615979" y="2740547"/>
            <a:ext cx="3019358" cy="807104"/>
          </a:xfrm>
          <a:prstGeom prst="line">
            <a:avLst/>
          </a:prstGeom>
          <a:noFill/>
          <a:ln w="19050" cap="flat" cmpd="sng" algn="ctr">
            <a:solidFill>
              <a:srgbClr val="00B0F0"/>
            </a:solidFill>
            <a:prstDash val="dash"/>
            <a:round/>
            <a:headEnd type="none" w="med" len="med"/>
            <a:tailEnd type="none" w="med" len="med"/>
          </a:ln>
          <a:effectLst/>
        </p:spPr>
      </p:cxnSp>
      <p:cxnSp>
        <p:nvCxnSpPr>
          <p:cNvPr id="14" name="直接连接符 13"/>
          <p:cNvCxnSpPr/>
          <p:nvPr/>
        </p:nvCxnSpPr>
        <p:spPr>
          <a:xfrm>
            <a:off x="2615979" y="1873867"/>
            <a:ext cx="3019358" cy="801480"/>
          </a:xfrm>
          <a:prstGeom prst="line">
            <a:avLst/>
          </a:prstGeom>
          <a:noFill/>
          <a:ln w="19050" cap="flat" cmpd="sng" algn="ctr">
            <a:solidFill>
              <a:srgbClr val="00B0F0"/>
            </a:solidFill>
            <a:prstDash val="solid"/>
            <a:miter lim="800000"/>
          </a:ln>
          <a:effectLst/>
        </p:spPr>
      </p:cxnSp>
      <p:cxnSp>
        <p:nvCxnSpPr>
          <p:cNvPr id="31" name="直接连接符 30"/>
          <p:cNvCxnSpPr/>
          <p:nvPr/>
        </p:nvCxnSpPr>
        <p:spPr>
          <a:xfrm>
            <a:off x="5635337" y="2669365"/>
            <a:ext cx="2316332" cy="313143"/>
          </a:xfrm>
          <a:prstGeom prst="line">
            <a:avLst/>
          </a:prstGeom>
          <a:noFill/>
          <a:ln w="19050" cap="flat" cmpd="sng" algn="ctr">
            <a:solidFill>
              <a:srgbClr val="00B0F0"/>
            </a:solidFill>
            <a:prstDash val="solid"/>
            <a:miter lim="800000"/>
          </a:ln>
          <a:effectLst/>
        </p:spPr>
      </p:cxnSp>
      <p:cxnSp>
        <p:nvCxnSpPr>
          <p:cNvPr id="32" name="直接连接符 31"/>
          <p:cNvCxnSpPr/>
          <p:nvPr/>
        </p:nvCxnSpPr>
        <p:spPr>
          <a:xfrm flipV="1">
            <a:off x="4746929" y="3270419"/>
            <a:ext cx="2913133" cy="289359"/>
          </a:xfrm>
          <a:prstGeom prst="line">
            <a:avLst/>
          </a:prstGeom>
          <a:noFill/>
          <a:ln w="19050" cap="flat" cmpd="sng" algn="ctr">
            <a:solidFill>
              <a:srgbClr val="00B0F0"/>
            </a:solidFill>
            <a:prstDash val="solid"/>
            <a:miter lim="800000"/>
          </a:ln>
          <a:effectLst/>
        </p:spPr>
      </p:cxnSp>
      <p:cxnSp>
        <p:nvCxnSpPr>
          <p:cNvPr id="33" name="直接连接符 32"/>
          <p:cNvCxnSpPr/>
          <p:nvPr/>
        </p:nvCxnSpPr>
        <p:spPr>
          <a:xfrm flipV="1">
            <a:off x="5635337" y="3305325"/>
            <a:ext cx="2316332" cy="254452"/>
          </a:xfrm>
          <a:prstGeom prst="line">
            <a:avLst/>
          </a:prstGeom>
          <a:noFill/>
          <a:ln w="19050" cap="flat" cmpd="sng" algn="ctr">
            <a:solidFill>
              <a:srgbClr val="00B0F0"/>
            </a:solidFill>
            <a:prstDash val="dash"/>
            <a:round/>
            <a:headEnd type="none" w="med" len="med"/>
            <a:tailEnd type="none" w="med" len="med"/>
          </a:ln>
          <a:effectLst/>
        </p:spPr>
      </p:cxnSp>
      <p:cxnSp>
        <p:nvCxnSpPr>
          <p:cNvPr id="34" name="直接连接符 33"/>
          <p:cNvCxnSpPr/>
          <p:nvPr/>
        </p:nvCxnSpPr>
        <p:spPr>
          <a:xfrm>
            <a:off x="4746929" y="2669365"/>
            <a:ext cx="2913133" cy="326626"/>
          </a:xfrm>
          <a:prstGeom prst="line">
            <a:avLst/>
          </a:prstGeom>
          <a:noFill/>
          <a:ln w="19050" cap="flat" cmpd="sng" algn="ctr">
            <a:solidFill>
              <a:srgbClr val="00B0F0"/>
            </a:solidFill>
            <a:prstDash val="solid"/>
            <a:miter lim="800000"/>
          </a:ln>
          <a:effectLst/>
        </p:spPr>
      </p:cxnSp>
      <p:cxnSp>
        <p:nvCxnSpPr>
          <p:cNvPr id="50" name="直接连接符 49"/>
          <p:cNvCxnSpPr/>
          <p:nvPr/>
        </p:nvCxnSpPr>
        <p:spPr>
          <a:xfrm flipV="1">
            <a:off x="1764143" y="4667902"/>
            <a:ext cx="2990737" cy="323477"/>
          </a:xfrm>
          <a:prstGeom prst="line">
            <a:avLst/>
          </a:prstGeom>
          <a:noFill/>
          <a:ln w="19050" cap="flat" cmpd="sng" algn="ctr">
            <a:solidFill>
              <a:srgbClr val="00B050"/>
            </a:solidFill>
            <a:prstDash val="dash"/>
            <a:miter lim="800000"/>
          </a:ln>
          <a:effectLst/>
        </p:spPr>
      </p:cxnSp>
      <p:cxnSp>
        <p:nvCxnSpPr>
          <p:cNvPr id="52" name="直接连接符 51"/>
          <p:cNvCxnSpPr/>
          <p:nvPr/>
        </p:nvCxnSpPr>
        <p:spPr>
          <a:xfrm flipV="1">
            <a:off x="2615979" y="3752621"/>
            <a:ext cx="3019358" cy="379849"/>
          </a:xfrm>
          <a:prstGeom prst="line">
            <a:avLst/>
          </a:prstGeom>
          <a:noFill/>
          <a:ln w="19050" cap="flat" cmpd="sng" algn="ctr">
            <a:solidFill>
              <a:srgbClr val="00B050"/>
            </a:solidFill>
            <a:prstDash val="solid"/>
            <a:miter lim="800000"/>
          </a:ln>
          <a:effectLst/>
        </p:spPr>
      </p:cxnSp>
      <p:cxnSp>
        <p:nvCxnSpPr>
          <p:cNvPr id="53" name="直接连接符 52"/>
          <p:cNvCxnSpPr/>
          <p:nvPr/>
        </p:nvCxnSpPr>
        <p:spPr>
          <a:xfrm flipV="1">
            <a:off x="1772094" y="3752621"/>
            <a:ext cx="2982786" cy="345856"/>
          </a:xfrm>
          <a:prstGeom prst="line">
            <a:avLst/>
          </a:prstGeom>
          <a:noFill/>
          <a:ln w="19050" cap="flat" cmpd="sng" algn="ctr">
            <a:solidFill>
              <a:srgbClr val="00B050"/>
            </a:solidFill>
            <a:prstDash val="solid"/>
            <a:miter lim="800000"/>
          </a:ln>
          <a:effectLst/>
        </p:spPr>
      </p:cxnSp>
      <p:cxnSp>
        <p:nvCxnSpPr>
          <p:cNvPr id="63" name="直接连接符 62"/>
          <p:cNvCxnSpPr/>
          <p:nvPr/>
        </p:nvCxnSpPr>
        <p:spPr>
          <a:xfrm flipV="1">
            <a:off x="2615979" y="4660259"/>
            <a:ext cx="3019358" cy="331120"/>
          </a:xfrm>
          <a:prstGeom prst="line">
            <a:avLst/>
          </a:prstGeom>
          <a:noFill/>
          <a:ln w="19050" cap="flat" cmpd="sng" algn="ctr">
            <a:solidFill>
              <a:srgbClr val="00B050"/>
            </a:solidFill>
            <a:prstDash val="solid"/>
            <a:miter lim="800000"/>
          </a:ln>
          <a:effectLst/>
        </p:spPr>
      </p:cxnSp>
      <p:cxnSp>
        <p:nvCxnSpPr>
          <p:cNvPr id="66" name="直接连接符 65"/>
          <p:cNvCxnSpPr/>
          <p:nvPr/>
        </p:nvCxnSpPr>
        <p:spPr>
          <a:xfrm flipV="1">
            <a:off x="4754880" y="3277805"/>
            <a:ext cx="2905182" cy="1382454"/>
          </a:xfrm>
          <a:prstGeom prst="line">
            <a:avLst/>
          </a:prstGeom>
          <a:noFill/>
          <a:ln w="19050" cap="flat" cmpd="sng" algn="ctr">
            <a:solidFill>
              <a:srgbClr val="00B050"/>
            </a:solidFill>
            <a:prstDash val="dash"/>
            <a:miter lim="800000"/>
          </a:ln>
          <a:effectLst/>
        </p:spPr>
      </p:cxnSp>
      <p:cxnSp>
        <p:nvCxnSpPr>
          <p:cNvPr id="67" name="直接连接符 66"/>
          <p:cNvCxnSpPr/>
          <p:nvPr/>
        </p:nvCxnSpPr>
        <p:spPr>
          <a:xfrm flipV="1">
            <a:off x="5635337" y="3270418"/>
            <a:ext cx="2004519" cy="491617"/>
          </a:xfrm>
          <a:prstGeom prst="line">
            <a:avLst/>
          </a:prstGeom>
          <a:noFill/>
          <a:ln w="19050" cap="flat" cmpd="sng" algn="ctr">
            <a:solidFill>
              <a:srgbClr val="00B050"/>
            </a:solidFill>
            <a:prstDash val="solid"/>
            <a:miter lim="800000"/>
          </a:ln>
          <a:effectLst/>
        </p:spPr>
      </p:cxnSp>
      <p:cxnSp>
        <p:nvCxnSpPr>
          <p:cNvPr id="68" name="直接连接符 67"/>
          <p:cNvCxnSpPr/>
          <p:nvPr/>
        </p:nvCxnSpPr>
        <p:spPr>
          <a:xfrm flipV="1">
            <a:off x="4754880" y="3011162"/>
            <a:ext cx="2879304" cy="745048"/>
          </a:xfrm>
          <a:prstGeom prst="line">
            <a:avLst/>
          </a:prstGeom>
          <a:noFill/>
          <a:ln w="19050" cap="flat" cmpd="sng" algn="ctr">
            <a:solidFill>
              <a:srgbClr val="00B050"/>
            </a:solidFill>
            <a:prstDash val="solid"/>
            <a:miter lim="800000"/>
          </a:ln>
          <a:effectLst/>
        </p:spPr>
      </p:cxnSp>
      <p:cxnSp>
        <p:nvCxnSpPr>
          <p:cNvPr id="69" name="直接连接符 68"/>
          <p:cNvCxnSpPr/>
          <p:nvPr/>
        </p:nvCxnSpPr>
        <p:spPr>
          <a:xfrm flipV="1">
            <a:off x="5635337" y="3269680"/>
            <a:ext cx="2309736" cy="1398222"/>
          </a:xfrm>
          <a:prstGeom prst="line">
            <a:avLst/>
          </a:prstGeom>
          <a:noFill/>
          <a:ln w="19050" cap="flat" cmpd="sng" algn="ctr">
            <a:solidFill>
              <a:srgbClr val="00B050"/>
            </a:solidFill>
            <a:prstDash val="solid"/>
            <a:miter lim="800000"/>
          </a:ln>
          <a:effectLst/>
        </p:spPr>
      </p:cxnSp>
      <p:sp>
        <p:nvSpPr>
          <p:cNvPr id="94" name="文本框 281"/>
          <p:cNvSpPr txBox="1"/>
          <p:nvPr/>
        </p:nvSpPr>
        <p:spPr>
          <a:xfrm>
            <a:off x="2093365" y="3380033"/>
            <a:ext cx="906297" cy="39116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通道</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95" name="文本框 282"/>
          <p:cNvSpPr txBox="1"/>
          <p:nvPr/>
        </p:nvSpPr>
        <p:spPr>
          <a:xfrm>
            <a:off x="2093365" y="5639837"/>
            <a:ext cx="906297" cy="39116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通道</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96" name="文本框 283"/>
          <p:cNvSpPr txBox="1"/>
          <p:nvPr/>
        </p:nvSpPr>
        <p:spPr>
          <a:xfrm>
            <a:off x="7276379" y="4060368"/>
            <a:ext cx="1963971" cy="47405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輸出為一個通道</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97" name="文本框 287"/>
          <p:cNvSpPr txBox="1"/>
          <p:nvPr/>
        </p:nvSpPr>
        <p:spPr>
          <a:xfrm>
            <a:off x="4460751" y="5016022"/>
            <a:ext cx="1614046" cy="41787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3</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3</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捲積核</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98" name="文本框 288"/>
          <p:cNvSpPr txBox="1"/>
          <p:nvPr/>
        </p:nvSpPr>
        <p:spPr>
          <a:xfrm>
            <a:off x="7218739" y="4379863"/>
            <a:ext cx="2494291" cy="169019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4762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2+0</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0</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9+0</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5+1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4</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2+0</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3+(-1)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4</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3+0</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0</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2+0</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4+1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4</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2+0</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3+1</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5 = -3</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92" name="文本框 91">
            <a:extLst>
              <a:ext uri="{FF2B5EF4-FFF2-40B4-BE49-F238E27FC236}">
                <a16:creationId xmlns:a16="http://schemas.microsoft.com/office/drawing/2014/main" id="{2934A836-EFA0-A842-30C8-26C0EFCED025}"/>
              </a:ext>
            </a:extLst>
          </p:cNvPr>
          <p:cNvSpPr txBox="1"/>
          <p:nvPr/>
        </p:nvSpPr>
        <p:spPr>
          <a:xfrm>
            <a:off x="7624515" y="300383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93" name="文本框 92">
            <a:extLst>
              <a:ext uri="{FF2B5EF4-FFF2-40B4-BE49-F238E27FC236}">
                <a16:creationId xmlns:a16="http://schemas.microsoft.com/office/drawing/2014/main" id="{DB84AB7B-02E9-5DB1-28A7-C2499563AC64}"/>
              </a:ext>
            </a:extLst>
          </p:cNvPr>
          <p:cNvSpPr txBox="1"/>
          <p:nvPr/>
        </p:nvSpPr>
        <p:spPr>
          <a:xfrm>
            <a:off x="7897081" y="300157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99" name="文本框 98">
            <a:extLst>
              <a:ext uri="{FF2B5EF4-FFF2-40B4-BE49-F238E27FC236}">
                <a16:creationId xmlns:a16="http://schemas.microsoft.com/office/drawing/2014/main" id="{A8564460-AEB6-87A0-2392-E2CE116D9E32}"/>
              </a:ext>
            </a:extLst>
          </p:cNvPr>
          <p:cNvSpPr txBox="1"/>
          <p:nvPr/>
        </p:nvSpPr>
        <p:spPr>
          <a:xfrm>
            <a:off x="8168715" y="300281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00" name="文本框 99">
            <a:extLst>
              <a:ext uri="{FF2B5EF4-FFF2-40B4-BE49-F238E27FC236}">
                <a16:creationId xmlns:a16="http://schemas.microsoft.com/office/drawing/2014/main" id="{B35C4136-F3AB-786C-5280-BC947CC93607}"/>
              </a:ext>
            </a:extLst>
          </p:cNvPr>
          <p:cNvSpPr txBox="1"/>
          <p:nvPr/>
        </p:nvSpPr>
        <p:spPr>
          <a:xfrm>
            <a:off x="7583481" y="3281002"/>
            <a:ext cx="42511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13</a:t>
            </a:r>
            <a:endParaRPr kumimoji="1" lang="zh-CN" altLang="en-US" sz="1600" dirty="0">
              <a:latin typeface="Microsoft YaHei" panose="020B0503020204020204" pitchFamily="34" charset="-122"/>
              <a:ea typeface="Microsoft YaHei" panose="020B0503020204020204" pitchFamily="34" charset="-122"/>
            </a:endParaRPr>
          </a:p>
        </p:txBody>
      </p:sp>
      <p:sp>
        <p:nvSpPr>
          <p:cNvPr id="101" name="文本框 100">
            <a:extLst>
              <a:ext uri="{FF2B5EF4-FFF2-40B4-BE49-F238E27FC236}">
                <a16:creationId xmlns:a16="http://schemas.microsoft.com/office/drawing/2014/main" id="{88A52387-269A-FB82-8EF4-F0A04A9C3A17}"/>
              </a:ext>
            </a:extLst>
          </p:cNvPr>
          <p:cNvSpPr txBox="1"/>
          <p:nvPr/>
        </p:nvSpPr>
        <p:spPr>
          <a:xfrm>
            <a:off x="7938115" y="327874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02" name="文本框 101">
            <a:extLst>
              <a:ext uri="{FF2B5EF4-FFF2-40B4-BE49-F238E27FC236}">
                <a16:creationId xmlns:a16="http://schemas.microsoft.com/office/drawing/2014/main" id="{FB3A903A-B204-7337-8675-1CAAAB6B4E98}"/>
              </a:ext>
            </a:extLst>
          </p:cNvPr>
          <p:cNvSpPr txBox="1"/>
          <p:nvPr/>
        </p:nvSpPr>
        <p:spPr>
          <a:xfrm>
            <a:off x="8209749" y="327998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03" name="文本框 102">
            <a:extLst>
              <a:ext uri="{FF2B5EF4-FFF2-40B4-BE49-F238E27FC236}">
                <a16:creationId xmlns:a16="http://schemas.microsoft.com/office/drawing/2014/main" id="{574C44F7-EDDA-9E93-DC6D-593F415533A5}"/>
              </a:ext>
            </a:extLst>
          </p:cNvPr>
          <p:cNvSpPr txBox="1"/>
          <p:nvPr/>
        </p:nvSpPr>
        <p:spPr>
          <a:xfrm>
            <a:off x="7665549" y="358462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04" name="文本框 103">
            <a:extLst>
              <a:ext uri="{FF2B5EF4-FFF2-40B4-BE49-F238E27FC236}">
                <a16:creationId xmlns:a16="http://schemas.microsoft.com/office/drawing/2014/main" id="{42D39125-9987-ABE2-DB2F-9C18A7B1769C}"/>
              </a:ext>
            </a:extLst>
          </p:cNvPr>
          <p:cNvSpPr txBox="1"/>
          <p:nvPr/>
        </p:nvSpPr>
        <p:spPr>
          <a:xfrm>
            <a:off x="7897081" y="358237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05" name="文本框 104">
            <a:extLst>
              <a:ext uri="{FF2B5EF4-FFF2-40B4-BE49-F238E27FC236}">
                <a16:creationId xmlns:a16="http://schemas.microsoft.com/office/drawing/2014/main" id="{AE4EA624-61C6-1B3C-9AE4-DF7B9E59EC3D}"/>
              </a:ext>
            </a:extLst>
          </p:cNvPr>
          <p:cNvSpPr txBox="1"/>
          <p:nvPr/>
        </p:nvSpPr>
        <p:spPr>
          <a:xfrm>
            <a:off x="8168715" y="358361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31" name="文本框 130">
            <a:extLst>
              <a:ext uri="{FF2B5EF4-FFF2-40B4-BE49-F238E27FC236}">
                <a16:creationId xmlns:a16="http://schemas.microsoft.com/office/drawing/2014/main" id="{4F895DEE-9A33-8B2D-56C5-68CC4A7BCDEA}"/>
              </a:ext>
            </a:extLst>
          </p:cNvPr>
          <p:cNvSpPr txBox="1"/>
          <p:nvPr/>
        </p:nvSpPr>
        <p:spPr>
          <a:xfrm>
            <a:off x="1761529" y="409381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32" name="文本框 131">
            <a:extLst>
              <a:ext uri="{FF2B5EF4-FFF2-40B4-BE49-F238E27FC236}">
                <a16:creationId xmlns:a16="http://schemas.microsoft.com/office/drawing/2014/main" id="{A53C7FA0-DF0A-56E4-C632-14E24E14970A}"/>
              </a:ext>
            </a:extLst>
          </p:cNvPr>
          <p:cNvSpPr txBox="1"/>
          <p:nvPr/>
        </p:nvSpPr>
        <p:spPr>
          <a:xfrm>
            <a:off x="2050288" y="409883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33" name="文本框 132">
            <a:extLst>
              <a:ext uri="{FF2B5EF4-FFF2-40B4-BE49-F238E27FC236}">
                <a16:creationId xmlns:a16="http://schemas.microsoft.com/office/drawing/2014/main" id="{261596BB-49A6-A30F-5B22-2DB391BEA419}"/>
              </a:ext>
            </a:extLst>
          </p:cNvPr>
          <p:cNvSpPr txBox="1"/>
          <p:nvPr/>
        </p:nvSpPr>
        <p:spPr>
          <a:xfrm>
            <a:off x="2339047" y="40979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34" name="文本框 133">
            <a:extLst>
              <a:ext uri="{FF2B5EF4-FFF2-40B4-BE49-F238E27FC236}">
                <a16:creationId xmlns:a16="http://schemas.microsoft.com/office/drawing/2014/main" id="{A611E806-8547-2674-E679-98653612FF87}"/>
              </a:ext>
            </a:extLst>
          </p:cNvPr>
          <p:cNvSpPr txBox="1"/>
          <p:nvPr/>
        </p:nvSpPr>
        <p:spPr>
          <a:xfrm>
            <a:off x="2627806" y="409715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35" name="文本框 134">
            <a:extLst>
              <a:ext uri="{FF2B5EF4-FFF2-40B4-BE49-F238E27FC236}">
                <a16:creationId xmlns:a16="http://schemas.microsoft.com/office/drawing/2014/main" id="{DFD25C2E-DE18-0F9E-8712-99DA2D6E8E86}"/>
              </a:ext>
            </a:extLst>
          </p:cNvPr>
          <p:cNvSpPr txBox="1"/>
          <p:nvPr/>
        </p:nvSpPr>
        <p:spPr>
          <a:xfrm>
            <a:off x="2916565" y="409631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36" name="文本框 135">
            <a:extLst>
              <a:ext uri="{FF2B5EF4-FFF2-40B4-BE49-F238E27FC236}">
                <a16:creationId xmlns:a16="http://schemas.microsoft.com/office/drawing/2014/main" id="{08FED31F-465F-009F-CDA6-44FC72242438}"/>
              </a:ext>
            </a:extLst>
          </p:cNvPr>
          <p:cNvSpPr txBox="1"/>
          <p:nvPr/>
        </p:nvSpPr>
        <p:spPr>
          <a:xfrm>
            <a:off x="1763221" y="439841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37" name="文本框 136">
            <a:extLst>
              <a:ext uri="{FF2B5EF4-FFF2-40B4-BE49-F238E27FC236}">
                <a16:creationId xmlns:a16="http://schemas.microsoft.com/office/drawing/2014/main" id="{37663008-3163-3BD3-375F-84BA59116C8A}"/>
              </a:ext>
            </a:extLst>
          </p:cNvPr>
          <p:cNvSpPr txBox="1"/>
          <p:nvPr/>
        </p:nvSpPr>
        <p:spPr>
          <a:xfrm>
            <a:off x="2051980" y="440343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38" name="文本框 137">
            <a:extLst>
              <a:ext uri="{FF2B5EF4-FFF2-40B4-BE49-F238E27FC236}">
                <a16:creationId xmlns:a16="http://schemas.microsoft.com/office/drawing/2014/main" id="{7083E608-9F21-EFD1-E8A8-AE9E0CC5279A}"/>
              </a:ext>
            </a:extLst>
          </p:cNvPr>
          <p:cNvSpPr txBox="1"/>
          <p:nvPr/>
        </p:nvSpPr>
        <p:spPr>
          <a:xfrm>
            <a:off x="2340739" y="440258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39" name="文本框 138">
            <a:extLst>
              <a:ext uri="{FF2B5EF4-FFF2-40B4-BE49-F238E27FC236}">
                <a16:creationId xmlns:a16="http://schemas.microsoft.com/office/drawing/2014/main" id="{91169DBF-283C-0330-B836-4DD9F7C0D3E8}"/>
              </a:ext>
            </a:extLst>
          </p:cNvPr>
          <p:cNvSpPr txBox="1"/>
          <p:nvPr/>
        </p:nvSpPr>
        <p:spPr>
          <a:xfrm>
            <a:off x="2629498" y="440174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40" name="文本框 139">
            <a:extLst>
              <a:ext uri="{FF2B5EF4-FFF2-40B4-BE49-F238E27FC236}">
                <a16:creationId xmlns:a16="http://schemas.microsoft.com/office/drawing/2014/main" id="{1CECEC5B-1924-ED67-C15C-085A73C8267C}"/>
              </a:ext>
            </a:extLst>
          </p:cNvPr>
          <p:cNvSpPr txBox="1"/>
          <p:nvPr/>
        </p:nvSpPr>
        <p:spPr>
          <a:xfrm>
            <a:off x="2918257" y="440090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41" name="文本框 140">
            <a:extLst>
              <a:ext uri="{FF2B5EF4-FFF2-40B4-BE49-F238E27FC236}">
                <a16:creationId xmlns:a16="http://schemas.microsoft.com/office/drawing/2014/main" id="{EEFA9A0A-45BE-3065-05F5-6618C845F418}"/>
              </a:ext>
            </a:extLst>
          </p:cNvPr>
          <p:cNvSpPr txBox="1"/>
          <p:nvPr/>
        </p:nvSpPr>
        <p:spPr>
          <a:xfrm>
            <a:off x="1764913" y="470300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42" name="文本框 141">
            <a:extLst>
              <a:ext uri="{FF2B5EF4-FFF2-40B4-BE49-F238E27FC236}">
                <a16:creationId xmlns:a16="http://schemas.microsoft.com/office/drawing/2014/main" id="{C8E38AA1-CBF4-9B37-0CD2-66AE5FADA896}"/>
              </a:ext>
            </a:extLst>
          </p:cNvPr>
          <p:cNvSpPr txBox="1"/>
          <p:nvPr/>
        </p:nvSpPr>
        <p:spPr>
          <a:xfrm>
            <a:off x="2053672" y="470802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43" name="文本框 142">
            <a:extLst>
              <a:ext uri="{FF2B5EF4-FFF2-40B4-BE49-F238E27FC236}">
                <a16:creationId xmlns:a16="http://schemas.microsoft.com/office/drawing/2014/main" id="{188876D9-51BB-2410-B596-5ACAE2D99CDE}"/>
              </a:ext>
            </a:extLst>
          </p:cNvPr>
          <p:cNvSpPr txBox="1"/>
          <p:nvPr/>
        </p:nvSpPr>
        <p:spPr>
          <a:xfrm>
            <a:off x="2342431" y="470718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44" name="文本框 143">
            <a:extLst>
              <a:ext uri="{FF2B5EF4-FFF2-40B4-BE49-F238E27FC236}">
                <a16:creationId xmlns:a16="http://schemas.microsoft.com/office/drawing/2014/main" id="{66A8003D-3A1A-5EB7-D549-4DF527BAA9FF}"/>
              </a:ext>
            </a:extLst>
          </p:cNvPr>
          <p:cNvSpPr txBox="1"/>
          <p:nvPr/>
        </p:nvSpPr>
        <p:spPr>
          <a:xfrm>
            <a:off x="2631190" y="470633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45" name="文本框 144">
            <a:extLst>
              <a:ext uri="{FF2B5EF4-FFF2-40B4-BE49-F238E27FC236}">
                <a16:creationId xmlns:a16="http://schemas.microsoft.com/office/drawing/2014/main" id="{F1BA1063-C98B-4D70-91E9-200EA61BF2C6}"/>
              </a:ext>
            </a:extLst>
          </p:cNvPr>
          <p:cNvSpPr txBox="1"/>
          <p:nvPr/>
        </p:nvSpPr>
        <p:spPr>
          <a:xfrm>
            <a:off x="2919949" y="47054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46" name="文本框 145">
            <a:extLst>
              <a:ext uri="{FF2B5EF4-FFF2-40B4-BE49-F238E27FC236}">
                <a16:creationId xmlns:a16="http://schemas.microsoft.com/office/drawing/2014/main" id="{B8ABF3E7-40DD-212B-1228-76A278DA732D}"/>
              </a:ext>
            </a:extLst>
          </p:cNvPr>
          <p:cNvSpPr txBox="1"/>
          <p:nvPr/>
        </p:nvSpPr>
        <p:spPr>
          <a:xfrm>
            <a:off x="1766605" y="500759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47" name="文本框 146">
            <a:extLst>
              <a:ext uri="{FF2B5EF4-FFF2-40B4-BE49-F238E27FC236}">
                <a16:creationId xmlns:a16="http://schemas.microsoft.com/office/drawing/2014/main" id="{3755AE5F-11B2-50B4-2F3D-E912655FB291}"/>
              </a:ext>
            </a:extLst>
          </p:cNvPr>
          <p:cNvSpPr txBox="1"/>
          <p:nvPr/>
        </p:nvSpPr>
        <p:spPr>
          <a:xfrm>
            <a:off x="2055364" y="501261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48" name="文本框 147">
            <a:extLst>
              <a:ext uri="{FF2B5EF4-FFF2-40B4-BE49-F238E27FC236}">
                <a16:creationId xmlns:a16="http://schemas.microsoft.com/office/drawing/2014/main" id="{D4AE0D7E-DF35-4FE0-9DE5-C062CC03185D}"/>
              </a:ext>
            </a:extLst>
          </p:cNvPr>
          <p:cNvSpPr txBox="1"/>
          <p:nvPr/>
        </p:nvSpPr>
        <p:spPr>
          <a:xfrm>
            <a:off x="2344123" y="501177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49" name="文本框 148">
            <a:extLst>
              <a:ext uri="{FF2B5EF4-FFF2-40B4-BE49-F238E27FC236}">
                <a16:creationId xmlns:a16="http://schemas.microsoft.com/office/drawing/2014/main" id="{41A1529A-BE99-98DE-347E-73F4EBC81C46}"/>
              </a:ext>
            </a:extLst>
          </p:cNvPr>
          <p:cNvSpPr txBox="1"/>
          <p:nvPr/>
        </p:nvSpPr>
        <p:spPr>
          <a:xfrm>
            <a:off x="2632882" y="501093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50" name="文本框 149">
            <a:extLst>
              <a:ext uri="{FF2B5EF4-FFF2-40B4-BE49-F238E27FC236}">
                <a16:creationId xmlns:a16="http://schemas.microsoft.com/office/drawing/2014/main" id="{FEBA4404-D6AC-9933-D8CF-87D32021D8AC}"/>
              </a:ext>
            </a:extLst>
          </p:cNvPr>
          <p:cNvSpPr txBox="1"/>
          <p:nvPr/>
        </p:nvSpPr>
        <p:spPr>
          <a:xfrm>
            <a:off x="2921641" y="501008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51" name="文本框 150">
            <a:extLst>
              <a:ext uri="{FF2B5EF4-FFF2-40B4-BE49-F238E27FC236}">
                <a16:creationId xmlns:a16="http://schemas.microsoft.com/office/drawing/2014/main" id="{8FC71AE4-FBE3-84D5-7025-7430574E77F2}"/>
              </a:ext>
            </a:extLst>
          </p:cNvPr>
          <p:cNvSpPr txBox="1"/>
          <p:nvPr/>
        </p:nvSpPr>
        <p:spPr>
          <a:xfrm>
            <a:off x="1768297" y="530046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52" name="文本框 151">
            <a:extLst>
              <a:ext uri="{FF2B5EF4-FFF2-40B4-BE49-F238E27FC236}">
                <a16:creationId xmlns:a16="http://schemas.microsoft.com/office/drawing/2014/main" id="{F35DD2E4-3E66-5402-6E4A-E975E0DCB77D}"/>
              </a:ext>
            </a:extLst>
          </p:cNvPr>
          <p:cNvSpPr txBox="1"/>
          <p:nvPr/>
        </p:nvSpPr>
        <p:spPr>
          <a:xfrm>
            <a:off x="2057056" y="530548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53" name="文本框 152">
            <a:extLst>
              <a:ext uri="{FF2B5EF4-FFF2-40B4-BE49-F238E27FC236}">
                <a16:creationId xmlns:a16="http://schemas.microsoft.com/office/drawing/2014/main" id="{434084BA-4C29-732D-1AE1-D744862DED42}"/>
              </a:ext>
            </a:extLst>
          </p:cNvPr>
          <p:cNvSpPr txBox="1"/>
          <p:nvPr/>
        </p:nvSpPr>
        <p:spPr>
          <a:xfrm>
            <a:off x="2345815" y="530464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54" name="文本框 153">
            <a:extLst>
              <a:ext uri="{FF2B5EF4-FFF2-40B4-BE49-F238E27FC236}">
                <a16:creationId xmlns:a16="http://schemas.microsoft.com/office/drawing/2014/main" id="{11331CF6-53B3-87DB-4EC6-CD08D5EC92F4}"/>
              </a:ext>
            </a:extLst>
          </p:cNvPr>
          <p:cNvSpPr txBox="1"/>
          <p:nvPr/>
        </p:nvSpPr>
        <p:spPr>
          <a:xfrm>
            <a:off x="2634574" y="530379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55" name="文本框 154">
            <a:extLst>
              <a:ext uri="{FF2B5EF4-FFF2-40B4-BE49-F238E27FC236}">
                <a16:creationId xmlns:a16="http://schemas.microsoft.com/office/drawing/2014/main" id="{A76DC268-7FE4-49A0-97B4-F8C411913BA8}"/>
              </a:ext>
            </a:extLst>
          </p:cNvPr>
          <p:cNvSpPr txBox="1"/>
          <p:nvPr/>
        </p:nvSpPr>
        <p:spPr>
          <a:xfrm>
            <a:off x="2923333" y="530295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81" name="文本框 180">
            <a:extLst>
              <a:ext uri="{FF2B5EF4-FFF2-40B4-BE49-F238E27FC236}">
                <a16:creationId xmlns:a16="http://schemas.microsoft.com/office/drawing/2014/main" id="{72C2D45B-E1C3-EBCE-F242-3D6834F4406F}"/>
              </a:ext>
            </a:extLst>
          </p:cNvPr>
          <p:cNvSpPr txBox="1"/>
          <p:nvPr/>
        </p:nvSpPr>
        <p:spPr>
          <a:xfrm>
            <a:off x="1784516" y="188684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82" name="文本框 181">
            <a:extLst>
              <a:ext uri="{FF2B5EF4-FFF2-40B4-BE49-F238E27FC236}">
                <a16:creationId xmlns:a16="http://schemas.microsoft.com/office/drawing/2014/main" id="{62713B84-BB8D-3D2A-CD08-BA7A93D8BBDC}"/>
              </a:ext>
            </a:extLst>
          </p:cNvPr>
          <p:cNvSpPr txBox="1"/>
          <p:nvPr/>
        </p:nvSpPr>
        <p:spPr>
          <a:xfrm>
            <a:off x="2056150" y="188808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83" name="文本框 182">
            <a:extLst>
              <a:ext uri="{FF2B5EF4-FFF2-40B4-BE49-F238E27FC236}">
                <a16:creationId xmlns:a16="http://schemas.microsoft.com/office/drawing/2014/main" id="{38A6E006-98EA-B5B2-C8E6-B22E31C9BA61}"/>
              </a:ext>
            </a:extLst>
          </p:cNvPr>
          <p:cNvSpPr txBox="1"/>
          <p:nvPr/>
        </p:nvSpPr>
        <p:spPr>
          <a:xfrm>
            <a:off x="2327784" y="188932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84" name="文本框 183">
            <a:extLst>
              <a:ext uri="{FF2B5EF4-FFF2-40B4-BE49-F238E27FC236}">
                <a16:creationId xmlns:a16="http://schemas.microsoft.com/office/drawing/2014/main" id="{148683CC-16D0-9A3E-D9C3-9080E5B06B8E}"/>
              </a:ext>
            </a:extLst>
          </p:cNvPr>
          <p:cNvSpPr txBox="1"/>
          <p:nvPr/>
        </p:nvSpPr>
        <p:spPr>
          <a:xfrm>
            <a:off x="2599418" y="189056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85" name="文本框 184">
            <a:extLst>
              <a:ext uri="{FF2B5EF4-FFF2-40B4-BE49-F238E27FC236}">
                <a16:creationId xmlns:a16="http://schemas.microsoft.com/office/drawing/2014/main" id="{173E8E08-707D-BDFD-EEF4-7B8B0C1B8DF2}"/>
              </a:ext>
            </a:extLst>
          </p:cNvPr>
          <p:cNvSpPr txBox="1"/>
          <p:nvPr/>
        </p:nvSpPr>
        <p:spPr>
          <a:xfrm>
            <a:off x="2871052" y="189180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87" name="文本框 186">
            <a:extLst>
              <a:ext uri="{FF2B5EF4-FFF2-40B4-BE49-F238E27FC236}">
                <a16:creationId xmlns:a16="http://schemas.microsoft.com/office/drawing/2014/main" id="{356621AD-CA95-B33C-2376-97C8B9E09837}"/>
              </a:ext>
            </a:extLst>
          </p:cNvPr>
          <p:cNvSpPr txBox="1"/>
          <p:nvPr/>
        </p:nvSpPr>
        <p:spPr>
          <a:xfrm>
            <a:off x="1784516" y="216401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88" name="文本框 187">
            <a:extLst>
              <a:ext uri="{FF2B5EF4-FFF2-40B4-BE49-F238E27FC236}">
                <a16:creationId xmlns:a16="http://schemas.microsoft.com/office/drawing/2014/main" id="{29FCF505-3146-4B95-6AA5-C1501E02D264}"/>
              </a:ext>
            </a:extLst>
          </p:cNvPr>
          <p:cNvSpPr txBox="1"/>
          <p:nvPr/>
        </p:nvSpPr>
        <p:spPr>
          <a:xfrm>
            <a:off x="2056150" y="216525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89" name="文本框 188">
            <a:extLst>
              <a:ext uri="{FF2B5EF4-FFF2-40B4-BE49-F238E27FC236}">
                <a16:creationId xmlns:a16="http://schemas.microsoft.com/office/drawing/2014/main" id="{C56137CF-535C-5DA7-14C3-1AABB2BC2A63}"/>
              </a:ext>
            </a:extLst>
          </p:cNvPr>
          <p:cNvSpPr txBox="1"/>
          <p:nvPr/>
        </p:nvSpPr>
        <p:spPr>
          <a:xfrm>
            <a:off x="2327784" y="216649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90" name="文本框 189">
            <a:extLst>
              <a:ext uri="{FF2B5EF4-FFF2-40B4-BE49-F238E27FC236}">
                <a16:creationId xmlns:a16="http://schemas.microsoft.com/office/drawing/2014/main" id="{B5FB5E50-AC11-1FC3-C803-E1D168D80BC8}"/>
              </a:ext>
            </a:extLst>
          </p:cNvPr>
          <p:cNvSpPr txBox="1"/>
          <p:nvPr/>
        </p:nvSpPr>
        <p:spPr>
          <a:xfrm>
            <a:off x="2599418" y="216773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91" name="文本框 190">
            <a:extLst>
              <a:ext uri="{FF2B5EF4-FFF2-40B4-BE49-F238E27FC236}">
                <a16:creationId xmlns:a16="http://schemas.microsoft.com/office/drawing/2014/main" id="{6815A01C-5978-DA9D-D832-1FAF23A6CF6B}"/>
              </a:ext>
            </a:extLst>
          </p:cNvPr>
          <p:cNvSpPr txBox="1"/>
          <p:nvPr/>
        </p:nvSpPr>
        <p:spPr>
          <a:xfrm>
            <a:off x="2871052" y="216897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93" name="文本框 192">
            <a:extLst>
              <a:ext uri="{FF2B5EF4-FFF2-40B4-BE49-F238E27FC236}">
                <a16:creationId xmlns:a16="http://schemas.microsoft.com/office/drawing/2014/main" id="{39515508-A5E5-0E71-C725-A8AFDECB32B2}"/>
              </a:ext>
            </a:extLst>
          </p:cNvPr>
          <p:cNvSpPr txBox="1"/>
          <p:nvPr/>
        </p:nvSpPr>
        <p:spPr>
          <a:xfrm>
            <a:off x="1784516" y="246466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94" name="文本框 193">
            <a:extLst>
              <a:ext uri="{FF2B5EF4-FFF2-40B4-BE49-F238E27FC236}">
                <a16:creationId xmlns:a16="http://schemas.microsoft.com/office/drawing/2014/main" id="{82D7D2D4-E3A7-8C52-A3D3-52256E85F890}"/>
              </a:ext>
            </a:extLst>
          </p:cNvPr>
          <p:cNvSpPr txBox="1"/>
          <p:nvPr/>
        </p:nvSpPr>
        <p:spPr>
          <a:xfrm>
            <a:off x="2056150" y="246590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95" name="文本框 194">
            <a:extLst>
              <a:ext uri="{FF2B5EF4-FFF2-40B4-BE49-F238E27FC236}">
                <a16:creationId xmlns:a16="http://schemas.microsoft.com/office/drawing/2014/main" id="{33C8C594-3039-7829-9FB5-8A83F305F1D5}"/>
              </a:ext>
            </a:extLst>
          </p:cNvPr>
          <p:cNvSpPr txBox="1"/>
          <p:nvPr/>
        </p:nvSpPr>
        <p:spPr>
          <a:xfrm>
            <a:off x="2327784" y="246714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96" name="文本框 195">
            <a:extLst>
              <a:ext uri="{FF2B5EF4-FFF2-40B4-BE49-F238E27FC236}">
                <a16:creationId xmlns:a16="http://schemas.microsoft.com/office/drawing/2014/main" id="{2C972801-1267-C6E2-467B-3F02C9FC111E}"/>
              </a:ext>
            </a:extLst>
          </p:cNvPr>
          <p:cNvSpPr txBox="1"/>
          <p:nvPr/>
        </p:nvSpPr>
        <p:spPr>
          <a:xfrm>
            <a:off x="2599418" y="246838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97" name="文本框 196">
            <a:extLst>
              <a:ext uri="{FF2B5EF4-FFF2-40B4-BE49-F238E27FC236}">
                <a16:creationId xmlns:a16="http://schemas.microsoft.com/office/drawing/2014/main" id="{9CAD94B3-2F07-4E24-1B34-96E55EEEEA1C}"/>
              </a:ext>
            </a:extLst>
          </p:cNvPr>
          <p:cNvSpPr txBox="1"/>
          <p:nvPr/>
        </p:nvSpPr>
        <p:spPr>
          <a:xfrm>
            <a:off x="2871052" y="246962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99" name="文本框 198">
            <a:extLst>
              <a:ext uri="{FF2B5EF4-FFF2-40B4-BE49-F238E27FC236}">
                <a16:creationId xmlns:a16="http://schemas.microsoft.com/office/drawing/2014/main" id="{976EF41D-6F9D-6BF4-4FAA-EFB623EE0421}"/>
              </a:ext>
            </a:extLst>
          </p:cNvPr>
          <p:cNvSpPr txBox="1"/>
          <p:nvPr/>
        </p:nvSpPr>
        <p:spPr>
          <a:xfrm>
            <a:off x="1784516" y="273601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00" name="文本框 199">
            <a:extLst>
              <a:ext uri="{FF2B5EF4-FFF2-40B4-BE49-F238E27FC236}">
                <a16:creationId xmlns:a16="http://schemas.microsoft.com/office/drawing/2014/main" id="{A0B29E7A-A54A-943B-7F29-7F0750BB19F9}"/>
              </a:ext>
            </a:extLst>
          </p:cNvPr>
          <p:cNvSpPr txBox="1"/>
          <p:nvPr/>
        </p:nvSpPr>
        <p:spPr>
          <a:xfrm>
            <a:off x="2056150" y="273725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201" name="文本框 200">
            <a:extLst>
              <a:ext uri="{FF2B5EF4-FFF2-40B4-BE49-F238E27FC236}">
                <a16:creationId xmlns:a16="http://schemas.microsoft.com/office/drawing/2014/main" id="{F92C07A8-49BA-5A5D-66B4-842D2FE03626}"/>
              </a:ext>
            </a:extLst>
          </p:cNvPr>
          <p:cNvSpPr txBox="1"/>
          <p:nvPr/>
        </p:nvSpPr>
        <p:spPr>
          <a:xfrm>
            <a:off x="2327784" y="273849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202" name="文本框 201">
            <a:extLst>
              <a:ext uri="{FF2B5EF4-FFF2-40B4-BE49-F238E27FC236}">
                <a16:creationId xmlns:a16="http://schemas.microsoft.com/office/drawing/2014/main" id="{C88CAF67-8BB5-7E10-7B75-9F4D079AEAFE}"/>
              </a:ext>
            </a:extLst>
          </p:cNvPr>
          <p:cNvSpPr txBox="1"/>
          <p:nvPr/>
        </p:nvSpPr>
        <p:spPr>
          <a:xfrm>
            <a:off x="2599418" y="273973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03" name="文本框 202">
            <a:extLst>
              <a:ext uri="{FF2B5EF4-FFF2-40B4-BE49-F238E27FC236}">
                <a16:creationId xmlns:a16="http://schemas.microsoft.com/office/drawing/2014/main" id="{D72F9A40-C5B1-DE73-5B34-ABD4AE0B38F1}"/>
              </a:ext>
            </a:extLst>
          </p:cNvPr>
          <p:cNvSpPr txBox="1"/>
          <p:nvPr/>
        </p:nvSpPr>
        <p:spPr>
          <a:xfrm>
            <a:off x="2871052" y="274097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205" name="文本框 204">
            <a:extLst>
              <a:ext uri="{FF2B5EF4-FFF2-40B4-BE49-F238E27FC236}">
                <a16:creationId xmlns:a16="http://schemas.microsoft.com/office/drawing/2014/main" id="{6CCB6210-A029-9C1E-417C-4E81ECFD1559}"/>
              </a:ext>
            </a:extLst>
          </p:cNvPr>
          <p:cNvSpPr txBox="1"/>
          <p:nvPr/>
        </p:nvSpPr>
        <p:spPr>
          <a:xfrm>
            <a:off x="1784516" y="302953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206" name="文本框 205">
            <a:extLst>
              <a:ext uri="{FF2B5EF4-FFF2-40B4-BE49-F238E27FC236}">
                <a16:creationId xmlns:a16="http://schemas.microsoft.com/office/drawing/2014/main" id="{9EB1C067-C659-E69B-A042-63533A208E57}"/>
              </a:ext>
            </a:extLst>
          </p:cNvPr>
          <p:cNvSpPr txBox="1"/>
          <p:nvPr/>
        </p:nvSpPr>
        <p:spPr>
          <a:xfrm>
            <a:off x="2056150" y="303077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207" name="文本框 206">
            <a:extLst>
              <a:ext uri="{FF2B5EF4-FFF2-40B4-BE49-F238E27FC236}">
                <a16:creationId xmlns:a16="http://schemas.microsoft.com/office/drawing/2014/main" id="{39380960-7BF1-4224-616C-1E26A5D2536D}"/>
              </a:ext>
            </a:extLst>
          </p:cNvPr>
          <p:cNvSpPr txBox="1"/>
          <p:nvPr/>
        </p:nvSpPr>
        <p:spPr>
          <a:xfrm>
            <a:off x="2327784" y="303201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208" name="文本框 207">
            <a:extLst>
              <a:ext uri="{FF2B5EF4-FFF2-40B4-BE49-F238E27FC236}">
                <a16:creationId xmlns:a16="http://schemas.microsoft.com/office/drawing/2014/main" id="{38722FC3-C5F1-C804-0EC2-A5490E38B0DE}"/>
              </a:ext>
            </a:extLst>
          </p:cNvPr>
          <p:cNvSpPr txBox="1"/>
          <p:nvPr/>
        </p:nvSpPr>
        <p:spPr>
          <a:xfrm>
            <a:off x="2599418" y="303325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209" name="文本框 208">
            <a:extLst>
              <a:ext uri="{FF2B5EF4-FFF2-40B4-BE49-F238E27FC236}">
                <a16:creationId xmlns:a16="http://schemas.microsoft.com/office/drawing/2014/main" id="{C385F7EB-7520-20B0-3DAD-E9F073AD25F8}"/>
              </a:ext>
            </a:extLst>
          </p:cNvPr>
          <p:cNvSpPr txBox="1"/>
          <p:nvPr/>
        </p:nvSpPr>
        <p:spPr>
          <a:xfrm>
            <a:off x="2871052" y="303449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210" name="文本框 209">
            <a:extLst>
              <a:ext uri="{FF2B5EF4-FFF2-40B4-BE49-F238E27FC236}">
                <a16:creationId xmlns:a16="http://schemas.microsoft.com/office/drawing/2014/main" id="{A4A221E6-DA49-A5F6-0089-53BE338EA9F8}"/>
              </a:ext>
            </a:extLst>
          </p:cNvPr>
          <p:cNvSpPr txBox="1"/>
          <p:nvPr/>
        </p:nvSpPr>
        <p:spPr>
          <a:xfrm>
            <a:off x="4749289" y="3773463"/>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11" name="文本框 210">
            <a:extLst>
              <a:ext uri="{FF2B5EF4-FFF2-40B4-BE49-F238E27FC236}">
                <a16:creationId xmlns:a16="http://schemas.microsoft.com/office/drawing/2014/main" id="{D41EC89F-0C4F-4973-D0AD-2F06BB03B1C8}"/>
              </a:ext>
            </a:extLst>
          </p:cNvPr>
          <p:cNvSpPr txBox="1"/>
          <p:nvPr/>
        </p:nvSpPr>
        <p:spPr>
          <a:xfrm>
            <a:off x="5039441" y="377121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212" name="文本框 211">
            <a:extLst>
              <a:ext uri="{FF2B5EF4-FFF2-40B4-BE49-F238E27FC236}">
                <a16:creationId xmlns:a16="http://schemas.microsoft.com/office/drawing/2014/main" id="{505D495B-9343-88BF-5AAA-16018D37F154}"/>
              </a:ext>
            </a:extLst>
          </p:cNvPr>
          <p:cNvSpPr txBox="1"/>
          <p:nvPr/>
        </p:nvSpPr>
        <p:spPr>
          <a:xfrm>
            <a:off x="5311075" y="377245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13" name="文本框 212">
            <a:extLst>
              <a:ext uri="{FF2B5EF4-FFF2-40B4-BE49-F238E27FC236}">
                <a16:creationId xmlns:a16="http://schemas.microsoft.com/office/drawing/2014/main" id="{7F75841F-F1E6-3D26-8EBC-25CC881E4631}"/>
              </a:ext>
            </a:extLst>
          </p:cNvPr>
          <p:cNvSpPr txBox="1"/>
          <p:nvPr/>
        </p:nvSpPr>
        <p:spPr>
          <a:xfrm>
            <a:off x="4749289" y="4050633"/>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14" name="文本框 213">
            <a:extLst>
              <a:ext uri="{FF2B5EF4-FFF2-40B4-BE49-F238E27FC236}">
                <a16:creationId xmlns:a16="http://schemas.microsoft.com/office/drawing/2014/main" id="{5DD4DB43-DF82-D5AC-B001-8967346F4DEF}"/>
              </a:ext>
            </a:extLst>
          </p:cNvPr>
          <p:cNvSpPr txBox="1"/>
          <p:nvPr/>
        </p:nvSpPr>
        <p:spPr>
          <a:xfrm>
            <a:off x="5039441" y="404838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215" name="文本框 214">
            <a:extLst>
              <a:ext uri="{FF2B5EF4-FFF2-40B4-BE49-F238E27FC236}">
                <a16:creationId xmlns:a16="http://schemas.microsoft.com/office/drawing/2014/main" id="{9AD229E7-3CAB-4C9F-FFDE-AFCC0586276B}"/>
              </a:ext>
            </a:extLst>
          </p:cNvPr>
          <p:cNvSpPr txBox="1"/>
          <p:nvPr/>
        </p:nvSpPr>
        <p:spPr>
          <a:xfrm>
            <a:off x="5311075" y="404962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16" name="文本框 215">
            <a:extLst>
              <a:ext uri="{FF2B5EF4-FFF2-40B4-BE49-F238E27FC236}">
                <a16:creationId xmlns:a16="http://schemas.microsoft.com/office/drawing/2014/main" id="{0F536B85-9343-7DEE-7715-1B13E141F847}"/>
              </a:ext>
            </a:extLst>
          </p:cNvPr>
          <p:cNvSpPr txBox="1"/>
          <p:nvPr/>
        </p:nvSpPr>
        <p:spPr>
          <a:xfrm>
            <a:off x="4749289" y="433667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17" name="文本框 216">
            <a:extLst>
              <a:ext uri="{FF2B5EF4-FFF2-40B4-BE49-F238E27FC236}">
                <a16:creationId xmlns:a16="http://schemas.microsoft.com/office/drawing/2014/main" id="{FCBCE913-84F3-2524-1BC4-6EC018D32E74}"/>
              </a:ext>
            </a:extLst>
          </p:cNvPr>
          <p:cNvSpPr txBox="1"/>
          <p:nvPr/>
        </p:nvSpPr>
        <p:spPr>
          <a:xfrm>
            <a:off x="5039441" y="433441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218" name="文本框 217">
            <a:extLst>
              <a:ext uri="{FF2B5EF4-FFF2-40B4-BE49-F238E27FC236}">
                <a16:creationId xmlns:a16="http://schemas.microsoft.com/office/drawing/2014/main" id="{C0AC9490-6CCE-5276-11C6-F6F7C8339C06}"/>
              </a:ext>
            </a:extLst>
          </p:cNvPr>
          <p:cNvSpPr txBox="1"/>
          <p:nvPr/>
        </p:nvSpPr>
        <p:spPr>
          <a:xfrm>
            <a:off x="5311075" y="433565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19" name="文本框 218">
            <a:extLst>
              <a:ext uri="{FF2B5EF4-FFF2-40B4-BE49-F238E27FC236}">
                <a16:creationId xmlns:a16="http://schemas.microsoft.com/office/drawing/2014/main" id="{5B9B599B-7EAF-4988-BFFE-84D5E3DF7E59}"/>
              </a:ext>
            </a:extLst>
          </p:cNvPr>
          <p:cNvSpPr txBox="1"/>
          <p:nvPr/>
        </p:nvSpPr>
        <p:spPr>
          <a:xfrm>
            <a:off x="4781728" y="269808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20" name="文本框 219">
            <a:extLst>
              <a:ext uri="{FF2B5EF4-FFF2-40B4-BE49-F238E27FC236}">
                <a16:creationId xmlns:a16="http://schemas.microsoft.com/office/drawing/2014/main" id="{2C44B4AC-58AA-3825-C876-D5B38F104EBD}"/>
              </a:ext>
            </a:extLst>
          </p:cNvPr>
          <p:cNvSpPr txBox="1"/>
          <p:nvPr/>
        </p:nvSpPr>
        <p:spPr>
          <a:xfrm>
            <a:off x="5054294" y="269583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221" name="文本框 220">
            <a:extLst>
              <a:ext uri="{FF2B5EF4-FFF2-40B4-BE49-F238E27FC236}">
                <a16:creationId xmlns:a16="http://schemas.microsoft.com/office/drawing/2014/main" id="{3D3CE649-9415-3EB4-CE8F-41D721951BA2}"/>
              </a:ext>
            </a:extLst>
          </p:cNvPr>
          <p:cNvSpPr txBox="1"/>
          <p:nvPr/>
        </p:nvSpPr>
        <p:spPr>
          <a:xfrm>
            <a:off x="5279034" y="2697076"/>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22" name="文本框 221">
            <a:extLst>
              <a:ext uri="{FF2B5EF4-FFF2-40B4-BE49-F238E27FC236}">
                <a16:creationId xmlns:a16="http://schemas.microsoft.com/office/drawing/2014/main" id="{ADF7B977-D918-AACE-7AC0-29A745BD0150}"/>
              </a:ext>
            </a:extLst>
          </p:cNvPr>
          <p:cNvSpPr txBox="1"/>
          <p:nvPr/>
        </p:nvSpPr>
        <p:spPr>
          <a:xfrm>
            <a:off x="4746556" y="297525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23" name="文本框 222">
            <a:extLst>
              <a:ext uri="{FF2B5EF4-FFF2-40B4-BE49-F238E27FC236}">
                <a16:creationId xmlns:a16="http://schemas.microsoft.com/office/drawing/2014/main" id="{156EECC1-FB61-92A0-4183-6E9DA27F9861}"/>
              </a:ext>
            </a:extLst>
          </p:cNvPr>
          <p:cNvSpPr txBox="1"/>
          <p:nvPr/>
        </p:nvSpPr>
        <p:spPr>
          <a:xfrm>
            <a:off x="5054294" y="297300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224" name="文本框 223">
            <a:extLst>
              <a:ext uri="{FF2B5EF4-FFF2-40B4-BE49-F238E27FC236}">
                <a16:creationId xmlns:a16="http://schemas.microsoft.com/office/drawing/2014/main" id="{366D6550-86D2-72B7-3333-769079B64B8B}"/>
              </a:ext>
            </a:extLst>
          </p:cNvPr>
          <p:cNvSpPr txBox="1"/>
          <p:nvPr/>
        </p:nvSpPr>
        <p:spPr>
          <a:xfrm>
            <a:off x="5325928" y="297424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25" name="文本框 224">
            <a:extLst>
              <a:ext uri="{FF2B5EF4-FFF2-40B4-BE49-F238E27FC236}">
                <a16:creationId xmlns:a16="http://schemas.microsoft.com/office/drawing/2014/main" id="{D19204B1-C341-4312-0789-B9A5A1FA4621}"/>
              </a:ext>
            </a:extLst>
          </p:cNvPr>
          <p:cNvSpPr txBox="1"/>
          <p:nvPr/>
        </p:nvSpPr>
        <p:spPr>
          <a:xfrm>
            <a:off x="4781728" y="325163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226" name="文本框 225">
            <a:extLst>
              <a:ext uri="{FF2B5EF4-FFF2-40B4-BE49-F238E27FC236}">
                <a16:creationId xmlns:a16="http://schemas.microsoft.com/office/drawing/2014/main" id="{A0BB51A2-3B9D-D946-02A3-6670AFCB596E}"/>
              </a:ext>
            </a:extLst>
          </p:cNvPr>
          <p:cNvSpPr txBox="1"/>
          <p:nvPr/>
        </p:nvSpPr>
        <p:spPr>
          <a:xfrm>
            <a:off x="5054294" y="324938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227" name="文本框 226">
            <a:extLst>
              <a:ext uri="{FF2B5EF4-FFF2-40B4-BE49-F238E27FC236}">
                <a16:creationId xmlns:a16="http://schemas.microsoft.com/office/drawing/2014/main" id="{5034E81D-343A-CEA5-DDAB-8FC4BA237BF3}"/>
              </a:ext>
            </a:extLst>
          </p:cNvPr>
          <p:cNvSpPr txBox="1"/>
          <p:nvPr/>
        </p:nvSpPr>
        <p:spPr>
          <a:xfrm>
            <a:off x="5279034" y="325062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991365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捲積核的大小</a:t>
            </a:r>
          </a:p>
        </p:txBody>
      </p:sp>
      <p:sp>
        <p:nvSpPr>
          <p:cNvPr id="3" name="内容占位符 2"/>
          <p:cNvSpPr>
            <a:spLocks noGrp="1"/>
          </p:cNvSpPr>
          <p:nvPr>
            <p:ph sz="quarter" idx="1"/>
          </p:nvPr>
        </p:nvSpPr>
        <p:spPr/>
        <p:txBody>
          <a:bodyPr/>
          <a:lstStyle/>
          <a:p>
            <a:endParaRPr lang="en-US" altLang="zh-CN" dirty="0"/>
          </a:p>
          <a:p>
            <a:r>
              <a:rPr lang="zh-CN" altLang="en-US" dirty="0"/>
              <a:t>小捲積核：細粒度特徵</a:t>
            </a:r>
            <a:endParaRPr lang="en-US" altLang="zh-CN" dirty="0"/>
          </a:p>
          <a:p>
            <a:r>
              <a:rPr lang="zh-CN" altLang="en-US" dirty="0"/>
              <a:t>大捲積核：大粒度特徵</a:t>
            </a:r>
            <a:endParaRPr lang="en-US" altLang="zh-CN" dirty="0"/>
          </a:p>
          <a:p>
            <a:endParaRPr lang="en-US" altLang="zh-CN" dirty="0"/>
          </a:p>
          <a:p>
            <a:r>
              <a:rPr lang="zh-CN" altLang="en-US" dirty="0"/>
              <a:t>多層小捲積實現大捲積</a:t>
            </a:r>
            <a:endParaRPr lang="en-US" altLang="zh-CN" dirty="0"/>
          </a:p>
          <a:p>
            <a:pPr lvl="1"/>
            <a:r>
              <a:rPr lang="zh-CN" altLang="en-US" dirty="0"/>
              <a:t>兩層</a:t>
            </a:r>
            <a:r>
              <a:rPr lang="en-US" altLang="zh-CN" dirty="0"/>
              <a:t>3×3</a:t>
            </a:r>
            <a:r>
              <a:rPr lang="zh-CN" altLang="en-US" dirty="0"/>
              <a:t>捲積等效一個</a:t>
            </a:r>
            <a:r>
              <a:rPr lang="en-US" altLang="zh-CN" dirty="0"/>
              <a:t>5×5</a:t>
            </a:r>
            <a:r>
              <a:rPr lang="zh-CN" altLang="en-US" dirty="0"/>
              <a:t>的捲積</a:t>
            </a:r>
          </a:p>
        </p:txBody>
      </p:sp>
      <p:pic>
        <p:nvPicPr>
          <p:cNvPr id="4" name="图片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4607" y="1776039"/>
            <a:ext cx="3713508" cy="2851619"/>
          </a:xfrm>
          <a:prstGeom prst="rect">
            <a:avLst/>
          </a:prstGeom>
          <a:noFill/>
        </p:spPr>
      </p:pic>
      <p:grpSp>
        <p:nvGrpSpPr>
          <p:cNvPr id="5" name="组合 4">
            <a:extLst>
              <a:ext uri="{FF2B5EF4-FFF2-40B4-BE49-F238E27FC236}">
                <a16:creationId xmlns:a16="http://schemas.microsoft.com/office/drawing/2014/main" id="{B72EC7FC-EFDE-BA41-0AE8-3CA32480F6B0}"/>
              </a:ext>
            </a:extLst>
          </p:cNvPr>
          <p:cNvGrpSpPr/>
          <p:nvPr/>
        </p:nvGrpSpPr>
        <p:grpSpPr>
          <a:xfrm>
            <a:off x="1225024" y="4534059"/>
            <a:ext cx="1650278" cy="1752282"/>
            <a:chOff x="1489165" y="2002971"/>
            <a:chExt cx="1650278" cy="1752282"/>
          </a:xfrm>
          <a:solidFill>
            <a:schemeClr val="tx1"/>
          </a:solidFill>
        </p:grpSpPr>
        <p:sp>
          <p:nvSpPr>
            <p:cNvPr id="6" name="椭圆 5">
              <a:extLst>
                <a:ext uri="{FF2B5EF4-FFF2-40B4-BE49-F238E27FC236}">
                  <a16:creationId xmlns:a16="http://schemas.microsoft.com/office/drawing/2014/main" id="{883CFAA2-2281-A3C2-802D-8151CAB78CB1}"/>
                </a:ext>
              </a:extLst>
            </p:cNvPr>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 name="椭圆 6">
              <a:extLst>
                <a:ext uri="{FF2B5EF4-FFF2-40B4-BE49-F238E27FC236}">
                  <a16:creationId xmlns:a16="http://schemas.microsoft.com/office/drawing/2014/main" id="{036329B1-3155-E74D-C39D-DC046AE7D3D1}"/>
                </a:ext>
              </a:extLst>
            </p:cNvPr>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 name="椭圆 7">
              <a:extLst>
                <a:ext uri="{FF2B5EF4-FFF2-40B4-BE49-F238E27FC236}">
                  <a16:creationId xmlns:a16="http://schemas.microsoft.com/office/drawing/2014/main" id="{B1AD2A6B-E545-5F8E-930A-DB41EB4F290A}"/>
                </a:ext>
              </a:extLst>
            </p:cNvPr>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 name="椭圆 8">
              <a:extLst>
                <a:ext uri="{FF2B5EF4-FFF2-40B4-BE49-F238E27FC236}">
                  <a16:creationId xmlns:a16="http://schemas.microsoft.com/office/drawing/2014/main" id="{72596901-F949-D153-4699-C8A667AD84E3}"/>
                </a:ext>
              </a:extLst>
            </p:cNvPr>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0" name="椭圆 9">
              <a:extLst>
                <a:ext uri="{FF2B5EF4-FFF2-40B4-BE49-F238E27FC236}">
                  <a16:creationId xmlns:a16="http://schemas.microsoft.com/office/drawing/2014/main" id="{7540993E-2CC1-6BF3-715A-44DA6D01AB40}"/>
                </a:ext>
              </a:extLst>
            </p:cNvPr>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 name="椭圆 10">
              <a:extLst>
                <a:ext uri="{FF2B5EF4-FFF2-40B4-BE49-F238E27FC236}">
                  <a16:creationId xmlns:a16="http://schemas.microsoft.com/office/drawing/2014/main" id="{568605D5-87B3-E907-4A12-463AEC408989}"/>
                </a:ext>
              </a:extLst>
            </p:cNvPr>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 name="椭圆 11">
              <a:extLst>
                <a:ext uri="{FF2B5EF4-FFF2-40B4-BE49-F238E27FC236}">
                  <a16:creationId xmlns:a16="http://schemas.microsoft.com/office/drawing/2014/main" id="{72A2ED03-C935-C07C-C214-7394E7F761A3}"/>
                </a:ext>
              </a:extLst>
            </p:cNvPr>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 name="椭圆 12">
              <a:extLst>
                <a:ext uri="{FF2B5EF4-FFF2-40B4-BE49-F238E27FC236}">
                  <a16:creationId xmlns:a16="http://schemas.microsoft.com/office/drawing/2014/main" id="{3EA9DCAE-BCBB-DCE5-055F-8365B6ABD4E9}"/>
                </a:ext>
              </a:extLst>
            </p:cNvPr>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 name="椭圆 13">
              <a:extLst>
                <a:ext uri="{FF2B5EF4-FFF2-40B4-BE49-F238E27FC236}">
                  <a16:creationId xmlns:a16="http://schemas.microsoft.com/office/drawing/2014/main" id="{C8FF035E-ED56-6FBD-C30E-703DDD7078B3}"/>
                </a:ext>
              </a:extLst>
            </p:cNvPr>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 name="椭圆 14">
              <a:extLst>
                <a:ext uri="{FF2B5EF4-FFF2-40B4-BE49-F238E27FC236}">
                  <a16:creationId xmlns:a16="http://schemas.microsoft.com/office/drawing/2014/main" id="{F24502B0-A06B-5E26-7E80-61AC2D7ECF2E}"/>
                </a:ext>
              </a:extLst>
            </p:cNvPr>
            <p:cNvSpPr/>
            <p:nvPr/>
          </p:nvSpPr>
          <p:spPr>
            <a:xfrm>
              <a:off x="1502226"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 name="椭圆 15">
              <a:extLst>
                <a:ext uri="{FF2B5EF4-FFF2-40B4-BE49-F238E27FC236}">
                  <a16:creationId xmlns:a16="http://schemas.microsoft.com/office/drawing/2014/main" id="{F2A269D6-09CF-61E2-3D5B-7F52DBF461F1}"/>
                </a:ext>
              </a:extLst>
            </p:cNvPr>
            <p:cNvSpPr/>
            <p:nvPr/>
          </p:nvSpPr>
          <p:spPr>
            <a:xfrm>
              <a:off x="1859278"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7" name="椭圆 16">
              <a:extLst>
                <a:ext uri="{FF2B5EF4-FFF2-40B4-BE49-F238E27FC236}">
                  <a16:creationId xmlns:a16="http://schemas.microsoft.com/office/drawing/2014/main" id="{A460FB07-172B-EC7D-8063-7AEBABC95924}"/>
                </a:ext>
              </a:extLst>
            </p:cNvPr>
            <p:cNvSpPr/>
            <p:nvPr/>
          </p:nvSpPr>
          <p:spPr>
            <a:xfrm>
              <a:off x="2216330"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 name="椭圆 17">
              <a:extLst>
                <a:ext uri="{FF2B5EF4-FFF2-40B4-BE49-F238E27FC236}">
                  <a16:creationId xmlns:a16="http://schemas.microsoft.com/office/drawing/2014/main" id="{7F87824B-3A61-2F26-9429-8E14171A37C8}"/>
                </a:ext>
              </a:extLst>
            </p:cNvPr>
            <p:cNvSpPr/>
            <p:nvPr/>
          </p:nvSpPr>
          <p:spPr>
            <a:xfrm>
              <a:off x="1502226"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 name="椭圆 18">
              <a:extLst>
                <a:ext uri="{FF2B5EF4-FFF2-40B4-BE49-F238E27FC236}">
                  <a16:creationId xmlns:a16="http://schemas.microsoft.com/office/drawing/2014/main" id="{FEC96FAA-ECC7-1EBD-88DE-28EC66B62CED}"/>
                </a:ext>
              </a:extLst>
            </p:cNvPr>
            <p:cNvSpPr/>
            <p:nvPr/>
          </p:nvSpPr>
          <p:spPr>
            <a:xfrm>
              <a:off x="1859278"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 name="椭圆 19">
              <a:extLst>
                <a:ext uri="{FF2B5EF4-FFF2-40B4-BE49-F238E27FC236}">
                  <a16:creationId xmlns:a16="http://schemas.microsoft.com/office/drawing/2014/main" id="{2A39EABA-B9A6-8053-B066-44DE1921D3C2}"/>
                </a:ext>
              </a:extLst>
            </p:cNvPr>
            <p:cNvSpPr/>
            <p:nvPr/>
          </p:nvSpPr>
          <p:spPr>
            <a:xfrm>
              <a:off x="2216330"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1" name="椭圆 20">
              <a:extLst>
                <a:ext uri="{FF2B5EF4-FFF2-40B4-BE49-F238E27FC236}">
                  <a16:creationId xmlns:a16="http://schemas.microsoft.com/office/drawing/2014/main" id="{EA6920EA-9652-DCA0-1684-B9AA998BA163}"/>
                </a:ext>
              </a:extLst>
            </p:cNvPr>
            <p:cNvSpPr/>
            <p:nvPr/>
          </p:nvSpPr>
          <p:spPr>
            <a:xfrm>
              <a:off x="2547260"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2" name="椭圆 21">
              <a:extLst>
                <a:ext uri="{FF2B5EF4-FFF2-40B4-BE49-F238E27FC236}">
                  <a16:creationId xmlns:a16="http://schemas.microsoft.com/office/drawing/2014/main" id="{351B46E9-FF54-E399-F310-F4F0A58FD290}"/>
                </a:ext>
              </a:extLst>
            </p:cNvPr>
            <p:cNvSpPr/>
            <p:nvPr/>
          </p:nvSpPr>
          <p:spPr>
            <a:xfrm>
              <a:off x="2551614"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3" name="椭圆 22">
              <a:extLst>
                <a:ext uri="{FF2B5EF4-FFF2-40B4-BE49-F238E27FC236}">
                  <a16:creationId xmlns:a16="http://schemas.microsoft.com/office/drawing/2014/main" id="{C5DA3998-D74A-F4ED-7AC4-323C038B13C7}"/>
                </a:ext>
              </a:extLst>
            </p:cNvPr>
            <p:cNvSpPr/>
            <p:nvPr/>
          </p:nvSpPr>
          <p:spPr>
            <a:xfrm>
              <a:off x="2547260"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4" name="椭圆 23">
              <a:extLst>
                <a:ext uri="{FF2B5EF4-FFF2-40B4-BE49-F238E27FC236}">
                  <a16:creationId xmlns:a16="http://schemas.microsoft.com/office/drawing/2014/main" id="{CB350EA5-AB2F-669A-4F9A-013CD056B12A}"/>
                </a:ext>
              </a:extLst>
            </p:cNvPr>
            <p:cNvSpPr/>
            <p:nvPr/>
          </p:nvSpPr>
          <p:spPr>
            <a:xfrm>
              <a:off x="2560321"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5" name="椭圆 24">
              <a:extLst>
                <a:ext uri="{FF2B5EF4-FFF2-40B4-BE49-F238E27FC236}">
                  <a16:creationId xmlns:a16="http://schemas.microsoft.com/office/drawing/2014/main" id="{21ED1034-B48D-C717-BF9F-825642AF50ED}"/>
                </a:ext>
              </a:extLst>
            </p:cNvPr>
            <p:cNvSpPr/>
            <p:nvPr/>
          </p:nvSpPr>
          <p:spPr>
            <a:xfrm>
              <a:off x="2560321"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6" name="椭圆 25">
              <a:extLst>
                <a:ext uri="{FF2B5EF4-FFF2-40B4-BE49-F238E27FC236}">
                  <a16:creationId xmlns:a16="http://schemas.microsoft.com/office/drawing/2014/main" id="{D637561F-C574-43BA-E88C-3A53E5C867FE}"/>
                </a:ext>
              </a:extLst>
            </p:cNvPr>
            <p:cNvSpPr/>
            <p:nvPr/>
          </p:nvSpPr>
          <p:spPr>
            <a:xfrm>
              <a:off x="2891251"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7" name="椭圆 26">
              <a:extLst>
                <a:ext uri="{FF2B5EF4-FFF2-40B4-BE49-F238E27FC236}">
                  <a16:creationId xmlns:a16="http://schemas.microsoft.com/office/drawing/2014/main" id="{E65EB3BF-3EEC-6D8F-4DE3-2DA54E28C29E}"/>
                </a:ext>
              </a:extLst>
            </p:cNvPr>
            <p:cNvSpPr/>
            <p:nvPr/>
          </p:nvSpPr>
          <p:spPr>
            <a:xfrm>
              <a:off x="2895605"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8" name="椭圆 27">
              <a:extLst>
                <a:ext uri="{FF2B5EF4-FFF2-40B4-BE49-F238E27FC236}">
                  <a16:creationId xmlns:a16="http://schemas.microsoft.com/office/drawing/2014/main" id="{0D928544-4290-3AC7-FA4D-A9A5770F5708}"/>
                </a:ext>
              </a:extLst>
            </p:cNvPr>
            <p:cNvSpPr/>
            <p:nvPr/>
          </p:nvSpPr>
          <p:spPr>
            <a:xfrm>
              <a:off x="2891251"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9" name="椭圆 28">
              <a:extLst>
                <a:ext uri="{FF2B5EF4-FFF2-40B4-BE49-F238E27FC236}">
                  <a16:creationId xmlns:a16="http://schemas.microsoft.com/office/drawing/2014/main" id="{63F1F978-3C9E-0C6F-4E43-CD32A40A2B7A}"/>
                </a:ext>
              </a:extLst>
            </p:cNvPr>
            <p:cNvSpPr/>
            <p:nvPr/>
          </p:nvSpPr>
          <p:spPr>
            <a:xfrm>
              <a:off x="2904312"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0" name="椭圆 29">
              <a:extLst>
                <a:ext uri="{FF2B5EF4-FFF2-40B4-BE49-F238E27FC236}">
                  <a16:creationId xmlns:a16="http://schemas.microsoft.com/office/drawing/2014/main" id="{1F0C1D38-5110-98A6-A8AD-5AE216881952}"/>
                </a:ext>
              </a:extLst>
            </p:cNvPr>
            <p:cNvSpPr/>
            <p:nvPr/>
          </p:nvSpPr>
          <p:spPr>
            <a:xfrm>
              <a:off x="2904312"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58" name="组合 57">
            <a:extLst>
              <a:ext uri="{FF2B5EF4-FFF2-40B4-BE49-F238E27FC236}">
                <a16:creationId xmlns:a16="http://schemas.microsoft.com/office/drawing/2014/main" id="{336695CA-90DF-0063-CC83-299A718B1660}"/>
              </a:ext>
            </a:extLst>
          </p:cNvPr>
          <p:cNvGrpSpPr/>
          <p:nvPr/>
        </p:nvGrpSpPr>
        <p:grpSpPr>
          <a:xfrm>
            <a:off x="3509749" y="4903970"/>
            <a:ext cx="949235" cy="1036320"/>
            <a:chOff x="3181936" y="4925944"/>
            <a:chExt cx="949235" cy="1036320"/>
          </a:xfrm>
        </p:grpSpPr>
        <p:sp>
          <p:nvSpPr>
            <p:cNvPr id="36" name="椭圆 35">
              <a:extLst>
                <a:ext uri="{FF2B5EF4-FFF2-40B4-BE49-F238E27FC236}">
                  <a16:creationId xmlns:a16="http://schemas.microsoft.com/office/drawing/2014/main" id="{F8FAB83A-6E1A-A938-084F-38CB0BD0E2A5}"/>
                </a:ext>
              </a:extLst>
            </p:cNvPr>
            <p:cNvSpPr/>
            <p:nvPr/>
          </p:nvSpPr>
          <p:spPr>
            <a:xfrm>
              <a:off x="3186290" y="4925944"/>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7" name="椭圆 36">
              <a:extLst>
                <a:ext uri="{FF2B5EF4-FFF2-40B4-BE49-F238E27FC236}">
                  <a16:creationId xmlns:a16="http://schemas.microsoft.com/office/drawing/2014/main" id="{25FE4F9C-9FC0-4B7A-7CD9-11F62B434044}"/>
                </a:ext>
              </a:extLst>
            </p:cNvPr>
            <p:cNvSpPr/>
            <p:nvPr/>
          </p:nvSpPr>
          <p:spPr>
            <a:xfrm>
              <a:off x="3543342" y="4925944"/>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39" name="椭圆 38">
              <a:extLst>
                <a:ext uri="{FF2B5EF4-FFF2-40B4-BE49-F238E27FC236}">
                  <a16:creationId xmlns:a16="http://schemas.microsoft.com/office/drawing/2014/main" id="{E7716753-61FE-B485-C45F-A35AE04749AD}"/>
                </a:ext>
              </a:extLst>
            </p:cNvPr>
            <p:cNvSpPr/>
            <p:nvPr/>
          </p:nvSpPr>
          <p:spPr>
            <a:xfrm>
              <a:off x="3181936" y="5309121"/>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0" name="椭圆 39">
              <a:extLst>
                <a:ext uri="{FF2B5EF4-FFF2-40B4-BE49-F238E27FC236}">
                  <a16:creationId xmlns:a16="http://schemas.microsoft.com/office/drawing/2014/main" id="{E0666CC5-6D68-00D9-5D85-3A42FD52514E}"/>
                </a:ext>
              </a:extLst>
            </p:cNvPr>
            <p:cNvSpPr/>
            <p:nvPr/>
          </p:nvSpPr>
          <p:spPr>
            <a:xfrm>
              <a:off x="3538988" y="5309121"/>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 name="椭圆 41">
              <a:extLst>
                <a:ext uri="{FF2B5EF4-FFF2-40B4-BE49-F238E27FC236}">
                  <a16:creationId xmlns:a16="http://schemas.microsoft.com/office/drawing/2014/main" id="{D4CED921-4242-EC8D-9964-DE65EE58501D}"/>
                </a:ext>
              </a:extLst>
            </p:cNvPr>
            <p:cNvSpPr/>
            <p:nvPr/>
          </p:nvSpPr>
          <p:spPr>
            <a:xfrm>
              <a:off x="3194997" y="5692298"/>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 name="椭圆 42">
              <a:extLst>
                <a:ext uri="{FF2B5EF4-FFF2-40B4-BE49-F238E27FC236}">
                  <a16:creationId xmlns:a16="http://schemas.microsoft.com/office/drawing/2014/main" id="{2063C11C-8B12-4B86-AE2E-74346C29DBE5}"/>
                </a:ext>
              </a:extLst>
            </p:cNvPr>
            <p:cNvSpPr/>
            <p:nvPr/>
          </p:nvSpPr>
          <p:spPr>
            <a:xfrm>
              <a:off x="3552049" y="5692298"/>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 name="椭圆 47">
              <a:extLst>
                <a:ext uri="{FF2B5EF4-FFF2-40B4-BE49-F238E27FC236}">
                  <a16:creationId xmlns:a16="http://schemas.microsoft.com/office/drawing/2014/main" id="{A7008504-D426-865A-3EAE-5A259C8753B7}"/>
                </a:ext>
              </a:extLst>
            </p:cNvPr>
            <p:cNvSpPr/>
            <p:nvPr/>
          </p:nvSpPr>
          <p:spPr>
            <a:xfrm>
              <a:off x="3887333" y="4934652"/>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9" name="椭圆 48">
              <a:extLst>
                <a:ext uri="{FF2B5EF4-FFF2-40B4-BE49-F238E27FC236}">
                  <a16:creationId xmlns:a16="http://schemas.microsoft.com/office/drawing/2014/main" id="{45009C56-895F-F1A8-79EF-E5DD279941EC}"/>
                </a:ext>
              </a:extLst>
            </p:cNvPr>
            <p:cNvSpPr/>
            <p:nvPr/>
          </p:nvSpPr>
          <p:spPr>
            <a:xfrm>
              <a:off x="3882979" y="5317829"/>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 name="椭圆 49">
              <a:extLst>
                <a:ext uri="{FF2B5EF4-FFF2-40B4-BE49-F238E27FC236}">
                  <a16:creationId xmlns:a16="http://schemas.microsoft.com/office/drawing/2014/main" id="{5585B71C-255D-166C-F41F-844DC4EBDB0A}"/>
                </a:ext>
              </a:extLst>
            </p:cNvPr>
            <p:cNvSpPr/>
            <p:nvPr/>
          </p:nvSpPr>
          <p:spPr>
            <a:xfrm>
              <a:off x="3896040" y="5701006"/>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sp>
        <p:nvSpPr>
          <p:cNvPr id="57" name="椭圆 56">
            <a:extLst>
              <a:ext uri="{FF2B5EF4-FFF2-40B4-BE49-F238E27FC236}">
                <a16:creationId xmlns:a16="http://schemas.microsoft.com/office/drawing/2014/main" id="{C05AC042-889F-5327-770D-2B48A847A769}"/>
              </a:ext>
            </a:extLst>
          </p:cNvPr>
          <p:cNvSpPr/>
          <p:nvPr/>
        </p:nvSpPr>
        <p:spPr>
          <a:xfrm>
            <a:off x="5294768" y="5297893"/>
            <a:ext cx="235131" cy="26125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nvGrpSpPr>
          <p:cNvPr id="59" name="组合 58">
            <a:extLst>
              <a:ext uri="{FF2B5EF4-FFF2-40B4-BE49-F238E27FC236}">
                <a16:creationId xmlns:a16="http://schemas.microsoft.com/office/drawing/2014/main" id="{86A371ED-63CA-4596-BEEB-E3B70D9E7178}"/>
              </a:ext>
            </a:extLst>
          </p:cNvPr>
          <p:cNvGrpSpPr/>
          <p:nvPr/>
        </p:nvGrpSpPr>
        <p:grpSpPr>
          <a:xfrm>
            <a:off x="1182315" y="4444364"/>
            <a:ext cx="949235" cy="1036320"/>
            <a:chOff x="3181936" y="4925944"/>
            <a:chExt cx="949235" cy="1036320"/>
          </a:xfrm>
          <a:solidFill>
            <a:srgbClr val="92D050"/>
          </a:solidFill>
        </p:grpSpPr>
        <p:sp>
          <p:nvSpPr>
            <p:cNvPr id="60" name="椭圆 59">
              <a:extLst>
                <a:ext uri="{FF2B5EF4-FFF2-40B4-BE49-F238E27FC236}">
                  <a16:creationId xmlns:a16="http://schemas.microsoft.com/office/drawing/2014/main" id="{0BA04B6C-AF5F-EB4C-97C0-C859F59542C1}"/>
                </a:ext>
              </a:extLst>
            </p:cNvPr>
            <p:cNvSpPr/>
            <p:nvPr/>
          </p:nvSpPr>
          <p:spPr>
            <a:xfrm>
              <a:off x="3186290" y="4925944"/>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1" name="椭圆 60">
              <a:extLst>
                <a:ext uri="{FF2B5EF4-FFF2-40B4-BE49-F238E27FC236}">
                  <a16:creationId xmlns:a16="http://schemas.microsoft.com/office/drawing/2014/main" id="{298C90E9-DAED-B9D7-807E-0BFEAF9451DB}"/>
                </a:ext>
              </a:extLst>
            </p:cNvPr>
            <p:cNvSpPr/>
            <p:nvPr/>
          </p:nvSpPr>
          <p:spPr>
            <a:xfrm>
              <a:off x="3543342" y="4925944"/>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2" name="椭圆 61">
              <a:extLst>
                <a:ext uri="{FF2B5EF4-FFF2-40B4-BE49-F238E27FC236}">
                  <a16:creationId xmlns:a16="http://schemas.microsoft.com/office/drawing/2014/main" id="{6DDADAFB-F296-BD6E-75A2-72C0D724AB67}"/>
                </a:ext>
              </a:extLst>
            </p:cNvPr>
            <p:cNvSpPr/>
            <p:nvPr/>
          </p:nvSpPr>
          <p:spPr>
            <a:xfrm>
              <a:off x="3181936" y="530912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3" name="椭圆 62">
              <a:extLst>
                <a:ext uri="{FF2B5EF4-FFF2-40B4-BE49-F238E27FC236}">
                  <a16:creationId xmlns:a16="http://schemas.microsoft.com/office/drawing/2014/main" id="{7EF8451E-13CC-6880-2B77-2D22AEC16AFB}"/>
                </a:ext>
              </a:extLst>
            </p:cNvPr>
            <p:cNvSpPr/>
            <p:nvPr/>
          </p:nvSpPr>
          <p:spPr>
            <a:xfrm>
              <a:off x="3538988" y="530912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4" name="椭圆 63">
              <a:extLst>
                <a:ext uri="{FF2B5EF4-FFF2-40B4-BE49-F238E27FC236}">
                  <a16:creationId xmlns:a16="http://schemas.microsoft.com/office/drawing/2014/main" id="{1D50D43E-7E1A-F5E2-AD61-439BD1E79ED9}"/>
                </a:ext>
              </a:extLst>
            </p:cNvPr>
            <p:cNvSpPr/>
            <p:nvPr/>
          </p:nvSpPr>
          <p:spPr>
            <a:xfrm>
              <a:off x="3194997" y="569229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5" name="椭圆 64">
              <a:extLst>
                <a:ext uri="{FF2B5EF4-FFF2-40B4-BE49-F238E27FC236}">
                  <a16:creationId xmlns:a16="http://schemas.microsoft.com/office/drawing/2014/main" id="{BA84A62D-5F89-5543-091F-4FDE9574BA9B}"/>
                </a:ext>
              </a:extLst>
            </p:cNvPr>
            <p:cNvSpPr/>
            <p:nvPr/>
          </p:nvSpPr>
          <p:spPr>
            <a:xfrm>
              <a:off x="3552049" y="569229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6" name="椭圆 65">
              <a:extLst>
                <a:ext uri="{FF2B5EF4-FFF2-40B4-BE49-F238E27FC236}">
                  <a16:creationId xmlns:a16="http://schemas.microsoft.com/office/drawing/2014/main" id="{F8CC33CD-9724-FD0D-1147-E2CE840B7F90}"/>
                </a:ext>
              </a:extLst>
            </p:cNvPr>
            <p:cNvSpPr/>
            <p:nvPr/>
          </p:nvSpPr>
          <p:spPr>
            <a:xfrm>
              <a:off x="3887333" y="493465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7" name="椭圆 66">
              <a:extLst>
                <a:ext uri="{FF2B5EF4-FFF2-40B4-BE49-F238E27FC236}">
                  <a16:creationId xmlns:a16="http://schemas.microsoft.com/office/drawing/2014/main" id="{B0AC32F0-8C6D-DD94-4929-847AFAB702C1}"/>
                </a:ext>
              </a:extLst>
            </p:cNvPr>
            <p:cNvSpPr/>
            <p:nvPr/>
          </p:nvSpPr>
          <p:spPr>
            <a:xfrm>
              <a:off x="3882979" y="531782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68" name="椭圆 67">
              <a:extLst>
                <a:ext uri="{FF2B5EF4-FFF2-40B4-BE49-F238E27FC236}">
                  <a16:creationId xmlns:a16="http://schemas.microsoft.com/office/drawing/2014/main" id="{FE146EBC-1C85-9ACE-9F4B-48D21D9585B4}"/>
                </a:ext>
              </a:extLst>
            </p:cNvPr>
            <p:cNvSpPr/>
            <p:nvPr/>
          </p:nvSpPr>
          <p:spPr>
            <a:xfrm>
              <a:off x="3896040" y="570100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69" name="组合 68">
            <a:extLst>
              <a:ext uri="{FF2B5EF4-FFF2-40B4-BE49-F238E27FC236}">
                <a16:creationId xmlns:a16="http://schemas.microsoft.com/office/drawing/2014/main" id="{2B6095AD-0ED3-2DBA-75E7-97BCC142BC28}"/>
              </a:ext>
            </a:extLst>
          </p:cNvPr>
          <p:cNvGrpSpPr/>
          <p:nvPr/>
        </p:nvGrpSpPr>
        <p:grpSpPr>
          <a:xfrm>
            <a:off x="3438422" y="4804318"/>
            <a:ext cx="949235" cy="1036320"/>
            <a:chOff x="3181936" y="4925944"/>
            <a:chExt cx="949235" cy="1036320"/>
          </a:xfrm>
          <a:solidFill>
            <a:srgbClr val="FF0000"/>
          </a:solidFill>
        </p:grpSpPr>
        <p:sp>
          <p:nvSpPr>
            <p:cNvPr id="70" name="椭圆 69">
              <a:extLst>
                <a:ext uri="{FF2B5EF4-FFF2-40B4-BE49-F238E27FC236}">
                  <a16:creationId xmlns:a16="http://schemas.microsoft.com/office/drawing/2014/main" id="{ED614850-3045-422E-F127-1771D9EF3E47}"/>
                </a:ext>
              </a:extLst>
            </p:cNvPr>
            <p:cNvSpPr/>
            <p:nvPr/>
          </p:nvSpPr>
          <p:spPr>
            <a:xfrm>
              <a:off x="3186290" y="4925944"/>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1" name="椭圆 70">
              <a:extLst>
                <a:ext uri="{FF2B5EF4-FFF2-40B4-BE49-F238E27FC236}">
                  <a16:creationId xmlns:a16="http://schemas.microsoft.com/office/drawing/2014/main" id="{D6297EE9-4B8A-87BA-9E37-2FC41ADB54E1}"/>
                </a:ext>
              </a:extLst>
            </p:cNvPr>
            <p:cNvSpPr/>
            <p:nvPr/>
          </p:nvSpPr>
          <p:spPr>
            <a:xfrm>
              <a:off x="3543342" y="4925944"/>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2" name="椭圆 71">
              <a:extLst>
                <a:ext uri="{FF2B5EF4-FFF2-40B4-BE49-F238E27FC236}">
                  <a16:creationId xmlns:a16="http://schemas.microsoft.com/office/drawing/2014/main" id="{9050096A-10A8-4C90-B1A6-387570AA57C8}"/>
                </a:ext>
              </a:extLst>
            </p:cNvPr>
            <p:cNvSpPr/>
            <p:nvPr/>
          </p:nvSpPr>
          <p:spPr>
            <a:xfrm>
              <a:off x="3181936" y="530912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3" name="椭圆 72">
              <a:extLst>
                <a:ext uri="{FF2B5EF4-FFF2-40B4-BE49-F238E27FC236}">
                  <a16:creationId xmlns:a16="http://schemas.microsoft.com/office/drawing/2014/main" id="{B721ECC1-D46E-78AB-23F6-ED4F00535900}"/>
                </a:ext>
              </a:extLst>
            </p:cNvPr>
            <p:cNvSpPr/>
            <p:nvPr/>
          </p:nvSpPr>
          <p:spPr>
            <a:xfrm>
              <a:off x="3538988" y="530912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4" name="椭圆 73">
              <a:extLst>
                <a:ext uri="{FF2B5EF4-FFF2-40B4-BE49-F238E27FC236}">
                  <a16:creationId xmlns:a16="http://schemas.microsoft.com/office/drawing/2014/main" id="{74DC2C9E-A9E8-9567-5A16-769E9D4BE720}"/>
                </a:ext>
              </a:extLst>
            </p:cNvPr>
            <p:cNvSpPr/>
            <p:nvPr/>
          </p:nvSpPr>
          <p:spPr>
            <a:xfrm>
              <a:off x="3194997" y="569229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5" name="椭圆 74">
              <a:extLst>
                <a:ext uri="{FF2B5EF4-FFF2-40B4-BE49-F238E27FC236}">
                  <a16:creationId xmlns:a16="http://schemas.microsoft.com/office/drawing/2014/main" id="{CC6853E7-6B52-8AFB-C071-91460614B504}"/>
                </a:ext>
              </a:extLst>
            </p:cNvPr>
            <p:cNvSpPr/>
            <p:nvPr/>
          </p:nvSpPr>
          <p:spPr>
            <a:xfrm>
              <a:off x="3552049" y="569229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6" name="椭圆 75">
              <a:extLst>
                <a:ext uri="{FF2B5EF4-FFF2-40B4-BE49-F238E27FC236}">
                  <a16:creationId xmlns:a16="http://schemas.microsoft.com/office/drawing/2014/main" id="{944902DC-485E-2AF9-3953-06BD454BCB4D}"/>
                </a:ext>
              </a:extLst>
            </p:cNvPr>
            <p:cNvSpPr/>
            <p:nvPr/>
          </p:nvSpPr>
          <p:spPr>
            <a:xfrm>
              <a:off x="3887333" y="493465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7" name="椭圆 76">
              <a:extLst>
                <a:ext uri="{FF2B5EF4-FFF2-40B4-BE49-F238E27FC236}">
                  <a16:creationId xmlns:a16="http://schemas.microsoft.com/office/drawing/2014/main" id="{3E3699C2-EA20-C792-4B70-A0D31D4EF5A9}"/>
                </a:ext>
              </a:extLst>
            </p:cNvPr>
            <p:cNvSpPr/>
            <p:nvPr/>
          </p:nvSpPr>
          <p:spPr>
            <a:xfrm>
              <a:off x="3882979" y="531782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8" name="椭圆 77">
              <a:extLst>
                <a:ext uri="{FF2B5EF4-FFF2-40B4-BE49-F238E27FC236}">
                  <a16:creationId xmlns:a16="http://schemas.microsoft.com/office/drawing/2014/main" id="{16802705-86C8-FF7C-50EB-91A539FC4146}"/>
                </a:ext>
              </a:extLst>
            </p:cNvPr>
            <p:cNvSpPr/>
            <p:nvPr/>
          </p:nvSpPr>
          <p:spPr>
            <a:xfrm>
              <a:off x="3896040" y="570100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grpSp>
      <p:sp>
        <p:nvSpPr>
          <p:cNvPr id="79" name="右箭头 78">
            <a:extLst>
              <a:ext uri="{FF2B5EF4-FFF2-40B4-BE49-F238E27FC236}">
                <a16:creationId xmlns:a16="http://schemas.microsoft.com/office/drawing/2014/main" id="{1D4A27FC-5700-3779-790A-662BEECA70AB}"/>
              </a:ext>
            </a:extLst>
          </p:cNvPr>
          <p:cNvSpPr/>
          <p:nvPr/>
        </p:nvSpPr>
        <p:spPr>
          <a:xfrm>
            <a:off x="3072809" y="5287147"/>
            <a:ext cx="223284" cy="261258"/>
          </a:xfrm>
          <a:prstGeom prst="rightArrow">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80" name="右箭头 79">
            <a:extLst>
              <a:ext uri="{FF2B5EF4-FFF2-40B4-BE49-F238E27FC236}">
                <a16:creationId xmlns:a16="http://schemas.microsoft.com/office/drawing/2014/main" id="{14A02A74-FEC7-FFA7-E156-B23BFADA4ABC}"/>
              </a:ext>
            </a:extLst>
          </p:cNvPr>
          <p:cNvSpPr/>
          <p:nvPr/>
        </p:nvSpPr>
        <p:spPr>
          <a:xfrm>
            <a:off x="4757079" y="5310533"/>
            <a:ext cx="223284" cy="261258"/>
          </a:xfrm>
          <a:prstGeom prst="rightArrow">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762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79" grpId="0" animBg="1"/>
      <p:bldP spid="8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設捲積網路的輸入為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7*7*3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，捲積核為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，權值如下圖紅色所示，啟動函數為</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ReLU</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，則左上角的輸出為</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圆角矩形 5"/>
          <p:cNvSpPr/>
          <p:nvPr>
            <p:custDataLst>
              <p:tags r:id="rId3"/>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chorCtr="1">
            <a:noAutofit/>
          </a:bodyPr>
          <a:lstStyle/>
          <a:p>
            <a:pPr algn="ctr"/>
            <a:r>
              <a:rPr lang="zh-CN" altLang="en-US" sz="1600" dirty="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作答</a:t>
            </a:r>
          </a:p>
        </p:txBody>
      </p:sp>
      <p:sp>
        <p:nvSpPr>
          <p:cNvPr id="12" name="矩形 11"/>
          <p:cNvSpPr/>
          <p:nvPr>
            <p:custDataLst>
              <p:tags r:id="rId4"/>
            </p:custDataLst>
          </p:nvPr>
        </p:nvSpPr>
        <p:spPr>
          <a:xfrm>
            <a:off x="1524000" y="5849303"/>
            <a:ext cx="9144000" cy="365760"/>
          </a:xfrm>
          <a:prstGeom prst="rect">
            <a:avLst/>
          </a:prstGeom>
          <a:solidFill>
            <a:srgbClr val="FBFAEF"/>
          </a:solidFill>
          <a:ln w="38100" cap="flat" cmpd="sng" algn="ctr">
            <a:noFill/>
            <a:prstDash val="solid"/>
          </a:ln>
          <a:effectLst/>
          <a:extLst>
            <a:ext uri="{91240B29-F687-4F45-9708-019B960494DF}">
              <a14:hiddenLine xmlns:a14="http://schemas.microsoft.com/office/drawing/2010/main" w="381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36000" rIns="36000" rtlCol="0" anchor="ctr" anchorCtr="1">
            <a:noAutofit/>
          </a:bodyPr>
          <a:lstStyle/>
          <a:p>
            <a:r>
              <a:rPr lang="zh-CN" altLang="en-US" sz="1200" dirty="0">
                <a:solidFill>
                  <a:srgbClr val="F84F41"/>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正常使用填空題需</a:t>
            </a:r>
            <a:r>
              <a:rPr lang="en-US" altLang="zh-CN" sz="1200" dirty="0">
                <a:solidFill>
                  <a:srgbClr val="F84F41"/>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3.0</a:t>
            </a:r>
            <a:r>
              <a:rPr lang="zh-CN" altLang="en-US" sz="1200" dirty="0">
                <a:solidFill>
                  <a:srgbClr val="F84F41"/>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以上版本雨課堂</a:t>
            </a:r>
          </a:p>
        </p:txBody>
      </p:sp>
      <p:grpSp>
        <p:nvGrpSpPr>
          <p:cNvPr id="15" name="组合 14"/>
          <p:cNvGrpSpPr/>
          <p:nvPr/>
        </p:nvGrpSpPr>
        <p:grpSpPr>
          <a:xfrm>
            <a:off x="5111937" y="2149434"/>
            <a:ext cx="4746171" cy="3874040"/>
            <a:chOff x="914400" y="1290143"/>
            <a:chExt cx="6200158" cy="5246891"/>
          </a:xfrm>
        </p:grpSpPr>
        <p:pic>
          <p:nvPicPr>
            <p:cNvPr id="16" name="图片 15"/>
            <p:cNvPicPr>
              <a:picLocks noChangeAspect="1"/>
            </p:cNvPicPr>
            <p:nvPr/>
          </p:nvPicPr>
          <p:blipFill>
            <a:blip r:embed="rId12"/>
            <a:stretch>
              <a:fillRect/>
            </a:stretch>
          </p:blipFill>
          <p:spPr>
            <a:xfrm>
              <a:off x="4763554" y="1697267"/>
              <a:ext cx="731583" cy="676715"/>
            </a:xfrm>
            <a:prstGeom prst="rect">
              <a:avLst/>
            </a:prstGeom>
          </p:spPr>
        </p:pic>
        <p:pic>
          <p:nvPicPr>
            <p:cNvPr id="17" name="图片 1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14400" y="1290143"/>
              <a:ext cx="3596306" cy="5246891"/>
            </a:xfrm>
            <a:prstGeom prst="rect">
              <a:avLst/>
            </a:prstGeom>
          </p:spPr>
        </p:pic>
        <p:cxnSp>
          <p:nvCxnSpPr>
            <p:cNvPr id="18" name="直接连接符 17"/>
            <p:cNvCxnSpPr/>
            <p:nvPr/>
          </p:nvCxnSpPr>
          <p:spPr>
            <a:xfrm>
              <a:off x="3840480" y="1689459"/>
              <a:ext cx="1001486" cy="957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3840480" y="1785257"/>
              <a:ext cx="1001486" cy="5573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3848852" y="1785256"/>
              <a:ext cx="993114" cy="22608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3848852" y="1785255"/>
              <a:ext cx="993114" cy="16199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3849191" y="1785254"/>
              <a:ext cx="992775" cy="7489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3848852" y="1785253"/>
              <a:ext cx="993114" cy="14283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5512518" y="1872499"/>
              <a:ext cx="1602040" cy="375160"/>
            </a:xfrm>
            <a:prstGeom prst="rect">
              <a:avLst/>
            </a:prstGeom>
            <a:noFill/>
          </p:spPr>
          <p:txBody>
            <a:bodyPr wrap="square" rtlCol="0">
              <a:spAutoFit/>
            </a:bodyPr>
            <a:lstStyle/>
            <a:p>
              <a:r>
                <a:rPr lang="en-US" altLang="zh-CN" sz="1200" dirty="0">
                  <a:solidFill>
                    <a:prstClr val="black"/>
                  </a:solidFill>
                  <a:latin typeface="Perpetua"/>
                  <a:ea typeface="宋体" panose="02010600030101010101" pitchFamily="2" charset="-122"/>
                </a:rPr>
                <a:t>Output Volume</a:t>
              </a:r>
              <a:endParaRPr lang="zh-CN" altLang="en-US" sz="1200" dirty="0">
                <a:solidFill>
                  <a:prstClr val="black"/>
                </a:solidFill>
                <a:latin typeface="Perpetua"/>
                <a:ea typeface="宋体" panose="02010600030101010101" pitchFamily="2" charset="-122"/>
              </a:endParaRPr>
            </a:p>
          </p:txBody>
        </p:sp>
      </p:grpSp>
      <p:grpSp>
        <p:nvGrpSpPr>
          <p:cNvPr id="11" name="组合 10"/>
          <p:cNvGrpSpPr/>
          <p:nvPr>
            <p:custDataLst>
              <p:tags r:id="rId5"/>
            </p:custDataLst>
          </p:nvPr>
        </p:nvGrpSpPr>
        <p:grpSpPr>
          <a:xfrm>
            <a:off x="0" y="0"/>
            <a:ext cx="9144000" cy="635000"/>
            <a:chOff x="-1524000" y="0"/>
            <a:chExt cx="9144000" cy="635000"/>
          </a:xfrm>
        </p:grpSpPr>
        <p:sp>
          <p:nvSpPr>
            <p:cNvPr id="7" name="TitleBackground"/>
            <p:cNvSpPr/>
            <p:nvPr>
              <p:custDataLst>
                <p:tags r:id="rId7"/>
              </p:custDataLst>
            </p:nvPr>
          </p:nvSpPr>
          <p:spPr>
            <a:xfrm>
              <a:off x="-1524000" y="0"/>
              <a:ext cx="9144000" cy="635000"/>
            </a:xfrm>
            <a:prstGeom prst="rect">
              <a:avLst/>
            </a:prstGeom>
            <a:solidFill>
              <a:srgbClr val="F6F7F8"/>
            </a:solidFill>
            <a:ln w="38100" cap="flat" cmpd="sng" algn="ctr">
              <a:noFill/>
              <a:prstDash val="solid"/>
            </a:ln>
            <a:effectLst/>
            <a:extLst>
              <a:ext uri="{91240B29-F687-4F45-9708-019B960494DF}">
                <a14:hiddenLine xmlns:a14="http://schemas.microsoft.com/office/drawing/2010/main" w="381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ColorBlock"/>
            <p:cNvSpPr/>
            <p:nvPr>
              <p:custDataLst>
                <p:tags r:id="rId8"/>
              </p:custDataLst>
            </p:nvPr>
          </p:nvSpPr>
          <p:spPr>
            <a:xfrm>
              <a:off x="-1524000" y="0"/>
              <a:ext cx="190500" cy="635000"/>
            </a:xfrm>
            <a:prstGeom prst="rect">
              <a:avLst/>
            </a:prstGeom>
            <a:solidFill>
              <a:srgbClr val="639EF4"/>
            </a:solidFill>
            <a:ln w="38100" cap="flat" cmpd="sng" algn="ctr">
              <a:noFill/>
              <a:prstDash val="solid"/>
            </a:ln>
            <a:effectLst/>
            <a:extLst>
              <a:ext uri="{91240B29-F687-4F45-9708-019B960494DF}">
                <a14:hiddenLine xmlns:a14="http://schemas.microsoft.com/office/drawing/2010/main" w="381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TypeText"/>
            <p:cNvSpPr txBox="1"/>
            <p:nvPr>
              <p:custDataLst>
                <p:tags r:id="rId9"/>
              </p:custDataLst>
            </p:nvPr>
          </p:nvSpPr>
          <p:spPr>
            <a:xfrm>
              <a:off x="-1270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填空題</a:t>
              </a:r>
            </a:p>
          </p:txBody>
        </p:sp>
        <p:sp>
          <p:nvSpPr>
            <p:cNvPr id="10" name="TipText"/>
            <p:cNvSpPr txBox="1"/>
            <p:nvPr>
              <p:custDataLst>
                <p:tags r:id="rId10"/>
              </p:custDataLst>
            </p:nvPr>
          </p:nvSpPr>
          <p:spPr>
            <a:xfrm>
              <a:off x="1905"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9864196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池化 </a:t>
            </a:r>
            <a:r>
              <a:rPr lang="en-US" altLang="zh-CN" dirty="0"/>
              <a:t>(pooling)</a:t>
            </a:r>
            <a:endParaRPr lang="zh-CN" altLang="en-US" dirty="0"/>
          </a:p>
        </p:txBody>
      </p:sp>
      <p:pic>
        <p:nvPicPr>
          <p:cNvPr id="4" name="图片 3"/>
          <p:cNvPicPr>
            <a:picLocks noChangeAspect="1"/>
          </p:cNvPicPr>
          <p:nvPr/>
        </p:nvPicPr>
        <p:blipFill rotWithShape="1">
          <a:blip r:embed="rId2"/>
          <a:srcRect l="22936" t="-2088" r="21932" b="1"/>
          <a:stretch/>
        </p:blipFill>
        <p:spPr>
          <a:xfrm>
            <a:off x="2426677" y="2520462"/>
            <a:ext cx="3417277" cy="3492577"/>
          </a:xfrm>
          <a:prstGeom prst="rect">
            <a:avLst/>
          </a:prstGeom>
          <a:solidFill>
            <a:schemeClr val="bg1"/>
          </a:solidFill>
        </p:spPr>
      </p:pic>
      <p:pic>
        <p:nvPicPr>
          <p:cNvPr id="7" name="内容占位符 6"/>
          <p:cNvPicPr>
            <a:picLocks noGrp="1" noChangeAspect="1"/>
          </p:cNvPicPr>
          <p:nvPr>
            <p:ph sz="quarter" idx="1"/>
          </p:nvPr>
        </p:nvPicPr>
        <p:blipFill rotWithShape="1">
          <a:blip r:embed="rId3"/>
          <a:srcRect l="12040" t="11215" r="68039"/>
          <a:stretch/>
        </p:blipFill>
        <p:spPr>
          <a:xfrm>
            <a:off x="6301154" y="2412148"/>
            <a:ext cx="3610708" cy="3356884"/>
          </a:xfrm>
          <a:prstGeom prst="rect">
            <a:avLst/>
          </a:prstGeom>
        </p:spPr>
      </p:pic>
      <p:sp>
        <p:nvSpPr>
          <p:cNvPr id="8" name="内容占位符 2"/>
          <p:cNvSpPr txBox="1">
            <a:spLocks/>
          </p:cNvSpPr>
          <p:nvPr/>
        </p:nvSpPr>
        <p:spPr>
          <a:xfrm>
            <a:off x="1219200" y="1620794"/>
            <a:ext cx="10363200" cy="4572000"/>
          </a:xfrm>
          <a:prstGeom prst="rect">
            <a:avLst/>
          </a:prstGeom>
        </p:spPr>
        <p:txBody>
          <a:bodyPr vert="horz">
            <a:normAutofit/>
          </a:bodyPr>
          <a:lstStyle>
            <a:lvl1pPr marL="274320" indent="-274320" algn="l" rtl="0" eaLnBrk="1" latinLnBrk="0" hangingPunct="1">
              <a:spcBef>
                <a:spcPts val="580"/>
              </a:spcBef>
              <a:buClr>
                <a:schemeClr val="accent1"/>
              </a:buClr>
              <a:buSzPct val="85000"/>
              <a:buFontTx/>
              <a:buBlip>
                <a:blip r:embed="rId4"/>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4"/>
              </a:buBlip>
              <a:tabLst/>
              <a:defRPr/>
            </a:pPr>
            <a:r>
              <a:rPr kumimoji="0" lang="zh-CN" altLang="en-US"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一種降維的手段</a:t>
            </a:r>
          </a:p>
        </p:txBody>
      </p:sp>
      <p:sp>
        <p:nvSpPr>
          <p:cNvPr id="9" name="矩形 8">
            <a:extLst>
              <a:ext uri="{FF2B5EF4-FFF2-40B4-BE49-F238E27FC236}">
                <a16:creationId xmlns:a16="http://schemas.microsoft.com/office/drawing/2014/main" id="{DE9D5BDD-0D7C-A483-2BAC-D55E00ED46CC}"/>
              </a:ext>
            </a:extLst>
          </p:cNvPr>
          <p:cNvSpPr/>
          <p:nvPr/>
        </p:nvSpPr>
        <p:spPr>
          <a:xfrm>
            <a:off x="9052828" y="1444853"/>
            <a:ext cx="304800" cy="288115"/>
          </a:xfrm>
          <a:prstGeom prst="rect">
            <a:avLst/>
          </a:prstGeom>
          <a:solidFill>
            <a:srgbClr val="FFF2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BD3A13C4-865D-53CB-F49D-0CA1B9BB6338}"/>
              </a:ext>
            </a:extLst>
          </p:cNvPr>
          <p:cNvSpPr/>
          <p:nvPr/>
        </p:nvSpPr>
        <p:spPr>
          <a:xfrm>
            <a:off x="9800810" y="1444853"/>
            <a:ext cx="304800" cy="28811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BE4BC0A7-DCB6-6F97-6E03-70AEF05D278A}"/>
              </a:ext>
            </a:extLst>
          </p:cNvPr>
          <p:cNvSpPr txBox="1"/>
          <p:nvPr/>
        </p:nvSpPr>
        <p:spPr>
          <a:xfrm>
            <a:off x="9358649" y="1404244"/>
            <a:ext cx="290464" cy="369332"/>
          </a:xfrm>
          <a:prstGeom prst="rect">
            <a:avLst/>
          </a:prstGeom>
          <a:noFill/>
        </p:spPr>
        <p:txBody>
          <a:bodyPr wrap="none" rtlCol="0">
            <a:spAutoFit/>
          </a:bodyPr>
          <a:lstStyle/>
          <a:p>
            <a:r>
              <a:rPr kumimoji="1" lang="en-US" altLang="zh-CN" dirty="0"/>
              <a:t>1</a:t>
            </a:r>
            <a:endParaRPr kumimoji="1" lang="zh-CN" altLang="en-US" dirty="0"/>
          </a:p>
        </p:txBody>
      </p:sp>
      <p:sp>
        <p:nvSpPr>
          <p:cNvPr id="12" name="文本框 11">
            <a:extLst>
              <a:ext uri="{FF2B5EF4-FFF2-40B4-BE49-F238E27FC236}">
                <a16:creationId xmlns:a16="http://schemas.microsoft.com/office/drawing/2014/main" id="{702B445D-562C-2FFD-17F2-7CA7C7073802}"/>
              </a:ext>
            </a:extLst>
          </p:cNvPr>
          <p:cNvSpPr txBox="1"/>
          <p:nvPr/>
        </p:nvSpPr>
        <p:spPr>
          <a:xfrm>
            <a:off x="10112492" y="1404244"/>
            <a:ext cx="290464" cy="369332"/>
          </a:xfrm>
          <a:prstGeom prst="rect">
            <a:avLst/>
          </a:prstGeom>
          <a:noFill/>
        </p:spPr>
        <p:txBody>
          <a:bodyPr wrap="none" rtlCol="0">
            <a:spAutoFit/>
          </a:bodyPr>
          <a:lstStyle/>
          <a:p>
            <a:r>
              <a:rPr kumimoji="1" lang="en-US" altLang="zh-CN" dirty="0"/>
              <a:t>0</a:t>
            </a:r>
            <a:endParaRPr kumimoji="1" lang="zh-CN" altLang="en-US" dirty="0"/>
          </a:p>
        </p:txBody>
      </p:sp>
    </p:spTree>
    <p:extLst>
      <p:ext uri="{BB962C8B-B14F-4D97-AF65-F5344CB8AC3E}">
        <p14:creationId xmlns:p14="http://schemas.microsoft.com/office/powerpoint/2010/main" val="101873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最大池化</a:t>
            </a:r>
          </a:p>
        </p:txBody>
      </p:sp>
      <p:graphicFrame>
        <p:nvGraphicFramePr>
          <p:cNvPr id="7" name="表格 6"/>
          <p:cNvGraphicFramePr>
            <a:graphicFrameLocks noGrp="1"/>
          </p:cNvGraphicFramePr>
          <p:nvPr/>
        </p:nvGraphicFramePr>
        <p:xfrm>
          <a:off x="5157441" y="2104533"/>
          <a:ext cx="2112090" cy="2194560"/>
        </p:xfrm>
        <a:graphic>
          <a:graphicData uri="http://schemas.openxmlformats.org/drawingml/2006/table">
            <a:tbl>
              <a:tblPr firstRow="1" bandRow="1">
                <a:tableStyleId>{5940675A-B579-460E-94D1-54222C63F5DA}</a:tableStyleId>
              </a:tblPr>
              <a:tblGrid>
                <a:gridCol w="352015">
                  <a:extLst>
                    <a:ext uri="{9D8B030D-6E8A-4147-A177-3AD203B41FA5}">
                      <a16:colId xmlns:a16="http://schemas.microsoft.com/office/drawing/2014/main" val="4162639252"/>
                    </a:ext>
                  </a:extLst>
                </a:gridCol>
                <a:gridCol w="352015">
                  <a:extLst>
                    <a:ext uri="{9D8B030D-6E8A-4147-A177-3AD203B41FA5}">
                      <a16:colId xmlns:a16="http://schemas.microsoft.com/office/drawing/2014/main" val="3631077352"/>
                    </a:ext>
                  </a:extLst>
                </a:gridCol>
                <a:gridCol w="352015">
                  <a:extLst>
                    <a:ext uri="{9D8B030D-6E8A-4147-A177-3AD203B41FA5}">
                      <a16:colId xmlns:a16="http://schemas.microsoft.com/office/drawing/2014/main" val="1089638684"/>
                    </a:ext>
                  </a:extLst>
                </a:gridCol>
                <a:gridCol w="352015">
                  <a:extLst>
                    <a:ext uri="{9D8B030D-6E8A-4147-A177-3AD203B41FA5}">
                      <a16:colId xmlns:a16="http://schemas.microsoft.com/office/drawing/2014/main" val="942969854"/>
                    </a:ext>
                  </a:extLst>
                </a:gridCol>
                <a:gridCol w="352015">
                  <a:extLst>
                    <a:ext uri="{9D8B030D-6E8A-4147-A177-3AD203B41FA5}">
                      <a16:colId xmlns:a16="http://schemas.microsoft.com/office/drawing/2014/main" val="411479351"/>
                    </a:ext>
                  </a:extLst>
                </a:gridCol>
                <a:gridCol w="352015">
                  <a:extLst>
                    <a:ext uri="{9D8B030D-6E8A-4147-A177-3AD203B41FA5}">
                      <a16:colId xmlns:a16="http://schemas.microsoft.com/office/drawing/2014/main" val="1130731722"/>
                    </a:ext>
                  </a:extLst>
                </a:gridCol>
              </a:tblGrid>
              <a:tr h="355809">
                <a:tc>
                  <a:txBody>
                    <a:bodyPr/>
                    <a:lstStyle/>
                    <a:p>
                      <a:pPr algn="ctr"/>
                      <a:r>
                        <a:rPr lang="en-US" altLang="zh-CN" dirty="0"/>
                        <a:t>1</a:t>
                      </a:r>
                      <a:endParaRPr lang="zh-CN" altLang="en-US" dirty="0"/>
                    </a:p>
                  </a:txBody>
                  <a:tcPr>
                    <a:solidFill>
                      <a:schemeClr val="accent2">
                        <a:lumMod val="20000"/>
                        <a:lumOff val="80000"/>
                      </a:schemeClr>
                    </a:solidFill>
                  </a:tcPr>
                </a:tc>
                <a:tc>
                  <a:txBody>
                    <a:bodyPr/>
                    <a:lstStyle/>
                    <a:p>
                      <a:pPr algn="ctr"/>
                      <a:r>
                        <a:rPr lang="en-US" altLang="zh-CN" dirty="0"/>
                        <a:t>1</a:t>
                      </a:r>
                      <a:endParaRPr lang="zh-CN" altLang="en-US" dirty="0"/>
                    </a:p>
                  </a:txBody>
                  <a:tcPr>
                    <a:solidFill>
                      <a:schemeClr val="accent2">
                        <a:lumMod val="20000"/>
                        <a:lumOff val="80000"/>
                      </a:schemeClr>
                    </a:solidFill>
                  </a:tcPr>
                </a:tc>
                <a:tc>
                  <a:txBody>
                    <a:bodyPr/>
                    <a:lstStyle/>
                    <a:p>
                      <a:pPr algn="ctr"/>
                      <a:r>
                        <a:rPr lang="en-US" altLang="zh-CN" dirty="0"/>
                        <a:t>2</a:t>
                      </a:r>
                      <a:endParaRPr lang="zh-CN" altLang="en-US" dirty="0"/>
                    </a:p>
                  </a:txBody>
                  <a:tcPr>
                    <a:solidFill>
                      <a:srgbClr val="FFFF00"/>
                    </a:solidFill>
                  </a:tcPr>
                </a:tc>
                <a:tc>
                  <a:txBody>
                    <a:bodyPr/>
                    <a:lstStyle/>
                    <a:p>
                      <a:pPr algn="ctr"/>
                      <a:r>
                        <a:rPr lang="en-US" altLang="zh-CN" dirty="0"/>
                        <a:t>4</a:t>
                      </a:r>
                      <a:endParaRPr lang="zh-CN" altLang="en-US" dirty="0"/>
                    </a:p>
                  </a:txBody>
                  <a:tcPr>
                    <a:solidFill>
                      <a:srgbClr val="FFFF00"/>
                    </a:solidFill>
                  </a:tcPr>
                </a:tc>
                <a:tc>
                  <a:txBody>
                    <a:bodyPr/>
                    <a:lstStyle/>
                    <a:p>
                      <a:pPr algn="ctr"/>
                      <a:r>
                        <a:rPr lang="en-US" altLang="zh-CN" dirty="0"/>
                        <a:t>5</a:t>
                      </a:r>
                      <a:endParaRPr lang="zh-CN" altLang="en-US" dirty="0"/>
                    </a:p>
                  </a:txBody>
                  <a:tcPr>
                    <a:solidFill>
                      <a:schemeClr val="bg2">
                        <a:lumMod val="75000"/>
                      </a:schemeClr>
                    </a:solidFill>
                  </a:tcPr>
                </a:tc>
                <a:tc>
                  <a:txBody>
                    <a:bodyPr/>
                    <a:lstStyle/>
                    <a:p>
                      <a:pPr algn="ctr"/>
                      <a:r>
                        <a:rPr lang="en-US" altLang="zh-CN" dirty="0"/>
                        <a:t>1</a:t>
                      </a:r>
                      <a:endParaRPr lang="zh-CN" altLang="en-US" dirty="0"/>
                    </a:p>
                  </a:txBody>
                  <a:tcPr>
                    <a:solidFill>
                      <a:schemeClr val="bg2">
                        <a:lumMod val="75000"/>
                      </a:schemeClr>
                    </a:solidFill>
                  </a:tcPr>
                </a:tc>
                <a:extLst>
                  <a:ext uri="{0D108BD9-81ED-4DB2-BD59-A6C34878D82A}">
                    <a16:rowId xmlns:a16="http://schemas.microsoft.com/office/drawing/2014/main" val="1491833037"/>
                  </a:ext>
                </a:extLst>
              </a:tr>
              <a:tr h="355809">
                <a:tc>
                  <a:txBody>
                    <a:bodyPr/>
                    <a:lstStyle/>
                    <a:p>
                      <a:pPr algn="ctr"/>
                      <a:r>
                        <a:rPr lang="en-US" altLang="zh-CN" dirty="0"/>
                        <a:t>5</a:t>
                      </a:r>
                      <a:endParaRPr lang="zh-CN" altLang="en-US" dirty="0"/>
                    </a:p>
                  </a:txBody>
                  <a:tcPr>
                    <a:solidFill>
                      <a:schemeClr val="accent2">
                        <a:lumMod val="20000"/>
                        <a:lumOff val="80000"/>
                      </a:schemeClr>
                    </a:solidFill>
                  </a:tcPr>
                </a:tc>
                <a:tc>
                  <a:txBody>
                    <a:bodyPr/>
                    <a:lstStyle/>
                    <a:p>
                      <a:pPr algn="ctr"/>
                      <a:r>
                        <a:rPr lang="en-US" altLang="zh-CN" dirty="0"/>
                        <a:t>6</a:t>
                      </a:r>
                      <a:endParaRPr lang="zh-CN" altLang="en-US" dirty="0"/>
                    </a:p>
                  </a:txBody>
                  <a:tcPr>
                    <a:solidFill>
                      <a:schemeClr val="accent2">
                        <a:lumMod val="20000"/>
                        <a:lumOff val="80000"/>
                      </a:schemeClr>
                    </a:solidFill>
                  </a:tcPr>
                </a:tc>
                <a:tc>
                  <a:txBody>
                    <a:bodyPr/>
                    <a:lstStyle/>
                    <a:p>
                      <a:pPr algn="ctr"/>
                      <a:r>
                        <a:rPr lang="en-US" altLang="zh-CN" dirty="0"/>
                        <a:t>7</a:t>
                      </a:r>
                      <a:endParaRPr lang="zh-CN" altLang="en-US" dirty="0"/>
                    </a:p>
                  </a:txBody>
                  <a:tcPr>
                    <a:solidFill>
                      <a:srgbClr val="FFFF00"/>
                    </a:solidFill>
                  </a:tcPr>
                </a:tc>
                <a:tc>
                  <a:txBody>
                    <a:bodyPr/>
                    <a:lstStyle/>
                    <a:p>
                      <a:pPr algn="ctr"/>
                      <a:r>
                        <a:rPr lang="en-US" altLang="zh-CN" dirty="0"/>
                        <a:t>8</a:t>
                      </a:r>
                      <a:endParaRPr lang="zh-CN" altLang="en-US" dirty="0"/>
                    </a:p>
                  </a:txBody>
                  <a:tcPr>
                    <a:solidFill>
                      <a:srgbClr val="FFFF00"/>
                    </a:solidFill>
                  </a:tcPr>
                </a:tc>
                <a:tc>
                  <a:txBody>
                    <a:bodyPr/>
                    <a:lstStyle/>
                    <a:p>
                      <a:pPr algn="ctr"/>
                      <a:r>
                        <a:rPr lang="en-US" altLang="zh-CN" dirty="0"/>
                        <a:t>0</a:t>
                      </a:r>
                      <a:endParaRPr lang="zh-CN" altLang="en-US" dirty="0"/>
                    </a:p>
                  </a:txBody>
                  <a:tcPr>
                    <a:solidFill>
                      <a:schemeClr val="bg2">
                        <a:lumMod val="75000"/>
                      </a:schemeClr>
                    </a:solidFill>
                  </a:tcPr>
                </a:tc>
                <a:tc>
                  <a:txBody>
                    <a:bodyPr/>
                    <a:lstStyle/>
                    <a:p>
                      <a:pPr algn="ctr"/>
                      <a:r>
                        <a:rPr lang="en-US" altLang="zh-CN" dirty="0"/>
                        <a:t>7</a:t>
                      </a:r>
                      <a:endParaRPr lang="zh-CN" altLang="en-US" dirty="0"/>
                    </a:p>
                  </a:txBody>
                  <a:tcPr>
                    <a:solidFill>
                      <a:schemeClr val="bg2">
                        <a:lumMod val="75000"/>
                      </a:schemeClr>
                    </a:solidFill>
                  </a:tcPr>
                </a:tc>
                <a:extLst>
                  <a:ext uri="{0D108BD9-81ED-4DB2-BD59-A6C34878D82A}">
                    <a16:rowId xmlns:a16="http://schemas.microsoft.com/office/drawing/2014/main" val="3421198084"/>
                  </a:ext>
                </a:extLst>
              </a:tr>
              <a:tr h="355809">
                <a:tc>
                  <a:txBody>
                    <a:bodyPr/>
                    <a:lstStyle/>
                    <a:p>
                      <a:pPr algn="ctr"/>
                      <a:r>
                        <a:rPr lang="en-US" altLang="zh-CN" dirty="0"/>
                        <a:t>3</a:t>
                      </a:r>
                      <a:endParaRPr lang="zh-CN" altLang="en-US" dirty="0"/>
                    </a:p>
                  </a:txBody>
                  <a:tcPr>
                    <a:solidFill>
                      <a:srgbClr val="99CCFF"/>
                    </a:solidFill>
                  </a:tcPr>
                </a:tc>
                <a:tc>
                  <a:txBody>
                    <a:bodyPr/>
                    <a:lstStyle/>
                    <a:p>
                      <a:pPr algn="ctr"/>
                      <a:r>
                        <a:rPr lang="en-US" altLang="zh-CN" dirty="0"/>
                        <a:t>2</a:t>
                      </a:r>
                      <a:endParaRPr lang="zh-CN" altLang="en-US" dirty="0"/>
                    </a:p>
                  </a:txBody>
                  <a:tcPr>
                    <a:solidFill>
                      <a:srgbClr val="99CCFF"/>
                    </a:solidFill>
                  </a:tcPr>
                </a:tc>
                <a:tc>
                  <a:txBody>
                    <a:bodyPr/>
                    <a:lstStyle/>
                    <a:p>
                      <a:pPr algn="ctr"/>
                      <a:r>
                        <a:rPr lang="en-US" altLang="zh-CN" dirty="0"/>
                        <a:t>1</a:t>
                      </a:r>
                      <a:endParaRPr lang="zh-CN" altLang="en-US" dirty="0"/>
                    </a:p>
                  </a:txBody>
                  <a:tcPr>
                    <a:solidFill>
                      <a:srgbClr val="86F260"/>
                    </a:solidFill>
                  </a:tcPr>
                </a:tc>
                <a:tc>
                  <a:txBody>
                    <a:bodyPr/>
                    <a:lstStyle/>
                    <a:p>
                      <a:pPr algn="ctr"/>
                      <a:r>
                        <a:rPr lang="en-US" altLang="zh-CN" dirty="0"/>
                        <a:t>0</a:t>
                      </a:r>
                      <a:endParaRPr lang="zh-CN" altLang="en-US" dirty="0"/>
                    </a:p>
                  </a:txBody>
                  <a:tcPr>
                    <a:solidFill>
                      <a:srgbClr val="86F260"/>
                    </a:solidFill>
                  </a:tcPr>
                </a:tc>
                <a:tc>
                  <a:txBody>
                    <a:bodyPr/>
                    <a:lstStyle/>
                    <a:p>
                      <a:pPr algn="ctr"/>
                      <a:r>
                        <a:rPr lang="en-US" altLang="zh-CN" dirty="0"/>
                        <a:t>4</a:t>
                      </a:r>
                      <a:endParaRPr lang="zh-CN" altLang="en-US" dirty="0"/>
                    </a:p>
                  </a:txBody>
                  <a:tcPr>
                    <a:solidFill>
                      <a:srgbClr val="CCECFF"/>
                    </a:solidFill>
                  </a:tcPr>
                </a:tc>
                <a:tc>
                  <a:txBody>
                    <a:bodyPr/>
                    <a:lstStyle/>
                    <a:p>
                      <a:pPr algn="ctr"/>
                      <a:r>
                        <a:rPr lang="en-US" altLang="zh-CN" dirty="0"/>
                        <a:t>1</a:t>
                      </a:r>
                      <a:endParaRPr lang="zh-CN" altLang="en-US" dirty="0"/>
                    </a:p>
                  </a:txBody>
                  <a:tcPr>
                    <a:solidFill>
                      <a:srgbClr val="CCECFF"/>
                    </a:solidFill>
                  </a:tcPr>
                </a:tc>
                <a:extLst>
                  <a:ext uri="{0D108BD9-81ED-4DB2-BD59-A6C34878D82A}">
                    <a16:rowId xmlns:a16="http://schemas.microsoft.com/office/drawing/2014/main" val="2301457673"/>
                  </a:ext>
                </a:extLst>
              </a:tr>
              <a:tr h="355809">
                <a:tc>
                  <a:txBody>
                    <a:bodyPr/>
                    <a:lstStyle/>
                    <a:p>
                      <a:pPr algn="ctr"/>
                      <a:r>
                        <a:rPr lang="en-US" altLang="zh-CN" dirty="0"/>
                        <a:t>1</a:t>
                      </a:r>
                      <a:endParaRPr lang="zh-CN" altLang="en-US" dirty="0"/>
                    </a:p>
                  </a:txBody>
                  <a:tcPr>
                    <a:solidFill>
                      <a:srgbClr val="99CCFF"/>
                    </a:solidFill>
                  </a:tcPr>
                </a:tc>
                <a:tc>
                  <a:txBody>
                    <a:bodyPr/>
                    <a:lstStyle/>
                    <a:p>
                      <a:pPr algn="ctr"/>
                      <a:r>
                        <a:rPr lang="en-US" altLang="zh-CN" dirty="0"/>
                        <a:t>2</a:t>
                      </a:r>
                      <a:endParaRPr lang="zh-CN" altLang="en-US" dirty="0"/>
                    </a:p>
                  </a:txBody>
                  <a:tcPr>
                    <a:solidFill>
                      <a:srgbClr val="99CCFF"/>
                    </a:solidFill>
                  </a:tcPr>
                </a:tc>
                <a:tc>
                  <a:txBody>
                    <a:bodyPr/>
                    <a:lstStyle/>
                    <a:p>
                      <a:pPr algn="ctr"/>
                      <a:r>
                        <a:rPr lang="en-US" altLang="zh-CN" dirty="0"/>
                        <a:t>3</a:t>
                      </a:r>
                      <a:endParaRPr lang="zh-CN" altLang="en-US" dirty="0"/>
                    </a:p>
                  </a:txBody>
                  <a:tcPr>
                    <a:solidFill>
                      <a:srgbClr val="86F260"/>
                    </a:solidFill>
                  </a:tcPr>
                </a:tc>
                <a:tc>
                  <a:txBody>
                    <a:bodyPr/>
                    <a:lstStyle/>
                    <a:p>
                      <a:pPr algn="ctr"/>
                      <a:r>
                        <a:rPr lang="en-US" altLang="zh-CN" dirty="0"/>
                        <a:t>4</a:t>
                      </a:r>
                      <a:endParaRPr lang="zh-CN" altLang="en-US" dirty="0"/>
                    </a:p>
                  </a:txBody>
                  <a:tcPr>
                    <a:solidFill>
                      <a:srgbClr val="86F260"/>
                    </a:solidFill>
                  </a:tcPr>
                </a:tc>
                <a:tc>
                  <a:txBody>
                    <a:bodyPr/>
                    <a:lstStyle/>
                    <a:p>
                      <a:pPr algn="ctr"/>
                      <a:r>
                        <a:rPr lang="en-US" altLang="zh-CN" dirty="0"/>
                        <a:t>3</a:t>
                      </a:r>
                      <a:endParaRPr lang="zh-CN" altLang="en-US" dirty="0"/>
                    </a:p>
                  </a:txBody>
                  <a:tcPr>
                    <a:solidFill>
                      <a:srgbClr val="CCECFF"/>
                    </a:solidFill>
                  </a:tcPr>
                </a:tc>
                <a:tc>
                  <a:txBody>
                    <a:bodyPr/>
                    <a:lstStyle/>
                    <a:p>
                      <a:pPr algn="ctr"/>
                      <a:r>
                        <a:rPr lang="en-US" altLang="zh-CN" dirty="0"/>
                        <a:t>2</a:t>
                      </a:r>
                      <a:endParaRPr lang="zh-CN" altLang="en-US" dirty="0"/>
                    </a:p>
                  </a:txBody>
                  <a:tcPr>
                    <a:solidFill>
                      <a:srgbClr val="CCECFF"/>
                    </a:solidFill>
                  </a:tcPr>
                </a:tc>
                <a:extLst>
                  <a:ext uri="{0D108BD9-81ED-4DB2-BD59-A6C34878D82A}">
                    <a16:rowId xmlns:a16="http://schemas.microsoft.com/office/drawing/2014/main" val="204543745"/>
                  </a:ext>
                </a:extLst>
              </a:tr>
              <a:tr h="355809">
                <a:tc>
                  <a:txBody>
                    <a:bodyPr/>
                    <a:lstStyle/>
                    <a:p>
                      <a:pPr algn="ctr"/>
                      <a:r>
                        <a:rPr lang="en-US" altLang="zh-CN" dirty="0"/>
                        <a:t>8</a:t>
                      </a:r>
                      <a:endParaRPr lang="zh-CN" altLang="en-US" dirty="0"/>
                    </a:p>
                  </a:txBody>
                  <a:tcPr>
                    <a:solidFill>
                      <a:srgbClr val="FFFFCC"/>
                    </a:solidFill>
                  </a:tcPr>
                </a:tc>
                <a:tc>
                  <a:txBody>
                    <a:bodyPr/>
                    <a:lstStyle/>
                    <a:p>
                      <a:pPr algn="ctr"/>
                      <a:r>
                        <a:rPr lang="en-US" altLang="zh-CN" dirty="0"/>
                        <a:t>6</a:t>
                      </a:r>
                      <a:endParaRPr lang="zh-CN" altLang="en-US" dirty="0"/>
                    </a:p>
                  </a:txBody>
                  <a:tcPr>
                    <a:solidFill>
                      <a:srgbClr val="FFFFCC"/>
                    </a:solidFill>
                  </a:tcPr>
                </a:tc>
                <a:tc>
                  <a:txBody>
                    <a:bodyPr/>
                    <a:lstStyle/>
                    <a:p>
                      <a:pPr algn="ctr"/>
                      <a:r>
                        <a:rPr lang="en-US" altLang="zh-CN" dirty="0"/>
                        <a:t>5</a:t>
                      </a:r>
                      <a:endParaRPr lang="zh-CN" altLang="en-US" dirty="0"/>
                    </a:p>
                  </a:txBody>
                  <a:tcPr>
                    <a:solidFill>
                      <a:srgbClr val="CC66FF"/>
                    </a:solidFill>
                  </a:tcPr>
                </a:tc>
                <a:tc>
                  <a:txBody>
                    <a:bodyPr/>
                    <a:lstStyle/>
                    <a:p>
                      <a:pPr algn="ctr"/>
                      <a:r>
                        <a:rPr lang="en-US" altLang="zh-CN" dirty="0"/>
                        <a:t>3</a:t>
                      </a:r>
                      <a:endParaRPr lang="zh-CN" altLang="en-US" dirty="0"/>
                    </a:p>
                  </a:txBody>
                  <a:tcPr>
                    <a:solidFill>
                      <a:srgbClr val="CC66FF"/>
                    </a:solidFill>
                  </a:tcPr>
                </a:tc>
                <a:tc>
                  <a:txBody>
                    <a:bodyPr/>
                    <a:lstStyle/>
                    <a:p>
                      <a:pPr algn="ctr"/>
                      <a:r>
                        <a:rPr lang="en-US" altLang="zh-CN" dirty="0"/>
                        <a:t>3</a:t>
                      </a:r>
                      <a:endParaRPr lang="zh-CN" altLang="en-US" dirty="0"/>
                    </a:p>
                  </a:txBody>
                  <a:tcPr>
                    <a:solidFill>
                      <a:srgbClr val="FF99FF"/>
                    </a:solidFill>
                  </a:tcPr>
                </a:tc>
                <a:tc>
                  <a:txBody>
                    <a:bodyPr/>
                    <a:lstStyle/>
                    <a:p>
                      <a:pPr algn="ctr"/>
                      <a:r>
                        <a:rPr lang="en-US" altLang="zh-CN" dirty="0"/>
                        <a:t>1</a:t>
                      </a:r>
                      <a:endParaRPr lang="zh-CN" altLang="en-US" dirty="0"/>
                    </a:p>
                  </a:txBody>
                  <a:tcPr>
                    <a:solidFill>
                      <a:srgbClr val="FF99FF"/>
                    </a:solidFill>
                  </a:tcPr>
                </a:tc>
                <a:extLst>
                  <a:ext uri="{0D108BD9-81ED-4DB2-BD59-A6C34878D82A}">
                    <a16:rowId xmlns:a16="http://schemas.microsoft.com/office/drawing/2014/main" val="3646563427"/>
                  </a:ext>
                </a:extLst>
              </a:tr>
              <a:tr h="355809">
                <a:tc>
                  <a:txBody>
                    <a:bodyPr/>
                    <a:lstStyle/>
                    <a:p>
                      <a:pPr algn="ctr"/>
                      <a:r>
                        <a:rPr lang="en-US" altLang="zh-CN" dirty="0"/>
                        <a:t>1</a:t>
                      </a:r>
                      <a:endParaRPr lang="zh-CN" altLang="en-US" dirty="0"/>
                    </a:p>
                  </a:txBody>
                  <a:tcPr>
                    <a:solidFill>
                      <a:srgbClr val="FFFFCC"/>
                    </a:solidFill>
                  </a:tcPr>
                </a:tc>
                <a:tc>
                  <a:txBody>
                    <a:bodyPr/>
                    <a:lstStyle/>
                    <a:p>
                      <a:pPr algn="ctr"/>
                      <a:r>
                        <a:rPr lang="en-US" altLang="zh-CN" dirty="0"/>
                        <a:t>0</a:t>
                      </a:r>
                      <a:endParaRPr lang="zh-CN" altLang="en-US" dirty="0"/>
                    </a:p>
                  </a:txBody>
                  <a:tcPr>
                    <a:solidFill>
                      <a:srgbClr val="FFFFCC"/>
                    </a:solidFill>
                  </a:tcPr>
                </a:tc>
                <a:tc>
                  <a:txBody>
                    <a:bodyPr/>
                    <a:lstStyle/>
                    <a:p>
                      <a:pPr algn="ctr"/>
                      <a:r>
                        <a:rPr lang="en-US" altLang="zh-CN" dirty="0"/>
                        <a:t>2</a:t>
                      </a:r>
                      <a:endParaRPr lang="zh-CN" altLang="en-US" dirty="0"/>
                    </a:p>
                  </a:txBody>
                  <a:tcPr>
                    <a:solidFill>
                      <a:srgbClr val="CC66FF"/>
                    </a:solidFill>
                  </a:tcPr>
                </a:tc>
                <a:tc>
                  <a:txBody>
                    <a:bodyPr/>
                    <a:lstStyle/>
                    <a:p>
                      <a:pPr algn="ctr"/>
                      <a:r>
                        <a:rPr lang="en-US" altLang="zh-CN" dirty="0"/>
                        <a:t>1</a:t>
                      </a:r>
                      <a:endParaRPr lang="zh-CN" altLang="en-US" dirty="0"/>
                    </a:p>
                  </a:txBody>
                  <a:tcPr>
                    <a:solidFill>
                      <a:srgbClr val="CC66FF"/>
                    </a:solidFill>
                  </a:tcPr>
                </a:tc>
                <a:tc>
                  <a:txBody>
                    <a:bodyPr/>
                    <a:lstStyle/>
                    <a:p>
                      <a:pPr algn="ctr"/>
                      <a:r>
                        <a:rPr lang="en-US" altLang="zh-CN" dirty="0"/>
                        <a:t>2</a:t>
                      </a:r>
                      <a:endParaRPr lang="zh-CN" altLang="en-US" dirty="0"/>
                    </a:p>
                  </a:txBody>
                  <a:tcPr>
                    <a:solidFill>
                      <a:srgbClr val="FF99FF"/>
                    </a:solidFill>
                  </a:tcPr>
                </a:tc>
                <a:tc>
                  <a:txBody>
                    <a:bodyPr/>
                    <a:lstStyle/>
                    <a:p>
                      <a:pPr algn="ctr"/>
                      <a:r>
                        <a:rPr lang="en-US" altLang="zh-CN" dirty="0"/>
                        <a:t>0</a:t>
                      </a:r>
                      <a:endParaRPr lang="zh-CN" altLang="en-US" dirty="0"/>
                    </a:p>
                  </a:txBody>
                  <a:tcPr>
                    <a:solidFill>
                      <a:srgbClr val="FF99FF"/>
                    </a:solidFill>
                  </a:tcPr>
                </a:tc>
                <a:extLst>
                  <a:ext uri="{0D108BD9-81ED-4DB2-BD59-A6C34878D82A}">
                    <a16:rowId xmlns:a16="http://schemas.microsoft.com/office/drawing/2014/main" val="2562103313"/>
                  </a:ext>
                </a:extLst>
              </a:tr>
            </a:tbl>
          </a:graphicData>
        </a:graphic>
      </p:graphicFrame>
      <p:graphicFrame>
        <p:nvGraphicFramePr>
          <p:cNvPr id="9" name="表格 8"/>
          <p:cNvGraphicFramePr>
            <a:graphicFrameLocks noGrp="1"/>
          </p:cNvGraphicFramePr>
          <p:nvPr/>
        </p:nvGraphicFramePr>
        <p:xfrm>
          <a:off x="9730766" y="2653173"/>
          <a:ext cx="1056045" cy="1097280"/>
        </p:xfrm>
        <a:graphic>
          <a:graphicData uri="http://schemas.openxmlformats.org/drawingml/2006/table">
            <a:tbl>
              <a:tblPr firstRow="1" bandRow="1">
                <a:tableStyleId>{5940675A-B579-460E-94D1-54222C63F5DA}</a:tableStyleId>
              </a:tblPr>
              <a:tblGrid>
                <a:gridCol w="352015">
                  <a:extLst>
                    <a:ext uri="{9D8B030D-6E8A-4147-A177-3AD203B41FA5}">
                      <a16:colId xmlns:a16="http://schemas.microsoft.com/office/drawing/2014/main" val="4162639252"/>
                    </a:ext>
                  </a:extLst>
                </a:gridCol>
                <a:gridCol w="352015">
                  <a:extLst>
                    <a:ext uri="{9D8B030D-6E8A-4147-A177-3AD203B41FA5}">
                      <a16:colId xmlns:a16="http://schemas.microsoft.com/office/drawing/2014/main" val="1089638684"/>
                    </a:ext>
                  </a:extLst>
                </a:gridCol>
                <a:gridCol w="352015">
                  <a:extLst>
                    <a:ext uri="{9D8B030D-6E8A-4147-A177-3AD203B41FA5}">
                      <a16:colId xmlns:a16="http://schemas.microsoft.com/office/drawing/2014/main" val="411479351"/>
                    </a:ext>
                  </a:extLst>
                </a:gridCol>
              </a:tblGrid>
              <a:tr h="355809">
                <a:tc>
                  <a:txBody>
                    <a:bodyPr/>
                    <a:lstStyle/>
                    <a:p>
                      <a:pPr algn="ctr"/>
                      <a:r>
                        <a:rPr lang="en-US" altLang="zh-CN" dirty="0"/>
                        <a:t>6</a:t>
                      </a:r>
                      <a:endParaRPr lang="zh-CN" altLang="en-US" dirty="0"/>
                    </a:p>
                  </a:txBody>
                  <a:tcPr>
                    <a:solidFill>
                      <a:schemeClr val="accent2">
                        <a:lumMod val="20000"/>
                        <a:lumOff val="80000"/>
                      </a:schemeClr>
                    </a:solidFill>
                  </a:tcPr>
                </a:tc>
                <a:tc>
                  <a:txBody>
                    <a:bodyPr/>
                    <a:lstStyle/>
                    <a:p>
                      <a:pPr algn="ctr"/>
                      <a:r>
                        <a:rPr lang="en-US" altLang="zh-CN" dirty="0"/>
                        <a:t>8</a:t>
                      </a:r>
                      <a:endParaRPr lang="zh-CN" altLang="en-US" dirty="0"/>
                    </a:p>
                  </a:txBody>
                  <a:tcPr>
                    <a:solidFill>
                      <a:srgbClr val="FFFF00"/>
                    </a:solidFill>
                  </a:tcPr>
                </a:tc>
                <a:tc>
                  <a:txBody>
                    <a:bodyPr/>
                    <a:lstStyle/>
                    <a:p>
                      <a:pPr algn="ctr"/>
                      <a:r>
                        <a:rPr lang="en-US" altLang="zh-CN" dirty="0"/>
                        <a:t>7</a:t>
                      </a:r>
                      <a:endParaRPr lang="zh-CN" altLang="en-US" dirty="0"/>
                    </a:p>
                  </a:txBody>
                  <a:tcPr>
                    <a:solidFill>
                      <a:schemeClr val="bg2">
                        <a:lumMod val="75000"/>
                      </a:schemeClr>
                    </a:solidFill>
                  </a:tcPr>
                </a:tc>
                <a:extLst>
                  <a:ext uri="{0D108BD9-81ED-4DB2-BD59-A6C34878D82A}">
                    <a16:rowId xmlns:a16="http://schemas.microsoft.com/office/drawing/2014/main" val="1491833037"/>
                  </a:ext>
                </a:extLst>
              </a:tr>
              <a:tr h="355809">
                <a:tc>
                  <a:txBody>
                    <a:bodyPr/>
                    <a:lstStyle/>
                    <a:p>
                      <a:pPr algn="ctr"/>
                      <a:r>
                        <a:rPr lang="en-US" altLang="zh-CN" dirty="0"/>
                        <a:t>3</a:t>
                      </a:r>
                      <a:endParaRPr lang="zh-CN" altLang="en-US" dirty="0"/>
                    </a:p>
                  </a:txBody>
                  <a:tcPr>
                    <a:solidFill>
                      <a:srgbClr val="99CCFF"/>
                    </a:solidFill>
                  </a:tcPr>
                </a:tc>
                <a:tc>
                  <a:txBody>
                    <a:bodyPr/>
                    <a:lstStyle/>
                    <a:p>
                      <a:pPr algn="ctr"/>
                      <a:r>
                        <a:rPr lang="en-US" altLang="zh-CN" dirty="0"/>
                        <a:t>4</a:t>
                      </a:r>
                      <a:endParaRPr lang="zh-CN" altLang="en-US" dirty="0"/>
                    </a:p>
                  </a:txBody>
                  <a:tcPr>
                    <a:solidFill>
                      <a:srgbClr val="86F260"/>
                    </a:solidFill>
                  </a:tcPr>
                </a:tc>
                <a:tc>
                  <a:txBody>
                    <a:bodyPr/>
                    <a:lstStyle/>
                    <a:p>
                      <a:pPr algn="ctr"/>
                      <a:r>
                        <a:rPr lang="en-US" altLang="zh-CN" dirty="0"/>
                        <a:t>4</a:t>
                      </a:r>
                      <a:endParaRPr lang="zh-CN" altLang="en-US" dirty="0"/>
                    </a:p>
                  </a:txBody>
                  <a:tcPr>
                    <a:solidFill>
                      <a:srgbClr val="CCECFF"/>
                    </a:solidFill>
                  </a:tcPr>
                </a:tc>
                <a:extLst>
                  <a:ext uri="{0D108BD9-81ED-4DB2-BD59-A6C34878D82A}">
                    <a16:rowId xmlns:a16="http://schemas.microsoft.com/office/drawing/2014/main" val="2301457673"/>
                  </a:ext>
                </a:extLst>
              </a:tr>
              <a:tr h="355809">
                <a:tc>
                  <a:txBody>
                    <a:bodyPr/>
                    <a:lstStyle/>
                    <a:p>
                      <a:pPr algn="ctr"/>
                      <a:r>
                        <a:rPr lang="en-US" altLang="zh-CN" dirty="0"/>
                        <a:t>8</a:t>
                      </a:r>
                      <a:endParaRPr lang="zh-CN" altLang="en-US" dirty="0"/>
                    </a:p>
                  </a:txBody>
                  <a:tcPr>
                    <a:solidFill>
                      <a:srgbClr val="FFFFCC"/>
                    </a:solidFill>
                  </a:tcPr>
                </a:tc>
                <a:tc>
                  <a:txBody>
                    <a:bodyPr/>
                    <a:lstStyle/>
                    <a:p>
                      <a:pPr algn="ctr"/>
                      <a:r>
                        <a:rPr lang="en-US" altLang="zh-CN" dirty="0"/>
                        <a:t>5</a:t>
                      </a:r>
                      <a:endParaRPr lang="zh-CN" altLang="en-US" dirty="0"/>
                    </a:p>
                  </a:txBody>
                  <a:tcPr>
                    <a:solidFill>
                      <a:srgbClr val="CC66FF"/>
                    </a:solidFill>
                  </a:tcPr>
                </a:tc>
                <a:tc>
                  <a:txBody>
                    <a:bodyPr/>
                    <a:lstStyle/>
                    <a:p>
                      <a:pPr algn="ctr"/>
                      <a:r>
                        <a:rPr lang="en-US" altLang="zh-CN" dirty="0"/>
                        <a:t>3</a:t>
                      </a:r>
                      <a:endParaRPr lang="zh-CN" altLang="en-US" dirty="0"/>
                    </a:p>
                  </a:txBody>
                  <a:tcPr>
                    <a:solidFill>
                      <a:srgbClr val="FF99FF"/>
                    </a:solidFill>
                  </a:tcPr>
                </a:tc>
                <a:extLst>
                  <a:ext uri="{0D108BD9-81ED-4DB2-BD59-A6C34878D82A}">
                    <a16:rowId xmlns:a16="http://schemas.microsoft.com/office/drawing/2014/main" val="3646563427"/>
                  </a:ext>
                </a:extLst>
              </a:tr>
            </a:tbl>
          </a:graphicData>
        </a:graphic>
      </p:graphicFrame>
      <p:sp>
        <p:nvSpPr>
          <p:cNvPr id="10" name="文本框 287"/>
          <p:cNvSpPr txBox="1"/>
          <p:nvPr/>
        </p:nvSpPr>
        <p:spPr>
          <a:xfrm>
            <a:off x="5406463" y="4525274"/>
            <a:ext cx="1614046" cy="41787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輸入爲一個通道</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12" name="直接箭头连接符 11"/>
          <p:cNvCxnSpPr/>
          <p:nvPr/>
        </p:nvCxnSpPr>
        <p:spPr>
          <a:xfrm>
            <a:off x="7426757" y="3201813"/>
            <a:ext cx="209095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287"/>
          <p:cNvSpPr txBox="1"/>
          <p:nvPr/>
        </p:nvSpPr>
        <p:spPr>
          <a:xfrm>
            <a:off x="7693125" y="3404140"/>
            <a:ext cx="1614046" cy="894953"/>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最大池化</a:t>
            </a:r>
            <a:endPar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窗口：</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步長：</a:t>
            </a:r>
            <a:r>
              <a:rPr kumimoji="0" lang="en-US"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4" name="内容占位符 2"/>
          <p:cNvSpPr>
            <a:spLocks noGrp="1"/>
          </p:cNvSpPr>
          <p:nvPr>
            <p:ph sz="quarter" idx="1"/>
          </p:nvPr>
        </p:nvSpPr>
        <p:spPr>
          <a:xfrm>
            <a:off x="1219200" y="1328535"/>
            <a:ext cx="10363200" cy="5016610"/>
          </a:xfrm>
        </p:spPr>
        <p:txBody>
          <a:bodyPr/>
          <a:lstStyle/>
          <a:p>
            <a:endParaRPr lang="en-US" altLang="zh-CN" dirty="0"/>
          </a:p>
          <a:p>
            <a:r>
              <a:rPr lang="zh-CN" altLang="en-US" dirty="0"/>
              <a:t>取窗口內的最大值</a:t>
            </a:r>
            <a:endParaRPr lang="en-US" altLang="zh-CN" dirty="0"/>
          </a:p>
          <a:p>
            <a:r>
              <a:rPr lang="zh-CN" altLang="en-US" dirty="0"/>
              <a:t>窗口大小、步長都</a:t>
            </a:r>
            <a:endParaRPr lang="en-US" altLang="zh-CN" dirty="0"/>
          </a:p>
          <a:p>
            <a:pPr marL="0" indent="0">
              <a:buNone/>
            </a:pPr>
            <a:r>
              <a:rPr lang="en-US" altLang="zh-CN" dirty="0"/>
              <a:t>    </a:t>
            </a:r>
            <a:r>
              <a:rPr lang="zh-CN" altLang="en-US" dirty="0"/>
              <a:t>可以設定</a:t>
            </a:r>
            <a:endParaRPr lang="en-US" altLang="zh-CN" dirty="0"/>
          </a:p>
          <a:p>
            <a:endParaRPr lang="en-US" altLang="zh-CN" dirty="0"/>
          </a:p>
          <a:p>
            <a:r>
              <a:rPr lang="zh-CN" altLang="en-US" dirty="0"/>
              <a:t>平均池化</a:t>
            </a:r>
            <a:endParaRPr lang="en-US" altLang="zh-CN" dirty="0"/>
          </a:p>
          <a:p>
            <a:endParaRPr lang="en-US" altLang="zh-CN" dirty="0"/>
          </a:p>
          <a:p>
            <a:r>
              <a:rPr lang="zh-CN" altLang="en-US" dirty="0"/>
              <a:t>池化作用在單個通道上</a:t>
            </a:r>
            <a:endParaRPr lang="en-US" altLang="zh-CN" dirty="0"/>
          </a:p>
          <a:p>
            <a:r>
              <a:rPr lang="zh-CN" altLang="en-US" dirty="0"/>
              <a:t>池化不改變通道數</a:t>
            </a:r>
          </a:p>
        </p:txBody>
      </p:sp>
    </p:spTree>
    <p:extLst>
      <p:ext uri="{BB962C8B-B14F-4D97-AF65-F5344CB8AC3E}">
        <p14:creationId xmlns:p14="http://schemas.microsoft.com/office/powerpoint/2010/main" val="90203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神經網絡應用舉例</a:t>
            </a:r>
          </a:p>
        </p:txBody>
      </p:sp>
      <p:sp>
        <p:nvSpPr>
          <p:cNvPr id="3" name="内容占位符 2"/>
          <p:cNvSpPr>
            <a:spLocks noGrp="1"/>
          </p:cNvSpPr>
          <p:nvPr>
            <p:ph sz="quarter" idx="1"/>
          </p:nvPr>
        </p:nvSpPr>
        <p:spPr/>
        <p:txBody>
          <a:bodyPr/>
          <a:lstStyle/>
          <a:p>
            <a:endParaRPr lang="zh-CN" altLang="en-US"/>
          </a:p>
        </p:txBody>
      </p:sp>
    </p:spTree>
    <p:extLst>
      <p:ext uri="{BB962C8B-B14F-4D97-AF65-F5344CB8AC3E}">
        <p14:creationId xmlns:p14="http://schemas.microsoft.com/office/powerpoint/2010/main" val="35380779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LeNet</a:t>
            </a:r>
            <a:r>
              <a:rPr lang="zh-CN" altLang="en-US" dirty="0"/>
              <a:t>神經網絡</a:t>
            </a:r>
          </a:p>
        </p:txBody>
      </p:sp>
      <p:pic>
        <p:nvPicPr>
          <p:cNvPr id="4" name="图片 3"/>
          <p:cNvPicPr>
            <a:picLocks noChangeAspect="1"/>
          </p:cNvPicPr>
          <p:nvPr/>
        </p:nvPicPr>
        <p:blipFill>
          <a:blip r:embed="rId3"/>
          <a:stretch>
            <a:fillRect/>
          </a:stretch>
        </p:blipFill>
        <p:spPr>
          <a:xfrm>
            <a:off x="1111648" y="1872211"/>
            <a:ext cx="10103998" cy="3391551"/>
          </a:xfrm>
          <a:prstGeom prst="rect">
            <a:avLst/>
          </a:prstGeom>
        </p:spPr>
      </p:pic>
    </p:spTree>
    <p:extLst>
      <p:ext uri="{BB962C8B-B14F-4D97-AF65-F5344CB8AC3E}">
        <p14:creationId xmlns:p14="http://schemas.microsoft.com/office/powerpoint/2010/main" val="33128197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VGG-16</a:t>
            </a:r>
            <a:r>
              <a:rPr lang="zh-CN" altLang="en-US" dirty="0"/>
              <a:t>神經網絡</a:t>
            </a:r>
          </a:p>
        </p:txBody>
      </p:sp>
      <p:sp>
        <p:nvSpPr>
          <p:cNvPr id="3" name="内容占位符 2"/>
          <p:cNvSpPr>
            <a:spLocks noGrp="1"/>
          </p:cNvSpPr>
          <p:nvPr>
            <p:ph sz="quarter" idx="1"/>
          </p:nvPr>
        </p:nvSpPr>
        <p:spPr/>
        <p:txBody>
          <a:bodyPr/>
          <a:lstStyle/>
          <a:p>
            <a:endParaRPr lang="zh-CN" altLang="en-US"/>
          </a:p>
        </p:txBody>
      </p:sp>
      <p:pic>
        <p:nvPicPr>
          <p:cNvPr id="4" name="图片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89044" y="1860606"/>
            <a:ext cx="8666922" cy="3673502"/>
          </a:xfrm>
          <a:prstGeom prst="rect">
            <a:avLst/>
          </a:prstGeom>
          <a:noFill/>
        </p:spPr>
      </p:pic>
    </p:spTree>
    <p:extLst>
      <p:ext uri="{BB962C8B-B14F-4D97-AF65-F5344CB8AC3E}">
        <p14:creationId xmlns:p14="http://schemas.microsoft.com/office/powerpoint/2010/main" val="10612104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捲積核具有抽取特徵的能力</a:t>
            </a:r>
          </a:p>
        </p:txBody>
      </p:sp>
      <p:sp>
        <p:nvSpPr>
          <p:cNvPr id="3" name="内容占位符 2"/>
          <p:cNvSpPr>
            <a:spLocks noGrp="1"/>
          </p:cNvSpPr>
          <p:nvPr>
            <p:ph sz="quarter" idx="1"/>
          </p:nvPr>
        </p:nvSpPr>
        <p:spPr/>
        <p:txBody>
          <a:bodyPr/>
          <a:lstStyle/>
          <a:p>
            <a:endParaRPr lang="zh-CN" altLang="en-US"/>
          </a:p>
        </p:txBody>
      </p:sp>
      <p:pic>
        <p:nvPicPr>
          <p:cNvPr id="453634" name="Picture 2" descr="F:\人工智能导论\2017本科生导论\深度学习特征提取示意图.png"/>
          <p:cNvPicPr>
            <a:picLocks noChangeAspect="1" noChangeArrowheads="1"/>
          </p:cNvPicPr>
          <p:nvPr/>
        </p:nvPicPr>
        <p:blipFill>
          <a:blip r:embed="rId2" cstate="print"/>
          <a:srcRect/>
          <a:stretch>
            <a:fillRect/>
          </a:stretch>
        </p:blipFill>
        <p:spPr bwMode="auto">
          <a:xfrm>
            <a:off x="2029098" y="1626770"/>
            <a:ext cx="8170316" cy="4649856"/>
          </a:xfrm>
          <a:prstGeom prst="rect">
            <a:avLst/>
          </a:prstGeom>
          <a:noFill/>
        </p:spPr>
      </p:pic>
    </p:spTree>
    <p:extLst>
      <p:ext uri="{BB962C8B-B14F-4D97-AF65-F5344CB8AC3E}">
        <p14:creationId xmlns:p14="http://schemas.microsoft.com/office/powerpoint/2010/main" val="41098644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捲積神經網絡的特點</a:t>
            </a:r>
          </a:p>
        </p:txBody>
      </p:sp>
      <p:sp>
        <p:nvSpPr>
          <p:cNvPr id="3" name="内容占位符 2"/>
          <p:cNvSpPr>
            <a:spLocks noGrp="1"/>
          </p:cNvSpPr>
          <p:nvPr>
            <p:ph sz="quarter" idx="1"/>
          </p:nvPr>
        </p:nvSpPr>
        <p:spPr>
          <a:xfrm>
            <a:off x="1219200" y="1771144"/>
            <a:ext cx="7772400" cy="4222531"/>
          </a:xfrm>
        </p:spPr>
        <p:txBody>
          <a:bodyPr>
            <a:normAutofit/>
          </a:bodyPr>
          <a:lstStyle/>
          <a:p>
            <a:r>
              <a:rPr lang="zh-CN" altLang="en-US" sz="3200" b="1" dirty="0"/>
              <a:t>參數少，只與捲積核的大小和數量有關</a:t>
            </a:r>
            <a:endParaRPr lang="en-US" altLang="zh-CN" sz="3200" b="1" dirty="0"/>
          </a:p>
          <a:p>
            <a:r>
              <a:rPr lang="zh-CN" altLang="en-US" sz="3200" b="1" dirty="0"/>
              <a:t>具有特徵抽取能力</a:t>
            </a:r>
            <a:endParaRPr lang="en-US" altLang="zh-CN" sz="3200" b="1" dirty="0"/>
          </a:p>
          <a:p>
            <a:r>
              <a:rPr lang="zh-CN" altLang="en-US" sz="3200" b="1" dirty="0"/>
              <a:t>特徵的平移不變性（一定程度上）</a:t>
            </a:r>
          </a:p>
        </p:txBody>
      </p:sp>
    </p:spTree>
    <p:extLst>
      <p:ext uri="{BB962C8B-B14F-4D97-AF65-F5344CB8AC3E}">
        <p14:creationId xmlns:p14="http://schemas.microsoft.com/office/powerpoint/2010/main" val="347340825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小結</a:t>
            </a:r>
          </a:p>
        </p:txBody>
      </p:sp>
      <p:sp>
        <p:nvSpPr>
          <p:cNvPr id="3" name="内容占位符 2"/>
          <p:cNvSpPr>
            <a:spLocks noGrp="1"/>
          </p:cNvSpPr>
          <p:nvPr>
            <p:ph sz="quarter" idx="1"/>
          </p:nvPr>
        </p:nvSpPr>
        <p:spPr/>
        <p:txBody>
          <a:bodyPr/>
          <a:lstStyle/>
          <a:p>
            <a:endParaRPr lang="en-US" altLang="zh-CN" dirty="0"/>
          </a:p>
          <a:p>
            <a:r>
              <a:rPr lang="zh-CN" altLang="en-US" dirty="0"/>
              <a:t>捲積神經網絡</a:t>
            </a:r>
            <a:endParaRPr lang="en-US" altLang="zh-CN" dirty="0"/>
          </a:p>
          <a:p>
            <a:pPr lvl="1"/>
            <a:r>
              <a:rPr lang="zh-CN" altLang="en-US" dirty="0"/>
              <a:t>局部連接</a:t>
            </a:r>
            <a:endParaRPr lang="en-US" altLang="zh-CN" dirty="0"/>
          </a:p>
          <a:p>
            <a:pPr lvl="1"/>
            <a:r>
              <a:rPr lang="zh-CN" altLang="en-US" dirty="0"/>
              <a:t>權值共享</a:t>
            </a:r>
            <a:endParaRPr lang="en-US" altLang="zh-CN" dirty="0"/>
          </a:p>
          <a:p>
            <a:r>
              <a:rPr lang="zh-CN" altLang="en-US" dirty="0"/>
              <a:t>捲積核</a:t>
            </a:r>
            <a:endParaRPr lang="en-US" altLang="zh-CN" dirty="0"/>
          </a:p>
          <a:p>
            <a:r>
              <a:rPr lang="zh-CN" altLang="en-US" dirty="0"/>
              <a:t>通道</a:t>
            </a:r>
            <a:endParaRPr lang="en-US" altLang="zh-CN" dirty="0"/>
          </a:p>
          <a:p>
            <a:r>
              <a:rPr lang="zh-CN" altLang="en-US" dirty="0"/>
              <a:t>池化</a:t>
            </a:r>
            <a:endParaRPr lang="en-US" altLang="zh-CN" dirty="0"/>
          </a:p>
          <a:p>
            <a:r>
              <a:rPr lang="zh-CN" altLang="en-US" dirty="0"/>
              <a:t>應用舉例</a:t>
            </a:r>
            <a:endParaRPr lang="en-US" altLang="zh-CN" dirty="0"/>
          </a:p>
          <a:p>
            <a:pPr lvl="1"/>
            <a:r>
              <a:rPr lang="en-US" altLang="zh-CN" dirty="0" err="1"/>
              <a:t>LeNet</a:t>
            </a:r>
            <a:endParaRPr lang="en-US" altLang="zh-CN" dirty="0"/>
          </a:p>
          <a:p>
            <a:pPr lvl="1"/>
            <a:r>
              <a:rPr lang="en-US" altLang="zh-CN" dirty="0"/>
              <a:t>VGG-16</a:t>
            </a:r>
            <a:endParaRPr lang="zh-CN" altLang="en-US" dirty="0"/>
          </a:p>
        </p:txBody>
      </p:sp>
    </p:spTree>
    <p:extLst>
      <p:ext uri="{BB962C8B-B14F-4D97-AF65-F5344CB8AC3E}">
        <p14:creationId xmlns:p14="http://schemas.microsoft.com/office/powerpoint/2010/main" val="34963426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en-US" dirty="0"/>
              <a:t>梯度消失問題</a:t>
            </a:r>
          </a:p>
        </p:txBody>
      </p:sp>
      <p:sp>
        <p:nvSpPr>
          <p:cNvPr id="3" name="内容占位符 2"/>
          <p:cNvSpPr>
            <a:spLocks noGrp="1"/>
          </p:cNvSpPr>
          <p:nvPr>
            <p:ph sz="quarter" idx="1"/>
          </p:nvPr>
        </p:nvSpPr>
        <p:spPr>
          <a:xfrm>
            <a:off x="1219200" y="1804852"/>
            <a:ext cx="10363200" cy="4572000"/>
          </a:xfrm>
        </p:spPr>
        <p:txBody>
          <a:bodyPr/>
          <a:lstStyle/>
          <a:p>
            <a:r>
              <a:rPr lang="zh-CN" altLang="en-US" dirty="0"/>
              <a:t>神經網絡遇到的兩大問題</a:t>
            </a:r>
            <a:endParaRPr lang="en-US" altLang="zh-CN" dirty="0"/>
          </a:p>
          <a:p>
            <a:pPr lvl="1"/>
            <a:r>
              <a:rPr lang="zh-CN" altLang="en-US" dirty="0"/>
              <a:t>梯度消失問題</a:t>
            </a:r>
            <a:endParaRPr lang="en-US" altLang="zh-CN" dirty="0"/>
          </a:p>
          <a:p>
            <a:pPr lvl="1"/>
            <a:r>
              <a:rPr lang="zh-CN" altLang="en-US" dirty="0"/>
              <a:t>過擬合問題</a:t>
            </a:r>
            <a:endParaRPr lang="en-US" altLang="zh-CN" dirty="0"/>
          </a:p>
        </p:txBody>
      </p:sp>
    </p:spTree>
    <p:extLst>
      <p:ext uri="{BB962C8B-B14F-4D97-AF65-F5344CB8AC3E}">
        <p14:creationId xmlns:p14="http://schemas.microsoft.com/office/powerpoint/2010/main" val="308525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什麽是梯度消失問題？</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314994" y="1105988"/>
                <a:ext cx="10363200" cy="5077097"/>
              </a:xfrm>
            </p:spPr>
            <p:txBody>
              <a:bodyPr>
                <a:normAutofit/>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h</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h</m:t>
                        </m:r>
                      </m:sub>
                    </m:sSub>
                    <m:r>
                      <a:rPr lang="en-US" altLang="zh-CN" i="1">
                        <a:latin typeface="Cambria Math" panose="02040503050406030204" pitchFamily="18" charset="0"/>
                      </a:rPr>
                      <m:t>(1−</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h</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m:t>
                        </m:r>
                        <m:r>
                          <a:rPr lang="zh-CN" altLang="en-US" i="1" smtClean="0">
                            <a:latin typeface="Cambria Math" panose="02040503050406030204" pitchFamily="18" charset="0"/>
                          </a:rPr>
                          <m:t>後繼</m:t>
                        </m:r>
                        <m:r>
                          <a:rPr lang="en-US" altLang="zh-CN" i="1">
                            <a:latin typeface="Cambria Math" panose="02040503050406030204" pitchFamily="18" charset="0"/>
                          </a:rPr>
                          <m:t>(</m:t>
                        </m:r>
                        <m:r>
                          <a:rPr lang="en-US" altLang="zh-CN" i="1">
                            <a:latin typeface="Cambria Math" panose="02040503050406030204" pitchFamily="18" charset="0"/>
                          </a:rPr>
                          <m:t>h</m:t>
                        </m:r>
                        <m:r>
                          <a:rPr lang="en-US" altLang="zh-CN" i="1">
                            <a:latin typeface="Cambria Math" panose="02040503050406030204" pitchFamily="18" charset="0"/>
                          </a:rPr>
                          <m:t>)</m:t>
                        </m:r>
                      </m:sub>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𝑘</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𝑘h</m:t>
                            </m:r>
                          </m:sub>
                        </m:sSub>
                      </m:e>
                    </m:nary>
                  </m:oMath>
                </a14:m>
                <a:endParaRPr lang="zh-CN" altLang="zh-CN" dirty="0"/>
              </a:p>
              <a:p>
                <a:pPr marL="0" indent="0">
                  <a:buNone/>
                </a:pPr>
                <a:endParaRPr lang="en-US" altLang="zh-CN" sz="1600" dirty="0"/>
              </a:p>
              <a:p>
                <a:pPr marL="0" indent="0">
                  <a:buNone/>
                </a:pPr>
                <a:r>
                  <a:rPr lang="zh-CN" altLang="en-US" dirty="0"/>
                  <a:t>當神經網絡層數增多之後</a:t>
                </a: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h</m:t>
                        </m:r>
                      </m:sub>
                    </m:sSub>
                  </m:oMath>
                </a14:m>
                <a:r>
                  <a:rPr lang="en-US" altLang="zh-CN" dirty="0"/>
                  <a:t>             0</a:t>
                </a:r>
              </a:p>
              <a:p>
                <a:pPr marL="0" indent="0">
                  <a:buNone/>
                </a:pPr>
                <a:endParaRPr lang="en-US" altLang="zh-CN" sz="1800" dirty="0"/>
              </a:p>
              <a:p>
                <a:pPr marL="0" indent="0">
                  <a:buNone/>
                </a:pPr>
                <a:r>
                  <a:rPr lang="zh-CN" altLang="en-US" dirty="0"/>
                  <a:t>梯度消失問題 </a:t>
                </a:r>
                <a:endParaRPr lang="en-US" altLang="zh-CN" dirty="0"/>
              </a:p>
              <a:p>
                <a:pPr marL="0" indent="0">
                  <a:buNone/>
                </a:pPr>
                <a:r>
                  <a:rPr lang="en-US" altLang="zh-CN" dirty="0"/>
                  <a:t> </a:t>
                </a:r>
                <a:r>
                  <a:rPr lang="zh-CN" altLang="en-US" dirty="0"/>
                  <a:t> </a:t>
                </a:r>
                <a14:m>
                  <m:oMath xmlns:m="http://schemas.openxmlformats.org/officeDocument/2006/math">
                    <m:r>
                      <a:rPr lang="zh-CN" altLang="zh-CN">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w</m:t>
                        </m:r>
                      </m:e>
                      <m:sub>
                        <m:r>
                          <a:rPr lang="en-US" altLang="zh-CN" i="1">
                            <a:latin typeface="Cambria Math" panose="02040503050406030204" pitchFamily="18" charset="0"/>
                          </a:rPr>
                          <m:t>𝑗𝑖</m:t>
                        </m:r>
                      </m:sub>
                    </m:sSub>
                    <m:r>
                      <a:rPr lang="en-US" altLang="zh-CN" i="1">
                        <a:latin typeface="Cambria Math" panose="02040503050406030204" pitchFamily="18" charset="0"/>
                      </a:rPr>
                      <m:t>=</m:t>
                    </m:r>
                    <m:r>
                      <a:rPr lang="en-US" altLang="zh-CN" i="1">
                        <a:latin typeface="Cambria Math" panose="02040503050406030204" pitchFamily="18" charset="0"/>
                      </a:rPr>
                      <m:t>𝜂</m:t>
                    </m:r>
                    <m:sSub>
                      <m:sSubPr>
                        <m:ctrlPr>
                          <a:rPr lang="zh-CN"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𝑗</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𝑗𝑖</m:t>
                        </m:r>
                      </m:sub>
                    </m:sSub>
                  </m:oMath>
                </a14:m>
                <a:endParaRPr lang="zh-CN" altLang="zh-CN" dirty="0"/>
              </a:p>
              <a:p>
                <a:pPr marL="0" indent="0">
                  <a:buNone/>
                </a:pPr>
                <a:endParaRPr lang="zh-CN" altLang="zh-CN" dirty="0"/>
              </a:p>
              <a:p>
                <a:pPr marL="0" indent="0">
                  <a:buNone/>
                </a:pP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314994" y="1105988"/>
                <a:ext cx="10363200" cy="5077097"/>
              </a:xfrm>
              <a:blipFill>
                <a:blip r:embed="rId2"/>
                <a:stretch>
                  <a:fillRect l="-1059"/>
                </a:stretch>
              </a:blipFill>
            </p:spPr>
            <p:txBody>
              <a:bodyPr/>
              <a:lstStyle/>
              <a:p>
                <a:r>
                  <a:rPr lang="zh-TW" altLang="en-US">
                    <a:noFill/>
                  </a:rPr>
                  <a:t> </a:t>
                </a:r>
              </a:p>
            </p:txBody>
          </p:sp>
        </mc:Fallback>
      </mc:AlternateContent>
      <p:pic>
        <p:nvPicPr>
          <p:cNvPr id="4" name="图片 3"/>
          <p:cNvPicPr>
            <a:picLocks noChangeAspect="1"/>
          </p:cNvPicPr>
          <p:nvPr/>
        </p:nvPicPr>
        <p:blipFill>
          <a:blip r:embed="rId3"/>
          <a:stretch>
            <a:fillRect/>
          </a:stretch>
        </p:blipFill>
        <p:spPr>
          <a:xfrm>
            <a:off x="7328618" y="1387196"/>
            <a:ext cx="3226178" cy="2831539"/>
          </a:xfrm>
          <a:prstGeom prst="rect">
            <a:avLst/>
          </a:prstGeom>
        </p:spPr>
      </p:pic>
      <p:pic>
        <p:nvPicPr>
          <p:cNvPr id="5" name="图片 4"/>
          <p:cNvPicPr>
            <a:picLocks noChangeAspect="1"/>
          </p:cNvPicPr>
          <p:nvPr/>
        </p:nvPicPr>
        <p:blipFill>
          <a:blip r:embed="rId4"/>
          <a:stretch>
            <a:fillRect/>
          </a:stretch>
        </p:blipFill>
        <p:spPr>
          <a:xfrm>
            <a:off x="7328618" y="627016"/>
            <a:ext cx="4657083" cy="3801699"/>
          </a:xfrm>
          <a:prstGeom prst="rect">
            <a:avLst/>
          </a:prstGeom>
        </p:spPr>
      </p:pic>
      <p:sp>
        <p:nvSpPr>
          <p:cNvPr id="6" name="文本框 189"/>
          <p:cNvSpPr txBox="1"/>
          <p:nvPr/>
        </p:nvSpPr>
        <p:spPr>
          <a:xfrm>
            <a:off x="3986808" y="1495008"/>
            <a:ext cx="999047"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0.25</a:t>
            </a:r>
            <a:endParaRPr kumimoji="0" lang="zh-CN" altLang="en-US" sz="24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10" name="直接箭头连接符 9"/>
          <p:cNvCxnSpPr/>
          <p:nvPr/>
        </p:nvCxnSpPr>
        <p:spPr>
          <a:xfrm flipH="1">
            <a:off x="3187338" y="1859475"/>
            <a:ext cx="799470" cy="4831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2299063" y="2438400"/>
            <a:ext cx="1611086" cy="66185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5" name="直接箭头连接符 14"/>
          <p:cNvCxnSpPr/>
          <p:nvPr/>
        </p:nvCxnSpPr>
        <p:spPr>
          <a:xfrm flipV="1">
            <a:off x="2081348" y="4164550"/>
            <a:ext cx="775063" cy="191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740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解决思路</a:t>
            </a:r>
          </a:p>
        </p:txBody>
      </p:sp>
      <p:sp>
        <p:nvSpPr>
          <p:cNvPr id="3" name="内容占位符 2"/>
          <p:cNvSpPr>
            <a:spLocks noGrp="1"/>
          </p:cNvSpPr>
          <p:nvPr>
            <p:ph sz="quarter" idx="1"/>
          </p:nvPr>
        </p:nvSpPr>
        <p:spPr>
          <a:xfrm>
            <a:off x="1219200" y="1726475"/>
            <a:ext cx="10363200" cy="4572000"/>
          </a:xfrm>
        </p:spPr>
        <p:txBody>
          <a:bodyPr/>
          <a:lstStyle/>
          <a:p>
            <a:r>
              <a:rPr lang="zh-CN" altLang="en-US" dirty="0"/>
              <a:t>使用</a:t>
            </a:r>
            <a:r>
              <a:rPr lang="en-US" altLang="zh-CN" dirty="0" err="1"/>
              <a:t>ReLU</a:t>
            </a:r>
            <a:r>
              <a:rPr lang="zh-CN" altLang="en-US" dirty="0"/>
              <a:t>激活函數</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err="1"/>
              <a:t>ReLU</a:t>
            </a:r>
            <a:r>
              <a:rPr lang="zh-CN" altLang="en-US" dirty="0"/>
              <a:t>的導數</a:t>
            </a:r>
            <a:r>
              <a:rPr lang="en-US" altLang="zh-CN" dirty="0"/>
              <a:t>=1</a:t>
            </a:r>
          </a:p>
        </p:txBody>
      </p:sp>
      <p:pic>
        <p:nvPicPr>
          <p:cNvPr id="6" name="图片 5"/>
          <p:cNvPicPr>
            <a:picLocks noChangeAspect="1"/>
          </p:cNvPicPr>
          <p:nvPr/>
        </p:nvPicPr>
        <p:blipFill>
          <a:blip r:embed="rId2"/>
          <a:stretch>
            <a:fillRect/>
          </a:stretch>
        </p:blipFill>
        <p:spPr>
          <a:xfrm>
            <a:off x="6400800" y="2103787"/>
            <a:ext cx="5660040" cy="2830020"/>
          </a:xfrm>
          <a:prstGeom prst="rect">
            <a:avLst/>
          </a:prstGeom>
        </p:spPr>
      </p:pic>
      <mc:AlternateContent xmlns:mc="http://schemas.openxmlformats.org/markup-compatibility/2006">
        <mc:Choice xmlns:a14="http://schemas.microsoft.com/office/drawing/2010/main" Requires="a14">
          <p:sp>
            <p:nvSpPr>
              <p:cNvPr id="4" name="矩形 3"/>
              <p:cNvSpPr/>
              <p:nvPr/>
            </p:nvSpPr>
            <p:spPr>
              <a:xfrm>
                <a:off x="1383874" y="3323988"/>
                <a:ext cx="4538487" cy="111870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𝛿</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h</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h</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h</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nary>
                        <m:naryPr>
                          <m:chr m:val="∑"/>
                          <m:limLoc m:val="undOvr"/>
                          <m:supHide m:val="on"/>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lang="zh-CN" altLang="en-US" sz="2400" i="1" smtClean="0">
                              <a:solidFill>
                                <a:prstClr val="black"/>
                              </a:solidFill>
                              <a:latin typeface="Cambria Math" panose="02040503050406030204" pitchFamily="18" charset="0"/>
                            </a:rPr>
                            <m:t>後繼</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h</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ub>
                        <m:sup/>
                        <m:e>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𝛿</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𝑘</m:t>
                              </m:r>
                            </m:sub>
                          </m:sSub>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𝑘h</m:t>
                              </m:r>
                            </m:sub>
                          </m:sSub>
                        </m:e>
                      </m:nary>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4" name="矩形 3"/>
              <p:cNvSpPr>
                <a:spLocks noRot="1" noChangeAspect="1" noMove="1" noResize="1" noEditPoints="1" noAdjustHandles="1" noChangeArrowheads="1" noChangeShapeType="1" noTextEdit="1"/>
              </p:cNvSpPr>
              <p:nvPr/>
            </p:nvSpPr>
            <p:spPr>
              <a:xfrm>
                <a:off x="1383874" y="3323988"/>
                <a:ext cx="4538487" cy="1118704"/>
              </a:xfrm>
              <a:prstGeom prst="rect">
                <a:avLst/>
              </a:prstGeom>
              <a:blipFill>
                <a:blip r:embed="rId3"/>
                <a:stretch>
                  <a:fillRect/>
                </a:stretch>
              </a:blipFill>
            </p:spPr>
            <p:txBody>
              <a:bodyPr/>
              <a:lstStyle/>
              <a:p>
                <a:r>
                  <a:rPr lang="zh-TW" altLang="en-US">
                    <a:noFill/>
                  </a:rPr>
                  <a:t> </a:t>
                </a:r>
              </a:p>
            </p:txBody>
          </p:sp>
        </mc:Fallback>
      </mc:AlternateContent>
      <p:sp>
        <p:nvSpPr>
          <p:cNvPr id="7" name="文本框 189"/>
          <p:cNvSpPr txBox="1"/>
          <p:nvPr/>
        </p:nvSpPr>
        <p:spPr>
          <a:xfrm>
            <a:off x="3819137" y="2360775"/>
            <a:ext cx="1379880" cy="731700"/>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Sigmoid</a:t>
            </a:r>
            <a:r>
              <a:rPr kumimoji="0" lang="zh-CN" altLang="en-US" sz="24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的導數</a:t>
            </a:r>
          </a:p>
        </p:txBody>
      </p:sp>
      <p:cxnSp>
        <p:nvCxnSpPr>
          <p:cNvPr id="8" name="直接箭头连接符 7"/>
          <p:cNvCxnSpPr/>
          <p:nvPr/>
        </p:nvCxnSpPr>
        <p:spPr>
          <a:xfrm flipH="1">
            <a:off x="3019667" y="2860961"/>
            <a:ext cx="799470" cy="4831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2131392" y="3439886"/>
            <a:ext cx="1611086" cy="66185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1713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兩個實例</a:t>
            </a:r>
          </a:p>
        </p:txBody>
      </p:sp>
      <p:sp>
        <p:nvSpPr>
          <p:cNvPr id="3" name="内容占位符 2"/>
          <p:cNvSpPr>
            <a:spLocks noGrp="1"/>
          </p:cNvSpPr>
          <p:nvPr>
            <p:ph sz="quarter" idx="1"/>
          </p:nvPr>
        </p:nvSpPr>
        <p:spPr/>
        <p:txBody>
          <a:bodyPr/>
          <a:lstStyle/>
          <a:p>
            <a:endParaRPr lang="en-US" altLang="zh-CN" dirty="0"/>
          </a:p>
          <a:p>
            <a:r>
              <a:rPr lang="en-US" altLang="zh-CN" dirty="0" err="1"/>
              <a:t>GoogLeNet</a:t>
            </a:r>
            <a:endParaRPr lang="en-US" altLang="zh-CN" dirty="0"/>
          </a:p>
          <a:p>
            <a:endParaRPr lang="en-US" altLang="zh-CN" dirty="0"/>
          </a:p>
          <a:p>
            <a:r>
              <a:rPr lang="zh-CN" altLang="en-US" dirty="0"/>
              <a:t>殘差網絡（</a:t>
            </a:r>
            <a:r>
              <a:rPr lang="en-US" altLang="zh-CN" dirty="0" err="1"/>
              <a:t>ResNet</a:t>
            </a:r>
            <a:r>
              <a:rPr lang="zh-CN" altLang="en-US" dirty="0"/>
              <a:t>）</a:t>
            </a:r>
            <a:endParaRPr lang="en-US" altLang="zh-CN" dirty="0"/>
          </a:p>
          <a:p>
            <a:endParaRPr lang="en-US" altLang="zh-CN" dirty="0"/>
          </a:p>
        </p:txBody>
      </p:sp>
    </p:spTree>
    <p:extLst>
      <p:ext uri="{BB962C8B-B14F-4D97-AF65-F5344CB8AC3E}">
        <p14:creationId xmlns:p14="http://schemas.microsoft.com/office/powerpoint/2010/main" val="27522149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E盘\人工智能导论\2020人工智能上课（另一台机器上的有2021）\2020人工智能导论修改后作为2021的课件\googlenet.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8270" y="211673"/>
            <a:ext cx="1228362" cy="6361747"/>
          </a:xfrm>
          <a:prstGeom prst="rect">
            <a:avLst/>
          </a:prstGeom>
          <a:noFill/>
          <a:ln>
            <a:noFill/>
          </a:ln>
        </p:spPr>
      </p:pic>
      <p:sp>
        <p:nvSpPr>
          <p:cNvPr id="6" name="标题 1"/>
          <p:cNvSpPr>
            <a:spLocks noGrp="1"/>
          </p:cNvSpPr>
          <p:nvPr>
            <p:ph type="title"/>
          </p:nvPr>
        </p:nvSpPr>
        <p:spPr>
          <a:xfrm>
            <a:off x="1219200" y="274638"/>
            <a:ext cx="10363200" cy="1143000"/>
          </a:xfrm>
        </p:spPr>
        <p:txBody>
          <a:bodyPr/>
          <a:lstStyle/>
          <a:p>
            <a:r>
              <a:rPr lang="en-US" altLang="zh-CN" dirty="0" err="1"/>
              <a:t>GoogLeNet</a:t>
            </a:r>
            <a:endParaRPr lang="zh-CN" altLang="en-US" dirty="0"/>
          </a:p>
        </p:txBody>
      </p:sp>
      <p:grpSp>
        <p:nvGrpSpPr>
          <p:cNvPr id="25" name="组合 24"/>
          <p:cNvGrpSpPr/>
          <p:nvPr/>
        </p:nvGrpSpPr>
        <p:grpSpPr>
          <a:xfrm>
            <a:off x="9910354" y="888520"/>
            <a:ext cx="1062446" cy="4179554"/>
            <a:chOff x="7576457" y="766600"/>
            <a:chExt cx="1062446" cy="4179554"/>
          </a:xfrm>
        </p:grpSpPr>
        <p:cxnSp>
          <p:nvCxnSpPr>
            <p:cNvPr id="17" name="直接箭头连接符 16"/>
            <p:cNvCxnSpPr>
              <a:cxnSpLocks/>
            </p:cNvCxnSpPr>
            <p:nvPr/>
          </p:nvCxnSpPr>
          <p:spPr>
            <a:xfrm flipV="1">
              <a:off x="8107680" y="447589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8107680" y="3640183"/>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8107680" y="29499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8090263" y="22697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8081555" y="1598412"/>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8081555" y="766600"/>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576457" y="4047380"/>
              <a:ext cx="1062446" cy="430077"/>
            </a:xfrm>
            <a:prstGeom prst="rect">
              <a:avLst/>
            </a:prstGeom>
            <a:solidFill>
              <a:srgbClr val="FF00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平均池化</a:t>
              </a:r>
              <a:endPar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矩形 11"/>
            <p:cNvSpPr/>
            <p:nvPr/>
          </p:nvSpPr>
          <p:spPr>
            <a:xfrm>
              <a:off x="7576457" y="3356226"/>
              <a:ext cx="1062446" cy="283957"/>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卷 積 層</a:t>
              </a:r>
            </a:p>
          </p:txBody>
        </p:sp>
        <p:sp>
          <p:nvSpPr>
            <p:cNvPr id="13" name="矩形 12"/>
            <p:cNvSpPr/>
            <p:nvPr/>
          </p:nvSpPr>
          <p:spPr>
            <a:xfrm>
              <a:off x="7576457" y="2587480"/>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全連接層</a:t>
              </a:r>
            </a:p>
          </p:txBody>
        </p:sp>
        <p:sp>
          <p:nvSpPr>
            <p:cNvPr id="14" name="矩形 13"/>
            <p:cNvSpPr/>
            <p:nvPr/>
          </p:nvSpPr>
          <p:spPr>
            <a:xfrm>
              <a:off x="7576457" y="1908212"/>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全連接層</a:t>
              </a:r>
            </a:p>
          </p:txBody>
        </p:sp>
        <p:sp>
          <p:nvSpPr>
            <p:cNvPr id="15" name="矩形 14"/>
            <p:cNvSpPr/>
            <p:nvPr/>
          </p:nvSpPr>
          <p:spPr>
            <a:xfrm>
              <a:off x="7576457" y="1236863"/>
              <a:ext cx="1062446" cy="361549"/>
            </a:xfrm>
            <a:prstGeom prst="rect">
              <a:avLst/>
            </a:prstGeom>
            <a:solidFill>
              <a:srgbClr val="FEC2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softmax</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7" name="矩形 26"/>
          <p:cNvSpPr/>
          <p:nvPr/>
        </p:nvSpPr>
        <p:spPr>
          <a:xfrm>
            <a:off x="9609909" y="773205"/>
            <a:ext cx="1611086" cy="4494177"/>
          </a:xfrm>
          <a:prstGeom prst="rect">
            <a:avLst/>
          </a:prstGeom>
          <a:noFill/>
          <a:ln w="381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8" name="组合 27"/>
          <p:cNvGrpSpPr/>
          <p:nvPr/>
        </p:nvGrpSpPr>
        <p:grpSpPr>
          <a:xfrm>
            <a:off x="7913914" y="888520"/>
            <a:ext cx="1062446" cy="4139440"/>
            <a:chOff x="7576457" y="766600"/>
            <a:chExt cx="1062446" cy="4139440"/>
          </a:xfrm>
        </p:grpSpPr>
        <p:cxnSp>
          <p:nvCxnSpPr>
            <p:cNvPr id="29" name="直接箭头连接符 28"/>
            <p:cNvCxnSpPr/>
            <p:nvPr/>
          </p:nvCxnSpPr>
          <p:spPr>
            <a:xfrm flipV="1">
              <a:off x="8107680" y="4435777"/>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8107680" y="3640183"/>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8107680" y="29499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V="1">
              <a:off x="8090263" y="22697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V="1">
              <a:off x="8081555" y="1598412"/>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V="1">
              <a:off x="8081555" y="766600"/>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7576457" y="4047380"/>
              <a:ext cx="1062446" cy="383393"/>
            </a:xfrm>
            <a:prstGeom prst="rect">
              <a:avLst/>
            </a:prstGeom>
            <a:solidFill>
              <a:srgbClr val="FF00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平均池化</a:t>
              </a:r>
              <a:endPar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矩形 35"/>
            <p:cNvSpPr/>
            <p:nvPr/>
          </p:nvSpPr>
          <p:spPr>
            <a:xfrm>
              <a:off x="7576457" y="3356226"/>
              <a:ext cx="1062446" cy="283957"/>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卷 積 層</a:t>
              </a:r>
            </a:p>
          </p:txBody>
        </p:sp>
        <p:sp>
          <p:nvSpPr>
            <p:cNvPr id="37" name="矩形 36"/>
            <p:cNvSpPr/>
            <p:nvPr/>
          </p:nvSpPr>
          <p:spPr>
            <a:xfrm>
              <a:off x="7576457" y="2587480"/>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全連接層</a:t>
              </a:r>
            </a:p>
          </p:txBody>
        </p:sp>
        <p:sp>
          <p:nvSpPr>
            <p:cNvPr id="38" name="矩形 37"/>
            <p:cNvSpPr/>
            <p:nvPr/>
          </p:nvSpPr>
          <p:spPr>
            <a:xfrm>
              <a:off x="7576457" y="1908212"/>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全連接層</a:t>
              </a:r>
            </a:p>
          </p:txBody>
        </p:sp>
        <p:sp>
          <p:nvSpPr>
            <p:cNvPr id="39" name="矩形 38"/>
            <p:cNvSpPr/>
            <p:nvPr/>
          </p:nvSpPr>
          <p:spPr>
            <a:xfrm>
              <a:off x="7576457" y="1236863"/>
              <a:ext cx="1062446" cy="361549"/>
            </a:xfrm>
            <a:prstGeom prst="rect">
              <a:avLst/>
            </a:prstGeom>
            <a:solidFill>
              <a:srgbClr val="FEC2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softmax</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40" name="矩形 39"/>
          <p:cNvSpPr/>
          <p:nvPr/>
        </p:nvSpPr>
        <p:spPr>
          <a:xfrm>
            <a:off x="7611292" y="773205"/>
            <a:ext cx="1611086" cy="4494177"/>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矩形 52"/>
          <p:cNvSpPr/>
          <p:nvPr/>
        </p:nvSpPr>
        <p:spPr>
          <a:xfrm>
            <a:off x="1858101" y="2030133"/>
            <a:ext cx="1611086" cy="339603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 name="椭圆 53"/>
          <p:cNvSpPr/>
          <p:nvPr/>
        </p:nvSpPr>
        <p:spPr>
          <a:xfrm>
            <a:off x="5102779" y="239351"/>
            <a:ext cx="514251" cy="796969"/>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椭圆 54"/>
          <p:cNvSpPr/>
          <p:nvPr/>
        </p:nvSpPr>
        <p:spPr>
          <a:xfrm>
            <a:off x="5534070" y="1325401"/>
            <a:ext cx="614181" cy="1066280"/>
          </a:xfrm>
          <a:prstGeom prst="ellipse">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椭圆 55"/>
          <p:cNvSpPr/>
          <p:nvPr/>
        </p:nvSpPr>
        <p:spPr>
          <a:xfrm>
            <a:off x="5695069" y="2753667"/>
            <a:ext cx="614181" cy="1066280"/>
          </a:xfrm>
          <a:prstGeom prst="ellipse">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1" name="直接箭头连接符 60"/>
          <p:cNvCxnSpPr/>
          <p:nvPr/>
        </p:nvCxnSpPr>
        <p:spPr>
          <a:xfrm flipV="1">
            <a:off x="6226632" y="1567241"/>
            <a:ext cx="1230310" cy="20744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6391190" y="3359619"/>
            <a:ext cx="3169621" cy="905336"/>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flipH="1">
            <a:off x="3483430" y="888520"/>
            <a:ext cx="1570251" cy="263720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5932490" y="6050182"/>
            <a:ext cx="1062446" cy="313508"/>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輸入</a:t>
            </a:r>
          </a:p>
        </p:txBody>
      </p:sp>
      <p:pic>
        <p:nvPicPr>
          <p:cNvPr id="51" name="内容占位符 3"/>
          <p:cNvPicPr>
            <a:picLocks noGrp="1" noChangeAspect="1"/>
          </p:cNvPicPr>
          <p:nvPr>
            <p:ph idx="1"/>
          </p:nvPr>
        </p:nvPicPr>
        <p:blipFill>
          <a:blip r:embed="rId4"/>
          <a:stretch>
            <a:fillRect/>
          </a:stretch>
        </p:blipFill>
        <p:spPr>
          <a:xfrm>
            <a:off x="2150680" y="1567241"/>
            <a:ext cx="6362063" cy="4773361"/>
          </a:xfrm>
          <a:prstGeom prst="rect">
            <a:avLst/>
          </a:prstGeom>
        </p:spPr>
      </p:pic>
      <p:sp>
        <p:nvSpPr>
          <p:cNvPr id="57" name="矩形 56"/>
          <p:cNvSpPr/>
          <p:nvPr/>
        </p:nvSpPr>
        <p:spPr>
          <a:xfrm>
            <a:off x="6199145" y="1765442"/>
            <a:ext cx="2229807" cy="26616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高樓供水系統</a:t>
            </a:r>
          </a:p>
        </p:txBody>
      </p:sp>
      <p:grpSp>
        <p:nvGrpSpPr>
          <p:cNvPr id="2" name="组合 1">
            <a:extLst>
              <a:ext uri="{FF2B5EF4-FFF2-40B4-BE49-F238E27FC236}">
                <a16:creationId xmlns:a16="http://schemas.microsoft.com/office/drawing/2014/main" id="{E649630E-CC8E-4482-9170-F0DBD839AE58}"/>
              </a:ext>
            </a:extLst>
          </p:cNvPr>
          <p:cNvGrpSpPr/>
          <p:nvPr/>
        </p:nvGrpSpPr>
        <p:grpSpPr>
          <a:xfrm>
            <a:off x="2132421" y="2311909"/>
            <a:ext cx="1062446" cy="2874831"/>
            <a:chOff x="2129645" y="2291532"/>
            <a:chExt cx="1062446" cy="2874831"/>
          </a:xfrm>
        </p:grpSpPr>
        <p:cxnSp>
          <p:nvCxnSpPr>
            <p:cNvPr id="42" name="直接箭头连接符 41"/>
            <p:cNvCxnSpPr/>
            <p:nvPr/>
          </p:nvCxnSpPr>
          <p:spPr>
            <a:xfrm flipV="1">
              <a:off x="2660868" y="4696100"/>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V="1">
              <a:off x="2660868" y="3821745"/>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2643451" y="3141545"/>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2634743" y="2291532"/>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2129645" y="4309190"/>
              <a:ext cx="1062446" cy="380669"/>
            </a:xfrm>
            <a:prstGeom prst="rect">
              <a:avLst/>
            </a:prstGeom>
            <a:solidFill>
              <a:srgbClr val="FF00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平均池化</a:t>
              </a:r>
              <a:endPar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矩形 49"/>
            <p:cNvSpPr/>
            <p:nvPr/>
          </p:nvSpPr>
          <p:spPr>
            <a:xfrm>
              <a:off x="2129645" y="3459264"/>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全連接層</a:t>
              </a:r>
            </a:p>
          </p:txBody>
        </p:sp>
        <p:sp>
          <p:nvSpPr>
            <p:cNvPr id="52" name="矩形 51"/>
            <p:cNvSpPr/>
            <p:nvPr/>
          </p:nvSpPr>
          <p:spPr>
            <a:xfrm>
              <a:off x="2129645" y="2761795"/>
              <a:ext cx="1062446" cy="361549"/>
            </a:xfrm>
            <a:prstGeom prst="rect">
              <a:avLst/>
            </a:prstGeom>
            <a:solidFill>
              <a:srgbClr val="FEC2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softmax</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31479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56"/>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55"/>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5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61"/>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40"/>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64"/>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2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66"/>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53"/>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5"/>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5"/>
                                        </p:tgtEl>
                                        <p:attrNameLst>
                                          <p:attrName>style.visibility</p:attrName>
                                        </p:attrNameLst>
                                      </p:cBhvr>
                                      <p:to>
                                        <p:strVal val="hidden"/>
                                      </p:to>
                                    </p:set>
                                  </p:childTnLst>
                                </p:cTn>
                              </p:par>
                              <p:par>
                                <p:cTn id="57" presetID="1" presetClass="exit" presetSubtype="0" fill="hold" grpId="0" nodeType="withEffect">
                                  <p:stCondLst>
                                    <p:cond delay="0"/>
                                  </p:stCondLst>
                                  <p:childTnLst>
                                    <p:set>
                                      <p:cBhvr>
                                        <p:cTn id="58" dur="1" fill="hold">
                                          <p:stCondLst>
                                            <p:cond delay="0"/>
                                          </p:stCondLst>
                                        </p:cTn>
                                        <p:tgtEl>
                                          <p:spTgt spid="6"/>
                                        </p:tgtEl>
                                        <p:attrNameLst>
                                          <p:attrName>style.visibility</p:attrName>
                                        </p:attrNameLst>
                                      </p:cBhvr>
                                      <p:to>
                                        <p:strVal val="hidden"/>
                                      </p:to>
                                    </p:set>
                                  </p:childTnLst>
                                </p:cTn>
                              </p:par>
                              <p:par>
                                <p:cTn id="59" presetID="1" presetClass="exit" presetSubtype="0" fill="hold" grpId="0" nodeType="withEffect">
                                  <p:stCondLst>
                                    <p:cond delay="0"/>
                                  </p:stCondLst>
                                  <p:childTnLst>
                                    <p:set>
                                      <p:cBhvr>
                                        <p:cTn id="60" dur="1" fill="hold">
                                          <p:stCondLst>
                                            <p:cond delay="0"/>
                                          </p:stCondLst>
                                        </p:cTn>
                                        <p:tgtEl>
                                          <p:spTgt spid="71"/>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2"/>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57"/>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51"/>
                                        </p:tgtEl>
                                        <p:attrNameLst>
                                          <p:attrName>style.visibility</p:attrName>
                                        </p:attrNameLst>
                                      </p:cBhvr>
                                      <p:to>
                                        <p:strVal val="hidden"/>
                                      </p:to>
                                    </p:set>
                                  </p:childTnLst>
                                </p:cTn>
                              </p:par>
                              <p:par>
                                <p:cTn id="73" presetID="1" presetClass="entr" presetSubtype="0" fill="hold" grpId="2" nodeType="with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grpId="2" nodeType="withEffect">
                                  <p:stCondLst>
                                    <p:cond delay="0"/>
                                  </p:stCondLst>
                                  <p:childTnLst>
                                    <p:set>
                                      <p:cBhvr>
                                        <p:cTn id="76" dur="1" fill="hold">
                                          <p:stCondLst>
                                            <p:cond delay="0"/>
                                          </p:stCondLst>
                                        </p:cTn>
                                        <p:tgtEl>
                                          <p:spTgt spid="55"/>
                                        </p:tgtEl>
                                        <p:attrNameLst>
                                          <p:attrName>style.visibility</p:attrName>
                                        </p:attrNameLst>
                                      </p:cBhvr>
                                      <p:to>
                                        <p:strVal val="visible"/>
                                      </p:to>
                                    </p:set>
                                  </p:childTnLst>
                                </p:cTn>
                              </p:par>
                              <p:par>
                                <p:cTn id="77" presetID="1" presetClass="entr" presetSubtype="0" fill="hold" grpId="2"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par>
                                <p:cTn id="81" presetID="1" presetClass="entr" presetSubtype="0" fill="hold" grpId="2" nodeType="with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4"/>
                                        </p:tgtEl>
                                        <p:attrNameLst>
                                          <p:attrName>style.visibility</p:attrName>
                                        </p:attrNameLst>
                                      </p:cBhvr>
                                      <p:to>
                                        <p:strVal val="visible"/>
                                      </p:to>
                                    </p:set>
                                  </p:childTnLst>
                                </p:cTn>
                              </p:par>
                              <p:par>
                                <p:cTn id="85" presetID="1" presetClass="entr" presetSubtype="0" fill="hold" grpId="2" nodeType="with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6"/>
                                        </p:tgtEl>
                                        <p:attrNameLst>
                                          <p:attrName>style.visibility</p:attrName>
                                        </p:attrNameLst>
                                      </p:cBhvr>
                                      <p:to>
                                        <p:strVal val="visible"/>
                                      </p:to>
                                    </p:set>
                                  </p:childTnLst>
                                </p:cTn>
                              </p:par>
                              <p:par>
                                <p:cTn id="89" presetID="1" presetClass="entr" presetSubtype="0" fill="hold" grpId="2" nodeType="with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6"/>
                                        </p:tgtEl>
                                        <p:attrNameLst>
                                          <p:attrName>style.visibility</p:attrName>
                                        </p:attrNameLst>
                                      </p:cBhvr>
                                      <p:to>
                                        <p:strVal val="visible"/>
                                      </p:to>
                                    </p:set>
                                  </p:childTnLst>
                                </p:cTn>
                              </p:par>
                              <p:par>
                                <p:cTn id="101" presetID="1" presetClass="entr" presetSubtype="0" fill="hold" grpId="1" nodeType="withEffect">
                                  <p:stCondLst>
                                    <p:cond delay="0"/>
                                  </p:stCondLst>
                                  <p:childTnLst>
                                    <p:set>
                                      <p:cBhvr>
                                        <p:cTn id="102"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7" grpId="0" animBg="1"/>
      <p:bldP spid="27" grpId="1" animBg="1"/>
      <p:bldP spid="27" grpId="2" animBg="1"/>
      <p:bldP spid="40" grpId="0" animBg="1"/>
      <p:bldP spid="40" grpId="1" animBg="1"/>
      <p:bldP spid="40" grpId="2" animBg="1"/>
      <p:bldP spid="53" grpId="0" animBg="1"/>
      <p:bldP spid="53" grpId="1" animBg="1"/>
      <p:bldP spid="53" grpId="2" animBg="1"/>
      <p:bldP spid="54" grpId="0" animBg="1"/>
      <p:bldP spid="54" grpId="1" animBg="1"/>
      <p:bldP spid="54" grpId="2" animBg="1"/>
      <p:bldP spid="55" grpId="0" animBg="1"/>
      <p:bldP spid="55" grpId="1" animBg="1"/>
      <p:bldP spid="55" grpId="2" animBg="1"/>
      <p:bldP spid="56" grpId="0" animBg="1"/>
      <p:bldP spid="56" grpId="1" animBg="1"/>
      <p:bldP spid="56" grpId="2" animBg="1"/>
      <p:bldP spid="71" grpId="0"/>
      <p:bldP spid="71" grpId="1"/>
      <p:bldP spid="57" grpId="0" animBg="1"/>
      <p:bldP spid="57" grpId="1"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E盘\人工智能导论\2020人工智能上课（另一台机器上的有2021）\2020人工智能导论修改后作为2021的课件\googlenet.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2639" y="239351"/>
            <a:ext cx="1228362" cy="6361747"/>
          </a:xfrm>
          <a:prstGeom prst="rect">
            <a:avLst/>
          </a:prstGeom>
          <a:noFill/>
          <a:ln>
            <a:noFill/>
          </a:ln>
        </p:spPr>
      </p:pic>
      <p:sp>
        <p:nvSpPr>
          <p:cNvPr id="6" name="标题 1"/>
          <p:cNvSpPr>
            <a:spLocks noGrp="1"/>
          </p:cNvSpPr>
          <p:nvPr>
            <p:ph type="title"/>
          </p:nvPr>
        </p:nvSpPr>
        <p:spPr>
          <a:xfrm>
            <a:off x="1219200" y="274638"/>
            <a:ext cx="10363200" cy="1143000"/>
          </a:xfrm>
        </p:spPr>
        <p:txBody>
          <a:bodyPr/>
          <a:lstStyle/>
          <a:p>
            <a:r>
              <a:rPr lang="en-US" altLang="zh-CN" dirty="0" err="1"/>
              <a:t>GoogLeNet</a:t>
            </a:r>
            <a:endParaRPr lang="zh-CN" altLang="en-US" dirty="0"/>
          </a:p>
        </p:txBody>
      </p:sp>
      <p:sp>
        <p:nvSpPr>
          <p:cNvPr id="53" name="矩形 52"/>
          <p:cNvSpPr/>
          <p:nvPr/>
        </p:nvSpPr>
        <p:spPr>
          <a:xfrm>
            <a:off x="5549306" y="2699656"/>
            <a:ext cx="2723838" cy="79002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6" name="直接箭头连接符 65"/>
          <p:cNvCxnSpPr>
            <a:stCxn id="67" idx="6"/>
            <a:endCxn id="53" idx="1"/>
          </p:cNvCxnSpPr>
          <p:nvPr/>
        </p:nvCxnSpPr>
        <p:spPr>
          <a:xfrm>
            <a:off x="4616834" y="1105912"/>
            <a:ext cx="932472" cy="19887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4486859" y="6050182"/>
            <a:ext cx="1062446" cy="313508"/>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輸入</a:t>
            </a:r>
          </a:p>
        </p:txBody>
      </p:sp>
      <p:sp>
        <p:nvSpPr>
          <p:cNvPr id="51" name="椭圆 50"/>
          <p:cNvSpPr/>
          <p:nvPr/>
        </p:nvSpPr>
        <p:spPr>
          <a:xfrm>
            <a:off x="3621012" y="4476206"/>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椭圆 56"/>
          <p:cNvSpPr/>
          <p:nvPr/>
        </p:nvSpPr>
        <p:spPr>
          <a:xfrm>
            <a:off x="3621012" y="4937760"/>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椭圆 57"/>
          <p:cNvSpPr/>
          <p:nvPr/>
        </p:nvSpPr>
        <p:spPr>
          <a:xfrm>
            <a:off x="3621012" y="3830635"/>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椭圆 58"/>
          <p:cNvSpPr/>
          <p:nvPr/>
        </p:nvSpPr>
        <p:spPr>
          <a:xfrm>
            <a:off x="3552639" y="3366433"/>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椭圆 59"/>
          <p:cNvSpPr/>
          <p:nvPr/>
        </p:nvSpPr>
        <p:spPr>
          <a:xfrm>
            <a:off x="3621011" y="2873830"/>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椭圆 61"/>
          <p:cNvSpPr/>
          <p:nvPr/>
        </p:nvSpPr>
        <p:spPr>
          <a:xfrm>
            <a:off x="3582475" y="2454308"/>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椭圆 62"/>
          <p:cNvSpPr/>
          <p:nvPr/>
        </p:nvSpPr>
        <p:spPr>
          <a:xfrm>
            <a:off x="3475567" y="1998246"/>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椭圆 64"/>
          <p:cNvSpPr/>
          <p:nvPr/>
        </p:nvSpPr>
        <p:spPr>
          <a:xfrm>
            <a:off x="3475567" y="1419916"/>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椭圆 66"/>
          <p:cNvSpPr/>
          <p:nvPr/>
        </p:nvSpPr>
        <p:spPr>
          <a:xfrm>
            <a:off x="3379773" y="905615"/>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9" name="直接箭头连接符 68"/>
          <p:cNvCxnSpPr>
            <a:stCxn id="57" idx="6"/>
            <a:endCxn id="53" idx="1"/>
          </p:cNvCxnSpPr>
          <p:nvPr/>
        </p:nvCxnSpPr>
        <p:spPr>
          <a:xfrm flipV="1">
            <a:off x="4858073" y="3094666"/>
            <a:ext cx="691233" cy="204339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51" idx="6"/>
            <a:endCxn id="53" idx="1"/>
          </p:cNvCxnSpPr>
          <p:nvPr/>
        </p:nvCxnSpPr>
        <p:spPr>
          <a:xfrm flipV="1">
            <a:off x="4858073" y="3094666"/>
            <a:ext cx="691233" cy="15818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endCxn id="53" idx="1"/>
          </p:cNvCxnSpPr>
          <p:nvPr/>
        </p:nvCxnSpPr>
        <p:spPr>
          <a:xfrm flipV="1">
            <a:off x="4872991" y="3094666"/>
            <a:ext cx="676315" cy="9115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endCxn id="53" idx="1"/>
          </p:cNvCxnSpPr>
          <p:nvPr/>
        </p:nvCxnSpPr>
        <p:spPr>
          <a:xfrm>
            <a:off x="4872991" y="3083066"/>
            <a:ext cx="676315" cy="116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59" idx="6"/>
            <a:endCxn id="53" idx="1"/>
          </p:cNvCxnSpPr>
          <p:nvPr/>
        </p:nvCxnSpPr>
        <p:spPr>
          <a:xfrm flipV="1">
            <a:off x="4789700" y="3094666"/>
            <a:ext cx="759606" cy="4720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63" idx="6"/>
            <a:endCxn id="53" idx="1"/>
          </p:cNvCxnSpPr>
          <p:nvPr/>
        </p:nvCxnSpPr>
        <p:spPr>
          <a:xfrm>
            <a:off x="4712628" y="2198543"/>
            <a:ext cx="836678" cy="89612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5" idx="6"/>
            <a:endCxn id="53" idx="1"/>
          </p:cNvCxnSpPr>
          <p:nvPr/>
        </p:nvCxnSpPr>
        <p:spPr>
          <a:xfrm>
            <a:off x="4712628" y="1620213"/>
            <a:ext cx="836678" cy="147445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62" idx="6"/>
            <a:endCxn id="53" idx="1"/>
          </p:cNvCxnSpPr>
          <p:nvPr/>
        </p:nvCxnSpPr>
        <p:spPr>
          <a:xfrm>
            <a:off x="4819536" y="2654605"/>
            <a:ext cx="729770" cy="4400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7" name="矩形 96"/>
          <p:cNvSpPr/>
          <p:nvPr/>
        </p:nvSpPr>
        <p:spPr>
          <a:xfrm>
            <a:off x="5880004" y="2899953"/>
            <a:ext cx="2062442" cy="400594"/>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Inception</a:t>
            </a:r>
            <a:r>
              <a:rPr kumimoji="0" lang="zh-CN" altLang="en-US" sz="24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模塊</a:t>
            </a:r>
          </a:p>
        </p:txBody>
      </p:sp>
    </p:spTree>
    <p:extLst>
      <p:ext uri="{BB962C8B-B14F-4D97-AF65-F5344CB8AC3E}">
        <p14:creationId xmlns:p14="http://schemas.microsoft.com/office/powerpoint/2010/main" val="369963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1" grpId="0" animBg="1"/>
      <p:bldP spid="57" grpId="0" animBg="1"/>
      <p:bldP spid="58" grpId="0" animBg="1"/>
      <p:bldP spid="59" grpId="0" animBg="1"/>
      <p:bldP spid="60" grpId="0" animBg="1"/>
      <p:bldP spid="62" grpId="0" animBg="1"/>
      <p:bldP spid="63" grpId="0" animBg="1"/>
      <p:bldP spid="65" grpId="0" animBg="1"/>
      <p:bldP spid="67" grpId="0" animBg="1"/>
      <p:bldP spid="9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爲什麽稱作</a:t>
            </a:r>
            <a:r>
              <a:rPr lang="en-US" altLang="zh-CN" dirty="0"/>
              <a:t>Inception ?</a:t>
            </a:r>
            <a:endParaRPr lang="zh-CN" altLang="en-US" dirty="0"/>
          </a:p>
        </p:txBody>
      </p:sp>
      <p:sp>
        <p:nvSpPr>
          <p:cNvPr id="3" name="内容占位符 2"/>
          <p:cNvSpPr>
            <a:spLocks noGrp="1"/>
          </p:cNvSpPr>
          <p:nvPr>
            <p:ph sz="quarter" idx="1"/>
          </p:nvPr>
        </p:nvSpPr>
        <p:spPr/>
        <p:txBody>
          <a:bodyPr/>
          <a:lstStyle/>
          <a:p>
            <a:endParaRPr lang="zh-CN" altLang="en-US" dirty="0"/>
          </a:p>
        </p:txBody>
      </p:sp>
      <p:pic>
        <p:nvPicPr>
          <p:cNvPr id="4" name="图片 3" descr="C:\Users\msp\Documents\计算机是如何实现智能的\盗梦空间.jpe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28504" y="1563507"/>
            <a:ext cx="7628708" cy="4456293"/>
          </a:xfrm>
          <a:prstGeom prst="rect">
            <a:avLst/>
          </a:prstGeom>
          <a:noFill/>
          <a:ln>
            <a:noFill/>
          </a:ln>
        </p:spPr>
      </p:pic>
      <p:sp>
        <p:nvSpPr>
          <p:cNvPr id="6" name="文本框 452"/>
          <p:cNvSpPr txBox="1"/>
          <p:nvPr/>
        </p:nvSpPr>
        <p:spPr>
          <a:xfrm>
            <a:off x="1759131" y="2311537"/>
            <a:ext cx="7323909" cy="562292"/>
          </a:xfrm>
          <a:prstGeom prst="rect">
            <a:avLst/>
          </a:prstGeom>
          <a:solidFill>
            <a:srgbClr val="5B9BD5">
              <a:lumMod val="60000"/>
              <a:lumOff val="40000"/>
              <a:alpha val="50000"/>
            </a:srgbClr>
          </a:solidFill>
          <a:ln w="6350">
            <a:noFill/>
          </a:ln>
          <a:effectLst>
            <a:glow rad="228600">
              <a:srgbClr val="5B9BD5">
                <a:lumMod val="75000"/>
                <a:alpha val="40000"/>
              </a:srgbClr>
            </a:glow>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FFFF00"/>
                </a:solidFill>
                <a:effectLst/>
                <a:uLnTx/>
                <a:uFillTx/>
                <a:latin typeface="等线" panose="02010600030101010101" pitchFamily="2" charset="-122"/>
                <a:ea typeface="华文楷体" panose="02010600040101010101" pitchFamily="2" charset="-122"/>
                <a:cs typeface="Times New Roman" panose="02020603050405020304" pitchFamily="18" charset="0"/>
              </a:rPr>
              <a:t>“我們需要更加深入！”</a:t>
            </a:r>
            <a:r>
              <a:rPr kumimoji="0" lang="zh-CN" altLang="en-US" sz="2400" b="0" i="0" u="none" strike="noStrike" kern="100" cap="none" spc="0" normalizeH="0" baseline="0" noProof="0" dirty="0">
                <a:ln>
                  <a:noFill/>
                </a:ln>
                <a:solidFill>
                  <a:srgbClr val="FFFF00"/>
                </a:solidFill>
                <a:effectLst/>
                <a:uLnTx/>
                <a:uFillTx/>
                <a:latin typeface="等线" panose="02010600030101010101" pitchFamily="2" charset="-122"/>
                <a:ea typeface="等线" panose="02010600030101010101" pitchFamily="2" charset="-122"/>
                <a:cs typeface="Times New Roman" panose="02020603050405020304" pitchFamily="18" charset="0"/>
              </a:rPr>
              <a:t> </a:t>
            </a:r>
            <a:r>
              <a:rPr kumimoji="0" lang="en-US" sz="2400" b="1" i="0" u="none" strike="noStrike" kern="100" cap="none" spc="0" normalizeH="0" baseline="0" noProof="0" dirty="0">
                <a:ln>
                  <a:noFill/>
                </a:ln>
                <a:solidFill>
                  <a:srgbClr val="FFFF00"/>
                </a:solidFill>
                <a:effectLst/>
                <a:uLnTx/>
                <a:uFillTx/>
                <a:latin typeface="等线" panose="02010600030101010101" pitchFamily="2" charset="-122"/>
                <a:ea typeface="等线" panose="02010600030101010101" pitchFamily="2" charset="-122"/>
                <a:cs typeface="Times New Roman" panose="02020603050405020304" pitchFamily="18" charset="0"/>
              </a:rPr>
              <a:t>“We need to go deeper !”</a:t>
            </a:r>
            <a:endParaRPr kumimoji="0" lang="zh-CN" altLang="en-US" sz="3200" b="0" i="0" u="none" strike="noStrike" kern="100" cap="none" spc="0" normalizeH="0" baseline="0" noProof="0" dirty="0">
              <a:ln>
                <a:noFill/>
              </a:ln>
              <a:solidFill>
                <a:srgbClr val="FFFF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5417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2AD6-0012-C9F3-16C8-4BD512C8C4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04854B4-27AB-8E49-EA1B-2A1DFA0C4942}"/>
              </a:ext>
            </a:extLst>
          </p:cNvPr>
          <p:cNvSpPr>
            <a:spLocks noGrp="1"/>
          </p:cNvSpPr>
          <p:nvPr>
            <p:ph type="title"/>
          </p:nvPr>
        </p:nvSpPr>
        <p:spPr>
          <a:xfrm>
            <a:off x="1219200" y="-151393"/>
            <a:ext cx="10363200" cy="1143000"/>
          </a:xfrm>
        </p:spPr>
        <p:txBody>
          <a:bodyPr/>
          <a:lstStyle/>
          <a:p>
            <a:r>
              <a:rPr lang="zh-CN" altLang="en-US" dirty="0"/>
              <a:t>前期回歸：多捲積核</a:t>
            </a:r>
          </a:p>
        </p:txBody>
      </p:sp>
      <p:pic>
        <p:nvPicPr>
          <p:cNvPr id="5" name="图片 4">
            <a:extLst>
              <a:ext uri="{FF2B5EF4-FFF2-40B4-BE49-F238E27FC236}">
                <a16:creationId xmlns:a16="http://schemas.microsoft.com/office/drawing/2014/main" id="{F0D4AA23-B7AB-489A-1921-71E0ADE462D5}"/>
              </a:ext>
            </a:extLst>
          </p:cNvPr>
          <p:cNvPicPr>
            <a:picLocks noChangeAspect="1"/>
          </p:cNvPicPr>
          <p:nvPr/>
        </p:nvPicPr>
        <p:blipFill rotWithShape="1">
          <a:blip r:embed="rId3"/>
          <a:srcRect l="15426" r="57264"/>
          <a:stretch/>
        </p:blipFill>
        <p:spPr>
          <a:xfrm>
            <a:off x="1299683" y="2364143"/>
            <a:ext cx="2223427" cy="1961365"/>
          </a:xfrm>
          <a:prstGeom prst="rect">
            <a:avLst/>
          </a:prstGeom>
        </p:spPr>
      </p:pic>
      <p:pic>
        <p:nvPicPr>
          <p:cNvPr id="7" name="图片 6">
            <a:extLst>
              <a:ext uri="{FF2B5EF4-FFF2-40B4-BE49-F238E27FC236}">
                <a16:creationId xmlns:a16="http://schemas.microsoft.com/office/drawing/2014/main" id="{900AE201-CAC6-758D-95DA-03BF0952FE7F}"/>
              </a:ext>
            </a:extLst>
          </p:cNvPr>
          <p:cNvPicPr>
            <a:picLocks noChangeAspect="1"/>
          </p:cNvPicPr>
          <p:nvPr/>
        </p:nvPicPr>
        <p:blipFill rotWithShape="1">
          <a:blip r:embed="rId4"/>
          <a:srcRect l="73258" r="6689"/>
          <a:stretch/>
        </p:blipFill>
        <p:spPr>
          <a:xfrm>
            <a:off x="7088499" y="1186597"/>
            <a:ext cx="1637920" cy="1408588"/>
          </a:xfrm>
          <a:prstGeom prst="rect">
            <a:avLst/>
          </a:prstGeom>
        </p:spPr>
      </p:pic>
      <p:pic>
        <p:nvPicPr>
          <p:cNvPr id="8" name="图片 7">
            <a:extLst>
              <a:ext uri="{FF2B5EF4-FFF2-40B4-BE49-F238E27FC236}">
                <a16:creationId xmlns:a16="http://schemas.microsoft.com/office/drawing/2014/main" id="{C763361F-74B6-7325-3955-E4BAC56B7924}"/>
              </a:ext>
            </a:extLst>
          </p:cNvPr>
          <p:cNvPicPr>
            <a:picLocks noChangeAspect="1"/>
          </p:cNvPicPr>
          <p:nvPr/>
        </p:nvPicPr>
        <p:blipFill rotWithShape="1">
          <a:blip r:embed="rId5"/>
          <a:srcRect l="73015"/>
          <a:stretch/>
        </p:blipFill>
        <p:spPr>
          <a:xfrm>
            <a:off x="7090971" y="4047393"/>
            <a:ext cx="2296472" cy="1467576"/>
          </a:xfrm>
          <a:prstGeom prst="rect">
            <a:avLst/>
          </a:prstGeom>
        </p:spPr>
      </p:pic>
      <p:pic>
        <p:nvPicPr>
          <p:cNvPr id="9" name="图片 8">
            <a:extLst>
              <a:ext uri="{FF2B5EF4-FFF2-40B4-BE49-F238E27FC236}">
                <a16:creationId xmlns:a16="http://schemas.microsoft.com/office/drawing/2014/main" id="{02182D84-17A4-3698-1156-306B03D58264}"/>
              </a:ext>
            </a:extLst>
          </p:cNvPr>
          <p:cNvPicPr>
            <a:picLocks noChangeAspect="1"/>
          </p:cNvPicPr>
          <p:nvPr/>
        </p:nvPicPr>
        <p:blipFill rotWithShape="1">
          <a:blip r:embed="rId6"/>
          <a:srcRect l="48926" t="14597" r="38002"/>
          <a:stretch/>
        </p:blipFill>
        <p:spPr>
          <a:xfrm>
            <a:off x="4527984" y="1470291"/>
            <a:ext cx="1016561" cy="884442"/>
          </a:xfrm>
          <a:prstGeom prst="rect">
            <a:avLst/>
          </a:prstGeom>
        </p:spPr>
      </p:pic>
      <p:pic>
        <p:nvPicPr>
          <p:cNvPr id="12" name="图片 11">
            <a:extLst>
              <a:ext uri="{FF2B5EF4-FFF2-40B4-BE49-F238E27FC236}">
                <a16:creationId xmlns:a16="http://schemas.microsoft.com/office/drawing/2014/main" id="{ACC38CF8-EB0F-9F59-3472-BB2EACA43CC5}"/>
              </a:ext>
            </a:extLst>
          </p:cNvPr>
          <p:cNvPicPr>
            <a:picLocks noChangeAspect="1"/>
          </p:cNvPicPr>
          <p:nvPr/>
        </p:nvPicPr>
        <p:blipFill rotWithShape="1">
          <a:blip r:embed="rId7"/>
          <a:srcRect l="48910" t="14232" r="37819"/>
          <a:stretch/>
        </p:blipFill>
        <p:spPr>
          <a:xfrm>
            <a:off x="4527983" y="2856431"/>
            <a:ext cx="1016561" cy="872963"/>
          </a:xfrm>
          <a:prstGeom prst="rect">
            <a:avLst/>
          </a:prstGeom>
        </p:spPr>
      </p:pic>
      <p:cxnSp>
        <p:nvCxnSpPr>
          <p:cNvPr id="13" name="直接箭头连接符 12">
            <a:extLst>
              <a:ext uri="{FF2B5EF4-FFF2-40B4-BE49-F238E27FC236}">
                <a16:creationId xmlns:a16="http://schemas.microsoft.com/office/drawing/2014/main" id="{2394C9C5-F563-CC80-29B7-A8283E78FFAB}"/>
              </a:ext>
            </a:extLst>
          </p:cNvPr>
          <p:cNvCxnSpPr/>
          <p:nvPr/>
        </p:nvCxnSpPr>
        <p:spPr>
          <a:xfrm flipV="1">
            <a:off x="1415345" y="1550163"/>
            <a:ext cx="3196165" cy="813981"/>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35EBC74E-AA21-5E1C-98FF-0D1CFCF585FC}"/>
              </a:ext>
            </a:extLst>
          </p:cNvPr>
          <p:cNvCxnSpPr/>
          <p:nvPr/>
        </p:nvCxnSpPr>
        <p:spPr>
          <a:xfrm flipV="1">
            <a:off x="2218427" y="1550162"/>
            <a:ext cx="3140765" cy="822879"/>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570C6DC1-36BF-5430-D8E9-B11F380CBFCE}"/>
              </a:ext>
            </a:extLst>
          </p:cNvPr>
          <p:cNvCxnSpPr>
            <a:endCxn id="9" idx="2"/>
          </p:cNvCxnSpPr>
          <p:nvPr/>
        </p:nvCxnSpPr>
        <p:spPr>
          <a:xfrm flipV="1">
            <a:off x="1415345" y="2354733"/>
            <a:ext cx="3620920" cy="823390"/>
          </a:xfrm>
          <a:prstGeom prst="straightConnector1">
            <a:avLst/>
          </a:prstGeom>
          <a:ln w="1905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1F226A9-753D-5261-71D1-285DF22E9390}"/>
              </a:ext>
            </a:extLst>
          </p:cNvPr>
          <p:cNvCxnSpPr/>
          <p:nvPr/>
        </p:nvCxnSpPr>
        <p:spPr>
          <a:xfrm flipV="1">
            <a:off x="2218427" y="2345233"/>
            <a:ext cx="3196165" cy="832892"/>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AE96B0BD-5981-913E-EBC6-7863BE5F971A}"/>
              </a:ext>
            </a:extLst>
          </p:cNvPr>
          <p:cNvCxnSpPr/>
          <p:nvPr/>
        </p:nvCxnSpPr>
        <p:spPr>
          <a:xfrm flipV="1">
            <a:off x="4611510" y="1209425"/>
            <a:ext cx="2619539" cy="331238"/>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42F59F29-81D0-EC5C-1F59-344E4D8FFEC5}"/>
              </a:ext>
            </a:extLst>
          </p:cNvPr>
          <p:cNvCxnSpPr/>
          <p:nvPr/>
        </p:nvCxnSpPr>
        <p:spPr>
          <a:xfrm flipV="1">
            <a:off x="5414592" y="1474400"/>
            <a:ext cx="2067985" cy="880333"/>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9B68902A-B2B9-2B1F-6E8B-CB796CF4482F}"/>
              </a:ext>
            </a:extLst>
          </p:cNvPr>
          <p:cNvCxnSpPr/>
          <p:nvPr/>
        </p:nvCxnSpPr>
        <p:spPr>
          <a:xfrm flipV="1">
            <a:off x="5359192" y="1192736"/>
            <a:ext cx="2145259" cy="357427"/>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CEEAC3C9-9E30-950E-C3E1-8A01BB77637A}"/>
              </a:ext>
            </a:extLst>
          </p:cNvPr>
          <p:cNvCxnSpPr/>
          <p:nvPr/>
        </p:nvCxnSpPr>
        <p:spPr>
          <a:xfrm flipV="1">
            <a:off x="4611510" y="1462848"/>
            <a:ext cx="2609077" cy="892972"/>
          </a:xfrm>
          <a:prstGeom prst="straightConnector1">
            <a:avLst/>
          </a:prstGeom>
          <a:ln w="1905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674FF85F-7B3C-E7B9-FA5F-2F81F6679EE7}"/>
              </a:ext>
            </a:extLst>
          </p:cNvPr>
          <p:cNvCxnSpPr/>
          <p:nvPr/>
        </p:nvCxnSpPr>
        <p:spPr>
          <a:xfrm>
            <a:off x="2218427" y="2371185"/>
            <a:ext cx="3190143" cy="571428"/>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487ABFC0-0E7B-E99C-6D8B-8F4902FFBDA3}"/>
              </a:ext>
            </a:extLst>
          </p:cNvPr>
          <p:cNvCxnSpPr/>
          <p:nvPr/>
        </p:nvCxnSpPr>
        <p:spPr>
          <a:xfrm>
            <a:off x="2218427" y="3178123"/>
            <a:ext cx="3190143" cy="500513"/>
          </a:xfrm>
          <a:prstGeom prst="straightConnector1">
            <a:avLst/>
          </a:prstGeom>
          <a:ln w="19050">
            <a:solidFill>
              <a:srgbClr val="00B0F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503FB1E5-78AD-4D48-B619-AB050B490253}"/>
              </a:ext>
            </a:extLst>
          </p:cNvPr>
          <p:cNvCxnSpPr/>
          <p:nvPr/>
        </p:nvCxnSpPr>
        <p:spPr>
          <a:xfrm>
            <a:off x="1415345" y="2380082"/>
            <a:ext cx="3225797" cy="568288"/>
          </a:xfrm>
          <a:prstGeom prst="straightConnector1">
            <a:avLst/>
          </a:prstGeom>
          <a:ln w="19050">
            <a:solidFill>
              <a:srgbClr val="00B0F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384DD37D-C279-3D96-00C4-17DA72770188}"/>
              </a:ext>
            </a:extLst>
          </p:cNvPr>
          <p:cNvCxnSpPr/>
          <p:nvPr/>
        </p:nvCxnSpPr>
        <p:spPr>
          <a:xfrm>
            <a:off x="5378938" y="2942613"/>
            <a:ext cx="2182766" cy="1102026"/>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C60244D4-9513-B1BC-9F58-221249D4153F}"/>
              </a:ext>
            </a:extLst>
          </p:cNvPr>
          <p:cNvCxnSpPr/>
          <p:nvPr/>
        </p:nvCxnSpPr>
        <p:spPr>
          <a:xfrm>
            <a:off x="4611510" y="3729395"/>
            <a:ext cx="2652887" cy="633243"/>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075D308E-C031-42B8-B339-014E9020ACDE}"/>
              </a:ext>
            </a:extLst>
          </p:cNvPr>
          <p:cNvCxnSpPr/>
          <p:nvPr/>
        </p:nvCxnSpPr>
        <p:spPr>
          <a:xfrm>
            <a:off x="4611510" y="2949046"/>
            <a:ext cx="2652887" cy="1107243"/>
          </a:xfrm>
          <a:prstGeom prst="straightConnector1">
            <a:avLst/>
          </a:prstGeom>
          <a:ln w="19050">
            <a:solidFill>
              <a:srgbClr val="00B0F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1D794EE4-29FB-7F1E-15C8-C9E73626FE0B}"/>
              </a:ext>
            </a:extLst>
          </p:cNvPr>
          <p:cNvCxnSpPr>
            <a:endCxn id="12" idx="2"/>
          </p:cNvCxnSpPr>
          <p:nvPr/>
        </p:nvCxnSpPr>
        <p:spPr>
          <a:xfrm>
            <a:off x="1410716" y="3178123"/>
            <a:ext cx="3625548" cy="551271"/>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96532DB3-025D-34E8-84F2-D2B4209609D3}"/>
              </a:ext>
            </a:extLst>
          </p:cNvPr>
          <p:cNvCxnSpPr/>
          <p:nvPr/>
        </p:nvCxnSpPr>
        <p:spPr>
          <a:xfrm>
            <a:off x="5398949" y="3689405"/>
            <a:ext cx="2162755" cy="642537"/>
          </a:xfrm>
          <a:prstGeom prst="straightConnector1">
            <a:avLst/>
          </a:prstGeom>
          <a:ln w="19050">
            <a:solidFill>
              <a:srgbClr val="00B0F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1" name="文本框 258">
            <a:extLst>
              <a:ext uri="{FF2B5EF4-FFF2-40B4-BE49-F238E27FC236}">
                <a16:creationId xmlns:a16="http://schemas.microsoft.com/office/drawing/2014/main" id="{3B5F05FB-4D06-B2B3-A5A0-164A1F52159D}"/>
              </a:ext>
            </a:extLst>
          </p:cNvPr>
          <p:cNvSpPr txBox="1"/>
          <p:nvPr/>
        </p:nvSpPr>
        <p:spPr>
          <a:xfrm>
            <a:off x="8726418" y="1565066"/>
            <a:ext cx="2599568" cy="917460"/>
          </a:xfrm>
          <a:prstGeom prst="rect">
            <a:avLst/>
          </a:prstGeom>
          <a:solidFill>
            <a:sysClr val="window" lastClr="FFFFFF"/>
          </a:solidFill>
          <a:ln w="6350">
            <a:noFill/>
          </a:ln>
        </p:spPr>
        <p:txBody>
          <a:bodyPr rot="0" spcFirstLastPara="0" vert="horz" wrap="square" lIns="91440" tIns="108000" rIns="91440" bIns="45720" numCol="1" spcCol="0" rtlCol="0" fromWordArt="0" anchor="t" anchorCtr="0" forceAA="0" compatLnSpc="1">
            <a:prstTxWarp prst="textNoShape">
              <a:avLst/>
            </a:prstTxWarp>
            <a:noAutofit/>
          </a:bodyPr>
          <a:lstStyle/>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1*0+0*0+(-1)*0</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+(-1)*0+0*2+1*1</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+1*0+0*9+(-1)*5 = -4</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2" name="文本框 242">
            <a:extLst>
              <a:ext uri="{FF2B5EF4-FFF2-40B4-BE49-F238E27FC236}">
                <a16:creationId xmlns:a16="http://schemas.microsoft.com/office/drawing/2014/main" id="{C142ACFA-3DC0-6768-78BE-9FFC938A5C16}"/>
              </a:ext>
            </a:extLst>
          </p:cNvPr>
          <p:cNvSpPr txBox="1"/>
          <p:nvPr/>
        </p:nvSpPr>
        <p:spPr>
          <a:xfrm>
            <a:off x="8810823" y="4056289"/>
            <a:ext cx="1781908" cy="49797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輸出（通道</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3" name="文本框 236">
            <a:extLst>
              <a:ext uri="{FF2B5EF4-FFF2-40B4-BE49-F238E27FC236}">
                <a16:creationId xmlns:a16="http://schemas.microsoft.com/office/drawing/2014/main" id="{DEE33AB9-C10F-A3E0-0CBD-A7A534B84C9B}"/>
              </a:ext>
            </a:extLst>
          </p:cNvPr>
          <p:cNvSpPr txBox="1"/>
          <p:nvPr/>
        </p:nvSpPr>
        <p:spPr>
          <a:xfrm>
            <a:off x="4557271" y="4140313"/>
            <a:ext cx="987274" cy="382528"/>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捲積核</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4" name="文本框 244">
            <a:extLst>
              <a:ext uri="{FF2B5EF4-FFF2-40B4-BE49-F238E27FC236}">
                <a16:creationId xmlns:a16="http://schemas.microsoft.com/office/drawing/2014/main" id="{523B62F0-84D6-E1C5-1C7E-9AA0CCA749C3}"/>
              </a:ext>
            </a:extLst>
          </p:cNvPr>
          <p:cNvSpPr txBox="1"/>
          <p:nvPr/>
        </p:nvSpPr>
        <p:spPr>
          <a:xfrm>
            <a:off x="8726418" y="4402359"/>
            <a:ext cx="2196659" cy="965698"/>
          </a:xfrm>
          <a:prstGeom prst="rect">
            <a:avLst/>
          </a:prstGeom>
          <a:solidFill>
            <a:sysClr val="window" lastClr="FFFFFF"/>
          </a:solidFill>
          <a:ln w="6350">
            <a:noFill/>
          </a:ln>
        </p:spPr>
        <p:txBody>
          <a:bodyPr rot="0" spcFirstLastPara="0" vert="horz" wrap="square" lIns="91440" tIns="108000" rIns="91440" bIns="45720" numCol="1" spcCol="0" rtlCol="0" fromWordArt="0" anchor="t" anchorCtr="0" forceAA="0" compatLnSpc="1">
            <a:prstTxWarp prst="textNoShape">
              <a:avLst/>
            </a:prstTxWarp>
            <a:noAutofit/>
          </a:bodyPr>
          <a:lstStyle>
            <a:defPPr>
              <a:defRPr lang="en-US"/>
            </a:defPPr>
            <a:lvl1pPr indent="66675" algn="just">
              <a:spcAft>
                <a:spcPts val="0"/>
              </a:spcAft>
              <a:defRPr sz="1600" kern="100">
                <a:effectLst/>
                <a:latin typeface="等线" panose="02010600030101010101" pitchFamily="2" charset="-122"/>
                <a:ea typeface="等线" panose="02010600030101010101" pitchFamily="2" charset="-122"/>
                <a:cs typeface="Times New Roman" panose="02020603050405020304" pitchFamily="18" charset="0"/>
              </a:defRPr>
            </a:lvl1pPr>
          </a:lstStyle>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(-1)*0+0*0+1*0</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+(-1)*0+0*2+1*1</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6675"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+(-1)*0+0*9+1*5 = 6</a:t>
            </a:r>
            <a:endPar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5" name="文本框 248">
            <a:extLst>
              <a:ext uri="{FF2B5EF4-FFF2-40B4-BE49-F238E27FC236}">
                <a16:creationId xmlns:a16="http://schemas.microsoft.com/office/drawing/2014/main" id="{3BD342EE-19F3-CFDA-C3D4-99A187604869}"/>
              </a:ext>
            </a:extLst>
          </p:cNvPr>
          <p:cNvSpPr txBox="1"/>
          <p:nvPr/>
        </p:nvSpPr>
        <p:spPr>
          <a:xfrm>
            <a:off x="4611510" y="984237"/>
            <a:ext cx="987274" cy="398287"/>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捲積核</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26" name="文本框 249">
            <a:extLst>
              <a:ext uri="{FF2B5EF4-FFF2-40B4-BE49-F238E27FC236}">
                <a16:creationId xmlns:a16="http://schemas.microsoft.com/office/drawing/2014/main" id="{65480134-9B2A-6C8F-B7F4-09558B9CC3DE}"/>
              </a:ext>
            </a:extLst>
          </p:cNvPr>
          <p:cNvSpPr txBox="1"/>
          <p:nvPr/>
        </p:nvSpPr>
        <p:spPr>
          <a:xfrm>
            <a:off x="8726418" y="1216896"/>
            <a:ext cx="1768360" cy="46083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輸出（通道</a:t>
            </a:r>
            <a:r>
              <a:rPr kumimoji="0" 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30" name="文本框 248">
            <a:extLst>
              <a:ext uri="{FF2B5EF4-FFF2-40B4-BE49-F238E27FC236}">
                <a16:creationId xmlns:a16="http://schemas.microsoft.com/office/drawing/2014/main" id="{0066C3D9-393B-727B-8E79-D78A90AE88D8}"/>
              </a:ext>
            </a:extLst>
          </p:cNvPr>
          <p:cNvSpPr txBox="1"/>
          <p:nvPr/>
        </p:nvSpPr>
        <p:spPr>
          <a:xfrm>
            <a:off x="1410716" y="4974478"/>
            <a:ext cx="4388200" cy="1075473"/>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一個捲積核産生一個通道（</a:t>
            </a:r>
            <a:r>
              <a:rPr kumimoji="0" lang="en-US" altLang="zh-CN"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channel</a:t>
            </a:r>
            <a:r>
              <a:rPr kumimoji="0" lang="zh-CN" altLang="en-US" sz="2000" b="0"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輸出的通道數等于捲積核數</a:t>
            </a:r>
          </a:p>
        </p:txBody>
      </p:sp>
      <p:sp>
        <p:nvSpPr>
          <p:cNvPr id="3" name="文本框 2">
            <a:extLst>
              <a:ext uri="{FF2B5EF4-FFF2-40B4-BE49-F238E27FC236}">
                <a16:creationId xmlns:a16="http://schemas.microsoft.com/office/drawing/2014/main" id="{A2D3596B-9B82-D557-8301-5E1FCD6F7D1A}"/>
              </a:ext>
            </a:extLst>
          </p:cNvPr>
          <p:cNvSpPr txBox="1"/>
          <p:nvPr/>
        </p:nvSpPr>
        <p:spPr>
          <a:xfrm>
            <a:off x="1399437" y="233803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F7534062-78CD-DDEE-0521-ADBD36679864}"/>
              </a:ext>
            </a:extLst>
          </p:cNvPr>
          <p:cNvSpPr txBox="1"/>
          <p:nvPr/>
        </p:nvSpPr>
        <p:spPr>
          <a:xfrm>
            <a:off x="1672003" y="233577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39" name="文本框 38">
            <a:extLst>
              <a:ext uri="{FF2B5EF4-FFF2-40B4-BE49-F238E27FC236}">
                <a16:creationId xmlns:a16="http://schemas.microsoft.com/office/drawing/2014/main" id="{F9CDB930-76CE-B854-0E7C-5EF4D09C9AD7}"/>
              </a:ext>
            </a:extLst>
          </p:cNvPr>
          <p:cNvSpPr txBox="1"/>
          <p:nvPr/>
        </p:nvSpPr>
        <p:spPr>
          <a:xfrm>
            <a:off x="1943637" y="233701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0" name="文本框 39">
            <a:extLst>
              <a:ext uri="{FF2B5EF4-FFF2-40B4-BE49-F238E27FC236}">
                <a16:creationId xmlns:a16="http://schemas.microsoft.com/office/drawing/2014/main" id="{BF5C7308-4FBB-C037-A6FF-385D65EDAF73}"/>
              </a:ext>
            </a:extLst>
          </p:cNvPr>
          <p:cNvSpPr txBox="1"/>
          <p:nvPr/>
        </p:nvSpPr>
        <p:spPr>
          <a:xfrm>
            <a:off x="2215271" y="233825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1" name="文本框 40">
            <a:extLst>
              <a:ext uri="{FF2B5EF4-FFF2-40B4-BE49-F238E27FC236}">
                <a16:creationId xmlns:a16="http://schemas.microsoft.com/office/drawing/2014/main" id="{F36B3A33-BB66-CFBD-8CF7-D7D4C3AA73DA}"/>
              </a:ext>
            </a:extLst>
          </p:cNvPr>
          <p:cNvSpPr txBox="1"/>
          <p:nvPr/>
        </p:nvSpPr>
        <p:spPr>
          <a:xfrm>
            <a:off x="2486905" y="23394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CF4044FE-237F-8AC6-EBD5-C3CFE196089C}"/>
              </a:ext>
            </a:extLst>
          </p:cNvPr>
          <p:cNvSpPr txBox="1"/>
          <p:nvPr/>
        </p:nvSpPr>
        <p:spPr>
          <a:xfrm>
            <a:off x="2758539" y="234073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4" name="文本框 43">
            <a:extLst>
              <a:ext uri="{FF2B5EF4-FFF2-40B4-BE49-F238E27FC236}">
                <a16:creationId xmlns:a16="http://schemas.microsoft.com/office/drawing/2014/main" id="{E5E7D885-6632-BCB7-2BE5-06791A42965E}"/>
              </a:ext>
            </a:extLst>
          </p:cNvPr>
          <p:cNvSpPr txBox="1"/>
          <p:nvPr/>
        </p:nvSpPr>
        <p:spPr>
          <a:xfrm>
            <a:off x="3030173" y="234197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5" name="文本框 44">
            <a:extLst>
              <a:ext uri="{FF2B5EF4-FFF2-40B4-BE49-F238E27FC236}">
                <a16:creationId xmlns:a16="http://schemas.microsoft.com/office/drawing/2014/main" id="{2EDED7D7-AEE6-2180-4152-DE20FDED6CBC}"/>
              </a:ext>
            </a:extLst>
          </p:cNvPr>
          <p:cNvSpPr txBox="1"/>
          <p:nvPr/>
        </p:nvSpPr>
        <p:spPr>
          <a:xfrm>
            <a:off x="1399437" y="263358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46" name="文本框 45">
            <a:extLst>
              <a:ext uri="{FF2B5EF4-FFF2-40B4-BE49-F238E27FC236}">
                <a16:creationId xmlns:a16="http://schemas.microsoft.com/office/drawing/2014/main" id="{763EA5C0-9396-0440-7492-F6ED131DA930}"/>
              </a:ext>
            </a:extLst>
          </p:cNvPr>
          <p:cNvSpPr txBox="1"/>
          <p:nvPr/>
        </p:nvSpPr>
        <p:spPr>
          <a:xfrm>
            <a:off x="1672003" y="263132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49" name="文本框 48">
            <a:extLst>
              <a:ext uri="{FF2B5EF4-FFF2-40B4-BE49-F238E27FC236}">
                <a16:creationId xmlns:a16="http://schemas.microsoft.com/office/drawing/2014/main" id="{AA3E4F6D-CC3C-221C-2D2A-AD6FE8B12657}"/>
              </a:ext>
            </a:extLst>
          </p:cNvPr>
          <p:cNvSpPr txBox="1"/>
          <p:nvPr/>
        </p:nvSpPr>
        <p:spPr>
          <a:xfrm>
            <a:off x="1943637" y="263256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50" name="文本框 49">
            <a:extLst>
              <a:ext uri="{FF2B5EF4-FFF2-40B4-BE49-F238E27FC236}">
                <a16:creationId xmlns:a16="http://schemas.microsoft.com/office/drawing/2014/main" id="{469DDB10-65D1-785B-0C33-7520196634B5}"/>
              </a:ext>
            </a:extLst>
          </p:cNvPr>
          <p:cNvSpPr txBox="1"/>
          <p:nvPr/>
        </p:nvSpPr>
        <p:spPr>
          <a:xfrm>
            <a:off x="2215271" y="263380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51" name="文本框 50">
            <a:extLst>
              <a:ext uri="{FF2B5EF4-FFF2-40B4-BE49-F238E27FC236}">
                <a16:creationId xmlns:a16="http://schemas.microsoft.com/office/drawing/2014/main" id="{6D7C296F-7092-7F20-439E-4CDA0E32104D}"/>
              </a:ext>
            </a:extLst>
          </p:cNvPr>
          <p:cNvSpPr txBox="1"/>
          <p:nvPr/>
        </p:nvSpPr>
        <p:spPr>
          <a:xfrm>
            <a:off x="2486905" y="263504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52" name="文本框 51">
            <a:extLst>
              <a:ext uri="{FF2B5EF4-FFF2-40B4-BE49-F238E27FC236}">
                <a16:creationId xmlns:a16="http://schemas.microsoft.com/office/drawing/2014/main" id="{D38E40BB-C874-FAEF-DE7A-4BE49E42C004}"/>
              </a:ext>
            </a:extLst>
          </p:cNvPr>
          <p:cNvSpPr txBox="1"/>
          <p:nvPr/>
        </p:nvSpPr>
        <p:spPr>
          <a:xfrm>
            <a:off x="2758539" y="263628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53" name="文本框 52">
            <a:extLst>
              <a:ext uri="{FF2B5EF4-FFF2-40B4-BE49-F238E27FC236}">
                <a16:creationId xmlns:a16="http://schemas.microsoft.com/office/drawing/2014/main" id="{90B2E09B-FB86-8817-BFF5-F9D209164C2E}"/>
              </a:ext>
            </a:extLst>
          </p:cNvPr>
          <p:cNvSpPr txBox="1"/>
          <p:nvPr/>
        </p:nvSpPr>
        <p:spPr>
          <a:xfrm>
            <a:off x="3030173" y="263752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54" name="文本框 53">
            <a:extLst>
              <a:ext uri="{FF2B5EF4-FFF2-40B4-BE49-F238E27FC236}">
                <a16:creationId xmlns:a16="http://schemas.microsoft.com/office/drawing/2014/main" id="{A35A44B5-F53C-E03C-4C2B-C3517B3BB127}"/>
              </a:ext>
            </a:extLst>
          </p:cNvPr>
          <p:cNvSpPr txBox="1"/>
          <p:nvPr/>
        </p:nvSpPr>
        <p:spPr>
          <a:xfrm>
            <a:off x="1399437" y="2910750"/>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56" name="文本框 55">
            <a:extLst>
              <a:ext uri="{FF2B5EF4-FFF2-40B4-BE49-F238E27FC236}">
                <a16:creationId xmlns:a16="http://schemas.microsoft.com/office/drawing/2014/main" id="{10B9C415-6944-3009-CC3A-01F854EF48A3}"/>
              </a:ext>
            </a:extLst>
          </p:cNvPr>
          <p:cNvSpPr txBox="1"/>
          <p:nvPr/>
        </p:nvSpPr>
        <p:spPr>
          <a:xfrm>
            <a:off x="1672003" y="29084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57" name="文本框 56">
            <a:extLst>
              <a:ext uri="{FF2B5EF4-FFF2-40B4-BE49-F238E27FC236}">
                <a16:creationId xmlns:a16="http://schemas.microsoft.com/office/drawing/2014/main" id="{B409CE01-4A7C-01AD-0271-973DFD377F32}"/>
              </a:ext>
            </a:extLst>
          </p:cNvPr>
          <p:cNvSpPr txBox="1"/>
          <p:nvPr/>
        </p:nvSpPr>
        <p:spPr>
          <a:xfrm>
            <a:off x="1943637" y="290973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58" name="文本框 57">
            <a:extLst>
              <a:ext uri="{FF2B5EF4-FFF2-40B4-BE49-F238E27FC236}">
                <a16:creationId xmlns:a16="http://schemas.microsoft.com/office/drawing/2014/main" id="{199BFE40-0E40-F2EC-B9E8-79255BF9DD14}"/>
              </a:ext>
            </a:extLst>
          </p:cNvPr>
          <p:cNvSpPr txBox="1"/>
          <p:nvPr/>
        </p:nvSpPr>
        <p:spPr>
          <a:xfrm>
            <a:off x="2215271" y="291097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59" name="文本框 58">
            <a:extLst>
              <a:ext uri="{FF2B5EF4-FFF2-40B4-BE49-F238E27FC236}">
                <a16:creationId xmlns:a16="http://schemas.microsoft.com/office/drawing/2014/main" id="{FB834A5E-1672-5302-D63C-C7C2E5B5B08E}"/>
              </a:ext>
            </a:extLst>
          </p:cNvPr>
          <p:cNvSpPr txBox="1"/>
          <p:nvPr/>
        </p:nvSpPr>
        <p:spPr>
          <a:xfrm>
            <a:off x="2486905" y="291221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60" name="文本框 59">
            <a:extLst>
              <a:ext uri="{FF2B5EF4-FFF2-40B4-BE49-F238E27FC236}">
                <a16:creationId xmlns:a16="http://schemas.microsoft.com/office/drawing/2014/main" id="{42B19834-920D-D4C3-222A-DC209CC918E0}"/>
              </a:ext>
            </a:extLst>
          </p:cNvPr>
          <p:cNvSpPr txBox="1"/>
          <p:nvPr/>
        </p:nvSpPr>
        <p:spPr>
          <a:xfrm>
            <a:off x="2758539" y="291345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61" name="文本框 60">
            <a:extLst>
              <a:ext uri="{FF2B5EF4-FFF2-40B4-BE49-F238E27FC236}">
                <a16:creationId xmlns:a16="http://schemas.microsoft.com/office/drawing/2014/main" id="{D83FA6D7-B951-F02F-F01C-682A19DA6106}"/>
              </a:ext>
            </a:extLst>
          </p:cNvPr>
          <p:cNvSpPr txBox="1"/>
          <p:nvPr/>
        </p:nvSpPr>
        <p:spPr>
          <a:xfrm>
            <a:off x="3030173" y="29146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71" name="文本框 70">
            <a:extLst>
              <a:ext uri="{FF2B5EF4-FFF2-40B4-BE49-F238E27FC236}">
                <a16:creationId xmlns:a16="http://schemas.microsoft.com/office/drawing/2014/main" id="{7D38B534-A70F-D65F-6B05-77D819CA5A6B}"/>
              </a:ext>
            </a:extLst>
          </p:cNvPr>
          <p:cNvSpPr txBox="1"/>
          <p:nvPr/>
        </p:nvSpPr>
        <p:spPr>
          <a:xfrm>
            <a:off x="1399437" y="318209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72" name="文本框 71">
            <a:extLst>
              <a:ext uri="{FF2B5EF4-FFF2-40B4-BE49-F238E27FC236}">
                <a16:creationId xmlns:a16="http://schemas.microsoft.com/office/drawing/2014/main" id="{39C09F9E-BE92-9656-A958-FE7BF58FEBBA}"/>
              </a:ext>
            </a:extLst>
          </p:cNvPr>
          <p:cNvSpPr txBox="1"/>
          <p:nvPr/>
        </p:nvSpPr>
        <p:spPr>
          <a:xfrm>
            <a:off x="1672003" y="317983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73" name="文本框 72">
            <a:extLst>
              <a:ext uri="{FF2B5EF4-FFF2-40B4-BE49-F238E27FC236}">
                <a16:creationId xmlns:a16="http://schemas.microsoft.com/office/drawing/2014/main" id="{0F88BF8F-E7E4-3C6E-68F3-9A78B9088578}"/>
              </a:ext>
            </a:extLst>
          </p:cNvPr>
          <p:cNvSpPr txBox="1"/>
          <p:nvPr/>
        </p:nvSpPr>
        <p:spPr>
          <a:xfrm>
            <a:off x="1943637" y="318107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74" name="文本框 73">
            <a:extLst>
              <a:ext uri="{FF2B5EF4-FFF2-40B4-BE49-F238E27FC236}">
                <a16:creationId xmlns:a16="http://schemas.microsoft.com/office/drawing/2014/main" id="{3B2358F4-FCD7-3BA7-E6A8-ED4E521E4759}"/>
              </a:ext>
            </a:extLst>
          </p:cNvPr>
          <p:cNvSpPr txBox="1"/>
          <p:nvPr/>
        </p:nvSpPr>
        <p:spPr>
          <a:xfrm>
            <a:off x="2215271" y="318231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76" name="文本框 75">
            <a:extLst>
              <a:ext uri="{FF2B5EF4-FFF2-40B4-BE49-F238E27FC236}">
                <a16:creationId xmlns:a16="http://schemas.microsoft.com/office/drawing/2014/main" id="{FA28EF8A-86F9-A40E-F64D-A234EC5787D5}"/>
              </a:ext>
            </a:extLst>
          </p:cNvPr>
          <p:cNvSpPr txBox="1"/>
          <p:nvPr/>
        </p:nvSpPr>
        <p:spPr>
          <a:xfrm>
            <a:off x="2486905" y="318355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77" name="文本框 76">
            <a:extLst>
              <a:ext uri="{FF2B5EF4-FFF2-40B4-BE49-F238E27FC236}">
                <a16:creationId xmlns:a16="http://schemas.microsoft.com/office/drawing/2014/main" id="{F585C635-1D04-1AE1-8C9D-061055A08D09}"/>
              </a:ext>
            </a:extLst>
          </p:cNvPr>
          <p:cNvSpPr txBox="1"/>
          <p:nvPr/>
        </p:nvSpPr>
        <p:spPr>
          <a:xfrm>
            <a:off x="2758539" y="318479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78" name="文本框 77">
            <a:extLst>
              <a:ext uri="{FF2B5EF4-FFF2-40B4-BE49-F238E27FC236}">
                <a16:creationId xmlns:a16="http://schemas.microsoft.com/office/drawing/2014/main" id="{64F9ABFB-486B-BF2F-3AE9-1C086EEA8935}"/>
              </a:ext>
            </a:extLst>
          </p:cNvPr>
          <p:cNvSpPr txBox="1"/>
          <p:nvPr/>
        </p:nvSpPr>
        <p:spPr>
          <a:xfrm>
            <a:off x="3030173" y="318603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79" name="文本框 78">
            <a:extLst>
              <a:ext uri="{FF2B5EF4-FFF2-40B4-BE49-F238E27FC236}">
                <a16:creationId xmlns:a16="http://schemas.microsoft.com/office/drawing/2014/main" id="{D7D16899-7A1D-D02C-EB37-6D1AF40A9FCA}"/>
              </a:ext>
            </a:extLst>
          </p:cNvPr>
          <p:cNvSpPr txBox="1"/>
          <p:nvPr/>
        </p:nvSpPr>
        <p:spPr>
          <a:xfrm>
            <a:off x="1399437" y="345343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80" name="文本框 79">
            <a:extLst>
              <a:ext uri="{FF2B5EF4-FFF2-40B4-BE49-F238E27FC236}">
                <a16:creationId xmlns:a16="http://schemas.microsoft.com/office/drawing/2014/main" id="{4ECAD993-05DF-2ADF-2E48-9804D4E86096}"/>
              </a:ext>
            </a:extLst>
          </p:cNvPr>
          <p:cNvSpPr txBox="1"/>
          <p:nvPr/>
        </p:nvSpPr>
        <p:spPr>
          <a:xfrm>
            <a:off x="1672003" y="345117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85" name="文本框 84">
            <a:extLst>
              <a:ext uri="{FF2B5EF4-FFF2-40B4-BE49-F238E27FC236}">
                <a16:creationId xmlns:a16="http://schemas.microsoft.com/office/drawing/2014/main" id="{8043C275-A8BE-0B79-B180-6E0B26F32AB1}"/>
              </a:ext>
            </a:extLst>
          </p:cNvPr>
          <p:cNvSpPr txBox="1"/>
          <p:nvPr/>
        </p:nvSpPr>
        <p:spPr>
          <a:xfrm>
            <a:off x="1943637" y="345241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86" name="文本框 85">
            <a:extLst>
              <a:ext uri="{FF2B5EF4-FFF2-40B4-BE49-F238E27FC236}">
                <a16:creationId xmlns:a16="http://schemas.microsoft.com/office/drawing/2014/main" id="{3A618B2B-AB01-F28D-178F-54A2942FEEAF}"/>
              </a:ext>
            </a:extLst>
          </p:cNvPr>
          <p:cNvSpPr txBox="1"/>
          <p:nvPr/>
        </p:nvSpPr>
        <p:spPr>
          <a:xfrm>
            <a:off x="2215271" y="345365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87" name="文本框 86">
            <a:extLst>
              <a:ext uri="{FF2B5EF4-FFF2-40B4-BE49-F238E27FC236}">
                <a16:creationId xmlns:a16="http://schemas.microsoft.com/office/drawing/2014/main" id="{440F8483-81AE-57BB-2266-AB09B518DADF}"/>
              </a:ext>
            </a:extLst>
          </p:cNvPr>
          <p:cNvSpPr txBox="1"/>
          <p:nvPr/>
        </p:nvSpPr>
        <p:spPr>
          <a:xfrm>
            <a:off x="2486905" y="345489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88" name="文本框 87">
            <a:extLst>
              <a:ext uri="{FF2B5EF4-FFF2-40B4-BE49-F238E27FC236}">
                <a16:creationId xmlns:a16="http://schemas.microsoft.com/office/drawing/2014/main" id="{FFD522CA-BA09-4A9B-1866-368EC958EF5B}"/>
              </a:ext>
            </a:extLst>
          </p:cNvPr>
          <p:cNvSpPr txBox="1"/>
          <p:nvPr/>
        </p:nvSpPr>
        <p:spPr>
          <a:xfrm>
            <a:off x="2758539" y="345613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89" name="文本框 88">
            <a:extLst>
              <a:ext uri="{FF2B5EF4-FFF2-40B4-BE49-F238E27FC236}">
                <a16:creationId xmlns:a16="http://schemas.microsoft.com/office/drawing/2014/main" id="{82488C6A-DE2C-F31B-5678-74B9B19E5C0C}"/>
              </a:ext>
            </a:extLst>
          </p:cNvPr>
          <p:cNvSpPr txBox="1"/>
          <p:nvPr/>
        </p:nvSpPr>
        <p:spPr>
          <a:xfrm>
            <a:off x="3030173" y="345737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0" name="文本框 89">
            <a:extLst>
              <a:ext uri="{FF2B5EF4-FFF2-40B4-BE49-F238E27FC236}">
                <a16:creationId xmlns:a16="http://schemas.microsoft.com/office/drawing/2014/main" id="{AE2C8F07-8A03-05EE-1461-33FF6355F7BF}"/>
              </a:ext>
            </a:extLst>
          </p:cNvPr>
          <p:cNvSpPr txBox="1"/>
          <p:nvPr/>
        </p:nvSpPr>
        <p:spPr>
          <a:xfrm>
            <a:off x="1399437" y="372936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1" name="文本框 90">
            <a:extLst>
              <a:ext uri="{FF2B5EF4-FFF2-40B4-BE49-F238E27FC236}">
                <a16:creationId xmlns:a16="http://schemas.microsoft.com/office/drawing/2014/main" id="{15D40648-396F-1B22-40D3-2CF21740BC60}"/>
              </a:ext>
            </a:extLst>
          </p:cNvPr>
          <p:cNvSpPr txBox="1"/>
          <p:nvPr/>
        </p:nvSpPr>
        <p:spPr>
          <a:xfrm>
            <a:off x="1672003" y="372711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2" name="文本框 91">
            <a:extLst>
              <a:ext uri="{FF2B5EF4-FFF2-40B4-BE49-F238E27FC236}">
                <a16:creationId xmlns:a16="http://schemas.microsoft.com/office/drawing/2014/main" id="{24BFB2D6-B7A7-A007-E090-B402558C431F}"/>
              </a:ext>
            </a:extLst>
          </p:cNvPr>
          <p:cNvSpPr txBox="1"/>
          <p:nvPr/>
        </p:nvSpPr>
        <p:spPr>
          <a:xfrm>
            <a:off x="1943637" y="372835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93" name="文本框 92">
            <a:extLst>
              <a:ext uri="{FF2B5EF4-FFF2-40B4-BE49-F238E27FC236}">
                <a16:creationId xmlns:a16="http://schemas.microsoft.com/office/drawing/2014/main" id="{74B2237F-6836-8C7F-BC1D-347AC4695802}"/>
              </a:ext>
            </a:extLst>
          </p:cNvPr>
          <p:cNvSpPr txBox="1"/>
          <p:nvPr/>
        </p:nvSpPr>
        <p:spPr>
          <a:xfrm>
            <a:off x="2215271" y="372959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94" name="文本框 93">
            <a:extLst>
              <a:ext uri="{FF2B5EF4-FFF2-40B4-BE49-F238E27FC236}">
                <a16:creationId xmlns:a16="http://schemas.microsoft.com/office/drawing/2014/main" id="{AAB50B81-CC99-9F77-77AB-08A5D07D596C}"/>
              </a:ext>
            </a:extLst>
          </p:cNvPr>
          <p:cNvSpPr txBox="1"/>
          <p:nvPr/>
        </p:nvSpPr>
        <p:spPr>
          <a:xfrm>
            <a:off x="2486905" y="373083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95" name="文本框 94">
            <a:extLst>
              <a:ext uri="{FF2B5EF4-FFF2-40B4-BE49-F238E27FC236}">
                <a16:creationId xmlns:a16="http://schemas.microsoft.com/office/drawing/2014/main" id="{A4F5AF8C-59B6-7FE5-F27A-44526E555600}"/>
              </a:ext>
            </a:extLst>
          </p:cNvPr>
          <p:cNvSpPr txBox="1"/>
          <p:nvPr/>
        </p:nvSpPr>
        <p:spPr>
          <a:xfrm>
            <a:off x="2758539" y="373207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96" name="文本框 95">
            <a:extLst>
              <a:ext uri="{FF2B5EF4-FFF2-40B4-BE49-F238E27FC236}">
                <a16:creationId xmlns:a16="http://schemas.microsoft.com/office/drawing/2014/main" id="{41206015-AEF8-3A17-5630-AE5BDF7BAE8A}"/>
              </a:ext>
            </a:extLst>
          </p:cNvPr>
          <p:cNvSpPr txBox="1"/>
          <p:nvPr/>
        </p:nvSpPr>
        <p:spPr>
          <a:xfrm>
            <a:off x="3030173" y="373331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7" name="文本框 96">
            <a:extLst>
              <a:ext uri="{FF2B5EF4-FFF2-40B4-BE49-F238E27FC236}">
                <a16:creationId xmlns:a16="http://schemas.microsoft.com/office/drawing/2014/main" id="{3FF6E22A-282E-22EC-34FB-9E90B55489F9}"/>
              </a:ext>
            </a:extLst>
          </p:cNvPr>
          <p:cNvSpPr txBox="1"/>
          <p:nvPr/>
        </p:nvSpPr>
        <p:spPr>
          <a:xfrm>
            <a:off x="1399437" y="4005304"/>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8" name="文本框 97">
            <a:extLst>
              <a:ext uri="{FF2B5EF4-FFF2-40B4-BE49-F238E27FC236}">
                <a16:creationId xmlns:a16="http://schemas.microsoft.com/office/drawing/2014/main" id="{9A9D7091-DC78-77C8-5E4A-F03A1963A8CF}"/>
              </a:ext>
            </a:extLst>
          </p:cNvPr>
          <p:cNvSpPr txBox="1"/>
          <p:nvPr/>
        </p:nvSpPr>
        <p:spPr>
          <a:xfrm>
            <a:off x="1672003" y="400305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99" name="文本框 98">
            <a:extLst>
              <a:ext uri="{FF2B5EF4-FFF2-40B4-BE49-F238E27FC236}">
                <a16:creationId xmlns:a16="http://schemas.microsoft.com/office/drawing/2014/main" id="{6CDB44C2-321B-214E-CE48-7C9A5C751086}"/>
              </a:ext>
            </a:extLst>
          </p:cNvPr>
          <p:cNvSpPr txBox="1"/>
          <p:nvPr/>
        </p:nvSpPr>
        <p:spPr>
          <a:xfrm>
            <a:off x="1943637" y="400429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0" name="文本框 99">
            <a:extLst>
              <a:ext uri="{FF2B5EF4-FFF2-40B4-BE49-F238E27FC236}">
                <a16:creationId xmlns:a16="http://schemas.microsoft.com/office/drawing/2014/main" id="{51BAD1C9-8AB3-98D3-A853-AF8A09BAE714}"/>
              </a:ext>
            </a:extLst>
          </p:cNvPr>
          <p:cNvSpPr txBox="1"/>
          <p:nvPr/>
        </p:nvSpPr>
        <p:spPr>
          <a:xfrm>
            <a:off x="2215271" y="400553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1" name="文本框 100">
            <a:extLst>
              <a:ext uri="{FF2B5EF4-FFF2-40B4-BE49-F238E27FC236}">
                <a16:creationId xmlns:a16="http://schemas.microsoft.com/office/drawing/2014/main" id="{FF11EE4A-8905-9D39-B085-8620DA7DBB9E}"/>
              </a:ext>
            </a:extLst>
          </p:cNvPr>
          <p:cNvSpPr txBox="1"/>
          <p:nvPr/>
        </p:nvSpPr>
        <p:spPr>
          <a:xfrm>
            <a:off x="2486905" y="400677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2" name="文本框 101">
            <a:extLst>
              <a:ext uri="{FF2B5EF4-FFF2-40B4-BE49-F238E27FC236}">
                <a16:creationId xmlns:a16="http://schemas.microsoft.com/office/drawing/2014/main" id="{68740291-F761-5D63-C55C-CC98E285B294}"/>
              </a:ext>
            </a:extLst>
          </p:cNvPr>
          <p:cNvSpPr txBox="1"/>
          <p:nvPr/>
        </p:nvSpPr>
        <p:spPr>
          <a:xfrm>
            <a:off x="2758539" y="400801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3" name="文本框 102">
            <a:extLst>
              <a:ext uri="{FF2B5EF4-FFF2-40B4-BE49-F238E27FC236}">
                <a16:creationId xmlns:a16="http://schemas.microsoft.com/office/drawing/2014/main" id="{45A6BDB9-A5A2-EFBE-D1F9-0B236157C234}"/>
              </a:ext>
            </a:extLst>
          </p:cNvPr>
          <p:cNvSpPr txBox="1"/>
          <p:nvPr/>
        </p:nvSpPr>
        <p:spPr>
          <a:xfrm>
            <a:off x="3030173" y="400925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4" name="文本框 103">
            <a:extLst>
              <a:ext uri="{FF2B5EF4-FFF2-40B4-BE49-F238E27FC236}">
                <a16:creationId xmlns:a16="http://schemas.microsoft.com/office/drawing/2014/main" id="{5B04E2D1-AAAA-30B9-DD2E-7E0A891DFE10}"/>
              </a:ext>
            </a:extLst>
          </p:cNvPr>
          <p:cNvSpPr txBox="1"/>
          <p:nvPr/>
        </p:nvSpPr>
        <p:spPr>
          <a:xfrm>
            <a:off x="4576914" y="290909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05" name="文本框 104">
            <a:extLst>
              <a:ext uri="{FF2B5EF4-FFF2-40B4-BE49-F238E27FC236}">
                <a16:creationId xmlns:a16="http://schemas.microsoft.com/office/drawing/2014/main" id="{E964E60A-BEB4-CF23-2419-F2B2B80D1E4D}"/>
              </a:ext>
            </a:extLst>
          </p:cNvPr>
          <p:cNvSpPr txBox="1"/>
          <p:nvPr/>
        </p:nvSpPr>
        <p:spPr>
          <a:xfrm>
            <a:off x="4867066" y="290684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06" name="文本框 105">
            <a:extLst>
              <a:ext uri="{FF2B5EF4-FFF2-40B4-BE49-F238E27FC236}">
                <a16:creationId xmlns:a16="http://schemas.microsoft.com/office/drawing/2014/main" id="{8C2F4622-69F5-DD66-DB7E-6667406E0C6C}"/>
              </a:ext>
            </a:extLst>
          </p:cNvPr>
          <p:cNvSpPr txBox="1"/>
          <p:nvPr/>
        </p:nvSpPr>
        <p:spPr>
          <a:xfrm>
            <a:off x="5138700" y="290808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08" name="文本框 107">
            <a:extLst>
              <a:ext uri="{FF2B5EF4-FFF2-40B4-BE49-F238E27FC236}">
                <a16:creationId xmlns:a16="http://schemas.microsoft.com/office/drawing/2014/main" id="{080B710B-1728-5724-B11A-96BFEA4C118C}"/>
              </a:ext>
            </a:extLst>
          </p:cNvPr>
          <p:cNvSpPr txBox="1"/>
          <p:nvPr/>
        </p:nvSpPr>
        <p:spPr>
          <a:xfrm>
            <a:off x="4576914" y="318626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09" name="文本框 108">
            <a:extLst>
              <a:ext uri="{FF2B5EF4-FFF2-40B4-BE49-F238E27FC236}">
                <a16:creationId xmlns:a16="http://schemas.microsoft.com/office/drawing/2014/main" id="{74BABB95-3B8C-0124-2078-918F33F76197}"/>
              </a:ext>
            </a:extLst>
          </p:cNvPr>
          <p:cNvSpPr txBox="1"/>
          <p:nvPr/>
        </p:nvSpPr>
        <p:spPr>
          <a:xfrm>
            <a:off x="4867066" y="318401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10" name="文本框 109">
            <a:extLst>
              <a:ext uri="{FF2B5EF4-FFF2-40B4-BE49-F238E27FC236}">
                <a16:creationId xmlns:a16="http://schemas.microsoft.com/office/drawing/2014/main" id="{BA8C1C0D-EDF2-1BE0-181B-FD1064B61427}"/>
              </a:ext>
            </a:extLst>
          </p:cNvPr>
          <p:cNvSpPr txBox="1"/>
          <p:nvPr/>
        </p:nvSpPr>
        <p:spPr>
          <a:xfrm>
            <a:off x="5138700" y="318525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1" name="文本框 110">
            <a:extLst>
              <a:ext uri="{FF2B5EF4-FFF2-40B4-BE49-F238E27FC236}">
                <a16:creationId xmlns:a16="http://schemas.microsoft.com/office/drawing/2014/main" id="{3B06DF5E-D221-8066-1BEB-2518EBBF1EA9}"/>
              </a:ext>
            </a:extLst>
          </p:cNvPr>
          <p:cNvSpPr txBox="1"/>
          <p:nvPr/>
        </p:nvSpPr>
        <p:spPr>
          <a:xfrm>
            <a:off x="4576914" y="343127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2" name="文本框 111">
            <a:extLst>
              <a:ext uri="{FF2B5EF4-FFF2-40B4-BE49-F238E27FC236}">
                <a16:creationId xmlns:a16="http://schemas.microsoft.com/office/drawing/2014/main" id="{F9903264-B7C0-814D-9D09-6421DBBBCE62}"/>
              </a:ext>
            </a:extLst>
          </p:cNvPr>
          <p:cNvSpPr txBox="1"/>
          <p:nvPr/>
        </p:nvSpPr>
        <p:spPr>
          <a:xfrm>
            <a:off x="4867066" y="342902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13" name="文本框 112">
            <a:extLst>
              <a:ext uri="{FF2B5EF4-FFF2-40B4-BE49-F238E27FC236}">
                <a16:creationId xmlns:a16="http://schemas.microsoft.com/office/drawing/2014/main" id="{A7F8E54A-AB79-2DA5-EDB3-BF4DA4D9649D}"/>
              </a:ext>
            </a:extLst>
          </p:cNvPr>
          <p:cNvSpPr txBox="1"/>
          <p:nvPr/>
        </p:nvSpPr>
        <p:spPr>
          <a:xfrm>
            <a:off x="5138700" y="343026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4" name="文本框 113">
            <a:extLst>
              <a:ext uri="{FF2B5EF4-FFF2-40B4-BE49-F238E27FC236}">
                <a16:creationId xmlns:a16="http://schemas.microsoft.com/office/drawing/2014/main" id="{DF338256-6DE4-FB3A-6834-3E0FEE1EA85D}"/>
              </a:ext>
            </a:extLst>
          </p:cNvPr>
          <p:cNvSpPr txBox="1"/>
          <p:nvPr/>
        </p:nvSpPr>
        <p:spPr>
          <a:xfrm>
            <a:off x="4577995" y="151410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5" name="文本框 114">
            <a:extLst>
              <a:ext uri="{FF2B5EF4-FFF2-40B4-BE49-F238E27FC236}">
                <a16:creationId xmlns:a16="http://schemas.microsoft.com/office/drawing/2014/main" id="{C4A9FF27-D056-DFC1-D925-8F33DB211C56}"/>
              </a:ext>
            </a:extLst>
          </p:cNvPr>
          <p:cNvSpPr txBox="1"/>
          <p:nvPr/>
        </p:nvSpPr>
        <p:spPr>
          <a:xfrm>
            <a:off x="4850561" y="151184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16" name="文本框 115">
            <a:extLst>
              <a:ext uri="{FF2B5EF4-FFF2-40B4-BE49-F238E27FC236}">
                <a16:creationId xmlns:a16="http://schemas.microsoft.com/office/drawing/2014/main" id="{20CA6A7D-FE48-BF59-9DB5-2CF793CC3D9E}"/>
              </a:ext>
            </a:extLst>
          </p:cNvPr>
          <p:cNvSpPr txBox="1"/>
          <p:nvPr/>
        </p:nvSpPr>
        <p:spPr>
          <a:xfrm>
            <a:off x="5075301" y="151308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7" name="文本框 116">
            <a:extLst>
              <a:ext uri="{FF2B5EF4-FFF2-40B4-BE49-F238E27FC236}">
                <a16:creationId xmlns:a16="http://schemas.microsoft.com/office/drawing/2014/main" id="{4D82F676-A55A-30F5-DFFA-DC87ABF63AD7}"/>
              </a:ext>
            </a:extLst>
          </p:cNvPr>
          <p:cNvSpPr txBox="1"/>
          <p:nvPr/>
        </p:nvSpPr>
        <p:spPr>
          <a:xfrm>
            <a:off x="4542823" y="1791271"/>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18" name="文本框 117">
            <a:extLst>
              <a:ext uri="{FF2B5EF4-FFF2-40B4-BE49-F238E27FC236}">
                <a16:creationId xmlns:a16="http://schemas.microsoft.com/office/drawing/2014/main" id="{A3CA2D2A-F9DE-8C68-45DD-EB6D2956C53A}"/>
              </a:ext>
            </a:extLst>
          </p:cNvPr>
          <p:cNvSpPr txBox="1"/>
          <p:nvPr/>
        </p:nvSpPr>
        <p:spPr>
          <a:xfrm>
            <a:off x="4850561" y="178901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19" name="文本框 118">
            <a:extLst>
              <a:ext uri="{FF2B5EF4-FFF2-40B4-BE49-F238E27FC236}">
                <a16:creationId xmlns:a16="http://schemas.microsoft.com/office/drawing/2014/main" id="{1B0BEE39-2EB6-19AB-E37D-81D7FFD7CF92}"/>
              </a:ext>
            </a:extLst>
          </p:cNvPr>
          <p:cNvSpPr txBox="1"/>
          <p:nvPr/>
        </p:nvSpPr>
        <p:spPr>
          <a:xfrm>
            <a:off x="5122195" y="179025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20" name="文本框 119">
            <a:extLst>
              <a:ext uri="{FF2B5EF4-FFF2-40B4-BE49-F238E27FC236}">
                <a16:creationId xmlns:a16="http://schemas.microsoft.com/office/drawing/2014/main" id="{70EBC6A1-E6AF-83B7-EF4B-CEC5AE4B309A}"/>
              </a:ext>
            </a:extLst>
          </p:cNvPr>
          <p:cNvSpPr txBox="1"/>
          <p:nvPr/>
        </p:nvSpPr>
        <p:spPr>
          <a:xfrm>
            <a:off x="4577995" y="2050061"/>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27" name="文本框 126">
            <a:extLst>
              <a:ext uri="{FF2B5EF4-FFF2-40B4-BE49-F238E27FC236}">
                <a16:creationId xmlns:a16="http://schemas.microsoft.com/office/drawing/2014/main" id="{D823FC30-A7FC-8CD9-3DBE-ACDCC803B921}"/>
              </a:ext>
            </a:extLst>
          </p:cNvPr>
          <p:cNvSpPr txBox="1"/>
          <p:nvPr/>
        </p:nvSpPr>
        <p:spPr>
          <a:xfrm>
            <a:off x="4850561" y="204780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28" name="文本框 127">
            <a:extLst>
              <a:ext uri="{FF2B5EF4-FFF2-40B4-BE49-F238E27FC236}">
                <a16:creationId xmlns:a16="http://schemas.microsoft.com/office/drawing/2014/main" id="{D5E422A4-3A8C-5367-58A1-B730A4260AE3}"/>
              </a:ext>
            </a:extLst>
          </p:cNvPr>
          <p:cNvSpPr txBox="1"/>
          <p:nvPr/>
        </p:nvSpPr>
        <p:spPr>
          <a:xfrm>
            <a:off x="5075301" y="204904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47" name="文本框 146">
            <a:extLst>
              <a:ext uri="{FF2B5EF4-FFF2-40B4-BE49-F238E27FC236}">
                <a16:creationId xmlns:a16="http://schemas.microsoft.com/office/drawing/2014/main" id="{FD11AB64-044D-87D0-5211-C33FE80F18F7}"/>
              </a:ext>
            </a:extLst>
          </p:cNvPr>
          <p:cNvSpPr txBox="1"/>
          <p:nvPr/>
        </p:nvSpPr>
        <p:spPr>
          <a:xfrm>
            <a:off x="7168240" y="1172510"/>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48" name="文本框 147">
            <a:extLst>
              <a:ext uri="{FF2B5EF4-FFF2-40B4-BE49-F238E27FC236}">
                <a16:creationId xmlns:a16="http://schemas.microsoft.com/office/drawing/2014/main" id="{39B90E36-ADC5-C425-8097-7042D58E2E8D}"/>
              </a:ext>
            </a:extLst>
          </p:cNvPr>
          <p:cNvSpPr txBox="1"/>
          <p:nvPr/>
        </p:nvSpPr>
        <p:spPr>
          <a:xfrm>
            <a:off x="7487702" y="117025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49" name="文本框 148">
            <a:extLst>
              <a:ext uri="{FF2B5EF4-FFF2-40B4-BE49-F238E27FC236}">
                <a16:creationId xmlns:a16="http://schemas.microsoft.com/office/drawing/2014/main" id="{2904E720-2CAF-DE1F-7E15-11C3A9593659}"/>
              </a:ext>
            </a:extLst>
          </p:cNvPr>
          <p:cNvSpPr txBox="1"/>
          <p:nvPr/>
        </p:nvSpPr>
        <p:spPr>
          <a:xfrm>
            <a:off x="7759336" y="117149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50" name="文本框 149">
            <a:extLst>
              <a:ext uri="{FF2B5EF4-FFF2-40B4-BE49-F238E27FC236}">
                <a16:creationId xmlns:a16="http://schemas.microsoft.com/office/drawing/2014/main" id="{89173C07-D3C3-4929-34CC-E0273C76A2B7}"/>
              </a:ext>
            </a:extLst>
          </p:cNvPr>
          <p:cNvSpPr txBox="1"/>
          <p:nvPr/>
        </p:nvSpPr>
        <p:spPr>
          <a:xfrm>
            <a:off x="8036882" y="116698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7</a:t>
            </a:r>
            <a:endParaRPr kumimoji="1" lang="zh-CN" altLang="en-US" sz="1600" dirty="0">
              <a:latin typeface="Microsoft YaHei" panose="020B0503020204020204" pitchFamily="34" charset="-122"/>
              <a:ea typeface="Microsoft YaHei" panose="020B0503020204020204" pitchFamily="34" charset="-122"/>
            </a:endParaRPr>
          </a:p>
        </p:txBody>
      </p:sp>
      <p:sp>
        <p:nvSpPr>
          <p:cNvPr id="151" name="文本框 150">
            <a:extLst>
              <a:ext uri="{FF2B5EF4-FFF2-40B4-BE49-F238E27FC236}">
                <a16:creationId xmlns:a16="http://schemas.microsoft.com/office/drawing/2014/main" id="{AC658496-2737-6A48-2CEB-6D3FE703F611}"/>
              </a:ext>
            </a:extLst>
          </p:cNvPr>
          <p:cNvSpPr txBox="1"/>
          <p:nvPr/>
        </p:nvSpPr>
        <p:spPr>
          <a:xfrm>
            <a:off x="8314428" y="116698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52" name="文本框 151">
            <a:extLst>
              <a:ext uri="{FF2B5EF4-FFF2-40B4-BE49-F238E27FC236}">
                <a16:creationId xmlns:a16="http://schemas.microsoft.com/office/drawing/2014/main" id="{3A57C9D9-A3E1-0800-75CC-070F80550C64}"/>
              </a:ext>
            </a:extLst>
          </p:cNvPr>
          <p:cNvSpPr txBox="1"/>
          <p:nvPr/>
        </p:nvSpPr>
        <p:spPr>
          <a:xfrm>
            <a:off x="7215136" y="145858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53" name="文本框 152">
            <a:extLst>
              <a:ext uri="{FF2B5EF4-FFF2-40B4-BE49-F238E27FC236}">
                <a16:creationId xmlns:a16="http://schemas.microsoft.com/office/drawing/2014/main" id="{3C422980-472A-4BF8-E648-711EB1855456}"/>
              </a:ext>
            </a:extLst>
          </p:cNvPr>
          <p:cNvSpPr txBox="1"/>
          <p:nvPr/>
        </p:nvSpPr>
        <p:spPr>
          <a:xfrm>
            <a:off x="7440806" y="1456330"/>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54" name="文本框 153">
            <a:extLst>
              <a:ext uri="{FF2B5EF4-FFF2-40B4-BE49-F238E27FC236}">
                <a16:creationId xmlns:a16="http://schemas.microsoft.com/office/drawing/2014/main" id="{8535209F-2FE1-7FA2-9BFD-412C63E7AD57}"/>
              </a:ext>
            </a:extLst>
          </p:cNvPr>
          <p:cNvSpPr txBox="1"/>
          <p:nvPr/>
        </p:nvSpPr>
        <p:spPr>
          <a:xfrm>
            <a:off x="7712440" y="1457570"/>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55" name="文本框 154">
            <a:extLst>
              <a:ext uri="{FF2B5EF4-FFF2-40B4-BE49-F238E27FC236}">
                <a16:creationId xmlns:a16="http://schemas.microsoft.com/office/drawing/2014/main" id="{12EEB4F9-8A4C-ADBF-021C-27B65B027763}"/>
              </a:ext>
            </a:extLst>
          </p:cNvPr>
          <p:cNvSpPr txBox="1"/>
          <p:nvPr/>
        </p:nvSpPr>
        <p:spPr>
          <a:xfrm>
            <a:off x="7989986" y="145305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56" name="文本框 155">
            <a:extLst>
              <a:ext uri="{FF2B5EF4-FFF2-40B4-BE49-F238E27FC236}">
                <a16:creationId xmlns:a16="http://schemas.microsoft.com/office/drawing/2014/main" id="{D52138BF-532D-3387-0C6E-9A85AA0D004F}"/>
              </a:ext>
            </a:extLst>
          </p:cNvPr>
          <p:cNvSpPr txBox="1"/>
          <p:nvPr/>
        </p:nvSpPr>
        <p:spPr>
          <a:xfrm>
            <a:off x="8314428" y="145305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57" name="文本框 156">
            <a:extLst>
              <a:ext uri="{FF2B5EF4-FFF2-40B4-BE49-F238E27FC236}">
                <a16:creationId xmlns:a16="http://schemas.microsoft.com/office/drawing/2014/main" id="{A102E02F-BF80-601D-F3F2-C3C2BF98F1E7}"/>
              </a:ext>
            </a:extLst>
          </p:cNvPr>
          <p:cNvSpPr txBox="1"/>
          <p:nvPr/>
        </p:nvSpPr>
        <p:spPr>
          <a:xfrm>
            <a:off x="7168240" y="1744656"/>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58" name="文本框 157">
            <a:extLst>
              <a:ext uri="{FF2B5EF4-FFF2-40B4-BE49-F238E27FC236}">
                <a16:creationId xmlns:a16="http://schemas.microsoft.com/office/drawing/2014/main" id="{2AE118AA-4257-8570-D5E6-3BA4D13F76B0}"/>
              </a:ext>
            </a:extLst>
          </p:cNvPr>
          <p:cNvSpPr txBox="1"/>
          <p:nvPr/>
        </p:nvSpPr>
        <p:spPr>
          <a:xfrm>
            <a:off x="7487702" y="174240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59" name="文本框 158">
            <a:extLst>
              <a:ext uri="{FF2B5EF4-FFF2-40B4-BE49-F238E27FC236}">
                <a16:creationId xmlns:a16="http://schemas.microsoft.com/office/drawing/2014/main" id="{EBDEF627-2902-F655-009A-7AD896026A98}"/>
              </a:ext>
            </a:extLst>
          </p:cNvPr>
          <p:cNvSpPr txBox="1"/>
          <p:nvPr/>
        </p:nvSpPr>
        <p:spPr>
          <a:xfrm>
            <a:off x="7759336" y="174364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60" name="文本框 159">
            <a:extLst>
              <a:ext uri="{FF2B5EF4-FFF2-40B4-BE49-F238E27FC236}">
                <a16:creationId xmlns:a16="http://schemas.microsoft.com/office/drawing/2014/main" id="{53B6FA92-4F2E-1EE0-E544-EAB08B955889}"/>
              </a:ext>
            </a:extLst>
          </p:cNvPr>
          <p:cNvSpPr txBox="1"/>
          <p:nvPr/>
        </p:nvSpPr>
        <p:spPr>
          <a:xfrm>
            <a:off x="8036882" y="173913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61" name="文本框 160">
            <a:extLst>
              <a:ext uri="{FF2B5EF4-FFF2-40B4-BE49-F238E27FC236}">
                <a16:creationId xmlns:a16="http://schemas.microsoft.com/office/drawing/2014/main" id="{4DE0AA97-C6E8-0C6E-5AE5-2B39FD9BD608}"/>
              </a:ext>
            </a:extLst>
          </p:cNvPr>
          <p:cNvSpPr txBox="1"/>
          <p:nvPr/>
        </p:nvSpPr>
        <p:spPr>
          <a:xfrm>
            <a:off x="8267532" y="173913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62" name="文本框 161">
            <a:extLst>
              <a:ext uri="{FF2B5EF4-FFF2-40B4-BE49-F238E27FC236}">
                <a16:creationId xmlns:a16="http://schemas.microsoft.com/office/drawing/2014/main" id="{8A554AED-41C2-1B87-7840-AF082048C2E3}"/>
              </a:ext>
            </a:extLst>
          </p:cNvPr>
          <p:cNvSpPr txBox="1"/>
          <p:nvPr/>
        </p:nvSpPr>
        <p:spPr>
          <a:xfrm>
            <a:off x="7168240" y="2012377"/>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63" name="文本框 162">
            <a:extLst>
              <a:ext uri="{FF2B5EF4-FFF2-40B4-BE49-F238E27FC236}">
                <a16:creationId xmlns:a16="http://schemas.microsoft.com/office/drawing/2014/main" id="{ED7B4382-018D-DE63-F721-69F8DA55BDBF}"/>
              </a:ext>
            </a:extLst>
          </p:cNvPr>
          <p:cNvSpPr txBox="1"/>
          <p:nvPr/>
        </p:nvSpPr>
        <p:spPr>
          <a:xfrm>
            <a:off x="7440806" y="201012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64" name="文本框 163">
            <a:extLst>
              <a:ext uri="{FF2B5EF4-FFF2-40B4-BE49-F238E27FC236}">
                <a16:creationId xmlns:a16="http://schemas.microsoft.com/office/drawing/2014/main" id="{C36F1B09-6B75-F18A-D1AC-B8D50C253E99}"/>
              </a:ext>
            </a:extLst>
          </p:cNvPr>
          <p:cNvSpPr txBox="1"/>
          <p:nvPr/>
        </p:nvSpPr>
        <p:spPr>
          <a:xfrm>
            <a:off x="7712440" y="201136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65" name="文本框 164">
            <a:extLst>
              <a:ext uri="{FF2B5EF4-FFF2-40B4-BE49-F238E27FC236}">
                <a16:creationId xmlns:a16="http://schemas.microsoft.com/office/drawing/2014/main" id="{A0D5BD78-542F-C421-382F-59D5024FB930}"/>
              </a:ext>
            </a:extLst>
          </p:cNvPr>
          <p:cNvSpPr txBox="1"/>
          <p:nvPr/>
        </p:nvSpPr>
        <p:spPr>
          <a:xfrm>
            <a:off x="7989986" y="2006853"/>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66" name="文本框 165">
            <a:extLst>
              <a:ext uri="{FF2B5EF4-FFF2-40B4-BE49-F238E27FC236}">
                <a16:creationId xmlns:a16="http://schemas.microsoft.com/office/drawing/2014/main" id="{F1D7EB65-2988-382C-3972-12D619C1A8D4}"/>
              </a:ext>
            </a:extLst>
          </p:cNvPr>
          <p:cNvSpPr txBox="1"/>
          <p:nvPr/>
        </p:nvSpPr>
        <p:spPr>
          <a:xfrm>
            <a:off x="8314428" y="200685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67" name="文本框 166">
            <a:extLst>
              <a:ext uri="{FF2B5EF4-FFF2-40B4-BE49-F238E27FC236}">
                <a16:creationId xmlns:a16="http://schemas.microsoft.com/office/drawing/2014/main" id="{D38AD164-A2C2-ADD0-957D-D5AE78967BFD}"/>
              </a:ext>
            </a:extLst>
          </p:cNvPr>
          <p:cNvSpPr txBox="1"/>
          <p:nvPr/>
        </p:nvSpPr>
        <p:spPr>
          <a:xfrm>
            <a:off x="7215136" y="229182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68" name="文本框 167">
            <a:extLst>
              <a:ext uri="{FF2B5EF4-FFF2-40B4-BE49-F238E27FC236}">
                <a16:creationId xmlns:a16="http://schemas.microsoft.com/office/drawing/2014/main" id="{FC98C7AA-5EE8-4CD2-649C-09463C9E7523}"/>
              </a:ext>
            </a:extLst>
          </p:cNvPr>
          <p:cNvSpPr txBox="1"/>
          <p:nvPr/>
        </p:nvSpPr>
        <p:spPr>
          <a:xfrm>
            <a:off x="7487702" y="2289569"/>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69" name="文本框 168">
            <a:extLst>
              <a:ext uri="{FF2B5EF4-FFF2-40B4-BE49-F238E27FC236}">
                <a16:creationId xmlns:a16="http://schemas.microsoft.com/office/drawing/2014/main" id="{A563D3EF-4B67-C1EE-121A-8EF8FD2D2AE1}"/>
              </a:ext>
            </a:extLst>
          </p:cNvPr>
          <p:cNvSpPr txBox="1"/>
          <p:nvPr/>
        </p:nvSpPr>
        <p:spPr>
          <a:xfrm>
            <a:off x="7712440" y="2290809"/>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70" name="文本框 169">
            <a:extLst>
              <a:ext uri="{FF2B5EF4-FFF2-40B4-BE49-F238E27FC236}">
                <a16:creationId xmlns:a16="http://schemas.microsoft.com/office/drawing/2014/main" id="{47E4BD63-F901-37B6-FEB7-A75CC83306BB}"/>
              </a:ext>
            </a:extLst>
          </p:cNvPr>
          <p:cNvSpPr txBox="1"/>
          <p:nvPr/>
        </p:nvSpPr>
        <p:spPr>
          <a:xfrm>
            <a:off x="8036882" y="228629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7</a:t>
            </a:r>
            <a:endParaRPr kumimoji="1" lang="zh-CN" altLang="en-US" sz="1600" dirty="0">
              <a:latin typeface="Microsoft YaHei" panose="020B0503020204020204" pitchFamily="34" charset="-122"/>
              <a:ea typeface="Microsoft YaHei" panose="020B0503020204020204" pitchFamily="34" charset="-122"/>
            </a:endParaRPr>
          </a:p>
        </p:txBody>
      </p:sp>
      <p:sp>
        <p:nvSpPr>
          <p:cNvPr id="171" name="文本框 170">
            <a:extLst>
              <a:ext uri="{FF2B5EF4-FFF2-40B4-BE49-F238E27FC236}">
                <a16:creationId xmlns:a16="http://schemas.microsoft.com/office/drawing/2014/main" id="{D10A7573-64F3-7221-CD2D-79C963030EE3}"/>
              </a:ext>
            </a:extLst>
          </p:cNvPr>
          <p:cNvSpPr txBox="1"/>
          <p:nvPr/>
        </p:nvSpPr>
        <p:spPr>
          <a:xfrm>
            <a:off x="8267532" y="228629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72" name="文本框 171">
            <a:extLst>
              <a:ext uri="{FF2B5EF4-FFF2-40B4-BE49-F238E27FC236}">
                <a16:creationId xmlns:a16="http://schemas.microsoft.com/office/drawing/2014/main" id="{826A5103-9630-DA08-DBA8-5FD2B8CB505D}"/>
              </a:ext>
            </a:extLst>
          </p:cNvPr>
          <p:cNvSpPr txBox="1"/>
          <p:nvPr/>
        </p:nvSpPr>
        <p:spPr>
          <a:xfrm>
            <a:off x="7267253" y="405615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73" name="文本框 172">
            <a:extLst>
              <a:ext uri="{FF2B5EF4-FFF2-40B4-BE49-F238E27FC236}">
                <a16:creationId xmlns:a16="http://schemas.microsoft.com/office/drawing/2014/main" id="{CBF7B32D-DE10-4CCC-0062-6E75C66F4DCE}"/>
              </a:ext>
            </a:extLst>
          </p:cNvPr>
          <p:cNvSpPr txBox="1"/>
          <p:nvPr/>
        </p:nvSpPr>
        <p:spPr>
          <a:xfrm>
            <a:off x="7492923" y="405390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-7</a:t>
            </a:r>
            <a:endParaRPr kumimoji="1" lang="zh-CN" altLang="en-US" sz="1600" dirty="0">
              <a:latin typeface="Microsoft YaHei" panose="020B0503020204020204" pitchFamily="34" charset="-122"/>
              <a:ea typeface="Microsoft YaHei" panose="020B0503020204020204" pitchFamily="34" charset="-122"/>
            </a:endParaRPr>
          </a:p>
        </p:txBody>
      </p:sp>
      <p:sp>
        <p:nvSpPr>
          <p:cNvPr id="174" name="文本框 173">
            <a:extLst>
              <a:ext uri="{FF2B5EF4-FFF2-40B4-BE49-F238E27FC236}">
                <a16:creationId xmlns:a16="http://schemas.microsoft.com/office/drawing/2014/main" id="{B4D4DF9D-513D-05F3-D1EB-1DF989AD37A4}"/>
              </a:ext>
            </a:extLst>
          </p:cNvPr>
          <p:cNvSpPr txBox="1"/>
          <p:nvPr/>
        </p:nvSpPr>
        <p:spPr>
          <a:xfrm>
            <a:off x="7764557" y="405514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75" name="文本框 174">
            <a:extLst>
              <a:ext uri="{FF2B5EF4-FFF2-40B4-BE49-F238E27FC236}">
                <a16:creationId xmlns:a16="http://schemas.microsoft.com/office/drawing/2014/main" id="{B286A3C2-BB7F-EAF7-289F-22C5A4341824}"/>
              </a:ext>
            </a:extLst>
          </p:cNvPr>
          <p:cNvSpPr txBox="1"/>
          <p:nvPr/>
        </p:nvSpPr>
        <p:spPr>
          <a:xfrm>
            <a:off x="8042103" y="4050631"/>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76" name="文本框 175">
            <a:extLst>
              <a:ext uri="{FF2B5EF4-FFF2-40B4-BE49-F238E27FC236}">
                <a16:creationId xmlns:a16="http://schemas.microsoft.com/office/drawing/2014/main" id="{5932E347-C7E7-815B-8EA3-C5EE86EA2C62}"/>
              </a:ext>
            </a:extLst>
          </p:cNvPr>
          <p:cNvSpPr txBox="1"/>
          <p:nvPr/>
        </p:nvSpPr>
        <p:spPr>
          <a:xfrm>
            <a:off x="8319649" y="4050631"/>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-4</a:t>
            </a:r>
            <a:endParaRPr kumimoji="1" lang="zh-CN" altLang="en-US" sz="1600" dirty="0">
              <a:latin typeface="Microsoft YaHei" panose="020B0503020204020204" pitchFamily="34" charset="-122"/>
              <a:ea typeface="Microsoft YaHei" panose="020B0503020204020204" pitchFamily="34" charset="-122"/>
            </a:endParaRPr>
          </a:p>
        </p:txBody>
      </p:sp>
      <p:sp>
        <p:nvSpPr>
          <p:cNvPr id="177" name="文本框 176">
            <a:extLst>
              <a:ext uri="{FF2B5EF4-FFF2-40B4-BE49-F238E27FC236}">
                <a16:creationId xmlns:a16="http://schemas.microsoft.com/office/drawing/2014/main" id="{B69716A6-EC79-4DF2-7D43-5AC6B9357DBD}"/>
              </a:ext>
            </a:extLst>
          </p:cNvPr>
          <p:cNvSpPr txBox="1"/>
          <p:nvPr/>
        </p:nvSpPr>
        <p:spPr>
          <a:xfrm>
            <a:off x="7267253" y="4342228"/>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78" name="文本框 177">
            <a:extLst>
              <a:ext uri="{FF2B5EF4-FFF2-40B4-BE49-F238E27FC236}">
                <a16:creationId xmlns:a16="http://schemas.microsoft.com/office/drawing/2014/main" id="{61FF3BD4-76C1-E8F6-12F4-56A2CCAFA8B0}"/>
              </a:ext>
            </a:extLst>
          </p:cNvPr>
          <p:cNvSpPr txBox="1"/>
          <p:nvPr/>
        </p:nvSpPr>
        <p:spPr>
          <a:xfrm>
            <a:off x="7492923" y="4339975"/>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79" name="文本框 178">
            <a:extLst>
              <a:ext uri="{FF2B5EF4-FFF2-40B4-BE49-F238E27FC236}">
                <a16:creationId xmlns:a16="http://schemas.microsoft.com/office/drawing/2014/main" id="{2F81D025-2038-1A74-DA22-AFF88DBEB5D8}"/>
              </a:ext>
            </a:extLst>
          </p:cNvPr>
          <p:cNvSpPr txBox="1"/>
          <p:nvPr/>
        </p:nvSpPr>
        <p:spPr>
          <a:xfrm>
            <a:off x="7811453" y="4341215"/>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0</a:t>
            </a:r>
            <a:endParaRPr kumimoji="1" lang="zh-CN" altLang="en-US" sz="1600" dirty="0">
              <a:latin typeface="Microsoft YaHei" panose="020B0503020204020204" pitchFamily="34" charset="-122"/>
              <a:ea typeface="Microsoft YaHei" panose="020B0503020204020204" pitchFamily="34" charset="-122"/>
            </a:endParaRPr>
          </a:p>
        </p:txBody>
      </p:sp>
      <p:sp>
        <p:nvSpPr>
          <p:cNvPr id="180" name="文本框 179">
            <a:extLst>
              <a:ext uri="{FF2B5EF4-FFF2-40B4-BE49-F238E27FC236}">
                <a16:creationId xmlns:a16="http://schemas.microsoft.com/office/drawing/2014/main" id="{8F74C0F4-8634-30D7-1405-446DEE57880D}"/>
              </a:ext>
            </a:extLst>
          </p:cNvPr>
          <p:cNvSpPr txBox="1"/>
          <p:nvPr/>
        </p:nvSpPr>
        <p:spPr>
          <a:xfrm>
            <a:off x="8088999" y="4336704"/>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81" name="文本框 180">
            <a:extLst>
              <a:ext uri="{FF2B5EF4-FFF2-40B4-BE49-F238E27FC236}">
                <a16:creationId xmlns:a16="http://schemas.microsoft.com/office/drawing/2014/main" id="{4E210FBC-85B1-51B3-9832-AD102D80E065}"/>
              </a:ext>
            </a:extLst>
          </p:cNvPr>
          <p:cNvSpPr txBox="1"/>
          <p:nvPr/>
        </p:nvSpPr>
        <p:spPr>
          <a:xfrm>
            <a:off x="8319649" y="433670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82" name="文本框 181">
            <a:extLst>
              <a:ext uri="{FF2B5EF4-FFF2-40B4-BE49-F238E27FC236}">
                <a16:creationId xmlns:a16="http://schemas.microsoft.com/office/drawing/2014/main" id="{FF80F28B-4890-3B00-CBED-C520B4424391}"/>
              </a:ext>
            </a:extLst>
          </p:cNvPr>
          <p:cNvSpPr txBox="1"/>
          <p:nvPr/>
        </p:nvSpPr>
        <p:spPr>
          <a:xfrm>
            <a:off x="7185185" y="4628301"/>
            <a:ext cx="42511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10</a:t>
            </a:r>
            <a:endParaRPr kumimoji="1" lang="zh-CN" altLang="en-US" sz="1600" dirty="0">
              <a:latin typeface="Microsoft YaHei" panose="020B0503020204020204" pitchFamily="34" charset="-122"/>
              <a:ea typeface="Microsoft YaHei" panose="020B0503020204020204" pitchFamily="34" charset="-122"/>
            </a:endParaRPr>
          </a:p>
        </p:txBody>
      </p:sp>
      <p:sp>
        <p:nvSpPr>
          <p:cNvPr id="183" name="文本框 182">
            <a:extLst>
              <a:ext uri="{FF2B5EF4-FFF2-40B4-BE49-F238E27FC236}">
                <a16:creationId xmlns:a16="http://schemas.microsoft.com/office/drawing/2014/main" id="{E1433996-0744-2A3A-18F9-3E4353C155E6}"/>
              </a:ext>
            </a:extLst>
          </p:cNvPr>
          <p:cNvSpPr txBox="1"/>
          <p:nvPr/>
        </p:nvSpPr>
        <p:spPr>
          <a:xfrm>
            <a:off x="7492923" y="462604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84" name="文本框 183">
            <a:extLst>
              <a:ext uri="{FF2B5EF4-FFF2-40B4-BE49-F238E27FC236}">
                <a16:creationId xmlns:a16="http://schemas.microsoft.com/office/drawing/2014/main" id="{BE0B4E96-8D71-D59E-EBD4-ABF7BB8DBCBA}"/>
              </a:ext>
            </a:extLst>
          </p:cNvPr>
          <p:cNvSpPr txBox="1"/>
          <p:nvPr/>
        </p:nvSpPr>
        <p:spPr>
          <a:xfrm>
            <a:off x="7764557" y="4627288"/>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85" name="文本框 184">
            <a:extLst>
              <a:ext uri="{FF2B5EF4-FFF2-40B4-BE49-F238E27FC236}">
                <a16:creationId xmlns:a16="http://schemas.microsoft.com/office/drawing/2014/main" id="{4B31FE36-4AA9-70B6-2902-1A6F11BAA67C}"/>
              </a:ext>
            </a:extLst>
          </p:cNvPr>
          <p:cNvSpPr txBox="1"/>
          <p:nvPr/>
        </p:nvSpPr>
        <p:spPr>
          <a:xfrm>
            <a:off x="8042103" y="4622777"/>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-5</a:t>
            </a:r>
            <a:endParaRPr kumimoji="1" lang="zh-CN" altLang="en-US" sz="1600" dirty="0">
              <a:latin typeface="Microsoft YaHei" panose="020B0503020204020204" pitchFamily="34" charset="-122"/>
              <a:ea typeface="Microsoft YaHei" panose="020B0503020204020204" pitchFamily="34" charset="-122"/>
            </a:endParaRPr>
          </a:p>
        </p:txBody>
      </p:sp>
      <p:sp>
        <p:nvSpPr>
          <p:cNvPr id="186" name="文本框 185">
            <a:extLst>
              <a:ext uri="{FF2B5EF4-FFF2-40B4-BE49-F238E27FC236}">
                <a16:creationId xmlns:a16="http://schemas.microsoft.com/office/drawing/2014/main" id="{55665F64-185A-BD42-E3E6-64B882D9858C}"/>
              </a:ext>
            </a:extLst>
          </p:cNvPr>
          <p:cNvSpPr txBox="1"/>
          <p:nvPr/>
        </p:nvSpPr>
        <p:spPr>
          <a:xfrm>
            <a:off x="8319649" y="4622777"/>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187" name="文本框 186">
            <a:extLst>
              <a:ext uri="{FF2B5EF4-FFF2-40B4-BE49-F238E27FC236}">
                <a16:creationId xmlns:a16="http://schemas.microsoft.com/office/drawing/2014/main" id="{20F36341-1580-5247-7896-7BB0228AC4F8}"/>
              </a:ext>
            </a:extLst>
          </p:cNvPr>
          <p:cNvSpPr txBox="1"/>
          <p:nvPr/>
        </p:nvSpPr>
        <p:spPr>
          <a:xfrm>
            <a:off x="7267253" y="4907746"/>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9</a:t>
            </a:r>
            <a:endParaRPr kumimoji="1" lang="zh-CN" altLang="en-US" sz="1600" dirty="0">
              <a:latin typeface="Microsoft YaHei" panose="020B0503020204020204" pitchFamily="34" charset="-122"/>
              <a:ea typeface="Microsoft YaHei" panose="020B0503020204020204" pitchFamily="34" charset="-122"/>
            </a:endParaRPr>
          </a:p>
        </p:txBody>
      </p:sp>
      <p:sp>
        <p:nvSpPr>
          <p:cNvPr id="188" name="文本框 187">
            <a:extLst>
              <a:ext uri="{FF2B5EF4-FFF2-40B4-BE49-F238E27FC236}">
                <a16:creationId xmlns:a16="http://schemas.microsoft.com/office/drawing/2014/main" id="{11DDD314-5AF6-6558-166E-5D864734845B}"/>
              </a:ext>
            </a:extLst>
          </p:cNvPr>
          <p:cNvSpPr txBox="1"/>
          <p:nvPr/>
        </p:nvSpPr>
        <p:spPr>
          <a:xfrm>
            <a:off x="7539819" y="490549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189" name="文本框 188">
            <a:extLst>
              <a:ext uri="{FF2B5EF4-FFF2-40B4-BE49-F238E27FC236}">
                <a16:creationId xmlns:a16="http://schemas.microsoft.com/office/drawing/2014/main" id="{6FE024BC-9931-9046-160D-1DFD674767BC}"/>
              </a:ext>
            </a:extLst>
          </p:cNvPr>
          <p:cNvSpPr txBox="1"/>
          <p:nvPr/>
        </p:nvSpPr>
        <p:spPr>
          <a:xfrm>
            <a:off x="7764557" y="4906733"/>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90" name="文本框 189">
            <a:extLst>
              <a:ext uri="{FF2B5EF4-FFF2-40B4-BE49-F238E27FC236}">
                <a16:creationId xmlns:a16="http://schemas.microsoft.com/office/drawing/2014/main" id="{01F2FEE0-9EB5-9D07-18AE-8B8F3FCCAD96}"/>
              </a:ext>
            </a:extLst>
          </p:cNvPr>
          <p:cNvSpPr txBox="1"/>
          <p:nvPr/>
        </p:nvSpPr>
        <p:spPr>
          <a:xfrm>
            <a:off x="8088999" y="4902222"/>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91" name="文本框 190">
            <a:extLst>
              <a:ext uri="{FF2B5EF4-FFF2-40B4-BE49-F238E27FC236}">
                <a16:creationId xmlns:a16="http://schemas.microsoft.com/office/drawing/2014/main" id="{BA989616-A427-67A2-3D1C-7F65FD31EF1C}"/>
              </a:ext>
            </a:extLst>
          </p:cNvPr>
          <p:cNvSpPr txBox="1"/>
          <p:nvPr/>
        </p:nvSpPr>
        <p:spPr>
          <a:xfrm>
            <a:off x="8319649" y="4902222"/>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-8</a:t>
            </a:r>
            <a:endParaRPr kumimoji="1" lang="zh-CN" altLang="en-US" sz="1600" dirty="0">
              <a:latin typeface="Microsoft YaHei" panose="020B0503020204020204" pitchFamily="34" charset="-122"/>
              <a:ea typeface="Microsoft YaHei" panose="020B0503020204020204" pitchFamily="34" charset="-122"/>
            </a:endParaRPr>
          </a:p>
        </p:txBody>
      </p:sp>
      <p:sp>
        <p:nvSpPr>
          <p:cNvPr id="192" name="文本框 191">
            <a:extLst>
              <a:ext uri="{FF2B5EF4-FFF2-40B4-BE49-F238E27FC236}">
                <a16:creationId xmlns:a16="http://schemas.microsoft.com/office/drawing/2014/main" id="{9AC04A7E-AC81-A498-C583-D886665CA9B6}"/>
              </a:ext>
            </a:extLst>
          </p:cNvPr>
          <p:cNvSpPr txBox="1"/>
          <p:nvPr/>
        </p:nvSpPr>
        <p:spPr>
          <a:xfrm>
            <a:off x="7267253" y="5204777"/>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93" name="文本框 192">
            <a:extLst>
              <a:ext uri="{FF2B5EF4-FFF2-40B4-BE49-F238E27FC236}">
                <a16:creationId xmlns:a16="http://schemas.microsoft.com/office/drawing/2014/main" id="{508CCC42-F6A3-F24F-7974-85B3F3A92233}"/>
              </a:ext>
            </a:extLst>
          </p:cNvPr>
          <p:cNvSpPr txBox="1"/>
          <p:nvPr/>
        </p:nvSpPr>
        <p:spPr>
          <a:xfrm>
            <a:off x="7539819" y="5202524"/>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6</a:t>
            </a:r>
            <a:endParaRPr kumimoji="1" lang="zh-CN" altLang="en-US" sz="1600" dirty="0">
              <a:latin typeface="Microsoft YaHei" panose="020B0503020204020204" pitchFamily="34" charset="-122"/>
              <a:ea typeface="Microsoft YaHei" panose="020B0503020204020204" pitchFamily="34" charset="-122"/>
            </a:endParaRPr>
          </a:p>
        </p:txBody>
      </p:sp>
      <p:sp>
        <p:nvSpPr>
          <p:cNvPr id="194" name="文本框 193">
            <a:extLst>
              <a:ext uri="{FF2B5EF4-FFF2-40B4-BE49-F238E27FC236}">
                <a16:creationId xmlns:a16="http://schemas.microsoft.com/office/drawing/2014/main" id="{B889388C-42B7-64EC-9CAB-98188F7261B7}"/>
              </a:ext>
            </a:extLst>
          </p:cNvPr>
          <p:cNvSpPr txBox="1"/>
          <p:nvPr/>
        </p:nvSpPr>
        <p:spPr>
          <a:xfrm>
            <a:off x="7764557" y="5203764"/>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
        <p:nvSpPr>
          <p:cNvPr id="195" name="文本框 194">
            <a:extLst>
              <a:ext uri="{FF2B5EF4-FFF2-40B4-BE49-F238E27FC236}">
                <a16:creationId xmlns:a16="http://schemas.microsoft.com/office/drawing/2014/main" id="{7DA7801B-363D-443B-5AC6-3B2A7BA9277B}"/>
              </a:ext>
            </a:extLst>
          </p:cNvPr>
          <p:cNvSpPr txBox="1"/>
          <p:nvPr/>
        </p:nvSpPr>
        <p:spPr>
          <a:xfrm>
            <a:off x="8088999" y="5199253"/>
            <a:ext cx="304892"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196" name="文本框 195">
            <a:extLst>
              <a:ext uri="{FF2B5EF4-FFF2-40B4-BE49-F238E27FC236}">
                <a16:creationId xmlns:a16="http://schemas.microsoft.com/office/drawing/2014/main" id="{4296AD58-A816-24E8-9ECF-1AE4A148E8E7}"/>
              </a:ext>
            </a:extLst>
          </p:cNvPr>
          <p:cNvSpPr txBox="1"/>
          <p:nvPr/>
        </p:nvSpPr>
        <p:spPr>
          <a:xfrm>
            <a:off x="8319649" y="5199253"/>
            <a:ext cx="393056" cy="338554"/>
          </a:xfrm>
          <a:prstGeom prst="rect">
            <a:avLst/>
          </a:prstGeom>
          <a:noFill/>
        </p:spPr>
        <p:txBody>
          <a:bodyPr wrap="none" rtlCol="0">
            <a:spAutoFit/>
          </a:bodyPr>
          <a:lstStyle/>
          <a:p>
            <a:r>
              <a:rPr kumimoji="1" lang="en-US" altLang="zh-CN" sz="1600" dirty="0">
                <a:latin typeface="Microsoft YaHei" panose="020B0503020204020204" pitchFamily="34" charset="-122"/>
                <a:ea typeface="Microsoft YaHei" panose="020B0503020204020204" pitchFamily="34" charset="-122"/>
              </a:rPr>
              <a:t>-3</a:t>
            </a:r>
            <a:endParaRPr kumimoji="1" lang="zh-CN" altLang="en-US" sz="16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145890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5C4A3-8DB3-D505-C6D2-4379BB121F6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32448D-3840-6DC0-5BD4-221EB3B02CC4}"/>
              </a:ext>
            </a:extLst>
          </p:cNvPr>
          <p:cNvSpPr>
            <a:spLocks noGrp="1"/>
          </p:cNvSpPr>
          <p:nvPr>
            <p:ph type="title"/>
          </p:nvPr>
        </p:nvSpPr>
        <p:spPr>
          <a:xfrm>
            <a:off x="1249905" y="274682"/>
            <a:ext cx="10363200" cy="1143000"/>
          </a:xfrm>
        </p:spPr>
        <p:txBody>
          <a:bodyPr/>
          <a:lstStyle/>
          <a:p>
            <a:r>
              <a:rPr lang="zh-CN" altLang="en-US" dirty="0"/>
              <a:t>前情回顧：多通道輸入時的捲積</a:t>
            </a:r>
          </a:p>
        </p:txBody>
      </p:sp>
      <p:pic>
        <p:nvPicPr>
          <p:cNvPr id="8" name="图片 7">
            <a:extLst>
              <a:ext uri="{FF2B5EF4-FFF2-40B4-BE49-F238E27FC236}">
                <a16:creationId xmlns:a16="http://schemas.microsoft.com/office/drawing/2014/main" id="{7B88AF52-98CC-670C-B02D-2A6C43268AC4}"/>
              </a:ext>
            </a:extLst>
          </p:cNvPr>
          <p:cNvPicPr>
            <a:picLocks noChangeAspect="1"/>
          </p:cNvPicPr>
          <p:nvPr/>
        </p:nvPicPr>
        <p:blipFill>
          <a:blip r:embed="rId3"/>
          <a:stretch>
            <a:fillRect/>
          </a:stretch>
        </p:blipFill>
        <p:spPr>
          <a:xfrm>
            <a:off x="2228341" y="2313818"/>
            <a:ext cx="1615106" cy="1686213"/>
          </a:xfrm>
          <a:prstGeom prst="rect">
            <a:avLst/>
          </a:prstGeom>
        </p:spPr>
      </p:pic>
      <p:pic>
        <p:nvPicPr>
          <p:cNvPr id="11" name="图片 10">
            <a:extLst>
              <a:ext uri="{FF2B5EF4-FFF2-40B4-BE49-F238E27FC236}">
                <a16:creationId xmlns:a16="http://schemas.microsoft.com/office/drawing/2014/main" id="{771EB47D-5629-241D-ED92-435066C7F5C6}"/>
              </a:ext>
            </a:extLst>
          </p:cNvPr>
          <p:cNvPicPr>
            <a:picLocks noChangeAspect="1"/>
          </p:cNvPicPr>
          <p:nvPr/>
        </p:nvPicPr>
        <p:blipFill>
          <a:blip r:embed="rId4"/>
          <a:stretch>
            <a:fillRect/>
          </a:stretch>
        </p:blipFill>
        <p:spPr>
          <a:xfrm>
            <a:off x="2104660" y="2454339"/>
            <a:ext cx="1615106" cy="1686213"/>
          </a:xfrm>
          <a:prstGeom prst="rect">
            <a:avLst/>
          </a:prstGeom>
        </p:spPr>
      </p:pic>
      <p:pic>
        <p:nvPicPr>
          <p:cNvPr id="12" name="图片 11">
            <a:extLst>
              <a:ext uri="{FF2B5EF4-FFF2-40B4-BE49-F238E27FC236}">
                <a16:creationId xmlns:a16="http://schemas.microsoft.com/office/drawing/2014/main" id="{C5267F96-56CE-2A28-F079-A16D6456A013}"/>
              </a:ext>
            </a:extLst>
          </p:cNvPr>
          <p:cNvPicPr>
            <a:picLocks noChangeAspect="1"/>
          </p:cNvPicPr>
          <p:nvPr/>
        </p:nvPicPr>
        <p:blipFill>
          <a:blip r:embed="rId5"/>
          <a:stretch>
            <a:fillRect/>
          </a:stretch>
        </p:blipFill>
        <p:spPr>
          <a:xfrm>
            <a:off x="1956020" y="2597509"/>
            <a:ext cx="1617041" cy="1688235"/>
          </a:xfrm>
          <a:prstGeom prst="rect">
            <a:avLst/>
          </a:prstGeom>
        </p:spPr>
      </p:pic>
      <p:pic>
        <p:nvPicPr>
          <p:cNvPr id="14" name="图片 13">
            <a:extLst>
              <a:ext uri="{FF2B5EF4-FFF2-40B4-BE49-F238E27FC236}">
                <a16:creationId xmlns:a16="http://schemas.microsoft.com/office/drawing/2014/main" id="{D4F3231D-1BB1-4B50-CC25-26FFE9D758B6}"/>
              </a:ext>
            </a:extLst>
          </p:cNvPr>
          <p:cNvPicPr>
            <a:picLocks noChangeAspect="1"/>
          </p:cNvPicPr>
          <p:nvPr/>
        </p:nvPicPr>
        <p:blipFill>
          <a:blip r:embed="rId6"/>
          <a:stretch>
            <a:fillRect/>
          </a:stretch>
        </p:blipFill>
        <p:spPr>
          <a:xfrm>
            <a:off x="6016660" y="2634640"/>
            <a:ext cx="829690" cy="885522"/>
          </a:xfrm>
          <a:prstGeom prst="rect">
            <a:avLst/>
          </a:prstGeom>
        </p:spPr>
      </p:pic>
      <p:pic>
        <p:nvPicPr>
          <p:cNvPr id="15" name="图片 14">
            <a:extLst>
              <a:ext uri="{FF2B5EF4-FFF2-40B4-BE49-F238E27FC236}">
                <a16:creationId xmlns:a16="http://schemas.microsoft.com/office/drawing/2014/main" id="{16E8F949-978F-C0FE-8482-A506CA7AED15}"/>
              </a:ext>
            </a:extLst>
          </p:cNvPr>
          <p:cNvPicPr>
            <a:picLocks noChangeAspect="1"/>
          </p:cNvPicPr>
          <p:nvPr/>
        </p:nvPicPr>
        <p:blipFill>
          <a:blip r:embed="rId6"/>
          <a:stretch>
            <a:fillRect/>
          </a:stretch>
        </p:blipFill>
        <p:spPr>
          <a:xfrm>
            <a:off x="5884235" y="2770265"/>
            <a:ext cx="829690" cy="885522"/>
          </a:xfrm>
          <a:prstGeom prst="rect">
            <a:avLst/>
          </a:prstGeom>
        </p:spPr>
      </p:pic>
      <p:pic>
        <p:nvPicPr>
          <p:cNvPr id="16" name="图片 15">
            <a:extLst>
              <a:ext uri="{FF2B5EF4-FFF2-40B4-BE49-F238E27FC236}">
                <a16:creationId xmlns:a16="http://schemas.microsoft.com/office/drawing/2014/main" id="{318D32EA-57EB-0FAD-D13C-BDF0D742AF01}"/>
              </a:ext>
            </a:extLst>
          </p:cNvPr>
          <p:cNvPicPr>
            <a:picLocks noChangeAspect="1"/>
          </p:cNvPicPr>
          <p:nvPr/>
        </p:nvPicPr>
        <p:blipFill>
          <a:blip r:embed="rId6"/>
          <a:stretch>
            <a:fillRect/>
          </a:stretch>
        </p:blipFill>
        <p:spPr>
          <a:xfrm>
            <a:off x="5751425" y="2921793"/>
            <a:ext cx="829690" cy="885522"/>
          </a:xfrm>
          <a:prstGeom prst="rect">
            <a:avLst/>
          </a:prstGeom>
        </p:spPr>
      </p:pic>
      <p:pic>
        <p:nvPicPr>
          <p:cNvPr id="19" name="图片 18">
            <a:extLst>
              <a:ext uri="{FF2B5EF4-FFF2-40B4-BE49-F238E27FC236}">
                <a16:creationId xmlns:a16="http://schemas.microsoft.com/office/drawing/2014/main" id="{493FB5B2-60E0-53F2-159F-01F2E020EFA9}"/>
              </a:ext>
            </a:extLst>
          </p:cNvPr>
          <p:cNvPicPr>
            <a:picLocks noChangeAspect="1"/>
          </p:cNvPicPr>
          <p:nvPr/>
        </p:nvPicPr>
        <p:blipFill>
          <a:blip r:embed="rId7"/>
          <a:stretch>
            <a:fillRect/>
          </a:stretch>
        </p:blipFill>
        <p:spPr>
          <a:xfrm>
            <a:off x="8751706" y="2597509"/>
            <a:ext cx="1068155" cy="1137015"/>
          </a:xfrm>
          <a:prstGeom prst="rect">
            <a:avLst/>
          </a:prstGeom>
        </p:spPr>
      </p:pic>
      <p:sp>
        <p:nvSpPr>
          <p:cNvPr id="21" name="立方体 20">
            <a:extLst>
              <a:ext uri="{FF2B5EF4-FFF2-40B4-BE49-F238E27FC236}">
                <a16:creationId xmlns:a16="http://schemas.microsoft.com/office/drawing/2014/main" id="{F0323C43-41F3-B850-A2A1-1825318B9339}"/>
              </a:ext>
            </a:extLst>
          </p:cNvPr>
          <p:cNvSpPr/>
          <p:nvPr/>
        </p:nvSpPr>
        <p:spPr>
          <a:xfrm>
            <a:off x="1973026" y="2309147"/>
            <a:ext cx="1000762" cy="1109914"/>
          </a:xfrm>
          <a:prstGeom prst="cube">
            <a:avLst/>
          </a:prstGeom>
          <a:solidFill>
            <a:srgbClr val="86F260">
              <a:alpha val="60000"/>
            </a:srgbClr>
          </a:solidFill>
          <a:ln w="38100">
            <a:solidFill>
              <a:srgbClr val="86F26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36">
            <a:extLst>
              <a:ext uri="{FF2B5EF4-FFF2-40B4-BE49-F238E27FC236}">
                <a16:creationId xmlns:a16="http://schemas.microsoft.com/office/drawing/2014/main" id="{A6577D6F-CBCA-1D8F-C91C-4F3B8A6B34E3}"/>
              </a:ext>
            </a:extLst>
          </p:cNvPr>
          <p:cNvSpPr txBox="1"/>
          <p:nvPr/>
        </p:nvSpPr>
        <p:spPr>
          <a:xfrm>
            <a:off x="5819092" y="4054935"/>
            <a:ext cx="116341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3×3×3</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cxnSp>
        <p:nvCxnSpPr>
          <p:cNvPr id="25" name="直接箭头连接符 24">
            <a:extLst>
              <a:ext uri="{FF2B5EF4-FFF2-40B4-BE49-F238E27FC236}">
                <a16:creationId xmlns:a16="http://schemas.microsoft.com/office/drawing/2014/main" id="{849657EA-93E7-80CB-D1F8-FC167FF58200}"/>
              </a:ext>
            </a:extLst>
          </p:cNvPr>
          <p:cNvCxnSpPr>
            <a:stCxn id="39" idx="4"/>
          </p:cNvCxnSpPr>
          <p:nvPr/>
        </p:nvCxnSpPr>
        <p:spPr>
          <a:xfrm>
            <a:off x="3145774" y="4825403"/>
            <a:ext cx="1807889" cy="4218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FE64EEE4-7EDD-1970-3D37-2D0A2EE503CE}"/>
              </a:ext>
            </a:extLst>
          </p:cNvPr>
          <p:cNvCxnSpPr>
            <a:stCxn id="40" idx="4"/>
          </p:cNvCxnSpPr>
          <p:nvPr/>
        </p:nvCxnSpPr>
        <p:spPr>
          <a:xfrm flipH="1">
            <a:off x="5365655" y="4418031"/>
            <a:ext cx="1215460" cy="8379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236">
            <a:extLst>
              <a:ext uri="{FF2B5EF4-FFF2-40B4-BE49-F238E27FC236}">
                <a16:creationId xmlns:a16="http://schemas.microsoft.com/office/drawing/2014/main" id="{7B9D1208-6252-C16A-81B5-EE1315F081F1}"/>
              </a:ext>
            </a:extLst>
          </p:cNvPr>
          <p:cNvSpPr txBox="1"/>
          <p:nvPr/>
        </p:nvSpPr>
        <p:spPr>
          <a:xfrm>
            <a:off x="2392080" y="4461648"/>
            <a:ext cx="116341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6×6×3</a:t>
            </a:r>
            <a:endParaRPr kumimoji="0" lang="zh-CN" altLang="en-US" sz="20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38" name="文本框 236">
            <a:extLst>
              <a:ext uri="{FF2B5EF4-FFF2-40B4-BE49-F238E27FC236}">
                <a16:creationId xmlns:a16="http://schemas.microsoft.com/office/drawing/2014/main" id="{7005FEF4-8BD5-819F-86EA-5539A498F499}"/>
              </a:ext>
            </a:extLst>
          </p:cNvPr>
          <p:cNvSpPr txBox="1"/>
          <p:nvPr/>
        </p:nvSpPr>
        <p:spPr>
          <a:xfrm>
            <a:off x="4539472" y="5256003"/>
            <a:ext cx="133748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必須一致</a:t>
            </a:r>
          </a:p>
        </p:txBody>
      </p:sp>
      <p:sp>
        <p:nvSpPr>
          <p:cNvPr id="39" name="椭圆 38">
            <a:extLst>
              <a:ext uri="{FF2B5EF4-FFF2-40B4-BE49-F238E27FC236}">
                <a16:creationId xmlns:a16="http://schemas.microsoft.com/office/drawing/2014/main" id="{FDE4EC75-23D7-0CEC-DC8C-D261B11298DC}"/>
              </a:ext>
            </a:extLst>
          </p:cNvPr>
          <p:cNvSpPr/>
          <p:nvPr/>
        </p:nvSpPr>
        <p:spPr>
          <a:xfrm>
            <a:off x="2983774" y="4501403"/>
            <a:ext cx="324000" cy="324000"/>
          </a:xfrm>
          <a:prstGeom prst="ellipse">
            <a:avLst/>
          </a:prstGeom>
          <a:noFill/>
          <a:ln w="222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椭圆 39">
            <a:extLst>
              <a:ext uri="{FF2B5EF4-FFF2-40B4-BE49-F238E27FC236}">
                <a16:creationId xmlns:a16="http://schemas.microsoft.com/office/drawing/2014/main" id="{22EE0393-2D87-98D1-EF40-20EB033D6DA6}"/>
              </a:ext>
            </a:extLst>
          </p:cNvPr>
          <p:cNvSpPr/>
          <p:nvPr/>
        </p:nvSpPr>
        <p:spPr>
          <a:xfrm>
            <a:off x="6419115" y="4094031"/>
            <a:ext cx="324000" cy="324000"/>
          </a:xfrm>
          <a:prstGeom prst="ellipse">
            <a:avLst/>
          </a:prstGeom>
          <a:noFill/>
          <a:ln w="222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文本框 236">
            <a:extLst>
              <a:ext uri="{FF2B5EF4-FFF2-40B4-BE49-F238E27FC236}">
                <a16:creationId xmlns:a16="http://schemas.microsoft.com/office/drawing/2014/main" id="{8BC96856-B94B-1979-A5EC-956B35669E3E}"/>
              </a:ext>
            </a:extLst>
          </p:cNvPr>
          <p:cNvSpPr txBox="1"/>
          <p:nvPr/>
        </p:nvSpPr>
        <p:spPr>
          <a:xfrm>
            <a:off x="8436909" y="4054934"/>
            <a:ext cx="1926599"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輸出一個通道</a:t>
            </a:r>
          </a:p>
        </p:txBody>
      </p:sp>
      <p:cxnSp>
        <p:nvCxnSpPr>
          <p:cNvPr id="51" name="直接箭头连接符 50">
            <a:extLst>
              <a:ext uri="{FF2B5EF4-FFF2-40B4-BE49-F238E27FC236}">
                <a16:creationId xmlns:a16="http://schemas.microsoft.com/office/drawing/2014/main" id="{0532DFD3-E005-80D8-D5CD-2BC258446AD0}"/>
              </a:ext>
            </a:extLst>
          </p:cNvPr>
          <p:cNvCxnSpPr>
            <a:stCxn id="14" idx="3"/>
          </p:cNvCxnSpPr>
          <p:nvPr/>
        </p:nvCxnSpPr>
        <p:spPr>
          <a:xfrm flipV="1">
            <a:off x="6846350" y="2751142"/>
            <a:ext cx="2053954" cy="32625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8853920E-DF00-DED3-492F-BEBB20101E15}"/>
              </a:ext>
            </a:extLst>
          </p:cNvPr>
          <p:cNvCxnSpPr>
            <a:endCxn id="16" idx="1"/>
          </p:cNvCxnSpPr>
          <p:nvPr/>
        </p:nvCxnSpPr>
        <p:spPr>
          <a:xfrm>
            <a:off x="2872458" y="2864105"/>
            <a:ext cx="2878967" cy="50044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77" name="立方体 76">
            <a:extLst>
              <a:ext uri="{FF2B5EF4-FFF2-40B4-BE49-F238E27FC236}">
                <a16:creationId xmlns:a16="http://schemas.microsoft.com/office/drawing/2014/main" id="{D6D155E1-62D2-9C39-77D2-3542BD041389}"/>
              </a:ext>
            </a:extLst>
          </p:cNvPr>
          <p:cNvSpPr/>
          <p:nvPr/>
        </p:nvSpPr>
        <p:spPr>
          <a:xfrm>
            <a:off x="2236292" y="2329696"/>
            <a:ext cx="1000762" cy="1109914"/>
          </a:xfrm>
          <a:prstGeom prst="cube">
            <a:avLst/>
          </a:prstGeom>
          <a:solidFill>
            <a:srgbClr val="86F260">
              <a:alpha val="60000"/>
            </a:srgbClr>
          </a:solidFill>
          <a:ln w="38100">
            <a:solidFill>
              <a:srgbClr val="86F26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8" name="直接箭头连接符 77">
            <a:extLst>
              <a:ext uri="{FF2B5EF4-FFF2-40B4-BE49-F238E27FC236}">
                <a16:creationId xmlns:a16="http://schemas.microsoft.com/office/drawing/2014/main" id="{E36DFAFA-58A8-A356-880D-2B114D607F04}"/>
              </a:ext>
            </a:extLst>
          </p:cNvPr>
          <p:cNvCxnSpPr>
            <a:stCxn id="14" idx="3"/>
          </p:cNvCxnSpPr>
          <p:nvPr/>
        </p:nvCxnSpPr>
        <p:spPr>
          <a:xfrm flipV="1">
            <a:off x="6846350" y="2770266"/>
            <a:ext cx="2337407" cy="307135"/>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2E7ECDD7-0A1D-34C4-4A0C-255B91F9B2F9}"/>
              </a:ext>
            </a:extLst>
          </p:cNvPr>
          <p:cNvCxnSpPr>
            <a:endCxn id="16" idx="1"/>
          </p:cNvCxnSpPr>
          <p:nvPr/>
        </p:nvCxnSpPr>
        <p:spPr>
          <a:xfrm>
            <a:off x="3071288" y="2887941"/>
            <a:ext cx="2680137" cy="47661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78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73"/>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5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2" grpId="0"/>
      <p:bldP spid="38" grpId="0"/>
      <p:bldP spid="39" grpId="0" animBg="1"/>
      <p:bldP spid="40" grpId="0" animBg="1"/>
      <p:bldP spid="48" grpId="0"/>
      <p:bldP spid="7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9BD7D-CC55-3754-9C97-69012350F2F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75D80A6-D9D3-F6F7-6910-BF04CB5ECEB9}"/>
              </a:ext>
            </a:extLst>
          </p:cNvPr>
          <p:cNvSpPr>
            <a:spLocks noGrp="1"/>
          </p:cNvSpPr>
          <p:nvPr>
            <p:ph type="title"/>
          </p:nvPr>
        </p:nvSpPr>
        <p:spPr/>
        <p:txBody>
          <a:bodyPr/>
          <a:lstStyle/>
          <a:p>
            <a:r>
              <a:rPr lang="zh-CN" altLang="en-US" dirty="0"/>
              <a:t>前情回歸：</a:t>
            </a:r>
            <a:r>
              <a:rPr lang="en-US" altLang="zh-CN" dirty="0"/>
              <a:t>LeNet</a:t>
            </a:r>
            <a:r>
              <a:rPr lang="zh-CN" altLang="en-US" dirty="0"/>
              <a:t>神經網絡</a:t>
            </a:r>
          </a:p>
        </p:txBody>
      </p:sp>
      <p:pic>
        <p:nvPicPr>
          <p:cNvPr id="4" name="图片 3">
            <a:extLst>
              <a:ext uri="{FF2B5EF4-FFF2-40B4-BE49-F238E27FC236}">
                <a16:creationId xmlns:a16="http://schemas.microsoft.com/office/drawing/2014/main" id="{840B126F-0E4B-F906-F119-3F36EB7105C0}"/>
              </a:ext>
            </a:extLst>
          </p:cNvPr>
          <p:cNvPicPr>
            <a:picLocks noChangeAspect="1"/>
          </p:cNvPicPr>
          <p:nvPr/>
        </p:nvPicPr>
        <p:blipFill>
          <a:blip r:embed="rId3"/>
          <a:stretch>
            <a:fillRect/>
          </a:stretch>
        </p:blipFill>
        <p:spPr>
          <a:xfrm>
            <a:off x="1111648" y="1872211"/>
            <a:ext cx="10103998" cy="3391551"/>
          </a:xfrm>
          <a:prstGeom prst="rect">
            <a:avLst/>
          </a:prstGeom>
        </p:spPr>
      </p:pic>
    </p:spTree>
    <p:extLst>
      <p:ext uri="{BB962C8B-B14F-4D97-AF65-F5344CB8AC3E}">
        <p14:creationId xmlns:p14="http://schemas.microsoft.com/office/powerpoint/2010/main" val="34136127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C6B6E-8FF8-351B-882F-0B266D66D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C060A8-BBF4-DD02-4E06-17BAF7A99591}"/>
              </a:ext>
            </a:extLst>
          </p:cNvPr>
          <p:cNvSpPr>
            <a:spLocks noGrp="1"/>
          </p:cNvSpPr>
          <p:nvPr>
            <p:ph type="title"/>
          </p:nvPr>
        </p:nvSpPr>
        <p:spPr/>
        <p:txBody>
          <a:bodyPr/>
          <a:lstStyle/>
          <a:p>
            <a:r>
              <a:rPr lang="zh-CN" altLang="en-US" dirty="0"/>
              <a:t>前情回顧：梯度消失問題</a:t>
            </a:r>
          </a:p>
        </p:txBody>
      </p:sp>
      <p:sp>
        <p:nvSpPr>
          <p:cNvPr id="3" name="内容占位符 2">
            <a:extLst>
              <a:ext uri="{FF2B5EF4-FFF2-40B4-BE49-F238E27FC236}">
                <a16:creationId xmlns:a16="http://schemas.microsoft.com/office/drawing/2014/main" id="{BBC8A5B1-0138-98ED-72BF-43B563D45419}"/>
              </a:ext>
            </a:extLst>
          </p:cNvPr>
          <p:cNvSpPr>
            <a:spLocks noGrp="1"/>
          </p:cNvSpPr>
          <p:nvPr>
            <p:ph sz="quarter" idx="1"/>
          </p:nvPr>
        </p:nvSpPr>
        <p:spPr>
          <a:xfrm>
            <a:off x="1219200" y="1804852"/>
            <a:ext cx="10363200" cy="4572000"/>
          </a:xfrm>
        </p:spPr>
        <p:txBody>
          <a:bodyPr/>
          <a:lstStyle/>
          <a:p>
            <a:r>
              <a:rPr lang="zh-CN" altLang="en-US" dirty="0"/>
              <a:t>神經網絡遇到的兩大問題</a:t>
            </a:r>
            <a:endParaRPr lang="en-US" altLang="zh-CN" dirty="0"/>
          </a:p>
          <a:p>
            <a:pPr lvl="1"/>
            <a:r>
              <a:rPr lang="zh-CN" altLang="en-US" dirty="0"/>
              <a:t>梯度消失問題</a:t>
            </a:r>
            <a:endParaRPr lang="en-US" altLang="zh-CN" dirty="0"/>
          </a:p>
          <a:p>
            <a:pPr lvl="1"/>
            <a:r>
              <a:rPr lang="zh-CN" altLang="en-US" dirty="0"/>
              <a:t>過擬合問題</a:t>
            </a:r>
            <a:endParaRPr lang="en-US" altLang="zh-CN" dirty="0"/>
          </a:p>
        </p:txBody>
      </p:sp>
    </p:spTree>
    <p:extLst>
      <p:ext uri="{BB962C8B-B14F-4D97-AF65-F5344CB8AC3E}">
        <p14:creationId xmlns:p14="http://schemas.microsoft.com/office/powerpoint/2010/main" val="82221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Inception</a:t>
            </a:r>
            <a:r>
              <a:rPr lang="zh-CN" altLang="en-US" dirty="0"/>
              <a:t>模塊</a:t>
            </a:r>
          </a:p>
        </p:txBody>
      </p:sp>
      <p:pic>
        <p:nvPicPr>
          <p:cNvPr id="4" name="图片 3" descr="网络模型中Inception的作用与结构全解析"/>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1485" y="1758327"/>
            <a:ext cx="7225915" cy="3501650"/>
          </a:xfrm>
          <a:prstGeom prst="rect">
            <a:avLst/>
          </a:prstGeom>
          <a:noFill/>
          <a:ln>
            <a:noFill/>
          </a:ln>
        </p:spPr>
      </p:pic>
      <p:sp>
        <p:nvSpPr>
          <p:cNvPr id="5" name="矩形 4"/>
          <p:cNvSpPr/>
          <p:nvPr/>
        </p:nvSpPr>
        <p:spPr>
          <a:xfrm>
            <a:off x="2987885" y="5290139"/>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192</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個通道</a:t>
            </a:r>
          </a:p>
        </p:txBody>
      </p:sp>
      <p:sp>
        <p:nvSpPr>
          <p:cNvPr id="6" name="矩形 5"/>
          <p:cNvSpPr/>
          <p:nvPr/>
        </p:nvSpPr>
        <p:spPr>
          <a:xfrm>
            <a:off x="4873419" y="2485979"/>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個捲積核</a:t>
            </a:r>
          </a:p>
        </p:txBody>
      </p:sp>
      <p:sp>
        <p:nvSpPr>
          <p:cNvPr id="7" name="矩形 6"/>
          <p:cNvSpPr/>
          <p:nvPr/>
        </p:nvSpPr>
        <p:spPr>
          <a:xfrm>
            <a:off x="6571589" y="890895"/>
            <a:ext cx="2197942" cy="1394176"/>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參數個數：</a:t>
            </a:r>
            <a:endParaRPr kumimoji="0" lang="en-US" altLang="zh-CN"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(5×5×192+1)×32=153,632</a:t>
            </a:r>
            <a:endParaRPr kumimoji="0" lang="zh-CN" altLang="en-US"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8" name="直接箭头连接符 7"/>
          <p:cNvCxnSpPr/>
          <p:nvPr/>
        </p:nvCxnSpPr>
        <p:spPr>
          <a:xfrm flipH="1">
            <a:off x="5773783" y="1728165"/>
            <a:ext cx="627017" cy="7578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418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降維的</a:t>
            </a:r>
            <a:r>
              <a:rPr lang="en-US" altLang="zh-CN" dirty="0"/>
              <a:t>Inception</a:t>
            </a:r>
            <a:r>
              <a:rPr lang="zh-CN" altLang="en-US" dirty="0"/>
              <a:t>模塊</a:t>
            </a:r>
          </a:p>
        </p:txBody>
      </p:sp>
      <p:pic>
        <p:nvPicPr>
          <p:cNvPr id="4" name="图片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9690" y="1785258"/>
            <a:ext cx="6574971" cy="4084322"/>
          </a:xfrm>
          <a:prstGeom prst="rect">
            <a:avLst/>
          </a:prstGeom>
          <a:noFill/>
        </p:spPr>
      </p:pic>
      <p:sp>
        <p:nvSpPr>
          <p:cNvPr id="5" name="矩形 4"/>
          <p:cNvSpPr/>
          <p:nvPr/>
        </p:nvSpPr>
        <p:spPr>
          <a:xfrm>
            <a:off x="2673531" y="5408023"/>
            <a:ext cx="6331130" cy="348343"/>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16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4407383" y="5408023"/>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192</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個通道</a:t>
            </a:r>
          </a:p>
        </p:txBody>
      </p:sp>
      <p:sp>
        <p:nvSpPr>
          <p:cNvPr id="8" name="矩形 7"/>
          <p:cNvSpPr/>
          <p:nvPr/>
        </p:nvSpPr>
        <p:spPr>
          <a:xfrm>
            <a:off x="5770402" y="2451145"/>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個捲積核</a:t>
            </a:r>
          </a:p>
        </p:txBody>
      </p:sp>
      <p:sp>
        <p:nvSpPr>
          <p:cNvPr id="9" name="矩形 8"/>
          <p:cNvSpPr/>
          <p:nvPr/>
        </p:nvSpPr>
        <p:spPr>
          <a:xfrm>
            <a:off x="7468572" y="856061"/>
            <a:ext cx="2328572" cy="1394176"/>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參數個數：</a:t>
            </a:r>
            <a:endParaRPr kumimoji="0" lang="en-US" altLang="zh-CN"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(1×1×192+1)×32+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(5×5×32+1)×32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=31,808</a:t>
            </a:r>
            <a:endParaRPr kumimoji="0" lang="zh-CN" altLang="en-US" sz="20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0" name="直接箭头连接符 9"/>
          <p:cNvCxnSpPr/>
          <p:nvPr/>
        </p:nvCxnSpPr>
        <p:spPr>
          <a:xfrm flipH="1">
            <a:off x="6670766" y="1693331"/>
            <a:ext cx="627017" cy="7578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5857487" y="4562043"/>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個捲積核</a:t>
            </a:r>
          </a:p>
        </p:txBody>
      </p:sp>
      <p:sp>
        <p:nvSpPr>
          <p:cNvPr id="13" name="椭圆 12"/>
          <p:cNvSpPr/>
          <p:nvPr/>
        </p:nvSpPr>
        <p:spPr>
          <a:xfrm>
            <a:off x="5770402" y="3691183"/>
            <a:ext cx="1393372" cy="757646"/>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椭圆 15"/>
          <p:cNvSpPr/>
          <p:nvPr/>
        </p:nvSpPr>
        <p:spPr>
          <a:xfrm>
            <a:off x="4323803" y="3691183"/>
            <a:ext cx="1393372" cy="757646"/>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矩形 18"/>
          <p:cNvSpPr/>
          <p:nvPr/>
        </p:nvSpPr>
        <p:spPr>
          <a:xfrm>
            <a:off x="2073488" y="4787435"/>
            <a:ext cx="1626558" cy="661227"/>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1×1</a:t>
            </a:r>
            <a:r>
              <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捲積核  </a:t>
            </a:r>
            <a:r>
              <a:rPr kumimoji="0" lang="zh-CN" altLang="en-US" sz="40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0" name="直接箭头连接符 19"/>
          <p:cNvCxnSpPr/>
          <p:nvPr/>
        </p:nvCxnSpPr>
        <p:spPr>
          <a:xfrm flipH="1">
            <a:off x="3670172" y="4306960"/>
            <a:ext cx="627017" cy="7578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endCxn id="19" idx="3"/>
          </p:cNvCxnSpPr>
          <p:nvPr/>
        </p:nvCxnSpPr>
        <p:spPr>
          <a:xfrm flipH="1">
            <a:off x="3700046" y="4448829"/>
            <a:ext cx="2413371" cy="6692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79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3" grpId="0" animBg="1"/>
      <p:bldP spid="16" grpId="0" animBg="1"/>
      <p:bldP spid="19"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Inception</a:t>
            </a:r>
            <a:r>
              <a:rPr lang="zh-CN" altLang="en-US" dirty="0"/>
              <a:t>模塊</a:t>
            </a:r>
          </a:p>
        </p:txBody>
      </p:sp>
      <p:pic>
        <p:nvPicPr>
          <p:cNvPr id="4" name="内容占位符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224127" y="1417638"/>
            <a:ext cx="7059049" cy="3864442"/>
          </a:xfrm>
        </p:spPr>
      </p:pic>
      <p:sp>
        <p:nvSpPr>
          <p:cNvPr id="5" name="内容占位符 2"/>
          <p:cNvSpPr txBox="1">
            <a:spLocks/>
          </p:cNvSpPr>
          <p:nvPr/>
        </p:nvSpPr>
        <p:spPr>
          <a:xfrm>
            <a:off x="2484121" y="1808913"/>
            <a:ext cx="7772400" cy="4766058"/>
          </a:xfrm>
          <a:prstGeom prst="rect">
            <a:avLst/>
          </a:prstGeom>
        </p:spPr>
        <p:txBody>
          <a:bodyPr vert="horz">
            <a:normAutofit/>
          </a:bodyPr>
          <a:lstStyle>
            <a:lvl1pPr marL="274320" indent="-274320" algn="l" rtl="0" eaLnBrk="1" latinLnBrk="0" hangingPunct="1">
              <a:spcBef>
                <a:spcPts val="580"/>
              </a:spcBef>
              <a:buClr>
                <a:schemeClr val="accent1"/>
              </a:buClr>
              <a:buSzPct val="85000"/>
              <a:buFontTx/>
              <a:buBlip>
                <a:blip r:embed="rId3"/>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endPar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Tx/>
              <a:buBlip>
                <a:blip r:embed="rId3"/>
              </a:buBlip>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說明：每個</a:t>
            </a: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Inception</a:t>
            </a: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的參數有所不同，這是其中的一個</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
        <p:nvSpPr>
          <p:cNvPr id="7" name="圆角矩形标注 6"/>
          <p:cNvSpPr/>
          <p:nvPr/>
        </p:nvSpPr>
        <p:spPr>
          <a:xfrm>
            <a:off x="2029102" y="2342696"/>
            <a:ext cx="1393372" cy="583475"/>
          </a:xfrm>
          <a:prstGeom prst="wedgeRoundRectCallout">
            <a:avLst>
              <a:gd name="adj1" fmla="val 14047"/>
              <a:gd name="adj2" fmla="val 7925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64</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捲積</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64</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圆角矩形标注 7"/>
          <p:cNvSpPr/>
          <p:nvPr/>
        </p:nvSpPr>
        <p:spPr>
          <a:xfrm>
            <a:off x="3065414" y="5282081"/>
            <a:ext cx="1393372" cy="583475"/>
          </a:xfrm>
          <a:prstGeom prst="wedgeRoundRectCallout">
            <a:avLst>
              <a:gd name="adj1" fmla="val 54672"/>
              <a:gd name="adj2" fmla="val -113280"/>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192</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圆角矩形标注 10"/>
          <p:cNvSpPr/>
          <p:nvPr/>
        </p:nvSpPr>
        <p:spPr>
          <a:xfrm>
            <a:off x="2342605" y="4434704"/>
            <a:ext cx="1393372" cy="583475"/>
          </a:xfrm>
          <a:prstGeom prst="wedgeRoundRectCallout">
            <a:avLst>
              <a:gd name="adj1" fmla="val 92797"/>
              <a:gd name="adj2" fmla="val -114773"/>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96</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捲積</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96</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圆角矩形标注 11"/>
          <p:cNvSpPr/>
          <p:nvPr/>
        </p:nvSpPr>
        <p:spPr>
          <a:xfrm>
            <a:off x="2891246" y="1653564"/>
            <a:ext cx="1567540" cy="583475"/>
          </a:xfrm>
          <a:prstGeom prst="wedgeRoundRectCallout">
            <a:avLst>
              <a:gd name="adj1" fmla="val 75922"/>
              <a:gd name="adj2" fmla="val 124032"/>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捲積</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128</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圆角矩形标注 14"/>
          <p:cNvSpPr/>
          <p:nvPr/>
        </p:nvSpPr>
        <p:spPr>
          <a:xfrm>
            <a:off x="6115598" y="4880236"/>
            <a:ext cx="1393372" cy="583475"/>
          </a:xfrm>
          <a:prstGeom prst="wedgeRoundRectCallout">
            <a:avLst>
              <a:gd name="adj1" fmla="val -9703"/>
              <a:gd name="adj2" fmla="val -16402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捲積</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圆角矩形标注 17"/>
          <p:cNvSpPr/>
          <p:nvPr/>
        </p:nvSpPr>
        <p:spPr>
          <a:xfrm>
            <a:off x="6217920" y="1656035"/>
            <a:ext cx="1497872" cy="583475"/>
          </a:xfrm>
          <a:prstGeom prst="wedgeRoundRectCallout">
            <a:avLst>
              <a:gd name="adj1" fmla="val -18845"/>
              <a:gd name="adj2" fmla="val 119555"/>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捲積</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圆角矩形标注 18"/>
          <p:cNvSpPr/>
          <p:nvPr/>
        </p:nvSpPr>
        <p:spPr>
          <a:xfrm>
            <a:off x="7650486" y="4693648"/>
            <a:ext cx="2222852" cy="583475"/>
          </a:xfrm>
          <a:prstGeom prst="wedgeRoundRectCallout">
            <a:avLst>
              <a:gd name="adj1" fmla="val -9703"/>
              <a:gd name="adj2" fmla="val -128206"/>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填充</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步長</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最大池化</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192</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圆角矩形标注 19"/>
          <p:cNvSpPr/>
          <p:nvPr/>
        </p:nvSpPr>
        <p:spPr>
          <a:xfrm>
            <a:off x="8084827" y="1753948"/>
            <a:ext cx="1393372" cy="583475"/>
          </a:xfrm>
          <a:prstGeom prst="wedgeRoundRectCallout">
            <a:avLst>
              <a:gd name="adj1" fmla="val -40953"/>
              <a:gd name="adj2" fmla="val 101644"/>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捲積</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32</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圆角矩形标注 20"/>
          <p:cNvSpPr/>
          <p:nvPr/>
        </p:nvSpPr>
        <p:spPr>
          <a:xfrm>
            <a:off x="5065834" y="703148"/>
            <a:ext cx="2443136" cy="583475"/>
          </a:xfrm>
          <a:prstGeom prst="wedgeRoundRectCallout">
            <a:avLst>
              <a:gd name="adj1" fmla="val -47203"/>
              <a:gd name="adj2" fmla="val 110600"/>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28</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256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64+128+32+32=256</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80158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8" grpId="0" animBg="1"/>
      <p:bldP spid="19" grpId="0" animBg="1"/>
      <p:bldP spid="20" grpId="0" animBg="1"/>
      <p:bldP spid="21"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E盘\人工智能导论\2020人工智能上课（另一台机器上的有2021）\2020人工智能导论修改后作为2021的课件\googlenet.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2639" y="239351"/>
            <a:ext cx="1228362" cy="6361747"/>
          </a:xfrm>
          <a:prstGeom prst="rect">
            <a:avLst/>
          </a:prstGeom>
          <a:noFill/>
          <a:ln>
            <a:noFill/>
          </a:ln>
        </p:spPr>
      </p:pic>
      <p:sp>
        <p:nvSpPr>
          <p:cNvPr id="5" name="椭圆 4"/>
          <p:cNvSpPr/>
          <p:nvPr/>
        </p:nvSpPr>
        <p:spPr>
          <a:xfrm>
            <a:off x="3474719" y="609599"/>
            <a:ext cx="913091" cy="313508"/>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 name="直接箭头连接符 5"/>
          <p:cNvCxnSpPr>
            <a:stCxn id="5" idx="6"/>
            <a:endCxn id="7" idx="1"/>
          </p:cNvCxnSpPr>
          <p:nvPr/>
        </p:nvCxnSpPr>
        <p:spPr>
          <a:xfrm>
            <a:off x="4387810" y="766353"/>
            <a:ext cx="1029766" cy="70078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417576" y="1117044"/>
            <a:ext cx="2071795" cy="700185"/>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7×7</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平均池化</a:t>
            </a:r>
            <a:endPar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步長爲</a:t>
            </a: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，無填充</a:t>
            </a:r>
          </a:p>
        </p:txBody>
      </p:sp>
      <p:sp>
        <p:nvSpPr>
          <p:cNvPr id="10" name="椭圆 9"/>
          <p:cNvSpPr/>
          <p:nvPr/>
        </p:nvSpPr>
        <p:spPr>
          <a:xfrm>
            <a:off x="4241071" y="2159726"/>
            <a:ext cx="322220" cy="278672"/>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1" name="直接箭头连接符 10"/>
          <p:cNvCxnSpPr>
            <a:stCxn id="10" idx="6"/>
            <a:endCxn id="12" idx="1"/>
          </p:cNvCxnSpPr>
          <p:nvPr/>
        </p:nvCxnSpPr>
        <p:spPr>
          <a:xfrm>
            <a:off x="4563291" y="2299062"/>
            <a:ext cx="1472593" cy="6485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6035884" y="2597501"/>
            <a:ext cx="2071795" cy="700185"/>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5×5</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平均池化</a:t>
            </a:r>
            <a:endPar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步長爲</a:t>
            </a:r>
            <a:r>
              <a:rPr kumimoji="0" lang="en-US" altLang="zh-CN"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800" b="0" i="0" u="none" strike="noStrike" kern="1200" cap="none" spc="0" normalizeH="0" baseline="0" noProof="0" dirty="0">
                <a:ln>
                  <a:noFill/>
                </a:ln>
                <a:solidFill>
                  <a:srgbClr val="2B11EF"/>
                </a:solidFill>
                <a:effectLst/>
                <a:uLnTx/>
                <a:uFillTx/>
                <a:latin typeface="Times New Roman" panose="02020603050405020304" pitchFamily="18" charset="0"/>
                <a:ea typeface="宋体" panose="02010600030101010101" pitchFamily="2" charset="-122"/>
                <a:cs typeface="Times New Roman" panose="02020603050405020304" pitchFamily="18" charset="0"/>
              </a:rPr>
              <a:t>，無填充</a:t>
            </a:r>
          </a:p>
        </p:txBody>
      </p:sp>
      <p:sp>
        <p:nvSpPr>
          <p:cNvPr id="29" name="椭圆 28"/>
          <p:cNvSpPr/>
          <p:nvPr/>
        </p:nvSpPr>
        <p:spPr>
          <a:xfrm>
            <a:off x="4393471" y="3513920"/>
            <a:ext cx="322220" cy="278672"/>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0" name="直接箭头连接符 29"/>
          <p:cNvCxnSpPr/>
          <p:nvPr/>
        </p:nvCxnSpPr>
        <p:spPr>
          <a:xfrm flipV="1">
            <a:off x="4750066" y="3086930"/>
            <a:ext cx="1285818" cy="5663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标题 1"/>
          <p:cNvSpPr>
            <a:spLocks noGrp="1"/>
          </p:cNvSpPr>
          <p:nvPr>
            <p:ph type="title"/>
          </p:nvPr>
        </p:nvSpPr>
        <p:spPr>
          <a:xfrm>
            <a:off x="1219200" y="274638"/>
            <a:ext cx="10363200" cy="1143000"/>
          </a:xfrm>
        </p:spPr>
        <p:txBody>
          <a:bodyPr/>
          <a:lstStyle/>
          <a:p>
            <a:r>
              <a:rPr lang="en-US" altLang="zh-CN" dirty="0" err="1"/>
              <a:t>GoogLeNet</a:t>
            </a:r>
            <a:endParaRPr lang="zh-CN" altLang="en-US" dirty="0"/>
          </a:p>
        </p:txBody>
      </p:sp>
      <p:pic>
        <p:nvPicPr>
          <p:cNvPr id="2" name="Picture 1">
            <a:extLst>
              <a:ext uri="{FF2B5EF4-FFF2-40B4-BE49-F238E27FC236}">
                <a16:creationId xmlns:a16="http://schemas.microsoft.com/office/drawing/2014/main" id="{73CD2A0A-CA3A-6368-8EBE-5BB8D2531B27}"/>
              </a:ext>
            </a:extLst>
          </p:cNvPr>
          <p:cNvPicPr>
            <a:picLocks noChangeAspect="1"/>
          </p:cNvPicPr>
          <p:nvPr/>
        </p:nvPicPr>
        <p:blipFill>
          <a:blip r:embed="rId3"/>
          <a:stretch>
            <a:fillRect/>
          </a:stretch>
        </p:blipFill>
        <p:spPr>
          <a:xfrm>
            <a:off x="1870229" y="1529632"/>
            <a:ext cx="8621257" cy="4959471"/>
          </a:xfrm>
          <a:prstGeom prst="rect">
            <a:avLst/>
          </a:prstGeom>
        </p:spPr>
      </p:pic>
      <p:sp>
        <p:nvSpPr>
          <p:cNvPr id="3" name="Oval 2">
            <a:extLst>
              <a:ext uri="{FF2B5EF4-FFF2-40B4-BE49-F238E27FC236}">
                <a16:creationId xmlns:a16="http://schemas.microsoft.com/office/drawing/2014/main" id="{1219A2A1-1F08-0DFE-A7FF-FACB6D25FCB6}"/>
              </a:ext>
            </a:extLst>
          </p:cNvPr>
          <p:cNvSpPr/>
          <p:nvPr/>
        </p:nvSpPr>
        <p:spPr>
          <a:xfrm>
            <a:off x="9018894" y="1417637"/>
            <a:ext cx="1631788" cy="471299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463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10" grpId="0" animBg="1"/>
      <p:bldP spid="12" grpId="0"/>
      <p:bldP spid="29" grpId="0" animBg="1"/>
      <p:bldP spid="3"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殘差網絡（</a:t>
            </a:r>
            <a:r>
              <a:rPr lang="en-US" altLang="zh-CN" dirty="0" err="1"/>
              <a:t>ResNet</a:t>
            </a:r>
            <a:r>
              <a:rPr lang="zh-CN" altLang="en-US" dirty="0"/>
              <a:t>）</a:t>
            </a:r>
          </a:p>
        </p:txBody>
      </p:sp>
      <p:sp>
        <p:nvSpPr>
          <p:cNvPr id="3" name="内容占位符 2"/>
          <p:cNvSpPr>
            <a:spLocks noGrp="1"/>
          </p:cNvSpPr>
          <p:nvPr>
            <p:ph sz="quarter" idx="1"/>
          </p:nvPr>
        </p:nvSpPr>
        <p:spPr>
          <a:xfrm>
            <a:off x="1219200" y="1613263"/>
            <a:ext cx="10363200" cy="4572000"/>
          </a:xfrm>
        </p:spPr>
        <p:txBody>
          <a:bodyPr/>
          <a:lstStyle/>
          <a:p>
            <a:r>
              <a:rPr lang="zh-CN" altLang="en-US" dirty="0"/>
              <a:t>神經網絡的退化現象</a:t>
            </a:r>
            <a:endParaRPr lang="en-US" altLang="zh-CN" dirty="0"/>
          </a:p>
          <a:p>
            <a:pPr marL="0" indent="0">
              <a:buNone/>
            </a:pPr>
            <a:endParaRPr lang="zh-CN" altLang="en-US" dirty="0"/>
          </a:p>
        </p:txBody>
      </p:sp>
      <p:sp>
        <p:nvSpPr>
          <p:cNvPr id="4" name="矩形 3"/>
          <p:cNvSpPr/>
          <p:nvPr/>
        </p:nvSpPr>
        <p:spPr>
          <a:xfrm rot="10800000">
            <a:off x="5735682" y="1904681"/>
            <a:ext cx="1159329" cy="14859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Perpetua"/>
              <a:ea typeface="宋体" panose="02010600030101010101" pitchFamily="2" charset="-122"/>
              <a:cs typeface="+mn-cs"/>
            </a:endParaRPr>
          </a:p>
        </p:txBody>
      </p:sp>
      <p:sp>
        <p:nvSpPr>
          <p:cNvPr id="5" name="矩形 4"/>
          <p:cNvSpPr/>
          <p:nvPr/>
        </p:nvSpPr>
        <p:spPr>
          <a:xfrm rot="10800000">
            <a:off x="5735683" y="4058962"/>
            <a:ext cx="1159329" cy="12083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Perpetua"/>
              <a:ea typeface="宋体" panose="02010600030101010101" pitchFamily="2" charset="-122"/>
              <a:cs typeface="+mn-cs"/>
            </a:endParaRPr>
          </a:p>
        </p:txBody>
      </p:sp>
      <p:sp>
        <p:nvSpPr>
          <p:cNvPr id="6" name="右箭头 5"/>
          <p:cNvSpPr/>
          <p:nvPr/>
        </p:nvSpPr>
        <p:spPr>
          <a:xfrm rot="5400000">
            <a:off x="5996941" y="1422989"/>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 name="右箭头 6"/>
          <p:cNvSpPr/>
          <p:nvPr/>
        </p:nvSpPr>
        <p:spPr>
          <a:xfrm rot="5400000">
            <a:off x="6005107" y="3563437"/>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 name="右箭头 7"/>
          <p:cNvSpPr/>
          <p:nvPr/>
        </p:nvSpPr>
        <p:spPr>
          <a:xfrm rot="5400000">
            <a:off x="5996940" y="5440135"/>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 name="文本框 8"/>
          <p:cNvSpPr txBox="1"/>
          <p:nvPr/>
        </p:nvSpPr>
        <p:spPr>
          <a:xfrm>
            <a:off x="5990002" y="2093633"/>
            <a:ext cx="650688"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k</a:t>
            </a: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層神經網絡</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10" name="文本框 9"/>
          <p:cNvSpPr txBox="1"/>
          <p:nvPr/>
        </p:nvSpPr>
        <p:spPr>
          <a:xfrm>
            <a:off x="5875093" y="4478455"/>
            <a:ext cx="896841"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k+1</a:t>
            </a: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層</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pic>
        <p:nvPicPr>
          <p:cNvPr id="11" name="图片 10"/>
          <p:cNvPicPr/>
          <p:nvPr/>
        </p:nvPicPr>
        <p:blipFill>
          <a:blip r:embed="rId2"/>
          <a:stretch>
            <a:fillRect/>
          </a:stretch>
        </p:blipFill>
        <p:spPr>
          <a:xfrm>
            <a:off x="1934888" y="2196100"/>
            <a:ext cx="7601587" cy="3482980"/>
          </a:xfrm>
          <a:prstGeom prst="rect">
            <a:avLst/>
          </a:prstGeom>
        </p:spPr>
      </p:pic>
    </p:spTree>
    <p:extLst>
      <p:ext uri="{BB962C8B-B14F-4D97-AF65-F5344CB8AC3E}">
        <p14:creationId xmlns:p14="http://schemas.microsoft.com/office/powerpoint/2010/main" val="682204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6"/>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4"/>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5"/>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p:bldP spid="9" grpId="1"/>
      <p:bldP spid="10" grpId="0"/>
      <p:bldP spid="10" grpId="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解决思路</a:t>
            </a:r>
          </a:p>
        </p:txBody>
      </p:sp>
      <p:sp>
        <p:nvSpPr>
          <p:cNvPr id="4" name="矩形 3"/>
          <p:cNvSpPr/>
          <p:nvPr/>
        </p:nvSpPr>
        <p:spPr>
          <a:xfrm rot="10800000">
            <a:off x="4838705" y="1451839"/>
            <a:ext cx="1159329" cy="14859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Perpetua"/>
              <a:ea typeface="宋体" panose="02010600030101010101" pitchFamily="2" charset="-122"/>
              <a:cs typeface="+mn-cs"/>
            </a:endParaRPr>
          </a:p>
        </p:txBody>
      </p:sp>
      <p:sp>
        <p:nvSpPr>
          <p:cNvPr id="5" name="矩形 4"/>
          <p:cNvSpPr/>
          <p:nvPr/>
        </p:nvSpPr>
        <p:spPr>
          <a:xfrm rot="10800000">
            <a:off x="4838706" y="3606120"/>
            <a:ext cx="1159329" cy="12083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Perpetua"/>
              <a:ea typeface="宋体" panose="02010600030101010101" pitchFamily="2" charset="-122"/>
              <a:cs typeface="+mn-cs"/>
            </a:endParaRPr>
          </a:p>
        </p:txBody>
      </p:sp>
      <p:sp>
        <p:nvSpPr>
          <p:cNvPr id="6" name="右箭头 5"/>
          <p:cNvSpPr/>
          <p:nvPr/>
        </p:nvSpPr>
        <p:spPr>
          <a:xfrm rot="5400000">
            <a:off x="5099964" y="970147"/>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 name="右箭头 6"/>
          <p:cNvSpPr/>
          <p:nvPr/>
        </p:nvSpPr>
        <p:spPr>
          <a:xfrm rot="5400000">
            <a:off x="5108130" y="3110595"/>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 name="右箭头 7"/>
          <p:cNvSpPr/>
          <p:nvPr/>
        </p:nvSpPr>
        <p:spPr>
          <a:xfrm rot="5400000">
            <a:off x="4976953" y="5118469"/>
            <a:ext cx="891000" cy="318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 name="文本框 8"/>
          <p:cNvSpPr txBox="1"/>
          <p:nvPr/>
        </p:nvSpPr>
        <p:spPr>
          <a:xfrm>
            <a:off x="5093025" y="1640791"/>
            <a:ext cx="650688"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k</a:t>
            </a: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層神經網絡</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10" name="文本框 9"/>
          <p:cNvSpPr txBox="1"/>
          <p:nvPr/>
        </p:nvSpPr>
        <p:spPr>
          <a:xfrm>
            <a:off x="4978116" y="4025613"/>
            <a:ext cx="896841"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k+1</a:t>
            </a: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層</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83604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解决思路</a:t>
            </a:r>
          </a:p>
        </p:txBody>
      </p:sp>
      <p:sp>
        <p:nvSpPr>
          <p:cNvPr id="4" name="矩形 3"/>
          <p:cNvSpPr/>
          <p:nvPr/>
        </p:nvSpPr>
        <p:spPr>
          <a:xfrm rot="10800000">
            <a:off x="4838705" y="1451839"/>
            <a:ext cx="1159329" cy="14859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Perpetua"/>
              <a:ea typeface="宋体" panose="02010600030101010101" pitchFamily="2" charset="-122"/>
              <a:cs typeface="+mn-cs"/>
            </a:endParaRPr>
          </a:p>
        </p:txBody>
      </p:sp>
      <p:sp>
        <p:nvSpPr>
          <p:cNvPr id="5" name="矩形 4"/>
          <p:cNvSpPr/>
          <p:nvPr/>
        </p:nvSpPr>
        <p:spPr>
          <a:xfrm rot="10800000">
            <a:off x="4838706" y="3606120"/>
            <a:ext cx="1159329" cy="12083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Perpetua"/>
              <a:ea typeface="宋体" panose="02010600030101010101" pitchFamily="2" charset="-122"/>
              <a:cs typeface="+mn-cs"/>
            </a:endParaRPr>
          </a:p>
        </p:txBody>
      </p:sp>
      <p:sp>
        <p:nvSpPr>
          <p:cNvPr id="6" name="右箭头 5"/>
          <p:cNvSpPr/>
          <p:nvPr/>
        </p:nvSpPr>
        <p:spPr>
          <a:xfrm rot="5400000">
            <a:off x="5099964" y="970147"/>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7" name="右箭头 6"/>
          <p:cNvSpPr/>
          <p:nvPr/>
        </p:nvSpPr>
        <p:spPr>
          <a:xfrm rot="5400000">
            <a:off x="5108130" y="3110595"/>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8" name="右箭头 7"/>
          <p:cNvSpPr/>
          <p:nvPr/>
        </p:nvSpPr>
        <p:spPr>
          <a:xfrm rot="5400000">
            <a:off x="4976953" y="5118469"/>
            <a:ext cx="891000" cy="318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9" name="文本框 8"/>
          <p:cNvSpPr txBox="1"/>
          <p:nvPr/>
        </p:nvSpPr>
        <p:spPr>
          <a:xfrm>
            <a:off x="5093025" y="1640791"/>
            <a:ext cx="650688"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k</a:t>
            </a: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層神經網絡</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10" name="文本框 9"/>
          <p:cNvSpPr txBox="1"/>
          <p:nvPr/>
        </p:nvSpPr>
        <p:spPr>
          <a:xfrm>
            <a:off x="4978116" y="4025613"/>
            <a:ext cx="896841"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k+1</a:t>
            </a:r>
            <a:r>
              <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層</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13" name="任意多边形 12"/>
          <p:cNvSpPr/>
          <p:nvPr/>
        </p:nvSpPr>
        <p:spPr>
          <a:xfrm>
            <a:off x="5448850" y="3274979"/>
            <a:ext cx="947058" cy="1779810"/>
          </a:xfrm>
          <a:custGeom>
            <a:avLst/>
            <a:gdLst>
              <a:gd name="connsiteX0" fmla="*/ 0 w 604158"/>
              <a:gd name="connsiteY0" fmla="*/ 0 h 1485900"/>
              <a:gd name="connsiteX1" fmla="*/ 604158 w 604158"/>
              <a:gd name="connsiteY1" fmla="*/ 0 h 1485900"/>
              <a:gd name="connsiteX2" fmla="*/ 604158 w 604158"/>
              <a:gd name="connsiteY2" fmla="*/ 1485900 h 1485900"/>
              <a:gd name="connsiteX3" fmla="*/ 48986 w 604158"/>
              <a:gd name="connsiteY3" fmla="*/ 1485900 h 1485900"/>
              <a:gd name="connsiteX4" fmla="*/ 48986 w 604158"/>
              <a:gd name="connsiteY4" fmla="*/ 148590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158" h="1485900">
                <a:moveTo>
                  <a:pt x="0" y="0"/>
                </a:moveTo>
                <a:lnTo>
                  <a:pt x="604158" y="0"/>
                </a:lnTo>
                <a:lnTo>
                  <a:pt x="604158" y="1485900"/>
                </a:lnTo>
                <a:lnTo>
                  <a:pt x="48986" y="1485900"/>
                </a:lnTo>
                <a:lnTo>
                  <a:pt x="48986" y="1485900"/>
                </a:lnTo>
              </a:path>
            </a:pathLst>
          </a:custGeom>
          <a:noFill/>
          <a:ln w="76200">
            <a:solidFill>
              <a:schemeClr val="accent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 name="椭圆 13"/>
          <p:cNvSpPr/>
          <p:nvPr/>
        </p:nvSpPr>
        <p:spPr>
          <a:xfrm>
            <a:off x="5292095" y="4925684"/>
            <a:ext cx="252548" cy="252000"/>
          </a:xfrm>
          <a:prstGeom prst="ellipse">
            <a:avLst/>
          </a:prstGeom>
          <a:solidFill>
            <a:schemeClr val="bg1"/>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文本框 14"/>
          <p:cNvSpPr txBox="1"/>
          <p:nvPr/>
        </p:nvSpPr>
        <p:spPr>
          <a:xfrm>
            <a:off x="3540055" y="4034793"/>
            <a:ext cx="896841"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k+1</a:t>
            </a:r>
            <a:r>
              <a:rPr kumimoji="0" lang="zh-CN" altLang="en-US" sz="24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層</a:t>
            </a:r>
            <a:r>
              <a:rPr kumimoji="0" lang="en-US" altLang="zh-CN" sz="2400" b="0" i="1"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p:txBody>
      </p:sp>
      <p:sp>
        <p:nvSpPr>
          <p:cNvPr id="16" name="矩形 15"/>
          <p:cNvSpPr/>
          <p:nvPr/>
        </p:nvSpPr>
        <p:spPr>
          <a:xfrm rot="10800000">
            <a:off x="4539685" y="3126689"/>
            <a:ext cx="2174623" cy="2185539"/>
          </a:xfrm>
          <a:prstGeom prst="rect">
            <a:avLst/>
          </a:prstGeom>
          <a:noFill/>
          <a:ln w="38100">
            <a:solidFill>
              <a:srgbClr val="119F1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EFF343"/>
              </a:solidFill>
              <a:effectLst/>
              <a:uLnTx/>
              <a:uFillTx/>
              <a:latin typeface="Perpetua"/>
              <a:ea typeface="宋体" panose="02010600030101010101" pitchFamily="2" charset="-122"/>
              <a:cs typeface="+mn-cs"/>
            </a:endParaRPr>
          </a:p>
        </p:txBody>
      </p:sp>
      <p:sp>
        <p:nvSpPr>
          <p:cNvPr id="17" name="加号 16"/>
          <p:cNvSpPr/>
          <p:nvPr/>
        </p:nvSpPr>
        <p:spPr>
          <a:xfrm>
            <a:off x="5310369" y="4941546"/>
            <a:ext cx="216000" cy="216000"/>
          </a:xfrm>
          <a:prstGeom prst="mathPlus">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矩形 18"/>
          <p:cNvSpPr/>
          <p:nvPr/>
        </p:nvSpPr>
        <p:spPr>
          <a:xfrm>
            <a:off x="7951774" y="2064988"/>
            <a:ext cx="1626558" cy="661227"/>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殘差模塊</a:t>
            </a:r>
          </a:p>
        </p:txBody>
      </p:sp>
      <p:cxnSp>
        <p:nvCxnSpPr>
          <p:cNvPr id="20" name="直接箭头连接符 19"/>
          <p:cNvCxnSpPr/>
          <p:nvPr/>
        </p:nvCxnSpPr>
        <p:spPr>
          <a:xfrm flipH="1">
            <a:off x="6783977" y="2542903"/>
            <a:ext cx="1167797" cy="10493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F081FE5-5DB8-43D2-97A4-BE1B16DF6DCB}"/>
              </a:ext>
            </a:extLst>
          </p:cNvPr>
          <p:cNvSpPr txBox="1"/>
          <p:nvPr/>
        </p:nvSpPr>
        <p:spPr>
          <a:xfrm>
            <a:off x="5189480" y="4041475"/>
            <a:ext cx="645170"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21" name="文本框 20">
            <a:extLst>
              <a:ext uri="{FF2B5EF4-FFF2-40B4-BE49-F238E27FC236}">
                <a16:creationId xmlns:a16="http://schemas.microsoft.com/office/drawing/2014/main" id="{D5D4311A-1250-4C3E-8BFE-7329091633B0}"/>
              </a:ext>
            </a:extLst>
          </p:cNvPr>
          <p:cNvSpPr txBox="1"/>
          <p:nvPr/>
        </p:nvSpPr>
        <p:spPr>
          <a:xfrm>
            <a:off x="5072076" y="3113893"/>
            <a:ext cx="38234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22" name="文本框 21">
            <a:extLst>
              <a:ext uri="{FF2B5EF4-FFF2-40B4-BE49-F238E27FC236}">
                <a16:creationId xmlns:a16="http://schemas.microsoft.com/office/drawing/2014/main" id="{F0D28BBC-DFAD-406D-906F-24DCA8564840}"/>
              </a:ext>
            </a:extLst>
          </p:cNvPr>
          <p:cNvSpPr txBox="1"/>
          <p:nvPr/>
        </p:nvSpPr>
        <p:spPr>
          <a:xfrm>
            <a:off x="3187156" y="5422328"/>
            <a:ext cx="1905869"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 F(X)+X</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23" name="文本框 22">
            <a:extLst>
              <a:ext uri="{FF2B5EF4-FFF2-40B4-BE49-F238E27FC236}">
                <a16:creationId xmlns:a16="http://schemas.microsoft.com/office/drawing/2014/main" id="{EAC9A366-0FEF-44C0-9001-205D77D1663C}"/>
              </a:ext>
            </a:extLst>
          </p:cNvPr>
          <p:cNvSpPr txBox="1"/>
          <p:nvPr/>
        </p:nvSpPr>
        <p:spPr>
          <a:xfrm>
            <a:off x="8192993" y="3298559"/>
            <a:ext cx="1905869"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恒等映射</a:t>
            </a:r>
            <a:r>
              <a:rPr kumimoji="0" lang="en-US" altLang="zh-CN" sz="2400" b="0"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24" name="直接箭头连接符 23">
            <a:extLst>
              <a:ext uri="{FF2B5EF4-FFF2-40B4-BE49-F238E27FC236}">
                <a16:creationId xmlns:a16="http://schemas.microsoft.com/office/drawing/2014/main" id="{BF6F6EB2-B8D8-45F3-8574-B09EE3F1BBF0}"/>
              </a:ext>
            </a:extLst>
          </p:cNvPr>
          <p:cNvCxnSpPr>
            <a:cxnSpLocks/>
          </p:cNvCxnSpPr>
          <p:nvPr/>
        </p:nvCxnSpPr>
        <p:spPr>
          <a:xfrm flipH="1">
            <a:off x="6485102" y="3483225"/>
            <a:ext cx="1592578" cy="6816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9FD49C6-321F-41C8-8C7D-5064E7320598}"/>
              </a:ext>
            </a:extLst>
          </p:cNvPr>
          <p:cNvSpPr txBox="1"/>
          <p:nvPr/>
        </p:nvSpPr>
        <p:spPr>
          <a:xfrm>
            <a:off x="2741359" y="4680214"/>
            <a:ext cx="1905869" cy="369332"/>
          </a:xfrm>
          <a:prstGeom prst="rect">
            <a:avLst/>
          </a:prstGeom>
          <a:noFill/>
        </p:spPr>
        <p:txBody>
          <a:bodyPr wrap="square" lIns="0" tIns="0" rIns="0" bIns="0" rtlCol="0">
            <a:spAutoFit/>
          </a:bodyPr>
          <a:lstStyle/>
          <a:p>
            <a:pPr lvl="0">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 </a:t>
            </a:r>
            <a:r>
              <a:rPr lang="en-US" altLang="zh-CN" sz="2400" dirty="0">
                <a:solidFill>
                  <a:prstClr val="black"/>
                </a:solidFill>
              </a:rPr>
              <a:t>F’ (</a:t>
            </a: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X)-X</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24480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P spid="14" grpId="0" animBg="1"/>
      <p:bldP spid="15" grpId="0"/>
      <p:bldP spid="16" grpId="0" animBg="1"/>
      <p:bldP spid="17" grpId="0" animBg="1"/>
      <p:bldP spid="19" grpId="0"/>
      <p:bldP spid="18" grpId="0"/>
      <p:bldP spid="21" grpId="0"/>
      <p:bldP spid="22" grpId="0"/>
      <p:bldP spid="23" grpId="0"/>
      <p:bldP spid="2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19200" y="158888"/>
            <a:ext cx="10363200" cy="1143000"/>
          </a:xfrm>
        </p:spPr>
        <p:txBody>
          <a:bodyPr/>
          <a:lstStyle/>
          <a:p>
            <a:r>
              <a:rPr lang="zh-CN" altLang="en-US" dirty="0"/>
              <a:t>殘差模塊</a:t>
            </a:r>
            <a:r>
              <a:rPr lang="en-US" altLang="zh-CN" dirty="0"/>
              <a:t>: skip connection</a:t>
            </a:r>
            <a:endParaRPr lang="zh-CN" altLang="en-US" dirty="0"/>
          </a:p>
        </p:txBody>
      </p:sp>
      <p:pic>
        <p:nvPicPr>
          <p:cNvPr id="20" name="内容占位符 19"/>
          <p:cNvPicPr>
            <a:picLocks noGrp="1" noChangeAspect="1"/>
          </p:cNvPicPr>
          <p:nvPr>
            <p:ph sz="quarter" idx="1"/>
          </p:nvPr>
        </p:nvPicPr>
        <p:blipFill>
          <a:blip r:embed="rId4"/>
          <a:stretch>
            <a:fillRect/>
          </a:stretch>
        </p:blipFill>
        <p:spPr>
          <a:xfrm>
            <a:off x="3648893" y="1159593"/>
            <a:ext cx="5129348" cy="4990718"/>
          </a:xfrm>
          <a:prstGeom prst="rect">
            <a:avLst/>
          </a:prstGeom>
        </p:spPr>
      </p:pic>
      <p:sp>
        <p:nvSpPr>
          <p:cNvPr id="21" name="文本框 20"/>
          <p:cNvSpPr txBox="1"/>
          <p:nvPr/>
        </p:nvSpPr>
        <p:spPr>
          <a:xfrm>
            <a:off x="2677900" y="2731622"/>
            <a:ext cx="1075494"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3×3</a:t>
            </a: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捲積</a:t>
            </a:r>
            <a:endPar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步長爲</a:t>
            </a: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填充爲</a:t>
            </a: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1</a:t>
            </a:r>
            <a:endPar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p:txBody>
      </p:sp>
      <p:cxnSp>
        <p:nvCxnSpPr>
          <p:cNvPr id="22" name="直接箭头连接符 21"/>
          <p:cNvCxnSpPr>
            <a:stCxn id="21" idx="3"/>
          </p:cNvCxnSpPr>
          <p:nvPr/>
        </p:nvCxnSpPr>
        <p:spPr>
          <a:xfrm flipV="1">
            <a:off x="3753394" y="2302593"/>
            <a:ext cx="1402080" cy="89069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1" idx="3"/>
          </p:cNvCxnSpPr>
          <p:nvPr/>
        </p:nvCxnSpPr>
        <p:spPr>
          <a:xfrm>
            <a:off x="3753394" y="3193287"/>
            <a:ext cx="1480454" cy="91614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H="1">
            <a:off x="6496594" y="4285097"/>
            <a:ext cx="2153194" cy="83554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H="1">
            <a:off x="5947954" y="4179213"/>
            <a:ext cx="2701834" cy="5849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A38FBF6-038C-4EA3-9A87-00A4CF3571F7}"/>
              </a:ext>
            </a:extLst>
          </p:cNvPr>
          <p:cNvSpPr txBox="1"/>
          <p:nvPr/>
        </p:nvSpPr>
        <p:spPr>
          <a:xfrm>
            <a:off x="8789134" y="3779538"/>
            <a:ext cx="1075494"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通道數、通道大小必須一致</a:t>
            </a:r>
            <a:endPar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71493167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0"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196ED-423A-1C28-7326-F5CE8552F682}"/>
              </a:ext>
            </a:extLst>
          </p:cNvPr>
          <p:cNvSpPr>
            <a:spLocks noGrp="1"/>
          </p:cNvSpPr>
          <p:nvPr>
            <p:ph type="title"/>
          </p:nvPr>
        </p:nvSpPr>
        <p:spPr/>
        <p:txBody>
          <a:bodyPr/>
          <a:lstStyle/>
          <a:p>
            <a:r>
              <a:rPr lang="zh-CN" altLang="en-US" dirty="0"/>
              <a:t>殘差網絡（</a:t>
            </a:r>
            <a:r>
              <a:rPr lang="en-US" altLang="zh-CN" dirty="0" err="1"/>
              <a:t>ResNet</a:t>
            </a:r>
            <a:r>
              <a:rPr lang="zh-CN" altLang="en-US" dirty="0"/>
              <a:t>）</a:t>
            </a:r>
            <a:endParaRPr lang="en-US" dirty="0"/>
          </a:p>
        </p:txBody>
      </p:sp>
      <p:pic>
        <p:nvPicPr>
          <p:cNvPr id="4" name="Picture 3">
            <a:extLst>
              <a:ext uri="{FF2B5EF4-FFF2-40B4-BE49-F238E27FC236}">
                <a16:creationId xmlns:a16="http://schemas.microsoft.com/office/drawing/2014/main" id="{86618BBB-ACCB-7FD4-E949-E231948F6C7B}"/>
              </a:ext>
            </a:extLst>
          </p:cNvPr>
          <p:cNvPicPr>
            <a:picLocks noChangeAspect="1"/>
          </p:cNvPicPr>
          <p:nvPr/>
        </p:nvPicPr>
        <p:blipFill>
          <a:blip r:embed="rId2"/>
          <a:stretch>
            <a:fillRect/>
          </a:stretch>
        </p:blipFill>
        <p:spPr>
          <a:xfrm>
            <a:off x="8268755" y="184248"/>
            <a:ext cx="2981837" cy="6489504"/>
          </a:xfrm>
          <a:prstGeom prst="rect">
            <a:avLst/>
          </a:prstGeom>
        </p:spPr>
      </p:pic>
      <p:pic>
        <p:nvPicPr>
          <p:cNvPr id="5" name="Picture 4">
            <a:extLst>
              <a:ext uri="{FF2B5EF4-FFF2-40B4-BE49-F238E27FC236}">
                <a16:creationId xmlns:a16="http://schemas.microsoft.com/office/drawing/2014/main" id="{CBA280EE-B80A-D4CC-773B-68F6959A5BCE}"/>
              </a:ext>
            </a:extLst>
          </p:cNvPr>
          <p:cNvPicPr>
            <a:picLocks noChangeAspect="1"/>
          </p:cNvPicPr>
          <p:nvPr/>
        </p:nvPicPr>
        <p:blipFill>
          <a:blip r:embed="rId3"/>
          <a:stretch>
            <a:fillRect/>
          </a:stretch>
        </p:blipFill>
        <p:spPr>
          <a:xfrm>
            <a:off x="381000" y="2703694"/>
            <a:ext cx="7772400" cy="2700677"/>
          </a:xfrm>
          <a:prstGeom prst="rect">
            <a:avLst/>
          </a:prstGeom>
        </p:spPr>
      </p:pic>
      <p:pic>
        <p:nvPicPr>
          <p:cNvPr id="3" name="Picture 2">
            <a:extLst>
              <a:ext uri="{FF2B5EF4-FFF2-40B4-BE49-F238E27FC236}">
                <a16:creationId xmlns:a16="http://schemas.microsoft.com/office/drawing/2014/main" id="{60112B71-19A6-FEE7-0EA2-7362B22447D4}"/>
              </a:ext>
            </a:extLst>
          </p:cNvPr>
          <p:cNvPicPr>
            <a:picLocks noChangeAspect="1"/>
          </p:cNvPicPr>
          <p:nvPr/>
        </p:nvPicPr>
        <p:blipFill>
          <a:blip r:embed="rId4"/>
          <a:stretch>
            <a:fillRect/>
          </a:stretch>
        </p:blipFill>
        <p:spPr>
          <a:xfrm>
            <a:off x="2137063" y="2267633"/>
            <a:ext cx="7772400" cy="2696806"/>
          </a:xfrm>
          <a:prstGeom prst="rect">
            <a:avLst/>
          </a:prstGeom>
        </p:spPr>
      </p:pic>
    </p:spTree>
    <p:extLst>
      <p:ext uri="{BB962C8B-B14F-4D97-AF65-F5344CB8AC3E}">
        <p14:creationId xmlns:p14="http://schemas.microsoft.com/office/powerpoint/2010/main" val="274267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殘差網絡（</a:t>
            </a:r>
            <a:r>
              <a:rPr lang="en-US" altLang="zh-CN" dirty="0" err="1"/>
              <a:t>ResNet</a:t>
            </a:r>
            <a:r>
              <a:rPr lang="zh-CN" altLang="en-US" dirty="0"/>
              <a:t>）</a:t>
            </a:r>
          </a:p>
        </p:txBody>
      </p:sp>
      <p:pic>
        <p:nvPicPr>
          <p:cNvPr id="4" name="图片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7095" y="348342"/>
            <a:ext cx="1314995" cy="6326777"/>
          </a:xfrm>
          <a:prstGeom prst="rect">
            <a:avLst/>
          </a:prstGeom>
          <a:noFill/>
        </p:spPr>
      </p:pic>
      <p:sp>
        <p:nvSpPr>
          <p:cNvPr id="5" name="文本框 4"/>
          <p:cNvSpPr txBox="1"/>
          <p:nvPr/>
        </p:nvSpPr>
        <p:spPr>
          <a:xfrm>
            <a:off x="3953694" y="272126"/>
            <a:ext cx="928823"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輸入</a:t>
            </a:r>
            <a:r>
              <a:rPr kumimoji="0" lang="en-US" altLang="zh-CN"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224×224×3</a:t>
            </a:r>
            <a:r>
              <a:rPr kumimoji="0" lang="en-US" altLang="zh-CN" sz="1400" b="0" i="1"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 </a:t>
            </a:r>
            <a:endParaRPr kumimoji="0" lang="zh-CN" altLang="en-US" sz="1400" b="0" i="1"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endParaRPr>
          </a:p>
        </p:txBody>
      </p:sp>
      <p:sp>
        <p:nvSpPr>
          <p:cNvPr id="6" name="文本框 5"/>
          <p:cNvSpPr txBox="1"/>
          <p:nvPr/>
        </p:nvSpPr>
        <p:spPr>
          <a:xfrm>
            <a:off x="6119954" y="6461584"/>
            <a:ext cx="890445"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輸出：</a:t>
            </a:r>
            <a:r>
              <a:rPr kumimoji="0" lang="en-US" altLang="zh-CN"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1000</a:t>
            </a:r>
            <a:r>
              <a:rPr kumimoji="0" lang="en-US" altLang="zh-CN" sz="1400" b="0" i="1"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 </a:t>
            </a:r>
            <a:endParaRPr kumimoji="0" lang="zh-CN" altLang="en-US" sz="1400" b="0" i="1"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endParaRPr>
          </a:p>
        </p:txBody>
      </p:sp>
      <p:sp>
        <p:nvSpPr>
          <p:cNvPr id="7" name="文本框 233"/>
          <p:cNvSpPr txBox="1"/>
          <p:nvPr/>
        </p:nvSpPr>
        <p:spPr>
          <a:xfrm>
            <a:off x="7741193" y="348342"/>
            <a:ext cx="1873069"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64</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個</a:t>
            </a: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en-US"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捲積核，步長爲</a:t>
            </a: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，填充爲</a:t>
            </a: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8" name="直接箭头连接符 7"/>
          <p:cNvCxnSpPr/>
          <p:nvPr/>
        </p:nvCxnSpPr>
        <p:spPr>
          <a:xfrm>
            <a:off x="6113417" y="456064"/>
            <a:ext cx="1627776" cy="1077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233"/>
          <p:cNvSpPr txBox="1"/>
          <p:nvPr/>
        </p:nvSpPr>
        <p:spPr>
          <a:xfrm>
            <a:off x="7741192" y="1139369"/>
            <a:ext cx="1725025"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最大池化，步長爲</a:t>
            </a:r>
            <a:r>
              <a:rPr kumimoji="0" lang="en-US"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0" lang="zh-CN" altLang="zh-CN" sz="20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17" name="直接箭头连接符 16"/>
          <p:cNvCxnSpPr/>
          <p:nvPr/>
        </p:nvCxnSpPr>
        <p:spPr>
          <a:xfrm>
            <a:off x="5773055" y="637490"/>
            <a:ext cx="1968137" cy="6792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979214" y="674526"/>
            <a:ext cx="1412876" cy="1083153"/>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21" name="文本框 233"/>
          <p:cNvSpPr txBox="1"/>
          <p:nvPr/>
        </p:nvSpPr>
        <p:spPr>
          <a:xfrm>
            <a:off x="2342606" y="1611853"/>
            <a:ext cx="1550125" cy="39334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600" b="1" i="0" u="none" strike="noStrike" kern="1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個殘差模塊</a:t>
            </a:r>
            <a:endParaRPr kumimoji="0" lang="zh-CN" altLang="zh-CN" sz="2000" b="1" i="0" u="none" strike="noStrike" kern="1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22" name="直接箭头连接符 21"/>
          <p:cNvCxnSpPr>
            <a:cxnSpLocks/>
            <a:endCxn id="21" idx="3"/>
          </p:cNvCxnSpPr>
          <p:nvPr/>
        </p:nvCxnSpPr>
        <p:spPr>
          <a:xfrm flipH="1">
            <a:off x="3892731" y="1176425"/>
            <a:ext cx="1058093" cy="63209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33"/>
          <p:cNvSpPr txBox="1"/>
          <p:nvPr/>
        </p:nvSpPr>
        <p:spPr>
          <a:xfrm>
            <a:off x="2342606" y="2042249"/>
            <a:ext cx="1962057" cy="59394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64</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個</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捲積</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核，步長爲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，填充爲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30" name="直接箭头连接符 29"/>
          <p:cNvCxnSpPr>
            <a:endCxn id="29" idx="3"/>
          </p:cNvCxnSpPr>
          <p:nvPr/>
        </p:nvCxnSpPr>
        <p:spPr>
          <a:xfrm flipH="1">
            <a:off x="4304663" y="1524645"/>
            <a:ext cx="835162" cy="8145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5002027" y="1931934"/>
            <a:ext cx="1412876" cy="1237986"/>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36" name="文本框 233"/>
          <p:cNvSpPr txBox="1"/>
          <p:nvPr/>
        </p:nvSpPr>
        <p:spPr>
          <a:xfrm>
            <a:off x="7741191" y="2246126"/>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128</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個</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捲積</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核，步長爲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，填充爲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37" name="直接箭头连接符 36"/>
          <p:cNvCxnSpPr/>
          <p:nvPr/>
        </p:nvCxnSpPr>
        <p:spPr>
          <a:xfrm>
            <a:off x="6006560" y="4689513"/>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5002027" y="3347440"/>
            <a:ext cx="1412876" cy="1929954"/>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41" name="文本框 233"/>
          <p:cNvSpPr txBox="1"/>
          <p:nvPr/>
        </p:nvSpPr>
        <p:spPr>
          <a:xfrm>
            <a:off x="7784734" y="4676501"/>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256</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個</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捲積</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核，步長爲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，填充爲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42" name="矩形 41"/>
          <p:cNvSpPr/>
          <p:nvPr/>
        </p:nvSpPr>
        <p:spPr>
          <a:xfrm>
            <a:off x="5028154" y="5454914"/>
            <a:ext cx="1412876" cy="881651"/>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cxnSp>
        <p:nvCxnSpPr>
          <p:cNvPr id="43" name="直接箭头连接符 42"/>
          <p:cNvCxnSpPr/>
          <p:nvPr/>
        </p:nvCxnSpPr>
        <p:spPr>
          <a:xfrm>
            <a:off x="6006560" y="5528549"/>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233"/>
          <p:cNvSpPr txBox="1"/>
          <p:nvPr/>
        </p:nvSpPr>
        <p:spPr>
          <a:xfrm>
            <a:off x="7770359" y="5518001"/>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512</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個</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捲積</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核，步長爲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，填充爲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45" name="直接箭头连接符 44"/>
          <p:cNvCxnSpPr/>
          <p:nvPr/>
        </p:nvCxnSpPr>
        <p:spPr>
          <a:xfrm>
            <a:off x="5986781" y="2223156"/>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233"/>
          <p:cNvSpPr txBox="1"/>
          <p:nvPr/>
        </p:nvSpPr>
        <p:spPr>
          <a:xfrm>
            <a:off x="7187335" y="3179550"/>
            <a:ext cx="711339" cy="40320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虛綫</a:t>
            </a:r>
            <a:endParaRPr kumimoji="0" lang="zh-CN" altLang="zh-CN" sz="2400" b="1" i="0" u="none" strike="noStrike" kern="100" cap="none" spc="0" normalizeH="0" baseline="0" noProof="0" dirty="0">
              <a:ln>
                <a:noFill/>
              </a:ln>
              <a:solidFill>
                <a:srgbClr val="00B0F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47" name="直接箭头连接符 46"/>
          <p:cNvCxnSpPr/>
          <p:nvPr/>
        </p:nvCxnSpPr>
        <p:spPr>
          <a:xfrm flipH="1">
            <a:off x="6261463" y="3576697"/>
            <a:ext cx="1082908" cy="1825716"/>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46" idx="1"/>
          </p:cNvCxnSpPr>
          <p:nvPr/>
        </p:nvCxnSpPr>
        <p:spPr>
          <a:xfrm flipH="1" flipV="1">
            <a:off x="6261463" y="3251424"/>
            <a:ext cx="925872" cy="1297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flipV="1">
            <a:off x="6261463" y="2026997"/>
            <a:ext cx="1040314" cy="117339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6" name="椭圆 55"/>
          <p:cNvSpPr/>
          <p:nvPr/>
        </p:nvSpPr>
        <p:spPr>
          <a:xfrm>
            <a:off x="5063694" y="1766335"/>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椭圆 56"/>
          <p:cNvSpPr/>
          <p:nvPr/>
        </p:nvSpPr>
        <p:spPr>
          <a:xfrm>
            <a:off x="5100542" y="3160856"/>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椭圆 57"/>
          <p:cNvSpPr/>
          <p:nvPr/>
        </p:nvSpPr>
        <p:spPr>
          <a:xfrm>
            <a:off x="5100542" y="5259544"/>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文本框 233"/>
          <p:cNvSpPr txBox="1"/>
          <p:nvPr/>
        </p:nvSpPr>
        <p:spPr>
          <a:xfrm>
            <a:off x="2063931" y="3215284"/>
            <a:ext cx="1828801" cy="1165127"/>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B81E1"/>
                </a:solidFill>
                <a:effectLst/>
                <a:uLnTx/>
                <a:uFillTx/>
                <a:latin typeface="Perpetua"/>
                <a:ea typeface="宋体" panose="02010600030101010101" pitchFamily="2" charset="-122"/>
                <a:cs typeface="+mn-cs"/>
              </a:rPr>
              <a:t>步長爲</a:t>
            </a:r>
            <a:r>
              <a:rPr kumimoji="0" lang="en-US" altLang="zh-CN" sz="1600" b="1" i="0" u="none" strike="noStrike" kern="1200" cap="none" spc="0" normalizeH="0" baseline="0" noProof="0" dirty="0">
                <a:ln>
                  <a:noFill/>
                </a:ln>
                <a:solidFill>
                  <a:srgbClr val="FB81E1"/>
                </a:solidFill>
                <a:effectLst/>
                <a:uLnTx/>
                <a:uFillTx/>
                <a:latin typeface="Perpetua"/>
                <a:ea typeface="宋体" panose="02010600030101010101" pitchFamily="2" charset="-122"/>
                <a:cs typeface="+mn-cs"/>
              </a:rPr>
              <a:t>2</a:t>
            </a:r>
            <a:r>
              <a:rPr kumimoji="0" lang="zh-CN" altLang="en-US" sz="1600" b="1" i="0" u="none" strike="noStrike" kern="1200" cap="none" spc="0" normalizeH="0" baseline="0" noProof="0" dirty="0">
                <a:ln>
                  <a:noFill/>
                </a:ln>
                <a:solidFill>
                  <a:srgbClr val="FB81E1"/>
                </a:solidFill>
                <a:effectLst/>
                <a:uLnTx/>
                <a:uFillTx/>
                <a:latin typeface="Perpetua"/>
                <a:ea typeface="宋体" panose="02010600030101010101" pitchFamily="2" charset="-122"/>
                <a:cs typeface="+mn-cs"/>
              </a:rPr>
              <a:t>，</a:t>
            </a:r>
            <a:r>
              <a:rPr kumimoji="0" lang="zh-CN" altLang="en-US" sz="1600" b="1" i="0" u="none" strike="noStrike" kern="100" cap="none" spc="0" normalizeH="0" baseline="0" noProof="0" dirty="0">
                <a:ln>
                  <a:noFill/>
                </a:ln>
                <a:solidFill>
                  <a:srgbClr val="FB81E1"/>
                </a:solidFill>
                <a:effectLst/>
                <a:uLnTx/>
                <a:uFillTx/>
                <a:latin typeface="宋体" panose="02010600030101010101" pitchFamily="2" charset="-122"/>
                <a:ea typeface="宋体" panose="02010600030101010101" pitchFamily="2" charset="-122"/>
                <a:cs typeface="Times New Roman" panose="02020603050405020304" pitchFamily="18" charset="0"/>
              </a:rPr>
              <a:t>長寬各减一半，通道數增加了一倍。恒等映射需要等維處理。</a:t>
            </a:r>
            <a:endParaRPr kumimoji="0" lang="zh-CN" altLang="zh-CN" sz="1800" b="1" i="0" u="none" strike="noStrike" kern="100" cap="none" spc="0" normalizeH="0" baseline="0" noProof="0" dirty="0">
              <a:ln>
                <a:noFill/>
              </a:ln>
              <a:solidFill>
                <a:srgbClr val="FB81E1"/>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60" name="直接箭头连接符 59"/>
          <p:cNvCxnSpPr>
            <a:stCxn id="58" idx="2"/>
          </p:cNvCxnSpPr>
          <p:nvPr/>
        </p:nvCxnSpPr>
        <p:spPr>
          <a:xfrm flipH="1" flipV="1">
            <a:off x="3892731" y="3999227"/>
            <a:ext cx="1207811" cy="1360525"/>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59" idx="3"/>
          </p:cNvCxnSpPr>
          <p:nvPr/>
        </p:nvCxnSpPr>
        <p:spPr>
          <a:xfrm flipH="1">
            <a:off x="3892732" y="3285110"/>
            <a:ext cx="1152156" cy="512738"/>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H="1">
            <a:off x="3892731" y="1905859"/>
            <a:ext cx="1058097" cy="1579072"/>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233"/>
          <p:cNvSpPr txBox="1"/>
          <p:nvPr/>
        </p:nvSpPr>
        <p:spPr>
          <a:xfrm>
            <a:off x="3006185" y="5746366"/>
            <a:ext cx="1477079" cy="34975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全域平均池化</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80" name="直接箭头连接符 79"/>
          <p:cNvCxnSpPr/>
          <p:nvPr/>
        </p:nvCxnSpPr>
        <p:spPr>
          <a:xfrm>
            <a:off x="4391189" y="6054061"/>
            <a:ext cx="1008127" cy="3562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矩形 105"/>
          <p:cNvSpPr/>
          <p:nvPr/>
        </p:nvSpPr>
        <p:spPr>
          <a:xfrm>
            <a:off x="8321061" y="1198684"/>
            <a:ext cx="1822334" cy="4312447"/>
          </a:xfrm>
          <a:prstGeom prst="rect">
            <a:avLst/>
          </a:prstGeom>
          <a:solidFill>
            <a:schemeClr val="bg1"/>
          </a:solidFill>
          <a:ln w="38100">
            <a:solidFill>
              <a:srgbClr val="86F26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5" name="图片 104"/>
          <p:cNvPicPr>
            <a:picLocks noChangeAspect="1"/>
          </p:cNvPicPr>
          <p:nvPr/>
        </p:nvPicPr>
        <p:blipFill>
          <a:blip r:embed="rId4"/>
          <a:stretch>
            <a:fillRect/>
          </a:stretch>
        </p:blipFill>
        <p:spPr>
          <a:xfrm>
            <a:off x="8433906" y="1333064"/>
            <a:ext cx="1627740" cy="4069349"/>
          </a:xfrm>
          <a:prstGeom prst="rect">
            <a:avLst/>
          </a:prstGeom>
          <a:solidFill>
            <a:schemeClr val="bg1"/>
          </a:solidFill>
        </p:spPr>
      </p:pic>
      <p:sp>
        <p:nvSpPr>
          <p:cNvPr id="108" name="椭圆 107"/>
          <p:cNvSpPr/>
          <p:nvPr/>
        </p:nvSpPr>
        <p:spPr>
          <a:xfrm>
            <a:off x="4981936" y="2988136"/>
            <a:ext cx="1256714" cy="611405"/>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solidFill>
                  <a:srgbClr val="FF0000"/>
                </a:solid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09" name="直接箭头连接符 108"/>
          <p:cNvCxnSpPr/>
          <p:nvPr/>
        </p:nvCxnSpPr>
        <p:spPr>
          <a:xfrm flipV="1">
            <a:off x="6197181" y="2929431"/>
            <a:ext cx="2022250" cy="2314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73E20A56-3E86-8023-3B5D-44A4C17B6A0A}"/>
              </a:ext>
            </a:extLst>
          </p:cNvPr>
          <p:cNvGrpSpPr/>
          <p:nvPr/>
        </p:nvGrpSpPr>
        <p:grpSpPr>
          <a:xfrm>
            <a:off x="7344371" y="5301978"/>
            <a:ext cx="3556072" cy="1315911"/>
            <a:chOff x="7344371" y="5301978"/>
            <a:chExt cx="3556072" cy="1315911"/>
          </a:xfrm>
        </p:grpSpPr>
        <p:grpSp>
          <p:nvGrpSpPr>
            <p:cNvPr id="27" name="组合 26">
              <a:extLst>
                <a:ext uri="{FF2B5EF4-FFF2-40B4-BE49-F238E27FC236}">
                  <a16:creationId xmlns:a16="http://schemas.microsoft.com/office/drawing/2014/main" id="{2BA425F8-6643-47C0-EB9F-6D1156B3663A}"/>
                </a:ext>
              </a:extLst>
            </p:cNvPr>
            <p:cNvGrpSpPr/>
            <p:nvPr/>
          </p:nvGrpSpPr>
          <p:grpSpPr>
            <a:xfrm>
              <a:off x="7344371" y="5301978"/>
              <a:ext cx="3556072" cy="1315911"/>
              <a:chOff x="7344371" y="5301978"/>
              <a:chExt cx="3556072" cy="1315911"/>
            </a:xfrm>
          </p:grpSpPr>
          <p:grpSp>
            <p:nvGrpSpPr>
              <p:cNvPr id="26" name="组合 25">
                <a:extLst>
                  <a:ext uri="{FF2B5EF4-FFF2-40B4-BE49-F238E27FC236}">
                    <a16:creationId xmlns:a16="http://schemas.microsoft.com/office/drawing/2014/main" id="{79268729-3209-369D-5A29-4ED1B82F9B3A}"/>
                  </a:ext>
                </a:extLst>
              </p:cNvPr>
              <p:cNvGrpSpPr/>
              <p:nvPr/>
            </p:nvGrpSpPr>
            <p:grpSpPr>
              <a:xfrm>
                <a:off x="7344371" y="5301978"/>
                <a:ext cx="3556072" cy="1315911"/>
                <a:chOff x="547803" y="4599223"/>
                <a:chExt cx="3556072" cy="1315911"/>
              </a:xfrm>
              <a:solidFill>
                <a:schemeClr val="bg1"/>
              </a:solidFill>
            </p:grpSpPr>
            <p:pic>
              <p:nvPicPr>
                <p:cNvPr id="1028" name="Picture 4">
                  <a:extLst>
                    <a:ext uri="{FF2B5EF4-FFF2-40B4-BE49-F238E27FC236}">
                      <a16:creationId xmlns:a16="http://schemas.microsoft.com/office/drawing/2014/main" id="{DBD97BFA-AFF1-124F-5CD1-2B7B7652D0B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8847" y="4676501"/>
                  <a:ext cx="3336490" cy="1176327"/>
                </a:xfrm>
                <a:prstGeom prst="rect">
                  <a:avLst/>
                </a:prstGeom>
                <a:grpFill/>
              </p:spPr>
            </p:pic>
            <p:sp>
              <p:nvSpPr>
                <p:cNvPr id="9" name="文本框 8">
                  <a:extLst>
                    <a:ext uri="{FF2B5EF4-FFF2-40B4-BE49-F238E27FC236}">
                      <a16:creationId xmlns:a16="http://schemas.microsoft.com/office/drawing/2014/main" id="{B1873435-95E3-D349-BEB7-DFC1CD66DB70}"/>
                    </a:ext>
                  </a:extLst>
                </p:cNvPr>
                <p:cNvSpPr txBox="1"/>
                <p:nvPr/>
              </p:nvSpPr>
              <p:spPr>
                <a:xfrm>
                  <a:off x="547803" y="4987190"/>
                  <a:ext cx="28208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28</a:t>
                  </a:r>
                  <a:endParaRPr kumimoji="1" lang="zh-CN" altLang="en-US" sz="600" dirty="0">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F60D210A-CAE5-DD82-0607-87A78E6FB4EB}"/>
                    </a:ext>
                  </a:extLst>
                </p:cNvPr>
                <p:cNvSpPr txBox="1"/>
                <p:nvPr/>
              </p:nvSpPr>
              <p:spPr>
                <a:xfrm>
                  <a:off x="955187" y="4599223"/>
                  <a:ext cx="36883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128</a:t>
                  </a:r>
                  <a:endParaRPr kumimoji="1" lang="zh-CN" altLang="en-US" sz="600" dirty="0">
                    <a:latin typeface="Microsoft YaHei" panose="020B0503020204020204" pitchFamily="34" charset="-122"/>
                    <a:ea typeface="Microsoft YaHei" panose="020B0503020204020204" pitchFamily="34" charset="-122"/>
                  </a:endParaRPr>
                </a:p>
              </p:txBody>
            </p:sp>
            <p:sp>
              <p:nvSpPr>
                <p:cNvPr id="11" name="文本框 10">
                  <a:extLst>
                    <a:ext uri="{FF2B5EF4-FFF2-40B4-BE49-F238E27FC236}">
                      <a16:creationId xmlns:a16="http://schemas.microsoft.com/office/drawing/2014/main" id="{45F9BD4A-8905-BF14-BCDC-EA64EFAACB7B}"/>
                    </a:ext>
                  </a:extLst>
                </p:cNvPr>
                <p:cNvSpPr txBox="1"/>
                <p:nvPr/>
              </p:nvSpPr>
              <p:spPr>
                <a:xfrm>
                  <a:off x="1574303" y="4689513"/>
                  <a:ext cx="36883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256</a:t>
                  </a:r>
                  <a:endParaRPr kumimoji="1" lang="zh-CN" altLang="en-US" sz="600" dirty="0">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0CAD5CE5-1E8B-F83A-49F3-39E2C31AF2B7}"/>
                    </a:ext>
                  </a:extLst>
                </p:cNvPr>
                <p:cNvSpPr txBox="1"/>
                <p:nvPr/>
              </p:nvSpPr>
              <p:spPr>
                <a:xfrm>
                  <a:off x="2403568" y="4709739"/>
                  <a:ext cx="36883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256</a:t>
                  </a:r>
                  <a:endParaRPr kumimoji="1" lang="zh-CN" altLang="en-US" sz="600" dirty="0">
                    <a:latin typeface="Microsoft YaHei" panose="020B0503020204020204" pitchFamily="34" charset="-122"/>
                    <a:ea typeface="Microsoft YaHei" panose="020B0503020204020204" pitchFamily="34" charset="-122"/>
                  </a:endParaRPr>
                </a:p>
              </p:txBody>
            </p:sp>
            <p:sp>
              <p:nvSpPr>
                <p:cNvPr id="13" name="文本框 12">
                  <a:extLst>
                    <a:ext uri="{FF2B5EF4-FFF2-40B4-BE49-F238E27FC236}">
                      <a16:creationId xmlns:a16="http://schemas.microsoft.com/office/drawing/2014/main" id="{04F31FC4-32A9-806E-EC5B-499970DE9D5A}"/>
                    </a:ext>
                  </a:extLst>
                </p:cNvPr>
                <p:cNvSpPr txBox="1"/>
                <p:nvPr/>
              </p:nvSpPr>
              <p:spPr>
                <a:xfrm>
                  <a:off x="3427426" y="4709739"/>
                  <a:ext cx="36883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256</a:t>
                  </a:r>
                  <a:endParaRPr kumimoji="1" lang="zh-CN" altLang="en-US" sz="600" dirty="0">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41FF7350-5D4A-D00A-A89E-0B00E43449F8}"/>
                    </a:ext>
                  </a:extLst>
                </p:cNvPr>
                <p:cNvSpPr txBox="1"/>
                <p:nvPr/>
              </p:nvSpPr>
              <p:spPr>
                <a:xfrm>
                  <a:off x="1480337" y="5126721"/>
                  <a:ext cx="28208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14</a:t>
                  </a:r>
                  <a:endParaRPr kumimoji="1" lang="zh-CN" altLang="en-US" sz="600" dirty="0">
                    <a:latin typeface="Microsoft YaHei" panose="020B0503020204020204" pitchFamily="34" charset="-122"/>
                    <a:ea typeface="Microsoft YaHei" panose="020B0503020204020204" pitchFamily="34" charset="-122"/>
                  </a:endParaRPr>
                </a:p>
              </p:txBody>
            </p:sp>
            <p:sp>
              <p:nvSpPr>
                <p:cNvPr id="19" name="文本框 18">
                  <a:extLst>
                    <a:ext uri="{FF2B5EF4-FFF2-40B4-BE49-F238E27FC236}">
                      <a16:creationId xmlns:a16="http://schemas.microsoft.com/office/drawing/2014/main" id="{E0D99A11-87FD-13B0-6FDA-D9453E403308}"/>
                    </a:ext>
                  </a:extLst>
                </p:cNvPr>
                <p:cNvSpPr txBox="1"/>
                <p:nvPr/>
              </p:nvSpPr>
              <p:spPr>
                <a:xfrm>
                  <a:off x="2358982" y="5153814"/>
                  <a:ext cx="28208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14</a:t>
                  </a:r>
                  <a:endParaRPr kumimoji="1" lang="zh-CN" altLang="en-US" sz="600" dirty="0">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B18D9DAA-AA13-99C8-8577-F8A92A4C9939}"/>
                    </a:ext>
                  </a:extLst>
                </p:cNvPr>
                <p:cNvSpPr txBox="1"/>
                <p:nvPr/>
              </p:nvSpPr>
              <p:spPr>
                <a:xfrm>
                  <a:off x="1706472" y="5730468"/>
                  <a:ext cx="28208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14</a:t>
                  </a:r>
                  <a:endParaRPr kumimoji="1" lang="zh-CN" altLang="en-US" sz="600" dirty="0">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0F165FBC-CA17-6466-CE6B-DD480DFC53A7}"/>
                    </a:ext>
                  </a:extLst>
                </p:cNvPr>
                <p:cNvSpPr txBox="1"/>
                <p:nvPr/>
              </p:nvSpPr>
              <p:spPr>
                <a:xfrm>
                  <a:off x="3388464" y="5153814"/>
                  <a:ext cx="282088" cy="184666"/>
                </a:xfrm>
                <a:prstGeom prst="rect">
                  <a:avLst/>
                </a:prstGeom>
                <a:grp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14</a:t>
                  </a:r>
                  <a:endParaRPr kumimoji="1" lang="zh-CN" altLang="en-US" sz="600" dirty="0">
                    <a:latin typeface="Microsoft YaHei" panose="020B0503020204020204" pitchFamily="34" charset="-122"/>
                    <a:ea typeface="Microsoft YaHei" panose="020B0503020204020204" pitchFamily="34" charset="-122"/>
                  </a:endParaRPr>
                </a:p>
              </p:txBody>
            </p:sp>
            <p:pic>
              <p:nvPicPr>
                <p:cNvPr id="25" name="图片 24">
                  <a:extLst>
                    <a:ext uri="{FF2B5EF4-FFF2-40B4-BE49-F238E27FC236}">
                      <a16:creationId xmlns:a16="http://schemas.microsoft.com/office/drawing/2014/main" id="{E8FA0D13-5A1A-41A3-A1F0-EC9C7F135A28}"/>
                    </a:ext>
                  </a:extLst>
                </p:cNvPr>
                <p:cNvPicPr>
                  <a:picLocks noChangeAspect="1"/>
                </p:cNvPicPr>
                <p:nvPr/>
              </p:nvPicPr>
              <p:blipFill>
                <a:blip r:embed="rId6"/>
                <a:stretch>
                  <a:fillRect/>
                </a:stretch>
              </p:blipFill>
              <p:spPr>
                <a:xfrm>
                  <a:off x="3085995" y="5392990"/>
                  <a:ext cx="1017880" cy="338057"/>
                </a:xfrm>
                <a:prstGeom prst="rect">
                  <a:avLst/>
                </a:prstGeom>
                <a:grpFill/>
              </p:spPr>
            </p:pic>
          </p:grpSp>
          <p:sp>
            <p:nvSpPr>
              <p:cNvPr id="18" name="矩形 17">
                <a:extLst>
                  <a:ext uri="{FF2B5EF4-FFF2-40B4-BE49-F238E27FC236}">
                    <a16:creationId xmlns:a16="http://schemas.microsoft.com/office/drawing/2014/main" id="{B45B6F99-F2D8-1161-B3FA-0DB651F340B0}"/>
                  </a:ext>
                </a:extLst>
              </p:cNvPr>
              <p:cNvSpPr/>
              <p:nvPr/>
            </p:nvSpPr>
            <p:spPr>
              <a:xfrm>
                <a:off x="8587802" y="6063941"/>
                <a:ext cx="181424" cy="109135"/>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kumimoji="1"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AB957547-0C69-95A9-3754-92FC3A4B4FBE}"/>
                  </a:ext>
                </a:extLst>
              </p:cNvPr>
              <p:cNvSpPr txBox="1"/>
              <p:nvPr/>
            </p:nvSpPr>
            <p:spPr>
              <a:xfrm>
                <a:off x="8484582" y="6026409"/>
                <a:ext cx="368838" cy="184666"/>
              </a:xfrm>
              <a:prstGeom prst="rect">
                <a:avLst/>
              </a:prstGeom>
              <a:noFill/>
            </p:spPr>
            <p:txBody>
              <a:bodyPr wrap="square" rtlCol="0">
                <a:spAutoFit/>
              </a:bodyPr>
              <a:lstStyle/>
              <a:p>
                <a:r>
                  <a:rPr kumimoji="1" lang="en-US" altLang="zh-CN" sz="600" dirty="0">
                    <a:latin typeface="Microsoft YaHei" panose="020B0503020204020204" pitchFamily="34" charset="-122"/>
                    <a:ea typeface="Microsoft YaHei" panose="020B0503020204020204" pitchFamily="34" charset="-122"/>
                  </a:rPr>
                  <a:t>256</a:t>
                </a:r>
                <a:endParaRPr kumimoji="1" lang="zh-CN" altLang="en-US" sz="600" dirty="0">
                  <a:latin typeface="Microsoft YaHei" panose="020B0503020204020204" pitchFamily="34" charset="-122"/>
                  <a:ea typeface="Microsoft YaHei" panose="020B0503020204020204" pitchFamily="34" charset="-122"/>
                </a:endParaRPr>
              </a:p>
            </p:txBody>
          </p:sp>
        </p:grpSp>
        <p:sp>
          <p:nvSpPr>
            <p:cNvPr id="28" name="文本框 27">
              <a:extLst>
                <a:ext uri="{FF2B5EF4-FFF2-40B4-BE49-F238E27FC236}">
                  <a16:creationId xmlns:a16="http://schemas.microsoft.com/office/drawing/2014/main" id="{6B54FA8C-3086-A1EE-09B0-F42E25550856}"/>
                </a:ext>
              </a:extLst>
            </p:cNvPr>
            <p:cNvSpPr txBox="1"/>
            <p:nvPr/>
          </p:nvSpPr>
          <p:spPr>
            <a:xfrm rot="18380196">
              <a:off x="7915731" y="6169317"/>
              <a:ext cx="325730" cy="261610"/>
            </a:xfrm>
            <a:prstGeom prst="rect">
              <a:avLst/>
            </a:prstGeom>
            <a:noFill/>
          </p:spPr>
          <p:txBody>
            <a:bodyPr wrap="none" rtlCol="0">
              <a:spAutoFit/>
            </a:bodyPr>
            <a:lstStyle/>
            <a:p>
              <a:r>
                <a:rPr kumimoji="1" lang="en-US" altLang="zh-CN" sz="1100" dirty="0"/>
                <a:t>…</a:t>
              </a:r>
              <a:endParaRPr kumimoji="1" lang="zh-CN" altLang="en-US" sz="1100" dirty="0"/>
            </a:p>
          </p:txBody>
        </p:sp>
      </p:grpSp>
    </p:spTree>
    <p:extLst>
      <p:ext uri="{BB962C8B-B14F-4D97-AF65-F5344CB8AC3E}">
        <p14:creationId xmlns:p14="http://schemas.microsoft.com/office/powerpoint/2010/main" val="789269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nodeType="click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blinds(horizontal)">
                                      <p:cBhvr>
                                        <p:cTn id="99" dur="500"/>
                                        <p:tgtEl>
                                          <p:spTgt spid="31"/>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79"/>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P spid="20" grpId="0" animBg="1"/>
      <p:bldP spid="21" grpId="0" animBg="1"/>
      <p:bldP spid="29" grpId="0" animBg="1"/>
      <p:bldP spid="35" grpId="0" animBg="1"/>
      <p:bldP spid="36" grpId="0" animBg="1"/>
      <p:bldP spid="40" grpId="0" animBg="1"/>
      <p:bldP spid="41" grpId="0" animBg="1"/>
      <p:bldP spid="42" grpId="0" animBg="1"/>
      <p:bldP spid="44" grpId="0" animBg="1"/>
      <p:bldP spid="46" grpId="0" animBg="1"/>
      <p:bldP spid="56" grpId="0" animBg="1"/>
      <p:bldP spid="57" grpId="0" animBg="1"/>
      <p:bldP spid="58" grpId="0" animBg="1"/>
      <p:bldP spid="59" grpId="0" animBg="1"/>
      <p:bldP spid="79" grpId="0" animBg="1"/>
      <p:bldP spid="106" grpId="0" animBg="1"/>
      <p:bldP spid="108"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殘差網絡（</a:t>
            </a:r>
            <a:r>
              <a:rPr lang="en-US" altLang="zh-CN" dirty="0" err="1"/>
              <a:t>ResNet</a:t>
            </a:r>
            <a:r>
              <a:rPr lang="zh-CN" altLang="en-US" dirty="0"/>
              <a:t>）</a:t>
            </a:r>
          </a:p>
        </p:txBody>
      </p:sp>
      <p:pic>
        <p:nvPicPr>
          <p:cNvPr id="4" name="图片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7095" y="348342"/>
            <a:ext cx="1314995" cy="6326777"/>
          </a:xfrm>
          <a:prstGeom prst="rect">
            <a:avLst/>
          </a:prstGeom>
          <a:noFill/>
        </p:spPr>
      </p:pic>
      <p:sp>
        <p:nvSpPr>
          <p:cNvPr id="5" name="文本框 4"/>
          <p:cNvSpPr txBox="1"/>
          <p:nvPr/>
        </p:nvSpPr>
        <p:spPr>
          <a:xfrm>
            <a:off x="3953694" y="272126"/>
            <a:ext cx="928823"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輸入</a:t>
            </a:r>
            <a:r>
              <a:rPr kumimoji="0" lang="en-US" altLang="zh-CN"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224×224×3</a:t>
            </a:r>
            <a:r>
              <a:rPr kumimoji="0" lang="en-US" altLang="zh-CN" sz="1400" b="0" i="1"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 </a:t>
            </a:r>
            <a:endParaRPr kumimoji="0" lang="zh-CN" altLang="en-US" sz="1400" b="0" i="1"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endParaRPr>
          </a:p>
        </p:txBody>
      </p:sp>
      <p:sp>
        <p:nvSpPr>
          <p:cNvPr id="6" name="文本框 5"/>
          <p:cNvSpPr txBox="1"/>
          <p:nvPr/>
        </p:nvSpPr>
        <p:spPr>
          <a:xfrm>
            <a:off x="6119954" y="6461584"/>
            <a:ext cx="890445"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輸出：</a:t>
            </a:r>
            <a:r>
              <a:rPr kumimoji="0" lang="en-US" altLang="zh-CN" sz="1400" b="0" i="0"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1000</a:t>
            </a:r>
            <a:r>
              <a:rPr kumimoji="0" lang="en-US" altLang="zh-CN" sz="1400" b="0" i="1"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rPr>
              <a:t> </a:t>
            </a:r>
            <a:endParaRPr kumimoji="0" lang="zh-CN" altLang="en-US" sz="1400" b="0" i="1" u="none" strike="noStrike" kern="1200" cap="none" spc="0" normalizeH="0" baseline="0" noProof="0" dirty="0">
              <a:ln>
                <a:solidFill>
                  <a:srgbClr val="00B050"/>
                </a:solidFill>
              </a:ln>
              <a:solidFill>
                <a:srgbClr val="D34817"/>
              </a:solidFill>
              <a:effectLst/>
              <a:uLnTx/>
              <a:uFillTx/>
              <a:latin typeface="Perpetua"/>
              <a:ea typeface="宋体" panose="02010600030101010101" pitchFamily="2" charset="-122"/>
              <a:cs typeface="+mn-cs"/>
            </a:endParaRPr>
          </a:p>
        </p:txBody>
      </p:sp>
      <p:sp>
        <p:nvSpPr>
          <p:cNvPr id="7" name="文本框 233"/>
          <p:cNvSpPr txBox="1"/>
          <p:nvPr/>
        </p:nvSpPr>
        <p:spPr>
          <a:xfrm>
            <a:off x="7741193" y="348342"/>
            <a:ext cx="1873069"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64</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個</a:t>
            </a: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en-US"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捲積核，步長爲</a:t>
            </a: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，填充爲</a:t>
            </a:r>
            <a:r>
              <a:rPr kumimoji="0" 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8" name="直接箭头连接符 7"/>
          <p:cNvCxnSpPr/>
          <p:nvPr/>
        </p:nvCxnSpPr>
        <p:spPr>
          <a:xfrm>
            <a:off x="6113417" y="456064"/>
            <a:ext cx="1627776" cy="1077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233"/>
          <p:cNvSpPr txBox="1"/>
          <p:nvPr/>
        </p:nvSpPr>
        <p:spPr>
          <a:xfrm>
            <a:off x="7741192" y="1139369"/>
            <a:ext cx="1725025"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最大池化，步長爲</a:t>
            </a:r>
            <a:r>
              <a:rPr kumimoji="0" lang="en-US" altLang="zh-CN"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6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0" lang="zh-CN" altLang="zh-CN" sz="20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17" name="直接箭头连接符 16"/>
          <p:cNvCxnSpPr/>
          <p:nvPr/>
        </p:nvCxnSpPr>
        <p:spPr>
          <a:xfrm>
            <a:off x="5773055" y="637490"/>
            <a:ext cx="1968137" cy="6792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979214" y="674526"/>
            <a:ext cx="1412876" cy="1083153"/>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21" name="文本框 233"/>
          <p:cNvSpPr txBox="1"/>
          <p:nvPr/>
        </p:nvSpPr>
        <p:spPr>
          <a:xfrm>
            <a:off x="2342606" y="1611853"/>
            <a:ext cx="1550125" cy="39334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600" b="1" i="0" u="none" strike="noStrike" kern="1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個殘差模塊</a:t>
            </a:r>
            <a:endParaRPr kumimoji="0" lang="zh-CN" altLang="zh-CN" sz="2000" b="1" i="0" u="none" strike="noStrike" kern="1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22" name="直接箭头连接符 21"/>
          <p:cNvCxnSpPr>
            <a:cxnSpLocks/>
            <a:endCxn id="21" idx="3"/>
          </p:cNvCxnSpPr>
          <p:nvPr/>
        </p:nvCxnSpPr>
        <p:spPr>
          <a:xfrm flipH="1">
            <a:off x="3892731" y="1176425"/>
            <a:ext cx="1058093" cy="63209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33"/>
          <p:cNvSpPr txBox="1"/>
          <p:nvPr/>
        </p:nvSpPr>
        <p:spPr>
          <a:xfrm>
            <a:off x="2342606" y="2042249"/>
            <a:ext cx="1962057" cy="59394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64</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個</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捲積</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核，步長爲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，填充爲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30" name="直接箭头连接符 29"/>
          <p:cNvCxnSpPr>
            <a:endCxn id="29" idx="3"/>
          </p:cNvCxnSpPr>
          <p:nvPr/>
        </p:nvCxnSpPr>
        <p:spPr>
          <a:xfrm flipH="1">
            <a:off x="4304663" y="1524645"/>
            <a:ext cx="835162" cy="8145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5002027" y="1931934"/>
            <a:ext cx="1412876" cy="1237986"/>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36" name="文本框 233"/>
          <p:cNvSpPr txBox="1"/>
          <p:nvPr/>
        </p:nvSpPr>
        <p:spPr>
          <a:xfrm>
            <a:off x="7741191" y="2246126"/>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128</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個</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捲積</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核，步長爲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，填充爲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37" name="直接箭头连接符 36"/>
          <p:cNvCxnSpPr/>
          <p:nvPr/>
        </p:nvCxnSpPr>
        <p:spPr>
          <a:xfrm>
            <a:off x="6006560" y="4689513"/>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5002027" y="3347440"/>
            <a:ext cx="1412876" cy="1929954"/>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41" name="文本框 233"/>
          <p:cNvSpPr txBox="1"/>
          <p:nvPr/>
        </p:nvSpPr>
        <p:spPr>
          <a:xfrm>
            <a:off x="7784734" y="4676501"/>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256</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個</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捲積</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核，步長爲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，填充爲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42" name="矩形 41"/>
          <p:cNvSpPr/>
          <p:nvPr/>
        </p:nvSpPr>
        <p:spPr>
          <a:xfrm>
            <a:off x="5028154" y="5454914"/>
            <a:ext cx="1412876" cy="881651"/>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cxnSp>
        <p:nvCxnSpPr>
          <p:cNvPr id="43" name="直接箭头连接符 42"/>
          <p:cNvCxnSpPr/>
          <p:nvPr/>
        </p:nvCxnSpPr>
        <p:spPr>
          <a:xfrm>
            <a:off x="6006560" y="5528549"/>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233"/>
          <p:cNvSpPr txBox="1"/>
          <p:nvPr/>
        </p:nvSpPr>
        <p:spPr>
          <a:xfrm>
            <a:off x="7770359" y="5518001"/>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512</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個</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捲積</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核，步長爲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，填充爲</a:t>
            </a:r>
            <a:r>
              <a:rPr kumimoji="0" lang="en-US"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1</a:t>
            </a:r>
            <a:r>
              <a:rPr kumimoji="0" lang="zh-CN" altLang="zh-CN"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45" name="直接箭头连接符 44"/>
          <p:cNvCxnSpPr/>
          <p:nvPr/>
        </p:nvCxnSpPr>
        <p:spPr>
          <a:xfrm>
            <a:off x="5986781" y="2223156"/>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233"/>
          <p:cNvSpPr txBox="1"/>
          <p:nvPr/>
        </p:nvSpPr>
        <p:spPr>
          <a:xfrm>
            <a:off x="7187335" y="3179550"/>
            <a:ext cx="711339" cy="40320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虛綫</a:t>
            </a:r>
            <a:endParaRPr kumimoji="0" lang="zh-CN" altLang="zh-CN" sz="2400" b="1" i="0" u="none" strike="noStrike" kern="100" cap="none" spc="0" normalizeH="0" baseline="0" noProof="0" dirty="0">
              <a:ln>
                <a:noFill/>
              </a:ln>
              <a:solidFill>
                <a:srgbClr val="00B0F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47" name="直接箭头连接符 46"/>
          <p:cNvCxnSpPr/>
          <p:nvPr/>
        </p:nvCxnSpPr>
        <p:spPr>
          <a:xfrm flipH="1">
            <a:off x="6261463" y="3576697"/>
            <a:ext cx="1082908" cy="1825716"/>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46" idx="1"/>
          </p:cNvCxnSpPr>
          <p:nvPr/>
        </p:nvCxnSpPr>
        <p:spPr>
          <a:xfrm flipH="1" flipV="1">
            <a:off x="6261463" y="3251424"/>
            <a:ext cx="925872" cy="1297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flipV="1">
            <a:off x="6261463" y="2026997"/>
            <a:ext cx="1040314" cy="117339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6" name="椭圆 55"/>
          <p:cNvSpPr/>
          <p:nvPr/>
        </p:nvSpPr>
        <p:spPr>
          <a:xfrm>
            <a:off x="5063694" y="1766335"/>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椭圆 56"/>
          <p:cNvSpPr/>
          <p:nvPr/>
        </p:nvSpPr>
        <p:spPr>
          <a:xfrm>
            <a:off x="5100542" y="3160856"/>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椭圆 57"/>
          <p:cNvSpPr/>
          <p:nvPr/>
        </p:nvSpPr>
        <p:spPr>
          <a:xfrm>
            <a:off x="5100542" y="5259544"/>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文本框 233"/>
          <p:cNvSpPr txBox="1"/>
          <p:nvPr/>
        </p:nvSpPr>
        <p:spPr>
          <a:xfrm>
            <a:off x="2063931" y="3215284"/>
            <a:ext cx="1828801" cy="1165127"/>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B81E1"/>
                </a:solidFill>
                <a:effectLst/>
                <a:uLnTx/>
                <a:uFillTx/>
                <a:latin typeface="Perpetua"/>
                <a:ea typeface="宋体" panose="02010600030101010101" pitchFamily="2" charset="-122"/>
                <a:cs typeface="+mn-cs"/>
              </a:rPr>
              <a:t>步長爲</a:t>
            </a:r>
            <a:r>
              <a:rPr kumimoji="0" lang="en-US" altLang="zh-CN" sz="1600" b="1" i="0" u="none" strike="noStrike" kern="1200" cap="none" spc="0" normalizeH="0" baseline="0" noProof="0" dirty="0">
                <a:ln>
                  <a:noFill/>
                </a:ln>
                <a:solidFill>
                  <a:srgbClr val="FB81E1"/>
                </a:solidFill>
                <a:effectLst/>
                <a:uLnTx/>
                <a:uFillTx/>
                <a:latin typeface="Perpetua"/>
                <a:ea typeface="宋体" panose="02010600030101010101" pitchFamily="2" charset="-122"/>
                <a:cs typeface="+mn-cs"/>
              </a:rPr>
              <a:t>2</a:t>
            </a:r>
            <a:r>
              <a:rPr kumimoji="0" lang="zh-CN" altLang="en-US" sz="1600" b="1" i="0" u="none" strike="noStrike" kern="1200" cap="none" spc="0" normalizeH="0" baseline="0" noProof="0" dirty="0">
                <a:ln>
                  <a:noFill/>
                </a:ln>
                <a:solidFill>
                  <a:srgbClr val="FB81E1"/>
                </a:solidFill>
                <a:effectLst/>
                <a:uLnTx/>
                <a:uFillTx/>
                <a:latin typeface="Perpetua"/>
                <a:ea typeface="宋体" panose="02010600030101010101" pitchFamily="2" charset="-122"/>
                <a:cs typeface="+mn-cs"/>
              </a:rPr>
              <a:t>，</a:t>
            </a:r>
            <a:r>
              <a:rPr kumimoji="0" lang="zh-CN" altLang="en-US" sz="1600" b="1" i="0" u="none" strike="noStrike" kern="100" cap="none" spc="0" normalizeH="0" baseline="0" noProof="0" dirty="0">
                <a:ln>
                  <a:noFill/>
                </a:ln>
                <a:solidFill>
                  <a:srgbClr val="FB81E1"/>
                </a:solidFill>
                <a:effectLst/>
                <a:uLnTx/>
                <a:uFillTx/>
                <a:latin typeface="宋体" panose="02010600030101010101" pitchFamily="2" charset="-122"/>
                <a:ea typeface="宋体" panose="02010600030101010101" pitchFamily="2" charset="-122"/>
                <a:cs typeface="Times New Roman" panose="02020603050405020304" pitchFamily="18" charset="0"/>
              </a:rPr>
              <a:t>長寬各减一半，通道數增加了一倍。恒等映射需要等維處理。</a:t>
            </a:r>
            <a:endParaRPr kumimoji="0" lang="zh-CN" altLang="zh-CN" sz="1800" b="1" i="0" u="none" strike="noStrike" kern="100" cap="none" spc="0" normalizeH="0" baseline="0" noProof="0" dirty="0">
              <a:ln>
                <a:noFill/>
              </a:ln>
              <a:solidFill>
                <a:srgbClr val="FB81E1"/>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60" name="直接箭头连接符 59"/>
          <p:cNvCxnSpPr>
            <a:stCxn id="58" idx="2"/>
          </p:cNvCxnSpPr>
          <p:nvPr/>
        </p:nvCxnSpPr>
        <p:spPr>
          <a:xfrm flipH="1" flipV="1">
            <a:off x="3892731" y="3999227"/>
            <a:ext cx="1207811" cy="1360525"/>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59" idx="3"/>
          </p:cNvCxnSpPr>
          <p:nvPr/>
        </p:nvCxnSpPr>
        <p:spPr>
          <a:xfrm flipH="1">
            <a:off x="3892732" y="3285110"/>
            <a:ext cx="1152156" cy="512738"/>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H="1">
            <a:off x="3892731" y="1905859"/>
            <a:ext cx="1058097" cy="1579072"/>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233"/>
          <p:cNvSpPr txBox="1"/>
          <p:nvPr/>
        </p:nvSpPr>
        <p:spPr>
          <a:xfrm>
            <a:off x="3006185" y="5746366"/>
            <a:ext cx="1477079" cy="34975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全域平均池化</a:t>
            </a:r>
            <a:endParaRPr kumimoji="0" lang="zh-CN" altLang="zh-CN" sz="1800" b="1" i="0" u="none" strike="noStrike" kern="1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cxnSp>
        <p:nvCxnSpPr>
          <p:cNvPr id="80" name="直接箭头连接符 79"/>
          <p:cNvCxnSpPr/>
          <p:nvPr/>
        </p:nvCxnSpPr>
        <p:spPr>
          <a:xfrm>
            <a:off x="4391189" y="6054061"/>
            <a:ext cx="1008127" cy="3562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8" name="椭圆 107"/>
          <p:cNvSpPr/>
          <p:nvPr/>
        </p:nvSpPr>
        <p:spPr>
          <a:xfrm>
            <a:off x="4981936" y="2988136"/>
            <a:ext cx="1256714" cy="611405"/>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solidFill>
                  <a:srgbClr val="FF0000"/>
                </a:solid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Picture 2">
            <a:extLst>
              <a:ext uri="{FF2B5EF4-FFF2-40B4-BE49-F238E27FC236}">
                <a16:creationId xmlns:a16="http://schemas.microsoft.com/office/drawing/2014/main" id="{13A3841E-73A8-56B8-66B3-4D15D7C475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123456" y="2664250"/>
            <a:ext cx="5497651" cy="2267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2746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小結</a:t>
            </a:r>
          </a:p>
        </p:txBody>
      </p:sp>
      <p:sp>
        <p:nvSpPr>
          <p:cNvPr id="3" name="内容占位符 2"/>
          <p:cNvSpPr>
            <a:spLocks noGrp="1"/>
          </p:cNvSpPr>
          <p:nvPr>
            <p:ph sz="quarter" idx="1"/>
          </p:nvPr>
        </p:nvSpPr>
        <p:spPr>
          <a:xfrm>
            <a:off x="1219200" y="1447800"/>
            <a:ext cx="10363200" cy="4926874"/>
          </a:xfrm>
        </p:spPr>
        <p:txBody>
          <a:bodyPr>
            <a:normAutofit lnSpcReduction="10000"/>
          </a:bodyPr>
          <a:lstStyle/>
          <a:p>
            <a:r>
              <a:rPr lang="zh-CN" altLang="en-US" dirty="0"/>
              <a:t>梯度消失問題</a:t>
            </a:r>
            <a:endParaRPr lang="en-US" altLang="zh-CN" dirty="0"/>
          </a:p>
          <a:p>
            <a:r>
              <a:rPr lang="en-US" altLang="zh-CN" dirty="0" err="1"/>
              <a:t>ReLU</a:t>
            </a:r>
            <a:r>
              <a:rPr lang="zh-CN" altLang="en-US" dirty="0"/>
              <a:t>激活函數</a:t>
            </a:r>
            <a:endParaRPr lang="en-US" altLang="zh-CN" dirty="0"/>
          </a:p>
          <a:p>
            <a:r>
              <a:rPr lang="en-US" altLang="zh-CN" dirty="0" err="1"/>
              <a:t>GooLeNet</a:t>
            </a:r>
            <a:endParaRPr lang="en-US" altLang="zh-CN" dirty="0"/>
          </a:p>
          <a:p>
            <a:pPr lvl="1"/>
            <a:r>
              <a:rPr lang="zh-CN" altLang="en-US" dirty="0"/>
              <a:t>三個輸出</a:t>
            </a:r>
            <a:endParaRPr lang="en-US" altLang="zh-CN" dirty="0"/>
          </a:p>
          <a:p>
            <a:pPr lvl="1"/>
            <a:r>
              <a:rPr lang="en-US" altLang="zh-CN" dirty="0"/>
              <a:t>Inception</a:t>
            </a:r>
            <a:r>
              <a:rPr lang="zh-CN" altLang="en-US" dirty="0"/>
              <a:t>模塊</a:t>
            </a:r>
            <a:endParaRPr lang="en-US" altLang="zh-CN" dirty="0"/>
          </a:p>
          <a:p>
            <a:pPr lvl="2"/>
            <a:r>
              <a:rPr lang="zh-CN" altLang="en-US" dirty="0"/>
              <a:t>同時使用不同大小的捲積核</a:t>
            </a:r>
            <a:endParaRPr lang="en-US" altLang="zh-CN" dirty="0"/>
          </a:p>
          <a:p>
            <a:pPr lvl="2"/>
            <a:r>
              <a:rPr lang="en-US" altLang="zh-CN" dirty="0"/>
              <a:t>1×1</a:t>
            </a:r>
            <a:r>
              <a:rPr lang="zh-CN" altLang="en-US" dirty="0"/>
              <a:t>捲積降維</a:t>
            </a:r>
            <a:endParaRPr lang="en-US" altLang="zh-CN" dirty="0"/>
          </a:p>
          <a:p>
            <a:r>
              <a:rPr lang="zh-CN" altLang="en-US" dirty="0"/>
              <a:t>殘差網絡（</a:t>
            </a:r>
            <a:r>
              <a:rPr lang="en-US" altLang="zh-CN" dirty="0" err="1"/>
              <a:t>ResNet</a:t>
            </a:r>
            <a:r>
              <a:rPr lang="zh-CN" altLang="en-US" dirty="0"/>
              <a:t>）</a:t>
            </a:r>
            <a:endParaRPr lang="en-US" altLang="zh-CN" dirty="0"/>
          </a:p>
          <a:p>
            <a:pPr lvl="1"/>
            <a:r>
              <a:rPr lang="zh-CN" altLang="en-US" dirty="0"/>
              <a:t>退化問題</a:t>
            </a:r>
            <a:endParaRPr lang="en-US" altLang="zh-CN" dirty="0"/>
          </a:p>
          <a:p>
            <a:pPr lvl="1"/>
            <a:r>
              <a:rPr lang="zh-CN" altLang="en-US" dirty="0"/>
              <a:t>殘差模塊</a:t>
            </a:r>
            <a:endParaRPr lang="en-US" altLang="zh-CN" dirty="0"/>
          </a:p>
          <a:p>
            <a:pPr lvl="2"/>
            <a:r>
              <a:rPr lang="zh-CN" altLang="en-US" dirty="0"/>
              <a:t>恒等映射</a:t>
            </a:r>
            <a:endParaRPr lang="en-US" altLang="zh-CN" dirty="0"/>
          </a:p>
          <a:p>
            <a:pPr lvl="2"/>
            <a:r>
              <a:rPr lang="zh-CN" altLang="en-US" dirty="0"/>
              <a:t>學習殘差</a:t>
            </a:r>
            <a:endParaRPr lang="en-US" altLang="zh-CN" dirty="0"/>
          </a:p>
          <a:p>
            <a:pPr lvl="1"/>
            <a:endParaRPr lang="zh-CN" altLang="en-US" dirty="0"/>
          </a:p>
        </p:txBody>
      </p:sp>
    </p:spTree>
    <p:extLst>
      <p:ext uri="{BB962C8B-B14F-4D97-AF65-F5344CB8AC3E}">
        <p14:creationId xmlns:p14="http://schemas.microsoft.com/office/powerpoint/2010/main" val="35503118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2.6 </a:t>
            </a:r>
            <a:r>
              <a:rPr lang="zh-CN" altLang="en-US" dirty="0"/>
              <a:t>過擬合問題</a:t>
            </a:r>
          </a:p>
        </p:txBody>
      </p:sp>
      <p:sp>
        <p:nvSpPr>
          <p:cNvPr id="3" name="内容占位符 2"/>
          <p:cNvSpPr>
            <a:spLocks noGrp="1"/>
          </p:cNvSpPr>
          <p:nvPr>
            <p:ph sz="quarter" idx="1"/>
          </p:nvPr>
        </p:nvSpPr>
        <p:spPr>
          <a:xfrm>
            <a:off x="1219200" y="1804852"/>
            <a:ext cx="10363200" cy="4572000"/>
          </a:xfrm>
        </p:spPr>
        <p:txBody>
          <a:bodyPr/>
          <a:lstStyle/>
          <a:p>
            <a:r>
              <a:rPr lang="zh-CN" altLang="en-US" dirty="0"/>
              <a:t>神經網絡遇到的兩大問題</a:t>
            </a:r>
            <a:endParaRPr lang="en-US" altLang="zh-CN" dirty="0"/>
          </a:p>
          <a:p>
            <a:pPr lvl="1"/>
            <a:r>
              <a:rPr lang="zh-CN" altLang="en-US" dirty="0"/>
              <a:t>梯度消失問題</a:t>
            </a:r>
            <a:endParaRPr lang="en-US" altLang="zh-CN" dirty="0"/>
          </a:p>
          <a:p>
            <a:pPr lvl="1"/>
            <a:r>
              <a:rPr lang="zh-CN" altLang="en-US" dirty="0"/>
              <a:t>過擬合問題</a:t>
            </a:r>
            <a:endParaRPr lang="en-US" altLang="zh-CN" dirty="0"/>
          </a:p>
        </p:txBody>
      </p:sp>
    </p:spTree>
    <p:extLst>
      <p:ext uri="{BB962C8B-B14F-4D97-AF65-F5344CB8AC3E}">
        <p14:creationId xmlns:p14="http://schemas.microsoft.com/office/powerpoint/2010/main" val="183900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什麽是過擬合問題？</a:t>
            </a:r>
          </a:p>
        </p:txBody>
      </p:sp>
      <p:sp>
        <p:nvSpPr>
          <p:cNvPr id="5" name="任意多边形 4"/>
          <p:cNvSpPr/>
          <p:nvPr/>
        </p:nvSpPr>
        <p:spPr>
          <a:xfrm>
            <a:off x="2384715" y="2980458"/>
            <a:ext cx="5514384" cy="2400360"/>
          </a:xfrm>
          <a:custGeom>
            <a:avLst/>
            <a:gdLst>
              <a:gd name="connsiteX0" fmla="*/ 0 w 3871913"/>
              <a:gd name="connsiteY0" fmla="*/ 1504950 h 1504950"/>
              <a:gd name="connsiteX1" fmla="*/ 323850 w 3871913"/>
              <a:gd name="connsiteY1" fmla="*/ 947737 h 1504950"/>
              <a:gd name="connsiteX2" fmla="*/ 809625 w 3871913"/>
              <a:gd name="connsiteY2" fmla="*/ 466725 h 1504950"/>
              <a:gd name="connsiteX3" fmla="*/ 1319213 w 3871913"/>
              <a:gd name="connsiteY3" fmla="*/ 242887 h 1504950"/>
              <a:gd name="connsiteX4" fmla="*/ 1995488 w 3871913"/>
              <a:gd name="connsiteY4" fmla="*/ 61912 h 1504950"/>
              <a:gd name="connsiteX5" fmla="*/ 2828925 w 3871913"/>
              <a:gd name="connsiteY5" fmla="*/ 14287 h 1504950"/>
              <a:gd name="connsiteX6" fmla="*/ 3871913 w 3871913"/>
              <a:gd name="connsiteY6" fmla="*/ 0 h 1504950"/>
              <a:gd name="connsiteX0" fmla="*/ 0 w 3883842"/>
              <a:gd name="connsiteY0" fmla="*/ 1548687 h 1548687"/>
              <a:gd name="connsiteX1" fmla="*/ 323850 w 3883842"/>
              <a:gd name="connsiteY1" fmla="*/ 991474 h 1548687"/>
              <a:gd name="connsiteX2" fmla="*/ 809625 w 3883842"/>
              <a:gd name="connsiteY2" fmla="*/ 510462 h 1548687"/>
              <a:gd name="connsiteX3" fmla="*/ 1319213 w 3883842"/>
              <a:gd name="connsiteY3" fmla="*/ 286624 h 1548687"/>
              <a:gd name="connsiteX4" fmla="*/ 1995488 w 3883842"/>
              <a:gd name="connsiteY4" fmla="*/ 105649 h 1548687"/>
              <a:gd name="connsiteX5" fmla="*/ 2828925 w 3883842"/>
              <a:gd name="connsiteY5" fmla="*/ 58024 h 1548687"/>
              <a:gd name="connsiteX6" fmla="*/ 3883842 w 3883842"/>
              <a:gd name="connsiteY6" fmla="*/ 0 h 1548687"/>
              <a:gd name="connsiteX0" fmla="*/ 0 w 3883842"/>
              <a:gd name="connsiteY0" fmla="*/ 1548687 h 1548687"/>
              <a:gd name="connsiteX1" fmla="*/ 323850 w 3883842"/>
              <a:gd name="connsiteY1" fmla="*/ 991474 h 1548687"/>
              <a:gd name="connsiteX2" fmla="*/ 809625 w 3883842"/>
              <a:gd name="connsiteY2" fmla="*/ 510462 h 1548687"/>
              <a:gd name="connsiteX3" fmla="*/ 1319213 w 3883842"/>
              <a:gd name="connsiteY3" fmla="*/ 286624 h 1548687"/>
              <a:gd name="connsiteX4" fmla="*/ 1995488 w 3883842"/>
              <a:gd name="connsiteY4" fmla="*/ 105649 h 1548687"/>
              <a:gd name="connsiteX5" fmla="*/ 2828926 w 3883842"/>
              <a:gd name="connsiteY5" fmla="*/ 34168 h 1548687"/>
              <a:gd name="connsiteX6" fmla="*/ 3883842 w 3883842"/>
              <a:gd name="connsiteY6" fmla="*/ 0 h 154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842" h="1548687">
                <a:moveTo>
                  <a:pt x="0" y="1548687"/>
                </a:moveTo>
                <a:cubicBezTo>
                  <a:pt x="94456" y="1356599"/>
                  <a:pt x="188913" y="1164511"/>
                  <a:pt x="323850" y="991474"/>
                </a:cubicBezTo>
                <a:cubicBezTo>
                  <a:pt x="458787" y="818437"/>
                  <a:pt x="643731" y="627937"/>
                  <a:pt x="809625" y="510462"/>
                </a:cubicBezTo>
                <a:cubicBezTo>
                  <a:pt x="975519" y="392987"/>
                  <a:pt x="1121569" y="354093"/>
                  <a:pt x="1319213" y="286624"/>
                </a:cubicBezTo>
                <a:cubicBezTo>
                  <a:pt x="1516857" y="219155"/>
                  <a:pt x="1743869" y="147725"/>
                  <a:pt x="1995488" y="105649"/>
                </a:cubicBezTo>
                <a:cubicBezTo>
                  <a:pt x="2247107" y="63573"/>
                  <a:pt x="2514200" y="51776"/>
                  <a:pt x="2828926" y="34168"/>
                </a:cubicBezTo>
                <a:cubicBezTo>
                  <a:pt x="3143652" y="16560"/>
                  <a:pt x="3518717" y="1984"/>
                  <a:pt x="3883842" y="0"/>
                </a:cubicBezTo>
              </a:path>
            </a:pathLst>
          </a:cu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Perpetua"/>
              <a:ea typeface="宋体" panose="02010600030101010101" pitchFamily="2" charset="-122"/>
              <a:cs typeface="+mn-cs"/>
            </a:endParaRPr>
          </a:p>
        </p:txBody>
      </p:sp>
      <p:sp>
        <p:nvSpPr>
          <p:cNvPr id="6" name="任意多边形 5"/>
          <p:cNvSpPr/>
          <p:nvPr/>
        </p:nvSpPr>
        <p:spPr>
          <a:xfrm>
            <a:off x="2249220" y="2479872"/>
            <a:ext cx="5815059" cy="2940176"/>
          </a:xfrm>
          <a:custGeom>
            <a:avLst/>
            <a:gdLst>
              <a:gd name="connsiteX0" fmla="*/ 0 w 3881438"/>
              <a:gd name="connsiteY0" fmla="*/ 1462087 h 1609754"/>
              <a:gd name="connsiteX1" fmla="*/ 180975 w 3881438"/>
              <a:gd name="connsiteY1" fmla="*/ 1609725 h 1609754"/>
              <a:gd name="connsiteX2" fmla="*/ 481013 w 3881438"/>
              <a:gd name="connsiteY2" fmla="*/ 1471612 h 1609754"/>
              <a:gd name="connsiteX3" fmla="*/ 857250 w 3881438"/>
              <a:gd name="connsiteY3" fmla="*/ 1147762 h 1609754"/>
              <a:gd name="connsiteX4" fmla="*/ 700088 w 3881438"/>
              <a:gd name="connsiteY4" fmla="*/ 914400 h 1609754"/>
              <a:gd name="connsiteX5" fmla="*/ 742950 w 3881438"/>
              <a:gd name="connsiteY5" fmla="*/ 547687 h 1609754"/>
              <a:gd name="connsiteX6" fmla="*/ 1162050 w 3881438"/>
              <a:gd name="connsiteY6" fmla="*/ 428625 h 1609754"/>
              <a:gd name="connsiteX7" fmla="*/ 1647825 w 3881438"/>
              <a:gd name="connsiteY7" fmla="*/ 614362 h 1609754"/>
              <a:gd name="connsiteX8" fmla="*/ 1857375 w 3881438"/>
              <a:gd name="connsiteY8" fmla="*/ 409575 h 1609754"/>
              <a:gd name="connsiteX9" fmla="*/ 2214563 w 3881438"/>
              <a:gd name="connsiteY9" fmla="*/ 157162 h 1609754"/>
              <a:gd name="connsiteX10" fmla="*/ 2700338 w 3881438"/>
              <a:gd name="connsiteY10" fmla="*/ 295275 h 1609754"/>
              <a:gd name="connsiteX11" fmla="*/ 3305175 w 3881438"/>
              <a:gd name="connsiteY11" fmla="*/ 409575 h 1609754"/>
              <a:gd name="connsiteX12" fmla="*/ 3881438 w 3881438"/>
              <a:gd name="connsiteY12" fmla="*/ 0 h 1609754"/>
              <a:gd name="connsiteX0" fmla="*/ 0 w 3881438"/>
              <a:gd name="connsiteY0" fmla="*/ 1462087 h 1609747"/>
              <a:gd name="connsiteX1" fmla="*/ 180975 w 3881438"/>
              <a:gd name="connsiteY1" fmla="*/ 1609725 h 1609747"/>
              <a:gd name="connsiteX2" fmla="*/ 481013 w 3881438"/>
              <a:gd name="connsiteY2" fmla="*/ 1471612 h 1609747"/>
              <a:gd name="connsiteX3" fmla="*/ 776281 w 3881438"/>
              <a:gd name="connsiteY3" fmla="*/ 1262064 h 1609747"/>
              <a:gd name="connsiteX4" fmla="*/ 700088 w 3881438"/>
              <a:gd name="connsiteY4" fmla="*/ 914400 h 1609747"/>
              <a:gd name="connsiteX5" fmla="*/ 742950 w 3881438"/>
              <a:gd name="connsiteY5" fmla="*/ 547687 h 1609747"/>
              <a:gd name="connsiteX6" fmla="*/ 1162050 w 3881438"/>
              <a:gd name="connsiteY6" fmla="*/ 428625 h 1609747"/>
              <a:gd name="connsiteX7" fmla="*/ 1647825 w 3881438"/>
              <a:gd name="connsiteY7" fmla="*/ 614362 h 1609747"/>
              <a:gd name="connsiteX8" fmla="*/ 1857375 w 3881438"/>
              <a:gd name="connsiteY8" fmla="*/ 409575 h 1609747"/>
              <a:gd name="connsiteX9" fmla="*/ 2214563 w 3881438"/>
              <a:gd name="connsiteY9" fmla="*/ 157162 h 1609747"/>
              <a:gd name="connsiteX10" fmla="*/ 2700338 w 3881438"/>
              <a:gd name="connsiteY10" fmla="*/ 295275 h 1609747"/>
              <a:gd name="connsiteX11" fmla="*/ 3305175 w 3881438"/>
              <a:gd name="connsiteY11" fmla="*/ 409575 h 1609747"/>
              <a:gd name="connsiteX12" fmla="*/ 3881438 w 3881438"/>
              <a:gd name="connsiteY12" fmla="*/ 0 h 1609747"/>
              <a:gd name="connsiteX0" fmla="*/ 0 w 3881438"/>
              <a:gd name="connsiteY0" fmla="*/ 1462087 h 1681177"/>
              <a:gd name="connsiteX1" fmla="*/ 195264 w 3881438"/>
              <a:gd name="connsiteY1" fmla="*/ 1681164 h 1681177"/>
              <a:gd name="connsiteX2" fmla="*/ 481013 w 3881438"/>
              <a:gd name="connsiteY2" fmla="*/ 1471612 h 1681177"/>
              <a:gd name="connsiteX3" fmla="*/ 776281 w 3881438"/>
              <a:gd name="connsiteY3" fmla="*/ 1262064 h 1681177"/>
              <a:gd name="connsiteX4" fmla="*/ 700088 w 3881438"/>
              <a:gd name="connsiteY4" fmla="*/ 914400 h 1681177"/>
              <a:gd name="connsiteX5" fmla="*/ 742950 w 3881438"/>
              <a:gd name="connsiteY5" fmla="*/ 547687 h 1681177"/>
              <a:gd name="connsiteX6" fmla="*/ 1162050 w 3881438"/>
              <a:gd name="connsiteY6" fmla="*/ 428625 h 1681177"/>
              <a:gd name="connsiteX7" fmla="*/ 1647825 w 3881438"/>
              <a:gd name="connsiteY7" fmla="*/ 614362 h 1681177"/>
              <a:gd name="connsiteX8" fmla="*/ 1857375 w 3881438"/>
              <a:gd name="connsiteY8" fmla="*/ 409575 h 1681177"/>
              <a:gd name="connsiteX9" fmla="*/ 2214563 w 3881438"/>
              <a:gd name="connsiteY9" fmla="*/ 157162 h 1681177"/>
              <a:gd name="connsiteX10" fmla="*/ 2700338 w 3881438"/>
              <a:gd name="connsiteY10" fmla="*/ 295275 h 1681177"/>
              <a:gd name="connsiteX11" fmla="*/ 3305175 w 3881438"/>
              <a:gd name="connsiteY11" fmla="*/ 409575 h 1681177"/>
              <a:gd name="connsiteX12" fmla="*/ 3881438 w 3881438"/>
              <a:gd name="connsiteY12" fmla="*/ 0 h 1681177"/>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742950 w 3881438"/>
              <a:gd name="connsiteY5" fmla="*/ 547687 h 1681180"/>
              <a:gd name="connsiteX6" fmla="*/ 1162050 w 3881438"/>
              <a:gd name="connsiteY6" fmla="*/ 428625 h 1681180"/>
              <a:gd name="connsiteX7" fmla="*/ 1647825 w 3881438"/>
              <a:gd name="connsiteY7" fmla="*/ 614362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085878 w 3881438"/>
              <a:gd name="connsiteY5" fmla="*/ 857312 h 1681180"/>
              <a:gd name="connsiteX6" fmla="*/ 1162050 w 3881438"/>
              <a:gd name="connsiteY6" fmla="*/ 428625 h 1681180"/>
              <a:gd name="connsiteX7" fmla="*/ 1647825 w 3881438"/>
              <a:gd name="connsiteY7" fmla="*/ 614362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204951 w 3881438"/>
              <a:gd name="connsiteY5" fmla="*/ 947818 h 1681180"/>
              <a:gd name="connsiteX6" fmla="*/ 1162050 w 3881438"/>
              <a:gd name="connsiteY6" fmla="*/ 428625 h 1681180"/>
              <a:gd name="connsiteX7" fmla="*/ 1647825 w 3881438"/>
              <a:gd name="connsiteY7" fmla="*/ 614362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100167 w 3881438"/>
              <a:gd name="connsiteY5" fmla="*/ 833495 h 1681180"/>
              <a:gd name="connsiteX6" fmla="*/ 1162050 w 3881438"/>
              <a:gd name="connsiteY6" fmla="*/ 428625 h 1681180"/>
              <a:gd name="connsiteX7" fmla="*/ 1647825 w 3881438"/>
              <a:gd name="connsiteY7" fmla="*/ 614362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100167 w 3881438"/>
              <a:gd name="connsiteY5" fmla="*/ 833495 h 1681180"/>
              <a:gd name="connsiteX6" fmla="*/ 1162050 w 3881438"/>
              <a:gd name="connsiteY6" fmla="*/ 428625 h 1681180"/>
              <a:gd name="connsiteX7" fmla="*/ 1547805 w 3881438"/>
              <a:gd name="connsiteY7" fmla="*/ 642943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100167 w 3881438"/>
              <a:gd name="connsiteY5" fmla="*/ 833495 h 1681180"/>
              <a:gd name="connsiteX6" fmla="*/ 1162050 w 3881438"/>
              <a:gd name="connsiteY6" fmla="*/ 428625 h 1681180"/>
              <a:gd name="connsiteX7" fmla="*/ 1547805 w 3881438"/>
              <a:gd name="connsiteY7" fmla="*/ 642943 h 1681180"/>
              <a:gd name="connsiteX8" fmla="*/ 1857375 w 3881438"/>
              <a:gd name="connsiteY8" fmla="*/ 409575 h 1681180"/>
              <a:gd name="connsiteX9" fmla="*/ 2181224 w 3881438"/>
              <a:gd name="connsiteY9" fmla="*/ 76184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100167 w 3881438"/>
              <a:gd name="connsiteY5" fmla="*/ 833495 h 1681180"/>
              <a:gd name="connsiteX6" fmla="*/ 1162050 w 3881438"/>
              <a:gd name="connsiteY6" fmla="*/ 428625 h 1681180"/>
              <a:gd name="connsiteX7" fmla="*/ 1547805 w 3881438"/>
              <a:gd name="connsiteY7" fmla="*/ 642943 h 1681180"/>
              <a:gd name="connsiteX8" fmla="*/ 1857375 w 3881438"/>
              <a:gd name="connsiteY8" fmla="*/ 409575 h 1681180"/>
              <a:gd name="connsiteX9" fmla="*/ 2181224 w 3881438"/>
              <a:gd name="connsiteY9" fmla="*/ 76184 h 1681180"/>
              <a:gd name="connsiteX10" fmla="*/ 2700338 w 3881438"/>
              <a:gd name="connsiteY10" fmla="*/ 295275 h 1681180"/>
              <a:gd name="connsiteX11" fmla="*/ 3333752 w 3881438"/>
              <a:gd name="connsiteY11" fmla="*/ 481026 h 1681180"/>
              <a:gd name="connsiteX12" fmla="*/ 3881438 w 3881438"/>
              <a:gd name="connsiteY12" fmla="*/ 0 h 1681180"/>
              <a:gd name="connsiteX0" fmla="*/ 0 w 4005273"/>
              <a:gd name="connsiteY0" fmla="*/ 1566883 h 1785976"/>
              <a:gd name="connsiteX1" fmla="*/ 195264 w 4005273"/>
              <a:gd name="connsiteY1" fmla="*/ 1785960 h 1785976"/>
              <a:gd name="connsiteX2" fmla="*/ 481013 w 4005273"/>
              <a:gd name="connsiteY2" fmla="*/ 1576408 h 1785976"/>
              <a:gd name="connsiteX3" fmla="*/ 423827 w 4005273"/>
              <a:gd name="connsiteY3" fmla="*/ 1190613 h 1785976"/>
              <a:gd name="connsiteX4" fmla="*/ 700088 w 4005273"/>
              <a:gd name="connsiteY4" fmla="*/ 1019196 h 1785976"/>
              <a:gd name="connsiteX5" fmla="*/ 1100167 w 4005273"/>
              <a:gd name="connsiteY5" fmla="*/ 938291 h 1785976"/>
              <a:gd name="connsiteX6" fmla="*/ 1162050 w 4005273"/>
              <a:gd name="connsiteY6" fmla="*/ 533421 h 1785976"/>
              <a:gd name="connsiteX7" fmla="*/ 1547805 w 4005273"/>
              <a:gd name="connsiteY7" fmla="*/ 747739 h 1785976"/>
              <a:gd name="connsiteX8" fmla="*/ 1857375 w 4005273"/>
              <a:gd name="connsiteY8" fmla="*/ 514371 h 1785976"/>
              <a:gd name="connsiteX9" fmla="*/ 2181224 w 4005273"/>
              <a:gd name="connsiteY9" fmla="*/ 180980 h 1785976"/>
              <a:gd name="connsiteX10" fmla="*/ 2700338 w 4005273"/>
              <a:gd name="connsiteY10" fmla="*/ 400071 h 1785976"/>
              <a:gd name="connsiteX11" fmla="*/ 3333752 w 4005273"/>
              <a:gd name="connsiteY11" fmla="*/ 585822 h 1785976"/>
              <a:gd name="connsiteX12" fmla="*/ 4005273 w 4005273"/>
              <a:gd name="connsiteY12" fmla="*/ 0 h 1785976"/>
              <a:gd name="connsiteX0" fmla="*/ 0 w 4014799"/>
              <a:gd name="connsiteY0" fmla="*/ 1676442 h 1789036"/>
              <a:gd name="connsiteX1" fmla="*/ 204790 w 4014799"/>
              <a:gd name="connsiteY1" fmla="*/ 1785960 h 1789036"/>
              <a:gd name="connsiteX2" fmla="*/ 490539 w 4014799"/>
              <a:gd name="connsiteY2" fmla="*/ 1576408 h 1789036"/>
              <a:gd name="connsiteX3" fmla="*/ 433353 w 4014799"/>
              <a:gd name="connsiteY3" fmla="*/ 1190613 h 1789036"/>
              <a:gd name="connsiteX4" fmla="*/ 709614 w 4014799"/>
              <a:gd name="connsiteY4" fmla="*/ 1019196 h 1789036"/>
              <a:gd name="connsiteX5" fmla="*/ 1109693 w 4014799"/>
              <a:gd name="connsiteY5" fmla="*/ 938291 h 1789036"/>
              <a:gd name="connsiteX6" fmla="*/ 1171576 w 4014799"/>
              <a:gd name="connsiteY6" fmla="*/ 533421 h 1789036"/>
              <a:gd name="connsiteX7" fmla="*/ 1557331 w 4014799"/>
              <a:gd name="connsiteY7" fmla="*/ 747739 h 1789036"/>
              <a:gd name="connsiteX8" fmla="*/ 1866901 w 4014799"/>
              <a:gd name="connsiteY8" fmla="*/ 514371 h 1789036"/>
              <a:gd name="connsiteX9" fmla="*/ 2190750 w 4014799"/>
              <a:gd name="connsiteY9" fmla="*/ 180980 h 1789036"/>
              <a:gd name="connsiteX10" fmla="*/ 2709864 w 4014799"/>
              <a:gd name="connsiteY10" fmla="*/ 400071 h 1789036"/>
              <a:gd name="connsiteX11" fmla="*/ 3343278 w 4014799"/>
              <a:gd name="connsiteY11" fmla="*/ 585822 h 1789036"/>
              <a:gd name="connsiteX12" fmla="*/ 4014799 w 4014799"/>
              <a:gd name="connsiteY12" fmla="*/ 0 h 1789036"/>
              <a:gd name="connsiteX0" fmla="*/ 0 w 4014799"/>
              <a:gd name="connsiteY0" fmla="*/ 1676442 h 1771066"/>
              <a:gd name="connsiteX1" fmla="*/ 314336 w 4014799"/>
              <a:gd name="connsiteY1" fmla="*/ 1766907 h 1771066"/>
              <a:gd name="connsiteX2" fmla="*/ 490539 w 4014799"/>
              <a:gd name="connsiteY2" fmla="*/ 1576408 h 1771066"/>
              <a:gd name="connsiteX3" fmla="*/ 433353 w 4014799"/>
              <a:gd name="connsiteY3" fmla="*/ 1190613 h 1771066"/>
              <a:gd name="connsiteX4" fmla="*/ 709614 w 4014799"/>
              <a:gd name="connsiteY4" fmla="*/ 1019196 h 1771066"/>
              <a:gd name="connsiteX5" fmla="*/ 1109693 w 4014799"/>
              <a:gd name="connsiteY5" fmla="*/ 938291 h 1771066"/>
              <a:gd name="connsiteX6" fmla="*/ 1171576 w 4014799"/>
              <a:gd name="connsiteY6" fmla="*/ 533421 h 1771066"/>
              <a:gd name="connsiteX7" fmla="*/ 1557331 w 4014799"/>
              <a:gd name="connsiteY7" fmla="*/ 747739 h 1771066"/>
              <a:gd name="connsiteX8" fmla="*/ 1866901 w 4014799"/>
              <a:gd name="connsiteY8" fmla="*/ 514371 h 1771066"/>
              <a:gd name="connsiteX9" fmla="*/ 2190750 w 4014799"/>
              <a:gd name="connsiteY9" fmla="*/ 180980 h 1771066"/>
              <a:gd name="connsiteX10" fmla="*/ 2709864 w 4014799"/>
              <a:gd name="connsiteY10" fmla="*/ 400071 h 1771066"/>
              <a:gd name="connsiteX11" fmla="*/ 3343278 w 4014799"/>
              <a:gd name="connsiteY11" fmla="*/ 585822 h 1771066"/>
              <a:gd name="connsiteX12" fmla="*/ 4014799 w 4014799"/>
              <a:gd name="connsiteY12" fmla="*/ 0 h 1771066"/>
              <a:gd name="connsiteX0" fmla="*/ 0 w 4014799"/>
              <a:gd name="connsiteY0" fmla="*/ 1676442 h 1771066"/>
              <a:gd name="connsiteX1" fmla="*/ 314336 w 4014799"/>
              <a:gd name="connsiteY1" fmla="*/ 1766907 h 1771066"/>
              <a:gd name="connsiteX2" fmla="*/ 490539 w 4014799"/>
              <a:gd name="connsiteY2" fmla="*/ 1576408 h 1771066"/>
              <a:gd name="connsiteX3" fmla="*/ 310079 w 4014799"/>
              <a:gd name="connsiteY3" fmla="*/ 1166753 h 1771066"/>
              <a:gd name="connsiteX4" fmla="*/ 709614 w 4014799"/>
              <a:gd name="connsiteY4" fmla="*/ 1019196 h 1771066"/>
              <a:gd name="connsiteX5" fmla="*/ 1109693 w 4014799"/>
              <a:gd name="connsiteY5" fmla="*/ 938291 h 1771066"/>
              <a:gd name="connsiteX6" fmla="*/ 1171576 w 4014799"/>
              <a:gd name="connsiteY6" fmla="*/ 533421 h 1771066"/>
              <a:gd name="connsiteX7" fmla="*/ 1557331 w 4014799"/>
              <a:gd name="connsiteY7" fmla="*/ 747739 h 1771066"/>
              <a:gd name="connsiteX8" fmla="*/ 1866901 w 4014799"/>
              <a:gd name="connsiteY8" fmla="*/ 514371 h 1771066"/>
              <a:gd name="connsiteX9" fmla="*/ 2190750 w 4014799"/>
              <a:gd name="connsiteY9" fmla="*/ 180980 h 1771066"/>
              <a:gd name="connsiteX10" fmla="*/ 2709864 w 4014799"/>
              <a:gd name="connsiteY10" fmla="*/ 400071 h 1771066"/>
              <a:gd name="connsiteX11" fmla="*/ 3343278 w 4014799"/>
              <a:gd name="connsiteY11" fmla="*/ 585822 h 1771066"/>
              <a:gd name="connsiteX12" fmla="*/ 4014799 w 4014799"/>
              <a:gd name="connsiteY12" fmla="*/ 0 h 1771066"/>
              <a:gd name="connsiteX0" fmla="*/ 0 w 4014799"/>
              <a:gd name="connsiteY0" fmla="*/ 1676442 h 1773970"/>
              <a:gd name="connsiteX1" fmla="*/ 314336 w 4014799"/>
              <a:gd name="connsiteY1" fmla="*/ 1766907 h 1773970"/>
              <a:gd name="connsiteX2" fmla="*/ 88910 w 4014799"/>
              <a:gd name="connsiteY2" fmla="*/ 1528688 h 1773970"/>
              <a:gd name="connsiteX3" fmla="*/ 310079 w 4014799"/>
              <a:gd name="connsiteY3" fmla="*/ 1166753 h 1773970"/>
              <a:gd name="connsiteX4" fmla="*/ 709614 w 4014799"/>
              <a:gd name="connsiteY4" fmla="*/ 1019196 h 1773970"/>
              <a:gd name="connsiteX5" fmla="*/ 1109693 w 4014799"/>
              <a:gd name="connsiteY5" fmla="*/ 938291 h 1773970"/>
              <a:gd name="connsiteX6" fmla="*/ 1171576 w 4014799"/>
              <a:gd name="connsiteY6" fmla="*/ 533421 h 1773970"/>
              <a:gd name="connsiteX7" fmla="*/ 1557331 w 4014799"/>
              <a:gd name="connsiteY7" fmla="*/ 747739 h 1773970"/>
              <a:gd name="connsiteX8" fmla="*/ 1866901 w 4014799"/>
              <a:gd name="connsiteY8" fmla="*/ 514371 h 1773970"/>
              <a:gd name="connsiteX9" fmla="*/ 2190750 w 4014799"/>
              <a:gd name="connsiteY9" fmla="*/ 180980 h 1773970"/>
              <a:gd name="connsiteX10" fmla="*/ 2709864 w 4014799"/>
              <a:gd name="connsiteY10" fmla="*/ 400071 h 1773970"/>
              <a:gd name="connsiteX11" fmla="*/ 3343278 w 4014799"/>
              <a:gd name="connsiteY11" fmla="*/ 585822 h 1773970"/>
              <a:gd name="connsiteX12" fmla="*/ 4014799 w 4014799"/>
              <a:gd name="connsiteY12" fmla="*/ 0 h 1773970"/>
              <a:gd name="connsiteX0" fmla="*/ 0 w 4000510"/>
              <a:gd name="connsiteY0" fmla="*/ 1871914 h 1894704"/>
              <a:gd name="connsiteX1" fmla="*/ 300047 w 4000510"/>
              <a:gd name="connsiteY1" fmla="*/ 1766907 h 1894704"/>
              <a:gd name="connsiteX2" fmla="*/ 74621 w 4000510"/>
              <a:gd name="connsiteY2" fmla="*/ 1528688 h 1894704"/>
              <a:gd name="connsiteX3" fmla="*/ 295790 w 4000510"/>
              <a:gd name="connsiteY3" fmla="*/ 1166753 h 1894704"/>
              <a:gd name="connsiteX4" fmla="*/ 695325 w 4000510"/>
              <a:gd name="connsiteY4" fmla="*/ 1019196 h 1894704"/>
              <a:gd name="connsiteX5" fmla="*/ 1095404 w 4000510"/>
              <a:gd name="connsiteY5" fmla="*/ 938291 h 1894704"/>
              <a:gd name="connsiteX6" fmla="*/ 1157287 w 4000510"/>
              <a:gd name="connsiteY6" fmla="*/ 533421 h 1894704"/>
              <a:gd name="connsiteX7" fmla="*/ 1543042 w 4000510"/>
              <a:gd name="connsiteY7" fmla="*/ 747739 h 1894704"/>
              <a:gd name="connsiteX8" fmla="*/ 1852612 w 4000510"/>
              <a:gd name="connsiteY8" fmla="*/ 514371 h 1894704"/>
              <a:gd name="connsiteX9" fmla="*/ 2176461 w 4000510"/>
              <a:gd name="connsiteY9" fmla="*/ 180980 h 1894704"/>
              <a:gd name="connsiteX10" fmla="*/ 2695575 w 4000510"/>
              <a:gd name="connsiteY10" fmla="*/ 400071 h 1894704"/>
              <a:gd name="connsiteX11" fmla="*/ 3328989 w 4000510"/>
              <a:gd name="connsiteY11" fmla="*/ 585822 h 1894704"/>
              <a:gd name="connsiteX12" fmla="*/ 4000510 w 4000510"/>
              <a:gd name="connsiteY12" fmla="*/ 0 h 1894704"/>
              <a:gd name="connsiteX0" fmla="*/ 0 w 4000510"/>
              <a:gd name="connsiteY0" fmla="*/ 1871914 h 1892460"/>
              <a:gd name="connsiteX1" fmla="*/ 135842 w 4000510"/>
              <a:gd name="connsiteY1" fmla="*/ 1747024 h 1892460"/>
              <a:gd name="connsiteX2" fmla="*/ 74621 w 4000510"/>
              <a:gd name="connsiteY2" fmla="*/ 1528688 h 1892460"/>
              <a:gd name="connsiteX3" fmla="*/ 295790 w 4000510"/>
              <a:gd name="connsiteY3" fmla="*/ 1166753 h 1892460"/>
              <a:gd name="connsiteX4" fmla="*/ 695325 w 4000510"/>
              <a:gd name="connsiteY4" fmla="*/ 1019196 h 1892460"/>
              <a:gd name="connsiteX5" fmla="*/ 1095404 w 4000510"/>
              <a:gd name="connsiteY5" fmla="*/ 938291 h 1892460"/>
              <a:gd name="connsiteX6" fmla="*/ 1157287 w 4000510"/>
              <a:gd name="connsiteY6" fmla="*/ 533421 h 1892460"/>
              <a:gd name="connsiteX7" fmla="*/ 1543042 w 4000510"/>
              <a:gd name="connsiteY7" fmla="*/ 747739 h 1892460"/>
              <a:gd name="connsiteX8" fmla="*/ 1852612 w 4000510"/>
              <a:gd name="connsiteY8" fmla="*/ 514371 h 1892460"/>
              <a:gd name="connsiteX9" fmla="*/ 2176461 w 4000510"/>
              <a:gd name="connsiteY9" fmla="*/ 180980 h 1892460"/>
              <a:gd name="connsiteX10" fmla="*/ 2695575 w 4000510"/>
              <a:gd name="connsiteY10" fmla="*/ 400071 h 1892460"/>
              <a:gd name="connsiteX11" fmla="*/ 3328989 w 4000510"/>
              <a:gd name="connsiteY11" fmla="*/ 585822 h 1892460"/>
              <a:gd name="connsiteX12" fmla="*/ 4000510 w 4000510"/>
              <a:gd name="connsiteY12" fmla="*/ 0 h 1892460"/>
              <a:gd name="connsiteX0" fmla="*/ 0 w 4000510"/>
              <a:gd name="connsiteY0" fmla="*/ 1871914 h 1893302"/>
              <a:gd name="connsiteX1" fmla="*/ 135842 w 4000510"/>
              <a:gd name="connsiteY1" fmla="*/ 1747024 h 1893302"/>
              <a:gd name="connsiteX2" fmla="*/ 135842 w 4000510"/>
              <a:gd name="connsiteY2" fmla="*/ 1476991 h 1893302"/>
              <a:gd name="connsiteX3" fmla="*/ 295790 w 4000510"/>
              <a:gd name="connsiteY3" fmla="*/ 1166753 h 1893302"/>
              <a:gd name="connsiteX4" fmla="*/ 695325 w 4000510"/>
              <a:gd name="connsiteY4" fmla="*/ 1019196 h 1893302"/>
              <a:gd name="connsiteX5" fmla="*/ 1095404 w 4000510"/>
              <a:gd name="connsiteY5" fmla="*/ 938291 h 1893302"/>
              <a:gd name="connsiteX6" fmla="*/ 1157287 w 4000510"/>
              <a:gd name="connsiteY6" fmla="*/ 533421 h 1893302"/>
              <a:gd name="connsiteX7" fmla="*/ 1543042 w 4000510"/>
              <a:gd name="connsiteY7" fmla="*/ 747739 h 1893302"/>
              <a:gd name="connsiteX8" fmla="*/ 1852612 w 4000510"/>
              <a:gd name="connsiteY8" fmla="*/ 514371 h 1893302"/>
              <a:gd name="connsiteX9" fmla="*/ 2176461 w 4000510"/>
              <a:gd name="connsiteY9" fmla="*/ 180980 h 1893302"/>
              <a:gd name="connsiteX10" fmla="*/ 2695575 w 4000510"/>
              <a:gd name="connsiteY10" fmla="*/ 400071 h 1893302"/>
              <a:gd name="connsiteX11" fmla="*/ 3328989 w 4000510"/>
              <a:gd name="connsiteY11" fmla="*/ 585822 h 1893302"/>
              <a:gd name="connsiteX12" fmla="*/ 4000510 w 4000510"/>
              <a:gd name="connsiteY12" fmla="*/ 0 h 1893302"/>
              <a:gd name="connsiteX0" fmla="*/ 0 w 4000510"/>
              <a:gd name="connsiteY0" fmla="*/ 1871914 h 1887498"/>
              <a:gd name="connsiteX1" fmla="*/ 131865 w 4000510"/>
              <a:gd name="connsiteY1" fmla="*/ 1675445 h 1887498"/>
              <a:gd name="connsiteX2" fmla="*/ 135842 w 4000510"/>
              <a:gd name="connsiteY2" fmla="*/ 1476991 h 1887498"/>
              <a:gd name="connsiteX3" fmla="*/ 295790 w 4000510"/>
              <a:gd name="connsiteY3" fmla="*/ 1166753 h 1887498"/>
              <a:gd name="connsiteX4" fmla="*/ 695325 w 4000510"/>
              <a:gd name="connsiteY4" fmla="*/ 1019196 h 1887498"/>
              <a:gd name="connsiteX5" fmla="*/ 1095404 w 4000510"/>
              <a:gd name="connsiteY5" fmla="*/ 938291 h 1887498"/>
              <a:gd name="connsiteX6" fmla="*/ 1157287 w 4000510"/>
              <a:gd name="connsiteY6" fmla="*/ 533421 h 1887498"/>
              <a:gd name="connsiteX7" fmla="*/ 1543042 w 4000510"/>
              <a:gd name="connsiteY7" fmla="*/ 747739 h 1887498"/>
              <a:gd name="connsiteX8" fmla="*/ 1852612 w 4000510"/>
              <a:gd name="connsiteY8" fmla="*/ 514371 h 1887498"/>
              <a:gd name="connsiteX9" fmla="*/ 2176461 w 4000510"/>
              <a:gd name="connsiteY9" fmla="*/ 180980 h 1887498"/>
              <a:gd name="connsiteX10" fmla="*/ 2695575 w 4000510"/>
              <a:gd name="connsiteY10" fmla="*/ 400071 h 1887498"/>
              <a:gd name="connsiteX11" fmla="*/ 3328989 w 4000510"/>
              <a:gd name="connsiteY11" fmla="*/ 585822 h 1887498"/>
              <a:gd name="connsiteX12" fmla="*/ 4000510 w 4000510"/>
              <a:gd name="connsiteY12" fmla="*/ 0 h 1887498"/>
              <a:gd name="connsiteX0" fmla="*/ 0 w 4095947"/>
              <a:gd name="connsiteY0" fmla="*/ 1875891 h 1891278"/>
              <a:gd name="connsiteX1" fmla="*/ 227302 w 4095947"/>
              <a:gd name="connsiteY1" fmla="*/ 1675445 h 1891278"/>
              <a:gd name="connsiteX2" fmla="*/ 231279 w 4095947"/>
              <a:gd name="connsiteY2" fmla="*/ 1476991 h 1891278"/>
              <a:gd name="connsiteX3" fmla="*/ 391227 w 4095947"/>
              <a:gd name="connsiteY3" fmla="*/ 1166753 h 1891278"/>
              <a:gd name="connsiteX4" fmla="*/ 790762 w 4095947"/>
              <a:gd name="connsiteY4" fmla="*/ 1019196 h 1891278"/>
              <a:gd name="connsiteX5" fmla="*/ 1190841 w 4095947"/>
              <a:gd name="connsiteY5" fmla="*/ 938291 h 1891278"/>
              <a:gd name="connsiteX6" fmla="*/ 1252724 w 4095947"/>
              <a:gd name="connsiteY6" fmla="*/ 533421 h 1891278"/>
              <a:gd name="connsiteX7" fmla="*/ 1638479 w 4095947"/>
              <a:gd name="connsiteY7" fmla="*/ 747739 h 1891278"/>
              <a:gd name="connsiteX8" fmla="*/ 1948049 w 4095947"/>
              <a:gd name="connsiteY8" fmla="*/ 514371 h 1891278"/>
              <a:gd name="connsiteX9" fmla="*/ 2271898 w 4095947"/>
              <a:gd name="connsiteY9" fmla="*/ 180980 h 1891278"/>
              <a:gd name="connsiteX10" fmla="*/ 2791012 w 4095947"/>
              <a:gd name="connsiteY10" fmla="*/ 400071 h 1891278"/>
              <a:gd name="connsiteX11" fmla="*/ 3424426 w 4095947"/>
              <a:gd name="connsiteY11" fmla="*/ 585822 h 1891278"/>
              <a:gd name="connsiteX12" fmla="*/ 4095947 w 4095947"/>
              <a:gd name="connsiteY12" fmla="*/ 0 h 1891278"/>
              <a:gd name="connsiteX0" fmla="*/ 0 w 4095947"/>
              <a:gd name="connsiteY0" fmla="*/ 1875891 h 1892010"/>
              <a:gd name="connsiteX1" fmla="*/ 227302 w 4095947"/>
              <a:gd name="connsiteY1" fmla="*/ 1675445 h 1892010"/>
              <a:gd name="connsiteX2" fmla="*/ 286950 w 4095947"/>
              <a:gd name="connsiteY2" fmla="*/ 1400366 h 1892010"/>
              <a:gd name="connsiteX3" fmla="*/ 391227 w 4095947"/>
              <a:gd name="connsiteY3" fmla="*/ 1166753 h 1892010"/>
              <a:gd name="connsiteX4" fmla="*/ 790762 w 4095947"/>
              <a:gd name="connsiteY4" fmla="*/ 1019196 h 1892010"/>
              <a:gd name="connsiteX5" fmla="*/ 1190841 w 4095947"/>
              <a:gd name="connsiteY5" fmla="*/ 938291 h 1892010"/>
              <a:gd name="connsiteX6" fmla="*/ 1252724 w 4095947"/>
              <a:gd name="connsiteY6" fmla="*/ 533421 h 1892010"/>
              <a:gd name="connsiteX7" fmla="*/ 1638479 w 4095947"/>
              <a:gd name="connsiteY7" fmla="*/ 747739 h 1892010"/>
              <a:gd name="connsiteX8" fmla="*/ 1948049 w 4095947"/>
              <a:gd name="connsiteY8" fmla="*/ 514371 h 1892010"/>
              <a:gd name="connsiteX9" fmla="*/ 2271898 w 4095947"/>
              <a:gd name="connsiteY9" fmla="*/ 180980 h 1892010"/>
              <a:gd name="connsiteX10" fmla="*/ 2791012 w 4095947"/>
              <a:gd name="connsiteY10" fmla="*/ 400071 h 1892010"/>
              <a:gd name="connsiteX11" fmla="*/ 3424426 w 4095947"/>
              <a:gd name="connsiteY11" fmla="*/ 585822 h 1892010"/>
              <a:gd name="connsiteX12" fmla="*/ 4095947 w 4095947"/>
              <a:gd name="connsiteY12" fmla="*/ 0 h 1892010"/>
              <a:gd name="connsiteX0" fmla="*/ 0 w 4095947"/>
              <a:gd name="connsiteY0" fmla="*/ 1875891 h 1892010"/>
              <a:gd name="connsiteX1" fmla="*/ 227302 w 4095947"/>
              <a:gd name="connsiteY1" fmla="*/ 1675445 h 1892010"/>
              <a:gd name="connsiteX2" fmla="*/ 286950 w 4095947"/>
              <a:gd name="connsiteY2" fmla="*/ 1400366 h 1892010"/>
              <a:gd name="connsiteX3" fmla="*/ 367368 w 4095947"/>
              <a:gd name="connsiteY3" fmla="*/ 1123009 h 1892010"/>
              <a:gd name="connsiteX4" fmla="*/ 790762 w 4095947"/>
              <a:gd name="connsiteY4" fmla="*/ 1019196 h 1892010"/>
              <a:gd name="connsiteX5" fmla="*/ 1190841 w 4095947"/>
              <a:gd name="connsiteY5" fmla="*/ 938291 h 1892010"/>
              <a:gd name="connsiteX6" fmla="*/ 1252724 w 4095947"/>
              <a:gd name="connsiteY6" fmla="*/ 533421 h 1892010"/>
              <a:gd name="connsiteX7" fmla="*/ 1638479 w 4095947"/>
              <a:gd name="connsiteY7" fmla="*/ 747739 h 1892010"/>
              <a:gd name="connsiteX8" fmla="*/ 1948049 w 4095947"/>
              <a:gd name="connsiteY8" fmla="*/ 514371 h 1892010"/>
              <a:gd name="connsiteX9" fmla="*/ 2271898 w 4095947"/>
              <a:gd name="connsiteY9" fmla="*/ 180980 h 1892010"/>
              <a:gd name="connsiteX10" fmla="*/ 2791012 w 4095947"/>
              <a:gd name="connsiteY10" fmla="*/ 400071 h 1892010"/>
              <a:gd name="connsiteX11" fmla="*/ 3424426 w 4095947"/>
              <a:gd name="connsiteY11" fmla="*/ 585822 h 1892010"/>
              <a:gd name="connsiteX12" fmla="*/ 4095947 w 4095947"/>
              <a:gd name="connsiteY12" fmla="*/ 0 h 1892010"/>
              <a:gd name="connsiteX0" fmla="*/ 0 w 4095947"/>
              <a:gd name="connsiteY0" fmla="*/ 1875891 h 1893375"/>
              <a:gd name="connsiteX1" fmla="*/ 275021 w 4095947"/>
              <a:gd name="connsiteY1" fmla="*/ 1695328 h 1893375"/>
              <a:gd name="connsiteX2" fmla="*/ 286950 w 4095947"/>
              <a:gd name="connsiteY2" fmla="*/ 1400366 h 1893375"/>
              <a:gd name="connsiteX3" fmla="*/ 367368 w 4095947"/>
              <a:gd name="connsiteY3" fmla="*/ 1123009 h 1893375"/>
              <a:gd name="connsiteX4" fmla="*/ 790762 w 4095947"/>
              <a:gd name="connsiteY4" fmla="*/ 1019196 h 1893375"/>
              <a:gd name="connsiteX5" fmla="*/ 1190841 w 4095947"/>
              <a:gd name="connsiteY5" fmla="*/ 938291 h 1893375"/>
              <a:gd name="connsiteX6" fmla="*/ 1252724 w 4095947"/>
              <a:gd name="connsiteY6" fmla="*/ 533421 h 1893375"/>
              <a:gd name="connsiteX7" fmla="*/ 1638479 w 4095947"/>
              <a:gd name="connsiteY7" fmla="*/ 747739 h 1893375"/>
              <a:gd name="connsiteX8" fmla="*/ 1948049 w 4095947"/>
              <a:gd name="connsiteY8" fmla="*/ 514371 h 1893375"/>
              <a:gd name="connsiteX9" fmla="*/ 2271898 w 4095947"/>
              <a:gd name="connsiteY9" fmla="*/ 180980 h 1893375"/>
              <a:gd name="connsiteX10" fmla="*/ 2791012 w 4095947"/>
              <a:gd name="connsiteY10" fmla="*/ 400071 h 1893375"/>
              <a:gd name="connsiteX11" fmla="*/ 3424426 w 4095947"/>
              <a:gd name="connsiteY11" fmla="*/ 585822 h 1893375"/>
              <a:gd name="connsiteX12" fmla="*/ 4095947 w 4095947"/>
              <a:gd name="connsiteY12" fmla="*/ 0 h 1893375"/>
              <a:gd name="connsiteX0" fmla="*/ 0 w 4095947"/>
              <a:gd name="connsiteY0" fmla="*/ 1875891 h 1893375"/>
              <a:gd name="connsiteX1" fmla="*/ 275021 w 4095947"/>
              <a:gd name="connsiteY1" fmla="*/ 1695328 h 1893375"/>
              <a:gd name="connsiteX2" fmla="*/ 286950 w 4095947"/>
              <a:gd name="connsiteY2" fmla="*/ 1400366 h 1893375"/>
              <a:gd name="connsiteX3" fmla="*/ 391227 w 4095947"/>
              <a:gd name="connsiteY3" fmla="*/ 1158799 h 1893375"/>
              <a:gd name="connsiteX4" fmla="*/ 790762 w 4095947"/>
              <a:gd name="connsiteY4" fmla="*/ 1019196 h 1893375"/>
              <a:gd name="connsiteX5" fmla="*/ 1190841 w 4095947"/>
              <a:gd name="connsiteY5" fmla="*/ 938291 h 1893375"/>
              <a:gd name="connsiteX6" fmla="*/ 1252724 w 4095947"/>
              <a:gd name="connsiteY6" fmla="*/ 533421 h 1893375"/>
              <a:gd name="connsiteX7" fmla="*/ 1638479 w 4095947"/>
              <a:gd name="connsiteY7" fmla="*/ 747739 h 1893375"/>
              <a:gd name="connsiteX8" fmla="*/ 1948049 w 4095947"/>
              <a:gd name="connsiteY8" fmla="*/ 514371 h 1893375"/>
              <a:gd name="connsiteX9" fmla="*/ 2271898 w 4095947"/>
              <a:gd name="connsiteY9" fmla="*/ 180980 h 1893375"/>
              <a:gd name="connsiteX10" fmla="*/ 2791012 w 4095947"/>
              <a:gd name="connsiteY10" fmla="*/ 400071 h 1893375"/>
              <a:gd name="connsiteX11" fmla="*/ 3424426 w 4095947"/>
              <a:gd name="connsiteY11" fmla="*/ 585822 h 1893375"/>
              <a:gd name="connsiteX12" fmla="*/ 4095947 w 4095947"/>
              <a:gd name="connsiteY12" fmla="*/ 0 h 1893375"/>
              <a:gd name="connsiteX0" fmla="*/ 0 w 4095947"/>
              <a:gd name="connsiteY0" fmla="*/ 1875891 h 1896899"/>
              <a:gd name="connsiteX1" fmla="*/ 310810 w 4095947"/>
              <a:gd name="connsiteY1" fmla="*/ 1735095 h 1896899"/>
              <a:gd name="connsiteX2" fmla="*/ 286950 w 4095947"/>
              <a:gd name="connsiteY2" fmla="*/ 1400366 h 1896899"/>
              <a:gd name="connsiteX3" fmla="*/ 391227 w 4095947"/>
              <a:gd name="connsiteY3" fmla="*/ 1158799 h 1896899"/>
              <a:gd name="connsiteX4" fmla="*/ 790762 w 4095947"/>
              <a:gd name="connsiteY4" fmla="*/ 1019196 h 1896899"/>
              <a:gd name="connsiteX5" fmla="*/ 1190841 w 4095947"/>
              <a:gd name="connsiteY5" fmla="*/ 938291 h 1896899"/>
              <a:gd name="connsiteX6" fmla="*/ 1252724 w 4095947"/>
              <a:gd name="connsiteY6" fmla="*/ 533421 h 1896899"/>
              <a:gd name="connsiteX7" fmla="*/ 1638479 w 4095947"/>
              <a:gd name="connsiteY7" fmla="*/ 747739 h 1896899"/>
              <a:gd name="connsiteX8" fmla="*/ 1948049 w 4095947"/>
              <a:gd name="connsiteY8" fmla="*/ 514371 h 1896899"/>
              <a:gd name="connsiteX9" fmla="*/ 2271898 w 4095947"/>
              <a:gd name="connsiteY9" fmla="*/ 180980 h 1896899"/>
              <a:gd name="connsiteX10" fmla="*/ 2791012 w 4095947"/>
              <a:gd name="connsiteY10" fmla="*/ 400071 h 1896899"/>
              <a:gd name="connsiteX11" fmla="*/ 3424426 w 4095947"/>
              <a:gd name="connsiteY11" fmla="*/ 585822 h 1896899"/>
              <a:gd name="connsiteX12" fmla="*/ 4095947 w 4095947"/>
              <a:gd name="connsiteY12" fmla="*/ 0 h 1896899"/>
              <a:gd name="connsiteX0" fmla="*/ 0 w 4095947"/>
              <a:gd name="connsiteY0" fmla="*/ 1875891 h 1896899"/>
              <a:gd name="connsiteX1" fmla="*/ 310810 w 4095947"/>
              <a:gd name="connsiteY1" fmla="*/ 1735095 h 1896899"/>
              <a:gd name="connsiteX2" fmla="*/ 286950 w 4095947"/>
              <a:gd name="connsiteY2" fmla="*/ 1400366 h 1896899"/>
              <a:gd name="connsiteX3" fmla="*/ 339532 w 4095947"/>
              <a:gd name="connsiteY3" fmla="*/ 1158799 h 1896899"/>
              <a:gd name="connsiteX4" fmla="*/ 790762 w 4095947"/>
              <a:gd name="connsiteY4" fmla="*/ 1019196 h 1896899"/>
              <a:gd name="connsiteX5" fmla="*/ 1190841 w 4095947"/>
              <a:gd name="connsiteY5" fmla="*/ 938291 h 1896899"/>
              <a:gd name="connsiteX6" fmla="*/ 1252724 w 4095947"/>
              <a:gd name="connsiteY6" fmla="*/ 533421 h 1896899"/>
              <a:gd name="connsiteX7" fmla="*/ 1638479 w 4095947"/>
              <a:gd name="connsiteY7" fmla="*/ 747739 h 1896899"/>
              <a:gd name="connsiteX8" fmla="*/ 1948049 w 4095947"/>
              <a:gd name="connsiteY8" fmla="*/ 514371 h 1896899"/>
              <a:gd name="connsiteX9" fmla="*/ 2271898 w 4095947"/>
              <a:gd name="connsiteY9" fmla="*/ 180980 h 1896899"/>
              <a:gd name="connsiteX10" fmla="*/ 2791012 w 4095947"/>
              <a:gd name="connsiteY10" fmla="*/ 400071 h 1896899"/>
              <a:gd name="connsiteX11" fmla="*/ 3424426 w 4095947"/>
              <a:gd name="connsiteY11" fmla="*/ 585822 h 1896899"/>
              <a:gd name="connsiteX12" fmla="*/ 4095947 w 4095947"/>
              <a:gd name="connsiteY12" fmla="*/ 0 h 1896899"/>
              <a:gd name="connsiteX0" fmla="*/ 0 w 4095947"/>
              <a:gd name="connsiteY0" fmla="*/ 1875891 h 1897226"/>
              <a:gd name="connsiteX1" fmla="*/ 310810 w 4095947"/>
              <a:gd name="connsiteY1" fmla="*/ 1735095 h 1897226"/>
              <a:gd name="connsiteX2" fmla="*/ 275021 w 4095947"/>
              <a:gd name="connsiteY2" fmla="*/ 1380483 h 1897226"/>
              <a:gd name="connsiteX3" fmla="*/ 339532 w 4095947"/>
              <a:gd name="connsiteY3" fmla="*/ 1158799 h 1897226"/>
              <a:gd name="connsiteX4" fmla="*/ 790762 w 4095947"/>
              <a:gd name="connsiteY4" fmla="*/ 1019196 h 1897226"/>
              <a:gd name="connsiteX5" fmla="*/ 1190841 w 4095947"/>
              <a:gd name="connsiteY5" fmla="*/ 938291 h 1897226"/>
              <a:gd name="connsiteX6" fmla="*/ 1252724 w 4095947"/>
              <a:gd name="connsiteY6" fmla="*/ 533421 h 1897226"/>
              <a:gd name="connsiteX7" fmla="*/ 1638479 w 4095947"/>
              <a:gd name="connsiteY7" fmla="*/ 747739 h 1897226"/>
              <a:gd name="connsiteX8" fmla="*/ 1948049 w 4095947"/>
              <a:gd name="connsiteY8" fmla="*/ 514371 h 1897226"/>
              <a:gd name="connsiteX9" fmla="*/ 2271898 w 4095947"/>
              <a:gd name="connsiteY9" fmla="*/ 180980 h 1897226"/>
              <a:gd name="connsiteX10" fmla="*/ 2791012 w 4095947"/>
              <a:gd name="connsiteY10" fmla="*/ 400071 h 1897226"/>
              <a:gd name="connsiteX11" fmla="*/ 3424426 w 4095947"/>
              <a:gd name="connsiteY11" fmla="*/ 585822 h 1897226"/>
              <a:gd name="connsiteX12" fmla="*/ 4095947 w 4095947"/>
              <a:gd name="connsiteY12" fmla="*/ 0 h 1897226"/>
              <a:gd name="connsiteX0" fmla="*/ 0 w 4095947"/>
              <a:gd name="connsiteY0" fmla="*/ 1875891 h 1897226"/>
              <a:gd name="connsiteX1" fmla="*/ 310810 w 4095947"/>
              <a:gd name="connsiteY1" fmla="*/ 1735095 h 1897226"/>
              <a:gd name="connsiteX2" fmla="*/ 275021 w 4095947"/>
              <a:gd name="connsiteY2" fmla="*/ 1380483 h 1897226"/>
              <a:gd name="connsiteX3" fmla="*/ 415086 w 4095947"/>
              <a:gd name="connsiteY3" fmla="*/ 1142892 h 1897226"/>
              <a:gd name="connsiteX4" fmla="*/ 790762 w 4095947"/>
              <a:gd name="connsiteY4" fmla="*/ 1019196 h 1897226"/>
              <a:gd name="connsiteX5" fmla="*/ 1190841 w 4095947"/>
              <a:gd name="connsiteY5" fmla="*/ 938291 h 1897226"/>
              <a:gd name="connsiteX6" fmla="*/ 1252724 w 4095947"/>
              <a:gd name="connsiteY6" fmla="*/ 533421 h 1897226"/>
              <a:gd name="connsiteX7" fmla="*/ 1638479 w 4095947"/>
              <a:gd name="connsiteY7" fmla="*/ 747739 h 1897226"/>
              <a:gd name="connsiteX8" fmla="*/ 1948049 w 4095947"/>
              <a:gd name="connsiteY8" fmla="*/ 514371 h 1897226"/>
              <a:gd name="connsiteX9" fmla="*/ 2271898 w 4095947"/>
              <a:gd name="connsiteY9" fmla="*/ 180980 h 1897226"/>
              <a:gd name="connsiteX10" fmla="*/ 2791012 w 4095947"/>
              <a:gd name="connsiteY10" fmla="*/ 400071 h 1897226"/>
              <a:gd name="connsiteX11" fmla="*/ 3424426 w 4095947"/>
              <a:gd name="connsiteY11" fmla="*/ 585822 h 1897226"/>
              <a:gd name="connsiteX12" fmla="*/ 4095947 w 4095947"/>
              <a:gd name="connsiteY12" fmla="*/ 0 h 1897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947" h="1897226">
                <a:moveTo>
                  <a:pt x="0" y="1875891"/>
                </a:moveTo>
                <a:cubicBezTo>
                  <a:pt x="50403" y="1948916"/>
                  <a:pt x="264973" y="1817663"/>
                  <a:pt x="310810" y="1735095"/>
                </a:cubicBezTo>
                <a:cubicBezTo>
                  <a:pt x="356647" y="1652527"/>
                  <a:pt x="257642" y="1479184"/>
                  <a:pt x="275021" y="1380483"/>
                </a:cubicBezTo>
                <a:cubicBezTo>
                  <a:pt x="292400" y="1281783"/>
                  <a:pt x="329129" y="1203107"/>
                  <a:pt x="415086" y="1142892"/>
                </a:cubicBezTo>
                <a:cubicBezTo>
                  <a:pt x="501043" y="1082677"/>
                  <a:pt x="661470" y="1053296"/>
                  <a:pt x="790762" y="1019196"/>
                </a:cubicBezTo>
                <a:cubicBezTo>
                  <a:pt x="920054" y="985096"/>
                  <a:pt x="1113847" y="1019253"/>
                  <a:pt x="1190841" y="938291"/>
                </a:cubicBezTo>
                <a:cubicBezTo>
                  <a:pt x="1267835" y="857329"/>
                  <a:pt x="1178118" y="565180"/>
                  <a:pt x="1252724" y="533421"/>
                </a:cubicBezTo>
                <a:cubicBezTo>
                  <a:pt x="1327330" y="501662"/>
                  <a:pt x="1522592" y="750914"/>
                  <a:pt x="1638479" y="747739"/>
                </a:cubicBezTo>
                <a:cubicBezTo>
                  <a:pt x="1754366" y="744564"/>
                  <a:pt x="1842479" y="608831"/>
                  <a:pt x="1948049" y="514371"/>
                </a:cubicBezTo>
                <a:cubicBezTo>
                  <a:pt x="2053619" y="419911"/>
                  <a:pt x="2131404" y="200030"/>
                  <a:pt x="2271898" y="180980"/>
                </a:cubicBezTo>
                <a:cubicBezTo>
                  <a:pt x="2412392" y="161930"/>
                  <a:pt x="2598924" y="332597"/>
                  <a:pt x="2791012" y="400071"/>
                </a:cubicBezTo>
                <a:cubicBezTo>
                  <a:pt x="2983100" y="467545"/>
                  <a:pt x="3206937" y="652501"/>
                  <a:pt x="3424426" y="585822"/>
                </a:cubicBezTo>
                <a:cubicBezTo>
                  <a:pt x="3641915" y="519143"/>
                  <a:pt x="3906240" y="180181"/>
                  <a:pt x="4095947" y="0"/>
                </a:cubicBezTo>
              </a:path>
            </a:pathLst>
          </a:custGeom>
          <a:noFill/>
          <a:ln w="28575" cap="flat" cmpd="sng" algn="ctr">
            <a:solidFill>
              <a:srgbClr val="0070C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Perpetua"/>
              <a:ea typeface="宋体" panose="02010600030101010101" pitchFamily="2" charset="-122"/>
              <a:cs typeface="+mn-cs"/>
            </a:endParaRPr>
          </a:p>
        </p:txBody>
      </p:sp>
      <p:cxnSp>
        <p:nvCxnSpPr>
          <p:cNvPr id="7" name="直接连接符 6"/>
          <p:cNvCxnSpPr>
            <a:endCxn id="6" idx="12"/>
          </p:cNvCxnSpPr>
          <p:nvPr/>
        </p:nvCxnSpPr>
        <p:spPr>
          <a:xfrm flipV="1">
            <a:off x="2377914" y="2479872"/>
            <a:ext cx="5686365" cy="2170179"/>
          </a:xfrm>
          <a:prstGeom prst="line">
            <a:avLst/>
          </a:prstGeom>
          <a:noFill/>
          <a:ln w="28575" cap="flat" cmpd="sng" algn="ctr">
            <a:solidFill>
              <a:srgbClr val="70AD47"/>
            </a:solidFill>
            <a:prstDash val="solid"/>
            <a:miter lim="800000"/>
          </a:ln>
          <a:effectLst/>
        </p:spPr>
      </p:cxnSp>
      <p:sp>
        <p:nvSpPr>
          <p:cNvPr id="8" name="椭圆 7"/>
          <p:cNvSpPr/>
          <p:nvPr/>
        </p:nvSpPr>
        <p:spPr>
          <a:xfrm>
            <a:off x="2577809" y="4773023"/>
            <a:ext cx="135239" cy="139757"/>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Perpetua"/>
              <a:ea typeface="宋体" panose="02010600030101010101" pitchFamily="2" charset="-122"/>
              <a:cs typeface="+mn-cs"/>
            </a:endParaRPr>
          </a:p>
        </p:txBody>
      </p:sp>
      <p:sp>
        <p:nvSpPr>
          <p:cNvPr id="9" name="椭圆 8"/>
          <p:cNvSpPr/>
          <p:nvPr/>
        </p:nvSpPr>
        <p:spPr>
          <a:xfrm>
            <a:off x="3304336" y="3993086"/>
            <a:ext cx="135239" cy="139757"/>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Perpetua"/>
              <a:ea typeface="宋体" panose="02010600030101010101" pitchFamily="2" charset="-122"/>
              <a:cs typeface="+mn-cs"/>
            </a:endParaRPr>
          </a:p>
        </p:txBody>
      </p:sp>
      <p:sp>
        <p:nvSpPr>
          <p:cNvPr id="10" name="椭圆 9"/>
          <p:cNvSpPr/>
          <p:nvPr/>
        </p:nvSpPr>
        <p:spPr>
          <a:xfrm>
            <a:off x="3960242" y="3277076"/>
            <a:ext cx="135239" cy="139757"/>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Perpetua"/>
              <a:ea typeface="宋体" panose="02010600030101010101" pitchFamily="2" charset="-122"/>
              <a:cs typeface="+mn-cs"/>
            </a:endParaRPr>
          </a:p>
        </p:txBody>
      </p:sp>
      <p:sp>
        <p:nvSpPr>
          <p:cNvPr id="11" name="椭圆 10"/>
          <p:cNvSpPr/>
          <p:nvPr/>
        </p:nvSpPr>
        <p:spPr>
          <a:xfrm>
            <a:off x="4906912" y="3247550"/>
            <a:ext cx="135239" cy="139757"/>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Perpetua"/>
              <a:ea typeface="宋体" panose="02010600030101010101" pitchFamily="2" charset="-122"/>
              <a:cs typeface="+mn-cs"/>
            </a:endParaRPr>
          </a:p>
        </p:txBody>
      </p:sp>
      <p:sp>
        <p:nvSpPr>
          <p:cNvPr id="12" name="椭圆 11"/>
          <p:cNvSpPr/>
          <p:nvPr/>
        </p:nvSpPr>
        <p:spPr>
          <a:xfrm>
            <a:off x="5861047" y="2872025"/>
            <a:ext cx="135239" cy="140249"/>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Perpetua"/>
              <a:ea typeface="宋体" panose="02010600030101010101" pitchFamily="2" charset="-122"/>
              <a:cs typeface="+mn-cs"/>
            </a:endParaRPr>
          </a:p>
        </p:txBody>
      </p:sp>
      <p:cxnSp>
        <p:nvCxnSpPr>
          <p:cNvPr id="13" name="直接箭头连接符 12"/>
          <p:cNvCxnSpPr/>
          <p:nvPr/>
        </p:nvCxnSpPr>
        <p:spPr>
          <a:xfrm flipV="1">
            <a:off x="2107474" y="5369962"/>
            <a:ext cx="6209212" cy="25619"/>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p:cNvCxnSpPr/>
          <p:nvPr/>
        </p:nvCxnSpPr>
        <p:spPr>
          <a:xfrm flipV="1">
            <a:off x="2377914" y="1968137"/>
            <a:ext cx="45622" cy="3648892"/>
          </a:xfrm>
          <a:prstGeom prst="straightConnector1">
            <a:avLst/>
          </a:prstGeom>
          <a:noFill/>
          <a:ln w="28575" cap="flat" cmpd="sng" algn="ctr">
            <a:solidFill>
              <a:sysClr val="windowText" lastClr="000000"/>
            </a:solidFill>
            <a:prstDash val="solid"/>
            <a:miter lim="800000"/>
            <a:tailEnd type="triangle"/>
          </a:ln>
          <a:effectLst/>
        </p:spPr>
      </p:cxnSp>
      <p:sp>
        <p:nvSpPr>
          <p:cNvPr id="15" name="文本框 14"/>
          <p:cNvSpPr txBox="1"/>
          <p:nvPr/>
        </p:nvSpPr>
        <p:spPr>
          <a:xfrm>
            <a:off x="8410546" y="5139129"/>
            <a:ext cx="3257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a:t>
            </a:r>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16" name="文本框 15"/>
          <p:cNvSpPr txBox="1"/>
          <p:nvPr/>
        </p:nvSpPr>
        <p:spPr>
          <a:xfrm>
            <a:off x="2133603" y="1470972"/>
            <a:ext cx="59824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a:t>
            </a:r>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995232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什麽是過擬合問題？</a:t>
            </a:r>
          </a:p>
        </p:txBody>
      </p:sp>
      <p:pic>
        <p:nvPicPr>
          <p:cNvPr id="4" name="图片 3"/>
          <p:cNvPicPr>
            <a:picLocks noChangeAspect="1"/>
          </p:cNvPicPr>
          <p:nvPr/>
        </p:nvPicPr>
        <p:blipFill>
          <a:blip r:embed="rId2"/>
          <a:stretch>
            <a:fillRect/>
          </a:stretch>
        </p:blipFill>
        <p:spPr>
          <a:xfrm>
            <a:off x="1846217" y="1842635"/>
            <a:ext cx="6213301" cy="3543598"/>
          </a:xfrm>
          <a:prstGeom prst="rect">
            <a:avLst/>
          </a:prstGeom>
        </p:spPr>
      </p:pic>
      <p:sp>
        <p:nvSpPr>
          <p:cNvPr id="5" name="文本框 4"/>
          <p:cNvSpPr txBox="1"/>
          <p:nvPr/>
        </p:nvSpPr>
        <p:spPr>
          <a:xfrm>
            <a:off x="8059518" y="4841966"/>
            <a:ext cx="3257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a:t>
            </a:r>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6" name="文本框 5"/>
          <p:cNvSpPr txBox="1"/>
          <p:nvPr/>
        </p:nvSpPr>
        <p:spPr>
          <a:xfrm>
            <a:off x="1846217" y="1470972"/>
            <a:ext cx="59824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a:t>
            </a:r>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7" name="文本框 6"/>
          <p:cNvSpPr txBox="1"/>
          <p:nvPr/>
        </p:nvSpPr>
        <p:spPr>
          <a:xfrm>
            <a:off x="5953633" y="1701804"/>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rPr>
              <a:t>過擬合</a:t>
            </a:r>
          </a:p>
        </p:txBody>
      </p:sp>
      <p:sp>
        <p:nvSpPr>
          <p:cNvPr id="8" name="文本框 7"/>
          <p:cNvSpPr txBox="1"/>
          <p:nvPr/>
        </p:nvSpPr>
        <p:spPr>
          <a:xfrm>
            <a:off x="6101679" y="413149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欠擬合</a:t>
            </a:r>
          </a:p>
        </p:txBody>
      </p:sp>
      <p:cxnSp>
        <p:nvCxnSpPr>
          <p:cNvPr id="9" name="直接箭头连接符 8"/>
          <p:cNvCxnSpPr/>
          <p:nvPr/>
        </p:nvCxnSpPr>
        <p:spPr>
          <a:xfrm flipH="1">
            <a:off x="5259977" y="2063931"/>
            <a:ext cx="693656" cy="635726"/>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flipV="1">
            <a:off x="5155474" y="3448594"/>
            <a:ext cx="946205" cy="91373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951392" y="1997896"/>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dirty="0">
                <a:solidFill>
                  <a:srgbClr val="FF0000"/>
                </a:solidFill>
                <a:latin typeface="Perpetua"/>
                <a:ea typeface="宋体" panose="02010600030101010101" pitchFamily="2" charset="-122"/>
              </a:rPr>
              <a:t>恰擬合</a:t>
            </a:r>
            <a:endPar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5" name="直接箭头连接符 14"/>
          <p:cNvCxnSpPr/>
          <p:nvPr/>
        </p:nvCxnSpPr>
        <p:spPr>
          <a:xfrm>
            <a:off x="3659278" y="2455206"/>
            <a:ext cx="706114" cy="6357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57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4"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神經網絡的過擬合問題</a:t>
            </a:r>
          </a:p>
        </p:txBody>
      </p:sp>
      <p:pic>
        <p:nvPicPr>
          <p:cNvPr id="3" name="图片 2"/>
          <p:cNvPicPr>
            <a:picLocks noChangeAspect="1"/>
          </p:cNvPicPr>
          <p:nvPr/>
        </p:nvPicPr>
        <p:blipFill>
          <a:blip r:embed="rId2"/>
          <a:stretch>
            <a:fillRect/>
          </a:stretch>
        </p:blipFill>
        <p:spPr>
          <a:xfrm>
            <a:off x="1328600" y="2025824"/>
            <a:ext cx="6680849" cy="3817628"/>
          </a:xfrm>
          <a:prstGeom prst="rect">
            <a:avLst/>
          </a:prstGeom>
        </p:spPr>
      </p:pic>
    </p:spTree>
    <p:extLst>
      <p:ext uri="{BB962C8B-B14F-4D97-AF65-F5344CB8AC3E}">
        <p14:creationId xmlns:p14="http://schemas.microsoft.com/office/powerpoint/2010/main" val="149925120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減少過擬合的方法：使用驗證集</a:t>
            </a:r>
          </a:p>
        </p:txBody>
      </p:sp>
      <p:sp>
        <p:nvSpPr>
          <p:cNvPr id="3" name="内容占位符 2"/>
          <p:cNvSpPr>
            <a:spLocks noGrp="1"/>
          </p:cNvSpPr>
          <p:nvPr>
            <p:ph sz="quarter" idx="1"/>
          </p:nvPr>
        </p:nvSpPr>
        <p:spPr/>
        <p:txBody>
          <a:bodyPr/>
          <a:lstStyle/>
          <a:p>
            <a:endParaRPr lang="en-US" altLang="zh-CN" dirty="0"/>
          </a:p>
          <a:p>
            <a:r>
              <a:rPr lang="zh-CN" altLang="en-US" dirty="0"/>
              <a:t>資料集</a:t>
            </a:r>
            <a:endParaRPr lang="en-US" altLang="zh-CN" dirty="0"/>
          </a:p>
          <a:p>
            <a:pPr lvl="1"/>
            <a:r>
              <a:rPr lang="zh-CN" altLang="en-US" dirty="0"/>
              <a:t>訓練集</a:t>
            </a:r>
            <a:endParaRPr lang="en-US" altLang="zh-CN" dirty="0"/>
          </a:p>
          <a:p>
            <a:pPr lvl="1"/>
            <a:r>
              <a:rPr lang="zh-CN" altLang="en-US" dirty="0"/>
              <a:t>驗證集</a:t>
            </a:r>
            <a:endParaRPr lang="en-US" altLang="zh-CN" dirty="0"/>
          </a:p>
          <a:p>
            <a:pPr lvl="1"/>
            <a:r>
              <a:rPr lang="zh-CN" altLang="en-US" dirty="0"/>
              <a:t>測試集</a:t>
            </a:r>
          </a:p>
        </p:txBody>
      </p:sp>
      <p:pic>
        <p:nvPicPr>
          <p:cNvPr id="4" name="图片 3"/>
          <p:cNvPicPr>
            <a:picLocks noChangeAspect="1"/>
          </p:cNvPicPr>
          <p:nvPr/>
        </p:nvPicPr>
        <p:blipFill>
          <a:blip r:embed="rId2"/>
          <a:stretch>
            <a:fillRect/>
          </a:stretch>
        </p:blipFill>
        <p:spPr>
          <a:xfrm>
            <a:off x="4537166" y="2091612"/>
            <a:ext cx="6291398" cy="3595085"/>
          </a:xfrm>
          <a:prstGeom prst="rect">
            <a:avLst/>
          </a:prstGeom>
        </p:spPr>
      </p:pic>
    </p:spTree>
    <p:extLst>
      <p:ext uri="{BB962C8B-B14F-4D97-AF65-F5344CB8AC3E}">
        <p14:creationId xmlns:p14="http://schemas.microsoft.com/office/powerpoint/2010/main" val="209818252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減少過擬合的方法：正則化項法</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587137"/>
                <a:ext cx="10363200" cy="4735286"/>
              </a:xfrm>
            </p:spPr>
            <p:txBody>
              <a:bodyPr/>
              <a:lstStyle/>
              <a:p>
                <a:r>
                  <a:rPr lang="zh-CN" altLang="en-US" dirty="0"/>
                  <a:t>誤差平方和損失函數</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𝑑</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𝑀</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oMath>
                  </m:oMathPara>
                </a14:m>
                <a:endParaRPr lang="en-US" altLang="zh-CN" dirty="0"/>
              </a:p>
              <a:p>
                <a:r>
                  <a:rPr lang="zh-CN" altLang="en-US" dirty="0"/>
                  <a:t>加正則化項</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𝑑</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𝑀</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a:latin typeface="Cambria Math" panose="02040503050406030204" pitchFamily="18" charset="0"/>
                            </a:rPr>
                            <m:t>‖</m:t>
                          </m:r>
                          <m:r>
                            <a:rPr lang="en-US" altLang="zh-CN" i="1">
                              <a:latin typeface="Cambria Math" panose="02040503050406030204" pitchFamily="18" charset="0"/>
                            </a:rPr>
                            <m:t>𝑤</m:t>
                          </m:r>
                          <m:r>
                            <a:rPr lang="en-US" altLang="zh-CN">
                              <a:latin typeface="Cambria Math" panose="02040503050406030204" pitchFamily="18" charset="0"/>
                            </a:rPr>
                            <m:t>‖</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oMath>
                  </m:oMathPara>
                </a14:m>
                <a:endParaRPr lang="zh-CN" altLang="zh-CN" dirty="0"/>
              </a:p>
              <a:p>
                <a:pPr marL="0" indent="0">
                  <a:buNone/>
                </a:pPr>
                <a:r>
                  <a:rPr lang="en-US" altLang="zh-CN" sz="1800" dirty="0"/>
                  <a:t>   </a:t>
                </a:r>
              </a:p>
              <a:p>
                <a:pPr marL="0" indent="0">
                  <a:buNone/>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rPr>
                          </m:ctrlPr>
                        </m:sSubSup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𝑤</m:t>
                              </m:r>
                            </m:e>
                          </m:d>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𝑁</m:t>
                          </m:r>
                        </m:sub>
                        <m:sup>
                          <m:r>
                            <a:rPr lang="en-US" altLang="zh-CN" i="1">
                              <a:latin typeface="Cambria Math" panose="02040503050406030204" pitchFamily="18" charset="0"/>
                            </a:rPr>
                            <m:t>2</m:t>
                          </m:r>
                        </m:sup>
                      </m:sSubSup>
                    </m:oMath>
                  </m:oMathPara>
                </a14:m>
                <a:endParaRPr lang="zh-CN" altLang="zh-CN" dirty="0"/>
              </a:p>
              <a:p>
                <a:pPr marL="0" indent="0">
                  <a:buNone/>
                </a:pPr>
                <a:endParaRPr lang="en-US" altLang="zh-CN" sz="1200" dirty="0"/>
              </a:p>
              <a:p>
                <a:pPr marL="0" indent="0">
                  <a:buNone/>
                </a:pPr>
                <a:r>
                  <a:rPr lang="zh-CN" altLang="en-US" dirty="0">
                    <a:solidFill>
                      <a:srgbClr val="FF0000"/>
                    </a:solidFill>
                  </a:rPr>
                  <a:t>說明：並不限於誤差平方和損失函數和</a:t>
                </a:r>
                <a:r>
                  <a:rPr lang="en-US" altLang="zh-CN" dirty="0">
                    <a:solidFill>
                      <a:srgbClr val="FF0000"/>
                    </a:solidFill>
                  </a:rPr>
                  <a:t>2-</a:t>
                </a:r>
                <a:r>
                  <a:rPr lang="zh-CN" altLang="en-US" dirty="0">
                    <a:solidFill>
                      <a:srgbClr val="FF0000"/>
                    </a:solidFill>
                  </a:rPr>
                  <a:t>範數</a:t>
                </a:r>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587137"/>
                <a:ext cx="10363200" cy="4735286"/>
              </a:xfrm>
              <a:blipFill>
                <a:blip r:embed="rId2"/>
                <a:stretch>
                  <a:fillRect l="-1059" t="-1931" b="-23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2857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正則化項的作用：降低模型複雜性</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0491" y="1595846"/>
                <a:ext cx="10363200" cy="4572000"/>
              </a:xfrm>
            </p:spPr>
            <p:txBody>
              <a:bodyPr/>
              <a:lstStyle/>
              <a:p>
                <a:pPr marL="0" indent="0">
                  <a:buNone/>
                </a:pPr>
                <a:r>
                  <a:rPr lang="zh-CN" altLang="en-US" dirty="0"/>
                  <a:t>曲綫的多項式表示：</a:t>
                </a:r>
                <a:endParaRPr lang="en-US" altLang="zh-CN" dirty="0"/>
              </a:p>
              <a:p>
                <a:pPr marL="0" indent="0">
                  <a:buNone/>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f</m:t>
                      </m:r>
                      <m:d>
                        <m:dPr>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𝑛</m:t>
                          </m:r>
                        </m:sub>
                      </m:sSub>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𝑛</m:t>
                          </m:r>
                        </m:sup>
                      </m:sSup>
                    </m:oMath>
                  </m:oMathPara>
                </a14:m>
                <a:endParaRPr lang="zh-CN" altLang="zh-CN"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0491" y="1595846"/>
                <a:ext cx="10363200" cy="4572000"/>
              </a:xfrm>
              <a:blipFill>
                <a:blip r:embed="rId2"/>
                <a:stretch>
                  <a:fillRect l="-1059" t="-2000"/>
                </a:stretch>
              </a:blipFill>
            </p:spPr>
            <p:txBody>
              <a:bodyPr/>
              <a:lstStyle/>
              <a:p>
                <a:r>
                  <a:rPr lang="zh-TW" altLang="en-US">
                    <a:noFill/>
                  </a:rPr>
                  <a:t> </a:t>
                </a:r>
              </a:p>
            </p:txBody>
          </p:sp>
        </mc:Fallback>
      </mc:AlternateContent>
      <p:pic>
        <p:nvPicPr>
          <p:cNvPr id="4" name="图片 3"/>
          <p:cNvPicPr>
            <a:picLocks noChangeAspect="1"/>
          </p:cNvPicPr>
          <p:nvPr/>
        </p:nvPicPr>
        <p:blipFill>
          <a:blip r:embed="rId3"/>
          <a:stretch>
            <a:fillRect/>
          </a:stretch>
        </p:blipFill>
        <p:spPr>
          <a:xfrm>
            <a:off x="1349820" y="2902130"/>
            <a:ext cx="6087939" cy="2951025"/>
          </a:xfrm>
          <a:prstGeom prst="rect">
            <a:avLst/>
          </a:prstGeom>
        </p:spPr>
      </p:pic>
      <p:sp>
        <p:nvSpPr>
          <p:cNvPr id="5" name="文本框 4"/>
          <p:cNvSpPr txBox="1"/>
          <p:nvPr/>
        </p:nvSpPr>
        <p:spPr>
          <a:xfrm>
            <a:off x="7345407" y="5318003"/>
            <a:ext cx="3257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a:t>
            </a:r>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6" name="文本框 5"/>
          <p:cNvSpPr txBox="1"/>
          <p:nvPr/>
        </p:nvSpPr>
        <p:spPr>
          <a:xfrm>
            <a:off x="1349820" y="2440465"/>
            <a:ext cx="59824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a:t>
            </a:r>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7" name="文本框 6"/>
              <p:cNvSpPr txBox="1"/>
              <p:nvPr/>
            </p:nvSpPr>
            <p:spPr>
              <a:xfrm>
                <a:off x="7033824" y="2783101"/>
                <a:ext cx="4920343" cy="12341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當</a:t>
                </a:r>
                <a14:m>
                  <m:oMath xmlns:m="http://schemas.openxmlformats.org/officeDocument/2006/math">
                    <m:sSub>
                      <m:sSubPr>
                        <m:ctrlPr>
                          <a:rPr kumimoji="0" lang="zh-CN"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3</m:t>
                        </m:r>
                      </m:sub>
                    </m:sSub>
                  </m:oMath>
                </a14:m>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14:m>
                  <m:oMath xmlns:m="http://schemas.openxmlformats.org/officeDocument/2006/math">
                    <m:sSub>
                      <m:sSub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4</m:t>
                        </m:r>
                      </m:sub>
                    </m:sSub>
                  </m:oMath>
                </a14:m>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14:m>
                  <m:oMath xmlns:m="http://schemas.openxmlformats.org/officeDocument/2006/math">
                    <m:sSub>
                      <m:sSub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5</m:t>
                        </m:r>
                      </m:sub>
                    </m:sSub>
                  </m:oMath>
                </a14:m>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比較小時：</a:t>
                </a:r>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0</m:t>
                        </m:r>
                      </m:sub>
                    </m:s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sSup>
                      <m:sSup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2</m:t>
                        </m:r>
                      </m:sup>
                    </m:s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3</m:t>
                        </m:r>
                      </m:sub>
                    </m:sSub>
                    <m:sSup>
                      <m:sSupPr>
                        <m:ctrlPr>
                          <a:rPr kumimoji="0" lang="zh-CN"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3</m:t>
                        </m:r>
                      </m:sup>
                    </m:s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4</m:t>
                        </m:r>
                      </m:sub>
                    </m:sSub>
                    <m:sSup>
                      <m:sSupPr>
                        <m:ctrlPr>
                          <a:rPr kumimoji="0" lang="zh-CN"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4</m:t>
                        </m:r>
                      </m:sup>
                    </m:s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5</m:t>
                        </m:r>
                      </m:sub>
                    </m:sSub>
                    <m:sSup>
                      <m:sSupPr>
                        <m:ctrlPr>
                          <a:rPr kumimoji="0" lang="zh-CN"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5</m:t>
                        </m:r>
                      </m:sup>
                    </m:sSup>
                  </m:oMath>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zh-CN"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0</m:t>
                        </m:r>
                      </m:sub>
                    </m:s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sSup>
                      <m:sSupPr>
                        <m:ctrlPr>
                          <a:rPr kumimoji="0" lang="zh-CN"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2</m:t>
                        </m:r>
                      </m:sup>
                    </m:sSup>
                  </m:oMath>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7" name="文本框 6"/>
              <p:cNvSpPr txBox="1">
                <a:spLocks noRot="1" noChangeAspect="1" noMove="1" noResize="1" noEditPoints="1" noAdjustHandles="1" noChangeArrowheads="1" noChangeShapeType="1" noTextEdit="1"/>
              </p:cNvSpPr>
              <p:nvPr/>
            </p:nvSpPr>
            <p:spPr>
              <a:xfrm>
                <a:off x="7033824" y="2783101"/>
                <a:ext cx="4920343" cy="1234184"/>
              </a:xfrm>
              <a:prstGeom prst="rect">
                <a:avLst/>
              </a:prstGeom>
              <a:blipFill>
                <a:blip r:embed="rId4"/>
                <a:stretch>
                  <a:fillRect l="-1115" t="-5446" b="-79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5629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j-ea"/>
              </a:rPr>
              <a:t>减少過擬合的方法：捨</a:t>
            </a:r>
            <a:r>
              <a:rPr lang="zh-TW" altLang="en-US" dirty="0">
                <a:latin typeface="+mj-ea"/>
              </a:rPr>
              <a:t>棄</a:t>
            </a:r>
            <a:r>
              <a:rPr lang="zh-CN" altLang="en-US" dirty="0">
                <a:latin typeface="+mj-ea"/>
              </a:rPr>
              <a:t>法</a:t>
            </a:r>
            <a:r>
              <a:rPr lang="zh-CN" altLang="en-US" dirty="0"/>
              <a:t>（</a:t>
            </a:r>
            <a:r>
              <a:rPr lang="en-US" altLang="zh-CN" dirty="0"/>
              <a:t>Dropout</a:t>
            </a:r>
            <a:r>
              <a:rPr lang="zh-CN" altLang="en-US" dirty="0"/>
              <a:t>）</a:t>
            </a:r>
          </a:p>
        </p:txBody>
      </p:sp>
      <p:sp>
        <p:nvSpPr>
          <p:cNvPr id="3" name="内容占位符 2"/>
          <p:cNvSpPr>
            <a:spLocks noGrp="1"/>
          </p:cNvSpPr>
          <p:nvPr>
            <p:ph sz="quarter" idx="1"/>
          </p:nvPr>
        </p:nvSpPr>
        <p:spPr>
          <a:xfrm>
            <a:off x="1219200" y="1417638"/>
            <a:ext cx="10363200" cy="4572000"/>
          </a:xfrm>
        </p:spPr>
        <p:txBody>
          <a:bodyPr/>
          <a:lstStyle/>
          <a:p>
            <a:r>
              <a:rPr lang="zh-CN" altLang="en-US" dirty="0"/>
              <a:t>隨機地</a:t>
            </a:r>
            <a:r>
              <a:rPr lang="zh-CN" altLang="en-US" b="1" dirty="0">
                <a:solidFill>
                  <a:srgbClr val="FF0000"/>
                </a:solidFill>
              </a:rPr>
              <a:t>臨時</a:t>
            </a:r>
            <a:r>
              <a:rPr lang="zh-CN" altLang="en-US" dirty="0"/>
              <a:t>捨</a:t>
            </a:r>
            <a:r>
              <a:rPr lang="zh-TW" altLang="en-US" dirty="0"/>
              <a:t>棄</a:t>
            </a:r>
            <a:r>
              <a:rPr lang="zh-CN" altLang="en-US" dirty="0"/>
              <a:t>一些神經元</a:t>
            </a:r>
          </a:p>
        </p:txBody>
      </p:sp>
      <p:pic>
        <p:nvPicPr>
          <p:cNvPr id="4" name="Picture 2" descr="http://neuralnetworksanddeeplearning.com/images/tikz31.png"/>
          <p:cNvPicPr>
            <a:picLocks noChangeAspect="1" noChangeArrowheads="1"/>
          </p:cNvPicPr>
          <p:nvPr/>
        </p:nvPicPr>
        <p:blipFill>
          <a:blip r:embed="rId2" cstate="print"/>
          <a:srcRect/>
          <a:stretch>
            <a:fillRect/>
          </a:stretch>
        </p:blipFill>
        <p:spPr bwMode="auto">
          <a:xfrm rot="16200000">
            <a:off x="3431176" y="1873043"/>
            <a:ext cx="3824116" cy="3996819"/>
          </a:xfrm>
          <a:prstGeom prst="rect">
            <a:avLst/>
          </a:prstGeom>
          <a:noFill/>
        </p:spPr>
      </p:pic>
      <p:sp>
        <p:nvSpPr>
          <p:cNvPr id="5" name="矩形 4"/>
          <p:cNvSpPr/>
          <p:nvPr/>
        </p:nvSpPr>
        <p:spPr>
          <a:xfrm>
            <a:off x="3839123" y="2560638"/>
            <a:ext cx="785862" cy="22882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輸出</a:t>
            </a:r>
          </a:p>
        </p:txBody>
      </p:sp>
      <p:sp>
        <p:nvSpPr>
          <p:cNvPr id="6" name="矩形 5"/>
          <p:cNvSpPr/>
          <p:nvPr/>
        </p:nvSpPr>
        <p:spPr>
          <a:xfrm>
            <a:off x="2951893" y="5466585"/>
            <a:ext cx="785862" cy="22882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輸入</a:t>
            </a:r>
          </a:p>
        </p:txBody>
      </p:sp>
    </p:spTree>
    <p:extLst>
      <p:ext uri="{BB962C8B-B14F-4D97-AF65-F5344CB8AC3E}">
        <p14:creationId xmlns:p14="http://schemas.microsoft.com/office/powerpoint/2010/main" val="51381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減少過擬合的方法：資料增強法</a:t>
            </a:r>
          </a:p>
        </p:txBody>
      </p:sp>
      <p:sp>
        <p:nvSpPr>
          <p:cNvPr id="3" name="内容占位符 2"/>
          <p:cNvSpPr>
            <a:spLocks noGrp="1"/>
          </p:cNvSpPr>
          <p:nvPr>
            <p:ph sz="quarter" idx="1"/>
          </p:nvPr>
        </p:nvSpPr>
        <p:spPr/>
        <p:txBody>
          <a:bodyPr/>
          <a:lstStyle/>
          <a:p>
            <a:r>
              <a:rPr lang="zh-CN" altLang="en-US" dirty="0"/>
              <a:t>數據越多，過擬合的風險就越小</a:t>
            </a:r>
          </a:p>
        </p:txBody>
      </p:sp>
      <p:pic>
        <p:nvPicPr>
          <p:cNvPr id="4" name="图片 3"/>
          <p:cNvPicPr>
            <a:picLocks noChangeAspect="1"/>
          </p:cNvPicPr>
          <p:nvPr/>
        </p:nvPicPr>
        <p:blipFill>
          <a:blip r:embed="rId2"/>
          <a:stretch>
            <a:fillRect/>
          </a:stretch>
        </p:blipFill>
        <p:spPr>
          <a:xfrm>
            <a:off x="1898469" y="2476202"/>
            <a:ext cx="6213301" cy="3543598"/>
          </a:xfrm>
          <a:prstGeom prst="rect">
            <a:avLst/>
          </a:prstGeom>
        </p:spPr>
      </p:pic>
      <p:sp>
        <p:nvSpPr>
          <p:cNvPr id="5" name="文本框 4"/>
          <p:cNvSpPr txBox="1"/>
          <p:nvPr/>
        </p:nvSpPr>
        <p:spPr>
          <a:xfrm>
            <a:off x="8111770" y="5475533"/>
            <a:ext cx="3257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a:t>
            </a:r>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6" name="文本框 5"/>
          <p:cNvSpPr txBox="1"/>
          <p:nvPr/>
        </p:nvSpPr>
        <p:spPr>
          <a:xfrm>
            <a:off x="1898469" y="2104539"/>
            <a:ext cx="59824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a:t>
            </a:r>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19125050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如何獲得更多的資料？</a:t>
            </a:r>
          </a:p>
        </p:txBody>
      </p:sp>
      <p:sp>
        <p:nvSpPr>
          <p:cNvPr id="3" name="内容占位符 2"/>
          <p:cNvSpPr>
            <a:spLocks noGrp="1"/>
          </p:cNvSpPr>
          <p:nvPr>
            <p:ph sz="quarter" idx="1"/>
          </p:nvPr>
        </p:nvSpPr>
        <p:spPr/>
        <p:txBody>
          <a:bodyPr/>
          <a:lstStyle/>
          <a:p>
            <a:r>
              <a:rPr lang="zh-CN" altLang="en-US" dirty="0"/>
              <a:t>資料增強</a:t>
            </a:r>
            <a:endParaRPr lang="en-US" altLang="zh-CN" dirty="0"/>
          </a:p>
          <a:p>
            <a:pPr lvl="1"/>
            <a:r>
              <a:rPr lang="zh-CN" altLang="en-US" dirty="0"/>
              <a:t>通過各種變換增加資料的數量</a:t>
            </a:r>
            <a:endParaRPr lang="en-US" altLang="zh-CN" dirty="0"/>
          </a:p>
          <a:p>
            <a:r>
              <a:rPr lang="zh-CN" altLang="en-US" dirty="0"/>
              <a:t>圖像數據</a:t>
            </a:r>
            <a:endParaRPr lang="en-US" altLang="zh-CN" dirty="0"/>
          </a:p>
          <a:p>
            <a:pPr lvl="1"/>
            <a:r>
              <a:rPr lang="zh-CN" altLang="en-US" dirty="0"/>
              <a:t>縮放、旋轉、局部截取、改變顏色等</a:t>
            </a:r>
          </a:p>
        </p:txBody>
      </p:sp>
      <p:pic>
        <p:nvPicPr>
          <p:cNvPr id="4" name="图片 3"/>
          <p:cNvPicPr>
            <a:picLocks noChangeAspect="1"/>
          </p:cNvPicPr>
          <p:nvPr/>
        </p:nvPicPr>
        <p:blipFill>
          <a:blip r:embed="rId3"/>
          <a:stretch>
            <a:fillRect/>
          </a:stretch>
        </p:blipFill>
        <p:spPr>
          <a:xfrm>
            <a:off x="1375954" y="2749415"/>
            <a:ext cx="3936273" cy="2183401"/>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633399">
            <a:off x="6048208" y="805197"/>
            <a:ext cx="2810121" cy="1558739"/>
          </a:xfrm>
          <a:prstGeom prst="rect">
            <a:avLst/>
          </a:prstGeom>
        </p:spPr>
      </p:pic>
      <p:pic>
        <p:nvPicPr>
          <p:cNvPr id="6" name="图片 5"/>
          <p:cNvPicPr>
            <a:picLocks noChangeAspect="1"/>
          </p:cNvPicPr>
          <p:nvPr/>
        </p:nvPicPr>
        <p:blipFill>
          <a:blip r:embed="rId3"/>
          <a:stretch>
            <a:fillRect/>
          </a:stretch>
        </p:blipFill>
        <p:spPr>
          <a:xfrm>
            <a:off x="6400800" y="2894495"/>
            <a:ext cx="1876682" cy="1040972"/>
          </a:xfrm>
          <a:prstGeom prst="rect">
            <a:avLst/>
          </a:prstGeom>
        </p:spPr>
      </p:pic>
      <p:pic>
        <p:nvPicPr>
          <p:cNvPr id="7" name="图片 6"/>
          <p:cNvPicPr>
            <a:picLocks noChangeAspect="1"/>
          </p:cNvPicPr>
          <p:nvPr/>
        </p:nvPicPr>
        <p:blipFill>
          <a:blip r:embed="rId5"/>
          <a:stretch>
            <a:fillRect/>
          </a:stretch>
        </p:blipFill>
        <p:spPr>
          <a:xfrm>
            <a:off x="6400800" y="4463817"/>
            <a:ext cx="2243822" cy="1555983"/>
          </a:xfrm>
          <a:prstGeom prst="rect">
            <a:avLst/>
          </a:prstGeom>
        </p:spPr>
      </p:pic>
      <p:cxnSp>
        <p:nvCxnSpPr>
          <p:cNvPr id="8" name="直接箭头连接符 7"/>
          <p:cNvCxnSpPr>
            <a:stCxn id="4" idx="3"/>
          </p:cNvCxnSpPr>
          <p:nvPr/>
        </p:nvCxnSpPr>
        <p:spPr>
          <a:xfrm flipV="1">
            <a:off x="5312227" y="2211978"/>
            <a:ext cx="1141423" cy="16291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4" idx="3"/>
            <a:endCxn id="6" idx="1"/>
          </p:cNvCxnSpPr>
          <p:nvPr/>
        </p:nvCxnSpPr>
        <p:spPr>
          <a:xfrm flipV="1">
            <a:off x="5312227" y="3414981"/>
            <a:ext cx="1088573" cy="4261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4" idx="3"/>
          </p:cNvCxnSpPr>
          <p:nvPr/>
        </p:nvCxnSpPr>
        <p:spPr>
          <a:xfrm>
            <a:off x="5312227" y="3841116"/>
            <a:ext cx="1088573" cy="155819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6"/>
          <a:stretch>
            <a:fillRect/>
          </a:stretch>
        </p:blipFill>
        <p:spPr>
          <a:xfrm>
            <a:off x="1600758" y="1648522"/>
            <a:ext cx="4890081" cy="2205615"/>
          </a:xfrm>
          <a:prstGeom prst="rect">
            <a:avLst/>
          </a:prstGeom>
        </p:spPr>
      </p:pic>
      <p:pic>
        <p:nvPicPr>
          <p:cNvPr id="24" name="图片 23"/>
          <p:cNvPicPr>
            <a:picLocks noChangeAspect="1"/>
          </p:cNvPicPr>
          <p:nvPr/>
        </p:nvPicPr>
        <p:blipFill>
          <a:blip r:embed="rId7"/>
          <a:stretch>
            <a:fillRect/>
          </a:stretch>
        </p:blipFill>
        <p:spPr>
          <a:xfrm>
            <a:off x="3210473" y="4079065"/>
            <a:ext cx="5897352" cy="2118809"/>
          </a:xfrm>
          <a:prstGeom prst="rect">
            <a:avLst/>
          </a:prstGeom>
        </p:spPr>
      </p:pic>
      <p:sp>
        <p:nvSpPr>
          <p:cNvPr id="13" name="文本框 12"/>
          <p:cNvSpPr txBox="1"/>
          <p:nvPr/>
        </p:nvSpPr>
        <p:spPr>
          <a:xfrm>
            <a:off x="7946233" y="1910787"/>
            <a:ext cx="2786969"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四庫全書</a:t>
            </a:r>
            <a:r>
              <a:rPr kumimoji="0" lang="en-US" altLang="zh-CN"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數位化中用到的非線性資料增強方法方法</a:t>
            </a:r>
          </a:p>
        </p:txBody>
      </p:sp>
    </p:spTree>
    <p:extLst>
      <p:ext uri="{BB962C8B-B14F-4D97-AF65-F5344CB8AC3E}">
        <p14:creationId xmlns:p14="http://schemas.microsoft.com/office/powerpoint/2010/main" val="24208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par>
                                <p:cTn id="30" presetID="53" presetClass="entr" presetSubtype="16"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Effect transition="in" filter="fade">
                                      <p:cBhvr>
                                        <p:cTn id="34" dur="500"/>
                                        <p:tgtEl>
                                          <p:spTgt spid="5"/>
                                        </p:tgtEl>
                                      </p:cBhvr>
                                    </p:animEffect>
                                  </p:childTnLst>
                                </p:cTn>
                              </p:par>
                              <p:par>
                                <p:cTn id="35" presetID="53" presetClass="entr" presetSubtype="16"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fltVal val="0"/>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animEffect transition="in" filter="fade">
                                      <p:cBhvr>
                                        <p:cTn id="39" dur="500"/>
                                        <p:tgtEl>
                                          <p:spTgt spid="6"/>
                                        </p:tgtEl>
                                      </p:cBhvr>
                                    </p:animEffect>
                                  </p:childTnLst>
                                </p:cTn>
                              </p:par>
                              <p:par>
                                <p:cTn id="40" presetID="53" presetClass="entr" presetSubtype="16"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p:cTn id="42" dur="500" fill="hold"/>
                                        <p:tgtEl>
                                          <p:spTgt spid="7"/>
                                        </p:tgtEl>
                                        <p:attrNameLst>
                                          <p:attrName>ppt_w</p:attrName>
                                        </p:attrNameLst>
                                      </p:cBhvr>
                                      <p:tavLst>
                                        <p:tav tm="0">
                                          <p:val>
                                            <p:fltVal val="0"/>
                                          </p:val>
                                        </p:tav>
                                        <p:tav tm="100000">
                                          <p:val>
                                            <p:strVal val="#ppt_w"/>
                                          </p:val>
                                        </p:tav>
                                      </p:tavLst>
                                    </p:anim>
                                    <p:anim calcmode="lin" valueType="num">
                                      <p:cBhvr>
                                        <p:cTn id="43" dur="500" fill="hold"/>
                                        <p:tgtEl>
                                          <p:spTgt spid="7"/>
                                        </p:tgtEl>
                                        <p:attrNameLst>
                                          <p:attrName>ppt_h</p:attrName>
                                        </p:attrNameLst>
                                      </p:cBhvr>
                                      <p:tavLst>
                                        <p:tav tm="0">
                                          <p:val>
                                            <p:fltVal val="0"/>
                                          </p:val>
                                        </p:tav>
                                        <p:tav tm="100000">
                                          <p:val>
                                            <p:strVal val="#ppt_h"/>
                                          </p:val>
                                        </p:tav>
                                      </p:tavLst>
                                    </p:anim>
                                    <p:animEffect transition="in" filter="fade">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4"/>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2"/>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4"/>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5"/>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6"/>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7"/>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小結</a:t>
            </a:r>
          </a:p>
        </p:txBody>
      </p:sp>
      <p:sp>
        <p:nvSpPr>
          <p:cNvPr id="3" name="内容占位符 2"/>
          <p:cNvSpPr>
            <a:spLocks noGrp="1"/>
          </p:cNvSpPr>
          <p:nvPr>
            <p:ph sz="quarter" idx="1"/>
          </p:nvPr>
        </p:nvSpPr>
        <p:spPr/>
        <p:txBody>
          <a:bodyPr/>
          <a:lstStyle/>
          <a:p>
            <a:endParaRPr lang="en-US" altLang="zh-CN" dirty="0"/>
          </a:p>
          <a:p>
            <a:r>
              <a:rPr lang="zh-CN" altLang="en-US" dirty="0"/>
              <a:t>過擬合問題</a:t>
            </a:r>
            <a:endParaRPr lang="en-US" altLang="zh-CN" dirty="0"/>
          </a:p>
          <a:p>
            <a:r>
              <a:rPr lang="zh-CN" altLang="en-US" dirty="0"/>
              <a:t>解決方法</a:t>
            </a:r>
            <a:endParaRPr lang="en-US" altLang="zh-CN" dirty="0"/>
          </a:p>
          <a:p>
            <a:pPr lvl="1"/>
            <a:r>
              <a:rPr lang="zh-CN" altLang="en-US" dirty="0"/>
              <a:t>利用測試集（驗證集）</a:t>
            </a:r>
            <a:endParaRPr lang="en-US" altLang="zh-CN" dirty="0"/>
          </a:p>
          <a:p>
            <a:pPr lvl="1"/>
            <a:r>
              <a:rPr lang="zh-CN" altLang="en-US" dirty="0"/>
              <a:t>限制模型的複雜性</a:t>
            </a:r>
            <a:endParaRPr lang="en-US" altLang="zh-CN" dirty="0"/>
          </a:p>
          <a:p>
            <a:pPr lvl="2"/>
            <a:r>
              <a:rPr lang="zh-CN" altLang="en-US" dirty="0"/>
              <a:t>正則化項法</a:t>
            </a:r>
            <a:endParaRPr lang="en-US" altLang="zh-CN" dirty="0"/>
          </a:p>
          <a:p>
            <a:pPr lvl="2"/>
            <a:r>
              <a:rPr lang="zh-CN" altLang="en-US" dirty="0"/>
              <a:t>捨棄法</a:t>
            </a:r>
            <a:endParaRPr lang="en-US" altLang="zh-CN" dirty="0"/>
          </a:p>
          <a:p>
            <a:pPr lvl="1"/>
            <a:r>
              <a:rPr lang="zh-CN" altLang="en-US" dirty="0"/>
              <a:t>增加資料量</a:t>
            </a:r>
            <a:endParaRPr lang="en-US" altLang="zh-CN" dirty="0"/>
          </a:p>
          <a:p>
            <a:pPr lvl="2"/>
            <a:r>
              <a:rPr lang="zh-CN" altLang="en-US" dirty="0"/>
              <a:t>資料增強</a:t>
            </a:r>
            <a:endParaRPr lang="en-US" altLang="zh-CN" dirty="0"/>
          </a:p>
          <a:p>
            <a:endParaRPr lang="zh-CN" altLang="en-US" dirty="0"/>
          </a:p>
        </p:txBody>
      </p:sp>
    </p:spTree>
    <p:extLst>
      <p:ext uri="{BB962C8B-B14F-4D97-AF65-F5344CB8AC3E}">
        <p14:creationId xmlns:p14="http://schemas.microsoft.com/office/powerpoint/2010/main" val="402290659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2.7 </a:t>
            </a:r>
            <a:r>
              <a:rPr lang="zh-CN" altLang="en-US" dirty="0"/>
              <a:t>詞向量</a:t>
            </a:r>
          </a:p>
        </p:txBody>
      </p:sp>
      <p:sp>
        <p:nvSpPr>
          <p:cNvPr id="3" name="内容占位符 2"/>
          <p:cNvSpPr>
            <a:spLocks noGrp="1"/>
          </p:cNvSpPr>
          <p:nvPr>
            <p:ph sz="quarter" idx="1"/>
          </p:nvPr>
        </p:nvSpPr>
        <p:spPr>
          <a:xfrm>
            <a:off x="1219200" y="1804852"/>
            <a:ext cx="10363200" cy="4572000"/>
          </a:xfrm>
        </p:spPr>
        <p:txBody>
          <a:bodyPr/>
          <a:lstStyle/>
          <a:p>
            <a:r>
              <a:rPr lang="zh-CN" altLang="en-US" dirty="0"/>
              <a:t>神經網絡如何處理文本問題？</a:t>
            </a:r>
            <a:endParaRPr lang="en-US" altLang="zh-CN" dirty="0"/>
          </a:p>
          <a:p>
            <a:pPr lvl="1"/>
            <a:r>
              <a:rPr lang="zh-CN" altLang="en-US" dirty="0"/>
              <a:t>如何表示詞</a:t>
            </a:r>
            <a:endParaRPr lang="en-US" altLang="zh-CN" dirty="0"/>
          </a:p>
          <a:p>
            <a:pPr lvl="1"/>
            <a:r>
              <a:rPr lang="zh-CN" altLang="en-US" dirty="0"/>
              <a:t>如何表示文本</a:t>
            </a:r>
            <a:endParaRPr lang="en-US" altLang="zh-CN" dirty="0"/>
          </a:p>
        </p:txBody>
      </p:sp>
    </p:spTree>
    <p:extLst>
      <p:ext uri="{BB962C8B-B14F-4D97-AF65-F5344CB8AC3E}">
        <p14:creationId xmlns:p14="http://schemas.microsoft.com/office/powerpoint/2010/main" val="320051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獨熱（</a:t>
            </a:r>
            <a:r>
              <a:rPr lang="en-US" altLang="zh-CN" dirty="0"/>
              <a:t>one-hot</a:t>
            </a:r>
            <a:r>
              <a:rPr lang="zh-CN" altLang="en-US" dirty="0"/>
              <a:t>）編碼</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150613"/>
                <a:ext cx="10363200" cy="4572000"/>
              </a:xfrm>
            </p:spPr>
            <p:txBody>
              <a:bodyPr/>
              <a:lstStyle/>
              <a:p>
                <a:endParaRPr lang="en-US" altLang="zh-CN" dirty="0"/>
              </a:p>
              <a:p>
                <a:r>
                  <a:rPr lang="zh-CN" altLang="en-US" dirty="0"/>
                  <a:t>用與詞表等長的向量表示一個詞</a:t>
                </a:r>
                <a:endParaRPr lang="en-US" altLang="zh-CN" dirty="0"/>
              </a:p>
              <a:p>
                <a:r>
                  <a:rPr lang="zh-CN" altLang="en-US" dirty="0"/>
                  <a:t>向量只有一個元素爲</a:t>
                </a:r>
                <a:r>
                  <a:rPr lang="en-US" altLang="zh-CN" dirty="0"/>
                  <a:t>1</a:t>
                </a:r>
                <a:r>
                  <a:rPr lang="zh-CN" altLang="en-US" dirty="0"/>
                  <a:t>，其餘爲</a:t>
                </a:r>
                <a:r>
                  <a:rPr lang="en-US" altLang="zh-CN" dirty="0"/>
                  <a:t>0</a:t>
                </a:r>
              </a:p>
              <a:p>
                <a:r>
                  <a:rPr lang="zh-CN" altLang="en-US" dirty="0"/>
                  <a:t>第</a:t>
                </a:r>
                <a:r>
                  <a:rPr lang="en-US" altLang="zh-CN" dirty="0" err="1"/>
                  <a:t>i</a:t>
                </a:r>
                <a:r>
                  <a:rPr lang="zh-CN" altLang="en-US" dirty="0"/>
                  <a:t>個元素爲</a:t>
                </a:r>
                <a:r>
                  <a:rPr lang="en-US" altLang="zh-CN" dirty="0"/>
                  <a:t>1</a:t>
                </a:r>
                <a:r>
                  <a:rPr lang="zh-CN" altLang="en-US" dirty="0"/>
                  <a:t>的向量用于表示詞表中的第</a:t>
                </a:r>
                <a:r>
                  <a:rPr lang="en-US" altLang="zh-CN" dirty="0" err="1"/>
                  <a:t>i</a:t>
                </a:r>
                <a:r>
                  <a:rPr lang="zh-CN" altLang="en-US" dirty="0"/>
                  <a:t>個詞</a:t>
                </a:r>
                <a:endParaRPr lang="en-US" altLang="zh-CN" dirty="0"/>
              </a:p>
              <a:p>
                <a:endParaRPr lang="en-US" altLang="zh-CN" sz="1800" dirty="0"/>
              </a:p>
              <a:p>
                <a:pPr marL="0" indent="0" algn="just">
                  <a:buNone/>
                </a:pPr>
                <a:r>
                  <a:rPr lang="zh-CN" altLang="en-US" dirty="0"/>
                  <a:t>                  詞表：</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詞</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詞</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m:t>
                        </m:r>
                        <m:sSub>
                          <m:sSubPr>
                            <m:ctrlPr>
                              <a:rPr lang="en-US" altLang="zh-CN" i="1" smtClean="0">
                                <a:solidFill>
                                  <a:srgbClr val="FF0000"/>
                                </a:solidFill>
                                <a:latin typeface="Cambria Math" panose="02040503050406030204" pitchFamily="18" charset="0"/>
                              </a:rPr>
                            </m:ctrlPr>
                          </m:sSubPr>
                          <m:e>
                            <m:r>
                              <a:rPr lang="zh-CN" altLang="en-US" i="1" smtClean="0">
                                <a:solidFill>
                                  <a:srgbClr val="FF0000"/>
                                </a:solidFill>
                                <a:latin typeface="Cambria Math" panose="02040503050406030204" pitchFamily="18" charset="0"/>
                              </a:rPr>
                              <m:t>詞</m:t>
                            </m:r>
                          </m:e>
                          <m:sub>
                            <m:r>
                              <a:rPr lang="en-US" altLang="zh-CN" b="0" i="1" smtClean="0">
                                <a:solidFill>
                                  <a:srgbClr val="FF0000"/>
                                </a:solidFill>
                                <a:latin typeface="Cambria Math" panose="02040503050406030204" pitchFamily="18" charset="0"/>
                              </a:rPr>
                              <m:t>𝑖</m:t>
                            </m:r>
                          </m:sub>
                        </m:sSub>
                        <m:r>
                          <a:rPr lang="en-US" altLang="zh-CN" i="1">
                            <a:latin typeface="Cambria Math" panose="02040503050406030204" pitchFamily="18" charset="0"/>
                          </a:rPr>
                          <m:t>,</m:t>
                        </m:r>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詞</m:t>
                            </m:r>
                          </m:e>
                          <m:sub>
                            <m:r>
                              <a:rPr lang="en-US" altLang="zh-CN" b="0" i="1" smtClean="0">
                                <a:latin typeface="Cambria Math" panose="02040503050406030204" pitchFamily="18" charset="0"/>
                              </a:rPr>
                              <m:t>𝑁</m:t>
                            </m:r>
                          </m:sub>
                        </m:sSub>
                      </m:e>
                    </m:d>
                  </m:oMath>
                </a14:m>
                <a:endParaRPr lang="en-US" altLang="zh-CN" dirty="0"/>
              </a:p>
              <a:p>
                <a:pPr marL="0" indent="0" algn="just">
                  <a:buNone/>
                </a:pPr>
                <a:endParaRPr lang="en-US" altLang="zh-CN" sz="1600" dirty="0"/>
              </a:p>
              <a:p>
                <a:pPr marL="0" indent="0" algn="just">
                  <a:buNone/>
                </a:pPr>
                <a:endParaRPr lang="en-US" altLang="zh-CN" sz="1600" dirty="0"/>
              </a:p>
              <a:p>
                <a:pPr marL="0" indent="0" algn="just">
                  <a:buNone/>
                </a:pPr>
                <a:r>
                  <a:rPr lang="zh-CN" altLang="en-US" dirty="0"/>
                  <a:t>                   向量：</a:t>
                </a:r>
                <a14:m>
                  <m:oMath xmlns:m="http://schemas.openxmlformats.org/officeDocument/2006/math">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0,0,…,0,</m:t>
                        </m:r>
                        <m:r>
                          <a:rPr lang="en-US" altLang="zh-CN" i="1" smtClean="0">
                            <a:solidFill>
                              <a:srgbClr val="FF0000"/>
                            </a:solidFill>
                            <a:latin typeface="Cambria Math" panose="02040503050406030204" pitchFamily="18" charset="0"/>
                          </a:rPr>
                          <m:t>1</m:t>
                        </m:r>
                        <m:r>
                          <a:rPr lang="en-US" altLang="zh-CN" i="1">
                            <a:latin typeface="Cambria Math" panose="02040503050406030204" pitchFamily="18" charset="0"/>
                          </a:rPr>
                          <m:t>,0,…,0</m:t>
                        </m:r>
                      </m:e>
                    </m:d>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150613"/>
                <a:ext cx="10363200" cy="4572000"/>
              </a:xfrm>
              <a:blipFill>
                <a:blip r:embed="rId2"/>
                <a:stretch>
                  <a:fillRect/>
                </a:stretch>
              </a:blipFill>
            </p:spPr>
            <p:txBody>
              <a:bodyPr/>
              <a:lstStyle/>
              <a:p>
                <a:r>
                  <a:rPr lang="zh-TW" altLang="en-US">
                    <a:noFill/>
                  </a:rPr>
                  <a:t> </a:t>
                </a:r>
              </a:p>
            </p:txBody>
          </p:sp>
        </mc:Fallback>
      </mc:AlternateContent>
      <p:sp>
        <p:nvSpPr>
          <p:cNvPr id="4" name="文本框 3"/>
          <p:cNvSpPr txBox="1"/>
          <p:nvPr/>
        </p:nvSpPr>
        <p:spPr>
          <a:xfrm>
            <a:off x="3675433" y="5522558"/>
            <a:ext cx="126989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第</a:t>
            </a:r>
            <a:r>
              <a:rPr kumimoji="0" lang="en-US" altLang="zh-CN" sz="2000" b="0" i="0" u="none" strike="noStrike" kern="1200" cap="none" spc="0" normalizeH="0" baseline="0" noProof="0" dirty="0" err="1">
                <a:ln>
                  <a:noFill/>
                </a:ln>
                <a:solidFill>
                  <a:srgbClr val="FF0000"/>
                </a:solidFill>
                <a:effectLst/>
                <a:uLnTx/>
                <a:uFillTx/>
                <a:latin typeface="Perpetua"/>
                <a:ea typeface="宋体" panose="02010600030101010101" pitchFamily="2" charset="-122"/>
                <a:cs typeface="+mn-cs"/>
              </a:rPr>
              <a:t>i</a:t>
            </a: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个元素</a:t>
            </a:r>
          </a:p>
        </p:txBody>
      </p:sp>
      <p:cxnSp>
        <p:nvCxnSpPr>
          <p:cNvPr id="5" name="直接箭头连接符 4"/>
          <p:cNvCxnSpPr/>
          <p:nvPr/>
        </p:nvCxnSpPr>
        <p:spPr>
          <a:xfrm flipH="1">
            <a:off x="5190309" y="3840480"/>
            <a:ext cx="348342" cy="714103"/>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stCxn id="4" idx="0"/>
          </p:cNvCxnSpPr>
          <p:nvPr/>
        </p:nvCxnSpPr>
        <p:spPr>
          <a:xfrm flipV="1">
            <a:off x="4310383" y="4920343"/>
            <a:ext cx="810257" cy="6022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384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獨熱編碼舉例</a:t>
            </a:r>
          </a:p>
        </p:txBody>
      </p:sp>
      <p:sp>
        <p:nvSpPr>
          <p:cNvPr id="3" name="内容占位符 2"/>
          <p:cNvSpPr>
            <a:spLocks noGrp="1"/>
          </p:cNvSpPr>
          <p:nvPr>
            <p:ph sz="quarter" idx="1"/>
          </p:nvPr>
        </p:nvSpPr>
        <p:spPr/>
        <p:txBody>
          <a:bodyPr/>
          <a:lstStyle/>
          <a:p>
            <a:pPr marL="0" indent="0">
              <a:buNone/>
            </a:pPr>
            <a:endParaRPr lang="en-US" altLang="zh-CN" dirty="0"/>
          </a:p>
          <a:p>
            <a:r>
              <a:rPr lang="zh-CN" altLang="en-US" dirty="0"/>
              <a:t>文本：我在清華大學學習，生活在美麗的清華園中</a:t>
            </a:r>
            <a:endParaRPr lang="en-US" altLang="zh-CN" dirty="0"/>
          </a:p>
          <a:p>
            <a:r>
              <a:rPr lang="zh-CN" altLang="en-US" dirty="0"/>
              <a:t>詞表：</a:t>
            </a:r>
            <a:r>
              <a:rPr lang="en-US" altLang="zh-CN" dirty="0"/>
              <a:t>{</a:t>
            </a:r>
            <a:r>
              <a:rPr lang="zh-CN" altLang="en-US" dirty="0"/>
              <a:t>我，在，清華大學，學習，生活，美麗的，清華園，中</a:t>
            </a:r>
            <a:r>
              <a:rPr lang="en-US" altLang="zh-CN" dirty="0"/>
              <a:t>}</a:t>
            </a:r>
          </a:p>
          <a:p>
            <a:r>
              <a:rPr lang="zh-CN" altLang="en-US" dirty="0"/>
              <a:t>獨熱表示：</a:t>
            </a:r>
            <a:endParaRPr lang="en-US" altLang="zh-CN" dirty="0"/>
          </a:p>
          <a:p>
            <a:pPr lvl="1"/>
            <a:r>
              <a:rPr lang="zh-CN" altLang="en-US" dirty="0"/>
              <a:t>“清華大學” </a:t>
            </a:r>
            <a:r>
              <a:rPr lang="en-US" altLang="zh-CN" dirty="0"/>
              <a:t>	= [0, 0, 1, 0, 0, 0, 0, 0]</a:t>
            </a:r>
          </a:p>
          <a:p>
            <a:pPr lvl="1"/>
            <a:r>
              <a:rPr lang="zh-CN" altLang="en-US" dirty="0"/>
              <a:t>“清華園”     </a:t>
            </a:r>
            <a:r>
              <a:rPr lang="en-US" altLang="zh-CN" dirty="0"/>
              <a:t>	= [0, 0, 0, 0, 0, 0, 1, 0]</a:t>
            </a:r>
          </a:p>
          <a:p>
            <a:pPr lvl="1"/>
            <a:r>
              <a:rPr lang="zh-CN" altLang="en-US" dirty="0"/>
              <a:t>“美麗的”     </a:t>
            </a:r>
            <a:r>
              <a:rPr lang="en-US" altLang="zh-CN" dirty="0"/>
              <a:t>	= [0, 0, 0, 0, 0, 1, 0, 0]</a:t>
            </a:r>
          </a:p>
          <a:p>
            <a:pPr lvl="1"/>
            <a:endParaRPr lang="zh-CN" altLang="en-US" dirty="0"/>
          </a:p>
        </p:txBody>
      </p:sp>
    </p:spTree>
    <p:extLst>
      <p:ext uri="{BB962C8B-B14F-4D97-AF65-F5344CB8AC3E}">
        <p14:creationId xmlns:p14="http://schemas.microsoft.com/office/powerpoint/2010/main" val="185148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獨熱編碼的特點</a:t>
            </a:r>
          </a:p>
        </p:txBody>
      </p:sp>
      <p:sp>
        <p:nvSpPr>
          <p:cNvPr id="3" name="内容占位符 2"/>
          <p:cNvSpPr>
            <a:spLocks noGrp="1"/>
          </p:cNvSpPr>
          <p:nvPr>
            <p:ph sz="quarter" idx="1"/>
          </p:nvPr>
        </p:nvSpPr>
        <p:spPr/>
        <p:txBody>
          <a:bodyPr/>
          <a:lstStyle/>
          <a:p>
            <a:r>
              <a:rPr lang="zh-CN" altLang="en-US" dirty="0"/>
              <a:t>優點</a:t>
            </a:r>
            <a:endParaRPr lang="en-US" altLang="zh-CN" dirty="0"/>
          </a:p>
          <a:p>
            <a:pPr lvl="1"/>
            <a:r>
              <a:rPr lang="zh-CN" altLang="en-US" dirty="0"/>
              <a:t>編碼簡單</a:t>
            </a:r>
            <a:endParaRPr lang="en-US" altLang="zh-CN" dirty="0"/>
          </a:p>
          <a:p>
            <a:pPr lvl="1"/>
            <a:endParaRPr lang="en-US" altLang="zh-CN" sz="1400" dirty="0"/>
          </a:p>
          <a:p>
            <a:r>
              <a:rPr lang="zh-CN" altLang="en-US" dirty="0"/>
              <a:t>缺點</a:t>
            </a:r>
            <a:endParaRPr lang="en-US" altLang="zh-CN" dirty="0"/>
          </a:p>
          <a:p>
            <a:pPr lvl="1"/>
            <a:r>
              <a:rPr lang="zh-CN" altLang="en-US" dirty="0"/>
              <a:t>編碼太長</a:t>
            </a:r>
            <a:endParaRPr lang="en-US" altLang="zh-CN" dirty="0"/>
          </a:p>
          <a:p>
            <a:pPr lvl="1"/>
            <a:r>
              <a:rPr lang="zh-CN" altLang="en-US" dirty="0"/>
              <a:t>無法度量詞之間的相似性</a:t>
            </a:r>
          </a:p>
        </p:txBody>
      </p:sp>
      <mc:AlternateContent xmlns:mc="http://schemas.openxmlformats.org/markup-compatibility/2006">
        <mc:Choice xmlns:a14="http://schemas.microsoft.com/office/drawing/2010/main" Requires="a14">
          <p:sp>
            <p:nvSpPr>
              <p:cNvPr id="4" name="矩形 3"/>
              <p:cNvSpPr/>
              <p:nvPr/>
            </p:nvSpPr>
            <p:spPr>
              <a:xfrm>
                <a:off x="714081" y="4080518"/>
                <a:ext cx="10197738" cy="872483"/>
              </a:xfrm>
              <a:prstGeom prst="rect">
                <a:avLst/>
              </a:prstGeom>
            </p:spPr>
            <p:txBody>
              <a:bodyPr wrap="square">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Perpetua"/>
                    <a:ea typeface="等线" panose="02010600030101010101" pitchFamily="2" charset="-122"/>
                    <a:cs typeface="Times New Roman" panose="02020603050405020304" pitchFamily="18" charset="0"/>
                  </a:rPr>
                  <a:t>   </a:t>
                </a:r>
                <a14:m>
                  <m:oMath xmlns:m="http://schemas.openxmlformats.org/officeDocument/2006/math">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b>
                      <m:sSub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清華大學</m:t>
                            </m:r>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清華園</m:t>
                            </m:r>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e>
                        </m:d>
                      </m:e>
                      <m:sub>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b>
                    </m:sSub>
                  </m:oMath>
                </a14:m>
                <a:endParaRPr kumimoji="0" lang="en-US" altLang="zh-CN" sz="1800" b="0" i="1" u="none" strike="noStrike" kern="100" cap="none" spc="0" normalizeH="0" baseline="0" noProof="0" dirty="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50000"/>
                  </a:lnSpc>
                  <a:spcBef>
                    <a:spcPts val="60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ad>
                        <m:radPr>
                          <m:degHide m:val="on"/>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0−1</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e>
                      </m:rad>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ad>
                        <m:radPr>
                          <m:degHide m:val="on"/>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e>
                      </m:rad>
                    </m:oMath>
                  </m:oMathPara>
                </a14:m>
                <a:endParaRPr kumimoji="0" lang="zh-CN" altLang="en-US" sz="3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4" name="矩形 3"/>
              <p:cNvSpPr>
                <a:spLocks noRot="1" noChangeAspect="1" noMove="1" noResize="1" noEditPoints="1" noAdjustHandles="1" noChangeArrowheads="1" noChangeShapeType="1" noTextEdit="1"/>
              </p:cNvSpPr>
              <p:nvPr/>
            </p:nvSpPr>
            <p:spPr>
              <a:xfrm>
                <a:off x="714081" y="4080518"/>
                <a:ext cx="10197738" cy="872483"/>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705363" y="5068534"/>
                <a:ext cx="10014857" cy="1010982"/>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Perpetua"/>
                    <a:ea typeface="等线" panose="02010600030101010101" pitchFamily="2" charset="-122"/>
                    <a:cs typeface="Times New Roman" panose="02020603050405020304" pitchFamily="18" charset="0"/>
                  </a:rPr>
                  <a:t>   </a:t>
                </a:r>
                <a14:m>
                  <m:oMath xmlns:m="http://schemas.openxmlformats.org/officeDocument/2006/math">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b>
                      <m:sSub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美麗的</m:t>
                            </m:r>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清華園</m:t>
                            </m:r>
                            <m:r>
                              <a:rPr kumimoji="0" lang="zh-CN" altLang="zh-CN"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e>
                        </m:d>
                      </m:e>
                      <m:sub>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b>
                    </m:sSub>
                  </m:oMath>
                </a14:m>
                <a:endParaRPr kumimoji="0" lang="en-US" altLang="zh-CN" sz="1800" b="0" i="1" u="none" strike="noStrike" kern="100" cap="none" spc="0" normalizeH="0" baseline="0" noProof="0" dirty="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ad>
                        <m:radPr>
                          <m:degHide m:val="on"/>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0−1</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m:t>
                                  </m:r>
                                </m:e>
                              </m:d>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e>
                      </m:rad>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ad>
                        <m:radPr>
                          <m:degHide m:val="on"/>
                          <m:ctrlPr>
                            <a:rPr kumimoji="0" lang="zh-CN" altLang="zh-CN" sz="1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e>
                      </m:rad>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5" name="矩形 4"/>
              <p:cNvSpPr>
                <a:spLocks noRot="1" noChangeAspect="1" noMove="1" noResize="1" noEditPoints="1" noAdjustHandles="1" noChangeArrowheads="1" noChangeShapeType="1" noTextEdit="1"/>
              </p:cNvSpPr>
              <p:nvPr/>
            </p:nvSpPr>
            <p:spPr>
              <a:xfrm>
                <a:off x="705363" y="5068534"/>
                <a:ext cx="10014857" cy="1010982"/>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9315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D15AF-5788-FACF-BBDD-3C64845D81E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745CDD-4883-3E12-E882-627F9D386DCA}"/>
              </a:ext>
            </a:extLst>
          </p:cNvPr>
          <p:cNvSpPr>
            <a:spLocks noGrp="1"/>
          </p:cNvSpPr>
          <p:nvPr>
            <p:ph type="title"/>
          </p:nvPr>
        </p:nvSpPr>
        <p:spPr>
          <a:xfrm>
            <a:off x="1219200" y="158888"/>
            <a:ext cx="10363200" cy="1143000"/>
          </a:xfrm>
        </p:spPr>
        <p:txBody>
          <a:bodyPr/>
          <a:lstStyle/>
          <a:p>
            <a:r>
              <a:rPr lang="zh-CN" altLang="en-US" dirty="0"/>
              <a:t>前情回顧：殘差模塊</a:t>
            </a:r>
            <a:r>
              <a:rPr lang="en-US" altLang="zh-CN" dirty="0"/>
              <a:t>: skip connection</a:t>
            </a:r>
            <a:endParaRPr lang="zh-CN" altLang="en-US" dirty="0"/>
          </a:p>
        </p:txBody>
      </p:sp>
      <p:pic>
        <p:nvPicPr>
          <p:cNvPr id="20" name="内容占位符 19">
            <a:extLst>
              <a:ext uri="{FF2B5EF4-FFF2-40B4-BE49-F238E27FC236}">
                <a16:creationId xmlns:a16="http://schemas.microsoft.com/office/drawing/2014/main" id="{65B82461-5D2F-CF96-CFF3-5A20F8C410F7}"/>
              </a:ext>
            </a:extLst>
          </p:cNvPr>
          <p:cNvPicPr>
            <a:picLocks noGrp="1" noChangeAspect="1"/>
          </p:cNvPicPr>
          <p:nvPr>
            <p:ph sz="quarter" idx="1"/>
          </p:nvPr>
        </p:nvPicPr>
        <p:blipFill>
          <a:blip r:embed="rId4"/>
          <a:stretch>
            <a:fillRect/>
          </a:stretch>
        </p:blipFill>
        <p:spPr>
          <a:xfrm>
            <a:off x="3648893" y="1159593"/>
            <a:ext cx="5129348" cy="4990718"/>
          </a:xfrm>
          <a:prstGeom prst="rect">
            <a:avLst/>
          </a:prstGeom>
        </p:spPr>
      </p:pic>
      <p:sp>
        <p:nvSpPr>
          <p:cNvPr id="21" name="文本框 20">
            <a:extLst>
              <a:ext uri="{FF2B5EF4-FFF2-40B4-BE49-F238E27FC236}">
                <a16:creationId xmlns:a16="http://schemas.microsoft.com/office/drawing/2014/main" id="{365D46B9-0284-8775-165E-02910EC51B66}"/>
              </a:ext>
            </a:extLst>
          </p:cNvPr>
          <p:cNvSpPr txBox="1"/>
          <p:nvPr/>
        </p:nvSpPr>
        <p:spPr>
          <a:xfrm>
            <a:off x="2677900" y="2731622"/>
            <a:ext cx="1075494"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3×3</a:t>
            </a: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捲積</a:t>
            </a:r>
            <a:endPar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步長爲</a:t>
            </a: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填充爲</a:t>
            </a: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1</a:t>
            </a:r>
            <a:endPar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p:txBody>
      </p:sp>
      <p:cxnSp>
        <p:nvCxnSpPr>
          <p:cNvPr id="22" name="直接箭头连接符 21">
            <a:extLst>
              <a:ext uri="{FF2B5EF4-FFF2-40B4-BE49-F238E27FC236}">
                <a16:creationId xmlns:a16="http://schemas.microsoft.com/office/drawing/2014/main" id="{14FB6EAC-B3B8-CA92-3A6C-54ABA3CB1A57}"/>
              </a:ext>
            </a:extLst>
          </p:cNvPr>
          <p:cNvCxnSpPr>
            <a:stCxn id="21" idx="3"/>
          </p:cNvCxnSpPr>
          <p:nvPr/>
        </p:nvCxnSpPr>
        <p:spPr>
          <a:xfrm flipV="1">
            <a:off x="3753394" y="2302593"/>
            <a:ext cx="1402080" cy="89069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D977F8FE-03E7-E8A2-A551-D9229F5939FF}"/>
              </a:ext>
            </a:extLst>
          </p:cNvPr>
          <p:cNvCxnSpPr>
            <a:stCxn id="21" idx="3"/>
          </p:cNvCxnSpPr>
          <p:nvPr/>
        </p:nvCxnSpPr>
        <p:spPr>
          <a:xfrm>
            <a:off x="3753394" y="3193287"/>
            <a:ext cx="1480454" cy="91614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C4BAF872-9BEE-5FDD-EE94-6A2726A38D4E}"/>
              </a:ext>
            </a:extLst>
          </p:cNvPr>
          <p:cNvCxnSpPr/>
          <p:nvPr/>
        </p:nvCxnSpPr>
        <p:spPr>
          <a:xfrm flipH="1">
            <a:off x="6496594" y="4285097"/>
            <a:ext cx="2153194" cy="83554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761F0F4E-4C83-44EC-56B0-5A497586A58A}"/>
              </a:ext>
            </a:extLst>
          </p:cNvPr>
          <p:cNvCxnSpPr/>
          <p:nvPr/>
        </p:nvCxnSpPr>
        <p:spPr>
          <a:xfrm flipH="1">
            <a:off x="5947954" y="4179213"/>
            <a:ext cx="2701834" cy="5849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473687E-64A1-E8F9-C456-DC1F8F9FB422}"/>
              </a:ext>
            </a:extLst>
          </p:cNvPr>
          <p:cNvSpPr txBox="1"/>
          <p:nvPr/>
        </p:nvSpPr>
        <p:spPr>
          <a:xfrm>
            <a:off x="8789134" y="3779538"/>
            <a:ext cx="1075494"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通道數、通道大小必須一致</a:t>
            </a:r>
            <a:endPar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72824201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0"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AD54D-4381-5891-182F-9D3B27A5F9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30207A-18BA-6E46-2D91-A0154B7DC99E}"/>
              </a:ext>
            </a:extLst>
          </p:cNvPr>
          <p:cNvSpPr>
            <a:spLocks noGrp="1"/>
          </p:cNvSpPr>
          <p:nvPr>
            <p:ph type="title"/>
          </p:nvPr>
        </p:nvSpPr>
        <p:spPr/>
        <p:txBody>
          <a:bodyPr/>
          <a:lstStyle/>
          <a:p>
            <a:r>
              <a:rPr lang="zh-CN" altLang="en-US" dirty="0"/>
              <a:t>前期回顧：减少過擬合，正則化項法</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4912FF1-2D39-2633-722B-E4B9301678FD}"/>
                  </a:ext>
                </a:extLst>
              </p:cNvPr>
              <p:cNvSpPr>
                <a:spLocks noGrp="1"/>
              </p:cNvSpPr>
              <p:nvPr>
                <p:ph sz="quarter" idx="1"/>
              </p:nvPr>
            </p:nvSpPr>
            <p:spPr>
              <a:xfrm>
                <a:off x="1219200" y="1587137"/>
                <a:ext cx="10363200" cy="4735286"/>
              </a:xfrm>
            </p:spPr>
            <p:txBody>
              <a:bodyPr/>
              <a:lstStyle/>
              <a:p>
                <a:r>
                  <a:rPr lang="zh-CN" altLang="en-US" dirty="0"/>
                  <a:t>誤差平方和損失函數</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𝑑</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𝑀</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oMath>
                  </m:oMathPara>
                </a14:m>
                <a:endParaRPr lang="en-US" altLang="zh-CN" dirty="0"/>
              </a:p>
              <a:p>
                <a:r>
                  <a:rPr lang="zh-CN" altLang="en-US" dirty="0"/>
                  <a:t>加正則化項</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𝑑</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𝑀</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a:latin typeface="Cambria Math" panose="02040503050406030204" pitchFamily="18" charset="0"/>
                            </a:rPr>
                            <m:t>‖</m:t>
                          </m:r>
                          <m:r>
                            <a:rPr lang="en-US" altLang="zh-CN" i="1">
                              <a:latin typeface="Cambria Math" panose="02040503050406030204" pitchFamily="18" charset="0"/>
                            </a:rPr>
                            <m:t>𝑤</m:t>
                          </m:r>
                          <m:r>
                            <a:rPr lang="en-US" altLang="zh-CN">
                              <a:latin typeface="Cambria Math" panose="02040503050406030204" pitchFamily="18" charset="0"/>
                            </a:rPr>
                            <m:t>‖</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oMath>
                  </m:oMathPara>
                </a14:m>
                <a:endParaRPr lang="zh-CN" altLang="zh-CN" dirty="0"/>
              </a:p>
              <a:p>
                <a:pPr marL="0" indent="0">
                  <a:buNone/>
                </a:pPr>
                <a:r>
                  <a:rPr lang="en-US" altLang="zh-CN" sz="1800" dirty="0"/>
                  <a:t>   </a:t>
                </a:r>
              </a:p>
              <a:p>
                <a:pPr marL="0" indent="0">
                  <a:buNone/>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rPr>
                          </m:ctrlPr>
                        </m:sSubSup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𝑤</m:t>
                              </m:r>
                            </m:e>
                          </m:d>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𝑁</m:t>
                          </m:r>
                        </m:sub>
                        <m:sup>
                          <m:r>
                            <a:rPr lang="en-US" altLang="zh-CN" i="1">
                              <a:latin typeface="Cambria Math" panose="02040503050406030204" pitchFamily="18" charset="0"/>
                            </a:rPr>
                            <m:t>2</m:t>
                          </m:r>
                        </m:sup>
                      </m:sSubSup>
                    </m:oMath>
                  </m:oMathPara>
                </a14:m>
                <a:endParaRPr lang="zh-CN" altLang="zh-CN" dirty="0"/>
              </a:p>
              <a:p>
                <a:pPr marL="0" indent="0">
                  <a:buNone/>
                </a:pPr>
                <a:endParaRPr lang="en-US" altLang="zh-CN" sz="1200" dirty="0"/>
              </a:p>
              <a:p>
                <a:pPr marL="0" indent="0">
                  <a:buNone/>
                </a:pPr>
                <a:r>
                  <a:rPr lang="zh-CN" altLang="en-US" dirty="0">
                    <a:solidFill>
                      <a:srgbClr val="FF0000"/>
                    </a:solidFill>
                  </a:rPr>
                  <a:t>說明：幷不限于誤差平方和損失函數和</a:t>
                </a:r>
                <a:r>
                  <a:rPr lang="en-US" altLang="zh-CN" dirty="0">
                    <a:solidFill>
                      <a:srgbClr val="FF0000"/>
                    </a:solidFill>
                  </a:rPr>
                  <a:t>2-</a:t>
                </a:r>
                <a:r>
                  <a:rPr lang="zh-CN" altLang="en-US" dirty="0">
                    <a:solidFill>
                      <a:srgbClr val="FF0000"/>
                    </a:solidFill>
                  </a:rPr>
                  <a:t>範數</a:t>
                </a:r>
              </a:p>
            </p:txBody>
          </p:sp>
        </mc:Choice>
        <mc:Fallback>
          <p:sp>
            <p:nvSpPr>
              <p:cNvPr id="3" name="内容占位符 2">
                <a:extLst>
                  <a:ext uri="{FF2B5EF4-FFF2-40B4-BE49-F238E27FC236}">
                    <a16:creationId xmlns:a16="http://schemas.microsoft.com/office/drawing/2014/main" id="{64912FF1-2D39-2633-722B-E4B9301678FD}"/>
                  </a:ext>
                </a:extLst>
              </p:cNvPr>
              <p:cNvSpPr>
                <a:spLocks noGrp="1" noRot="1" noChangeAspect="1" noMove="1" noResize="1" noEditPoints="1" noAdjustHandles="1" noChangeArrowheads="1" noChangeShapeType="1" noTextEdit="1"/>
              </p:cNvSpPr>
              <p:nvPr>
                <p:ph sz="quarter" idx="1"/>
              </p:nvPr>
            </p:nvSpPr>
            <p:spPr>
              <a:xfrm>
                <a:off x="1219200" y="1587137"/>
                <a:ext cx="10363200" cy="4735286"/>
              </a:xfrm>
              <a:blipFill>
                <a:blip r:embed="rId2"/>
                <a:stretch>
                  <a:fillRect l="-1059" t="-1931" b="-23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8991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5DD92-F232-033B-2323-C9731A90E5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7ADB6D-4306-C328-970E-35340335BE37}"/>
              </a:ext>
            </a:extLst>
          </p:cNvPr>
          <p:cNvSpPr>
            <a:spLocks noGrp="1"/>
          </p:cNvSpPr>
          <p:nvPr>
            <p:ph type="title"/>
          </p:nvPr>
        </p:nvSpPr>
        <p:spPr/>
        <p:txBody>
          <a:bodyPr/>
          <a:lstStyle/>
          <a:p>
            <a:r>
              <a:rPr lang="zh-CN" altLang="en-US" dirty="0"/>
              <a:t>前情回顧：减少過擬合，捨弃法（</a:t>
            </a:r>
            <a:r>
              <a:rPr lang="en-US" altLang="zh-CN" dirty="0"/>
              <a:t>Dropout</a:t>
            </a:r>
            <a:r>
              <a:rPr lang="zh-CN" altLang="en-US" dirty="0"/>
              <a:t>）</a:t>
            </a:r>
          </a:p>
        </p:txBody>
      </p:sp>
      <p:sp>
        <p:nvSpPr>
          <p:cNvPr id="3" name="内容占位符 2">
            <a:extLst>
              <a:ext uri="{FF2B5EF4-FFF2-40B4-BE49-F238E27FC236}">
                <a16:creationId xmlns:a16="http://schemas.microsoft.com/office/drawing/2014/main" id="{D1B71B5F-FBB1-7D67-D89B-3038CC0CB8D6}"/>
              </a:ext>
            </a:extLst>
          </p:cNvPr>
          <p:cNvSpPr>
            <a:spLocks noGrp="1"/>
          </p:cNvSpPr>
          <p:nvPr>
            <p:ph sz="quarter" idx="1"/>
          </p:nvPr>
        </p:nvSpPr>
        <p:spPr>
          <a:xfrm>
            <a:off x="1219200" y="1417638"/>
            <a:ext cx="10363200" cy="4572000"/>
          </a:xfrm>
        </p:spPr>
        <p:txBody>
          <a:bodyPr/>
          <a:lstStyle/>
          <a:p>
            <a:r>
              <a:rPr lang="zh-CN" altLang="en-US" dirty="0"/>
              <a:t>隨機地</a:t>
            </a:r>
            <a:r>
              <a:rPr lang="zh-CN" altLang="en-US" b="1" dirty="0">
                <a:solidFill>
                  <a:srgbClr val="FF0000"/>
                </a:solidFill>
              </a:rPr>
              <a:t>臨時</a:t>
            </a:r>
            <a:r>
              <a:rPr lang="zh-CN" altLang="en-US" dirty="0"/>
              <a:t>捨弃一些神經元</a:t>
            </a:r>
          </a:p>
        </p:txBody>
      </p:sp>
      <p:pic>
        <p:nvPicPr>
          <p:cNvPr id="4" name="Picture 2" descr="http://neuralnetworksanddeeplearning.com/images/tikz31.png">
            <a:extLst>
              <a:ext uri="{FF2B5EF4-FFF2-40B4-BE49-F238E27FC236}">
                <a16:creationId xmlns:a16="http://schemas.microsoft.com/office/drawing/2014/main" id="{ACE1707E-33DF-E01D-EF11-3BE1C7BDBEBB}"/>
              </a:ext>
            </a:extLst>
          </p:cNvPr>
          <p:cNvPicPr>
            <a:picLocks noChangeAspect="1" noChangeArrowheads="1"/>
          </p:cNvPicPr>
          <p:nvPr/>
        </p:nvPicPr>
        <p:blipFill>
          <a:blip r:embed="rId2" cstate="print"/>
          <a:srcRect/>
          <a:stretch>
            <a:fillRect/>
          </a:stretch>
        </p:blipFill>
        <p:spPr bwMode="auto">
          <a:xfrm rot="16200000">
            <a:off x="3431176" y="1873043"/>
            <a:ext cx="3824116" cy="3996819"/>
          </a:xfrm>
          <a:prstGeom prst="rect">
            <a:avLst/>
          </a:prstGeom>
          <a:noFill/>
        </p:spPr>
      </p:pic>
      <p:sp>
        <p:nvSpPr>
          <p:cNvPr id="5" name="矩形 4">
            <a:extLst>
              <a:ext uri="{FF2B5EF4-FFF2-40B4-BE49-F238E27FC236}">
                <a16:creationId xmlns:a16="http://schemas.microsoft.com/office/drawing/2014/main" id="{07DBF376-0CDB-46A3-A51C-CA36DD6C013C}"/>
              </a:ext>
            </a:extLst>
          </p:cNvPr>
          <p:cNvSpPr/>
          <p:nvPr/>
        </p:nvSpPr>
        <p:spPr>
          <a:xfrm>
            <a:off x="3839123" y="2560638"/>
            <a:ext cx="785862" cy="22882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輸出</a:t>
            </a:r>
          </a:p>
        </p:txBody>
      </p:sp>
      <p:sp>
        <p:nvSpPr>
          <p:cNvPr id="6" name="矩形 5">
            <a:extLst>
              <a:ext uri="{FF2B5EF4-FFF2-40B4-BE49-F238E27FC236}">
                <a16:creationId xmlns:a16="http://schemas.microsoft.com/office/drawing/2014/main" id="{42E9E77F-6E65-2AD0-C668-63C64A4AD385}"/>
              </a:ext>
            </a:extLst>
          </p:cNvPr>
          <p:cNvSpPr/>
          <p:nvPr/>
        </p:nvSpPr>
        <p:spPr>
          <a:xfrm>
            <a:off x="2951893" y="5466585"/>
            <a:ext cx="785862" cy="22882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輸入</a:t>
            </a:r>
          </a:p>
        </p:txBody>
      </p:sp>
    </p:spTree>
    <p:extLst>
      <p:ext uri="{BB962C8B-B14F-4D97-AF65-F5344CB8AC3E}">
        <p14:creationId xmlns:p14="http://schemas.microsoft.com/office/powerpoint/2010/main" val="3369862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詞的分布式表示</a:t>
            </a:r>
          </a:p>
        </p:txBody>
      </p:sp>
      <p:sp>
        <p:nvSpPr>
          <p:cNvPr id="3" name="内容占位符 2"/>
          <p:cNvSpPr>
            <a:spLocks noGrp="1"/>
          </p:cNvSpPr>
          <p:nvPr>
            <p:ph sz="quarter" idx="1"/>
          </p:nvPr>
        </p:nvSpPr>
        <p:spPr/>
        <p:txBody>
          <a:bodyPr>
            <a:normAutofit/>
          </a:bodyPr>
          <a:lstStyle/>
          <a:p>
            <a:r>
              <a:rPr lang="zh-CN" altLang="en-US" dirty="0"/>
              <a:t>獨熱編碼</a:t>
            </a:r>
            <a:endParaRPr lang="en-US" altLang="zh-CN" dirty="0"/>
          </a:p>
          <a:p>
            <a:pPr lvl="1"/>
            <a:r>
              <a:rPr lang="zh-CN" altLang="en-US" dirty="0"/>
              <a:t>稀疏向量</a:t>
            </a:r>
            <a:endParaRPr lang="en-US" altLang="zh-CN" dirty="0"/>
          </a:p>
          <a:p>
            <a:r>
              <a:rPr lang="zh-CN" altLang="en-US" dirty="0"/>
              <a:t>分布式表示</a:t>
            </a:r>
            <a:endParaRPr lang="en-US" altLang="zh-CN" dirty="0"/>
          </a:p>
          <a:p>
            <a:pPr lvl="1"/>
            <a:r>
              <a:rPr lang="zh-CN" altLang="en-US" dirty="0"/>
              <a:t>稠密向量</a:t>
            </a:r>
            <a:endParaRPr lang="en-US" altLang="zh-CN" dirty="0"/>
          </a:p>
          <a:p>
            <a:pPr lvl="1"/>
            <a:endParaRPr lang="en-US" altLang="zh-CN" sz="1000" dirty="0"/>
          </a:p>
          <a:p>
            <a:pPr marL="0" indent="0">
              <a:buNone/>
            </a:pPr>
            <a:r>
              <a:rPr lang="en-US" altLang="zh-CN" dirty="0"/>
              <a:t>        [-0.85, 2.3, 1.5, -0.54, 0.77, ...]</a:t>
            </a:r>
          </a:p>
          <a:p>
            <a:pPr marL="0" lvl="1" indent="0">
              <a:spcBef>
                <a:spcPts val="580"/>
              </a:spcBef>
              <a:buClr>
                <a:schemeClr val="accent1"/>
              </a:buClr>
              <a:buSzPct val="85000"/>
              <a:buNone/>
            </a:pPr>
            <a:endParaRPr lang="en-US" altLang="zh-CN" sz="1000" dirty="0"/>
          </a:p>
        </p:txBody>
      </p:sp>
      <p:sp>
        <p:nvSpPr>
          <p:cNvPr id="4" name="TextBox 3">
            <a:extLst>
              <a:ext uri="{FF2B5EF4-FFF2-40B4-BE49-F238E27FC236}">
                <a16:creationId xmlns:a16="http://schemas.microsoft.com/office/drawing/2014/main" id="{85D34214-800B-8362-5AFC-CBC0B29AAEEF}"/>
              </a:ext>
            </a:extLst>
          </p:cNvPr>
          <p:cNvSpPr txBox="1"/>
          <p:nvPr/>
        </p:nvSpPr>
        <p:spPr>
          <a:xfrm>
            <a:off x="6844145" y="2454763"/>
            <a:ext cx="3827318" cy="1569660"/>
          </a:xfrm>
          <a:prstGeom prst="rect">
            <a:avLst/>
          </a:prstGeom>
          <a:noFill/>
        </p:spPr>
        <p:txBody>
          <a:bodyPr wrap="square">
            <a:spAutoFit/>
          </a:bodyPr>
          <a:lstStyle/>
          <a:p>
            <a:pPr lvl="1"/>
            <a:r>
              <a:rPr lang="en-US" sz="2400" b="1" dirty="0" err="1">
                <a:solidFill>
                  <a:srgbClr val="FF0000"/>
                </a:solidFill>
              </a:rPr>
              <a:t>分布表示示例</a:t>
            </a:r>
            <a:r>
              <a:rPr lang="zh-CN" altLang="en-US" sz="2400" b="1" dirty="0">
                <a:solidFill>
                  <a:srgbClr val="FF0000"/>
                </a:solidFill>
              </a:rPr>
              <a:t>：</a:t>
            </a:r>
            <a:endParaRPr lang="en-US" sz="2400" b="1" dirty="0">
              <a:solidFill>
                <a:srgbClr val="FF0000"/>
              </a:solidFill>
            </a:endParaRPr>
          </a:p>
          <a:p>
            <a:pPr lvl="1"/>
            <a:r>
              <a:rPr lang="en-US" dirty="0"/>
              <a:t>A bottle of </a:t>
            </a:r>
            <a:r>
              <a:rPr lang="en-US" dirty="0" err="1">
                <a:solidFill>
                  <a:srgbClr val="FF0000"/>
                </a:solidFill>
              </a:rPr>
              <a:t>tezgüino</a:t>
            </a:r>
            <a:r>
              <a:rPr lang="en-US" dirty="0"/>
              <a:t> is on the table. </a:t>
            </a:r>
          </a:p>
          <a:p>
            <a:pPr lvl="1"/>
            <a:r>
              <a:rPr lang="en-US" dirty="0"/>
              <a:t>Everybody likes </a:t>
            </a:r>
            <a:r>
              <a:rPr lang="en-US" dirty="0" err="1">
                <a:solidFill>
                  <a:srgbClr val="FF0000"/>
                </a:solidFill>
              </a:rPr>
              <a:t>tezgüino</a:t>
            </a:r>
            <a:r>
              <a:rPr lang="en-US" dirty="0"/>
              <a:t>. </a:t>
            </a:r>
          </a:p>
          <a:p>
            <a:pPr lvl="1"/>
            <a:r>
              <a:rPr lang="en-US" dirty="0" err="1">
                <a:solidFill>
                  <a:srgbClr val="FF0000"/>
                </a:solidFill>
              </a:rPr>
              <a:t>Tezgüino</a:t>
            </a:r>
            <a:r>
              <a:rPr lang="en-US" dirty="0"/>
              <a:t> makes you drunk. </a:t>
            </a:r>
          </a:p>
          <a:p>
            <a:pPr lvl="1"/>
            <a:r>
              <a:rPr lang="en-US" dirty="0"/>
              <a:t>We make </a:t>
            </a:r>
            <a:r>
              <a:rPr lang="en-US" dirty="0" err="1">
                <a:solidFill>
                  <a:srgbClr val="FF0000"/>
                </a:solidFill>
              </a:rPr>
              <a:t>tezgüino</a:t>
            </a:r>
            <a:r>
              <a:rPr lang="en-US" dirty="0"/>
              <a:t> out of corn.</a:t>
            </a:r>
          </a:p>
        </p:txBody>
      </p:sp>
      <p:pic>
        <p:nvPicPr>
          <p:cNvPr id="1026" name="Picture 2" descr="Tejuino - Wikipedia">
            <a:extLst>
              <a:ext uri="{FF2B5EF4-FFF2-40B4-BE49-F238E27FC236}">
                <a16:creationId xmlns:a16="http://schemas.microsoft.com/office/drawing/2014/main" id="{0B973DAC-B10B-E024-C2A9-0F01FDA3C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7860" y="4135120"/>
            <a:ext cx="1703424" cy="1935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75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任意多边形 98"/>
          <p:cNvSpPr/>
          <p:nvPr/>
        </p:nvSpPr>
        <p:spPr>
          <a:xfrm>
            <a:off x="2403564" y="1750425"/>
            <a:ext cx="1384662" cy="3317966"/>
          </a:xfrm>
          <a:custGeom>
            <a:avLst/>
            <a:gdLst>
              <a:gd name="connsiteX0" fmla="*/ 1375954 w 1384662"/>
              <a:gd name="connsiteY0" fmla="*/ 0 h 3317966"/>
              <a:gd name="connsiteX1" fmla="*/ 1384662 w 1384662"/>
              <a:gd name="connsiteY1" fmla="*/ 2481943 h 3317966"/>
              <a:gd name="connsiteX2" fmla="*/ 0 w 1384662"/>
              <a:gd name="connsiteY2" fmla="*/ 3317966 h 3317966"/>
              <a:gd name="connsiteX3" fmla="*/ 8708 w 1384662"/>
              <a:gd name="connsiteY3" fmla="*/ 783771 h 3317966"/>
              <a:gd name="connsiteX4" fmla="*/ 1375954 w 1384662"/>
              <a:gd name="connsiteY4" fmla="*/ 0 h 3317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662" h="3317966">
                <a:moveTo>
                  <a:pt x="1375954" y="0"/>
                </a:moveTo>
                <a:cubicBezTo>
                  <a:pt x="1378857" y="827314"/>
                  <a:pt x="1381759" y="1654629"/>
                  <a:pt x="1384662" y="2481943"/>
                </a:cubicBezTo>
                <a:lnTo>
                  <a:pt x="0" y="3317966"/>
                </a:lnTo>
                <a:cubicBezTo>
                  <a:pt x="2903" y="2473234"/>
                  <a:pt x="5805" y="1628503"/>
                  <a:pt x="8708" y="783771"/>
                </a:cubicBezTo>
                <a:lnTo>
                  <a:pt x="1375954" y="0"/>
                </a:lnTo>
                <a:close/>
              </a:path>
            </a:pathLst>
          </a:custGeom>
          <a:solidFill>
            <a:srgbClr val="B8C7CC">
              <a:alpha val="35686"/>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矩形 50"/>
          <p:cNvSpPr/>
          <p:nvPr/>
        </p:nvSpPr>
        <p:spPr>
          <a:xfrm>
            <a:off x="3779038" y="1712366"/>
            <a:ext cx="2520000" cy="2520000"/>
          </a:xfrm>
          <a:prstGeom prst="rect">
            <a:avLst/>
          </a:prstGeom>
          <a:solidFill>
            <a:schemeClr val="bg2">
              <a:alpha val="50000"/>
            </a:scheme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8" name="任意多边形 97"/>
          <p:cNvSpPr/>
          <p:nvPr/>
        </p:nvSpPr>
        <p:spPr>
          <a:xfrm>
            <a:off x="2403564" y="4214951"/>
            <a:ext cx="3910148" cy="879565"/>
          </a:xfrm>
          <a:custGeom>
            <a:avLst/>
            <a:gdLst>
              <a:gd name="connsiteX0" fmla="*/ 0 w 3910148"/>
              <a:gd name="connsiteY0" fmla="*/ 853440 h 879565"/>
              <a:gd name="connsiteX1" fmla="*/ 1402080 w 3910148"/>
              <a:gd name="connsiteY1" fmla="*/ 26125 h 879565"/>
              <a:gd name="connsiteX2" fmla="*/ 3910148 w 3910148"/>
              <a:gd name="connsiteY2" fmla="*/ 0 h 879565"/>
              <a:gd name="connsiteX3" fmla="*/ 2508068 w 3910148"/>
              <a:gd name="connsiteY3" fmla="*/ 879565 h 879565"/>
              <a:gd name="connsiteX4" fmla="*/ 0 w 3910148"/>
              <a:gd name="connsiteY4" fmla="*/ 853440 h 879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148" h="879565">
                <a:moveTo>
                  <a:pt x="0" y="853440"/>
                </a:moveTo>
                <a:lnTo>
                  <a:pt x="1402080" y="26125"/>
                </a:lnTo>
                <a:lnTo>
                  <a:pt x="3910148" y="0"/>
                </a:lnTo>
                <a:lnTo>
                  <a:pt x="2508068" y="879565"/>
                </a:lnTo>
                <a:lnTo>
                  <a:pt x="0" y="853440"/>
                </a:lnTo>
                <a:close/>
              </a:path>
            </a:pathLst>
          </a:custGeom>
          <a:solidFill>
            <a:schemeClr val="accent1">
              <a:lumMod val="20000"/>
              <a:lumOff val="80000"/>
              <a:alpha val="49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7" name="直接连接符 76"/>
          <p:cNvCxnSpPr/>
          <p:nvPr/>
        </p:nvCxnSpPr>
        <p:spPr>
          <a:xfrm flipH="1">
            <a:off x="3220573" y="4225163"/>
            <a:ext cx="1410310" cy="853442"/>
          </a:xfrm>
          <a:prstGeom prst="line">
            <a:avLst/>
          </a:prstGeom>
          <a:ln w="28575">
            <a:solidFill>
              <a:srgbClr val="00B050"/>
            </a:solidFill>
            <a:prstDash val="dash"/>
          </a:ln>
        </p:spPr>
        <p:style>
          <a:lnRef idx="1">
            <a:schemeClr val="dk1"/>
          </a:lnRef>
          <a:fillRef idx="0">
            <a:schemeClr val="dk1"/>
          </a:fillRef>
          <a:effectRef idx="0">
            <a:schemeClr val="dk1"/>
          </a:effectRef>
          <a:fontRef idx="minor">
            <a:schemeClr val="tx1"/>
          </a:fontRef>
        </p:style>
      </p:cxnSp>
      <p:cxnSp>
        <p:nvCxnSpPr>
          <p:cNvPr id="78" name="直接连接符 77"/>
          <p:cNvCxnSpPr/>
          <p:nvPr/>
        </p:nvCxnSpPr>
        <p:spPr>
          <a:xfrm flipH="1">
            <a:off x="2825359" y="4239317"/>
            <a:ext cx="1410310" cy="853442"/>
          </a:xfrm>
          <a:prstGeom prst="line">
            <a:avLst/>
          </a:prstGeom>
          <a:ln w="28575">
            <a:solidFill>
              <a:srgbClr val="FF0000"/>
            </a:solidFill>
            <a:prstDash val="dash"/>
          </a:ln>
        </p:spPr>
        <p:style>
          <a:lnRef idx="1">
            <a:schemeClr val="dk1"/>
          </a:lnRef>
          <a:fillRef idx="0">
            <a:schemeClr val="dk1"/>
          </a:fillRef>
          <a:effectRef idx="0">
            <a:schemeClr val="dk1"/>
          </a:effectRef>
          <a:fontRef idx="minor">
            <a:schemeClr val="tx1"/>
          </a:fontRef>
        </p:style>
      </p:cxnSp>
      <p:cxnSp>
        <p:nvCxnSpPr>
          <p:cNvPr id="54" name="直接连接符 53"/>
          <p:cNvCxnSpPr/>
          <p:nvPr/>
        </p:nvCxnSpPr>
        <p:spPr>
          <a:xfrm flipH="1">
            <a:off x="2377438" y="4223657"/>
            <a:ext cx="1410310" cy="853442"/>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1" name="直接连接符 60"/>
          <p:cNvCxnSpPr/>
          <p:nvPr/>
        </p:nvCxnSpPr>
        <p:spPr>
          <a:xfrm flipH="1">
            <a:off x="4925171" y="4216706"/>
            <a:ext cx="1410310" cy="853442"/>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4" name="直接连接符 63"/>
          <p:cNvCxnSpPr/>
          <p:nvPr/>
        </p:nvCxnSpPr>
        <p:spPr>
          <a:xfrm flipH="1">
            <a:off x="2369381" y="1719316"/>
            <a:ext cx="1390633" cy="846491"/>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6" name="直接连接符 65"/>
          <p:cNvCxnSpPr/>
          <p:nvPr/>
        </p:nvCxnSpPr>
        <p:spPr>
          <a:xfrm flipH="1">
            <a:off x="4897437" y="1712365"/>
            <a:ext cx="1410310" cy="853442"/>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sp>
        <p:nvSpPr>
          <p:cNvPr id="67" name="矩形 66"/>
          <p:cNvSpPr/>
          <p:nvPr/>
        </p:nvSpPr>
        <p:spPr>
          <a:xfrm>
            <a:off x="2387276" y="2555340"/>
            <a:ext cx="2520000" cy="2520000"/>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9" name="直接连接符 68"/>
          <p:cNvCxnSpPr/>
          <p:nvPr/>
        </p:nvCxnSpPr>
        <p:spPr>
          <a:xfrm flipH="1">
            <a:off x="2816116" y="1710859"/>
            <a:ext cx="1410310" cy="853442"/>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cxnSp>
        <p:nvCxnSpPr>
          <p:cNvPr id="70" name="直接连接符 69"/>
          <p:cNvCxnSpPr/>
          <p:nvPr/>
        </p:nvCxnSpPr>
        <p:spPr>
          <a:xfrm flipH="1">
            <a:off x="3186216" y="1706379"/>
            <a:ext cx="1410310" cy="853442"/>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71" name="直接连接符 70"/>
          <p:cNvCxnSpPr/>
          <p:nvPr/>
        </p:nvCxnSpPr>
        <p:spPr>
          <a:xfrm>
            <a:off x="2846057" y="2555340"/>
            <a:ext cx="0" cy="2520000"/>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cxnSp>
        <p:nvCxnSpPr>
          <p:cNvPr id="76" name="直接连接符 75"/>
          <p:cNvCxnSpPr/>
          <p:nvPr/>
        </p:nvCxnSpPr>
        <p:spPr>
          <a:xfrm>
            <a:off x="3203634" y="2564301"/>
            <a:ext cx="0" cy="252000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5" name="直接箭头连接符 4"/>
          <p:cNvCxnSpPr/>
          <p:nvPr/>
        </p:nvCxnSpPr>
        <p:spPr>
          <a:xfrm flipV="1">
            <a:off x="3779518" y="1166951"/>
            <a:ext cx="0" cy="30654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3770809" y="4232366"/>
            <a:ext cx="38056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1445622" y="4232366"/>
            <a:ext cx="2325187" cy="14107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4237842" y="1714587"/>
            <a:ext cx="0" cy="2520000"/>
          </a:xfrm>
          <a:prstGeom prst="line">
            <a:avLst/>
          </a:prstGeom>
          <a:ln w="28575">
            <a:solidFill>
              <a:srgbClr val="FF0000"/>
            </a:solidFill>
            <a:prstDash val="dash"/>
          </a:ln>
        </p:spPr>
        <p:style>
          <a:lnRef idx="1">
            <a:schemeClr val="dk1"/>
          </a:lnRef>
          <a:fillRef idx="0">
            <a:schemeClr val="dk1"/>
          </a:fillRef>
          <a:effectRef idx="0">
            <a:schemeClr val="dk1"/>
          </a:effectRef>
          <a:fontRef idx="minor">
            <a:schemeClr val="tx1"/>
          </a:fontRef>
        </p:style>
      </p:cxnSp>
      <p:cxnSp>
        <p:nvCxnSpPr>
          <p:cNvPr id="80" name="直接连接符 79"/>
          <p:cNvCxnSpPr/>
          <p:nvPr/>
        </p:nvCxnSpPr>
        <p:spPr>
          <a:xfrm>
            <a:off x="4595419" y="1723548"/>
            <a:ext cx="0" cy="2520000"/>
          </a:xfrm>
          <a:prstGeom prst="line">
            <a:avLst/>
          </a:prstGeom>
          <a:ln w="28575">
            <a:solidFill>
              <a:srgbClr val="00B050"/>
            </a:solidFill>
            <a:prstDash val="dash"/>
          </a:ln>
        </p:spPr>
        <p:style>
          <a:lnRef idx="1">
            <a:schemeClr val="dk1"/>
          </a:lnRef>
          <a:fillRef idx="0">
            <a:schemeClr val="dk1"/>
          </a:fillRef>
          <a:effectRef idx="0">
            <a:schemeClr val="dk1"/>
          </a:effectRef>
          <a:fontRef idx="minor">
            <a:schemeClr val="tx1"/>
          </a:fontRef>
        </p:style>
      </p:cxnSp>
      <p:sp>
        <p:nvSpPr>
          <p:cNvPr id="81" name="椭圆 80"/>
          <p:cNvSpPr/>
          <p:nvPr/>
        </p:nvSpPr>
        <p:spPr>
          <a:xfrm>
            <a:off x="2749035" y="2456301"/>
            <a:ext cx="216000" cy="216000"/>
          </a:xfrm>
          <a:prstGeom prst="ellipse">
            <a:avLst/>
          </a:prstGeom>
          <a:solidFill>
            <a:srgbClr val="FF0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3" name="椭圆 82"/>
          <p:cNvSpPr/>
          <p:nvPr/>
        </p:nvSpPr>
        <p:spPr>
          <a:xfrm>
            <a:off x="3101736" y="2469362"/>
            <a:ext cx="216000" cy="216000"/>
          </a:xfrm>
          <a:prstGeom prst="ellipse">
            <a:avLst/>
          </a:prstGeom>
          <a:solidFill>
            <a:srgbClr val="119F14"/>
          </a:solidFill>
          <a:ln w="38100">
            <a:solidFill>
              <a:srgbClr val="119F1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文本框 83"/>
          <p:cNvSpPr txBox="1"/>
          <p:nvPr/>
        </p:nvSpPr>
        <p:spPr>
          <a:xfrm>
            <a:off x="7584684" y="4084322"/>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植物</a:t>
            </a:r>
          </a:p>
        </p:txBody>
      </p:sp>
      <p:sp>
        <p:nvSpPr>
          <p:cNvPr id="85" name="文本框 84"/>
          <p:cNvSpPr txBox="1"/>
          <p:nvPr/>
        </p:nvSpPr>
        <p:spPr>
          <a:xfrm>
            <a:off x="3438934" y="771750"/>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Perpetua"/>
                <a:ea typeface="宋体" panose="02010600030101010101" pitchFamily="2" charset="-122"/>
                <a:cs typeface="+mn-cs"/>
              </a:rPr>
              <a:t>動物</a:t>
            </a:r>
            <a:endPar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86" name="文本框 85"/>
          <p:cNvSpPr txBox="1"/>
          <p:nvPr/>
        </p:nvSpPr>
        <p:spPr>
          <a:xfrm>
            <a:off x="747995" y="5443101"/>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食物</a:t>
            </a:r>
          </a:p>
        </p:txBody>
      </p:sp>
      <p:cxnSp>
        <p:nvCxnSpPr>
          <p:cNvPr id="87" name="直接连接符 86"/>
          <p:cNvCxnSpPr/>
          <p:nvPr/>
        </p:nvCxnSpPr>
        <p:spPr>
          <a:xfrm flipH="1">
            <a:off x="4863423" y="4250751"/>
            <a:ext cx="1410310" cy="853442"/>
          </a:xfrm>
          <a:prstGeom prst="line">
            <a:avLst/>
          </a:prstGeom>
          <a:ln w="28575">
            <a:solidFill>
              <a:srgbClr val="2B11EF"/>
            </a:solidFill>
            <a:prstDash val="dash"/>
          </a:ln>
        </p:spPr>
        <p:style>
          <a:lnRef idx="1">
            <a:schemeClr val="dk1"/>
          </a:lnRef>
          <a:fillRef idx="0">
            <a:schemeClr val="dk1"/>
          </a:fillRef>
          <a:effectRef idx="0">
            <a:schemeClr val="dk1"/>
          </a:effectRef>
          <a:fontRef idx="minor">
            <a:schemeClr val="tx1"/>
          </a:fontRef>
        </p:style>
      </p:cxnSp>
      <p:sp>
        <p:nvSpPr>
          <p:cNvPr id="88" name="椭圆 87"/>
          <p:cNvSpPr/>
          <p:nvPr/>
        </p:nvSpPr>
        <p:spPr>
          <a:xfrm>
            <a:off x="4778164" y="4973083"/>
            <a:ext cx="216000" cy="216000"/>
          </a:xfrm>
          <a:prstGeom prst="ellipse">
            <a:avLst/>
          </a:prstGeom>
          <a:solidFill>
            <a:srgbClr val="2B11EF"/>
          </a:solidFill>
          <a:ln w="38100">
            <a:solidFill>
              <a:srgbClr val="2B11EF"/>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89" name="直接连接符 88"/>
          <p:cNvCxnSpPr/>
          <p:nvPr/>
        </p:nvCxnSpPr>
        <p:spPr>
          <a:xfrm flipH="1">
            <a:off x="3602298" y="4216201"/>
            <a:ext cx="1410310" cy="853442"/>
          </a:xfrm>
          <a:prstGeom prst="line">
            <a:avLst/>
          </a:prstGeom>
          <a:ln w="28575">
            <a:solidFill>
              <a:srgbClr val="FB81E1"/>
            </a:solidFill>
            <a:prstDash val="dash"/>
          </a:ln>
        </p:spPr>
        <p:style>
          <a:lnRef idx="1">
            <a:schemeClr val="dk1"/>
          </a:lnRef>
          <a:fillRef idx="0">
            <a:schemeClr val="dk1"/>
          </a:fillRef>
          <a:effectRef idx="0">
            <a:schemeClr val="dk1"/>
          </a:effectRef>
          <a:fontRef idx="minor">
            <a:schemeClr val="tx1"/>
          </a:fontRef>
        </p:style>
      </p:cxnSp>
      <p:cxnSp>
        <p:nvCxnSpPr>
          <p:cNvPr id="90" name="直接连接符 89"/>
          <p:cNvCxnSpPr/>
          <p:nvPr/>
        </p:nvCxnSpPr>
        <p:spPr>
          <a:xfrm flipH="1">
            <a:off x="3567941" y="1697417"/>
            <a:ext cx="1410310" cy="853442"/>
          </a:xfrm>
          <a:prstGeom prst="line">
            <a:avLst/>
          </a:prstGeom>
          <a:ln w="28575">
            <a:solidFill>
              <a:srgbClr val="FB81E1"/>
            </a:solidFill>
          </a:ln>
        </p:spPr>
        <p:style>
          <a:lnRef idx="1">
            <a:schemeClr val="dk1"/>
          </a:lnRef>
          <a:fillRef idx="0">
            <a:schemeClr val="dk1"/>
          </a:fillRef>
          <a:effectRef idx="0">
            <a:schemeClr val="dk1"/>
          </a:effectRef>
          <a:fontRef idx="minor">
            <a:schemeClr val="tx1"/>
          </a:fontRef>
        </p:style>
      </p:cxnSp>
      <p:cxnSp>
        <p:nvCxnSpPr>
          <p:cNvPr id="91" name="直接连接符 90"/>
          <p:cNvCxnSpPr/>
          <p:nvPr/>
        </p:nvCxnSpPr>
        <p:spPr>
          <a:xfrm>
            <a:off x="3585359" y="2555339"/>
            <a:ext cx="0" cy="2520000"/>
          </a:xfrm>
          <a:prstGeom prst="line">
            <a:avLst/>
          </a:prstGeom>
          <a:ln w="28575">
            <a:solidFill>
              <a:srgbClr val="FB81E1"/>
            </a:solidFill>
          </a:ln>
        </p:spPr>
        <p:style>
          <a:lnRef idx="1">
            <a:schemeClr val="dk1"/>
          </a:lnRef>
          <a:fillRef idx="0">
            <a:schemeClr val="dk1"/>
          </a:fillRef>
          <a:effectRef idx="0">
            <a:schemeClr val="dk1"/>
          </a:effectRef>
          <a:fontRef idx="minor">
            <a:schemeClr val="tx1"/>
          </a:fontRef>
        </p:style>
      </p:cxnSp>
      <p:cxnSp>
        <p:nvCxnSpPr>
          <p:cNvPr id="92" name="直接连接符 91"/>
          <p:cNvCxnSpPr/>
          <p:nvPr/>
        </p:nvCxnSpPr>
        <p:spPr>
          <a:xfrm>
            <a:off x="4977144" y="1714586"/>
            <a:ext cx="0" cy="2520000"/>
          </a:xfrm>
          <a:prstGeom prst="line">
            <a:avLst/>
          </a:prstGeom>
          <a:ln w="28575">
            <a:solidFill>
              <a:srgbClr val="FB81E1"/>
            </a:solidFill>
            <a:prstDash val="dash"/>
          </a:ln>
        </p:spPr>
        <p:style>
          <a:lnRef idx="1">
            <a:schemeClr val="dk1"/>
          </a:lnRef>
          <a:fillRef idx="0">
            <a:schemeClr val="dk1"/>
          </a:fillRef>
          <a:effectRef idx="0">
            <a:schemeClr val="dk1"/>
          </a:effectRef>
          <a:fontRef idx="minor">
            <a:schemeClr val="tx1"/>
          </a:fontRef>
        </p:style>
      </p:cxnSp>
      <p:sp>
        <p:nvSpPr>
          <p:cNvPr id="93" name="椭圆 92"/>
          <p:cNvSpPr/>
          <p:nvPr/>
        </p:nvSpPr>
        <p:spPr>
          <a:xfrm>
            <a:off x="4859422" y="1615662"/>
            <a:ext cx="216000" cy="216000"/>
          </a:xfrm>
          <a:prstGeom prst="ellipse">
            <a:avLst/>
          </a:prstGeom>
          <a:solidFill>
            <a:srgbClr val="FB81E1"/>
          </a:solidFill>
          <a:ln w="38100">
            <a:solidFill>
              <a:srgbClr val="FB81E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4" name="文本框 93"/>
          <p:cNvSpPr txBox="1"/>
          <p:nvPr/>
        </p:nvSpPr>
        <p:spPr>
          <a:xfrm>
            <a:off x="5039038" y="1234972"/>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B81E1"/>
                </a:solidFill>
                <a:effectLst/>
                <a:uLnTx/>
                <a:uFillTx/>
                <a:latin typeface="Perpetua"/>
                <a:ea typeface="宋体" panose="02010600030101010101" pitchFamily="2" charset="-122"/>
                <a:cs typeface="+mn-cs"/>
              </a:rPr>
              <a:t>熊猫</a:t>
            </a:r>
          </a:p>
        </p:txBody>
      </p:sp>
      <p:sp>
        <p:nvSpPr>
          <p:cNvPr id="95" name="文本框 94"/>
          <p:cNvSpPr txBox="1"/>
          <p:nvPr/>
        </p:nvSpPr>
        <p:spPr>
          <a:xfrm>
            <a:off x="4119318" y="5314352"/>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FF"/>
                </a:solidFill>
                <a:effectLst/>
                <a:uLnTx/>
                <a:uFillTx/>
                <a:latin typeface="Perpetua"/>
                <a:ea typeface="宋体" panose="02010600030101010101" pitchFamily="2" charset="-122"/>
                <a:cs typeface="+mn-cs"/>
              </a:rPr>
              <a:t>白菜</a:t>
            </a:r>
          </a:p>
        </p:txBody>
      </p:sp>
      <p:sp>
        <p:nvSpPr>
          <p:cNvPr id="96" name="文本框 95"/>
          <p:cNvSpPr txBox="1"/>
          <p:nvPr/>
        </p:nvSpPr>
        <p:spPr>
          <a:xfrm>
            <a:off x="2383866" y="2633348"/>
            <a:ext cx="44114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猪</a:t>
            </a:r>
          </a:p>
        </p:txBody>
      </p:sp>
      <p:sp>
        <p:nvSpPr>
          <p:cNvPr id="97" name="文本框 96"/>
          <p:cNvSpPr txBox="1"/>
          <p:nvPr/>
        </p:nvSpPr>
        <p:spPr>
          <a:xfrm>
            <a:off x="2849772" y="2716076"/>
            <a:ext cx="44114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羊</a:t>
            </a:r>
          </a:p>
        </p:txBody>
      </p:sp>
      <p:sp>
        <p:nvSpPr>
          <p:cNvPr id="37" name="文本框 36"/>
          <p:cNvSpPr txBox="1"/>
          <p:nvPr/>
        </p:nvSpPr>
        <p:spPr>
          <a:xfrm>
            <a:off x="7475158" y="1523493"/>
            <a:ext cx="3950488" cy="20928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120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詞</a:t>
            </a:r>
            <a:r>
              <a:rPr kumimoji="0" lang="zh-CN" altLang="en-US" sz="2000" b="1" i="0" u="none" strike="noStrike" kern="1200" cap="none" spc="0" normalizeH="0" baseline="0" noProof="0">
                <a:ln>
                  <a:noFill/>
                </a:ln>
                <a:solidFill>
                  <a:srgbClr val="FF0000"/>
                </a:solidFill>
                <a:effectLst/>
                <a:uLnTx/>
                <a:uFillTx/>
                <a:latin typeface="Perpetua"/>
                <a:ea typeface="宋体" panose="02010600030101010101" pitchFamily="2" charset="-122"/>
                <a:cs typeface="+mn-cs"/>
                <a:sym typeface="Wingdings" panose="05000000000000000000" pitchFamily="2" charset="2"/>
              </a:rPr>
              <a:t>：</a:t>
            </a:r>
            <a:r>
              <a:rPr kumimoji="0" lang="en-US" altLang="zh-CN" sz="2000" b="1" i="0" u="none" strike="noStrike" kern="1200" cap="none" spc="0" normalizeH="0" baseline="0" noProof="0">
                <a:ln>
                  <a:noFill/>
                </a:ln>
                <a:solidFill>
                  <a:srgbClr val="FF0000"/>
                </a:solidFill>
                <a:effectLst/>
                <a:uLnTx/>
                <a:uFillTx/>
                <a:latin typeface="Perpetua"/>
                <a:ea typeface="宋体" panose="02010600030101010101" pitchFamily="2" charset="-122"/>
                <a:cs typeface="+mn-cs"/>
                <a:sym typeface="Wingdings" panose="05000000000000000000" pitchFamily="2" charset="2"/>
              </a:rPr>
              <a:t>(</a:t>
            </a:r>
            <a:r>
              <a:rPr kumimoji="0" lang="en-US" altLang="zh-CN" sz="20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&lt;</a:t>
            </a:r>
            <a:r>
              <a:rPr kumimoji="0" lang="zh-CN" altLang="en-US" sz="20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動物</a:t>
            </a:r>
            <a:r>
              <a:rPr kumimoji="0" lang="en-US" altLang="zh-CN" sz="20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&gt;</a:t>
            </a: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&lt;</a:t>
            </a: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植物</a:t>
            </a:r>
            <a:r>
              <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&gt;</a:t>
            </a: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&lt;</a:t>
            </a: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食物</a:t>
            </a:r>
            <a:r>
              <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猪：</a:t>
            </a:r>
            <a:r>
              <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(1.0, 0.1, 1.0)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羊：</a:t>
            </a:r>
            <a:r>
              <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(1.0, 0.2, 1.0)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熊猫：</a:t>
            </a:r>
            <a:r>
              <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(1.0, 0.3, 0.0)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白菜：</a:t>
            </a:r>
            <a:r>
              <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(0.0, 1.0, 1.0)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竹子：</a:t>
            </a:r>
            <a:r>
              <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(0.0, 1.0, 0.1)</a:t>
            </a:r>
            <a:endPar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39" name="椭圆 38"/>
          <p:cNvSpPr/>
          <p:nvPr/>
        </p:nvSpPr>
        <p:spPr>
          <a:xfrm>
            <a:off x="5881693" y="4334801"/>
            <a:ext cx="216000" cy="216000"/>
          </a:xfrm>
          <a:prstGeom prst="ellipse">
            <a:avLst/>
          </a:prstGeom>
          <a:solidFill>
            <a:srgbClr val="13CEED"/>
          </a:solidFill>
          <a:ln w="38100">
            <a:solidFill>
              <a:srgbClr val="13CEED"/>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文本框 41"/>
          <p:cNvSpPr txBox="1"/>
          <p:nvPr/>
        </p:nvSpPr>
        <p:spPr>
          <a:xfrm>
            <a:off x="6178248" y="4425675"/>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13CEED"/>
                </a:solidFill>
                <a:effectLst/>
                <a:uLnTx/>
                <a:uFillTx/>
                <a:latin typeface="Perpetua"/>
                <a:ea typeface="宋体" panose="02010600030101010101" pitchFamily="2" charset="-122"/>
                <a:cs typeface="+mn-cs"/>
              </a:rPr>
              <a:t>竹子</a:t>
            </a:r>
          </a:p>
        </p:txBody>
      </p:sp>
    </p:spTree>
    <p:extLst>
      <p:ext uri="{BB962C8B-B14F-4D97-AF65-F5344CB8AC3E}">
        <p14:creationId xmlns:p14="http://schemas.microsoft.com/office/powerpoint/2010/main" val="189391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3" grpId="0" animBg="1"/>
      <p:bldP spid="88" grpId="0" animBg="1"/>
      <p:bldP spid="93" grpId="0" animBg="1"/>
      <p:bldP spid="39"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詞的分布式表示</a:t>
            </a:r>
            <a:endParaRPr lang="zh-CN" altLang="en-US" dirty="0"/>
          </a:p>
        </p:txBody>
      </p:sp>
      <p:sp>
        <p:nvSpPr>
          <p:cNvPr id="3" name="内容占位符 2"/>
          <p:cNvSpPr>
            <a:spLocks noGrp="1"/>
          </p:cNvSpPr>
          <p:nvPr>
            <p:ph sz="quarter" idx="1"/>
          </p:nvPr>
        </p:nvSpPr>
        <p:spPr/>
        <p:txBody>
          <a:bodyPr>
            <a:normAutofit/>
          </a:bodyPr>
          <a:lstStyle/>
          <a:p>
            <a:r>
              <a:rPr lang="zh-CN" altLang="en-US"/>
              <a:t>獨熱編碼</a:t>
            </a:r>
            <a:endParaRPr lang="en-US" altLang="zh-CN" dirty="0"/>
          </a:p>
          <a:p>
            <a:pPr lvl="1"/>
            <a:r>
              <a:rPr lang="zh-CN" altLang="en-US" dirty="0"/>
              <a:t>稀疏向量</a:t>
            </a:r>
            <a:endParaRPr lang="en-US" altLang="zh-CN" dirty="0"/>
          </a:p>
          <a:p>
            <a:r>
              <a:rPr lang="zh-CN" altLang="en-US" dirty="0"/>
              <a:t>分布式表示</a:t>
            </a:r>
            <a:endParaRPr lang="en-US" altLang="zh-CN" dirty="0"/>
          </a:p>
          <a:p>
            <a:pPr lvl="1"/>
            <a:r>
              <a:rPr lang="zh-CN" altLang="en-US" dirty="0"/>
              <a:t>稠密向量</a:t>
            </a:r>
            <a:endParaRPr lang="en-US" altLang="zh-CN" dirty="0"/>
          </a:p>
          <a:p>
            <a:pPr lvl="1"/>
            <a:endParaRPr lang="en-US" altLang="zh-CN" sz="1000" dirty="0"/>
          </a:p>
          <a:p>
            <a:pPr marL="0" indent="0">
              <a:buNone/>
            </a:pPr>
            <a:r>
              <a:rPr lang="en-US" altLang="zh-CN" dirty="0"/>
              <a:t>        [-0.85, 2.3, 1.5, -0.54, 0.77, ...]</a:t>
            </a:r>
          </a:p>
          <a:p>
            <a:pPr marL="0" lvl="1" indent="0">
              <a:spcBef>
                <a:spcPts val="580"/>
              </a:spcBef>
              <a:buClr>
                <a:schemeClr val="accent1"/>
              </a:buClr>
              <a:buSzPct val="85000"/>
              <a:buNone/>
            </a:pPr>
            <a:endParaRPr lang="en-US" altLang="zh-CN" sz="1000" dirty="0"/>
          </a:p>
          <a:p>
            <a:r>
              <a:rPr lang="zh-CN" altLang="en-US"/>
              <a:t>詞向量</a:t>
            </a:r>
            <a:endParaRPr lang="en-US" altLang="zh-CN" dirty="0"/>
          </a:p>
          <a:p>
            <a:r>
              <a:rPr lang="zh-CN" altLang="en-US"/>
              <a:t>詞嵌入（</a:t>
            </a:r>
            <a:r>
              <a:rPr lang="en-US" altLang="zh-CN" b="0" i="0">
                <a:solidFill>
                  <a:srgbClr val="333333"/>
                </a:solidFill>
                <a:effectLst/>
                <a:latin typeface="Times New Roman" panose="02020603050405020304" pitchFamily="18" charset="0"/>
                <a:cs typeface="Times New Roman" panose="02020603050405020304" pitchFamily="18" charset="0"/>
              </a:rPr>
              <a:t>Word </a:t>
            </a:r>
            <a:r>
              <a:rPr lang="en-US" altLang="zh-CN" b="0" i="0" dirty="0">
                <a:solidFill>
                  <a:srgbClr val="333333"/>
                </a:solidFill>
                <a:effectLst/>
                <a:latin typeface="Times New Roman" panose="02020603050405020304" pitchFamily="18" charset="0"/>
                <a:cs typeface="Times New Roman" panose="02020603050405020304" pitchFamily="18" charset="0"/>
              </a:rPr>
              <a:t>embedding</a:t>
            </a:r>
            <a:r>
              <a:rPr lang="en-US" altLang="zh-CN" b="0" i="0" dirty="0">
                <a:solidFill>
                  <a:srgbClr val="333333"/>
                </a:solidFill>
                <a:effectLst/>
                <a:latin typeface="Arial" panose="020B0604020202020204" pitchFamily="34" charset="0"/>
              </a:rPr>
              <a:t> </a:t>
            </a:r>
            <a:r>
              <a:rPr lang="zh-CN" altLang="en-US" dirty="0"/>
              <a:t>）</a:t>
            </a:r>
            <a:endParaRPr lang="en-US" altLang="zh-CN" dirty="0"/>
          </a:p>
          <a:p>
            <a:pPr lvl="1"/>
            <a:r>
              <a:rPr lang="zh-CN" altLang="en-US"/>
              <a:t>把詞向量從高維空間嵌入到低維空間中的一個方法</a:t>
            </a:r>
            <a:endParaRPr lang="en-US" altLang="zh-CN" dirty="0"/>
          </a:p>
        </p:txBody>
      </p:sp>
    </p:spTree>
    <p:extLst>
      <p:ext uri="{BB962C8B-B14F-4D97-AF65-F5344CB8AC3E}">
        <p14:creationId xmlns:p14="http://schemas.microsoft.com/office/powerpoint/2010/main" val="403493416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語言模型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630680"/>
                <a:ext cx="10363200" cy="4572000"/>
              </a:xfrm>
            </p:spPr>
            <p:txBody>
              <a:bodyPr/>
              <a:lstStyle/>
              <a:p>
                <a:pPr>
                  <a:spcBef>
                    <a:spcPts val="1200"/>
                  </a:spcBef>
                </a:pPr>
                <a:r>
                  <a:rPr lang="zh-CN" altLang="en-US"/>
                  <a:t>計算一個句子的概率的模型</a:t>
                </a:r>
                <a:endParaRPr lang="en-US" altLang="zh-CN" dirty="0"/>
              </a:p>
              <a:p>
                <a:pPr lvl="1">
                  <a:spcBef>
                    <a:spcPts val="600"/>
                  </a:spcBef>
                  <a:spcAft>
                    <a:spcPts val="1800"/>
                  </a:spcAft>
                </a:pPr>
                <a:r>
                  <a:rPr lang="en-US" altLang="zh-CN"/>
                  <a:t>p(</a:t>
                </a:r>
                <a:r>
                  <a:rPr lang="zh-CN" altLang="en-US"/>
                  <a:t>清華大學計算機系</a:t>
                </a:r>
                <a:r>
                  <a:rPr lang="en-US" altLang="zh-CN"/>
                  <a:t>)=</a:t>
                </a:r>
                <a:r>
                  <a:rPr lang="zh-CN" altLang="en-US" dirty="0"/>
                  <a:t>？</a:t>
                </a:r>
                <a:endParaRPr lang="en-US" altLang="zh-CN" dirty="0"/>
              </a:p>
              <a:p>
                <a:r>
                  <a:rPr lang="en-US" altLang="zh-CN"/>
                  <a:t>n</a:t>
                </a:r>
                <a:r>
                  <a:rPr lang="zh-CN" altLang="en-US"/>
                  <a:t>元語言模型</a:t>
                </a:r>
                <a:endParaRPr lang="en-US" altLang="zh-CN" dirty="0"/>
              </a:p>
              <a:p>
                <a:pPr lvl="1"/>
                <a:r>
                  <a:rPr lang="zh-CN" altLang="en-US"/>
                  <a:t>設一句話由</a:t>
                </a:r>
                <a:r>
                  <a:rPr lang="en-US" altLang="zh-CN"/>
                  <a:t>m</a:t>
                </a:r>
                <a:r>
                  <a:rPr lang="zh-CN" altLang="en-US" dirty="0"/>
                  <a:t>個詞組成：</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2</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𝑚</m:t>
                        </m:r>
                      </m:sub>
                    </m:sSub>
                  </m:oMath>
                </a14:m>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i="1">
                            <a:latin typeface="Cambria Math" panose="02040503050406030204" pitchFamily="18" charset="0"/>
                          </a:rPr>
                          <m:t>𝑤</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𝑚</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smtClean="0">
                            <a:latin typeface="Cambria Math" panose="02040503050406030204" pitchFamily="18" charset="0"/>
                          </a:rPr>
                          <m:t>×</m:t>
                        </m:r>
                        <m:r>
                          <a:rPr lang="en-US" altLang="zh-CN" i="1">
                            <a:latin typeface="Cambria Math" panose="02040503050406030204" pitchFamily="18" charset="0"/>
                          </a:rPr>
                          <m:t>𝑝</m:t>
                        </m:r>
                      </m:e>
                      <m:sub>
                        <m:r>
                          <a:rPr lang="en-US" altLang="zh-CN" b="0" i="1" smtClean="0">
                            <a:latin typeface="Cambria Math" panose="02040503050406030204" pitchFamily="18" charset="0"/>
                          </a:rPr>
                          <m:t>2</m:t>
                        </m:r>
                      </m:sub>
                    </m:sSub>
                    <m:r>
                      <a:rPr lang="en-US" altLang="zh-CN" i="1" smtClean="0">
                        <a:latin typeface="Cambria Math" panose="02040503050406030204" pitchFamily="18" charset="0"/>
                      </a:rPr>
                      <m:t>×</m:t>
                    </m:r>
                    <m:r>
                      <a:rPr lang="en-US" altLang="zh-CN" b="0" i="1" smtClean="0">
                        <a:latin typeface="Cambria Math" panose="02040503050406030204" pitchFamily="18" charset="0"/>
                      </a:rPr>
                      <m:t>…</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𝑚</m:t>
                        </m:r>
                      </m:sub>
                    </m:sSub>
                  </m:oMath>
                </a14:m>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m:t>
                            </m:r>
                          </m:sub>
                        </m:sSub>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−2</m:t>
                                </m:r>
                              </m:e>
                            </m:d>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b="0" i="1" smtClean="0">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b="0" i="1" smtClean="0">
                                <a:latin typeface="Cambria Math" panose="02040503050406030204" pitchFamily="18" charset="0"/>
                              </a:rPr>
                              <m:t>−1</m:t>
                            </m:r>
                          </m:sub>
                        </m:sSub>
                      </m:e>
                    </m:d>
                  </m:oMath>
                </a14:m>
                <a:endParaRPr lang="en-US" altLang="zh-CN" b="0" dirty="0"/>
              </a:p>
              <a:p>
                <a:pPr lvl="1">
                  <a:spcBef>
                    <a:spcPts val="1200"/>
                  </a:spcBef>
                </a:pP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oMath>
                </a14:m>
                <a:r>
                  <a:rPr lang="en-US" altLang="zh-CN" dirty="0"/>
                  <a:t>…</a:t>
                </a:r>
                <a14:m>
                  <m:oMath xmlns:m="http://schemas.openxmlformats.org/officeDocument/2006/math">
                    <m:sSub>
                      <m:sSubPr>
                        <m:ctrlPr>
                          <a:rPr lang="en-US" altLang="zh-CN" i="1">
                            <a:solidFill>
                              <a:srgbClr val="119F14"/>
                            </a:solidFill>
                            <a:latin typeface="Cambria Math" panose="02040503050406030204" pitchFamily="18" charset="0"/>
                          </a:rPr>
                        </m:ctrlPr>
                      </m:sSubPr>
                      <m:e>
                        <m:r>
                          <a:rPr lang="en-US" altLang="zh-CN" i="1">
                            <a:solidFill>
                              <a:srgbClr val="119F14"/>
                            </a:solidFill>
                            <a:latin typeface="Cambria Math" panose="02040503050406030204" pitchFamily="18" charset="0"/>
                          </a:rPr>
                          <m:t>𝑤</m:t>
                        </m:r>
                      </m:e>
                      <m:sub>
                        <m:r>
                          <a:rPr lang="en-US" altLang="zh-CN" i="1">
                            <a:solidFill>
                              <a:srgbClr val="119F14"/>
                            </a:solidFill>
                            <a:latin typeface="Cambria Math" panose="02040503050406030204" pitchFamily="18" charset="0"/>
                          </a:rPr>
                          <m:t>𝑖</m:t>
                        </m:r>
                        <m:r>
                          <a:rPr lang="en-US" altLang="zh-CN" i="1">
                            <a:solidFill>
                              <a:srgbClr val="119F14"/>
                            </a:solidFill>
                            <a:latin typeface="Cambria Math" panose="02040503050406030204" pitchFamily="18" charset="0"/>
                          </a:rPr>
                          <m:t>−(</m:t>
                        </m:r>
                        <m:r>
                          <a:rPr lang="en-US" altLang="zh-CN" i="1">
                            <a:solidFill>
                              <a:srgbClr val="119F14"/>
                            </a:solidFill>
                            <a:latin typeface="Cambria Math" panose="02040503050406030204" pitchFamily="18" charset="0"/>
                          </a:rPr>
                          <m:t>𝑛</m:t>
                        </m:r>
                        <m:r>
                          <a:rPr lang="en-US" altLang="zh-CN" i="1">
                            <a:solidFill>
                              <a:srgbClr val="119F14"/>
                            </a:solidFill>
                            <a:latin typeface="Cambria Math" panose="02040503050406030204" pitchFamily="18" charset="0"/>
                          </a:rPr>
                          <m:t>−1)</m:t>
                        </m:r>
                      </m:sub>
                    </m:sSub>
                    <m:r>
                      <a:rPr lang="en-US" altLang="zh-CN">
                        <a:solidFill>
                          <a:srgbClr val="119F14"/>
                        </a:solidFill>
                        <a:latin typeface="Cambria Math" panose="02040503050406030204" pitchFamily="18" charset="0"/>
                      </a:rPr>
                      <m:t>…</m:t>
                    </m:r>
                    <m:sSub>
                      <m:sSubPr>
                        <m:ctrlPr>
                          <a:rPr lang="en-US" altLang="zh-CN" i="1">
                            <a:solidFill>
                              <a:srgbClr val="119F14"/>
                            </a:solidFill>
                            <a:latin typeface="Cambria Math" panose="02040503050406030204" pitchFamily="18" charset="0"/>
                          </a:rPr>
                        </m:ctrlPr>
                      </m:sSubPr>
                      <m:e>
                        <m:r>
                          <a:rPr lang="en-US" altLang="zh-CN" i="1">
                            <a:solidFill>
                              <a:srgbClr val="119F14"/>
                            </a:solidFill>
                            <a:latin typeface="Cambria Math" panose="02040503050406030204" pitchFamily="18" charset="0"/>
                          </a:rPr>
                          <m:t>𝑤</m:t>
                        </m:r>
                      </m:e>
                      <m:sub>
                        <m:r>
                          <a:rPr lang="en-US" altLang="zh-CN" i="1">
                            <a:solidFill>
                              <a:srgbClr val="119F14"/>
                            </a:solidFill>
                            <a:latin typeface="Cambria Math" panose="02040503050406030204" pitchFamily="18" charset="0"/>
                          </a:rPr>
                          <m:t>𝑖</m:t>
                        </m:r>
                        <m:r>
                          <a:rPr lang="en-US" altLang="zh-CN" i="1">
                            <a:solidFill>
                              <a:srgbClr val="119F14"/>
                            </a:solidFill>
                            <a:latin typeface="Cambria Math" panose="02040503050406030204" pitchFamily="18" charset="0"/>
                          </a:rPr>
                          <m:t>−2</m:t>
                        </m:r>
                      </m:sub>
                    </m:sSub>
                    <m:sSub>
                      <m:sSubPr>
                        <m:ctrlPr>
                          <a:rPr lang="en-US" altLang="zh-CN" i="1">
                            <a:solidFill>
                              <a:srgbClr val="119F14"/>
                            </a:solidFill>
                            <a:latin typeface="Cambria Math" panose="02040503050406030204" pitchFamily="18" charset="0"/>
                          </a:rPr>
                        </m:ctrlPr>
                      </m:sSubPr>
                      <m:e>
                        <m:r>
                          <a:rPr lang="en-US" altLang="zh-CN" i="1">
                            <a:solidFill>
                              <a:srgbClr val="119F14"/>
                            </a:solidFill>
                            <a:latin typeface="Cambria Math" panose="02040503050406030204" pitchFamily="18" charset="0"/>
                          </a:rPr>
                          <m:t>𝑤</m:t>
                        </m:r>
                      </m:e>
                      <m:sub>
                        <m:r>
                          <a:rPr lang="en-US" altLang="zh-CN" i="1">
                            <a:solidFill>
                              <a:srgbClr val="119F14"/>
                            </a:solidFill>
                            <a:latin typeface="Cambria Math" panose="02040503050406030204" pitchFamily="18" charset="0"/>
                          </a:rPr>
                          <m:t>𝑖</m:t>
                        </m:r>
                        <m:r>
                          <a:rPr lang="en-US" altLang="zh-CN" i="1">
                            <a:solidFill>
                              <a:srgbClr val="119F14"/>
                            </a:solidFill>
                            <a:latin typeface="Cambria Math" panose="02040503050406030204" pitchFamily="18" charset="0"/>
                          </a:rPr>
                          <m:t>−1</m:t>
                        </m:r>
                      </m:sub>
                    </m:sSub>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𝒘</m:t>
                        </m:r>
                      </m:e>
                      <m:sub>
                        <m:r>
                          <a:rPr lang="en-US" altLang="zh-CN" b="1" i="1">
                            <a:solidFill>
                              <a:srgbClr val="FF0000"/>
                            </a:solidFill>
                            <a:latin typeface="Cambria Math" panose="02040503050406030204" pitchFamily="18" charset="0"/>
                          </a:rPr>
                          <m:t>𝒊</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𝑚</m:t>
                        </m:r>
                      </m:sub>
                    </m:sSub>
                  </m:oMath>
                </a14:m>
                <a:endParaRPr lang="zh-CN" altLang="en-US" dirty="0"/>
              </a:p>
              <a:p>
                <a:pPr lvl="1"/>
                <a:endParaRPr lang="en-US" altLang="zh-CN" dirty="0"/>
              </a:p>
              <a:p>
                <a:pPr lvl="1"/>
                <a:endParaRPr lang="en-US" altLang="zh-CN" dirty="0"/>
              </a:p>
              <a:p>
                <a:pPr lvl="1"/>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630680"/>
                <a:ext cx="10363200" cy="4572000"/>
              </a:xfrm>
              <a:blipFill>
                <a:blip r:embed="rId2"/>
                <a:stretch>
                  <a:fillRect t="-2133"/>
                </a:stretch>
              </a:blipFill>
            </p:spPr>
            <p:txBody>
              <a:bodyPr/>
              <a:lstStyle/>
              <a:p>
                <a:r>
                  <a:rPr lang="zh-TW" altLang="en-US">
                    <a:noFill/>
                  </a:rPr>
                  <a:t> </a:t>
                </a:r>
              </a:p>
            </p:txBody>
          </p:sp>
        </mc:Fallback>
      </mc:AlternateContent>
      <p:sp>
        <p:nvSpPr>
          <p:cNvPr id="4" name="右大括号 3"/>
          <p:cNvSpPr/>
          <p:nvPr/>
        </p:nvSpPr>
        <p:spPr>
          <a:xfrm rot="5400000">
            <a:off x="3962159" y="4243491"/>
            <a:ext cx="444137" cy="2465006"/>
          </a:xfrm>
          <a:prstGeom prst="rightBrace">
            <a:avLst>
              <a:gd name="adj1" fmla="val 18137"/>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6" name="文本框 5"/>
          <p:cNvSpPr txBox="1"/>
          <p:nvPr/>
        </p:nvSpPr>
        <p:spPr>
          <a:xfrm>
            <a:off x="3587451" y="5767733"/>
            <a:ext cx="154189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119F14"/>
                </a:solidFill>
                <a:effectLst/>
                <a:uLnTx/>
                <a:uFillTx/>
                <a:latin typeface="Perpetua"/>
                <a:ea typeface="宋体" panose="02010600030101010101" pitchFamily="2" charset="-122"/>
                <a:cs typeface="+mn-cs"/>
              </a:rPr>
              <a:t>前</a:t>
            </a:r>
            <a:r>
              <a:rPr kumimoji="0" lang="en-US" altLang="zh-CN" sz="2000" b="1" i="0" u="none" strike="noStrike" kern="1200" cap="none" spc="0" normalizeH="0" baseline="0" noProof="0">
                <a:ln>
                  <a:noFill/>
                </a:ln>
                <a:solidFill>
                  <a:srgbClr val="119F14"/>
                </a:solidFill>
                <a:effectLst/>
                <a:uLnTx/>
                <a:uFillTx/>
                <a:latin typeface="Perpetua"/>
                <a:ea typeface="宋体" panose="02010600030101010101" pitchFamily="2" charset="-122"/>
                <a:cs typeface="+mn-cs"/>
              </a:rPr>
              <a:t>n-1</a:t>
            </a:r>
            <a:r>
              <a:rPr kumimoji="0" lang="zh-CN" altLang="en-US" sz="2000" b="1" i="0" u="none" strike="noStrike" kern="1200" cap="none" spc="0" normalizeH="0" baseline="0" noProof="0">
                <a:ln>
                  <a:noFill/>
                </a:ln>
                <a:solidFill>
                  <a:srgbClr val="119F14"/>
                </a:solidFill>
                <a:effectLst/>
                <a:uLnTx/>
                <a:uFillTx/>
                <a:latin typeface="Perpetua"/>
                <a:ea typeface="宋体" panose="02010600030101010101" pitchFamily="2" charset="-122"/>
                <a:cs typeface="+mn-cs"/>
              </a:rPr>
              <a:t>個詞</a:t>
            </a:r>
            <a:endParaRPr kumimoji="0" lang="zh-CN" altLang="en-US" sz="2000" b="1" i="0" u="none" strike="noStrike" kern="1200" cap="none" spc="0" normalizeH="0" baseline="0" noProof="0" dirty="0">
              <a:ln>
                <a:noFill/>
              </a:ln>
              <a:solidFill>
                <a:srgbClr val="119F14"/>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227244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語言模型</a:t>
            </a:r>
            <a:endParaRPr lang="zh-CN" altLang="en-US" dirty="0"/>
          </a:p>
        </p:txBody>
      </p:sp>
      <p:sp>
        <p:nvSpPr>
          <p:cNvPr id="3" name="内容占位符 2"/>
          <p:cNvSpPr>
            <a:spLocks noGrp="1"/>
          </p:cNvSpPr>
          <p:nvPr>
            <p:ph sz="quarter" idx="1"/>
          </p:nvPr>
        </p:nvSpPr>
        <p:spPr/>
        <p:txBody>
          <a:bodyPr/>
          <a:lstStyle/>
          <a:p>
            <a:endParaRPr lang="en-US" altLang="zh-CN" dirty="0"/>
          </a:p>
          <a:p>
            <a:pPr marL="0" indent="0">
              <a:buNone/>
            </a:pPr>
            <a:r>
              <a:rPr lang="en-US" altLang="zh-CN" dirty="0"/>
              <a:t>    p(</a:t>
            </a:r>
            <a:r>
              <a:rPr lang="zh-CN" altLang="en-US"/>
              <a:t>系</a:t>
            </a:r>
            <a:r>
              <a:rPr lang="en-US" altLang="zh-CN"/>
              <a:t>|</a:t>
            </a:r>
            <a:r>
              <a:rPr lang="zh-CN" altLang="en-US"/>
              <a:t>清華大學計算機</a:t>
            </a:r>
            <a:r>
              <a:rPr lang="en-US" altLang="zh-CN"/>
              <a:t>)            </a:t>
            </a:r>
            <a:r>
              <a:rPr lang="zh-CN" altLang="en-US" dirty="0"/>
              <a:t>大</a:t>
            </a:r>
            <a:endParaRPr lang="en-US" altLang="zh-CN" dirty="0"/>
          </a:p>
          <a:p>
            <a:pPr marL="0" indent="0">
              <a:buNone/>
            </a:pPr>
            <a:r>
              <a:rPr lang="en-US" altLang="zh-CN" dirty="0"/>
              <a:t>    </a:t>
            </a:r>
            <a:r>
              <a:rPr lang="en-US" altLang="zh-CN"/>
              <a:t>p(</a:t>
            </a:r>
            <a:r>
              <a:rPr lang="zh-CN" altLang="en-US"/>
              <a:t>學院</a:t>
            </a:r>
            <a:r>
              <a:rPr lang="en-US" altLang="zh-CN"/>
              <a:t>|</a:t>
            </a:r>
            <a:r>
              <a:rPr lang="zh-CN" altLang="en-US"/>
              <a:t>清華大學計算機</a:t>
            </a:r>
            <a:r>
              <a:rPr lang="en-US" altLang="zh-CN"/>
              <a:t>)        </a:t>
            </a:r>
            <a:r>
              <a:rPr lang="zh-CN" altLang="en-US" dirty="0"/>
              <a:t>中</a:t>
            </a:r>
            <a:endParaRPr lang="en-US" altLang="zh-CN" dirty="0"/>
          </a:p>
          <a:p>
            <a:pPr marL="0" indent="0">
              <a:buNone/>
            </a:pPr>
            <a:r>
              <a:rPr lang="en-US" altLang="zh-CN" dirty="0"/>
              <a:t>    </a:t>
            </a:r>
            <a:r>
              <a:rPr lang="en-US" altLang="zh-CN"/>
              <a:t>p(</a:t>
            </a:r>
            <a:r>
              <a:rPr lang="zh-CN" altLang="en-US"/>
              <a:t>大學</a:t>
            </a:r>
            <a:r>
              <a:rPr lang="en-US" altLang="zh-CN"/>
              <a:t>|</a:t>
            </a:r>
            <a:r>
              <a:rPr lang="zh-CN" altLang="en-US"/>
              <a:t>清華大學計算機</a:t>
            </a:r>
            <a:r>
              <a:rPr lang="en-US" altLang="zh-CN"/>
              <a:t>)        </a:t>
            </a:r>
            <a:r>
              <a:rPr lang="zh-CN" altLang="en-US" dirty="0"/>
              <a:t>小</a:t>
            </a:r>
          </a:p>
          <a:p>
            <a:pPr marL="0" indent="0">
              <a:buNone/>
            </a:pPr>
            <a:endParaRPr lang="zh-CN" altLang="en-US" dirty="0"/>
          </a:p>
          <a:p>
            <a:endParaRPr lang="zh-CN" altLang="en-US" dirty="0"/>
          </a:p>
        </p:txBody>
      </p:sp>
    </p:spTree>
    <p:extLst>
      <p:ext uri="{BB962C8B-B14F-4D97-AF65-F5344CB8AC3E}">
        <p14:creationId xmlns:p14="http://schemas.microsoft.com/office/powerpoint/2010/main" val="49211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語言模型</a:t>
            </a:r>
            <a:endParaRPr lang="zh-CN" altLang="en-US" dirty="0"/>
          </a:p>
        </p:txBody>
      </p:sp>
      <p:sp>
        <p:nvSpPr>
          <p:cNvPr id="3" name="内容占位符 2"/>
          <p:cNvSpPr>
            <a:spLocks noGrp="1"/>
          </p:cNvSpPr>
          <p:nvPr>
            <p:ph sz="quarter" idx="1"/>
          </p:nvPr>
        </p:nvSpPr>
        <p:spPr/>
        <p:txBody>
          <a:bodyPr/>
          <a:lstStyle/>
          <a:p>
            <a:endParaRPr lang="en-US" altLang="zh-CN" dirty="0"/>
          </a:p>
          <a:p>
            <a:r>
              <a:rPr lang="zh-CN" altLang="en-US"/>
              <a:t>語言模型舉例</a:t>
            </a:r>
            <a:endParaRPr lang="en-US" altLang="zh-CN" dirty="0"/>
          </a:p>
          <a:p>
            <a:pPr lvl="1"/>
            <a:r>
              <a:rPr lang="en-US" altLang="zh-CN" dirty="0"/>
              <a:t>2</a:t>
            </a:r>
            <a:r>
              <a:rPr lang="zh-CN" altLang="en-US" dirty="0"/>
              <a:t>元模型</a:t>
            </a:r>
            <a:endParaRPr lang="en-US" altLang="zh-CN" dirty="0"/>
          </a:p>
          <a:p>
            <a:pPr lvl="1"/>
            <a:endParaRPr lang="en-US" altLang="zh-CN" dirty="0"/>
          </a:p>
          <a:p>
            <a:pPr marL="0" indent="0">
              <a:buNone/>
            </a:pPr>
            <a:r>
              <a:rPr lang="en-US" altLang="zh-CN"/>
              <a:t>    </a:t>
            </a:r>
            <a:r>
              <a:rPr lang="zh-CN" altLang="en-US"/>
              <a:t>“清華  大學  計算機  系”</a:t>
            </a:r>
            <a:endParaRPr lang="en-US" altLang="zh-CN" dirty="0"/>
          </a:p>
          <a:p>
            <a:pPr marL="822960" lvl="3" indent="0">
              <a:buNone/>
            </a:pPr>
            <a:endParaRPr lang="en-US" altLang="zh-CN" dirty="0"/>
          </a:p>
          <a:p>
            <a:pPr marL="0" indent="0">
              <a:buNone/>
            </a:pPr>
            <a:r>
              <a:rPr lang="en-US" altLang="zh-CN" dirty="0"/>
              <a:t>     </a:t>
            </a:r>
            <a:r>
              <a:rPr lang="en-US" altLang="zh-CN"/>
              <a:t>p(</a:t>
            </a:r>
            <a:r>
              <a:rPr lang="zh-CN" altLang="en-US"/>
              <a:t>清華大學計算機系</a:t>
            </a:r>
            <a:r>
              <a:rPr lang="en-US" altLang="zh-CN"/>
              <a:t>)</a:t>
            </a:r>
            <a:endParaRPr lang="en-US" altLang="zh-CN" dirty="0"/>
          </a:p>
          <a:p>
            <a:pPr marL="0" indent="0">
              <a:buNone/>
            </a:pPr>
            <a:r>
              <a:rPr lang="en-US" altLang="zh-CN" dirty="0"/>
              <a:t>  =</a:t>
            </a:r>
            <a:r>
              <a:rPr lang="en-US" altLang="zh-CN"/>
              <a:t>p(</a:t>
            </a:r>
            <a:r>
              <a:rPr lang="zh-CN" altLang="en-US"/>
              <a:t>大學</a:t>
            </a:r>
            <a:r>
              <a:rPr lang="en-US" altLang="zh-CN"/>
              <a:t>|</a:t>
            </a:r>
            <a:r>
              <a:rPr lang="zh-CN" altLang="en-US"/>
              <a:t>清華</a:t>
            </a:r>
            <a:r>
              <a:rPr lang="en-US" altLang="zh-CN"/>
              <a:t>)×p(</a:t>
            </a:r>
            <a:r>
              <a:rPr lang="zh-CN" altLang="en-US"/>
              <a:t>計算機</a:t>
            </a:r>
            <a:r>
              <a:rPr lang="en-US" altLang="zh-CN"/>
              <a:t>|</a:t>
            </a:r>
            <a:r>
              <a:rPr lang="zh-CN" altLang="en-US"/>
              <a:t>大學</a:t>
            </a:r>
            <a:r>
              <a:rPr lang="en-US" altLang="zh-CN"/>
              <a:t>) </a:t>
            </a:r>
            <a:r>
              <a:rPr lang="en-US" altLang="zh-CN" dirty="0"/>
              <a:t>×p(</a:t>
            </a:r>
            <a:r>
              <a:rPr lang="zh-CN" altLang="en-US"/>
              <a:t>系</a:t>
            </a:r>
            <a:r>
              <a:rPr lang="en-US" altLang="zh-CN"/>
              <a:t>|</a:t>
            </a:r>
            <a:r>
              <a:rPr lang="zh-CN" altLang="en-US"/>
              <a:t>計算機</a:t>
            </a:r>
            <a:r>
              <a:rPr lang="en-US" altLang="zh-CN"/>
              <a:t>)</a:t>
            </a:r>
            <a:endParaRPr lang="zh-CN" altLang="en-US" dirty="0"/>
          </a:p>
        </p:txBody>
      </p:sp>
    </p:spTree>
    <p:extLst>
      <p:ext uri="{BB962C8B-B14F-4D97-AF65-F5344CB8AC3E}">
        <p14:creationId xmlns:p14="http://schemas.microsoft.com/office/powerpoint/2010/main" val="156268478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神經網絡語言模型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417638"/>
                <a:ext cx="10363200" cy="4572000"/>
              </a:xfrm>
            </p:spPr>
            <p:txBody>
              <a:bodyPr/>
              <a:lstStyle/>
              <a:p>
                <a:r>
                  <a:rPr lang="zh-CN" altLang="en-US"/>
                  <a:t>用神經網絡實現的語言模型</a:t>
                </a:r>
                <a:endParaRPr lang="en-US" altLang="zh-CN" dirty="0"/>
              </a:p>
              <a:p>
                <a:pPr marL="0" indent="0">
                  <a:buNone/>
                </a:pP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𝑝</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sub>
                        </m:sSub>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−1</m:t>
                                    </m:r>
                                  </m:e>
                                </m:d>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−2</m:t>
                                </m:r>
                              </m:e>
                            </m:d>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i="1">
                                <a:latin typeface="Cambria Math" panose="02040503050406030204" pitchFamily="18" charset="0"/>
                              </a:rPr>
                              <m:t>−1</m:t>
                            </m:r>
                          </m:sub>
                        </m:sSub>
                      </m:e>
                    </m:d>
                  </m:oMath>
                </a14:m>
                <a:endParaRPr lang="en-US" altLang="zh-CN" dirty="0"/>
              </a:p>
              <a:p>
                <a:pPr marL="2194560" lvl="8" indent="0">
                  <a:buNone/>
                </a:pPr>
                <a:endParaRPr lang="en-US" altLang="zh-CN" dirty="0"/>
              </a:p>
              <a:p>
                <a:pPr marL="2194560" lvl="8" indent="0">
                  <a:buNone/>
                </a:pPr>
                <a:endParaRPr lang="en-US" altLang="zh-CN" dirty="0"/>
              </a:p>
              <a:p>
                <a:pPr marL="2194560" lvl="8" indent="0">
                  <a:buNone/>
                </a:pPr>
                <a:endParaRPr lang="en-US" altLang="zh-CN" dirty="0"/>
              </a:p>
              <a:p>
                <a:pPr marL="2194560" lvl="8" indent="0">
                  <a:buNone/>
                </a:pPr>
                <a:endParaRPr lang="en-US" altLang="zh-CN" dirty="0"/>
              </a:p>
              <a:p>
                <a:pPr marL="2194560" lvl="8" indent="0">
                  <a:buNone/>
                </a:pPr>
                <a:endParaRPr lang="en-US" altLang="zh-CN" dirty="0"/>
              </a:p>
              <a:p>
                <a:pPr marL="0" indent="0">
                  <a:buNone/>
                </a:pP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oMath>
                </a14:m>
                <a:r>
                  <a:rPr lang="en-US" altLang="zh-CN" dirty="0"/>
                  <a:t>…</a:t>
                </a:r>
                <a14:m>
                  <m:oMath xmlns:m="http://schemas.openxmlformats.org/officeDocument/2006/math">
                    <m:sSub>
                      <m:sSubPr>
                        <m:ctrlPr>
                          <a:rPr lang="en-US" altLang="zh-CN" i="1" smtClean="0">
                            <a:solidFill>
                              <a:srgbClr val="119F14"/>
                            </a:solidFill>
                            <a:latin typeface="Cambria Math" panose="02040503050406030204" pitchFamily="18" charset="0"/>
                          </a:rPr>
                        </m:ctrlPr>
                      </m:sSubPr>
                      <m:e>
                        <m:r>
                          <a:rPr lang="en-US" altLang="zh-CN" i="1">
                            <a:solidFill>
                              <a:srgbClr val="119F14"/>
                            </a:solidFill>
                            <a:latin typeface="Cambria Math" panose="02040503050406030204" pitchFamily="18" charset="0"/>
                          </a:rPr>
                          <m:t>𝑤</m:t>
                        </m:r>
                      </m:e>
                      <m:sub>
                        <m:r>
                          <a:rPr lang="en-US" altLang="zh-CN" i="1">
                            <a:solidFill>
                              <a:srgbClr val="119F14"/>
                            </a:solidFill>
                            <a:latin typeface="Cambria Math" panose="02040503050406030204" pitchFamily="18" charset="0"/>
                          </a:rPr>
                          <m:t>𝑖</m:t>
                        </m:r>
                        <m:r>
                          <a:rPr lang="en-US" altLang="zh-CN" i="1">
                            <a:solidFill>
                              <a:srgbClr val="119F14"/>
                            </a:solidFill>
                            <a:latin typeface="Cambria Math" panose="02040503050406030204" pitchFamily="18" charset="0"/>
                          </a:rPr>
                          <m:t>−(</m:t>
                        </m:r>
                        <m:r>
                          <a:rPr lang="en-US" altLang="zh-CN" b="0" i="1" smtClean="0">
                            <a:solidFill>
                              <a:srgbClr val="119F14"/>
                            </a:solidFill>
                            <a:latin typeface="Cambria Math" panose="02040503050406030204" pitchFamily="18" charset="0"/>
                          </a:rPr>
                          <m:t>𝑛</m:t>
                        </m:r>
                        <m:r>
                          <a:rPr lang="en-US" altLang="zh-CN" b="0" i="1" smtClean="0">
                            <a:solidFill>
                              <a:srgbClr val="119F14"/>
                            </a:solidFill>
                            <a:latin typeface="Cambria Math" panose="02040503050406030204" pitchFamily="18" charset="0"/>
                          </a:rPr>
                          <m:t>−1)</m:t>
                        </m:r>
                      </m:sub>
                    </m:sSub>
                    <m:r>
                      <a:rPr lang="en-US" altLang="zh-CN" b="0" i="0" smtClean="0">
                        <a:solidFill>
                          <a:srgbClr val="119F14"/>
                        </a:solidFill>
                        <a:latin typeface="Cambria Math" panose="02040503050406030204" pitchFamily="18" charset="0"/>
                      </a:rPr>
                      <m:t>…</m:t>
                    </m:r>
                    <m:sSub>
                      <m:sSubPr>
                        <m:ctrlPr>
                          <a:rPr lang="en-US" altLang="zh-CN" i="1">
                            <a:solidFill>
                              <a:srgbClr val="119F14"/>
                            </a:solidFill>
                            <a:latin typeface="Cambria Math" panose="02040503050406030204" pitchFamily="18" charset="0"/>
                          </a:rPr>
                        </m:ctrlPr>
                      </m:sSubPr>
                      <m:e>
                        <m:r>
                          <a:rPr lang="en-US" altLang="zh-CN" i="1">
                            <a:solidFill>
                              <a:srgbClr val="119F14"/>
                            </a:solidFill>
                            <a:latin typeface="Cambria Math" panose="02040503050406030204" pitchFamily="18" charset="0"/>
                          </a:rPr>
                          <m:t>𝑤</m:t>
                        </m:r>
                      </m:e>
                      <m:sub>
                        <m:r>
                          <a:rPr lang="en-US" altLang="zh-CN" i="1">
                            <a:solidFill>
                              <a:srgbClr val="119F14"/>
                            </a:solidFill>
                            <a:latin typeface="Cambria Math" panose="02040503050406030204" pitchFamily="18" charset="0"/>
                          </a:rPr>
                          <m:t>𝑖</m:t>
                        </m:r>
                        <m:r>
                          <a:rPr lang="en-US" altLang="zh-CN" i="1">
                            <a:solidFill>
                              <a:srgbClr val="119F14"/>
                            </a:solidFill>
                            <a:latin typeface="Cambria Math" panose="02040503050406030204" pitchFamily="18" charset="0"/>
                          </a:rPr>
                          <m:t>−2</m:t>
                        </m:r>
                      </m:sub>
                    </m:sSub>
                    <m:sSub>
                      <m:sSubPr>
                        <m:ctrlPr>
                          <a:rPr lang="en-US" altLang="zh-CN" i="1">
                            <a:solidFill>
                              <a:srgbClr val="119F14"/>
                            </a:solidFill>
                            <a:latin typeface="Cambria Math" panose="02040503050406030204" pitchFamily="18" charset="0"/>
                          </a:rPr>
                        </m:ctrlPr>
                      </m:sSubPr>
                      <m:e>
                        <m:r>
                          <a:rPr lang="en-US" altLang="zh-CN" i="1">
                            <a:solidFill>
                              <a:srgbClr val="119F14"/>
                            </a:solidFill>
                            <a:latin typeface="Cambria Math" panose="02040503050406030204" pitchFamily="18" charset="0"/>
                          </a:rPr>
                          <m:t>𝑤</m:t>
                        </m:r>
                      </m:e>
                      <m:sub>
                        <m:r>
                          <a:rPr lang="en-US" altLang="zh-CN" i="1">
                            <a:solidFill>
                              <a:srgbClr val="119F14"/>
                            </a:solidFill>
                            <a:latin typeface="Cambria Math" panose="02040503050406030204" pitchFamily="18" charset="0"/>
                          </a:rPr>
                          <m:t>𝑖</m:t>
                        </m:r>
                        <m:r>
                          <a:rPr lang="en-US" altLang="zh-CN" b="0" i="1" smtClean="0">
                            <a:solidFill>
                              <a:srgbClr val="119F14"/>
                            </a:solidFill>
                            <a:latin typeface="Cambria Math" panose="02040503050406030204" pitchFamily="18" charset="0"/>
                          </a:rPr>
                          <m:t>−1</m:t>
                        </m:r>
                      </m:sub>
                    </m:sSub>
                    <m:sSub>
                      <m:sSubPr>
                        <m:ctrlPr>
                          <a:rPr lang="en-US"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𝒘</m:t>
                        </m:r>
                      </m:e>
                      <m:sub>
                        <m:r>
                          <a:rPr lang="en-US" altLang="zh-CN" b="1" i="1" smtClean="0">
                            <a:solidFill>
                              <a:srgbClr val="FF0000"/>
                            </a:solidFill>
                            <a:latin typeface="Cambria Math" panose="02040503050406030204" pitchFamily="18" charset="0"/>
                          </a:rPr>
                          <m:t>𝒊</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𝑚</m:t>
                        </m:r>
                      </m:sub>
                    </m:sSub>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417638"/>
                <a:ext cx="10363200" cy="4572000"/>
              </a:xfrm>
              <a:blipFill>
                <a:blip r:embed="rId3"/>
                <a:stretch>
                  <a:fillRect t="-2133"/>
                </a:stretch>
              </a:blipFill>
            </p:spPr>
            <p:txBody>
              <a:bodyPr/>
              <a:lstStyle/>
              <a:p>
                <a:r>
                  <a:rPr lang="zh-TW" altLang="en-US">
                    <a:noFill/>
                  </a:rPr>
                  <a:t> </a:t>
                </a:r>
              </a:p>
            </p:txBody>
          </p:sp>
        </mc:Fallback>
      </mc:AlternateContent>
      <p:sp>
        <p:nvSpPr>
          <p:cNvPr id="4" name="矩形 3"/>
          <p:cNvSpPr/>
          <p:nvPr/>
        </p:nvSpPr>
        <p:spPr>
          <a:xfrm>
            <a:off x="8072852" y="3143800"/>
            <a:ext cx="1759131" cy="687978"/>
          </a:xfrm>
          <a:prstGeom prst="rect">
            <a:avLst/>
          </a:prstGeom>
          <a:ln w="28575"/>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神經網絡</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p:cNvSpPr txBox="1"/>
          <p:nvPr/>
        </p:nvSpPr>
        <p:spPr>
          <a:xfrm>
            <a:off x="8181467" y="4743945"/>
            <a:ext cx="15418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Perpetua"/>
                <a:ea typeface="宋体" panose="02010600030101010101" pitchFamily="2" charset="-122"/>
                <a:cs typeface="+mn-cs"/>
              </a:rPr>
              <a:t>前</a:t>
            </a:r>
            <a:r>
              <a:rPr kumimoji="0" lang="en-US" altLang="zh-CN" sz="2400" b="1" i="0" u="none" strike="noStrike" kern="1200" cap="none" spc="0" normalizeH="0" baseline="0" noProof="0">
                <a:ln>
                  <a:noFill/>
                </a:ln>
                <a:solidFill>
                  <a:prstClr val="black"/>
                </a:solidFill>
                <a:effectLst/>
                <a:uLnTx/>
                <a:uFillTx/>
                <a:latin typeface="Perpetua"/>
                <a:ea typeface="宋体" panose="02010600030101010101" pitchFamily="2" charset="-122"/>
                <a:cs typeface="+mn-cs"/>
              </a:rPr>
              <a:t>n-1</a:t>
            </a:r>
            <a:r>
              <a:rPr kumimoji="0" lang="zh-CN" altLang="en-US" sz="2400" b="1" i="0" u="none" strike="noStrike" kern="1200" cap="none" spc="0" normalizeH="0" baseline="0" noProof="0">
                <a:ln>
                  <a:noFill/>
                </a:ln>
                <a:solidFill>
                  <a:prstClr val="black"/>
                </a:solidFill>
                <a:effectLst/>
                <a:uLnTx/>
                <a:uFillTx/>
                <a:latin typeface="Perpetua"/>
                <a:ea typeface="宋体" panose="02010600030101010101" pitchFamily="2" charset="-122"/>
                <a:cs typeface="+mn-cs"/>
              </a:rPr>
              <a:t>個詞</a:t>
            </a:r>
            <a:endPar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cxnSp>
        <p:nvCxnSpPr>
          <p:cNvPr id="7" name="直接箭头连接符 6"/>
          <p:cNvCxnSpPr/>
          <p:nvPr/>
        </p:nvCxnSpPr>
        <p:spPr>
          <a:xfrm flipV="1">
            <a:off x="8429903" y="3832176"/>
            <a:ext cx="248194" cy="8704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 name="直接箭头连接符 7"/>
          <p:cNvCxnSpPr/>
          <p:nvPr/>
        </p:nvCxnSpPr>
        <p:spPr>
          <a:xfrm flipH="1" flipV="1">
            <a:off x="9191903" y="3832177"/>
            <a:ext cx="248194" cy="8704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p:cNvCxnSpPr>
            <a:cxnSpLocks/>
          </p:cNvCxnSpPr>
          <p:nvPr/>
        </p:nvCxnSpPr>
        <p:spPr>
          <a:xfrm flipH="1" flipV="1">
            <a:off x="8969144" y="2455819"/>
            <a:ext cx="2" cy="68798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6" name="文本框 15"/>
              <p:cNvSpPr txBox="1"/>
              <p:nvPr/>
            </p:nvSpPr>
            <p:spPr>
              <a:xfrm>
                <a:off x="8678097" y="1937016"/>
                <a:ext cx="70128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𝑝</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oMath>
                  </m:oMathPara>
                </a14:m>
                <a:endPar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16" name="文本框 15"/>
              <p:cNvSpPr txBox="1">
                <a:spLocks noRot="1" noChangeAspect="1" noMove="1" noResize="1" noEditPoints="1" noAdjustHandles="1" noChangeArrowheads="1" noChangeShapeType="1" noTextEdit="1"/>
              </p:cNvSpPr>
              <p:nvPr/>
            </p:nvSpPr>
            <p:spPr>
              <a:xfrm>
                <a:off x="8678097" y="1937016"/>
                <a:ext cx="701280" cy="461665"/>
              </a:xfrm>
              <a:prstGeom prst="rect">
                <a:avLst/>
              </a:prstGeom>
              <a:blipFill>
                <a:blip r:embed="rId4"/>
                <a:stretch>
                  <a:fillRect b="-6667"/>
                </a:stretch>
              </a:blipFill>
            </p:spPr>
            <p:txBody>
              <a:bodyPr/>
              <a:lstStyle/>
              <a:p>
                <a:r>
                  <a:rPr lang="zh-TW" altLang="en-US">
                    <a:noFill/>
                  </a:rPr>
                  <a:t> </a:t>
                </a:r>
              </a:p>
            </p:txBody>
          </p:sp>
        </mc:Fallback>
      </mc:AlternateContent>
      <p:sp>
        <p:nvSpPr>
          <p:cNvPr id="6" name="右大括号 5"/>
          <p:cNvSpPr/>
          <p:nvPr/>
        </p:nvSpPr>
        <p:spPr>
          <a:xfrm rot="5400000">
            <a:off x="3965925" y="3619245"/>
            <a:ext cx="508393" cy="2689305"/>
          </a:xfrm>
          <a:prstGeom prst="rightBrace">
            <a:avLst>
              <a:gd name="adj1" fmla="val 31710"/>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1" name="文本框 10"/>
          <p:cNvSpPr txBox="1"/>
          <p:nvPr/>
        </p:nvSpPr>
        <p:spPr>
          <a:xfrm>
            <a:off x="3587451" y="5218094"/>
            <a:ext cx="154189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119F14"/>
                </a:solidFill>
                <a:effectLst/>
                <a:uLnTx/>
                <a:uFillTx/>
                <a:latin typeface="Perpetua"/>
                <a:ea typeface="宋体" panose="02010600030101010101" pitchFamily="2" charset="-122"/>
                <a:cs typeface="+mn-cs"/>
              </a:rPr>
              <a:t>前</a:t>
            </a:r>
            <a:r>
              <a:rPr kumimoji="0" lang="en-US" altLang="zh-CN" sz="2000" b="1" i="0" u="none" strike="noStrike" kern="1200" cap="none" spc="0" normalizeH="0" baseline="0" noProof="0">
                <a:ln>
                  <a:noFill/>
                </a:ln>
                <a:solidFill>
                  <a:srgbClr val="119F14"/>
                </a:solidFill>
                <a:effectLst/>
                <a:uLnTx/>
                <a:uFillTx/>
                <a:latin typeface="Perpetua"/>
                <a:ea typeface="宋体" panose="02010600030101010101" pitchFamily="2" charset="-122"/>
                <a:cs typeface="+mn-cs"/>
              </a:rPr>
              <a:t>n-1</a:t>
            </a:r>
            <a:r>
              <a:rPr kumimoji="0" lang="zh-CN" altLang="en-US" sz="2000" b="1" i="0" u="none" strike="noStrike" kern="1200" cap="none" spc="0" normalizeH="0" baseline="0" noProof="0">
                <a:ln>
                  <a:noFill/>
                </a:ln>
                <a:solidFill>
                  <a:srgbClr val="119F14"/>
                </a:solidFill>
                <a:effectLst/>
                <a:uLnTx/>
                <a:uFillTx/>
                <a:latin typeface="Perpetua"/>
                <a:ea typeface="宋体" panose="02010600030101010101" pitchFamily="2" charset="-122"/>
                <a:cs typeface="+mn-cs"/>
              </a:rPr>
              <a:t>個詞</a:t>
            </a:r>
            <a:endParaRPr kumimoji="0" lang="zh-CN" altLang="en-US" sz="2000" b="1" i="0" u="none" strike="noStrike" kern="1200" cap="none" spc="0" normalizeH="0" baseline="0" noProof="0" dirty="0">
              <a:ln>
                <a:noFill/>
              </a:ln>
              <a:solidFill>
                <a:srgbClr val="119F14"/>
              </a:solidFill>
              <a:effectLst/>
              <a:uLnTx/>
              <a:uFillTx/>
              <a:latin typeface="Perpetua"/>
              <a:ea typeface="宋体" panose="02010600030101010101" pitchFamily="2" charset="-122"/>
              <a:cs typeface="+mn-cs"/>
            </a:endParaRPr>
          </a:p>
        </p:txBody>
      </p:sp>
      <p:cxnSp>
        <p:nvCxnSpPr>
          <p:cNvPr id="19" name="直接箭头连接符 18"/>
          <p:cNvCxnSpPr>
            <a:endCxn id="5" idx="1"/>
          </p:cNvCxnSpPr>
          <p:nvPr/>
        </p:nvCxnSpPr>
        <p:spPr>
          <a:xfrm flipV="1">
            <a:off x="4868091" y="4974778"/>
            <a:ext cx="3313376" cy="442495"/>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26" name="右大括号 25"/>
          <p:cNvSpPr/>
          <p:nvPr/>
        </p:nvSpPr>
        <p:spPr>
          <a:xfrm rot="16200000">
            <a:off x="4104203" y="2537147"/>
            <a:ext cx="508393" cy="2965858"/>
          </a:xfrm>
          <a:prstGeom prst="rightBrace">
            <a:avLst>
              <a:gd name="adj1" fmla="val 31710"/>
              <a:gd name="adj2" fmla="val 50000"/>
            </a:avLst>
          </a:prstGeom>
          <a:ln w="28575">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31" name="文本框 30"/>
          <p:cNvSpPr txBox="1"/>
          <p:nvPr/>
        </p:nvSpPr>
        <p:spPr>
          <a:xfrm>
            <a:off x="3796211" y="3244111"/>
            <a:ext cx="154189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2B11EF"/>
                </a:solidFill>
                <a:effectLst/>
                <a:uLnTx/>
                <a:uFillTx/>
                <a:latin typeface="Perpetua"/>
                <a:ea typeface="宋体" panose="02010600030101010101" pitchFamily="2" charset="-122"/>
                <a:cs typeface="+mn-cs"/>
              </a:rPr>
              <a:t>窗口爲</a:t>
            </a:r>
            <a:r>
              <a:rPr kumimoji="0" lang="en-US" altLang="zh-CN" sz="2000" b="1" i="0" u="none" strike="noStrike" kern="1200" cap="none" spc="0" normalizeH="0" baseline="0" noProof="0">
                <a:ln>
                  <a:noFill/>
                </a:ln>
                <a:solidFill>
                  <a:srgbClr val="2B11EF"/>
                </a:solidFill>
                <a:effectLst/>
                <a:uLnTx/>
                <a:uFillTx/>
                <a:latin typeface="Perpetua"/>
                <a:ea typeface="宋体" panose="02010600030101010101" pitchFamily="2" charset="-122"/>
                <a:cs typeface="+mn-cs"/>
              </a:rPr>
              <a:t>n</a:t>
            </a:r>
            <a:endParaRPr kumimoji="0" lang="zh-CN" altLang="en-US" sz="2000" b="1" i="0" u="none" strike="noStrike" kern="1200" cap="none" spc="0" normalizeH="0" baseline="0" noProof="0" dirty="0">
              <a:ln>
                <a:noFill/>
              </a:ln>
              <a:solidFill>
                <a:srgbClr val="2B11EF"/>
              </a:solidFill>
              <a:effectLst/>
              <a:uLnTx/>
              <a:uFillTx/>
              <a:latin typeface="Perpetua"/>
              <a:ea typeface="宋体" panose="02010600030101010101" pitchFamily="2" charset="-122"/>
              <a:cs typeface="+mn-cs"/>
            </a:endParaRPr>
          </a:p>
        </p:txBody>
      </p:sp>
      <p:cxnSp>
        <p:nvCxnSpPr>
          <p:cNvPr id="17" name="直接箭头连接符 16">
            <a:extLst>
              <a:ext uri="{FF2B5EF4-FFF2-40B4-BE49-F238E27FC236}">
                <a16:creationId xmlns:a16="http://schemas.microsoft.com/office/drawing/2014/main" id="{7989D227-6D22-462D-A4D7-4AE8D8ED972F}"/>
              </a:ext>
            </a:extLst>
          </p:cNvPr>
          <p:cNvCxnSpPr/>
          <p:nvPr/>
        </p:nvCxnSpPr>
        <p:spPr>
          <a:xfrm flipH="1" flipV="1">
            <a:off x="8357682" y="2457667"/>
            <a:ext cx="2" cy="68798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A538349B-A7E4-45C4-AD2D-2156145413CD}"/>
              </a:ext>
            </a:extLst>
          </p:cNvPr>
          <p:cNvCxnSpPr/>
          <p:nvPr/>
        </p:nvCxnSpPr>
        <p:spPr>
          <a:xfrm flipH="1" flipV="1">
            <a:off x="9608480" y="2459529"/>
            <a:ext cx="2" cy="68798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 name="文本框 19">
                <a:extLst>
                  <a:ext uri="{FF2B5EF4-FFF2-40B4-BE49-F238E27FC236}">
                    <a16:creationId xmlns:a16="http://schemas.microsoft.com/office/drawing/2014/main" id="{DB00DC36-789D-451C-B65C-85A66FD32303}"/>
                  </a:ext>
                </a:extLst>
              </p:cNvPr>
              <p:cNvSpPr txBox="1"/>
              <p:nvPr/>
            </p:nvSpPr>
            <p:spPr>
              <a:xfrm>
                <a:off x="8952415" y="2642210"/>
                <a:ext cx="59798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p:txBody>
          </p:sp>
        </mc:Choice>
        <mc:Fallback>
          <p:sp>
            <p:nvSpPr>
              <p:cNvPr id="20" name="文本框 19">
                <a:extLst>
                  <a:ext uri="{FF2B5EF4-FFF2-40B4-BE49-F238E27FC236}">
                    <a16:creationId xmlns:a16="http://schemas.microsoft.com/office/drawing/2014/main" id="{DB00DC36-789D-451C-B65C-85A66FD32303}"/>
                  </a:ext>
                </a:extLst>
              </p:cNvPr>
              <p:cNvSpPr txBox="1">
                <a:spLocks noRot="1" noChangeAspect="1" noMove="1" noResize="1" noEditPoints="1" noAdjustHandles="1" noChangeArrowheads="1" noChangeShapeType="1" noTextEdit="1"/>
              </p:cNvSpPr>
              <p:nvPr/>
            </p:nvSpPr>
            <p:spPr>
              <a:xfrm>
                <a:off x="8952415" y="2642210"/>
                <a:ext cx="597983"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3ED4CF1C-A70C-4399-80F1-23C7BA8FEF6D}"/>
                  </a:ext>
                </a:extLst>
              </p:cNvPr>
              <p:cNvSpPr txBox="1"/>
              <p:nvPr/>
            </p:nvSpPr>
            <p:spPr>
              <a:xfrm>
                <a:off x="8383474" y="2650787"/>
                <a:ext cx="59798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p:txBody>
          </p:sp>
        </mc:Choice>
        <mc:Fallback>
          <p:sp>
            <p:nvSpPr>
              <p:cNvPr id="21" name="文本框 20">
                <a:extLst>
                  <a:ext uri="{FF2B5EF4-FFF2-40B4-BE49-F238E27FC236}">
                    <a16:creationId xmlns:a16="http://schemas.microsoft.com/office/drawing/2014/main" id="{3ED4CF1C-A70C-4399-80F1-23C7BA8FEF6D}"/>
                  </a:ext>
                </a:extLst>
              </p:cNvPr>
              <p:cNvSpPr txBox="1">
                <a:spLocks noRot="1" noChangeAspect="1" noMove="1" noResize="1" noEditPoints="1" noAdjustHandles="1" noChangeArrowheads="1" noChangeShapeType="1" noTextEdit="1"/>
              </p:cNvSpPr>
              <p:nvPr/>
            </p:nvSpPr>
            <p:spPr>
              <a:xfrm>
                <a:off x="8383474" y="2650787"/>
                <a:ext cx="597983" cy="369332"/>
              </a:xfrm>
              <a:prstGeom prst="rect">
                <a:avLst/>
              </a:prstGeom>
              <a:blipFill>
                <a:blip r:embed="rId6"/>
                <a:stretch>
                  <a:fillRect/>
                </a:stretch>
              </a:blipFill>
            </p:spPr>
            <p:txBody>
              <a:bodyPr/>
              <a:lstStyle/>
              <a:p>
                <a:r>
                  <a:rPr lang="zh-TW" altLang="en-US">
                    <a:noFill/>
                  </a:rPr>
                  <a:t> </a:t>
                </a:r>
              </a:p>
            </p:txBody>
          </p:sp>
        </mc:Fallback>
      </mc:AlternateContent>
      <p:cxnSp>
        <p:nvCxnSpPr>
          <p:cNvPr id="15" name="连接符: 曲线 14">
            <a:extLst>
              <a:ext uri="{FF2B5EF4-FFF2-40B4-BE49-F238E27FC236}">
                <a16:creationId xmlns:a16="http://schemas.microsoft.com/office/drawing/2014/main" id="{4BE4264E-7DB9-463B-A4E6-C1B5BEFFF100}"/>
              </a:ext>
            </a:extLst>
          </p:cNvPr>
          <p:cNvCxnSpPr>
            <a:cxnSpLocks/>
            <a:endCxn id="16" idx="1"/>
          </p:cNvCxnSpPr>
          <p:nvPr/>
        </p:nvCxnSpPr>
        <p:spPr>
          <a:xfrm flipV="1">
            <a:off x="6096000" y="2167849"/>
            <a:ext cx="2582097" cy="2137885"/>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4A4F0869-8D6C-4A16-B29F-DE17BC041F75}"/>
                  </a:ext>
                </a:extLst>
              </p:cNvPr>
              <p:cNvSpPr txBox="1"/>
              <p:nvPr/>
            </p:nvSpPr>
            <p:spPr>
              <a:xfrm>
                <a:off x="8614157" y="4188514"/>
                <a:ext cx="59798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p:txBody>
          </p:sp>
        </mc:Choice>
        <mc:Fallback>
          <p:sp>
            <p:nvSpPr>
              <p:cNvPr id="27" name="文本框 26">
                <a:extLst>
                  <a:ext uri="{FF2B5EF4-FFF2-40B4-BE49-F238E27FC236}">
                    <a16:creationId xmlns:a16="http://schemas.microsoft.com/office/drawing/2014/main" id="{4A4F0869-8D6C-4A16-B29F-DE17BC041F75}"/>
                  </a:ext>
                </a:extLst>
              </p:cNvPr>
              <p:cNvSpPr txBox="1">
                <a:spLocks noRot="1" noChangeAspect="1" noMove="1" noResize="1" noEditPoints="1" noAdjustHandles="1" noChangeArrowheads="1" noChangeShapeType="1" noTextEdit="1"/>
              </p:cNvSpPr>
              <p:nvPr/>
            </p:nvSpPr>
            <p:spPr>
              <a:xfrm>
                <a:off x="8614157" y="4188514"/>
                <a:ext cx="597983" cy="369332"/>
              </a:xfrm>
              <a:prstGeom prst="rect">
                <a:avLst/>
              </a:prstGeom>
              <a:blipFill>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765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6" grpId="0"/>
      <p:bldP spid="6" grpId="0" animBg="1"/>
      <p:bldP spid="11" grpId="0"/>
      <p:bldP spid="26" grpId="0" animBg="1"/>
      <p:bldP spid="31" grpId="0"/>
      <p:bldP spid="20" grpId="0"/>
      <p:bldP spid="21" grpId="0"/>
      <p:bldP spid="27"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图片 86"/>
          <p:cNvPicPr>
            <a:picLocks noChangeAspect="1"/>
          </p:cNvPicPr>
          <p:nvPr/>
        </p:nvPicPr>
        <p:blipFill>
          <a:blip r:embed="rId3"/>
          <a:stretch>
            <a:fillRect/>
          </a:stretch>
        </p:blipFill>
        <p:spPr>
          <a:xfrm>
            <a:off x="2177821" y="276921"/>
            <a:ext cx="6334588" cy="5782492"/>
          </a:xfrm>
          <a:prstGeom prst="rect">
            <a:avLst/>
          </a:prstGeom>
        </p:spPr>
      </p:pic>
      <mc:AlternateContent xmlns:mc="http://schemas.openxmlformats.org/markup-compatibility/2006">
        <mc:Choice xmlns:a14="http://schemas.microsoft.com/office/drawing/2010/main" Requires="a14">
          <p:sp>
            <p:nvSpPr>
              <p:cNvPr id="88" name="文本框 87"/>
              <p:cNvSpPr txBox="1"/>
              <p:nvPr/>
            </p:nvSpPr>
            <p:spPr>
              <a:xfrm>
                <a:off x="1741235" y="5717960"/>
                <a:ext cx="21863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上下文</a:t>
                </a:r>
                <a14:m>
                  <m:oMath xmlns:m="http://schemas.openxmlformats.org/officeDocument/2006/math">
                    <m:r>
                      <a:rPr kumimoji="0" lang="en-US" altLang="zh-CN" sz="18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𝒄𝒐𝒏𝒕𝒆𝒙𝒕</m:t>
                    </m:r>
                    <m:r>
                      <a:rPr kumimoji="0" lang="en-US" altLang="zh-CN" sz="1800" b="1"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
                      <m:sSubPr>
                        <m:ctrlPr>
                          <a:rPr kumimoji="0" lang="en-US" altLang="zh-CN" sz="1800" b="1"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𝒘</m:t>
                        </m:r>
                      </m:e>
                      <m:sub>
                        <m:r>
                          <a:rPr kumimoji="0" lang="en-US" altLang="zh-CN" sz="18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𝒕</m:t>
                        </m:r>
                      </m:sub>
                    </m:sSub>
                    <m:r>
                      <a:rPr kumimoji="0" lang="en-US" altLang="zh-CN" sz="1800" b="1"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oMath>
                </a14:m>
                <a:endPar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88" name="文本框 87"/>
              <p:cNvSpPr txBox="1">
                <a:spLocks noRot="1" noChangeAspect="1" noMove="1" noResize="1" noEditPoints="1" noAdjustHandles="1" noChangeArrowheads="1" noChangeShapeType="1" noTextEdit="1"/>
              </p:cNvSpPr>
              <p:nvPr/>
            </p:nvSpPr>
            <p:spPr>
              <a:xfrm>
                <a:off x="1741235" y="5717960"/>
                <a:ext cx="2186332" cy="369332"/>
              </a:xfrm>
              <a:prstGeom prst="rect">
                <a:avLst/>
              </a:prstGeom>
              <a:blipFill>
                <a:blip r:embed="rId4"/>
                <a:stretch>
                  <a:fillRect l="-2514" t="-18033" r="-1117" b="-16393"/>
                </a:stretch>
              </a:blipFill>
            </p:spPr>
            <p:txBody>
              <a:bodyPr/>
              <a:lstStyle/>
              <a:p>
                <a:r>
                  <a:rPr lang="zh-TW" altLang="en-US">
                    <a:noFill/>
                  </a:rPr>
                  <a:t> </a:t>
                </a:r>
              </a:p>
            </p:txBody>
          </p:sp>
        </mc:Fallback>
      </mc:AlternateContent>
      <p:cxnSp>
        <p:nvCxnSpPr>
          <p:cNvPr id="89" name="直接箭头连接符 88"/>
          <p:cNvCxnSpPr/>
          <p:nvPr/>
        </p:nvCxnSpPr>
        <p:spPr>
          <a:xfrm flipV="1">
            <a:off x="3927567" y="5902626"/>
            <a:ext cx="757644" cy="1"/>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4" name="文本框 93"/>
          <p:cNvSpPr txBox="1"/>
          <p:nvPr/>
        </p:nvSpPr>
        <p:spPr>
          <a:xfrm>
            <a:off x="9199246" y="1707045"/>
            <a:ext cx="168582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神經元個數等于詞表長度</a:t>
            </a: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K</a:t>
            </a:r>
            <a:endPar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95" name="直接箭头连接符 94"/>
          <p:cNvCxnSpPr/>
          <p:nvPr/>
        </p:nvCxnSpPr>
        <p:spPr>
          <a:xfrm flipV="1">
            <a:off x="2351314" y="4136681"/>
            <a:ext cx="923109" cy="55388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01" name="文本框 100"/>
          <p:cNvSpPr txBox="1"/>
          <p:nvPr/>
        </p:nvSpPr>
        <p:spPr>
          <a:xfrm>
            <a:off x="8948995" y="4367404"/>
            <a:ext cx="218633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n-1</a:t>
            </a: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個</a:t>
            </a: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m</a:t>
            </a: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維向量拼接成的</a:t>
            </a: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m</a:t>
            </a:r>
            <a:r>
              <a:rPr kumimoji="0" lang="en-US" altLang="zh-CN"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n-1)</a:t>
            </a: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維向量</a:t>
            </a:r>
            <a:endPar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02" name="直接箭头连接符 101"/>
          <p:cNvCxnSpPr/>
          <p:nvPr/>
        </p:nvCxnSpPr>
        <p:spPr>
          <a:xfrm flipH="1" flipV="1">
            <a:off x="8450951" y="4003539"/>
            <a:ext cx="555530" cy="481375"/>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08" name="文本框 107"/>
          <p:cNvSpPr txBox="1"/>
          <p:nvPr/>
        </p:nvSpPr>
        <p:spPr>
          <a:xfrm>
            <a:off x="8324600" y="3067092"/>
            <a:ext cx="13589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H</a:t>
            </a: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個神經元</a:t>
            </a:r>
            <a:endParaRPr kumimoji="0" lang="en-US" altLang="zh-CN"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12" name="直接箭头连接符 111"/>
          <p:cNvCxnSpPr/>
          <p:nvPr/>
        </p:nvCxnSpPr>
        <p:spPr>
          <a:xfrm flipH="1" flipV="1">
            <a:off x="6862354" y="2914856"/>
            <a:ext cx="1363955" cy="36330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14" name="文本框 113"/>
          <p:cNvSpPr txBox="1"/>
          <p:nvPr/>
        </p:nvSpPr>
        <p:spPr>
          <a:xfrm>
            <a:off x="786865" y="4690569"/>
            <a:ext cx="179376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每個詞對應</a:t>
            </a: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m</a:t>
            </a: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個輸入，共</a:t>
            </a: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n-1</a:t>
            </a: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組</a:t>
            </a:r>
            <a:endPar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16" name="直接箭头连接符 115"/>
          <p:cNvCxnSpPr>
            <a:stCxn id="94" idx="1"/>
          </p:cNvCxnSpPr>
          <p:nvPr/>
        </p:nvCxnSpPr>
        <p:spPr>
          <a:xfrm flipH="1" flipV="1">
            <a:off x="7646126" y="1707045"/>
            <a:ext cx="1553120" cy="323166"/>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18" name="文本框 117"/>
          <p:cNvSpPr txBox="1"/>
          <p:nvPr/>
        </p:nvSpPr>
        <p:spPr>
          <a:xfrm>
            <a:off x="1515149" y="3067092"/>
            <a:ext cx="13589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B050"/>
                </a:solidFill>
                <a:effectLst/>
                <a:uLnTx/>
                <a:uFillTx/>
                <a:latin typeface="Perpetua"/>
                <a:ea typeface="宋体" panose="02010600030101010101" pitchFamily="2" charset="-122"/>
                <a:cs typeface="+mn-cs"/>
              </a:rPr>
              <a:t>全連接</a:t>
            </a:r>
            <a:endParaRPr kumimoji="0" lang="en-US" altLang="zh-CN" sz="1800" b="1"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p:cxnSp>
        <p:nvCxnSpPr>
          <p:cNvPr id="119" name="直接箭头连接符 118"/>
          <p:cNvCxnSpPr/>
          <p:nvPr/>
        </p:nvCxnSpPr>
        <p:spPr>
          <a:xfrm flipV="1">
            <a:off x="2382673" y="2855348"/>
            <a:ext cx="778538" cy="422817"/>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23" name="直接箭头连接符 122"/>
          <p:cNvCxnSpPr/>
          <p:nvPr/>
        </p:nvCxnSpPr>
        <p:spPr>
          <a:xfrm>
            <a:off x="2382673" y="3399356"/>
            <a:ext cx="197960" cy="369981"/>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133" name="文本框 132"/>
          <p:cNvSpPr txBox="1"/>
          <p:nvPr/>
        </p:nvSpPr>
        <p:spPr>
          <a:xfrm>
            <a:off x="1110921" y="2030210"/>
            <a:ext cx="13589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70C0"/>
                </a:solidFill>
                <a:effectLst/>
                <a:uLnTx/>
                <a:uFillTx/>
                <a:latin typeface="Perpetua"/>
                <a:ea typeface="宋体" panose="02010600030101010101" pitchFamily="2" charset="-122"/>
                <a:cs typeface="+mn-cs"/>
              </a:rPr>
              <a:t>全連接</a:t>
            </a:r>
            <a:endParaRPr kumimoji="0" lang="en-US" altLang="zh-CN" sz="1800" b="1"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endParaRPr>
          </a:p>
        </p:txBody>
      </p:sp>
      <p:cxnSp>
        <p:nvCxnSpPr>
          <p:cNvPr id="134" name="直接箭头连接符 133"/>
          <p:cNvCxnSpPr/>
          <p:nvPr/>
        </p:nvCxnSpPr>
        <p:spPr>
          <a:xfrm flipV="1">
            <a:off x="2078841" y="1601203"/>
            <a:ext cx="303832" cy="537576"/>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135" name="直接箭头连接符 134"/>
          <p:cNvCxnSpPr/>
          <p:nvPr/>
        </p:nvCxnSpPr>
        <p:spPr>
          <a:xfrm>
            <a:off x="2078841" y="2259969"/>
            <a:ext cx="1195582" cy="426063"/>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140" name="矩形 139"/>
          <p:cNvSpPr/>
          <p:nvPr/>
        </p:nvSpPr>
        <p:spPr>
          <a:xfrm>
            <a:off x="4031465" y="243841"/>
            <a:ext cx="2665426" cy="452846"/>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4663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94" grpId="0"/>
      <p:bldP spid="101" grpId="0"/>
      <p:bldP spid="108" grpId="0"/>
      <p:bldP spid="114" grpId="0"/>
      <p:bldP spid="118" grpId="0"/>
      <p:bldP spid="133" grpId="0"/>
      <p:bldP spid="140"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629790" y="440397"/>
            <a:ext cx="6334293" cy="5785605"/>
          </a:xfrm>
          <a:prstGeom prst="rect">
            <a:avLst/>
          </a:prstGeom>
        </p:spPr>
      </p:pic>
      <mc:AlternateContent xmlns:mc="http://schemas.openxmlformats.org/markup-compatibility/2006">
        <mc:Choice xmlns:a14="http://schemas.microsoft.com/office/drawing/2010/main" Requires="a14">
          <p:sp>
            <p:nvSpPr>
              <p:cNvPr id="5" name="矩形 4"/>
              <p:cNvSpPr/>
              <p:nvPr/>
            </p:nvSpPr>
            <p:spPr>
              <a:xfrm>
                <a:off x="5390609" y="2693455"/>
                <a:ext cx="6469014" cy="75148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ctrlP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dPr>
                        <m:e>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𝑧</m:t>
                              </m:r>
                            </m:e>
                            <m:sub>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h</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r>
                            <m:rPr>
                              <m:sty m:val="p"/>
                            </m:rPr>
                            <a:rPr kumimoji="0" lang="en-US" altLang="zh-CN" sz="2000" b="0" i="0" u="none" strike="noStrike" kern="1200" cap="none" spc="0" normalizeH="0" baseline="0" noProof="0" smtClean="0">
                              <a:ln>
                                <a:noFill/>
                              </a:ln>
                              <a:solidFill>
                                <a:srgbClr val="FF0000"/>
                              </a:solidFill>
                              <a:effectLst/>
                              <a:uLnTx/>
                              <a:uFillTx/>
                              <a:latin typeface="Cambria Math" panose="02040503050406030204" pitchFamily="18" charset="0"/>
                              <a:cs typeface="+mn-cs"/>
                            </a:rPr>
                            <m:t>tanh</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h</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h</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h</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Sub>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d>
                                <m:d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𝑝</m:t>
                              </m:r>
                            </m:e>
                            <m:sub>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h</m:t>
                              </m:r>
                            </m:sub>
                          </m:sSub>
                        </m:e>
                      </m:d>
                    </m:oMath>
                    <m:oMath xmlns:m="http://schemas.openxmlformats.org/officeDocument/2006/math">
                      <m:r>
                        <a:rPr kumimoji="0" lang="en-US" altLang="zh-CN" sz="2000" b="0" i="0"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=1,2,…,</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𝐻</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oMath>
                  </m:oMathPara>
                </a14:m>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5" name="矩形 4"/>
              <p:cNvSpPr>
                <a:spLocks noRot="1" noChangeAspect="1" noMove="1" noResize="1" noEditPoints="1" noAdjustHandles="1" noChangeArrowheads="1" noChangeShapeType="1" noTextEdit="1"/>
              </p:cNvSpPr>
              <p:nvPr/>
            </p:nvSpPr>
            <p:spPr>
              <a:xfrm>
                <a:off x="5390609" y="2693455"/>
                <a:ext cx="6469014" cy="751488"/>
              </a:xfrm>
              <a:prstGeom prst="rect">
                <a:avLst/>
              </a:prstGeom>
              <a:blipFill>
                <a:blip r:embed="rId4"/>
                <a:stretch>
                  <a:fillRect t="-91870" r="-10745" b="-9349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6439056" y="1461695"/>
                <a:ext cx="4393895" cy="72128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m:rPr>
                              <m:sty m:val="p"/>
                            </m:rPr>
                            <a:rPr kumimoji="0" lang="en-US" altLang="zh-CN" sz="2000" b="0" i="0" u="none" strike="noStrike" kern="1200" cap="none" spc="0" normalizeH="0" baseline="0" noProof="0" smtClean="0">
                              <a:ln>
                                <a:noFill/>
                              </a:ln>
                              <a:solidFill>
                                <a:srgbClr val="FF0000"/>
                              </a:solidFill>
                              <a:effectLst/>
                              <a:uLnTx/>
                              <a:uFillTx/>
                              <a:latin typeface="Cambria Math" panose="02040503050406030204" pitchFamily="18" charset="0"/>
                              <a:cs typeface="+mn-cs"/>
                            </a:rPr>
                            <m:t>i</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𝑧</m:t>
                          </m:r>
                        </m:e>
                        <m: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m:rPr>
                              <m:sty m:val="p"/>
                            </m:rPr>
                            <a:rPr kumimoji="0" lang="en-US" altLang="zh-CN" sz="2000" b="0" i="0" u="none" strike="noStrike" kern="1200" cap="none" spc="0" normalizeH="0" baseline="0" noProof="0" smtClean="0">
                              <a:ln>
                                <a:noFill/>
                              </a:ln>
                              <a:solidFill>
                                <a:srgbClr val="FF0000"/>
                              </a:solidFill>
                              <a:effectLst/>
                              <a:uLnTx/>
                              <a:uFillTx/>
                              <a:latin typeface="Cambria Math" panose="02040503050406030204" pitchFamily="18" charset="0"/>
                              <a:cs typeface="+mn-cs"/>
                            </a:rPr>
                            <m:t>i</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𝑧</m:t>
                          </m:r>
                        </m:e>
                        <m: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m:rPr>
                              <m:sty m:val="p"/>
                            </m:rPr>
                            <a:rPr kumimoji="0" lang="en-US" altLang="zh-CN" sz="2000" b="0" i="0" u="none" strike="noStrike" kern="1200" cap="none" spc="0" normalizeH="0" baseline="0" noProof="0" smtClean="0">
                              <a:ln>
                                <a:noFill/>
                              </a:ln>
                              <a:solidFill>
                                <a:srgbClr val="FF0000"/>
                              </a:solidFill>
                              <a:effectLst/>
                              <a:uLnTx/>
                              <a:uFillTx/>
                              <a:latin typeface="Cambria Math" panose="02040503050406030204" pitchFamily="18" charset="0"/>
                              <a:cs typeface="+mn-cs"/>
                            </a:rPr>
                            <m:t>i</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𝐻</m:t>
                          </m:r>
                        </m:sub>
                      </m:sSub>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𝑧</m:t>
                          </m:r>
                        </m:e>
                        <m:sub>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𝐻</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b>
                      </m:sSub>
                    </m:oMath>
                    <m:oMath xmlns:m="http://schemas.openxmlformats.org/officeDocument/2006/math">
                      <m:r>
                        <a:rPr kumimoji="0" lang="en-US" altLang="zh-CN" sz="2000" b="0" i="0"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=1,2,…,</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𝐾</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oMath>
                  </m:oMathPara>
                </a14:m>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6" name="矩形 5"/>
              <p:cNvSpPr>
                <a:spLocks noRot="1" noChangeAspect="1" noMove="1" noResize="1" noEditPoints="1" noAdjustHandles="1" noChangeArrowheads="1" noChangeShapeType="1" noTextEdit="1"/>
              </p:cNvSpPr>
              <p:nvPr/>
            </p:nvSpPr>
            <p:spPr>
              <a:xfrm>
                <a:off x="6439056" y="1461695"/>
                <a:ext cx="4393895" cy="721288"/>
              </a:xfrm>
              <a:prstGeom prst="rect">
                <a:avLst/>
              </a:prstGeom>
              <a:blipFill>
                <a:blip r:embed="rId5"/>
                <a:stretch>
                  <a:fillRect b="-593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4457680" y="505006"/>
                <a:ext cx="3962751" cy="7637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𝑝</m:t>
                      </m:r>
                      <m:d>
                        <m:d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𝑐𝑜𝑛𝑡𝑒𝑥𝑡</m:t>
                          </m:r>
                          <m:d>
                            <m:d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d>
                        </m:e>
                      </m:d>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f>
                        <m:f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fPr>
                        <m:num>
                          <m:sSup>
                            <m:sSup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p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𝑒</m:t>
                              </m:r>
                            </m:e>
                            <m:sup>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b>
                              </m:sSub>
                            </m:sup>
                          </m:sSup>
                        </m:num>
                        <m:den>
                          <m:nary>
                            <m:naryPr>
                              <m:chr m:val="∑"/>
                              <m:limLoc m:val="undOv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m:rPr>
                                  <m:brk/>
                                </m:rP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𝐾</m:t>
                              </m:r>
                            </m:sup>
                            <m:e>
                              <m:sSup>
                                <m:sSup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p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𝑒</m:t>
                                  </m:r>
                                </m:e>
                                <m:sup>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ub>
                                  </m:sSub>
                                </m:sup>
                              </m:sSup>
                            </m:e>
                          </m:nary>
                        </m:den>
                      </m:f>
                    </m:oMath>
                  </m:oMathPara>
                </a14:m>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7" name="矩形 6"/>
              <p:cNvSpPr>
                <a:spLocks noRot="1" noChangeAspect="1" noMove="1" noResize="1" noEditPoints="1" noAdjustHandles="1" noChangeArrowheads="1" noChangeShapeType="1" noTextEdit="1"/>
              </p:cNvSpPr>
              <p:nvPr/>
            </p:nvSpPr>
            <p:spPr>
              <a:xfrm>
                <a:off x="4457680" y="505006"/>
                <a:ext cx="3962751" cy="763799"/>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7092521" y="3830723"/>
                <a:ext cx="2775055" cy="45179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d>
                                <m:dPr>
                                  <m:endChr m:val=""/>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e>
                              </m:d>
                            </m:sub>
                          </m:sSub>
                        </m:e>
                      </m:d>
                    </m:oMath>
                  </m:oMathPara>
                </a14:m>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8" name="矩形 7"/>
              <p:cNvSpPr>
                <a:spLocks noRot="1" noChangeAspect="1" noMove="1" noResize="1" noEditPoints="1" noAdjustHandles="1" noChangeArrowheads="1" noChangeShapeType="1" noTextEdit="1"/>
              </p:cNvSpPr>
              <p:nvPr/>
            </p:nvSpPr>
            <p:spPr>
              <a:xfrm>
                <a:off x="7092521" y="3830723"/>
                <a:ext cx="2775055" cy="451790"/>
              </a:xfrm>
              <a:prstGeom prst="rect">
                <a:avLst/>
              </a:prstGeom>
              <a:blipFill>
                <a:blip r:embed="rId7"/>
                <a:stretch>
                  <a:fillRect t="-150667" r="-22807" b="-217333"/>
                </a:stretch>
              </a:blipFill>
            </p:spPr>
            <p:txBody>
              <a:bodyPr/>
              <a:lstStyle/>
              <a:p>
                <a:r>
                  <a:rPr lang="zh-TW" altLang="en-US">
                    <a:noFill/>
                  </a:rPr>
                  <a:t> </a:t>
                </a:r>
              </a:p>
            </p:txBody>
          </p:sp>
        </mc:Fallback>
      </mc:AlternateContent>
      <p:sp>
        <p:nvSpPr>
          <p:cNvPr id="9" name="矩形 8"/>
          <p:cNvSpPr/>
          <p:nvPr/>
        </p:nvSpPr>
        <p:spPr>
          <a:xfrm>
            <a:off x="6851767" y="4717196"/>
            <a:ext cx="2236510"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詞向量，訓練得到</a:t>
            </a:r>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0" name="直接箭头连接符 9"/>
          <p:cNvCxnSpPr/>
          <p:nvPr/>
        </p:nvCxnSpPr>
        <p:spPr>
          <a:xfrm flipH="1" flipV="1">
            <a:off x="6296237" y="4279736"/>
            <a:ext cx="555530" cy="481375"/>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61543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如何訓練神經網絡語言模型？</a:t>
            </a:r>
            <a:endParaRPr lang="zh-CN" altLang="en-US" dirty="0"/>
          </a:p>
        </p:txBody>
      </p:sp>
      <p:sp>
        <p:nvSpPr>
          <p:cNvPr id="3" name="内容占位符 2"/>
          <p:cNvSpPr>
            <a:spLocks noGrp="1"/>
          </p:cNvSpPr>
          <p:nvPr>
            <p:ph sz="quarter" idx="1"/>
          </p:nvPr>
        </p:nvSpPr>
        <p:spPr>
          <a:xfrm>
            <a:off x="1219200" y="1639389"/>
            <a:ext cx="10363200" cy="4572000"/>
          </a:xfrm>
        </p:spPr>
        <p:txBody>
          <a:bodyPr/>
          <a:lstStyle/>
          <a:p>
            <a:r>
              <a:rPr lang="zh-CN" altLang="en-US"/>
              <a:t>樣本</a:t>
            </a:r>
            <a:endParaRPr lang="en-US" altLang="zh-CN" dirty="0"/>
          </a:p>
          <a:p>
            <a:pPr lvl="1"/>
            <a:r>
              <a:rPr lang="zh-CN" altLang="en-US"/>
              <a:t>設有句子：“清華 大學 計算機 科學 與 技術 系”</a:t>
            </a:r>
            <a:endParaRPr lang="en-US" altLang="zh-CN" dirty="0"/>
          </a:p>
          <a:p>
            <a:pPr lvl="1"/>
            <a:r>
              <a:rPr lang="zh-CN" altLang="en-US"/>
              <a:t>當窗口爲</a:t>
            </a:r>
            <a:r>
              <a:rPr lang="en-US" altLang="zh-CN"/>
              <a:t>5</a:t>
            </a:r>
            <a:r>
              <a:rPr lang="zh-CN" altLang="en-US"/>
              <a:t>時，可以得到</a:t>
            </a:r>
            <a:r>
              <a:rPr lang="en-US" altLang="zh-CN"/>
              <a:t>3</a:t>
            </a:r>
            <a:r>
              <a:rPr lang="zh-CN" altLang="en-US"/>
              <a:t>個訓練樣本：</a:t>
            </a:r>
            <a:endParaRPr lang="en-US" altLang="zh-CN" dirty="0"/>
          </a:p>
          <a:p>
            <a:pPr lvl="1"/>
            <a:r>
              <a:rPr lang="zh-CN" altLang="en-US"/>
              <a:t>清華 大學 計算機 科學 與 </a:t>
            </a:r>
            <a:endParaRPr lang="en-US" altLang="zh-CN" dirty="0"/>
          </a:p>
          <a:p>
            <a:pPr lvl="1"/>
            <a:r>
              <a:rPr lang="zh-CN" altLang="en-US"/>
              <a:t>          大學 計算機 科學 與 技術</a:t>
            </a:r>
            <a:endParaRPr lang="en-US" altLang="zh-CN" dirty="0"/>
          </a:p>
          <a:p>
            <a:pPr lvl="1"/>
            <a:r>
              <a:rPr lang="zh-CN" altLang="en-US"/>
              <a:t>                    計算機 科學 與 技術 系</a:t>
            </a:r>
            <a:endParaRPr lang="zh-CN" altLang="en-US" dirty="0"/>
          </a:p>
        </p:txBody>
      </p:sp>
    </p:spTree>
    <p:extLst>
      <p:ext uri="{BB962C8B-B14F-4D97-AF65-F5344CB8AC3E}">
        <p14:creationId xmlns:p14="http://schemas.microsoft.com/office/powerpoint/2010/main" val="124639987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如何訓練神經網絡語言模型？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447800"/>
                <a:ext cx="10363200" cy="5040086"/>
              </a:xfrm>
            </p:spPr>
            <p:txBody>
              <a:bodyPr>
                <a:normAutofit/>
              </a:bodyPr>
              <a:lstStyle/>
              <a:p>
                <a:r>
                  <a:rPr lang="zh-CN" altLang="en-US"/>
                  <a:t>最大似然估計</a:t>
                </a:r>
                <a:endParaRPr lang="en-US" altLang="zh-CN" dirty="0"/>
              </a:p>
              <a:p>
                <a:pPr lvl="1"/>
                <a:r>
                  <a:rPr lang="zh-CN" altLang="en-US"/>
                  <a:t>假定語料庫含有</a:t>
                </a:r>
                <a:r>
                  <a:rPr lang="en-US" altLang="zh-CN"/>
                  <a:t>3</a:t>
                </a:r>
                <a:r>
                  <a:rPr lang="zh-CN" altLang="en-US"/>
                  <a:t>句話，窗口爲</a:t>
                </a:r>
                <a:r>
                  <a:rPr lang="en-US" altLang="zh-CN"/>
                  <a:t>2</a:t>
                </a:r>
                <a:r>
                  <a:rPr lang="zh-CN" altLang="en-US" dirty="0"/>
                  <a:t>：</a:t>
                </a:r>
                <a:endParaRPr lang="en-US" altLang="zh-CN" dirty="0"/>
              </a:p>
              <a:p>
                <a:pPr lvl="1"/>
                <a:r>
                  <a:rPr lang="zh-CN" altLang="en-US"/>
                  <a:t>“計算機 科學”</a:t>
                </a:r>
                <a:endParaRPr lang="en-US" altLang="zh-CN" dirty="0"/>
              </a:p>
              <a:p>
                <a:pPr lvl="1"/>
                <a:r>
                  <a:rPr lang="zh-CN" altLang="en-US"/>
                  <a:t>“計算機 科學”</a:t>
                </a:r>
                <a:endParaRPr lang="en-US" altLang="zh-CN" dirty="0"/>
              </a:p>
              <a:p>
                <a:pPr lvl="1"/>
                <a:r>
                  <a:rPr lang="zh-CN" altLang="en-US"/>
                  <a:t>“計算機 工程”</a:t>
                </a:r>
                <a:endParaRPr lang="en-US" altLang="zh-CN" dirty="0"/>
              </a:p>
              <a:p>
                <a:pPr lvl="3"/>
                <a:endParaRPr lang="en-US" altLang="zh-CN" sz="1100" dirty="0"/>
              </a:p>
              <a:p>
                <a:pPr lvl="1"/>
                <a:r>
                  <a:rPr lang="zh-CN" altLang="en-US"/>
                  <a:t>希望計算：</a:t>
                </a:r>
                <a:endParaRPr lang="en-US" altLang="zh-CN" dirty="0"/>
              </a:p>
              <a:p>
                <a:pPr marL="320040" lvl="1" indent="0">
                  <a:buNone/>
                </a:pPr>
                <a:r>
                  <a:rPr lang="en-US" altLang="zh-CN" dirty="0"/>
                  <a:t>    </a:t>
                </a:r>
                <a:r>
                  <a:rPr lang="en-US" altLang="zh-CN"/>
                  <a:t>p(</a:t>
                </a:r>
                <a:r>
                  <a:rPr lang="zh-CN" altLang="en-US"/>
                  <a:t>科學</a:t>
                </a:r>
                <a:r>
                  <a:rPr lang="en-US" altLang="zh-CN"/>
                  <a:t>|</a:t>
                </a:r>
                <a:r>
                  <a:rPr lang="zh-CN" altLang="en-US"/>
                  <a:t>計算機</a:t>
                </a:r>
                <a:r>
                  <a:rPr lang="en-US" altLang="zh-CN"/>
                  <a:t>)</a:t>
                </a:r>
                <a:r>
                  <a:rPr lang="zh-CN" altLang="en-US" dirty="0"/>
                  <a:t>、</a:t>
                </a:r>
                <a:r>
                  <a:rPr lang="en-US" altLang="zh-CN" dirty="0"/>
                  <a:t>p(</a:t>
                </a:r>
                <a:r>
                  <a:rPr lang="zh-CN" altLang="en-US"/>
                  <a:t>工程</a:t>
                </a:r>
                <a:r>
                  <a:rPr lang="en-US" altLang="zh-CN"/>
                  <a:t>|</a:t>
                </a:r>
                <a:r>
                  <a:rPr lang="zh-CN" altLang="en-US"/>
                  <a:t>計算機</a:t>
                </a:r>
                <a:r>
                  <a:rPr lang="en-US" altLang="zh-CN"/>
                  <a:t>)</a:t>
                </a:r>
                <a:endParaRPr lang="en-US" altLang="zh-CN" dirty="0"/>
              </a:p>
              <a:p>
                <a:pPr lvl="1">
                  <a:lnSpc>
                    <a:spcPct val="150000"/>
                  </a:lnSpc>
                </a:pPr>
                <a:r>
                  <a:rPr lang="zh-CN" altLang="en-US"/>
                  <a:t>聯合概率：</a:t>
                </a:r>
                <a:endParaRPr lang="en-US" altLang="zh-CN" dirty="0"/>
              </a:p>
              <a:p>
                <a:pPr marL="320040" lvl="1" indent="0">
                  <a:lnSpc>
                    <a:spcPct val="150000"/>
                  </a:lnSpc>
                  <a:spcBef>
                    <a:spcPts val="1200"/>
                  </a:spcBef>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計算機工程</m:t>
                          </m:r>
                        </m:e>
                      </m:d>
                    </m:oMath>
                  </m:oMathPara>
                </a14:m>
                <a:endParaRPr lang="en-US" altLang="zh-CN" dirty="0"/>
              </a:p>
              <a:p>
                <a:pPr lvl="1"/>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447800"/>
                <a:ext cx="10363200" cy="5040086"/>
              </a:xfrm>
              <a:blipFill>
                <a:blip r:embed="rId2"/>
                <a:stretch>
                  <a:fillRect t="-193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07679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如何訓練神經網絡語言模型？</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p:txBody>
              <a:bodyPr>
                <a:normAutofit/>
              </a:bodyPr>
              <a:lstStyle/>
              <a:p>
                <a:r>
                  <a:rPr lang="zh-CN" altLang="en-US" dirty="0"/>
                  <a:t>假定樣本之間是獨立的，則聯合概率：</a:t>
                </a:r>
                <a:endParaRPr lang="en-US" altLang="zh-CN" dirty="0"/>
              </a:p>
              <a:p>
                <a:pPr marL="320040" lvl="1"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i="1" smtClean="0">
                          <a:latin typeface="Cambria Math" panose="02040503050406030204" pitchFamily="18" charset="0"/>
                        </a:rPr>
                        <m:t>𝑝</m:t>
                      </m:r>
                      <m:d>
                        <m:dPr>
                          <m:ctrlPr>
                            <a:rPr lang="en-US" altLang="zh-CN" i="1">
                              <a:latin typeface="Cambria Math" panose="02040503050406030204" pitchFamily="18" charset="0"/>
                            </a:rPr>
                          </m:ctrlPr>
                        </m:dPr>
                        <m:e>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計算機工程</m:t>
                          </m:r>
                        </m:e>
                      </m:d>
                    </m:oMath>
                    <m:oMath xmlns:m="http://schemas.openxmlformats.org/officeDocument/2006/math">
                      <m:r>
                        <a:rPr lang="en-US" altLang="zh-CN" i="1" dirty="0">
                          <a:latin typeface="Cambria Math" panose="02040503050406030204" pitchFamily="18" charset="0"/>
                        </a:rPr>
                        <m:t>=</m:t>
                      </m:r>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r>
                        <a:rPr lang="en-US" altLang="zh-CN" i="1" dirty="0" smtClean="0">
                          <a:latin typeface="Cambria Math" panose="02040503050406030204" pitchFamily="18" charset="0"/>
                        </a:rPr>
                        <m:t>·</m:t>
                      </m:r>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r>
                        <a:rPr lang="en-US" altLang="zh-CN" i="1" dirty="0">
                          <a:latin typeface="Cambria Math" panose="02040503050406030204" pitchFamily="18" charset="0"/>
                        </a:rPr>
                        <m:t>·</m:t>
                      </m:r>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a:latin typeface="Cambria Math" panose="02040503050406030204" pitchFamily="18" charset="0"/>
                            </a:rPr>
                            <m:t>工程</m:t>
                          </m:r>
                        </m:e>
                        <m:e>
                          <m:r>
                            <a:rPr lang="zh-CN" altLang="en-US" i="1" dirty="0" smtClean="0">
                              <a:latin typeface="Cambria Math" panose="02040503050406030204" pitchFamily="18" charset="0"/>
                            </a:rPr>
                            <m:t>計算機</m:t>
                          </m:r>
                        </m:e>
                      </m:d>
                    </m:oMath>
                    <m:oMath xmlns:m="http://schemas.openxmlformats.org/officeDocument/2006/math">
                      <m:r>
                        <a:rPr lang="en-US" altLang="zh-CN" i="1" dirty="0">
                          <a:latin typeface="Cambria Math" panose="02040503050406030204" pitchFamily="18" charset="0"/>
                        </a:rPr>
                        <m:t>=</m:t>
                      </m:r>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e>
                        <m:sup>
                          <m:r>
                            <a:rPr lang="en-US" altLang="zh-CN" b="0" i="1" dirty="0" smtClean="0">
                              <a:latin typeface="Cambria Math" panose="02040503050406030204" pitchFamily="18" charset="0"/>
                            </a:rPr>
                            <m:t>2</m:t>
                          </m:r>
                        </m:sup>
                      </m:sSup>
                      <m:r>
                        <a:rPr lang="en-US" altLang="zh-CN" i="1" dirty="0">
                          <a:latin typeface="Cambria Math" panose="02040503050406030204" pitchFamily="18" charset="0"/>
                        </a:rPr>
                        <m:t>·</m:t>
                      </m:r>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a:latin typeface="Cambria Math" panose="02040503050406030204" pitchFamily="18" charset="0"/>
                            </a:rPr>
                            <m:t>工程</m:t>
                          </m:r>
                        </m:e>
                        <m:e>
                          <m:r>
                            <a:rPr lang="zh-CN" altLang="en-US" i="1" dirty="0" smtClean="0">
                              <a:latin typeface="Cambria Math" panose="02040503050406030204" pitchFamily="18" charset="0"/>
                            </a:rPr>
                            <m:t>計算機</m:t>
                          </m:r>
                        </m:e>
                      </m:d>
                    </m:oMath>
                    <m:oMath xmlns:m="http://schemas.openxmlformats.org/officeDocument/2006/math">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e>
                        <m:sup>
                          <m:r>
                            <a:rPr lang="en-US" altLang="zh-CN" i="1" dirty="0">
                              <a:latin typeface="Cambria Math" panose="02040503050406030204" pitchFamily="18" charset="0"/>
                            </a:rPr>
                            <m:t>2</m:t>
                          </m:r>
                        </m:sup>
                      </m:sSup>
                      <m:r>
                        <a:rPr lang="en-US" altLang="zh-CN" i="1" dirty="0">
                          <a:latin typeface="Cambria Math" panose="02040503050406030204" pitchFamily="18" charset="0"/>
                        </a:rPr>
                        <m:t>·</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e>
                      </m:d>
                    </m:oMath>
                  </m:oMathPara>
                </a14:m>
                <a:endParaRPr lang="en-US" altLang="zh-CN" dirty="0"/>
              </a:p>
              <a:p>
                <a:r>
                  <a:rPr lang="zh-CN" altLang="en-US" dirty="0"/>
                  <a:t>不同取值時，聯合概率不同：</a:t>
                </a:r>
                <a:endParaRPr lang="en-US" altLang="zh-CN" dirty="0"/>
              </a:p>
              <a:p>
                <a:pPr marL="320040" lvl="1" indent="0">
                  <a:buNone/>
                </a:pPr>
                <a:r>
                  <a:rPr lang="zh-CN" altLang="en-US" dirty="0"/>
                  <a:t>当</a:t>
                </a:r>
                <a:r>
                  <a:rPr lang="en-US" altLang="zh-CN" dirty="0"/>
                  <a:t> </a:t>
                </a:r>
                <a14:m>
                  <m:oMath xmlns:m="http://schemas.openxmlformats.org/officeDocument/2006/math">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r>
                      <a:rPr lang="en-US" altLang="zh-CN" i="1" dirty="0">
                        <a:latin typeface="Cambria Math" panose="02040503050406030204" pitchFamily="18" charset="0"/>
                      </a:rPr>
                      <m:t>=</m:t>
                    </m:r>
                    <m:r>
                      <a:rPr lang="en-US" altLang="zh-CN" b="0" i="1" dirty="0" smtClean="0">
                        <a:latin typeface="Cambria Math" panose="02040503050406030204" pitchFamily="18" charset="0"/>
                      </a:rPr>
                      <m:t>0.5</m:t>
                    </m:r>
                    <m:r>
                      <a:rPr lang="zh-CN" altLang="en-US" i="1" dirty="0" smtClean="0">
                        <a:latin typeface="Cambria Math" panose="02040503050406030204" pitchFamily="18" charset="0"/>
                      </a:rPr>
                      <m:t>时</m:t>
                    </m:r>
                  </m:oMath>
                </a14:m>
                <a:r>
                  <a:rPr lang="zh-CN" altLang="en-US" dirty="0">
                    <a:latin typeface="Cambria Math" panose="02040503050406030204" pitchFamily="18" charset="0"/>
                  </a:rPr>
                  <a:t>：</a:t>
                </a:r>
                <a:endParaRPr lang="en-US" altLang="zh-CN" i="1" dirty="0">
                  <a:latin typeface="Cambria Math" panose="02040503050406030204" pitchFamily="18" charset="0"/>
                </a:endParaRPr>
              </a:p>
              <a:p>
                <a:pPr marL="320040" lvl="1"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計算機工程</m:t>
                          </m:r>
                        </m:e>
                      </m:d>
                      <m:r>
                        <a:rPr lang="en-US" altLang="zh-CN" i="1">
                          <a:latin typeface="Cambria Math" panose="02040503050406030204" pitchFamily="18" charset="0"/>
                        </a:rPr>
                        <m:t>=</m:t>
                      </m:r>
                      <m:r>
                        <a:rPr lang="en-US" altLang="zh-CN" b="0" i="0" smtClean="0">
                          <a:latin typeface="Cambria Math" panose="02040503050406030204" pitchFamily="18" charset="0"/>
                        </a:rPr>
                        <m:t>0.125</m:t>
                      </m:r>
                    </m:oMath>
                  </m:oMathPara>
                </a14:m>
                <a:endParaRPr lang="en-US" altLang="zh-CN" dirty="0"/>
              </a:p>
              <a:p>
                <a:pPr marL="320040" lvl="1" indent="0">
                  <a:buNone/>
                </a:pPr>
                <a:r>
                  <a:rPr lang="zh-CN" altLang="en-US" dirty="0"/>
                  <a:t>当</a:t>
                </a:r>
                <a:r>
                  <a:rPr lang="en-US" altLang="zh-CN" dirty="0"/>
                  <a:t> </a:t>
                </a:r>
                <a14:m>
                  <m:oMath xmlns:m="http://schemas.openxmlformats.org/officeDocument/2006/math">
                    <m:r>
                      <a:rPr lang="en-US" altLang="zh-CN" i="1" dirty="0">
                        <a:latin typeface="Cambria Math" panose="02040503050406030204" pitchFamily="18" charset="0"/>
                      </a:rPr>
                      <m:t>𝑝</m:t>
                    </m:r>
                    <m:d>
                      <m:dPr>
                        <m:ctrlPr>
                          <a:rPr lang="en-US" altLang="zh-CN" i="1" dirty="0" smtClean="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r>
                      <a:rPr lang="en-US" altLang="zh-CN" i="1" dirty="0">
                        <a:latin typeface="Cambria Math" panose="02040503050406030204" pitchFamily="18" charset="0"/>
                      </a:rPr>
                      <m:t>=0.</m:t>
                    </m:r>
                    <m:r>
                      <a:rPr lang="en-US" altLang="zh-CN" b="0" i="1" dirty="0" smtClean="0">
                        <a:latin typeface="Cambria Math" panose="02040503050406030204" pitchFamily="18" charset="0"/>
                      </a:rPr>
                      <m:t>6</m:t>
                    </m:r>
                    <m:r>
                      <a:rPr lang="zh-CN" altLang="en-US" i="1" dirty="0" smtClean="0">
                        <a:latin typeface="Cambria Math" panose="02040503050406030204" pitchFamily="18" charset="0"/>
                      </a:rPr>
                      <m:t>时</m:t>
                    </m:r>
                  </m:oMath>
                </a14:m>
                <a:r>
                  <a:rPr lang="zh-CN" altLang="en-US" dirty="0">
                    <a:latin typeface="Cambria Math" panose="02040503050406030204" pitchFamily="18" charset="0"/>
                  </a:rPr>
                  <a:t>：</a:t>
                </a:r>
                <a:endParaRPr lang="en-US" altLang="zh-CN" i="1" dirty="0">
                  <a:latin typeface="Cambria Math" panose="02040503050406030204" pitchFamily="18" charset="0"/>
                </a:endParaRPr>
              </a:p>
              <a:p>
                <a:pPr marL="320040" lvl="1"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計算機工程</m:t>
                          </m:r>
                        </m:e>
                      </m:d>
                      <m:r>
                        <a:rPr lang="en-US" altLang="zh-CN" i="1">
                          <a:latin typeface="Cambria Math" panose="02040503050406030204" pitchFamily="18" charset="0"/>
                        </a:rPr>
                        <m:t>=</m:t>
                      </m:r>
                      <m:r>
                        <a:rPr lang="en-US" altLang="zh-CN">
                          <a:latin typeface="Cambria Math" panose="02040503050406030204" pitchFamily="18" charset="0"/>
                        </a:rPr>
                        <m:t>0.</m:t>
                      </m:r>
                      <m:r>
                        <a:rPr lang="en-US" altLang="zh-CN" b="0" i="0" smtClean="0">
                          <a:latin typeface="Cambria Math" panose="02040503050406030204" pitchFamily="18" charset="0"/>
                        </a:rPr>
                        <m:t>144</m:t>
                      </m:r>
                    </m:oMath>
                  </m:oMathPara>
                </a14:m>
                <a:endParaRPr lang="en-US" altLang="zh-CN" dirty="0"/>
              </a:p>
              <a:p>
                <a:pPr marL="320040" lvl="1" indent="0">
                  <a:buNone/>
                </a:pPr>
                <a:endParaRPr lang="en-US" altLang="zh-CN"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blipFill>
                <a:blip r:embed="rId2"/>
                <a:stretch>
                  <a:fillRect t="-21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7602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如何訓練神經網絡語言模型？</a:t>
            </a:r>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700358"/>
                <a:ext cx="10363200" cy="4572000"/>
              </a:xfrm>
            </p:spPr>
            <p:txBody>
              <a:bodyPr>
                <a:normAutofit/>
              </a:bodyPr>
              <a:lstStyle/>
              <a:p>
                <a:r>
                  <a:rPr lang="zh-CN" altLang="en-US" dirty="0"/>
                  <a:t>希望</a:t>
                </a:r>
                <a14:m>
                  <m:oMath xmlns:m="http://schemas.openxmlformats.org/officeDocument/2006/math">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計算機科學</m:t>
                        </m:r>
                        <m:r>
                          <a:rPr lang="zh-CN" altLang="en-US" i="1">
                            <a:latin typeface="Cambria Math" panose="02040503050406030204" pitchFamily="18" charset="0"/>
                          </a:rPr>
                          <m:t>，</m:t>
                        </m:r>
                        <m:r>
                          <a:rPr lang="zh-CN" altLang="en-US" i="1" smtClean="0">
                            <a:latin typeface="Cambria Math" panose="02040503050406030204" pitchFamily="18" charset="0"/>
                          </a:rPr>
                          <m:t>計算機工程</m:t>
                        </m:r>
                      </m:e>
                    </m:d>
                  </m:oMath>
                </a14:m>
                <a:r>
                  <a:rPr lang="zh-CN" altLang="en-US" dirty="0"/>
                  <a:t>最大</a:t>
                </a:r>
                <a:br>
                  <a:rPr lang="en-US" altLang="zh-CN" dirty="0"/>
                </a:br>
                <a:r>
                  <a:rPr lang="zh-CN" altLang="en-US" dirty="0"/>
                  <a:t>即</a:t>
                </a:r>
                <a14:m>
                  <m:oMath xmlns:m="http://schemas.openxmlformats.org/officeDocument/2006/math">
                    <m:r>
                      <a:rPr lang="zh-CN" altLang="en-US" i="1">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𝑝</m:t>
                        </m:r>
                        <m:d>
                          <m:dPr>
                            <m:ctrlPr>
                              <a:rPr lang="en-US" altLang="zh-CN" i="1" dirty="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e>
                      <m:sup>
                        <m:r>
                          <a:rPr lang="en-US" altLang="zh-CN" i="1" dirty="0">
                            <a:latin typeface="Cambria Math" panose="02040503050406030204" pitchFamily="18" charset="0"/>
                          </a:rPr>
                          <m:t>2</m:t>
                        </m:r>
                      </m:sup>
                    </m:sSup>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1−</m:t>
                        </m:r>
                        <m:r>
                          <a:rPr lang="en-US" altLang="zh-CN" i="1" dirty="0">
                            <a:latin typeface="Cambria Math" panose="02040503050406030204" pitchFamily="18" charset="0"/>
                          </a:rPr>
                          <m:t>𝑝</m:t>
                        </m:r>
                        <m:d>
                          <m:dPr>
                            <m:ctrlPr>
                              <a:rPr lang="en-US" altLang="zh-CN" i="1" dirty="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e>
                    </m:d>
                  </m:oMath>
                </a14:m>
                <a:r>
                  <a:rPr lang="zh-CN" altLang="en-US" dirty="0"/>
                  <a:t>最大</a:t>
                </a:r>
                <a:endParaRPr lang="en-US" altLang="zh-CN" dirty="0"/>
              </a:p>
              <a:p>
                <a:r>
                  <a:rPr lang="zh-CN" altLang="en-US" dirty="0"/>
                  <a:t>求解有：</a:t>
                </a:r>
                <a:endParaRPr lang="en-US" altLang="zh-CN" dirty="0"/>
              </a:p>
              <a:p>
                <a:pPr marL="320040" lvl="1" indent="0">
                  <a:buNone/>
                </a:pPr>
                <a:r>
                  <a:rPr lang="en-US" altLang="zh-CN" dirty="0"/>
                  <a:t> </a:t>
                </a:r>
                <a14:m>
                  <m:oMath xmlns:m="http://schemas.openxmlformats.org/officeDocument/2006/math">
                    <m:r>
                      <a:rPr lang="en-US" altLang="zh-CN" i="1" dirty="0">
                        <a:latin typeface="Cambria Math" panose="02040503050406030204" pitchFamily="18" charset="0"/>
                      </a:rPr>
                      <m:t>𝑝</m:t>
                    </m:r>
                    <m:d>
                      <m:dPr>
                        <m:ctrlPr>
                          <a:rPr lang="en-US" altLang="zh-CN" i="1" dirty="0">
                            <a:latin typeface="Cambria Math" panose="02040503050406030204" pitchFamily="18" charset="0"/>
                          </a:rPr>
                        </m:ctrlPr>
                      </m:dPr>
                      <m:e>
                        <m:r>
                          <a:rPr lang="zh-CN" altLang="en-US" i="1" dirty="0" smtClean="0">
                            <a:latin typeface="Cambria Math" panose="02040503050406030204" pitchFamily="18" charset="0"/>
                          </a:rPr>
                          <m:t>科學</m:t>
                        </m:r>
                      </m:e>
                      <m:e>
                        <m:r>
                          <a:rPr lang="zh-CN" altLang="en-US" i="1" dirty="0" smtClean="0">
                            <a:latin typeface="Cambria Math" panose="02040503050406030204" pitchFamily="18" charset="0"/>
                          </a:rPr>
                          <m:t>計算機</m:t>
                        </m:r>
                      </m:e>
                    </m:d>
                    <m:r>
                      <a:rPr lang="en-US" altLang="zh-CN" i="1" dirty="0">
                        <a:latin typeface="Cambria Math" panose="02040503050406030204" pitchFamily="18" charset="0"/>
                      </a:rPr>
                      <m:t>=</m:t>
                    </m:r>
                    <m:f>
                      <m:fPr>
                        <m:type m:val="skw"/>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2</m:t>
                        </m:r>
                      </m:num>
                      <m:den>
                        <m:r>
                          <a:rPr lang="en-US" altLang="zh-CN" b="0" i="1" dirty="0" smtClean="0">
                            <a:latin typeface="Cambria Math" panose="02040503050406030204" pitchFamily="18" charset="0"/>
                          </a:rPr>
                          <m:t>3</m:t>
                        </m:r>
                      </m:den>
                    </m:f>
                  </m:oMath>
                </a14:m>
                <a:br>
                  <a:rPr lang="en-US" altLang="zh-CN" dirty="0"/>
                </a:br>
                <a:r>
                  <a:rPr lang="en-US" altLang="zh-CN" dirty="0"/>
                  <a:t> </a:t>
                </a:r>
                <a14:m>
                  <m:oMath xmlns:m="http://schemas.openxmlformats.org/officeDocument/2006/math">
                    <m:r>
                      <a:rPr lang="en-US" altLang="zh-CN" i="1" dirty="0">
                        <a:latin typeface="Cambria Math" panose="02040503050406030204" pitchFamily="18" charset="0"/>
                      </a:rPr>
                      <m:t>𝑝</m:t>
                    </m:r>
                    <m:d>
                      <m:dPr>
                        <m:ctrlPr>
                          <a:rPr lang="en-US" altLang="zh-CN" i="1" dirty="0">
                            <a:latin typeface="Cambria Math" panose="02040503050406030204" pitchFamily="18" charset="0"/>
                          </a:rPr>
                        </m:ctrlPr>
                      </m:dPr>
                      <m:e>
                        <m:r>
                          <a:rPr lang="zh-CN" altLang="en-US" i="1" dirty="0">
                            <a:latin typeface="Cambria Math" panose="02040503050406030204" pitchFamily="18" charset="0"/>
                          </a:rPr>
                          <m:t>工程</m:t>
                        </m:r>
                      </m:e>
                      <m:e>
                        <m:r>
                          <a:rPr lang="zh-CN" altLang="en-US" i="1" dirty="0" smtClean="0">
                            <a:latin typeface="Cambria Math" panose="02040503050406030204" pitchFamily="18" charset="0"/>
                          </a:rPr>
                          <m:t>計算機</m:t>
                        </m:r>
                      </m:e>
                    </m:d>
                    <m:r>
                      <a:rPr lang="en-US" altLang="zh-CN" i="1" dirty="0">
                        <a:latin typeface="Cambria Math" panose="02040503050406030204" pitchFamily="18" charset="0"/>
                      </a:rPr>
                      <m:t>=</m:t>
                    </m:r>
                    <m:f>
                      <m:fPr>
                        <m:type m:val="skw"/>
                        <m:ctrlPr>
                          <a:rPr lang="en-US" altLang="zh-CN" i="1" dirty="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i="1" dirty="0">
                            <a:latin typeface="Cambria Math" panose="02040503050406030204" pitchFamily="18" charset="0"/>
                          </a:rPr>
                          <m:t>3</m:t>
                        </m:r>
                      </m:den>
                    </m:f>
                  </m:oMath>
                </a14:m>
                <a:endParaRPr lang="en-US" altLang="zh-CN" dirty="0"/>
              </a:p>
              <a:p>
                <a:endParaRPr lang="en-US" altLang="zh-CN" dirty="0"/>
              </a:p>
              <a:p>
                <a:r>
                  <a:rPr lang="zh-CN" altLang="en-US" dirty="0"/>
                  <a:t>通過讓聯合概率最大化估計概率的方法稱作最大似然估計</a:t>
                </a:r>
                <a:endParaRPr lang="en-US" altLang="zh-CN" dirty="0"/>
              </a:p>
              <a:p>
                <a:pPr lvl="1"/>
                <a:r>
                  <a:rPr lang="zh-CN" altLang="en-US" dirty="0"/>
                  <a:t>聯合概率分布一般含有參數</a:t>
                </a:r>
                <a:endParaRPr lang="en-US" altLang="zh-CN" dirty="0"/>
              </a:p>
              <a:p>
                <a:pPr lvl="1"/>
                <a:r>
                  <a:rPr lang="zh-CN" altLang="en-US" dirty="0"/>
                  <a:t>通過最大似然方法估計該聯合概率的參數</a:t>
                </a:r>
                <a:endParaRPr lang="en-US" altLang="zh-CN" dirty="0"/>
              </a:p>
              <a:p>
                <a:pPr lvl="1"/>
                <a:r>
                  <a:rPr lang="zh-CN" altLang="en-US" dirty="0"/>
                  <a:t>對于神經網絡語言模型就是估計網絡的參數值</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700358"/>
                <a:ext cx="10363200" cy="4572000"/>
              </a:xfrm>
              <a:blipFill>
                <a:blip r:embed="rId2"/>
                <a:stretch>
                  <a:fillRect t="-2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01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如何訓練神經網絡語言模型？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p:txBody>
              <a:bodyPr/>
              <a:lstStyle/>
              <a:p>
                <a:r>
                  <a:rPr lang="zh-CN" altLang="en-US"/>
                  <a:t>最大似然方法估計神經網絡語言模型的參數</a:t>
                </a:r>
                <a:endParaRPr lang="en-US" altLang="zh-CN" dirty="0"/>
              </a:p>
              <a:p>
                <a:pPr marL="0" indent="0">
                  <a:spcBef>
                    <a:spcPts val="600"/>
                  </a:spcBef>
                  <a:spcAft>
                    <a:spcPts val="600"/>
                  </a:spcAft>
                  <a:buNone/>
                </a:pPr>
                <a14:m>
                  <m:oMathPara xmlns:m="http://schemas.openxmlformats.org/officeDocument/2006/math">
                    <m:oMathParaPr>
                      <m:jc m:val="centerGroup"/>
                    </m:oMathParaPr>
                    <m:oMath xmlns:m="http://schemas.openxmlformats.org/officeDocument/2006/math">
                      <m:func>
                        <m:funcPr>
                          <m:ctrlPr>
                            <a:rPr lang="zh-CN" altLang="zh-CN" i="1">
                              <a:latin typeface="Cambria Math" panose="02040503050406030204" pitchFamily="18" charset="0"/>
                            </a:rPr>
                          </m:ctrlPr>
                        </m:funcPr>
                        <m:fName>
                          <m:limLow>
                            <m:limLowPr>
                              <m:ctrlPr>
                                <a:rPr lang="zh-CN" altLang="zh-CN" i="1">
                                  <a:latin typeface="Cambria Math" panose="02040503050406030204" pitchFamily="18" charset="0"/>
                                </a:rPr>
                              </m:ctrlPr>
                            </m:limLowPr>
                            <m:e>
                              <m:r>
                                <m:rPr>
                                  <m:sty m:val="p"/>
                                </m:rPr>
                                <a:rPr lang="en-US" altLang="zh-CN">
                                  <a:latin typeface="Cambria Math" panose="02040503050406030204" pitchFamily="18" charset="0"/>
                                </a:rPr>
                                <m:t>max</m:t>
                              </m:r>
                            </m:e>
                            <m:lim>
                              <m:r>
                                <a:rPr lang="en-US" altLang="zh-CN" i="1">
                                  <a:latin typeface="Cambria Math" panose="02040503050406030204" pitchFamily="18" charset="0"/>
                                </a:rPr>
                                <m:t>𝜃</m:t>
                              </m:r>
                            </m:lim>
                          </m:limLow>
                        </m:fName>
                        <m:e>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𝑤</m:t>
                              </m:r>
                              <m:r>
                                <a:rPr lang="en-US" altLang="zh-CN" i="1">
                                  <a:latin typeface="Cambria Math" panose="02040503050406030204" pitchFamily="18" charset="0"/>
                                </a:rPr>
                                <m:t>𝜖</m:t>
                              </m:r>
                              <m:r>
                                <a:rPr lang="en-US" altLang="zh-CN" i="1">
                                  <a:latin typeface="Cambria Math" panose="02040503050406030204" pitchFamily="18" charset="0"/>
                                </a:rPr>
                                <m:t>𝐶</m:t>
                              </m:r>
                            </m:sub>
                            <m:sup/>
                            <m:e>
                              <m:r>
                                <a:rPr lang="en-US" altLang="zh-CN" i="1">
                                  <a:latin typeface="Cambria Math" panose="02040503050406030204" pitchFamily="18" charset="0"/>
                                </a:rPr>
                                <m:t>𝑝</m:t>
                              </m:r>
                              <m:d>
                                <m:dPr>
                                  <m:ctrlPr>
                                    <a:rPr lang="zh-CN" altLang="zh-CN" i="1">
                                      <a:latin typeface="Cambria Math" panose="02040503050406030204" pitchFamily="18" charset="0"/>
                                    </a:rPr>
                                  </m:ctrlPr>
                                </m:dPr>
                                <m:e>
                                  <m:r>
                                    <a:rPr lang="en-US" altLang="zh-CN" i="1">
                                      <a:latin typeface="Cambria Math" panose="02040503050406030204" pitchFamily="18" charset="0"/>
                                    </a:rPr>
                                    <m:t>𝑤</m:t>
                                  </m:r>
                                  <m:r>
                                    <a:rPr lang="en-US" altLang="zh-CN" i="1">
                                      <a:latin typeface="Cambria Math" panose="02040503050406030204" pitchFamily="18" charset="0"/>
                                    </a:rPr>
                                    <m:t>=</m:t>
                                  </m:r>
                                  <m:r>
                                    <a:rPr lang="en-US" altLang="zh-CN" i="1">
                                      <a:latin typeface="Cambria Math" panose="02040503050406030204" pitchFamily="18" charset="0"/>
                                    </a:rPr>
                                    <m:t>𝑘</m:t>
                                  </m:r>
                                </m:e>
                                <m:e>
                                  <m:r>
                                    <a:rPr lang="en-US" altLang="zh-CN" i="1">
                                      <a:latin typeface="Cambria Math" panose="02040503050406030204" pitchFamily="18" charset="0"/>
                                    </a:rPr>
                                    <m:t>𝑐𝑜𝑛𝑡𝑒𝑥𝑡</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r>
                                    <a:rPr lang="en-US" altLang="zh-CN" i="1">
                                      <a:latin typeface="Cambria Math" panose="02040503050406030204" pitchFamily="18" charset="0"/>
                                    </a:rPr>
                                    <m:t>𝜃</m:t>
                                  </m:r>
                                </m:e>
                              </m:d>
                            </m:e>
                          </m:nary>
                        </m:e>
                      </m:func>
                    </m:oMath>
                  </m:oMathPara>
                </a14:m>
                <a:endParaRPr lang="zh-CN" altLang="zh-CN" dirty="0"/>
              </a:p>
              <a:p>
                <a:pPr marL="274320" lvl="1" indent="0">
                  <a:buNone/>
                </a:pPr>
                <a:r>
                  <a:rPr lang="zh-CN" altLang="en-US" dirty="0"/>
                  <a:t>其中</a:t>
                </a:r>
                <a14:m>
                  <m:oMath xmlns:m="http://schemas.openxmlformats.org/officeDocument/2006/math">
                    <m:r>
                      <a:rPr lang="en-US" altLang="zh-CN" i="1">
                        <a:latin typeface="Cambria Math" panose="02040503050406030204" pitchFamily="18" charset="0"/>
                      </a:rPr>
                      <m:t>𝜃</m:t>
                    </m:r>
                  </m:oMath>
                </a14:m>
                <a:r>
                  <a:rPr lang="zh-CN" altLang="en-US" dirty="0"/>
                  <a:t>表示神經網絡的所有參數</a:t>
                </a:r>
                <a:r>
                  <a:rPr lang="zh-CN" altLang="en-US"/>
                  <a:t>，</a:t>
                </a:r>
                <a:r>
                  <a:rPr lang="en-US" altLang="zh-CN"/>
                  <a:t>C</a:t>
                </a:r>
                <a:r>
                  <a:rPr lang="zh-CN" altLang="en-US"/>
                  <a:t>爲語料庫</a:t>
                </a:r>
                <a:endParaRPr lang="en-US" altLang="zh-CN" dirty="0"/>
              </a:p>
              <a:p>
                <a:pPr>
                  <a:spcBef>
                    <a:spcPts val="1800"/>
                  </a:spcBef>
                  <a:spcAft>
                    <a:spcPts val="600"/>
                  </a:spcAft>
                </a:pPr>
                <a:r>
                  <a:rPr lang="zh-CN" altLang="en-US"/>
                  <a:t>對數形式</a:t>
                </a:r>
                <a:endParaRPr lang="en-US" altLang="zh-CN" dirty="0"/>
              </a:p>
              <a:p>
                <a:pPr marL="0" indent="0">
                  <a:buNone/>
                </a:pPr>
                <a:r>
                  <a:rPr lang="en-US" altLang="zh-CN" dirty="0"/>
                  <a:t>                                    </a:t>
                </a:r>
                <a14:m>
                  <m:oMath xmlns:m="http://schemas.openxmlformats.org/officeDocument/2006/math">
                    <m:func>
                      <m:funcPr>
                        <m:ctrlPr>
                          <a:rPr lang="zh-CN" altLang="zh-CN" i="1">
                            <a:latin typeface="Cambria Math" panose="02040503050406030204" pitchFamily="18" charset="0"/>
                          </a:rPr>
                        </m:ctrlPr>
                      </m:funcPr>
                      <m:fName>
                        <m:limLow>
                          <m:limLowPr>
                            <m:ctrlPr>
                              <a:rPr lang="zh-CN" altLang="zh-CN" i="1">
                                <a:latin typeface="Cambria Math" panose="02040503050406030204" pitchFamily="18" charset="0"/>
                              </a:rPr>
                            </m:ctrlPr>
                          </m:limLowPr>
                          <m:e>
                            <m:r>
                              <m:rPr>
                                <m:sty m:val="p"/>
                              </m:rPr>
                              <a:rPr lang="en-US" altLang="zh-CN">
                                <a:latin typeface="Cambria Math" panose="02040503050406030204" pitchFamily="18" charset="0"/>
                              </a:rPr>
                              <m:t>max</m:t>
                            </m:r>
                          </m:e>
                          <m:lim>
                            <m:r>
                              <a:rPr lang="en-US" altLang="zh-CN" i="1">
                                <a:latin typeface="Cambria Math" panose="02040503050406030204" pitchFamily="18" charset="0"/>
                              </a:rPr>
                              <m:t>𝜃</m:t>
                            </m:r>
                          </m:lim>
                        </m:limLow>
                      </m:fName>
                      <m:e>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log</m:t>
                            </m:r>
                          </m:fName>
                          <m:e>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𝑤</m:t>
                                </m:r>
                                <m:r>
                                  <a:rPr lang="en-US" altLang="zh-CN" i="1">
                                    <a:latin typeface="Cambria Math" panose="02040503050406030204" pitchFamily="18" charset="0"/>
                                  </a:rPr>
                                  <m:t>𝜖</m:t>
                                </m:r>
                                <m:r>
                                  <a:rPr lang="en-US" altLang="zh-CN" i="1">
                                    <a:latin typeface="Cambria Math" panose="02040503050406030204" pitchFamily="18" charset="0"/>
                                  </a:rPr>
                                  <m:t>𝐶</m:t>
                                </m:r>
                              </m:sub>
                              <m:sup/>
                              <m:e>
                                <m:r>
                                  <a:rPr lang="en-US" altLang="zh-CN" i="1">
                                    <a:latin typeface="Cambria Math" panose="02040503050406030204" pitchFamily="18" charset="0"/>
                                  </a:rPr>
                                  <m:t>𝑝</m:t>
                                </m:r>
                                <m:d>
                                  <m:dPr>
                                    <m:ctrlPr>
                                      <a:rPr lang="zh-CN" altLang="zh-CN" i="1">
                                        <a:latin typeface="Cambria Math" panose="02040503050406030204" pitchFamily="18" charset="0"/>
                                      </a:rPr>
                                    </m:ctrlPr>
                                  </m:dPr>
                                  <m:e>
                                    <m:r>
                                      <a:rPr lang="en-US" altLang="zh-CN" i="1">
                                        <a:latin typeface="Cambria Math" panose="02040503050406030204" pitchFamily="18" charset="0"/>
                                      </a:rPr>
                                      <m:t>𝑤</m:t>
                                    </m:r>
                                    <m:r>
                                      <a:rPr lang="en-US" altLang="zh-CN" i="1">
                                        <a:latin typeface="Cambria Math" panose="02040503050406030204" pitchFamily="18" charset="0"/>
                                      </a:rPr>
                                      <m:t>=</m:t>
                                    </m:r>
                                    <m:r>
                                      <a:rPr lang="en-US" altLang="zh-CN" i="1">
                                        <a:latin typeface="Cambria Math" panose="02040503050406030204" pitchFamily="18" charset="0"/>
                                      </a:rPr>
                                      <m:t>𝑘</m:t>
                                    </m:r>
                                  </m:e>
                                  <m:e>
                                    <m:r>
                                      <a:rPr lang="en-US" altLang="zh-CN" i="1">
                                        <a:latin typeface="Cambria Math" panose="02040503050406030204" pitchFamily="18" charset="0"/>
                                      </a:rPr>
                                      <m:t>𝑐𝑜𝑛𝑡𝑒𝑥𝑡</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r>
                                      <a:rPr lang="en-US" altLang="zh-CN" i="1">
                                        <a:latin typeface="Cambria Math" panose="02040503050406030204" pitchFamily="18" charset="0"/>
                                      </a:rPr>
                                      <m:t>𝜃</m:t>
                                    </m:r>
                                  </m:e>
                                </m:d>
                              </m:e>
                            </m:nary>
                          </m:e>
                        </m:func>
                      </m:e>
                    </m:func>
                  </m:oMath>
                </a14:m>
                <a:endParaRPr lang="zh-CN" altLang="zh-CN" dirty="0"/>
              </a:p>
              <a:p>
                <a:pPr marL="0" indent="0">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m:t>
                      </m:r>
                      <m:func>
                        <m:funcPr>
                          <m:ctrlPr>
                            <a:rPr lang="zh-CN" altLang="zh-CN" i="1">
                              <a:latin typeface="Cambria Math" panose="02040503050406030204" pitchFamily="18" charset="0"/>
                            </a:rPr>
                          </m:ctrlPr>
                        </m:funcPr>
                        <m:fName>
                          <m:limLow>
                            <m:limLowPr>
                              <m:ctrlPr>
                                <a:rPr lang="zh-CN" altLang="zh-CN" i="1">
                                  <a:latin typeface="Cambria Math" panose="02040503050406030204" pitchFamily="18" charset="0"/>
                                </a:rPr>
                              </m:ctrlPr>
                            </m:limLowPr>
                            <m:e>
                              <m:r>
                                <m:rPr>
                                  <m:sty m:val="p"/>
                                </m:rPr>
                                <a:rPr lang="en-US" altLang="zh-CN">
                                  <a:latin typeface="Cambria Math" panose="02040503050406030204" pitchFamily="18" charset="0"/>
                                </a:rPr>
                                <m:t>max</m:t>
                              </m:r>
                            </m:e>
                            <m:lim>
                              <m:r>
                                <a:rPr lang="en-US" altLang="zh-CN" i="1">
                                  <a:latin typeface="Cambria Math" panose="02040503050406030204" pitchFamily="18" charset="0"/>
                                </a:rPr>
                                <m:t>𝜃</m:t>
                              </m:r>
                            </m:lim>
                          </m:limLow>
                        </m:fName>
                        <m:e>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𝑤</m:t>
                              </m:r>
                              <m:r>
                                <a:rPr lang="en-US" altLang="zh-CN" i="1">
                                  <a:latin typeface="Cambria Math" panose="02040503050406030204" pitchFamily="18" charset="0"/>
                                </a:rPr>
                                <m:t>𝜖</m:t>
                              </m:r>
                              <m:r>
                                <a:rPr lang="en-US" altLang="zh-CN" i="1">
                                  <a:latin typeface="Cambria Math" panose="02040503050406030204" pitchFamily="18" charset="0"/>
                                </a:rPr>
                                <m:t>𝐶</m:t>
                              </m:r>
                            </m:sub>
                            <m:sup/>
                            <m:e>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𝑝</m:t>
                                  </m:r>
                                  <m:d>
                                    <m:dPr>
                                      <m:ctrlPr>
                                        <a:rPr lang="zh-CN" altLang="zh-CN" i="1">
                                          <a:latin typeface="Cambria Math" panose="02040503050406030204" pitchFamily="18" charset="0"/>
                                        </a:rPr>
                                      </m:ctrlPr>
                                    </m:dPr>
                                    <m:e>
                                      <m:r>
                                        <a:rPr lang="en-US" altLang="zh-CN" i="1">
                                          <a:latin typeface="Cambria Math" panose="02040503050406030204" pitchFamily="18" charset="0"/>
                                        </a:rPr>
                                        <m:t>𝑤</m:t>
                                      </m:r>
                                      <m:r>
                                        <a:rPr lang="en-US" altLang="zh-CN" i="1">
                                          <a:latin typeface="Cambria Math" panose="02040503050406030204" pitchFamily="18" charset="0"/>
                                        </a:rPr>
                                        <m:t>=</m:t>
                                      </m:r>
                                      <m:r>
                                        <a:rPr lang="en-US" altLang="zh-CN" i="1">
                                          <a:latin typeface="Cambria Math" panose="02040503050406030204" pitchFamily="18" charset="0"/>
                                        </a:rPr>
                                        <m:t>𝑘</m:t>
                                      </m:r>
                                    </m:e>
                                    <m:e>
                                      <m:r>
                                        <a:rPr lang="en-US" altLang="zh-CN" i="1">
                                          <a:latin typeface="Cambria Math" panose="02040503050406030204" pitchFamily="18" charset="0"/>
                                        </a:rPr>
                                        <m:t>𝑐𝑜𝑛𝑡𝑒𝑥𝑡</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r>
                                        <a:rPr lang="en-US" altLang="zh-CN" i="1">
                                          <a:latin typeface="Cambria Math" panose="02040503050406030204" pitchFamily="18" charset="0"/>
                                        </a:rPr>
                                        <m:t>𝜃</m:t>
                                      </m:r>
                                    </m:e>
                                  </m:d>
                                </m:e>
                              </m:func>
                            </m:e>
                          </m:nary>
                        </m:e>
                      </m:func>
                    </m:oMath>
                  </m:oMathPara>
                </a14:m>
                <a:endParaRPr lang="zh-CN" altLang="zh-CN" dirty="0"/>
              </a:p>
              <a:p>
                <a:pPr marL="0" indent="0">
                  <a:spcBef>
                    <a:spcPts val="600"/>
                  </a:spcBef>
                  <a:spcAft>
                    <a:spcPts val="600"/>
                  </a:spcAft>
                  <a:buNone/>
                </a:pPr>
                <a:endParaRPr lang="en-US" altLang="zh-CN" dirty="0"/>
              </a:p>
              <a:p>
                <a:pPr>
                  <a:spcBef>
                    <a:spcPts val="600"/>
                  </a:spcBef>
                  <a:spcAft>
                    <a:spcPts val="600"/>
                  </a:spcAft>
                </a:pPr>
                <a:endParaRPr lang="en-US" altLang="zh-CN" dirty="0"/>
              </a:p>
              <a:p>
                <a:pPr>
                  <a:spcBef>
                    <a:spcPts val="600"/>
                  </a:spcBef>
                  <a:spcAft>
                    <a:spcPts val="600"/>
                  </a:spcAft>
                </a:pPr>
                <a:endParaRPr lang="en-US" altLang="zh-CN" dirty="0"/>
              </a:p>
              <a:p>
                <a:pPr>
                  <a:spcBef>
                    <a:spcPts val="600"/>
                  </a:spcBef>
                  <a:spcAft>
                    <a:spcPts val="600"/>
                  </a:spcAft>
                </a:pPr>
                <a:endParaRPr lang="en-US" altLang="zh-CN" dirty="0"/>
              </a:p>
              <a:p>
                <a:pPr marL="0" indent="0">
                  <a:buNone/>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blipFill>
                <a:blip r:embed="rId2"/>
                <a:stretch>
                  <a:fillRect t="-2133"/>
                </a:stretch>
              </a:blipFill>
            </p:spPr>
            <p:txBody>
              <a:bodyPr/>
              <a:lstStyle/>
              <a:p>
                <a:r>
                  <a:rPr lang="zh-TW" altLang="en-US">
                    <a:noFill/>
                  </a:rPr>
                  <a:t> </a:t>
                </a:r>
              </a:p>
            </p:txBody>
          </p:sp>
        </mc:Fallback>
      </mc:AlternateContent>
      <p:sp>
        <p:nvSpPr>
          <p:cNvPr id="4" name="矩形 3"/>
          <p:cNvSpPr/>
          <p:nvPr/>
        </p:nvSpPr>
        <p:spPr>
          <a:xfrm>
            <a:off x="4710727" y="1915886"/>
            <a:ext cx="4058804" cy="1010194"/>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矩形 4"/>
          <p:cNvSpPr/>
          <p:nvPr/>
        </p:nvSpPr>
        <p:spPr>
          <a:xfrm>
            <a:off x="9209266" y="1378775"/>
            <a:ext cx="121058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似然函數</a:t>
            </a:r>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6" name="直接箭头连接符 5"/>
          <p:cNvCxnSpPr/>
          <p:nvPr/>
        </p:nvCxnSpPr>
        <p:spPr>
          <a:xfrm flipH="1">
            <a:off x="8992310" y="1793966"/>
            <a:ext cx="822250" cy="627017"/>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 name="矩形 8"/>
          <p:cNvSpPr/>
          <p:nvPr/>
        </p:nvSpPr>
        <p:spPr>
          <a:xfrm>
            <a:off x="4632960" y="4641676"/>
            <a:ext cx="4563291" cy="1036319"/>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p:cNvSpPr/>
          <p:nvPr/>
        </p:nvSpPr>
        <p:spPr>
          <a:xfrm>
            <a:off x="9485517" y="4104566"/>
            <a:ext cx="173983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對數似然函數</a:t>
            </a:r>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1" name="直接箭头连接符 10"/>
          <p:cNvCxnSpPr/>
          <p:nvPr/>
        </p:nvCxnSpPr>
        <p:spPr>
          <a:xfrm flipH="1">
            <a:off x="9379131" y="4519757"/>
            <a:ext cx="862149" cy="557348"/>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9011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9" grpId="0" animBg="1"/>
      <p:bldP spid="10"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如何訓練神經網絡語言模型？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quarter" idx="1"/>
              </p:nvPr>
            </p:nvSpPr>
            <p:spPr>
              <a:xfrm>
                <a:off x="1219200" y="1717766"/>
                <a:ext cx="10363200" cy="4572000"/>
              </a:xfrm>
            </p:spPr>
            <p:txBody>
              <a:bodyPr/>
              <a:lstStyle/>
              <a:p>
                <a:r>
                  <a:rPr lang="zh-CN" altLang="en-US"/>
                  <a:t>損失函數（負對數似然函數）</a:t>
                </a:r>
                <a:endParaRPr lang="en-US" altLang="zh-CN" dirty="0"/>
              </a:p>
              <a:p>
                <a:pPr marL="0" indent="0">
                  <a:spcBef>
                    <a:spcPts val="1800"/>
                  </a:spcBef>
                  <a:spcAft>
                    <a:spcPts val="1800"/>
                  </a:spcAft>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𝑤</m:t>
                          </m:r>
                          <m:r>
                            <a:rPr lang="en-US" altLang="zh-CN" i="1">
                              <a:latin typeface="Cambria Math" panose="02040503050406030204" pitchFamily="18" charset="0"/>
                            </a:rPr>
                            <m:t>𝜖</m:t>
                          </m:r>
                          <m:r>
                            <a:rPr lang="en-US" altLang="zh-CN" i="1">
                              <a:latin typeface="Cambria Math" panose="02040503050406030204" pitchFamily="18" charset="0"/>
                            </a:rPr>
                            <m:t>𝐶</m:t>
                          </m:r>
                        </m:sub>
                        <m:sup/>
                        <m:e>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𝑝</m:t>
                              </m:r>
                              <m:d>
                                <m:dPr>
                                  <m:ctrlPr>
                                    <a:rPr lang="zh-CN" altLang="zh-CN" i="1">
                                      <a:latin typeface="Cambria Math" panose="02040503050406030204" pitchFamily="18" charset="0"/>
                                    </a:rPr>
                                  </m:ctrlPr>
                                </m:dPr>
                                <m:e>
                                  <m:r>
                                    <a:rPr lang="en-US" altLang="zh-CN" i="1">
                                      <a:latin typeface="Cambria Math" panose="02040503050406030204" pitchFamily="18" charset="0"/>
                                    </a:rPr>
                                    <m:t>𝑤</m:t>
                                  </m:r>
                                  <m:r>
                                    <a:rPr lang="en-US" altLang="zh-CN" i="1">
                                      <a:latin typeface="Cambria Math" panose="02040503050406030204" pitchFamily="18" charset="0"/>
                                    </a:rPr>
                                    <m:t>=</m:t>
                                  </m:r>
                                  <m:r>
                                    <a:rPr lang="en-US" altLang="zh-CN" i="1">
                                      <a:latin typeface="Cambria Math" panose="02040503050406030204" pitchFamily="18" charset="0"/>
                                    </a:rPr>
                                    <m:t>𝑘</m:t>
                                  </m:r>
                                </m:e>
                                <m:e>
                                  <m:r>
                                    <a:rPr lang="en-US" altLang="zh-CN" i="1">
                                      <a:latin typeface="Cambria Math" panose="02040503050406030204" pitchFamily="18" charset="0"/>
                                    </a:rPr>
                                    <m:t>𝑐𝑜𝑛𝑡𝑒𝑥𝑡</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r>
                                    <a:rPr lang="en-US" altLang="zh-CN" i="1">
                                      <a:latin typeface="Cambria Math" panose="02040503050406030204" pitchFamily="18" charset="0"/>
                                    </a:rPr>
                                    <m:t>𝜃</m:t>
                                  </m:r>
                                </m:e>
                              </m:d>
                            </m:e>
                          </m:func>
                        </m:e>
                      </m:nary>
                    </m:oMath>
                  </m:oMathPara>
                </a14:m>
                <a:endParaRPr lang="en-US" altLang="zh-CN" dirty="0"/>
              </a:p>
              <a:p>
                <a:pPr marL="0" indent="0">
                  <a:spcBef>
                    <a:spcPts val="1800"/>
                  </a:spcBef>
                  <a:spcAft>
                    <a:spcPts val="1800"/>
                  </a:spcAft>
                  <a:buNone/>
                </a:pPr>
                <a:r>
                  <a:rPr lang="en-US" altLang="zh-CN"/>
                  <a:t>  </a:t>
                </a:r>
                <a:r>
                  <a:rPr lang="zh-CN" altLang="en-US"/>
                  <a:t>（求損失函數最小相當于對數似然函數最大）</a:t>
                </a:r>
                <a:endParaRPr lang="en-US" altLang="zh-CN" dirty="0"/>
              </a:p>
              <a:p>
                <a:pPr marL="0" indent="0">
                  <a:spcBef>
                    <a:spcPts val="1800"/>
                  </a:spcBef>
                  <a:spcAft>
                    <a:spcPts val="1800"/>
                  </a:spcAft>
                  <a:buNone/>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
              </p:nvPr>
            </p:nvSpPr>
            <p:spPr>
              <a:xfrm>
                <a:off x="1219200" y="1717766"/>
                <a:ext cx="10363200" cy="4572000"/>
              </a:xfrm>
              <a:blipFill>
                <a:blip r:embed="rId2"/>
                <a:stretch>
                  <a:fillRect t="-2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1195959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190116" y="515042"/>
            <a:ext cx="6334293" cy="5785605"/>
          </a:xfrm>
          <a:prstGeom prst="rect">
            <a:avLst/>
          </a:prstGeom>
        </p:spPr>
      </p:pic>
      <p:sp>
        <p:nvSpPr>
          <p:cNvPr id="6" name="矩形 5"/>
          <p:cNvSpPr/>
          <p:nvPr/>
        </p:nvSpPr>
        <p:spPr>
          <a:xfrm>
            <a:off x="8915707" y="2540661"/>
            <a:ext cx="2236510"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如何訓練詞向量？</a:t>
            </a:r>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7" name="直接箭头连接符 6"/>
          <p:cNvCxnSpPr/>
          <p:nvPr/>
        </p:nvCxnSpPr>
        <p:spPr>
          <a:xfrm flipH="1">
            <a:off x="9048212" y="3004453"/>
            <a:ext cx="757645" cy="85344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1" name="标题 1"/>
          <p:cNvSpPr>
            <a:spLocks noGrp="1"/>
          </p:cNvSpPr>
          <p:nvPr>
            <p:ph type="title"/>
          </p:nvPr>
        </p:nvSpPr>
        <p:spPr>
          <a:xfrm>
            <a:off x="714102" y="239804"/>
            <a:ext cx="10363200" cy="1143000"/>
          </a:xfrm>
        </p:spPr>
        <p:txBody>
          <a:bodyPr/>
          <a:lstStyle/>
          <a:p>
            <a:r>
              <a:rPr lang="zh-CN" altLang="en-US"/>
              <a:t>遺留問題</a:t>
            </a:r>
            <a:endParaRPr lang="zh-CN" altLang="en-US" dirty="0"/>
          </a:p>
        </p:txBody>
      </p:sp>
    </p:spTree>
    <p:extLst>
      <p:ext uri="{BB962C8B-B14F-4D97-AF65-F5344CB8AC3E}">
        <p14:creationId xmlns:p14="http://schemas.microsoft.com/office/powerpoint/2010/main" val="66231404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14"/>
          <p:cNvSpPr>
            <a:spLocks noChangeArrowheads="1"/>
          </p:cNvSpPr>
          <p:nvPr/>
        </p:nvSpPr>
        <p:spPr bwMode="auto">
          <a:xfrm>
            <a:off x="3157553" y="2224636"/>
            <a:ext cx="288925" cy="288925"/>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5" name="椭圆 14"/>
          <p:cNvSpPr>
            <a:spLocks noChangeArrowheads="1"/>
          </p:cNvSpPr>
          <p:nvPr/>
        </p:nvSpPr>
        <p:spPr bwMode="auto">
          <a:xfrm>
            <a:off x="2365391" y="3666086"/>
            <a:ext cx="288925" cy="287337"/>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6" name="椭圆 14"/>
          <p:cNvSpPr>
            <a:spLocks noChangeArrowheads="1"/>
          </p:cNvSpPr>
          <p:nvPr/>
        </p:nvSpPr>
        <p:spPr bwMode="auto">
          <a:xfrm>
            <a:off x="3157553" y="3666086"/>
            <a:ext cx="288925" cy="287337"/>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 name="椭圆 14"/>
          <p:cNvSpPr>
            <a:spLocks noChangeArrowheads="1"/>
          </p:cNvSpPr>
          <p:nvPr/>
        </p:nvSpPr>
        <p:spPr bwMode="auto">
          <a:xfrm>
            <a:off x="3958550" y="3663447"/>
            <a:ext cx="288925" cy="287338"/>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8" name="直接箭头连接符 27"/>
          <p:cNvCxnSpPr>
            <a:cxnSpLocks noChangeShapeType="1"/>
            <a:stCxn id="7" idx="0"/>
            <a:endCxn id="4" idx="4"/>
          </p:cNvCxnSpPr>
          <p:nvPr/>
        </p:nvCxnSpPr>
        <p:spPr bwMode="auto">
          <a:xfrm flipH="1" flipV="1">
            <a:off x="3302016" y="2513561"/>
            <a:ext cx="800997" cy="1149886"/>
          </a:xfrm>
          <a:prstGeom prst="straightConnector1">
            <a:avLst/>
          </a:prstGeom>
          <a:noFill/>
          <a:ln w="19050" algn="ctr">
            <a:solidFill>
              <a:schemeClr val="tx1"/>
            </a:solidFill>
            <a:round/>
            <a:headEnd type="none" w="med" len="med"/>
            <a:tailEnd type="triangle" w="med" len="med"/>
          </a:ln>
        </p:spPr>
      </p:cxnSp>
      <p:cxnSp>
        <p:nvCxnSpPr>
          <p:cNvPr id="9" name="直接箭头连接符 29"/>
          <p:cNvCxnSpPr>
            <a:cxnSpLocks noChangeShapeType="1"/>
            <a:stCxn id="6" idx="0"/>
            <a:endCxn id="4" idx="4"/>
          </p:cNvCxnSpPr>
          <p:nvPr/>
        </p:nvCxnSpPr>
        <p:spPr bwMode="auto">
          <a:xfrm flipV="1">
            <a:off x="3302016" y="2513561"/>
            <a:ext cx="0" cy="1152525"/>
          </a:xfrm>
          <a:prstGeom prst="straightConnector1">
            <a:avLst/>
          </a:prstGeom>
          <a:noFill/>
          <a:ln w="19050" algn="ctr">
            <a:solidFill>
              <a:schemeClr val="tx1"/>
            </a:solidFill>
            <a:round/>
            <a:headEnd type="none" w="med" len="med"/>
            <a:tailEnd type="triangle" w="med" len="med"/>
          </a:ln>
        </p:spPr>
      </p:cxnSp>
      <p:cxnSp>
        <p:nvCxnSpPr>
          <p:cNvPr id="10" name="直接箭头连接符 31"/>
          <p:cNvCxnSpPr>
            <a:cxnSpLocks noChangeShapeType="1"/>
            <a:stCxn id="5" idx="0"/>
            <a:endCxn id="4" idx="4"/>
          </p:cNvCxnSpPr>
          <p:nvPr/>
        </p:nvCxnSpPr>
        <p:spPr bwMode="auto">
          <a:xfrm flipV="1">
            <a:off x="2509853" y="2513561"/>
            <a:ext cx="792163" cy="1152525"/>
          </a:xfrm>
          <a:prstGeom prst="straightConnector1">
            <a:avLst/>
          </a:prstGeom>
          <a:noFill/>
          <a:ln w="19050" algn="ctr">
            <a:solidFill>
              <a:schemeClr val="tx1"/>
            </a:solidFill>
            <a:round/>
            <a:headEnd type="none" w="med" len="med"/>
            <a:tailEnd type="triangle" w="med" len="med"/>
          </a:ln>
        </p:spPr>
      </p:cxnSp>
      <p:sp>
        <p:nvSpPr>
          <p:cNvPr id="11" name="文本框 10"/>
          <p:cNvSpPr txBox="1"/>
          <p:nvPr/>
        </p:nvSpPr>
        <p:spPr>
          <a:xfrm>
            <a:off x="2365391" y="3987991"/>
            <a:ext cx="219684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x</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x</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p:cNvSpPr txBox="1"/>
          <p:nvPr/>
        </p:nvSpPr>
        <p:spPr>
          <a:xfrm>
            <a:off x="2385028" y="2726292"/>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13"/>
          <p:cNvSpPr txBox="1"/>
          <p:nvPr/>
        </p:nvSpPr>
        <p:spPr>
          <a:xfrm>
            <a:off x="3698097" y="2777323"/>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文本框 14"/>
          <p:cNvSpPr txBox="1"/>
          <p:nvPr/>
        </p:nvSpPr>
        <p:spPr>
          <a:xfrm>
            <a:off x="3267741" y="3138331"/>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椭圆 14"/>
          <p:cNvSpPr>
            <a:spLocks noChangeArrowheads="1"/>
          </p:cNvSpPr>
          <p:nvPr/>
        </p:nvSpPr>
        <p:spPr bwMode="auto">
          <a:xfrm>
            <a:off x="7593651" y="4756164"/>
            <a:ext cx="288925" cy="287337"/>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18" name="直接箭头连接符 17"/>
          <p:cNvCxnSpPr>
            <a:cxnSpLocks noChangeShapeType="1"/>
            <a:stCxn id="17" idx="0"/>
          </p:cNvCxnSpPr>
          <p:nvPr/>
        </p:nvCxnSpPr>
        <p:spPr bwMode="auto">
          <a:xfrm flipH="1" flipV="1">
            <a:off x="6945951" y="3603639"/>
            <a:ext cx="792162" cy="1152525"/>
          </a:xfrm>
          <a:prstGeom prst="straightConnector1">
            <a:avLst/>
          </a:prstGeom>
          <a:noFill/>
          <a:ln w="19050" algn="ctr">
            <a:solidFill>
              <a:schemeClr val="tx1"/>
            </a:solidFill>
            <a:round/>
            <a:headEnd type="none" w="med" len="med"/>
            <a:tailEnd type="triangle" w="med" len="med"/>
          </a:ln>
        </p:spPr>
      </p:cxnSp>
      <p:cxnSp>
        <p:nvCxnSpPr>
          <p:cNvPr id="19" name="直接箭头连接符 23"/>
          <p:cNvCxnSpPr>
            <a:cxnSpLocks noChangeShapeType="1"/>
            <a:stCxn id="17" idx="0"/>
          </p:cNvCxnSpPr>
          <p:nvPr/>
        </p:nvCxnSpPr>
        <p:spPr bwMode="auto">
          <a:xfrm flipV="1">
            <a:off x="7738113" y="3603639"/>
            <a:ext cx="0" cy="1152525"/>
          </a:xfrm>
          <a:prstGeom prst="straightConnector1">
            <a:avLst/>
          </a:prstGeom>
          <a:noFill/>
          <a:ln w="19050" algn="ctr">
            <a:solidFill>
              <a:schemeClr val="tx1"/>
            </a:solidFill>
            <a:round/>
            <a:headEnd type="none" w="med" len="med"/>
            <a:tailEnd type="triangle" w="med" len="med"/>
          </a:ln>
        </p:spPr>
      </p:cxnSp>
      <p:cxnSp>
        <p:nvCxnSpPr>
          <p:cNvPr id="20" name="直接箭头连接符 31"/>
          <p:cNvCxnSpPr>
            <a:cxnSpLocks noChangeShapeType="1"/>
            <a:stCxn id="17" idx="0"/>
          </p:cNvCxnSpPr>
          <p:nvPr/>
        </p:nvCxnSpPr>
        <p:spPr bwMode="auto">
          <a:xfrm flipV="1">
            <a:off x="7738113" y="3603639"/>
            <a:ext cx="792163" cy="1152525"/>
          </a:xfrm>
          <a:prstGeom prst="straightConnector1">
            <a:avLst/>
          </a:prstGeom>
          <a:noFill/>
          <a:ln w="19050" algn="ctr">
            <a:solidFill>
              <a:schemeClr val="tx1"/>
            </a:solidFill>
            <a:round/>
            <a:headEnd type="none" w="med" len="med"/>
            <a:tailEnd type="triangle" w="med" len="med"/>
          </a:ln>
        </p:spPr>
      </p:cxnSp>
      <p:sp>
        <p:nvSpPr>
          <p:cNvPr id="21" name="椭圆 14"/>
          <p:cNvSpPr>
            <a:spLocks noChangeArrowheads="1"/>
          </p:cNvSpPr>
          <p:nvPr/>
        </p:nvSpPr>
        <p:spPr bwMode="auto">
          <a:xfrm>
            <a:off x="7584816" y="1877490"/>
            <a:ext cx="288925" cy="288925"/>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2" name="椭圆 14"/>
          <p:cNvSpPr>
            <a:spLocks noChangeArrowheads="1"/>
          </p:cNvSpPr>
          <p:nvPr/>
        </p:nvSpPr>
        <p:spPr bwMode="auto">
          <a:xfrm>
            <a:off x="6792654" y="3318940"/>
            <a:ext cx="288925" cy="287337"/>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3" name="椭圆 14"/>
          <p:cNvSpPr>
            <a:spLocks noChangeArrowheads="1"/>
          </p:cNvSpPr>
          <p:nvPr/>
        </p:nvSpPr>
        <p:spPr bwMode="auto">
          <a:xfrm>
            <a:off x="7584816" y="3318940"/>
            <a:ext cx="288925" cy="287337"/>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24" name="椭圆 14"/>
          <p:cNvSpPr>
            <a:spLocks noChangeArrowheads="1"/>
          </p:cNvSpPr>
          <p:nvPr/>
        </p:nvSpPr>
        <p:spPr bwMode="auto">
          <a:xfrm>
            <a:off x="8385813" y="3316301"/>
            <a:ext cx="288925" cy="287338"/>
          </a:xfrm>
          <a:prstGeom prst="ellipse">
            <a:avLst/>
          </a:prstGeom>
          <a:noFill/>
          <a:ln w="539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5" name="直接箭头连接符 27"/>
          <p:cNvCxnSpPr>
            <a:cxnSpLocks noChangeShapeType="1"/>
            <a:stCxn id="24" idx="0"/>
            <a:endCxn id="21" idx="4"/>
          </p:cNvCxnSpPr>
          <p:nvPr/>
        </p:nvCxnSpPr>
        <p:spPr bwMode="auto">
          <a:xfrm flipH="1" flipV="1">
            <a:off x="7729279" y="2166415"/>
            <a:ext cx="800997" cy="1149886"/>
          </a:xfrm>
          <a:prstGeom prst="straightConnector1">
            <a:avLst/>
          </a:prstGeom>
          <a:noFill/>
          <a:ln w="19050" algn="ctr">
            <a:solidFill>
              <a:schemeClr val="tx1"/>
            </a:solidFill>
            <a:round/>
            <a:headEnd type="none" w="med" len="med"/>
            <a:tailEnd type="triangle" w="med" len="med"/>
          </a:ln>
        </p:spPr>
      </p:cxnSp>
      <p:cxnSp>
        <p:nvCxnSpPr>
          <p:cNvPr id="26" name="直接箭头连接符 29"/>
          <p:cNvCxnSpPr>
            <a:cxnSpLocks noChangeShapeType="1"/>
            <a:stCxn id="23" idx="0"/>
            <a:endCxn id="21" idx="4"/>
          </p:cNvCxnSpPr>
          <p:nvPr/>
        </p:nvCxnSpPr>
        <p:spPr bwMode="auto">
          <a:xfrm flipV="1">
            <a:off x="7729279" y="2166415"/>
            <a:ext cx="0" cy="1152525"/>
          </a:xfrm>
          <a:prstGeom prst="straightConnector1">
            <a:avLst/>
          </a:prstGeom>
          <a:noFill/>
          <a:ln w="19050" algn="ctr">
            <a:solidFill>
              <a:schemeClr val="tx1"/>
            </a:solidFill>
            <a:round/>
            <a:headEnd type="none" w="med" len="med"/>
            <a:tailEnd type="triangle" w="med" len="med"/>
          </a:ln>
        </p:spPr>
      </p:cxnSp>
      <p:cxnSp>
        <p:nvCxnSpPr>
          <p:cNvPr id="27" name="直接箭头连接符 31"/>
          <p:cNvCxnSpPr>
            <a:cxnSpLocks noChangeShapeType="1"/>
            <a:stCxn id="22" idx="0"/>
            <a:endCxn id="21" idx="4"/>
          </p:cNvCxnSpPr>
          <p:nvPr/>
        </p:nvCxnSpPr>
        <p:spPr bwMode="auto">
          <a:xfrm flipV="1">
            <a:off x="6937116" y="2166415"/>
            <a:ext cx="792163" cy="1152525"/>
          </a:xfrm>
          <a:prstGeom prst="straightConnector1">
            <a:avLst/>
          </a:prstGeom>
          <a:noFill/>
          <a:ln w="19050" algn="ctr">
            <a:solidFill>
              <a:schemeClr val="tx1"/>
            </a:solidFill>
            <a:round/>
            <a:headEnd type="none" w="med" len="med"/>
            <a:tailEnd type="triangle" w="med" len="med"/>
          </a:ln>
        </p:spPr>
      </p:cxnSp>
      <p:sp>
        <p:nvSpPr>
          <p:cNvPr id="28" name="文本框 27"/>
          <p:cNvSpPr txBox="1"/>
          <p:nvPr/>
        </p:nvSpPr>
        <p:spPr>
          <a:xfrm>
            <a:off x="7584510" y="5099033"/>
            <a:ext cx="45922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文本框 28"/>
          <p:cNvSpPr txBox="1"/>
          <p:nvPr/>
        </p:nvSpPr>
        <p:spPr>
          <a:xfrm>
            <a:off x="6812291" y="2379146"/>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文本框 29"/>
          <p:cNvSpPr txBox="1"/>
          <p:nvPr/>
        </p:nvSpPr>
        <p:spPr>
          <a:xfrm>
            <a:off x="8125360" y="2430177"/>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文本框 30"/>
          <p:cNvSpPr txBox="1"/>
          <p:nvPr/>
        </p:nvSpPr>
        <p:spPr>
          <a:xfrm>
            <a:off x="7695004" y="2791185"/>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 name="文本框 31"/>
          <p:cNvSpPr txBox="1"/>
          <p:nvPr/>
        </p:nvSpPr>
        <p:spPr>
          <a:xfrm>
            <a:off x="6864461" y="3945906"/>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文本框 32"/>
          <p:cNvSpPr txBox="1"/>
          <p:nvPr/>
        </p:nvSpPr>
        <p:spPr>
          <a:xfrm>
            <a:off x="7720273" y="3733922"/>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文本框 33"/>
          <p:cNvSpPr txBox="1"/>
          <p:nvPr/>
        </p:nvSpPr>
        <p:spPr>
          <a:xfrm>
            <a:off x="8241180" y="3973234"/>
            <a:ext cx="52090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000" b="0" i="0" u="none" strike="noStrike" kern="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右箭头 1"/>
          <p:cNvSpPr/>
          <p:nvPr/>
        </p:nvSpPr>
        <p:spPr>
          <a:xfrm>
            <a:off x="4894217" y="3126402"/>
            <a:ext cx="1245326" cy="412039"/>
          </a:xfrm>
          <a:prstGeom prst="rightArrow">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标题 1"/>
          <p:cNvSpPr>
            <a:spLocks noGrp="1"/>
          </p:cNvSpPr>
          <p:nvPr>
            <p:ph type="title"/>
          </p:nvPr>
        </p:nvSpPr>
        <p:spPr>
          <a:xfrm>
            <a:off x="1219200" y="274638"/>
            <a:ext cx="10363200" cy="1143000"/>
          </a:xfrm>
        </p:spPr>
        <p:txBody>
          <a:bodyPr/>
          <a:lstStyle/>
          <a:p>
            <a:r>
              <a:rPr lang="zh-CN" altLang="en-US"/>
              <a:t>如何訓練詞向量</a:t>
            </a:r>
            <a:endParaRPr lang="zh-CN" altLang="en-US" dirty="0"/>
          </a:p>
        </p:txBody>
      </p:sp>
    </p:spTree>
    <p:extLst>
      <p:ext uri="{BB962C8B-B14F-4D97-AF65-F5344CB8AC3E}">
        <p14:creationId xmlns:p14="http://schemas.microsoft.com/office/powerpoint/2010/main" val="390158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animBg="1"/>
      <p:bldP spid="22" grpId="0" animBg="1"/>
      <p:bldP spid="23" grpId="0" animBg="1"/>
      <p:bldP spid="24" grpId="0" animBg="1"/>
      <p:bldP spid="28" grpId="0"/>
      <p:bldP spid="29" grpId="0"/>
      <p:bldP spid="30" grpId="0"/>
      <p:bldP spid="31" grpId="0"/>
      <p:bldP spid="32" grpId="0"/>
      <p:bldP spid="33" grpId="0"/>
      <p:bldP spid="34" grpId="0"/>
      <p:bldP spid="2"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詞向量（詞嵌入）的性質</a:t>
            </a:r>
            <a:endParaRPr lang="zh-CN" altLang="en-US" dirty="0"/>
          </a:p>
        </p:txBody>
      </p:sp>
      <p:pic>
        <p:nvPicPr>
          <p:cNvPr id="5" name="图片 4"/>
          <p:cNvPicPr>
            <a:picLocks noChangeAspect="1"/>
          </p:cNvPicPr>
          <p:nvPr/>
        </p:nvPicPr>
        <p:blipFill>
          <a:blip r:embed="rId2"/>
          <a:stretch>
            <a:fillRect/>
          </a:stretch>
        </p:blipFill>
        <p:spPr>
          <a:xfrm>
            <a:off x="1664066" y="2508071"/>
            <a:ext cx="6872911" cy="3648890"/>
          </a:xfrm>
          <a:prstGeom prst="rect">
            <a:avLst/>
          </a:prstGeom>
        </p:spPr>
      </p:pic>
      <p:sp>
        <p:nvSpPr>
          <p:cNvPr id="6" name="矩形 5"/>
          <p:cNvSpPr/>
          <p:nvPr/>
        </p:nvSpPr>
        <p:spPr>
          <a:xfrm>
            <a:off x="4570125" y="2277238"/>
            <a:ext cx="141577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二者相等</a:t>
            </a:r>
          </a:p>
        </p:txBody>
      </p:sp>
      <p:cxnSp>
        <p:nvCxnSpPr>
          <p:cNvPr id="7" name="直接箭头连接符 6"/>
          <p:cNvCxnSpPr/>
          <p:nvPr/>
        </p:nvCxnSpPr>
        <p:spPr>
          <a:xfrm flipH="1">
            <a:off x="3335384" y="2738903"/>
            <a:ext cx="1765137" cy="115382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8" name="直接箭头连接符 7"/>
          <p:cNvCxnSpPr/>
          <p:nvPr/>
        </p:nvCxnSpPr>
        <p:spPr>
          <a:xfrm>
            <a:off x="5425440" y="2738903"/>
            <a:ext cx="708964" cy="194630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3" name="矩形 12"/>
          <p:cNvSpPr/>
          <p:nvPr/>
        </p:nvSpPr>
        <p:spPr>
          <a:xfrm>
            <a:off x="5985897" y="2738903"/>
            <a:ext cx="4984057"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Times New Roman" panose="02020603050405020304" pitchFamily="18" charset="0"/>
              </a:rPr>
              <a:t>C(</a:t>
            </a:r>
            <a:r>
              <a:rPr kumimoji="0" lang="zh-CN" altLang="zh-CN" sz="2400" b="1" i="0" u="none" strike="noStrike" kern="1200" cap="none" spc="0" normalizeH="0" baseline="0" noProof="0" dirty="0">
                <a:ln>
                  <a:noFill/>
                </a:ln>
                <a:solidFill>
                  <a:srgbClr val="7030A0"/>
                </a:solidFill>
                <a:effectLst/>
                <a:uLnTx/>
                <a:uFillTx/>
                <a:latin typeface="Perpetua"/>
                <a:ea typeface="宋体" panose="02010600030101010101" pitchFamily="2" charset="-122"/>
                <a:cs typeface="Times New Roman" panose="02020603050405020304" pitchFamily="18" charset="0"/>
              </a:rPr>
              <a:t>王后</a:t>
            </a:r>
            <a:r>
              <a:rPr kumimoji="0" lang="en-US" altLang="zh-CN" sz="2400" b="1" i="0" u="none" strike="noStrike" kern="1200" cap="none" spc="0" normalizeH="0" baseline="0" noProof="0" dirty="0">
                <a:ln>
                  <a:noFill/>
                </a:ln>
                <a:solidFill>
                  <a:srgbClr val="7030A0"/>
                </a:solidFill>
                <a:effectLst/>
                <a:uLnTx/>
                <a:uFillTx/>
                <a:latin typeface="Perpetua"/>
                <a:ea typeface="宋体" panose="02010600030101010101" pitchFamily="2" charset="-122"/>
                <a:cs typeface="Times New Roman" panose="02020603050405020304" pitchFamily="18" charset="0"/>
              </a:rPr>
              <a:t>) = C(</a:t>
            </a:r>
            <a:r>
              <a:rPr kumimoji="0" lang="zh-CN" altLang="zh-CN" sz="2400" b="1" i="0" u="none" strike="noStrike" kern="1200" cap="none" spc="0" normalizeH="0" baseline="0" noProof="0" dirty="0">
                <a:ln>
                  <a:noFill/>
                </a:ln>
                <a:solidFill>
                  <a:srgbClr val="7030A0"/>
                </a:solidFill>
                <a:effectLst/>
                <a:uLnTx/>
                <a:uFillTx/>
                <a:latin typeface="Perpetua"/>
                <a:ea typeface="宋体" panose="02010600030101010101" pitchFamily="2" charset="-122"/>
                <a:cs typeface="Times New Roman" panose="02020603050405020304" pitchFamily="18" charset="0"/>
              </a:rPr>
              <a:t>女人</a:t>
            </a:r>
            <a:r>
              <a:rPr kumimoji="0" lang="en-US" altLang="zh-CN" sz="2400" b="1" i="0" u="none" strike="noStrike" kern="1200" cap="none" spc="0" normalizeH="0" baseline="0" noProof="0" dirty="0">
                <a:ln>
                  <a:noFill/>
                </a:ln>
                <a:solidFill>
                  <a:srgbClr val="7030A0"/>
                </a:solidFill>
                <a:effectLst/>
                <a:uLnTx/>
                <a:uFillTx/>
                <a:latin typeface="Perpetua"/>
                <a:ea typeface="宋体" panose="02010600030101010101" pitchFamily="2" charset="-122"/>
                <a:cs typeface="Times New Roman" panose="02020603050405020304" pitchFamily="18" charset="0"/>
              </a:rPr>
              <a:t>)+</a:t>
            </a:r>
            <a:r>
              <a:rPr kumimoji="0" lang="en-US" altLang="zh-CN" sz="2400" b="1" i="0" u="none" strike="noStrike" kern="1200" cap="none" spc="0" normalizeH="0" baseline="0" noProof="0">
                <a:ln>
                  <a:noFill/>
                </a:ln>
                <a:solidFill>
                  <a:srgbClr val="7030A0"/>
                </a:solidFill>
                <a:effectLst/>
                <a:uLnTx/>
                <a:uFillTx/>
                <a:latin typeface="Perpetua"/>
                <a:ea typeface="宋体" panose="02010600030101010101" pitchFamily="2" charset="-122"/>
                <a:cs typeface="Times New Roman" panose="02020603050405020304" pitchFamily="18" charset="0"/>
              </a:rPr>
              <a:t>C(</a:t>
            </a:r>
            <a:r>
              <a:rPr kumimoji="0" lang="zh-CN" altLang="zh-CN" sz="2400" b="1" i="0" u="none" strike="noStrike" kern="1200" cap="none" spc="0" normalizeH="0" baseline="0" noProof="0">
                <a:ln>
                  <a:noFill/>
                </a:ln>
                <a:solidFill>
                  <a:srgbClr val="7030A0"/>
                </a:solidFill>
                <a:effectLst/>
                <a:uLnTx/>
                <a:uFillTx/>
                <a:latin typeface="Perpetua"/>
                <a:ea typeface="宋体" panose="02010600030101010101" pitchFamily="2" charset="-122"/>
                <a:cs typeface="Times New Roman" panose="02020603050405020304" pitchFamily="18" charset="0"/>
              </a:rPr>
              <a:t>國王</a:t>
            </a:r>
            <a:r>
              <a:rPr kumimoji="0" lang="en-US" altLang="zh-CN" sz="2400" b="1" i="0" u="none" strike="noStrike" kern="1200" cap="none" spc="0" normalizeH="0" baseline="0" noProof="0">
                <a:ln>
                  <a:noFill/>
                </a:ln>
                <a:solidFill>
                  <a:srgbClr val="7030A0"/>
                </a:solidFill>
                <a:effectLst/>
                <a:uLnTx/>
                <a:uFillTx/>
                <a:latin typeface="Perpetua"/>
                <a:ea typeface="宋体" panose="02010600030101010101" pitchFamily="2" charset="-122"/>
                <a:cs typeface="Times New Roman" panose="02020603050405020304" pitchFamily="18" charset="0"/>
              </a:rPr>
              <a:t>)-</a:t>
            </a:r>
            <a:r>
              <a:rPr kumimoji="0" lang="en-US" altLang="zh-CN" sz="2400" b="1" i="0" u="none" strike="noStrike" kern="1200" cap="none" spc="0" normalizeH="0" baseline="0" noProof="0" dirty="0">
                <a:ln>
                  <a:noFill/>
                </a:ln>
                <a:solidFill>
                  <a:srgbClr val="7030A0"/>
                </a:solidFill>
                <a:effectLst/>
                <a:uLnTx/>
                <a:uFillTx/>
                <a:latin typeface="Perpetua"/>
                <a:ea typeface="宋体" panose="02010600030101010101" pitchFamily="2" charset="-122"/>
                <a:cs typeface="Times New Roman" panose="02020603050405020304" pitchFamily="18" charset="0"/>
              </a:rPr>
              <a:t>C(</a:t>
            </a:r>
            <a:r>
              <a:rPr kumimoji="0" lang="zh-CN" altLang="zh-CN" sz="2400" b="1" i="0" u="none" strike="noStrike" kern="1200" cap="none" spc="0" normalizeH="0" baseline="0" noProof="0" dirty="0">
                <a:ln>
                  <a:noFill/>
                </a:ln>
                <a:solidFill>
                  <a:srgbClr val="7030A0"/>
                </a:solidFill>
                <a:effectLst/>
                <a:uLnTx/>
                <a:uFillTx/>
                <a:latin typeface="Perpetua"/>
                <a:ea typeface="宋体" panose="02010600030101010101" pitchFamily="2" charset="-122"/>
                <a:cs typeface="Times New Roman" panose="02020603050405020304" pitchFamily="18" charset="0"/>
              </a:rPr>
              <a:t>男人</a:t>
            </a:r>
            <a:r>
              <a:rPr kumimoji="0" lang="en-US" altLang="zh-CN" sz="2400" b="1" i="0" u="none" strike="noStrike" kern="1200" cap="none" spc="0" normalizeH="0" baseline="0" noProof="0" dirty="0">
                <a:ln>
                  <a:noFill/>
                </a:ln>
                <a:solidFill>
                  <a:srgbClr val="7030A0"/>
                </a:solidFill>
                <a:effectLst/>
                <a:uLnTx/>
                <a:uFillTx/>
                <a:latin typeface="Perpetua"/>
                <a:ea typeface="宋体" panose="02010600030101010101" pitchFamily="2" charset="-122"/>
                <a:cs typeface="Times New Roman" panose="02020603050405020304" pitchFamily="18" charset="0"/>
              </a:rPr>
              <a:t>)</a:t>
            </a:r>
            <a:endParaRPr kumimoji="0" lang="zh-CN" altLang="en-US" sz="2400" b="1" i="0" u="none" strike="noStrike" kern="1200" cap="none" spc="0" normalizeH="0" baseline="0" noProof="0" dirty="0">
              <a:ln>
                <a:noFill/>
              </a:ln>
              <a:solidFill>
                <a:srgbClr val="7030A0"/>
              </a:solidFill>
              <a:effectLst/>
              <a:uLnTx/>
              <a:uFillTx/>
              <a:latin typeface="Perpetua"/>
              <a:ea typeface="宋体" panose="02010600030101010101" pitchFamily="2" charset="-122"/>
              <a:cs typeface="+mn-cs"/>
            </a:endParaRPr>
          </a:p>
        </p:txBody>
      </p:sp>
      <p:sp>
        <p:nvSpPr>
          <p:cNvPr id="14" name="矩形 13"/>
          <p:cNvSpPr/>
          <p:nvPr/>
        </p:nvSpPr>
        <p:spPr>
          <a:xfrm>
            <a:off x="4478141" y="1593843"/>
            <a:ext cx="26597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0070C0"/>
                </a:solidFill>
                <a:effectLst/>
                <a:uLnTx/>
                <a:uFillTx/>
                <a:latin typeface="Perpetua"/>
                <a:ea typeface="宋体" panose="02010600030101010101" pitchFamily="2" charset="-122"/>
                <a:cs typeface="+mn-cs"/>
              </a:rPr>
              <a:t>語義相近詞距離近</a:t>
            </a:r>
            <a:endParaRPr kumimoji="0" lang="zh-CN" altLang="en-US" sz="2400" b="1"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endParaRPr>
          </a:p>
        </p:txBody>
      </p:sp>
      <p:sp>
        <p:nvSpPr>
          <p:cNvPr id="15" name="椭圆 14"/>
          <p:cNvSpPr/>
          <p:nvPr/>
        </p:nvSpPr>
        <p:spPr>
          <a:xfrm>
            <a:off x="2383812" y="2508070"/>
            <a:ext cx="2037806" cy="2632026"/>
          </a:xfrm>
          <a:prstGeom prst="ellipse">
            <a:avLst/>
          </a:prstGeom>
          <a:noFill/>
          <a:ln w="381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椭圆 15"/>
          <p:cNvSpPr/>
          <p:nvPr/>
        </p:nvSpPr>
        <p:spPr>
          <a:xfrm>
            <a:off x="5460394" y="3235405"/>
            <a:ext cx="2037806" cy="2632026"/>
          </a:xfrm>
          <a:prstGeom prst="ellipse">
            <a:avLst/>
          </a:prstGeom>
          <a:noFill/>
          <a:ln w="381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箭头连接符 16"/>
          <p:cNvCxnSpPr/>
          <p:nvPr/>
        </p:nvCxnSpPr>
        <p:spPr>
          <a:xfrm flipH="1">
            <a:off x="3960811" y="2031703"/>
            <a:ext cx="1682344" cy="576897"/>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5968073" y="2031703"/>
            <a:ext cx="627138" cy="1153794"/>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47318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5"/>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6"/>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4"/>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8"/>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4" grpId="0"/>
      <p:bldP spid="14" grpId="1"/>
      <p:bldP spid="15" grpId="0" animBg="1"/>
      <p:bldP spid="15" grpId="1" animBg="1"/>
      <p:bldP spid="16" grpId="0" animBg="1"/>
      <p:bldP spid="16" grpId="1"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339" y="196886"/>
            <a:ext cx="10363200" cy="1143000"/>
          </a:xfrm>
        </p:spPr>
        <p:txBody>
          <a:bodyPr/>
          <a:lstStyle/>
          <a:p>
            <a:r>
              <a:rPr lang="en-US" altLang="zh-CN"/>
              <a:t>NLM</a:t>
            </a:r>
            <a:r>
              <a:rPr lang="zh-CN" altLang="en-US"/>
              <a:t>存在的問題</a:t>
            </a:r>
            <a:endParaRPr lang="zh-CN" altLang="en-US" dirty="0"/>
          </a:p>
        </p:txBody>
      </p:sp>
      <p:pic>
        <p:nvPicPr>
          <p:cNvPr id="4" name="图片 3"/>
          <p:cNvPicPr>
            <a:picLocks noChangeAspect="1"/>
          </p:cNvPicPr>
          <p:nvPr/>
        </p:nvPicPr>
        <p:blipFill>
          <a:blip r:embed="rId2"/>
          <a:stretch>
            <a:fillRect/>
          </a:stretch>
        </p:blipFill>
        <p:spPr>
          <a:xfrm>
            <a:off x="2510856" y="640696"/>
            <a:ext cx="6334293" cy="5785605"/>
          </a:xfrm>
          <a:prstGeom prst="rect">
            <a:avLst/>
          </a:prstGeom>
        </p:spPr>
      </p:pic>
      <p:sp>
        <p:nvSpPr>
          <p:cNvPr id="5" name="文本框 4"/>
          <p:cNvSpPr txBox="1"/>
          <p:nvPr/>
        </p:nvSpPr>
        <p:spPr>
          <a:xfrm>
            <a:off x="8945724" y="2363041"/>
            <a:ext cx="168582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神經元個數等于詞表長度</a:t>
            </a: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K</a:t>
            </a:r>
            <a:endPar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6" name="直接箭头连接符 5"/>
          <p:cNvCxnSpPr>
            <a:stCxn id="5" idx="1"/>
          </p:cNvCxnSpPr>
          <p:nvPr/>
        </p:nvCxnSpPr>
        <p:spPr>
          <a:xfrm flipH="1" flipV="1">
            <a:off x="7994483" y="1987948"/>
            <a:ext cx="951241" cy="69825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9" name="矩形 8"/>
              <p:cNvSpPr/>
              <p:nvPr/>
            </p:nvSpPr>
            <p:spPr>
              <a:xfrm>
                <a:off x="7470977" y="923888"/>
                <a:ext cx="3962751" cy="7637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𝑝</m:t>
                      </m:r>
                      <m:d>
                        <m:d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𝑐𝑜𝑛𝑡𝑒𝑥𝑡</m:t>
                          </m:r>
                          <m:d>
                            <m:d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d>
                        </m:e>
                      </m:d>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m:t>
                      </m:r>
                      <m:f>
                        <m:f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fPr>
                        <m:num>
                          <m:sSup>
                            <m:sSup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p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𝑒</m:t>
                              </m:r>
                            </m:e>
                            <m:sup>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b>
                              </m:sSub>
                            </m:sup>
                          </m:sSup>
                        </m:num>
                        <m:den>
                          <m:nary>
                            <m:naryPr>
                              <m:chr m:val="∑"/>
                              <m:limLoc m:val="undOv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m:rPr>
                                  <m:brk/>
                                </m:rP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zh-CN" altLang="en-US" sz="20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𝐾</m:t>
                              </m:r>
                            </m:sup>
                            <m:e>
                              <m:sSup>
                                <m:sSup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p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𝑒</m:t>
                                  </m:r>
                                </m:e>
                                <m:sup>
                                  <m:sSub>
                                    <m:sSubPr>
                                      <m:ctrlP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ub>
                                  </m:sSub>
                                </m:sup>
                              </m:sSup>
                            </m:e>
                          </m:nary>
                        </m:den>
                      </m:f>
                    </m:oMath>
                  </m:oMathPara>
                </a14:m>
                <a:endPar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9" name="矩形 8"/>
              <p:cNvSpPr>
                <a:spLocks noRot="1" noChangeAspect="1" noMove="1" noResize="1" noEditPoints="1" noAdjustHandles="1" noChangeArrowheads="1" noChangeShapeType="1" noTextEdit="1"/>
              </p:cNvSpPr>
              <p:nvPr/>
            </p:nvSpPr>
            <p:spPr>
              <a:xfrm>
                <a:off x="7470977" y="923888"/>
                <a:ext cx="3962751" cy="763799"/>
              </a:xfrm>
              <a:prstGeom prst="rect">
                <a:avLst/>
              </a:prstGeom>
              <a:blipFill>
                <a:blip r:embed="rId3"/>
                <a:stretch>
                  <a:fillRect/>
                </a:stretch>
              </a:blipFill>
            </p:spPr>
            <p:txBody>
              <a:bodyPr/>
              <a:lstStyle/>
              <a:p>
                <a:r>
                  <a:rPr lang="zh-TW" altLang="en-US">
                    <a:noFill/>
                  </a:rPr>
                  <a:t> </a:t>
                </a:r>
              </a:p>
            </p:txBody>
          </p:sp>
        </mc:Fallback>
      </mc:AlternateContent>
      <p:cxnSp>
        <p:nvCxnSpPr>
          <p:cNvPr id="13" name="直接箭头连接符 12"/>
          <p:cNvCxnSpPr/>
          <p:nvPr/>
        </p:nvCxnSpPr>
        <p:spPr>
          <a:xfrm flipH="1" flipV="1">
            <a:off x="5956664" y="1149531"/>
            <a:ext cx="1645919" cy="190355"/>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7" name="文本框 16"/>
          <p:cNvSpPr txBox="1"/>
          <p:nvPr/>
        </p:nvSpPr>
        <p:spPr>
          <a:xfrm>
            <a:off x="9302776" y="3424355"/>
            <a:ext cx="168582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m(</a:t>
            </a:r>
            <a:r>
              <a:rPr kumimoji="0" lang="en-US" altLang="zh-CN"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n-1)</a:t>
            </a: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個輸入</a:t>
            </a:r>
            <a:endParaRPr kumimoji="0" lang="en-US" altLang="zh-CN"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FF0000"/>
                </a:solidFill>
                <a:effectLst/>
                <a:uLnTx/>
                <a:uFillTx/>
                <a:latin typeface="Perpetua"/>
                <a:ea typeface="宋体" panose="02010600030101010101" pitchFamily="2" charset="-122"/>
                <a:cs typeface="+mn-cs"/>
              </a:rPr>
              <a:t>全連接參數多</a:t>
            </a:r>
            <a:endPar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8" name="直接箭头连接符 17"/>
          <p:cNvCxnSpPr/>
          <p:nvPr/>
        </p:nvCxnSpPr>
        <p:spPr>
          <a:xfrm flipH="1">
            <a:off x="8757486" y="3785523"/>
            <a:ext cx="475622" cy="323165"/>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14942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7"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word2vec</a:t>
            </a:r>
            <a:r>
              <a:rPr lang="zh-CN" altLang="en-US" dirty="0"/>
              <a:t>模型</a:t>
            </a:r>
          </a:p>
        </p:txBody>
      </p:sp>
      <p:sp>
        <p:nvSpPr>
          <p:cNvPr id="3" name="内容占位符 2"/>
          <p:cNvSpPr>
            <a:spLocks noGrp="1"/>
          </p:cNvSpPr>
          <p:nvPr>
            <p:ph sz="quarter" idx="1"/>
          </p:nvPr>
        </p:nvSpPr>
        <p:spPr>
          <a:xfrm>
            <a:off x="1219200" y="1648097"/>
            <a:ext cx="10363200" cy="4572000"/>
          </a:xfrm>
        </p:spPr>
        <p:txBody>
          <a:bodyPr/>
          <a:lstStyle/>
          <a:p>
            <a:r>
              <a:rPr lang="zh-CN" altLang="en-US" dirty="0"/>
              <a:t>一种简化的神经网络语言模型</a:t>
            </a:r>
            <a:endParaRPr lang="en-US" altLang="zh-CN" dirty="0"/>
          </a:p>
          <a:p>
            <a:r>
              <a:rPr lang="zh-CN" altLang="en-US" dirty="0"/>
              <a:t>两种实现方式</a:t>
            </a:r>
            <a:endParaRPr lang="en-US" altLang="zh-CN" dirty="0"/>
          </a:p>
          <a:p>
            <a:pPr lvl="1"/>
            <a:r>
              <a:rPr lang="zh-CN" altLang="en-US" dirty="0"/>
              <a:t>连续词袋模型（</a:t>
            </a:r>
            <a:r>
              <a:rPr lang="en-US" altLang="zh-CN" dirty="0"/>
              <a:t>CBOW</a:t>
            </a:r>
            <a:r>
              <a:rPr lang="zh-CN" altLang="en-US" dirty="0"/>
              <a:t>）</a:t>
            </a:r>
            <a:endParaRPr lang="en-US" altLang="zh-CN" dirty="0"/>
          </a:p>
          <a:p>
            <a:pPr lvl="1"/>
            <a:r>
              <a:rPr lang="zh-CN" altLang="en-US" dirty="0"/>
              <a:t>跳词模型（</a:t>
            </a:r>
            <a:r>
              <a:rPr lang="en-US" altLang="zh-CN" dirty="0"/>
              <a:t>Skip-Gram Model</a:t>
            </a:r>
            <a:r>
              <a:rPr lang="zh-CN" altLang="en-US" dirty="0"/>
              <a:t>）</a:t>
            </a:r>
          </a:p>
        </p:txBody>
      </p:sp>
    </p:spTree>
    <p:extLst>
      <p:ext uri="{BB962C8B-B14F-4D97-AF65-F5344CB8AC3E}">
        <p14:creationId xmlns:p14="http://schemas.microsoft.com/office/powerpoint/2010/main" val="309003912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488758" y="776055"/>
            <a:ext cx="6177539" cy="5462245"/>
          </a:xfrm>
          <a:prstGeom prst="rect">
            <a:avLst/>
          </a:prstGeom>
        </p:spPr>
      </p:pic>
      <p:sp>
        <p:nvSpPr>
          <p:cNvPr id="2" name="标题 1"/>
          <p:cNvSpPr>
            <a:spLocks noGrp="1"/>
          </p:cNvSpPr>
          <p:nvPr>
            <p:ph type="title"/>
          </p:nvPr>
        </p:nvSpPr>
        <p:spPr/>
        <p:txBody>
          <a:bodyPr/>
          <a:lstStyle/>
          <a:p>
            <a:r>
              <a:rPr lang="en-US" altLang="zh-CN" dirty="0"/>
              <a:t>word2vec</a:t>
            </a:r>
            <a:r>
              <a:rPr lang="zh-CN" altLang="en-US" dirty="0"/>
              <a:t>模型</a:t>
            </a:r>
            <a:r>
              <a:rPr lang="en-US" altLang="zh-CN" dirty="0"/>
              <a:t>(CBOW)</a:t>
            </a:r>
            <a:endParaRPr lang="zh-CN" altLang="en-US" dirty="0"/>
          </a:p>
        </p:txBody>
      </p:sp>
      <p:sp>
        <p:nvSpPr>
          <p:cNvPr id="5" name="右大括号 4"/>
          <p:cNvSpPr/>
          <p:nvPr/>
        </p:nvSpPr>
        <p:spPr>
          <a:xfrm rot="5400000" flipH="1">
            <a:off x="4530309" y="3075976"/>
            <a:ext cx="632023" cy="1942009"/>
          </a:xfrm>
          <a:prstGeom prst="rightBrace">
            <a:avLst>
              <a:gd name="adj1" fmla="val 4218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9" name="右大括号 8"/>
          <p:cNvSpPr/>
          <p:nvPr/>
        </p:nvSpPr>
        <p:spPr>
          <a:xfrm rot="5400000" flipH="1">
            <a:off x="7838914" y="3080327"/>
            <a:ext cx="628321" cy="1937008"/>
          </a:xfrm>
          <a:prstGeom prst="rightBrace">
            <a:avLst>
              <a:gd name="adj1" fmla="val 40948"/>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 name="文本框 9"/>
              <p:cNvSpPr txBox="1"/>
              <p:nvPr/>
            </p:nvSpPr>
            <p:spPr>
              <a:xfrm>
                <a:off x="9595162" y="3240163"/>
                <a:ext cx="16858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𝒘</m:t>
                        </m:r>
                      </m:e>
                      <m:sub>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𝒕</m:t>
                        </m:r>
                      </m:sub>
                    </m:sSub>
                    <m:r>
                      <a:rPr kumimoji="0" lang="zh-CN" altLang="en-US" sz="2000" b="1" i="1" u="none" strike="noStrike" kern="1200" cap="none" spc="0" normalizeH="0" baseline="0" noProof="0">
                        <a:ln>
                          <a:noFill/>
                        </a:ln>
                        <a:solidFill>
                          <a:srgbClr val="FF0000"/>
                        </a:solidFill>
                        <a:effectLst/>
                        <a:uLnTx/>
                        <a:uFillTx/>
                        <a:latin typeface="Cambria Math" panose="02040503050406030204" pitchFamily="18" charset="0"/>
                        <a:cs typeface="+mn-cs"/>
                      </a:rPr>
                      <m:t>的</m:t>
                    </m:r>
                  </m:oMath>
                </a14:m>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后</a:t>
                </a:r>
                <a:r>
                  <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c</a:t>
                </a: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个词</a:t>
                </a:r>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9595162" y="3240163"/>
                <a:ext cx="1685829" cy="400110"/>
              </a:xfrm>
              <a:prstGeom prst="rect">
                <a:avLst/>
              </a:prstGeom>
              <a:blipFill>
                <a:blip r:embed="rId3"/>
                <a:stretch>
                  <a:fillRect t="-16923" r="-361" b="-32308"/>
                </a:stretch>
              </a:blipFill>
            </p:spPr>
            <p:txBody>
              <a:bodyPr/>
              <a:lstStyle/>
              <a:p>
                <a:r>
                  <a:rPr lang="zh-CN" altLang="en-US">
                    <a:noFill/>
                  </a:rPr>
                  <a:t> </a:t>
                </a:r>
              </a:p>
            </p:txBody>
          </p:sp>
        </mc:Fallback>
      </mc:AlternateContent>
      <p:cxnSp>
        <p:nvCxnSpPr>
          <p:cNvPr id="11" name="直接箭头连接符 10"/>
          <p:cNvCxnSpPr/>
          <p:nvPr/>
        </p:nvCxnSpPr>
        <p:spPr>
          <a:xfrm flipH="1">
            <a:off x="8170493" y="3440218"/>
            <a:ext cx="1442087" cy="294453"/>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文本框 14"/>
              <p:cNvSpPr txBox="1"/>
              <p:nvPr/>
            </p:nvSpPr>
            <p:spPr>
              <a:xfrm>
                <a:off x="2071253" y="2867044"/>
                <a:ext cx="16858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𝒘</m:t>
                        </m:r>
                      </m:e>
                      <m:sub>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𝒕</m:t>
                        </m:r>
                      </m:sub>
                    </m:sSub>
                    <m:r>
                      <a:rPr kumimoji="0" lang="zh-CN" altLang="en-US" sz="2000" b="1" i="1" u="none" strike="noStrike" kern="1200" cap="none" spc="0" normalizeH="0" baseline="0" noProof="0">
                        <a:ln>
                          <a:noFill/>
                        </a:ln>
                        <a:solidFill>
                          <a:srgbClr val="FF0000"/>
                        </a:solidFill>
                        <a:effectLst/>
                        <a:uLnTx/>
                        <a:uFillTx/>
                        <a:latin typeface="Cambria Math" panose="02040503050406030204" pitchFamily="18" charset="0"/>
                        <a:cs typeface="+mn-cs"/>
                      </a:rPr>
                      <m:t>的</m:t>
                    </m:r>
                    <m:r>
                      <a:rPr kumimoji="0" lang="zh-CN" altLang="en-US"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前</m:t>
                    </m:r>
                  </m:oMath>
                </a14:m>
                <a:r>
                  <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c</a:t>
                </a: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个词</a:t>
                </a:r>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2071253" y="2867044"/>
                <a:ext cx="1685829" cy="400110"/>
              </a:xfrm>
              <a:prstGeom prst="rect">
                <a:avLst/>
              </a:prstGeom>
              <a:blipFill>
                <a:blip r:embed="rId4"/>
                <a:stretch>
                  <a:fillRect t="-15152" r="-362" b="-30303"/>
                </a:stretch>
              </a:blipFill>
            </p:spPr>
            <p:txBody>
              <a:bodyPr/>
              <a:lstStyle/>
              <a:p>
                <a:r>
                  <a:rPr lang="zh-CN" altLang="en-US">
                    <a:noFill/>
                  </a:rPr>
                  <a:t> </a:t>
                </a:r>
              </a:p>
            </p:txBody>
          </p:sp>
        </mc:Fallback>
      </mc:AlternateContent>
      <p:cxnSp>
        <p:nvCxnSpPr>
          <p:cNvPr id="16" name="直接箭头连接符 15"/>
          <p:cNvCxnSpPr/>
          <p:nvPr/>
        </p:nvCxnSpPr>
        <p:spPr>
          <a:xfrm>
            <a:off x="3757082" y="3267154"/>
            <a:ext cx="1052466" cy="37311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9" name="文本框 18"/>
          <p:cNvSpPr txBox="1"/>
          <p:nvPr/>
        </p:nvSpPr>
        <p:spPr>
          <a:xfrm>
            <a:off x="1703444" y="3624107"/>
            <a:ext cx="107672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词向量</a:t>
            </a:r>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20" name="直接箭头连接符 19"/>
          <p:cNvCxnSpPr/>
          <p:nvPr/>
        </p:nvCxnSpPr>
        <p:spPr>
          <a:xfrm>
            <a:off x="2601770" y="3859285"/>
            <a:ext cx="990388" cy="503707"/>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文本框 21"/>
              <p:cNvSpPr txBox="1"/>
              <p:nvPr/>
            </p:nvSpPr>
            <p:spPr>
              <a:xfrm>
                <a:off x="6533982" y="837018"/>
                <a:ext cx="263613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𝒑</m:t>
                      </m:r>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d>
                        <m:dPr>
                          <m:begChr m:val=""/>
                          <m:endChr m:val="|"/>
                          <m:ctrlP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dPr>
                        <m:e>
                          <m:sSub>
                            <m:sSubPr>
                              <m:ctrlPr>
                                <a:rPr kumimoji="0" lang="en-US" altLang="zh-CN" sz="2000" b="1"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1" i="1" u="none" strike="noStrike" kern="1200" cap="none" spc="0" normalizeH="0" baseline="0" noProof="0">
                                  <a:ln>
                                    <a:noFill/>
                                  </a:ln>
                                  <a:solidFill>
                                    <a:srgbClr val="FF0000"/>
                                  </a:solidFill>
                                  <a:effectLst/>
                                  <a:uLnTx/>
                                  <a:uFillTx/>
                                  <a:latin typeface="Cambria Math" panose="02040503050406030204" pitchFamily="18" charset="0"/>
                                  <a:cs typeface="+mn-cs"/>
                                </a:rPr>
                                <m:t>𝒘</m:t>
                              </m:r>
                            </m:e>
                            <m:sub>
                              <m:r>
                                <a:rPr kumimoji="0" lang="en-US" altLang="zh-CN" sz="2000" b="1" i="1" u="none" strike="noStrike" kern="1200" cap="none" spc="0" normalizeH="0" baseline="0" noProof="0">
                                  <a:ln>
                                    <a:noFill/>
                                  </a:ln>
                                  <a:solidFill>
                                    <a:srgbClr val="FF0000"/>
                                  </a:solidFill>
                                  <a:effectLst/>
                                  <a:uLnTx/>
                                  <a:uFillTx/>
                                  <a:latin typeface="Cambria Math" panose="02040503050406030204" pitchFamily="18" charset="0"/>
                                  <a:cs typeface="+mn-cs"/>
                                </a:rPr>
                                <m:t>𝒕</m:t>
                              </m:r>
                            </m:sub>
                          </m:sSub>
                        </m:e>
                      </m:d>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𝒄𝒐𝒏𝒕𝒆𝒙𝒕</m:t>
                      </m:r>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
                        <m:sSubPr>
                          <m:ctrlPr>
                            <a:rPr kumimoji="0" lang="en-US" altLang="zh-CN" sz="2000" b="1"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2000" b="1" i="1" u="none" strike="noStrike" kern="1200" cap="none" spc="0" normalizeH="0" baseline="0" noProof="0">
                              <a:ln>
                                <a:noFill/>
                              </a:ln>
                              <a:solidFill>
                                <a:srgbClr val="FF0000"/>
                              </a:solidFill>
                              <a:effectLst/>
                              <a:uLnTx/>
                              <a:uFillTx/>
                              <a:latin typeface="Cambria Math" panose="02040503050406030204" pitchFamily="18" charset="0"/>
                              <a:cs typeface="+mn-cs"/>
                            </a:rPr>
                            <m:t>𝒘</m:t>
                          </m:r>
                        </m:e>
                        <m:sub>
                          <m:r>
                            <a:rPr kumimoji="0" lang="en-US" altLang="zh-CN" sz="2000" b="1" i="1" u="none" strike="noStrike" kern="1200" cap="none" spc="0" normalizeH="0" baseline="0" noProof="0">
                              <a:ln>
                                <a:noFill/>
                              </a:ln>
                              <a:solidFill>
                                <a:srgbClr val="FF0000"/>
                              </a:solidFill>
                              <a:effectLst/>
                              <a:uLnTx/>
                              <a:uFillTx/>
                              <a:latin typeface="Cambria Math" panose="02040503050406030204" pitchFamily="18" charset="0"/>
                              <a:cs typeface="+mn-cs"/>
                            </a:rPr>
                            <m:t>𝒕</m:t>
                          </m:r>
                        </m:sub>
                      </m:sSub>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oMath>
                  </m:oMathPara>
                </a14:m>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22" name="文本框 21"/>
              <p:cNvSpPr txBox="1">
                <a:spLocks noRot="1" noChangeAspect="1" noMove="1" noResize="1" noEditPoints="1" noAdjustHandles="1" noChangeArrowheads="1" noChangeShapeType="1" noTextEdit="1"/>
              </p:cNvSpPr>
              <p:nvPr/>
            </p:nvSpPr>
            <p:spPr>
              <a:xfrm>
                <a:off x="6533982" y="837018"/>
                <a:ext cx="2636139" cy="400110"/>
              </a:xfrm>
              <a:prstGeom prst="rect">
                <a:avLst/>
              </a:prstGeom>
              <a:blipFill>
                <a:blip r:embed="rId5"/>
                <a:stretch>
                  <a:fillRect t="-125758" b="-1787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标题 6"/>
              <p:cNvSpPr txBox="1">
                <a:spLocks/>
              </p:cNvSpPr>
              <p:nvPr/>
            </p:nvSpPr>
            <p:spPr>
              <a:xfrm>
                <a:off x="6400800" y="1919203"/>
                <a:ext cx="551818"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𝑥</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𝑤</m:t>
                          </m:r>
                        </m:sub>
                      </m:sSub>
                    </m:oMath>
                  </m:oMathPara>
                </a14:m>
                <a:endParaRPr kumimoji="0" lang="zh-CN" altLang="en-US" sz="2000" b="1"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mc:Choice>
        <mc:Fallback xmlns="">
          <p:sp>
            <p:nvSpPr>
              <p:cNvPr id="23" name="标题 6"/>
              <p:cNvSpPr txBox="1">
                <a:spLocks noRot="1" noChangeAspect="1" noMove="1" noResize="1" noEditPoints="1" noAdjustHandles="1" noChangeArrowheads="1" noChangeShapeType="1" noTextEdit="1"/>
              </p:cNvSpPr>
              <p:nvPr/>
            </p:nvSpPr>
            <p:spPr>
              <a:xfrm>
                <a:off x="6400800" y="1919203"/>
                <a:ext cx="551818" cy="446276"/>
              </a:xfrm>
              <a:prstGeom prst="rect">
                <a:avLst/>
              </a:prstGeom>
              <a:blipFill>
                <a:blip r:embed="rId6"/>
                <a:stretch>
                  <a:fillRect/>
                </a:stretch>
              </a:blipFill>
            </p:spPr>
            <p:txBody>
              <a:bodyPr/>
              <a:lstStyle/>
              <a:p>
                <a:r>
                  <a:rPr lang="zh-CN" altLang="en-US">
                    <a:noFill/>
                  </a:rPr>
                  <a:t> </a:t>
                </a:r>
              </a:p>
            </p:txBody>
          </p:sp>
        </mc:Fallback>
      </mc:AlternateContent>
      <p:sp>
        <p:nvSpPr>
          <p:cNvPr id="14" name="矩形 13"/>
          <p:cNvSpPr/>
          <p:nvPr/>
        </p:nvSpPr>
        <p:spPr>
          <a:xfrm>
            <a:off x="7074759" y="2365478"/>
            <a:ext cx="2374040" cy="901676"/>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7557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p:bldP spid="15" grpId="0"/>
      <p:bldP spid="19" grpId="0"/>
      <p:bldP spid="22" grpId="0"/>
      <p:bldP spid="14"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6FBCF-1BEF-29E3-45CC-3E67FD3D988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E19821-6B83-2F3B-2E2B-2B69EBE50319}"/>
              </a:ext>
            </a:extLst>
          </p:cNvPr>
          <p:cNvSpPr>
            <a:spLocks noGrp="1"/>
          </p:cNvSpPr>
          <p:nvPr>
            <p:ph type="title"/>
          </p:nvPr>
        </p:nvSpPr>
        <p:spPr/>
        <p:txBody>
          <a:bodyPr/>
          <a:lstStyle/>
          <a:p>
            <a:r>
              <a:rPr lang="zh-CN" altLang="en-US" dirty="0"/>
              <a:t>霍夫曼树与霍夫曼编码</a:t>
            </a:r>
          </a:p>
        </p:txBody>
      </p:sp>
      <p:pic>
        <p:nvPicPr>
          <p:cNvPr id="4" name="Picture 3">
            <a:extLst>
              <a:ext uri="{FF2B5EF4-FFF2-40B4-BE49-F238E27FC236}">
                <a16:creationId xmlns:a16="http://schemas.microsoft.com/office/drawing/2014/main" id="{C64508BB-6FCF-3109-6D5C-B9B24AAA8D33}"/>
              </a:ext>
            </a:extLst>
          </p:cNvPr>
          <p:cNvPicPr>
            <a:picLocks noChangeAspect="1"/>
          </p:cNvPicPr>
          <p:nvPr/>
        </p:nvPicPr>
        <p:blipFill>
          <a:blip r:embed="rId3"/>
          <a:stretch>
            <a:fillRect/>
          </a:stretch>
        </p:blipFill>
        <p:spPr>
          <a:xfrm>
            <a:off x="2286001" y="1547156"/>
            <a:ext cx="6916882" cy="5169649"/>
          </a:xfrm>
          <a:prstGeom prst="rect">
            <a:avLst/>
          </a:prstGeom>
        </p:spPr>
      </p:pic>
    </p:spTree>
    <p:extLst>
      <p:ext uri="{BB962C8B-B14F-4D97-AF65-F5344CB8AC3E}">
        <p14:creationId xmlns:p14="http://schemas.microsoft.com/office/powerpoint/2010/main" val="4729847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霍夫曼树与霍夫曼编码</a:t>
            </a:r>
          </a:p>
        </p:txBody>
      </p:sp>
      <mc:AlternateContent xmlns:mc="http://schemas.openxmlformats.org/markup-compatibility/2006" xmlns:a14="http://schemas.microsoft.com/office/drawing/2010/main">
        <mc:Choice Requires="a14">
          <p:sp>
            <p:nvSpPr>
              <p:cNvPr id="3" name="内容占位符 2"/>
              <p:cNvSpPr>
                <a:spLocks noGrp="1"/>
              </p:cNvSpPr>
              <p:nvPr>
                <p:ph sz="quarter" idx="1"/>
              </p:nvPr>
            </p:nvSpPr>
            <p:spPr>
              <a:xfrm>
                <a:off x="1219199" y="1447799"/>
                <a:ext cx="4763590" cy="5057503"/>
              </a:xfrm>
            </p:spPr>
            <p:txBody>
              <a:bodyPr>
                <a:normAutofit/>
              </a:bodyPr>
              <a:lstStyle/>
              <a:p>
                <a:pPr>
                  <a:spcBef>
                    <a:spcPts val="0"/>
                  </a:spcBef>
                </a:pPr>
                <a:r>
                  <a:rPr lang="zh-CN" altLang="en-US" dirty="0"/>
                  <a:t>叶节点对应词汇表中的一个词</a:t>
                </a:r>
                <a:endParaRPr lang="en-US" altLang="zh-CN" dirty="0"/>
              </a:p>
              <a:p>
                <a:pPr>
                  <a:spcBef>
                    <a:spcPts val="0"/>
                  </a:spcBef>
                </a:pPr>
                <a:r>
                  <a:rPr lang="zh-CN" altLang="en-US" dirty="0"/>
                  <a:t>频度越高的词距离根节点越近</a:t>
                </a:r>
                <a:endParaRPr lang="en-US" altLang="zh-CN" dirty="0"/>
              </a:p>
              <a:p>
                <a:pPr>
                  <a:spcBef>
                    <a:spcPts val="0"/>
                  </a:spcBef>
                </a:pPr>
                <a:r>
                  <a:rPr lang="zh-CN" altLang="en-US" dirty="0"/>
                  <a:t>一种变长、平均长度最短的编码方案</a:t>
                </a:r>
                <a:endParaRPr lang="en-US" altLang="zh-CN" dirty="0"/>
              </a:p>
              <a:p>
                <a:r>
                  <a:rPr lang="zh-CN" altLang="en-US" sz="2800" dirty="0">
                    <a:solidFill>
                      <a:prstClr val="black"/>
                    </a:solidFill>
                  </a:rPr>
                  <a:t>编码方式</a:t>
                </a:r>
                <a:endParaRPr lang="en-US" altLang="zh-CN" sz="2800" dirty="0">
                  <a:solidFill>
                    <a:prstClr val="black"/>
                  </a:solidFill>
                </a:endParaRPr>
              </a:p>
              <a:p>
                <a:pPr lvl="1">
                  <a:spcBef>
                    <a:spcPts val="0"/>
                  </a:spcBef>
                </a:pPr>
                <a:r>
                  <a:rPr lang="zh-CN" altLang="en-US" sz="2600" dirty="0">
                    <a:solidFill>
                      <a:prstClr val="black"/>
                    </a:solidFill>
                  </a:rPr>
                  <a:t>左边为</a:t>
                </a:r>
                <a:r>
                  <a:rPr lang="en-US" altLang="zh-CN" sz="2600" dirty="0">
                    <a:solidFill>
                      <a:prstClr val="black"/>
                    </a:solidFill>
                  </a:rPr>
                  <a:t>1</a:t>
                </a:r>
                <a:r>
                  <a:rPr lang="zh-CN" altLang="en-US" sz="2600" dirty="0">
                    <a:solidFill>
                      <a:prstClr val="black"/>
                    </a:solidFill>
                  </a:rPr>
                  <a:t>，右边为</a:t>
                </a:r>
                <a:r>
                  <a:rPr lang="en-US" altLang="zh-CN" sz="2600" dirty="0">
                    <a:solidFill>
                      <a:prstClr val="black"/>
                    </a:solidFill>
                  </a:rPr>
                  <a:t>0</a:t>
                </a:r>
              </a:p>
              <a:p>
                <a:pPr lvl="1">
                  <a:spcBef>
                    <a:spcPts val="0"/>
                  </a:spcBef>
                </a:pPr>
                <a:r>
                  <a:rPr lang="zh-CN" altLang="en-US" sz="2600" dirty="0">
                    <a:solidFill>
                      <a:prstClr val="black"/>
                    </a:solidFill>
                  </a:rPr>
                  <a:t>如</a:t>
                </a:r>
                <a14:m>
                  <m:oMath xmlns:m="http://schemas.openxmlformats.org/officeDocument/2006/math">
                    <m:sSub>
                      <m:sSubPr>
                        <m:ctrlPr>
                          <a:rPr lang="en-US" altLang="zh-CN" sz="2600" i="1">
                            <a:solidFill>
                              <a:prstClr val="black"/>
                            </a:solidFill>
                            <a:latin typeface="Cambria Math" panose="02040503050406030204" pitchFamily="18" charset="0"/>
                          </a:rPr>
                        </m:ctrlPr>
                      </m:sSubPr>
                      <m:e>
                        <m:r>
                          <a:rPr lang="en-US" altLang="zh-CN" sz="2600" i="1">
                            <a:solidFill>
                              <a:prstClr val="black"/>
                            </a:solidFill>
                            <a:latin typeface="Cambria Math" panose="02040503050406030204" pitchFamily="18" charset="0"/>
                          </a:rPr>
                          <m:t>𝑤</m:t>
                        </m:r>
                      </m:e>
                      <m:sub>
                        <m:r>
                          <a:rPr lang="en-US" altLang="zh-CN" sz="2600" i="1">
                            <a:solidFill>
                              <a:prstClr val="black"/>
                            </a:solidFill>
                            <a:latin typeface="Cambria Math" panose="02040503050406030204" pitchFamily="18" charset="0"/>
                          </a:rPr>
                          <m:t>2</m:t>
                        </m:r>
                      </m:sub>
                    </m:sSub>
                  </m:oMath>
                </a14:m>
                <a:r>
                  <a:rPr lang="zh-CN" altLang="en-US" sz="2600" dirty="0">
                    <a:solidFill>
                      <a:prstClr val="black"/>
                    </a:solidFill>
                  </a:rPr>
                  <a:t>的编码为</a:t>
                </a:r>
                <a:r>
                  <a:rPr lang="en-US" altLang="zh-CN" sz="2600" dirty="0">
                    <a:solidFill>
                      <a:prstClr val="black"/>
                    </a:solidFill>
                  </a:rPr>
                  <a:t>110</a:t>
                </a:r>
              </a:p>
              <a:p>
                <a:pPr lvl="1">
                  <a:spcBef>
                    <a:spcPts val="0"/>
                  </a:spcBef>
                </a:pPr>
                <a:r>
                  <a:rPr lang="en-US" altLang="zh-CN" sz="2600" dirty="0">
                    <a:solidFill>
                      <a:prstClr val="black"/>
                    </a:solidFill>
                  </a:rPr>
                  <a:t>     </a:t>
                </a:r>
                <a14:m>
                  <m:oMath xmlns:m="http://schemas.openxmlformats.org/officeDocument/2006/math">
                    <m:sSub>
                      <m:sSubPr>
                        <m:ctrlPr>
                          <a:rPr lang="en-US" altLang="zh-CN" sz="2600" i="1">
                            <a:solidFill>
                              <a:prstClr val="black"/>
                            </a:solidFill>
                            <a:latin typeface="Cambria Math" panose="02040503050406030204" pitchFamily="18" charset="0"/>
                          </a:rPr>
                        </m:ctrlPr>
                      </m:sSubPr>
                      <m:e>
                        <m:r>
                          <a:rPr lang="en-US" altLang="zh-CN" sz="2600" i="1">
                            <a:solidFill>
                              <a:prstClr val="black"/>
                            </a:solidFill>
                            <a:latin typeface="Cambria Math" panose="02040503050406030204" pitchFamily="18" charset="0"/>
                          </a:rPr>
                          <m:t>𝑤</m:t>
                        </m:r>
                      </m:e>
                      <m:sub>
                        <m:r>
                          <a:rPr lang="en-US" altLang="zh-CN" sz="2600" b="0" i="1" smtClean="0">
                            <a:solidFill>
                              <a:prstClr val="black"/>
                            </a:solidFill>
                            <a:latin typeface="Cambria Math" panose="02040503050406030204" pitchFamily="18" charset="0"/>
                          </a:rPr>
                          <m:t>3</m:t>
                        </m:r>
                      </m:sub>
                    </m:sSub>
                  </m:oMath>
                </a14:m>
                <a:r>
                  <a:rPr lang="zh-CN" altLang="en-US" sz="2600" dirty="0">
                    <a:solidFill>
                      <a:prstClr val="black"/>
                    </a:solidFill>
                  </a:rPr>
                  <a:t>的编码为</a:t>
                </a:r>
                <a:r>
                  <a:rPr lang="en-US" altLang="zh-CN" sz="2600" dirty="0">
                    <a:solidFill>
                      <a:prstClr val="black"/>
                    </a:solidFill>
                  </a:rPr>
                  <a:t>10</a:t>
                </a:r>
              </a:p>
              <a:p>
                <a:r>
                  <a:rPr lang="zh-CN" altLang="en-US" sz="2800" dirty="0">
                    <a:solidFill>
                      <a:prstClr val="black"/>
                    </a:solidFill>
                  </a:rPr>
                  <a:t>任意词的编码都不会是其他词编码的前缀</a:t>
                </a:r>
                <a:endParaRPr lang="en-US" altLang="zh-CN" sz="2800" dirty="0">
                  <a:solidFill>
                    <a:prstClr val="black"/>
                  </a:solidFill>
                </a:endParaRPr>
              </a:p>
              <a:p>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
              </p:nvPr>
            </p:nvSpPr>
            <p:spPr>
              <a:xfrm>
                <a:off x="1219199" y="1447799"/>
                <a:ext cx="4763590" cy="5057503"/>
              </a:xfrm>
              <a:blipFill>
                <a:blip r:embed="rId3"/>
                <a:stretch>
                  <a:fillRect t="-1807" r="-1793"/>
                </a:stretch>
              </a:blipFill>
            </p:spPr>
            <p:txBody>
              <a:bodyPr/>
              <a:lstStyle/>
              <a:p>
                <a:r>
                  <a:rPr lang="zh-CN" altLang="en-US">
                    <a:noFill/>
                  </a:rPr>
                  <a:t> </a:t>
                </a:r>
              </a:p>
            </p:txBody>
          </p:sp>
        </mc:Fallback>
      </mc:AlternateContent>
      <p:pic>
        <p:nvPicPr>
          <p:cNvPr id="35" name="图片 34"/>
          <p:cNvPicPr>
            <a:picLocks noChangeAspect="1"/>
          </p:cNvPicPr>
          <p:nvPr/>
        </p:nvPicPr>
        <p:blipFill>
          <a:blip r:embed="rId4"/>
          <a:stretch>
            <a:fillRect/>
          </a:stretch>
        </p:blipFill>
        <p:spPr>
          <a:xfrm>
            <a:off x="4478854" y="1273821"/>
            <a:ext cx="8356775" cy="3655229"/>
          </a:xfrm>
          <a:prstGeom prst="rect">
            <a:avLst/>
          </a:prstGeom>
        </p:spPr>
      </p:pic>
    </p:spTree>
    <p:extLst>
      <p:ext uri="{BB962C8B-B14F-4D97-AF65-F5344CB8AC3E}">
        <p14:creationId xmlns:p14="http://schemas.microsoft.com/office/powerpoint/2010/main" val="64785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716464" y="782370"/>
            <a:ext cx="2665426" cy="643515"/>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7228114" y="782370"/>
            <a:ext cx="3964297" cy="3620902"/>
          </a:xfrm>
          <a:prstGeom prst="rect">
            <a:avLst/>
          </a:prstGeom>
        </p:spPr>
      </p:pic>
      <p:sp>
        <p:nvSpPr>
          <p:cNvPr id="9" name="矩形 8"/>
          <p:cNvSpPr/>
          <p:nvPr/>
        </p:nvSpPr>
        <p:spPr>
          <a:xfrm>
            <a:off x="7096875" y="782370"/>
            <a:ext cx="3989136" cy="1786659"/>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p:cNvSpPr/>
          <p:nvPr/>
        </p:nvSpPr>
        <p:spPr>
          <a:xfrm>
            <a:off x="7166815" y="2803109"/>
            <a:ext cx="3989136" cy="1600163"/>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10"/>
          <p:cNvSpPr/>
          <p:nvPr/>
        </p:nvSpPr>
        <p:spPr>
          <a:xfrm>
            <a:off x="520882" y="2116183"/>
            <a:ext cx="6487892" cy="3690718"/>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标题 6"/>
              <p:cNvSpPr txBox="1">
                <a:spLocks/>
              </p:cNvSpPr>
              <p:nvPr/>
            </p:nvSpPr>
            <p:spPr>
              <a:xfrm>
                <a:off x="3764828" y="1610661"/>
                <a:ext cx="551818"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𝑥</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𝑤</m:t>
                          </m:r>
                        </m:sub>
                      </m:sSub>
                    </m:oMath>
                  </m:oMathPara>
                </a14:m>
                <a:endParaRPr kumimoji="0" lang="zh-CN" altLang="en-US" sz="2000" b="1"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mc:Choice>
        <mc:Fallback xmlns="">
          <p:sp>
            <p:nvSpPr>
              <p:cNvPr id="12" name="标题 6"/>
              <p:cNvSpPr txBox="1">
                <a:spLocks noRot="1" noChangeAspect="1" noMove="1" noResize="1" noEditPoints="1" noAdjustHandles="1" noChangeArrowheads="1" noChangeShapeType="1" noTextEdit="1"/>
              </p:cNvSpPr>
              <p:nvPr/>
            </p:nvSpPr>
            <p:spPr>
              <a:xfrm>
                <a:off x="3764828" y="1610661"/>
                <a:ext cx="551818" cy="446276"/>
              </a:xfrm>
              <a:prstGeom prst="rect">
                <a:avLst/>
              </a:prstGeom>
              <a:blipFill>
                <a:blip r:embed="rId4"/>
                <a:stretch>
                  <a:fillRect/>
                </a:stretch>
              </a:blipFill>
            </p:spPr>
            <p:txBody>
              <a:bodyPr/>
              <a:lstStyle/>
              <a:p>
                <a:r>
                  <a:rPr lang="zh-CN" altLang="en-US">
                    <a:noFill/>
                  </a:rPr>
                  <a:t> </a:t>
                </a:r>
              </a:p>
            </p:txBody>
          </p:sp>
        </mc:Fallback>
      </mc:AlternateContent>
      <p:cxnSp>
        <p:nvCxnSpPr>
          <p:cNvPr id="15" name="直接箭头连接符 14"/>
          <p:cNvCxnSpPr/>
          <p:nvPr/>
        </p:nvCxnSpPr>
        <p:spPr>
          <a:xfrm>
            <a:off x="5513129" y="1104127"/>
            <a:ext cx="1495645" cy="571572"/>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7079457" y="4470686"/>
            <a:ext cx="1393982" cy="617109"/>
          </a:xfrm>
          <a:prstGeom prst="straightConnector1">
            <a:avLst/>
          </a:prstGeom>
          <a:ln w="285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标题 6"/>
              <p:cNvSpPr txBox="1">
                <a:spLocks/>
              </p:cNvSpPr>
              <p:nvPr/>
            </p:nvSpPr>
            <p:spPr>
              <a:xfrm>
                <a:off x="8006277" y="4862688"/>
                <a:ext cx="761747"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1200" cap="none" spc="0" normalizeH="0" baseline="0" noProof="0" smtClean="0">
                          <a:ln>
                            <a:noFill/>
                          </a:ln>
                          <a:solidFill>
                            <a:srgbClr val="00B050"/>
                          </a:solidFill>
                          <a:effectLst/>
                          <a:uLnTx/>
                          <a:uFillTx/>
                          <a:latin typeface="Cambria Math" panose="02040503050406030204" pitchFamily="18" charset="0"/>
                        </a:rPr>
                        <m:t>替换</m:t>
                      </m:r>
                    </m:oMath>
                  </m:oMathPara>
                </a14:m>
                <a:endParaRPr kumimoji="0" lang="zh-CN" altLang="en-US" sz="20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endParaRPr>
              </a:p>
            </p:txBody>
          </p:sp>
        </mc:Choice>
        <mc:Fallback xmlns="">
          <p:sp>
            <p:nvSpPr>
              <p:cNvPr id="24" name="标题 6"/>
              <p:cNvSpPr txBox="1">
                <a:spLocks noRot="1" noChangeAspect="1" noMove="1" noResize="1" noEditPoints="1" noAdjustHandles="1" noChangeArrowheads="1" noChangeShapeType="1" noTextEdit="1"/>
              </p:cNvSpPr>
              <p:nvPr/>
            </p:nvSpPr>
            <p:spPr>
              <a:xfrm>
                <a:off x="8006277" y="4862688"/>
                <a:ext cx="761747" cy="446276"/>
              </a:xfrm>
              <a:prstGeom prst="rect">
                <a:avLst/>
              </a:prstGeom>
              <a:blipFill>
                <a:blip r:embed="rId5"/>
                <a:stretch>
                  <a:fillRect r="-800"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标题 6"/>
              <p:cNvSpPr txBox="1">
                <a:spLocks/>
              </p:cNvSpPr>
              <p:nvPr/>
            </p:nvSpPr>
            <p:spPr>
              <a:xfrm>
                <a:off x="5975824" y="851366"/>
                <a:ext cx="761747"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rPr>
                        <m:t>替换</m:t>
                      </m:r>
                    </m:oMath>
                  </m:oMathPara>
                </a14:m>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mc:Choice>
        <mc:Fallback xmlns="">
          <p:sp>
            <p:nvSpPr>
              <p:cNvPr id="25" name="标题 6"/>
              <p:cNvSpPr txBox="1">
                <a:spLocks noRot="1" noChangeAspect="1" noMove="1" noResize="1" noEditPoints="1" noAdjustHandles="1" noChangeArrowheads="1" noChangeShapeType="1" noTextEdit="1"/>
              </p:cNvSpPr>
              <p:nvPr/>
            </p:nvSpPr>
            <p:spPr>
              <a:xfrm>
                <a:off x="5975824" y="851366"/>
                <a:ext cx="761747" cy="446276"/>
              </a:xfrm>
              <a:prstGeom prst="rect">
                <a:avLst/>
              </a:prstGeom>
              <a:blipFill>
                <a:blip r:embed="rId6"/>
                <a:stretch>
                  <a:fillRect r="-800" b="-1370"/>
                </a:stretch>
              </a:blipFill>
            </p:spPr>
            <p:txBody>
              <a:bodyPr/>
              <a:lstStyle/>
              <a:p>
                <a:r>
                  <a:rPr lang="zh-CN" altLang="en-US">
                    <a:noFill/>
                  </a:rPr>
                  <a:t> </a:t>
                </a:r>
              </a:p>
            </p:txBody>
          </p:sp>
        </mc:Fallback>
      </mc:AlternateContent>
      <p:sp>
        <p:nvSpPr>
          <p:cNvPr id="26" name="标题 1"/>
          <p:cNvSpPr>
            <a:spLocks noGrp="1"/>
          </p:cNvSpPr>
          <p:nvPr>
            <p:ph type="title"/>
          </p:nvPr>
        </p:nvSpPr>
        <p:spPr>
          <a:xfrm>
            <a:off x="1219200" y="274638"/>
            <a:ext cx="10363200" cy="1143000"/>
          </a:xfrm>
        </p:spPr>
        <p:txBody>
          <a:bodyPr/>
          <a:lstStyle/>
          <a:p>
            <a:r>
              <a:rPr lang="zh-CN" altLang="en-US" dirty="0"/>
              <a:t>对比</a:t>
            </a:r>
          </a:p>
        </p:txBody>
      </p:sp>
      <p:sp>
        <p:nvSpPr>
          <p:cNvPr id="27" name="标题 6"/>
          <p:cNvSpPr txBox="1">
            <a:spLocks/>
          </p:cNvSpPr>
          <p:nvPr/>
        </p:nvSpPr>
        <p:spPr>
          <a:xfrm>
            <a:off x="8928808" y="4394520"/>
            <a:ext cx="993083" cy="384721"/>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rPr>
              <a:t>NLM</a:t>
            </a:r>
            <a:endParaRPr kumimoji="0" lang="zh-CN" altLang="en-US"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p:sp>
        <p:nvSpPr>
          <p:cNvPr id="28" name="标题 6"/>
          <p:cNvSpPr txBox="1">
            <a:spLocks/>
          </p:cNvSpPr>
          <p:nvPr/>
        </p:nvSpPr>
        <p:spPr>
          <a:xfrm>
            <a:off x="3451116" y="5815148"/>
            <a:ext cx="993083" cy="384721"/>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rPr>
              <a:t>CBOW</a:t>
            </a:r>
            <a:endParaRPr kumimoji="0" lang="zh-CN" altLang="en-US"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p:pic>
        <p:nvPicPr>
          <p:cNvPr id="16" name="图片 15"/>
          <p:cNvPicPr>
            <a:picLocks noChangeAspect="1"/>
          </p:cNvPicPr>
          <p:nvPr/>
        </p:nvPicPr>
        <p:blipFill>
          <a:blip r:embed="rId7"/>
          <a:stretch>
            <a:fillRect/>
          </a:stretch>
        </p:blipFill>
        <p:spPr>
          <a:xfrm>
            <a:off x="840315" y="352903"/>
            <a:ext cx="6177539" cy="5462245"/>
          </a:xfrm>
          <a:prstGeom prst="rect">
            <a:avLst/>
          </a:prstGeom>
        </p:spPr>
      </p:pic>
    </p:spTree>
    <p:extLst>
      <p:ext uri="{BB962C8B-B14F-4D97-AF65-F5344CB8AC3E}">
        <p14:creationId xmlns:p14="http://schemas.microsoft.com/office/powerpoint/2010/main" val="196921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24" grpId="0"/>
      <p:bldP spid="25"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1458608" y="1069294"/>
            <a:ext cx="6949442" cy="3570515"/>
          </a:xfrm>
        </p:spPr>
      </p:pic>
      <mc:AlternateContent xmlns:mc="http://schemas.openxmlformats.org/markup-compatibility/2006" xmlns:a14="http://schemas.microsoft.com/office/drawing/2010/main">
        <mc:Choice Requires="a14">
          <p:sp>
            <p:nvSpPr>
              <p:cNvPr id="5" name="矩形 4"/>
              <p:cNvSpPr/>
              <p:nvPr/>
            </p:nvSpPr>
            <p:spPr>
              <a:xfrm>
                <a:off x="4491981" y="406586"/>
                <a:ext cx="616900"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5" name="矩形 4"/>
              <p:cNvSpPr>
                <a:spLocks noRot="1" noChangeAspect="1" noMove="1" noResize="1" noEditPoints="1" noAdjustHandles="1" noChangeArrowheads="1" noChangeShapeType="1" noTextEdit="1"/>
              </p:cNvSpPr>
              <p:nvPr/>
            </p:nvSpPr>
            <p:spPr>
              <a:xfrm>
                <a:off x="4491981" y="406586"/>
                <a:ext cx="616900" cy="461665"/>
              </a:xfrm>
              <a:prstGeom prst="rect">
                <a:avLst/>
              </a:prstGeom>
              <a:blipFill>
                <a:blip r:embed="rId4"/>
                <a:stretch>
                  <a:fillRect/>
                </a:stretch>
              </a:blipFill>
            </p:spPr>
            <p:txBody>
              <a:bodyPr/>
              <a:lstStyle/>
              <a:p>
                <a:r>
                  <a:rPr lang="zh-CN" altLang="en-US">
                    <a:noFill/>
                  </a:rPr>
                  <a:t> </a:t>
                </a:r>
              </a:p>
            </p:txBody>
          </p:sp>
        </mc:Fallback>
      </mc:AlternateContent>
      <p:sp>
        <p:nvSpPr>
          <p:cNvPr id="6" name="下箭头 5"/>
          <p:cNvSpPr/>
          <p:nvPr/>
        </p:nvSpPr>
        <p:spPr>
          <a:xfrm>
            <a:off x="4659029" y="923109"/>
            <a:ext cx="217716" cy="452831"/>
          </a:xfrm>
          <a:prstGeom prst="downArrow">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p:cNvSpPr txBox="1"/>
          <p:nvPr/>
        </p:nvSpPr>
        <p:spPr>
          <a:xfrm>
            <a:off x="1048321" y="2299055"/>
            <a:ext cx="553998" cy="161108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霍夫曼树</a:t>
            </a:r>
          </a:p>
        </p:txBody>
      </p:sp>
      <mc:AlternateContent xmlns:mc="http://schemas.openxmlformats.org/markup-compatibility/2006" xmlns:a14="http://schemas.microsoft.com/office/drawing/2010/main">
        <mc:Choice Requires="a14">
          <p:sp>
            <p:nvSpPr>
              <p:cNvPr id="9" name="文本框 8"/>
              <p:cNvSpPr txBox="1"/>
              <p:nvPr/>
            </p:nvSpPr>
            <p:spPr>
              <a:xfrm>
                <a:off x="870899" y="4559293"/>
                <a:ext cx="8398234" cy="19688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叶节点</a:t>
                </a:r>
                <a14:m>
                  <m:oMath xmlns:m="http://schemas.openxmlformats.org/officeDocument/2006/math">
                    <m:sSub>
                      <m:sSubPr>
                        <m:ctrlP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oMath>
                </a14:m>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rPr>
                  <a:t>为词，</a:t>
                </a:r>
                <a14:m>
                  <m:oMath xmlns:m="http://schemas.openxmlformats.org/officeDocument/2006/math">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𝑛</m:t>
                    </m:r>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𝑗</m:t>
                    </m:r>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a14:m>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为</a:t>
                </a:r>
                <a14:m>
                  <m:oMath xmlns:m="http://schemas.openxmlformats.org/officeDocument/2006/math">
                    <m:sSub>
                      <m:sSubPr>
                        <m:ctrlP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zh-CN" altLang="en-US" sz="2200" b="0" i="1" u="none" strike="noStrike" kern="1200" cap="none" spc="0" normalizeH="0" baseline="0" noProof="0">
                        <a:ln>
                          <a:noFill/>
                        </a:ln>
                        <a:solidFill>
                          <a:prstClr val="black"/>
                        </a:solidFill>
                        <a:effectLst/>
                        <a:uLnTx/>
                        <a:uFillTx/>
                        <a:latin typeface="Cambria Math" panose="02040503050406030204" pitchFamily="18" charset="0"/>
                        <a:cs typeface="+mn-cs"/>
                      </a:rPr>
                      <m:t>经过</m:t>
                    </m:r>
                  </m:oMath>
                </a14:m>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的第</a:t>
                </a:r>
                <a:r>
                  <a:rPr kumimoji="0" lang="en-US" altLang="zh-CN"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j</a:t>
                </a:r>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个节点所选择的方向（左右）</a:t>
                </a:r>
                <a:endParaRPr kumimoji="0" lang="en-US" altLang="zh-CN"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非叶节点为输入为</a:t>
                </a:r>
                <a14:m>
                  <m:oMath xmlns:m="http://schemas.openxmlformats.org/officeDocument/2006/math">
                    <m:sSub>
                      <m:sSubPr>
                        <m:ctrlP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oMath>
                </a14:m>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、权重为</a:t>
                </a:r>
                <a14:m>
                  <m:oMath xmlns:m="http://schemas.openxmlformats.org/officeDocument/2006/math">
                    <m:sSub>
                      <m:sSubPr>
                        <m:ctrlPr>
                          <a:rPr kumimoji="0" lang="en-US" altLang="zh-CN" sz="22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𝑖</m:t>
                        </m:r>
                      </m:sub>
                    </m:sSub>
                  </m:oMath>
                </a14:m>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的神经元，输出为选择左右的概率</a:t>
                </a:r>
                <a:endParaRPr kumimoji="0" lang="en-US" altLang="zh-CN"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选择右边的概率：</a:t>
                </a:r>
                <a14:m>
                  <m:oMath xmlns:m="http://schemas.openxmlformats.org/officeDocument/2006/math">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𝑝</m:t>
                    </m:r>
                    <m:d>
                      <m:dPr>
                        <m:ctrlP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𝑅</m:t>
                        </m:r>
                      </m:e>
                    </m:d>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𝜎</m:t>
                    </m:r>
                    <m:d>
                      <m:dPr>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dPr>
                      <m:e>
                        <m:sSub>
                          <m:sSubPr>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𝑥</m:t>
                            </m:r>
                          </m:e>
                          <m:sub>
                            <m:r>
                              <a:rPr kumimoji="0" lang="en-US" altLang="zh-CN" sz="22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𝑤</m:t>
                            </m:r>
                          </m:sub>
                        </m:sSub>
                        <m:r>
                          <a:rPr kumimoji="0" lang="en-US" altLang="zh-CN" sz="22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2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22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sub>
                        </m:sSub>
                      </m:e>
                    </m:d>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f>
                      <m:fPr>
                        <m:type m:val="lin"/>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fPr>
                      <m:num>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num>
                      <m:den>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sSup>
                          <m:sSupPr>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pPr>
                          <m:e>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𝑒</m:t>
                            </m:r>
                          </m:e>
                          <m:sup>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𝑥</m:t>
                                </m:r>
                              </m:e>
                              <m:sub>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𝑤</m:t>
                                </m:r>
                              </m:sub>
                            </m:sSub>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𝑖</m:t>
                                </m:r>
                              </m:sub>
                            </m:sSub>
                          </m:sup>
                        </m:sSup>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den>
                    </m:f>
                  </m:oMath>
                </a14:m>
                <a:endParaRPr kumimoji="0" lang="en-US" altLang="zh-CN"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选择左边的概率：</a:t>
                </a:r>
                <a14:m>
                  <m:oMath xmlns:m="http://schemas.openxmlformats.org/officeDocument/2006/math">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𝑝</m:t>
                    </m:r>
                    <m:d>
                      <m:dPr>
                        <m:ctrlP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𝐿</m:t>
                        </m:r>
                      </m:e>
                    </m:d>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𝑝</m:t>
                    </m:r>
                    <m:d>
                      <m:dPr>
                        <m:ctrlP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𝑅</m:t>
                        </m:r>
                      </m:e>
                    </m:d>
                    <m:r>
                      <a:rPr kumimoji="0" lang="en-US" altLang="zh-CN" sz="2200" b="0" i="1" u="none" strike="noStrike" kern="1200" cap="none" spc="0" normalizeH="0" baseline="0" noProof="0">
                        <a:ln>
                          <a:noFill/>
                        </a:ln>
                        <a:solidFill>
                          <a:prstClr val="black"/>
                        </a:solidFill>
                        <a:effectLst/>
                        <a:uLnTx/>
                        <a:uFillTx/>
                        <a:latin typeface="Cambria Math" panose="02040503050406030204" pitchFamily="18" charset="0"/>
                        <a:cs typeface="+mn-cs"/>
                      </a:rPr>
                      <m:t>=1−</m:t>
                    </m:r>
                    <m:f>
                      <m:fPr>
                        <m:type m:val="lin"/>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fPr>
                      <m:num>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num>
                      <m:den>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sSup>
                          <m:sSupPr>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pPr>
                          <m:e>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𝑒</m:t>
                            </m:r>
                          </m:e>
                          <m:sup>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𝑥</m:t>
                                </m:r>
                              </m:e>
                              <m:sub>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𝑤</m:t>
                                </m:r>
                              </m:sub>
                            </m:sSub>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𝑖</m:t>
                                </m:r>
                              </m:sub>
                            </m:sSub>
                          </m:sup>
                        </m:sSup>
                        <m:r>
                          <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den>
                    </m:f>
                  </m:oMath>
                </a14:m>
                <a:endParaRPr kumimoji="0" lang="en-US" altLang="zh-CN" sz="22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870899" y="4559293"/>
                <a:ext cx="8398234" cy="1968872"/>
              </a:xfrm>
              <a:prstGeom prst="rect">
                <a:avLst/>
              </a:prstGeom>
              <a:blipFill>
                <a:blip r:embed="rId5"/>
                <a:stretch>
                  <a:fillRect l="-943" t="-4334" r="-4282" b="-23220"/>
                </a:stretch>
              </a:blipFill>
            </p:spPr>
            <p:txBody>
              <a:bodyPr/>
              <a:lstStyle/>
              <a:p>
                <a:r>
                  <a:rPr lang="zh-CN" altLang="en-US">
                    <a:noFill/>
                  </a:rPr>
                  <a:t> </a:t>
                </a:r>
              </a:p>
            </p:txBody>
          </p:sp>
        </mc:Fallback>
      </mc:AlternateContent>
      <p:cxnSp>
        <p:nvCxnSpPr>
          <p:cNvPr id="3" name="直接箭头连接符 2"/>
          <p:cNvCxnSpPr>
            <a:stCxn id="6" idx="0"/>
          </p:cNvCxnSpPr>
          <p:nvPr/>
        </p:nvCxnSpPr>
        <p:spPr>
          <a:xfrm flipH="1">
            <a:off x="3766222" y="923108"/>
            <a:ext cx="1001229" cy="15657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6" idx="0"/>
          </p:cNvCxnSpPr>
          <p:nvPr/>
        </p:nvCxnSpPr>
        <p:spPr>
          <a:xfrm>
            <a:off x="4767451" y="923108"/>
            <a:ext cx="1388645" cy="160058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6" idx="0"/>
          </p:cNvCxnSpPr>
          <p:nvPr/>
        </p:nvCxnSpPr>
        <p:spPr>
          <a:xfrm>
            <a:off x="4767451" y="923108"/>
            <a:ext cx="32535" cy="914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6" idx="0"/>
          </p:cNvCxnSpPr>
          <p:nvPr/>
        </p:nvCxnSpPr>
        <p:spPr>
          <a:xfrm flipH="1">
            <a:off x="3135030" y="923108"/>
            <a:ext cx="1632421" cy="21719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6" idx="0"/>
          </p:cNvCxnSpPr>
          <p:nvPr/>
        </p:nvCxnSpPr>
        <p:spPr>
          <a:xfrm>
            <a:off x="4767451" y="923108"/>
            <a:ext cx="2389874" cy="2286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文本框 29"/>
              <p:cNvSpPr txBox="1"/>
              <p:nvPr/>
            </p:nvSpPr>
            <p:spPr>
              <a:xfrm>
                <a:off x="5829611" y="1492567"/>
                <a:ext cx="652968" cy="461665"/>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dirty="0">
                              <a:ln>
                                <a:noFill/>
                              </a:ln>
                              <a:solidFill>
                                <a:srgbClr val="FF0000"/>
                              </a:solidFill>
                              <a:effectLst/>
                              <a:uLnTx/>
                              <a:uFillTx/>
                              <a:latin typeface="Cambria Math" panose="02040503050406030204" pitchFamily="18" charset="0"/>
                              <a:cs typeface="+mn-cs"/>
                            </a:rPr>
                            <m:t>𝜃</m:t>
                          </m:r>
                        </m:e>
                        <m:sub>
                          <m:r>
                            <a:rPr kumimoji="0" lang="en-US" altLang="zh-CN" sz="2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t>𝑖</m:t>
                          </m:r>
                        </m:sub>
                      </m:sSub>
                    </m:oMath>
                  </m:oMathPara>
                </a14:m>
                <a:endParaRPr kumimoji="0" lang="zh-CN" altLang="en-US" sz="24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5829611" y="1492567"/>
                <a:ext cx="652968" cy="461665"/>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p:cNvSpPr txBox="1"/>
              <p:nvPr/>
            </p:nvSpPr>
            <p:spPr>
              <a:xfrm>
                <a:off x="9505222" y="2299055"/>
                <a:ext cx="652968" cy="461665"/>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sub>
                      </m:sSub>
                    </m:oMath>
                  </m:oMathPara>
                </a14:m>
                <a:endParaRPr kumimoji="0" lang="zh-CN" altLang="en-US"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42" name="文本框 41"/>
              <p:cNvSpPr txBox="1">
                <a:spLocks noRot="1" noChangeAspect="1" noMove="1" noResize="1" noEditPoints="1" noAdjustHandles="1" noChangeArrowheads="1" noChangeShapeType="1" noTextEdit="1"/>
              </p:cNvSpPr>
              <p:nvPr/>
            </p:nvSpPr>
            <p:spPr>
              <a:xfrm>
                <a:off x="9505222" y="2299055"/>
                <a:ext cx="652968" cy="461665"/>
              </a:xfrm>
              <a:prstGeom prst="rect">
                <a:avLst/>
              </a:prstGeom>
              <a:blipFill>
                <a:blip r:embed="rId7"/>
                <a:stretch>
                  <a:fillRect/>
                </a:stretch>
              </a:blipFill>
              <a:ln>
                <a:noFill/>
              </a:ln>
            </p:spPr>
            <p:txBody>
              <a:bodyPr/>
              <a:lstStyle/>
              <a:p>
                <a:r>
                  <a:rPr lang="zh-CN" altLang="en-US">
                    <a:noFill/>
                  </a:rPr>
                  <a:t> </a:t>
                </a:r>
              </a:p>
            </p:txBody>
          </p:sp>
        </mc:Fallback>
      </mc:AlternateContent>
      <p:sp>
        <p:nvSpPr>
          <p:cNvPr id="15" name="矩形 14"/>
          <p:cNvSpPr/>
          <p:nvPr/>
        </p:nvSpPr>
        <p:spPr>
          <a:xfrm>
            <a:off x="1938784" y="1429195"/>
            <a:ext cx="6082789" cy="2982009"/>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椭圆 15"/>
          <p:cNvSpPr>
            <a:spLocks noChangeArrowheads="1"/>
          </p:cNvSpPr>
          <p:nvPr/>
        </p:nvSpPr>
        <p:spPr bwMode="auto">
          <a:xfrm>
            <a:off x="9182773" y="2036882"/>
            <a:ext cx="180000" cy="180000"/>
          </a:xfrm>
          <a:prstGeom prst="ellipse">
            <a:avLst/>
          </a:prstGeom>
          <a:noFill/>
          <a:ln w="285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7" name="椭圆 16"/>
          <p:cNvSpPr>
            <a:spLocks noChangeArrowheads="1"/>
          </p:cNvSpPr>
          <p:nvPr/>
        </p:nvSpPr>
        <p:spPr bwMode="auto">
          <a:xfrm>
            <a:off x="8755753" y="2895456"/>
            <a:ext cx="180000" cy="180000"/>
          </a:xfrm>
          <a:prstGeom prst="ellipse">
            <a:avLst/>
          </a:prstGeom>
          <a:noFill/>
          <a:ln w="285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8" name="椭圆 17"/>
          <p:cNvSpPr>
            <a:spLocks noChangeArrowheads="1"/>
          </p:cNvSpPr>
          <p:nvPr/>
        </p:nvSpPr>
        <p:spPr bwMode="auto">
          <a:xfrm>
            <a:off x="9632423" y="2902989"/>
            <a:ext cx="180000" cy="180000"/>
          </a:xfrm>
          <a:prstGeom prst="ellipse">
            <a:avLst/>
          </a:prstGeom>
          <a:noFill/>
          <a:ln w="285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9" name="标题 6"/>
          <p:cNvSpPr txBox="1">
            <a:spLocks/>
          </p:cNvSpPr>
          <p:nvPr/>
        </p:nvSpPr>
        <p:spPr>
          <a:xfrm>
            <a:off x="9245298" y="2715511"/>
            <a:ext cx="517020" cy="446276"/>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rPr>
              <a:t>…</a:t>
            </a:r>
            <a:endPar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mc:AlternateContent xmlns:mc="http://schemas.openxmlformats.org/markup-compatibility/2006" xmlns:a14="http://schemas.microsoft.com/office/drawing/2010/main">
        <mc:Choice Requires="a14">
          <p:sp>
            <p:nvSpPr>
              <p:cNvPr id="22" name="标题 6"/>
              <p:cNvSpPr txBox="1">
                <a:spLocks/>
              </p:cNvSpPr>
              <p:nvPr/>
            </p:nvSpPr>
            <p:spPr>
              <a:xfrm>
                <a:off x="9047542" y="3025626"/>
                <a:ext cx="551818"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𝑥</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𝑤</m:t>
                          </m:r>
                        </m:sub>
                      </m:sSub>
                    </m:oMath>
                  </m:oMathPara>
                </a14:m>
                <a:endParaRPr kumimoji="0" lang="zh-CN" altLang="en-US" sz="2000" b="1"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mc:Choice>
        <mc:Fallback xmlns="">
          <p:sp>
            <p:nvSpPr>
              <p:cNvPr id="22" name="标题 6"/>
              <p:cNvSpPr txBox="1">
                <a:spLocks noRot="1" noChangeAspect="1" noMove="1" noResize="1" noEditPoints="1" noAdjustHandles="1" noChangeArrowheads="1" noChangeShapeType="1" noTextEdit="1"/>
              </p:cNvSpPr>
              <p:nvPr/>
            </p:nvSpPr>
            <p:spPr>
              <a:xfrm>
                <a:off x="9047542" y="3025626"/>
                <a:ext cx="551818" cy="446276"/>
              </a:xfrm>
              <a:prstGeom prst="rect">
                <a:avLst/>
              </a:prstGeom>
              <a:blipFill>
                <a:blip r:embed="rId8"/>
                <a:stretch>
                  <a:fillRect/>
                </a:stretch>
              </a:blipFill>
            </p:spPr>
            <p:txBody>
              <a:bodyPr/>
              <a:lstStyle/>
              <a:p>
                <a:r>
                  <a:rPr lang="zh-CN" altLang="en-US">
                    <a:noFill/>
                  </a:rPr>
                  <a:t> </a:t>
                </a:r>
              </a:p>
            </p:txBody>
          </p:sp>
        </mc:Fallback>
      </mc:AlternateContent>
      <p:cxnSp>
        <p:nvCxnSpPr>
          <p:cNvPr id="23" name="直接箭头连接符 22"/>
          <p:cNvCxnSpPr>
            <a:stCxn id="17" idx="0"/>
            <a:endCxn id="16" idx="4"/>
          </p:cNvCxnSpPr>
          <p:nvPr/>
        </p:nvCxnSpPr>
        <p:spPr>
          <a:xfrm flipV="1">
            <a:off x="8845753" y="2216882"/>
            <a:ext cx="427020" cy="67857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18" idx="0"/>
            <a:endCxn id="16" idx="4"/>
          </p:cNvCxnSpPr>
          <p:nvPr/>
        </p:nvCxnSpPr>
        <p:spPr>
          <a:xfrm flipH="1" flipV="1">
            <a:off x="9272773" y="2216882"/>
            <a:ext cx="449650" cy="686107"/>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p:cNvCxnSpPr/>
          <p:nvPr/>
        </p:nvCxnSpPr>
        <p:spPr>
          <a:xfrm flipV="1">
            <a:off x="9269133" y="1587269"/>
            <a:ext cx="0" cy="438798"/>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6" name="椭圆 35"/>
          <p:cNvSpPr>
            <a:spLocks noChangeArrowheads="1"/>
          </p:cNvSpPr>
          <p:nvPr/>
        </p:nvSpPr>
        <p:spPr bwMode="auto">
          <a:xfrm>
            <a:off x="9053001" y="2893955"/>
            <a:ext cx="180000" cy="180000"/>
          </a:xfrm>
          <a:prstGeom prst="ellipse">
            <a:avLst/>
          </a:prstGeom>
          <a:noFill/>
          <a:ln w="28575" algn="ctr">
            <a:solidFill>
              <a:schemeClr val="tx1"/>
            </a:solidFill>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37" name="直接箭头连接符 36"/>
          <p:cNvCxnSpPr>
            <a:stCxn id="36" idx="0"/>
            <a:endCxn id="16" idx="4"/>
          </p:cNvCxnSpPr>
          <p:nvPr/>
        </p:nvCxnSpPr>
        <p:spPr>
          <a:xfrm flipV="1">
            <a:off x="9143001" y="2216882"/>
            <a:ext cx="129772" cy="677073"/>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1" name="标题 6"/>
          <p:cNvSpPr txBox="1">
            <a:spLocks/>
          </p:cNvSpPr>
          <p:nvPr/>
        </p:nvSpPr>
        <p:spPr>
          <a:xfrm>
            <a:off x="9323451" y="1633744"/>
            <a:ext cx="1037463"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rPr>
              <a:t>sigmoid</a:t>
            </a:r>
            <a:endPar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p:cxnSp>
        <p:nvCxnSpPr>
          <p:cNvPr id="43" name="直接箭头连接符 42"/>
          <p:cNvCxnSpPr/>
          <p:nvPr/>
        </p:nvCxnSpPr>
        <p:spPr>
          <a:xfrm flipH="1">
            <a:off x="7355081" y="2488876"/>
            <a:ext cx="1161391" cy="67291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8605807" y="1482451"/>
            <a:ext cx="1755108" cy="1989452"/>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 name="矩形 48"/>
              <p:cNvSpPr/>
              <p:nvPr/>
            </p:nvSpPr>
            <p:spPr>
              <a:xfrm>
                <a:off x="8888226" y="3653713"/>
                <a:ext cx="1327222" cy="37029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𝜎</m:t>
                      </m:r>
                      <m:d>
                        <m:dPr>
                          <m:ctrlP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dPr>
                        <m:e>
                          <m:sSub>
                            <m:sSubPr>
                              <m:ctrlP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𝑤</m:t>
                              </m:r>
                            </m:sub>
                          </m:sSub>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p>
                          </m:sSubSup>
                        </m:e>
                      </m:d>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49" name="矩形 48"/>
              <p:cNvSpPr>
                <a:spLocks noRot="1" noChangeAspect="1" noMove="1" noResize="1" noEditPoints="1" noAdjustHandles="1" noChangeArrowheads="1" noChangeShapeType="1" noTextEdit="1"/>
              </p:cNvSpPr>
              <p:nvPr/>
            </p:nvSpPr>
            <p:spPr>
              <a:xfrm>
                <a:off x="8888226" y="3653713"/>
                <a:ext cx="1327222" cy="37029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内容占位符 2"/>
              <p:cNvSpPr txBox="1">
                <a:spLocks/>
              </p:cNvSpPr>
              <p:nvPr/>
            </p:nvSpPr>
            <p:spPr>
              <a:xfrm>
                <a:off x="3951240" y="3109170"/>
                <a:ext cx="7498080" cy="1383591"/>
              </a:xfrm>
              <a:prstGeom prst="rect">
                <a:avLst/>
              </a:prstGeom>
              <a:solidFill>
                <a:schemeClr val="accent1">
                  <a:lumMod val="20000"/>
                  <a:lumOff val="80000"/>
                </a:schemeClr>
              </a:solidFill>
            </p:spPr>
            <p:txBody>
              <a:bodyPr vert="horz">
                <a:normAutofit/>
              </a:bodyPr>
              <a:lstStyle>
                <a:lvl1pPr marL="274320" indent="-274320" algn="l" rtl="0" eaLnBrk="1" latinLnBrk="0" hangingPunct="1">
                  <a:spcBef>
                    <a:spcPts val="580"/>
                  </a:spcBef>
                  <a:buClr>
                    <a:schemeClr val="accent1"/>
                  </a:buClr>
                  <a:buSzPct val="85000"/>
                  <a:buFontTx/>
                  <a:buBlip>
                    <a:blip r:embed="rId10"/>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最大化</a:t>
                </a: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a:t>
                </a:r>
                <a:r>
                  <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oMath>
                </a14:m>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为例</a:t>
                </a:r>
                <a:r>
                  <a:rPr kumimoji="0" lang="en-US" altLang="zh-CN"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a:t>
                </a: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r>
                  <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14:m>
                  <m:oMath xmlns:m="http://schemas.openxmlformats.org/officeDocument/2006/math">
                    <m:nary>
                      <m:naryPr>
                        <m:chr m:val="∏"/>
                        <m:ctrlP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3</m:t>
                        </m:r>
                      </m:sup>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𝑝</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𝑛</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e>
                    </m:nary>
                  </m:oMath>
                </a14:m>
                <a:endPar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cs typeface="+mn-cs"/>
                </a:endParaRPr>
              </a:p>
              <a:p>
                <a:pPr marL="0" marR="0" lvl="0" indent="0" algn="l" defTabSz="914400" rtl="0" eaLnBrk="1" fontAlgn="auto" latinLnBrk="0" hangingPunct="1">
                  <a:lnSpc>
                    <a:spcPct val="100000"/>
                  </a:lnSpc>
                  <a:spcBef>
                    <a:spcPts val="580"/>
                  </a:spcBef>
                  <a:spcAft>
                    <a:spcPts val="0"/>
                  </a:spcAft>
                  <a:buClr>
                    <a:srgbClr val="D34817"/>
                  </a:buClr>
                  <a:buSzPct val="85000"/>
                  <a:buFontTx/>
                  <a:buNone/>
                  <a:tabLst/>
                  <a:defRPr/>
                </a:pPr>
                <a14:m>
                  <m:oMathPara xmlns:m="http://schemas.openxmlformats.org/officeDocument/2006/math">
                    <m:oMathParaPr>
                      <m:jc m:val="left"/>
                    </m:oMathParaPr>
                    <m:oMath xmlns:m="http://schemas.openxmlformats.org/officeDocument/2006/math">
                      <m:r>
                        <a:rPr kumimoji="0" lang="en-US" altLang="zh-CN" sz="2000" b="0" i="0"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f>
                            <m:fPr>
                              <m:type m:val="lin"/>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num>
                            <m:den>
                              <m:d>
                                <m:d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sSup>
                                    <m:sSup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p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𝑒</m:t>
                                      </m:r>
                                    </m:e>
                                    <m:sup>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𝑤</m:t>
                                          </m:r>
                                        </m:sub>
                                      </m:sSub>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sub>
                                      </m:sSub>
                                    </m:sup>
                                  </m:sSup>
                                </m:e>
                              </m:d>
                            </m:den>
                          </m:f>
                        </m:e>
                      </m:d>
                      <m:d>
                        <m:dPr>
                          <m:begChr m:val="["/>
                          <m:endChr m:val="]"/>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f>
                            <m:fPr>
                              <m:type m:val="lin"/>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num>
                            <m:den>
                              <m:d>
                                <m:d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sSup>
                                    <m:sSup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p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𝑒</m:t>
                                      </m:r>
                                    </m:e>
                                    <m:sup>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𝑤</m:t>
                                          </m:r>
                                        </m:sub>
                                      </m:sSub>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2</m:t>
                                          </m:r>
                                        </m:sub>
                                      </m:sSub>
                                    </m:sup>
                                  </m:sSup>
                                </m:e>
                              </m:d>
                            </m:den>
                          </m:f>
                        </m:e>
                      </m:d>
                      <m:d>
                        <m:dPr>
                          <m:begChr m:val="["/>
                          <m:endChr m:val="]"/>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f>
                            <m:fPr>
                              <m:type m:val="lin"/>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num>
                            <m:den>
                              <m:d>
                                <m:d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1+</m:t>
                                  </m:r>
                                  <m:sSup>
                                    <m:sSup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p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𝑒</m:t>
                                      </m:r>
                                    </m:e>
                                    <m:sup>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𝑤</m:t>
                                          </m:r>
                                        </m:sub>
                                      </m:sSub>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𝜃</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3</m:t>
                                          </m:r>
                                        </m:sub>
                                      </m:sSub>
                                    </m:sup>
                                  </m:sSup>
                                </m:e>
                              </m:d>
                            </m:den>
                          </m:f>
                        </m:e>
                      </m:d>
                    </m:oMath>
                  </m:oMathPara>
                </a14:m>
                <a:endParaRPr kumimoji="0" lang="zh-CN" altLang="en-US" sz="20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10" name="内容占位符 2"/>
              <p:cNvSpPr txBox="1">
                <a:spLocks noRot="1" noChangeAspect="1" noMove="1" noResize="1" noEditPoints="1" noAdjustHandles="1" noChangeArrowheads="1" noChangeShapeType="1" noTextEdit="1"/>
              </p:cNvSpPr>
              <p:nvPr/>
            </p:nvSpPr>
            <p:spPr>
              <a:xfrm>
                <a:off x="3951240" y="3109170"/>
                <a:ext cx="7498080" cy="1383591"/>
              </a:xfrm>
              <a:prstGeom prst="rect">
                <a:avLst/>
              </a:prstGeom>
              <a:blipFill>
                <a:blip r:embed="rId11"/>
                <a:stretch>
                  <a:fillRect l="-1138" t="-7930" b="-330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633917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xEl>
                                              <p:pRg st="1" end="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xEl>
                                              <p:pRg st="2" end="2"/>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xEl>
                                              <p:pRg st="3" end="3"/>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0" grpId="0"/>
      <p:bldP spid="42" grpId="0"/>
      <p:bldP spid="15" grpId="0" animBg="1"/>
      <p:bldP spid="16" grpId="0" animBg="1"/>
      <p:bldP spid="17" grpId="0" animBg="1"/>
      <p:bldP spid="18" grpId="0" animBg="1"/>
      <p:bldP spid="19" grpId="0"/>
      <p:bldP spid="22" grpId="0"/>
      <p:bldP spid="36" grpId="0" animBg="1"/>
      <p:bldP spid="41" grpId="0"/>
      <p:bldP spid="48" grpId="0" animBg="1"/>
      <p:bldP spid="49" grpId="0"/>
      <p:bldP spid="10"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40523" y="274638"/>
            <a:ext cx="10363200" cy="1143000"/>
          </a:xfrm>
        </p:spPr>
        <p:txBody>
          <a:bodyPr/>
          <a:lstStyle/>
          <a:p>
            <a:r>
              <a:rPr lang="zh-CN" altLang="en-US" dirty="0"/>
              <a:t>一般性描述</a:t>
            </a:r>
          </a:p>
        </p:txBody>
      </p:sp>
      <p:pic>
        <p:nvPicPr>
          <p:cNvPr id="4" name="内容占位符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6530" y="1069295"/>
            <a:ext cx="5111932" cy="4033928"/>
          </a:xfrm>
          <a:prstGeom prst="rect">
            <a:avLst/>
          </a:prstGeom>
        </p:spPr>
      </p:pic>
      <mc:AlternateContent xmlns:mc="http://schemas.openxmlformats.org/markup-compatibility/2006" xmlns:a14="http://schemas.microsoft.com/office/drawing/2010/main">
        <mc:Choice Requires="a14">
          <p:sp>
            <p:nvSpPr>
              <p:cNvPr id="3" name="内容占位符 2"/>
              <p:cNvSpPr>
                <a:spLocks noGrp="1"/>
              </p:cNvSpPr>
              <p:nvPr>
                <p:ph sz="quarter" idx="1"/>
              </p:nvPr>
            </p:nvSpPr>
            <p:spPr>
              <a:xfrm>
                <a:off x="836020" y="1069295"/>
                <a:ext cx="7071363" cy="5523094"/>
              </a:xfrm>
            </p:spPr>
            <p:txBody>
              <a:bodyPr>
                <a:normAutofit/>
              </a:bodyPr>
              <a:lstStyle/>
              <a:p>
                <a:endParaRPr lang="en-US" altLang="zh-CN" i="1" dirty="0">
                  <a:latin typeface="Cambria Math" panose="02040503050406030204" pitchFamily="18" charset="0"/>
                </a:endParaRPr>
              </a:p>
              <a:p>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𝑙</m:t>
                        </m:r>
                      </m:e>
                      <m:sub>
                        <m:r>
                          <a:rPr lang="en-US" altLang="zh-CN" i="1">
                            <a:latin typeface="Cambria Math" panose="02040503050406030204" pitchFamily="18" charset="0"/>
                          </a:rPr>
                          <m:t>𝑤</m:t>
                        </m:r>
                      </m:sub>
                    </m:sSub>
                  </m:oMath>
                </a14:m>
                <a:r>
                  <a:rPr lang="zh-CN" altLang="en-US" dirty="0"/>
                  <a:t>：到达叶节点</a:t>
                </a:r>
                <a:r>
                  <a:rPr lang="en-US" altLang="zh-CN" dirty="0"/>
                  <a:t>w</a:t>
                </a:r>
                <a:r>
                  <a:rPr lang="zh-CN" altLang="en-US" dirty="0"/>
                  <a:t>经过</a:t>
                </a:r>
                <a14:m>
                  <m:oMath xmlns:m="http://schemas.openxmlformats.org/officeDocument/2006/math">
                    <m:r>
                      <a:rPr lang="zh-CN" altLang="en-US" i="1" dirty="0">
                        <a:latin typeface="Cambria Math" panose="02040503050406030204" pitchFamily="18" charset="0"/>
                      </a:rPr>
                      <m:t>的</m:t>
                    </m:r>
                  </m:oMath>
                </a14:m>
                <a:r>
                  <a:rPr lang="zh-CN" altLang="en-US" dirty="0"/>
                  <a:t>节点数</a:t>
                </a:r>
                <a:endParaRPr lang="en-US" altLang="zh-CN" dirty="0"/>
              </a:p>
              <a:p>
                <a:pPr lvl="1"/>
                <a:r>
                  <a:rPr lang="zh-CN" altLang="en-US" dirty="0"/>
                  <a:t>（根节点为经过的第一个节点）</a:t>
                </a:r>
                <a:endParaRPr lang="en-US" altLang="zh-CN" dirty="0"/>
              </a:p>
              <a:p>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𝑤</m:t>
                        </m:r>
                      </m:sup>
                    </m:sSubSup>
                  </m:oMath>
                </a14:m>
                <a:r>
                  <a:rPr lang="zh-CN" altLang="en-US" dirty="0"/>
                  <a:t>：经过的第</a:t>
                </a:r>
                <a:r>
                  <a:rPr lang="en-US" altLang="zh-CN" dirty="0" err="1"/>
                  <a:t>i</a:t>
                </a:r>
                <a:r>
                  <a:rPr lang="zh-CN" altLang="en-US" dirty="0"/>
                  <a:t>个节点概率（父节点到该节</a:t>
                </a:r>
                <a:endParaRPr lang="en-US" altLang="zh-CN" dirty="0"/>
              </a:p>
              <a:p>
                <a:pPr marL="0" indent="0">
                  <a:buNone/>
                </a:pPr>
                <a:r>
                  <a:rPr lang="en-US" altLang="zh-CN" dirty="0"/>
                  <a:t>   </a:t>
                </a:r>
                <a:r>
                  <a:rPr lang="zh-CN" altLang="en-US" dirty="0"/>
                  <a:t>点的概率），对应霍夫曼编码为</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𝑑</m:t>
                        </m:r>
                      </m:e>
                      <m:sub>
                        <m:r>
                          <a:rPr lang="en-US" altLang="zh-CN" i="1">
                            <a:latin typeface="Cambria Math" panose="02040503050406030204" pitchFamily="18" charset="0"/>
                          </a:rPr>
                          <m:t>𝑖</m:t>
                        </m:r>
                      </m:sub>
                      <m:sup>
                        <m:r>
                          <a:rPr lang="en-US" altLang="zh-CN" i="1">
                            <a:latin typeface="Cambria Math" panose="02040503050406030204" pitchFamily="18" charset="0"/>
                          </a:rPr>
                          <m:t>𝑤</m:t>
                        </m:r>
                      </m:sup>
                    </m:sSubSup>
                    <m:r>
                      <a:rPr lang="zh-CN" altLang="en-US" i="1" smtClean="0">
                        <a:latin typeface="Cambria Math" panose="02040503050406030204" pitchFamily="18" charset="0"/>
                      </a:rPr>
                      <m:t>𝜖</m:t>
                    </m:r>
                    <m:r>
                      <a:rPr lang="en-US" altLang="zh-CN" b="0" i="1" smtClean="0">
                        <a:latin typeface="Cambria Math" panose="02040503050406030204" pitchFamily="18" charset="0"/>
                      </a:rPr>
                      <m:t>{0,1}</m:t>
                    </m:r>
                  </m:oMath>
                </a14:m>
                <a:endParaRPr lang="en-US" altLang="zh-CN" dirty="0"/>
              </a:p>
              <a:p>
                <a:pPr lvl="1"/>
                <a:r>
                  <a:rPr lang="en-US" altLang="zh-CN" dirty="0" err="1"/>
                  <a:t>i</a:t>
                </a:r>
                <a:r>
                  <a:rPr lang="en-US" altLang="zh-CN" dirty="0"/>
                  <a:t>=2,3,…,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𝑙</m:t>
                        </m:r>
                      </m:e>
                      <m:sub>
                        <m:r>
                          <a:rPr lang="en-US" altLang="zh-CN" i="1">
                            <a:latin typeface="Cambria Math" panose="02040503050406030204" pitchFamily="18" charset="0"/>
                          </a:rPr>
                          <m:t>𝑤</m:t>
                        </m:r>
                      </m:sub>
                    </m:sSub>
                  </m:oMath>
                </a14:m>
                <a:r>
                  <a:rPr lang="en-US" altLang="zh-CN" dirty="0"/>
                  <a:t>, </a:t>
                </a:r>
                <a:r>
                  <a:rPr lang="zh-CN" altLang="en-US" dirty="0"/>
                  <a:t>根节点不对应编码</a:t>
                </a:r>
                <a:endParaRPr lang="en-US" altLang="zh-CN" dirty="0"/>
              </a:p>
              <a:p>
                <a14:m>
                  <m:oMath xmlns:m="http://schemas.openxmlformats.org/officeDocument/2006/math">
                    <m:sSubSup>
                      <m:sSubSupPr>
                        <m:ctrlPr>
                          <a:rPr lang="en-US" altLang="zh-CN" i="1">
                            <a:latin typeface="Cambria Math" panose="02040503050406030204" pitchFamily="18" charset="0"/>
                          </a:rPr>
                        </m:ctrlPr>
                      </m:sSubSupPr>
                      <m:e>
                        <m:r>
                          <a:rPr lang="en-US" altLang="zh-CN" i="1" dirty="0">
                            <a:latin typeface="Cambria Math" panose="02040503050406030204" pitchFamily="18" charset="0"/>
                          </a:rPr>
                          <m:t>𝜃</m:t>
                        </m:r>
                      </m:e>
                      <m:sub>
                        <m:r>
                          <a:rPr lang="en-US" altLang="zh-CN" i="1">
                            <a:latin typeface="Cambria Math" panose="02040503050406030204" pitchFamily="18" charset="0"/>
                          </a:rPr>
                          <m:t>𝑖</m:t>
                        </m:r>
                      </m:sub>
                      <m:sup>
                        <m:r>
                          <a:rPr lang="en-US" altLang="zh-CN" i="1">
                            <a:latin typeface="Cambria Math" panose="02040503050406030204" pitchFamily="18" charset="0"/>
                          </a:rPr>
                          <m:t>𝑤</m:t>
                        </m:r>
                      </m:sup>
                    </m:sSubSup>
                  </m:oMath>
                </a14:m>
                <a:r>
                  <a:rPr lang="zh-CN" altLang="en-US" dirty="0"/>
                  <a:t>：</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𝑤</m:t>
                        </m:r>
                      </m:sup>
                    </m:sSubSup>
                  </m:oMath>
                </a14:m>
                <a:r>
                  <a:rPr lang="zh-CN" altLang="en-US" dirty="0"/>
                  <a:t>对应的模型参数（</a:t>
                </a:r>
                <a:r>
                  <a:rPr lang="en-US" altLang="zh-CN" dirty="0" err="1"/>
                  <a:t>i</a:t>
                </a:r>
                <a:r>
                  <a:rPr lang="en-US" altLang="zh-CN" dirty="0"/>
                  <a:t>=1,2,…,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𝑙</m:t>
                        </m:r>
                      </m:e>
                      <m:sub>
                        <m:r>
                          <a:rPr lang="en-US" altLang="zh-CN" i="1">
                            <a:latin typeface="Cambria Math" panose="02040503050406030204" pitchFamily="18" charset="0"/>
                          </a:rPr>
                          <m:t>𝑤</m:t>
                        </m:r>
                      </m:sub>
                    </m:sSub>
                  </m:oMath>
                </a14:m>
                <a:r>
                  <a:rPr lang="en-US" altLang="zh-CN" dirty="0"/>
                  <a:t>-1</a:t>
                </a:r>
                <a:r>
                  <a:rPr lang="zh-CN" altLang="en-US" dirty="0"/>
                  <a:t>）</a:t>
                </a:r>
                <a:endParaRPr lang="en-US" altLang="zh-CN" dirty="0"/>
              </a:p>
              <a:p>
                <a:pPr>
                  <a:spcBef>
                    <a:spcPts val="1200"/>
                  </a:spcBef>
                </a:pPr>
                <a:r>
                  <a:rPr lang="en-US" altLang="zh-CN" dirty="0"/>
                  <a:t>W</a:t>
                </a:r>
                <a:r>
                  <a:rPr lang="zh-CN" altLang="en-US" dirty="0"/>
                  <a:t>经过霍夫曼树每个节点时的概率为：</a:t>
                </a:r>
                <a:endParaRPr lang="en-US" altLang="zh-CN" dirty="0"/>
              </a:p>
              <a:p>
                <a:pPr marL="0" indent="0">
                  <a:buNone/>
                </a:pPr>
                <a:r>
                  <a:rPr lang="en-US" altLang="zh-CN" b="0" dirty="0"/>
                  <a:t>     </a:t>
                </a:r>
                <a14:m>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𝑖</m:t>
                            </m:r>
                          </m:sub>
                          <m:sup>
                            <m:r>
                              <a:rPr lang="en-US" altLang="zh-CN" i="1">
                                <a:latin typeface="Cambria Math" panose="02040503050406030204" pitchFamily="18" charset="0"/>
                              </a:rPr>
                              <m:t>𝑤</m:t>
                            </m:r>
                          </m:sup>
                        </m:sSubSup>
                      </m:e>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𝑤</m:t>
                            </m:r>
                          </m:sub>
                        </m:sSub>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dirty="0">
                                <a:latin typeface="Cambria Math" panose="02040503050406030204" pitchFamily="18" charset="0"/>
                              </a:rPr>
                              <m:t>𝜃</m:t>
                            </m:r>
                          </m:e>
                          <m:sub>
                            <m:r>
                              <a:rPr lang="en-US" altLang="zh-CN" i="1">
                                <a:latin typeface="Cambria Math" panose="02040503050406030204" pitchFamily="18" charset="0"/>
                              </a:rPr>
                              <m:t>𝑖</m:t>
                            </m:r>
                            <m:r>
                              <a:rPr lang="en-US" altLang="zh-CN" b="0" i="1" smtClean="0">
                                <a:latin typeface="Cambria Math" panose="02040503050406030204" pitchFamily="18" charset="0"/>
                              </a:rPr>
                              <m:t>−1</m:t>
                            </m:r>
                          </m:sub>
                          <m:sup>
                            <m:r>
                              <a:rPr lang="en-US" altLang="zh-CN" i="1">
                                <a:latin typeface="Cambria Math" panose="02040503050406030204" pitchFamily="18" charset="0"/>
                              </a:rPr>
                              <m:t>𝑤</m:t>
                            </m:r>
                          </m:sup>
                        </m:sSubSup>
                      </m:e>
                    </m:d>
                    <m:r>
                      <a:rPr lang="en-US" altLang="zh-CN" b="0" i="0"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zh-CN" altLang="en-US" i="1" dirty="0">
                                <a:latin typeface="Cambria Math" panose="02040503050406030204" pitchFamily="18" charset="0"/>
                              </a:rPr>
                              <m:t>𝜎</m:t>
                            </m:r>
                            <m:d>
                              <m:dPr>
                                <m:ctrlPr>
                                  <a:rPr lang="en-US" altLang="zh-CN" i="1" dirty="0">
                                    <a:latin typeface="Cambria Math" panose="02040503050406030204" pitchFamily="18" charset="0"/>
                                  </a:rPr>
                                </m:ctrlPr>
                              </m:dPr>
                              <m:e>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𝑤</m:t>
                                    </m:r>
                                  </m:sub>
                                </m:sSub>
                                <m:r>
                                  <a:rPr lang="en-US" altLang="zh-CN" i="1" dirty="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dirty="0">
                                        <a:latin typeface="Cambria Math" panose="02040503050406030204" pitchFamily="18" charset="0"/>
                                      </a:rPr>
                                      <m:t>𝜃</m:t>
                                    </m:r>
                                  </m:e>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𝑤</m:t>
                                    </m:r>
                                  </m:sup>
                                </m:sSubSup>
                              </m:e>
                            </m:d>
                            <m:r>
                              <a:rPr lang="en-US" altLang="zh-CN" b="0" i="1" dirty="0" smtClean="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𝑖</m:t>
                                </m:r>
                              </m:sub>
                              <m:sup>
                                <m:r>
                                  <a:rPr lang="en-US" altLang="zh-CN" i="1">
                                    <a:latin typeface="Cambria Math" panose="02040503050406030204" pitchFamily="18" charset="0"/>
                                  </a:rPr>
                                  <m:t>𝑤</m:t>
                                </m:r>
                              </m:sup>
                            </m:sSubSup>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r>
                              <a:rPr lang="zh-CN" altLang="en-US" i="1" dirty="0">
                                <a:latin typeface="Cambria Math" panose="02040503050406030204" pitchFamily="18" charset="0"/>
                              </a:rPr>
                              <m:t>𝜎</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𝑤</m:t>
                                    </m:r>
                                  </m:sub>
                                </m:sSub>
                                <m:r>
                                  <a:rPr lang="en-US" altLang="zh-CN" i="1" dirty="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dirty="0">
                                        <a:latin typeface="Cambria Math" panose="02040503050406030204" pitchFamily="18" charset="0"/>
                                      </a:rPr>
                                      <m:t>𝜃</m:t>
                                    </m:r>
                                  </m:e>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𝑤</m:t>
                                    </m:r>
                                  </m:sup>
                                </m:sSubSup>
                              </m:e>
                            </m:d>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    </m:t>
                                </m:r>
                                <m:r>
                                  <a:rPr lang="en-US" altLang="zh-CN" i="1">
                                    <a:latin typeface="Cambria Math" panose="02040503050406030204" pitchFamily="18" charset="0"/>
                                  </a:rPr>
                                  <m:t>𝑑</m:t>
                                </m:r>
                              </m:e>
                              <m:sub>
                                <m:r>
                                  <a:rPr lang="en-US" altLang="zh-CN" i="1">
                                    <a:latin typeface="Cambria Math" panose="02040503050406030204" pitchFamily="18" charset="0"/>
                                  </a:rPr>
                                  <m:t>𝑖</m:t>
                                </m:r>
                              </m:sub>
                              <m:sup>
                                <m:r>
                                  <a:rPr lang="en-US" altLang="zh-CN" i="1">
                                    <a:latin typeface="Cambria Math" panose="02040503050406030204" pitchFamily="18" charset="0"/>
                                  </a:rPr>
                                  <m:t>𝑤</m:t>
                                </m:r>
                              </m:sup>
                            </m:sSubSup>
                            <m:r>
                              <a:rPr lang="en-US" altLang="zh-CN" i="1">
                                <a:latin typeface="Cambria Math" panose="02040503050406030204" pitchFamily="18" charset="0"/>
                              </a:rPr>
                              <m:t>=</m:t>
                            </m:r>
                            <m:r>
                              <a:rPr lang="en-US" altLang="zh-CN" b="0" i="1" smtClean="0">
                                <a:latin typeface="Cambria Math" panose="02040503050406030204" pitchFamily="18" charset="0"/>
                              </a:rPr>
                              <m:t>1</m:t>
                            </m:r>
                          </m:e>
                        </m:eqArr>
                      </m:e>
                    </m:d>
                  </m:oMath>
                </a14:m>
                <a:endParaRPr lang="en-US" altLang="zh-CN" dirty="0"/>
              </a:p>
              <a:p>
                <a:pPr lvl="1"/>
                <a:r>
                  <a:rPr lang="en-US" altLang="zh-CN" dirty="0"/>
                  <a:t>i=2,3,…,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𝑙</m:t>
                        </m:r>
                      </m:e>
                      <m:sub>
                        <m:r>
                          <a:rPr lang="en-US" altLang="zh-CN">
                            <a:latin typeface="Cambria Math" panose="02040503050406030204" pitchFamily="18" charset="0"/>
                          </a:rPr>
                          <m:t>𝑤</m:t>
                        </m:r>
                      </m:sub>
                    </m:sSub>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
              </p:nvPr>
            </p:nvSpPr>
            <p:spPr>
              <a:xfrm>
                <a:off x="836020" y="1069295"/>
                <a:ext cx="7071363" cy="5523094"/>
              </a:xfr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标题 6"/>
              <p:cNvSpPr txBox="1">
                <a:spLocks/>
              </p:cNvSpPr>
              <p:nvPr/>
            </p:nvSpPr>
            <p:spPr>
              <a:xfrm>
                <a:off x="6122123" y="1715945"/>
                <a:ext cx="1778564"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 xmlns:m="http://schemas.openxmlformats.org/officeDocument/2006/math">
                    <m:sSub>
                      <m:sSubPr>
                        <m:ctrlP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rPr>
                          <m:t>𝑤</m:t>
                        </m:r>
                      </m:e>
                      <m:sub>
                        <m:r>
                          <a:rPr kumimoji="0" lang="en-US" altLang="zh-CN" sz="2000" b="1" i="1" u="none" strike="noStrike" kern="1200" cap="none" spc="0" normalizeH="0" baseline="0" noProof="0" smtClean="0">
                            <a:ln>
                              <a:noFill/>
                            </a:ln>
                            <a:solidFill>
                              <a:srgbClr val="FF0000"/>
                            </a:solidFill>
                            <a:effectLst/>
                            <a:uLnTx/>
                            <a:uFillTx/>
                            <a:latin typeface="Cambria Math" panose="02040503050406030204" pitchFamily="18" charset="0"/>
                          </a:rPr>
                          <m:t>𝟐</m:t>
                        </m:r>
                      </m:sub>
                    </m:sSub>
                  </m:oMath>
                </a14:m>
                <a:r>
                  <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经过的节点</a:t>
                </a:r>
              </a:p>
            </p:txBody>
          </p:sp>
        </mc:Choice>
        <mc:Fallback xmlns="">
          <p:sp>
            <p:nvSpPr>
              <p:cNvPr id="5" name="标题 6"/>
              <p:cNvSpPr txBox="1">
                <a:spLocks noRot="1" noChangeAspect="1" noMove="1" noResize="1" noEditPoints="1" noAdjustHandles="1" noChangeArrowheads="1" noChangeShapeType="1" noTextEdit="1"/>
              </p:cNvSpPr>
              <p:nvPr/>
            </p:nvSpPr>
            <p:spPr>
              <a:xfrm>
                <a:off x="6122123" y="1715945"/>
                <a:ext cx="1778564" cy="446276"/>
              </a:xfrm>
              <a:prstGeom prst="rect">
                <a:avLst/>
              </a:prstGeom>
              <a:blipFill>
                <a:blip r:embed="rId5"/>
                <a:stretch>
                  <a:fillRect t="-8108" r="-2740" b="-10811"/>
                </a:stretch>
              </a:blipFill>
            </p:spPr>
            <p:txBody>
              <a:bodyPr/>
              <a:lstStyle/>
              <a:p>
                <a:r>
                  <a:rPr lang="zh-CN" altLang="en-US">
                    <a:noFill/>
                  </a:rPr>
                  <a:t> </a:t>
                </a:r>
              </a:p>
            </p:txBody>
          </p:sp>
        </mc:Fallback>
      </mc:AlternateContent>
      <p:cxnSp>
        <p:nvCxnSpPr>
          <p:cNvPr id="6" name="直接箭头连接符 5"/>
          <p:cNvCxnSpPr/>
          <p:nvPr/>
        </p:nvCxnSpPr>
        <p:spPr>
          <a:xfrm>
            <a:off x="7820297" y="2157539"/>
            <a:ext cx="311883" cy="1269522"/>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7900687" y="1939083"/>
            <a:ext cx="1502341" cy="10922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7907383" y="2048311"/>
            <a:ext cx="614343" cy="584093"/>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597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6"/>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
              </p:nvPr>
            </p:nvSpPr>
            <p:spPr>
              <a:xfrm>
                <a:off x="1854923" y="1099445"/>
                <a:ext cx="9553306" cy="5222967"/>
              </a:xfrm>
            </p:spPr>
            <p:txBody>
              <a:bodyPr>
                <a:normAutofit/>
              </a:bodyPr>
              <a:lstStyle/>
              <a:p>
                <a:pPr marL="0" indent="0">
                  <a:buNone/>
                </a:pPr>
                <a:endParaRPr lang="en-US" altLang="zh-CN" sz="2200" dirty="0"/>
              </a:p>
              <a:p>
                <a:r>
                  <a:rPr lang="en-US" altLang="zh-CN" dirty="0"/>
                  <a:t> </a:t>
                </a:r>
                <a:r>
                  <a:rPr lang="zh-CN" altLang="en-US" dirty="0"/>
                  <a:t>词</a:t>
                </a:r>
                <a:r>
                  <a:rPr lang="en-US" altLang="zh-CN" dirty="0"/>
                  <a:t>w</a:t>
                </a:r>
                <a:r>
                  <a:rPr lang="zh-CN" altLang="en-US" dirty="0"/>
                  <a:t>的最大似然函数：</a:t>
                </a:r>
                <a:endParaRPr lang="en-US" altLang="zh-CN" dirty="0"/>
              </a:p>
              <a:p>
                <a:pPr marL="0" indent="0">
                  <a:buNone/>
                </a:pPr>
                <a14:m>
                  <m:oMathPara xmlns:m="http://schemas.openxmlformats.org/officeDocument/2006/math">
                    <m:oMathParaPr>
                      <m:jc m:val="left"/>
                    </m:oMathParaPr>
                    <m:oMath xmlns:m="http://schemas.openxmlformats.org/officeDocument/2006/math">
                      <m:nary>
                        <m:naryPr>
                          <m:chr m:val="∏"/>
                          <m:ctrlPr>
                            <a:rPr lang="zh-CN" altLang="en-US"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=2</m:t>
                          </m:r>
                        </m:sub>
                        <m: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𝑤</m:t>
                              </m:r>
                            </m:sub>
                          </m:sSub>
                        </m:sup>
                        <m:e>
                          <m:r>
                            <a:rPr lang="en-US" altLang="zh-CN" sz="2400" i="1">
                              <a:latin typeface="Cambria Math" panose="02040503050406030204" pitchFamily="18" charset="0"/>
                            </a:rPr>
                            <m:t>𝑝</m:t>
                          </m:r>
                          <m:d>
                            <m:dPr>
                              <m:ctrlPr>
                                <a:rPr lang="en-US" altLang="zh-CN" sz="2400" i="1">
                                  <a:latin typeface="Cambria Math" panose="02040503050406030204" pitchFamily="18" charset="0"/>
                                </a:rPr>
                              </m:ctrlPr>
                            </m:dPr>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𝑑</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𝑤</m:t>
                                  </m:r>
                                </m:sup>
                              </m:sSubSup>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𝑤</m:t>
                                  </m:r>
                                </m:sub>
                              </m:sSub>
                              <m:r>
                                <a:rPr lang="en-US" altLang="zh-CN"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dirty="0">
                                      <a:latin typeface="Cambria Math" panose="02040503050406030204" pitchFamily="18" charset="0"/>
                                    </a:rPr>
                                    <m:t>𝜃</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𝑤</m:t>
                                  </m:r>
                                </m:sup>
                              </m:sSubSup>
                            </m:e>
                          </m:d>
                        </m:e>
                      </m:nary>
                      <m:r>
                        <a:rPr lang="en-US" altLang="zh-CN" sz="2400" i="1">
                          <a:latin typeface="Cambria Math" panose="02040503050406030204" pitchFamily="18" charset="0"/>
                        </a:rPr>
                        <m:t>=</m:t>
                      </m:r>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=2</m:t>
                          </m:r>
                        </m:sub>
                        <m: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𝑤</m:t>
                              </m:r>
                            </m:sub>
                          </m:sSub>
                        </m:sup>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m:t>
                              </m:r>
                              <m:r>
                                <a:rPr lang="zh-CN" altLang="en-US" sz="2400" i="1" dirty="0">
                                  <a:latin typeface="Cambria Math" panose="02040503050406030204" pitchFamily="18" charset="0"/>
                                </a:rPr>
                                <m:t>𝜎</m:t>
                              </m:r>
                              <m:d>
                                <m:dPr>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𝑤</m:t>
                                      </m:r>
                                    </m:sub>
                                  </m:sSub>
                                  <m:r>
                                    <a:rPr lang="en-US" altLang="zh-CN" sz="2400" i="1" dirty="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dirty="0">
                                          <a:latin typeface="Cambria Math" panose="02040503050406030204" pitchFamily="18" charset="0"/>
                                        </a:rPr>
                                        <m:t>𝜃</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𝑤</m:t>
                                      </m:r>
                                    </m:sup>
                                  </m:sSubSup>
                                </m:e>
                              </m:d>
                              <m:r>
                                <a:rPr lang="en-US" altLang="zh-CN" sz="2400" i="1">
                                  <a:latin typeface="Cambria Math" panose="02040503050406030204" pitchFamily="18" charset="0"/>
                                </a:rPr>
                                <m:t>]</m:t>
                              </m:r>
                            </m:e>
                            <m:sup>
                              <m:r>
                                <a:rPr lang="en-US" altLang="zh-CN" sz="2400" i="1">
                                  <a:latin typeface="Cambria Math" panose="02040503050406030204" pitchFamily="18" charset="0"/>
                                </a:rPr>
                                <m:t>1−</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𝑑</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𝑤</m:t>
                                  </m:r>
                                </m:sup>
                              </m:sSubSup>
                            </m:sup>
                          </m:sSup>
                        </m:e>
                      </m:nary>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[1−</m:t>
                          </m:r>
                          <m:r>
                            <a:rPr lang="zh-CN" altLang="en-US" sz="2400" i="1" dirty="0">
                              <a:latin typeface="Cambria Math" panose="02040503050406030204" pitchFamily="18" charset="0"/>
                            </a:rPr>
                            <m:t>𝜎</m:t>
                          </m:r>
                          <m:d>
                            <m:dPr>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𝑤</m:t>
                                  </m:r>
                                </m:sub>
                              </m:sSub>
                              <m:r>
                                <a:rPr lang="en-US" altLang="zh-CN" sz="2400" i="1" dirty="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dirty="0">
                                      <a:latin typeface="Cambria Math" panose="02040503050406030204" pitchFamily="18" charset="0"/>
                                    </a:rPr>
                                    <m:t>𝜃</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𝑤</m:t>
                                  </m:r>
                                </m:sup>
                              </m:sSubSup>
                            </m:e>
                          </m:d>
                          <m:r>
                            <a:rPr lang="en-US" altLang="zh-CN" sz="2400" i="1">
                              <a:latin typeface="Cambria Math" panose="02040503050406030204" pitchFamily="18" charset="0"/>
                            </a:rPr>
                            <m:t>]</m:t>
                          </m:r>
                        </m:e>
                        <m:sup>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𝑑</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𝑤</m:t>
                              </m:r>
                            </m:sup>
                          </m:sSubSup>
                        </m:sup>
                      </m:sSup>
                    </m:oMath>
                  </m:oMathPara>
                </a14:m>
                <a:endParaRPr lang="en-US" altLang="zh-CN" sz="2400" dirty="0"/>
              </a:p>
              <a:p>
                <a:endParaRPr lang="en-US" altLang="zh-CN" dirty="0"/>
              </a:p>
              <a:p>
                <a:r>
                  <a:rPr lang="zh-CN" altLang="en-US" dirty="0"/>
                  <a:t>定义损失函数（负对数似然函数）</a:t>
                </a:r>
                <a:r>
                  <a:rPr lang="en-US" altLang="zh-CN" dirty="0"/>
                  <a:t>:</a:t>
                </a:r>
                <a:endParaRPr lang="en-US" altLang="zh-CN" b="0" i="0"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400">
                          <a:latin typeface="Cambria Math" panose="02040503050406030204" pitchFamily="18" charset="0"/>
                        </a:rPr>
                        <m:t>   </m:t>
                      </m:r>
                      <m:r>
                        <m:rPr>
                          <m:sty m:val="p"/>
                        </m:rPr>
                        <a:rPr lang="en-US" altLang="zh-CN" sz="2400">
                          <a:latin typeface="Cambria Math" panose="02040503050406030204" pitchFamily="18" charset="0"/>
                        </a:rPr>
                        <m:t>L</m:t>
                      </m:r>
                      <m:r>
                        <a:rPr lang="en-US" altLang="zh-CN" sz="2400">
                          <a:latin typeface="Cambria Math" panose="02040503050406030204" pitchFamily="18" charset="0"/>
                        </a:rPr>
                        <m:t>=−</m:t>
                      </m:r>
                      <m:r>
                        <a:rPr lang="en-US" altLang="zh-CN" sz="2400" i="1">
                          <a:latin typeface="Cambria Math" panose="02040503050406030204" pitchFamily="18" charset="0"/>
                        </a:rPr>
                        <m:t>𝑙𝑜𝑔</m:t>
                      </m:r>
                      <m:nary>
                        <m:naryPr>
                          <m:chr m:val="∏"/>
                          <m:ctrlPr>
                            <a:rPr lang="zh-CN" altLang="en-US"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=2</m:t>
                          </m:r>
                        </m:sub>
                        <m: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𝑤</m:t>
                              </m:r>
                            </m:sub>
                          </m:sSub>
                        </m:sup>
                        <m:e>
                          <m:r>
                            <a:rPr lang="en-US" altLang="zh-CN" sz="2400" i="1">
                              <a:latin typeface="Cambria Math" panose="02040503050406030204" pitchFamily="18" charset="0"/>
                            </a:rPr>
                            <m:t>𝑝</m:t>
                          </m:r>
                          <m:d>
                            <m:dPr>
                              <m:ctrlPr>
                                <a:rPr lang="en-US" altLang="zh-CN" sz="2400" i="1">
                                  <a:latin typeface="Cambria Math" panose="02040503050406030204" pitchFamily="18" charset="0"/>
                                </a:rPr>
                              </m:ctrlPr>
                            </m:dPr>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𝑑</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𝑤</m:t>
                                  </m:r>
                                </m:sup>
                              </m:sSubSup>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𝑤</m:t>
                                  </m:r>
                                </m:sub>
                              </m:sSub>
                              <m:r>
                                <a:rPr lang="en-US" altLang="zh-CN"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dirty="0">
                                      <a:latin typeface="Cambria Math" panose="02040503050406030204" pitchFamily="18" charset="0"/>
                                    </a:rPr>
                                    <m:t>𝜃</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𝑤</m:t>
                                  </m:r>
                                </m:sup>
                              </m:sSubSup>
                            </m:e>
                          </m:d>
                        </m:e>
                      </m:nary>
                      <m:r>
                        <a:rPr lang="en-US" altLang="zh-CN" sz="2400" i="1">
                          <a:latin typeface="Cambria Math" panose="02040503050406030204" pitchFamily="18" charset="0"/>
                        </a:rPr>
                        <m:t>         </m:t>
                      </m:r>
                    </m:oMath>
                  </m:oMathPara>
                </a14:m>
                <a:endParaRPr lang="en-US" altLang="zh-CN" sz="24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400" i="1">
                          <a:latin typeface="Cambria Math" panose="02040503050406030204" pitchFamily="18" charset="0"/>
                        </a:rPr>
                        <m:t>       =−</m:t>
                      </m:r>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=2</m:t>
                          </m:r>
                        </m:sub>
                        <m: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𝑤</m:t>
                              </m:r>
                            </m:sub>
                          </m:sSub>
                        </m:sup>
                        <m:e>
                          <m:r>
                            <a:rPr lang="en-US" altLang="zh-CN" sz="2400" i="1">
                              <a:latin typeface="Cambria Math" panose="02040503050406030204" pitchFamily="18" charset="0"/>
                            </a:rPr>
                            <m:t>{</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1−</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𝑑</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𝑤</m:t>
                                  </m:r>
                                </m:sup>
                              </m:sSubSup>
                            </m:e>
                          </m:d>
                          <m:func>
                            <m:funcPr>
                              <m:ctrlPr>
                                <a:rPr lang="en-US" altLang="zh-CN" sz="2400" i="1">
                                  <a:latin typeface="Cambria Math" panose="02040503050406030204" pitchFamily="18" charset="0"/>
                                </a:rPr>
                              </m:ctrlPr>
                            </m:funcPr>
                            <m:fName>
                              <m:func>
                                <m:funcPr>
                                  <m:ctrlPr>
                                    <a:rPr lang="en-US" altLang="zh-CN" sz="2400" i="1">
                                      <a:latin typeface="Cambria Math" panose="02040503050406030204" pitchFamily="18" charset="0"/>
                                    </a:rPr>
                                  </m:ctrlPr>
                                </m:funcPr>
                                <m:fName>
                                  <m:r>
                                    <a:rPr lang="en-US" altLang="zh-CN" sz="2400" i="1">
                                      <a:latin typeface="Cambria Math" panose="02040503050406030204" pitchFamily="18" charset="0"/>
                                    </a:rPr>
                                    <m:t>𝑙𝑜𝑔</m:t>
                                  </m:r>
                                </m:fName>
                                <m:e>
                                  <m:d>
                                    <m:dPr>
                                      <m:begChr m:val="["/>
                                      <m:endChr m:val="]"/>
                                      <m:ctrlPr>
                                        <a:rPr lang="en-US" altLang="zh-CN" sz="2400" i="1">
                                          <a:latin typeface="Cambria Math" panose="02040503050406030204" pitchFamily="18" charset="0"/>
                                        </a:rPr>
                                      </m:ctrlPr>
                                    </m:dPr>
                                    <m:e>
                                      <m:r>
                                        <a:rPr lang="zh-CN" altLang="en-US" sz="2400" i="1" dirty="0">
                                          <a:latin typeface="Cambria Math" panose="02040503050406030204" pitchFamily="18" charset="0"/>
                                        </a:rPr>
                                        <m:t>𝜎</m:t>
                                      </m:r>
                                      <m:d>
                                        <m:dPr>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𝑤</m:t>
                                              </m:r>
                                            </m:sub>
                                          </m:sSub>
                                          <m:r>
                                            <a:rPr lang="en-US" altLang="zh-CN" sz="2400" i="1" dirty="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dirty="0">
                                                  <a:latin typeface="Cambria Math" panose="02040503050406030204" pitchFamily="18" charset="0"/>
                                                </a:rPr>
                                                <m:t>𝜃</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𝑤</m:t>
                                              </m:r>
                                            </m:sup>
                                          </m:sSubSup>
                                        </m:e>
                                      </m:d>
                                    </m:e>
                                  </m:d>
                                </m:e>
                              </m:func>
                            </m:fName>
                            <m:e>
                              <m:r>
                                <a:rPr lang="en-US" altLang="zh-CN" sz="2400" i="1">
                                  <a:latin typeface="Cambria Math" panose="02040503050406030204" pitchFamily="18" charset="0"/>
                                </a:rPr>
                                <m:t>+</m:t>
                              </m:r>
                            </m:e>
                          </m:func>
                        </m:e>
                      </m:nary>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𝑑</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𝑤</m:t>
                          </m:r>
                        </m:sup>
                      </m:sSubSup>
                      <m:r>
                        <a:rPr lang="en-US" altLang="zh-CN" sz="2400" i="1">
                          <a:latin typeface="Cambria Math" panose="02040503050406030204" pitchFamily="18" charset="0"/>
                        </a:rPr>
                        <m:t>𝑙𝑜𝑔</m:t>
                      </m:r>
                      <m:r>
                        <a:rPr lang="en-US" altLang="zh-CN" sz="2400" i="1">
                          <a:latin typeface="Cambria Math" panose="02040503050406030204" pitchFamily="18" charset="0"/>
                        </a:rPr>
                        <m:t>[1−</m:t>
                      </m:r>
                      <m:r>
                        <a:rPr lang="zh-CN" altLang="en-US" sz="2400" i="1" dirty="0">
                          <a:latin typeface="Cambria Math" panose="02040503050406030204" pitchFamily="18" charset="0"/>
                        </a:rPr>
                        <m:t>𝜎</m:t>
                      </m:r>
                      <m:d>
                        <m:dPr>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𝑤</m:t>
                              </m:r>
                            </m:sub>
                          </m:sSub>
                          <m:r>
                            <a:rPr lang="en-US" altLang="zh-CN" sz="2400" i="1" dirty="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dirty="0">
                                  <a:latin typeface="Cambria Math" panose="02040503050406030204" pitchFamily="18" charset="0"/>
                                </a:rPr>
                                <m:t>𝜃</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𝑤</m:t>
                              </m:r>
                            </m:sup>
                          </m:sSubSup>
                        </m:e>
                      </m:d>
                      <m:r>
                        <a:rPr lang="en-US" altLang="zh-CN" sz="2400" i="1">
                          <a:latin typeface="Cambria Math" panose="02040503050406030204" pitchFamily="18" charset="0"/>
                        </a:rPr>
                        <m:t>]}</m:t>
                      </m:r>
                    </m:oMath>
                  </m:oMathPara>
                </a14:m>
                <a:endParaRPr lang="en-US" altLang="zh-CN" sz="2400" dirty="0"/>
              </a:p>
              <a:p>
                <a:pPr marL="0" indent="0">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sz="quarter" idx="1"/>
              </p:nvPr>
            </p:nvSpPr>
            <p:spPr>
              <a:xfrm>
                <a:off x="1854923" y="1099445"/>
                <a:ext cx="9553306" cy="5222967"/>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457150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获得词向量</a:t>
            </a:r>
          </a:p>
        </p:txBody>
      </p:sp>
      <p:pic>
        <p:nvPicPr>
          <p:cNvPr id="3" name="图片 2"/>
          <p:cNvPicPr>
            <a:picLocks noChangeAspect="1"/>
          </p:cNvPicPr>
          <p:nvPr/>
        </p:nvPicPr>
        <p:blipFill>
          <a:blip r:embed="rId2"/>
          <a:stretch>
            <a:fillRect/>
          </a:stretch>
        </p:blipFill>
        <p:spPr>
          <a:xfrm>
            <a:off x="3005060" y="697755"/>
            <a:ext cx="6181880" cy="5462489"/>
          </a:xfrm>
          <a:prstGeom prst="rect">
            <a:avLst/>
          </a:prstGeom>
        </p:spPr>
      </p:pic>
      <p:sp>
        <p:nvSpPr>
          <p:cNvPr id="4" name="内容占位符 2"/>
          <p:cNvSpPr>
            <a:spLocks noGrp="1"/>
          </p:cNvSpPr>
          <p:nvPr>
            <p:ph sz="quarter" idx="1"/>
          </p:nvPr>
        </p:nvSpPr>
        <p:spPr>
          <a:xfrm>
            <a:off x="1262743" y="1177834"/>
            <a:ext cx="10363200" cy="4572000"/>
          </a:xfrm>
        </p:spPr>
        <p:txBody>
          <a:bodyPr/>
          <a:lstStyle/>
          <a:p>
            <a:endParaRPr lang="en-US" altLang="zh-CN" dirty="0"/>
          </a:p>
          <a:p>
            <a:r>
              <a:rPr lang="en-US" altLang="zh-CN" dirty="0"/>
              <a:t>BP</a:t>
            </a:r>
            <a:r>
              <a:rPr lang="zh-CN" altLang="en-US" dirty="0"/>
              <a:t>算法求解</a:t>
            </a:r>
            <a:endParaRPr lang="en-US" altLang="zh-CN" dirty="0"/>
          </a:p>
          <a:p>
            <a:endParaRPr lang="zh-CN" altLang="en-US" dirty="0"/>
          </a:p>
        </p:txBody>
      </p:sp>
    </p:spTree>
    <p:extLst>
      <p:ext uri="{BB962C8B-B14F-4D97-AF65-F5344CB8AC3E}">
        <p14:creationId xmlns:p14="http://schemas.microsoft.com/office/powerpoint/2010/main" val="411297449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训练计算量</a:t>
            </a:r>
          </a:p>
        </p:txBody>
      </p:sp>
      <p:sp>
        <p:nvSpPr>
          <p:cNvPr id="3" name="内容占位符 2"/>
          <p:cNvSpPr>
            <a:spLocks noGrp="1"/>
          </p:cNvSpPr>
          <p:nvPr>
            <p:ph sz="quarter" idx="1"/>
          </p:nvPr>
        </p:nvSpPr>
        <p:spPr>
          <a:xfrm>
            <a:off x="1262743" y="1177834"/>
            <a:ext cx="10363200" cy="4572000"/>
          </a:xfrm>
        </p:spPr>
        <p:txBody>
          <a:bodyPr/>
          <a:lstStyle/>
          <a:p>
            <a:endParaRPr lang="en-US" altLang="zh-CN" dirty="0"/>
          </a:p>
          <a:p>
            <a:r>
              <a:rPr lang="zh-CN" altLang="en-US" dirty="0"/>
              <a:t>每次只计算与该词有关的参数</a:t>
            </a:r>
            <a:endParaRPr lang="en-US" altLang="zh-CN" dirty="0"/>
          </a:p>
          <a:p>
            <a:r>
              <a:rPr lang="zh-CN" altLang="en-US" dirty="0"/>
              <a:t>越是常用词涉及的参数越少</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2151961" y="2183515"/>
            <a:ext cx="8358340" cy="3657917"/>
          </a:xfrm>
          <a:prstGeom prst="rect">
            <a:avLst/>
          </a:prstGeom>
        </p:spPr>
      </p:pic>
    </p:spTree>
    <p:extLst>
      <p:ext uri="{BB962C8B-B14F-4D97-AF65-F5344CB8AC3E}">
        <p14:creationId xmlns:p14="http://schemas.microsoft.com/office/powerpoint/2010/main" val="425621352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word2vec</a:t>
            </a:r>
            <a:r>
              <a:rPr lang="zh-CN" altLang="en-US" dirty="0"/>
              <a:t>模型</a:t>
            </a:r>
            <a:r>
              <a:rPr lang="en-US" altLang="zh-CN" dirty="0"/>
              <a:t>(</a:t>
            </a:r>
            <a:r>
              <a:rPr lang="zh-CN" altLang="en-US" dirty="0"/>
              <a:t>跳词模型</a:t>
            </a:r>
            <a:r>
              <a:rPr lang="en-US" altLang="zh-CN" dirty="0"/>
              <a:t>)</a:t>
            </a:r>
            <a:endParaRPr lang="zh-CN" altLang="en-US" dirty="0"/>
          </a:p>
        </p:txBody>
      </p:sp>
      <p:pic>
        <p:nvPicPr>
          <p:cNvPr id="4" name="图片 3"/>
          <p:cNvPicPr>
            <a:picLocks noChangeAspect="1"/>
          </p:cNvPicPr>
          <p:nvPr/>
        </p:nvPicPr>
        <p:blipFill>
          <a:blip r:embed="rId3"/>
          <a:stretch>
            <a:fillRect/>
          </a:stretch>
        </p:blipFill>
        <p:spPr>
          <a:xfrm>
            <a:off x="2274709" y="1741714"/>
            <a:ext cx="6448347" cy="4275909"/>
          </a:xfrm>
          <a:prstGeom prst="rect">
            <a:avLst/>
          </a:prstGeom>
        </p:spPr>
      </p:pic>
    </p:spTree>
    <p:extLst>
      <p:ext uri="{BB962C8B-B14F-4D97-AF65-F5344CB8AC3E}">
        <p14:creationId xmlns:p14="http://schemas.microsoft.com/office/powerpoint/2010/main" val="385074418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词向量应用举例：</a:t>
            </a:r>
            <a:r>
              <a:rPr lang="en-US" altLang="zh-CN" dirty="0" err="1"/>
              <a:t>TextCNN</a:t>
            </a:r>
            <a:endParaRPr lang="zh-CN" altLang="en-US" dirty="0"/>
          </a:p>
        </p:txBody>
      </p:sp>
      <p:sp>
        <p:nvSpPr>
          <p:cNvPr id="3" name="内容占位符 2"/>
          <p:cNvSpPr>
            <a:spLocks noGrp="1"/>
          </p:cNvSpPr>
          <p:nvPr>
            <p:ph sz="quarter" idx="1"/>
          </p:nvPr>
        </p:nvSpPr>
        <p:spPr/>
        <p:txBody>
          <a:bodyPr/>
          <a:lstStyle/>
          <a:p>
            <a:endParaRPr lang="en-US" altLang="zh-CN" dirty="0"/>
          </a:p>
          <a:p>
            <a:r>
              <a:rPr lang="zh-CN" altLang="en-US" dirty="0"/>
              <a:t>情感分类</a:t>
            </a:r>
            <a:endParaRPr lang="en-US" altLang="zh-CN" dirty="0"/>
          </a:p>
          <a:p>
            <a:pPr lvl="1"/>
            <a:r>
              <a:rPr lang="zh-CN" altLang="en-US" dirty="0"/>
              <a:t>正面情感</a:t>
            </a:r>
            <a:endParaRPr lang="en-US" altLang="zh-CN" dirty="0"/>
          </a:p>
          <a:p>
            <a:pPr lvl="2"/>
            <a:r>
              <a:rPr lang="zh-CN" altLang="en-US" dirty="0"/>
              <a:t>我很喜欢这部电影</a:t>
            </a:r>
            <a:endParaRPr lang="en-US" altLang="zh-CN" dirty="0"/>
          </a:p>
          <a:p>
            <a:pPr lvl="1"/>
            <a:r>
              <a:rPr lang="zh-CN" altLang="en-US" dirty="0"/>
              <a:t>负面情感</a:t>
            </a:r>
            <a:endParaRPr lang="en-US" altLang="zh-CN" dirty="0"/>
          </a:p>
          <a:p>
            <a:pPr lvl="2"/>
            <a:r>
              <a:rPr lang="zh-CN" altLang="en-US" dirty="0"/>
              <a:t>这部电影不好看</a:t>
            </a:r>
          </a:p>
        </p:txBody>
      </p:sp>
    </p:spTree>
    <p:extLst>
      <p:ext uri="{BB962C8B-B14F-4D97-AF65-F5344CB8AC3E}">
        <p14:creationId xmlns:p14="http://schemas.microsoft.com/office/powerpoint/2010/main" val="221211245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307776" y="365754"/>
            <a:ext cx="7321999" cy="5869441"/>
            <a:chOff x="2307776" y="478971"/>
            <a:chExt cx="7321999" cy="5869441"/>
          </a:xfrm>
        </p:grpSpPr>
        <p:pic>
          <p:nvPicPr>
            <p:cNvPr id="5" name="图片 4"/>
            <p:cNvPicPr>
              <a:picLocks noChangeAspect="1"/>
            </p:cNvPicPr>
            <p:nvPr/>
          </p:nvPicPr>
          <p:blipFill>
            <a:blip r:embed="rId2"/>
            <a:stretch>
              <a:fillRect/>
            </a:stretch>
          </p:blipFill>
          <p:spPr>
            <a:xfrm>
              <a:off x="2562225" y="509587"/>
              <a:ext cx="7067550" cy="5838825"/>
            </a:xfrm>
            <a:prstGeom prst="rect">
              <a:avLst/>
            </a:prstGeom>
          </p:spPr>
        </p:pic>
        <p:pic>
          <p:nvPicPr>
            <p:cNvPr id="7" name="图片 6"/>
            <p:cNvPicPr>
              <a:picLocks noChangeAspect="1"/>
            </p:cNvPicPr>
            <p:nvPr/>
          </p:nvPicPr>
          <p:blipFill>
            <a:blip r:embed="rId3"/>
            <a:stretch>
              <a:fillRect/>
            </a:stretch>
          </p:blipFill>
          <p:spPr>
            <a:xfrm>
              <a:off x="2307776" y="1883907"/>
              <a:ext cx="1029995" cy="1676736"/>
            </a:xfrm>
            <a:prstGeom prst="rect">
              <a:avLst/>
            </a:prstGeom>
          </p:spPr>
        </p:pic>
        <p:pic>
          <p:nvPicPr>
            <p:cNvPr id="9" name="图片 8"/>
            <p:cNvPicPr>
              <a:picLocks noChangeAspect="1"/>
            </p:cNvPicPr>
            <p:nvPr/>
          </p:nvPicPr>
          <p:blipFill>
            <a:blip r:embed="rId4"/>
            <a:stretch>
              <a:fillRect/>
            </a:stretch>
          </p:blipFill>
          <p:spPr>
            <a:xfrm>
              <a:off x="3488615" y="1367247"/>
              <a:ext cx="778583" cy="551496"/>
            </a:xfrm>
            <a:prstGeom prst="rect">
              <a:avLst/>
            </a:prstGeom>
          </p:spPr>
        </p:pic>
        <p:sp>
          <p:nvSpPr>
            <p:cNvPr id="10" name="矩形 9"/>
            <p:cNvSpPr/>
            <p:nvPr/>
          </p:nvSpPr>
          <p:spPr>
            <a:xfrm>
              <a:off x="7228114" y="478971"/>
              <a:ext cx="1663337" cy="61830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3" name="标题 6"/>
          <p:cNvSpPr txBox="1">
            <a:spLocks/>
          </p:cNvSpPr>
          <p:nvPr/>
        </p:nvSpPr>
        <p:spPr>
          <a:xfrm>
            <a:off x="2098236" y="5037745"/>
            <a:ext cx="1921419"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捲積核宽度与词向量长度一致</a:t>
            </a:r>
          </a:p>
        </p:txBody>
      </p:sp>
      <p:cxnSp>
        <p:nvCxnSpPr>
          <p:cNvPr id="14" name="直接箭头连接符 13"/>
          <p:cNvCxnSpPr/>
          <p:nvPr/>
        </p:nvCxnSpPr>
        <p:spPr>
          <a:xfrm>
            <a:off x="3889890" y="5442861"/>
            <a:ext cx="751779" cy="78373"/>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右大括号 16"/>
          <p:cNvSpPr/>
          <p:nvPr/>
        </p:nvSpPr>
        <p:spPr>
          <a:xfrm rot="5400000">
            <a:off x="5188305" y="5022841"/>
            <a:ext cx="287381" cy="1127421"/>
          </a:xfrm>
          <a:prstGeom prst="rightBrace">
            <a:avLst>
              <a:gd name="adj1" fmla="val 2881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1" name="直接箭头连接符 20"/>
          <p:cNvCxnSpPr/>
          <p:nvPr/>
        </p:nvCxnSpPr>
        <p:spPr>
          <a:xfrm flipV="1">
            <a:off x="3115509" y="3593125"/>
            <a:ext cx="1510269" cy="55215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4635177" y="396370"/>
            <a:ext cx="1447753" cy="5077107"/>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标题 6"/>
          <p:cNvSpPr txBox="1">
            <a:spLocks/>
          </p:cNvSpPr>
          <p:nvPr/>
        </p:nvSpPr>
        <p:spPr>
          <a:xfrm>
            <a:off x="1697929" y="3930147"/>
            <a:ext cx="1474143"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rPr>
              <a:t>6</a:t>
            </a:r>
            <a:r>
              <a:rPr kumimoji="0" lang="zh-CN" altLang="en-US" sz="18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rPr>
              <a:t>个不同大小的捲積核</a:t>
            </a:r>
          </a:p>
        </p:txBody>
      </p:sp>
      <p:sp>
        <p:nvSpPr>
          <p:cNvPr id="34" name="矩形 33"/>
          <p:cNvSpPr/>
          <p:nvPr/>
        </p:nvSpPr>
        <p:spPr>
          <a:xfrm>
            <a:off x="2369526" y="1254030"/>
            <a:ext cx="2141094" cy="2261016"/>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标题 6"/>
          <p:cNvSpPr txBox="1">
            <a:spLocks/>
          </p:cNvSpPr>
          <p:nvPr/>
        </p:nvSpPr>
        <p:spPr>
          <a:xfrm>
            <a:off x="1729906" y="1983171"/>
            <a:ext cx="710070"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输</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入</a:t>
            </a:r>
          </a:p>
        </p:txBody>
      </p:sp>
      <p:sp>
        <p:nvSpPr>
          <p:cNvPr id="36" name="矩形 35"/>
          <p:cNvSpPr/>
          <p:nvPr/>
        </p:nvSpPr>
        <p:spPr>
          <a:xfrm>
            <a:off x="3372462" y="1840070"/>
            <a:ext cx="1060202" cy="835598"/>
          </a:xfrm>
          <a:prstGeom prst="rect">
            <a:avLst/>
          </a:prstGeom>
          <a:solidFill>
            <a:schemeClr val="accent2">
              <a:alpha val="50000"/>
            </a:schemeClr>
          </a:solidFill>
          <a:ln w="28575">
            <a:solidFill>
              <a:srgbClr val="C00000"/>
            </a:solidFill>
            <a:prstDash val="solid"/>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9" name="直接箭头连接符 38"/>
          <p:cNvCxnSpPr/>
          <p:nvPr/>
        </p:nvCxnSpPr>
        <p:spPr>
          <a:xfrm flipH="1">
            <a:off x="7228114" y="788535"/>
            <a:ext cx="574766" cy="334871"/>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V="1">
            <a:off x="3854541" y="838929"/>
            <a:ext cx="1569543" cy="1418941"/>
          </a:xfrm>
          <a:prstGeom prst="straightConnector1">
            <a:avLst/>
          </a:prstGeom>
          <a:ln w="76200">
            <a:solidFill>
              <a:srgbClr val="FB81E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5546333" y="564231"/>
            <a:ext cx="959283" cy="274698"/>
          </a:xfrm>
          <a:prstGeom prst="straightConnector1">
            <a:avLst/>
          </a:prstGeom>
          <a:ln w="76200">
            <a:solidFill>
              <a:srgbClr val="FB81E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3385916" y="2047622"/>
            <a:ext cx="1060202" cy="835598"/>
          </a:xfrm>
          <a:prstGeom prst="rect">
            <a:avLst/>
          </a:prstGeom>
          <a:solidFill>
            <a:schemeClr val="accent2">
              <a:alpha val="50000"/>
            </a:schemeClr>
          </a:solidFill>
          <a:ln w="28575">
            <a:solidFill>
              <a:srgbClr val="C00000"/>
            </a:solidFill>
            <a:prstDash val="solid"/>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1" name="直接箭头连接符 50"/>
          <p:cNvCxnSpPr/>
          <p:nvPr/>
        </p:nvCxnSpPr>
        <p:spPr>
          <a:xfrm flipV="1">
            <a:off x="3845873" y="923049"/>
            <a:ext cx="1564850" cy="1566786"/>
          </a:xfrm>
          <a:prstGeom prst="straightConnector1">
            <a:avLst/>
          </a:prstGeom>
          <a:ln w="76200">
            <a:solidFill>
              <a:srgbClr val="FB81E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V="1">
            <a:off x="5453383" y="788535"/>
            <a:ext cx="1093536" cy="112150"/>
          </a:xfrm>
          <a:prstGeom prst="straightConnector1">
            <a:avLst/>
          </a:prstGeom>
          <a:ln w="76200">
            <a:solidFill>
              <a:srgbClr val="FB81E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标题 6"/>
          <p:cNvSpPr txBox="1">
            <a:spLocks/>
          </p:cNvSpPr>
          <p:nvPr/>
        </p:nvSpPr>
        <p:spPr>
          <a:xfrm>
            <a:off x="7281411" y="433247"/>
            <a:ext cx="1319468" cy="415498"/>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1-</a:t>
            </a: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最大池化</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cxnSp>
        <p:nvCxnSpPr>
          <p:cNvPr id="68" name="直接箭头连接符 67"/>
          <p:cNvCxnSpPr/>
          <p:nvPr/>
        </p:nvCxnSpPr>
        <p:spPr>
          <a:xfrm flipH="1">
            <a:off x="8155882" y="2170334"/>
            <a:ext cx="489622" cy="712886"/>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标题 6"/>
          <p:cNvSpPr txBox="1">
            <a:spLocks/>
          </p:cNvSpPr>
          <p:nvPr/>
        </p:nvSpPr>
        <p:spPr>
          <a:xfrm>
            <a:off x="8358452" y="1739528"/>
            <a:ext cx="1319468" cy="415498"/>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拼接</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cxnSp>
        <p:nvCxnSpPr>
          <p:cNvPr id="76" name="直接箭头连接符 75"/>
          <p:cNvCxnSpPr/>
          <p:nvPr/>
        </p:nvCxnSpPr>
        <p:spPr>
          <a:xfrm flipH="1">
            <a:off x="9492343" y="2327221"/>
            <a:ext cx="103967" cy="869038"/>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标题 6"/>
          <p:cNvSpPr txBox="1">
            <a:spLocks/>
          </p:cNvSpPr>
          <p:nvPr/>
        </p:nvSpPr>
        <p:spPr>
          <a:xfrm>
            <a:off x="9346783" y="1684332"/>
            <a:ext cx="1319468"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全连接</a:t>
            </a:r>
            <a:r>
              <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itchFamily="18" charset="0"/>
                <a:ea typeface="幼圆" panose="02010509060101010101" pitchFamily="49" charset="-122"/>
                <a:cs typeface="Times New Roman" pitchFamily="18" charset="0"/>
              </a:rPr>
              <a:t>softmax</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sp>
        <p:nvSpPr>
          <p:cNvPr id="80" name="标题 6"/>
          <p:cNvSpPr txBox="1">
            <a:spLocks/>
          </p:cNvSpPr>
          <p:nvPr/>
        </p:nvSpPr>
        <p:spPr>
          <a:xfrm>
            <a:off x="9793938" y="3196259"/>
            <a:ext cx="710070"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输</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出</a:t>
            </a:r>
          </a:p>
        </p:txBody>
      </p:sp>
    </p:spTree>
    <p:extLst>
      <p:ext uri="{BB962C8B-B14F-4D97-AF65-F5344CB8AC3E}">
        <p14:creationId xmlns:p14="http://schemas.microsoft.com/office/powerpoint/2010/main" val="247132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35"/>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34"/>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1"/>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30"/>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7"/>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3"/>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2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36"/>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40"/>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4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5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51"/>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52"/>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7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7" grpId="0" animBg="1"/>
      <p:bldP spid="17" grpId="1" animBg="1"/>
      <p:bldP spid="22" grpId="0" animBg="1"/>
      <p:bldP spid="22" grpId="1" animBg="1"/>
      <p:bldP spid="30" grpId="0"/>
      <p:bldP spid="30" grpId="1"/>
      <p:bldP spid="34" grpId="0" animBg="1"/>
      <p:bldP spid="34" grpId="1" animBg="1"/>
      <p:bldP spid="35" grpId="0"/>
      <p:bldP spid="35" grpId="1"/>
      <p:bldP spid="36" grpId="0" animBg="1"/>
      <p:bldP spid="36" grpId="1" animBg="1"/>
      <p:bldP spid="50" grpId="0" animBg="1"/>
      <p:bldP spid="50" grpId="1" animBg="1"/>
      <p:bldP spid="57" grpId="0"/>
      <p:bldP spid="69" grpId="0"/>
      <p:bldP spid="77" grpId="0"/>
      <p:bldP spid="80"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文本捲積计算举例</a:t>
            </a:r>
          </a:p>
        </p:txBody>
      </p:sp>
      <p:pic>
        <p:nvPicPr>
          <p:cNvPr id="4" name="图片 3"/>
          <p:cNvPicPr>
            <a:picLocks noChangeAspect="1"/>
          </p:cNvPicPr>
          <p:nvPr/>
        </p:nvPicPr>
        <p:blipFill>
          <a:blip r:embed="rId3"/>
          <a:stretch>
            <a:fillRect/>
          </a:stretch>
        </p:blipFill>
        <p:spPr>
          <a:xfrm>
            <a:off x="893247" y="1480457"/>
            <a:ext cx="9578398" cy="4319452"/>
          </a:xfrm>
          <a:prstGeom prst="rect">
            <a:avLst/>
          </a:prstGeom>
        </p:spPr>
      </p:pic>
      <p:sp>
        <p:nvSpPr>
          <p:cNvPr id="3" name="文本框 2">
            <a:extLst>
              <a:ext uri="{FF2B5EF4-FFF2-40B4-BE49-F238E27FC236}">
                <a16:creationId xmlns:a16="http://schemas.microsoft.com/office/drawing/2014/main" id="{C5C78106-D3EC-C4B0-3147-0DC850E1C591}"/>
              </a:ext>
            </a:extLst>
          </p:cNvPr>
          <p:cNvSpPr txBox="1"/>
          <p:nvPr/>
        </p:nvSpPr>
        <p:spPr>
          <a:xfrm>
            <a:off x="5427616" y="2414588"/>
            <a:ext cx="1946367" cy="369332"/>
          </a:xfrm>
          <a:prstGeom prst="rect">
            <a:avLst/>
          </a:prstGeom>
          <a:solidFill>
            <a:schemeClr val="bg1"/>
          </a:solid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大小为</a:t>
            </a:r>
            <a:r>
              <a:rPr kumimoji="1" lang="en-US" altLang="zh-CN" dirty="0">
                <a:latin typeface="Microsoft YaHei" panose="020B0503020204020204" pitchFamily="34" charset="-122"/>
                <a:ea typeface="Microsoft YaHei" panose="020B0503020204020204" pitchFamily="34" charset="-122"/>
              </a:rPr>
              <a:t>3</a:t>
            </a:r>
            <a:r>
              <a:rPr kumimoji="1" lang="zh-CN" altLang="en-US" dirty="0">
                <a:latin typeface="Microsoft YaHei" panose="020B0503020204020204" pitchFamily="34" charset="-122"/>
                <a:ea typeface="Microsoft YaHei" panose="020B0503020204020204" pitchFamily="34" charset="-122"/>
              </a:rPr>
              <a:t>的捲積核</a:t>
            </a:r>
          </a:p>
        </p:txBody>
      </p:sp>
      <p:sp>
        <p:nvSpPr>
          <p:cNvPr id="6" name="文本框 5">
            <a:extLst>
              <a:ext uri="{FF2B5EF4-FFF2-40B4-BE49-F238E27FC236}">
                <a16:creationId xmlns:a16="http://schemas.microsoft.com/office/drawing/2014/main" id="{D0F654D8-EC35-5EDF-E791-859D13A264FE}"/>
              </a:ext>
            </a:extLst>
          </p:cNvPr>
          <p:cNvSpPr txBox="1"/>
          <p:nvPr/>
        </p:nvSpPr>
        <p:spPr>
          <a:xfrm>
            <a:off x="2465342" y="1681163"/>
            <a:ext cx="1725152" cy="369332"/>
          </a:xfrm>
          <a:prstGeom prst="rect">
            <a:avLst/>
          </a:prstGeom>
          <a:solidFill>
            <a:schemeClr val="bg1"/>
          </a:solid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4x5</a:t>
            </a:r>
            <a:r>
              <a:rPr kumimoji="1" lang="zh-CN" altLang="en-US" dirty="0">
                <a:latin typeface="Microsoft YaHei" panose="020B0503020204020204" pitchFamily="34" charset="-122"/>
                <a:ea typeface="Microsoft YaHei" panose="020B0503020204020204" pitchFamily="34" charset="-122"/>
              </a:rPr>
              <a:t>的句子矩阵</a:t>
            </a:r>
          </a:p>
        </p:txBody>
      </p:sp>
      <p:sp>
        <p:nvSpPr>
          <p:cNvPr id="7" name="文本框 6">
            <a:extLst>
              <a:ext uri="{FF2B5EF4-FFF2-40B4-BE49-F238E27FC236}">
                <a16:creationId xmlns:a16="http://schemas.microsoft.com/office/drawing/2014/main" id="{BC9582B9-4034-1637-1DD6-9F681B57D374}"/>
              </a:ext>
            </a:extLst>
          </p:cNvPr>
          <p:cNvSpPr txBox="1"/>
          <p:nvPr/>
        </p:nvSpPr>
        <p:spPr>
          <a:xfrm>
            <a:off x="2514598" y="2201346"/>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1CA7FA98-4B7C-3BFD-C34A-E90DB7C8A4A7}"/>
              </a:ext>
            </a:extLst>
          </p:cNvPr>
          <p:cNvSpPr txBox="1"/>
          <p:nvPr/>
        </p:nvSpPr>
        <p:spPr>
          <a:xfrm>
            <a:off x="2841114" y="2201346"/>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591DD75A-6309-F6E5-45EE-189BDF707B73}"/>
              </a:ext>
            </a:extLst>
          </p:cNvPr>
          <p:cNvSpPr txBox="1"/>
          <p:nvPr/>
        </p:nvSpPr>
        <p:spPr>
          <a:xfrm>
            <a:off x="3167630" y="2201346"/>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01C75E28-38C4-1450-FC23-2F5FFEFDA92F}"/>
              </a:ext>
            </a:extLst>
          </p:cNvPr>
          <p:cNvSpPr txBox="1"/>
          <p:nvPr/>
        </p:nvSpPr>
        <p:spPr>
          <a:xfrm>
            <a:off x="3479858" y="2187058"/>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11" name="文本框 10">
            <a:extLst>
              <a:ext uri="{FF2B5EF4-FFF2-40B4-BE49-F238E27FC236}">
                <a16:creationId xmlns:a16="http://schemas.microsoft.com/office/drawing/2014/main" id="{BAC0F8B0-BD38-0DD6-B652-4D15D33F33A5}"/>
              </a:ext>
            </a:extLst>
          </p:cNvPr>
          <p:cNvSpPr txBox="1"/>
          <p:nvPr/>
        </p:nvSpPr>
        <p:spPr>
          <a:xfrm>
            <a:off x="3724334" y="2188963"/>
            <a:ext cx="418704" cy="369332"/>
          </a:xfrm>
          <a:prstGeom prst="rect">
            <a:avLst/>
          </a:prstGeom>
          <a:noFill/>
        </p:spPr>
        <p:txBody>
          <a:bodyPr wrap="square" rtlCol="0">
            <a:spAutoFit/>
          </a:bodyPr>
          <a:lstStyle/>
          <a:p>
            <a:r>
              <a:rPr kumimoji="1" lang="en-US" altLang="zh-CN" dirty="0">
                <a:latin typeface="Microsoft YaHei" panose="020B0503020204020204" pitchFamily="34" charset="-122"/>
                <a:ea typeface="Microsoft YaHei" panose="020B0503020204020204" pitchFamily="34" charset="-122"/>
              </a:rPr>
              <a:t>-3</a:t>
            </a:r>
            <a:endParaRPr kumimoji="1" lang="zh-CN" altLang="en-US" dirty="0">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C60E6727-EA9A-920A-B178-D32F5F3E8805}"/>
              </a:ext>
            </a:extLst>
          </p:cNvPr>
          <p:cNvSpPr txBox="1"/>
          <p:nvPr/>
        </p:nvSpPr>
        <p:spPr>
          <a:xfrm>
            <a:off x="2507400" y="255115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9</a:t>
            </a:r>
            <a:endParaRPr kumimoji="1" lang="zh-CN" altLang="en-US" dirty="0">
              <a:latin typeface="Microsoft YaHei" panose="020B0503020204020204" pitchFamily="34" charset="-122"/>
              <a:ea typeface="Microsoft YaHei" panose="020B0503020204020204" pitchFamily="34" charset="-122"/>
            </a:endParaRPr>
          </a:p>
        </p:txBody>
      </p:sp>
      <p:sp>
        <p:nvSpPr>
          <p:cNvPr id="13" name="文本框 12">
            <a:extLst>
              <a:ext uri="{FF2B5EF4-FFF2-40B4-BE49-F238E27FC236}">
                <a16:creationId xmlns:a16="http://schemas.microsoft.com/office/drawing/2014/main" id="{6582EE26-DCDB-1E00-9FA3-77661D4104B5}"/>
              </a:ext>
            </a:extLst>
          </p:cNvPr>
          <p:cNvSpPr txBox="1"/>
          <p:nvPr/>
        </p:nvSpPr>
        <p:spPr>
          <a:xfrm>
            <a:off x="2833916" y="255115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5</a:t>
            </a:r>
            <a:endParaRPr kumimoji="1" lang="zh-CN" altLang="en-US" dirty="0">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84BF518D-9EF7-D23B-96D5-E16906B76514}"/>
              </a:ext>
            </a:extLst>
          </p:cNvPr>
          <p:cNvSpPr txBox="1"/>
          <p:nvPr/>
        </p:nvSpPr>
        <p:spPr>
          <a:xfrm>
            <a:off x="3160432" y="255115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4</a:t>
            </a:r>
            <a:endParaRPr kumimoji="1" lang="zh-CN" altLang="en-US" dirty="0">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0C72595F-3856-3B42-A5C6-B15B10621E6E}"/>
              </a:ext>
            </a:extLst>
          </p:cNvPr>
          <p:cNvSpPr txBox="1"/>
          <p:nvPr/>
        </p:nvSpPr>
        <p:spPr>
          <a:xfrm>
            <a:off x="3472660" y="253686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F8951817-B661-CD11-1649-A0A87573DCFF}"/>
              </a:ext>
            </a:extLst>
          </p:cNvPr>
          <p:cNvSpPr txBox="1"/>
          <p:nvPr/>
        </p:nvSpPr>
        <p:spPr>
          <a:xfrm>
            <a:off x="3799176" y="253686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A4611632-6034-8CCB-3EB8-322BE21A3FAC}"/>
              </a:ext>
            </a:extLst>
          </p:cNvPr>
          <p:cNvSpPr txBox="1"/>
          <p:nvPr/>
        </p:nvSpPr>
        <p:spPr>
          <a:xfrm>
            <a:off x="2500202" y="2875198"/>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18" name="文本框 17">
            <a:extLst>
              <a:ext uri="{FF2B5EF4-FFF2-40B4-BE49-F238E27FC236}">
                <a16:creationId xmlns:a16="http://schemas.microsoft.com/office/drawing/2014/main" id="{A5260EB1-0A92-E054-C717-68AA6ED3FC9E}"/>
              </a:ext>
            </a:extLst>
          </p:cNvPr>
          <p:cNvSpPr txBox="1"/>
          <p:nvPr/>
        </p:nvSpPr>
        <p:spPr>
          <a:xfrm>
            <a:off x="2826718" y="2875198"/>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3</a:t>
            </a:r>
            <a:endParaRPr kumimoji="1" lang="zh-CN" altLang="en-US" dirty="0">
              <a:latin typeface="Microsoft YaHei" panose="020B0503020204020204" pitchFamily="34" charset="-122"/>
              <a:ea typeface="Microsoft YaHei" panose="020B0503020204020204" pitchFamily="34" charset="-122"/>
            </a:endParaRPr>
          </a:p>
        </p:txBody>
      </p:sp>
      <p:sp>
        <p:nvSpPr>
          <p:cNvPr id="19" name="文本框 18">
            <a:extLst>
              <a:ext uri="{FF2B5EF4-FFF2-40B4-BE49-F238E27FC236}">
                <a16:creationId xmlns:a16="http://schemas.microsoft.com/office/drawing/2014/main" id="{D0B27878-FB96-9FEF-8B3F-7BE9C0449026}"/>
              </a:ext>
            </a:extLst>
          </p:cNvPr>
          <p:cNvSpPr txBox="1"/>
          <p:nvPr/>
        </p:nvSpPr>
        <p:spPr>
          <a:xfrm>
            <a:off x="3153234" y="2875198"/>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4</a:t>
            </a:r>
            <a:endParaRPr kumimoji="1" lang="zh-CN" altLang="en-US" dirty="0">
              <a:latin typeface="Microsoft YaHei" panose="020B0503020204020204" pitchFamily="34" charset="-122"/>
              <a:ea typeface="Microsoft YaHei" panose="020B0503020204020204" pitchFamily="34" charset="-122"/>
            </a:endParaRPr>
          </a:p>
        </p:txBody>
      </p:sp>
      <p:sp>
        <p:nvSpPr>
          <p:cNvPr id="20" name="文本框 19">
            <a:extLst>
              <a:ext uri="{FF2B5EF4-FFF2-40B4-BE49-F238E27FC236}">
                <a16:creationId xmlns:a16="http://schemas.microsoft.com/office/drawing/2014/main" id="{E4E0E683-F938-9048-89DC-B41D80B90996}"/>
              </a:ext>
            </a:extLst>
          </p:cNvPr>
          <p:cNvSpPr txBox="1"/>
          <p:nvPr/>
        </p:nvSpPr>
        <p:spPr>
          <a:xfrm>
            <a:off x="3465462" y="2860910"/>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5</a:t>
            </a:r>
            <a:endParaRPr kumimoji="1" lang="zh-CN" altLang="en-US" dirty="0">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34074F9D-37EF-4087-3F73-4CE647AEB531}"/>
              </a:ext>
            </a:extLst>
          </p:cNvPr>
          <p:cNvSpPr txBox="1"/>
          <p:nvPr/>
        </p:nvSpPr>
        <p:spPr>
          <a:xfrm>
            <a:off x="3791978" y="2860910"/>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6</a:t>
            </a:r>
            <a:endParaRPr kumimoji="1" lang="zh-CN" altLang="en-US" dirty="0">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0DF5D1C0-259A-1B1A-8026-9453ADC55DAB}"/>
              </a:ext>
            </a:extLst>
          </p:cNvPr>
          <p:cNvSpPr txBox="1"/>
          <p:nvPr/>
        </p:nvSpPr>
        <p:spPr>
          <a:xfrm>
            <a:off x="2493004" y="3196427"/>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1C3C909C-D6A0-9D1D-36F2-CCF3047DF4F4}"/>
              </a:ext>
            </a:extLst>
          </p:cNvPr>
          <p:cNvSpPr txBox="1"/>
          <p:nvPr/>
        </p:nvSpPr>
        <p:spPr>
          <a:xfrm>
            <a:off x="2819520" y="3196427"/>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F0F0FA6E-C307-4141-C17C-F8DC7F8298DE}"/>
              </a:ext>
            </a:extLst>
          </p:cNvPr>
          <p:cNvSpPr txBox="1"/>
          <p:nvPr/>
        </p:nvSpPr>
        <p:spPr>
          <a:xfrm>
            <a:off x="3146036" y="3196427"/>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3</a:t>
            </a:r>
            <a:endParaRPr kumimoji="1" lang="zh-CN" altLang="en-US" dirty="0">
              <a:latin typeface="Microsoft YaHei" panose="020B0503020204020204" pitchFamily="34" charset="-122"/>
              <a:ea typeface="Microsoft YaHei" panose="020B0503020204020204" pitchFamily="34" charset="-122"/>
            </a:endParaRPr>
          </a:p>
        </p:txBody>
      </p:sp>
      <p:sp>
        <p:nvSpPr>
          <p:cNvPr id="25" name="文本框 24">
            <a:extLst>
              <a:ext uri="{FF2B5EF4-FFF2-40B4-BE49-F238E27FC236}">
                <a16:creationId xmlns:a16="http://schemas.microsoft.com/office/drawing/2014/main" id="{3A6A19B1-2DE1-B431-A3E1-8D455C0DAE2B}"/>
              </a:ext>
            </a:extLst>
          </p:cNvPr>
          <p:cNvSpPr txBox="1"/>
          <p:nvPr/>
        </p:nvSpPr>
        <p:spPr>
          <a:xfrm>
            <a:off x="3458264" y="3182139"/>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26" name="文本框 25">
            <a:extLst>
              <a:ext uri="{FF2B5EF4-FFF2-40B4-BE49-F238E27FC236}">
                <a16:creationId xmlns:a16="http://schemas.microsoft.com/office/drawing/2014/main" id="{1E1A5C50-0CAB-2700-EAA6-4AB56A611706}"/>
              </a:ext>
            </a:extLst>
          </p:cNvPr>
          <p:cNvSpPr txBox="1"/>
          <p:nvPr/>
        </p:nvSpPr>
        <p:spPr>
          <a:xfrm>
            <a:off x="3784780" y="3182139"/>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F77B0065-9446-DF3D-61D4-B15D7F4A7289}"/>
              </a:ext>
            </a:extLst>
          </p:cNvPr>
          <p:cNvSpPr txBox="1"/>
          <p:nvPr/>
        </p:nvSpPr>
        <p:spPr>
          <a:xfrm>
            <a:off x="5680525" y="3547673"/>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28" name="文本框 27">
            <a:extLst>
              <a:ext uri="{FF2B5EF4-FFF2-40B4-BE49-F238E27FC236}">
                <a16:creationId xmlns:a16="http://schemas.microsoft.com/office/drawing/2014/main" id="{1879AE60-D77D-E5BC-A4A2-9E28B819C6BF}"/>
              </a:ext>
            </a:extLst>
          </p:cNvPr>
          <p:cNvSpPr txBox="1"/>
          <p:nvPr/>
        </p:nvSpPr>
        <p:spPr>
          <a:xfrm>
            <a:off x="6037092" y="354767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29" name="文本框 28">
            <a:extLst>
              <a:ext uri="{FF2B5EF4-FFF2-40B4-BE49-F238E27FC236}">
                <a16:creationId xmlns:a16="http://schemas.microsoft.com/office/drawing/2014/main" id="{03CAD53A-0AF8-1BEB-AFD8-B453079E41BC}"/>
              </a:ext>
            </a:extLst>
          </p:cNvPr>
          <p:cNvSpPr txBox="1"/>
          <p:nvPr/>
        </p:nvSpPr>
        <p:spPr>
          <a:xfrm>
            <a:off x="6363608" y="354767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30" name="文本框 29">
            <a:extLst>
              <a:ext uri="{FF2B5EF4-FFF2-40B4-BE49-F238E27FC236}">
                <a16:creationId xmlns:a16="http://schemas.microsoft.com/office/drawing/2014/main" id="{A3299467-F2C3-6CEA-D05C-0B44243E18CA}"/>
              </a:ext>
            </a:extLst>
          </p:cNvPr>
          <p:cNvSpPr txBox="1"/>
          <p:nvPr/>
        </p:nvSpPr>
        <p:spPr>
          <a:xfrm>
            <a:off x="6675836" y="3533385"/>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31" name="文本框 30">
            <a:extLst>
              <a:ext uri="{FF2B5EF4-FFF2-40B4-BE49-F238E27FC236}">
                <a16:creationId xmlns:a16="http://schemas.microsoft.com/office/drawing/2014/main" id="{0676275F-574E-0F91-2765-4FBA0F3DD509}"/>
              </a:ext>
            </a:extLst>
          </p:cNvPr>
          <p:cNvSpPr txBox="1"/>
          <p:nvPr/>
        </p:nvSpPr>
        <p:spPr>
          <a:xfrm>
            <a:off x="6976594" y="3533385"/>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7C092232-337D-9D14-56E5-A316F0F913F2}"/>
              </a:ext>
            </a:extLst>
          </p:cNvPr>
          <p:cNvSpPr txBox="1"/>
          <p:nvPr/>
        </p:nvSpPr>
        <p:spPr>
          <a:xfrm>
            <a:off x="5680525" y="3871791"/>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43" name="文本框 42">
            <a:extLst>
              <a:ext uri="{FF2B5EF4-FFF2-40B4-BE49-F238E27FC236}">
                <a16:creationId xmlns:a16="http://schemas.microsoft.com/office/drawing/2014/main" id="{DB3ADF36-AEAA-0A37-77F8-539E4D5F83C7}"/>
              </a:ext>
            </a:extLst>
          </p:cNvPr>
          <p:cNvSpPr txBox="1"/>
          <p:nvPr/>
        </p:nvSpPr>
        <p:spPr>
          <a:xfrm>
            <a:off x="6037092" y="387179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44" name="文本框 43">
            <a:extLst>
              <a:ext uri="{FF2B5EF4-FFF2-40B4-BE49-F238E27FC236}">
                <a16:creationId xmlns:a16="http://schemas.microsoft.com/office/drawing/2014/main" id="{ED4CBAB7-AA00-E661-E110-B5A818228408}"/>
              </a:ext>
            </a:extLst>
          </p:cNvPr>
          <p:cNvSpPr txBox="1"/>
          <p:nvPr/>
        </p:nvSpPr>
        <p:spPr>
          <a:xfrm>
            <a:off x="6363608" y="387179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45" name="文本框 44">
            <a:extLst>
              <a:ext uri="{FF2B5EF4-FFF2-40B4-BE49-F238E27FC236}">
                <a16:creationId xmlns:a16="http://schemas.microsoft.com/office/drawing/2014/main" id="{64412897-FE29-69AE-02CD-3BB73C5F0F99}"/>
              </a:ext>
            </a:extLst>
          </p:cNvPr>
          <p:cNvSpPr txBox="1"/>
          <p:nvPr/>
        </p:nvSpPr>
        <p:spPr>
          <a:xfrm>
            <a:off x="6675836" y="385750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46" name="文本框 45">
            <a:extLst>
              <a:ext uri="{FF2B5EF4-FFF2-40B4-BE49-F238E27FC236}">
                <a16:creationId xmlns:a16="http://schemas.microsoft.com/office/drawing/2014/main" id="{67CFD101-968E-A4A4-2A45-9A08CF25BCB6}"/>
              </a:ext>
            </a:extLst>
          </p:cNvPr>
          <p:cNvSpPr txBox="1"/>
          <p:nvPr/>
        </p:nvSpPr>
        <p:spPr>
          <a:xfrm>
            <a:off x="6976594" y="3857503"/>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47" name="文本框 46">
            <a:extLst>
              <a:ext uri="{FF2B5EF4-FFF2-40B4-BE49-F238E27FC236}">
                <a16:creationId xmlns:a16="http://schemas.microsoft.com/office/drawing/2014/main" id="{9F4B7751-C056-7566-869F-E2A52659EEC9}"/>
              </a:ext>
            </a:extLst>
          </p:cNvPr>
          <p:cNvSpPr txBox="1"/>
          <p:nvPr/>
        </p:nvSpPr>
        <p:spPr>
          <a:xfrm>
            <a:off x="5680525" y="4195909"/>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48" name="文本框 47">
            <a:extLst>
              <a:ext uri="{FF2B5EF4-FFF2-40B4-BE49-F238E27FC236}">
                <a16:creationId xmlns:a16="http://schemas.microsoft.com/office/drawing/2014/main" id="{3589A453-8C8B-24FA-EFBD-E097EDE24CF8}"/>
              </a:ext>
            </a:extLst>
          </p:cNvPr>
          <p:cNvSpPr txBox="1"/>
          <p:nvPr/>
        </p:nvSpPr>
        <p:spPr>
          <a:xfrm>
            <a:off x="6037092" y="4195909"/>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49" name="文本框 48">
            <a:extLst>
              <a:ext uri="{FF2B5EF4-FFF2-40B4-BE49-F238E27FC236}">
                <a16:creationId xmlns:a16="http://schemas.microsoft.com/office/drawing/2014/main" id="{382F3970-3EB0-460D-B9A3-2498E7310F32}"/>
              </a:ext>
            </a:extLst>
          </p:cNvPr>
          <p:cNvSpPr txBox="1"/>
          <p:nvPr/>
        </p:nvSpPr>
        <p:spPr>
          <a:xfrm>
            <a:off x="6363608" y="4195909"/>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50" name="文本框 49">
            <a:extLst>
              <a:ext uri="{FF2B5EF4-FFF2-40B4-BE49-F238E27FC236}">
                <a16:creationId xmlns:a16="http://schemas.microsoft.com/office/drawing/2014/main" id="{1F0F9E85-5A1E-0334-FD55-D9B6B0AAC4A1}"/>
              </a:ext>
            </a:extLst>
          </p:cNvPr>
          <p:cNvSpPr txBox="1"/>
          <p:nvPr/>
        </p:nvSpPr>
        <p:spPr>
          <a:xfrm>
            <a:off x="6675836" y="418162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51" name="文本框 50">
            <a:extLst>
              <a:ext uri="{FF2B5EF4-FFF2-40B4-BE49-F238E27FC236}">
                <a16:creationId xmlns:a16="http://schemas.microsoft.com/office/drawing/2014/main" id="{B340F297-4CD3-2D7D-2D29-2A270CE1ADA8}"/>
              </a:ext>
            </a:extLst>
          </p:cNvPr>
          <p:cNvSpPr txBox="1"/>
          <p:nvPr/>
        </p:nvSpPr>
        <p:spPr>
          <a:xfrm>
            <a:off x="6976594" y="4181621"/>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52" name="文本框 51">
            <a:extLst>
              <a:ext uri="{FF2B5EF4-FFF2-40B4-BE49-F238E27FC236}">
                <a16:creationId xmlns:a16="http://schemas.microsoft.com/office/drawing/2014/main" id="{612BB53D-8EFB-559D-F93A-7245D84DD136}"/>
              </a:ext>
            </a:extLst>
          </p:cNvPr>
          <p:cNvSpPr txBox="1"/>
          <p:nvPr/>
        </p:nvSpPr>
        <p:spPr>
          <a:xfrm>
            <a:off x="8034808" y="4686043"/>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-8</a:t>
            </a:r>
            <a:endParaRPr kumimoji="1" lang="zh-CN" altLang="en-US" dirty="0">
              <a:latin typeface="Microsoft YaHei" panose="020B0503020204020204" pitchFamily="34" charset="-122"/>
              <a:ea typeface="Microsoft YaHei" panose="020B0503020204020204" pitchFamily="34" charset="-122"/>
            </a:endParaRPr>
          </a:p>
        </p:txBody>
      </p:sp>
      <p:sp>
        <p:nvSpPr>
          <p:cNvPr id="53" name="文本框 52">
            <a:extLst>
              <a:ext uri="{FF2B5EF4-FFF2-40B4-BE49-F238E27FC236}">
                <a16:creationId xmlns:a16="http://schemas.microsoft.com/office/drawing/2014/main" id="{95BA7673-B33C-AED5-EF2A-080B8E0F2469}"/>
              </a:ext>
            </a:extLst>
          </p:cNvPr>
          <p:cNvSpPr txBox="1"/>
          <p:nvPr/>
        </p:nvSpPr>
        <p:spPr>
          <a:xfrm>
            <a:off x="8034808" y="5008211"/>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-7</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1032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blinds(horizontal)">
                                      <p:cBhvr>
                                        <p:cTn id="9" dur="500"/>
                                        <p:tgtEl>
                                          <p:spTgt spid="3"/>
                                        </p:tgtEl>
                                      </p:cBhvr>
                                    </p:animEffect>
                                  </p:childTnLst>
                                </p:cTn>
                              </p:par>
                              <p:par>
                                <p:cTn id="10" presetID="3" presetClass="entr" presetSubtype="1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linds(horizontal)">
                                      <p:cBhvr>
                                        <p:cTn id="33" dur="500"/>
                                        <p:tgtEl>
                                          <p:spTgt spid="13"/>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linds(horizontal)">
                                      <p:cBhvr>
                                        <p:cTn id="36" dur="500"/>
                                        <p:tgtEl>
                                          <p:spTgt spid="14"/>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blinds(horizontal)">
                                      <p:cBhvr>
                                        <p:cTn id="39" dur="500"/>
                                        <p:tgtEl>
                                          <p:spTgt spid="15"/>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linds(horizontal)">
                                      <p:cBhvr>
                                        <p:cTn id="42" dur="500"/>
                                        <p:tgtEl>
                                          <p:spTgt spid="16"/>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linds(horizontal)">
                                      <p:cBhvr>
                                        <p:cTn id="45" dur="500"/>
                                        <p:tgtEl>
                                          <p:spTgt spid="17"/>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blinds(horizontal)">
                                      <p:cBhvr>
                                        <p:cTn id="48" dur="500"/>
                                        <p:tgtEl>
                                          <p:spTgt spid="18"/>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blinds(horizontal)">
                                      <p:cBhvr>
                                        <p:cTn id="51" dur="500"/>
                                        <p:tgtEl>
                                          <p:spTgt spid="19"/>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blinds(horizontal)">
                                      <p:cBhvr>
                                        <p:cTn id="54" dur="500"/>
                                        <p:tgtEl>
                                          <p:spTgt spid="20"/>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linds(horizontal)">
                                      <p:cBhvr>
                                        <p:cTn id="57" dur="500"/>
                                        <p:tgtEl>
                                          <p:spTgt spid="21"/>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blinds(horizontal)">
                                      <p:cBhvr>
                                        <p:cTn id="60" dur="500"/>
                                        <p:tgtEl>
                                          <p:spTgt spid="22"/>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linds(horizontal)">
                                      <p:cBhvr>
                                        <p:cTn id="63" dur="500"/>
                                        <p:tgtEl>
                                          <p:spTgt spid="23"/>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blinds(horizontal)">
                                      <p:cBhvr>
                                        <p:cTn id="66" dur="500"/>
                                        <p:tgtEl>
                                          <p:spTgt spid="24"/>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blinds(horizontal)">
                                      <p:cBhvr>
                                        <p:cTn id="69" dur="500"/>
                                        <p:tgtEl>
                                          <p:spTgt spid="25"/>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blinds(horizontal)">
                                      <p:cBhvr>
                                        <p:cTn id="72" dur="500"/>
                                        <p:tgtEl>
                                          <p:spTgt spid="26"/>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blinds(horizontal)">
                                      <p:cBhvr>
                                        <p:cTn id="75" dur="500"/>
                                        <p:tgtEl>
                                          <p:spTgt spid="27"/>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blinds(horizontal)">
                                      <p:cBhvr>
                                        <p:cTn id="78" dur="500"/>
                                        <p:tgtEl>
                                          <p:spTgt spid="28"/>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blinds(horizontal)">
                                      <p:cBhvr>
                                        <p:cTn id="81" dur="500"/>
                                        <p:tgtEl>
                                          <p:spTgt spid="29"/>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blinds(horizontal)">
                                      <p:cBhvr>
                                        <p:cTn id="84" dur="500"/>
                                        <p:tgtEl>
                                          <p:spTgt spid="30"/>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blinds(horizontal)">
                                      <p:cBhvr>
                                        <p:cTn id="87" dur="500"/>
                                        <p:tgtEl>
                                          <p:spTgt spid="31"/>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42"/>
                                        </p:tgtEl>
                                        <p:attrNameLst>
                                          <p:attrName>style.visibility</p:attrName>
                                        </p:attrNameLst>
                                      </p:cBhvr>
                                      <p:to>
                                        <p:strVal val="visible"/>
                                      </p:to>
                                    </p:set>
                                    <p:animEffect transition="in" filter="blinds(horizontal)">
                                      <p:cBhvr>
                                        <p:cTn id="90" dur="500"/>
                                        <p:tgtEl>
                                          <p:spTgt spid="42"/>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43"/>
                                        </p:tgtEl>
                                        <p:attrNameLst>
                                          <p:attrName>style.visibility</p:attrName>
                                        </p:attrNameLst>
                                      </p:cBhvr>
                                      <p:to>
                                        <p:strVal val="visible"/>
                                      </p:to>
                                    </p:set>
                                    <p:animEffect transition="in" filter="blinds(horizontal)">
                                      <p:cBhvr>
                                        <p:cTn id="93" dur="500"/>
                                        <p:tgtEl>
                                          <p:spTgt spid="43"/>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blinds(horizontal)">
                                      <p:cBhvr>
                                        <p:cTn id="96" dur="500"/>
                                        <p:tgtEl>
                                          <p:spTgt spid="44"/>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blinds(horizontal)">
                                      <p:cBhvr>
                                        <p:cTn id="99" dur="500"/>
                                        <p:tgtEl>
                                          <p:spTgt spid="45"/>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blinds(horizontal)">
                                      <p:cBhvr>
                                        <p:cTn id="102" dur="500"/>
                                        <p:tgtEl>
                                          <p:spTgt spid="46"/>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47"/>
                                        </p:tgtEl>
                                        <p:attrNameLst>
                                          <p:attrName>style.visibility</p:attrName>
                                        </p:attrNameLst>
                                      </p:cBhvr>
                                      <p:to>
                                        <p:strVal val="visible"/>
                                      </p:to>
                                    </p:set>
                                    <p:animEffect transition="in" filter="blinds(horizontal)">
                                      <p:cBhvr>
                                        <p:cTn id="105" dur="500"/>
                                        <p:tgtEl>
                                          <p:spTgt spid="47"/>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48"/>
                                        </p:tgtEl>
                                        <p:attrNameLst>
                                          <p:attrName>style.visibility</p:attrName>
                                        </p:attrNameLst>
                                      </p:cBhvr>
                                      <p:to>
                                        <p:strVal val="visible"/>
                                      </p:to>
                                    </p:set>
                                    <p:animEffect transition="in" filter="blinds(horizontal)">
                                      <p:cBhvr>
                                        <p:cTn id="108" dur="500"/>
                                        <p:tgtEl>
                                          <p:spTgt spid="48"/>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49"/>
                                        </p:tgtEl>
                                        <p:attrNameLst>
                                          <p:attrName>style.visibility</p:attrName>
                                        </p:attrNameLst>
                                      </p:cBhvr>
                                      <p:to>
                                        <p:strVal val="visible"/>
                                      </p:to>
                                    </p:set>
                                    <p:animEffect transition="in" filter="blinds(horizontal)">
                                      <p:cBhvr>
                                        <p:cTn id="111" dur="500"/>
                                        <p:tgtEl>
                                          <p:spTgt spid="49"/>
                                        </p:tgtEl>
                                      </p:cBhvr>
                                    </p:animEffect>
                                  </p:childTnLst>
                                </p:cTn>
                              </p:par>
                              <p:par>
                                <p:cTn id="112" presetID="3" presetClass="entr" presetSubtype="10" fill="hold" grpId="0" nodeType="withEffect">
                                  <p:stCondLst>
                                    <p:cond delay="0"/>
                                  </p:stCondLst>
                                  <p:childTnLst>
                                    <p:set>
                                      <p:cBhvr>
                                        <p:cTn id="113" dur="1" fill="hold">
                                          <p:stCondLst>
                                            <p:cond delay="0"/>
                                          </p:stCondLst>
                                        </p:cTn>
                                        <p:tgtEl>
                                          <p:spTgt spid="50"/>
                                        </p:tgtEl>
                                        <p:attrNameLst>
                                          <p:attrName>style.visibility</p:attrName>
                                        </p:attrNameLst>
                                      </p:cBhvr>
                                      <p:to>
                                        <p:strVal val="visible"/>
                                      </p:to>
                                    </p:set>
                                    <p:animEffect transition="in" filter="blinds(horizontal)">
                                      <p:cBhvr>
                                        <p:cTn id="114" dur="500"/>
                                        <p:tgtEl>
                                          <p:spTgt spid="50"/>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51"/>
                                        </p:tgtEl>
                                        <p:attrNameLst>
                                          <p:attrName>style.visibility</p:attrName>
                                        </p:attrNameLst>
                                      </p:cBhvr>
                                      <p:to>
                                        <p:strVal val="visible"/>
                                      </p:to>
                                    </p:set>
                                    <p:animEffect transition="in" filter="blinds(horizontal)">
                                      <p:cBhvr>
                                        <p:cTn id="117" dur="500"/>
                                        <p:tgtEl>
                                          <p:spTgt spid="51"/>
                                        </p:tgtEl>
                                      </p:cBhvr>
                                    </p:animEffect>
                                  </p:childTnLst>
                                </p:cTn>
                              </p:par>
                              <p:par>
                                <p:cTn id="118" presetID="3" presetClass="entr" presetSubtype="10" fill="hold" grpId="0" nodeType="withEffect">
                                  <p:stCondLst>
                                    <p:cond delay="0"/>
                                  </p:stCondLst>
                                  <p:childTnLst>
                                    <p:set>
                                      <p:cBhvr>
                                        <p:cTn id="119" dur="1" fill="hold">
                                          <p:stCondLst>
                                            <p:cond delay="0"/>
                                          </p:stCondLst>
                                        </p:cTn>
                                        <p:tgtEl>
                                          <p:spTgt spid="52"/>
                                        </p:tgtEl>
                                        <p:attrNameLst>
                                          <p:attrName>style.visibility</p:attrName>
                                        </p:attrNameLst>
                                      </p:cBhvr>
                                      <p:to>
                                        <p:strVal val="visible"/>
                                      </p:to>
                                    </p:set>
                                    <p:animEffect transition="in" filter="blinds(horizontal)">
                                      <p:cBhvr>
                                        <p:cTn id="120" dur="500"/>
                                        <p:tgtEl>
                                          <p:spTgt spid="52"/>
                                        </p:tgtEl>
                                      </p:cBhvr>
                                    </p:animEffect>
                                  </p:childTnLst>
                                </p:cTn>
                              </p:par>
                              <p:par>
                                <p:cTn id="121" presetID="3" presetClass="entr" presetSubtype="1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blinds(horizontal)">
                                      <p:cBhvr>
                                        <p:cTn id="12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42" grpId="0"/>
      <p:bldP spid="43" grpId="0"/>
      <p:bldP spid="44" grpId="0"/>
      <p:bldP spid="45" grpId="0"/>
      <p:bldP spid="46" grpId="0"/>
      <p:bldP spid="47" grpId="0"/>
      <p:bldP spid="48" grpId="0"/>
      <p:bldP spid="49" grpId="0"/>
      <p:bldP spid="50" grpId="0"/>
      <p:bldP spid="51" grpId="0"/>
      <p:bldP spid="52" grpId="0"/>
      <p:bldP spid="53"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文本捲積计算举例</a:t>
            </a:r>
          </a:p>
        </p:txBody>
      </p:sp>
      <p:pic>
        <p:nvPicPr>
          <p:cNvPr id="4" name="图片 3"/>
          <p:cNvPicPr>
            <a:picLocks noChangeAspect="1"/>
          </p:cNvPicPr>
          <p:nvPr/>
        </p:nvPicPr>
        <p:blipFill>
          <a:blip r:embed="rId2"/>
          <a:stretch>
            <a:fillRect/>
          </a:stretch>
        </p:blipFill>
        <p:spPr>
          <a:xfrm>
            <a:off x="893247" y="1480457"/>
            <a:ext cx="9578398" cy="4319452"/>
          </a:xfrm>
          <a:prstGeom prst="rect">
            <a:avLst/>
          </a:prstGeom>
        </p:spPr>
      </p:pic>
      <p:pic>
        <p:nvPicPr>
          <p:cNvPr id="5" name="图片 4"/>
          <p:cNvPicPr>
            <a:picLocks noChangeAspect="1"/>
          </p:cNvPicPr>
          <p:nvPr/>
        </p:nvPicPr>
        <p:blipFill>
          <a:blip r:embed="rId3"/>
          <a:stretch>
            <a:fillRect/>
          </a:stretch>
        </p:blipFill>
        <p:spPr>
          <a:xfrm>
            <a:off x="884538" y="1471748"/>
            <a:ext cx="9597708" cy="4328160"/>
          </a:xfrm>
          <a:prstGeom prst="rect">
            <a:avLst/>
          </a:prstGeom>
        </p:spPr>
      </p:pic>
      <p:sp>
        <p:nvSpPr>
          <p:cNvPr id="3" name="文本框 2">
            <a:extLst>
              <a:ext uri="{FF2B5EF4-FFF2-40B4-BE49-F238E27FC236}">
                <a16:creationId xmlns:a16="http://schemas.microsoft.com/office/drawing/2014/main" id="{0507F587-A262-0D32-47A9-90BDA9B24192}"/>
              </a:ext>
            </a:extLst>
          </p:cNvPr>
          <p:cNvSpPr txBox="1"/>
          <p:nvPr/>
        </p:nvSpPr>
        <p:spPr>
          <a:xfrm>
            <a:off x="5427616" y="2414588"/>
            <a:ext cx="1946367" cy="369332"/>
          </a:xfrm>
          <a:prstGeom prst="rect">
            <a:avLst/>
          </a:prstGeom>
          <a:solidFill>
            <a:schemeClr val="bg1"/>
          </a:solid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大小为</a:t>
            </a:r>
            <a:r>
              <a:rPr kumimoji="1" lang="en-US" altLang="zh-CN" dirty="0">
                <a:latin typeface="Microsoft YaHei" panose="020B0503020204020204" pitchFamily="34" charset="-122"/>
                <a:ea typeface="Microsoft YaHei" panose="020B0503020204020204" pitchFamily="34" charset="-122"/>
              </a:rPr>
              <a:t>3</a:t>
            </a:r>
            <a:r>
              <a:rPr kumimoji="1" lang="zh-CN" altLang="en-US" dirty="0">
                <a:latin typeface="Microsoft YaHei" panose="020B0503020204020204" pitchFamily="34" charset="-122"/>
                <a:ea typeface="Microsoft YaHei" panose="020B0503020204020204" pitchFamily="34" charset="-122"/>
              </a:rPr>
              <a:t>的捲積核</a:t>
            </a:r>
          </a:p>
        </p:txBody>
      </p:sp>
      <p:sp>
        <p:nvSpPr>
          <p:cNvPr id="6" name="文本框 5">
            <a:extLst>
              <a:ext uri="{FF2B5EF4-FFF2-40B4-BE49-F238E27FC236}">
                <a16:creationId xmlns:a16="http://schemas.microsoft.com/office/drawing/2014/main" id="{F856EA48-A59A-30BC-D5DF-33C09BD09E07}"/>
              </a:ext>
            </a:extLst>
          </p:cNvPr>
          <p:cNvSpPr txBox="1"/>
          <p:nvPr/>
        </p:nvSpPr>
        <p:spPr>
          <a:xfrm>
            <a:off x="2465342" y="1681163"/>
            <a:ext cx="1725152" cy="369332"/>
          </a:xfrm>
          <a:prstGeom prst="rect">
            <a:avLst/>
          </a:prstGeom>
          <a:solidFill>
            <a:schemeClr val="bg1"/>
          </a:solid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4x5</a:t>
            </a:r>
            <a:r>
              <a:rPr kumimoji="1" lang="zh-CN" altLang="en-US" dirty="0">
                <a:latin typeface="Microsoft YaHei" panose="020B0503020204020204" pitchFamily="34" charset="-122"/>
                <a:ea typeface="Microsoft YaHei" panose="020B0503020204020204" pitchFamily="34" charset="-122"/>
              </a:rPr>
              <a:t>的句子矩阵</a:t>
            </a:r>
          </a:p>
        </p:txBody>
      </p:sp>
      <p:sp>
        <p:nvSpPr>
          <p:cNvPr id="7" name="文本框 6">
            <a:extLst>
              <a:ext uri="{FF2B5EF4-FFF2-40B4-BE49-F238E27FC236}">
                <a16:creationId xmlns:a16="http://schemas.microsoft.com/office/drawing/2014/main" id="{E39095FE-9BD6-6528-A84A-4FF6C03C724E}"/>
              </a:ext>
            </a:extLst>
          </p:cNvPr>
          <p:cNvSpPr txBox="1"/>
          <p:nvPr/>
        </p:nvSpPr>
        <p:spPr>
          <a:xfrm>
            <a:off x="2514598" y="2201346"/>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C56F493B-F266-F277-E4F8-491F057B200F}"/>
              </a:ext>
            </a:extLst>
          </p:cNvPr>
          <p:cNvSpPr txBox="1"/>
          <p:nvPr/>
        </p:nvSpPr>
        <p:spPr>
          <a:xfrm>
            <a:off x="2841114" y="2201346"/>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3A4D4DF6-8C88-1488-B286-E86E953E9763}"/>
              </a:ext>
            </a:extLst>
          </p:cNvPr>
          <p:cNvSpPr txBox="1"/>
          <p:nvPr/>
        </p:nvSpPr>
        <p:spPr>
          <a:xfrm>
            <a:off x="3167630" y="2201346"/>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29126EFC-193E-2FFF-BCF9-F92AF240CC2B}"/>
              </a:ext>
            </a:extLst>
          </p:cNvPr>
          <p:cNvSpPr txBox="1"/>
          <p:nvPr/>
        </p:nvSpPr>
        <p:spPr>
          <a:xfrm>
            <a:off x="3479858" y="2187058"/>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11" name="文本框 10">
            <a:extLst>
              <a:ext uri="{FF2B5EF4-FFF2-40B4-BE49-F238E27FC236}">
                <a16:creationId xmlns:a16="http://schemas.microsoft.com/office/drawing/2014/main" id="{4ED45420-B553-FC0F-4004-4AFAF443BE31}"/>
              </a:ext>
            </a:extLst>
          </p:cNvPr>
          <p:cNvSpPr txBox="1"/>
          <p:nvPr/>
        </p:nvSpPr>
        <p:spPr>
          <a:xfrm>
            <a:off x="3724334" y="2188963"/>
            <a:ext cx="418704" cy="369332"/>
          </a:xfrm>
          <a:prstGeom prst="rect">
            <a:avLst/>
          </a:prstGeom>
          <a:noFill/>
        </p:spPr>
        <p:txBody>
          <a:bodyPr wrap="square" rtlCol="0">
            <a:spAutoFit/>
          </a:bodyPr>
          <a:lstStyle/>
          <a:p>
            <a:r>
              <a:rPr kumimoji="1" lang="en-US" altLang="zh-CN" dirty="0">
                <a:latin typeface="Microsoft YaHei" panose="020B0503020204020204" pitchFamily="34" charset="-122"/>
                <a:ea typeface="Microsoft YaHei" panose="020B0503020204020204" pitchFamily="34" charset="-122"/>
              </a:rPr>
              <a:t>-3</a:t>
            </a:r>
            <a:endParaRPr kumimoji="1" lang="zh-CN" altLang="en-US" dirty="0">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4875C5C9-1B50-DC42-ADA1-674FE21B6EE7}"/>
              </a:ext>
            </a:extLst>
          </p:cNvPr>
          <p:cNvSpPr txBox="1"/>
          <p:nvPr/>
        </p:nvSpPr>
        <p:spPr>
          <a:xfrm>
            <a:off x="2507400" y="255115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9</a:t>
            </a:r>
            <a:endParaRPr kumimoji="1" lang="zh-CN" altLang="en-US" dirty="0">
              <a:latin typeface="Microsoft YaHei" panose="020B0503020204020204" pitchFamily="34" charset="-122"/>
              <a:ea typeface="Microsoft YaHei" panose="020B0503020204020204" pitchFamily="34" charset="-122"/>
            </a:endParaRPr>
          </a:p>
        </p:txBody>
      </p:sp>
      <p:sp>
        <p:nvSpPr>
          <p:cNvPr id="13" name="文本框 12">
            <a:extLst>
              <a:ext uri="{FF2B5EF4-FFF2-40B4-BE49-F238E27FC236}">
                <a16:creationId xmlns:a16="http://schemas.microsoft.com/office/drawing/2014/main" id="{1F850E42-12EC-FD2F-4D28-784051C8D5AA}"/>
              </a:ext>
            </a:extLst>
          </p:cNvPr>
          <p:cNvSpPr txBox="1"/>
          <p:nvPr/>
        </p:nvSpPr>
        <p:spPr>
          <a:xfrm>
            <a:off x="2833916" y="255115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5</a:t>
            </a:r>
            <a:endParaRPr kumimoji="1" lang="zh-CN" altLang="en-US" dirty="0">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C38A977B-CB9E-FE7E-C25F-BFF85224B32F}"/>
              </a:ext>
            </a:extLst>
          </p:cNvPr>
          <p:cNvSpPr txBox="1"/>
          <p:nvPr/>
        </p:nvSpPr>
        <p:spPr>
          <a:xfrm>
            <a:off x="3160432" y="255115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4</a:t>
            </a:r>
            <a:endParaRPr kumimoji="1" lang="zh-CN" altLang="en-US" dirty="0">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6251F75B-27FF-55B5-7918-60E8CAF81142}"/>
              </a:ext>
            </a:extLst>
          </p:cNvPr>
          <p:cNvSpPr txBox="1"/>
          <p:nvPr/>
        </p:nvSpPr>
        <p:spPr>
          <a:xfrm>
            <a:off x="3472660" y="253686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942A7E00-098A-2D70-CAF9-DBFB2F032358}"/>
              </a:ext>
            </a:extLst>
          </p:cNvPr>
          <p:cNvSpPr txBox="1"/>
          <p:nvPr/>
        </p:nvSpPr>
        <p:spPr>
          <a:xfrm>
            <a:off x="3799176" y="253686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34767A91-7328-8336-D2E2-F5AEECED113A}"/>
              </a:ext>
            </a:extLst>
          </p:cNvPr>
          <p:cNvSpPr txBox="1"/>
          <p:nvPr/>
        </p:nvSpPr>
        <p:spPr>
          <a:xfrm>
            <a:off x="2500202" y="2875198"/>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18" name="文本框 17">
            <a:extLst>
              <a:ext uri="{FF2B5EF4-FFF2-40B4-BE49-F238E27FC236}">
                <a16:creationId xmlns:a16="http://schemas.microsoft.com/office/drawing/2014/main" id="{6FD3DBCE-95EF-7E67-A76E-9C164D4DBD5E}"/>
              </a:ext>
            </a:extLst>
          </p:cNvPr>
          <p:cNvSpPr txBox="1"/>
          <p:nvPr/>
        </p:nvSpPr>
        <p:spPr>
          <a:xfrm>
            <a:off x="2826718" y="2875198"/>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3</a:t>
            </a:r>
            <a:endParaRPr kumimoji="1" lang="zh-CN" altLang="en-US" dirty="0">
              <a:latin typeface="Microsoft YaHei" panose="020B0503020204020204" pitchFamily="34" charset="-122"/>
              <a:ea typeface="Microsoft YaHei" panose="020B0503020204020204" pitchFamily="34" charset="-122"/>
            </a:endParaRPr>
          </a:p>
        </p:txBody>
      </p:sp>
      <p:sp>
        <p:nvSpPr>
          <p:cNvPr id="19" name="文本框 18">
            <a:extLst>
              <a:ext uri="{FF2B5EF4-FFF2-40B4-BE49-F238E27FC236}">
                <a16:creationId xmlns:a16="http://schemas.microsoft.com/office/drawing/2014/main" id="{4E6AE97C-0CF7-85E0-D04B-BD63924B7A3B}"/>
              </a:ext>
            </a:extLst>
          </p:cNvPr>
          <p:cNvSpPr txBox="1"/>
          <p:nvPr/>
        </p:nvSpPr>
        <p:spPr>
          <a:xfrm>
            <a:off x="3153234" y="2875198"/>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4</a:t>
            </a:r>
            <a:endParaRPr kumimoji="1" lang="zh-CN" altLang="en-US" dirty="0">
              <a:latin typeface="Microsoft YaHei" panose="020B0503020204020204" pitchFamily="34" charset="-122"/>
              <a:ea typeface="Microsoft YaHei" panose="020B0503020204020204" pitchFamily="34" charset="-122"/>
            </a:endParaRPr>
          </a:p>
        </p:txBody>
      </p:sp>
      <p:sp>
        <p:nvSpPr>
          <p:cNvPr id="20" name="文本框 19">
            <a:extLst>
              <a:ext uri="{FF2B5EF4-FFF2-40B4-BE49-F238E27FC236}">
                <a16:creationId xmlns:a16="http://schemas.microsoft.com/office/drawing/2014/main" id="{DE225FE9-FDD0-A7D2-138B-6DB421B5D8D0}"/>
              </a:ext>
            </a:extLst>
          </p:cNvPr>
          <p:cNvSpPr txBox="1"/>
          <p:nvPr/>
        </p:nvSpPr>
        <p:spPr>
          <a:xfrm>
            <a:off x="3465462" y="2860910"/>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5</a:t>
            </a:r>
            <a:endParaRPr kumimoji="1" lang="zh-CN" altLang="en-US" dirty="0">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5F616183-4B1E-FD76-DF5C-4443182BB5BE}"/>
              </a:ext>
            </a:extLst>
          </p:cNvPr>
          <p:cNvSpPr txBox="1"/>
          <p:nvPr/>
        </p:nvSpPr>
        <p:spPr>
          <a:xfrm>
            <a:off x="3791978" y="2860910"/>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6</a:t>
            </a:r>
            <a:endParaRPr kumimoji="1" lang="zh-CN" altLang="en-US" dirty="0">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03F70BC2-6405-EC5B-1186-E8FD36D85DFE}"/>
              </a:ext>
            </a:extLst>
          </p:cNvPr>
          <p:cNvSpPr txBox="1"/>
          <p:nvPr/>
        </p:nvSpPr>
        <p:spPr>
          <a:xfrm>
            <a:off x="2493004" y="3196427"/>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888A2616-C214-ADC8-8CD3-F236FC1E40B0}"/>
              </a:ext>
            </a:extLst>
          </p:cNvPr>
          <p:cNvSpPr txBox="1"/>
          <p:nvPr/>
        </p:nvSpPr>
        <p:spPr>
          <a:xfrm>
            <a:off x="2819520" y="3196427"/>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2</a:t>
            </a:r>
            <a:endParaRPr kumimoji="1" lang="zh-CN" altLang="en-US" dirty="0">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08CDCE4E-46C8-54B0-50B7-04734283B3FE}"/>
              </a:ext>
            </a:extLst>
          </p:cNvPr>
          <p:cNvSpPr txBox="1"/>
          <p:nvPr/>
        </p:nvSpPr>
        <p:spPr>
          <a:xfrm>
            <a:off x="3146036" y="3196427"/>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3</a:t>
            </a:r>
            <a:endParaRPr kumimoji="1" lang="zh-CN" altLang="en-US" dirty="0">
              <a:latin typeface="Microsoft YaHei" panose="020B0503020204020204" pitchFamily="34" charset="-122"/>
              <a:ea typeface="Microsoft YaHei" panose="020B0503020204020204" pitchFamily="34" charset="-122"/>
            </a:endParaRPr>
          </a:p>
        </p:txBody>
      </p:sp>
      <p:sp>
        <p:nvSpPr>
          <p:cNvPr id="25" name="文本框 24">
            <a:extLst>
              <a:ext uri="{FF2B5EF4-FFF2-40B4-BE49-F238E27FC236}">
                <a16:creationId xmlns:a16="http://schemas.microsoft.com/office/drawing/2014/main" id="{357CBC39-D711-72C8-9B2D-5E4782FF806C}"/>
              </a:ext>
            </a:extLst>
          </p:cNvPr>
          <p:cNvSpPr txBox="1"/>
          <p:nvPr/>
        </p:nvSpPr>
        <p:spPr>
          <a:xfrm>
            <a:off x="3458264" y="3182139"/>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26" name="文本框 25">
            <a:extLst>
              <a:ext uri="{FF2B5EF4-FFF2-40B4-BE49-F238E27FC236}">
                <a16:creationId xmlns:a16="http://schemas.microsoft.com/office/drawing/2014/main" id="{D241F40F-C8E8-4D71-E3FA-153104380680}"/>
              </a:ext>
            </a:extLst>
          </p:cNvPr>
          <p:cNvSpPr txBox="1"/>
          <p:nvPr/>
        </p:nvSpPr>
        <p:spPr>
          <a:xfrm>
            <a:off x="3784780" y="3182139"/>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86CA60D8-C4F2-A347-E1C8-F49DE9038ADE}"/>
              </a:ext>
            </a:extLst>
          </p:cNvPr>
          <p:cNvSpPr txBox="1"/>
          <p:nvPr/>
        </p:nvSpPr>
        <p:spPr>
          <a:xfrm>
            <a:off x="5680525" y="3547673"/>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28" name="文本框 27">
            <a:extLst>
              <a:ext uri="{FF2B5EF4-FFF2-40B4-BE49-F238E27FC236}">
                <a16:creationId xmlns:a16="http://schemas.microsoft.com/office/drawing/2014/main" id="{BDBE5383-89BD-22D3-8352-3A779BC1DF28}"/>
              </a:ext>
            </a:extLst>
          </p:cNvPr>
          <p:cNvSpPr txBox="1"/>
          <p:nvPr/>
        </p:nvSpPr>
        <p:spPr>
          <a:xfrm>
            <a:off x="6037092" y="354767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29" name="文本框 28">
            <a:extLst>
              <a:ext uri="{FF2B5EF4-FFF2-40B4-BE49-F238E27FC236}">
                <a16:creationId xmlns:a16="http://schemas.microsoft.com/office/drawing/2014/main" id="{EAE10DD1-A6AC-DDCE-6BA5-3DE59C98D22C}"/>
              </a:ext>
            </a:extLst>
          </p:cNvPr>
          <p:cNvSpPr txBox="1"/>
          <p:nvPr/>
        </p:nvSpPr>
        <p:spPr>
          <a:xfrm>
            <a:off x="6363608" y="354767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30" name="文本框 29">
            <a:extLst>
              <a:ext uri="{FF2B5EF4-FFF2-40B4-BE49-F238E27FC236}">
                <a16:creationId xmlns:a16="http://schemas.microsoft.com/office/drawing/2014/main" id="{F53689EB-EAAD-2FD1-610C-28840E10D85E}"/>
              </a:ext>
            </a:extLst>
          </p:cNvPr>
          <p:cNvSpPr txBox="1"/>
          <p:nvPr/>
        </p:nvSpPr>
        <p:spPr>
          <a:xfrm>
            <a:off x="6675836" y="3533385"/>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31" name="文本框 30">
            <a:extLst>
              <a:ext uri="{FF2B5EF4-FFF2-40B4-BE49-F238E27FC236}">
                <a16:creationId xmlns:a16="http://schemas.microsoft.com/office/drawing/2014/main" id="{C504A5D4-B6EE-E892-3561-09297E3A4ACE}"/>
              </a:ext>
            </a:extLst>
          </p:cNvPr>
          <p:cNvSpPr txBox="1"/>
          <p:nvPr/>
        </p:nvSpPr>
        <p:spPr>
          <a:xfrm>
            <a:off x="6976594" y="3533385"/>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32" name="文本框 31">
            <a:extLst>
              <a:ext uri="{FF2B5EF4-FFF2-40B4-BE49-F238E27FC236}">
                <a16:creationId xmlns:a16="http://schemas.microsoft.com/office/drawing/2014/main" id="{7C005742-36FB-9FA2-A835-3D54C278DE06}"/>
              </a:ext>
            </a:extLst>
          </p:cNvPr>
          <p:cNvSpPr txBox="1"/>
          <p:nvPr/>
        </p:nvSpPr>
        <p:spPr>
          <a:xfrm>
            <a:off x="5680525" y="3871791"/>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33" name="文本框 32">
            <a:extLst>
              <a:ext uri="{FF2B5EF4-FFF2-40B4-BE49-F238E27FC236}">
                <a16:creationId xmlns:a16="http://schemas.microsoft.com/office/drawing/2014/main" id="{EC585E8C-0AF9-96D5-4D78-8D08E02472AA}"/>
              </a:ext>
            </a:extLst>
          </p:cNvPr>
          <p:cNvSpPr txBox="1"/>
          <p:nvPr/>
        </p:nvSpPr>
        <p:spPr>
          <a:xfrm>
            <a:off x="6037092" y="387179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34" name="文本框 33">
            <a:extLst>
              <a:ext uri="{FF2B5EF4-FFF2-40B4-BE49-F238E27FC236}">
                <a16:creationId xmlns:a16="http://schemas.microsoft.com/office/drawing/2014/main" id="{B7141BF1-20E0-088A-8D44-98DE5DD9738F}"/>
              </a:ext>
            </a:extLst>
          </p:cNvPr>
          <p:cNvSpPr txBox="1"/>
          <p:nvPr/>
        </p:nvSpPr>
        <p:spPr>
          <a:xfrm>
            <a:off x="6363608" y="387179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35" name="文本框 34">
            <a:extLst>
              <a:ext uri="{FF2B5EF4-FFF2-40B4-BE49-F238E27FC236}">
                <a16:creationId xmlns:a16="http://schemas.microsoft.com/office/drawing/2014/main" id="{EFA43422-A57D-57F9-69A4-8058A6ABB35E}"/>
              </a:ext>
            </a:extLst>
          </p:cNvPr>
          <p:cNvSpPr txBox="1"/>
          <p:nvPr/>
        </p:nvSpPr>
        <p:spPr>
          <a:xfrm>
            <a:off x="6675836" y="3857503"/>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36" name="文本框 35">
            <a:extLst>
              <a:ext uri="{FF2B5EF4-FFF2-40B4-BE49-F238E27FC236}">
                <a16:creationId xmlns:a16="http://schemas.microsoft.com/office/drawing/2014/main" id="{64A73410-3FBE-2CDB-609B-0E56210CC101}"/>
              </a:ext>
            </a:extLst>
          </p:cNvPr>
          <p:cNvSpPr txBox="1"/>
          <p:nvPr/>
        </p:nvSpPr>
        <p:spPr>
          <a:xfrm>
            <a:off x="6976594" y="3857503"/>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37" name="文本框 36">
            <a:extLst>
              <a:ext uri="{FF2B5EF4-FFF2-40B4-BE49-F238E27FC236}">
                <a16:creationId xmlns:a16="http://schemas.microsoft.com/office/drawing/2014/main" id="{E09AAD90-9CBB-50C0-C06C-5A8E3014C364}"/>
              </a:ext>
            </a:extLst>
          </p:cNvPr>
          <p:cNvSpPr txBox="1"/>
          <p:nvPr/>
        </p:nvSpPr>
        <p:spPr>
          <a:xfrm>
            <a:off x="5680525" y="4195909"/>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38" name="文本框 37">
            <a:extLst>
              <a:ext uri="{FF2B5EF4-FFF2-40B4-BE49-F238E27FC236}">
                <a16:creationId xmlns:a16="http://schemas.microsoft.com/office/drawing/2014/main" id="{98935F65-A45A-F43D-AC40-7C63E4747D62}"/>
              </a:ext>
            </a:extLst>
          </p:cNvPr>
          <p:cNvSpPr txBox="1"/>
          <p:nvPr/>
        </p:nvSpPr>
        <p:spPr>
          <a:xfrm>
            <a:off x="6037092" y="4195909"/>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39" name="文本框 38">
            <a:extLst>
              <a:ext uri="{FF2B5EF4-FFF2-40B4-BE49-F238E27FC236}">
                <a16:creationId xmlns:a16="http://schemas.microsoft.com/office/drawing/2014/main" id="{6E10C3CB-2EA5-BC99-7CE4-F74A72AC73F0}"/>
              </a:ext>
            </a:extLst>
          </p:cNvPr>
          <p:cNvSpPr txBox="1"/>
          <p:nvPr/>
        </p:nvSpPr>
        <p:spPr>
          <a:xfrm>
            <a:off x="6363608" y="4195909"/>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40" name="文本框 39">
            <a:extLst>
              <a:ext uri="{FF2B5EF4-FFF2-40B4-BE49-F238E27FC236}">
                <a16:creationId xmlns:a16="http://schemas.microsoft.com/office/drawing/2014/main" id="{6D57A3AB-5457-000B-9E45-8D4F25B6B5F3}"/>
              </a:ext>
            </a:extLst>
          </p:cNvPr>
          <p:cNvSpPr txBox="1"/>
          <p:nvPr/>
        </p:nvSpPr>
        <p:spPr>
          <a:xfrm>
            <a:off x="6675836" y="4181621"/>
            <a:ext cx="319318"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
        <p:nvSpPr>
          <p:cNvPr id="41" name="文本框 40">
            <a:extLst>
              <a:ext uri="{FF2B5EF4-FFF2-40B4-BE49-F238E27FC236}">
                <a16:creationId xmlns:a16="http://schemas.microsoft.com/office/drawing/2014/main" id="{5318C03E-9904-C12A-3442-7FCAB48164CE}"/>
              </a:ext>
            </a:extLst>
          </p:cNvPr>
          <p:cNvSpPr txBox="1"/>
          <p:nvPr/>
        </p:nvSpPr>
        <p:spPr>
          <a:xfrm>
            <a:off x="6976594" y="4181621"/>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-1</a:t>
            </a:r>
            <a:endParaRPr kumimoji="1" lang="zh-CN" altLang="en-US" dirty="0">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22EF56E3-9B96-6CED-73D4-7F553512E61F}"/>
              </a:ext>
            </a:extLst>
          </p:cNvPr>
          <p:cNvSpPr txBox="1"/>
          <p:nvPr/>
        </p:nvSpPr>
        <p:spPr>
          <a:xfrm>
            <a:off x="8034808" y="4686043"/>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-8</a:t>
            </a:r>
            <a:endParaRPr kumimoji="1" lang="zh-CN" altLang="en-US" dirty="0">
              <a:latin typeface="Microsoft YaHei" panose="020B0503020204020204" pitchFamily="34" charset="-122"/>
              <a:ea typeface="Microsoft YaHei" panose="020B0503020204020204" pitchFamily="34" charset="-122"/>
            </a:endParaRPr>
          </a:p>
        </p:txBody>
      </p:sp>
      <p:sp>
        <p:nvSpPr>
          <p:cNvPr id="43" name="文本框 42">
            <a:extLst>
              <a:ext uri="{FF2B5EF4-FFF2-40B4-BE49-F238E27FC236}">
                <a16:creationId xmlns:a16="http://schemas.microsoft.com/office/drawing/2014/main" id="{745C8F55-48BF-D8EE-D0EF-A1D490351550}"/>
              </a:ext>
            </a:extLst>
          </p:cNvPr>
          <p:cNvSpPr txBox="1"/>
          <p:nvPr/>
        </p:nvSpPr>
        <p:spPr>
          <a:xfrm>
            <a:off x="8034808" y="5008211"/>
            <a:ext cx="41870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-7</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4470990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307776" y="365754"/>
            <a:ext cx="7321999" cy="5869441"/>
            <a:chOff x="2307776" y="478971"/>
            <a:chExt cx="7321999" cy="5869441"/>
          </a:xfrm>
        </p:grpSpPr>
        <p:pic>
          <p:nvPicPr>
            <p:cNvPr id="5" name="图片 4"/>
            <p:cNvPicPr>
              <a:picLocks noChangeAspect="1"/>
            </p:cNvPicPr>
            <p:nvPr/>
          </p:nvPicPr>
          <p:blipFill>
            <a:blip r:embed="rId2"/>
            <a:stretch>
              <a:fillRect/>
            </a:stretch>
          </p:blipFill>
          <p:spPr>
            <a:xfrm>
              <a:off x="2562225" y="509587"/>
              <a:ext cx="7067550" cy="5838825"/>
            </a:xfrm>
            <a:prstGeom prst="rect">
              <a:avLst/>
            </a:prstGeom>
          </p:spPr>
        </p:pic>
        <p:pic>
          <p:nvPicPr>
            <p:cNvPr id="7" name="图片 6"/>
            <p:cNvPicPr>
              <a:picLocks noChangeAspect="1"/>
            </p:cNvPicPr>
            <p:nvPr/>
          </p:nvPicPr>
          <p:blipFill>
            <a:blip r:embed="rId3"/>
            <a:stretch>
              <a:fillRect/>
            </a:stretch>
          </p:blipFill>
          <p:spPr>
            <a:xfrm>
              <a:off x="2307776" y="1883907"/>
              <a:ext cx="1029995" cy="1676736"/>
            </a:xfrm>
            <a:prstGeom prst="rect">
              <a:avLst/>
            </a:prstGeom>
          </p:spPr>
        </p:pic>
        <p:pic>
          <p:nvPicPr>
            <p:cNvPr id="9" name="图片 8"/>
            <p:cNvPicPr>
              <a:picLocks noChangeAspect="1"/>
            </p:cNvPicPr>
            <p:nvPr/>
          </p:nvPicPr>
          <p:blipFill>
            <a:blip r:embed="rId4"/>
            <a:stretch>
              <a:fillRect/>
            </a:stretch>
          </p:blipFill>
          <p:spPr>
            <a:xfrm>
              <a:off x="3488615" y="1367247"/>
              <a:ext cx="778583" cy="551496"/>
            </a:xfrm>
            <a:prstGeom prst="rect">
              <a:avLst/>
            </a:prstGeom>
          </p:spPr>
        </p:pic>
        <p:sp>
          <p:nvSpPr>
            <p:cNvPr id="10" name="矩形 9"/>
            <p:cNvSpPr/>
            <p:nvPr/>
          </p:nvSpPr>
          <p:spPr>
            <a:xfrm>
              <a:off x="7228114" y="478971"/>
              <a:ext cx="1663337" cy="61830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3" name="标题 6"/>
          <p:cNvSpPr txBox="1">
            <a:spLocks/>
          </p:cNvSpPr>
          <p:nvPr/>
        </p:nvSpPr>
        <p:spPr>
          <a:xfrm>
            <a:off x="2098236" y="5037745"/>
            <a:ext cx="1921419"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捲積核宽度与词向量长度一致</a:t>
            </a:r>
          </a:p>
        </p:txBody>
      </p:sp>
      <p:cxnSp>
        <p:nvCxnSpPr>
          <p:cNvPr id="14" name="直接箭头连接符 13"/>
          <p:cNvCxnSpPr/>
          <p:nvPr/>
        </p:nvCxnSpPr>
        <p:spPr>
          <a:xfrm>
            <a:off x="3889890" y="5442861"/>
            <a:ext cx="751779" cy="78373"/>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右大括号 16"/>
          <p:cNvSpPr/>
          <p:nvPr/>
        </p:nvSpPr>
        <p:spPr>
          <a:xfrm rot="5400000">
            <a:off x="5188305" y="5022841"/>
            <a:ext cx="287381" cy="1127421"/>
          </a:xfrm>
          <a:prstGeom prst="rightBrace">
            <a:avLst>
              <a:gd name="adj1" fmla="val 2881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1" name="直接箭头连接符 20"/>
          <p:cNvCxnSpPr/>
          <p:nvPr/>
        </p:nvCxnSpPr>
        <p:spPr>
          <a:xfrm flipV="1">
            <a:off x="3115509" y="3593125"/>
            <a:ext cx="1510269" cy="55215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4635177" y="396370"/>
            <a:ext cx="1447753" cy="5077107"/>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标题 6"/>
          <p:cNvSpPr txBox="1">
            <a:spLocks/>
          </p:cNvSpPr>
          <p:nvPr/>
        </p:nvSpPr>
        <p:spPr>
          <a:xfrm>
            <a:off x="1697929" y="3930147"/>
            <a:ext cx="1474143"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rPr>
              <a:t>6</a:t>
            </a:r>
            <a:r>
              <a:rPr kumimoji="0" lang="zh-CN" altLang="en-US" sz="18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rPr>
              <a:t>个不同大小的捲積核</a:t>
            </a:r>
          </a:p>
        </p:txBody>
      </p:sp>
      <p:sp>
        <p:nvSpPr>
          <p:cNvPr id="34" name="矩形 33"/>
          <p:cNvSpPr/>
          <p:nvPr/>
        </p:nvSpPr>
        <p:spPr>
          <a:xfrm>
            <a:off x="2369526" y="1254030"/>
            <a:ext cx="2141094" cy="2261016"/>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标题 6"/>
          <p:cNvSpPr txBox="1">
            <a:spLocks/>
          </p:cNvSpPr>
          <p:nvPr/>
        </p:nvSpPr>
        <p:spPr>
          <a:xfrm>
            <a:off x="1729906" y="1983171"/>
            <a:ext cx="710070"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输</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入</a:t>
            </a:r>
          </a:p>
        </p:txBody>
      </p:sp>
      <p:sp>
        <p:nvSpPr>
          <p:cNvPr id="36" name="矩形 35"/>
          <p:cNvSpPr/>
          <p:nvPr/>
        </p:nvSpPr>
        <p:spPr>
          <a:xfrm>
            <a:off x="3372462" y="1840070"/>
            <a:ext cx="1060202" cy="835598"/>
          </a:xfrm>
          <a:prstGeom prst="rect">
            <a:avLst/>
          </a:prstGeom>
          <a:solidFill>
            <a:schemeClr val="accent2">
              <a:alpha val="50000"/>
            </a:schemeClr>
          </a:solidFill>
          <a:ln w="28575">
            <a:solidFill>
              <a:srgbClr val="C00000"/>
            </a:solidFill>
            <a:prstDash val="solid"/>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9" name="直接箭头连接符 38"/>
          <p:cNvCxnSpPr/>
          <p:nvPr/>
        </p:nvCxnSpPr>
        <p:spPr>
          <a:xfrm flipH="1">
            <a:off x="7228114" y="788535"/>
            <a:ext cx="574766" cy="334871"/>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V="1">
            <a:off x="3854541" y="838929"/>
            <a:ext cx="1569543" cy="1418941"/>
          </a:xfrm>
          <a:prstGeom prst="straightConnector1">
            <a:avLst/>
          </a:prstGeom>
          <a:ln w="76200">
            <a:solidFill>
              <a:srgbClr val="FB81E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5546333" y="564231"/>
            <a:ext cx="959283" cy="274698"/>
          </a:xfrm>
          <a:prstGeom prst="straightConnector1">
            <a:avLst/>
          </a:prstGeom>
          <a:ln w="76200">
            <a:solidFill>
              <a:srgbClr val="FB81E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3385916" y="2047622"/>
            <a:ext cx="1060202" cy="835598"/>
          </a:xfrm>
          <a:prstGeom prst="rect">
            <a:avLst/>
          </a:prstGeom>
          <a:solidFill>
            <a:schemeClr val="accent2">
              <a:alpha val="50000"/>
            </a:schemeClr>
          </a:solidFill>
          <a:ln w="28575">
            <a:solidFill>
              <a:srgbClr val="C00000"/>
            </a:solidFill>
            <a:prstDash val="solid"/>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1" name="直接箭头连接符 50"/>
          <p:cNvCxnSpPr/>
          <p:nvPr/>
        </p:nvCxnSpPr>
        <p:spPr>
          <a:xfrm flipV="1">
            <a:off x="3845873" y="923049"/>
            <a:ext cx="1564850" cy="1566786"/>
          </a:xfrm>
          <a:prstGeom prst="straightConnector1">
            <a:avLst/>
          </a:prstGeom>
          <a:ln w="76200">
            <a:solidFill>
              <a:srgbClr val="FB81E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V="1">
            <a:off x="5453383" y="788535"/>
            <a:ext cx="1093536" cy="112150"/>
          </a:xfrm>
          <a:prstGeom prst="straightConnector1">
            <a:avLst/>
          </a:prstGeom>
          <a:ln w="76200">
            <a:solidFill>
              <a:srgbClr val="FB81E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标题 6"/>
          <p:cNvSpPr txBox="1">
            <a:spLocks/>
          </p:cNvSpPr>
          <p:nvPr/>
        </p:nvSpPr>
        <p:spPr>
          <a:xfrm>
            <a:off x="7281411" y="433247"/>
            <a:ext cx="1319468" cy="415498"/>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1-</a:t>
            </a: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最大池化</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cxnSp>
        <p:nvCxnSpPr>
          <p:cNvPr id="68" name="直接箭头连接符 67"/>
          <p:cNvCxnSpPr/>
          <p:nvPr/>
        </p:nvCxnSpPr>
        <p:spPr>
          <a:xfrm flipH="1">
            <a:off x="8155882" y="2170334"/>
            <a:ext cx="489622" cy="712886"/>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标题 6"/>
          <p:cNvSpPr txBox="1">
            <a:spLocks/>
          </p:cNvSpPr>
          <p:nvPr/>
        </p:nvSpPr>
        <p:spPr>
          <a:xfrm>
            <a:off x="8358452" y="1739528"/>
            <a:ext cx="1319468" cy="415498"/>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拼接</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cxnSp>
        <p:nvCxnSpPr>
          <p:cNvPr id="76" name="直接箭头连接符 75"/>
          <p:cNvCxnSpPr/>
          <p:nvPr/>
        </p:nvCxnSpPr>
        <p:spPr>
          <a:xfrm flipH="1">
            <a:off x="9492343" y="2327221"/>
            <a:ext cx="103967" cy="869038"/>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标题 6"/>
          <p:cNvSpPr txBox="1">
            <a:spLocks/>
          </p:cNvSpPr>
          <p:nvPr/>
        </p:nvSpPr>
        <p:spPr>
          <a:xfrm>
            <a:off x="9346783" y="1684332"/>
            <a:ext cx="1319468"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全连接</a:t>
            </a:r>
            <a:r>
              <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itchFamily="18" charset="0"/>
                <a:ea typeface="幼圆" panose="02010509060101010101" pitchFamily="49" charset="-122"/>
                <a:cs typeface="Times New Roman" pitchFamily="18" charset="0"/>
              </a:rPr>
              <a:t>softmax</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sp>
        <p:nvSpPr>
          <p:cNvPr id="80" name="标题 6"/>
          <p:cNvSpPr txBox="1">
            <a:spLocks/>
          </p:cNvSpPr>
          <p:nvPr/>
        </p:nvSpPr>
        <p:spPr>
          <a:xfrm>
            <a:off x="9793938" y="3196259"/>
            <a:ext cx="710070"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输</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出</a:t>
            </a:r>
          </a:p>
        </p:txBody>
      </p:sp>
    </p:spTree>
    <p:extLst>
      <p:ext uri="{BB962C8B-B14F-4D97-AF65-F5344CB8AC3E}">
        <p14:creationId xmlns:p14="http://schemas.microsoft.com/office/powerpoint/2010/main" val="173463314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sz="quarter" idx="1"/>
          </p:nvPr>
        </p:nvSpPr>
        <p:spPr/>
        <p:txBody>
          <a:bodyPr>
            <a:normAutofit lnSpcReduction="10000"/>
          </a:bodyPr>
          <a:lstStyle/>
          <a:p>
            <a:endParaRPr lang="en-US" altLang="zh-CN" dirty="0"/>
          </a:p>
          <a:p>
            <a:r>
              <a:rPr lang="zh-CN" altLang="en-US" dirty="0"/>
              <a:t>词向量</a:t>
            </a:r>
            <a:endParaRPr lang="en-US" altLang="zh-CN" dirty="0"/>
          </a:p>
          <a:p>
            <a:pPr lvl="1"/>
            <a:r>
              <a:rPr lang="zh-CN" altLang="en-US" dirty="0"/>
              <a:t>独热编码</a:t>
            </a:r>
            <a:endParaRPr lang="en-US" altLang="zh-CN" dirty="0"/>
          </a:p>
          <a:p>
            <a:pPr lvl="1"/>
            <a:r>
              <a:rPr lang="zh-CN" altLang="en-US" dirty="0"/>
              <a:t>分布式表示</a:t>
            </a:r>
            <a:endParaRPr lang="en-US" altLang="zh-CN" dirty="0"/>
          </a:p>
          <a:p>
            <a:pPr>
              <a:spcBef>
                <a:spcPts val="1800"/>
              </a:spcBef>
            </a:pPr>
            <a:r>
              <a:rPr lang="zh-CN" altLang="en-US" dirty="0"/>
              <a:t>神经网络语言模型</a:t>
            </a:r>
            <a:endParaRPr lang="en-US" altLang="zh-CN" dirty="0"/>
          </a:p>
          <a:p>
            <a:pPr lvl="1">
              <a:spcBef>
                <a:spcPts val="600"/>
              </a:spcBef>
            </a:pPr>
            <a:r>
              <a:rPr lang="zh-CN" altLang="en-US" dirty="0"/>
              <a:t>通过训练神经网络语言模型得到词向量</a:t>
            </a:r>
            <a:endParaRPr lang="en-US" altLang="zh-CN" dirty="0"/>
          </a:p>
          <a:p>
            <a:pPr>
              <a:spcBef>
                <a:spcPts val="1200"/>
              </a:spcBef>
            </a:pPr>
            <a:r>
              <a:rPr lang="en-US" altLang="zh-CN" dirty="0"/>
              <a:t>word2vec</a:t>
            </a:r>
            <a:r>
              <a:rPr lang="zh-CN" altLang="en-US" dirty="0"/>
              <a:t>模型</a:t>
            </a:r>
            <a:endParaRPr lang="en-US" altLang="zh-CN" dirty="0"/>
          </a:p>
          <a:p>
            <a:pPr lvl="1">
              <a:spcBef>
                <a:spcPts val="600"/>
              </a:spcBef>
            </a:pPr>
            <a:r>
              <a:rPr lang="zh-CN" altLang="en-US" dirty="0"/>
              <a:t>简化的神经网络语言模型</a:t>
            </a:r>
            <a:endParaRPr lang="en-US" altLang="zh-CN" dirty="0"/>
          </a:p>
          <a:p>
            <a:pPr lvl="1"/>
            <a:r>
              <a:rPr lang="zh-CN" altLang="en-US" dirty="0"/>
              <a:t>连续词袋模型</a:t>
            </a:r>
            <a:endParaRPr lang="en-US" altLang="zh-CN" dirty="0"/>
          </a:p>
          <a:p>
            <a:pPr lvl="1"/>
            <a:r>
              <a:rPr lang="zh-CN" altLang="en-US" dirty="0"/>
              <a:t>跳词模型</a:t>
            </a:r>
          </a:p>
        </p:txBody>
      </p:sp>
    </p:spTree>
    <p:extLst>
      <p:ext uri="{BB962C8B-B14F-4D97-AF65-F5344CB8AC3E}">
        <p14:creationId xmlns:p14="http://schemas.microsoft.com/office/powerpoint/2010/main" val="394364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en-US" altLang="zh-CN"/>
              <a:t>.8 </a:t>
            </a:r>
            <a:r>
              <a:rPr lang="zh-CN" altLang="en-US" dirty="0"/>
              <a:t>循环神经网络（</a:t>
            </a:r>
            <a:r>
              <a:rPr lang="en-US" altLang="zh-CN" dirty="0"/>
              <a:t>RNN: </a:t>
            </a:r>
            <a:r>
              <a:rPr lang="en-US" altLang="zh-CN" b="0" dirty="0"/>
              <a:t>Recurrent Neural Network</a:t>
            </a:r>
            <a:r>
              <a:rPr lang="zh-CN" altLang="en-US" dirty="0"/>
              <a:t>）</a:t>
            </a:r>
          </a:p>
        </p:txBody>
      </p:sp>
      <p:sp>
        <p:nvSpPr>
          <p:cNvPr id="3" name="内容占位符 2"/>
          <p:cNvSpPr>
            <a:spLocks noGrp="1"/>
          </p:cNvSpPr>
          <p:nvPr>
            <p:ph sz="quarter" idx="1"/>
          </p:nvPr>
        </p:nvSpPr>
        <p:spPr>
          <a:xfrm>
            <a:off x="1219200" y="1662485"/>
            <a:ext cx="10363200" cy="4572000"/>
          </a:xfrm>
        </p:spPr>
        <p:txBody>
          <a:bodyPr/>
          <a:lstStyle/>
          <a:p>
            <a:r>
              <a:rPr lang="zh-CN" altLang="en-US" dirty="0"/>
              <a:t>数据角度</a:t>
            </a:r>
            <a:endParaRPr lang="en-US" altLang="zh-CN" dirty="0"/>
          </a:p>
          <a:p>
            <a:pPr lvl="1"/>
            <a:r>
              <a:rPr lang="zh-CN" altLang="en-US" dirty="0"/>
              <a:t>序列数据</a:t>
            </a:r>
            <a:endParaRPr lang="en-US" altLang="zh-CN" dirty="0"/>
          </a:p>
          <a:p>
            <a:pPr lvl="2"/>
            <a:r>
              <a:rPr lang="zh-CN" altLang="en-US" dirty="0"/>
              <a:t>数据之间有先后联系</a:t>
            </a:r>
            <a:endParaRPr lang="en-US" altLang="zh-CN" dirty="0"/>
          </a:p>
          <a:p>
            <a:pPr lvl="2"/>
            <a:r>
              <a:rPr lang="zh-CN" altLang="en-US" dirty="0"/>
              <a:t>语音、文本</a:t>
            </a:r>
            <a:r>
              <a:rPr lang="en-US" altLang="zh-CN" dirty="0"/>
              <a:t>…</a:t>
            </a:r>
          </a:p>
          <a:p>
            <a:pPr>
              <a:spcBef>
                <a:spcPts val="1800"/>
              </a:spcBef>
            </a:pPr>
            <a:r>
              <a:rPr lang="zh-CN" altLang="en-US" dirty="0"/>
              <a:t>网络结构角度</a:t>
            </a:r>
            <a:endParaRPr lang="en-US" altLang="zh-CN" dirty="0"/>
          </a:p>
          <a:p>
            <a:pPr lvl="1"/>
            <a:r>
              <a:rPr lang="zh-CN" altLang="en-US" dirty="0"/>
              <a:t>前向网络</a:t>
            </a:r>
            <a:endParaRPr lang="en-US" altLang="zh-CN" dirty="0"/>
          </a:p>
          <a:p>
            <a:pPr lvl="1"/>
            <a:r>
              <a:rPr lang="zh-CN" altLang="en-US" dirty="0"/>
              <a:t>反向网络</a:t>
            </a:r>
            <a:endParaRPr lang="en-US" altLang="zh-CN" dirty="0"/>
          </a:p>
          <a:p>
            <a:pPr>
              <a:spcBef>
                <a:spcPts val="1800"/>
              </a:spcBef>
            </a:pPr>
            <a:r>
              <a:rPr lang="zh-CN" altLang="en-US" dirty="0"/>
              <a:t>表示角度</a:t>
            </a:r>
            <a:endParaRPr lang="en-US" altLang="zh-CN" dirty="0"/>
          </a:p>
          <a:p>
            <a:pPr lvl="1"/>
            <a:r>
              <a:rPr lang="zh-CN" altLang="en-US" dirty="0"/>
              <a:t>句子向量、序列向量</a:t>
            </a:r>
          </a:p>
        </p:txBody>
      </p:sp>
    </p:spTree>
    <p:extLst>
      <p:ext uri="{BB962C8B-B14F-4D97-AF65-F5344CB8AC3E}">
        <p14:creationId xmlns:p14="http://schemas.microsoft.com/office/powerpoint/2010/main" val="187236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从句子理解说起</a:t>
            </a:r>
          </a:p>
        </p:txBody>
      </p:sp>
      <p:sp>
        <p:nvSpPr>
          <p:cNvPr id="3" name="内容占位符 2"/>
          <p:cNvSpPr>
            <a:spLocks noGrp="1"/>
          </p:cNvSpPr>
          <p:nvPr>
            <p:ph sz="quarter" idx="1"/>
          </p:nvPr>
        </p:nvSpPr>
        <p:spPr/>
        <p:txBody>
          <a:bodyPr/>
          <a:lstStyle/>
          <a:p>
            <a:endParaRPr lang="en-US" altLang="zh-CN" dirty="0"/>
          </a:p>
          <a:p>
            <a:r>
              <a:rPr lang="zh-CN" altLang="en-US" dirty="0"/>
              <a:t>句子的理解过程</a:t>
            </a:r>
            <a:endParaRPr lang="en-US" altLang="zh-CN" dirty="0"/>
          </a:p>
          <a:p>
            <a:endParaRPr lang="en-US" altLang="zh-CN" dirty="0"/>
          </a:p>
          <a:p>
            <a:pPr marL="0" indent="0">
              <a:buNone/>
            </a:pPr>
            <a:r>
              <a:rPr lang="en-US" altLang="zh-CN" dirty="0"/>
              <a:t>    </a:t>
            </a:r>
            <a:r>
              <a:rPr lang="zh-CN" altLang="en-US" dirty="0"/>
              <a:t>我非常喜欢这部城市题材电影</a:t>
            </a:r>
          </a:p>
        </p:txBody>
      </p:sp>
    </p:spTree>
    <p:extLst>
      <p:ext uri="{BB962C8B-B14F-4D97-AF65-F5344CB8AC3E}">
        <p14:creationId xmlns:p14="http://schemas.microsoft.com/office/powerpoint/2010/main" val="186692709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191104" y="1049572"/>
            <a:ext cx="8752127" cy="4381169"/>
          </a:xfrm>
          <a:prstGeom prst="rect">
            <a:avLst/>
          </a:prstGeom>
        </p:spPr>
      </p:pic>
      <p:sp>
        <p:nvSpPr>
          <p:cNvPr id="5" name="矩形 4"/>
          <p:cNvSpPr/>
          <p:nvPr/>
        </p:nvSpPr>
        <p:spPr>
          <a:xfrm>
            <a:off x="691765" y="2941981"/>
            <a:ext cx="1494845" cy="2488760"/>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2186611" y="2647784"/>
            <a:ext cx="1192693" cy="2786933"/>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3379304" y="2353586"/>
            <a:ext cx="1264258" cy="3081131"/>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p:cNvSpPr/>
          <p:nvPr/>
        </p:nvSpPr>
        <p:spPr>
          <a:xfrm>
            <a:off x="4641303" y="2353586"/>
            <a:ext cx="1306274" cy="3081131"/>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p:cNvSpPr/>
          <p:nvPr/>
        </p:nvSpPr>
        <p:spPr>
          <a:xfrm>
            <a:off x="5947577" y="2043486"/>
            <a:ext cx="954155" cy="3395206"/>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10"/>
          <p:cNvSpPr/>
          <p:nvPr/>
        </p:nvSpPr>
        <p:spPr>
          <a:xfrm>
            <a:off x="6901733" y="2043486"/>
            <a:ext cx="1192028" cy="3387255"/>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矩形 11"/>
          <p:cNvSpPr/>
          <p:nvPr/>
        </p:nvSpPr>
        <p:spPr>
          <a:xfrm>
            <a:off x="8093761" y="1757238"/>
            <a:ext cx="1026386" cy="3673503"/>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4268054" y="2043486"/>
            <a:ext cx="1679522" cy="310100"/>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矩形 13"/>
          <p:cNvSpPr/>
          <p:nvPr/>
        </p:nvSpPr>
        <p:spPr>
          <a:xfrm>
            <a:off x="5222209" y="1733386"/>
            <a:ext cx="2048467" cy="310100"/>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矩形 14"/>
          <p:cNvSpPr/>
          <p:nvPr/>
        </p:nvSpPr>
        <p:spPr>
          <a:xfrm>
            <a:off x="5770849" y="1486903"/>
            <a:ext cx="2578021" cy="238532"/>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矩形 15"/>
          <p:cNvSpPr/>
          <p:nvPr/>
        </p:nvSpPr>
        <p:spPr>
          <a:xfrm>
            <a:off x="6677298" y="1113189"/>
            <a:ext cx="2975585" cy="310097"/>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矩形 16"/>
          <p:cNvSpPr/>
          <p:nvPr/>
        </p:nvSpPr>
        <p:spPr>
          <a:xfrm>
            <a:off x="8387207" y="1433225"/>
            <a:ext cx="478413" cy="314073"/>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矩形 17"/>
          <p:cNvSpPr/>
          <p:nvPr/>
        </p:nvSpPr>
        <p:spPr>
          <a:xfrm>
            <a:off x="7298295" y="1721462"/>
            <a:ext cx="478413" cy="314073"/>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7113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970058" y="1351721"/>
            <a:ext cx="7903103" cy="4079020"/>
          </a:xfrm>
          <a:prstGeom prst="rect">
            <a:avLst/>
          </a:prstGeom>
        </p:spPr>
      </p:pic>
      <p:sp>
        <p:nvSpPr>
          <p:cNvPr id="5" name="矩形 4"/>
          <p:cNvSpPr/>
          <p:nvPr/>
        </p:nvSpPr>
        <p:spPr>
          <a:xfrm>
            <a:off x="970058" y="2790908"/>
            <a:ext cx="803082" cy="162206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p:cNvSpPr/>
          <p:nvPr/>
        </p:nvSpPr>
        <p:spPr>
          <a:xfrm>
            <a:off x="2409244" y="2790908"/>
            <a:ext cx="803082" cy="162206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6702948" y="2790908"/>
            <a:ext cx="803082" cy="162206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8075432" y="2790908"/>
            <a:ext cx="803082" cy="162206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9501809" y="1259144"/>
            <a:ext cx="123245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序列的</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向量表示</a:t>
            </a:r>
          </a:p>
        </p:txBody>
      </p:sp>
      <p:cxnSp>
        <p:nvCxnSpPr>
          <p:cNvPr id="10" name="直接箭头连接符 9"/>
          <p:cNvCxnSpPr/>
          <p:nvPr/>
        </p:nvCxnSpPr>
        <p:spPr>
          <a:xfrm flipH="1">
            <a:off x="8690776" y="1582310"/>
            <a:ext cx="811033" cy="874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625806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2"/>
          <a:stretch>
            <a:fillRect/>
          </a:stretch>
        </p:blipFill>
        <p:spPr>
          <a:xfrm>
            <a:off x="886429" y="1717483"/>
            <a:ext cx="7116063" cy="3108960"/>
          </a:xfrm>
          <a:prstGeom prst="rect">
            <a:avLst/>
          </a:prstGeom>
        </p:spPr>
      </p:pic>
      <p:sp>
        <p:nvSpPr>
          <p:cNvPr id="54" name="矩形 53"/>
          <p:cNvSpPr/>
          <p:nvPr/>
        </p:nvSpPr>
        <p:spPr>
          <a:xfrm>
            <a:off x="779214" y="2441052"/>
            <a:ext cx="7688911" cy="251261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矩形 56"/>
          <p:cNvSpPr/>
          <p:nvPr/>
        </p:nvSpPr>
        <p:spPr>
          <a:xfrm>
            <a:off x="9724431" y="817901"/>
            <a:ext cx="1614116" cy="200987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8" name="直接箭头连接符 57"/>
          <p:cNvCxnSpPr/>
          <p:nvPr/>
        </p:nvCxnSpPr>
        <p:spPr>
          <a:xfrm flipH="1">
            <a:off x="8543537" y="1963974"/>
            <a:ext cx="1056247" cy="580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3" name="图片 72"/>
          <p:cNvPicPr>
            <a:picLocks noChangeAspect="1"/>
          </p:cNvPicPr>
          <p:nvPr/>
        </p:nvPicPr>
        <p:blipFill>
          <a:blip r:embed="rId3"/>
          <a:stretch>
            <a:fillRect/>
          </a:stretch>
        </p:blipFill>
        <p:spPr>
          <a:xfrm>
            <a:off x="9874259" y="877536"/>
            <a:ext cx="1314460" cy="1962164"/>
          </a:xfrm>
          <a:prstGeom prst="rect">
            <a:avLst/>
          </a:prstGeom>
        </p:spPr>
      </p:pic>
      <p:pic>
        <p:nvPicPr>
          <p:cNvPr id="74" name="图片 73"/>
          <p:cNvPicPr>
            <a:picLocks noChangeAspect="1"/>
          </p:cNvPicPr>
          <p:nvPr/>
        </p:nvPicPr>
        <p:blipFill>
          <a:blip r:embed="rId3"/>
          <a:stretch>
            <a:fillRect/>
          </a:stretch>
        </p:blipFill>
        <p:spPr>
          <a:xfrm>
            <a:off x="3262451" y="163087"/>
            <a:ext cx="3779116" cy="5641286"/>
          </a:xfrm>
          <a:prstGeom prst="rect">
            <a:avLst/>
          </a:prstGeom>
        </p:spPr>
      </p:pic>
      <p:sp>
        <p:nvSpPr>
          <p:cNvPr id="75" name="右大括号 74"/>
          <p:cNvSpPr/>
          <p:nvPr/>
        </p:nvSpPr>
        <p:spPr>
          <a:xfrm rot="5400000">
            <a:off x="4237727" y="2506892"/>
            <a:ext cx="492981" cy="5338820"/>
          </a:xfrm>
          <a:prstGeom prst="rightBrace">
            <a:avLst>
              <a:gd name="adj1" fmla="val 14348"/>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6" name="文本框 75"/>
          <p:cNvSpPr txBox="1"/>
          <p:nvPr/>
        </p:nvSpPr>
        <p:spPr>
          <a:xfrm>
            <a:off x="4192703" y="5518129"/>
            <a:ext cx="76005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输入</a:t>
            </a:r>
          </a:p>
        </p:txBody>
      </p:sp>
      <p:sp>
        <p:nvSpPr>
          <p:cNvPr id="77" name="文本框 76"/>
          <p:cNvSpPr txBox="1"/>
          <p:nvPr/>
        </p:nvSpPr>
        <p:spPr>
          <a:xfrm>
            <a:off x="10119973" y="2926081"/>
            <a:ext cx="121654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循环模块</a:t>
            </a:r>
          </a:p>
        </p:txBody>
      </p:sp>
      <p:sp>
        <p:nvSpPr>
          <p:cNvPr id="78" name="文本框 77"/>
          <p:cNvSpPr txBox="1"/>
          <p:nvPr/>
        </p:nvSpPr>
        <p:spPr>
          <a:xfrm>
            <a:off x="4675355" y="5734947"/>
            <a:ext cx="1216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循环模块</a:t>
            </a:r>
          </a:p>
        </p:txBody>
      </p:sp>
      <p:sp>
        <p:nvSpPr>
          <p:cNvPr id="79" name="文本框 78"/>
          <p:cNvSpPr txBox="1"/>
          <p:nvPr/>
        </p:nvSpPr>
        <p:spPr>
          <a:xfrm>
            <a:off x="3935886" y="3591667"/>
            <a:ext cx="99391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全连接</a:t>
            </a:r>
          </a:p>
        </p:txBody>
      </p:sp>
      <mc:AlternateContent xmlns:mc="http://schemas.openxmlformats.org/markup-compatibility/2006" xmlns:a14="http://schemas.microsoft.com/office/drawing/2010/main">
        <mc:Choice Requires="a14">
          <p:sp>
            <p:nvSpPr>
              <p:cNvPr id="2" name="矩形 1"/>
              <p:cNvSpPr/>
              <p:nvPr/>
            </p:nvSpPr>
            <p:spPr>
              <a:xfrm>
                <a:off x="2017561" y="842962"/>
                <a:ext cx="6268896" cy="8240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eqArr>
                        <m:eqArr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eqArr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m:rPr>
                              <m:sty m:val="p"/>
                            </m:rP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tan</m:t>
                          </m:r>
                          <m:r>
                            <m:rPr>
                              <m:sty m:val="p"/>
                            </m:rPr>
                            <a:rPr kumimoji="0" lang="en-US" altLang="zh-CN" sz="1800" b="0" i="0" u="none" strike="noStrike" kern="1200" cap="none" spc="0" normalizeH="0" baseline="0" noProof="0">
                              <a:ln>
                                <a:noFill/>
                              </a:ln>
                              <a:solidFill>
                                <a:srgbClr val="FF0000"/>
                              </a:solidFill>
                              <a:effectLst/>
                              <a:uLnTx/>
                              <a:uFillTx/>
                              <a:latin typeface="Cambria Math" panose="02040503050406030204" pitchFamily="18" charset="0"/>
                              <a:cs typeface="+mn-cs"/>
                            </a:rPr>
                            <m:t>h</m:t>
                          </m:r>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    </m:t>
                          </m:r>
                        </m:e>
                        <m:e>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e>
                      </m:eqArr>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2" name="矩形 1"/>
              <p:cNvSpPr>
                <a:spLocks noRot="1" noChangeAspect="1" noMove="1" noResize="1" noEditPoints="1" noAdjustHandles="1" noChangeArrowheads="1" noChangeShapeType="1" noTextEdit="1"/>
              </p:cNvSpPr>
              <p:nvPr/>
            </p:nvSpPr>
            <p:spPr>
              <a:xfrm>
                <a:off x="2017561" y="842962"/>
                <a:ext cx="6268896" cy="82400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166115" y="2156440"/>
                <a:ext cx="803490" cy="3808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p>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3" name="矩形 2"/>
              <p:cNvSpPr>
                <a:spLocks noRot="1" noChangeAspect="1" noMove="1" noResize="1" noEditPoints="1" noAdjustHandles="1" noChangeArrowheads="1" noChangeShapeType="1" noTextEdit="1"/>
              </p:cNvSpPr>
              <p:nvPr/>
            </p:nvSpPr>
            <p:spPr>
              <a:xfrm>
                <a:off x="3166115" y="2156440"/>
                <a:ext cx="803490" cy="3808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9724431" y="1380096"/>
                <a:ext cx="598304" cy="28469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12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p>
                          <m:r>
                            <a:rPr kumimoji="0" lang="en-US" altLang="zh-CN" sz="12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p>
                    </m:oMath>
                  </m:oMathPara>
                </a14:m>
                <a:endParaRPr kumimoji="0" lang="zh-CN" altLang="en-US" sz="1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9724431" y="1380096"/>
                <a:ext cx="598304" cy="28469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622057" y="3079969"/>
                <a:ext cx="261325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5622057" y="3079969"/>
                <a:ext cx="2613252" cy="45903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826960" y="5421824"/>
                <a:ext cx="261325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4826960" y="5421824"/>
                <a:ext cx="2613252" cy="45903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007508" y="5402270"/>
                <a:ext cx="326920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20" name="矩形 19"/>
              <p:cNvSpPr>
                <a:spLocks noRot="1" noChangeAspect="1" noMove="1" noResize="1" noEditPoints="1" noAdjustHandles="1" noChangeArrowheads="1" noChangeShapeType="1" noTextEdit="1"/>
              </p:cNvSpPr>
              <p:nvPr/>
            </p:nvSpPr>
            <p:spPr>
              <a:xfrm>
                <a:off x="1007508" y="5402270"/>
                <a:ext cx="3269202" cy="459036"/>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6219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78"/>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7" grpId="0" animBg="1"/>
      <p:bldP spid="75" grpId="0" animBg="1"/>
      <p:bldP spid="76" grpId="0"/>
      <p:bldP spid="77" grpId="0"/>
      <p:bldP spid="78" grpId="0"/>
      <p:bldP spid="79" grpId="0"/>
      <p:bldP spid="2" grpId="0"/>
      <p:bldP spid="3" grpId="0"/>
      <p:bldP spid="15" grpId="0"/>
      <p:bldP spid="16" grpId="0"/>
      <p:bldP spid="17" grpId="0"/>
      <p:bldP spid="20"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循环神经网络的训练：</a:t>
            </a:r>
            <a:r>
              <a:rPr lang="en-US" altLang="zh-CN" dirty="0"/>
              <a:t>BP</a:t>
            </a:r>
            <a:endParaRPr lang="zh-CN" altLang="en-US" dirty="0"/>
          </a:p>
        </p:txBody>
      </p:sp>
      <p:sp>
        <p:nvSpPr>
          <p:cNvPr id="3" name="内容占位符 2"/>
          <p:cNvSpPr>
            <a:spLocks noGrp="1"/>
          </p:cNvSpPr>
          <p:nvPr>
            <p:ph sz="quarter" idx="1"/>
          </p:nvPr>
        </p:nvSpPr>
        <p:spPr/>
        <p:txBody>
          <a:bodyPr/>
          <a:lstStyle/>
          <a:p>
            <a:r>
              <a:rPr lang="zh-CN" altLang="en-US" dirty="0"/>
              <a:t>与具体任务结合</a:t>
            </a:r>
            <a:endParaRPr lang="en-US" altLang="zh-CN" dirty="0"/>
          </a:p>
          <a:p>
            <a:pPr lvl="1"/>
            <a:r>
              <a:rPr lang="zh-CN" altLang="en-US" dirty="0"/>
              <a:t>例：情感分类问题</a:t>
            </a:r>
          </a:p>
        </p:txBody>
      </p:sp>
      <p:sp>
        <p:nvSpPr>
          <p:cNvPr id="5" name="文本框 4"/>
          <p:cNvSpPr txBox="1"/>
          <p:nvPr/>
        </p:nvSpPr>
        <p:spPr>
          <a:xfrm>
            <a:off x="7960655" y="2934032"/>
            <a:ext cx="1216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输出层</a:t>
            </a:r>
          </a:p>
        </p:txBody>
      </p:sp>
      <p:sp>
        <p:nvSpPr>
          <p:cNvPr id="6" name="文本框 5"/>
          <p:cNvSpPr txBox="1"/>
          <p:nvPr/>
        </p:nvSpPr>
        <p:spPr>
          <a:xfrm>
            <a:off x="7960655" y="3781506"/>
            <a:ext cx="17115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句子向量表示</a:t>
            </a:r>
          </a:p>
        </p:txBody>
      </p:sp>
      <p:sp>
        <p:nvSpPr>
          <p:cNvPr id="7" name="右大括号 6"/>
          <p:cNvSpPr/>
          <p:nvPr/>
        </p:nvSpPr>
        <p:spPr>
          <a:xfrm rot="5400000">
            <a:off x="4357009" y="2634119"/>
            <a:ext cx="492981" cy="5338820"/>
          </a:xfrm>
          <a:prstGeom prst="rightBrace">
            <a:avLst>
              <a:gd name="adj1" fmla="val 14348"/>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8" name="文本框 7"/>
          <p:cNvSpPr txBox="1"/>
          <p:nvPr/>
        </p:nvSpPr>
        <p:spPr>
          <a:xfrm>
            <a:off x="3800724" y="5602772"/>
            <a:ext cx="221841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句子的词向量</a:t>
            </a:r>
          </a:p>
        </p:txBody>
      </p:sp>
      <mc:AlternateContent xmlns:mc="http://schemas.openxmlformats.org/markup-compatibility/2006" xmlns:a14="http://schemas.microsoft.com/office/drawing/2010/main">
        <mc:Choice Requires="a14">
          <p:sp>
            <p:nvSpPr>
              <p:cNvPr id="9" name="矩形 8"/>
              <p:cNvSpPr/>
              <p:nvPr/>
            </p:nvSpPr>
            <p:spPr>
              <a:xfrm>
                <a:off x="7490719" y="1832828"/>
                <a:ext cx="2964529"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分类的概率</a:t>
                </a:r>
                <a14:m>
                  <m:oMath xmlns:m="http://schemas.openxmlformats.org/officeDocument/2006/math">
                    <m:r>
                      <a:rPr kumimoji="0" lang="en-US" altLang="zh-CN" sz="1800" b="0" i="0"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7490719" y="1832828"/>
                <a:ext cx="2964529" cy="504818"/>
              </a:xfrm>
              <a:prstGeom prst="rect">
                <a:avLst/>
              </a:prstGeom>
              <a:blipFill>
                <a:blip r:embed="rId3"/>
                <a:stretch>
                  <a:fillRect l="-1852" b="-24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7960655" y="4176291"/>
                <a:ext cx="2621487"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7960655" y="4176291"/>
                <a:ext cx="2621487" cy="50481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463822" y="5566585"/>
                <a:ext cx="2584297"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1" name="矩形 10"/>
              <p:cNvSpPr>
                <a:spLocks noRot="1" noChangeAspect="1" noMove="1" noResize="1" noEditPoints="1" noAdjustHandles="1" noChangeArrowheads="1" noChangeShapeType="1" noTextEdit="1"/>
              </p:cNvSpPr>
              <p:nvPr/>
            </p:nvSpPr>
            <p:spPr>
              <a:xfrm>
                <a:off x="5463822" y="5566585"/>
                <a:ext cx="2584297" cy="504818"/>
              </a:xfrm>
              <a:prstGeom prst="rect">
                <a:avLst/>
              </a:prstGeom>
              <a:blipFill>
                <a:blip r:embed="rId5"/>
                <a:stretch>
                  <a:fillRect/>
                </a:stretch>
              </a:blipFill>
            </p:spPr>
            <p:txBody>
              <a:bodyPr/>
              <a:lstStyle/>
              <a:p>
                <a:r>
                  <a:rPr lang="zh-CN" altLang="en-US">
                    <a:noFill/>
                  </a:rPr>
                  <a:t> </a:t>
                </a:r>
              </a:p>
            </p:txBody>
          </p:sp>
        </mc:Fallback>
      </mc:AlternateContent>
      <p:sp>
        <p:nvSpPr>
          <p:cNvPr id="12" name="右大括号 11"/>
          <p:cNvSpPr/>
          <p:nvPr/>
        </p:nvSpPr>
        <p:spPr>
          <a:xfrm>
            <a:off x="7847937" y="3184487"/>
            <a:ext cx="254442" cy="732714"/>
          </a:xfrm>
          <a:prstGeom prst="rightBrace">
            <a:avLst>
              <a:gd name="adj1" fmla="val 26103"/>
              <a:gd name="adj2" fmla="val 51475"/>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3" name="文本框 12"/>
          <p:cNvSpPr txBox="1"/>
          <p:nvPr/>
        </p:nvSpPr>
        <p:spPr>
          <a:xfrm>
            <a:off x="8147976" y="3356186"/>
            <a:ext cx="1216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全连接</a:t>
            </a:r>
          </a:p>
        </p:txBody>
      </p:sp>
      <mc:AlternateContent xmlns:mc="http://schemas.openxmlformats.org/markup-compatibility/2006" xmlns:a14="http://schemas.microsoft.com/office/drawing/2010/main">
        <mc:Choice Requires="a14">
          <p:sp>
            <p:nvSpPr>
              <p:cNvPr id="14" name="矩形 13"/>
              <p:cNvSpPr/>
              <p:nvPr/>
            </p:nvSpPr>
            <p:spPr>
              <a:xfrm>
                <a:off x="8651023" y="2808597"/>
                <a:ext cx="1727909"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4" name="矩形 13"/>
              <p:cNvSpPr>
                <a:spLocks noRot="1" noChangeAspect="1" noMove="1" noResize="1" noEditPoints="1" noAdjustHandles="1" noChangeArrowheads="1" noChangeShapeType="1" noTextEdit="1"/>
              </p:cNvSpPr>
              <p:nvPr/>
            </p:nvSpPr>
            <p:spPr>
              <a:xfrm>
                <a:off x="8651023" y="2808597"/>
                <a:ext cx="1727909" cy="504818"/>
              </a:xfrm>
              <a:prstGeom prst="rect">
                <a:avLst/>
              </a:prstGeom>
              <a:blipFill>
                <a:blip r:embed="rId6"/>
                <a:stretch>
                  <a:fillRect/>
                </a:stretch>
              </a:blipFill>
            </p:spPr>
            <p:txBody>
              <a:bodyPr/>
              <a:lstStyle/>
              <a:p>
                <a:r>
                  <a:rPr lang="zh-CN" altLang="en-US">
                    <a:noFill/>
                  </a:rPr>
                  <a:t> </a:t>
                </a:r>
              </a:p>
            </p:txBody>
          </p:sp>
        </mc:Fallback>
      </mc:AlternateContent>
      <p:pic>
        <p:nvPicPr>
          <p:cNvPr id="15" name="图片 14"/>
          <p:cNvPicPr>
            <a:picLocks noChangeAspect="1"/>
          </p:cNvPicPr>
          <p:nvPr/>
        </p:nvPicPr>
        <p:blipFill>
          <a:blip r:embed="rId7"/>
          <a:stretch>
            <a:fillRect/>
          </a:stretch>
        </p:blipFill>
        <p:spPr>
          <a:xfrm>
            <a:off x="1555060" y="2061049"/>
            <a:ext cx="6606929" cy="3000085"/>
          </a:xfrm>
          <a:prstGeom prst="rect">
            <a:avLst/>
          </a:prstGeom>
        </p:spPr>
      </p:pic>
      <p:pic>
        <p:nvPicPr>
          <p:cNvPr id="16" name="图片 15">
            <a:extLst>
              <a:ext uri="{FF2B5EF4-FFF2-40B4-BE49-F238E27FC236}">
                <a16:creationId xmlns:a16="http://schemas.microsoft.com/office/drawing/2014/main" id="{A0C225A2-3ABB-4BEA-8E41-FDFFA0FACF60}"/>
              </a:ext>
            </a:extLst>
          </p:cNvPr>
          <p:cNvPicPr>
            <a:picLocks noChangeAspect="1"/>
          </p:cNvPicPr>
          <p:nvPr/>
        </p:nvPicPr>
        <p:blipFill>
          <a:blip r:embed="rId8"/>
          <a:stretch>
            <a:fillRect/>
          </a:stretch>
        </p:blipFill>
        <p:spPr>
          <a:xfrm>
            <a:off x="2010389" y="1597568"/>
            <a:ext cx="7903103" cy="4079020"/>
          </a:xfrm>
          <a:prstGeom prst="rect">
            <a:avLst/>
          </a:prstGeom>
        </p:spPr>
      </p:pic>
    </p:spTree>
    <p:extLst>
      <p:ext uri="{BB962C8B-B14F-4D97-AF65-F5344CB8AC3E}">
        <p14:creationId xmlns:p14="http://schemas.microsoft.com/office/powerpoint/2010/main" val="353066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p:bldP spid="11" grpId="0"/>
      <p:bldP spid="12" grpId="0" animBg="1"/>
      <p:bldP spid="13" grpId="0"/>
      <p:bldP spid="14"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循环神经网络的一般结构</a:t>
            </a:r>
          </a:p>
        </p:txBody>
      </p:sp>
      <p:pic>
        <p:nvPicPr>
          <p:cNvPr id="4" name="图片 3"/>
          <p:cNvPicPr>
            <a:picLocks noChangeAspect="1"/>
          </p:cNvPicPr>
          <p:nvPr/>
        </p:nvPicPr>
        <p:blipFill>
          <a:blip r:embed="rId2"/>
          <a:stretch>
            <a:fillRect/>
          </a:stretch>
        </p:blipFill>
        <p:spPr>
          <a:xfrm>
            <a:off x="853439" y="1697118"/>
            <a:ext cx="5938396" cy="4073506"/>
          </a:xfrm>
          <a:prstGeom prst="rect">
            <a:avLst/>
          </a:prstGeom>
        </p:spPr>
      </p:pic>
      <p:pic>
        <p:nvPicPr>
          <p:cNvPr id="5" name="图片 4"/>
          <p:cNvPicPr>
            <a:picLocks noChangeAspect="1"/>
          </p:cNvPicPr>
          <p:nvPr/>
        </p:nvPicPr>
        <p:blipFill>
          <a:blip r:embed="rId3"/>
          <a:stretch>
            <a:fillRect/>
          </a:stretch>
        </p:blipFill>
        <p:spPr>
          <a:xfrm>
            <a:off x="9497933" y="1753163"/>
            <a:ext cx="1212474" cy="3696567"/>
          </a:xfrm>
          <a:prstGeom prst="rect">
            <a:avLst/>
          </a:prstGeom>
        </p:spPr>
      </p:pic>
      <p:cxnSp>
        <p:nvCxnSpPr>
          <p:cNvPr id="6" name="直接箭头连接符 5"/>
          <p:cNvCxnSpPr/>
          <p:nvPr/>
        </p:nvCxnSpPr>
        <p:spPr>
          <a:xfrm flipH="1">
            <a:off x="10543431" y="4182386"/>
            <a:ext cx="341905" cy="2067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0771917" y="3969087"/>
            <a:ext cx="1200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延迟一拍</a:t>
            </a:r>
          </a:p>
        </p:txBody>
      </p:sp>
      <p:sp>
        <p:nvSpPr>
          <p:cNvPr id="10" name="右箭头 9"/>
          <p:cNvSpPr/>
          <p:nvPr/>
        </p:nvSpPr>
        <p:spPr>
          <a:xfrm>
            <a:off x="7012433" y="4316844"/>
            <a:ext cx="954157" cy="381663"/>
          </a:xfrm>
          <a:prstGeom prst="rightArrow">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p:cNvSpPr/>
              <p:nvPr/>
            </p:nvSpPr>
            <p:spPr>
              <a:xfrm>
                <a:off x="7197331" y="1683563"/>
                <a:ext cx="24600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e>
                      </m:d>
                    </m:oMath>
                  </m:oMathPara>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7197331" y="1683563"/>
                <a:ext cx="2460032" cy="50481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7288489" y="2857457"/>
                <a:ext cx="250889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𝑜</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e>
                      </m:d>
                    </m:oMath>
                  </m:oMathPara>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7288489" y="2857457"/>
                <a:ext cx="2508892" cy="50481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7012434" y="3733871"/>
                <a:ext cx="2582054"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3" name="矩形 12"/>
              <p:cNvSpPr>
                <a:spLocks noRot="1" noChangeAspect="1" noMove="1" noResize="1" noEditPoints="1" noAdjustHandles="1" noChangeArrowheads="1" noChangeShapeType="1" noTextEdit="1"/>
              </p:cNvSpPr>
              <p:nvPr/>
            </p:nvSpPr>
            <p:spPr>
              <a:xfrm>
                <a:off x="7012434" y="3733871"/>
                <a:ext cx="2582054" cy="504818"/>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7125645" y="4981882"/>
                <a:ext cx="2584297"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4" name="矩形 13"/>
              <p:cNvSpPr>
                <a:spLocks noRot="1" noChangeAspect="1" noMove="1" noResize="1" noEditPoints="1" noAdjustHandles="1" noChangeArrowheads="1" noChangeShapeType="1" noTextEdit="1"/>
              </p:cNvSpPr>
              <p:nvPr/>
            </p:nvSpPr>
            <p:spPr>
              <a:xfrm>
                <a:off x="7125645" y="4981882"/>
                <a:ext cx="2584297" cy="50481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0909190" y="4238689"/>
                <a:ext cx="803490" cy="3808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3" name="矩形 2"/>
              <p:cNvSpPr>
                <a:spLocks noRot="1" noChangeAspect="1" noMove="1" noResize="1" noEditPoints="1" noAdjustHandles="1" noChangeArrowheads="1" noChangeShapeType="1" noTextEdit="1"/>
              </p:cNvSpPr>
              <p:nvPr/>
            </p:nvSpPr>
            <p:spPr>
              <a:xfrm>
                <a:off x="10909190" y="4238689"/>
                <a:ext cx="803490" cy="380810"/>
              </a:xfrm>
              <a:prstGeom prst="rect">
                <a:avLst/>
              </a:prstGeom>
              <a:blipFill>
                <a:blip r:embed="rId8"/>
                <a:stretch>
                  <a:fillRect/>
                </a:stretch>
              </a:blipFill>
            </p:spPr>
            <p:txBody>
              <a:bodyPr/>
              <a:lstStyle/>
              <a:p>
                <a:r>
                  <a:rPr lang="zh-CN" altLang="en-US">
                    <a:noFill/>
                  </a:rPr>
                  <a:t> </a:t>
                </a:r>
              </a:p>
            </p:txBody>
          </p:sp>
        </mc:Fallback>
      </mc:AlternateContent>
      <p:sp>
        <p:nvSpPr>
          <p:cNvPr id="20" name="文本框 19"/>
          <p:cNvSpPr txBox="1"/>
          <p:nvPr/>
        </p:nvSpPr>
        <p:spPr>
          <a:xfrm>
            <a:off x="10434763" y="3402442"/>
            <a:ext cx="1200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全连接</a:t>
            </a:r>
          </a:p>
        </p:txBody>
      </p:sp>
      <p:cxnSp>
        <p:nvCxnSpPr>
          <p:cNvPr id="21" name="直接箭头连接符 20"/>
          <p:cNvCxnSpPr>
            <a:stCxn id="20" idx="1"/>
          </p:cNvCxnSpPr>
          <p:nvPr/>
        </p:nvCxnSpPr>
        <p:spPr>
          <a:xfrm flipH="1" flipV="1">
            <a:off x="10176034" y="3205129"/>
            <a:ext cx="258729" cy="3819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20" idx="1"/>
          </p:cNvCxnSpPr>
          <p:nvPr/>
        </p:nvCxnSpPr>
        <p:spPr>
          <a:xfrm flipH="1">
            <a:off x="10042317" y="3587108"/>
            <a:ext cx="392446" cy="59527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0289495" y="4734759"/>
            <a:ext cx="1200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全连接</a:t>
            </a:r>
          </a:p>
        </p:txBody>
      </p:sp>
    </p:spTree>
    <p:extLst>
      <p:ext uri="{BB962C8B-B14F-4D97-AF65-F5344CB8AC3E}">
        <p14:creationId xmlns:p14="http://schemas.microsoft.com/office/powerpoint/2010/main" val="416222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8" grpId="0"/>
      <p:bldP spid="12" grpId="0"/>
      <p:bldP spid="13" grpId="0"/>
      <p:bldP spid="14" grpId="0"/>
      <p:bldP spid="3" grpId="0"/>
      <p:bldP spid="20" grpId="0"/>
      <p:bldP spid="27"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举例：中文分词问题</a:t>
            </a:r>
          </a:p>
        </p:txBody>
      </p:sp>
      <p:sp>
        <p:nvSpPr>
          <p:cNvPr id="3" name="内容占位符 2"/>
          <p:cNvSpPr>
            <a:spLocks noGrp="1"/>
          </p:cNvSpPr>
          <p:nvPr>
            <p:ph sz="quarter" idx="1"/>
          </p:nvPr>
        </p:nvSpPr>
        <p:spPr>
          <a:xfrm>
            <a:off x="1219200" y="1606826"/>
            <a:ext cx="10363200" cy="4572000"/>
          </a:xfrm>
        </p:spPr>
        <p:txBody>
          <a:bodyPr>
            <a:normAutofit lnSpcReduction="10000"/>
          </a:bodyPr>
          <a:lstStyle/>
          <a:p>
            <a:r>
              <a:rPr lang="zh-CN" altLang="en-US" dirty="0"/>
              <a:t>分词问题</a:t>
            </a:r>
            <a:endParaRPr lang="en-US" altLang="zh-CN" dirty="0"/>
          </a:p>
          <a:p>
            <a:pPr lvl="1"/>
            <a:r>
              <a:rPr lang="zh-CN" altLang="en-US" dirty="0"/>
              <a:t>清华计算机系</a:t>
            </a:r>
            <a:endParaRPr lang="en-US" altLang="zh-CN" dirty="0"/>
          </a:p>
          <a:p>
            <a:pPr lvl="1"/>
            <a:endParaRPr lang="en-US" altLang="zh-CN" dirty="0"/>
          </a:p>
          <a:p>
            <a:r>
              <a:rPr lang="zh-CN" altLang="en-US" dirty="0"/>
              <a:t>标记说明</a:t>
            </a:r>
            <a:endParaRPr lang="en-US" altLang="zh-CN" dirty="0"/>
          </a:p>
          <a:p>
            <a:pPr lvl="1"/>
            <a:r>
              <a:rPr lang="en-US" altLang="zh-CN" dirty="0"/>
              <a:t>B </a:t>
            </a:r>
            <a:r>
              <a:rPr lang="zh-CN" altLang="en-US" dirty="0"/>
              <a:t>：词首字</a:t>
            </a:r>
            <a:endParaRPr lang="en-US" altLang="zh-CN" dirty="0"/>
          </a:p>
          <a:p>
            <a:pPr lvl="1"/>
            <a:r>
              <a:rPr lang="en-US" altLang="zh-CN" dirty="0"/>
              <a:t>E </a:t>
            </a:r>
            <a:r>
              <a:rPr lang="zh-CN" altLang="en-US" dirty="0"/>
              <a:t>：词尾字</a:t>
            </a:r>
            <a:endParaRPr lang="en-US" altLang="zh-CN" dirty="0"/>
          </a:p>
          <a:p>
            <a:pPr lvl="1"/>
            <a:r>
              <a:rPr lang="en-US" altLang="zh-CN" dirty="0"/>
              <a:t>M</a:t>
            </a:r>
            <a:r>
              <a:rPr lang="zh-CN" altLang="en-US" dirty="0"/>
              <a:t>：词中字</a:t>
            </a:r>
            <a:endParaRPr lang="en-US" altLang="zh-CN" dirty="0"/>
          </a:p>
          <a:p>
            <a:pPr lvl="1"/>
            <a:r>
              <a:rPr lang="en-US" altLang="zh-CN" dirty="0"/>
              <a:t>S </a:t>
            </a:r>
            <a:r>
              <a:rPr lang="zh-CN" altLang="en-US" dirty="0"/>
              <a:t>：单字词</a:t>
            </a:r>
            <a:endParaRPr lang="en-US" altLang="zh-CN" dirty="0"/>
          </a:p>
          <a:p>
            <a:pPr lvl="1"/>
            <a:endParaRPr lang="en-US" altLang="zh-CN" dirty="0"/>
          </a:p>
          <a:p>
            <a:pPr marL="320040" lvl="1" indent="0">
              <a:buNone/>
            </a:pPr>
            <a:r>
              <a:rPr lang="en-US" altLang="zh-CN" dirty="0"/>
              <a:t>    </a:t>
            </a:r>
            <a:r>
              <a:rPr lang="zh-CN" altLang="zh-CN" dirty="0"/>
              <a:t>清 华 计 算 机 系</a:t>
            </a:r>
          </a:p>
          <a:p>
            <a:pPr marL="320040" lvl="1" indent="0">
              <a:buNone/>
            </a:pPr>
            <a:r>
              <a:rPr lang="en-US" altLang="zh-CN" dirty="0"/>
              <a:t>     B   E   B   M   E   S</a:t>
            </a:r>
            <a:endParaRPr lang="zh-CN" altLang="zh-CN" dirty="0"/>
          </a:p>
          <a:p>
            <a:pPr marL="0" indent="0">
              <a:buNone/>
            </a:pPr>
            <a:endParaRPr lang="zh-CN" altLang="en-US" dirty="0"/>
          </a:p>
        </p:txBody>
      </p:sp>
      <p:pic>
        <p:nvPicPr>
          <p:cNvPr id="4" name="图片 3"/>
          <p:cNvPicPr>
            <a:picLocks noChangeAspect="1"/>
          </p:cNvPicPr>
          <p:nvPr/>
        </p:nvPicPr>
        <p:blipFill>
          <a:blip r:embed="rId3"/>
          <a:stretch>
            <a:fillRect/>
          </a:stretch>
        </p:blipFill>
        <p:spPr>
          <a:xfrm>
            <a:off x="5398930" y="2310978"/>
            <a:ext cx="5976228" cy="2489271"/>
          </a:xfrm>
          <a:prstGeom prst="rect">
            <a:avLst/>
          </a:prstGeom>
        </p:spPr>
      </p:pic>
    </p:spTree>
    <p:extLst>
      <p:ext uri="{BB962C8B-B14F-4D97-AF65-F5344CB8AC3E}">
        <p14:creationId xmlns:p14="http://schemas.microsoft.com/office/powerpoint/2010/main" val="91320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举例：看图说话问题</a:t>
            </a:r>
          </a:p>
        </p:txBody>
      </p:sp>
      <p:sp>
        <p:nvSpPr>
          <p:cNvPr id="3" name="内容占位符 2"/>
          <p:cNvSpPr>
            <a:spLocks noGrp="1"/>
          </p:cNvSpPr>
          <p:nvPr>
            <p:ph sz="quarter" idx="1"/>
          </p:nvPr>
        </p:nvSpPr>
        <p:spPr>
          <a:xfrm>
            <a:off x="1219200" y="1602187"/>
            <a:ext cx="10363200" cy="4572000"/>
          </a:xfrm>
        </p:spPr>
        <p:txBody>
          <a:bodyPr/>
          <a:lstStyle/>
          <a:p>
            <a:r>
              <a:rPr lang="zh-CN" altLang="en-US" dirty="0"/>
              <a:t>看图说话问题</a:t>
            </a:r>
            <a:endParaRPr lang="en-US" altLang="zh-CN" dirty="0"/>
          </a:p>
          <a:p>
            <a:pPr lvl="1"/>
            <a:r>
              <a:rPr lang="zh-CN" altLang="en-US" dirty="0"/>
              <a:t>用一句话描述图像内容</a:t>
            </a:r>
            <a:endParaRPr lang="en-US" altLang="zh-CN" dirty="0"/>
          </a:p>
          <a:p>
            <a:pPr lvl="1"/>
            <a:endParaRPr lang="en-US" altLang="zh-CN" dirty="0"/>
          </a:p>
          <a:p>
            <a:pPr marL="274320" lvl="1" indent="0">
              <a:buNone/>
            </a:pPr>
            <a:r>
              <a:rPr lang="zh-CN" altLang="en-US" dirty="0"/>
              <a:t>“草坪上有一只漂亮的小狗”“</a:t>
            </a:r>
          </a:p>
        </p:txBody>
      </p:sp>
      <p:pic>
        <p:nvPicPr>
          <p:cNvPr id="4" name="图片 3" descr="C:\Users\msp\AppData\Local\Temp\WeChat Files\cad213e17e708a5be32cf0a350a7bc0.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9767" y="2011679"/>
            <a:ext cx="5152445" cy="3307742"/>
          </a:xfrm>
          <a:prstGeom prst="rect">
            <a:avLst/>
          </a:prstGeom>
          <a:noFill/>
          <a:ln>
            <a:noFill/>
          </a:ln>
        </p:spPr>
      </p:pic>
    </p:spTree>
    <p:extLst>
      <p:ext uri="{BB962C8B-B14F-4D97-AF65-F5344CB8AC3E}">
        <p14:creationId xmlns:p14="http://schemas.microsoft.com/office/powerpoint/2010/main" val="354745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347498" y="439719"/>
            <a:ext cx="4481883" cy="3827328"/>
          </a:xfrm>
          <a:prstGeom prst="rect">
            <a:avLst/>
          </a:prstGeom>
        </p:spPr>
      </p:pic>
      <p:sp>
        <p:nvSpPr>
          <p:cNvPr id="5" name="文本框 4"/>
          <p:cNvSpPr txBox="1"/>
          <p:nvPr/>
        </p:nvSpPr>
        <p:spPr>
          <a:xfrm>
            <a:off x="5294239" y="4587918"/>
            <a:ext cx="652007" cy="646331"/>
          </a:xfrm>
          <a:prstGeom prst="rect">
            <a:avLst/>
          </a:prstGeom>
          <a:noFill/>
          <a:ln w="28575">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神经</a:t>
            </a:r>
            <a:endParaRPr kumimoji="0" lang="en-US" altLang="zh-CN"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网络</a:t>
            </a:r>
            <a:endParaRPr kumimoji="0" lang="en-US" altLang="zh-CN"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cxnSp>
        <p:nvCxnSpPr>
          <p:cNvPr id="10" name="直接箭头连接符 9"/>
          <p:cNvCxnSpPr>
            <a:stCxn id="5" idx="0"/>
          </p:cNvCxnSpPr>
          <p:nvPr/>
        </p:nvCxnSpPr>
        <p:spPr>
          <a:xfrm flipH="1" flipV="1">
            <a:off x="5620242" y="4269856"/>
            <a:ext cx="1" cy="318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flipV="1">
            <a:off x="5605667" y="5225340"/>
            <a:ext cx="1" cy="318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251834" y="5552311"/>
            <a:ext cx="70766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图像</a:t>
            </a:r>
            <a:endParaRPr kumimoji="0" lang="en-US" altLang="zh-CN"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5" name="矩形 14"/>
              <p:cNvSpPr/>
              <p:nvPr/>
            </p:nvSpPr>
            <p:spPr>
              <a:xfrm>
                <a:off x="1116757" y="576514"/>
                <a:ext cx="2729017" cy="78181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𝐾</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K</a:t>
                </a: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为字表长度）</a:t>
                </a:r>
              </a:p>
            </p:txBody>
          </p:sp>
        </mc:Choice>
        <mc:Fallback xmlns="">
          <p:sp>
            <p:nvSpPr>
              <p:cNvPr id="15" name="矩形 14"/>
              <p:cNvSpPr>
                <a:spLocks noRot="1" noChangeAspect="1" noMove="1" noResize="1" noEditPoints="1" noAdjustHandles="1" noChangeArrowheads="1" noChangeShapeType="1" noTextEdit="1"/>
              </p:cNvSpPr>
              <p:nvPr/>
            </p:nvSpPr>
            <p:spPr>
              <a:xfrm>
                <a:off x="1116757" y="576514"/>
                <a:ext cx="2729017" cy="781817"/>
              </a:xfrm>
              <a:prstGeom prst="rect">
                <a:avLst/>
              </a:prstGeom>
              <a:blipFill>
                <a:blip r:embed="rId3"/>
                <a:stretch>
                  <a:fillRect l="-1786" b="-132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388965" y="3899024"/>
                <a:ext cx="2670731"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2388965" y="3899024"/>
                <a:ext cx="2670731" cy="504818"/>
              </a:xfrm>
              <a:prstGeom prst="rect">
                <a:avLst/>
              </a:prstGeom>
              <a:blipFill>
                <a:blip r:embed="rId4"/>
                <a:stretch>
                  <a:fillRect/>
                </a:stretch>
              </a:blipFill>
            </p:spPr>
            <p:txBody>
              <a:bodyPr/>
              <a:lstStyle/>
              <a:p>
                <a:r>
                  <a:rPr lang="zh-CN" altLang="en-US">
                    <a:noFill/>
                  </a:rPr>
                  <a:t> </a:t>
                </a:r>
              </a:p>
            </p:txBody>
          </p:sp>
        </mc:Fallback>
      </mc:AlternateContent>
      <p:sp>
        <p:nvSpPr>
          <p:cNvPr id="20" name="文本框 19"/>
          <p:cNvSpPr txBox="1"/>
          <p:nvPr/>
        </p:nvSpPr>
        <p:spPr>
          <a:xfrm>
            <a:off x="8477812" y="2095370"/>
            <a:ext cx="3251344"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训练样本：</a:t>
            </a:r>
            <a:endPar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    </a:t>
            </a: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“图像</a:t>
            </a:r>
            <a:r>
              <a:rPr lang="en-US" altLang="zh-CN" sz="2000" noProof="0" dirty="0">
                <a:solidFill>
                  <a:srgbClr val="FF0000"/>
                </a:solidFill>
                <a:latin typeface="SimSun" panose="02010600030101010101" pitchFamily="2" charset="-122"/>
                <a:ea typeface="SimSun" panose="02010600030101010101" pitchFamily="2" charset="-122"/>
              </a:rPr>
              <a:t>—</a:t>
            </a: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句子”描述</a:t>
            </a:r>
            <a:endPar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损失函数：</a:t>
            </a:r>
            <a:endPar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    </a:t>
            </a: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负对数似然函数</a:t>
            </a:r>
            <a:endPar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233657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0"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双向循环神经网络</a:t>
            </a:r>
          </a:p>
        </p:txBody>
      </p:sp>
      <p:sp>
        <p:nvSpPr>
          <p:cNvPr id="3" name="内容占位符 2"/>
          <p:cNvSpPr>
            <a:spLocks noGrp="1"/>
          </p:cNvSpPr>
          <p:nvPr>
            <p:ph sz="quarter" idx="1"/>
          </p:nvPr>
        </p:nvSpPr>
        <p:spPr>
          <a:xfrm>
            <a:off x="1219200" y="1654531"/>
            <a:ext cx="10363200" cy="4572000"/>
          </a:xfrm>
        </p:spPr>
        <p:txBody>
          <a:bodyPr/>
          <a:lstStyle/>
          <a:p>
            <a:r>
              <a:rPr lang="zh-CN" altLang="en-US" dirty="0"/>
              <a:t>问题的提出</a:t>
            </a:r>
            <a:endParaRPr lang="en-US" altLang="zh-CN" dirty="0"/>
          </a:p>
          <a:p>
            <a:pPr lvl="1"/>
            <a:r>
              <a:rPr lang="zh-CN" altLang="en-US" dirty="0"/>
              <a:t>序列前面的内容被</a:t>
            </a:r>
            <a:endParaRPr lang="en-US" altLang="zh-CN" dirty="0"/>
          </a:p>
          <a:p>
            <a:pPr marL="320040" lvl="1" indent="0">
              <a:buNone/>
            </a:pPr>
            <a:r>
              <a:rPr lang="en-US" altLang="zh-CN" dirty="0"/>
              <a:t>   </a:t>
            </a:r>
            <a:r>
              <a:rPr lang="zh-CN" altLang="en-US" dirty="0"/>
              <a:t>后面的内容淹没</a:t>
            </a:r>
          </a:p>
        </p:txBody>
      </p:sp>
      <p:pic>
        <p:nvPicPr>
          <p:cNvPr id="45" name="图片 44"/>
          <p:cNvPicPr>
            <a:picLocks noChangeAspect="1"/>
          </p:cNvPicPr>
          <p:nvPr/>
        </p:nvPicPr>
        <p:blipFill>
          <a:blip r:embed="rId2"/>
          <a:stretch>
            <a:fillRect/>
          </a:stretch>
        </p:blipFill>
        <p:spPr>
          <a:xfrm>
            <a:off x="5518205" y="1774256"/>
            <a:ext cx="5471920" cy="3753522"/>
          </a:xfrm>
          <a:prstGeom prst="rect">
            <a:avLst/>
          </a:prstGeom>
        </p:spPr>
      </p:pic>
    </p:spTree>
    <p:extLst>
      <p:ext uri="{BB962C8B-B14F-4D97-AF65-F5344CB8AC3E}">
        <p14:creationId xmlns:p14="http://schemas.microsoft.com/office/powerpoint/2010/main" val="253800163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双向循环神经网络</a:t>
            </a:r>
          </a:p>
        </p:txBody>
      </p:sp>
      <p:pic>
        <p:nvPicPr>
          <p:cNvPr id="4" name="图片 3"/>
          <p:cNvPicPr>
            <a:picLocks noChangeAspect="1"/>
          </p:cNvPicPr>
          <p:nvPr/>
        </p:nvPicPr>
        <p:blipFill>
          <a:blip r:embed="rId2"/>
          <a:stretch>
            <a:fillRect/>
          </a:stretch>
        </p:blipFill>
        <p:spPr>
          <a:xfrm>
            <a:off x="3649649" y="1417638"/>
            <a:ext cx="4882099" cy="4387709"/>
          </a:xfrm>
          <a:prstGeom prst="rect">
            <a:avLst/>
          </a:prstGeom>
        </p:spPr>
      </p:pic>
      <p:sp>
        <p:nvSpPr>
          <p:cNvPr id="5" name="文本框 4"/>
          <p:cNvSpPr txBox="1"/>
          <p:nvPr/>
        </p:nvSpPr>
        <p:spPr>
          <a:xfrm>
            <a:off x="2291698" y="4345589"/>
            <a:ext cx="135795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正向处理</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
        <p:nvSpPr>
          <p:cNvPr id="6" name="文本框 5"/>
          <p:cNvSpPr txBox="1"/>
          <p:nvPr/>
        </p:nvSpPr>
        <p:spPr>
          <a:xfrm>
            <a:off x="8628888" y="3411437"/>
            <a:ext cx="135795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反向处理</a:t>
            </a:r>
            <a:endParaRPr kumimoji="0" lang="en-US" altLang="zh-CN" sz="2000" b="0"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sp>
        <p:nvSpPr>
          <p:cNvPr id="7" name="文本框 6"/>
          <p:cNvSpPr txBox="1"/>
          <p:nvPr/>
        </p:nvSpPr>
        <p:spPr>
          <a:xfrm>
            <a:off x="8317063" y="2681558"/>
            <a:ext cx="157263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拼接在一起</a:t>
            </a:r>
            <a:endParaRPr kumimoji="0" lang="en-US" altLang="zh-CN"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p:cxnSp>
        <p:nvCxnSpPr>
          <p:cNvPr id="8" name="直接箭头连接符 7"/>
          <p:cNvCxnSpPr>
            <a:stCxn id="7" idx="1"/>
          </p:cNvCxnSpPr>
          <p:nvPr/>
        </p:nvCxnSpPr>
        <p:spPr>
          <a:xfrm flipH="1">
            <a:off x="7098790" y="2881613"/>
            <a:ext cx="1218273" cy="27921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7" idx="1"/>
          </p:cNvCxnSpPr>
          <p:nvPr/>
        </p:nvCxnSpPr>
        <p:spPr>
          <a:xfrm flipH="1">
            <a:off x="7440698" y="2881613"/>
            <a:ext cx="876365" cy="338666"/>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661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序列到序列循环神经网络</a:t>
            </a:r>
          </a:p>
        </p:txBody>
      </p:sp>
      <p:sp>
        <p:nvSpPr>
          <p:cNvPr id="3" name="内容占位符 2"/>
          <p:cNvSpPr>
            <a:spLocks noGrp="1"/>
          </p:cNvSpPr>
          <p:nvPr>
            <p:ph sz="quarter" idx="1"/>
          </p:nvPr>
        </p:nvSpPr>
        <p:spPr>
          <a:xfrm>
            <a:off x="1219200" y="1781755"/>
            <a:ext cx="10363200" cy="4572000"/>
          </a:xfrm>
        </p:spPr>
        <p:txBody>
          <a:bodyPr/>
          <a:lstStyle/>
          <a:p>
            <a:r>
              <a:rPr lang="zh-CN" altLang="en-US" dirty="0"/>
              <a:t>用途</a:t>
            </a:r>
            <a:endParaRPr lang="en-US" altLang="zh-CN" dirty="0"/>
          </a:p>
          <a:p>
            <a:pPr lvl="1"/>
            <a:r>
              <a:rPr lang="zh-CN" altLang="en-US" dirty="0"/>
              <a:t>机器翻译</a:t>
            </a:r>
            <a:endParaRPr lang="en-US" altLang="zh-CN" dirty="0"/>
          </a:p>
          <a:p>
            <a:pPr lvl="2"/>
            <a:r>
              <a:rPr lang="zh-CN" altLang="en-US" dirty="0"/>
              <a:t>文字到文字</a:t>
            </a:r>
            <a:endParaRPr lang="en-US" altLang="zh-CN" dirty="0"/>
          </a:p>
          <a:p>
            <a:pPr lvl="2"/>
            <a:r>
              <a:rPr lang="zh-CN" altLang="en-US" dirty="0"/>
              <a:t>语音到语音</a:t>
            </a:r>
            <a:endParaRPr lang="en-US" altLang="zh-CN" dirty="0"/>
          </a:p>
          <a:p>
            <a:pPr lvl="1"/>
            <a:r>
              <a:rPr lang="zh-CN" altLang="en-US" dirty="0"/>
              <a:t>问答系统</a:t>
            </a:r>
            <a:endParaRPr lang="en-US" altLang="zh-CN" dirty="0"/>
          </a:p>
          <a:p>
            <a:pPr lvl="2"/>
            <a:r>
              <a:rPr lang="zh-CN" altLang="en-US" dirty="0"/>
              <a:t>问句到答案</a:t>
            </a:r>
          </a:p>
        </p:txBody>
      </p:sp>
      <p:pic>
        <p:nvPicPr>
          <p:cNvPr id="4" name="图片 3"/>
          <p:cNvPicPr>
            <a:picLocks noChangeAspect="1"/>
          </p:cNvPicPr>
          <p:nvPr/>
        </p:nvPicPr>
        <p:blipFill>
          <a:blip r:embed="rId2"/>
          <a:stretch>
            <a:fillRect/>
          </a:stretch>
        </p:blipFill>
        <p:spPr>
          <a:xfrm>
            <a:off x="4937762" y="1696887"/>
            <a:ext cx="6154309" cy="4073826"/>
          </a:xfrm>
          <a:prstGeom prst="rect">
            <a:avLst/>
          </a:prstGeom>
        </p:spPr>
      </p:pic>
    </p:spTree>
    <p:extLst>
      <p:ext uri="{BB962C8B-B14F-4D97-AF65-F5344CB8AC3E}">
        <p14:creationId xmlns:p14="http://schemas.microsoft.com/office/powerpoint/2010/main" val="132940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sz="quarter" idx="1"/>
          </p:nvPr>
        </p:nvSpPr>
        <p:spPr>
          <a:xfrm>
            <a:off x="1219200" y="1606826"/>
            <a:ext cx="10363200" cy="4572000"/>
          </a:xfrm>
        </p:spPr>
        <p:txBody>
          <a:bodyPr/>
          <a:lstStyle/>
          <a:p>
            <a:r>
              <a:rPr lang="zh-CN" altLang="en-US" dirty="0"/>
              <a:t>循环神经网络</a:t>
            </a:r>
            <a:endParaRPr lang="en-US" altLang="zh-CN" dirty="0"/>
          </a:p>
          <a:p>
            <a:pPr lvl="1"/>
            <a:r>
              <a:rPr lang="zh-CN" altLang="en-US" dirty="0"/>
              <a:t>处理序列数据</a:t>
            </a:r>
            <a:endParaRPr lang="en-US" altLang="zh-CN" dirty="0"/>
          </a:p>
          <a:p>
            <a:r>
              <a:rPr lang="zh-CN" altLang="en-US" dirty="0"/>
              <a:t>双向循环神经网络</a:t>
            </a:r>
            <a:endParaRPr lang="en-US" altLang="zh-CN" dirty="0"/>
          </a:p>
          <a:p>
            <a:r>
              <a:rPr lang="zh-CN" altLang="en-US" dirty="0"/>
              <a:t>序列到序列神经网络</a:t>
            </a:r>
            <a:endParaRPr lang="en-US" altLang="zh-CN" dirty="0"/>
          </a:p>
          <a:p>
            <a:r>
              <a:rPr lang="zh-CN" altLang="en-US" dirty="0"/>
              <a:t>应用举例</a:t>
            </a:r>
            <a:endParaRPr lang="en-US" altLang="zh-CN" dirty="0"/>
          </a:p>
          <a:p>
            <a:pPr lvl="1"/>
            <a:r>
              <a:rPr lang="zh-CN" altLang="en-US" dirty="0"/>
              <a:t>情感分类问题</a:t>
            </a:r>
            <a:endParaRPr lang="en-US" altLang="zh-CN" dirty="0"/>
          </a:p>
          <a:p>
            <a:pPr lvl="1"/>
            <a:r>
              <a:rPr lang="zh-CN" altLang="en-US" dirty="0"/>
              <a:t>分词问题</a:t>
            </a:r>
            <a:endParaRPr lang="en-US" altLang="zh-CN" dirty="0"/>
          </a:p>
          <a:p>
            <a:pPr lvl="1"/>
            <a:r>
              <a:rPr lang="zh-CN" altLang="en-US" dirty="0"/>
              <a:t>看图说话问题</a:t>
            </a:r>
            <a:endParaRPr lang="en-US" altLang="zh-CN" dirty="0"/>
          </a:p>
        </p:txBody>
      </p:sp>
    </p:spTree>
    <p:extLst>
      <p:ext uri="{BB962C8B-B14F-4D97-AF65-F5344CB8AC3E}">
        <p14:creationId xmlns:p14="http://schemas.microsoft.com/office/powerpoint/2010/main" val="196048521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2.9 </a:t>
            </a:r>
            <a:r>
              <a:rPr lang="zh-CN" altLang="en-US" dirty="0"/>
              <a:t>长短期记忆网络（</a:t>
            </a:r>
            <a:r>
              <a:rPr lang="en-US" altLang="zh-CN" dirty="0"/>
              <a:t>LSTM</a:t>
            </a:r>
            <a:r>
              <a:rPr lang="zh-CN" altLang="en-US" dirty="0"/>
              <a:t>：</a:t>
            </a:r>
            <a:r>
              <a:rPr lang="en-US" altLang="zh-CN" dirty="0"/>
              <a:t>Long Short-Term Memory</a:t>
            </a:r>
            <a:r>
              <a:rPr lang="zh-CN" altLang="en-US" dirty="0"/>
              <a:t>）</a:t>
            </a:r>
            <a:r>
              <a:rPr lang="en-US" altLang="zh-CN" dirty="0"/>
              <a:t> </a:t>
            </a:r>
            <a:endParaRPr lang="zh-CN" altLang="en-US" dirty="0"/>
          </a:p>
        </p:txBody>
      </p:sp>
      <p:sp>
        <p:nvSpPr>
          <p:cNvPr id="3" name="内容占位符 2"/>
          <p:cNvSpPr>
            <a:spLocks noGrp="1"/>
          </p:cNvSpPr>
          <p:nvPr>
            <p:ph sz="quarter" idx="1"/>
          </p:nvPr>
        </p:nvSpPr>
        <p:spPr>
          <a:xfrm>
            <a:off x="1219200" y="1789706"/>
            <a:ext cx="10363200" cy="4572000"/>
          </a:xfrm>
        </p:spPr>
        <p:txBody>
          <a:bodyPr>
            <a:normAutofit/>
          </a:bodyPr>
          <a:lstStyle/>
          <a:p>
            <a:r>
              <a:rPr lang="zh-CN" altLang="en-US" dirty="0"/>
              <a:t>简单</a:t>
            </a:r>
            <a:r>
              <a:rPr lang="en-US" altLang="zh-CN" dirty="0"/>
              <a:t>RNN</a:t>
            </a:r>
            <a:r>
              <a:rPr lang="zh-CN" altLang="en-US" dirty="0"/>
              <a:t>存在的问题</a:t>
            </a:r>
            <a:endParaRPr lang="en-US" altLang="zh-CN" dirty="0"/>
          </a:p>
          <a:p>
            <a:pPr lvl="1"/>
            <a:r>
              <a:rPr lang="zh-CN" altLang="en-US" dirty="0"/>
              <a:t>长期依赖问题</a:t>
            </a:r>
            <a:endParaRPr lang="en-US" altLang="zh-CN" dirty="0"/>
          </a:p>
          <a:p>
            <a:pPr lvl="2"/>
            <a:r>
              <a:rPr lang="en-US" altLang="zh-CN" dirty="0" err="1"/>
              <a:t>beijing</a:t>
            </a:r>
            <a:r>
              <a:rPr lang="en-US" altLang="zh-CN" dirty="0"/>
              <a:t>  </a:t>
            </a:r>
            <a:r>
              <a:rPr lang="en-US" altLang="zh-CN" dirty="0" err="1">
                <a:solidFill>
                  <a:srgbClr val="FF0000"/>
                </a:solidFill>
              </a:rPr>
              <a:t>shi</a:t>
            </a:r>
            <a:r>
              <a:rPr lang="en-US" altLang="zh-CN" dirty="0">
                <a:solidFill>
                  <a:srgbClr val="FF0000"/>
                </a:solidFill>
              </a:rPr>
              <a:t> </a:t>
            </a:r>
            <a:r>
              <a:rPr lang="en-US" altLang="zh-CN" dirty="0"/>
              <a:t> </a:t>
            </a:r>
            <a:r>
              <a:rPr lang="en-US" altLang="zh-CN" dirty="0" err="1"/>
              <a:t>yige</a:t>
            </a:r>
            <a:r>
              <a:rPr lang="en-US" altLang="zh-CN" dirty="0"/>
              <a:t>  </a:t>
            </a:r>
            <a:r>
              <a:rPr lang="en-US" altLang="zh-CN" dirty="0" err="1"/>
              <a:t>meili</a:t>
            </a:r>
            <a:r>
              <a:rPr lang="en-US" altLang="zh-CN" dirty="0"/>
              <a:t>  de</a:t>
            </a:r>
          </a:p>
          <a:p>
            <a:pPr lvl="2"/>
            <a:r>
              <a:rPr lang="zh-CN" altLang="en-US" dirty="0"/>
              <a:t>北京</a:t>
            </a:r>
            <a:r>
              <a:rPr lang="zh-CN" altLang="en-US" dirty="0">
                <a:solidFill>
                  <a:srgbClr val="FF0000"/>
                </a:solidFill>
              </a:rPr>
              <a:t>是</a:t>
            </a:r>
            <a:r>
              <a:rPr lang="zh-CN" altLang="en-US" dirty="0"/>
              <a:t>一个美丽的（</a:t>
            </a:r>
            <a:r>
              <a:rPr lang="zh-CN" altLang="en-US" dirty="0">
                <a:solidFill>
                  <a:srgbClr val="FF0000"/>
                </a:solidFill>
              </a:rPr>
              <a:t>城市</a:t>
            </a:r>
            <a:r>
              <a:rPr lang="zh-CN" altLang="en-US" dirty="0"/>
              <a:t>）</a:t>
            </a:r>
            <a:endParaRPr lang="en-US" altLang="zh-CN" dirty="0"/>
          </a:p>
          <a:p>
            <a:pPr lvl="2"/>
            <a:r>
              <a:rPr lang="zh-CN" altLang="en-US" dirty="0"/>
              <a:t>北京</a:t>
            </a:r>
            <a:r>
              <a:rPr lang="zh-CN" altLang="en-US" dirty="0">
                <a:solidFill>
                  <a:srgbClr val="FF0000"/>
                </a:solidFill>
              </a:rPr>
              <a:t>市</a:t>
            </a:r>
            <a:r>
              <a:rPr lang="zh-CN" altLang="en-US" dirty="0"/>
              <a:t>一个美丽的（</a:t>
            </a:r>
            <a:r>
              <a:rPr lang="zh-CN" altLang="en-US" dirty="0">
                <a:solidFill>
                  <a:srgbClr val="FF0000"/>
                </a:solidFill>
              </a:rPr>
              <a:t>姑娘</a:t>
            </a:r>
            <a:r>
              <a:rPr lang="zh-CN" altLang="en-US" dirty="0"/>
              <a:t>）</a:t>
            </a:r>
            <a:endParaRPr lang="en-US" altLang="zh-CN" dirty="0"/>
          </a:p>
          <a:p>
            <a:pPr lvl="1"/>
            <a:r>
              <a:rPr lang="zh-CN" altLang="en-US" dirty="0"/>
              <a:t>重点选择问题</a:t>
            </a:r>
            <a:endParaRPr lang="en-US" altLang="zh-CN" dirty="0"/>
          </a:p>
          <a:p>
            <a:pPr lvl="2"/>
            <a:r>
              <a:rPr lang="zh-CN" altLang="en-US" dirty="0"/>
              <a:t>不同的任务词的重要性不同</a:t>
            </a:r>
            <a:endParaRPr lang="en-US" altLang="zh-CN" dirty="0"/>
          </a:p>
          <a:p>
            <a:pPr lvl="2"/>
            <a:r>
              <a:rPr lang="zh-CN" altLang="en-US" dirty="0"/>
              <a:t>我</a:t>
            </a:r>
            <a:r>
              <a:rPr lang="zh-CN" altLang="en-US" dirty="0">
                <a:solidFill>
                  <a:srgbClr val="FF0000"/>
                </a:solidFill>
              </a:rPr>
              <a:t>非常喜欢</a:t>
            </a:r>
            <a:r>
              <a:rPr lang="zh-CN" altLang="en-US" dirty="0">
                <a:solidFill>
                  <a:srgbClr val="00B050"/>
                </a:solidFill>
              </a:rPr>
              <a:t>看</a:t>
            </a:r>
            <a:r>
              <a:rPr lang="zh-CN" altLang="en-US" dirty="0"/>
              <a:t>这部</a:t>
            </a:r>
            <a:r>
              <a:rPr lang="zh-CN" altLang="en-US" dirty="0">
                <a:solidFill>
                  <a:srgbClr val="00B050"/>
                </a:solidFill>
              </a:rPr>
              <a:t>电影</a:t>
            </a:r>
            <a:endParaRPr lang="en-US" altLang="zh-CN" dirty="0">
              <a:solidFill>
                <a:srgbClr val="00B050"/>
              </a:solidFill>
            </a:endParaRPr>
          </a:p>
          <a:p>
            <a:pPr lvl="1"/>
            <a:r>
              <a:rPr lang="zh-CN" altLang="en-US" dirty="0"/>
              <a:t>梯度消失问题</a:t>
            </a:r>
            <a:endParaRPr lang="en-US" altLang="zh-CN" dirty="0"/>
          </a:p>
        </p:txBody>
      </p:sp>
      <p:pic>
        <p:nvPicPr>
          <p:cNvPr id="4" name="图片 3">
            <a:extLst>
              <a:ext uri="{FF2B5EF4-FFF2-40B4-BE49-F238E27FC236}">
                <a16:creationId xmlns:a16="http://schemas.microsoft.com/office/drawing/2014/main" id="{01CB33E5-72F0-4C08-B55D-45CFBBC9A9C6}"/>
              </a:ext>
            </a:extLst>
          </p:cNvPr>
          <p:cNvPicPr>
            <a:picLocks noChangeAspect="1"/>
          </p:cNvPicPr>
          <p:nvPr/>
        </p:nvPicPr>
        <p:blipFill>
          <a:blip r:embed="rId3"/>
          <a:stretch>
            <a:fillRect/>
          </a:stretch>
        </p:blipFill>
        <p:spPr>
          <a:xfrm>
            <a:off x="5518205" y="1768680"/>
            <a:ext cx="5471920" cy="3753522"/>
          </a:xfrm>
          <a:prstGeom prst="rect">
            <a:avLst/>
          </a:prstGeom>
        </p:spPr>
      </p:pic>
    </p:spTree>
    <p:extLst>
      <p:ext uri="{BB962C8B-B14F-4D97-AF65-F5344CB8AC3E}">
        <p14:creationId xmlns:p14="http://schemas.microsoft.com/office/powerpoint/2010/main" val="95922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3"/>
          <a:stretch>
            <a:fillRect/>
          </a:stretch>
        </p:blipFill>
        <p:spPr>
          <a:xfrm>
            <a:off x="1045469" y="755381"/>
            <a:ext cx="7116063" cy="3108960"/>
          </a:xfrm>
          <a:prstGeom prst="rect">
            <a:avLst/>
          </a:prstGeom>
        </p:spPr>
      </p:pic>
      <p:sp>
        <p:nvSpPr>
          <p:cNvPr id="54" name="矩形 53"/>
          <p:cNvSpPr/>
          <p:nvPr/>
        </p:nvSpPr>
        <p:spPr>
          <a:xfrm>
            <a:off x="970057" y="1478950"/>
            <a:ext cx="7132322" cy="251261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矩形 56"/>
          <p:cNvSpPr/>
          <p:nvPr/>
        </p:nvSpPr>
        <p:spPr>
          <a:xfrm>
            <a:off x="9358685" y="817901"/>
            <a:ext cx="1614116" cy="200987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8" name="直接箭头连接符 57"/>
          <p:cNvCxnSpPr/>
          <p:nvPr/>
        </p:nvCxnSpPr>
        <p:spPr>
          <a:xfrm flipH="1">
            <a:off x="8177791" y="1963974"/>
            <a:ext cx="1056247" cy="580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3" name="图片 72"/>
          <p:cNvPicPr>
            <a:picLocks noChangeAspect="1"/>
          </p:cNvPicPr>
          <p:nvPr/>
        </p:nvPicPr>
        <p:blipFill>
          <a:blip r:embed="rId4"/>
          <a:stretch>
            <a:fillRect/>
          </a:stretch>
        </p:blipFill>
        <p:spPr>
          <a:xfrm>
            <a:off x="9508513" y="877536"/>
            <a:ext cx="1314460" cy="1962164"/>
          </a:xfrm>
          <a:prstGeom prst="rect">
            <a:avLst/>
          </a:prstGeom>
        </p:spPr>
      </p:pic>
      <p:sp>
        <p:nvSpPr>
          <p:cNvPr id="75" name="右大括号 74"/>
          <p:cNvSpPr/>
          <p:nvPr/>
        </p:nvSpPr>
        <p:spPr>
          <a:xfrm rot="5400000">
            <a:off x="4357009" y="1544790"/>
            <a:ext cx="492981" cy="5338820"/>
          </a:xfrm>
          <a:prstGeom prst="rightBrace">
            <a:avLst>
              <a:gd name="adj1" fmla="val 14348"/>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6" name="文本框 75"/>
          <p:cNvSpPr txBox="1"/>
          <p:nvPr/>
        </p:nvSpPr>
        <p:spPr>
          <a:xfrm>
            <a:off x="4309608" y="4564059"/>
            <a:ext cx="76005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输入</a:t>
            </a:r>
          </a:p>
        </p:txBody>
      </p:sp>
      <p:sp>
        <p:nvSpPr>
          <p:cNvPr id="77" name="文本框 76"/>
          <p:cNvSpPr txBox="1"/>
          <p:nvPr/>
        </p:nvSpPr>
        <p:spPr>
          <a:xfrm>
            <a:off x="9754227" y="2926081"/>
            <a:ext cx="121654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循环模块</a:t>
            </a:r>
          </a:p>
        </p:txBody>
      </p:sp>
      <p:sp>
        <p:nvSpPr>
          <p:cNvPr id="79" name="文本框 78"/>
          <p:cNvSpPr txBox="1"/>
          <p:nvPr/>
        </p:nvSpPr>
        <p:spPr>
          <a:xfrm>
            <a:off x="4055168" y="2629565"/>
            <a:ext cx="99391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全连接</a:t>
            </a:r>
          </a:p>
        </p:txBody>
      </p:sp>
      <mc:AlternateContent xmlns:mc="http://schemas.openxmlformats.org/markup-compatibility/2006" xmlns:a14="http://schemas.microsoft.com/office/drawing/2010/main">
        <mc:Choice Requires="a14">
          <p:sp>
            <p:nvSpPr>
              <p:cNvPr id="81" name="矩形 80"/>
              <p:cNvSpPr/>
              <p:nvPr/>
            </p:nvSpPr>
            <p:spPr>
              <a:xfrm>
                <a:off x="1460946" y="4885255"/>
                <a:ext cx="7344356" cy="824008"/>
              </a:xfrm>
              <a:prstGeom prst="rect">
                <a:avLst/>
              </a:prstGeom>
            </p:spPr>
            <p:txBody>
              <a:bodyPr wrap="square">
                <a:spAutoFit/>
              </a:bodyPr>
              <a:lstStyle/>
              <a:p>
                <a:pPr lvl="0">
                  <a:defRPr/>
                </a:pPr>
                <a14:m>
                  <m:oMathPara xmlns:m="http://schemas.openxmlformats.org/officeDocument/2006/math">
                    <m:oMathParaPr>
                      <m:jc m:val="centerGroup"/>
                    </m:oMathParaPr>
                    <m:oMath xmlns:m="http://schemas.openxmlformats.org/officeDocument/2006/math">
                      <m:eqArr>
                        <m:eqArrPr>
                          <m:ctrlPr>
                            <a:rPr lang="zh-CN" altLang="en-US" i="1" smtClean="0">
                              <a:solidFill>
                                <a:prstClr val="black"/>
                              </a:solidFill>
                              <a:latin typeface="Cambria Math" panose="02040503050406030204" pitchFamily="18" charset="0"/>
                            </a:rPr>
                          </m:ctrlPr>
                        </m:eqArrPr>
                        <m:e>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h</m:t>
                              </m:r>
                            </m:e>
                            <m:sub>
                              <m:r>
                                <a:rPr lang="zh-CN" altLang="en-US" i="1">
                                  <a:solidFill>
                                    <a:prstClr val="black"/>
                                  </a:solidFill>
                                  <a:latin typeface="Cambria Math" panose="02040503050406030204" pitchFamily="18" charset="0"/>
                                </a:rPr>
                                <m:t>𝑘</m:t>
                              </m:r>
                            </m:sub>
                            <m:sup>
                              <m:r>
                                <a:rPr lang="zh-CN" altLang="en-US" i="1">
                                  <a:solidFill>
                                    <a:prstClr val="black"/>
                                  </a:solidFill>
                                  <a:latin typeface="Cambria Math" panose="02040503050406030204" pitchFamily="18" charset="0"/>
                                </a:rPr>
                                <m:t>𝑖</m:t>
                              </m:r>
                            </m:sup>
                          </m:sSubSup>
                          <m:r>
                            <a:rPr lang="en-US" altLang="zh-CN" i="1">
                              <a:solidFill>
                                <a:prstClr val="black"/>
                              </a:solidFill>
                              <a:latin typeface="Cambria Math" panose="02040503050406030204" pitchFamily="18" charset="0"/>
                            </a:rPr>
                            <m:t>=</m:t>
                          </m:r>
                          <m:r>
                            <m:rPr>
                              <m:sty m:val="p"/>
                            </m:rPr>
                            <a:rPr lang="zh-CN" altLang="en-US">
                              <a:solidFill>
                                <a:prstClr val="black"/>
                              </a:solidFill>
                              <a:latin typeface="Cambria Math" panose="02040503050406030204" pitchFamily="18" charset="0"/>
                            </a:rPr>
                            <m:t>tan</m:t>
                          </m:r>
                          <m:func>
                            <m:funcPr>
                              <m:ctrlPr>
                                <a:rPr lang="zh-CN" altLang="en-US" i="1">
                                  <a:solidFill>
                                    <a:prstClr val="black"/>
                                  </a:solidFill>
                                  <a:latin typeface="Cambria Math" panose="02040503050406030204" pitchFamily="18" charset="0"/>
                                </a:rPr>
                              </m:ctrlPr>
                            </m:funcPr>
                            <m:fName>
                              <m:r>
                                <m:rPr>
                                  <m:sty m:val="p"/>
                                </m:rPr>
                                <a:rPr lang="zh-CN" altLang="en-US">
                                  <a:solidFill>
                                    <a:prstClr val="black"/>
                                  </a:solidFill>
                                  <a:latin typeface="Cambria Math" panose="02040503050406030204" pitchFamily="18" charset="0"/>
                                </a:rPr>
                                <m:t>h</m:t>
                              </m:r>
                            </m:fName>
                            <m:e>
                              <m:r>
                                <a:rPr lang="zh-CN" altLang="en-US">
                                  <a:solidFill>
                                    <a:prstClr val="black"/>
                                  </a:solidFill>
                                  <a:latin typeface="Cambria Math" panose="02040503050406030204" pitchFamily="18" charset="0"/>
                                </a:rPr>
                                <m:t>(</m:t>
                              </m:r>
                            </m:e>
                          </m:func>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𝑤</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,1</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h</m:t>
                              </m:r>
                            </m:e>
                            <m:sub>
                              <m:r>
                                <a:rPr lang="zh-CN" altLang="en-US">
                                  <a:solidFill>
                                    <a:prstClr val="black"/>
                                  </a:solidFill>
                                  <a:latin typeface="Cambria Math" panose="02040503050406030204" pitchFamily="18" charset="0"/>
                                </a:rPr>
                                <m:t>1</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r>
                                    <a:rPr lang="zh-CN" altLang="en-US">
                                      <a:solidFill>
                                        <a:prstClr val="black"/>
                                      </a:solidFill>
                                      <a:latin typeface="Cambria Math" panose="02040503050406030204" pitchFamily="18" charset="0"/>
                                    </a:rPr>
                                    <m:t>−1</m:t>
                                  </m:r>
                                </m:e>
                              </m:d>
                            </m:sup>
                          </m:sSubSup>
                          <m:r>
                            <a:rPr lang="zh-CN" altLang="en-US">
                              <a:solidFill>
                                <a:prstClr val="black"/>
                              </a:solidFill>
                              <a:latin typeface="Cambria Math" panose="02040503050406030204" pitchFamily="18" charset="0"/>
                            </a:rPr>
                            <m:t>+</m:t>
                          </m:r>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𝑤</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,2</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h</m:t>
                              </m:r>
                            </m:e>
                            <m:sub>
                              <m:r>
                                <a:rPr lang="zh-CN" altLang="en-US">
                                  <a:solidFill>
                                    <a:prstClr val="black"/>
                                  </a:solidFill>
                                  <a:latin typeface="Cambria Math" panose="02040503050406030204" pitchFamily="18" charset="0"/>
                                </a:rPr>
                                <m:t>2</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r>
                                    <a:rPr lang="zh-CN" altLang="en-US">
                                      <a:solidFill>
                                        <a:prstClr val="black"/>
                                      </a:solidFill>
                                      <a:latin typeface="Cambria Math" panose="02040503050406030204" pitchFamily="18" charset="0"/>
                                    </a:rPr>
                                    <m:t>−1</m:t>
                                  </m:r>
                                </m:e>
                              </m:d>
                            </m:sup>
                          </m:sSubSup>
                          <m:r>
                            <a:rPr lang="zh-CN" altLang="en-US">
                              <a:solidFill>
                                <a:prstClr val="black"/>
                              </a:solidFill>
                              <a:latin typeface="Cambria Math" panose="02040503050406030204" pitchFamily="18" charset="0"/>
                            </a:rPr>
                            <m:t>+…+</m:t>
                          </m:r>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𝑤</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m:t>
                              </m:r>
                              <m:r>
                                <a:rPr lang="zh-CN" altLang="en-US" i="1">
                                  <a:solidFill>
                                    <a:prstClr val="black"/>
                                  </a:solidFill>
                                  <a:latin typeface="Cambria Math" panose="02040503050406030204" pitchFamily="18" charset="0"/>
                                </a:rPr>
                                <m:t>𝑚</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h</m:t>
                              </m:r>
                            </m:e>
                            <m:sub>
                              <m:r>
                                <a:rPr lang="zh-CN" altLang="en-US" i="1">
                                  <a:solidFill>
                                    <a:prstClr val="black"/>
                                  </a:solidFill>
                                  <a:latin typeface="Cambria Math" panose="02040503050406030204" pitchFamily="18" charset="0"/>
                                </a:rPr>
                                <m:t>𝑚</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r>
                                    <a:rPr lang="zh-CN" altLang="en-US">
                                      <a:solidFill>
                                        <a:prstClr val="black"/>
                                      </a:solidFill>
                                      <a:latin typeface="Cambria Math" panose="02040503050406030204" pitchFamily="18" charset="0"/>
                                    </a:rPr>
                                    <m:t>−1</m:t>
                                  </m:r>
                                </m:e>
                              </m:d>
                            </m:sup>
                          </m:sSubSup>
                          <m:r>
                            <a:rPr lang="zh-CN" altLang="en-US">
                              <a:solidFill>
                                <a:prstClr val="black"/>
                              </a:solidFill>
                              <a:latin typeface="Cambria Math" panose="02040503050406030204" pitchFamily="18" charset="0"/>
                            </a:rPr>
                            <m:t>+    </m:t>
                          </m:r>
                        </m:e>
                        <m:e>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𝑢</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,1</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𝑥</m:t>
                              </m:r>
                            </m:e>
                            <m:sub>
                              <m:r>
                                <a:rPr lang="zh-CN" altLang="en-US">
                                  <a:solidFill>
                                    <a:prstClr val="black"/>
                                  </a:solidFill>
                                  <a:latin typeface="Cambria Math" panose="02040503050406030204" pitchFamily="18" charset="0"/>
                                </a:rPr>
                                <m:t>1</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e>
                              </m:d>
                            </m:sup>
                          </m:sSubSup>
                          <m:r>
                            <a:rPr lang="zh-CN" altLang="en-US">
                              <a:solidFill>
                                <a:prstClr val="black"/>
                              </a:solidFill>
                              <a:latin typeface="Cambria Math" panose="02040503050406030204" pitchFamily="18" charset="0"/>
                            </a:rPr>
                            <m:t>+</m:t>
                          </m:r>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𝑢</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,2</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𝑥</m:t>
                              </m:r>
                            </m:e>
                            <m:sub>
                              <m:r>
                                <a:rPr lang="zh-CN" altLang="en-US">
                                  <a:solidFill>
                                    <a:prstClr val="black"/>
                                  </a:solidFill>
                                  <a:latin typeface="Cambria Math" panose="02040503050406030204" pitchFamily="18" charset="0"/>
                                </a:rPr>
                                <m:t>2</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e>
                              </m:d>
                            </m:sup>
                          </m:sSubSup>
                          <m:r>
                            <a:rPr lang="zh-CN" altLang="en-US">
                              <a:solidFill>
                                <a:prstClr val="black"/>
                              </a:solidFill>
                              <a:latin typeface="Cambria Math" panose="02040503050406030204" pitchFamily="18" charset="0"/>
                            </a:rPr>
                            <m:t>+…+</m:t>
                          </m:r>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𝑢</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m:t>
                              </m:r>
                              <m:r>
                                <a:rPr lang="zh-CN" altLang="en-US" i="1">
                                  <a:solidFill>
                                    <a:prstClr val="black"/>
                                  </a:solidFill>
                                  <a:latin typeface="Cambria Math" panose="02040503050406030204" pitchFamily="18" charset="0"/>
                                </a:rPr>
                                <m:t>𝑛</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𝑥</m:t>
                              </m:r>
                            </m:e>
                            <m:sub>
                              <m:r>
                                <a:rPr lang="zh-CN" altLang="en-US" i="1">
                                  <a:solidFill>
                                    <a:prstClr val="black"/>
                                  </a:solidFill>
                                  <a:latin typeface="Cambria Math" panose="02040503050406030204" pitchFamily="18" charset="0"/>
                                </a:rPr>
                                <m:t>𝑛</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e>
                              </m:d>
                            </m:sup>
                          </m:sSubSup>
                          <m:r>
                            <a:rPr lang="en-US" altLang="zh-CN" b="0" i="1" smtClean="0">
                              <a:solidFill>
                                <a:prstClr val="black"/>
                              </a:solidFill>
                              <a:latin typeface="Cambria Math" panose="02040503050406030204" pitchFamily="18" charset="0"/>
                            </a:rPr>
                            <m:t>)</m:t>
                          </m:r>
                        </m:e>
                      </m:eqArr>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81" name="矩形 80"/>
              <p:cNvSpPr>
                <a:spLocks noRot="1" noChangeAspect="1" noMove="1" noResize="1" noEditPoints="1" noAdjustHandles="1" noChangeArrowheads="1" noChangeShapeType="1" noTextEdit="1"/>
              </p:cNvSpPr>
              <p:nvPr/>
            </p:nvSpPr>
            <p:spPr>
              <a:xfrm>
                <a:off x="1460946" y="4885255"/>
                <a:ext cx="7344356" cy="824008"/>
              </a:xfrm>
              <a:prstGeom prst="rect">
                <a:avLst/>
              </a:prstGeom>
              <a:blipFill>
                <a:blip r:embed="rId5"/>
                <a:stretch>
                  <a:fillRect/>
                </a:stretch>
              </a:blipFill>
            </p:spPr>
            <p:txBody>
              <a:bodyPr/>
              <a:lstStyle/>
              <a:p>
                <a:r>
                  <a:rPr lang="zh-CN" altLang="en-US">
                    <a:noFill/>
                  </a:rPr>
                  <a:t> </a:t>
                </a:r>
              </a:p>
            </p:txBody>
          </p:sp>
        </mc:Fallback>
      </mc:AlternateContent>
      <p:grpSp>
        <p:nvGrpSpPr>
          <p:cNvPr id="2" name="组合 1"/>
          <p:cNvGrpSpPr/>
          <p:nvPr/>
        </p:nvGrpSpPr>
        <p:grpSpPr>
          <a:xfrm>
            <a:off x="939455" y="772433"/>
            <a:ext cx="7270156" cy="5349865"/>
            <a:chOff x="939455" y="772433"/>
            <a:chExt cx="7270156" cy="5349865"/>
          </a:xfrm>
        </p:grpSpPr>
        <p:cxnSp>
          <p:nvCxnSpPr>
            <p:cNvPr id="14" name="直接箭头连接符 13"/>
            <p:cNvCxnSpPr>
              <a:stCxn id="16" idx="6"/>
            </p:cNvCxnSpPr>
            <p:nvPr/>
          </p:nvCxnSpPr>
          <p:spPr>
            <a:xfrm>
              <a:off x="4684125" y="2180983"/>
              <a:ext cx="2962001" cy="136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4180125" y="2904340"/>
              <a:ext cx="504000" cy="504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椭圆 15"/>
            <p:cNvSpPr/>
            <p:nvPr/>
          </p:nvSpPr>
          <p:spPr>
            <a:xfrm>
              <a:off x="4180125" y="1928983"/>
              <a:ext cx="504000" cy="504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cxnSp>
          <p:nvCxnSpPr>
            <p:cNvPr id="17" name="直接箭头连接符 16"/>
            <p:cNvCxnSpPr>
              <a:stCxn id="15" idx="0"/>
              <a:endCxn id="16" idx="4"/>
            </p:cNvCxnSpPr>
            <p:nvPr/>
          </p:nvCxnSpPr>
          <p:spPr>
            <a:xfrm flipV="1">
              <a:off x="4432125" y="2432983"/>
              <a:ext cx="0" cy="4713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15" idx="4"/>
            </p:cNvCxnSpPr>
            <p:nvPr/>
          </p:nvCxnSpPr>
          <p:spPr>
            <a:xfrm flipV="1">
              <a:off x="4432125" y="3408340"/>
              <a:ext cx="0" cy="4882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5842288" y="2904340"/>
              <a:ext cx="576000" cy="504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tanh</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椭圆 19"/>
            <p:cNvSpPr/>
            <p:nvPr/>
          </p:nvSpPr>
          <p:spPr>
            <a:xfrm>
              <a:off x="5879452" y="3866606"/>
              <a:ext cx="504000" cy="53396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椭圆 20"/>
            <p:cNvSpPr/>
            <p:nvPr/>
          </p:nvSpPr>
          <p:spPr>
            <a:xfrm>
              <a:off x="2466228" y="1932275"/>
              <a:ext cx="504000" cy="504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圆角矩形 21"/>
            <p:cNvSpPr/>
            <p:nvPr/>
          </p:nvSpPr>
          <p:spPr>
            <a:xfrm>
              <a:off x="2185851" y="1724297"/>
              <a:ext cx="4998720" cy="3535680"/>
            </a:xfrm>
            <a:prstGeom prst="round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 name="直接箭头连接符 22"/>
            <p:cNvCxnSpPr>
              <a:stCxn id="52" idx="0"/>
              <a:endCxn id="21" idx="4"/>
            </p:cNvCxnSpPr>
            <p:nvPr/>
          </p:nvCxnSpPr>
          <p:spPr>
            <a:xfrm flipV="1">
              <a:off x="2715102" y="2436275"/>
              <a:ext cx="3126" cy="14817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55" idx="0"/>
              <a:endCxn id="15" idx="3"/>
            </p:cNvCxnSpPr>
            <p:nvPr/>
          </p:nvCxnSpPr>
          <p:spPr>
            <a:xfrm flipV="1">
              <a:off x="3555483" y="3334531"/>
              <a:ext cx="698451" cy="5878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59" idx="3"/>
              <a:endCxn id="20" idx="2"/>
            </p:cNvCxnSpPr>
            <p:nvPr/>
          </p:nvCxnSpPr>
          <p:spPr>
            <a:xfrm>
              <a:off x="5554147" y="4117775"/>
              <a:ext cx="325305" cy="158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9" idx="0"/>
            </p:cNvCxnSpPr>
            <p:nvPr/>
          </p:nvCxnSpPr>
          <p:spPr>
            <a:xfrm flipH="1">
              <a:off x="6130288" y="2194591"/>
              <a:ext cx="9255" cy="7097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9" idx="4"/>
              <a:endCxn id="20" idx="0"/>
            </p:cNvCxnSpPr>
            <p:nvPr/>
          </p:nvCxnSpPr>
          <p:spPr>
            <a:xfrm>
              <a:off x="6130288" y="3408340"/>
              <a:ext cx="1164" cy="4582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2165611" y="4758291"/>
              <a:ext cx="2903933" cy="2274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2472949" y="4318147"/>
              <a:ext cx="130915" cy="4295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3328387" y="4316231"/>
              <a:ext cx="167678" cy="4470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4175854" y="4339612"/>
              <a:ext cx="163452" cy="4413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V="1">
              <a:off x="5067255" y="4333649"/>
              <a:ext cx="118431" cy="4473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2735156" y="5000580"/>
              <a:ext cx="2577352" cy="7576"/>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V="1">
              <a:off x="1724296" y="2194928"/>
              <a:ext cx="466176" cy="57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1718009" y="4747693"/>
              <a:ext cx="466176" cy="57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V="1">
              <a:off x="3598252" y="4325242"/>
              <a:ext cx="7375" cy="6829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endCxn id="52" idx="2"/>
            </p:cNvCxnSpPr>
            <p:nvPr/>
          </p:nvCxnSpPr>
          <p:spPr>
            <a:xfrm flipV="1">
              <a:off x="2714914" y="4318147"/>
              <a:ext cx="188" cy="11895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V="1">
              <a:off x="4412412" y="4315655"/>
              <a:ext cx="6597" cy="6925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V="1">
              <a:off x="5292349" y="4326539"/>
              <a:ext cx="4216" cy="6594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20" idx="4"/>
            </p:cNvCxnSpPr>
            <p:nvPr/>
          </p:nvCxnSpPr>
          <p:spPr>
            <a:xfrm>
              <a:off x="6131452" y="4400575"/>
              <a:ext cx="7545" cy="389134"/>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6119294" y="4749025"/>
              <a:ext cx="1402062" cy="335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H="1" flipV="1">
              <a:off x="6661708" y="2270893"/>
              <a:ext cx="18918" cy="2476801"/>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6653000" y="1272249"/>
              <a:ext cx="8708" cy="8505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2507910" y="5660633"/>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文本框 44"/>
            <p:cNvSpPr txBox="1"/>
            <p:nvPr/>
          </p:nvSpPr>
          <p:spPr>
            <a:xfrm>
              <a:off x="7610535" y="4462440"/>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文本框 45"/>
            <p:cNvSpPr txBox="1"/>
            <p:nvPr/>
          </p:nvSpPr>
          <p:spPr>
            <a:xfrm>
              <a:off x="6395681" y="772433"/>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文本框 46"/>
            <p:cNvSpPr txBox="1"/>
            <p:nvPr/>
          </p:nvSpPr>
          <p:spPr>
            <a:xfrm>
              <a:off x="7658640" y="1935172"/>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文本框 47"/>
            <p:cNvSpPr txBox="1"/>
            <p:nvPr/>
          </p:nvSpPr>
          <p:spPr>
            <a:xfrm>
              <a:off x="939455" y="4528063"/>
              <a:ext cx="6460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(t-1)</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文本框 48"/>
            <p:cNvSpPr txBox="1"/>
            <p:nvPr/>
          </p:nvSpPr>
          <p:spPr>
            <a:xfrm>
              <a:off x="1091745" y="1894147"/>
              <a:ext cx="73840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(t-1)</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0" name="直接箭头连接符 49"/>
            <p:cNvCxnSpPr>
              <a:stCxn id="21" idx="6"/>
              <a:endCxn id="16" idx="2"/>
            </p:cNvCxnSpPr>
            <p:nvPr/>
          </p:nvCxnSpPr>
          <p:spPr>
            <a:xfrm flipV="1">
              <a:off x="2970228" y="2180983"/>
              <a:ext cx="1209897" cy="32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endCxn id="21" idx="2"/>
            </p:cNvCxnSpPr>
            <p:nvPr/>
          </p:nvCxnSpPr>
          <p:spPr>
            <a:xfrm flipV="1">
              <a:off x="2165611" y="2184275"/>
              <a:ext cx="300617" cy="103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2457519" y="3918037"/>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矩形 54"/>
            <p:cNvSpPr/>
            <p:nvPr/>
          </p:nvSpPr>
          <p:spPr>
            <a:xfrm>
              <a:off x="3297900" y="3922387"/>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矩形 55"/>
            <p:cNvSpPr/>
            <p:nvPr/>
          </p:nvSpPr>
          <p:spPr>
            <a:xfrm>
              <a:off x="4125309" y="3915544"/>
              <a:ext cx="622236"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tanh</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矩形 58"/>
            <p:cNvSpPr/>
            <p:nvPr/>
          </p:nvSpPr>
          <p:spPr>
            <a:xfrm>
              <a:off x="5038982" y="3917720"/>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0" name="椭圆 59"/>
          <p:cNvSpPr/>
          <p:nvPr/>
        </p:nvSpPr>
        <p:spPr>
          <a:xfrm>
            <a:off x="2251271" y="3795083"/>
            <a:ext cx="924709" cy="624087"/>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椭圆 60"/>
          <p:cNvSpPr/>
          <p:nvPr/>
        </p:nvSpPr>
        <p:spPr>
          <a:xfrm>
            <a:off x="3110001" y="3803362"/>
            <a:ext cx="924709" cy="624087"/>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椭圆 61"/>
          <p:cNvSpPr/>
          <p:nvPr/>
        </p:nvSpPr>
        <p:spPr>
          <a:xfrm>
            <a:off x="4854232" y="3795565"/>
            <a:ext cx="924709" cy="624087"/>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文本框 62"/>
          <p:cNvSpPr txBox="1"/>
          <p:nvPr/>
        </p:nvSpPr>
        <p:spPr>
          <a:xfrm>
            <a:off x="965952" y="5204119"/>
            <a:ext cx="79393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64" name="直接箭头连接符 63"/>
          <p:cNvCxnSpPr>
            <a:stCxn id="63" idx="3"/>
            <a:endCxn id="61" idx="3"/>
          </p:cNvCxnSpPr>
          <p:nvPr/>
        </p:nvCxnSpPr>
        <p:spPr>
          <a:xfrm flipV="1">
            <a:off x="1759887" y="4336054"/>
            <a:ext cx="1485534" cy="106812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63" idx="3"/>
            <a:endCxn id="62" idx="3"/>
          </p:cNvCxnSpPr>
          <p:nvPr/>
        </p:nvCxnSpPr>
        <p:spPr>
          <a:xfrm flipV="1">
            <a:off x="1759887" y="4328257"/>
            <a:ext cx="3229765" cy="1075917"/>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63" idx="3"/>
            <a:endCxn id="60" idx="3"/>
          </p:cNvCxnSpPr>
          <p:nvPr/>
        </p:nvCxnSpPr>
        <p:spPr>
          <a:xfrm flipV="1">
            <a:off x="1759887" y="4327775"/>
            <a:ext cx="626804" cy="1076399"/>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7492244" y="751849"/>
            <a:ext cx="79393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状态</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82" name="直接箭头连接符 81"/>
          <p:cNvCxnSpPr>
            <a:stCxn id="80" idx="2"/>
          </p:cNvCxnSpPr>
          <p:nvPr/>
        </p:nvCxnSpPr>
        <p:spPr>
          <a:xfrm flipH="1">
            <a:off x="7809213" y="1151959"/>
            <a:ext cx="79999" cy="950947"/>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755521" y="4405447"/>
            <a:ext cx="175727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简单</a:t>
            </a: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RNN</a:t>
            </a: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结构</a:t>
            </a:r>
          </a:p>
        </p:txBody>
      </p:sp>
      <p:sp>
        <p:nvSpPr>
          <p:cNvPr id="68" name="文本框 67"/>
          <p:cNvSpPr txBox="1"/>
          <p:nvPr/>
        </p:nvSpPr>
        <p:spPr>
          <a:xfrm>
            <a:off x="4050315" y="5364100"/>
            <a:ext cx="175727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LSTM</a:t>
            </a: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结构</a:t>
            </a:r>
          </a:p>
        </p:txBody>
      </p:sp>
      <p:pic>
        <p:nvPicPr>
          <p:cNvPr id="1026" name="Picture 2" descr="Jürgen Schmidhuber - Wikipedia">
            <a:extLst>
              <a:ext uri="{FF2B5EF4-FFF2-40B4-BE49-F238E27FC236}">
                <a16:creationId xmlns:a16="http://schemas.microsoft.com/office/drawing/2014/main" id="{170FB6EA-14D1-223B-26A2-E91691B837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07296" y="3802193"/>
            <a:ext cx="1969289" cy="131047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4CA1E9AC-5937-1E2C-7C12-3ED455C5B58B}"/>
              </a:ext>
            </a:extLst>
          </p:cNvPr>
          <p:cNvSpPr txBox="1"/>
          <p:nvPr/>
        </p:nvSpPr>
        <p:spPr>
          <a:xfrm>
            <a:off x="9059606" y="5179434"/>
            <a:ext cx="23350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dirty="0">
                <a:effectLst/>
                <a:latin typeface="Linux Libertine"/>
              </a:rPr>
              <a:t>Jürgen </a:t>
            </a:r>
            <a:r>
              <a:rPr lang="en-US" altLang="zh-CN" b="0" i="0" u="none" strike="noStrike" dirty="0" err="1">
                <a:effectLst/>
                <a:latin typeface="Linux Libertine"/>
              </a:rPr>
              <a:t>Schmidhuber</a:t>
            </a:r>
            <a:endParaRPr lang="en-US" altLang="zh-CN" b="0" i="0" u="none" strike="noStrike" dirty="0">
              <a:effectLst/>
              <a:latin typeface="Linux Libertine"/>
            </a:endParaRPr>
          </a:p>
        </p:txBody>
      </p:sp>
      <p:sp>
        <p:nvSpPr>
          <p:cNvPr id="5" name="文本框 4">
            <a:extLst>
              <a:ext uri="{FF2B5EF4-FFF2-40B4-BE49-F238E27FC236}">
                <a16:creationId xmlns:a16="http://schemas.microsoft.com/office/drawing/2014/main" id="{8AC117F4-F22E-4EC8-C7C0-7DBE5B55DA29}"/>
              </a:ext>
            </a:extLst>
          </p:cNvPr>
          <p:cNvSpPr txBox="1"/>
          <p:nvPr/>
        </p:nvSpPr>
        <p:spPr>
          <a:xfrm>
            <a:off x="7646126" y="6122298"/>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02BE4550-890A-B82F-37D6-6FBE42204289}"/>
              </a:ext>
            </a:extLst>
          </p:cNvPr>
          <p:cNvSpPr txBox="1"/>
          <p:nvPr/>
        </p:nvSpPr>
        <p:spPr>
          <a:xfrm>
            <a:off x="9059606" y="5585520"/>
            <a:ext cx="2538227" cy="830997"/>
          </a:xfrm>
          <a:prstGeom prst="rect">
            <a:avLst/>
          </a:prstGeom>
          <a:noFill/>
        </p:spPr>
        <p:txBody>
          <a:bodyPr wrap="square">
            <a:spAutoFit/>
          </a:bodyPr>
          <a:lstStyle/>
          <a:p>
            <a:r>
              <a:rPr lang="en-US" altLang="zh-CN" sz="1600" dirty="0">
                <a:latin typeface="Linux Libertine"/>
              </a:rPr>
              <a:t>King Abdullah University of Science and Technology (KAUST)</a:t>
            </a:r>
            <a:endParaRPr lang="zh-CN" altLang="en-US" sz="1600" dirty="0">
              <a:latin typeface="Linux Libertine"/>
            </a:endParaRPr>
          </a:p>
        </p:txBody>
      </p:sp>
    </p:spTree>
    <p:extLst>
      <p:ext uri="{BB962C8B-B14F-4D97-AF65-F5344CB8AC3E}">
        <p14:creationId xmlns:p14="http://schemas.microsoft.com/office/powerpoint/2010/main" val="157568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3"/>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79"/>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8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026"/>
                                        </p:tgtEl>
                                        <p:attrNameLst>
                                          <p:attrName>style.visibility</p:attrName>
                                        </p:attrNameLst>
                                      </p:cBhvr>
                                      <p:to>
                                        <p:strVal val="visible"/>
                                      </p:to>
                                    </p:set>
                                    <p:animEffect transition="in" filter="blinds(horizontal)">
                                      <p:cBhvr>
                                        <p:cTn id="49" dur="500"/>
                                        <p:tgtEl>
                                          <p:spTgt spid="1026"/>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linds(horizontal)">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75" grpId="0" animBg="1"/>
      <p:bldP spid="76" grpId="0"/>
      <p:bldP spid="79" grpId="0"/>
      <p:bldP spid="81" grpId="0"/>
      <p:bldP spid="60" grpId="0" animBg="1"/>
      <p:bldP spid="61" grpId="0" animBg="1"/>
      <p:bldP spid="62" grpId="0" animBg="1"/>
      <p:bldP spid="63" grpId="0"/>
      <p:bldP spid="80" grpId="0"/>
      <p:bldP spid="67" grpId="0"/>
      <p:bldP spid="68" grpId="0"/>
      <p:bldP spid="4" grpId="0"/>
      <p:bldP spid="6"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345564" y="2194579"/>
            <a:ext cx="3089127" cy="3373184"/>
          </a:xfrm>
          <a:prstGeom prst="rect">
            <a:avLst/>
          </a:prstGeom>
        </p:spPr>
      </p:pic>
      <p:sp>
        <p:nvSpPr>
          <p:cNvPr id="2" name="标题 1"/>
          <p:cNvSpPr>
            <a:spLocks noGrp="1"/>
          </p:cNvSpPr>
          <p:nvPr>
            <p:ph type="title"/>
          </p:nvPr>
        </p:nvSpPr>
        <p:spPr/>
        <p:txBody>
          <a:bodyPr/>
          <a:lstStyle/>
          <a:p>
            <a:r>
              <a:rPr lang="zh-CN" altLang="en-US" dirty="0"/>
              <a:t>“门”的概念</a:t>
            </a:r>
          </a:p>
        </p:txBody>
      </p:sp>
      <p:sp>
        <p:nvSpPr>
          <p:cNvPr id="10" name="文本框 9"/>
          <p:cNvSpPr txBox="1"/>
          <p:nvPr/>
        </p:nvSpPr>
        <p:spPr>
          <a:xfrm>
            <a:off x="1232457" y="4498928"/>
            <a:ext cx="60025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门</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1" name="直接箭头连接符 10"/>
          <p:cNvCxnSpPr/>
          <p:nvPr/>
        </p:nvCxnSpPr>
        <p:spPr>
          <a:xfrm flipV="1">
            <a:off x="1696329" y="4272833"/>
            <a:ext cx="593620" cy="41047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矩形 11"/>
              <p:cNvSpPr/>
              <p:nvPr/>
            </p:nvSpPr>
            <p:spPr>
              <a:xfrm>
                <a:off x="2964218" y="5113145"/>
                <a:ext cx="19949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b>
                          </m:sSub>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2964218" y="5113145"/>
                <a:ext cx="1994969" cy="369332"/>
              </a:xfrm>
              <a:prstGeom prst="rect">
                <a:avLst/>
              </a:prstGeom>
              <a:blipFill>
                <a:blip r:embed="rId3"/>
                <a:stretch>
                  <a:fillRect/>
                </a:stretch>
              </a:blipFill>
            </p:spPr>
            <p:txBody>
              <a:bodyPr/>
              <a:lstStyle/>
              <a:p>
                <a:r>
                  <a:rPr lang="zh-CN" altLang="en-US">
                    <a:noFill/>
                  </a:rPr>
                  <a:t> </a:t>
                </a:r>
              </a:p>
            </p:txBody>
          </p:sp>
        </mc:Fallback>
      </mc:AlternateContent>
      <p:sp>
        <p:nvSpPr>
          <p:cNvPr id="13" name="矩形 12"/>
          <p:cNvSpPr/>
          <p:nvPr/>
        </p:nvSpPr>
        <p:spPr>
          <a:xfrm>
            <a:off x="2264234" y="3412631"/>
            <a:ext cx="1151402" cy="860202"/>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矩形 16"/>
              <p:cNvSpPr/>
              <p:nvPr/>
            </p:nvSpPr>
            <p:spPr>
              <a:xfrm>
                <a:off x="2987050" y="2732268"/>
                <a:ext cx="2128981"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Sub>
                        </m:e>
                      </m:d>
                    </m:oMath>
                  </m:oMathPara>
                </a14:m>
                <a:br>
                  <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br>
                <a:r>
                  <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b>
                    </m:s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∈[0, 1]</m:t>
                    </m:r>
                  </m:oMath>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2987050" y="2732268"/>
                <a:ext cx="2128981" cy="646331"/>
              </a:xfrm>
              <a:prstGeom prst="rect">
                <a:avLst/>
              </a:prstGeom>
              <a:blipFill>
                <a:blip r:embed="rId5"/>
                <a:stretch>
                  <a:fillRect b="-9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917907" y="1802710"/>
                <a:ext cx="196201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𝑠</m:t>
                      </m:r>
                      <m:r>
                        <a:rPr kumimoji="0" lang="zh-CN" altLang="en-US" sz="1800" b="0" i="0" u="none" strike="noStrike" kern="1200" cap="none" spc="0" normalizeH="0" baseline="0" noProof="0">
                          <a:ln>
                            <a:noFill/>
                          </a:ln>
                          <a:solidFill>
                            <a:srgbClr val="0070C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70C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0070C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smtClean="0">
                              <a:ln>
                                <a:noFill/>
                              </a:ln>
                              <a:solidFill>
                                <a:srgbClr val="0070C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0070C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smtClean="0">
                              <a:ln>
                                <a:noFill/>
                              </a:ln>
                              <a:solidFill>
                                <a:srgbClr val="0070C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𝑚</m:t>
                              </m:r>
                            </m:sub>
                          </m:sSub>
                        </m:e>
                      </m:d>
                    </m:oMath>
                  </m:oMathPara>
                </a14:m>
                <a:endParaRPr kumimoji="0" lang="zh-CN" altLang="en-US" sz="1800" b="0"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917907" y="1802710"/>
                <a:ext cx="196201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571819" y="1825247"/>
                <a:ext cx="203709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𝑠</m:t>
                          </m:r>
                        </m:e>
                        <m:sup>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00B05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mc:Choice>
        <mc:Fallback xmlns="">
          <p:sp>
            <p:nvSpPr>
              <p:cNvPr id="20" name="矩形 19"/>
              <p:cNvSpPr>
                <a:spLocks noRot="1" noChangeAspect="1" noMove="1" noResize="1" noEditPoints="1" noAdjustHandles="1" noChangeArrowheads="1" noChangeShapeType="1" noTextEdit="1"/>
              </p:cNvSpPr>
              <p:nvPr/>
            </p:nvSpPr>
            <p:spPr>
              <a:xfrm>
                <a:off x="3571819" y="1825247"/>
                <a:ext cx="2037096" cy="369332"/>
              </a:xfrm>
              <a:prstGeom prst="rect">
                <a:avLst/>
              </a:prstGeom>
              <a:blipFill>
                <a:blip r:embed="rId7"/>
                <a:stretch>
                  <a:fillRect/>
                </a:stretch>
              </a:blipFill>
            </p:spPr>
            <p:txBody>
              <a:bodyPr/>
              <a:lstStyle/>
              <a:p>
                <a:r>
                  <a:rPr lang="zh-CN" altLang="en-US">
                    <a:noFill/>
                  </a:rPr>
                  <a:t> </a:t>
                </a:r>
              </a:p>
            </p:txBody>
          </p:sp>
        </mc:Fallback>
      </mc:AlternateContent>
      <p:sp>
        <p:nvSpPr>
          <p:cNvPr id="22" name="文本框 21"/>
          <p:cNvSpPr txBox="1"/>
          <p:nvPr/>
        </p:nvSpPr>
        <p:spPr>
          <a:xfrm>
            <a:off x="888326" y="3044156"/>
            <a:ext cx="113883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C66FF"/>
                </a:solidFill>
                <a:effectLst/>
                <a:uLnTx/>
                <a:uFillTx/>
                <a:latin typeface="Perpetua"/>
                <a:ea typeface="宋体" panose="02010600030101010101" pitchFamily="2" charset="-122"/>
                <a:cs typeface="+mn-cs"/>
              </a:rPr>
              <a:t>按位乘</a:t>
            </a:r>
            <a:endParaRPr kumimoji="0" lang="en-US" altLang="zh-CN" sz="2000" b="0" i="0" u="none" strike="noStrike" kern="1200" cap="none" spc="0" normalizeH="0" baseline="0" noProof="0" dirty="0">
              <a:ln>
                <a:noFill/>
              </a:ln>
              <a:solidFill>
                <a:srgbClr val="CC66FF"/>
              </a:solidFill>
              <a:effectLst/>
              <a:uLnTx/>
              <a:uFillTx/>
              <a:latin typeface="Perpetua"/>
              <a:ea typeface="宋体" panose="02010600030101010101" pitchFamily="2" charset="-122"/>
              <a:cs typeface="+mn-cs"/>
            </a:endParaRPr>
          </a:p>
        </p:txBody>
      </p:sp>
      <p:cxnSp>
        <p:nvCxnSpPr>
          <p:cNvPr id="23" name="直接箭头连接符 22"/>
          <p:cNvCxnSpPr/>
          <p:nvPr/>
        </p:nvCxnSpPr>
        <p:spPr>
          <a:xfrm flipV="1">
            <a:off x="1785971" y="2714279"/>
            <a:ext cx="900251" cy="506741"/>
          </a:xfrm>
          <a:prstGeom prst="straightConnector1">
            <a:avLst/>
          </a:prstGeom>
          <a:ln w="38100">
            <a:solidFill>
              <a:srgbClr val="CC66FF"/>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019650" y="4341403"/>
            <a:ext cx="102393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一层神经网络</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29" name="直接箭头连接符 28"/>
          <p:cNvCxnSpPr/>
          <p:nvPr/>
        </p:nvCxnSpPr>
        <p:spPr>
          <a:xfrm>
            <a:off x="3530359" y="3941908"/>
            <a:ext cx="3641722" cy="39429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242384" y="2305003"/>
            <a:ext cx="158028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rPr>
              <a:t>被选信息</a:t>
            </a:r>
            <a:endParaRPr kumimoji="0" lang="en-US" altLang="zh-CN" sz="2000" b="0"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endParaRPr>
          </a:p>
        </p:txBody>
      </p:sp>
      <p:sp>
        <p:nvSpPr>
          <p:cNvPr id="32" name="文本框 31"/>
          <p:cNvSpPr txBox="1"/>
          <p:nvPr/>
        </p:nvSpPr>
        <p:spPr>
          <a:xfrm>
            <a:off x="10021680" y="2314169"/>
            <a:ext cx="173717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选后的信息</a:t>
            </a:r>
            <a:endParaRPr kumimoji="0" lang="en-US" altLang="zh-CN"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p:pic>
        <p:nvPicPr>
          <p:cNvPr id="5" name="图片 4"/>
          <p:cNvPicPr>
            <a:picLocks noChangeAspect="1"/>
          </p:cNvPicPr>
          <p:nvPr/>
        </p:nvPicPr>
        <p:blipFill>
          <a:blip r:embed="rId8"/>
          <a:stretch>
            <a:fillRect/>
          </a:stretch>
        </p:blipFill>
        <p:spPr>
          <a:xfrm>
            <a:off x="6318796" y="1971926"/>
            <a:ext cx="3927519" cy="3672581"/>
          </a:xfrm>
          <a:prstGeom prst="rect">
            <a:avLst/>
          </a:prstGeom>
        </p:spPr>
      </p:pic>
    </p:spTree>
    <p:extLst>
      <p:ext uri="{BB962C8B-B14F-4D97-AF65-F5344CB8AC3E}">
        <p14:creationId xmlns:p14="http://schemas.microsoft.com/office/powerpoint/2010/main" val="78949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animBg="1"/>
      <p:bldP spid="17" grpId="0"/>
      <p:bldP spid="19" grpId="0"/>
      <p:bldP spid="20" grpId="0"/>
      <p:bldP spid="22" grpId="0"/>
      <p:bldP spid="28" grpId="0"/>
      <p:bldP spid="31" grpId="0"/>
      <p:bldP spid="32"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a:t>
            </a:r>
          </a:p>
        </p:txBody>
      </p:sp>
      <p:sp>
        <p:nvSpPr>
          <p:cNvPr id="3" name="内容占位符 2"/>
          <p:cNvSpPr>
            <a:spLocks noGrp="1"/>
          </p:cNvSpPr>
          <p:nvPr>
            <p:ph sz="quarter" idx="1"/>
          </p:nvPr>
        </p:nvSpPr>
        <p:spPr/>
        <p:txBody>
          <a:bodyPr/>
          <a:lstStyle/>
          <a:p>
            <a:endParaRPr lang="zh-CN" altLang="en-US" dirty="0"/>
          </a:p>
        </p:txBody>
      </p:sp>
      <p:pic>
        <p:nvPicPr>
          <p:cNvPr id="4" name="图片 3"/>
          <p:cNvPicPr>
            <a:picLocks noChangeAspect="1"/>
          </p:cNvPicPr>
          <p:nvPr/>
        </p:nvPicPr>
        <p:blipFill>
          <a:blip r:embed="rId2"/>
          <a:stretch>
            <a:fillRect/>
          </a:stretch>
        </p:blipFill>
        <p:spPr>
          <a:xfrm>
            <a:off x="2596577" y="1417638"/>
            <a:ext cx="6173712" cy="4640506"/>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8093192" y="1936565"/>
                <a:ext cx="2138342" cy="41928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𝑠</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6" name="矩形 5"/>
              <p:cNvSpPr>
                <a:spLocks noRot="1" noChangeAspect="1" noMove="1" noResize="1" noEditPoints="1" noAdjustHandles="1" noChangeArrowheads="1" noChangeShapeType="1" noTextEdit="1"/>
              </p:cNvSpPr>
              <p:nvPr/>
            </p:nvSpPr>
            <p:spPr>
              <a:xfrm>
                <a:off x="8093192" y="1936565"/>
                <a:ext cx="2138342" cy="41928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8164878" y="4122118"/>
                <a:ext cx="2156488"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8164878" y="4122118"/>
                <a:ext cx="2156488"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491375" y="5529499"/>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4491375" y="5529499"/>
                <a:ext cx="2139817" cy="404983"/>
              </a:xfrm>
              <a:prstGeom prst="rect">
                <a:avLst/>
              </a:prstGeom>
              <a:blipFill>
                <a:blip r:embed="rId5"/>
                <a:stretch>
                  <a:fillRect/>
                </a:stretch>
              </a:blipFill>
            </p:spPr>
            <p:txBody>
              <a:bodyPr/>
              <a:lstStyle/>
              <a:p>
                <a:r>
                  <a:rPr lang="zh-CN" altLang="en-US">
                    <a:noFill/>
                  </a:rPr>
                  <a:t> </a:t>
                </a:r>
              </a:p>
            </p:txBody>
          </p:sp>
        </mc:Fallback>
      </mc:AlternateContent>
      <p:sp>
        <p:nvSpPr>
          <p:cNvPr id="10" name="文本框 9"/>
          <p:cNvSpPr txBox="1"/>
          <p:nvPr/>
        </p:nvSpPr>
        <p:spPr>
          <a:xfrm>
            <a:off x="8969076" y="2444502"/>
            <a:ext cx="739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状态</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11170087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a:t>
            </a:r>
          </a:p>
        </p:txBody>
      </p:sp>
      <p:pic>
        <p:nvPicPr>
          <p:cNvPr id="4" name="图片 3"/>
          <p:cNvPicPr>
            <a:picLocks noChangeAspect="1"/>
          </p:cNvPicPr>
          <p:nvPr/>
        </p:nvPicPr>
        <p:blipFill>
          <a:blip r:embed="rId2"/>
          <a:stretch>
            <a:fillRect/>
          </a:stretch>
        </p:blipFill>
        <p:spPr>
          <a:xfrm>
            <a:off x="4564015" y="993046"/>
            <a:ext cx="6631389" cy="4984521"/>
          </a:xfrm>
          <a:prstGeom prst="rect">
            <a:avLst/>
          </a:prstGeom>
        </p:spPr>
      </p:pic>
      <p:sp>
        <p:nvSpPr>
          <p:cNvPr id="5" name="椭圆 4"/>
          <p:cNvSpPr/>
          <p:nvPr/>
        </p:nvSpPr>
        <p:spPr>
          <a:xfrm>
            <a:off x="5788516" y="3572928"/>
            <a:ext cx="924709" cy="1356880"/>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183839" y="5373500"/>
            <a:ext cx="99802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遗忘门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1"/>
          </p:cNvCxnSpPr>
          <p:nvPr/>
        </p:nvCxnSpPr>
        <p:spPr>
          <a:xfrm flipH="1" flipV="1">
            <a:off x="6458975" y="4929809"/>
            <a:ext cx="724864" cy="643746"/>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矩形 14"/>
              <p:cNvSpPr/>
              <p:nvPr/>
            </p:nvSpPr>
            <p:spPr>
              <a:xfrm>
                <a:off x="2336290" y="4837736"/>
                <a:ext cx="34999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2336290" y="4837736"/>
                <a:ext cx="3499932"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966556" y="5467531"/>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3966556" y="5467531"/>
                <a:ext cx="2139817"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715538" y="3426398"/>
                <a:ext cx="2113912"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𝑓</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3715538" y="3426398"/>
                <a:ext cx="2113912" cy="404983"/>
              </a:xfrm>
              <a:prstGeom prst="rect">
                <a:avLst/>
              </a:prstGeom>
              <a:blipFill>
                <a:blip r:embed="rId5"/>
                <a:stretch>
                  <a:fillRect b="-7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628136" y="2395021"/>
                <a:ext cx="4526944" cy="98405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𝑓</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𝜎</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𝑊</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𝑓</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𝑓</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e>
                              </m:nary>
                            </m:e>
                          </m:nary>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𝑓</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628136" y="2395021"/>
                <a:ext cx="4526944" cy="98405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1310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5" grpId="0"/>
      <p:bldP spid="16" grpId="0"/>
      <p:bldP spid="17" grpId="0"/>
      <p:bldP spid="19"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8877" y="655623"/>
            <a:ext cx="6879057" cy="5124975"/>
          </a:xfrm>
          <a:prstGeom prst="rect">
            <a:avLst/>
          </a:prstGeom>
          <a:noFill/>
        </p:spPr>
      </p:pic>
      <p:sp>
        <p:nvSpPr>
          <p:cNvPr id="2" name="标题 1"/>
          <p:cNvSpPr>
            <a:spLocks noGrp="1"/>
          </p:cNvSpPr>
          <p:nvPr>
            <p:ph type="title"/>
          </p:nvPr>
        </p:nvSpPr>
        <p:spPr/>
        <p:txBody>
          <a:bodyPr/>
          <a:lstStyle/>
          <a:p>
            <a:r>
              <a:rPr lang="en-US" altLang="zh-CN" dirty="0"/>
              <a:t>LSTM</a:t>
            </a:r>
            <a:r>
              <a:rPr lang="zh-CN" altLang="en-US" dirty="0"/>
              <a:t>模块</a:t>
            </a:r>
          </a:p>
        </p:txBody>
      </p:sp>
      <p:sp>
        <p:nvSpPr>
          <p:cNvPr id="5" name="椭圆 4"/>
          <p:cNvSpPr/>
          <p:nvPr/>
        </p:nvSpPr>
        <p:spPr>
          <a:xfrm>
            <a:off x="6527987" y="3334389"/>
            <a:ext cx="924709" cy="1356880"/>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722861" y="5110428"/>
            <a:ext cx="1047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输入门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1"/>
          </p:cNvCxnSpPr>
          <p:nvPr/>
        </p:nvCxnSpPr>
        <p:spPr>
          <a:xfrm flipH="1" flipV="1">
            <a:off x="7203882" y="4691269"/>
            <a:ext cx="518979" cy="61921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矩形 9"/>
              <p:cNvSpPr/>
              <p:nvPr/>
            </p:nvSpPr>
            <p:spPr>
              <a:xfrm>
                <a:off x="1219200" y="4103706"/>
                <a:ext cx="34999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1219200" y="4103706"/>
                <a:ext cx="3499932"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878454" y="5179696"/>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1" name="矩形 10"/>
              <p:cNvSpPr>
                <a:spLocks noRot="1" noChangeAspect="1" noMove="1" noResize="1" noEditPoints="1" noAdjustHandles="1" noChangeArrowheads="1" noChangeShapeType="1" noTextEdit="1"/>
              </p:cNvSpPr>
              <p:nvPr/>
            </p:nvSpPr>
            <p:spPr>
              <a:xfrm>
                <a:off x="3878454" y="5179696"/>
                <a:ext cx="2139817"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572982" y="2243360"/>
                <a:ext cx="2184124"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2572982" y="2243360"/>
                <a:ext cx="2184124" cy="404983"/>
              </a:xfrm>
              <a:prstGeom prst="rect">
                <a:avLst/>
              </a:prstGeom>
              <a:blipFill>
                <a:blip r:embed="rId5"/>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084240" y="2656331"/>
                <a:ext cx="4539320" cy="98405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𝑔</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𝜎</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𝑊</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𝑔</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𝑔</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e>
                              </m:nary>
                            </m:e>
                          </m:nary>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𝑔</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3" name="矩形 12"/>
              <p:cNvSpPr>
                <a:spLocks noRot="1" noChangeAspect="1" noMove="1" noResize="1" noEditPoints="1" noAdjustHandles="1" noChangeArrowheads="1" noChangeShapeType="1" noTextEdit="1"/>
              </p:cNvSpPr>
              <p:nvPr/>
            </p:nvSpPr>
            <p:spPr>
              <a:xfrm>
                <a:off x="1084240" y="2656331"/>
                <a:ext cx="4539320" cy="98405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909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0" grpId="0"/>
      <p:bldP spid="11" grpId="0"/>
      <p:bldP spid="12" grpId="0"/>
      <p:bldP spid="13"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a:t>
            </a:r>
          </a:p>
        </p:txBody>
      </p:sp>
      <p:pic>
        <p:nvPicPr>
          <p:cNvPr id="4" name="图片 3"/>
          <p:cNvPicPr>
            <a:picLocks noChangeAspect="1"/>
          </p:cNvPicPr>
          <p:nvPr/>
        </p:nvPicPr>
        <p:blipFill>
          <a:blip r:embed="rId2"/>
          <a:stretch>
            <a:fillRect/>
          </a:stretch>
        </p:blipFill>
        <p:spPr>
          <a:xfrm>
            <a:off x="4277801" y="793385"/>
            <a:ext cx="6321287" cy="4751432"/>
          </a:xfrm>
          <a:prstGeom prst="rect">
            <a:avLst/>
          </a:prstGeom>
        </p:spPr>
      </p:pic>
      <p:sp>
        <p:nvSpPr>
          <p:cNvPr id="5" name="椭圆 4"/>
          <p:cNvSpPr/>
          <p:nvPr/>
        </p:nvSpPr>
        <p:spPr>
          <a:xfrm>
            <a:off x="6893745" y="3093515"/>
            <a:ext cx="924709" cy="1356880"/>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474224" y="5061918"/>
            <a:ext cx="179699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输入处理单元</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0"/>
          </p:cNvCxnSpPr>
          <p:nvPr/>
        </p:nvCxnSpPr>
        <p:spPr>
          <a:xfrm flipH="1" flipV="1">
            <a:off x="7601413" y="4365266"/>
            <a:ext cx="771310" cy="69665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矩形 10"/>
              <p:cNvSpPr/>
              <p:nvPr/>
            </p:nvSpPr>
            <p:spPr>
              <a:xfrm>
                <a:off x="905055" y="4075133"/>
                <a:ext cx="34999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1" name="矩形 10"/>
              <p:cNvSpPr>
                <a:spLocks noRot="1" noChangeAspect="1" noMove="1" noResize="1" noEditPoints="1" noAdjustHandles="1" noChangeArrowheads="1" noChangeShapeType="1" noTextEdit="1"/>
              </p:cNvSpPr>
              <p:nvPr/>
            </p:nvSpPr>
            <p:spPr>
              <a:xfrm>
                <a:off x="905055" y="4075133"/>
                <a:ext cx="3499932"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648035" y="5057045"/>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3648035" y="5057045"/>
                <a:ext cx="2139817"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63359" y="2852534"/>
                <a:ext cx="4901085" cy="98405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𝑡𝑎𝑛h</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𝑊</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e>
                              </m:nary>
                            </m:e>
                          </m:nary>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463359" y="2852534"/>
                <a:ext cx="4901085" cy="98405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250532" y="2390669"/>
                <a:ext cx="1941814"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3250532" y="2390669"/>
                <a:ext cx="1941814" cy="404983"/>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5065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1" grpId="0"/>
      <p:bldP spid="12" grpId="0"/>
      <p:bldP spid="16" grpId="0"/>
      <p:bldP spid="17"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a:t>
            </a:r>
          </a:p>
        </p:txBody>
      </p:sp>
      <p:pic>
        <p:nvPicPr>
          <p:cNvPr id="8" name="图片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8257" y="1124433"/>
            <a:ext cx="6337190" cy="4975211"/>
          </a:xfrm>
          <a:prstGeom prst="rect">
            <a:avLst/>
          </a:prstGeom>
          <a:noFill/>
        </p:spPr>
      </p:pic>
      <mc:AlternateContent xmlns:mc="http://schemas.openxmlformats.org/markup-compatibility/2006" xmlns:a14="http://schemas.microsoft.com/office/drawing/2010/main">
        <mc:Choice Requires="a14">
          <p:sp>
            <p:nvSpPr>
              <p:cNvPr id="9" name="矩形 8"/>
              <p:cNvSpPr/>
              <p:nvPr/>
            </p:nvSpPr>
            <p:spPr>
              <a:xfrm>
                <a:off x="8148936" y="2145878"/>
                <a:ext cx="2561470"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8148936" y="2145878"/>
                <a:ext cx="2561470" cy="504818"/>
              </a:xfrm>
              <a:prstGeom prst="rect">
                <a:avLst/>
              </a:prstGeom>
              <a:blipFill>
                <a:blip r:embed="rId3"/>
                <a:stretch>
                  <a:fillRect/>
                </a:stretch>
              </a:blipFill>
            </p:spPr>
            <p:txBody>
              <a:bodyPr/>
              <a:lstStyle/>
              <a:p>
                <a:r>
                  <a:rPr lang="zh-CN" altLang="en-US">
                    <a:noFill/>
                  </a:rPr>
                  <a:t> </a:t>
                </a:r>
              </a:p>
            </p:txBody>
          </p:sp>
        </mc:Fallback>
      </mc:AlternateContent>
      <p:sp>
        <p:nvSpPr>
          <p:cNvPr id="5" name="文本框 4"/>
          <p:cNvSpPr txBox="1"/>
          <p:nvPr/>
        </p:nvSpPr>
        <p:spPr>
          <a:xfrm>
            <a:off x="8221653" y="2860829"/>
            <a:ext cx="12801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状态处理</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264874400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a:t>
            </a:r>
          </a:p>
        </p:txBody>
      </p:sp>
      <p:pic>
        <p:nvPicPr>
          <p:cNvPr id="4" name="图片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6097" y="1073426"/>
            <a:ext cx="6543924" cy="4770783"/>
          </a:xfrm>
          <a:prstGeom prst="rect">
            <a:avLst/>
          </a:prstGeom>
          <a:noFill/>
        </p:spPr>
      </p:pic>
      <p:sp>
        <p:nvSpPr>
          <p:cNvPr id="5" name="椭圆 4"/>
          <p:cNvSpPr/>
          <p:nvPr/>
        </p:nvSpPr>
        <p:spPr>
          <a:xfrm>
            <a:off x="8094392" y="3334389"/>
            <a:ext cx="924709" cy="1356880"/>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9233609" y="5110428"/>
            <a:ext cx="1047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输出门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1"/>
          </p:cNvCxnSpPr>
          <p:nvPr/>
        </p:nvCxnSpPr>
        <p:spPr>
          <a:xfrm flipH="1" flipV="1">
            <a:off x="8714630" y="4691269"/>
            <a:ext cx="518979" cy="61921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矩形 7"/>
              <p:cNvSpPr/>
              <p:nvPr/>
            </p:nvSpPr>
            <p:spPr>
              <a:xfrm>
                <a:off x="1219200" y="4242865"/>
                <a:ext cx="34999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1219200" y="4242865"/>
                <a:ext cx="3499932"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695743" y="5308046"/>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3695743" y="5308046"/>
                <a:ext cx="2139817"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250532" y="2621257"/>
                <a:ext cx="2133212"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𝑞</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𝑞</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𝑞</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𝑞</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3250532" y="2621257"/>
                <a:ext cx="2133212" cy="404983"/>
              </a:xfrm>
              <a:prstGeom prst="rect">
                <a:avLst/>
              </a:prstGeom>
              <a:blipFill>
                <a:blip r:embed="rId5"/>
                <a:stretch>
                  <a:fillRect b="-1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120491" y="3094577"/>
                <a:ext cx="4512325" cy="98405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𝜎</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𝑊</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e>
                              </m:nary>
                            </m:e>
                          </m:nary>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1" name="矩形 10"/>
              <p:cNvSpPr>
                <a:spLocks noRot="1" noChangeAspect="1" noMove="1" noResize="1" noEditPoints="1" noAdjustHandles="1" noChangeArrowheads="1" noChangeShapeType="1" noTextEdit="1"/>
              </p:cNvSpPr>
              <p:nvPr/>
            </p:nvSpPr>
            <p:spPr>
              <a:xfrm>
                <a:off x="1120491" y="3094577"/>
                <a:ext cx="4512325" cy="98405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2642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p:bldP spid="9" grpId="0"/>
      <p:bldP spid="10" grpId="0"/>
      <p:bldP spid="11"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a:t>
            </a:r>
          </a:p>
        </p:txBody>
      </p:sp>
      <p:pic>
        <p:nvPicPr>
          <p:cNvPr id="4" name="图片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1144988"/>
            <a:ext cx="6551874" cy="4699221"/>
          </a:xfrm>
          <a:prstGeom prst="rect">
            <a:avLst/>
          </a:prstGeom>
          <a:noFill/>
        </p:spPr>
      </p:pic>
      <p:sp>
        <p:nvSpPr>
          <p:cNvPr id="5" name="椭圆 4"/>
          <p:cNvSpPr/>
          <p:nvPr/>
        </p:nvSpPr>
        <p:spPr>
          <a:xfrm>
            <a:off x="5438655" y="2822712"/>
            <a:ext cx="924709" cy="747179"/>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370856" y="2553134"/>
            <a:ext cx="3196062" cy="70788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输出处理单元，只是一个</a:t>
            </a:r>
            <a:r>
              <a:rPr kumimoji="0" lang="en-US" altLang="zh-CN" sz="2000" b="1" i="0" u="none" strike="noStrike" kern="1200" cap="none" spc="0" normalizeH="0" baseline="0" noProof="0" dirty="0" err="1">
                <a:ln>
                  <a:noFill/>
                </a:ln>
                <a:solidFill>
                  <a:srgbClr val="00B0F0"/>
                </a:solidFill>
                <a:effectLst/>
                <a:uLnTx/>
                <a:uFillTx/>
                <a:latin typeface="Perpetua"/>
                <a:ea typeface="宋体" panose="02010600030101010101" pitchFamily="2" charset="-122"/>
                <a:cs typeface="+mn-cs"/>
              </a:rPr>
              <a:t>tanh</a:t>
            </a: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激活函数，没有参数</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1"/>
          </p:cNvCxnSpPr>
          <p:nvPr/>
        </p:nvCxnSpPr>
        <p:spPr>
          <a:xfrm flipH="1">
            <a:off x="6331560" y="2907077"/>
            <a:ext cx="1039296" cy="138273"/>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矩形 12"/>
              <p:cNvSpPr/>
              <p:nvPr/>
            </p:nvSpPr>
            <p:spPr>
              <a:xfrm>
                <a:off x="7162974" y="1613141"/>
                <a:ext cx="2561470"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3" name="矩形 12"/>
              <p:cNvSpPr>
                <a:spLocks noRot="1" noChangeAspect="1" noMove="1" noResize="1" noEditPoints="1" noAdjustHandles="1" noChangeArrowheads="1" noChangeShapeType="1" noTextEdit="1"/>
              </p:cNvSpPr>
              <p:nvPr/>
            </p:nvSpPr>
            <p:spPr>
              <a:xfrm>
                <a:off x="7162974" y="1613141"/>
                <a:ext cx="2561470"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7459781" y="3316457"/>
                <a:ext cx="1331710" cy="5068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𝑡𝑎𝑛h</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7459781" y="3316457"/>
                <a:ext cx="1331710" cy="50687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0065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5"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a:t>
            </a:r>
          </a:p>
        </p:txBody>
      </p:sp>
      <mc:AlternateContent xmlns:mc="http://schemas.openxmlformats.org/markup-compatibility/2006" xmlns:a14="http://schemas.microsoft.com/office/drawing/2010/main">
        <mc:Choice Requires="a14">
          <p:sp>
            <p:nvSpPr>
              <p:cNvPr id="8" name="矩形 7"/>
              <p:cNvSpPr/>
              <p:nvPr/>
            </p:nvSpPr>
            <p:spPr>
              <a:xfrm>
                <a:off x="7688912" y="3677523"/>
                <a:ext cx="2616870"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7688912" y="3677523"/>
                <a:ext cx="2616870" cy="50481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688917" y="4182341"/>
                <a:ext cx="2352695" cy="5068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𝑡𝑎𝑛h</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7688917" y="4182341"/>
                <a:ext cx="2352695" cy="506870"/>
              </a:xfrm>
              <a:prstGeom prst="rect">
                <a:avLst/>
              </a:prstGeom>
              <a:blipFill>
                <a:blip r:embed="rId3"/>
                <a:stretch>
                  <a:fillRect/>
                </a:stretch>
              </a:blipFill>
            </p:spPr>
            <p:txBody>
              <a:bodyPr/>
              <a:lstStyle/>
              <a:p>
                <a:r>
                  <a:rPr lang="zh-CN" altLang="en-US">
                    <a:noFill/>
                  </a:rPr>
                  <a:t> </a:t>
                </a:r>
              </a:p>
            </p:txBody>
          </p:sp>
        </mc:Fallback>
      </mc:AlternateContent>
      <p:pic>
        <p:nvPicPr>
          <p:cNvPr id="53" name="图片 52"/>
          <p:cNvPicPr>
            <a:picLocks noChangeAspect="1"/>
          </p:cNvPicPr>
          <p:nvPr/>
        </p:nvPicPr>
        <p:blipFill>
          <a:blip r:embed="rId4"/>
          <a:stretch>
            <a:fillRect/>
          </a:stretch>
        </p:blipFill>
        <p:spPr>
          <a:xfrm>
            <a:off x="1391477" y="1123439"/>
            <a:ext cx="6132397" cy="4609451"/>
          </a:xfrm>
          <a:prstGeom prst="rect">
            <a:avLst/>
          </a:prstGeom>
        </p:spPr>
      </p:pic>
      <p:sp>
        <p:nvSpPr>
          <p:cNvPr id="6" name="文本框 5"/>
          <p:cNvSpPr txBox="1"/>
          <p:nvPr/>
        </p:nvSpPr>
        <p:spPr>
          <a:xfrm>
            <a:off x="6543928" y="1217583"/>
            <a:ext cx="12801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模块输出</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389161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6"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举例：机器翻译</a:t>
            </a:r>
          </a:p>
        </p:txBody>
      </p:sp>
      <p:pic>
        <p:nvPicPr>
          <p:cNvPr id="4" name="图片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8557" y="1582309"/>
            <a:ext cx="6893781" cy="4158532"/>
          </a:xfrm>
          <a:prstGeom prst="rect">
            <a:avLst/>
          </a:prstGeom>
          <a:noFill/>
        </p:spPr>
      </p:pic>
      <p:sp>
        <p:nvSpPr>
          <p:cNvPr id="5" name="文本框 4"/>
          <p:cNvSpPr txBox="1"/>
          <p:nvPr/>
        </p:nvSpPr>
        <p:spPr>
          <a:xfrm>
            <a:off x="9501807" y="4004395"/>
            <a:ext cx="13119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编码器</a:t>
            </a:r>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6" name="直接箭头连接符 5"/>
          <p:cNvCxnSpPr>
            <a:stCxn id="5" idx="2"/>
          </p:cNvCxnSpPr>
          <p:nvPr/>
        </p:nvCxnSpPr>
        <p:spPr>
          <a:xfrm flipH="1">
            <a:off x="8762338" y="4404505"/>
            <a:ext cx="1395453" cy="48554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9543549" y="1750359"/>
            <a:ext cx="13119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解码器</a:t>
            </a:r>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2" name="直接箭头连接符 11"/>
          <p:cNvCxnSpPr>
            <a:stCxn id="11" idx="2"/>
          </p:cNvCxnSpPr>
          <p:nvPr/>
        </p:nvCxnSpPr>
        <p:spPr>
          <a:xfrm flipH="1">
            <a:off x="8804080" y="2150469"/>
            <a:ext cx="1395453" cy="48554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498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sz="quarter" idx="1"/>
          </p:nvPr>
        </p:nvSpPr>
        <p:spPr>
          <a:xfrm>
            <a:off x="1163541" y="1417637"/>
            <a:ext cx="10363200" cy="4999065"/>
          </a:xfrm>
        </p:spPr>
        <p:txBody>
          <a:bodyPr>
            <a:normAutofit/>
          </a:bodyPr>
          <a:lstStyle/>
          <a:p>
            <a:r>
              <a:rPr lang="zh-CN" altLang="en-US" dirty="0"/>
              <a:t>循环神经网络的一种特殊实现</a:t>
            </a:r>
            <a:endParaRPr lang="en-US" altLang="zh-CN" dirty="0"/>
          </a:p>
          <a:p>
            <a:pPr lvl="1"/>
            <a:r>
              <a:rPr lang="zh-CN" altLang="en-US" dirty="0"/>
              <a:t>单向</a:t>
            </a:r>
            <a:r>
              <a:rPr lang="en-US" altLang="zh-CN" dirty="0"/>
              <a:t>LSTM</a:t>
            </a:r>
          </a:p>
          <a:p>
            <a:pPr lvl="1"/>
            <a:r>
              <a:rPr lang="zh-CN" altLang="en-US" dirty="0"/>
              <a:t>双向</a:t>
            </a:r>
            <a:r>
              <a:rPr lang="en-US" altLang="zh-CN" dirty="0"/>
              <a:t>LSTM</a:t>
            </a:r>
          </a:p>
          <a:p>
            <a:pPr lvl="1"/>
            <a:r>
              <a:rPr lang="zh-CN" altLang="en-US" dirty="0"/>
              <a:t>序列到序列的</a:t>
            </a:r>
            <a:r>
              <a:rPr lang="en-US" altLang="zh-CN" dirty="0"/>
              <a:t>LSTM</a:t>
            </a:r>
          </a:p>
          <a:p>
            <a:r>
              <a:rPr lang="zh-CN" altLang="en-US" dirty="0"/>
              <a:t>同简单循环神经网络一样，</a:t>
            </a:r>
            <a:r>
              <a:rPr lang="en-US" altLang="zh-CN" dirty="0"/>
              <a:t>LSTM</a:t>
            </a:r>
            <a:r>
              <a:rPr lang="zh-CN" altLang="en-US" dirty="0"/>
              <a:t>模块也是共用的</a:t>
            </a:r>
            <a:endParaRPr lang="en-US" altLang="zh-CN" dirty="0"/>
          </a:p>
          <a:p>
            <a:pPr lvl="1"/>
            <a:r>
              <a:rPr lang="zh-CN" altLang="en-US" dirty="0"/>
              <a:t>只有一个模块，循环使用</a:t>
            </a:r>
            <a:endParaRPr lang="en-US" altLang="zh-CN" dirty="0"/>
          </a:p>
          <a:p>
            <a:r>
              <a:rPr lang="zh-CN" altLang="en-US" dirty="0"/>
              <a:t>三个门</a:t>
            </a:r>
            <a:endParaRPr lang="en-US" altLang="zh-CN" dirty="0"/>
          </a:p>
          <a:p>
            <a:pPr lvl="1"/>
            <a:r>
              <a:rPr lang="zh-CN" altLang="en-US" dirty="0"/>
              <a:t>遗忘门，输入门，输出门</a:t>
            </a:r>
            <a:endParaRPr lang="en-US" altLang="zh-CN" dirty="0"/>
          </a:p>
          <a:p>
            <a:pPr lvl="1"/>
            <a:r>
              <a:rPr lang="zh-CN" altLang="en-US" dirty="0"/>
              <a:t>结构一样，参数不同</a:t>
            </a:r>
            <a:endParaRPr lang="en-US" altLang="zh-CN" dirty="0"/>
          </a:p>
          <a:p>
            <a:r>
              <a:rPr lang="en-US" altLang="zh-CN" dirty="0"/>
              <a:t>LSTM</a:t>
            </a:r>
            <a:r>
              <a:rPr lang="zh-CN" altLang="en-US" dirty="0"/>
              <a:t>变种</a:t>
            </a:r>
            <a:endParaRPr lang="en-US" altLang="zh-CN" dirty="0"/>
          </a:p>
          <a:p>
            <a:pPr lvl="1"/>
            <a:r>
              <a:rPr lang="en-US" altLang="zh-CN" dirty="0"/>
              <a:t>GRU</a:t>
            </a:r>
            <a:endParaRPr lang="zh-CN" altLang="en-US" dirty="0"/>
          </a:p>
        </p:txBody>
      </p:sp>
    </p:spTree>
    <p:extLst>
      <p:ext uri="{BB962C8B-B14F-4D97-AF65-F5344CB8AC3E}">
        <p14:creationId xmlns:p14="http://schemas.microsoft.com/office/powerpoint/2010/main" val="155187758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2.10 </a:t>
            </a:r>
            <a:r>
              <a:rPr lang="zh-CN" altLang="en-US" dirty="0"/>
              <a:t>深度学习框架</a:t>
            </a:r>
          </a:p>
        </p:txBody>
      </p:sp>
      <p:sp>
        <p:nvSpPr>
          <p:cNvPr id="3" name="内容占位符 2"/>
          <p:cNvSpPr>
            <a:spLocks noGrp="1"/>
          </p:cNvSpPr>
          <p:nvPr>
            <p:ph sz="quarter" idx="1"/>
          </p:nvPr>
        </p:nvSpPr>
        <p:spPr>
          <a:xfrm>
            <a:off x="1219200" y="1201310"/>
            <a:ext cx="10363200" cy="4572000"/>
          </a:xfrm>
        </p:spPr>
        <p:txBody>
          <a:bodyPr/>
          <a:lstStyle/>
          <a:p>
            <a:endParaRPr lang="en-US" altLang="zh-CN" dirty="0"/>
          </a:p>
          <a:p>
            <a:r>
              <a:rPr lang="zh-CN" altLang="en-US" dirty="0"/>
              <a:t>网络结构越来越复杂</a:t>
            </a:r>
            <a:endParaRPr lang="en-US" altLang="zh-CN" dirty="0"/>
          </a:p>
          <a:p>
            <a:r>
              <a:rPr lang="zh-CN" altLang="en-US" dirty="0"/>
              <a:t>网络层次越来越深</a:t>
            </a:r>
            <a:endParaRPr lang="en-US" altLang="zh-CN" dirty="0"/>
          </a:p>
          <a:p>
            <a:r>
              <a:rPr lang="zh-CN" altLang="en-US" dirty="0"/>
              <a:t>如何方便地构建神经网络？</a:t>
            </a:r>
            <a:endParaRPr lang="en-US" altLang="zh-CN" dirty="0"/>
          </a:p>
          <a:p>
            <a:r>
              <a:rPr lang="en-US" altLang="zh-CN" dirty="0"/>
              <a:t>BP</a:t>
            </a:r>
            <a:r>
              <a:rPr lang="zh-CN" altLang="en-US" dirty="0"/>
              <a:t>算法需要每次都推导吗？</a:t>
            </a:r>
            <a:endParaRPr lang="en-US" altLang="zh-CN" dirty="0"/>
          </a:p>
          <a:p>
            <a:endParaRPr lang="en-US" altLang="zh-CN" dirty="0"/>
          </a:p>
          <a:p>
            <a:r>
              <a:rPr lang="zh-CN" altLang="en-US" dirty="0"/>
              <a:t>深度学习框架</a:t>
            </a:r>
            <a:endParaRPr lang="en-US" altLang="zh-CN" dirty="0"/>
          </a:p>
          <a:p>
            <a:pPr marL="0" indent="0">
              <a:buNone/>
            </a:pPr>
            <a:endParaRPr lang="zh-CN" altLang="en-US" dirty="0"/>
          </a:p>
        </p:txBody>
      </p:sp>
    </p:spTree>
    <p:extLst>
      <p:ext uri="{BB962C8B-B14F-4D97-AF65-F5344CB8AC3E}">
        <p14:creationId xmlns:p14="http://schemas.microsoft.com/office/powerpoint/2010/main" val="253814571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常用的深度学习框架</a:t>
            </a:r>
          </a:p>
        </p:txBody>
      </p:sp>
      <p:sp>
        <p:nvSpPr>
          <p:cNvPr id="3" name="内容占位符 2"/>
          <p:cNvSpPr>
            <a:spLocks noGrp="1"/>
          </p:cNvSpPr>
          <p:nvPr>
            <p:ph sz="quarter" idx="1"/>
          </p:nvPr>
        </p:nvSpPr>
        <p:spPr>
          <a:xfrm>
            <a:off x="1219200" y="1082039"/>
            <a:ext cx="10363200" cy="5127929"/>
          </a:xfrm>
        </p:spPr>
        <p:txBody>
          <a:bodyPr/>
          <a:lstStyle/>
          <a:p>
            <a:endParaRPr lang="en-US" altLang="zh-CN" dirty="0"/>
          </a:p>
          <a:p>
            <a:r>
              <a:rPr lang="en-US" altLang="zh-CN" dirty="0" err="1"/>
              <a:t>TensorFlow</a:t>
            </a:r>
            <a:endParaRPr lang="en-US" altLang="zh-CN" dirty="0"/>
          </a:p>
          <a:p>
            <a:r>
              <a:rPr lang="en-US" altLang="zh-CN" dirty="0" err="1"/>
              <a:t>PyTorch</a:t>
            </a:r>
            <a:endParaRPr lang="en-US" altLang="zh-CN" dirty="0"/>
          </a:p>
          <a:p>
            <a:r>
              <a:rPr lang="en-US" altLang="zh-CN" dirty="0" err="1"/>
              <a:t>Keras</a:t>
            </a:r>
            <a:endParaRPr lang="en-US" altLang="zh-CN" dirty="0"/>
          </a:p>
          <a:p>
            <a:endParaRPr lang="en-US" altLang="zh-CN" dirty="0"/>
          </a:p>
          <a:p>
            <a:r>
              <a:rPr lang="zh-CN" altLang="en-US" dirty="0"/>
              <a:t>飞桨（</a:t>
            </a:r>
            <a:r>
              <a:rPr lang="en-US" altLang="zh-CN" dirty="0" err="1"/>
              <a:t>PaddlePaddle</a:t>
            </a:r>
            <a:r>
              <a:rPr lang="zh-CN" altLang="en-US" dirty="0"/>
              <a:t>）</a:t>
            </a:r>
            <a:endParaRPr lang="en-US" altLang="zh-CN" dirty="0"/>
          </a:p>
          <a:p>
            <a:pPr lvl="1"/>
            <a:r>
              <a:rPr lang="zh-CN" altLang="en-US" dirty="0"/>
              <a:t>百度公司</a:t>
            </a:r>
            <a:endParaRPr lang="en-US" altLang="zh-CN" dirty="0"/>
          </a:p>
          <a:p>
            <a:r>
              <a:rPr lang="en-US" altLang="zh-CN" dirty="0" err="1"/>
              <a:t>OneFlow</a:t>
            </a:r>
            <a:endParaRPr lang="en-US" altLang="zh-CN" dirty="0"/>
          </a:p>
          <a:p>
            <a:pPr lvl="1"/>
            <a:r>
              <a:rPr lang="zh-CN" altLang="en-US" dirty="0"/>
              <a:t>一流科技</a:t>
            </a:r>
            <a:endParaRPr lang="en-US" altLang="zh-CN" dirty="0"/>
          </a:p>
          <a:p>
            <a:r>
              <a:rPr lang="zh-CN" altLang="en-US" dirty="0"/>
              <a:t>计图（</a:t>
            </a:r>
            <a:r>
              <a:rPr lang="en-US" altLang="zh-CN" dirty="0" err="1"/>
              <a:t>Jittor</a:t>
            </a:r>
            <a:r>
              <a:rPr lang="zh-CN" altLang="en-US" dirty="0"/>
              <a:t>）</a:t>
            </a:r>
            <a:endParaRPr lang="en-US" altLang="zh-CN" dirty="0"/>
          </a:p>
          <a:p>
            <a:pPr lvl="1"/>
            <a:r>
              <a:rPr lang="zh-CN" altLang="en-US" dirty="0"/>
              <a:t>清华大学</a:t>
            </a:r>
          </a:p>
        </p:txBody>
      </p:sp>
    </p:spTree>
    <p:extLst>
      <p:ext uri="{BB962C8B-B14F-4D97-AF65-F5344CB8AC3E}">
        <p14:creationId xmlns:p14="http://schemas.microsoft.com/office/powerpoint/2010/main" val="140593122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练习题</a:t>
            </a:r>
          </a:p>
        </p:txBody>
      </p:sp>
      <p:sp>
        <p:nvSpPr>
          <p:cNvPr id="3" name="内容占位符 2"/>
          <p:cNvSpPr>
            <a:spLocks noGrp="1"/>
          </p:cNvSpPr>
          <p:nvPr>
            <p:ph sz="quarter" idx="1"/>
          </p:nvPr>
        </p:nvSpPr>
        <p:spPr/>
        <p:txBody>
          <a:bodyPr/>
          <a:lstStyle/>
          <a:p>
            <a:endParaRPr lang="en-US" altLang="zh-CN" dirty="0"/>
          </a:p>
          <a:p>
            <a:r>
              <a:rPr lang="zh-CN" altLang="en-US" dirty="0"/>
              <a:t>采用神经网络实现拼音到汉字的转换。</a:t>
            </a:r>
            <a:endParaRPr lang="en-US" altLang="zh-CN" dirty="0"/>
          </a:p>
          <a:p>
            <a:pPr lvl="1"/>
            <a:r>
              <a:rPr lang="zh-CN" altLang="en-US"/>
              <a:t>神经网络语言模型</a:t>
            </a:r>
            <a:endParaRPr lang="en-US" altLang="zh-CN" dirty="0"/>
          </a:p>
          <a:p>
            <a:pPr lvl="1"/>
            <a:r>
              <a:rPr lang="zh-CN" altLang="en-US" dirty="0"/>
              <a:t>循环神经网络</a:t>
            </a:r>
          </a:p>
        </p:txBody>
      </p:sp>
    </p:spTree>
    <p:extLst>
      <p:ext uri="{BB962C8B-B14F-4D97-AF65-F5344CB8AC3E}">
        <p14:creationId xmlns:p14="http://schemas.microsoft.com/office/powerpoint/2010/main" val="383955547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2.11 </a:t>
            </a:r>
            <a:r>
              <a:rPr lang="zh-CN" altLang="en-US" dirty="0"/>
              <a:t>总结</a:t>
            </a:r>
          </a:p>
        </p:txBody>
      </p:sp>
      <p:sp>
        <p:nvSpPr>
          <p:cNvPr id="3" name="内容占位符 2"/>
          <p:cNvSpPr>
            <a:spLocks noGrp="1"/>
          </p:cNvSpPr>
          <p:nvPr>
            <p:ph sz="quarter" idx="1"/>
          </p:nvPr>
        </p:nvSpPr>
        <p:spPr>
          <a:xfrm>
            <a:off x="1219200" y="1789706"/>
            <a:ext cx="10363200" cy="4572000"/>
          </a:xfrm>
        </p:spPr>
        <p:txBody>
          <a:bodyPr/>
          <a:lstStyle/>
          <a:p>
            <a:r>
              <a:rPr lang="zh-CN" altLang="en-US" dirty="0"/>
              <a:t>神经网络（深度学习）的基础知识</a:t>
            </a:r>
            <a:endParaRPr lang="en-US" altLang="zh-CN" dirty="0"/>
          </a:p>
          <a:p>
            <a:pPr lvl="1"/>
            <a:r>
              <a:rPr lang="zh-CN" altLang="en-US" dirty="0"/>
              <a:t>神经元、神经网络</a:t>
            </a:r>
            <a:endParaRPr lang="en-US" altLang="zh-CN" dirty="0"/>
          </a:p>
          <a:p>
            <a:pPr lvl="1"/>
            <a:r>
              <a:rPr lang="zh-CN" altLang="en-US" dirty="0"/>
              <a:t>全连接神经网络</a:t>
            </a:r>
            <a:endParaRPr lang="en-US" altLang="zh-CN" dirty="0"/>
          </a:p>
          <a:p>
            <a:pPr lvl="1"/>
            <a:r>
              <a:rPr lang="zh-CN" altLang="en-US" dirty="0"/>
              <a:t>捲積神经网络</a:t>
            </a:r>
            <a:endParaRPr lang="en-US" altLang="zh-CN" dirty="0"/>
          </a:p>
          <a:p>
            <a:pPr lvl="1"/>
            <a:r>
              <a:rPr lang="zh-CN" altLang="en-US" dirty="0"/>
              <a:t>循环神经网络</a:t>
            </a:r>
            <a:endParaRPr lang="en-US" altLang="zh-CN" dirty="0"/>
          </a:p>
          <a:p>
            <a:pPr lvl="2"/>
            <a:r>
              <a:rPr lang="zh-CN" altLang="en-US" dirty="0"/>
              <a:t>简单循环神经网络</a:t>
            </a:r>
            <a:endParaRPr lang="en-US" altLang="zh-CN" dirty="0"/>
          </a:p>
          <a:p>
            <a:pPr lvl="2"/>
            <a:r>
              <a:rPr lang="zh-CN" altLang="en-US" dirty="0"/>
              <a:t>长短期记忆网络（</a:t>
            </a:r>
            <a:r>
              <a:rPr lang="en-US" altLang="zh-CN" dirty="0"/>
              <a:t>LSTM</a:t>
            </a:r>
            <a:r>
              <a:rPr lang="zh-CN" altLang="en-US" dirty="0"/>
              <a:t>）</a:t>
            </a:r>
            <a:endParaRPr lang="en-US" altLang="zh-CN" dirty="0"/>
          </a:p>
          <a:p>
            <a:pPr lvl="2"/>
            <a:r>
              <a:rPr lang="zh-CN" altLang="en-US" dirty="0"/>
              <a:t>双向循环神经网络</a:t>
            </a:r>
            <a:endParaRPr lang="en-US" altLang="zh-CN" dirty="0"/>
          </a:p>
          <a:p>
            <a:pPr lvl="2"/>
            <a:r>
              <a:rPr lang="zh-CN" altLang="en-US" dirty="0"/>
              <a:t>序列到序列神经网络</a:t>
            </a:r>
            <a:endParaRPr lang="en-US" altLang="zh-CN" dirty="0"/>
          </a:p>
          <a:p>
            <a:endParaRPr lang="zh-CN" altLang="en-US" dirty="0"/>
          </a:p>
        </p:txBody>
      </p:sp>
    </p:spTree>
    <p:extLst>
      <p:ext uri="{BB962C8B-B14F-4D97-AF65-F5344CB8AC3E}">
        <p14:creationId xmlns:p14="http://schemas.microsoft.com/office/powerpoint/2010/main" val="300163192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sz="quarter" idx="1"/>
          </p:nvPr>
        </p:nvSpPr>
        <p:spPr/>
        <p:txBody>
          <a:bodyPr>
            <a:normAutofit/>
          </a:bodyPr>
          <a:lstStyle/>
          <a:p>
            <a:pPr lvl="1"/>
            <a:r>
              <a:rPr lang="en-US" altLang="zh-CN" dirty="0"/>
              <a:t>BP</a:t>
            </a:r>
            <a:r>
              <a:rPr lang="zh-CN" altLang="en-US" dirty="0"/>
              <a:t>算法</a:t>
            </a:r>
            <a:endParaRPr lang="en-US" altLang="zh-CN" dirty="0"/>
          </a:p>
          <a:p>
            <a:pPr lvl="1"/>
            <a:r>
              <a:rPr lang="zh-CN" altLang="en-US" dirty="0"/>
              <a:t>过拟合问题</a:t>
            </a:r>
            <a:endParaRPr lang="en-US" altLang="zh-CN" dirty="0"/>
          </a:p>
          <a:p>
            <a:pPr lvl="1"/>
            <a:r>
              <a:rPr lang="zh-CN" altLang="en-US" dirty="0"/>
              <a:t>梯度消失问题</a:t>
            </a:r>
            <a:endParaRPr lang="en-US" altLang="zh-CN" dirty="0"/>
          </a:p>
          <a:p>
            <a:pPr lvl="1"/>
            <a:r>
              <a:rPr lang="zh-CN" altLang="en-US" dirty="0"/>
              <a:t>神经网络实现举例</a:t>
            </a:r>
            <a:endParaRPr lang="en-US" altLang="zh-CN" dirty="0"/>
          </a:p>
          <a:p>
            <a:pPr lvl="2"/>
            <a:r>
              <a:rPr lang="en-US" altLang="zh-CN" dirty="0" err="1"/>
              <a:t>LeNet</a:t>
            </a:r>
            <a:endParaRPr lang="en-US" altLang="zh-CN" dirty="0"/>
          </a:p>
          <a:p>
            <a:pPr lvl="2"/>
            <a:r>
              <a:rPr lang="en-US" altLang="zh-CN" dirty="0" err="1"/>
              <a:t>GoogLeNet</a:t>
            </a:r>
            <a:endParaRPr lang="en-US" altLang="zh-CN" dirty="0"/>
          </a:p>
          <a:p>
            <a:pPr lvl="2"/>
            <a:r>
              <a:rPr lang="en-US" altLang="zh-CN" dirty="0" err="1"/>
              <a:t>ResNet</a:t>
            </a:r>
            <a:endParaRPr lang="en-US" altLang="zh-CN" dirty="0"/>
          </a:p>
          <a:p>
            <a:pPr lvl="2"/>
            <a:r>
              <a:rPr lang="en-US" altLang="zh-CN" dirty="0"/>
              <a:t>VGG-16</a:t>
            </a:r>
          </a:p>
        </p:txBody>
      </p:sp>
    </p:spTree>
    <p:extLst>
      <p:ext uri="{BB962C8B-B14F-4D97-AF65-F5344CB8AC3E}">
        <p14:creationId xmlns:p14="http://schemas.microsoft.com/office/powerpoint/2010/main" val="304269265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p:txBody>
          <a:bodyPr/>
          <a:lstStyle/>
          <a:p>
            <a:pPr lvl="1"/>
            <a:endParaRPr lang="en-US" altLang="zh-CN" dirty="0"/>
          </a:p>
          <a:p>
            <a:pPr lvl="1"/>
            <a:r>
              <a:rPr lang="zh-CN" altLang="en-US" dirty="0"/>
              <a:t>词向量</a:t>
            </a:r>
            <a:endParaRPr lang="en-US" altLang="zh-CN" dirty="0"/>
          </a:p>
          <a:p>
            <a:pPr lvl="2"/>
            <a:r>
              <a:rPr lang="zh-CN" altLang="en-US" dirty="0"/>
              <a:t>独热编码</a:t>
            </a:r>
            <a:endParaRPr lang="en-US" altLang="zh-CN" dirty="0"/>
          </a:p>
          <a:p>
            <a:pPr lvl="2"/>
            <a:r>
              <a:rPr lang="zh-CN" altLang="en-US" dirty="0"/>
              <a:t>分布式表示</a:t>
            </a:r>
            <a:endParaRPr lang="en-US" altLang="zh-CN" dirty="0"/>
          </a:p>
          <a:p>
            <a:pPr lvl="2"/>
            <a:r>
              <a:rPr lang="zh-CN" altLang="en-US" dirty="0"/>
              <a:t>神经网络语言模型</a:t>
            </a:r>
            <a:endParaRPr lang="en-US" altLang="zh-CN" dirty="0"/>
          </a:p>
          <a:p>
            <a:pPr lvl="3"/>
            <a:r>
              <a:rPr lang="zh-CN" altLang="en-US" dirty="0"/>
              <a:t>连续词袋模型（</a:t>
            </a:r>
            <a:r>
              <a:rPr lang="en-US" altLang="zh-CN" dirty="0"/>
              <a:t>CBOW</a:t>
            </a:r>
            <a:r>
              <a:rPr lang="zh-CN" altLang="en-US" dirty="0"/>
              <a:t>）</a:t>
            </a:r>
            <a:endParaRPr lang="en-US" altLang="zh-CN" dirty="0"/>
          </a:p>
          <a:p>
            <a:pPr lvl="3"/>
            <a:r>
              <a:rPr lang="zh-CN" altLang="en-US" dirty="0"/>
              <a:t>跳词模型（</a:t>
            </a:r>
            <a:r>
              <a:rPr lang="en-US" altLang="zh-CN" dirty="0"/>
              <a:t>Skip-Gram</a:t>
            </a:r>
            <a:r>
              <a:rPr lang="zh-CN" altLang="en-US" dirty="0"/>
              <a:t>）</a:t>
            </a:r>
            <a:endParaRPr lang="en-US" altLang="zh-CN" dirty="0"/>
          </a:p>
          <a:p>
            <a:pPr lvl="1"/>
            <a:r>
              <a:rPr lang="zh-CN" altLang="en-US" dirty="0"/>
              <a:t>循环神经网络应用举例</a:t>
            </a:r>
            <a:endParaRPr lang="en-US" altLang="zh-CN" dirty="0"/>
          </a:p>
          <a:p>
            <a:pPr lvl="2"/>
            <a:r>
              <a:rPr lang="zh-CN" altLang="en-US" dirty="0"/>
              <a:t>情感分类问题</a:t>
            </a:r>
            <a:endParaRPr lang="en-US" altLang="zh-CN" dirty="0"/>
          </a:p>
          <a:p>
            <a:pPr lvl="2"/>
            <a:r>
              <a:rPr lang="zh-CN" altLang="en-US" dirty="0"/>
              <a:t>分词问题</a:t>
            </a:r>
            <a:endParaRPr lang="en-US" altLang="zh-CN" dirty="0"/>
          </a:p>
          <a:p>
            <a:pPr lvl="2"/>
            <a:r>
              <a:rPr lang="zh-CN" altLang="en-US" dirty="0"/>
              <a:t>看图说话问题</a:t>
            </a:r>
          </a:p>
        </p:txBody>
      </p:sp>
    </p:spTree>
    <p:extLst>
      <p:ext uri="{BB962C8B-B14F-4D97-AF65-F5344CB8AC3E}">
        <p14:creationId xmlns:p14="http://schemas.microsoft.com/office/powerpoint/2010/main" val="52004873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神经网络应用问题</a:t>
            </a:r>
          </a:p>
        </p:txBody>
      </p:sp>
      <p:sp>
        <p:nvSpPr>
          <p:cNvPr id="3" name="内容占位符 2"/>
          <p:cNvSpPr>
            <a:spLocks noGrp="1"/>
          </p:cNvSpPr>
          <p:nvPr>
            <p:ph sz="quarter" idx="1"/>
          </p:nvPr>
        </p:nvSpPr>
        <p:spPr>
          <a:xfrm>
            <a:off x="1274859" y="1208598"/>
            <a:ext cx="10363200" cy="4683981"/>
          </a:xfrm>
        </p:spPr>
        <p:txBody>
          <a:bodyPr>
            <a:normAutofit lnSpcReduction="10000"/>
          </a:bodyPr>
          <a:lstStyle/>
          <a:p>
            <a:endParaRPr lang="en-US" altLang="zh-CN" dirty="0"/>
          </a:p>
          <a:p>
            <a:r>
              <a:rPr lang="zh-CN" altLang="en-US" dirty="0"/>
              <a:t>确认输入</a:t>
            </a:r>
            <a:r>
              <a:rPr lang="en-US" altLang="zh-CN" dirty="0"/>
              <a:t>-</a:t>
            </a:r>
            <a:r>
              <a:rPr lang="zh-CN" altLang="en-US" dirty="0"/>
              <a:t>输出关系</a:t>
            </a:r>
            <a:endParaRPr lang="en-US" altLang="zh-CN" dirty="0"/>
          </a:p>
          <a:p>
            <a:r>
              <a:rPr lang="zh-CN" altLang="en-US" dirty="0"/>
              <a:t>收集样本</a:t>
            </a:r>
            <a:endParaRPr lang="en-US" altLang="zh-CN" dirty="0"/>
          </a:p>
          <a:p>
            <a:r>
              <a:rPr lang="zh-CN" altLang="en-US" dirty="0"/>
              <a:t>设计网络结构</a:t>
            </a:r>
            <a:endParaRPr lang="en-US" altLang="zh-CN" dirty="0"/>
          </a:p>
          <a:p>
            <a:r>
              <a:rPr lang="zh-CN" altLang="en-US" dirty="0"/>
              <a:t>设计损失函数</a:t>
            </a:r>
            <a:endParaRPr lang="en-US" altLang="zh-CN" dirty="0"/>
          </a:p>
          <a:p>
            <a:r>
              <a:rPr lang="zh-CN" altLang="en-US" dirty="0"/>
              <a:t>框架实现</a:t>
            </a:r>
            <a:endParaRPr lang="en-US" altLang="zh-CN" dirty="0"/>
          </a:p>
          <a:p>
            <a:r>
              <a:rPr lang="zh-CN" altLang="en-US" dirty="0"/>
              <a:t>超参数选择</a:t>
            </a:r>
            <a:endParaRPr lang="en-US" altLang="zh-CN" dirty="0"/>
          </a:p>
          <a:p>
            <a:r>
              <a:rPr lang="zh-CN" altLang="en-US" dirty="0"/>
              <a:t>调整试错</a:t>
            </a:r>
            <a:endParaRPr lang="en-US" altLang="zh-CN" dirty="0"/>
          </a:p>
          <a:p>
            <a:endParaRPr lang="en-US" altLang="zh-CN" dirty="0"/>
          </a:p>
          <a:p>
            <a:r>
              <a:rPr lang="zh-CN" altLang="en-US" dirty="0"/>
              <a:t>关注发展动态</a:t>
            </a:r>
            <a:endParaRPr lang="en-US" altLang="zh-CN" dirty="0"/>
          </a:p>
        </p:txBody>
      </p:sp>
    </p:spTree>
    <p:extLst>
      <p:ext uri="{BB962C8B-B14F-4D97-AF65-F5344CB8AC3E}">
        <p14:creationId xmlns:p14="http://schemas.microsoft.com/office/powerpoint/2010/main" val="1001206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HASREMARK" val="True"/>
  <p:tag name="PROBLEMREMARK" val="2+1+2-1+1"/>
  <p:tag name="PROBLEMBLANK" val="[{&quot;Num&quot;:1,&quot;Score&quot;:1,&quot;Answers&quot;:[&quot;5&quot;],&quot;CaseSensitive&quot;:false,&quot;FuzzyMatch&quot;:false}]"/>
  <p:tag name="PROBLEMBLANKORDER"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TIMING" val="|14.4|33.4|10.8|181.1"/>
</p:tagLst>
</file>

<file path=ppt/tags/tag12.xml><?xml version="1.0" encoding="utf-8"?>
<p:tagLst xmlns:a="http://schemas.openxmlformats.org/drawingml/2006/main" xmlns:r="http://schemas.openxmlformats.org/officeDocument/2006/relationships" xmlns:p="http://schemas.openxmlformats.org/presentationml/2006/main">
  <p:tag name="TIMING" val="|14.4|33.4|10.8|181.1"/>
</p:tagLst>
</file>

<file path=ppt/tags/tag13.xml><?xml version="1.0" encoding="utf-8"?>
<p:tagLst xmlns:a="http://schemas.openxmlformats.org/drawingml/2006/main" xmlns:r="http://schemas.openxmlformats.org/officeDocument/2006/relationships" xmlns:p="http://schemas.openxmlformats.org/presentationml/2006/main">
  <p:tag name="TIMING" val="|9.9|135.1"/>
</p:tagLst>
</file>

<file path=ppt/tags/tag14.xml><?xml version="1.0" encoding="utf-8"?>
<p:tagLst xmlns:a="http://schemas.openxmlformats.org/drawingml/2006/main" xmlns:r="http://schemas.openxmlformats.org/officeDocument/2006/relationships" xmlns:p="http://schemas.openxmlformats.org/presentationml/2006/main">
  <p:tag name="TIMING" val="|9.9|135.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noFill/>
        <a:ln w="38100">
          <a:solidFill>
            <a:schemeClr val="tx1"/>
          </a:solidFill>
        </a:ln>
      </a:spPr>
      <a:bodyPr lIns="36000" rIns="36000" rtlCol="0" anchor="ctr">
        <a:noAutofit/>
      </a:bodyPr>
      <a:lstStyle>
        <a:defPPr algn="ctr">
          <a:defRPr dirty="0" err="1" smtClean="0">
            <a:solidFill>
              <a:schemeClr val="tx1"/>
            </a:solidFill>
            <a:latin typeface="Times New Roman" panose="02020603050405020304" pitchFamily="18" charset="0"/>
            <a:cs typeface="Times New Roman" panose="020206030504050203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noFill/>
        <a:ln w="38100">
          <a:solidFill>
            <a:schemeClr val="tx1"/>
          </a:solidFill>
        </a:ln>
      </a:spPr>
      <a:bodyPr lIns="36000" rIns="36000" rtlCol="0" anchor="ctr">
        <a:noAutofit/>
      </a:bodyPr>
      <a:lstStyle>
        <a:defPPr algn="ctr">
          <a:defRPr dirty="0" err="1" smtClean="0">
            <a:solidFill>
              <a:schemeClr val="tx1"/>
            </a:solidFill>
            <a:latin typeface="Times New Roman" panose="02020603050405020304" pitchFamily="18" charset="0"/>
            <a:cs typeface="Times New Roman" panose="020206030504050203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noFill/>
        <a:ln w="38100">
          <a:solidFill>
            <a:schemeClr val="tx1"/>
          </a:solidFill>
        </a:ln>
      </a:spPr>
      <a:bodyPr lIns="36000" rIns="36000" rtlCol="0" anchor="ctr">
        <a:noAutofit/>
      </a:bodyPr>
      <a:lstStyle>
        <a:defPPr algn="ctr">
          <a:defRPr dirty="0" err="1" smtClean="0">
            <a:solidFill>
              <a:schemeClr val="tx1"/>
            </a:solidFill>
            <a:latin typeface="Times New Roman" panose="02020603050405020304" pitchFamily="18" charset="0"/>
            <a:cs typeface="Times New Roman" panose="020206030504050203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3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noFill/>
        <a:ln w="38100">
          <a:solidFill>
            <a:schemeClr val="tx1"/>
          </a:solidFill>
        </a:ln>
      </a:spPr>
      <a:bodyPr lIns="36000" rIns="36000" rtlCol="0" anchor="ctr">
        <a:noAutofit/>
      </a:bodyPr>
      <a:lstStyle>
        <a:defPPr algn="ctr">
          <a:defRPr dirty="0" err="1" smtClean="0">
            <a:solidFill>
              <a:schemeClr val="tx1"/>
            </a:solidFill>
            <a:latin typeface="Times New Roman" panose="02020603050405020304" pitchFamily="18" charset="0"/>
            <a:cs typeface="Times New Roman" panose="020206030504050203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5.xml><?xml version="1.0" encoding="utf-8"?>
<a:theme xmlns:a="http://schemas.openxmlformats.org/drawingml/2006/main" name="4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noFill/>
        <a:ln w="38100">
          <a:solidFill>
            <a:schemeClr val="tx1"/>
          </a:solidFill>
        </a:ln>
      </a:spPr>
      <a:bodyPr lIns="36000" rIns="36000" rtlCol="0" anchor="ctr">
        <a:noAutofit/>
      </a:bodyPr>
      <a:lstStyle>
        <a:defPPr algn="ctr">
          <a:defRPr dirty="0" err="1" smtClean="0">
            <a:solidFill>
              <a:schemeClr val="tx1"/>
            </a:solidFill>
            <a:latin typeface="Times New Roman" panose="02020603050405020304" pitchFamily="18" charset="0"/>
            <a:cs typeface="Times New Roman" panose="020206030504050203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222798</TotalTime>
  <Words>11263</Words>
  <Application>Microsoft Office PowerPoint</Application>
  <PresentationFormat>Grand écran</PresentationFormat>
  <Paragraphs>2804</Paragraphs>
  <Slides>207</Slides>
  <Notes>91</Notes>
  <HiddenSlides>0</HiddenSlides>
  <MMClips>0</MMClips>
  <ScaleCrop>false</ScaleCrop>
  <HeadingPairs>
    <vt:vector size="8" baseType="variant">
      <vt:variant>
        <vt:lpstr>Polices utilisées</vt:lpstr>
      </vt:variant>
      <vt:variant>
        <vt:i4>23</vt:i4>
      </vt:variant>
      <vt:variant>
        <vt:lpstr>Thème</vt:lpstr>
      </vt:variant>
      <vt:variant>
        <vt:i4>5</vt:i4>
      </vt:variant>
      <vt:variant>
        <vt:lpstr>Serveurs OLE incorporés</vt:lpstr>
      </vt:variant>
      <vt:variant>
        <vt:i4>1</vt:i4>
      </vt:variant>
      <vt:variant>
        <vt:lpstr>Titres des diapositives</vt:lpstr>
      </vt:variant>
      <vt:variant>
        <vt:i4>207</vt:i4>
      </vt:variant>
    </vt:vector>
  </HeadingPairs>
  <TitlesOfParts>
    <vt:vector size="236" baseType="lpstr">
      <vt:lpstr>Alfred Serif Regular</vt:lpstr>
      <vt:lpstr>-apple-system</vt:lpstr>
      <vt:lpstr>Linux Libertine</vt:lpstr>
      <vt:lpstr>PingFang SC</vt:lpstr>
      <vt:lpstr>var(--secondary-font-italic)</vt:lpstr>
      <vt:lpstr>var(--secondary-font-semi-bold)</vt:lpstr>
      <vt:lpstr>华文楷体</vt:lpstr>
      <vt:lpstr>宋体</vt:lpstr>
      <vt:lpstr>宋体</vt:lpstr>
      <vt:lpstr>Microsoft YaHei</vt:lpstr>
      <vt:lpstr>Microsoft YaHei</vt:lpstr>
      <vt:lpstr>楷体</vt:lpstr>
      <vt:lpstr>等线</vt:lpstr>
      <vt:lpstr>黑体</vt:lpstr>
      <vt:lpstr>Arial</vt:lpstr>
      <vt:lpstr>Arial</vt:lpstr>
      <vt:lpstr>Calibri</vt:lpstr>
      <vt:lpstr>Cambria Math</vt:lpstr>
      <vt:lpstr>Franklin Gothic Book</vt:lpstr>
      <vt:lpstr>Perpetua</vt:lpstr>
      <vt:lpstr>Times New Roman</vt:lpstr>
      <vt:lpstr>Wingdings</vt:lpstr>
      <vt:lpstr>Wingdings 2</vt:lpstr>
      <vt:lpstr>Equity</vt:lpstr>
      <vt:lpstr>1_Equity</vt:lpstr>
      <vt:lpstr>2_Equity</vt:lpstr>
      <vt:lpstr>3_Equity</vt:lpstr>
      <vt:lpstr>4_Equity</vt:lpstr>
      <vt:lpstr>公式</vt:lpstr>
      <vt:lpstr>第二章 神經網路與深度學習</vt:lpstr>
      <vt:lpstr>人工智慧、機器學習與深度學習</vt:lpstr>
      <vt:lpstr>神經網路發展簡史</vt:lpstr>
      <vt:lpstr>什麼是神經網路（Neural Network）？</vt:lpstr>
      <vt:lpstr>2.1 初識神經網路——從數位識別談起</vt:lpstr>
      <vt:lpstr>模式匹配</vt:lpstr>
      <vt:lpstr>數字3、數字8與模式3的匹配</vt:lpstr>
      <vt:lpstr>前期回顧：拼音輸入法</vt:lpstr>
      <vt:lpstr>前期回顧：模式匹配</vt:lpstr>
      <vt:lpstr>存在的問題</vt:lpstr>
      <vt:lpstr>使用Sigmoid函數</vt:lpstr>
      <vt:lpstr>增加偏置項</vt:lpstr>
      <vt:lpstr>增加偏置項</vt:lpstr>
      <vt:lpstr>圖示表示</vt:lpstr>
      <vt:lpstr>神經網路</vt:lpstr>
      <vt:lpstr>神經網路</vt:lpstr>
      <vt:lpstr>數位識別神經網路</vt:lpstr>
      <vt:lpstr>神經網路的橫向擴展——增加模式</vt:lpstr>
      <vt:lpstr>神經網路的縱向擴展——局部模式</vt:lpstr>
      <vt:lpstr>讓神經網路更深——模式組合</vt:lpstr>
      <vt:lpstr>多層神經網路</vt:lpstr>
      <vt:lpstr>如何獲得模式？</vt:lpstr>
      <vt:lpstr>The bitter lesson</vt:lpstr>
      <vt:lpstr>Présentation PowerPoint</vt:lpstr>
      <vt:lpstr>2.2 神經元與神經網路</vt:lpstr>
      <vt:lpstr>神經元</vt:lpstr>
      <vt:lpstr>激活函數</vt:lpstr>
      <vt:lpstr>激活函數</vt:lpstr>
      <vt:lpstr>激活函數</vt:lpstr>
      <vt:lpstr>激活函數</vt:lpstr>
      <vt:lpstr>激活函數</vt:lpstr>
      <vt:lpstr>全連接網絡（Fully-Connected Network）</vt:lpstr>
      <vt:lpstr>全連接網絡（Fully-Connected Network）</vt:lpstr>
      <vt:lpstr>2.3 神經網絡是如何訓練的</vt:lpstr>
      <vt:lpstr>小朋友如何認識小動物？</vt:lpstr>
      <vt:lpstr>建立數據集</vt:lpstr>
      <vt:lpstr>如何訓練？</vt:lpstr>
      <vt:lpstr>淋浴器示意圖</vt:lpstr>
      <vt:lpstr>損失函數——誤差平方和</vt:lpstr>
      <vt:lpstr>如何訓練？</vt:lpstr>
      <vt:lpstr>梯度下降法</vt:lpstr>
      <vt:lpstr>梯度下降法</vt:lpstr>
      <vt:lpstr>梯度下降法</vt:lpstr>
      <vt:lpstr>梯度下降法</vt:lpstr>
      <vt:lpstr>梯度下降演算法</vt:lpstr>
      <vt:lpstr>符號說明</vt:lpstr>
      <vt:lpstr>梯度計算——輸出層</vt:lpstr>
      <vt:lpstr>梯度計算——輸出層</vt:lpstr>
      <vt:lpstr>Présentation PowerPoint</vt:lpstr>
      <vt:lpstr>梯度計算——隱含層</vt:lpstr>
      <vt:lpstr>Présentation PowerPoint</vt:lpstr>
      <vt:lpstr>梯度計算</vt:lpstr>
      <vt:lpstr>反向傳播演算法（BP：Back Propagation）</vt:lpstr>
      <vt:lpstr>Présentation PowerPoint</vt:lpstr>
      <vt:lpstr>BP演算法（隨機梯度下降版）</vt:lpstr>
      <vt:lpstr>學到了什麼？</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BP演算法的實現</vt:lpstr>
      <vt:lpstr>練習題</vt:lpstr>
      <vt:lpstr>交叉熵損失函數</vt:lpstr>
      <vt:lpstr>交叉熵損失函數</vt:lpstr>
      <vt:lpstr>交叉熵損失函數</vt:lpstr>
      <vt:lpstr>兩種損失函數的作用</vt:lpstr>
      <vt:lpstr>小結</vt:lpstr>
      <vt:lpstr>2.4 捲積神經網路（CNN：Convolutional Neural Network）</vt:lpstr>
      <vt:lpstr>提取局部模式</vt:lpstr>
      <vt:lpstr>Présentation PowerPoint</vt:lpstr>
      <vt:lpstr>Présentation PowerPoint</vt:lpstr>
      <vt:lpstr>Présentation PowerPoint</vt:lpstr>
      <vt:lpstr>Présentation PowerPoint</vt:lpstr>
      <vt:lpstr>全連接、捲積神經網路對比</vt:lpstr>
      <vt:lpstr>舉例：邊緣提取</vt:lpstr>
      <vt:lpstr>舉例：邊緣提取</vt:lpstr>
      <vt:lpstr>捲積核的大小 (size)</vt:lpstr>
      <vt:lpstr>填充 (padding)</vt:lpstr>
      <vt:lpstr>步長 (stride)</vt:lpstr>
      <vt:lpstr>多捲積核</vt:lpstr>
      <vt:lpstr>多通道輸入時的捲積</vt:lpstr>
      <vt:lpstr>多通道捲積舉例</vt:lpstr>
      <vt:lpstr>捲積核的大小</vt:lpstr>
      <vt:lpstr>Présentation PowerPoint</vt:lpstr>
      <vt:lpstr>池化 (pooling)</vt:lpstr>
      <vt:lpstr>最大池化</vt:lpstr>
      <vt:lpstr>神經網絡應用舉例</vt:lpstr>
      <vt:lpstr>LeNet神經網絡</vt:lpstr>
      <vt:lpstr>VGG-16神經網絡</vt:lpstr>
      <vt:lpstr>捲積核具有抽取特徵的能力</vt:lpstr>
      <vt:lpstr>捲積神經網絡的特點</vt:lpstr>
      <vt:lpstr>小結</vt:lpstr>
      <vt:lpstr>2.5 梯度消失問題</vt:lpstr>
      <vt:lpstr>什麽是梯度消失問題？</vt:lpstr>
      <vt:lpstr>解决思路</vt:lpstr>
      <vt:lpstr>兩個實例</vt:lpstr>
      <vt:lpstr>GoogLeNet</vt:lpstr>
      <vt:lpstr>GoogLeNet</vt:lpstr>
      <vt:lpstr>爲什麽稱作Inception ?</vt:lpstr>
      <vt:lpstr>前期回歸：多捲積核</vt:lpstr>
      <vt:lpstr>前情回顧：多通道輸入時的捲積</vt:lpstr>
      <vt:lpstr>前情回歸：LeNet神經網絡</vt:lpstr>
      <vt:lpstr>前情回顧：梯度消失問題</vt:lpstr>
      <vt:lpstr>Inception模塊</vt:lpstr>
      <vt:lpstr>降維的Inception模塊</vt:lpstr>
      <vt:lpstr>Inception模塊</vt:lpstr>
      <vt:lpstr>GoogLeNet</vt:lpstr>
      <vt:lpstr>殘差網絡（ResNet）</vt:lpstr>
      <vt:lpstr>解决思路</vt:lpstr>
      <vt:lpstr>解决思路</vt:lpstr>
      <vt:lpstr>殘差模塊: skip connection</vt:lpstr>
      <vt:lpstr>殘差網絡（ResNet）</vt:lpstr>
      <vt:lpstr>殘差網絡（ResNet）</vt:lpstr>
      <vt:lpstr>殘差網絡（ResNet）</vt:lpstr>
      <vt:lpstr>小結</vt:lpstr>
      <vt:lpstr>2.6 過擬合問題</vt:lpstr>
      <vt:lpstr>什麽是過擬合問題？</vt:lpstr>
      <vt:lpstr>什麽是過擬合問題？</vt:lpstr>
      <vt:lpstr>神經網絡的過擬合問題</vt:lpstr>
      <vt:lpstr>減少過擬合的方法：使用驗證集</vt:lpstr>
      <vt:lpstr>減少過擬合的方法：正則化項法</vt:lpstr>
      <vt:lpstr>正則化項的作用：降低模型複雜性</vt:lpstr>
      <vt:lpstr>减少過擬合的方法：捨棄法（Dropout）</vt:lpstr>
      <vt:lpstr>減少過擬合的方法：資料增強法</vt:lpstr>
      <vt:lpstr>如何獲得更多的資料？</vt:lpstr>
      <vt:lpstr>小結</vt:lpstr>
      <vt:lpstr>2.7 詞向量</vt:lpstr>
      <vt:lpstr>獨熱（one-hot）編碼</vt:lpstr>
      <vt:lpstr>獨熱編碼舉例</vt:lpstr>
      <vt:lpstr>獨熱編碼的特點</vt:lpstr>
      <vt:lpstr>前情回顧：殘差模塊: skip connection</vt:lpstr>
      <vt:lpstr>前期回顧：减少過擬合，正則化項法</vt:lpstr>
      <vt:lpstr>前情回顧：减少過擬合，捨弃法（Dropout）</vt:lpstr>
      <vt:lpstr>詞的分布式表示</vt:lpstr>
      <vt:lpstr>Présentation PowerPoint</vt:lpstr>
      <vt:lpstr>詞的分布式表示</vt:lpstr>
      <vt:lpstr>語言模型</vt:lpstr>
      <vt:lpstr>語言模型</vt:lpstr>
      <vt:lpstr>語言模型</vt:lpstr>
      <vt:lpstr>神經網絡語言模型</vt:lpstr>
      <vt:lpstr>Présentation PowerPoint</vt:lpstr>
      <vt:lpstr>Présentation PowerPoint</vt:lpstr>
      <vt:lpstr>如何訓練神經網絡語言模型？</vt:lpstr>
      <vt:lpstr>如何訓練神經網絡語言模型？</vt:lpstr>
      <vt:lpstr>如何訓練神經網絡語言模型？</vt:lpstr>
      <vt:lpstr>如何訓練神經網絡語言模型？</vt:lpstr>
      <vt:lpstr>如何訓練神經網絡語言模型？</vt:lpstr>
      <vt:lpstr>如何訓練神經網絡語言模型？</vt:lpstr>
      <vt:lpstr>遺留問題</vt:lpstr>
      <vt:lpstr>如何訓練詞向量</vt:lpstr>
      <vt:lpstr>詞向量（詞嵌入）的性質</vt:lpstr>
      <vt:lpstr>NLM存在的問題</vt:lpstr>
      <vt:lpstr>word2vec模型</vt:lpstr>
      <vt:lpstr>word2vec模型(CBOW)</vt:lpstr>
      <vt:lpstr>霍夫曼树与霍夫曼编码</vt:lpstr>
      <vt:lpstr>霍夫曼树与霍夫曼编码</vt:lpstr>
      <vt:lpstr>对比</vt:lpstr>
      <vt:lpstr>Présentation PowerPoint</vt:lpstr>
      <vt:lpstr>一般性描述</vt:lpstr>
      <vt:lpstr>Présentation PowerPoint</vt:lpstr>
      <vt:lpstr>获得词向量</vt:lpstr>
      <vt:lpstr>训练计算量</vt:lpstr>
      <vt:lpstr>word2vec模型(跳词模型)</vt:lpstr>
      <vt:lpstr>词向量应用举例：TextCNN</vt:lpstr>
      <vt:lpstr>Présentation PowerPoint</vt:lpstr>
      <vt:lpstr>文本捲積计算举例</vt:lpstr>
      <vt:lpstr>文本捲積计算举例</vt:lpstr>
      <vt:lpstr>Présentation PowerPoint</vt:lpstr>
      <vt:lpstr>小结</vt:lpstr>
      <vt:lpstr>2.8 循环神经网络（RNN: Recurrent Neural Network）</vt:lpstr>
      <vt:lpstr>从句子理解说起</vt:lpstr>
      <vt:lpstr>Présentation PowerPoint</vt:lpstr>
      <vt:lpstr>Présentation PowerPoint</vt:lpstr>
      <vt:lpstr>Présentation PowerPoint</vt:lpstr>
      <vt:lpstr>循环神经网络的训练：BP</vt:lpstr>
      <vt:lpstr>循环神经网络的一般结构</vt:lpstr>
      <vt:lpstr>举例：中文分词问题</vt:lpstr>
      <vt:lpstr>举例：看图说话问题</vt:lpstr>
      <vt:lpstr>Présentation PowerPoint</vt:lpstr>
      <vt:lpstr>双向循环神经网络</vt:lpstr>
      <vt:lpstr>双向循环神经网络</vt:lpstr>
      <vt:lpstr>序列到序列循环神经网络</vt:lpstr>
      <vt:lpstr>小结</vt:lpstr>
      <vt:lpstr>2.9 长短期记忆网络（LSTM：Long Short-Term Memory） </vt:lpstr>
      <vt:lpstr>Présentation PowerPoint</vt:lpstr>
      <vt:lpstr>“门”的概念</vt:lpstr>
      <vt:lpstr>LSTM模块</vt:lpstr>
      <vt:lpstr>LSTM模块</vt:lpstr>
      <vt:lpstr>LSTM模块</vt:lpstr>
      <vt:lpstr>LSTM模块</vt:lpstr>
      <vt:lpstr>LSTM模块</vt:lpstr>
      <vt:lpstr>LSTM模块</vt:lpstr>
      <vt:lpstr>LSTM模块</vt:lpstr>
      <vt:lpstr>LSTM模块</vt:lpstr>
      <vt:lpstr>举例：机器翻译</vt:lpstr>
      <vt:lpstr>小结</vt:lpstr>
      <vt:lpstr>2.10 深度学习框架</vt:lpstr>
      <vt:lpstr>常用的深度学习框架</vt:lpstr>
      <vt:lpstr>练习题</vt:lpstr>
      <vt:lpstr>2.11 总结</vt:lpstr>
      <vt:lpstr>Présentation PowerPoint</vt:lpstr>
      <vt:lpstr>Présentation PowerPoint</vt:lpstr>
      <vt:lpstr>神经网络应用问题</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Infinite SVM: a DP Mixture of Large-margin Kernel Machines</dc:title>
  <dc:creator>SCS</dc:creator>
  <cp:lastModifiedBy>Terry C.</cp:lastModifiedBy>
  <cp:revision>7311</cp:revision>
  <dcterms:created xsi:type="dcterms:W3CDTF">2011-04-24T18:48:21Z</dcterms:created>
  <dcterms:modified xsi:type="dcterms:W3CDTF">2025-04-14T16:57:15Z</dcterms:modified>
</cp:coreProperties>
</file>