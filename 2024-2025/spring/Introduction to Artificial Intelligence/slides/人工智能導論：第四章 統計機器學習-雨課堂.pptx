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png" ContentType="image/png"/>
  <Default Extension="rels" ContentType="application/vnd.openxmlformats-package.relationships+xml"/>
  <Default Extension="tmp" ContentType="image/p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notesSlides/notesSlide38.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notesSlides/notesSlide67.xml" ContentType="application/vnd.openxmlformats-officedocument.presentationml.notesSlide+xml"/>
  <Override PartName="/ppt/notesSlides/notesSlide6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6" r:id="rId1"/>
  </p:sldMasterIdLst>
  <p:notesMasterIdLst>
    <p:notesMasterId r:id="rId115"/>
  </p:notesMasterIdLst>
  <p:handoutMasterIdLst>
    <p:handoutMasterId r:id="rId116"/>
  </p:handoutMasterIdLst>
  <p:sldIdLst>
    <p:sldId id="736" r:id="rId2"/>
    <p:sldId id="752" r:id="rId3"/>
    <p:sldId id="568" r:id="rId4"/>
    <p:sldId id="569" r:id="rId5"/>
    <p:sldId id="570" r:id="rId6"/>
    <p:sldId id="571" r:id="rId7"/>
    <p:sldId id="719" r:id="rId8"/>
    <p:sldId id="572" r:id="rId9"/>
    <p:sldId id="573" r:id="rId10"/>
    <p:sldId id="575" r:id="rId11"/>
    <p:sldId id="592" r:id="rId12"/>
    <p:sldId id="593" r:id="rId13"/>
    <p:sldId id="595" r:id="rId14"/>
    <p:sldId id="594" r:id="rId15"/>
    <p:sldId id="714" r:id="rId16"/>
    <p:sldId id="596" r:id="rId17"/>
    <p:sldId id="597" r:id="rId18"/>
    <p:sldId id="598" r:id="rId19"/>
    <p:sldId id="599" r:id="rId20"/>
    <p:sldId id="600" r:id="rId21"/>
    <p:sldId id="601" r:id="rId22"/>
    <p:sldId id="602" r:id="rId23"/>
    <p:sldId id="605" r:id="rId24"/>
    <p:sldId id="710" r:id="rId25"/>
    <p:sldId id="711" r:id="rId26"/>
    <p:sldId id="712" r:id="rId27"/>
    <p:sldId id="606" r:id="rId28"/>
    <p:sldId id="607" r:id="rId29"/>
    <p:sldId id="713" r:id="rId30"/>
    <p:sldId id="716" r:id="rId31"/>
    <p:sldId id="717" r:id="rId32"/>
    <p:sldId id="610" r:id="rId33"/>
    <p:sldId id="611" r:id="rId34"/>
    <p:sldId id="612" r:id="rId35"/>
    <p:sldId id="613" r:id="rId36"/>
    <p:sldId id="614" r:id="rId37"/>
    <p:sldId id="709" r:id="rId38"/>
    <p:sldId id="718" r:id="rId39"/>
    <p:sldId id="708" r:id="rId40"/>
    <p:sldId id="617" r:id="rId41"/>
    <p:sldId id="618" r:id="rId42"/>
    <p:sldId id="619" r:id="rId43"/>
    <p:sldId id="620" r:id="rId44"/>
    <p:sldId id="621" r:id="rId45"/>
    <p:sldId id="622" r:id="rId46"/>
    <p:sldId id="623" r:id="rId47"/>
    <p:sldId id="624" r:id="rId48"/>
    <p:sldId id="699" r:id="rId49"/>
    <p:sldId id="702" r:id="rId50"/>
    <p:sldId id="625" r:id="rId51"/>
    <p:sldId id="626" r:id="rId52"/>
    <p:sldId id="627" r:id="rId53"/>
    <p:sldId id="628" r:id="rId54"/>
    <p:sldId id="629" r:id="rId55"/>
    <p:sldId id="630" r:id="rId56"/>
    <p:sldId id="631" r:id="rId57"/>
    <p:sldId id="632" r:id="rId58"/>
    <p:sldId id="633" r:id="rId59"/>
    <p:sldId id="715" r:id="rId60"/>
    <p:sldId id="634" r:id="rId61"/>
    <p:sldId id="635" r:id="rId62"/>
    <p:sldId id="299" r:id="rId63"/>
    <p:sldId id="300" r:id="rId64"/>
    <p:sldId id="298" r:id="rId65"/>
    <p:sldId id="636" r:id="rId66"/>
    <p:sldId id="637" r:id="rId67"/>
    <p:sldId id="651" r:id="rId68"/>
    <p:sldId id="653" r:id="rId69"/>
    <p:sldId id="654" r:id="rId70"/>
    <p:sldId id="655" r:id="rId71"/>
    <p:sldId id="660" r:id="rId72"/>
    <p:sldId id="697" r:id="rId73"/>
    <p:sldId id="282" r:id="rId74"/>
    <p:sldId id="297" r:id="rId75"/>
    <p:sldId id="291" r:id="rId76"/>
    <p:sldId id="661" r:id="rId77"/>
    <p:sldId id="662" r:id="rId78"/>
    <p:sldId id="663" r:id="rId79"/>
    <p:sldId id="664" r:id="rId80"/>
    <p:sldId id="665" r:id="rId81"/>
    <p:sldId id="666" r:id="rId82"/>
    <p:sldId id="667" r:id="rId83"/>
    <p:sldId id="668" r:id="rId84"/>
    <p:sldId id="669" r:id="rId85"/>
    <p:sldId id="670" r:id="rId86"/>
    <p:sldId id="671" r:id="rId87"/>
    <p:sldId id="672" r:id="rId88"/>
    <p:sldId id="673" r:id="rId89"/>
    <p:sldId id="674" r:id="rId90"/>
    <p:sldId id="675" r:id="rId91"/>
    <p:sldId id="676" r:id="rId92"/>
    <p:sldId id="677" r:id="rId93"/>
    <p:sldId id="678" r:id="rId94"/>
    <p:sldId id="707" r:id="rId95"/>
    <p:sldId id="679" r:id="rId96"/>
    <p:sldId id="680" r:id="rId97"/>
    <p:sldId id="681" r:id="rId98"/>
    <p:sldId id="682" r:id="rId99"/>
    <p:sldId id="683" r:id="rId100"/>
    <p:sldId id="684" r:id="rId101"/>
    <p:sldId id="685" r:id="rId102"/>
    <p:sldId id="686" r:id="rId103"/>
    <p:sldId id="687" r:id="rId104"/>
    <p:sldId id="688" r:id="rId105"/>
    <p:sldId id="689" r:id="rId106"/>
    <p:sldId id="690" r:id="rId107"/>
    <p:sldId id="691" r:id="rId108"/>
    <p:sldId id="692" r:id="rId109"/>
    <p:sldId id="693" r:id="rId110"/>
    <p:sldId id="706" r:id="rId111"/>
    <p:sldId id="705" r:id="rId112"/>
    <p:sldId id="694" r:id="rId113"/>
    <p:sldId id="704" r:id="rId11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第12堂课第一节" id="{A5100360-2FD9-BC4D-8300-712F71D8C1CB}">
          <p14:sldIdLst>
            <p14:sldId id="736"/>
            <p14:sldId id="752"/>
            <p14:sldId id="568"/>
            <p14:sldId id="569"/>
            <p14:sldId id="570"/>
            <p14:sldId id="571"/>
            <p14:sldId id="719"/>
            <p14:sldId id="572"/>
            <p14:sldId id="573"/>
            <p14:sldId id="575"/>
            <p14:sldId id="592"/>
            <p14:sldId id="593"/>
            <p14:sldId id="595"/>
            <p14:sldId id="594"/>
            <p14:sldId id="714"/>
            <p14:sldId id="596"/>
            <p14:sldId id="597"/>
            <p14:sldId id="598"/>
            <p14:sldId id="599"/>
            <p14:sldId id="600"/>
            <p14:sldId id="601"/>
            <p14:sldId id="602"/>
            <p14:sldId id="605"/>
          </p14:sldIdLst>
        </p14:section>
        <p14:section name="第12堂课第二节" id="{691018E1-1B8A-6B42-AD30-FD9553874B9D}">
          <p14:sldIdLst>
            <p14:sldId id="710"/>
            <p14:sldId id="711"/>
            <p14:sldId id="712"/>
            <p14:sldId id="606"/>
            <p14:sldId id="607"/>
            <p14:sldId id="713"/>
            <p14:sldId id="716"/>
            <p14:sldId id="717"/>
            <p14:sldId id="610"/>
            <p14:sldId id="611"/>
            <p14:sldId id="612"/>
            <p14:sldId id="613"/>
            <p14:sldId id="614"/>
            <p14:sldId id="709"/>
            <p14:sldId id="718"/>
            <p14:sldId id="708"/>
            <p14:sldId id="617"/>
            <p14:sldId id="618"/>
            <p14:sldId id="619"/>
            <p14:sldId id="620"/>
            <p14:sldId id="621"/>
            <p14:sldId id="622"/>
            <p14:sldId id="623"/>
            <p14:sldId id="624"/>
            <p14:sldId id="699"/>
            <p14:sldId id="702"/>
          </p14:sldIdLst>
        </p14:section>
        <p14:section name="第13堂课第一节" id="{3DC78116-BD22-DD42-BBA7-DBCF0719FBB8}">
          <p14:sldIdLst>
            <p14:sldId id="625"/>
            <p14:sldId id="626"/>
            <p14:sldId id="627"/>
            <p14:sldId id="628"/>
            <p14:sldId id="629"/>
            <p14:sldId id="630"/>
            <p14:sldId id="631"/>
            <p14:sldId id="632"/>
            <p14:sldId id="633"/>
            <p14:sldId id="715"/>
            <p14:sldId id="634"/>
            <p14:sldId id="635"/>
            <p14:sldId id="299"/>
            <p14:sldId id="300"/>
            <p14:sldId id="298"/>
            <p14:sldId id="636"/>
            <p14:sldId id="637"/>
            <p14:sldId id="651"/>
            <p14:sldId id="653"/>
          </p14:sldIdLst>
        </p14:section>
        <p14:section name="第13堂课第二节" id="{FEF1696F-C3DB-BB43-ACD1-96DAA1ECC93C}">
          <p14:sldIdLst>
            <p14:sldId id="654"/>
            <p14:sldId id="655"/>
            <p14:sldId id="660"/>
            <p14:sldId id="697"/>
            <p14:sldId id="282"/>
            <p14:sldId id="297"/>
            <p14:sldId id="291"/>
            <p14:sldId id="661"/>
            <p14:sldId id="662"/>
            <p14:sldId id="663"/>
            <p14:sldId id="664"/>
            <p14:sldId id="665"/>
            <p14:sldId id="666"/>
            <p14:sldId id="667"/>
            <p14:sldId id="668"/>
            <p14:sldId id="669"/>
            <p14:sldId id="670"/>
            <p14:sldId id="671"/>
          </p14:sldIdLst>
        </p14:section>
        <p14:section name="第14堂课第一节" id="{9A86DB1B-5F12-AA48-9589-BF677DDCA11F}">
          <p14:sldIdLst>
            <p14:sldId id="672"/>
            <p14:sldId id="673"/>
            <p14:sldId id="674"/>
            <p14:sldId id="675"/>
            <p14:sldId id="676"/>
            <p14:sldId id="677"/>
            <p14:sldId id="678"/>
            <p14:sldId id="707"/>
            <p14:sldId id="679"/>
            <p14:sldId id="680"/>
            <p14:sldId id="681"/>
          </p14:sldIdLst>
        </p14:section>
        <p14:section name="第14堂课第二节 （半）" id="{366D48A5-0A3B-1645-AA2E-1291E3B5C801}">
          <p14:sldIdLst>
            <p14:sldId id="682"/>
            <p14:sldId id="683"/>
            <p14:sldId id="684"/>
            <p14:sldId id="685"/>
            <p14:sldId id="686"/>
            <p14:sldId id="687"/>
            <p14:sldId id="688"/>
            <p14:sldId id="689"/>
            <p14:sldId id="690"/>
            <p14:sldId id="691"/>
            <p14:sldId id="692"/>
            <p14:sldId id="693"/>
            <p14:sldId id="706"/>
            <p14:sldId id="705"/>
            <p14:sldId id="694"/>
            <p14:sldId id="704"/>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B39B"/>
    <a:srgbClr val="E6AF00"/>
    <a:srgbClr val="FFC000"/>
    <a:srgbClr val="FEC200"/>
    <a:srgbClr val="0000FF"/>
    <a:srgbClr val="2B11EF"/>
    <a:srgbClr val="EFF343"/>
    <a:srgbClr val="86F260"/>
    <a:srgbClr val="ECF127"/>
    <a:srgbClr val="FB81E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846" autoAdjust="0"/>
    <p:restoredTop sz="96921" autoAdjust="0"/>
  </p:normalViewPr>
  <p:slideViewPr>
    <p:cSldViewPr snapToGrid="0">
      <p:cViewPr varScale="1">
        <p:scale>
          <a:sx n="152" d="100"/>
          <a:sy n="152" d="100"/>
        </p:scale>
        <p:origin x="472" y="16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snapToGrid="0">
      <p:cViewPr varScale="1">
        <p:scale>
          <a:sx n="88" d="100"/>
          <a:sy n="88" d="100"/>
        </p:scale>
        <p:origin x="-3870" y="-10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presProps" Target="presProp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viewProps" Target="view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05A66E1-596A-496E-B96E-FE454130F19C}" type="datetimeFigureOut">
              <a:rPr lang="zh-CN" altLang="en-US" smtClean="0"/>
              <a:pPr/>
              <a:t>2025/5/27</a:t>
            </a:fld>
            <a:endParaRPr lang="zh-CN" alt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153B57A-208D-4E21-8008-BCE8E94FCB4F}" type="slidenum">
              <a:rPr lang="zh-CN" altLang="en-US" smtClean="0"/>
              <a:pPr/>
              <a:t>‹#›</a:t>
            </a:fld>
            <a:endParaRPr lang="zh-CN" altLang="en-US"/>
          </a:p>
        </p:txBody>
      </p:sp>
    </p:spTree>
    <p:extLst>
      <p:ext uri="{BB962C8B-B14F-4D97-AF65-F5344CB8AC3E}">
        <p14:creationId xmlns:p14="http://schemas.microsoft.com/office/powerpoint/2010/main" val="235648635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102705F-8347-41A8-82E6-B2920132BF3D}" type="datetimeFigureOut">
              <a:rPr lang="en-US" smtClean="0"/>
              <a:pPr/>
              <a:t>5/27/25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50AF6DD-051E-413B-8808-23D5AB3BD9E4}" type="slidenum">
              <a:rPr lang="en-US" smtClean="0"/>
              <a:pPr/>
              <a:t>‹#›</a:t>
            </a:fld>
            <a:endParaRPr lang="en-US"/>
          </a:p>
        </p:txBody>
      </p:sp>
    </p:spTree>
    <p:extLst>
      <p:ext uri="{BB962C8B-B14F-4D97-AF65-F5344CB8AC3E}">
        <p14:creationId xmlns:p14="http://schemas.microsoft.com/office/powerpoint/2010/main" val="41790788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3" Type="http://schemas.openxmlformats.org/officeDocument/2006/relationships/hyperlink" Target="https://en.wikipedia.org/wiki/Compact_space" TargetMode="External"/><Relationship Id="rId2" Type="http://schemas.openxmlformats.org/officeDocument/2006/relationships/slide" Target="../slides/slide25.xml"/><Relationship Id="rId1" Type="http://schemas.openxmlformats.org/officeDocument/2006/relationships/notesMaster" Target="../notesMasters/notesMaster1.xml"/><Relationship Id="rId6" Type="http://schemas.openxmlformats.org/officeDocument/2006/relationships/hyperlink" Target="https://en.wikipedia.org/wiki/Convex_function" TargetMode="External"/><Relationship Id="rId5" Type="http://schemas.openxmlformats.org/officeDocument/2006/relationships/hyperlink" Target="https://en.wikipedia.org/wiki/Concave_function" TargetMode="External"/><Relationship Id="rId4" Type="http://schemas.openxmlformats.org/officeDocument/2006/relationships/hyperlink" Target="https://en.wikipedia.org/wiki/Convex_set" TargetMode="Externa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策略梯度</a:t>
            </a:r>
            <a:r>
              <a:rPr kumimoji="1" lang="en-US" altLang="zh-CN" dirty="0"/>
              <a:t>-》</a:t>
            </a:r>
            <a:r>
              <a:rPr kumimoji="1" lang="zh-CN" altLang="en-US" dirty="0"/>
              <a:t>概率</a:t>
            </a:r>
            <a:endParaRPr kumimoji="1" lang="en-US" altLang="zh-CN" dirty="0"/>
          </a:p>
          <a:p>
            <a:r>
              <a:rPr kumimoji="1" lang="zh-CN" altLang="en-US" dirty="0"/>
              <a:t>价值评估</a:t>
            </a:r>
            <a:r>
              <a:rPr kumimoji="1" lang="en-US" altLang="zh-CN" dirty="0"/>
              <a:t>-》</a:t>
            </a:r>
            <a:r>
              <a:rPr kumimoji="1" lang="zh-CN" altLang="en-US" dirty="0"/>
              <a:t>收益</a:t>
            </a:r>
            <a:endParaRPr kumimoji="1" lang="en-US" altLang="zh-CN" dirty="0"/>
          </a:p>
          <a:p>
            <a:r>
              <a:rPr kumimoji="1" lang="en-US" altLang="zh-CN" dirty="0"/>
              <a:t>Actor</a:t>
            </a:r>
            <a:r>
              <a:rPr kumimoji="1" lang="zh-CN" altLang="en-US" dirty="0"/>
              <a:t> </a:t>
            </a:r>
            <a:r>
              <a:rPr kumimoji="1" lang="en-US" altLang="zh-CN" dirty="0"/>
              <a:t>critic</a:t>
            </a:r>
            <a:r>
              <a:rPr kumimoji="1" lang="zh-CN" altLang="en-US" dirty="0"/>
              <a:t> 收益增量</a:t>
            </a:r>
          </a:p>
        </p:txBody>
      </p:sp>
      <p:sp>
        <p:nvSpPr>
          <p:cNvPr id="4" name="灯片编号占位符 3"/>
          <p:cNvSpPr>
            <a:spLocks noGrp="1"/>
          </p:cNvSpPr>
          <p:nvPr>
            <p:ph type="sldNum" sz="quarter" idx="5"/>
          </p:nvPr>
        </p:nvSpPr>
        <p:spPr/>
        <p:txBody>
          <a:bodyPr/>
          <a:lstStyle/>
          <a:p>
            <a:fld id="{D50AF6DD-051E-413B-8808-23D5AB3BD9E4}" type="slidenum">
              <a:rPr lang="en-US" smtClean="0"/>
              <a:pPr/>
              <a:t>1</a:t>
            </a:fld>
            <a:endParaRPr lang="en-US"/>
          </a:p>
        </p:txBody>
      </p:sp>
    </p:spTree>
    <p:extLst>
      <p:ext uri="{BB962C8B-B14F-4D97-AF65-F5344CB8AC3E}">
        <p14:creationId xmlns:p14="http://schemas.microsoft.com/office/powerpoint/2010/main" val="19893833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t>赫伯特</a:t>
            </a:r>
            <a:r>
              <a:rPr lang="en-US" altLang="zh-CN" sz="1200" b="1" dirty="0"/>
              <a:t>·</a:t>
            </a:r>
            <a:r>
              <a:rPr lang="zh-CN" altLang="en-US" sz="1200" b="1" dirty="0"/>
              <a:t>西蒙的中文名是司马贺</a:t>
            </a:r>
            <a:endParaRPr lang="en-US" altLang="zh-CN" sz="1200" b="1"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1"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t>统计机器学习在</a:t>
            </a:r>
            <a:r>
              <a:rPr lang="en-US" altLang="zh-CN" sz="1200" b="1" dirty="0"/>
              <a:t>90</a:t>
            </a:r>
            <a:r>
              <a:rPr lang="zh-CN" altLang="en-US" sz="1200" b="1" dirty="0"/>
              <a:t>年代把人工智能拉出低潮，串联到了深度学习</a:t>
            </a:r>
            <a:endParaRPr lang="en-US" altLang="zh-CN" sz="1200" b="1"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1" dirty="0"/>
              <a:t>90</a:t>
            </a:r>
            <a:r>
              <a:rPr lang="zh-CN" altLang="en-US" sz="1200" b="1" dirty="0"/>
              <a:t>年代计算机的发展，互联网的发展，数据越来越多</a:t>
            </a:r>
            <a:endParaRPr lang="en-US" altLang="zh-CN" sz="1200" b="1" dirty="0"/>
          </a:p>
        </p:txBody>
      </p:sp>
      <p:sp>
        <p:nvSpPr>
          <p:cNvPr id="4" name="灯片编号占位符 3"/>
          <p:cNvSpPr>
            <a:spLocks noGrp="1"/>
          </p:cNvSpPr>
          <p:nvPr>
            <p:ph type="sldNum" sz="quarter" idx="5"/>
          </p:nvPr>
        </p:nvSpPr>
        <p:spPr/>
        <p:txBody>
          <a:bodyPr/>
          <a:lstStyle/>
          <a:p>
            <a:fld id="{D50AF6DD-051E-413B-8808-23D5AB3BD9E4}" type="slidenum">
              <a:rPr lang="en-US" smtClean="0"/>
              <a:pPr/>
              <a:t>3</a:t>
            </a:fld>
            <a:endParaRPr lang="en-US"/>
          </a:p>
        </p:txBody>
      </p:sp>
    </p:spTree>
    <p:extLst>
      <p:ext uri="{BB962C8B-B14F-4D97-AF65-F5344CB8AC3E}">
        <p14:creationId xmlns:p14="http://schemas.microsoft.com/office/powerpoint/2010/main" val="33245342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dirty="0"/>
          </a:p>
          <a:p>
            <a:endParaRPr kumimoji="1" lang="en-US" altLang="zh-CN" dirty="0"/>
          </a:p>
          <a:p>
            <a:r>
              <a:rPr kumimoji="1" lang="zh-CN" altLang="en-US" dirty="0"/>
              <a:t>举例：气温和同学们的学习热情</a:t>
            </a:r>
          </a:p>
        </p:txBody>
      </p:sp>
      <p:sp>
        <p:nvSpPr>
          <p:cNvPr id="4" name="灯片编号占位符 3"/>
          <p:cNvSpPr>
            <a:spLocks noGrp="1"/>
          </p:cNvSpPr>
          <p:nvPr>
            <p:ph type="sldNum" sz="quarter" idx="5"/>
          </p:nvPr>
        </p:nvSpPr>
        <p:spPr/>
        <p:txBody>
          <a:bodyPr/>
          <a:lstStyle/>
          <a:p>
            <a:fld id="{D50AF6DD-051E-413B-8808-23D5AB3BD9E4}" type="slidenum">
              <a:rPr lang="en-US" smtClean="0"/>
              <a:pPr/>
              <a:t>4</a:t>
            </a:fld>
            <a:endParaRPr lang="en-US"/>
          </a:p>
        </p:txBody>
      </p:sp>
    </p:spTree>
    <p:extLst>
      <p:ext uri="{BB962C8B-B14F-4D97-AF65-F5344CB8AC3E}">
        <p14:creationId xmlns:p14="http://schemas.microsoft.com/office/powerpoint/2010/main" val="6962247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幻灯片图像占位符 1"/>
          <p:cNvSpPr>
            <a:spLocks noGrp="1" noRot="1" noChangeAspect="1" noTextEdit="1"/>
          </p:cNvSpPr>
          <p:nvPr>
            <p:ph type="sldImg"/>
          </p:nvPr>
        </p:nvSpPr>
        <p:spPr>
          <a:ln/>
        </p:spPr>
      </p:sp>
      <p:sp>
        <p:nvSpPr>
          <p:cNvPr id="133123" name="备注占位符 2"/>
          <p:cNvSpPr>
            <a:spLocks noGrp="1"/>
          </p:cNvSpPr>
          <p:nvPr>
            <p:ph type="body" idx="1"/>
          </p:nvPr>
        </p:nvSpPr>
        <p:spPr>
          <a:noFill/>
          <a:ln/>
        </p:spPr>
        <p:txBody>
          <a:bodyPr/>
          <a:lstStyle/>
          <a:p>
            <a:r>
              <a:rPr lang="zh-CN" altLang="en-US" dirty="0">
                <a:ea typeface="黑体" pitchFamily="49" charset="-122"/>
              </a:rPr>
              <a:t>希望 </a:t>
            </a:r>
            <a:r>
              <a:rPr lang="en-US" altLang="zh-CN" dirty="0">
                <a:ea typeface="黑体" pitchFamily="49" charset="-122"/>
              </a:rPr>
              <a:t>g</a:t>
            </a:r>
            <a:r>
              <a:rPr lang="zh-CN" altLang="en-US" dirty="0">
                <a:ea typeface="黑体" pitchFamily="49" charset="-122"/>
              </a:rPr>
              <a:t>≈</a:t>
            </a:r>
            <a:r>
              <a:rPr lang="en-US" altLang="zh-CN" dirty="0">
                <a:ea typeface="黑体" pitchFamily="49" charset="-122"/>
              </a:rPr>
              <a:t>f</a:t>
            </a:r>
          </a:p>
          <a:p>
            <a:endParaRPr lang="en-US" altLang="zh-CN" dirty="0">
              <a:ea typeface="黑体" pitchFamily="49" charset="-122"/>
            </a:endParaRPr>
          </a:p>
          <a:p>
            <a:endParaRPr lang="zh-CN" altLang="en-US" dirty="0">
              <a:ea typeface="黑体" pitchFamily="49" charset="-122"/>
            </a:endParaRPr>
          </a:p>
        </p:txBody>
      </p:sp>
      <p:sp>
        <p:nvSpPr>
          <p:cNvPr id="133124" name="灯片编号占位符 3"/>
          <p:cNvSpPr>
            <a:spLocks noGrp="1"/>
          </p:cNvSpPr>
          <p:nvPr>
            <p:ph type="sldNum" sz="quarter" idx="5"/>
          </p:nvPr>
        </p:nvSpPr>
        <p:spPr>
          <a:noFill/>
        </p:spPr>
        <p:txBody>
          <a:bodyPr/>
          <a:lstStyle/>
          <a:p>
            <a:fld id="{D6FF18AA-9B2D-4EA1-B2C2-CFF91A20757B}" type="slidenum">
              <a:rPr lang="en-US" altLang="zh-CN" smtClean="0">
                <a:ea typeface="黑体" pitchFamily="49" charset="-122"/>
              </a:rPr>
              <a:pPr/>
              <a:t>5</a:t>
            </a:fld>
            <a:endParaRPr lang="en-US" altLang="zh-CN">
              <a:ea typeface="黑体" pitchFamily="49" charset="-122"/>
            </a:endParaRPr>
          </a:p>
        </p:txBody>
      </p:sp>
    </p:spTree>
    <p:extLst>
      <p:ext uri="{BB962C8B-B14F-4D97-AF65-F5344CB8AC3E}">
        <p14:creationId xmlns:p14="http://schemas.microsoft.com/office/powerpoint/2010/main" val="3594571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假设空间： 假设数据符合某一种分布</a:t>
            </a:r>
            <a:endParaRPr kumimoji="1" lang="en-US" altLang="zh-CN" dirty="0"/>
          </a:p>
          <a:p>
            <a:endParaRPr kumimoji="1" lang="en-US" altLang="zh-CN" dirty="0"/>
          </a:p>
          <a:p>
            <a:r>
              <a:rPr kumimoji="1" lang="zh-CN" altLang="en-US" dirty="0"/>
              <a:t>气温和同学们的学习热情，假设是线性分布？假设是非线性分布？</a:t>
            </a:r>
            <a:endParaRPr kumimoji="1" lang="en-US" altLang="zh-CN" dirty="0"/>
          </a:p>
          <a:p>
            <a:endParaRPr kumimoji="1" lang="en-US" altLang="zh-CN" dirty="0"/>
          </a:p>
          <a:p>
            <a:r>
              <a:rPr kumimoji="1" lang="zh-CN" altLang="en-US" dirty="0"/>
              <a:t>神经网络和深度学习是统计机器学习框架中的一个特例</a:t>
            </a:r>
          </a:p>
        </p:txBody>
      </p:sp>
      <p:sp>
        <p:nvSpPr>
          <p:cNvPr id="4" name="灯片编号占位符 3"/>
          <p:cNvSpPr>
            <a:spLocks noGrp="1"/>
          </p:cNvSpPr>
          <p:nvPr>
            <p:ph type="sldNum" sz="quarter" idx="5"/>
          </p:nvPr>
        </p:nvSpPr>
        <p:spPr/>
        <p:txBody>
          <a:bodyPr/>
          <a:lstStyle/>
          <a:p>
            <a:fld id="{D50AF6DD-051E-413B-8808-23D5AB3BD9E4}" type="slidenum">
              <a:rPr lang="en-US" smtClean="0"/>
              <a:pPr/>
              <a:t>6</a:t>
            </a:fld>
            <a:endParaRPr lang="en-US"/>
          </a:p>
        </p:txBody>
      </p:sp>
    </p:spTree>
    <p:extLst>
      <p:ext uri="{BB962C8B-B14F-4D97-AF65-F5344CB8AC3E}">
        <p14:creationId xmlns:p14="http://schemas.microsoft.com/office/powerpoint/2010/main" val="36619086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幻灯片图像占位符 1"/>
          <p:cNvSpPr>
            <a:spLocks noGrp="1" noRot="1" noChangeAspect="1" noTextEdit="1"/>
          </p:cNvSpPr>
          <p:nvPr>
            <p:ph type="sldImg"/>
          </p:nvPr>
        </p:nvSpPr>
        <p:spPr>
          <a:ln/>
        </p:spPr>
      </p:sp>
      <p:sp>
        <p:nvSpPr>
          <p:cNvPr id="134147" name="备注占位符 2"/>
          <p:cNvSpPr>
            <a:spLocks noGrp="1"/>
          </p:cNvSpPr>
          <p:nvPr>
            <p:ph type="body" idx="1"/>
          </p:nvPr>
        </p:nvSpPr>
        <p:spPr>
          <a:noFill/>
          <a:ln/>
        </p:spPr>
        <p:txBody>
          <a:bodyPr/>
          <a:lstStyle/>
          <a:p>
            <a:r>
              <a:rPr lang="zh-CN" altLang="en-US">
                <a:ea typeface="黑体" pitchFamily="49" charset="-122"/>
              </a:rPr>
              <a:t>经验风险容易引起过拟合，结构风险是在经验风险的基础上加上体现模型复杂度的正则化项</a:t>
            </a:r>
          </a:p>
        </p:txBody>
      </p:sp>
      <p:sp>
        <p:nvSpPr>
          <p:cNvPr id="134148" name="灯片编号占位符 3"/>
          <p:cNvSpPr>
            <a:spLocks noGrp="1"/>
          </p:cNvSpPr>
          <p:nvPr>
            <p:ph type="sldNum" sz="quarter" idx="5"/>
          </p:nvPr>
        </p:nvSpPr>
        <p:spPr>
          <a:noFill/>
        </p:spPr>
        <p:txBody>
          <a:bodyPr/>
          <a:lstStyle/>
          <a:p>
            <a:fld id="{CD0B859F-82F3-4E63-B8F6-DECE510EBAA9}" type="slidenum">
              <a:rPr lang="en-US" altLang="zh-CN" smtClean="0">
                <a:ea typeface="黑体" pitchFamily="49" charset="-122"/>
              </a:rPr>
              <a:pPr/>
              <a:t>8</a:t>
            </a:fld>
            <a:endParaRPr lang="en-US" altLang="zh-CN">
              <a:ea typeface="黑体" pitchFamily="49" charset="-122"/>
            </a:endParaRPr>
          </a:p>
        </p:txBody>
      </p:sp>
    </p:spTree>
    <p:extLst>
      <p:ext uri="{BB962C8B-B14F-4D97-AF65-F5344CB8AC3E}">
        <p14:creationId xmlns:p14="http://schemas.microsoft.com/office/powerpoint/2010/main" val="36978996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幻灯片图像占位符 1"/>
          <p:cNvSpPr>
            <a:spLocks noGrp="1" noRot="1" noChangeAspect="1" noTextEdit="1"/>
          </p:cNvSpPr>
          <p:nvPr>
            <p:ph type="sldImg"/>
          </p:nvPr>
        </p:nvSpPr>
        <p:spPr>
          <a:ln/>
        </p:spPr>
      </p:sp>
      <p:sp>
        <p:nvSpPr>
          <p:cNvPr id="135171" name="备注占位符 2"/>
          <p:cNvSpPr>
            <a:spLocks noGrp="1"/>
          </p:cNvSpPr>
          <p:nvPr>
            <p:ph type="body" idx="1"/>
          </p:nvPr>
        </p:nvSpPr>
        <p:spPr>
          <a:noFill/>
          <a:ln/>
        </p:spPr>
        <p:txBody>
          <a:bodyPr/>
          <a:lstStyle/>
          <a:p>
            <a:r>
              <a:rPr lang="zh-CN" altLang="en-US" dirty="0">
                <a:ea typeface="黑体" pitchFamily="49" charset="-122"/>
              </a:rPr>
              <a:t>强化学习：指的是动作序列的学习</a:t>
            </a:r>
            <a:endParaRPr lang="en-US" altLang="zh-CN" dirty="0">
              <a:ea typeface="黑体" pitchFamily="49" charset="-122"/>
            </a:endParaRPr>
          </a:p>
          <a:p>
            <a:endParaRPr lang="en-US" altLang="zh-CN" dirty="0">
              <a:ea typeface="黑体" pitchFamily="49" charset="-122"/>
            </a:endParaRPr>
          </a:p>
          <a:p>
            <a:r>
              <a:rPr lang="zh-CN" altLang="en-US" dirty="0">
                <a:ea typeface="黑体" pitchFamily="49" charset="-122"/>
              </a:rPr>
              <a:t>监督 </a:t>
            </a:r>
            <a:r>
              <a:rPr lang="en-US" altLang="zh-CN" dirty="0">
                <a:ea typeface="黑体" pitchFamily="49" charset="-122"/>
              </a:rPr>
              <a:t>-》</a:t>
            </a:r>
            <a:r>
              <a:rPr lang="zh-CN" altLang="en-US" dirty="0">
                <a:ea typeface="黑体" pitchFamily="49" charset="-122"/>
              </a:rPr>
              <a:t> 强监督</a:t>
            </a:r>
            <a:endParaRPr lang="en-US" altLang="zh-CN" dirty="0">
              <a:ea typeface="黑体" pitchFamily="49" charset="-122"/>
            </a:endParaRPr>
          </a:p>
          <a:p>
            <a:r>
              <a:rPr lang="zh-CN" altLang="en-US" dirty="0">
                <a:ea typeface="黑体" pitchFamily="49" charset="-122"/>
              </a:rPr>
              <a:t>半监督</a:t>
            </a:r>
            <a:r>
              <a:rPr lang="en-US" altLang="zh-CN" dirty="0">
                <a:ea typeface="黑体" pitchFamily="49" charset="-122"/>
              </a:rPr>
              <a:t>-》</a:t>
            </a:r>
            <a:r>
              <a:rPr lang="zh-CN" altLang="en-US" dirty="0">
                <a:ea typeface="黑体" pitchFamily="49" charset="-122"/>
              </a:rPr>
              <a:t>混合监督和非监督数据</a:t>
            </a:r>
            <a:endParaRPr lang="en-US" altLang="zh-CN" dirty="0">
              <a:ea typeface="黑体" pitchFamily="49" charset="-122"/>
            </a:endParaRPr>
          </a:p>
          <a:p>
            <a:r>
              <a:rPr lang="zh-CN" altLang="en-US" dirty="0">
                <a:ea typeface="黑体" pitchFamily="49" charset="-122"/>
              </a:rPr>
              <a:t>弱监督： </a:t>
            </a:r>
            <a:r>
              <a:rPr lang="en-US" altLang="zh-CN" dirty="0">
                <a:ea typeface="黑体" pitchFamily="49" charset="-122"/>
              </a:rPr>
              <a:t>1.</a:t>
            </a:r>
            <a:r>
              <a:rPr lang="zh-CN" altLang="en-US" dirty="0">
                <a:ea typeface="黑体" pitchFamily="49" charset="-122"/>
              </a:rPr>
              <a:t>标注数据少</a:t>
            </a:r>
            <a:endParaRPr lang="en-US" altLang="zh-CN" dirty="0">
              <a:ea typeface="黑体" pitchFamily="49" charset="-122"/>
            </a:endParaRPr>
          </a:p>
          <a:p>
            <a:r>
              <a:rPr lang="en-US" altLang="zh-CN" dirty="0">
                <a:ea typeface="黑体" pitchFamily="49" charset="-122"/>
              </a:rPr>
              <a:t>2.</a:t>
            </a:r>
            <a:r>
              <a:rPr lang="zh-CN" altLang="en-US" dirty="0">
                <a:ea typeface="黑体" pitchFamily="49" charset="-122"/>
              </a:rPr>
              <a:t> 标注数据不直接描述具体行为目标，比如强化学习，比如</a:t>
            </a:r>
            <a:r>
              <a:rPr lang="en-US" altLang="zh-CN" dirty="0">
                <a:ea typeface="黑体" pitchFamily="49" charset="-122"/>
              </a:rPr>
              <a:t>weak</a:t>
            </a:r>
            <a:r>
              <a:rPr lang="zh-CN" altLang="en-US" dirty="0">
                <a:ea typeface="黑体" pitchFamily="49" charset="-122"/>
              </a:rPr>
              <a:t> </a:t>
            </a:r>
            <a:r>
              <a:rPr lang="en-US" altLang="zh-CN" dirty="0">
                <a:ea typeface="黑体" pitchFamily="49" charset="-122"/>
              </a:rPr>
              <a:t>label</a:t>
            </a:r>
          </a:p>
          <a:p>
            <a:r>
              <a:rPr lang="zh-CN" altLang="en-US" dirty="0">
                <a:ea typeface="黑体" pitchFamily="49" charset="-122"/>
              </a:rPr>
              <a:t>这是只猫，这是匹马，“根据身上是否毛绒绒预测标注是不是猫”</a:t>
            </a:r>
            <a:endParaRPr lang="en-US" altLang="zh-CN" dirty="0">
              <a:ea typeface="黑体" pitchFamily="49" charset="-122"/>
            </a:endParaRPr>
          </a:p>
          <a:p>
            <a:endParaRPr lang="en-US" altLang="zh-CN" dirty="0">
              <a:ea typeface="黑体" pitchFamily="49" charset="-122"/>
            </a:endParaRPr>
          </a:p>
          <a:p>
            <a:r>
              <a:rPr lang="zh-CN" altLang="en-US" dirty="0">
                <a:ea typeface="黑体" pitchFamily="49" charset="-122"/>
              </a:rPr>
              <a:t>气温和同学们的学习热情</a:t>
            </a:r>
            <a:endParaRPr lang="en-US" altLang="zh-CN" dirty="0">
              <a:ea typeface="黑体" pitchFamily="49" charset="-122"/>
            </a:endParaRPr>
          </a:p>
          <a:p>
            <a:r>
              <a:rPr lang="zh-CN" altLang="en-US" dirty="0">
                <a:ea typeface="黑体" pitchFamily="49" charset="-122"/>
              </a:rPr>
              <a:t>监督：给全班发调查问卷，必须填写</a:t>
            </a:r>
            <a:endParaRPr lang="en-US" altLang="zh-CN" dirty="0">
              <a:ea typeface="黑体" pitchFamily="49" charset="-122"/>
            </a:endParaRPr>
          </a:p>
          <a:p>
            <a:r>
              <a:rPr lang="zh-CN" altLang="en-US" dirty="0">
                <a:ea typeface="黑体" pitchFamily="49" charset="-122"/>
              </a:rPr>
              <a:t>无监督：看今天有几位同学来上课</a:t>
            </a:r>
            <a:endParaRPr lang="en-US" altLang="zh-CN" dirty="0">
              <a:ea typeface="黑体" pitchFamily="49" charset="-122"/>
            </a:endParaRPr>
          </a:p>
          <a:p>
            <a:r>
              <a:rPr lang="zh-CN" altLang="en-US" dirty="0">
                <a:ea typeface="黑体" pitchFamily="49" charset="-122"/>
              </a:rPr>
              <a:t>半监督：给全班发问卷，但不要求填写</a:t>
            </a:r>
            <a:r>
              <a:rPr lang="en-US" altLang="zh-CN" dirty="0">
                <a:ea typeface="黑体" pitchFamily="49" charset="-122"/>
              </a:rPr>
              <a:t>+</a:t>
            </a:r>
            <a:r>
              <a:rPr lang="zh-CN" altLang="en-US" dirty="0">
                <a:ea typeface="黑体" pitchFamily="49" charset="-122"/>
              </a:rPr>
              <a:t>看今天有几个同学来上课</a:t>
            </a:r>
            <a:endParaRPr lang="en-US" altLang="zh-CN" dirty="0">
              <a:ea typeface="黑体" pitchFamily="49" charset="-122"/>
            </a:endParaRPr>
          </a:p>
          <a:p>
            <a:r>
              <a:rPr lang="zh-CN" altLang="en-US" dirty="0">
                <a:ea typeface="黑体" pitchFamily="49" charset="-122"/>
              </a:rPr>
              <a:t>弱监督：强化学习</a:t>
            </a:r>
            <a:r>
              <a:rPr lang="en-US" altLang="zh-CN" dirty="0">
                <a:ea typeface="黑体" pitchFamily="49" charset="-122"/>
              </a:rPr>
              <a:t>-》</a:t>
            </a:r>
            <a:r>
              <a:rPr lang="zh-CN" altLang="en-US" dirty="0">
                <a:ea typeface="黑体" pitchFamily="49" charset="-122"/>
              </a:rPr>
              <a:t>考试成绩，弱信号</a:t>
            </a:r>
            <a:r>
              <a:rPr lang="en-US" altLang="zh-CN" dirty="0">
                <a:ea typeface="黑体" pitchFamily="49" charset="-122"/>
              </a:rPr>
              <a:t>-》</a:t>
            </a:r>
            <a:r>
              <a:rPr lang="zh-CN" altLang="en-US" dirty="0">
                <a:ea typeface="黑体" pitchFamily="49" charset="-122"/>
              </a:rPr>
              <a:t>出门看看路上的自行车多不多</a:t>
            </a:r>
            <a:endParaRPr lang="en-US" altLang="zh-CN" dirty="0">
              <a:ea typeface="黑体" pitchFamily="49" charset="-122"/>
            </a:endParaRPr>
          </a:p>
        </p:txBody>
      </p:sp>
      <p:sp>
        <p:nvSpPr>
          <p:cNvPr id="135172" name="灯片编号占位符 3"/>
          <p:cNvSpPr>
            <a:spLocks noGrp="1"/>
          </p:cNvSpPr>
          <p:nvPr>
            <p:ph type="sldNum" sz="quarter" idx="5"/>
          </p:nvPr>
        </p:nvSpPr>
        <p:spPr>
          <a:noFill/>
        </p:spPr>
        <p:txBody>
          <a:bodyPr/>
          <a:lstStyle/>
          <a:p>
            <a:fld id="{8D616275-BC4F-48F8-BCD9-EEB3052B978E}" type="slidenum">
              <a:rPr lang="en-US" altLang="zh-CN" smtClean="0">
                <a:ea typeface="黑体" pitchFamily="49" charset="-122"/>
              </a:rPr>
              <a:pPr/>
              <a:t>9</a:t>
            </a:fld>
            <a:endParaRPr lang="en-US" altLang="zh-CN">
              <a:ea typeface="黑体" pitchFamily="49" charset="-122"/>
            </a:endParaRPr>
          </a:p>
        </p:txBody>
      </p:sp>
    </p:spTree>
    <p:extLst>
      <p:ext uri="{BB962C8B-B14F-4D97-AF65-F5344CB8AC3E}">
        <p14:creationId xmlns:p14="http://schemas.microsoft.com/office/powerpoint/2010/main" val="10912220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50AF6DD-051E-413B-8808-23D5AB3BD9E4}" type="slidenum">
              <a:rPr lang="en-US" smtClean="0"/>
              <a:pPr/>
              <a:t>10</a:t>
            </a:fld>
            <a:endParaRPr lang="en-US"/>
          </a:p>
        </p:txBody>
      </p:sp>
    </p:spTree>
    <p:extLst>
      <p:ext uri="{BB962C8B-B14F-4D97-AF65-F5344CB8AC3E}">
        <p14:creationId xmlns:p14="http://schemas.microsoft.com/office/powerpoint/2010/main" val="13956466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多分类问题可以转化为二分类问题</a:t>
            </a:r>
          </a:p>
          <a:p>
            <a:endParaRPr kumimoji="1" lang="en-US" altLang="zh-CN" dirty="0"/>
          </a:p>
          <a:p>
            <a:endParaRPr kumimoji="1" lang="en-US" altLang="zh-CN" dirty="0"/>
          </a:p>
          <a:p>
            <a:r>
              <a:rPr kumimoji="1" lang="zh-CN" altLang="en-US" dirty="0"/>
              <a:t>超平面：三维空间中的平面</a:t>
            </a:r>
            <a:r>
              <a:rPr kumimoji="1" lang="en-US" altLang="zh-CN" dirty="0"/>
              <a:t>-》</a:t>
            </a:r>
            <a:r>
              <a:rPr kumimoji="1" lang="zh-CN" altLang="en-US" dirty="0"/>
              <a:t>二维空间中的线</a:t>
            </a:r>
            <a:endParaRPr kumimoji="1" lang="en-US" altLang="zh-CN" dirty="0"/>
          </a:p>
          <a:p>
            <a:endParaRPr kumimoji="1" lang="en-US" altLang="zh-CN" dirty="0"/>
          </a:p>
          <a:p>
            <a:r>
              <a:rPr kumimoji="1" lang="zh-CN" altLang="en-US" dirty="0"/>
              <a:t>线性可分 </a:t>
            </a:r>
            <a:r>
              <a:rPr kumimoji="1" lang="en-US" altLang="zh-CN" dirty="0"/>
              <a:t>-》</a:t>
            </a:r>
            <a:r>
              <a:rPr kumimoji="1" lang="zh-CN" altLang="en-US" dirty="0"/>
              <a:t> 两类数据，用一个超平面可以完全分开（至少在训练集上可以），训练集正确率</a:t>
            </a:r>
            <a:r>
              <a:rPr kumimoji="1" lang="en-US" altLang="zh-CN" dirty="0"/>
              <a:t>100%</a:t>
            </a:r>
          </a:p>
          <a:p>
            <a:r>
              <a:rPr kumimoji="1" lang="zh-CN" altLang="en-US" dirty="0"/>
              <a:t>线性</a:t>
            </a:r>
            <a:r>
              <a:rPr kumimoji="1" lang="en-US" altLang="zh-CN" dirty="0"/>
              <a:t>-》</a:t>
            </a:r>
            <a:r>
              <a:rPr kumimoji="1" lang="zh-CN" altLang="en-US" dirty="0"/>
              <a:t>两类数据，用一个超平面基本上可以分开，训练集正确率不是</a:t>
            </a:r>
            <a:r>
              <a:rPr kumimoji="1" lang="en-US" altLang="zh-CN" dirty="0"/>
              <a:t>100%</a:t>
            </a:r>
            <a:r>
              <a:rPr kumimoji="1" lang="zh-CN" altLang="en-US" dirty="0"/>
              <a:t>，但还可以</a:t>
            </a:r>
            <a:endParaRPr kumimoji="1" lang="en-US" altLang="zh-CN" dirty="0"/>
          </a:p>
          <a:p>
            <a:r>
              <a:rPr kumimoji="1" lang="zh-CN" altLang="en-US" dirty="0"/>
              <a:t>非线性</a:t>
            </a:r>
            <a:r>
              <a:rPr kumimoji="1" lang="en-US" altLang="zh-CN" dirty="0"/>
              <a:t>-》</a:t>
            </a:r>
            <a:r>
              <a:rPr kumimoji="1" lang="zh-CN" altLang="en-US" dirty="0"/>
              <a:t>两类数据，用一个超平面没法分开，训练集正确率接近</a:t>
            </a:r>
            <a:r>
              <a:rPr kumimoji="1" lang="en-US" altLang="zh-CN" dirty="0"/>
              <a:t>50%</a:t>
            </a:r>
          </a:p>
        </p:txBody>
      </p:sp>
      <p:sp>
        <p:nvSpPr>
          <p:cNvPr id="4" name="灯片编号占位符 3"/>
          <p:cNvSpPr>
            <a:spLocks noGrp="1"/>
          </p:cNvSpPr>
          <p:nvPr>
            <p:ph type="sldNum" sz="quarter" idx="5"/>
          </p:nvPr>
        </p:nvSpPr>
        <p:spPr/>
        <p:txBody>
          <a:bodyPr/>
          <a:lstStyle/>
          <a:p>
            <a:fld id="{D50AF6DD-051E-413B-8808-23D5AB3BD9E4}" type="slidenum">
              <a:rPr lang="en-US" smtClean="0"/>
              <a:pPr/>
              <a:t>11</a:t>
            </a:fld>
            <a:endParaRPr lang="en-US"/>
          </a:p>
        </p:txBody>
      </p:sp>
    </p:spTree>
    <p:extLst>
      <p:ext uri="{BB962C8B-B14F-4D97-AF65-F5344CB8AC3E}">
        <p14:creationId xmlns:p14="http://schemas.microsoft.com/office/powerpoint/2010/main" val="9483315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大家觉得那条线分割的好？</a:t>
            </a:r>
            <a:endParaRPr kumimoji="1" lang="en-US" altLang="zh-CN" dirty="0"/>
          </a:p>
          <a:p>
            <a:endParaRPr kumimoji="1" lang="en-US" altLang="zh-CN" dirty="0"/>
          </a:p>
          <a:p>
            <a:r>
              <a:rPr kumimoji="1" lang="zh-CN" altLang="en-US" dirty="0"/>
              <a:t>这个线怎么找呢？</a:t>
            </a:r>
            <a:endParaRPr kumimoji="1" lang="en-US" altLang="zh-CN" dirty="0"/>
          </a:p>
          <a:p>
            <a:endParaRPr kumimoji="1" lang="en-US" altLang="zh-CN" dirty="0"/>
          </a:p>
          <a:p>
            <a:r>
              <a:rPr kumimoji="1" lang="en-US" altLang="zh-CN" dirty="0"/>
              <a:t>B</a:t>
            </a:r>
            <a:r>
              <a:rPr kumimoji="1" lang="zh-CN" altLang="en-US" dirty="0"/>
              <a:t>比</a:t>
            </a:r>
            <a:r>
              <a:rPr kumimoji="1" lang="en-US" altLang="zh-CN" dirty="0"/>
              <a:t>A</a:t>
            </a:r>
            <a:r>
              <a:rPr kumimoji="1" lang="zh-CN" altLang="en-US" dirty="0"/>
              <a:t>和</a:t>
            </a:r>
            <a:r>
              <a:rPr kumimoji="1" lang="en-US" altLang="zh-CN" dirty="0"/>
              <a:t>C</a:t>
            </a:r>
            <a:r>
              <a:rPr kumimoji="1" lang="zh-CN" altLang="en-US" dirty="0"/>
              <a:t>好么？</a:t>
            </a:r>
            <a:r>
              <a:rPr kumimoji="1" lang="en-US" altLang="zh-CN" dirty="0"/>
              <a:t>B</a:t>
            </a:r>
            <a:r>
              <a:rPr kumimoji="1" lang="zh-CN" altLang="en-US" dirty="0"/>
              <a:t>在中间位置</a:t>
            </a:r>
            <a:endParaRPr kumimoji="1" lang="en-US" altLang="zh-CN" dirty="0"/>
          </a:p>
          <a:p>
            <a:r>
              <a:rPr kumimoji="1" lang="en-US" altLang="zh-CN" dirty="0"/>
              <a:t>D</a:t>
            </a:r>
            <a:r>
              <a:rPr kumimoji="1" lang="zh-CN" altLang="en-US" dirty="0"/>
              <a:t>也在中间位置，为什么</a:t>
            </a:r>
            <a:r>
              <a:rPr kumimoji="1" lang="en-US" altLang="zh-CN" dirty="0"/>
              <a:t>B</a:t>
            </a:r>
            <a:r>
              <a:rPr kumimoji="1" lang="zh-CN" altLang="en-US" dirty="0"/>
              <a:t>比</a:t>
            </a:r>
            <a:r>
              <a:rPr kumimoji="1" lang="en-US" altLang="zh-CN" dirty="0"/>
              <a:t>D</a:t>
            </a:r>
            <a:r>
              <a:rPr kumimoji="1" lang="zh-CN" altLang="en-US" dirty="0"/>
              <a:t>好？</a:t>
            </a:r>
          </a:p>
        </p:txBody>
      </p:sp>
      <p:sp>
        <p:nvSpPr>
          <p:cNvPr id="4" name="灯片编号占位符 3"/>
          <p:cNvSpPr>
            <a:spLocks noGrp="1"/>
          </p:cNvSpPr>
          <p:nvPr>
            <p:ph type="sldNum" sz="quarter" idx="5"/>
          </p:nvPr>
        </p:nvSpPr>
        <p:spPr/>
        <p:txBody>
          <a:bodyPr/>
          <a:lstStyle/>
          <a:p>
            <a:fld id="{D50AF6DD-051E-413B-8808-23D5AB3BD9E4}" type="slidenum">
              <a:rPr lang="en-US" smtClean="0"/>
              <a:pPr/>
              <a:t>12</a:t>
            </a:fld>
            <a:endParaRPr lang="en-US"/>
          </a:p>
        </p:txBody>
      </p:sp>
    </p:spTree>
    <p:extLst>
      <p:ext uri="{BB962C8B-B14F-4D97-AF65-F5344CB8AC3E}">
        <p14:creationId xmlns:p14="http://schemas.microsoft.com/office/powerpoint/2010/main" val="15770131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注意，这里正类用</a:t>
            </a:r>
            <a:r>
              <a:rPr kumimoji="1" lang="en-US" altLang="zh-CN" dirty="0"/>
              <a:t>+1</a:t>
            </a:r>
            <a:r>
              <a:rPr kumimoji="1" lang="zh-CN" altLang="en-US" dirty="0"/>
              <a:t>表示，负类用</a:t>
            </a:r>
            <a:r>
              <a:rPr kumimoji="1" lang="en-US" altLang="zh-CN" dirty="0"/>
              <a:t>-1</a:t>
            </a:r>
            <a:r>
              <a:rPr kumimoji="1" lang="zh-CN" altLang="en-US" dirty="0"/>
              <a:t>表示</a:t>
            </a:r>
          </a:p>
        </p:txBody>
      </p:sp>
      <p:sp>
        <p:nvSpPr>
          <p:cNvPr id="4" name="灯片编号占位符 3"/>
          <p:cNvSpPr>
            <a:spLocks noGrp="1"/>
          </p:cNvSpPr>
          <p:nvPr>
            <p:ph type="sldNum" sz="quarter" idx="5"/>
          </p:nvPr>
        </p:nvSpPr>
        <p:spPr/>
        <p:txBody>
          <a:bodyPr/>
          <a:lstStyle/>
          <a:p>
            <a:fld id="{D50AF6DD-051E-413B-8808-23D5AB3BD9E4}" type="slidenum">
              <a:rPr lang="en-US" smtClean="0"/>
              <a:pPr/>
              <a:t>13</a:t>
            </a:fld>
            <a:endParaRPr lang="en-US"/>
          </a:p>
        </p:txBody>
      </p:sp>
    </p:spTree>
    <p:extLst>
      <p:ext uri="{BB962C8B-B14F-4D97-AF65-F5344CB8AC3E}">
        <p14:creationId xmlns:p14="http://schemas.microsoft.com/office/powerpoint/2010/main" val="25519843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幻灯片图像占位符 1"/>
          <p:cNvSpPr>
            <a:spLocks noGrp="1" noRot="1" noChangeAspect="1" noTextEdit="1"/>
          </p:cNvSpPr>
          <p:nvPr>
            <p:ph type="sldImg"/>
          </p:nvPr>
        </p:nvSpPr>
        <p:spPr>
          <a:ln/>
        </p:spPr>
      </p:sp>
      <p:sp>
        <p:nvSpPr>
          <p:cNvPr id="142339" name="备注占位符 2"/>
          <p:cNvSpPr>
            <a:spLocks noGrp="1"/>
          </p:cNvSpPr>
          <p:nvPr>
            <p:ph type="body" idx="1"/>
          </p:nvPr>
        </p:nvSpPr>
        <p:spPr>
          <a:noFill/>
          <a:ln/>
        </p:spPr>
        <p:txBody>
          <a:bodyPr/>
          <a:lstStyle/>
          <a:p>
            <a:r>
              <a:rPr lang="zh-CN" altLang="en-US" dirty="0">
                <a:ea typeface="黑体" pitchFamily="49" charset="-122"/>
              </a:rPr>
              <a:t>一旦样本数据确定后，分割超平面之和几个关键点有关，这几个样本支撑了这个分割模型，叫做支持向量。</a:t>
            </a:r>
            <a:endParaRPr lang="en-US" altLang="zh-CN" dirty="0">
              <a:ea typeface="黑体" pitchFamily="49" charset="-122"/>
            </a:endParaRPr>
          </a:p>
          <a:p>
            <a:endParaRPr lang="en-US" altLang="zh-CN" dirty="0">
              <a:ea typeface="黑体" pitchFamily="49" charset="-122"/>
            </a:endParaRPr>
          </a:p>
          <a:p>
            <a:r>
              <a:rPr lang="zh-CN" altLang="en-US" dirty="0">
                <a:ea typeface="黑体" pitchFamily="49" charset="-122"/>
              </a:rPr>
              <a:t>超平面方程就是</a:t>
            </a:r>
            <a:r>
              <a:rPr lang="en-US" altLang="zh-CN" dirty="0" err="1">
                <a:ea typeface="黑体" pitchFamily="49" charset="-122"/>
              </a:rPr>
              <a:t>wx+b</a:t>
            </a:r>
            <a:r>
              <a:rPr lang="en-US" altLang="zh-CN" dirty="0">
                <a:ea typeface="黑体" pitchFamily="49" charset="-122"/>
              </a:rPr>
              <a:t>=0</a:t>
            </a:r>
          </a:p>
          <a:p>
            <a:endParaRPr lang="en-US" altLang="zh-CN" dirty="0">
              <a:ea typeface="黑体" pitchFamily="49" charset="-122"/>
            </a:endParaRPr>
          </a:p>
          <a:p>
            <a:r>
              <a:rPr lang="zh-CN" altLang="en-US" dirty="0">
                <a:ea typeface="黑体" pitchFamily="49" charset="-122"/>
              </a:rPr>
              <a:t>间隔是</a:t>
            </a:r>
            <a:r>
              <a:rPr lang="en-US" altLang="zh-CN" dirty="0">
                <a:ea typeface="黑体" pitchFamily="49" charset="-122"/>
              </a:rPr>
              <a:t>2</a:t>
            </a:r>
            <a:r>
              <a:rPr lang="zh-CN" altLang="en-US" dirty="0">
                <a:ea typeface="黑体" pitchFamily="49" charset="-122"/>
              </a:rPr>
              <a:t>除以范数。为什么是这个？其实是数据和模型归一化后的结果，后面会讲</a:t>
            </a:r>
            <a:endParaRPr lang="en-US" altLang="zh-CN" dirty="0">
              <a:ea typeface="黑体" pitchFamily="49" charset="-122"/>
            </a:endParaRPr>
          </a:p>
          <a:p>
            <a:endParaRPr lang="en-US" altLang="zh-CN" dirty="0">
              <a:ea typeface="黑体" pitchFamily="49" charset="-122"/>
            </a:endParaRPr>
          </a:p>
          <a:p>
            <a:r>
              <a:rPr lang="zh-CN" altLang="en-US" dirty="0">
                <a:ea typeface="黑体" pitchFamily="49" charset="-122"/>
              </a:rPr>
              <a:t>支持向量机：决定最好的分界线的样本叫做支持向量，支持向量机指用支持向量构建的分类器</a:t>
            </a:r>
            <a:endParaRPr lang="en-US" altLang="zh-CN" dirty="0">
              <a:ea typeface="黑体" pitchFamily="49" charset="-122"/>
            </a:endParaRPr>
          </a:p>
        </p:txBody>
      </p:sp>
      <p:sp>
        <p:nvSpPr>
          <p:cNvPr id="142340" name="灯片编号占位符 3"/>
          <p:cNvSpPr>
            <a:spLocks noGrp="1"/>
          </p:cNvSpPr>
          <p:nvPr>
            <p:ph type="sldNum" sz="quarter" idx="5"/>
          </p:nvPr>
        </p:nvSpPr>
        <p:spPr>
          <a:noFill/>
        </p:spPr>
        <p:txBody>
          <a:bodyPr/>
          <a:lstStyle/>
          <a:p>
            <a:fld id="{52F5BE0E-A075-4D50-BA71-FCEDE201F743}" type="slidenum">
              <a:rPr lang="en-US" altLang="zh-CN" smtClean="0">
                <a:ea typeface="黑体" pitchFamily="49" charset="-122"/>
              </a:rPr>
              <a:pPr/>
              <a:t>14</a:t>
            </a:fld>
            <a:endParaRPr lang="en-US" altLang="zh-CN">
              <a:ea typeface="黑体" pitchFamily="49" charset="-122"/>
            </a:endParaRPr>
          </a:p>
        </p:txBody>
      </p:sp>
    </p:spTree>
    <p:extLst>
      <p:ext uri="{BB962C8B-B14F-4D97-AF65-F5344CB8AC3E}">
        <p14:creationId xmlns:p14="http://schemas.microsoft.com/office/powerpoint/2010/main" val="25451501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幻灯片图像占位符 1"/>
          <p:cNvSpPr>
            <a:spLocks noGrp="1" noRot="1" noChangeAspect="1" noTextEdit="1"/>
          </p:cNvSpPr>
          <p:nvPr>
            <p:ph type="sldImg"/>
          </p:nvPr>
        </p:nvSpPr>
        <p:spPr>
          <a:ln/>
        </p:spPr>
      </p:sp>
      <p:sp>
        <p:nvSpPr>
          <p:cNvPr id="142339" name="备注占位符 2"/>
          <p:cNvSpPr>
            <a:spLocks noGrp="1"/>
          </p:cNvSpPr>
          <p:nvPr>
            <p:ph type="body" idx="1"/>
          </p:nvPr>
        </p:nvSpPr>
        <p:spPr>
          <a:noFill/>
          <a:ln/>
        </p:spPr>
        <p:txBody>
          <a:bodyPr/>
          <a:lstStyle/>
          <a:p>
            <a:r>
              <a:rPr lang="zh-CN" altLang="en-US" dirty="0">
                <a:ea typeface="黑体" pitchFamily="49" charset="-122"/>
              </a:rPr>
              <a:t>下面引出函数间隔，距离分界面有远有近</a:t>
            </a:r>
            <a:endParaRPr lang="en-US" altLang="zh-CN" dirty="0">
              <a:ea typeface="黑体" pitchFamily="49" charset="-122"/>
            </a:endParaRPr>
          </a:p>
          <a:p>
            <a:endParaRPr lang="en-US" altLang="zh-CN" dirty="0">
              <a:ea typeface="黑体" pitchFamily="49" charset="-122"/>
            </a:endParaRPr>
          </a:p>
          <a:p>
            <a:r>
              <a:rPr lang="en-US" altLang="zh-CN" dirty="0" err="1">
                <a:ea typeface="黑体" pitchFamily="49" charset="-122"/>
              </a:rPr>
              <a:t>Wx+b</a:t>
            </a:r>
            <a:r>
              <a:rPr lang="zh-CN" altLang="en-US" dirty="0">
                <a:ea typeface="黑体" pitchFamily="49" charset="-122"/>
              </a:rPr>
              <a:t>的值就是一个点到分界线的距离</a:t>
            </a:r>
            <a:endParaRPr lang="en-US" altLang="zh-CN" dirty="0">
              <a:ea typeface="黑体" pitchFamily="49" charset="-122"/>
            </a:endParaRPr>
          </a:p>
          <a:p>
            <a:r>
              <a:rPr lang="zh-CN" altLang="en-US" dirty="0">
                <a:ea typeface="黑体" pitchFamily="49" charset="-122"/>
              </a:rPr>
              <a:t>图中的“</a:t>
            </a:r>
            <a:r>
              <a:rPr lang="en-US" altLang="zh-CN" dirty="0">
                <a:ea typeface="黑体" pitchFamily="49" charset="-122"/>
              </a:rPr>
              <a:t>-</a:t>
            </a:r>
            <a:r>
              <a:rPr lang="zh-CN" altLang="en-US" dirty="0">
                <a:ea typeface="黑体" pitchFamily="49" charset="-122"/>
              </a:rPr>
              <a:t>（</a:t>
            </a:r>
            <a:r>
              <a:rPr lang="en-US" altLang="zh-CN" dirty="0" err="1">
                <a:ea typeface="黑体" pitchFamily="49" charset="-122"/>
              </a:rPr>
              <a:t>wx+b</a:t>
            </a:r>
            <a:r>
              <a:rPr lang="zh-CN" altLang="en-US" dirty="0">
                <a:ea typeface="黑体" pitchFamily="49" charset="-122"/>
              </a:rPr>
              <a:t>）”是因为距离是正数，</a:t>
            </a:r>
            <a:r>
              <a:rPr lang="en-US" altLang="zh-CN" dirty="0" err="1">
                <a:ea typeface="黑体" pitchFamily="49" charset="-122"/>
              </a:rPr>
              <a:t>wx+b</a:t>
            </a:r>
            <a:r>
              <a:rPr lang="zh-CN" altLang="en-US" dirty="0">
                <a:ea typeface="黑体" pitchFamily="49" charset="-122"/>
              </a:rPr>
              <a:t>小于</a:t>
            </a:r>
            <a:r>
              <a:rPr lang="en-US" altLang="zh-CN" dirty="0">
                <a:ea typeface="黑体" pitchFamily="49" charset="-122"/>
              </a:rPr>
              <a:t>0</a:t>
            </a:r>
            <a:r>
              <a:rPr lang="zh-CN" altLang="en-US" dirty="0">
                <a:ea typeface="黑体" pitchFamily="49" charset="-122"/>
              </a:rPr>
              <a:t>的时候加个符号</a:t>
            </a:r>
          </a:p>
        </p:txBody>
      </p:sp>
      <p:sp>
        <p:nvSpPr>
          <p:cNvPr id="142340" name="灯片编号占位符 3"/>
          <p:cNvSpPr>
            <a:spLocks noGrp="1"/>
          </p:cNvSpPr>
          <p:nvPr>
            <p:ph type="sldNum" sz="quarter" idx="5"/>
          </p:nvPr>
        </p:nvSpPr>
        <p:spPr>
          <a:noFill/>
        </p:spPr>
        <p:txBody>
          <a:bodyPr/>
          <a:lstStyle/>
          <a:p>
            <a:fld id="{52F5BE0E-A075-4D50-BA71-FCEDE201F743}" type="slidenum">
              <a:rPr lang="en-US" altLang="zh-CN" smtClean="0">
                <a:ea typeface="黑体" pitchFamily="49" charset="-122"/>
              </a:rPr>
              <a:pPr/>
              <a:t>15</a:t>
            </a:fld>
            <a:endParaRPr lang="en-US" altLang="zh-CN">
              <a:ea typeface="黑体" pitchFamily="49" charset="-122"/>
            </a:endParaRPr>
          </a:p>
        </p:txBody>
      </p:sp>
    </p:spTree>
    <p:extLst>
      <p:ext uri="{BB962C8B-B14F-4D97-AF65-F5344CB8AC3E}">
        <p14:creationId xmlns:p14="http://schemas.microsoft.com/office/powerpoint/2010/main" val="29397330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函数间隔：超平面到某一个样本的距离</a:t>
            </a:r>
            <a:endParaRPr kumimoji="1" lang="en-US" altLang="zh-CN" dirty="0"/>
          </a:p>
          <a:p>
            <a:endParaRPr kumimoji="1" lang="en-US" altLang="zh-CN" dirty="0"/>
          </a:p>
          <a:p>
            <a:r>
              <a:rPr kumimoji="1" lang="zh-CN" altLang="en-US" dirty="0"/>
              <a:t>但是到此，函数间隔还不是一个真实的距离</a:t>
            </a:r>
            <a:endParaRPr kumimoji="1" lang="en-US" altLang="zh-CN" dirty="0"/>
          </a:p>
          <a:p>
            <a:r>
              <a:rPr kumimoji="1" lang="zh-CN" altLang="en-US" dirty="0"/>
              <a:t>比如</a:t>
            </a:r>
            <a:r>
              <a:rPr kumimoji="1" lang="en-US" altLang="zh-CN" dirty="0"/>
              <a:t>k(</a:t>
            </a:r>
            <a:r>
              <a:rPr kumimoji="1" lang="en-US" altLang="zh-CN" dirty="0" err="1"/>
              <a:t>wx+b</a:t>
            </a:r>
            <a:r>
              <a:rPr kumimoji="1" lang="en-US" altLang="zh-CN" dirty="0"/>
              <a:t>)=0</a:t>
            </a:r>
            <a:r>
              <a:rPr kumimoji="1" lang="zh-CN" altLang="en-US" dirty="0"/>
              <a:t> 和</a:t>
            </a:r>
            <a:r>
              <a:rPr kumimoji="1" lang="en-US" altLang="zh-CN" dirty="0" err="1"/>
              <a:t>wx+b</a:t>
            </a:r>
            <a:r>
              <a:rPr kumimoji="1" lang="en-US" altLang="zh-CN" dirty="0"/>
              <a:t>=0</a:t>
            </a:r>
            <a:r>
              <a:rPr kumimoji="1" lang="zh-CN" altLang="en-US" dirty="0"/>
              <a:t>对应的是同一个超平面，但这个算出的函数间隔变成了</a:t>
            </a:r>
            <a:r>
              <a:rPr kumimoji="1" lang="en-US" altLang="zh-CN" dirty="0"/>
              <a:t>k</a:t>
            </a:r>
            <a:r>
              <a:rPr kumimoji="1" lang="zh-CN" altLang="en-US" dirty="0"/>
              <a:t>倍</a:t>
            </a:r>
          </a:p>
        </p:txBody>
      </p:sp>
      <p:sp>
        <p:nvSpPr>
          <p:cNvPr id="4" name="灯片编号占位符 3"/>
          <p:cNvSpPr>
            <a:spLocks noGrp="1"/>
          </p:cNvSpPr>
          <p:nvPr>
            <p:ph type="sldNum" sz="quarter" idx="5"/>
          </p:nvPr>
        </p:nvSpPr>
        <p:spPr/>
        <p:txBody>
          <a:bodyPr/>
          <a:lstStyle/>
          <a:p>
            <a:fld id="{D50AF6DD-051E-413B-8808-23D5AB3BD9E4}" type="slidenum">
              <a:rPr lang="en-US" smtClean="0"/>
              <a:pPr/>
              <a:t>16</a:t>
            </a:fld>
            <a:endParaRPr lang="en-US"/>
          </a:p>
        </p:txBody>
      </p:sp>
    </p:spTree>
    <p:extLst>
      <p:ext uri="{BB962C8B-B14F-4D97-AF65-F5344CB8AC3E}">
        <p14:creationId xmlns:p14="http://schemas.microsoft.com/office/powerpoint/2010/main" val="16629635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几何间隔就是归一化后的距离</a:t>
            </a:r>
            <a:endParaRPr kumimoji="1" lang="en-US" altLang="zh-CN" dirty="0"/>
          </a:p>
          <a:p>
            <a:endParaRPr kumimoji="1" lang="en-US" altLang="zh-CN" dirty="0"/>
          </a:p>
          <a:p>
            <a:endParaRPr kumimoji="1" lang="zh-CN" altLang="en-US" dirty="0"/>
          </a:p>
        </p:txBody>
      </p:sp>
      <p:sp>
        <p:nvSpPr>
          <p:cNvPr id="4" name="灯片编号占位符 3"/>
          <p:cNvSpPr>
            <a:spLocks noGrp="1"/>
          </p:cNvSpPr>
          <p:nvPr>
            <p:ph type="sldNum" sz="quarter" idx="5"/>
          </p:nvPr>
        </p:nvSpPr>
        <p:spPr/>
        <p:txBody>
          <a:bodyPr/>
          <a:lstStyle/>
          <a:p>
            <a:fld id="{D50AF6DD-051E-413B-8808-23D5AB3BD9E4}" type="slidenum">
              <a:rPr lang="en-US" smtClean="0"/>
              <a:pPr/>
              <a:t>17</a:t>
            </a:fld>
            <a:endParaRPr lang="en-US"/>
          </a:p>
        </p:txBody>
      </p:sp>
    </p:spTree>
    <p:extLst>
      <p:ext uri="{BB962C8B-B14F-4D97-AF65-F5344CB8AC3E}">
        <p14:creationId xmlns:p14="http://schemas.microsoft.com/office/powerpoint/2010/main" val="36202856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我们真正关心的是几何间隔</a:t>
            </a:r>
            <a:r>
              <a:rPr kumimoji="1" lang="en-US" altLang="zh-CN" dirty="0"/>
              <a:t>gamma</a:t>
            </a:r>
            <a:endParaRPr kumimoji="1" lang="zh-CN" altLang="en-US" dirty="0"/>
          </a:p>
        </p:txBody>
      </p:sp>
      <p:sp>
        <p:nvSpPr>
          <p:cNvPr id="4" name="灯片编号占位符 3"/>
          <p:cNvSpPr>
            <a:spLocks noGrp="1"/>
          </p:cNvSpPr>
          <p:nvPr>
            <p:ph type="sldNum" sz="quarter" idx="5"/>
          </p:nvPr>
        </p:nvSpPr>
        <p:spPr/>
        <p:txBody>
          <a:bodyPr/>
          <a:lstStyle/>
          <a:p>
            <a:fld id="{D50AF6DD-051E-413B-8808-23D5AB3BD9E4}" type="slidenum">
              <a:rPr lang="en-US" smtClean="0"/>
              <a:pPr/>
              <a:t>18</a:t>
            </a:fld>
            <a:endParaRPr lang="en-US"/>
          </a:p>
        </p:txBody>
      </p:sp>
    </p:spTree>
    <p:extLst>
      <p:ext uri="{BB962C8B-B14F-4D97-AF65-F5344CB8AC3E}">
        <p14:creationId xmlns:p14="http://schemas.microsoft.com/office/powerpoint/2010/main" val="40037012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幻灯片图像占位符 1"/>
          <p:cNvSpPr>
            <a:spLocks noGrp="1" noRot="1" noChangeAspect="1" noTextEdit="1"/>
          </p:cNvSpPr>
          <p:nvPr>
            <p:ph type="sldImg"/>
          </p:nvPr>
        </p:nvSpPr>
        <p:spPr>
          <a:ln/>
        </p:spPr>
      </p:sp>
      <p:sp>
        <p:nvSpPr>
          <p:cNvPr id="143363" name="备注占位符 2"/>
          <p:cNvSpPr>
            <a:spLocks noGrp="1"/>
          </p:cNvSpPr>
          <p:nvPr>
            <p:ph type="body" idx="1"/>
          </p:nvPr>
        </p:nvSpPr>
        <p:spPr>
          <a:noFill/>
          <a:ln/>
        </p:spPr>
        <p:txBody>
          <a:bodyPr/>
          <a:lstStyle/>
          <a:p>
            <a:r>
              <a:rPr lang="zh-CN" altLang="en-US" dirty="0">
                <a:ea typeface="黑体" pitchFamily="49" charset="-122"/>
              </a:rPr>
              <a:t>函数间隔和几何间隔的关系就是后者是前者除以</a:t>
            </a:r>
            <a:r>
              <a:rPr lang="en-US" altLang="zh-CN" dirty="0">
                <a:ea typeface="黑体" pitchFamily="49" charset="-122"/>
              </a:rPr>
              <a:t>W</a:t>
            </a:r>
            <a:r>
              <a:rPr lang="zh-CN" altLang="en-US" dirty="0">
                <a:ea typeface="黑体" pitchFamily="49" charset="-122"/>
              </a:rPr>
              <a:t>的</a:t>
            </a:r>
            <a:r>
              <a:rPr lang="en-US" altLang="zh-CN" dirty="0">
                <a:ea typeface="黑体" pitchFamily="49" charset="-122"/>
              </a:rPr>
              <a:t>L2</a:t>
            </a:r>
            <a:r>
              <a:rPr lang="zh-CN" altLang="en-US" dirty="0">
                <a:ea typeface="黑体" pitchFamily="49" charset="-122"/>
              </a:rPr>
              <a:t>范数</a:t>
            </a:r>
          </a:p>
        </p:txBody>
      </p:sp>
      <p:sp>
        <p:nvSpPr>
          <p:cNvPr id="143364" name="灯片编号占位符 3"/>
          <p:cNvSpPr>
            <a:spLocks noGrp="1"/>
          </p:cNvSpPr>
          <p:nvPr>
            <p:ph type="sldNum" sz="quarter" idx="5"/>
          </p:nvPr>
        </p:nvSpPr>
        <p:spPr>
          <a:noFill/>
        </p:spPr>
        <p:txBody>
          <a:bodyPr/>
          <a:lstStyle/>
          <a:p>
            <a:fld id="{59C136E3-126B-4B9F-A1E1-BA02C669F0A1}" type="slidenum">
              <a:rPr lang="en-US" altLang="zh-CN" smtClean="0">
                <a:ea typeface="黑体" pitchFamily="49" charset="-122"/>
              </a:rPr>
              <a:pPr/>
              <a:t>19</a:t>
            </a:fld>
            <a:endParaRPr lang="en-US" altLang="zh-CN">
              <a:ea typeface="黑体" pitchFamily="49" charset="-122"/>
            </a:endParaRPr>
          </a:p>
        </p:txBody>
      </p:sp>
    </p:spTree>
    <p:extLst>
      <p:ext uri="{BB962C8B-B14F-4D97-AF65-F5344CB8AC3E}">
        <p14:creationId xmlns:p14="http://schemas.microsoft.com/office/powerpoint/2010/main" val="79442475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最大化几何间隔，</a:t>
            </a:r>
            <a:endParaRPr kumimoji="1" lang="en-US" altLang="zh-CN" dirty="0"/>
          </a:p>
          <a:p>
            <a:endParaRPr kumimoji="1" lang="en-US" altLang="zh-CN" dirty="0"/>
          </a:p>
          <a:p>
            <a:r>
              <a:rPr kumimoji="1" lang="zh-CN" altLang="en-US" dirty="0"/>
              <a:t>那什么叫最大化几何间隔？所有数据点的几何间隔的最小值最大</a:t>
            </a:r>
          </a:p>
        </p:txBody>
      </p:sp>
      <p:sp>
        <p:nvSpPr>
          <p:cNvPr id="4" name="灯片编号占位符 3"/>
          <p:cNvSpPr>
            <a:spLocks noGrp="1"/>
          </p:cNvSpPr>
          <p:nvPr>
            <p:ph type="sldNum" sz="quarter" idx="5"/>
          </p:nvPr>
        </p:nvSpPr>
        <p:spPr/>
        <p:txBody>
          <a:bodyPr/>
          <a:lstStyle/>
          <a:p>
            <a:fld id="{D50AF6DD-051E-413B-8808-23D5AB3BD9E4}" type="slidenum">
              <a:rPr lang="en-US" smtClean="0"/>
              <a:pPr/>
              <a:t>20</a:t>
            </a:fld>
            <a:endParaRPr lang="en-US"/>
          </a:p>
        </p:txBody>
      </p:sp>
    </p:spTree>
    <p:extLst>
      <p:ext uri="{BB962C8B-B14F-4D97-AF65-F5344CB8AC3E}">
        <p14:creationId xmlns:p14="http://schemas.microsoft.com/office/powerpoint/2010/main" val="22623931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kumimoji="1" lang="zh-CN" altLang="en-US" dirty="0"/>
                  <a:t>为啥加</a:t>
                </a:r>
                <a:r>
                  <a:rPr kumimoji="1" lang="en-US" altLang="zh-CN" dirty="0"/>
                  <a:t>1/2?</a:t>
                </a:r>
                <a:r>
                  <a:rPr kumimoji="1" lang="zh-CN" altLang="en-US" dirty="0"/>
                  <a:t>为了后续计算方便</a:t>
                </a:r>
                <a:endParaRPr kumimoji="1" lang="en-US" altLang="zh-CN" dirty="0"/>
              </a:p>
              <a:p>
                <a:endParaRPr kumimoji="1" lang="en-US" altLang="zh-CN" dirty="0"/>
              </a:p>
              <a:p>
                <a:pPr/>
                <a14:m>
                  <m:oMathPara xmlns:m="http://schemas.openxmlformats.org/officeDocument/2006/math">
                    <m:oMathParaPr>
                      <m:jc m:val="left"/>
                    </m:oMathParaPr>
                    <m:oMath xmlns:m="http://schemas.openxmlformats.org/officeDocument/2006/math">
                      <m:sSub>
                        <m:sSubPr>
                          <m:ctrlPr>
                            <a:rPr kumimoji="1" lang="en-US" altLang="zh-CN" sz="1200" b="0" i="1" smtClean="0">
                              <a:latin typeface="Cambria Math" panose="02040503050406030204" pitchFamily="18" charset="0"/>
                            </a:rPr>
                          </m:ctrlPr>
                        </m:sSubPr>
                        <m:e>
                          <m:r>
                            <a:rPr kumimoji="1" lang="en-US" altLang="zh-CN" sz="1200" b="0" i="1" smtClean="0">
                              <a:latin typeface="Cambria Math" panose="02040503050406030204" pitchFamily="18" charset="0"/>
                            </a:rPr>
                            <m:t>𝑦</m:t>
                          </m:r>
                        </m:e>
                        <m:sub>
                          <m:r>
                            <a:rPr kumimoji="1" lang="en-US" altLang="zh-CN" sz="1200" b="0" i="1" smtClean="0">
                              <a:latin typeface="Cambria Math" panose="02040503050406030204" pitchFamily="18" charset="0"/>
                            </a:rPr>
                            <m:t>𝑖</m:t>
                          </m:r>
                        </m:sub>
                      </m:sSub>
                      <m:d>
                        <m:dPr>
                          <m:ctrlPr>
                            <a:rPr kumimoji="1" lang="en-US" altLang="zh-CN" sz="1200" b="0" i="1" smtClean="0">
                              <a:latin typeface="Cambria Math" panose="02040503050406030204" pitchFamily="18" charset="0"/>
                            </a:rPr>
                          </m:ctrlPr>
                        </m:dPr>
                        <m:e>
                          <m:r>
                            <a:rPr kumimoji="1" lang="en-US" altLang="zh-CN" sz="1200" b="0" i="1" smtClean="0">
                              <a:latin typeface="Cambria Math" panose="02040503050406030204" pitchFamily="18" charset="0"/>
                            </a:rPr>
                            <m:t>𝑤</m:t>
                          </m:r>
                          <m:sSub>
                            <m:sSubPr>
                              <m:ctrlPr>
                                <a:rPr kumimoji="1" lang="en-US" altLang="zh-CN" sz="1200" i="1">
                                  <a:latin typeface="Cambria Math" panose="02040503050406030204" pitchFamily="18" charset="0"/>
                                </a:rPr>
                              </m:ctrlPr>
                            </m:sSubPr>
                            <m:e>
                              <m:r>
                                <a:rPr kumimoji="1" lang="en-US" altLang="zh-CN" sz="1200" i="1" smtClean="0">
                                  <a:latin typeface="Cambria Math" panose="02040503050406030204" pitchFamily="18" charset="0"/>
                                  <a:ea typeface="Cambria Math" panose="02040503050406030204" pitchFamily="18" charset="0"/>
                                </a:rPr>
                                <m:t>∙</m:t>
                              </m:r>
                              <m:r>
                                <a:rPr kumimoji="1" lang="en-US" altLang="zh-CN" sz="1200" b="0" i="1" smtClean="0">
                                  <a:latin typeface="Cambria Math" panose="02040503050406030204" pitchFamily="18" charset="0"/>
                                  <a:ea typeface="Cambria Math" panose="02040503050406030204" pitchFamily="18" charset="0"/>
                                </a:rPr>
                                <m:t>𝑥</m:t>
                              </m:r>
                            </m:e>
                            <m:sub>
                              <m:r>
                                <a:rPr kumimoji="1" lang="en-US" altLang="zh-CN" sz="1200" i="1">
                                  <a:latin typeface="Cambria Math" panose="02040503050406030204" pitchFamily="18" charset="0"/>
                                </a:rPr>
                                <m:t>𝑖</m:t>
                              </m:r>
                            </m:sub>
                          </m:sSub>
                          <m:r>
                            <a:rPr kumimoji="1" lang="en-US" altLang="zh-CN" sz="1200" b="0" i="1" smtClean="0">
                              <a:latin typeface="Cambria Math" panose="02040503050406030204" pitchFamily="18" charset="0"/>
                            </a:rPr>
                            <m:t>+</m:t>
                          </m:r>
                          <m:r>
                            <a:rPr kumimoji="1" lang="en-US" altLang="zh-CN" sz="1200" b="0" i="1" smtClean="0">
                              <a:latin typeface="Cambria Math" panose="02040503050406030204" pitchFamily="18" charset="0"/>
                            </a:rPr>
                            <m:t>𝑏</m:t>
                          </m:r>
                        </m:e>
                      </m:d>
                      <m:r>
                        <a:rPr kumimoji="1" lang="en-US" altLang="zh-CN" sz="1200" b="0" i="1" smtClean="0">
                          <a:latin typeface="Cambria Math" panose="02040503050406030204" pitchFamily="18" charset="0"/>
                        </a:rPr>
                        <m:t>=</m:t>
                      </m:r>
                      <m:r>
                        <a:rPr kumimoji="1" lang="en-US" altLang="zh-CN" sz="1200" b="0" i="1" smtClean="0">
                          <a:latin typeface="Cambria Math" panose="02040503050406030204" pitchFamily="18" charset="0"/>
                          <a:ea typeface="Cambria Math" panose="02040503050406030204" pitchFamily="18" charset="0"/>
                        </a:rPr>
                        <m:t>1</m:t>
                      </m:r>
                      <m:r>
                        <a:rPr kumimoji="1" lang="zh-CN" altLang="en-US" sz="1200" b="0" i="1" smtClean="0">
                          <a:latin typeface="Cambria Math" panose="02040503050406030204" pitchFamily="18" charset="0"/>
                          <a:ea typeface="Cambria Math" panose="02040503050406030204" pitchFamily="18" charset="0"/>
                        </a:rPr>
                        <m:t>的地方就是支持向量</m:t>
                      </m:r>
                    </m:oMath>
                  </m:oMathPara>
                </a14:m>
                <a:endParaRPr kumimoji="1" lang="en-US" altLang="zh-CN" dirty="0"/>
              </a:p>
              <a:p>
                <a:endParaRPr kumimoji="1" lang="en-US" altLang="zh-CN" dirty="0"/>
              </a:p>
              <a:p>
                <a:r>
                  <a:rPr kumimoji="1" lang="zh-CN" altLang="en-US" dirty="0"/>
                  <a:t>凸函数和凹函数其实是一会儿事，但在机器学习里一般叫凸函数</a:t>
                </a:r>
              </a:p>
            </p:txBody>
          </p:sp>
        </mc:Choice>
        <mc:Fallback xmlns="">
          <p:sp>
            <p:nvSpPr>
              <p:cNvPr id="3" name="备注占位符 2"/>
              <p:cNvSpPr>
                <a:spLocks noGrp="1"/>
              </p:cNvSpPr>
              <p:nvPr>
                <p:ph type="body" idx="1"/>
              </p:nvPr>
            </p:nvSpPr>
            <p:spPr/>
            <p:txBody>
              <a:bodyPr/>
              <a:lstStyle/>
              <a:p>
                <a:r>
                  <a:rPr kumimoji="1" lang="zh-CN" altLang="en-US" dirty="0"/>
                  <a:t>为啥加</a:t>
                </a:r>
                <a:r>
                  <a:rPr kumimoji="1" lang="en-US" altLang="zh-CN" dirty="0"/>
                  <a:t>1/2?</a:t>
                </a:r>
                <a:r>
                  <a:rPr kumimoji="1" lang="zh-CN" altLang="en-US" dirty="0"/>
                  <a:t>为了后续计算方便</a:t>
                </a:r>
                <a:endParaRPr kumimoji="1" lang="en-US" altLang="zh-CN" dirty="0"/>
              </a:p>
              <a:p>
                <a:endParaRPr kumimoji="1" lang="en-US" altLang="zh-CN" dirty="0"/>
              </a:p>
              <a:p>
                <a:pPr/>
                <a:r>
                  <a:rPr kumimoji="1" lang="en-US" altLang="zh-CN" sz="1200" b="0" i="0">
                    <a:latin typeface="Cambria Math" panose="02040503050406030204" pitchFamily="18" charset="0"/>
                  </a:rPr>
                  <a:t>𝑦_𝑖 (𝑤〖</a:t>
                </a:r>
                <a:r>
                  <a:rPr kumimoji="1" lang="en-US" altLang="zh-CN" sz="1200" i="0">
                    <a:latin typeface="Cambria Math" panose="02040503050406030204" pitchFamily="18" charset="0"/>
                    <a:ea typeface="Cambria Math" panose="02040503050406030204" pitchFamily="18" charset="0"/>
                  </a:rPr>
                  <a:t>∙</a:t>
                </a:r>
                <a:r>
                  <a:rPr kumimoji="1" lang="en-US" altLang="zh-CN" sz="1200" b="0" i="0">
                    <a:latin typeface="Cambria Math" panose="02040503050406030204" pitchFamily="18" charset="0"/>
                    <a:ea typeface="Cambria Math" panose="02040503050406030204" pitchFamily="18" charset="0"/>
                  </a:rPr>
                  <a:t>𝑥〗_</a:t>
                </a:r>
                <a:r>
                  <a:rPr kumimoji="1" lang="en-US" altLang="zh-CN" sz="1200" i="0">
                    <a:latin typeface="Cambria Math" panose="02040503050406030204" pitchFamily="18" charset="0"/>
                  </a:rPr>
                  <a:t>𝑖</a:t>
                </a:r>
                <a:r>
                  <a:rPr kumimoji="1" lang="en-US" altLang="zh-CN" sz="1200" b="0" i="0">
                    <a:latin typeface="Cambria Math" panose="02040503050406030204" pitchFamily="18" charset="0"/>
                  </a:rPr>
                  <a:t>+𝑏)=</a:t>
                </a:r>
                <a:r>
                  <a:rPr kumimoji="1" lang="en-US" altLang="zh-CN" sz="1200" b="0" i="0">
                    <a:latin typeface="Cambria Math" panose="02040503050406030204" pitchFamily="18" charset="0"/>
                    <a:ea typeface="Cambria Math" panose="02040503050406030204" pitchFamily="18" charset="0"/>
                  </a:rPr>
                  <a:t>1</a:t>
                </a:r>
                <a:r>
                  <a:rPr kumimoji="1" lang="zh-CN" altLang="en-US" sz="1200" b="0" i="0">
                    <a:latin typeface="Cambria Math" panose="02040503050406030204" pitchFamily="18" charset="0"/>
                    <a:ea typeface="Cambria Math" panose="02040503050406030204" pitchFamily="18" charset="0"/>
                  </a:rPr>
                  <a:t>的地方就是支持向量</a:t>
                </a:r>
                <a:endParaRPr kumimoji="1" lang="en-US" altLang="zh-CN" dirty="0"/>
              </a:p>
              <a:p>
                <a:pPr/>
                <a:endParaRPr kumimoji="1" lang="en-US" altLang="zh-CN" dirty="0"/>
              </a:p>
              <a:p>
                <a:pPr/>
                <a:r>
                  <a:rPr kumimoji="1" lang="zh-CN" altLang="en-US" dirty="0"/>
                  <a:t>凸函数和凹函数其实是一会儿事，但在机器学习里一般叫凸函数</a:t>
                </a:r>
              </a:p>
            </p:txBody>
          </p:sp>
        </mc:Fallback>
      </mc:AlternateContent>
      <p:sp>
        <p:nvSpPr>
          <p:cNvPr id="4" name="灯片编号占位符 3"/>
          <p:cNvSpPr>
            <a:spLocks noGrp="1"/>
          </p:cNvSpPr>
          <p:nvPr>
            <p:ph type="sldNum" sz="quarter" idx="5"/>
          </p:nvPr>
        </p:nvSpPr>
        <p:spPr/>
        <p:txBody>
          <a:bodyPr/>
          <a:lstStyle/>
          <a:p>
            <a:fld id="{D50AF6DD-051E-413B-8808-23D5AB3BD9E4}" type="slidenum">
              <a:rPr lang="en-US" smtClean="0"/>
              <a:pPr/>
              <a:t>21</a:t>
            </a:fld>
            <a:endParaRPr lang="en-US"/>
          </a:p>
        </p:txBody>
      </p:sp>
    </p:spTree>
    <p:extLst>
      <p:ext uri="{BB962C8B-B14F-4D97-AF65-F5344CB8AC3E}">
        <p14:creationId xmlns:p14="http://schemas.microsoft.com/office/powerpoint/2010/main" val="7493758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D50AF6DD-051E-413B-8808-23D5AB3BD9E4}" type="slidenum">
              <a:rPr lang="en-US" smtClean="0"/>
              <a:pPr/>
              <a:t>22</a:t>
            </a:fld>
            <a:endParaRPr lang="en-US"/>
          </a:p>
        </p:txBody>
      </p:sp>
    </p:spTree>
    <p:extLst>
      <p:ext uri="{BB962C8B-B14F-4D97-AF65-F5344CB8AC3E}">
        <p14:creationId xmlns:p14="http://schemas.microsoft.com/office/powerpoint/2010/main" val="373839765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第</a:t>
            </a:r>
            <a:r>
              <a:rPr lang="en-US" altLang="zh-CN" dirty="0"/>
              <a:t>12</a:t>
            </a:r>
            <a:r>
              <a:rPr lang="zh-CN" altLang="en-US" dirty="0"/>
              <a:t>堂课第一节结束</a:t>
            </a:r>
          </a:p>
          <a:p>
            <a:endParaRPr lang="en-US" altLang="zh-CN" dirty="0"/>
          </a:p>
          <a:p>
            <a:r>
              <a:rPr lang="en-US" altLang="zh-CN" dirty="0"/>
              <a:t>N</a:t>
            </a:r>
            <a:r>
              <a:rPr lang="zh-CN" altLang="en-US" dirty="0"/>
              <a:t>是样本数</a:t>
            </a:r>
            <a:endParaRPr lang="en-US" altLang="zh-CN" dirty="0"/>
          </a:p>
          <a:p>
            <a:endParaRPr lang="en-US" altLang="zh-CN" dirty="0"/>
          </a:p>
        </p:txBody>
      </p:sp>
      <p:sp>
        <p:nvSpPr>
          <p:cNvPr id="4" name="灯片编号占位符 3"/>
          <p:cNvSpPr>
            <a:spLocks noGrp="1"/>
          </p:cNvSpPr>
          <p:nvPr>
            <p:ph type="sldNum" sz="quarter" idx="10"/>
          </p:nvPr>
        </p:nvSpPr>
        <p:spPr/>
        <p:txBody>
          <a:bodyPr/>
          <a:lstStyle/>
          <a:p>
            <a:fld id="{D50AF6DD-051E-413B-8808-23D5AB3BD9E4}" type="slidenum">
              <a:rPr lang="en-US" smtClean="0"/>
              <a:pPr/>
              <a:t>23</a:t>
            </a:fld>
            <a:endParaRPr lang="en-US"/>
          </a:p>
        </p:txBody>
      </p:sp>
    </p:spTree>
    <p:extLst>
      <p:ext uri="{BB962C8B-B14F-4D97-AF65-F5344CB8AC3E}">
        <p14:creationId xmlns:p14="http://schemas.microsoft.com/office/powerpoint/2010/main" val="322887949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normAutofit/>
              </a:bodyPr>
              <a:lstStyle/>
              <a:p>
                <a:r>
                  <a:rPr lang="en-US" altLang="zh-CN" dirty="0"/>
                  <a:t>L</a:t>
                </a:r>
                <a:r>
                  <a:rPr lang="zh-CN" altLang="en-US" dirty="0"/>
                  <a:t>和原始的式子什么关系呢？</a:t>
                </a:r>
                <a:endParaRPr lang="en-US" altLang="zh-CN" dirty="0"/>
              </a:p>
              <a:p>
                <a:r>
                  <a:rPr lang="zh-CN" altLang="en-US" dirty="0"/>
                  <a:t>当满足约束条件时，红框部分小于</a:t>
                </a:r>
                <a:r>
                  <a:rPr lang="en-US" altLang="zh-CN" dirty="0"/>
                  <a:t>0</a:t>
                </a:r>
                <a:r>
                  <a:rPr lang="zh-CN" altLang="en-US" dirty="0"/>
                  <a:t>，那中</a:t>
                </a:r>
                <a:r>
                  <a:rPr lang="en-US" altLang="zh-CN" dirty="0"/>
                  <a:t>alpha</a:t>
                </a:r>
                <a:r>
                  <a:rPr lang="zh-CN" altLang="en-US" dirty="0"/>
                  <a:t>全是</a:t>
                </a:r>
                <a:r>
                  <a:rPr lang="en-US" altLang="zh-CN" dirty="0"/>
                  <a:t>0</a:t>
                </a:r>
                <a:r>
                  <a:rPr lang="zh-CN" altLang="en-US" dirty="0"/>
                  <a:t>的时候</a:t>
                </a:r>
                <a14:m>
                  <m:oMath xmlns:m="http://schemas.openxmlformats.org/officeDocument/2006/math">
                    <m:func>
                      <m:funcPr>
                        <m:ctrlPr>
                          <a:rPr kumimoji="1" lang="en-US" altLang="zh-CN" sz="1200" i="1" smtClean="0">
                            <a:latin typeface="Cambria Math" panose="02040503050406030204" pitchFamily="18" charset="0"/>
                          </a:rPr>
                        </m:ctrlPr>
                      </m:funcPr>
                      <m:fName>
                        <m:limLow>
                          <m:limLowPr>
                            <m:ctrlPr>
                              <a:rPr kumimoji="1" lang="en-US" altLang="zh-CN" sz="1200" i="1" smtClean="0">
                                <a:latin typeface="Cambria Math" panose="02040503050406030204" pitchFamily="18" charset="0"/>
                              </a:rPr>
                            </m:ctrlPr>
                          </m:limLowPr>
                          <m:e>
                            <m:r>
                              <m:rPr>
                                <m:sty m:val="p"/>
                              </m:rPr>
                              <a:rPr kumimoji="1" lang="en-US" altLang="zh-CN" sz="1200" i="0" smtClean="0">
                                <a:latin typeface="Cambria Math" panose="02040503050406030204" pitchFamily="18" charset="0"/>
                              </a:rPr>
                              <m:t>max</m:t>
                            </m:r>
                          </m:e>
                          <m:lim>
                            <m:r>
                              <a:rPr kumimoji="1" lang="en-US" altLang="zh-CN" sz="1200" i="1">
                                <a:latin typeface="Cambria Math" panose="02040503050406030204" pitchFamily="18" charset="0"/>
                                <a:ea typeface="Cambria Math" panose="02040503050406030204" pitchFamily="18" charset="0"/>
                              </a:rPr>
                              <m:t>𝛼</m:t>
                            </m:r>
                          </m:lim>
                        </m:limLow>
                      </m:fName>
                      <m:e>
                        <m:r>
                          <a:rPr kumimoji="1" lang="en-US" altLang="zh-CN" sz="1200" i="1">
                            <a:latin typeface="Cambria Math" panose="02040503050406030204" pitchFamily="18" charset="0"/>
                          </a:rPr>
                          <m:t>𝐿</m:t>
                        </m:r>
                        <m:d>
                          <m:dPr>
                            <m:ctrlPr>
                              <a:rPr kumimoji="1" lang="en-US" altLang="zh-CN" sz="1200" i="1">
                                <a:latin typeface="Cambria Math" panose="02040503050406030204" pitchFamily="18" charset="0"/>
                              </a:rPr>
                            </m:ctrlPr>
                          </m:dPr>
                          <m:e>
                            <m:r>
                              <a:rPr kumimoji="1" lang="en-US" altLang="zh-CN" sz="1200" i="1">
                                <a:latin typeface="Cambria Math" panose="02040503050406030204" pitchFamily="18" charset="0"/>
                              </a:rPr>
                              <m:t>𝑤</m:t>
                            </m:r>
                            <m:r>
                              <a:rPr kumimoji="1" lang="en-US" altLang="zh-CN" sz="1200" i="1">
                                <a:latin typeface="Cambria Math" panose="02040503050406030204" pitchFamily="18" charset="0"/>
                              </a:rPr>
                              <m:t>,</m:t>
                            </m:r>
                            <m:r>
                              <a:rPr kumimoji="1" lang="en-US" altLang="zh-CN" sz="1200" i="1">
                                <a:latin typeface="Cambria Math" panose="02040503050406030204" pitchFamily="18" charset="0"/>
                              </a:rPr>
                              <m:t>𝑏</m:t>
                            </m:r>
                            <m:r>
                              <a:rPr kumimoji="1" lang="en-US" altLang="zh-CN" sz="1200" i="1">
                                <a:latin typeface="Cambria Math" panose="02040503050406030204" pitchFamily="18" charset="0"/>
                              </a:rPr>
                              <m:t>,</m:t>
                            </m:r>
                            <m:r>
                              <a:rPr kumimoji="1" lang="en-US" altLang="zh-CN" sz="1200" i="1">
                                <a:latin typeface="Cambria Math" panose="02040503050406030204" pitchFamily="18" charset="0"/>
                                <a:ea typeface="Cambria Math" panose="02040503050406030204" pitchFamily="18" charset="0"/>
                              </a:rPr>
                              <m:t>𝛼</m:t>
                            </m:r>
                          </m:e>
                        </m:d>
                      </m:e>
                    </m:func>
                  </m:oMath>
                </a14:m>
                <a:r>
                  <a:rPr lang="zh-CN" altLang="en-US" dirty="0"/>
                  <a:t>最大，正好就是</a:t>
                </a:r>
                <a:r>
                  <a:rPr lang="en-US" altLang="zh-CN" dirty="0"/>
                  <a:t>1/2</a:t>
                </a:r>
                <a:r>
                  <a:rPr lang="zh-CN" altLang="en-US" baseline="0" dirty="0"/>
                  <a:t> </a:t>
                </a:r>
                <a:r>
                  <a:rPr lang="en-US" altLang="zh-CN" baseline="0" dirty="0"/>
                  <a:t>||w||^2</a:t>
                </a:r>
                <a:endParaRPr lang="en-US" altLang="zh-CN" dirty="0"/>
              </a:p>
              <a:p>
                <a:r>
                  <a:rPr lang="zh-CN" altLang="en-US" dirty="0"/>
                  <a:t>当不满足约束时，红框部分大于</a:t>
                </a:r>
                <a:r>
                  <a:rPr lang="en-US" altLang="zh-CN" dirty="0"/>
                  <a:t>0</a:t>
                </a:r>
                <a:r>
                  <a:rPr lang="zh-CN" altLang="en-US" dirty="0"/>
                  <a:t>，那就是</a:t>
                </a:r>
                <a14:m>
                  <m:oMath xmlns:m="http://schemas.openxmlformats.org/officeDocument/2006/math">
                    <m:func>
                      <m:funcPr>
                        <m:ctrlPr>
                          <a:rPr kumimoji="1" lang="en-US" altLang="zh-CN" sz="1200" i="1" smtClean="0">
                            <a:latin typeface="Cambria Math" panose="02040503050406030204" pitchFamily="18" charset="0"/>
                          </a:rPr>
                        </m:ctrlPr>
                      </m:funcPr>
                      <m:fName>
                        <m:limLow>
                          <m:limLowPr>
                            <m:ctrlPr>
                              <a:rPr kumimoji="1" lang="en-US" altLang="zh-CN" sz="1200" i="1" smtClean="0">
                                <a:latin typeface="Cambria Math" panose="02040503050406030204" pitchFamily="18" charset="0"/>
                              </a:rPr>
                            </m:ctrlPr>
                          </m:limLowPr>
                          <m:e>
                            <m:r>
                              <m:rPr>
                                <m:sty m:val="p"/>
                              </m:rPr>
                              <a:rPr kumimoji="1" lang="en-US" altLang="zh-CN" sz="1200" i="0" smtClean="0">
                                <a:latin typeface="Cambria Math" panose="02040503050406030204" pitchFamily="18" charset="0"/>
                              </a:rPr>
                              <m:t>max</m:t>
                            </m:r>
                          </m:e>
                          <m:lim>
                            <m:r>
                              <a:rPr kumimoji="1" lang="en-US" altLang="zh-CN" sz="1200" i="1">
                                <a:latin typeface="Cambria Math" panose="02040503050406030204" pitchFamily="18" charset="0"/>
                                <a:ea typeface="Cambria Math" panose="02040503050406030204" pitchFamily="18" charset="0"/>
                              </a:rPr>
                              <m:t>𝛼</m:t>
                            </m:r>
                          </m:lim>
                        </m:limLow>
                      </m:fName>
                      <m:e>
                        <m:r>
                          <a:rPr kumimoji="1" lang="en-US" altLang="zh-CN" sz="1200" i="1">
                            <a:latin typeface="Cambria Math" panose="02040503050406030204" pitchFamily="18" charset="0"/>
                          </a:rPr>
                          <m:t>𝐿</m:t>
                        </m:r>
                        <m:d>
                          <m:dPr>
                            <m:ctrlPr>
                              <a:rPr kumimoji="1" lang="en-US" altLang="zh-CN" sz="1200" i="1">
                                <a:latin typeface="Cambria Math" panose="02040503050406030204" pitchFamily="18" charset="0"/>
                              </a:rPr>
                            </m:ctrlPr>
                          </m:dPr>
                          <m:e>
                            <m:r>
                              <a:rPr kumimoji="1" lang="en-US" altLang="zh-CN" sz="1200" i="1">
                                <a:latin typeface="Cambria Math" panose="02040503050406030204" pitchFamily="18" charset="0"/>
                              </a:rPr>
                              <m:t>𝑤</m:t>
                            </m:r>
                            <m:r>
                              <a:rPr kumimoji="1" lang="en-US" altLang="zh-CN" sz="1200" i="1">
                                <a:latin typeface="Cambria Math" panose="02040503050406030204" pitchFamily="18" charset="0"/>
                              </a:rPr>
                              <m:t>,</m:t>
                            </m:r>
                            <m:r>
                              <a:rPr kumimoji="1" lang="en-US" altLang="zh-CN" sz="1200" i="1">
                                <a:latin typeface="Cambria Math" panose="02040503050406030204" pitchFamily="18" charset="0"/>
                              </a:rPr>
                              <m:t>𝑏</m:t>
                            </m:r>
                            <m:r>
                              <a:rPr kumimoji="1" lang="en-US" altLang="zh-CN" sz="1200" i="1">
                                <a:latin typeface="Cambria Math" panose="02040503050406030204" pitchFamily="18" charset="0"/>
                              </a:rPr>
                              <m:t>,</m:t>
                            </m:r>
                            <m:r>
                              <a:rPr kumimoji="1" lang="en-US" altLang="zh-CN" sz="1200" i="1">
                                <a:latin typeface="Cambria Math" panose="02040503050406030204" pitchFamily="18" charset="0"/>
                                <a:ea typeface="Cambria Math" panose="02040503050406030204" pitchFamily="18" charset="0"/>
                              </a:rPr>
                              <m:t>𝛼</m:t>
                            </m:r>
                          </m:e>
                        </m:d>
                      </m:e>
                    </m:func>
                  </m:oMath>
                </a14:m>
                <a:r>
                  <a:rPr lang="zh-CN" altLang="en-US" dirty="0"/>
                  <a:t>是无穷了</a:t>
                </a:r>
              </a:p>
            </p:txBody>
          </p:sp>
        </mc:Choice>
        <mc:Fallback xmlns="">
          <p:sp>
            <p:nvSpPr>
              <p:cNvPr id="3" name="备注占位符 2"/>
              <p:cNvSpPr>
                <a:spLocks noGrp="1"/>
              </p:cNvSpPr>
              <p:nvPr>
                <p:ph type="body" idx="1"/>
              </p:nvPr>
            </p:nvSpPr>
            <p:spPr/>
            <p:txBody>
              <a:bodyPr>
                <a:normAutofit/>
              </a:bodyPr>
              <a:lstStyle/>
              <a:p>
                <a:r>
                  <a:rPr lang="en-US" altLang="zh-CN" dirty="0"/>
                  <a:t>L</a:t>
                </a:r>
                <a:r>
                  <a:rPr lang="zh-CN" altLang="en-US" dirty="0"/>
                  <a:t>和原始的式子什么关系呢？</a:t>
                </a:r>
                <a:endParaRPr lang="en-US" altLang="zh-CN" dirty="0"/>
              </a:p>
              <a:p>
                <a:r>
                  <a:rPr lang="zh-CN" altLang="en-US" dirty="0"/>
                  <a:t>当满足约束条件时，红框部分小于</a:t>
                </a:r>
                <a:r>
                  <a:rPr lang="en-US" altLang="zh-CN" dirty="0"/>
                  <a:t>0</a:t>
                </a:r>
                <a:r>
                  <a:rPr lang="zh-CN" altLang="en-US" dirty="0"/>
                  <a:t>，那中</a:t>
                </a:r>
                <a:r>
                  <a:rPr lang="en-US" altLang="zh-CN" dirty="0"/>
                  <a:t>alpha</a:t>
                </a:r>
                <a:r>
                  <a:rPr lang="zh-CN" altLang="en-US" dirty="0"/>
                  <a:t>全是</a:t>
                </a:r>
                <a:r>
                  <a:rPr lang="en-US" altLang="zh-CN" dirty="0"/>
                  <a:t>0</a:t>
                </a:r>
                <a:r>
                  <a:rPr lang="zh-CN" altLang="en-US" dirty="0"/>
                  <a:t>的时候</a:t>
                </a:r>
                <a:r>
                  <a:rPr kumimoji="1" lang="en-US" altLang="zh-CN" sz="1200" i="0">
                    <a:latin typeface="Cambria Math" panose="02040503050406030204" pitchFamily="18" charset="0"/>
                  </a:rPr>
                  <a:t>max┬</a:t>
                </a:r>
                <a:r>
                  <a:rPr kumimoji="1" lang="en-US" altLang="zh-CN" sz="1200" i="0">
                    <a:latin typeface="Cambria Math" panose="02040503050406030204" pitchFamily="18" charset="0"/>
                    <a:ea typeface="Cambria Math" panose="02040503050406030204" pitchFamily="18" charset="0"/>
                  </a:rPr>
                  <a:t>𝛼⁡</a:t>
                </a:r>
                <a:r>
                  <a:rPr kumimoji="1" lang="en-US" altLang="zh-CN" sz="1200" i="0">
                    <a:latin typeface="Cambria Math" panose="02040503050406030204" pitchFamily="18" charset="0"/>
                  </a:rPr>
                  <a:t>𝐿(𝑤,𝑏,</a:t>
                </a:r>
                <a:r>
                  <a:rPr kumimoji="1" lang="en-US" altLang="zh-CN" sz="1200" i="0">
                    <a:latin typeface="Cambria Math" panose="02040503050406030204" pitchFamily="18" charset="0"/>
                    <a:ea typeface="Cambria Math" panose="02040503050406030204" pitchFamily="18" charset="0"/>
                  </a:rPr>
                  <a:t>𝛼)</a:t>
                </a:r>
                <a:r>
                  <a:rPr lang="zh-CN" altLang="en-US" dirty="0"/>
                  <a:t>最大，正好就是</a:t>
                </a:r>
                <a:r>
                  <a:rPr lang="en-US" altLang="zh-CN" dirty="0"/>
                  <a:t>1/2</a:t>
                </a:r>
                <a:r>
                  <a:rPr lang="zh-CN" altLang="en-US" baseline="0" dirty="0"/>
                  <a:t> </a:t>
                </a:r>
                <a:r>
                  <a:rPr lang="en-US" altLang="zh-CN" baseline="0" dirty="0"/>
                  <a:t>||w||^2</a:t>
                </a:r>
                <a:endParaRPr lang="en-US" altLang="zh-CN" dirty="0"/>
              </a:p>
              <a:p>
                <a:r>
                  <a:rPr lang="zh-CN" altLang="en-US" dirty="0"/>
                  <a:t>当不满足约束时，红框部分大于</a:t>
                </a:r>
                <a:r>
                  <a:rPr lang="en-US" altLang="zh-CN" dirty="0"/>
                  <a:t>0</a:t>
                </a:r>
                <a:r>
                  <a:rPr lang="zh-CN" altLang="en-US" dirty="0"/>
                  <a:t>，那就是</a:t>
                </a:r>
                <a:r>
                  <a:rPr kumimoji="1" lang="en-US" altLang="zh-CN" sz="1200" i="0">
                    <a:latin typeface="Cambria Math" panose="02040503050406030204" pitchFamily="18" charset="0"/>
                  </a:rPr>
                  <a:t>max┬</a:t>
                </a:r>
                <a:r>
                  <a:rPr kumimoji="1" lang="en-US" altLang="zh-CN" sz="1200" i="0">
                    <a:latin typeface="Cambria Math" panose="02040503050406030204" pitchFamily="18" charset="0"/>
                    <a:ea typeface="Cambria Math" panose="02040503050406030204" pitchFamily="18" charset="0"/>
                  </a:rPr>
                  <a:t>𝛼⁡</a:t>
                </a:r>
                <a:r>
                  <a:rPr kumimoji="1" lang="en-US" altLang="zh-CN" sz="1200" i="0">
                    <a:latin typeface="Cambria Math" panose="02040503050406030204" pitchFamily="18" charset="0"/>
                  </a:rPr>
                  <a:t>𝐿(𝑤,𝑏,</a:t>
                </a:r>
                <a:r>
                  <a:rPr kumimoji="1" lang="en-US" altLang="zh-CN" sz="1200" i="0">
                    <a:latin typeface="Cambria Math" panose="02040503050406030204" pitchFamily="18" charset="0"/>
                    <a:ea typeface="Cambria Math" panose="02040503050406030204" pitchFamily="18" charset="0"/>
                  </a:rPr>
                  <a:t>𝛼)</a:t>
                </a:r>
                <a:r>
                  <a:rPr lang="zh-CN" altLang="en-US" dirty="0"/>
                  <a:t>是无穷了</a:t>
                </a:r>
              </a:p>
            </p:txBody>
          </p:sp>
        </mc:Fallback>
      </mc:AlternateContent>
      <p:sp>
        <p:nvSpPr>
          <p:cNvPr id="4" name="灯片编号占位符 3"/>
          <p:cNvSpPr>
            <a:spLocks noGrp="1"/>
          </p:cNvSpPr>
          <p:nvPr>
            <p:ph type="sldNum" sz="quarter" idx="10"/>
          </p:nvPr>
        </p:nvSpPr>
        <p:spPr/>
        <p:txBody>
          <a:bodyPr/>
          <a:lstStyle/>
          <a:p>
            <a:fld id="{D50AF6DD-051E-413B-8808-23D5AB3BD9E4}" type="slidenum">
              <a:rPr lang="en-US" smtClean="0"/>
              <a:pPr/>
              <a:t>24</a:t>
            </a:fld>
            <a:endParaRPr lang="en-US"/>
          </a:p>
        </p:txBody>
      </p:sp>
    </p:spTree>
    <p:extLst>
      <p:ext uri="{BB962C8B-B14F-4D97-AF65-F5344CB8AC3E}">
        <p14:creationId xmlns:p14="http://schemas.microsoft.com/office/powerpoint/2010/main" val="227813064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85000" lnSpcReduction="20000"/>
          </a:bodyPr>
          <a:lstStyle/>
          <a:p>
            <a:r>
              <a:rPr lang="zh-CN" altLang="en-US" dirty="0"/>
              <a:t>“最小中的最大”小于等于“最大中的最小”</a:t>
            </a:r>
            <a:endParaRPr lang="en-US" altLang="zh-CN" dirty="0"/>
          </a:p>
          <a:p>
            <a:endParaRPr lang="en-US" altLang="zh-CN" dirty="0"/>
          </a:p>
          <a:p>
            <a:r>
              <a:rPr lang="zh-CN" altLang="en-US" dirty="0"/>
              <a:t>每个班挑出一个同学，</a:t>
            </a:r>
            <a:endParaRPr lang="en-US" altLang="zh-CN" dirty="0"/>
          </a:p>
          <a:p>
            <a:r>
              <a:rPr lang="zh-CN" altLang="en-US" dirty="0"/>
              <a:t>在每个班岁数最大中找一个个子最矮的</a:t>
            </a:r>
            <a:endParaRPr lang="en-US" altLang="zh-CN" dirty="0"/>
          </a:p>
          <a:p>
            <a:r>
              <a:rPr lang="zh-CN" altLang="en-US" dirty="0"/>
              <a:t>在每个班个子最矮中找一个年龄最大的</a:t>
            </a:r>
            <a:endParaRPr lang="en-US" altLang="zh-CN" dirty="0"/>
          </a:p>
          <a:p>
            <a:r>
              <a:rPr lang="zh-CN" altLang="en-US" dirty="0"/>
              <a:t>哪个挑出的同学身高更高？</a:t>
            </a:r>
            <a:endParaRPr lang="en-US" altLang="zh-CN" dirty="0"/>
          </a:p>
          <a:p>
            <a:endParaRPr lang="en-US" altLang="zh-CN" dirty="0"/>
          </a:p>
          <a:p>
            <a:endParaRPr lang="en-US" altLang="zh-CN" dirty="0"/>
          </a:p>
          <a:p>
            <a:r>
              <a:rPr lang="zh-CN" altLang="en-US" dirty="0"/>
              <a:t>最大最小值定理由冯诺依曼提出，他是著名的计算机科学家，这个定理也标志着博弈论的诞生</a:t>
            </a:r>
            <a:endParaRPr lang="en-US" altLang="zh-CN" dirty="0"/>
          </a:p>
          <a:p>
            <a:endParaRPr lang="en-US" altLang="zh-CN" dirty="0"/>
          </a:p>
          <a:p>
            <a:r>
              <a:rPr lang="en-US" altLang="zh-CN" dirty="0"/>
              <a:t>KKT</a:t>
            </a:r>
            <a:r>
              <a:rPr lang="zh-CN" altLang="en-US" dirty="0"/>
              <a:t>是原始论文三个作者的首字母</a:t>
            </a:r>
            <a:endParaRPr lang="en-US" altLang="zh-CN" dirty="0"/>
          </a:p>
          <a:p>
            <a:r>
              <a:rPr lang="en-US" altLang="zh-CN" dirty="0"/>
              <a:t>KKT</a:t>
            </a:r>
            <a:r>
              <a:rPr lang="zh-CN" altLang="en-US" dirty="0"/>
              <a:t>条件：</a:t>
            </a:r>
            <a:endParaRPr lang="en-US" altLang="zh-CN" dirty="0"/>
          </a:p>
          <a:p>
            <a:endParaRPr lang="en-US" altLang="zh-CN" dirty="0"/>
          </a:p>
          <a:p>
            <a:pPr algn="l"/>
            <a:r>
              <a:rPr lang="en-US" altLang="zh-CN" b="0" i="0" u="none" strike="noStrike" dirty="0">
                <a:solidFill>
                  <a:srgbClr val="202122"/>
                </a:solidFill>
                <a:effectLst/>
                <a:latin typeface="Arial" panose="020B0604020202020204" pitchFamily="34" charset="0"/>
              </a:rPr>
              <a:t>Let </a:t>
            </a:r>
            <a:r>
              <a:rPr lang="en-US" altLang="zh-CN" b="0" i="0" u="none" strike="noStrike" dirty="0" err="1">
                <a:solidFill>
                  <a:srgbClr val="202122"/>
                </a:solidFill>
                <a:effectLst/>
                <a:latin typeface="Arial" panose="020B0604020202020204" pitchFamily="34" charset="0"/>
              </a:rPr>
              <a:t>X⊂Rn</a:t>
            </a:r>
            <a:r>
              <a:rPr lang="en-US" altLang="zh-CN" b="0" i="0" u="none" strike="noStrike" dirty="0">
                <a:solidFill>
                  <a:srgbClr val="202122"/>
                </a:solidFill>
                <a:effectLst/>
                <a:latin typeface="Arial" panose="020B0604020202020204" pitchFamily="34" charset="0"/>
              </a:rPr>
              <a:t> and </a:t>
            </a:r>
            <a:r>
              <a:rPr lang="en-US" altLang="zh-CN" b="0" i="0" u="none" strike="noStrike" dirty="0" err="1">
                <a:solidFill>
                  <a:srgbClr val="202122"/>
                </a:solidFill>
                <a:effectLst/>
                <a:latin typeface="Arial" panose="020B0604020202020204" pitchFamily="34" charset="0"/>
              </a:rPr>
              <a:t>Y⊂Rm</a:t>
            </a:r>
            <a:r>
              <a:rPr lang="en-US" altLang="zh-CN" b="0" i="0" u="none" strike="noStrike" dirty="0">
                <a:solidFill>
                  <a:srgbClr val="202122"/>
                </a:solidFill>
                <a:effectLst/>
                <a:latin typeface="Arial" panose="020B0604020202020204" pitchFamily="34" charset="0"/>
              </a:rPr>
              <a:t> be </a:t>
            </a:r>
            <a:r>
              <a:rPr lang="en-US" altLang="zh-CN" b="0" i="0" u="none" strike="noStrike" dirty="0">
                <a:solidFill>
                  <a:srgbClr val="795CB2"/>
                </a:solidFill>
                <a:effectLst/>
                <a:latin typeface="Arial" panose="020B0604020202020204" pitchFamily="34" charset="0"/>
                <a:hlinkClick r:id="rId3" tooltip="Compact space"/>
              </a:rPr>
              <a:t>compact</a:t>
            </a:r>
            <a:r>
              <a:rPr lang="en-US" altLang="zh-CN" b="0" i="0" u="none" strike="noStrike" dirty="0">
                <a:solidFill>
                  <a:srgbClr val="202122"/>
                </a:solidFill>
                <a:effectLst/>
                <a:latin typeface="Arial" panose="020B0604020202020204" pitchFamily="34" charset="0"/>
              </a:rPr>
              <a:t> </a:t>
            </a:r>
            <a:r>
              <a:rPr lang="en-US" altLang="zh-CN" b="0" i="0" u="none" strike="noStrike" dirty="0">
                <a:solidFill>
                  <a:srgbClr val="795CB2"/>
                </a:solidFill>
                <a:effectLst/>
                <a:latin typeface="Arial" panose="020B0604020202020204" pitchFamily="34" charset="0"/>
                <a:hlinkClick r:id="rId4" tooltip="Convex set"/>
              </a:rPr>
              <a:t>convex</a:t>
            </a:r>
            <a:r>
              <a:rPr lang="en-US" altLang="zh-CN" b="0" i="0" u="none" strike="noStrike" dirty="0">
                <a:solidFill>
                  <a:srgbClr val="202122"/>
                </a:solidFill>
                <a:effectLst/>
                <a:latin typeface="Arial" panose="020B0604020202020204" pitchFamily="34" charset="0"/>
              </a:rPr>
              <a:t> sets. If </a:t>
            </a:r>
            <a:r>
              <a:rPr lang="en-US" altLang="zh-CN" b="0" i="0" u="none" strike="noStrike" dirty="0" err="1">
                <a:solidFill>
                  <a:srgbClr val="202122"/>
                </a:solidFill>
                <a:effectLst/>
                <a:latin typeface="Arial" panose="020B0604020202020204" pitchFamily="34" charset="0"/>
              </a:rPr>
              <a:t>f:X×Y→R</a:t>
            </a:r>
            <a:r>
              <a:rPr lang="en-US" altLang="zh-CN" b="0" i="0" u="none" strike="noStrike" dirty="0">
                <a:solidFill>
                  <a:srgbClr val="202122"/>
                </a:solidFill>
                <a:effectLst/>
                <a:latin typeface="Arial" panose="020B0604020202020204" pitchFamily="34" charset="0"/>
              </a:rPr>
              <a:t> is a continuous function that is concave-convex, i.e.</a:t>
            </a:r>
          </a:p>
          <a:p>
            <a:pPr algn="l"/>
            <a:r>
              <a:rPr lang="en-US" altLang="zh-CN" dirty="0">
                <a:effectLst/>
              </a:rPr>
              <a:t>f(⋅,y):X→R</a:t>
            </a:r>
            <a:r>
              <a:rPr lang="en-US" altLang="zh-CN" dirty="0"/>
              <a:t> is </a:t>
            </a:r>
            <a:r>
              <a:rPr lang="en-US" altLang="zh-CN" u="none" strike="noStrike" dirty="0">
                <a:solidFill>
                  <a:srgbClr val="795CB2"/>
                </a:solidFill>
                <a:effectLst/>
                <a:hlinkClick r:id="rId5" tooltip="Concave function"/>
              </a:rPr>
              <a:t>concave</a:t>
            </a:r>
            <a:r>
              <a:rPr lang="en-US" altLang="zh-CN" dirty="0"/>
              <a:t> for fixed </a:t>
            </a:r>
            <a:r>
              <a:rPr lang="en-US" altLang="zh-CN" dirty="0">
                <a:effectLst/>
              </a:rPr>
              <a:t>y</a:t>
            </a:r>
            <a:r>
              <a:rPr lang="en-US" altLang="zh-CN" dirty="0"/>
              <a:t>, </a:t>
            </a:r>
            <a:r>
              <a:rPr lang="en-US" altLang="zh-CN" dirty="0" err="1"/>
              <a:t>and</a:t>
            </a:r>
            <a:r>
              <a:rPr lang="en-US" altLang="zh-CN" dirty="0" err="1">
                <a:effectLst/>
              </a:rPr>
              <a:t>f</a:t>
            </a:r>
            <a:r>
              <a:rPr lang="en-US" altLang="zh-CN" dirty="0">
                <a:effectLst/>
              </a:rPr>
              <a:t>(x,⋅):Y→R</a:t>
            </a:r>
            <a:r>
              <a:rPr lang="en-US" altLang="zh-CN" dirty="0"/>
              <a:t> is </a:t>
            </a:r>
            <a:r>
              <a:rPr lang="en-US" altLang="zh-CN" u="none" strike="noStrike" dirty="0">
                <a:solidFill>
                  <a:srgbClr val="795CB2"/>
                </a:solidFill>
                <a:effectLst/>
                <a:hlinkClick r:id="rId6" tooltip="Convex function"/>
              </a:rPr>
              <a:t>convex</a:t>
            </a:r>
            <a:r>
              <a:rPr lang="en-US" altLang="zh-CN" dirty="0"/>
              <a:t> for fixed </a:t>
            </a:r>
            <a:r>
              <a:rPr lang="en-US" altLang="zh-CN" dirty="0" err="1">
                <a:effectLst/>
              </a:rPr>
              <a:t>x</a:t>
            </a:r>
            <a:r>
              <a:rPr lang="en-US" altLang="zh-CN" dirty="0" err="1"/>
              <a:t>.</a:t>
            </a:r>
            <a:r>
              <a:rPr lang="en-US" altLang="zh-CN" b="0" i="0" u="none" strike="noStrike" dirty="0" err="1">
                <a:solidFill>
                  <a:srgbClr val="202122"/>
                </a:solidFill>
                <a:effectLst/>
                <a:latin typeface="Arial" panose="020B0604020202020204" pitchFamily="34" charset="0"/>
              </a:rPr>
              <a:t>Then</a:t>
            </a:r>
            <a:r>
              <a:rPr lang="en-US" altLang="zh-CN" b="0" i="0" u="none" strike="noStrike" dirty="0">
                <a:solidFill>
                  <a:srgbClr val="202122"/>
                </a:solidFill>
                <a:effectLst/>
                <a:latin typeface="Arial" panose="020B0604020202020204" pitchFamily="34" charset="0"/>
              </a:rPr>
              <a:t> we have that</a:t>
            </a:r>
          </a:p>
          <a:p>
            <a:r>
              <a:rPr lang="en-US" altLang="zh-CN" dirty="0" err="1">
                <a:effectLst/>
              </a:rPr>
              <a:t>maxx∈Xminy∈Yf</a:t>
            </a:r>
            <a:r>
              <a:rPr lang="en-US" altLang="zh-CN" dirty="0">
                <a:effectLst/>
              </a:rPr>
              <a:t>(</a:t>
            </a:r>
            <a:r>
              <a:rPr lang="en-US" altLang="zh-CN" dirty="0" err="1">
                <a:effectLst/>
              </a:rPr>
              <a:t>x,y</a:t>
            </a:r>
            <a:r>
              <a:rPr lang="en-US" altLang="zh-CN" dirty="0">
                <a:effectLst/>
              </a:rPr>
              <a:t>)=</a:t>
            </a:r>
            <a:r>
              <a:rPr lang="en-US" altLang="zh-CN" dirty="0" err="1">
                <a:effectLst/>
              </a:rPr>
              <a:t>miny∈Ymaxx∈Xf</a:t>
            </a:r>
            <a:r>
              <a:rPr lang="en-US" altLang="zh-CN" dirty="0">
                <a:effectLst/>
              </a:rPr>
              <a:t>(</a:t>
            </a:r>
            <a:r>
              <a:rPr lang="en-US" altLang="zh-CN" dirty="0" err="1">
                <a:effectLst/>
              </a:rPr>
              <a:t>x,y</a:t>
            </a:r>
            <a:r>
              <a:rPr lang="en-US" altLang="zh-CN" dirty="0">
                <a:effectLst/>
              </a:rPr>
              <a:t>).</a:t>
            </a:r>
          </a:p>
          <a:p>
            <a:endParaRPr lang="en-US" altLang="zh-CN" dirty="0">
              <a:effectLst/>
            </a:endParaRPr>
          </a:p>
          <a:p>
            <a:pPr algn="l"/>
            <a:r>
              <a:rPr lang="en-US" altLang="zh-CN" b="0" i="0" u="none" strike="noStrike" dirty="0">
                <a:solidFill>
                  <a:srgbClr val="202122"/>
                </a:solidFill>
                <a:effectLst/>
                <a:latin typeface="Arial" panose="020B0604020202020204" pitchFamily="34" charset="0"/>
              </a:rPr>
              <a:t>Define g(z)≜</a:t>
            </a:r>
            <a:r>
              <a:rPr lang="en-US" altLang="zh-CN" b="0" i="0" u="none" strike="noStrike" dirty="0" err="1">
                <a:solidFill>
                  <a:srgbClr val="202122"/>
                </a:solidFill>
                <a:effectLst/>
                <a:latin typeface="Arial" panose="020B0604020202020204" pitchFamily="34" charset="0"/>
              </a:rPr>
              <a:t>infw∈Wf</a:t>
            </a:r>
            <a:r>
              <a:rPr lang="en-US" altLang="zh-CN" b="0" i="0" u="none" strike="noStrike" dirty="0">
                <a:solidFill>
                  <a:srgbClr val="202122"/>
                </a:solidFill>
                <a:effectLst/>
                <a:latin typeface="Arial" panose="020B0604020202020204" pitchFamily="34" charset="0"/>
              </a:rPr>
              <a:t>(</a:t>
            </a:r>
            <a:r>
              <a:rPr lang="en-US" altLang="zh-CN" b="0" i="0" u="none" strike="noStrike" dirty="0" err="1">
                <a:solidFill>
                  <a:srgbClr val="202122"/>
                </a:solidFill>
                <a:effectLst/>
                <a:latin typeface="Arial" panose="020B0604020202020204" pitchFamily="34" charset="0"/>
              </a:rPr>
              <a:t>z,w</a:t>
            </a:r>
            <a:r>
              <a:rPr lang="en-US" altLang="zh-CN" b="0" i="0" u="none" strike="noStrike" dirty="0">
                <a:solidFill>
                  <a:srgbClr val="202122"/>
                </a:solidFill>
                <a:effectLst/>
                <a:latin typeface="Arial" panose="020B0604020202020204" pitchFamily="34" charset="0"/>
              </a:rPr>
              <a:t>) . For all </a:t>
            </a:r>
            <a:r>
              <a:rPr lang="en-US" altLang="zh-CN" b="0" i="0" u="none" strike="noStrike" dirty="0" err="1">
                <a:solidFill>
                  <a:srgbClr val="202122"/>
                </a:solidFill>
                <a:effectLst/>
                <a:latin typeface="Arial" panose="020B0604020202020204" pitchFamily="34" charset="0"/>
              </a:rPr>
              <a:t>z∈Z</a:t>
            </a:r>
            <a:r>
              <a:rPr lang="en-US" altLang="zh-CN" b="0" i="0" u="none" strike="noStrike" dirty="0">
                <a:solidFill>
                  <a:srgbClr val="202122"/>
                </a:solidFill>
                <a:effectLst/>
                <a:latin typeface="Arial" panose="020B0604020202020204" pitchFamily="34" charset="0"/>
              </a:rPr>
              <a:t>, we get  g(z)≤f(</a:t>
            </a:r>
            <a:r>
              <a:rPr lang="en-US" altLang="zh-CN" b="0" i="0" u="none" strike="noStrike" dirty="0" err="1">
                <a:solidFill>
                  <a:srgbClr val="202122"/>
                </a:solidFill>
                <a:effectLst/>
                <a:latin typeface="Arial" panose="020B0604020202020204" pitchFamily="34" charset="0"/>
              </a:rPr>
              <a:t>z,w</a:t>
            </a:r>
            <a:r>
              <a:rPr lang="en-US" altLang="zh-CN" b="0" i="0" u="none" strike="noStrike" dirty="0">
                <a:solidFill>
                  <a:srgbClr val="202122"/>
                </a:solidFill>
                <a:effectLst/>
                <a:latin typeface="Arial" panose="020B0604020202020204" pitchFamily="34" charset="0"/>
              </a:rPr>
              <a:t>) for all </a:t>
            </a:r>
            <a:r>
              <a:rPr lang="en-US" altLang="zh-CN" b="0" i="0" u="none" strike="noStrike" dirty="0" err="1">
                <a:solidFill>
                  <a:srgbClr val="202122"/>
                </a:solidFill>
                <a:effectLst/>
                <a:latin typeface="Arial" panose="020B0604020202020204" pitchFamily="34" charset="0"/>
              </a:rPr>
              <a:t>w∈W</a:t>
            </a:r>
            <a:r>
              <a:rPr lang="en-US" altLang="zh-CN" b="0" i="0" u="none" strike="noStrike" dirty="0">
                <a:solidFill>
                  <a:srgbClr val="202122"/>
                </a:solidFill>
                <a:effectLst/>
                <a:latin typeface="Arial" panose="020B0604020202020204" pitchFamily="34" charset="0"/>
              </a:rPr>
              <a:t> by definition of the infimum being a lower bound. Next, for all </a:t>
            </a:r>
            <a:r>
              <a:rPr lang="en-US" altLang="zh-CN" b="0" i="0" u="none" strike="noStrike" dirty="0" err="1">
                <a:solidFill>
                  <a:srgbClr val="202122"/>
                </a:solidFill>
                <a:effectLst/>
                <a:latin typeface="Arial" panose="020B0604020202020204" pitchFamily="34" charset="0"/>
              </a:rPr>
              <a:t>w∈W</a:t>
            </a:r>
            <a:r>
              <a:rPr lang="en-US" altLang="zh-CN" b="0" i="0" u="none" strike="noStrike" dirty="0">
                <a:solidFill>
                  <a:srgbClr val="202122"/>
                </a:solidFill>
                <a:effectLst/>
                <a:latin typeface="Arial" panose="020B0604020202020204" pitchFamily="34" charset="0"/>
              </a:rPr>
              <a:t>, f(</a:t>
            </a:r>
            <a:r>
              <a:rPr lang="en-US" altLang="zh-CN" b="0" i="0" u="none" strike="noStrike" dirty="0" err="1">
                <a:solidFill>
                  <a:srgbClr val="202122"/>
                </a:solidFill>
                <a:effectLst/>
                <a:latin typeface="Arial" panose="020B0604020202020204" pitchFamily="34" charset="0"/>
              </a:rPr>
              <a:t>z,w</a:t>
            </a:r>
            <a:r>
              <a:rPr lang="en-US" altLang="zh-CN" b="0" i="0" u="none" strike="noStrike" dirty="0">
                <a:solidFill>
                  <a:srgbClr val="202122"/>
                </a:solidFill>
                <a:effectLst/>
                <a:latin typeface="Arial" panose="020B0604020202020204" pitchFamily="34" charset="0"/>
              </a:rPr>
              <a:t>)≤</a:t>
            </a:r>
            <a:r>
              <a:rPr lang="en-US" altLang="zh-CN" b="0" i="0" u="none" strike="noStrike" dirty="0" err="1">
                <a:solidFill>
                  <a:srgbClr val="202122"/>
                </a:solidFill>
                <a:effectLst/>
                <a:latin typeface="Arial" panose="020B0604020202020204" pitchFamily="34" charset="0"/>
              </a:rPr>
              <a:t>supz∈Zf</a:t>
            </a:r>
            <a:r>
              <a:rPr lang="en-US" altLang="zh-CN" b="0" i="0" u="none" strike="noStrike" dirty="0">
                <a:solidFill>
                  <a:srgbClr val="202122"/>
                </a:solidFill>
                <a:effectLst/>
                <a:latin typeface="Arial" panose="020B0604020202020204" pitchFamily="34" charset="0"/>
              </a:rPr>
              <a:t>(</a:t>
            </a:r>
            <a:r>
              <a:rPr lang="en-US" altLang="zh-CN" b="0" i="0" u="none" strike="noStrike" dirty="0" err="1">
                <a:solidFill>
                  <a:srgbClr val="202122"/>
                </a:solidFill>
                <a:effectLst/>
                <a:latin typeface="Arial" panose="020B0604020202020204" pitchFamily="34" charset="0"/>
              </a:rPr>
              <a:t>z,w</a:t>
            </a:r>
            <a:r>
              <a:rPr lang="en-US" altLang="zh-CN" b="0" i="0" u="none" strike="noStrike" dirty="0">
                <a:solidFill>
                  <a:srgbClr val="202122"/>
                </a:solidFill>
                <a:effectLst/>
                <a:latin typeface="Arial" panose="020B0604020202020204" pitchFamily="34" charset="0"/>
              </a:rPr>
              <a:t>) for all </a:t>
            </a:r>
            <a:r>
              <a:rPr lang="en-US" altLang="zh-CN" b="0" i="0" u="none" strike="noStrike" dirty="0" err="1">
                <a:solidFill>
                  <a:srgbClr val="202122"/>
                </a:solidFill>
                <a:effectLst/>
                <a:latin typeface="Arial" panose="020B0604020202020204" pitchFamily="34" charset="0"/>
              </a:rPr>
              <a:t>z∈Z</a:t>
            </a:r>
            <a:r>
              <a:rPr lang="en-US" altLang="zh-CN" b="0" i="0" u="none" strike="noStrike" dirty="0">
                <a:solidFill>
                  <a:srgbClr val="202122"/>
                </a:solidFill>
                <a:effectLst/>
                <a:latin typeface="Arial" panose="020B0604020202020204" pitchFamily="34" charset="0"/>
              </a:rPr>
              <a:t> by definition of the supremum being an upper bound. Thus, for all </a:t>
            </a:r>
            <a:r>
              <a:rPr lang="en-US" altLang="zh-CN" b="0" i="0" u="none" strike="noStrike" dirty="0" err="1">
                <a:solidFill>
                  <a:srgbClr val="202122"/>
                </a:solidFill>
                <a:effectLst/>
                <a:latin typeface="Arial" panose="020B0604020202020204" pitchFamily="34" charset="0"/>
              </a:rPr>
              <a:t>z∈Z</a:t>
            </a:r>
            <a:r>
              <a:rPr lang="en-US" altLang="zh-CN" b="0" i="0" u="none" strike="noStrike" dirty="0">
                <a:solidFill>
                  <a:srgbClr val="202122"/>
                </a:solidFill>
                <a:effectLst/>
                <a:latin typeface="Arial" panose="020B0604020202020204" pitchFamily="34" charset="0"/>
              </a:rPr>
              <a:t> and </a:t>
            </a:r>
            <a:r>
              <a:rPr lang="en-US" altLang="zh-CN" b="0" i="0" u="none" strike="noStrike" dirty="0" err="1">
                <a:solidFill>
                  <a:srgbClr val="202122"/>
                </a:solidFill>
                <a:effectLst/>
                <a:latin typeface="Arial" panose="020B0604020202020204" pitchFamily="34" charset="0"/>
              </a:rPr>
              <a:t>w∈W</a:t>
            </a:r>
            <a:r>
              <a:rPr lang="en-US" altLang="zh-CN" b="0" i="0" u="none" strike="noStrike" dirty="0">
                <a:solidFill>
                  <a:srgbClr val="202122"/>
                </a:solidFill>
                <a:effectLst/>
                <a:latin typeface="Arial" panose="020B0604020202020204" pitchFamily="34" charset="0"/>
              </a:rPr>
              <a:t>, g(z)≤f(</a:t>
            </a:r>
            <a:r>
              <a:rPr lang="en-US" altLang="zh-CN" b="0" i="0" u="none" strike="noStrike" dirty="0" err="1">
                <a:solidFill>
                  <a:srgbClr val="202122"/>
                </a:solidFill>
                <a:effectLst/>
                <a:latin typeface="Arial" panose="020B0604020202020204" pitchFamily="34" charset="0"/>
              </a:rPr>
              <a:t>z,w</a:t>
            </a:r>
            <a:r>
              <a:rPr lang="en-US" altLang="zh-CN" b="0" i="0" u="none" strike="noStrike" dirty="0">
                <a:solidFill>
                  <a:srgbClr val="202122"/>
                </a:solidFill>
                <a:effectLst/>
                <a:latin typeface="Arial" panose="020B0604020202020204" pitchFamily="34" charset="0"/>
              </a:rPr>
              <a:t>)≤</a:t>
            </a:r>
            <a:r>
              <a:rPr lang="en-US" altLang="zh-CN" b="0" i="0" u="none" strike="noStrike" dirty="0" err="1">
                <a:solidFill>
                  <a:srgbClr val="202122"/>
                </a:solidFill>
                <a:effectLst/>
                <a:latin typeface="Arial" panose="020B0604020202020204" pitchFamily="34" charset="0"/>
              </a:rPr>
              <a:t>supz∈Zf</a:t>
            </a:r>
            <a:r>
              <a:rPr lang="en-US" altLang="zh-CN" b="0" i="0" u="none" strike="noStrike" dirty="0">
                <a:solidFill>
                  <a:srgbClr val="202122"/>
                </a:solidFill>
                <a:effectLst/>
                <a:latin typeface="Arial" panose="020B0604020202020204" pitchFamily="34" charset="0"/>
              </a:rPr>
              <a:t>(</a:t>
            </a:r>
            <a:r>
              <a:rPr lang="en-US" altLang="zh-CN" b="0" i="0" u="none" strike="noStrike" dirty="0" err="1">
                <a:solidFill>
                  <a:srgbClr val="202122"/>
                </a:solidFill>
                <a:effectLst/>
                <a:latin typeface="Arial" panose="020B0604020202020204" pitchFamily="34" charset="0"/>
              </a:rPr>
              <a:t>z,w</a:t>
            </a:r>
            <a:r>
              <a:rPr lang="en-US" altLang="zh-CN" b="0" i="0" u="none" strike="noStrike" dirty="0">
                <a:solidFill>
                  <a:srgbClr val="202122"/>
                </a:solidFill>
                <a:effectLst/>
                <a:latin typeface="Arial" panose="020B0604020202020204" pitchFamily="34" charset="0"/>
              </a:rPr>
              <a:t>) making h(w)≜</a:t>
            </a:r>
            <a:r>
              <a:rPr lang="en-US" altLang="zh-CN" b="0" i="0" u="none" strike="noStrike" dirty="0" err="1">
                <a:solidFill>
                  <a:srgbClr val="202122"/>
                </a:solidFill>
                <a:effectLst/>
                <a:latin typeface="Arial" panose="020B0604020202020204" pitchFamily="34" charset="0"/>
              </a:rPr>
              <a:t>supz∈Zf</a:t>
            </a:r>
            <a:r>
              <a:rPr lang="en-US" altLang="zh-CN" b="0" i="0" u="none" strike="noStrike" dirty="0">
                <a:solidFill>
                  <a:srgbClr val="202122"/>
                </a:solidFill>
                <a:effectLst/>
                <a:latin typeface="Arial" panose="020B0604020202020204" pitchFamily="34" charset="0"/>
              </a:rPr>
              <a:t>(</a:t>
            </a:r>
            <a:r>
              <a:rPr lang="en-US" altLang="zh-CN" b="0" i="0" u="none" strike="noStrike" dirty="0" err="1">
                <a:solidFill>
                  <a:srgbClr val="202122"/>
                </a:solidFill>
                <a:effectLst/>
                <a:latin typeface="Arial" panose="020B0604020202020204" pitchFamily="34" charset="0"/>
              </a:rPr>
              <a:t>z,w</a:t>
            </a:r>
            <a:r>
              <a:rPr lang="en-US" altLang="zh-CN" b="0" i="0" u="none" strike="noStrike" dirty="0">
                <a:solidFill>
                  <a:srgbClr val="202122"/>
                </a:solidFill>
                <a:effectLst/>
                <a:latin typeface="Arial" panose="020B0604020202020204" pitchFamily="34" charset="0"/>
              </a:rPr>
              <a:t>) an upper bound on g(z) for any choice of </a:t>
            </a:r>
            <a:r>
              <a:rPr lang="en-US" altLang="zh-CN" b="0" i="0" u="none" strike="noStrike" dirty="0" err="1">
                <a:solidFill>
                  <a:srgbClr val="202122"/>
                </a:solidFill>
                <a:effectLst/>
                <a:latin typeface="Arial" panose="020B0604020202020204" pitchFamily="34" charset="0"/>
              </a:rPr>
              <a:t>w∈W</a:t>
            </a:r>
            <a:r>
              <a:rPr lang="en-US" altLang="zh-CN" b="0" i="0" u="none" strike="noStrike" dirty="0">
                <a:solidFill>
                  <a:srgbClr val="202122"/>
                </a:solidFill>
                <a:effectLst/>
                <a:latin typeface="Arial" panose="020B0604020202020204" pitchFamily="34" charset="0"/>
              </a:rPr>
              <a:t>. Because the supremum is the least upper bound,  </a:t>
            </a:r>
            <a:r>
              <a:rPr lang="en-US" altLang="zh-CN" b="0" i="0" u="none" strike="noStrike" dirty="0" err="1">
                <a:solidFill>
                  <a:srgbClr val="202122"/>
                </a:solidFill>
                <a:effectLst/>
                <a:latin typeface="Arial" panose="020B0604020202020204" pitchFamily="34" charset="0"/>
              </a:rPr>
              <a:t>supz∈Zg</a:t>
            </a:r>
            <a:r>
              <a:rPr lang="en-US" altLang="zh-CN" b="0" i="0" u="none" strike="noStrike" dirty="0">
                <a:solidFill>
                  <a:srgbClr val="202122"/>
                </a:solidFill>
                <a:effectLst/>
                <a:latin typeface="Arial" panose="020B0604020202020204" pitchFamily="34" charset="0"/>
              </a:rPr>
              <a:t>(z)≤h(w) holds for all </a:t>
            </a:r>
            <a:r>
              <a:rPr lang="en-US" altLang="zh-CN" b="0" i="0" u="none" strike="noStrike" dirty="0" err="1">
                <a:solidFill>
                  <a:srgbClr val="202122"/>
                </a:solidFill>
                <a:effectLst/>
                <a:latin typeface="Arial" panose="020B0604020202020204" pitchFamily="34" charset="0"/>
              </a:rPr>
              <a:t>w∈W</a:t>
            </a:r>
            <a:r>
              <a:rPr lang="en-US" altLang="zh-CN" b="0" i="0" u="none" strike="noStrike" dirty="0">
                <a:solidFill>
                  <a:srgbClr val="202122"/>
                </a:solidFill>
                <a:effectLst/>
                <a:latin typeface="Arial" panose="020B0604020202020204" pitchFamily="34" charset="0"/>
              </a:rPr>
              <a:t>. From this inequality, we also see that </a:t>
            </a:r>
            <a:r>
              <a:rPr lang="en-US" altLang="zh-CN" b="0" i="0" u="none" strike="noStrike" dirty="0" err="1">
                <a:solidFill>
                  <a:srgbClr val="202122"/>
                </a:solidFill>
                <a:effectLst/>
                <a:latin typeface="Arial" panose="020B0604020202020204" pitchFamily="34" charset="0"/>
              </a:rPr>
              <a:t>supz∈Zg</a:t>
            </a:r>
            <a:r>
              <a:rPr lang="en-US" altLang="zh-CN" b="0" i="0" u="none" strike="noStrike" dirty="0">
                <a:solidFill>
                  <a:srgbClr val="202122"/>
                </a:solidFill>
                <a:effectLst/>
                <a:latin typeface="Arial" panose="020B0604020202020204" pitchFamily="34" charset="0"/>
              </a:rPr>
              <a:t>(z) is a lower bound on h(w). By the greatest lower bound property of infimum, </a:t>
            </a:r>
            <a:r>
              <a:rPr lang="en-US" altLang="zh-CN" b="0" i="0" u="none" strike="noStrike" dirty="0" err="1">
                <a:solidFill>
                  <a:srgbClr val="202122"/>
                </a:solidFill>
                <a:effectLst/>
                <a:latin typeface="Arial" panose="020B0604020202020204" pitchFamily="34" charset="0"/>
              </a:rPr>
              <a:t>supz∈Zg</a:t>
            </a:r>
            <a:r>
              <a:rPr lang="en-US" altLang="zh-CN" b="0" i="0" u="none" strike="noStrike" dirty="0">
                <a:solidFill>
                  <a:srgbClr val="202122"/>
                </a:solidFill>
                <a:effectLst/>
                <a:latin typeface="Arial" panose="020B0604020202020204" pitchFamily="34" charset="0"/>
              </a:rPr>
              <a:t>(z)≤</a:t>
            </a:r>
            <a:r>
              <a:rPr lang="en-US" altLang="zh-CN" b="0" i="0" u="none" strike="noStrike" dirty="0" err="1">
                <a:solidFill>
                  <a:srgbClr val="202122"/>
                </a:solidFill>
                <a:effectLst/>
                <a:latin typeface="Arial" panose="020B0604020202020204" pitchFamily="34" charset="0"/>
              </a:rPr>
              <a:t>infw∈Wh</a:t>
            </a:r>
            <a:r>
              <a:rPr lang="en-US" altLang="zh-CN" b="0" i="0" u="none" strike="noStrike" dirty="0">
                <a:solidFill>
                  <a:srgbClr val="202122"/>
                </a:solidFill>
                <a:effectLst/>
                <a:latin typeface="Arial" panose="020B0604020202020204" pitchFamily="34" charset="0"/>
              </a:rPr>
              <a:t>(w). Putting all the pieces together, we get</a:t>
            </a:r>
          </a:p>
          <a:p>
            <a:pPr algn="l"/>
            <a:r>
              <a:rPr lang="en-US" altLang="zh-CN" b="0" i="0" u="none" strike="noStrike" dirty="0" err="1">
                <a:solidFill>
                  <a:srgbClr val="202122"/>
                </a:solidFill>
                <a:effectLst/>
                <a:latin typeface="Arial" panose="020B0604020202020204" pitchFamily="34" charset="0"/>
              </a:rPr>
              <a:t>supz∈Zinfw∈Wf</a:t>
            </a:r>
            <a:r>
              <a:rPr lang="en-US" altLang="zh-CN" b="0" i="0" u="none" strike="noStrike" dirty="0">
                <a:solidFill>
                  <a:srgbClr val="202122"/>
                </a:solidFill>
                <a:effectLst/>
                <a:latin typeface="Arial" panose="020B0604020202020204" pitchFamily="34" charset="0"/>
              </a:rPr>
              <a:t>(</a:t>
            </a:r>
            <a:r>
              <a:rPr lang="en-US" altLang="zh-CN" b="0" i="0" u="none" strike="noStrike" dirty="0" err="1">
                <a:solidFill>
                  <a:srgbClr val="202122"/>
                </a:solidFill>
                <a:effectLst/>
                <a:latin typeface="Arial" panose="020B0604020202020204" pitchFamily="34" charset="0"/>
              </a:rPr>
              <a:t>z,w</a:t>
            </a:r>
            <a:r>
              <a:rPr lang="en-US" altLang="zh-CN" b="0" i="0" u="none" strike="noStrike" dirty="0">
                <a:solidFill>
                  <a:srgbClr val="202122"/>
                </a:solidFill>
                <a:effectLst/>
                <a:latin typeface="Arial" panose="020B0604020202020204" pitchFamily="34" charset="0"/>
              </a:rPr>
              <a:t>)=</a:t>
            </a:r>
            <a:r>
              <a:rPr lang="en-US" altLang="zh-CN" b="0" i="0" u="none" strike="noStrike" dirty="0" err="1">
                <a:solidFill>
                  <a:srgbClr val="202122"/>
                </a:solidFill>
                <a:effectLst/>
                <a:latin typeface="Arial" panose="020B0604020202020204" pitchFamily="34" charset="0"/>
              </a:rPr>
              <a:t>supz∈Zg</a:t>
            </a:r>
            <a:r>
              <a:rPr lang="en-US" altLang="zh-CN" b="0" i="0" u="none" strike="noStrike" dirty="0">
                <a:solidFill>
                  <a:srgbClr val="202122"/>
                </a:solidFill>
                <a:effectLst/>
                <a:latin typeface="Arial" panose="020B0604020202020204" pitchFamily="34" charset="0"/>
              </a:rPr>
              <a:t>(z)≤</a:t>
            </a:r>
            <a:r>
              <a:rPr lang="en-US" altLang="zh-CN" b="0" i="0" u="none" strike="noStrike" dirty="0" err="1">
                <a:solidFill>
                  <a:srgbClr val="202122"/>
                </a:solidFill>
                <a:effectLst/>
                <a:latin typeface="Arial" panose="020B0604020202020204" pitchFamily="34" charset="0"/>
              </a:rPr>
              <a:t>infw∈Wh</a:t>
            </a:r>
            <a:r>
              <a:rPr lang="en-US" altLang="zh-CN" b="0" i="0" u="none" strike="noStrike" dirty="0">
                <a:solidFill>
                  <a:srgbClr val="202122"/>
                </a:solidFill>
                <a:effectLst/>
                <a:latin typeface="Arial" panose="020B0604020202020204" pitchFamily="34" charset="0"/>
              </a:rPr>
              <a:t>(w)=</a:t>
            </a:r>
            <a:r>
              <a:rPr lang="en-US" altLang="zh-CN" b="0" i="0" u="none" strike="noStrike" dirty="0" err="1">
                <a:solidFill>
                  <a:srgbClr val="202122"/>
                </a:solidFill>
                <a:effectLst/>
                <a:latin typeface="Arial" panose="020B0604020202020204" pitchFamily="34" charset="0"/>
              </a:rPr>
              <a:t>infw∈Wsupz∈Zf</a:t>
            </a:r>
            <a:r>
              <a:rPr lang="en-US" altLang="zh-CN" b="0" i="0" u="none" strike="noStrike" dirty="0">
                <a:solidFill>
                  <a:srgbClr val="202122"/>
                </a:solidFill>
                <a:effectLst/>
                <a:latin typeface="Arial" panose="020B0604020202020204" pitchFamily="34" charset="0"/>
              </a:rPr>
              <a:t>(</a:t>
            </a:r>
            <a:r>
              <a:rPr lang="en-US" altLang="zh-CN" b="0" i="0" u="none" strike="noStrike" dirty="0" err="1">
                <a:solidFill>
                  <a:srgbClr val="202122"/>
                </a:solidFill>
                <a:effectLst/>
                <a:latin typeface="Arial" panose="020B0604020202020204" pitchFamily="34" charset="0"/>
              </a:rPr>
              <a:t>z,w</a:t>
            </a:r>
            <a:r>
              <a:rPr lang="en-US" altLang="zh-CN" b="0" i="0" u="none" strike="noStrike" dirty="0">
                <a:solidFill>
                  <a:srgbClr val="202122"/>
                </a:solidFill>
                <a:effectLst/>
                <a:latin typeface="Arial" panose="020B0604020202020204" pitchFamily="34" charset="0"/>
              </a:rPr>
              <a:t>)</a:t>
            </a:r>
          </a:p>
          <a:p>
            <a:pPr algn="l"/>
            <a:r>
              <a:rPr lang="en-US" altLang="zh-CN" b="0" i="0" u="none" strike="noStrike" dirty="0">
                <a:solidFill>
                  <a:srgbClr val="202122"/>
                </a:solidFill>
                <a:effectLst/>
                <a:latin typeface="Arial" panose="020B0604020202020204" pitchFamily="34" charset="0"/>
              </a:rPr>
              <a:t>which proves the desired inequality. ◼</a:t>
            </a:r>
          </a:p>
          <a:p>
            <a:br>
              <a:rPr lang="en-US" altLang="zh-CN" dirty="0"/>
            </a:br>
            <a:endParaRPr lang="zh-CN" altLang="en-US" dirty="0"/>
          </a:p>
        </p:txBody>
      </p:sp>
      <p:sp>
        <p:nvSpPr>
          <p:cNvPr id="4" name="灯片编号占位符 3"/>
          <p:cNvSpPr>
            <a:spLocks noGrp="1"/>
          </p:cNvSpPr>
          <p:nvPr>
            <p:ph type="sldNum" sz="quarter" idx="10"/>
          </p:nvPr>
        </p:nvSpPr>
        <p:spPr/>
        <p:txBody>
          <a:bodyPr/>
          <a:lstStyle/>
          <a:p>
            <a:fld id="{D50AF6DD-051E-413B-8808-23D5AB3BD9E4}" type="slidenum">
              <a:rPr lang="en-US" smtClean="0"/>
              <a:pPr/>
              <a:t>25</a:t>
            </a:fld>
            <a:endParaRPr lang="en-US"/>
          </a:p>
        </p:txBody>
      </p:sp>
    </p:spTree>
    <p:extLst>
      <p:ext uri="{BB962C8B-B14F-4D97-AF65-F5344CB8AC3E}">
        <p14:creationId xmlns:p14="http://schemas.microsoft.com/office/powerpoint/2010/main" val="242690835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en-US" dirty="0"/>
                  <a:t>在</a:t>
                </a:r>
                <a:r>
                  <a:rPr lang="en-US" altLang="zh-CN" dirty="0"/>
                  <a:t>KKT</a:t>
                </a:r>
                <a:r>
                  <a:rPr lang="zh-CN" altLang="en-US" dirty="0"/>
                  <a:t>条件满足时原始问题与对偶问题相等</a:t>
                </a:r>
                <a:endParaRPr lang="en-US" altLang="zh-CN" dirty="0"/>
              </a:p>
              <a:p>
                <a:endParaRPr lang="en-US" altLang="zh-CN" dirty="0"/>
              </a:p>
              <a:p>
                <a:r>
                  <a:rPr lang="en-US" altLang="zh-CN" dirty="0"/>
                  <a:t>KKT</a:t>
                </a:r>
                <a:r>
                  <a:rPr lang="zh-CN" altLang="en-US" dirty="0"/>
                  <a:t>条件要求上面的式子都满足</a:t>
                </a:r>
                <a:endParaRPr lang="en-US" altLang="zh-CN" dirty="0"/>
              </a:p>
              <a:p>
                <a:r>
                  <a:rPr lang="zh-CN" altLang="en-US" dirty="0"/>
                  <a:t>这个是</a:t>
                </a:r>
                <a:r>
                  <a:rPr lang="en-US" altLang="zh-CN" dirty="0"/>
                  <a:t>SVM</a:t>
                </a:r>
                <a:r>
                  <a:rPr lang="zh-CN" altLang="en-US" dirty="0"/>
                  <a:t>问题里简化后的式子，不是原始</a:t>
                </a:r>
                <a:r>
                  <a:rPr lang="en-US" altLang="zh-CN" dirty="0"/>
                  <a:t>KKT</a:t>
                </a:r>
                <a:r>
                  <a:rPr lang="zh-CN" altLang="en-US" dirty="0"/>
                  <a:t>条件</a:t>
                </a:r>
                <a:endParaRPr lang="en-US" altLang="zh-CN" dirty="0"/>
              </a:p>
              <a:p>
                <a:endParaRPr lang="en-US" altLang="zh-CN" dirty="0"/>
              </a:p>
              <a:p>
                <a:r>
                  <a:rPr lang="zh-CN" altLang="en-US" dirty="0"/>
                  <a:t>引申含义：</a:t>
                </a:r>
                <a:r>
                  <a:rPr lang="en-US" altLang="zh-CN" dirty="0"/>
                  <a:t>alpha</a:t>
                </a:r>
                <a:r>
                  <a:rPr lang="zh-CN" altLang="en-US" dirty="0"/>
                  <a:t>不为</a:t>
                </a:r>
                <a:r>
                  <a:rPr lang="en-US" altLang="zh-CN" dirty="0"/>
                  <a:t>0</a:t>
                </a:r>
                <a:r>
                  <a:rPr lang="zh-CN" altLang="en-US" dirty="0"/>
                  <a:t>的地方，</a:t>
                </a:r>
                <a14:m>
                  <m:oMath xmlns:m="http://schemas.openxmlformats.org/officeDocument/2006/math">
                    <m:r>
                      <a:rPr kumimoji="1" lang="en-US" altLang="zh-CN" sz="1200" i="1" smtClean="0">
                        <a:latin typeface="Cambria Math" panose="02040503050406030204" pitchFamily="18" charset="0"/>
                      </a:rPr>
                      <m:t>1−</m:t>
                    </m:r>
                    <m:sSub>
                      <m:sSubPr>
                        <m:ctrlPr>
                          <a:rPr kumimoji="1" lang="en-US" altLang="zh-CN" sz="1200" i="1">
                            <a:latin typeface="Cambria Math" panose="02040503050406030204" pitchFamily="18" charset="0"/>
                          </a:rPr>
                        </m:ctrlPr>
                      </m:sSubPr>
                      <m:e>
                        <m:r>
                          <a:rPr kumimoji="1" lang="en-US" altLang="zh-CN" sz="1200" i="1">
                            <a:latin typeface="Cambria Math" panose="02040503050406030204" pitchFamily="18" charset="0"/>
                          </a:rPr>
                          <m:t>𝑦</m:t>
                        </m:r>
                      </m:e>
                      <m:sub>
                        <m:r>
                          <a:rPr kumimoji="1" lang="en-US" altLang="zh-CN" sz="1200" i="1">
                            <a:latin typeface="Cambria Math" panose="02040503050406030204" pitchFamily="18" charset="0"/>
                          </a:rPr>
                          <m:t>𝑖</m:t>
                        </m:r>
                      </m:sub>
                    </m:sSub>
                    <m:d>
                      <m:dPr>
                        <m:ctrlPr>
                          <a:rPr kumimoji="1" lang="en-US" altLang="zh-CN" sz="1200" i="1">
                            <a:latin typeface="Cambria Math" panose="02040503050406030204" pitchFamily="18" charset="0"/>
                          </a:rPr>
                        </m:ctrlPr>
                      </m:dPr>
                      <m:e>
                        <m:r>
                          <a:rPr kumimoji="1" lang="en-US" altLang="zh-CN" sz="1200" i="1">
                            <a:latin typeface="Cambria Math" panose="02040503050406030204" pitchFamily="18" charset="0"/>
                          </a:rPr>
                          <m:t>𝑤</m:t>
                        </m:r>
                        <m:sSub>
                          <m:sSubPr>
                            <m:ctrlPr>
                              <a:rPr kumimoji="1" lang="en-US" altLang="zh-CN" sz="1200" i="1">
                                <a:latin typeface="Cambria Math" panose="02040503050406030204" pitchFamily="18" charset="0"/>
                              </a:rPr>
                            </m:ctrlPr>
                          </m:sSubPr>
                          <m:e>
                            <m:r>
                              <a:rPr kumimoji="1" lang="en-US" altLang="zh-CN" sz="1200" i="1">
                                <a:latin typeface="Cambria Math" panose="02040503050406030204" pitchFamily="18" charset="0"/>
                                <a:ea typeface="Cambria Math" panose="02040503050406030204" pitchFamily="18" charset="0"/>
                              </a:rPr>
                              <m:t>∙</m:t>
                            </m:r>
                            <m:r>
                              <a:rPr kumimoji="1" lang="en-US" altLang="zh-CN" sz="1200" i="1">
                                <a:latin typeface="Cambria Math" panose="02040503050406030204" pitchFamily="18" charset="0"/>
                                <a:ea typeface="Cambria Math" panose="02040503050406030204" pitchFamily="18" charset="0"/>
                              </a:rPr>
                              <m:t>𝑥</m:t>
                            </m:r>
                          </m:e>
                          <m:sub>
                            <m:r>
                              <a:rPr kumimoji="1" lang="en-US" altLang="zh-CN" sz="1200" i="1">
                                <a:latin typeface="Cambria Math" panose="02040503050406030204" pitchFamily="18" charset="0"/>
                              </a:rPr>
                              <m:t>𝑖</m:t>
                            </m:r>
                          </m:sub>
                        </m:sSub>
                        <m:r>
                          <a:rPr kumimoji="1" lang="en-US" altLang="zh-CN" sz="1200" i="1">
                            <a:latin typeface="Cambria Math" panose="02040503050406030204" pitchFamily="18" charset="0"/>
                          </a:rPr>
                          <m:t>+</m:t>
                        </m:r>
                        <m:r>
                          <a:rPr kumimoji="1" lang="en-US" altLang="zh-CN" sz="1200" i="1">
                            <a:latin typeface="Cambria Math" panose="02040503050406030204" pitchFamily="18" charset="0"/>
                          </a:rPr>
                          <m:t>𝑏</m:t>
                        </m:r>
                      </m:e>
                    </m:d>
                  </m:oMath>
                </a14:m>
                <a:r>
                  <a:rPr lang="zh-CN" altLang="en-US" dirty="0"/>
                  <a:t>必须是</a:t>
                </a:r>
                <a:r>
                  <a:rPr lang="en-US" altLang="zh-CN" dirty="0"/>
                  <a:t>0</a:t>
                </a:r>
                <a:r>
                  <a:rPr lang="zh-CN" altLang="en-US" dirty="0"/>
                  <a:t>；</a:t>
                </a:r>
                <a14:m>
                  <m:oMath xmlns:m="http://schemas.openxmlformats.org/officeDocument/2006/math">
                    <m:r>
                      <a:rPr kumimoji="1" lang="en-US" altLang="zh-CN" sz="1200" i="1" smtClean="0">
                        <a:latin typeface="Cambria Math" panose="02040503050406030204" pitchFamily="18" charset="0"/>
                      </a:rPr>
                      <m:t>1−</m:t>
                    </m:r>
                    <m:sSub>
                      <m:sSubPr>
                        <m:ctrlPr>
                          <a:rPr kumimoji="1" lang="en-US" altLang="zh-CN" sz="1200" i="1">
                            <a:latin typeface="Cambria Math" panose="02040503050406030204" pitchFamily="18" charset="0"/>
                          </a:rPr>
                        </m:ctrlPr>
                      </m:sSubPr>
                      <m:e>
                        <m:r>
                          <a:rPr kumimoji="1" lang="en-US" altLang="zh-CN" sz="1200" i="1">
                            <a:latin typeface="Cambria Math" panose="02040503050406030204" pitchFamily="18" charset="0"/>
                          </a:rPr>
                          <m:t>𝑦</m:t>
                        </m:r>
                      </m:e>
                      <m:sub>
                        <m:r>
                          <a:rPr kumimoji="1" lang="en-US" altLang="zh-CN" sz="1200" i="1">
                            <a:latin typeface="Cambria Math" panose="02040503050406030204" pitchFamily="18" charset="0"/>
                          </a:rPr>
                          <m:t>𝑖</m:t>
                        </m:r>
                      </m:sub>
                    </m:sSub>
                    <m:d>
                      <m:dPr>
                        <m:ctrlPr>
                          <a:rPr kumimoji="1" lang="en-US" altLang="zh-CN" sz="1200" i="1">
                            <a:latin typeface="Cambria Math" panose="02040503050406030204" pitchFamily="18" charset="0"/>
                          </a:rPr>
                        </m:ctrlPr>
                      </m:dPr>
                      <m:e>
                        <m:r>
                          <a:rPr kumimoji="1" lang="en-US" altLang="zh-CN" sz="1200" i="1">
                            <a:latin typeface="Cambria Math" panose="02040503050406030204" pitchFamily="18" charset="0"/>
                          </a:rPr>
                          <m:t>𝑤</m:t>
                        </m:r>
                        <m:sSub>
                          <m:sSubPr>
                            <m:ctrlPr>
                              <a:rPr kumimoji="1" lang="en-US" altLang="zh-CN" sz="1200" i="1">
                                <a:latin typeface="Cambria Math" panose="02040503050406030204" pitchFamily="18" charset="0"/>
                              </a:rPr>
                            </m:ctrlPr>
                          </m:sSubPr>
                          <m:e>
                            <m:r>
                              <a:rPr kumimoji="1" lang="en-US" altLang="zh-CN" sz="1200" i="1">
                                <a:latin typeface="Cambria Math" panose="02040503050406030204" pitchFamily="18" charset="0"/>
                                <a:ea typeface="Cambria Math" panose="02040503050406030204" pitchFamily="18" charset="0"/>
                              </a:rPr>
                              <m:t>∙</m:t>
                            </m:r>
                            <m:r>
                              <a:rPr kumimoji="1" lang="en-US" altLang="zh-CN" sz="1200" i="1">
                                <a:latin typeface="Cambria Math" panose="02040503050406030204" pitchFamily="18" charset="0"/>
                                <a:ea typeface="Cambria Math" panose="02040503050406030204" pitchFamily="18" charset="0"/>
                              </a:rPr>
                              <m:t>𝑥</m:t>
                            </m:r>
                          </m:e>
                          <m:sub>
                            <m:r>
                              <a:rPr kumimoji="1" lang="en-US" altLang="zh-CN" sz="1200" i="1">
                                <a:latin typeface="Cambria Math" panose="02040503050406030204" pitchFamily="18" charset="0"/>
                              </a:rPr>
                              <m:t>𝑖</m:t>
                            </m:r>
                          </m:sub>
                        </m:sSub>
                        <m:r>
                          <a:rPr kumimoji="1" lang="en-US" altLang="zh-CN" sz="1200" i="1">
                            <a:latin typeface="Cambria Math" panose="02040503050406030204" pitchFamily="18" charset="0"/>
                          </a:rPr>
                          <m:t>+</m:t>
                        </m:r>
                        <m:r>
                          <a:rPr kumimoji="1" lang="en-US" altLang="zh-CN" sz="1200" i="1">
                            <a:latin typeface="Cambria Math" panose="02040503050406030204" pitchFamily="18" charset="0"/>
                          </a:rPr>
                          <m:t>𝑏</m:t>
                        </m:r>
                      </m:e>
                    </m:d>
                  </m:oMath>
                </a14:m>
                <a:r>
                  <a:rPr lang="zh-CN" altLang="en-US" dirty="0"/>
                  <a:t>不是</a:t>
                </a:r>
                <a:r>
                  <a:rPr lang="en-US" altLang="zh-CN" dirty="0"/>
                  <a:t>0</a:t>
                </a:r>
                <a:r>
                  <a:rPr lang="zh-CN" altLang="en-US" dirty="0"/>
                  <a:t>的地方，</a:t>
                </a:r>
                <a:r>
                  <a:rPr lang="en-US" altLang="zh-CN" dirty="0"/>
                  <a:t>alpha</a:t>
                </a:r>
                <a:r>
                  <a:rPr lang="zh-CN" altLang="en-US" dirty="0"/>
                  <a:t>必须是</a:t>
                </a:r>
                <a:r>
                  <a:rPr lang="en-US" altLang="zh-CN" dirty="0"/>
                  <a:t>0</a:t>
                </a:r>
                <a:endParaRPr lang="zh-CN" altLang="en-US" dirty="0"/>
              </a:p>
            </p:txBody>
          </p:sp>
        </mc:Choice>
        <mc:Fallback xmlns="">
          <p:sp>
            <p:nvSpPr>
              <p:cNvPr id="3" name="备注占位符 2"/>
              <p:cNvSpPr>
                <a:spLocks noGrp="1"/>
              </p:cNvSpPr>
              <p:nvPr>
                <p:ph type="body" idx="1"/>
              </p:nvPr>
            </p:nvSpPr>
            <p:spPr/>
            <p:txBody>
              <a:bodyPr/>
              <a:lstStyle/>
              <a:p>
                <a:r>
                  <a:rPr lang="zh-CN" altLang="en-US" dirty="0"/>
                  <a:t>在</a:t>
                </a:r>
                <a:r>
                  <a:rPr lang="en-US" altLang="zh-CN" dirty="0"/>
                  <a:t>KKT</a:t>
                </a:r>
                <a:r>
                  <a:rPr lang="zh-CN" altLang="en-US" dirty="0"/>
                  <a:t>条件满足时原始问题与对偶问题相等</a:t>
                </a:r>
                <a:endParaRPr lang="en-US" altLang="zh-CN" dirty="0"/>
              </a:p>
              <a:p>
                <a:endParaRPr lang="en-US" altLang="zh-CN" dirty="0"/>
              </a:p>
              <a:p>
                <a:r>
                  <a:rPr lang="en-US" altLang="zh-CN" dirty="0"/>
                  <a:t>KKT</a:t>
                </a:r>
                <a:r>
                  <a:rPr lang="zh-CN" altLang="en-US" dirty="0"/>
                  <a:t>条件要求上面的式子都满足</a:t>
                </a:r>
                <a:endParaRPr lang="en-US" altLang="zh-CN" dirty="0"/>
              </a:p>
              <a:p>
                <a:r>
                  <a:rPr lang="zh-CN" altLang="en-US" dirty="0"/>
                  <a:t>这个是</a:t>
                </a:r>
                <a:r>
                  <a:rPr lang="en-US" altLang="zh-CN" dirty="0"/>
                  <a:t>SVM</a:t>
                </a:r>
                <a:r>
                  <a:rPr lang="zh-CN" altLang="en-US" dirty="0"/>
                  <a:t>问题里简化后的式子，不是原始</a:t>
                </a:r>
                <a:r>
                  <a:rPr lang="en-US" altLang="zh-CN" dirty="0"/>
                  <a:t>KKT</a:t>
                </a:r>
                <a:r>
                  <a:rPr lang="zh-CN" altLang="en-US" dirty="0"/>
                  <a:t>条件</a:t>
                </a:r>
                <a:endParaRPr lang="en-US" altLang="zh-CN" dirty="0"/>
              </a:p>
              <a:p>
                <a:endParaRPr lang="en-US" altLang="zh-CN" dirty="0"/>
              </a:p>
              <a:p>
                <a:r>
                  <a:rPr lang="zh-CN" altLang="en-US" dirty="0"/>
                  <a:t>引申含义：</a:t>
                </a:r>
                <a:r>
                  <a:rPr lang="en-US" altLang="zh-CN" dirty="0"/>
                  <a:t>alpha</a:t>
                </a:r>
                <a:r>
                  <a:rPr lang="zh-CN" altLang="en-US" dirty="0"/>
                  <a:t>不为</a:t>
                </a:r>
                <a:r>
                  <a:rPr lang="en-US" altLang="zh-CN" dirty="0"/>
                  <a:t>0</a:t>
                </a:r>
                <a:r>
                  <a:rPr lang="zh-CN" altLang="en-US" dirty="0"/>
                  <a:t>的地方，</a:t>
                </a:r>
                <a:r>
                  <a:rPr kumimoji="1" lang="en-US" altLang="zh-CN" sz="1200" i="0">
                    <a:latin typeface="Cambria Math" panose="02040503050406030204" pitchFamily="18" charset="0"/>
                  </a:rPr>
                  <a:t>1−𝑦_𝑖 (𝑤〖</a:t>
                </a:r>
                <a:r>
                  <a:rPr kumimoji="1" lang="en-US" altLang="zh-CN" sz="1200" i="0">
                    <a:latin typeface="Cambria Math" panose="02040503050406030204" pitchFamily="18" charset="0"/>
                    <a:ea typeface="Cambria Math" panose="02040503050406030204" pitchFamily="18" charset="0"/>
                  </a:rPr>
                  <a:t>∙𝑥〗_</a:t>
                </a:r>
                <a:r>
                  <a:rPr kumimoji="1" lang="en-US" altLang="zh-CN" sz="1200" i="0">
                    <a:latin typeface="Cambria Math" panose="02040503050406030204" pitchFamily="18" charset="0"/>
                  </a:rPr>
                  <a:t>𝑖+𝑏)</a:t>
                </a:r>
                <a:r>
                  <a:rPr lang="zh-CN" altLang="en-US" dirty="0"/>
                  <a:t>必须是</a:t>
                </a:r>
                <a:r>
                  <a:rPr lang="en-US" altLang="zh-CN" dirty="0"/>
                  <a:t>0</a:t>
                </a:r>
                <a:r>
                  <a:rPr lang="zh-CN" altLang="en-US" dirty="0"/>
                  <a:t>；</a:t>
                </a:r>
                <a:r>
                  <a:rPr kumimoji="1" lang="en-US" altLang="zh-CN" sz="1200" i="0">
                    <a:latin typeface="Cambria Math" panose="02040503050406030204" pitchFamily="18" charset="0"/>
                  </a:rPr>
                  <a:t>1−𝑦_𝑖 (𝑤〖</a:t>
                </a:r>
                <a:r>
                  <a:rPr kumimoji="1" lang="en-US" altLang="zh-CN" sz="1200" i="0">
                    <a:latin typeface="Cambria Math" panose="02040503050406030204" pitchFamily="18" charset="0"/>
                    <a:ea typeface="Cambria Math" panose="02040503050406030204" pitchFamily="18" charset="0"/>
                  </a:rPr>
                  <a:t>∙𝑥〗_</a:t>
                </a:r>
                <a:r>
                  <a:rPr kumimoji="1" lang="en-US" altLang="zh-CN" sz="1200" i="0">
                    <a:latin typeface="Cambria Math" panose="02040503050406030204" pitchFamily="18" charset="0"/>
                  </a:rPr>
                  <a:t>𝑖+𝑏)</a:t>
                </a:r>
                <a:r>
                  <a:rPr lang="zh-CN" altLang="en-US" dirty="0"/>
                  <a:t>不是</a:t>
                </a:r>
                <a:r>
                  <a:rPr lang="en-US" altLang="zh-CN" dirty="0"/>
                  <a:t>0</a:t>
                </a:r>
                <a:r>
                  <a:rPr lang="zh-CN" altLang="en-US" dirty="0"/>
                  <a:t>的地方，</a:t>
                </a:r>
                <a:r>
                  <a:rPr lang="en-US" altLang="zh-CN" dirty="0"/>
                  <a:t>alpha</a:t>
                </a:r>
                <a:r>
                  <a:rPr lang="zh-CN" altLang="en-US" dirty="0"/>
                  <a:t>必须是</a:t>
                </a:r>
                <a:r>
                  <a:rPr lang="en-US" altLang="zh-CN" dirty="0"/>
                  <a:t>0</a:t>
                </a:r>
                <a:endParaRPr lang="zh-CN" altLang="en-US" dirty="0"/>
              </a:p>
            </p:txBody>
          </p:sp>
        </mc:Fallback>
      </mc:AlternateContent>
      <p:sp>
        <p:nvSpPr>
          <p:cNvPr id="4" name="灯片编号占位符 3"/>
          <p:cNvSpPr>
            <a:spLocks noGrp="1"/>
          </p:cNvSpPr>
          <p:nvPr>
            <p:ph type="sldNum" sz="quarter" idx="10"/>
          </p:nvPr>
        </p:nvSpPr>
        <p:spPr/>
        <p:txBody>
          <a:bodyPr/>
          <a:lstStyle/>
          <a:p>
            <a:fld id="{D50AF6DD-051E-413B-8808-23D5AB3BD9E4}" type="slidenum">
              <a:rPr lang="en-US" smtClean="0"/>
              <a:pPr/>
              <a:t>26</a:t>
            </a:fld>
            <a:endParaRPr lang="en-US"/>
          </a:p>
        </p:txBody>
      </p:sp>
    </p:spTree>
    <p:extLst>
      <p:ext uri="{BB962C8B-B14F-4D97-AF65-F5344CB8AC3E}">
        <p14:creationId xmlns:p14="http://schemas.microsoft.com/office/powerpoint/2010/main" val="361570235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alpha</a:t>
            </a:r>
            <a:r>
              <a:rPr kumimoji="1" lang="zh-CN" altLang="en-US" dirty="0"/>
              <a:t>解法上一般没有解析解</a:t>
            </a:r>
          </a:p>
        </p:txBody>
      </p:sp>
      <p:sp>
        <p:nvSpPr>
          <p:cNvPr id="4" name="灯片编号占位符 3"/>
          <p:cNvSpPr>
            <a:spLocks noGrp="1"/>
          </p:cNvSpPr>
          <p:nvPr>
            <p:ph type="sldNum" sz="quarter" idx="5"/>
          </p:nvPr>
        </p:nvSpPr>
        <p:spPr/>
        <p:txBody>
          <a:bodyPr/>
          <a:lstStyle/>
          <a:p>
            <a:fld id="{D50AF6DD-051E-413B-8808-23D5AB3BD9E4}" type="slidenum">
              <a:rPr lang="en-US" smtClean="0"/>
              <a:pPr/>
              <a:t>28</a:t>
            </a:fld>
            <a:endParaRPr lang="en-US"/>
          </a:p>
        </p:txBody>
      </p:sp>
    </p:spTree>
    <p:extLst>
      <p:ext uri="{BB962C8B-B14F-4D97-AF65-F5344CB8AC3E}">
        <p14:creationId xmlns:p14="http://schemas.microsoft.com/office/powerpoint/2010/main" val="4189721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50AF6DD-051E-413B-8808-23D5AB3BD9E4}" type="slidenum">
              <a:rPr lang="en-US" smtClean="0"/>
              <a:pPr/>
              <a:t>29</a:t>
            </a:fld>
            <a:endParaRPr lang="en-US"/>
          </a:p>
        </p:txBody>
      </p:sp>
    </p:spTree>
    <p:extLst>
      <p:ext uri="{BB962C8B-B14F-4D97-AF65-F5344CB8AC3E}">
        <p14:creationId xmlns:p14="http://schemas.microsoft.com/office/powerpoint/2010/main" val="42225705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二次函数，极值点不满足条件，那符合条件的极值点只能在</a:t>
            </a:r>
            <a:r>
              <a:rPr kumimoji="1" lang="en-US" altLang="zh-CN" dirty="0"/>
              <a:t>alpha_1</a:t>
            </a:r>
            <a:r>
              <a:rPr kumimoji="1" lang="zh-CN" altLang="en-US" dirty="0"/>
              <a:t>或者</a:t>
            </a:r>
            <a:r>
              <a:rPr kumimoji="1" lang="en-US" altLang="zh-CN" dirty="0"/>
              <a:t>alpha_2</a:t>
            </a:r>
            <a:r>
              <a:rPr kumimoji="1" lang="zh-CN" altLang="en-US" dirty="0"/>
              <a:t>为</a:t>
            </a:r>
            <a:r>
              <a:rPr kumimoji="1" lang="en-US" altLang="zh-CN" dirty="0"/>
              <a:t>0</a:t>
            </a:r>
            <a:r>
              <a:rPr kumimoji="1" lang="zh-CN" altLang="en-US" dirty="0"/>
              <a:t>的边界上</a:t>
            </a:r>
            <a:endParaRPr kumimoji="1" lang="en-US" altLang="zh-CN" dirty="0"/>
          </a:p>
          <a:p>
            <a:r>
              <a:rPr kumimoji="1" lang="zh-CN" altLang="en-US" dirty="0"/>
              <a:t>画图描述，比如画个二次函数，极值在</a:t>
            </a:r>
            <a:r>
              <a:rPr kumimoji="1" lang="en-US" altLang="zh-CN" dirty="0"/>
              <a:t>alpha2</a:t>
            </a:r>
            <a:r>
              <a:rPr kumimoji="1" lang="zh-CN" altLang="en-US" dirty="0"/>
              <a:t> </a:t>
            </a:r>
            <a:r>
              <a:rPr kumimoji="1" lang="en-US" altLang="zh-CN" dirty="0"/>
              <a:t>=-1</a:t>
            </a:r>
            <a:r>
              <a:rPr kumimoji="1" lang="zh-CN" altLang="en-US" dirty="0"/>
              <a:t>，不符合要求，那符合条件的应该在边界上</a:t>
            </a:r>
            <a:endParaRPr kumimoji="1" lang="en-US" altLang="zh-CN" dirty="0"/>
          </a:p>
          <a:p>
            <a:endParaRPr kumimoji="1" lang="en-US" altLang="zh-CN" dirty="0"/>
          </a:p>
          <a:p>
            <a:r>
              <a:rPr kumimoji="1" lang="zh-CN" altLang="en-US" dirty="0"/>
              <a:t>但是是</a:t>
            </a:r>
            <a:r>
              <a:rPr kumimoji="1" lang="en-US" altLang="zh-CN" dirty="0"/>
              <a:t>alpha_1</a:t>
            </a:r>
            <a:r>
              <a:rPr kumimoji="1" lang="zh-CN" altLang="en-US" dirty="0"/>
              <a:t>还是</a:t>
            </a:r>
            <a:r>
              <a:rPr kumimoji="1" lang="en-US" altLang="zh-CN" dirty="0"/>
              <a:t>alpha_2</a:t>
            </a:r>
            <a:r>
              <a:rPr kumimoji="1" lang="zh-CN" altLang="en-US" dirty="0"/>
              <a:t>为</a:t>
            </a:r>
            <a:r>
              <a:rPr kumimoji="1" lang="en-US" altLang="zh-CN" dirty="0"/>
              <a:t>0</a:t>
            </a:r>
            <a:r>
              <a:rPr kumimoji="1" lang="zh-CN" altLang="en-US" dirty="0"/>
              <a:t>，我们不知道，只能试试</a:t>
            </a:r>
          </a:p>
        </p:txBody>
      </p:sp>
      <p:sp>
        <p:nvSpPr>
          <p:cNvPr id="4" name="灯片编号占位符 3"/>
          <p:cNvSpPr>
            <a:spLocks noGrp="1"/>
          </p:cNvSpPr>
          <p:nvPr>
            <p:ph type="sldNum" sz="quarter" idx="5"/>
          </p:nvPr>
        </p:nvSpPr>
        <p:spPr/>
        <p:txBody>
          <a:bodyPr/>
          <a:lstStyle/>
          <a:p>
            <a:fld id="{D50AF6DD-051E-413B-8808-23D5AB3BD9E4}" type="slidenum">
              <a:rPr lang="en-US" smtClean="0"/>
              <a:pPr/>
              <a:t>34</a:t>
            </a:fld>
            <a:endParaRPr lang="en-US"/>
          </a:p>
        </p:txBody>
      </p:sp>
    </p:spTree>
    <p:extLst>
      <p:ext uri="{BB962C8B-B14F-4D97-AF65-F5344CB8AC3E}">
        <p14:creationId xmlns:p14="http://schemas.microsoft.com/office/powerpoint/2010/main" val="53108279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D50AF6DD-051E-413B-8808-23D5AB3BD9E4}" type="slidenum">
              <a:rPr lang="en-US" smtClean="0"/>
              <a:pPr/>
              <a:t>36</a:t>
            </a:fld>
            <a:endParaRPr lang="en-US"/>
          </a:p>
        </p:txBody>
      </p:sp>
    </p:spTree>
    <p:extLst>
      <p:ext uri="{BB962C8B-B14F-4D97-AF65-F5344CB8AC3E}">
        <p14:creationId xmlns:p14="http://schemas.microsoft.com/office/powerpoint/2010/main" val="144384512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支持向量是</a:t>
            </a:r>
            <a:r>
              <a:rPr kumimoji="1" lang="en-US" altLang="zh-CN" dirty="0"/>
              <a:t>alpha</a:t>
            </a:r>
            <a:r>
              <a:rPr kumimoji="1" lang="zh-CN" altLang="en-US" dirty="0"/>
              <a:t>不为</a:t>
            </a:r>
            <a:r>
              <a:rPr kumimoji="1" lang="en-US" altLang="zh-CN" dirty="0"/>
              <a:t>0</a:t>
            </a:r>
            <a:r>
              <a:rPr kumimoji="1" lang="zh-CN" altLang="en-US" dirty="0"/>
              <a:t>的点</a:t>
            </a:r>
            <a:endParaRPr kumimoji="1" lang="en-US" altLang="zh-CN" dirty="0"/>
          </a:p>
          <a:p>
            <a:endParaRPr kumimoji="1" lang="en-US" altLang="zh-CN" dirty="0"/>
          </a:p>
          <a:p>
            <a:r>
              <a:rPr kumimoji="1" lang="en-US" altLang="zh-CN" dirty="0"/>
              <a:t>SMO</a:t>
            </a:r>
            <a:r>
              <a:rPr kumimoji="1" lang="zh-CN" altLang="en-US" dirty="0"/>
              <a:t>算法快速求解</a:t>
            </a:r>
            <a:r>
              <a:rPr kumimoji="1" lang="en-US" altLang="zh-CN" dirty="0"/>
              <a:t>SVM</a:t>
            </a:r>
            <a:r>
              <a:rPr kumimoji="1" lang="zh-CN" altLang="en-US" dirty="0"/>
              <a:t>，迭代近似算法</a:t>
            </a:r>
          </a:p>
        </p:txBody>
      </p:sp>
      <p:sp>
        <p:nvSpPr>
          <p:cNvPr id="4" name="灯片编号占位符 3"/>
          <p:cNvSpPr>
            <a:spLocks noGrp="1"/>
          </p:cNvSpPr>
          <p:nvPr>
            <p:ph type="sldNum" sz="quarter" idx="5"/>
          </p:nvPr>
        </p:nvSpPr>
        <p:spPr/>
        <p:txBody>
          <a:bodyPr/>
          <a:lstStyle/>
          <a:p>
            <a:fld id="{D50AF6DD-051E-413B-8808-23D5AB3BD9E4}" type="slidenum">
              <a:rPr lang="en-US" smtClean="0"/>
              <a:pPr/>
              <a:t>37</a:t>
            </a:fld>
            <a:endParaRPr lang="en-US"/>
          </a:p>
        </p:txBody>
      </p:sp>
    </p:spTree>
    <p:extLst>
      <p:ext uri="{BB962C8B-B14F-4D97-AF65-F5344CB8AC3E}">
        <p14:creationId xmlns:p14="http://schemas.microsoft.com/office/powerpoint/2010/main" val="208643049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幻灯片图像占位符 1"/>
          <p:cNvSpPr>
            <a:spLocks noGrp="1" noRot="1" noChangeAspect="1" noTextEdit="1"/>
          </p:cNvSpPr>
          <p:nvPr>
            <p:ph type="sldImg"/>
          </p:nvPr>
        </p:nvSpPr>
        <p:spPr>
          <a:ln/>
        </p:spPr>
      </p:sp>
      <p:sp>
        <p:nvSpPr>
          <p:cNvPr id="145411" name="备注占位符 2"/>
          <p:cNvSpPr>
            <a:spLocks noGrp="1"/>
          </p:cNvSpPr>
          <p:nvPr>
            <p:ph type="body" idx="1"/>
          </p:nvPr>
        </p:nvSpPr>
        <p:spPr>
          <a:noFill/>
          <a:ln/>
        </p:spPr>
        <p:txBody>
          <a:bodyPr/>
          <a:lstStyle/>
          <a:p>
            <a:r>
              <a:rPr lang="zh-CN" altLang="en-US" dirty="0">
                <a:ea typeface="黑体" pitchFamily="49" charset="-122"/>
              </a:rPr>
              <a:t>怎么划线把数据分开？</a:t>
            </a:r>
            <a:endParaRPr lang="en-US" altLang="zh-CN" dirty="0">
              <a:ea typeface="黑体" pitchFamily="49" charset="-122"/>
            </a:endParaRPr>
          </a:p>
          <a:p>
            <a:endParaRPr lang="en-US" altLang="zh-CN" dirty="0">
              <a:ea typeface="黑体" pitchFamily="49" charset="-122"/>
            </a:endParaRPr>
          </a:p>
          <a:p>
            <a:r>
              <a:rPr lang="zh-CN" altLang="en-US" dirty="0">
                <a:ea typeface="黑体" pitchFamily="49" charset="-122"/>
              </a:rPr>
              <a:t>跑三千米，多少分钟及格？</a:t>
            </a:r>
            <a:endParaRPr lang="en-US" altLang="zh-CN" dirty="0">
              <a:ea typeface="黑体" pitchFamily="49" charset="-122"/>
            </a:endParaRPr>
          </a:p>
          <a:p>
            <a:endParaRPr lang="en-US" altLang="zh-CN" dirty="0">
              <a:ea typeface="黑体" pitchFamily="49" charset="-122"/>
            </a:endParaRPr>
          </a:p>
          <a:p>
            <a:r>
              <a:rPr lang="zh-CN" altLang="en-US" dirty="0">
                <a:ea typeface="黑体" pitchFamily="49" charset="-122"/>
              </a:rPr>
              <a:t>对不同身体的同学要求一致肯定不合理，但也不能差的太多</a:t>
            </a:r>
          </a:p>
        </p:txBody>
      </p:sp>
      <p:sp>
        <p:nvSpPr>
          <p:cNvPr id="145412" name="灯片编号占位符 3"/>
          <p:cNvSpPr>
            <a:spLocks noGrp="1"/>
          </p:cNvSpPr>
          <p:nvPr>
            <p:ph type="sldNum" sz="quarter" idx="5"/>
          </p:nvPr>
        </p:nvSpPr>
        <p:spPr>
          <a:noFill/>
        </p:spPr>
        <p:txBody>
          <a:bodyPr/>
          <a:lstStyle/>
          <a:p>
            <a:fld id="{8F65A651-3B8E-4ED7-9EE2-CDF6140B3D7B}" type="slidenum">
              <a:rPr lang="en-US" altLang="zh-CN" smtClean="0">
                <a:ea typeface="黑体" pitchFamily="49" charset="-122"/>
              </a:rPr>
              <a:pPr/>
              <a:t>38</a:t>
            </a:fld>
            <a:endParaRPr lang="en-US" altLang="zh-CN">
              <a:ea typeface="黑体" pitchFamily="49" charset="-122"/>
            </a:endParaRPr>
          </a:p>
        </p:txBody>
      </p:sp>
    </p:spTree>
    <p:extLst>
      <p:ext uri="{BB962C8B-B14F-4D97-AF65-F5344CB8AC3E}">
        <p14:creationId xmlns:p14="http://schemas.microsoft.com/office/powerpoint/2010/main" val="359063389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幻灯片图像占位符 1"/>
          <p:cNvSpPr>
            <a:spLocks noGrp="1" noRot="1" noChangeAspect="1" noTextEdit="1"/>
          </p:cNvSpPr>
          <p:nvPr>
            <p:ph type="sldImg"/>
          </p:nvPr>
        </p:nvSpPr>
        <p:spPr>
          <a:ln/>
        </p:spPr>
      </p:sp>
      <p:sp>
        <p:nvSpPr>
          <p:cNvPr id="145411" name="备注占位符 2"/>
          <p:cNvSpPr>
            <a:spLocks noGrp="1"/>
          </p:cNvSpPr>
          <p:nvPr>
            <p:ph type="body" idx="1"/>
          </p:nvPr>
        </p:nvSpPr>
        <p:spPr>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altLang="zh-CN" sz="1200" kern="1200" dirty="0">
                <a:solidFill>
                  <a:schemeClr val="tx1"/>
                </a:solidFill>
                <a:latin typeface="+mn-lt"/>
                <a:ea typeface="+mn-ea"/>
                <a:cs typeface="+mn-cs"/>
              </a:rPr>
              <a:t>ξ </a:t>
            </a:r>
            <a:r>
              <a:rPr lang="en-US" altLang="zh-CN" sz="1200" kern="1200" dirty="0" err="1">
                <a:solidFill>
                  <a:schemeClr val="tx1"/>
                </a:solidFill>
                <a:latin typeface="+mn-lt"/>
                <a:ea typeface="+mn-ea"/>
                <a:cs typeface="+mn-cs"/>
              </a:rPr>
              <a:t>ksi</a:t>
            </a:r>
            <a:r>
              <a:rPr lang="en-US" altLang="zh-CN" sz="1200" kern="1200" dirty="0">
                <a:solidFill>
                  <a:schemeClr val="tx1"/>
                </a:solidFill>
                <a:latin typeface="+mn-lt"/>
                <a:ea typeface="+mn-ea"/>
                <a:cs typeface="+mn-cs"/>
              </a:rPr>
              <a:t> </a:t>
            </a:r>
            <a:r>
              <a:rPr lang="zh-CN" altLang="en-US" sz="1200" kern="1200" dirty="0">
                <a:solidFill>
                  <a:schemeClr val="tx1"/>
                </a:solidFill>
                <a:latin typeface="+mn-lt"/>
                <a:ea typeface="+mn-ea"/>
                <a:cs typeface="+mn-cs"/>
              </a:rPr>
              <a:t>科赛</a:t>
            </a:r>
            <a:r>
              <a:rPr lang="en-US" altLang="zh-CN" sz="1200" kern="1200" dirty="0">
                <a:solidFill>
                  <a:schemeClr val="tx1"/>
                </a:solidFill>
                <a:latin typeface="+mn-lt"/>
                <a:ea typeface="+mn-ea"/>
                <a:cs typeface="+mn-cs"/>
              </a:rPr>
              <a:t> </a:t>
            </a:r>
            <a:endParaRPr lang="zh-CN" altLang="en-US" dirty="0"/>
          </a:p>
          <a:p>
            <a:endParaRPr lang="zh-CN" altLang="en-US" dirty="0">
              <a:ea typeface="黑体" pitchFamily="49" charset="-122"/>
            </a:endParaRPr>
          </a:p>
        </p:txBody>
      </p:sp>
      <p:sp>
        <p:nvSpPr>
          <p:cNvPr id="145412" name="灯片编号占位符 3"/>
          <p:cNvSpPr>
            <a:spLocks noGrp="1"/>
          </p:cNvSpPr>
          <p:nvPr>
            <p:ph type="sldNum" sz="quarter" idx="5"/>
          </p:nvPr>
        </p:nvSpPr>
        <p:spPr>
          <a:noFill/>
        </p:spPr>
        <p:txBody>
          <a:bodyPr/>
          <a:lstStyle/>
          <a:p>
            <a:fld id="{8F65A651-3B8E-4ED7-9EE2-CDF6140B3D7B}" type="slidenum">
              <a:rPr lang="en-US" altLang="zh-CN" smtClean="0">
                <a:ea typeface="黑体" pitchFamily="49" charset="-122"/>
              </a:rPr>
              <a:pPr/>
              <a:t>39</a:t>
            </a:fld>
            <a:endParaRPr lang="en-US" altLang="zh-CN">
              <a:ea typeface="黑体" pitchFamily="49" charset="-122"/>
            </a:endParaRPr>
          </a:p>
        </p:txBody>
      </p:sp>
    </p:spTree>
    <p:extLst>
      <p:ext uri="{BB962C8B-B14F-4D97-AF65-F5344CB8AC3E}">
        <p14:creationId xmlns:p14="http://schemas.microsoft.com/office/powerpoint/2010/main" val="170779743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l-GR" altLang="zh-CN" sz="1200" kern="1200" dirty="0">
                <a:solidFill>
                  <a:schemeClr val="tx1"/>
                </a:solidFill>
                <a:latin typeface="+mn-lt"/>
                <a:ea typeface="+mn-ea"/>
                <a:cs typeface="+mn-cs"/>
              </a:rPr>
              <a:t>ξ </a:t>
            </a:r>
            <a:r>
              <a:rPr lang="en-US" altLang="zh-CN" sz="1200" kern="1200" dirty="0" err="1">
                <a:solidFill>
                  <a:schemeClr val="tx1"/>
                </a:solidFill>
                <a:latin typeface="+mn-lt"/>
                <a:ea typeface="+mn-ea"/>
                <a:cs typeface="+mn-cs"/>
              </a:rPr>
              <a:t>ksi</a:t>
            </a:r>
            <a:r>
              <a:rPr lang="en-US" altLang="zh-CN" sz="1200" kern="1200" dirty="0">
                <a:solidFill>
                  <a:schemeClr val="tx1"/>
                </a:solidFill>
                <a:latin typeface="+mn-lt"/>
                <a:ea typeface="+mn-ea"/>
                <a:cs typeface="+mn-cs"/>
              </a:rPr>
              <a:t> </a:t>
            </a:r>
            <a:r>
              <a:rPr lang="zh-CN" altLang="en-US" sz="1200" kern="1200" dirty="0">
                <a:solidFill>
                  <a:schemeClr val="tx1"/>
                </a:solidFill>
                <a:latin typeface="+mn-lt"/>
                <a:ea typeface="+mn-ea"/>
                <a:cs typeface="+mn-cs"/>
              </a:rPr>
              <a:t>科赛</a:t>
            </a:r>
            <a:r>
              <a:rPr lang="en-US" altLang="zh-CN" sz="1200" kern="1200" dirty="0">
                <a:solidFill>
                  <a:schemeClr val="tx1"/>
                </a:solidFill>
                <a:latin typeface="+mn-lt"/>
                <a:ea typeface="+mn-ea"/>
                <a:cs typeface="+mn-cs"/>
              </a:rPr>
              <a:t> </a:t>
            </a:r>
            <a:endParaRPr lang="zh-CN" altLang="en-US" dirty="0"/>
          </a:p>
        </p:txBody>
      </p:sp>
      <p:sp>
        <p:nvSpPr>
          <p:cNvPr id="4" name="灯片编号占位符 3"/>
          <p:cNvSpPr>
            <a:spLocks noGrp="1"/>
          </p:cNvSpPr>
          <p:nvPr>
            <p:ph type="sldNum" sz="quarter" idx="10"/>
          </p:nvPr>
        </p:nvSpPr>
        <p:spPr/>
        <p:txBody>
          <a:bodyPr/>
          <a:lstStyle/>
          <a:p>
            <a:fld id="{D50AF6DD-051E-413B-8808-23D5AB3BD9E4}" type="slidenum">
              <a:rPr lang="en-US" smtClean="0"/>
              <a:pPr/>
              <a:t>40</a:t>
            </a:fld>
            <a:endParaRPr lang="en-US"/>
          </a:p>
        </p:txBody>
      </p:sp>
    </p:spTree>
    <p:extLst>
      <p:ext uri="{BB962C8B-B14F-4D97-AF65-F5344CB8AC3E}">
        <p14:creationId xmlns:p14="http://schemas.microsoft.com/office/powerpoint/2010/main" val="367174117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C</a:t>
            </a:r>
            <a:r>
              <a:rPr kumimoji="1" lang="zh-CN" altLang="en-US" dirty="0"/>
              <a:t>趋近于无穷的时候会怎么样？</a:t>
            </a:r>
          </a:p>
        </p:txBody>
      </p:sp>
      <p:sp>
        <p:nvSpPr>
          <p:cNvPr id="4" name="灯片编号占位符 3"/>
          <p:cNvSpPr>
            <a:spLocks noGrp="1"/>
          </p:cNvSpPr>
          <p:nvPr>
            <p:ph type="sldNum" sz="quarter" idx="5"/>
          </p:nvPr>
        </p:nvSpPr>
        <p:spPr/>
        <p:txBody>
          <a:bodyPr/>
          <a:lstStyle/>
          <a:p>
            <a:fld id="{D50AF6DD-051E-413B-8808-23D5AB3BD9E4}" type="slidenum">
              <a:rPr lang="en-US" smtClean="0"/>
              <a:pPr/>
              <a:t>41</a:t>
            </a:fld>
            <a:endParaRPr lang="en-US"/>
          </a:p>
        </p:txBody>
      </p:sp>
    </p:spTree>
    <p:extLst>
      <p:ext uri="{BB962C8B-B14F-4D97-AF65-F5344CB8AC3E}">
        <p14:creationId xmlns:p14="http://schemas.microsoft.com/office/powerpoint/2010/main" val="75636029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幻灯片图像占位符 1"/>
          <p:cNvSpPr>
            <a:spLocks noGrp="1" noRot="1" noChangeAspect="1" noTextEdit="1"/>
          </p:cNvSpPr>
          <p:nvPr>
            <p:ph type="sldImg"/>
          </p:nvPr>
        </p:nvSpPr>
        <p:spPr>
          <a:ln/>
        </p:spPr>
      </p:sp>
      <p:sp>
        <p:nvSpPr>
          <p:cNvPr id="146435" name="备注占位符 2"/>
          <p:cNvSpPr>
            <a:spLocks noGrp="1"/>
          </p:cNvSpPr>
          <p:nvPr>
            <p:ph type="body" idx="1"/>
          </p:nvPr>
        </p:nvSpPr>
        <p:spPr>
          <a:noFill/>
          <a:ln/>
        </p:spPr>
        <p:txBody>
          <a:bodyPr/>
          <a:lstStyle/>
          <a:p>
            <a:r>
              <a:rPr lang="zh-CN" altLang="en-US" dirty="0">
                <a:ea typeface="黑体" pitchFamily="49" charset="-122"/>
              </a:rPr>
              <a:t>推导出来和线性可分非常像，但有一点点差别，是哪里呢？</a:t>
            </a:r>
            <a:endParaRPr lang="en-US" altLang="zh-CN" dirty="0">
              <a:ea typeface="黑体" pitchFamily="49" charset="-122"/>
            </a:endParaRPr>
          </a:p>
          <a:p>
            <a:endParaRPr lang="en-US" altLang="zh-CN" dirty="0">
              <a:ea typeface="黑体" pitchFamily="49" charset="-122"/>
            </a:endParaRPr>
          </a:p>
          <a:p>
            <a:r>
              <a:rPr lang="en-US" altLang="zh-CN" dirty="0">
                <a:ea typeface="黑体" pitchFamily="49" charset="-122"/>
              </a:rPr>
              <a:t>C</a:t>
            </a:r>
            <a:r>
              <a:rPr lang="zh-CN" altLang="en-US" dirty="0">
                <a:ea typeface="黑体" pitchFamily="49" charset="-122"/>
              </a:rPr>
              <a:t>趋近于无穷就是线性可分，也就是</a:t>
            </a:r>
            <a:r>
              <a:rPr lang="en-US" altLang="zh-CN" dirty="0">
                <a:ea typeface="黑体" pitchFamily="49" charset="-122"/>
              </a:rPr>
              <a:t>alpha</a:t>
            </a:r>
            <a:r>
              <a:rPr lang="zh-CN" altLang="en-US" dirty="0">
                <a:ea typeface="黑体" pitchFamily="49" charset="-122"/>
              </a:rPr>
              <a:t>只需要大于等于</a:t>
            </a:r>
            <a:r>
              <a:rPr lang="en-US" altLang="zh-CN" dirty="0">
                <a:ea typeface="黑体" pitchFamily="49" charset="-122"/>
              </a:rPr>
              <a:t>0</a:t>
            </a:r>
          </a:p>
          <a:p>
            <a:endParaRPr lang="en-US" altLang="zh-CN" dirty="0">
              <a:ea typeface="黑体" pitchFamily="49" charset="-122"/>
            </a:endParaRPr>
          </a:p>
          <a:p>
            <a:r>
              <a:rPr lang="zh-CN" altLang="en-US" dirty="0">
                <a:ea typeface="黑体" pitchFamily="49" charset="-122"/>
              </a:rPr>
              <a:t>注意与线性可分的差别在于</a:t>
            </a:r>
            <a:r>
              <a:rPr lang="en-US" altLang="zh-CN" dirty="0">
                <a:ea typeface="黑体" pitchFamily="49" charset="-122"/>
              </a:rPr>
              <a:t>ai</a:t>
            </a:r>
            <a:r>
              <a:rPr lang="zh-CN" altLang="en-US" dirty="0">
                <a:ea typeface="黑体" pitchFamily="49" charset="-122"/>
              </a:rPr>
              <a:t>的限制</a:t>
            </a:r>
          </a:p>
        </p:txBody>
      </p:sp>
      <p:sp>
        <p:nvSpPr>
          <p:cNvPr id="146436" name="灯片编号占位符 3"/>
          <p:cNvSpPr>
            <a:spLocks noGrp="1"/>
          </p:cNvSpPr>
          <p:nvPr>
            <p:ph type="sldNum" sz="quarter" idx="5"/>
          </p:nvPr>
        </p:nvSpPr>
        <p:spPr>
          <a:noFill/>
        </p:spPr>
        <p:txBody>
          <a:bodyPr/>
          <a:lstStyle/>
          <a:p>
            <a:fld id="{292AD3DD-260E-451C-8D85-9134AAF72DC7}" type="slidenum">
              <a:rPr lang="en-US" altLang="zh-CN" smtClean="0">
                <a:ea typeface="黑体" pitchFamily="49" charset="-122"/>
              </a:rPr>
              <a:pPr/>
              <a:t>43</a:t>
            </a:fld>
            <a:endParaRPr lang="en-US" altLang="zh-CN">
              <a:ea typeface="黑体" pitchFamily="49" charset="-122"/>
            </a:endParaRPr>
          </a:p>
        </p:txBody>
      </p:sp>
    </p:spTree>
    <p:extLst>
      <p:ext uri="{BB962C8B-B14F-4D97-AF65-F5344CB8AC3E}">
        <p14:creationId xmlns:p14="http://schemas.microsoft.com/office/powerpoint/2010/main" val="47850919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幻灯片图像占位符 1"/>
          <p:cNvSpPr>
            <a:spLocks noGrp="1" noRot="1" noChangeAspect="1" noTextEdit="1"/>
          </p:cNvSpPr>
          <p:nvPr>
            <p:ph type="sldImg"/>
          </p:nvPr>
        </p:nvSpPr>
        <p:spPr>
          <a:ln/>
        </p:spPr>
      </p:sp>
      <p:sp>
        <p:nvSpPr>
          <p:cNvPr id="147459" name="备注占位符 2"/>
          <p:cNvSpPr>
            <a:spLocks noGrp="1"/>
          </p:cNvSpPr>
          <p:nvPr>
            <p:ph type="body" idx="1"/>
          </p:nvPr>
        </p:nvSpPr>
        <p:spPr>
          <a:noFill/>
          <a:ln/>
        </p:spPr>
        <p:txBody>
          <a:bodyPr/>
          <a:lstStyle/>
          <a:p>
            <a:r>
              <a:rPr lang="zh-CN" altLang="en-US" dirty="0">
                <a:ea typeface="黑体" pitchFamily="49" charset="-122"/>
              </a:rPr>
              <a:t>注意与线性可分的差别在于</a:t>
            </a:r>
            <a:r>
              <a:rPr lang="en-US" altLang="zh-CN" dirty="0" err="1">
                <a:ea typeface="黑体" pitchFamily="49" charset="-122"/>
              </a:rPr>
              <a:t>ai</a:t>
            </a:r>
            <a:r>
              <a:rPr lang="zh-CN" altLang="en-US">
                <a:ea typeface="黑体" pitchFamily="49" charset="-122"/>
              </a:rPr>
              <a:t>的限制          </a:t>
            </a:r>
          </a:p>
        </p:txBody>
      </p:sp>
      <p:sp>
        <p:nvSpPr>
          <p:cNvPr id="147460" name="灯片编号占位符 3"/>
          <p:cNvSpPr>
            <a:spLocks noGrp="1"/>
          </p:cNvSpPr>
          <p:nvPr>
            <p:ph type="sldNum" sz="quarter" idx="5"/>
          </p:nvPr>
        </p:nvSpPr>
        <p:spPr>
          <a:noFill/>
        </p:spPr>
        <p:txBody>
          <a:bodyPr/>
          <a:lstStyle/>
          <a:p>
            <a:fld id="{14415DBB-E651-4E15-996B-4F8AD7FB75E9}" type="slidenum">
              <a:rPr lang="en-US" altLang="zh-CN" smtClean="0">
                <a:ea typeface="黑体" pitchFamily="49" charset="-122"/>
              </a:rPr>
              <a:pPr/>
              <a:t>44</a:t>
            </a:fld>
            <a:endParaRPr lang="en-US" altLang="zh-CN">
              <a:ea typeface="黑体" pitchFamily="49" charset="-122"/>
            </a:endParaRPr>
          </a:p>
        </p:txBody>
      </p:sp>
    </p:spTree>
    <p:extLst>
      <p:ext uri="{BB962C8B-B14F-4D97-AF65-F5344CB8AC3E}">
        <p14:creationId xmlns:p14="http://schemas.microsoft.com/office/powerpoint/2010/main" val="353833497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幻灯片图像占位符 1"/>
          <p:cNvSpPr>
            <a:spLocks noGrp="1" noRot="1" noChangeAspect="1" noTextEdit="1"/>
          </p:cNvSpPr>
          <p:nvPr>
            <p:ph type="sldImg"/>
          </p:nvPr>
        </p:nvSpPr>
        <p:spPr>
          <a:ln/>
        </p:spPr>
      </p:sp>
      <p:sp>
        <p:nvSpPr>
          <p:cNvPr id="148483" name="备注占位符 2"/>
          <p:cNvSpPr>
            <a:spLocks noGrp="1"/>
          </p:cNvSpPr>
          <p:nvPr>
            <p:ph type="body" idx="1"/>
          </p:nvPr>
        </p:nvSpPr>
        <p:spPr>
          <a:noFill/>
          <a:ln/>
        </p:spPr>
        <p:txBody>
          <a:bodyPr/>
          <a:lstStyle/>
          <a:p>
            <a:endParaRPr lang="zh-CN" altLang="en-US">
              <a:ea typeface="黑体" pitchFamily="49" charset="-122"/>
            </a:endParaRPr>
          </a:p>
        </p:txBody>
      </p:sp>
      <p:sp>
        <p:nvSpPr>
          <p:cNvPr id="148484" name="灯片编号占位符 3"/>
          <p:cNvSpPr>
            <a:spLocks noGrp="1"/>
          </p:cNvSpPr>
          <p:nvPr>
            <p:ph type="sldNum" sz="quarter" idx="5"/>
          </p:nvPr>
        </p:nvSpPr>
        <p:spPr>
          <a:noFill/>
        </p:spPr>
        <p:txBody>
          <a:bodyPr/>
          <a:lstStyle/>
          <a:p>
            <a:fld id="{759BDE37-F490-4D43-84D1-E931DD116FFB}" type="slidenum">
              <a:rPr lang="en-US" altLang="zh-CN" smtClean="0">
                <a:ea typeface="黑体" pitchFamily="49" charset="-122"/>
              </a:rPr>
              <a:pPr/>
              <a:t>46</a:t>
            </a:fld>
            <a:endParaRPr lang="en-US" altLang="zh-CN">
              <a:ea typeface="黑体" pitchFamily="49" charset="-122"/>
            </a:endParaRPr>
          </a:p>
        </p:txBody>
      </p:sp>
    </p:spTree>
    <p:extLst>
      <p:ext uri="{BB962C8B-B14F-4D97-AF65-F5344CB8AC3E}">
        <p14:creationId xmlns:p14="http://schemas.microsoft.com/office/powerpoint/2010/main" val="355222427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幻灯片图像占位符 1"/>
          <p:cNvSpPr>
            <a:spLocks noGrp="1" noRot="1" noChangeAspect="1" noTextEdit="1"/>
          </p:cNvSpPr>
          <p:nvPr>
            <p:ph type="sldImg"/>
          </p:nvPr>
        </p:nvSpPr>
        <p:spPr>
          <a:ln/>
        </p:spPr>
      </p:sp>
      <p:sp>
        <p:nvSpPr>
          <p:cNvPr id="149507" name="备注占位符 2"/>
          <p:cNvSpPr>
            <a:spLocks noGrp="1"/>
          </p:cNvSpPr>
          <p:nvPr>
            <p:ph type="body" idx="1"/>
          </p:nvPr>
        </p:nvSpPr>
        <p:spPr>
          <a:noFill/>
          <a:ln/>
        </p:spPr>
        <p:txBody>
          <a:bodyPr/>
          <a:lstStyle/>
          <a:p>
            <a:r>
              <a:rPr lang="en-US" altLang="zh-CN" dirty="0">
                <a:ea typeface="黑体" pitchFamily="49" charset="-122"/>
              </a:rPr>
              <a:t> </a:t>
            </a:r>
            <a:r>
              <a:rPr lang="zh-CN" altLang="en-US" dirty="0">
                <a:ea typeface="黑体" pitchFamily="49" charset="-122"/>
              </a:rPr>
              <a:t>线性可分时，最大间隔是取函数间隔为</a:t>
            </a:r>
            <a:r>
              <a:rPr lang="en-US" altLang="zh-CN" dirty="0">
                <a:ea typeface="黑体" pitchFamily="49" charset="-122"/>
              </a:rPr>
              <a:t>1</a:t>
            </a:r>
            <a:r>
              <a:rPr lang="zh-CN" altLang="en-US" dirty="0">
                <a:ea typeface="黑体" pitchFamily="49" charset="-122"/>
              </a:rPr>
              <a:t>，软划分时，是</a:t>
            </a:r>
            <a:r>
              <a:rPr lang="en-US" altLang="zh-CN" dirty="0">
                <a:ea typeface="黑体" pitchFamily="49" charset="-122"/>
              </a:rPr>
              <a:t>1-</a:t>
            </a:r>
            <a:r>
              <a:rPr lang="el-GR" altLang="zh-CN" sz="1200" kern="1200" dirty="0">
                <a:solidFill>
                  <a:schemeClr val="tx1"/>
                </a:solidFill>
                <a:latin typeface="+mn-lt"/>
                <a:ea typeface="+mn-ea"/>
                <a:cs typeface="+mn-cs"/>
              </a:rPr>
              <a:t>ξ</a:t>
            </a:r>
            <a:endParaRPr lang="en-US" altLang="zh-CN" sz="1200" kern="1200" dirty="0">
              <a:solidFill>
                <a:schemeClr val="tx1"/>
              </a:solidFill>
              <a:latin typeface="+mn-lt"/>
              <a:ea typeface="+mn-ea"/>
              <a:cs typeface="+mn-cs"/>
            </a:endParaRPr>
          </a:p>
          <a:p>
            <a:endParaRPr lang="en-US" altLang="zh-CN" sz="1200" kern="1200" dirty="0">
              <a:solidFill>
                <a:schemeClr val="tx1"/>
              </a:solidFill>
              <a:latin typeface="+mn-lt"/>
              <a:ea typeface="+mn-ea"/>
              <a:cs typeface="+mn-cs"/>
            </a:endParaRPr>
          </a:p>
          <a:p>
            <a:r>
              <a:rPr lang="zh-CN" altLang="el-GR" sz="1200" kern="1200" dirty="0">
                <a:solidFill>
                  <a:schemeClr val="tx1"/>
                </a:solidFill>
                <a:latin typeface="+mn-lt"/>
                <a:ea typeface="+mn-ea"/>
                <a:cs typeface="+mn-cs"/>
              </a:rPr>
              <a:t>介绍一下</a:t>
            </a:r>
            <a:r>
              <a:rPr lang="zh-CN" altLang="en-US" sz="1200" kern="1200" dirty="0">
                <a:solidFill>
                  <a:schemeClr val="tx1"/>
                </a:solidFill>
                <a:latin typeface="+mn-lt"/>
                <a:ea typeface="+mn-ea"/>
                <a:cs typeface="+mn-cs"/>
              </a:rPr>
              <a:t>哪些是支持向量，介绍一下哪些对应的</a:t>
            </a:r>
            <a:r>
              <a:rPr lang="en-US" altLang="zh-CN" sz="1200" kern="1200" dirty="0" err="1">
                <a:solidFill>
                  <a:schemeClr val="tx1"/>
                </a:solidFill>
                <a:latin typeface="+mn-lt"/>
                <a:ea typeface="+mn-ea"/>
                <a:cs typeface="+mn-cs"/>
              </a:rPr>
              <a:t>ksi</a:t>
            </a:r>
            <a:r>
              <a:rPr lang="zh-CN" altLang="en-US" sz="1200" kern="1200" dirty="0">
                <a:solidFill>
                  <a:schemeClr val="tx1"/>
                </a:solidFill>
                <a:latin typeface="+mn-lt"/>
                <a:ea typeface="+mn-ea"/>
                <a:cs typeface="+mn-cs"/>
              </a:rPr>
              <a:t>是大于</a:t>
            </a:r>
            <a:r>
              <a:rPr lang="en-US" altLang="zh-CN" sz="1200" kern="1200" dirty="0">
                <a:solidFill>
                  <a:schemeClr val="tx1"/>
                </a:solidFill>
                <a:latin typeface="+mn-lt"/>
                <a:ea typeface="+mn-ea"/>
                <a:cs typeface="+mn-cs"/>
              </a:rPr>
              <a:t>0</a:t>
            </a:r>
            <a:r>
              <a:rPr lang="zh-CN" altLang="en-US" sz="1200" kern="1200" dirty="0">
                <a:solidFill>
                  <a:schemeClr val="tx1"/>
                </a:solidFill>
                <a:latin typeface="+mn-lt"/>
                <a:ea typeface="+mn-ea"/>
                <a:cs typeface="+mn-cs"/>
              </a:rPr>
              <a:t>的和大于</a:t>
            </a:r>
            <a:r>
              <a:rPr lang="en-US" altLang="zh-CN" sz="1200" kern="1200" dirty="0">
                <a:solidFill>
                  <a:schemeClr val="tx1"/>
                </a:solidFill>
                <a:latin typeface="+mn-lt"/>
                <a:ea typeface="+mn-ea"/>
                <a:cs typeface="+mn-cs"/>
              </a:rPr>
              <a:t>1</a:t>
            </a:r>
            <a:r>
              <a:rPr lang="zh-CN" altLang="en-US" sz="1200" kern="1200" dirty="0">
                <a:solidFill>
                  <a:schemeClr val="tx1"/>
                </a:solidFill>
                <a:latin typeface="+mn-lt"/>
                <a:ea typeface="+mn-ea"/>
                <a:cs typeface="+mn-cs"/>
              </a:rPr>
              <a:t>的</a:t>
            </a:r>
            <a:endParaRPr lang="zh-CN" altLang="en-US" dirty="0">
              <a:ea typeface="黑体" pitchFamily="49" charset="-122"/>
            </a:endParaRPr>
          </a:p>
        </p:txBody>
      </p:sp>
      <p:sp>
        <p:nvSpPr>
          <p:cNvPr id="149508" name="灯片编号占位符 3"/>
          <p:cNvSpPr>
            <a:spLocks noGrp="1"/>
          </p:cNvSpPr>
          <p:nvPr>
            <p:ph type="sldNum" sz="quarter" idx="5"/>
          </p:nvPr>
        </p:nvSpPr>
        <p:spPr>
          <a:noFill/>
        </p:spPr>
        <p:txBody>
          <a:bodyPr/>
          <a:lstStyle/>
          <a:p>
            <a:fld id="{78C4BEE5-2227-49A3-9A83-51C6F417DF0E}" type="slidenum">
              <a:rPr lang="en-US" altLang="zh-CN" smtClean="0">
                <a:ea typeface="黑体" pitchFamily="49" charset="-122"/>
              </a:rPr>
              <a:pPr/>
              <a:t>47</a:t>
            </a:fld>
            <a:endParaRPr lang="en-US" altLang="zh-CN">
              <a:ea typeface="黑体" pitchFamily="49" charset="-122"/>
            </a:endParaRPr>
          </a:p>
        </p:txBody>
      </p:sp>
    </p:spTree>
    <p:extLst>
      <p:ext uri="{BB962C8B-B14F-4D97-AF65-F5344CB8AC3E}">
        <p14:creationId xmlns:p14="http://schemas.microsoft.com/office/powerpoint/2010/main" val="423417223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第</a:t>
            </a:r>
            <a:r>
              <a:rPr kumimoji="1" lang="en-US" altLang="zh-CN" dirty="0"/>
              <a:t>12</a:t>
            </a:r>
            <a:r>
              <a:rPr kumimoji="1" lang="zh-CN" altLang="en-US" dirty="0"/>
              <a:t>堂课第二节结束</a:t>
            </a:r>
          </a:p>
        </p:txBody>
      </p:sp>
      <p:sp>
        <p:nvSpPr>
          <p:cNvPr id="4" name="灯片编号占位符 3"/>
          <p:cNvSpPr>
            <a:spLocks noGrp="1"/>
          </p:cNvSpPr>
          <p:nvPr>
            <p:ph type="sldNum" sz="quarter" idx="5"/>
          </p:nvPr>
        </p:nvSpPr>
        <p:spPr/>
        <p:txBody>
          <a:bodyPr/>
          <a:lstStyle/>
          <a:p>
            <a:fld id="{D50AF6DD-051E-413B-8808-23D5AB3BD9E4}" type="slidenum">
              <a:rPr lang="en-US" smtClean="0"/>
              <a:pPr/>
              <a:t>48</a:t>
            </a:fld>
            <a:endParaRPr lang="en-US"/>
          </a:p>
        </p:txBody>
      </p:sp>
    </p:spTree>
    <p:extLst>
      <p:ext uri="{BB962C8B-B14F-4D97-AF65-F5344CB8AC3E}">
        <p14:creationId xmlns:p14="http://schemas.microsoft.com/office/powerpoint/2010/main" val="40799036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横纵坐标是</a:t>
            </a:r>
            <a:r>
              <a:rPr kumimoji="1" lang="en-US" altLang="zh-CN" dirty="0"/>
              <a:t>x</a:t>
            </a:r>
            <a:r>
              <a:rPr kumimoji="1" lang="en-US" altLang="zh-CN" baseline="30000" dirty="0"/>
              <a:t>(1)</a:t>
            </a:r>
            <a:r>
              <a:rPr kumimoji="1" lang="zh-CN" altLang="en-US" dirty="0"/>
              <a:t> 和 </a:t>
            </a:r>
            <a:r>
              <a:rPr kumimoji="1" lang="en-US" altLang="zh-CN" dirty="0"/>
              <a:t>x</a:t>
            </a:r>
            <a:r>
              <a:rPr kumimoji="1" lang="en-US" altLang="zh-CN" baseline="30000" dirty="0"/>
              <a:t>(2)</a:t>
            </a:r>
          </a:p>
          <a:p>
            <a:endParaRPr kumimoji="1" lang="en-US" altLang="zh-CN" baseline="30000" dirty="0"/>
          </a:p>
          <a:p>
            <a:r>
              <a:rPr kumimoji="1" lang="zh-CN" altLang="en-US" baseline="30000" dirty="0"/>
              <a:t>还有多少人记得椭圆的公式是什么？</a:t>
            </a:r>
          </a:p>
        </p:txBody>
      </p:sp>
      <p:sp>
        <p:nvSpPr>
          <p:cNvPr id="4" name="灯片编号占位符 3"/>
          <p:cNvSpPr>
            <a:spLocks noGrp="1"/>
          </p:cNvSpPr>
          <p:nvPr>
            <p:ph type="sldNum" sz="quarter" idx="5"/>
          </p:nvPr>
        </p:nvSpPr>
        <p:spPr/>
        <p:txBody>
          <a:bodyPr/>
          <a:lstStyle/>
          <a:p>
            <a:fld id="{D50AF6DD-051E-413B-8808-23D5AB3BD9E4}" type="slidenum">
              <a:rPr lang="en-US" smtClean="0"/>
              <a:pPr/>
              <a:t>50</a:t>
            </a:fld>
            <a:endParaRPr lang="en-US"/>
          </a:p>
        </p:txBody>
      </p:sp>
    </p:spTree>
    <p:extLst>
      <p:ext uri="{BB962C8B-B14F-4D97-AF65-F5344CB8AC3E}">
        <p14:creationId xmlns:p14="http://schemas.microsoft.com/office/powerpoint/2010/main" val="210599103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20220523</a:t>
            </a:r>
            <a:endParaRPr lang="zh-CN" altLang="en-US" dirty="0"/>
          </a:p>
        </p:txBody>
      </p:sp>
      <p:sp>
        <p:nvSpPr>
          <p:cNvPr id="4" name="灯片编号占位符 3"/>
          <p:cNvSpPr>
            <a:spLocks noGrp="1"/>
          </p:cNvSpPr>
          <p:nvPr>
            <p:ph type="sldNum" sz="quarter" idx="5"/>
          </p:nvPr>
        </p:nvSpPr>
        <p:spPr/>
        <p:txBody>
          <a:bodyPr/>
          <a:lstStyle/>
          <a:p>
            <a:fld id="{D50AF6DD-051E-413B-8808-23D5AB3BD9E4}" type="slidenum">
              <a:rPr lang="en-US" smtClean="0"/>
              <a:pPr/>
              <a:t>55</a:t>
            </a:fld>
            <a:endParaRPr lang="en-US"/>
          </a:p>
        </p:txBody>
      </p:sp>
    </p:spTree>
    <p:extLst>
      <p:ext uri="{BB962C8B-B14F-4D97-AF65-F5344CB8AC3E}">
        <p14:creationId xmlns:p14="http://schemas.microsoft.com/office/powerpoint/2010/main" val="384889254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这个</a:t>
            </a:r>
            <a:r>
              <a:rPr kumimoji="1" lang="en-US" altLang="zh-CN" dirty="0"/>
              <a:t>x</a:t>
            </a:r>
            <a:r>
              <a:rPr kumimoji="1" lang="zh-CN" altLang="en-US" dirty="0"/>
              <a:t>和</a:t>
            </a:r>
            <a:r>
              <a:rPr kumimoji="1" lang="en-US" altLang="zh-CN" dirty="0"/>
              <a:t>z</a:t>
            </a:r>
            <a:r>
              <a:rPr kumimoji="1" lang="zh-CN" altLang="en-US" dirty="0"/>
              <a:t>都是原始空间中的点</a:t>
            </a:r>
            <a:endParaRPr kumimoji="1" lang="en-US" altLang="zh-CN" dirty="0"/>
          </a:p>
          <a:p>
            <a:endParaRPr kumimoji="1" lang="en-US" altLang="zh-CN" dirty="0"/>
          </a:p>
          <a:p>
            <a:r>
              <a:rPr kumimoji="1" lang="zh-CN" altLang="en-US" dirty="0"/>
              <a:t>我们只关心</a:t>
            </a:r>
            <a:r>
              <a:rPr kumimoji="1" lang="en-US" altLang="zh-CN" dirty="0"/>
              <a:t>x</a:t>
            </a:r>
            <a:r>
              <a:rPr kumimoji="1" lang="zh-CN" altLang="en-US" dirty="0"/>
              <a:t>和</a:t>
            </a:r>
            <a:r>
              <a:rPr kumimoji="1" lang="en-US" altLang="zh-CN" dirty="0"/>
              <a:t>z</a:t>
            </a:r>
            <a:r>
              <a:rPr kumimoji="1" lang="zh-CN" altLang="en-US" dirty="0"/>
              <a:t>的点击，不关心具体的</a:t>
            </a:r>
            <a:r>
              <a:rPr kumimoji="1" lang="en-US" altLang="zh-CN" dirty="0"/>
              <a:t>phi</a:t>
            </a:r>
            <a:r>
              <a:rPr kumimoji="1" lang="zh-CN" altLang="en-US" dirty="0"/>
              <a:t>怎么设计</a:t>
            </a:r>
          </a:p>
        </p:txBody>
      </p:sp>
      <p:sp>
        <p:nvSpPr>
          <p:cNvPr id="4" name="灯片编号占位符 3"/>
          <p:cNvSpPr>
            <a:spLocks noGrp="1"/>
          </p:cNvSpPr>
          <p:nvPr>
            <p:ph type="sldNum" sz="quarter" idx="5"/>
          </p:nvPr>
        </p:nvSpPr>
        <p:spPr/>
        <p:txBody>
          <a:bodyPr/>
          <a:lstStyle/>
          <a:p>
            <a:fld id="{D50AF6DD-051E-413B-8808-23D5AB3BD9E4}" type="slidenum">
              <a:rPr lang="en-US" smtClean="0"/>
              <a:pPr/>
              <a:t>56</a:t>
            </a:fld>
            <a:endParaRPr lang="en-US"/>
          </a:p>
        </p:txBody>
      </p:sp>
    </p:spTree>
    <p:extLst>
      <p:ext uri="{BB962C8B-B14F-4D97-AF65-F5344CB8AC3E}">
        <p14:creationId xmlns:p14="http://schemas.microsoft.com/office/powerpoint/2010/main" val="359810414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核函数的维度不一定和原始数据维度一致是么？</a:t>
            </a:r>
            <a:endParaRPr kumimoji="1" lang="en-US" altLang="zh-CN" dirty="0"/>
          </a:p>
          <a:p>
            <a:r>
              <a:rPr kumimoji="1" lang="zh-CN" altLang="en-US" dirty="0"/>
              <a:t>是，也不是</a:t>
            </a:r>
            <a:endParaRPr kumimoji="1" lang="en-US" altLang="zh-CN" dirty="0"/>
          </a:p>
          <a:p>
            <a:r>
              <a:rPr kumimoji="1" lang="zh-CN" altLang="en-US" dirty="0"/>
              <a:t>从形式上的确是，</a:t>
            </a:r>
            <a:endParaRPr kumimoji="1" lang="en-US" altLang="zh-CN" dirty="0"/>
          </a:p>
          <a:p>
            <a:r>
              <a:rPr kumimoji="1" lang="zh-CN" altLang="en-US" dirty="0"/>
              <a:t>从内核上，数据的维度还是没变，因为</a:t>
            </a:r>
            <a:r>
              <a:rPr kumimoji="1" lang="en-US" altLang="zh-CN" dirty="0"/>
              <a:t>phi(x)</a:t>
            </a:r>
            <a:r>
              <a:rPr kumimoji="1" lang="zh-CN" altLang="en-US" dirty="0"/>
              <a:t>是由</a:t>
            </a:r>
            <a:r>
              <a:rPr kumimoji="1" lang="en-US" altLang="zh-CN" dirty="0"/>
              <a:t>x</a:t>
            </a:r>
            <a:r>
              <a:rPr kumimoji="1" lang="zh-CN" altLang="en-US" dirty="0"/>
              <a:t>产生的，维度只能更小，不能更大</a:t>
            </a:r>
          </a:p>
        </p:txBody>
      </p:sp>
      <p:sp>
        <p:nvSpPr>
          <p:cNvPr id="4" name="灯片编号占位符 3"/>
          <p:cNvSpPr>
            <a:spLocks noGrp="1"/>
          </p:cNvSpPr>
          <p:nvPr>
            <p:ph type="sldNum" sz="quarter" idx="5"/>
          </p:nvPr>
        </p:nvSpPr>
        <p:spPr/>
        <p:txBody>
          <a:bodyPr/>
          <a:lstStyle/>
          <a:p>
            <a:fld id="{D50AF6DD-051E-413B-8808-23D5AB3BD9E4}" type="slidenum">
              <a:rPr lang="en-US" smtClean="0"/>
              <a:pPr/>
              <a:t>57</a:t>
            </a:fld>
            <a:endParaRPr lang="en-US"/>
          </a:p>
        </p:txBody>
      </p:sp>
    </p:spTree>
    <p:extLst>
      <p:ext uri="{BB962C8B-B14F-4D97-AF65-F5344CB8AC3E}">
        <p14:creationId xmlns:p14="http://schemas.microsoft.com/office/powerpoint/2010/main" val="322953066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这个</a:t>
            </a:r>
            <a:r>
              <a:rPr kumimoji="1" lang="en-US" altLang="zh-CN" dirty="0"/>
              <a:t>H</a:t>
            </a:r>
            <a:r>
              <a:rPr kumimoji="1" lang="zh-CN" altLang="en-US" dirty="0"/>
              <a:t>空间中的超平面，对应原始空间中的一个超曲面</a:t>
            </a:r>
            <a:endParaRPr kumimoji="1" lang="en-US" altLang="zh-CN" dirty="0"/>
          </a:p>
          <a:p>
            <a:endParaRPr kumimoji="1" lang="en-US" altLang="zh-CN" dirty="0"/>
          </a:p>
          <a:p>
            <a:r>
              <a:rPr kumimoji="1" lang="zh-CN" altLang="en-US" dirty="0"/>
              <a:t>我们真的需要求出</a:t>
            </a:r>
            <a:r>
              <a:rPr kumimoji="1" lang="en-US" altLang="zh-CN" dirty="0"/>
              <a:t>w</a:t>
            </a:r>
            <a:r>
              <a:rPr kumimoji="1" lang="zh-CN" altLang="en-US" dirty="0"/>
              <a:t>*么？如果需要的话怎么求</a:t>
            </a:r>
            <a:r>
              <a:rPr kumimoji="1" lang="en-US" altLang="zh-CN" dirty="0"/>
              <a:t>phi</a:t>
            </a:r>
          </a:p>
          <a:p>
            <a:r>
              <a:rPr kumimoji="1" lang="zh-CN" altLang="en-US" dirty="0"/>
              <a:t>其实</a:t>
            </a:r>
            <a:r>
              <a:rPr kumimoji="1" lang="en-US" altLang="zh-CN" dirty="0"/>
              <a:t>phi</a:t>
            </a:r>
            <a:r>
              <a:rPr kumimoji="1" lang="zh-CN" altLang="en-US" dirty="0"/>
              <a:t>很难求，但好事是我们也不真的需要求出</a:t>
            </a:r>
            <a:r>
              <a:rPr kumimoji="1" lang="en-US" altLang="zh-CN" dirty="0"/>
              <a:t>phi</a:t>
            </a:r>
          </a:p>
          <a:p>
            <a:endParaRPr kumimoji="1" lang="en-US" altLang="zh-CN" dirty="0"/>
          </a:p>
          <a:p>
            <a:r>
              <a:rPr kumimoji="1" lang="zh-CN" altLang="en-US" dirty="0"/>
              <a:t>最终的决策函数中可以不用</a:t>
            </a:r>
            <a:r>
              <a:rPr kumimoji="1" lang="en-US" altLang="zh-CN" dirty="0"/>
              <a:t>phi</a:t>
            </a:r>
          </a:p>
          <a:p>
            <a:endParaRPr kumimoji="1" lang="en-US" altLang="zh-CN" dirty="0"/>
          </a:p>
          <a:p>
            <a:r>
              <a:rPr lang="zh-CN" altLang="en-US" dirty="0"/>
              <a:t>还有什么问题？公式需要记住所有的训练数据？</a:t>
            </a:r>
            <a:endParaRPr lang="en-US" altLang="zh-CN" dirty="0"/>
          </a:p>
          <a:p>
            <a:endParaRPr lang="en-US" altLang="zh-CN" dirty="0"/>
          </a:p>
          <a:p>
            <a:r>
              <a:rPr lang="zh-CN" altLang="en-US" dirty="0"/>
              <a:t>只需要支持向量，但如果支持向量太多，计算复杂度也会增加</a:t>
            </a:r>
          </a:p>
          <a:p>
            <a:endParaRPr kumimoji="1" lang="zh-CN" altLang="en-US" dirty="0"/>
          </a:p>
        </p:txBody>
      </p:sp>
      <p:sp>
        <p:nvSpPr>
          <p:cNvPr id="4" name="灯片编号占位符 3"/>
          <p:cNvSpPr>
            <a:spLocks noGrp="1"/>
          </p:cNvSpPr>
          <p:nvPr>
            <p:ph type="sldNum" sz="quarter" idx="5"/>
          </p:nvPr>
        </p:nvSpPr>
        <p:spPr/>
        <p:txBody>
          <a:bodyPr/>
          <a:lstStyle/>
          <a:p>
            <a:fld id="{D50AF6DD-051E-413B-8808-23D5AB3BD9E4}" type="slidenum">
              <a:rPr lang="en-US" smtClean="0"/>
              <a:pPr/>
              <a:t>59</a:t>
            </a:fld>
            <a:endParaRPr lang="en-US"/>
          </a:p>
        </p:txBody>
      </p:sp>
    </p:spTree>
    <p:extLst>
      <p:ext uri="{BB962C8B-B14F-4D97-AF65-F5344CB8AC3E}">
        <p14:creationId xmlns:p14="http://schemas.microsoft.com/office/powerpoint/2010/main" val="230879873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幻灯片图像占位符 1"/>
          <p:cNvSpPr>
            <a:spLocks noGrp="1" noRot="1" noChangeAspect="1" noTextEdit="1"/>
          </p:cNvSpPr>
          <p:nvPr>
            <p:ph type="sldImg"/>
          </p:nvPr>
        </p:nvSpPr>
        <p:spPr>
          <a:ln/>
        </p:spPr>
      </p:sp>
      <p:sp>
        <p:nvSpPr>
          <p:cNvPr id="150531" name="备注占位符 2"/>
          <p:cNvSpPr>
            <a:spLocks noGrp="1"/>
          </p:cNvSpPr>
          <p:nvPr>
            <p:ph type="body" idx="1"/>
          </p:nvPr>
        </p:nvSpPr>
        <p:spPr>
          <a:noFill/>
          <a:ln/>
        </p:spPr>
        <p:txBody>
          <a:bodyPr/>
          <a:lstStyle/>
          <a:p>
            <a:r>
              <a:rPr lang="en-US" altLang="zh-CN">
                <a:ea typeface="黑体" pitchFamily="49" charset="-122"/>
              </a:rPr>
              <a:t>GRAM</a:t>
            </a:r>
            <a:r>
              <a:rPr lang="zh-CN" altLang="en-US">
                <a:ea typeface="黑体" pitchFamily="49" charset="-122"/>
              </a:rPr>
              <a:t>矩阵：</a:t>
            </a:r>
            <a:r>
              <a:rPr lang="en-US" altLang="zh-CN">
                <a:ea typeface="黑体" pitchFamily="49" charset="-122"/>
              </a:rPr>
              <a:t>{xi}</a:t>
            </a:r>
            <a:r>
              <a:rPr lang="zh-CN" altLang="en-US">
                <a:ea typeface="黑体" pitchFamily="49" charset="-122"/>
              </a:rPr>
              <a:t>为</a:t>
            </a:r>
            <a:r>
              <a:rPr lang="en-US" altLang="zh-CN">
                <a:ea typeface="黑体" pitchFamily="49" charset="-122"/>
              </a:rPr>
              <a:t>N</a:t>
            </a:r>
            <a:r>
              <a:rPr lang="zh-CN" altLang="en-US">
                <a:ea typeface="黑体" pitchFamily="49" charset="-122"/>
              </a:rPr>
              <a:t>个样本，</a:t>
            </a:r>
            <a:r>
              <a:rPr lang="en-US" altLang="zh-CN">
                <a:ea typeface="黑体" pitchFamily="49" charset="-122"/>
              </a:rPr>
              <a:t>[K(xi,xj)]N*N</a:t>
            </a:r>
            <a:r>
              <a:rPr lang="zh-CN" altLang="en-US">
                <a:ea typeface="黑体" pitchFamily="49" charset="-122"/>
              </a:rPr>
              <a:t>，即对所有的样本点用</a:t>
            </a:r>
            <a:r>
              <a:rPr lang="en-US" altLang="zh-CN">
                <a:ea typeface="黑体" pitchFamily="49" charset="-122"/>
              </a:rPr>
              <a:t>fai(xi).fai(xj)</a:t>
            </a:r>
            <a:endParaRPr lang="zh-CN" altLang="en-US">
              <a:ea typeface="黑体" pitchFamily="49" charset="-122"/>
            </a:endParaRPr>
          </a:p>
        </p:txBody>
      </p:sp>
      <p:sp>
        <p:nvSpPr>
          <p:cNvPr id="150532" name="灯片编号占位符 3"/>
          <p:cNvSpPr>
            <a:spLocks noGrp="1"/>
          </p:cNvSpPr>
          <p:nvPr>
            <p:ph type="sldNum" sz="quarter" idx="5"/>
          </p:nvPr>
        </p:nvSpPr>
        <p:spPr>
          <a:noFill/>
        </p:spPr>
        <p:txBody>
          <a:bodyPr/>
          <a:lstStyle/>
          <a:p>
            <a:fld id="{63F10186-1D96-40DF-8E2C-9870E5FAE4C9}" type="slidenum">
              <a:rPr lang="en-US" altLang="zh-CN" smtClean="0">
                <a:ea typeface="黑体" pitchFamily="49" charset="-122"/>
              </a:rPr>
              <a:pPr/>
              <a:t>60</a:t>
            </a:fld>
            <a:endParaRPr lang="en-US" altLang="zh-CN">
              <a:ea typeface="黑体" pitchFamily="49" charset="-122"/>
            </a:endParaRPr>
          </a:p>
        </p:txBody>
      </p:sp>
    </p:spTree>
    <p:extLst>
      <p:ext uri="{BB962C8B-B14F-4D97-AF65-F5344CB8AC3E}">
        <p14:creationId xmlns:p14="http://schemas.microsoft.com/office/powerpoint/2010/main" val="273878147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u="none" strike="noStrike" dirty="0">
                <a:solidFill>
                  <a:srgbClr val="202122"/>
                </a:solidFill>
                <a:effectLst/>
                <a:latin typeface="Arial" panose="020B0604020202020204" pitchFamily="34" charset="0"/>
              </a:rPr>
              <a:t>迭代算法，取出一个</a:t>
            </a:r>
            <a:r>
              <a:rPr lang="en-US" altLang="zh-CN" b="0" i="0" u="none" strike="noStrike" dirty="0">
                <a:solidFill>
                  <a:srgbClr val="202122"/>
                </a:solidFill>
                <a:effectLst/>
                <a:latin typeface="Arial" panose="020B0604020202020204" pitchFamily="34" charset="0"/>
              </a:rPr>
              <a:t>alpha</a:t>
            </a:r>
            <a:r>
              <a:rPr lang="zh-CN" altLang="en-US" b="0" i="0" u="none" strike="noStrike" dirty="0">
                <a:solidFill>
                  <a:srgbClr val="202122"/>
                </a:solidFill>
                <a:effectLst/>
                <a:latin typeface="Arial" panose="020B0604020202020204" pitchFamily="34" charset="0"/>
              </a:rPr>
              <a:t> </a:t>
            </a:r>
            <a:r>
              <a:rPr lang="en-US" altLang="zh-CN" b="0" i="0" u="none" strike="noStrike" dirty="0">
                <a:solidFill>
                  <a:srgbClr val="202122"/>
                </a:solidFill>
                <a:effectLst/>
                <a:latin typeface="Arial" panose="020B0604020202020204" pitchFamily="34" charset="0"/>
              </a:rPr>
              <a:t>pair</a:t>
            </a:r>
            <a:r>
              <a:rPr lang="zh-CN" altLang="en-US" b="0" i="0" u="none" strike="noStrike" dirty="0">
                <a:solidFill>
                  <a:srgbClr val="202122"/>
                </a:solidFill>
                <a:effectLst/>
                <a:latin typeface="Arial" panose="020B0604020202020204" pitchFamily="34" charset="0"/>
              </a:rPr>
              <a:t> </a:t>
            </a:r>
            <a:r>
              <a:rPr lang="en-US" altLang="zh-CN" b="0" i="0" u="none" strike="noStrike" dirty="0">
                <a:solidFill>
                  <a:srgbClr val="202122"/>
                </a:solidFill>
                <a:effectLst/>
                <a:latin typeface="Arial" panose="020B0604020202020204" pitchFamily="34" charset="0"/>
              </a:rPr>
              <a:t>(</a:t>
            </a:r>
            <a:r>
              <a:rPr lang="zh-CN" altLang="en-US" b="0" i="0" u="none" strike="noStrike" dirty="0">
                <a:solidFill>
                  <a:srgbClr val="202122"/>
                </a:solidFill>
                <a:effectLst/>
                <a:latin typeface="Arial" panose="020B0604020202020204" pitchFamily="34" charset="0"/>
              </a:rPr>
              <a:t>如</a:t>
            </a:r>
            <a:r>
              <a:rPr lang="en-US" altLang="zh-CN" b="0" i="0" u="none" strike="noStrike" dirty="0">
                <a:solidFill>
                  <a:srgbClr val="202122"/>
                </a:solidFill>
                <a:effectLst/>
                <a:latin typeface="Arial" panose="020B0604020202020204" pitchFamily="34" charset="0"/>
              </a:rPr>
              <a:t>alpha1</a:t>
            </a:r>
            <a:r>
              <a:rPr lang="zh-CN" altLang="en-US" b="0" i="0" u="none" strike="noStrike" dirty="0">
                <a:solidFill>
                  <a:srgbClr val="202122"/>
                </a:solidFill>
                <a:effectLst/>
                <a:latin typeface="Arial" panose="020B0604020202020204" pitchFamily="34" charset="0"/>
              </a:rPr>
              <a:t> 和 </a:t>
            </a:r>
            <a:r>
              <a:rPr lang="en-US" altLang="zh-CN" b="0" i="0" u="none" strike="noStrike" dirty="0">
                <a:solidFill>
                  <a:srgbClr val="202122"/>
                </a:solidFill>
                <a:effectLst/>
                <a:latin typeface="Arial" panose="020B0604020202020204" pitchFamily="34" charset="0"/>
              </a:rPr>
              <a:t>alpha2)</a:t>
            </a:r>
            <a:r>
              <a:rPr lang="zh-CN" altLang="en-US" b="0" i="0" u="none" strike="noStrike" dirty="0">
                <a:solidFill>
                  <a:srgbClr val="202122"/>
                </a:solidFill>
                <a:effectLst/>
                <a:latin typeface="Arial" panose="020B0604020202020204" pitchFamily="34" charset="0"/>
              </a:rPr>
              <a:t>，固定其他</a:t>
            </a:r>
            <a:r>
              <a:rPr lang="en-US" altLang="zh-CN" b="0" i="0" u="none" strike="noStrike" dirty="0">
                <a:solidFill>
                  <a:srgbClr val="202122"/>
                </a:solidFill>
                <a:effectLst/>
                <a:latin typeface="Arial" panose="020B0604020202020204" pitchFamily="34" charset="0"/>
              </a:rPr>
              <a:t>alpha</a:t>
            </a:r>
            <a:r>
              <a:rPr lang="zh-CN" altLang="en-US" b="0" i="0" u="none" strike="noStrike" dirty="0">
                <a:solidFill>
                  <a:srgbClr val="202122"/>
                </a:solidFill>
                <a:effectLst/>
                <a:latin typeface="Arial" panose="020B0604020202020204" pitchFamily="34" charset="0"/>
              </a:rPr>
              <a:t>，求出</a:t>
            </a:r>
            <a:r>
              <a:rPr lang="en-US" altLang="zh-CN" b="0" i="0" u="none" strike="noStrike" dirty="0">
                <a:solidFill>
                  <a:srgbClr val="202122"/>
                </a:solidFill>
                <a:effectLst/>
                <a:latin typeface="Arial" panose="020B0604020202020204" pitchFamily="34" charset="0"/>
              </a:rPr>
              <a:t>alpha1</a:t>
            </a:r>
            <a:r>
              <a:rPr lang="zh-CN" altLang="en-US" b="0" i="0" u="none" strike="noStrike" dirty="0">
                <a:solidFill>
                  <a:srgbClr val="202122"/>
                </a:solidFill>
                <a:effectLst/>
                <a:latin typeface="Arial" panose="020B0604020202020204" pitchFamily="34" charset="0"/>
              </a:rPr>
              <a:t>和</a:t>
            </a:r>
            <a:r>
              <a:rPr lang="en-US" altLang="zh-CN" b="0" i="0" u="none" strike="noStrike" dirty="0">
                <a:solidFill>
                  <a:srgbClr val="202122"/>
                </a:solidFill>
                <a:effectLst/>
                <a:latin typeface="Arial" panose="020B0604020202020204" pitchFamily="34" charset="0"/>
              </a:rPr>
              <a:t>2</a:t>
            </a:r>
            <a:r>
              <a:rPr lang="zh-CN" altLang="en-US" b="0" i="0" u="none" strike="noStrike" dirty="0">
                <a:solidFill>
                  <a:srgbClr val="202122"/>
                </a:solidFill>
                <a:effectLst/>
                <a:latin typeface="Arial" panose="020B0604020202020204" pitchFamily="34" charset="0"/>
              </a:rPr>
              <a:t>的最佳值，</a:t>
            </a:r>
            <a:endParaRPr lang="en-US" altLang="zh-CN" b="0" i="0" u="none" strike="noStrike" dirty="0">
              <a:solidFill>
                <a:srgbClr val="202122"/>
              </a:solidFill>
              <a:effectLst/>
              <a:latin typeface="Arial" panose="020B0604020202020204" pitchFamily="34" charset="0"/>
            </a:endParaRPr>
          </a:p>
          <a:p>
            <a:pPr algn="l"/>
            <a:r>
              <a:rPr lang="zh-CN" altLang="en-US" b="0" i="0" u="none" strike="noStrike" dirty="0">
                <a:solidFill>
                  <a:srgbClr val="202122"/>
                </a:solidFill>
                <a:effectLst/>
                <a:latin typeface="Arial" panose="020B0604020202020204" pitchFamily="34" charset="0"/>
              </a:rPr>
              <a:t>重复上述步骤，直到算法收敛</a:t>
            </a:r>
            <a:endParaRPr lang="en-US" altLang="zh-CN" b="0" i="0" u="none" strike="noStrike" dirty="0">
              <a:solidFill>
                <a:srgbClr val="202122"/>
              </a:solidFill>
              <a:effectLst/>
              <a:latin typeface="Arial" panose="020B0604020202020204" pitchFamily="34" charset="0"/>
            </a:endParaRPr>
          </a:p>
          <a:p>
            <a:pPr algn="l"/>
            <a:endParaRPr lang="en-US" altLang="zh-CN" b="0" i="0" u="none" strike="noStrike" dirty="0">
              <a:solidFill>
                <a:srgbClr val="202122"/>
              </a:solidFill>
              <a:effectLst/>
              <a:latin typeface="Arial" panose="020B0604020202020204" pitchFamily="34" charset="0"/>
            </a:endParaRPr>
          </a:p>
          <a:p>
            <a:pPr algn="l"/>
            <a:r>
              <a:rPr lang="en-US" altLang="zh-CN" b="0" i="0" u="none" strike="noStrike" dirty="0">
                <a:solidFill>
                  <a:srgbClr val="202122"/>
                </a:solidFill>
                <a:effectLst/>
                <a:latin typeface="Arial" panose="020B0604020202020204" pitchFamily="34" charset="0"/>
              </a:rPr>
              <a:t>SMO is an iterative algorithm for solving the optimization problem described above. SMO breaks this problem into a series of smallest possible sub-problems, which are then solved analytically. Because of the linear equality constraint involving the Lagrange multipliers </a:t>
            </a:r>
            <a:r>
              <a:rPr lang="el-GR" altLang="zh-CN" b="0" i="0" u="none" strike="noStrike" dirty="0">
                <a:solidFill>
                  <a:srgbClr val="202122"/>
                </a:solidFill>
                <a:effectLst/>
                <a:latin typeface="Arial" panose="020B0604020202020204" pitchFamily="34" charset="0"/>
              </a:rPr>
              <a:t>α</a:t>
            </a:r>
            <a:r>
              <a:rPr lang="en-US" altLang="zh-CN" b="0" i="0" u="none" strike="noStrike" dirty="0" err="1">
                <a:solidFill>
                  <a:srgbClr val="202122"/>
                </a:solidFill>
                <a:effectLst/>
                <a:latin typeface="Arial" panose="020B0604020202020204" pitchFamily="34" charset="0"/>
              </a:rPr>
              <a:t>i</a:t>
            </a:r>
            <a:r>
              <a:rPr lang="en-US" altLang="zh-CN" b="0" i="0" u="none" strike="noStrike" dirty="0">
                <a:solidFill>
                  <a:srgbClr val="202122"/>
                </a:solidFill>
                <a:effectLst/>
                <a:latin typeface="Arial" panose="020B0604020202020204" pitchFamily="34" charset="0"/>
              </a:rPr>
              <a:t>, the smallest possible problem involves two such multipliers. Then, for any two multipliers </a:t>
            </a:r>
            <a:r>
              <a:rPr lang="el-GR" altLang="zh-CN" b="0" i="0" u="none" strike="noStrike" dirty="0">
                <a:solidFill>
                  <a:srgbClr val="202122"/>
                </a:solidFill>
                <a:effectLst/>
                <a:latin typeface="Arial" panose="020B0604020202020204" pitchFamily="34" charset="0"/>
              </a:rPr>
              <a:t>α1 </a:t>
            </a:r>
            <a:r>
              <a:rPr lang="en-US" altLang="zh-CN" b="0" i="0" u="none" strike="noStrike" dirty="0">
                <a:solidFill>
                  <a:srgbClr val="202122"/>
                </a:solidFill>
                <a:effectLst/>
                <a:latin typeface="Arial" panose="020B0604020202020204" pitchFamily="34" charset="0"/>
              </a:rPr>
              <a:t>and </a:t>
            </a:r>
            <a:r>
              <a:rPr lang="el-GR" altLang="zh-CN" b="0" i="0" u="none" strike="noStrike" dirty="0">
                <a:solidFill>
                  <a:srgbClr val="202122"/>
                </a:solidFill>
                <a:effectLst/>
                <a:latin typeface="Arial" panose="020B0604020202020204" pitchFamily="34" charset="0"/>
              </a:rPr>
              <a:t>α2, </a:t>
            </a:r>
            <a:r>
              <a:rPr lang="en-US" altLang="zh-CN" b="0" i="0" u="none" strike="noStrike" dirty="0">
                <a:solidFill>
                  <a:srgbClr val="202122"/>
                </a:solidFill>
                <a:effectLst/>
                <a:latin typeface="Arial" panose="020B0604020202020204" pitchFamily="34" charset="0"/>
              </a:rPr>
              <a:t>the constraints are reduced to:</a:t>
            </a:r>
          </a:p>
          <a:p>
            <a:pPr algn="l"/>
            <a:r>
              <a:rPr lang="en-US" altLang="zh-CN" dirty="0">
                <a:effectLst/>
              </a:rPr>
              <a:t>0≤</a:t>
            </a:r>
            <a:r>
              <a:rPr lang="el-GR" altLang="zh-CN" dirty="0">
                <a:effectLst/>
              </a:rPr>
              <a:t>α1,α2≤</a:t>
            </a:r>
            <a:r>
              <a:rPr lang="en-US" altLang="zh-CN" dirty="0">
                <a:effectLst/>
              </a:rPr>
              <a:t>C,y1</a:t>
            </a:r>
            <a:r>
              <a:rPr lang="el-GR" altLang="zh-CN" dirty="0">
                <a:effectLst/>
              </a:rPr>
              <a:t>α1+</a:t>
            </a:r>
            <a:r>
              <a:rPr lang="en-US" altLang="zh-CN" dirty="0">
                <a:effectLst/>
              </a:rPr>
              <a:t>y2</a:t>
            </a:r>
            <a:r>
              <a:rPr lang="el-GR" altLang="zh-CN" dirty="0">
                <a:effectLst/>
              </a:rPr>
              <a:t>α2=</a:t>
            </a:r>
            <a:r>
              <a:rPr lang="en-US" altLang="zh-CN" dirty="0" err="1">
                <a:effectLst/>
              </a:rPr>
              <a:t>k,</a:t>
            </a:r>
            <a:r>
              <a:rPr lang="en-US" altLang="zh-CN" b="0" i="0" u="none" strike="noStrike" dirty="0" err="1">
                <a:solidFill>
                  <a:srgbClr val="202122"/>
                </a:solidFill>
                <a:effectLst/>
                <a:latin typeface="Arial" panose="020B0604020202020204" pitchFamily="34" charset="0"/>
              </a:rPr>
              <a:t>and</a:t>
            </a:r>
            <a:r>
              <a:rPr lang="en-US" altLang="zh-CN" b="0" i="0" u="none" strike="noStrike" dirty="0">
                <a:solidFill>
                  <a:srgbClr val="202122"/>
                </a:solidFill>
                <a:effectLst/>
                <a:latin typeface="Arial" panose="020B0604020202020204" pitchFamily="34" charset="0"/>
              </a:rPr>
              <a:t> this reduced problem can be solved analytically: one needs to find a minimum of a one-dimensional quadratic function. k is the negative of the sum over the rest of terms in the equality constraint, which is fixed in each iteration.</a:t>
            </a:r>
          </a:p>
          <a:p>
            <a:endParaRPr lang="en-US" altLang="zh-CN" dirty="0"/>
          </a:p>
        </p:txBody>
      </p:sp>
      <p:sp>
        <p:nvSpPr>
          <p:cNvPr id="4" name="灯片编号占位符 3"/>
          <p:cNvSpPr>
            <a:spLocks noGrp="1"/>
          </p:cNvSpPr>
          <p:nvPr>
            <p:ph type="sldNum" sz="quarter" idx="10"/>
          </p:nvPr>
        </p:nvSpPr>
        <p:spPr/>
        <p:txBody>
          <a:bodyPr/>
          <a:lstStyle/>
          <a:p>
            <a:fld id="{D50AF6DD-051E-413B-8808-23D5AB3BD9E4}" type="slidenum">
              <a:rPr lang="en-US" smtClean="0"/>
              <a:pPr/>
              <a:t>66</a:t>
            </a:fld>
            <a:endParaRPr lang="en-US"/>
          </a:p>
        </p:txBody>
      </p:sp>
    </p:spTree>
    <p:extLst>
      <p:ext uri="{BB962C8B-B14F-4D97-AF65-F5344CB8AC3E}">
        <p14:creationId xmlns:p14="http://schemas.microsoft.com/office/powerpoint/2010/main" val="46483981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最大分类函数值是啥？就是在某个分类器里离决策函数的距离</a:t>
            </a:r>
            <a:endParaRPr kumimoji="1" lang="en-US" altLang="zh-CN" dirty="0"/>
          </a:p>
          <a:p>
            <a:endParaRPr kumimoji="1" lang="en-US" altLang="zh-CN" dirty="0"/>
          </a:p>
          <a:p>
            <a:r>
              <a:rPr kumimoji="1" lang="zh-CN" altLang="en-US" dirty="0"/>
              <a:t>一对一的效果最好，但复杂度太高，构造好多个分类器</a:t>
            </a:r>
          </a:p>
        </p:txBody>
      </p:sp>
      <p:sp>
        <p:nvSpPr>
          <p:cNvPr id="4" name="灯片编号占位符 3"/>
          <p:cNvSpPr>
            <a:spLocks noGrp="1"/>
          </p:cNvSpPr>
          <p:nvPr>
            <p:ph type="sldNum" sz="quarter" idx="5"/>
          </p:nvPr>
        </p:nvSpPr>
        <p:spPr/>
        <p:txBody>
          <a:bodyPr/>
          <a:lstStyle/>
          <a:p>
            <a:fld id="{D50AF6DD-051E-413B-8808-23D5AB3BD9E4}" type="slidenum">
              <a:rPr lang="en-US" smtClean="0"/>
              <a:pPr/>
              <a:t>67</a:t>
            </a:fld>
            <a:endParaRPr lang="en-US"/>
          </a:p>
        </p:txBody>
      </p:sp>
    </p:spTree>
    <p:extLst>
      <p:ext uri="{BB962C8B-B14F-4D97-AF65-F5344CB8AC3E}">
        <p14:creationId xmlns:p14="http://schemas.microsoft.com/office/powerpoint/2010/main" val="370544864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dirty="0"/>
              <a:t>第</a:t>
            </a:r>
            <a:r>
              <a:rPr kumimoji="1" lang="en-US" altLang="zh-CN" dirty="0"/>
              <a:t>13</a:t>
            </a:r>
            <a:r>
              <a:rPr kumimoji="1" lang="zh-CN" altLang="en-US" dirty="0"/>
              <a:t>堂课第一节结束</a:t>
            </a:r>
          </a:p>
          <a:p>
            <a:endParaRPr kumimoji="1" lang="zh-CN" altLang="en-US" dirty="0"/>
          </a:p>
        </p:txBody>
      </p:sp>
      <p:sp>
        <p:nvSpPr>
          <p:cNvPr id="4" name="灯片编号占位符 3"/>
          <p:cNvSpPr>
            <a:spLocks noGrp="1"/>
          </p:cNvSpPr>
          <p:nvPr>
            <p:ph type="sldNum" sz="quarter" idx="5"/>
          </p:nvPr>
        </p:nvSpPr>
        <p:spPr/>
        <p:txBody>
          <a:bodyPr/>
          <a:lstStyle/>
          <a:p>
            <a:fld id="{D50AF6DD-051E-413B-8808-23D5AB3BD9E4}" type="slidenum">
              <a:rPr lang="en-US" smtClean="0"/>
              <a:pPr/>
              <a:t>68</a:t>
            </a:fld>
            <a:endParaRPr lang="en-US"/>
          </a:p>
        </p:txBody>
      </p:sp>
    </p:spTree>
    <p:extLst>
      <p:ext uri="{BB962C8B-B14F-4D97-AF65-F5344CB8AC3E}">
        <p14:creationId xmlns:p14="http://schemas.microsoft.com/office/powerpoint/2010/main" val="183986350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为啥加</a:t>
            </a:r>
            <a:r>
              <a:rPr kumimoji="1" lang="en-US" altLang="zh-CN" dirty="0"/>
              <a:t>log</a:t>
            </a:r>
            <a:r>
              <a:rPr kumimoji="1" lang="zh-CN" altLang="en-US" dirty="0"/>
              <a:t>？</a:t>
            </a:r>
          </a:p>
        </p:txBody>
      </p:sp>
      <p:sp>
        <p:nvSpPr>
          <p:cNvPr id="4" name="灯片编号占位符 3"/>
          <p:cNvSpPr>
            <a:spLocks noGrp="1"/>
          </p:cNvSpPr>
          <p:nvPr>
            <p:ph type="sldNum" sz="quarter" idx="5"/>
          </p:nvPr>
        </p:nvSpPr>
        <p:spPr/>
        <p:txBody>
          <a:bodyPr/>
          <a:lstStyle/>
          <a:p>
            <a:fld id="{D50AF6DD-051E-413B-8808-23D5AB3BD9E4}" type="slidenum">
              <a:rPr lang="en-US" smtClean="0"/>
              <a:pPr/>
              <a:t>70</a:t>
            </a:fld>
            <a:endParaRPr lang="en-US"/>
          </a:p>
        </p:txBody>
      </p:sp>
    </p:spTree>
    <p:extLst>
      <p:ext uri="{BB962C8B-B14F-4D97-AF65-F5344CB8AC3E}">
        <p14:creationId xmlns:p14="http://schemas.microsoft.com/office/powerpoint/2010/main" val="12965657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幻灯片图像占位符 1"/>
          <p:cNvSpPr>
            <a:spLocks noGrp="1" noRot="1" noChangeAspect="1" noTextEdit="1"/>
          </p:cNvSpPr>
          <p:nvPr>
            <p:ph type="sldImg"/>
          </p:nvPr>
        </p:nvSpPr>
        <p:spPr>
          <a:ln/>
        </p:spPr>
      </p:sp>
      <p:sp>
        <p:nvSpPr>
          <p:cNvPr id="155651" name="备注占位符 2"/>
          <p:cNvSpPr>
            <a:spLocks noGrp="1"/>
          </p:cNvSpPr>
          <p:nvPr>
            <p:ph type="body" idx="1"/>
          </p:nvPr>
        </p:nvSpPr>
        <p:spPr>
          <a:noFill/>
          <a:ln/>
        </p:spPr>
        <p:txBody>
          <a:bodyPr/>
          <a:lstStyle/>
          <a:p>
            <a:r>
              <a:rPr lang="zh-CN" altLang="en-US" dirty="0">
                <a:ea typeface="黑体" pitchFamily="49" charset="-122"/>
              </a:rPr>
              <a:t>本科生，</a:t>
            </a:r>
            <a:r>
              <a:rPr lang="en-US" altLang="zh-CN" dirty="0">
                <a:ea typeface="黑体" pitchFamily="49" charset="-122"/>
              </a:rPr>
              <a:t>2019</a:t>
            </a:r>
            <a:r>
              <a:rPr lang="zh-CN" altLang="en-US" dirty="0">
                <a:ea typeface="黑体" pitchFamily="49" charset="-122"/>
              </a:rPr>
              <a:t>。</a:t>
            </a:r>
            <a:r>
              <a:rPr lang="en-US" altLang="zh-CN">
                <a:ea typeface="黑体" pitchFamily="49" charset="-122"/>
              </a:rPr>
              <a:t>5.14</a:t>
            </a:r>
            <a:endParaRPr lang="zh-CN" altLang="en-US" dirty="0">
              <a:ea typeface="黑体" pitchFamily="49" charset="-122"/>
            </a:endParaRPr>
          </a:p>
        </p:txBody>
      </p:sp>
      <p:sp>
        <p:nvSpPr>
          <p:cNvPr id="155652" name="灯片编号占位符 3"/>
          <p:cNvSpPr>
            <a:spLocks noGrp="1"/>
          </p:cNvSpPr>
          <p:nvPr>
            <p:ph type="sldNum" sz="quarter" idx="5"/>
          </p:nvPr>
        </p:nvSpPr>
        <p:spPr>
          <a:noFill/>
        </p:spPr>
        <p:txBody>
          <a:bodyPr/>
          <a:lstStyle/>
          <a:p>
            <a:fld id="{11F9C467-631C-4AEB-92A6-7B650265FEC7}" type="slidenum">
              <a:rPr lang="en-US" altLang="zh-CN" smtClean="0">
                <a:ea typeface="黑体" pitchFamily="49" charset="-122"/>
              </a:rPr>
              <a:pPr/>
              <a:t>71</a:t>
            </a:fld>
            <a:endParaRPr lang="en-US" altLang="zh-CN">
              <a:ea typeface="黑体" pitchFamily="49" charset="-122"/>
            </a:endParaRPr>
          </a:p>
        </p:txBody>
      </p:sp>
    </p:spTree>
    <p:extLst>
      <p:ext uri="{BB962C8B-B14F-4D97-AF65-F5344CB8AC3E}">
        <p14:creationId xmlns:p14="http://schemas.microsoft.com/office/powerpoint/2010/main" val="97350736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本科，</a:t>
            </a:r>
            <a:r>
              <a:rPr lang="en-US" altLang="zh-CN"/>
              <a:t>20200525</a:t>
            </a:r>
            <a:endParaRPr lang="zh-CN" altLang="en-US"/>
          </a:p>
        </p:txBody>
      </p:sp>
      <p:sp>
        <p:nvSpPr>
          <p:cNvPr id="4" name="灯片编号占位符 3"/>
          <p:cNvSpPr>
            <a:spLocks noGrp="1"/>
          </p:cNvSpPr>
          <p:nvPr>
            <p:ph type="sldNum" sz="quarter" idx="10"/>
          </p:nvPr>
        </p:nvSpPr>
        <p:spPr/>
        <p:txBody>
          <a:bodyPr/>
          <a:lstStyle/>
          <a:p>
            <a:fld id="{D50AF6DD-051E-413B-8808-23D5AB3BD9E4}" type="slidenum">
              <a:rPr lang="en-US" smtClean="0"/>
              <a:pPr/>
              <a:t>72</a:t>
            </a:fld>
            <a:endParaRPr lang="en-US"/>
          </a:p>
        </p:txBody>
      </p:sp>
    </p:spTree>
    <p:extLst>
      <p:ext uri="{BB962C8B-B14F-4D97-AF65-F5344CB8AC3E}">
        <p14:creationId xmlns:p14="http://schemas.microsoft.com/office/powerpoint/2010/main" val="169330462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D50AF6DD-051E-413B-8808-23D5AB3BD9E4}" type="slidenum">
              <a:rPr lang="en-US" smtClean="0"/>
              <a:pPr/>
              <a:t>76</a:t>
            </a:fld>
            <a:endParaRPr lang="en-US"/>
          </a:p>
        </p:txBody>
      </p:sp>
    </p:spTree>
    <p:extLst>
      <p:ext uri="{BB962C8B-B14F-4D97-AF65-F5344CB8AC3E}">
        <p14:creationId xmlns:p14="http://schemas.microsoft.com/office/powerpoint/2010/main" val="178159677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真的么？不见得哦，苏格兰帅哥也可以</a:t>
            </a:r>
            <a:endParaRPr kumimoji="1" lang="en-US" altLang="zh-CN" dirty="0"/>
          </a:p>
          <a:p>
            <a:endParaRPr kumimoji="1" lang="en-US" altLang="zh-CN" dirty="0"/>
          </a:p>
          <a:p>
            <a:r>
              <a:rPr kumimoji="1" lang="zh-CN" altLang="en-US" dirty="0"/>
              <a:t>决策主要看的是概率，不是单个</a:t>
            </a:r>
            <a:r>
              <a:rPr kumimoji="1" lang="en-US" altLang="zh-CN" dirty="0"/>
              <a:t>case</a:t>
            </a:r>
            <a:endParaRPr kumimoji="1" lang="zh-CN" altLang="en-US" dirty="0"/>
          </a:p>
        </p:txBody>
      </p:sp>
      <p:sp>
        <p:nvSpPr>
          <p:cNvPr id="4" name="灯片编号占位符 3"/>
          <p:cNvSpPr>
            <a:spLocks noGrp="1"/>
          </p:cNvSpPr>
          <p:nvPr>
            <p:ph type="sldNum" sz="quarter" idx="5"/>
          </p:nvPr>
        </p:nvSpPr>
        <p:spPr/>
        <p:txBody>
          <a:bodyPr/>
          <a:lstStyle/>
          <a:p>
            <a:fld id="{D50AF6DD-051E-413B-8808-23D5AB3BD9E4}" type="slidenum">
              <a:rPr lang="en-US" smtClean="0"/>
              <a:pPr/>
              <a:t>77</a:t>
            </a:fld>
            <a:endParaRPr lang="en-US"/>
          </a:p>
        </p:txBody>
      </p:sp>
    </p:spTree>
    <p:extLst>
      <p:ext uri="{BB962C8B-B14F-4D97-AF65-F5344CB8AC3E}">
        <p14:creationId xmlns:p14="http://schemas.microsoft.com/office/powerpoint/2010/main" val="109528449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决策树的构建方式不唯一，那哪一种更好呢？</a:t>
            </a:r>
          </a:p>
        </p:txBody>
      </p:sp>
      <p:sp>
        <p:nvSpPr>
          <p:cNvPr id="4" name="灯片编号占位符 3"/>
          <p:cNvSpPr>
            <a:spLocks noGrp="1"/>
          </p:cNvSpPr>
          <p:nvPr>
            <p:ph type="sldNum" sz="quarter" idx="5"/>
          </p:nvPr>
        </p:nvSpPr>
        <p:spPr/>
        <p:txBody>
          <a:bodyPr/>
          <a:lstStyle/>
          <a:p>
            <a:fld id="{D50AF6DD-051E-413B-8808-23D5AB3BD9E4}" type="slidenum">
              <a:rPr lang="en-US" smtClean="0"/>
              <a:pPr/>
              <a:t>78</a:t>
            </a:fld>
            <a:endParaRPr lang="en-US"/>
          </a:p>
        </p:txBody>
      </p:sp>
    </p:spTree>
    <p:extLst>
      <p:ext uri="{BB962C8B-B14F-4D97-AF65-F5344CB8AC3E}">
        <p14:creationId xmlns:p14="http://schemas.microsoft.com/office/powerpoint/2010/main" val="35809822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幻灯片图像占位符 1"/>
          <p:cNvSpPr>
            <a:spLocks noGrp="1" noRot="1" noChangeAspect="1" noTextEdit="1"/>
          </p:cNvSpPr>
          <p:nvPr>
            <p:ph type="sldImg"/>
          </p:nvPr>
        </p:nvSpPr>
        <p:spPr>
          <a:ln/>
        </p:spPr>
      </p:sp>
      <p:sp>
        <p:nvSpPr>
          <p:cNvPr id="156675" name="备注占位符 2"/>
          <p:cNvSpPr>
            <a:spLocks noGrp="1"/>
          </p:cNvSpPr>
          <p:nvPr>
            <p:ph type="body" idx="1"/>
          </p:nvPr>
        </p:nvSpPr>
        <p:spPr>
          <a:noFill/>
          <a:ln/>
        </p:spPr>
        <p:txBody>
          <a:bodyPr/>
          <a:lstStyle/>
          <a:p>
            <a:r>
              <a:rPr lang="zh-CN" altLang="en-US">
                <a:ea typeface="黑体" pitchFamily="49" charset="-122"/>
              </a:rPr>
              <a:t>完全无矛盾的决策树可能不存在，或者过拟合</a:t>
            </a:r>
          </a:p>
        </p:txBody>
      </p:sp>
      <p:sp>
        <p:nvSpPr>
          <p:cNvPr id="156676" name="灯片编号占位符 3"/>
          <p:cNvSpPr>
            <a:spLocks noGrp="1"/>
          </p:cNvSpPr>
          <p:nvPr>
            <p:ph type="sldNum" sz="quarter" idx="5"/>
          </p:nvPr>
        </p:nvSpPr>
        <p:spPr>
          <a:noFill/>
        </p:spPr>
        <p:txBody>
          <a:bodyPr/>
          <a:lstStyle/>
          <a:p>
            <a:fld id="{A2EB5AB2-98D0-4612-B044-9EA5A3373FA0}" type="slidenum">
              <a:rPr lang="en-US" altLang="zh-CN" smtClean="0">
                <a:ea typeface="黑体" pitchFamily="49" charset="-122"/>
              </a:rPr>
              <a:pPr/>
              <a:t>79</a:t>
            </a:fld>
            <a:endParaRPr lang="en-US" altLang="zh-CN">
              <a:ea typeface="黑体" pitchFamily="49" charset="-122"/>
            </a:endParaRPr>
          </a:p>
        </p:txBody>
      </p:sp>
    </p:spTree>
    <p:extLst>
      <p:ext uri="{BB962C8B-B14F-4D97-AF65-F5344CB8AC3E}">
        <p14:creationId xmlns:p14="http://schemas.microsoft.com/office/powerpoint/2010/main" val="377517226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X</a:t>
            </a:r>
            <a:r>
              <a:rPr kumimoji="1" lang="zh-CN" altLang="en-US" dirty="0"/>
              <a:t>是一个变量（特征），</a:t>
            </a:r>
            <a:r>
              <a:rPr kumimoji="1" lang="en-US" altLang="zh-CN" dirty="0" err="1"/>
              <a:t>x_i</a:t>
            </a:r>
            <a:r>
              <a:rPr kumimoji="1" lang="zh-CN" altLang="en-US" dirty="0"/>
              <a:t>表示</a:t>
            </a:r>
            <a:r>
              <a:rPr kumimoji="1" lang="en-US" altLang="zh-CN" dirty="0"/>
              <a:t>X</a:t>
            </a:r>
            <a:r>
              <a:rPr kumimoji="1" lang="zh-CN" altLang="en-US" dirty="0"/>
              <a:t>的可能取值，总共有</a:t>
            </a:r>
            <a:r>
              <a:rPr kumimoji="1" lang="en-US" altLang="zh-CN" dirty="0"/>
              <a:t>n</a:t>
            </a:r>
            <a:r>
              <a:rPr kumimoji="1" lang="zh-CN" altLang="en-US" dirty="0"/>
              <a:t>个可能取值</a:t>
            </a:r>
          </a:p>
        </p:txBody>
      </p:sp>
      <p:sp>
        <p:nvSpPr>
          <p:cNvPr id="4" name="灯片编号占位符 3"/>
          <p:cNvSpPr>
            <a:spLocks noGrp="1"/>
          </p:cNvSpPr>
          <p:nvPr>
            <p:ph type="sldNum" sz="quarter" idx="5"/>
          </p:nvPr>
        </p:nvSpPr>
        <p:spPr/>
        <p:txBody>
          <a:bodyPr/>
          <a:lstStyle/>
          <a:p>
            <a:fld id="{D50AF6DD-051E-413B-8808-23D5AB3BD9E4}" type="slidenum">
              <a:rPr lang="en-US" smtClean="0"/>
              <a:pPr/>
              <a:t>83</a:t>
            </a:fld>
            <a:endParaRPr lang="en-US"/>
          </a:p>
        </p:txBody>
      </p:sp>
    </p:spTree>
    <p:extLst>
      <p:ext uri="{BB962C8B-B14F-4D97-AF65-F5344CB8AC3E}">
        <p14:creationId xmlns:p14="http://schemas.microsoft.com/office/powerpoint/2010/main" val="152495904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幻灯片图像占位符 1"/>
          <p:cNvSpPr>
            <a:spLocks noGrp="1" noRot="1" noChangeAspect="1" noTextEdit="1"/>
          </p:cNvSpPr>
          <p:nvPr>
            <p:ph type="sldImg"/>
          </p:nvPr>
        </p:nvSpPr>
        <p:spPr>
          <a:ln/>
        </p:spPr>
      </p:sp>
      <p:sp>
        <p:nvSpPr>
          <p:cNvPr id="157699" name="备注占位符 2"/>
          <p:cNvSpPr>
            <a:spLocks noGrp="1"/>
          </p:cNvSpPr>
          <p:nvPr>
            <p:ph type="body" idx="1"/>
          </p:nvPr>
        </p:nvSpPr>
        <p:spPr>
          <a:noFill/>
          <a:ln/>
        </p:spPr>
        <p:txBody>
          <a:bodyPr/>
          <a:lstStyle/>
          <a:p>
            <a:r>
              <a:rPr lang="zh-CN" altLang="en-US" dirty="0">
                <a:ea typeface="黑体" pitchFamily="49" charset="-122"/>
              </a:rPr>
              <a:t>第</a:t>
            </a:r>
            <a:r>
              <a:rPr lang="en-US" altLang="zh-CN" dirty="0">
                <a:ea typeface="黑体" pitchFamily="49" charset="-122"/>
              </a:rPr>
              <a:t>13</a:t>
            </a:r>
            <a:r>
              <a:rPr lang="zh-CN" altLang="en-US" dirty="0">
                <a:ea typeface="黑体" pitchFamily="49" charset="-122"/>
              </a:rPr>
              <a:t>堂课</a:t>
            </a:r>
            <a:r>
              <a:rPr lang="zh-CN" altLang="en-US">
                <a:ea typeface="黑体" pitchFamily="49" charset="-122"/>
              </a:rPr>
              <a:t>第二节结束</a:t>
            </a:r>
          </a:p>
        </p:txBody>
      </p:sp>
      <p:sp>
        <p:nvSpPr>
          <p:cNvPr id="157700" name="灯片编号占位符 3"/>
          <p:cNvSpPr>
            <a:spLocks noGrp="1"/>
          </p:cNvSpPr>
          <p:nvPr>
            <p:ph type="sldNum" sz="quarter" idx="5"/>
          </p:nvPr>
        </p:nvSpPr>
        <p:spPr>
          <a:noFill/>
        </p:spPr>
        <p:txBody>
          <a:bodyPr/>
          <a:lstStyle/>
          <a:p>
            <a:fld id="{020A8296-C142-422E-B29E-D1BC0446F021}" type="slidenum">
              <a:rPr lang="en-US" altLang="zh-CN" smtClean="0">
                <a:ea typeface="黑体" pitchFamily="49" charset="-122"/>
              </a:rPr>
              <a:pPr/>
              <a:t>86</a:t>
            </a:fld>
            <a:endParaRPr lang="en-US" altLang="zh-CN">
              <a:ea typeface="黑体" pitchFamily="49" charset="-122"/>
            </a:endParaRPr>
          </a:p>
        </p:txBody>
      </p:sp>
    </p:spTree>
    <p:extLst>
      <p:ext uri="{BB962C8B-B14F-4D97-AF65-F5344CB8AC3E}">
        <p14:creationId xmlns:p14="http://schemas.microsoft.com/office/powerpoint/2010/main" val="229226734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幻灯片图像占位符 1"/>
          <p:cNvSpPr>
            <a:spLocks noGrp="1" noRot="1" noChangeAspect="1" noTextEdit="1"/>
          </p:cNvSpPr>
          <p:nvPr>
            <p:ph type="sldImg"/>
          </p:nvPr>
        </p:nvSpPr>
        <p:spPr>
          <a:ln/>
        </p:spPr>
      </p:sp>
      <p:sp>
        <p:nvSpPr>
          <p:cNvPr id="158723" name="备注占位符 2"/>
          <p:cNvSpPr>
            <a:spLocks noGrp="1"/>
          </p:cNvSpPr>
          <p:nvPr>
            <p:ph type="body" idx="1"/>
          </p:nvPr>
        </p:nvSpPr>
        <p:spPr>
          <a:noFill/>
          <a:ln/>
        </p:spPr>
        <p:txBody>
          <a:bodyPr/>
          <a:lstStyle/>
          <a:p>
            <a:endParaRPr lang="zh-CN" altLang="en-US">
              <a:ea typeface="黑体" pitchFamily="49" charset="-122"/>
            </a:endParaRPr>
          </a:p>
        </p:txBody>
      </p:sp>
      <p:sp>
        <p:nvSpPr>
          <p:cNvPr id="158724" name="灯片编号占位符 3"/>
          <p:cNvSpPr>
            <a:spLocks noGrp="1"/>
          </p:cNvSpPr>
          <p:nvPr>
            <p:ph type="sldNum" sz="quarter" idx="5"/>
          </p:nvPr>
        </p:nvSpPr>
        <p:spPr>
          <a:noFill/>
        </p:spPr>
        <p:txBody>
          <a:bodyPr/>
          <a:lstStyle/>
          <a:p>
            <a:fld id="{E2C58FBF-F393-47C8-9376-7570EF7E418B}" type="slidenum">
              <a:rPr lang="en-US" altLang="zh-CN" smtClean="0">
                <a:ea typeface="黑体" pitchFamily="49" charset="-122"/>
              </a:rPr>
              <a:pPr/>
              <a:t>89</a:t>
            </a:fld>
            <a:endParaRPr lang="en-US" altLang="zh-CN">
              <a:ea typeface="黑体" pitchFamily="49" charset="-122"/>
            </a:endParaRPr>
          </a:p>
        </p:txBody>
      </p:sp>
    </p:spTree>
    <p:extLst>
      <p:ext uri="{BB962C8B-B14F-4D97-AF65-F5344CB8AC3E}">
        <p14:creationId xmlns:p14="http://schemas.microsoft.com/office/powerpoint/2010/main" val="228782640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详细的讲解计算过程</a:t>
            </a:r>
          </a:p>
        </p:txBody>
      </p:sp>
      <p:sp>
        <p:nvSpPr>
          <p:cNvPr id="4" name="灯片编号占位符 3"/>
          <p:cNvSpPr>
            <a:spLocks noGrp="1"/>
          </p:cNvSpPr>
          <p:nvPr>
            <p:ph type="sldNum" sz="quarter" idx="5"/>
          </p:nvPr>
        </p:nvSpPr>
        <p:spPr/>
        <p:txBody>
          <a:bodyPr/>
          <a:lstStyle/>
          <a:p>
            <a:fld id="{D50AF6DD-051E-413B-8808-23D5AB3BD9E4}" type="slidenum">
              <a:rPr lang="en-US" smtClean="0"/>
              <a:pPr/>
              <a:t>91</a:t>
            </a:fld>
            <a:endParaRPr lang="en-US"/>
          </a:p>
        </p:txBody>
      </p:sp>
    </p:spTree>
    <p:extLst>
      <p:ext uri="{BB962C8B-B14F-4D97-AF65-F5344CB8AC3E}">
        <p14:creationId xmlns:p14="http://schemas.microsoft.com/office/powerpoint/2010/main" val="204493935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D50AF6DD-051E-413B-8808-23D5AB3BD9E4}" type="slidenum">
              <a:rPr lang="en-US" smtClean="0"/>
              <a:pPr/>
              <a:t>93</a:t>
            </a:fld>
            <a:endParaRPr lang="en-US"/>
          </a:p>
        </p:txBody>
      </p:sp>
    </p:spTree>
    <p:extLst>
      <p:ext uri="{BB962C8B-B14F-4D97-AF65-F5344CB8AC3E}">
        <p14:creationId xmlns:p14="http://schemas.microsoft.com/office/powerpoint/2010/main" val="393635821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B:</a:t>
            </a:r>
            <a:r>
              <a:rPr kumimoji="1" lang="zh-CN" altLang="en-US" dirty="0"/>
              <a:t> 比如信息增益不到</a:t>
            </a:r>
            <a:r>
              <a:rPr kumimoji="1" lang="en-US" altLang="zh-CN" dirty="0"/>
              <a:t>epsilon</a:t>
            </a:r>
            <a:r>
              <a:rPr kumimoji="1" lang="zh-CN" altLang="en-US" dirty="0"/>
              <a:t>的时候</a:t>
            </a:r>
            <a:endParaRPr kumimoji="1" lang="en-US" altLang="zh-CN" dirty="0"/>
          </a:p>
          <a:p>
            <a:r>
              <a:rPr kumimoji="1" lang="en-US" altLang="zh-CN" dirty="0"/>
              <a:t>C:</a:t>
            </a:r>
            <a:r>
              <a:rPr kumimoji="1" lang="zh-CN" altLang="en-US" dirty="0"/>
              <a:t> 在同一个祖先中，一个特征只能用到一个节点上，但是兄弟中可能会重复使用一个特征</a:t>
            </a:r>
          </a:p>
        </p:txBody>
      </p:sp>
      <p:sp>
        <p:nvSpPr>
          <p:cNvPr id="4" name="灯片编号占位符 3"/>
          <p:cNvSpPr>
            <a:spLocks noGrp="1"/>
          </p:cNvSpPr>
          <p:nvPr>
            <p:ph type="sldNum" sz="quarter" idx="5"/>
          </p:nvPr>
        </p:nvSpPr>
        <p:spPr/>
        <p:txBody>
          <a:bodyPr/>
          <a:lstStyle/>
          <a:p>
            <a:fld id="{D50AF6DD-051E-413B-8808-23D5AB3BD9E4}" type="slidenum">
              <a:rPr lang="en-US" smtClean="0"/>
              <a:pPr/>
              <a:t>94</a:t>
            </a:fld>
            <a:endParaRPr lang="en-US"/>
          </a:p>
        </p:txBody>
      </p:sp>
    </p:spTree>
    <p:extLst>
      <p:ext uri="{BB962C8B-B14F-4D97-AF65-F5344CB8AC3E}">
        <p14:creationId xmlns:p14="http://schemas.microsoft.com/office/powerpoint/2010/main" val="192724436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20220530 </a:t>
            </a:r>
            <a:r>
              <a:rPr lang="zh-CN" altLang="en-US"/>
              <a:t>导论</a:t>
            </a:r>
          </a:p>
        </p:txBody>
      </p:sp>
      <p:sp>
        <p:nvSpPr>
          <p:cNvPr id="4" name="灯片编号占位符 3"/>
          <p:cNvSpPr>
            <a:spLocks noGrp="1"/>
          </p:cNvSpPr>
          <p:nvPr>
            <p:ph type="sldNum" sz="quarter" idx="5"/>
          </p:nvPr>
        </p:nvSpPr>
        <p:spPr/>
        <p:txBody>
          <a:bodyPr/>
          <a:lstStyle/>
          <a:p>
            <a:fld id="{D50AF6DD-051E-413B-8808-23D5AB3BD9E4}" type="slidenum">
              <a:rPr lang="en-US" smtClean="0"/>
              <a:pPr/>
              <a:t>95</a:t>
            </a:fld>
            <a:endParaRPr lang="en-US"/>
          </a:p>
        </p:txBody>
      </p:sp>
    </p:spTree>
    <p:extLst>
      <p:ext uri="{BB962C8B-B14F-4D97-AF65-F5344CB8AC3E}">
        <p14:creationId xmlns:p14="http://schemas.microsoft.com/office/powerpoint/2010/main" val="200017278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幻灯片图像占位符 1"/>
          <p:cNvSpPr>
            <a:spLocks noGrp="1" noRot="1" noChangeAspect="1" noTextEdit="1"/>
          </p:cNvSpPr>
          <p:nvPr>
            <p:ph type="sldImg"/>
          </p:nvPr>
        </p:nvSpPr>
        <p:spPr>
          <a:ln/>
        </p:spPr>
      </p:sp>
      <p:sp>
        <p:nvSpPr>
          <p:cNvPr id="159747" name="备注占位符 2"/>
          <p:cNvSpPr>
            <a:spLocks noGrp="1"/>
          </p:cNvSpPr>
          <p:nvPr>
            <p:ph type="body" idx="1"/>
          </p:nvPr>
        </p:nvSpPr>
        <p:spPr>
          <a:noFill/>
          <a:ln/>
        </p:spPr>
        <p:txBody>
          <a:bodyPr/>
          <a:lstStyle/>
          <a:p>
            <a:r>
              <a:rPr lang="zh-CN" altLang="en-US" dirty="0">
                <a:ea typeface="黑体" pitchFamily="49" charset="-122"/>
              </a:rPr>
              <a:t>一个属性有很多取值，划分成很多不同的子集，就说明该属性的熵大。除以</a:t>
            </a:r>
            <a:r>
              <a:rPr lang="en-US" altLang="zh-CN" dirty="0">
                <a:ea typeface="黑体" pitchFamily="49" charset="-122"/>
              </a:rPr>
              <a:t>HA(D)</a:t>
            </a:r>
            <a:r>
              <a:rPr lang="zh-CN" altLang="en-US" dirty="0">
                <a:ea typeface="黑体" pitchFamily="49" charset="-122"/>
              </a:rPr>
              <a:t>以避免划分太细的特征。</a:t>
            </a:r>
            <a:endParaRPr lang="en-US" altLang="zh-CN" dirty="0">
              <a:ea typeface="黑体" pitchFamily="49" charset="-122"/>
            </a:endParaRPr>
          </a:p>
          <a:p>
            <a:endParaRPr lang="en-US" altLang="zh-CN" dirty="0">
              <a:ea typeface="黑体" pitchFamily="49" charset="-122"/>
            </a:endParaRPr>
          </a:p>
          <a:p>
            <a:r>
              <a:rPr lang="zh-CN" altLang="en-US" dirty="0">
                <a:ea typeface="黑体" pitchFamily="49" charset="-122"/>
              </a:rPr>
              <a:t>平均分两类： </a:t>
            </a:r>
            <a:r>
              <a:rPr lang="en-US" altLang="zh-CN" dirty="0">
                <a:ea typeface="黑体" pitchFamily="49" charset="-122"/>
              </a:rPr>
              <a:t>-log(1/2)</a:t>
            </a:r>
            <a:r>
              <a:rPr lang="zh-CN" altLang="en-US" dirty="0">
                <a:ea typeface="黑体" pitchFamily="49" charset="-122"/>
              </a:rPr>
              <a:t> </a:t>
            </a:r>
            <a:r>
              <a:rPr lang="en-US" altLang="zh-CN" dirty="0">
                <a:ea typeface="黑体" pitchFamily="49" charset="-122"/>
              </a:rPr>
              <a:t>=</a:t>
            </a:r>
            <a:r>
              <a:rPr lang="zh-CN" altLang="en-US" dirty="0">
                <a:ea typeface="黑体" pitchFamily="49" charset="-122"/>
              </a:rPr>
              <a:t> </a:t>
            </a:r>
            <a:r>
              <a:rPr lang="en-US" altLang="zh-CN" dirty="0">
                <a:ea typeface="黑体" pitchFamily="49" charset="-122"/>
              </a:rPr>
              <a:t>log(2)</a:t>
            </a:r>
          </a:p>
          <a:p>
            <a:r>
              <a:rPr lang="zh-CN" altLang="en-US" dirty="0">
                <a:ea typeface="黑体" pitchFamily="49" charset="-122"/>
              </a:rPr>
              <a:t>平均分</a:t>
            </a:r>
            <a:r>
              <a:rPr lang="en-US" altLang="zh-CN" dirty="0">
                <a:ea typeface="黑体" pitchFamily="49" charset="-122"/>
              </a:rPr>
              <a:t>n</a:t>
            </a:r>
            <a:r>
              <a:rPr lang="zh-CN" altLang="en-US" dirty="0">
                <a:ea typeface="黑体" pitchFamily="49" charset="-122"/>
              </a:rPr>
              <a:t>类：</a:t>
            </a:r>
            <a:r>
              <a:rPr lang="en-US" altLang="zh-CN" dirty="0">
                <a:ea typeface="黑体" pitchFamily="49" charset="-122"/>
              </a:rPr>
              <a:t>-log(1/n)</a:t>
            </a:r>
            <a:r>
              <a:rPr lang="zh-CN" altLang="en-US" dirty="0">
                <a:ea typeface="黑体" pitchFamily="49" charset="-122"/>
              </a:rPr>
              <a:t> </a:t>
            </a:r>
            <a:r>
              <a:rPr lang="en-US" altLang="zh-CN" dirty="0">
                <a:ea typeface="黑体" pitchFamily="49" charset="-122"/>
              </a:rPr>
              <a:t>=</a:t>
            </a:r>
            <a:r>
              <a:rPr lang="zh-CN" altLang="en-US" dirty="0">
                <a:ea typeface="黑体" pitchFamily="49" charset="-122"/>
              </a:rPr>
              <a:t> </a:t>
            </a:r>
            <a:r>
              <a:rPr lang="en-US" altLang="zh-CN" dirty="0">
                <a:ea typeface="黑体" pitchFamily="49" charset="-122"/>
              </a:rPr>
              <a:t>log(n)</a:t>
            </a:r>
            <a:endParaRPr lang="zh-CN" altLang="en-US" dirty="0">
              <a:ea typeface="黑体" pitchFamily="49" charset="-122"/>
            </a:endParaRPr>
          </a:p>
        </p:txBody>
      </p:sp>
      <p:sp>
        <p:nvSpPr>
          <p:cNvPr id="159748" name="灯片编号占位符 3"/>
          <p:cNvSpPr>
            <a:spLocks noGrp="1"/>
          </p:cNvSpPr>
          <p:nvPr>
            <p:ph type="sldNum" sz="quarter" idx="5"/>
          </p:nvPr>
        </p:nvSpPr>
        <p:spPr>
          <a:noFill/>
        </p:spPr>
        <p:txBody>
          <a:bodyPr/>
          <a:lstStyle/>
          <a:p>
            <a:fld id="{2953F01C-8DE6-4205-9166-4DFB58485CAE}" type="slidenum">
              <a:rPr lang="en-US" altLang="zh-CN" smtClean="0">
                <a:ea typeface="黑体" pitchFamily="49" charset="-122"/>
              </a:rPr>
              <a:pPr/>
              <a:t>96</a:t>
            </a:fld>
            <a:endParaRPr lang="en-US" altLang="zh-CN">
              <a:ea typeface="黑体" pitchFamily="49" charset="-122"/>
            </a:endParaRPr>
          </a:p>
        </p:txBody>
      </p:sp>
    </p:spTree>
    <p:extLst>
      <p:ext uri="{BB962C8B-B14F-4D97-AF65-F5344CB8AC3E}">
        <p14:creationId xmlns:p14="http://schemas.microsoft.com/office/powerpoint/2010/main" val="90366793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第</a:t>
            </a:r>
            <a:r>
              <a:rPr kumimoji="1" lang="en-US" altLang="zh-CN" dirty="0"/>
              <a:t>14</a:t>
            </a:r>
            <a:r>
              <a:rPr kumimoji="1" lang="zh-CN" altLang="en-US" dirty="0"/>
              <a:t>堂课第一节结束</a:t>
            </a:r>
            <a:endParaRPr kumimoji="1" lang="en-US" altLang="zh-CN" dirty="0"/>
          </a:p>
          <a:p>
            <a:endParaRPr kumimoji="1" lang="en-US" altLang="zh-CN" dirty="0"/>
          </a:p>
          <a:p>
            <a:r>
              <a:rPr kumimoji="1" lang="zh-CN" altLang="en-US" dirty="0"/>
              <a:t>只离散化成两部分，（如果要要是三部分呢？）</a:t>
            </a:r>
          </a:p>
        </p:txBody>
      </p:sp>
      <p:sp>
        <p:nvSpPr>
          <p:cNvPr id="4" name="灯片编号占位符 3"/>
          <p:cNvSpPr>
            <a:spLocks noGrp="1"/>
          </p:cNvSpPr>
          <p:nvPr>
            <p:ph type="sldNum" sz="quarter" idx="5"/>
          </p:nvPr>
        </p:nvSpPr>
        <p:spPr/>
        <p:txBody>
          <a:bodyPr/>
          <a:lstStyle/>
          <a:p>
            <a:fld id="{D50AF6DD-051E-413B-8808-23D5AB3BD9E4}" type="slidenum">
              <a:rPr lang="en-US" smtClean="0"/>
              <a:pPr/>
              <a:t>97</a:t>
            </a:fld>
            <a:endParaRPr lang="en-US"/>
          </a:p>
        </p:txBody>
      </p:sp>
    </p:spTree>
    <p:extLst>
      <p:ext uri="{BB962C8B-B14F-4D97-AF65-F5344CB8AC3E}">
        <p14:creationId xmlns:p14="http://schemas.microsoft.com/office/powerpoint/2010/main" val="100255012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极端情况的二分类，全放到一个类里，信息熵是</a:t>
            </a:r>
            <a:r>
              <a:rPr kumimoji="1" lang="en-US" altLang="zh-CN" dirty="0"/>
              <a:t>0</a:t>
            </a:r>
            <a:r>
              <a:rPr kumimoji="1" lang="zh-CN" altLang="en-US" dirty="0"/>
              <a:t>，增益比是无穷</a:t>
            </a:r>
          </a:p>
        </p:txBody>
      </p:sp>
      <p:sp>
        <p:nvSpPr>
          <p:cNvPr id="4" name="灯片编号占位符 3"/>
          <p:cNvSpPr>
            <a:spLocks noGrp="1"/>
          </p:cNvSpPr>
          <p:nvPr>
            <p:ph type="sldNum" sz="quarter" idx="5"/>
          </p:nvPr>
        </p:nvSpPr>
        <p:spPr/>
        <p:txBody>
          <a:bodyPr/>
          <a:lstStyle/>
          <a:p>
            <a:fld id="{D50AF6DD-051E-413B-8808-23D5AB3BD9E4}" type="slidenum">
              <a:rPr lang="en-US" smtClean="0"/>
              <a:pPr/>
              <a:t>98</a:t>
            </a:fld>
            <a:endParaRPr lang="en-US"/>
          </a:p>
        </p:txBody>
      </p:sp>
    </p:spTree>
    <p:extLst>
      <p:ext uri="{BB962C8B-B14F-4D97-AF65-F5344CB8AC3E}">
        <p14:creationId xmlns:p14="http://schemas.microsoft.com/office/powerpoint/2010/main" val="71641585"/>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横坐标是树的规模</a:t>
            </a:r>
            <a:endParaRPr lang="en-US" altLang="zh-CN" dirty="0"/>
          </a:p>
          <a:p>
            <a:r>
              <a:rPr lang="zh-CN" altLang="en-US" dirty="0"/>
              <a:t>怎么解决这个问题？</a:t>
            </a:r>
          </a:p>
        </p:txBody>
      </p:sp>
      <p:sp>
        <p:nvSpPr>
          <p:cNvPr id="4" name="灯片编号占位符 3"/>
          <p:cNvSpPr>
            <a:spLocks noGrp="1"/>
          </p:cNvSpPr>
          <p:nvPr>
            <p:ph type="sldNum" sz="quarter" idx="10"/>
          </p:nvPr>
        </p:nvSpPr>
        <p:spPr/>
        <p:txBody>
          <a:bodyPr/>
          <a:lstStyle/>
          <a:p>
            <a:fld id="{D50AF6DD-051E-413B-8808-23D5AB3BD9E4}" type="slidenum">
              <a:rPr lang="en-US" smtClean="0"/>
              <a:pPr/>
              <a:t>99</a:t>
            </a:fld>
            <a:endParaRPr lang="en-US"/>
          </a:p>
        </p:txBody>
      </p:sp>
    </p:spTree>
    <p:extLst>
      <p:ext uri="{BB962C8B-B14F-4D97-AF65-F5344CB8AC3E}">
        <p14:creationId xmlns:p14="http://schemas.microsoft.com/office/powerpoint/2010/main" val="74894214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幻灯片图像占位符 1"/>
          <p:cNvSpPr>
            <a:spLocks noGrp="1" noRot="1" noChangeAspect="1" noTextEdit="1"/>
          </p:cNvSpPr>
          <p:nvPr>
            <p:ph type="sldImg"/>
          </p:nvPr>
        </p:nvSpPr>
        <p:spPr>
          <a:ln/>
        </p:spPr>
      </p:sp>
      <p:sp>
        <p:nvSpPr>
          <p:cNvPr id="160771" name="备注占位符 2"/>
          <p:cNvSpPr>
            <a:spLocks noGrp="1"/>
          </p:cNvSpPr>
          <p:nvPr>
            <p:ph type="body" idx="1"/>
          </p:nvPr>
        </p:nvSpPr>
        <p:spPr>
          <a:noFill/>
          <a:ln/>
        </p:spPr>
        <p:txBody>
          <a:bodyPr/>
          <a:lstStyle/>
          <a:p>
            <a:endParaRPr lang="zh-CN" altLang="en-US" dirty="0">
              <a:ea typeface="黑体" pitchFamily="49" charset="-122"/>
            </a:endParaRPr>
          </a:p>
        </p:txBody>
      </p:sp>
      <p:sp>
        <p:nvSpPr>
          <p:cNvPr id="160772" name="灯片编号占位符 3"/>
          <p:cNvSpPr>
            <a:spLocks noGrp="1"/>
          </p:cNvSpPr>
          <p:nvPr>
            <p:ph type="sldNum" sz="quarter" idx="5"/>
          </p:nvPr>
        </p:nvSpPr>
        <p:spPr>
          <a:noFill/>
        </p:spPr>
        <p:txBody>
          <a:bodyPr/>
          <a:lstStyle/>
          <a:p>
            <a:fld id="{6C903F7A-011F-4D8E-96A3-93FAAA071DB2}" type="slidenum">
              <a:rPr lang="en-US" altLang="zh-CN" smtClean="0">
                <a:ea typeface="黑体" pitchFamily="49" charset="-122"/>
              </a:rPr>
              <a:pPr/>
              <a:t>109</a:t>
            </a:fld>
            <a:endParaRPr lang="en-US" altLang="zh-CN">
              <a:ea typeface="黑体" pitchFamily="49" charset="-122"/>
            </a:endParaRPr>
          </a:p>
        </p:txBody>
      </p:sp>
    </p:spTree>
    <p:extLst>
      <p:ext uri="{BB962C8B-B14F-4D97-AF65-F5344CB8AC3E}">
        <p14:creationId xmlns:p14="http://schemas.microsoft.com/office/powerpoint/2010/main" val="62121961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有足够多的数据时可以把数据分成好多份，训练多个树</a:t>
            </a:r>
            <a:endParaRPr lang="en-US" altLang="zh-CN" dirty="0"/>
          </a:p>
          <a:p>
            <a:endParaRPr lang="en-US" altLang="zh-CN" dirty="0"/>
          </a:p>
          <a:p>
            <a:r>
              <a:rPr lang="zh-CN" altLang="en-US" dirty="0"/>
              <a:t>样本不够多时，随机采样同一个数据集构建多个数据组，也可以对特征进行采样构造数据组</a:t>
            </a:r>
            <a:endParaRPr lang="en-US" altLang="zh-CN" dirty="0"/>
          </a:p>
          <a:p>
            <a:endParaRPr lang="en-US" altLang="zh-CN" dirty="0"/>
          </a:p>
          <a:p>
            <a:r>
              <a:rPr lang="zh-CN" altLang="en-US" dirty="0"/>
              <a:t>有放回的采样，就是采完了放回去，这样从</a:t>
            </a:r>
            <a:r>
              <a:rPr lang="en-US" altLang="zh-CN" dirty="0"/>
              <a:t>N</a:t>
            </a:r>
            <a:r>
              <a:rPr lang="zh-CN" altLang="en-US" dirty="0"/>
              <a:t>个数据构成的数据集采样</a:t>
            </a:r>
            <a:r>
              <a:rPr lang="en-US" altLang="zh-CN" dirty="0"/>
              <a:t>N</a:t>
            </a:r>
            <a:r>
              <a:rPr lang="zh-CN" altLang="en-US" dirty="0"/>
              <a:t>次，获得的数据大概有</a:t>
            </a:r>
            <a:r>
              <a:rPr lang="en-US" altLang="zh-CN" dirty="0"/>
              <a:t>1/e</a:t>
            </a:r>
            <a:r>
              <a:rPr lang="zh-CN" altLang="en-US" dirty="0"/>
              <a:t>的数据采样不到</a:t>
            </a:r>
            <a:endParaRPr lang="en-US" altLang="zh-CN" dirty="0"/>
          </a:p>
          <a:p>
            <a:endParaRPr lang="zh-CN" altLang="en-US" dirty="0"/>
          </a:p>
        </p:txBody>
      </p:sp>
      <p:sp>
        <p:nvSpPr>
          <p:cNvPr id="4" name="灯片编号占位符 3"/>
          <p:cNvSpPr>
            <a:spLocks noGrp="1"/>
          </p:cNvSpPr>
          <p:nvPr>
            <p:ph type="sldNum" sz="quarter" idx="10"/>
          </p:nvPr>
        </p:nvSpPr>
        <p:spPr/>
        <p:txBody>
          <a:bodyPr/>
          <a:lstStyle/>
          <a:p>
            <a:fld id="{D50AF6DD-051E-413B-8808-23D5AB3BD9E4}" type="slidenum">
              <a:rPr lang="en-US" smtClean="0"/>
              <a:pPr/>
              <a:t>112</a:t>
            </a:fld>
            <a:endParaRPr lang="en-US"/>
          </a:p>
        </p:txBody>
      </p:sp>
    </p:spTree>
    <p:extLst>
      <p:ext uri="{BB962C8B-B14F-4D97-AF65-F5344CB8AC3E}">
        <p14:creationId xmlns:p14="http://schemas.microsoft.com/office/powerpoint/2010/main" val="3423820086"/>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第</a:t>
            </a:r>
            <a:r>
              <a:rPr kumimoji="1" lang="en-US" altLang="zh-CN" dirty="0"/>
              <a:t>14</a:t>
            </a:r>
            <a:r>
              <a:rPr kumimoji="1" lang="zh-CN" altLang="en-US" dirty="0"/>
              <a:t>堂课第二节一半结束</a:t>
            </a:r>
          </a:p>
        </p:txBody>
      </p:sp>
      <p:sp>
        <p:nvSpPr>
          <p:cNvPr id="4" name="灯片编号占位符 3"/>
          <p:cNvSpPr>
            <a:spLocks noGrp="1"/>
          </p:cNvSpPr>
          <p:nvPr>
            <p:ph type="sldNum" sz="quarter" idx="5"/>
          </p:nvPr>
        </p:nvSpPr>
        <p:spPr/>
        <p:txBody>
          <a:bodyPr/>
          <a:lstStyle/>
          <a:p>
            <a:fld id="{D50AF6DD-051E-413B-8808-23D5AB3BD9E4}" type="slidenum">
              <a:rPr lang="en-US" smtClean="0"/>
              <a:pPr/>
              <a:t>113</a:t>
            </a:fld>
            <a:endParaRPr lang="en-US"/>
          </a:p>
        </p:txBody>
      </p:sp>
    </p:spTree>
    <p:extLst>
      <p:ext uri="{BB962C8B-B14F-4D97-AF65-F5344CB8AC3E}">
        <p14:creationId xmlns:p14="http://schemas.microsoft.com/office/powerpoint/2010/main" val="41289789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gi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p:txBody>
          <a:bodyPr/>
          <a:lstStyle/>
          <a:p>
            <a:fld id="{535101B3-0010-49BE-8236-66B90211FF04}" type="datetime1">
              <a:rPr lang="en-US" altLang="zh-CN" smtClean="0"/>
              <a:pPr/>
              <a:t>5/27/25</a:t>
            </a:fld>
            <a:endParaRPr lang="en-US"/>
          </a:p>
        </p:txBody>
      </p:sp>
      <p:sp>
        <p:nvSpPr>
          <p:cNvPr id="17" name="Footer Placeholder 16"/>
          <p:cNvSpPr>
            <a:spLocks noGrp="1"/>
          </p:cNvSpPr>
          <p:nvPr>
            <p:ph type="ftr" sz="quarter" idx="11"/>
          </p:nvPr>
        </p:nvSpPr>
        <p:spPr/>
        <p:txBody>
          <a:bodyPr/>
          <a:lstStyle/>
          <a:p>
            <a:endParaRPr lang="en-US"/>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5501D8D0-7646-4D22-887C-459A4F2FEB61}" type="slidenum">
              <a:rPr lang="en-US" smtClean="0"/>
              <a:pPr/>
              <a:t>‹#›</a:t>
            </a:fld>
            <a:endParaRPr lang="en-US"/>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200" b="1">
                <a:solidFill>
                  <a:srgbClr val="C00000"/>
                </a:solidFill>
                <a:latin typeface="Times New Roman" pitchFamily="18" charset="0"/>
                <a:cs typeface="Times New Roman" pitchFamily="18" charset="0"/>
              </a:defRPr>
            </a:lvl1pPr>
          </a:lstStyle>
          <a:p>
            <a:r>
              <a:rPr kumimoji="0" lang="en-US" dirty="0"/>
              <a:t>Click to edit Master title style</a:t>
            </a:r>
          </a:p>
        </p:txBody>
      </p:sp>
      <p:sp>
        <p:nvSpPr>
          <p:cNvPr id="4" name="Date Placeholder 3"/>
          <p:cNvSpPr>
            <a:spLocks noGrp="1"/>
          </p:cNvSpPr>
          <p:nvPr>
            <p:ph type="dt" sz="half" idx="10"/>
          </p:nvPr>
        </p:nvSpPr>
        <p:spPr/>
        <p:txBody>
          <a:bodyPr/>
          <a:lstStyle/>
          <a:p>
            <a:fld id="{79694328-A6FB-477A-B9C5-7FEFDBDE1042}" type="datetime1">
              <a:rPr lang="en-US" altLang="zh-CN" smtClean="0"/>
              <a:pPr/>
              <a:t>5/27/25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501D8D0-7646-4D22-887C-459A4F2FEB61}" type="slidenum">
              <a:rPr lang="en-US" smtClean="0"/>
              <a:pPr/>
              <a:t>‹#›</a:t>
            </a:fld>
            <a:endParaRPr lang="en-US"/>
          </a:p>
        </p:txBody>
      </p:sp>
      <p:sp>
        <p:nvSpPr>
          <p:cNvPr id="8" name="Content Placeholder 7"/>
          <p:cNvSpPr>
            <a:spLocks noGrp="1"/>
          </p:cNvSpPr>
          <p:nvPr>
            <p:ph sz="quarter" idx="1"/>
          </p:nvPr>
        </p:nvSpPr>
        <p:spPr>
          <a:xfrm>
            <a:off x="914400" y="1447800"/>
            <a:ext cx="7772400" cy="4572000"/>
          </a:xfrm>
        </p:spPr>
        <p:txBody>
          <a:bodyPr vert="horz"/>
          <a:lstStyle>
            <a:lvl1pPr>
              <a:buFontTx/>
              <a:buBlip>
                <a:blip r:embed="rId2"/>
              </a:buBlip>
              <a:defRPr/>
            </a:lvl1pPr>
            <a:lvl2pPr>
              <a:buClr>
                <a:srgbClr val="503DDB"/>
              </a:buClr>
              <a:buSzPct val="45000"/>
              <a:buFont typeface="Wingdings" pitchFamily="2" charset="2"/>
              <a:buChar char="q"/>
              <a:defRPr/>
            </a:lvl2pPr>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pic>
        <p:nvPicPr>
          <p:cNvPr id="302081" name="Picture 1" descr="E:\resume\logo-tsinghua.jpg"/>
          <p:cNvPicPr>
            <a:picLocks noChangeAspect="1" noChangeArrowheads="1"/>
          </p:cNvPicPr>
          <p:nvPr userDrawn="1"/>
        </p:nvPicPr>
        <p:blipFill>
          <a:blip r:embed="rId3" cstate="print"/>
          <a:srcRect/>
          <a:stretch>
            <a:fillRect/>
          </a:stretch>
        </p:blipFill>
        <p:spPr bwMode="auto">
          <a:xfrm>
            <a:off x="6851560" y="90151"/>
            <a:ext cx="2045531" cy="643813"/>
          </a:xfrm>
          <a:prstGeom prst="rect">
            <a:avLst/>
          </a:prstGeom>
          <a:noFill/>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a:t>Click to edit Master title style</a:t>
            </a:r>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25629C65-C267-4342-9116-A00B6E7C55AD}" type="datetime1">
              <a:rPr lang="en-US" altLang="zh-CN" smtClean="0"/>
              <a:pPr/>
              <a:t>5/27/25</a:t>
            </a:fld>
            <a:endParaRPr lang="en-US"/>
          </a:p>
        </p:txBody>
      </p:sp>
      <p:sp>
        <p:nvSpPr>
          <p:cNvPr id="5" name="Footer Placeholder 4"/>
          <p:cNvSpPr>
            <a:spLocks noGrp="1"/>
          </p:cNvSpPr>
          <p:nvPr>
            <p:ph type="ftr" sz="quarter" idx="11"/>
          </p:nvPr>
        </p:nvSpPr>
        <p:spPr>
          <a:xfrm>
            <a:off x="800100" y="6172200"/>
            <a:ext cx="4000500" cy="457200"/>
          </a:xfrm>
        </p:spPr>
        <p:txBody>
          <a:bodyPr/>
          <a:lstStyle/>
          <a:p>
            <a:endParaRPr lang="en-US"/>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5501D8D0-7646-4D22-887C-459A4F2FEB61}"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BC48BA6D-2268-450C-9E6F-6553A2809D14}" type="datetime1">
              <a:rPr lang="en-US" altLang="zh-CN" smtClean="0"/>
              <a:pPr/>
              <a:t>5/27/25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501D8D0-7646-4D22-887C-459A4F2FEB61}" type="slidenum">
              <a:rPr lang="en-US" smtClean="0"/>
              <a:pPr/>
              <a:t>‹#›</a:t>
            </a:fld>
            <a:endParaRPr lang="en-US"/>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a:t>Click to edit Master title style</a:t>
            </a:r>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81976173-FFAF-40B2-BD71-0C474124F5CA}" type="datetime1">
              <a:rPr lang="en-US" altLang="zh-CN" smtClean="0"/>
              <a:pPr/>
              <a:t>5/27/25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501D8D0-7646-4D22-887C-459A4F2FEB61}" type="slidenum">
              <a:rPr lang="en-US" smtClean="0"/>
              <a:pPr/>
              <a:t>‹#›</a:t>
            </a:fld>
            <a:endParaRPr lang="en-US"/>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02EAAC5F-3C7D-47E2-8137-0D0E13270C17}" type="datetime1">
              <a:rPr lang="en-US" altLang="zh-CN" smtClean="0"/>
              <a:pPr/>
              <a:t>5/27/25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501D8D0-7646-4D22-887C-459A4F2FEB61}"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9B44C75-2845-4A49-8407-B10E57DDCB66}" type="datetime1">
              <a:rPr lang="en-US" altLang="zh-CN" smtClean="0"/>
              <a:pPr/>
              <a:t>5/27/25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501D8D0-7646-4D22-887C-459A4F2FEB61}"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a:t>Click to edit Master title style</a:t>
            </a:r>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A49D93C6-C0E5-4C94-83B0-EBE524181AA9}" type="datetime1">
              <a:rPr lang="en-US" altLang="zh-CN" smtClean="0"/>
              <a:pPr/>
              <a:t>5/27/25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501D8D0-7646-4D22-887C-459A4F2FEB61}" type="slidenum">
              <a:rPr lang="en-US" smtClean="0"/>
              <a:pPr/>
              <a:t>‹#›</a:t>
            </a:fld>
            <a:endParaRPr lang="en-US"/>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a:t>Click to edit Master title style</a:t>
            </a:r>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D5A46CFF-7119-486E-A242-14937EB72380}" type="datetime1">
              <a:rPr lang="en-US" altLang="zh-CN" smtClean="0"/>
              <a:pPr/>
              <a:t>5/27/25</a:t>
            </a:fld>
            <a:endParaRPr lang="en-US"/>
          </a:p>
        </p:txBody>
      </p:sp>
      <p:sp>
        <p:nvSpPr>
          <p:cNvPr id="6" name="Footer Placeholder 5"/>
          <p:cNvSpPr>
            <a:spLocks noGrp="1"/>
          </p:cNvSpPr>
          <p:nvPr>
            <p:ph type="ftr" sz="quarter" idx="11"/>
          </p:nvPr>
        </p:nvSpPr>
        <p:spPr>
          <a:xfrm>
            <a:off x="914400" y="6172200"/>
            <a:ext cx="3886200" cy="457200"/>
          </a:xfrm>
        </p:spPr>
        <p:txBody>
          <a:bodyPr/>
          <a:lstStyle/>
          <a:p>
            <a:endParaRPr lang="en-US"/>
          </a:p>
        </p:txBody>
      </p:sp>
      <p:sp>
        <p:nvSpPr>
          <p:cNvPr id="7" name="Slide Number Placeholder 6"/>
          <p:cNvSpPr>
            <a:spLocks noGrp="1"/>
          </p:cNvSpPr>
          <p:nvPr>
            <p:ph type="sldNum" sz="quarter" idx="12"/>
          </p:nvPr>
        </p:nvSpPr>
        <p:spPr>
          <a:xfrm>
            <a:off x="146304" y="6208776"/>
            <a:ext cx="457200" cy="457200"/>
          </a:xfrm>
        </p:spPr>
        <p:txBody>
          <a:bodyPr/>
          <a:lstStyle/>
          <a:p>
            <a:fld id="{5501D8D0-7646-4D22-887C-459A4F2FEB61}" type="slidenum">
              <a:rPr lang="en-US" smtClean="0"/>
              <a:pPr/>
              <a:t>‹#›</a:t>
            </a:fld>
            <a:endParaRPr lang="en-US"/>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8C97D574-52BE-4187-8AF7-E201A70CB6DC}" type="datetime1">
              <a:rPr lang="en-US" altLang="zh-CN" smtClean="0"/>
              <a:pPr/>
              <a:t>5/27/25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501D8D0-7646-4D22-887C-459A4F2FEB61}"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06CC6442-F0BB-4DBA-B030-4A0192701801}" type="datetime1">
              <a:rPr lang="en-US" altLang="zh-CN" smtClean="0"/>
              <a:pPr/>
              <a:t>5/27/25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501D8D0-7646-4D22-887C-459A4F2FEB61}"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a:t>Click to edit Master title style</a:t>
            </a:r>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917F057F-A64E-4BDF-9C5A-7B9C1755BBD0}" type="datetime1">
              <a:rPr lang="en-US" altLang="zh-CN" smtClean="0"/>
              <a:pPr/>
              <a:t>5/27/25</a:t>
            </a:fld>
            <a:endParaRPr lang="en-US"/>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n-US"/>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5501D8D0-7646-4D22-887C-459A4F2FEB61}"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hf sldNum="0" hdr="0" ftr="0" dt="0"/>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6.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5.wmf"/><Relationship Id="rId5" Type="http://schemas.openxmlformats.org/officeDocument/2006/relationships/oleObject" Target="../embeddings/oleObject2.bin"/><Relationship Id="rId10" Type="http://schemas.openxmlformats.org/officeDocument/2006/relationships/image" Target="../media/image7.wmf"/><Relationship Id="rId4" Type="http://schemas.openxmlformats.org/officeDocument/2006/relationships/image" Target="../media/image4.wmf"/><Relationship Id="rId9" Type="http://schemas.openxmlformats.org/officeDocument/2006/relationships/oleObject" Target="../embeddings/oleObject4.bin"/></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9.wmf"/><Relationship Id="rId5" Type="http://schemas.openxmlformats.org/officeDocument/2006/relationships/oleObject" Target="../embeddings/oleObject6.bin"/><Relationship Id="rId4" Type="http://schemas.openxmlformats.org/officeDocument/2006/relationships/image" Target="../media/image8.wmf"/></Relationships>
</file>

<file path=ppt/slides/_rels/slide1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oleObject" Target="../embeddings/oleObject5.bin"/><Relationship Id="rId7"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9.wmf"/><Relationship Id="rId5" Type="http://schemas.openxmlformats.org/officeDocument/2006/relationships/oleObject" Target="../embeddings/oleObject6.bin"/><Relationship Id="rId4" Type="http://schemas.openxmlformats.org/officeDocument/2006/relationships/image" Target="../media/image8.wmf"/></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1.wmf"/><Relationship Id="rId5" Type="http://schemas.openxmlformats.org/officeDocument/2006/relationships/oleObject" Target="../embeddings/oleObject8.bin"/><Relationship Id="rId4" Type="http://schemas.openxmlformats.org/officeDocument/2006/relationships/image" Target="../media/image10.wmf"/></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13.wmf"/><Relationship Id="rId5" Type="http://schemas.openxmlformats.org/officeDocument/2006/relationships/oleObject" Target="../embeddings/oleObject10.bin"/><Relationship Id="rId4" Type="http://schemas.openxmlformats.org/officeDocument/2006/relationships/image" Target="../media/image12.wmf"/></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4.wmf"/></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5.wmf"/></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6.wmf"/></Relationships>
</file>

<file path=ppt/slides/_rels/slide21.xml.rels><?xml version="1.0" encoding="UTF-8" standalone="yes"?>
<Relationships xmlns="http://schemas.openxmlformats.org/package/2006/relationships"><Relationship Id="rId8" Type="http://schemas.openxmlformats.org/officeDocument/2006/relationships/image" Target="../media/image19.wmf"/><Relationship Id="rId3" Type="http://schemas.openxmlformats.org/officeDocument/2006/relationships/oleObject" Target="../embeddings/oleObject14.bin"/><Relationship Id="rId7" Type="http://schemas.openxmlformats.org/officeDocument/2006/relationships/oleObject" Target="../embeddings/oleObject16.bin"/><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18.wmf"/><Relationship Id="rId5" Type="http://schemas.openxmlformats.org/officeDocument/2006/relationships/oleObject" Target="../embeddings/oleObject15.bin"/><Relationship Id="rId10" Type="http://schemas.openxmlformats.org/officeDocument/2006/relationships/image" Target="../media/image21.png"/><Relationship Id="rId4" Type="http://schemas.openxmlformats.org/officeDocument/2006/relationships/image" Target="../media/image17.wmf"/><Relationship Id="rId9" Type="http://schemas.openxmlformats.org/officeDocument/2006/relationships/image" Target="../media/image20.png"/></Relationships>
</file>

<file path=ppt/slides/_rels/slide22.xml.rels><?xml version="1.0" encoding="UTF-8" standalone="yes"?>
<Relationships xmlns="http://schemas.openxmlformats.org/package/2006/relationships"><Relationship Id="rId8" Type="http://schemas.openxmlformats.org/officeDocument/2006/relationships/image" Target="../media/image21.wmf"/><Relationship Id="rId3" Type="http://schemas.openxmlformats.org/officeDocument/2006/relationships/oleObject" Target="../embeddings/oleObject17.bin"/><Relationship Id="rId7" Type="http://schemas.openxmlformats.org/officeDocument/2006/relationships/oleObject" Target="../embeddings/oleObject19.bin"/><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9.wmf"/><Relationship Id="rId5" Type="http://schemas.openxmlformats.org/officeDocument/2006/relationships/oleObject" Target="../embeddings/oleObject18.bin"/><Relationship Id="rId10" Type="http://schemas.openxmlformats.org/officeDocument/2006/relationships/image" Target="../media/image22.wmf"/><Relationship Id="rId4" Type="http://schemas.openxmlformats.org/officeDocument/2006/relationships/image" Target="../media/image20.wmf"/><Relationship Id="rId9" Type="http://schemas.openxmlformats.org/officeDocument/2006/relationships/oleObject" Target="../embeddings/oleObject20.bin"/></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0.png"/></Relationships>
</file>

<file path=ppt/slides/_rels/slide26.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 Id="rId9" Type="http://schemas.openxmlformats.org/officeDocument/2006/relationships/image" Target="../media/image43.png"/></Relationships>
</file>

<file path=ppt/slides/_rels/slide27.xml.rels><?xml version="1.0" encoding="UTF-8" standalone="yes"?>
<Relationships xmlns="http://schemas.openxmlformats.org/package/2006/relationships"><Relationship Id="rId3" Type="http://schemas.openxmlformats.org/officeDocument/2006/relationships/image" Target="../media/image380.png"/><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28.xml.rels><?xml version="1.0" encoding="UTF-8" standalone="yes"?>
<Relationships xmlns="http://schemas.openxmlformats.org/package/2006/relationships"><Relationship Id="rId3" Type="http://schemas.openxmlformats.org/officeDocument/2006/relationships/image" Target="../media/image390.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29.xml.rels><?xml version="1.0" encoding="UTF-8" standalone="yes"?>
<Relationships xmlns="http://schemas.openxmlformats.org/package/2006/relationships"><Relationship Id="rId8" Type="http://schemas.openxmlformats.org/officeDocument/2006/relationships/image" Target="../media/image47.png"/><Relationship Id="rId7" Type="http://schemas.openxmlformats.org/officeDocument/2006/relationships/image" Target="../media/image46.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360.png"/></Relationships>
</file>

<file path=ppt/slides/_rels/slide30.xml.rels><?xml version="1.0" encoding="UTF-8" standalone="yes"?>
<Relationships xmlns="http://schemas.openxmlformats.org/package/2006/relationships"><Relationship Id="rId3" Type="http://schemas.openxmlformats.org/officeDocument/2006/relationships/image" Target="../media/image400.png"/><Relationship Id="rId2" Type="http://schemas.openxmlformats.org/officeDocument/2006/relationships/image" Target="../media/image370.png"/><Relationship Id="rId1" Type="http://schemas.openxmlformats.org/officeDocument/2006/relationships/slideLayout" Target="../slideLayouts/slideLayout2.xml"/><Relationship Id="rId5" Type="http://schemas.openxmlformats.org/officeDocument/2006/relationships/image" Target="../media/image420.png"/><Relationship Id="rId4" Type="http://schemas.openxmlformats.org/officeDocument/2006/relationships/image" Target="../media/image410.png"/></Relationships>
</file>

<file path=ppt/slides/_rels/slide31.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431.png"/><Relationship Id="rId7" Type="http://schemas.openxmlformats.org/officeDocument/2006/relationships/image" Target="../media/image51.png"/><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32.xml.rels><?xml version="1.0" encoding="UTF-8" standalone="yes"?>
<Relationships xmlns="http://schemas.openxmlformats.org/package/2006/relationships"><Relationship Id="rId2" Type="http://schemas.openxmlformats.org/officeDocument/2006/relationships/image" Target="../media/image43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oleObject" Target="../embeddings/oleObject21.bin"/><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24.wmf"/></Relationships>
</file>

<file path=ppt/slides/_rels/slide35.x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oleObject" Target="../embeddings/oleObject23.bin"/><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26.wmf"/></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27.wmf"/></Relationships>
</file>

<file path=ppt/slides/_rels/slide40.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oleObject" Target="../embeddings/oleObject26.bin"/><Relationship Id="rId7" Type="http://schemas.openxmlformats.org/officeDocument/2006/relationships/image" Target="../media/image59.pn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28.wmf"/><Relationship Id="rId5" Type="http://schemas.openxmlformats.org/officeDocument/2006/relationships/oleObject" Target="../embeddings/oleObject27.bin"/><Relationship Id="rId4" Type="http://schemas.openxmlformats.org/officeDocument/2006/relationships/image" Target="../media/image27.wmf"/></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notesSlide" Target="../notesSlides/notesSlide33.xml"/><Relationship Id="rId1" Type="http://schemas.openxmlformats.org/officeDocument/2006/relationships/slideLayout" Target="../slideLayouts/slideLayout2.xml"/><Relationship Id="rId5" Type="http://schemas.openxmlformats.org/officeDocument/2006/relationships/image" Target="../media/image62.png"/><Relationship Id="rId4" Type="http://schemas.openxmlformats.org/officeDocument/2006/relationships/image" Target="../media/image29.wmf"/></Relationships>
</file>

<file path=ppt/slides/_rels/slide42.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xml"/><Relationship Id="rId4" Type="http://schemas.openxmlformats.org/officeDocument/2006/relationships/image" Target="../media/image65.png"/></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30.wmf"/></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31.wmf"/></Relationships>
</file>

<file path=ppt/slides/_rels/slide45.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31.bin"/><Relationship Id="rId1" Type="http://schemas.openxmlformats.org/officeDocument/2006/relationships/slideLayout" Target="../slideLayouts/slideLayout2.xml"/><Relationship Id="rId5" Type="http://schemas.openxmlformats.org/officeDocument/2006/relationships/image" Target="../media/image7.wmf"/><Relationship Id="rId4" Type="http://schemas.openxmlformats.org/officeDocument/2006/relationships/oleObject" Target="../embeddings/oleObject32.bin"/></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32.wmf"/></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image" Target="../media/image34.wmf"/><Relationship Id="rId5" Type="http://schemas.openxmlformats.org/officeDocument/2006/relationships/oleObject" Target="../embeddings/oleObject35.bin"/><Relationship Id="rId4" Type="http://schemas.openxmlformats.org/officeDocument/2006/relationships/image" Target="../media/image33.wmf"/></Relationships>
</file>

<file path=ppt/slides/_rels/slide48.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slideLayout" Target="../slideLayouts/slideLayout7.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 Type="http://schemas.openxmlformats.org/officeDocument/2006/relationships/tags" Target="../tags/tag2.xml"/><Relationship Id="rId16" Type="http://schemas.openxmlformats.org/officeDocument/2006/relationships/tags" Target="../tags/tag16.xml"/><Relationship Id="rId20" Type="http://schemas.openxmlformats.org/officeDocument/2006/relationships/image" Target="../media/image35.tmp"/><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10" Type="http://schemas.openxmlformats.org/officeDocument/2006/relationships/tags" Target="../tags/tag10.xml"/><Relationship Id="rId19" Type="http://schemas.openxmlformats.org/officeDocument/2006/relationships/notesSlide" Target="../notesSlides/notesSlide38.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49.xml.rels><?xml version="1.0" encoding="UTF-8" standalone="yes"?>
<Relationships xmlns="http://schemas.openxmlformats.org/package/2006/relationships"><Relationship Id="rId8" Type="http://schemas.openxmlformats.org/officeDocument/2006/relationships/tags" Target="../tags/tag25.xml"/><Relationship Id="rId13" Type="http://schemas.openxmlformats.org/officeDocument/2006/relationships/tags" Target="../tags/tag30.xml"/><Relationship Id="rId18" Type="http://schemas.openxmlformats.org/officeDocument/2006/relationships/slideLayout" Target="../slideLayouts/slideLayout7.xml"/><Relationship Id="rId26" Type="http://schemas.openxmlformats.org/officeDocument/2006/relationships/image" Target="../media/image39.wmf"/><Relationship Id="rId3" Type="http://schemas.openxmlformats.org/officeDocument/2006/relationships/tags" Target="../tags/tag20.xml"/><Relationship Id="rId21" Type="http://schemas.openxmlformats.org/officeDocument/2006/relationships/oleObject" Target="../embeddings/oleObject37.bin"/><Relationship Id="rId7" Type="http://schemas.openxmlformats.org/officeDocument/2006/relationships/tags" Target="../tags/tag24.xml"/><Relationship Id="rId12" Type="http://schemas.openxmlformats.org/officeDocument/2006/relationships/tags" Target="../tags/tag29.xml"/><Relationship Id="rId17" Type="http://schemas.openxmlformats.org/officeDocument/2006/relationships/tags" Target="../tags/tag34.xml"/><Relationship Id="rId25" Type="http://schemas.openxmlformats.org/officeDocument/2006/relationships/oleObject" Target="../embeddings/oleObject39.bin"/><Relationship Id="rId2" Type="http://schemas.openxmlformats.org/officeDocument/2006/relationships/tags" Target="../tags/tag19.xml"/><Relationship Id="rId16" Type="http://schemas.openxmlformats.org/officeDocument/2006/relationships/tags" Target="../tags/tag33.xml"/><Relationship Id="rId20" Type="http://schemas.openxmlformats.org/officeDocument/2006/relationships/image" Target="../media/image36.wmf"/><Relationship Id="rId1" Type="http://schemas.openxmlformats.org/officeDocument/2006/relationships/tags" Target="../tags/tag18.xml"/><Relationship Id="rId6" Type="http://schemas.openxmlformats.org/officeDocument/2006/relationships/tags" Target="../tags/tag23.xml"/><Relationship Id="rId11" Type="http://schemas.openxmlformats.org/officeDocument/2006/relationships/tags" Target="../tags/tag28.xml"/><Relationship Id="rId24" Type="http://schemas.openxmlformats.org/officeDocument/2006/relationships/image" Target="../media/image38.wmf"/><Relationship Id="rId5" Type="http://schemas.openxmlformats.org/officeDocument/2006/relationships/tags" Target="../tags/tag22.xml"/><Relationship Id="rId15" Type="http://schemas.openxmlformats.org/officeDocument/2006/relationships/tags" Target="../tags/tag32.xml"/><Relationship Id="rId23" Type="http://schemas.openxmlformats.org/officeDocument/2006/relationships/oleObject" Target="../embeddings/oleObject38.bin"/><Relationship Id="rId10" Type="http://schemas.openxmlformats.org/officeDocument/2006/relationships/tags" Target="../tags/tag27.xml"/><Relationship Id="rId19" Type="http://schemas.openxmlformats.org/officeDocument/2006/relationships/oleObject" Target="../embeddings/oleObject36.bin"/><Relationship Id="rId4" Type="http://schemas.openxmlformats.org/officeDocument/2006/relationships/tags" Target="../tags/tag21.xml"/><Relationship Id="rId9" Type="http://schemas.openxmlformats.org/officeDocument/2006/relationships/tags" Target="../tags/tag26.xml"/><Relationship Id="rId14" Type="http://schemas.openxmlformats.org/officeDocument/2006/relationships/tags" Target="../tags/tag31.xml"/><Relationship Id="rId22" Type="http://schemas.openxmlformats.org/officeDocument/2006/relationships/image" Target="../media/image37.wmf"/><Relationship Id="rId27" Type="http://schemas.openxmlformats.org/officeDocument/2006/relationships/image" Target="../media/image35.tmp"/></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0.wmf"/><Relationship Id="rId2" Type="http://schemas.openxmlformats.org/officeDocument/2006/relationships/oleObject" Target="../embeddings/oleObject40.bin"/><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oleObject" Target="../embeddings/oleObject29.bin"/><Relationship Id="rId7" Type="http://schemas.openxmlformats.org/officeDocument/2006/relationships/image" Target="../media/image79.png"/><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image" Target="../media/image78.png"/><Relationship Id="rId5" Type="http://schemas.openxmlformats.org/officeDocument/2006/relationships/image" Target="../media/image77.png"/><Relationship Id="rId4" Type="http://schemas.openxmlformats.org/officeDocument/2006/relationships/image" Target="../media/image30.wmf"/></Relationships>
</file>

<file path=ppt/slides/_rels/slide56.xml.rels><?xml version="1.0" encoding="UTF-8" standalone="yes"?>
<Relationships xmlns="http://schemas.openxmlformats.org/package/2006/relationships"><Relationship Id="rId3" Type="http://schemas.openxmlformats.org/officeDocument/2006/relationships/oleObject" Target="../embeddings/oleObject41.bin"/><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41.wmf"/></Relationships>
</file>

<file path=ppt/slides/_rels/slide57.xml.rels><?xml version="1.0" encoding="UTF-8" standalone="yes"?>
<Relationships xmlns="http://schemas.openxmlformats.org/package/2006/relationships"><Relationship Id="rId3" Type="http://schemas.openxmlformats.org/officeDocument/2006/relationships/oleObject" Target="../embeddings/oleObject42.bin"/><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42.wmf"/></Relationships>
</file>

<file path=ppt/slides/_rels/slide58.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oleObject" Target="../embeddings/oleObject43.bin"/><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43.wmf"/></Relationships>
</file>

<file path=ppt/slides/_rels/slide61.x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oleObject" Target="../embeddings/oleObject44.bin"/><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620.png"/><Relationship Id="rId7" Type="http://schemas.openxmlformats.org/officeDocument/2006/relationships/image" Target="../media/image310.png"/><Relationship Id="rId2" Type="http://schemas.openxmlformats.org/officeDocument/2006/relationships/image" Target="../media/image101.png"/><Relationship Id="rId1" Type="http://schemas.openxmlformats.org/officeDocument/2006/relationships/slideLayout" Target="../slideLayouts/slideLayout2.xml"/><Relationship Id="rId6" Type="http://schemas.openxmlformats.org/officeDocument/2006/relationships/image" Target="../media/image621.png"/><Relationship Id="rId5" Type="http://schemas.openxmlformats.org/officeDocument/2006/relationships/image" Target="../media/image550.png"/><Relationship Id="rId4" Type="http://schemas.openxmlformats.org/officeDocument/2006/relationships/image" Target="../media/image54.jpeg"/></Relationships>
</file>

<file path=ppt/slides/_rels/slide74.xml.rels><?xml version="1.0" encoding="UTF-8" standalone="yes"?>
<Relationships xmlns="http://schemas.openxmlformats.org/package/2006/relationships"><Relationship Id="rId3" Type="http://schemas.openxmlformats.org/officeDocument/2006/relationships/image" Target="../media/image1240.png"/><Relationship Id="rId2" Type="http://schemas.openxmlformats.org/officeDocument/2006/relationships/image" Target="../media/image55.png"/><Relationship Id="rId1" Type="http://schemas.openxmlformats.org/officeDocument/2006/relationships/slideLayout" Target="../slideLayouts/slideLayout2.xml"/><Relationship Id="rId4" Type="http://schemas.openxmlformats.org/officeDocument/2006/relationships/image" Target="../media/image130.png"/></Relationships>
</file>

<file path=ppt/slides/_rels/slide75.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oleObject" Target="../embeddings/oleObject45.bin"/><Relationship Id="rId2" Type="http://schemas.openxmlformats.org/officeDocument/2006/relationships/notesSlide" Target="../notesSlides/notesSlide54.xml"/><Relationship Id="rId1" Type="http://schemas.openxmlformats.org/officeDocument/2006/relationships/slideLayout" Target="../slideLayouts/slideLayout2.xml"/><Relationship Id="rId4" Type="http://schemas.openxmlformats.org/officeDocument/2006/relationships/image" Target="../media/image56.wmf"/></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oleObject" Target="../embeddings/oleObject46.bin"/><Relationship Id="rId2" Type="http://schemas.openxmlformats.org/officeDocument/2006/relationships/notesSlide" Target="../notesSlides/notesSlide55.xml"/><Relationship Id="rId1" Type="http://schemas.openxmlformats.org/officeDocument/2006/relationships/slideLayout" Target="../slideLayouts/slideLayout2.xml"/><Relationship Id="rId4" Type="http://schemas.openxmlformats.org/officeDocument/2006/relationships/image" Target="../media/image57.wmf"/></Relationships>
</file>

<file path=ppt/slides/_rels/slide84.xml.rels><?xml version="1.0" encoding="UTF-8" standalone="yes"?>
<Relationships xmlns="http://schemas.openxmlformats.org/package/2006/relationships"><Relationship Id="rId3" Type="http://schemas.openxmlformats.org/officeDocument/2006/relationships/image" Target="../media/image58.wmf"/><Relationship Id="rId2" Type="http://schemas.openxmlformats.org/officeDocument/2006/relationships/oleObject" Target="../embeddings/oleObject47.bin"/><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59.wmf"/><Relationship Id="rId2" Type="http://schemas.openxmlformats.org/officeDocument/2006/relationships/oleObject" Target="../embeddings/oleObject48.bin"/><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oleObject" Target="../embeddings/oleObject49.bin"/><Relationship Id="rId2" Type="http://schemas.openxmlformats.org/officeDocument/2006/relationships/notesSlide" Target="../notesSlides/notesSlide58.xml"/><Relationship Id="rId1" Type="http://schemas.openxmlformats.org/officeDocument/2006/relationships/slideLayout" Target="../slideLayouts/slideLayout2.xml"/><Relationship Id="rId4" Type="http://schemas.openxmlformats.org/officeDocument/2006/relationships/image" Target="../media/image60.wmf"/></Relationships>
</file>

<file path=ppt/slides/_rels/slide92.xml.rels><?xml version="1.0" encoding="UTF-8" standalone="yes"?>
<Relationships xmlns="http://schemas.openxmlformats.org/package/2006/relationships"><Relationship Id="rId3" Type="http://schemas.openxmlformats.org/officeDocument/2006/relationships/image" Target="../media/image61.wmf"/><Relationship Id="rId2" Type="http://schemas.openxmlformats.org/officeDocument/2006/relationships/oleObject" Target="../embeddings/oleObject50.bin"/><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8" Type="http://schemas.openxmlformats.org/officeDocument/2006/relationships/tags" Target="../tags/tag42.xml"/><Relationship Id="rId13" Type="http://schemas.openxmlformats.org/officeDocument/2006/relationships/tags" Target="../tags/tag47.xml"/><Relationship Id="rId18" Type="http://schemas.openxmlformats.org/officeDocument/2006/relationships/slideLayout" Target="../slideLayouts/slideLayout7.xml"/><Relationship Id="rId3" Type="http://schemas.openxmlformats.org/officeDocument/2006/relationships/tags" Target="../tags/tag37.xml"/><Relationship Id="rId7" Type="http://schemas.openxmlformats.org/officeDocument/2006/relationships/tags" Target="../tags/tag41.xml"/><Relationship Id="rId12" Type="http://schemas.openxmlformats.org/officeDocument/2006/relationships/tags" Target="../tags/tag46.xml"/><Relationship Id="rId17" Type="http://schemas.openxmlformats.org/officeDocument/2006/relationships/tags" Target="../tags/tag51.xml"/><Relationship Id="rId2" Type="http://schemas.openxmlformats.org/officeDocument/2006/relationships/tags" Target="../tags/tag36.xml"/><Relationship Id="rId16" Type="http://schemas.openxmlformats.org/officeDocument/2006/relationships/tags" Target="../tags/tag50.xml"/><Relationship Id="rId20" Type="http://schemas.openxmlformats.org/officeDocument/2006/relationships/image" Target="../media/image35.tmp"/><Relationship Id="rId1" Type="http://schemas.openxmlformats.org/officeDocument/2006/relationships/tags" Target="../tags/tag35.xml"/><Relationship Id="rId6" Type="http://schemas.openxmlformats.org/officeDocument/2006/relationships/tags" Target="../tags/tag40.xml"/><Relationship Id="rId11" Type="http://schemas.openxmlformats.org/officeDocument/2006/relationships/tags" Target="../tags/tag45.xml"/><Relationship Id="rId5" Type="http://schemas.openxmlformats.org/officeDocument/2006/relationships/tags" Target="../tags/tag39.xml"/><Relationship Id="rId15" Type="http://schemas.openxmlformats.org/officeDocument/2006/relationships/tags" Target="../tags/tag49.xml"/><Relationship Id="rId10" Type="http://schemas.openxmlformats.org/officeDocument/2006/relationships/tags" Target="../tags/tag44.xml"/><Relationship Id="rId19" Type="http://schemas.openxmlformats.org/officeDocument/2006/relationships/notesSlide" Target="../notesSlides/notesSlide60.xml"/><Relationship Id="rId4" Type="http://schemas.openxmlformats.org/officeDocument/2006/relationships/tags" Target="../tags/tag38.xml"/><Relationship Id="rId9" Type="http://schemas.openxmlformats.org/officeDocument/2006/relationships/tags" Target="../tags/tag43.xml"/><Relationship Id="rId14" Type="http://schemas.openxmlformats.org/officeDocument/2006/relationships/tags" Target="../tags/tag48.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oleObject" Target="../embeddings/oleObject51.bin"/><Relationship Id="rId2" Type="http://schemas.openxmlformats.org/officeDocument/2006/relationships/notesSlide" Target="../notesSlides/notesSlide62.xml"/><Relationship Id="rId1" Type="http://schemas.openxmlformats.org/officeDocument/2006/relationships/slideLayout" Target="../slideLayouts/slideLayout2.xml"/><Relationship Id="rId4" Type="http://schemas.openxmlformats.org/officeDocument/2006/relationships/image" Target="../media/image62.wmf"/></Relationships>
</file>

<file path=ppt/slides/_rels/slide97.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67.jpe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68.wmf"/><Relationship Id="rId2" Type="http://schemas.openxmlformats.org/officeDocument/2006/relationships/oleObject" Target="../embeddings/oleObject52.bin"/><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8" Type="http://schemas.openxmlformats.org/officeDocument/2006/relationships/tags" Target="../tags/tag59.xml"/><Relationship Id="rId13" Type="http://schemas.openxmlformats.org/officeDocument/2006/relationships/tags" Target="../tags/tag64.xml"/><Relationship Id="rId18" Type="http://schemas.openxmlformats.org/officeDocument/2006/relationships/slideLayout" Target="../slideLayouts/slideLayout7.xml"/><Relationship Id="rId3" Type="http://schemas.openxmlformats.org/officeDocument/2006/relationships/tags" Target="../tags/tag54.xml"/><Relationship Id="rId7" Type="http://schemas.openxmlformats.org/officeDocument/2006/relationships/tags" Target="../tags/tag58.xml"/><Relationship Id="rId12" Type="http://schemas.openxmlformats.org/officeDocument/2006/relationships/tags" Target="../tags/tag63.xml"/><Relationship Id="rId17" Type="http://schemas.openxmlformats.org/officeDocument/2006/relationships/tags" Target="../tags/tag68.xml"/><Relationship Id="rId2" Type="http://schemas.openxmlformats.org/officeDocument/2006/relationships/tags" Target="../tags/tag53.xml"/><Relationship Id="rId16" Type="http://schemas.openxmlformats.org/officeDocument/2006/relationships/tags" Target="../tags/tag67.xml"/><Relationship Id="rId1" Type="http://schemas.openxmlformats.org/officeDocument/2006/relationships/tags" Target="../tags/tag52.xml"/><Relationship Id="rId6" Type="http://schemas.openxmlformats.org/officeDocument/2006/relationships/tags" Target="../tags/tag57.xml"/><Relationship Id="rId11" Type="http://schemas.openxmlformats.org/officeDocument/2006/relationships/tags" Target="../tags/tag62.xml"/><Relationship Id="rId5" Type="http://schemas.openxmlformats.org/officeDocument/2006/relationships/tags" Target="../tags/tag56.xml"/><Relationship Id="rId15" Type="http://schemas.openxmlformats.org/officeDocument/2006/relationships/tags" Target="../tags/tag66.xml"/><Relationship Id="rId10" Type="http://schemas.openxmlformats.org/officeDocument/2006/relationships/tags" Target="../tags/tag61.xml"/><Relationship Id="rId19" Type="http://schemas.openxmlformats.org/officeDocument/2006/relationships/image" Target="../media/image35.tmp"/><Relationship Id="rId4" Type="http://schemas.openxmlformats.org/officeDocument/2006/relationships/tags" Target="../tags/tag55.xml"/><Relationship Id="rId9" Type="http://schemas.openxmlformats.org/officeDocument/2006/relationships/tags" Target="../tags/tag60.xml"/><Relationship Id="rId14" Type="http://schemas.openxmlformats.org/officeDocument/2006/relationships/tags" Target="../tags/tag65.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前情回顾</a:t>
            </a:r>
          </a:p>
        </p:txBody>
      </p:sp>
      <p:sp>
        <p:nvSpPr>
          <p:cNvPr id="3" name="内容占位符 2"/>
          <p:cNvSpPr>
            <a:spLocks noGrp="1"/>
          </p:cNvSpPr>
          <p:nvPr>
            <p:ph sz="quarter" idx="1"/>
          </p:nvPr>
        </p:nvSpPr>
        <p:spPr>
          <a:xfrm>
            <a:off x="914400" y="2217420"/>
            <a:ext cx="7772400" cy="3429000"/>
          </a:xfrm>
        </p:spPr>
        <p:txBody>
          <a:bodyPr>
            <a:normAutofit lnSpcReduction="10000"/>
          </a:bodyPr>
          <a:lstStyle/>
          <a:p>
            <a:r>
              <a:rPr lang="zh-CN" altLang="en-US" dirty="0"/>
              <a:t>深度强化学习，通过试错的方法找到最优策略，由深度学习提供高效的状态与动作表征</a:t>
            </a:r>
            <a:endParaRPr lang="en-US" altLang="zh-CN" dirty="0"/>
          </a:p>
          <a:p>
            <a:r>
              <a:rPr lang="zh-CN" altLang="en-US" dirty="0"/>
              <a:t>奖励信号体现了学习的内容</a:t>
            </a:r>
            <a:endParaRPr lang="en-US" altLang="zh-CN" dirty="0"/>
          </a:p>
          <a:p>
            <a:pPr lvl="1"/>
            <a:r>
              <a:rPr lang="zh-CN" altLang="zh-CN" dirty="0"/>
              <a:t>基于策略梯度的强化</a:t>
            </a:r>
            <a:r>
              <a:rPr lang="zh-CN" altLang="en-US" dirty="0"/>
              <a:t>学习</a:t>
            </a:r>
            <a:r>
              <a:rPr lang="zh-CN" altLang="zh-CN" dirty="0"/>
              <a:t>，学习到的是</a:t>
            </a:r>
            <a:r>
              <a:rPr lang="zh-CN" altLang="en-US" dirty="0"/>
              <a:t>为了</a:t>
            </a:r>
            <a:r>
              <a:rPr lang="zh-CN" altLang="zh-CN" dirty="0"/>
              <a:t>获胜</a:t>
            </a:r>
            <a:r>
              <a:rPr lang="zh-CN" altLang="en-US" dirty="0"/>
              <a:t>当前棋局</a:t>
            </a:r>
            <a:r>
              <a:rPr lang="zh-CN" altLang="zh-CN" dirty="0"/>
              <a:t>的</a:t>
            </a:r>
            <a:r>
              <a:rPr lang="zh-CN" altLang="en-US" dirty="0"/>
              <a:t>落子方式</a:t>
            </a:r>
            <a:endParaRPr lang="en-US" altLang="zh-CN" dirty="0"/>
          </a:p>
          <a:p>
            <a:pPr lvl="1"/>
            <a:r>
              <a:rPr lang="zh-CN" altLang="zh-CN" dirty="0"/>
              <a:t>基于价值评估的强化学习，学习到的是每个落子点</a:t>
            </a:r>
            <a:r>
              <a:rPr lang="zh-CN" altLang="en-US" dirty="0"/>
              <a:t>获得的预计</a:t>
            </a:r>
            <a:r>
              <a:rPr lang="zh-CN" altLang="zh-CN" dirty="0"/>
              <a:t>收益</a:t>
            </a:r>
            <a:r>
              <a:rPr lang="zh-CN" altLang="en-US" dirty="0"/>
              <a:t>值</a:t>
            </a:r>
            <a:endParaRPr lang="en-US" altLang="zh-CN" dirty="0"/>
          </a:p>
          <a:p>
            <a:pPr lvl="1"/>
            <a:r>
              <a:rPr lang="zh-CN" altLang="zh-CN" dirty="0"/>
              <a:t>基于演员</a:t>
            </a:r>
            <a:r>
              <a:rPr lang="en-US" altLang="zh-CN" dirty="0"/>
              <a:t>-</a:t>
            </a:r>
            <a:r>
              <a:rPr lang="zh-CN" altLang="zh-CN" dirty="0"/>
              <a:t>评价的强化学习，</a:t>
            </a:r>
            <a:r>
              <a:rPr lang="zh-CN" altLang="en-US" dirty="0"/>
              <a:t>对以上两种方法的结合，优势互补</a:t>
            </a:r>
          </a:p>
        </p:txBody>
      </p:sp>
    </p:spTree>
    <p:extLst>
      <p:ext uri="{BB962C8B-B14F-4D97-AF65-F5344CB8AC3E}">
        <p14:creationId xmlns:p14="http://schemas.microsoft.com/office/powerpoint/2010/main" val="24467681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前情回顾</a:t>
            </a:r>
          </a:p>
        </p:txBody>
      </p:sp>
      <p:sp>
        <p:nvSpPr>
          <p:cNvPr id="3" name="内容占位符 2"/>
          <p:cNvSpPr>
            <a:spLocks noGrp="1"/>
          </p:cNvSpPr>
          <p:nvPr>
            <p:ph sz="quarter" idx="1"/>
          </p:nvPr>
        </p:nvSpPr>
        <p:spPr>
          <a:xfrm>
            <a:off x="907868" y="2152106"/>
            <a:ext cx="7772400" cy="3429000"/>
          </a:xfrm>
        </p:spPr>
        <p:txBody>
          <a:bodyPr/>
          <a:lstStyle/>
          <a:p>
            <a:r>
              <a:rPr lang="en-US" altLang="zh-CN" dirty="0" err="1"/>
              <a:t>AlphaGo</a:t>
            </a:r>
            <a:r>
              <a:rPr lang="en-US" altLang="zh-CN" dirty="0"/>
              <a:t> Zero</a:t>
            </a:r>
            <a:r>
              <a:rPr lang="zh-CN" altLang="en-US" dirty="0"/>
              <a:t>从零学习</a:t>
            </a:r>
            <a:endParaRPr lang="en-US" altLang="zh-CN" dirty="0"/>
          </a:p>
          <a:p>
            <a:pPr lvl="1"/>
            <a:r>
              <a:rPr lang="zh-CN" altLang="en-US" dirty="0"/>
              <a:t>不再使用人类棋手的数据</a:t>
            </a:r>
            <a:endParaRPr lang="en-US" altLang="zh-CN" dirty="0"/>
          </a:p>
          <a:p>
            <a:pPr lvl="1"/>
            <a:r>
              <a:rPr lang="zh-CN" altLang="en-US" dirty="0"/>
              <a:t>不再使用人类提供的特征</a:t>
            </a:r>
            <a:endParaRPr lang="en-US" altLang="zh-CN" dirty="0"/>
          </a:p>
          <a:p>
            <a:pPr lvl="1"/>
            <a:r>
              <a:rPr lang="zh-CN" altLang="en-US" dirty="0"/>
              <a:t>“放弃”也是通过学习得到</a:t>
            </a:r>
            <a:endParaRPr lang="en-US" altLang="zh-CN" dirty="0"/>
          </a:p>
          <a:p>
            <a:r>
              <a:rPr lang="zh-CN" altLang="en-US" dirty="0"/>
              <a:t>将策略网络和估值网络融合为一个网络</a:t>
            </a:r>
            <a:endParaRPr lang="en-US" altLang="zh-CN" dirty="0"/>
          </a:p>
          <a:p>
            <a:r>
              <a:rPr lang="zh-CN" altLang="en-US" dirty="0"/>
              <a:t>在</a:t>
            </a:r>
            <a:r>
              <a:rPr lang="en-US" altLang="zh-CN" dirty="0"/>
              <a:t>MCTS</a:t>
            </a:r>
            <a:r>
              <a:rPr lang="zh-CN" altLang="en-US" dirty="0"/>
              <a:t>中舍弃了模拟过程，用估值结果代替</a:t>
            </a:r>
            <a:endParaRPr lang="en-US" altLang="zh-CN" dirty="0"/>
          </a:p>
          <a:p>
            <a:r>
              <a:rPr lang="zh-CN" altLang="en-US" dirty="0"/>
              <a:t>将</a:t>
            </a:r>
            <a:r>
              <a:rPr lang="en-US" altLang="zh-CN" dirty="0"/>
              <a:t>MCTS</a:t>
            </a:r>
            <a:r>
              <a:rPr lang="zh-CN" altLang="en-US" dirty="0"/>
              <a:t>结合到深度强化学习中</a:t>
            </a:r>
            <a:endParaRPr lang="en-US" altLang="zh-CN" dirty="0"/>
          </a:p>
          <a:p>
            <a:pPr marL="0" indent="0">
              <a:buNone/>
            </a:pPr>
            <a:endParaRPr lang="zh-CN" altLang="en-US" dirty="0"/>
          </a:p>
        </p:txBody>
      </p:sp>
    </p:spTree>
    <p:extLst>
      <p:ext uri="{BB962C8B-B14F-4D97-AF65-F5344CB8AC3E}">
        <p14:creationId xmlns:p14="http://schemas.microsoft.com/office/powerpoint/2010/main" val="32810974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dirty="0"/>
              <a:t>第四章 统计机器学习方法</a:t>
            </a:r>
          </a:p>
        </p:txBody>
      </p:sp>
      <p:sp>
        <p:nvSpPr>
          <p:cNvPr id="69635" name="内容占位符 2"/>
          <p:cNvSpPr>
            <a:spLocks noGrp="1"/>
          </p:cNvSpPr>
          <p:nvPr>
            <p:ph idx="1"/>
          </p:nvPr>
        </p:nvSpPr>
        <p:spPr>
          <a:xfrm>
            <a:off x="685800" y="1747838"/>
            <a:ext cx="7772400" cy="4348162"/>
          </a:xfrm>
        </p:spPr>
        <p:txBody>
          <a:bodyPr>
            <a:normAutofit/>
          </a:bodyPr>
          <a:lstStyle/>
          <a:p>
            <a:r>
              <a:rPr lang="zh-CN" altLang="en-US" sz="3200" b="1" dirty="0"/>
              <a:t>什么是机器学习？</a:t>
            </a:r>
            <a:endParaRPr lang="en-US" altLang="zh-CN" sz="3200" b="1" dirty="0"/>
          </a:p>
          <a:p>
            <a:pPr lvl="1"/>
            <a:r>
              <a:rPr lang="zh-CN" altLang="en-US" sz="3000" b="1" dirty="0"/>
              <a:t>“如果一个系统能够通过执行某个过程改进它的性能，这就是学习”</a:t>
            </a:r>
            <a:endParaRPr lang="en-US" altLang="zh-CN" sz="3000" b="1" dirty="0"/>
          </a:p>
          <a:p>
            <a:pPr marL="320040" lvl="1" indent="0">
              <a:buNone/>
            </a:pPr>
            <a:r>
              <a:rPr lang="en-US" altLang="zh-CN" sz="3000" b="1" dirty="0"/>
              <a:t>                              ——</a:t>
            </a:r>
            <a:r>
              <a:rPr lang="zh-CN" altLang="en-US" sz="3000" b="1" dirty="0"/>
              <a:t>赫伯特</a:t>
            </a:r>
            <a:r>
              <a:rPr lang="en-US" altLang="zh-CN" sz="3000" b="1" dirty="0"/>
              <a:t>·</a:t>
            </a:r>
            <a:r>
              <a:rPr lang="zh-CN" altLang="en-US" sz="3000" b="1" dirty="0"/>
              <a:t>西蒙</a:t>
            </a:r>
            <a:endParaRPr lang="en-US" altLang="zh-CN" sz="3200" b="1" dirty="0"/>
          </a:p>
          <a:p>
            <a:r>
              <a:rPr lang="zh-CN" altLang="en-US" sz="3200" b="1" dirty="0"/>
              <a:t>统计学习就是计算机系统通过运用数据及统计方法提高系统性能的机器学习</a:t>
            </a:r>
          </a:p>
        </p:txBody>
      </p:sp>
      <p:sp>
        <p:nvSpPr>
          <p:cNvPr id="69636" name="灯片编号占位符 3"/>
          <p:cNvSpPr>
            <a:spLocks noGrp="1"/>
          </p:cNvSpPr>
          <p:nvPr>
            <p:ph type="sldNum" sz="quarter" idx="12"/>
          </p:nvPr>
        </p:nvSpPr>
        <p:spPr>
          <a:noFill/>
        </p:spPr>
        <p:txBody>
          <a:bodyPr/>
          <a:lstStyle/>
          <a:p>
            <a:fld id="{DA3E646C-0F32-48D8-88B7-ADD99299751C}" type="slidenum">
              <a:rPr lang="en-US" altLang="zh-CN" smtClean="0">
                <a:ea typeface="黑体" pitchFamily="49" charset="-122"/>
              </a:rPr>
              <a:pPr/>
              <a:t>3</a:t>
            </a:fld>
            <a:endParaRPr lang="en-US" altLang="zh-CN">
              <a:ea typeface="黑体" pitchFamily="49" charset="-122"/>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9" name="内容占位符 2"/>
          <p:cNvSpPr>
            <a:spLocks noGrp="1"/>
          </p:cNvSpPr>
          <p:nvPr>
            <p:ph idx="1"/>
          </p:nvPr>
        </p:nvSpPr>
        <p:spPr>
          <a:xfrm>
            <a:off x="685800" y="1890713"/>
            <a:ext cx="8058150" cy="4205287"/>
          </a:xfrm>
        </p:spPr>
        <p:txBody>
          <a:bodyPr>
            <a:normAutofit/>
          </a:bodyPr>
          <a:lstStyle/>
          <a:p>
            <a:r>
              <a:rPr lang="zh-CN" altLang="en-US" sz="3200" dirty="0"/>
              <a:t>统计学习从</a:t>
            </a:r>
            <a:r>
              <a:rPr lang="zh-CN" altLang="en-US" sz="3200" b="1" dirty="0"/>
              <a:t>数据</a:t>
            </a:r>
            <a:r>
              <a:rPr lang="zh-CN" altLang="en-US" sz="3200" dirty="0"/>
              <a:t>出发，提取</a:t>
            </a:r>
            <a:r>
              <a:rPr lang="zh-CN" altLang="en-US" sz="3200" b="1" dirty="0"/>
              <a:t>数据</a:t>
            </a:r>
            <a:r>
              <a:rPr lang="zh-CN" altLang="en-US" sz="3200" dirty="0"/>
              <a:t>的特征，抽象出</a:t>
            </a:r>
            <a:r>
              <a:rPr lang="zh-CN" altLang="en-US" sz="3200" b="1" dirty="0"/>
              <a:t>数据</a:t>
            </a:r>
            <a:r>
              <a:rPr lang="zh-CN" altLang="en-US" sz="3200" dirty="0"/>
              <a:t>的模型，发现</a:t>
            </a:r>
            <a:r>
              <a:rPr lang="zh-CN" altLang="en-US" sz="3200" b="1" dirty="0"/>
              <a:t>数据</a:t>
            </a:r>
            <a:r>
              <a:rPr lang="zh-CN" altLang="en-US" sz="3200" dirty="0"/>
              <a:t>中的知识，又回到对</a:t>
            </a:r>
            <a:r>
              <a:rPr lang="zh-CN" altLang="en-US" sz="3200" b="1" dirty="0"/>
              <a:t>数据</a:t>
            </a:r>
            <a:r>
              <a:rPr lang="zh-CN" altLang="en-US" sz="3200" dirty="0"/>
              <a:t>的分析与预测中。</a:t>
            </a:r>
            <a:endParaRPr lang="en-US" altLang="zh-CN" sz="3200" dirty="0"/>
          </a:p>
          <a:p>
            <a:endParaRPr lang="en-US" altLang="zh-CN" sz="3200" dirty="0"/>
          </a:p>
          <a:p>
            <a:r>
              <a:rPr lang="zh-CN" altLang="en-US" sz="3200" dirty="0"/>
              <a:t>统计学习的目标就是考虑</a:t>
            </a:r>
            <a:r>
              <a:rPr lang="zh-CN" altLang="en-US" sz="3200" b="1" dirty="0"/>
              <a:t>学习什么样的模型</a:t>
            </a:r>
            <a:r>
              <a:rPr lang="zh-CN" altLang="en-US" sz="3200" dirty="0"/>
              <a:t>和</a:t>
            </a:r>
            <a:r>
              <a:rPr lang="zh-CN" altLang="en-US" sz="3200" b="1" dirty="0"/>
              <a:t>如何学习</a:t>
            </a:r>
            <a:r>
              <a:rPr lang="zh-CN" altLang="en-US" sz="3200" dirty="0"/>
              <a:t>，以使模型能对数据进行</a:t>
            </a:r>
            <a:r>
              <a:rPr lang="zh-CN" altLang="en-US" sz="3200" b="1" dirty="0"/>
              <a:t>准确的预测和分析</a:t>
            </a:r>
          </a:p>
        </p:txBody>
      </p:sp>
      <p:sp>
        <p:nvSpPr>
          <p:cNvPr id="70660" name="灯片编号占位符 3"/>
          <p:cNvSpPr>
            <a:spLocks noGrp="1"/>
          </p:cNvSpPr>
          <p:nvPr>
            <p:ph type="sldNum" sz="quarter" idx="12"/>
          </p:nvPr>
        </p:nvSpPr>
        <p:spPr>
          <a:noFill/>
        </p:spPr>
        <p:txBody>
          <a:bodyPr/>
          <a:lstStyle/>
          <a:p>
            <a:fld id="{2BE81036-0B9E-434B-AA55-75DAF72B72E1}" type="slidenum">
              <a:rPr lang="en-US" altLang="zh-CN" smtClean="0">
                <a:ea typeface="黑体" pitchFamily="49" charset="-122"/>
              </a:rPr>
              <a:pPr/>
              <a:t>4</a:t>
            </a:fld>
            <a:endParaRPr lang="en-US" altLang="zh-CN">
              <a:ea typeface="黑体" pitchFamily="49"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dirty="0"/>
              <a:t>什么是统计机器学习？</a:t>
            </a:r>
          </a:p>
        </p:txBody>
      </p:sp>
      <p:sp>
        <p:nvSpPr>
          <p:cNvPr id="71683" name="内容占位符 2"/>
          <p:cNvSpPr>
            <a:spLocks noGrp="1"/>
          </p:cNvSpPr>
          <p:nvPr>
            <p:ph idx="1"/>
          </p:nvPr>
        </p:nvSpPr>
        <p:spPr>
          <a:xfrm>
            <a:off x="642938" y="1981200"/>
            <a:ext cx="7772400" cy="4114800"/>
          </a:xfrm>
        </p:spPr>
        <p:txBody>
          <a:bodyPr/>
          <a:lstStyle/>
          <a:p>
            <a:r>
              <a:rPr lang="zh-CN" altLang="en-US" sz="2800" b="1" dirty="0"/>
              <a:t>输入：</a:t>
            </a:r>
            <a:r>
              <a:rPr lang="en-US" altLang="zh-CN" sz="2800" b="1" dirty="0"/>
              <a:t>x</a:t>
            </a:r>
            <a:r>
              <a:rPr lang="zh-CN" altLang="en-US" sz="2800" b="1" dirty="0"/>
              <a:t>∈</a:t>
            </a:r>
            <a:r>
              <a:rPr lang="en-US" altLang="zh-CN" sz="2800" b="1" dirty="0"/>
              <a:t>X</a:t>
            </a:r>
          </a:p>
          <a:p>
            <a:r>
              <a:rPr lang="zh-CN" altLang="en-US" sz="2800" b="1" dirty="0"/>
              <a:t>输出：</a:t>
            </a:r>
            <a:r>
              <a:rPr lang="en-US" altLang="zh-CN" sz="2800" b="1" dirty="0"/>
              <a:t>y</a:t>
            </a:r>
            <a:r>
              <a:rPr lang="zh-CN" altLang="en-US" sz="2800" b="1" dirty="0"/>
              <a:t>∈</a:t>
            </a:r>
            <a:r>
              <a:rPr lang="en-US" altLang="zh-CN" sz="2800" b="1" dirty="0"/>
              <a:t>Y</a:t>
            </a:r>
          </a:p>
          <a:p>
            <a:r>
              <a:rPr lang="zh-CN" altLang="en-US" sz="2800" b="1" dirty="0"/>
              <a:t>未知的映射函数：</a:t>
            </a:r>
            <a:r>
              <a:rPr lang="en-US" altLang="zh-CN" sz="2800" b="1" dirty="0"/>
              <a:t>f: X</a:t>
            </a:r>
            <a:r>
              <a:rPr lang="zh-CN" altLang="en-US" sz="2800" b="1" dirty="0"/>
              <a:t>→</a:t>
            </a:r>
            <a:r>
              <a:rPr lang="en-US" altLang="zh-CN" sz="2800" b="1" dirty="0"/>
              <a:t>Y</a:t>
            </a:r>
          </a:p>
          <a:p>
            <a:r>
              <a:rPr lang="zh-CN" altLang="en-US" sz="2800" b="1" dirty="0"/>
              <a:t>训练集：</a:t>
            </a:r>
            <a:r>
              <a:rPr lang="en-US" altLang="zh-CN" sz="2800" b="1" dirty="0"/>
              <a:t>T={(x</a:t>
            </a:r>
            <a:r>
              <a:rPr lang="en-US" altLang="zh-CN" sz="2800" b="1" baseline="-25000" dirty="0"/>
              <a:t>1</a:t>
            </a:r>
            <a:r>
              <a:rPr lang="en-US" altLang="zh-CN" sz="2800" b="1" dirty="0"/>
              <a:t>,y</a:t>
            </a:r>
            <a:r>
              <a:rPr lang="en-US" altLang="zh-CN" sz="2800" b="1" baseline="-25000" dirty="0"/>
              <a:t>1</a:t>
            </a:r>
            <a:r>
              <a:rPr lang="en-US" altLang="zh-CN" sz="2800" b="1" dirty="0"/>
              <a:t>),…,(</a:t>
            </a:r>
            <a:r>
              <a:rPr lang="en-US" altLang="zh-CN" sz="2800" b="1" dirty="0" err="1"/>
              <a:t>x</a:t>
            </a:r>
            <a:r>
              <a:rPr lang="en-US" altLang="zh-CN" sz="2800" b="1" baseline="-25000" dirty="0" err="1"/>
              <a:t>n</a:t>
            </a:r>
            <a:r>
              <a:rPr lang="en-US" altLang="zh-CN" sz="2800" b="1" dirty="0" err="1"/>
              <a:t>,y</a:t>
            </a:r>
            <a:r>
              <a:rPr lang="en-US" altLang="zh-CN" sz="2800" b="1" baseline="-25000" dirty="0" err="1"/>
              <a:t>n</a:t>
            </a:r>
            <a:r>
              <a:rPr lang="en-US" altLang="zh-CN" sz="2800" b="1" dirty="0"/>
              <a:t>)}</a:t>
            </a:r>
            <a:r>
              <a:rPr lang="zh-CN" altLang="en-US" sz="2800" b="1" dirty="0"/>
              <a:t>，</a:t>
            </a:r>
            <a:endParaRPr lang="en-US" altLang="zh-CN" sz="2800" b="1" dirty="0"/>
          </a:p>
          <a:p>
            <a:pPr>
              <a:buFont typeface="Wingdings" pitchFamily="2" charset="2"/>
              <a:buNone/>
            </a:pPr>
            <a:r>
              <a:rPr lang="en-US" altLang="zh-CN" sz="2800" b="1" dirty="0"/>
              <a:t>                      T</a:t>
            </a:r>
            <a:r>
              <a:rPr lang="zh-CN" altLang="en-US" sz="2800" b="1" dirty="0"/>
              <a:t>由</a:t>
            </a:r>
            <a:r>
              <a:rPr lang="en-US" altLang="zh-CN" sz="2800" b="1" dirty="0"/>
              <a:t>f</a:t>
            </a:r>
            <a:r>
              <a:rPr lang="zh-CN" altLang="en-US" sz="2800" b="1" dirty="0"/>
              <a:t>产生（可能具有噪音）</a:t>
            </a:r>
            <a:endParaRPr lang="en-US" altLang="zh-CN" sz="2800" b="1" dirty="0"/>
          </a:p>
          <a:p>
            <a:r>
              <a:rPr lang="zh-CN" altLang="en-US" sz="2800" b="1" dirty="0"/>
              <a:t>假设空间：</a:t>
            </a:r>
            <a:r>
              <a:rPr lang="en-US" altLang="zh-CN" sz="2800" b="1" dirty="0"/>
              <a:t>H={</a:t>
            </a:r>
            <a:r>
              <a:rPr lang="en-US" altLang="zh-CN" sz="2800" b="1" dirty="0" err="1"/>
              <a:t>h</a:t>
            </a:r>
            <a:r>
              <a:rPr lang="en-US" altLang="zh-CN" sz="2800" b="1" baseline="-25000" dirty="0" err="1"/>
              <a:t>k</a:t>
            </a:r>
            <a:r>
              <a:rPr lang="en-US" altLang="zh-CN" sz="2800" b="1" dirty="0"/>
              <a:t>}</a:t>
            </a:r>
          </a:p>
          <a:p>
            <a:r>
              <a:rPr lang="zh-CN" altLang="en-US" sz="2800" b="1" dirty="0"/>
              <a:t>学到的映射函数：</a:t>
            </a:r>
            <a:r>
              <a:rPr lang="en-US" altLang="zh-CN" sz="2800" b="1" dirty="0"/>
              <a:t>g</a:t>
            </a:r>
            <a:r>
              <a:rPr lang="zh-CN" altLang="en-US" sz="2800" b="1" dirty="0"/>
              <a:t>∈</a:t>
            </a:r>
            <a:r>
              <a:rPr lang="en-US" altLang="zh-CN" sz="2800" b="1" dirty="0"/>
              <a:t>H</a:t>
            </a:r>
          </a:p>
          <a:p>
            <a:r>
              <a:rPr lang="zh-CN" altLang="en-US" sz="2800" b="1" dirty="0"/>
              <a:t>学习算法：</a:t>
            </a:r>
            <a:r>
              <a:rPr lang="en-US" altLang="zh-CN" sz="2800" b="1" dirty="0"/>
              <a:t>A</a:t>
            </a:r>
          </a:p>
          <a:p>
            <a:endParaRPr lang="en-US" altLang="zh-CN" dirty="0"/>
          </a:p>
        </p:txBody>
      </p:sp>
      <p:sp>
        <p:nvSpPr>
          <p:cNvPr id="71684" name="灯片编号占位符 3"/>
          <p:cNvSpPr>
            <a:spLocks noGrp="1"/>
          </p:cNvSpPr>
          <p:nvPr>
            <p:ph type="sldNum" sz="quarter" idx="12"/>
          </p:nvPr>
        </p:nvSpPr>
        <p:spPr>
          <a:noFill/>
        </p:spPr>
        <p:txBody>
          <a:bodyPr/>
          <a:lstStyle/>
          <a:p>
            <a:fld id="{AFEF9010-E70B-4340-BF26-9BD305DDACD8}" type="slidenum">
              <a:rPr lang="en-US" altLang="zh-CN" smtClean="0">
                <a:ea typeface="黑体" pitchFamily="49" charset="-122"/>
              </a:rPr>
              <a:pPr/>
              <a:t>5</a:t>
            </a:fld>
            <a:endParaRPr lang="en-US" altLang="zh-CN">
              <a:ea typeface="黑体" pitchFamily="49"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灯片编号占位符 3"/>
          <p:cNvSpPr>
            <a:spLocks noGrp="1"/>
          </p:cNvSpPr>
          <p:nvPr>
            <p:ph type="sldNum" sz="quarter" idx="12"/>
          </p:nvPr>
        </p:nvSpPr>
        <p:spPr>
          <a:noFill/>
        </p:spPr>
        <p:txBody>
          <a:bodyPr/>
          <a:lstStyle/>
          <a:p>
            <a:fld id="{AFA91C05-199B-4A51-9810-17A3F9C78658}" type="slidenum">
              <a:rPr lang="en-US" altLang="zh-CN" smtClean="0">
                <a:ea typeface="黑体" pitchFamily="49" charset="-122"/>
              </a:rPr>
              <a:pPr/>
              <a:t>6</a:t>
            </a:fld>
            <a:endParaRPr lang="en-US" altLang="zh-CN">
              <a:ea typeface="黑体" pitchFamily="49" charset="-122"/>
            </a:endParaRPr>
          </a:p>
        </p:txBody>
      </p:sp>
      <p:sp>
        <p:nvSpPr>
          <p:cNvPr id="72707" name="TextBox 6"/>
          <p:cNvSpPr txBox="1">
            <a:spLocks noChangeArrowheads="1"/>
          </p:cNvSpPr>
          <p:nvPr/>
        </p:nvSpPr>
        <p:spPr bwMode="auto">
          <a:xfrm>
            <a:off x="798513" y="1393825"/>
            <a:ext cx="2105025" cy="708025"/>
          </a:xfrm>
          <a:prstGeom prst="rect">
            <a:avLst/>
          </a:prstGeom>
          <a:noFill/>
          <a:ln w="28575">
            <a:solidFill>
              <a:schemeClr val="tx1"/>
            </a:solidFill>
            <a:miter lim="800000"/>
            <a:headEnd/>
            <a:tailEnd/>
          </a:ln>
        </p:spPr>
        <p:txBody>
          <a:bodyPr>
            <a:spAutoFit/>
          </a:bodyPr>
          <a:lstStyle/>
          <a:p>
            <a:r>
              <a:rPr lang="zh-CN" altLang="en-US" sz="2000" b="1" dirty="0"/>
              <a:t>训练集</a:t>
            </a:r>
            <a:r>
              <a:rPr lang="en-US" altLang="zh-CN" sz="2000" b="1" dirty="0"/>
              <a:t>T {(x</a:t>
            </a:r>
            <a:r>
              <a:rPr lang="en-US" altLang="zh-CN" sz="2000" b="1" baseline="-25000" dirty="0"/>
              <a:t>1</a:t>
            </a:r>
            <a:r>
              <a:rPr lang="en-US" altLang="zh-CN" sz="2000" b="1" dirty="0"/>
              <a:t>,y</a:t>
            </a:r>
            <a:r>
              <a:rPr lang="en-US" altLang="zh-CN" sz="2000" b="1" baseline="-25000" dirty="0"/>
              <a:t>1</a:t>
            </a:r>
            <a:r>
              <a:rPr lang="en-US" altLang="zh-CN" sz="2000" b="1" dirty="0"/>
              <a:t>),…,(</a:t>
            </a:r>
            <a:r>
              <a:rPr lang="en-US" altLang="zh-CN" sz="2000" b="1" dirty="0" err="1"/>
              <a:t>x</a:t>
            </a:r>
            <a:r>
              <a:rPr lang="en-US" altLang="zh-CN" sz="2000" b="1" baseline="-25000" dirty="0" err="1"/>
              <a:t>n</a:t>
            </a:r>
            <a:r>
              <a:rPr lang="en-US" altLang="zh-CN" sz="2000" b="1" dirty="0" err="1"/>
              <a:t>,y</a:t>
            </a:r>
            <a:r>
              <a:rPr lang="en-US" altLang="zh-CN" sz="2000" b="1" baseline="-25000" dirty="0" err="1"/>
              <a:t>n</a:t>
            </a:r>
            <a:r>
              <a:rPr lang="en-US" altLang="zh-CN" sz="2000" b="1" dirty="0"/>
              <a:t>)}</a:t>
            </a:r>
            <a:endParaRPr lang="zh-CN" altLang="en-US" sz="2000" b="1" dirty="0"/>
          </a:p>
        </p:txBody>
      </p:sp>
      <p:sp>
        <p:nvSpPr>
          <p:cNvPr id="72708" name="TextBox 8"/>
          <p:cNvSpPr txBox="1">
            <a:spLocks noChangeArrowheads="1"/>
          </p:cNvSpPr>
          <p:nvPr/>
        </p:nvSpPr>
        <p:spPr bwMode="auto">
          <a:xfrm>
            <a:off x="6372225" y="1379538"/>
            <a:ext cx="2089150" cy="706437"/>
          </a:xfrm>
          <a:prstGeom prst="rect">
            <a:avLst/>
          </a:prstGeom>
          <a:noFill/>
          <a:ln w="28575">
            <a:solidFill>
              <a:schemeClr val="tx1"/>
            </a:solidFill>
            <a:miter lim="800000"/>
            <a:headEnd/>
            <a:tailEnd/>
          </a:ln>
        </p:spPr>
        <p:txBody>
          <a:bodyPr>
            <a:spAutoFit/>
          </a:bodyPr>
          <a:lstStyle/>
          <a:p>
            <a:r>
              <a:rPr lang="zh-CN" altLang="en-US" sz="2000" b="1"/>
              <a:t>学到的目标函数</a:t>
            </a:r>
            <a:endParaRPr lang="en-US" altLang="zh-CN" sz="2000" b="1"/>
          </a:p>
          <a:p>
            <a:pPr algn="ctr"/>
            <a:r>
              <a:rPr lang="en-US" altLang="zh-CN" sz="2000" b="1"/>
              <a:t>    g </a:t>
            </a:r>
            <a:r>
              <a:rPr lang="zh-CN" altLang="en-US" sz="2000" b="1"/>
              <a:t>≈ </a:t>
            </a:r>
            <a:r>
              <a:rPr lang="en-US" altLang="zh-CN" sz="2000" b="1"/>
              <a:t>f</a:t>
            </a:r>
            <a:endParaRPr lang="zh-CN" altLang="en-US" sz="2000" b="1"/>
          </a:p>
        </p:txBody>
      </p:sp>
      <p:sp>
        <p:nvSpPr>
          <p:cNvPr id="72709" name="椭圆 9"/>
          <p:cNvSpPr>
            <a:spLocks noChangeArrowheads="1"/>
          </p:cNvSpPr>
          <p:nvPr/>
        </p:nvSpPr>
        <p:spPr bwMode="auto">
          <a:xfrm>
            <a:off x="3759200" y="1292225"/>
            <a:ext cx="1770063" cy="914400"/>
          </a:xfrm>
          <a:prstGeom prst="ellipse">
            <a:avLst/>
          </a:prstGeom>
          <a:noFill/>
          <a:ln w="28575" algn="ctr">
            <a:solidFill>
              <a:schemeClr val="tx1"/>
            </a:solidFill>
            <a:round/>
            <a:headEnd/>
            <a:tailEnd type="triangle" w="med" len="med"/>
          </a:ln>
        </p:spPr>
        <p:txBody>
          <a:bodyPr wrap="none"/>
          <a:lstStyle/>
          <a:p>
            <a:pPr algn="ctr"/>
            <a:r>
              <a:rPr lang="zh-CN" altLang="en-US" sz="2000" b="1"/>
              <a:t>学习算法</a:t>
            </a:r>
            <a:endParaRPr lang="en-US" altLang="zh-CN" sz="2000" b="1"/>
          </a:p>
          <a:p>
            <a:pPr algn="ctr"/>
            <a:r>
              <a:rPr lang="en-US" altLang="zh-CN" sz="2000" b="1"/>
              <a:t>A</a:t>
            </a:r>
            <a:endParaRPr lang="zh-CN" altLang="en-US" sz="2000" b="1"/>
          </a:p>
        </p:txBody>
      </p:sp>
      <p:sp>
        <p:nvSpPr>
          <p:cNvPr id="72710" name="椭圆 10"/>
          <p:cNvSpPr>
            <a:spLocks noChangeArrowheads="1"/>
          </p:cNvSpPr>
          <p:nvPr/>
        </p:nvSpPr>
        <p:spPr bwMode="auto">
          <a:xfrm>
            <a:off x="3759200" y="3381375"/>
            <a:ext cx="1770063" cy="914400"/>
          </a:xfrm>
          <a:prstGeom prst="ellipse">
            <a:avLst/>
          </a:prstGeom>
          <a:noFill/>
          <a:ln w="28575" algn="ctr">
            <a:solidFill>
              <a:schemeClr val="tx1"/>
            </a:solidFill>
            <a:round/>
            <a:headEnd/>
            <a:tailEnd type="triangle" w="med" len="med"/>
          </a:ln>
        </p:spPr>
        <p:txBody>
          <a:bodyPr wrap="none"/>
          <a:lstStyle/>
          <a:p>
            <a:pPr algn="ctr"/>
            <a:r>
              <a:rPr lang="zh-CN" altLang="en-US" sz="2000" b="1"/>
              <a:t>假设空间</a:t>
            </a:r>
            <a:endParaRPr lang="en-US" altLang="zh-CN" sz="2000" b="1"/>
          </a:p>
          <a:p>
            <a:pPr algn="ctr"/>
            <a:r>
              <a:rPr lang="en-US" altLang="zh-CN" sz="2000" b="1"/>
              <a:t>H</a:t>
            </a:r>
            <a:endParaRPr lang="zh-CN" altLang="en-US" sz="2000" b="1"/>
          </a:p>
        </p:txBody>
      </p:sp>
      <p:cxnSp>
        <p:nvCxnSpPr>
          <p:cNvPr id="72711" name="直接箭头连接符 12"/>
          <p:cNvCxnSpPr>
            <a:cxnSpLocks noChangeShapeType="1"/>
            <a:stCxn id="72707" idx="3"/>
            <a:endCxn id="72709" idx="2"/>
          </p:cNvCxnSpPr>
          <p:nvPr/>
        </p:nvCxnSpPr>
        <p:spPr bwMode="auto">
          <a:xfrm>
            <a:off x="2903538" y="1747838"/>
            <a:ext cx="855662" cy="1587"/>
          </a:xfrm>
          <a:prstGeom prst="straightConnector1">
            <a:avLst/>
          </a:prstGeom>
          <a:noFill/>
          <a:ln w="28575" algn="ctr">
            <a:solidFill>
              <a:schemeClr val="tx1"/>
            </a:solidFill>
            <a:round/>
            <a:headEnd/>
            <a:tailEnd type="arrow" w="med" len="med"/>
          </a:ln>
        </p:spPr>
      </p:cxnSp>
      <p:cxnSp>
        <p:nvCxnSpPr>
          <p:cNvPr id="72712" name="直接箭头连接符 17"/>
          <p:cNvCxnSpPr>
            <a:cxnSpLocks noChangeShapeType="1"/>
          </p:cNvCxnSpPr>
          <p:nvPr/>
        </p:nvCxnSpPr>
        <p:spPr bwMode="auto">
          <a:xfrm>
            <a:off x="5545138" y="1747838"/>
            <a:ext cx="855662" cy="1587"/>
          </a:xfrm>
          <a:prstGeom prst="straightConnector1">
            <a:avLst/>
          </a:prstGeom>
          <a:noFill/>
          <a:ln w="28575" algn="ctr">
            <a:solidFill>
              <a:schemeClr val="tx1"/>
            </a:solidFill>
            <a:round/>
            <a:headEnd/>
            <a:tailEnd type="arrow" w="med" len="med"/>
          </a:ln>
        </p:spPr>
      </p:cxnSp>
      <p:cxnSp>
        <p:nvCxnSpPr>
          <p:cNvPr id="72713" name="直接箭头连接符 18"/>
          <p:cNvCxnSpPr>
            <a:cxnSpLocks noChangeShapeType="1"/>
            <a:stCxn id="72710" idx="0"/>
            <a:endCxn id="72709" idx="4"/>
          </p:cNvCxnSpPr>
          <p:nvPr/>
        </p:nvCxnSpPr>
        <p:spPr bwMode="auto">
          <a:xfrm flipH="1" flipV="1">
            <a:off x="4645025" y="2206625"/>
            <a:ext cx="0" cy="1174750"/>
          </a:xfrm>
          <a:prstGeom prst="straightConnector1">
            <a:avLst/>
          </a:prstGeom>
          <a:noFill/>
          <a:ln w="28575" algn="ctr">
            <a:solidFill>
              <a:schemeClr val="tx1"/>
            </a:solidFill>
            <a:round/>
            <a:headEnd/>
            <a:tailEnd type="arrow" w="med" len="med"/>
          </a:ln>
        </p:spPr>
      </p:cxnSp>
      <p:sp>
        <p:nvSpPr>
          <p:cNvPr id="72714" name="内容占位符 2"/>
          <p:cNvSpPr>
            <a:spLocks noGrp="1"/>
          </p:cNvSpPr>
          <p:nvPr>
            <p:ph idx="1"/>
          </p:nvPr>
        </p:nvSpPr>
        <p:spPr>
          <a:xfrm>
            <a:off x="685800" y="4919663"/>
            <a:ext cx="8058150" cy="1176337"/>
          </a:xfrm>
        </p:spPr>
        <p:txBody>
          <a:bodyPr>
            <a:normAutofit/>
          </a:bodyPr>
          <a:lstStyle/>
          <a:p>
            <a:r>
              <a:rPr lang="zh-CN" altLang="en-US" sz="2800" b="1" dirty="0"/>
              <a:t>学习算法</a:t>
            </a:r>
            <a:r>
              <a:rPr lang="en-US" altLang="zh-CN" sz="2800" b="1" dirty="0"/>
              <a:t>A</a:t>
            </a:r>
            <a:r>
              <a:rPr lang="zh-CN" altLang="en-US" sz="2800" b="1" dirty="0"/>
              <a:t>根据训练集</a:t>
            </a:r>
            <a:r>
              <a:rPr lang="en-US" altLang="zh-CN" sz="2800" b="1" dirty="0"/>
              <a:t>T</a:t>
            </a:r>
            <a:r>
              <a:rPr lang="zh-CN" altLang="en-US" sz="2800" b="1" dirty="0"/>
              <a:t>从假设空间</a:t>
            </a:r>
            <a:r>
              <a:rPr lang="en-US" altLang="zh-CN" sz="2800" b="1" dirty="0"/>
              <a:t>H</a:t>
            </a:r>
            <a:r>
              <a:rPr lang="zh-CN" altLang="en-US" sz="2800" b="1" dirty="0"/>
              <a:t>中选择一个最好的</a:t>
            </a:r>
            <a:r>
              <a:rPr lang="en-US" altLang="zh-CN" sz="2800" b="1" dirty="0"/>
              <a:t>g</a:t>
            </a:r>
            <a:r>
              <a:rPr lang="zh-CN" altLang="en-US" sz="2800" b="1" dirty="0"/>
              <a:t>≈</a:t>
            </a:r>
            <a:r>
              <a:rPr lang="en-US" altLang="zh-CN" sz="2800" b="1" dirty="0"/>
              <a:t>f</a:t>
            </a:r>
            <a:endParaRPr lang="zh-CN" altLang="en-US" sz="2800" b="1"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36088-7F84-74E7-A6EB-A20F39BF2747}"/>
              </a:ext>
            </a:extLst>
          </p:cNvPr>
          <p:cNvSpPr>
            <a:spLocks noGrp="1"/>
          </p:cNvSpPr>
          <p:nvPr>
            <p:ph type="title"/>
          </p:nvPr>
        </p:nvSpPr>
        <p:spPr/>
        <p:txBody>
          <a:bodyPr/>
          <a:lstStyle/>
          <a:p>
            <a:r>
              <a:rPr lang="en-US" dirty="0" err="1"/>
              <a:t>如何形式化定义学习</a:t>
            </a:r>
            <a:r>
              <a:rPr lang="zh-CN" altLang="en-US" dirty="0"/>
              <a:t>？</a:t>
            </a:r>
            <a:endParaRPr lang="en-US" dirty="0"/>
          </a:p>
        </p:txBody>
      </p:sp>
      <p:sp>
        <p:nvSpPr>
          <p:cNvPr id="5" name="Content Placeholder 4">
            <a:extLst>
              <a:ext uri="{FF2B5EF4-FFF2-40B4-BE49-F238E27FC236}">
                <a16:creationId xmlns:a16="http://schemas.microsoft.com/office/drawing/2014/main" id="{729D643B-21C2-40E2-88C0-3EF2F79BC1B2}"/>
              </a:ext>
            </a:extLst>
          </p:cNvPr>
          <p:cNvSpPr>
            <a:spLocks noGrp="1"/>
          </p:cNvSpPr>
          <p:nvPr>
            <p:ph sz="quarter" idx="1"/>
          </p:nvPr>
        </p:nvSpPr>
        <p:spPr/>
        <p:txBody>
          <a:bodyPr/>
          <a:lstStyle/>
          <a:p>
            <a:r>
              <a:rPr lang="en-US" dirty="0" err="1"/>
              <a:t>可能近似正确的学习</a:t>
            </a:r>
            <a:endParaRPr lang="en-US" dirty="0"/>
          </a:p>
        </p:txBody>
      </p:sp>
      <mc:AlternateContent xmlns:mc="http://schemas.openxmlformats.org/markup-compatibility/2006" xmlns:a14="http://schemas.microsoft.com/office/drawing/2010/main">
        <mc:Choice Requires="a14">
          <p:sp>
            <p:nvSpPr>
              <p:cNvPr id="4" name="Rounded Rectangle 3">
                <a:extLst>
                  <a:ext uri="{FF2B5EF4-FFF2-40B4-BE49-F238E27FC236}">
                    <a16:creationId xmlns:a16="http://schemas.microsoft.com/office/drawing/2014/main" id="{51F64E81-B36E-FCB8-863F-EFA5D075F38B}"/>
                  </a:ext>
                </a:extLst>
              </p:cNvPr>
              <p:cNvSpPr/>
              <p:nvPr/>
            </p:nvSpPr>
            <p:spPr>
              <a:xfrm>
                <a:off x="821724" y="2433776"/>
                <a:ext cx="7865076" cy="2685906"/>
              </a:xfrm>
              <a:prstGeom prst="roundRect">
                <a:avLst>
                  <a:gd name="adj" fmla="val 7926"/>
                </a:avLst>
              </a:prstGeom>
              <a:solidFill>
                <a:srgbClr val="E7F1FF"/>
              </a:solidFill>
              <a:ln>
                <a:noFill/>
              </a:ln>
              <a:effectLst>
                <a:outerShdw blurRad="50800" dist="762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700"/>
                  </a:spcAft>
                </a:pPr>
                <a:r>
                  <a:rPr lang="en-US" sz="2000" b="1" dirty="0">
                    <a:solidFill>
                      <a:schemeClr val="tx1"/>
                    </a:solidFill>
                  </a:rPr>
                  <a:t>Probably Approximately Correct (PAC) Learning</a:t>
                </a:r>
                <a:r>
                  <a:rPr lang="en-US" sz="2000" dirty="0">
                    <a:solidFill>
                      <a:schemeClr val="tx1"/>
                    </a:solidFill>
                  </a:rPr>
                  <a:t>: </a:t>
                </a:r>
              </a:p>
              <a:p>
                <a:pPr>
                  <a:spcAft>
                    <a:spcPts val="300"/>
                  </a:spcAft>
                </a:pPr>
                <a:r>
                  <a:rPr lang="en-US" sz="2000" dirty="0">
                    <a:solidFill>
                      <a:schemeClr val="tx1"/>
                    </a:solidFill>
                  </a:rPr>
                  <a:t>For any </a:t>
                </a:r>
                <a14:m>
                  <m:oMath xmlns:m="http://schemas.openxmlformats.org/officeDocument/2006/math">
                    <m:r>
                      <a:rPr lang="en-US" sz="2000" b="0" i="1" smtClean="0">
                        <a:solidFill>
                          <a:schemeClr val="tx1"/>
                        </a:solidFill>
                        <a:latin typeface="Cambria Math" panose="02040503050406030204" pitchFamily="18" charset="0"/>
                      </a:rPr>
                      <m:t>𝜖</m:t>
                    </m:r>
                    <m:r>
                      <a:rPr lang="en-US" sz="2000" b="0" i="1" smtClean="0">
                        <a:solidFill>
                          <a:schemeClr val="tx1"/>
                        </a:solidFill>
                        <a:latin typeface="Cambria Math" panose="02040503050406030204" pitchFamily="18" charset="0"/>
                      </a:rPr>
                      <m:t>,</m:t>
                    </m:r>
                    <m:r>
                      <a:rPr lang="en-US" sz="2000" b="0" i="1" smtClean="0">
                        <a:solidFill>
                          <a:schemeClr val="tx1"/>
                        </a:solidFill>
                        <a:latin typeface="Cambria Math" panose="02040503050406030204" pitchFamily="18" charset="0"/>
                      </a:rPr>
                      <m:t>𝛿</m:t>
                    </m:r>
                    <m:r>
                      <a:rPr lang="en-US" sz="2000" b="0" i="1" smtClean="0">
                        <a:solidFill>
                          <a:schemeClr val="tx1"/>
                        </a:solidFill>
                        <a:latin typeface="Cambria Math" panose="02040503050406030204" pitchFamily="18" charset="0"/>
                      </a:rPr>
                      <m:t>∈(0,1)</m:t>
                    </m:r>
                  </m:oMath>
                </a14:m>
                <a:r>
                  <a:rPr lang="en-US" sz="2000" dirty="0">
                    <a:solidFill>
                      <a:schemeClr val="tx1"/>
                    </a:solidFill>
                  </a:rPr>
                  <a:t>, if there is an algorithm </a:t>
                </a:r>
                <a14:m>
                  <m:oMath xmlns:m="http://schemas.openxmlformats.org/officeDocument/2006/math">
                    <m:r>
                      <a:rPr lang="en-US" sz="2000" b="0" i="1" smtClean="0">
                        <a:solidFill>
                          <a:schemeClr val="tx1"/>
                        </a:solidFill>
                        <a:latin typeface="Cambria Math" panose="02040503050406030204" pitchFamily="18" charset="0"/>
                      </a:rPr>
                      <m:t>𝐴</m:t>
                    </m:r>
                  </m:oMath>
                </a14:m>
                <a:r>
                  <a:rPr lang="en-US" sz="2000" dirty="0">
                    <a:solidFill>
                      <a:schemeClr val="tx1"/>
                    </a:solidFill>
                  </a:rPr>
                  <a:t> and function </a:t>
                </a:r>
                <a14:m>
                  <m:oMath xmlns:m="http://schemas.openxmlformats.org/officeDocument/2006/math">
                    <m:r>
                      <a:rPr lang="en-US" sz="2000" b="0" i="1" smtClean="0">
                        <a:solidFill>
                          <a:schemeClr val="tx1"/>
                        </a:solidFill>
                        <a:latin typeface="Cambria Math" panose="02040503050406030204" pitchFamily="18" charset="0"/>
                      </a:rPr>
                      <m:t>𝑛</m:t>
                    </m:r>
                    <m:r>
                      <a:rPr lang="en-US" sz="2000" b="0" i="1" smtClean="0">
                        <a:solidFill>
                          <a:schemeClr val="tx1"/>
                        </a:solidFill>
                        <a:latin typeface="Cambria Math" panose="02040503050406030204" pitchFamily="18" charset="0"/>
                      </a:rPr>
                      <m:t>(</m:t>
                    </m:r>
                    <m:r>
                      <a:rPr lang="en-US" sz="2000" b="0" i="1" smtClean="0">
                        <a:solidFill>
                          <a:schemeClr val="tx1"/>
                        </a:solidFill>
                        <a:latin typeface="Cambria Math" panose="02040503050406030204" pitchFamily="18" charset="0"/>
                      </a:rPr>
                      <m:t>𝜖</m:t>
                    </m:r>
                    <m:r>
                      <a:rPr lang="en-US" sz="2000" b="0" i="1" smtClean="0">
                        <a:solidFill>
                          <a:schemeClr val="tx1"/>
                        </a:solidFill>
                        <a:latin typeface="Cambria Math" panose="02040503050406030204" pitchFamily="18" charset="0"/>
                      </a:rPr>
                      <m:t>,</m:t>
                    </m:r>
                    <m:r>
                      <a:rPr lang="en-US" sz="2000" b="0" i="1" smtClean="0">
                        <a:solidFill>
                          <a:schemeClr val="tx1"/>
                        </a:solidFill>
                        <a:latin typeface="Cambria Math" panose="02040503050406030204" pitchFamily="18" charset="0"/>
                      </a:rPr>
                      <m:t>𝛿</m:t>
                    </m:r>
                    <m:r>
                      <a:rPr lang="en-US" sz="2000" b="0" i="1" smtClean="0">
                        <a:solidFill>
                          <a:schemeClr val="tx1"/>
                        </a:solidFill>
                        <a:latin typeface="Cambria Math" panose="02040503050406030204" pitchFamily="18" charset="0"/>
                      </a:rPr>
                      <m:t>)</m:t>
                    </m:r>
                  </m:oMath>
                </a14:m>
                <a:r>
                  <a:rPr lang="en-US" sz="2000" dirty="0">
                    <a:solidFill>
                      <a:schemeClr val="tx1"/>
                    </a:solidFill>
                  </a:rPr>
                  <a:t> such that given any </a:t>
                </a:r>
                <a14:m>
                  <m:oMath xmlns:m="http://schemas.openxmlformats.org/officeDocument/2006/math">
                    <m:r>
                      <a:rPr lang="en-US" sz="2000" i="1">
                        <a:solidFill>
                          <a:schemeClr val="tx1"/>
                        </a:solidFill>
                        <a:latin typeface="Cambria Math" panose="02040503050406030204" pitchFamily="18" charset="0"/>
                      </a:rPr>
                      <m:t>𝑛</m:t>
                    </m:r>
                    <m:r>
                      <a:rPr lang="en-US" sz="2000" i="1">
                        <a:solidFill>
                          <a:schemeClr val="tx1"/>
                        </a:solidFill>
                        <a:latin typeface="Cambria Math" panose="02040503050406030204" pitchFamily="18" charset="0"/>
                      </a:rPr>
                      <m:t>(</m:t>
                    </m:r>
                    <m:r>
                      <a:rPr lang="en-US" sz="2000" i="1">
                        <a:solidFill>
                          <a:schemeClr val="tx1"/>
                        </a:solidFill>
                        <a:latin typeface="Cambria Math" panose="02040503050406030204" pitchFamily="18" charset="0"/>
                      </a:rPr>
                      <m:t>𝜖</m:t>
                    </m:r>
                    <m:r>
                      <a:rPr lang="en-US" sz="2000" i="1">
                        <a:solidFill>
                          <a:schemeClr val="tx1"/>
                        </a:solidFill>
                        <a:latin typeface="Cambria Math" panose="02040503050406030204" pitchFamily="18" charset="0"/>
                      </a:rPr>
                      <m:t>,</m:t>
                    </m:r>
                    <m:r>
                      <a:rPr lang="en-US" sz="2000" i="1">
                        <a:solidFill>
                          <a:schemeClr val="tx1"/>
                        </a:solidFill>
                        <a:latin typeface="Cambria Math" panose="02040503050406030204" pitchFamily="18" charset="0"/>
                      </a:rPr>
                      <m:t>𝛿</m:t>
                    </m:r>
                    <m:r>
                      <a:rPr lang="en-US" sz="2000" i="1">
                        <a:solidFill>
                          <a:schemeClr val="tx1"/>
                        </a:solidFill>
                        <a:latin typeface="Cambria Math" panose="02040503050406030204" pitchFamily="18" charset="0"/>
                      </a:rPr>
                      <m:t>)</m:t>
                    </m:r>
                  </m:oMath>
                </a14:m>
                <a:r>
                  <a:rPr lang="en-US" sz="2000" dirty="0">
                    <a:solidFill>
                      <a:schemeClr val="tx1"/>
                    </a:solidFill>
                  </a:rPr>
                  <a:t> samples drawn </a:t>
                </a:r>
                <a:r>
                  <a:rPr lang="en-US" sz="2000" dirty="0" err="1">
                    <a:solidFill>
                      <a:srgbClr val="FF0000"/>
                    </a:solidFill>
                  </a:rPr>
                  <a:t>i.i.d</a:t>
                </a:r>
                <a:r>
                  <a:rPr lang="en-US" sz="2000" dirty="0">
                    <a:solidFill>
                      <a:schemeClr val="tx1"/>
                    </a:solidFill>
                  </a:rPr>
                  <a:t> from any </a:t>
                </a:r>
                <a14:m>
                  <m:oMath xmlns:m="http://schemas.openxmlformats.org/officeDocument/2006/math">
                    <m:r>
                      <a:rPr lang="en-US" sz="2000" i="1">
                        <a:solidFill>
                          <a:schemeClr val="tx1"/>
                        </a:solidFill>
                        <a:latin typeface="Cambria Math" panose="02040503050406030204" pitchFamily="18" charset="0"/>
                        <a:ea typeface="Cambria Math" panose="02040503050406030204" pitchFamily="18" charset="0"/>
                      </a:rPr>
                      <m:t>𝒟</m:t>
                    </m:r>
                  </m:oMath>
                </a14:m>
                <a:r>
                  <a:rPr lang="en-US" sz="2000" dirty="0">
                    <a:solidFill>
                      <a:schemeClr val="tx1"/>
                    </a:solidFill>
                  </a:rPr>
                  <a:t> as input, algorithm </a:t>
                </a:r>
                <a14:m>
                  <m:oMath xmlns:m="http://schemas.openxmlformats.org/officeDocument/2006/math">
                    <m:r>
                      <a:rPr lang="en-US" sz="2000" i="1">
                        <a:solidFill>
                          <a:schemeClr val="tx1"/>
                        </a:solidFill>
                        <a:latin typeface="Cambria Math" panose="02040503050406030204" pitchFamily="18" charset="0"/>
                      </a:rPr>
                      <m:t>𝐴</m:t>
                    </m:r>
                  </m:oMath>
                </a14:m>
                <a:r>
                  <a:rPr lang="en-US" sz="2000" dirty="0">
                    <a:solidFill>
                      <a:schemeClr val="tx1"/>
                    </a:solidFill>
                  </a:rPr>
                  <a:t> outputs a function </a:t>
                </a:r>
                <a14:m>
                  <m:oMath xmlns:m="http://schemas.openxmlformats.org/officeDocument/2006/math">
                    <m:r>
                      <a:rPr lang="en-US" altLang="zh-CN" sz="2000" b="0" i="1" smtClean="0">
                        <a:solidFill>
                          <a:schemeClr val="tx1"/>
                        </a:solidFill>
                        <a:latin typeface="Cambria Math" panose="02040503050406030204" pitchFamily="18" charset="0"/>
                      </a:rPr>
                      <m:t>𝑔</m:t>
                    </m:r>
                    <m:r>
                      <a:rPr lang="en-US" sz="2000" b="0" i="1" smtClean="0">
                        <a:solidFill>
                          <a:schemeClr val="tx1"/>
                        </a:solidFill>
                        <a:latin typeface="Cambria Math" panose="02040503050406030204" pitchFamily="18" charset="0"/>
                      </a:rPr>
                      <m:t>∈</m:t>
                    </m:r>
                    <m:r>
                      <a:rPr lang="en-US" sz="2000" b="0" i="1" smtClean="0">
                        <a:solidFill>
                          <a:schemeClr val="tx1"/>
                        </a:solidFill>
                        <a:latin typeface="Cambria Math" panose="02040503050406030204" pitchFamily="18" charset="0"/>
                      </a:rPr>
                      <m:t>𝐻</m:t>
                    </m:r>
                  </m:oMath>
                </a14:m>
                <a:r>
                  <a:rPr lang="en-US" sz="2000" dirty="0">
                    <a:solidFill>
                      <a:schemeClr val="tx1"/>
                    </a:solidFill>
                  </a:rPr>
                  <a:t> such that </a:t>
                </a:r>
              </a:p>
              <a:p>
                <a:pPr>
                  <a:spcAft>
                    <a:spcPts val="300"/>
                  </a:spcAft>
                </a:pPr>
                <a:r>
                  <a:rPr lang="en-US" sz="2000" dirty="0">
                    <a:solidFill>
                      <a:schemeClr val="tx1"/>
                    </a:solidFill>
                    <a:ea typeface="Cambria Math" panose="02040503050406030204" pitchFamily="18" charset="0"/>
                  </a:rPr>
                  <a:t>         </a:t>
                </a:r>
                <a14:m>
                  <m:oMath xmlns:m="http://schemas.openxmlformats.org/officeDocument/2006/math">
                    <m:sSub>
                      <m:sSubPr>
                        <m:ctrlPr>
                          <a:rPr lang="en-US" sz="2000" i="1" smtClean="0">
                            <a:solidFill>
                              <a:schemeClr val="tx1"/>
                            </a:solidFill>
                            <a:latin typeface="Cambria Math" panose="02040503050406030204" pitchFamily="18" charset="0"/>
                            <a:ea typeface="Cambria Math" panose="02040503050406030204" pitchFamily="18" charset="0"/>
                          </a:rPr>
                        </m:ctrlPr>
                      </m:sSubPr>
                      <m:e>
                        <m:r>
                          <a:rPr lang="en-US" sz="2000" i="1">
                            <a:solidFill>
                              <a:schemeClr val="tx1"/>
                            </a:solidFill>
                            <a:latin typeface="Cambria Math" panose="02040503050406030204" pitchFamily="18" charset="0"/>
                            <a:ea typeface="Cambria Math" panose="02040503050406030204" pitchFamily="18" charset="0"/>
                          </a:rPr>
                          <m:t>𝔼</m:t>
                        </m:r>
                      </m:e>
                      <m:sub>
                        <m:r>
                          <a:rPr lang="en-US" sz="2000" i="1">
                            <a:solidFill>
                              <a:schemeClr val="tx1"/>
                            </a:solidFill>
                            <a:latin typeface="Cambria Math" panose="02040503050406030204" pitchFamily="18" charset="0"/>
                            <a:ea typeface="Cambria Math" panose="02040503050406030204" pitchFamily="18" charset="0"/>
                          </a:rPr>
                          <m:t>𝑥</m:t>
                        </m:r>
                        <m:r>
                          <a:rPr lang="en-US" sz="2000" i="1">
                            <a:solidFill>
                              <a:schemeClr val="tx1"/>
                            </a:solidFill>
                            <a:latin typeface="Cambria Math" panose="02040503050406030204" pitchFamily="18" charset="0"/>
                            <a:ea typeface="Cambria Math" panose="02040503050406030204" pitchFamily="18" charset="0"/>
                          </a:rPr>
                          <m:t>∼</m:t>
                        </m:r>
                        <m:r>
                          <a:rPr lang="en-US" sz="2000" i="1">
                            <a:solidFill>
                              <a:schemeClr val="tx1"/>
                            </a:solidFill>
                            <a:latin typeface="Cambria Math" panose="02040503050406030204" pitchFamily="18" charset="0"/>
                            <a:ea typeface="Cambria Math" panose="02040503050406030204" pitchFamily="18" charset="0"/>
                          </a:rPr>
                          <m:t>𝒟</m:t>
                        </m:r>
                      </m:sub>
                    </m:sSub>
                    <m:r>
                      <a:rPr lang="en-US" sz="2000" i="1" smtClean="0">
                        <a:solidFill>
                          <a:srgbClr val="0432FF"/>
                        </a:solidFill>
                        <a:latin typeface="Cambria Math" panose="02040503050406030204" pitchFamily="18" charset="0"/>
                        <a:ea typeface="Cambria Math" panose="02040503050406030204" pitchFamily="18" charset="0"/>
                      </a:rPr>
                      <m:t>𝕀</m:t>
                    </m:r>
                    <m:r>
                      <a:rPr lang="en-US" sz="2000" i="1" smtClean="0">
                        <a:solidFill>
                          <a:srgbClr val="0432FF"/>
                        </a:solidFill>
                        <a:latin typeface="Cambria Math" panose="02040503050406030204" pitchFamily="18" charset="0"/>
                        <a:ea typeface="Cambria Math" panose="02040503050406030204" pitchFamily="18" charset="0"/>
                      </a:rPr>
                      <m:t> [</m:t>
                    </m:r>
                    <m:r>
                      <a:rPr lang="en-US" sz="2000" i="1">
                        <a:solidFill>
                          <a:srgbClr val="0432FF"/>
                        </a:solidFill>
                        <a:latin typeface="Cambria Math" panose="02040503050406030204" pitchFamily="18" charset="0"/>
                      </a:rPr>
                      <m:t>𝑓</m:t>
                    </m:r>
                    <m:d>
                      <m:dPr>
                        <m:ctrlPr>
                          <a:rPr lang="en-US" sz="2000" i="1">
                            <a:solidFill>
                              <a:srgbClr val="0432FF"/>
                            </a:solidFill>
                            <a:latin typeface="Cambria Math" panose="02040503050406030204" pitchFamily="18" charset="0"/>
                          </a:rPr>
                        </m:ctrlPr>
                      </m:dPr>
                      <m:e>
                        <m:r>
                          <a:rPr lang="en-US" sz="2000" i="1">
                            <a:solidFill>
                              <a:srgbClr val="0432FF"/>
                            </a:solidFill>
                            <a:latin typeface="Cambria Math" panose="02040503050406030204" pitchFamily="18" charset="0"/>
                          </a:rPr>
                          <m:t>𝑥</m:t>
                        </m:r>
                      </m:e>
                    </m:d>
                    <m:r>
                      <a:rPr lang="en-US" sz="2000" i="1">
                        <a:solidFill>
                          <a:srgbClr val="0432FF"/>
                        </a:solidFill>
                        <a:latin typeface="Cambria Math" panose="02040503050406030204" pitchFamily="18" charset="0"/>
                        <a:ea typeface="Cambria Math" panose="02040503050406030204" pitchFamily="18" charset="0"/>
                      </a:rPr>
                      <m:t>≠</m:t>
                    </m:r>
                    <m:r>
                      <a:rPr lang="en-US" altLang="zh-CN" sz="2000" b="0" i="1" smtClean="0">
                        <a:solidFill>
                          <a:srgbClr val="0432FF"/>
                        </a:solidFill>
                        <a:latin typeface="Cambria Math" panose="02040503050406030204" pitchFamily="18" charset="0"/>
                        <a:ea typeface="Cambria Math" panose="02040503050406030204" pitchFamily="18" charset="0"/>
                      </a:rPr>
                      <m:t>𝑔</m:t>
                    </m:r>
                    <m:d>
                      <m:dPr>
                        <m:ctrlPr>
                          <a:rPr lang="en-US" sz="2000" i="1">
                            <a:solidFill>
                              <a:srgbClr val="0432FF"/>
                            </a:solidFill>
                            <a:latin typeface="Cambria Math" panose="02040503050406030204" pitchFamily="18" charset="0"/>
                            <a:ea typeface="Cambria Math" panose="02040503050406030204" pitchFamily="18" charset="0"/>
                          </a:rPr>
                        </m:ctrlPr>
                      </m:dPr>
                      <m:e>
                        <m:r>
                          <a:rPr lang="en-US" sz="2000" i="1">
                            <a:solidFill>
                              <a:srgbClr val="0432FF"/>
                            </a:solidFill>
                            <a:latin typeface="Cambria Math" panose="02040503050406030204" pitchFamily="18" charset="0"/>
                            <a:ea typeface="Cambria Math" panose="02040503050406030204" pitchFamily="18" charset="0"/>
                          </a:rPr>
                          <m:t>𝑥</m:t>
                        </m:r>
                      </m:e>
                    </m:d>
                    <m:r>
                      <a:rPr lang="en-US" altLang="zh-CN" sz="2000" b="0" i="1" smtClean="0">
                        <a:solidFill>
                          <a:srgbClr val="0432FF"/>
                        </a:solidFill>
                        <a:latin typeface="Cambria Math" panose="02040503050406030204" pitchFamily="18" charset="0"/>
                        <a:ea typeface="Cambria Math" panose="02040503050406030204" pitchFamily="18" charset="0"/>
                      </a:rPr>
                      <m:t>]</m:t>
                    </m:r>
                    <m:r>
                      <m:rPr>
                        <m:nor/>
                      </m:rPr>
                      <a:rPr lang="en-US" sz="2000" dirty="0">
                        <a:solidFill>
                          <a:srgbClr val="0432FF"/>
                        </a:solidFill>
                      </a:rPr>
                      <m:t> </m:t>
                    </m:r>
                    <m:r>
                      <a:rPr lang="en-US" sz="2000" b="0" i="1" smtClean="0">
                        <a:solidFill>
                          <a:schemeClr val="tx1"/>
                        </a:solidFill>
                        <a:latin typeface="Cambria Math" panose="02040503050406030204" pitchFamily="18" charset="0"/>
                      </a:rPr>
                      <m:t>≤</m:t>
                    </m:r>
                    <m:r>
                      <a:rPr lang="en-US" sz="2000" b="0" i="1" smtClean="0">
                        <a:solidFill>
                          <a:schemeClr val="tx1"/>
                        </a:solidFill>
                        <a:latin typeface="Cambria Math" panose="02040503050406030204" pitchFamily="18" charset="0"/>
                      </a:rPr>
                      <m:t>𝜖</m:t>
                    </m:r>
                  </m:oMath>
                </a14:m>
                <a:r>
                  <a:rPr lang="en-US" sz="2000" dirty="0">
                    <a:solidFill>
                      <a:schemeClr val="tx1"/>
                    </a:solidFill>
                  </a:rPr>
                  <a:t>  with probability at least </a:t>
                </a:r>
                <a14:m>
                  <m:oMath xmlns:m="http://schemas.openxmlformats.org/officeDocument/2006/math">
                    <m:r>
                      <a:rPr lang="en-US" sz="2000" b="0" i="1" smtClean="0">
                        <a:solidFill>
                          <a:schemeClr val="tx1"/>
                        </a:solidFill>
                        <a:latin typeface="Cambria Math" panose="02040503050406030204" pitchFamily="18" charset="0"/>
                      </a:rPr>
                      <m:t>(1−</m:t>
                    </m:r>
                    <m:r>
                      <a:rPr lang="en-US" sz="2000" b="0" i="1" smtClean="0">
                        <a:solidFill>
                          <a:schemeClr val="tx1"/>
                        </a:solidFill>
                        <a:latin typeface="Cambria Math" panose="02040503050406030204" pitchFamily="18" charset="0"/>
                      </a:rPr>
                      <m:t>𝛿</m:t>
                    </m:r>
                    <m:r>
                      <a:rPr lang="en-US" sz="2000" b="0" i="1" smtClean="0">
                        <a:solidFill>
                          <a:schemeClr val="tx1"/>
                        </a:solidFill>
                        <a:latin typeface="Cambria Math" panose="02040503050406030204" pitchFamily="18" charset="0"/>
                      </a:rPr>
                      <m:t>)</m:t>
                    </m:r>
                  </m:oMath>
                </a14:m>
                <a:r>
                  <a:rPr lang="en-US" sz="2000" dirty="0">
                    <a:solidFill>
                      <a:schemeClr val="tx1"/>
                    </a:solidFill>
                  </a:rPr>
                  <a:t>,</a:t>
                </a:r>
              </a:p>
              <a:p>
                <a:pPr>
                  <a:spcAft>
                    <a:spcPts val="1700"/>
                  </a:spcAft>
                </a:pPr>
                <a:r>
                  <a:rPr lang="en-US" sz="2000" dirty="0">
                    <a:solidFill>
                      <a:schemeClr val="tx1"/>
                    </a:solidFill>
                  </a:rPr>
                  <a:t>then we say hypothesis class </a:t>
                </a:r>
                <a14:m>
                  <m:oMath xmlns:m="http://schemas.openxmlformats.org/officeDocument/2006/math">
                    <m:r>
                      <a:rPr lang="en-US" sz="2000" i="1">
                        <a:solidFill>
                          <a:schemeClr val="tx1"/>
                        </a:solidFill>
                        <a:latin typeface="Cambria Math" panose="02040503050406030204" pitchFamily="18" charset="0"/>
                      </a:rPr>
                      <m:t>𝐻</m:t>
                    </m:r>
                  </m:oMath>
                </a14:m>
                <a:r>
                  <a:rPr lang="en-US" sz="2000" dirty="0">
                    <a:solidFill>
                      <a:schemeClr val="tx1"/>
                    </a:solidFill>
                  </a:rPr>
                  <a:t> is PAC-learnable by algorithm </a:t>
                </a:r>
                <a14:m>
                  <m:oMath xmlns:m="http://schemas.openxmlformats.org/officeDocument/2006/math">
                    <m:r>
                      <a:rPr lang="en-US" sz="2000" b="0" i="1" smtClean="0">
                        <a:solidFill>
                          <a:schemeClr val="tx1"/>
                        </a:solidFill>
                        <a:latin typeface="Cambria Math" panose="02040503050406030204" pitchFamily="18" charset="0"/>
                      </a:rPr>
                      <m:t>𝐴</m:t>
                    </m:r>
                  </m:oMath>
                </a14:m>
                <a:r>
                  <a:rPr lang="en-US" sz="2000" dirty="0">
                    <a:solidFill>
                      <a:schemeClr val="tx1"/>
                    </a:solidFill>
                  </a:rPr>
                  <a:t> with </a:t>
                </a:r>
                <a14:m>
                  <m:oMath xmlns:m="http://schemas.openxmlformats.org/officeDocument/2006/math">
                    <m:r>
                      <a:rPr lang="en-US" sz="2000" i="1">
                        <a:solidFill>
                          <a:schemeClr val="tx1"/>
                        </a:solidFill>
                        <a:latin typeface="Cambria Math" panose="02040503050406030204" pitchFamily="18" charset="0"/>
                      </a:rPr>
                      <m:t>𝑛</m:t>
                    </m:r>
                    <m:r>
                      <a:rPr lang="en-US" sz="2000" i="1">
                        <a:solidFill>
                          <a:schemeClr val="tx1"/>
                        </a:solidFill>
                        <a:latin typeface="Cambria Math" panose="02040503050406030204" pitchFamily="18" charset="0"/>
                      </a:rPr>
                      <m:t>(</m:t>
                    </m:r>
                    <m:r>
                      <a:rPr lang="en-US" sz="2000" i="1">
                        <a:solidFill>
                          <a:schemeClr val="tx1"/>
                        </a:solidFill>
                        <a:latin typeface="Cambria Math" panose="02040503050406030204" pitchFamily="18" charset="0"/>
                      </a:rPr>
                      <m:t>𝜖</m:t>
                    </m:r>
                    <m:r>
                      <a:rPr lang="en-US" sz="2000" i="1">
                        <a:solidFill>
                          <a:schemeClr val="tx1"/>
                        </a:solidFill>
                        <a:latin typeface="Cambria Math" panose="02040503050406030204" pitchFamily="18" charset="0"/>
                      </a:rPr>
                      <m:t>,</m:t>
                    </m:r>
                    <m:r>
                      <a:rPr lang="en-US" sz="2000" i="1">
                        <a:solidFill>
                          <a:schemeClr val="tx1"/>
                        </a:solidFill>
                        <a:latin typeface="Cambria Math" panose="02040503050406030204" pitchFamily="18" charset="0"/>
                      </a:rPr>
                      <m:t>𝛿</m:t>
                    </m:r>
                    <m:r>
                      <a:rPr lang="en-US" sz="2000" i="1">
                        <a:solidFill>
                          <a:schemeClr val="tx1"/>
                        </a:solidFill>
                        <a:latin typeface="Cambria Math" panose="02040503050406030204" pitchFamily="18" charset="0"/>
                      </a:rPr>
                      <m:t>)</m:t>
                    </m:r>
                  </m:oMath>
                </a14:m>
                <a:r>
                  <a:rPr lang="en-US" sz="2000" dirty="0">
                    <a:solidFill>
                      <a:schemeClr val="tx1"/>
                    </a:solidFill>
                  </a:rPr>
                  <a:t> sample complexity.  </a:t>
                </a:r>
              </a:p>
            </p:txBody>
          </p:sp>
        </mc:Choice>
        <mc:Fallback xmlns="">
          <p:sp>
            <p:nvSpPr>
              <p:cNvPr id="4" name="Rounded Rectangle 3">
                <a:extLst>
                  <a:ext uri="{FF2B5EF4-FFF2-40B4-BE49-F238E27FC236}">
                    <a16:creationId xmlns:a16="http://schemas.microsoft.com/office/drawing/2014/main" id="{51F64E81-B36E-FCB8-863F-EFA5D075F38B}"/>
                  </a:ext>
                </a:extLst>
              </p:cNvPr>
              <p:cNvSpPr>
                <a:spLocks noRot="1" noChangeAspect="1" noMove="1" noResize="1" noEditPoints="1" noAdjustHandles="1" noChangeArrowheads="1" noChangeShapeType="1" noTextEdit="1"/>
              </p:cNvSpPr>
              <p:nvPr/>
            </p:nvSpPr>
            <p:spPr>
              <a:xfrm>
                <a:off x="821724" y="2433776"/>
                <a:ext cx="7865076" cy="2685906"/>
              </a:xfrm>
              <a:prstGeom prst="roundRect">
                <a:avLst>
                  <a:gd name="adj" fmla="val 7926"/>
                </a:avLst>
              </a:prstGeom>
              <a:blipFill>
                <a:blip r:embed="rId2"/>
                <a:stretch>
                  <a:fillRect/>
                </a:stretch>
              </a:blipFill>
              <a:ln>
                <a:noFill/>
              </a:ln>
              <a:effectLst>
                <a:outerShdw blurRad="50800" dist="76200" dir="2700000" algn="tl" rotWithShape="0">
                  <a:prstClr val="black">
                    <a:alpha val="40000"/>
                  </a:prstClr>
                </a:outerShdw>
              </a:effectLst>
            </p:spPr>
            <p:txBody>
              <a:bodyPr/>
              <a:lstStyle/>
              <a:p>
                <a:r>
                  <a:rPr lang="en-US">
                    <a:noFill/>
                  </a:rPr>
                  <a:t> </a:t>
                </a:r>
              </a:p>
            </p:txBody>
          </p:sp>
        </mc:Fallback>
      </mc:AlternateContent>
    </p:spTree>
    <p:extLst>
      <p:ext uri="{BB962C8B-B14F-4D97-AF65-F5344CB8AC3E}">
        <p14:creationId xmlns:p14="http://schemas.microsoft.com/office/powerpoint/2010/main" val="19777991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1" name="内容占位符 2"/>
          <p:cNvSpPr>
            <a:spLocks noGrp="1"/>
          </p:cNvSpPr>
          <p:nvPr>
            <p:ph idx="1"/>
          </p:nvPr>
        </p:nvSpPr>
        <p:spPr>
          <a:xfrm>
            <a:off x="685800" y="1027113"/>
            <a:ext cx="7772400" cy="5068887"/>
          </a:xfrm>
        </p:spPr>
        <p:txBody>
          <a:bodyPr/>
          <a:lstStyle/>
          <a:p>
            <a:r>
              <a:rPr lang="zh-CN" altLang="en-US" sz="3200" b="1" dirty="0"/>
              <a:t>统计学习三要素：</a:t>
            </a:r>
            <a:endParaRPr lang="en-US" altLang="zh-CN" sz="3200" b="1" dirty="0"/>
          </a:p>
          <a:p>
            <a:endParaRPr lang="en-US" altLang="zh-CN" dirty="0"/>
          </a:p>
          <a:p>
            <a:pPr lvl="1"/>
            <a:r>
              <a:rPr lang="zh-CN" altLang="en-US" sz="2800" b="1" dirty="0"/>
              <a:t>模型：学习什么样的模型</a:t>
            </a:r>
            <a:endParaRPr lang="en-US" altLang="zh-CN" sz="2800" b="1" dirty="0"/>
          </a:p>
          <a:p>
            <a:pPr lvl="2"/>
            <a:r>
              <a:rPr lang="zh-CN" altLang="en-US" sz="2400" b="1" dirty="0"/>
              <a:t>条件概率分布、决策函数</a:t>
            </a:r>
            <a:endParaRPr lang="en-US" altLang="zh-CN" sz="2400" b="1" dirty="0"/>
          </a:p>
          <a:p>
            <a:pPr lvl="2"/>
            <a:endParaRPr lang="en-US" altLang="zh-CN" dirty="0"/>
          </a:p>
          <a:p>
            <a:pPr lvl="1"/>
            <a:r>
              <a:rPr lang="zh-CN" altLang="en-US" sz="2800" b="1" dirty="0"/>
              <a:t>策略：模型选择的准则</a:t>
            </a:r>
            <a:endParaRPr lang="en-US" altLang="zh-CN" sz="2800" b="1" dirty="0"/>
          </a:p>
          <a:p>
            <a:pPr lvl="2"/>
            <a:r>
              <a:rPr lang="zh-CN" altLang="en-US" sz="2400" b="1" dirty="0"/>
              <a:t>经验风险最小化、结构风险最小化</a:t>
            </a:r>
            <a:endParaRPr lang="en-US" altLang="zh-CN" sz="2400" b="1" dirty="0"/>
          </a:p>
          <a:p>
            <a:pPr lvl="2"/>
            <a:endParaRPr lang="en-US" altLang="zh-CN" dirty="0"/>
          </a:p>
          <a:p>
            <a:pPr lvl="1"/>
            <a:r>
              <a:rPr lang="zh-CN" altLang="en-US" sz="2800" b="1" dirty="0"/>
              <a:t>算法：模型学习的算法</a:t>
            </a:r>
            <a:endParaRPr lang="en-US" altLang="zh-CN" sz="2800" b="1" dirty="0"/>
          </a:p>
          <a:p>
            <a:pPr lvl="2"/>
            <a:r>
              <a:rPr lang="zh-CN" altLang="en-US" sz="2400" b="1" dirty="0"/>
              <a:t>一般归结为一个最优化问题</a:t>
            </a:r>
          </a:p>
        </p:txBody>
      </p:sp>
      <p:sp>
        <p:nvSpPr>
          <p:cNvPr id="73732" name="灯片编号占位符 3"/>
          <p:cNvSpPr>
            <a:spLocks noGrp="1"/>
          </p:cNvSpPr>
          <p:nvPr>
            <p:ph type="sldNum" sz="quarter" idx="12"/>
          </p:nvPr>
        </p:nvSpPr>
        <p:spPr>
          <a:noFill/>
        </p:spPr>
        <p:txBody>
          <a:bodyPr/>
          <a:lstStyle/>
          <a:p>
            <a:fld id="{221CE6C2-4EEA-4E86-9C97-3E30FF7D260E}" type="slidenum">
              <a:rPr lang="en-US" altLang="zh-CN" smtClean="0">
                <a:ea typeface="黑体" pitchFamily="49" charset="-122"/>
              </a:rPr>
              <a:pPr/>
              <a:t>8</a:t>
            </a:fld>
            <a:endParaRPr lang="en-US" altLang="zh-CN">
              <a:ea typeface="黑体" pitchFamily="49"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endParaRPr lang="zh-CN" altLang="en-US"/>
          </a:p>
        </p:txBody>
      </p:sp>
      <p:sp>
        <p:nvSpPr>
          <p:cNvPr id="74755" name="内容占位符 2"/>
          <p:cNvSpPr>
            <a:spLocks noGrp="1"/>
          </p:cNvSpPr>
          <p:nvPr>
            <p:ph idx="1"/>
          </p:nvPr>
        </p:nvSpPr>
        <p:spPr/>
        <p:txBody>
          <a:bodyPr>
            <a:normAutofit/>
          </a:bodyPr>
          <a:lstStyle/>
          <a:p>
            <a:r>
              <a:rPr lang="zh-CN" altLang="en-US" sz="3200" b="1" dirty="0"/>
              <a:t>统计机器学习分类：</a:t>
            </a:r>
            <a:endParaRPr lang="en-US" altLang="zh-CN" sz="3200" b="1" dirty="0"/>
          </a:p>
          <a:p>
            <a:endParaRPr lang="en-US" altLang="zh-CN" sz="2800" b="1" dirty="0"/>
          </a:p>
          <a:p>
            <a:pPr lvl="1"/>
            <a:r>
              <a:rPr lang="zh-CN" altLang="en-US" sz="2800" b="1" dirty="0"/>
              <a:t>监督学习</a:t>
            </a:r>
            <a:endParaRPr lang="en-US" altLang="zh-CN" sz="2800" b="1" dirty="0"/>
          </a:p>
          <a:p>
            <a:pPr lvl="1"/>
            <a:r>
              <a:rPr lang="zh-CN" altLang="en-US" sz="2800" b="1" dirty="0"/>
              <a:t>无监督学习</a:t>
            </a:r>
            <a:endParaRPr lang="en-US" altLang="zh-CN" sz="2800" b="1" dirty="0"/>
          </a:p>
          <a:p>
            <a:pPr lvl="1"/>
            <a:r>
              <a:rPr lang="zh-CN" altLang="en-US" sz="2800" b="1" dirty="0"/>
              <a:t>半监督学习</a:t>
            </a:r>
            <a:endParaRPr lang="en-US" altLang="zh-CN" sz="2800" b="1" dirty="0"/>
          </a:p>
          <a:p>
            <a:pPr lvl="1"/>
            <a:r>
              <a:rPr lang="zh-CN" altLang="en-US" sz="2800" b="1" dirty="0"/>
              <a:t>弱监督</a:t>
            </a:r>
            <a:endParaRPr lang="en-US" altLang="zh-CN" sz="2800" b="1" dirty="0"/>
          </a:p>
          <a:p>
            <a:pPr lvl="1"/>
            <a:r>
              <a:rPr lang="zh-CN" altLang="en-US" sz="2800" b="1" dirty="0"/>
              <a:t>。。。</a:t>
            </a:r>
          </a:p>
        </p:txBody>
      </p:sp>
      <p:sp>
        <p:nvSpPr>
          <p:cNvPr id="74756" name="灯片编号占位符 3"/>
          <p:cNvSpPr>
            <a:spLocks noGrp="1"/>
          </p:cNvSpPr>
          <p:nvPr>
            <p:ph type="sldNum" sz="quarter" idx="12"/>
          </p:nvPr>
        </p:nvSpPr>
        <p:spPr>
          <a:noFill/>
        </p:spPr>
        <p:txBody>
          <a:bodyPr/>
          <a:lstStyle/>
          <a:p>
            <a:fld id="{5865B15F-6BA0-466C-A2F5-E86091C536B8}" type="slidenum">
              <a:rPr lang="en-US" altLang="zh-CN" smtClean="0">
                <a:ea typeface="黑体" pitchFamily="49" charset="-122"/>
              </a:rPr>
              <a:pPr/>
              <a:t>9</a:t>
            </a:fld>
            <a:endParaRPr lang="en-US" altLang="zh-CN">
              <a:ea typeface="黑体" pitchFamily="49"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dirty="0"/>
              <a:t>统计机器学习的应用</a:t>
            </a:r>
          </a:p>
        </p:txBody>
      </p:sp>
      <p:sp>
        <p:nvSpPr>
          <p:cNvPr id="76803" name="内容占位符 2"/>
          <p:cNvSpPr>
            <a:spLocks noGrp="1"/>
          </p:cNvSpPr>
          <p:nvPr>
            <p:ph idx="1"/>
          </p:nvPr>
        </p:nvSpPr>
        <p:spPr>
          <a:xfrm>
            <a:off x="914400" y="1813034"/>
            <a:ext cx="7772400" cy="4206766"/>
          </a:xfrm>
        </p:spPr>
        <p:txBody>
          <a:bodyPr>
            <a:normAutofit/>
          </a:bodyPr>
          <a:lstStyle/>
          <a:p>
            <a:r>
              <a:rPr lang="zh-CN" altLang="en-US" sz="3200" b="1" dirty="0"/>
              <a:t>应用广泛，信息处理的各个方面几乎都要用到机器学习</a:t>
            </a:r>
            <a:endParaRPr lang="en-US" altLang="zh-CN" sz="3200" b="1" dirty="0"/>
          </a:p>
          <a:p>
            <a:pPr lvl="1"/>
            <a:r>
              <a:rPr lang="zh-CN" altLang="en-US" sz="2800" b="1" dirty="0"/>
              <a:t>文字、语音识别，输入法</a:t>
            </a:r>
            <a:endParaRPr lang="en-US" altLang="zh-CN" sz="2800" b="1" dirty="0"/>
          </a:p>
          <a:p>
            <a:pPr lvl="1"/>
            <a:r>
              <a:rPr lang="zh-CN" altLang="en-US" sz="2800" b="1" dirty="0"/>
              <a:t>搜索引擎</a:t>
            </a:r>
            <a:endParaRPr lang="en-US" altLang="zh-CN" sz="2800" b="1" dirty="0"/>
          </a:p>
          <a:p>
            <a:pPr lvl="1"/>
            <a:r>
              <a:rPr lang="zh-CN" altLang="en-US" sz="2800" b="1" dirty="0"/>
              <a:t>推荐、广告</a:t>
            </a:r>
            <a:endParaRPr lang="en-US" altLang="zh-CN" sz="2800" b="1" dirty="0"/>
          </a:p>
          <a:p>
            <a:pPr lvl="1"/>
            <a:r>
              <a:rPr lang="zh-CN" altLang="en-US" sz="2800" b="1" dirty="0"/>
              <a:t>文本处理、机器翻译</a:t>
            </a:r>
            <a:endParaRPr lang="en-US" altLang="zh-CN" sz="2800" b="1" dirty="0"/>
          </a:p>
          <a:p>
            <a:pPr lvl="1"/>
            <a:r>
              <a:rPr lang="zh-CN" altLang="en-US" sz="2800" b="1" dirty="0"/>
              <a:t>图像、视频处理</a:t>
            </a:r>
            <a:endParaRPr lang="en-US" altLang="zh-CN" sz="2800" b="1" dirty="0"/>
          </a:p>
          <a:p>
            <a:pPr lvl="1"/>
            <a:r>
              <a:rPr lang="en-US" altLang="zh-CN" sz="2800" b="1" dirty="0"/>
              <a:t>……</a:t>
            </a:r>
          </a:p>
        </p:txBody>
      </p:sp>
      <p:sp>
        <p:nvSpPr>
          <p:cNvPr id="76804" name="灯片编号占位符 3"/>
          <p:cNvSpPr>
            <a:spLocks noGrp="1"/>
          </p:cNvSpPr>
          <p:nvPr>
            <p:ph type="sldNum" sz="quarter" idx="12"/>
          </p:nvPr>
        </p:nvSpPr>
        <p:spPr>
          <a:noFill/>
        </p:spPr>
        <p:txBody>
          <a:bodyPr/>
          <a:lstStyle/>
          <a:p>
            <a:fld id="{50888D07-8479-49E8-826C-FF351C3E6A6D}" type="slidenum">
              <a:rPr lang="en-US" altLang="zh-CN" smtClean="0">
                <a:ea typeface="黑体" pitchFamily="49" charset="-122"/>
              </a:rPr>
              <a:pPr/>
              <a:t>10</a:t>
            </a:fld>
            <a:endParaRPr lang="en-US" altLang="zh-CN">
              <a:ea typeface="黑体" pitchFamily="49" charset="-122"/>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en-US" altLang="zh-CN" dirty="0"/>
              <a:t>4.1 </a:t>
            </a:r>
            <a:r>
              <a:rPr lang="zh-CN" altLang="en-US" dirty="0"/>
              <a:t>支持向量机（</a:t>
            </a:r>
            <a:r>
              <a:rPr lang="en-US" altLang="zh-CN" dirty="0"/>
              <a:t>SVM</a:t>
            </a:r>
            <a:r>
              <a:rPr lang="zh-CN" altLang="en-US" dirty="0"/>
              <a:t>）</a:t>
            </a:r>
          </a:p>
        </p:txBody>
      </p:sp>
      <p:sp>
        <p:nvSpPr>
          <p:cNvPr id="84995" name="内容占位符 2"/>
          <p:cNvSpPr>
            <a:spLocks noGrp="1"/>
          </p:cNvSpPr>
          <p:nvPr>
            <p:ph idx="1"/>
          </p:nvPr>
        </p:nvSpPr>
        <p:spPr>
          <a:xfrm>
            <a:off x="685800" y="1747838"/>
            <a:ext cx="7772400" cy="4348162"/>
          </a:xfrm>
        </p:spPr>
        <p:txBody>
          <a:bodyPr>
            <a:normAutofit/>
          </a:bodyPr>
          <a:lstStyle/>
          <a:p>
            <a:r>
              <a:rPr lang="en-US" altLang="zh-CN" sz="3200" b="1" dirty="0"/>
              <a:t>Support Vector Machines, SVM</a:t>
            </a:r>
          </a:p>
          <a:p>
            <a:pPr lvl="1"/>
            <a:r>
              <a:rPr lang="zh-CN" altLang="en-US" sz="3000" b="1" dirty="0"/>
              <a:t>分类模型</a:t>
            </a:r>
            <a:endParaRPr lang="en-US" altLang="zh-CN" sz="3000" b="1" dirty="0"/>
          </a:p>
          <a:p>
            <a:pPr lvl="1"/>
            <a:r>
              <a:rPr lang="zh-CN" altLang="en-US" sz="3000" b="1" dirty="0"/>
              <a:t>特征空间上的间隔最大化线性分类器</a:t>
            </a:r>
            <a:endParaRPr lang="en-US" altLang="zh-CN" sz="3000" b="1" dirty="0"/>
          </a:p>
          <a:p>
            <a:pPr lvl="1"/>
            <a:r>
              <a:rPr lang="zh-CN" altLang="en-US" sz="3000" b="1" dirty="0"/>
              <a:t>通过核技巧可实现非线性分类</a:t>
            </a:r>
            <a:endParaRPr lang="en-US" altLang="zh-CN" sz="3000" b="1" dirty="0"/>
          </a:p>
          <a:p>
            <a:r>
              <a:rPr lang="zh-CN" altLang="en-US" sz="3200" b="1" dirty="0"/>
              <a:t>根据模型的复杂程度可划分为：</a:t>
            </a:r>
            <a:endParaRPr lang="en-US" altLang="zh-CN" sz="3200" b="1" dirty="0"/>
          </a:p>
          <a:p>
            <a:pPr lvl="1"/>
            <a:r>
              <a:rPr lang="zh-CN" altLang="en-US" sz="2800" b="1" dirty="0"/>
              <a:t>线性可分支持向量机</a:t>
            </a:r>
            <a:endParaRPr lang="en-US" altLang="zh-CN" sz="2800" b="1" dirty="0"/>
          </a:p>
          <a:p>
            <a:pPr lvl="1"/>
            <a:r>
              <a:rPr lang="zh-CN" altLang="en-US" sz="2800" b="1" dirty="0"/>
              <a:t>线性支持向量机</a:t>
            </a:r>
            <a:endParaRPr lang="en-US" altLang="zh-CN" sz="2800" b="1" dirty="0"/>
          </a:p>
          <a:p>
            <a:pPr lvl="1"/>
            <a:r>
              <a:rPr lang="zh-CN" altLang="en-US" sz="2800" b="1" dirty="0"/>
              <a:t>非线性支持向量机</a:t>
            </a:r>
            <a:endParaRPr lang="en-US" altLang="zh-CN" sz="2800" b="1" dirty="0"/>
          </a:p>
          <a:p>
            <a:endParaRPr lang="zh-CN" altLang="en-US" dirty="0"/>
          </a:p>
        </p:txBody>
      </p:sp>
      <p:sp>
        <p:nvSpPr>
          <p:cNvPr id="84996" name="灯片编号占位符 3"/>
          <p:cNvSpPr>
            <a:spLocks noGrp="1"/>
          </p:cNvSpPr>
          <p:nvPr>
            <p:ph type="sldNum" sz="quarter" idx="12"/>
          </p:nvPr>
        </p:nvSpPr>
        <p:spPr>
          <a:noFill/>
        </p:spPr>
        <p:txBody>
          <a:bodyPr/>
          <a:lstStyle/>
          <a:p>
            <a:fld id="{33BE5692-1A6E-4D2A-AC90-D3DBDAEF38CC}" type="slidenum">
              <a:rPr lang="en-US" altLang="zh-CN" smtClean="0">
                <a:ea typeface="黑体" pitchFamily="49" charset="-122"/>
              </a:rPr>
              <a:pPr/>
              <a:t>11</a:t>
            </a:fld>
            <a:endParaRPr lang="en-US" altLang="zh-CN">
              <a:ea typeface="黑体" pitchFamily="49"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dirty="0"/>
              <a:t>线性可分支持向量机</a:t>
            </a:r>
          </a:p>
        </p:txBody>
      </p:sp>
      <p:sp>
        <p:nvSpPr>
          <p:cNvPr id="86019" name="灯片编号占位符 3"/>
          <p:cNvSpPr>
            <a:spLocks noGrp="1"/>
          </p:cNvSpPr>
          <p:nvPr>
            <p:ph type="sldNum" sz="quarter" idx="12"/>
          </p:nvPr>
        </p:nvSpPr>
        <p:spPr>
          <a:noFill/>
        </p:spPr>
        <p:txBody>
          <a:bodyPr/>
          <a:lstStyle/>
          <a:p>
            <a:fld id="{5B3BBD4C-24B6-45A6-89CD-8A4D4BD19B04}" type="slidenum">
              <a:rPr lang="en-US" altLang="zh-CN" smtClean="0">
                <a:ea typeface="黑体" pitchFamily="49" charset="-122"/>
              </a:rPr>
              <a:pPr/>
              <a:t>12</a:t>
            </a:fld>
            <a:endParaRPr lang="en-US" altLang="zh-CN">
              <a:ea typeface="黑体" pitchFamily="49" charset="-122"/>
            </a:endParaRPr>
          </a:p>
        </p:txBody>
      </p:sp>
      <p:grpSp>
        <p:nvGrpSpPr>
          <p:cNvPr id="4" name="组合 3"/>
          <p:cNvGrpSpPr/>
          <p:nvPr/>
        </p:nvGrpSpPr>
        <p:grpSpPr>
          <a:xfrm>
            <a:off x="1541463" y="1749972"/>
            <a:ext cx="6513512" cy="4801641"/>
            <a:chOff x="1541463" y="1749972"/>
            <a:chExt cx="6513512" cy="4801641"/>
          </a:xfrm>
        </p:grpSpPr>
        <p:cxnSp>
          <p:nvCxnSpPr>
            <p:cNvPr id="86020" name="直接箭头连接符 9"/>
            <p:cNvCxnSpPr>
              <a:cxnSpLocks noChangeShapeType="1"/>
            </p:cNvCxnSpPr>
            <p:nvPr/>
          </p:nvCxnSpPr>
          <p:spPr bwMode="auto">
            <a:xfrm flipV="1">
              <a:off x="1541463" y="6137275"/>
              <a:ext cx="6513512" cy="25400"/>
            </a:xfrm>
            <a:prstGeom prst="straightConnector1">
              <a:avLst/>
            </a:prstGeom>
            <a:noFill/>
            <a:ln w="38100" algn="ctr">
              <a:solidFill>
                <a:schemeClr val="tx1"/>
              </a:solidFill>
              <a:round/>
              <a:headEnd/>
              <a:tailEnd type="arrow" w="med" len="med"/>
            </a:ln>
          </p:spPr>
        </p:cxnSp>
        <p:cxnSp>
          <p:nvCxnSpPr>
            <p:cNvPr id="86021" name="直接箭头连接符 18"/>
            <p:cNvCxnSpPr>
              <a:cxnSpLocks noChangeShapeType="1"/>
            </p:cNvCxnSpPr>
            <p:nvPr/>
          </p:nvCxnSpPr>
          <p:spPr bwMode="auto">
            <a:xfrm flipV="1">
              <a:off x="1841500" y="1749972"/>
              <a:ext cx="50362" cy="4801641"/>
            </a:xfrm>
            <a:prstGeom prst="straightConnector1">
              <a:avLst/>
            </a:prstGeom>
            <a:noFill/>
            <a:ln w="38100" algn="ctr">
              <a:solidFill>
                <a:schemeClr val="tx1"/>
              </a:solidFill>
              <a:round/>
              <a:headEnd/>
              <a:tailEnd type="arrow" w="med" len="med"/>
            </a:ln>
          </p:spPr>
        </p:cxnSp>
        <p:sp>
          <p:nvSpPr>
            <p:cNvPr id="86022" name="椭圆 19"/>
            <p:cNvSpPr>
              <a:spLocks noChangeArrowheads="1"/>
            </p:cNvSpPr>
            <p:nvPr/>
          </p:nvSpPr>
          <p:spPr bwMode="auto">
            <a:xfrm>
              <a:off x="3582988" y="4446588"/>
              <a:ext cx="187325"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86023" name="椭圆 20"/>
            <p:cNvSpPr>
              <a:spLocks noChangeArrowheads="1"/>
            </p:cNvSpPr>
            <p:nvPr/>
          </p:nvSpPr>
          <p:spPr bwMode="auto">
            <a:xfrm>
              <a:off x="2430463" y="3870325"/>
              <a:ext cx="187325"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86024" name="椭圆 21"/>
            <p:cNvSpPr>
              <a:spLocks noChangeArrowheads="1"/>
            </p:cNvSpPr>
            <p:nvPr/>
          </p:nvSpPr>
          <p:spPr bwMode="auto">
            <a:xfrm>
              <a:off x="3683000" y="5110163"/>
              <a:ext cx="187325"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86025" name="椭圆 22"/>
            <p:cNvSpPr>
              <a:spLocks noChangeArrowheads="1"/>
            </p:cNvSpPr>
            <p:nvPr/>
          </p:nvSpPr>
          <p:spPr bwMode="auto">
            <a:xfrm>
              <a:off x="2855913" y="4735513"/>
              <a:ext cx="187325"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86026" name="椭圆 23"/>
            <p:cNvSpPr>
              <a:spLocks noChangeArrowheads="1"/>
            </p:cNvSpPr>
            <p:nvPr/>
          </p:nvSpPr>
          <p:spPr bwMode="auto">
            <a:xfrm>
              <a:off x="4195763" y="4321175"/>
              <a:ext cx="188912"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86027" name="椭圆 24"/>
            <p:cNvSpPr>
              <a:spLocks noChangeArrowheads="1"/>
            </p:cNvSpPr>
            <p:nvPr/>
          </p:nvSpPr>
          <p:spPr bwMode="auto">
            <a:xfrm>
              <a:off x="3094038" y="3344863"/>
              <a:ext cx="187325"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86028" name="椭圆 25"/>
            <p:cNvSpPr>
              <a:spLocks noChangeArrowheads="1"/>
            </p:cNvSpPr>
            <p:nvPr/>
          </p:nvSpPr>
          <p:spPr bwMode="auto">
            <a:xfrm>
              <a:off x="2994025" y="4295775"/>
              <a:ext cx="187325" cy="214313"/>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86029" name="椭圆 26"/>
            <p:cNvSpPr>
              <a:spLocks noChangeArrowheads="1"/>
            </p:cNvSpPr>
            <p:nvPr/>
          </p:nvSpPr>
          <p:spPr bwMode="auto">
            <a:xfrm>
              <a:off x="2343150" y="4610100"/>
              <a:ext cx="187325"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86030" name="椭圆 27"/>
            <p:cNvSpPr>
              <a:spLocks noChangeArrowheads="1"/>
            </p:cNvSpPr>
            <p:nvPr/>
          </p:nvSpPr>
          <p:spPr bwMode="auto">
            <a:xfrm>
              <a:off x="3143250" y="5060950"/>
              <a:ext cx="188913"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86031" name="矩形 28"/>
            <p:cNvSpPr>
              <a:spLocks noChangeArrowheads="1"/>
            </p:cNvSpPr>
            <p:nvPr/>
          </p:nvSpPr>
          <p:spPr bwMode="auto">
            <a:xfrm>
              <a:off x="4884738" y="3006725"/>
              <a:ext cx="138112" cy="161925"/>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86032" name="矩形 29"/>
            <p:cNvSpPr>
              <a:spLocks noChangeArrowheads="1"/>
            </p:cNvSpPr>
            <p:nvPr/>
          </p:nvSpPr>
          <p:spPr bwMode="auto">
            <a:xfrm>
              <a:off x="5724525" y="2505075"/>
              <a:ext cx="138113" cy="163513"/>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86033" name="矩形 30"/>
            <p:cNvSpPr>
              <a:spLocks noChangeArrowheads="1"/>
            </p:cNvSpPr>
            <p:nvPr/>
          </p:nvSpPr>
          <p:spPr bwMode="auto">
            <a:xfrm>
              <a:off x="6113463" y="3268663"/>
              <a:ext cx="136525" cy="163512"/>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86034" name="矩形 31"/>
            <p:cNvSpPr>
              <a:spLocks noChangeArrowheads="1"/>
            </p:cNvSpPr>
            <p:nvPr/>
          </p:nvSpPr>
          <p:spPr bwMode="auto">
            <a:xfrm>
              <a:off x="5448300" y="2981325"/>
              <a:ext cx="138113" cy="161925"/>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86035" name="矩形 32"/>
            <p:cNvSpPr>
              <a:spLocks noChangeArrowheads="1"/>
            </p:cNvSpPr>
            <p:nvPr/>
          </p:nvSpPr>
          <p:spPr bwMode="auto">
            <a:xfrm>
              <a:off x="5949950" y="3944938"/>
              <a:ext cx="138113" cy="163512"/>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86036" name="矩形 33"/>
            <p:cNvSpPr>
              <a:spLocks noChangeArrowheads="1"/>
            </p:cNvSpPr>
            <p:nvPr/>
          </p:nvSpPr>
          <p:spPr bwMode="auto">
            <a:xfrm>
              <a:off x="5360988" y="3444875"/>
              <a:ext cx="138112" cy="161925"/>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86037" name="矩形 34"/>
            <p:cNvSpPr>
              <a:spLocks noChangeArrowheads="1"/>
            </p:cNvSpPr>
            <p:nvPr/>
          </p:nvSpPr>
          <p:spPr bwMode="auto">
            <a:xfrm>
              <a:off x="6800850" y="3695700"/>
              <a:ext cx="138113" cy="161925"/>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86038" name="矩形 35"/>
            <p:cNvSpPr>
              <a:spLocks noChangeArrowheads="1"/>
            </p:cNvSpPr>
            <p:nvPr/>
          </p:nvSpPr>
          <p:spPr bwMode="auto">
            <a:xfrm>
              <a:off x="6600825" y="2805113"/>
              <a:ext cx="138113" cy="163512"/>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grpSp>
          <p:nvGrpSpPr>
            <p:cNvPr id="3" name="组合 65"/>
            <p:cNvGrpSpPr>
              <a:grpSpLocks/>
            </p:cNvGrpSpPr>
            <p:nvPr/>
          </p:nvGrpSpPr>
          <p:grpSpPr bwMode="auto">
            <a:xfrm>
              <a:off x="2189551" y="1853049"/>
              <a:ext cx="4736712" cy="4096901"/>
              <a:chOff x="2190117" y="1853426"/>
              <a:chExt cx="4736776" cy="4096436"/>
            </a:xfrm>
          </p:grpSpPr>
          <p:cxnSp>
            <p:nvCxnSpPr>
              <p:cNvPr id="53" name="直接连接符 52"/>
              <p:cNvCxnSpPr/>
              <p:nvPr/>
            </p:nvCxnSpPr>
            <p:spPr bwMode="auto">
              <a:xfrm>
                <a:off x="2978640" y="2432450"/>
                <a:ext cx="3494134" cy="2944479"/>
              </a:xfrm>
              <a:prstGeom prst="line">
                <a:avLst/>
              </a:prstGeom>
              <a:solidFill>
                <a:schemeClr val="accent1"/>
              </a:solidFill>
              <a:ln w="38100" cap="flat" cmpd="sng" algn="ctr">
                <a:solidFill>
                  <a:schemeClr val="accent5"/>
                </a:solidFill>
                <a:prstDash val="solid"/>
                <a:round/>
                <a:headEnd type="none" w="med" len="med"/>
                <a:tailEnd type="none" w="med" len="med"/>
              </a:ln>
              <a:effectLst/>
            </p:spPr>
          </p:cxnSp>
          <p:cxnSp>
            <p:nvCxnSpPr>
              <p:cNvPr id="54" name="直接连接符 53"/>
              <p:cNvCxnSpPr/>
              <p:nvPr/>
            </p:nvCxnSpPr>
            <p:spPr bwMode="auto">
              <a:xfrm>
                <a:off x="4396385" y="2029181"/>
                <a:ext cx="501657" cy="3920681"/>
              </a:xfrm>
              <a:prstGeom prst="line">
                <a:avLst/>
              </a:prstGeom>
              <a:solidFill>
                <a:schemeClr val="accent1"/>
              </a:solidFill>
              <a:ln w="38100" cap="flat" cmpd="sng" algn="ctr">
                <a:solidFill>
                  <a:schemeClr val="accent5"/>
                </a:solidFill>
                <a:prstDash val="solid"/>
                <a:round/>
                <a:headEnd type="none" w="med" len="med"/>
                <a:tailEnd type="none" w="med" len="med"/>
              </a:ln>
              <a:effectLst/>
            </p:spPr>
          </p:cxnSp>
          <p:cxnSp>
            <p:nvCxnSpPr>
              <p:cNvPr id="55" name="直接连接符 54"/>
              <p:cNvCxnSpPr/>
              <p:nvPr/>
            </p:nvCxnSpPr>
            <p:spPr bwMode="auto">
              <a:xfrm>
                <a:off x="3432759" y="2216485"/>
                <a:ext cx="3494134" cy="2944479"/>
              </a:xfrm>
              <a:prstGeom prst="line">
                <a:avLst/>
              </a:prstGeom>
              <a:solidFill>
                <a:schemeClr val="accent1"/>
              </a:solidFill>
              <a:ln w="38100" cap="flat" cmpd="sng" algn="ctr">
                <a:solidFill>
                  <a:schemeClr val="accent5"/>
                </a:solidFill>
                <a:prstDash val="solid"/>
                <a:round/>
                <a:headEnd type="none" w="med" len="med"/>
                <a:tailEnd type="none" w="med" len="med"/>
              </a:ln>
              <a:effectLst/>
            </p:spPr>
          </p:cxnSp>
          <p:cxnSp>
            <p:nvCxnSpPr>
              <p:cNvPr id="58" name="直接连接符 57"/>
              <p:cNvCxnSpPr/>
              <p:nvPr/>
            </p:nvCxnSpPr>
            <p:spPr bwMode="auto">
              <a:xfrm>
                <a:off x="2680275" y="2781571"/>
                <a:ext cx="3495721" cy="2942892"/>
              </a:xfrm>
              <a:prstGeom prst="line">
                <a:avLst/>
              </a:prstGeom>
              <a:solidFill>
                <a:schemeClr val="accent1"/>
              </a:solidFill>
              <a:ln w="38100" cap="flat" cmpd="sng" algn="ctr">
                <a:solidFill>
                  <a:schemeClr val="accent5"/>
                </a:solidFill>
                <a:prstDash val="solid"/>
                <a:round/>
                <a:headEnd type="none" w="med" len="med"/>
                <a:tailEnd type="none" w="med" len="med"/>
              </a:ln>
              <a:effectLst/>
            </p:spPr>
          </p:cxnSp>
          <p:sp>
            <p:nvSpPr>
              <p:cNvPr id="86044" name="TextBox 61"/>
              <p:cNvSpPr txBox="1">
                <a:spLocks noChangeArrowheads="1"/>
              </p:cNvSpPr>
              <p:nvPr/>
            </p:nvSpPr>
            <p:spPr bwMode="auto">
              <a:xfrm>
                <a:off x="2190117" y="2392044"/>
                <a:ext cx="388306" cy="400065"/>
              </a:xfrm>
              <a:prstGeom prst="rect">
                <a:avLst/>
              </a:prstGeom>
              <a:noFill/>
              <a:ln w="9525">
                <a:noFill/>
                <a:miter lim="800000"/>
                <a:headEnd/>
                <a:tailEnd/>
              </a:ln>
            </p:spPr>
            <p:txBody>
              <a:bodyPr>
                <a:spAutoFit/>
              </a:bodyPr>
              <a:lstStyle/>
              <a:p>
                <a:r>
                  <a:rPr lang="en-US" altLang="zh-CN" sz="2000" b="1" dirty="0"/>
                  <a:t>A</a:t>
                </a:r>
                <a:endParaRPr lang="zh-CN" altLang="en-US" sz="2000" b="1" dirty="0"/>
              </a:p>
            </p:txBody>
          </p:sp>
          <p:sp>
            <p:nvSpPr>
              <p:cNvPr id="86045" name="TextBox 62"/>
              <p:cNvSpPr txBox="1">
                <a:spLocks noChangeArrowheads="1"/>
              </p:cNvSpPr>
              <p:nvPr/>
            </p:nvSpPr>
            <p:spPr bwMode="auto">
              <a:xfrm>
                <a:off x="2616002" y="2016264"/>
                <a:ext cx="388306" cy="400065"/>
              </a:xfrm>
              <a:prstGeom prst="rect">
                <a:avLst/>
              </a:prstGeom>
              <a:noFill/>
              <a:ln w="9525">
                <a:noFill/>
                <a:miter lim="800000"/>
                <a:headEnd/>
                <a:tailEnd/>
              </a:ln>
            </p:spPr>
            <p:txBody>
              <a:bodyPr>
                <a:spAutoFit/>
              </a:bodyPr>
              <a:lstStyle/>
              <a:p>
                <a:r>
                  <a:rPr lang="en-US" altLang="zh-CN" sz="2000" b="1"/>
                  <a:t>B</a:t>
                </a:r>
                <a:endParaRPr lang="zh-CN" altLang="en-US" sz="2000" b="1"/>
              </a:p>
            </p:txBody>
          </p:sp>
          <p:sp>
            <p:nvSpPr>
              <p:cNvPr id="86046" name="TextBox 63"/>
              <p:cNvSpPr txBox="1">
                <a:spLocks noChangeArrowheads="1"/>
              </p:cNvSpPr>
              <p:nvPr/>
            </p:nvSpPr>
            <p:spPr bwMode="auto">
              <a:xfrm>
                <a:off x="3192201" y="1853426"/>
                <a:ext cx="388306" cy="400065"/>
              </a:xfrm>
              <a:prstGeom prst="rect">
                <a:avLst/>
              </a:prstGeom>
              <a:noFill/>
              <a:ln w="9525">
                <a:noFill/>
                <a:miter lim="800000"/>
                <a:headEnd/>
                <a:tailEnd/>
              </a:ln>
            </p:spPr>
            <p:txBody>
              <a:bodyPr>
                <a:spAutoFit/>
              </a:bodyPr>
              <a:lstStyle/>
              <a:p>
                <a:r>
                  <a:rPr lang="en-US" altLang="zh-CN" sz="2000" b="1"/>
                  <a:t>C</a:t>
                </a:r>
                <a:endParaRPr lang="zh-CN" altLang="en-US" sz="2000" b="1"/>
              </a:p>
            </p:txBody>
          </p:sp>
          <p:sp>
            <p:nvSpPr>
              <p:cNvPr id="86047" name="TextBox 64"/>
              <p:cNvSpPr txBox="1">
                <a:spLocks noChangeArrowheads="1"/>
              </p:cNvSpPr>
              <p:nvPr/>
            </p:nvSpPr>
            <p:spPr bwMode="auto">
              <a:xfrm>
                <a:off x="4459266" y="1916482"/>
                <a:ext cx="388306" cy="400065"/>
              </a:xfrm>
              <a:prstGeom prst="rect">
                <a:avLst/>
              </a:prstGeom>
              <a:noFill/>
              <a:ln w="9525">
                <a:noFill/>
                <a:miter lim="800000"/>
                <a:headEnd/>
                <a:tailEnd/>
              </a:ln>
            </p:spPr>
            <p:txBody>
              <a:bodyPr>
                <a:spAutoFit/>
              </a:bodyPr>
              <a:lstStyle/>
              <a:p>
                <a:r>
                  <a:rPr lang="en-US" altLang="zh-CN" sz="2000" b="1"/>
                  <a:t>D</a:t>
                </a:r>
                <a:endParaRPr lang="zh-CN" altLang="en-US" sz="2000" b="1"/>
              </a:p>
            </p:txBody>
          </p:sp>
        </p:grpSp>
      </p:grpSp>
      <p:grpSp>
        <p:nvGrpSpPr>
          <p:cNvPr id="9" name="Group 8">
            <a:extLst>
              <a:ext uri="{FF2B5EF4-FFF2-40B4-BE49-F238E27FC236}">
                <a16:creationId xmlns:a16="http://schemas.microsoft.com/office/drawing/2014/main" id="{F0CE1E1A-D9F0-21BF-14D6-02F5DB9D8679}"/>
              </a:ext>
            </a:extLst>
          </p:cNvPr>
          <p:cNvGrpSpPr/>
          <p:nvPr/>
        </p:nvGrpSpPr>
        <p:grpSpPr>
          <a:xfrm>
            <a:off x="6575587" y="5437367"/>
            <a:ext cx="2778052" cy="423503"/>
            <a:chOff x="6575587" y="5437367"/>
            <a:chExt cx="2778052" cy="423503"/>
          </a:xfrm>
        </p:grpSpPr>
        <p:sp>
          <p:nvSpPr>
            <p:cNvPr id="5" name="TextBox 4">
              <a:extLst>
                <a:ext uri="{FF2B5EF4-FFF2-40B4-BE49-F238E27FC236}">
                  <a16:creationId xmlns:a16="http://schemas.microsoft.com/office/drawing/2014/main" id="{D954D5E4-E8E3-1C13-B7D7-636FE7E6899E}"/>
                </a:ext>
              </a:extLst>
            </p:cNvPr>
            <p:cNvSpPr txBox="1"/>
            <p:nvPr/>
          </p:nvSpPr>
          <p:spPr>
            <a:xfrm>
              <a:off x="7138989" y="5491538"/>
              <a:ext cx="2214650" cy="369332"/>
            </a:xfrm>
            <a:prstGeom prst="rect">
              <a:avLst/>
            </a:prstGeom>
            <a:noFill/>
          </p:spPr>
          <p:txBody>
            <a:bodyPr wrap="square" rtlCol="0">
              <a:spAutoFit/>
            </a:bodyPr>
            <a:lstStyle/>
            <a:p>
              <a:r>
                <a:rPr lang="en-US" b="1" dirty="0" err="1">
                  <a:solidFill>
                    <a:srgbClr val="FF0000"/>
                  </a:solidFill>
                </a:rPr>
                <a:t>最大间隔分类器</a:t>
              </a:r>
              <a:endParaRPr lang="en-US" b="1" dirty="0">
                <a:solidFill>
                  <a:srgbClr val="FF0000"/>
                </a:solidFill>
              </a:endParaRPr>
            </a:p>
          </p:txBody>
        </p:sp>
        <p:cxnSp>
          <p:nvCxnSpPr>
            <p:cNvPr id="7" name="Straight Arrow Connector 6">
              <a:extLst>
                <a:ext uri="{FF2B5EF4-FFF2-40B4-BE49-F238E27FC236}">
                  <a16:creationId xmlns:a16="http://schemas.microsoft.com/office/drawing/2014/main" id="{24519605-D0CD-02AD-945D-4B0EBECC4B2A}"/>
                </a:ext>
              </a:extLst>
            </p:cNvPr>
            <p:cNvCxnSpPr>
              <a:cxnSpLocks/>
              <a:stCxn id="5" idx="1"/>
            </p:cNvCxnSpPr>
            <p:nvPr/>
          </p:nvCxnSpPr>
          <p:spPr>
            <a:xfrm flipH="1" flipV="1">
              <a:off x="6575587" y="5437367"/>
              <a:ext cx="563402" cy="23883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70" name="内容占位符 2"/>
          <p:cNvSpPr>
            <a:spLocks noGrp="1"/>
          </p:cNvSpPr>
          <p:nvPr>
            <p:ph idx="1"/>
          </p:nvPr>
        </p:nvSpPr>
        <p:spPr>
          <a:xfrm>
            <a:off x="611188" y="498891"/>
            <a:ext cx="8194675" cy="6024562"/>
          </a:xfrm>
        </p:spPr>
        <p:txBody>
          <a:bodyPr>
            <a:noAutofit/>
          </a:bodyPr>
          <a:lstStyle/>
          <a:p>
            <a:pPr marL="0" indent="0">
              <a:buNone/>
            </a:pPr>
            <a:r>
              <a:rPr lang="zh-CN" altLang="en-US" sz="2800" b="1" dirty="0"/>
              <a:t>定义</a:t>
            </a:r>
            <a:r>
              <a:rPr lang="en-US" altLang="zh-CN" sz="2800" b="1" dirty="0"/>
              <a:t>4.1</a:t>
            </a:r>
            <a:r>
              <a:rPr lang="zh-CN" altLang="en-US" sz="2800" b="1" dirty="0"/>
              <a:t>：给定</a:t>
            </a:r>
            <a:r>
              <a:rPr lang="zh-CN" altLang="en-US" sz="2800" b="1" dirty="0">
                <a:solidFill>
                  <a:srgbClr val="FF0000"/>
                </a:solidFill>
              </a:rPr>
              <a:t>线性可分</a:t>
            </a:r>
            <a:r>
              <a:rPr lang="zh-CN" altLang="en-US" sz="2800" b="1" dirty="0"/>
              <a:t>训练集：</a:t>
            </a:r>
            <a:endParaRPr lang="en-US" altLang="zh-CN" sz="2800" b="1" dirty="0"/>
          </a:p>
          <a:p>
            <a:pPr>
              <a:buFont typeface="Wingdings" pitchFamily="2" charset="2"/>
              <a:buNone/>
            </a:pPr>
            <a:r>
              <a:rPr lang="zh-CN" altLang="en-US" sz="2800" b="1" dirty="0"/>
              <a:t>其中：</a:t>
            </a:r>
            <a:endParaRPr lang="en-US" altLang="zh-CN" sz="2800" b="1" dirty="0"/>
          </a:p>
          <a:p>
            <a:pPr>
              <a:buFont typeface="Wingdings" pitchFamily="2" charset="2"/>
              <a:buNone/>
            </a:pPr>
            <a:endParaRPr lang="en-US" altLang="zh-CN" sz="2800" b="1" dirty="0"/>
          </a:p>
          <a:p>
            <a:pPr>
              <a:buFont typeface="Wingdings" pitchFamily="2" charset="2"/>
              <a:buNone/>
            </a:pPr>
            <a:endParaRPr lang="en-US" altLang="zh-CN" sz="2800" b="1" dirty="0"/>
          </a:p>
          <a:p>
            <a:pPr>
              <a:buFont typeface="Wingdings" pitchFamily="2" charset="2"/>
              <a:buNone/>
            </a:pPr>
            <a:r>
              <a:rPr lang="zh-CN" altLang="en-US" sz="2800" b="1" dirty="0"/>
              <a:t>   这里</a:t>
            </a:r>
            <a:r>
              <a:rPr lang="en-US" altLang="zh-CN" sz="2800" b="1" dirty="0"/>
              <a:t>x</a:t>
            </a:r>
            <a:r>
              <a:rPr lang="en-US" altLang="zh-CN" sz="2800" b="1" baseline="-25000" dirty="0"/>
              <a:t>i</a:t>
            </a:r>
            <a:r>
              <a:rPr lang="zh-CN" altLang="en-US" sz="2800" b="1" dirty="0"/>
              <a:t>为第</a:t>
            </a:r>
            <a:r>
              <a:rPr lang="en-US" altLang="zh-CN" sz="2800" b="1" dirty="0" err="1"/>
              <a:t>i</a:t>
            </a:r>
            <a:r>
              <a:rPr lang="zh-CN" altLang="en-US" sz="2800" b="1" dirty="0"/>
              <a:t>个数据点的向量表征，</a:t>
            </a:r>
            <a:r>
              <a:rPr lang="en-US" altLang="zh-CN" sz="2800" b="1" dirty="0" err="1"/>
              <a:t>y</a:t>
            </a:r>
            <a:r>
              <a:rPr lang="en-US" altLang="zh-CN" sz="2800" b="1" baseline="-25000" dirty="0" err="1"/>
              <a:t>i</a:t>
            </a:r>
            <a:r>
              <a:rPr lang="zh-CN" altLang="en-US" sz="2800" b="1" dirty="0"/>
              <a:t>为</a:t>
            </a:r>
            <a:r>
              <a:rPr lang="en-US" altLang="zh-CN" sz="2800" b="1" dirty="0"/>
              <a:t>x</a:t>
            </a:r>
            <a:r>
              <a:rPr lang="en-US" altLang="zh-CN" sz="2800" b="1" baseline="-25000" dirty="0"/>
              <a:t>i</a:t>
            </a:r>
            <a:r>
              <a:rPr lang="zh-CN" altLang="en-US" sz="2800" b="1" dirty="0"/>
              <a:t>的类标记，</a:t>
            </a:r>
            <a:r>
              <a:rPr lang="en-US" altLang="zh-CN" sz="2800" b="1" dirty="0"/>
              <a:t>+1</a:t>
            </a:r>
            <a:r>
              <a:rPr lang="zh-CN" altLang="en-US" sz="2800" b="1" dirty="0"/>
              <a:t>表示正类，</a:t>
            </a:r>
            <a:r>
              <a:rPr lang="en-US" altLang="zh-CN" sz="2800" b="1" dirty="0"/>
              <a:t>-1</a:t>
            </a:r>
            <a:r>
              <a:rPr lang="zh-CN" altLang="en-US" sz="2800" b="1" dirty="0"/>
              <a:t>表示负类</a:t>
            </a:r>
            <a:endParaRPr lang="en-US" altLang="zh-CN" sz="2800" b="1" dirty="0"/>
          </a:p>
          <a:p>
            <a:pPr>
              <a:buFont typeface="Wingdings" pitchFamily="2" charset="2"/>
              <a:buNone/>
            </a:pPr>
            <a:r>
              <a:rPr lang="zh-CN" altLang="en-US" sz="2800" b="1" dirty="0"/>
              <a:t>通过间隔最大化得到分类超平面：</a:t>
            </a:r>
            <a:endParaRPr lang="en-US" altLang="zh-CN" sz="2800" b="1" dirty="0"/>
          </a:p>
          <a:p>
            <a:pPr>
              <a:buFont typeface="Wingdings" pitchFamily="2" charset="2"/>
              <a:buNone/>
            </a:pPr>
            <a:endParaRPr lang="en-US" altLang="zh-CN" sz="2800" b="1" dirty="0"/>
          </a:p>
          <a:p>
            <a:pPr>
              <a:buFont typeface="Wingdings" pitchFamily="2" charset="2"/>
              <a:buNone/>
            </a:pPr>
            <a:r>
              <a:rPr lang="zh-CN" altLang="en-US" sz="2800" b="1" dirty="0"/>
              <a:t>相应的决策函数：</a:t>
            </a:r>
            <a:endParaRPr lang="en-US" altLang="zh-CN" sz="2800" b="1" dirty="0"/>
          </a:p>
          <a:p>
            <a:pPr>
              <a:buFont typeface="Wingdings" pitchFamily="2" charset="2"/>
              <a:buNone/>
            </a:pPr>
            <a:endParaRPr lang="en-US" altLang="zh-CN" sz="2800" b="1" dirty="0"/>
          </a:p>
          <a:p>
            <a:pPr>
              <a:buFont typeface="Wingdings" pitchFamily="2" charset="2"/>
              <a:buNone/>
            </a:pPr>
            <a:endParaRPr lang="en-US" altLang="zh-CN" sz="2800" b="1" dirty="0"/>
          </a:p>
          <a:p>
            <a:pPr>
              <a:buFont typeface="Wingdings" pitchFamily="2" charset="2"/>
              <a:buNone/>
            </a:pPr>
            <a:r>
              <a:rPr lang="zh-CN" altLang="en-US" sz="2800" b="1" dirty="0"/>
              <a:t>称为线性支持向量机</a:t>
            </a:r>
            <a:endParaRPr lang="en-US" altLang="zh-CN" sz="3200" b="1" dirty="0"/>
          </a:p>
        </p:txBody>
      </p:sp>
      <p:sp>
        <p:nvSpPr>
          <p:cNvPr id="11271" name="灯片编号占位符 3"/>
          <p:cNvSpPr>
            <a:spLocks noGrp="1"/>
          </p:cNvSpPr>
          <p:nvPr>
            <p:ph type="sldNum" sz="quarter" idx="12"/>
          </p:nvPr>
        </p:nvSpPr>
        <p:spPr>
          <a:noFill/>
        </p:spPr>
        <p:txBody>
          <a:bodyPr/>
          <a:lstStyle/>
          <a:p>
            <a:fld id="{99D92C16-8A1E-4268-B360-AC4666ED14B4}" type="slidenum">
              <a:rPr lang="en-US" altLang="zh-CN" smtClean="0">
                <a:ea typeface="黑体" pitchFamily="49" charset="-122"/>
              </a:rPr>
              <a:pPr/>
              <a:t>13</a:t>
            </a:fld>
            <a:endParaRPr lang="en-US" altLang="zh-CN">
              <a:ea typeface="黑体" pitchFamily="49" charset="-122"/>
            </a:endParaRPr>
          </a:p>
        </p:txBody>
      </p:sp>
      <p:graphicFrame>
        <p:nvGraphicFramePr>
          <p:cNvPr id="11266" name="Object 2" descr="蓝色面巾纸"/>
          <p:cNvGraphicFramePr>
            <a:graphicFrameLocks noChangeAspect="1"/>
          </p:cNvGraphicFramePr>
          <p:nvPr>
            <p:extLst>
              <p:ext uri="{D42A27DB-BD31-4B8C-83A1-F6EECF244321}">
                <p14:modId xmlns:p14="http://schemas.microsoft.com/office/powerpoint/2010/main" val="2283080384"/>
              </p:ext>
            </p:extLst>
          </p:nvPr>
        </p:nvGraphicFramePr>
        <p:xfrm>
          <a:off x="1763713" y="1035510"/>
          <a:ext cx="4775200" cy="660400"/>
        </p:xfrm>
        <a:graphic>
          <a:graphicData uri="http://schemas.openxmlformats.org/presentationml/2006/ole">
            <mc:AlternateContent xmlns:mc="http://schemas.openxmlformats.org/markup-compatibility/2006">
              <mc:Choice xmlns:v="urn:schemas-microsoft-com:vml" Requires="v">
                <p:oleObj name="公式" r:id="rId3" imgW="1384200" imgH="228600" progId="Equation.3">
                  <p:embed/>
                </p:oleObj>
              </mc:Choice>
              <mc:Fallback>
                <p:oleObj name="公式" r:id="rId3" imgW="1384200" imgH="2286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3713" y="1035510"/>
                        <a:ext cx="4775200" cy="660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267" name="Object 4" descr="蓝色面巾纸"/>
          <p:cNvGraphicFramePr>
            <a:graphicFrameLocks noChangeAspect="1"/>
          </p:cNvGraphicFramePr>
          <p:nvPr>
            <p:extLst>
              <p:ext uri="{D42A27DB-BD31-4B8C-83A1-F6EECF244321}">
                <p14:modId xmlns:p14="http://schemas.microsoft.com/office/powerpoint/2010/main" val="2653240462"/>
              </p:ext>
            </p:extLst>
          </p:nvPr>
        </p:nvGraphicFramePr>
        <p:xfrm>
          <a:off x="1765300" y="1651460"/>
          <a:ext cx="7127875" cy="684213"/>
        </p:xfrm>
        <a:graphic>
          <a:graphicData uri="http://schemas.openxmlformats.org/presentationml/2006/ole">
            <mc:AlternateContent xmlns:mc="http://schemas.openxmlformats.org/markup-compatibility/2006">
              <mc:Choice xmlns:v="urn:schemas-microsoft-com:vml" Requires="v">
                <p:oleObj name="公式" r:id="rId5" imgW="2514600" imgH="241200" progId="Equation.3">
                  <p:embed/>
                </p:oleObj>
              </mc:Choice>
              <mc:Fallback>
                <p:oleObj name="公式" r:id="rId5" imgW="2514600" imgH="24120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65300" y="1651460"/>
                        <a:ext cx="7127875" cy="6842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268" name="Object 5" descr="蓝色面巾纸"/>
          <p:cNvGraphicFramePr>
            <a:graphicFrameLocks noChangeAspect="1"/>
          </p:cNvGraphicFramePr>
          <p:nvPr>
            <p:extLst>
              <p:ext uri="{D42A27DB-BD31-4B8C-83A1-F6EECF244321}">
                <p14:modId xmlns:p14="http://schemas.microsoft.com/office/powerpoint/2010/main" val="3011723425"/>
              </p:ext>
            </p:extLst>
          </p:nvPr>
        </p:nvGraphicFramePr>
        <p:xfrm>
          <a:off x="2818674" y="5061997"/>
          <a:ext cx="4264025" cy="668337"/>
        </p:xfrm>
        <a:graphic>
          <a:graphicData uri="http://schemas.openxmlformats.org/presentationml/2006/ole">
            <mc:AlternateContent xmlns:mc="http://schemas.openxmlformats.org/markup-compatibility/2006">
              <mc:Choice xmlns:v="urn:schemas-microsoft-com:vml" Requires="v">
                <p:oleObj name="公式" r:id="rId7" imgW="1460160" imgH="228600" progId="Equation.3">
                  <p:embed/>
                </p:oleObj>
              </mc:Choice>
              <mc:Fallback>
                <p:oleObj name="公式" r:id="rId7" imgW="1460160" imgH="228600"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18674" y="5061997"/>
                        <a:ext cx="4264025" cy="6683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269" name="Object 5" descr="蓝色面巾纸"/>
          <p:cNvGraphicFramePr>
            <a:graphicFrameLocks noChangeAspect="1"/>
          </p:cNvGraphicFramePr>
          <p:nvPr>
            <p:extLst>
              <p:ext uri="{D42A27DB-BD31-4B8C-83A1-F6EECF244321}">
                <p14:modId xmlns:p14="http://schemas.microsoft.com/office/powerpoint/2010/main" val="3175815579"/>
              </p:ext>
            </p:extLst>
          </p:nvPr>
        </p:nvGraphicFramePr>
        <p:xfrm>
          <a:off x="3019596" y="3896185"/>
          <a:ext cx="2520950" cy="593725"/>
        </p:xfrm>
        <a:graphic>
          <a:graphicData uri="http://schemas.openxmlformats.org/presentationml/2006/ole">
            <mc:AlternateContent xmlns:mc="http://schemas.openxmlformats.org/markup-compatibility/2006">
              <mc:Choice xmlns:v="urn:schemas-microsoft-com:vml" Requires="v">
                <p:oleObj name="公式" r:id="rId9" imgW="863280" imgH="203040" progId="Equation.3">
                  <p:embed/>
                </p:oleObj>
              </mc:Choice>
              <mc:Fallback>
                <p:oleObj name="公式" r:id="rId9" imgW="863280" imgH="203040" progId="Equation.3">
                  <p:embed/>
                  <p:pic>
                    <p:nvPicPr>
                      <p:cNvPr id="0" name="Picture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19596" y="3896185"/>
                        <a:ext cx="2520950" cy="593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60400" y="571500"/>
            <a:ext cx="7772400" cy="1143000"/>
          </a:xfrm>
        </p:spPr>
        <p:txBody>
          <a:bodyPr/>
          <a:lstStyle/>
          <a:p>
            <a:pPr>
              <a:defRPr/>
            </a:pPr>
            <a:r>
              <a:rPr lang="zh-CN" altLang="en-US" dirty="0"/>
              <a:t>最优分界面</a:t>
            </a:r>
          </a:p>
        </p:txBody>
      </p:sp>
      <p:sp>
        <p:nvSpPr>
          <p:cNvPr id="10245" name="灯片编号占位符 3"/>
          <p:cNvSpPr>
            <a:spLocks noGrp="1"/>
          </p:cNvSpPr>
          <p:nvPr>
            <p:ph type="sldNum" sz="quarter" idx="12"/>
          </p:nvPr>
        </p:nvSpPr>
        <p:spPr>
          <a:noFill/>
        </p:spPr>
        <p:txBody>
          <a:bodyPr/>
          <a:lstStyle/>
          <a:p>
            <a:fld id="{9BBF13A5-AF0D-4D0E-9199-9EFE8F30265A}" type="slidenum">
              <a:rPr lang="en-US" altLang="zh-CN" smtClean="0">
                <a:ea typeface="黑体" pitchFamily="49" charset="-122"/>
              </a:rPr>
              <a:pPr/>
              <a:t>14</a:t>
            </a:fld>
            <a:endParaRPr lang="en-US" altLang="zh-CN">
              <a:ea typeface="黑体" pitchFamily="49" charset="-122"/>
            </a:endParaRPr>
          </a:p>
        </p:txBody>
      </p:sp>
      <p:sp>
        <p:nvSpPr>
          <p:cNvPr id="10246" name="灯片编号占位符 3"/>
          <p:cNvSpPr txBox="1">
            <a:spLocks/>
          </p:cNvSpPr>
          <p:nvPr/>
        </p:nvSpPr>
        <p:spPr bwMode="auto">
          <a:xfrm>
            <a:off x="6553200" y="6248400"/>
            <a:ext cx="1905000" cy="457200"/>
          </a:xfrm>
          <a:prstGeom prst="rect">
            <a:avLst/>
          </a:prstGeom>
          <a:noFill/>
          <a:ln w="9525">
            <a:noFill/>
            <a:miter lim="800000"/>
            <a:headEnd/>
            <a:tailEnd/>
          </a:ln>
        </p:spPr>
        <p:txBody>
          <a:bodyPr lIns="92075" tIns="46038" rIns="92075" bIns="46038" anchor="ctr"/>
          <a:lstStyle/>
          <a:p>
            <a:pPr algn="r"/>
            <a:fld id="{DCDE5E7E-8106-4D9D-A048-538F5085AAFF}" type="slidenum">
              <a:rPr kumimoji="0" lang="en-US" altLang="zh-CN" sz="1400"/>
              <a:pPr algn="r"/>
              <a:t>14</a:t>
            </a:fld>
            <a:endParaRPr kumimoji="0" lang="en-US" altLang="zh-CN" sz="1400"/>
          </a:p>
        </p:txBody>
      </p:sp>
      <p:cxnSp>
        <p:nvCxnSpPr>
          <p:cNvPr id="10247" name="直接箭头连接符 5"/>
          <p:cNvCxnSpPr>
            <a:cxnSpLocks noChangeShapeType="1"/>
          </p:cNvCxnSpPr>
          <p:nvPr/>
        </p:nvCxnSpPr>
        <p:spPr bwMode="auto">
          <a:xfrm flipV="1">
            <a:off x="1541463" y="6137275"/>
            <a:ext cx="6513512" cy="25400"/>
          </a:xfrm>
          <a:prstGeom prst="straightConnector1">
            <a:avLst/>
          </a:prstGeom>
          <a:noFill/>
          <a:ln w="38100" algn="ctr">
            <a:solidFill>
              <a:schemeClr val="tx1"/>
            </a:solidFill>
            <a:round/>
            <a:headEnd/>
            <a:tailEnd type="arrow" w="med" len="med"/>
          </a:ln>
        </p:spPr>
      </p:cxnSp>
      <p:cxnSp>
        <p:nvCxnSpPr>
          <p:cNvPr id="10248" name="直接箭头连接符 6"/>
          <p:cNvCxnSpPr>
            <a:cxnSpLocks noChangeShapeType="1"/>
          </p:cNvCxnSpPr>
          <p:nvPr/>
        </p:nvCxnSpPr>
        <p:spPr bwMode="auto">
          <a:xfrm flipV="1">
            <a:off x="1841500" y="2943225"/>
            <a:ext cx="49213" cy="3608388"/>
          </a:xfrm>
          <a:prstGeom prst="straightConnector1">
            <a:avLst/>
          </a:prstGeom>
          <a:noFill/>
          <a:ln w="38100" algn="ctr">
            <a:solidFill>
              <a:schemeClr val="tx1"/>
            </a:solidFill>
            <a:round/>
            <a:headEnd/>
            <a:tailEnd type="arrow" w="med" len="med"/>
          </a:ln>
        </p:spPr>
      </p:cxnSp>
      <p:sp>
        <p:nvSpPr>
          <p:cNvPr id="10249" name="椭圆 7"/>
          <p:cNvSpPr>
            <a:spLocks noChangeArrowheads="1"/>
          </p:cNvSpPr>
          <p:nvPr/>
        </p:nvSpPr>
        <p:spPr bwMode="auto">
          <a:xfrm>
            <a:off x="3582988" y="4446588"/>
            <a:ext cx="187325"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10250" name="椭圆 8"/>
          <p:cNvSpPr>
            <a:spLocks noChangeArrowheads="1"/>
          </p:cNvSpPr>
          <p:nvPr/>
        </p:nvSpPr>
        <p:spPr bwMode="auto">
          <a:xfrm>
            <a:off x="2430463" y="3870325"/>
            <a:ext cx="187325"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10251" name="椭圆 9"/>
          <p:cNvSpPr>
            <a:spLocks noChangeArrowheads="1"/>
          </p:cNvSpPr>
          <p:nvPr/>
        </p:nvSpPr>
        <p:spPr bwMode="auto">
          <a:xfrm>
            <a:off x="3683000" y="5110163"/>
            <a:ext cx="187325"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10252" name="椭圆 10"/>
          <p:cNvSpPr>
            <a:spLocks noChangeArrowheads="1"/>
          </p:cNvSpPr>
          <p:nvPr/>
        </p:nvSpPr>
        <p:spPr bwMode="auto">
          <a:xfrm>
            <a:off x="2855913" y="4735513"/>
            <a:ext cx="187325"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10253" name="椭圆 11"/>
          <p:cNvSpPr>
            <a:spLocks noChangeArrowheads="1"/>
          </p:cNvSpPr>
          <p:nvPr/>
        </p:nvSpPr>
        <p:spPr bwMode="auto">
          <a:xfrm>
            <a:off x="4195763" y="4284663"/>
            <a:ext cx="188912"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10254" name="椭圆 12"/>
          <p:cNvSpPr>
            <a:spLocks noChangeArrowheads="1"/>
          </p:cNvSpPr>
          <p:nvPr/>
        </p:nvSpPr>
        <p:spPr bwMode="auto">
          <a:xfrm>
            <a:off x="3094038" y="3344863"/>
            <a:ext cx="187325"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10255" name="椭圆 13"/>
          <p:cNvSpPr>
            <a:spLocks noChangeArrowheads="1"/>
          </p:cNvSpPr>
          <p:nvPr/>
        </p:nvSpPr>
        <p:spPr bwMode="auto">
          <a:xfrm>
            <a:off x="2994025" y="4295775"/>
            <a:ext cx="187325" cy="214313"/>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10256" name="椭圆 14"/>
          <p:cNvSpPr>
            <a:spLocks noChangeArrowheads="1"/>
          </p:cNvSpPr>
          <p:nvPr/>
        </p:nvSpPr>
        <p:spPr bwMode="auto">
          <a:xfrm>
            <a:off x="2343150" y="4610100"/>
            <a:ext cx="187325"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10257" name="椭圆 15"/>
          <p:cNvSpPr>
            <a:spLocks noChangeArrowheads="1"/>
          </p:cNvSpPr>
          <p:nvPr/>
        </p:nvSpPr>
        <p:spPr bwMode="auto">
          <a:xfrm>
            <a:off x="3143250" y="5060950"/>
            <a:ext cx="188913"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10258" name="矩形 16"/>
          <p:cNvSpPr>
            <a:spLocks noChangeArrowheads="1"/>
          </p:cNvSpPr>
          <p:nvPr/>
        </p:nvSpPr>
        <p:spPr bwMode="auto">
          <a:xfrm>
            <a:off x="4872038" y="3055938"/>
            <a:ext cx="138112" cy="163512"/>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10259" name="矩形 17"/>
          <p:cNvSpPr>
            <a:spLocks noChangeArrowheads="1"/>
          </p:cNvSpPr>
          <p:nvPr/>
        </p:nvSpPr>
        <p:spPr bwMode="auto">
          <a:xfrm>
            <a:off x="5724525" y="2505075"/>
            <a:ext cx="138113" cy="163513"/>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10260" name="矩形 18"/>
          <p:cNvSpPr>
            <a:spLocks noChangeArrowheads="1"/>
          </p:cNvSpPr>
          <p:nvPr/>
        </p:nvSpPr>
        <p:spPr bwMode="auto">
          <a:xfrm>
            <a:off x="6113463" y="3268663"/>
            <a:ext cx="136525" cy="163512"/>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10261" name="矩形 19"/>
          <p:cNvSpPr>
            <a:spLocks noChangeArrowheads="1"/>
          </p:cNvSpPr>
          <p:nvPr/>
        </p:nvSpPr>
        <p:spPr bwMode="auto">
          <a:xfrm>
            <a:off x="5448300" y="2981325"/>
            <a:ext cx="138113" cy="161925"/>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10262" name="矩形 20"/>
          <p:cNvSpPr>
            <a:spLocks noChangeArrowheads="1"/>
          </p:cNvSpPr>
          <p:nvPr/>
        </p:nvSpPr>
        <p:spPr bwMode="auto">
          <a:xfrm>
            <a:off x="5949950" y="3944938"/>
            <a:ext cx="138113" cy="163512"/>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10263" name="矩形 21"/>
          <p:cNvSpPr>
            <a:spLocks noChangeArrowheads="1"/>
          </p:cNvSpPr>
          <p:nvPr/>
        </p:nvSpPr>
        <p:spPr bwMode="auto">
          <a:xfrm>
            <a:off x="5360988" y="3444875"/>
            <a:ext cx="138112" cy="161925"/>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10264" name="矩形 22"/>
          <p:cNvSpPr>
            <a:spLocks noChangeArrowheads="1"/>
          </p:cNvSpPr>
          <p:nvPr/>
        </p:nvSpPr>
        <p:spPr bwMode="auto">
          <a:xfrm>
            <a:off x="6800850" y="3695700"/>
            <a:ext cx="138113" cy="161925"/>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10265" name="矩形 23"/>
          <p:cNvSpPr>
            <a:spLocks noChangeArrowheads="1"/>
          </p:cNvSpPr>
          <p:nvPr/>
        </p:nvSpPr>
        <p:spPr bwMode="auto">
          <a:xfrm>
            <a:off x="6600825" y="2805113"/>
            <a:ext cx="138113" cy="163512"/>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cxnSp>
        <p:nvCxnSpPr>
          <p:cNvPr id="26" name="直接连接符 25"/>
          <p:cNvCxnSpPr/>
          <p:nvPr/>
        </p:nvCxnSpPr>
        <p:spPr bwMode="auto">
          <a:xfrm>
            <a:off x="3019425" y="2417763"/>
            <a:ext cx="3494088" cy="2943225"/>
          </a:xfrm>
          <a:prstGeom prst="line">
            <a:avLst/>
          </a:prstGeom>
          <a:solidFill>
            <a:schemeClr val="accent1"/>
          </a:solidFill>
          <a:ln w="38100" cap="flat" cmpd="sng" algn="ctr">
            <a:solidFill>
              <a:schemeClr val="accent5"/>
            </a:solidFill>
            <a:prstDash val="solid"/>
            <a:round/>
            <a:headEnd type="none" w="med" len="med"/>
            <a:tailEnd type="none" w="med" len="med"/>
          </a:ln>
          <a:effectLst/>
        </p:spPr>
      </p:cxnSp>
      <p:cxnSp>
        <p:nvCxnSpPr>
          <p:cNvPr id="28" name="直接连接符 27"/>
          <p:cNvCxnSpPr/>
          <p:nvPr/>
        </p:nvCxnSpPr>
        <p:spPr bwMode="auto">
          <a:xfrm>
            <a:off x="3570288" y="1966913"/>
            <a:ext cx="3494087" cy="2943225"/>
          </a:xfrm>
          <a:prstGeom prst="line">
            <a:avLst/>
          </a:prstGeom>
          <a:solidFill>
            <a:schemeClr val="accent1"/>
          </a:solidFill>
          <a:ln w="38100" cap="flat" cmpd="sng" algn="ctr">
            <a:solidFill>
              <a:schemeClr val="accent5"/>
            </a:solidFill>
            <a:prstDash val="dash"/>
            <a:round/>
            <a:headEnd type="none" w="med" len="med"/>
            <a:tailEnd type="none" w="med" len="med"/>
          </a:ln>
          <a:effectLst/>
        </p:spPr>
      </p:cxnSp>
      <p:cxnSp>
        <p:nvCxnSpPr>
          <p:cNvPr id="29" name="直接连接符 28"/>
          <p:cNvCxnSpPr/>
          <p:nvPr/>
        </p:nvCxnSpPr>
        <p:spPr bwMode="auto">
          <a:xfrm>
            <a:off x="2605088" y="2955925"/>
            <a:ext cx="3495675" cy="2943225"/>
          </a:xfrm>
          <a:prstGeom prst="line">
            <a:avLst/>
          </a:prstGeom>
          <a:solidFill>
            <a:schemeClr val="accent1"/>
          </a:solidFill>
          <a:ln w="38100" cap="flat" cmpd="sng" algn="ctr">
            <a:solidFill>
              <a:schemeClr val="accent5"/>
            </a:solidFill>
            <a:prstDash val="dash"/>
            <a:round/>
            <a:headEnd type="none" w="med" len="med"/>
            <a:tailEnd type="none" w="med" len="med"/>
          </a:ln>
          <a:effectLst/>
        </p:spPr>
      </p:cxnSp>
      <p:graphicFrame>
        <p:nvGraphicFramePr>
          <p:cNvPr id="10242" name="Object 2" descr="蓝色面巾纸"/>
          <p:cNvGraphicFramePr>
            <a:graphicFrameLocks noChangeAspect="1"/>
          </p:cNvGraphicFramePr>
          <p:nvPr/>
        </p:nvGraphicFramePr>
        <p:xfrm>
          <a:off x="895350" y="1868488"/>
          <a:ext cx="1987550" cy="465137"/>
        </p:xfrm>
        <a:graphic>
          <a:graphicData uri="http://schemas.openxmlformats.org/presentationml/2006/ole">
            <mc:AlternateContent xmlns:mc="http://schemas.openxmlformats.org/markup-compatibility/2006">
              <mc:Choice xmlns:v="urn:schemas-microsoft-com:vml" Requires="v">
                <p:oleObj name="公式" r:id="rId3" imgW="761760" imgH="177480" progId="Equation.3">
                  <p:embed/>
                </p:oleObj>
              </mc:Choice>
              <mc:Fallback>
                <p:oleObj name="公式" r:id="rId3" imgW="761760" imgH="17748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5350" y="1868488"/>
                        <a:ext cx="1987550" cy="4651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10269" name="直接箭头连接符 36"/>
          <p:cNvCxnSpPr>
            <a:cxnSpLocks noChangeShapeType="1"/>
          </p:cNvCxnSpPr>
          <p:nvPr/>
        </p:nvCxnSpPr>
        <p:spPr bwMode="auto">
          <a:xfrm flipH="1">
            <a:off x="6149975" y="4897438"/>
            <a:ext cx="827088" cy="1014412"/>
          </a:xfrm>
          <a:prstGeom prst="straightConnector1">
            <a:avLst/>
          </a:prstGeom>
          <a:noFill/>
          <a:ln w="38100" algn="ctr">
            <a:solidFill>
              <a:schemeClr val="tx1"/>
            </a:solidFill>
            <a:round/>
            <a:headEnd type="arrow" w="med" len="med"/>
            <a:tailEnd type="arrow" w="med" len="med"/>
          </a:ln>
        </p:spPr>
      </p:cxnSp>
      <p:graphicFrame>
        <p:nvGraphicFramePr>
          <p:cNvPr id="10243" name="Object 2" descr="蓝色面巾纸"/>
          <p:cNvGraphicFramePr>
            <a:graphicFrameLocks noChangeAspect="1"/>
          </p:cNvGraphicFramePr>
          <p:nvPr/>
        </p:nvGraphicFramePr>
        <p:xfrm>
          <a:off x="7285038" y="5056188"/>
          <a:ext cx="519112" cy="906462"/>
        </p:xfrm>
        <a:graphic>
          <a:graphicData uri="http://schemas.openxmlformats.org/presentationml/2006/ole">
            <mc:AlternateContent xmlns:mc="http://schemas.openxmlformats.org/markup-compatibility/2006">
              <mc:Choice xmlns:v="urn:schemas-microsoft-com:vml" Requires="v">
                <p:oleObj name="公式" r:id="rId5" imgW="253800" imgH="444240" progId="Equation.3">
                  <p:embed/>
                </p:oleObj>
              </mc:Choice>
              <mc:Fallback>
                <p:oleObj name="公式" r:id="rId5" imgW="253800" imgH="444240" progId="Equation.3">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85038" y="5056188"/>
                        <a:ext cx="519112" cy="9064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70" name="椭圆 38"/>
          <p:cNvSpPr>
            <a:spLocks noChangeArrowheads="1"/>
          </p:cNvSpPr>
          <p:nvPr/>
        </p:nvSpPr>
        <p:spPr bwMode="auto">
          <a:xfrm>
            <a:off x="3394075" y="3944938"/>
            <a:ext cx="188913" cy="214312"/>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10271" name="TextBox 30"/>
          <p:cNvSpPr txBox="1">
            <a:spLocks noChangeArrowheads="1"/>
          </p:cNvSpPr>
          <p:nvPr/>
        </p:nvSpPr>
        <p:spPr bwMode="auto">
          <a:xfrm>
            <a:off x="8156575" y="5849938"/>
            <a:ext cx="581025" cy="522287"/>
          </a:xfrm>
          <a:prstGeom prst="rect">
            <a:avLst/>
          </a:prstGeom>
          <a:noFill/>
          <a:ln w="9525">
            <a:noFill/>
            <a:miter lim="800000"/>
            <a:headEnd/>
            <a:tailEnd/>
          </a:ln>
        </p:spPr>
        <p:txBody>
          <a:bodyPr>
            <a:spAutoFit/>
          </a:bodyPr>
          <a:lstStyle/>
          <a:p>
            <a:r>
              <a:rPr lang="en-US" altLang="zh-CN" sz="2800"/>
              <a:t>x</a:t>
            </a:r>
            <a:r>
              <a:rPr lang="en-US" altLang="zh-CN" sz="2800" baseline="30000"/>
              <a:t>(1)</a:t>
            </a:r>
            <a:endParaRPr lang="zh-CN" altLang="en-US" sz="2800" baseline="30000"/>
          </a:p>
        </p:txBody>
      </p:sp>
      <p:sp>
        <p:nvSpPr>
          <p:cNvPr id="10272" name="TextBox 31"/>
          <p:cNvSpPr txBox="1">
            <a:spLocks noChangeArrowheads="1"/>
          </p:cNvSpPr>
          <p:nvPr/>
        </p:nvSpPr>
        <p:spPr bwMode="auto">
          <a:xfrm>
            <a:off x="1424969" y="2586099"/>
            <a:ext cx="581025" cy="523875"/>
          </a:xfrm>
          <a:prstGeom prst="rect">
            <a:avLst/>
          </a:prstGeom>
          <a:noFill/>
          <a:ln w="9525">
            <a:noFill/>
            <a:miter lim="800000"/>
            <a:headEnd/>
            <a:tailEnd/>
          </a:ln>
        </p:spPr>
        <p:txBody>
          <a:bodyPr>
            <a:spAutoFit/>
          </a:bodyPr>
          <a:lstStyle/>
          <a:p>
            <a:r>
              <a:rPr lang="en-US" altLang="zh-CN" sz="2800"/>
              <a:t>x</a:t>
            </a:r>
            <a:r>
              <a:rPr lang="en-US" altLang="zh-CN" sz="2800" baseline="30000"/>
              <a:t>(2)</a:t>
            </a:r>
            <a:endParaRPr lang="zh-CN" altLang="en-US" sz="2800" baseline="300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60400" y="571500"/>
            <a:ext cx="7772400" cy="1143000"/>
          </a:xfrm>
        </p:spPr>
        <p:txBody>
          <a:bodyPr/>
          <a:lstStyle/>
          <a:p>
            <a:pPr>
              <a:defRPr/>
            </a:pPr>
            <a:r>
              <a:rPr lang="zh-CN" altLang="en-US" dirty="0"/>
              <a:t>最优分界面</a:t>
            </a:r>
          </a:p>
        </p:txBody>
      </p:sp>
      <p:sp>
        <p:nvSpPr>
          <p:cNvPr id="10245" name="灯片编号占位符 3"/>
          <p:cNvSpPr>
            <a:spLocks noGrp="1"/>
          </p:cNvSpPr>
          <p:nvPr>
            <p:ph type="sldNum" sz="quarter" idx="12"/>
          </p:nvPr>
        </p:nvSpPr>
        <p:spPr>
          <a:noFill/>
        </p:spPr>
        <p:txBody>
          <a:bodyPr/>
          <a:lstStyle/>
          <a:p>
            <a:fld id="{9BBF13A5-AF0D-4D0E-9199-9EFE8F30265A}" type="slidenum">
              <a:rPr lang="en-US" altLang="zh-CN" smtClean="0">
                <a:ea typeface="黑体" pitchFamily="49" charset="-122"/>
              </a:rPr>
              <a:pPr/>
              <a:t>15</a:t>
            </a:fld>
            <a:endParaRPr lang="en-US" altLang="zh-CN">
              <a:ea typeface="黑体" pitchFamily="49" charset="-122"/>
            </a:endParaRPr>
          </a:p>
        </p:txBody>
      </p:sp>
      <p:sp>
        <p:nvSpPr>
          <p:cNvPr id="10246" name="灯片编号占位符 3"/>
          <p:cNvSpPr txBox="1">
            <a:spLocks/>
          </p:cNvSpPr>
          <p:nvPr/>
        </p:nvSpPr>
        <p:spPr bwMode="auto">
          <a:xfrm>
            <a:off x="6553200" y="6248400"/>
            <a:ext cx="1905000" cy="457200"/>
          </a:xfrm>
          <a:prstGeom prst="rect">
            <a:avLst/>
          </a:prstGeom>
          <a:noFill/>
          <a:ln w="9525">
            <a:noFill/>
            <a:miter lim="800000"/>
            <a:headEnd/>
            <a:tailEnd/>
          </a:ln>
        </p:spPr>
        <p:txBody>
          <a:bodyPr lIns="92075" tIns="46038" rIns="92075" bIns="46038" anchor="ctr"/>
          <a:lstStyle/>
          <a:p>
            <a:pPr algn="r"/>
            <a:fld id="{DCDE5E7E-8106-4D9D-A048-538F5085AAFF}" type="slidenum">
              <a:rPr kumimoji="0" lang="en-US" altLang="zh-CN" sz="1400"/>
              <a:pPr algn="r"/>
              <a:t>15</a:t>
            </a:fld>
            <a:endParaRPr kumimoji="0" lang="en-US" altLang="zh-CN" sz="1400"/>
          </a:p>
        </p:txBody>
      </p:sp>
      <p:cxnSp>
        <p:nvCxnSpPr>
          <p:cNvPr id="10247" name="直接箭头连接符 5"/>
          <p:cNvCxnSpPr>
            <a:cxnSpLocks noChangeShapeType="1"/>
          </p:cNvCxnSpPr>
          <p:nvPr/>
        </p:nvCxnSpPr>
        <p:spPr bwMode="auto">
          <a:xfrm flipV="1">
            <a:off x="1541463" y="6137275"/>
            <a:ext cx="6513512" cy="25400"/>
          </a:xfrm>
          <a:prstGeom prst="straightConnector1">
            <a:avLst/>
          </a:prstGeom>
          <a:noFill/>
          <a:ln w="38100" algn="ctr">
            <a:solidFill>
              <a:schemeClr val="tx1"/>
            </a:solidFill>
            <a:round/>
            <a:headEnd/>
            <a:tailEnd type="arrow" w="med" len="med"/>
          </a:ln>
        </p:spPr>
      </p:cxnSp>
      <p:cxnSp>
        <p:nvCxnSpPr>
          <p:cNvPr id="10248" name="直接箭头连接符 6"/>
          <p:cNvCxnSpPr>
            <a:cxnSpLocks noChangeShapeType="1"/>
          </p:cNvCxnSpPr>
          <p:nvPr/>
        </p:nvCxnSpPr>
        <p:spPr bwMode="auto">
          <a:xfrm flipV="1">
            <a:off x="1841500" y="2943225"/>
            <a:ext cx="49213" cy="3608388"/>
          </a:xfrm>
          <a:prstGeom prst="straightConnector1">
            <a:avLst/>
          </a:prstGeom>
          <a:noFill/>
          <a:ln w="38100" algn="ctr">
            <a:solidFill>
              <a:schemeClr val="tx1"/>
            </a:solidFill>
            <a:round/>
            <a:headEnd/>
            <a:tailEnd type="arrow" w="med" len="med"/>
          </a:ln>
        </p:spPr>
      </p:cxnSp>
      <p:sp>
        <p:nvSpPr>
          <p:cNvPr id="10249" name="椭圆 7"/>
          <p:cNvSpPr>
            <a:spLocks noChangeArrowheads="1"/>
          </p:cNvSpPr>
          <p:nvPr/>
        </p:nvSpPr>
        <p:spPr bwMode="auto">
          <a:xfrm>
            <a:off x="3582988" y="4446588"/>
            <a:ext cx="187325"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10250" name="椭圆 8"/>
          <p:cNvSpPr>
            <a:spLocks noChangeArrowheads="1"/>
          </p:cNvSpPr>
          <p:nvPr/>
        </p:nvSpPr>
        <p:spPr bwMode="auto">
          <a:xfrm>
            <a:off x="2430463" y="3870325"/>
            <a:ext cx="187325"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10251" name="椭圆 9"/>
          <p:cNvSpPr>
            <a:spLocks noChangeArrowheads="1"/>
          </p:cNvSpPr>
          <p:nvPr/>
        </p:nvSpPr>
        <p:spPr bwMode="auto">
          <a:xfrm>
            <a:off x="3958364" y="5148263"/>
            <a:ext cx="187325"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10252" name="椭圆 10"/>
          <p:cNvSpPr>
            <a:spLocks noChangeArrowheads="1"/>
          </p:cNvSpPr>
          <p:nvPr/>
        </p:nvSpPr>
        <p:spPr bwMode="auto">
          <a:xfrm>
            <a:off x="2855913" y="4735513"/>
            <a:ext cx="187325"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10253" name="椭圆 11"/>
          <p:cNvSpPr>
            <a:spLocks noChangeArrowheads="1"/>
          </p:cNvSpPr>
          <p:nvPr/>
        </p:nvSpPr>
        <p:spPr bwMode="auto">
          <a:xfrm>
            <a:off x="4195763" y="4284663"/>
            <a:ext cx="188912"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10254" name="椭圆 12"/>
          <p:cNvSpPr>
            <a:spLocks noChangeArrowheads="1"/>
          </p:cNvSpPr>
          <p:nvPr/>
        </p:nvSpPr>
        <p:spPr bwMode="auto">
          <a:xfrm>
            <a:off x="3094038" y="3344863"/>
            <a:ext cx="187325"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10255" name="椭圆 13"/>
          <p:cNvSpPr>
            <a:spLocks noChangeArrowheads="1"/>
          </p:cNvSpPr>
          <p:nvPr/>
        </p:nvSpPr>
        <p:spPr bwMode="auto">
          <a:xfrm>
            <a:off x="2994025" y="4295775"/>
            <a:ext cx="187325" cy="214313"/>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10256" name="椭圆 14"/>
          <p:cNvSpPr>
            <a:spLocks noChangeArrowheads="1"/>
          </p:cNvSpPr>
          <p:nvPr/>
        </p:nvSpPr>
        <p:spPr bwMode="auto">
          <a:xfrm>
            <a:off x="2343150" y="4610100"/>
            <a:ext cx="187325"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10257" name="椭圆 15"/>
          <p:cNvSpPr>
            <a:spLocks noChangeArrowheads="1"/>
          </p:cNvSpPr>
          <p:nvPr/>
        </p:nvSpPr>
        <p:spPr bwMode="auto">
          <a:xfrm>
            <a:off x="3143250" y="5060950"/>
            <a:ext cx="188913"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10258" name="矩形 16"/>
          <p:cNvSpPr>
            <a:spLocks noChangeArrowheads="1"/>
          </p:cNvSpPr>
          <p:nvPr/>
        </p:nvSpPr>
        <p:spPr bwMode="auto">
          <a:xfrm>
            <a:off x="4872038" y="3055938"/>
            <a:ext cx="138112" cy="163512"/>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10259" name="矩形 17"/>
          <p:cNvSpPr>
            <a:spLocks noChangeArrowheads="1"/>
          </p:cNvSpPr>
          <p:nvPr/>
        </p:nvSpPr>
        <p:spPr bwMode="auto">
          <a:xfrm>
            <a:off x="5724525" y="2505075"/>
            <a:ext cx="138113" cy="163513"/>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10260" name="矩形 18"/>
          <p:cNvSpPr>
            <a:spLocks noChangeArrowheads="1"/>
          </p:cNvSpPr>
          <p:nvPr/>
        </p:nvSpPr>
        <p:spPr bwMode="auto">
          <a:xfrm>
            <a:off x="6113463" y="3268663"/>
            <a:ext cx="136525" cy="163512"/>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10261" name="矩形 19"/>
          <p:cNvSpPr>
            <a:spLocks noChangeArrowheads="1"/>
          </p:cNvSpPr>
          <p:nvPr/>
        </p:nvSpPr>
        <p:spPr bwMode="auto">
          <a:xfrm>
            <a:off x="5448300" y="2981325"/>
            <a:ext cx="138113" cy="161925"/>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10262" name="矩形 20"/>
          <p:cNvSpPr>
            <a:spLocks noChangeArrowheads="1"/>
          </p:cNvSpPr>
          <p:nvPr/>
        </p:nvSpPr>
        <p:spPr bwMode="auto">
          <a:xfrm>
            <a:off x="5949950" y="3944938"/>
            <a:ext cx="138113" cy="163512"/>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10263" name="矩形 21"/>
          <p:cNvSpPr>
            <a:spLocks noChangeArrowheads="1"/>
          </p:cNvSpPr>
          <p:nvPr/>
        </p:nvSpPr>
        <p:spPr bwMode="auto">
          <a:xfrm>
            <a:off x="5360988" y="3444875"/>
            <a:ext cx="138112" cy="161925"/>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10264" name="矩形 22"/>
          <p:cNvSpPr>
            <a:spLocks noChangeArrowheads="1"/>
          </p:cNvSpPr>
          <p:nvPr/>
        </p:nvSpPr>
        <p:spPr bwMode="auto">
          <a:xfrm>
            <a:off x="6774880" y="3663949"/>
            <a:ext cx="138113" cy="161925"/>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10265" name="矩形 23"/>
          <p:cNvSpPr>
            <a:spLocks noChangeArrowheads="1"/>
          </p:cNvSpPr>
          <p:nvPr/>
        </p:nvSpPr>
        <p:spPr bwMode="auto">
          <a:xfrm>
            <a:off x="6600825" y="2805113"/>
            <a:ext cx="138113" cy="163512"/>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cxnSp>
        <p:nvCxnSpPr>
          <p:cNvPr id="26" name="直接连接符 25"/>
          <p:cNvCxnSpPr/>
          <p:nvPr/>
        </p:nvCxnSpPr>
        <p:spPr bwMode="auto">
          <a:xfrm>
            <a:off x="3019425" y="2417763"/>
            <a:ext cx="3494088" cy="2943225"/>
          </a:xfrm>
          <a:prstGeom prst="line">
            <a:avLst/>
          </a:prstGeom>
          <a:solidFill>
            <a:schemeClr val="accent1"/>
          </a:solidFill>
          <a:ln w="38100" cap="flat" cmpd="sng" algn="ctr">
            <a:solidFill>
              <a:schemeClr val="accent5"/>
            </a:solidFill>
            <a:prstDash val="solid"/>
            <a:round/>
            <a:headEnd type="none" w="med" len="med"/>
            <a:tailEnd type="none" w="med" len="med"/>
          </a:ln>
          <a:effectLst/>
        </p:spPr>
      </p:cxnSp>
      <p:cxnSp>
        <p:nvCxnSpPr>
          <p:cNvPr id="28" name="直接连接符 27"/>
          <p:cNvCxnSpPr/>
          <p:nvPr/>
        </p:nvCxnSpPr>
        <p:spPr bwMode="auto">
          <a:xfrm>
            <a:off x="3570288" y="1966913"/>
            <a:ext cx="3494087" cy="2943225"/>
          </a:xfrm>
          <a:prstGeom prst="line">
            <a:avLst/>
          </a:prstGeom>
          <a:solidFill>
            <a:schemeClr val="accent1"/>
          </a:solidFill>
          <a:ln w="38100" cap="flat" cmpd="sng" algn="ctr">
            <a:solidFill>
              <a:schemeClr val="accent5"/>
            </a:solidFill>
            <a:prstDash val="dash"/>
            <a:round/>
            <a:headEnd type="none" w="med" len="med"/>
            <a:tailEnd type="none" w="med" len="med"/>
          </a:ln>
          <a:effectLst/>
        </p:spPr>
      </p:cxnSp>
      <p:cxnSp>
        <p:nvCxnSpPr>
          <p:cNvPr id="29" name="直接连接符 28"/>
          <p:cNvCxnSpPr/>
          <p:nvPr/>
        </p:nvCxnSpPr>
        <p:spPr bwMode="auto">
          <a:xfrm>
            <a:off x="2605088" y="2955925"/>
            <a:ext cx="3495675" cy="2943225"/>
          </a:xfrm>
          <a:prstGeom prst="line">
            <a:avLst/>
          </a:prstGeom>
          <a:solidFill>
            <a:schemeClr val="accent1"/>
          </a:solidFill>
          <a:ln w="38100" cap="flat" cmpd="sng" algn="ctr">
            <a:solidFill>
              <a:schemeClr val="accent5"/>
            </a:solidFill>
            <a:prstDash val="dash"/>
            <a:round/>
            <a:headEnd type="none" w="med" len="med"/>
            <a:tailEnd type="none" w="med" len="med"/>
          </a:ln>
          <a:effectLst/>
        </p:spPr>
      </p:cxnSp>
      <p:graphicFrame>
        <p:nvGraphicFramePr>
          <p:cNvPr id="10242" name="Object 2" descr="蓝色面巾纸"/>
          <p:cNvGraphicFramePr>
            <a:graphicFrameLocks noChangeAspect="1"/>
          </p:cNvGraphicFramePr>
          <p:nvPr>
            <p:extLst>
              <p:ext uri="{D42A27DB-BD31-4B8C-83A1-F6EECF244321}">
                <p14:modId xmlns:p14="http://schemas.microsoft.com/office/powerpoint/2010/main" val="431433671"/>
              </p:ext>
            </p:extLst>
          </p:nvPr>
        </p:nvGraphicFramePr>
        <p:xfrm>
          <a:off x="895350" y="1868488"/>
          <a:ext cx="1987550" cy="465137"/>
        </p:xfrm>
        <a:graphic>
          <a:graphicData uri="http://schemas.openxmlformats.org/presentationml/2006/ole">
            <mc:AlternateContent xmlns:mc="http://schemas.openxmlformats.org/markup-compatibility/2006">
              <mc:Choice xmlns:v="urn:schemas-microsoft-com:vml" Requires="v">
                <p:oleObj name="公式" r:id="rId3" imgW="761760" imgH="177480" progId="Equation.3">
                  <p:embed/>
                </p:oleObj>
              </mc:Choice>
              <mc:Fallback>
                <p:oleObj name="公式" r:id="rId3" imgW="761760" imgH="177480" progId="Equation.3">
                  <p:embed/>
                  <p:pic>
                    <p:nvPicPr>
                      <p:cNvPr id="10242" name="Object 2" descr="蓝色面巾纸"/>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5350" y="1868488"/>
                        <a:ext cx="1987550" cy="4651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10269" name="直接箭头连接符 36"/>
          <p:cNvCxnSpPr>
            <a:cxnSpLocks noChangeShapeType="1"/>
          </p:cNvCxnSpPr>
          <p:nvPr/>
        </p:nvCxnSpPr>
        <p:spPr bwMode="auto">
          <a:xfrm flipH="1">
            <a:off x="6149975" y="4897438"/>
            <a:ext cx="827088" cy="1014412"/>
          </a:xfrm>
          <a:prstGeom prst="straightConnector1">
            <a:avLst/>
          </a:prstGeom>
          <a:noFill/>
          <a:ln w="38100" algn="ctr">
            <a:solidFill>
              <a:schemeClr val="tx1"/>
            </a:solidFill>
            <a:round/>
            <a:headEnd type="arrow" w="med" len="med"/>
            <a:tailEnd type="arrow" w="med" len="med"/>
          </a:ln>
        </p:spPr>
      </p:cxnSp>
      <p:graphicFrame>
        <p:nvGraphicFramePr>
          <p:cNvPr id="10243" name="Object 2" descr="蓝色面巾纸"/>
          <p:cNvGraphicFramePr>
            <a:graphicFrameLocks noChangeAspect="1"/>
          </p:cNvGraphicFramePr>
          <p:nvPr/>
        </p:nvGraphicFramePr>
        <p:xfrm>
          <a:off x="7285038" y="5056188"/>
          <a:ext cx="519112" cy="906462"/>
        </p:xfrm>
        <a:graphic>
          <a:graphicData uri="http://schemas.openxmlformats.org/presentationml/2006/ole">
            <mc:AlternateContent xmlns:mc="http://schemas.openxmlformats.org/markup-compatibility/2006">
              <mc:Choice xmlns:v="urn:schemas-microsoft-com:vml" Requires="v">
                <p:oleObj name="公式" r:id="rId5" imgW="253800" imgH="444240" progId="Equation.3">
                  <p:embed/>
                </p:oleObj>
              </mc:Choice>
              <mc:Fallback>
                <p:oleObj name="公式" r:id="rId5" imgW="253800" imgH="444240" progId="Equation.3">
                  <p:embed/>
                  <p:pic>
                    <p:nvPicPr>
                      <p:cNvPr id="10243" name="Object 2" descr="蓝色面巾纸"/>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85038" y="5056188"/>
                        <a:ext cx="519112" cy="9064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70" name="椭圆 38"/>
          <p:cNvSpPr>
            <a:spLocks noChangeArrowheads="1"/>
          </p:cNvSpPr>
          <p:nvPr/>
        </p:nvSpPr>
        <p:spPr bwMode="auto">
          <a:xfrm>
            <a:off x="3394075" y="3944938"/>
            <a:ext cx="188913" cy="214312"/>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10271" name="TextBox 30"/>
          <p:cNvSpPr txBox="1">
            <a:spLocks noChangeArrowheads="1"/>
          </p:cNvSpPr>
          <p:nvPr/>
        </p:nvSpPr>
        <p:spPr bwMode="auto">
          <a:xfrm>
            <a:off x="8156575" y="5849938"/>
            <a:ext cx="581025" cy="522287"/>
          </a:xfrm>
          <a:prstGeom prst="rect">
            <a:avLst/>
          </a:prstGeom>
          <a:noFill/>
          <a:ln w="9525">
            <a:noFill/>
            <a:miter lim="800000"/>
            <a:headEnd/>
            <a:tailEnd/>
          </a:ln>
        </p:spPr>
        <p:txBody>
          <a:bodyPr>
            <a:spAutoFit/>
          </a:bodyPr>
          <a:lstStyle/>
          <a:p>
            <a:r>
              <a:rPr lang="en-US" altLang="zh-CN" sz="2800"/>
              <a:t>x</a:t>
            </a:r>
            <a:r>
              <a:rPr lang="en-US" altLang="zh-CN" sz="2800" baseline="30000"/>
              <a:t>(1)</a:t>
            </a:r>
            <a:endParaRPr lang="zh-CN" altLang="en-US" sz="2800" baseline="30000"/>
          </a:p>
        </p:txBody>
      </p:sp>
      <p:sp>
        <p:nvSpPr>
          <p:cNvPr id="10272" name="TextBox 31"/>
          <p:cNvSpPr txBox="1">
            <a:spLocks noChangeArrowheads="1"/>
          </p:cNvSpPr>
          <p:nvPr/>
        </p:nvSpPr>
        <p:spPr bwMode="auto">
          <a:xfrm>
            <a:off x="1424969" y="2586099"/>
            <a:ext cx="581025" cy="523875"/>
          </a:xfrm>
          <a:prstGeom prst="rect">
            <a:avLst/>
          </a:prstGeom>
          <a:noFill/>
          <a:ln w="9525">
            <a:noFill/>
            <a:miter lim="800000"/>
            <a:headEnd/>
            <a:tailEnd/>
          </a:ln>
        </p:spPr>
        <p:txBody>
          <a:bodyPr>
            <a:spAutoFit/>
          </a:bodyPr>
          <a:lstStyle/>
          <a:p>
            <a:r>
              <a:rPr lang="en-US" altLang="zh-CN" sz="2800"/>
              <a:t>x</a:t>
            </a:r>
            <a:r>
              <a:rPr lang="en-US" altLang="zh-CN" sz="2800" baseline="30000"/>
              <a:t>(2)</a:t>
            </a:r>
            <a:endParaRPr lang="zh-CN" altLang="en-US" sz="2800" baseline="30000"/>
          </a:p>
        </p:txBody>
      </p:sp>
      <p:sp>
        <p:nvSpPr>
          <p:cNvPr id="3" name="文本框 2">
            <a:extLst>
              <a:ext uri="{FF2B5EF4-FFF2-40B4-BE49-F238E27FC236}">
                <a16:creationId xmlns:a16="http://schemas.microsoft.com/office/drawing/2014/main" id="{5A522786-9EC2-422D-9630-A1DD4C116061}"/>
              </a:ext>
            </a:extLst>
          </p:cNvPr>
          <p:cNvSpPr txBox="1"/>
          <p:nvPr/>
        </p:nvSpPr>
        <p:spPr>
          <a:xfrm>
            <a:off x="4666947" y="1676033"/>
            <a:ext cx="1664306" cy="830997"/>
          </a:xfrm>
          <a:prstGeom prst="rect">
            <a:avLst/>
          </a:prstGeom>
          <a:noFill/>
        </p:spPr>
        <p:txBody>
          <a:bodyPr wrap="square" rtlCol="0">
            <a:spAutoFit/>
          </a:bodyPr>
          <a:lstStyle/>
          <a:p>
            <a:r>
              <a:rPr lang="zh-CN" altLang="en-US" sz="2400" b="1" dirty="0">
                <a:solidFill>
                  <a:srgbClr val="7030A0"/>
                </a:solidFill>
              </a:rPr>
              <a:t>决策函数大于</a:t>
            </a:r>
            <a:r>
              <a:rPr lang="en-US" altLang="zh-CN" sz="2400" b="1" dirty="0">
                <a:solidFill>
                  <a:srgbClr val="7030A0"/>
                </a:solidFill>
              </a:rPr>
              <a:t>0</a:t>
            </a:r>
            <a:endParaRPr lang="zh-CN" altLang="en-US" sz="2400" b="1" dirty="0">
              <a:solidFill>
                <a:srgbClr val="7030A0"/>
              </a:solidFill>
            </a:endParaRPr>
          </a:p>
        </p:txBody>
      </p:sp>
      <p:sp>
        <p:nvSpPr>
          <p:cNvPr id="34" name="文本框 33">
            <a:extLst>
              <a:ext uri="{FF2B5EF4-FFF2-40B4-BE49-F238E27FC236}">
                <a16:creationId xmlns:a16="http://schemas.microsoft.com/office/drawing/2014/main" id="{A5095DAC-1F17-4DF3-BD7E-952D5F474050}"/>
              </a:ext>
            </a:extLst>
          </p:cNvPr>
          <p:cNvSpPr txBox="1"/>
          <p:nvPr/>
        </p:nvSpPr>
        <p:spPr>
          <a:xfrm>
            <a:off x="2065214" y="5261516"/>
            <a:ext cx="1664306" cy="830997"/>
          </a:xfrm>
          <a:prstGeom prst="rect">
            <a:avLst/>
          </a:prstGeom>
          <a:noFill/>
        </p:spPr>
        <p:txBody>
          <a:bodyPr wrap="square" rtlCol="0">
            <a:spAutoFit/>
          </a:bodyPr>
          <a:lstStyle/>
          <a:p>
            <a:r>
              <a:rPr lang="zh-CN" altLang="en-US" sz="2400" b="1" dirty="0">
                <a:solidFill>
                  <a:srgbClr val="7030A0"/>
                </a:solidFill>
              </a:rPr>
              <a:t>决策函数小于</a:t>
            </a:r>
            <a:r>
              <a:rPr lang="en-US" altLang="zh-CN" sz="2400" b="1" dirty="0">
                <a:solidFill>
                  <a:srgbClr val="7030A0"/>
                </a:solidFill>
              </a:rPr>
              <a:t>0</a:t>
            </a:r>
            <a:endParaRPr lang="zh-CN" altLang="en-US" sz="2400" b="1" dirty="0">
              <a:solidFill>
                <a:srgbClr val="7030A0"/>
              </a:solidFill>
            </a:endParaRPr>
          </a:p>
        </p:txBody>
      </p:sp>
      <p:cxnSp>
        <p:nvCxnSpPr>
          <p:cNvPr id="5" name="连接符: 曲线 4">
            <a:extLst>
              <a:ext uri="{FF2B5EF4-FFF2-40B4-BE49-F238E27FC236}">
                <a16:creationId xmlns:a16="http://schemas.microsoft.com/office/drawing/2014/main" id="{C1AA8A2D-5B29-4F05-8894-B8B8F2E1E852}"/>
              </a:ext>
            </a:extLst>
          </p:cNvPr>
          <p:cNvCxnSpPr>
            <a:cxnSpLocks/>
            <a:stCxn id="10242" idx="3"/>
          </p:cNvCxnSpPr>
          <p:nvPr/>
        </p:nvCxnSpPr>
        <p:spPr>
          <a:xfrm>
            <a:off x="2882900" y="2101056"/>
            <a:ext cx="667392" cy="667926"/>
          </a:xfrm>
          <a:prstGeom prst="curvedConnector2">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接箭头连接符 8">
            <a:extLst>
              <a:ext uri="{FF2B5EF4-FFF2-40B4-BE49-F238E27FC236}">
                <a16:creationId xmlns:a16="http://schemas.microsoft.com/office/drawing/2014/main" id="{7F54C1D7-083B-40FE-BA0A-5AD61121A021}"/>
              </a:ext>
            </a:extLst>
          </p:cNvPr>
          <p:cNvCxnSpPr>
            <a:cxnSpLocks/>
            <a:endCxn id="10264" idx="2"/>
          </p:cNvCxnSpPr>
          <p:nvPr/>
        </p:nvCxnSpPr>
        <p:spPr>
          <a:xfrm flipV="1">
            <a:off x="5859025" y="3825874"/>
            <a:ext cx="984912" cy="989016"/>
          </a:xfrm>
          <a:prstGeom prst="straightConnector1">
            <a:avLst/>
          </a:prstGeom>
          <a:ln w="28575">
            <a:solidFill>
              <a:srgbClr val="FF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7" name="Object 2" descr="蓝色面巾纸">
                <a:extLst>
                  <a:ext uri="{FF2B5EF4-FFF2-40B4-BE49-F238E27FC236}">
                    <a16:creationId xmlns:a16="http://schemas.microsoft.com/office/drawing/2014/main" id="{3B237979-56D0-4A75-8CA0-8604F72ABDEA}"/>
                  </a:ext>
                </a:extLst>
              </p:cNvPr>
              <p:cNvSpPr txBox="1"/>
              <p:nvPr/>
            </p:nvSpPr>
            <p:spPr bwMode="auto">
              <a:xfrm>
                <a:off x="6149974" y="1932781"/>
                <a:ext cx="2766055" cy="465138"/>
              </a:xfrm>
              <a:prstGeom prst="rect">
                <a:avLst/>
              </a:prstGeom>
              <a:noFill/>
            </p:spPr>
            <p:txBody>
              <a:bodyPr>
                <a:noAutofit/>
              </a:bodyPr>
              <a:lstStyle/>
              <a:p>
                <a:r>
                  <a:rPr lang="en-US" altLang="zh-CN" sz="2800" dirty="0">
                    <a:solidFill>
                      <a:srgbClr val="00B050"/>
                    </a:solidFill>
                  </a:rPr>
                  <a:t>(</a:t>
                </a:r>
                <a14:m>
                  <m:oMath xmlns:m="http://schemas.openxmlformats.org/officeDocument/2006/math">
                    <m:r>
                      <a:rPr lang="zh-CN" altLang="en-US" sz="2800" i="1" smtClean="0">
                        <a:solidFill>
                          <a:srgbClr val="00B050"/>
                        </a:solidFill>
                        <a:latin typeface="Cambria Math" panose="02040503050406030204" pitchFamily="18" charset="0"/>
                      </a:rPr>
                      <m:t>𝑤</m:t>
                    </m:r>
                    <m:r>
                      <a:rPr lang="zh-CN" altLang="en-US" sz="2800" i="1" smtClean="0">
                        <a:solidFill>
                          <a:srgbClr val="00B050"/>
                        </a:solidFill>
                        <a:latin typeface="Cambria Math" panose="02040503050406030204" pitchFamily="18" charset="0"/>
                      </a:rPr>
                      <m:t>⋅</m:t>
                    </m:r>
                    <m:r>
                      <a:rPr lang="zh-CN" altLang="en-US" sz="2800" i="1" smtClean="0">
                        <a:solidFill>
                          <a:srgbClr val="00B050"/>
                        </a:solidFill>
                        <a:latin typeface="Cambria Math" panose="02040503050406030204" pitchFamily="18" charset="0"/>
                      </a:rPr>
                      <m:t>𝑥</m:t>
                    </m:r>
                    <m:r>
                      <a:rPr lang="zh-CN" altLang="en-US" sz="2800" i="1" smtClean="0">
                        <a:solidFill>
                          <a:srgbClr val="00B050"/>
                        </a:solidFill>
                        <a:latin typeface="Cambria Math" panose="02040503050406030204" pitchFamily="18" charset="0"/>
                      </a:rPr>
                      <m:t>+</m:t>
                    </m:r>
                    <m:r>
                      <a:rPr lang="zh-CN" altLang="en-US" sz="2800" i="1" smtClean="0">
                        <a:solidFill>
                          <a:srgbClr val="00B050"/>
                        </a:solidFill>
                        <a:latin typeface="Cambria Math" panose="02040503050406030204" pitchFamily="18" charset="0"/>
                      </a:rPr>
                      <m:t>𝑏</m:t>
                    </m:r>
                    <m:r>
                      <a:rPr lang="en-US" altLang="zh-CN" sz="2800" b="0" i="1" smtClean="0">
                        <a:solidFill>
                          <a:srgbClr val="00B050"/>
                        </a:solidFill>
                        <a:latin typeface="Cambria Math" panose="02040503050406030204" pitchFamily="18" charset="0"/>
                      </a:rPr>
                      <m:t>)&gt;0</m:t>
                    </m:r>
                  </m:oMath>
                </a14:m>
                <a:endParaRPr lang="zh-CN" altLang="en-US" sz="2800" dirty="0">
                  <a:solidFill>
                    <a:srgbClr val="00B050"/>
                  </a:solidFill>
                </a:endParaRPr>
              </a:p>
            </p:txBody>
          </p:sp>
        </mc:Choice>
        <mc:Fallback xmlns="">
          <p:sp>
            <p:nvSpPr>
              <p:cNvPr id="47" name="Object 2" descr="蓝色面巾纸">
                <a:extLst>
                  <a:ext uri="{FF2B5EF4-FFF2-40B4-BE49-F238E27FC236}">
                    <a16:creationId xmlns:a16="http://schemas.microsoft.com/office/drawing/2014/main" id="{3B237979-56D0-4A75-8CA0-8604F72ABDEA}"/>
                  </a:ext>
                </a:extLst>
              </p:cNvPr>
              <p:cNvSpPr txBox="1">
                <a:spLocks noRot="1" noChangeAspect="1" noMove="1" noResize="1" noEditPoints="1" noAdjustHandles="1" noChangeArrowheads="1" noChangeShapeType="1" noTextEdit="1"/>
              </p:cNvSpPr>
              <p:nvPr/>
            </p:nvSpPr>
            <p:spPr bwMode="auto">
              <a:xfrm>
                <a:off x="6149974" y="1932781"/>
                <a:ext cx="2766055" cy="465138"/>
              </a:xfrm>
              <a:prstGeom prst="rect">
                <a:avLst/>
              </a:prstGeom>
              <a:blipFill>
                <a:blip r:embed="rId7"/>
                <a:stretch>
                  <a:fillRect l="-4566" t="-13514" b="-51351"/>
                </a:stretch>
              </a:blipFill>
            </p:spPr>
            <p:txBody>
              <a:bodyPr/>
              <a:lstStyle/>
              <a:p>
                <a:r>
                  <a:rPr lang="en-US">
                    <a:noFill/>
                  </a:rPr>
                  <a:t> </a:t>
                </a:r>
              </a:p>
            </p:txBody>
          </p:sp>
        </mc:Fallback>
      </mc:AlternateContent>
      <p:cxnSp>
        <p:nvCxnSpPr>
          <p:cNvPr id="48" name="连接符: 曲线 47">
            <a:extLst>
              <a:ext uri="{FF2B5EF4-FFF2-40B4-BE49-F238E27FC236}">
                <a16:creationId xmlns:a16="http://schemas.microsoft.com/office/drawing/2014/main" id="{D0F0E78D-C3D0-419C-8841-ECAB30DDEF57}"/>
              </a:ext>
            </a:extLst>
          </p:cNvPr>
          <p:cNvCxnSpPr>
            <a:cxnSpLocks/>
          </p:cNvCxnSpPr>
          <p:nvPr/>
        </p:nvCxnSpPr>
        <p:spPr>
          <a:xfrm rot="5400000">
            <a:off x="6011496" y="2819835"/>
            <a:ext cx="1648031" cy="878399"/>
          </a:xfrm>
          <a:prstGeom prst="curvedConnector3">
            <a:avLst>
              <a:gd name="adj1" fmla="val 50000"/>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3" name="Object 2" descr="蓝色面巾纸">
                <a:extLst>
                  <a:ext uri="{FF2B5EF4-FFF2-40B4-BE49-F238E27FC236}">
                    <a16:creationId xmlns:a16="http://schemas.microsoft.com/office/drawing/2014/main" id="{E254A800-A029-4F7E-8220-BDF608BE58BE}"/>
                  </a:ext>
                </a:extLst>
              </p:cNvPr>
              <p:cNvSpPr txBox="1"/>
              <p:nvPr/>
            </p:nvSpPr>
            <p:spPr bwMode="auto">
              <a:xfrm>
                <a:off x="3294063" y="5475286"/>
                <a:ext cx="2614613" cy="465138"/>
              </a:xfrm>
              <a:prstGeom prst="rect">
                <a:avLst/>
              </a:prstGeom>
              <a:noFill/>
            </p:spPr>
            <p:txBody>
              <a:bodyPr>
                <a:noAutofit/>
              </a:bodyPr>
              <a:lstStyle/>
              <a:p>
                <a:r>
                  <a:rPr lang="en-US" altLang="zh-CN" sz="2800" dirty="0">
                    <a:solidFill>
                      <a:srgbClr val="00B050"/>
                    </a:solidFill>
                  </a:rPr>
                  <a:t>(</a:t>
                </a:r>
                <a14:m>
                  <m:oMath xmlns:m="http://schemas.openxmlformats.org/officeDocument/2006/math">
                    <m:r>
                      <a:rPr lang="zh-CN" altLang="en-US" sz="2800" i="1" smtClean="0">
                        <a:solidFill>
                          <a:srgbClr val="00B050"/>
                        </a:solidFill>
                        <a:latin typeface="Cambria Math" panose="02040503050406030204" pitchFamily="18" charset="0"/>
                      </a:rPr>
                      <m:t>𝑤</m:t>
                    </m:r>
                    <m:r>
                      <a:rPr lang="zh-CN" altLang="en-US" sz="2800" i="1" smtClean="0">
                        <a:solidFill>
                          <a:srgbClr val="00B050"/>
                        </a:solidFill>
                        <a:latin typeface="Cambria Math" panose="02040503050406030204" pitchFamily="18" charset="0"/>
                      </a:rPr>
                      <m:t>⋅</m:t>
                    </m:r>
                    <m:r>
                      <a:rPr lang="zh-CN" altLang="en-US" sz="2800" i="1" smtClean="0">
                        <a:solidFill>
                          <a:srgbClr val="00B050"/>
                        </a:solidFill>
                        <a:latin typeface="Cambria Math" panose="02040503050406030204" pitchFamily="18" charset="0"/>
                      </a:rPr>
                      <m:t>𝑥</m:t>
                    </m:r>
                    <m:r>
                      <a:rPr lang="zh-CN" altLang="en-US" sz="2800" i="1" smtClean="0">
                        <a:solidFill>
                          <a:srgbClr val="00B050"/>
                        </a:solidFill>
                        <a:latin typeface="Cambria Math" panose="02040503050406030204" pitchFamily="18" charset="0"/>
                      </a:rPr>
                      <m:t>+</m:t>
                    </m:r>
                    <m:r>
                      <a:rPr lang="zh-CN" altLang="en-US" sz="2800" i="1" smtClean="0">
                        <a:solidFill>
                          <a:srgbClr val="00B050"/>
                        </a:solidFill>
                        <a:latin typeface="Cambria Math" panose="02040503050406030204" pitchFamily="18" charset="0"/>
                      </a:rPr>
                      <m:t>𝑏</m:t>
                    </m:r>
                    <m:r>
                      <a:rPr lang="en-US" altLang="zh-CN" sz="2800" b="0" i="1" smtClean="0">
                        <a:solidFill>
                          <a:srgbClr val="00B050"/>
                        </a:solidFill>
                        <a:latin typeface="Cambria Math" panose="02040503050406030204" pitchFamily="18" charset="0"/>
                      </a:rPr>
                      <m:t>)&lt;0</m:t>
                    </m:r>
                  </m:oMath>
                </a14:m>
                <a:endParaRPr lang="zh-CN" altLang="en-US" sz="2800" dirty="0">
                  <a:solidFill>
                    <a:srgbClr val="00B050"/>
                  </a:solidFill>
                </a:endParaRPr>
              </a:p>
            </p:txBody>
          </p:sp>
        </mc:Choice>
        <mc:Fallback xmlns="">
          <p:sp>
            <p:nvSpPr>
              <p:cNvPr id="53" name="Object 2" descr="蓝色面巾纸">
                <a:extLst>
                  <a:ext uri="{FF2B5EF4-FFF2-40B4-BE49-F238E27FC236}">
                    <a16:creationId xmlns:a16="http://schemas.microsoft.com/office/drawing/2014/main" id="{E254A800-A029-4F7E-8220-BDF608BE58BE}"/>
                  </a:ext>
                </a:extLst>
              </p:cNvPr>
              <p:cNvSpPr txBox="1">
                <a:spLocks noRot="1" noChangeAspect="1" noMove="1" noResize="1" noEditPoints="1" noAdjustHandles="1" noChangeArrowheads="1" noChangeShapeType="1" noTextEdit="1"/>
              </p:cNvSpPr>
              <p:nvPr/>
            </p:nvSpPr>
            <p:spPr bwMode="auto">
              <a:xfrm>
                <a:off x="3294063" y="5475286"/>
                <a:ext cx="2614613" cy="465138"/>
              </a:xfrm>
              <a:prstGeom prst="rect">
                <a:avLst/>
              </a:prstGeom>
              <a:blipFill>
                <a:blip r:embed="rId8"/>
                <a:stretch>
                  <a:fillRect l="-4831" t="-10811" b="-54054"/>
                </a:stretch>
              </a:blipFill>
            </p:spPr>
            <p:txBody>
              <a:bodyPr/>
              <a:lstStyle/>
              <a:p>
                <a:r>
                  <a:rPr lang="en-US">
                    <a:noFill/>
                  </a:rPr>
                  <a:t> </a:t>
                </a:r>
              </a:p>
            </p:txBody>
          </p:sp>
        </mc:Fallback>
      </mc:AlternateContent>
      <p:cxnSp>
        <p:nvCxnSpPr>
          <p:cNvPr id="54" name="直接箭头连接符 53">
            <a:extLst>
              <a:ext uri="{FF2B5EF4-FFF2-40B4-BE49-F238E27FC236}">
                <a16:creationId xmlns:a16="http://schemas.microsoft.com/office/drawing/2014/main" id="{684F3018-F43F-45A2-8F6F-19A0A15A4760}"/>
              </a:ext>
            </a:extLst>
          </p:cNvPr>
          <p:cNvCxnSpPr>
            <a:cxnSpLocks/>
          </p:cNvCxnSpPr>
          <p:nvPr/>
        </p:nvCxnSpPr>
        <p:spPr>
          <a:xfrm flipV="1">
            <a:off x="4120289" y="4175579"/>
            <a:ext cx="984912" cy="989016"/>
          </a:xfrm>
          <a:prstGeom prst="straightConnector1">
            <a:avLst/>
          </a:prstGeom>
          <a:ln w="28575">
            <a:solidFill>
              <a:srgbClr val="FF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5" name="连接符: 曲线 54">
            <a:extLst>
              <a:ext uri="{FF2B5EF4-FFF2-40B4-BE49-F238E27FC236}">
                <a16:creationId xmlns:a16="http://schemas.microsoft.com/office/drawing/2014/main" id="{32FFB91C-06E4-4A60-BD63-392A6891ED5C}"/>
              </a:ext>
            </a:extLst>
          </p:cNvPr>
          <p:cNvCxnSpPr>
            <a:cxnSpLocks/>
          </p:cNvCxnSpPr>
          <p:nvPr/>
        </p:nvCxnSpPr>
        <p:spPr>
          <a:xfrm rot="16200000" flipV="1">
            <a:off x="4479750" y="5002388"/>
            <a:ext cx="510280" cy="325780"/>
          </a:xfrm>
          <a:prstGeom prst="curvedConnector3">
            <a:avLst>
              <a:gd name="adj1" fmla="val 50000"/>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61" name="文本框 60">
            <a:extLst>
              <a:ext uri="{FF2B5EF4-FFF2-40B4-BE49-F238E27FC236}">
                <a16:creationId xmlns:a16="http://schemas.microsoft.com/office/drawing/2014/main" id="{9064AC82-C791-4963-A19E-0CA6A53A48F7}"/>
              </a:ext>
            </a:extLst>
          </p:cNvPr>
          <p:cNvSpPr txBox="1"/>
          <p:nvPr/>
        </p:nvSpPr>
        <p:spPr>
          <a:xfrm>
            <a:off x="7251724" y="3444875"/>
            <a:ext cx="1664306" cy="461665"/>
          </a:xfrm>
          <a:prstGeom prst="rect">
            <a:avLst/>
          </a:prstGeom>
          <a:noFill/>
        </p:spPr>
        <p:txBody>
          <a:bodyPr wrap="square" rtlCol="0">
            <a:spAutoFit/>
          </a:bodyPr>
          <a:lstStyle/>
          <a:p>
            <a:r>
              <a:rPr lang="zh-CN" altLang="en-US" sz="2400" b="1" dirty="0">
                <a:solidFill>
                  <a:srgbClr val="FF0000"/>
                </a:solidFill>
              </a:rPr>
              <a:t>正例</a:t>
            </a:r>
          </a:p>
        </p:txBody>
      </p:sp>
      <p:sp>
        <p:nvSpPr>
          <p:cNvPr id="62" name="文本框 61">
            <a:extLst>
              <a:ext uri="{FF2B5EF4-FFF2-40B4-BE49-F238E27FC236}">
                <a16:creationId xmlns:a16="http://schemas.microsoft.com/office/drawing/2014/main" id="{1F5E3E7E-F331-48D7-A2D4-86BFA410D887}"/>
              </a:ext>
            </a:extLst>
          </p:cNvPr>
          <p:cNvSpPr txBox="1"/>
          <p:nvPr/>
        </p:nvSpPr>
        <p:spPr>
          <a:xfrm>
            <a:off x="2012344" y="3395389"/>
            <a:ext cx="1664306" cy="461665"/>
          </a:xfrm>
          <a:prstGeom prst="rect">
            <a:avLst/>
          </a:prstGeom>
          <a:noFill/>
        </p:spPr>
        <p:txBody>
          <a:bodyPr wrap="square" rtlCol="0">
            <a:spAutoFit/>
          </a:bodyPr>
          <a:lstStyle/>
          <a:p>
            <a:r>
              <a:rPr lang="zh-CN" altLang="en-US" sz="2400" b="1" dirty="0">
                <a:solidFill>
                  <a:srgbClr val="E6AF00"/>
                </a:solidFill>
              </a:rPr>
              <a:t>负例</a:t>
            </a:r>
          </a:p>
        </p:txBody>
      </p:sp>
    </p:spTree>
    <p:extLst>
      <p:ext uri="{BB962C8B-B14F-4D97-AF65-F5344CB8AC3E}">
        <p14:creationId xmlns:p14="http://schemas.microsoft.com/office/powerpoint/2010/main" val="1493918681"/>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4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4" grpId="0"/>
      <p:bldP spid="47" grpId="0"/>
      <p:bldP spid="5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dirty="0"/>
              <a:t>函数间隔</a:t>
            </a:r>
          </a:p>
        </p:txBody>
      </p:sp>
      <p:sp>
        <p:nvSpPr>
          <p:cNvPr id="12293" name="内容占位符 2"/>
          <p:cNvSpPr>
            <a:spLocks noGrp="1"/>
          </p:cNvSpPr>
          <p:nvPr>
            <p:ph idx="1"/>
          </p:nvPr>
        </p:nvSpPr>
        <p:spPr>
          <a:xfrm>
            <a:off x="685800" y="1812925"/>
            <a:ext cx="7772400" cy="4283075"/>
          </a:xfrm>
        </p:spPr>
        <p:txBody>
          <a:bodyPr>
            <a:normAutofit/>
          </a:bodyPr>
          <a:lstStyle/>
          <a:p>
            <a:r>
              <a:rPr lang="zh-CN" altLang="en-US" sz="3200" b="1" dirty="0"/>
              <a:t>设训练集</a:t>
            </a:r>
            <a:r>
              <a:rPr lang="en-US" altLang="zh-CN" sz="3200" b="1" dirty="0"/>
              <a:t>T</a:t>
            </a:r>
            <a:r>
              <a:rPr lang="zh-CN" altLang="en-US" sz="3200" b="1" dirty="0"/>
              <a:t>和超平面</a:t>
            </a:r>
            <a:r>
              <a:rPr lang="en-US" altLang="zh-CN" sz="3200" b="1" dirty="0"/>
              <a:t>(</a:t>
            </a:r>
            <a:r>
              <a:rPr lang="en-US" altLang="zh-CN" sz="3200" b="1" i="1" dirty="0" err="1"/>
              <a:t>w,b</a:t>
            </a:r>
            <a:r>
              <a:rPr lang="en-US" altLang="zh-CN" sz="3200" b="1" dirty="0"/>
              <a:t>)</a:t>
            </a:r>
            <a:r>
              <a:rPr lang="zh-CN" altLang="en-US" sz="3200" b="1" dirty="0"/>
              <a:t>，定义超平面</a:t>
            </a:r>
            <a:r>
              <a:rPr lang="en-US" altLang="zh-CN" sz="3200" b="1" dirty="0"/>
              <a:t>(</a:t>
            </a:r>
            <a:r>
              <a:rPr lang="en-US" altLang="zh-CN" sz="3200" b="1" i="1" dirty="0" err="1"/>
              <a:t>w,b</a:t>
            </a:r>
            <a:r>
              <a:rPr lang="en-US" altLang="zh-CN" sz="3200" b="1" dirty="0"/>
              <a:t>)</a:t>
            </a:r>
            <a:r>
              <a:rPr lang="zh-CN" altLang="en-US" sz="3200" b="1" dirty="0"/>
              <a:t>关于样本点</a:t>
            </a:r>
            <a:r>
              <a:rPr lang="en-US" altLang="zh-CN" sz="3200" b="1" dirty="0"/>
              <a:t>(</a:t>
            </a:r>
            <a:r>
              <a:rPr lang="en-US" altLang="zh-CN" sz="3200" b="1" dirty="0" err="1"/>
              <a:t>x</a:t>
            </a:r>
            <a:r>
              <a:rPr lang="en-US" altLang="zh-CN" sz="3200" b="1" baseline="-25000" dirty="0" err="1"/>
              <a:t>i</a:t>
            </a:r>
            <a:r>
              <a:rPr lang="en-US" altLang="zh-CN" sz="3200" b="1" dirty="0" err="1"/>
              <a:t>,y</a:t>
            </a:r>
            <a:r>
              <a:rPr lang="en-US" altLang="zh-CN" sz="3200" b="1" baseline="-25000" dirty="0" err="1"/>
              <a:t>i</a:t>
            </a:r>
            <a:r>
              <a:rPr lang="en-US" altLang="zh-CN" sz="3200" b="1" dirty="0"/>
              <a:t>)</a:t>
            </a:r>
            <a:r>
              <a:rPr lang="zh-CN" altLang="en-US" sz="3200" b="1" dirty="0"/>
              <a:t>的函数间隔为：</a:t>
            </a:r>
            <a:endParaRPr lang="en-US" altLang="zh-CN" sz="3200" b="1" dirty="0"/>
          </a:p>
          <a:p>
            <a:endParaRPr lang="en-US" altLang="zh-CN" sz="3200" b="1" dirty="0"/>
          </a:p>
          <a:p>
            <a:endParaRPr lang="en-US" altLang="zh-CN" sz="3200" b="1" dirty="0"/>
          </a:p>
          <a:p>
            <a:r>
              <a:rPr lang="zh-CN" altLang="en-US" sz="3200" b="1" dirty="0"/>
              <a:t>定义超平面关于</a:t>
            </a:r>
            <a:r>
              <a:rPr lang="en-US" altLang="zh-CN" sz="3200" b="1" dirty="0"/>
              <a:t>T</a:t>
            </a:r>
            <a:r>
              <a:rPr lang="zh-CN" altLang="en-US" sz="3200" b="1" dirty="0"/>
              <a:t>的函数间隔为：</a:t>
            </a:r>
          </a:p>
        </p:txBody>
      </p:sp>
      <p:sp>
        <p:nvSpPr>
          <p:cNvPr id="12294" name="灯片编号占位符 3"/>
          <p:cNvSpPr>
            <a:spLocks noGrp="1"/>
          </p:cNvSpPr>
          <p:nvPr>
            <p:ph type="sldNum" sz="quarter" idx="12"/>
          </p:nvPr>
        </p:nvSpPr>
        <p:spPr>
          <a:noFill/>
        </p:spPr>
        <p:txBody>
          <a:bodyPr/>
          <a:lstStyle/>
          <a:p>
            <a:fld id="{122A5DA2-E1B2-4435-B1C3-40B7DC01635B}" type="slidenum">
              <a:rPr lang="en-US" altLang="zh-CN" smtClean="0">
                <a:ea typeface="黑体" pitchFamily="49" charset="-122"/>
              </a:rPr>
              <a:pPr/>
              <a:t>16</a:t>
            </a:fld>
            <a:endParaRPr lang="en-US" altLang="zh-CN">
              <a:ea typeface="黑体" pitchFamily="49" charset="-122"/>
            </a:endParaRPr>
          </a:p>
        </p:txBody>
      </p:sp>
      <p:graphicFrame>
        <p:nvGraphicFramePr>
          <p:cNvPr id="12290" name="Object 2" descr="羊皮纸"/>
          <p:cNvGraphicFramePr>
            <a:graphicFrameLocks noChangeAspect="1"/>
          </p:cNvGraphicFramePr>
          <p:nvPr/>
        </p:nvGraphicFramePr>
        <p:xfrm>
          <a:off x="2540000" y="2965450"/>
          <a:ext cx="2465388" cy="733425"/>
        </p:xfrm>
        <a:graphic>
          <a:graphicData uri="http://schemas.openxmlformats.org/presentationml/2006/ole">
            <mc:AlternateContent xmlns:mc="http://schemas.openxmlformats.org/markup-compatibility/2006">
              <mc:Choice xmlns:v="urn:schemas-microsoft-com:vml" Requires="v">
                <p:oleObj name="公式" r:id="rId3" imgW="1066680" imgH="317160" progId="Equation.3">
                  <p:embed/>
                </p:oleObj>
              </mc:Choice>
              <mc:Fallback>
                <p:oleObj name="公式" r:id="rId3" imgW="1066680" imgH="31716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40000" y="2965450"/>
                        <a:ext cx="2465388" cy="733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291" name="Object 2" descr="羊皮纸"/>
          <p:cNvGraphicFramePr>
            <a:graphicFrameLocks noChangeAspect="1"/>
          </p:cNvGraphicFramePr>
          <p:nvPr/>
        </p:nvGraphicFramePr>
        <p:xfrm>
          <a:off x="2808288" y="4703763"/>
          <a:ext cx="1527175" cy="850900"/>
        </p:xfrm>
        <a:graphic>
          <a:graphicData uri="http://schemas.openxmlformats.org/presentationml/2006/ole">
            <mc:AlternateContent xmlns:mc="http://schemas.openxmlformats.org/markup-compatibility/2006">
              <mc:Choice xmlns:v="urn:schemas-microsoft-com:vml" Requires="v">
                <p:oleObj name="公式" r:id="rId5" imgW="660240" imgH="368280" progId="Equation.3">
                  <p:embed/>
                </p:oleObj>
              </mc:Choice>
              <mc:Fallback>
                <p:oleObj name="公式" r:id="rId5" imgW="660240" imgH="368280" progId="Equation.3">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08288" y="4703763"/>
                        <a:ext cx="1527175" cy="850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dirty="0"/>
              <a:t>几何间隔</a:t>
            </a:r>
          </a:p>
        </p:txBody>
      </p:sp>
      <p:sp>
        <p:nvSpPr>
          <p:cNvPr id="13317" name="灯片编号占位符 3"/>
          <p:cNvSpPr>
            <a:spLocks noGrp="1"/>
          </p:cNvSpPr>
          <p:nvPr>
            <p:ph type="sldNum" sz="quarter" idx="12"/>
          </p:nvPr>
        </p:nvSpPr>
        <p:spPr>
          <a:noFill/>
        </p:spPr>
        <p:txBody>
          <a:bodyPr/>
          <a:lstStyle/>
          <a:p>
            <a:fld id="{F25597D4-187E-48AC-A820-041C03096A9F}" type="slidenum">
              <a:rPr lang="en-US" altLang="zh-CN" smtClean="0">
                <a:ea typeface="黑体" pitchFamily="49" charset="-122"/>
              </a:rPr>
              <a:pPr/>
              <a:t>17</a:t>
            </a:fld>
            <a:endParaRPr lang="en-US" altLang="zh-CN">
              <a:ea typeface="黑体" pitchFamily="49" charset="-122"/>
            </a:endParaRPr>
          </a:p>
        </p:txBody>
      </p:sp>
      <p:graphicFrame>
        <p:nvGraphicFramePr>
          <p:cNvPr id="13314" name="Object 2" descr="羊皮纸"/>
          <p:cNvGraphicFramePr>
            <a:graphicFrameLocks noChangeAspect="1"/>
          </p:cNvGraphicFramePr>
          <p:nvPr/>
        </p:nvGraphicFramePr>
        <p:xfrm>
          <a:off x="2185988" y="4124325"/>
          <a:ext cx="5222875" cy="2030413"/>
        </p:xfrm>
        <a:graphic>
          <a:graphicData uri="http://schemas.openxmlformats.org/presentationml/2006/ole">
            <mc:AlternateContent xmlns:mc="http://schemas.openxmlformats.org/markup-compatibility/2006">
              <mc:Choice xmlns:v="urn:schemas-microsoft-com:vml" Requires="v">
                <p:oleObj name="公式" r:id="rId3" imgW="1371600" imgH="533160" progId="Equation.3">
                  <p:embed/>
                </p:oleObj>
              </mc:Choice>
              <mc:Fallback>
                <p:oleObj name="公式" r:id="rId3" imgW="1371600" imgH="53316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85988" y="4124325"/>
                        <a:ext cx="5222875" cy="20304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315" name="Object 2" descr="羊皮纸"/>
          <p:cNvGraphicFramePr>
            <a:graphicFrameLocks noChangeAspect="1"/>
          </p:cNvGraphicFramePr>
          <p:nvPr/>
        </p:nvGraphicFramePr>
        <p:xfrm>
          <a:off x="2159000" y="1968500"/>
          <a:ext cx="4100513" cy="1562100"/>
        </p:xfrm>
        <a:graphic>
          <a:graphicData uri="http://schemas.openxmlformats.org/presentationml/2006/ole">
            <mc:AlternateContent xmlns:mc="http://schemas.openxmlformats.org/markup-compatibility/2006">
              <mc:Choice xmlns:v="urn:schemas-microsoft-com:vml" Requires="v">
                <p:oleObj name="公式" r:id="rId5" imgW="1333440" imgH="507960" progId="Equation.3">
                  <p:embed/>
                </p:oleObj>
              </mc:Choice>
              <mc:Fallback>
                <p:oleObj name="公式" r:id="rId5" imgW="1333440" imgH="507960" progId="Equation.3">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59000" y="1968500"/>
                        <a:ext cx="4100513" cy="1562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灯片编号占位符 3"/>
          <p:cNvSpPr>
            <a:spLocks noGrp="1"/>
          </p:cNvSpPr>
          <p:nvPr>
            <p:ph type="sldNum" sz="quarter" idx="12"/>
          </p:nvPr>
        </p:nvSpPr>
        <p:spPr>
          <a:noFill/>
        </p:spPr>
        <p:txBody>
          <a:bodyPr/>
          <a:lstStyle/>
          <a:p>
            <a:fld id="{37AE7CF0-354B-42E7-9010-9CCC4B45D6A7}" type="slidenum">
              <a:rPr lang="en-US" altLang="zh-CN" smtClean="0">
                <a:ea typeface="黑体" pitchFamily="49" charset="-122"/>
              </a:rPr>
              <a:pPr/>
              <a:t>18</a:t>
            </a:fld>
            <a:endParaRPr lang="en-US" altLang="zh-CN">
              <a:ea typeface="黑体" pitchFamily="49" charset="-122"/>
            </a:endParaRPr>
          </a:p>
        </p:txBody>
      </p:sp>
      <p:cxnSp>
        <p:nvCxnSpPr>
          <p:cNvPr id="14340" name="直接箭头连接符 6"/>
          <p:cNvCxnSpPr>
            <a:cxnSpLocks noChangeShapeType="1"/>
          </p:cNvCxnSpPr>
          <p:nvPr/>
        </p:nvCxnSpPr>
        <p:spPr bwMode="auto">
          <a:xfrm flipV="1">
            <a:off x="941388" y="5777014"/>
            <a:ext cx="6513512" cy="25400"/>
          </a:xfrm>
          <a:prstGeom prst="straightConnector1">
            <a:avLst/>
          </a:prstGeom>
          <a:noFill/>
          <a:ln w="38100" algn="ctr">
            <a:solidFill>
              <a:schemeClr val="tx1"/>
            </a:solidFill>
            <a:round/>
            <a:headEnd/>
            <a:tailEnd type="arrow" w="med" len="med"/>
          </a:ln>
        </p:spPr>
      </p:cxnSp>
      <p:cxnSp>
        <p:nvCxnSpPr>
          <p:cNvPr id="14341" name="直接箭头连接符 7"/>
          <p:cNvCxnSpPr>
            <a:cxnSpLocks noChangeShapeType="1"/>
          </p:cNvCxnSpPr>
          <p:nvPr/>
        </p:nvCxnSpPr>
        <p:spPr bwMode="auto">
          <a:xfrm flipV="1">
            <a:off x="1241425" y="1319314"/>
            <a:ext cx="60325" cy="4872037"/>
          </a:xfrm>
          <a:prstGeom prst="straightConnector1">
            <a:avLst/>
          </a:prstGeom>
          <a:noFill/>
          <a:ln w="38100" algn="ctr">
            <a:solidFill>
              <a:schemeClr val="tx1"/>
            </a:solidFill>
            <a:round/>
            <a:headEnd/>
            <a:tailEnd type="arrow" w="med" len="med"/>
          </a:ln>
        </p:spPr>
      </p:cxnSp>
      <p:sp>
        <p:nvSpPr>
          <p:cNvPr id="14342" name="椭圆 8"/>
          <p:cNvSpPr>
            <a:spLocks noChangeArrowheads="1"/>
          </p:cNvSpPr>
          <p:nvPr/>
        </p:nvSpPr>
        <p:spPr bwMode="auto">
          <a:xfrm>
            <a:off x="2982913" y="4086326"/>
            <a:ext cx="187325"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14343" name="椭圆 9"/>
          <p:cNvSpPr>
            <a:spLocks noChangeArrowheads="1"/>
          </p:cNvSpPr>
          <p:nvPr/>
        </p:nvSpPr>
        <p:spPr bwMode="auto">
          <a:xfrm>
            <a:off x="1830388" y="3510064"/>
            <a:ext cx="187325"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14344" name="椭圆 10"/>
          <p:cNvSpPr>
            <a:spLocks noChangeArrowheads="1"/>
          </p:cNvSpPr>
          <p:nvPr/>
        </p:nvSpPr>
        <p:spPr bwMode="auto">
          <a:xfrm>
            <a:off x="3082925" y="4749901"/>
            <a:ext cx="187325"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14345" name="椭圆 11"/>
          <p:cNvSpPr>
            <a:spLocks noChangeArrowheads="1"/>
          </p:cNvSpPr>
          <p:nvPr/>
        </p:nvSpPr>
        <p:spPr bwMode="auto">
          <a:xfrm>
            <a:off x="2255838" y="4375251"/>
            <a:ext cx="187325"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14346" name="椭圆 12"/>
          <p:cNvSpPr>
            <a:spLocks noChangeArrowheads="1"/>
          </p:cNvSpPr>
          <p:nvPr/>
        </p:nvSpPr>
        <p:spPr bwMode="auto">
          <a:xfrm>
            <a:off x="3595688" y="3924401"/>
            <a:ext cx="188912"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14347" name="椭圆 13"/>
          <p:cNvSpPr>
            <a:spLocks noChangeArrowheads="1"/>
          </p:cNvSpPr>
          <p:nvPr/>
        </p:nvSpPr>
        <p:spPr bwMode="auto">
          <a:xfrm>
            <a:off x="2493963" y="2984601"/>
            <a:ext cx="187325"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14348" name="椭圆 14"/>
          <p:cNvSpPr>
            <a:spLocks noChangeArrowheads="1"/>
          </p:cNvSpPr>
          <p:nvPr/>
        </p:nvSpPr>
        <p:spPr bwMode="auto">
          <a:xfrm>
            <a:off x="2393950" y="3935514"/>
            <a:ext cx="187325" cy="214312"/>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14349" name="椭圆 15"/>
          <p:cNvSpPr>
            <a:spLocks noChangeArrowheads="1"/>
          </p:cNvSpPr>
          <p:nvPr/>
        </p:nvSpPr>
        <p:spPr bwMode="auto">
          <a:xfrm>
            <a:off x="1743075" y="4249839"/>
            <a:ext cx="187325"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14350" name="椭圆 16"/>
          <p:cNvSpPr>
            <a:spLocks noChangeArrowheads="1"/>
          </p:cNvSpPr>
          <p:nvPr/>
        </p:nvSpPr>
        <p:spPr bwMode="auto">
          <a:xfrm>
            <a:off x="2543175" y="4700689"/>
            <a:ext cx="188913"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14351" name="矩形 17"/>
          <p:cNvSpPr>
            <a:spLocks noChangeArrowheads="1"/>
          </p:cNvSpPr>
          <p:nvPr/>
        </p:nvSpPr>
        <p:spPr bwMode="auto">
          <a:xfrm>
            <a:off x="4271963" y="2695676"/>
            <a:ext cx="138112" cy="163513"/>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14352" name="矩形 18"/>
          <p:cNvSpPr>
            <a:spLocks noChangeArrowheads="1"/>
          </p:cNvSpPr>
          <p:nvPr/>
        </p:nvSpPr>
        <p:spPr bwMode="auto">
          <a:xfrm>
            <a:off x="5124450" y="2144814"/>
            <a:ext cx="138113" cy="163512"/>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14353" name="矩形 19"/>
          <p:cNvSpPr>
            <a:spLocks noChangeArrowheads="1"/>
          </p:cNvSpPr>
          <p:nvPr/>
        </p:nvSpPr>
        <p:spPr bwMode="auto">
          <a:xfrm>
            <a:off x="5513388" y="2908401"/>
            <a:ext cx="136525" cy="163513"/>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14354" name="矩形 20"/>
          <p:cNvSpPr>
            <a:spLocks noChangeArrowheads="1"/>
          </p:cNvSpPr>
          <p:nvPr/>
        </p:nvSpPr>
        <p:spPr bwMode="auto">
          <a:xfrm>
            <a:off x="4848225" y="2621064"/>
            <a:ext cx="138113" cy="161925"/>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14355" name="矩形 21"/>
          <p:cNvSpPr>
            <a:spLocks noChangeArrowheads="1"/>
          </p:cNvSpPr>
          <p:nvPr/>
        </p:nvSpPr>
        <p:spPr bwMode="auto">
          <a:xfrm>
            <a:off x="5349875" y="3584676"/>
            <a:ext cx="138113" cy="163513"/>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14356" name="矩形 22"/>
          <p:cNvSpPr>
            <a:spLocks noChangeArrowheads="1"/>
          </p:cNvSpPr>
          <p:nvPr/>
        </p:nvSpPr>
        <p:spPr bwMode="auto">
          <a:xfrm>
            <a:off x="4760913" y="3084614"/>
            <a:ext cx="138112" cy="161925"/>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14357" name="矩形 23"/>
          <p:cNvSpPr>
            <a:spLocks noChangeArrowheads="1"/>
          </p:cNvSpPr>
          <p:nvPr/>
        </p:nvSpPr>
        <p:spPr bwMode="auto">
          <a:xfrm>
            <a:off x="6200775" y="3335439"/>
            <a:ext cx="138113" cy="161925"/>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14358" name="矩形 24"/>
          <p:cNvSpPr>
            <a:spLocks noChangeArrowheads="1"/>
          </p:cNvSpPr>
          <p:nvPr/>
        </p:nvSpPr>
        <p:spPr bwMode="auto">
          <a:xfrm>
            <a:off x="6000750" y="2444851"/>
            <a:ext cx="138113" cy="163513"/>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cxnSp>
        <p:nvCxnSpPr>
          <p:cNvPr id="26" name="直接连接符 25"/>
          <p:cNvCxnSpPr/>
          <p:nvPr/>
        </p:nvCxnSpPr>
        <p:spPr bwMode="auto">
          <a:xfrm>
            <a:off x="2419350" y="2057501"/>
            <a:ext cx="3494088" cy="2943225"/>
          </a:xfrm>
          <a:prstGeom prst="line">
            <a:avLst/>
          </a:prstGeom>
          <a:solidFill>
            <a:schemeClr val="accent1"/>
          </a:solidFill>
          <a:ln w="38100" cap="flat" cmpd="sng" algn="ctr">
            <a:solidFill>
              <a:schemeClr val="accent5"/>
            </a:solidFill>
            <a:prstDash val="solid"/>
            <a:round/>
            <a:headEnd type="none" w="med" len="med"/>
            <a:tailEnd type="none" w="med" len="med"/>
          </a:ln>
          <a:effectLst/>
        </p:spPr>
      </p:cxnSp>
      <p:sp>
        <p:nvSpPr>
          <p:cNvPr id="14360" name="椭圆 31"/>
          <p:cNvSpPr>
            <a:spLocks noChangeArrowheads="1"/>
          </p:cNvSpPr>
          <p:nvPr/>
        </p:nvSpPr>
        <p:spPr bwMode="auto">
          <a:xfrm>
            <a:off x="2794000" y="3584676"/>
            <a:ext cx="188913" cy="214313"/>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cxnSp>
        <p:nvCxnSpPr>
          <p:cNvPr id="14361" name="直接箭头连接符 34"/>
          <p:cNvCxnSpPr>
            <a:cxnSpLocks noChangeShapeType="1"/>
          </p:cNvCxnSpPr>
          <p:nvPr/>
        </p:nvCxnSpPr>
        <p:spPr bwMode="auto">
          <a:xfrm flipV="1">
            <a:off x="3224213" y="1535214"/>
            <a:ext cx="1116012" cy="1239837"/>
          </a:xfrm>
          <a:prstGeom prst="straightConnector1">
            <a:avLst/>
          </a:prstGeom>
          <a:noFill/>
          <a:ln w="38100" algn="ctr">
            <a:solidFill>
              <a:schemeClr val="tx1"/>
            </a:solidFill>
            <a:round/>
            <a:headEnd/>
            <a:tailEnd type="arrow" w="med" len="med"/>
          </a:ln>
        </p:spPr>
      </p:cxnSp>
      <p:sp>
        <p:nvSpPr>
          <p:cNvPr id="14362" name="矩形 35"/>
          <p:cNvSpPr>
            <a:spLocks noChangeArrowheads="1"/>
          </p:cNvSpPr>
          <p:nvPr/>
        </p:nvSpPr>
        <p:spPr bwMode="auto">
          <a:xfrm>
            <a:off x="4310063" y="1406626"/>
            <a:ext cx="138112" cy="163513"/>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14363" name="TextBox 36"/>
          <p:cNvSpPr txBox="1">
            <a:spLocks noChangeArrowheads="1"/>
          </p:cNvSpPr>
          <p:nvPr/>
        </p:nvSpPr>
        <p:spPr bwMode="auto">
          <a:xfrm>
            <a:off x="3921125" y="916089"/>
            <a:ext cx="635000" cy="461665"/>
          </a:xfrm>
          <a:prstGeom prst="rect">
            <a:avLst/>
          </a:prstGeom>
          <a:noFill/>
          <a:ln w="9525">
            <a:noFill/>
            <a:miter lim="800000"/>
            <a:headEnd/>
            <a:tailEnd/>
          </a:ln>
        </p:spPr>
        <p:txBody>
          <a:bodyPr>
            <a:spAutoFit/>
          </a:bodyPr>
          <a:lstStyle/>
          <a:p>
            <a:r>
              <a:rPr lang="en-US" altLang="zh-CN" sz="2400" b="1"/>
              <a:t>A</a:t>
            </a:r>
            <a:endParaRPr lang="zh-CN" altLang="en-US" sz="2400" b="1"/>
          </a:p>
        </p:txBody>
      </p:sp>
      <p:sp>
        <p:nvSpPr>
          <p:cNvPr id="14364" name="TextBox 37"/>
          <p:cNvSpPr txBox="1">
            <a:spLocks noChangeArrowheads="1"/>
          </p:cNvSpPr>
          <p:nvPr/>
        </p:nvSpPr>
        <p:spPr bwMode="auto">
          <a:xfrm>
            <a:off x="2789238" y="2573439"/>
            <a:ext cx="636587" cy="461665"/>
          </a:xfrm>
          <a:prstGeom prst="rect">
            <a:avLst/>
          </a:prstGeom>
          <a:noFill/>
          <a:ln w="9525">
            <a:noFill/>
            <a:miter lim="800000"/>
            <a:headEnd/>
            <a:tailEnd/>
          </a:ln>
        </p:spPr>
        <p:txBody>
          <a:bodyPr>
            <a:spAutoFit/>
          </a:bodyPr>
          <a:lstStyle/>
          <a:p>
            <a:r>
              <a:rPr lang="en-US" altLang="zh-CN" sz="2400" b="1" dirty="0"/>
              <a:t>B</a:t>
            </a:r>
            <a:endParaRPr lang="zh-CN" altLang="en-US" sz="2400" b="1" dirty="0"/>
          </a:p>
        </p:txBody>
      </p:sp>
      <p:graphicFrame>
        <p:nvGraphicFramePr>
          <p:cNvPr id="14338" name="Object 2" descr="羊皮纸"/>
          <p:cNvGraphicFramePr>
            <a:graphicFrameLocks noChangeAspect="1"/>
          </p:cNvGraphicFramePr>
          <p:nvPr>
            <p:extLst>
              <p:ext uri="{D42A27DB-BD31-4B8C-83A1-F6EECF244321}">
                <p14:modId xmlns:p14="http://schemas.microsoft.com/office/powerpoint/2010/main" val="3919016147"/>
              </p:ext>
            </p:extLst>
          </p:nvPr>
        </p:nvGraphicFramePr>
        <p:xfrm>
          <a:off x="3379788" y="1595539"/>
          <a:ext cx="352425" cy="528637"/>
        </p:xfrm>
        <a:graphic>
          <a:graphicData uri="http://schemas.openxmlformats.org/presentationml/2006/ole">
            <mc:AlternateContent xmlns:mc="http://schemas.openxmlformats.org/markup-compatibility/2006">
              <mc:Choice xmlns:v="urn:schemas-microsoft-com:vml" Requires="v">
                <p:oleObj name="公式" r:id="rId3" imgW="152280" imgH="228600" progId="Equation.3">
                  <p:embed/>
                </p:oleObj>
              </mc:Choice>
              <mc:Fallback>
                <p:oleObj name="公式" r:id="rId3" imgW="152280" imgH="2286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79788" y="1595539"/>
                        <a:ext cx="352425" cy="5286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dirty="0"/>
              <a:t>函数间隔与几何间隔的关系</a:t>
            </a:r>
          </a:p>
        </p:txBody>
      </p:sp>
      <p:sp>
        <p:nvSpPr>
          <p:cNvPr id="15364" name="灯片编号占位符 3"/>
          <p:cNvSpPr>
            <a:spLocks noGrp="1"/>
          </p:cNvSpPr>
          <p:nvPr>
            <p:ph type="sldNum" sz="quarter" idx="12"/>
          </p:nvPr>
        </p:nvSpPr>
        <p:spPr>
          <a:noFill/>
        </p:spPr>
        <p:txBody>
          <a:bodyPr/>
          <a:lstStyle/>
          <a:p>
            <a:fld id="{465E2F5D-FDCD-4ACA-AB9D-64112507006C}" type="slidenum">
              <a:rPr lang="en-US" altLang="zh-CN" smtClean="0">
                <a:ea typeface="黑体" pitchFamily="49" charset="-122"/>
              </a:rPr>
              <a:pPr/>
              <a:t>19</a:t>
            </a:fld>
            <a:endParaRPr lang="en-US" altLang="zh-CN">
              <a:ea typeface="黑体" pitchFamily="49" charset="-122"/>
            </a:endParaRPr>
          </a:p>
        </p:txBody>
      </p:sp>
      <p:graphicFrame>
        <p:nvGraphicFramePr>
          <p:cNvPr id="15362" name="Object 2" descr="羊皮纸"/>
          <p:cNvGraphicFramePr>
            <a:graphicFrameLocks noChangeAspect="1"/>
          </p:cNvGraphicFramePr>
          <p:nvPr/>
        </p:nvGraphicFramePr>
        <p:xfrm>
          <a:off x="2148547" y="1888288"/>
          <a:ext cx="1371600" cy="3471862"/>
        </p:xfrm>
        <a:graphic>
          <a:graphicData uri="http://schemas.openxmlformats.org/presentationml/2006/ole">
            <mc:AlternateContent xmlns:mc="http://schemas.openxmlformats.org/markup-compatibility/2006">
              <mc:Choice xmlns:v="urn:schemas-microsoft-com:vml" Requires="v">
                <p:oleObj name="公式" r:id="rId3" imgW="520560" imgH="1320480" progId="Equation.3">
                  <p:embed/>
                </p:oleObj>
              </mc:Choice>
              <mc:Fallback>
                <p:oleObj name="公式" r:id="rId3" imgW="520560" imgH="132048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48547" y="1888288"/>
                        <a:ext cx="1371600" cy="34718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dirty="0"/>
              <a:t>间隔最大化</a:t>
            </a:r>
          </a:p>
        </p:txBody>
      </p:sp>
      <p:sp>
        <p:nvSpPr>
          <p:cNvPr id="16388" name="灯片编号占位符 3"/>
          <p:cNvSpPr>
            <a:spLocks noGrp="1"/>
          </p:cNvSpPr>
          <p:nvPr>
            <p:ph type="sldNum" sz="quarter" idx="12"/>
          </p:nvPr>
        </p:nvSpPr>
        <p:spPr>
          <a:noFill/>
        </p:spPr>
        <p:txBody>
          <a:bodyPr/>
          <a:lstStyle/>
          <a:p>
            <a:fld id="{B1B32D19-DC3B-47F4-8AA4-ADC6E3913345}" type="slidenum">
              <a:rPr lang="en-US" altLang="zh-CN" smtClean="0">
                <a:ea typeface="黑体" pitchFamily="49" charset="-122"/>
              </a:rPr>
              <a:pPr/>
              <a:t>20</a:t>
            </a:fld>
            <a:endParaRPr lang="en-US" altLang="zh-CN">
              <a:ea typeface="黑体" pitchFamily="49" charset="-122"/>
            </a:endParaRPr>
          </a:p>
        </p:txBody>
      </p:sp>
      <p:graphicFrame>
        <p:nvGraphicFramePr>
          <p:cNvPr id="16386" name="Object 2" descr="羊皮纸"/>
          <p:cNvGraphicFramePr>
            <a:graphicFrameLocks noChangeAspect="1"/>
          </p:cNvGraphicFramePr>
          <p:nvPr/>
        </p:nvGraphicFramePr>
        <p:xfrm>
          <a:off x="1884363" y="1578895"/>
          <a:ext cx="5608637" cy="4606925"/>
        </p:xfrm>
        <a:graphic>
          <a:graphicData uri="http://schemas.openxmlformats.org/presentationml/2006/ole">
            <mc:AlternateContent xmlns:mc="http://schemas.openxmlformats.org/markup-compatibility/2006">
              <mc:Choice xmlns:v="urn:schemas-microsoft-com:vml" Requires="v">
                <p:oleObj name="公式" r:id="rId3" imgW="2425680" imgH="1993680" progId="Equation.3">
                  <p:embed/>
                </p:oleObj>
              </mc:Choice>
              <mc:Fallback>
                <p:oleObj name="公式" r:id="rId3" imgW="2425680" imgH="199368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84363" y="1578895"/>
                        <a:ext cx="5608637" cy="4606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4" name="内容占位符 2"/>
          <p:cNvSpPr>
            <a:spLocks noGrp="1"/>
          </p:cNvSpPr>
          <p:nvPr>
            <p:ph idx="1"/>
          </p:nvPr>
        </p:nvSpPr>
        <p:spPr>
          <a:xfrm>
            <a:off x="685800" y="831256"/>
            <a:ext cx="8148638" cy="5827712"/>
          </a:xfrm>
        </p:spPr>
        <p:txBody>
          <a:bodyPr>
            <a:normAutofit/>
          </a:bodyPr>
          <a:lstStyle/>
          <a:p>
            <a:r>
              <a:rPr lang="zh-CN" altLang="en-US" sz="3200" b="1" dirty="0"/>
              <a:t>由于函数间隔是可缩放的，成比例变化不影响最优化问题，所以可取       </a:t>
            </a:r>
            <a:endParaRPr lang="en-US" altLang="zh-CN" sz="3200" b="1" dirty="0"/>
          </a:p>
          <a:p>
            <a:endParaRPr lang="en-US" altLang="zh-CN" sz="3200" b="1" dirty="0"/>
          </a:p>
          <a:p>
            <a:r>
              <a:rPr lang="zh-CN" altLang="en-US" sz="3200" b="1" dirty="0"/>
              <a:t>同时，最大化      与最小化        是等价的，于是问题转化为如下的凸二次规划问题：</a:t>
            </a:r>
            <a:endParaRPr lang="en-US" altLang="zh-CN" sz="3200" b="1" dirty="0"/>
          </a:p>
          <a:p>
            <a:endParaRPr lang="en-US" altLang="zh-CN" sz="3200" b="1" dirty="0"/>
          </a:p>
          <a:p>
            <a:endParaRPr lang="en-US" altLang="zh-CN" sz="3200" b="1" dirty="0"/>
          </a:p>
          <a:p>
            <a:endParaRPr lang="en-US" altLang="zh-CN" sz="3200" b="1" dirty="0"/>
          </a:p>
          <a:p>
            <a:endParaRPr lang="en-US" altLang="zh-CN" sz="3200" b="1" dirty="0"/>
          </a:p>
          <a:p>
            <a:r>
              <a:rPr lang="zh-CN" altLang="en-US" sz="3200" b="1" dirty="0"/>
              <a:t>使上式等式成立的点构成了支持向量。</a:t>
            </a:r>
          </a:p>
        </p:txBody>
      </p:sp>
      <p:sp>
        <p:nvSpPr>
          <p:cNvPr id="17415" name="灯片编号占位符 3"/>
          <p:cNvSpPr>
            <a:spLocks noGrp="1"/>
          </p:cNvSpPr>
          <p:nvPr>
            <p:ph type="sldNum" sz="quarter" idx="12"/>
          </p:nvPr>
        </p:nvSpPr>
        <p:spPr>
          <a:noFill/>
        </p:spPr>
        <p:txBody>
          <a:bodyPr/>
          <a:lstStyle/>
          <a:p>
            <a:fld id="{276706E2-B5B6-4931-8A87-0DC88D995155}" type="slidenum">
              <a:rPr lang="en-US" altLang="zh-CN" smtClean="0">
                <a:ea typeface="黑体" pitchFamily="49" charset="-122"/>
              </a:rPr>
              <a:pPr/>
              <a:t>21</a:t>
            </a:fld>
            <a:endParaRPr lang="en-US" altLang="zh-CN">
              <a:ea typeface="黑体" pitchFamily="49" charset="-122"/>
            </a:endParaRPr>
          </a:p>
        </p:txBody>
      </p:sp>
      <p:graphicFrame>
        <p:nvGraphicFramePr>
          <p:cNvPr id="17410" name="Object 2" descr="羊皮纸"/>
          <p:cNvGraphicFramePr>
            <a:graphicFrameLocks noChangeAspect="1"/>
          </p:cNvGraphicFramePr>
          <p:nvPr>
            <p:extLst>
              <p:ext uri="{D42A27DB-BD31-4B8C-83A1-F6EECF244321}">
                <p14:modId xmlns:p14="http://schemas.microsoft.com/office/powerpoint/2010/main" val="3150165829"/>
              </p:ext>
            </p:extLst>
          </p:nvPr>
        </p:nvGraphicFramePr>
        <p:xfrm>
          <a:off x="6048602" y="1254139"/>
          <a:ext cx="639581" cy="590522"/>
        </p:xfrm>
        <a:graphic>
          <a:graphicData uri="http://schemas.openxmlformats.org/presentationml/2006/ole">
            <mc:AlternateContent xmlns:mc="http://schemas.openxmlformats.org/markup-compatibility/2006">
              <mc:Choice xmlns:v="urn:schemas-microsoft-com:vml" Requires="v">
                <p:oleObj name="公式" r:id="rId3" imgW="330120" imgH="304560" progId="Equation.3">
                  <p:embed/>
                </p:oleObj>
              </mc:Choice>
              <mc:Fallback>
                <p:oleObj name="公式" r:id="rId3" imgW="330120" imgH="30456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48602" y="1254139"/>
                        <a:ext cx="639581" cy="590522"/>
                      </a:xfrm>
                      <a:prstGeom prst="rect">
                        <a:avLst/>
                      </a:prstGeom>
                      <a:noFill/>
                    </p:spPr>
                  </p:pic>
                </p:oleObj>
              </mc:Fallback>
            </mc:AlternateContent>
          </a:graphicData>
        </a:graphic>
      </p:graphicFrame>
      <p:graphicFrame>
        <p:nvGraphicFramePr>
          <p:cNvPr id="17411" name="Object 2" descr="羊皮纸"/>
          <p:cNvGraphicFramePr>
            <a:graphicFrameLocks noChangeAspect="1"/>
          </p:cNvGraphicFramePr>
          <p:nvPr>
            <p:extLst>
              <p:ext uri="{D42A27DB-BD31-4B8C-83A1-F6EECF244321}">
                <p14:modId xmlns:p14="http://schemas.microsoft.com/office/powerpoint/2010/main" val="1288545362"/>
              </p:ext>
            </p:extLst>
          </p:nvPr>
        </p:nvGraphicFramePr>
        <p:xfrm>
          <a:off x="3635375" y="2380664"/>
          <a:ext cx="455613" cy="641350"/>
        </p:xfrm>
        <a:graphic>
          <a:graphicData uri="http://schemas.openxmlformats.org/presentationml/2006/ole">
            <mc:AlternateContent xmlns:mc="http://schemas.openxmlformats.org/markup-compatibility/2006">
              <mc:Choice xmlns:v="urn:schemas-microsoft-com:vml" Requires="v">
                <p:oleObj name="公式" r:id="rId5" imgW="190440" imgH="266400" progId="Equation.3">
                  <p:embed/>
                </p:oleObj>
              </mc:Choice>
              <mc:Fallback>
                <p:oleObj name="公式" r:id="rId5" imgW="190440" imgH="266400" progId="Equation.3">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35375" y="2380664"/>
                        <a:ext cx="455613" cy="641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412" name="Object 2" descr="羊皮纸"/>
          <p:cNvGraphicFramePr>
            <a:graphicFrameLocks noChangeAspect="1"/>
          </p:cNvGraphicFramePr>
          <p:nvPr>
            <p:extLst>
              <p:ext uri="{D42A27DB-BD31-4B8C-83A1-F6EECF244321}">
                <p14:modId xmlns:p14="http://schemas.microsoft.com/office/powerpoint/2010/main" val="2550558261"/>
              </p:ext>
            </p:extLst>
          </p:nvPr>
        </p:nvGraphicFramePr>
        <p:xfrm>
          <a:off x="5750830" y="2465617"/>
          <a:ext cx="779463" cy="573088"/>
        </p:xfrm>
        <a:graphic>
          <a:graphicData uri="http://schemas.openxmlformats.org/presentationml/2006/ole">
            <mc:AlternateContent xmlns:mc="http://schemas.openxmlformats.org/markup-compatibility/2006">
              <mc:Choice xmlns:v="urn:schemas-microsoft-com:vml" Requires="v">
                <p:oleObj name="公式" r:id="rId7" imgW="380880" imgH="279360" progId="Equation.3">
                  <p:embed/>
                </p:oleObj>
              </mc:Choice>
              <mc:Fallback>
                <p:oleObj name="公式" r:id="rId7" imgW="380880" imgH="279360" progId="Equation.3">
                  <p:embed/>
                  <p:pic>
                    <p:nvPicPr>
                      <p:cNvPr id="0"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750830" y="2465617"/>
                        <a:ext cx="779463" cy="5730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4" name="组合 3">
            <a:extLst>
              <a:ext uri="{FF2B5EF4-FFF2-40B4-BE49-F238E27FC236}">
                <a16:creationId xmlns:a16="http://schemas.microsoft.com/office/drawing/2014/main" id="{F849ECEE-6FD7-DA37-49C0-AF88692939FF}"/>
              </a:ext>
            </a:extLst>
          </p:cNvPr>
          <p:cNvGrpSpPr/>
          <p:nvPr/>
        </p:nvGrpSpPr>
        <p:grpSpPr>
          <a:xfrm>
            <a:off x="1327113" y="3745112"/>
            <a:ext cx="6443431" cy="1626586"/>
            <a:chOff x="1327113" y="3745112"/>
            <a:chExt cx="6443431" cy="1626586"/>
          </a:xfrm>
        </p:grpSpPr>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E4A7A74F-9A30-2B4D-36D4-F012000A109A}"/>
                    </a:ext>
                  </a:extLst>
                </p:cNvPr>
                <p:cNvSpPr txBox="1"/>
                <p:nvPr/>
              </p:nvSpPr>
              <p:spPr>
                <a:xfrm>
                  <a:off x="1327113" y="3745112"/>
                  <a:ext cx="1818383" cy="8191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kumimoji="1" lang="en-US" altLang="zh-CN" sz="2800" i="1" smtClean="0">
                                <a:latin typeface="Cambria Math" panose="02040503050406030204" pitchFamily="18" charset="0"/>
                              </a:rPr>
                            </m:ctrlPr>
                          </m:funcPr>
                          <m:fName>
                            <m:limLow>
                              <m:limLowPr>
                                <m:ctrlPr>
                                  <a:rPr kumimoji="1" lang="en-US" altLang="zh-CN" sz="2800" i="1" smtClean="0">
                                    <a:latin typeface="Cambria Math" panose="02040503050406030204" pitchFamily="18" charset="0"/>
                                  </a:rPr>
                                </m:ctrlPr>
                              </m:limLowPr>
                              <m:e>
                                <m:r>
                                  <m:rPr>
                                    <m:sty m:val="p"/>
                                  </m:rPr>
                                  <a:rPr kumimoji="1" lang="en-US" altLang="zh-CN" sz="2800" i="0" smtClean="0">
                                    <a:latin typeface="Cambria Math" panose="02040503050406030204" pitchFamily="18" charset="0"/>
                                  </a:rPr>
                                  <m:t>min</m:t>
                                </m:r>
                              </m:e>
                              <m:lim>
                                <m:r>
                                  <m:rPr>
                                    <m:sty m:val="p"/>
                                  </m:rPr>
                                  <a:rPr kumimoji="1" lang="en-US" altLang="zh-CN" sz="2800" i="1">
                                    <a:latin typeface="Cambria Math" panose="02040503050406030204" pitchFamily="18" charset="0"/>
                                  </a:rPr>
                                  <m:t>w</m:t>
                                </m:r>
                                <m:r>
                                  <a:rPr kumimoji="1" lang="en-US" altLang="zh-CN" sz="2800" b="0" i="1" smtClean="0">
                                    <a:latin typeface="Cambria Math" panose="02040503050406030204" pitchFamily="18" charset="0"/>
                                  </a:rPr>
                                  <m:t>,</m:t>
                                </m:r>
                                <m:r>
                                  <a:rPr kumimoji="1" lang="zh-CN" altLang="en-US" sz="2800" b="0" i="1" smtClean="0">
                                    <a:latin typeface="Cambria Math" panose="02040503050406030204" pitchFamily="18" charset="0"/>
                                  </a:rPr>
                                  <m:t> </m:t>
                                </m:r>
                                <m:r>
                                  <a:rPr kumimoji="1" lang="en-US" altLang="zh-CN" sz="2800" b="0" i="1" smtClean="0">
                                    <a:latin typeface="Cambria Math" panose="02040503050406030204" pitchFamily="18" charset="0"/>
                                  </a:rPr>
                                  <m:t>𝑏</m:t>
                                </m:r>
                              </m:lim>
                            </m:limLow>
                          </m:fName>
                          <m:e>
                            <m:f>
                              <m:fPr>
                                <m:ctrlPr>
                                  <a:rPr kumimoji="1" lang="en-US" altLang="zh-CN" sz="2800" i="1" smtClean="0">
                                    <a:latin typeface="Cambria Math" panose="02040503050406030204" pitchFamily="18" charset="0"/>
                                  </a:rPr>
                                </m:ctrlPr>
                              </m:fPr>
                              <m:num>
                                <m:r>
                                  <a:rPr kumimoji="1" lang="en-US" altLang="zh-CN" sz="2800" b="0" i="1" smtClean="0">
                                    <a:latin typeface="Cambria Math" panose="02040503050406030204" pitchFamily="18" charset="0"/>
                                  </a:rPr>
                                  <m:t>1</m:t>
                                </m:r>
                              </m:num>
                              <m:den>
                                <m:r>
                                  <a:rPr kumimoji="1" lang="en-US" altLang="zh-CN" sz="2800" b="0" i="1" smtClean="0">
                                    <a:latin typeface="Cambria Math" panose="02040503050406030204" pitchFamily="18" charset="0"/>
                                  </a:rPr>
                                  <m:t>2</m:t>
                                </m:r>
                              </m:den>
                            </m:f>
                            <m:sSup>
                              <m:sSupPr>
                                <m:ctrlPr>
                                  <a:rPr kumimoji="1" lang="en-US" altLang="zh-CN" sz="2800" i="1" smtClean="0">
                                    <a:latin typeface="Cambria Math" panose="02040503050406030204" pitchFamily="18" charset="0"/>
                                  </a:rPr>
                                </m:ctrlPr>
                              </m:sSupPr>
                              <m:e>
                                <m:d>
                                  <m:dPr>
                                    <m:begChr m:val="‖"/>
                                    <m:endChr m:val="‖"/>
                                    <m:ctrlPr>
                                      <a:rPr kumimoji="1" lang="en-US" altLang="zh-CN" sz="2800" i="1">
                                        <a:latin typeface="Cambria Math" panose="02040503050406030204" pitchFamily="18" charset="0"/>
                                      </a:rPr>
                                    </m:ctrlPr>
                                  </m:dPr>
                                  <m:e>
                                    <m:r>
                                      <a:rPr kumimoji="1" lang="en-US" altLang="zh-CN" sz="2800" i="1">
                                        <a:latin typeface="Cambria Math" panose="02040503050406030204" pitchFamily="18" charset="0"/>
                                      </a:rPr>
                                      <m:t>𝑤</m:t>
                                    </m:r>
                                  </m:e>
                                </m:d>
                              </m:e>
                              <m:sup>
                                <m:r>
                                  <a:rPr kumimoji="1" lang="en-US" altLang="zh-CN" sz="2800" b="0" i="1" smtClean="0">
                                    <a:latin typeface="Cambria Math" panose="02040503050406030204" pitchFamily="18" charset="0"/>
                                  </a:rPr>
                                  <m:t>2</m:t>
                                </m:r>
                              </m:sup>
                            </m:sSup>
                          </m:e>
                        </m:func>
                      </m:oMath>
                    </m:oMathPara>
                  </a14:m>
                  <a:endParaRPr kumimoji="1" lang="zh-CN" altLang="en-US" sz="2800" dirty="0"/>
                </a:p>
              </p:txBody>
            </p:sp>
          </mc:Choice>
          <mc:Fallback xmlns="">
            <p:sp>
              <p:nvSpPr>
                <p:cNvPr id="2" name="文本框 1">
                  <a:extLst>
                    <a:ext uri="{FF2B5EF4-FFF2-40B4-BE49-F238E27FC236}">
                      <a16:creationId xmlns:a16="http://schemas.microsoft.com/office/drawing/2014/main" id="{E4A7A74F-9A30-2B4D-36D4-F012000A109A}"/>
                    </a:ext>
                  </a:extLst>
                </p:cNvPr>
                <p:cNvSpPr txBox="1">
                  <a:spLocks noRot="1" noChangeAspect="1" noMove="1" noResize="1" noEditPoints="1" noAdjustHandles="1" noChangeArrowheads="1" noChangeShapeType="1" noTextEdit="1"/>
                </p:cNvSpPr>
                <p:nvPr/>
              </p:nvSpPr>
              <p:spPr>
                <a:xfrm>
                  <a:off x="1327113" y="3745112"/>
                  <a:ext cx="1818383" cy="819199"/>
                </a:xfrm>
                <a:prstGeom prst="rect">
                  <a:avLst/>
                </a:prstGeom>
                <a:blipFill>
                  <a:blip r:embed="rId9"/>
                  <a:stretch>
                    <a:fillRect l="-4167" t="-1515" r="-1389" b="-1212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07840250-FB34-D77F-CF93-EE25CA94BC82}"/>
                    </a:ext>
                  </a:extLst>
                </p:cNvPr>
                <p:cNvSpPr txBox="1"/>
                <p:nvPr/>
              </p:nvSpPr>
              <p:spPr>
                <a:xfrm>
                  <a:off x="1327113" y="4940811"/>
                  <a:ext cx="6443431"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zh-CN" sz="2800" i="1" smtClean="0">
                            <a:latin typeface="Cambria Math" panose="02040503050406030204" pitchFamily="18" charset="0"/>
                          </a:rPr>
                          <m:t>𝑠</m:t>
                        </m:r>
                        <m:r>
                          <a:rPr kumimoji="1" lang="en-US" altLang="zh-CN" sz="2800" b="0" i="1" smtClean="0">
                            <a:latin typeface="Cambria Math" panose="02040503050406030204" pitchFamily="18" charset="0"/>
                          </a:rPr>
                          <m:t>.</m:t>
                        </m:r>
                        <m:r>
                          <a:rPr kumimoji="1" lang="en-US" altLang="zh-CN" sz="2800" b="0" i="1" smtClean="0">
                            <a:latin typeface="Cambria Math" panose="02040503050406030204" pitchFamily="18" charset="0"/>
                          </a:rPr>
                          <m:t>𝑡</m:t>
                        </m:r>
                        <m:r>
                          <a:rPr kumimoji="1" lang="en-US" altLang="zh-CN" sz="2800" b="0" i="1" smtClean="0">
                            <a:latin typeface="Cambria Math" panose="02040503050406030204" pitchFamily="18" charset="0"/>
                          </a:rPr>
                          <m:t>.</m:t>
                        </m:r>
                        <m:r>
                          <a:rPr kumimoji="1" lang="zh-CN" altLang="en-US" sz="2800" b="0" i="1" smtClean="0">
                            <a:latin typeface="Cambria Math" panose="02040503050406030204" pitchFamily="18" charset="0"/>
                          </a:rPr>
                          <m:t>     </m:t>
                        </m:r>
                        <m:sSub>
                          <m:sSubPr>
                            <m:ctrlPr>
                              <a:rPr kumimoji="1" lang="en-US" altLang="zh-CN" sz="2800" b="0" i="1" smtClean="0">
                                <a:latin typeface="Cambria Math" panose="02040503050406030204" pitchFamily="18" charset="0"/>
                              </a:rPr>
                            </m:ctrlPr>
                          </m:sSubPr>
                          <m:e>
                            <m:r>
                              <a:rPr kumimoji="1" lang="en-US" altLang="zh-CN" sz="2800" b="0" i="1" smtClean="0">
                                <a:latin typeface="Cambria Math" panose="02040503050406030204" pitchFamily="18" charset="0"/>
                              </a:rPr>
                              <m:t>𝑦</m:t>
                            </m:r>
                          </m:e>
                          <m:sub>
                            <m:r>
                              <a:rPr kumimoji="1" lang="en-US" altLang="zh-CN" sz="2800" b="0" i="1" smtClean="0">
                                <a:latin typeface="Cambria Math" panose="02040503050406030204" pitchFamily="18" charset="0"/>
                              </a:rPr>
                              <m:t>𝑖</m:t>
                            </m:r>
                          </m:sub>
                        </m:sSub>
                        <m:d>
                          <m:dPr>
                            <m:ctrlPr>
                              <a:rPr kumimoji="1" lang="en-US" altLang="zh-CN" sz="2800" b="0" i="1" smtClean="0">
                                <a:latin typeface="Cambria Math" panose="02040503050406030204" pitchFamily="18" charset="0"/>
                              </a:rPr>
                            </m:ctrlPr>
                          </m:dPr>
                          <m:e>
                            <m:r>
                              <a:rPr kumimoji="1" lang="en-US" altLang="zh-CN" sz="2800" b="0" i="1" smtClean="0">
                                <a:latin typeface="Cambria Math" panose="02040503050406030204" pitchFamily="18" charset="0"/>
                              </a:rPr>
                              <m:t>𝑤</m:t>
                            </m:r>
                            <m:sSub>
                              <m:sSubPr>
                                <m:ctrlPr>
                                  <a:rPr kumimoji="1" lang="en-US" altLang="zh-CN" sz="2800" i="1">
                                    <a:latin typeface="Cambria Math" panose="02040503050406030204" pitchFamily="18" charset="0"/>
                                  </a:rPr>
                                </m:ctrlPr>
                              </m:sSubPr>
                              <m:e>
                                <m:r>
                                  <a:rPr kumimoji="1" lang="en-US" altLang="zh-CN" sz="2800" i="1" smtClean="0">
                                    <a:latin typeface="Cambria Math" panose="02040503050406030204" pitchFamily="18" charset="0"/>
                                    <a:ea typeface="Cambria Math" panose="02040503050406030204" pitchFamily="18" charset="0"/>
                                  </a:rPr>
                                  <m:t>∙</m:t>
                                </m:r>
                                <m:r>
                                  <a:rPr kumimoji="1" lang="en-US" altLang="zh-CN" sz="2800" b="0" i="1" smtClean="0">
                                    <a:latin typeface="Cambria Math" panose="02040503050406030204" pitchFamily="18" charset="0"/>
                                    <a:ea typeface="Cambria Math" panose="02040503050406030204" pitchFamily="18" charset="0"/>
                                  </a:rPr>
                                  <m:t>𝑥</m:t>
                                </m:r>
                              </m:e>
                              <m:sub>
                                <m:r>
                                  <a:rPr kumimoji="1" lang="en-US" altLang="zh-CN" sz="2800" i="1">
                                    <a:latin typeface="Cambria Math" panose="02040503050406030204" pitchFamily="18" charset="0"/>
                                  </a:rPr>
                                  <m:t>𝑖</m:t>
                                </m:r>
                              </m:sub>
                            </m:sSub>
                            <m:r>
                              <a:rPr kumimoji="1" lang="en-US" altLang="zh-CN" sz="2800" b="0" i="1" smtClean="0">
                                <a:latin typeface="Cambria Math" panose="02040503050406030204" pitchFamily="18" charset="0"/>
                              </a:rPr>
                              <m:t>+</m:t>
                            </m:r>
                            <m:r>
                              <a:rPr kumimoji="1" lang="en-US" altLang="zh-CN" sz="2800" b="0" i="1" smtClean="0">
                                <a:latin typeface="Cambria Math" panose="02040503050406030204" pitchFamily="18" charset="0"/>
                              </a:rPr>
                              <m:t>𝑏</m:t>
                            </m:r>
                          </m:e>
                        </m:d>
                        <m:r>
                          <a:rPr kumimoji="1" lang="en-US" altLang="zh-CN" sz="2800" b="0" i="1" smtClean="0">
                            <a:latin typeface="Cambria Math" panose="02040503050406030204" pitchFamily="18" charset="0"/>
                            <a:ea typeface="Cambria Math" panose="02040503050406030204" pitchFamily="18" charset="0"/>
                          </a:rPr>
                          <m:t>≥1,</m:t>
                        </m:r>
                        <m:r>
                          <a:rPr kumimoji="1" lang="zh-CN" altLang="en-US" sz="2800" b="0" i="1" smtClean="0">
                            <a:latin typeface="Cambria Math" panose="02040503050406030204" pitchFamily="18" charset="0"/>
                            <a:ea typeface="Cambria Math" panose="02040503050406030204" pitchFamily="18" charset="0"/>
                          </a:rPr>
                          <m:t>   </m:t>
                        </m:r>
                        <m:r>
                          <a:rPr kumimoji="1" lang="en-US" altLang="zh-CN" sz="2800" b="0" i="1" smtClean="0">
                            <a:latin typeface="Cambria Math" panose="02040503050406030204" pitchFamily="18" charset="0"/>
                            <a:ea typeface="Cambria Math" panose="02040503050406030204" pitchFamily="18" charset="0"/>
                          </a:rPr>
                          <m:t>𝑖</m:t>
                        </m:r>
                        <m:r>
                          <a:rPr kumimoji="1" lang="en-US" altLang="zh-CN" sz="2800" b="0" i="1" smtClean="0">
                            <a:latin typeface="Cambria Math" panose="02040503050406030204" pitchFamily="18" charset="0"/>
                            <a:ea typeface="Cambria Math" panose="02040503050406030204" pitchFamily="18" charset="0"/>
                          </a:rPr>
                          <m:t>=1,2,…,</m:t>
                        </m:r>
                        <m:r>
                          <a:rPr kumimoji="1" lang="en-US" altLang="zh-CN" sz="2800" b="0" i="1" smtClean="0">
                            <a:latin typeface="Cambria Math" panose="02040503050406030204" pitchFamily="18" charset="0"/>
                            <a:ea typeface="Cambria Math" panose="02040503050406030204" pitchFamily="18" charset="0"/>
                          </a:rPr>
                          <m:t>𝑁</m:t>
                        </m:r>
                      </m:oMath>
                    </m:oMathPara>
                  </a14:m>
                  <a:endParaRPr kumimoji="1" lang="zh-CN" altLang="en-US" sz="2800" dirty="0"/>
                </a:p>
              </p:txBody>
            </p:sp>
          </mc:Choice>
          <mc:Fallback xmlns="">
            <p:sp>
              <p:nvSpPr>
                <p:cNvPr id="3" name="文本框 2">
                  <a:extLst>
                    <a:ext uri="{FF2B5EF4-FFF2-40B4-BE49-F238E27FC236}">
                      <a16:creationId xmlns:a16="http://schemas.microsoft.com/office/drawing/2014/main" id="{07840250-FB34-D77F-CF93-EE25CA94BC82}"/>
                    </a:ext>
                  </a:extLst>
                </p:cNvPr>
                <p:cNvSpPr txBox="1">
                  <a:spLocks noRot="1" noChangeAspect="1" noMove="1" noResize="1" noEditPoints="1" noAdjustHandles="1" noChangeArrowheads="1" noChangeShapeType="1" noTextEdit="1"/>
                </p:cNvSpPr>
                <p:nvPr/>
              </p:nvSpPr>
              <p:spPr>
                <a:xfrm>
                  <a:off x="1327113" y="4940811"/>
                  <a:ext cx="6443431" cy="430887"/>
                </a:xfrm>
                <a:prstGeom prst="rect">
                  <a:avLst/>
                </a:prstGeom>
                <a:blipFill>
                  <a:blip r:embed="rId10"/>
                  <a:stretch>
                    <a:fillRect l="-197" t="-14706" r="-787" b="-35294"/>
                  </a:stretch>
                </a:blipFill>
              </p:spPr>
              <p:txBody>
                <a:bodyPr/>
                <a:lstStyle/>
                <a:p>
                  <a:r>
                    <a:rPr lang="zh-CN" altLang="en-US">
                      <a:noFill/>
                    </a:rPr>
                    <a:t> </a:t>
                  </a:r>
                </a:p>
              </p:txBody>
            </p:sp>
          </mc:Fallback>
        </mc:AlternateContent>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60400" y="571500"/>
            <a:ext cx="7772400" cy="1143000"/>
          </a:xfrm>
        </p:spPr>
        <p:txBody>
          <a:bodyPr/>
          <a:lstStyle/>
          <a:p>
            <a:pPr>
              <a:defRPr/>
            </a:pPr>
            <a:r>
              <a:rPr lang="zh-CN" altLang="en-US" dirty="0"/>
              <a:t>最优分界面</a:t>
            </a:r>
          </a:p>
        </p:txBody>
      </p:sp>
      <p:sp>
        <p:nvSpPr>
          <p:cNvPr id="18439" name="灯片编号占位符 3"/>
          <p:cNvSpPr>
            <a:spLocks noGrp="1"/>
          </p:cNvSpPr>
          <p:nvPr>
            <p:ph type="sldNum" sz="quarter" idx="12"/>
          </p:nvPr>
        </p:nvSpPr>
        <p:spPr>
          <a:noFill/>
        </p:spPr>
        <p:txBody>
          <a:bodyPr/>
          <a:lstStyle/>
          <a:p>
            <a:fld id="{08D01FD5-98A9-4D4F-B86E-B016C4BD6975}" type="slidenum">
              <a:rPr lang="en-US" altLang="zh-CN" smtClean="0">
                <a:ea typeface="黑体" pitchFamily="49" charset="-122"/>
              </a:rPr>
              <a:pPr/>
              <a:t>22</a:t>
            </a:fld>
            <a:endParaRPr lang="en-US" altLang="zh-CN">
              <a:ea typeface="黑体" pitchFamily="49" charset="-122"/>
            </a:endParaRPr>
          </a:p>
        </p:txBody>
      </p:sp>
      <p:sp>
        <p:nvSpPr>
          <p:cNvPr id="18440" name="灯片编号占位符 3"/>
          <p:cNvSpPr txBox="1">
            <a:spLocks/>
          </p:cNvSpPr>
          <p:nvPr/>
        </p:nvSpPr>
        <p:spPr bwMode="auto">
          <a:xfrm>
            <a:off x="6553200" y="6248400"/>
            <a:ext cx="1905000" cy="457200"/>
          </a:xfrm>
          <a:prstGeom prst="rect">
            <a:avLst/>
          </a:prstGeom>
          <a:noFill/>
          <a:ln w="9525">
            <a:noFill/>
            <a:miter lim="800000"/>
            <a:headEnd/>
            <a:tailEnd/>
          </a:ln>
        </p:spPr>
        <p:txBody>
          <a:bodyPr lIns="92075" tIns="46038" rIns="92075" bIns="46038" anchor="ctr"/>
          <a:lstStyle/>
          <a:p>
            <a:pPr algn="r"/>
            <a:fld id="{1B665023-B133-4E6C-B08A-6E5410581D76}" type="slidenum">
              <a:rPr kumimoji="0" lang="en-US" altLang="zh-CN" sz="1400"/>
              <a:pPr algn="r"/>
              <a:t>22</a:t>
            </a:fld>
            <a:endParaRPr kumimoji="0" lang="en-US" altLang="zh-CN" sz="1400"/>
          </a:p>
        </p:txBody>
      </p:sp>
      <p:cxnSp>
        <p:nvCxnSpPr>
          <p:cNvPr id="18441" name="直接箭头连接符 5"/>
          <p:cNvCxnSpPr>
            <a:cxnSpLocks noChangeShapeType="1"/>
          </p:cNvCxnSpPr>
          <p:nvPr/>
        </p:nvCxnSpPr>
        <p:spPr bwMode="auto">
          <a:xfrm flipV="1">
            <a:off x="1541463" y="6137275"/>
            <a:ext cx="6513512" cy="25400"/>
          </a:xfrm>
          <a:prstGeom prst="straightConnector1">
            <a:avLst/>
          </a:prstGeom>
          <a:noFill/>
          <a:ln w="38100" algn="ctr">
            <a:solidFill>
              <a:schemeClr val="tx1"/>
            </a:solidFill>
            <a:round/>
            <a:headEnd/>
            <a:tailEnd type="arrow" w="med" len="med"/>
          </a:ln>
        </p:spPr>
      </p:cxnSp>
      <p:cxnSp>
        <p:nvCxnSpPr>
          <p:cNvPr id="18442" name="直接箭头连接符 6"/>
          <p:cNvCxnSpPr>
            <a:cxnSpLocks noChangeShapeType="1"/>
          </p:cNvCxnSpPr>
          <p:nvPr/>
        </p:nvCxnSpPr>
        <p:spPr bwMode="auto">
          <a:xfrm flipV="1">
            <a:off x="1841500" y="2943225"/>
            <a:ext cx="49213" cy="3608388"/>
          </a:xfrm>
          <a:prstGeom prst="straightConnector1">
            <a:avLst/>
          </a:prstGeom>
          <a:noFill/>
          <a:ln w="38100" algn="ctr">
            <a:solidFill>
              <a:schemeClr val="tx1"/>
            </a:solidFill>
            <a:round/>
            <a:headEnd/>
            <a:tailEnd type="arrow" w="med" len="med"/>
          </a:ln>
        </p:spPr>
      </p:cxnSp>
      <p:sp>
        <p:nvSpPr>
          <p:cNvPr id="18443" name="椭圆 7"/>
          <p:cNvSpPr>
            <a:spLocks noChangeArrowheads="1"/>
          </p:cNvSpPr>
          <p:nvPr/>
        </p:nvSpPr>
        <p:spPr bwMode="auto">
          <a:xfrm>
            <a:off x="3582988" y="4446588"/>
            <a:ext cx="187325"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18444" name="椭圆 8"/>
          <p:cNvSpPr>
            <a:spLocks noChangeArrowheads="1"/>
          </p:cNvSpPr>
          <p:nvPr/>
        </p:nvSpPr>
        <p:spPr bwMode="auto">
          <a:xfrm>
            <a:off x="2430463" y="3870325"/>
            <a:ext cx="187325"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18445" name="椭圆 9"/>
          <p:cNvSpPr>
            <a:spLocks noChangeArrowheads="1"/>
          </p:cNvSpPr>
          <p:nvPr/>
        </p:nvSpPr>
        <p:spPr bwMode="auto">
          <a:xfrm>
            <a:off x="3683000" y="5110163"/>
            <a:ext cx="187325"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18446" name="椭圆 10"/>
          <p:cNvSpPr>
            <a:spLocks noChangeArrowheads="1"/>
          </p:cNvSpPr>
          <p:nvPr/>
        </p:nvSpPr>
        <p:spPr bwMode="auto">
          <a:xfrm>
            <a:off x="2855913" y="4735513"/>
            <a:ext cx="187325"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18447" name="椭圆 11"/>
          <p:cNvSpPr>
            <a:spLocks noChangeArrowheads="1"/>
          </p:cNvSpPr>
          <p:nvPr/>
        </p:nvSpPr>
        <p:spPr bwMode="auto">
          <a:xfrm>
            <a:off x="4195763" y="4284663"/>
            <a:ext cx="188912"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18448" name="椭圆 12"/>
          <p:cNvSpPr>
            <a:spLocks noChangeArrowheads="1"/>
          </p:cNvSpPr>
          <p:nvPr/>
        </p:nvSpPr>
        <p:spPr bwMode="auto">
          <a:xfrm>
            <a:off x="3094038" y="3344863"/>
            <a:ext cx="187325"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18449" name="椭圆 13"/>
          <p:cNvSpPr>
            <a:spLocks noChangeArrowheads="1"/>
          </p:cNvSpPr>
          <p:nvPr/>
        </p:nvSpPr>
        <p:spPr bwMode="auto">
          <a:xfrm>
            <a:off x="2994025" y="4295775"/>
            <a:ext cx="187325" cy="214313"/>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18450" name="椭圆 14"/>
          <p:cNvSpPr>
            <a:spLocks noChangeArrowheads="1"/>
          </p:cNvSpPr>
          <p:nvPr/>
        </p:nvSpPr>
        <p:spPr bwMode="auto">
          <a:xfrm>
            <a:off x="2343150" y="4610100"/>
            <a:ext cx="187325"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18451" name="椭圆 15"/>
          <p:cNvSpPr>
            <a:spLocks noChangeArrowheads="1"/>
          </p:cNvSpPr>
          <p:nvPr/>
        </p:nvSpPr>
        <p:spPr bwMode="auto">
          <a:xfrm>
            <a:off x="3143250" y="5060950"/>
            <a:ext cx="188913"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18452" name="矩形 16"/>
          <p:cNvSpPr>
            <a:spLocks noChangeArrowheads="1"/>
          </p:cNvSpPr>
          <p:nvPr/>
        </p:nvSpPr>
        <p:spPr bwMode="auto">
          <a:xfrm>
            <a:off x="4872038" y="3055938"/>
            <a:ext cx="138112" cy="163512"/>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18453" name="矩形 17"/>
          <p:cNvSpPr>
            <a:spLocks noChangeArrowheads="1"/>
          </p:cNvSpPr>
          <p:nvPr/>
        </p:nvSpPr>
        <p:spPr bwMode="auto">
          <a:xfrm>
            <a:off x="5724525" y="2505075"/>
            <a:ext cx="138113" cy="163513"/>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18454" name="矩形 18"/>
          <p:cNvSpPr>
            <a:spLocks noChangeArrowheads="1"/>
          </p:cNvSpPr>
          <p:nvPr/>
        </p:nvSpPr>
        <p:spPr bwMode="auto">
          <a:xfrm>
            <a:off x="6113463" y="3268663"/>
            <a:ext cx="136525" cy="163512"/>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18455" name="矩形 19"/>
          <p:cNvSpPr>
            <a:spLocks noChangeArrowheads="1"/>
          </p:cNvSpPr>
          <p:nvPr/>
        </p:nvSpPr>
        <p:spPr bwMode="auto">
          <a:xfrm>
            <a:off x="5448300" y="2981325"/>
            <a:ext cx="138113" cy="161925"/>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18456" name="矩形 20"/>
          <p:cNvSpPr>
            <a:spLocks noChangeArrowheads="1"/>
          </p:cNvSpPr>
          <p:nvPr/>
        </p:nvSpPr>
        <p:spPr bwMode="auto">
          <a:xfrm>
            <a:off x="5949950" y="3944938"/>
            <a:ext cx="138113" cy="163512"/>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18457" name="矩形 21"/>
          <p:cNvSpPr>
            <a:spLocks noChangeArrowheads="1"/>
          </p:cNvSpPr>
          <p:nvPr/>
        </p:nvSpPr>
        <p:spPr bwMode="auto">
          <a:xfrm>
            <a:off x="5360988" y="3444875"/>
            <a:ext cx="138112" cy="161925"/>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18458" name="矩形 22"/>
          <p:cNvSpPr>
            <a:spLocks noChangeArrowheads="1"/>
          </p:cNvSpPr>
          <p:nvPr/>
        </p:nvSpPr>
        <p:spPr bwMode="auto">
          <a:xfrm>
            <a:off x="6800850" y="3695700"/>
            <a:ext cx="138113" cy="161925"/>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18459" name="矩形 23"/>
          <p:cNvSpPr>
            <a:spLocks noChangeArrowheads="1"/>
          </p:cNvSpPr>
          <p:nvPr/>
        </p:nvSpPr>
        <p:spPr bwMode="auto">
          <a:xfrm>
            <a:off x="6600825" y="2805113"/>
            <a:ext cx="138113" cy="163512"/>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cxnSp>
        <p:nvCxnSpPr>
          <p:cNvPr id="26" name="直接连接符 25"/>
          <p:cNvCxnSpPr/>
          <p:nvPr/>
        </p:nvCxnSpPr>
        <p:spPr bwMode="auto">
          <a:xfrm>
            <a:off x="3019425" y="2417763"/>
            <a:ext cx="3494088" cy="2943225"/>
          </a:xfrm>
          <a:prstGeom prst="line">
            <a:avLst/>
          </a:prstGeom>
          <a:solidFill>
            <a:schemeClr val="accent1"/>
          </a:solidFill>
          <a:ln w="38100" cap="flat" cmpd="sng" algn="ctr">
            <a:solidFill>
              <a:schemeClr val="accent5"/>
            </a:solidFill>
            <a:prstDash val="solid"/>
            <a:round/>
            <a:headEnd type="none" w="med" len="med"/>
            <a:tailEnd type="none" w="med" len="med"/>
          </a:ln>
          <a:effectLst/>
        </p:spPr>
      </p:cxnSp>
      <p:cxnSp>
        <p:nvCxnSpPr>
          <p:cNvPr id="28" name="直接连接符 27"/>
          <p:cNvCxnSpPr/>
          <p:nvPr/>
        </p:nvCxnSpPr>
        <p:spPr bwMode="auto">
          <a:xfrm>
            <a:off x="3570288" y="1966913"/>
            <a:ext cx="3494087" cy="2943225"/>
          </a:xfrm>
          <a:prstGeom prst="line">
            <a:avLst/>
          </a:prstGeom>
          <a:solidFill>
            <a:schemeClr val="accent1"/>
          </a:solidFill>
          <a:ln w="38100" cap="flat" cmpd="sng" algn="ctr">
            <a:solidFill>
              <a:schemeClr val="accent5"/>
            </a:solidFill>
            <a:prstDash val="dash"/>
            <a:round/>
            <a:headEnd type="none" w="med" len="med"/>
            <a:tailEnd type="none" w="med" len="med"/>
          </a:ln>
          <a:effectLst/>
        </p:spPr>
      </p:cxnSp>
      <p:cxnSp>
        <p:nvCxnSpPr>
          <p:cNvPr id="29" name="直接连接符 28"/>
          <p:cNvCxnSpPr/>
          <p:nvPr/>
        </p:nvCxnSpPr>
        <p:spPr bwMode="auto">
          <a:xfrm>
            <a:off x="2605088" y="2955925"/>
            <a:ext cx="3495675" cy="2943225"/>
          </a:xfrm>
          <a:prstGeom prst="line">
            <a:avLst/>
          </a:prstGeom>
          <a:solidFill>
            <a:schemeClr val="accent1"/>
          </a:solidFill>
          <a:ln w="38100" cap="flat" cmpd="sng" algn="ctr">
            <a:solidFill>
              <a:schemeClr val="accent5"/>
            </a:solidFill>
            <a:prstDash val="dash"/>
            <a:round/>
            <a:headEnd type="none" w="med" len="med"/>
            <a:tailEnd type="none" w="med" len="med"/>
          </a:ln>
          <a:effectLst/>
        </p:spPr>
      </p:cxnSp>
      <p:graphicFrame>
        <p:nvGraphicFramePr>
          <p:cNvPr id="18434" name="Object 2" descr="羊皮纸"/>
          <p:cNvGraphicFramePr>
            <a:graphicFrameLocks noChangeAspect="1"/>
          </p:cNvGraphicFramePr>
          <p:nvPr/>
        </p:nvGraphicFramePr>
        <p:xfrm>
          <a:off x="1485900" y="1822450"/>
          <a:ext cx="1920875" cy="465138"/>
        </p:xfrm>
        <a:graphic>
          <a:graphicData uri="http://schemas.openxmlformats.org/presentationml/2006/ole">
            <mc:AlternateContent xmlns:mc="http://schemas.openxmlformats.org/markup-compatibility/2006">
              <mc:Choice xmlns:v="urn:schemas-microsoft-com:vml" Requires="v">
                <p:oleObj name="公式" r:id="rId3" imgW="736560" imgH="177480" progId="Equation.3">
                  <p:embed/>
                </p:oleObj>
              </mc:Choice>
              <mc:Fallback>
                <p:oleObj name="公式" r:id="rId3" imgW="736560" imgH="17748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85900" y="1822450"/>
                        <a:ext cx="1920875" cy="4651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18463" name="直接箭头连接符 36"/>
          <p:cNvCxnSpPr>
            <a:cxnSpLocks noChangeShapeType="1"/>
          </p:cNvCxnSpPr>
          <p:nvPr/>
        </p:nvCxnSpPr>
        <p:spPr bwMode="auto">
          <a:xfrm flipH="1">
            <a:off x="6149975" y="4897438"/>
            <a:ext cx="827088" cy="1014412"/>
          </a:xfrm>
          <a:prstGeom prst="straightConnector1">
            <a:avLst/>
          </a:prstGeom>
          <a:noFill/>
          <a:ln w="38100" algn="ctr">
            <a:solidFill>
              <a:schemeClr val="tx1"/>
            </a:solidFill>
            <a:round/>
            <a:headEnd type="arrow" w="med" len="med"/>
            <a:tailEnd type="arrow" w="med" len="med"/>
          </a:ln>
        </p:spPr>
      </p:cxnSp>
      <p:graphicFrame>
        <p:nvGraphicFramePr>
          <p:cNvPr id="18435" name="Object 3" descr="蓝色面巾纸"/>
          <p:cNvGraphicFramePr>
            <a:graphicFrameLocks noChangeAspect="1"/>
          </p:cNvGraphicFramePr>
          <p:nvPr/>
        </p:nvGraphicFramePr>
        <p:xfrm>
          <a:off x="7285038" y="5056188"/>
          <a:ext cx="519112" cy="906462"/>
        </p:xfrm>
        <a:graphic>
          <a:graphicData uri="http://schemas.openxmlformats.org/presentationml/2006/ole">
            <mc:AlternateContent xmlns:mc="http://schemas.openxmlformats.org/markup-compatibility/2006">
              <mc:Choice xmlns:v="urn:schemas-microsoft-com:vml" Requires="v">
                <p:oleObj name="公式" r:id="rId5" imgW="253800" imgH="444240" progId="Equation.3">
                  <p:embed/>
                </p:oleObj>
              </mc:Choice>
              <mc:Fallback>
                <p:oleObj name="公式" r:id="rId5" imgW="253800" imgH="44424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85038" y="5056188"/>
                        <a:ext cx="519112" cy="9064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464" name="椭圆 38"/>
          <p:cNvSpPr>
            <a:spLocks noChangeArrowheads="1"/>
          </p:cNvSpPr>
          <p:nvPr/>
        </p:nvSpPr>
        <p:spPr bwMode="auto">
          <a:xfrm>
            <a:off x="3394075" y="3944938"/>
            <a:ext cx="188913" cy="214312"/>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cxnSp>
        <p:nvCxnSpPr>
          <p:cNvPr id="18465" name="直接箭头连接符 30"/>
          <p:cNvCxnSpPr>
            <a:cxnSpLocks noChangeShapeType="1"/>
          </p:cNvCxnSpPr>
          <p:nvPr/>
        </p:nvCxnSpPr>
        <p:spPr bwMode="auto">
          <a:xfrm flipV="1">
            <a:off x="3921125" y="2324100"/>
            <a:ext cx="758825" cy="838200"/>
          </a:xfrm>
          <a:prstGeom prst="straightConnector1">
            <a:avLst/>
          </a:prstGeom>
          <a:noFill/>
          <a:ln w="38100" algn="ctr">
            <a:solidFill>
              <a:schemeClr val="tx1"/>
            </a:solidFill>
            <a:round/>
            <a:headEnd/>
            <a:tailEnd type="arrow" w="med" len="med"/>
          </a:ln>
        </p:spPr>
      </p:cxnSp>
      <p:sp>
        <p:nvSpPr>
          <p:cNvPr id="18466" name="TextBox 31"/>
          <p:cNvSpPr txBox="1">
            <a:spLocks noChangeArrowheads="1"/>
          </p:cNvSpPr>
          <p:nvPr/>
        </p:nvSpPr>
        <p:spPr bwMode="auto">
          <a:xfrm>
            <a:off x="4727575" y="2014538"/>
            <a:ext cx="635000" cy="465137"/>
          </a:xfrm>
          <a:prstGeom prst="rect">
            <a:avLst/>
          </a:prstGeom>
          <a:noFill/>
          <a:ln w="9525">
            <a:noFill/>
            <a:miter lim="800000"/>
            <a:headEnd/>
            <a:tailEnd/>
          </a:ln>
        </p:spPr>
        <p:txBody>
          <a:bodyPr>
            <a:spAutoFit/>
          </a:bodyPr>
          <a:lstStyle/>
          <a:p>
            <a:r>
              <a:rPr lang="en-US" altLang="zh-CN" i="1"/>
              <a:t>w</a:t>
            </a:r>
            <a:endParaRPr lang="zh-CN" altLang="en-US" i="1"/>
          </a:p>
        </p:txBody>
      </p:sp>
      <p:graphicFrame>
        <p:nvGraphicFramePr>
          <p:cNvPr id="18436" name="Object 2" descr="羊皮纸"/>
          <p:cNvGraphicFramePr>
            <a:graphicFrameLocks noChangeAspect="1"/>
          </p:cNvGraphicFramePr>
          <p:nvPr/>
        </p:nvGraphicFramePr>
        <p:xfrm>
          <a:off x="3721100" y="1543050"/>
          <a:ext cx="1854200" cy="465138"/>
        </p:xfrm>
        <a:graphic>
          <a:graphicData uri="http://schemas.openxmlformats.org/presentationml/2006/ole">
            <mc:AlternateContent xmlns:mc="http://schemas.openxmlformats.org/markup-compatibility/2006">
              <mc:Choice xmlns:v="urn:schemas-microsoft-com:vml" Requires="v">
                <p:oleObj name="公式" r:id="rId7" imgW="711000" imgH="177480" progId="Equation.3">
                  <p:embed/>
                </p:oleObj>
              </mc:Choice>
              <mc:Fallback>
                <p:oleObj name="公式" r:id="rId7" imgW="711000" imgH="177480" progId="Equation.3">
                  <p:embed/>
                  <p:pic>
                    <p:nvPicPr>
                      <p:cNvPr id="0"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21100" y="1543050"/>
                        <a:ext cx="1854200" cy="4651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437" name="Object 2" descr="羊皮纸"/>
          <p:cNvGraphicFramePr>
            <a:graphicFrameLocks noChangeAspect="1"/>
          </p:cNvGraphicFramePr>
          <p:nvPr/>
        </p:nvGraphicFramePr>
        <p:xfrm>
          <a:off x="642938" y="2473325"/>
          <a:ext cx="2120900" cy="465138"/>
        </p:xfrm>
        <a:graphic>
          <a:graphicData uri="http://schemas.openxmlformats.org/presentationml/2006/ole">
            <mc:AlternateContent xmlns:mc="http://schemas.openxmlformats.org/markup-compatibility/2006">
              <mc:Choice xmlns:v="urn:schemas-microsoft-com:vml" Requires="v">
                <p:oleObj name="公式" r:id="rId9" imgW="812520" imgH="177480" progId="Equation.3">
                  <p:embed/>
                </p:oleObj>
              </mc:Choice>
              <mc:Fallback>
                <p:oleObj name="公式" r:id="rId9" imgW="812520" imgH="177480" progId="Equation.3">
                  <p:embed/>
                  <p:pic>
                    <p:nvPicPr>
                      <p:cNvPr id="0" name="Picture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42938" y="2473325"/>
                        <a:ext cx="2120900" cy="4651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dirty="0"/>
              <a:t>学习的对偶算法</a:t>
            </a:r>
          </a:p>
        </p:txBody>
      </p:sp>
      <mc:AlternateContent xmlns:mc="http://schemas.openxmlformats.org/markup-compatibility/2006" xmlns:a14="http://schemas.microsoft.com/office/drawing/2010/main">
        <mc:Choice Requires="a14">
          <p:sp>
            <p:nvSpPr>
              <p:cNvPr id="20485" name="内容占位符 2"/>
              <p:cNvSpPr>
                <a:spLocks noGrp="1"/>
              </p:cNvSpPr>
              <p:nvPr>
                <p:ph idx="1"/>
              </p:nvPr>
            </p:nvSpPr>
            <p:spPr>
              <a:xfrm>
                <a:off x="685799" y="1552524"/>
                <a:ext cx="8165123" cy="4848271"/>
              </a:xfrm>
            </p:spPr>
            <p:txBody>
              <a:bodyPr>
                <a:normAutofit/>
              </a:bodyPr>
              <a:lstStyle/>
              <a:p>
                <a:r>
                  <a:rPr lang="zh-CN" altLang="en-US" sz="3200" b="1" dirty="0"/>
                  <a:t>原始问题：</a:t>
                </a:r>
                <a:endParaRPr lang="en-US" altLang="zh-CN" sz="3200" b="1" dirty="0"/>
              </a:p>
              <a:p>
                <a:endParaRPr lang="en-US" altLang="zh-CN" sz="3200" b="1" dirty="0"/>
              </a:p>
              <a:p>
                <a:endParaRPr lang="en-US" altLang="zh-CN" sz="3200" b="1" dirty="0"/>
              </a:p>
              <a:p>
                <a:endParaRPr lang="en-US" altLang="zh-CN" sz="3200" b="1" dirty="0"/>
              </a:p>
              <a:p>
                <a:endParaRPr lang="en-US" altLang="zh-CN" sz="2800" b="1" dirty="0"/>
              </a:p>
              <a:p>
                <a:r>
                  <a:rPr lang="zh-CN" altLang="en-US" sz="3200" b="1" dirty="0"/>
                  <a:t>定义拉格朗日函数</a:t>
                </a:r>
                <a:r>
                  <a:rPr lang="zh-CN" altLang="en-US" dirty="0"/>
                  <a:t>：</a:t>
                </a:r>
                <a:endParaRPr lang="en-US" altLang="zh-CN" dirty="0"/>
              </a:p>
              <a:p>
                <a:endParaRPr lang="en-US" altLang="zh-CN" dirty="0"/>
              </a:p>
              <a:p>
                <a:endParaRPr lang="en-US" altLang="zh-CN" dirty="0"/>
              </a:p>
              <a:p>
                <a:pPr marL="0" indent="0">
                  <a:buNone/>
                </a:pPr>
                <a:r>
                  <a:rPr lang="zh-CN" altLang="en-US" dirty="0"/>
                  <a:t>其中</a:t>
                </a:r>
                <a14:m>
                  <m:oMath xmlns:m="http://schemas.openxmlformats.org/officeDocument/2006/math">
                    <m:sSub>
                      <m:sSubPr>
                        <m:ctrlPr>
                          <a:rPr kumimoji="1" lang="en-US" altLang="zh-CN" sz="2800" i="1">
                            <a:latin typeface="Cambria Math" panose="02040503050406030204" pitchFamily="18" charset="0"/>
                          </a:rPr>
                        </m:ctrlPr>
                      </m:sSubPr>
                      <m:e>
                        <m:r>
                          <a:rPr kumimoji="1" lang="en-US" altLang="zh-CN" sz="2800" i="1">
                            <a:latin typeface="Cambria Math" panose="02040503050406030204" pitchFamily="18" charset="0"/>
                            <a:ea typeface="Cambria Math" panose="02040503050406030204" pitchFamily="18" charset="0"/>
                          </a:rPr>
                          <m:t>𝛼</m:t>
                        </m:r>
                      </m:e>
                      <m:sub>
                        <m:r>
                          <a:rPr kumimoji="1" lang="en-US" altLang="zh-CN" sz="2800" i="1">
                            <a:latin typeface="Cambria Math" panose="02040503050406030204" pitchFamily="18" charset="0"/>
                          </a:rPr>
                          <m:t>𝑖</m:t>
                        </m:r>
                      </m:sub>
                    </m:sSub>
                    <m:r>
                      <a:rPr kumimoji="1" lang="en-US" altLang="zh-CN" sz="2800" i="1" smtClean="0">
                        <a:latin typeface="Cambria Math" panose="02040503050406030204" pitchFamily="18" charset="0"/>
                        <a:ea typeface="Cambria Math" panose="02040503050406030204" pitchFamily="18" charset="0"/>
                      </a:rPr>
                      <m:t>≥</m:t>
                    </m:r>
                    <m:r>
                      <a:rPr kumimoji="1" lang="en-US" altLang="zh-CN" sz="2800" b="0" i="1" smtClean="0">
                        <a:latin typeface="Cambria Math" panose="02040503050406030204" pitchFamily="18" charset="0"/>
                        <a:ea typeface="Cambria Math" panose="02040503050406030204" pitchFamily="18" charset="0"/>
                      </a:rPr>
                      <m:t>0,</m:t>
                    </m:r>
                    <m:r>
                      <a:rPr kumimoji="1" lang="zh-CN" altLang="en-US" sz="2800" b="0" i="1" smtClean="0">
                        <a:latin typeface="Cambria Math" panose="02040503050406030204" pitchFamily="18" charset="0"/>
                        <a:ea typeface="Cambria Math" panose="02040503050406030204" pitchFamily="18" charset="0"/>
                      </a:rPr>
                      <m:t> </m:t>
                    </m:r>
                    <m:r>
                      <a:rPr kumimoji="1" lang="zh-CN" altLang="en-US" sz="2800" b="0" i="1" smtClean="0">
                        <a:latin typeface="Cambria Math" panose="02040503050406030204" pitchFamily="18" charset="0"/>
                        <a:ea typeface="Cambria Math" panose="02040503050406030204" pitchFamily="18" charset="0"/>
                      </a:rPr>
                      <m:t>𝛼</m:t>
                    </m:r>
                    <m:r>
                      <a:rPr kumimoji="1" lang="en-US" altLang="zh-CN" sz="2800" b="0" i="1" smtClean="0">
                        <a:latin typeface="Cambria Math" panose="02040503050406030204" pitchFamily="18" charset="0"/>
                        <a:ea typeface="Cambria Math" panose="02040503050406030204" pitchFamily="18" charset="0"/>
                      </a:rPr>
                      <m:t>=</m:t>
                    </m:r>
                    <m:sSup>
                      <m:sSupPr>
                        <m:ctrlPr>
                          <a:rPr kumimoji="1" lang="en-US" altLang="zh-CN" sz="2800" b="0" i="1" smtClean="0">
                            <a:latin typeface="Cambria Math" panose="02040503050406030204" pitchFamily="18" charset="0"/>
                            <a:ea typeface="Cambria Math" panose="02040503050406030204" pitchFamily="18" charset="0"/>
                          </a:rPr>
                        </m:ctrlPr>
                      </m:sSupPr>
                      <m:e>
                        <m:r>
                          <a:rPr kumimoji="1" lang="en-US" altLang="zh-CN" sz="2800" i="1">
                            <a:latin typeface="Cambria Math" panose="02040503050406030204" pitchFamily="18" charset="0"/>
                            <a:ea typeface="Cambria Math" panose="02040503050406030204" pitchFamily="18" charset="0"/>
                          </a:rPr>
                          <m:t>(</m:t>
                        </m:r>
                        <m:sSub>
                          <m:sSubPr>
                            <m:ctrlPr>
                              <a:rPr kumimoji="1" lang="en-US" altLang="zh-CN" sz="2800" i="1">
                                <a:latin typeface="Cambria Math" panose="02040503050406030204" pitchFamily="18" charset="0"/>
                              </a:rPr>
                            </m:ctrlPr>
                          </m:sSubPr>
                          <m:e>
                            <m:r>
                              <a:rPr kumimoji="1" lang="en-US" altLang="zh-CN" sz="2800" i="1">
                                <a:latin typeface="Cambria Math" panose="02040503050406030204" pitchFamily="18" charset="0"/>
                                <a:ea typeface="Cambria Math" panose="02040503050406030204" pitchFamily="18" charset="0"/>
                              </a:rPr>
                              <m:t>𝛼</m:t>
                            </m:r>
                          </m:e>
                          <m:sub>
                            <m:r>
                              <a:rPr kumimoji="1" lang="en-US" altLang="zh-CN" sz="2800" i="1">
                                <a:latin typeface="Cambria Math" panose="02040503050406030204" pitchFamily="18" charset="0"/>
                                <a:ea typeface="Cambria Math" panose="02040503050406030204" pitchFamily="18" charset="0"/>
                              </a:rPr>
                              <m:t>1</m:t>
                            </m:r>
                          </m:sub>
                        </m:sSub>
                        <m:r>
                          <a:rPr kumimoji="1" lang="en-US" altLang="zh-CN" sz="2800" i="1">
                            <a:latin typeface="Cambria Math" panose="02040503050406030204" pitchFamily="18" charset="0"/>
                          </a:rPr>
                          <m:t>,</m:t>
                        </m:r>
                        <m:sSub>
                          <m:sSubPr>
                            <m:ctrlPr>
                              <a:rPr kumimoji="1" lang="en-US" altLang="zh-CN" sz="2800" i="1">
                                <a:latin typeface="Cambria Math" panose="02040503050406030204" pitchFamily="18" charset="0"/>
                              </a:rPr>
                            </m:ctrlPr>
                          </m:sSubPr>
                          <m:e>
                            <m:r>
                              <a:rPr kumimoji="1" lang="en-US" altLang="zh-CN" sz="2800" i="1">
                                <a:latin typeface="Cambria Math" panose="02040503050406030204" pitchFamily="18" charset="0"/>
                                <a:ea typeface="Cambria Math" panose="02040503050406030204" pitchFamily="18" charset="0"/>
                              </a:rPr>
                              <m:t>𝛼</m:t>
                            </m:r>
                          </m:e>
                          <m:sub>
                            <m:r>
                              <a:rPr kumimoji="1" lang="en-US" altLang="zh-CN" sz="2800" i="1">
                                <a:latin typeface="Cambria Math" panose="02040503050406030204" pitchFamily="18" charset="0"/>
                                <a:ea typeface="Cambria Math" panose="02040503050406030204" pitchFamily="18" charset="0"/>
                              </a:rPr>
                              <m:t>2</m:t>
                            </m:r>
                          </m:sub>
                        </m:sSub>
                        <m:r>
                          <a:rPr kumimoji="1" lang="en-US" altLang="zh-CN" sz="2800" i="1">
                            <a:latin typeface="Cambria Math" panose="02040503050406030204" pitchFamily="18" charset="0"/>
                          </a:rPr>
                          <m:t>,…,</m:t>
                        </m:r>
                        <m:sSub>
                          <m:sSubPr>
                            <m:ctrlPr>
                              <a:rPr kumimoji="1" lang="en-US" altLang="zh-CN" sz="2800" i="1">
                                <a:latin typeface="Cambria Math" panose="02040503050406030204" pitchFamily="18" charset="0"/>
                              </a:rPr>
                            </m:ctrlPr>
                          </m:sSubPr>
                          <m:e>
                            <m:r>
                              <a:rPr kumimoji="1" lang="en-US" altLang="zh-CN" sz="2800" i="1">
                                <a:latin typeface="Cambria Math" panose="02040503050406030204" pitchFamily="18" charset="0"/>
                                <a:ea typeface="Cambria Math" panose="02040503050406030204" pitchFamily="18" charset="0"/>
                              </a:rPr>
                              <m:t>𝛼</m:t>
                            </m:r>
                          </m:e>
                          <m:sub>
                            <m:r>
                              <a:rPr kumimoji="1" lang="en-US" altLang="zh-CN" sz="2800" i="1">
                                <a:latin typeface="Cambria Math" panose="02040503050406030204" pitchFamily="18" charset="0"/>
                                <a:ea typeface="Cambria Math" panose="02040503050406030204" pitchFamily="18" charset="0"/>
                              </a:rPr>
                              <m:t>𝑁</m:t>
                            </m:r>
                          </m:sub>
                        </m:sSub>
                        <m:r>
                          <a:rPr kumimoji="1" lang="en-US" altLang="zh-CN" sz="2800" i="1">
                            <a:latin typeface="Cambria Math" panose="02040503050406030204" pitchFamily="18" charset="0"/>
                            <a:ea typeface="Cambria Math" panose="02040503050406030204" pitchFamily="18" charset="0"/>
                          </a:rPr>
                          <m:t>)</m:t>
                        </m:r>
                      </m:e>
                      <m:sup>
                        <m:r>
                          <a:rPr kumimoji="1" lang="en-US" altLang="zh-CN" sz="2800" b="0" i="1" smtClean="0">
                            <a:latin typeface="Cambria Math" panose="02040503050406030204" pitchFamily="18" charset="0"/>
                            <a:ea typeface="Cambria Math" panose="02040503050406030204" pitchFamily="18" charset="0"/>
                          </a:rPr>
                          <m:t>𝑇</m:t>
                        </m:r>
                      </m:sup>
                    </m:sSup>
                  </m:oMath>
                </a14:m>
                <a:r>
                  <a:rPr lang="zh-CN" altLang="en-US" dirty="0"/>
                  <a:t>为拉格朗日乘子向量</a:t>
                </a:r>
              </a:p>
            </p:txBody>
          </p:sp>
        </mc:Choice>
        <mc:Fallback xmlns="">
          <p:sp>
            <p:nvSpPr>
              <p:cNvPr id="20485" name="内容占位符 2"/>
              <p:cNvSpPr>
                <a:spLocks noGrp="1" noRot="1" noChangeAspect="1" noMove="1" noResize="1" noEditPoints="1" noAdjustHandles="1" noChangeArrowheads="1" noChangeShapeType="1" noTextEdit="1"/>
              </p:cNvSpPr>
              <p:nvPr>
                <p:ph idx="1"/>
              </p:nvPr>
            </p:nvSpPr>
            <p:spPr>
              <a:xfrm>
                <a:off x="685799" y="1552524"/>
                <a:ext cx="8165123" cy="4848271"/>
              </a:xfrm>
              <a:blipFill>
                <a:blip r:embed="rId3"/>
                <a:stretch>
                  <a:fillRect l="-1242" t="-2611" b="-522"/>
                </a:stretch>
              </a:blipFill>
            </p:spPr>
            <p:txBody>
              <a:bodyPr/>
              <a:lstStyle/>
              <a:p>
                <a:r>
                  <a:rPr lang="zh-CN" altLang="en-US">
                    <a:noFill/>
                  </a:rPr>
                  <a:t> </a:t>
                </a:r>
              </a:p>
            </p:txBody>
          </p:sp>
        </mc:Fallback>
      </mc:AlternateContent>
      <p:sp>
        <p:nvSpPr>
          <p:cNvPr id="20486" name="灯片编号占位符 3"/>
          <p:cNvSpPr>
            <a:spLocks noGrp="1"/>
          </p:cNvSpPr>
          <p:nvPr>
            <p:ph type="sldNum" sz="quarter" idx="12"/>
          </p:nvPr>
        </p:nvSpPr>
        <p:spPr>
          <a:noFill/>
        </p:spPr>
        <p:txBody>
          <a:bodyPr/>
          <a:lstStyle/>
          <a:p>
            <a:fld id="{C6AB7A8A-36FD-4A37-841F-0A1946F753A2}" type="slidenum">
              <a:rPr lang="en-US" altLang="zh-CN" smtClean="0">
                <a:ea typeface="黑体" pitchFamily="49" charset="-122"/>
              </a:rPr>
              <a:pPr/>
              <a:t>23</a:t>
            </a:fld>
            <a:endParaRPr lang="en-US" altLang="zh-CN">
              <a:ea typeface="黑体" pitchFamily="49" charset="-122"/>
            </a:endParaRPr>
          </a:p>
        </p:txBody>
      </p:sp>
      <p:cxnSp>
        <p:nvCxnSpPr>
          <p:cNvPr id="10" name="直接箭头连接符 9"/>
          <p:cNvCxnSpPr/>
          <p:nvPr/>
        </p:nvCxnSpPr>
        <p:spPr>
          <a:xfrm flipH="1">
            <a:off x="3692435" y="2878632"/>
            <a:ext cx="1254034" cy="517711"/>
          </a:xfrm>
          <a:prstGeom prst="straightConnector1">
            <a:avLst/>
          </a:prstGeom>
          <a:ln w="57150">
            <a:solidFill>
              <a:schemeClr val="accent1">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FCA9D92E-75E7-42E2-A38C-7686DAE834B5}"/>
                  </a:ext>
                </a:extLst>
              </p:cNvPr>
              <p:cNvSpPr txBox="1"/>
              <p:nvPr/>
            </p:nvSpPr>
            <p:spPr>
              <a:xfrm>
                <a:off x="1010590" y="2313384"/>
                <a:ext cx="1818383" cy="8191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kumimoji="1" lang="en-US" altLang="zh-CN" sz="2800" i="1" smtClean="0">
                              <a:latin typeface="Cambria Math" panose="02040503050406030204" pitchFamily="18" charset="0"/>
                            </a:rPr>
                          </m:ctrlPr>
                        </m:funcPr>
                        <m:fName>
                          <m:limLow>
                            <m:limLowPr>
                              <m:ctrlPr>
                                <a:rPr kumimoji="1" lang="en-US" altLang="zh-CN" sz="2800" i="1" smtClean="0">
                                  <a:latin typeface="Cambria Math" panose="02040503050406030204" pitchFamily="18" charset="0"/>
                                </a:rPr>
                              </m:ctrlPr>
                            </m:limLowPr>
                            <m:e>
                              <m:r>
                                <m:rPr>
                                  <m:sty m:val="p"/>
                                </m:rPr>
                                <a:rPr kumimoji="1" lang="en-US" altLang="zh-CN" sz="2800" i="0" smtClean="0">
                                  <a:latin typeface="Cambria Math" panose="02040503050406030204" pitchFamily="18" charset="0"/>
                                </a:rPr>
                                <m:t>min</m:t>
                              </m:r>
                            </m:e>
                            <m:lim>
                              <m:r>
                                <m:rPr>
                                  <m:sty m:val="p"/>
                                </m:rPr>
                                <a:rPr kumimoji="1" lang="en-US" altLang="zh-CN" sz="2800" i="1">
                                  <a:latin typeface="Cambria Math" panose="02040503050406030204" pitchFamily="18" charset="0"/>
                                </a:rPr>
                                <m:t>w</m:t>
                              </m:r>
                              <m:r>
                                <a:rPr kumimoji="1" lang="en-US" altLang="zh-CN" sz="2800" b="0" i="1" smtClean="0">
                                  <a:latin typeface="Cambria Math" panose="02040503050406030204" pitchFamily="18" charset="0"/>
                                </a:rPr>
                                <m:t>,</m:t>
                              </m:r>
                              <m:r>
                                <a:rPr kumimoji="1" lang="zh-CN" altLang="en-US" sz="2800" b="0" i="1" smtClean="0">
                                  <a:latin typeface="Cambria Math" panose="02040503050406030204" pitchFamily="18" charset="0"/>
                                </a:rPr>
                                <m:t> </m:t>
                              </m:r>
                              <m:r>
                                <a:rPr kumimoji="1" lang="en-US" altLang="zh-CN" sz="2800" b="0" i="1" smtClean="0">
                                  <a:latin typeface="Cambria Math" panose="02040503050406030204" pitchFamily="18" charset="0"/>
                                </a:rPr>
                                <m:t>𝑏</m:t>
                              </m:r>
                            </m:lim>
                          </m:limLow>
                        </m:fName>
                        <m:e>
                          <m:f>
                            <m:fPr>
                              <m:ctrlPr>
                                <a:rPr kumimoji="1" lang="en-US" altLang="zh-CN" sz="2800" i="1" smtClean="0">
                                  <a:latin typeface="Cambria Math" panose="02040503050406030204" pitchFamily="18" charset="0"/>
                                </a:rPr>
                              </m:ctrlPr>
                            </m:fPr>
                            <m:num>
                              <m:r>
                                <a:rPr kumimoji="1" lang="en-US" altLang="zh-CN" sz="2800" b="0" i="1" smtClean="0">
                                  <a:latin typeface="Cambria Math" panose="02040503050406030204" pitchFamily="18" charset="0"/>
                                </a:rPr>
                                <m:t>1</m:t>
                              </m:r>
                            </m:num>
                            <m:den>
                              <m:r>
                                <a:rPr kumimoji="1" lang="en-US" altLang="zh-CN" sz="2800" b="0" i="1" smtClean="0">
                                  <a:latin typeface="Cambria Math" panose="02040503050406030204" pitchFamily="18" charset="0"/>
                                </a:rPr>
                                <m:t>2</m:t>
                              </m:r>
                            </m:den>
                          </m:f>
                          <m:sSup>
                            <m:sSupPr>
                              <m:ctrlPr>
                                <a:rPr kumimoji="1" lang="en-US" altLang="zh-CN" sz="2800" i="1" smtClean="0">
                                  <a:latin typeface="Cambria Math" panose="02040503050406030204" pitchFamily="18" charset="0"/>
                                </a:rPr>
                              </m:ctrlPr>
                            </m:sSupPr>
                            <m:e>
                              <m:d>
                                <m:dPr>
                                  <m:begChr m:val="‖"/>
                                  <m:endChr m:val="‖"/>
                                  <m:ctrlPr>
                                    <a:rPr kumimoji="1" lang="en-US" altLang="zh-CN" sz="2800" i="1">
                                      <a:latin typeface="Cambria Math" panose="02040503050406030204" pitchFamily="18" charset="0"/>
                                    </a:rPr>
                                  </m:ctrlPr>
                                </m:dPr>
                                <m:e>
                                  <m:r>
                                    <a:rPr kumimoji="1" lang="en-US" altLang="zh-CN" sz="2800" i="1">
                                      <a:latin typeface="Cambria Math" panose="02040503050406030204" pitchFamily="18" charset="0"/>
                                    </a:rPr>
                                    <m:t>𝑤</m:t>
                                  </m:r>
                                </m:e>
                              </m:d>
                            </m:e>
                            <m:sup>
                              <m:r>
                                <a:rPr kumimoji="1" lang="en-US" altLang="zh-CN" sz="2800" b="0" i="1" smtClean="0">
                                  <a:latin typeface="Cambria Math" panose="02040503050406030204" pitchFamily="18" charset="0"/>
                                </a:rPr>
                                <m:t>2</m:t>
                              </m:r>
                            </m:sup>
                          </m:sSup>
                        </m:e>
                      </m:func>
                    </m:oMath>
                  </m:oMathPara>
                </a14:m>
                <a:endParaRPr kumimoji="1" lang="zh-CN" altLang="en-US" sz="2800" dirty="0"/>
              </a:p>
            </p:txBody>
          </p:sp>
        </mc:Choice>
        <mc:Fallback xmlns="">
          <p:sp>
            <p:nvSpPr>
              <p:cNvPr id="3" name="文本框 2">
                <a:extLst>
                  <a:ext uri="{FF2B5EF4-FFF2-40B4-BE49-F238E27FC236}">
                    <a16:creationId xmlns:a16="http://schemas.microsoft.com/office/drawing/2014/main" id="{FCA9D92E-75E7-42E2-A38C-7686DAE834B5}"/>
                  </a:ext>
                </a:extLst>
              </p:cNvPr>
              <p:cNvSpPr txBox="1">
                <a:spLocks noRot="1" noChangeAspect="1" noMove="1" noResize="1" noEditPoints="1" noAdjustHandles="1" noChangeArrowheads="1" noChangeShapeType="1" noTextEdit="1"/>
              </p:cNvSpPr>
              <p:nvPr/>
            </p:nvSpPr>
            <p:spPr>
              <a:xfrm>
                <a:off x="1010590" y="2313384"/>
                <a:ext cx="1818383" cy="819199"/>
              </a:xfrm>
              <a:prstGeom prst="rect">
                <a:avLst/>
              </a:prstGeom>
              <a:blipFill>
                <a:blip r:embed="rId4"/>
                <a:stretch>
                  <a:fillRect l="-4167" t="-1515" r="-1389" b="-1212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3A735D07-44F7-3DDB-BB07-BDB1DD2C71A2}"/>
                  </a:ext>
                </a:extLst>
              </p:cNvPr>
              <p:cNvSpPr txBox="1"/>
              <p:nvPr/>
            </p:nvSpPr>
            <p:spPr>
              <a:xfrm>
                <a:off x="1010590" y="3509083"/>
                <a:ext cx="6443431"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zh-CN" sz="2800" i="1" smtClean="0">
                          <a:latin typeface="Cambria Math" panose="02040503050406030204" pitchFamily="18" charset="0"/>
                        </a:rPr>
                        <m:t>𝑠</m:t>
                      </m:r>
                      <m:r>
                        <a:rPr kumimoji="1" lang="en-US" altLang="zh-CN" sz="2800" b="0" i="1" smtClean="0">
                          <a:latin typeface="Cambria Math" panose="02040503050406030204" pitchFamily="18" charset="0"/>
                        </a:rPr>
                        <m:t>.</m:t>
                      </m:r>
                      <m:r>
                        <a:rPr kumimoji="1" lang="en-US" altLang="zh-CN" sz="2800" b="0" i="1" smtClean="0">
                          <a:latin typeface="Cambria Math" panose="02040503050406030204" pitchFamily="18" charset="0"/>
                        </a:rPr>
                        <m:t>𝑡</m:t>
                      </m:r>
                      <m:r>
                        <a:rPr kumimoji="1" lang="en-US" altLang="zh-CN" sz="2800" b="0" i="1" smtClean="0">
                          <a:latin typeface="Cambria Math" panose="02040503050406030204" pitchFamily="18" charset="0"/>
                        </a:rPr>
                        <m:t>.</m:t>
                      </m:r>
                      <m:r>
                        <a:rPr kumimoji="1" lang="zh-CN" altLang="en-US" sz="2800" b="0" i="1" smtClean="0">
                          <a:latin typeface="Cambria Math" panose="02040503050406030204" pitchFamily="18" charset="0"/>
                        </a:rPr>
                        <m:t>     </m:t>
                      </m:r>
                      <m:sSub>
                        <m:sSubPr>
                          <m:ctrlPr>
                            <a:rPr kumimoji="1" lang="en-US" altLang="zh-CN" sz="2800" b="0" i="1" smtClean="0">
                              <a:latin typeface="Cambria Math" panose="02040503050406030204" pitchFamily="18" charset="0"/>
                            </a:rPr>
                          </m:ctrlPr>
                        </m:sSubPr>
                        <m:e>
                          <m:r>
                            <a:rPr kumimoji="1" lang="en-US" altLang="zh-CN" sz="2800" b="0" i="1" smtClean="0">
                              <a:latin typeface="Cambria Math" panose="02040503050406030204" pitchFamily="18" charset="0"/>
                            </a:rPr>
                            <m:t>𝑦</m:t>
                          </m:r>
                        </m:e>
                        <m:sub>
                          <m:r>
                            <a:rPr kumimoji="1" lang="en-US" altLang="zh-CN" sz="2800" b="0" i="1" smtClean="0">
                              <a:latin typeface="Cambria Math" panose="02040503050406030204" pitchFamily="18" charset="0"/>
                            </a:rPr>
                            <m:t>𝑖</m:t>
                          </m:r>
                        </m:sub>
                      </m:sSub>
                      <m:d>
                        <m:dPr>
                          <m:ctrlPr>
                            <a:rPr kumimoji="1" lang="en-US" altLang="zh-CN" sz="2800" b="0" i="1" smtClean="0">
                              <a:latin typeface="Cambria Math" panose="02040503050406030204" pitchFamily="18" charset="0"/>
                            </a:rPr>
                          </m:ctrlPr>
                        </m:dPr>
                        <m:e>
                          <m:r>
                            <a:rPr kumimoji="1" lang="en-US" altLang="zh-CN" sz="2800" b="0" i="1" smtClean="0">
                              <a:latin typeface="Cambria Math" panose="02040503050406030204" pitchFamily="18" charset="0"/>
                            </a:rPr>
                            <m:t>𝑤</m:t>
                          </m:r>
                          <m:sSub>
                            <m:sSubPr>
                              <m:ctrlPr>
                                <a:rPr kumimoji="1" lang="en-US" altLang="zh-CN" sz="2800" i="1">
                                  <a:latin typeface="Cambria Math" panose="02040503050406030204" pitchFamily="18" charset="0"/>
                                </a:rPr>
                              </m:ctrlPr>
                            </m:sSubPr>
                            <m:e>
                              <m:r>
                                <a:rPr kumimoji="1" lang="en-US" altLang="zh-CN" sz="2800" i="1" smtClean="0">
                                  <a:latin typeface="Cambria Math" panose="02040503050406030204" pitchFamily="18" charset="0"/>
                                  <a:ea typeface="Cambria Math" panose="02040503050406030204" pitchFamily="18" charset="0"/>
                                </a:rPr>
                                <m:t>∙</m:t>
                              </m:r>
                              <m:r>
                                <a:rPr kumimoji="1" lang="en-US" altLang="zh-CN" sz="2800" b="0" i="1" smtClean="0">
                                  <a:latin typeface="Cambria Math" panose="02040503050406030204" pitchFamily="18" charset="0"/>
                                  <a:ea typeface="Cambria Math" panose="02040503050406030204" pitchFamily="18" charset="0"/>
                                </a:rPr>
                                <m:t>𝑥</m:t>
                              </m:r>
                            </m:e>
                            <m:sub>
                              <m:r>
                                <a:rPr kumimoji="1" lang="en-US" altLang="zh-CN" sz="2800" i="1">
                                  <a:latin typeface="Cambria Math" panose="02040503050406030204" pitchFamily="18" charset="0"/>
                                </a:rPr>
                                <m:t>𝑖</m:t>
                              </m:r>
                            </m:sub>
                          </m:sSub>
                          <m:r>
                            <a:rPr kumimoji="1" lang="en-US" altLang="zh-CN" sz="2800" b="0" i="1" smtClean="0">
                              <a:latin typeface="Cambria Math" panose="02040503050406030204" pitchFamily="18" charset="0"/>
                            </a:rPr>
                            <m:t>+</m:t>
                          </m:r>
                          <m:r>
                            <a:rPr kumimoji="1" lang="en-US" altLang="zh-CN" sz="2800" b="0" i="1" smtClean="0">
                              <a:latin typeface="Cambria Math" panose="02040503050406030204" pitchFamily="18" charset="0"/>
                            </a:rPr>
                            <m:t>𝑏</m:t>
                          </m:r>
                        </m:e>
                      </m:d>
                      <m:r>
                        <a:rPr kumimoji="1" lang="en-US" altLang="zh-CN" sz="2800" b="0" i="1" smtClean="0">
                          <a:latin typeface="Cambria Math" panose="02040503050406030204" pitchFamily="18" charset="0"/>
                          <a:ea typeface="Cambria Math" panose="02040503050406030204" pitchFamily="18" charset="0"/>
                        </a:rPr>
                        <m:t>≥1,</m:t>
                      </m:r>
                      <m:r>
                        <a:rPr kumimoji="1" lang="zh-CN" altLang="en-US" sz="2800" b="0" i="1" smtClean="0">
                          <a:latin typeface="Cambria Math" panose="02040503050406030204" pitchFamily="18" charset="0"/>
                          <a:ea typeface="Cambria Math" panose="02040503050406030204" pitchFamily="18" charset="0"/>
                        </a:rPr>
                        <m:t>   </m:t>
                      </m:r>
                      <m:r>
                        <a:rPr kumimoji="1" lang="en-US" altLang="zh-CN" sz="2800" b="0" i="1" smtClean="0">
                          <a:latin typeface="Cambria Math" panose="02040503050406030204" pitchFamily="18" charset="0"/>
                          <a:ea typeface="Cambria Math" panose="02040503050406030204" pitchFamily="18" charset="0"/>
                        </a:rPr>
                        <m:t>𝑖</m:t>
                      </m:r>
                      <m:r>
                        <a:rPr kumimoji="1" lang="en-US" altLang="zh-CN" sz="2800" b="0" i="1" smtClean="0">
                          <a:latin typeface="Cambria Math" panose="02040503050406030204" pitchFamily="18" charset="0"/>
                          <a:ea typeface="Cambria Math" panose="02040503050406030204" pitchFamily="18" charset="0"/>
                        </a:rPr>
                        <m:t>=1,2,…,</m:t>
                      </m:r>
                      <m:r>
                        <a:rPr kumimoji="1" lang="en-US" altLang="zh-CN" sz="2800" b="0" i="1" smtClean="0">
                          <a:latin typeface="Cambria Math" panose="02040503050406030204" pitchFamily="18" charset="0"/>
                          <a:ea typeface="Cambria Math" panose="02040503050406030204" pitchFamily="18" charset="0"/>
                        </a:rPr>
                        <m:t>𝑁</m:t>
                      </m:r>
                    </m:oMath>
                  </m:oMathPara>
                </a14:m>
                <a:endParaRPr kumimoji="1" lang="zh-CN" altLang="en-US" sz="2800" dirty="0"/>
              </a:p>
            </p:txBody>
          </p:sp>
        </mc:Choice>
        <mc:Fallback xmlns="">
          <p:sp>
            <p:nvSpPr>
              <p:cNvPr id="4" name="文本框 3">
                <a:extLst>
                  <a:ext uri="{FF2B5EF4-FFF2-40B4-BE49-F238E27FC236}">
                    <a16:creationId xmlns:a16="http://schemas.microsoft.com/office/drawing/2014/main" id="{3A735D07-44F7-3DDB-BB07-BDB1DD2C71A2}"/>
                  </a:ext>
                </a:extLst>
              </p:cNvPr>
              <p:cNvSpPr txBox="1">
                <a:spLocks noRot="1" noChangeAspect="1" noMove="1" noResize="1" noEditPoints="1" noAdjustHandles="1" noChangeArrowheads="1" noChangeShapeType="1" noTextEdit="1"/>
              </p:cNvSpPr>
              <p:nvPr/>
            </p:nvSpPr>
            <p:spPr>
              <a:xfrm>
                <a:off x="1010590" y="3509083"/>
                <a:ext cx="6443431" cy="430887"/>
              </a:xfrm>
              <a:prstGeom prst="rect">
                <a:avLst/>
              </a:prstGeom>
              <a:blipFill>
                <a:blip r:embed="rId5"/>
                <a:stretch>
                  <a:fillRect l="-196" t="-11429" r="-589" b="-31429"/>
                </a:stretch>
              </a:blipFill>
            </p:spPr>
            <p:txBody>
              <a:bodyPr/>
              <a:lstStyle/>
              <a:p>
                <a:r>
                  <a:rPr lang="zh-CN" altLang="en-US">
                    <a:noFill/>
                  </a:rPr>
                  <a:t> </a:t>
                </a:r>
              </a:p>
            </p:txBody>
          </p:sp>
        </mc:Fallback>
      </mc:AlternateContent>
      <p:sp>
        <p:nvSpPr>
          <p:cNvPr id="5" name="文本框 4">
            <a:extLst>
              <a:ext uri="{FF2B5EF4-FFF2-40B4-BE49-F238E27FC236}">
                <a16:creationId xmlns:a16="http://schemas.microsoft.com/office/drawing/2014/main" id="{BAC108D8-2E2C-ED4D-67AB-CB8AF5F9936D}"/>
              </a:ext>
            </a:extLst>
          </p:cNvPr>
          <p:cNvSpPr txBox="1"/>
          <p:nvPr/>
        </p:nvSpPr>
        <p:spPr>
          <a:xfrm>
            <a:off x="4114800" y="2971800"/>
            <a:ext cx="65" cy="276999"/>
          </a:xfrm>
          <a:prstGeom prst="rect">
            <a:avLst/>
          </a:prstGeom>
          <a:noFill/>
        </p:spPr>
        <p:txBody>
          <a:bodyPr wrap="none" lIns="0" tIns="0" rIns="0" bIns="0" rtlCol="0">
            <a:spAutoFit/>
          </a:bodyPr>
          <a:lstStyle/>
          <a:p>
            <a:endParaRPr kumimoji="1" lang="zh-CN" altLang="en-US" dirty="0"/>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A9D7D49E-7088-E465-716B-57939CA4F8A5}"/>
                  </a:ext>
                </a:extLst>
              </p:cNvPr>
              <p:cNvSpPr txBox="1"/>
              <p:nvPr/>
            </p:nvSpPr>
            <p:spPr>
              <a:xfrm>
                <a:off x="4114800" y="2093040"/>
                <a:ext cx="3442224" cy="430887"/>
              </a:xfrm>
              <a:prstGeom prst="rect">
                <a:avLst/>
              </a:prstGeom>
              <a:solidFill>
                <a:srgbClr val="F4B39B">
                  <a:alpha val="40167"/>
                </a:srgbClr>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zh-CN" altLang="en-US" sz="2800" b="0" i="1" smtClean="0">
                          <a:latin typeface="Cambria Math" panose="02040503050406030204" pitchFamily="18" charset="0"/>
                        </a:rPr>
                        <m:t> </m:t>
                      </m:r>
                      <m:r>
                        <a:rPr kumimoji="1" lang="en-US" altLang="zh-CN" sz="2800" b="0" i="1" smtClean="0">
                          <a:latin typeface="Cambria Math" panose="02040503050406030204" pitchFamily="18" charset="0"/>
                        </a:rPr>
                        <m:t>1−</m:t>
                      </m:r>
                      <m:sSub>
                        <m:sSubPr>
                          <m:ctrlPr>
                            <a:rPr kumimoji="1" lang="en-US" altLang="zh-CN" sz="2800" b="0" i="1" smtClean="0">
                              <a:latin typeface="Cambria Math" panose="02040503050406030204" pitchFamily="18" charset="0"/>
                            </a:rPr>
                          </m:ctrlPr>
                        </m:sSubPr>
                        <m:e>
                          <m:r>
                            <a:rPr kumimoji="1" lang="en-US" altLang="zh-CN" sz="2800" b="0" i="1" smtClean="0">
                              <a:latin typeface="Cambria Math" panose="02040503050406030204" pitchFamily="18" charset="0"/>
                            </a:rPr>
                            <m:t>𝑦</m:t>
                          </m:r>
                        </m:e>
                        <m:sub>
                          <m:r>
                            <a:rPr kumimoji="1" lang="en-US" altLang="zh-CN" sz="2800" b="0" i="1" smtClean="0">
                              <a:latin typeface="Cambria Math" panose="02040503050406030204" pitchFamily="18" charset="0"/>
                            </a:rPr>
                            <m:t>𝑖</m:t>
                          </m:r>
                        </m:sub>
                      </m:sSub>
                      <m:d>
                        <m:dPr>
                          <m:ctrlPr>
                            <a:rPr kumimoji="1" lang="en-US" altLang="zh-CN" sz="2800" b="0" i="1" smtClean="0">
                              <a:latin typeface="Cambria Math" panose="02040503050406030204" pitchFamily="18" charset="0"/>
                            </a:rPr>
                          </m:ctrlPr>
                        </m:dPr>
                        <m:e>
                          <m:r>
                            <a:rPr kumimoji="1" lang="en-US" altLang="zh-CN" sz="2800" b="0" i="1" smtClean="0">
                              <a:latin typeface="Cambria Math" panose="02040503050406030204" pitchFamily="18" charset="0"/>
                            </a:rPr>
                            <m:t>𝑤</m:t>
                          </m:r>
                          <m:sSub>
                            <m:sSubPr>
                              <m:ctrlPr>
                                <a:rPr kumimoji="1" lang="en-US" altLang="zh-CN" sz="2800" i="1">
                                  <a:latin typeface="Cambria Math" panose="02040503050406030204" pitchFamily="18" charset="0"/>
                                </a:rPr>
                              </m:ctrlPr>
                            </m:sSubPr>
                            <m:e>
                              <m:r>
                                <a:rPr kumimoji="1" lang="en-US" altLang="zh-CN" sz="2800" i="1" smtClean="0">
                                  <a:latin typeface="Cambria Math" panose="02040503050406030204" pitchFamily="18" charset="0"/>
                                  <a:ea typeface="Cambria Math" panose="02040503050406030204" pitchFamily="18" charset="0"/>
                                </a:rPr>
                                <m:t>∙</m:t>
                              </m:r>
                              <m:r>
                                <a:rPr kumimoji="1" lang="en-US" altLang="zh-CN" sz="2800" b="0" i="1" smtClean="0">
                                  <a:latin typeface="Cambria Math" panose="02040503050406030204" pitchFamily="18" charset="0"/>
                                  <a:ea typeface="Cambria Math" panose="02040503050406030204" pitchFamily="18" charset="0"/>
                                </a:rPr>
                                <m:t>𝑥</m:t>
                              </m:r>
                            </m:e>
                            <m:sub>
                              <m:r>
                                <a:rPr kumimoji="1" lang="en-US" altLang="zh-CN" sz="2800" i="1">
                                  <a:latin typeface="Cambria Math" panose="02040503050406030204" pitchFamily="18" charset="0"/>
                                </a:rPr>
                                <m:t>𝑖</m:t>
                              </m:r>
                            </m:sub>
                          </m:sSub>
                          <m:r>
                            <a:rPr kumimoji="1" lang="en-US" altLang="zh-CN" sz="2800" b="0" i="1" smtClean="0">
                              <a:latin typeface="Cambria Math" panose="02040503050406030204" pitchFamily="18" charset="0"/>
                            </a:rPr>
                            <m:t>+</m:t>
                          </m:r>
                          <m:r>
                            <a:rPr kumimoji="1" lang="en-US" altLang="zh-CN" sz="2800" b="0" i="1" smtClean="0">
                              <a:latin typeface="Cambria Math" panose="02040503050406030204" pitchFamily="18" charset="0"/>
                            </a:rPr>
                            <m:t>𝑏</m:t>
                          </m:r>
                        </m:e>
                      </m:d>
                      <m:r>
                        <a:rPr kumimoji="1" lang="en-US" altLang="zh-CN" sz="2800" b="0" i="1" smtClean="0">
                          <a:latin typeface="Cambria Math" panose="02040503050406030204" pitchFamily="18" charset="0"/>
                          <a:ea typeface="Cambria Math" panose="02040503050406030204" pitchFamily="18" charset="0"/>
                        </a:rPr>
                        <m:t>≤0</m:t>
                      </m:r>
                    </m:oMath>
                  </m:oMathPara>
                </a14:m>
                <a:endParaRPr kumimoji="1" lang="zh-CN" altLang="en-US" sz="2800" dirty="0"/>
              </a:p>
            </p:txBody>
          </p:sp>
        </mc:Choice>
        <mc:Fallback xmlns="">
          <p:sp>
            <p:nvSpPr>
              <p:cNvPr id="6" name="文本框 5">
                <a:extLst>
                  <a:ext uri="{FF2B5EF4-FFF2-40B4-BE49-F238E27FC236}">
                    <a16:creationId xmlns:a16="http://schemas.microsoft.com/office/drawing/2014/main" id="{A9D7D49E-7088-E465-716B-57939CA4F8A5}"/>
                  </a:ext>
                </a:extLst>
              </p:cNvPr>
              <p:cNvSpPr txBox="1">
                <a:spLocks noRot="1" noChangeAspect="1" noMove="1" noResize="1" noEditPoints="1" noAdjustHandles="1" noChangeArrowheads="1" noChangeShapeType="1" noTextEdit="1"/>
              </p:cNvSpPr>
              <p:nvPr/>
            </p:nvSpPr>
            <p:spPr>
              <a:xfrm>
                <a:off x="4114800" y="2093040"/>
                <a:ext cx="3442224" cy="430887"/>
              </a:xfrm>
              <a:prstGeom prst="rect">
                <a:avLst/>
              </a:prstGeom>
              <a:blipFill>
                <a:blip r:embed="rId6"/>
                <a:stretch>
                  <a:fillRect l="-3676" t="-11429" r="-1838" b="-3428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B78DC57F-2BD3-ECD8-C85E-38BDC02BEBF1}"/>
                  </a:ext>
                </a:extLst>
              </p:cNvPr>
              <p:cNvSpPr txBox="1"/>
              <p:nvPr/>
            </p:nvSpPr>
            <p:spPr>
              <a:xfrm>
                <a:off x="685799" y="4833657"/>
                <a:ext cx="6219138" cy="103848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zh-CN" sz="2400" b="0" i="1" smtClean="0">
                          <a:latin typeface="Cambria Math" panose="02040503050406030204" pitchFamily="18" charset="0"/>
                        </a:rPr>
                        <m:t>𝐿</m:t>
                      </m:r>
                      <m:d>
                        <m:dPr>
                          <m:ctrlPr>
                            <a:rPr kumimoji="1" lang="en-US" altLang="zh-CN" sz="2400" b="0" i="1" smtClean="0">
                              <a:latin typeface="Cambria Math" panose="02040503050406030204" pitchFamily="18" charset="0"/>
                            </a:rPr>
                          </m:ctrlPr>
                        </m:dPr>
                        <m:e>
                          <m:r>
                            <a:rPr kumimoji="1" lang="en-US" altLang="zh-CN" sz="2400" b="0" i="1" smtClean="0">
                              <a:latin typeface="Cambria Math" panose="02040503050406030204" pitchFamily="18" charset="0"/>
                            </a:rPr>
                            <m:t>𝑤</m:t>
                          </m:r>
                          <m:r>
                            <a:rPr kumimoji="1" lang="en-US" altLang="zh-CN" sz="2400" b="0" i="1" smtClean="0">
                              <a:latin typeface="Cambria Math" panose="02040503050406030204" pitchFamily="18" charset="0"/>
                            </a:rPr>
                            <m:t>,</m:t>
                          </m:r>
                          <m:r>
                            <a:rPr kumimoji="1" lang="en-US" altLang="zh-CN" sz="2400" b="0" i="1" smtClean="0">
                              <a:latin typeface="Cambria Math" panose="02040503050406030204" pitchFamily="18" charset="0"/>
                            </a:rPr>
                            <m:t>𝑏</m:t>
                          </m:r>
                          <m:r>
                            <a:rPr kumimoji="1" lang="en-US" altLang="zh-CN" sz="2400" b="0" i="1" smtClean="0">
                              <a:latin typeface="Cambria Math" panose="02040503050406030204" pitchFamily="18" charset="0"/>
                            </a:rPr>
                            <m:t>,</m:t>
                          </m:r>
                          <m:r>
                            <a:rPr kumimoji="1" lang="en-US" altLang="zh-CN" sz="2400" b="0" i="1" smtClean="0">
                              <a:latin typeface="Cambria Math" panose="02040503050406030204" pitchFamily="18" charset="0"/>
                              <a:ea typeface="Cambria Math" panose="02040503050406030204" pitchFamily="18" charset="0"/>
                            </a:rPr>
                            <m:t>𝛼</m:t>
                          </m:r>
                        </m:e>
                      </m:d>
                      <m:r>
                        <a:rPr kumimoji="1" lang="en-US" altLang="zh-CN" sz="2400" b="0" i="1" smtClean="0">
                          <a:latin typeface="Cambria Math" panose="02040503050406030204" pitchFamily="18" charset="0"/>
                        </a:rPr>
                        <m:t>=</m:t>
                      </m:r>
                      <m:f>
                        <m:fPr>
                          <m:ctrlPr>
                            <a:rPr kumimoji="1" lang="en-US" altLang="zh-CN" sz="2400" i="1" smtClean="0">
                              <a:latin typeface="Cambria Math" panose="02040503050406030204" pitchFamily="18" charset="0"/>
                            </a:rPr>
                          </m:ctrlPr>
                        </m:fPr>
                        <m:num>
                          <m:r>
                            <a:rPr kumimoji="1" lang="en-US" altLang="zh-CN" sz="2400" i="1">
                              <a:latin typeface="Cambria Math" panose="02040503050406030204" pitchFamily="18" charset="0"/>
                            </a:rPr>
                            <m:t>1</m:t>
                          </m:r>
                        </m:num>
                        <m:den>
                          <m:r>
                            <a:rPr kumimoji="1" lang="en-US" altLang="zh-CN" sz="2400" i="1">
                              <a:latin typeface="Cambria Math" panose="02040503050406030204" pitchFamily="18" charset="0"/>
                            </a:rPr>
                            <m:t>2</m:t>
                          </m:r>
                        </m:den>
                      </m:f>
                      <m:sSup>
                        <m:sSupPr>
                          <m:ctrlPr>
                            <a:rPr kumimoji="1" lang="en-US" altLang="zh-CN" sz="2400" i="1">
                              <a:latin typeface="Cambria Math" panose="02040503050406030204" pitchFamily="18" charset="0"/>
                            </a:rPr>
                          </m:ctrlPr>
                        </m:sSupPr>
                        <m:e>
                          <m:d>
                            <m:dPr>
                              <m:begChr m:val="‖"/>
                              <m:endChr m:val="‖"/>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𝑤</m:t>
                              </m:r>
                            </m:e>
                          </m:d>
                        </m:e>
                        <m:sup>
                          <m:r>
                            <a:rPr kumimoji="1" lang="en-US" altLang="zh-CN" sz="2400" i="1">
                              <a:latin typeface="Cambria Math" panose="02040503050406030204" pitchFamily="18" charset="0"/>
                            </a:rPr>
                            <m:t>2</m:t>
                          </m:r>
                        </m:sup>
                      </m:sSup>
                      <m:r>
                        <a:rPr kumimoji="1" lang="en-US" altLang="zh-CN" sz="2400" b="0" i="1" smtClean="0">
                          <a:latin typeface="Cambria Math" panose="02040503050406030204" pitchFamily="18" charset="0"/>
                        </a:rPr>
                        <m:t>+</m:t>
                      </m:r>
                      <m:nary>
                        <m:naryPr>
                          <m:chr m:val="∑"/>
                          <m:ctrlPr>
                            <a:rPr kumimoji="1" lang="en-US" altLang="zh-CN" sz="2400" b="0" i="1" smtClean="0">
                              <a:latin typeface="Cambria Math" panose="02040503050406030204" pitchFamily="18" charset="0"/>
                            </a:rPr>
                          </m:ctrlPr>
                        </m:naryPr>
                        <m:sub>
                          <m:r>
                            <m:rPr>
                              <m:brk m:alnAt="23"/>
                            </m:rPr>
                            <a:rPr kumimoji="1" lang="en-US" altLang="zh-CN" sz="2400" b="0" i="1" smtClean="0">
                              <a:latin typeface="Cambria Math" panose="02040503050406030204" pitchFamily="18" charset="0"/>
                            </a:rPr>
                            <m:t>𝑖</m:t>
                          </m:r>
                        </m:sub>
                        <m:sup>
                          <m:r>
                            <a:rPr kumimoji="1" lang="en-US" altLang="zh-CN" sz="2400" b="0" i="1" smtClean="0">
                              <a:latin typeface="Cambria Math" panose="02040503050406030204" pitchFamily="18" charset="0"/>
                            </a:rPr>
                            <m:t>𝑁</m:t>
                          </m:r>
                        </m:sup>
                        <m:e>
                          <m:sSub>
                            <m:sSubPr>
                              <m:ctrlPr>
                                <a:rPr kumimoji="1" lang="en-US" altLang="zh-CN" sz="2400" b="0" i="1" smtClean="0">
                                  <a:latin typeface="Cambria Math" panose="02040503050406030204" pitchFamily="18" charset="0"/>
                                </a:rPr>
                              </m:ctrlPr>
                            </m:sSubPr>
                            <m:e>
                              <m:r>
                                <a:rPr kumimoji="1" lang="en-US" altLang="zh-CN" sz="2400" b="0" i="1" smtClean="0">
                                  <a:latin typeface="Cambria Math" panose="02040503050406030204" pitchFamily="18" charset="0"/>
                                  <a:ea typeface="Cambria Math" panose="02040503050406030204" pitchFamily="18" charset="0"/>
                                </a:rPr>
                                <m:t>𝛼</m:t>
                              </m:r>
                            </m:e>
                            <m:sub>
                              <m:r>
                                <a:rPr kumimoji="1" lang="en-US" altLang="zh-CN" sz="2400" b="0" i="1" smtClean="0">
                                  <a:latin typeface="Cambria Math" panose="02040503050406030204" pitchFamily="18" charset="0"/>
                                </a:rPr>
                                <m:t>𝑖</m:t>
                              </m:r>
                            </m:sub>
                          </m:sSub>
                          <m:d>
                            <m:dPr>
                              <m:begChr m:val="["/>
                              <m:endChr m:val="]"/>
                              <m:ctrlPr>
                                <a:rPr kumimoji="1" lang="en-US" altLang="zh-CN" sz="2400" b="0" i="1" smtClean="0">
                                  <a:latin typeface="Cambria Math" panose="02040503050406030204" pitchFamily="18" charset="0"/>
                                </a:rPr>
                              </m:ctrlPr>
                            </m:dPr>
                            <m:e>
                              <m:r>
                                <a:rPr kumimoji="1" lang="en-US" altLang="zh-CN" sz="2400" i="1">
                                  <a:latin typeface="Cambria Math" panose="02040503050406030204" pitchFamily="18" charset="0"/>
                                </a:rPr>
                                <m:t>1−</m:t>
                              </m:r>
                              <m:sSub>
                                <m:sSubPr>
                                  <m:ctrlPr>
                                    <a:rPr kumimoji="1" lang="en-US" altLang="zh-CN" sz="2400" i="1">
                                      <a:latin typeface="Cambria Math" panose="02040503050406030204" pitchFamily="18" charset="0"/>
                                    </a:rPr>
                                  </m:ctrlPr>
                                </m:sSubPr>
                                <m:e>
                                  <m:r>
                                    <a:rPr kumimoji="1" lang="en-US" altLang="zh-CN" sz="2400" i="1">
                                      <a:latin typeface="Cambria Math" panose="02040503050406030204" pitchFamily="18" charset="0"/>
                                    </a:rPr>
                                    <m:t>𝑦</m:t>
                                  </m:r>
                                </m:e>
                                <m:sub>
                                  <m:r>
                                    <a:rPr kumimoji="1" lang="en-US" altLang="zh-CN" sz="2400" i="1">
                                      <a:latin typeface="Cambria Math" panose="02040503050406030204" pitchFamily="18" charset="0"/>
                                    </a:rPr>
                                    <m:t>𝑖</m:t>
                                  </m:r>
                                </m:sub>
                              </m:sSub>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𝑤</m:t>
                                  </m:r>
                                  <m:sSub>
                                    <m:sSubPr>
                                      <m:ctrlPr>
                                        <a:rPr kumimoji="1" lang="en-US" altLang="zh-CN" sz="2400" i="1">
                                          <a:latin typeface="Cambria Math" panose="02040503050406030204" pitchFamily="18" charset="0"/>
                                        </a:rPr>
                                      </m:ctrlPr>
                                    </m:sSubPr>
                                    <m:e>
                                      <m:r>
                                        <a:rPr kumimoji="1" lang="en-US" altLang="zh-CN" sz="2400" i="1">
                                          <a:latin typeface="Cambria Math" panose="02040503050406030204" pitchFamily="18" charset="0"/>
                                          <a:ea typeface="Cambria Math" panose="02040503050406030204" pitchFamily="18" charset="0"/>
                                        </a:rPr>
                                        <m:t>∙</m:t>
                                      </m:r>
                                      <m:r>
                                        <a:rPr kumimoji="1" lang="en-US" altLang="zh-CN" sz="2400" i="1">
                                          <a:latin typeface="Cambria Math" panose="02040503050406030204" pitchFamily="18" charset="0"/>
                                          <a:ea typeface="Cambria Math" panose="02040503050406030204" pitchFamily="18" charset="0"/>
                                        </a:rPr>
                                        <m:t>𝑥</m:t>
                                      </m:r>
                                    </m:e>
                                    <m:sub>
                                      <m:r>
                                        <a:rPr kumimoji="1" lang="en-US" altLang="zh-CN" sz="2400" i="1">
                                          <a:latin typeface="Cambria Math" panose="02040503050406030204" pitchFamily="18" charset="0"/>
                                        </a:rPr>
                                        <m:t>𝑖</m:t>
                                      </m:r>
                                    </m:sub>
                                  </m:sSub>
                                  <m:r>
                                    <a:rPr kumimoji="1" lang="en-US" altLang="zh-CN" sz="2400" i="1">
                                      <a:latin typeface="Cambria Math" panose="02040503050406030204" pitchFamily="18" charset="0"/>
                                    </a:rPr>
                                    <m:t>+</m:t>
                                  </m:r>
                                  <m:r>
                                    <a:rPr kumimoji="1" lang="en-US" altLang="zh-CN" sz="2400" i="1">
                                      <a:latin typeface="Cambria Math" panose="02040503050406030204" pitchFamily="18" charset="0"/>
                                    </a:rPr>
                                    <m:t>𝑏</m:t>
                                  </m:r>
                                </m:e>
                              </m:d>
                            </m:e>
                          </m:d>
                        </m:e>
                      </m:nary>
                    </m:oMath>
                  </m:oMathPara>
                </a14:m>
                <a:endParaRPr kumimoji="1" lang="zh-CN" altLang="en-US" sz="2400" dirty="0"/>
              </a:p>
            </p:txBody>
          </p:sp>
        </mc:Choice>
        <mc:Fallback xmlns="">
          <p:sp>
            <p:nvSpPr>
              <p:cNvPr id="8" name="文本框 7">
                <a:extLst>
                  <a:ext uri="{FF2B5EF4-FFF2-40B4-BE49-F238E27FC236}">
                    <a16:creationId xmlns:a16="http://schemas.microsoft.com/office/drawing/2014/main" id="{B78DC57F-2BD3-ECD8-C85E-38BDC02BEBF1}"/>
                  </a:ext>
                </a:extLst>
              </p:cNvPr>
              <p:cNvSpPr txBox="1">
                <a:spLocks noRot="1" noChangeAspect="1" noMove="1" noResize="1" noEditPoints="1" noAdjustHandles="1" noChangeArrowheads="1" noChangeShapeType="1" noTextEdit="1"/>
              </p:cNvSpPr>
              <p:nvPr/>
            </p:nvSpPr>
            <p:spPr>
              <a:xfrm>
                <a:off x="685799" y="4833657"/>
                <a:ext cx="6219138" cy="1038489"/>
              </a:xfrm>
              <a:prstGeom prst="rect">
                <a:avLst/>
              </a:prstGeom>
              <a:blipFill>
                <a:blip r:embed="rId7"/>
                <a:stretch>
                  <a:fillRect l="-611" t="-114458" b="-174699"/>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
          </p:nvPr>
        </p:nvSpPr>
        <p:spPr>
          <a:xfrm>
            <a:off x="766355" y="893750"/>
            <a:ext cx="7772400" cy="5218624"/>
          </a:xfrm>
        </p:spPr>
        <p:txBody>
          <a:bodyPr>
            <a:normAutofit/>
          </a:bodyPr>
          <a:lstStyle/>
          <a:p>
            <a:r>
              <a:rPr lang="zh-CN" altLang="en-US" sz="3200" dirty="0"/>
              <a:t>拉格朗日函数与原始优化问题的关系</a:t>
            </a:r>
          </a:p>
        </p:txBody>
      </p:sp>
      <p:sp>
        <p:nvSpPr>
          <p:cNvPr id="8" name="椭圆形标注 7"/>
          <p:cNvSpPr/>
          <p:nvPr/>
        </p:nvSpPr>
        <p:spPr>
          <a:xfrm>
            <a:off x="5808620" y="1701997"/>
            <a:ext cx="2499357" cy="584151"/>
          </a:xfrm>
          <a:prstGeom prst="wedgeEllipseCallout">
            <a:avLst>
              <a:gd name="adj1" fmla="val -27222"/>
              <a:gd name="adj2" fmla="val 95339"/>
            </a:avLst>
          </a:prstGeom>
          <a:solidFill>
            <a:schemeClr val="accent1">
              <a:lumMod val="40000"/>
              <a:lumOff val="60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dirty="0">
                <a:ln w="0"/>
                <a:solidFill>
                  <a:schemeClr val="tx1"/>
                </a:solidFill>
                <a:effectLst>
                  <a:outerShdw blurRad="38100" dist="19050" dir="2700000" algn="tl" rotWithShape="0">
                    <a:schemeClr val="dk1">
                      <a:alpha val="40000"/>
                    </a:schemeClr>
                  </a:outerShdw>
                </a:effectLst>
              </a:rPr>
              <a:t>约束：≤</a:t>
            </a:r>
            <a:r>
              <a:rPr lang="en-US" altLang="zh-CN" sz="2800" dirty="0">
                <a:ln w="0"/>
                <a:solidFill>
                  <a:schemeClr val="tx1"/>
                </a:solidFill>
                <a:effectLst>
                  <a:outerShdw blurRad="38100" dist="19050" dir="2700000" algn="tl" rotWithShape="0">
                    <a:schemeClr val="dk1">
                      <a:alpha val="40000"/>
                    </a:schemeClr>
                  </a:outerShdw>
                </a:effectLst>
              </a:rPr>
              <a:t>0</a:t>
            </a:r>
            <a:endParaRPr lang="zh-CN" altLang="en-US" sz="2800" dirty="0">
              <a:ln w="0"/>
              <a:solidFill>
                <a:schemeClr val="tx1"/>
              </a:solidFill>
              <a:effectLst>
                <a:outerShdw blurRad="38100" dist="19050" dir="2700000" algn="tl" rotWithShape="0">
                  <a:schemeClr val="dk1">
                    <a:alpha val="40000"/>
                  </a:schemeClr>
                </a:outerShdw>
              </a:effectLst>
            </a:endParaRPr>
          </a:p>
        </p:txBody>
      </p:sp>
      <p:sp>
        <p:nvSpPr>
          <p:cNvPr id="9" name="矩形 8"/>
          <p:cNvSpPr/>
          <p:nvPr/>
        </p:nvSpPr>
        <p:spPr>
          <a:xfrm>
            <a:off x="5464498" y="2673539"/>
            <a:ext cx="3181027" cy="45284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F68DAB44-5AD5-CED1-0231-AF0F7F6E1B04}"/>
                  </a:ext>
                </a:extLst>
              </p:cNvPr>
              <p:cNvSpPr txBox="1"/>
              <p:nvPr/>
            </p:nvSpPr>
            <p:spPr>
              <a:xfrm>
                <a:off x="1479239" y="2274425"/>
                <a:ext cx="7254165" cy="121155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zh-CN" sz="2800" b="0" i="1" smtClean="0">
                          <a:latin typeface="Cambria Math" panose="02040503050406030204" pitchFamily="18" charset="0"/>
                        </a:rPr>
                        <m:t>𝐿</m:t>
                      </m:r>
                      <m:d>
                        <m:dPr>
                          <m:ctrlPr>
                            <a:rPr kumimoji="1" lang="en-US" altLang="zh-CN" sz="2800" b="0" i="1" smtClean="0">
                              <a:latin typeface="Cambria Math" panose="02040503050406030204" pitchFamily="18" charset="0"/>
                            </a:rPr>
                          </m:ctrlPr>
                        </m:dPr>
                        <m:e>
                          <m:r>
                            <a:rPr kumimoji="1" lang="en-US" altLang="zh-CN" sz="2800" b="0" i="1" smtClean="0">
                              <a:latin typeface="Cambria Math" panose="02040503050406030204" pitchFamily="18" charset="0"/>
                            </a:rPr>
                            <m:t>𝑤</m:t>
                          </m:r>
                          <m:r>
                            <a:rPr kumimoji="1" lang="en-US" altLang="zh-CN" sz="2800" b="0" i="1" smtClean="0">
                              <a:latin typeface="Cambria Math" panose="02040503050406030204" pitchFamily="18" charset="0"/>
                            </a:rPr>
                            <m:t>,</m:t>
                          </m:r>
                          <m:r>
                            <a:rPr kumimoji="1" lang="en-US" altLang="zh-CN" sz="2800" b="0" i="1" smtClean="0">
                              <a:latin typeface="Cambria Math" panose="02040503050406030204" pitchFamily="18" charset="0"/>
                            </a:rPr>
                            <m:t>𝑏</m:t>
                          </m:r>
                          <m:r>
                            <a:rPr kumimoji="1" lang="en-US" altLang="zh-CN" sz="2800" b="0" i="1" smtClean="0">
                              <a:latin typeface="Cambria Math" panose="02040503050406030204" pitchFamily="18" charset="0"/>
                            </a:rPr>
                            <m:t>,</m:t>
                          </m:r>
                          <m:r>
                            <a:rPr kumimoji="1" lang="en-US" altLang="zh-CN" sz="2800" b="0" i="1" smtClean="0">
                              <a:latin typeface="Cambria Math" panose="02040503050406030204" pitchFamily="18" charset="0"/>
                              <a:ea typeface="Cambria Math" panose="02040503050406030204" pitchFamily="18" charset="0"/>
                            </a:rPr>
                            <m:t>𝛼</m:t>
                          </m:r>
                        </m:e>
                      </m:d>
                      <m:r>
                        <a:rPr kumimoji="1" lang="en-US" altLang="zh-CN" sz="2800" b="0" i="1" smtClean="0">
                          <a:latin typeface="Cambria Math" panose="02040503050406030204" pitchFamily="18" charset="0"/>
                        </a:rPr>
                        <m:t>=</m:t>
                      </m:r>
                      <m:f>
                        <m:fPr>
                          <m:ctrlPr>
                            <a:rPr kumimoji="1" lang="en-US" altLang="zh-CN" sz="2800" i="1" smtClean="0">
                              <a:latin typeface="Cambria Math" panose="02040503050406030204" pitchFamily="18" charset="0"/>
                            </a:rPr>
                          </m:ctrlPr>
                        </m:fPr>
                        <m:num>
                          <m:r>
                            <a:rPr kumimoji="1" lang="en-US" altLang="zh-CN" sz="2800" i="1">
                              <a:latin typeface="Cambria Math" panose="02040503050406030204" pitchFamily="18" charset="0"/>
                            </a:rPr>
                            <m:t>1</m:t>
                          </m:r>
                        </m:num>
                        <m:den>
                          <m:r>
                            <a:rPr kumimoji="1" lang="en-US" altLang="zh-CN" sz="2800" i="1">
                              <a:latin typeface="Cambria Math" panose="02040503050406030204" pitchFamily="18" charset="0"/>
                            </a:rPr>
                            <m:t>2</m:t>
                          </m:r>
                        </m:den>
                      </m:f>
                      <m:sSup>
                        <m:sSupPr>
                          <m:ctrlPr>
                            <a:rPr kumimoji="1" lang="en-US" altLang="zh-CN" sz="2800" i="1">
                              <a:latin typeface="Cambria Math" panose="02040503050406030204" pitchFamily="18" charset="0"/>
                            </a:rPr>
                          </m:ctrlPr>
                        </m:sSupPr>
                        <m:e>
                          <m:d>
                            <m:dPr>
                              <m:begChr m:val="‖"/>
                              <m:endChr m:val="‖"/>
                              <m:ctrlPr>
                                <a:rPr kumimoji="1" lang="en-US" altLang="zh-CN" sz="2800" i="1">
                                  <a:latin typeface="Cambria Math" panose="02040503050406030204" pitchFamily="18" charset="0"/>
                                </a:rPr>
                              </m:ctrlPr>
                            </m:dPr>
                            <m:e>
                              <m:r>
                                <a:rPr kumimoji="1" lang="en-US" altLang="zh-CN" sz="2800" i="1">
                                  <a:latin typeface="Cambria Math" panose="02040503050406030204" pitchFamily="18" charset="0"/>
                                </a:rPr>
                                <m:t>𝑤</m:t>
                              </m:r>
                            </m:e>
                          </m:d>
                        </m:e>
                        <m:sup>
                          <m:r>
                            <a:rPr kumimoji="1" lang="en-US" altLang="zh-CN" sz="2800" i="1">
                              <a:latin typeface="Cambria Math" panose="02040503050406030204" pitchFamily="18" charset="0"/>
                            </a:rPr>
                            <m:t>2</m:t>
                          </m:r>
                        </m:sup>
                      </m:sSup>
                      <m:r>
                        <a:rPr kumimoji="1" lang="en-US" altLang="zh-CN" sz="2800" b="0" i="1" smtClean="0">
                          <a:latin typeface="Cambria Math" panose="02040503050406030204" pitchFamily="18" charset="0"/>
                        </a:rPr>
                        <m:t>+</m:t>
                      </m:r>
                      <m:nary>
                        <m:naryPr>
                          <m:chr m:val="∑"/>
                          <m:ctrlPr>
                            <a:rPr kumimoji="1" lang="en-US" altLang="zh-CN" sz="2800" b="0" i="1" smtClean="0">
                              <a:latin typeface="Cambria Math" panose="02040503050406030204" pitchFamily="18" charset="0"/>
                            </a:rPr>
                          </m:ctrlPr>
                        </m:naryPr>
                        <m:sub>
                          <m:r>
                            <m:rPr>
                              <m:brk m:alnAt="23"/>
                            </m:rPr>
                            <a:rPr kumimoji="1" lang="en-US" altLang="zh-CN" sz="2800" b="0" i="1" smtClean="0">
                              <a:latin typeface="Cambria Math" panose="02040503050406030204" pitchFamily="18" charset="0"/>
                            </a:rPr>
                            <m:t>𝑖</m:t>
                          </m:r>
                        </m:sub>
                        <m:sup>
                          <m:r>
                            <a:rPr kumimoji="1" lang="en-US" altLang="zh-CN" sz="2800" b="0" i="1" smtClean="0">
                              <a:latin typeface="Cambria Math" panose="02040503050406030204" pitchFamily="18" charset="0"/>
                            </a:rPr>
                            <m:t>𝑁</m:t>
                          </m:r>
                        </m:sup>
                        <m:e>
                          <m:sSub>
                            <m:sSubPr>
                              <m:ctrlPr>
                                <a:rPr kumimoji="1" lang="en-US" altLang="zh-CN" sz="2800" b="0" i="1" smtClean="0">
                                  <a:latin typeface="Cambria Math" panose="02040503050406030204" pitchFamily="18" charset="0"/>
                                </a:rPr>
                              </m:ctrlPr>
                            </m:sSubPr>
                            <m:e>
                              <m:r>
                                <a:rPr kumimoji="1" lang="en-US" altLang="zh-CN" sz="2800" b="0" i="1" smtClean="0">
                                  <a:latin typeface="Cambria Math" panose="02040503050406030204" pitchFamily="18" charset="0"/>
                                  <a:ea typeface="Cambria Math" panose="02040503050406030204" pitchFamily="18" charset="0"/>
                                </a:rPr>
                                <m:t>𝛼</m:t>
                              </m:r>
                            </m:e>
                            <m:sub>
                              <m:r>
                                <a:rPr kumimoji="1" lang="en-US" altLang="zh-CN" sz="2800" b="0" i="1" smtClean="0">
                                  <a:latin typeface="Cambria Math" panose="02040503050406030204" pitchFamily="18" charset="0"/>
                                </a:rPr>
                                <m:t>𝑖</m:t>
                              </m:r>
                            </m:sub>
                          </m:sSub>
                          <m:d>
                            <m:dPr>
                              <m:begChr m:val="["/>
                              <m:endChr m:val="]"/>
                              <m:ctrlPr>
                                <a:rPr kumimoji="1" lang="en-US" altLang="zh-CN" sz="2800" b="0" i="1" smtClean="0">
                                  <a:latin typeface="Cambria Math" panose="02040503050406030204" pitchFamily="18" charset="0"/>
                                </a:rPr>
                              </m:ctrlPr>
                            </m:dPr>
                            <m:e>
                              <m:r>
                                <a:rPr kumimoji="1" lang="en-US" altLang="zh-CN" sz="2800" i="1">
                                  <a:latin typeface="Cambria Math" panose="02040503050406030204" pitchFamily="18" charset="0"/>
                                </a:rPr>
                                <m:t>1−</m:t>
                              </m:r>
                              <m:sSub>
                                <m:sSubPr>
                                  <m:ctrlPr>
                                    <a:rPr kumimoji="1" lang="en-US" altLang="zh-CN" sz="2800" i="1">
                                      <a:latin typeface="Cambria Math" panose="02040503050406030204" pitchFamily="18" charset="0"/>
                                    </a:rPr>
                                  </m:ctrlPr>
                                </m:sSubPr>
                                <m:e>
                                  <m:r>
                                    <a:rPr kumimoji="1" lang="en-US" altLang="zh-CN" sz="2800" i="1">
                                      <a:latin typeface="Cambria Math" panose="02040503050406030204" pitchFamily="18" charset="0"/>
                                    </a:rPr>
                                    <m:t>𝑦</m:t>
                                  </m:r>
                                </m:e>
                                <m:sub>
                                  <m:r>
                                    <a:rPr kumimoji="1" lang="en-US" altLang="zh-CN" sz="2800" i="1">
                                      <a:latin typeface="Cambria Math" panose="02040503050406030204" pitchFamily="18" charset="0"/>
                                    </a:rPr>
                                    <m:t>𝑖</m:t>
                                  </m:r>
                                </m:sub>
                              </m:sSub>
                              <m:d>
                                <m:dPr>
                                  <m:ctrlPr>
                                    <a:rPr kumimoji="1" lang="en-US" altLang="zh-CN" sz="2800" i="1">
                                      <a:latin typeface="Cambria Math" panose="02040503050406030204" pitchFamily="18" charset="0"/>
                                    </a:rPr>
                                  </m:ctrlPr>
                                </m:dPr>
                                <m:e>
                                  <m:r>
                                    <a:rPr kumimoji="1" lang="en-US" altLang="zh-CN" sz="2800" i="1">
                                      <a:latin typeface="Cambria Math" panose="02040503050406030204" pitchFamily="18" charset="0"/>
                                    </a:rPr>
                                    <m:t>𝑤</m:t>
                                  </m:r>
                                  <m:sSub>
                                    <m:sSubPr>
                                      <m:ctrlPr>
                                        <a:rPr kumimoji="1" lang="en-US" altLang="zh-CN" sz="2800" i="1">
                                          <a:latin typeface="Cambria Math" panose="02040503050406030204" pitchFamily="18" charset="0"/>
                                        </a:rPr>
                                      </m:ctrlPr>
                                    </m:sSubPr>
                                    <m:e>
                                      <m:r>
                                        <a:rPr kumimoji="1" lang="en-US" altLang="zh-CN" sz="2800" i="1">
                                          <a:latin typeface="Cambria Math" panose="02040503050406030204" pitchFamily="18" charset="0"/>
                                          <a:ea typeface="Cambria Math" panose="02040503050406030204" pitchFamily="18" charset="0"/>
                                        </a:rPr>
                                        <m:t>∙</m:t>
                                      </m:r>
                                      <m:r>
                                        <a:rPr kumimoji="1" lang="en-US" altLang="zh-CN" sz="2800" i="1">
                                          <a:latin typeface="Cambria Math" panose="02040503050406030204" pitchFamily="18" charset="0"/>
                                          <a:ea typeface="Cambria Math" panose="02040503050406030204" pitchFamily="18" charset="0"/>
                                        </a:rPr>
                                        <m:t>𝑥</m:t>
                                      </m:r>
                                    </m:e>
                                    <m:sub>
                                      <m:r>
                                        <a:rPr kumimoji="1" lang="en-US" altLang="zh-CN" sz="2800" i="1">
                                          <a:latin typeface="Cambria Math" panose="02040503050406030204" pitchFamily="18" charset="0"/>
                                        </a:rPr>
                                        <m:t>𝑖</m:t>
                                      </m:r>
                                    </m:sub>
                                  </m:sSub>
                                  <m:r>
                                    <a:rPr kumimoji="1" lang="en-US" altLang="zh-CN" sz="2800" i="1">
                                      <a:latin typeface="Cambria Math" panose="02040503050406030204" pitchFamily="18" charset="0"/>
                                    </a:rPr>
                                    <m:t>+</m:t>
                                  </m:r>
                                  <m:r>
                                    <a:rPr kumimoji="1" lang="en-US" altLang="zh-CN" sz="2800" i="1">
                                      <a:latin typeface="Cambria Math" panose="02040503050406030204" pitchFamily="18" charset="0"/>
                                    </a:rPr>
                                    <m:t>𝑏</m:t>
                                  </m:r>
                                </m:e>
                              </m:d>
                            </m:e>
                          </m:d>
                        </m:e>
                      </m:nary>
                    </m:oMath>
                  </m:oMathPara>
                </a14:m>
                <a:endParaRPr kumimoji="1" lang="zh-CN" altLang="en-US" sz="2800" dirty="0"/>
              </a:p>
            </p:txBody>
          </p:sp>
        </mc:Choice>
        <mc:Fallback xmlns="">
          <p:sp>
            <p:nvSpPr>
              <p:cNvPr id="2" name="文本框 1">
                <a:extLst>
                  <a:ext uri="{FF2B5EF4-FFF2-40B4-BE49-F238E27FC236}">
                    <a16:creationId xmlns:a16="http://schemas.microsoft.com/office/drawing/2014/main" id="{F68DAB44-5AD5-CED1-0231-AF0F7F6E1B04}"/>
                  </a:ext>
                </a:extLst>
              </p:cNvPr>
              <p:cNvSpPr txBox="1">
                <a:spLocks noRot="1" noChangeAspect="1" noMove="1" noResize="1" noEditPoints="1" noAdjustHandles="1" noChangeArrowheads="1" noChangeShapeType="1" noTextEdit="1"/>
              </p:cNvSpPr>
              <p:nvPr/>
            </p:nvSpPr>
            <p:spPr>
              <a:xfrm>
                <a:off x="1479239" y="2274425"/>
                <a:ext cx="7254165" cy="1211550"/>
              </a:xfrm>
              <a:prstGeom prst="rect">
                <a:avLst/>
              </a:prstGeom>
              <a:blipFill>
                <a:blip r:embed="rId3"/>
                <a:stretch>
                  <a:fillRect l="-699" t="-112500" b="-175000"/>
                </a:stretch>
              </a:blipFill>
            </p:spPr>
            <p:txBody>
              <a:bodyPr/>
              <a:lstStyle/>
              <a:p>
                <a:r>
                  <a:rPr lang="zh-CN" altLang="en-US">
                    <a:noFill/>
                  </a:rPr>
                  <a:t> </a:t>
                </a:r>
              </a:p>
            </p:txBody>
          </p:sp>
        </mc:Fallback>
      </mc:AlternateContent>
      <p:grpSp>
        <p:nvGrpSpPr>
          <p:cNvPr id="13" name="组合 12">
            <a:extLst>
              <a:ext uri="{FF2B5EF4-FFF2-40B4-BE49-F238E27FC236}">
                <a16:creationId xmlns:a16="http://schemas.microsoft.com/office/drawing/2014/main" id="{8F10A78C-FB59-0C24-0F47-DB214D7FCD9E}"/>
              </a:ext>
            </a:extLst>
          </p:cNvPr>
          <p:cNvGrpSpPr/>
          <p:nvPr/>
        </p:nvGrpSpPr>
        <p:grpSpPr>
          <a:xfrm>
            <a:off x="1346656" y="3770345"/>
            <a:ext cx="7519329" cy="1375633"/>
            <a:chOff x="1314609" y="3582162"/>
            <a:chExt cx="7519329" cy="1375633"/>
          </a:xfrm>
        </p:grpSpPr>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97F389D2-1B35-F7B0-A5F5-5E4DB2D4CD4E}"/>
                    </a:ext>
                  </a:extLst>
                </p:cNvPr>
                <p:cNvSpPr txBox="1"/>
                <p:nvPr/>
              </p:nvSpPr>
              <p:spPr>
                <a:xfrm>
                  <a:off x="1314609" y="3582162"/>
                  <a:ext cx="4318042" cy="137563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zh-CN" altLang="en-US" sz="2800" i="1" smtClean="0">
                            <a:latin typeface="Cambria Math" panose="02040503050406030204" pitchFamily="18" charset="0"/>
                          </a:rPr>
                          <m:t>∴</m:t>
                        </m:r>
                        <m:func>
                          <m:funcPr>
                            <m:ctrlPr>
                              <a:rPr kumimoji="1" lang="en-US" altLang="zh-CN" sz="2800" i="1" smtClean="0">
                                <a:latin typeface="Cambria Math" panose="02040503050406030204" pitchFamily="18" charset="0"/>
                              </a:rPr>
                            </m:ctrlPr>
                          </m:funcPr>
                          <m:fName>
                            <m:limLow>
                              <m:limLowPr>
                                <m:ctrlPr>
                                  <a:rPr kumimoji="1" lang="en-US" altLang="zh-CN" sz="2800" i="1" smtClean="0">
                                    <a:latin typeface="Cambria Math" panose="02040503050406030204" pitchFamily="18" charset="0"/>
                                  </a:rPr>
                                </m:ctrlPr>
                              </m:limLowPr>
                              <m:e>
                                <m:r>
                                  <m:rPr>
                                    <m:sty m:val="p"/>
                                  </m:rPr>
                                  <a:rPr kumimoji="1" lang="en-US" altLang="zh-CN" sz="2800" i="0" smtClean="0">
                                    <a:latin typeface="Cambria Math" panose="02040503050406030204" pitchFamily="18" charset="0"/>
                                  </a:rPr>
                                  <m:t>max</m:t>
                                </m:r>
                              </m:e>
                              <m:lim>
                                <m:r>
                                  <a:rPr kumimoji="1" lang="en-US" altLang="zh-CN" sz="2800" i="1">
                                    <a:latin typeface="Cambria Math" panose="02040503050406030204" pitchFamily="18" charset="0"/>
                                    <a:ea typeface="Cambria Math" panose="02040503050406030204" pitchFamily="18" charset="0"/>
                                  </a:rPr>
                                  <m:t>𝛼</m:t>
                                </m:r>
                              </m:lim>
                            </m:limLow>
                          </m:fName>
                          <m:e>
                            <m:r>
                              <a:rPr kumimoji="1" lang="en-US" altLang="zh-CN" sz="2800" i="1">
                                <a:latin typeface="Cambria Math" panose="02040503050406030204" pitchFamily="18" charset="0"/>
                              </a:rPr>
                              <m:t>𝐿</m:t>
                            </m:r>
                            <m:d>
                              <m:dPr>
                                <m:ctrlPr>
                                  <a:rPr kumimoji="1" lang="en-US" altLang="zh-CN" sz="2800" i="1">
                                    <a:latin typeface="Cambria Math" panose="02040503050406030204" pitchFamily="18" charset="0"/>
                                  </a:rPr>
                                </m:ctrlPr>
                              </m:dPr>
                              <m:e>
                                <m:r>
                                  <a:rPr kumimoji="1" lang="en-US" altLang="zh-CN" sz="2800" i="1">
                                    <a:latin typeface="Cambria Math" panose="02040503050406030204" pitchFamily="18" charset="0"/>
                                  </a:rPr>
                                  <m:t>𝑤</m:t>
                                </m:r>
                                <m:r>
                                  <a:rPr kumimoji="1" lang="en-US" altLang="zh-CN" sz="2800" i="1">
                                    <a:latin typeface="Cambria Math" panose="02040503050406030204" pitchFamily="18" charset="0"/>
                                  </a:rPr>
                                  <m:t>,</m:t>
                                </m:r>
                                <m:r>
                                  <a:rPr kumimoji="1" lang="en-US" altLang="zh-CN" sz="2800" i="1">
                                    <a:latin typeface="Cambria Math" panose="02040503050406030204" pitchFamily="18" charset="0"/>
                                  </a:rPr>
                                  <m:t>𝑏</m:t>
                                </m:r>
                                <m:r>
                                  <a:rPr kumimoji="1" lang="en-US" altLang="zh-CN" sz="2800" i="1">
                                    <a:latin typeface="Cambria Math" panose="02040503050406030204" pitchFamily="18" charset="0"/>
                                  </a:rPr>
                                  <m:t>,</m:t>
                                </m:r>
                                <m:r>
                                  <a:rPr kumimoji="1" lang="en-US" altLang="zh-CN" sz="2800" i="1">
                                    <a:latin typeface="Cambria Math" panose="02040503050406030204" pitchFamily="18" charset="0"/>
                                    <a:ea typeface="Cambria Math" panose="02040503050406030204" pitchFamily="18" charset="0"/>
                                  </a:rPr>
                                  <m:t>𝛼</m:t>
                                </m:r>
                              </m:e>
                            </m:d>
                            <m:r>
                              <a:rPr kumimoji="1" lang="en-US" altLang="zh-CN" sz="2800" b="0" i="1" smtClean="0">
                                <a:latin typeface="Cambria Math" panose="02040503050406030204" pitchFamily="18" charset="0"/>
                                <a:ea typeface="Cambria Math" panose="02040503050406030204" pitchFamily="18" charset="0"/>
                              </a:rPr>
                              <m:t>=</m:t>
                            </m:r>
                            <m:d>
                              <m:dPr>
                                <m:begChr m:val="{"/>
                                <m:endChr m:val=""/>
                                <m:ctrlPr>
                                  <a:rPr kumimoji="1" lang="en-US" altLang="zh-CN" sz="2800" i="1" smtClean="0">
                                    <a:latin typeface="Cambria Math" panose="02040503050406030204" pitchFamily="18" charset="0"/>
                                    <a:ea typeface="Cambria Math" panose="02040503050406030204" pitchFamily="18" charset="0"/>
                                  </a:rPr>
                                </m:ctrlPr>
                              </m:dPr>
                              <m:e>
                                <m:eqArr>
                                  <m:eqArrPr>
                                    <m:ctrlPr>
                                      <a:rPr kumimoji="1" lang="en-US" altLang="zh-CN" sz="2800" i="1" smtClean="0">
                                        <a:latin typeface="Cambria Math" panose="02040503050406030204" pitchFamily="18" charset="0"/>
                                        <a:ea typeface="Cambria Math" panose="02040503050406030204" pitchFamily="18" charset="0"/>
                                      </a:rPr>
                                    </m:ctrlPr>
                                  </m:eqArrPr>
                                  <m:e>
                                    <m:f>
                                      <m:fPr>
                                        <m:ctrlPr>
                                          <a:rPr kumimoji="1" lang="en-US" altLang="zh-CN" sz="2800" i="1">
                                            <a:latin typeface="Cambria Math" panose="02040503050406030204" pitchFamily="18" charset="0"/>
                                          </a:rPr>
                                        </m:ctrlPr>
                                      </m:fPr>
                                      <m:num>
                                        <m:r>
                                          <a:rPr kumimoji="1" lang="en-US" altLang="zh-CN" sz="2800" i="1">
                                            <a:latin typeface="Cambria Math" panose="02040503050406030204" pitchFamily="18" charset="0"/>
                                          </a:rPr>
                                          <m:t>1</m:t>
                                        </m:r>
                                      </m:num>
                                      <m:den>
                                        <m:r>
                                          <a:rPr kumimoji="1" lang="en-US" altLang="zh-CN" sz="2800" i="1">
                                            <a:latin typeface="Cambria Math" panose="02040503050406030204" pitchFamily="18" charset="0"/>
                                          </a:rPr>
                                          <m:t>2</m:t>
                                        </m:r>
                                      </m:den>
                                    </m:f>
                                    <m:sSup>
                                      <m:sSupPr>
                                        <m:ctrlPr>
                                          <a:rPr kumimoji="1" lang="en-US" altLang="zh-CN" sz="2800" i="1">
                                            <a:latin typeface="Cambria Math" panose="02040503050406030204" pitchFamily="18" charset="0"/>
                                          </a:rPr>
                                        </m:ctrlPr>
                                      </m:sSupPr>
                                      <m:e>
                                        <m:d>
                                          <m:dPr>
                                            <m:begChr m:val="‖"/>
                                            <m:endChr m:val="‖"/>
                                            <m:ctrlPr>
                                              <a:rPr kumimoji="1" lang="en-US" altLang="zh-CN" sz="2800" i="1">
                                                <a:latin typeface="Cambria Math" panose="02040503050406030204" pitchFamily="18" charset="0"/>
                                              </a:rPr>
                                            </m:ctrlPr>
                                          </m:dPr>
                                          <m:e>
                                            <m:r>
                                              <a:rPr kumimoji="1" lang="en-US" altLang="zh-CN" sz="2800" i="1">
                                                <a:latin typeface="Cambria Math" panose="02040503050406030204" pitchFamily="18" charset="0"/>
                                              </a:rPr>
                                              <m:t>𝑤</m:t>
                                            </m:r>
                                          </m:e>
                                        </m:d>
                                      </m:e>
                                      <m:sup>
                                        <m:r>
                                          <a:rPr kumimoji="1" lang="en-US" altLang="zh-CN" sz="2800" i="1">
                                            <a:latin typeface="Cambria Math" panose="02040503050406030204" pitchFamily="18" charset="0"/>
                                          </a:rPr>
                                          <m:t>2</m:t>
                                        </m:r>
                                      </m:sup>
                                    </m:sSup>
                                  </m:e>
                                  <m:e>
                                    <m:r>
                                      <a:rPr kumimoji="1" lang="en-US" altLang="zh-CN" sz="2800" i="1" smtClean="0">
                                        <a:latin typeface="Cambria Math" panose="02040503050406030204" pitchFamily="18" charset="0"/>
                                        <a:ea typeface="Cambria Math" panose="02040503050406030204" pitchFamily="18" charset="0"/>
                                      </a:rPr>
                                      <m:t>∞</m:t>
                                    </m:r>
                                  </m:e>
                                </m:eqArr>
                              </m:e>
                            </m:d>
                          </m:e>
                        </m:func>
                      </m:oMath>
                    </m:oMathPara>
                  </a14:m>
                  <a:endParaRPr kumimoji="1" lang="zh-CN" altLang="en-US" sz="2800" dirty="0"/>
                </a:p>
              </p:txBody>
            </p:sp>
          </mc:Choice>
          <mc:Fallback xmlns="">
            <p:sp>
              <p:nvSpPr>
                <p:cNvPr id="4" name="文本框 3">
                  <a:extLst>
                    <a:ext uri="{FF2B5EF4-FFF2-40B4-BE49-F238E27FC236}">
                      <a16:creationId xmlns:a16="http://schemas.microsoft.com/office/drawing/2014/main" id="{97F389D2-1B35-F7B0-A5F5-5E4DB2D4CD4E}"/>
                    </a:ext>
                  </a:extLst>
                </p:cNvPr>
                <p:cNvSpPr txBox="1">
                  <a:spLocks noRot="1" noChangeAspect="1" noMove="1" noResize="1" noEditPoints="1" noAdjustHandles="1" noChangeArrowheads="1" noChangeShapeType="1" noTextEdit="1"/>
                </p:cNvSpPr>
                <p:nvPr/>
              </p:nvSpPr>
              <p:spPr>
                <a:xfrm>
                  <a:off x="1314609" y="3582162"/>
                  <a:ext cx="4318042" cy="1375633"/>
                </a:xfrm>
                <a:prstGeom prst="rect">
                  <a:avLst/>
                </a:prstGeom>
                <a:blipFill>
                  <a:blip r:embed="rId4"/>
                  <a:stretch>
                    <a:fillRect l="-882" t="-230000" r="-29706" b="-32727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D088D345-BAE8-509C-E6E7-884BC023D300}"/>
                    </a:ext>
                  </a:extLst>
                </p:cNvPr>
                <p:cNvSpPr txBox="1"/>
                <p:nvPr/>
              </p:nvSpPr>
              <p:spPr>
                <a:xfrm>
                  <a:off x="5337468" y="3910754"/>
                  <a:ext cx="3496470"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zh-CN" altLang="en-US" sz="2800" b="0" i="1" smtClean="0">
                            <a:latin typeface="Cambria Math" panose="02040503050406030204" pitchFamily="18" charset="0"/>
                          </a:rPr>
                          <m:t>，</m:t>
                        </m:r>
                        <m:r>
                          <a:rPr kumimoji="1" lang="zh-CN" altLang="en-US" sz="2800" i="1">
                            <a:latin typeface="Cambria Math" panose="02040503050406030204" pitchFamily="18" charset="0"/>
                          </a:rPr>
                          <m:t>当</m:t>
                        </m:r>
                        <m:r>
                          <a:rPr kumimoji="1" lang="zh-CN" altLang="en-US" sz="2800" i="1" smtClean="0">
                            <a:latin typeface="Cambria Math" panose="02040503050406030204" pitchFamily="18" charset="0"/>
                          </a:rPr>
                          <m:t>满足</m:t>
                        </m:r>
                        <m:r>
                          <a:rPr kumimoji="1" lang="zh-CN" altLang="en-US" sz="2800" i="1">
                            <a:latin typeface="Cambria Math" panose="02040503050406030204" pitchFamily="18" charset="0"/>
                          </a:rPr>
                          <m:t>约束</m:t>
                        </m:r>
                        <m:r>
                          <a:rPr kumimoji="1" lang="zh-CN" altLang="en-US" sz="2800" i="1" smtClean="0">
                            <a:latin typeface="Cambria Math" panose="02040503050406030204" pitchFamily="18" charset="0"/>
                          </a:rPr>
                          <m:t>条件</m:t>
                        </m:r>
                        <m:r>
                          <a:rPr kumimoji="1" lang="zh-CN" altLang="en-US" sz="2800" i="1">
                            <a:latin typeface="Cambria Math" panose="02040503050406030204" pitchFamily="18" charset="0"/>
                          </a:rPr>
                          <m:t>时</m:t>
                        </m:r>
                      </m:oMath>
                    </m:oMathPara>
                  </a14:m>
                  <a:endParaRPr kumimoji="1" lang="zh-CN" altLang="en-US" sz="2800" dirty="0"/>
                </a:p>
              </p:txBody>
            </p:sp>
          </mc:Choice>
          <mc:Fallback xmlns="">
            <p:sp>
              <p:nvSpPr>
                <p:cNvPr id="10" name="文本框 9">
                  <a:extLst>
                    <a:ext uri="{FF2B5EF4-FFF2-40B4-BE49-F238E27FC236}">
                      <a16:creationId xmlns:a16="http://schemas.microsoft.com/office/drawing/2014/main" id="{D088D345-BAE8-509C-E6E7-884BC023D300}"/>
                    </a:ext>
                  </a:extLst>
                </p:cNvPr>
                <p:cNvSpPr txBox="1">
                  <a:spLocks noRot="1" noChangeAspect="1" noMove="1" noResize="1" noEditPoints="1" noAdjustHandles="1" noChangeArrowheads="1" noChangeShapeType="1" noTextEdit="1"/>
                </p:cNvSpPr>
                <p:nvPr/>
              </p:nvSpPr>
              <p:spPr>
                <a:xfrm>
                  <a:off x="5337468" y="3910754"/>
                  <a:ext cx="3496470" cy="523220"/>
                </a:xfrm>
                <a:prstGeom prst="rect">
                  <a:avLst/>
                </a:prstGeom>
                <a:blipFill>
                  <a:blip r:embed="rId5"/>
                  <a:stretch>
                    <a:fillRect t="-2381" r="-725" b="-9524"/>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464F4EDE-18BC-3F89-B66E-FB755CD6CEEF}"/>
                  </a:ext>
                </a:extLst>
              </p:cNvPr>
              <p:cNvSpPr txBox="1"/>
              <p:nvPr/>
            </p:nvSpPr>
            <p:spPr>
              <a:xfrm>
                <a:off x="1357466" y="5505568"/>
                <a:ext cx="3214534" cy="59394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zh-CN" altLang="en-US" sz="2800" i="1" smtClean="0">
                          <a:latin typeface="Cambria Math" panose="02040503050406030204" pitchFamily="18" charset="0"/>
                        </a:rPr>
                        <m:t>∴</m:t>
                      </m:r>
                      <m:func>
                        <m:funcPr>
                          <m:ctrlPr>
                            <a:rPr kumimoji="1" lang="en-US" altLang="zh-CN" sz="2800" i="1">
                              <a:latin typeface="Cambria Math" panose="02040503050406030204" pitchFamily="18" charset="0"/>
                            </a:rPr>
                          </m:ctrlPr>
                        </m:funcPr>
                        <m:fName>
                          <m:limLow>
                            <m:limLowPr>
                              <m:ctrlPr>
                                <a:rPr kumimoji="1" lang="en-US" altLang="zh-CN" sz="2800" i="1">
                                  <a:latin typeface="Cambria Math" panose="02040503050406030204" pitchFamily="18" charset="0"/>
                                </a:rPr>
                              </m:ctrlPr>
                            </m:limLowPr>
                            <m:e>
                              <m:r>
                                <m:rPr>
                                  <m:sty m:val="p"/>
                                </m:rPr>
                                <a:rPr kumimoji="1" lang="en-US" altLang="zh-CN" sz="2800">
                                  <a:latin typeface="Cambria Math" panose="02040503050406030204" pitchFamily="18" charset="0"/>
                                </a:rPr>
                                <m:t>min</m:t>
                              </m:r>
                            </m:e>
                            <m:lim>
                              <m:r>
                                <a:rPr kumimoji="1" lang="en-US" altLang="zh-CN" sz="2800" i="1">
                                  <a:latin typeface="Cambria Math" panose="02040503050406030204" pitchFamily="18" charset="0"/>
                                </a:rPr>
                                <m:t>𝑤</m:t>
                              </m:r>
                              <m:r>
                                <a:rPr kumimoji="1" lang="en-US" altLang="zh-CN" sz="2800" i="1">
                                  <a:latin typeface="Cambria Math" panose="02040503050406030204" pitchFamily="18" charset="0"/>
                                </a:rPr>
                                <m:t>,</m:t>
                              </m:r>
                              <m:r>
                                <a:rPr kumimoji="1" lang="en-US" altLang="zh-CN" sz="2800" i="1">
                                  <a:latin typeface="Cambria Math" panose="02040503050406030204" pitchFamily="18" charset="0"/>
                                </a:rPr>
                                <m:t>𝑏</m:t>
                              </m:r>
                            </m:lim>
                          </m:limLow>
                        </m:fName>
                        <m:e>
                          <m:limLow>
                            <m:limLowPr>
                              <m:ctrlPr>
                                <a:rPr kumimoji="1" lang="en-US" altLang="zh-CN" sz="2800" i="1">
                                  <a:latin typeface="Cambria Math" panose="02040503050406030204" pitchFamily="18" charset="0"/>
                                </a:rPr>
                              </m:ctrlPr>
                            </m:limLowPr>
                            <m:e>
                              <m:r>
                                <m:rPr>
                                  <m:sty m:val="p"/>
                                </m:rPr>
                                <a:rPr kumimoji="1" lang="en-US" altLang="zh-CN" sz="2800">
                                  <a:latin typeface="Cambria Math" panose="02040503050406030204" pitchFamily="18" charset="0"/>
                                </a:rPr>
                                <m:t>max</m:t>
                              </m:r>
                            </m:e>
                            <m:lim>
                              <m:r>
                                <a:rPr kumimoji="1" lang="en-US" altLang="zh-CN" sz="2800" i="1">
                                  <a:latin typeface="Cambria Math" panose="02040503050406030204" pitchFamily="18" charset="0"/>
                                  <a:ea typeface="Cambria Math" panose="02040503050406030204" pitchFamily="18" charset="0"/>
                                </a:rPr>
                                <m:t>𝛼</m:t>
                              </m:r>
                            </m:lim>
                          </m:limLow>
                        </m:e>
                      </m:func>
                      <m:r>
                        <a:rPr kumimoji="1" lang="en-US" altLang="zh-CN" sz="2800" i="1">
                          <a:latin typeface="Cambria Math" panose="02040503050406030204" pitchFamily="18" charset="0"/>
                        </a:rPr>
                        <m:t>𝐿</m:t>
                      </m:r>
                      <m:d>
                        <m:dPr>
                          <m:ctrlPr>
                            <a:rPr kumimoji="1" lang="en-US" altLang="zh-CN" sz="2800" i="1">
                              <a:latin typeface="Cambria Math" panose="02040503050406030204" pitchFamily="18" charset="0"/>
                            </a:rPr>
                          </m:ctrlPr>
                        </m:dPr>
                        <m:e>
                          <m:r>
                            <a:rPr kumimoji="1" lang="en-US" altLang="zh-CN" sz="2800" i="1">
                              <a:latin typeface="Cambria Math" panose="02040503050406030204" pitchFamily="18" charset="0"/>
                            </a:rPr>
                            <m:t>𝑤</m:t>
                          </m:r>
                          <m:r>
                            <a:rPr kumimoji="1" lang="en-US" altLang="zh-CN" sz="2800" i="1">
                              <a:latin typeface="Cambria Math" panose="02040503050406030204" pitchFamily="18" charset="0"/>
                            </a:rPr>
                            <m:t>,</m:t>
                          </m:r>
                          <m:r>
                            <a:rPr kumimoji="1" lang="en-US" altLang="zh-CN" sz="2800" i="1">
                              <a:latin typeface="Cambria Math" panose="02040503050406030204" pitchFamily="18" charset="0"/>
                            </a:rPr>
                            <m:t>𝑏</m:t>
                          </m:r>
                          <m:r>
                            <a:rPr kumimoji="1" lang="en-US" altLang="zh-CN" sz="2800" i="1">
                              <a:latin typeface="Cambria Math" panose="02040503050406030204" pitchFamily="18" charset="0"/>
                            </a:rPr>
                            <m:t>,</m:t>
                          </m:r>
                          <m:r>
                            <a:rPr kumimoji="1" lang="en-US" altLang="zh-CN" sz="2800" i="1">
                              <a:latin typeface="Cambria Math" panose="02040503050406030204" pitchFamily="18" charset="0"/>
                              <a:ea typeface="Cambria Math" panose="02040503050406030204" pitchFamily="18" charset="0"/>
                            </a:rPr>
                            <m:t>𝛼</m:t>
                          </m:r>
                        </m:e>
                      </m:d>
                    </m:oMath>
                  </m:oMathPara>
                </a14:m>
                <a:endParaRPr kumimoji="1" lang="zh-CN" altLang="en-US" sz="2800" dirty="0"/>
              </a:p>
            </p:txBody>
          </p:sp>
        </mc:Choice>
        <mc:Fallback xmlns="">
          <p:sp>
            <p:nvSpPr>
              <p:cNvPr id="11" name="文本框 10">
                <a:extLst>
                  <a:ext uri="{FF2B5EF4-FFF2-40B4-BE49-F238E27FC236}">
                    <a16:creationId xmlns:a16="http://schemas.microsoft.com/office/drawing/2014/main" id="{464F4EDE-18BC-3F89-B66E-FB755CD6CEEF}"/>
                  </a:ext>
                </a:extLst>
              </p:cNvPr>
              <p:cNvSpPr txBox="1">
                <a:spLocks noRot="1" noChangeAspect="1" noMove="1" noResize="1" noEditPoints="1" noAdjustHandles="1" noChangeArrowheads="1" noChangeShapeType="1" noTextEdit="1"/>
              </p:cNvSpPr>
              <p:nvPr/>
            </p:nvSpPr>
            <p:spPr>
              <a:xfrm>
                <a:off x="1357466" y="5505568"/>
                <a:ext cx="3214534" cy="593945"/>
              </a:xfrm>
              <a:prstGeom prst="rect">
                <a:avLst/>
              </a:prstGeom>
              <a:blipFill>
                <a:blip r:embed="rId6"/>
                <a:stretch>
                  <a:fillRect l="-1186" b="-8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4B390B7A-6E10-2952-8A29-2AC7AF64713D}"/>
                  </a:ext>
                </a:extLst>
              </p:cNvPr>
              <p:cNvSpPr txBox="1"/>
              <p:nvPr/>
            </p:nvSpPr>
            <p:spPr>
              <a:xfrm>
                <a:off x="4478215" y="5505568"/>
                <a:ext cx="3496470"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zh-CN" altLang="en-US" sz="2800" i="1">
                          <a:latin typeface="Cambria Math" panose="02040503050406030204" pitchFamily="18" charset="0"/>
                        </a:rPr>
                        <m:t>与原始优化问题等价</m:t>
                      </m:r>
                    </m:oMath>
                  </m:oMathPara>
                </a14:m>
                <a:endParaRPr kumimoji="1" lang="zh-CN" altLang="en-US" sz="2800" dirty="0"/>
              </a:p>
            </p:txBody>
          </p:sp>
        </mc:Choice>
        <mc:Fallback xmlns="">
          <p:sp>
            <p:nvSpPr>
              <p:cNvPr id="12" name="文本框 11">
                <a:extLst>
                  <a:ext uri="{FF2B5EF4-FFF2-40B4-BE49-F238E27FC236}">
                    <a16:creationId xmlns:a16="http://schemas.microsoft.com/office/drawing/2014/main" id="{4B390B7A-6E10-2952-8A29-2AC7AF64713D}"/>
                  </a:ext>
                </a:extLst>
              </p:cNvPr>
              <p:cNvSpPr txBox="1">
                <a:spLocks noRot="1" noChangeAspect="1" noMove="1" noResize="1" noEditPoints="1" noAdjustHandles="1" noChangeArrowheads="1" noChangeShapeType="1" noTextEdit="1"/>
              </p:cNvSpPr>
              <p:nvPr/>
            </p:nvSpPr>
            <p:spPr>
              <a:xfrm>
                <a:off x="4478215" y="5505568"/>
                <a:ext cx="3496470" cy="523220"/>
              </a:xfrm>
              <a:prstGeom prst="rect">
                <a:avLst/>
              </a:prstGeom>
              <a:blipFill>
                <a:blip r:embed="rId7"/>
                <a:stretch>
                  <a:fillRect l="-725" t="-2381" r="-725" b="-952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620023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sz="quarter" idx="1"/>
          </p:nvPr>
        </p:nvSpPr>
        <p:spPr/>
        <p:txBody>
          <a:bodyPr/>
          <a:lstStyle/>
          <a:p>
            <a:r>
              <a:rPr lang="zh-CN" altLang="en-US" dirty="0"/>
              <a:t>对偶问题</a:t>
            </a:r>
            <a:endParaRPr lang="en-US" altLang="zh-CN" dirty="0"/>
          </a:p>
          <a:p>
            <a:pPr marL="0" indent="0">
              <a:buNone/>
            </a:pPr>
            <a:endParaRPr lang="en-US" altLang="zh-CN" dirty="0"/>
          </a:p>
          <a:p>
            <a:endParaRPr lang="en-US" altLang="zh-CN" dirty="0"/>
          </a:p>
          <a:p>
            <a:endParaRPr lang="en-US" altLang="zh-CN" dirty="0"/>
          </a:p>
          <a:p>
            <a:endParaRPr lang="en-US" altLang="zh-CN" dirty="0"/>
          </a:p>
          <a:p>
            <a:endParaRPr lang="en-US" altLang="zh-CN" dirty="0"/>
          </a:p>
          <a:p>
            <a:endParaRPr lang="en-US" altLang="zh-CN" dirty="0"/>
          </a:p>
          <a:p>
            <a:r>
              <a:rPr lang="zh-CN" altLang="en-US" dirty="0"/>
              <a:t>当满足</a:t>
            </a:r>
            <a:r>
              <a:rPr lang="en-US" altLang="zh-CN" dirty="0"/>
              <a:t>KKT</a:t>
            </a:r>
            <a:r>
              <a:rPr lang="zh-CN" altLang="en-US" dirty="0"/>
              <a:t>条件时，上式等号成立</a:t>
            </a:r>
            <a:endParaRPr lang="en-US" altLang="zh-CN" dirty="0"/>
          </a:p>
          <a:p>
            <a:r>
              <a:rPr lang="zh-CN" altLang="en-US" dirty="0"/>
              <a:t>所以可以通过求解对偶优化问题求解原始优化问题</a:t>
            </a:r>
          </a:p>
        </p:txBody>
      </p:sp>
      <mc:AlternateContent xmlns:mc="http://schemas.openxmlformats.org/markup-compatibility/2006" xmlns:a14="http://schemas.microsoft.com/office/drawing/2010/main">
        <mc:Choice Requires="a14">
          <p:sp>
            <p:nvSpPr>
              <p:cNvPr id="4" name="Object 2" descr="羊皮纸"/>
              <p:cNvSpPr txBox="1"/>
              <p:nvPr/>
            </p:nvSpPr>
            <p:spPr bwMode="auto">
              <a:xfrm>
                <a:off x="1304924" y="2030413"/>
                <a:ext cx="7187497" cy="709612"/>
              </a:xfrm>
              <a:prstGeom prst="rect">
                <a:avLst/>
              </a:prstGeom>
              <a:noFill/>
            </p:spPr>
            <p:txBody>
              <a:bodyPr>
                <a:normAutofit fontScale="92500"/>
              </a:bodyPr>
              <a:lstStyle/>
              <a:p>
                <a:pPr/>
                <a14:m>
                  <m:oMathPara xmlns:m="http://schemas.openxmlformats.org/officeDocument/2006/math">
                    <m:oMathParaPr>
                      <m:jc m:val="left"/>
                    </m:oMathParaPr>
                    <m:oMath xmlns:m="http://schemas.openxmlformats.org/officeDocument/2006/math">
                      <m:limLow>
                        <m:limLowPr>
                          <m:ctrlPr>
                            <a:rPr lang="zh-CN" altLang="en-US" sz="2800" i="1" smtClean="0">
                              <a:solidFill>
                                <a:srgbClr val="000000"/>
                              </a:solidFill>
                              <a:latin typeface="Cambria Math" panose="02040503050406030204" pitchFamily="18" charset="0"/>
                            </a:rPr>
                          </m:ctrlPr>
                        </m:limLowPr>
                        <m:e>
                          <m:r>
                            <m:rPr>
                              <m:sty m:val="p"/>
                            </m:rPr>
                            <a:rPr lang="zh-CN" altLang="en-US" sz="2800">
                              <a:solidFill>
                                <a:srgbClr val="000000"/>
                              </a:solidFill>
                              <a:latin typeface="Cambria Math" panose="02040503050406030204" pitchFamily="18" charset="0"/>
                            </a:rPr>
                            <m:t>min</m:t>
                          </m:r>
                        </m:e>
                        <m:lim>
                          <m:r>
                            <a:rPr lang="zh-CN" altLang="en-US" sz="2800" i="1">
                              <a:solidFill>
                                <a:srgbClr val="000000"/>
                              </a:solidFill>
                              <a:latin typeface="Cambria Math" panose="02040503050406030204" pitchFamily="18" charset="0"/>
                            </a:rPr>
                            <m:t>𝑤</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𝑏</m:t>
                          </m:r>
                        </m:lim>
                      </m:limLow>
                      <m:limLow>
                        <m:limLowPr>
                          <m:ctrlPr>
                            <a:rPr lang="zh-CN" altLang="en-US" sz="2800" i="1">
                              <a:solidFill>
                                <a:srgbClr val="000000"/>
                              </a:solidFill>
                              <a:latin typeface="Cambria Math" panose="02040503050406030204" pitchFamily="18" charset="0"/>
                            </a:rPr>
                          </m:ctrlPr>
                        </m:limLowPr>
                        <m:e>
                          <m:r>
                            <m:rPr>
                              <m:sty m:val="p"/>
                            </m:rPr>
                            <a:rPr lang="zh-CN" altLang="en-US" sz="2800">
                              <a:solidFill>
                                <a:srgbClr val="000000"/>
                              </a:solidFill>
                              <a:latin typeface="Cambria Math" panose="02040503050406030204" pitchFamily="18" charset="0"/>
                            </a:rPr>
                            <m:t>max</m:t>
                          </m:r>
                        </m:e>
                        <m:lim>
                          <m:r>
                            <a:rPr lang="zh-CN" altLang="en-US" sz="2800" i="1">
                              <a:solidFill>
                                <a:srgbClr val="000000"/>
                              </a:solidFill>
                              <a:latin typeface="Cambria Math" panose="02040503050406030204" pitchFamily="18" charset="0"/>
                            </a:rPr>
                            <m:t>𝛼</m:t>
                          </m:r>
                        </m:lim>
                      </m:limLow>
                      <m:r>
                        <a:rPr lang="zh-CN" altLang="en-US" sz="2800" i="1" smtClean="0">
                          <a:solidFill>
                            <a:srgbClr val="000000"/>
                          </a:solidFill>
                          <a:latin typeface="Cambria Math" panose="02040503050406030204" pitchFamily="18" charset="0"/>
                        </a:rPr>
                        <m:t> </m:t>
                      </m:r>
                      <m:d>
                        <m:dPr>
                          <m:ctrlPr>
                            <a:rPr lang="zh-CN" altLang="en-US" sz="2800" i="1">
                              <a:solidFill>
                                <a:srgbClr val="000000"/>
                              </a:solidFill>
                              <a:latin typeface="Cambria Math" panose="02040503050406030204" pitchFamily="18" charset="0"/>
                            </a:rPr>
                          </m:ctrlPr>
                        </m:dPr>
                        <m:e>
                          <m:r>
                            <a:rPr lang="zh-CN" altLang="en-US" sz="2800" i="1">
                              <a:solidFill>
                                <a:srgbClr val="000000"/>
                              </a:solidFill>
                              <a:latin typeface="Cambria Math" panose="02040503050406030204" pitchFamily="18" charset="0"/>
                            </a:rPr>
                            <m:t>𝐿</m:t>
                          </m:r>
                          <m:d>
                            <m:dPr>
                              <m:ctrlPr>
                                <a:rPr lang="zh-CN" altLang="en-US" sz="2800" i="1">
                                  <a:solidFill>
                                    <a:srgbClr val="000000"/>
                                  </a:solidFill>
                                  <a:latin typeface="Cambria Math" panose="02040503050406030204" pitchFamily="18" charset="0"/>
                                </a:rPr>
                              </m:ctrlPr>
                            </m:dPr>
                            <m:e>
                              <m:r>
                                <a:rPr lang="zh-CN" altLang="en-US" sz="2800" i="1">
                                  <a:solidFill>
                                    <a:srgbClr val="000000"/>
                                  </a:solidFill>
                                  <a:latin typeface="Cambria Math" panose="02040503050406030204" pitchFamily="18" charset="0"/>
                                </a:rPr>
                                <m:t>𝑤</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𝑏</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𝛼</m:t>
                              </m:r>
                            </m:e>
                          </m:d>
                        </m:e>
                      </m:d>
                      <m:r>
                        <a:rPr lang="en-US" altLang="zh-CN" sz="2800" b="0" i="1" smtClean="0">
                          <a:solidFill>
                            <a:srgbClr val="000000"/>
                          </a:solidFill>
                          <a:latin typeface="Cambria Math" panose="02040503050406030204" pitchFamily="18" charset="0"/>
                        </a:rPr>
                        <m:t>  </m:t>
                      </m:r>
                      <m:r>
                        <a:rPr lang="en-US" altLang="zh-CN" sz="2800" i="1">
                          <a:solidFill>
                            <a:srgbClr val="000000"/>
                          </a:solidFill>
                          <a:latin typeface="Cambria Math" panose="02040503050406030204" pitchFamily="18" charset="0"/>
                        </a:rPr>
                        <m:t>⇒</m:t>
                      </m:r>
                      <m:r>
                        <a:rPr lang="en-US" altLang="zh-CN" sz="2800" b="0" i="1" smtClean="0">
                          <a:solidFill>
                            <a:srgbClr val="000000"/>
                          </a:solidFill>
                          <a:latin typeface="Cambria Math" panose="02040503050406030204" pitchFamily="18" charset="0"/>
                        </a:rPr>
                        <m:t>  </m:t>
                      </m:r>
                      <m:limLow>
                        <m:limLowPr>
                          <m:ctrlPr>
                            <a:rPr lang="zh-CN" altLang="en-US" sz="2800" i="1" smtClean="0">
                              <a:solidFill>
                                <a:srgbClr val="FF0000"/>
                              </a:solidFill>
                              <a:latin typeface="Cambria Math" panose="02040503050406030204" pitchFamily="18" charset="0"/>
                            </a:rPr>
                          </m:ctrlPr>
                        </m:limLowPr>
                        <m:e>
                          <m:r>
                            <m:rPr>
                              <m:sty m:val="p"/>
                            </m:rPr>
                            <a:rPr lang="zh-CN" altLang="en-US" sz="2800" i="0">
                              <a:solidFill>
                                <a:srgbClr val="FF0000"/>
                              </a:solidFill>
                              <a:latin typeface="Cambria Math" panose="02040503050406030204" pitchFamily="18" charset="0"/>
                            </a:rPr>
                            <m:t>max</m:t>
                          </m:r>
                        </m:e>
                        <m:lim>
                          <m:r>
                            <a:rPr lang="zh-CN" altLang="en-US" sz="2800" i="1">
                              <a:solidFill>
                                <a:srgbClr val="FF0000"/>
                              </a:solidFill>
                              <a:latin typeface="Cambria Math" panose="02040503050406030204" pitchFamily="18" charset="0"/>
                            </a:rPr>
                            <m:t>𝛼</m:t>
                          </m:r>
                        </m:lim>
                      </m:limLow>
                      <m:limLow>
                        <m:limLowPr>
                          <m:ctrlPr>
                            <a:rPr lang="zh-CN" altLang="en-US" sz="2800" i="1">
                              <a:solidFill>
                                <a:srgbClr val="FF0000"/>
                              </a:solidFill>
                              <a:latin typeface="Cambria Math" panose="02040503050406030204" pitchFamily="18" charset="0"/>
                            </a:rPr>
                          </m:ctrlPr>
                        </m:limLowPr>
                        <m:e>
                          <m:r>
                            <m:rPr>
                              <m:sty m:val="p"/>
                            </m:rPr>
                            <a:rPr lang="zh-CN" altLang="en-US" sz="2800" i="0">
                              <a:solidFill>
                                <a:srgbClr val="FF0000"/>
                              </a:solidFill>
                              <a:latin typeface="Cambria Math" panose="02040503050406030204" pitchFamily="18" charset="0"/>
                            </a:rPr>
                            <m:t>min</m:t>
                          </m:r>
                        </m:e>
                        <m:lim>
                          <m:r>
                            <a:rPr lang="zh-CN" altLang="en-US" sz="2800" i="1">
                              <a:solidFill>
                                <a:srgbClr val="FF0000"/>
                              </a:solidFill>
                              <a:latin typeface="Cambria Math" panose="02040503050406030204" pitchFamily="18" charset="0"/>
                            </a:rPr>
                            <m:t>𝑤</m:t>
                          </m:r>
                          <m:r>
                            <a:rPr lang="zh-CN" altLang="en-US" sz="2800" i="1">
                              <a:solidFill>
                                <a:srgbClr val="FF0000"/>
                              </a:solidFill>
                              <a:latin typeface="Cambria Math" panose="02040503050406030204" pitchFamily="18" charset="0"/>
                            </a:rPr>
                            <m:t>,</m:t>
                          </m:r>
                          <m:r>
                            <a:rPr lang="zh-CN" altLang="en-US" sz="2800" i="1">
                              <a:solidFill>
                                <a:srgbClr val="FF0000"/>
                              </a:solidFill>
                              <a:latin typeface="Cambria Math" panose="02040503050406030204" pitchFamily="18" charset="0"/>
                            </a:rPr>
                            <m:t>𝑏</m:t>
                          </m:r>
                        </m:lim>
                      </m:limLow>
                      <m:r>
                        <a:rPr lang="zh-CN" altLang="en-US" sz="2800" i="1">
                          <a:solidFill>
                            <a:srgbClr val="FF0000"/>
                          </a:solidFill>
                          <a:latin typeface="Cambria Math" panose="02040503050406030204" pitchFamily="18" charset="0"/>
                        </a:rPr>
                        <m:t>(</m:t>
                      </m:r>
                      <m:r>
                        <a:rPr lang="zh-CN" altLang="en-US" sz="2800" i="1">
                          <a:solidFill>
                            <a:srgbClr val="FF0000"/>
                          </a:solidFill>
                          <a:latin typeface="Cambria Math" panose="02040503050406030204" pitchFamily="18" charset="0"/>
                        </a:rPr>
                        <m:t>𝐿</m:t>
                      </m:r>
                      <m:r>
                        <a:rPr lang="zh-CN" altLang="en-US" sz="2800" i="1">
                          <a:solidFill>
                            <a:srgbClr val="FF0000"/>
                          </a:solidFill>
                          <a:latin typeface="Cambria Math" panose="02040503050406030204" pitchFamily="18" charset="0"/>
                        </a:rPr>
                        <m:t>(</m:t>
                      </m:r>
                      <m:r>
                        <a:rPr lang="zh-CN" altLang="en-US" sz="2800" i="1">
                          <a:solidFill>
                            <a:srgbClr val="FF0000"/>
                          </a:solidFill>
                          <a:latin typeface="Cambria Math" panose="02040503050406030204" pitchFamily="18" charset="0"/>
                        </a:rPr>
                        <m:t>𝑤</m:t>
                      </m:r>
                      <m:r>
                        <a:rPr lang="zh-CN" altLang="en-US" sz="2800" i="1">
                          <a:solidFill>
                            <a:srgbClr val="FF0000"/>
                          </a:solidFill>
                          <a:latin typeface="Cambria Math" panose="02040503050406030204" pitchFamily="18" charset="0"/>
                        </a:rPr>
                        <m:t>,</m:t>
                      </m:r>
                      <m:r>
                        <a:rPr lang="zh-CN" altLang="en-US" sz="2800" i="1">
                          <a:solidFill>
                            <a:srgbClr val="FF0000"/>
                          </a:solidFill>
                          <a:latin typeface="Cambria Math" panose="02040503050406030204" pitchFamily="18" charset="0"/>
                        </a:rPr>
                        <m:t>𝑏</m:t>
                      </m:r>
                      <m:r>
                        <a:rPr lang="zh-CN" altLang="en-US" sz="2800" i="1">
                          <a:solidFill>
                            <a:srgbClr val="FF0000"/>
                          </a:solidFill>
                          <a:latin typeface="Cambria Math" panose="02040503050406030204" pitchFamily="18" charset="0"/>
                        </a:rPr>
                        <m:t>,</m:t>
                      </m:r>
                      <m:r>
                        <a:rPr lang="zh-CN" altLang="en-US" sz="2800" i="1">
                          <a:solidFill>
                            <a:srgbClr val="FF0000"/>
                          </a:solidFill>
                          <a:latin typeface="Cambria Math" panose="02040503050406030204" pitchFamily="18" charset="0"/>
                        </a:rPr>
                        <m:t>𝛼</m:t>
                      </m:r>
                      <m:r>
                        <a:rPr lang="zh-CN" altLang="en-US" sz="2800" i="1">
                          <a:solidFill>
                            <a:srgbClr val="FF0000"/>
                          </a:solidFill>
                          <a:latin typeface="Cambria Math" panose="02040503050406030204" pitchFamily="18" charset="0"/>
                        </a:rPr>
                        <m:t>))</m:t>
                      </m:r>
                    </m:oMath>
                  </m:oMathPara>
                </a14:m>
                <a:endParaRPr lang="zh-CN" altLang="en-US" sz="2800" dirty="0"/>
              </a:p>
            </p:txBody>
          </p:sp>
        </mc:Choice>
        <mc:Fallback xmlns="">
          <p:sp>
            <p:nvSpPr>
              <p:cNvPr id="4" name="Object 2" descr="羊皮纸"/>
              <p:cNvSpPr txBox="1">
                <a:spLocks noRot="1" noChangeAspect="1" noMove="1" noResize="1" noEditPoints="1" noAdjustHandles="1" noChangeArrowheads="1" noChangeShapeType="1" noTextEdit="1"/>
              </p:cNvSpPr>
              <p:nvPr/>
            </p:nvSpPr>
            <p:spPr bwMode="auto">
              <a:xfrm>
                <a:off x="1304924" y="2030413"/>
                <a:ext cx="7187497" cy="709612"/>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62B1472B-3477-6948-AB89-3280122E3E0D}"/>
                  </a:ext>
                </a:extLst>
              </p:cNvPr>
              <p:cNvSpPr txBox="1"/>
              <p:nvPr/>
            </p:nvSpPr>
            <p:spPr>
              <a:xfrm>
                <a:off x="1246406" y="3000857"/>
                <a:ext cx="6797694" cy="59394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kumimoji="1" lang="en-US" altLang="zh-CN" sz="2800" i="1" smtClean="0">
                              <a:latin typeface="Cambria Math" panose="02040503050406030204" pitchFamily="18" charset="0"/>
                            </a:rPr>
                          </m:ctrlPr>
                        </m:funcPr>
                        <m:fName>
                          <m:limLow>
                            <m:limLowPr>
                              <m:ctrlPr>
                                <a:rPr kumimoji="1" lang="en-US" altLang="zh-CN" sz="2800" i="1">
                                  <a:latin typeface="Cambria Math" panose="02040503050406030204" pitchFamily="18" charset="0"/>
                                </a:rPr>
                              </m:ctrlPr>
                            </m:limLowPr>
                            <m:e>
                              <m:r>
                                <m:rPr>
                                  <m:sty m:val="p"/>
                                </m:rPr>
                                <a:rPr kumimoji="1" lang="en-US" altLang="zh-CN" sz="2800">
                                  <a:latin typeface="Cambria Math" panose="02040503050406030204" pitchFamily="18" charset="0"/>
                                </a:rPr>
                                <m:t>min</m:t>
                              </m:r>
                            </m:e>
                            <m:lim>
                              <m:r>
                                <a:rPr kumimoji="1" lang="en-US" altLang="zh-CN" sz="2800" i="1">
                                  <a:latin typeface="Cambria Math" panose="02040503050406030204" pitchFamily="18" charset="0"/>
                                </a:rPr>
                                <m:t>𝑤</m:t>
                              </m:r>
                              <m:r>
                                <a:rPr kumimoji="1" lang="en-US" altLang="zh-CN" sz="2800" i="1">
                                  <a:latin typeface="Cambria Math" panose="02040503050406030204" pitchFamily="18" charset="0"/>
                                </a:rPr>
                                <m:t>,</m:t>
                              </m:r>
                              <m:r>
                                <a:rPr kumimoji="1" lang="en-US" altLang="zh-CN" sz="2800" i="1">
                                  <a:latin typeface="Cambria Math" panose="02040503050406030204" pitchFamily="18" charset="0"/>
                                </a:rPr>
                                <m:t>𝑏</m:t>
                              </m:r>
                            </m:lim>
                          </m:limLow>
                        </m:fName>
                        <m:e>
                          <m:r>
                            <a:rPr kumimoji="1" lang="en-US" altLang="zh-CN" sz="2800" i="1">
                              <a:latin typeface="Cambria Math" panose="02040503050406030204" pitchFamily="18" charset="0"/>
                            </a:rPr>
                            <m:t>𝐿</m:t>
                          </m:r>
                          <m:d>
                            <m:dPr>
                              <m:ctrlPr>
                                <a:rPr kumimoji="1" lang="en-US" altLang="zh-CN" sz="2800" i="1">
                                  <a:latin typeface="Cambria Math" panose="02040503050406030204" pitchFamily="18" charset="0"/>
                                </a:rPr>
                              </m:ctrlPr>
                            </m:dPr>
                            <m:e>
                              <m:r>
                                <a:rPr kumimoji="1" lang="en-US" altLang="zh-CN" sz="2800" i="1">
                                  <a:latin typeface="Cambria Math" panose="02040503050406030204" pitchFamily="18" charset="0"/>
                                </a:rPr>
                                <m:t>𝑤</m:t>
                              </m:r>
                              <m:r>
                                <a:rPr kumimoji="1" lang="en-US" altLang="zh-CN" sz="2800" i="1">
                                  <a:latin typeface="Cambria Math" panose="02040503050406030204" pitchFamily="18" charset="0"/>
                                </a:rPr>
                                <m:t>,</m:t>
                              </m:r>
                              <m:r>
                                <a:rPr kumimoji="1" lang="en-US" altLang="zh-CN" sz="2800" i="1">
                                  <a:latin typeface="Cambria Math" panose="02040503050406030204" pitchFamily="18" charset="0"/>
                                </a:rPr>
                                <m:t>𝑏</m:t>
                              </m:r>
                              <m:r>
                                <a:rPr kumimoji="1" lang="en-US" altLang="zh-CN" sz="2800" i="1">
                                  <a:latin typeface="Cambria Math" panose="02040503050406030204" pitchFamily="18" charset="0"/>
                                </a:rPr>
                                <m:t>,</m:t>
                              </m:r>
                              <m:r>
                                <a:rPr kumimoji="1" lang="en-US" altLang="zh-CN" sz="2800" i="1">
                                  <a:latin typeface="Cambria Math" panose="02040503050406030204" pitchFamily="18" charset="0"/>
                                  <a:ea typeface="Cambria Math" panose="02040503050406030204" pitchFamily="18" charset="0"/>
                                </a:rPr>
                                <m:t>𝛼</m:t>
                              </m:r>
                            </m:e>
                          </m:d>
                        </m:e>
                      </m:func>
                      <m:r>
                        <a:rPr kumimoji="1" lang="en-US" altLang="zh-CN" sz="2800" i="1" smtClean="0">
                          <a:latin typeface="Cambria Math" panose="02040503050406030204" pitchFamily="18" charset="0"/>
                          <a:ea typeface="Cambria Math" panose="02040503050406030204" pitchFamily="18" charset="0"/>
                        </a:rPr>
                        <m:t>≤</m:t>
                      </m:r>
                      <m:r>
                        <a:rPr kumimoji="1" lang="en-US" altLang="zh-CN" sz="2800" i="1">
                          <a:latin typeface="Cambria Math" panose="02040503050406030204" pitchFamily="18" charset="0"/>
                        </a:rPr>
                        <m:t>𝐿</m:t>
                      </m:r>
                      <m:d>
                        <m:dPr>
                          <m:ctrlPr>
                            <a:rPr kumimoji="1" lang="en-US" altLang="zh-CN" sz="2800" i="1">
                              <a:latin typeface="Cambria Math" panose="02040503050406030204" pitchFamily="18" charset="0"/>
                            </a:rPr>
                          </m:ctrlPr>
                        </m:dPr>
                        <m:e>
                          <m:r>
                            <a:rPr kumimoji="1" lang="en-US" altLang="zh-CN" sz="2800" i="1">
                              <a:latin typeface="Cambria Math" panose="02040503050406030204" pitchFamily="18" charset="0"/>
                            </a:rPr>
                            <m:t>𝑤</m:t>
                          </m:r>
                          <m:r>
                            <a:rPr kumimoji="1" lang="en-US" altLang="zh-CN" sz="2800" i="1">
                              <a:latin typeface="Cambria Math" panose="02040503050406030204" pitchFamily="18" charset="0"/>
                            </a:rPr>
                            <m:t>,</m:t>
                          </m:r>
                          <m:r>
                            <a:rPr kumimoji="1" lang="en-US" altLang="zh-CN" sz="2800" i="1">
                              <a:latin typeface="Cambria Math" panose="02040503050406030204" pitchFamily="18" charset="0"/>
                            </a:rPr>
                            <m:t>𝑏</m:t>
                          </m:r>
                          <m:r>
                            <a:rPr kumimoji="1" lang="en-US" altLang="zh-CN" sz="2800" i="1">
                              <a:latin typeface="Cambria Math" panose="02040503050406030204" pitchFamily="18" charset="0"/>
                            </a:rPr>
                            <m:t>,</m:t>
                          </m:r>
                          <m:r>
                            <a:rPr kumimoji="1" lang="en-US" altLang="zh-CN" sz="2800" i="1">
                              <a:latin typeface="Cambria Math" panose="02040503050406030204" pitchFamily="18" charset="0"/>
                              <a:ea typeface="Cambria Math" panose="02040503050406030204" pitchFamily="18" charset="0"/>
                            </a:rPr>
                            <m:t>𝛼</m:t>
                          </m:r>
                        </m:e>
                      </m:d>
                      <m:r>
                        <a:rPr kumimoji="1" lang="en-US" altLang="zh-CN" sz="2800" i="1" smtClean="0">
                          <a:latin typeface="Cambria Math" panose="02040503050406030204" pitchFamily="18" charset="0"/>
                          <a:ea typeface="Cambria Math" panose="02040503050406030204" pitchFamily="18" charset="0"/>
                        </a:rPr>
                        <m:t>≤</m:t>
                      </m:r>
                      <m:limLow>
                        <m:limLowPr>
                          <m:ctrlPr>
                            <a:rPr kumimoji="1" lang="en-US" altLang="zh-CN" sz="2800" i="1">
                              <a:latin typeface="Cambria Math" panose="02040503050406030204" pitchFamily="18" charset="0"/>
                            </a:rPr>
                          </m:ctrlPr>
                        </m:limLowPr>
                        <m:e>
                          <m:r>
                            <m:rPr>
                              <m:sty m:val="p"/>
                            </m:rPr>
                            <a:rPr kumimoji="1" lang="en-US" altLang="zh-CN" sz="2800">
                              <a:latin typeface="Cambria Math" panose="02040503050406030204" pitchFamily="18" charset="0"/>
                            </a:rPr>
                            <m:t>max</m:t>
                          </m:r>
                        </m:e>
                        <m:lim>
                          <m:r>
                            <a:rPr kumimoji="1" lang="en-US" altLang="zh-CN" sz="2800" i="1">
                              <a:latin typeface="Cambria Math" panose="02040503050406030204" pitchFamily="18" charset="0"/>
                              <a:ea typeface="Cambria Math" panose="02040503050406030204" pitchFamily="18" charset="0"/>
                            </a:rPr>
                            <m:t>𝛼</m:t>
                          </m:r>
                        </m:lim>
                      </m:limLow>
                      <m:r>
                        <a:rPr kumimoji="1" lang="zh-CN" altLang="en-US" sz="2800" b="0" i="1" smtClean="0">
                          <a:latin typeface="Cambria Math" panose="02040503050406030204" pitchFamily="18" charset="0"/>
                          <a:ea typeface="Cambria Math" panose="02040503050406030204" pitchFamily="18" charset="0"/>
                        </a:rPr>
                        <m:t> </m:t>
                      </m:r>
                      <m:r>
                        <a:rPr kumimoji="1" lang="en-US" altLang="zh-CN" sz="2800" i="1">
                          <a:latin typeface="Cambria Math" panose="02040503050406030204" pitchFamily="18" charset="0"/>
                        </a:rPr>
                        <m:t>𝐿</m:t>
                      </m:r>
                      <m:d>
                        <m:dPr>
                          <m:ctrlPr>
                            <a:rPr kumimoji="1" lang="en-US" altLang="zh-CN" sz="2800" i="1">
                              <a:latin typeface="Cambria Math" panose="02040503050406030204" pitchFamily="18" charset="0"/>
                            </a:rPr>
                          </m:ctrlPr>
                        </m:dPr>
                        <m:e>
                          <m:r>
                            <a:rPr kumimoji="1" lang="en-US" altLang="zh-CN" sz="2800" i="1">
                              <a:latin typeface="Cambria Math" panose="02040503050406030204" pitchFamily="18" charset="0"/>
                            </a:rPr>
                            <m:t>𝑤</m:t>
                          </m:r>
                          <m:r>
                            <a:rPr kumimoji="1" lang="en-US" altLang="zh-CN" sz="2800" i="1">
                              <a:latin typeface="Cambria Math" panose="02040503050406030204" pitchFamily="18" charset="0"/>
                            </a:rPr>
                            <m:t>,</m:t>
                          </m:r>
                          <m:r>
                            <a:rPr kumimoji="1" lang="en-US" altLang="zh-CN" sz="2800" i="1">
                              <a:latin typeface="Cambria Math" panose="02040503050406030204" pitchFamily="18" charset="0"/>
                            </a:rPr>
                            <m:t>𝑏</m:t>
                          </m:r>
                          <m:r>
                            <a:rPr kumimoji="1" lang="en-US" altLang="zh-CN" sz="2800" i="1">
                              <a:latin typeface="Cambria Math" panose="02040503050406030204" pitchFamily="18" charset="0"/>
                            </a:rPr>
                            <m:t>,</m:t>
                          </m:r>
                          <m:r>
                            <a:rPr kumimoji="1" lang="en-US" altLang="zh-CN" sz="2800" i="1">
                              <a:latin typeface="Cambria Math" panose="02040503050406030204" pitchFamily="18" charset="0"/>
                              <a:ea typeface="Cambria Math" panose="02040503050406030204" pitchFamily="18" charset="0"/>
                            </a:rPr>
                            <m:t>𝛼</m:t>
                          </m:r>
                        </m:e>
                      </m:d>
                    </m:oMath>
                  </m:oMathPara>
                </a14:m>
                <a:endParaRPr kumimoji="1" lang="zh-CN" altLang="en-US" sz="2800" dirty="0"/>
              </a:p>
            </p:txBody>
          </p:sp>
        </mc:Choice>
        <mc:Fallback xmlns="">
          <p:sp>
            <p:nvSpPr>
              <p:cNvPr id="7" name="文本框 6">
                <a:extLst>
                  <a:ext uri="{FF2B5EF4-FFF2-40B4-BE49-F238E27FC236}">
                    <a16:creationId xmlns:a16="http://schemas.microsoft.com/office/drawing/2014/main" id="{62B1472B-3477-6948-AB89-3280122E3E0D}"/>
                  </a:ext>
                </a:extLst>
              </p:cNvPr>
              <p:cNvSpPr txBox="1">
                <a:spLocks noRot="1" noChangeAspect="1" noMove="1" noResize="1" noEditPoints="1" noAdjustHandles="1" noChangeArrowheads="1" noChangeShapeType="1" noTextEdit="1"/>
              </p:cNvSpPr>
              <p:nvPr/>
            </p:nvSpPr>
            <p:spPr>
              <a:xfrm>
                <a:off x="1246406" y="3000857"/>
                <a:ext cx="6797694" cy="593945"/>
              </a:xfrm>
              <a:prstGeom prst="rect">
                <a:avLst/>
              </a:prstGeom>
              <a:blipFill>
                <a:blip r:embed="rId5"/>
                <a:stretch>
                  <a:fillRect l="-559" t="-4167" b="-8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C1E77E40-3AE4-A8CE-36C2-DD825F214393}"/>
                  </a:ext>
                </a:extLst>
              </p:cNvPr>
              <p:cNvSpPr txBox="1"/>
              <p:nvPr/>
            </p:nvSpPr>
            <p:spPr>
              <a:xfrm>
                <a:off x="1246406" y="3916383"/>
                <a:ext cx="6264022" cy="59394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kumimoji="1" lang="en-US" altLang="zh-CN" sz="2800" i="1" smtClean="0">
                              <a:latin typeface="Cambria Math" panose="02040503050406030204" pitchFamily="18" charset="0"/>
                            </a:rPr>
                          </m:ctrlPr>
                        </m:funcPr>
                        <m:fName>
                          <m:limLow>
                            <m:limLowPr>
                              <m:ctrlPr>
                                <a:rPr kumimoji="1" lang="en-US" altLang="zh-CN" sz="2800" i="1">
                                  <a:latin typeface="Cambria Math" panose="02040503050406030204" pitchFamily="18" charset="0"/>
                                </a:rPr>
                              </m:ctrlPr>
                            </m:limLowPr>
                            <m:e>
                              <m:r>
                                <m:rPr>
                                  <m:sty m:val="p"/>
                                </m:rPr>
                                <a:rPr kumimoji="1" lang="en-US" altLang="zh-CN" sz="2800">
                                  <a:latin typeface="Cambria Math" panose="02040503050406030204" pitchFamily="18" charset="0"/>
                                </a:rPr>
                                <m:t>max</m:t>
                              </m:r>
                            </m:e>
                            <m:lim>
                              <m:r>
                                <a:rPr kumimoji="1" lang="en-US" altLang="zh-CN" sz="2800" i="1">
                                  <a:latin typeface="Cambria Math" panose="02040503050406030204" pitchFamily="18" charset="0"/>
                                  <a:ea typeface="Cambria Math" panose="02040503050406030204" pitchFamily="18" charset="0"/>
                                </a:rPr>
                                <m:t>𝛼</m:t>
                              </m:r>
                            </m:lim>
                          </m:limLow>
                          <m:r>
                            <a:rPr kumimoji="1" lang="zh-CN" altLang="en-US" sz="2800" b="0" i="1" smtClean="0">
                              <a:latin typeface="Cambria Math" panose="02040503050406030204" pitchFamily="18" charset="0"/>
                              <a:ea typeface="Cambria Math" panose="02040503050406030204" pitchFamily="18" charset="0"/>
                            </a:rPr>
                            <m:t> </m:t>
                          </m:r>
                          <m:limLow>
                            <m:limLowPr>
                              <m:ctrlPr>
                                <a:rPr kumimoji="1" lang="en-US" altLang="zh-CN" sz="2800" i="1">
                                  <a:latin typeface="Cambria Math" panose="02040503050406030204" pitchFamily="18" charset="0"/>
                                </a:rPr>
                              </m:ctrlPr>
                            </m:limLowPr>
                            <m:e>
                              <m:r>
                                <m:rPr>
                                  <m:sty m:val="p"/>
                                </m:rPr>
                                <a:rPr kumimoji="1" lang="en-US" altLang="zh-CN" sz="2800">
                                  <a:latin typeface="Cambria Math" panose="02040503050406030204" pitchFamily="18" charset="0"/>
                                </a:rPr>
                                <m:t>min</m:t>
                              </m:r>
                            </m:e>
                            <m:lim>
                              <m:r>
                                <a:rPr kumimoji="1" lang="en-US" altLang="zh-CN" sz="2800" i="1">
                                  <a:latin typeface="Cambria Math" panose="02040503050406030204" pitchFamily="18" charset="0"/>
                                </a:rPr>
                                <m:t>𝑤</m:t>
                              </m:r>
                              <m:r>
                                <a:rPr kumimoji="1" lang="en-US" altLang="zh-CN" sz="2800" i="1">
                                  <a:latin typeface="Cambria Math" panose="02040503050406030204" pitchFamily="18" charset="0"/>
                                </a:rPr>
                                <m:t>,</m:t>
                              </m:r>
                              <m:r>
                                <a:rPr kumimoji="1" lang="en-US" altLang="zh-CN" sz="2800" i="1">
                                  <a:latin typeface="Cambria Math" panose="02040503050406030204" pitchFamily="18" charset="0"/>
                                </a:rPr>
                                <m:t>𝑏</m:t>
                              </m:r>
                            </m:lim>
                          </m:limLow>
                        </m:fName>
                        <m:e>
                          <m:r>
                            <a:rPr kumimoji="1" lang="en-US" altLang="zh-CN" sz="2800" i="1">
                              <a:latin typeface="Cambria Math" panose="02040503050406030204" pitchFamily="18" charset="0"/>
                            </a:rPr>
                            <m:t>𝐿</m:t>
                          </m:r>
                          <m:d>
                            <m:dPr>
                              <m:ctrlPr>
                                <a:rPr kumimoji="1" lang="en-US" altLang="zh-CN" sz="2800" i="1">
                                  <a:latin typeface="Cambria Math" panose="02040503050406030204" pitchFamily="18" charset="0"/>
                                </a:rPr>
                              </m:ctrlPr>
                            </m:dPr>
                            <m:e>
                              <m:r>
                                <a:rPr kumimoji="1" lang="en-US" altLang="zh-CN" sz="2800" i="1">
                                  <a:latin typeface="Cambria Math" panose="02040503050406030204" pitchFamily="18" charset="0"/>
                                </a:rPr>
                                <m:t>𝑤</m:t>
                              </m:r>
                              <m:r>
                                <a:rPr kumimoji="1" lang="en-US" altLang="zh-CN" sz="2800" i="1">
                                  <a:latin typeface="Cambria Math" panose="02040503050406030204" pitchFamily="18" charset="0"/>
                                </a:rPr>
                                <m:t>,</m:t>
                              </m:r>
                              <m:r>
                                <a:rPr kumimoji="1" lang="en-US" altLang="zh-CN" sz="2800" i="1">
                                  <a:latin typeface="Cambria Math" panose="02040503050406030204" pitchFamily="18" charset="0"/>
                                </a:rPr>
                                <m:t>𝑏</m:t>
                              </m:r>
                              <m:r>
                                <a:rPr kumimoji="1" lang="en-US" altLang="zh-CN" sz="2800" i="1">
                                  <a:latin typeface="Cambria Math" panose="02040503050406030204" pitchFamily="18" charset="0"/>
                                </a:rPr>
                                <m:t>,</m:t>
                              </m:r>
                              <m:r>
                                <a:rPr kumimoji="1" lang="en-US" altLang="zh-CN" sz="2800" i="1">
                                  <a:latin typeface="Cambria Math" panose="02040503050406030204" pitchFamily="18" charset="0"/>
                                  <a:ea typeface="Cambria Math" panose="02040503050406030204" pitchFamily="18" charset="0"/>
                                </a:rPr>
                                <m:t>𝛼</m:t>
                              </m:r>
                            </m:e>
                          </m:d>
                        </m:e>
                      </m:func>
                      <m:r>
                        <a:rPr kumimoji="1" lang="en-US" altLang="zh-CN" sz="2800" i="1" smtClean="0">
                          <a:latin typeface="Cambria Math" panose="02040503050406030204" pitchFamily="18" charset="0"/>
                          <a:ea typeface="Cambria Math" panose="02040503050406030204" pitchFamily="18" charset="0"/>
                        </a:rPr>
                        <m:t>≤</m:t>
                      </m:r>
                      <m:limLow>
                        <m:limLowPr>
                          <m:ctrlPr>
                            <a:rPr kumimoji="1" lang="en-US" altLang="zh-CN" sz="2800" i="1">
                              <a:latin typeface="Cambria Math" panose="02040503050406030204" pitchFamily="18" charset="0"/>
                            </a:rPr>
                          </m:ctrlPr>
                        </m:limLowPr>
                        <m:e>
                          <m:r>
                            <m:rPr>
                              <m:sty m:val="p"/>
                            </m:rPr>
                            <a:rPr kumimoji="1" lang="en-US" altLang="zh-CN" sz="2800">
                              <a:latin typeface="Cambria Math" panose="02040503050406030204" pitchFamily="18" charset="0"/>
                            </a:rPr>
                            <m:t>min</m:t>
                          </m:r>
                        </m:e>
                        <m:lim>
                          <m:r>
                            <a:rPr kumimoji="1" lang="en-US" altLang="zh-CN" sz="2800" i="1">
                              <a:latin typeface="Cambria Math" panose="02040503050406030204" pitchFamily="18" charset="0"/>
                            </a:rPr>
                            <m:t>𝑤</m:t>
                          </m:r>
                          <m:r>
                            <a:rPr kumimoji="1" lang="en-US" altLang="zh-CN" sz="2800" i="1">
                              <a:latin typeface="Cambria Math" panose="02040503050406030204" pitchFamily="18" charset="0"/>
                            </a:rPr>
                            <m:t>,</m:t>
                          </m:r>
                          <m:r>
                            <a:rPr kumimoji="1" lang="en-US" altLang="zh-CN" sz="2800" i="1">
                              <a:latin typeface="Cambria Math" panose="02040503050406030204" pitchFamily="18" charset="0"/>
                            </a:rPr>
                            <m:t>𝑏</m:t>
                          </m:r>
                        </m:lim>
                      </m:limLow>
                      <m:r>
                        <a:rPr kumimoji="1" lang="zh-CN" altLang="en-US" sz="2800" b="0" i="1" smtClean="0">
                          <a:latin typeface="Cambria Math" panose="02040503050406030204" pitchFamily="18" charset="0"/>
                        </a:rPr>
                        <m:t> </m:t>
                      </m:r>
                      <m:limLow>
                        <m:limLowPr>
                          <m:ctrlPr>
                            <a:rPr kumimoji="1" lang="en-US" altLang="zh-CN" sz="2800" i="1">
                              <a:latin typeface="Cambria Math" panose="02040503050406030204" pitchFamily="18" charset="0"/>
                            </a:rPr>
                          </m:ctrlPr>
                        </m:limLowPr>
                        <m:e>
                          <m:r>
                            <m:rPr>
                              <m:sty m:val="p"/>
                            </m:rPr>
                            <a:rPr kumimoji="1" lang="en-US" altLang="zh-CN" sz="2800">
                              <a:latin typeface="Cambria Math" panose="02040503050406030204" pitchFamily="18" charset="0"/>
                            </a:rPr>
                            <m:t>max</m:t>
                          </m:r>
                        </m:e>
                        <m:lim>
                          <m:r>
                            <a:rPr kumimoji="1" lang="en-US" altLang="zh-CN" sz="2800" i="1">
                              <a:latin typeface="Cambria Math" panose="02040503050406030204" pitchFamily="18" charset="0"/>
                              <a:ea typeface="Cambria Math" panose="02040503050406030204" pitchFamily="18" charset="0"/>
                            </a:rPr>
                            <m:t>𝛼</m:t>
                          </m:r>
                        </m:lim>
                      </m:limLow>
                      <m:r>
                        <a:rPr kumimoji="1" lang="zh-CN" altLang="en-US" sz="2800" b="0" i="1" smtClean="0">
                          <a:latin typeface="Cambria Math" panose="02040503050406030204" pitchFamily="18" charset="0"/>
                          <a:ea typeface="Cambria Math" panose="02040503050406030204" pitchFamily="18" charset="0"/>
                        </a:rPr>
                        <m:t> </m:t>
                      </m:r>
                      <m:r>
                        <a:rPr kumimoji="1" lang="en-US" altLang="zh-CN" sz="2800" i="1">
                          <a:latin typeface="Cambria Math" panose="02040503050406030204" pitchFamily="18" charset="0"/>
                        </a:rPr>
                        <m:t>𝐿</m:t>
                      </m:r>
                      <m:d>
                        <m:dPr>
                          <m:ctrlPr>
                            <a:rPr kumimoji="1" lang="en-US" altLang="zh-CN" sz="2800" i="1">
                              <a:latin typeface="Cambria Math" panose="02040503050406030204" pitchFamily="18" charset="0"/>
                            </a:rPr>
                          </m:ctrlPr>
                        </m:dPr>
                        <m:e>
                          <m:r>
                            <a:rPr kumimoji="1" lang="en-US" altLang="zh-CN" sz="2800" i="1">
                              <a:latin typeface="Cambria Math" panose="02040503050406030204" pitchFamily="18" charset="0"/>
                            </a:rPr>
                            <m:t>𝑤</m:t>
                          </m:r>
                          <m:r>
                            <a:rPr kumimoji="1" lang="en-US" altLang="zh-CN" sz="2800" i="1">
                              <a:latin typeface="Cambria Math" panose="02040503050406030204" pitchFamily="18" charset="0"/>
                            </a:rPr>
                            <m:t>,</m:t>
                          </m:r>
                          <m:r>
                            <a:rPr kumimoji="1" lang="en-US" altLang="zh-CN" sz="2800" i="1">
                              <a:latin typeface="Cambria Math" panose="02040503050406030204" pitchFamily="18" charset="0"/>
                            </a:rPr>
                            <m:t>𝑏</m:t>
                          </m:r>
                          <m:r>
                            <a:rPr kumimoji="1" lang="en-US" altLang="zh-CN" sz="2800" i="1">
                              <a:latin typeface="Cambria Math" panose="02040503050406030204" pitchFamily="18" charset="0"/>
                            </a:rPr>
                            <m:t>,</m:t>
                          </m:r>
                          <m:r>
                            <a:rPr kumimoji="1" lang="en-US" altLang="zh-CN" sz="2800" i="1">
                              <a:latin typeface="Cambria Math" panose="02040503050406030204" pitchFamily="18" charset="0"/>
                              <a:ea typeface="Cambria Math" panose="02040503050406030204" pitchFamily="18" charset="0"/>
                            </a:rPr>
                            <m:t>𝛼</m:t>
                          </m:r>
                        </m:e>
                      </m:d>
                    </m:oMath>
                  </m:oMathPara>
                </a14:m>
                <a:endParaRPr kumimoji="1" lang="zh-CN" altLang="en-US" sz="2800" dirty="0"/>
              </a:p>
            </p:txBody>
          </p:sp>
        </mc:Choice>
        <mc:Fallback xmlns="">
          <p:sp>
            <p:nvSpPr>
              <p:cNvPr id="8" name="文本框 7">
                <a:extLst>
                  <a:ext uri="{FF2B5EF4-FFF2-40B4-BE49-F238E27FC236}">
                    <a16:creationId xmlns:a16="http://schemas.microsoft.com/office/drawing/2014/main" id="{C1E77E40-3AE4-A8CE-36C2-DD825F214393}"/>
                  </a:ext>
                </a:extLst>
              </p:cNvPr>
              <p:cNvSpPr txBox="1">
                <a:spLocks noRot="1" noChangeAspect="1" noMove="1" noResize="1" noEditPoints="1" noAdjustHandles="1" noChangeArrowheads="1" noChangeShapeType="1" noTextEdit="1"/>
              </p:cNvSpPr>
              <p:nvPr/>
            </p:nvSpPr>
            <p:spPr>
              <a:xfrm>
                <a:off x="1246406" y="3916383"/>
                <a:ext cx="6264022" cy="593945"/>
              </a:xfrm>
              <a:prstGeom prst="rect">
                <a:avLst/>
              </a:prstGeom>
              <a:blipFill>
                <a:blip r:embed="rId6"/>
                <a:stretch>
                  <a:fillRect l="-202" t="-4167" b="-8333"/>
                </a:stretch>
              </a:blipFill>
            </p:spPr>
            <p:txBody>
              <a:bodyPr/>
              <a:lstStyle/>
              <a:p>
                <a:r>
                  <a:rPr lang="zh-CN" altLang="en-US">
                    <a:noFill/>
                  </a:rPr>
                  <a:t> </a:t>
                </a:r>
              </a:p>
            </p:txBody>
          </p:sp>
        </mc:Fallback>
      </mc:AlternateContent>
      <p:sp>
        <p:nvSpPr>
          <p:cNvPr id="9" name="文本框 8">
            <a:extLst>
              <a:ext uri="{FF2B5EF4-FFF2-40B4-BE49-F238E27FC236}">
                <a16:creationId xmlns:a16="http://schemas.microsoft.com/office/drawing/2014/main" id="{174B5A67-81AE-83CC-A3E2-3D35221F8342}"/>
              </a:ext>
            </a:extLst>
          </p:cNvPr>
          <p:cNvSpPr txBox="1"/>
          <p:nvPr/>
        </p:nvSpPr>
        <p:spPr>
          <a:xfrm>
            <a:off x="914400" y="6341381"/>
            <a:ext cx="4649030" cy="369332"/>
          </a:xfrm>
          <a:prstGeom prst="rect">
            <a:avLst/>
          </a:prstGeom>
          <a:noFill/>
        </p:spPr>
        <p:txBody>
          <a:bodyPr wrap="none" rtlCol="0">
            <a:spAutoFit/>
          </a:bodyPr>
          <a:lstStyle/>
          <a:p>
            <a:r>
              <a:rPr kumimoji="1" lang="en-US" altLang="zh-CN" dirty="0"/>
              <a:t>https://</a:t>
            </a:r>
            <a:r>
              <a:rPr kumimoji="1" lang="en-US" altLang="zh-CN" dirty="0" err="1"/>
              <a:t>en.wikipedia.org</a:t>
            </a:r>
            <a:r>
              <a:rPr kumimoji="1" lang="en-US" altLang="zh-CN" dirty="0"/>
              <a:t>/wiki/Max–</a:t>
            </a:r>
            <a:r>
              <a:rPr kumimoji="1" lang="en-US" altLang="zh-CN" dirty="0" err="1"/>
              <a:t>min_inequality</a:t>
            </a:r>
            <a:endParaRPr kumimoji="1" lang="zh-CN" altLang="en-US" dirty="0"/>
          </a:p>
        </p:txBody>
      </p:sp>
      <p:sp>
        <p:nvSpPr>
          <p:cNvPr id="11" name="文本框 10">
            <a:extLst>
              <a:ext uri="{FF2B5EF4-FFF2-40B4-BE49-F238E27FC236}">
                <a16:creationId xmlns:a16="http://schemas.microsoft.com/office/drawing/2014/main" id="{CFF13CA4-1A99-E362-AD29-A3668650A761}"/>
              </a:ext>
            </a:extLst>
          </p:cNvPr>
          <p:cNvSpPr txBox="1"/>
          <p:nvPr/>
        </p:nvSpPr>
        <p:spPr>
          <a:xfrm>
            <a:off x="914400" y="6046462"/>
            <a:ext cx="4572000" cy="369332"/>
          </a:xfrm>
          <a:prstGeom prst="rect">
            <a:avLst/>
          </a:prstGeom>
          <a:noFill/>
        </p:spPr>
        <p:txBody>
          <a:bodyPr wrap="square">
            <a:spAutoFit/>
          </a:bodyPr>
          <a:lstStyle/>
          <a:p>
            <a:r>
              <a:rPr lang="zh-CN" altLang="en-US" dirty="0"/>
              <a:t>https://en.wikipedia.org/wiki/Minimax_theorem</a:t>
            </a:r>
          </a:p>
        </p:txBody>
      </p:sp>
    </p:spTree>
    <p:extLst>
      <p:ext uri="{BB962C8B-B14F-4D97-AF65-F5344CB8AC3E}">
        <p14:creationId xmlns:p14="http://schemas.microsoft.com/office/powerpoint/2010/main" val="463807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linds(horizontal)">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F79A8694-F63A-7AA0-C963-50B816596051}"/>
                  </a:ext>
                </a:extLst>
              </p:cNvPr>
              <p:cNvSpPr txBox="1"/>
              <p:nvPr/>
            </p:nvSpPr>
            <p:spPr>
              <a:xfrm>
                <a:off x="2433260" y="782641"/>
                <a:ext cx="5995744" cy="103848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limLow>
                        <m:limLowPr>
                          <m:ctrlPr>
                            <a:rPr kumimoji="1" lang="en-US" altLang="zh-CN" sz="2400" i="1" smtClean="0">
                              <a:latin typeface="Cambria Math" panose="02040503050406030204" pitchFamily="18" charset="0"/>
                            </a:rPr>
                          </m:ctrlPr>
                        </m:limLowPr>
                        <m:e>
                          <m:r>
                            <m:rPr>
                              <m:sty m:val="p"/>
                            </m:rPr>
                            <a:rPr kumimoji="1" lang="en-US" altLang="zh-CN" sz="2400">
                              <a:latin typeface="Cambria Math" panose="02040503050406030204" pitchFamily="18" charset="0"/>
                            </a:rPr>
                            <m:t>min</m:t>
                          </m:r>
                        </m:e>
                        <m:lim>
                          <m:r>
                            <a:rPr kumimoji="1" lang="en-US" altLang="zh-CN" sz="2400" i="1">
                              <a:latin typeface="Cambria Math" panose="02040503050406030204" pitchFamily="18" charset="0"/>
                            </a:rPr>
                            <m:t>𝑤</m:t>
                          </m:r>
                          <m:r>
                            <a:rPr kumimoji="1" lang="en-US" altLang="zh-CN" sz="2400" i="1">
                              <a:latin typeface="Cambria Math" panose="02040503050406030204" pitchFamily="18" charset="0"/>
                            </a:rPr>
                            <m:t>,</m:t>
                          </m:r>
                          <m:r>
                            <a:rPr kumimoji="1" lang="en-US" altLang="zh-CN" sz="2400" i="1">
                              <a:latin typeface="Cambria Math" panose="02040503050406030204" pitchFamily="18" charset="0"/>
                            </a:rPr>
                            <m:t>𝑏</m:t>
                          </m:r>
                        </m:lim>
                      </m:limLow>
                      <m:r>
                        <a:rPr kumimoji="1" lang="zh-CN" altLang="en-US" sz="2400" b="0" i="1" smtClean="0">
                          <a:latin typeface="Cambria Math" panose="02040503050406030204" pitchFamily="18" charset="0"/>
                        </a:rPr>
                        <m:t> </m:t>
                      </m:r>
                      <m:limLow>
                        <m:limLowPr>
                          <m:ctrlPr>
                            <a:rPr kumimoji="1" lang="en-US" altLang="zh-CN" sz="2400" i="1">
                              <a:latin typeface="Cambria Math" panose="02040503050406030204" pitchFamily="18" charset="0"/>
                            </a:rPr>
                          </m:ctrlPr>
                        </m:limLowPr>
                        <m:e>
                          <m:r>
                            <m:rPr>
                              <m:sty m:val="p"/>
                            </m:rPr>
                            <a:rPr kumimoji="1" lang="en-US" altLang="zh-CN" sz="2400">
                              <a:latin typeface="Cambria Math" panose="02040503050406030204" pitchFamily="18" charset="0"/>
                            </a:rPr>
                            <m:t>max</m:t>
                          </m:r>
                        </m:e>
                        <m:lim>
                          <m:r>
                            <a:rPr kumimoji="1" lang="en-US" altLang="zh-CN" sz="2400" i="1">
                              <a:latin typeface="Cambria Math" panose="02040503050406030204" pitchFamily="18" charset="0"/>
                              <a:ea typeface="Cambria Math" panose="02040503050406030204" pitchFamily="18" charset="0"/>
                            </a:rPr>
                            <m:t>𝛼</m:t>
                          </m:r>
                        </m:lim>
                      </m:limLow>
                      <m:d>
                        <m:dPr>
                          <m:begChr m:val="["/>
                          <m:endChr m:val="]"/>
                          <m:ctrlPr>
                            <a:rPr kumimoji="1" lang="en-US" altLang="zh-CN" sz="2400" i="1" smtClean="0">
                              <a:latin typeface="Cambria Math" panose="02040503050406030204" pitchFamily="18" charset="0"/>
                              <a:ea typeface="Cambria Math" panose="02040503050406030204" pitchFamily="18" charset="0"/>
                            </a:rPr>
                          </m:ctrlPr>
                        </m:dPr>
                        <m:e>
                          <m:f>
                            <m:fPr>
                              <m:ctrlPr>
                                <a:rPr kumimoji="1" lang="en-US" altLang="zh-CN" sz="2400" i="1">
                                  <a:latin typeface="Cambria Math" panose="02040503050406030204" pitchFamily="18" charset="0"/>
                                </a:rPr>
                              </m:ctrlPr>
                            </m:fPr>
                            <m:num>
                              <m:r>
                                <a:rPr kumimoji="1" lang="en-US" altLang="zh-CN" sz="2400" i="1">
                                  <a:latin typeface="Cambria Math" panose="02040503050406030204" pitchFamily="18" charset="0"/>
                                </a:rPr>
                                <m:t>1</m:t>
                              </m:r>
                            </m:num>
                            <m:den>
                              <m:r>
                                <a:rPr kumimoji="1" lang="en-US" altLang="zh-CN" sz="2400" i="1">
                                  <a:latin typeface="Cambria Math" panose="02040503050406030204" pitchFamily="18" charset="0"/>
                                </a:rPr>
                                <m:t>2</m:t>
                              </m:r>
                            </m:den>
                          </m:f>
                          <m:sSup>
                            <m:sSupPr>
                              <m:ctrlPr>
                                <a:rPr kumimoji="1" lang="en-US" altLang="zh-CN" sz="2400" i="1">
                                  <a:latin typeface="Cambria Math" panose="02040503050406030204" pitchFamily="18" charset="0"/>
                                </a:rPr>
                              </m:ctrlPr>
                            </m:sSupPr>
                            <m:e>
                              <m:d>
                                <m:dPr>
                                  <m:begChr m:val="‖"/>
                                  <m:endChr m:val="‖"/>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𝑤</m:t>
                                  </m:r>
                                </m:e>
                              </m:d>
                            </m:e>
                            <m:sup>
                              <m:r>
                                <a:rPr kumimoji="1" lang="en-US" altLang="zh-CN" sz="2400" i="1">
                                  <a:latin typeface="Cambria Math" panose="02040503050406030204" pitchFamily="18" charset="0"/>
                                </a:rPr>
                                <m:t>2</m:t>
                              </m:r>
                            </m:sup>
                          </m:sSup>
                          <m:r>
                            <a:rPr kumimoji="1" lang="en-US" altLang="zh-CN" sz="2400" i="1">
                              <a:latin typeface="Cambria Math" panose="02040503050406030204" pitchFamily="18" charset="0"/>
                            </a:rPr>
                            <m:t>+</m:t>
                          </m:r>
                          <m:nary>
                            <m:naryPr>
                              <m:chr m:val="∑"/>
                              <m:ctrlPr>
                                <a:rPr kumimoji="1" lang="en-US" altLang="zh-CN" sz="2400" i="1">
                                  <a:latin typeface="Cambria Math" panose="02040503050406030204" pitchFamily="18" charset="0"/>
                                </a:rPr>
                              </m:ctrlPr>
                            </m:naryPr>
                            <m:sub>
                              <m:r>
                                <m:rPr>
                                  <m:brk m:alnAt="23"/>
                                </m:rPr>
                                <a:rPr kumimoji="1" lang="en-US" altLang="zh-CN" sz="2400" i="1">
                                  <a:latin typeface="Cambria Math" panose="02040503050406030204" pitchFamily="18" charset="0"/>
                                </a:rPr>
                                <m:t>𝑖</m:t>
                              </m:r>
                            </m:sub>
                            <m:sup>
                              <m:r>
                                <a:rPr kumimoji="1" lang="en-US" altLang="zh-CN" sz="2400" i="1">
                                  <a:latin typeface="Cambria Math" panose="02040503050406030204" pitchFamily="18" charset="0"/>
                                </a:rPr>
                                <m:t>𝑁</m:t>
                              </m:r>
                            </m:sup>
                            <m:e>
                              <m:sSub>
                                <m:sSubPr>
                                  <m:ctrlPr>
                                    <a:rPr kumimoji="1" lang="en-US" altLang="zh-CN" sz="2400" i="1">
                                      <a:latin typeface="Cambria Math" panose="02040503050406030204" pitchFamily="18" charset="0"/>
                                    </a:rPr>
                                  </m:ctrlPr>
                                </m:sSubPr>
                                <m:e>
                                  <m:r>
                                    <a:rPr kumimoji="1" lang="en-US" altLang="zh-CN" sz="2400" i="1">
                                      <a:latin typeface="Cambria Math" panose="02040503050406030204" pitchFamily="18" charset="0"/>
                                      <a:ea typeface="Cambria Math" panose="02040503050406030204" pitchFamily="18" charset="0"/>
                                    </a:rPr>
                                    <m:t>𝛼</m:t>
                                  </m:r>
                                </m:e>
                                <m:sub>
                                  <m:r>
                                    <a:rPr kumimoji="1" lang="en-US" altLang="zh-CN" sz="2400" i="1">
                                      <a:latin typeface="Cambria Math" panose="02040503050406030204" pitchFamily="18" charset="0"/>
                                    </a:rPr>
                                    <m:t>𝑖</m:t>
                                  </m:r>
                                </m:sub>
                              </m:sSub>
                              <m:d>
                                <m:dPr>
                                  <m:begChr m:val="["/>
                                  <m:endChr m:val="]"/>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1−</m:t>
                                  </m:r>
                                  <m:sSub>
                                    <m:sSubPr>
                                      <m:ctrlPr>
                                        <a:rPr kumimoji="1" lang="en-US" altLang="zh-CN" sz="2400" i="1">
                                          <a:latin typeface="Cambria Math" panose="02040503050406030204" pitchFamily="18" charset="0"/>
                                        </a:rPr>
                                      </m:ctrlPr>
                                    </m:sSubPr>
                                    <m:e>
                                      <m:r>
                                        <a:rPr kumimoji="1" lang="en-US" altLang="zh-CN" sz="2400" i="1">
                                          <a:latin typeface="Cambria Math" panose="02040503050406030204" pitchFamily="18" charset="0"/>
                                        </a:rPr>
                                        <m:t>𝑦</m:t>
                                      </m:r>
                                    </m:e>
                                    <m:sub>
                                      <m:r>
                                        <a:rPr kumimoji="1" lang="en-US" altLang="zh-CN" sz="2400" i="1">
                                          <a:latin typeface="Cambria Math" panose="02040503050406030204" pitchFamily="18" charset="0"/>
                                        </a:rPr>
                                        <m:t>𝑖</m:t>
                                      </m:r>
                                    </m:sub>
                                  </m:sSub>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𝑤</m:t>
                                      </m:r>
                                      <m:sSub>
                                        <m:sSubPr>
                                          <m:ctrlPr>
                                            <a:rPr kumimoji="1" lang="en-US" altLang="zh-CN" sz="2400" i="1">
                                              <a:latin typeface="Cambria Math" panose="02040503050406030204" pitchFamily="18" charset="0"/>
                                            </a:rPr>
                                          </m:ctrlPr>
                                        </m:sSubPr>
                                        <m:e>
                                          <m:r>
                                            <a:rPr kumimoji="1" lang="en-US" altLang="zh-CN" sz="2400" i="1">
                                              <a:latin typeface="Cambria Math" panose="02040503050406030204" pitchFamily="18" charset="0"/>
                                              <a:ea typeface="Cambria Math" panose="02040503050406030204" pitchFamily="18" charset="0"/>
                                            </a:rPr>
                                            <m:t>∙</m:t>
                                          </m:r>
                                          <m:r>
                                            <a:rPr kumimoji="1" lang="en-US" altLang="zh-CN" sz="2400" i="1">
                                              <a:latin typeface="Cambria Math" panose="02040503050406030204" pitchFamily="18" charset="0"/>
                                              <a:ea typeface="Cambria Math" panose="02040503050406030204" pitchFamily="18" charset="0"/>
                                            </a:rPr>
                                            <m:t>𝑥</m:t>
                                          </m:r>
                                        </m:e>
                                        <m:sub>
                                          <m:r>
                                            <a:rPr kumimoji="1" lang="en-US" altLang="zh-CN" sz="2400" i="1">
                                              <a:latin typeface="Cambria Math" panose="02040503050406030204" pitchFamily="18" charset="0"/>
                                            </a:rPr>
                                            <m:t>𝑖</m:t>
                                          </m:r>
                                        </m:sub>
                                      </m:sSub>
                                      <m:r>
                                        <a:rPr kumimoji="1" lang="en-US" altLang="zh-CN" sz="2400" i="1">
                                          <a:latin typeface="Cambria Math" panose="02040503050406030204" pitchFamily="18" charset="0"/>
                                        </a:rPr>
                                        <m:t>+</m:t>
                                      </m:r>
                                      <m:r>
                                        <a:rPr kumimoji="1" lang="en-US" altLang="zh-CN" sz="2400" i="1">
                                          <a:latin typeface="Cambria Math" panose="02040503050406030204" pitchFamily="18" charset="0"/>
                                        </a:rPr>
                                        <m:t>𝑏</m:t>
                                      </m:r>
                                    </m:e>
                                  </m:d>
                                </m:e>
                              </m:d>
                            </m:e>
                          </m:nary>
                        </m:e>
                      </m:d>
                    </m:oMath>
                  </m:oMathPara>
                </a14:m>
                <a:endParaRPr kumimoji="1" lang="zh-CN" altLang="en-US" sz="2400" dirty="0"/>
              </a:p>
            </p:txBody>
          </p:sp>
        </mc:Choice>
        <mc:Fallback xmlns="">
          <p:sp>
            <p:nvSpPr>
              <p:cNvPr id="6" name="文本框 5">
                <a:extLst>
                  <a:ext uri="{FF2B5EF4-FFF2-40B4-BE49-F238E27FC236}">
                    <a16:creationId xmlns:a16="http://schemas.microsoft.com/office/drawing/2014/main" id="{F79A8694-F63A-7AA0-C963-50B816596051}"/>
                  </a:ext>
                </a:extLst>
              </p:cNvPr>
              <p:cNvSpPr txBox="1">
                <a:spLocks noRot="1" noChangeAspect="1" noMove="1" noResize="1" noEditPoints="1" noAdjustHandles="1" noChangeArrowheads="1" noChangeShapeType="1" noTextEdit="1"/>
              </p:cNvSpPr>
              <p:nvPr/>
            </p:nvSpPr>
            <p:spPr>
              <a:xfrm>
                <a:off x="2433260" y="782641"/>
                <a:ext cx="5995744" cy="1038489"/>
              </a:xfrm>
              <a:prstGeom prst="rect">
                <a:avLst/>
              </a:prstGeom>
              <a:blipFill>
                <a:blip r:embed="rId3"/>
                <a:stretch>
                  <a:fillRect l="-634" t="-114458" b="-17469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A891237E-5FF2-9379-A376-D67E0FB2066E}"/>
                  </a:ext>
                </a:extLst>
              </p:cNvPr>
              <p:cNvSpPr txBox="1"/>
              <p:nvPr/>
            </p:nvSpPr>
            <p:spPr>
              <a:xfrm>
                <a:off x="2433260" y="1884892"/>
                <a:ext cx="6115969" cy="103848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kumimoji="1" lang="en-US" altLang="zh-CN" sz="2400" i="1" smtClean="0">
                              <a:latin typeface="Cambria Math" panose="02040503050406030204" pitchFamily="18" charset="0"/>
                            </a:rPr>
                          </m:ctrlPr>
                        </m:funcPr>
                        <m:fName>
                          <m:limLow>
                            <m:limLowPr>
                              <m:ctrlPr>
                                <a:rPr kumimoji="1" lang="en-US" altLang="zh-CN" sz="2400" i="1">
                                  <a:latin typeface="Cambria Math" panose="02040503050406030204" pitchFamily="18" charset="0"/>
                                </a:rPr>
                              </m:ctrlPr>
                            </m:limLowPr>
                            <m:e>
                              <m:r>
                                <m:rPr>
                                  <m:sty m:val="p"/>
                                </m:rPr>
                                <a:rPr kumimoji="1" lang="en-US" altLang="zh-CN" sz="2400">
                                  <a:latin typeface="Cambria Math" panose="02040503050406030204" pitchFamily="18" charset="0"/>
                                </a:rPr>
                                <m:t>max</m:t>
                              </m:r>
                            </m:e>
                            <m:lim>
                              <m:r>
                                <a:rPr kumimoji="1" lang="en-US" altLang="zh-CN" sz="2400" i="1">
                                  <a:latin typeface="Cambria Math" panose="02040503050406030204" pitchFamily="18" charset="0"/>
                                  <a:ea typeface="Cambria Math" panose="02040503050406030204" pitchFamily="18" charset="0"/>
                                </a:rPr>
                                <m:t>𝛼</m:t>
                              </m:r>
                            </m:lim>
                          </m:limLow>
                          <m:r>
                            <a:rPr kumimoji="1" lang="zh-CN" altLang="en-US" sz="2400" b="0" i="1" smtClean="0">
                              <a:latin typeface="Cambria Math" panose="02040503050406030204" pitchFamily="18" charset="0"/>
                              <a:ea typeface="Cambria Math" panose="02040503050406030204" pitchFamily="18" charset="0"/>
                            </a:rPr>
                            <m:t> </m:t>
                          </m:r>
                          <m:limLow>
                            <m:limLowPr>
                              <m:ctrlPr>
                                <a:rPr kumimoji="1" lang="en-US" altLang="zh-CN" sz="2400" i="1">
                                  <a:latin typeface="Cambria Math" panose="02040503050406030204" pitchFamily="18" charset="0"/>
                                </a:rPr>
                              </m:ctrlPr>
                            </m:limLowPr>
                            <m:e>
                              <m:r>
                                <m:rPr>
                                  <m:sty m:val="p"/>
                                </m:rPr>
                                <a:rPr kumimoji="1" lang="en-US" altLang="zh-CN" sz="2400">
                                  <a:latin typeface="Cambria Math" panose="02040503050406030204" pitchFamily="18" charset="0"/>
                                </a:rPr>
                                <m:t>min</m:t>
                              </m:r>
                            </m:e>
                            <m:lim>
                              <m:r>
                                <a:rPr kumimoji="1" lang="en-US" altLang="zh-CN" sz="2400" i="1">
                                  <a:latin typeface="Cambria Math" panose="02040503050406030204" pitchFamily="18" charset="0"/>
                                </a:rPr>
                                <m:t>𝑤</m:t>
                              </m:r>
                              <m:r>
                                <a:rPr kumimoji="1" lang="en-US" altLang="zh-CN" sz="2400" i="1">
                                  <a:latin typeface="Cambria Math" panose="02040503050406030204" pitchFamily="18" charset="0"/>
                                </a:rPr>
                                <m:t>,</m:t>
                              </m:r>
                              <m:r>
                                <a:rPr kumimoji="1" lang="en-US" altLang="zh-CN" sz="2400" i="1">
                                  <a:latin typeface="Cambria Math" panose="02040503050406030204" pitchFamily="18" charset="0"/>
                                </a:rPr>
                                <m:t>𝑏</m:t>
                              </m:r>
                            </m:lim>
                          </m:limLow>
                        </m:fName>
                        <m:e>
                          <m:d>
                            <m:dPr>
                              <m:begChr m:val="["/>
                              <m:endChr m:val="]"/>
                              <m:ctrlPr>
                                <a:rPr kumimoji="1" lang="en-US" altLang="zh-CN" sz="2400" i="1">
                                  <a:latin typeface="Cambria Math" panose="02040503050406030204" pitchFamily="18" charset="0"/>
                                  <a:ea typeface="Cambria Math" panose="02040503050406030204" pitchFamily="18" charset="0"/>
                                </a:rPr>
                              </m:ctrlPr>
                            </m:dPr>
                            <m:e>
                              <m:f>
                                <m:fPr>
                                  <m:ctrlPr>
                                    <a:rPr kumimoji="1" lang="en-US" altLang="zh-CN" sz="2400" i="1">
                                      <a:latin typeface="Cambria Math" panose="02040503050406030204" pitchFamily="18" charset="0"/>
                                    </a:rPr>
                                  </m:ctrlPr>
                                </m:fPr>
                                <m:num>
                                  <m:r>
                                    <a:rPr kumimoji="1" lang="en-US" altLang="zh-CN" sz="2400" i="1">
                                      <a:latin typeface="Cambria Math" panose="02040503050406030204" pitchFamily="18" charset="0"/>
                                    </a:rPr>
                                    <m:t>1</m:t>
                                  </m:r>
                                </m:num>
                                <m:den>
                                  <m:r>
                                    <a:rPr kumimoji="1" lang="en-US" altLang="zh-CN" sz="2400" i="1">
                                      <a:latin typeface="Cambria Math" panose="02040503050406030204" pitchFamily="18" charset="0"/>
                                    </a:rPr>
                                    <m:t>2</m:t>
                                  </m:r>
                                </m:den>
                              </m:f>
                              <m:sSup>
                                <m:sSupPr>
                                  <m:ctrlPr>
                                    <a:rPr kumimoji="1" lang="en-US" altLang="zh-CN" sz="2400" i="1">
                                      <a:latin typeface="Cambria Math" panose="02040503050406030204" pitchFamily="18" charset="0"/>
                                    </a:rPr>
                                  </m:ctrlPr>
                                </m:sSupPr>
                                <m:e>
                                  <m:d>
                                    <m:dPr>
                                      <m:begChr m:val="‖"/>
                                      <m:endChr m:val="‖"/>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𝑤</m:t>
                                      </m:r>
                                    </m:e>
                                  </m:d>
                                </m:e>
                                <m:sup>
                                  <m:r>
                                    <a:rPr kumimoji="1" lang="en-US" altLang="zh-CN" sz="2400" i="1">
                                      <a:latin typeface="Cambria Math" panose="02040503050406030204" pitchFamily="18" charset="0"/>
                                    </a:rPr>
                                    <m:t>2</m:t>
                                  </m:r>
                                </m:sup>
                              </m:sSup>
                              <m:r>
                                <a:rPr kumimoji="1" lang="en-US" altLang="zh-CN" sz="2400" i="1">
                                  <a:latin typeface="Cambria Math" panose="02040503050406030204" pitchFamily="18" charset="0"/>
                                </a:rPr>
                                <m:t>+</m:t>
                              </m:r>
                              <m:nary>
                                <m:naryPr>
                                  <m:chr m:val="∑"/>
                                  <m:ctrlPr>
                                    <a:rPr kumimoji="1" lang="en-US" altLang="zh-CN" sz="2400" i="1">
                                      <a:latin typeface="Cambria Math" panose="02040503050406030204" pitchFamily="18" charset="0"/>
                                    </a:rPr>
                                  </m:ctrlPr>
                                </m:naryPr>
                                <m:sub>
                                  <m:r>
                                    <m:rPr>
                                      <m:brk m:alnAt="23"/>
                                    </m:rPr>
                                    <a:rPr kumimoji="1" lang="en-US" altLang="zh-CN" sz="2400" i="1">
                                      <a:latin typeface="Cambria Math" panose="02040503050406030204" pitchFamily="18" charset="0"/>
                                    </a:rPr>
                                    <m:t>𝑖</m:t>
                                  </m:r>
                                </m:sub>
                                <m:sup>
                                  <m:r>
                                    <a:rPr kumimoji="1" lang="en-US" altLang="zh-CN" sz="2400" i="1">
                                      <a:latin typeface="Cambria Math" panose="02040503050406030204" pitchFamily="18" charset="0"/>
                                    </a:rPr>
                                    <m:t>𝑁</m:t>
                                  </m:r>
                                </m:sup>
                                <m:e>
                                  <m:sSub>
                                    <m:sSubPr>
                                      <m:ctrlPr>
                                        <a:rPr kumimoji="1" lang="en-US" altLang="zh-CN" sz="2400" i="1">
                                          <a:latin typeface="Cambria Math" panose="02040503050406030204" pitchFamily="18" charset="0"/>
                                        </a:rPr>
                                      </m:ctrlPr>
                                    </m:sSubPr>
                                    <m:e>
                                      <m:r>
                                        <a:rPr kumimoji="1" lang="en-US" altLang="zh-CN" sz="2400" i="1">
                                          <a:latin typeface="Cambria Math" panose="02040503050406030204" pitchFamily="18" charset="0"/>
                                          <a:ea typeface="Cambria Math" panose="02040503050406030204" pitchFamily="18" charset="0"/>
                                        </a:rPr>
                                        <m:t>𝛼</m:t>
                                      </m:r>
                                    </m:e>
                                    <m:sub>
                                      <m:r>
                                        <a:rPr kumimoji="1" lang="en-US" altLang="zh-CN" sz="2400" i="1">
                                          <a:latin typeface="Cambria Math" panose="02040503050406030204" pitchFamily="18" charset="0"/>
                                        </a:rPr>
                                        <m:t>𝑖</m:t>
                                      </m:r>
                                    </m:sub>
                                  </m:sSub>
                                  <m:d>
                                    <m:dPr>
                                      <m:begChr m:val="["/>
                                      <m:endChr m:val="]"/>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1−</m:t>
                                      </m:r>
                                      <m:sSub>
                                        <m:sSubPr>
                                          <m:ctrlPr>
                                            <a:rPr kumimoji="1" lang="en-US" altLang="zh-CN" sz="2400" i="1">
                                              <a:latin typeface="Cambria Math" panose="02040503050406030204" pitchFamily="18" charset="0"/>
                                            </a:rPr>
                                          </m:ctrlPr>
                                        </m:sSubPr>
                                        <m:e>
                                          <m:r>
                                            <a:rPr kumimoji="1" lang="en-US" altLang="zh-CN" sz="2400" i="1">
                                              <a:latin typeface="Cambria Math" panose="02040503050406030204" pitchFamily="18" charset="0"/>
                                            </a:rPr>
                                            <m:t>𝑦</m:t>
                                          </m:r>
                                        </m:e>
                                        <m:sub>
                                          <m:r>
                                            <a:rPr kumimoji="1" lang="en-US" altLang="zh-CN" sz="2400" i="1">
                                              <a:latin typeface="Cambria Math" panose="02040503050406030204" pitchFamily="18" charset="0"/>
                                            </a:rPr>
                                            <m:t>𝑖</m:t>
                                          </m:r>
                                        </m:sub>
                                      </m:sSub>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𝑤</m:t>
                                          </m:r>
                                          <m:sSub>
                                            <m:sSubPr>
                                              <m:ctrlPr>
                                                <a:rPr kumimoji="1" lang="en-US" altLang="zh-CN" sz="2400" i="1">
                                                  <a:latin typeface="Cambria Math" panose="02040503050406030204" pitchFamily="18" charset="0"/>
                                                </a:rPr>
                                              </m:ctrlPr>
                                            </m:sSubPr>
                                            <m:e>
                                              <m:r>
                                                <a:rPr kumimoji="1" lang="en-US" altLang="zh-CN" sz="2400" i="1">
                                                  <a:latin typeface="Cambria Math" panose="02040503050406030204" pitchFamily="18" charset="0"/>
                                                  <a:ea typeface="Cambria Math" panose="02040503050406030204" pitchFamily="18" charset="0"/>
                                                </a:rPr>
                                                <m:t>∙</m:t>
                                              </m:r>
                                              <m:r>
                                                <a:rPr kumimoji="1" lang="en-US" altLang="zh-CN" sz="2400" i="1">
                                                  <a:latin typeface="Cambria Math" panose="02040503050406030204" pitchFamily="18" charset="0"/>
                                                  <a:ea typeface="Cambria Math" panose="02040503050406030204" pitchFamily="18" charset="0"/>
                                                </a:rPr>
                                                <m:t>𝑥</m:t>
                                              </m:r>
                                            </m:e>
                                            <m:sub>
                                              <m:r>
                                                <a:rPr kumimoji="1" lang="en-US" altLang="zh-CN" sz="2400" i="1">
                                                  <a:latin typeface="Cambria Math" panose="02040503050406030204" pitchFamily="18" charset="0"/>
                                                </a:rPr>
                                                <m:t>𝑖</m:t>
                                              </m:r>
                                            </m:sub>
                                          </m:sSub>
                                          <m:r>
                                            <a:rPr kumimoji="1" lang="en-US" altLang="zh-CN" sz="2400" i="1">
                                              <a:latin typeface="Cambria Math" panose="02040503050406030204" pitchFamily="18" charset="0"/>
                                            </a:rPr>
                                            <m:t>+</m:t>
                                          </m:r>
                                          <m:r>
                                            <a:rPr kumimoji="1" lang="en-US" altLang="zh-CN" sz="2400" i="1">
                                              <a:latin typeface="Cambria Math" panose="02040503050406030204" pitchFamily="18" charset="0"/>
                                            </a:rPr>
                                            <m:t>𝑏</m:t>
                                          </m:r>
                                        </m:e>
                                      </m:d>
                                    </m:e>
                                  </m:d>
                                </m:e>
                              </m:nary>
                            </m:e>
                          </m:d>
                          <m:r>
                            <m:rPr>
                              <m:nor/>
                            </m:rPr>
                            <a:rPr kumimoji="1" lang="zh-CN" altLang="en-US" sz="2400" dirty="0"/>
                            <m:t> </m:t>
                          </m:r>
                        </m:e>
                      </m:func>
                    </m:oMath>
                  </m:oMathPara>
                </a14:m>
                <a:endParaRPr kumimoji="1" lang="zh-CN" altLang="en-US" sz="2400" dirty="0"/>
              </a:p>
            </p:txBody>
          </p:sp>
        </mc:Choice>
        <mc:Fallback xmlns="">
          <p:sp>
            <p:nvSpPr>
              <p:cNvPr id="7" name="文本框 6">
                <a:extLst>
                  <a:ext uri="{FF2B5EF4-FFF2-40B4-BE49-F238E27FC236}">
                    <a16:creationId xmlns:a16="http://schemas.microsoft.com/office/drawing/2014/main" id="{A891237E-5FF2-9379-A376-D67E0FB2066E}"/>
                  </a:ext>
                </a:extLst>
              </p:cNvPr>
              <p:cNvSpPr txBox="1">
                <a:spLocks noRot="1" noChangeAspect="1" noMove="1" noResize="1" noEditPoints="1" noAdjustHandles="1" noChangeArrowheads="1" noChangeShapeType="1" noTextEdit="1"/>
              </p:cNvSpPr>
              <p:nvPr/>
            </p:nvSpPr>
            <p:spPr>
              <a:xfrm>
                <a:off x="2433260" y="1884892"/>
                <a:ext cx="6115969" cy="1038489"/>
              </a:xfrm>
              <a:prstGeom prst="rect">
                <a:avLst/>
              </a:prstGeom>
              <a:blipFill>
                <a:blip r:embed="rId4"/>
                <a:stretch>
                  <a:fillRect t="-114458" r="-1660" b="-174699"/>
                </a:stretch>
              </a:blipFill>
            </p:spPr>
            <p:txBody>
              <a:bodyPr/>
              <a:lstStyle/>
              <a:p>
                <a:r>
                  <a:rPr lang="zh-CN" altLang="en-US">
                    <a:noFill/>
                  </a:rPr>
                  <a:t> </a:t>
                </a:r>
              </a:p>
            </p:txBody>
          </p:sp>
        </mc:Fallback>
      </mc:AlternateContent>
      <p:sp>
        <p:nvSpPr>
          <p:cNvPr id="8" name="文本框 7">
            <a:extLst>
              <a:ext uri="{FF2B5EF4-FFF2-40B4-BE49-F238E27FC236}">
                <a16:creationId xmlns:a16="http://schemas.microsoft.com/office/drawing/2014/main" id="{A7732B8F-3DE0-FFB6-FF3E-DA31E8B698B6}"/>
              </a:ext>
            </a:extLst>
          </p:cNvPr>
          <p:cNvSpPr txBox="1"/>
          <p:nvPr/>
        </p:nvSpPr>
        <p:spPr>
          <a:xfrm>
            <a:off x="643476" y="1134252"/>
            <a:ext cx="1620957" cy="523220"/>
          </a:xfrm>
          <a:prstGeom prst="rect">
            <a:avLst/>
          </a:prstGeom>
          <a:noFill/>
        </p:spPr>
        <p:txBody>
          <a:bodyPr wrap="none" rtlCol="0">
            <a:spAutoFit/>
          </a:bodyPr>
          <a:lstStyle/>
          <a:p>
            <a:r>
              <a:rPr kumimoji="1" lang="zh-CN" altLang="en-US" sz="2800" dirty="0"/>
              <a:t>原始问题</a:t>
            </a:r>
          </a:p>
        </p:txBody>
      </p:sp>
      <p:sp>
        <p:nvSpPr>
          <p:cNvPr id="9" name="文本框 8">
            <a:extLst>
              <a:ext uri="{FF2B5EF4-FFF2-40B4-BE49-F238E27FC236}">
                <a16:creationId xmlns:a16="http://schemas.microsoft.com/office/drawing/2014/main" id="{5551A8A0-9814-0B02-B6EB-F7A135F3F8D4}"/>
              </a:ext>
            </a:extLst>
          </p:cNvPr>
          <p:cNvSpPr txBox="1"/>
          <p:nvPr/>
        </p:nvSpPr>
        <p:spPr>
          <a:xfrm>
            <a:off x="643476" y="2199427"/>
            <a:ext cx="1620957" cy="523220"/>
          </a:xfrm>
          <a:prstGeom prst="rect">
            <a:avLst/>
          </a:prstGeom>
          <a:noFill/>
        </p:spPr>
        <p:txBody>
          <a:bodyPr wrap="none" rtlCol="0">
            <a:spAutoFit/>
          </a:bodyPr>
          <a:lstStyle/>
          <a:p>
            <a:r>
              <a:rPr kumimoji="1" lang="zh-CN" altLang="en-US" sz="2800" dirty="0"/>
              <a:t>对偶问题</a:t>
            </a:r>
          </a:p>
        </p:txBody>
      </p:sp>
      <p:sp>
        <p:nvSpPr>
          <p:cNvPr id="10" name="文本框 9">
            <a:extLst>
              <a:ext uri="{FF2B5EF4-FFF2-40B4-BE49-F238E27FC236}">
                <a16:creationId xmlns:a16="http://schemas.microsoft.com/office/drawing/2014/main" id="{0E5A984B-5684-177E-3528-7565C0E74A93}"/>
              </a:ext>
            </a:extLst>
          </p:cNvPr>
          <p:cNvSpPr txBox="1"/>
          <p:nvPr/>
        </p:nvSpPr>
        <p:spPr>
          <a:xfrm>
            <a:off x="690368" y="3344052"/>
            <a:ext cx="1906291" cy="523220"/>
          </a:xfrm>
          <a:prstGeom prst="rect">
            <a:avLst/>
          </a:prstGeom>
          <a:noFill/>
        </p:spPr>
        <p:txBody>
          <a:bodyPr wrap="none" rtlCol="0">
            <a:spAutoFit/>
          </a:bodyPr>
          <a:lstStyle/>
          <a:p>
            <a:r>
              <a:rPr kumimoji="1" lang="en-US" altLang="zh-CN" sz="2800" dirty="0"/>
              <a:t>KKT</a:t>
            </a:r>
            <a:r>
              <a:rPr kumimoji="1" lang="zh-CN" altLang="en-US" sz="2800" dirty="0"/>
              <a:t>条件：</a:t>
            </a:r>
          </a:p>
        </p:txBody>
      </p: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CD50C3B0-195C-295F-5205-7ED81E29324C}"/>
                  </a:ext>
                </a:extLst>
              </p:cNvPr>
              <p:cNvSpPr txBox="1"/>
              <p:nvPr/>
            </p:nvSpPr>
            <p:spPr>
              <a:xfrm>
                <a:off x="1195751" y="4442302"/>
                <a:ext cx="4067907"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2400" i="1" smtClean="0">
                              <a:latin typeface="Cambria Math" panose="02040503050406030204" pitchFamily="18" charset="0"/>
                            </a:rPr>
                          </m:ctrlPr>
                        </m:sSubPr>
                        <m:e>
                          <m:r>
                            <a:rPr kumimoji="1" lang="en-US" altLang="zh-CN" sz="2400" i="1">
                              <a:latin typeface="Cambria Math" panose="02040503050406030204" pitchFamily="18" charset="0"/>
                              <a:ea typeface="Cambria Math" panose="02040503050406030204" pitchFamily="18" charset="0"/>
                            </a:rPr>
                            <m:t>𝛼</m:t>
                          </m:r>
                        </m:e>
                        <m:sub>
                          <m:r>
                            <a:rPr kumimoji="1" lang="en-US" altLang="zh-CN" sz="2400" i="1">
                              <a:latin typeface="Cambria Math" panose="02040503050406030204" pitchFamily="18" charset="0"/>
                            </a:rPr>
                            <m:t>𝑖</m:t>
                          </m:r>
                        </m:sub>
                      </m:sSub>
                      <m:d>
                        <m:dPr>
                          <m:begChr m:val="["/>
                          <m:endChr m:val="]"/>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1−</m:t>
                          </m:r>
                          <m:sSub>
                            <m:sSubPr>
                              <m:ctrlPr>
                                <a:rPr kumimoji="1" lang="en-US" altLang="zh-CN" sz="2400" i="1">
                                  <a:latin typeface="Cambria Math" panose="02040503050406030204" pitchFamily="18" charset="0"/>
                                </a:rPr>
                              </m:ctrlPr>
                            </m:sSubPr>
                            <m:e>
                              <m:r>
                                <a:rPr kumimoji="1" lang="en-US" altLang="zh-CN" sz="2400" i="1">
                                  <a:latin typeface="Cambria Math" panose="02040503050406030204" pitchFamily="18" charset="0"/>
                                </a:rPr>
                                <m:t>𝑦</m:t>
                              </m:r>
                            </m:e>
                            <m:sub>
                              <m:r>
                                <a:rPr kumimoji="1" lang="en-US" altLang="zh-CN" sz="2400" i="1">
                                  <a:latin typeface="Cambria Math" panose="02040503050406030204" pitchFamily="18" charset="0"/>
                                </a:rPr>
                                <m:t>𝑖</m:t>
                              </m:r>
                            </m:sub>
                          </m:sSub>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𝑤</m:t>
                              </m:r>
                              <m:sSub>
                                <m:sSubPr>
                                  <m:ctrlPr>
                                    <a:rPr kumimoji="1" lang="en-US" altLang="zh-CN" sz="2400" i="1">
                                      <a:latin typeface="Cambria Math" panose="02040503050406030204" pitchFamily="18" charset="0"/>
                                    </a:rPr>
                                  </m:ctrlPr>
                                </m:sSubPr>
                                <m:e>
                                  <m:r>
                                    <a:rPr kumimoji="1" lang="en-US" altLang="zh-CN" sz="2400" i="1">
                                      <a:latin typeface="Cambria Math" panose="02040503050406030204" pitchFamily="18" charset="0"/>
                                      <a:ea typeface="Cambria Math" panose="02040503050406030204" pitchFamily="18" charset="0"/>
                                    </a:rPr>
                                    <m:t>∙</m:t>
                                  </m:r>
                                  <m:r>
                                    <a:rPr kumimoji="1" lang="en-US" altLang="zh-CN" sz="2400" i="1">
                                      <a:latin typeface="Cambria Math" panose="02040503050406030204" pitchFamily="18" charset="0"/>
                                      <a:ea typeface="Cambria Math" panose="02040503050406030204" pitchFamily="18" charset="0"/>
                                    </a:rPr>
                                    <m:t>𝑥</m:t>
                                  </m:r>
                                </m:e>
                                <m:sub>
                                  <m:r>
                                    <a:rPr kumimoji="1" lang="en-US" altLang="zh-CN" sz="2400" i="1">
                                      <a:latin typeface="Cambria Math" panose="02040503050406030204" pitchFamily="18" charset="0"/>
                                    </a:rPr>
                                    <m:t>𝑖</m:t>
                                  </m:r>
                                </m:sub>
                              </m:sSub>
                              <m:r>
                                <a:rPr kumimoji="1" lang="en-US" altLang="zh-CN" sz="2400" i="1">
                                  <a:latin typeface="Cambria Math" panose="02040503050406030204" pitchFamily="18" charset="0"/>
                                </a:rPr>
                                <m:t>+</m:t>
                              </m:r>
                              <m:r>
                                <a:rPr kumimoji="1" lang="en-US" altLang="zh-CN" sz="2400" i="1">
                                  <a:latin typeface="Cambria Math" panose="02040503050406030204" pitchFamily="18" charset="0"/>
                                </a:rPr>
                                <m:t>𝑏</m:t>
                              </m:r>
                            </m:e>
                          </m:d>
                        </m:e>
                      </m:d>
                      <m:r>
                        <a:rPr kumimoji="1" lang="en-US" altLang="zh-CN" sz="2400" b="0" i="1" smtClean="0">
                          <a:latin typeface="Cambria Math" panose="02040503050406030204" pitchFamily="18" charset="0"/>
                        </a:rPr>
                        <m:t>=0</m:t>
                      </m:r>
                    </m:oMath>
                  </m:oMathPara>
                </a14:m>
                <a:endParaRPr lang="zh-CN" altLang="en-US" sz="2400" dirty="0"/>
              </a:p>
            </p:txBody>
          </p:sp>
        </mc:Choice>
        <mc:Fallback xmlns="">
          <p:sp>
            <p:nvSpPr>
              <p:cNvPr id="12" name="文本框 11">
                <a:extLst>
                  <a:ext uri="{FF2B5EF4-FFF2-40B4-BE49-F238E27FC236}">
                    <a16:creationId xmlns:a16="http://schemas.microsoft.com/office/drawing/2014/main" id="{CD50C3B0-195C-295F-5205-7ED81E29324C}"/>
                  </a:ext>
                </a:extLst>
              </p:cNvPr>
              <p:cNvSpPr txBox="1">
                <a:spLocks noRot="1" noChangeAspect="1" noMove="1" noResize="1" noEditPoints="1" noAdjustHandles="1" noChangeArrowheads="1" noChangeShapeType="1" noTextEdit="1"/>
              </p:cNvSpPr>
              <p:nvPr/>
            </p:nvSpPr>
            <p:spPr>
              <a:xfrm>
                <a:off x="1195751" y="4442302"/>
                <a:ext cx="4067907" cy="461665"/>
              </a:xfrm>
              <a:prstGeom prst="rect">
                <a:avLst/>
              </a:prstGeom>
              <a:blipFill>
                <a:blip r:embed="rId5"/>
                <a:stretch>
                  <a:fillRect b="-540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81796A97-60BB-6A6D-0E77-3A11CEC4261E}"/>
                  </a:ext>
                </a:extLst>
              </p:cNvPr>
              <p:cNvSpPr txBox="1"/>
              <p:nvPr/>
            </p:nvSpPr>
            <p:spPr>
              <a:xfrm>
                <a:off x="1195751" y="3896266"/>
                <a:ext cx="3364523" cy="477888"/>
              </a:xfrm>
              <a:prstGeom prst="rect">
                <a:avLst/>
              </a:prstGeom>
              <a:noFill/>
            </p:spPr>
            <p:txBody>
              <a:bodyPr wrap="square">
                <a:spAutoFit/>
              </a:bodyPr>
              <a:lstStyle/>
              <a:p>
                <a14:m>
                  <m:oMath xmlns:m="http://schemas.openxmlformats.org/officeDocument/2006/math">
                    <m:sSub>
                      <m:sSubPr>
                        <m:ctrlPr>
                          <a:rPr kumimoji="1" lang="en-US" altLang="zh-CN" sz="2400" i="1" smtClean="0">
                            <a:latin typeface="Cambria Math" panose="02040503050406030204" pitchFamily="18" charset="0"/>
                          </a:rPr>
                        </m:ctrlPr>
                      </m:sSubPr>
                      <m:e>
                        <m:r>
                          <m:rPr>
                            <m:sty m:val="p"/>
                          </m:rPr>
                          <a:rPr kumimoji="1" lang="en-US" altLang="zh-CN" sz="2400" i="1" smtClean="0">
                            <a:latin typeface="Cambria Math" panose="02040503050406030204" pitchFamily="18" charset="0"/>
                            <a:ea typeface="Cambria Math" panose="02040503050406030204" pitchFamily="18" charset="0"/>
                          </a:rPr>
                          <m:t>∇</m:t>
                        </m:r>
                      </m:e>
                      <m:sub>
                        <m:r>
                          <a:rPr kumimoji="1" lang="en-US" altLang="zh-CN" sz="2400" b="0" i="1" smtClean="0">
                            <a:latin typeface="Cambria Math" panose="02040503050406030204" pitchFamily="18" charset="0"/>
                          </a:rPr>
                          <m:t>𝑤</m:t>
                        </m:r>
                        <m:r>
                          <a:rPr kumimoji="1" lang="en-US" altLang="zh-CN" sz="2400" b="0" i="1" smtClean="0">
                            <a:latin typeface="Cambria Math" panose="02040503050406030204" pitchFamily="18" charset="0"/>
                          </a:rPr>
                          <m:t>,</m:t>
                        </m:r>
                        <m:r>
                          <a:rPr kumimoji="1" lang="zh-CN" altLang="en-US" sz="2400" b="0" i="1" smtClean="0">
                            <a:latin typeface="Cambria Math" panose="02040503050406030204" pitchFamily="18" charset="0"/>
                          </a:rPr>
                          <m:t> </m:t>
                        </m:r>
                        <m:r>
                          <a:rPr kumimoji="1" lang="en-US" altLang="zh-CN" sz="2400" b="0" i="1" smtClean="0">
                            <a:latin typeface="Cambria Math" panose="02040503050406030204" pitchFamily="18" charset="0"/>
                          </a:rPr>
                          <m:t>𝑏</m:t>
                        </m:r>
                      </m:sub>
                    </m:sSub>
                  </m:oMath>
                </a14:m>
                <a:r>
                  <a:rPr kumimoji="1" lang="en-US" altLang="zh-CN" sz="2400" dirty="0"/>
                  <a:t> </a:t>
                </a:r>
                <a14:m>
                  <m:oMath xmlns:m="http://schemas.openxmlformats.org/officeDocument/2006/math">
                    <m:r>
                      <a:rPr kumimoji="1" lang="en-US" altLang="zh-CN" sz="2400" i="1">
                        <a:latin typeface="Cambria Math" panose="02040503050406030204" pitchFamily="18" charset="0"/>
                      </a:rPr>
                      <m:t>𝐿</m:t>
                    </m:r>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𝑤</m:t>
                        </m:r>
                        <m:r>
                          <a:rPr kumimoji="1" lang="en-US" altLang="zh-CN" sz="2400" i="1">
                            <a:latin typeface="Cambria Math" panose="02040503050406030204" pitchFamily="18" charset="0"/>
                          </a:rPr>
                          <m:t>,</m:t>
                        </m:r>
                        <m:r>
                          <a:rPr kumimoji="1" lang="en-US" altLang="zh-CN" sz="2400" i="1">
                            <a:latin typeface="Cambria Math" panose="02040503050406030204" pitchFamily="18" charset="0"/>
                          </a:rPr>
                          <m:t>𝑏</m:t>
                        </m:r>
                        <m:r>
                          <a:rPr kumimoji="1" lang="en-US" altLang="zh-CN" sz="2400" i="1">
                            <a:latin typeface="Cambria Math" panose="02040503050406030204" pitchFamily="18" charset="0"/>
                          </a:rPr>
                          <m:t>,</m:t>
                        </m:r>
                        <m:r>
                          <a:rPr kumimoji="1" lang="en-US" altLang="zh-CN" sz="2400" i="1">
                            <a:latin typeface="Cambria Math" panose="02040503050406030204" pitchFamily="18" charset="0"/>
                            <a:ea typeface="Cambria Math" panose="02040503050406030204" pitchFamily="18" charset="0"/>
                          </a:rPr>
                          <m:t>𝛼</m:t>
                        </m:r>
                      </m:e>
                    </m:d>
                    <m:r>
                      <a:rPr kumimoji="1" lang="en-US" altLang="zh-CN" sz="2400" b="0" i="1" smtClean="0">
                        <a:latin typeface="Cambria Math" panose="02040503050406030204" pitchFamily="18" charset="0"/>
                        <a:ea typeface="Cambria Math" panose="02040503050406030204" pitchFamily="18" charset="0"/>
                      </a:rPr>
                      <m:t>=0</m:t>
                    </m:r>
                  </m:oMath>
                </a14:m>
                <a:endParaRPr lang="zh-CN" altLang="en-US" sz="2400" dirty="0"/>
              </a:p>
            </p:txBody>
          </p:sp>
        </mc:Choice>
        <mc:Fallback xmlns="">
          <p:sp>
            <p:nvSpPr>
              <p:cNvPr id="13" name="文本框 12">
                <a:extLst>
                  <a:ext uri="{FF2B5EF4-FFF2-40B4-BE49-F238E27FC236}">
                    <a16:creationId xmlns:a16="http://schemas.microsoft.com/office/drawing/2014/main" id="{81796A97-60BB-6A6D-0E77-3A11CEC4261E}"/>
                  </a:ext>
                </a:extLst>
              </p:cNvPr>
              <p:cNvSpPr txBox="1">
                <a:spLocks noRot="1" noChangeAspect="1" noMove="1" noResize="1" noEditPoints="1" noAdjustHandles="1" noChangeArrowheads="1" noChangeShapeType="1" noTextEdit="1"/>
              </p:cNvSpPr>
              <p:nvPr/>
            </p:nvSpPr>
            <p:spPr>
              <a:xfrm>
                <a:off x="1195751" y="3896266"/>
                <a:ext cx="3364523" cy="477888"/>
              </a:xfrm>
              <a:prstGeom prst="rect">
                <a:avLst/>
              </a:prstGeom>
              <a:blipFill>
                <a:blip r:embed="rId6"/>
                <a:stretch>
                  <a:fillRect l="-3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EDE7FA7F-AEDB-8405-2697-276CB5B27235}"/>
                  </a:ext>
                </a:extLst>
              </p:cNvPr>
              <p:cNvSpPr txBox="1"/>
              <p:nvPr/>
            </p:nvSpPr>
            <p:spPr>
              <a:xfrm>
                <a:off x="2089758" y="4988129"/>
                <a:ext cx="3364523"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kumimoji="1" lang="en-US" altLang="zh-CN" sz="2400" i="1" smtClean="0">
                              <a:latin typeface="Cambria Math" panose="02040503050406030204" pitchFamily="18" charset="0"/>
                            </a:rPr>
                          </m:ctrlPr>
                        </m:dPr>
                        <m:e>
                          <m:r>
                            <a:rPr kumimoji="1" lang="en-US" altLang="zh-CN" sz="2400" i="1">
                              <a:latin typeface="Cambria Math" panose="02040503050406030204" pitchFamily="18" charset="0"/>
                            </a:rPr>
                            <m:t>1−</m:t>
                          </m:r>
                          <m:sSub>
                            <m:sSubPr>
                              <m:ctrlPr>
                                <a:rPr kumimoji="1" lang="en-US" altLang="zh-CN" sz="2400" i="1">
                                  <a:latin typeface="Cambria Math" panose="02040503050406030204" pitchFamily="18" charset="0"/>
                                </a:rPr>
                              </m:ctrlPr>
                            </m:sSubPr>
                            <m:e>
                              <m:r>
                                <a:rPr kumimoji="1" lang="en-US" altLang="zh-CN" sz="2400" i="1">
                                  <a:latin typeface="Cambria Math" panose="02040503050406030204" pitchFamily="18" charset="0"/>
                                </a:rPr>
                                <m:t>𝑦</m:t>
                              </m:r>
                            </m:e>
                            <m:sub>
                              <m:r>
                                <a:rPr kumimoji="1" lang="en-US" altLang="zh-CN" sz="2400" i="1">
                                  <a:latin typeface="Cambria Math" panose="02040503050406030204" pitchFamily="18" charset="0"/>
                                </a:rPr>
                                <m:t>𝑖</m:t>
                              </m:r>
                            </m:sub>
                          </m:sSub>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𝑤</m:t>
                              </m:r>
                              <m:sSub>
                                <m:sSubPr>
                                  <m:ctrlPr>
                                    <a:rPr kumimoji="1" lang="en-US" altLang="zh-CN" sz="2400" i="1">
                                      <a:latin typeface="Cambria Math" panose="02040503050406030204" pitchFamily="18" charset="0"/>
                                    </a:rPr>
                                  </m:ctrlPr>
                                </m:sSubPr>
                                <m:e>
                                  <m:r>
                                    <a:rPr kumimoji="1" lang="en-US" altLang="zh-CN" sz="2400" i="1">
                                      <a:latin typeface="Cambria Math" panose="02040503050406030204" pitchFamily="18" charset="0"/>
                                      <a:ea typeface="Cambria Math" panose="02040503050406030204" pitchFamily="18" charset="0"/>
                                    </a:rPr>
                                    <m:t>∙</m:t>
                                  </m:r>
                                  <m:r>
                                    <a:rPr kumimoji="1" lang="en-US" altLang="zh-CN" sz="2400" i="1">
                                      <a:latin typeface="Cambria Math" panose="02040503050406030204" pitchFamily="18" charset="0"/>
                                      <a:ea typeface="Cambria Math" panose="02040503050406030204" pitchFamily="18" charset="0"/>
                                    </a:rPr>
                                    <m:t>𝑥</m:t>
                                  </m:r>
                                </m:e>
                                <m:sub>
                                  <m:r>
                                    <a:rPr kumimoji="1" lang="en-US" altLang="zh-CN" sz="2400" i="1">
                                      <a:latin typeface="Cambria Math" panose="02040503050406030204" pitchFamily="18" charset="0"/>
                                    </a:rPr>
                                    <m:t>𝑖</m:t>
                                  </m:r>
                                </m:sub>
                              </m:sSub>
                              <m:r>
                                <a:rPr kumimoji="1" lang="en-US" altLang="zh-CN" sz="2400" i="1">
                                  <a:latin typeface="Cambria Math" panose="02040503050406030204" pitchFamily="18" charset="0"/>
                                </a:rPr>
                                <m:t>+</m:t>
                              </m:r>
                              <m:r>
                                <a:rPr kumimoji="1" lang="en-US" altLang="zh-CN" sz="2400" i="1">
                                  <a:latin typeface="Cambria Math" panose="02040503050406030204" pitchFamily="18" charset="0"/>
                                </a:rPr>
                                <m:t>𝑏</m:t>
                              </m:r>
                            </m:e>
                          </m:d>
                        </m:e>
                      </m:d>
                      <m:r>
                        <a:rPr kumimoji="1" lang="en-US" altLang="zh-CN" sz="2400" b="0" i="1" smtClean="0">
                          <a:latin typeface="Cambria Math" panose="02040503050406030204" pitchFamily="18" charset="0"/>
                          <a:ea typeface="Cambria Math" panose="02040503050406030204" pitchFamily="18" charset="0"/>
                        </a:rPr>
                        <m:t>≤</m:t>
                      </m:r>
                      <m:r>
                        <a:rPr kumimoji="1" lang="en-US" altLang="zh-CN" sz="2400" b="0" i="1" smtClean="0">
                          <a:latin typeface="Cambria Math" panose="02040503050406030204" pitchFamily="18" charset="0"/>
                        </a:rPr>
                        <m:t>0</m:t>
                      </m:r>
                    </m:oMath>
                  </m:oMathPara>
                </a14:m>
                <a:endParaRPr lang="zh-CN" altLang="en-US" sz="2400" dirty="0"/>
              </a:p>
            </p:txBody>
          </p:sp>
        </mc:Choice>
        <mc:Fallback xmlns="">
          <p:sp>
            <p:nvSpPr>
              <p:cNvPr id="15" name="文本框 14">
                <a:extLst>
                  <a:ext uri="{FF2B5EF4-FFF2-40B4-BE49-F238E27FC236}">
                    <a16:creationId xmlns:a16="http://schemas.microsoft.com/office/drawing/2014/main" id="{EDE7FA7F-AEDB-8405-2697-276CB5B27235}"/>
                  </a:ext>
                </a:extLst>
              </p:cNvPr>
              <p:cNvSpPr txBox="1">
                <a:spLocks noRot="1" noChangeAspect="1" noMove="1" noResize="1" noEditPoints="1" noAdjustHandles="1" noChangeArrowheads="1" noChangeShapeType="1" noTextEdit="1"/>
              </p:cNvSpPr>
              <p:nvPr/>
            </p:nvSpPr>
            <p:spPr>
              <a:xfrm>
                <a:off x="2089758" y="4988129"/>
                <a:ext cx="3364523" cy="461665"/>
              </a:xfrm>
              <a:prstGeom prst="rect">
                <a:avLst/>
              </a:prstGeom>
              <a:blipFill>
                <a:blip r:embed="rId7"/>
                <a:stretch>
                  <a:fillRect b="-263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F92D8B42-8B6B-71FF-C200-B1687936F566}"/>
                  </a:ext>
                </a:extLst>
              </p:cNvPr>
              <p:cNvSpPr txBox="1"/>
              <p:nvPr/>
            </p:nvSpPr>
            <p:spPr>
              <a:xfrm>
                <a:off x="1500846" y="5513250"/>
                <a:ext cx="3364523"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2400" i="1" smtClean="0">
                              <a:latin typeface="Cambria Math" panose="02040503050406030204" pitchFamily="18" charset="0"/>
                            </a:rPr>
                          </m:ctrlPr>
                        </m:sSubPr>
                        <m:e>
                          <m:r>
                            <a:rPr kumimoji="1" lang="en-US" altLang="zh-CN" sz="2400" i="1">
                              <a:latin typeface="Cambria Math" panose="02040503050406030204" pitchFamily="18" charset="0"/>
                              <a:ea typeface="Cambria Math" panose="02040503050406030204" pitchFamily="18" charset="0"/>
                            </a:rPr>
                            <m:t>𝛼</m:t>
                          </m:r>
                        </m:e>
                        <m:sub>
                          <m:r>
                            <a:rPr kumimoji="1" lang="en-US" altLang="zh-CN" sz="2400" i="1">
                              <a:latin typeface="Cambria Math" panose="02040503050406030204" pitchFamily="18" charset="0"/>
                            </a:rPr>
                            <m:t>𝑖</m:t>
                          </m:r>
                        </m:sub>
                      </m:sSub>
                      <m:r>
                        <a:rPr kumimoji="1" lang="en-US" altLang="zh-CN" sz="2400" i="1" smtClean="0">
                          <a:latin typeface="Cambria Math" panose="02040503050406030204" pitchFamily="18" charset="0"/>
                          <a:ea typeface="Cambria Math" panose="02040503050406030204" pitchFamily="18" charset="0"/>
                        </a:rPr>
                        <m:t>≥</m:t>
                      </m:r>
                      <m:r>
                        <a:rPr kumimoji="1" lang="en-US" altLang="zh-CN" sz="2400" b="0" i="1" smtClean="0">
                          <a:latin typeface="Cambria Math" panose="02040503050406030204" pitchFamily="18" charset="0"/>
                          <a:ea typeface="Cambria Math" panose="02040503050406030204" pitchFamily="18" charset="0"/>
                        </a:rPr>
                        <m:t>0</m:t>
                      </m:r>
                    </m:oMath>
                  </m:oMathPara>
                </a14:m>
                <a:endParaRPr lang="zh-CN" altLang="en-US" sz="2400" dirty="0"/>
              </a:p>
            </p:txBody>
          </p:sp>
        </mc:Choice>
        <mc:Fallback xmlns="">
          <p:sp>
            <p:nvSpPr>
              <p:cNvPr id="17" name="文本框 16">
                <a:extLst>
                  <a:ext uri="{FF2B5EF4-FFF2-40B4-BE49-F238E27FC236}">
                    <a16:creationId xmlns:a16="http://schemas.microsoft.com/office/drawing/2014/main" id="{F92D8B42-8B6B-71FF-C200-B1687936F566}"/>
                  </a:ext>
                </a:extLst>
              </p:cNvPr>
              <p:cNvSpPr txBox="1">
                <a:spLocks noRot="1" noChangeAspect="1" noMove="1" noResize="1" noEditPoints="1" noAdjustHandles="1" noChangeArrowheads="1" noChangeShapeType="1" noTextEdit="1"/>
              </p:cNvSpPr>
              <p:nvPr/>
            </p:nvSpPr>
            <p:spPr>
              <a:xfrm>
                <a:off x="1500846" y="5513250"/>
                <a:ext cx="3364523" cy="461665"/>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31D47E04-59B8-D773-D7A9-448EEC1A61C0}"/>
                  </a:ext>
                </a:extLst>
              </p:cNvPr>
              <p:cNvSpPr txBox="1"/>
              <p:nvPr/>
            </p:nvSpPr>
            <p:spPr>
              <a:xfrm>
                <a:off x="2311325" y="6050159"/>
                <a:ext cx="3580197"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1" lang="en-US" altLang="zh-CN" sz="2400" b="0" i="1" smtClean="0">
                          <a:latin typeface="Cambria Math" panose="02040503050406030204" pitchFamily="18" charset="0"/>
                          <a:ea typeface="Cambria Math" panose="02040503050406030204" pitchFamily="18" charset="0"/>
                        </a:rPr>
                        <m:t>𝑖</m:t>
                      </m:r>
                      <m:r>
                        <a:rPr kumimoji="1" lang="en-US" altLang="zh-CN" sz="2400" b="0" i="1" smtClean="0">
                          <a:latin typeface="Cambria Math" panose="02040503050406030204" pitchFamily="18" charset="0"/>
                          <a:ea typeface="Cambria Math" panose="02040503050406030204" pitchFamily="18" charset="0"/>
                        </a:rPr>
                        <m:t>=1,2,…,</m:t>
                      </m:r>
                      <m:r>
                        <a:rPr kumimoji="1" lang="en-US" altLang="zh-CN" sz="2400" b="0" i="1" smtClean="0">
                          <a:latin typeface="Cambria Math" panose="02040503050406030204" pitchFamily="18" charset="0"/>
                          <a:ea typeface="Cambria Math" panose="02040503050406030204" pitchFamily="18" charset="0"/>
                        </a:rPr>
                        <m:t>𝑁</m:t>
                      </m:r>
                    </m:oMath>
                  </m:oMathPara>
                </a14:m>
                <a:endParaRPr lang="zh-CN" altLang="en-US" sz="2400" dirty="0"/>
              </a:p>
            </p:txBody>
          </p:sp>
        </mc:Choice>
        <mc:Fallback xmlns="">
          <p:sp>
            <p:nvSpPr>
              <p:cNvPr id="19" name="文本框 18">
                <a:extLst>
                  <a:ext uri="{FF2B5EF4-FFF2-40B4-BE49-F238E27FC236}">
                    <a16:creationId xmlns:a16="http://schemas.microsoft.com/office/drawing/2014/main" id="{31D47E04-59B8-D773-D7A9-448EEC1A61C0}"/>
                  </a:ext>
                </a:extLst>
              </p:cNvPr>
              <p:cNvSpPr txBox="1">
                <a:spLocks noRot="1" noChangeAspect="1" noMove="1" noResize="1" noEditPoints="1" noAdjustHandles="1" noChangeArrowheads="1" noChangeShapeType="1" noTextEdit="1"/>
              </p:cNvSpPr>
              <p:nvPr/>
            </p:nvSpPr>
            <p:spPr>
              <a:xfrm>
                <a:off x="2311325" y="6050159"/>
                <a:ext cx="3580197" cy="461665"/>
              </a:xfrm>
              <a:prstGeom prst="rect">
                <a:avLst/>
              </a:prstGeom>
              <a:blipFill>
                <a:blip r:embed="rId9"/>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9253314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8" name="内容占位符 2"/>
          <p:cNvSpPr>
            <a:spLocks noGrp="1"/>
          </p:cNvSpPr>
          <p:nvPr>
            <p:ph idx="1"/>
          </p:nvPr>
        </p:nvSpPr>
        <p:spPr>
          <a:xfrm>
            <a:off x="685800" y="774700"/>
            <a:ext cx="7772400" cy="5321300"/>
          </a:xfrm>
        </p:spPr>
        <p:txBody>
          <a:bodyPr>
            <a:normAutofit/>
          </a:bodyPr>
          <a:lstStyle/>
          <a:p>
            <a:r>
              <a:rPr lang="zh-CN" altLang="en-US" sz="3200" b="1" dirty="0"/>
              <a:t>对偶问题的求解：</a:t>
            </a:r>
            <a:endParaRPr lang="en-US" altLang="zh-CN" sz="3200" b="1" dirty="0"/>
          </a:p>
          <a:p>
            <a:endParaRPr lang="en-US" altLang="zh-CN" sz="3200" b="1" dirty="0"/>
          </a:p>
          <a:p>
            <a:endParaRPr lang="en-US" altLang="zh-CN" sz="3200" b="1" dirty="0"/>
          </a:p>
          <a:p>
            <a:r>
              <a:rPr lang="zh-CN" altLang="en-US" sz="3200" b="1" dirty="0"/>
              <a:t>对</a:t>
            </a:r>
            <a:r>
              <a:rPr lang="en-US" altLang="zh-CN" sz="3200" b="1" i="1" dirty="0" err="1"/>
              <a:t>w,b</a:t>
            </a:r>
            <a:r>
              <a:rPr lang="zh-CN" altLang="en-US" sz="3200" b="1" dirty="0"/>
              <a:t>求偏导令其为</a:t>
            </a:r>
            <a:r>
              <a:rPr lang="en-US" altLang="zh-CN" sz="3200" b="1" dirty="0"/>
              <a:t>0</a:t>
            </a:r>
            <a:r>
              <a:rPr lang="zh-CN" altLang="en-US" sz="3200" b="1" dirty="0"/>
              <a:t>求解并代入，得到对偶问题：</a:t>
            </a:r>
          </a:p>
        </p:txBody>
      </p:sp>
      <p:sp>
        <p:nvSpPr>
          <p:cNvPr id="21509" name="灯片编号占位符 3"/>
          <p:cNvSpPr>
            <a:spLocks noGrp="1"/>
          </p:cNvSpPr>
          <p:nvPr>
            <p:ph type="sldNum" sz="quarter" idx="12"/>
          </p:nvPr>
        </p:nvSpPr>
        <p:spPr>
          <a:noFill/>
        </p:spPr>
        <p:txBody>
          <a:bodyPr/>
          <a:lstStyle/>
          <a:p>
            <a:fld id="{73D20A1B-F092-448E-A5FF-2FF8D7AFF2A1}" type="slidenum">
              <a:rPr lang="en-US" altLang="zh-CN" smtClean="0">
                <a:ea typeface="黑体" pitchFamily="49" charset="-122"/>
              </a:rPr>
              <a:pPr/>
              <a:t>27</a:t>
            </a:fld>
            <a:endParaRPr lang="en-US" altLang="zh-CN">
              <a:ea typeface="黑体" pitchFamily="49" charset="-122"/>
            </a:endParaRPr>
          </a:p>
        </p:txBody>
      </p:sp>
      <mc:AlternateContent xmlns:mc="http://schemas.openxmlformats.org/markup-compatibility/2006" xmlns:a14="http://schemas.microsoft.com/office/drawing/2010/main">
        <mc:Choice Requires="a14">
          <p:sp>
            <p:nvSpPr>
              <p:cNvPr id="21507" name="Object 2" descr="羊皮纸"/>
              <p:cNvSpPr txBox="1"/>
              <p:nvPr/>
            </p:nvSpPr>
            <p:spPr bwMode="auto">
              <a:xfrm>
                <a:off x="1146175" y="3933825"/>
                <a:ext cx="5997575" cy="2276475"/>
              </a:xfrm>
              <a:prstGeom prst="rect">
                <a:avLst/>
              </a:prstGeom>
              <a:noFill/>
            </p:spPr>
            <p:txBody>
              <a:bodyPr>
                <a:normAutofit fontScale="92500"/>
              </a:bodyPr>
              <a:lstStyle/>
              <a:p>
                <a:pPr/>
                <a14:m>
                  <m:oMathPara xmlns:m="http://schemas.openxmlformats.org/officeDocument/2006/math">
                    <m:oMathParaPr>
                      <m:jc m:val="left"/>
                    </m:oMathParaPr>
                    <m:oMath xmlns:m="http://schemas.openxmlformats.org/officeDocument/2006/math">
                      <m:limLow>
                        <m:limLowPr>
                          <m:ctrlPr>
                            <a:rPr lang="zh-CN" altLang="en-US" sz="2400" i="1" smtClean="0">
                              <a:solidFill>
                                <a:srgbClr val="000000"/>
                              </a:solidFill>
                              <a:latin typeface="Cambria Math" panose="02040503050406030204" pitchFamily="18" charset="0"/>
                            </a:rPr>
                          </m:ctrlPr>
                        </m:limLowPr>
                        <m:e>
                          <m:r>
                            <m:rPr>
                              <m:sty m:val="p"/>
                            </m:rPr>
                            <a:rPr lang="zh-CN" altLang="en-US" sz="2400" i="0">
                              <a:solidFill>
                                <a:srgbClr val="000000"/>
                              </a:solidFill>
                              <a:latin typeface="Cambria Math" panose="02040503050406030204" pitchFamily="18" charset="0"/>
                            </a:rPr>
                            <m:t>max</m:t>
                          </m:r>
                        </m:e>
                        <m:lim>
                          <m:r>
                            <a:rPr lang="zh-CN" altLang="en-US" sz="2400" i="1">
                              <a:solidFill>
                                <a:srgbClr val="000000"/>
                              </a:solidFill>
                              <a:latin typeface="Cambria Math" panose="02040503050406030204" pitchFamily="18" charset="0"/>
                            </a:rPr>
                            <m:t>𝛼</m:t>
                          </m:r>
                        </m:lim>
                      </m:limLow>
                      <m:d>
                        <m:dPr>
                          <m:ctrlPr>
                            <a:rPr lang="en-US" altLang="zh-CN" sz="2400" i="1" smtClean="0">
                              <a:solidFill>
                                <a:srgbClr val="000000"/>
                              </a:solidFill>
                              <a:latin typeface="Cambria Math" panose="02040503050406030204" pitchFamily="18" charset="0"/>
                            </a:rPr>
                          </m:ctrlPr>
                        </m:dPr>
                        <m:e>
                          <m:r>
                            <a:rPr lang="zh-CN" altLang="en-US" sz="2400" i="1">
                              <a:solidFill>
                                <a:srgbClr val="000000"/>
                              </a:solidFill>
                              <a:latin typeface="Cambria Math" panose="02040503050406030204" pitchFamily="18" charset="0"/>
                            </a:rPr>
                            <m:t>−</m:t>
                          </m:r>
                          <m:f>
                            <m:fPr>
                              <m:ctrlPr>
                                <a:rPr lang="zh-CN" altLang="en-US" sz="2400" i="1">
                                  <a:solidFill>
                                    <a:srgbClr val="000000"/>
                                  </a:solidFill>
                                  <a:latin typeface="Cambria Math" panose="02040503050406030204" pitchFamily="18" charset="0"/>
                                </a:rPr>
                              </m:ctrlPr>
                            </m:fPr>
                            <m:num>
                              <m:r>
                                <a:rPr lang="zh-CN" altLang="en-US" sz="2400" i="1">
                                  <a:solidFill>
                                    <a:srgbClr val="000000"/>
                                  </a:solidFill>
                                  <a:latin typeface="Cambria Math" panose="02040503050406030204" pitchFamily="18" charset="0"/>
                                </a:rPr>
                                <m:t>1</m:t>
                              </m:r>
                            </m:num>
                            <m:den>
                              <m:r>
                                <a:rPr lang="zh-CN" altLang="en-US" sz="2400" i="1">
                                  <a:solidFill>
                                    <a:srgbClr val="000000"/>
                                  </a:solidFill>
                                  <a:latin typeface="Cambria Math" panose="02040503050406030204" pitchFamily="18" charset="0"/>
                                </a:rPr>
                                <m:t>2</m:t>
                              </m:r>
                            </m:den>
                          </m:f>
                          <m:nary>
                            <m:naryPr>
                              <m:chr m:val="∑"/>
                              <m:ctrlPr>
                                <a:rPr lang="zh-CN" altLang="en-US" sz="2400" i="1">
                                  <a:solidFill>
                                    <a:srgbClr val="000000"/>
                                  </a:solidFill>
                                  <a:latin typeface="Cambria Math" panose="02040503050406030204" pitchFamily="18" charset="0"/>
                                </a:rPr>
                              </m:ctrlPr>
                            </m:naryPr>
                            <m:sub>
                              <m:r>
                                <a:rPr lang="zh-CN" altLang="en-US" sz="2400" i="1">
                                  <a:solidFill>
                                    <a:srgbClr val="000000"/>
                                  </a:solidFill>
                                  <a:latin typeface="Cambria Math" panose="02040503050406030204" pitchFamily="18" charset="0"/>
                                </a:rPr>
                                <m:t>𝑖</m:t>
                              </m:r>
                              <m:r>
                                <a:rPr lang="zh-CN" altLang="en-US" sz="2400" i="1">
                                  <a:solidFill>
                                    <a:srgbClr val="000000"/>
                                  </a:solidFill>
                                  <a:latin typeface="Cambria Math" panose="02040503050406030204" pitchFamily="18" charset="0"/>
                                </a:rPr>
                                <m:t>=1</m:t>
                              </m:r>
                            </m:sub>
                            <m:sup>
                              <m:r>
                                <a:rPr lang="zh-CN" altLang="en-US" sz="2400" i="1">
                                  <a:solidFill>
                                    <a:srgbClr val="000000"/>
                                  </a:solidFill>
                                  <a:latin typeface="Cambria Math" panose="02040503050406030204" pitchFamily="18" charset="0"/>
                                </a:rPr>
                                <m:t>𝑁</m:t>
                              </m:r>
                            </m:sup>
                            <m:e>
                              <m:nary>
                                <m:naryPr>
                                  <m:chr m:val="∑"/>
                                  <m:ctrlPr>
                                    <a:rPr lang="zh-CN" altLang="en-US" sz="2400" i="1">
                                      <a:solidFill>
                                        <a:srgbClr val="000000"/>
                                      </a:solidFill>
                                      <a:latin typeface="Cambria Math" panose="02040503050406030204" pitchFamily="18" charset="0"/>
                                    </a:rPr>
                                  </m:ctrlPr>
                                </m:naryPr>
                                <m:sub>
                                  <m:r>
                                    <a:rPr lang="zh-CN" altLang="en-US" sz="2400" i="1">
                                      <a:solidFill>
                                        <a:srgbClr val="000000"/>
                                      </a:solidFill>
                                      <a:latin typeface="Cambria Math" panose="02040503050406030204" pitchFamily="18" charset="0"/>
                                    </a:rPr>
                                    <m:t>𝑗</m:t>
                                  </m:r>
                                  <m:r>
                                    <a:rPr lang="zh-CN" altLang="en-US" sz="2400" i="1">
                                      <a:solidFill>
                                        <a:srgbClr val="000000"/>
                                      </a:solidFill>
                                      <a:latin typeface="Cambria Math" panose="02040503050406030204" pitchFamily="18" charset="0"/>
                                    </a:rPr>
                                    <m:t>=1</m:t>
                                  </m:r>
                                </m:sub>
                                <m:sup>
                                  <m:r>
                                    <a:rPr lang="zh-CN" altLang="en-US" sz="2400" i="1">
                                      <a:solidFill>
                                        <a:srgbClr val="000000"/>
                                      </a:solidFill>
                                      <a:latin typeface="Cambria Math" panose="02040503050406030204" pitchFamily="18" charset="0"/>
                                    </a:rPr>
                                    <m:t>𝑁</m:t>
                                  </m:r>
                                </m:sup>
                                <m:e>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𝛼</m:t>
                                      </m:r>
                                    </m:e>
                                    <m:sub>
                                      <m:r>
                                        <a:rPr lang="zh-CN" altLang="en-US" sz="2400" i="1">
                                          <a:solidFill>
                                            <a:srgbClr val="000000"/>
                                          </a:solidFill>
                                          <a:latin typeface="Cambria Math" panose="02040503050406030204" pitchFamily="18" charset="0"/>
                                        </a:rPr>
                                        <m:t>𝑖</m:t>
                                      </m:r>
                                    </m:sub>
                                  </m:sSub>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𝛼</m:t>
                                      </m:r>
                                    </m:e>
                                    <m:sub>
                                      <m:r>
                                        <a:rPr lang="zh-CN" altLang="en-US" sz="2400" i="1">
                                          <a:solidFill>
                                            <a:srgbClr val="000000"/>
                                          </a:solidFill>
                                          <a:latin typeface="Cambria Math" panose="02040503050406030204" pitchFamily="18" charset="0"/>
                                        </a:rPr>
                                        <m:t>𝑗</m:t>
                                      </m:r>
                                    </m:sub>
                                  </m:sSub>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𝑦</m:t>
                                      </m:r>
                                    </m:e>
                                    <m:sub>
                                      <m:r>
                                        <a:rPr lang="zh-CN" altLang="en-US" sz="2400" i="1">
                                          <a:solidFill>
                                            <a:srgbClr val="000000"/>
                                          </a:solidFill>
                                          <a:latin typeface="Cambria Math" panose="02040503050406030204" pitchFamily="18" charset="0"/>
                                        </a:rPr>
                                        <m:t>𝑖</m:t>
                                      </m:r>
                                    </m:sub>
                                  </m:sSub>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𝑦</m:t>
                                      </m:r>
                                    </m:e>
                                    <m:sub>
                                      <m:r>
                                        <a:rPr lang="zh-CN" altLang="en-US" sz="2400" i="1">
                                          <a:solidFill>
                                            <a:srgbClr val="000000"/>
                                          </a:solidFill>
                                          <a:latin typeface="Cambria Math" panose="02040503050406030204" pitchFamily="18" charset="0"/>
                                        </a:rPr>
                                        <m:t>𝑗</m:t>
                                      </m:r>
                                    </m:sub>
                                  </m:sSub>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𝑥</m:t>
                                      </m:r>
                                    </m:e>
                                    <m:sub>
                                      <m:r>
                                        <a:rPr lang="zh-CN" altLang="en-US" sz="2400" i="1">
                                          <a:solidFill>
                                            <a:srgbClr val="000000"/>
                                          </a:solidFill>
                                          <a:latin typeface="Cambria Math" panose="02040503050406030204" pitchFamily="18" charset="0"/>
                                        </a:rPr>
                                        <m:t>𝑖</m:t>
                                      </m:r>
                                    </m:sub>
                                  </m:sSub>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𝑥</m:t>
                                      </m:r>
                                    </m:e>
                                    <m:sub>
                                      <m:r>
                                        <a:rPr lang="zh-CN" altLang="en-US" sz="2400" i="1">
                                          <a:solidFill>
                                            <a:srgbClr val="000000"/>
                                          </a:solidFill>
                                          <a:latin typeface="Cambria Math" panose="02040503050406030204" pitchFamily="18" charset="0"/>
                                        </a:rPr>
                                        <m:t>𝑗</m:t>
                                      </m:r>
                                    </m:sub>
                                  </m:sSub>
                                  <m:r>
                                    <a:rPr lang="zh-CN" altLang="en-US" sz="2400" i="1">
                                      <a:solidFill>
                                        <a:srgbClr val="000000"/>
                                      </a:solidFill>
                                      <a:latin typeface="Cambria Math" panose="02040503050406030204" pitchFamily="18" charset="0"/>
                                    </a:rPr>
                                    <m:t>)+</m:t>
                                  </m:r>
                                  <m:nary>
                                    <m:naryPr>
                                      <m:chr m:val="∑"/>
                                      <m:ctrlPr>
                                        <a:rPr lang="zh-CN" altLang="en-US" sz="2400" i="1">
                                          <a:solidFill>
                                            <a:srgbClr val="000000"/>
                                          </a:solidFill>
                                          <a:latin typeface="Cambria Math" panose="02040503050406030204" pitchFamily="18" charset="0"/>
                                        </a:rPr>
                                      </m:ctrlPr>
                                    </m:naryPr>
                                    <m:sub>
                                      <m:r>
                                        <a:rPr lang="zh-CN" altLang="en-US" sz="2400" i="1">
                                          <a:solidFill>
                                            <a:srgbClr val="000000"/>
                                          </a:solidFill>
                                          <a:latin typeface="Cambria Math" panose="02040503050406030204" pitchFamily="18" charset="0"/>
                                        </a:rPr>
                                        <m:t>𝑖</m:t>
                                      </m:r>
                                      <m:r>
                                        <a:rPr lang="zh-CN" altLang="en-US" sz="2400" i="1">
                                          <a:solidFill>
                                            <a:srgbClr val="000000"/>
                                          </a:solidFill>
                                          <a:latin typeface="Cambria Math" panose="02040503050406030204" pitchFamily="18" charset="0"/>
                                        </a:rPr>
                                        <m:t>=1</m:t>
                                      </m:r>
                                    </m:sub>
                                    <m:sup>
                                      <m:r>
                                        <a:rPr lang="zh-CN" altLang="en-US" sz="2400" i="1">
                                          <a:solidFill>
                                            <a:srgbClr val="000000"/>
                                          </a:solidFill>
                                          <a:latin typeface="Cambria Math" panose="02040503050406030204" pitchFamily="18" charset="0"/>
                                        </a:rPr>
                                        <m:t>𝑁</m:t>
                                      </m:r>
                                    </m:sup>
                                    <m:e>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𝛼</m:t>
                                          </m:r>
                                        </m:e>
                                        <m:sub>
                                          <m:r>
                                            <a:rPr lang="zh-CN" altLang="en-US" sz="2400" i="1">
                                              <a:solidFill>
                                                <a:srgbClr val="000000"/>
                                              </a:solidFill>
                                              <a:latin typeface="Cambria Math" panose="02040503050406030204" pitchFamily="18" charset="0"/>
                                            </a:rPr>
                                            <m:t>𝑖</m:t>
                                          </m:r>
                                        </m:sub>
                                      </m:sSub>
                                    </m:e>
                                  </m:nary>
                                </m:e>
                              </m:nary>
                            </m:e>
                          </m:nary>
                        </m:e>
                      </m:d>
                    </m:oMath>
                    <m:oMath xmlns:m="http://schemas.openxmlformats.org/officeDocument/2006/math">
                      <m:r>
                        <a:rPr lang="zh-CN" altLang="en-US" sz="2400" i="1">
                          <a:solidFill>
                            <a:srgbClr val="000000"/>
                          </a:solidFill>
                          <a:latin typeface="Cambria Math" panose="02040503050406030204" pitchFamily="18" charset="0"/>
                        </a:rPr>
                        <m:t>𝑠</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𝑡</m:t>
                      </m:r>
                      <m:r>
                        <a:rPr lang="zh-CN" altLang="en-US" sz="2400" i="1">
                          <a:solidFill>
                            <a:srgbClr val="000000"/>
                          </a:solidFill>
                          <a:latin typeface="Cambria Math" panose="02040503050406030204" pitchFamily="18" charset="0"/>
                        </a:rPr>
                        <m:t>.  </m:t>
                      </m:r>
                      <m:nary>
                        <m:naryPr>
                          <m:chr m:val="∑"/>
                          <m:ctrlPr>
                            <a:rPr lang="zh-CN" altLang="en-US" sz="2400" i="1">
                              <a:solidFill>
                                <a:srgbClr val="000000"/>
                              </a:solidFill>
                              <a:latin typeface="Cambria Math" panose="02040503050406030204" pitchFamily="18" charset="0"/>
                            </a:rPr>
                          </m:ctrlPr>
                        </m:naryPr>
                        <m:sub>
                          <m:r>
                            <a:rPr lang="zh-CN" altLang="en-US" sz="2400" i="1">
                              <a:solidFill>
                                <a:srgbClr val="000000"/>
                              </a:solidFill>
                              <a:latin typeface="Cambria Math" panose="02040503050406030204" pitchFamily="18" charset="0"/>
                            </a:rPr>
                            <m:t>𝑖</m:t>
                          </m:r>
                          <m:r>
                            <a:rPr lang="zh-CN" altLang="en-US" sz="2400" i="1">
                              <a:solidFill>
                                <a:srgbClr val="000000"/>
                              </a:solidFill>
                              <a:latin typeface="Cambria Math" panose="02040503050406030204" pitchFamily="18" charset="0"/>
                            </a:rPr>
                            <m:t>=1</m:t>
                          </m:r>
                        </m:sub>
                        <m:sup>
                          <m:r>
                            <a:rPr lang="zh-CN" altLang="en-US" sz="2400" i="1">
                              <a:solidFill>
                                <a:srgbClr val="000000"/>
                              </a:solidFill>
                              <a:latin typeface="Cambria Math" panose="02040503050406030204" pitchFamily="18" charset="0"/>
                            </a:rPr>
                            <m:t>𝑁</m:t>
                          </m:r>
                        </m:sup>
                        <m:e>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𝛼</m:t>
                              </m:r>
                            </m:e>
                            <m:sub>
                              <m:r>
                                <a:rPr lang="zh-CN" altLang="en-US" sz="2400" i="1">
                                  <a:solidFill>
                                    <a:srgbClr val="000000"/>
                                  </a:solidFill>
                                  <a:latin typeface="Cambria Math" panose="02040503050406030204" pitchFamily="18" charset="0"/>
                                </a:rPr>
                                <m:t>𝑖</m:t>
                              </m:r>
                            </m:sub>
                          </m:sSub>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𝑦</m:t>
                              </m:r>
                            </m:e>
                            <m:sub>
                              <m:r>
                                <a:rPr lang="zh-CN" altLang="en-US" sz="2400" i="1">
                                  <a:solidFill>
                                    <a:srgbClr val="000000"/>
                                  </a:solidFill>
                                  <a:latin typeface="Cambria Math" panose="02040503050406030204" pitchFamily="18" charset="0"/>
                                </a:rPr>
                                <m:t>𝑖</m:t>
                              </m:r>
                            </m:sub>
                          </m:sSub>
                        </m:e>
                      </m:nary>
                      <m:r>
                        <a:rPr lang="zh-CN" altLang="en-US" sz="2400" i="1">
                          <a:solidFill>
                            <a:srgbClr val="000000"/>
                          </a:solidFill>
                          <a:latin typeface="Cambria Math" panose="02040503050406030204" pitchFamily="18" charset="0"/>
                        </a:rPr>
                        <m:t>=0,  </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𝛼</m:t>
                          </m:r>
                        </m:e>
                        <m:sub>
                          <m:r>
                            <a:rPr lang="zh-CN" altLang="en-US" sz="2400" i="1">
                              <a:solidFill>
                                <a:srgbClr val="000000"/>
                              </a:solidFill>
                              <a:latin typeface="Cambria Math" panose="02040503050406030204" pitchFamily="18" charset="0"/>
                            </a:rPr>
                            <m:t>𝑖</m:t>
                          </m:r>
                        </m:sub>
                      </m:sSub>
                      <m:r>
                        <a:rPr lang="zh-CN" altLang="en-US" sz="2400" i="1">
                          <a:solidFill>
                            <a:srgbClr val="000000"/>
                          </a:solidFill>
                          <a:latin typeface="Cambria Math" panose="02040503050406030204" pitchFamily="18" charset="0"/>
                        </a:rPr>
                        <m:t>≥0, </m:t>
                      </m:r>
                      <m:r>
                        <a:rPr lang="zh-CN" altLang="en-US" sz="2400" i="1">
                          <a:solidFill>
                            <a:srgbClr val="000000"/>
                          </a:solidFill>
                          <a:latin typeface="Cambria Math" panose="02040503050406030204" pitchFamily="18" charset="0"/>
                        </a:rPr>
                        <m:t>𝑖</m:t>
                      </m:r>
                      <m:r>
                        <a:rPr lang="zh-CN" altLang="en-US" sz="2400" i="1">
                          <a:solidFill>
                            <a:srgbClr val="000000"/>
                          </a:solidFill>
                          <a:latin typeface="Cambria Math" panose="02040503050406030204" pitchFamily="18" charset="0"/>
                        </a:rPr>
                        <m:t>=1,2,...,</m:t>
                      </m:r>
                      <m:r>
                        <a:rPr lang="zh-CN" altLang="en-US" sz="2400" i="1">
                          <a:solidFill>
                            <a:srgbClr val="000000"/>
                          </a:solidFill>
                          <a:latin typeface="Cambria Math" panose="02040503050406030204" pitchFamily="18" charset="0"/>
                        </a:rPr>
                        <m:t>𝑁</m:t>
                      </m:r>
                    </m:oMath>
                  </m:oMathPara>
                </a14:m>
                <a:endParaRPr lang="zh-CN" altLang="en-US" sz="2400" dirty="0"/>
              </a:p>
            </p:txBody>
          </p:sp>
        </mc:Choice>
        <mc:Fallback xmlns="">
          <p:sp>
            <p:nvSpPr>
              <p:cNvPr id="21507" name="Object 2" descr="羊皮纸"/>
              <p:cNvSpPr txBox="1">
                <a:spLocks noRot="1" noChangeAspect="1" noMove="1" noResize="1" noEditPoints="1" noAdjustHandles="1" noChangeArrowheads="1" noChangeShapeType="1" noTextEdit="1"/>
              </p:cNvSpPr>
              <p:nvPr/>
            </p:nvSpPr>
            <p:spPr bwMode="auto">
              <a:xfrm>
                <a:off x="1146175" y="3933825"/>
                <a:ext cx="5997575" cy="2276475"/>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0ADBDB24-136E-FDEB-9EA7-C94327F4B2AF}"/>
                  </a:ext>
                </a:extLst>
              </p:cNvPr>
              <p:cNvSpPr txBox="1"/>
              <p:nvPr/>
            </p:nvSpPr>
            <p:spPr>
              <a:xfrm>
                <a:off x="1514015" y="1315773"/>
                <a:ext cx="6115969" cy="103848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kumimoji="1" lang="en-US" altLang="zh-CN" sz="2400" i="1" smtClean="0">
                              <a:latin typeface="Cambria Math" panose="02040503050406030204" pitchFamily="18" charset="0"/>
                            </a:rPr>
                          </m:ctrlPr>
                        </m:funcPr>
                        <m:fName>
                          <m:limLow>
                            <m:limLowPr>
                              <m:ctrlPr>
                                <a:rPr kumimoji="1" lang="en-US" altLang="zh-CN" sz="2400" i="1">
                                  <a:latin typeface="Cambria Math" panose="02040503050406030204" pitchFamily="18" charset="0"/>
                                </a:rPr>
                              </m:ctrlPr>
                            </m:limLowPr>
                            <m:e>
                              <m:r>
                                <m:rPr>
                                  <m:sty m:val="p"/>
                                </m:rPr>
                                <a:rPr kumimoji="1" lang="en-US" altLang="zh-CN" sz="2400">
                                  <a:latin typeface="Cambria Math" panose="02040503050406030204" pitchFamily="18" charset="0"/>
                                </a:rPr>
                                <m:t>max</m:t>
                              </m:r>
                            </m:e>
                            <m:lim>
                              <m:r>
                                <a:rPr kumimoji="1" lang="en-US" altLang="zh-CN" sz="2400" i="1">
                                  <a:latin typeface="Cambria Math" panose="02040503050406030204" pitchFamily="18" charset="0"/>
                                  <a:ea typeface="Cambria Math" panose="02040503050406030204" pitchFamily="18" charset="0"/>
                                </a:rPr>
                                <m:t>𝛼</m:t>
                              </m:r>
                            </m:lim>
                          </m:limLow>
                          <m:r>
                            <a:rPr kumimoji="1" lang="zh-CN" altLang="en-US" sz="2400" b="0" i="1" smtClean="0">
                              <a:latin typeface="Cambria Math" panose="02040503050406030204" pitchFamily="18" charset="0"/>
                              <a:ea typeface="Cambria Math" panose="02040503050406030204" pitchFamily="18" charset="0"/>
                            </a:rPr>
                            <m:t> </m:t>
                          </m:r>
                          <m:limLow>
                            <m:limLowPr>
                              <m:ctrlPr>
                                <a:rPr kumimoji="1" lang="en-US" altLang="zh-CN" sz="2400" i="1">
                                  <a:latin typeface="Cambria Math" panose="02040503050406030204" pitchFamily="18" charset="0"/>
                                </a:rPr>
                              </m:ctrlPr>
                            </m:limLowPr>
                            <m:e>
                              <m:r>
                                <m:rPr>
                                  <m:sty m:val="p"/>
                                </m:rPr>
                                <a:rPr kumimoji="1" lang="en-US" altLang="zh-CN" sz="2400">
                                  <a:latin typeface="Cambria Math" panose="02040503050406030204" pitchFamily="18" charset="0"/>
                                </a:rPr>
                                <m:t>min</m:t>
                              </m:r>
                            </m:e>
                            <m:lim>
                              <m:r>
                                <a:rPr kumimoji="1" lang="en-US" altLang="zh-CN" sz="2400" i="1">
                                  <a:latin typeface="Cambria Math" panose="02040503050406030204" pitchFamily="18" charset="0"/>
                                </a:rPr>
                                <m:t>𝑤</m:t>
                              </m:r>
                              <m:r>
                                <a:rPr kumimoji="1" lang="en-US" altLang="zh-CN" sz="2400" i="1">
                                  <a:latin typeface="Cambria Math" panose="02040503050406030204" pitchFamily="18" charset="0"/>
                                </a:rPr>
                                <m:t>,</m:t>
                              </m:r>
                              <m:r>
                                <a:rPr kumimoji="1" lang="en-US" altLang="zh-CN" sz="2400" i="1">
                                  <a:latin typeface="Cambria Math" panose="02040503050406030204" pitchFamily="18" charset="0"/>
                                </a:rPr>
                                <m:t>𝑏</m:t>
                              </m:r>
                            </m:lim>
                          </m:limLow>
                        </m:fName>
                        <m:e>
                          <m:d>
                            <m:dPr>
                              <m:begChr m:val="["/>
                              <m:endChr m:val="]"/>
                              <m:ctrlPr>
                                <a:rPr kumimoji="1" lang="en-US" altLang="zh-CN" sz="2400" i="1">
                                  <a:latin typeface="Cambria Math" panose="02040503050406030204" pitchFamily="18" charset="0"/>
                                  <a:ea typeface="Cambria Math" panose="02040503050406030204" pitchFamily="18" charset="0"/>
                                </a:rPr>
                              </m:ctrlPr>
                            </m:dPr>
                            <m:e>
                              <m:f>
                                <m:fPr>
                                  <m:ctrlPr>
                                    <a:rPr kumimoji="1" lang="en-US" altLang="zh-CN" sz="2400" i="1">
                                      <a:latin typeface="Cambria Math" panose="02040503050406030204" pitchFamily="18" charset="0"/>
                                    </a:rPr>
                                  </m:ctrlPr>
                                </m:fPr>
                                <m:num>
                                  <m:r>
                                    <a:rPr kumimoji="1" lang="en-US" altLang="zh-CN" sz="2400" i="1">
                                      <a:latin typeface="Cambria Math" panose="02040503050406030204" pitchFamily="18" charset="0"/>
                                    </a:rPr>
                                    <m:t>1</m:t>
                                  </m:r>
                                </m:num>
                                <m:den>
                                  <m:r>
                                    <a:rPr kumimoji="1" lang="en-US" altLang="zh-CN" sz="2400" i="1">
                                      <a:latin typeface="Cambria Math" panose="02040503050406030204" pitchFamily="18" charset="0"/>
                                    </a:rPr>
                                    <m:t>2</m:t>
                                  </m:r>
                                </m:den>
                              </m:f>
                              <m:sSup>
                                <m:sSupPr>
                                  <m:ctrlPr>
                                    <a:rPr kumimoji="1" lang="en-US" altLang="zh-CN" sz="2400" i="1">
                                      <a:latin typeface="Cambria Math" panose="02040503050406030204" pitchFamily="18" charset="0"/>
                                    </a:rPr>
                                  </m:ctrlPr>
                                </m:sSupPr>
                                <m:e>
                                  <m:d>
                                    <m:dPr>
                                      <m:begChr m:val="‖"/>
                                      <m:endChr m:val="‖"/>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𝑤</m:t>
                                      </m:r>
                                    </m:e>
                                  </m:d>
                                </m:e>
                                <m:sup>
                                  <m:r>
                                    <a:rPr kumimoji="1" lang="en-US" altLang="zh-CN" sz="2400" i="1">
                                      <a:latin typeface="Cambria Math" panose="02040503050406030204" pitchFamily="18" charset="0"/>
                                    </a:rPr>
                                    <m:t>2</m:t>
                                  </m:r>
                                </m:sup>
                              </m:sSup>
                              <m:r>
                                <a:rPr kumimoji="1" lang="en-US" altLang="zh-CN" sz="2400" i="1">
                                  <a:latin typeface="Cambria Math" panose="02040503050406030204" pitchFamily="18" charset="0"/>
                                </a:rPr>
                                <m:t>+</m:t>
                              </m:r>
                              <m:nary>
                                <m:naryPr>
                                  <m:chr m:val="∑"/>
                                  <m:ctrlPr>
                                    <a:rPr kumimoji="1" lang="en-US" altLang="zh-CN" sz="2400" i="1">
                                      <a:latin typeface="Cambria Math" panose="02040503050406030204" pitchFamily="18" charset="0"/>
                                    </a:rPr>
                                  </m:ctrlPr>
                                </m:naryPr>
                                <m:sub>
                                  <m:r>
                                    <m:rPr>
                                      <m:brk m:alnAt="23"/>
                                    </m:rPr>
                                    <a:rPr kumimoji="1" lang="en-US" altLang="zh-CN" sz="2400" i="1">
                                      <a:latin typeface="Cambria Math" panose="02040503050406030204" pitchFamily="18" charset="0"/>
                                    </a:rPr>
                                    <m:t>𝑖</m:t>
                                  </m:r>
                                </m:sub>
                                <m:sup>
                                  <m:r>
                                    <a:rPr kumimoji="1" lang="en-US" altLang="zh-CN" sz="2400" i="1">
                                      <a:latin typeface="Cambria Math" panose="02040503050406030204" pitchFamily="18" charset="0"/>
                                    </a:rPr>
                                    <m:t>𝑁</m:t>
                                  </m:r>
                                </m:sup>
                                <m:e>
                                  <m:sSub>
                                    <m:sSubPr>
                                      <m:ctrlPr>
                                        <a:rPr kumimoji="1" lang="en-US" altLang="zh-CN" sz="2400" i="1">
                                          <a:latin typeface="Cambria Math" panose="02040503050406030204" pitchFamily="18" charset="0"/>
                                        </a:rPr>
                                      </m:ctrlPr>
                                    </m:sSubPr>
                                    <m:e>
                                      <m:r>
                                        <a:rPr kumimoji="1" lang="en-US" altLang="zh-CN" sz="2400" i="1">
                                          <a:latin typeface="Cambria Math" panose="02040503050406030204" pitchFamily="18" charset="0"/>
                                          <a:ea typeface="Cambria Math" panose="02040503050406030204" pitchFamily="18" charset="0"/>
                                        </a:rPr>
                                        <m:t>𝛼</m:t>
                                      </m:r>
                                    </m:e>
                                    <m:sub>
                                      <m:r>
                                        <a:rPr kumimoji="1" lang="en-US" altLang="zh-CN" sz="2400" i="1">
                                          <a:latin typeface="Cambria Math" panose="02040503050406030204" pitchFamily="18" charset="0"/>
                                        </a:rPr>
                                        <m:t>𝑖</m:t>
                                      </m:r>
                                    </m:sub>
                                  </m:sSub>
                                  <m:d>
                                    <m:dPr>
                                      <m:begChr m:val="["/>
                                      <m:endChr m:val="]"/>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1−</m:t>
                                      </m:r>
                                      <m:sSub>
                                        <m:sSubPr>
                                          <m:ctrlPr>
                                            <a:rPr kumimoji="1" lang="en-US" altLang="zh-CN" sz="2400" i="1">
                                              <a:latin typeface="Cambria Math" panose="02040503050406030204" pitchFamily="18" charset="0"/>
                                            </a:rPr>
                                          </m:ctrlPr>
                                        </m:sSubPr>
                                        <m:e>
                                          <m:r>
                                            <a:rPr kumimoji="1" lang="en-US" altLang="zh-CN" sz="2400" i="1">
                                              <a:latin typeface="Cambria Math" panose="02040503050406030204" pitchFamily="18" charset="0"/>
                                            </a:rPr>
                                            <m:t>𝑦</m:t>
                                          </m:r>
                                        </m:e>
                                        <m:sub>
                                          <m:r>
                                            <a:rPr kumimoji="1" lang="en-US" altLang="zh-CN" sz="2400" i="1">
                                              <a:latin typeface="Cambria Math" panose="02040503050406030204" pitchFamily="18" charset="0"/>
                                            </a:rPr>
                                            <m:t>𝑖</m:t>
                                          </m:r>
                                        </m:sub>
                                      </m:sSub>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𝑤</m:t>
                                          </m:r>
                                          <m:sSub>
                                            <m:sSubPr>
                                              <m:ctrlPr>
                                                <a:rPr kumimoji="1" lang="en-US" altLang="zh-CN" sz="2400" i="1">
                                                  <a:latin typeface="Cambria Math" panose="02040503050406030204" pitchFamily="18" charset="0"/>
                                                </a:rPr>
                                              </m:ctrlPr>
                                            </m:sSubPr>
                                            <m:e>
                                              <m:r>
                                                <a:rPr kumimoji="1" lang="en-US" altLang="zh-CN" sz="2400" i="1">
                                                  <a:latin typeface="Cambria Math" panose="02040503050406030204" pitchFamily="18" charset="0"/>
                                                  <a:ea typeface="Cambria Math" panose="02040503050406030204" pitchFamily="18" charset="0"/>
                                                </a:rPr>
                                                <m:t>∙</m:t>
                                              </m:r>
                                              <m:r>
                                                <a:rPr kumimoji="1" lang="en-US" altLang="zh-CN" sz="2400" i="1">
                                                  <a:latin typeface="Cambria Math" panose="02040503050406030204" pitchFamily="18" charset="0"/>
                                                  <a:ea typeface="Cambria Math" panose="02040503050406030204" pitchFamily="18" charset="0"/>
                                                </a:rPr>
                                                <m:t>𝑥</m:t>
                                              </m:r>
                                            </m:e>
                                            <m:sub>
                                              <m:r>
                                                <a:rPr kumimoji="1" lang="en-US" altLang="zh-CN" sz="2400" i="1">
                                                  <a:latin typeface="Cambria Math" panose="02040503050406030204" pitchFamily="18" charset="0"/>
                                                </a:rPr>
                                                <m:t>𝑖</m:t>
                                              </m:r>
                                            </m:sub>
                                          </m:sSub>
                                          <m:r>
                                            <a:rPr kumimoji="1" lang="en-US" altLang="zh-CN" sz="2400" i="1">
                                              <a:latin typeface="Cambria Math" panose="02040503050406030204" pitchFamily="18" charset="0"/>
                                            </a:rPr>
                                            <m:t>+</m:t>
                                          </m:r>
                                          <m:r>
                                            <a:rPr kumimoji="1" lang="en-US" altLang="zh-CN" sz="2400" i="1">
                                              <a:latin typeface="Cambria Math" panose="02040503050406030204" pitchFamily="18" charset="0"/>
                                            </a:rPr>
                                            <m:t>𝑏</m:t>
                                          </m:r>
                                        </m:e>
                                      </m:d>
                                    </m:e>
                                  </m:d>
                                </m:e>
                              </m:nary>
                            </m:e>
                          </m:d>
                          <m:r>
                            <m:rPr>
                              <m:nor/>
                            </m:rPr>
                            <a:rPr kumimoji="1" lang="zh-CN" altLang="en-US" sz="2400" dirty="0"/>
                            <m:t> </m:t>
                          </m:r>
                        </m:e>
                      </m:func>
                    </m:oMath>
                  </m:oMathPara>
                </a14:m>
                <a:endParaRPr kumimoji="1" lang="zh-CN" altLang="en-US" sz="2400" dirty="0"/>
              </a:p>
            </p:txBody>
          </p:sp>
        </mc:Choice>
        <mc:Fallback xmlns="">
          <p:sp>
            <p:nvSpPr>
              <p:cNvPr id="2" name="文本框 1">
                <a:extLst>
                  <a:ext uri="{FF2B5EF4-FFF2-40B4-BE49-F238E27FC236}">
                    <a16:creationId xmlns:a16="http://schemas.microsoft.com/office/drawing/2014/main" id="{0ADBDB24-136E-FDEB-9EA7-C94327F4B2AF}"/>
                  </a:ext>
                </a:extLst>
              </p:cNvPr>
              <p:cNvSpPr txBox="1">
                <a:spLocks noRot="1" noChangeAspect="1" noMove="1" noResize="1" noEditPoints="1" noAdjustHandles="1" noChangeArrowheads="1" noChangeShapeType="1" noTextEdit="1"/>
              </p:cNvSpPr>
              <p:nvPr/>
            </p:nvSpPr>
            <p:spPr>
              <a:xfrm>
                <a:off x="1514015" y="1315773"/>
                <a:ext cx="6115969" cy="1038489"/>
              </a:xfrm>
              <a:prstGeom prst="rect">
                <a:avLst/>
              </a:prstGeom>
              <a:blipFill>
                <a:blip r:embed="rId4"/>
                <a:stretch>
                  <a:fillRect l="-207" t="-114458" r="-1660" b="-174699"/>
                </a:stretch>
              </a:blipFill>
            </p:spPr>
            <p:txBody>
              <a:bodyPr/>
              <a:lstStyle/>
              <a:p>
                <a:r>
                  <a:rPr lang="zh-CN" altLang="en-US">
                    <a:noFill/>
                  </a:rPr>
                  <a:t> </a:t>
                </a:r>
              </a:p>
            </p:txBody>
          </p:sp>
        </mc:Fallback>
      </mc:AlternateContent>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内容占位符 2"/>
          <p:cNvSpPr>
            <a:spLocks noGrp="1"/>
          </p:cNvSpPr>
          <p:nvPr>
            <p:ph idx="1"/>
          </p:nvPr>
        </p:nvSpPr>
        <p:spPr>
          <a:xfrm>
            <a:off x="685800" y="1317625"/>
            <a:ext cx="7772400" cy="4778375"/>
          </a:xfrm>
        </p:spPr>
        <p:txBody>
          <a:bodyPr>
            <a:normAutofit/>
          </a:bodyPr>
          <a:lstStyle/>
          <a:p>
            <a:r>
              <a:rPr lang="zh-CN" altLang="en-US" sz="3200" b="1" dirty="0"/>
              <a:t>目标函数加个负号，由求极大转换成求极小，得到等价的对偶问题：</a:t>
            </a:r>
          </a:p>
        </p:txBody>
      </p:sp>
      <p:sp>
        <p:nvSpPr>
          <p:cNvPr id="22532" name="灯片编号占位符 3"/>
          <p:cNvSpPr>
            <a:spLocks noGrp="1"/>
          </p:cNvSpPr>
          <p:nvPr>
            <p:ph type="sldNum" sz="quarter" idx="12"/>
          </p:nvPr>
        </p:nvSpPr>
        <p:spPr>
          <a:noFill/>
        </p:spPr>
        <p:txBody>
          <a:bodyPr/>
          <a:lstStyle/>
          <a:p>
            <a:fld id="{0B21DF29-4F7F-4F14-A15B-B9941DCF56C3}" type="slidenum">
              <a:rPr lang="en-US" altLang="zh-CN" smtClean="0">
                <a:ea typeface="黑体" pitchFamily="49" charset="-122"/>
              </a:rPr>
              <a:pPr/>
              <a:t>28</a:t>
            </a:fld>
            <a:endParaRPr lang="en-US" altLang="zh-CN">
              <a:ea typeface="黑体" pitchFamily="49" charset="-122"/>
            </a:endParaRPr>
          </a:p>
        </p:txBody>
      </p:sp>
      <mc:AlternateContent xmlns:mc="http://schemas.openxmlformats.org/markup-compatibility/2006" xmlns:a14="http://schemas.microsoft.com/office/drawing/2010/main">
        <mc:Choice Requires="a14">
          <p:sp>
            <p:nvSpPr>
              <p:cNvPr id="22530" name="Object 2" descr="羊皮纸"/>
              <p:cNvSpPr txBox="1"/>
              <p:nvPr/>
            </p:nvSpPr>
            <p:spPr bwMode="auto">
              <a:xfrm>
                <a:off x="1423988" y="2760663"/>
                <a:ext cx="5738812" cy="2894012"/>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limLow>
                        <m:limLowPr>
                          <m:ctrlPr>
                            <a:rPr lang="zh-CN" altLang="en-US" sz="2400" i="1" smtClean="0">
                              <a:solidFill>
                                <a:srgbClr val="000000"/>
                              </a:solidFill>
                              <a:latin typeface="Cambria Math" panose="02040503050406030204" pitchFamily="18" charset="0"/>
                            </a:rPr>
                          </m:ctrlPr>
                        </m:limLowPr>
                        <m:e>
                          <m:r>
                            <m:rPr>
                              <m:sty m:val="p"/>
                            </m:rPr>
                            <a:rPr lang="zh-CN" altLang="en-US" sz="2400" i="0">
                              <a:solidFill>
                                <a:srgbClr val="000000"/>
                              </a:solidFill>
                              <a:latin typeface="Cambria Math" panose="02040503050406030204" pitchFamily="18" charset="0"/>
                            </a:rPr>
                            <m:t>min</m:t>
                          </m:r>
                        </m:e>
                        <m:lim>
                          <m:r>
                            <a:rPr lang="zh-CN" altLang="en-US" sz="2400" i="1">
                              <a:solidFill>
                                <a:srgbClr val="000000"/>
                              </a:solidFill>
                              <a:latin typeface="Cambria Math" panose="02040503050406030204" pitchFamily="18" charset="0"/>
                            </a:rPr>
                            <m:t>𝛼</m:t>
                          </m:r>
                        </m:lim>
                      </m:limLow>
                      <m:d>
                        <m:dPr>
                          <m:ctrlPr>
                            <a:rPr lang="en-US" altLang="zh-CN" sz="2400" i="1" smtClean="0">
                              <a:solidFill>
                                <a:srgbClr val="000000"/>
                              </a:solidFill>
                              <a:latin typeface="Cambria Math" panose="02040503050406030204" pitchFamily="18" charset="0"/>
                            </a:rPr>
                          </m:ctrlPr>
                        </m:dPr>
                        <m:e>
                          <m:f>
                            <m:fPr>
                              <m:ctrlPr>
                                <a:rPr lang="zh-CN" altLang="en-US" sz="2400" i="1">
                                  <a:solidFill>
                                    <a:srgbClr val="000000"/>
                                  </a:solidFill>
                                  <a:latin typeface="Cambria Math" panose="02040503050406030204" pitchFamily="18" charset="0"/>
                                </a:rPr>
                              </m:ctrlPr>
                            </m:fPr>
                            <m:num>
                              <m:r>
                                <a:rPr lang="zh-CN" altLang="en-US" sz="2400" i="1">
                                  <a:solidFill>
                                    <a:srgbClr val="000000"/>
                                  </a:solidFill>
                                  <a:latin typeface="Cambria Math" panose="02040503050406030204" pitchFamily="18" charset="0"/>
                                </a:rPr>
                                <m:t>1</m:t>
                              </m:r>
                            </m:num>
                            <m:den>
                              <m:r>
                                <a:rPr lang="zh-CN" altLang="en-US" sz="2400" i="1">
                                  <a:solidFill>
                                    <a:srgbClr val="000000"/>
                                  </a:solidFill>
                                  <a:latin typeface="Cambria Math" panose="02040503050406030204" pitchFamily="18" charset="0"/>
                                </a:rPr>
                                <m:t>2</m:t>
                              </m:r>
                            </m:den>
                          </m:f>
                          <m:nary>
                            <m:naryPr>
                              <m:chr m:val="∑"/>
                              <m:ctrlPr>
                                <a:rPr lang="zh-CN" altLang="en-US" sz="2400" i="1">
                                  <a:solidFill>
                                    <a:srgbClr val="000000"/>
                                  </a:solidFill>
                                  <a:latin typeface="Cambria Math" panose="02040503050406030204" pitchFamily="18" charset="0"/>
                                </a:rPr>
                              </m:ctrlPr>
                            </m:naryPr>
                            <m:sub>
                              <m:r>
                                <a:rPr lang="zh-CN" altLang="en-US" sz="2400" i="1">
                                  <a:solidFill>
                                    <a:srgbClr val="000000"/>
                                  </a:solidFill>
                                  <a:latin typeface="Cambria Math" panose="02040503050406030204" pitchFamily="18" charset="0"/>
                                </a:rPr>
                                <m:t>𝑖</m:t>
                              </m:r>
                              <m:r>
                                <a:rPr lang="zh-CN" altLang="en-US" sz="2400" i="1">
                                  <a:solidFill>
                                    <a:srgbClr val="000000"/>
                                  </a:solidFill>
                                  <a:latin typeface="Cambria Math" panose="02040503050406030204" pitchFamily="18" charset="0"/>
                                </a:rPr>
                                <m:t>=1</m:t>
                              </m:r>
                            </m:sub>
                            <m:sup>
                              <m:r>
                                <a:rPr lang="zh-CN" altLang="en-US" sz="2400" i="1">
                                  <a:solidFill>
                                    <a:srgbClr val="000000"/>
                                  </a:solidFill>
                                  <a:latin typeface="Cambria Math" panose="02040503050406030204" pitchFamily="18" charset="0"/>
                                </a:rPr>
                                <m:t>𝑁</m:t>
                              </m:r>
                            </m:sup>
                            <m:e>
                              <m:nary>
                                <m:naryPr>
                                  <m:chr m:val="∑"/>
                                  <m:ctrlPr>
                                    <a:rPr lang="zh-CN" altLang="en-US" sz="2400" i="1">
                                      <a:solidFill>
                                        <a:srgbClr val="000000"/>
                                      </a:solidFill>
                                      <a:latin typeface="Cambria Math" panose="02040503050406030204" pitchFamily="18" charset="0"/>
                                    </a:rPr>
                                  </m:ctrlPr>
                                </m:naryPr>
                                <m:sub>
                                  <m:r>
                                    <a:rPr lang="zh-CN" altLang="en-US" sz="2400" i="1">
                                      <a:solidFill>
                                        <a:srgbClr val="000000"/>
                                      </a:solidFill>
                                      <a:latin typeface="Cambria Math" panose="02040503050406030204" pitchFamily="18" charset="0"/>
                                    </a:rPr>
                                    <m:t>𝑗</m:t>
                                  </m:r>
                                  <m:r>
                                    <a:rPr lang="zh-CN" altLang="en-US" sz="2400" i="1">
                                      <a:solidFill>
                                        <a:srgbClr val="000000"/>
                                      </a:solidFill>
                                      <a:latin typeface="Cambria Math" panose="02040503050406030204" pitchFamily="18" charset="0"/>
                                    </a:rPr>
                                    <m:t>=1</m:t>
                                  </m:r>
                                </m:sub>
                                <m:sup>
                                  <m:r>
                                    <a:rPr lang="zh-CN" altLang="en-US" sz="2400" i="1">
                                      <a:solidFill>
                                        <a:srgbClr val="000000"/>
                                      </a:solidFill>
                                      <a:latin typeface="Cambria Math" panose="02040503050406030204" pitchFamily="18" charset="0"/>
                                    </a:rPr>
                                    <m:t>𝑁</m:t>
                                  </m:r>
                                </m:sup>
                                <m:e>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𝛼</m:t>
                                      </m:r>
                                    </m:e>
                                    <m:sub>
                                      <m:r>
                                        <a:rPr lang="zh-CN" altLang="en-US" sz="2400" i="1">
                                          <a:solidFill>
                                            <a:srgbClr val="000000"/>
                                          </a:solidFill>
                                          <a:latin typeface="Cambria Math" panose="02040503050406030204" pitchFamily="18" charset="0"/>
                                        </a:rPr>
                                        <m:t>𝑖</m:t>
                                      </m:r>
                                    </m:sub>
                                  </m:sSub>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𝛼</m:t>
                                      </m:r>
                                    </m:e>
                                    <m:sub>
                                      <m:r>
                                        <a:rPr lang="zh-CN" altLang="en-US" sz="2400" i="1">
                                          <a:solidFill>
                                            <a:srgbClr val="000000"/>
                                          </a:solidFill>
                                          <a:latin typeface="Cambria Math" panose="02040503050406030204" pitchFamily="18" charset="0"/>
                                        </a:rPr>
                                        <m:t>𝑗</m:t>
                                      </m:r>
                                    </m:sub>
                                  </m:sSub>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𝑦</m:t>
                                      </m:r>
                                    </m:e>
                                    <m:sub>
                                      <m:r>
                                        <a:rPr lang="zh-CN" altLang="en-US" sz="2400" i="1">
                                          <a:solidFill>
                                            <a:srgbClr val="000000"/>
                                          </a:solidFill>
                                          <a:latin typeface="Cambria Math" panose="02040503050406030204" pitchFamily="18" charset="0"/>
                                        </a:rPr>
                                        <m:t>𝑖</m:t>
                                      </m:r>
                                    </m:sub>
                                  </m:sSub>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𝑦</m:t>
                                      </m:r>
                                    </m:e>
                                    <m:sub>
                                      <m:r>
                                        <a:rPr lang="zh-CN" altLang="en-US" sz="2400" i="1">
                                          <a:solidFill>
                                            <a:srgbClr val="000000"/>
                                          </a:solidFill>
                                          <a:latin typeface="Cambria Math" panose="02040503050406030204" pitchFamily="18" charset="0"/>
                                        </a:rPr>
                                        <m:t>𝑗</m:t>
                                      </m:r>
                                    </m:sub>
                                  </m:sSub>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𝑥</m:t>
                                      </m:r>
                                    </m:e>
                                    <m:sub>
                                      <m:r>
                                        <a:rPr lang="zh-CN" altLang="en-US" sz="2400" i="1">
                                          <a:solidFill>
                                            <a:srgbClr val="000000"/>
                                          </a:solidFill>
                                          <a:latin typeface="Cambria Math" panose="02040503050406030204" pitchFamily="18" charset="0"/>
                                        </a:rPr>
                                        <m:t>𝑖</m:t>
                                      </m:r>
                                    </m:sub>
                                  </m:sSub>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𝑥</m:t>
                                      </m:r>
                                    </m:e>
                                    <m:sub>
                                      <m:r>
                                        <a:rPr lang="zh-CN" altLang="en-US" sz="2400" i="1">
                                          <a:solidFill>
                                            <a:srgbClr val="000000"/>
                                          </a:solidFill>
                                          <a:latin typeface="Cambria Math" panose="02040503050406030204" pitchFamily="18" charset="0"/>
                                        </a:rPr>
                                        <m:t>𝑗</m:t>
                                      </m:r>
                                    </m:sub>
                                  </m:sSub>
                                  <m:r>
                                    <a:rPr lang="zh-CN" altLang="en-US" sz="2400" i="1">
                                      <a:solidFill>
                                        <a:srgbClr val="000000"/>
                                      </a:solidFill>
                                      <a:latin typeface="Cambria Math" panose="02040503050406030204" pitchFamily="18" charset="0"/>
                                    </a:rPr>
                                    <m:t>)−</m:t>
                                  </m:r>
                                  <m:nary>
                                    <m:naryPr>
                                      <m:chr m:val="∑"/>
                                      <m:ctrlPr>
                                        <a:rPr lang="zh-CN" altLang="en-US" sz="2400" i="1">
                                          <a:solidFill>
                                            <a:srgbClr val="000000"/>
                                          </a:solidFill>
                                          <a:latin typeface="Cambria Math" panose="02040503050406030204" pitchFamily="18" charset="0"/>
                                        </a:rPr>
                                      </m:ctrlPr>
                                    </m:naryPr>
                                    <m:sub>
                                      <m:r>
                                        <a:rPr lang="zh-CN" altLang="en-US" sz="2400" i="1">
                                          <a:solidFill>
                                            <a:srgbClr val="000000"/>
                                          </a:solidFill>
                                          <a:latin typeface="Cambria Math" panose="02040503050406030204" pitchFamily="18" charset="0"/>
                                        </a:rPr>
                                        <m:t>𝑖</m:t>
                                      </m:r>
                                      <m:r>
                                        <a:rPr lang="zh-CN" altLang="en-US" sz="2400" i="1">
                                          <a:solidFill>
                                            <a:srgbClr val="000000"/>
                                          </a:solidFill>
                                          <a:latin typeface="Cambria Math" panose="02040503050406030204" pitchFamily="18" charset="0"/>
                                        </a:rPr>
                                        <m:t>=1</m:t>
                                      </m:r>
                                    </m:sub>
                                    <m:sup>
                                      <m:r>
                                        <a:rPr lang="zh-CN" altLang="en-US" sz="2400" i="1">
                                          <a:solidFill>
                                            <a:srgbClr val="000000"/>
                                          </a:solidFill>
                                          <a:latin typeface="Cambria Math" panose="02040503050406030204" pitchFamily="18" charset="0"/>
                                        </a:rPr>
                                        <m:t>𝑁</m:t>
                                      </m:r>
                                    </m:sup>
                                    <m:e>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𝛼</m:t>
                                          </m:r>
                                        </m:e>
                                        <m:sub>
                                          <m:r>
                                            <a:rPr lang="zh-CN" altLang="en-US" sz="2400" i="1">
                                              <a:solidFill>
                                                <a:srgbClr val="000000"/>
                                              </a:solidFill>
                                              <a:latin typeface="Cambria Math" panose="02040503050406030204" pitchFamily="18" charset="0"/>
                                            </a:rPr>
                                            <m:t>𝑖</m:t>
                                          </m:r>
                                        </m:sub>
                                      </m:sSub>
                                    </m:e>
                                  </m:nary>
                                </m:e>
                              </m:nary>
                            </m:e>
                          </m:nary>
                          <m:r>
                            <m:rPr>
                              <m:nor/>
                            </m:rPr>
                            <a:rPr lang="zh-CN" altLang="en-US" sz="2400" i="1" dirty="0">
                              <a:solidFill>
                                <a:srgbClr val="000000"/>
                              </a:solidFill>
                              <a:latin typeface="Cambria Math" panose="02040503050406030204" pitchFamily="18" charset="0"/>
                            </a:rPr>
                            <m:t> </m:t>
                          </m:r>
                        </m:e>
                      </m:d>
                      <m:r>
                        <a:rPr lang="zh-CN" altLang="en-US" sz="2400" i="1">
                          <a:solidFill>
                            <a:srgbClr val="000000"/>
                          </a:solidFill>
                          <a:latin typeface="Cambria Math" panose="02040503050406030204" pitchFamily="18" charset="0"/>
                        </a:rPr>
                        <m:t> </m:t>
                      </m:r>
                    </m:oMath>
                  </m:oMathPara>
                </a14:m>
                <a:endParaRPr lang="en-US" altLang="zh-CN" sz="2400" i="1" dirty="0">
                  <a:solidFill>
                    <a:srgbClr val="000000"/>
                  </a:solidFill>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zh-CN" altLang="en-US" sz="2400" i="1">
                          <a:solidFill>
                            <a:srgbClr val="000000"/>
                          </a:solidFill>
                          <a:latin typeface="Cambria Math" panose="02040503050406030204" pitchFamily="18" charset="0"/>
                        </a:rPr>
                        <m:t>𝑠</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𝑡</m:t>
                      </m:r>
                      <m:r>
                        <a:rPr lang="zh-CN" altLang="en-US" sz="2400" i="1">
                          <a:solidFill>
                            <a:srgbClr val="000000"/>
                          </a:solidFill>
                          <a:latin typeface="Cambria Math" panose="02040503050406030204" pitchFamily="18" charset="0"/>
                        </a:rPr>
                        <m:t>.  </m:t>
                      </m:r>
                      <m:nary>
                        <m:naryPr>
                          <m:chr m:val="∑"/>
                          <m:ctrlPr>
                            <a:rPr lang="zh-CN" altLang="en-US" sz="2400" i="1">
                              <a:solidFill>
                                <a:srgbClr val="000000"/>
                              </a:solidFill>
                              <a:latin typeface="Cambria Math" panose="02040503050406030204" pitchFamily="18" charset="0"/>
                            </a:rPr>
                          </m:ctrlPr>
                        </m:naryPr>
                        <m:sub>
                          <m:r>
                            <a:rPr lang="zh-CN" altLang="en-US" sz="2400" i="1">
                              <a:solidFill>
                                <a:srgbClr val="000000"/>
                              </a:solidFill>
                              <a:latin typeface="Cambria Math" panose="02040503050406030204" pitchFamily="18" charset="0"/>
                            </a:rPr>
                            <m:t>𝑖</m:t>
                          </m:r>
                          <m:r>
                            <a:rPr lang="zh-CN" altLang="en-US" sz="2400" i="1">
                              <a:solidFill>
                                <a:srgbClr val="000000"/>
                              </a:solidFill>
                              <a:latin typeface="Cambria Math" panose="02040503050406030204" pitchFamily="18" charset="0"/>
                            </a:rPr>
                            <m:t>=1</m:t>
                          </m:r>
                        </m:sub>
                        <m:sup>
                          <m:r>
                            <a:rPr lang="zh-CN" altLang="en-US" sz="2400" i="1">
                              <a:solidFill>
                                <a:srgbClr val="000000"/>
                              </a:solidFill>
                              <a:latin typeface="Cambria Math" panose="02040503050406030204" pitchFamily="18" charset="0"/>
                            </a:rPr>
                            <m:t>𝑁</m:t>
                          </m:r>
                        </m:sup>
                        <m:e>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𝛼</m:t>
                              </m:r>
                            </m:e>
                            <m:sub>
                              <m:r>
                                <a:rPr lang="zh-CN" altLang="en-US" sz="2400" i="1">
                                  <a:solidFill>
                                    <a:srgbClr val="000000"/>
                                  </a:solidFill>
                                  <a:latin typeface="Cambria Math" panose="02040503050406030204" pitchFamily="18" charset="0"/>
                                </a:rPr>
                                <m:t>𝑖</m:t>
                              </m:r>
                            </m:sub>
                          </m:sSub>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𝑦</m:t>
                              </m:r>
                            </m:e>
                            <m:sub>
                              <m:r>
                                <a:rPr lang="zh-CN" altLang="en-US" sz="2400" i="1">
                                  <a:solidFill>
                                    <a:srgbClr val="000000"/>
                                  </a:solidFill>
                                  <a:latin typeface="Cambria Math" panose="02040503050406030204" pitchFamily="18" charset="0"/>
                                </a:rPr>
                                <m:t>𝑖</m:t>
                              </m:r>
                            </m:sub>
                          </m:sSub>
                        </m:e>
                      </m:nary>
                      <m:r>
                        <a:rPr lang="zh-CN" altLang="en-US" sz="2400" i="1">
                          <a:solidFill>
                            <a:srgbClr val="000000"/>
                          </a:solidFill>
                          <a:latin typeface="Cambria Math" panose="02040503050406030204" pitchFamily="18" charset="0"/>
                        </a:rPr>
                        <m:t>=0</m:t>
                      </m:r>
                    </m:oMath>
                    <m:oMath xmlns:m="http://schemas.openxmlformats.org/officeDocument/2006/math">
                      <m:r>
                        <a:rPr lang="zh-CN" altLang="en-US" sz="2400" i="1">
                          <a:solidFill>
                            <a:srgbClr val="000000"/>
                          </a:solidFill>
                          <a:latin typeface="Cambria Math" panose="02040503050406030204" pitchFamily="18" charset="0"/>
                        </a:rPr>
                        <m:t>      </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𝛼</m:t>
                          </m:r>
                        </m:e>
                        <m:sub>
                          <m:r>
                            <a:rPr lang="zh-CN" altLang="en-US" sz="2400" i="1">
                              <a:solidFill>
                                <a:srgbClr val="000000"/>
                              </a:solidFill>
                              <a:latin typeface="Cambria Math" panose="02040503050406030204" pitchFamily="18" charset="0"/>
                            </a:rPr>
                            <m:t>𝑖</m:t>
                          </m:r>
                        </m:sub>
                      </m:sSub>
                      <m:r>
                        <a:rPr lang="zh-CN" altLang="en-US" sz="2400" i="1">
                          <a:solidFill>
                            <a:srgbClr val="000000"/>
                          </a:solidFill>
                          <a:latin typeface="Cambria Math" panose="02040503050406030204" pitchFamily="18" charset="0"/>
                        </a:rPr>
                        <m:t>≥0, </m:t>
                      </m:r>
                      <m:r>
                        <a:rPr lang="zh-CN" altLang="en-US" sz="2400" i="1">
                          <a:solidFill>
                            <a:srgbClr val="000000"/>
                          </a:solidFill>
                          <a:latin typeface="Cambria Math" panose="02040503050406030204" pitchFamily="18" charset="0"/>
                        </a:rPr>
                        <m:t>𝑖</m:t>
                      </m:r>
                      <m:r>
                        <a:rPr lang="zh-CN" altLang="en-US" sz="2400" i="1">
                          <a:solidFill>
                            <a:srgbClr val="000000"/>
                          </a:solidFill>
                          <a:latin typeface="Cambria Math" panose="02040503050406030204" pitchFamily="18" charset="0"/>
                        </a:rPr>
                        <m:t>=1,2,...,</m:t>
                      </m:r>
                      <m:r>
                        <a:rPr lang="zh-CN" altLang="en-US" sz="2400" i="1">
                          <a:solidFill>
                            <a:srgbClr val="000000"/>
                          </a:solidFill>
                          <a:latin typeface="Cambria Math" panose="02040503050406030204" pitchFamily="18" charset="0"/>
                        </a:rPr>
                        <m:t>𝑁</m:t>
                      </m:r>
                    </m:oMath>
                  </m:oMathPara>
                </a14:m>
                <a:endParaRPr lang="zh-CN" altLang="en-US" sz="2400" dirty="0"/>
              </a:p>
            </p:txBody>
          </p:sp>
        </mc:Choice>
        <mc:Fallback xmlns="">
          <p:sp>
            <p:nvSpPr>
              <p:cNvPr id="22530" name="Object 2" descr="羊皮纸"/>
              <p:cNvSpPr txBox="1">
                <a:spLocks noRot="1" noChangeAspect="1" noMove="1" noResize="1" noEditPoints="1" noAdjustHandles="1" noChangeArrowheads="1" noChangeShapeType="1" noTextEdit="1"/>
              </p:cNvSpPr>
              <p:nvPr/>
            </p:nvSpPr>
            <p:spPr bwMode="auto">
              <a:xfrm>
                <a:off x="1423988" y="2760663"/>
                <a:ext cx="5738812" cy="2894012"/>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98946973-DE98-F8F4-3BD8-3934874786DC}"/>
                  </a:ext>
                </a:extLst>
              </p:cNvPr>
              <p:cNvSpPr txBox="1"/>
              <p:nvPr/>
            </p:nvSpPr>
            <p:spPr>
              <a:xfrm>
                <a:off x="1090247" y="5613728"/>
                <a:ext cx="3072380" cy="523220"/>
              </a:xfrm>
              <a:prstGeom prst="rect">
                <a:avLst/>
              </a:prstGeom>
              <a:noFill/>
            </p:spPr>
            <p:txBody>
              <a:bodyPr wrap="none" rtlCol="0">
                <a:spAutoFit/>
              </a:bodyPr>
              <a:lstStyle/>
              <a:p>
                <a:r>
                  <a:rPr kumimoji="1" lang="zh-CN" altLang="en-US" sz="2800" dirty="0"/>
                  <a:t>解出的最优解为</a:t>
                </a:r>
                <a14:m>
                  <m:oMath xmlns:m="http://schemas.openxmlformats.org/officeDocument/2006/math">
                    <m:sSup>
                      <m:sSupPr>
                        <m:ctrlPr>
                          <a:rPr kumimoji="1" lang="en-US" altLang="zh-CN" sz="2800" i="1" smtClean="0">
                            <a:latin typeface="Cambria Math" panose="02040503050406030204" pitchFamily="18" charset="0"/>
                          </a:rPr>
                        </m:ctrlPr>
                      </m:sSupPr>
                      <m:e>
                        <m:r>
                          <a:rPr kumimoji="1" lang="en-US" altLang="zh-CN" sz="2800" i="1" smtClean="0">
                            <a:latin typeface="Cambria Math" panose="02040503050406030204" pitchFamily="18" charset="0"/>
                            <a:ea typeface="Cambria Math" panose="02040503050406030204" pitchFamily="18" charset="0"/>
                          </a:rPr>
                          <m:t>𝛼</m:t>
                        </m:r>
                      </m:e>
                      <m:sup>
                        <m:r>
                          <a:rPr kumimoji="1" lang="zh-CN" altLang="en-US" sz="2800" b="0" i="1" smtClean="0">
                            <a:latin typeface="Cambria Math" panose="02040503050406030204" pitchFamily="18" charset="0"/>
                          </a:rPr>
                          <m:t>∗</m:t>
                        </m:r>
                      </m:sup>
                    </m:sSup>
                  </m:oMath>
                </a14:m>
                <a:endParaRPr kumimoji="1" lang="zh-CN" altLang="en-US" sz="2800" dirty="0"/>
              </a:p>
            </p:txBody>
          </p:sp>
        </mc:Choice>
        <mc:Fallback xmlns="">
          <p:sp>
            <p:nvSpPr>
              <p:cNvPr id="2" name="文本框 1">
                <a:extLst>
                  <a:ext uri="{FF2B5EF4-FFF2-40B4-BE49-F238E27FC236}">
                    <a16:creationId xmlns:a16="http://schemas.microsoft.com/office/drawing/2014/main" id="{98946973-DE98-F8F4-3BD8-3934874786DC}"/>
                  </a:ext>
                </a:extLst>
              </p:cNvPr>
              <p:cNvSpPr txBox="1">
                <a:spLocks noRot="1" noChangeAspect="1" noMove="1" noResize="1" noEditPoints="1" noAdjustHandles="1" noChangeArrowheads="1" noChangeShapeType="1" noTextEdit="1"/>
              </p:cNvSpPr>
              <p:nvPr/>
            </p:nvSpPr>
            <p:spPr>
              <a:xfrm>
                <a:off x="1090247" y="5613728"/>
                <a:ext cx="3072380" cy="523220"/>
              </a:xfrm>
              <a:prstGeom prst="rect">
                <a:avLst/>
              </a:prstGeom>
              <a:blipFill>
                <a:blip r:embed="rId4"/>
                <a:stretch>
                  <a:fillRect l="-4115" t="-23810" b="-21429"/>
                </a:stretch>
              </a:blipFill>
            </p:spPr>
            <p:txBody>
              <a:bodyPr/>
              <a:lstStyle/>
              <a:p>
                <a:r>
                  <a:rPr lang="zh-CN" altLang="en-US">
                    <a:noFill/>
                  </a:rPr>
                  <a:t> </a:t>
                </a:r>
              </a:p>
            </p:txBody>
          </p:sp>
        </mc:Fallback>
      </mc:AlternateContent>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C5A72491-CDD5-20AA-DDAC-8D2FC243878C}"/>
              </a:ext>
            </a:extLst>
          </p:cNvPr>
          <p:cNvSpPr/>
          <p:nvPr/>
        </p:nvSpPr>
        <p:spPr>
          <a:xfrm>
            <a:off x="4994030" y="1495673"/>
            <a:ext cx="3681046" cy="1618842"/>
          </a:xfrm>
          <a:prstGeom prst="rect">
            <a:avLst/>
          </a:prstGeom>
          <a:solidFill>
            <a:srgbClr val="F4B39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 name="标题 1"/>
          <p:cNvSpPr>
            <a:spLocks noGrp="1"/>
          </p:cNvSpPr>
          <p:nvPr>
            <p:ph type="title"/>
          </p:nvPr>
        </p:nvSpPr>
        <p:spPr/>
        <p:txBody>
          <a:bodyPr/>
          <a:lstStyle/>
          <a:p>
            <a:r>
              <a:rPr lang="zh-CN" altLang="en-US" dirty="0"/>
              <a:t>如何求得</a:t>
            </a:r>
            <a:r>
              <a:rPr lang="en-US" altLang="zh-CN" dirty="0"/>
              <a:t>w*</a:t>
            </a:r>
            <a:r>
              <a:rPr lang="zh-CN" altLang="en-US" dirty="0"/>
              <a:t>、</a:t>
            </a:r>
            <a:r>
              <a:rPr lang="en-US" altLang="zh-CN" dirty="0"/>
              <a:t>b*?</a:t>
            </a:r>
            <a:endParaRPr lang="zh-CN" altLang="en-US" dirty="0"/>
          </a:p>
        </p:txBody>
      </p:sp>
      <mc:AlternateContent xmlns:mc="http://schemas.openxmlformats.org/markup-compatibility/2006" xmlns:a14="http://schemas.microsoft.com/office/drawing/2010/main">
        <mc:Choice Requires="a14">
          <p:sp>
            <p:nvSpPr>
              <p:cNvPr id="5" name="Object 2" descr="羊皮纸"/>
              <p:cNvSpPr txBox="1"/>
              <p:nvPr/>
            </p:nvSpPr>
            <p:spPr bwMode="auto">
              <a:xfrm>
                <a:off x="809625" y="1542930"/>
                <a:ext cx="6002338" cy="4778374"/>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400" i="1" smtClean="0">
                              <a:solidFill>
                                <a:srgbClr val="000000"/>
                              </a:solidFill>
                              <a:latin typeface="Cambria Math" panose="02040503050406030204" pitchFamily="18" charset="0"/>
                            </a:rPr>
                          </m:ctrlPr>
                        </m:sSubPr>
                        <m:e>
                          <m:r>
                            <m:rPr>
                              <m:sty m:val="p"/>
                            </m:rPr>
                            <a:rPr lang="zh-CN" altLang="en-US" sz="2400" i="1">
                              <a:solidFill>
                                <a:srgbClr val="000000"/>
                              </a:solidFill>
                              <a:latin typeface="Cambria Math" panose="02040503050406030204" pitchFamily="18" charset="0"/>
                            </a:rPr>
                            <m:t>∇</m:t>
                          </m:r>
                        </m:e>
                        <m:sub>
                          <m:r>
                            <a:rPr lang="zh-CN" altLang="en-US" sz="2400" i="1">
                              <a:solidFill>
                                <a:srgbClr val="000000"/>
                              </a:solidFill>
                              <a:latin typeface="Cambria Math" panose="02040503050406030204" pitchFamily="18" charset="0"/>
                            </a:rPr>
                            <m:t>𝑤</m:t>
                          </m:r>
                        </m:sub>
                      </m:sSub>
                      <m:r>
                        <a:rPr lang="zh-CN" altLang="en-US" sz="2400" i="1">
                          <a:solidFill>
                            <a:srgbClr val="000000"/>
                          </a:solidFill>
                          <a:latin typeface="Cambria Math" panose="02040503050406030204" pitchFamily="18" charset="0"/>
                        </a:rPr>
                        <m:t>𝐿</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𝑤</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𝑏</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𝛼</m:t>
                      </m:r>
                      <m:r>
                        <a:rPr lang="zh-CN" altLang="en-US" sz="2400" i="1">
                          <a:solidFill>
                            <a:srgbClr val="000000"/>
                          </a:solidFill>
                          <a:latin typeface="Cambria Math" panose="02040503050406030204" pitchFamily="18" charset="0"/>
                        </a:rPr>
                        <m:t>)=0</m:t>
                      </m:r>
                    </m:oMath>
                    <m:oMath xmlns:m="http://schemas.openxmlformats.org/officeDocument/2006/math">
                      <m:r>
                        <a:rPr lang="zh-CN" altLang="en-US" sz="2400" i="1">
                          <a:solidFill>
                            <a:srgbClr val="000000"/>
                          </a:solidFill>
                          <a:latin typeface="Cambria Math" panose="02040503050406030204" pitchFamily="18" charset="0"/>
                        </a:rPr>
                        <m:t>⇒</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𝑤</m:t>
                          </m:r>
                        </m:e>
                        <m:sup>
                          <m:r>
                            <a:rPr lang="zh-CN" altLang="en-US" sz="2400" i="1">
                              <a:solidFill>
                                <a:srgbClr val="000000"/>
                              </a:solidFill>
                              <a:latin typeface="Cambria Math" panose="02040503050406030204" pitchFamily="18" charset="0"/>
                            </a:rPr>
                            <m:t>∗</m:t>
                          </m:r>
                        </m:sup>
                      </m:sSup>
                      <m:r>
                        <a:rPr lang="zh-CN" altLang="en-US" sz="2400" i="1">
                          <a:solidFill>
                            <a:srgbClr val="000000"/>
                          </a:solidFill>
                          <a:latin typeface="Cambria Math" panose="02040503050406030204" pitchFamily="18" charset="0"/>
                        </a:rPr>
                        <m:t>−</m:t>
                      </m:r>
                      <m:nary>
                        <m:naryPr>
                          <m:chr m:val="∑"/>
                          <m:ctrlPr>
                            <a:rPr lang="zh-CN" altLang="en-US" sz="2400" i="1">
                              <a:solidFill>
                                <a:srgbClr val="000000"/>
                              </a:solidFill>
                              <a:latin typeface="Cambria Math" panose="02040503050406030204" pitchFamily="18" charset="0"/>
                            </a:rPr>
                          </m:ctrlPr>
                        </m:naryPr>
                        <m:sub>
                          <m:r>
                            <a:rPr lang="zh-CN" altLang="en-US" sz="2400" i="1">
                              <a:solidFill>
                                <a:srgbClr val="000000"/>
                              </a:solidFill>
                              <a:latin typeface="Cambria Math" panose="02040503050406030204" pitchFamily="18" charset="0"/>
                            </a:rPr>
                            <m:t>𝑖</m:t>
                          </m:r>
                          <m:r>
                            <a:rPr lang="zh-CN" altLang="en-US" sz="2400" i="1">
                              <a:solidFill>
                                <a:srgbClr val="000000"/>
                              </a:solidFill>
                              <a:latin typeface="Cambria Math" panose="02040503050406030204" pitchFamily="18" charset="0"/>
                            </a:rPr>
                            <m:t>=1</m:t>
                          </m:r>
                        </m:sub>
                        <m:sup>
                          <m:r>
                            <a:rPr lang="zh-CN" altLang="en-US" sz="2400" i="1">
                              <a:solidFill>
                                <a:srgbClr val="000000"/>
                              </a:solidFill>
                              <a:latin typeface="Cambria Math" panose="02040503050406030204" pitchFamily="18" charset="0"/>
                            </a:rPr>
                            <m:t>𝑁</m:t>
                          </m:r>
                        </m:sup>
                        <m:e>
                          <m:sSubSup>
                            <m:sSubSupPr>
                              <m:ctrlPr>
                                <a:rPr lang="zh-CN" altLang="en-US" sz="2400" i="1">
                                  <a:solidFill>
                                    <a:srgbClr val="000000"/>
                                  </a:solidFill>
                                  <a:latin typeface="Cambria Math" panose="02040503050406030204" pitchFamily="18" charset="0"/>
                                </a:rPr>
                              </m:ctrlPr>
                            </m:sSubSupPr>
                            <m:e>
                              <m:r>
                                <a:rPr lang="zh-CN" altLang="en-US" sz="2400" i="1">
                                  <a:solidFill>
                                    <a:srgbClr val="000000"/>
                                  </a:solidFill>
                                  <a:latin typeface="Cambria Math" panose="02040503050406030204" pitchFamily="18" charset="0"/>
                                </a:rPr>
                                <m:t>𝛼</m:t>
                              </m:r>
                            </m:e>
                            <m:sub>
                              <m:r>
                                <a:rPr lang="zh-CN" altLang="en-US" sz="2400" i="1">
                                  <a:solidFill>
                                    <a:srgbClr val="000000"/>
                                  </a:solidFill>
                                  <a:latin typeface="Cambria Math" panose="02040503050406030204" pitchFamily="18" charset="0"/>
                                </a:rPr>
                                <m:t>𝑖</m:t>
                              </m:r>
                            </m:sub>
                            <m:sup>
                              <m:r>
                                <a:rPr lang="zh-CN" altLang="en-US" sz="2400" i="1">
                                  <a:solidFill>
                                    <a:srgbClr val="000000"/>
                                  </a:solidFill>
                                  <a:latin typeface="Cambria Math" panose="02040503050406030204" pitchFamily="18" charset="0"/>
                                </a:rPr>
                                <m:t>∗</m:t>
                              </m:r>
                            </m:sup>
                          </m:sSubSup>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𝑦</m:t>
                              </m:r>
                            </m:e>
                            <m:sub>
                              <m:r>
                                <a:rPr lang="zh-CN" altLang="en-US" sz="2400" i="1">
                                  <a:solidFill>
                                    <a:srgbClr val="000000"/>
                                  </a:solidFill>
                                  <a:latin typeface="Cambria Math" panose="02040503050406030204" pitchFamily="18" charset="0"/>
                                </a:rPr>
                                <m:t>𝑖</m:t>
                              </m:r>
                            </m:sub>
                          </m:sSub>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𝑥</m:t>
                              </m:r>
                            </m:e>
                            <m:sub>
                              <m:r>
                                <a:rPr lang="zh-CN" altLang="en-US" sz="2400" i="1">
                                  <a:solidFill>
                                    <a:srgbClr val="000000"/>
                                  </a:solidFill>
                                  <a:latin typeface="Cambria Math" panose="02040503050406030204" pitchFamily="18" charset="0"/>
                                </a:rPr>
                                <m:t>𝑖</m:t>
                              </m:r>
                            </m:sub>
                          </m:sSub>
                        </m:e>
                      </m:nary>
                      <m:r>
                        <a:rPr lang="zh-CN" altLang="en-US" sz="2400" i="1">
                          <a:solidFill>
                            <a:srgbClr val="000000"/>
                          </a:solidFill>
                          <a:latin typeface="Cambria Math" panose="02040503050406030204" pitchFamily="18" charset="0"/>
                        </a:rPr>
                        <m:t>=0</m:t>
                      </m:r>
                    </m:oMath>
                    <m:oMath xmlns:m="http://schemas.openxmlformats.org/officeDocument/2006/math">
                      <m:r>
                        <a:rPr lang="zh-CN" altLang="en-US" sz="2400" i="1">
                          <a:solidFill>
                            <a:srgbClr val="000000"/>
                          </a:solidFill>
                          <a:latin typeface="Cambria Math" panose="02040503050406030204" pitchFamily="18" charset="0"/>
                        </a:rPr>
                        <m:t>⇒</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𝑤</m:t>
                          </m:r>
                        </m:e>
                        <m:sup>
                          <m:r>
                            <a:rPr lang="zh-CN" altLang="en-US" sz="2400" i="1">
                              <a:solidFill>
                                <a:srgbClr val="000000"/>
                              </a:solidFill>
                              <a:latin typeface="Cambria Math" panose="02040503050406030204" pitchFamily="18" charset="0"/>
                            </a:rPr>
                            <m:t>∗</m:t>
                          </m:r>
                        </m:sup>
                      </m:sSup>
                      <m:r>
                        <a:rPr lang="zh-CN" altLang="en-US" sz="2400" i="1">
                          <a:solidFill>
                            <a:srgbClr val="000000"/>
                          </a:solidFill>
                          <a:latin typeface="Cambria Math" panose="02040503050406030204" pitchFamily="18" charset="0"/>
                        </a:rPr>
                        <m:t>=</m:t>
                      </m:r>
                      <m:nary>
                        <m:naryPr>
                          <m:chr m:val="∑"/>
                          <m:ctrlPr>
                            <a:rPr lang="zh-CN" altLang="en-US" sz="2400" i="1">
                              <a:solidFill>
                                <a:srgbClr val="000000"/>
                              </a:solidFill>
                              <a:latin typeface="Cambria Math" panose="02040503050406030204" pitchFamily="18" charset="0"/>
                            </a:rPr>
                          </m:ctrlPr>
                        </m:naryPr>
                        <m:sub>
                          <m:r>
                            <a:rPr lang="zh-CN" altLang="en-US" sz="2400" i="1">
                              <a:solidFill>
                                <a:srgbClr val="000000"/>
                              </a:solidFill>
                              <a:latin typeface="Cambria Math" panose="02040503050406030204" pitchFamily="18" charset="0"/>
                            </a:rPr>
                            <m:t>𝑖</m:t>
                          </m:r>
                          <m:r>
                            <a:rPr lang="zh-CN" altLang="en-US" sz="2400" i="1">
                              <a:solidFill>
                                <a:srgbClr val="000000"/>
                              </a:solidFill>
                              <a:latin typeface="Cambria Math" panose="02040503050406030204" pitchFamily="18" charset="0"/>
                            </a:rPr>
                            <m:t>=1</m:t>
                          </m:r>
                        </m:sub>
                        <m:sup>
                          <m:r>
                            <a:rPr lang="zh-CN" altLang="en-US" sz="2400" i="1">
                              <a:solidFill>
                                <a:srgbClr val="000000"/>
                              </a:solidFill>
                              <a:latin typeface="Cambria Math" panose="02040503050406030204" pitchFamily="18" charset="0"/>
                            </a:rPr>
                            <m:t>𝑁</m:t>
                          </m:r>
                        </m:sup>
                        <m:e>
                          <m:sSubSup>
                            <m:sSubSupPr>
                              <m:ctrlPr>
                                <a:rPr lang="zh-CN" altLang="en-US" sz="2400" i="1">
                                  <a:solidFill>
                                    <a:srgbClr val="000000"/>
                                  </a:solidFill>
                                  <a:latin typeface="Cambria Math" panose="02040503050406030204" pitchFamily="18" charset="0"/>
                                </a:rPr>
                              </m:ctrlPr>
                            </m:sSubSupPr>
                            <m:e>
                              <m:r>
                                <a:rPr lang="zh-CN" altLang="en-US" sz="2400" i="1">
                                  <a:solidFill>
                                    <a:srgbClr val="000000"/>
                                  </a:solidFill>
                                  <a:latin typeface="Cambria Math" panose="02040503050406030204" pitchFamily="18" charset="0"/>
                                </a:rPr>
                                <m:t>𝛼</m:t>
                              </m:r>
                            </m:e>
                            <m:sub>
                              <m:r>
                                <a:rPr lang="zh-CN" altLang="en-US" sz="2400" i="1">
                                  <a:solidFill>
                                    <a:srgbClr val="000000"/>
                                  </a:solidFill>
                                  <a:latin typeface="Cambria Math" panose="02040503050406030204" pitchFamily="18" charset="0"/>
                                </a:rPr>
                                <m:t>𝑖</m:t>
                              </m:r>
                            </m:sub>
                            <m:sup>
                              <m:r>
                                <a:rPr lang="zh-CN" altLang="en-US" sz="2400" i="1">
                                  <a:solidFill>
                                    <a:srgbClr val="000000"/>
                                  </a:solidFill>
                                  <a:latin typeface="Cambria Math" panose="02040503050406030204" pitchFamily="18" charset="0"/>
                                </a:rPr>
                                <m:t>∗</m:t>
                              </m:r>
                            </m:sup>
                          </m:sSubSup>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𝑦</m:t>
                              </m:r>
                            </m:e>
                            <m:sub>
                              <m:r>
                                <a:rPr lang="zh-CN" altLang="en-US" sz="2400" i="1">
                                  <a:solidFill>
                                    <a:srgbClr val="000000"/>
                                  </a:solidFill>
                                  <a:latin typeface="Cambria Math" panose="02040503050406030204" pitchFamily="18" charset="0"/>
                                </a:rPr>
                                <m:t>𝑖</m:t>
                              </m:r>
                            </m:sub>
                          </m:sSub>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𝑥</m:t>
                              </m:r>
                            </m:e>
                            <m:sub>
                              <m:r>
                                <a:rPr lang="zh-CN" altLang="en-US" sz="2400" i="1">
                                  <a:solidFill>
                                    <a:srgbClr val="000000"/>
                                  </a:solidFill>
                                  <a:latin typeface="Cambria Math" panose="02040503050406030204" pitchFamily="18" charset="0"/>
                                </a:rPr>
                                <m:t>𝑖</m:t>
                              </m:r>
                            </m:sub>
                          </m:sSub>
                        </m:e>
                      </m:nary>
                    </m:oMath>
                  </m:oMathPara>
                </a14:m>
                <a:br>
                  <a:rPr lang="zh-CN" altLang="en-US" sz="2400" i="1" dirty="0">
                    <a:solidFill>
                      <a:srgbClr val="000000"/>
                    </a:solidFill>
                    <a:latin typeface="Cambria Math" panose="02040503050406030204" pitchFamily="18" charset="0"/>
                  </a:rPr>
                </a:br>
                <a:endParaRPr lang="en-US" altLang="zh-CN" sz="2400" i="1" dirty="0">
                  <a:solidFill>
                    <a:srgbClr val="000000"/>
                  </a:solidFill>
                  <a:latin typeface="Cambria Math" panose="02040503050406030204" pitchFamily="18" charset="0"/>
                </a:endParaRPr>
              </a:p>
              <a:p>
                <a:endParaRPr lang="en-US" altLang="zh-CN" sz="2400" i="1" dirty="0">
                  <a:solidFill>
                    <a:srgbClr val="000000"/>
                  </a:solidFill>
                  <a:latin typeface="Cambria Math" panose="02040503050406030204" pitchFamily="18" charset="0"/>
                </a:endParaRPr>
              </a:p>
              <a:p>
                <a:pPr/>
                <a14:m>
                  <m:oMathPara xmlns:m="http://schemas.openxmlformats.org/officeDocument/2006/math">
                    <m:oMathParaPr>
                      <m:jc m:val="left"/>
                    </m:oMathParaPr>
                    <m:oMath xmlns:m="http://schemas.openxmlformats.org/officeDocument/2006/math">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𝛼</m:t>
                          </m:r>
                        </m:e>
                        <m:sub>
                          <m:r>
                            <a:rPr lang="zh-CN" altLang="en-US" sz="2400" i="1">
                              <a:solidFill>
                                <a:srgbClr val="000000"/>
                              </a:solidFill>
                              <a:latin typeface="Cambria Math" panose="02040503050406030204" pitchFamily="18" charset="0"/>
                            </a:rPr>
                            <m:t>𝑖</m:t>
                          </m:r>
                        </m:sub>
                      </m:sSub>
                      <m:d>
                        <m:dPr>
                          <m:begChr m:val="["/>
                          <m:endChr m:val="]"/>
                          <m:ctrlPr>
                            <a:rPr lang="zh-CN" altLang="en-US" sz="2400" i="1">
                              <a:solidFill>
                                <a:srgbClr val="000000"/>
                              </a:solidFill>
                              <a:latin typeface="Cambria Math" panose="02040503050406030204" pitchFamily="18" charset="0"/>
                            </a:rPr>
                          </m:ctrlPr>
                        </m:dPr>
                        <m:e>
                          <m:r>
                            <a:rPr lang="zh-CN" altLang="en-US" sz="2400" i="1">
                              <a:solidFill>
                                <a:srgbClr val="000000"/>
                              </a:solidFill>
                              <a:latin typeface="Cambria Math" panose="02040503050406030204" pitchFamily="18" charset="0"/>
                            </a:rPr>
                            <m:t>1</m:t>
                          </m:r>
                          <m:r>
                            <a:rPr lang="zh-CN" altLang="en-US" sz="2400" i="0">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𝑦</m:t>
                              </m:r>
                            </m:e>
                            <m:sub>
                              <m:r>
                                <a:rPr lang="zh-CN" altLang="en-US" sz="2400" i="1">
                                  <a:solidFill>
                                    <a:srgbClr val="000000"/>
                                  </a:solidFill>
                                  <a:latin typeface="Cambria Math" panose="02040503050406030204" pitchFamily="18" charset="0"/>
                                </a:rPr>
                                <m:t>𝑖</m:t>
                              </m:r>
                            </m:sub>
                          </m:sSub>
                          <m:d>
                            <m:dPr>
                              <m:ctrlPr>
                                <a:rPr lang="zh-CN" altLang="en-US" sz="2400" i="1">
                                  <a:solidFill>
                                    <a:srgbClr val="000000"/>
                                  </a:solidFill>
                                  <a:latin typeface="Cambria Math" panose="02040503050406030204" pitchFamily="18" charset="0"/>
                                </a:rPr>
                              </m:ctrlPr>
                            </m:dPr>
                            <m:e>
                              <m:r>
                                <a:rPr lang="zh-CN" altLang="en-US" sz="2400" i="1">
                                  <a:solidFill>
                                    <a:srgbClr val="000000"/>
                                  </a:solidFill>
                                  <a:latin typeface="Cambria Math" panose="02040503050406030204" pitchFamily="18" charset="0"/>
                                </a:rPr>
                                <m:t>𝑤</m:t>
                              </m:r>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𝑥</m:t>
                                  </m:r>
                                </m:e>
                                <m:sub>
                                  <m:r>
                                    <a:rPr lang="zh-CN" altLang="en-US" sz="2400" i="1">
                                      <a:solidFill>
                                        <a:srgbClr val="000000"/>
                                      </a:solidFill>
                                      <a:latin typeface="Cambria Math" panose="02040503050406030204" pitchFamily="18" charset="0"/>
                                    </a:rPr>
                                    <m:t>𝑖</m:t>
                                  </m:r>
                                </m:sub>
                              </m:sSub>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𝑏</m:t>
                              </m:r>
                            </m:e>
                          </m:d>
                        </m:e>
                      </m:d>
                      <m:r>
                        <a:rPr lang="zh-CN" altLang="en-US" sz="2400" i="1">
                          <a:solidFill>
                            <a:srgbClr val="000000"/>
                          </a:solidFill>
                          <a:latin typeface="Cambria Math" panose="02040503050406030204" pitchFamily="18" charset="0"/>
                        </a:rPr>
                        <m:t>=0,</m:t>
                      </m:r>
                      <m:r>
                        <a:rPr lang="zh-CN" altLang="en-US" sz="2400" i="1">
                          <a:solidFill>
                            <a:srgbClr val="000000"/>
                          </a:solidFill>
                          <a:latin typeface="Cambria Math" panose="02040503050406030204" pitchFamily="18" charset="0"/>
                        </a:rPr>
                        <m:t>𝑖</m:t>
                      </m:r>
                      <m:r>
                        <a:rPr lang="zh-CN" altLang="en-US" sz="2400" i="1">
                          <a:solidFill>
                            <a:srgbClr val="000000"/>
                          </a:solidFill>
                          <a:latin typeface="Cambria Math" panose="02040503050406030204" pitchFamily="18" charset="0"/>
                        </a:rPr>
                        <m:t>=1...</m:t>
                      </m:r>
                      <m:r>
                        <a:rPr lang="zh-CN" altLang="en-US" sz="2400" i="1">
                          <a:solidFill>
                            <a:srgbClr val="000000"/>
                          </a:solidFill>
                          <a:latin typeface="Cambria Math" panose="02040503050406030204" pitchFamily="18" charset="0"/>
                        </a:rPr>
                        <m:t>𝑁</m:t>
                      </m:r>
                    </m:oMath>
                  </m:oMathPara>
                </a14:m>
                <a:endParaRPr lang="en-US" altLang="zh-CN" sz="2400" i="1" dirty="0">
                  <a:solidFill>
                    <a:srgbClr val="000000"/>
                  </a:solidFill>
                  <a:latin typeface="Cambria Math" panose="02040503050406030204" pitchFamily="18" charset="0"/>
                </a:endParaRPr>
              </a:p>
              <a:p>
                <a:pPr/>
                <a:br>
                  <a:rPr lang="zh-CN" altLang="en-US" sz="2400" i="1" dirty="0">
                    <a:solidFill>
                      <a:srgbClr val="000000"/>
                    </a:solidFill>
                    <a:latin typeface="Cambria Math" panose="02040503050406030204" pitchFamily="18" charset="0"/>
                  </a:rPr>
                </a:br>
                <a14:m>
                  <m:oMathPara xmlns:m="http://schemas.openxmlformats.org/officeDocument/2006/math">
                    <m:oMathParaPr>
                      <m:jc m:val="left"/>
                    </m:oMathParaPr>
                    <m:oMath xmlns:m="http://schemas.openxmlformats.org/officeDocument/2006/math">
                      <m:r>
                        <a:rPr lang="zh-CN" altLang="en-US" sz="2400" i="1">
                          <a:solidFill>
                            <a:srgbClr val="000000"/>
                          </a:solidFill>
                          <a:latin typeface="Cambria Math" panose="02040503050406030204" pitchFamily="18" charset="0"/>
                        </a:rPr>
                        <m:t>⇒</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𝑏</m:t>
                          </m:r>
                        </m:e>
                        <m:sup>
                          <m:r>
                            <a:rPr lang="zh-CN" altLang="en-US" sz="2400" i="1">
                              <a:solidFill>
                                <a:srgbClr val="000000"/>
                              </a:solidFill>
                              <a:latin typeface="Cambria Math" panose="02040503050406030204" pitchFamily="18" charset="0"/>
                            </a:rPr>
                            <m:t>∗</m:t>
                          </m:r>
                        </m:sup>
                      </m:sSup>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𝑦</m:t>
                          </m:r>
                        </m:e>
                        <m:sub>
                          <m:r>
                            <a:rPr lang="zh-CN" altLang="en-US" sz="2400" i="1">
                              <a:solidFill>
                                <a:srgbClr val="000000"/>
                              </a:solidFill>
                              <a:latin typeface="Cambria Math" panose="02040503050406030204" pitchFamily="18" charset="0"/>
                            </a:rPr>
                            <m:t>𝑗</m:t>
                          </m:r>
                        </m:sub>
                      </m:sSub>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𝑤</m:t>
                      </m:r>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𝑥</m:t>
                          </m:r>
                        </m:e>
                        <m:sub>
                          <m:r>
                            <a:rPr lang="zh-CN" altLang="en-US" sz="2400" i="1">
                              <a:solidFill>
                                <a:srgbClr val="000000"/>
                              </a:solidFill>
                              <a:latin typeface="Cambria Math" panose="02040503050406030204" pitchFamily="18" charset="0"/>
                            </a:rPr>
                            <m:t>𝑗</m:t>
                          </m:r>
                        </m:sub>
                      </m:sSub>
                      <m:r>
                        <a:rPr lang="zh-CN" altLang="en-US" sz="2400" i="1">
                          <a:solidFill>
                            <a:srgbClr val="000000"/>
                          </a:solidFill>
                          <a:latin typeface="Cambria Math" panose="02040503050406030204" pitchFamily="18" charset="0"/>
                        </a:rPr>
                        <m:t>,</m:t>
                      </m:r>
                      <m:r>
                        <a:rPr lang="en-US" altLang="zh-CN" sz="2400" b="0" i="1" smtClean="0">
                          <a:solidFill>
                            <a:srgbClr val="000000"/>
                          </a:solidFill>
                          <a:latin typeface="Cambria Math" panose="02040503050406030204" pitchFamily="18" charset="0"/>
                        </a:rPr>
                        <m:t>  </m:t>
                      </m:r>
                      <m:r>
                        <a:rPr lang="zh-CN" altLang="en-US" sz="2400" i="1">
                          <a:solidFill>
                            <a:srgbClr val="000000"/>
                          </a:solidFill>
                          <a:latin typeface="Cambria Math" panose="02040503050406030204" pitchFamily="18" charset="0"/>
                        </a:rPr>
                        <m:t>选择一个</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𝛼</m:t>
                          </m:r>
                        </m:e>
                        <m:sub>
                          <m:r>
                            <a:rPr lang="zh-CN" altLang="en-US" sz="2400" i="1">
                              <a:solidFill>
                                <a:srgbClr val="000000"/>
                              </a:solidFill>
                              <a:latin typeface="Cambria Math" panose="02040503050406030204" pitchFamily="18" charset="0"/>
                            </a:rPr>
                            <m:t>𝑗</m:t>
                          </m:r>
                        </m:sub>
                      </m:sSub>
                      <m:r>
                        <a:rPr lang="zh-CN" altLang="en-US" sz="2400" i="1">
                          <a:solidFill>
                            <a:srgbClr val="000000"/>
                          </a:solidFill>
                          <a:latin typeface="Cambria Math" panose="02040503050406030204" pitchFamily="18" charset="0"/>
                        </a:rPr>
                        <m:t>≠0</m:t>
                      </m:r>
                    </m:oMath>
                    <m:oMath xmlns:m="http://schemas.openxmlformats.org/officeDocument/2006/math">
                      <m:r>
                        <a:rPr lang="zh-CN" altLang="en-US" sz="2400" i="1">
                          <a:solidFill>
                            <a:srgbClr val="000000"/>
                          </a:solidFill>
                          <a:latin typeface="Cambria Math" panose="02040503050406030204" pitchFamily="18" charset="0"/>
                        </a:rPr>
                        <m:t>⇒</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𝑏</m:t>
                          </m:r>
                        </m:e>
                        <m:sup>
                          <m:r>
                            <a:rPr lang="zh-CN" altLang="en-US" sz="2400" i="1">
                              <a:solidFill>
                                <a:srgbClr val="000000"/>
                              </a:solidFill>
                              <a:latin typeface="Cambria Math" panose="02040503050406030204" pitchFamily="18" charset="0"/>
                            </a:rPr>
                            <m:t>∗</m:t>
                          </m:r>
                        </m:sup>
                      </m:sSup>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𝑦</m:t>
                          </m:r>
                        </m:e>
                        <m:sub>
                          <m:r>
                            <a:rPr lang="zh-CN" altLang="en-US" sz="2400" i="1">
                              <a:solidFill>
                                <a:srgbClr val="000000"/>
                              </a:solidFill>
                              <a:latin typeface="Cambria Math" panose="02040503050406030204" pitchFamily="18" charset="0"/>
                            </a:rPr>
                            <m:t>𝑗</m:t>
                          </m:r>
                        </m:sub>
                      </m:sSub>
                      <m:r>
                        <a:rPr lang="zh-CN" altLang="en-US" sz="2400" i="1">
                          <a:solidFill>
                            <a:srgbClr val="000000"/>
                          </a:solidFill>
                          <a:latin typeface="Cambria Math" panose="02040503050406030204" pitchFamily="18" charset="0"/>
                        </a:rPr>
                        <m:t>−</m:t>
                      </m:r>
                      <m:nary>
                        <m:naryPr>
                          <m:chr m:val="∑"/>
                          <m:ctrlPr>
                            <a:rPr lang="zh-CN" altLang="en-US" sz="2400" i="1">
                              <a:solidFill>
                                <a:srgbClr val="000000"/>
                              </a:solidFill>
                              <a:latin typeface="Cambria Math" panose="02040503050406030204" pitchFamily="18" charset="0"/>
                            </a:rPr>
                          </m:ctrlPr>
                        </m:naryPr>
                        <m:sub>
                          <m:r>
                            <a:rPr lang="zh-CN" altLang="en-US" sz="2400" i="1">
                              <a:solidFill>
                                <a:srgbClr val="000000"/>
                              </a:solidFill>
                              <a:latin typeface="Cambria Math" panose="02040503050406030204" pitchFamily="18" charset="0"/>
                            </a:rPr>
                            <m:t>𝑖</m:t>
                          </m:r>
                          <m:r>
                            <a:rPr lang="zh-CN" altLang="en-US" sz="2400" i="1">
                              <a:solidFill>
                                <a:srgbClr val="000000"/>
                              </a:solidFill>
                              <a:latin typeface="Cambria Math" panose="02040503050406030204" pitchFamily="18" charset="0"/>
                            </a:rPr>
                            <m:t>=1</m:t>
                          </m:r>
                        </m:sub>
                        <m:sup>
                          <m:r>
                            <a:rPr lang="zh-CN" altLang="en-US" sz="2400" i="1">
                              <a:solidFill>
                                <a:srgbClr val="000000"/>
                              </a:solidFill>
                              <a:latin typeface="Cambria Math" panose="02040503050406030204" pitchFamily="18" charset="0"/>
                            </a:rPr>
                            <m:t>𝑁</m:t>
                          </m:r>
                        </m:sup>
                        <m:e>
                          <m:sSubSup>
                            <m:sSubSupPr>
                              <m:ctrlPr>
                                <a:rPr lang="zh-CN" altLang="en-US" sz="2400" i="1">
                                  <a:solidFill>
                                    <a:srgbClr val="000000"/>
                                  </a:solidFill>
                                  <a:latin typeface="Cambria Math" panose="02040503050406030204" pitchFamily="18" charset="0"/>
                                </a:rPr>
                              </m:ctrlPr>
                            </m:sSubSupPr>
                            <m:e>
                              <m:r>
                                <a:rPr lang="zh-CN" altLang="en-US" sz="2400" i="1">
                                  <a:solidFill>
                                    <a:srgbClr val="000000"/>
                                  </a:solidFill>
                                  <a:latin typeface="Cambria Math" panose="02040503050406030204" pitchFamily="18" charset="0"/>
                                </a:rPr>
                                <m:t>𝛼</m:t>
                              </m:r>
                            </m:e>
                            <m:sub>
                              <m:r>
                                <a:rPr lang="zh-CN" altLang="en-US" sz="2400" i="1">
                                  <a:solidFill>
                                    <a:srgbClr val="000000"/>
                                  </a:solidFill>
                                  <a:latin typeface="Cambria Math" panose="02040503050406030204" pitchFamily="18" charset="0"/>
                                </a:rPr>
                                <m:t>𝑖</m:t>
                              </m:r>
                            </m:sub>
                            <m:sup>
                              <m:r>
                                <a:rPr lang="zh-CN" altLang="en-US" sz="2400" i="1">
                                  <a:solidFill>
                                    <a:srgbClr val="000000"/>
                                  </a:solidFill>
                                  <a:latin typeface="Cambria Math" panose="02040503050406030204" pitchFamily="18" charset="0"/>
                                </a:rPr>
                                <m:t>∗</m:t>
                              </m:r>
                            </m:sup>
                          </m:sSubSup>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𝑦</m:t>
                              </m:r>
                            </m:e>
                            <m:sub>
                              <m:r>
                                <a:rPr lang="zh-CN" altLang="en-US" sz="2400" i="1">
                                  <a:solidFill>
                                    <a:srgbClr val="000000"/>
                                  </a:solidFill>
                                  <a:latin typeface="Cambria Math" panose="02040503050406030204" pitchFamily="18" charset="0"/>
                                </a:rPr>
                                <m:t>𝑖</m:t>
                              </m:r>
                            </m:sub>
                          </m:sSub>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𝑥</m:t>
                              </m:r>
                            </m:e>
                            <m:sub>
                              <m:r>
                                <a:rPr lang="zh-CN" altLang="en-US" sz="2400" i="1">
                                  <a:solidFill>
                                    <a:srgbClr val="000000"/>
                                  </a:solidFill>
                                  <a:latin typeface="Cambria Math" panose="02040503050406030204" pitchFamily="18" charset="0"/>
                                </a:rPr>
                                <m:t>𝑖</m:t>
                              </m:r>
                            </m:sub>
                          </m:sSub>
                          <m:r>
                            <a:rPr lang="zh-CN" altLang="en-US" sz="2400" i="1">
                              <a:solidFill>
                                <a:srgbClr val="000000"/>
                              </a:solidFill>
                              <a:latin typeface="Cambria Math" panose="02040503050406030204" pitchFamily="18" charset="0"/>
                            </a:rPr>
                            <m:t>⋅</m:t>
                          </m:r>
                        </m:e>
                      </m:nary>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𝑥</m:t>
                          </m:r>
                        </m:e>
                        <m:sub>
                          <m:r>
                            <a:rPr lang="zh-CN" altLang="en-US" sz="2400" i="1">
                              <a:solidFill>
                                <a:srgbClr val="000000"/>
                              </a:solidFill>
                              <a:latin typeface="Cambria Math" panose="02040503050406030204" pitchFamily="18" charset="0"/>
                            </a:rPr>
                            <m:t>𝑗</m:t>
                          </m:r>
                        </m:sub>
                      </m:sSub>
                      <m:r>
                        <a:rPr lang="zh-CN" altLang="en-US" sz="2400" i="1">
                          <a:solidFill>
                            <a:srgbClr val="000000"/>
                          </a:solidFill>
                          <a:latin typeface="Cambria Math" panose="02040503050406030204" pitchFamily="18" charset="0"/>
                        </a:rPr>
                        <m:t>)</m:t>
                      </m:r>
                    </m:oMath>
                  </m:oMathPara>
                </a14:m>
                <a:endParaRPr lang="zh-CN" altLang="en-US" sz="2400" dirty="0"/>
              </a:p>
            </p:txBody>
          </p:sp>
        </mc:Choice>
        <mc:Fallback xmlns="">
          <p:sp>
            <p:nvSpPr>
              <p:cNvPr id="5" name="Object 2" descr="羊皮纸"/>
              <p:cNvSpPr txBox="1">
                <a:spLocks noRot="1" noChangeAspect="1" noMove="1" noResize="1" noEditPoints="1" noAdjustHandles="1" noChangeArrowheads="1" noChangeShapeType="1" noTextEdit="1"/>
              </p:cNvSpPr>
              <p:nvPr/>
            </p:nvSpPr>
            <p:spPr bwMode="auto">
              <a:xfrm>
                <a:off x="809625" y="1542930"/>
                <a:ext cx="6002338" cy="4778374"/>
              </a:xfrm>
              <a:prstGeom prst="rect">
                <a:avLst/>
              </a:prstGeom>
              <a:blipFill>
                <a:blip r:embed="rId6"/>
                <a:stretch>
                  <a:fillRect l="-305" b="-4464"/>
                </a:stretch>
              </a:blipFill>
            </p:spPr>
            <p:txBody>
              <a:bodyPr/>
              <a:lstStyle/>
              <a:p>
                <a:r>
                  <a:rPr lang="zh-CN" altLang="en-US">
                    <a:noFill/>
                  </a:rPr>
                  <a:t> </a:t>
                </a:r>
              </a:p>
            </p:txBody>
          </p:sp>
        </mc:Fallback>
      </mc:AlternateContent>
      <p:sp>
        <p:nvSpPr>
          <p:cNvPr id="3" name="文本框 2">
            <a:extLst>
              <a:ext uri="{FF2B5EF4-FFF2-40B4-BE49-F238E27FC236}">
                <a16:creationId xmlns:a16="http://schemas.microsoft.com/office/drawing/2014/main" id="{5A38BE28-E31B-6F2B-C90F-E56F0DA6DE23}"/>
              </a:ext>
            </a:extLst>
          </p:cNvPr>
          <p:cNvSpPr txBox="1"/>
          <p:nvPr/>
        </p:nvSpPr>
        <p:spPr>
          <a:xfrm>
            <a:off x="5098245" y="1542930"/>
            <a:ext cx="1906291" cy="523220"/>
          </a:xfrm>
          <a:prstGeom prst="rect">
            <a:avLst/>
          </a:prstGeom>
          <a:noFill/>
        </p:spPr>
        <p:txBody>
          <a:bodyPr wrap="none" rtlCol="0">
            <a:spAutoFit/>
          </a:bodyPr>
          <a:lstStyle/>
          <a:p>
            <a:r>
              <a:rPr kumimoji="1" lang="en-US" altLang="zh-CN" sz="2800" dirty="0"/>
              <a:t>KKT</a:t>
            </a:r>
            <a:r>
              <a:rPr kumimoji="1" lang="zh-CN" altLang="en-US" sz="2800" dirty="0"/>
              <a:t>条件：</a:t>
            </a: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3D4AB251-82D3-D566-2A02-A78522B3978D}"/>
                  </a:ext>
                </a:extLst>
              </p:cNvPr>
              <p:cNvSpPr txBox="1"/>
              <p:nvPr/>
            </p:nvSpPr>
            <p:spPr>
              <a:xfrm>
                <a:off x="4800600" y="2613773"/>
                <a:ext cx="4067907"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2400" i="1" smtClean="0">
                              <a:latin typeface="Cambria Math" panose="02040503050406030204" pitchFamily="18" charset="0"/>
                            </a:rPr>
                          </m:ctrlPr>
                        </m:sSubPr>
                        <m:e>
                          <m:r>
                            <a:rPr kumimoji="1" lang="en-US" altLang="zh-CN" sz="2400" i="1">
                              <a:latin typeface="Cambria Math" panose="02040503050406030204" pitchFamily="18" charset="0"/>
                              <a:ea typeface="Cambria Math" panose="02040503050406030204" pitchFamily="18" charset="0"/>
                            </a:rPr>
                            <m:t>𝛼</m:t>
                          </m:r>
                        </m:e>
                        <m:sub>
                          <m:r>
                            <a:rPr kumimoji="1" lang="en-US" altLang="zh-CN" sz="2400" i="1">
                              <a:latin typeface="Cambria Math" panose="02040503050406030204" pitchFamily="18" charset="0"/>
                            </a:rPr>
                            <m:t>𝑖</m:t>
                          </m:r>
                        </m:sub>
                      </m:sSub>
                      <m:d>
                        <m:dPr>
                          <m:begChr m:val="["/>
                          <m:endChr m:val="]"/>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1−</m:t>
                          </m:r>
                          <m:sSub>
                            <m:sSubPr>
                              <m:ctrlPr>
                                <a:rPr kumimoji="1" lang="en-US" altLang="zh-CN" sz="2400" i="1">
                                  <a:latin typeface="Cambria Math" panose="02040503050406030204" pitchFamily="18" charset="0"/>
                                </a:rPr>
                              </m:ctrlPr>
                            </m:sSubPr>
                            <m:e>
                              <m:r>
                                <a:rPr kumimoji="1" lang="en-US" altLang="zh-CN" sz="2400" i="1">
                                  <a:latin typeface="Cambria Math" panose="02040503050406030204" pitchFamily="18" charset="0"/>
                                </a:rPr>
                                <m:t>𝑦</m:t>
                              </m:r>
                            </m:e>
                            <m:sub>
                              <m:r>
                                <a:rPr kumimoji="1" lang="en-US" altLang="zh-CN" sz="2400" i="1">
                                  <a:latin typeface="Cambria Math" panose="02040503050406030204" pitchFamily="18" charset="0"/>
                                </a:rPr>
                                <m:t>𝑖</m:t>
                              </m:r>
                            </m:sub>
                          </m:sSub>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𝑤</m:t>
                              </m:r>
                              <m:sSub>
                                <m:sSubPr>
                                  <m:ctrlPr>
                                    <a:rPr kumimoji="1" lang="en-US" altLang="zh-CN" sz="2400" i="1">
                                      <a:latin typeface="Cambria Math" panose="02040503050406030204" pitchFamily="18" charset="0"/>
                                    </a:rPr>
                                  </m:ctrlPr>
                                </m:sSubPr>
                                <m:e>
                                  <m:r>
                                    <a:rPr kumimoji="1" lang="en-US" altLang="zh-CN" sz="2400" i="1">
                                      <a:latin typeface="Cambria Math" panose="02040503050406030204" pitchFamily="18" charset="0"/>
                                      <a:ea typeface="Cambria Math" panose="02040503050406030204" pitchFamily="18" charset="0"/>
                                    </a:rPr>
                                    <m:t>∙</m:t>
                                  </m:r>
                                  <m:r>
                                    <a:rPr kumimoji="1" lang="en-US" altLang="zh-CN" sz="2400" i="1">
                                      <a:latin typeface="Cambria Math" panose="02040503050406030204" pitchFamily="18" charset="0"/>
                                      <a:ea typeface="Cambria Math" panose="02040503050406030204" pitchFamily="18" charset="0"/>
                                    </a:rPr>
                                    <m:t>𝑥</m:t>
                                  </m:r>
                                </m:e>
                                <m:sub>
                                  <m:r>
                                    <a:rPr kumimoji="1" lang="en-US" altLang="zh-CN" sz="2400" i="1">
                                      <a:latin typeface="Cambria Math" panose="02040503050406030204" pitchFamily="18" charset="0"/>
                                    </a:rPr>
                                    <m:t>𝑖</m:t>
                                  </m:r>
                                </m:sub>
                              </m:sSub>
                              <m:r>
                                <a:rPr kumimoji="1" lang="en-US" altLang="zh-CN" sz="2400" i="1">
                                  <a:latin typeface="Cambria Math" panose="02040503050406030204" pitchFamily="18" charset="0"/>
                                </a:rPr>
                                <m:t>+</m:t>
                              </m:r>
                              <m:r>
                                <a:rPr kumimoji="1" lang="en-US" altLang="zh-CN" sz="2400" i="1">
                                  <a:latin typeface="Cambria Math" panose="02040503050406030204" pitchFamily="18" charset="0"/>
                                </a:rPr>
                                <m:t>𝑏</m:t>
                              </m:r>
                            </m:e>
                          </m:d>
                        </m:e>
                      </m:d>
                      <m:r>
                        <a:rPr kumimoji="1" lang="en-US" altLang="zh-CN" sz="2400" b="0" i="1" smtClean="0">
                          <a:latin typeface="Cambria Math" panose="02040503050406030204" pitchFamily="18" charset="0"/>
                        </a:rPr>
                        <m:t>=0</m:t>
                      </m:r>
                    </m:oMath>
                  </m:oMathPara>
                </a14:m>
                <a:endParaRPr lang="zh-CN" altLang="en-US" sz="2400" dirty="0"/>
              </a:p>
            </p:txBody>
          </p:sp>
        </mc:Choice>
        <mc:Fallback xmlns="">
          <p:sp>
            <p:nvSpPr>
              <p:cNvPr id="6" name="文本框 5">
                <a:extLst>
                  <a:ext uri="{FF2B5EF4-FFF2-40B4-BE49-F238E27FC236}">
                    <a16:creationId xmlns:a16="http://schemas.microsoft.com/office/drawing/2014/main" id="{3D4AB251-82D3-D566-2A02-A78522B3978D}"/>
                  </a:ext>
                </a:extLst>
              </p:cNvPr>
              <p:cNvSpPr txBox="1">
                <a:spLocks noRot="1" noChangeAspect="1" noMove="1" noResize="1" noEditPoints="1" noAdjustHandles="1" noChangeArrowheads="1" noChangeShapeType="1" noTextEdit="1"/>
              </p:cNvSpPr>
              <p:nvPr/>
            </p:nvSpPr>
            <p:spPr>
              <a:xfrm>
                <a:off x="4800600" y="2613773"/>
                <a:ext cx="4067907" cy="461665"/>
              </a:xfrm>
              <a:prstGeom prst="rect">
                <a:avLst/>
              </a:prstGeom>
              <a:blipFill>
                <a:blip r:embed="rId7"/>
                <a:stretch>
                  <a:fillRect b="-263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4F48F18B-8851-8D7D-0CE4-5C9711BA136E}"/>
                  </a:ext>
                </a:extLst>
              </p:cNvPr>
              <p:cNvSpPr txBox="1"/>
              <p:nvPr/>
            </p:nvSpPr>
            <p:spPr>
              <a:xfrm>
                <a:off x="5098245" y="2066150"/>
                <a:ext cx="3364523" cy="477888"/>
              </a:xfrm>
              <a:prstGeom prst="rect">
                <a:avLst/>
              </a:prstGeom>
              <a:noFill/>
            </p:spPr>
            <p:txBody>
              <a:bodyPr wrap="square">
                <a:spAutoFit/>
              </a:bodyPr>
              <a:lstStyle/>
              <a:p>
                <a14:m>
                  <m:oMath xmlns:m="http://schemas.openxmlformats.org/officeDocument/2006/math">
                    <m:sSub>
                      <m:sSubPr>
                        <m:ctrlPr>
                          <a:rPr kumimoji="1" lang="en-US" altLang="zh-CN" sz="2400" i="1" smtClean="0">
                            <a:latin typeface="Cambria Math" panose="02040503050406030204" pitchFamily="18" charset="0"/>
                          </a:rPr>
                        </m:ctrlPr>
                      </m:sSubPr>
                      <m:e>
                        <m:r>
                          <m:rPr>
                            <m:sty m:val="p"/>
                          </m:rPr>
                          <a:rPr kumimoji="1" lang="en-US" altLang="zh-CN" sz="2400" i="1" smtClean="0">
                            <a:latin typeface="Cambria Math" panose="02040503050406030204" pitchFamily="18" charset="0"/>
                            <a:ea typeface="Cambria Math" panose="02040503050406030204" pitchFamily="18" charset="0"/>
                          </a:rPr>
                          <m:t>∇</m:t>
                        </m:r>
                      </m:e>
                      <m:sub>
                        <m:r>
                          <a:rPr kumimoji="1" lang="en-US" altLang="zh-CN" sz="2400" b="0" i="1" smtClean="0">
                            <a:latin typeface="Cambria Math" panose="02040503050406030204" pitchFamily="18" charset="0"/>
                          </a:rPr>
                          <m:t>𝑤</m:t>
                        </m:r>
                        <m:r>
                          <a:rPr kumimoji="1" lang="en-US" altLang="zh-CN" sz="2400" b="0" i="1" smtClean="0">
                            <a:latin typeface="Cambria Math" panose="02040503050406030204" pitchFamily="18" charset="0"/>
                          </a:rPr>
                          <m:t>,</m:t>
                        </m:r>
                        <m:r>
                          <a:rPr kumimoji="1" lang="zh-CN" altLang="en-US" sz="2400" b="0" i="1" smtClean="0">
                            <a:latin typeface="Cambria Math" panose="02040503050406030204" pitchFamily="18" charset="0"/>
                          </a:rPr>
                          <m:t> </m:t>
                        </m:r>
                        <m:r>
                          <a:rPr kumimoji="1" lang="en-US" altLang="zh-CN" sz="2400" b="0" i="1" smtClean="0">
                            <a:latin typeface="Cambria Math" panose="02040503050406030204" pitchFamily="18" charset="0"/>
                          </a:rPr>
                          <m:t>𝑏</m:t>
                        </m:r>
                      </m:sub>
                    </m:sSub>
                  </m:oMath>
                </a14:m>
                <a:r>
                  <a:rPr kumimoji="1" lang="en-US" altLang="zh-CN" sz="2400" dirty="0"/>
                  <a:t> </a:t>
                </a:r>
                <a14:m>
                  <m:oMath xmlns:m="http://schemas.openxmlformats.org/officeDocument/2006/math">
                    <m:r>
                      <a:rPr kumimoji="1" lang="en-US" altLang="zh-CN" sz="2400" i="1">
                        <a:latin typeface="Cambria Math" panose="02040503050406030204" pitchFamily="18" charset="0"/>
                      </a:rPr>
                      <m:t>𝐿</m:t>
                    </m:r>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𝑤</m:t>
                        </m:r>
                        <m:r>
                          <a:rPr kumimoji="1" lang="en-US" altLang="zh-CN" sz="2400" i="1">
                            <a:latin typeface="Cambria Math" panose="02040503050406030204" pitchFamily="18" charset="0"/>
                          </a:rPr>
                          <m:t>,</m:t>
                        </m:r>
                        <m:r>
                          <a:rPr kumimoji="1" lang="en-US" altLang="zh-CN" sz="2400" i="1">
                            <a:latin typeface="Cambria Math" panose="02040503050406030204" pitchFamily="18" charset="0"/>
                          </a:rPr>
                          <m:t>𝑏</m:t>
                        </m:r>
                        <m:r>
                          <a:rPr kumimoji="1" lang="en-US" altLang="zh-CN" sz="2400" i="1">
                            <a:latin typeface="Cambria Math" panose="02040503050406030204" pitchFamily="18" charset="0"/>
                          </a:rPr>
                          <m:t>,</m:t>
                        </m:r>
                        <m:r>
                          <a:rPr kumimoji="1" lang="en-US" altLang="zh-CN" sz="2400" i="1">
                            <a:latin typeface="Cambria Math" panose="02040503050406030204" pitchFamily="18" charset="0"/>
                            <a:ea typeface="Cambria Math" panose="02040503050406030204" pitchFamily="18" charset="0"/>
                          </a:rPr>
                          <m:t>𝛼</m:t>
                        </m:r>
                      </m:e>
                    </m:d>
                    <m:r>
                      <a:rPr kumimoji="1" lang="en-US" altLang="zh-CN" sz="2400" b="0" i="1" smtClean="0">
                        <a:latin typeface="Cambria Math" panose="02040503050406030204" pitchFamily="18" charset="0"/>
                        <a:ea typeface="Cambria Math" panose="02040503050406030204" pitchFamily="18" charset="0"/>
                      </a:rPr>
                      <m:t>=0</m:t>
                    </m:r>
                  </m:oMath>
                </a14:m>
                <a:endParaRPr lang="zh-CN" altLang="en-US" sz="2400" dirty="0"/>
              </a:p>
            </p:txBody>
          </p:sp>
        </mc:Choice>
        <mc:Fallback xmlns="">
          <p:sp>
            <p:nvSpPr>
              <p:cNvPr id="7" name="文本框 6">
                <a:extLst>
                  <a:ext uri="{FF2B5EF4-FFF2-40B4-BE49-F238E27FC236}">
                    <a16:creationId xmlns:a16="http://schemas.microsoft.com/office/drawing/2014/main" id="{4F48F18B-8851-8D7D-0CE4-5C9711BA136E}"/>
                  </a:ext>
                </a:extLst>
              </p:cNvPr>
              <p:cNvSpPr txBox="1">
                <a:spLocks noRot="1" noChangeAspect="1" noMove="1" noResize="1" noEditPoints="1" noAdjustHandles="1" noChangeArrowheads="1" noChangeShapeType="1" noTextEdit="1"/>
              </p:cNvSpPr>
              <p:nvPr/>
            </p:nvSpPr>
            <p:spPr>
              <a:xfrm>
                <a:off x="5098245" y="2066150"/>
                <a:ext cx="3364523" cy="477888"/>
              </a:xfrm>
              <a:prstGeom prst="rect">
                <a:avLst/>
              </a:prstGeom>
              <a:blipFill>
                <a:blip r:embed="rId8"/>
                <a:stretch>
                  <a:fillRect l="-37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694404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endParaRPr lang="zh-CN" altLang="en-US"/>
          </a:p>
        </p:txBody>
      </p:sp>
      <p:sp>
        <p:nvSpPr>
          <p:cNvPr id="35845" name="内容占位符 2"/>
          <p:cNvSpPr>
            <a:spLocks noGrp="1"/>
          </p:cNvSpPr>
          <p:nvPr>
            <p:ph idx="1"/>
          </p:nvPr>
        </p:nvSpPr>
        <p:spPr>
          <a:xfrm>
            <a:off x="914400" y="1447800"/>
            <a:ext cx="7772400" cy="5219700"/>
          </a:xfrm>
        </p:spPr>
        <p:txBody>
          <a:bodyPr>
            <a:normAutofit/>
          </a:bodyPr>
          <a:lstStyle/>
          <a:p>
            <a:r>
              <a:rPr lang="zh-CN" altLang="en-US" sz="2800" b="1" dirty="0"/>
              <a:t>分类超平面：</a:t>
            </a:r>
            <a:endParaRPr lang="en-US" altLang="zh-CN" sz="2800" b="1" dirty="0"/>
          </a:p>
          <a:p>
            <a:endParaRPr lang="en-US" altLang="zh-CN" sz="2800" b="1" dirty="0"/>
          </a:p>
          <a:p>
            <a:pPr marL="0" indent="0">
              <a:buNone/>
            </a:pPr>
            <a:endParaRPr lang="en-US" altLang="zh-CN" sz="2000" b="1" dirty="0"/>
          </a:p>
          <a:p>
            <a:r>
              <a:rPr lang="zh-CN" altLang="en-US" sz="2800" b="1" dirty="0"/>
              <a:t>分类决策函数为：</a:t>
            </a:r>
            <a:endParaRPr lang="en-US" altLang="zh-CN" sz="2800" b="1" dirty="0"/>
          </a:p>
          <a:p>
            <a:endParaRPr lang="en-US" altLang="zh-CN" sz="2800" b="1" dirty="0"/>
          </a:p>
          <a:p>
            <a:endParaRPr lang="en-US" altLang="zh-CN" sz="2800" b="1" dirty="0"/>
          </a:p>
          <a:p>
            <a:r>
              <a:rPr lang="zh-CN" altLang="en-US" sz="2800" b="1" dirty="0"/>
              <a:t>其中：</a:t>
            </a:r>
          </a:p>
        </p:txBody>
      </p:sp>
      <p:sp>
        <p:nvSpPr>
          <p:cNvPr id="35846" name="灯片编号占位符 3"/>
          <p:cNvSpPr>
            <a:spLocks noGrp="1"/>
          </p:cNvSpPr>
          <p:nvPr>
            <p:ph type="sldNum" sz="quarter" idx="12"/>
          </p:nvPr>
        </p:nvSpPr>
        <p:spPr>
          <a:noFill/>
        </p:spPr>
        <p:txBody>
          <a:bodyPr/>
          <a:lstStyle/>
          <a:p>
            <a:fld id="{610A0EDE-0B3F-46F9-8CB5-51C19494988E}" type="slidenum">
              <a:rPr lang="en-US" altLang="zh-CN" smtClean="0">
                <a:ea typeface="黑体" pitchFamily="49" charset="-122"/>
              </a:rPr>
              <a:pPr/>
              <a:t>30</a:t>
            </a:fld>
            <a:endParaRPr lang="en-US" altLang="zh-CN">
              <a:ea typeface="黑体" pitchFamily="49" charset="-122"/>
            </a:endParaRPr>
          </a:p>
        </p:txBody>
      </p:sp>
      <mc:AlternateContent xmlns:mc="http://schemas.openxmlformats.org/markup-compatibility/2006" xmlns:a14="http://schemas.microsoft.com/office/drawing/2010/main">
        <mc:Choice Requires="a14">
          <p:sp>
            <p:nvSpPr>
              <p:cNvPr id="35842" name="Object 5" descr="羊皮纸"/>
              <p:cNvSpPr txBox="1"/>
              <p:nvPr/>
            </p:nvSpPr>
            <p:spPr bwMode="auto">
              <a:xfrm>
                <a:off x="2082723" y="3466168"/>
                <a:ext cx="5327650" cy="516597"/>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𝑓</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𝑥</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𝑠𝑖𝑔𝑛</m:t>
                      </m:r>
                      <m:r>
                        <a:rPr lang="zh-CN" altLang="en-US" sz="2800" i="1">
                          <a:solidFill>
                            <a:srgbClr val="000000"/>
                          </a:solidFill>
                          <a:latin typeface="Cambria Math" panose="02040503050406030204" pitchFamily="18" charset="0"/>
                        </a:rPr>
                        <m:t>(</m:t>
                      </m:r>
                      <m:sSup>
                        <m:sSupPr>
                          <m:ctrlPr>
                            <a:rPr lang="zh-CN" altLang="en-US" sz="2800" i="1">
                              <a:solidFill>
                                <a:srgbClr val="000000"/>
                              </a:solidFill>
                              <a:latin typeface="Cambria Math" panose="02040503050406030204" pitchFamily="18" charset="0"/>
                            </a:rPr>
                          </m:ctrlPr>
                        </m:sSupPr>
                        <m:e>
                          <m:r>
                            <a:rPr lang="zh-CN" altLang="en-US" sz="2800" i="1">
                              <a:solidFill>
                                <a:srgbClr val="000000"/>
                              </a:solidFill>
                              <a:latin typeface="Cambria Math" panose="02040503050406030204" pitchFamily="18" charset="0"/>
                            </a:rPr>
                            <m:t>𝑤</m:t>
                          </m:r>
                        </m:e>
                        <m:sup>
                          <m:r>
                            <a:rPr lang="zh-CN" altLang="en-US" sz="2800" i="1">
                              <a:solidFill>
                                <a:srgbClr val="000000"/>
                              </a:solidFill>
                              <a:latin typeface="Cambria Math" panose="02040503050406030204" pitchFamily="18" charset="0"/>
                            </a:rPr>
                            <m:t>∗</m:t>
                          </m:r>
                        </m:sup>
                      </m:sSup>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𝑥</m:t>
                      </m:r>
                      <m:r>
                        <a:rPr lang="zh-CN" altLang="en-US" sz="2800" i="1">
                          <a:solidFill>
                            <a:srgbClr val="000000"/>
                          </a:solidFill>
                          <a:latin typeface="Cambria Math" panose="02040503050406030204" pitchFamily="18" charset="0"/>
                        </a:rPr>
                        <m:t>+</m:t>
                      </m:r>
                      <m:sSup>
                        <m:sSupPr>
                          <m:ctrlPr>
                            <a:rPr lang="zh-CN" altLang="en-US" sz="2800" i="1">
                              <a:solidFill>
                                <a:srgbClr val="000000"/>
                              </a:solidFill>
                              <a:latin typeface="Cambria Math" panose="02040503050406030204" pitchFamily="18" charset="0"/>
                            </a:rPr>
                          </m:ctrlPr>
                        </m:sSupPr>
                        <m:e>
                          <m:r>
                            <a:rPr lang="zh-CN" altLang="en-US" sz="2800" i="1">
                              <a:solidFill>
                                <a:srgbClr val="000000"/>
                              </a:solidFill>
                              <a:latin typeface="Cambria Math" panose="02040503050406030204" pitchFamily="18" charset="0"/>
                            </a:rPr>
                            <m:t>𝑏</m:t>
                          </m:r>
                        </m:e>
                        <m:sup>
                          <m:r>
                            <a:rPr lang="zh-CN" altLang="en-US" sz="2800" i="1">
                              <a:solidFill>
                                <a:srgbClr val="000000"/>
                              </a:solidFill>
                              <a:latin typeface="Cambria Math" panose="02040503050406030204" pitchFamily="18" charset="0"/>
                            </a:rPr>
                            <m:t>∗</m:t>
                          </m:r>
                        </m:sup>
                      </m:sSup>
                      <m:r>
                        <a:rPr lang="zh-CN" altLang="en-US" sz="2800" i="1">
                          <a:solidFill>
                            <a:srgbClr val="000000"/>
                          </a:solidFill>
                          <a:latin typeface="Cambria Math" panose="02040503050406030204" pitchFamily="18" charset="0"/>
                        </a:rPr>
                        <m:t>)</m:t>
                      </m:r>
                    </m:oMath>
                  </m:oMathPara>
                </a14:m>
                <a:endParaRPr lang="zh-CN" altLang="en-US" sz="2800" dirty="0"/>
              </a:p>
            </p:txBody>
          </p:sp>
        </mc:Choice>
        <mc:Fallback xmlns="">
          <p:sp>
            <p:nvSpPr>
              <p:cNvPr id="35842" name="Object 5" descr="羊皮纸"/>
              <p:cNvSpPr txBox="1">
                <a:spLocks noRot="1" noChangeAspect="1" noMove="1" noResize="1" noEditPoints="1" noAdjustHandles="1" noChangeArrowheads="1" noChangeShapeType="1" noTextEdit="1"/>
              </p:cNvSpPr>
              <p:nvPr/>
            </p:nvSpPr>
            <p:spPr bwMode="auto">
              <a:xfrm>
                <a:off x="2082723" y="3466168"/>
                <a:ext cx="5327650" cy="516597"/>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5843" name="Object 5" descr="羊皮纸"/>
              <p:cNvSpPr txBox="1"/>
              <p:nvPr/>
            </p:nvSpPr>
            <p:spPr bwMode="auto">
              <a:xfrm>
                <a:off x="2133600" y="2187576"/>
                <a:ext cx="3868738" cy="516596"/>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sSup>
                        <m:sSupPr>
                          <m:ctrlPr>
                            <a:rPr lang="zh-CN" altLang="en-US" sz="2800" i="1">
                              <a:solidFill>
                                <a:srgbClr val="000000"/>
                              </a:solidFill>
                              <a:latin typeface="Cambria Math" panose="02040503050406030204" pitchFamily="18" charset="0"/>
                            </a:rPr>
                          </m:ctrlPr>
                        </m:sSupPr>
                        <m:e>
                          <m:r>
                            <a:rPr lang="zh-CN" altLang="en-US" sz="2800" i="1">
                              <a:solidFill>
                                <a:srgbClr val="000000"/>
                              </a:solidFill>
                              <a:latin typeface="Cambria Math" panose="02040503050406030204" pitchFamily="18" charset="0"/>
                            </a:rPr>
                            <m:t>𝑤</m:t>
                          </m:r>
                        </m:e>
                        <m:sup>
                          <m:r>
                            <a:rPr lang="zh-CN" altLang="en-US" sz="2800" i="1">
                              <a:solidFill>
                                <a:srgbClr val="000000"/>
                              </a:solidFill>
                              <a:latin typeface="Cambria Math" panose="02040503050406030204" pitchFamily="18" charset="0"/>
                            </a:rPr>
                            <m:t>∗</m:t>
                          </m:r>
                        </m:sup>
                      </m:sSup>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𝑥</m:t>
                      </m:r>
                      <m:r>
                        <a:rPr lang="zh-CN" altLang="en-US" sz="2800" i="1">
                          <a:solidFill>
                            <a:srgbClr val="000000"/>
                          </a:solidFill>
                          <a:latin typeface="Cambria Math" panose="02040503050406030204" pitchFamily="18" charset="0"/>
                        </a:rPr>
                        <m:t>+</m:t>
                      </m:r>
                      <m:sSup>
                        <m:sSupPr>
                          <m:ctrlPr>
                            <a:rPr lang="zh-CN" altLang="en-US" sz="2800" i="1">
                              <a:solidFill>
                                <a:srgbClr val="000000"/>
                              </a:solidFill>
                              <a:latin typeface="Cambria Math" panose="02040503050406030204" pitchFamily="18" charset="0"/>
                            </a:rPr>
                          </m:ctrlPr>
                        </m:sSupPr>
                        <m:e>
                          <m:r>
                            <a:rPr lang="zh-CN" altLang="en-US" sz="2800" i="1">
                              <a:solidFill>
                                <a:srgbClr val="000000"/>
                              </a:solidFill>
                              <a:latin typeface="Cambria Math" panose="02040503050406030204" pitchFamily="18" charset="0"/>
                            </a:rPr>
                            <m:t>𝑏</m:t>
                          </m:r>
                        </m:e>
                        <m:sup>
                          <m:r>
                            <a:rPr lang="zh-CN" altLang="en-US" sz="2800" i="1">
                              <a:solidFill>
                                <a:srgbClr val="000000"/>
                              </a:solidFill>
                              <a:latin typeface="Cambria Math" panose="02040503050406030204" pitchFamily="18" charset="0"/>
                            </a:rPr>
                            <m:t>∗</m:t>
                          </m:r>
                        </m:sup>
                      </m:sSup>
                      <m:r>
                        <a:rPr lang="zh-CN" altLang="en-US" sz="2800" i="1">
                          <a:solidFill>
                            <a:srgbClr val="000000"/>
                          </a:solidFill>
                          <a:latin typeface="Cambria Math" panose="02040503050406030204" pitchFamily="18" charset="0"/>
                        </a:rPr>
                        <m:t>=0</m:t>
                      </m:r>
                    </m:oMath>
                  </m:oMathPara>
                </a14:m>
                <a:endParaRPr lang="zh-CN" altLang="en-US" sz="2800" dirty="0"/>
              </a:p>
            </p:txBody>
          </p:sp>
        </mc:Choice>
        <mc:Fallback xmlns="">
          <p:sp>
            <p:nvSpPr>
              <p:cNvPr id="35843" name="Object 5" descr="羊皮纸"/>
              <p:cNvSpPr txBox="1">
                <a:spLocks noRot="1" noChangeAspect="1" noMove="1" noResize="1" noEditPoints="1" noAdjustHandles="1" noChangeArrowheads="1" noChangeShapeType="1" noTextEdit="1"/>
              </p:cNvSpPr>
              <p:nvPr/>
            </p:nvSpPr>
            <p:spPr bwMode="auto">
              <a:xfrm>
                <a:off x="2133600" y="2187576"/>
                <a:ext cx="3868738" cy="516596"/>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F5119AC7-494D-4518-B8ED-3D4EA8BA5A1E}"/>
                  </a:ext>
                </a:extLst>
              </p:cNvPr>
              <p:cNvSpPr txBox="1"/>
              <p:nvPr/>
            </p:nvSpPr>
            <p:spPr>
              <a:xfrm>
                <a:off x="869800" y="4431874"/>
                <a:ext cx="4572000" cy="113082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zh-CN" altLang="en-US" sz="2400" i="1" smtClean="0">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𝑤</m:t>
                          </m:r>
                        </m:e>
                        <m:sup>
                          <m:r>
                            <a:rPr lang="zh-CN" altLang="en-US" sz="2400" i="1">
                              <a:solidFill>
                                <a:srgbClr val="000000"/>
                              </a:solidFill>
                              <a:latin typeface="Cambria Math" panose="02040503050406030204" pitchFamily="18" charset="0"/>
                            </a:rPr>
                            <m:t>∗</m:t>
                          </m:r>
                        </m:sup>
                      </m:sSup>
                      <m:r>
                        <a:rPr lang="zh-CN" altLang="en-US" sz="2400" i="1">
                          <a:solidFill>
                            <a:srgbClr val="000000"/>
                          </a:solidFill>
                          <a:latin typeface="Cambria Math" panose="02040503050406030204" pitchFamily="18" charset="0"/>
                        </a:rPr>
                        <m:t>=</m:t>
                      </m:r>
                      <m:nary>
                        <m:naryPr>
                          <m:chr m:val="∑"/>
                          <m:ctrlPr>
                            <a:rPr lang="zh-CN" altLang="en-US" sz="2400" i="1">
                              <a:solidFill>
                                <a:srgbClr val="000000"/>
                              </a:solidFill>
                              <a:latin typeface="Cambria Math" panose="02040503050406030204" pitchFamily="18" charset="0"/>
                            </a:rPr>
                          </m:ctrlPr>
                        </m:naryPr>
                        <m:sub>
                          <m:r>
                            <a:rPr lang="zh-CN" altLang="en-US" sz="2400" i="1">
                              <a:solidFill>
                                <a:srgbClr val="000000"/>
                              </a:solidFill>
                              <a:latin typeface="Cambria Math" panose="02040503050406030204" pitchFamily="18" charset="0"/>
                            </a:rPr>
                            <m:t>𝑖</m:t>
                          </m:r>
                          <m:r>
                            <a:rPr lang="zh-CN" altLang="en-US" sz="2400" i="1">
                              <a:solidFill>
                                <a:srgbClr val="000000"/>
                              </a:solidFill>
                              <a:latin typeface="Cambria Math" panose="02040503050406030204" pitchFamily="18" charset="0"/>
                            </a:rPr>
                            <m:t>=1</m:t>
                          </m:r>
                        </m:sub>
                        <m:sup>
                          <m:r>
                            <a:rPr lang="zh-CN" altLang="en-US" sz="2400" i="1">
                              <a:solidFill>
                                <a:srgbClr val="000000"/>
                              </a:solidFill>
                              <a:latin typeface="Cambria Math" panose="02040503050406030204" pitchFamily="18" charset="0"/>
                            </a:rPr>
                            <m:t>𝑁</m:t>
                          </m:r>
                        </m:sup>
                        <m:e>
                          <m:sSubSup>
                            <m:sSubSupPr>
                              <m:ctrlPr>
                                <a:rPr lang="zh-CN" altLang="en-US" sz="2400" i="1">
                                  <a:solidFill>
                                    <a:srgbClr val="000000"/>
                                  </a:solidFill>
                                  <a:latin typeface="Cambria Math" panose="02040503050406030204" pitchFamily="18" charset="0"/>
                                </a:rPr>
                              </m:ctrlPr>
                            </m:sSubSupPr>
                            <m:e>
                              <m:r>
                                <a:rPr lang="zh-CN" altLang="en-US" sz="2400" i="1">
                                  <a:solidFill>
                                    <a:srgbClr val="000000"/>
                                  </a:solidFill>
                                  <a:latin typeface="Cambria Math" panose="02040503050406030204" pitchFamily="18" charset="0"/>
                                </a:rPr>
                                <m:t>𝛼</m:t>
                              </m:r>
                            </m:e>
                            <m:sub>
                              <m:r>
                                <a:rPr lang="zh-CN" altLang="en-US" sz="2400" i="1">
                                  <a:solidFill>
                                    <a:srgbClr val="000000"/>
                                  </a:solidFill>
                                  <a:latin typeface="Cambria Math" panose="02040503050406030204" pitchFamily="18" charset="0"/>
                                </a:rPr>
                                <m:t>𝑖</m:t>
                              </m:r>
                            </m:sub>
                            <m:sup>
                              <m:r>
                                <a:rPr lang="zh-CN" altLang="en-US" sz="2400" i="1">
                                  <a:solidFill>
                                    <a:srgbClr val="000000"/>
                                  </a:solidFill>
                                  <a:latin typeface="Cambria Math" panose="02040503050406030204" pitchFamily="18" charset="0"/>
                                </a:rPr>
                                <m:t>∗</m:t>
                              </m:r>
                            </m:sup>
                          </m:sSubSup>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𝑦</m:t>
                              </m:r>
                            </m:e>
                            <m:sub>
                              <m:r>
                                <a:rPr lang="zh-CN" altLang="en-US" sz="2400" i="1">
                                  <a:solidFill>
                                    <a:srgbClr val="000000"/>
                                  </a:solidFill>
                                  <a:latin typeface="Cambria Math" panose="02040503050406030204" pitchFamily="18" charset="0"/>
                                </a:rPr>
                                <m:t>𝑖</m:t>
                              </m:r>
                            </m:sub>
                          </m:sSub>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𝑥</m:t>
                              </m:r>
                            </m:e>
                            <m:sub>
                              <m:r>
                                <a:rPr lang="zh-CN" altLang="en-US" sz="2400" i="1">
                                  <a:solidFill>
                                    <a:srgbClr val="000000"/>
                                  </a:solidFill>
                                  <a:latin typeface="Cambria Math" panose="02040503050406030204" pitchFamily="18" charset="0"/>
                                </a:rPr>
                                <m:t>𝑖</m:t>
                              </m:r>
                            </m:sub>
                          </m:sSub>
                        </m:e>
                      </m:nary>
                    </m:oMath>
                  </m:oMathPara>
                </a14:m>
                <a:endParaRPr lang="zh-CN" altLang="en-US" sz="2400" dirty="0"/>
              </a:p>
            </p:txBody>
          </p:sp>
        </mc:Choice>
        <mc:Fallback xmlns="">
          <p:sp>
            <p:nvSpPr>
              <p:cNvPr id="12" name="文本框 11">
                <a:extLst>
                  <a:ext uri="{FF2B5EF4-FFF2-40B4-BE49-F238E27FC236}">
                    <a16:creationId xmlns:a16="http://schemas.microsoft.com/office/drawing/2014/main" id="{F5119AC7-494D-4518-B8ED-3D4EA8BA5A1E}"/>
                  </a:ext>
                </a:extLst>
              </p:cNvPr>
              <p:cNvSpPr txBox="1">
                <a:spLocks noRot="1" noChangeAspect="1" noMove="1" noResize="1" noEditPoints="1" noAdjustHandles="1" noChangeArrowheads="1" noChangeShapeType="1" noTextEdit="1"/>
              </p:cNvSpPr>
              <p:nvPr/>
            </p:nvSpPr>
            <p:spPr>
              <a:xfrm>
                <a:off x="869800" y="4431874"/>
                <a:ext cx="4572000" cy="1130822"/>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E558DE42-D8ED-45BC-9B02-DDC30F36001E}"/>
                  </a:ext>
                </a:extLst>
              </p:cNvPr>
              <p:cNvSpPr txBox="1"/>
              <p:nvPr/>
            </p:nvSpPr>
            <p:spPr>
              <a:xfrm>
                <a:off x="1555594" y="5368574"/>
                <a:ext cx="4572000" cy="113082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zh-CN" altLang="en-US" sz="2400" i="1" smtClean="0">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𝑏</m:t>
                          </m:r>
                        </m:e>
                        <m:sup>
                          <m:r>
                            <a:rPr lang="zh-CN" altLang="en-US" sz="2400" i="1">
                              <a:solidFill>
                                <a:srgbClr val="000000"/>
                              </a:solidFill>
                              <a:latin typeface="Cambria Math" panose="02040503050406030204" pitchFamily="18" charset="0"/>
                            </a:rPr>
                            <m:t>∗</m:t>
                          </m:r>
                        </m:sup>
                      </m:sSup>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𝑦</m:t>
                          </m:r>
                        </m:e>
                        <m:sub>
                          <m:r>
                            <a:rPr lang="zh-CN" altLang="en-US" sz="2400" i="1">
                              <a:solidFill>
                                <a:srgbClr val="000000"/>
                              </a:solidFill>
                              <a:latin typeface="Cambria Math" panose="02040503050406030204" pitchFamily="18" charset="0"/>
                            </a:rPr>
                            <m:t>𝑗</m:t>
                          </m:r>
                        </m:sub>
                      </m:sSub>
                      <m:r>
                        <a:rPr lang="zh-CN" altLang="en-US" sz="2400" i="1">
                          <a:solidFill>
                            <a:srgbClr val="000000"/>
                          </a:solidFill>
                          <a:latin typeface="Cambria Math" panose="02040503050406030204" pitchFamily="18" charset="0"/>
                        </a:rPr>
                        <m:t>−</m:t>
                      </m:r>
                      <m:nary>
                        <m:naryPr>
                          <m:chr m:val="∑"/>
                          <m:ctrlPr>
                            <a:rPr lang="zh-CN" altLang="en-US" sz="2400" i="1">
                              <a:solidFill>
                                <a:srgbClr val="000000"/>
                              </a:solidFill>
                              <a:latin typeface="Cambria Math" panose="02040503050406030204" pitchFamily="18" charset="0"/>
                            </a:rPr>
                          </m:ctrlPr>
                        </m:naryPr>
                        <m:sub>
                          <m:r>
                            <a:rPr lang="zh-CN" altLang="en-US" sz="2400" i="1">
                              <a:solidFill>
                                <a:srgbClr val="000000"/>
                              </a:solidFill>
                              <a:latin typeface="Cambria Math" panose="02040503050406030204" pitchFamily="18" charset="0"/>
                            </a:rPr>
                            <m:t>𝑖</m:t>
                          </m:r>
                          <m:r>
                            <a:rPr lang="zh-CN" altLang="en-US" sz="2400" i="1">
                              <a:solidFill>
                                <a:srgbClr val="000000"/>
                              </a:solidFill>
                              <a:latin typeface="Cambria Math" panose="02040503050406030204" pitchFamily="18" charset="0"/>
                            </a:rPr>
                            <m:t>=1</m:t>
                          </m:r>
                        </m:sub>
                        <m:sup>
                          <m:r>
                            <a:rPr lang="zh-CN" altLang="en-US" sz="2400" i="1">
                              <a:solidFill>
                                <a:srgbClr val="000000"/>
                              </a:solidFill>
                              <a:latin typeface="Cambria Math" panose="02040503050406030204" pitchFamily="18" charset="0"/>
                            </a:rPr>
                            <m:t>𝑁</m:t>
                          </m:r>
                        </m:sup>
                        <m:e>
                          <m:sSubSup>
                            <m:sSubSupPr>
                              <m:ctrlPr>
                                <a:rPr lang="zh-CN" altLang="en-US" sz="2400" i="1">
                                  <a:solidFill>
                                    <a:srgbClr val="000000"/>
                                  </a:solidFill>
                                  <a:latin typeface="Cambria Math" panose="02040503050406030204" pitchFamily="18" charset="0"/>
                                </a:rPr>
                              </m:ctrlPr>
                            </m:sSubSupPr>
                            <m:e>
                              <m:r>
                                <a:rPr lang="zh-CN" altLang="en-US" sz="2400" i="1">
                                  <a:solidFill>
                                    <a:srgbClr val="000000"/>
                                  </a:solidFill>
                                  <a:latin typeface="Cambria Math" panose="02040503050406030204" pitchFamily="18" charset="0"/>
                                </a:rPr>
                                <m:t>𝛼</m:t>
                              </m:r>
                            </m:e>
                            <m:sub>
                              <m:r>
                                <a:rPr lang="zh-CN" altLang="en-US" sz="2400" i="1">
                                  <a:solidFill>
                                    <a:srgbClr val="000000"/>
                                  </a:solidFill>
                                  <a:latin typeface="Cambria Math" panose="02040503050406030204" pitchFamily="18" charset="0"/>
                                </a:rPr>
                                <m:t>𝑖</m:t>
                              </m:r>
                            </m:sub>
                            <m:sup>
                              <m:r>
                                <a:rPr lang="zh-CN" altLang="en-US" sz="2400" i="1">
                                  <a:solidFill>
                                    <a:srgbClr val="000000"/>
                                  </a:solidFill>
                                  <a:latin typeface="Cambria Math" panose="02040503050406030204" pitchFamily="18" charset="0"/>
                                </a:rPr>
                                <m:t>∗</m:t>
                              </m:r>
                            </m:sup>
                          </m:sSubSup>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𝑦</m:t>
                              </m:r>
                            </m:e>
                            <m:sub>
                              <m:r>
                                <a:rPr lang="zh-CN" altLang="en-US" sz="2400" i="1">
                                  <a:solidFill>
                                    <a:srgbClr val="000000"/>
                                  </a:solidFill>
                                  <a:latin typeface="Cambria Math" panose="02040503050406030204" pitchFamily="18" charset="0"/>
                                </a:rPr>
                                <m:t>𝑖</m:t>
                              </m:r>
                            </m:sub>
                          </m:sSub>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𝑥</m:t>
                              </m:r>
                            </m:e>
                            <m:sub>
                              <m:r>
                                <a:rPr lang="zh-CN" altLang="en-US" sz="2400" i="1">
                                  <a:solidFill>
                                    <a:srgbClr val="000000"/>
                                  </a:solidFill>
                                  <a:latin typeface="Cambria Math" panose="02040503050406030204" pitchFamily="18" charset="0"/>
                                </a:rPr>
                                <m:t>𝑖</m:t>
                              </m:r>
                            </m:sub>
                          </m:sSub>
                          <m:r>
                            <a:rPr lang="zh-CN" altLang="en-US" sz="2400" i="1">
                              <a:solidFill>
                                <a:srgbClr val="000000"/>
                              </a:solidFill>
                              <a:latin typeface="Cambria Math" panose="02040503050406030204" pitchFamily="18" charset="0"/>
                            </a:rPr>
                            <m:t>⋅</m:t>
                          </m:r>
                        </m:e>
                      </m:nary>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𝑥</m:t>
                          </m:r>
                        </m:e>
                        <m:sub>
                          <m:r>
                            <a:rPr lang="zh-CN" altLang="en-US" sz="2400" i="1">
                              <a:solidFill>
                                <a:srgbClr val="000000"/>
                              </a:solidFill>
                              <a:latin typeface="Cambria Math" panose="02040503050406030204" pitchFamily="18" charset="0"/>
                            </a:rPr>
                            <m:t>𝑗</m:t>
                          </m:r>
                        </m:sub>
                      </m:sSub>
                      <m:r>
                        <a:rPr lang="zh-CN" altLang="en-US" sz="2400" i="1">
                          <a:solidFill>
                            <a:srgbClr val="000000"/>
                          </a:solidFill>
                          <a:latin typeface="Cambria Math" panose="02040503050406030204" pitchFamily="18" charset="0"/>
                        </a:rPr>
                        <m:t>)</m:t>
                      </m:r>
                    </m:oMath>
                  </m:oMathPara>
                </a14:m>
                <a:endParaRPr lang="zh-CN" altLang="en-US" sz="2400" dirty="0"/>
              </a:p>
            </p:txBody>
          </p:sp>
        </mc:Choice>
        <mc:Fallback xmlns="">
          <p:sp>
            <p:nvSpPr>
              <p:cNvPr id="14" name="文本框 13">
                <a:extLst>
                  <a:ext uri="{FF2B5EF4-FFF2-40B4-BE49-F238E27FC236}">
                    <a16:creationId xmlns:a16="http://schemas.microsoft.com/office/drawing/2014/main" id="{E558DE42-D8ED-45BC-9B02-DDC30F36001E}"/>
                  </a:ext>
                </a:extLst>
              </p:cNvPr>
              <p:cNvSpPr txBox="1">
                <a:spLocks noRot="1" noChangeAspect="1" noMove="1" noResize="1" noEditPoints="1" noAdjustHandles="1" noChangeArrowheads="1" noChangeShapeType="1" noTextEdit="1"/>
              </p:cNvSpPr>
              <p:nvPr/>
            </p:nvSpPr>
            <p:spPr>
              <a:xfrm>
                <a:off x="1555594" y="5368574"/>
                <a:ext cx="4572000" cy="1130822"/>
              </a:xfrm>
              <a:prstGeom prst="rect">
                <a:avLst/>
              </a:prstGeom>
              <a:blipFill>
                <a:blip r:embed="rId5"/>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0907664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3A1F73E9-5C11-9BE5-C8CC-6D37DF96E274}"/>
              </a:ext>
            </a:extLst>
          </p:cNvPr>
          <p:cNvSpPr/>
          <p:nvPr/>
        </p:nvSpPr>
        <p:spPr>
          <a:xfrm>
            <a:off x="2186434" y="2376762"/>
            <a:ext cx="4180112" cy="3285477"/>
          </a:xfrm>
          <a:prstGeom prst="rect">
            <a:avLst/>
          </a:prstGeom>
          <a:solidFill>
            <a:srgbClr val="F4B39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 name="标题 1">
            <a:extLst>
              <a:ext uri="{FF2B5EF4-FFF2-40B4-BE49-F238E27FC236}">
                <a16:creationId xmlns:a16="http://schemas.microsoft.com/office/drawing/2014/main" id="{5BF1C3BF-6B60-403F-802A-F9F4D97D1074}"/>
              </a:ext>
            </a:extLst>
          </p:cNvPr>
          <p:cNvSpPr>
            <a:spLocks noGrp="1"/>
          </p:cNvSpPr>
          <p:nvPr>
            <p:ph type="title"/>
          </p:nvPr>
        </p:nvSpPr>
        <p:spPr/>
        <p:txBody>
          <a:bodyPr/>
          <a:lstStyle/>
          <a:p>
            <a:endParaRPr lang="zh-CN" altLang="en-US"/>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C81A92B0-FFEB-4A8E-A375-01BD612AA936}"/>
                  </a:ext>
                </a:extLst>
              </p:cNvPr>
              <p:cNvSpPr>
                <a:spLocks noGrp="1"/>
              </p:cNvSpPr>
              <p:nvPr>
                <p:ph sz="quarter" idx="1"/>
              </p:nvPr>
            </p:nvSpPr>
            <p:spPr/>
            <p:txBody>
              <a:bodyPr>
                <a:normAutofit/>
              </a:bodyPr>
              <a:lstStyle/>
              <a:p>
                <a14:m>
                  <m:oMath xmlns:m="http://schemas.openxmlformats.org/officeDocument/2006/math">
                    <m:r>
                      <a:rPr lang="zh-CN" altLang="en-US" sz="2800" i="1">
                        <a:solidFill>
                          <a:srgbClr val="000000"/>
                        </a:solidFill>
                        <a:latin typeface="Cambria Math" panose="02040503050406030204" pitchFamily="18" charset="0"/>
                      </a:rPr>
                      <m:t>与</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𝛼</m:t>
                        </m:r>
                      </m:e>
                      <m:sub>
                        <m:r>
                          <a:rPr lang="zh-CN" altLang="en-US" sz="2800" i="1">
                            <a:solidFill>
                              <a:srgbClr val="000000"/>
                            </a:solidFill>
                            <a:latin typeface="Cambria Math" panose="02040503050406030204" pitchFamily="18" charset="0"/>
                          </a:rPr>
                          <m:t>𝑖</m:t>
                        </m:r>
                      </m:sub>
                    </m:sSub>
                    <m:r>
                      <a:rPr lang="zh-CN" altLang="en-US" sz="2800" i="1">
                        <a:solidFill>
                          <a:srgbClr val="000000"/>
                        </a:solidFill>
                        <a:latin typeface="Cambria Math" panose="02040503050406030204" pitchFamily="18" charset="0"/>
                      </a:rPr>
                      <m:t>&gt;0</m:t>
                    </m:r>
                    <m:r>
                      <a:rPr lang="zh-CN" altLang="en-US" sz="2800" i="1">
                        <a:solidFill>
                          <a:srgbClr val="000000"/>
                        </a:solidFill>
                        <a:latin typeface="Cambria Math" panose="02040503050406030204" pitchFamily="18" charset="0"/>
                      </a:rPr>
                      <m:t>对应的实例</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𝑥</m:t>
                        </m:r>
                      </m:e>
                      <m:sub>
                        <m:r>
                          <a:rPr lang="zh-CN" altLang="en-US" sz="2800" i="1">
                            <a:solidFill>
                              <a:srgbClr val="000000"/>
                            </a:solidFill>
                            <a:latin typeface="Cambria Math" panose="02040503050406030204" pitchFamily="18" charset="0"/>
                          </a:rPr>
                          <m:t>𝑖</m:t>
                        </m:r>
                      </m:sub>
                    </m:sSub>
                    <m:r>
                      <a:rPr lang="zh-CN" altLang="en-US" sz="2800" i="1">
                        <a:solidFill>
                          <a:srgbClr val="000000"/>
                        </a:solidFill>
                        <a:latin typeface="Cambria Math" panose="02040503050406030204" pitchFamily="18" charset="0"/>
                      </a:rPr>
                      <m:t>就是支持向量。</m:t>
                    </m:r>
                  </m:oMath>
                </a14:m>
                <a:endParaRPr lang="zh-CN" altLang="en-US" sz="3600" dirty="0"/>
              </a:p>
            </p:txBody>
          </p:sp>
        </mc:Choice>
        <mc:Fallback xmlns="">
          <p:sp>
            <p:nvSpPr>
              <p:cNvPr id="3" name="内容占位符 2">
                <a:extLst>
                  <a:ext uri="{FF2B5EF4-FFF2-40B4-BE49-F238E27FC236}">
                    <a16:creationId xmlns:a16="http://schemas.microsoft.com/office/drawing/2014/main" id="{C81A92B0-FFEB-4A8E-A375-01BD612AA936}"/>
                  </a:ext>
                </a:extLst>
              </p:cNvPr>
              <p:cNvSpPr>
                <a:spLocks noGrp="1" noRot="1" noChangeAspect="1" noMove="1" noResize="1" noEditPoints="1" noAdjustHandles="1" noChangeArrowheads="1" noChangeShapeType="1" noTextEdit="1"/>
              </p:cNvSpPr>
              <p:nvPr>
                <p:ph sz="quarter" idx="1"/>
              </p:nvPr>
            </p:nvSpPr>
            <p:spPr>
              <a:blipFill>
                <a:blip r:embed="rId3"/>
                <a:stretch>
                  <a:fillRect/>
                </a:stretch>
              </a:blipFill>
            </p:spPr>
            <p:txBody>
              <a:bodyPr/>
              <a:lstStyle/>
              <a:p>
                <a:r>
                  <a:rPr lang="zh-CN" altLang="en-US">
                    <a:noFill/>
                  </a:rPr>
                  <a:t> </a:t>
                </a:r>
              </a:p>
            </p:txBody>
          </p:sp>
        </mc:Fallback>
      </mc:AlternateContent>
      <p:cxnSp>
        <p:nvCxnSpPr>
          <p:cNvPr id="5" name="直接连接符 4">
            <a:extLst>
              <a:ext uri="{FF2B5EF4-FFF2-40B4-BE49-F238E27FC236}">
                <a16:creationId xmlns:a16="http://schemas.microsoft.com/office/drawing/2014/main" id="{DAF3FE3F-1233-458E-99A4-C6A20E22433E}"/>
              </a:ext>
            </a:extLst>
          </p:cNvPr>
          <p:cNvCxnSpPr/>
          <p:nvPr/>
        </p:nvCxnSpPr>
        <p:spPr>
          <a:xfrm>
            <a:off x="2186434" y="4010686"/>
            <a:ext cx="4180113"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 name="直接连接符 5">
            <a:extLst>
              <a:ext uri="{FF2B5EF4-FFF2-40B4-BE49-F238E27FC236}">
                <a16:creationId xmlns:a16="http://schemas.microsoft.com/office/drawing/2014/main" id="{4CC308AA-CC16-4BDA-83B8-B0865124EB12}"/>
              </a:ext>
            </a:extLst>
          </p:cNvPr>
          <p:cNvCxnSpPr/>
          <p:nvPr/>
        </p:nvCxnSpPr>
        <p:spPr>
          <a:xfrm>
            <a:off x="1615598" y="1978415"/>
            <a:ext cx="5277394"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7" name="文本框 6">
            <a:extLst>
              <a:ext uri="{FF2B5EF4-FFF2-40B4-BE49-F238E27FC236}">
                <a16:creationId xmlns:a16="http://schemas.microsoft.com/office/drawing/2014/main" id="{BB62933D-2B61-42BC-A723-56F17A50934D}"/>
              </a:ext>
            </a:extLst>
          </p:cNvPr>
          <p:cNvSpPr txBox="1"/>
          <p:nvPr/>
        </p:nvSpPr>
        <p:spPr>
          <a:xfrm>
            <a:off x="6997498" y="1452635"/>
            <a:ext cx="1097280" cy="584775"/>
          </a:xfrm>
          <a:prstGeom prst="rect">
            <a:avLst/>
          </a:prstGeom>
          <a:noFill/>
        </p:spPr>
        <p:txBody>
          <a:bodyPr wrap="square" rtlCol="0">
            <a:spAutoFit/>
          </a:bodyPr>
          <a:lstStyle/>
          <a:p>
            <a:r>
              <a:rPr lang="en-US" altLang="zh-CN" sz="3200" b="1" dirty="0">
                <a:solidFill>
                  <a:srgbClr val="FF0000"/>
                </a:solidFill>
                <a:latin typeface="+mn-ea"/>
              </a:rPr>
              <a:t>???</a:t>
            </a:r>
            <a:endParaRPr lang="zh-CN" altLang="en-US" b="1" dirty="0">
              <a:solidFill>
                <a:srgbClr val="FF0000"/>
              </a:solidFill>
              <a:latin typeface="+mn-ea"/>
            </a:endParaRPr>
          </a:p>
        </p:txBody>
      </p:sp>
      <p:sp>
        <p:nvSpPr>
          <p:cNvPr id="9" name="文本框 8">
            <a:extLst>
              <a:ext uri="{FF2B5EF4-FFF2-40B4-BE49-F238E27FC236}">
                <a16:creationId xmlns:a16="http://schemas.microsoft.com/office/drawing/2014/main" id="{0ACDD478-0322-6AA7-B1E8-7DE01035C7FA}"/>
              </a:ext>
            </a:extLst>
          </p:cNvPr>
          <p:cNvSpPr txBox="1"/>
          <p:nvPr/>
        </p:nvSpPr>
        <p:spPr>
          <a:xfrm>
            <a:off x="2290649" y="2424020"/>
            <a:ext cx="1906291" cy="523220"/>
          </a:xfrm>
          <a:prstGeom prst="rect">
            <a:avLst/>
          </a:prstGeom>
          <a:noFill/>
        </p:spPr>
        <p:txBody>
          <a:bodyPr wrap="none" rtlCol="0">
            <a:spAutoFit/>
          </a:bodyPr>
          <a:lstStyle/>
          <a:p>
            <a:r>
              <a:rPr kumimoji="1" lang="en-US" altLang="zh-CN" sz="2800" dirty="0"/>
              <a:t>KKT</a:t>
            </a:r>
            <a:r>
              <a:rPr kumimoji="1" lang="zh-CN" altLang="en-US" sz="2800" dirty="0"/>
              <a:t>条件：</a:t>
            </a:r>
          </a:p>
        </p:txBody>
      </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E0E36EEF-6064-C78E-3C00-B8B8764A0B00}"/>
                  </a:ext>
                </a:extLst>
              </p:cNvPr>
              <p:cNvSpPr txBox="1"/>
              <p:nvPr/>
            </p:nvSpPr>
            <p:spPr>
              <a:xfrm>
                <a:off x="1993004" y="3494863"/>
                <a:ext cx="4067907"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2400" i="1" smtClean="0">
                              <a:latin typeface="Cambria Math" panose="02040503050406030204" pitchFamily="18" charset="0"/>
                            </a:rPr>
                          </m:ctrlPr>
                        </m:sSubPr>
                        <m:e>
                          <m:r>
                            <a:rPr kumimoji="1" lang="en-US" altLang="zh-CN" sz="2400" i="1">
                              <a:latin typeface="Cambria Math" panose="02040503050406030204" pitchFamily="18" charset="0"/>
                              <a:ea typeface="Cambria Math" panose="02040503050406030204" pitchFamily="18" charset="0"/>
                            </a:rPr>
                            <m:t>𝛼</m:t>
                          </m:r>
                        </m:e>
                        <m:sub>
                          <m:r>
                            <a:rPr kumimoji="1" lang="en-US" altLang="zh-CN" sz="2400" i="1">
                              <a:latin typeface="Cambria Math" panose="02040503050406030204" pitchFamily="18" charset="0"/>
                            </a:rPr>
                            <m:t>𝑖</m:t>
                          </m:r>
                        </m:sub>
                      </m:sSub>
                      <m:d>
                        <m:dPr>
                          <m:begChr m:val="["/>
                          <m:endChr m:val="]"/>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1−</m:t>
                          </m:r>
                          <m:sSub>
                            <m:sSubPr>
                              <m:ctrlPr>
                                <a:rPr kumimoji="1" lang="en-US" altLang="zh-CN" sz="2400" i="1">
                                  <a:latin typeface="Cambria Math" panose="02040503050406030204" pitchFamily="18" charset="0"/>
                                </a:rPr>
                              </m:ctrlPr>
                            </m:sSubPr>
                            <m:e>
                              <m:r>
                                <a:rPr kumimoji="1" lang="en-US" altLang="zh-CN" sz="2400" i="1">
                                  <a:latin typeface="Cambria Math" panose="02040503050406030204" pitchFamily="18" charset="0"/>
                                </a:rPr>
                                <m:t>𝑦</m:t>
                              </m:r>
                            </m:e>
                            <m:sub>
                              <m:r>
                                <a:rPr kumimoji="1" lang="en-US" altLang="zh-CN" sz="2400" i="1">
                                  <a:latin typeface="Cambria Math" panose="02040503050406030204" pitchFamily="18" charset="0"/>
                                </a:rPr>
                                <m:t>𝑖</m:t>
                              </m:r>
                            </m:sub>
                          </m:sSub>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𝑤</m:t>
                              </m:r>
                              <m:sSub>
                                <m:sSubPr>
                                  <m:ctrlPr>
                                    <a:rPr kumimoji="1" lang="en-US" altLang="zh-CN" sz="2400" i="1">
                                      <a:latin typeface="Cambria Math" panose="02040503050406030204" pitchFamily="18" charset="0"/>
                                    </a:rPr>
                                  </m:ctrlPr>
                                </m:sSubPr>
                                <m:e>
                                  <m:r>
                                    <a:rPr kumimoji="1" lang="en-US" altLang="zh-CN" sz="2400" i="1">
                                      <a:latin typeface="Cambria Math" panose="02040503050406030204" pitchFamily="18" charset="0"/>
                                      <a:ea typeface="Cambria Math" panose="02040503050406030204" pitchFamily="18" charset="0"/>
                                    </a:rPr>
                                    <m:t>∙</m:t>
                                  </m:r>
                                  <m:r>
                                    <a:rPr kumimoji="1" lang="en-US" altLang="zh-CN" sz="2400" i="1">
                                      <a:latin typeface="Cambria Math" panose="02040503050406030204" pitchFamily="18" charset="0"/>
                                      <a:ea typeface="Cambria Math" panose="02040503050406030204" pitchFamily="18" charset="0"/>
                                    </a:rPr>
                                    <m:t>𝑥</m:t>
                                  </m:r>
                                </m:e>
                                <m:sub>
                                  <m:r>
                                    <a:rPr kumimoji="1" lang="en-US" altLang="zh-CN" sz="2400" i="1">
                                      <a:latin typeface="Cambria Math" panose="02040503050406030204" pitchFamily="18" charset="0"/>
                                    </a:rPr>
                                    <m:t>𝑖</m:t>
                                  </m:r>
                                </m:sub>
                              </m:sSub>
                              <m:r>
                                <a:rPr kumimoji="1" lang="en-US" altLang="zh-CN" sz="2400" i="1">
                                  <a:latin typeface="Cambria Math" panose="02040503050406030204" pitchFamily="18" charset="0"/>
                                </a:rPr>
                                <m:t>+</m:t>
                              </m:r>
                              <m:r>
                                <a:rPr kumimoji="1" lang="en-US" altLang="zh-CN" sz="2400" i="1">
                                  <a:latin typeface="Cambria Math" panose="02040503050406030204" pitchFamily="18" charset="0"/>
                                </a:rPr>
                                <m:t>𝑏</m:t>
                              </m:r>
                            </m:e>
                          </m:d>
                        </m:e>
                      </m:d>
                      <m:r>
                        <a:rPr kumimoji="1" lang="en-US" altLang="zh-CN" sz="2400" b="0" i="1" smtClean="0">
                          <a:latin typeface="Cambria Math" panose="02040503050406030204" pitchFamily="18" charset="0"/>
                        </a:rPr>
                        <m:t>=0</m:t>
                      </m:r>
                    </m:oMath>
                  </m:oMathPara>
                </a14:m>
                <a:endParaRPr lang="zh-CN" altLang="en-US" sz="2400" dirty="0"/>
              </a:p>
            </p:txBody>
          </p:sp>
        </mc:Choice>
        <mc:Fallback xmlns="">
          <p:sp>
            <p:nvSpPr>
              <p:cNvPr id="10" name="文本框 9">
                <a:extLst>
                  <a:ext uri="{FF2B5EF4-FFF2-40B4-BE49-F238E27FC236}">
                    <a16:creationId xmlns:a16="http://schemas.microsoft.com/office/drawing/2014/main" id="{E0E36EEF-6064-C78E-3C00-B8B8764A0B00}"/>
                  </a:ext>
                </a:extLst>
              </p:cNvPr>
              <p:cNvSpPr txBox="1">
                <a:spLocks noRot="1" noChangeAspect="1" noMove="1" noResize="1" noEditPoints="1" noAdjustHandles="1" noChangeArrowheads="1" noChangeShapeType="1" noTextEdit="1"/>
              </p:cNvSpPr>
              <p:nvPr/>
            </p:nvSpPr>
            <p:spPr>
              <a:xfrm>
                <a:off x="1993004" y="3494863"/>
                <a:ext cx="4067907" cy="461665"/>
              </a:xfrm>
              <a:prstGeom prst="rect">
                <a:avLst/>
              </a:prstGeom>
              <a:blipFill>
                <a:blip r:embed="rId4"/>
                <a:stretch>
                  <a:fillRect b="-270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AA47F9BF-8408-DDBE-EC2B-498A31E094F1}"/>
                  </a:ext>
                </a:extLst>
              </p:cNvPr>
              <p:cNvSpPr txBox="1"/>
              <p:nvPr/>
            </p:nvSpPr>
            <p:spPr>
              <a:xfrm>
                <a:off x="2290649" y="2947240"/>
                <a:ext cx="3364523" cy="477888"/>
              </a:xfrm>
              <a:prstGeom prst="rect">
                <a:avLst/>
              </a:prstGeom>
              <a:noFill/>
            </p:spPr>
            <p:txBody>
              <a:bodyPr wrap="square">
                <a:spAutoFit/>
              </a:bodyPr>
              <a:lstStyle/>
              <a:p>
                <a14:m>
                  <m:oMath xmlns:m="http://schemas.openxmlformats.org/officeDocument/2006/math">
                    <m:sSub>
                      <m:sSubPr>
                        <m:ctrlPr>
                          <a:rPr kumimoji="1" lang="en-US" altLang="zh-CN" sz="2400" i="1" smtClean="0">
                            <a:latin typeface="Cambria Math" panose="02040503050406030204" pitchFamily="18" charset="0"/>
                          </a:rPr>
                        </m:ctrlPr>
                      </m:sSubPr>
                      <m:e>
                        <m:r>
                          <m:rPr>
                            <m:sty m:val="p"/>
                          </m:rPr>
                          <a:rPr kumimoji="1" lang="en-US" altLang="zh-CN" sz="2400" i="1" smtClean="0">
                            <a:latin typeface="Cambria Math" panose="02040503050406030204" pitchFamily="18" charset="0"/>
                            <a:ea typeface="Cambria Math" panose="02040503050406030204" pitchFamily="18" charset="0"/>
                          </a:rPr>
                          <m:t>∇</m:t>
                        </m:r>
                      </m:e>
                      <m:sub>
                        <m:r>
                          <a:rPr kumimoji="1" lang="en-US" altLang="zh-CN" sz="2400" b="0" i="1" smtClean="0">
                            <a:latin typeface="Cambria Math" panose="02040503050406030204" pitchFamily="18" charset="0"/>
                          </a:rPr>
                          <m:t>𝑤</m:t>
                        </m:r>
                        <m:r>
                          <a:rPr kumimoji="1" lang="en-US" altLang="zh-CN" sz="2400" b="0" i="1" smtClean="0">
                            <a:latin typeface="Cambria Math" panose="02040503050406030204" pitchFamily="18" charset="0"/>
                          </a:rPr>
                          <m:t>,</m:t>
                        </m:r>
                        <m:r>
                          <a:rPr kumimoji="1" lang="zh-CN" altLang="en-US" sz="2400" b="0" i="1" smtClean="0">
                            <a:latin typeface="Cambria Math" panose="02040503050406030204" pitchFamily="18" charset="0"/>
                          </a:rPr>
                          <m:t> </m:t>
                        </m:r>
                        <m:r>
                          <a:rPr kumimoji="1" lang="en-US" altLang="zh-CN" sz="2400" b="0" i="1" smtClean="0">
                            <a:latin typeface="Cambria Math" panose="02040503050406030204" pitchFamily="18" charset="0"/>
                          </a:rPr>
                          <m:t>𝑏</m:t>
                        </m:r>
                      </m:sub>
                    </m:sSub>
                  </m:oMath>
                </a14:m>
                <a:r>
                  <a:rPr kumimoji="1" lang="en-US" altLang="zh-CN" sz="2400" dirty="0"/>
                  <a:t> </a:t>
                </a:r>
                <a14:m>
                  <m:oMath xmlns:m="http://schemas.openxmlformats.org/officeDocument/2006/math">
                    <m:r>
                      <a:rPr kumimoji="1" lang="en-US" altLang="zh-CN" sz="2400" i="1">
                        <a:latin typeface="Cambria Math" panose="02040503050406030204" pitchFamily="18" charset="0"/>
                      </a:rPr>
                      <m:t>𝐿</m:t>
                    </m:r>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𝑤</m:t>
                        </m:r>
                        <m:r>
                          <a:rPr kumimoji="1" lang="en-US" altLang="zh-CN" sz="2400" i="1">
                            <a:latin typeface="Cambria Math" panose="02040503050406030204" pitchFamily="18" charset="0"/>
                          </a:rPr>
                          <m:t>,</m:t>
                        </m:r>
                        <m:r>
                          <a:rPr kumimoji="1" lang="en-US" altLang="zh-CN" sz="2400" i="1">
                            <a:latin typeface="Cambria Math" panose="02040503050406030204" pitchFamily="18" charset="0"/>
                          </a:rPr>
                          <m:t>𝑏</m:t>
                        </m:r>
                        <m:r>
                          <a:rPr kumimoji="1" lang="en-US" altLang="zh-CN" sz="2400" i="1">
                            <a:latin typeface="Cambria Math" panose="02040503050406030204" pitchFamily="18" charset="0"/>
                          </a:rPr>
                          <m:t>,</m:t>
                        </m:r>
                        <m:r>
                          <a:rPr kumimoji="1" lang="en-US" altLang="zh-CN" sz="2400" i="1">
                            <a:latin typeface="Cambria Math" panose="02040503050406030204" pitchFamily="18" charset="0"/>
                            <a:ea typeface="Cambria Math" panose="02040503050406030204" pitchFamily="18" charset="0"/>
                          </a:rPr>
                          <m:t>𝛼</m:t>
                        </m:r>
                      </m:e>
                    </m:d>
                    <m:r>
                      <a:rPr kumimoji="1" lang="en-US" altLang="zh-CN" sz="2400" b="0" i="1" smtClean="0">
                        <a:latin typeface="Cambria Math" panose="02040503050406030204" pitchFamily="18" charset="0"/>
                        <a:ea typeface="Cambria Math" panose="02040503050406030204" pitchFamily="18" charset="0"/>
                      </a:rPr>
                      <m:t>=0</m:t>
                    </m:r>
                  </m:oMath>
                </a14:m>
                <a:endParaRPr lang="zh-CN" altLang="en-US" sz="2400" dirty="0"/>
              </a:p>
            </p:txBody>
          </p:sp>
        </mc:Choice>
        <mc:Fallback xmlns="">
          <p:sp>
            <p:nvSpPr>
              <p:cNvPr id="11" name="文本框 10">
                <a:extLst>
                  <a:ext uri="{FF2B5EF4-FFF2-40B4-BE49-F238E27FC236}">
                    <a16:creationId xmlns:a16="http://schemas.microsoft.com/office/drawing/2014/main" id="{AA47F9BF-8408-DDBE-EC2B-498A31E094F1}"/>
                  </a:ext>
                </a:extLst>
              </p:cNvPr>
              <p:cNvSpPr txBox="1">
                <a:spLocks noRot="1" noChangeAspect="1" noMove="1" noResize="1" noEditPoints="1" noAdjustHandles="1" noChangeArrowheads="1" noChangeShapeType="1" noTextEdit="1"/>
              </p:cNvSpPr>
              <p:nvPr/>
            </p:nvSpPr>
            <p:spPr>
              <a:xfrm>
                <a:off x="2290649" y="2947240"/>
                <a:ext cx="3364523" cy="477888"/>
              </a:xfrm>
              <a:prstGeom prst="rect">
                <a:avLst/>
              </a:prstGeom>
              <a:blipFill>
                <a:blip r:embed="rId5"/>
                <a:stretch>
                  <a:fillRect l="-3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6396B2B5-D506-A6AD-D34C-4CBBC0FF7168}"/>
                  </a:ext>
                </a:extLst>
              </p:cNvPr>
              <p:cNvSpPr txBox="1"/>
              <p:nvPr/>
            </p:nvSpPr>
            <p:spPr>
              <a:xfrm>
                <a:off x="2204588" y="4074615"/>
                <a:ext cx="3364523"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kumimoji="1" lang="en-US" altLang="zh-CN" sz="2400" i="1" smtClean="0">
                              <a:latin typeface="Cambria Math" panose="02040503050406030204" pitchFamily="18" charset="0"/>
                            </a:rPr>
                          </m:ctrlPr>
                        </m:dPr>
                        <m:e>
                          <m:r>
                            <a:rPr kumimoji="1" lang="en-US" altLang="zh-CN" sz="2400" i="1">
                              <a:latin typeface="Cambria Math" panose="02040503050406030204" pitchFamily="18" charset="0"/>
                            </a:rPr>
                            <m:t>1−</m:t>
                          </m:r>
                          <m:sSub>
                            <m:sSubPr>
                              <m:ctrlPr>
                                <a:rPr kumimoji="1" lang="en-US" altLang="zh-CN" sz="2400" i="1">
                                  <a:latin typeface="Cambria Math" panose="02040503050406030204" pitchFamily="18" charset="0"/>
                                </a:rPr>
                              </m:ctrlPr>
                            </m:sSubPr>
                            <m:e>
                              <m:r>
                                <a:rPr kumimoji="1" lang="en-US" altLang="zh-CN" sz="2400" i="1">
                                  <a:latin typeface="Cambria Math" panose="02040503050406030204" pitchFamily="18" charset="0"/>
                                </a:rPr>
                                <m:t>𝑦</m:t>
                              </m:r>
                            </m:e>
                            <m:sub>
                              <m:r>
                                <a:rPr kumimoji="1" lang="en-US" altLang="zh-CN" sz="2400" i="1">
                                  <a:latin typeface="Cambria Math" panose="02040503050406030204" pitchFamily="18" charset="0"/>
                                </a:rPr>
                                <m:t>𝑖</m:t>
                              </m:r>
                            </m:sub>
                          </m:sSub>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𝑤</m:t>
                              </m:r>
                              <m:sSub>
                                <m:sSubPr>
                                  <m:ctrlPr>
                                    <a:rPr kumimoji="1" lang="en-US" altLang="zh-CN" sz="2400" i="1">
                                      <a:latin typeface="Cambria Math" panose="02040503050406030204" pitchFamily="18" charset="0"/>
                                    </a:rPr>
                                  </m:ctrlPr>
                                </m:sSubPr>
                                <m:e>
                                  <m:r>
                                    <a:rPr kumimoji="1" lang="en-US" altLang="zh-CN" sz="2400" i="1">
                                      <a:latin typeface="Cambria Math" panose="02040503050406030204" pitchFamily="18" charset="0"/>
                                      <a:ea typeface="Cambria Math" panose="02040503050406030204" pitchFamily="18" charset="0"/>
                                    </a:rPr>
                                    <m:t>∙</m:t>
                                  </m:r>
                                  <m:r>
                                    <a:rPr kumimoji="1" lang="en-US" altLang="zh-CN" sz="2400" i="1">
                                      <a:latin typeface="Cambria Math" panose="02040503050406030204" pitchFamily="18" charset="0"/>
                                      <a:ea typeface="Cambria Math" panose="02040503050406030204" pitchFamily="18" charset="0"/>
                                    </a:rPr>
                                    <m:t>𝑥</m:t>
                                  </m:r>
                                </m:e>
                                <m:sub>
                                  <m:r>
                                    <a:rPr kumimoji="1" lang="en-US" altLang="zh-CN" sz="2400" i="1">
                                      <a:latin typeface="Cambria Math" panose="02040503050406030204" pitchFamily="18" charset="0"/>
                                    </a:rPr>
                                    <m:t>𝑖</m:t>
                                  </m:r>
                                </m:sub>
                              </m:sSub>
                              <m:r>
                                <a:rPr kumimoji="1" lang="en-US" altLang="zh-CN" sz="2400" i="1">
                                  <a:latin typeface="Cambria Math" panose="02040503050406030204" pitchFamily="18" charset="0"/>
                                </a:rPr>
                                <m:t>+</m:t>
                              </m:r>
                              <m:r>
                                <a:rPr kumimoji="1" lang="en-US" altLang="zh-CN" sz="2400" i="1">
                                  <a:latin typeface="Cambria Math" panose="02040503050406030204" pitchFamily="18" charset="0"/>
                                </a:rPr>
                                <m:t>𝑏</m:t>
                              </m:r>
                            </m:e>
                          </m:d>
                        </m:e>
                      </m:d>
                      <m:r>
                        <a:rPr kumimoji="1" lang="en-US" altLang="zh-CN" sz="2400" b="0" i="1" smtClean="0">
                          <a:latin typeface="Cambria Math" panose="02040503050406030204" pitchFamily="18" charset="0"/>
                          <a:ea typeface="Cambria Math" panose="02040503050406030204" pitchFamily="18" charset="0"/>
                        </a:rPr>
                        <m:t>≤</m:t>
                      </m:r>
                      <m:r>
                        <a:rPr kumimoji="1" lang="en-US" altLang="zh-CN" sz="2400" b="0" i="1" smtClean="0">
                          <a:latin typeface="Cambria Math" panose="02040503050406030204" pitchFamily="18" charset="0"/>
                        </a:rPr>
                        <m:t>0</m:t>
                      </m:r>
                    </m:oMath>
                  </m:oMathPara>
                </a14:m>
                <a:endParaRPr lang="zh-CN" altLang="en-US" sz="2400" dirty="0"/>
              </a:p>
            </p:txBody>
          </p:sp>
        </mc:Choice>
        <mc:Fallback xmlns="">
          <p:sp>
            <p:nvSpPr>
              <p:cNvPr id="12" name="文本框 11">
                <a:extLst>
                  <a:ext uri="{FF2B5EF4-FFF2-40B4-BE49-F238E27FC236}">
                    <a16:creationId xmlns:a16="http://schemas.microsoft.com/office/drawing/2014/main" id="{6396B2B5-D506-A6AD-D34C-4CBBC0FF7168}"/>
                  </a:ext>
                </a:extLst>
              </p:cNvPr>
              <p:cNvSpPr txBox="1">
                <a:spLocks noRot="1" noChangeAspect="1" noMove="1" noResize="1" noEditPoints="1" noAdjustHandles="1" noChangeArrowheads="1" noChangeShapeType="1" noTextEdit="1"/>
              </p:cNvSpPr>
              <p:nvPr/>
            </p:nvSpPr>
            <p:spPr>
              <a:xfrm>
                <a:off x="2204588" y="4074615"/>
                <a:ext cx="3364523" cy="461665"/>
              </a:xfrm>
              <a:prstGeom prst="rect">
                <a:avLst/>
              </a:prstGeom>
              <a:blipFill>
                <a:blip r:embed="rId6"/>
                <a:stretch>
                  <a:fillRect b="-263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FDAA698E-6888-D270-548D-CB7F3FD177B8}"/>
                  </a:ext>
                </a:extLst>
              </p:cNvPr>
              <p:cNvSpPr txBox="1"/>
              <p:nvPr/>
            </p:nvSpPr>
            <p:spPr>
              <a:xfrm>
                <a:off x="2120744" y="4595711"/>
                <a:ext cx="1453661"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2400" i="1" smtClean="0">
                              <a:latin typeface="Cambria Math" panose="02040503050406030204" pitchFamily="18" charset="0"/>
                            </a:rPr>
                          </m:ctrlPr>
                        </m:sSubPr>
                        <m:e>
                          <m:r>
                            <a:rPr kumimoji="1" lang="en-US" altLang="zh-CN" sz="2400" i="1">
                              <a:latin typeface="Cambria Math" panose="02040503050406030204" pitchFamily="18" charset="0"/>
                              <a:ea typeface="Cambria Math" panose="02040503050406030204" pitchFamily="18" charset="0"/>
                            </a:rPr>
                            <m:t>𝛼</m:t>
                          </m:r>
                        </m:e>
                        <m:sub>
                          <m:r>
                            <a:rPr kumimoji="1" lang="en-US" altLang="zh-CN" sz="2400" i="1">
                              <a:latin typeface="Cambria Math" panose="02040503050406030204" pitchFamily="18" charset="0"/>
                            </a:rPr>
                            <m:t>𝑖</m:t>
                          </m:r>
                        </m:sub>
                      </m:sSub>
                      <m:r>
                        <a:rPr kumimoji="1" lang="en-US" altLang="zh-CN" sz="2400" i="1" smtClean="0">
                          <a:latin typeface="Cambria Math" panose="02040503050406030204" pitchFamily="18" charset="0"/>
                          <a:ea typeface="Cambria Math" panose="02040503050406030204" pitchFamily="18" charset="0"/>
                        </a:rPr>
                        <m:t>≥</m:t>
                      </m:r>
                      <m:r>
                        <a:rPr kumimoji="1" lang="en-US" altLang="zh-CN" sz="2400" b="0" i="1" smtClean="0">
                          <a:latin typeface="Cambria Math" panose="02040503050406030204" pitchFamily="18" charset="0"/>
                          <a:ea typeface="Cambria Math" panose="02040503050406030204" pitchFamily="18" charset="0"/>
                        </a:rPr>
                        <m:t>0</m:t>
                      </m:r>
                    </m:oMath>
                  </m:oMathPara>
                </a14:m>
                <a:endParaRPr lang="zh-CN" altLang="en-US" sz="2400" dirty="0"/>
              </a:p>
            </p:txBody>
          </p:sp>
        </mc:Choice>
        <mc:Fallback xmlns="">
          <p:sp>
            <p:nvSpPr>
              <p:cNvPr id="13" name="文本框 12">
                <a:extLst>
                  <a:ext uri="{FF2B5EF4-FFF2-40B4-BE49-F238E27FC236}">
                    <a16:creationId xmlns:a16="http://schemas.microsoft.com/office/drawing/2014/main" id="{FDAA698E-6888-D270-548D-CB7F3FD177B8}"/>
                  </a:ext>
                </a:extLst>
              </p:cNvPr>
              <p:cNvSpPr txBox="1">
                <a:spLocks noRot="1" noChangeAspect="1" noMove="1" noResize="1" noEditPoints="1" noAdjustHandles="1" noChangeArrowheads="1" noChangeShapeType="1" noTextEdit="1"/>
              </p:cNvSpPr>
              <p:nvPr/>
            </p:nvSpPr>
            <p:spPr>
              <a:xfrm>
                <a:off x="2120744" y="4595711"/>
                <a:ext cx="1453661" cy="461665"/>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0CCFA49D-D100-2C3B-9495-1DC339CF0F07}"/>
                  </a:ext>
                </a:extLst>
              </p:cNvPr>
              <p:cNvSpPr txBox="1"/>
              <p:nvPr/>
            </p:nvSpPr>
            <p:spPr>
              <a:xfrm>
                <a:off x="2039293" y="5128787"/>
                <a:ext cx="2532707"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1" lang="en-US" altLang="zh-CN" sz="2400" b="0" i="1" smtClean="0">
                          <a:latin typeface="Cambria Math" panose="02040503050406030204" pitchFamily="18" charset="0"/>
                          <a:ea typeface="Cambria Math" panose="02040503050406030204" pitchFamily="18" charset="0"/>
                        </a:rPr>
                        <m:t>𝑖</m:t>
                      </m:r>
                      <m:r>
                        <a:rPr kumimoji="1" lang="en-US" altLang="zh-CN" sz="2400" b="0" i="1" smtClean="0">
                          <a:latin typeface="Cambria Math" panose="02040503050406030204" pitchFamily="18" charset="0"/>
                          <a:ea typeface="Cambria Math" panose="02040503050406030204" pitchFamily="18" charset="0"/>
                        </a:rPr>
                        <m:t>=1,2,…,</m:t>
                      </m:r>
                      <m:r>
                        <a:rPr kumimoji="1" lang="en-US" altLang="zh-CN" sz="2400" b="0" i="1" smtClean="0">
                          <a:latin typeface="Cambria Math" panose="02040503050406030204" pitchFamily="18" charset="0"/>
                          <a:ea typeface="Cambria Math" panose="02040503050406030204" pitchFamily="18" charset="0"/>
                        </a:rPr>
                        <m:t>𝑁</m:t>
                      </m:r>
                    </m:oMath>
                  </m:oMathPara>
                </a14:m>
                <a:endParaRPr lang="zh-CN" altLang="en-US" sz="2400" dirty="0"/>
              </a:p>
            </p:txBody>
          </p:sp>
        </mc:Choice>
        <mc:Fallback xmlns="">
          <p:sp>
            <p:nvSpPr>
              <p:cNvPr id="14" name="文本框 13">
                <a:extLst>
                  <a:ext uri="{FF2B5EF4-FFF2-40B4-BE49-F238E27FC236}">
                    <a16:creationId xmlns:a16="http://schemas.microsoft.com/office/drawing/2014/main" id="{0CCFA49D-D100-2C3B-9495-1DC339CF0F07}"/>
                  </a:ext>
                </a:extLst>
              </p:cNvPr>
              <p:cNvSpPr txBox="1">
                <a:spLocks noRot="1" noChangeAspect="1" noMove="1" noResize="1" noEditPoints="1" noAdjustHandles="1" noChangeArrowheads="1" noChangeShapeType="1" noTextEdit="1"/>
              </p:cNvSpPr>
              <p:nvPr/>
            </p:nvSpPr>
            <p:spPr>
              <a:xfrm>
                <a:off x="2039293" y="5128787"/>
                <a:ext cx="2532707" cy="461665"/>
              </a:xfrm>
              <a:prstGeom prst="rect">
                <a:avLst/>
              </a:prstGeom>
              <a:blipFill>
                <a:blip r:embed="rId8"/>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167408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内容占位符 2"/>
          <p:cNvSpPr>
            <a:spLocks noGrp="1"/>
          </p:cNvSpPr>
          <p:nvPr>
            <p:ph idx="1"/>
          </p:nvPr>
        </p:nvSpPr>
        <p:spPr>
          <a:xfrm>
            <a:off x="685800" y="868363"/>
            <a:ext cx="7772400" cy="5227637"/>
          </a:xfrm>
        </p:spPr>
        <p:txBody>
          <a:bodyPr/>
          <a:lstStyle/>
          <a:p>
            <a:r>
              <a:rPr lang="zh-CN" altLang="en-US" sz="3200" b="1" dirty="0"/>
              <a:t>因此线性可分支持向量机就是求解如下的优化问题：</a:t>
            </a:r>
            <a:endParaRPr lang="en-US" altLang="zh-CN" sz="3200" b="1" dirty="0"/>
          </a:p>
          <a:p>
            <a:endParaRPr lang="en-US" altLang="zh-CN" sz="3200" b="1" dirty="0"/>
          </a:p>
          <a:p>
            <a:endParaRPr lang="en-US" altLang="zh-CN" dirty="0"/>
          </a:p>
          <a:p>
            <a:endParaRPr lang="en-US" altLang="zh-CN" dirty="0"/>
          </a:p>
          <a:p>
            <a:endParaRPr lang="en-US" altLang="zh-CN" dirty="0"/>
          </a:p>
          <a:p>
            <a:endParaRPr lang="en-US" altLang="zh-CN" dirty="0"/>
          </a:p>
          <a:p>
            <a:endParaRPr lang="en-US" altLang="zh-CN" dirty="0"/>
          </a:p>
          <a:p>
            <a:endParaRPr lang="zh-CN" altLang="en-US" dirty="0"/>
          </a:p>
        </p:txBody>
      </p:sp>
      <p:sp>
        <p:nvSpPr>
          <p:cNvPr id="25604" name="灯片编号占位符 3"/>
          <p:cNvSpPr>
            <a:spLocks noGrp="1"/>
          </p:cNvSpPr>
          <p:nvPr>
            <p:ph type="sldNum" sz="quarter" idx="12"/>
          </p:nvPr>
        </p:nvSpPr>
        <p:spPr>
          <a:noFill/>
        </p:spPr>
        <p:txBody>
          <a:bodyPr/>
          <a:lstStyle/>
          <a:p>
            <a:fld id="{E045A578-6D10-4AA8-8790-8CBE1E66D92B}" type="slidenum">
              <a:rPr lang="en-US" altLang="zh-CN" smtClean="0">
                <a:ea typeface="黑体" pitchFamily="49" charset="-122"/>
              </a:rPr>
              <a:pPr/>
              <a:t>32</a:t>
            </a:fld>
            <a:endParaRPr lang="en-US" altLang="zh-CN" dirty="0">
              <a:ea typeface="黑体" pitchFamily="49" charset="-122"/>
            </a:endParaRPr>
          </a:p>
        </p:txBody>
      </p:sp>
      <mc:AlternateContent xmlns:mc="http://schemas.openxmlformats.org/markup-compatibility/2006" xmlns:a14="http://schemas.microsoft.com/office/drawing/2010/main">
        <mc:Choice Requires="a14">
          <p:sp>
            <p:nvSpPr>
              <p:cNvPr id="5" name="Object 2" descr="羊皮纸">
                <a:extLst>
                  <a:ext uri="{FF2B5EF4-FFF2-40B4-BE49-F238E27FC236}">
                    <a16:creationId xmlns:a16="http://schemas.microsoft.com/office/drawing/2014/main" id="{0D8AD71C-CDBB-43A9-84FC-27892A4E7944}"/>
                  </a:ext>
                </a:extLst>
              </p:cNvPr>
              <p:cNvSpPr txBox="1"/>
              <p:nvPr/>
            </p:nvSpPr>
            <p:spPr bwMode="auto">
              <a:xfrm>
                <a:off x="1615629" y="2629251"/>
                <a:ext cx="5738812" cy="2894012"/>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limLow>
                        <m:limLowPr>
                          <m:ctrlPr>
                            <a:rPr lang="zh-CN" altLang="en-US" sz="2400" i="1" smtClean="0">
                              <a:solidFill>
                                <a:srgbClr val="000000"/>
                              </a:solidFill>
                              <a:latin typeface="Cambria Math" panose="02040503050406030204" pitchFamily="18" charset="0"/>
                            </a:rPr>
                          </m:ctrlPr>
                        </m:limLowPr>
                        <m:e>
                          <m:r>
                            <m:rPr>
                              <m:sty m:val="p"/>
                            </m:rPr>
                            <a:rPr lang="zh-CN" altLang="en-US" sz="2400" i="0">
                              <a:solidFill>
                                <a:srgbClr val="000000"/>
                              </a:solidFill>
                              <a:latin typeface="Cambria Math" panose="02040503050406030204" pitchFamily="18" charset="0"/>
                            </a:rPr>
                            <m:t>min</m:t>
                          </m:r>
                        </m:e>
                        <m:lim>
                          <m:r>
                            <a:rPr lang="zh-CN" altLang="en-US" sz="2400" i="1">
                              <a:solidFill>
                                <a:srgbClr val="000000"/>
                              </a:solidFill>
                              <a:latin typeface="Cambria Math" panose="02040503050406030204" pitchFamily="18" charset="0"/>
                            </a:rPr>
                            <m:t>𝛼</m:t>
                          </m:r>
                        </m:lim>
                      </m:limLow>
                      <m:d>
                        <m:dPr>
                          <m:ctrlPr>
                            <a:rPr lang="en-US" altLang="zh-CN" sz="2400" i="1" smtClean="0">
                              <a:solidFill>
                                <a:srgbClr val="000000"/>
                              </a:solidFill>
                              <a:latin typeface="Cambria Math" panose="02040503050406030204" pitchFamily="18" charset="0"/>
                            </a:rPr>
                          </m:ctrlPr>
                        </m:dPr>
                        <m:e>
                          <m:f>
                            <m:fPr>
                              <m:ctrlPr>
                                <a:rPr lang="zh-CN" altLang="en-US" sz="2400" i="1">
                                  <a:solidFill>
                                    <a:srgbClr val="000000"/>
                                  </a:solidFill>
                                  <a:latin typeface="Cambria Math" panose="02040503050406030204" pitchFamily="18" charset="0"/>
                                </a:rPr>
                              </m:ctrlPr>
                            </m:fPr>
                            <m:num>
                              <m:r>
                                <a:rPr lang="zh-CN" altLang="en-US" sz="2400" i="1">
                                  <a:solidFill>
                                    <a:srgbClr val="000000"/>
                                  </a:solidFill>
                                  <a:latin typeface="Cambria Math" panose="02040503050406030204" pitchFamily="18" charset="0"/>
                                </a:rPr>
                                <m:t>1</m:t>
                              </m:r>
                            </m:num>
                            <m:den>
                              <m:r>
                                <a:rPr lang="zh-CN" altLang="en-US" sz="2400" i="1">
                                  <a:solidFill>
                                    <a:srgbClr val="000000"/>
                                  </a:solidFill>
                                  <a:latin typeface="Cambria Math" panose="02040503050406030204" pitchFamily="18" charset="0"/>
                                </a:rPr>
                                <m:t>2</m:t>
                              </m:r>
                            </m:den>
                          </m:f>
                          <m:nary>
                            <m:naryPr>
                              <m:chr m:val="∑"/>
                              <m:ctrlPr>
                                <a:rPr lang="zh-CN" altLang="en-US" sz="2400" i="1">
                                  <a:solidFill>
                                    <a:srgbClr val="000000"/>
                                  </a:solidFill>
                                  <a:latin typeface="Cambria Math" panose="02040503050406030204" pitchFamily="18" charset="0"/>
                                </a:rPr>
                              </m:ctrlPr>
                            </m:naryPr>
                            <m:sub>
                              <m:r>
                                <a:rPr lang="zh-CN" altLang="en-US" sz="2400" i="1">
                                  <a:solidFill>
                                    <a:srgbClr val="000000"/>
                                  </a:solidFill>
                                  <a:latin typeface="Cambria Math" panose="02040503050406030204" pitchFamily="18" charset="0"/>
                                </a:rPr>
                                <m:t>𝑖</m:t>
                              </m:r>
                              <m:r>
                                <a:rPr lang="zh-CN" altLang="en-US" sz="2400" i="1">
                                  <a:solidFill>
                                    <a:srgbClr val="000000"/>
                                  </a:solidFill>
                                  <a:latin typeface="Cambria Math" panose="02040503050406030204" pitchFamily="18" charset="0"/>
                                </a:rPr>
                                <m:t>=1</m:t>
                              </m:r>
                            </m:sub>
                            <m:sup>
                              <m:r>
                                <a:rPr lang="zh-CN" altLang="en-US" sz="2400" i="1">
                                  <a:solidFill>
                                    <a:srgbClr val="000000"/>
                                  </a:solidFill>
                                  <a:latin typeface="Cambria Math" panose="02040503050406030204" pitchFamily="18" charset="0"/>
                                </a:rPr>
                                <m:t>𝑁</m:t>
                              </m:r>
                            </m:sup>
                            <m:e>
                              <m:nary>
                                <m:naryPr>
                                  <m:chr m:val="∑"/>
                                  <m:ctrlPr>
                                    <a:rPr lang="zh-CN" altLang="en-US" sz="2400" i="1">
                                      <a:solidFill>
                                        <a:srgbClr val="000000"/>
                                      </a:solidFill>
                                      <a:latin typeface="Cambria Math" panose="02040503050406030204" pitchFamily="18" charset="0"/>
                                    </a:rPr>
                                  </m:ctrlPr>
                                </m:naryPr>
                                <m:sub>
                                  <m:r>
                                    <a:rPr lang="zh-CN" altLang="en-US" sz="2400" i="1">
                                      <a:solidFill>
                                        <a:srgbClr val="000000"/>
                                      </a:solidFill>
                                      <a:latin typeface="Cambria Math" panose="02040503050406030204" pitchFamily="18" charset="0"/>
                                    </a:rPr>
                                    <m:t>𝑗</m:t>
                                  </m:r>
                                  <m:r>
                                    <a:rPr lang="zh-CN" altLang="en-US" sz="2400" i="1">
                                      <a:solidFill>
                                        <a:srgbClr val="000000"/>
                                      </a:solidFill>
                                      <a:latin typeface="Cambria Math" panose="02040503050406030204" pitchFamily="18" charset="0"/>
                                    </a:rPr>
                                    <m:t>=1</m:t>
                                  </m:r>
                                </m:sub>
                                <m:sup>
                                  <m:r>
                                    <a:rPr lang="zh-CN" altLang="en-US" sz="2400" i="1">
                                      <a:solidFill>
                                        <a:srgbClr val="000000"/>
                                      </a:solidFill>
                                      <a:latin typeface="Cambria Math" panose="02040503050406030204" pitchFamily="18" charset="0"/>
                                    </a:rPr>
                                    <m:t>𝑁</m:t>
                                  </m:r>
                                </m:sup>
                                <m:e>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𝛼</m:t>
                                      </m:r>
                                    </m:e>
                                    <m:sub>
                                      <m:r>
                                        <a:rPr lang="zh-CN" altLang="en-US" sz="2400" i="1">
                                          <a:solidFill>
                                            <a:srgbClr val="000000"/>
                                          </a:solidFill>
                                          <a:latin typeface="Cambria Math" panose="02040503050406030204" pitchFamily="18" charset="0"/>
                                        </a:rPr>
                                        <m:t>𝑖</m:t>
                                      </m:r>
                                    </m:sub>
                                  </m:sSub>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𝛼</m:t>
                                      </m:r>
                                    </m:e>
                                    <m:sub>
                                      <m:r>
                                        <a:rPr lang="zh-CN" altLang="en-US" sz="2400" i="1">
                                          <a:solidFill>
                                            <a:srgbClr val="000000"/>
                                          </a:solidFill>
                                          <a:latin typeface="Cambria Math" panose="02040503050406030204" pitchFamily="18" charset="0"/>
                                        </a:rPr>
                                        <m:t>𝑗</m:t>
                                      </m:r>
                                    </m:sub>
                                  </m:sSub>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𝑦</m:t>
                                      </m:r>
                                    </m:e>
                                    <m:sub>
                                      <m:r>
                                        <a:rPr lang="zh-CN" altLang="en-US" sz="2400" i="1">
                                          <a:solidFill>
                                            <a:srgbClr val="000000"/>
                                          </a:solidFill>
                                          <a:latin typeface="Cambria Math" panose="02040503050406030204" pitchFamily="18" charset="0"/>
                                        </a:rPr>
                                        <m:t>𝑖</m:t>
                                      </m:r>
                                    </m:sub>
                                  </m:sSub>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𝑦</m:t>
                                      </m:r>
                                    </m:e>
                                    <m:sub>
                                      <m:r>
                                        <a:rPr lang="zh-CN" altLang="en-US" sz="2400" i="1">
                                          <a:solidFill>
                                            <a:srgbClr val="000000"/>
                                          </a:solidFill>
                                          <a:latin typeface="Cambria Math" panose="02040503050406030204" pitchFamily="18" charset="0"/>
                                        </a:rPr>
                                        <m:t>𝑗</m:t>
                                      </m:r>
                                    </m:sub>
                                  </m:sSub>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𝑥</m:t>
                                      </m:r>
                                    </m:e>
                                    <m:sub>
                                      <m:r>
                                        <a:rPr lang="zh-CN" altLang="en-US" sz="2400" i="1">
                                          <a:solidFill>
                                            <a:srgbClr val="000000"/>
                                          </a:solidFill>
                                          <a:latin typeface="Cambria Math" panose="02040503050406030204" pitchFamily="18" charset="0"/>
                                        </a:rPr>
                                        <m:t>𝑖</m:t>
                                      </m:r>
                                    </m:sub>
                                  </m:sSub>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𝑥</m:t>
                                      </m:r>
                                    </m:e>
                                    <m:sub>
                                      <m:r>
                                        <a:rPr lang="zh-CN" altLang="en-US" sz="2400" i="1">
                                          <a:solidFill>
                                            <a:srgbClr val="000000"/>
                                          </a:solidFill>
                                          <a:latin typeface="Cambria Math" panose="02040503050406030204" pitchFamily="18" charset="0"/>
                                        </a:rPr>
                                        <m:t>𝑗</m:t>
                                      </m:r>
                                    </m:sub>
                                  </m:sSub>
                                  <m:r>
                                    <a:rPr lang="zh-CN" altLang="en-US" sz="2400" i="1">
                                      <a:solidFill>
                                        <a:srgbClr val="000000"/>
                                      </a:solidFill>
                                      <a:latin typeface="Cambria Math" panose="02040503050406030204" pitchFamily="18" charset="0"/>
                                    </a:rPr>
                                    <m:t>)−</m:t>
                                  </m:r>
                                  <m:nary>
                                    <m:naryPr>
                                      <m:chr m:val="∑"/>
                                      <m:ctrlPr>
                                        <a:rPr lang="zh-CN" altLang="en-US" sz="2400" i="1">
                                          <a:solidFill>
                                            <a:srgbClr val="000000"/>
                                          </a:solidFill>
                                          <a:latin typeface="Cambria Math" panose="02040503050406030204" pitchFamily="18" charset="0"/>
                                        </a:rPr>
                                      </m:ctrlPr>
                                    </m:naryPr>
                                    <m:sub>
                                      <m:r>
                                        <a:rPr lang="zh-CN" altLang="en-US" sz="2400" i="1">
                                          <a:solidFill>
                                            <a:srgbClr val="000000"/>
                                          </a:solidFill>
                                          <a:latin typeface="Cambria Math" panose="02040503050406030204" pitchFamily="18" charset="0"/>
                                        </a:rPr>
                                        <m:t>𝑖</m:t>
                                      </m:r>
                                      <m:r>
                                        <a:rPr lang="zh-CN" altLang="en-US" sz="2400" i="1">
                                          <a:solidFill>
                                            <a:srgbClr val="000000"/>
                                          </a:solidFill>
                                          <a:latin typeface="Cambria Math" panose="02040503050406030204" pitchFamily="18" charset="0"/>
                                        </a:rPr>
                                        <m:t>=1</m:t>
                                      </m:r>
                                    </m:sub>
                                    <m:sup>
                                      <m:r>
                                        <a:rPr lang="zh-CN" altLang="en-US" sz="2400" i="1">
                                          <a:solidFill>
                                            <a:srgbClr val="000000"/>
                                          </a:solidFill>
                                          <a:latin typeface="Cambria Math" panose="02040503050406030204" pitchFamily="18" charset="0"/>
                                        </a:rPr>
                                        <m:t>𝑁</m:t>
                                      </m:r>
                                    </m:sup>
                                    <m:e>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𝛼</m:t>
                                          </m:r>
                                        </m:e>
                                        <m:sub>
                                          <m:r>
                                            <a:rPr lang="zh-CN" altLang="en-US" sz="2400" i="1">
                                              <a:solidFill>
                                                <a:srgbClr val="000000"/>
                                              </a:solidFill>
                                              <a:latin typeface="Cambria Math" panose="02040503050406030204" pitchFamily="18" charset="0"/>
                                            </a:rPr>
                                            <m:t>𝑖</m:t>
                                          </m:r>
                                        </m:sub>
                                      </m:sSub>
                                    </m:e>
                                  </m:nary>
                                </m:e>
                              </m:nary>
                            </m:e>
                          </m:nary>
                          <m:r>
                            <m:rPr>
                              <m:nor/>
                            </m:rPr>
                            <a:rPr lang="zh-CN" altLang="en-US" sz="2400" i="1" dirty="0">
                              <a:solidFill>
                                <a:srgbClr val="000000"/>
                              </a:solidFill>
                              <a:latin typeface="Cambria Math" panose="02040503050406030204" pitchFamily="18" charset="0"/>
                            </a:rPr>
                            <m:t> </m:t>
                          </m:r>
                        </m:e>
                      </m:d>
                      <m:r>
                        <a:rPr lang="zh-CN" altLang="en-US" sz="2400" i="1">
                          <a:solidFill>
                            <a:srgbClr val="000000"/>
                          </a:solidFill>
                          <a:latin typeface="Cambria Math" panose="02040503050406030204" pitchFamily="18" charset="0"/>
                        </a:rPr>
                        <m:t> </m:t>
                      </m:r>
                    </m:oMath>
                  </m:oMathPara>
                </a14:m>
                <a:endParaRPr lang="en-US" altLang="zh-CN" sz="2400" i="1" dirty="0">
                  <a:solidFill>
                    <a:srgbClr val="000000"/>
                  </a:solidFill>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zh-CN" altLang="en-US" sz="2400" i="1">
                          <a:solidFill>
                            <a:srgbClr val="000000"/>
                          </a:solidFill>
                          <a:latin typeface="Cambria Math" panose="02040503050406030204" pitchFamily="18" charset="0"/>
                        </a:rPr>
                        <m:t>𝑠</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𝑡</m:t>
                      </m:r>
                      <m:r>
                        <a:rPr lang="zh-CN" altLang="en-US" sz="2400" i="1">
                          <a:solidFill>
                            <a:srgbClr val="000000"/>
                          </a:solidFill>
                          <a:latin typeface="Cambria Math" panose="02040503050406030204" pitchFamily="18" charset="0"/>
                        </a:rPr>
                        <m:t>.  </m:t>
                      </m:r>
                      <m:nary>
                        <m:naryPr>
                          <m:chr m:val="∑"/>
                          <m:ctrlPr>
                            <a:rPr lang="zh-CN" altLang="en-US" sz="2400" i="1">
                              <a:solidFill>
                                <a:srgbClr val="000000"/>
                              </a:solidFill>
                              <a:latin typeface="Cambria Math" panose="02040503050406030204" pitchFamily="18" charset="0"/>
                            </a:rPr>
                          </m:ctrlPr>
                        </m:naryPr>
                        <m:sub>
                          <m:r>
                            <a:rPr lang="zh-CN" altLang="en-US" sz="2400" i="1">
                              <a:solidFill>
                                <a:srgbClr val="000000"/>
                              </a:solidFill>
                              <a:latin typeface="Cambria Math" panose="02040503050406030204" pitchFamily="18" charset="0"/>
                            </a:rPr>
                            <m:t>𝑖</m:t>
                          </m:r>
                          <m:r>
                            <a:rPr lang="zh-CN" altLang="en-US" sz="2400" i="1">
                              <a:solidFill>
                                <a:srgbClr val="000000"/>
                              </a:solidFill>
                              <a:latin typeface="Cambria Math" panose="02040503050406030204" pitchFamily="18" charset="0"/>
                            </a:rPr>
                            <m:t>=1</m:t>
                          </m:r>
                        </m:sub>
                        <m:sup>
                          <m:r>
                            <a:rPr lang="zh-CN" altLang="en-US" sz="2400" i="1">
                              <a:solidFill>
                                <a:srgbClr val="000000"/>
                              </a:solidFill>
                              <a:latin typeface="Cambria Math" panose="02040503050406030204" pitchFamily="18" charset="0"/>
                            </a:rPr>
                            <m:t>𝑁</m:t>
                          </m:r>
                        </m:sup>
                        <m:e>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𝛼</m:t>
                              </m:r>
                            </m:e>
                            <m:sub>
                              <m:r>
                                <a:rPr lang="zh-CN" altLang="en-US" sz="2400" i="1">
                                  <a:solidFill>
                                    <a:srgbClr val="000000"/>
                                  </a:solidFill>
                                  <a:latin typeface="Cambria Math" panose="02040503050406030204" pitchFamily="18" charset="0"/>
                                </a:rPr>
                                <m:t>𝑖</m:t>
                              </m:r>
                            </m:sub>
                          </m:sSub>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𝑦</m:t>
                              </m:r>
                            </m:e>
                            <m:sub>
                              <m:r>
                                <a:rPr lang="zh-CN" altLang="en-US" sz="2400" i="1">
                                  <a:solidFill>
                                    <a:srgbClr val="000000"/>
                                  </a:solidFill>
                                  <a:latin typeface="Cambria Math" panose="02040503050406030204" pitchFamily="18" charset="0"/>
                                </a:rPr>
                                <m:t>𝑖</m:t>
                              </m:r>
                            </m:sub>
                          </m:sSub>
                        </m:e>
                      </m:nary>
                      <m:r>
                        <a:rPr lang="zh-CN" altLang="en-US" sz="2400" i="1">
                          <a:solidFill>
                            <a:srgbClr val="000000"/>
                          </a:solidFill>
                          <a:latin typeface="Cambria Math" panose="02040503050406030204" pitchFamily="18" charset="0"/>
                        </a:rPr>
                        <m:t>=0</m:t>
                      </m:r>
                    </m:oMath>
                    <m:oMath xmlns:m="http://schemas.openxmlformats.org/officeDocument/2006/math">
                      <m:r>
                        <a:rPr lang="zh-CN" altLang="en-US" sz="2400" i="1">
                          <a:solidFill>
                            <a:srgbClr val="000000"/>
                          </a:solidFill>
                          <a:latin typeface="Cambria Math" panose="02040503050406030204" pitchFamily="18" charset="0"/>
                        </a:rPr>
                        <m:t>      </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𝛼</m:t>
                          </m:r>
                        </m:e>
                        <m:sub>
                          <m:r>
                            <a:rPr lang="zh-CN" altLang="en-US" sz="2400" i="1">
                              <a:solidFill>
                                <a:srgbClr val="000000"/>
                              </a:solidFill>
                              <a:latin typeface="Cambria Math" panose="02040503050406030204" pitchFamily="18" charset="0"/>
                            </a:rPr>
                            <m:t>𝑖</m:t>
                          </m:r>
                        </m:sub>
                      </m:sSub>
                      <m:r>
                        <a:rPr lang="zh-CN" altLang="en-US" sz="2400" i="1">
                          <a:solidFill>
                            <a:srgbClr val="000000"/>
                          </a:solidFill>
                          <a:latin typeface="Cambria Math" panose="02040503050406030204" pitchFamily="18" charset="0"/>
                        </a:rPr>
                        <m:t>≥0, </m:t>
                      </m:r>
                      <m:r>
                        <a:rPr lang="zh-CN" altLang="en-US" sz="2400" i="1">
                          <a:solidFill>
                            <a:srgbClr val="000000"/>
                          </a:solidFill>
                          <a:latin typeface="Cambria Math" panose="02040503050406030204" pitchFamily="18" charset="0"/>
                        </a:rPr>
                        <m:t>𝑖</m:t>
                      </m:r>
                      <m:r>
                        <a:rPr lang="zh-CN" altLang="en-US" sz="2400" i="1">
                          <a:solidFill>
                            <a:srgbClr val="000000"/>
                          </a:solidFill>
                          <a:latin typeface="Cambria Math" panose="02040503050406030204" pitchFamily="18" charset="0"/>
                        </a:rPr>
                        <m:t>=1,2,...,</m:t>
                      </m:r>
                      <m:r>
                        <a:rPr lang="zh-CN" altLang="en-US" sz="2400" i="1">
                          <a:solidFill>
                            <a:srgbClr val="000000"/>
                          </a:solidFill>
                          <a:latin typeface="Cambria Math" panose="02040503050406030204" pitchFamily="18" charset="0"/>
                        </a:rPr>
                        <m:t>𝑁</m:t>
                      </m:r>
                    </m:oMath>
                  </m:oMathPara>
                </a14:m>
                <a:endParaRPr lang="zh-CN" altLang="en-US" sz="2400" dirty="0"/>
              </a:p>
            </p:txBody>
          </p:sp>
        </mc:Choice>
        <mc:Fallback xmlns="">
          <p:sp>
            <p:nvSpPr>
              <p:cNvPr id="5" name="Object 2" descr="羊皮纸">
                <a:extLst>
                  <a:ext uri="{FF2B5EF4-FFF2-40B4-BE49-F238E27FC236}">
                    <a16:creationId xmlns:a16="http://schemas.microsoft.com/office/drawing/2014/main" id="{0D8AD71C-CDBB-43A9-84FC-27892A4E7944}"/>
                  </a:ext>
                </a:extLst>
              </p:cNvPr>
              <p:cNvSpPr txBox="1">
                <a:spLocks noRot="1" noChangeAspect="1" noMove="1" noResize="1" noEditPoints="1" noAdjustHandles="1" noChangeArrowheads="1" noChangeShapeType="1" noTextEdit="1"/>
              </p:cNvSpPr>
              <p:nvPr/>
            </p:nvSpPr>
            <p:spPr bwMode="auto">
              <a:xfrm>
                <a:off x="1615629" y="2629251"/>
                <a:ext cx="5738812" cy="2894012"/>
              </a:xfrm>
              <a:prstGeom prst="rect">
                <a:avLst/>
              </a:prstGeom>
              <a:blipFill>
                <a:blip r:embed="rId2"/>
                <a:stretch>
                  <a:fillRect/>
                </a:stretch>
              </a:blipFill>
            </p:spPr>
            <p:txBody>
              <a:bodyPr/>
              <a:lstStyle/>
              <a:p>
                <a:r>
                  <a:rPr lang="zh-CN" altLang="en-US">
                    <a:noFill/>
                  </a:rPr>
                  <a:t> </a:t>
                </a:r>
              </a:p>
            </p:txBody>
          </p:sp>
        </mc:Fallback>
      </mc:AlternateContent>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内容占位符 2"/>
          <p:cNvSpPr>
            <a:spLocks noGrp="1"/>
          </p:cNvSpPr>
          <p:nvPr>
            <p:ph idx="1"/>
          </p:nvPr>
        </p:nvSpPr>
        <p:spPr>
          <a:xfrm>
            <a:off x="685800" y="573088"/>
            <a:ext cx="7772400" cy="5522912"/>
          </a:xfrm>
        </p:spPr>
        <p:txBody>
          <a:bodyPr/>
          <a:lstStyle/>
          <a:p>
            <a:r>
              <a:rPr lang="zh-CN" altLang="en-US" sz="3200" b="1" dirty="0"/>
              <a:t>例：设正例：</a:t>
            </a:r>
            <a:r>
              <a:rPr lang="en-US" altLang="zh-CN" sz="3200" b="1" dirty="0"/>
              <a:t>x</a:t>
            </a:r>
            <a:r>
              <a:rPr lang="en-US" altLang="zh-CN" sz="3200" b="1" baseline="-25000" dirty="0"/>
              <a:t>1</a:t>
            </a:r>
            <a:r>
              <a:rPr lang="en-US" altLang="zh-CN" sz="3200" b="1" dirty="0"/>
              <a:t>=</a:t>
            </a:r>
            <a:r>
              <a:rPr lang="en-US" altLang="zh-CN" sz="3200" b="1" dirty="0">
                <a:sym typeface="Wingdings" pitchFamily="2" charset="2"/>
              </a:rPr>
              <a:t>(3,3)</a:t>
            </a:r>
            <a:r>
              <a:rPr lang="en-US" altLang="zh-CN" sz="3200" b="1" baseline="30000" dirty="0">
                <a:sym typeface="Wingdings" pitchFamily="2" charset="2"/>
              </a:rPr>
              <a:t>T</a:t>
            </a:r>
            <a:r>
              <a:rPr lang="en-US" altLang="zh-CN" sz="3200" b="1" dirty="0">
                <a:sym typeface="Wingdings" pitchFamily="2" charset="2"/>
              </a:rPr>
              <a:t>, x</a:t>
            </a:r>
            <a:r>
              <a:rPr lang="en-US" altLang="zh-CN" sz="3200" b="1" baseline="-25000" dirty="0">
                <a:sym typeface="Wingdings" pitchFamily="2" charset="2"/>
              </a:rPr>
              <a:t>2</a:t>
            </a:r>
            <a:r>
              <a:rPr lang="en-US" altLang="zh-CN" sz="3200" b="1" dirty="0">
                <a:sym typeface="Wingdings" pitchFamily="2" charset="2"/>
              </a:rPr>
              <a:t>=(4,3)</a:t>
            </a:r>
            <a:r>
              <a:rPr lang="en-US" altLang="zh-CN" sz="3200" b="1" baseline="30000" dirty="0">
                <a:sym typeface="Wingdings" pitchFamily="2" charset="2"/>
              </a:rPr>
              <a:t>T</a:t>
            </a:r>
            <a:r>
              <a:rPr lang="en-US" altLang="zh-CN" sz="3200" b="1" dirty="0">
                <a:sym typeface="Wingdings" pitchFamily="2" charset="2"/>
              </a:rPr>
              <a:t>, </a:t>
            </a:r>
          </a:p>
          <a:p>
            <a:pPr marL="0" indent="0">
              <a:buNone/>
            </a:pPr>
            <a:r>
              <a:rPr lang="zh-CN" altLang="en-US" sz="3200" b="1" dirty="0">
                <a:sym typeface="Wingdings" pitchFamily="2" charset="2"/>
              </a:rPr>
              <a:t>     </a:t>
            </a:r>
            <a:r>
              <a:rPr lang="en-US" altLang="zh-CN" sz="3200" b="1" dirty="0">
                <a:sym typeface="Wingdings" pitchFamily="2" charset="2"/>
              </a:rPr>
              <a:t>       </a:t>
            </a:r>
            <a:r>
              <a:rPr lang="zh-CN" altLang="en-US" sz="3200" b="1" dirty="0">
                <a:sym typeface="Wingdings" pitchFamily="2" charset="2"/>
              </a:rPr>
              <a:t>负例：</a:t>
            </a:r>
            <a:r>
              <a:rPr lang="en-US" altLang="zh-CN" sz="3200" b="1" dirty="0">
                <a:sym typeface="Wingdings" pitchFamily="2" charset="2"/>
              </a:rPr>
              <a:t>x</a:t>
            </a:r>
            <a:r>
              <a:rPr lang="en-US" altLang="zh-CN" sz="3200" b="1" baseline="-25000" dirty="0">
                <a:sym typeface="Wingdings" pitchFamily="2" charset="2"/>
              </a:rPr>
              <a:t>3</a:t>
            </a:r>
            <a:r>
              <a:rPr lang="en-US" altLang="zh-CN" sz="3200" b="1" dirty="0">
                <a:sym typeface="Wingdings" pitchFamily="2" charset="2"/>
              </a:rPr>
              <a:t>=(1,1)</a:t>
            </a:r>
            <a:r>
              <a:rPr lang="en-US" altLang="zh-CN" sz="3200" b="1" baseline="30000" dirty="0">
                <a:sym typeface="Wingdings" pitchFamily="2" charset="2"/>
              </a:rPr>
              <a:t> T </a:t>
            </a:r>
            <a:r>
              <a:rPr lang="zh-CN" altLang="en-US" sz="3200" b="1" dirty="0">
                <a:sym typeface="Wingdings" pitchFamily="2" charset="2"/>
              </a:rPr>
              <a:t>，</a:t>
            </a:r>
            <a:endParaRPr lang="en-US" altLang="zh-CN" sz="3200" b="1" dirty="0">
              <a:sym typeface="Wingdings" pitchFamily="2" charset="2"/>
            </a:endParaRPr>
          </a:p>
          <a:p>
            <a:r>
              <a:rPr lang="zh-CN" altLang="en-US" sz="3200" b="1" dirty="0">
                <a:sym typeface="Wingdings" pitchFamily="2" charset="2"/>
              </a:rPr>
              <a:t>用对偶问题求线性可分支持向量机。</a:t>
            </a:r>
            <a:endParaRPr lang="zh-CN" altLang="en-US" b="1" baseline="30000" dirty="0"/>
          </a:p>
          <a:p>
            <a:endParaRPr lang="zh-CN" altLang="en-US" dirty="0"/>
          </a:p>
        </p:txBody>
      </p:sp>
      <p:sp>
        <p:nvSpPr>
          <p:cNvPr id="26628" name="灯片编号占位符 3"/>
          <p:cNvSpPr>
            <a:spLocks noGrp="1"/>
          </p:cNvSpPr>
          <p:nvPr>
            <p:ph type="sldNum" sz="quarter" idx="12"/>
          </p:nvPr>
        </p:nvSpPr>
        <p:spPr>
          <a:noFill/>
        </p:spPr>
        <p:txBody>
          <a:bodyPr/>
          <a:lstStyle/>
          <a:p>
            <a:fld id="{926AD721-8F0C-43FE-BD94-11D0689EEDB1}" type="slidenum">
              <a:rPr lang="en-US" altLang="zh-CN" smtClean="0">
                <a:ea typeface="黑体" pitchFamily="49" charset="-122"/>
              </a:rPr>
              <a:pPr/>
              <a:t>33</a:t>
            </a:fld>
            <a:endParaRPr lang="en-US" altLang="zh-CN">
              <a:ea typeface="黑体" pitchFamily="49" charset="-122"/>
            </a:endParaRPr>
          </a:p>
        </p:txBody>
      </p:sp>
      <p:graphicFrame>
        <p:nvGraphicFramePr>
          <p:cNvPr id="26626" name="Object 2" descr="羊皮纸"/>
          <p:cNvGraphicFramePr>
            <a:graphicFrameLocks noChangeAspect="1"/>
          </p:cNvGraphicFramePr>
          <p:nvPr/>
        </p:nvGraphicFramePr>
        <p:xfrm>
          <a:off x="876300" y="2360224"/>
          <a:ext cx="7359650" cy="3967163"/>
        </p:xfrm>
        <a:graphic>
          <a:graphicData uri="http://schemas.openxmlformats.org/presentationml/2006/ole">
            <mc:AlternateContent xmlns:mc="http://schemas.openxmlformats.org/markup-compatibility/2006">
              <mc:Choice xmlns:v="urn:schemas-microsoft-com:vml" Requires="v">
                <p:oleObj name="公式" r:id="rId2" imgW="2882880" imgH="1549080" progId="Equation.3">
                  <p:embed/>
                </p:oleObj>
              </mc:Choice>
              <mc:Fallback>
                <p:oleObj name="公式" r:id="rId2" imgW="2882880" imgH="1549080" progId="Equation.3">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6300" y="2360224"/>
                        <a:ext cx="7359650" cy="39671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3" name="灯片编号占位符 3"/>
          <p:cNvSpPr>
            <a:spLocks noGrp="1"/>
          </p:cNvSpPr>
          <p:nvPr>
            <p:ph type="sldNum" sz="quarter" idx="12"/>
          </p:nvPr>
        </p:nvSpPr>
        <p:spPr>
          <a:noFill/>
        </p:spPr>
        <p:txBody>
          <a:bodyPr/>
          <a:lstStyle/>
          <a:p>
            <a:fld id="{C1BF6BCC-7BE6-40BF-A5AD-18C24EC2AE43}" type="slidenum">
              <a:rPr lang="en-US" altLang="zh-CN" smtClean="0">
                <a:ea typeface="黑体" pitchFamily="49" charset="-122"/>
              </a:rPr>
              <a:pPr/>
              <a:t>34</a:t>
            </a:fld>
            <a:endParaRPr lang="en-US" altLang="zh-CN">
              <a:ea typeface="黑体" pitchFamily="49" charset="-122"/>
            </a:endParaRPr>
          </a:p>
        </p:txBody>
      </p:sp>
      <p:graphicFrame>
        <p:nvGraphicFramePr>
          <p:cNvPr id="27650" name="Object 2" descr="羊皮纸"/>
          <p:cNvGraphicFramePr>
            <a:graphicFrameLocks noChangeAspect="1"/>
          </p:cNvGraphicFramePr>
          <p:nvPr/>
        </p:nvGraphicFramePr>
        <p:xfrm>
          <a:off x="865188" y="1401763"/>
          <a:ext cx="7102475" cy="4029075"/>
        </p:xfrm>
        <a:graphic>
          <a:graphicData uri="http://schemas.openxmlformats.org/presentationml/2006/ole">
            <mc:AlternateContent xmlns:mc="http://schemas.openxmlformats.org/markup-compatibility/2006">
              <mc:Choice xmlns:v="urn:schemas-microsoft-com:vml" Requires="v">
                <p:oleObj name="公式" r:id="rId3" imgW="2781000" imgH="1574640" progId="Equation.3">
                  <p:embed/>
                </p:oleObj>
              </mc:Choice>
              <mc:Fallback>
                <p:oleObj name="公式" r:id="rId3" imgW="2781000" imgH="157464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5188" y="1401763"/>
                        <a:ext cx="7102475" cy="4029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6" name="灯片编号占位符 3"/>
          <p:cNvSpPr>
            <a:spLocks noGrp="1"/>
          </p:cNvSpPr>
          <p:nvPr>
            <p:ph type="sldNum" sz="quarter" idx="12"/>
          </p:nvPr>
        </p:nvSpPr>
        <p:spPr>
          <a:noFill/>
        </p:spPr>
        <p:txBody>
          <a:bodyPr/>
          <a:lstStyle/>
          <a:p>
            <a:fld id="{E9DD78FB-F315-47C2-8F7D-E5E3B88BC3C0}" type="slidenum">
              <a:rPr lang="en-US" altLang="zh-CN" smtClean="0">
                <a:ea typeface="黑体" pitchFamily="49" charset="-122"/>
              </a:rPr>
              <a:pPr/>
              <a:t>35</a:t>
            </a:fld>
            <a:endParaRPr lang="en-US" altLang="zh-CN">
              <a:ea typeface="黑体" pitchFamily="49" charset="-122"/>
            </a:endParaRPr>
          </a:p>
        </p:txBody>
      </p:sp>
      <p:graphicFrame>
        <p:nvGraphicFramePr>
          <p:cNvPr id="28674" name="Object 2" descr="羊皮纸"/>
          <p:cNvGraphicFramePr>
            <a:graphicFrameLocks noChangeAspect="1"/>
          </p:cNvGraphicFramePr>
          <p:nvPr/>
        </p:nvGraphicFramePr>
        <p:xfrm>
          <a:off x="977900" y="931863"/>
          <a:ext cx="6875463" cy="4970462"/>
        </p:xfrm>
        <a:graphic>
          <a:graphicData uri="http://schemas.openxmlformats.org/presentationml/2006/ole">
            <mc:AlternateContent xmlns:mc="http://schemas.openxmlformats.org/markup-compatibility/2006">
              <mc:Choice xmlns:v="urn:schemas-microsoft-com:vml" Requires="v">
                <p:oleObj name="公式" r:id="rId2" imgW="2692080" imgH="1942920" progId="Equation.3">
                  <p:embed/>
                </p:oleObj>
              </mc:Choice>
              <mc:Fallback>
                <p:oleObj name="公式" r:id="rId2" imgW="2692080" imgH="1942920" progId="Equation.3">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7900" y="931863"/>
                        <a:ext cx="6875463" cy="49704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1" name="灯片编号占位符 3"/>
          <p:cNvSpPr>
            <a:spLocks noGrp="1"/>
          </p:cNvSpPr>
          <p:nvPr>
            <p:ph type="sldNum" sz="quarter" idx="12"/>
          </p:nvPr>
        </p:nvSpPr>
        <p:spPr>
          <a:noFill/>
        </p:spPr>
        <p:txBody>
          <a:bodyPr/>
          <a:lstStyle/>
          <a:p>
            <a:fld id="{897E5434-55B4-44B2-B599-45DDD17C01E3}" type="slidenum">
              <a:rPr lang="en-US" altLang="zh-CN" smtClean="0">
                <a:ea typeface="黑体" pitchFamily="49" charset="-122"/>
              </a:rPr>
              <a:pPr/>
              <a:t>36</a:t>
            </a:fld>
            <a:endParaRPr lang="en-US" altLang="zh-CN">
              <a:ea typeface="黑体" pitchFamily="49" charset="-122"/>
            </a:endParaRPr>
          </a:p>
        </p:txBody>
      </p:sp>
      <p:graphicFrame>
        <p:nvGraphicFramePr>
          <p:cNvPr id="29698" name="Object 2" descr="羊皮纸"/>
          <p:cNvGraphicFramePr>
            <a:graphicFrameLocks noChangeAspect="1"/>
          </p:cNvGraphicFramePr>
          <p:nvPr/>
        </p:nvGraphicFramePr>
        <p:xfrm>
          <a:off x="677863" y="1144588"/>
          <a:ext cx="7880350" cy="4451350"/>
        </p:xfrm>
        <a:graphic>
          <a:graphicData uri="http://schemas.openxmlformats.org/presentationml/2006/ole">
            <mc:AlternateContent xmlns:mc="http://schemas.openxmlformats.org/markup-compatibility/2006">
              <mc:Choice xmlns:v="urn:schemas-microsoft-com:vml" Requires="v">
                <p:oleObj name="公式" r:id="rId3" imgW="3085920" imgH="1739880" progId="Equation.3">
                  <p:embed/>
                </p:oleObj>
              </mc:Choice>
              <mc:Fallback>
                <p:oleObj name="公式" r:id="rId3" imgW="3085920" imgH="173988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7863" y="1144588"/>
                        <a:ext cx="7880350" cy="4451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灯片编号占位符 3"/>
          <p:cNvSpPr>
            <a:spLocks noGrp="1"/>
          </p:cNvSpPr>
          <p:nvPr>
            <p:ph type="sldNum" sz="quarter" idx="12"/>
          </p:nvPr>
        </p:nvSpPr>
        <p:spPr>
          <a:noFill/>
        </p:spPr>
        <p:txBody>
          <a:bodyPr/>
          <a:lstStyle/>
          <a:p>
            <a:fld id="{1A236568-5701-4A04-8295-B9FF37E05F76}" type="slidenum">
              <a:rPr lang="en-US" altLang="zh-CN" smtClean="0">
                <a:ea typeface="黑体" pitchFamily="49" charset="-122"/>
              </a:rPr>
              <a:pPr/>
              <a:t>37</a:t>
            </a:fld>
            <a:endParaRPr lang="en-US" altLang="zh-CN">
              <a:ea typeface="黑体" pitchFamily="49" charset="-122"/>
            </a:endParaRPr>
          </a:p>
        </p:txBody>
      </p:sp>
      <p:sp>
        <p:nvSpPr>
          <p:cNvPr id="87043" name="灯片编号占位符 3"/>
          <p:cNvSpPr txBox="1">
            <a:spLocks/>
          </p:cNvSpPr>
          <p:nvPr/>
        </p:nvSpPr>
        <p:spPr bwMode="auto">
          <a:xfrm>
            <a:off x="6553200" y="6248400"/>
            <a:ext cx="1905000" cy="457200"/>
          </a:xfrm>
          <a:prstGeom prst="rect">
            <a:avLst/>
          </a:prstGeom>
          <a:noFill/>
          <a:ln w="9525">
            <a:noFill/>
            <a:miter lim="800000"/>
            <a:headEnd/>
            <a:tailEnd/>
          </a:ln>
        </p:spPr>
        <p:txBody>
          <a:bodyPr lIns="92075" tIns="46038" rIns="92075" bIns="46038" anchor="ctr"/>
          <a:lstStyle/>
          <a:p>
            <a:pPr algn="r"/>
            <a:fld id="{7C9D522E-0D84-4FB2-B655-4F2BF0018EB1}" type="slidenum">
              <a:rPr kumimoji="0" lang="en-US" altLang="zh-CN" sz="1400"/>
              <a:pPr algn="r"/>
              <a:t>37</a:t>
            </a:fld>
            <a:endParaRPr kumimoji="0" lang="en-US" altLang="zh-CN" sz="1400"/>
          </a:p>
        </p:txBody>
      </p:sp>
      <p:sp>
        <p:nvSpPr>
          <p:cNvPr id="87044" name="灯片编号占位符 3"/>
          <p:cNvSpPr txBox="1">
            <a:spLocks/>
          </p:cNvSpPr>
          <p:nvPr/>
        </p:nvSpPr>
        <p:spPr bwMode="auto">
          <a:xfrm>
            <a:off x="6553200" y="6248400"/>
            <a:ext cx="1905000" cy="457200"/>
          </a:xfrm>
          <a:prstGeom prst="rect">
            <a:avLst/>
          </a:prstGeom>
          <a:noFill/>
          <a:ln w="9525">
            <a:noFill/>
            <a:miter lim="800000"/>
            <a:headEnd/>
            <a:tailEnd/>
          </a:ln>
        </p:spPr>
        <p:txBody>
          <a:bodyPr lIns="92075" tIns="46038" rIns="92075" bIns="46038" anchor="ctr"/>
          <a:lstStyle/>
          <a:p>
            <a:pPr algn="r"/>
            <a:fld id="{0D995B94-25E9-4CC7-A8D0-1F1A0BAB70CD}" type="slidenum">
              <a:rPr kumimoji="0" lang="en-US" altLang="zh-CN" sz="1400"/>
              <a:pPr algn="r"/>
              <a:t>37</a:t>
            </a:fld>
            <a:endParaRPr kumimoji="0" lang="en-US" altLang="zh-CN" sz="1400"/>
          </a:p>
        </p:txBody>
      </p:sp>
      <p:cxnSp>
        <p:nvCxnSpPr>
          <p:cNvPr id="87045" name="直接箭头连接符 5"/>
          <p:cNvCxnSpPr>
            <a:cxnSpLocks noChangeShapeType="1"/>
          </p:cNvCxnSpPr>
          <p:nvPr/>
        </p:nvCxnSpPr>
        <p:spPr bwMode="auto">
          <a:xfrm>
            <a:off x="1439863" y="5872163"/>
            <a:ext cx="7210425" cy="6350"/>
          </a:xfrm>
          <a:prstGeom prst="straightConnector1">
            <a:avLst/>
          </a:prstGeom>
          <a:noFill/>
          <a:ln w="38100" algn="ctr">
            <a:solidFill>
              <a:schemeClr val="tx1"/>
            </a:solidFill>
            <a:round/>
            <a:headEnd/>
            <a:tailEnd type="arrow" w="med" len="med"/>
          </a:ln>
        </p:spPr>
      </p:cxnSp>
      <p:cxnSp>
        <p:nvCxnSpPr>
          <p:cNvPr id="87046" name="直接箭头连接符 6"/>
          <p:cNvCxnSpPr>
            <a:cxnSpLocks noChangeShapeType="1"/>
          </p:cNvCxnSpPr>
          <p:nvPr/>
        </p:nvCxnSpPr>
        <p:spPr bwMode="auto">
          <a:xfrm flipV="1">
            <a:off x="1841500" y="754063"/>
            <a:ext cx="60325" cy="5653087"/>
          </a:xfrm>
          <a:prstGeom prst="straightConnector1">
            <a:avLst/>
          </a:prstGeom>
          <a:noFill/>
          <a:ln w="38100" algn="ctr">
            <a:solidFill>
              <a:schemeClr val="tx1"/>
            </a:solidFill>
            <a:round/>
            <a:headEnd/>
            <a:tailEnd type="arrow" w="med" len="med"/>
          </a:ln>
        </p:spPr>
      </p:cxnSp>
      <p:sp>
        <p:nvSpPr>
          <p:cNvPr id="87047" name="椭圆 10"/>
          <p:cNvSpPr>
            <a:spLocks noChangeArrowheads="1"/>
          </p:cNvSpPr>
          <p:nvPr/>
        </p:nvSpPr>
        <p:spPr bwMode="auto">
          <a:xfrm>
            <a:off x="3248025" y="4735513"/>
            <a:ext cx="187325"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87048" name="矩形 17"/>
          <p:cNvSpPr>
            <a:spLocks noChangeArrowheads="1"/>
          </p:cNvSpPr>
          <p:nvPr/>
        </p:nvSpPr>
        <p:spPr bwMode="auto">
          <a:xfrm>
            <a:off x="6102350" y="2578100"/>
            <a:ext cx="138113" cy="163513"/>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87049" name="矩形 23"/>
          <p:cNvSpPr>
            <a:spLocks noChangeArrowheads="1"/>
          </p:cNvSpPr>
          <p:nvPr/>
        </p:nvSpPr>
        <p:spPr bwMode="auto">
          <a:xfrm>
            <a:off x="7283450" y="2630488"/>
            <a:ext cx="138113" cy="163512"/>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cxnSp>
        <p:nvCxnSpPr>
          <p:cNvPr id="26" name="直接连接符 25"/>
          <p:cNvCxnSpPr/>
          <p:nvPr/>
        </p:nvCxnSpPr>
        <p:spPr bwMode="auto">
          <a:xfrm>
            <a:off x="1901825" y="1684338"/>
            <a:ext cx="5557838" cy="4222750"/>
          </a:xfrm>
          <a:prstGeom prst="line">
            <a:avLst/>
          </a:prstGeom>
          <a:solidFill>
            <a:schemeClr val="accent1"/>
          </a:solidFill>
          <a:ln w="38100" cap="flat" cmpd="sng" algn="ctr">
            <a:solidFill>
              <a:schemeClr val="accent5"/>
            </a:solidFill>
            <a:prstDash val="solid"/>
            <a:round/>
            <a:headEnd type="none" w="med" len="med"/>
            <a:tailEnd type="none" w="med" len="med"/>
          </a:ln>
          <a:effectLst/>
        </p:spPr>
      </p:cxnSp>
      <p:cxnSp>
        <p:nvCxnSpPr>
          <p:cNvPr id="27" name="直接连接符 26"/>
          <p:cNvCxnSpPr/>
          <p:nvPr/>
        </p:nvCxnSpPr>
        <p:spPr bwMode="auto">
          <a:xfrm>
            <a:off x="4021138" y="1001713"/>
            <a:ext cx="3797300" cy="2935287"/>
          </a:xfrm>
          <a:prstGeom prst="line">
            <a:avLst/>
          </a:prstGeom>
          <a:solidFill>
            <a:schemeClr val="accent1"/>
          </a:solidFill>
          <a:ln w="38100" cap="flat" cmpd="sng" algn="ctr">
            <a:solidFill>
              <a:schemeClr val="accent5"/>
            </a:solidFill>
            <a:prstDash val="dash"/>
            <a:round/>
            <a:headEnd type="none" w="med" len="med"/>
            <a:tailEnd type="none" w="med" len="med"/>
          </a:ln>
          <a:effectLst/>
        </p:spPr>
      </p:cxnSp>
      <p:cxnSp>
        <p:nvCxnSpPr>
          <p:cNvPr id="28" name="直接连接符 27"/>
          <p:cNvCxnSpPr/>
          <p:nvPr/>
        </p:nvCxnSpPr>
        <p:spPr bwMode="auto">
          <a:xfrm>
            <a:off x="1727200" y="3598863"/>
            <a:ext cx="3208338" cy="2438400"/>
          </a:xfrm>
          <a:prstGeom prst="line">
            <a:avLst/>
          </a:prstGeom>
          <a:solidFill>
            <a:schemeClr val="accent1"/>
          </a:solidFill>
          <a:ln w="38100" cap="flat" cmpd="sng" algn="ctr">
            <a:solidFill>
              <a:schemeClr val="accent5"/>
            </a:solidFill>
            <a:prstDash val="dash"/>
            <a:round/>
            <a:headEnd type="none" w="med" len="med"/>
            <a:tailEnd type="none" w="med" len="med"/>
          </a:ln>
          <a:effectLst/>
        </p:spPr>
      </p:cxnSp>
      <p:cxnSp>
        <p:nvCxnSpPr>
          <p:cNvPr id="87053" name="直接连接符 49"/>
          <p:cNvCxnSpPr>
            <a:cxnSpLocks noChangeShapeType="1"/>
          </p:cNvCxnSpPr>
          <p:nvPr/>
        </p:nvCxnSpPr>
        <p:spPr bwMode="auto">
          <a:xfrm>
            <a:off x="3381375" y="5819775"/>
            <a:ext cx="0" cy="174625"/>
          </a:xfrm>
          <a:prstGeom prst="line">
            <a:avLst/>
          </a:prstGeom>
          <a:noFill/>
          <a:ln w="38100" algn="ctr">
            <a:solidFill>
              <a:schemeClr val="tx1"/>
            </a:solidFill>
            <a:round/>
            <a:headEnd/>
            <a:tailEnd/>
          </a:ln>
        </p:spPr>
      </p:cxnSp>
      <p:cxnSp>
        <p:nvCxnSpPr>
          <p:cNvPr id="87054" name="直接连接符 58"/>
          <p:cNvCxnSpPr>
            <a:cxnSpLocks noChangeShapeType="1"/>
          </p:cNvCxnSpPr>
          <p:nvPr/>
        </p:nvCxnSpPr>
        <p:spPr bwMode="auto">
          <a:xfrm>
            <a:off x="6270625" y="5834063"/>
            <a:ext cx="0" cy="174625"/>
          </a:xfrm>
          <a:prstGeom prst="line">
            <a:avLst/>
          </a:prstGeom>
          <a:noFill/>
          <a:ln w="38100" algn="ctr">
            <a:solidFill>
              <a:schemeClr val="tx1"/>
            </a:solidFill>
            <a:round/>
            <a:headEnd/>
            <a:tailEnd/>
          </a:ln>
        </p:spPr>
      </p:cxnSp>
      <p:cxnSp>
        <p:nvCxnSpPr>
          <p:cNvPr id="87055" name="直接连接符 59"/>
          <p:cNvCxnSpPr>
            <a:cxnSpLocks noChangeShapeType="1"/>
          </p:cNvCxnSpPr>
          <p:nvPr/>
        </p:nvCxnSpPr>
        <p:spPr bwMode="auto">
          <a:xfrm>
            <a:off x="7459663" y="5819775"/>
            <a:ext cx="0" cy="174625"/>
          </a:xfrm>
          <a:prstGeom prst="line">
            <a:avLst/>
          </a:prstGeom>
          <a:noFill/>
          <a:ln w="38100" algn="ctr">
            <a:solidFill>
              <a:schemeClr val="tx1"/>
            </a:solidFill>
            <a:round/>
            <a:headEnd/>
            <a:tailEnd/>
          </a:ln>
        </p:spPr>
      </p:cxnSp>
      <p:cxnSp>
        <p:nvCxnSpPr>
          <p:cNvPr id="87056" name="直接连接符 60"/>
          <p:cNvCxnSpPr>
            <a:cxnSpLocks noChangeShapeType="1"/>
          </p:cNvCxnSpPr>
          <p:nvPr/>
        </p:nvCxnSpPr>
        <p:spPr bwMode="auto">
          <a:xfrm>
            <a:off x="4919663" y="5819775"/>
            <a:ext cx="0" cy="174625"/>
          </a:xfrm>
          <a:prstGeom prst="line">
            <a:avLst/>
          </a:prstGeom>
          <a:noFill/>
          <a:ln w="38100" algn="ctr">
            <a:solidFill>
              <a:schemeClr val="tx1"/>
            </a:solidFill>
            <a:round/>
            <a:headEnd/>
            <a:tailEnd/>
          </a:ln>
        </p:spPr>
      </p:cxnSp>
      <p:cxnSp>
        <p:nvCxnSpPr>
          <p:cNvPr id="87058" name="直接连接符 63"/>
          <p:cNvCxnSpPr>
            <a:cxnSpLocks noChangeShapeType="1"/>
          </p:cNvCxnSpPr>
          <p:nvPr/>
        </p:nvCxnSpPr>
        <p:spPr bwMode="auto">
          <a:xfrm flipH="1">
            <a:off x="1800225" y="1684338"/>
            <a:ext cx="173038" cy="0"/>
          </a:xfrm>
          <a:prstGeom prst="line">
            <a:avLst/>
          </a:prstGeom>
          <a:noFill/>
          <a:ln w="38100" algn="ctr">
            <a:solidFill>
              <a:schemeClr val="tx1"/>
            </a:solidFill>
            <a:round/>
            <a:headEnd/>
            <a:tailEnd/>
          </a:ln>
        </p:spPr>
      </p:cxnSp>
      <p:cxnSp>
        <p:nvCxnSpPr>
          <p:cNvPr id="87059" name="直接连接符 64"/>
          <p:cNvCxnSpPr>
            <a:cxnSpLocks noChangeShapeType="1"/>
          </p:cNvCxnSpPr>
          <p:nvPr/>
        </p:nvCxnSpPr>
        <p:spPr bwMode="auto">
          <a:xfrm flipH="1">
            <a:off x="1800225" y="3629025"/>
            <a:ext cx="173038" cy="0"/>
          </a:xfrm>
          <a:prstGeom prst="line">
            <a:avLst/>
          </a:prstGeom>
          <a:noFill/>
          <a:ln w="38100" algn="ctr">
            <a:solidFill>
              <a:schemeClr val="tx1"/>
            </a:solidFill>
            <a:round/>
            <a:headEnd/>
            <a:tailEnd/>
          </a:ln>
        </p:spPr>
      </p:cxnSp>
      <p:cxnSp>
        <p:nvCxnSpPr>
          <p:cNvPr id="87060" name="直接连接符 65"/>
          <p:cNvCxnSpPr>
            <a:cxnSpLocks noChangeShapeType="1"/>
          </p:cNvCxnSpPr>
          <p:nvPr/>
        </p:nvCxnSpPr>
        <p:spPr bwMode="auto">
          <a:xfrm flipH="1">
            <a:off x="1800225" y="2582863"/>
            <a:ext cx="173038" cy="0"/>
          </a:xfrm>
          <a:prstGeom prst="line">
            <a:avLst/>
          </a:prstGeom>
          <a:noFill/>
          <a:ln w="38100" algn="ctr">
            <a:solidFill>
              <a:schemeClr val="tx1"/>
            </a:solidFill>
            <a:round/>
            <a:headEnd/>
            <a:tailEnd/>
          </a:ln>
        </p:spPr>
      </p:cxnSp>
      <p:cxnSp>
        <p:nvCxnSpPr>
          <p:cNvPr id="87061" name="直接连接符 66"/>
          <p:cNvCxnSpPr>
            <a:cxnSpLocks noChangeShapeType="1"/>
          </p:cNvCxnSpPr>
          <p:nvPr/>
        </p:nvCxnSpPr>
        <p:spPr bwMode="auto">
          <a:xfrm flipH="1">
            <a:off x="1785938" y="4760913"/>
            <a:ext cx="173037" cy="0"/>
          </a:xfrm>
          <a:prstGeom prst="line">
            <a:avLst/>
          </a:prstGeom>
          <a:noFill/>
          <a:ln w="38100" algn="ctr">
            <a:solidFill>
              <a:schemeClr val="tx1"/>
            </a:solidFill>
            <a:round/>
            <a:headEnd/>
            <a:tailEnd/>
          </a:ln>
        </p:spPr>
      </p:cxnSp>
    </p:spTree>
    <p:extLst>
      <p:ext uri="{BB962C8B-B14F-4D97-AF65-F5344CB8AC3E}">
        <p14:creationId xmlns:p14="http://schemas.microsoft.com/office/powerpoint/2010/main" val="221511295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a:t>线性支持向量机</a:t>
            </a:r>
          </a:p>
        </p:txBody>
      </p:sp>
      <p:sp>
        <p:nvSpPr>
          <p:cNvPr id="89091" name="灯片编号占位符 3"/>
          <p:cNvSpPr>
            <a:spLocks noGrp="1"/>
          </p:cNvSpPr>
          <p:nvPr>
            <p:ph type="sldNum" sz="quarter" idx="12"/>
          </p:nvPr>
        </p:nvSpPr>
        <p:spPr>
          <a:xfrm>
            <a:off x="6553200" y="5783263"/>
            <a:ext cx="1905000" cy="457200"/>
          </a:xfrm>
          <a:noFill/>
        </p:spPr>
        <p:txBody>
          <a:bodyPr/>
          <a:lstStyle/>
          <a:p>
            <a:fld id="{39E421F9-E618-4F0E-A104-91D499B13212}" type="slidenum">
              <a:rPr lang="en-US" altLang="zh-CN" smtClean="0">
                <a:ea typeface="黑体" pitchFamily="49" charset="-122"/>
              </a:rPr>
              <a:pPr/>
              <a:t>38</a:t>
            </a:fld>
            <a:endParaRPr lang="en-US" altLang="zh-CN">
              <a:ea typeface="黑体" pitchFamily="49" charset="-122"/>
            </a:endParaRPr>
          </a:p>
        </p:txBody>
      </p:sp>
      <p:cxnSp>
        <p:nvCxnSpPr>
          <p:cNvPr id="89092" name="直接箭头连接符 4"/>
          <p:cNvCxnSpPr>
            <a:cxnSpLocks noChangeShapeType="1"/>
          </p:cNvCxnSpPr>
          <p:nvPr/>
        </p:nvCxnSpPr>
        <p:spPr bwMode="auto">
          <a:xfrm flipV="1">
            <a:off x="1316038" y="5999163"/>
            <a:ext cx="6511925" cy="25400"/>
          </a:xfrm>
          <a:prstGeom prst="straightConnector1">
            <a:avLst/>
          </a:prstGeom>
          <a:noFill/>
          <a:ln w="38100" algn="ctr">
            <a:solidFill>
              <a:schemeClr val="tx1"/>
            </a:solidFill>
            <a:round/>
            <a:headEnd/>
            <a:tailEnd type="arrow" w="med" len="med"/>
          </a:ln>
        </p:spPr>
      </p:cxnSp>
      <p:cxnSp>
        <p:nvCxnSpPr>
          <p:cNvPr id="89093" name="直接箭头连接符 5"/>
          <p:cNvCxnSpPr>
            <a:cxnSpLocks noChangeShapeType="1"/>
          </p:cNvCxnSpPr>
          <p:nvPr/>
        </p:nvCxnSpPr>
        <p:spPr bwMode="auto">
          <a:xfrm flipV="1">
            <a:off x="1614488" y="2633663"/>
            <a:ext cx="50800" cy="3608387"/>
          </a:xfrm>
          <a:prstGeom prst="straightConnector1">
            <a:avLst/>
          </a:prstGeom>
          <a:noFill/>
          <a:ln w="38100" algn="ctr">
            <a:solidFill>
              <a:schemeClr val="tx1"/>
            </a:solidFill>
            <a:round/>
            <a:headEnd/>
            <a:tailEnd type="arrow" w="med" len="med"/>
          </a:ln>
        </p:spPr>
      </p:cxnSp>
      <p:sp>
        <p:nvSpPr>
          <p:cNvPr id="89094" name="椭圆 6"/>
          <p:cNvSpPr>
            <a:spLocks noChangeArrowheads="1"/>
          </p:cNvSpPr>
          <p:nvPr/>
        </p:nvSpPr>
        <p:spPr bwMode="auto">
          <a:xfrm>
            <a:off x="3357563" y="4308475"/>
            <a:ext cx="187325"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89095" name="椭圆 7"/>
          <p:cNvSpPr>
            <a:spLocks noChangeArrowheads="1"/>
          </p:cNvSpPr>
          <p:nvPr/>
        </p:nvSpPr>
        <p:spPr bwMode="auto">
          <a:xfrm>
            <a:off x="2205038" y="3732213"/>
            <a:ext cx="187325"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89096" name="椭圆 8"/>
          <p:cNvSpPr>
            <a:spLocks noChangeArrowheads="1"/>
          </p:cNvSpPr>
          <p:nvPr/>
        </p:nvSpPr>
        <p:spPr bwMode="auto">
          <a:xfrm>
            <a:off x="3455988" y="4972050"/>
            <a:ext cx="187325"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89097" name="椭圆 9"/>
          <p:cNvSpPr>
            <a:spLocks noChangeArrowheads="1"/>
          </p:cNvSpPr>
          <p:nvPr/>
        </p:nvSpPr>
        <p:spPr bwMode="auto">
          <a:xfrm>
            <a:off x="2630488" y="4597400"/>
            <a:ext cx="187325"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89098" name="椭圆 10"/>
          <p:cNvSpPr>
            <a:spLocks noChangeArrowheads="1"/>
          </p:cNvSpPr>
          <p:nvPr/>
        </p:nvSpPr>
        <p:spPr bwMode="auto">
          <a:xfrm>
            <a:off x="3970338" y="4183063"/>
            <a:ext cx="187325"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89099" name="椭圆 11"/>
          <p:cNvSpPr>
            <a:spLocks noChangeArrowheads="1"/>
          </p:cNvSpPr>
          <p:nvPr/>
        </p:nvSpPr>
        <p:spPr bwMode="auto">
          <a:xfrm>
            <a:off x="2851195" y="3206750"/>
            <a:ext cx="187325"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89100" name="椭圆 12"/>
          <p:cNvSpPr>
            <a:spLocks noChangeArrowheads="1"/>
          </p:cNvSpPr>
          <p:nvPr/>
        </p:nvSpPr>
        <p:spPr bwMode="auto">
          <a:xfrm>
            <a:off x="2767013" y="4157663"/>
            <a:ext cx="187325" cy="214312"/>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89101" name="椭圆 13"/>
          <p:cNvSpPr>
            <a:spLocks noChangeArrowheads="1"/>
          </p:cNvSpPr>
          <p:nvPr/>
        </p:nvSpPr>
        <p:spPr bwMode="auto">
          <a:xfrm>
            <a:off x="2116138" y="4471988"/>
            <a:ext cx="187325"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89102" name="椭圆 14"/>
          <p:cNvSpPr>
            <a:spLocks noChangeArrowheads="1"/>
          </p:cNvSpPr>
          <p:nvPr/>
        </p:nvSpPr>
        <p:spPr bwMode="auto">
          <a:xfrm>
            <a:off x="2916238" y="4922838"/>
            <a:ext cx="190500"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89103" name="矩形 15"/>
          <p:cNvSpPr>
            <a:spLocks noChangeArrowheads="1"/>
          </p:cNvSpPr>
          <p:nvPr/>
        </p:nvSpPr>
        <p:spPr bwMode="auto">
          <a:xfrm>
            <a:off x="4659313" y="2868613"/>
            <a:ext cx="136525" cy="161925"/>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89104" name="矩形 16"/>
          <p:cNvSpPr>
            <a:spLocks noChangeArrowheads="1"/>
          </p:cNvSpPr>
          <p:nvPr/>
        </p:nvSpPr>
        <p:spPr bwMode="auto">
          <a:xfrm>
            <a:off x="5497513" y="2366963"/>
            <a:ext cx="139700" cy="163512"/>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89105" name="矩形 17"/>
          <p:cNvSpPr>
            <a:spLocks noChangeArrowheads="1"/>
          </p:cNvSpPr>
          <p:nvPr/>
        </p:nvSpPr>
        <p:spPr bwMode="auto">
          <a:xfrm>
            <a:off x="5888038" y="3130550"/>
            <a:ext cx="136525" cy="163513"/>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89106" name="矩形 18"/>
          <p:cNvSpPr>
            <a:spLocks noChangeArrowheads="1"/>
          </p:cNvSpPr>
          <p:nvPr/>
        </p:nvSpPr>
        <p:spPr bwMode="auto">
          <a:xfrm>
            <a:off x="5221288" y="2843213"/>
            <a:ext cx="139700" cy="161925"/>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89107" name="矩形 19"/>
          <p:cNvSpPr>
            <a:spLocks noChangeArrowheads="1"/>
          </p:cNvSpPr>
          <p:nvPr/>
        </p:nvSpPr>
        <p:spPr bwMode="auto">
          <a:xfrm>
            <a:off x="5722938" y="3806825"/>
            <a:ext cx="139700" cy="163513"/>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89108" name="矩形 20"/>
          <p:cNvSpPr>
            <a:spLocks noChangeArrowheads="1"/>
          </p:cNvSpPr>
          <p:nvPr/>
        </p:nvSpPr>
        <p:spPr bwMode="auto">
          <a:xfrm>
            <a:off x="5135563" y="3306763"/>
            <a:ext cx="136525" cy="161925"/>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89109" name="矩形 21"/>
          <p:cNvSpPr>
            <a:spLocks noChangeArrowheads="1"/>
          </p:cNvSpPr>
          <p:nvPr/>
        </p:nvSpPr>
        <p:spPr bwMode="auto">
          <a:xfrm>
            <a:off x="6573838" y="3557588"/>
            <a:ext cx="139700" cy="161925"/>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89110" name="矩形 22"/>
          <p:cNvSpPr>
            <a:spLocks noChangeArrowheads="1"/>
          </p:cNvSpPr>
          <p:nvPr/>
        </p:nvSpPr>
        <p:spPr bwMode="auto">
          <a:xfrm>
            <a:off x="6373813" y="2667000"/>
            <a:ext cx="139700" cy="163513"/>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89112" name="椭圆 32"/>
          <p:cNvSpPr>
            <a:spLocks noChangeArrowheads="1"/>
          </p:cNvSpPr>
          <p:nvPr/>
        </p:nvSpPr>
        <p:spPr bwMode="auto">
          <a:xfrm>
            <a:off x="2870998" y="2545678"/>
            <a:ext cx="187325"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89113" name="矩形 15"/>
          <p:cNvSpPr>
            <a:spLocks noChangeArrowheads="1"/>
          </p:cNvSpPr>
          <p:nvPr/>
        </p:nvSpPr>
        <p:spPr bwMode="auto">
          <a:xfrm>
            <a:off x="3556000" y="3624263"/>
            <a:ext cx="136525" cy="161925"/>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89114" name="椭圆 10"/>
          <p:cNvSpPr>
            <a:spLocks noChangeArrowheads="1"/>
          </p:cNvSpPr>
          <p:nvPr/>
        </p:nvSpPr>
        <p:spPr bwMode="auto">
          <a:xfrm>
            <a:off x="4466107" y="3300778"/>
            <a:ext cx="187325"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89115" name="矩形 15"/>
          <p:cNvSpPr>
            <a:spLocks noChangeArrowheads="1"/>
          </p:cNvSpPr>
          <p:nvPr/>
        </p:nvSpPr>
        <p:spPr bwMode="auto">
          <a:xfrm>
            <a:off x="5008461" y="3915101"/>
            <a:ext cx="136525" cy="161925"/>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grpSp>
        <p:nvGrpSpPr>
          <p:cNvPr id="4" name="组合 23">
            <a:extLst>
              <a:ext uri="{FF2B5EF4-FFF2-40B4-BE49-F238E27FC236}">
                <a16:creationId xmlns:a16="http://schemas.microsoft.com/office/drawing/2014/main" id="{A613F9EB-1447-C576-CDF2-2CACEFE76293}"/>
              </a:ext>
            </a:extLst>
          </p:cNvPr>
          <p:cNvGrpSpPr>
            <a:grpSpLocks/>
          </p:cNvGrpSpPr>
          <p:nvPr/>
        </p:nvGrpSpPr>
        <p:grpSpPr bwMode="auto">
          <a:xfrm>
            <a:off x="2033453" y="1889921"/>
            <a:ext cx="4659176" cy="3898105"/>
            <a:chOff x="2259895" y="2027723"/>
            <a:chExt cx="4658738" cy="3898431"/>
          </a:xfrm>
        </p:grpSpPr>
        <p:cxnSp>
          <p:nvCxnSpPr>
            <p:cNvPr id="6" name="直接连接符 24">
              <a:extLst>
                <a:ext uri="{FF2B5EF4-FFF2-40B4-BE49-F238E27FC236}">
                  <a16:creationId xmlns:a16="http://schemas.microsoft.com/office/drawing/2014/main" id="{B5D7BAE2-3F0F-0403-CBFC-3230C92A98E3}"/>
                </a:ext>
              </a:extLst>
            </p:cNvPr>
            <p:cNvCxnSpPr/>
            <p:nvPr/>
          </p:nvCxnSpPr>
          <p:spPr bwMode="auto">
            <a:xfrm>
              <a:off x="2848388" y="2466702"/>
              <a:ext cx="3493759" cy="2945059"/>
            </a:xfrm>
            <a:prstGeom prst="line">
              <a:avLst/>
            </a:prstGeom>
            <a:solidFill>
              <a:schemeClr val="accent1"/>
            </a:solidFill>
            <a:ln w="38100" cap="flat" cmpd="sng" algn="ctr">
              <a:solidFill>
                <a:schemeClr val="accent5"/>
              </a:solidFill>
              <a:prstDash val="solid"/>
              <a:round/>
              <a:headEnd type="none" w="med" len="med"/>
              <a:tailEnd type="none" w="med" len="med"/>
            </a:ln>
            <a:effectLst/>
          </p:spPr>
        </p:cxnSp>
        <p:cxnSp>
          <p:nvCxnSpPr>
            <p:cNvPr id="8" name="直接连接符 29">
              <a:extLst>
                <a:ext uri="{FF2B5EF4-FFF2-40B4-BE49-F238E27FC236}">
                  <a16:creationId xmlns:a16="http://schemas.microsoft.com/office/drawing/2014/main" id="{C4D316EF-4D9A-9B12-DB3A-7BF7D10C649D}"/>
                </a:ext>
              </a:extLst>
            </p:cNvPr>
            <p:cNvCxnSpPr/>
            <p:nvPr/>
          </p:nvCxnSpPr>
          <p:spPr bwMode="auto">
            <a:xfrm>
              <a:off x="3424874" y="2027723"/>
              <a:ext cx="3493759" cy="2945059"/>
            </a:xfrm>
            <a:prstGeom prst="line">
              <a:avLst/>
            </a:prstGeom>
            <a:solidFill>
              <a:schemeClr val="accent1"/>
            </a:solidFill>
            <a:ln w="38100" cap="flat" cmpd="sng" algn="ctr">
              <a:solidFill>
                <a:schemeClr val="accent5"/>
              </a:solidFill>
              <a:prstDash val="solid"/>
              <a:round/>
              <a:headEnd type="none" w="med" len="med"/>
              <a:tailEnd type="none" w="med" len="med"/>
            </a:ln>
            <a:effectLst/>
          </p:spPr>
        </p:cxnSp>
        <p:cxnSp>
          <p:nvCxnSpPr>
            <p:cNvPr id="9" name="直接连接符 30">
              <a:extLst>
                <a:ext uri="{FF2B5EF4-FFF2-40B4-BE49-F238E27FC236}">
                  <a16:creationId xmlns:a16="http://schemas.microsoft.com/office/drawing/2014/main" id="{4EB2E027-D3E5-EA9A-1C41-980307649254}"/>
                </a:ext>
              </a:extLst>
            </p:cNvPr>
            <p:cNvCxnSpPr/>
            <p:nvPr/>
          </p:nvCxnSpPr>
          <p:spPr bwMode="auto">
            <a:xfrm>
              <a:off x="2259895" y="2981095"/>
              <a:ext cx="3493759" cy="2945059"/>
            </a:xfrm>
            <a:prstGeom prst="line">
              <a:avLst/>
            </a:prstGeom>
            <a:solidFill>
              <a:schemeClr val="accent1"/>
            </a:solidFill>
            <a:ln w="38100" cap="flat" cmpd="sng" algn="ctr">
              <a:solidFill>
                <a:schemeClr val="accent5"/>
              </a:solidFill>
              <a:prstDash val="solid"/>
              <a:round/>
              <a:headEnd type="none" w="med" len="med"/>
              <a:tailEnd type="none" w="med" len="med"/>
            </a:ln>
            <a:effectLst/>
          </p:spPr>
        </p:cxnSp>
      </p:grpSp>
    </p:spTree>
    <p:extLst>
      <p:ext uri="{BB962C8B-B14F-4D97-AF65-F5344CB8AC3E}">
        <p14:creationId xmlns:p14="http://schemas.microsoft.com/office/powerpoint/2010/main" val="3774476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a:t>线性支持向量机</a:t>
            </a:r>
          </a:p>
        </p:txBody>
      </p:sp>
      <p:sp>
        <p:nvSpPr>
          <p:cNvPr id="89091" name="灯片编号占位符 3"/>
          <p:cNvSpPr>
            <a:spLocks noGrp="1"/>
          </p:cNvSpPr>
          <p:nvPr>
            <p:ph type="sldNum" sz="quarter" idx="12"/>
          </p:nvPr>
        </p:nvSpPr>
        <p:spPr>
          <a:xfrm>
            <a:off x="6553200" y="5783263"/>
            <a:ext cx="1905000" cy="457200"/>
          </a:xfrm>
          <a:noFill/>
        </p:spPr>
        <p:txBody>
          <a:bodyPr/>
          <a:lstStyle/>
          <a:p>
            <a:fld id="{39E421F9-E618-4F0E-A104-91D499B13212}" type="slidenum">
              <a:rPr lang="en-US" altLang="zh-CN" smtClean="0">
                <a:ea typeface="黑体" pitchFamily="49" charset="-122"/>
              </a:rPr>
              <a:pPr/>
              <a:t>39</a:t>
            </a:fld>
            <a:endParaRPr lang="en-US" altLang="zh-CN">
              <a:ea typeface="黑体" pitchFamily="49" charset="-122"/>
            </a:endParaRPr>
          </a:p>
        </p:txBody>
      </p:sp>
      <p:cxnSp>
        <p:nvCxnSpPr>
          <p:cNvPr id="89092" name="直接箭头连接符 4"/>
          <p:cNvCxnSpPr>
            <a:cxnSpLocks noChangeShapeType="1"/>
          </p:cNvCxnSpPr>
          <p:nvPr/>
        </p:nvCxnSpPr>
        <p:spPr bwMode="auto">
          <a:xfrm flipV="1">
            <a:off x="1316038" y="5999163"/>
            <a:ext cx="6511925" cy="25400"/>
          </a:xfrm>
          <a:prstGeom prst="straightConnector1">
            <a:avLst/>
          </a:prstGeom>
          <a:noFill/>
          <a:ln w="38100" algn="ctr">
            <a:solidFill>
              <a:schemeClr val="tx1"/>
            </a:solidFill>
            <a:round/>
            <a:headEnd/>
            <a:tailEnd type="arrow" w="med" len="med"/>
          </a:ln>
        </p:spPr>
      </p:cxnSp>
      <p:cxnSp>
        <p:nvCxnSpPr>
          <p:cNvPr id="89093" name="直接箭头连接符 5"/>
          <p:cNvCxnSpPr>
            <a:cxnSpLocks noChangeShapeType="1"/>
          </p:cNvCxnSpPr>
          <p:nvPr/>
        </p:nvCxnSpPr>
        <p:spPr bwMode="auto">
          <a:xfrm flipV="1">
            <a:off x="1614488" y="2633663"/>
            <a:ext cx="50800" cy="3608387"/>
          </a:xfrm>
          <a:prstGeom prst="straightConnector1">
            <a:avLst/>
          </a:prstGeom>
          <a:noFill/>
          <a:ln w="38100" algn="ctr">
            <a:solidFill>
              <a:schemeClr val="tx1"/>
            </a:solidFill>
            <a:round/>
            <a:headEnd/>
            <a:tailEnd type="arrow" w="med" len="med"/>
          </a:ln>
        </p:spPr>
      </p:cxnSp>
      <p:sp>
        <p:nvSpPr>
          <p:cNvPr id="89094" name="椭圆 6"/>
          <p:cNvSpPr>
            <a:spLocks noChangeArrowheads="1"/>
          </p:cNvSpPr>
          <p:nvPr/>
        </p:nvSpPr>
        <p:spPr bwMode="auto">
          <a:xfrm>
            <a:off x="3357563" y="4308475"/>
            <a:ext cx="187325"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89095" name="椭圆 7"/>
          <p:cNvSpPr>
            <a:spLocks noChangeArrowheads="1"/>
          </p:cNvSpPr>
          <p:nvPr/>
        </p:nvSpPr>
        <p:spPr bwMode="auto">
          <a:xfrm>
            <a:off x="2205038" y="3732213"/>
            <a:ext cx="187325"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89096" name="椭圆 8"/>
          <p:cNvSpPr>
            <a:spLocks noChangeArrowheads="1"/>
          </p:cNvSpPr>
          <p:nvPr/>
        </p:nvSpPr>
        <p:spPr bwMode="auto">
          <a:xfrm>
            <a:off x="3455988" y="4972050"/>
            <a:ext cx="187325"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89097" name="椭圆 9"/>
          <p:cNvSpPr>
            <a:spLocks noChangeArrowheads="1"/>
          </p:cNvSpPr>
          <p:nvPr/>
        </p:nvSpPr>
        <p:spPr bwMode="auto">
          <a:xfrm>
            <a:off x="2630488" y="4597400"/>
            <a:ext cx="187325"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89098" name="椭圆 10"/>
          <p:cNvSpPr>
            <a:spLocks noChangeArrowheads="1"/>
          </p:cNvSpPr>
          <p:nvPr/>
        </p:nvSpPr>
        <p:spPr bwMode="auto">
          <a:xfrm>
            <a:off x="3970338" y="4183063"/>
            <a:ext cx="187325"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89099" name="椭圆 11"/>
          <p:cNvSpPr>
            <a:spLocks noChangeArrowheads="1"/>
          </p:cNvSpPr>
          <p:nvPr/>
        </p:nvSpPr>
        <p:spPr bwMode="auto">
          <a:xfrm>
            <a:off x="2851195" y="3206750"/>
            <a:ext cx="187325"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89100" name="椭圆 12"/>
          <p:cNvSpPr>
            <a:spLocks noChangeArrowheads="1"/>
          </p:cNvSpPr>
          <p:nvPr/>
        </p:nvSpPr>
        <p:spPr bwMode="auto">
          <a:xfrm>
            <a:off x="2767013" y="4157663"/>
            <a:ext cx="187325" cy="214312"/>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89101" name="椭圆 13"/>
          <p:cNvSpPr>
            <a:spLocks noChangeArrowheads="1"/>
          </p:cNvSpPr>
          <p:nvPr/>
        </p:nvSpPr>
        <p:spPr bwMode="auto">
          <a:xfrm>
            <a:off x="2116138" y="4471988"/>
            <a:ext cx="187325"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89102" name="椭圆 14"/>
          <p:cNvSpPr>
            <a:spLocks noChangeArrowheads="1"/>
          </p:cNvSpPr>
          <p:nvPr/>
        </p:nvSpPr>
        <p:spPr bwMode="auto">
          <a:xfrm>
            <a:off x="2916238" y="4922838"/>
            <a:ext cx="190500"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89103" name="矩形 15"/>
          <p:cNvSpPr>
            <a:spLocks noChangeArrowheads="1"/>
          </p:cNvSpPr>
          <p:nvPr/>
        </p:nvSpPr>
        <p:spPr bwMode="auto">
          <a:xfrm>
            <a:off x="4659313" y="2868613"/>
            <a:ext cx="136525" cy="161925"/>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89104" name="矩形 16"/>
          <p:cNvSpPr>
            <a:spLocks noChangeArrowheads="1"/>
          </p:cNvSpPr>
          <p:nvPr/>
        </p:nvSpPr>
        <p:spPr bwMode="auto">
          <a:xfrm>
            <a:off x="5497513" y="2366963"/>
            <a:ext cx="139700" cy="163512"/>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89105" name="矩形 17"/>
          <p:cNvSpPr>
            <a:spLocks noChangeArrowheads="1"/>
          </p:cNvSpPr>
          <p:nvPr/>
        </p:nvSpPr>
        <p:spPr bwMode="auto">
          <a:xfrm>
            <a:off x="5888038" y="3130550"/>
            <a:ext cx="136525" cy="163513"/>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89106" name="矩形 18"/>
          <p:cNvSpPr>
            <a:spLocks noChangeArrowheads="1"/>
          </p:cNvSpPr>
          <p:nvPr/>
        </p:nvSpPr>
        <p:spPr bwMode="auto">
          <a:xfrm>
            <a:off x="5221288" y="2843213"/>
            <a:ext cx="139700" cy="161925"/>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89107" name="矩形 19"/>
          <p:cNvSpPr>
            <a:spLocks noChangeArrowheads="1"/>
          </p:cNvSpPr>
          <p:nvPr/>
        </p:nvSpPr>
        <p:spPr bwMode="auto">
          <a:xfrm>
            <a:off x="5722938" y="3806825"/>
            <a:ext cx="139700" cy="163513"/>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89108" name="矩形 20"/>
          <p:cNvSpPr>
            <a:spLocks noChangeArrowheads="1"/>
          </p:cNvSpPr>
          <p:nvPr/>
        </p:nvSpPr>
        <p:spPr bwMode="auto">
          <a:xfrm>
            <a:off x="5135563" y="3306763"/>
            <a:ext cx="136525" cy="161925"/>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89109" name="矩形 21"/>
          <p:cNvSpPr>
            <a:spLocks noChangeArrowheads="1"/>
          </p:cNvSpPr>
          <p:nvPr/>
        </p:nvSpPr>
        <p:spPr bwMode="auto">
          <a:xfrm>
            <a:off x="6573838" y="3557588"/>
            <a:ext cx="139700" cy="161925"/>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89110" name="矩形 22"/>
          <p:cNvSpPr>
            <a:spLocks noChangeArrowheads="1"/>
          </p:cNvSpPr>
          <p:nvPr/>
        </p:nvSpPr>
        <p:spPr bwMode="auto">
          <a:xfrm>
            <a:off x="6373813" y="2667000"/>
            <a:ext cx="139700" cy="163513"/>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grpSp>
        <p:nvGrpSpPr>
          <p:cNvPr id="3" name="组合 23"/>
          <p:cNvGrpSpPr>
            <a:grpSpLocks/>
          </p:cNvGrpSpPr>
          <p:nvPr/>
        </p:nvGrpSpPr>
        <p:grpSpPr bwMode="auto">
          <a:xfrm>
            <a:off x="1727795" y="1383657"/>
            <a:ext cx="5147725" cy="4238903"/>
            <a:chOff x="1954266" y="1521417"/>
            <a:chExt cx="5147237" cy="4239252"/>
          </a:xfrm>
        </p:grpSpPr>
        <p:cxnSp>
          <p:nvCxnSpPr>
            <p:cNvPr id="25" name="直接连接符 24"/>
            <p:cNvCxnSpPr/>
            <p:nvPr/>
          </p:nvCxnSpPr>
          <p:spPr bwMode="auto">
            <a:xfrm>
              <a:off x="2961591" y="2362185"/>
              <a:ext cx="3493759" cy="2945059"/>
            </a:xfrm>
            <a:prstGeom prst="line">
              <a:avLst/>
            </a:prstGeom>
            <a:solidFill>
              <a:schemeClr val="accent1"/>
            </a:solidFill>
            <a:ln w="38100" cap="flat" cmpd="sng" algn="ctr">
              <a:solidFill>
                <a:schemeClr val="accent5"/>
              </a:solidFill>
              <a:prstDash val="solid"/>
              <a:round/>
              <a:headEnd type="none" w="med" len="med"/>
              <a:tailEnd type="none" w="med" len="med"/>
            </a:ln>
            <a:effectLst/>
          </p:spPr>
        </p:cxnSp>
        <p:sp>
          <p:nvSpPr>
            <p:cNvPr id="89117" name="TextBox 62"/>
            <p:cNvSpPr txBox="1">
              <a:spLocks noChangeArrowheads="1"/>
            </p:cNvSpPr>
            <p:nvPr/>
          </p:nvSpPr>
          <p:spPr bwMode="auto">
            <a:xfrm>
              <a:off x="2442575" y="2079320"/>
              <a:ext cx="388306" cy="461704"/>
            </a:xfrm>
            <a:prstGeom prst="rect">
              <a:avLst/>
            </a:prstGeom>
            <a:noFill/>
            <a:ln w="9525">
              <a:noFill/>
              <a:miter lim="800000"/>
              <a:headEnd/>
              <a:tailEnd/>
            </a:ln>
          </p:spPr>
          <p:txBody>
            <a:bodyPr>
              <a:spAutoFit/>
            </a:bodyPr>
            <a:lstStyle/>
            <a:p>
              <a:r>
                <a:rPr lang="en-US" altLang="zh-CN" sz="2400" b="1" dirty="0"/>
                <a:t>B</a:t>
              </a:r>
              <a:endParaRPr lang="zh-CN" altLang="en-US" sz="2400" b="1" dirty="0"/>
            </a:p>
          </p:txBody>
        </p:sp>
        <p:cxnSp>
          <p:nvCxnSpPr>
            <p:cNvPr id="30" name="直接连接符 29"/>
            <p:cNvCxnSpPr/>
            <p:nvPr/>
          </p:nvCxnSpPr>
          <p:spPr bwMode="auto">
            <a:xfrm>
              <a:off x="3607744" y="1975465"/>
              <a:ext cx="3493759" cy="2945059"/>
            </a:xfrm>
            <a:prstGeom prst="line">
              <a:avLst/>
            </a:prstGeom>
            <a:solidFill>
              <a:schemeClr val="accent1"/>
            </a:solidFill>
            <a:ln w="38100" cap="flat" cmpd="sng" algn="ctr">
              <a:solidFill>
                <a:schemeClr val="accent5"/>
              </a:solidFill>
              <a:prstDash val="dash"/>
              <a:round/>
              <a:headEnd type="none" w="med" len="med"/>
              <a:tailEnd type="none" w="med" len="med"/>
            </a:ln>
            <a:effectLst/>
          </p:spPr>
        </p:cxnSp>
        <p:cxnSp>
          <p:nvCxnSpPr>
            <p:cNvPr id="31" name="直接连接符 30"/>
            <p:cNvCxnSpPr/>
            <p:nvPr/>
          </p:nvCxnSpPr>
          <p:spPr bwMode="auto">
            <a:xfrm>
              <a:off x="2390518" y="2815610"/>
              <a:ext cx="3493759" cy="2945059"/>
            </a:xfrm>
            <a:prstGeom prst="line">
              <a:avLst/>
            </a:prstGeom>
            <a:solidFill>
              <a:schemeClr val="accent1"/>
            </a:solidFill>
            <a:ln w="38100" cap="flat" cmpd="sng" algn="ctr">
              <a:solidFill>
                <a:schemeClr val="accent5"/>
              </a:solidFill>
              <a:prstDash val="dash"/>
              <a:round/>
              <a:headEnd type="none" w="med" len="med"/>
              <a:tailEnd type="none" w="med" len="med"/>
            </a:ln>
            <a:effectLst/>
          </p:spPr>
        </p:cxnSp>
        <p:sp>
          <p:nvSpPr>
            <p:cNvPr id="32" name="TextBox 62"/>
            <p:cNvSpPr txBox="1">
              <a:spLocks noChangeArrowheads="1"/>
            </p:cNvSpPr>
            <p:nvPr/>
          </p:nvSpPr>
          <p:spPr bwMode="auto">
            <a:xfrm>
              <a:off x="3142597" y="1521417"/>
              <a:ext cx="388306" cy="461704"/>
            </a:xfrm>
            <a:prstGeom prst="rect">
              <a:avLst/>
            </a:prstGeom>
            <a:noFill/>
            <a:ln w="9525">
              <a:noFill/>
              <a:miter lim="800000"/>
              <a:headEnd/>
              <a:tailEnd/>
            </a:ln>
          </p:spPr>
          <p:txBody>
            <a:bodyPr>
              <a:spAutoFit/>
            </a:bodyPr>
            <a:lstStyle/>
            <a:p>
              <a:r>
                <a:rPr lang="en-US" altLang="zh-CN" sz="2400" b="1" dirty="0"/>
                <a:t>C</a:t>
              </a:r>
              <a:endParaRPr lang="zh-CN" altLang="en-US" sz="2400" b="1" dirty="0"/>
            </a:p>
          </p:txBody>
        </p:sp>
        <p:sp>
          <p:nvSpPr>
            <p:cNvPr id="33" name="TextBox 62"/>
            <p:cNvSpPr txBox="1">
              <a:spLocks noChangeArrowheads="1"/>
            </p:cNvSpPr>
            <p:nvPr/>
          </p:nvSpPr>
          <p:spPr bwMode="auto">
            <a:xfrm>
              <a:off x="1954266" y="2481798"/>
              <a:ext cx="388306" cy="461704"/>
            </a:xfrm>
            <a:prstGeom prst="rect">
              <a:avLst/>
            </a:prstGeom>
            <a:noFill/>
            <a:ln w="9525">
              <a:noFill/>
              <a:miter lim="800000"/>
              <a:headEnd/>
              <a:tailEnd/>
            </a:ln>
          </p:spPr>
          <p:txBody>
            <a:bodyPr>
              <a:spAutoFit/>
            </a:bodyPr>
            <a:lstStyle/>
            <a:p>
              <a:r>
                <a:rPr lang="en-US" altLang="zh-CN" sz="2400" b="1" dirty="0"/>
                <a:t>A</a:t>
              </a:r>
              <a:endParaRPr lang="zh-CN" altLang="en-US" sz="2400" b="1" dirty="0"/>
            </a:p>
          </p:txBody>
        </p:sp>
      </p:grpSp>
      <p:sp>
        <p:nvSpPr>
          <p:cNvPr id="89112" name="椭圆 32"/>
          <p:cNvSpPr>
            <a:spLocks noChangeArrowheads="1"/>
          </p:cNvSpPr>
          <p:nvPr/>
        </p:nvSpPr>
        <p:spPr bwMode="auto">
          <a:xfrm>
            <a:off x="2870998" y="2545678"/>
            <a:ext cx="187325"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89113" name="矩形 15"/>
          <p:cNvSpPr>
            <a:spLocks noChangeArrowheads="1"/>
          </p:cNvSpPr>
          <p:nvPr/>
        </p:nvSpPr>
        <p:spPr bwMode="auto">
          <a:xfrm>
            <a:off x="3556000" y="3624263"/>
            <a:ext cx="136525" cy="161925"/>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89114" name="椭圆 10"/>
          <p:cNvSpPr>
            <a:spLocks noChangeArrowheads="1"/>
          </p:cNvSpPr>
          <p:nvPr/>
        </p:nvSpPr>
        <p:spPr bwMode="auto">
          <a:xfrm>
            <a:off x="4466107" y="3300778"/>
            <a:ext cx="187325"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89115" name="矩形 15"/>
          <p:cNvSpPr>
            <a:spLocks noChangeArrowheads="1"/>
          </p:cNvSpPr>
          <p:nvPr/>
        </p:nvSpPr>
        <p:spPr bwMode="auto">
          <a:xfrm>
            <a:off x="5008461" y="3915101"/>
            <a:ext cx="136525" cy="161925"/>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cxnSp>
        <p:nvCxnSpPr>
          <p:cNvPr id="5" name="直接箭头连接符 4"/>
          <p:cNvCxnSpPr>
            <a:endCxn id="89112" idx="3"/>
          </p:cNvCxnSpPr>
          <p:nvPr/>
        </p:nvCxnSpPr>
        <p:spPr>
          <a:xfrm flipV="1">
            <a:off x="2630488" y="2727250"/>
            <a:ext cx="267943" cy="25407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8" name="直接箭头连接符 37"/>
          <p:cNvCxnSpPr>
            <a:endCxn id="89114" idx="3"/>
          </p:cNvCxnSpPr>
          <p:nvPr/>
        </p:nvCxnSpPr>
        <p:spPr>
          <a:xfrm flipV="1">
            <a:off x="3894979" y="3482350"/>
            <a:ext cx="598561" cy="56791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4" name="直接箭头连接符 43"/>
          <p:cNvCxnSpPr/>
          <p:nvPr/>
        </p:nvCxnSpPr>
        <p:spPr>
          <a:xfrm flipH="1">
            <a:off x="3692526" y="2812869"/>
            <a:ext cx="801097" cy="80553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7" name="直接箭头连接符 46"/>
          <p:cNvCxnSpPr/>
          <p:nvPr/>
        </p:nvCxnSpPr>
        <p:spPr>
          <a:xfrm flipH="1">
            <a:off x="5136153" y="3601337"/>
            <a:ext cx="312913" cy="32984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aphicFrame>
        <p:nvGraphicFramePr>
          <p:cNvPr id="49" name="Object 2" descr="羊皮纸"/>
          <p:cNvGraphicFramePr>
            <a:graphicFrameLocks noChangeAspect="1"/>
          </p:cNvGraphicFramePr>
          <p:nvPr/>
        </p:nvGraphicFramePr>
        <p:xfrm>
          <a:off x="2436019" y="2318817"/>
          <a:ext cx="388938" cy="585787"/>
        </p:xfrm>
        <a:graphic>
          <a:graphicData uri="http://schemas.openxmlformats.org/presentationml/2006/ole">
            <mc:AlternateContent xmlns:mc="http://schemas.openxmlformats.org/markup-compatibility/2006">
              <mc:Choice xmlns:v="urn:schemas-microsoft-com:vml" Requires="v">
                <p:oleObj name="公式" r:id="rId3" imgW="152280" imgH="228600" progId="Equation.3">
                  <p:embed/>
                </p:oleObj>
              </mc:Choice>
              <mc:Fallback>
                <p:oleObj name="公式" r:id="rId3" imgW="152280" imgH="228600" progId="Equation.3">
                  <p:embed/>
                  <p:pic>
                    <p:nvPicPr>
                      <p:cNvPr id="49" name="Object 2" descr="羊皮纸"/>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36019" y="2318817"/>
                        <a:ext cx="388938" cy="585787"/>
                      </a:xfrm>
                      <a:prstGeom prst="rect">
                        <a:avLst/>
                      </a:prstGeom>
                      <a:noFill/>
                      <a:ln>
                        <a:noFill/>
                      </a:ln>
                    </p:spPr>
                  </p:pic>
                </p:oleObj>
              </mc:Fallback>
            </mc:AlternateContent>
          </a:graphicData>
        </a:graphic>
      </p:graphicFrame>
      <p:graphicFrame>
        <p:nvGraphicFramePr>
          <p:cNvPr id="50" name="Object 2" descr="羊皮纸"/>
          <p:cNvGraphicFramePr>
            <a:graphicFrameLocks noChangeAspect="1"/>
          </p:cNvGraphicFramePr>
          <p:nvPr/>
        </p:nvGraphicFramePr>
        <p:xfrm>
          <a:off x="3881907" y="2620963"/>
          <a:ext cx="388938" cy="585787"/>
        </p:xfrm>
        <a:graphic>
          <a:graphicData uri="http://schemas.openxmlformats.org/presentationml/2006/ole">
            <mc:AlternateContent xmlns:mc="http://schemas.openxmlformats.org/markup-compatibility/2006">
              <mc:Choice xmlns:v="urn:schemas-microsoft-com:vml" Requires="v">
                <p:oleObj name="公式" r:id="rId3" imgW="152280" imgH="228600" progId="Equation.3">
                  <p:embed/>
                </p:oleObj>
              </mc:Choice>
              <mc:Fallback>
                <p:oleObj name="公式" r:id="rId3" imgW="152280" imgH="228600" progId="Equation.3">
                  <p:embed/>
                  <p:pic>
                    <p:nvPicPr>
                      <p:cNvPr id="50" name="Object 2" descr="羊皮纸"/>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81907" y="2620963"/>
                        <a:ext cx="388938" cy="585787"/>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23166504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dirty="0"/>
              <a:t>回顾：线性可分支持向量机</a:t>
            </a:r>
          </a:p>
        </p:txBody>
      </p:sp>
      <p:sp>
        <p:nvSpPr>
          <p:cNvPr id="30726" name="内容占位符 2"/>
          <p:cNvSpPr>
            <a:spLocks noGrp="1"/>
          </p:cNvSpPr>
          <p:nvPr>
            <p:ph idx="1"/>
          </p:nvPr>
        </p:nvSpPr>
        <p:spPr>
          <a:xfrm>
            <a:off x="685800" y="3751263"/>
            <a:ext cx="7772400" cy="2665412"/>
          </a:xfrm>
        </p:spPr>
        <p:txBody>
          <a:bodyPr>
            <a:normAutofit/>
          </a:bodyPr>
          <a:lstStyle/>
          <a:p>
            <a:r>
              <a:rPr lang="zh-CN" altLang="en-US" sz="3200" b="1" dirty="0"/>
              <a:t>某些点线性不可分，意味着这些点不满足函数间隔大于等于</a:t>
            </a:r>
            <a:r>
              <a:rPr lang="en-US" altLang="zh-CN" sz="3200" b="1" dirty="0"/>
              <a:t>1</a:t>
            </a:r>
            <a:r>
              <a:rPr lang="zh-CN" altLang="en-US" sz="3200" b="1" dirty="0"/>
              <a:t>的条件。</a:t>
            </a:r>
            <a:endParaRPr lang="en-US" altLang="zh-CN" sz="3200" b="1" dirty="0"/>
          </a:p>
          <a:p>
            <a:r>
              <a:rPr lang="zh-CN" altLang="en-US" sz="3200" b="1" dirty="0"/>
              <a:t>为此引入松弛变量      ，使得：</a:t>
            </a:r>
          </a:p>
        </p:txBody>
      </p:sp>
      <p:sp>
        <p:nvSpPr>
          <p:cNvPr id="30727" name="灯片编号占位符 3"/>
          <p:cNvSpPr>
            <a:spLocks noGrp="1"/>
          </p:cNvSpPr>
          <p:nvPr>
            <p:ph type="sldNum" sz="quarter" idx="12"/>
          </p:nvPr>
        </p:nvSpPr>
        <p:spPr>
          <a:noFill/>
        </p:spPr>
        <p:txBody>
          <a:bodyPr/>
          <a:lstStyle/>
          <a:p>
            <a:fld id="{9C588B49-02F5-427E-9BAD-02DBCF8E7FED}" type="slidenum">
              <a:rPr lang="en-US" altLang="zh-CN" smtClean="0">
                <a:ea typeface="黑体" pitchFamily="49" charset="-122"/>
              </a:rPr>
              <a:pPr/>
              <a:t>40</a:t>
            </a:fld>
            <a:endParaRPr lang="en-US" altLang="zh-CN">
              <a:ea typeface="黑体" pitchFamily="49" charset="-122"/>
            </a:endParaRPr>
          </a:p>
        </p:txBody>
      </p:sp>
      <p:graphicFrame>
        <p:nvGraphicFramePr>
          <p:cNvPr id="30723" name="Object 2" descr="羊皮纸"/>
          <p:cNvGraphicFramePr>
            <a:graphicFrameLocks noChangeAspect="1"/>
          </p:cNvGraphicFramePr>
          <p:nvPr/>
        </p:nvGraphicFramePr>
        <p:xfrm>
          <a:off x="4378325" y="4783465"/>
          <a:ext cx="388938" cy="585787"/>
        </p:xfrm>
        <a:graphic>
          <a:graphicData uri="http://schemas.openxmlformats.org/presentationml/2006/ole">
            <mc:AlternateContent xmlns:mc="http://schemas.openxmlformats.org/markup-compatibility/2006">
              <mc:Choice xmlns:v="urn:schemas-microsoft-com:vml" Requires="v">
                <p:oleObj name="公式" r:id="rId3" imgW="152280" imgH="228600" progId="Equation.3">
                  <p:embed/>
                </p:oleObj>
              </mc:Choice>
              <mc:Fallback>
                <p:oleObj name="公式" r:id="rId3" imgW="152280" imgH="228600" progId="Equation.3">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78325" y="4783465"/>
                        <a:ext cx="388938" cy="5857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724" name="Object 2" descr="羊皮纸"/>
          <p:cNvGraphicFramePr>
            <a:graphicFrameLocks noChangeAspect="1"/>
          </p:cNvGraphicFramePr>
          <p:nvPr/>
        </p:nvGraphicFramePr>
        <p:xfrm>
          <a:off x="1195388" y="5548142"/>
          <a:ext cx="6227762" cy="584200"/>
        </p:xfrm>
        <a:graphic>
          <a:graphicData uri="http://schemas.openxmlformats.org/presentationml/2006/ole">
            <mc:AlternateContent xmlns:mc="http://schemas.openxmlformats.org/markup-compatibility/2006">
              <mc:Choice xmlns:v="urn:schemas-microsoft-com:vml" Requires="v">
                <p:oleObj name="公式" r:id="rId5" imgW="2438280" imgH="228600" progId="Equation.3">
                  <p:embed/>
                </p:oleObj>
              </mc:Choice>
              <mc:Fallback>
                <p:oleObj name="公式" r:id="rId5" imgW="2438280" imgH="228600" progId="Equation.3">
                  <p:embed/>
                  <p:pic>
                    <p:nvPicPr>
                      <p:cNvPr id="0"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95388" y="5548142"/>
                        <a:ext cx="6227762" cy="584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3" name="组合 2">
            <a:extLst>
              <a:ext uri="{FF2B5EF4-FFF2-40B4-BE49-F238E27FC236}">
                <a16:creationId xmlns:a16="http://schemas.microsoft.com/office/drawing/2014/main" id="{AB03FED1-9064-7079-7F23-53E3BA3C82DD}"/>
              </a:ext>
            </a:extLst>
          </p:cNvPr>
          <p:cNvGrpSpPr/>
          <p:nvPr/>
        </p:nvGrpSpPr>
        <p:grpSpPr>
          <a:xfrm>
            <a:off x="1350284" y="1771157"/>
            <a:ext cx="6443431" cy="1626586"/>
            <a:chOff x="1327113" y="3745112"/>
            <a:chExt cx="6443431" cy="1626586"/>
          </a:xfrm>
        </p:grpSpPr>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8D0A24D7-8062-1519-9E86-A47311F09736}"/>
                    </a:ext>
                  </a:extLst>
                </p:cNvPr>
                <p:cNvSpPr txBox="1"/>
                <p:nvPr/>
              </p:nvSpPr>
              <p:spPr>
                <a:xfrm>
                  <a:off x="1327113" y="3745112"/>
                  <a:ext cx="1818383" cy="8191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kumimoji="1" lang="en-US" altLang="zh-CN" sz="2800" i="1" smtClean="0">
                                <a:latin typeface="Cambria Math" panose="02040503050406030204" pitchFamily="18" charset="0"/>
                              </a:rPr>
                            </m:ctrlPr>
                          </m:funcPr>
                          <m:fName>
                            <m:limLow>
                              <m:limLowPr>
                                <m:ctrlPr>
                                  <a:rPr kumimoji="1" lang="en-US" altLang="zh-CN" sz="2800" i="1" smtClean="0">
                                    <a:latin typeface="Cambria Math" panose="02040503050406030204" pitchFamily="18" charset="0"/>
                                  </a:rPr>
                                </m:ctrlPr>
                              </m:limLowPr>
                              <m:e>
                                <m:r>
                                  <m:rPr>
                                    <m:sty m:val="p"/>
                                  </m:rPr>
                                  <a:rPr kumimoji="1" lang="en-US" altLang="zh-CN" sz="2800" i="0" smtClean="0">
                                    <a:latin typeface="Cambria Math" panose="02040503050406030204" pitchFamily="18" charset="0"/>
                                  </a:rPr>
                                  <m:t>min</m:t>
                                </m:r>
                              </m:e>
                              <m:lim>
                                <m:r>
                                  <m:rPr>
                                    <m:sty m:val="p"/>
                                  </m:rPr>
                                  <a:rPr kumimoji="1" lang="en-US" altLang="zh-CN" sz="2800" i="1">
                                    <a:latin typeface="Cambria Math" panose="02040503050406030204" pitchFamily="18" charset="0"/>
                                  </a:rPr>
                                  <m:t>w</m:t>
                                </m:r>
                                <m:r>
                                  <a:rPr kumimoji="1" lang="en-US" altLang="zh-CN" sz="2800" b="0" i="1" smtClean="0">
                                    <a:latin typeface="Cambria Math" panose="02040503050406030204" pitchFamily="18" charset="0"/>
                                  </a:rPr>
                                  <m:t>,</m:t>
                                </m:r>
                                <m:r>
                                  <a:rPr kumimoji="1" lang="zh-CN" altLang="en-US" sz="2800" b="0" i="1" smtClean="0">
                                    <a:latin typeface="Cambria Math" panose="02040503050406030204" pitchFamily="18" charset="0"/>
                                  </a:rPr>
                                  <m:t> </m:t>
                                </m:r>
                                <m:r>
                                  <a:rPr kumimoji="1" lang="en-US" altLang="zh-CN" sz="2800" b="0" i="1" smtClean="0">
                                    <a:latin typeface="Cambria Math" panose="02040503050406030204" pitchFamily="18" charset="0"/>
                                  </a:rPr>
                                  <m:t>𝑏</m:t>
                                </m:r>
                              </m:lim>
                            </m:limLow>
                          </m:fName>
                          <m:e>
                            <m:f>
                              <m:fPr>
                                <m:ctrlPr>
                                  <a:rPr kumimoji="1" lang="en-US" altLang="zh-CN" sz="2800" i="1" smtClean="0">
                                    <a:latin typeface="Cambria Math" panose="02040503050406030204" pitchFamily="18" charset="0"/>
                                  </a:rPr>
                                </m:ctrlPr>
                              </m:fPr>
                              <m:num>
                                <m:r>
                                  <a:rPr kumimoji="1" lang="en-US" altLang="zh-CN" sz="2800" b="0" i="1" smtClean="0">
                                    <a:latin typeface="Cambria Math" panose="02040503050406030204" pitchFamily="18" charset="0"/>
                                  </a:rPr>
                                  <m:t>1</m:t>
                                </m:r>
                              </m:num>
                              <m:den>
                                <m:r>
                                  <a:rPr kumimoji="1" lang="en-US" altLang="zh-CN" sz="2800" b="0" i="1" smtClean="0">
                                    <a:latin typeface="Cambria Math" panose="02040503050406030204" pitchFamily="18" charset="0"/>
                                  </a:rPr>
                                  <m:t>2</m:t>
                                </m:r>
                              </m:den>
                            </m:f>
                            <m:sSup>
                              <m:sSupPr>
                                <m:ctrlPr>
                                  <a:rPr kumimoji="1" lang="en-US" altLang="zh-CN" sz="2800" i="1" smtClean="0">
                                    <a:latin typeface="Cambria Math" panose="02040503050406030204" pitchFamily="18" charset="0"/>
                                  </a:rPr>
                                </m:ctrlPr>
                              </m:sSupPr>
                              <m:e>
                                <m:d>
                                  <m:dPr>
                                    <m:begChr m:val="‖"/>
                                    <m:endChr m:val="‖"/>
                                    <m:ctrlPr>
                                      <a:rPr kumimoji="1" lang="en-US" altLang="zh-CN" sz="2800" i="1">
                                        <a:latin typeface="Cambria Math" panose="02040503050406030204" pitchFamily="18" charset="0"/>
                                      </a:rPr>
                                    </m:ctrlPr>
                                  </m:dPr>
                                  <m:e>
                                    <m:r>
                                      <a:rPr kumimoji="1" lang="en-US" altLang="zh-CN" sz="2800" i="1">
                                        <a:latin typeface="Cambria Math" panose="02040503050406030204" pitchFamily="18" charset="0"/>
                                      </a:rPr>
                                      <m:t>𝑤</m:t>
                                    </m:r>
                                  </m:e>
                                </m:d>
                              </m:e>
                              <m:sup>
                                <m:r>
                                  <a:rPr kumimoji="1" lang="en-US" altLang="zh-CN" sz="2800" b="0" i="1" smtClean="0">
                                    <a:latin typeface="Cambria Math" panose="02040503050406030204" pitchFamily="18" charset="0"/>
                                  </a:rPr>
                                  <m:t>2</m:t>
                                </m:r>
                              </m:sup>
                            </m:sSup>
                          </m:e>
                        </m:func>
                      </m:oMath>
                    </m:oMathPara>
                  </a14:m>
                  <a:endParaRPr kumimoji="1" lang="zh-CN" altLang="en-US" sz="2800" dirty="0"/>
                </a:p>
              </p:txBody>
            </p:sp>
          </mc:Choice>
          <mc:Fallback xmlns="">
            <p:sp>
              <p:nvSpPr>
                <p:cNvPr id="4" name="文本框 3">
                  <a:extLst>
                    <a:ext uri="{FF2B5EF4-FFF2-40B4-BE49-F238E27FC236}">
                      <a16:creationId xmlns:a16="http://schemas.microsoft.com/office/drawing/2014/main" id="{8D0A24D7-8062-1519-9E86-A47311F09736}"/>
                    </a:ext>
                  </a:extLst>
                </p:cNvPr>
                <p:cNvSpPr txBox="1">
                  <a:spLocks noRot="1" noChangeAspect="1" noMove="1" noResize="1" noEditPoints="1" noAdjustHandles="1" noChangeArrowheads="1" noChangeShapeType="1" noTextEdit="1"/>
                </p:cNvSpPr>
                <p:nvPr/>
              </p:nvSpPr>
              <p:spPr>
                <a:xfrm>
                  <a:off x="1327113" y="3745112"/>
                  <a:ext cx="1818383" cy="819199"/>
                </a:xfrm>
                <a:prstGeom prst="rect">
                  <a:avLst/>
                </a:prstGeom>
                <a:blipFill>
                  <a:blip r:embed="rId7"/>
                  <a:stretch>
                    <a:fillRect l="-4167" t="-1515" r="-1389" b="-1212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C10F9553-B0FF-AF87-7D43-5EA7B596AFE3}"/>
                    </a:ext>
                  </a:extLst>
                </p:cNvPr>
                <p:cNvSpPr txBox="1"/>
                <p:nvPr/>
              </p:nvSpPr>
              <p:spPr>
                <a:xfrm>
                  <a:off x="1327113" y="4940811"/>
                  <a:ext cx="6443431"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zh-CN" sz="2800" i="1" smtClean="0">
                            <a:latin typeface="Cambria Math" panose="02040503050406030204" pitchFamily="18" charset="0"/>
                          </a:rPr>
                          <m:t>𝑠</m:t>
                        </m:r>
                        <m:r>
                          <a:rPr kumimoji="1" lang="en-US" altLang="zh-CN" sz="2800" b="0" i="1" smtClean="0">
                            <a:latin typeface="Cambria Math" panose="02040503050406030204" pitchFamily="18" charset="0"/>
                          </a:rPr>
                          <m:t>.</m:t>
                        </m:r>
                        <m:r>
                          <a:rPr kumimoji="1" lang="en-US" altLang="zh-CN" sz="2800" b="0" i="1" smtClean="0">
                            <a:latin typeface="Cambria Math" panose="02040503050406030204" pitchFamily="18" charset="0"/>
                          </a:rPr>
                          <m:t>𝑡</m:t>
                        </m:r>
                        <m:r>
                          <a:rPr kumimoji="1" lang="en-US" altLang="zh-CN" sz="2800" b="0" i="1" smtClean="0">
                            <a:latin typeface="Cambria Math" panose="02040503050406030204" pitchFamily="18" charset="0"/>
                          </a:rPr>
                          <m:t>.</m:t>
                        </m:r>
                        <m:r>
                          <a:rPr kumimoji="1" lang="zh-CN" altLang="en-US" sz="2800" b="0" i="1" smtClean="0">
                            <a:latin typeface="Cambria Math" panose="02040503050406030204" pitchFamily="18" charset="0"/>
                          </a:rPr>
                          <m:t>     </m:t>
                        </m:r>
                        <m:sSub>
                          <m:sSubPr>
                            <m:ctrlPr>
                              <a:rPr kumimoji="1" lang="en-US" altLang="zh-CN" sz="2800" b="0" i="1" smtClean="0">
                                <a:latin typeface="Cambria Math" panose="02040503050406030204" pitchFamily="18" charset="0"/>
                              </a:rPr>
                            </m:ctrlPr>
                          </m:sSubPr>
                          <m:e>
                            <m:r>
                              <a:rPr kumimoji="1" lang="en-US" altLang="zh-CN" sz="2800" b="0" i="1" smtClean="0">
                                <a:latin typeface="Cambria Math" panose="02040503050406030204" pitchFamily="18" charset="0"/>
                              </a:rPr>
                              <m:t>𝑦</m:t>
                            </m:r>
                          </m:e>
                          <m:sub>
                            <m:r>
                              <a:rPr kumimoji="1" lang="en-US" altLang="zh-CN" sz="2800" b="0" i="1" smtClean="0">
                                <a:latin typeface="Cambria Math" panose="02040503050406030204" pitchFamily="18" charset="0"/>
                              </a:rPr>
                              <m:t>𝑖</m:t>
                            </m:r>
                          </m:sub>
                        </m:sSub>
                        <m:d>
                          <m:dPr>
                            <m:ctrlPr>
                              <a:rPr kumimoji="1" lang="en-US" altLang="zh-CN" sz="2800" b="0" i="1" smtClean="0">
                                <a:latin typeface="Cambria Math" panose="02040503050406030204" pitchFamily="18" charset="0"/>
                              </a:rPr>
                            </m:ctrlPr>
                          </m:dPr>
                          <m:e>
                            <m:r>
                              <a:rPr kumimoji="1" lang="en-US" altLang="zh-CN" sz="2800" b="0" i="1" smtClean="0">
                                <a:latin typeface="Cambria Math" panose="02040503050406030204" pitchFamily="18" charset="0"/>
                              </a:rPr>
                              <m:t>𝑤</m:t>
                            </m:r>
                            <m:sSub>
                              <m:sSubPr>
                                <m:ctrlPr>
                                  <a:rPr kumimoji="1" lang="en-US" altLang="zh-CN" sz="2800" i="1">
                                    <a:latin typeface="Cambria Math" panose="02040503050406030204" pitchFamily="18" charset="0"/>
                                  </a:rPr>
                                </m:ctrlPr>
                              </m:sSubPr>
                              <m:e>
                                <m:r>
                                  <a:rPr kumimoji="1" lang="en-US" altLang="zh-CN" sz="2800" i="1" smtClean="0">
                                    <a:latin typeface="Cambria Math" panose="02040503050406030204" pitchFamily="18" charset="0"/>
                                    <a:ea typeface="Cambria Math" panose="02040503050406030204" pitchFamily="18" charset="0"/>
                                  </a:rPr>
                                  <m:t>∙</m:t>
                                </m:r>
                                <m:r>
                                  <a:rPr kumimoji="1" lang="en-US" altLang="zh-CN" sz="2800" b="0" i="1" smtClean="0">
                                    <a:latin typeface="Cambria Math" panose="02040503050406030204" pitchFamily="18" charset="0"/>
                                    <a:ea typeface="Cambria Math" panose="02040503050406030204" pitchFamily="18" charset="0"/>
                                  </a:rPr>
                                  <m:t>𝑥</m:t>
                                </m:r>
                              </m:e>
                              <m:sub>
                                <m:r>
                                  <a:rPr kumimoji="1" lang="en-US" altLang="zh-CN" sz="2800" i="1">
                                    <a:latin typeface="Cambria Math" panose="02040503050406030204" pitchFamily="18" charset="0"/>
                                  </a:rPr>
                                  <m:t>𝑖</m:t>
                                </m:r>
                              </m:sub>
                            </m:sSub>
                            <m:r>
                              <a:rPr kumimoji="1" lang="en-US" altLang="zh-CN" sz="2800" b="0" i="1" smtClean="0">
                                <a:latin typeface="Cambria Math" panose="02040503050406030204" pitchFamily="18" charset="0"/>
                              </a:rPr>
                              <m:t>+</m:t>
                            </m:r>
                            <m:r>
                              <a:rPr kumimoji="1" lang="en-US" altLang="zh-CN" sz="2800" b="0" i="1" smtClean="0">
                                <a:latin typeface="Cambria Math" panose="02040503050406030204" pitchFamily="18" charset="0"/>
                              </a:rPr>
                              <m:t>𝑏</m:t>
                            </m:r>
                          </m:e>
                        </m:d>
                        <m:r>
                          <a:rPr kumimoji="1" lang="en-US" altLang="zh-CN" sz="2800" b="0" i="1" smtClean="0">
                            <a:latin typeface="Cambria Math" panose="02040503050406030204" pitchFamily="18" charset="0"/>
                            <a:ea typeface="Cambria Math" panose="02040503050406030204" pitchFamily="18" charset="0"/>
                          </a:rPr>
                          <m:t>≥1,</m:t>
                        </m:r>
                        <m:r>
                          <a:rPr kumimoji="1" lang="zh-CN" altLang="en-US" sz="2800" b="0" i="1" smtClean="0">
                            <a:latin typeface="Cambria Math" panose="02040503050406030204" pitchFamily="18" charset="0"/>
                            <a:ea typeface="Cambria Math" panose="02040503050406030204" pitchFamily="18" charset="0"/>
                          </a:rPr>
                          <m:t>   </m:t>
                        </m:r>
                        <m:r>
                          <a:rPr kumimoji="1" lang="en-US" altLang="zh-CN" sz="2800" b="0" i="1" smtClean="0">
                            <a:latin typeface="Cambria Math" panose="02040503050406030204" pitchFamily="18" charset="0"/>
                            <a:ea typeface="Cambria Math" panose="02040503050406030204" pitchFamily="18" charset="0"/>
                          </a:rPr>
                          <m:t>𝑖</m:t>
                        </m:r>
                        <m:r>
                          <a:rPr kumimoji="1" lang="en-US" altLang="zh-CN" sz="2800" b="0" i="1" smtClean="0">
                            <a:latin typeface="Cambria Math" panose="02040503050406030204" pitchFamily="18" charset="0"/>
                            <a:ea typeface="Cambria Math" panose="02040503050406030204" pitchFamily="18" charset="0"/>
                          </a:rPr>
                          <m:t>=1,2,…,</m:t>
                        </m:r>
                        <m:r>
                          <a:rPr kumimoji="1" lang="en-US" altLang="zh-CN" sz="2800" b="0" i="1" smtClean="0">
                            <a:latin typeface="Cambria Math" panose="02040503050406030204" pitchFamily="18" charset="0"/>
                            <a:ea typeface="Cambria Math" panose="02040503050406030204" pitchFamily="18" charset="0"/>
                          </a:rPr>
                          <m:t>𝑁</m:t>
                        </m:r>
                      </m:oMath>
                    </m:oMathPara>
                  </a14:m>
                  <a:endParaRPr kumimoji="1" lang="zh-CN" altLang="en-US" sz="2800" dirty="0"/>
                </a:p>
              </p:txBody>
            </p:sp>
          </mc:Choice>
          <mc:Fallback xmlns="">
            <p:sp>
              <p:nvSpPr>
                <p:cNvPr id="5" name="文本框 4">
                  <a:extLst>
                    <a:ext uri="{FF2B5EF4-FFF2-40B4-BE49-F238E27FC236}">
                      <a16:creationId xmlns:a16="http://schemas.microsoft.com/office/drawing/2014/main" id="{C10F9553-B0FF-AF87-7D43-5EA7B596AFE3}"/>
                    </a:ext>
                  </a:extLst>
                </p:cNvPr>
                <p:cNvSpPr txBox="1">
                  <a:spLocks noRot="1" noChangeAspect="1" noMove="1" noResize="1" noEditPoints="1" noAdjustHandles="1" noChangeArrowheads="1" noChangeShapeType="1" noTextEdit="1"/>
                </p:cNvSpPr>
                <p:nvPr/>
              </p:nvSpPr>
              <p:spPr>
                <a:xfrm>
                  <a:off x="1327113" y="4940811"/>
                  <a:ext cx="6443431" cy="430887"/>
                </a:xfrm>
                <a:prstGeom prst="rect">
                  <a:avLst/>
                </a:prstGeom>
                <a:blipFill>
                  <a:blip r:embed="rId8"/>
                  <a:stretch>
                    <a:fillRect l="-197" t="-11429" r="-787" b="-31429"/>
                  </a:stretch>
                </a:blipFill>
              </p:spPr>
              <p:txBody>
                <a:bodyPr/>
                <a:lstStyle/>
                <a:p>
                  <a:r>
                    <a:rPr lang="zh-CN" altLang="en-US">
                      <a:noFill/>
                    </a:rPr>
                    <a:t> </a:t>
                  </a:r>
                </a:p>
              </p:txBody>
            </p:sp>
          </mc:Fallback>
        </mc:AlternateContent>
      </p:gr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内容占位符 2"/>
          <p:cNvSpPr>
            <a:spLocks noGrp="1"/>
          </p:cNvSpPr>
          <p:nvPr>
            <p:ph idx="1"/>
          </p:nvPr>
        </p:nvSpPr>
        <p:spPr>
          <a:xfrm>
            <a:off x="685800" y="758825"/>
            <a:ext cx="7772400" cy="5337175"/>
          </a:xfrm>
        </p:spPr>
        <p:txBody>
          <a:bodyPr>
            <a:noAutofit/>
          </a:bodyPr>
          <a:lstStyle/>
          <a:p>
            <a:r>
              <a:rPr lang="zh-CN" altLang="en-US" sz="3200" b="1" dirty="0"/>
              <a:t>为使    尽可能的小，优化目标增加惩罚项，变为：</a:t>
            </a:r>
            <a:endParaRPr lang="en-US" altLang="zh-CN" sz="3200" b="1" dirty="0"/>
          </a:p>
          <a:p>
            <a:endParaRPr lang="en-US" altLang="zh-CN" sz="3200" b="1" dirty="0"/>
          </a:p>
          <a:p>
            <a:endParaRPr lang="en-US" altLang="zh-CN" sz="3200" b="1" dirty="0"/>
          </a:p>
          <a:p>
            <a:endParaRPr lang="en-US" altLang="zh-CN" sz="3200" b="1" dirty="0"/>
          </a:p>
          <a:p>
            <a:r>
              <a:rPr lang="zh-CN" altLang="en-US" sz="3200" b="1" dirty="0"/>
              <a:t>称为软间隔最大化</a:t>
            </a:r>
            <a:endParaRPr lang="en-US" altLang="zh-CN" sz="3200" b="1" dirty="0"/>
          </a:p>
          <a:p>
            <a:r>
              <a:rPr lang="zh-CN" altLang="en-US" sz="3200" b="1" dirty="0"/>
              <a:t>其中</a:t>
            </a:r>
            <a:r>
              <a:rPr lang="en-US" altLang="zh-CN" sz="3200" b="1" dirty="0"/>
              <a:t>C&gt;0</a:t>
            </a:r>
            <a:r>
              <a:rPr lang="zh-CN" altLang="en-US" sz="3200" b="1" dirty="0"/>
              <a:t>为惩罚参数，</a:t>
            </a:r>
            <a:r>
              <a:rPr lang="en-US" altLang="zh-CN" sz="3200" b="1" dirty="0"/>
              <a:t>C</a:t>
            </a:r>
            <a:r>
              <a:rPr lang="zh-CN" altLang="en-US" sz="3200" b="1" dirty="0"/>
              <a:t>大时对误分类的惩罚增加，</a:t>
            </a:r>
            <a:r>
              <a:rPr lang="en-US" altLang="zh-CN" sz="3200" b="1" dirty="0"/>
              <a:t>C</a:t>
            </a:r>
            <a:r>
              <a:rPr lang="zh-CN" altLang="en-US" sz="3200" b="1" dirty="0"/>
              <a:t>小时对误分类的惩罚减少。</a:t>
            </a:r>
            <a:endParaRPr lang="en-US" altLang="zh-CN" sz="3200" b="1" dirty="0"/>
          </a:p>
          <a:p>
            <a:r>
              <a:rPr lang="zh-CN" altLang="en-US" sz="3200" b="1" dirty="0"/>
              <a:t>上式的含义：间隔尽量最大，同时误分类的点数尽可能小，二者由</a:t>
            </a:r>
            <a:r>
              <a:rPr lang="en-US" altLang="zh-CN" sz="3200" b="1" dirty="0"/>
              <a:t>C</a:t>
            </a:r>
            <a:r>
              <a:rPr lang="zh-CN" altLang="en-US" sz="3200" b="1" dirty="0"/>
              <a:t>调和。</a:t>
            </a:r>
            <a:endParaRPr lang="en-US" altLang="zh-CN" sz="3200" b="1" dirty="0"/>
          </a:p>
          <a:p>
            <a:endParaRPr lang="zh-CN" altLang="en-US" sz="3200" b="1" dirty="0"/>
          </a:p>
        </p:txBody>
      </p:sp>
      <p:sp>
        <p:nvSpPr>
          <p:cNvPr id="31749" name="灯片编号占位符 3"/>
          <p:cNvSpPr>
            <a:spLocks noGrp="1"/>
          </p:cNvSpPr>
          <p:nvPr>
            <p:ph type="sldNum" sz="quarter" idx="12"/>
          </p:nvPr>
        </p:nvSpPr>
        <p:spPr>
          <a:noFill/>
        </p:spPr>
        <p:txBody>
          <a:bodyPr/>
          <a:lstStyle/>
          <a:p>
            <a:fld id="{A1415810-7F33-4987-8BA2-F560BD944C30}" type="slidenum">
              <a:rPr lang="en-US" altLang="zh-CN" smtClean="0">
                <a:ea typeface="黑体" pitchFamily="49" charset="-122"/>
              </a:rPr>
              <a:pPr/>
              <a:t>41</a:t>
            </a:fld>
            <a:endParaRPr lang="en-US" altLang="zh-CN">
              <a:ea typeface="黑体" pitchFamily="49" charset="-122"/>
            </a:endParaRPr>
          </a:p>
        </p:txBody>
      </p:sp>
      <p:graphicFrame>
        <p:nvGraphicFramePr>
          <p:cNvPr id="31746" name="Object 2" descr="羊皮纸"/>
          <p:cNvGraphicFramePr>
            <a:graphicFrameLocks noChangeAspect="1"/>
          </p:cNvGraphicFramePr>
          <p:nvPr/>
        </p:nvGraphicFramePr>
        <p:xfrm>
          <a:off x="1881624" y="693300"/>
          <a:ext cx="388937" cy="585787"/>
        </p:xfrm>
        <a:graphic>
          <a:graphicData uri="http://schemas.openxmlformats.org/presentationml/2006/ole">
            <mc:AlternateContent xmlns:mc="http://schemas.openxmlformats.org/markup-compatibility/2006">
              <mc:Choice xmlns:v="urn:schemas-microsoft-com:vml" Requires="v">
                <p:oleObj name="公式" r:id="rId3" imgW="152280" imgH="228600" progId="Equation.3">
                  <p:embed/>
                </p:oleObj>
              </mc:Choice>
              <mc:Fallback>
                <p:oleObj name="公式" r:id="rId3" imgW="152280" imgH="2286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81624" y="693300"/>
                        <a:ext cx="388937" cy="5857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9778E09B-E69F-AECF-BE1E-499291B7801E}"/>
                  </a:ext>
                </a:extLst>
              </p:cNvPr>
              <p:cNvSpPr txBox="1"/>
              <p:nvPr/>
            </p:nvSpPr>
            <p:spPr>
              <a:xfrm>
                <a:off x="2486400" y="1814773"/>
                <a:ext cx="3703386" cy="121155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kumimoji="1" lang="en-US" altLang="zh-CN" sz="2800" i="1" smtClean="0">
                              <a:latin typeface="Cambria Math" panose="02040503050406030204" pitchFamily="18" charset="0"/>
                            </a:rPr>
                          </m:ctrlPr>
                        </m:funcPr>
                        <m:fName>
                          <m:limLow>
                            <m:limLowPr>
                              <m:ctrlPr>
                                <a:rPr kumimoji="1" lang="en-US" altLang="zh-CN" sz="2800" i="1" smtClean="0">
                                  <a:latin typeface="Cambria Math" panose="02040503050406030204" pitchFamily="18" charset="0"/>
                                </a:rPr>
                              </m:ctrlPr>
                            </m:limLowPr>
                            <m:e>
                              <m:r>
                                <m:rPr>
                                  <m:sty m:val="p"/>
                                </m:rPr>
                                <a:rPr kumimoji="1" lang="en-US" altLang="zh-CN" sz="2800" i="0" smtClean="0">
                                  <a:latin typeface="Cambria Math" panose="02040503050406030204" pitchFamily="18" charset="0"/>
                                </a:rPr>
                                <m:t>min</m:t>
                              </m:r>
                            </m:e>
                            <m:lim>
                              <m:r>
                                <m:rPr>
                                  <m:sty m:val="p"/>
                                </m:rPr>
                                <a:rPr kumimoji="1" lang="en-US" altLang="zh-CN" sz="2800" i="1">
                                  <a:latin typeface="Cambria Math" panose="02040503050406030204" pitchFamily="18" charset="0"/>
                                </a:rPr>
                                <m:t>w</m:t>
                              </m:r>
                              <m:r>
                                <a:rPr kumimoji="1" lang="en-US" altLang="zh-CN" sz="2800" b="0" i="1" smtClean="0">
                                  <a:latin typeface="Cambria Math" panose="02040503050406030204" pitchFamily="18" charset="0"/>
                                </a:rPr>
                                <m:t>,</m:t>
                              </m:r>
                              <m:r>
                                <a:rPr kumimoji="1" lang="zh-CN" altLang="en-US" sz="2800" b="0" i="1" smtClean="0">
                                  <a:latin typeface="Cambria Math" panose="02040503050406030204" pitchFamily="18" charset="0"/>
                                </a:rPr>
                                <m:t> </m:t>
                              </m:r>
                              <m:r>
                                <a:rPr kumimoji="1" lang="en-US" altLang="zh-CN" sz="2800" b="0" i="1" smtClean="0">
                                  <a:latin typeface="Cambria Math" panose="02040503050406030204" pitchFamily="18" charset="0"/>
                                </a:rPr>
                                <m:t>𝑏</m:t>
                              </m:r>
                              <m:r>
                                <a:rPr kumimoji="1" lang="en-US" altLang="zh-CN" sz="2800" b="0" i="1" smtClean="0">
                                  <a:latin typeface="Cambria Math" panose="02040503050406030204" pitchFamily="18" charset="0"/>
                                </a:rPr>
                                <m:t>,</m:t>
                              </m:r>
                              <m:r>
                                <a:rPr kumimoji="1" lang="en-US" altLang="zh-CN" sz="2800" b="0" i="1" smtClean="0">
                                  <a:latin typeface="Cambria Math" panose="02040503050406030204" pitchFamily="18" charset="0"/>
                                  <a:ea typeface="Cambria Math" panose="02040503050406030204" pitchFamily="18" charset="0"/>
                                </a:rPr>
                                <m:t>𝜉</m:t>
                              </m:r>
                            </m:lim>
                          </m:limLow>
                          <m:r>
                            <a:rPr kumimoji="1" lang="en-US" altLang="zh-CN" sz="2800" b="0" i="1" smtClean="0">
                              <a:latin typeface="Cambria Math" panose="02040503050406030204" pitchFamily="18" charset="0"/>
                            </a:rPr>
                            <m:t>(</m:t>
                          </m:r>
                        </m:fName>
                        <m:e>
                          <m:f>
                            <m:fPr>
                              <m:ctrlPr>
                                <a:rPr kumimoji="1" lang="en-US" altLang="zh-CN" sz="2800" i="1" smtClean="0">
                                  <a:latin typeface="Cambria Math" panose="02040503050406030204" pitchFamily="18" charset="0"/>
                                </a:rPr>
                              </m:ctrlPr>
                            </m:fPr>
                            <m:num>
                              <m:r>
                                <a:rPr kumimoji="1" lang="en-US" altLang="zh-CN" sz="2800" b="0" i="1" smtClean="0">
                                  <a:latin typeface="Cambria Math" panose="02040503050406030204" pitchFamily="18" charset="0"/>
                                </a:rPr>
                                <m:t>1</m:t>
                              </m:r>
                            </m:num>
                            <m:den>
                              <m:r>
                                <a:rPr kumimoji="1" lang="en-US" altLang="zh-CN" sz="2800" b="0" i="1" smtClean="0">
                                  <a:latin typeface="Cambria Math" panose="02040503050406030204" pitchFamily="18" charset="0"/>
                                </a:rPr>
                                <m:t>2</m:t>
                              </m:r>
                            </m:den>
                          </m:f>
                          <m:sSup>
                            <m:sSupPr>
                              <m:ctrlPr>
                                <a:rPr kumimoji="1" lang="en-US" altLang="zh-CN" sz="2800" i="1" smtClean="0">
                                  <a:latin typeface="Cambria Math" panose="02040503050406030204" pitchFamily="18" charset="0"/>
                                </a:rPr>
                              </m:ctrlPr>
                            </m:sSupPr>
                            <m:e>
                              <m:d>
                                <m:dPr>
                                  <m:begChr m:val="‖"/>
                                  <m:endChr m:val="‖"/>
                                  <m:ctrlPr>
                                    <a:rPr kumimoji="1" lang="en-US" altLang="zh-CN" sz="2800" i="1">
                                      <a:latin typeface="Cambria Math" panose="02040503050406030204" pitchFamily="18" charset="0"/>
                                    </a:rPr>
                                  </m:ctrlPr>
                                </m:dPr>
                                <m:e>
                                  <m:r>
                                    <a:rPr kumimoji="1" lang="en-US" altLang="zh-CN" sz="2800" i="1">
                                      <a:latin typeface="Cambria Math" panose="02040503050406030204" pitchFamily="18" charset="0"/>
                                    </a:rPr>
                                    <m:t>𝑤</m:t>
                                  </m:r>
                                </m:e>
                              </m:d>
                            </m:e>
                            <m:sup>
                              <m:r>
                                <a:rPr kumimoji="1" lang="en-US" altLang="zh-CN" sz="2800" b="0" i="1" smtClean="0">
                                  <a:latin typeface="Cambria Math" panose="02040503050406030204" pitchFamily="18" charset="0"/>
                                </a:rPr>
                                <m:t>2</m:t>
                              </m:r>
                            </m:sup>
                          </m:sSup>
                          <m:r>
                            <a:rPr kumimoji="1" lang="en-US" altLang="zh-CN" sz="2800" b="0" i="1" smtClean="0">
                              <a:latin typeface="Cambria Math" panose="02040503050406030204" pitchFamily="18" charset="0"/>
                            </a:rPr>
                            <m:t>+</m:t>
                          </m:r>
                          <m:r>
                            <a:rPr kumimoji="1" lang="en-US" altLang="zh-CN" sz="2800" b="0" i="1" smtClean="0">
                              <a:latin typeface="Cambria Math" panose="02040503050406030204" pitchFamily="18" charset="0"/>
                            </a:rPr>
                            <m:t>𝐶</m:t>
                          </m:r>
                          <m:nary>
                            <m:naryPr>
                              <m:chr m:val="∑"/>
                              <m:ctrlPr>
                                <a:rPr kumimoji="1" lang="en-US" altLang="zh-CN" sz="2800" b="0" i="1" smtClean="0">
                                  <a:latin typeface="Cambria Math" panose="02040503050406030204" pitchFamily="18" charset="0"/>
                                </a:rPr>
                              </m:ctrlPr>
                            </m:naryPr>
                            <m:sub>
                              <m:r>
                                <m:rPr>
                                  <m:brk m:alnAt="23"/>
                                </m:rPr>
                                <a:rPr kumimoji="1" lang="en-US" altLang="zh-CN" sz="2800" b="0" i="1" smtClean="0">
                                  <a:latin typeface="Cambria Math" panose="02040503050406030204" pitchFamily="18" charset="0"/>
                                </a:rPr>
                                <m:t>𝑖</m:t>
                              </m:r>
                              <m:r>
                                <a:rPr kumimoji="1" lang="en-US" altLang="zh-CN" sz="2800" b="0" i="1" smtClean="0">
                                  <a:latin typeface="Cambria Math" panose="02040503050406030204" pitchFamily="18" charset="0"/>
                                </a:rPr>
                                <m:t>=1</m:t>
                              </m:r>
                            </m:sub>
                            <m:sup>
                              <m:r>
                                <a:rPr kumimoji="1" lang="en-US" altLang="zh-CN" sz="2800" b="0" i="1" smtClean="0">
                                  <a:latin typeface="Cambria Math" panose="02040503050406030204" pitchFamily="18" charset="0"/>
                                </a:rPr>
                                <m:t>𝑁</m:t>
                              </m:r>
                            </m:sup>
                            <m:e>
                              <m:sSub>
                                <m:sSubPr>
                                  <m:ctrlPr>
                                    <a:rPr kumimoji="1" lang="en-US" altLang="zh-CN" sz="2800" b="0" i="1" smtClean="0">
                                      <a:latin typeface="Cambria Math" panose="02040503050406030204" pitchFamily="18" charset="0"/>
                                    </a:rPr>
                                  </m:ctrlPr>
                                </m:sSubPr>
                                <m:e>
                                  <m:r>
                                    <a:rPr kumimoji="1" lang="en-US" altLang="zh-CN" sz="2800" i="1">
                                      <a:latin typeface="Cambria Math" panose="02040503050406030204" pitchFamily="18" charset="0"/>
                                      <a:ea typeface="Cambria Math" panose="02040503050406030204" pitchFamily="18" charset="0"/>
                                    </a:rPr>
                                    <m:t>𝜉</m:t>
                                  </m:r>
                                </m:e>
                                <m:sub>
                                  <m:r>
                                    <a:rPr kumimoji="1" lang="en-US" altLang="zh-CN" sz="2800" b="0" i="1" smtClean="0">
                                      <a:latin typeface="Cambria Math" panose="02040503050406030204" pitchFamily="18" charset="0"/>
                                    </a:rPr>
                                    <m:t>𝑖</m:t>
                                  </m:r>
                                </m:sub>
                              </m:sSub>
                            </m:e>
                          </m:nary>
                          <m:r>
                            <a:rPr kumimoji="1" lang="en-US" altLang="zh-CN" sz="2800" b="0" i="1" smtClean="0">
                              <a:latin typeface="Cambria Math" panose="02040503050406030204" pitchFamily="18" charset="0"/>
                            </a:rPr>
                            <m:t>)</m:t>
                          </m:r>
                        </m:e>
                      </m:func>
                    </m:oMath>
                  </m:oMathPara>
                </a14:m>
                <a:endParaRPr kumimoji="1" lang="zh-CN" altLang="en-US" sz="2800" dirty="0"/>
              </a:p>
            </p:txBody>
          </p:sp>
        </mc:Choice>
        <mc:Fallback xmlns="">
          <p:sp>
            <p:nvSpPr>
              <p:cNvPr id="3" name="文本框 2">
                <a:extLst>
                  <a:ext uri="{FF2B5EF4-FFF2-40B4-BE49-F238E27FC236}">
                    <a16:creationId xmlns:a16="http://schemas.microsoft.com/office/drawing/2014/main" id="{9778E09B-E69F-AECF-BE1E-499291B7801E}"/>
                  </a:ext>
                </a:extLst>
              </p:cNvPr>
              <p:cNvSpPr txBox="1">
                <a:spLocks noRot="1" noChangeAspect="1" noMove="1" noResize="1" noEditPoints="1" noAdjustHandles="1" noChangeArrowheads="1" noChangeShapeType="1" noTextEdit="1"/>
              </p:cNvSpPr>
              <p:nvPr/>
            </p:nvSpPr>
            <p:spPr>
              <a:xfrm>
                <a:off x="2486400" y="1814773"/>
                <a:ext cx="3703386" cy="1211550"/>
              </a:xfrm>
              <a:prstGeom prst="rect">
                <a:avLst/>
              </a:prstGeom>
              <a:blipFill>
                <a:blip r:embed="rId5"/>
                <a:stretch>
                  <a:fillRect l="-683" t="-113542" r="-9215" b="-175000"/>
                </a:stretch>
              </a:blipFill>
            </p:spPr>
            <p:txBody>
              <a:bodyPr/>
              <a:lstStyle/>
              <a:p>
                <a:r>
                  <a:rPr lang="zh-CN" altLang="en-US">
                    <a:noFill/>
                  </a:rPr>
                  <a:t> </a:t>
                </a:r>
              </a:p>
            </p:txBody>
          </p:sp>
        </mc:Fallback>
      </mc:AlternateContent>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内容占位符 2"/>
          <p:cNvSpPr>
            <a:spLocks noGrp="1"/>
          </p:cNvSpPr>
          <p:nvPr>
            <p:ph idx="1"/>
          </p:nvPr>
        </p:nvSpPr>
        <p:spPr>
          <a:xfrm>
            <a:off x="685800" y="1021083"/>
            <a:ext cx="8020050" cy="5562600"/>
          </a:xfrm>
        </p:spPr>
        <p:txBody>
          <a:bodyPr>
            <a:normAutofit/>
          </a:bodyPr>
          <a:lstStyle/>
          <a:p>
            <a:pPr>
              <a:buFont typeface="Wingdings" pitchFamily="2" charset="2"/>
              <a:buNone/>
            </a:pPr>
            <a:r>
              <a:rPr lang="zh-CN" altLang="en-US" sz="3200" b="1" dirty="0"/>
              <a:t>线性支持向量机就转化为如下的优化问题</a:t>
            </a:r>
            <a:endParaRPr lang="en-US" altLang="zh-CN" sz="3200" b="1" dirty="0"/>
          </a:p>
          <a:p>
            <a:pPr>
              <a:buFont typeface="Wingdings" pitchFamily="2" charset="2"/>
              <a:buNone/>
            </a:pPr>
            <a:r>
              <a:rPr lang="zh-CN" altLang="en-US" sz="3200" b="1" dirty="0"/>
              <a:t>（原始问题）：</a:t>
            </a:r>
            <a:endParaRPr lang="en-US" altLang="zh-CN" sz="3200" b="1" dirty="0"/>
          </a:p>
          <a:p>
            <a:pPr>
              <a:buFont typeface="Wingdings" pitchFamily="2" charset="2"/>
              <a:buNone/>
            </a:pPr>
            <a:endParaRPr lang="en-US" altLang="zh-CN" sz="3200" b="1" dirty="0"/>
          </a:p>
          <a:p>
            <a:pPr>
              <a:buFont typeface="Wingdings" pitchFamily="2" charset="2"/>
              <a:buNone/>
            </a:pPr>
            <a:endParaRPr lang="en-US" altLang="zh-CN" sz="3200" b="1" dirty="0"/>
          </a:p>
          <a:p>
            <a:pPr>
              <a:buFont typeface="Wingdings" pitchFamily="2" charset="2"/>
              <a:buNone/>
            </a:pPr>
            <a:endParaRPr lang="en-US" altLang="zh-CN" sz="3200" b="1" dirty="0"/>
          </a:p>
          <a:p>
            <a:pPr>
              <a:buFont typeface="Wingdings" pitchFamily="2" charset="2"/>
              <a:buNone/>
            </a:pPr>
            <a:endParaRPr lang="en-US" altLang="zh-CN" sz="3200" b="1" dirty="0"/>
          </a:p>
          <a:p>
            <a:pPr>
              <a:buFont typeface="Wingdings" pitchFamily="2" charset="2"/>
              <a:buNone/>
            </a:pPr>
            <a:endParaRPr lang="en-US" altLang="zh-CN" sz="3200" b="1" dirty="0"/>
          </a:p>
        </p:txBody>
      </p:sp>
      <p:sp>
        <p:nvSpPr>
          <p:cNvPr id="32772" name="灯片编号占位符 3"/>
          <p:cNvSpPr>
            <a:spLocks noGrp="1"/>
          </p:cNvSpPr>
          <p:nvPr>
            <p:ph type="sldNum" sz="quarter" idx="12"/>
          </p:nvPr>
        </p:nvSpPr>
        <p:spPr>
          <a:noFill/>
        </p:spPr>
        <p:txBody>
          <a:bodyPr/>
          <a:lstStyle/>
          <a:p>
            <a:fld id="{2555E7D6-8DBE-4327-94BF-72389A9DB891}" type="slidenum">
              <a:rPr lang="en-US" altLang="zh-CN" smtClean="0">
                <a:ea typeface="黑体" pitchFamily="49" charset="-122"/>
              </a:rPr>
              <a:pPr/>
              <a:t>42</a:t>
            </a:fld>
            <a:endParaRPr lang="en-US" altLang="zh-CN">
              <a:ea typeface="黑体" pitchFamily="49" charset="-122"/>
            </a:endParaRP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28095870-86C3-885C-444C-02EF7FDBC917}"/>
                  </a:ext>
                </a:extLst>
              </p:cNvPr>
              <p:cNvSpPr txBox="1"/>
              <p:nvPr/>
            </p:nvSpPr>
            <p:spPr>
              <a:xfrm>
                <a:off x="1173416" y="2342311"/>
                <a:ext cx="3703386" cy="121155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kumimoji="1" lang="en-US" altLang="zh-CN" sz="2800" i="1" smtClean="0">
                              <a:latin typeface="Cambria Math" panose="02040503050406030204" pitchFamily="18" charset="0"/>
                            </a:rPr>
                          </m:ctrlPr>
                        </m:funcPr>
                        <m:fName>
                          <m:limLow>
                            <m:limLowPr>
                              <m:ctrlPr>
                                <a:rPr kumimoji="1" lang="en-US" altLang="zh-CN" sz="2800" i="1" smtClean="0">
                                  <a:latin typeface="Cambria Math" panose="02040503050406030204" pitchFamily="18" charset="0"/>
                                </a:rPr>
                              </m:ctrlPr>
                            </m:limLowPr>
                            <m:e>
                              <m:r>
                                <m:rPr>
                                  <m:sty m:val="p"/>
                                </m:rPr>
                                <a:rPr kumimoji="1" lang="en-US" altLang="zh-CN" sz="2800" i="0" smtClean="0">
                                  <a:latin typeface="Cambria Math" panose="02040503050406030204" pitchFamily="18" charset="0"/>
                                </a:rPr>
                                <m:t>min</m:t>
                              </m:r>
                            </m:e>
                            <m:lim>
                              <m:r>
                                <m:rPr>
                                  <m:sty m:val="p"/>
                                </m:rPr>
                                <a:rPr kumimoji="1" lang="en-US" altLang="zh-CN" sz="2800" i="1">
                                  <a:latin typeface="Cambria Math" panose="02040503050406030204" pitchFamily="18" charset="0"/>
                                </a:rPr>
                                <m:t>w</m:t>
                              </m:r>
                              <m:r>
                                <a:rPr kumimoji="1" lang="en-US" altLang="zh-CN" sz="2800" b="0" i="1" smtClean="0">
                                  <a:latin typeface="Cambria Math" panose="02040503050406030204" pitchFamily="18" charset="0"/>
                                </a:rPr>
                                <m:t>,</m:t>
                              </m:r>
                              <m:r>
                                <a:rPr kumimoji="1" lang="zh-CN" altLang="en-US" sz="2800" b="0" i="1" smtClean="0">
                                  <a:latin typeface="Cambria Math" panose="02040503050406030204" pitchFamily="18" charset="0"/>
                                </a:rPr>
                                <m:t> </m:t>
                              </m:r>
                              <m:r>
                                <a:rPr kumimoji="1" lang="en-US" altLang="zh-CN" sz="2800" b="0" i="1" smtClean="0">
                                  <a:latin typeface="Cambria Math" panose="02040503050406030204" pitchFamily="18" charset="0"/>
                                </a:rPr>
                                <m:t>𝑏</m:t>
                              </m:r>
                              <m:r>
                                <a:rPr kumimoji="1" lang="en-US" altLang="zh-CN" sz="2800" b="0" i="1" smtClean="0">
                                  <a:latin typeface="Cambria Math" panose="02040503050406030204" pitchFamily="18" charset="0"/>
                                </a:rPr>
                                <m:t>,</m:t>
                              </m:r>
                              <m:r>
                                <a:rPr kumimoji="1" lang="en-US" altLang="zh-CN" sz="2800" b="0" i="1" smtClean="0">
                                  <a:latin typeface="Cambria Math" panose="02040503050406030204" pitchFamily="18" charset="0"/>
                                  <a:ea typeface="Cambria Math" panose="02040503050406030204" pitchFamily="18" charset="0"/>
                                </a:rPr>
                                <m:t>𝜉</m:t>
                              </m:r>
                            </m:lim>
                          </m:limLow>
                          <m:r>
                            <a:rPr kumimoji="1" lang="en-US" altLang="zh-CN" sz="2800" b="0" i="1" smtClean="0">
                              <a:latin typeface="Cambria Math" panose="02040503050406030204" pitchFamily="18" charset="0"/>
                            </a:rPr>
                            <m:t>(</m:t>
                          </m:r>
                        </m:fName>
                        <m:e>
                          <m:f>
                            <m:fPr>
                              <m:ctrlPr>
                                <a:rPr kumimoji="1" lang="en-US" altLang="zh-CN" sz="2800" i="1" smtClean="0">
                                  <a:latin typeface="Cambria Math" panose="02040503050406030204" pitchFamily="18" charset="0"/>
                                </a:rPr>
                              </m:ctrlPr>
                            </m:fPr>
                            <m:num>
                              <m:r>
                                <a:rPr kumimoji="1" lang="en-US" altLang="zh-CN" sz="2800" b="0" i="1" smtClean="0">
                                  <a:latin typeface="Cambria Math" panose="02040503050406030204" pitchFamily="18" charset="0"/>
                                </a:rPr>
                                <m:t>1</m:t>
                              </m:r>
                            </m:num>
                            <m:den>
                              <m:r>
                                <a:rPr kumimoji="1" lang="en-US" altLang="zh-CN" sz="2800" b="0" i="1" smtClean="0">
                                  <a:latin typeface="Cambria Math" panose="02040503050406030204" pitchFamily="18" charset="0"/>
                                </a:rPr>
                                <m:t>2</m:t>
                              </m:r>
                            </m:den>
                          </m:f>
                          <m:sSup>
                            <m:sSupPr>
                              <m:ctrlPr>
                                <a:rPr kumimoji="1" lang="en-US" altLang="zh-CN" sz="2800" i="1" smtClean="0">
                                  <a:latin typeface="Cambria Math" panose="02040503050406030204" pitchFamily="18" charset="0"/>
                                </a:rPr>
                              </m:ctrlPr>
                            </m:sSupPr>
                            <m:e>
                              <m:d>
                                <m:dPr>
                                  <m:begChr m:val="‖"/>
                                  <m:endChr m:val="‖"/>
                                  <m:ctrlPr>
                                    <a:rPr kumimoji="1" lang="en-US" altLang="zh-CN" sz="2800" i="1">
                                      <a:latin typeface="Cambria Math" panose="02040503050406030204" pitchFamily="18" charset="0"/>
                                    </a:rPr>
                                  </m:ctrlPr>
                                </m:dPr>
                                <m:e>
                                  <m:r>
                                    <a:rPr kumimoji="1" lang="en-US" altLang="zh-CN" sz="2800" i="1">
                                      <a:latin typeface="Cambria Math" panose="02040503050406030204" pitchFamily="18" charset="0"/>
                                    </a:rPr>
                                    <m:t>𝑤</m:t>
                                  </m:r>
                                </m:e>
                              </m:d>
                            </m:e>
                            <m:sup>
                              <m:r>
                                <a:rPr kumimoji="1" lang="en-US" altLang="zh-CN" sz="2800" b="0" i="1" smtClean="0">
                                  <a:latin typeface="Cambria Math" panose="02040503050406030204" pitchFamily="18" charset="0"/>
                                </a:rPr>
                                <m:t>2</m:t>
                              </m:r>
                            </m:sup>
                          </m:sSup>
                          <m:r>
                            <a:rPr kumimoji="1" lang="en-US" altLang="zh-CN" sz="2800" b="0" i="1" smtClean="0">
                              <a:latin typeface="Cambria Math" panose="02040503050406030204" pitchFamily="18" charset="0"/>
                            </a:rPr>
                            <m:t>+</m:t>
                          </m:r>
                          <m:r>
                            <a:rPr kumimoji="1" lang="en-US" altLang="zh-CN" sz="2800" b="0" i="1" smtClean="0">
                              <a:latin typeface="Cambria Math" panose="02040503050406030204" pitchFamily="18" charset="0"/>
                            </a:rPr>
                            <m:t>𝐶</m:t>
                          </m:r>
                          <m:nary>
                            <m:naryPr>
                              <m:chr m:val="∑"/>
                              <m:ctrlPr>
                                <a:rPr kumimoji="1" lang="en-US" altLang="zh-CN" sz="2800" b="0" i="1" smtClean="0">
                                  <a:latin typeface="Cambria Math" panose="02040503050406030204" pitchFamily="18" charset="0"/>
                                </a:rPr>
                              </m:ctrlPr>
                            </m:naryPr>
                            <m:sub>
                              <m:r>
                                <m:rPr>
                                  <m:brk m:alnAt="23"/>
                                </m:rPr>
                                <a:rPr kumimoji="1" lang="en-US" altLang="zh-CN" sz="2800" b="0" i="1" smtClean="0">
                                  <a:latin typeface="Cambria Math" panose="02040503050406030204" pitchFamily="18" charset="0"/>
                                </a:rPr>
                                <m:t>𝑖</m:t>
                              </m:r>
                              <m:r>
                                <a:rPr kumimoji="1" lang="en-US" altLang="zh-CN" sz="2800" b="0" i="1" smtClean="0">
                                  <a:latin typeface="Cambria Math" panose="02040503050406030204" pitchFamily="18" charset="0"/>
                                </a:rPr>
                                <m:t>=1</m:t>
                              </m:r>
                            </m:sub>
                            <m:sup>
                              <m:r>
                                <a:rPr kumimoji="1" lang="en-US" altLang="zh-CN" sz="2800" b="0" i="1" smtClean="0">
                                  <a:latin typeface="Cambria Math" panose="02040503050406030204" pitchFamily="18" charset="0"/>
                                </a:rPr>
                                <m:t>𝑁</m:t>
                              </m:r>
                            </m:sup>
                            <m:e>
                              <m:sSub>
                                <m:sSubPr>
                                  <m:ctrlPr>
                                    <a:rPr kumimoji="1" lang="en-US" altLang="zh-CN" sz="2800" b="0" i="1" smtClean="0">
                                      <a:latin typeface="Cambria Math" panose="02040503050406030204" pitchFamily="18" charset="0"/>
                                    </a:rPr>
                                  </m:ctrlPr>
                                </m:sSubPr>
                                <m:e>
                                  <m:r>
                                    <a:rPr kumimoji="1" lang="en-US" altLang="zh-CN" sz="2800" i="1">
                                      <a:latin typeface="Cambria Math" panose="02040503050406030204" pitchFamily="18" charset="0"/>
                                      <a:ea typeface="Cambria Math" panose="02040503050406030204" pitchFamily="18" charset="0"/>
                                    </a:rPr>
                                    <m:t>𝜉</m:t>
                                  </m:r>
                                </m:e>
                                <m:sub>
                                  <m:r>
                                    <a:rPr kumimoji="1" lang="en-US" altLang="zh-CN" sz="2800" b="0" i="1" smtClean="0">
                                      <a:latin typeface="Cambria Math" panose="02040503050406030204" pitchFamily="18" charset="0"/>
                                    </a:rPr>
                                    <m:t>𝑖</m:t>
                                  </m:r>
                                </m:sub>
                              </m:sSub>
                            </m:e>
                          </m:nary>
                          <m:r>
                            <a:rPr kumimoji="1" lang="en-US" altLang="zh-CN" sz="2800" b="0" i="1" smtClean="0">
                              <a:latin typeface="Cambria Math" panose="02040503050406030204" pitchFamily="18" charset="0"/>
                            </a:rPr>
                            <m:t>)</m:t>
                          </m:r>
                        </m:e>
                      </m:func>
                    </m:oMath>
                  </m:oMathPara>
                </a14:m>
                <a:endParaRPr kumimoji="1" lang="zh-CN" altLang="en-US" sz="2800" dirty="0"/>
              </a:p>
            </p:txBody>
          </p:sp>
        </mc:Choice>
        <mc:Fallback xmlns="">
          <p:sp>
            <p:nvSpPr>
              <p:cNvPr id="2" name="文本框 1">
                <a:extLst>
                  <a:ext uri="{FF2B5EF4-FFF2-40B4-BE49-F238E27FC236}">
                    <a16:creationId xmlns:a16="http://schemas.microsoft.com/office/drawing/2014/main" id="{28095870-86C3-885C-444C-02EF7FDBC917}"/>
                  </a:ext>
                </a:extLst>
              </p:cNvPr>
              <p:cNvSpPr txBox="1">
                <a:spLocks noRot="1" noChangeAspect="1" noMove="1" noResize="1" noEditPoints="1" noAdjustHandles="1" noChangeArrowheads="1" noChangeShapeType="1" noTextEdit="1"/>
              </p:cNvSpPr>
              <p:nvPr/>
            </p:nvSpPr>
            <p:spPr>
              <a:xfrm>
                <a:off x="1173416" y="2342311"/>
                <a:ext cx="3703386" cy="1211550"/>
              </a:xfrm>
              <a:prstGeom prst="rect">
                <a:avLst/>
              </a:prstGeom>
              <a:blipFill>
                <a:blip r:embed="rId2"/>
                <a:stretch>
                  <a:fillRect l="-1027" t="-112500" r="-9589" b="-175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6DF750B6-E468-9CE0-034F-DE70319C766E}"/>
                  </a:ext>
                </a:extLst>
              </p:cNvPr>
              <p:cNvSpPr txBox="1"/>
              <p:nvPr/>
            </p:nvSpPr>
            <p:spPr>
              <a:xfrm>
                <a:off x="1173416" y="3802383"/>
                <a:ext cx="7147021"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zh-CN" sz="2800" i="1" smtClean="0">
                          <a:latin typeface="Cambria Math" panose="02040503050406030204" pitchFamily="18" charset="0"/>
                        </a:rPr>
                        <m:t>𝑠</m:t>
                      </m:r>
                      <m:r>
                        <a:rPr kumimoji="1" lang="en-US" altLang="zh-CN" sz="2800" b="0" i="1" smtClean="0">
                          <a:latin typeface="Cambria Math" panose="02040503050406030204" pitchFamily="18" charset="0"/>
                        </a:rPr>
                        <m:t>.</m:t>
                      </m:r>
                      <m:r>
                        <a:rPr kumimoji="1" lang="en-US" altLang="zh-CN" sz="2800" b="0" i="1" smtClean="0">
                          <a:latin typeface="Cambria Math" panose="02040503050406030204" pitchFamily="18" charset="0"/>
                        </a:rPr>
                        <m:t>𝑡</m:t>
                      </m:r>
                      <m:r>
                        <a:rPr kumimoji="1" lang="en-US" altLang="zh-CN" sz="2800" b="0" i="1" smtClean="0">
                          <a:latin typeface="Cambria Math" panose="02040503050406030204" pitchFamily="18" charset="0"/>
                        </a:rPr>
                        <m:t>.</m:t>
                      </m:r>
                      <m:r>
                        <a:rPr kumimoji="1" lang="zh-CN" altLang="en-US" sz="2800" b="0" i="1" smtClean="0">
                          <a:latin typeface="Cambria Math" panose="02040503050406030204" pitchFamily="18" charset="0"/>
                        </a:rPr>
                        <m:t>     </m:t>
                      </m:r>
                      <m:sSub>
                        <m:sSubPr>
                          <m:ctrlPr>
                            <a:rPr kumimoji="1" lang="en-US" altLang="zh-CN" sz="2800" b="0" i="1" smtClean="0">
                              <a:latin typeface="Cambria Math" panose="02040503050406030204" pitchFamily="18" charset="0"/>
                            </a:rPr>
                          </m:ctrlPr>
                        </m:sSubPr>
                        <m:e>
                          <m:r>
                            <a:rPr kumimoji="1" lang="en-US" altLang="zh-CN" sz="2800" b="0" i="1" smtClean="0">
                              <a:latin typeface="Cambria Math" panose="02040503050406030204" pitchFamily="18" charset="0"/>
                            </a:rPr>
                            <m:t>𝑦</m:t>
                          </m:r>
                        </m:e>
                        <m:sub>
                          <m:r>
                            <a:rPr kumimoji="1" lang="en-US" altLang="zh-CN" sz="2800" b="0" i="1" smtClean="0">
                              <a:latin typeface="Cambria Math" panose="02040503050406030204" pitchFamily="18" charset="0"/>
                            </a:rPr>
                            <m:t>𝑖</m:t>
                          </m:r>
                        </m:sub>
                      </m:sSub>
                      <m:d>
                        <m:dPr>
                          <m:ctrlPr>
                            <a:rPr kumimoji="1" lang="en-US" altLang="zh-CN" sz="2800" b="0" i="1" smtClean="0">
                              <a:latin typeface="Cambria Math" panose="02040503050406030204" pitchFamily="18" charset="0"/>
                            </a:rPr>
                          </m:ctrlPr>
                        </m:dPr>
                        <m:e>
                          <m:r>
                            <a:rPr kumimoji="1" lang="en-US" altLang="zh-CN" sz="2800" b="0" i="1" smtClean="0">
                              <a:latin typeface="Cambria Math" panose="02040503050406030204" pitchFamily="18" charset="0"/>
                            </a:rPr>
                            <m:t>𝑤</m:t>
                          </m:r>
                          <m:sSub>
                            <m:sSubPr>
                              <m:ctrlPr>
                                <a:rPr kumimoji="1" lang="en-US" altLang="zh-CN" sz="2800" i="1">
                                  <a:latin typeface="Cambria Math" panose="02040503050406030204" pitchFamily="18" charset="0"/>
                                </a:rPr>
                              </m:ctrlPr>
                            </m:sSubPr>
                            <m:e>
                              <m:r>
                                <a:rPr kumimoji="1" lang="en-US" altLang="zh-CN" sz="2800" i="1" smtClean="0">
                                  <a:latin typeface="Cambria Math" panose="02040503050406030204" pitchFamily="18" charset="0"/>
                                  <a:ea typeface="Cambria Math" panose="02040503050406030204" pitchFamily="18" charset="0"/>
                                </a:rPr>
                                <m:t>∙</m:t>
                              </m:r>
                              <m:r>
                                <a:rPr kumimoji="1" lang="en-US" altLang="zh-CN" sz="2800" b="0" i="1" smtClean="0">
                                  <a:latin typeface="Cambria Math" panose="02040503050406030204" pitchFamily="18" charset="0"/>
                                  <a:ea typeface="Cambria Math" panose="02040503050406030204" pitchFamily="18" charset="0"/>
                                </a:rPr>
                                <m:t>𝑥</m:t>
                              </m:r>
                            </m:e>
                            <m:sub>
                              <m:r>
                                <a:rPr kumimoji="1" lang="en-US" altLang="zh-CN" sz="2800" i="1">
                                  <a:latin typeface="Cambria Math" panose="02040503050406030204" pitchFamily="18" charset="0"/>
                                </a:rPr>
                                <m:t>𝑖</m:t>
                              </m:r>
                            </m:sub>
                          </m:sSub>
                          <m:r>
                            <a:rPr kumimoji="1" lang="en-US" altLang="zh-CN" sz="2800" b="0" i="1" smtClean="0">
                              <a:latin typeface="Cambria Math" panose="02040503050406030204" pitchFamily="18" charset="0"/>
                            </a:rPr>
                            <m:t>+</m:t>
                          </m:r>
                          <m:r>
                            <a:rPr kumimoji="1" lang="en-US" altLang="zh-CN" sz="2800" b="0" i="1" smtClean="0">
                              <a:latin typeface="Cambria Math" panose="02040503050406030204" pitchFamily="18" charset="0"/>
                            </a:rPr>
                            <m:t>𝑏</m:t>
                          </m:r>
                        </m:e>
                      </m:d>
                      <m:r>
                        <a:rPr kumimoji="1" lang="en-US" altLang="zh-CN" sz="2800" b="0" i="1" smtClean="0">
                          <a:latin typeface="Cambria Math" panose="02040503050406030204" pitchFamily="18" charset="0"/>
                          <a:ea typeface="Cambria Math" panose="02040503050406030204" pitchFamily="18" charset="0"/>
                        </a:rPr>
                        <m:t>≥1−</m:t>
                      </m:r>
                      <m:sSub>
                        <m:sSubPr>
                          <m:ctrlPr>
                            <a:rPr kumimoji="1" lang="en-US" altLang="zh-CN" sz="2800" i="1">
                              <a:latin typeface="Cambria Math" panose="02040503050406030204" pitchFamily="18" charset="0"/>
                            </a:rPr>
                          </m:ctrlPr>
                        </m:sSubPr>
                        <m:e>
                          <m:r>
                            <a:rPr kumimoji="1" lang="en-US" altLang="zh-CN" sz="2800" i="1">
                              <a:latin typeface="Cambria Math" panose="02040503050406030204" pitchFamily="18" charset="0"/>
                              <a:ea typeface="Cambria Math" panose="02040503050406030204" pitchFamily="18" charset="0"/>
                            </a:rPr>
                            <m:t>𝜉</m:t>
                          </m:r>
                        </m:e>
                        <m:sub>
                          <m:r>
                            <a:rPr kumimoji="1" lang="en-US" altLang="zh-CN" sz="2800" i="1">
                              <a:latin typeface="Cambria Math" panose="02040503050406030204" pitchFamily="18" charset="0"/>
                            </a:rPr>
                            <m:t>𝑖</m:t>
                          </m:r>
                        </m:sub>
                      </m:sSub>
                      <m:r>
                        <a:rPr kumimoji="1" lang="en-US" altLang="zh-CN" sz="2800" b="0" i="1" smtClean="0">
                          <a:latin typeface="Cambria Math" panose="02040503050406030204" pitchFamily="18" charset="0"/>
                          <a:ea typeface="Cambria Math" panose="02040503050406030204" pitchFamily="18" charset="0"/>
                        </a:rPr>
                        <m:t>,</m:t>
                      </m:r>
                      <m:r>
                        <a:rPr kumimoji="1" lang="zh-CN" altLang="en-US" sz="2800" b="0" i="1" smtClean="0">
                          <a:latin typeface="Cambria Math" panose="02040503050406030204" pitchFamily="18" charset="0"/>
                          <a:ea typeface="Cambria Math" panose="02040503050406030204" pitchFamily="18" charset="0"/>
                        </a:rPr>
                        <m:t>   </m:t>
                      </m:r>
                      <m:r>
                        <a:rPr kumimoji="1" lang="en-US" altLang="zh-CN" sz="2800" b="0" i="1" smtClean="0">
                          <a:latin typeface="Cambria Math" panose="02040503050406030204" pitchFamily="18" charset="0"/>
                          <a:ea typeface="Cambria Math" panose="02040503050406030204" pitchFamily="18" charset="0"/>
                        </a:rPr>
                        <m:t>𝑖</m:t>
                      </m:r>
                      <m:r>
                        <a:rPr kumimoji="1" lang="en-US" altLang="zh-CN" sz="2800" b="0" i="1" smtClean="0">
                          <a:latin typeface="Cambria Math" panose="02040503050406030204" pitchFamily="18" charset="0"/>
                          <a:ea typeface="Cambria Math" panose="02040503050406030204" pitchFamily="18" charset="0"/>
                        </a:rPr>
                        <m:t>=1,2,…,</m:t>
                      </m:r>
                      <m:r>
                        <a:rPr kumimoji="1" lang="en-US" altLang="zh-CN" sz="2800" b="0" i="1" smtClean="0">
                          <a:latin typeface="Cambria Math" panose="02040503050406030204" pitchFamily="18" charset="0"/>
                          <a:ea typeface="Cambria Math" panose="02040503050406030204" pitchFamily="18" charset="0"/>
                        </a:rPr>
                        <m:t>𝑁</m:t>
                      </m:r>
                    </m:oMath>
                  </m:oMathPara>
                </a14:m>
                <a:endParaRPr kumimoji="1" lang="zh-CN" altLang="en-US" sz="2800" dirty="0"/>
              </a:p>
            </p:txBody>
          </p:sp>
        </mc:Choice>
        <mc:Fallback xmlns="">
          <p:sp>
            <p:nvSpPr>
              <p:cNvPr id="3" name="文本框 2">
                <a:extLst>
                  <a:ext uri="{FF2B5EF4-FFF2-40B4-BE49-F238E27FC236}">
                    <a16:creationId xmlns:a16="http://schemas.microsoft.com/office/drawing/2014/main" id="{6DF750B6-E468-9CE0-034F-DE70319C766E}"/>
                  </a:ext>
                </a:extLst>
              </p:cNvPr>
              <p:cNvSpPr txBox="1">
                <a:spLocks noRot="1" noChangeAspect="1" noMove="1" noResize="1" noEditPoints="1" noAdjustHandles="1" noChangeArrowheads="1" noChangeShapeType="1" noTextEdit="1"/>
              </p:cNvSpPr>
              <p:nvPr/>
            </p:nvSpPr>
            <p:spPr>
              <a:xfrm>
                <a:off x="1173416" y="3802383"/>
                <a:ext cx="7147021" cy="430887"/>
              </a:xfrm>
              <a:prstGeom prst="rect">
                <a:avLst/>
              </a:prstGeom>
              <a:blipFill>
                <a:blip r:embed="rId3"/>
                <a:stretch>
                  <a:fillRect l="-177" t="-11429" r="-532" b="-314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18B59148-31EE-95E7-D241-81A04589F758}"/>
                  </a:ext>
                </a:extLst>
              </p:cNvPr>
              <p:cNvSpPr txBox="1"/>
              <p:nvPr/>
            </p:nvSpPr>
            <p:spPr>
              <a:xfrm>
                <a:off x="674077" y="4491868"/>
                <a:ext cx="4572000"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2800" i="1" smtClean="0">
                              <a:latin typeface="Cambria Math" panose="02040503050406030204" pitchFamily="18" charset="0"/>
                            </a:rPr>
                          </m:ctrlPr>
                        </m:sSubPr>
                        <m:e>
                          <m:r>
                            <a:rPr kumimoji="1" lang="en-US" altLang="zh-CN" sz="2800" i="1">
                              <a:latin typeface="Cambria Math" panose="02040503050406030204" pitchFamily="18" charset="0"/>
                              <a:ea typeface="Cambria Math" panose="02040503050406030204" pitchFamily="18" charset="0"/>
                            </a:rPr>
                            <m:t>𝜉</m:t>
                          </m:r>
                        </m:e>
                        <m:sub>
                          <m:r>
                            <a:rPr kumimoji="1" lang="en-US" altLang="zh-CN" sz="2800" i="1">
                              <a:latin typeface="Cambria Math" panose="02040503050406030204" pitchFamily="18" charset="0"/>
                            </a:rPr>
                            <m:t>𝑖</m:t>
                          </m:r>
                        </m:sub>
                      </m:sSub>
                      <m:r>
                        <a:rPr lang="zh-CN" altLang="en-US" sz="2800" i="1">
                          <a:solidFill>
                            <a:srgbClr val="000000"/>
                          </a:solidFill>
                          <a:latin typeface="Cambria Math" panose="02040503050406030204" pitchFamily="18" charset="0"/>
                        </a:rPr>
                        <m:t>≥0,</m:t>
                      </m:r>
                      <m:r>
                        <a:rPr lang="zh-CN" altLang="en-US" sz="2800" b="0" i="1" smtClean="0">
                          <a:solidFill>
                            <a:srgbClr val="000000"/>
                          </a:solidFill>
                          <a:latin typeface="Cambria Math" panose="02040503050406030204" pitchFamily="18" charset="0"/>
                        </a:rPr>
                        <m:t> </m:t>
                      </m:r>
                      <m:r>
                        <a:rPr lang="zh-CN" altLang="en-US" sz="2800" i="1">
                          <a:solidFill>
                            <a:srgbClr val="000000"/>
                          </a:solidFill>
                          <a:latin typeface="Cambria Math" panose="02040503050406030204" pitchFamily="18" charset="0"/>
                        </a:rPr>
                        <m:t> </m:t>
                      </m:r>
                      <m:r>
                        <a:rPr lang="zh-CN" altLang="en-US" sz="2800" b="0" i="1" smtClean="0">
                          <a:solidFill>
                            <a:srgbClr val="000000"/>
                          </a:solidFill>
                          <a:latin typeface="Cambria Math" panose="02040503050406030204" pitchFamily="18" charset="0"/>
                        </a:rPr>
                        <m:t>   </m:t>
                      </m:r>
                      <m:r>
                        <a:rPr lang="zh-CN" altLang="en-US" sz="2800" i="1">
                          <a:solidFill>
                            <a:srgbClr val="000000"/>
                          </a:solidFill>
                          <a:latin typeface="Cambria Math" panose="02040503050406030204" pitchFamily="18" charset="0"/>
                        </a:rPr>
                        <m:t>𝑖</m:t>
                      </m:r>
                      <m:r>
                        <a:rPr lang="zh-CN" altLang="en-US" sz="2800" i="1">
                          <a:solidFill>
                            <a:srgbClr val="000000"/>
                          </a:solidFill>
                          <a:latin typeface="Cambria Math" panose="02040503050406030204" pitchFamily="18" charset="0"/>
                        </a:rPr>
                        <m:t>=1,2,...,</m:t>
                      </m:r>
                      <m:r>
                        <a:rPr lang="zh-CN" altLang="en-US" sz="2800" i="1">
                          <a:solidFill>
                            <a:srgbClr val="000000"/>
                          </a:solidFill>
                          <a:latin typeface="Cambria Math" panose="02040503050406030204" pitchFamily="18" charset="0"/>
                        </a:rPr>
                        <m:t>𝑁</m:t>
                      </m:r>
                    </m:oMath>
                  </m:oMathPara>
                </a14:m>
                <a:endParaRPr lang="zh-CN" altLang="en-US" sz="2800" dirty="0"/>
              </a:p>
            </p:txBody>
          </p:sp>
        </mc:Choice>
        <mc:Fallback xmlns="">
          <p:sp>
            <p:nvSpPr>
              <p:cNvPr id="5" name="文本框 4">
                <a:extLst>
                  <a:ext uri="{FF2B5EF4-FFF2-40B4-BE49-F238E27FC236}">
                    <a16:creationId xmlns:a16="http://schemas.microsoft.com/office/drawing/2014/main" id="{18B59148-31EE-95E7-D241-81A04589F758}"/>
                  </a:ext>
                </a:extLst>
              </p:cNvPr>
              <p:cNvSpPr txBox="1">
                <a:spLocks noRot="1" noChangeAspect="1" noMove="1" noResize="1" noEditPoints="1" noAdjustHandles="1" noChangeArrowheads="1" noChangeShapeType="1" noTextEdit="1"/>
              </p:cNvSpPr>
              <p:nvPr/>
            </p:nvSpPr>
            <p:spPr>
              <a:xfrm>
                <a:off x="674077" y="4491868"/>
                <a:ext cx="4572000" cy="523220"/>
              </a:xfrm>
              <a:prstGeom prst="rect">
                <a:avLst/>
              </a:prstGeom>
              <a:blipFill>
                <a:blip r:embed="rId4"/>
                <a:stretch>
                  <a:fillRect b="-16279"/>
                </a:stretch>
              </a:blipFill>
            </p:spPr>
            <p:txBody>
              <a:bodyPr/>
              <a:lstStyle/>
              <a:p>
                <a:r>
                  <a:rPr lang="zh-CN" altLang="en-US">
                    <a:noFill/>
                  </a:rPr>
                  <a:t> </a:t>
                </a:r>
              </a:p>
            </p:txBody>
          </p:sp>
        </mc:Fallback>
      </mc:AlternateContent>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内容占位符 2"/>
          <p:cNvSpPr>
            <a:spLocks noGrp="1"/>
          </p:cNvSpPr>
          <p:nvPr>
            <p:ph idx="1"/>
          </p:nvPr>
        </p:nvSpPr>
        <p:spPr>
          <a:xfrm>
            <a:off x="685800" y="879569"/>
            <a:ext cx="7772400" cy="5486400"/>
          </a:xfrm>
        </p:spPr>
        <p:txBody>
          <a:bodyPr>
            <a:normAutofit/>
          </a:bodyPr>
          <a:lstStyle/>
          <a:p>
            <a:r>
              <a:rPr lang="zh-CN" altLang="en-US" sz="3200" b="1" dirty="0"/>
              <a:t>同样，通过求解对偶问题求解原始问题</a:t>
            </a:r>
          </a:p>
        </p:txBody>
      </p:sp>
      <p:sp>
        <p:nvSpPr>
          <p:cNvPr id="33796" name="灯片编号占位符 3"/>
          <p:cNvSpPr>
            <a:spLocks noGrp="1"/>
          </p:cNvSpPr>
          <p:nvPr>
            <p:ph type="sldNum" sz="quarter" idx="12"/>
          </p:nvPr>
        </p:nvSpPr>
        <p:spPr>
          <a:noFill/>
        </p:spPr>
        <p:txBody>
          <a:bodyPr/>
          <a:lstStyle/>
          <a:p>
            <a:fld id="{1778BE81-9F06-4A5B-A4F1-126856A85D7B}" type="slidenum">
              <a:rPr lang="en-US" altLang="zh-CN" smtClean="0">
                <a:ea typeface="黑体" pitchFamily="49" charset="-122"/>
              </a:rPr>
              <a:pPr/>
              <a:t>43</a:t>
            </a:fld>
            <a:endParaRPr lang="en-US" altLang="zh-CN">
              <a:ea typeface="黑体" pitchFamily="49" charset="-122"/>
            </a:endParaRPr>
          </a:p>
        </p:txBody>
      </p:sp>
      <p:graphicFrame>
        <p:nvGraphicFramePr>
          <p:cNvPr id="33794" name="Object 2" descr="羊皮纸"/>
          <p:cNvGraphicFramePr>
            <a:graphicFrameLocks noChangeAspect="1"/>
          </p:cNvGraphicFramePr>
          <p:nvPr>
            <p:extLst>
              <p:ext uri="{D42A27DB-BD31-4B8C-83A1-F6EECF244321}">
                <p14:modId xmlns:p14="http://schemas.microsoft.com/office/powerpoint/2010/main" val="618798303"/>
              </p:ext>
            </p:extLst>
          </p:nvPr>
        </p:nvGraphicFramePr>
        <p:xfrm>
          <a:off x="1004888" y="1717755"/>
          <a:ext cx="6913562" cy="4230688"/>
        </p:xfrm>
        <a:graphic>
          <a:graphicData uri="http://schemas.openxmlformats.org/presentationml/2006/ole">
            <mc:AlternateContent xmlns:mc="http://schemas.openxmlformats.org/markup-compatibility/2006">
              <mc:Choice xmlns:v="urn:schemas-microsoft-com:vml" Requires="v">
                <p:oleObj name="公式" r:id="rId3" imgW="2247840" imgH="1371600" progId="Equation.3">
                  <p:embed/>
                </p:oleObj>
              </mc:Choice>
              <mc:Fallback>
                <p:oleObj name="公式" r:id="rId3" imgW="2247840" imgH="13716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4888" y="1717755"/>
                        <a:ext cx="6913562" cy="42306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内容占位符 2"/>
          <p:cNvSpPr>
            <a:spLocks noGrp="1"/>
          </p:cNvSpPr>
          <p:nvPr>
            <p:ph idx="1"/>
          </p:nvPr>
        </p:nvSpPr>
        <p:spPr>
          <a:xfrm>
            <a:off x="533400" y="844733"/>
            <a:ext cx="7772400" cy="5334000"/>
          </a:xfrm>
        </p:spPr>
        <p:txBody>
          <a:bodyPr/>
          <a:lstStyle/>
          <a:p>
            <a:endParaRPr lang="en-US" altLang="zh-CN" dirty="0"/>
          </a:p>
          <a:p>
            <a:endParaRPr lang="en-US" altLang="zh-CN" dirty="0"/>
          </a:p>
          <a:p>
            <a:endParaRPr lang="en-US" altLang="zh-CN" dirty="0"/>
          </a:p>
          <a:p>
            <a:endParaRPr lang="en-US" altLang="zh-CN" dirty="0"/>
          </a:p>
          <a:p>
            <a:endParaRPr lang="en-US" altLang="zh-CN" dirty="0"/>
          </a:p>
          <a:p>
            <a:pPr marL="0" indent="0">
              <a:buNone/>
            </a:pPr>
            <a:endParaRPr lang="en-US" altLang="zh-CN" dirty="0"/>
          </a:p>
        </p:txBody>
      </p:sp>
      <p:sp>
        <p:nvSpPr>
          <p:cNvPr id="34820" name="灯片编号占位符 3"/>
          <p:cNvSpPr>
            <a:spLocks noGrp="1"/>
          </p:cNvSpPr>
          <p:nvPr>
            <p:ph type="sldNum" sz="quarter" idx="12"/>
          </p:nvPr>
        </p:nvSpPr>
        <p:spPr>
          <a:noFill/>
        </p:spPr>
        <p:txBody>
          <a:bodyPr/>
          <a:lstStyle/>
          <a:p>
            <a:fld id="{BA483A6F-3599-4180-99A7-D1482FD21EE2}" type="slidenum">
              <a:rPr lang="en-US" altLang="zh-CN" smtClean="0">
                <a:ea typeface="黑体" pitchFamily="49" charset="-122"/>
              </a:rPr>
              <a:pPr/>
              <a:t>44</a:t>
            </a:fld>
            <a:endParaRPr lang="en-US" altLang="zh-CN">
              <a:ea typeface="黑体" pitchFamily="49" charset="-122"/>
            </a:endParaRPr>
          </a:p>
        </p:txBody>
      </p:sp>
      <p:graphicFrame>
        <p:nvGraphicFramePr>
          <p:cNvPr id="5" name="Object 2" descr="羊皮纸"/>
          <p:cNvGraphicFramePr>
            <a:graphicFrameLocks noChangeAspect="1"/>
          </p:cNvGraphicFramePr>
          <p:nvPr>
            <p:extLst>
              <p:ext uri="{D42A27DB-BD31-4B8C-83A1-F6EECF244321}">
                <p14:modId xmlns:p14="http://schemas.microsoft.com/office/powerpoint/2010/main" val="2076062091"/>
              </p:ext>
            </p:extLst>
          </p:nvPr>
        </p:nvGraphicFramePr>
        <p:xfrm>
          <a:off x="973138" y="1071702"/>
          <a:ext cx="6989762" cy="4787900"/>
        </p:xfrm>
        <a:graphic>
          <a:graphicData uri="http://schemas.openxmlformats.org/presentationml/2006/ole">
            <mc:AlternateContent xmlns:mc="http://schemas.openxmlformats.org/markup-compatibility/2006">
              <mc:Choice xmlns:v="urn:schemas-microsoft-com:vml" Requires="v">
                <p:oleObj name="公式" r:id="rId3" imgW="2082600" imgH="1422360" progId="Equation.3">
                  <p:embed/>
                </p:oleObj>
              </mc:Choice>
              <mc:Fallback>
                <p:oleObj name="公式" r:id="rId3" imgW="2082600" imgH="142236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3138" y="1071702"/>
                        <a:ext cx="6989762" cy="4787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endParaRPr lang="zh-CN" altLang="en-US"/>
          </a:p>
        </p:txBody>
      </p:sp>
      <p:sp>
        <p:nvSpPr>
          <p:cNvPr id="35845" name="内容占位符 2"/>
          <p:cNvSpPr>
            <a:spLocks noGrp="1"/>
          </p:cNvSpPr>
          <p:nvPr>
            <p:ph idx="1"/>
          </p:nvPr>
        </p:nvSpPr>
        <p:spPr/>
        <p:txBody>
          <a:bodyPr>
            <a:normAutofit/>
          </a:bodyPr>
          <a:lstStyle/>
          <a:p>
            <a:r>
              <a:rPr lang="zh-CN" altLang="en-US" sz="3200" b="1" dirty="0"/>
              <a:t>分类超平面：</a:t>
            </a:r>
            <a:endParaRPr lang="en-US" altLang="zh-CN" sz="3200" b="1" dirty="0"/>
          </a:p>
          <a:p>
            <a:endParaRPr lang="en-US" altLang="zh-CN" sz="3200" b="1" dirty="0"/>
          </a:p>
          <a:p>
            <a:endParaRPr lang="en-US" altLang="zh-CN" sz="3200" b="1" dirty="0"/>
          </a:p>
          <a:p>
            <a:endParaRPr lang="en-US" altLang="zh-CN" sz="3200" b="1" dirty="0"/>
          </a:p>
          <a:p>
            <a:r>
              <a:rPr lang="zh-CN" altLang="en-US" sz="3200" b="1" dirty="0"/>
              <a:t>分类决策函数为：</a:t>
            </a:r>
            <a:endParaRPr lang="en-US" altLang="zh-CN" sz="3200" b="1" dirty="0"/>
          </a:p>
          <a:p>
            <a:endParaRPr lang="zh-CN" altLang="en-US" sz="3200" b="1" dirty="0"/>
          </a:p>
        </p:txBody>
      </p:sp>
      <p:sp>
        <p:nvSpPr>
          <p:cNvPr id="35846" name="灯片编号占位符 3"/>
          <p:cNvSpPr>
            <a:spLocks noGrp="1"/>
          </p:cNvSpPr>
          <p:nvPr>
            <p:ph type="sldNum" sz="quarter" idx="12"/>
          </p:nvPr>
        </p:nvSpPr>
        <p:spPr>
          <a:noFill/>
        </p:spPr>
        <p:txBody>
          <a:bodyPr/>
          <a:lstStyle/>
          <a:p>
            <a:fld id="{610A0EDE-0B3F-46F9-8CB5-51C19494988E}" type="slidenum">
              <a:rPr lang="en-US" altLang="zh-CN" smtClean="0">
                <a:ea typeface="黑体" pitchFamily="49" charset="-122"/>
              </a:rPr>
              <a:pPr/>
              <a:t>45</a:t>
            </a:fld>
            <a:endParaRPr lang="en-US" altLang="zh-CN">
              <a:ea typeface="黑体" pitchFamily="49" charset="-122"/>
            </a:endParaRPr>
          </a:p>
        </p:txBody>
      </p:sp>
      <p:graphicFrame>
        <p:nvGraphicFramePr>
          <p:cNvPr id="35842" name="Object 5" descr="羊皮纸"/>
          <p:cNvGraphicFramePr>
            <a:graphicFrameLocks noChangeAspect="1"/>
          </p:cNvGraphicFramePr>
          <p:nvPr/>
        </p:nvGraphicFramePr>
        <p:xfrm>
          <a:off x="2105025" y="4552936"/>
          <a:ext cx="5327650" cy="835025"/>
        </p:xfrm>
        <a:graphic>
          <a:graphicData uri="http://schemas.openxmlformats.org/presentationml/2006/ole">
            <mc:AlternateContent xmlns:mc="http://schemas.openxmlformats.org/markup-compatibility/2006">
              <mc:Choice xmlns:v="urn:schemas-microsoft-com:vml" Requires="v">
                <p:oleObj name="公式" r:id="rId2" imgW="1460160" imgH="228600" progId="Equation.3">
                  <p:embed/>
                </p:oleObj>
              </mc:Choice>
              <mc:Fallback>
                <p:oleObj name="公式" r:id="rId2" imgW="1460160" imgH="228600" progId="Equation.3">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05025" y="4552936"/>
                        <a:ext cx="5327650" cy="835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5843" name="Object 5" descr="羊皮纸"/>
          <p:cNvGraphicFramePr>
            <a:graphicFrameLocks noChangeAspect="1"/>
          </p:cNvGraphicFramePr>
          <p:nvPr/>
        </p:nvGraphicFramePr>
        <p:xfrm>
          <a:off x="2133600" y="2188106"/>
          <a:ext cx="3868738" cy="911225"/>
        </p:xfrm>
        <a:graphic>
          <a:graphicData uri="http://schemas.openxmlformats.org/presentationml/2006/ole">
            <mc:AlternateContent xmlns:mc="http://schemas.openxmlformats.org/markup-compatibility/2006">
              <mc:Choice xmlns:v="urn:schemas-microsoft-com:vml" Requires="v">
                <p:oleObj name="公式" r:id="rId4" imgW="863280" imgH="203040" progId="Equation.3">
                  <p:embed/>
                </p:oleObj>
              </mc:Choice>
              <mc:Fallback>
                <p:oleObj name="公式" r:id="rId4" imgW="863280" imgH="203040" progId="Equation.3">
                  <p:embed/>
                  <p:pic>
                    <p:nvPicPr>
                      <p:cNvPr id="0"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33600" y="2188106"/>
                        <a:ext cx="3868738" cy="911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灯片编号占位符 3"/>
          <p:cNvSpPr>
            <a:spLocks noGrp="1"/>
          </p:cNvSpPr>
          <p:nvPr>
            <p:ph type="sldNum" sz="quarter" idx="12"/>
          </p:nvPr>
        </p:nvSpPr>
        <p:spPr>
          <a:noFill/>
        </p:spPr>
        <p:txBody>
          <a:bodyPr/>
          <a:lstStyle/>
          <a:p>
            <a:fld id="{E5899F69-A93A-4CEB-B420-E6954821A1CB}" type="slidenum">
              <a:rPr lang="en-US" altLang="zh-CN" smtClean="0">
                <a:ea typeface="黑体" pitchFamily="49" charset="-122"/>
              </a:rPr>
              <a:pPr/>
              <a:t>46</a:t>
            </a:fld>
            <a:endParaRPr lang="en-US" altLang="zh-CN">
              <a:ea typeface="黑体" pitchFamily="49" charset="-122"/>
            </a:endParaRPr>
          </a:p>
        </p:txBody>
      </p:sp>
      <p:graphicFrame>
        <p:nvGraphicFramePr>
          <p:cNvPr id="36866" name="Object 5" descr="羊皮纸"/>
          <p:cNvGraphicFramePr>
            <a:graphicFrameLocks noChangeAspect="1"/>
          </p:cNvGraphicFramePr>
          <p:nvPr>
            <p:extLst>
              <p:ext uri="{D42A27DB-BD31-4B8C-83A1-F6EECF244321}">
                <p14:modId xmlns:p14="http://schemas.microsoft.com/office/powerpoint/2010/main" val="443611130"/>
              </p:ext>
            </p:extLst>
          </p:nvPr>
        </p:nvGraphicFramePr>
        <p:xfrm>
          <a:off x="514350" y="828675"/>
          <a:ext cx="7192963" cy="5337175"/>
        </p:xfrm>
        <a:graphic>
          <a:graphicData uri="http://schemas.openxmlformats.org/presentationml/2006/ole">
            <mc:AlternateContent xmlns:mc="http://schemas.openxmlformats.org/markup-compatibility/2006">
              <mc:Choice xmlns:v="urn:schemas-microsoft-com:vml" Requires="v">
                <p:oleObj name="公式" r:id="rId3" imgW="2311200" imgH="1714320" progId="Equation.3">
                  <p:embed/>
                </p:oleObj>
              </mc:Choice>
              <mc:Fallback>
                <p:oleObj name="公式" r:id="rId3" imgW="2311200" imgH="171432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4350" y="828675"/>
                        <a:ext cx="7192963" cy="5337175"/>
                      </a:xfrm>
                      <a:prstGeom prst="rect">
                        <a:avLst/>
                      </a:prstGeom>
                      <a:noFill/>
                    </p:spPr>
                  </p:pic>
                </p:oleObj>
              </mc:Fallback>
            </mc:AlternateContent>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2" name="灯片编号占位符 3"/>
          <p:cNvSpPr>
            <a:spLocks noGrp="1"/>
          </p:cNvSpPr>
          <p:nvPr>
            <p:ph type="sldNum" sz="quarter" idx="12"/>
          </p:nvPr>
        </p:nvSpPr>
        <p:spPr>
          <a:noFill/>
        </p:spPr>
        <p:txBody>
          <a:bodyPr/>
          <a:lstStyle/>
          <a:p>
            <a:fld id="{19AE65D0-95F7-42F2-9E14-F8BD1C6EA711}" type="slidenum">
              <a:rPr lang="en-US" altLang="zh-CN" smtClean="0">
                <a:ea typeface="黑体" pitchFamily="49" charset="-122"/>
              </a:rPr>
              <a:pPr/>
              <a:t>47</a:t>
            </a:fld>
            <a:endParaRPr lang="en-US" altLang="zh-CN">
              <a:ea typeface="黑体" pitchFamily="49" charset="-122"/>
            </a:endParaRPr>
          </a:p>
        </p:txBody>
      </p:sp>
      <p:cxnSp>
        <p:nvCxnSpPr>
          <p:cNvPr id="37893" name="直接连接符 5"/>
          <p:cNvCxnSpPr>
            <a:cxnSpLocks noChangeShapeType="1"/>
          </p:cNvCxnSpPr>
          <p:nvPr/>
        </p:nvCxnSpPr>
        <p:spPr bwMode="auto">
          <a:xfrm>
            <a:off x="2209800" y="1905000"/>
            <a:ext cx="4838700" cy="2971800"/>
          </a:xfrm>
          <a:prstGeom prst="line">
            <a:avLst/>
          </a:prstGeom>
          <a:noFill/>
          <a:ln w="38100" algn="ctr">
            <a:solidFill>
              <a:schemeClr val="tx1"/>
            </a:solidFill>
            <a:round/>
            <a:headEnd/>
            <a:tailEnd/>
          </a:ln>
        </p:spPr>
      </p:cxnSp>
      <p:cxnSp>
        <p:nvCxnSpPr>
          <p:cNvPr id="37894" name="直接连接符 7"/>
          <p:cNvCxnSpPr>
            <a:cxnSpLocks noChangeShapeType="1"/>
          </p:cNvCxnSpPr>
          <p:nvPr/>
        </p:nvCxnSpPr>
        <p:spPr bwMode="auto">
          <a:xfrm>
            <a:off x="1562100" y="2914650"/>
            <a:ext cx="4838700" cy="2971800"/>
          </a:xfrm>
          <a:prstGeom prst="line">
            <a:avLst/>
          </a:prstGeom>
          <a:noFill/>
          <a:ln w="38100" algn="ctr">
            <a:solidFill>
              <a:schemeClr val="tx1"/>
            </a:solidFill>
            <a:prstDash val="dash"/>
            <a:round/>
            <a:headEnd/>
            <a:tailEnd/>
          </a:ln>
        </p:spPr>
      </p:cxnSp>
      <p:cxnSp>
        <p:nvCxnSpPr>
          <p:cNvPr id="37895" name="直接连接符 8"/>
          <p:cNvCxnSpPr>
            <a:cxnSpLocks noChangeShapeType="1"/>
          </p:cNvCxnSpPr>
          <p:nvPr/>
        </p:nvCxnSpPr>
        <p:spPr bwMode="auto">
          <a:xfrm>
            <a:off x="2914650" y="914400"/>
            <a:ext cx="4838700" cy="2971800"/>
          </a:xfrm>
          <a:prstGeom prst="line">
            <a:avLst/>
          </a:prstGeom>
          <a:noFill/>
          <a:ln w="38100" algn="ctr">
            <a:solidFill>
              <a:schemeClr val="tx1"/>
            </a:solidFill>
            <a:prstDash val="dash"/>
            <a:round/>
            <a:headEnd/>
            <a:tailEnd/>
          </a:ln>
        </p:spPr>
      </p:cxnSp>
      <p:grpSp>
        <p:nvGrpSpPr>
          <p:cNvPr id="2" name="组合 15"/>
          <p:cNvGrpSpPr>
            <a:grpSpLocks/>
          </p:cNvGrpSpPr>
          <p:nvPr/>
        </p:nvGrpSpPr>
        <p:grpSpPr bwMode="auto">
          <a:xfrm>
            <a:off x="2247900" y="2476500"/>
            <a:ext cx="209550" cy="247650"/>
            <a:chOff x="685800" y="2114550"/>
            <a:chExt cx="209550" cy="247650"/>
          </a:xfrm>
        </p:grpSpPr>
        <p:cxnSp>
          <p:nvCxnSpPr>
            <p:cNvPr id="37941" name="直接连接符 10"/>
            <p:cNvCxnSpPr>
              <a:cxnSpLocks noChangeShapeType="1"/>
            </p:cNvCxnSpPr>
            <p:nvPr/>
          </p:nvCxnSpPr>
          <p:spPr bwMode="auto">
            <a:xfrm>
              <a:off x="685800" y="2133600"/>
              <a:ext cx="209550" cy="190500"/>
            </a:xfrm>
            <a:prstGeom prst="line">
              <a:avLst/>
            </a:prstGeom>
            <a:noFill/>
            <a:ln w="57150" algn="ctr">
              <a:solidFill>
                <a:srgbClr val="C00000"/>
              </a:solidFill>
              <a:round/>
              <a:headEnd/>
              <a:tailEnd/>
            </a:ln>
          </p:spPr>
        </p:cxnSp>
        <p:cxnSp>
          <p:nvCxnSpPr>
            <p:cNvPr id="37942" name="直接连接符 12"/>
            <p:cNvCxnSpPr>
              <a:cxnSpLocks noChangeShapeType="1"/>
            </p:cNvCxnSpPr>
            <p:nvPr/>
          </p:nvCxnSpPr>
          <p:spPr bwMode="auto">
            <a:xfrm flipH="1">
              <a:off x="685800" y="2114550"/>
              <a:ext cx="171450" cy="247650"/>
            </a:xfrm>
            <a:prstGeom prst="line">
              <a:avLst/>
            </a:prstGeom>
            <a:noFill/>
            <a:ln w="57150" algn="ctr">
              <a:solidFill>
                <a:srgbClr val="C00000"/>
              </a:solidFill>
              <a:round/>
              <a:headEnd/>
              <a:tailEnd/>
            </a:ln>
          </p:spPr>
        </p:cxnSp>
      </p:grpSp>
      <p:sp>
        <p:nvSpPr>
          <p:cNvPr id="37897" name="椭圆 16"/>
          <p:cNvSpPr>
            <a:spLocks noChangeArrowheads="1"/>
          </p:cNvSpPr>
          <p:nvPr/>
        </p:nvSpPr>
        <p:spPr bwMode="auto">
          <a:xfrm>
            <a:off x="3429000" y="1181100"/>
            <a:ext cx="209550" cy="190500"/>
          </a:xfrm>
          <a:prstGeom prst="ellipse">
            <a:avLst/>
          </a:prstGeom>
          <a:solidFill>
            <a:srgbClr val="FF0000"/>
          </a:solidFill>
          <a:ln w="9525" algn="ctr">
            <a:solidFill>
              <a:schemeClr val="tx1"/>
            </a:solidFill>
            <a:round/>
            <a:headEnd/>
            <a:tailEnd type="triangle" w="med" len="med"/>
          </a:ln>
        </p:spPr>
        <p:txBody>
          <a:bodyPr wrap="none"/>
          <a:lstStyle/>
          <a:p>
            <a:endParaRPr lang="zh-CN" altLang="en-US"/>
          </a:p>
        </p:txBody>
      </p:sp>
      <p:graphicFrame>
        <p:nvGraphicFramePr>
          <p:cNvPr id="37890" name="Object 5" descr="羊皮纸"/>
          <p:cNvGraphicFramePr>
            <a:graphicFrameLocks noChangeAspect="1"/>
          </p:cNvGraphicFramePr>
          <p:nvPr/>
        </p:nvGraphicFramePr>
        <p:xfrm>
          <a:off x="4244917" y="708137"/>
          <a:ext cx="4421187" cy="1123950"/>
        </p:xfrm>
        <a:graphic>
          <a:graphicData uri="http://schemas.openxmlformats.org/presentationml/2006/ole">
            <mc:AlternateContent xmlns:mc="http://schemas.openxmlformats.org/markup-compatibility/2006">
              <mc:Choice xmlns:v="urn:schemas-microsoft-com:vml" Requires="v">
                <p:oleObj name="公式" r:id="rId3" imgW="1600200" imgH="406080" progId="Equation.3">
                  <p:embed/>
                </p:oleObj>
              </mc:Choice>
              <mc:Fallback>
                <p:oleObj name="公式" r:id="rId3" imgW="1600200" imgH="40608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44917" y="708137"/>
                        <a:ext cx="4421187" cy="1123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37898" name="直接箭头连接符 21"/>
          <p:cNvCxnSpPr>
            <a:cxnSpLocks noChangeShapeType="1"/>
          </p:cNvCxnSpPr>
          <p:nvPr/>
        </p:nvCxnSpPr>
        <p:spPr bwMode="auto">
          <a:xfrm flipV="1">
            <a:off x="1981200" y="2667000"/>
            <a:ext cx="304800" cy="457200"/>
          </a:xfrm>
          <a:prstGeom prst="straightConnector1">
            <a:avLst/>
          </a:prstGeom>
          <a:noFill/>
          <a:ln w="57150" algn="ctr">
            <a:solidFill>
              <a:schemeClr val="tx1"/>
            </a:solidFill>
            <a:round/>
            <a:headEnd/>
            <a:tailEnd type="arrow" w="med" len="med"/>
          </a:ln>
        </p:spPr>
      </p:cxnSp>
      <p:grpSp>
        <p:nvGrpSpPr>
          <p:cNvPr id="3" name="组合 22"/>
          <p:cNvGrpSpPr>
            <a:grpSpLocks/>
          </p:cNvGrpSpPr>
          <p:nvPr/>
        </p:nvGrpSpPr>
        <p:grpSpPr bwMode="auto">
          <a:xfrm>
            <a:off x="3981450" y="2171700"/>
            <a:ext cx="209550" cy="247650"/>
            <a:chOff x="685800" y="2114550"/>
            <a:chExt cx="209550" cy="247650"/>
          </a:xfrm>
        </p:grpSpPr>
        <p:cxnSp>
          <p:nvCxnSpPr>
            <p:cNvPr id="37939" name="直接连接符 23"/>
            <p:cNvCxnSpPr>
              <a:cxnSpLocks noChangeShapeType="1"/>
            </p:cNvCxnSpPr>
            <p:nvPr/>
          </p:nvCxnSpPr>
          <p:spPr bwMode="auto">
            <a:xfrm>
              <a:off x="685800" y="2133600"/>
              <a:ext cx="209550" cy="190500"/>
            </a:xfrm>
            <a:prstGeom prst="line">
              <a:avLst/>
            </a:prstGeom>
            <a:noFill/>
            <a:ln w="57150" algn="ctr">
              <a:solidFill>
                <a:srgbClr val="C00000"/>
              </a:solidFill>
              <a:round/>
              <a:headEnd/>
              <a:tailEnd/>
            </a:ln>
          </p:spPr>
        </p:cxnSp>
        <p:cxnSp>
          <p:nvCxnSpPr>
            <p:cNvPr id="37940" name="直接连接符 24"/>
            <p:cNvCxnSpPr>
              <a:cxnSpLocks noChangeShapeType="1"/>
            </p:cNvCxnSpPr>
            <p:nvPr/>
          </p:nvCxnSpPr>
          <p:spPr bwMode="auto">
            <a:xfrm flipH="1">
              <a:off x="685800" y="2114550"/>
              <a:ext cx="171450" cy="247650"/>
            </a:xfrm>
            <a:prstGeom prst="line">
              <a:avLst/>
            </a:prstGeom>
            <a:noFill/>
            <a:ln w="57150" algn="ctr">
              <a:solidFill>
                <a:srgbClr val="C00000"/>
              </a:solidFill>
              <a:round/>
              <a:headEnd/>
              <a:tailEnd/>
            </a:ln>
          </p:spPr>
        </p:cxnSp>
      </p:grpSp>
      <p:cxnSp>
        <p:nvCxnSpPr>
          <p:cNvPr id="37900" name="直接箭头连接符 25"/>
          <p:cNvCxnSpPr>
            <a:cxnSpLocks noChangeShapeType="1"/>
          </p:cNvCxnSpPr>
          <p:nvPr/>
        </p:nvCxnSpPr>
        <p:spPr bwMode="auto">
          <a:xfrm flipV="1">
            <a:off x="2933700" y="2362200"/>
            <a:ext cx="1066800" cy="1390650"/>
          </a:xfrm>
          <a:prstGeom prst="straightConnector1">
            <a:avLst/>
          </a:prstGeom>
          <a:noFill/>
          <a:ln w="57150" algn="ctr">
            <a:solidFill>
              <a:schemeClr val="tx1"/>
            </a:solidFill>
            <a:round/>
            <a:headEnd/>
            <a:tailEnd type="arrow" w="med" len="med"/>
          </a:ln>
        </p:spPr>
      </p:cxnSp>
      <p:sp>
        <p:nvSpPr>
          <p:cNvPr id="37901" name="椭圆 27"/>
          <p:cNvSpPr>
            <a:spLocks noChangeArrowheads="1"/>
          </p:cNvSpPr>
          <p:nvPr/>
        </p:nvSpPr>
        <p:spPr bwMode="auto">
          <a:xfrm>
            <a:off x="4419600" y="3905250"/>
            <a:ext cx="209550" cy="190500"/>
          </a:xfrm>
          <a:prstGeom prst="ellipse">
            <a:avLst/>
          </a:prstGeom>
          <a:solidFill>
            <a:srgbClr val="FF0000"/>
          </a:solidFill>
          <a:ln w="9525" algn="ctr">
            <a:solidFill>
              <a:schemeClr val="tx1"/>
            </a:solidFill>
            <a:round/>
            <a:headEnd/>
            <a:tailEnd type="triangle" w="med" len="med"/>
          </a:ln>
        </p:spPr>
        <p:txBody>
          <a:bodyPr wrap="none"/>
          <a:lstStyle/>
          <a:p>
            <a:endParaRPr lang="zh-CN" altLang="en-US"/>
          </a:p>
        </p:txBody>
      </p:sp>
      <p:cxnSp>
        <p:nvCxnSpPr>
          <p:cNvPr id="37902" name="直接箭头连接符 28"/>
          <p:cNvCxnSpPr>
            <a:cxnSpLocks noChangeShapeType="1"/>
          </p:cNvCxnSpPr>
          <p:nvPr/>
        </p:nvCxnSpPr>
        <p:spPr bwMode="auto">
          <a:xfrm flipH="1">
            <a:off x="4572000" y="2533650"/>
            <a:ext cx="876300" cy="1390650"/>
          </a:xfrm>
          <a:prstGeom prst="straightConnector1">
            <a:avLst/>
          </a:prstGeom>
          <a:noFill/>
          <a:ln w="57150" algn="ctr">
            <a:solidFill>
              <a:schemeClr val="tx1"/>
            </a:solidFill>
            <a:round/>
            <a:headEnd/>
            <a:tailEnd type="arrow" w="med" len="med"/>
          </a:ln>
        </p:spPr>
      </p:cxnSp>
      <p:sp>
        <p:nvSpPr>
          <p:cNvPr id="37903" name="椭圆 33"/>
          <p:cNvSpPr>
            <a:spLocks noChangeArrowheads="1"/>
          </p:cNvSpPr>
          <p:nvPr/>
        </p:nvSpPr>
        <p:spPr bwMode="auto">
          <a:xfrm>
            <a:off x="5791200" y="3467100"/>
            <a:ext cx="209550" cy="190500"/>
          </a:xfrm>
          <a:prstGeom prst="ellipse">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37904" name="椭圆 34"/>
          <p:cNvSpPr>
            <a:spLocks noChangeArrowheads="1"/>
          </p:cNvSpPr>
          <p:nvPr/>
        </p:nvSpPr>
        <p:spPr bwMode="auto">
          <a:xfrm>
            <a:off x="5524500" y="6019800"/>
            <a:ext cx="209550" cy="190500"/>
          </a:xfrm>
          <a:prstGeom prst="ellipse">
            <a:avLst/>
          </a:prstGeom>
          <a:solidFill>
            <a:srgbClr val="FF0000"/>
          </a:solidFill>
          <a:ln w="9525" algn="ctr">
            <a:solidFill>
              <a:schemeClr val="tx1"/>
            </a:solidFill>
            <a:round/>
            <a:headEnd/>
            <a:tailEnd type="triangle" w="med" len="med"/>
          </a:ln>
        </p:spPr>
        <p:txBody>
          <a:bodyPr wrap="none"/>
          <a:lstStyle/>
          <a:p>
            <a:endParaRPr lang="zh-CN" altLang="en-US"/>
          </a:p>
        </p:txBody>
      </p:sp>
      <p:cxnSp>
        <p:nvCxnSpPr>
          <p:cNvPr id="37905" name="直接箭头连接符 35"/>
          <p:cNvCxnSpPr>
            <a:cxnSpLocks noChangeShapeType="1"/>
            <a:endCxn id="37904" idx="7"/>
          </p:cNvCxnSpPr>
          <p:nvPr/>
        </p:nvCxnSpPr>
        <p:spPr bwMode="auto">
          <a:xfrm flipH="1">
            <a:off x="5703888" y="3638550"/>
            <a:ext cx="1535112" cy="2409825"/>
          </a:xfrm>
          <a:prstGeom prst="straightConnector1">
            <a:avLst/>
          </a:prstGeom>
          <a:noFill/>
          <a:ln w="57150" algn="ctr">
            <a:solidFill>
              <a:schemeClr val="tx1"/>
            </a:solidFill>
            <a:round/>
            <a:headEnd/>
            <a:tailEnd type="arrow" w="med" len="med"/>
          </a:ln>
        </p:spPr>
      </p:cxnSp>
      <p:cxnSp>
        <p:nvCxnSpPr>
          <p:cNvPr id="37906" name="直接箭头连接符 37"/>
          <p:cNvCxnSpPr>
            <a:cxnSpLocks noChangeShapeType="1"/>
            <a:endCxn id="37903" idx="7"/>
          </p:cNvCxnSpPr>
          <p:nvPr/>
        </p:nvCxnSpPr>
        <p:spPr bwMode="auto">
          <a:xfrm flipH="1">
            <a:off x="5970588" y="2990850"/>
            <a:ext cx="296862" cy="504825"/>
          </a:xfrm>
          <a:prstGeom prst="straightConnector1">
            <a:avLst/>
          </a:prstGeom>
          <a:noFill/>
          <a:ln w="57150" algn="ctr">
            <a:solidFill>
              <a:schemeClr val="tx1"/>
            </a:solidFill>
            <a:round/>
            <a:headEnd/>
            <a:tailEnd type="arrow" w="med" len="med"/>
          </a:ln>
        </p:spPr>
      </p:cxnSp>
      <p:grpSp>
        <p:nvGrpSpPr>
          <p:cNvPr id="4" name="组合 41"/>
          <p:cNvGrpSpPr>
            <a:grpSpLocks/>
          </p:cNvGrpSpPr>
          <p:nvPr/>
        </p:nvGrpSpPr>
        <p:grpSpPr bwMode="auto">
          <a:xfrm>
            <a:off x="1733550" y="4286250"/>
            <a:ext cx="209550" cy="247650"/>
            <a:chOff x="685800" y="2114550"/>
            <a:chExt cx="209550" cy="247650"/>
          </a:xfrm>
        </p:grpSpPr>
        <p:cxnSp>
          <p:nvCxnSpPr>
            <p:cNvPr id="37937" name="直接连接符 42"/>
            <p:cNvCxnSpPr>
              <a:cxnSpLocks noChangeShapeType="1"/>
            </p:cNvCxnSpPr>
            <p:nvPr/>
          </p:nvCxnSpPr>
          <p:spPr bwMode="auto">
            <a:xfrm>
              <a:off x="685800" y="2133600"/>
              <a:ext cx="209550" cy="190500"/>
            </a:xfrm>
            <a:prstGeom prst="line">
              <a:avLst/>
            </a:prstGeom>
            <a:noFill/>
            <a:ln w="57150" algn="ctr">
              <a:solidFill>
                <a:srgbClr val="C00000"/>
              </a:solidFill>
              <a:round/>
              <a:headEnd/>
              <a:tailEnd/>
            </a:ln>
          </p:spPr>
        </p:cxnSp>
        <p:cxnSp>
          <p:nvCxnSpPr>
            <p:cNvPr id="37938" name="直接连接符 43"/>
            <p:cNvCxnSpPr>
              <a:cxnSpLocks noChangeShapeType="1"/>
            </p:cNvCxnSpPr>
            <p:nvPr/>
          </p:nvCxnSpPr>
          <p:spPr bwMode="auto">
            <a:xfrm flipH="1">
              <a:off x="685800" y="2114550"/>
              <a:ext cx="171450" cy="247650"/>
            </a:xfrm>
            <a:prstGeom prst="line">
              <a:avLst/>
            </a:prstGeom>
            <a:noFill/>
            <a:ln w="57150" algn="ctr">
              <a:solidFill>
                <a:srgbClr val="C00000"/>
              </a:solidFill>
              <a:round/>
              <a:headEnd/>
              <a:tailEnd/>
            </a:ln>
          </p:spPr>
        </p:cxnSp>
      </p:grpSp>
      <p:grpSp>
        <p:nvGrpSpPr>
          <p:cNvPr id="5" name="组合 44"/>
          <p:cNvGrpSpPr>
            <a:grpSpLocks/>
          </p:cNvGrpSpPr>
          <p:nvPr/>
        </p:nvGrpSpPr>
        <p:grpSpPr bwMode="auto">
          <a:xfrm>
            <a:off x="3429000" y="5353050"/>
            <a:ext cx="209550" cy="247650"/>
            <a:chOff x="685800" y="2114550"/>
            <a:chExt cx="209550" cy="247650"/>
          </a:xfrm>
        </p:grpSpPr>
        <p:cxnSp>
          <p:nvCxnSpPr>
            <p:cNvPr id="37935" name="直接连接符 45"/>
            <p:cNvCxnSpPr>
              <a:cxnSpLocks noChangeShapeType="1"/>
            </p:cNvCxnSpPr>
            <p:nvPr/>
          </p:nvCxnSpPr>
          <p:spPr bwMode="auto">
            <a:xfrm>
              <a:off x="685800" y="2133600"/>
              <a:ext cx="209550" cy="190500"/>
            </a:xfrm>
            <a:prstGeom prst="line">
              <a:avLst/>
            </a:prstGeom>
            <a:noFill/>
            <a:ln w="57150" algn="ctr">
              <a:solidFill>
                <a:srgbClr val="C00000"/>
              </a:solidFill>
              <a:round/>
              <a:headEnd/>
              <a:tailEnd/>
            </a:ln>
          </p:spPr>
        </p:cxnSp>
        <p:cxnSp>
          <p:nvCxnSpPr>
            <p:cNvPr id="37936" name="直接连接符 46"/>
            <p:cNvCxnSpPr>
              <a:cxnSpLocks noChangeShapeType="1"/>
            </p:cNvCxnSpPr>
            <p:nvPr/>
          </p:nvCxnSpPr>
          <p:spPr bwMode="auto">
            <a:xfrm flipH="1">
              <a:off x="685800" y="2114550"/>
              <a:ext cx="171450" cy="247650"/>
            </a:xfrm>
            <a:prstGeom prst="line">
              <a:avLst/>
            </a:prstGeom>
            <a:noFill/>
            <a:ln w="57150" algn="ctr">
              <a:solidFill>
                <a:srgbClr val="C00000"/>
              </a:solidFill>
              <a:round/>
              <a:headEnd/>
              <a:tailEnd/>
            </a:ln>
          </p:spPr>
        </p:cxnSp>
      </p:grpSp>
      <p:grpSp>
        <p:nvGrpSpPr>
          <p:cNvPr id="6" name="组合 47"/>
          <p:cNvGrpSpPr>
            <a:grpSpLocks/>
          </p:cNvGrpSpPr>
          <p:nvPr/>
        </p:nvGrpSpPr>
        <p:grpSpPr bwMode="auto">
          <a:xfrm>
            <a:off x="2781300" y="4343400"/>
            <a:ext cx="209550" cy="247650"/>
            <a:chOff x="685800" y="2114550"/>
            <a:chExt cx="209550" cy="247650"/>
          </a:xfrm>
        </p:grpSpPr>
        <p:cxnSp>
          <p:nvCxnSpPr>
            <p:cNvPr id="37933" name="直接连接符 48"/>
            <p:cNvCxnSpPr>
              <a:cxnSpLocks noChangeShapeType="1"/>
            </p:cNvCxnSpPr>
            <p:nvPr/>
          </p:nvCxnSpPr>
          <p:spPr bwMode="auto">
            <a:xfrm>
              <a:off x="685800" y="2133600"/>
              <a:ext cx="209550" cy="190500"/>
            </a:xfrm>
            <a:prstGeom prst="line">
              <a:avLst/>
            </a:prstGeom>
            <a:noFill/>
            <a:ln w="57150" algn="ctr">
              <a:solidFill>
                <a:srgbClr val="C00000"/>
              </a:solidFill>
              <a:round/>
              <a:headEnd/>
              <a:tailEnd/>
            </a:ln>
          </p:spPr>
        </p:cxnSp>
        <p:cxnSp>
          <p:nvCxnSpPr>
            <p:cNvPr id="37934" name="直接连接符 49"/>
            <p:cNvCxnSpPr>
              <a:cxnSpLocks noChangeShapeType="1"/>
            </p:cNvCxnSpPr>
            <p:nvPr/>
          </p:nvCxnSpPr>
          <p:spPr bwMode="auto">
            <a:xfrm flipH="1">
              <a:off x="685800" y="2114550"/>
              <a:ext cx="171450" cy="247650"/>
            </a:xfrm>
            <a:prstGeom prst="line">
              <a:avLst/>
            </a:prstGeom>
            <a:noFill/>
            <a:ln w="57150" algn="ctr">
              <a:solidFill>
                <a:srgbClr val="C00000"/>
              </a:solidFill>
              <a:round/>
              <a:headEnd/>
              <a:tailEnd/>
            </a:ln>
          </p:spPr>
        </p:cxnSp>
      </p:grpSp>
      <p:grpSp>
        <p:nvGrpSpPr>
          <p:cNvPr id="7" name="组合 50"/>
          <p:cNvGrpSpPr>
            <a:grpSpLocks/>
          </p:cNvGrpSpPr>
          <p:nvPr/>
        </p:nvGrpSpPr>
        <p:grpSpPr bwMode="auto">
          <a:xfrm>
            <a:off x="2571750" y="5848350"/>
            <a:ext cx="209550" cy="247650"/>
            <a:chOff x="685800" y="2114550"/>
            <a:chExt cx="209550" cy="247650"/>
          </a:xfrm>
        </p:grpSpPr>
        <p:cxnSp>
          <p:nvCxnSpPr>
            <p:cNvPr id="37931" name="直接连接符 51"/>
            <p:cNvCxnSpPr>
              <a:cxnSpLocks noChangeShapeType="1"/>
            </p:cNvCxnSpPr>
            <p:nvPr/>
          </p:nvCxnSpPr>
          <p:spPr bwMode="auto">
            <a:xfrm>
              <a:off x="685800" y="2133600"/>
              <a:ext cx="209550" cy="190500"/>
            </a:xfrm>
            <a:prstGeom prst="line">
              <a:avLst/>
            </a:prstGeom>
            <a:noFill/>
            <a:ln w="57150" algn="ctr">
              <a:solidFill>
                <a:srgbClr val="C00000"/>
              </a:solidFill>
              <a:round/>
              <a:headEnd/>
              <a:tailEnd/>
            </a:ln>
          </p:spPr>
        </p:cxnSp>
        <p:cxnSp>
          <p:nvCxnSpPr>
            <p:cNvPr id="37932" name="直接连接符 52"/>
            <p:cNvCxnSpPr>
              <a:cxnSpLocks noChangeShapeType="1"/>
            </p:cNvCxnSpPr>
            <p:nvPr/>
          </p:nvCxnSpPr>
          <p:spPr bwMode="auto">
            <a:xfrm flipH="1">
              <a:off x="685800" y="2114550"/>
              <a:ext cx="171450" cy="247650"/>
            </a:xfrm>
            <a:prstGeom prst="line">
              <a:avLst/>
            </a:prstGeom>
            <a:noFill/>
            <a:ln w="57150" algn="ctr">
              <a:solidFill>
                <a:srgbClr val="C00000"/>
              </a:solidFill>
              <a:round/>
              <a:headEnd/>
              <a:tailEnd/>
            </a:ln>
          </p:spPr>
        </p:cxnSp>
      </p:grpSp>
      <p:grpSp>
        <p:nvGrpSpPr>
          <p:cNvPr id="8" name="组合 53"/>
          <p:cNvGrpSpPr>
            <a:grpSpLocks/>
          </p:cNvGrpSpPr>
          <p:nvPr/>
        </p:nvGrpSpPr>
        <p:grpSpPr bwMode="auto">
          <a:xfrm>
            <a:off x="2286000" y="4972050"/>
            <a:ext cx="209550" cy="247650"/>
            <a:chOff x="685800" y="2114550"/>
            <a:chExt cx="209550" cy="247650"/>
          </a:xfrm>
        </p:grpSpPr>
        <p:cxnSp>
          <p:nvCxnSpPr>
            <p:cNvPr id="37929" name="直接连接符 54"/>
            <p:cNvCxnSpPr>
              <a:cxnSpLocks noChangeShapeType="1"/>
            </p:cNvCxnSpPr>
            <p:nvPr/>
          </p:nvCxnSpPr>
          <p:spPr bwMode="auto">
            <a:xfrm>
              <a:off x="685800" y="2133600"/>
              <a:ext cx="209550" cy="190500"/>
            </a:xfrm>
            <a:prstGeom prst="line">
              <a:avLst/>
            </a:prstGeom>
            <a:noFill/>
            <a:ln w="57150" algn="ctr">
              <a:solidFill>
                <a:srgbClr val="C00000"/>
              </a:solidFill>
              <a:round/>
              <a:headEnd/>
              <a:tailEnd/>
            </a:ln>
          </p:spPr>
        </p:cxnSp>
        <p:cxnSp>
          <p:nvCxnSpPr>
            <p:cNvPr id="37930" name="直接连接符 55"/>
            <p:cNvCxnSpPr>
              <a:cxnSpLocks noChangeShapeType="1"/>
            </p:cNvCxnSpPr>
            <p:nvPr/>
          </p:nvCxnSpPr>
          <p:spPr bwMode="auto">
            <a:xfrm flipH="1">
              <a:off x="685800" y="2114550"/>
              <a:ext cx="171450" cy="247650"/>
            </a:xfrm>
            <a:prstGeom prst="line">
              <a:avLst/>
            </a:prstGeom>
            <a:noFill/>
            <a:ln w="57150" algn="ctr">
              <a:solidFill>
                <a:srgbClr val="C00000"/>
              </a:solidFill>
              <a:round/>
              <a:headEnd/>
              <a:tailEnd/>
            </a:ln>
          </p:spPr>
        </p:cxnSp>
      </p:grpSp>
      <p:sp>
        <p:nvSpPr>
          <p:cNvPr id="37912" name="椭圆 56"/>
          <p:cNvSpPr>
            <a:spLocks noChangeArrowheads="1"/>
          </p:cNvSpPr>
          <p:nvPr/>
        </p:nvSpPr>
        <p:spPr bwMode="auto">
          <a:xfrm>
            <a:off x="6019800" y="2438400"/>
            <a:ext cx="209550" cy="190500"/>
          </a:xfrm>
          <a:prstGeom prst="ellipse">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37913" name="椭圆 57"/>
          <p:cNvSpPr>
            <a:spLocks noChangeArrowheads="1"/>
          </p:cNvSpPr>
          <p:nvPr/>
        </p:nvSpPr>
        <p:spPr bwMode="auto">
          <a:xfrm>
            <a:off x="6686550" y="2647950"/>
            <a:ext cx="209550" cy="190500"/>
          </a:xfrm>
          <a:prstGeom prst="ellipse">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37914" name="椭圆 58"/>
          <p:cNvSpPr>
            <a:spLocks noChangeArrowheads="1"/>
          </p:cNvSpPr>
          <p:nvPr/>
        </p:nvSpPr>
        <p:spPr bwMode="auto">
          <a:xfrm>
            <a:off x="5334000" y="1981200"/>
            <a:ext cx="209550" cy="190500"/>
          </a:xfrm>
          <a:prstGeom prst="ellipse">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37915" name="椭圆 59"/>
          <p:cNvSpPr>
            <a:spLocks noChangeArrowheads="1"/>
          </p:cNvSpPr>
          <p:nvPr/>
        </p:nvSpPr>
        <p:spPr bwMode="auto">
          <a:xfrm>
            <a:off x="5257800" y="1581150"/>
            <a:ext cx="209550" cy="190500"/>
          </a:xfrm>
          <a:prstGeom prst="ellipse">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37916" name="椭圆 60"/>
          <p:cNvSpPr>
            <a:spLocks noChangeArrowheads="1"/>
          </p:cNvSpPr>
          <p:nvPr/>
        </p:nvSpPr>
        <p:spPr bwMode="auto">
          <a:xfrm>
            <a:off x="6324600" y="1866900"/>
            <a:ext cx="209550" cy="190500"/>
          </a:xfrm>
          <a:prstGeom prst="ellipse">
            <a:avLst/>
          </a:prstGeom>
          <a:solidFill>
            <a:srgbClr val="FF0000"/>
          </a:solidFill>
          <a:ln w="9525" algn="ctr">
            <a:solidFill>
              <a:schemeClr val="tx1"/>
            </a:solidFill>
            <a:round/>
            <a:headEnd/>
            <a:tailEnd type="triangle" w="med" len="med"/>
          </a:ln>
        </p:spPr>
        <p:txBody>
          <a:bodyPr wrap="none"/>
          <a:lstStyle/>
          <a:p>
            <a:endParaRPr lang="zh-CN" altLang="en-US"/>
          </a:p>
        </p:txBody>
      </p:sp>
      <p:graphicFrame>
        <p:nvGraphicFramePr>
          <p:cNvPr id="37891" name="Object 5" descr="羊皮纸"/>
          <p:cNvGraphicFramePr>
            <a:graphicFrameLocks noChangeAspect="1"/>
          </p:cNvGraphicFramePr>
          <p:nvPr/>
        </p:nvGraphicFramePr>
        <p:xfrm>
          <a:off x="7591425" y="4595813"/>
          <a:ext cx="701675" cy="1230312"/>
        </p:xfrm>
        <a:graphic>
          <a:graphicData uri="http://schemas.openxmlformats.org/presentationml/2006/ole">
            <mc:AlternateContent xmlns:mc="http://schemas.openxmlformats.org/markup-compatibility/2006">
              <mc:Choice xmlns:v="urn:schemas-microsoft-com:vml" Requires="v">
                <p:oleObj name="公式" r:id="rId5" imgW="253800" imgH="444240" progId="Equation.3">
                  <p:embed/>
                </p:oleObj>
              </mc:Choice>
              <mc:Fallback>
                <p:oleObj name="公式" r:id="rId5" imgW="253800" imgH="444240" progId="Equation.3">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91425" y="4595813"/>
                        <a:ext cx="701675" cy="12303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37917" name="直接箭头连接符 62"/>
          <p:cNvCxnSpPr>
            <a:cxnSpLocks noChangeShapeType="1"/>
          </p:cNvCxnSpPr>
          <p:nvPr/>
        </p:nvCxnSpPr>
        <p:spPr bwMode="auto">
          <a:xfrm flipH="1">
            <a:off x="6496050" y="3886200"/>
            <a:ext cx="1200150" cy="1981200"/>
          </a:xfrm>
          <a:prstGeom prst="straightConnector1">
            <a:avLst/>
          </a:prstGeom>
          <a:noFill/>
          <a:ln w="57150" algn="ctr">
            <a:solidFill>
              <a:srgbClr val="C00000"/>
            </a:solidFill>
            <a:round/>
            <a:headEnd type="triangle" w="med" len="med"/>
            <a:tailEnd type="triangle" w="med" len="med"/>
          </a:ln>
        </p:spPr>
      </p:cxnSp>
      <p:grpSp>
        <p:nvGrpSpPr>
          <p:cNvPr id="9" name="组合 44"/>
          <p:cNvGrpSpPr>
            <a:grpSpLocks/>
          </p:cNvGrpSpPr>
          <p:nvPr/>
        </p:nvGrpSpPr>
        <p:grpSpPr bwMode="auto">
          <a:xfrm>
            <a:off x="4924425" y="4960938"/>
            <a:ext cx="209550" cy="247650"/>
            <a:chOff x="685800" y="2114550"/>
            <a:chExt cx="209550" cy="247650"/>
          </a:xfrm>
        </p:grpSpPr>
        <p:cxnSp>
          <p:nvCxnSpPr>
            <p:cNvPr id="37927" name="直接连接符 45"/>
            <p:cNvCxnSpPr>
              <a:cxnSpLocks noChangeShapeType="1"/>
            </p:cNvCxnSpPr>
            <p:nvPr/>
          </p:nvCxnSpPr>
          <p:spPr bwMode="auto">
            <a:xfrm>
              <a:off x="685800" y="2133600"/>
              <a:ext cx="209550" cy="190500"/>
            </a:xfrm>
            <a:prstGeom prst="line">
              <a:avLst/>
            </a:prstGeom>
            <a:noFill/>
            <a:ln w="57150" algn="ctr">
              <a:solidFill>
                <a:srgbClr val="C00000"/>
              </a:solidFill>
              <a:round/>
              <a:headEnd/>
              <a:tailEnd/>
            </a:ln>
          </p:spPr>
        </p:cxnSp>
        <p:cxnSp>
          <p:nvCxnSpPr>
            <p:cNvPr id="37928" name="直接连接符 46"/>
            <p:cNvCxnSpPr>
              <a:cxnSpLocks noChangeShapeType="1"/>
            </p:cNvCxnSpPr>
            <p:nvPr/>
          </p:nvCxnSpPr>
          <p:spPr bwMode="auto">
            <a:xfrm flipH="1">
              <a:off x="685800" y="2114550"/>
              <a:ext cx="171450" cy="247650"/>
            </a:xfrm>
            <a:prstGeom prst="line">
              <a:avLst/>
            </a:prstGeom>
            <a:noFill/>
            <a:ln w="57150" algn="ctr">
              <a:solidFill>
                <a:srgbClr val="C00000"/>
              </a:solidFill>
              <a:round/>
              <a:headEnd/>
              <a:tailEnd/>
            </a:ln>
          </p:spPr>
        </p:cxnSp>
      </p:grpSp>
      <p:grpSp>
        <p:nvGrpSpPr>
          <p:cNvPr id="10" name="组合 47"/>
          <p:cNvGrpSpPr>
            <a:grpSpLocks/>
          </p:cNvGrpSpPr>
          <p:nvPr/>
        </p:nvGrpSpPr>
        <p:grpSpPr bwMode="auto">
          <a:xfrm>
            <a:off x="3086100" y="3821113"/>
            <a:ext cx="209550" cy="247650"/>
            <a:chOff x="685800" y="2114550"/>
            <a:chExt cx="209550" cy="247650"/>
          </a:xfrm>
        </p:grpSpPr>
        <p:cxnSp>
          <p:nvCxnSpPr>
            <p:cNvPr id="37925" name="直接连接符 48"/>
            <p:cNvCxnSpPr>
              <a:cxnSpLocks noChangeShapeType="1"/>
            </p:cNvCxnSpPr>
            <p:nvPr/>
          </p:nvCxnSpPr>
          <p:spPr bwMode="auto">
            <a:xfrm>
              <a:off x="685800" y="2133600"/>
              <a:ext cx="209550" cy="190500"/>
            </a:xfrm>
            <a:prstGeom prst="line">
              <a:avLst/>
            </a:prstGeom>
            <a:noFill/>
            <a:ln w="57150" algn="ctr">
              <a:solidFill>
                <a:srgbClr val="C00000"/>
              </a:solidFill>
              <a:round/>
              <a:headEnd/>
              <a:tailEnd/>
            </a:ln>
          </p:spPr>
        </p:cxnSp>
        <p:cxnSp>
          <p:nvCxnSpPr>
            <p:cNvPr id="37926" name="直接连接符 49"/>
            <p:cNvCxnSpPr>
              <a:cxnSpLocks noChangeShapeType="1"/>
            </p:cNvCxnSpPr>
            <p:nvPr/>
          </p:nvCxnSpPr>
          <p:spPr bwMode="auto">
            <a:xfrm flipH="1">
              <a:off x="685800" y="2114550"/>
              <a:ext cx="171450" cy="247650"/>
            </a:xfrm>
            <a:prstGeom prst="line">
              <a:avLst/>
            </a:prstGeom>
            <a:noFill/>
            <a:ln w="57150" algn="ctr">
              <a:solidFill>
                <a:srgbClr val="C00000"/>
              </a:solidFill>
              <a:round/>
              <a:headEnd/>
              <a:tailEnd/>
            </a:ln>
          </p:spPr>
        </p:cxnSp>
      </p:grpSp>
      <p:sp>
        <p:nvSpPr>
          <p:cNvPr id="37920" name="椭圆 58"/>
          <p:cNvSpPr>
            <a:spLocks noChangeArrowheads="1"/>
          </p:cNvSpPr>
          <p:nvPr/>
        </p:nvSpPr>
        <p:spPr bwMode="auto">
          <a:xfrm>
            <a:off x="4970463" y="2155825"/>
            <a:ext cx="209550" cy="190500"/>
          </a:xfrm>
          <a:prstGeom prst="ellipse">
            <a:avLst/>
          </a:prstGeom>
          <a:solidFill>
            <a:srgbClr val="FF0000"/>
          </a:solidFill>
          <a:ln w="9525" algn="ctr">
            <a:solidFill>
              <a:schemeClr val="tx1"/>
            </a:solidFill>
            <a:round/>
            <a:headEnd/>
            <a:tailEnd type="triangle" w="med" len="med"/>
          </a:ln>
        </p:spPr>
        <p:txBody>
          <a:bodyPr wrap="none"/>
          <a:lstStyle/>
          <a:p>
            <a:endParaRPr lang="zh-CN" altLang="en-US"/>
          </a:p>
        </p:txBody>
      </p:sp>
      <p:grpSp>
        <p:nvGrpSpPr>
          <p:cNvPr id="11" name="组合 47"/>
          <p:cNvGrpSpPr>
            <a:grpSpLocks/>
          </p:cNvGrpSpPr>
          <p:nvPr/>
        </p:nvGrpSpPr>
        <p:grpSpPr bwMode="auto">
          <a:xfrm>
            <a:off x="2868613" y="2268538"/>
            <a:ext cx="209550" cy="247650"/>
            <a:chOff x="685800" y="2114550"/>
            <a:chExt cx="209550" cy="247650"/>
          </a:xfrm>
        </p:grpSpPr>
        <p:cxnSp>
          <p:nvCxnSpPr>
            <p:cNvPr id="37923" name="直接连接符 48"/>
            <p:cNvCxnSpPr>
              <a:cxnSpLocks noChangeShapeType="1"/>
            </p:cNvCxnSpPr>
            <p:nvPr/>
          </p:nvCxnSpPr>
          <p:spPr bwMode="auto">
            <a:xfrm>
              <a:off x="685800" y="2133600"/>
              <a:ext cx="209550" cy="190500"/>
            </a:xfrm>
            <a:prstGeom prst="line">
              <a:avLst/>
            </a:prstGeom>
            <a:noFill/>
            <a:ln w="57150" algn="ctr">
              <a:solidFill>
                <a:srgbClr val="C00000"/>
              </a:solidFill>
              <a:round/>
              <a:headEnd/>
              <a:tailEnd/>
            </a:ln>
          </p:spPr>
        </p:cxnSp>
        <p:cxnSp>
          <p:nvCxnSpPr>
            <p:cNvPr id="37924" name="直接连接符 49"/>
            <p:cNvCxnSpPr>
              <a:cxnSpLocks noChangeShapeType="1"/>
            </p:cNvCxnSpPr>
            <p:nvPr/>
          </p:nvCxnSpPr>
          <p:spPr bwMode="auto">
            <a:xfrm flipH="1">
              <a:off x="685800" y="2114550"/>
              <a:ext cx="171450" cy="247650"/>
            </a:xfrm>
            <a:prstGeom prst="line">
              <a:avLst/>
            </a:prstGeom>
            <a:noFill/>
            <a:ln w="57150" algn="ctr">
              <a:solidFill>
                <a:srgbClr val="C00000"/>
              </a:solidFill>
              <a:round/>
              <a:headEnd/>
              <a:tailEnd/>
            </a:ln>
          </p:spPr>
        </p:cxnSp>
      </p:grpSp>
      <p:sp>
        <p:nvSpPr>
          <p:cNvPr id="37922" name="椭圆 60"/>
          <p:cNvSpPr>
            <a:spLocks noChangeArrowheads="1"/>
          </p:cNvSpPr>
          <p:nvPr/>
        </p:nvSpPr>
        <p:spPr bwMode="auto">
          <a:xfrm>
            <a:off x="5351463" y="3797300"/>
            <a:ext cx="209550" cy="190500"/>
          </a:xfrm>
          <a:prstGeom prst="ellipse">
            <a:avLst/>
          </a:prstGeom>
          <a:solidFill>
            <a:srgbClr val="FF0000"/>
          </a:solidFill>
          <a:ln w="9525" algn="ctr">
            <a:solidFill>
              <a:schemeClr val="tx1"/>
            </a:solidFill>
            <a:round/>
            <a:headEnd/>
            <a:tailEnd type="triangle" w="med" len="med"/>
          </a:ln>
        </p:spPr>
        <p:txBody>
          <a:bodyPr wrap="none"/>
          <a:lstStyle/>
          <a:p>
            <a:endParaRPr lang="zh-CN" alt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设训练样本如图所示，请选择哪些是支持向量。</a:t>
            </a:r>
          </a:p>
        </p:txBody>
      </p:sp>
      <p:sp>
        <p:nvSpPr>
          <p:cNvPr id="6" name="文本框 5"/>
          <p:cNvSpPr txBox="1"/>
          <p:nvPr>
            <p:custDataLst>
              <p:tags r:id="rId3"/>
            </p:custDataLst>
          </p:nvPr>
        </p:nvSpPr>
        <p:spPr>
          <a:xfrm>
            <a:off x="1828800" y="2786063"/>
            <a:ext cx="2830286"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红颜色样本</a:t>
            </a:r>
          </a:p>
        </p:txBody>
      </p:sp>
      <p:sp>
        <p:nvSpPr>
          <p:cNvPr id="7" name="文本框 6"/>
          <p:cNvSpPr txBox="1"/>
          <p:nvPr>
            <p:custDataLst>
              <p:tags r:id="rId4"/>
            </p:custDataLst>
          </p:nvPr>
        </p:nvSpPr>
        <p:spPr>
          <a:xfrm>
            <a:off x="1828800" y="3643313"/>
            <a:ext cx="2830286"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黄颜色样本</a:t>
            </a:r>
          </a:p>
        </p:txBody>
      </p:sp>
      <p:sp>
        <p:nvSpPr>
          <p:cNvPr id="8" name="文本框 7"/>
          <p:cNvSpPr txBox="1"/>
          <p:nvPr>
            <p:custDataLst>
              <p:tags r:id="rId5"/>
            </p:custDataLst>
          </p:nvPr>
        </p:nvSpPr>
        <p:spPr>
          <a:xfrm>
            <a:off x="1828800" y="4500563"/>
            <a:ext cx="2830286"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蓝颜色样本</a:t>
            </a:r>
          </a:p>
        </p:txBody>
      </p:sp>
      <p:sp>
        <p:nvSpPr>
          <p:cNvPr id="9" name="文本框 8"/>
          <p:cNvSpPr txBox="1"/>
          <p:nvPr>
            <p:custDataLst>
              <p:tags r:id="rId6"/>
            </p:custDataLst>
          </p:nvPr>
        </p:nvSpPr>
        <p:spPr>
          <a:xfrm>
            <a:off x="1828800" y="5357813"/>
            <a:ext cx="292608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黑颜色样本</a:t>
            </a:r>
          </a:p>
        </p:txBody>
      </p:sp>
      <p:sp>
        <p:nvSpPr>
          <p:cNvPr id="10" name="矩形 9"/>
          <p:cNvSpPr>
            <a:spLocks noChangeAspect="1"/>
          </p:cNvSpPr>
          <p:nvPr>
            <p:custDataLst>
              <p:tags r:id="rId7"/>
            </p:custDataLst>
          </p:nvPr>
        </p:nvSpPr>
        <p:spPr>
          <a:xfrm>
            <a:off x="1114425" y="2850356"/>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8"/>
            </p:custDataLst>
          </p:nvPr>
        </p:nvSpPr>
        <p:spPr>
          <a:xfrm>
            <a:off x="1114425" y="3707606"/>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矩形 11"/>
          <p:cNvSpPr>
            <a:spLocks noChangeAspect="1"/>
          </p:cNvSpPr>
          <p:nvPr>
            <p:custDataLst>
              <p:tags r:id="rId9"/>
            </p:custDataLst>
          </p:nvPr>
        </p:nvSpPr>
        <p:spPr>
          <a:xfrm>
            <a:off x="1114425" y="4564856"/>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矩形 12"/>
          <p:cNvSpPr>
            <a:spLocks noChangeAspect="1"/>
          </p:cNvSpPr>
          <p:nvPr>
            <p:custDataLst>
              <p:tags r:id="rId10"/>
            </p:custDataLst>
          </p:nvPr>
        </p:nvSpPr>
        <p:spPr>
          <a:xfrm>
            <a:off x="1114425" y="5422106"/>
            <a:ext cx="514350" cy="514350"/>
          </a:xfrm>
          <a:prstGeom prst="rect">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4" name="圆角矩形 13"/>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dirty="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21" name="组合 20"/>
          <p:cNvGrpSpPr/>
          <p:nvPr/>
        </p:nvGrpSpPr>
        <p:grpSpPr>
          <a:xfrm>
            <a:off x="4148554" y="2656115"/>
            <a:ext cx="4629694" cy="3509554"/>
            <a:chOff x="1562100" y="914400"/>
            <a:chExt cx="6191250" cy="5181600"/>
          </a:xfrm>
        </p:grpSpPr>
        <p:cxnSp>
          <p:nvCxnSpPr>
            <p:cNvPr id="22" name="直接连接符 5"/>
            <p:cNvCxnSpPr>
              <a:cxnSpLocks noChangeShapeType="1"/>
            </p:cNvCxnSpPr>
            <p:nvPr/>
          </p:nvCxnSpPr>
          <p:spPr bwMode="auto">
            <a:xfrm>
              <a:off x="2209800" y="1905000"/>
              <a:ext cx="4838700" cy="2971800"/>
            </a:xfrm>
            <a:prstGeom prst="line">
              <a:avLst/>
            </a:prstGeom>
            <a:noFill/>
            <a:ln w="38100" algn="ctr">
              <a:solidFill>
                <a:schemeClr val="tx1"/>
              </a:solidFill>
              <a:round/>
              <a:headEnd/>
              <a:tailEnd/>
            </a:ln>
          </p:spPr>
        </p:cxnSp>
        <p:cxnSp>
          <p:nvCxnSpPr>
            <p:cNvPr id="23" name="直接连接符 7"/>
            <p:cNvCxnSpPr>
              <a:cxnSpLocks noChangeShapeType="1"/>
            </p:cNvCxnSpPr>
            <p:nvPr/>
          </p:nvCxnSpPr>
          <p:spPr bwMode="auto">
            <a:xfrm>
              <a:off x="1562100" y="2914650"/>
              <a:ext cx="4838700" cy="2971800"/>
            </a:xfrm>
            <a:prstGeom prst="line">
              <a:avLst/>
            </a:prstGeom>
            <a:noFill/>
            <a:ln w="38100" algn="ctr">
              <a:solidFill>
                <a:schemeClr val="tx1"/>
              </a:solidFill>
              <a:prstDash val="dash"/>
              <a:round/>
              <a:headEnd/>
              <a:tailEnd/>
            </a:ln>
          </p:spPr>
        </p:cxnSp>
        <p:cxnSp>
          <p:nvCxnSpPr>
            <p:cNvPr id="24" name="直接连接符 8"/>
            <p:cNvCxnSpPr>
              <a:cxnSpLocks noChangeShapeType="1"/>
            </p:cNvCxnSpPr>
            <p:nvPr/>
          </p:nvCxnSpPr>
          <p:spPr bwMode="auto">
            <a:xfrm>
              <a:off x="2914650" y="914400"/>
              <a:ext cx="4838700" cy="2971800"/>
            </a:xfrm>
            <a:prstGeom prst="line">
              <a:avLst/>
            </a:prstGeom>
            <a:noFill/>
            <a:ln w="38100" algn="ctr">
              <a:solidFill>
                <a:schemeClr val="tx1"/>
              </a:solidFill>
              <a:prstDash val="dash"/>
              <a:round/>
              <a:headEnd/>
              <a:tailEnd/>
            </a:ln>
          </p:spPr>
        </p:cxnSp>
        <p:grpSp>
          <p:nvGrpSpPr>
            <p:cNvPr id="25" name="组合 15"/>
            <p:cNvGrpSpPr>
              <a:grpSpLocks/>
            </p:cNvGrpSpPr>
            <p:nvPr/>
          </p:nvGrpSpPr>
          <p:grpSpPr bwMode="auto">
            <a:xfrm>
              <a:off x="2247900" y="2476500"/>
              <a:ext cx="209550" cy="247650"/>
              <a:chOff x="685800" y="2114550"/>
              <a:chExt cx="209550" cy="247650"/>
            </a:xfrm>
            <a:solidFill>
              <a:srgbClr val="FFC000"/>
            </a:solidFill>
          </p:grpSpPr>
          <p:cxnSp>
            <p:nvCxnSpPr>
              <p:cNvPr id="74" name="直接连接符 10"/>
              <p:cNvCxnSpPr>
                <a:cxnSpLocks noChangeShapeType="1"/>
              </p:cNvCxnSpPr>
              <p:nvPr/>
            </p:nvCxnSpPr>
            <p:spPr bwMode="auto">
              <a:xfrm>
                <a:off x="685800" y="2133600"/>
                <a:ext cx="209550" cy="190500"/>
              </a:xfrm>
              <a:prstGeom prst="line">
                <a:avLst/>
              </a:prstGeom>
              <a:grpFill/>
              <a:ln w="57150" algn="ctr">
                <a:solidFill>
                  <a:srgbClr val="FFC000"/>
                </a:solidFill>
                <a:round/>
                <a:headEnd/>
                <a:tailEnd/>
              </a:ln>
            </p:spPr>
          </p:cxnSp>
          <p:cxnSp>
            <p:nvCxnSpPr>
              <p:cNvPr id="75" name="直接连接符 12"/>
              <p:cNvCxnSpPr>
                <a:cxnSpLocks noChangeShapeType="1"/>
              </p:cNvCxnSpPr>
              <p:nvPr/>
            </p:nvCxnSpPr>
            <p:spPr bwMode="auto">
              <a:xfrm flipH="1">
                <a:off x="685800" y="2114550"/>
                <a:ext cx="171450" cy="247650"/>
              </a:xfrm>
              <a:prstGeom prst="line">
                <a:avLst/>
              </a:prstGeom>
              <a:grpFill/>
              <a:ln w="57150" algn="ctr">
                <a:solidFill>
                  <a:srgbClr val="FFC000"/>
                </a:solidFill>
                <a:round/>
                <a:headEnd/>
                <a:tailEnd/>
              </a:ln>
            </p:spPr>
          </p:cxnSp>
        </p:grpSp>
        <p:sp>
          <p:nvSpPr>
            <p:cNvPr id="26" name="椭圆 16"/>
            <p:cNvSpPr>
              <a:spLocks noChangeArrowheads="1"/>
            </p:cNvSpPr>
            <p:nvPr/>
          </p:nvSpPr>
          <p:spPr bwMode="auto">
            <a:xfrm>
              <a:off x="3429000" y="1181100"/>
              <a:ext cx="209550" cy="190500"/>
            </a:xfrm>
            <a:prstGeom prst="ellipse">
              <a:avLst/>
            </a:prstGeom>
            <a:solidFill>
              <a:srgbClr val="FF0000"/>
            </a:solidFill>
            <a:ln w="9525" algn="ctr">
              <a:solidFill>
                <a:schemeClr val="tx1"/>
              </a:solidFill>
              <a:round/>
              <a:headEnd/>
              <a:tailEnd type="triangle" w="med" len="med"/>
            </a:ln>
          </p:spPr>
          <p:txBody>
            <a:bodyPr wrap="none"/>
            <a:lstStyle/>
            <a:p>
              <a:endParaRPr lang="zh-CN" altLang="en-US"/>
            </a:p>
          </p:txBody>
        </p:sp>
        <p:grpSp>
          <p:nvGrpSpPr>
            <p:cNvPr id="27" name="组合 22"/>
            <p:cNvGrpSpPr>
              <a:grpSpLocks/>
            </p:cNvGrpSpPr>
            <p:nvPr/>
          </p:nvGrpSpPr>
          <p:grpSpPr bwMode="auto">
            <a:xfrm>
              <a:off x="3981450" y="2171700"/>
              <a:ext cx="209550" cy="247650"/>
              <a:chOff x="685800" y="2114550"/>
              <a:chExt cx="209550" cy="247650"/>
            </a:xfrm>
            <a:solidFill>
              <a:srgbClr val="0070C0"/>
            </a:solidFill>
          </p:grpSpPr>
          <p:cxnSp>
            <p:nvCxnSpPr>
              <p:cNvPr id="72" name="直接连接符 23"/>
              <p:cNvCxnSpPr>
                <a:cxnSpLocks noChangeShapeType="1"/>
              </p:cNvCxnSpPr>
              <p:nvPr/>
            </p:nvCxnSpPr>
            <p:spPr bwMode="auto">
              <a:xfrm>
                <a:off x="685800" y="2133600"/>
                <a:ext cx="209550" cy="190500"/>
              </a:xfrm>
              <a:prstGeom prst="line">
                <a:avLst/>
              </a:prstGeom>
              <a:grpFill/>
              <a:ln w="57150" algn="ctr">
                <a:solidFill>
                  <a:srgbClr val="0070C0"/>
                </a:solidFill>
                <a:round/>
                <a:headEnd/>
                <a:tailEnd/>
              </a:ln>
            </p:spPr>
          </p:cxnSp>
          <p:cxnSp>
            <p:nvCxnSpPr>
              <p:cNvPr id="73" name="直接连接符 24"/>
              <p:cNvCxnSpPr>
                <a:cxnSpLocks noChangeShapeType="1"/>
              </p:cNvCxnSpPr>
              <p:nvPr/>
            </p:nvCxnSpPr>
            <p:spPr bwMode="auto">
              <a:xfrm flipH="1">
                <a:off x="685800" y="2114550"/>
                <a:ext cx="171450" cy="247650"/>
              </a:xfrm>
              <a:prstGeom prst="line">
                <a:avLst/>
              </a:prstGeom>
              <a:grpFill/>
              <a:ln w="57150" algn="ctr">
                <a:solidFill>
                  <a:srgbClr val="0070C0"/>
                </a:solidFill>
                <a:round/>
                <a:headEnd/>
                <a:tailEnd/>
              </a:ln>
            </p:spPr>
          </p:cxnSp>
        </p:grpSp>
        <p:sp>
          <p:nvSpPr>
            <p:cNvPr id="28" name="椭圆 27"/>
            <p:cNvSpPr>
              <a:spLocks noChangeArrowheads="1"/>
            </p:cNvSpPr>
            <p:nvPr/>
          </p:nvSpPr>
          <p:spPr bwMode="auto">
            <a:xfrm>
              <a:off x="3609702" y="4662898"/>
              <a:ext cx="209550" cy="190500"/>
            </a:xfrm>
            <a:prstGeom prst="ellipse">
              <a:avLst/>
            </a:prstGeom>
            <a:solidFill>
              <a:srgbClr val="0070C0"/>
            </a:solidFill>
            <a:ln w="9525" algn="ctr">
              <a:solidFill>
                <a:srgbClr val="0070C0"/>
              </a:solidFill>
              <a:round/>
              <a:headEnd/>
              <a:tailEnd type="triangle" w="med" len="med"/>
            </a:ln>
          </p:spPr>
          <p:txBody>
            <a:bodyPr wrap="none"/>
            <a:lstStyle/>
            <a:p>
              <a:endParaRPr lang="zh-CN" altLang="en-US"/>
            </a:p>
          </p:txBody>
        </p:sp>
        <p:sp>
          <p:nvSpPr>
            <p:cNvPr id="29" name="椭圆 33"/>
            <p:cNvSpPr>
              <a:spLocks noChangeArrowheads="1"/>
            </p:cNvSpPr>
            <p:nvPr/>
          </p:nvSpPr>
          <p:spPr bwMode="auto">
            <a:xfrm>
              <a:off x="5791200" y="3467100"/>
              <a:ext cx="209550" cy="190500"/>
            </a:xfrm>
            <a:prstGeom prst="ellipse">
              <a:avLst/>
            </a:prstGeom>
            <a:solidFill>
              <a:srgbClr val="FFC000"/>
            </a:solidFill>
            <a:ln w="9525" algn="ctr">
              <a:solidFill>
                <a:srgbClr val="FFC000"/>
              </a:solidFill>
              <a:round/>
              <a:headEnd/>
              <a:tailEnd type="triangle" w="med" len="med"/>
            </a:ln>
          </p:spPr>
          <p:txBody>
            <a:bodyPr wrap="none"/>
            <a:lstStyle/>
            <a:p>
              <a:endParaRPr lang="zh-CN" altLang="en-US"/>
            </a:p>
          </p:txBody>
        </p:sp>
        <p:grpSp>
          <p:nvGrpSpPr>
            <p:cNvPr id="30" name="组合 41"/>
            <p:cNvGrpSpPr>
              <a:grpSpLocks/>
            </p:cNvGrpSpPr>
            <p:nvPr/>
          </p:nvGrpSpPr>
          <p:grpSpPr bwMode="auto">
            <a:xfrm>
              <a:off x="1733550" y="4286250"/>
              <a:ext cx="209550" cy="247650"/>
              <a:chOff x="685800" y="2114550"/>
              <a:chExt cx="209550" cy="247650"/>
            </a:xfrm>
            <a:solidFill>
              <a:schemeClr val="tx1"/>
            </a:solidFill>
          </p:grpSpPr>
          <p:cxnSp>
            <p:nvCxnSpPr>
              <p:cNvPr id="70" name="直接连接符 42"/>
              <p:cNvCxnSpPr>
                <a:cxnSpLocks noChangeShapeType="1"/>
              </p:cNvCxnSpPr>
              <p:nvPr/>
            </p:nvCxnSpPr>
            <p:spPr bwMode="auto">
              <a:xfrm>
                <a:off x="685800" y="2133600"/>
                <a:ext cx="209550" cy="190500"/>
              </a:xfrm>
              <a:prstGeom prst="line">
                <a:avLst/>
              </a:prstGeom>
              <a:grpFill/>
              <a:ln w="57150" algn="ctr">
                <a:solidFill>
                  <a:schemeClr val="tx1"/>
                </a:solidFill>
                <a:round/>
                <a:headEnd/>
                <a:tailEnd/>
              </a:ln>
            </p:spPr>
          </p:cxnSp>
          <p:cxnSp>
            <p:nvCxnSpPr>
              <p:cNvPr id="71" name="直接连接符 43"/>
              <p:cNvCxnSpPr>
                <a:cxnSpLocks noChangeShapeType="1"/>
              </p:cNvCxnSpPr>
              <p:nvPr/>
            </p:nvCxnSpPr>
            <p:spPr bwMode="auto">
              <a:xfrm flipH="1">
                <a:off x="685800" y="2114550"/>
                <a:ext cx="171450" cy="247650"/>
              </a:xfrm>
              <a:prstGeom prst="line">
                <a:avLst/>
              </a:prstGeom>
              <a:grpFill/>
              <a:ln w="57150" algn="ctr">
                <a:solidFill>
                  <a:schemeClr val="tx1"/>
                </a:solidFill>
                <a:round/>
                <a:headEnd/>
                <a:tailEnd/>
              </a:ln>
            </p:spPr>
          </p:cxnSp>
        </p:grpSp>
        <p:grpSp>
          <p:nvGrpSpPr>
            <p:cNvPr id="31" name="组合 44"/>
            <p:cNvGrpSpPr>
              <a:grpSpLocks/>
            </p:cNvGrpSpPr>
            <p:nvPr/>
          </p:nvGrpSpPr>
          <p:grpSpPr bwMode="auto">
            <a:xfrm>
              <a:off x="3429000" y="5353050"/>
              <a:ext cx="209550" cy="247650"/>
              <a:chOff x="685800" y="2114550"/>
              <a:chExt cx="209550" cy="247650"/>
            </a:xfrm>
            <a:solidFill>
              <a:schemeClr val="tx1"/>
            </a:solidFill>
          </p:grpSpPr>
          <p:cxnSp>
            <p:nvCxnSpPr>
              <p:cNvPr id="68" name="直接连接符 45"/>
              <p:cNvCxnSpPr>
                <a:cxnSpLocks noChangeShapeType="1"/>
              </p:cNvCxnSpPr>
              <p:nvPr/>
            </p:nvCxnSpPr>
            <p:spPr bwMode="auto">
              <a:xfrm>
                <a:off x="685800" y="2133600"/>
                <a:ext cx="209550" cy="190500"/>
              </a:xfrm>
              <a:prstGeom prst="line">
                <a:avLst/>
              </a:prstGeom>
              <a:grpFill/>
              <a:ln w="57150" algn="ctr">
                <a:solidFill>
                  <a:schemeClr val="tx1"/>
                </a:solidFill>
                <a:round/>
                <a:headEnd/>
                <a:tailEnd/>
              </a:ln>
            </p:spPr>
          </p:cxnSp>
          <p:cxnSp>
            <p:nvCxnSpPr>
              <p:cNvPr id="69" name="直接连接符 46"/>
              <p:cNvCxnSpPr>
                <a:cxnSpLocks noChangeShapeType="1"/>
              </p:cNvCxnSpPr>
              <p:nvPr/>
            </p:nvCxnSpPr>
            <p:spPr bwMode="auto">
              <a:xfrm flipH="1">
                <a:off x="685800" y="2114550"/>
                <a:ext cx="171450" cy="247650"/>
              </a:xfrm>
              <a:prstGeom prst="line">
                <a:avLst/>
              </a:prstGeom>
              <a:grpFill/>
              <a:ln w="57150" algn="ctr">
                <a:solidFill>
                  <a:schemeClr val="tx1"/>
                </a:solidFill>
                <a:round/>
                <a:headEnd/>
                <a:tailEnd/>
              </a:ln>
            </p:spPr>
          </p:cxnSp>
        </p:grpSp>
        <p:grpSp>
          <p:nvGrpSpPr>
            <p:cNvPr id="32" name="组合 47"/>
            <p:cNvGrpSpPr>
              <a:grpSpLocks/>
            </p:cNvGrpSpPr>
            <p:nvPr/>
          </p:nvGrpSpPr>
          <p:grpSpPr bwMode="auto">
            <a:xfrm>
              <a:off x="2781300" y="4343400"/>
              <a:ext cx="209550" cy="247650"/>
              <a:chOff x="685800" y="2114550"/>
              <a:chExt cx="209550" cy="247650"/>
            </a:xfrm>
            <a:solidFill>
              <a:schemeClr val="tx1"/>
            </a:solidFill>
          </p:grpSpPr>
          <p:cxnSp>
            <p:nvCxnSpPr>
              <p:cNvPr id="66" name="直接连接符 48"/>
              <p:cNvCxnSpPr>
                <a:cxnSpLocks noChangeShapeType="1"/>
              </p:cNvCxnSpPr>
              <p:nvPr/>
            </p:nvCxnSpPr>
            <p:spPr bwMode="auto">
              <a:xfrm>
                <a:off x="685800" y="2133600"/>
                <a:ext cx="209550" cy="190500"/>
              </a:xfrm>
              <a:prstGeom prst="line">
                <a:avLst/>
              </a:prstGeom>
              <a:grpFill/>
              <a:ln w="57150" algn="ctr">
                <a:solidFill>
                  <a:schemeClr val="tx1"/>
                </a:solidFill>
                <a:round/>
                <a:headEnd/>
                <a:tailEnd/>
              </a:ln>
            </p:spPr>
          </p:cxnSp>
          <p:cxnSp>
            <p:nvCxnSpPr>
              <p:cNvPr id="67" name="直接连接符 49"/>
              <p:cNvCxnSpPr>
                <a:cxnSpLocks noChangeShapeType="1"/>
              </p:cNvCxnSpPr>
              <p:nvPr/>
            </p:nvCxnSpPr>
            <p:spPr bwMode="auto">
              <a:xfrm flipH="1">
                <a:off x="685800" y="2114550"/>
                <a:ext cx="171450" cy="247650"/>
              </a:xfrm>
              <a:prstGeom prst="line">
                <a:avLst/>
              </a:prstGeom>
              <a:grpFill/>
              <a:ln w="57150" algn="ctr">
                <a:solidFill>
                  <a:schemeClr val="tx1"/>
                </a:solidFill>
                <a:round/>
                <a:headEnd/>
                <a:tailEnd/>
              </a:ln>
            </p:spPr>
          </p:cxnSp>
        </p:grpSp>
        <p:grpSp>
          <p:nvGrpSpPr>
            <p:cNvPr id="33" name="组合 50"/>
            <p:cNvGrpSpPr>
              <a:grpSpLocks/>
            </p:cNvGrpSpPr>
            <p:nvPr/>
          </p:nvGrpSpPr>
          <p:grpSpPr bwMode="auto">
            <a:xfrm>
              <a:off x="2571750" y="5848350"/>
              <a:ext cx="209550" cy="247650"/>
              <a:chOff x="685800" y="2114550"/>
              <a:chExt cx="209550" cy="247650"/>
            </a:xfrm>
            <a:solidFill>
              <a:schemeClr val="tx1"/>
            </a:solidFill>
          </p:grpSpPr>
          <p:cxnSp>
            <p:nvCxnSpPr>
              <p:cNvPr id="64" name="直接连接符 51"/>
              <p:cNvCxnSpPr>
                <a:cxnSpLocks noChangeShapeType="1"/>
              </p:cNvCxnSpPr>
              <p:nvPr/>
            </p:nvCxnSpPr>
            <p:spPr bwMode="auto">
              <a:xfrm>
                <a:off x="685800" y="2133600"/>
                <a:ext cx="209550" cy="190500"/>
              </a:xfrm>
              <a:prstGeom prst="line">
                <a:avLst/>
              </a:prstGeom>
              <a:grpFill/>
              <a:ln w="57150" algn="ctr">
                <a:solidFill>
                  <a:schemeClr val="tx1"/>
                </a:solidFill>
                <a:round/>
                <a:headEnd/>
                <a:tailEnd/>
              </a:ln>
            </p:spPr>
          </p:cxnSp>
          <p:cxnSp>
            <p:nvCxnSpPr>
              <p:cNvPr id="65" name="直接连接符 52"/>
              <p:cNvCxnSpPr>
                <a:cxnSpLocks noChangeShapeType="1"/>
              </p:cNvCxnSpPr>
              <p:nvPr/>
            </p:nvCxnSpPr>
            <p:spPr bwMode="auto">
              <a:xfrm flipH="1">
                <a:off x="685800" y="2114550"/>
                <a:ext cx="171450" cy="247650"/>
              </a:xfrm>
              <a:prstGeom prst="line">
                <a:avLst/>
              </a:prstGeom>
              <a:grpFill/>
              <a:ln w="57150" algn="ctr">
                <a:solidFill>
                  <a:schemeClr val="tx1"/>
                </a:solidFill>
                <a:round/>
                <a:headEnd/>
                <a:tailEnd/>
              </a:ln>
            </p:spPr>
          </p:cxnSp>
        </p:grpSp>
        <p:grpSp>
          <p:nvGrpSpPr>
            <p:cNvPr id="34" name="组合 53"/>
            <p:cNvGrpSpPr>
              <a:grpSpLocks/>
            </p:cNvGrpSpPr>
            <p:nvPr/>
          </p:nvGrpSpPr>
          <p:grpSpPr bwMode="auto">
            <a:xfrm>
              <a:off x="2286000" y="4972050"/>
              <a:ext cx="209550" cy="247650"/>
              <a:chOff x="685800" y="2114550"/>
              <a:chExt cx="209550" cy="247650"/>
            </a:xfrm>
            <a:solidFill>
              <a:schemeClr val="tx1"/>
            </a:solidFill>
          </p:grpSpPr>
          <p:cxnSp>
            <p:nvCxnSpPr>
              <p:cNvPr id="62" name="直接连接符 54"/>
              <p:cNvCxnSpPr>
                <a:cxnSpLocks noChangeShapeType="1"/>
              </p:cNvCxnSpPr>
              <p:nvPr/>
            </p:nvCxnSpPr>
            <p:spPr bwMode="auto">
              <a:xfrm>
                <a:off x="685800" y="2133600"/>
                <a:ext cx="209550" cy="190500"/>
              </a:xfrm>
              <a:prstGeom prst="line">
                <a:avLst/>
              </a:prstGeom>
              <a:grpFill/>
              <a:ln w="57150" algn="ctr">
                <a:solidFill>
                  <a:schemeClr val="tx1"/>
                </a:solidFill>
                <a:round/>
                <a:headEnd/>
                <a:tailEnd/>
              </a:ln>
            </p:spPr>
          </p:cxnSp>
          <p:cxnSp>
            <p:nvCxnSpPr>
              <p:cNvPr id="63" name="直接连接符 55"/>
              <p:cNvCxnSpPr>
                <a:cxnSpLocks noChangeShapeType="1"/>
              </p:cNvCxnSpPr>
              <p:nvPr/>
            </p:nvCxnSpPr>
            <p:spPr bwMode="auto">
              <a:xfrm flipH="1">
                <a:off x="685800" y="2114550"/>
                <a:ext cx="171450" cy="247650"/>
              </a:xfrm>
              <a:prstGeom prst="line">
                <a:avLst/>
              </a:prstGeom>
              <a:grpFill/>
              <a:ln w="57150" algn="ctr">
                <a:solidFill>
                  <a:schemeClr val="tx1"/>
                </a:solidFill>
                <a:round/>
                <a:headEnd/>
                <a:tailEnd/>
              </a:ln>
            </p:spPr>
          </p:cxnSp>
        </p:grpSp>
        <p:sp>
          <p:nvSpPr>
            <p:cNvPr id="35" name="椭圆 56"/>
            <p:cNvSpPr>
              <a:spLocks noChangeArrowheads="1"/>
            </p:cNvSpPr>
            <p:nvPr/>
          </p:nvSpPr>
          <p:spPr bwMode="auto">
            <a:xfrm>
              <a:off x="6019800" y="2438400"/>
              <a:ext cx="209550" cy="190500"/>
            </a:xfrm>
            <a:prstGeom prst="ellipse">
              <a:avLst/>
            </a:prstGeom>
            <a:solidFill>
              <a:schemeClr val="tx1"/>
            </a:solidFill>
            <a:ln w="9525" algn="ctr">
              <a:solidFill>
                <a:schemeClr val="tx1"/>
              </a:solidFill>
              <a:round/>
              <a:headEnd/>
              <a:tailEnd type="triangle" w="med" len="med"/>
            </a:ln>
          </p:spPr>
          <p:txBody>
            <a:bodyPr wrap="none"/>
            <a:lstStyle/>
            <a:p>
              <a:endParaRPr lang="zh-CN" altLang="en-US"/>
            </a:p>
          </p:txBody>
        </p:sp>
        <p:sp>
          <p:nvSpPr>
            <p:cNvPr id="36" name="椭圆 57"/>
            <p:cNvSpPr>
              <a:spLocks noChangeArrowheads="1"/>
            </p:cNvSpPr>
            <p:nvPr/>
          </p:nvSpPr>
          <p:spPr bwMode="auto">
            <a:xfrm>
              <a:off x="6686550" y="2647950"/>
              <a:ext cx="209550" cy="190500"/>
            </a:xfrm>
            <a:prstGeom prst="ellipse">
              <a:avLst/>
            </a:prstGeom>
            <a:solidFill>
              <a:schemeClr val="tx1"/>
            </a:solidFill>
            <a:ln w="9525" algn="ctr">
              <a:solidFill>
                <a:schemeClr val="tx1"/>
              </a:solidFill>
              <a:round/>
              <a:headEnd/>
              <a:tailEnd type="triangle" w="med" len="med"/>
            </a:ln>
          </p:spPr>
          <p:txBody>
            <a:bodyPr wrap="none"/>
            <a:lstStyle/>
            <a:p>
              <a:endParaRPr lang="zh-CN" altLang="en-US"/>
            </a:p>
          </p:txBody>
        </p:sp>
        <p:sp>
          <p:nvSpPr>
            <p:cNvPr id="37" name="椭圆 58"/>
            <p:cNvSpPr>
              <a:spLocks noChangeArrowheads="1"/>
            </p:cNvSpPr>
            <p:nvPr/>
          </p:nvSpPr>
          <p:spPr bwMode="auto">
            <a:xfrm>
              <a:off x="5334000" y="1981200"/>
              <a:ext cx="209550" cy="190500"/>
            </a:xfrm>
            <a:prstGeom prst="ellipse">
              <a:avLst/>
            </a:prstGeom>
            <a:solidFill>
              <a:schemeClr val="tx1"/>
            </a:solidFill>
            <a:ln w="9525" algn="ctr">
              <a:solidFill>
                <a:schemeClr val="tx1"/>
              </a:solidFill>
              <a:round/>
              <a:headEnd/>
              <a:tailEnd type="triangle" w="med" len="med"/>
            </a:ln>
          </p:spPr>
          <p:txBody>
            <a:bodyPr wrap="none"/>
            <a:lstStyle/>
            <a:p>
              <a:endParaRPr lang="zh-CN" altLang="en-US"/>
            </a:p>
          </p:txBody>
        </p:sp>
        <p:sp>
          <p:nvSpPr>
            <p:cNvPr id="38" name="椭圆 59"/>
            <p:cNvSpPr>
              <a:spLocks noChangeArrowheads="1"/>
            </p:cNvSpPr>
            <p:nvPr/>
          </p:nvSpPr>
          <p:spPr bwMode="auto">
            <a:xfrm>
              <a:off x="5257800" y="1581150"/>
              <a:ext cx="209550" cy="190500"/>
            </a:xfrm>
            <a:prstGeom prst="ellipse">
              <a:avLst/>
            </a:prstGeom>
            <a:solidFill>
              <a:schemeClr val="tx1"/>
            </a:solidFill>
            <a:ln w="9525" algn="ctr">
              <a:solidFill>
                <a:schemeClr val="tx1"/>
              </a:solidFill>
              <a:round/>
              <a:headEnd/>
              <a:tailEnd type="triangle" w="med" len="med"/>
            </a:ln>
          </p:spPr>
          <p:txBody>
            <a:bodyPr wrap="none"/>
            <a:lstStyle/>
            <a:p>
              <a:endParaRPr lang="zh-CN" altLang="en-US"/>
            </a:p>
          </p:txBody>
        </p:sp>
        <p:sp>
          <p:nvSpPr>
            <p:cNvPr id="39" name="椭圆 60"/>
            <p:cNvSpPr>
              <a:spLocks noChangeArrowheads="1"/>
            </p:cNvSpPr>
            <p:nvPr/>
          </p:nvSpPr>
          <p:spPr bwMode="auto">
            <a:xfrm>
              <a:off x="6324600" y="1866900"/>
              <a:ext cx="209550" cy="190500"/>
            </a:xfrm>
            <a:prstGeom prst="ellipse">
              <a:avLst/>
            </a:prstGeom>
            <a:solidFill>
              <a:schemeClr val="tx1"/>
            </a:solidFill>
            <a:ln w="9525" algn="ctr">
              <a:solidFill>
                <a:schemeClr val="tx1"/>
              </a:solidFill>
              <a:round/>
              <a:headEnd/>
              <a:tailEnd type="triangle" w="med" len="med"/>
            </a:ln>
          </p:spPr>
          <p:txBody>
            <a:bodyPr wrap="none"/>
            <a:lstStyle/>
            <a:p>
              <a:endParaRPr lang="zh-CN" altLang="en-US"/>
            </a:p>
          </p:txBody>
        </p:sp>
        <p:grpSp>
          <p:nvGrpSpPr>
            <p:cNvPr id="40" name="组合 44"/>
            <p:cNvGrpSpPr>
              <a:grpSpLocks/>
            </p:cNvGrpSpPr>
            <p:nvPr/>
          </p:nvGrpSpPr>
          <p:grpSpPr bwMode="auto">
            <a:xfrm>
              <a:off x="4924425" y="4960938"/>
              <a:ext cx="209550" cy="247650"/>
              <a:chOff x="685800" y="2114550"/>
              <a:chExt cx="209550" cy="247650"/>
            </a:xfrm>
          </p:grpSpPr>
          <p:cxnSp>
            <p:nvCxnSpPr>
              <p:cNvPr id="60" name="直接连接符 45"/>
              <p:cNvCxnSpPr>
                <a:cxnSpLocks noChangeShapeType="1"/>
              </p:cNvCxnSpPr>
              <p:nvPr/>
            </p:nvCxnSpPr>
            <p:spPr bwMode="auto">
              <a:xfrm>
                <a:off x="685800" y="2133600"/>
                <a:ext cx="209550" cy="190500"/>
              </a:xfrm>
              <a:prstGeom prst="line">
                <a:avLst/>
              </a:prstGeom>
              <a:noFill/>
              <a:ln w="57150" algn="ctr">
                <a:solidFill>
                  <a:srgbClr val="FF0000"/>
                </a:solidFill>
                <a:round/>
                <a:headEnd/>
                <a:tailEnd/>
              </a:ln>
            </p:spPr>
          </p:cxnSp>
          <p:cxnSp>
            <p:nvCxnSpPr>
              <p:cNvPr id="61" name="直接连接符 46"/>
              <p:cNvCxnSpPr>
                <a:cxnSpLocks noChangeShapeType="1"/>
              </p:cNvCxnSpPr>
              <p:nvPr/>
            </p:nvCxnSpPr>
            <p:spPr bwMode="auto">
              <a:xfrm flipH="1">
                <a:off x="685800" y="2114550"/>
                <a:ext cx="171450" cy="247650"/>
              </a:xfrm>
              <a:prstGeom prst="line">
                <a:avLst/>
              </a:prstGeom>
              <a:noFill/>
              <a:ln w="57150" algn="ctr">
                <a:solidFill>
                  <a:srgbClr val="FF0000"/>
                </a:solidFill>
                <a:round/>
                <a:headEnd/>
                <a:tailEnd/>
              </a:ln>
            </p:spPr>
          </p:cxnSp>
        </p:grpSp>
        <p:grpSp>
          <p:nvGrpSpPr>
            <p:cNvPr id="41" name="组合 47"/>
            <p:cNvGrpSpPr>
              <a:grpSpLocks/>
            </p:cNvGrpSpPr>
            <p:nvPr/>
          </p:nvGrpSpPr>
          <p:grpSpPr bwMode="auto">
            <a:xfrm>
              <a:off x="3086100" y="3821113"/>
              <a:ext cx="209550" cy="247650"/>
              <a:chOff x="685800" y="2114550"/>
              <a:chExt cx="209550" cy="247650"/>
            </a:xfrm>
          </p:grpSpPr>
          <p:cxnSp>
            <p:nvCxnSpPr>
              <p:cNvPr id="58" name="直接连接符 48"/>
              <p:cNvCxnSpPr>
                <a:cxnSpLocks noChangeShapeType="1"/>
              </p:cNvCxnSpPr>
              <p:nvPr/>
            </p:nvCxnSpPr>
            <p:spPr bwMode="auto">
              <a:xfrm>
                <a:off x="685800" y="2133600"/>
                <a:ext cx="209550" cy="190500"/>
              </a:xfrm>
              <a:prstGeom prst="line">
                <a:avLst/>
              </a:prstGeom>
              <a:noFill/>
              <a:ln w="57150" algn="ctr">
                <a:solidFill>
                  <a:srgbClr val="FF0000"/>
                </a:solidFill>
                <a:round/>
                <a:headEnd/>
                <a:tailEnd/>
              </a:ln>
            </p:spPr>
          </p:cxnSp>
          <p:cxnSp>
            <p:nvCxnSpPr>
              <p:cNvPr id="59" name="直接连接符 49"/>
              <p:cNvCxnSpPr>
                <a:cxnSpLocks noChangeShapeType="1"/>
              </p:cNvCxnSpPr>
              <p:nvPr/>
            </p:nvCxnSpPr>
            <p:spPr bwMode="auto">
              <a:xfrm flipH="1">
                <a:off x="685800" y="2114550"/>
                <a:ext cx="171450" cy="247650"/>
              </a:xfrm>
              <a:prstGeom prst="line">
                <a:avLst/>
              </a:prstGeom>
              <a:noFill/>
              <a:ln w="57150" algn="ctr">
                <a:solidFill>
                  <a:srgbClr val="FF0000"/>
                </a:solidFill>
                <a:round/>
                <a:headEnd/>
                <a:tailEnd/>
              </a:ln>
            </p:spPr>
          </p:cxnSp>
        </p:grpSp>
        <p:sp>
          <p:nvSpPr>
            <p:cNvPr id="42" name="椭圆 58"/>
            <p:cNvSpPr>
              <a:spLocks noChangeArrowheads="1"/>
            </p:cNvSpPr>
            <p:nvPr/>
          </p:nvSpPr>
          <p:spPr bwMode="auto">
            <a:xfrm>
              <a:off x="4970463" y="2155825"/>
              <a:ext cx="209550" cy="190500"/>
            </a:xfrm>
            <a:prstGeom prst="ellipse">
              <a:avLst/>
            </a:prstGeom>
            <a:solidFill>
              <a:srgbClr val="FF0000"/>
            </a:solidFill>
            <a:ln w="9525" algn="ctr">
              <a:solidFill>
                <a:schemeClr val="tx1"/>
              </a:solidFill>
              <a:round/>
              <a:headEnd/>
              <a:tailEnd type="triangle" w="med" len="med"/>
            </a:ln>
          </p:spPr>
          <p:txBody>
            <a:bodyPr wrap="none"/>
            <a:lstStyle/>
            <a:p>
              <a:endParaRPr lang="zh-CN" altLang="en-US"/>
            </a:p>
          </p:txBody>
        </p:sp>
        <p:grpSp>
          <p:nvGrpSpPr>
            <p:cNvPr id="43" name="组合 47"/>
            <p:cNvGrpSpPr>
              <a:grpSpLocks/>
            </p:cNvGrpSpPr>
            <p:nvPr/>
          </p:nvGrpSpPr>
          <p:grpSpPr bwMode="auto">
            <a:xfrm>
              <a:off x="2894740" y="2033405"/>
              <a:ext cx="209550" cy="247650"/>
              <a:chOff x="685800" y="2114550"/>
              <a:chExt cx="209550" cy="247650"/>
            </a:xfrm>
            <a:solidFill>
              <a:srgbClr val="0070C0"/>
            </a:solidFill>
          </p:grpSpPr>
          <p:cxnSp>
            <p:nvCxnSpPr>
              <p:cNvPr id="56" name="直接连接符 48"/>
              <p:cNvCxnSpPr>
                <a:cxnSpLocks noChangeShapeType="1"/>
              </p:cNvCxnSpPr>
              <p:nvPr/>
            </p:nvCxnSpPr>
            <p:spPr bwMode="auto">
              <a:xfrm>
                <a:off x="685800" y="2133600"/>
                <a:ext cx="209550" cy="190500"/>
              </a:xfrm>
              <a:prstGeom prst="line">
                <a:avLst/>
              </a:prstGeom>
              <a:grpFill/>
              <a:ln w="57150" algn="ctr">
                <a:solidFill>
                  <a:srgbClr val="0070C0"/>
                </a:solidFill>
                <a:round/>
                <a:headEnd/>
                <a:tailEnd/>
              </a:ln>
            </p:spPr>
          </p:cxnSp>
          <p:cxnSp>
            <p:nvCxnSpPr>
              <p:cNvPr id="57" name="直接连接符 49"/>
              <p:cNvCxnSpPr>
                <a:cxnSpLocks noChangeShapeType="1"/>
              </p:cNvCxnSpPr>
              <p:nvPr/>
            </p:nvCxnSpPr>
            <p:spPr bwMode="auto">
              <a:xfrm flipH="1">
                <a:off x="685800" y="2114550"/>
                <a:ext cx="171450" cy="247650"/>
              </a:xfrm>
              <a:prstGeom prst="line">
                <a:avLst/>
              </a:prstGeom>
              <a:grpFill/>
              <a:ln w="57150" algn="ctr">
                <a:solidFill>
                  <a:srgbClr val="0070C0"/>
                </a:solidFill>
                <a:round/>
                <a:headEnd/>
                <a:tailEnd/>
              </a:ln>
            </p:spPr>
          </p:cxnSp>
        </p:grpSp>
        <p:sp>
          <p:nvSpPr>
            <p:cNvPr id="44" name="椭圆 60"/>
            <p:cNvSpPr>
              <a:spLocks noChangeArrowheads="1"/>
            </p:cNvSpPr>
            <p:nvPr/>
          </p:nvSpPr>
          <p:spPr bwMode="auto">
            <a:xfrm>
              <a:off x="5351463" y="3997599"/>
              <a:ext cx="209550" cy="190500"/>
            </a:xfrm>
            <a:prstGeom prst="ellipse">
              <a:avLst/>
            </a:prstGeom>
            <a:solidFill>
              <a:srgbClr val="0070C0"/>
            </a:solidFill>
            <a:ln w="9525" algn="ctr">
              <a:solidFill>
                <a:srgbClr val="0070C0"/>
              </a:solidFill>
              <a:round/>
              <a:headEnd/>
              <a:tailEnd type="triangle" w="med" len="med"/>
            </a:ln>
          </p:spPr>
          <p:txBody>
            <a:bodyPr wrap="none"/>
            <a:lstStyle/>
            <a:p>
              <a:endParaRPr lang="zh-CN" altLang="en-US"/>
            </a:p>
          </p:txBody>
        </p:sp>
        <p:sp>
          <p:nvSpPr>
            <p:cNvPr id="45" name="椭圆 33"/>
            <p:cNvSpPr>
              <a:spLocks noChangeArrowheads="1"/>
            </p:cNvSpPr>
            <p:nvPr/>
          </p:nvSpPr>
          <p:spPr bwMode="auto">
            <a:xfrm>
              <a:off x="5257800" y="3026049"/>
              <a:ext cx="209550" cy="190500"/>
            </a:xfrm>
            <a:prstGeom prst="ellipse">
              <a:avLst/>
            </a:prstGeom>
            <a:solidFill>
              <a:srgbClr val="FFC000"/>
            </a:solidFill>
            <a:ln w="9525" algn="ctr">
              <a:solidFill>
                <a:srgbClr val="FFC000"/>
              </a:solidFill>
              <a:round/>
              <a:headEnd/>
              <a:tailEnd type="triangle" w="med" len="med"/>
            </a:ln>
          </p:spPr>
          <p:txBody>
            <a:bodyPr wrap="none"/>
            <a:lstStyle/>
            <a:p>
              <a:endParaRPr lang="zh-CN" altLang="en-US"/>
            </a:p>
          </p:txBody>
        </p:sp>
        <p:grpSp>
          <p:nvGrpSpPr>
            <p:cNvPr id="46" name="组合 15"/>
            <p:cNvGrpSpPr>
              <a:grpSpLocks/>
            </p:cNvGrpSpPr>
            <p:nvPr/>
          </p:nvGrpSpPr>
          <p:grpSpPr bwMode="auto">
            <a:xfrm>
              <a:off x="2754902" y="2985905"/>
              <a:ext cx="209550" cy="247650"/>
              <a:chOff x="685800" y="2114550"/>
              <a:chExt cx="209550" cy="247650"/>
            </a:xfrm>
            <a:solidFill>
              <a:srgbClr val="FFC000"/>
            </a:solidFill>
          </p:grpSpPr>
          <p:cxnSp>
            <p:nvCxnSpPr>
              <p:cNvPr id="54" name="直接连接符 10"/>
              <p:cNvCxnSpPr>
                <a:cxnSpLocks noChangeShapeType="1"/>
              </p:cNvCxnSpPr>
              <p:nvPr/>
            </p:nvCxnSpPr>
            <p:spPr bwMode="auto">
              <a:xfrm>
                <a:off x="685800" y="2133600"/>
                <a:ext cx="209550" cy="190500"/>
              </a:xfrm>
              <a:prstGeom prst="line">
                <a:avLst/>
              </a:prstGeom>
              <a:grpFill/>
              <a:ln w="57150" algn="ctr">
                <a:solidFill>
                  <a:srgbClr val="FFC000"/>
                </a:solidFill>
                <a:round/>
                <a:headEnd/>
                <a:tailEnd/>
              </a:ln>
            </p:spPr>
          </p:cxnSp>
          <p:cxnSp>
            <p:nvCxnSpPr>
              <p:cNvPr id="55" name="直接连接符 12"/>
              <p:cNvCxnSpPr>
                <a:cxnSpLocks noChangeShapeType="1"/>
              </p:cNvCxnSpPr>
              <p:nvPr/>
            </p:nvCxnSpPr>
            <p:spPr bwMode="auto">
              <a:xfrm flipH="1">
                <a:off x="685800" y="2114550"/>
                <a:ext cx="171450" cy="247650"/>
              </a:xfrm>
              <a:prstGeom prst="line">
                <a:avLst/>
              </a:prstGeom>
              <a:grpFill/>
              <a:ln w="57150" algn="ctr">
                <a:solidFill>
                  <a:srgbClr val="FFC000"/>
                </a:solidFill>
                <a:round/>
                <a:headEnd/>
                <a:tailEnd/>
              </a:ln>
            </p:spPr>
          </p:cxnSp>
        </p:grpSp>
        <p:grpSp>
          <p:nvGrpSpPr>
            <p:cNvPr id="47" name="组合 15"/>
            <p:cNvGrpSpPr>
              <a:grpSpLocks/>
            </p:cNvGrpSpPr>
            <p:nvPr/>
          </p:nvGrpSpPr>
          <p:grpSpPr bwMode="auto">
            <a:xfrm>
              <a:off x="3495680" y="3082244"/>
              <a:ext cx="209550" cy="247650"/>
              <a:chOff x="685800" y="2114550"/>
              <a:chExt cx="209550" cy="247650"/>
            </a:xfrm>
            <a:solidFill>
              <a:srgbClr val="FFC000"/>
            </a:solidFill>
          </p:grpSpPr>
          <p:cxnSp>
            <p:nvCxnSpPr>
              <p:cNvPr id="52" name="直接连接符 10"/>
              <p:cNvCxnSpPr>
                <a:cxnSpLocks noChangeShapeType="1"/>
              </p:cNvCxnSpPr>
              <p:nvPr/>
            </p:nvCxnSpPr>
            <p:spPr bwMode="auto">
              <a:xfrm>
                <a:off x="685800" y="2133600"/>
                <a:ext cx="209550" cy="190500"/>
              </a:xfrm>
              <a:prstGeom prst="line">
                <a:avLst/>
              </a:prstGeom>
              <a:grpFill/>
              <a:ln w="57150" algn="ctr">
                <a:solidFill>
                  <a:srgbClr val="FFC000"/>
                </a:solidFill>
                <a:round/>
                <a:headEnd/>
                <a:tailEnd/>
              </a:ln>
            </p:spPr>
          </p:cxnSp>
          <p:cxnSp>
            <p:nvCxnSpPr>
              <p:cNvPr id="53" name="直接连接符 12"/>
              <p:cNvCxnSpPr>
                <a:cxnSpLocks noChangeShapeType="1"/>
              </p:cNvCxnSpPr>
              <p:nvPr/>
            </p:nvCxnSpPr>
            <p:spPr bwMode="auto">
              <a:xfrm flipH="1">
                <a:off x="685800" y="2114550"/>
                <a:ext cx="171450" cy="247650"/>
              </a:xfrm>
              <a:prstGeom prst="line">
                <a:avLst/>
              </a:prstGeom>
              <a:grpFill/>
              <a:ln w="57150" algn="ctr">
                <a:solidFill>
                  <a:srgbClr val="FFC000"/>
                </a:solidFill>
                <a:round/>
                <a:headEnd/>
                <a:tailEnd/>
              </a:ln>
            </p:spPr>
          </p:cxnSp>
        </p:grpSp>
        <p:grpSp>
          <p:nvGrpSpPr>
            <p:cNvPr id="48" name="组合 22"/>
            <p:cNvGrpSpPr>
              <a:grpSpLocks/>
            </p:cNvGrpSpPr>
            <p:nvPr/>
          </p:nvGrpSpPr>
          <p:grpSpPr bwMode="auto">
            <a:xfrm>
              <a:off x="4343400" y="933450"/>
              <a:ext cx="209550" cy="247650"/>
              <a:chOff x="685800" y="2114550"/>
              <a:chExt cx="209550" cy="247650"/>
            </a:xfrm>
            <a:solidFill>
              <a:srgbClr val="0070C0"/>
            </a:solidFill>
          </p:grpSpPr>
          <p:cxnSp>
            <p:nvCxnSpPr>
              <p:cNvPr id="50" name="直接连接符 23"/>
              <p:cNvCxnSpPr>
                <a:cxnSpLocks noChangeShapeType="1"/>
              </p:cNvCxnSpPr>
              <p:nvPr/>
            </p:nvCxnSpPr>
            <p:spPr bwMode="auto">
              <a:xfrm>
                <a:off x="685800" y="2133600"/>
                <a:ext cx="209550" cy="190500"/>
              </a:xfrm>
              <a:prstGeom prst="line">
                <a:avLst/>
              </a:prstGeom>
              <a:grpFill/>
              <a:ln w="57150" algn="ctr">
                <a:solidFill>
                  <a:srgbClr val="0070C0"/>
                </a:solidFill>
                <a:round/>
                <a:headEnd/>
                <a:tailEnd/>
              </a:ln>
            </p:spPr>
          </p:cxnSp>
          <p:cxnSp>
            <p:nvCxnSpPr>
              <p:cNvPr id="51" name="直接连接符 24"/>
              <p:cNvCxnSpPr>
                <a:cxnSpLocks noChangeShapeType="1"/>
              </p:cNvCxnSpPr>
              <p:nvPr/>
            </p:nvCxnSpPr>
            <p:spPr bwMode="auto">
              <a:xfrm flipH="1">
                <a:off x="685800" y="2114550"/>
                <a:ext cx="171450" cy="247650"/>
              </a:xfrm>
              <a:prstGeom prst="line">
                <a:avLst/>
              </a:prstGeom>
              <a:grpFill/>
              <a:ln w="57150" algn="ctr">
                <a:solidFill>
                  <a:srgbClr val="0070C0"/>
                </a:solidFill>
                <a:round/>
                <a:headEnd/>
                <a:tailEnd/>
              </a:ln>
            </p:spPr>
          </p:cxnSp>
        </p:grpSp>
        <p:sp>
          <p:nvSpPr>
            <p:cNvPr id="49" name="椭圆 27"/>
            <p:cNvSpPr>
              <a:spLocks noChangeArrowheads="1"/>
            </p:cNvSpPr>
            <p:nvPr/>
          </p:nvSpPr>
          <p:spPr bwMode="auto">
            <a:xfrm>
              <a:off x="1955079" y="3744913"/>
              <a:ext cx="209550" cy="190500"/>
            </a:xfrm>
            <a:prstGeom prst="ellipse">
              <a:avLst/>
            </a:prstGeom>
            <a:solidFill>
              <a:srgbClr val="0070C0"/>
            </a:solidFill>
            <a:ln w="9525" algn="ctr">
              <a:solidFill>
                <a:srgbClr val="0070C0"/>
              </a:solidFill>
              <a:round/>
              <a:headEnd/>
              <a:tailEnd type="triangle" w="med" len="med"/>
            </a:ln>
          </p:spPr>
          <p:txBody>
            <a:bodyPr wrap="none"/>
            <a:lstStyle/>
            <a:p>
              <a:endParaRPr lang="zh-CN" altLang="en-US"/>
            </a:p>
          </p:txBody>
        </p:sp>
      </p:grpSp>
      <p:grpSp>
        <p:nvGrpSpPr>
          <p:cNvPr id="19" name="组合 18"/>
          <p:cNvGrpSpPr/>
          <p:nvPr>
            <p:custDataLst>
              <p:tags r:id="rId12"/>
            </p:custDataLst>
          </p:nvPr>
        </p:nvGrpSpPr>
        <p:grpSpPr>
          <a:xfrm>
            <a:off x="0" y="0"/>
            <a:ext cx="9144000" cy="635000"/>
            <a:chOff x="0" y="0"/>
            <a:chExt cx="9144000" cy="635000"/>
          </a:xfrm>
        </p:grpSpPr>
        <p:sp>
          <p:nvSpPr>
            <p:cNvPr id="15" name="TitleBackground"/>
            <p:cNvSpPr/>
            <p:nvPr>
              <p:custDataLst>
                <p:tags r:id="rId14"/>
              </p:custDataLst>
            </p:nvPr>
          </p:nvSpPr>
          <p:spPr>
            <a:xfrm>
              <a:off x="0" y="0"/>
              <a:ext cx="9144000" cy="635000"/>
            </a:xfrm>
            <a:prstGeom prst="rect">
              <a:avLst/>
            </a:prstGeom>
            <a:solidFill>
              <a:srgbClr val="F6F7F8"/>
            </a:solidFill>
            <a:ln w="12700" cap="flat" cmpd="sng" algn="ctr">
              <a:noFill/>
              <a:prstDash val="solid"/>
            </a:ln>
            <a:effectLst/>
            <a:extLst>
              <a:ext uri="{91240B29-F687-4F45-9708-019B960494DF}">
                <a14:hiddenLine xmlns:a14="http://schemas.microsoft.com/office/drawing/2010/main" w="127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ColorBlock"/>
            <p:cNvSpPr/>
            <p:nvPr>
              <p:custDataLst>
                <p:tags r:id="rId15"/>
              </p:custDataLst>
            </p:nvPr>
          </p:nvSpPr>
          <p:spPr>
            <a:xfrm>
              <a:off x="0" y="0"/>
              <a:ext cx="190500" cy="635000"/>
            </a:xfrm>
            <a:prstGeom prst="rect">
              <a:avLst/>
            </a:prstGeom>
            <a:solidFill>
              <a:srgbClr val="639EF4"/>
            </a:solidFill>
            <a:ln w="12700" cap="flat" cmpd="sng" algn="ctr">
              <a:noFill/>
              <a:prstDash val="solid"/>
            </a:ln>
            <a:effectLst/>
            <a:extLst>
              <a:ext uri="{91240B29-F687-4F45-9708-019B960494DF}">
                <a14:hiddenLine xmlns:a14="http://schemas.microsoft.com/office/drawing/2010/main" w="127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8"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4" name="图片 3"/>
          <p:cNvPicPr>
            <a:picLocks/>
          </p:cNvPicPr>
          <p:nvPr>
            <p:custDataLst>
              <p:tags r:id="rId13"/>
            </p:custDataLst>
          </p:nvPr>
        </p:nvPicPr>
        <p:blipFill>
          <a:blip r:embed="rId20">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123539260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请选择以下正确的答案。</a:t>
            </a:r>
          </a:p>
        </p:txBody>
      </p:sp>
      <p:sp>
        <p:nvSpPr>
          <p:cNvPr id="4" name="文本框 3"/>
          <p:cNvSpPr txBox="1"/>
          <p:nvPr>
            <p:custDataLst>
              <p:tags r:id="rId3"/>
            </p:custDataLst>
          </p:nvPr>
        </p:nvSpPr>
        <p:spPr>
          <a:xfrm>
            <a:off x="1828800" y="2786063"/>
            <a:ext cx="6400800" cy="642938"/>
          </a:xfrm>
          <a:prstGeom prst="rect">
            <a:avLst/>
          </a:prstGeom>
          <a:noFill/>
        </p:spPr>
        <p:txBody>
          <a:bodyPr vert="horz" rtlCol="0" anchor="ctr" anchorCtr="0">
            <a:noAutofit/>
          </a:bodyPr>
          <a:lstStyle/>
          <a:p>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文本框 4"/>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zh-CN" altLang="en-US" sz="2800" dirty="0">
                <a:solidFill>
                  <a:srgbClr val="000000"/>
                </a:solidFill>
                <a:latin typeface="+mn-ea"/>
                <a:sym typeface="Microsoft Yahei" panose="020B0503020204020204" pitchFamily="34" charset="-122"/>
              </a:rPr>
              <a:t>所以   分类正确</a:t>
            </a:r>
          </a:p>
        </p:txBody>
      </p:sp>
      <p:sp>
        <p:nvSpPr>
          <p:cNvPr id="6" name="文本框 5"/>
          <p:cNvSpPr txBox="1"/>
          <p:nvPr>
            <p:custDataLst>
              <p:tags r:id="rId5"/>
            </p:custDataLst>
          </p:nvPr>
        </p:nvSpPr>
        <p:spPr>
          <a:xfrm>
            <a:off x="1828800" y="4500563"/>
            <a:ext cx="6400800" cy="642938"/>
          </a:xfrm>
          <a:prstGeom prst="rect">
            <a:avLst/>
          </a:prstGeom>
          <a:noFill/>
        </p:spPr>
        <p:txBody>
          <a:bodyPr vert="horz" rtlCol="0" anchor="ctr" anchorCtr="0">
            <a:noAutofit/>
          </a:bodyPr>
          <a:lstStyle/>
          <a:p>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文本框 6"/>
          <p:cNvSpPr txBox="1"/>
          <p:nvPr>
            <p:custDataLst>
              <p:tags r:id="rId6"/>
            </p:custDataLst>
          </p:nvPr>
        </p:nvSpPr>
        <p:spPr>
          <a:xfrm>
            <a:off x="1828800" y="5357813"/>
            <a:ext cx="6400800" cy="642938"/>
          </a:xfrm>
          <a:prstGeom prst="rect">
            <a:avLst/>
          </a:prstGeom>
          <a:noFill/>
        </p:spPr>
        <p:txBody>
          <a:bodyPr vert="horz" rtlCol="0" anchor="ctr" anchorCtr="0">
            <a:noAutofit/>
          </a:bodyPr>
          <a:lstStyle/>
          <a:p>
            <a:r>
              <a:rPr lang="zh-CN" altLang="en-US" sz="2800" dirty="0">
                <a:solidFill>
                  <a:srgbClr val="000000"/>
                </a:solidFill>
                <a:latin typeface="+mn-ea"/>
                <a:sym typeface="Microsoft Yahei" panose="020B0503020204020204" pitchFamily="34" charset="-122"/>
              </a:rPr>
              <a:t>即便是线性可分的问题，如果</a:t>
            </a:r>
            <a:r>
              <a:rPr lang="en-US" altLang="zh-CN" sz="2800" dirty="0">
                <a:solidFill>
                  <a:srgbClr val="000000"/>
                </a:solidFill>
                <a:latin typeface="+mn-ea"/>
                <a:sym typeface="Microsoft Yahei" panose="020B0503020204020204" pitchFamily="34" charset="-122"/>
              </a:rPr>
              <a:t>C</a:t>
            </a:r>
            <a:r>
              <a:rPr lang="zh-CN" altLang="en-US" sz="2800" dirty="0">
                <a:solidFill>
                  <a:srgbClr val="000000"/>
                </a:solidFill>
                <a:latin typeface="+mn-ea"/>
                <a:sym typeface="Microsoft Yahei" panose="020B0503020204020204" pitchFamily="34" charset="-122"/>
              </a:rPr>
              <a:t>选取不合适，也有可能存在软支持向量。</a:t>
            </a:r>
          </a:p>
        </p:txBody>
      </p:sp>
      <p:sp>
        <p:nvSpPr>
          <p:cNvPr id="8" name="矩形 7"/>
          <p:cNvSpPr>
            <a:spLocks noChangeAspect="1"/>
          </p:cNvSpPr>
          <p:nvPr>
            <p:custDataLst>
              <p:tags r:id="rId7"/>
            </p:custDataLst>
          </p:nvPr>
        </p:nvSpPr>
        <p:spPr>
          <a:xfrm>
            <a:off x="1114425" y="2850356"/>
            <a:ext cx="514350" cy="514350"/>
          </a:xfrm>
          <a:prstGeom prst="rect">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1114425" y="3707606"/>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1114425" y="4564856"/>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1114425" y="5422106"/>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dirty="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aphicFrame>
        <p:nvGraphicFramePr>
          <p:cNvPr id="19" name="Object 2" descr="羊皮纸"/>
          <p:cNvGraphicFramePr>
            <a:graphicFrameLocks noChangeAspect="1"/>
          </p:cNvGraphicFramePr>
          <p:nvPr>
            <p:extLst>
              <p:ext uri="{D42A27DB-BD31-4B8C-83A1-F6EECF244321}">
                <p14:modId xmlns:p14="http://schemas.microsoft.com/office/powerpoint/2010/main" val="553893551"/>
              </p:ext>
            </p:extLst>
          </p:nvPr>
        </p:nvGraphicFramePr>
        <p:xfrm>
          <a:off x="1880292" y="2763838"/>
          <a:ext cx="4054475" cy="584200"/>
        </p:xfrm>
        <a:graphic>
          <a:graphicData uri="http://schemas.openxmlformats.org/presentationml/2006/ole">
            <mc:AlternateContent xmlns:mc="http://schemas.openxmlformats.org/markup-compatibility/2006">
              <mc:Choice xmlns:v="urn:schemas-microsoft-com:vml" Requires="v">
                <p:oleObj name="公式" r:id="rId19" imgW="1587240" imgH="228600" progId="Equation.3">
                  <p:embed/>
                </p:oleObj>
              </mc:Choice>
              <mc:Fallback>
                <p:oleObj name="公式" r:id="rId19" imgW="1587240" imgH="228600" progId="Equation.3">
                  <p:embed/>
                  <p:pic>
                    <p:nvPicPr>
                      <p:cNvPr id="30724" name="Object 2" descr="羊皮纸"/>
                      <p:cNvPicPr>
                        <a:picLocks noChangeAspect="1" noChangeArrowheads="1"/>
                      </p:cNvPicPr>
                      <p:nvPr/>
                    </p:nvPicPr>
                    <p:blipFill>
                      <a:blip r:embed="rId20"/>
                      <a:srcRect/>
                      <a:stretch>
                        <a:fillRect/>
                      </a:stretch>
                    </p:blipFill>
                    <p:spPr bwMode="auto">
                      <a:xfrm>
                        <a:off x="1880292" y="2763838"/>
                        <a:ext cx="4054475" cy="584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 name="Object 2" descr="羊皮纸"/>
          <p:cNvGraphicFramePr>
            <a:graphicFrameLocks noChangeAspect="1"/>
          </p:cNvGraphicFramePr>
          <p:nvPr>
            <p:extLst>
              <p:ext uri="{D42A27DB-BD31-4B8C-83A1-F6EECF244321}">
                <p14:modId xmlns:p14="http://schemas.microsoft.com/office/powerpoint/2010/main" val="2925001503"/>
              </p:ext>
            </p:extLst>
          </p:nvPr>
        </p:nvGraphicFramePr>
        <p:xfrm>
          <a:off x="1996844" y="3638550"/>
          <a:ext cx="1200150" cy="584200"/>
        </p:xfrm>
        <a:graphic>
          <a:graphicData uri="http://schemas.openxmlformats.org/presentationml/2006/ole">
            <mc:AlternateContent xmlns:mc="http://schemas.openxmlformats.org/markup-compatibility/2006">
              <mc:Choice xmlns:v="urn:schemas-microsoft-com:vml" Requires="v">
                <p:oleObj name="公式" r:id="rId21" imgW="469800" imgH="228600" progId="Equation.3">
                  <p:embed/>
                </p:oleObj>
              </mc:Choice>
              <mc:Fallback>
                <p:oleObj name="公式" r:id="rId21" imgW="469800" imgH="228600" progId="Equation.3">
                  <p:embed/>
                  <p:pic>
                    <p:nvPicPr>
                      <p:cNvPr id="19" name="Object 2" descr="羊皮纸"/>
                      <p:cNvPicPr>
                        <a:picLocks noChangeAspect="1" noChangeArrowheads="1"/>
                      </p:cNvPicPr>
                      <p:nvPr/>
                    </p:nvPicPr>
                    <p:blipFill>
                      <a:blip r:embed="rId22"/>
                      <a:srcRect/>
                      <a:stretch>
                        <a:fillRect/>
                      </a:stretch>
                    </p:blipFill>
                    <p:spPr bwMode="auto">
                      <a:xfrm>
                        <a:off x="1996844" y="3638550"/>
                        <a:ext cx="1200150" cy="584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 name="Object 2" descr="羊皮纸"/>
          <p:cNvGraphicFramePr>
            <a:graphicFrameLocks noChangeAspect="1"/>
          </p:cNvGraphicFramePr>
          <p:nvPr>
            <p:extLst>
              <p:ext uri="{D42A27DB-BD31-4B8C-83A1-F6EECF244321}">
                <p14:modId xmlns:p14="http://schemas.microsoft.com/office/powerpoint/2010/main" val="661753668"/>
              </p:ext>
            </p:extLst>
          </p:nvPr>
        </p:nvGraphicFramePr>
        <p:xfrm>
          <a:off x="4286474" y="3611785"/>
          <a:ext cx="454025" cy="584200"/>
        </p:xfrm>
        <a:graphic>
          <a:graphicData uri="http://schemas.openxmlformats.org/presentationml/2006/ole">
            <mc:AlternateContent xmlns:mc="http://schemas.openxmlformats.org/markup-compatibility/2006">
              <mc:Choice xmlns:v="urn:schemas-microsoft-com:vml" Requires="v">
                <p:oleObj name="公式" r:id="rId23" imgW="177480" imgH="228600" progId="Equation.3">
                  <p:embed/>
                </p:oleObj>
              </mc:Choice>
              <mc:Fallback>
                <p:oleObj name="公式" r:id="rId23" imgW="177480" imgH="228600" progId="Equation.3">
                  <p:embed/>
                  <p:pic>
                    <p:nvPicPr>
                      <p:cNvPr id="20" name="Object 2" descr="羊皮纸"/>
                      <p:cNvPicPr>
                        <a:picLocks noChangeAspect="1" noChangeArrowheads="1"/>
                      </p:cNvPicPr>
                      <p:nvPr/>
                    </p:nvPicPr>
                    <p:blipFill>
                      <a:blip r:embed="rId24"/>
                      <a:srcRect/>
                      <a:stretch>
                        <a:fillRect/>
                      </a:stretch>
                    </p:blipFill>
                    <p:spPr bwMode="auto">
                      <a:xfrm>
                        <a:off x="4286474" y="3611785"/>
                        <a:ext cx="454025" cy="584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 name="Object 2" descr="羊皮纸"/>
          <p:cNvGraphicFramePr>
            <a:graphicFrameLocks noChangeAspect="1"/>
          </p:cNvGraphicFramePr>
          <p:nvPr>
            <p:extLst>
              <p:ext uri="{D42A27DB-BD31-4B8C-83A1-F6EECF244321}">
                <p14:modId xmlns:p14="http://schemas.microsoft.com/office/powerpoint/2010/main" val="1726037448"/>
              </p:ext>
            </p:extLst>
          </p:nvPr>
        </p:nvGraphicFramePr>
        <p:xfrm>
          <a:off x="1909994" y="4545013"/>
          <a:ext cx="4735513" cy="584200"/>
        </p:xfrm>
        <a:graphic>
          <a:graphicData uri="http://schemas.openxmlformats.org/presentationml/2006/ole">
            <mc:AlternateContent xmlns:mc="http://schemas.openxmlformats.org/markup-compatibility/2006">
              <mc:Choice xmlns:v="urn:schemas-microsoft-com:vml" Requires="v">
                <p:oleObj name="公式" r:id="rId25" imgW="1854000" imgH="228600" progId="Equation.3">
                  <p:embed/>
                </p:oleObj>
              </mc:Choice>
              <mc:Fallback>
                <p:oleObj name="公式" r:id="rId25" imgW="1854000" imgH="228600" progId="Equation.3">
                  <p:embed/>
                  <p:pic>
                    <p:nvPicPr>
                      <p:cNvPr id="19" name="Object 2" descr="羊皮纸"/>
                      <p:cNvPicPr>
                        <a:picLocks noChangeAspect="1" noChangeArrowheads="1"/>
                      </p:cNvPicPr>
                      <p:nvPr/>
                    </p:nvPicPr>
                    <p:blipFill>
                      <a:blip r:embed="rId26"/>
                      <a:srcRect/>
                      <a:stretch>
                        <a:fillRect/>
                      </a:stretch>
                    </p:blipFill>
                    <p:spPr bwMode="auto">
                      <a:xfrm>
                        <a:off x="1909994" y="4545013"/>
                        <a:ext cx="4735513" cy="584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7" name="组合 16"/>
          <p:cNvGrpSpPr/>
          <p:nvPr>
            <p:custDataLst>
              <p:tags r:id="rId12"/>
            </p:custDataLst>
          </p:nvPr>
        </p:nvGrpSpPr>
        <p:grpSpPr>
          <a:xfrm>
            <a:off x="0" y="0"/>
            <a:ext cx="9144000" cy="635000"/>
            <a:chOff x="0" y="0"/>
            <a:chExt cx="9144000" cy="635000"/>
          </a:xfrm>
        </p:grpSpPr>
        <p:sp>
          <p:nvSpPr>
            <p:cNvPr id="13" name="TitleBackground"/>
            <p:cNvSpPr/>
            <p:nvPr>
              <p:custDataLst>
                <p:tags r:id="rId14"/>
              </p:custDataLst>
            </p:nvPr>
          </p:nvSpPr>
          <p:spPr>
            <a:xfrm>
              <a:off x="0" y="0"/>
              <a:ext cx="9144000" cy="635000"/>
            </a:xfrm>
            <a:prstGeom prst="rect">
              <a:avLst/>
            </a:prstGeom>
            <a:solidFill>
              <a:srgbClr val="F6F7F8"/>
            </a:solidFill>
            <a:ln w="12700" cap="flat" cmpd="sng" algn="ctr">
              <a:noFill/>
              <a:prstDash val="solid"/>
            </a:ln>
            <a:effectLst/>
            <a:extLst>
              <a:ext uri="{91240B29-F687-4F45-9708-019B960494DF}">
                <a14:hiddenLine xmlns:a14="http://schemas.microsoft.com/office/drawing/2010/main" w="127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ln>
            <a:effectLst/>
            <a:extLst>
              <a:ext uri="{91240B29-F687-4F45-9708-019B960494DF}">
                <a14:hiddenLine xmlns:a14="http://schemas.microsoft.com/office/drawing/2010/main" w="127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27">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245688095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dirty="0"/>
              <a:t>非线性支持向量机</a:t>
            </a:r>
          </a:p>
        </p:txBody>
      </p:sp>
      <p:sp>
        <p:nvSpPr>
          <p:cNvPr id="90115" name="灯片编号占位符 3"/>
          <p:cNvSpPr>
            <a:spLocks noGrp="1"/>
          </p:cNvSpPr>
          <p:nvPr>
            <p:ph type="sldNum" sz="quarter" idx="12"/>
          </p:nvPr>
        </p:nvSpPr>
        <p:spPr>
          <a:noFill/>
        </p:spPr>
        <p:txBody>
          <a:bodyPr/>
          <a:lstStyle/>
          <a:p>
            <a:fld id="{60457028-EEC9-40A8-AF20-A3B9A658A0B8}" type="slidenum">
              <a:rPr lang="en-US" altLang="zh-CN" smtClean="0">
                <a:ea typeface="黑体" pitchFamily="49" charset="-122"/>
              </a:rPr>
              <a:pPr/>
              <a:t>50</a:t>
            </a:fld>
            <a:endParaRPr lang="en-US" altLang="zh-CN">
              <a:ea typeface="黑体" pitchFamily="49" charset="-122"/>
            </a:endParaRPr>
          </a:p>
        </p:txBody>
      </p:sp>
      <p:cxnSp>
        <p:nvCxnSpPr>
          <p:cNvPr id="90116" name="直接箭头连接符 5"/>
          <p:cNvCxnSpPr>
            <a:cxnSpLocks noChangeShapeType="1"/>
          </p:cNvCxnSpPr>
          <p:nvPr/>
        </p:nvCxnSpPr>
        <p:spPr bwMode="auto">
          <a:xfrm>
            <a:off x="1333500" y="3962400"/>
            <a:ext cx="6667500" cy="0"/>
          </a:xfrm>
          <a:prstGeom prst="straightConnector1">
            <a:avLst/>
          </a:prstGeom>
          <a:noFill/>
          <a:ln w="57150" algn="ctr">
            <a:solidFill>
              <a:schemeClr val="tx1"/>
            </a:solidFill>
            <a:round/>
            <a:headEnd/>
            <a:tailEnd type="arrow" w="med" len="med"/>
          </a:ln>
        </p:spPr>
      </p:cxnSp>
      <p:cxnSp>
        <p:nvCxnSpPr>
          <p:cNvPr id="90117" name="直接箭头连接符 7"/>
          <p:cNvCxnSpPr>
            <a:cxnSpLocks noChangeShapeType="1"/>
          </p:cNvCxnSpPr>
          <p:nvPr/>
        </p:nvCxnSpPr>
        <p:spPr bwMode="auto">
          <a:xfrm flipV="1">
            <a:off x="4591050" y="1924050"/>
            <a:ext cx="19050" cy="3695700"/>
          </a:xfrm>
          <a:prstGeom prst="straightConnector1">
            <a:avLst/>
          </a:prstGeom>
          <a:noFill/>
          <a:ln w="57150" algn="ctr">
            <a:solidFill>
              <a:schemeClr val="tx1"/>
            </a:solidFill>
            <a:round/>
            <a:headEnd/>
            <a:tailEnd type="arrow" w="med" len="med"/>
          </a:ln>
        </p:spPr>
      </p:cxnSp>
      <p:sp>
        <p:nvSpPr>
          <p:cNvPr id="90118" name="椭圆 8"/>
          <p:cNvSpPr>
            <a:spLocks noChangeArrowheads="1"/>
          </p:cNvSpPr>
          <p:nvPr/>
        </p:nvSpPr>
        <p:spPr bwMode="auto">
          <a:xfrm>
            <a:off x="2438400" y="2800350"/>
            <a:ext cx="4343400" cy="2305050"/>
          </a:xfrm>
          <a:prstGeom prst="ellipse">
            <a:avLst/>
          </a:prstGeom>
          <a:noFill/>
          <a:ln w="28575" algn="ctr">
            <a:solidFill>
              <a:srgbClr val="C00000"/>
            </a:solidFill>
            <a:round/>
            <a:headEnd/>
            <a:tailEnd type="triangle" w="med" len="med"/>
          </a:ln>
        </p:spPr>
        <p:txBody>
          <a:bodyPr wrap="none"/>
          <a:lstStyle/>
          <a:p>
            <a:endParaRPr lang="zh-CN" altLang="en-US"/>
          </a:p>
        </p:txBody>
      </p:sp>
      <p:grpSp>
        <p:nvGrpSpPr>
          <p:cNvPr id="3" name="组合 9"/>
          <p:cNvGrpSpPr>
            <a:grpSpLocks/>
          </p:cNvGrpSpPr>
          <p:nvPr/>
        </p:nvGrpSpPr>
        <p:grpSpPr bwMode="auto">
          <a:xfrm>
            <a:off x="3352800" y="4343400"/>
            <a:ext cx="209550" cy="247650"/>
            <a:chOff x="685800" y="2114550"/>
            <a:chExt cx="209550" cy="247650"/>
          </a:xfrm>
        </p:grpSpPr>
        <p:cxnSp>
          <p:nvCxnSpPr>
            <p:cNvPr id="90154" name="直接连接符 10"/>
            <p:cNvCxnSpPr>
              <a:cxnSpLocks noChangeShapeType="1"/>
            </p:cNvCxnSpPr>
            <p:nvPr/>
          </p:nvCxnSpPr>
          <p:spPr bwMode="auto">
            <a:xfrm>
              <a:off x="685800" y="2133600"/>
              <a:ext cx="209550" cy="190500"/>
            </a:xfrm>
            <a:prstGeom prst="line">
              <a:avLst/>
            </a:prstGeom>
            <a:noFill/>
            <a:ln w="57150" algn="ctr">
              <a:solidFill>
                <a:srgbClr val="C00000"/>
              </a:solidFill>
              <a:round/>
              <a:headEnd/>
              <a:tailEnd/>
            </a:ln>
          </p:spPr>
        </p:cxnSp>
        <p:cxnSp>
          <p:nvCxnSpPr>
            <p:cNvPr id="90155" name="直接连接符 11"/>
            <p:cNvCxnSpPr>
              <a:cxnSpLocks noChangeShapeType="1"/>
            </p:cNvCxnSpPr>
            <p:nvPr/>
          </p:nvCxnSpPr>
          <p:spPr bwMode="auto">
            <a:xfrm flipH="1">
              <a:off x="685800" y="2114550"/>
              <a:ext cx="171450" cy="247650"/>
            </a:xfrm>
            <a:prstGeom prst="line">
              <a:avLst/>
            </a:prstGeom>
            <a:noFill/>
            <a:ln w="57150" algn="ctr">
              <a:solidFill>
                <a:srgbClr val="C00000"/>
              </a:solidFill>
              <a:round/>
              <a:headEnd/>
              <a:tailEnd/>
            </a:ln>
          </p:spPr>
        </p:cxnSp>
      </p:grpSp>
      <p:grpSp>
        <p:nvGrpSpPr>
          <p:cNvPr id="4" name="组合 12"/>
          <p:cNvGrpSpPr>
            <a:grpSpLocks/>
          </p:cNvGrpSpPr>
          <p:nvPr/>
        </p:nvGrpSpPr>
        <p:grpSpPr bwMode="auto">
          <a:xfrm>
            <a:off x="3219450" y="3505200"/>
            <a:ext cx="209550" cy="247650"/>
            <a:chOff x="685800" y="2114550"/>
            <a:chExt cx="209550" cy="247650"/>
          </a:xfrm>
        </p:grpSpPr>
        <p:cxnSp>
          <p:nvCxnSpPr>
            <p:cNvPr id="90152" name="直接连接符 13"/>
            <p:cNvCxnSpPr>
              <a:cxnSpLocks noChangeShapeType="1"/>
            </p:cNvCxnSpPr>
            <p:nvPr/>
          </p:nvCxnSpPr>
          <p:spPr bwMode="auto">
            <a:xfrm>
              <a:off x="685800" y="2133600"/>
              <a:ext cx="209550" cy="190500"/>
            </a:xfrm>
            <a:prstGeom prst="line">
              <a:avLst/>
            </a:prstGeom>
            <a:noFill/>
            <a:ln w="57150" algn="ctr">
              <a:solidFill>
                <a:srgbClr val="C00000"/>
              </a:solidFill>
              <a:round/>
              <a:headEnd/>
              <a:tailEnd/>
            </a:ln>
          </p:spPr>
        </p:cxnSp>
        <p:cxnSp>
          <p:nvCxnSpPr>
            <p:cNvPr id="90153" name="直接连接符 14"/>
            <p:cNvCxnSpPr>
              <a:cxnSpLocks noChangeShapeType="1"/>
            </p:cNvCxnSpPr>
            <p:nvPr/>
          </p:nvCxnSpPr>
          <p:spPr bwMode="auto">
            <a:xfrm flipH="1">
              <a:off x="685800" y="2114550"/>
              <a:ext cx="171450" cy="247650"/>
            </a:xfrm>
            <a:prstGeom prst="line">
              <a:avLst/>
            </a:prstGeom>
            <a:noFill/>
            <a:ln w="57150" algn="ctr">
              <a:solidFill>
                <a:srgbClr val="C00000"/>
              </a:solidFill>
              <a:round/>
              <a:headEnd/>
              <a:tailEnd/>
            </a:ln>
          </p:spPr>
        </p:cxnSp>
      </p:grpSp>
      <p:grpSp>
        <p:nvGrpSpPr>
          <p:cNvPr id="5" name="组合 15"/>
          <p:cNvGrpSpPr>
            <a:grpSpLocks/>
          </p:cNvGrpSpPr>
          <p:nvPr/>
        </p:nvGrpSpPr>
        <p:grpSpPr bwMode="auto">
          <a:xfrm>
            <a:off x="3962400" y="3124200"/>
            <a:ext cx="209550" cy="247650"/>
            <a:chOff x="685800" y="2114550"/>
            <a:chExt cx="209550" cy="247650"/>
          </a:xfrm>
        </p:grpSpPr>
        <p:cxnSp>
          <p:nvCxnSpPr>
            <p:cNvPr id="90150" name="直接连接符 16"/>
            <p:cNvCxnSpPr>
              <a:cxnSpLocks noChangeShapeType="1"/>
            </p:cNvCxnSpPr>
            <p:nvPr/>
          </p:nvCxnSpPr>
          <p:spPr bwMode="auto">
            <a:xfrm>
              <a:off x="685800" y="2133600"/>
              <a:ext cx="209550" cy="190500"/>
            </a:xfrm>
            <a:prstGeom prst="line">
              <a:avLst/>
            </a:prstGeom>
            <a:noFill/>
            <a:ln w="57150" algn="ctr">
              <a:solidFill>
                <a:srgbClr val="C00000"/>
              </a:solidFill>
              <a:round/>
              <a:headEnd/>
              <a:tailEnd/>
            </a:ln>
          </p:spPr>
        </p:cxnSp>
        <p:cxnSp>
          <p:nvCxnSpPr>
            <p:cNvPr id="90151" name="直接连接符 17"/>
            <p:cNvCxnSpPr>
              <a:cxnSpLocks noChangeShapeType="1"/>
            </p:cNvCxnSpPr>
            <p:nvPr/>
          </p:nvCxnSpPr>
          <p:spPr bwMode="auto">
            <a:xfrm flipH="1">
              <a:off x="685800" y="2114550"/>
              <a:ext cx="171450" cy="247650"/>
            </a:xfrm>
            <a:prstGeom prst="line">
              <a:avLst/>
            </a:prstGeom>
            <a:noFill/>
            <a:ln w="57150" algn="ctr">
              <a:solidFill>
                <a:srgbClr val="C00000"/>
              </a:solidFill>
              <a:round/>
              <a:headEnd/>
              <a:tailEnd/>
            </a:ln>
          </p:spPr>
        </p:cxnSp>
      </p:grpSp>
      <p:grpSp>
        <p:nvGrpSpPr>
          <p:cNvPr id="6" name="组合 18"/>
          <p:cNvGrpSpPr>
            <a:grpSpLocks/>
          </p:cNvGrpSpPr>
          <p:nvPr/>
        </p:nvGrpSpPr>
        <p:grpSpPr bwMode="auto">
          <a:xfrm>
            <a:off x="3924300" y="4324350"/>
            <a:ext cx="209550" cy="247650"/>
            <a:chOff x="685800" y="2114550"/>
            <a:chExt cx="209550" cy="247650"/>
          </a:xfrm>
        </p:grpSpPr>
        <p:cxnSp>
          <p:nvCxnSpPr>
            <p:cNvPr id="90148" name="直接连接符 19"/>
            <p:cNvCxnSpPr>
              <a:cxnSpLocks noChangeShapeType="1"/>
            </p:cNvCxnSpPr>
            <p:nvPr/>
          </p:nvCxnSpPr>
          <p:spPr bwMode="auto">
            <a:xfrm>
              <a:off x="685800" y="2133600"/>
              <a:ext cx="209550" cy="190500"/>
            </a:xfrm>
            <a:prstGeom prst="line">
              <a:avLst/>
            </a:prstGeom>
            <a:noFill/>
            <a:ln w="57150" algn="ctr">
              <a:solidFill>
                <a:srgbClr val="C00000"/>
              </a:solidFill>
              <a:round/>
              <a:headEnd/>
              <a:tailEnd/>
            </a:ln>
          </p:spPr>
        </p:cxnSp>
        <p:cxnSp>
          <p:nvCxnSpPr>
            <p:cNvPr id="90149" name="直接连接符 20"/>
            <p:cNvCxnSpPr>
              <a:cxnSpLocks noChangeShapeType="1"/>
            </p:cNvCxnSpPr>
            <p:nvPr/>
          </p:nvCxnSpPr>
          <p:spPr bwMode="auto">
            <a:xfrm flipH="1">
              <a:off x="685800" y="2114550"/>
              <a:ext cx="171450" cy="247650"/>
            </a:xfrm>
            <a:prstGeom prst="line">
              <a:avLst/>
            </a:prstGeom>
            <a:noFill/>
            <a:ln w="57150" algn="ctr">
              <a:solidFill>
                <a:srgbClr val="C00000"/>
              </a:solidFill>
              <a:round/>
              <a:headEnd/>
              <a:tailEnd/>
            </a:ln>
          </p:spPr>
        </p:cxnSp>
      </p:grpSp>
      <p:grpSp>
        <p:nvGrpSpPr>
          <p:cNvPr id="7" name="组合 21"/>
          <p:cNvGrpSpPr>
            <a:grpSpLocks/>
          </p:cNvGrpSpPr>
          <p:nvPr/>
        </p:nvGrpSpPr>
        <p:grpSpPr bwMode="auto">
          <a:xfrm>
            <a:off x="4953000" y="4514850"/>
            <a:ext cx="209550" cy="247650"/>
            <a:chOff x="685800" y="2114550"/>
            <a:chExt cx="209550" cy="247650"/>
          </a:xfrm>
        </p:grpSpPr>
        <p:cxnSp>
          <p:nvCxnSpPr>
            <p:cNvPr id="90146" name="直接连接符 22"/>
            <p:cNvCxnSpPr>
              <a:cxnSpLocks noChangeShapeType="1"/>
            </p:cNvCxnSpPr>
            <p:nvPr/>
          </p:nvCxnSpPr>
          <p:spPr bwMode="auto">
            <a:xfrm>
              <a:off x="685800" y="2133600"/>
              <a:ext cx="209550" cy="190500"/>
            </a:xfrm>
            <a:prstGeom prst="line">
              <a:avLst/>
            </a:prstGeom>
            <a:noFill/>
            <a:ln w="57150" algn="ctr">
              <a:solidFill>
                <a:srgbClr val="C00000"/>
              </a:solidFill>
              <a:round/>
              <a:headEnd/>
              <a:tailEnd/>
            </a:ln>
          </p:spPr>
        </p:cxnSp>
        <p:cxnSp>
          <p:nvCxnSpPr>
            <p:cNvPr id="90147" name="直接连接符 23"/>
            <p:cNvCxnSpPr>
              <a:cxnSpLocks noChangeShapeType="1"/>
            </p:cNvCxnSpPr>
            <p:nvPr/>
          </p:nvCxnSpPr>
          <p:spPr bwMode="auto">
            <a:xfrm flipH="1">
              <a:off x="685800" y="2114550"/>
              <a:ext cx="171450" cy="247650"/>
            </a:xfrm>
            <a:prstGeom prst="line">
              <a:avLst/>
            </a:prstGeom>
            <a:noFill/>
            <a:ln w="57150" algn="ctr">
              <a:solidFill>
                <a:srgbClr val="C00000"/>
              </a:solidFill>
              <a:round/>
              <a:headEnd/>
              <a:tailEnd/>
            </a:ln>
          </p:spPr>
        </p:cxnSp>
      </p:grpSp>
      <p:grpSp>
        <p:nvGrpSpPr>
          <p:cNvPr id="8" name="组合 24"/>
          <p:cNvGrpSpPr>
            <a:grpSpLocks/>
          </p:cNvGrpSpPr>
          <p:nvPr/>
        </p:nvGrpSpPr>
        <p:grpSpPr bwMode="auto">
          <a:xfrm>
            <a:off x="5810250" y="4229100"/>
            <a:ext cx="209550" cy="247650"/>
            <a:chOff x="685800" y="2114550"/>
            <a:chExt cx="209550" cy="247650"/>
          </a:xfrm>
        </p:grpSpPr>
        <p:cxnSp>
          <p:nvCxnSpPr>
            <p:cNvPr id="90144" name="直接连接符 25"/>
            <p:cNvCxnSpPr>
              <a:cxnSpLocks noChangeShapeType="1"/>
            </p:cNvCxnSpPr>
            <p:nvPr/>
          </p:nvCxnSpPr>
          <p:spPr bwMode="auto">
            <a:xfrm>
              <a:off x="685800" y="2133600"/>
              <a:ext cx="209550" cy="190500"/>
            </a:xfrm>
            <a:prstGeom prst="line">
              <a:avLst/>
            </a:prstGeom>
            <a:noFill/>
            <a:ln w="57150" algn="ctr">
              <a:solidFill>
                <a:srgbClr val="C00000"/>
              </a:solidFill>
              <a:round/>
              <a:headEnd/>
              <a:tailEnd/>
            </a:ln>
          </p:spPr>
        </p:cxnSp>
        <p:cxnSp>
          <p:nvCxnSpPr>
            <p:cNvPr id="90145" name="直接连接符 26"/>
            <p:cNvCxnSpPr>
              <a:cxnSpLocks noChangeShapeType="1"/>
            </p:cNvCxnSpPr>
            <p:nvPr/>
          </p:nvCxnSpPr>
          <p:spPr bwMode="auto">
            <a:xfrm flipH="1">
              <a:off x="685800" y="2114550"/>
              <a:ext cx="171450" cy="247650"/>
            </a:xfrm>
            <a:prstGeom prst="line">
              <a:avLst/>
            </a:prstGeom>
            <a:noFill/>
            <a:ln w="57150" algn="ctr">
              <a:solidFill>
                <a:srgbClr val="C00000"/>
              </a:solidFill>
              <a:round/>
              <a:headEnd/>
              <a:tailEnd/>
            </a:ln>
          </p:spPr>
        </p:cxnSp>
      </p:grpSp>
      <p:grpSp>
        <p:nvGrpSpPr>
          <p:cNvPr id="9" name="组合 27"/>
          <p:cNvGrpSpPr>
            <a:grpSpLocks/>
          </p:cNvGrpSpPr>
          <p:nvPr/>
        </p:nvGrpSpPr>
        <p:grpSpPr bwMode="auto">
          <a:xfrm>
            <a:off x="5886450" y="3486150"/>
            <a:ext cx="209550" cy="247650"/>
            <a:chOff x="685800" y="2114550"/>
            <a:chExt cx="209550" cy="247650"/>
          </a:xfrm>
        </p:grpSpPr>
        <p:cxnSp>
          <p:nvCxnSpPr>
            <p:cNvPr id="90142" name="直接连接符 28"/>
            <p:cNvCxnSpPr>
              <a:cxnSpLocks noChangeShapeType="1"/>
            </p:cNvCxnSpPr>
            <p:nvPr/>
          </p:nvCxnSpPr>
          <p:spPr bwMode="auto">
            <a:xfrm>
              <a:off x="685800" y="2133600"/>
              <a:ext cx="209550" cy="190500"/>
            </a:xfrm>
            <a:prstGeom prst="line">
              <a:avLst/>
            </a:prstGeom>
            <a:noFill/>
            <a:ln w="57150" algn="ctr">
              <a:solidFill>
                <a:srgbClr val="C00000"/>
              </a:solidFill>
              <a:round/>
              <a:headEnd/>
              <a:tailEnd/>
            </a:ln>
          </p:spPr>
        </p:cxnSp>
        <p:cxnSp>
          <p:nvCxnSpPr>
            <p:cNvPr id="90143" name="直接连接符 29"/>
            <p:cNvCxnSpPr>
              <a:cxnSpLocks noChangeShapeType="1"/>
            </p:cNvCxnSpPr>
            <p:nvPr/>
          </p:nvCxnSpPr>
          <p:spPr bwMode="auto">
            <a:xfrm flipH="1">
              <a:off x="685800" y="2114550"/>
              <a:ext cx="171450" cy="247650"/>
            </a:xfrm>
            <a:prstGeom prst="line">
              <a:avLst/>
            </a:prstGeom>
            <a:noFill/>
            <a:ln w="57150" algn="ctr">
              <a:solidFill>
                <a:srgbClr val="C00000"/>
              </a:solidFill>
              <a:round/>
              <a:headEnd/>
              <a:tailEnd/>
            </a:ln>
          </p:spPr>
        </p:cxnSp>
      </p:grpSp>
      <p:grpSp>
        <p:nvGrpSpPr>
          <p:cNvPr id="10" name="组合 30"/>
          <p:cNvGrpSpPr>
            <a:grpSpLocks/>
          </p:cNvGrpSpPr>
          <p:nvPr/>
        </p:nvGrpSpPr>
        <p:grpSpPr bwMode="auto">
          <a:xfrm>
            <a:off x="5067300" y="3257550"/>
            <a:ext cx="209550" cy="247650"/>
            <a:chOff x="685800" y="2114550"/>
            <a:chExt cx="209550" cy="247650"/>
          </a:xfrm>
        </p:grpSpPr>
        <p:cxnSp>
          <p:nvCxnSpPr>
            <p:cNvPr id="90140" name="直接连接符 31"/>
            <p:cNvCxnSpPr>
              <a:cxnSpLocks noChangeShapeType="1"/>
            </p:cNvCxnSpPr>
            <p:nvPr/>
          </p:nvCxnSpPr>
          <p:spPr bwMode="auto">
            <a:xfrm>
              <a:off x="685800" y="2133600"/>
              <a:ext cx="209550" cy="190500"/>
            </a:xfrm>
            <a:prstGeom prst="line">
              <a:avLst/>
            </a:prstGeom>
            <a:noFill/>
            <a:ln w="57150" algn="ctr">
              <a:solidFill>
                <a:srgbClr val="C00000"/>
              </a:solidFill>
              <a:round/>
              <a:headEnd/>
              <a:tailEnd/>
            </a:ln>
          </p:spPr>
        </p:cxnSp>
        <p:cxnSp>
          <p:nvCxnSpPr>
            <p:cNvPr id="90141" name="直接连接符 32"/>
            <p:cNvCxnSpPr>
              <a:cxnSpLocks noChangeShapeType="1"/>
            </p:cNvCxnSpPr>
            <p:nvPr/>
          </p:nvCxnSpPr>
          <p:spPr bwMode="auto">
            <a:xfrm flipH="1">
              <a:off x="685800" y="2114550"/>
              <a:ext cx="171450" cy="247650"/>
            </a:xfrm>
            <a:prstGeom prst="line">
              <a:avLst/>
            </a:prstGeom>
            <a:noFill/>
            <a:ln w="57150" algn="ctr">
              <a:solidFill>
                <a:srgbClr val="C00000"/>
              </a:solidFill>
              <a:round/>
              <a:headEnd/>
              <a:tailEnd/>
            </a:ln>
          </p:spPr>
        </p:cxnSp>
      </p:grpSp>
      <p:sp>
        <p:nvSpPr>
          <p:cNvPr id="90127" name="椭圆 33"/>
          <p:cNvSpPr>
            <a:spLocks noChangeArrowheads="1"/>
          </p:cNvSpPr>
          <p:nvPr/>
        </p:nvSpPr>
        <p:spPr bwMode="auto">
          <a:xfrm>
            <a:off x="3905250" y="2152650"/>
            <a:ext cx="209550" cy="190500"/>
          </a:xfrm>
          <a:prstGeom prst="ellipse">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90128" name="椭圆 34"/>
          <p:cNvSpPr>
            <a:spLocks noChangeArrowheads="1"/>
          </p:cNvSpPr>
          <p:nvPr/>
        </p:nvSpPr>
        <p:spPr bwMode="auto">
          <a:xfrm>
            <a:off x="6057900" y="2438400"/>
            <a:ext cx="209550" cy="190500"/>
          </a:xfrm>
          <a:prstGeom prst="ellipse">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90129" name="椭圆 35"/>
          <p:cNvSpPr>
            <a:spLocks noChangeArrowheads="1"/>
          </p:cNvSpPr>
          <p:nvPr/>
        </p:nvSpPr>
        <p:spPr bwMode="auto">
          <a:xfrm>
            <a:off x="7143750" y="3429000"/>
            <a:ext cx="209550" cy="190500"/>
          </a:xfrm>
          <a:prstGeom prst="ellipse">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90130" name="椭圆 36"/>
          <p:cNvSpPr>
            <a:spLocks noChangeArrowheads="1"/>
          </p:cNvSpPr>
          <p:nvPr/>
        </p:nvSpPr>
        <p:spPr bwMode="auto">
          <a:xfrm>
            <a:off x="5200650" y="2076450"/>
            <a:ext cx="209550" cy="190500"/>
          </a:xfrm>
          <a:prstGeom prst="ellipse">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90131" name="椭圆 37"/>
          <p:cNvSpPr>
            <a:spLocks noChangeArrowheads="1"/>
          </p:cNvSpPr>
          <p:nvPr/>
        </p:nvSpPr>
        <p:spPr bwMode="auto">
          <a:xfrm>
            <a:off x="6419850" y="2819400"/>
            <a:ext cx="209550" cy="190500"/>
          </a:xfrm>
          <a:prstGeom prst="ellipse">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90132" name="椭圆 38"/>
          <p:cNvSpPr>
            <a:spLocks noChangeArrowheads="1"/>
          </p:cNvSpPr>
          <p:nvPr/>
        </p:nvSpPr>
        <p:spPr bwMode="auto">
          <a:xfrm>
            <a:off x="2895600" y="2381250"/>
            <a:ext cx="209550" cy="190500"/>
          </a:xfrm>
          <a:prstGeom prst="ellipse">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90133" name="椭圆 39"/>
          <p:cNvSpPr>
            <a:spLocks noChangeArrowheads="1"/>
          </p:cNvSpPr>
          <p:nvPr/>
        </p:nvSpPr>
        <p:spPr bwMode="auto">
          <a:xfrm>
            <a:off x="2019300" y="2990850"/>
            <a:ext cx="209550" cy="190500"/>
          </a:xfrm>
          <a:prstGeom prst="ellipse">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90134" name="椭圆 40"/>
          <p:cNvSpPr>
            <a:spLocks noChangeArrowheads="1"/>
          </p:cNvSpPr>
          <p:nvPr/>
        </p:nvSpPr>
        <p:spPr bwMode="auto">
          <a:xfrm>
            <a:off x="2000250" y="4876800"/>
            <a:ext cx="209550" cy="190500"/>
          </a:xfrm>
          <a:prstGeom prst="ellipse">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90135" name="椭圆 41"/>
          <p:cNvSpPr>
            <a:spLocks noChangeArrowheads="1"/>
          </p:cNvSpPr>
          <p:nvPr/>
        </p:nvSpPr>
        <p:spPr bwMode="auto">
          <a:xfrm>
            <a:off x="3333750" y="5562600"/>
            <a:ext cx="209550" cy="190500"/>
          </a:xfrm>
          <a:prstGeom prst="ellipse">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90136" name="椭圆 42"/>
          <p:cNvSpPr>
            <a:spLocks noChangeArrowheads="1"/>
          </p:cNvSpPr>
          <p:nvPr/>
        </p:nvSpPr>
        <p:spPr bwMode="auto">
          <a:xfrm>
            <a:off x="7086600" y="4457700"/>
            <a:ext cx="209550" cy="190500"/>
          </a:xfrm>
          <a:prstGeom prst="ellipse">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90137" name="椭圆 43"/>
          <p:cNvSpPr>
            <a:spLocks noChangeArrowheads="1"/>
          </p:cNvSpPr>
          <p:nvPr/>
        </p:nvSpPr>
        <p:spPr bwMode="auto">
          <a:xfrm>
            <a:off x="6667500" y="4972050"/>
            <a:ext cx="209550" cy="190500"/>
          </a:xfrm>
          <a:prstGeom prst="ellipse">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90138" name="椭圆 44"/>
          <p:cNvSpPr>
            <a:spLocks noChangeArrowheads="1"/>
          </p:cNvSpPr>
          <p:nvPr/>
        </p:nvSpPr>
        <p:spPr bwMode="auto">
          <a:xfrm>
            <a:off x="6076950" y="5295900"/>
            <a:ext cx="209550" cy="190500"/>
          </a:xfrm>
          <a:prstGeom prst="ellipse">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90139" name="椭圆 45"/>
          <p:cNvSpPr>
            <a:spLocks noChangeArrowheads="1"/>
          </p:cNvSpPr>
          <p:nvPr/>
        </p:nvSpPr>
        <p:spPr bwMode="auto">
          <a:xfrm>
            <a:off x="5200650" y="5486400"/>
            <a:ext cx="209550" cy="190500"/>
          </a:xfrm>
          <a:prstGeom prst="ellipse">
            <a:avLst/>
          </a:prstGeom>
          <a:solidFill>
            <a:srgbClr val="FF0000"/>
          </a:solidFill>
          <a:ln w="9525" algn="ctr">
            <a:solidFill>
              <a:schemeClr val="tx1"/>
            </a:solidFill>
            <a:round/>
            <a:headEnd/>
            <a:tailEnd type="triangle" w="med" len="med"/>
          </a:ln>
        </p:spPr>
        <p:txBody>
          <a:bodyPr wrap="none"/>
          <a:lstStyle/>
          <a:p>
            <a:endParaRPr lang="zh-CN" alt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7" name="灯片编号占位符 3"/>
          <p:cNvSpPr>
            <a:spLocks noGrp="1"/>
          </p:cNvSpPr>
          <p:nvPr>
            <p:ph type="sldNum" sz="quarter" idx="12"/>
          </p:nvPr>
        </p:nvSpPr>
        <p:spPr>
          <a:noFill/>
        </p:spPr>
        <p:txBody>
          <a:bodyPr/>
          <a:lstStyle/>
          <a:p>
            <a:fld id="{4A0B3F9E-4904-4FF8-8289-503B8A15FE7D}" type="slidenum">
              <a:rPr lang="en-US" altLang="zh-CN" smtClean="0">
                <a:ea typeface="黑体" pitchFamily="49" charset="-122"/>
              </a:rPr>
              <a:pPr/>
              <a:t>51</a:t>
            </a:fld>
            <a:endParaRPr lang="en-US" altLang="zh-CN">
              <a:ea typeface="黑体" pitchFamily="49" charset="-122"/>
            </a:endParaRPr>
          </a:p>
        </p:txBody>
      </p:sp>
      <p:graphicFrame>
        <p:nvGraphicFramePr>
          <p:cNvPr id="38914" name="Object 5" descr="羊皮纸"/>
          <p:cNvGraphicFramePr>
            <a:graphicFrameLocks noChangeAspect="1"/>
          </p:cNvGraphicFramePr>
          <p:nvPr/>
        </p:nvGraphicFramePr>
        <p:xfrm>
          <a:off x="1228725" y="747713"/>
          <a:ext cx="5578475" cy="5270500"/>
        </p:xfrm>
        <a:graphic>
          <a:graphicData uri="http://schemas.openxmlformats.org/presentationml/2006/ole">
            <mc:AlternateContent xmlns:mc="http://schemas.openxmlformats.org/markup-compatibility/2006">
              <mc:Choice xmlns:v="urn:schemas-microsoft-com:vml" Requires="v">
                <p:oleObj name="公式" r:id="rId2" imgW="2019240" imgH="1904760" progId="Equation.3">
                  <p:embed/>
                </p:oleObj>
              </mc:Choice>
              <mc:Fallback>
                <p:oleObj name="公式" r:id="rId2" imgW="2019240" imgH="1904760" progId="Equation.3">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8725" y="747713"/>
                        <a:ext cx="5578475" cy="5270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灯片编号占位符 3"/>
          <p:cNvSpPr>
            <a:spLocks noGrp="1"/>
          </p:cNvSpPr>
          <p:nvPr>
            <p:ph type="sldNum" sz="quarter" idx="12"/>
          </p:nvPr>
        </p:nvSpPr>
        <p:spPr>
          <a:noFill/>
        </p:spPr>
        <p:txBody>
          <a:bodyPr/>
          <a:lstStyle/>
          <a:p>
            <a:fld id="{A8916A14-C182-4CE6-BD30-FCA938765E91}" type="slidenum">
              <a:rPr lang="en-US" altLang="zh-CN" smtClean="0">
                <a:ea typeface="黑体" pitchFamily="49" charset="-122"/>
              </a:rPr>
              <a:pPr/>
              <a:t>52</a:t>
            </a:fld>
            <a:endParaRPr lang="en-US" altLang="zh-CN">
              <a:ea typeface="黑体" pitchFamily="49" charset="-122"/>
            </a:endParaRPr>
          </a:p>
        </p:txBody>
      </p:sp>
      <p:cxnSp>
        <p:nvCxnSpPr>
          <p:cNvPr id="91139" name="直接箭头连接符 4"/>
          <p:cNvCxnSpPr>
            <a:cxnSpLocks noChangeShapeType="1"/>
          </p:cNvCxnSpPr>
          <p:nvPr/>
        </p:nvCxnSpPr>
        <p:spPr bwMode="auto">
          <a:xfrm>
            <a:off x="1333500" y="5276850"/>
            <a:ext cx="6667500" cy="0"/>
          </a:xfrm>
          <a:prstGeom prst="straightConnector1">
            <a:avLst/>
          </a:prstGeom>
          <a:noFill/>
          <a:ln w="57150" algn="ctr">
            <a:solidFill>
              <a:schemeClr val="tx1"/>
            </a:solidFill>
            <a:round/>
            <a:headEnd/>
            <a:tailEnd type="arrow" w="med" len="med"/>
          </a:ln>
        </p:spPr>
      </p:cxnSp>
      <p:cxnSp>
        <p:nvCxnSpPr>
          <p:cNvPr id="91140" name="直接箭头连接符 5"/>
          <p:cNvCxnSpPr>
            <a:cxnSpLocks noChangeShapeType="1"/>
          </p:cNvCxnSpPr>
          <p:nvPr/>
        </p:nvCxnSpPr>
        <p:spPr bwMode="auto">
          <a:xfrm flipV="1">
            <a:off x="1657350" y="1924050"/>
            <a:ext cx="19050" cy="3695700"/>
          </a:xfrm>
          <a:prstGeom prst="straightConnector1">
            <a:avLst/>
          </a:prstGeom>
          <a:noFill/>
          <a:ln w="57150" algn="ctr">
            <a:solidFill>
              <a:schemeClr val="tx1"/>
            </a:solidFill>
            <a:round/>
            <a:headEnd/>
            <a:tailEnd type="arrow" w="med" len="med"/>
          </a:ln>
        </p:spPr>
      </p:cxnSp>
      <p:grpSp>
        <p:nvGrpSpPr>
          <p:cNvPr id="2" name="组合 7"/>
          <p:cNvGrpSpPr>
            <a:grpSpLocks/>
          </p:cNvGrpSpPr>
          <p:nvPr/>
        </p:nvGrpSpPr>
        <p:grpSpPr bwMode="auto">
          <a:xfrm>
            <a:off x="3352800" y="4343400"/>
            <a:ext cx="209550" cy="247650"/>
            <a:chOff x="685800" y="2114550"/>
            <a:chExt cx="209550" cy="247650"/>
          </a:xfrm>
        </p:grpSpPr>
        <p:cxnSp>
          <p:nvCxnSpPr>
            <p:cNvPr id="91177" name="直接连接符 8"/>
            <p:cNvCxnSpPr>
              <a:cxnSpLocks noChangeShapeType="1"/>
            </p:cNvCxnSpPr>
            <p:nvPr/>
          </p:nvCxnSpPr>
          <p:spPr bwMode="auto">
            <a:xfrm>
              <a:off x="685800" y="2133600"/>
              <a:ext cx="209550" cy="190500"/>
            </a:xfrm>
            <a:prstGeom prst="line">
              <a:avLst/>
            </a:prstGeom>
            <a:noFill/>
            <a:ln w="57150" algn="ctr">
              <a:solidFill>
                <a:srgbClr val="C00000"/>
              </a:solidFill>
              <a:round/>
              <a:headEnd/>
              <a:tailEnd/>
            </a:ln>
          </p:spPr>
        </p:cxnSp>
        <p:cxnSp>
          <p:nvCxnSpPr>
            <p:cNvPr id="91178" name="直接连接符 9"/>
            <p:cNvCxnSpPr>
              <a:cxnSpLocks noChangeShapeType="1"/>
            </p:cNvCxnSpPr>
            <p:nvPr/>
          </p:nvCxnSpPr>
          <p:spPr bwMode="auto">
            <a:xfrm flipH="1">
              <a:off x="685800" y="2114550"/>
              <a:ext cx="171450" cy="247650"/>
            </a:xfrm>
            <a:prstGeom prst="line">
              <a:avLst/>
            </a:prstGeom>
            <a:noFill/>
            <a:ln w="57150" algn="ctr">
              <a:solidFill>
                <a:srgbClr val="C00000"/>
              </a:solidFill>
              <a:round/>
              <a:headEnd/>
              <a:tailEnd/>
            </a:ln>
          </p:spPr>
        </p:cxnSp>
      </p:grpSp>
      <p:grpSp>
        <p:nvGrpSpPr>
          <p:cNvPr id="3" name="组合 10"/>
          <p:cNvGrpSpPr>
            <a:grpSpLocks/>
          </p:cNvGrpSpPr>
          <p:nvPr/>
        </p:nvGrpSpPr>
        <p:grpSpPr bwMode="auto">
          <a:xfrm>
            <a:off x="2000250" y="4191000"/>
            <a:ext cx="209550" cy="247650"/>
            <a:chOff x="685800" y="2114550"/>
            <a:chExt cx="209550" cy="247650"/>
          </a:xfrm>
        </p:grpSpPr>
        <p:cxnSp>
          <p:nvCxnSpPr>
            <p:cNvPr id="91175" name="直接连接符 11"/>
            <p:cNvCxnSpPr>
              <a:cxnSpLocks noChangeShapeType="1"/>
            </p:cNvCxnSpPr>
            <p:nvPr/>
          </p:nvCxnSpPr>
          <p:spPr bwMode="auto">
            <a:xfrm>
              <a:off x="685800" y="2133600"/>
              <a:ext cx="209550" cy="190500"/>
            </a:xfrm>
            <a:prstGeom prst="line">
              <a:avLst/>
            </a:prstGeom>
            <a:noFill/>
            <a:ln w="57150" algn="ctr">
              <a:solidFill>
                <a:srgbClr val="C00000"/>
              </a:solidFill>
              <a:round/>
              <a:headEnd/>
              <a:tailEnd/>
            </a:ln>
          </p:spPr>
        </p:cxnSp>
        <p:cxnSp>
          <p:nvCxnSpPr>
            <p:cNvPr id="91176" name="直接连接符 12"/>
            <p:cNvCxnSpPr>
              <a:cxnSpLocks noChangeShapeType="1"/>
            </p:cNvCxnSpPr>
            <p:nvPr/>
          </p:nvCxnSpPr>
          <p:spPr bwMode="auto">
            <a:xfrm flipH="1">
              <a:off x="685800" y="2114550"/>
              <a:ext cx="171450" cy="247650"/>
            </a:xfrm>
            <a:prstGeom prst="line">
              <a:avLst/>
            </a:prstGeom>
            <a:noFill/>
            <a:ln w="57150" algn="ctr">
              <a:solidFill>
                <a:srgbClr val="C00000"/>
              </a:solidFill>
              <a:round/>
              <a:headEnd/>
              <a:tailEnd/>
            </a:ln>
          </p:spPr>
        </p:cxnSp>
      </p:grpSp>
      <p:grpSp>
        <p:nvGrpSpPr>
          <p:cNvPr id="4" name="组合 13"/>
          <p:cNvGrpSpPr>
            <a:grpSpLocks/>
          </p:cNvGrpSpPr>
          <p:nvPr/>
        </p:nvGrpSpPr>
        <p:grpSpPr bwMode="auto">
          <a:xfrm>
            <a:off x="2533650" y="4229100"/>
            <a:ext cx="209550" cy="247650"/>
            <a:chOff x="685800" y="2114550"/>
            <a:chExt cx="209550" cy="247650"/>
          </a:xfrm>
        </p:grpSpPr>
        <p:cxnSp>
          <p:nvCxnSpPr>
            <p:cNvPr id="91173" name="直接连接符 14"/>
            <p:cNvCxnSpPr>
              <a:cxnSpLocks noChangeShapeType="1"/>
            </p:cNvCxnSpPr>
            <p:nvPr/>
          </p:nvCxnSpPr>
          <p:spPr bwMode="auto">
            <a:xfrm>
              <a:off x="685800" y="2133600"/>
              <a:ext cx="209550" cy="190500"/>
            </a:xfrm>
            <a:prstGeom prst="line">
              <a:avLst/>
            </a:prstGeom>
            <a:noFill/>
            <a:ln w="57150" algn="ctr">
              <a:solidFill>
                <a:srgbClr val="C00000"/>
              </a:solidFill>
              <a:round/>
              <a:headEnd/>
              <a:tailEnd/>
            </a:ln>
          </p:spPr>
        </p:cxnSp>
        <p:cxnSp>
          <p:nvCxnSpPr>
            <p:cNvPr id="91174" name="直接连接符 15"/>
            <p:cNvCxnSpPr>
              <a:cxnSpLocks noChangeShapeType="1"/>
            </p:cNvCxnSpPr>
            <p:nvPr/>
          </p:nvCxnSpPr>
          <p:spPr bwMode="auto">
            <a:xfrm flipH="1">
              <a:off x="685800" y="2114550"/>
              <a:ext cx="171450" cy="247650"/>
            </a:xfrm>
            <a:prstGeom prst="line">
              <a:avLst/>
            </a:prstGeom>
            <a:noFill/>
            <a:ln w="57150" algn="ctr">
              <a:solidFill>
                <a:srgbClr val="C00000"/>
              </a:solidFill>
              <a:round/>
              <a:headEnd/>
              <a:tailEnd/>
            </a:ln>
          </p:spPr>
        </p:cxnSp>
      </p:grpSp>
      <p:grpSp>
        <p:nvGrpSpPr>
          <p:cNvPr id="5" name="组合 16"/>
          <p:cNvGrpSpPr>
            <a:grpSpLocks/>
          </p:cNvGrpSpPr>
          <p:nvPr/>
        </p:nvGrpSpPr>
        <p:grpSpPr bwMode="auto">
          <a:xfrm>
            <a:off x="3924300" y="4324350"/>
            <a:ext cx="209550" cy="247650"/>
            <a:chOff x="685800" y="2114550"/>
            <a:chExt cx="209550" cy="247650"/>
          </a:xfrm>
        </p:grpSpPr>
        <p:cxnSp>
          <p:nvCxnSpPr>
            <p:cNvPr id="91171" name="直接连接符 17"/>
            <p:cNvCxnSpPr>
              <a:cxnSpLocks noChangeShapeType="1"/>
            </p:cNvCxnSpPr>
            <p:nvPr/>
          </p:nvCxnSpPr>
          <p:spPr bwMode="auto">
            <a:xfrm>
              <a:off x="685800" y="2133600"/>
              <a:ext cx="209550" cy="190500"/>
            </a:xfrm>
            <a:prstGeom prst="line">
              <a:avLst/>
            </a:prstGeom>
            <a:noFill/>
            <a:ln w="57150" algn="ctr">
              <a:solidFill>
                <a:srgbClr val="C00000"/>
              </a:solidFill>
              <a:round/>
              <a:headEnd/>
              <a:tailEnd/>
            </a:ln>
          </p:spPr>
        </p:cxnSp>
        <p:cxnSp>
          <p:nvCxnSpPr>
            <p:cNvPr id="91172" name="直接连接符 18"/>
            <p:cNvCxnSpPr>
              <a:cxnSpLocks noChangeShapeType="1"/>
            </p:cNvCxnSpPr>
            <p:nvPr/>
          </p:nvCxnSpPr>
          <p:spPr bwMode="auto">
            <a:xfrm flipH="1">
              <a:off x="685800" y="2114550"/>
              <a:ext cx="171450" cy="247650"/>
            </a:xfrm>
            <a:prstGeom prst="line">
              <a:avLst/>
            </a:prstGeom>
            <a:noFill/>
            <a:ln w="57150" algn="ctr">
              <a:solidFill>
                <a:srgbClr val="C00000"/>
              </a:solidFill>
              <a:round/>
              <a:headEnd/>
              <a:tailEnd/>
            </a:ln>
          </p:spPr>
        </p:cxnSp>
      </p:grpSp>
      <p:grpSp>
        <p:nvGrpSpPr>
          <p:cNvPr id="6" name="组合 19"/>
          <p:cNvGrpSpPr>
            <a:grpSpLocks/>
          </p:cNvGrpSpPr>
          <p:nvPr/>
        </p:nvGrpSpPr>
        <p:grpSpPr bwMode="auto">
          <a:xfrm>
            <a:off x="4953000" y="4914900"/>
            <a:ext cx="209550" cy="247650"/>
            <a:chOff x="685800" y="2114550"/>
            <a:chExt cx="209550" cy="247650"/>
          </a:xfrm>
        </p:grpSpPr>
        <p:cxnSp>
          <p:nvCxnSpPr>
            <p:cNvPr id="91169" name="直接连接符 20"/>
            <p:cNvCxnSpPr>
              <a:cxnSpLocks noChangeShapeType="1"/>
            </p:cNvCxnSpPr>
            <p:nvPr/>
          </p:nvCxnSpPr>
          <p:spPr bwMode="auto">
            <a:xfrm>
              <a:off x="685800" y="2133600"/>
              <a:ext cx="209550" cy="190500"/>
            </a:xfrm>
            <a:prstGeom prst="line">
              <a:avLst/>
            </a:prstGeom>
            <a:noFill/>
            <a:ln w="57150" algn="ctr">
              <a:solidFill>
                <a:srgbClr val="C00000"/>
              </a:solidFill>
              <a:round/>
              <a:headEnd/>
              <a:tailEnd/>
            </a:ln>
          </p:spPr>
        </p:cxnSp>
        <p:cxnSp>
          <p:nvCxnSpPr>
            <p:cNvPr id="91170" name="直接连接符 21"/>
            <p:cNvCxnSpPr>
              <a:cxnSpLocks noChangeShapeType="1"/>
            </p:cNvCxnSpPr>
            <p:nvPr/>
          </p:nvCxnSpPr>
          <p:spPr bwMode="auto">
            <a:xfrm flipH="1">
              <a:off x="685800" y="2114550"/>
              <a:ext cx="171450" cy="247650"/>
            </a:xfrm>
            <a:prstGeom prst="line">
              <a:avLst/>
            </a:prstGeom>
            <a:noFill/>
            <a:ln w="57150" algn="ctr">
              <a:solidFill>
                <a:srgbClr val="C00000"/>
              </a:solidFill>
              <a:round/>
              <a:headEnd/>
              <a:tailEnd/>
            </a:ln>
          </p:spPr>
        </p:cxnSp>
      </p:grpSp>
      <p:grpSp>
        <p:nvGrpSpPr>
          <p:cNvPr id="7" name="组合 22"/>
          <p:cNvGrpSpPr>
            <a:grpSpLocks/>
          </p:cNvGrpSpPr>
          <p:nvPr/>
        </p:nvGrpSpPr>
        <p:grpSpPr bwMode="auto">
          <a:xfrm>
            <a:off x="2590800" y="4743450"/>
            <a:ext cx="209550" cy="247650"/>
            <a:chOff x="685800" y="2114550"/>
            <a:chExt cx="209550" cy="247650"/>
          </a:xfrm>
        </p:grpSpPr>
        <p:cxnSp>
          <p:nvCxnSpPr>
            <p:cNvPr id="91167" name="直接连接符 23"/>
            <p:cNvCxnSpPr>
              <a:cxnSpLocks noChangeShapeType="1"/>
            </p:cNvCxnSpPr>
            <p:nvPr/>
          </p:nvCxnSpPr>
          <p:spPr bwMode="auto">
            <a:xfrm>
              <a:off x="685800" y="2133600"/>
              <a:ext cx="209550" cy="190500"/>
            </a:xfrm>
            <a:prstGeom prst="line">
              <a:avLst/>
            </a:prstGeom>
            <a:noFill/>
            <a:ln w="57150" algn="ctr">
              <a:solidFill>
                <a:srgbClr val="C00000"/>
              </a:solidFill>
              <a:round/>
              <a:headEnd/>
              <a:tailEnd/>
            </a:ln>
          </p:spPr>
        </p:cxnSp>
        <p:cxnSp>
          <p:nvCxnSpPr>
            <p:cNvPr id="91168" name="直接连接符 24"/>
            <p:cNvCxnSpPr>
              <a:cxnSpLocks noChangeShapeType="1"/>
            </p:cNvCxnSpPr>
            <p:nvPr/>
          </p:nvCxnSpPr>
          <p:spPr bwMode="auto">
            <a:xfrm flipH="1">
              <a:off x="685800" y="2114550"/>
              <a:ext cx="171450" cy="247650"/>
            </a:xfrm>
            <a:prstGeom prst="line">
              <a:avLst/>
            </a:prstGeom>
            <a:noFill/>
            <a:ln w="57150" algn="ctr">
              <a:solidFill>
                <a:srgbClr val="C00000"/>
              </a:solidFill>
              <a:round/>
              <a:headEnd/>
              <a:tailEnd/>
            </a:ln>
          </p:spPr>
        </p:cxnSp>
      </p:grpSp>
      <p:grpSp>
        <p:nvGrpSpPr>
          <p:cNvPr id="8" name="组合 25"/>
          <p:cNvGrpSpPr>
            <a:grpSpLocks/>
          </p:cNvGrpSpPr>
          <p:nvPr/>
        </p:nvGrpSpPr>
        <p:grpSpPr bwMode="auto">
          <a:xfrm>
            <a:off x="3448050" y="4781550"/>
            <a:ext cx="209550" cy="247650"/>
            <a:chOff x="685800" y="2114550"/>
            <a:chExt cx="209550" cy="247650"/>
          </a:xfrm>
        </p:grpSpPr>
        <p:cxnSp>
          <p:nvCxnSpPr>
            <p:cNvPr id="91165" name="直接连接符 26"/>
            <p:cNvCxnSpPr>
              <a:cxnSpLocks noChangeShapeType="1"/>
            </p:cNvCxnSpPr>
            <p:nvPr/>
          </p:nvCxnSpPr>
          <p:spPr bwMode="auto">
            <a:xfrm>
              <a:off x="685800" y="2133600"/>
              <a:ext cx="209550" cy="190500"/>
            </a:xfrm>
            <a:prstGeom prst="line">
              <a:avLst/>
            </a:prstGeom>
            <a:noFill/>
            <a:ln w="57150" algn="ctr">
              <a:solidFill>
                <a:srgbClr val="C00000"/>
              </a:solidFill>
              <a:round/>
              <a:headEnd/>
              <a:tailEnd/>
            </a:ln>
          </p:spPr>
        </p:cxnSp>
        <p:cxnSp>
          <p:nvCxnSpPr>
            <p:cNvPr id="91166" name="直接连接符 27"/>
            <p:cNvCxnSpPr>
              <a:cxnSpLocks noChangeShapeType="1"/>
            </p:cNvCxnSpPr>
            <p:nvPr/>
          </p:nvCxnSpPr>
          <p:spPr bwMode="auto">
            <a:xfrm flipH="1">
              <a:off x="685800" y="2114550"/>
              <a:ext cx="171450" cy="247650"/>
            </a:xfrm>
            <a:prstGeom prst="line">
              <a:avLst/>
            </a:prstGeom>
            <a:noFill/>
            <a:ln w="57150" algn="ctr">
              <a:solidFill>
                <a:srgbClr val="C00000"/>
              </a:solidFill>
              <a:round/>
              <a:headEnd/>
              <a:tailEnd/>
            </a:ln>
          </p:spPr>
        </p:cxnSp>
      </p:grpSp>
      <p:grpSp>
        <p:nvGrpSpPr>
          <p:cNvPr id="9" name="组合 28"/>
          <p:cNvGrpSpPr>
            <a:grpSpLocks/>
          </p:cNvGrpSpPr>
          <p:nvPr/>
        </p:nvGrpSpPr>
        <p:grpSpPr bwMode="auto">
          <a:xfrm>
            <a:off x="4400550" y="4838700"/>
            <a:ext cx="209550" cy="247650"/>
            <a:chOff x="685800" y="2114550"/>
            <a:chExt cx="209550" cy="247650"/>
          </a:xfrm>
        </p:grpSpPr>
        <p:cxnSp>
          <p:nvCxnSpPr>
            <p:cNvPr id="91163" name="直接连接符 29"/>
            <p:cNvCxnSpPr>
              <a:cxnSpLocks noChangeShapeType="1"/>
            </p:cNvCxnSpPr>
            <p:nvPr/>
          </p:nvCxnSpPr>
          <p:spPr bwMode="auto">
            <a:xfrm>
              <a:off x="685800" y="2133600"/>
              <a:ext cx="209550" cy="190500"/>
            </a:xfrm>
            <a:prstGeom prst="line">
              <a:avLst/>
            </a:prstGeom>
            <a:noFill/>
            <a:ln w="57150" algn="ctr">
              <a:solidFill>
                <a:srgbClr val="C00000"/>
              </a:solidFill>
              <a:round/>
              <a:headEnd/>
              <a:tailEnd/>
            </a:ln>
          </p:spPr>
        </p:cxnSp>
        <p:cxnSp>
          <p:nvCxnSpPr>
            <p:cNvPr id="91164" name="直接连接符 30"/>
            <p:cNvCxnSpPr>
              <a:cxnSpLocks noChangeShapeType="1"/>
            </p:cNvCxnSpPr>
            <p:nvPr/>
          </p:nvCxnSpPr>
          <p:spPr bwMode="auto">
            <a:xfrm flipH="1">
              <a:off x="685800" y="2114550"/>
              <a:ext cx="171450" cy="247650"/>
            </a:xfrm>
            <a:prstGeom prst="line">
              <a:avLst/>
            </a:prstGeom>
            <a:noFill/>
            <a:ln w="57150" algn="ctr">
              <a:solidFill>
                <a:srgbClr val="C00000"/>
              </a:solidFill>
              <a:round/>
              <a:headEnd/>
              <a:tailEnd/>
            </a:ln>
          </p:spPr>
        </p:cxnSp>
      </p:grpSp>
      <p:sp>
        <p:nvSpPr>
          <p:cNvPr id="91149" name="椭圆 31"/>
          <p:cNvSpPr>
            <a:spLocks noChangeArrowheads="1"/>
          </p:cNvSpPr>
          <p:nvPr/>
        </p:nvSpPr>
        <p:spPr bwMode="auto">
          <a:xfrm>
            <a:off x="3905250" y="2762250"/>
            <a:ext cx="209550" cy="190500"/>
          </a:xfrm>
          <a:prstGeom prst="ellipse">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91150" name="椭圆 32"/>
          <p:cNvSpPr>
            <a:spLocks noChangeArrowheads="1"/>
          </p:cNvSpPr>
          <p:nvPr/>
        </p:nvSpPr>
        <p:spPr bwMode="auto">
          <a:xfrm>
            <a:off x="4514850" y="2438400"/>
            <a:ext cx="209550" cy="190500"/>
          </a:xfrm>
          <a:prstGeom prst="ellipse">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91151" name="椭圆 33"/>
          <p:cNvSpPr>
            <a:spLocks noChangeArrowheads="1"/>
          </p:cNvSpPr>
          <p:nvPr/>
        </p:nvSpPr>
        <p:spPr bwMode="auto">
          <a:xfrm>
            <a:off x="6019800" y="3752850"/>
            <a:ext cx="209550" cy="190500"/>
          </a:xfrm>
          <a:prstGeom prst="ellipse">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91152" name="椭圆 34"/>
          <p:cNvSpPr>
            <a:spLocks noChangeArrowheads="1"/>
          </p:cNvSpPr>
          <p:nvPr/>
        </p:nvSpPr>
        <p:spPr bwMode="auto">
          <a:xfrm>
            <a:off x="3524250" y="2076450"/>
            <a:ext cx="209550" cy="190500"/>
          </a:xfrm>
          <a:prstGeom prst="ellipse">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91153" name="椭圆 35"/>
          <p:cNvSpPr>
            <a:spLocks noChangeArrowheads="1"/>
          </p:cNvSpPr>
          <p:nvPr/>
        </p:nvSpPr>
        <p:spPr bwMode="auto">
          <a:xfrm>
            <a:off x="6419850" y="2819400"/>
            <a:ext cx="209550" cy="190500"/>
          </a:xfrm>
          <a:prstGeom prst="ellipse">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91154" name="椭圆 36"/>
          <p:cNvSpPr>
            <a:spLocks noChangeArrowheads="1"/>
          </p:cNvSpPr>
          <p:nvPr/>
        </p:nvSpPr>
        <p:spPr bwMode="auto">
          <a:xfrm>
            <a:off x="2895600" y="2381250"/>
            <a:ext cx="209550" cy="190500"/>
          </a:xfrm>
          <a:prstGeom prst="ellipse">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91155" name="椭圆 37"/>
          <p:cNvSpPr>
            <a:spLocks noChangeArrowheads="1"/>
          </p:cNvSpPr>
          <p:nvPr/>
        </p:nvSpPr>
        <p:spPr bwMode="auto">
          <a:xfrm>
            <a:off x="2019300" y="2990850"/>
            <a:ext cx="209550" cy="190500"/>
          </a:xfrm>
          <a:prstGeom prst="ellipse">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91156" name="椭圆 38"/>
          <p:cNvSpPr>
            <a:spLocks noChangeArrowheads="1"/>
          </p:cNvSpPr>
          <p:nvPr/>
        </p:nvSpPr>
        <p:spPr bwMode="auto">
          <a:xfrm>
            <a:off x="3314700" y="2971800"/>
            <a:ext cx="209550" cy="190500"/>
          </a:xfrm>
          <a:prstGeom prst="ellipse">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91157" name="椭圆 39"/>
          <p:cNvSpPr>
            <a:spLocks noChangeArrowheads="1"/>
          </p:cNvSpPr>
          <p:nvPr/>
        </p:nvSpPr>
        <p:spPr bwMode="auto">
          <a:xfrm>
            <a:off x="4343400" y="3714750"/>
            <a:ext cx="209550" cy="190500"/>
          </a:xfrm>
          <a:prstGeom prst="ellipse">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91158" name="椭圆 40"/>
          <p:cNvSpPr>
            <a:spLocks noChangeArrowheads="1"/>
          </p:cNvSpPr>
          <p:nvPr/>
        </p:nvSpPr>
        <p:spPr bwMode="auto">
          <a:xfrm>
            <a:off x="6076950" y="4400550"/>
            <a:ext cx="209550" cy="190500"/>
          </a:xfrm>
          <a:prstGeom prst="ellipse">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91159" name="椭圆 41"/>
          <p:cNvSpPr>
            <a:spLocks noChangeArrowheads="1"/>
          </p:cNvSpPr>
          <p:nvPr/>
        </p:nvSpPr>
        <p:spPr bwMode="auto">
          <a:xfrm>
            <a:off x="5486400" y="3200400"/>
            <a:ext cx="209550" cy="190500"/>
          </a:xfrm>
          <a:prstGeom prst="ellipse">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91160" name="椭圆 42"/>
          <p:cNvSpPr>
            <a:spLocks noChangeArrowheads="1"/>
          </p:cNvSpPr>
          <p:nvPr/>
        </p:nvSpPr>
        <p:spPr bwMode="auto">
          <a:xfrm>
            <a:off x="4781550" y="2971800"/>
            <a:ext cx="209550" cy="190500"/>
          </a:xfrm>
          <a:prstGeom prst="ellipse">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91161" name="椭圆 43"/>
          <p:cNvSpPr>
            <a:spLocks noChangeArrowheads="1"/>
          </p:cNvSpPr>
          <p:nvPr/>
        </p:nvSpPr>
        <p:spPr bwMode="auto">
          <a:xfrm>
            <a:off x="5467350" y="3886200"/>
            <a:ext cx="209550" cy="190500"/>
          </a:xfrm>
          <a:prstGeom prst="ellipse">
            <a:avLst/>
          </a:prstGeom>
          <a:solidFill>
            <a:srgbClr val="FF0000"/>
          </a:solidFill>
          <a:ln w="9525" algn="ctr">
            <a:solidFill>
              <a:schemeClr val="tx1"/>
            </a:solidFill>
            <a:round/>
            <a:headEnd/>
            <a:tailEnd type="triangle" w="med" len="med"/>
          </a:ln>
        </p:spPr>
        <p:txBody>
          <a:bodyPr wrap="none"/>
          <a:lstStyle/>
          <a:p>
            <a:endParaRPr lang="zh-CN" altLang="en-US"/>
          </a:p>
        </p:txBody>
      </p:sp>
      <p:cxnSp>
        <p:nvCxnSpPr>
          <p:cNvPr id="91162" name="直接箭头连接符 44"/>
          <p:cNvCxnSpPr>
            <a:cxnSpLocks noChangeShapeType="1"/>
          </p:cNvCxnSpPr>
          <p:nvPr/>
        </p:nvCxnSpPr>
        <p:spPr bwMode="auto">
          <a:xfrm>
            <a:off x="1619250" y="3276600"/>
            <a:ext cx="5676900" cy="2133600"/>
          </a:xfrm>
          <a:prstGeom prst="straightConnector1">
            <a:avLst/>
          </a:prstGeom>
          <a:noFill/>
          <a:ln w="57150" algn="ctr">
            <a:solidFill>
              <a:schemeClr val="tx1"/>
            </a:solidFill>
            <a:round/>
            <a:headEnd/>
            <a:tailEnd/>
          </a:ln>
        </p:spPr>
      </p:cxn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内容占位符 2"/>
          <p:cNvSpPr>
            <a:spLocks noGrp="1"/>
          </p:cNvSpPr>
          <p:nvPr>
            <p:ph idx="1"/>
          </p:nvPr>
        </p:nvSpPr>
        <p:spPr>
          <a:xfrm>
            <a:off x="685800" y="1028700"/>
            <a:ext cx="7772400" cy="5067300"/>
          </a:xfrm>
        </p:spPr>
        <p:txBody>
          <a:bodyPr/>
          <a:lstStyle/>
          <a:p>
            <a:r>
              <a:rPr lang="zh-CN" altLang="en-US" sz="3200" b="1" dirty="0"/>
              <a:t>用线性分类的方法求解非线性分类问题</a:t>
            </a:r>
            <a:endParaRPr lang="en-US" altLang="zh-CN" sz="3200" b="1" dirty="0"/>
          </a:p>
          <a:p>
            <a:endParaRPr lang="en-US" altLang="zh-CN" sz="2800" b="1" dirty="0"/>
          </a:p>
          <a:p>
            <a:pPr lvl="1">
              <a:buFontTx/>
              <a:buNone/>
            </a:pPr>
            <a:r>
              <a:rPr lang="zh-CN" altLang="en-US" sz="2800" b="1" dirty="0"/>
              <a:t>（</a:t>
            </a:r>
            <a:r>
              <a:rPr lang="en-US" altLang="zh-CN" sz="2800" b="1" dirty="0"/>
              <a:t>1</a:t>
            </a:r>
            <a:r>
              <a:rPr lang="zh-CN" altLang="en-US" sz="2800" b="1" dirty="0"/>
              <a:t>）使用一个变换，将原空间数据映射到新空间；</a:t>
            </a:r>
            <a:endParaRPr lang="en-US" altLang="zh-CN" sz="2800" b="1" dirty="0"/>
          </a:p>
          <a:p>
            <a:endParaRPr lang="en-US" altLang="zh-CN" sz="2800" b="1" dirty="0"/>
          </a:p>
          <a:p>
            <a:pPr lvl="1">
              <a:buFontTx/>
              <a:buNone/>
            </a:pPr>
            <a:r>
              <a:rPr lang="zh-CN" altLang="en-US" sz="2800" b="1" dirty="0"/>
              <a:t>（</a:t>
            </a:r>
            <a:r>
              <a:rPr lang="en-US" altLang="zh-CN" sz="2800" b="1" dirty="0"/>
              <a:t>2</a:t>
            </a:r>
            <a:r>
              <a:rPr lang="zh-CN" altLang="en-US" sz="2800" b="1" dirty="0"/>
              <a:t>）在新空间用线性分类方法从训练数据中学习分类模型</a:t>
            </a:r>
            <a:endParaRPr lang="en-US" altLang="zh-CN" sz="2800" b="1" dirty="0"/>
          </a:p>
          <a:p>
            <a:pPr lvl="1">
              <a:buFontTx/>
              <a:buNone/>
            </a:pPr>
            <a:endParaRPr lang="en-US" altLang="zh-CN" dirty="0"/>
          </a:p>
        </p:txBody>
      </p:sp>
      <p:sp>
        <p:nvSpPr>
          <p:cNvPr id="92163" name="灯片编号占位符 3"/>
          <p:cNvSpPr>
            <a:spLocks noGrp="1"/>
          </p:cNvSpPr>
          <p:nvPr>
            <p:ph type="sldNum" sz="quarter" idx="12"/>
          </p:nvPr>
        </p:nvSpPr>
        <p:spPr>
          <a:noFill/>
        </p:spPr>
        <p:txBody>
          <a:bodyPr/>
          <a:lstStyle/>
          <a:p>
            <a:fld id="{8AB82332-8370-4E7C-8AD7-3D3354CFD34B}" type="slidenum">
              <a:rPr lang="en-US" altLang="zh-CN" smtClean="0">
                <a:ea typeface="黑体" pitchFamily="49" charset="-122"/>
              </a:rPr>
              <a:pPr/>
              <a:t>53</a:t>
            </a:fld>
            <a:endParaRPr lang="en-US" altLang="zh-CN">
              <a:ea typeface="黑体" pitchFamily="49" charset="-122"/>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dirty="0"/>
              <a:t>核技巧应用于支持向量机</a:t>
            </a:r>
          </a:p>
        </p:txBody>
      </p:sp>
      <p:sp>
        <p:nvSpPr>
          <p:cNvPr id="93187" name="内容占位符 2"/>
          <p:cNvSpPr>
            <a:spLocks noGrp="1"/>
          </p:cNvSpPr>
          <p:nvPr>
            <p:ph idx="1"/>
          </p:nvPr>
        </p:nvSpPr>
        <p:spPr>
          <a:xfrm>
            <a:off x="914400" y="1860330"/>
            <a:ext cx="7772400" cy="4159469"/>
          </a:xfrm>
        </p:spPr>
        <p:txBody>
          <a:bodyPr>
            <a:normAutofit/>
          </a:bodyPr>
          <a:lstStyle/>
          <a:p>
            <a:r>
              <a:rPr lang="zh-CN" altLang="en-US" sz="3200" b="1" dirty="0"/>
              <a:t>通过一个非线性变换将输入空间</a:t>
            </a:r>
            <a:r>
              <a:rPr lang="en-US" altLang="zh-CN" sz="3200" b="1" dirty="0"/>
              <a:t>X</a:t>
            </a:r>
            <a:r>
              <a:rPr lang="zh-CN" altLang="en-US" sz="3200" b="1" dirty="0"/>
              <a:t>（欧式空间或者离散集合）对应于一个特征空间</a:t>
            </a:r>
            <a:r>
              <a:rPr lang="en-US" altLang="zh-CN" sz="3200" b="1" dirty="0"/>
              <a:t>H</a:t>
            </a:r>
            <a:r>
              <a:rPr lang="zh-CN" altLang="en-US" sz="3200" b="1" dirty="0"/>
              <a:t>（希尔伯特空间），使得在输入空间</a:t>
            </a:r>
            <a:r>
              <a:rPr lang="en-US" altLang="zh-CN" sz="3200" b="1" dirty="0"/>
              <a:t>X</a:t>
            </a:r>
            <a:r>
              <a:rPr lang="zh-CN" altLang="en-US" sz="3200" b="1" dirty="0"/>
              <a:t>的超曲面模型对应于特征空间</a:t>
            </a:r>
            <a:r>
              <a:rPr lang="en-US" altLang="zh-CN" sz="3200" b="1" dirty="0"/>
              <a:t>H</a:t>
            </a:r>
            <a:r>
              <a:rPr lang="zh-CN" altLang="en-US" sz="3200" b="1" dirty="0"/>
              <a:t>中的超平面模型（支持向量机）。</a:t>
            </a:r>
            <a:endParaRPr lang="en-US" altLang="zh-CN" sz="3200" b="1" dirty="0"/>
          </a:p>
          <a:p>
            <a:r>
              <a:rPr lang="zh-CN" altLang="en-US" sz="3200" b="1" dirty="0"/>
              <a:t>分类问题的学习就可以通过在</a:t>
            </a:r>
            <a:r>
              <a:rPr lang="en-US" altLang="zh-CN" sz="3200" b="1" dirty="0"/>
              <a:t>H</a:t>
            </a:r>
            <a:r>
              <a:rPr lang="zh-CN" altLang="en-US" sz="3200" b="1" dirty="0"/>
              <a:t>空间中求解线性支持向量机完成</a:t>
            </a:r>
          </a:p>
        </p:txBody>
      </p:sp>
      <p:sp>
        <p:nvSpPr>
          <p:cNvPr id="93188" name="灯片编号占位符 3"/>
          <p:cNvSpPr>
            <a:spLocks noGrp="1"/>
          </p:cNvSpPr>
          <p:nvPr>
            <p:ph type="sldNum" sz="quarter" idx="12"/>
          </p:nvPr>
        </p:nvSpPr>
        <p:spPr>
          <a:noFill/>
        </p:spPr>
        <p:txBody>
          <a:bodyPr/>
          <a:lstStyle/>
          <a:p>
            <a:fld id="{D2211485-B7A8-43D7-8619-8041C247AB95}" type="slidenum">
              <a:rPr lang="en-US" altLang="zh-CN" smtClean="0">
                <a:ea typeface="黑体" pitchFamily="49" charset="-122"/>
              </a:rPr>
              <a:pPr/>
              <a:t>54</a:t>
            </a:fld>
            <a:endParaRPr lang="en-US" altLang="zh-CN">
              <a:ea typeface="黑体" pitchFamily="49" charset="-122"/>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4256690" y="977462"/>
            <a:ext cx="945931" cy="504497"/>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4140931" y="4452188"/>
            <a:ext cx="1802524" cy="525518"/>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39941" name="灯片编号占位符 3"/>
          <p:cNvSpPr>
            <a:spLocks noGrp="1"/>
          </p:cNvSpPr>
          <p:nvPr>
            <p:ph type="sldNum" sz="quarter" idx="12"/>
          </p:nvPr>
        </p:nvSpPr>
        <p:spPr>
          <a:noFill/>
        </p:spPr>
        <p:txBody>
          <a:bodyPr/>
          <a:lstStyle/>
          <a:p>
            <a:fld id="{C2A4A4DC-CDB5-4639-81AD-E4C67A2AAC88}" type="slidenum">
              <a:rPr lang="en-US" altLang="zh-CN" smtClean="0">
                <a:ea typeface="黑体" pitchFamily="49" charset="-122"/>
              </a:rPr>
              <a:pPr/>
              <a:t>55</a:t>
            </a:fld>
            <a:endParaRPr lang="en-US" altLang="zh-CN">
              <a:ea typeface="黑体" pitchFamily="49" charset="-122"/>
            </a:endParaRPr>
          </a:p>
        </p:txBody>
      </p:sp>
      <p:graphicFrame>
        <p:nvGraphicFramePr>
          <p:cNvPr id="2" name="Object 2" descr="羊皮纸">
            <a:extLst>
              <a:ext uri="{FF2B5EF4-FFF2-40B4-BE49-F238E27FC236}">
                <a16:creationId xmlns:a16="http://schemas.microsoft.com/office/drawing/2014/main" id="{EB04B707-F090-70E4-7FFF-610DC830210A}"/>
              </a:ext>
            </a:extLst>
          </p:cNvPr>
          <p:cNvGraphicFramePr>
            <a:graphicFrameLocks noChangeAspect="1"/>
          </p:cNvGraphicFramePr>
          <p:nvPr>
            <p:extLst>
              <p:ext uri="{D42A27DB-BD31-4B8C-83A1-F6EECF244321}">
                <p14:modId xmlns:p14="http://schemas.microsoft.com/office/powerpoint/2010/main" val="1088694074"/>
              </p:ext>
            </p:extLst>
          </p:nvPr>
        </p:nvGraphicFramePr>
        <p:xfrm>
          <a:off x="990365" y="141696"/>
          <a:ext cx="5371936" cy="3287304"/>
        </p:xfrm>
        <a:graphic>
          <a:graphicData uri="http://schemas.openxmlformats.org/presentationml/2006/ole">
            <mc:AlternateContent xmlns:mc="http://schemas.openxmlformats.org/markup-compatibility/2006">
              <mc:Choice xmlns:v="urn:schemas-microsoft-com:vml" Requires="v">
                <p:oleObj name="公式" r:id="rId3" imgW="2247840" imgH="1371600" progId="Equation.3">
                  <p:embed/>
                </p:oleObj>
              </mc:Choice>
              <mc:Fallback>
                <p:oleObj name="公式" r:id="rId3" imgW="2247840" imgH="1371600" progId="Equation.3">
                  <p:embed/>
                  <p:pic>
                    <p:nvPicPr>
                      <p:cNvPr id="33794" name="Object 2" descr="羊皮纸"/>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365" y="141696"/>
                        <a:ext cx="5371936" cy="3287304"/>
                      </a:xfrm>
                      <a:prstGeom prst="rect">
                        <a:avLst/>
                      </a:prstGeom>
                      <a:noFill/>
                    </p:spPr>
                  </p:pic>
                </p:oleObj>
              </mc:Fallback>
            </mc:AlternateContent>
          </a:graphicData>
        </a:graphic>
      </p:graphicFrame>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143889CB-9ECD-6E6B-1A27-C44EC7265C9C}"/>
                  </a:ext>
                </a:extLst>
              </p:cNvPr>
              <p:cNvSpPr txBox="1"/>
              <p:nvPr/>
            </p:nvSpPr>
            <p:spPr>
              <a:xfrm>
                <a:off x="1225313" y="4193077"/>
                <a:ext cx="5995359" cy="108029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kumimoji="1" lang="en-US" altLang="zh-CN" sz="2400" i="1" smtClean="0">
                              <a:latin typeface="Cambria Math" panose="02040503050406030204" pitchFamily="18" charset="0"/>
                            </a:rPr>
                          </m:ctrlPr>
                        </m:funcPr>
                        <m:fName>
                          <m:limLow>
                            <m:limLowPr>
                              <m:ctrlPr>
                                <a:rPr kumimoji="1" lang="en-US" altLang="zh-CN" sz="2400" i="1" smtClean="0">
                                  <a:latin typeface="Cambria Math" panose="02040503050406030204" pitchFamily="18" charset="0"/>
                                </a:rPr>
                              </m:ctrlPr>
                            </m:limLowPr>
                            <m:e>
                              <m:r>
                                <m:rPr>
                                  <m:sty m:val="p"/>
                                </m:rPr>
                                <a:rPr kumimoji="1" lang="en-US" altLang="zh-CN" sz="2400" i="0" smtClean="0">
                                  <a:latin typeface="Cambria Math" panose="02040503050406030204" pitchFamily="18" charset="0"/>
                                </a:rPr>
                                <m:t>min</m:t>
                              </m:r>
                            </m:e>
                            <m:lim>
                              <m:r>
                                <a:rPr kumimoji="1" lang="en-US" altLang="zh-CN" sz="2400" i="1" smtClean="0">
                                  <a:latin typeface="Cambria Math" panose="02040503050406030204" pitchFamily="18" charset="0"/>
                                  <a:ea typeface="Cambria Math" panose="02040503050406030204" pitchFamily="18" charset="0"/>
                                </a:rPr>
                                <m:t>𝛼</m:t>
                              </m:r>
                            </m:lim>
                          </m:limLow>
                        </m:fName>
                        <m:e>
                          <m:f>
                            <m:fPr>
                              <m:ctrlPr>
                                <a:rPr kumimoji="1" lang="en-US" altLang="zh-CN" sz="2400" i="1" smtClean="0">
                                  <a:latin typeface="Cambria Math" panose="02040503050406030204" pitchFamily="18" charset="0"/>
                                </a:rPr>
                              </m:ctrlPr>
                            </m:fPr>
                            <m:num>
                              <m:r>
                                <a:rPr kumimoji="1" lang="en-US" altLang="zh-CN" sz="2400" b="0" i="1" smtClean="0">
                                  <a:latin typeface="Cambria Math" panose="02040503050406030204" pitchFamily="18" charset="0"/>
                                </a:rPr>
                                <m:t>1</m:t>
                              </m:r>
                            </m:num>
                            <m:den>
                              <m:r>
                                <a:rPr kumimoji="1" lang="en-US" altLang="zh-CN" sz="2400" b="0" i="1" smtClean="0">
                                  <a:latin typeface="Cambria Math" panose="02040503050406030204" pitchFamily="18" charset="0"/>
                                </a:rPr>
                                <m:t>2</m:t>
                              </m:r>
                            </m:den>
                          </m:f>
                          <m:nary>
                            <m:naryPr>
                              <m:chr m:val="∑"/>
                              <m:ctrlPr>
                                <a:rPr kumimoji="1" lang="en-US" altLang="zh-CN" sz="2400" i="1" smtClean="0">
                                  <a:latin typeface="Cambria Math" panose="02040503050406030204" pitchFamily="18" charset="0"/>
                                </a:rPr>
                              </m:ctrlPr>
                            </m:naryPr>
                            <m:sub>
                              <m:r>
                                <m:rPr>
                                  <m:brk m:alnAt="23"/>
                                </m:rPr>
                                <a:rPr kumimoji="1" lang="en-US" altLang="zh-CN" sz="2400" b="0" i="1" smtClean="0">
                                  <a:latin typeface="Cambria Math" panose="02040503050406030204" pitchFamily="18" charset="0"/>
                                </a:rPr>
                                <m:t>𝑖</m:t>
                              </m:r>
                              <m:r>
                                <a:rPr kumimoji="1" lang="en-US" altLang="zh-CN" sz="2400" b="0" i="1" smtClean="0">
                                  <a:latin typeface="Cambria Math" panose="02040503050406030204" pitchFamily="18" charset="0"/>
                                </a:rPr>
                                <m:t>=1</m:t>
                              </m:r>
                            </m:sub>
                            <m:sup>
                              <m:r>
                                <a:rPr kumimoji="1" lang="en-US" altLang="zh-CN" sz="2400" b="0" i="1" smtClean="0">
                                  <a:latin typeface="Cambria Math" panose="02040503050406030204" pitchFamily="18" charset="0"/>
                                </a:rPr>
                                <m:t>𝑁</m:t>
                              </m:r>
                            </m:sup>
                            <m:e>
                              <m:nary>
                                <m:naryPr>
                                  <m:chr m:val="∑"/>
                                  <m:ctrlPr>
                                    <a:rPr kumimoji="1" lang="en-US" altLang="zh-CN" sz="2400" i="1" smtClean="0">
                                      <a:latin typeface="Cambria Math" panose="02040503050406030204" pitchFamily="18" charset="0"/>
                                    </a:rPr>
                                  </m:ctrlPr>
                                </m:naryPr>
                                <m:sub>
                                  <m:r>
                                    <m:rPr>
                                      <m:brk m:alnAt="23"/>
                                    </m:rPr>
                                    <a:rPr kumimoji="1" lang="en-US" altLang="zh-CN" sz="2400" b="0" i="1" smtClean="0">
                                      <a:latin typeface="Cambria Math" panose="02040503050406030204" pitchFamily="18" charset="0"/>
                                    </a:rPr>
                                    <m:t>𝑗</m:t>
                                  </m:r>
                                  <m:r>
                                    <a:rPr kumimoji="1" lang="en-US" altLang="zh-CN" sz="2400" b="0" i="1" smtClean="0">
                                      <a:latin typeface="Cambria Math" panose="02040503050406030204" pitchFamily="18" charset="0"/>
                                    </a:rPr>
                                    <m:t>=1</m:t>
                                  </m:r>
                                </m:sub>
                                <m:sup>
                                  <m:r>
                                    <a:rPr kumimoji="1" lang="en-US" altLang="zh-CN" sz="2400" b="0" i="1" smtClean="0">
                                      <a:latin typeface="Cambria Math" panose="02040503050406030204" pitchFamily="18" charset="0"/>
                                    </a:rPr>
                                    <m:t>𝑁</m:t>
                                  </m:r>
                                </m:sup>
                                <m:e>
                                  <m:sSub>
                                    <m:sSubPr>
                                      <m:ctrlPr>
                                        <a:rPr kumimoji="1" lang="en-US" altLang="zh-CN" sz="2400" i="1" smtClean="0">
                                          <a:latin typeface="Cambria Math" panose="02040503050406030204" pitchFamily="18" charset="0"/>
                                        </a:rPr>
                                      </m:ctrlPr>
                                    </m:sSubPr>
                                    <m:e>
                                      <m:r>
                                        <a:rPr kumimoji="1" lang="en-US" altLang="zh-CN" sz="2400" i="1" smtClean="0">
                                          <a:latin typeface="Cambria Math" panose="02040503050406030204" pitchFamily="18" charset="0"/>
                                          <a:ea typeface="Cambria Math" panose="02040503050406030204" pitchFamily="18" charset="0"/>
                                        </a:rPr>
                                        <m:t>𝛼</m:t>
                                      </m:r>
                                    </m:e>
                                    <m:sub>
                                      <m:r>
                                        <a:rPr kumimoji="1" lang="en-US" altLang="zh-CN" sz="2400" b="0" i="1" smtClean="0">
                                          <a:latin typeface="Cambria Math" panose="02040503050406030204" pitchFamily="18" charset="0"/>
                                        </a:rPr>
                                        <m:t>𝑖</m:t>
                                      </m:r>
                                    </m:sub>
                                  </m:sSub>
                                  <m:sSub>
                                    <m:sSubPr>
                                      <m:ctrlPr>
                                        <a:rPr kumimoji="1" lang="en-US" altLang="zh-CN" sz="2400" i="1">
                                          <a:latin typeface="Cambria Math" panose="02040503050406030204" pitchFamily="18" charset="0"/>
                                        </a:rPr>
                                      </m:ctrlPr>
                                    </m:sSubPr>
                                    <m:e>
                                      <m:r>
                                        <a:rPr kumimoji="1" lang="en-US" altLang="zh-CN" sz="2400" i="1">
                                          <a:latin typeface="Cambria Math" panose="02040503050406030204" pitchFamily="18" charset="0"/>
                                          <a:ea typeface="Cambria Math" panose="02040503050406030204" pitchFamily="18" charset="0"/>
                                        </a:rPr>
                                        <m:t>𝛼</m:t>
                                      </m:r>
                                    </m:e>
                                    <m:sub>
                                      <m:r>
                                        <a:rPr kumimoji="1" lang="en-US" altLang="zh-CN" sz="2400" b="0" i="1" smtClean="0">
                                          <a:latin typeface="Cambria Math" panose="02040503050406030204" pitchFamily="18" charset="0"/>
                                          <a:ea typeface="Cambria Math" panose="02040503050406030204" pitchFamily="18" charset="0"/>
                                        </a:rPr>
                                        <m:t>𝑗</m:t>
                                      </m:r>
                                    </m:sub>
                                  </m:sSub>
                                  <m:sSub>
                                    <m:sSubPr>
                                      <m:ctrlPr>
                                        <a:rPr kumimoji="1" lang="en-US" altLang="zh-CN" sz="2400" i="1">
                                          <a:latin typeface="Cambria Math" panose="02040503050406030204" pitchFamily="18" charset="0"/>
                                        </a:rPr>
                                      </m:ctrlPr>
                                    </m:sSubPr>
                                    <m:e>
                                      <m:r>
                                        <a:rPr kumimoji="1" lang="en-US" altLang="zh-CN" sz="2400" b="0" i="1" smtClean="0">
                                          <a:latin typeface="Cambria Math" panose="02040503050406030204" pitchFamily="18" charset="0"/>
                                        </a:rPr>
                                        <m:t>𝑦</m:t>
                                      </m:r>
                                    </m:e>
                                    <m:sub>
                                      <m:r>
                                        <a:rPr kumimoji="1" lang="en-US" altLang="zh-CN" sz="2400" i="1">
                                          <a:latin typeface="Cambria Math" panose="02040503050406030204" pitchFamily="18" charset="0"/>
                                        </a:rPr>
                                        <m:t>𝑖</m:t>
                                      </m:r>
                                    </m:sub>
                                  </m:sSub>
                                  <m:sSub>
                                    <m:sSubPr>
                                      <m:ctrlPr>
                                        <a:rPr kumimoji="1" lang="en-US" altLang="zh-CN" sz="2400" i="1">
                                          <a:latin typeface="Cambria Math" panose="02040503050406030204" pitchFamily="18" charset="0"/>
                                        </a:rPr>
                                      </m:ctrlPr>
                                    </m:sSubPr>
                                    <m:e>
                                      <m:r>
                                        <a:rPr kumimoji="1" lang="en-US" altLang="zh-CN" sz="2400" b="0" i="1" smtClean="0">
                                          <a:latin typeface="Cambria Math" panose="02040503050406030204" pitchFamily="18" charset="0"/>
                                        </a:rPr>
                                        <m:t>𝑦</m:t>
                                      </m:r>
                                    </m:e>
                                    <m:sub>
                                      <m:r>
                                        <a:rPr kumimoji="1" lang="en-US" altLang="zh-CN" sz="2400" b="0" i="1" smtClean="0">
                                          <a:latin typeface="Cambria Math" panose="02040503050406030204" pitchFamily="18" charset="0"/>
                                          <a:ea typeface="Cambria Math" panose="02040503050406030204" pitchFamily="18" charset="0"/>
                                        </a:rPr>
                                        <m:t>𝑗</m:t>
                                      </m:r>
                                    </m:sub>
                                  </m:sSub>
                                  <m:r>
                                    <a:rPr kumimoji="1" lang="en-US" altLang="zh-CN" sz="2400" b="0" i="1" smtClean="0">
                                      <a:latin typeface="Cambria Math" panose="02040503050406030204" pitchFamily="18" charset="0"/>
                                    </a:rPr>
                                    <m:t>(</m:t>
                                  </m:r>
                                  <m:r>
                                    <a:rPr kumimoji="1" lang="en-US" altLang="zh-CN" sz="2400" b="0" i="1" smtClean="0">
                                      <a:latin typeface="Cambria Math" panose="02040503050406030204" pitchFamily="18" charset="0"/>
                                      <a:ea typeface="Cambria Math" panose="02040503050406030204" pitchFamily="18" charset="0"/>
                                    </a:rPr>
                                    <m:t>𝜙</m:t>
                                  </m:r>
                                </m:e>
                              </m:nary>
                              <m:d>
                                <m:dPr>
                                  <m:ctrlPr>
                                    <a:rPr kumimoji="1" lang="en-US" altLang="zh-CN" sz="2400" b="0" i="1" smtClean="0">
                                      <a:latin typeface="Cambria Math" panose="02040503050406030204" pitchFamily="18" charset="0"/>
                                    </a:rPr>
                                  </m:ctrlPr>
                                </m:dPr>
                                <m:e>
                                  <m:sSub>
                                    <m:sSubPr>
                                      <m:ctrlPr>
                                        <a:rPr kumimoji="1" lang="en-US" altLang="zh-CN" sz="2400" b="0" i="1" smtClean="0">
                                          <a:latin typeface="Cambria Math" panose="02040503050406030204" pitchFamily="18" charset="0"/>
                                        </a:rPr>
                                      </m:ctrlPr>
                                    </m:sSubPr>
                                    <m:e>
                                      <m:r>
                                        <a:rPr kumimoji="1" lang="en-US" altLang="zh-CN" sz="2400" b="0" i="1" smtClean="0">
                                          <a:latin typeface="Cambria Math" panose="02040503050406030204" pitchFamily="18" charset="0"/>
                                        </a:rPr>
                                        <m:t>𝑥</m:t>
                                      </m:r>
                                    </m:e>
                                    <m:sub>
                                      <m:r>
                                        <a:rPr kumimoji="1" lang="en-US" altLang="zh-CN" sz="2400" b="0" i="1" smtClean="0">
                                          <a:latin typeface="Cambria Math" panose="02040503050406030204" pitchFamily="18" charset="0"/>
                                        </a:rPr>
                                        <m:t>𝑖</m:t>
                                      </m:r>
                                    </m:sub>
                                  </m:sSub>
                                </m:e>
                              </m:d>
                              <m:r>
                                <a:rPr kumimoji="1" lang="en-US" altLang="zh-CN" sz="2400" b="0" i="1" smtClean="0">
                                  <a:latin typeface="Cambria Math" panose="02040503050406030204" pitchFamily="18" charset="0"/>
                                  <a:ea typeface="Cambria Math" panose="02040503050406030204" pitchFamily="18" charset="0"/>
                                </a:rPr>
                                <m:t>∙</m:t>
                              </m:r>
                              <m:r>
                                <a:rPr kumimoji="1" lang="en-US" altLang="zh-CN" sz="2400" i="1">
                                  <a:latin typeface="Cambria Math" panose="02040503050406030204" pitchFamily="18" charset="0"/>
                                  <a:ea typeface="Cambria Math" panose="02040503050406030204" pitchFamily="18" charset="0"/>
                                </a:rPr>
                                <m:t>𝜙</m:t>
                              </m:r>
                              <m:d>
                                <m:dPr>
                                  <m:ctrlPr>
                                    <a:rPr kumimoji="1" lang="en-US" altLang="zh-CN" sz="2400" b="0" i="1" smtClean="0">
                                      <a:latin typeface="Cambria Math" panose="02040503050406030204" pitchFamily="18" charset="0"/>
                                      <a:ea typeface="Cambria Math" panose="02040503050406030204" pitchFamily="18" charset="0"/>
                                    </a:rPr>
                                  </m:ctrlPr>
                                </m:dPr>
                                <m:e>
                                  <m:sSub>
                                    <m:sSubPr>
                                      <m:ctrlPr>
                                        <a:rPr kumimoji="1" lang="en-US" altLang="zh-CN" sz="2400" i="1">
                                          <a:latin typeface="Cambria Math" panose="02040503050406030204" pitchFamily="18" charset="0"/>
                                        </a:rPr>
                                      </m:ctrlPr>
                                    </m:sSubPr>
                                    <m:e>
                                      <m:r>
                                        <a:rPr kumimoji="1" lang="en-US" altLang="zh-CN" sz="2400" i="1">
                                          <a:latin typeface="Cambria Math" panose="02040503050406030204" pitchFamily="18" charset="0"/>
                                        </a:rPr>
                                        <m:t>𝑥</m:t>
                                      </m:r>
                                    </m:e>
                                    <m:sub>
                                      <m:r>
                                        <a:rPr kumimoji="1" lang="en-US" altLang="zh-CN" sz="2400" b="0" i="1" smtClean="0">
                                          <a:latin typeface="Cambria Math" panose="02040503050406030204" pitchFamily="18" charset="0"/>
                                        </a:rPr>
                                        <m:t>𝑗</m:t>
                                      </m:r>
                                    </m:sub>
                                  </m:sSub>
                                </m:e>
                              </m:d>
                              <m:r>
                                <a:rPr kumimoji="1" lang="en-US" altLang="zh-CN" sz="2400" b="0" i="1" smtClean="0">
                                  <a:latin typeface="Cambria Math" panose="02040503050406030204" pitchFamily="18" charset="0"/>
                                  <a:ea typeface="Cambria Math" panose="02040503050406030204" pitchFamily="18" charset="0"/>
                                </a:rPr>
                                <m:t>)</m:t>
                              </m:r>
                            </m:e>
                          </m:nary>
                        </m:e>
                      </m:func>
                      <m:r>
                        <a:rPr kumimoji="1" lang="en-US" altLang="zh-CN" sz="2400" b="0" i="1" smtClean="0">
                          <a:latin typeface="Cambria Math" panose="02040503050406030204" pitchFamily="18" charset="0"/>
                        </a:rPr>
                        <m:t>−</m:t>
                      </m:r>
                      <m:nary>
                        <m:naryPr>
                          <m:chr m:val="∑"/>
                          <m:ctrlPr>
                            <a:rPr kumimoji="1" lang="en-US" altLang="zh-CN" sz="2400" b="0" i="1" smtClean="0">
                              <a:latin typeface="Cambria Math" panose="02040503050406030204" pitchFamily="18" charset="0"/>
                            </a:rPr>
                          </m:ctrlPr>
                        </m:naryPr>
                        <m:sub>
                          <m:r>
                            <m:rPr>
                              <m:brk m:alnAt="23"/>
                            </m:rPr>
                            <a:rPr kumimoji="1" lang="en-US" altLang="zh-CN" sz="2400" b="0" i="1" smtClean="0">
                              <a:latin typeface="Cambria Math" panose="02040503050406030204" pitchFamily="18" charset="0"/>
                            </a:rPr>
                            <m:t>𝑖</m:t>
                          </m:r>
                          <m:r>
                            <a:rPr kumimoji="1" lang="en-US" altLang="zh-CN" sz="2400" b="0" i="1" smtClean="0">
                              <a:latin typeface="Cambria Math" panose="02040503050406030204" pitchFamily="18" charset="0"/>
                            </a:rPr>
                            <m:t>=1</m:t>
                          </m:r>
                        </m:sub>
                        <m:sup>
                          <m:r>
                            <a:rPr kumimoji="1" lang="en-US" altLang="zh-CN" sz="2400" b="0" i="1" smtClean="0">
                              <a:latin typeface="Cambria Math" panose="02040503050406030204" pitchFamily="18" charset="0"/>
                            </a:rPr>
                            <m:t>𝑁</m:t>
                          </m:r>
                        </m:sup>
                        <m:e>
                          <m:sSub>
                            <m:sSubPr>
                              <m:ctrlPr>
                                <a:rPr kumimoji="1" lang="en-US" altLang="zh-CN" sz="2400" i="1">
                                  <a:latin typeface="Cambria Math" panose="02040503050406030204" pitchFamily="18" charset="0"/>
                                </a:rPr>
                              </m:ctrlPr>
                            </m:sSubPr>
                            <m:e>
                              <m:r>
                                <a:rPr kumimoji="1" lang="en-US" altLang="zh-CN" sz="2400" i="1">
                                  <a:latin typeface="Cambria Math" panose="02040503050406030204" pitchFamily="18" charset="0"/>
                                  <a:ea typeface="Cambria Math" panose="02040503050406030204" pitchFamily="18" charset="0"/>
                                </a:rPr>
                                <m:t>𝛼</m:t>
                              </m:r>
                            </m:e>
                            <m:sub>
                              <m:r>
                                <a:rPr kumimoji="1" lang="en-US" altLang="zh-CN" sz="2400" i="1">
                                  <a:latin typeface="Cambria Math" panose="02040503050406030204" pitchFamily="18" charset="0"/>
                                </a:rPr>
                                <m:t>𝑖</m:t>
                              </m:r>
                            </m:sub>
                          </m:sSub>
                        </m:e>
                      </m:nary>
                    </m:oMath>
                  </m:oMathPara>
                </a14:m>
                <a:endParaRPr kumimoji="1" lang="zh-CN" altLang="en-US" sz="2400" dirty="0"/>
              </a:p>
            </p:txBody>
          </p:sp>
        </mc:Choice>
        <mc:Fallback xmlns="">
          <p:sp>
            <p:nvSpPr>
              <p:cNvPr id="3" name="文本框 2">
                <a:extLst>
                  <a:ext uri="{FF2B5EF4-FFF2-40B4-BE49-F238E27FC236}">
                    <a16:creationId xmlns:a16="http://schemas.microsoft.com/office/drawing/2014/main" id="{143889CB-9ECD-6E6B-1A27-C44EC7265C9C}"/>
                  </a:ext>
                </a:extLst>
              </p:cNvPr>
              <p:cNvSpPr txBox="1">
                <a:spLocks noRot="1" noChangeAspect="1" noMove="1" noResize="1" noEditPoints="1" noAdjustHandles="1" noChangeArrowheads="1" noChangeShapeType="1" noTextEdit="1"/>
              </p:cNvSpPr>
              <p:nvPr/>
            </p:nvSpPr>
            <p:spPr>
              <a:xfrm>
                <a:off x="1225313" y="4193077"/>
                <a:ext cx="5995359" cy="1080296"/>
              </a:xfrm>
              <a:prstGeom prst="rect">
                <a:avLst/>
              </a:prstGeom>
              <a:blipFill>
                <a:blip r:embed="rId5"/>
                <a:stretch>
                  <a:fillRect l="-5497" t="-111628" r="-6342" b="-16511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50FB2017-CD3F-7952-6B9B-EAD6452B43FB}"/>
                  </a:ext>
                </a:extLst>
              </p:cNvPr>
              <p:cNvSpPr txBox="1"/>
              <p:nvPr/>
            </p:nvSpPr>
            <p:spPr>
              <a:xfrm>
                <a:off x="1225313" y="5288558"/>
                <a:ext cx="2200218" cy="103848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kumimoji="1" lang="en-US" altLang="zh-CN" sz="2400" i="1" smtClean="0">
                          <a:latin typeface="Cambria Math" panose="02040503050406030204" pitchFamily="18" charset="0"/>
                        </a:rPr>
                        <m:t>s</m:t>
                      </m:r>
                      <m:r>
                        <a:rPr kumimoji="1" lang="en-US" altLang="zh-CN" sz="2400" b="0" i="1" smtClean="0">
                          <a:latin typeface="Cambria Math" panose="02040503050406030204" pitchFamily="18" charset="0"/>
                        </a:rPr>
                        <m:t>.</m:t>
                      </m:r>
                      <m:r>
                        <a:rPr kumimoji="1" lang="en-US" altLang="zh-CN" sz="2400" b="0" i="1" smtClean="0">
                          <a:latin typeface="Cambria Math" panose="02040503050406030204" pitchFamily="18" charset="0"/>
                        </a:rPr>
                        <m:t>𝑡</m:t>
                      </m:r>
                      <m:r>
                        <a:rPr kumimoji="1" lang="en-US" altLang="zh-CN" sz="2400" b="0" i="1" smtClean="0">
                          <a:latin typeface="Cambria Math" panose="02040503050406030204" pitchFamily="18" charset="0"/>
                        </a:rPr>
                        <m:t>.</m:t>
                      </m:r>
                      <m:r>
                        <a:rPr kumimoji="1" lang="zh-CN" altLang="en-US" sz="2400" b="0" i="1" smtClean="0">
                          <a:latin typeface="Cambria Math" panose="02040503050406030204" pitchFamily="18" charset="0"/>
                        </a:rPr>
                        <m:t>  </m:t>
                      </m:r>
                      <m:nary>
                        <m:naryPr>
                          <m:chr m:val="∑"/>
                          <m:ctrlPr>
                            <a:rPr kumimoji="1" lang="en-US" altLang="zh-CN" sz="2400" b="0" i="1" smtClean="0">
                              <a:latin typeface="Cambria Math" panose="02040503050406030204" pitchFamily="18" charset="0"/>
                            </a:rPr>
                          </m:ctrlPr>
                        </m:naryPr>
                        <m:sub>
                          <m:r>
                            <m:rPr>
                              <m:brk m:alnAt="23"/>
                            </m:rPr>
                            <a:rPr kumimoji="1" lang="en-US" altLang="zh-CN" sz="2400" b="0" i="1" smtClean="0">
                              <a:latin typeface="Cambria Math" panose="02040503050406030204" pitchFamily="18" charset="0"/>
                            </a:rPr>
                            <m:t>𝑖</m:t>
                          </m:r>
                          <m:r>
                            <a:rPr kumimoji="1" lang="en-US" altLang="zh-CN" sz="2400" b="0" i="1" smtClean="0">
                              <a:latin typeface="Cambria Math" panose="02040503050406030204" pitchFamily="18" charset="0"/>
                            </a:rPr>
                            <m:t>=1</m:t>
                          </m:r>
                        </m:sub>
                        <m:sup>
                          <m:r>
                            <a:rPr kumimoji="1" lang="en-US" altLang="zh-CN" sz="2400" b="0" i="1" smtClean="0">
                              <a:latin typeface="Cambria Math" panose="02040503050406030204" pitchFamily="18" charset="0"/>
                            </a:rPr>
                            <m:t>𝑁</m:t>
                          </m:r>
                        </m:sup>
                        <m:e>
                          <m:sSub>
                            <m:sSubPr>
                              <m:ctrlPr>
                                <a:rPr kumimoji="1" lang="en-US" altLang="zh-CN" sz="2400" i="1">
                                  <a:latin typeface="Cambria Math" panose="02040503050406030204" pitchFamily="18" charset="0"/>
                                </a:rPr>
                              </m:ctrlPr>
                            </m:sSubPr>
                            <m:e>
                              <m:r>
                                <a:rPr kumimoji="1" lang="en-US" altLang="zh-CN" sz="2400" i="1">
                                  <a:latin typeface="Cambria Math" panose="02040503050406030204" pitchFamily="18" charset="0"/>
                                  <a:ea typeface="Cambria Math" panose="02040503050406030204" pitchFamily="18" charset="0"/>
                                </a:rPr>
                                <m:t>𝛼</m:t>
                              </m:r>
                            </m:e>
                            <m:sub>
                              <m:r>
                                <a:rPr kumimoji="1" lang="en-US" altLang="zh-CN" sz="2400" i="1">
                                  <a:latin typeface="Cambria Math" panose="02040503050406030204" pitchFamily="18" charset="0"/>
                                </a:rPr>
                                <m:t>𝑖</m:t>
                              </m:r>
                            </m:sub>
                          </m:sSub>
                          <m:sSub>
                            <m:sSubPr>
                              <m:ctrlPr>
                                <a:rPr kumimoji="1" lang="en-US" altLang="zh-CN" sz="2400" i="1">
                                  <a:latin typeface="Cambria Math" panose="02040503050406030204" pitchFamily="18" charset="0"/>
                                </a:rPr>
                              </m:ctrlPr>
                            </m:sSubPr>
                            <m:e>
                              <m:r>
                                <a:rPr kumimoji="1" lang="en-US" altLang="zh-CN" sz="2400" b="0" i="1" smtClean="0">
                                  <a:latin typeface="Cambria Math" panose="02040503050406030204" pitchFamily="18" charset="0"/>
                                </a:rPr>
                                <m:t>𝑦</m:t>
                              </m:r>
                            </m:e>
                            <m:sub>
                              <m:r>
                                <a:rPr kumimoji="1" lang="en-US" altLang="zh-CN" sz="2400" i="1">
                                  <a:latin typeface="Cambria Math" panose="02040503050406030204" pitchFamily="18" charset="0"/>
                                </a:rPr>
                                <m:t>𝑖</m:t>
                              </m:r>
                            </m:sub>
                          </m:sSub>
                          <m:r>
                            <a:rPr kumimoji="1" lang="en-US" altLang="zh-CN" sz="2400" b="0" i="1" smtClean="0">
                              <a:latin typeface="Cambria Math" panose="02040503050406030204" pitchFamily="18" charset="0"/>
                            </a:rPr>
                            <m:t>=0</m:t>
                          </m:r>
                        </m:e>
                      </m:nary>
                    </m:oMath>
                  </m:oMathPara>
                </a14:m>
                <a:endParaRPr kumimoji="1" lang="zh-CN" altLang="en-US" sz="2400" dirty="0"/>
              </a:p>
            </p:txBody>
          </p:sp>
        </mc:Choice>
        <mc:Fallback xmlns="">
          <p:sp>
            <p:nvSpPr>
              <p:cNvPr id="4" name="文本框 3">
                <a:extLst>
                  <a:ext uri="{FF2B5EF4-FFF2-40B4-BE49-F238E27FC236}">
                    <a16:creationId xmlns:a16="http://schemas.microsoft.com/office/drawing/2014/main" id="{50FB2017-CD3F-7952-6B9B-EAD6452B43FB}"/>
                  </a:ext>
                </a:extLst>
              </p:cNvPr>
              <p:cNvSpPr txBox="1">
                <a:spLocks noRot="1" noChangeAspect="1" noMove="1" noResize="1" noEditPoints="1" noAdjustHandles="1" noChangeArrowheads="1" noChangeShapeType="1" noTextEdit="1"/>
              </p:cNvSpPr>
              <p:nvPr/>
            </p:nvSpPr>
            <p:spPr>
              <a:xfrm>
                <a:off x="1225313" y="5288558"/>
                <a:ext cx="2200218" cy="1038489"/>
              </a:xfrm>
              <a:prstGeom prst="rect">
                <a:avLst/>
              </a:prstGeom>
              <a:blipFill>
                <a:blip r:embed="rId6"/>
                <a:stretch>
                  <a:fillRect l="-25862" t="-114458" r="-2874" b="-17469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632CAC64-B5DD-650E-098F-DB73EFFC35F9}"/>
                  </a:ext>
                </a:extLst>
              </p:cNvPr>
              <p:cNvSpPr txBox="1"/>
              <p:nvPr/>
            </p:nvSpPr>
            <p:spPr>
              <a:xfrm>
                <a:off x="3601057" y="5612138"/>
                <a:ext cx="4572000"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2400" i="1" smtClean="0">
                              <a:latin typeface="Cambria Math" panose="02040503050406030204" pitchFamily="18" charset="0"/>
                            </a:rPr>
                          </m:ctrlPr>
                        </m:sSubPr>
                        <m:e>
                          <m:r>
                            <a:rPr kumimoji="1" lang="en-US" altLang="zh-CN" sz="2400" b="0" i="1" smtClean="0">
                              <a:latin typeface="Cambria Math" panose="02040503050406030204" pitchFamily="18" charset="0"/>
                            </a:rPr>
                            <m:t>0</m:t>
                          </m:r>
                          <m:r>
                            <a:rPr kumimoji="1" lang="en-US" altLang="zh-CN" sz="2400" i="1" smtClean="0">
                              <a:latin typeface="Cambria Math" panose="02040503050406030204" pitchFamily="18" charset="0"/>
                              <a:ea typeface="Cambria Math" panose="02040503050406030204" pitchFamily="18" charset="0"/>
                            </a:rPr>
                            <m:t>≤</m:t>
                          </m:r>
                          <m:r>
                            <a:rPr kumimoji="1" lang="en-US" altLang="zh-CN" sz="2400" i="1">
                              <a:latin typeface="Cambria Math" panose="02040503050406030204" pitchFamily="18" charset="0"/>
                              <a:ea typeface="Cambria Math" panose="02040503050406030204" pitchFamily="18" charset="0"/>
                            </a:rPr>
                            <m:t>𝛼</m:t>
                          </m:r>
                        </m:e>
                        <m:sub>
                          <m:r>
                            <a:rPr kumimoji="1" lang="en-US" altLang="zh-CN" sz="2400" i="1">
                              <a:latin typeface="Cambria Math" panose="02040503050406030204" pitchFamily="18" charset="0"/>
                            </a:rPr>
                            <m:t>𝑖</m:t>
                          </m:r>
                        </m:sub>
                      </m:sSub>
                      <m:r>
                        <a:rPr kumimoji="1" lang="en-US" altLang="zh-CN" sz="2400" i="1" smtClean="0">
                          <a:latin typeface="Cambria Math" panose="02040503050406030204" pitchFamily="18" charset="0"/>
                          <a:ea typeface="Cambria Math" panose="02040503050406030204" pitchFamily="18" charset="0"/>
                        </a:rPr>
                        <m:t>≤</m:t>
                      </m:r>
                      <m:r>
                        <a:rPr kumimoji="1" lang="en-US" altLang="zh-CN" sz="2400" b="0" i="1" smtClean="0">
                          <a:latin typeface="Cambria Math" panose="02040503050406030204" pitchFamily="18" charset="0"/>
                          <a:ea typeface="Cambria Math" panose="02040503050406030204" pitchFamily="18" charset="0"/>
                        </a:rPr>
                        <m:t>𝐶</m:t>
                      </m:r>
                      <m:r>
                        <a:rPr kumimoji="1" lang="en-US" altLang="zh-CN" sz="2400" b="0" i="1" smtClean="0">
                          <a:latin typeface="Cambria Math" panose="02040503050406030204" pitchFamily="18" charset="0"/>
                          <a:ea typeface="Cambria Math" panose="02040503050406030204" pitchFamily="18" charset="0"/>
                        </a:rPr>
                        <m:t>,</m:t>
                      </m:r>
                      <m:r>
                        <a:rPr kumimoji="1" lang="zh-CN" altLang="en-US" sz="2400" b="0" i="1" smtClean="0">
                          <a:latin typeface="Cambria Math" panose="02040503050406030204" pitchFamily="18" charset="0"/>
                          <a:ea typeface="Cambria Math" panose="02040503050406030204" pitchFamily="18" charset="0"/>
                        </a:rPr>
                        <m:t>  </m:t>
                      </m:r>
                      <m:r>
                        <a:rPr kumimoji="1" lang="en-US" altLang="zh-CN" sz="2400" b="0" i="1" smtClean="0">
                          <a:latin typeface="Cambria Math" panose="02040503050406030204" pitchFamily="18" charset="0"/>
                          <a:ea typeface="Cambria Math" panose="02040503050406030204" pitchFamily="18" charset="0"/>
                        </a:rPr>
                        <m:t>𝑖</m:t>
                      </m:r>
                      <m:r>
                        <a:rPr kumimoji="1" lang="en-US" altLang="zh-CN" sz="2400" b="0" i="1" smtClean="0">
                          <a:latin typeface="Cambria Math" panose="02040503050406030204" pitchFamily="18" charset="0"/>
                          <a:ea typeface="Cambria Math" panose="02040503050406030204" pitchFamily="18" charset="0"/>
                        </a:rPr>
                        <m:t>=1,2,…,</m:t>
                      </m:r>
                      <m:r>
                        <a:rPr kumimoji="1" lang="en-US" altLang="zh-CN" sz="2400" b="0" i="1" smtClean="0">
                          <a:latin typeface="Cambria Math" panose="02040503050406030204" pitchFamily="18" charset="0"/>
                          <a:ea typeface="Cambria Math" panose="02040503050406030204" pitchFamily="18" charset="0"/>
                        </a:rPr>
                        <m:t>𝑁</m:t>
                      </m:r>
                    </m:oMath>
                  </m:oMathPara>
                </a14:m>
                <a:endParaRPr lang="zh-CN" altLang="en-US" sz="2400" dirty="0"/>
              </a:p>
            </p:txBody>
          </p:sp>
        </mc:Choice>
        <mc:Fallback xmlns="">
          <p:sp>
            <p:nvSpPr>
              <p:cNvPr id="8" name="文本框 7">
                <a:extLst>
                  <a:ext uri="{FF2B5EF4-FFF2-40B4-BE49-F238E27FC236}">
                    <a16:creationId xmlns:a16="http://schemas.microsoft.com/office/drawing/2014/main" id="{632CAC64-B5DD-650E-098F-DB73EFFC35F9}"/>
                  </a:ext>
                </a:extLst>
              </p:cNvPr>
              <p:cNvSpPr txBox="1">
                <a:spLocks noRot="1" noChangeAspect="1" noMove="1" noResize="1" noEditPoints="1" noAdjustHandles="1" noChangeArrowheads="1" noChangeShapeType="1" noTextEdit="1"/>
              </p:cNvSpPr>
              <p:nvPr/>
            </p:nvSpPr>
            <p:spPr>
              <a:xfrm>
                <a:off x="3601057" y="5612138"/>
                <a:ext cx="4572000" cy="461665"/>
              </a:xfrm>
              <a:prstGeom prst="rect">
                <a:avLst/>
              </a:prstGeom>
              <a:blipFill>
                <a:blip r:embed="rId7"/>
                <a:stretch>
                  <a:fillRect/>
                </a:stretch>
              </a:blipFill>
            </p:spPr>
            <p:txBody>
              <a:bodyPr/>
              <a:lstStyle/>
              <a:p>
                <a:r>
                  <a:rPr lang="zh-CN" altLang="en-US">
                    <a:noFill/>
                  </a:rPr>
                  <a:t> </a:t>
                </a:r>
              </a:p>
            </p:txBody>
          </p:sp>
        </mc:Fallback>
      </mc:AlternateContent>
      <p:sp>
        <p:nvSpPr>
          <p:cNvPr id="9" name="文本框 8">
            <a:extLst>
              <a:ext uri="{FF2B5EF4-FFF2-40B4-BE49-F238E27FC236}">
                <a16:creationId xmlns:a16="http://schemas.microsoft.com/office/drawing/2014/main" id="{289C741A-0114-5A0A-A690-BD249121B184}"/>
              </a:ext>
            </a:extLst>
          </p:cNvPr>
          <p:cNvSpPr txBox="1"/>
          <p:nvPr/>
        </p:nvSpPr>
        <p:spPr>
          <a:xfrm>
            <a:off x="990365" y="3555034"/>
            <a:ext cx="5211683" cy="523220"/>
          </a:xfrm>
          <a:prstGeom prst="rect">
            <a:avLst/>
          </a:prstGeom>
          <a:noFill/>
        </p:spPr>
        <p:txBody>
          <a:bodyPr wrap="none" rtlCol="0">
            <a:spAutoFit/>
          </a:bodyPr>
          <a:lstStyle/>
          <a:p>
            <a:r>
              <a:rPr kumimoji="1" lang="zh-CN" altLang="en-US" sz="2800" dirty="0"/>
              <a:t>非线性支持向量机的对偶问题：</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dirty="0"/>
              <a:t>核函数</a:t>
            </a:r>
          </a:p>
        </p:txBody>
      </p:sp>
      <p:sp>
        <p:nvSpPr>
          <p:cNvPr id="40965" name="灯片编号占位符 3"/>
          <p:cNvSpPr>
            <a:spLocks noGrp="1"/>
          </p:cNvSpPr>
          <p:nvPr>
            <p:ph type="sldNum" sz="quarter" idx="12"/>
          </p:nvPr>
        </p:nvSpPr>
        <p:spPr>
          <a:noFill/>
        </p:spPr>
        <p:txBody>
          <a:bodyPr/>
          <a:lstStyle/>
          <a:p>
            <a:fld id="{DE549B96-B3F7-45F2-859C-CF129E8A53B9}" type="slidenum">
              <a:rPr lang="en-US" altLang="zh-CN" smtClean="0">
                <a:ea typeface="黑体" pitchFamily="49" charset="-122"/>
              </a:rPr>
              <a:pPr/>
              <a:t>56</a:t>
            </a:fld>
            <a:endParaRPr lang="en-US" altLang="zh-CN">
              <a:ea typeface="黑体" pitchFamily="49" charset="-122"/>
            </a:endParaRPr>
          </a:p>
        </p:txBody>
      </p:sp>
      <p:graphicFrame>
        <p:nvGraphicFramePr>
          <p:cNvPr id="40962" name="Object 5" descr="羊皮纸"/>
          <p:cNvGraphicFramePr>
            <a:graphicFrameLocks noChangeAspect="1"/>
          </p:cNvGraphicFramePr>
          <p:nvPr/>
        </p:nvGraphicFramePr>
        <p:xfrm>
          <a:off x="852488" y="2153897"/>
          <a:ext cx="7893050" cy="3198812"/>
        </p:xfrm>
        <a:graphic>
          <a:graphicData uri="http://schemas.openxmlformats.org/presentationml/2006/ole">
            <mc:AlternateContent xmlns:mc="http://schemas.openxmlformats.org/markup-compatibility/2006">
              <mc:Choice xmlns:v="urn:schemas-microsoft-com:vml" Requires="v">
                <p:oleObj name="公式" r:id="rId3" imgW="2857320" imgH="1155600" progId="Equation.3">
                  <p:embed/>
                </p:oleObj>
              </mc:Choice>
              <mc:Fallback>
                <p:oleObj name="公式" r:id="rId3" imgW="2857320" imgH="11556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2488" y="2153897"/>
                        <a:ext cx="7893050" cy="31988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8" name="灯片编号占位符 3"/>
          <p:cNvSpPr>
            <a:spLocks noGrp="1"/>
          </p:cNvSpPr>
          <p:nvPr>
            <p:ph type="sldNum" sz="quarter" idx="12"/>
          </p:nvPr>
        </p:nvSpPr>
        <p:spPr>
          <a:noFill/>
        </p:spPr>
        <p:txBody>
          <a:bodyPr/>
          <a:lstStyle/>
          <a:p>
            <a:fld id="{7E0E0AB9-A00B-4D51-BAE6-45FD92FE27CD}" type="slidenum">
              <a:rPr lang="en-US" altLang="zh-CN" smtClean="0">
                <a:ea typeface="黑体" pitchFamily="49" charset="-122"/>
              </a:rPr>
              <a:pPr/>
              <a:t>57</a:t>
            </a:fld>
            <a:endParaRPr lang="en-US" altLang="zh-CN">
              <a:ea typeface="黑体" pitchFamily="49" charset="-122"/>
            </a:endParaRPr>
          </a:p>
        </p:txBody>
      </p:sp>
      <p:graphicFrame>
        <p:nvGraphicFramePr>
          <p:cNvPr id="41986" name="Object 5" descr="羊皮纸"/>
          <p:cNvGraphicFramePr>
            <a:graphicFrameLocks noChangeAspect="1"/>
          </p:cNvGraphicFramePr>
          <p:nvPr/>
        </p:nvGraphicFramePr>
        <p:xfrm>
          <a:off x="469900" y="863600"/>
          <a:ext cx="8180388" cy="5214938"/>
        </p:xfrm>
        <a:graphic>
          <a:graphicData uri="http://schemas.openxmlformats.org/presentationml/2006/ole">
            <mc:AlternateContent xmlns:mc="http://schemas.openxmlformats.org/markup-compatibility/2006">
              <mc:Choice xmlns:v="urn:schemas-microsoft-com:vml" Requires="v">
                <p:oleObj name="公式" r:id="rId3" imgW="3454200" imgH="2197080" progId="Equation.3">
                  <p:embed/>
                </p:oleObj>
              </mc:Choice>
              <mc:Fallback>
                <p:oleObj name="公式" r:id="rId3" imgW="3454200" imgH="219708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9900" y="863600"/>
                        <a:ext cx="8180388" cy="52149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3010" name="Object 5" descr="羊皮纸"/>
              <p:cNvSpPr txBox="1"/>
              <p:nvPr/>
            </p:nvSpPr>
            <p:spPr bwMode="auto">
              <a:xfrm>
                <a:off x="1071173" y="859772"/>
                <a:ext cx="6548438" cy="4785415"/>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非线性支持向量机算法：</m:t>
                      </m:r>
                    </m:oMath>
                    <m:oMath xmlns:m="http://schemas.openxmlformats.org/officeDocument/2006/math">
                      <m:limLow>
                        <m:limLowPr>
                          <m:ctrlPr>
                            <a:rPr lang="zh-CN" altLang="en-US" sz="2800" i="1">
                              <a:solidFill>
                                <a:srgbClr val="000000"/>
                              </a:solidFill>
                              <a:latin typeface="Cambria Math" panose="02040503050406030204" pitchFamily="18" charset="0"/>
                            </a:rPr>
                          </m:ctrlPr>
                        </m:limLowPr>
                        <m:e>
                          <m:r>
                            <m:rPr>
                              <m:sty m:val="p"/>
                            </m:rPr>
                            <a:rPr lang="zh-CN" altLang="en-US" sz="2800" i="0">
                              <a:solidFill>
                                <a:srgbClr val="000000"/>
                              </a:solidFill>
                              <a:latin typeface="Cambria Math" panose="02040503050406030204" pitchFamily="18" charset="0"/>
                            </a:rPr>
                            <m:t>min</m:t>
                          </m:r>
                        </m:e>
                        <m:lim>
                          <m:r>
                            <a:rPr lang="zh-CN" altLang="en-US" sz="2800" i="1">
                              <a:solidFill>
                                <a:srgbClr val="000000"/>
                              </a:solidFill>
                              <a:latin typeface="Cambria Math" panose="02040503050406030204" pitchFamily="18" charset="0"/>
                            </a:rPr>
                            <m:t>𝛼</m:t>
                          </m:r>
                        </m:lim>
                      </m:limLow>
                      <m:r>
                        <a:rPr lang="zh-CN" altLang="en-US" sz="2800" i="1">
                          <a:solidFill>
                            <a:srgbClr val="000000"/>
                          </a:solidFill>
                          <a:latin typeface="Cambria Math" panose="02040503050406030204" pitchFamily="18" charset="0"/>
                        </a:rPr>
                        <m:t> </m:t>
                      </m:r>
                      <m:f>
                        <m:fPr>
                          <m:ctrlPr>
                            <a:rPr lang="zh-CN" altLang="en-US" sz="2800" i="1">
                              <a:solidFill>
                                <a:srgbClr val="000000"/>
                              </a:solidFill>
                              <a:latin typeface="Cambria Math" panose="02040503050406030204" pitchFamily="18" charset="0"/>
                            </a:rPr>
                          </m:ctrlPr>
                        </m:fPr>
                        <m:num>
                          <m:r>
                            <a:rPr lang="zh-CN" altLang="en-US" sz="2800" i="1">
                              <a:solidFill>
                                <a:srgbClr val="000000"/>
                              </a:solidFill>
                              <a:latin typeface="Cambria Math" panose="02040503050406030204" pitchFamily="18" charset="0"/>
                            </a:rPr>
                            <m:t>1</m:t>
                          </m:r>
                        </m:num>
                        <m:den>
                          <m:r>
                            <a:rPr lang="zh-CN" altLang="en-US" sz="2800" i="1">
                              <a:solidFill>
                                <a:srgbClr val="000000"/>
                              </a:solidFill>
                              <a:latin typeface="Cambria Math" panose="02040503050406030204" pitchFamily="18" charset="0"/>
                            </a:rPr>
                            <m:t>2</m:t>
                          </m:r>
                        </m:den>
                      </m:f>
                      <m:nary>
                        <m:naryPr>
                          <m:chr m:val="∑"/>
                          <m:ctrlPr>
                            <a:rPr lang="zh-CN" altLang="en-US" sz="2800" i="1">
                              <a:solidFill>
                                <a:srgbClr val="000000"/>
                              </a:solidFill>
                              <a:latin typeface="Cambria Math" panose="02040503050406030204" pitchFamily="18" charset="0"/>
                            </a:rPr>
                          </m:ctrlPr>
                        </m:naryPr>
                        <m:sub>
                          <m:r>
                            <a:rPr lang="zh-CN" altLang="en-US" sz="2800" i="1">
                              <a:solidFill>
                                <a:srgbClr val="000000"/>
                              </a:solidFill>
                              <a:latin typeface="Cambria Math" panose="02040503050406030204" pitchFamily="18" charset="0"/>
                            </a:rPr>
                            <m:t>𝑖</m:t>
                          </m:r>
                          <m:r>
                            <a:rPr lang="zh-CN" altLang="en-US" sz="2800" i="1">
                              <a:solidFill>
                                <a:srgbClr val="000000"/>
                              </a:solidFill>
                              <a:latin typeface="Cambria Math" panose="02040503050406030204" pitchFamily="18" charset="0"/>
                            </a:rPr>
                            <m:t>=1</m:t>
                          </m:r>
                        </m:sub>
                        <m:sup>
                          <m:r>
                            <a:rPr lang="zh-CN" altLang="en-US" sz="2800" i="1">
                              <a:solidFill>
                                <a:srgbClr val="000000"/>
                              </a:solidFill>
                              <a:latin typeface="Cambria Math" panose="02040503050406030204" pitchFamily="18" charset="0"/>
                            </a:rPr>
                            <m:t>𝑁</m:t>
                          </m:r>
                        </m:sup>
                        <m:e>
                          <m:nary>
                            <m:naryPr>
                              <m:chr m:val="∑"/>
                              <m:ctrlPr>
                                <a:rPr lang="zh-CN" altLang="en-US" sz="2800" i="1">
                                  <a:solidFill>
                                    <a:srgbClr val="000000"/>
                                  </a:solidFill>
                                  <a:latin typeface="Cambria Math" panose="02040503050406030204" pitchFamily="18" charset="0"/>
                                </a:rPr>
                              </m:ctrlPr>
                            </m:naryPr>
                            <m:sub>
                              <m:r>
                                <a:rPr lang="zh-CN" altLang="en-US" sz="2800" i="1">
                                  <a:solidFill>
                                    <a:srgbClr val="000000"/>
                                  </a:solidFill>
                                  <a:latin typeface="Cambria Math" panose="02040503050406030204" pitchFamily="18" charset="0"/>
                                </a:rPr>
                                <m:t>𝑗</m:t>
                              </m:r>
                              <m:r>
                                <a:rPr lang="zh-CN" altLang="en-US" sz="2800" i="1">
                                  <a:solidFill>
                                    <a:srgbClr val="000000"/>
                                  </a:solidFill>
                                  <a:latin typeface="Cambria Math" panose="02040503050406030204" pitchFamily="18" charset="0"/>
                                </a:rPr>
                                <m:t>=1</m:t>
                              </m:r>
                            </m:sub>
                            <m:sup>
                              <m:r>
                                <a:rPr lang="zh-CN" altLang="en-US" sz="2800" i="1">
                                  <a:solidFill>
                                    <a:srgbClr val="000000"/>
                                  </a:solidFill>
                                  <a:latin typeface="Cambria Math" panose="02040503050406030204" pitchFamily="18" charset="0"/>
                                </a:rPr>
                                <m:t>𝑁</m:t>
                              </m:r>
                            </m:sup>
                            <m:e>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𝛼</m:t>
                                  </m:r>
                                </m:e>
                                <m:sub>
                                  <m:r>
                                    <a:rPr lang="zh-CN" altLang="en-US" sz="2800" i="1">
                                      <a:solidFill>
                                        <a:srgbClr val="000000"/>
                                      </a:solidFill>
                                      <a:latin typeface="Cambria Math" panose="02040503050406030204" pitchFamily="18" charset="0"/>
                                    </a:rPr>
                                    <m:t>𝑖</m:t>
                                  </m:r>
                                </m:sub>
                              </m:sSub>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𝛼</m:t>
                                  </m:r>
                                </m:e>
                                <m:sub>
                                  <m:r>
                                    <a:rPr lang="zh-CN" altLang="en-US" sz="2800" i="1">
                                      <a:solidFill>
                                        <a:srgbClr val="000000"/>
                                      </a:solidFill>
                                      <a:latin typeface="Cambria Math" panose="02040503050406030204" pitchFamily="18" charset="0"/>
                                    </a:rPr>
                                    <m:t>𝑗</m:t>
                                  </m:r>
                                </m:sub>
                              </m:sSub>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𝑦</m:t>
                                  </m:r>
                                </m:e>
                                <m:sub>
                                  <m:r>
                                    <a:rPr lang="zh-CN" altLang="en-US" sz="2800" i="1">
                                      <a:solidFill>
                                        <a:srgbClr val="000000"/>
                                      </a:solidFill>
                                      <a:latin typeface="Cambria Math" panose="02040503050406030204" pitchFamily="18" charset="0"/>
                                    </a:rPr>
                                    <m:t>𝑖</m:t>
                                  </m:r>
                                </m:sub>
                              </m:sSub>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𝑦</m:t>
                                  </m:r>
                                </m:e>
                                <m:sub>
                                  <m:r>
                                    <a:rPr lang="zh-CN" altLang="en-US" sz="2800" i="1">
                                      <a:solidFill>
                                        <a:srgbClr val="000000"/>
                                      </a:solidFill>
                                      <a:latin typeface="Cambria Math" panose="02040503050406030204" pitchFamily="18" charset="0"/>
                                    </a:rPr>
                                    <m:t>𝑗</m:t>
                                  </m:r>
                                </m:sub>
                              </m:sSub>
                              <m:r>
                                <a:rPr lang="zh-CN" altLang="en-US" sz="2800" i="1">
                                  <a:solidFill>
                                    <a:srgbClr val="000000"/>
                                  </a:solidFill>
                                  <a:latin typeface="Cambria Math" panose="02040503050406030204" pitchFamily="18" charset="0"/>
                                </a:rPr>
                                <m:t>𝐾</m:t>
                              </m:r>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𝑥</m:t>
                                  </m:r>
                                </m:e>
                                <m:sub>
                                  <m:r>
                                    <a:rPr lang="zh-CN" altLang="en-US" sz="2800" i="1">
                                      <a:solidFill>
                                        <a:srgbClr val="000000"/>
                                      </a:solidFill>
                                      <a:latin typeface="Cambria Math" panose="02040503050406030204" pitchFamily="18" charset="0"/>
                                    </a:rPr>
                                    <m:t>𝑖</m:t>
                                  </m:r>
                                </m:sub>
                              </m:sSub>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𝑥</m:t>
                                  </m:r>
                                </m:e>
                                <m:sub>
                                  <m:r>
                                    <a:rPr lang="zh-CN" altLang="en-US" sz="2800" i="1">
                                      <a:solidFill>
                                        <a:srgbClr val="000000"/>
                                      </a:solidFill>
                                      <a:latin typeface="Cambria Math" panose="02040503050406030204" pitchFamily="18" charset="0"/>
                                    </a:rPr>
                                    <m:t>𝑗</m:t>
                                  </m:r>
                                </m:sub>
                              </m:sSub>
                              <m:r>
                                <a:rPr lang="zh-CN" altLang="en-US" sz="2800" i="1">
                                  <a:solidFill>
                                    <a:srgbClr val="000000"/>
                                  </a:solidFill>
                                  <a:latin typeface="Cambria Math" panose="02040503050406030204" pitchFamily="18" charset="0"/>
                                </a:rPr>
                                <m:t>)−</m:t>
                              </m:r>
                              <m:nary>
                                <m:naryPr>
                                  <m:chr m:val="∑"/>
                                  <m:ctrlPr>
                                    <a:rPr lang="zh-CN" altLang="en-US" sz="2800" i="1">
                                      <a:solidFill>
                                        <a:srgbClr val="000000"/>
                                      </a:solidFill>
                                      <a:latin typeface="Cambria Math" panose="02040503050406030204" pitchFamily="18" charset="0"/>
                                    </a:rPr>
                                  </m:ctrlPr>
                                </m:naryPr>
                                <m:sub>
                                  <m:r>
                                    <a:rPr lang="zh-CN" altLang="en-US" sz="2800" i="1">
                                      <a:solidFill>
                                        <a:srgbClr val="000000"/>
                                      </a:solidFill>
                                      <a:latin typeface="Cambria Math" panose="02040503050406030204" pitchFamily="18" charset="0"/>
                                    </a:rPr>
                                    <m:t>𝑖</m:t>
                                  </m:r>
                                  <m:r>
                                    <a:rPr lang="zh-CN" altLang="en-US" sz="2800" i="1">
                                      <a:solidFill>
                                        <a:srgbClr val="000000"/>
                                      </a:solidFill>
                                      <a:latin typeface="Cambria Math" panose="02040503050406030204" pitchFamily="18" charset="0"/>
                                    </a:rPr>
                                    <m:t>=1</m:t>
                                  </m:r>
                                </m:sub>
                                <m:sup>
                                  <m:r>
                                    <a:rPr lang="zh-CN" altLang="en-US" sz="2800" i="1">
                                      <a:solidFill>
                                        <a:srgbClr val="000000"/>
                                      </a:solidFill>
                                      <a:latin typeface="Cambria Math" panose="02040503050406030204" pitchFamily="18" charset="0"/>
                                    </a:rPr>
                                    <m:t>𝑁</m:t>
                                  </m:r>
                                </m:sup>
                                <m:e>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𝛼</m:t>
                                      </m:r>
                                    </m:e>
                                    <m:sub>
                                      <m:r>
                                        <a:rPr lang="zh-CN" altLang="en-US" sz="2800" i="1">
                                          <a:solidFill>
                                            <a:srgbClr val="000000"/>
                                          </a:solidFill>
                                          <a:latin typeface="Cambria Math" panose="02040503050406030204" pitchFamily="18" charset="0"/>
                                        </a:rPr>
                                        <m:t>𝑖</m:t>
                                      </m:r>
                                    </m:sub>
                                  </m:sSub>
                                </m:e>
                              </m:nary>
                            </m:e>
                          </m:nary>
                        </m:e>
                      </m:nary>
                    </m:oMath>
                    <m:oMath xmlns:m="http://schemas.openxmlformats.org/officeDocument/2006/math">
                      <m:r>
                        <a:rPr lang="zh-CN" altLang="en-US" sz="2800" i="1">
                          <a:solidFill>
                            <a:srgbClr val="000000"/>
                          </a:solidFill>
                          <a:latin typeface="Cambria Math" panose="02040503050406030204" pitchFamily="18" charset="0"/>
                        </a:rPr>
                        <m:t>𝑠</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𝑡</m:t>
                      </m:r>
                      <m:r>
                        <a:rPr lang="zh-CN" altLang="en-US" sz="2800" i="1">
                          <a:solidFill>
                            <a:srgbClr val="000000"/>
                          </a:solidFill>
                          <a:latin typeface="Cambria Math" panose="02040503050406030204" pitchFamily="18" charset="0"/>
                        </a:rPr>
                        <m:t>.  </m:t>
                      </m:r>
                      <m:nary>
                        <m:naryPr>
                          <m:chr m:val="∑"/>
                          <m:ctrlPr>
                            <a:rPr lang="zh-CN" altLang="en-US" sz="2800" i="1">
                              <a:solidFill>
                                <a:srgbClr val="000000"/>
                              </a:solidFill>
                              <a:latin typeface="Cambria Math" panose="02040503050406030204" pitchFamily="18" charset="0"/>
                            </a:rPr>
                          </m:ctrlPr>
                        </m:naryPr>
                        <m:sub>
                          <m:r>
                            <a:rPr lang="zh-CN" altLang="en-US" sz="2800" i="1">
                              <a:solidFill>
                                <a:srgbClr val="000000"/>
                              </a:solidFill>
                              <a:latin typeface="Cambria Math" panose="02040503050406030204" pitchFamily="18" charset="0"/>
                            </a:rPr>
                            <m:t>𝑖</m:t>
                          </m:r>
                          <m:r>
                            <a:rPr lang="zh-CN" altLang="en-US" sz="2800" i="1">
                              <a:solidFill>
                                <a:srgbClr val="000000"/>
                              </a:solidFill>
                              <a:latin typeface="Cambria Math" panose="02040503050406030204" pitchFamily="18" charset="0"/>
                            </a:rPr>
                            <m:t>=1</m:t>
                          </m:r>
                        </m:sub>
                        <m:sup>
                          <m:r>
                            <a:rPr lang="zh-CN" altLang="en-US" sz="2800" i="1">
                              <a:solidFill>
                                <a:srgbClr val="000000"/>
                              </a:solidFill>
                              <a:latin typeface="Cambria Math" panose="02040503050406030204" pitchFamily="18" charset="0"/>
                            </a:rPr>
                            <m:t>𝑁</m:t>
                          </m:r>
                        </m:sup>
                        <m:e>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𝛼</m:t>
                              </m:r>
                            </m:e>
                            <m:sub>
                              <m:r>
                                <a:rPr lang="zh-CN" altLang="en-US" sz="2800" i="1">
                                  <a:solidFill>
                                    <a:srgbClr val="000000"/>
                                  </a:solidFill>
                                  <a:latin typeface="Cambria Math" panose="02040503050406030204" pitchFamily="18" charset="0"/>
                                </a:rPr>
                                <m:t>𝑖</m:t>
                              </m:r>
                            </m:sub>
                          </m:sSub>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𝑦</m:t>
                              </m:r>
                            </m:e>
                            <m:sub>
                              <m:r>
                                <a:rPr lang="zh-CN" altLang="en-US" sz="2800" i="1">
                                  <a:solidFill>
                                    <a:srgbClr val="000000"/>
                                  </a:solidFill>
                                  <a:latin typeface="Cambria Math" panose="02040503050406030204" pitchFamily="18" charset="0"/>
                                </a:rPr>
                                <m:t>𝑖</m:t>
                              </m:r>
                            </m:sub>
                          </m:sSub>
                        </m:e>
                      </m:nary>
                      <m:r>
                        <a:rPr lang="zh-CN" altLang="en-US" sz="2800" i="1">
                          <a:solidFill>
                            <a:srgbClr val="000000"/>
                          </a:solidFill>
                          <a:latin typeface="Cambria Math" panose="02040503050406030204" pitchFamily="18" charset="0"/>
                        </a:rPr>
                        <m:t>=0</m:t>
                      </m:r>
                    </m:oMath>
                    <m:oMath xmlns:m="http://schemas.openxmlformats.org/officeDocument/2006/math">
                      <m:r>
                        <a:rPr lang="zh-CN" altLang="en-US" sz="2800" i="1">
                          <a:solidFill>
                            <a:srgbClr val="000000"/>
                          </a:solidFill>
                          <a:latin typeface="Cambria Math" panose="02040503050406030204" pitchFamily="18" charset="0"/>
                        </a:rPr>
                        <m:t>      0≤</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𝛼</m:t>
                          </m:r>
                        </m:e>
                        <m:sub>
                          <m:r>
                            <a:rPr lang="zh-CN" altLang="en-US" sz="2800" i="1">
                              <a:solidFill>
                                <a:srgbClr val="000000"/>
                              </a:solidFill>
                              <a:latin typeface="Cambria Math" panose="02040503050406030204" pitchFamily="18" charset="0"/>
                            </a:rPr>
                            <m:t>𝑖</m:t>
                          </m:r>
                        </m:sub>
                      </m:sSub>
                      <m:r>
                        <a:rPr lang="zh-CN" altLang="en-US" sz="2800" i="1">
                          <a:solidFill>
                            <a:srgbClr val="000000"/>
                          </a:solidFill>
                          <a:latin typeface="Cambria Math" panose="02040503050406030204" pitchFamily="18" charset="0"/>
                        </a:rPr>
                        <m:t>≤</m:t>
                      </m:r>
                      <m:r>
                        <m:rPr>
                          <m:sty m:val="p"/>
                        </m:rPr>
                        <a:rPr lang="zh-CN" altLang="en-US" sz="2800" i="0">
                          <a:solidFill>
                            <a:srgbClr val="000000"/>
                          </a:solidFill>
                          <a:latin typeface="Cambria Math" panose="02040503050406030204" pitchFamily="18" charset="0"/>
                        </a:rPr>
                        <m:t>C</m:t>
                      </m:r>
                      <m:r>
                        <a:rPr lang="zh-CN" altLang="en-US" sz="2800" i="1">
                          <a:solidFill>
                            <a:srgbClr val="000000"/>
                          </a:solidFill>
                          <a:latin typeface="Cambria Math" panose="02040503050406030204" pitchFamily="18" charset="0"/>
                        </a:rPr>
                        <m:t>, </m:t>
                      </m:r>
                      <m:r>
                        <a:rPr lang="zh-CN" altLang="en-US" sz="2800" i="1">
                          <a:solidFill>
                            <a:srgbClr val="000000"/>
                          </a:solidFill>
                          <a:latin typeface="Cambria Math" panose="02040503050406030204" pitchFamily="18" charset="0"/>
                        </a:rPr>
                        <m:t>𝑖</m:t>
                      </m:r>
                      <m:r>
                        <a:rPr lang="zh-CN" altLang="en-US" sz="2800" i="1">
                          <a:solidFill>
                            <a:srgbClr val="000000"/>
                          </a:solidFill>
                          <a:latin typeface="Cambria Math" panose="02040503050406030204" pitchFamily="18" charset="0"/>
                        </a:rPr>
                        <m:t>=1,2,...,</m:t>
                      </m:r>
                      <m:r>
                        <a:rPr lang="zh-CN" altLang="en-US" sz="2800" i="1">
                          <a:solidFill>
                            <a:srgbClr val="000000"/>
                          </a:solidFill>
                          <a:latin typeface="Cambria Math" panose="02040503050406030204" pitchFamily="18" charset="0"/>
                        </a:rPr>
                        <m:t>𝑁</m:t>
                      </m:r>
                    </m:oMath>
                  </m:oMathPara>
                </a14:m>
                <a:br>
                  <a:rPr lang="zh-CN" altLang="en-US" sz="2800" i="1" dirty="0">
                    <a:solidFill>
                      <a:srgbClr val="000000"/>
                    </a:solidFill>
                    <a:latin typeface="Cambria Math" panose="02040503050406030204" pitchFamily="18" charset="0"/>
                  </a:rPr>
                </a:br>
                <a:endParaRPr lang="en-US" altLang="zh-CN" sz="2800" i="1" dirty="0">
                  <a:solidFill>
                    <a:srgbClr val="000000"/>
                  </a:solidFill>
                  <a:latin typeface="Cambria Math" panose="02040503050406030204" pitchFamily="18" charset="0"/>
                </a:endParaRPr>
              </a:p>
              <a:p>
                <a:endParaRPr lang="en-US" altLang="zh-CN" sz="2800" i="1" dirty="0">
                  <a:solidFill>
                    <a:srgbClr val="000000"/>
                  </a:solidFill>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求得最优解：</m:t>
                      </m:r>
                      <m:sSup>
                        <m:sSupPr>
                          <m:ctrlPr>
                            <a:rPr lang="zh-CN" altLang="en-US" sz="2800" i="1">
                              <a:solidFill>
                                <a:srgbClr val="000000"/>
                              </a:solidFill>
                              <a:latin typeface="Cambria Math" panose="02040503050406030204" pitchFamily="18" charset="0"/>
                            </a:rPr>
                          </m:ctrlPr>
                        </m:sSupPr>
                        <m:e>
                          <m:r>
                            <a:rPr lang="zh-CN" altLang="en-US" sz="2800" i="1">
                              <a:solidFill>
                                <a:srgbClr val="000000"/>
                              </a:solidFill>
                              <a:latin typeface="Cambria Math" panose="02040503050406030204" pitchFamily="18" charset="0"/>
                            </a:rPr>
                            <m:t>𝛼</m:t>
                          </m:r>
                        </m:e>
                        <m:sup>
                          <m:r>
                            <a:rPr lang="zh-CN" altLang="en-US" sz="2800" i="0">
                              <a:solidFill>
                                <a:srgbClr val="000000"/>
                              </a:solidFill>
                              <a:latin typeface="Cambria Math" panose="02040503050406030204" pitchFamily="18" charset="0"/>
                            </a:rPr>
                            <m:t>∗</m:t>
                          </m:r>
                        </m:sup>
                      </m:sSup>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m:t>
                      </m:r>
                      <m:sSubSup>
                        <m:sSubSupPr>
                          <m:ctrlPr>
                            <a:rPr lang="zh-CN" altLang="en-US" sz="2800" i="1">
                              <a:solidFill>
                                <a:srgbClr val="000000"/>
                              </a:solidFill>
                              <a:latin typeface="Cambria Math" panose="02040503050406030204" pitchFamily="18" charset="0"/>
                            </a:rPr>
                          </m:ctrlPr>
                        </m:sSubSupPr>
                        <m:e>
                          <m:r>
                            <a:rPr lang="zh-CN" altLang="en-US" sz="2800" i="1">
                              <a:solidFill>
                                <a:srgbClr val="000000"/>
                              </a:solidFill>
                              <a:latin typeface="Cambria Math" panose="02040503050406030204" pitchFamily="18" charset="0"/>
                            </a:rPr>
                            <m:t>𝛼</m:t>
                          </m:r>
                        </m:e>
                        <m:sub>
                          <m:r>
                            <a:rPr lang="zh-CN" altLang="en-US" sz="2800" i="1">
                              <a:solidFill>
                                <a:srgbClr val="000000"/>
                              </a:solidFill>
                              <a:latin typeface="Cambria Math" panose="02040503050406030204" pitchFamily="18" charset="0"/>
                            </a:rPr>
                            <m:t>1</m:t>
                          </m:r>
                        </m:sub>
                        <m:sup>
                          <m:r>
                            <a:rPr lang="zh-CN" altLang="en-US" sz="2800" i="0">
                              <a:solidFill>
                                <a:srgbClr val="000000"/>
                              </a:solidFill>
                              <a:latin typeface="Cambria Math" panose="02040503050406030204" pitchFamily="18" charset="0"/>
                            </a:rPr>
                            <m:t>∗</m:t>
                          </m:r>
                        </m:sup>
                      </m:sSubSup>
                      <m:r>
                        <a:rPr lang="zh-CN" altLang="en-US" sz="2800" i="1">
                          <a:solidFill>
                            <a:srgbClr val="000000"/>
                          </a:solidFill>
                          <a:latin typeface="Cambria Math" panose="02040503050406030204" pitchFamily="18" charset="0"/>
                        </a:rPr>
                        <m:t>，</m:t>
                      </m:r>
                      <m:sSubSup>
                        <m:sSubSupPr>
                          <m:ctrlPr>
                            <a:rPr lang="zh-CN" altLang="en-US" sz="2800" i="1">
                              <a:solidFill>
                                <a:srgbClr val="000000"/>
                              </a:solidFill>
                              <a:latin typeface="Cambria Math" panose="02040503050406030204" pitchFamily="18" charset="0"/>
                            </a:rPr>
                          </m:ctrlPr>
                        </m:sSubSupPr>
                        <m:e>
                          <m:r>
                            <a:rPr lang="zh-CN" altLang="en-US" sz="2800" i="1">
                              <a:solidFill>
                                <a:srgbClr val="000000"/>
                              </a:solidFill>
                              <a:latin typeface="Cambria Math" panose="02040503050406030204" pitchFamily="18" charset="0"/>
                            </a:rPr>
                            <m:t>𝛼</m:t>
                          </m:r>
                        </m:e>
                        <m:sub>
                          <m:r>
                            <a:rPr lang="zh-CN" altLang="en-US" sz="2800" i="1">
                              <a:solidFill>
                                <a:srgbClr val="000000"/>
                              </a:solidFill>
                              <a:latin typeface="Cambria Math" panose="02040503050406030204" pitchFamily="18" charset="0"/>
                            </a:rPr>
                            <m:t>2</m:t>
                          </m:r>
                        </m:sub>
                        <m:sup>
                          <m:r>
                            <a:rPr lang="zh-CN" altLang="en-US" sz="2800" i="0">
                              <a:solidFill>
                                <a:srgbClr val="000000"/>
                              </a:solidFill>
                              <a:latin typeface="Cambria Math" panose="02040503050406030204" pitchFamily="18" charset="0"/>
                            </a:rPr>
                            <m:t>∗</m:t>
                          </m:r>
                        </m:sup>
                      </m:sSubSup>
                      <m:r>
                        <a:rPr lang="zh-CN" altLang="en-US" sz="2800" i="1">
                          <a:solidFill>
                            <a:srgbClr val="000000"/>
                          </a:solidFill>
                          <a:latin typeface="Cambria Math" panose="02040503050406030204" pitchFamily="18" charset="0"/>
                        </a:rPr>
                        <m:t>,...,</m:t>
                      </m:r>
                      <m:sSubSup>
                        <m:sSubSupPr>
                          <m:ctrlPr>
                            <a:rPr lang="zh-CN" altLang="en-US" sz="2800" i="1">
                              <a:solidFill>
                                <a:srgbClr val="000000"/>
                              </a:solidFill>
                              <a:latin typeface="Cambria Math" panose="02040503050406030204" pitchFamily="18" charset="0"/>
                            </a:rPr>
                          </m:ctrlPr>
                        </m:sSubSupPr>
                        <m:e>
                          <m:r>
                            <a:rPr lang="zh-CN" altLang="en-US" sz="2800" i="1">
                              <a:solidFill>
                                <a:srgbClr val="000000"/>
                              </a:solidFill>
                              <a:latin typeface="Cambria Math" panose="02040503050406030204" pitchFamily="18" charset="0"/>
                            </a:rPr>
                            <m:t>𝛼</m:t>
                          </m:r>
                        </m:e>
                        <m:sub>
                          <m:r>
                            <a:rPr lang="zh-CN" altLang="en-US" sz="2800" i="1">
                              <a:solidFill>
                                <a:srgbClr val="000000"/>
                              </a:solidFill>
                              <a:latin typeface="Cambria Math" panose="02040503050406030204" pitchFamily="18" charset="0"/>
                            </a:rPr>
                            <m:t>𝑁</m:t>
                          </m:r>
                        </m:sub>
                        <m:sup>
                          <m:r>
                            <a:rPr lang="zh-CN" altLang="en-US" sz="2800" i="1">
                              <a:solidFill>
                                <a:srgbClr val="000000"/>
                              </a:solidFill>
                              <a:latin typeface="Cambria Math" panose="02040503050406030204" pitchFamily="18" charset="0"/>
                            </a:rPr>
                            <m:t>∗</m:t>
                          </m:r>
                        </m:sup>
                      </m:sSubSup>
                      <m:sSup>
                        <m:sSupPr>
                          <m:ctrlPr>
                            <a:rPr lang="zh-CN" altLang="en-US" sz="2800" i="1">
                              <a:solidFill>
                                <a:srgbClr val="000000"/>
                              </a:solidFill>
                              <a:latin typeface="Cambria Math" panose="02040503050406030204" pitchFamily="18" charset="0"/>
                            </a:rPr>
                          </m:ctrlPr>
                        </m:sSupPr>
                        <m:e>
                          <m:r>
                            <a:rPr lang="zh-CN" altLang="en-US" sz="2800" i="1">
                              <a:solidFill>
                                <a:srgbClr val="000000"/>
                              </a:solidFill>
                              <a:latin typeface="Cambria Math" panose="02040503050406030204" pitchFamily="18" charset="0"/>
                            </a:rPr>
                            <m:t>)</m:t>
                          </m:r>
                        </m:e>
                        <m:sup>
                          <m:r>
                            <a:rPr lang="zh-CN" altLang="en-US" sz="2800" i="1">
                              <a:solidFill>
                                <a:srgbClr val="000000"/>
                              </a:solidFill>
                              <a:latin typeface="Cambria Math" panose="02040503050406030204" pitchFamily="18" charset="0"/>
                            </a:rPr>
                            <m:t>𝑇</m:t>
                          </m:r>
                        </m:sup>
                      </m:sSup>
                    </m:oMath>
                  </m:oMathPara>
                </a14:m>
                <a:br>
                  <a:rPr lang="zh-CN" altLang="en-US" sz="2800" i="1" dirty="0">
                    <a:solidFill>
                      <a:srgbClr val="000000"/>
                    </a:solidFill>
                    <a:latin typeface="Cambria Math" panose="02040503050406030204" pitchFamily="18" charset="0"/>
                  </a:rPr>
                </a:br>
                <a:endParaRPr lang="zh-CN" altLang="en-US" sz="2800" dirty="0"/>
              </a:p>
            </p:txBody>
          </p:sp>
        </mc:Choice>
        <mc:Fallback xmlns="">
          <p:sp>
            <p:nvSpPr>
              <p:cNvPr id="43010" name="Object 5" descr="羊皮纸"/>
              <p:cNvSpPr txBox="1">
                <a:spLocks noRot="1" noChangeAspect="1" noMove="1" noResize="1" noEditPoints="1" noAdjustHandles="1" noChangeArrowheads="1" noChangeShapeType="1" noTextEdit="1"/>
              </p:cNvSpPr>
              <p:nvPr/>
            </p:nvSpPr>
            <p:spPr bwMode="auto">
              <a:xfrm>
                <a:off x="1071173" y="859772"/>
                <a:ext cx="6548438" cy="4785415"/>
              </a:xfrm>
              <a:prstGeom prst="rect">
                <a:avLst/>
              </a:prstGeom>
              <a:blipFill>
                <a:blip r:embed="rId2"/>
                <a:stretch>
                  <a:fillRect/>
                </a:stretch>
              </a:blipFill>
            </p:spPr>
            <p:txBody>
              <a:bodyPr/>
              <a:lstStyle/>
              <a:p>
                <a:r>
                  <a:rPr lang="zh-CN" altLang="en-US">
                    <a:noFill/>
                  </a:rPr>
                  <a:t> </a:t>
                </a:r>
              </a:p>
            </p:txBody>
          </p:sp>
        </mc:Fallback>
      </mc:AlternateContent>
      <p:sp>
        <p:nvSpPr>
          <p:cNvPr id="43013" name="灯片编号占位符 3"/>
          <p:cNvSpPr>
            <a:spLocks noGrp="1"/>
          </p:cNvSpPr>
          <p:nvPr>
            <p:ph type="sldNum" sz="quarter" idx="12"/>
          </p:nvPr>
        </p:nvSpPr>
        <p:spPr>
          <a:noFill/>
        </p:spPr>
        <p:txBody>
          <a:bodyPr/>
          <a:lstStyle/>
          <a:p>
            <a:fld id="{C70CA52E-37C3-4A44-AAA5-3CCB045D6B06}" type="slidenum">
              <a:rPr lang="en-US" altLang="zh-CN" smtClean="0">
                <a:ea typeface="黑体" pitchFamily="49" charset="-122"/>
              </a:rPr>
              <a:pPr/>
              <a:t>58</a:t>
            </a:fld>
            <a:endParaRPr lang="en-US" altLang="zh-CN">
              <a:ea typeface="黑体" pitchFamily="49" charset="-122"/>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E8418D3F-8DF7-4841-9E81-06B82D686D8F}"/>
                  </a:ext>
                </a:extLst>
              </p:cNvPr>
              <p:cNvSpPr txBox="1"/>
              <p:nvPr/>
            </p:nvSpPr>
            <p:spPr>
              <a:xfrm>
                <a:off x="1420878" y="355081"/>
                <a:ext cx="6436391" cy="5874429"/>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zh-CN" altLang="en-US" sz="2000" i="1" smtClean="0">
                          <a:solidFill>
                            <a:srgbClr val="000000"/>
                          </a:solidFill>
                          <a:latin typeface="Cambria Math" panose="02040503050406030204" pitchFamily="18" charset="0"/>
                        </a:rPr>
                        <m:t>选择一个</m:t>
                      </m:r>
                      <m:sSup>
                        <m:sSupPr>
                          <m:ctrlPr>
                            <a:rPr lang="zh-CN" altLang="en-US" sz="2000" i="1">
                              <a:solidFill>
                                <a:srgbClr val="000000"/>
                              </a:solidFill>
                              <a:latin typeface="Cambria Math" panose="02040503050406030204" pitchFamily="18" charset="0"/>
                            </a:rPr>
                          </m:ctrlPr>
                        </m:sSupPr>
                        <m:e>
                          <m:r>
                            <a:rPr lang="zh-CN" altLang="en-US" sz="2000" i="1">
                              <a:solidFill>
                                <a:srgbClr val="000000"/>
                              </a:solidFill>
                              <a:latin typeface="Cambria Math" panose="02040503050406030204" pitchFamily="18" charset="0"/>
                            </a:rPr>
                            <m:t>𝛼</m:t>
                          </m:r>
                        </m:e>
                        <m:sup>
                          <m:r>
                            <a:rPr lang="zh-CN" altLang="en-US" sz="2000" i="0">
                              <a:solidFill>
                                <a:srgbClr val="000000"/>
                              </a:solidFill>
                              <a:latin typeface="Cambria Math" panose="02040503050406030204" pitchFamily="18" charset="0"/>
                            </a:rPr>
                            <m:t>∗</m:t>
                          </m:r>
                        </m:sup>
                      </m:sSup>
                      <m:r>
                        <a:rPr lang="zh-CN" altLang="en-US" sz="2000" i="1">
                          <a:solidFill>
                            <a:srgbClr val="000000"/>
                          </a:solidFill>
                          <a:latin typeface="Cambria Math" panose="02040503050406030204" pitchFamily="18" charset="0"/>
                        </a:rPr>
                        <m:t>的分量</m:t>
                      </m:r>
                      <m:r>
                        <a:rPr lang="zh-CN" altLang="en-US" sz="2000" i="1">
                          <a:solidFill>
                            <a:srgbClr val="000000"/>
                          </a:solidFill>
                          <a:latin typeface="Cambria Math" panose="02040503050406030204" pitchFamily="18" charset="0"/>
                        </a:rPr>
                        <m:t>0&lt;</m:t>
                      </m:r>
                      <m:sSubSup>
                        <m:sSubSupPr>
                          <m:ctrlPr>
                            <a:rPr lang="zh-CN" altLang="en-US" sz="2000" i="1">
                              <a:solidFill>
                                <a:srgbClr val="000000"/>
                              </a:solidFill>
                              <a:latin typeface="Cambria Math" panose="02040503050406030204" pitchFamily="18" charset="0"/>
                            </a:rPr>
                          </m:ctrlPr>
                        </m:sSubSupPr>
                        <m:e>
                          <m:r>
                            <a:rPr lang="zh-CN" altLang="en-US" sz="2000" i="1">
                              <a:solidFill>
                                <a:srgbClr val="000000"/>
                              </a:solidFill>
                              <a:latin typeface="Cambria Math" panose="02040503050406030204" pitchFamily="18" charset="0"/>
                            </a:rPr>
                            <m:t>𝛼</m:t>
                          </m:r>
                        </m:e>
                        <m:sub>
                          <m:r>
                            <a:rPr lang="zh-CN" altLang="en-US" sz="2000" i="1">
                              <a:solidFill>
                                <a:srgbClr val="000000"/>
                              </a:solidFill>
                              <a:latin typeface="Cambria Math" panose="02040503050406030204" pitchFamily="18" charset="0"/>
                            </a:rPr>
                            <m:t>𝑗</m:t>
                          </m:r>
                        </m:sub>
                        <m:sup>
                          <m:r>
                            <a:rPr lang="zh-CN" altLang="en-US" sz="2000" i="1">
                              <a:solidFill>
                                <a:srgbClr val="000000"/>
                              </a:solidFill>
                              <a:latin typeface="Cambria Math" panose="02040503050406030204" pitchFamily="18" charset="0"/>
                            </a:rPr>
                            <m:t>∗</m:t>
                          </m:r>
                        </m:sup>
                      </m:sSubSup>
                      <m:r>
                        <a:rPr lang="zh-CN" altLang="en-US" sz="2000" i="1">
                          <a:solidFill>
                            <a:srgbClr val="000000"/>
                          </a:solidFill>
                          <a:latin typeface="Cambria Math" panose="02040503050406030204" pitchFamily="18" charset="0"/>
                        </a:rPr>
                        <m:t>&lt;</m:t>
                      </m:r>
                      <m:r>
                        <a:rPr lang="zh-CN" altLang="en-US" sz="2000" i="1">
                          <a:solidFill>
                            <a:srgbClr val="000000"/>
                          </a:solidFill>
                          <a:latin typeface="Cambria Math" panose="02040503050406030204" pitchFamily="18" charset="0"/>
                        </a:rPr>
                        <m:t>𝐶</m:t>
                      </m:r>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计算：</m:t>
                      </m:r>
                    </m:oMath>
                    <m:oMath xmlns:m="http://schemas.openxmlformats.org/officeDocument/2006/math">
                      <m:sSup>
                        <m:sSupPr>
                          <m:ctrlPr>
                            <a:rPr lang="zh-CN" altLang="en-US" sz="2000" i="1">
                              <a:solidFill>
                                <a:srgbClr val="000000"/>
                              </a:solidFill>
                              <a:latin typeface="Cambria Math" panose="02040503050406030204" pitchFamily="18" charset="0"/>
                            </a:rPr>
                          </m:ctrlPr>
                        </m:sSupPr>
                        <m:e>
                          <m:r>
                            <a:rPr lang="zh-CN" altLang="en-US" sz="2000" i="1">
                              <a:solidFill>
                                <a:srgbClr val="000000"/>
                              </a:solidFill>
                              <a:latin typeface="Cambria Math" panose="02040503050406030204" pitchFamily="18" charset="0"/>
                            </a:rPr>
                            <m:t>𝑏</m:t>
                          </m:r>
                        </m:e>
                        <m:sup>
                          <m:r>
                            <a:rPr lang="zh-CN" altLang="en-US" sz="2000" i="1">
                              <a:solidFill>
                                <a:srgbClr val="000000"/>
                              </a:solidFill>
                              <a:latin typeface="Cambria Math" panose="02040503050406030204" pitchFamily="18" charset="0"/>
                            </a:rPr>
                            <m:t>∗</m:t>
                          </m:r>
                        </m:sup>
                      </m:sSup>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𝑦</m:t>
                          </m:r>
                        </m:e>
                        <m:sub>
                          <m:r>
                            <a:rPr lang="zh-CN" altLang="en-US" sz="2000" i="1">
                              <a:solidFill>
                                <a:srgbClr val="000000"/>
                              </a:solidFill>
                              <a:latin typeface="Cambria Math" panose="02040503050406030204" pitchFamily="18" charset="0"/>
                            </a:rPr>
                            <m:t>𝑗</m:t>
                          </m:r>
                        </m:sub>
                      </m:sSub>
                      <m:r>
                        <a:rPr lang="zh-CN" altLang="en-US" sz="2000" i="1">
                          <a:solidFill>
                            <a:srgbClr val="000000"/>
                          </a:solidFill>
                          <a:latin typeface="Cambria Math" panose="02040503050406030204" pitchFamily="18" charset="0"/>
                        </a:rPr>
                        <m:t>−</m:t>
                      </m:r>
                      <m:nary>
                        <m:naryPr>
                          <m:chr m:val="∑"/>
                          <m:ctrlPr>
                            <a:rPr lang="zh-CN" altLang="en-US" sz="2000" i="1">
                              <a:solidFill>
                                <a:srgbClr val="000000"/>
                              </a:solidFill>
                              <a:latin typeface="Cambria Math" panose="02040503050406030204" pitchFamily="18" charset="0"/>
                            </a:rPr>
                          </m:ctrlPr>
                        </m:naryPr>
                        <m:sub>
                          <m:r>
                            <a:rPr lang="zh-CN" altLang="en-US" sz="2000" i="1">
                              <a:solidFill>
                                <a:srgbClr val="000000"/>
                              </a:solidFill>
                              <a:latin typeface="Cambria Math" panose="02040503050406030204" pitchFamily="18" charset="0"/>
                            </a:rPr>
                            <m:t>𝑖</m:t>
                          </m:r>
                          <m:r>
                            <a:rPr lang="zh-CN" altLang="en-US" sz="2000" i="1">
                              <a:solidFill>
                                <a:srgbClr val="000000"/>
                              </a:solidFill>
                              <a:latin typeface="Cambria Math" panose="02040503050406030204" pitchFamily="18" charset="0"/>
                            </a:rPr>
                            <m:t>=1</m:t>
                          </m:r>
                        </m:sub>
                        <m:sup>
                          <m:r>
                            <a:rPr lang="zh-CN" altLang="en-US" sz="2000" i="1">
                              <a:solidFill>
                                <a:srgbClr val="000000"/>
                              </a:solidFill>
                              <a:latin typeface="Cambria Math" panose="02040503050406030204" pitchFamily="18" charset="0"/>
                            </a:rPr>
                            <m:t>𝑁</m:t>
                          </m:r>
                        </m:sup>
                        <m:e>
                          <m:sSubSup>
                            <m:sSubSupPr>
                              <m:ctrlPr>
                                <a:rPr lang="zh-CN" altLang="en-US" sz="2000" i="1">
                                  <a:solidFill>
                                    <a:srgbClr val="000000"/>
                                  </a:solidFill>
                                  <a:latin typeface="Cambria Math" panose="02040503050406030204" pitchFamily="18" charset="0"/>
                                </a:rPr>
                              </m:ctrlPr>
                            </m:sSubSupPr>
                            <m:e>
                              <m:r>
                                <a:rPr lang="zh-CN" altLang="en-US" sz="2000" i="1">
                                  <a:solidFill>
                                    <a:srgbClr val="000000"/>
                                  </a:solidFill>
                                  <a:latin typeface="Cambria Math" panose="02040503050406030204" pitchFamily="18" charset="0"/>
                                </a:rPr>
                                <m:t>𝛼</m:t>
                              </m:r>
                            </m:e>
                            <m:sub>
                              <m:r>
                                <a:rPr lang="zh-CN" altLang="en-US" sz="2000" i="1">
                                  <a:solidFill>
                                    <a:srgbClr val="000000"/>
                                  </a:solidFill>
                                  <a:latin typeface="Cambria Math" panose="02040503050406030204" pitchFamily="18" charset="0"/>
                                </a:rPr>
                                <m:t>𝑖</m:t>
                              </m:r>
                            </m:sub>
                            <m:sup>
                              <m:r>
                                <a:rPr lang="zh-CN" altLang="en-US" sz="2000" i="1">
                                  <a:solidFill>
                                    <a:srgbClr val="000000"/>
                                  </a:solidFill>
                                  <a:latin typeface="Cambria Math" panose="02040503050406030204" pitchFamily="18" charset="0"/>
                                </a:rPr>
                                <m:t>∗</m:t>
                              </m:r>
                            </m:sup>
                          </m:sSubSup>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𝑦</m:t>
                              </m:r>
                            </m:e>
                            <m:sub>
                              <m:r>
                                <a:rPr lang="zh-CN" altLang="en-US" sz="2000" i="1">
                                  <a:solidFill>
                                    <a:srgbClr val="000000"/>
                                  </a:solidFill>
                                  <a:latin typeface="Cambria Math" panose="02040503050406030204" pitchFamily="18" charset="0"/>
                                </a:rPr>
                                <m:t>𝑖</m:t>
                              </m:r>
                            </m:sub>
                          </m:sSub>
                          <m:r>
                            <a:rPr lang="zh-CN" altLang="en-US" sz="2000" i="1">
                              <a:solidFill>
                                <a:srgbClr val="000000"/>
                              </a:solidFill>
                              <a:latin typeface="Cambria Math" panose="02040503050406030204" pitchFamily="18" charset="0"/>
                            </a:rPr>
                            <m:t>𝐾</m:t>
                          </m:r>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𝑥</m:t>
                              </m:r>
                            </m:e>
                            <m:sub>
                              <m:r>
                                <a:rPr lang="zh-CN" altLang="en-US" sz="2000" i="1">
                                  <a:solidFill>
                                    <a:srgbClr val="000000"/>
                                  </a:solidFill>
                                  <a:latin typeface="Cambria Math" panose="02040503050406030204" pitchFamily="18" charset="0"/>
                                </a:rPr>
                                <m:t>𝑖</m:t>
                              </m:r>
                            </m:sub>
                          </m:sSub>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𝑥</m:t>
                              </m:r>
                            </m:e>
                            <m:sub>
                              <m:r>
                                <a:rPr lang="zh-CN" altLang="en-US" sz="2000" i="1">
                                  <a:solidFill>
                                    <a:srgbClr val="000000"/>
                                  </a:solidFill>
                                  <a:latin typeface="Cambria Math" panose="02040503050406030204" pitchFamily="18" charset="0"/>
                                </a:rPr>
                                <m:t>𝑗</m:t>
                              </m:r>
                            </m:sub>
                          </m:sSub>
                          <m:r>
                            <a:rPr lang="zh-CN" altLang="en-US" sz="2000" i="1">
                              <a:solidFill>
                                <a:srgbClr val="000000"/>
                              </a:solidFill>
                              <a:latin typeface="Cambria Math" panose="02040503050406030204" pitchFamily="18" charset="0"/>
                            </a:rPr>
                            <m:t>)</m:t>
                          </m:r>
                        </m:e>
                      </m:nary>
                    </m:oMath>
                  </m:oMathPara>
                </a14:m>
                <a:endParaRPr lang="en-US" altLang="zh-CN" sz="2000" i="1" dirty="0">
                  <a:solidFill>
                    <a:srgbClr val="000000"/>
                  </a:solidFill>
                  <a:latin typeface="Cambria Math" panose="02040503050406030204" pitchFamily="18" charset="0"/>
                </a:endParaRPr>
              </a:p>
              <a:p>
                <a:pPr/>
                <a14:m>
                  <m:oMathPara xmlns:m="http://schemas.openxmlformats.org/officeDocument/2006/math">
                    <m:oMathParaPr>
                      <m:jc m:val="left"/>
                    </m:oMathParaPr>
                    <m:oMath xmlns:m="http://schemas.openxmlformats.org/officeDocument/2006/math">
                      <m:sSup>
                        <m:sSupPr>
                          <m:ctrlPr>
                            <a:rPr lang="en-US" altLang="zh-CN" sz="2000" i="1" smtClean="0">
                              <a:solidFill>
                                <a:srgbClr val="000000"/>
                              </a:solidFill>
                              <a:latin typeface="Cambria Math" panose="02040503050406030204" pitchFamily="18" charset="0"/>
                            </a:rPr>
                          </m:ctrlPr>
                        </m:sSupPr>
                        <m:e>
                          <m:r>
                            <a:rPr lang="en-US" altLang="zh-CN" sz="2000" b="0" i="1" smtClean="0">
                              <a:solidFill>
                                <a:srgbClr val="000000"/>
                              </a:solidFill>
                              <a:latin typeface="Cambria Math" panose="02040503050406030204" pitchFamily="18" charset="0"/>
                            </a:rPr>
                            <m:t>𝑤</m:t>
                          </m:r>
                        </m:e>
                        <m:sup>
                          <m:r>
                            <a:rPr lang="en-US" altLang="zh-CN" sz="2000" b="0" i="1" smtClean="0">
                              <a:solidFill>
                                <a:srgbClr val="000000"/>
                              </a:solidFill>
                              <a:latin typeface="Cambria Math" panose="02040503050406030204" pitchFamily="18" charset="0"/>
                            </a:rPr>
                            <m:t>∗</m:t>
                          </m:r>
                        </m:sup>
                      </m:sSup>
                      <m:r>
                        <a:rPr lang="en-US" altLang="zh-CN" sz="2000" b="0" i="1" smtClean="0">
                          <a:solidFill>
                            <a:srgbClr val="000000"/>
                          </a:solidFill>
                          <a:latin typeface="Cambria Math" panose="02040503050406030204" pitchFamily="18" charset="0"/>
                        </a:rPr>
                        <m:t>=</m:t>
                      </m:r>
                      <m:nary>
                        <m:naryPr>
                          <m:chr m:val="∑"/>
                          <m:ctrlPr>
                            <a:rPr lang="zh-CN" altLang="en-US" sz="2000" i="1">
                              <a:solidFill>
                                <a:srgbClr val="000000"/>
                              </a:solidFill>
                              <a:latin typeface="Cambria Math" panose="02040503050406030204" pitchFamily="18" charset="0"/>
                            </a:rPr>
                          </m:ctrlPr>
                        </m:naryPr>
                        <m:sub>
                          <m:r>
                            <a:rPr lang="zh-CN" altLang="en-US" sz="2000" i="1">
                              <a:solidFill>
                                <a:srgbClr val="000000"/>
                              </a:solidFill>
                              <a:latin typeface="Cambria Math" panose="02040503050406030204" pitchFamily="18" charset="0"/>
                            </a:rPr>
                            <m:t>𝑖</m:t>
                          </m:r>
                          <m:r>
                            <a:rPr lang="zh-CN" altLang="en-US" sz="2000" i="1">
                              <a:solidFill>
                                <a:srgbClr val="000000"/>
                              </a:solidFill>
                              <a:latin typeface="Cambria Math" panose="02040503050406030204" pitchFamily="18" charset="0"/>
                            </a:rPr>
                            <m:t>=1</m:t>
                          </m:r>
                        </m:sub>
                        <m:sup>
                          <m:r>
                            <a:rPr lang="zh-CN" altLang="en-US" sz="2000" i="1">
                              <a:solidFill>
                                <a:srgbClr val="000000"/>
                              </a:solidFill>
                              <a:latin typeface="Cambria Math" panose="02040503050406030204" pitchFamily="18" charset="0"/>
                            </a:rPr>
                            <m:t>𝑁</m:t>
                          </m:r>
                        </m:sup>
                        <m:e>
                          <m:sSubSup>
                            <m:sSubSupPr>
                              <m:ctrlPr>
                                <a:rPr lang="zh-CN" altLang="en-US" sz="2000" i="1">
                                  <a:solidFill>
                                    <a:srgbClr val="000000"/>
                                  </a:solidFill>
                                  <a:latin typeface="Cambria Math" panose="02040503050406030204" pitchFamily="18" charset="0"/>
                                </a:rPr>
                              </m:ctrlPr>
                            </m:sSubSupPr>
                            <m:e>
                              <m:r>
                                <a:rPr lang="zh-CN" altLang="en-US" sz="2000" i="1">
                                  <a:solidFill>
                                    <a:srgbClr val="000000"/>
                                  </a:solidFill>
                                  <a:latin typeface="Cambria Math" panose="02040503050406030204" pitchFamily="18" charset="0"/>
                                </a:rPr>
                                <m:t>𝛼</m:t>
                              </m:r>
                            </m:e>
                            <m:sub>
                              <m:r>
                                <a:rPr lang="zh-CN" altLang="en-US" sz="2000" i="1">
                                  <a:solidFill>
                                    <a:srgbClr val="000000"/>
                                  </a:solidFill>
                                  <a:latin typeface="Cambria Math" panose="02040503050406030204" pitchFamily="18" charset="0"/>
                                </a:rPr>
                                <m:t>𝑖</m:t>
                              </m:r>
                            </m:sub>
                            <m:sup>
                              <m:r>
                                <a:rPr lang="zh-CN" altLang="en-US" sz="2000" i="1">
                                  <a:solidFill>
                                    <a:srgbClr val="000000"/>
                                  </a:solidFill>
                                  <a:latin typeface="Cambria Math" panose="02040503050406030204" pitchFamily="18" charset="0"/>
                                </a:rPr>
                                <m:t>∗</m:t>
                              </m:r>
                            </m:sup>
                          </m:sSubSup>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𝑦</m:t>
                              </m:r>
                            </m:e>
                            <m:sub>
                              <m:r>
                                <a:rPr lang="zh-CN" altLang="en-US" sz="2000" i="1">
                                  <a:solidFill>
                                    <a:srgbClr val="000000"/>
                                  </a:solidFill>
                                  <a:latin typeface="Cambria Math" panose="02040503050406030204" pitchFamily="18" charset="0"/>
                                </a:rPr>
                                <m:t>𝑖</m:t>
                              </m:r>
                            </m:sub>
                          </m:sSub>
                          <m:r>
                            <a:rPr lang="zh-CN" altLang="en-US" sz="2000" i="1" smtClean="0">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𝑥</m:t>
                              </m:r>
                            </m:e>
                            <m:sub>
                              <m:r>
                                <a:rPr lang="zh-CN" altLang="en-US" sz="2000" i="1">
                                  <a:solidFill>
                                    <a:srgbClr val="000000"/>
                                  </a:solidFill>
                                  <a:latin typeface="Cambria Math" panose="02040503050406030204" pitchFamily="18" charset="0"/>
                                </a:rPr>
                                <m:t>𝑖</m:t>
                              </m:r>
                            </m:sub>
                          </m:sSub>
                          <m:r>
                            <a:rPr lang="zh-CN" altLang="en-US" sz="2000" i="1">
                              <a:solidFill>
                                <a:srgbClr val="000000"/>
                              </a:solidFill>
                              <a:latin typeface="Cambria Math" panose="02040503050406030204" pitchFamily="18" charset="0"/>
                            </a:rPr>
                            <m:t>)</m:t>
                          </m:r>
                        </m:e>
                      </m:nary>
                    </m:oMath>
                  </m:oMathPara>
                </a14:m>
                <a:endParaRPr lang="en-US" altLang="zh-CN" sz="2000" i="1" dirty="0">
                  <a:solidFill>
                    <a:srgbClr val="000000"/>
                  </a:solidFill>
                  <a:latin typeface="Cambria Math" panose="02040503050406030204" pitchFamily="18" charset="0"/>
                </a:endParaRPr>
              </a:p>
              <a:p>
                <a:endParaRPr lang="en-US" altLang="zh-CN" sz="2000" i="1" dirty="0">
                  <a:solidFill>
                    <a:srgbClr val="000000"/>
                  </a:solidFill>
                  <a:latin typeface="Cambria Math" panose="02040503050406030204" pitchFamily="18" charset="0"/>
                </a:endParaRPr>
              </a:p>
              <a:p>
                <a:r>
                  <a:rPr lang="zh-CN" altLang="en-US" sz="2000" dirty="0">
                    <a:solidFill>
                      <a:srgbClr val="000000"/>
                    </a:solidFill>
                    <a:latin typeface="Cambria Math" panose="02040503050406030204" pitchFamily="18" charset="0"/>
                  </a:rPr>
                  <a:t>分界超平面：</a:t>
                </a:r>
                <a:endParaRPr lang="en-US" altLang="zh-CN" sz="2000" dirty="0">
                  <a:solidFill>
                    <a:srgbClr val="000000"/>
                  </a:solidFill>
                  <a:latin typeface="Cambria Math" panose="02040503050406030204" pitchFamily="18" charset="0"/>
                </a:endParaRPr>
              </a:p>
              <a:p>
                <a:endParaRPr lang="en-US" altLang="zh-CN" sz="2000" i="1" dirty="0">
                  <a:solidFill>
                    <a:srgbClr val="000000"/>
                  </a:solidFill>
                  <a:latin typeface="Cambria Math" panose="02040503050406030204" pitchFamily="18" charset="0"/>
                </a:endParaRPr>
              </a:p>
              <a:p>
                <a14:m>
                  <m:oMath xmlns:m="http://schemas.openxmlformats.org/officeDocument/2006/math">
                    <m:sSup>
                      <m:sSupPr>
                        <m:ctrlPr>
                          <a:rPr lang="en-US" altLang="zh-CN" sz="2000" i="1" smtClean="0">
                            <a:solidFill>
                              <a:srgbClr val="000000"/>
                            </a:solidFill>
                            <a:latin typeface="Cambria Math" panose="02040503050406030204" pitchFamily="18" charset="0"/>
                          </a:rPr>
                        </m:ctrlPr>
                      </m:sSupPr>
                      <m:e>
                        <m:r>
                          <a:rPr lang="en-US" altLang="zh-CN" sz="2000" b="0" i="1" smtClean="0">
                            <a:solidFill>
                              <a:srgbClr val="000000"/>
                            </a:solidFill>
                            <a:latin typeface="Cambria Math" panose="02040503050406030204" pitchFamily="18" charset="0"/>
                          </a:rPr>
                          <m:t>𝑤</m:t>
                        </m:r>
                      </m:e>
                      <m:sup>
                        <m:r>
                          <a:rPr lang="en-US" altLang="zh-CN" sz="2000" b="0" i="1" smtClean="0">
                            <a:solidFill>
                              <a:srgbClr val="000000"/>
                            </a:solidFill>
                            <a:latin typeface="Cambria Math" panose="02040503050406030204" pitchFamily="18" charset="0"/>
                          </a:rPr>
                          <m:t>∗</m:t>
                        </m:r>
                      </m:sup>
                    </m:sSup>
                    <m:r>
                      <a:rPr lang="en-US" altLang="zh-CN"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m:t>
                    </m:r>
                    <m:d>
                      <m:dPr>
                        <m:ctrlPr>
                          <a:rPr lang="zh-CN" altLang="en-US" sz="2000" b="0" i="1">
                            <a:solidFill>
                              <a:srgbClr val="000000"/>
                            </a:solidFill>
                            <a:latin typeface="Cambria Math" panose="02040503050406030204" pitchFamily="18" charset="0"/>
                          </a:rPr>
                        </m:ctrlPr>
                      </m:dPr>
                      <m:e>
                        <m:r>
                          <a:rPr lang="en-US" altLang="zh-CN" sz="2000" b="0" i="1" smtClean="0">
                            <a:solidFill>
                              <a:srgbClr val="000000"/>
                            </a:solidFill>
                            <a:latin typeface="Cambria Math" panose="02040503050406030204" pitchFamily="18" charset="0"/>
                          </a:rPr>
                          <m:t>𝑥</m:t>
                        </m:r>
                      </m:e>
                    </m:d>
                    <m:r>
                      <a:rPr lang="en-US" altLang="zh-CN" sz="2000" b="0" i="1" smtClean="0">
                        <a:solidFill>
                          <a:srgbClr val="000000"/>
                        </a:solidFill>
                        <a:latin typeface="Cambria Math" panose="02040503050406030204" pitchFamily="18" charset="0"/>
                      </a:rPr>
                      <m:t>+</m:t>
                    </m:r>
                  </m:oMath>
                </a14:m>
                <a:r>
                  <a:rPr lang="zh-CN" altLang="en-US" sz="2000" dirty="0">
                    <a:solidFill>
                      <a:srgbClr val="000000"/>
                    </a:solidFill>
                  </a:rPr>
                  <a:t> </a:t>
                </a:r>
                <a14:m>
                  <m:oMath xmlns:m="http://schemas.openxmlformats.org/officeDocument/2006/math">
                    <m:sSup>
                      <m:sSupPr>
                        <m:ctrlPr>
                          <a:rPr lang="zh-CN" altLang="en-US" sz="2000" i="1">
                            <a:solidFill>
                              <a:srgbClr val="000000"/>
                            </a:solidFill>
                            <a:latin typeface="Cambria Math" panose="02040503050406030204" pitchFamily="18" charset="0"/>
                          </a:rPr>
                        </m:ctrlPr>
                      </m:sSupPr>
                      <m:e>
                        <m:r>
                          <a:rPr lang="zh-CN" altLang="en-US" sz="2000" i="1">
                            <a:solidFill>
                              <a:srgbClr val="000000"/>
                            </a:solidFill>
                            <a:latin typeface="Cambria Math" panose="02040503050406030204" pitchFamily="18" charset="0"/>
                          </a:rPr>
                          <m:t>𝑏</m:t>
                        </m:r>
                      </m:e>
                      <m:sup>
                        <m:r>
                          <a:rPr lang="zh-CN" altLang="en-US" sz="2000" i="1">
                            <a:solidFill>
                              <a:srgbClr val="000000"/>
                            </a:solidFill>
                            <a:latin typeface="Cambria Math" panose="02040503050406030204" pitchFamily="18" charset="0"/>
                          </a:rPr>
                          <m:t>∗</m:t>
                        </m:r>
                      </m:sup>
                    </m:sSup>
                    <m:r>
                      <a:rPr lang="en-US" altLang="zh-CN" sz="2000" b="0" i="1" smtClean="0">
                        <a:solidFill>
                          <a:srgbClr val="000000"/>
                        </a:solidFill>
                        <a:latin typeface="Cambria Math" panose="02040503050406030204" pitchFamily="18" charset="0"/>
                      </a:rPr>
                      <m:t>=0</m:t>
                    </m:r>
                  </m:oMath>
                </a14:m>
                <a:endParaRPr lang="en-US" altLang="zh-CN" sz="2000" i="1" dirty="0">
                  <a:solidFill>
                    <a:srgbClr val="000000"/>
                  </a:solidFill>
                  <a:latin typeface="Cambria Math" panose="02040503050406030204" pitchFamily="18" charset="0"/>
                </a:endParaRPr>
              </a:p>
              <a:p>
                <a:endParaRPr lang="en-US" altLang="zh-CN" sz="2000" i="1" dirty="0">
                  <a:solidFill>
                    <a:srgbClr val="000000"/>
                  </a:solidFill>
                  <a:latin typeface="Cambria Math" panose="02040503050406030204" pitchFamily="18" charset="0"/>
                </a:endParaRPr>
              </a:p>
              <a:p>
                <a:pPr/>
                <a14:m>
                  <m:oMathPara xmlns:m="http://schemas.openxmlformats.org/officeDocument/2006/math">
                    <m:oMathParaPr>
                      <m:jc m:val="left"/>
                    </m:oMathParaPr>
                    <m:oMath xmlns:m="http://schemas.openxmlformats.org/officeDocument/2006/math">
                      <m:nary>
                        <m:naryPr>
                          <m:chr m:val="∑"/>
                          <m:ctrlPr>
                            <a:rPr lang="zh-CN" altLang="en-US" sz="2000" i="1" smtClean="0">
                              <a:solidFill>
                                <a:srgbClr val="000000"/>
                              </a:solidFill>
                              <a:latin typeface="Cambria Math" panose="02040503050406030204" pitchFamily="18" charset="0"/>
                            </a:rPr>
                          </m:ctrlPr>
                        </m:naryPr>
                        <m:sub>
                          <m:r>
                            <a:rPr lang="zh-CN" altLang="en-US" sz="2000" i="1">
                              <a:solidFill>
                                <a:srgbClr val="000000"/>
                              </a:solidFill>
                              <a:latin typeface="Cambria Math" panose="02040503050406030204" pitchFamily="18" charset="0"/>
                            </a:rPr>
                            <m:t>𝑖</m:t>
                          </m:r>
                          <m:r>
                            <a:rPr lang="zh-CN" altLang="en-US" sz="2000" i="1">
                              <a:solidFill>
                                <a:srgbClr val="000000"/>
                              </a:solidFill>
                              <a:latin typeface="Cambria Math" panose="02040503050406030204" pitchFamily="18" charset="0"/>
                            </a:rPr>
                            <m:t>=1</m:t>
                          </m:r>
                        </m:sub>
                        <m:sup>
                          <m:r>
                            <a:rPr lang="zh-CN" altLang="en-US" sz="2000" i="1">
                              <a:solidFill>
                                <a:srgbClr val="000000"/>
                              </a:solidFill>
                              <a:latin typeface="Cambria Math" panose="02040503050406030204" pitchFamily="18" charset="0"/>
                            </a:rPr>
                            <m:t>𝑁</m:t>
                          </m:r>
                        </m:sup>
                        <m:e>
                          <m:sSubSup>
                            <m:sSubSupPr>
                              <m:ctrlPr>
                                <a:rPr lang="zh-CN" altLang="en-US" sz="2000" i="1">
                                  <a:solidFill>
                                    <a:srgbClr val="000000"/>
                                  </a:solidFill>
                                  <a:latin typeface="Cambria Math" panose="02040503050406030204" pitchFamily="18" charset="0"/>
                                </a:rPr>
                              </m:ctrlPr>
                            </m:sSubSupPr>
                            <m:e>
                              <m:r>
                                <a:rPr lang="zh-CN" altLang="en-US" sz="2000" i="1">
                                  <a:solidFill>
                                    <a:srgbClr val="000000"/>
                                  </a:solidFill>
                                  <a:latin typeface="Cambria Math" panose="02040503050406030204" pitchFamily="18" charset="0"/>
                                </a:rPr>
                                <m:t>𝛼</m:t>
                              </m:r>
                            </m:e>
                            <m:sub>
                              <m:r>
                                <a:rPr lang="zh-CN" altLang="en-US" sz="2000" i="1">
                                  <a:solidFill>
                                    <a:srgbClr val="000000"/>
                                  </a:solidFill>
                                  <a:latin typeface="Cambria Math" panose="02040503050406030204" pitchFamily="18" charset="0"/>
                                </a:rPr>
                                <m:t>𝑖</m:t>
                              </m:r>
                            </m:sub>
                            <m:sup>
                              <m:r>
                                <a:rPr lang="zh-CN" altLang="en-US" sz="2000" i="1">
                                  <a:solidFill>
                                    <a:srgbClr val="000000"/>
                                  </a:solidFill>
                                  <a:latin typeface="Cambria Math" panose="02040503050406030204" pitchFamily="18" charset="0"/>
                                </a:rPr>
                                <m:t>∗</m:t>
                              </m:r>
                            </m:sup>
                          </m:sSubSup>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𝑦</m:t>
                              </m:r>
                            </m:e>
                            <m:sub>
                              <m:r>
                                <a:rPr lang="zh-CN" altLang="en-US" sz="2000" i="1">
                                  <a:solidFill>
                                    <a:srgbClr val="000000"/>
                                  </a:solidFill>
                                  <a:latin typeface="Cambria Math" panose="02040503050406030204" pitchFamily="18" charset="0"/>
                                </a:rPr>
                                <m:t>𝑖</m:t>
                              </m:r>
                            </m:sub>
                          </m:sSub>
                          <m:r>
                            <a:rPr lang="zh-CN" altLang="en-US" sz="2000" i="1">
                              <a:solidFill>
                                <a:srgbClr val="000000"/>
                              </a:solidFill>
                              <a:latin typeface="Cambria Math" panose="02040503050406030204" pitchFamily="18" charset="0"/>
                            </a:rPr>
                            <m:t>𝐾</m:t>
                          </m:r>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𝑥</m:t>
                              </m:r>
                            </m:e>
                            <m:sub>
                              <m:r>
                                <a:rPr lang="zh-CN" altLang="en-US" sz="2000" i="1">
                                  <a:solidFill>
                                    <a:srgbClr val="000000"/>
                                  </a:solidFill>
                                  <a:latin typeface="Cambria Math" panose="02040503050406030204" pitchFamily="18" charset="0"/>
                                </a:rPr>
                                <m:t>𝑖</m:t>
                              </m:r>
                            </m:sub>
                          </m:sSub>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𝑥</m:t>
                          </m:r>
                          <m:r>
                            <a:rPr lang="zh-CN" altLang="en-US" sz="2000" i="1">
                              <a:solidFill>
                                <a:srgbClr val="000000"/>
                              </a:solidFill>
                              <a:latin typeface="Cambria Math" panose="02040503050406030204" pitchFamily="18" charset="0"/>
                            </a:rPr>
                            <m:t>)</m:t>
                          </m:r>
                        </m:e>
                      </m:nary>
                      <m:r>
                        <a:rPr lang="zh-CN" altLang="en-US" sz="2000" i="1">
                          <a:solidFill>
                            <a:srgbClr val="000000"/>
                          </a:solidFill>
                          <a:latin typeface="Cambria Math" panose="02040503050406030204" pitchFamily="18" charset="0"/>
                        </a:rPr>
                        <m:t>+</m:t>
                      </m:r>
                      <m:sSup>
                        <m:sSupPr>
                          <m:ctrlPr>
                            <a:rPr lang="zh-CN" altLang="en-US" sz="2000" i="1">
                              <a:solidFill>
                                <a:srgbClr val="000000"/>
                              </a:solidFill>
                              <a:latin typeface="Cambria Math" panose="02040503050406030204" pitchFamily="18" charset="0"/>
                            </a:rPr>
                          </m:ctrlPr>
                        </m:sSupPr>
                        <m:e>
                          <m:r>
                            <a:rPr lang="zh-CN" altLang="en-US" sz="2000" i="1">
                              <a:solidFill>
                                <a:srgbClr val="000000"/>
                              </a:solidFill>
                              <a:latin typeface="Cambria Math" panose="02040503050406030204" pitchFamily="18" charset="0"/>
                            </a:rPr>
                            <m:t>𝑏</m:t>
                          </m:r>
                        </m:e>
                        <m:sup>
                          <m:r>
                            <a:rPr lang="zh-CN" altLang="en-US" sz="2000" i="1">
                              <a:solidFill>
                                <a:srgbClr val="000000"/>
                              </a:solidFill>
                              <a:latin typeface="Cambria Math" panose="02040503050406030204" pitchFamily="18" charset="0"/>
                            </a:rPr>
                            <m:t>∗</m:t>
                          </m:r>
                        </m:sup>
                      </m:sSup>
                      <m:r>
                        <a:rPr lang="en-US" altLang="zh-CN" sz="2000" b="0" i="1" smtClean="0">
                          <a:solidFill>
                            <a:srgbClr val="000000"/>
                          </a:solidFill>
                          <a:latin typeface="Cambria Math" panose="02040503050406030204" pitchFamily="18" charset="0"/>
                        </a:rPr>
                        <m:t>=0</m:t>
                      </m:r>
                    </m:oMath>
                  </m:oMathPara>
                </a14:m>
                <a:endParaRPr lang="en-US" altLang="zh-CN" sz="2000" i="1" dirty="0">
                  <a:solidFill>
                    <a:srgbClr val="000000"/>
                  </a:solidFill>
                  <a:latin typeface="Cambria Math" panose="02040503050406030204" pitchFamily="18" charset="0"/>
                </a:endParaRPr>
              </a:p>
              <a:p>
                <a:pPr/>
                <a:br>
                  <a:rPr lang="zh-CN" altLang="en-US" sz="2000" i="1" dirty="0">
                    <a:solidFill>
                      <a:srgbClr val="000000"/>
                    </a:solidFill>
                    <a:latin typeface="Cambria Math" panose="02040503050406030204" pitchFamily="18" charset="0"/>
                  </a:rPr>
                </a:br>
                <a14:m>
                  <m:oMathPara xmlns:m="http://schemas.openxmlformats.org/officeDocument/2006/math">
                    <m:oMathParaPr>
                      <m:jc m:val="left"/>
                    </m:oMathParaPr>
                    <m:oMath xmlns:m="http://schemas.openxmlformats.org/officeDocument/2006/math">
                      <m:r>
                        <a:rPr lang="zh-CN" altLang="en-US" sz="2000" i="1">
                          <a:solidFill>
                            <a:srgbClr val="000000"/>
                          </a:solidFill>
                          <a:latin typeface="Cambria Math" panose="02040503050406030204" pitchFamily="18" charset="0"/>
                        </a:rPr>
                        <m:t>决策函数：</m:t>
                      </m:r>
                      <m:r>
                        <a:rPr lang="zh-CN" altLang="en-US" sz="2000" i="1">
                          <a:solidFill>
                            <a:srgbClr val="000000"/>
                          </a:solidFill>
                          <a:latin typeface="Cambria Math" panose="02040503050406030204" pitchFamily="18" charset="0"/>
                        </a:rPr>
                        <m:t>𝑓</m:t>
                      </m:r>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𝑥</m:t>
                      </m:r>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𝑠𝑖𝑔𝑛</m:t>
                      </m:r>
                      <m:d>
                        <m:dPr>
                          <m:ctrlPr>
                            <a:rPr lang="zh-CN" altLang="en-US" sz="2000" i="1">
                              <a:solidFill>
                                <a:srgbClr val="000000"/>
                              </a:solidFill>
                              <a:latin typeface="Cambria Math" panose="02040503050406030204" pitchFamily="18" charset="0"/>
                            </a:rPr>
                          </m:ctrlPr>
                        </m:dPr>
                        <m:e>
                          <m:nary>
                            <m:naryPr>
                              <m:chr m:val="∑"/>
                              <m:ctrlPr>
                                <a:rPr lang="zh-CN" altLang="en-US" sz="2000" i="1">
                                  <a:solidFill>
                                    <a:srgbClr val="000000"/>
                                  </a:solidFill>
                                  <a:latin typeface="Cambria Math" panose="02040503050406030204" pitchFamily="18" charset="0"/>
                                </a:rPr>
                              </m:ctrlPr>
                            </m:naryPr>
                            <m:sub>
                              <m:r>
                                <a:rPr lang="zh-CN" altLang="en-US" sz="2000" i="1">
                                  <a:solidFill>
                                    <a:srgbClr val="000000"/>
                                  </a:solidFill>
                                  <a:latin typeface="Cambria Math" panose="02040503050406030204" pitchFamily="18" charset="0"/>
                                </a:rPr>
                                <m:t>𝑖</m:t>
                              </m:r>
                              <m:r>
                                <a:rPr lang="zh-CN" altLang="en-US" sz="2000" i="1">
                                  <a:solidFill>
                                    <a:srgbClr val="000000"/>
                                  </a:solidFill>
                                  <a:latin typeface="Cambria Math" panose="02040503050406030204" pitchFamily="18" charset="0"/>
                                </a:rPr>
                                <m:t>=1</m:t>
                              </m:r>
                            </m:sub>
                            <m:sup>
                              <m:r>
                                <a:rPr lang="zh-CN" altLang="en-US" sz="2000" i="1">
                                  <a:solidFill>
                                    <a:srgbClr val="000000"/>
                                  </a:solidFill>
                                  <a:latin typeface="Cambria Math" panose="02040503050406030204" pitchFamily="18" charset="0"/>
                                </a:rPr>
                                <m:t>𝑁</m:t>
                              </m:r>
                            </m:sup>
                            <m:e>
                              <m:sSubSup>
                                <m:sSubSupPr>
                                  <m:ctrlPr>
                                    <a:rPr lang="zh-CN" altLang="en-US" sz="2000" i="1">
                                      <a:solidFill>
                                        <a:srgbClr val="000000"/>
                                      </a:solidFill>
                                      <a:latin typeface="Cambria Math" panose="02040503050406030204" pitchFamily="18" charset="0"/>
                                    </a:rPr>
                                  </m:ctrlPr>
                                </m:sSubSupPr>
                                <m:e>
                                  <m:r>
                                    <a:rPr lang="zh-CN" altLang="en-US" sz="2000" i="1">
                                      <a:solidFill>
                                        <a:srgbClr val="000000"/>
                                      </a:solidFill>
                                      <a:latin typeface="Cambria Math" panose="02040503050406030204" pitchFamily="18" charset="0"/>
                                    </a:rPr>
                                    <m:t>𝛼</m:t>
                                  </m:r>
                                </m:e>
                                <m:sub>
                                  <m:r>
                                    <a:rPr lang="zh-CN" altLang="en-US" sz="2000" i="1">
                                      <a:solidFill>
                                        <a:srgbClr val="000000"/>
                                      </a:solidFill>
                                      <a:latin typeface="Cambria Math" panose="02040503050406030204" pitchFamily="18" charset="0"/>
                                    </a:rPr>
                                    <m:t>𝑖</m:t>
                                  </m:r>
                                </m:sub>
                                <m:sup>
                                  <m:r>
                                    <a:rPr lang="zh-CN" altLang="en-US" sz="2000" i="1">
                                      <a:solidFill>
                                        <a:srgbClr val="000000"/>
                                      </a:solidFill>
                                      <a:latin typeface="Cambria Math" panose="02040503050406030204" pitchFamily="18" charset="0"/>
                                    </a:rPr>
                                    <m:t>∗</m:t>
                                  </m:r>
                                </m:sup>
                              </m:sSubSup>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𝑦</m:t>
                                  </m:r>
                                </m:e>
                                <m:sub>
                                  <m:r>
                                    <a:rPr lang="zh-CN" altLang="en-US" sz="2000" i="1">
                                      <a:solidFill>
                                        <a:srgbClr val="000000"/>
                                      </a:solidFill>
                                      <a:latin typeface="Cambria Math" panose="02040503050406030204" pitchFamily="18" charset="0"/>
                                    </a:rPr>
                                    <m:t>𝑖</m:t>
                                  </m:r>
                                </m:sub>
                              </m:sSub>
                              <m:r>
                                <a:rPr lang="zh-CN" altLang="en-US" sz="2000" i="1">
                                  <a:solidFill>
                                    <a:srgbClr val="000000"/>
                                  </a:solidFill>
                                  <a:latin typeface="Cambria Math" panose="02040503050406030204" pitchFamily="18" charset="0"/>
                                </a:rPr>
                                <m:t>𝐾</m:t>
                              </m:r>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𝑥</m:t>
                                  </m:r>
                                </m:e>
                                <m:sub>
                                  <m:r>
                                    <a:rPr lang="zh-CN" altLang="en-US" sz="2000" i="1">
                                      <a:solidFill>
                                        <a:srgbClr val="000000"/>
                                      </a:solidFill>
                                      <a:latin typeface="Cambria Math" panose="02040503050406030204" pitchFamily="18" charset="0"/>
                                    </a:rPr>
                                    <m:t>𝑖</m:t>
                                  </m:r>
                                </m:sub>
                              </m:sSub>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𝑥</m:t>
                              </m:r>
                              <m:r>
                                <a:rPr lang="zh-CN" altLang="en-US" sz="2000" i="1">
                                  <a:solidFill>
                                    <a:srgbClr val="000000"/>
                                  </a:solidFill>
                                  <a:latin typeface="Cambria Math" panose="02040503050406030204" pitchFamily="18" charset="0"/>
                                </a:rPr>
                                <m:t>)</m:t>
                              </m:r>
                            </m:e>
                          </m:nary>
                          <m:r>
                            <a:rPr lang="zh-CN" altLang="en-US" sz="2000" i="1">
                              <a:solidFill>
                                <a:srgbClr val="000000"/>
                              </a:solidFill>
                              <a:latin typeface="Cambria Math" panose="02040503050406030204" pitchFamily="18" charset="0"/>
                            </a:rPr>
                            <m:t>+</m:t>
                          </m:r>
                          <m:sSup>
                            <m:sSupPr>
                              <m:ctrlPr>
                                <a:rPr lang="zh-CN" altLang="en-US" sz="2000" i="1">
                                  <a:solidFill>
                                    <a:srgbClr val="000000"/>
                                  </a:solidFill>
                                  <a:latin typeface="Cambria Math" panose="02040503050406030204" pitchFamily="18" charset="0"/>
                                </a:rPr>
                              </m:ctrlPr>
                            </m:sSupPr>
                            <m:e>
                              <m:r>
                                <a:rPr lang="zh-CN" altLang="en-US" sz="2000" i="1">
                                  <a:solidFill>
                                    <a:srgbClr val="000000"/>
                                  </a:solidFill>
                                  <a:latin typeface="Cambria Math" panose="02040503050406030204" pitchFamily="18" charset="0"/>
                                </a:rPr>
                                <m:t>𝑏</m:t>
                              </m:r>
                            </m:e>
                            <m:sup>
                              <m:r>
                                <a:rPr lang="zh-CN" altLang="en-US" sz="2000" i="1">
                                  <a:solidFill>
                                    <a:srgbClr val="000000"/>
                                  </a:solidFill>
                                  <a:latin typeface="Cambria Math" panose="02040503050406030204" pitchFamily="18" charset="0"/>
                                </a:rPr>
                                <m:t>∗</m:t>
                              </m:r>
                            </m:sup>
                          </m:sSup>
                        </m:e>
                      </m:d>
                    </m:oMath>
                  </m:oMathPara>
                </a14:m>
                <a:endParaRPr lang="zh-CN" altLang="en-US" sz="2000" dirty="0"/>
              </a:p>
            </p:txBody>
          </p:sp>
        </mc:Choice>
        <mc:Fallback xmlns="">
          <p:sp>
            <p:nvSpPr>
              <p:cNvPr id="5" name="文本框 4">
                <a:extLst>
                  <a:ext uri="{FF2B5EF4-FFF2-40B4-BE49-F238E27FC236}">
                    <a16:creationId xmlns:a16="http://schemas.microsoft.com/office/drawing/2014/main" id="{E8418D3F-8DF7-4841-9E81-06B82D686D8F}"/>
                  </a:ext>
                </a:extLst>
              </p:cNvPr>
              <p:cNvSpPr txBox="1">
                <a:spLocks noRot="1" noChangeAspect="1" noMove="1" noResize="1" noEditPoints="1" noAdjustHandles="1" noChangeArrowheads="1" noChangeShapeType="1" noTextEdit="1"/>
              </p:cNvSpPr>
              <p:nvPr/>
            </p:nvSpPr>
            <p:spPr>
              <a:xfrm>
                <a:off x="1420878" y="355081"/>
                <a:ext cx="6436391" cy="5874429"/>
              </a:xfrm>
              <a:prstGeom prst="rect">
                <a:avLst/>
              </a:prstGeom>
              <a:blipFill>
                <a:blip r:embed="rId3"/>
                <a:stretch>
                  <a:fillRect l="-94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88651047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4036" name="灯片编号占位符 3"/>
          <p:cNvSpPr>
            <a:spLocks noGrp="1"/>
          </p:cNvSpPr>
          <p:nvPr>
            <p:ph type="sldNum" sz="quarter" idx="12"/>
          </p:nvPr>
        </p:nvSpPr>
        <p:spPr>
          <a:noFill/>
        </p:spPr>
        <p:txBody>
          <a:bodyPr/>
          <a:lstStyle/>
          <a:p>
            <a:fld id="{2C020BFA-C796-4A1F-A9A2-95AD1C34E4BF}" type="slidenum">
              <a:rPr lang="en-US" altLang="zh-CN" smtClean="0">
                <a:ea typeface="黑体" pitchFamily="49" charset="-122"/>
              </a:rPr>
              <a:pPr/>
              <a:t>60</a:t>
            </a:fld>
            <a:endParaRPr lang="en-US" altLang="zh-CN">
              <a:ea typeface="黑体" pitchFamily="49" charset="-122"/>
            </a:endParaRPr>
          </a:p>
        </p:txBody>
      </p:sp>
      <p:graphicFrame>
        <p:nvGraphicFramePr>
          <p:cNvPr id="44034" name="Object 5" descr="羊皮纸"/>
          <p:cNvGraphicFramePr>
            <a:graphicFrameLocks noChangeAspect="1"/>
          </p:cNvGraphicFramePr>
          <p:nvPr>
            <p:extLst>
              <p:ext uri="{D42A27DB-BD31-4B8C-83A1-F6EECF244321}">
                <p14:modId xmlns:p14="http://schemas.microsoft.com/office/powerpoint/2010/main" val="1667191896"/>
              </p:ext>
            </p:extLst>
          </p:nvPr>
        </p:nvGraphicFramePr>
        <p:xfrm>
          <a:off x="1038933" y="1133041"/>
          <a:ext cx="7501981" cy="4958222"/>
        </p:xfrm>
        <a:graphic>
          <a:graphicData uri="http://schemas.openxmlformats.org/presentationml/2006/ole">
            <mc:AlternateContent xmlns:mc="http://schemas.openxmlformats.org/markup-compatibility/2006">
              <mc:Choice xmlns:v="urn:schemas-microsoft-com:vml" Requires="v">
                <p:oleObj name="公式" r:id="rId3" imgW="3238200" imgH="2133360" progId="Equation.3">
                  <p:embed/>
                </p:oleObj>
              </mc:Choice>
              <mc:Fallback>
                <p:oleObj name="公式" r:id="rId3" imgW="3238200" imgH="213336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8933" y="1133041"/>
                        <a:ext cx="7501981" cy="4958222"/>
                      </a:xfrm>
                      <a:prstGeom prst="rect">
                        <a:avLst/>
                      </a:prstGeom>
                      <a:noFill/>
                    </p:spPr>
                  </p:pic>
                </p:oleObj>
              </mc:Fallback>
            </mc:AlternateContent>
          </a:graphicData>
        </a:graphic>
      </p:graphicFrame>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dirty="0"/>
              <a:t>常用的核函数</a:t>
            </a:r>
          </a:p>
        </p:txBody>
      </p:sp>
      <p:sp>
        <p:nvSpPr>
          <p:cNvPr id="45061" name="灯片编号占位符 3"/>
          <p:cNvSpPr>
            <a:spLocks noGrp="1"/>
          </p:cNvSpPr>
          <p:nvPr>
            <p:ph type="sldNum" sz="quarter" idx="12"/>
          </p:nvPr>
        </p:nvSpPr>
        <p:spPr>
          <a:noFill/>
        </p:spPr>
        <p:txBody>
          <a:bodyPr/>
          <a:lstStyle/>
          <a:p>
            <a:fld id="{A5CBAF39-FA4E-495E-8DB5-09E325D6593E}" type="slidenum">
              <a:rPr lang="en-US" altLang="zh-CN" smtClean="0">
                <a:ea typeface="黑体" pitchFamily="49" charset="-122"/>
              </a:rPr>
              <a:pPr/>
              <a:t>61</a:t>
            </a:fld>
            <a:endParaRPr lang="en-US" altLang="zh-CN">
              <a:ea typeface="黑体" pitchFamily="49" charset="-122"/>
            </a:endParaRPr>
          </a:p>
        </p:txBody>
      </p:sp>
      <p:graphicFrame>
        <p:nvGraphicFramePr>
          <p:cNvPr id="45058" name="Object 5" descr="羊皮纸"/>
          <p:cNvGraphicFramePr>
            <a:graphicFrameLocks noChangeAspect="1"/>
          </p:cNvGraphicFramePr>
          <p:nvPr>
            <p:extLst>
              <p:ext uri="{D42A27DB-BD31-4B8C-83A1-F6EECF244321}">
                <p14:modId xmlns:p14="http://schemas.microsoft.com/office/powerpoint/2010/main" val="1490737389"/>
              </p:ext>
            </p:extLst>
          </p:nvPr>
        </p:nvGraphicFramePr>
        <p:xfrm>
          <a:off x="1510643" y="1566480"/>
          <a:ext cx="5464923" cy="4438037"/>
        </p:xfrm>
        <a:graphic>
          <a:graphicData uri="http://schemas.openxmlformats.org/presentationml/2006/ole">
            <mc:AlternateContent xmlns:mc="http://schemas.openxmlformats.org/markup-compatibility/2006">
              <mc:Choice xmlns:v="urn:schemas-microsoft-com:vml" Requires="v">
                <p:oleObj name="公式" r:id="rId2" imgW="1866600" imgH="1511280" progId="Equation.3">
                  <p:embed/>
                </p:oleObj>
              </mc:Choice>
              <mc:Fallback>
                <p:oleObj name="公式" r:id="rId2" imgW="1866600" imgH="1511280" progId="Equation.3">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10643" y="1566480"/>
                        <a:ext cx="5464923" cy="4438037"/>
                      </a:xfrm>
                      <a:prstGeom prst="rect">
                        <a:avLst/>
                      </a:prstGeom>
                      <a:noFill/>
                    </p:spPr>
                  </p:pic>
                </p:oleObj>
              </mc:Fallback>
            </mc:AlternateContent>
          </a:graphicData>
        </a:graphic>
      </p:graphicFrame>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等腰三角形 6"/>
          <p:cNvSpPr/>
          <p:nvPr/>
        </p:nvSpPr>
        <p:spPr>
          <a:xfrm>
            <a:off x="5157017" y="3678563"/>
            <a:ext cx="108000" cy="108000"/>
          </a:xfrm>
          <a:prstGeom prst="triangl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3" name="椭圆 12"/>
          <p:cNvSpPr/>
          <p:nvPr/>
        </p:nvSpPr>
        <p:spPr>
          <a:xfrm>
            <a:off x="3252740" y="4225240"/>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14" name="椭圆 13"/>
          <p:cNvSpPr/>
          <p:nvPr/>
        </p:nvSpPr>
        <p:spPr>
          <a:xfrm>
            <a:off x="4363852" y="3843426"/>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15" name="椭圆 14"/>
          <p:cNvSpPr/>
          <p:nvPr/>
        </p:nvSpPr>
        <p:spPr>
          <a:xfrm>
            <a:off x="3422759" y="3843426"/>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16" name="椭圆 15"/>
          <p:cNvSpPr/>
          <p:nvPr/>
        </p:nvSpPr>
        <p:spPr>
          <a:xfrm>
            <a:off x="5265017" y="4225240"/>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17" name="椭圆 16"/>
          <p:cNvSpPr/>
          <p:nvPr/>
        </p:nvSpPr>
        <p:spPr>
          <a:xfrm>
            <a:off x="3749099" y="3500728"/>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18" name="椭圆 17"/>
          <p:cNvSpPr/>
          <p:nvPr/>
        </p:nvSpPr>
        <p:spPr>
          <a:xfrm>
            <a:off x="6052185" y="3380529"/>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19" name="椭圆 18"/>
          <p:cNvSpPr/>
          <p:nvPr/>
        </p:nvSpPr>
        <p:spPr>
          <a:xfrm>
            <a:off x="5891581" y="3749261"/>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20" name="椭圆 19"/>
          <p:cNvSpPr/>
          <p:nvPr/>
        </p:nvSpPr>
        <p:spPr>
          <a:xfrm>
            <a:off x="3869929" y="3789426"/>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21" name="等腰三角形 20"/>
          <p:cNvSpPr/>
          <p:nvPr/>
        </p:nvSpPr>
        <p:spPr>
          <a:xfrm>
            <a:off x="5415707" y="3326529"/>
            <a:ext cx="108000" cy="108000"/>
          </a:xfrm>
          <a:prstGeom prst="triangl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2" name="等腰三角形 21"/>
          <p:cNvSpPr/>
          <p:nvPr/>
        </p:nvSpPr>
        <p:spPr>
          <a:xfrm>
            <a:off x="2169720" y="4009240"/>
            <a:ext cx="108000" cy="108000"/>
          </a:xfrm>
          <a:prstGeom prst="triangl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3" name="等腰三角形 22"/>
          <p:cNvSpPr/>
          <p:nvPr/>
        </p:nvSpPr>
        <p:spPr>
          <a:xfrm>
            <a:off x="2450583" y="3938971"/>
            <a:ext cx="108000" cy="108000"/>
          </a:xfrm>
          <a:prstGeom prst="triangl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4" name="等腰三角形 23"/>
          <p:cNvSpPr/>
          <p:nvPr/>
        </p:nvSpPr>
        <p:spPr>
          <a:xfrm>
            <a:off x="2427850" y="4254384"/>
            <a:ext cx="108000" cy="108000"/>
          </a:xfrm>
          <a:prstGeom prst="triangl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5" name="等腰三角形 24"/>
          <p:cNvSpPr/>
          <p:nvPr/>
        </p:nvSpPr>
        <p:spPr>
          <a:xfrm>
            <a:off x="2779481" y="3878325"/>
            <a:ext cx="108000" cy="108000"/>
          </a:xfrm>
          <a:prstGeom prst="triangl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6" name="等腰三角形 25"/>
          <p:cNvSpPr/>
          <p:nvPr/>
        </p:nvSpPr>
        <p:spPr>
          <a:xfrm>
            <a:off x="4887230" y="3367391"/>
            <a:ext cx="108000" cy="108000"/>
          </a:xfrm>
          <a:prstGeom prst="triangl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7" name="等腰三角形 26"/>
          <p:cNvSpPr/>
          <p:nvPr/>
        </p:nvSpPr>
        <p:spPr>
          <a:xfrm>
            <a:off x="1966790" y="3665576"/>
            <a:ext cx="108000" cy="108000"/>
          </a:xfrm>
          <a:prstGeom prst="triangl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8" name="等腰三角形 27"/>
          <p:cNvSpPr/>
          <p:nvPr/>
        </p:nvSpPr>
        <p:spPr>
          <a:xfrm>
            <a:off x="4255852" y="3133427"/>
            <a:ext cx="108000" cy="108000"/>
          </a:xfrm>
          <a:prstGeom prst="triangl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 name="任意多边形 1"/>
          <p:cNvSpPr/>
          <p:nvPr/>
        </p:nvSpPr>
        <p:spPr>
          <a:xfrm>
            <a:off x="1280160" y="2891099"/>
            <a:ext cx="4772025" cy="1299926"/>
          </a:xfrm>
          <a:custGeom>
            <a:avLst/>
            <a:gdLst>
              <a:gd name="connsiteX0" fmla="*/ 0 w 5821680"/>
              <a:gd name="connsiteY0" fmla="*/ 906780 h 2288435"/>
              <a:gd name="connsiteX1" fmla="*/ 1082040 w 5821680"/>
              <a:gd name="connsiteY1" fmla="*/ 2286000 h 2288435"/>
              <a:gd name="connsiteX2" fmla="*/ 2773680 w 5821680"/>
              <a:gd name="connsiteY2" fmla="*/ 609600 h 2288435"/>
              <a:gd name="connsiteX3" fmla="*/ 4823460 w 5821680"/>
              <a:gd name="connsiteY3" fmla="*/ 1508760 h 2288435"/>
              <a:gd name="connsiteX4" fmla="*/ 5821680 w 5821680"/>
              <a:gd name="connsiteY4" fmla="*/ 0 h 2288435"/>
              <a:gd name="connsiteX5" fmla="*/ 5821680 w 5821680"/>
              <a:gd name="connsiteY5" fmla="*/ 0 h 2288435"/>
              <a:gd name="connsiteX0" fmla="*/ 0 w 5821680"/>
              <a:gd name="connsiteY0" fmla="*/ 906780 h 1767650"/>
              <a:gd name="connsiteX1" fmla="*/ 1097280 w 5821680"/>
              <a:gd name="connsiteY1" fmla="*/ 1760220 h 1767650"/>
              <a:gd name="connsiteX2" fmla="*/ 2773680 w 5821680"/>
              <a:gd name="connsiteY2" fmla="*/ 609600 h 1767650"/>
              <a:gd name="connsiteX3" fmla="*/ 4823460 w 5821680"/>
              <a:gd name="connsiteY3" fmla="*/ 1508760 h 1767650"/>
              <a:gd name="connsiteX4" fmla="*/ 5821680 w 5821680"/>
              <a:gd name="connsiteY4" fmla="*/ 0 h 1767650"/>
              <a:gd name="connsiteX5" fmla="*/ 5821680 w 5821680"/>
              <a:gd name="connsiteY5" fmla="*/ 0 h 1767650"/>
              <a:gd name="connsiteX0" fmla="*/ 0 w 5821680"/>
              <a:gd name="connsiteY0" fmla="*/ 906780 h 1785380"/>
              <a:gd name="connsiteX1" fmla="*/ 1097280 w 5821680"/>
              <a:gd name="connsiteY1" fmla="*/ 1760220 h 1785380"/>
              <a:gd name="connsiteX2" fmla="*/ 2849880 w 5821680"/>
              <a:gd name="connsiteY2" fmla="*/ 1554480 h 1785380"/>
              <a:gd name="connsiteX3" fmla="*/ 4823460 w 5821680"/>
              <a:gd name="connsiteY3" fmla="*/ 1508760 h 1785380"/>
              <a:gd name="connsiteX4" fmla="*/ 5821680 w 5821680"/>
              <a:gd name="connsiteY4" fmla="*/ 0 h 1785380"/>
              <a:gd name="connsiteX5" fmla="*/ 5821680 w 5821680"/>
              <a:gd name="connsiteY5" fmla="*/ 0 h 1785380"/>
              <a:gd name="connsiteX0" fmla="*/ 0 w 6256020"/>
              <a:gd name="connsiteY0" fmla="*/ 853440 h 1788470"/>
              <a:gd name="connsiteX1" fmla="*/ 1531620 w 6256020"/>
              <a:gd name="connsiteY1" fmla="*/ 1760220 h 1788470"/>
              <a:gd name="connsiteX2" fmla="*/ 3284220 w 6256020"/>
              <a:gd name="connsiteY2" fmla="*/ 1554480 h 1788470"/>
              <a:gd name="connsiteX3" fmla="*/ 5257800 w 6256020"/>
              <a:gd name="connsiteY3" fmla="*/ 1508760 h 1788470"/>
              <a:gd name="connsiteX4" fmla="*/ 6256020 w 6256020"/>
              <a:gd name="connsiteY4" fmla="*/ 0 h 1788470"/>
              <a:gd name="connsiteX5" fmla="*/ 6256020 w 6256020"/>
              <a:gd name="connsiteY5" fmla="*/ 0 h 1788470"/>
              <a:gd name="connsiteX0" fmla="*/ 0 w 6256020"/>
              <a:gd name="connsiteY0" fmla="*/ 853440 h 1633761"/>
              <a:gd name="connsiteX1" fmla="*/ 1836420 w 6256020"/>
              <a:gd name="connsiteY1" fmla="*/ 1584960 h 1633761"/>
              <a:gd name="connsiteX2" fmla="*/ 3284220 w 6256020"/>
              <a:gd name="connsiteY2" fmla="*/ 1554480 h 1633761"/>
              <a:gd name="connsiteX3" fmla="*/ 5257800 w 6256020"/>
              <a:gd name="connsiteY3" fmla="*/ 1508760 h 1633761"/>
              <a:gd name="connsiteX4" fmla="*/ 6256020 w 6256020"/>
              <a:gd name="connsiteY4" fmla="*/ 0 h 1633761"/>
              <a:gd name="connsiteX5" fmla="*/ 6256020 w 6256020"/>
              <a:gd name="connsiteY5" fmla="*/ 0 h 1633761"/>
              <a:gd name="connsiteX0" fmla="*/ 0 w 6256020"/>
              <a:gd name="connsiteY0" fmla="*/ 853440 h 1667440"/>
              <a:gd name="connsiteX1" fmla="*/ 1836420 w 6256020"/>
              <a:gd name="connsiteY1" fmla="*/ 1584960 h 1667440"/>
              <a:gd name="connsiteX2" fmla="*/ 3467100 w 6256020"/>
              <a:gd name="connsiteY2" fmla="*/ 1630680 h 1667440"/>
              <a:gd name="connsiteX3" fmla="*/ 5257800 w 6256020"/>
              <a:gd name="connsiteY3" fmla="*/ 1508760 h 1667440"/>
              <a:gd name="connsiteX4" fmla="*/ 6256020 w 6256020"/>
              <a:gd name="connsiteY4" fmla="*/ 0 h 1667440"/>
              <a:gd name="connsiteX5" fmla="*/ 6256020 w 6256020"/>
              <a:gd name="connsiteY5" fmla="*/ 0 h 1667440"/>
              <a:gd name="connsiteX0" fmla="*/ 0 w 6256020"/>
              <a:gd name="connsiteY0" fmla="*/ 853440 h 1687713"/>
              <a:gd name="connsiteX1" fmla="*/ 1836420 w 6256020"/>
              <a:gd name="connsiteY1" fmla="*/ 1584960 h 1687713"/>
              <a:gd name="connsiteX2" fmla="*/ 3467100 w 6256020"/>
              <a:gd name="connsiteY2" fmla="*/ 1630680 h 1687713"/>
              <a:gd name="connsiteX3" fmla="*/ 5501640 w 6256020"/>
              <a:gd name="connsiteY3" fmla="*/ 1097280 h 1687713"/>
              <a:gd name="connsiteX4" fmla="*/ 6256020 w 6256020"/>
              <a:gd name="connsiteY4" fmla="*/ 0 h 1687713"/>
              <a:gd name="connsiteX5" fmla="*/ 6256020 w 6256020"/>
              <a:gd name="connsiteY5" fmla="*/ 0 h 1687713"/>
              <a:gd name="connsiteX0" fmla="*/ 0 w 6256020"/>
              <a:gd name="connsiteY0" fmla="*/ 853440 h 1696130"/>
              <a:gd name="connsiteX1" fmla="*/ 1836420 w 6256020"/>
              <a:gd name="connsiteY1" fmla="*/ 1584960 h 1696130"/>
              <a:gd name="connsiteX2" fmla="*/ 3467100 w 6256020"/>
              <a:gd name="connsiteY2" fmla="*/ 1630680 h 1696130"/>
              <a:gd name="connsiteX3" fmla="*/ 5303520 w 6256020"/>
              <a:gd name="connsiteY3" fmla="*/ 975360 h 1696130"/>
              <a:gd name="connsiteX4" fmla="*/ 6256020 w 6256020"/>
              <a:gd name="connsiteY4" fmla="*/ 0 h 1696130"/>
              <a:gd name="connsiteX5" fmla="*/ 6256020 w 6256020"/>
              <a:gd name="connsiteY5" fmla="*/ 0 h 1696130"/>
              <a:gd name="connsiteX0" fmla="*/ 0 w 6256020"/>
              <a:gd name="connsiteY0" fmla="*/ 853440 h 1681082"/>
              <a:gd name="connsiteX1" fmla="*/ 1836420 w 6256020"/>
              <a:gd name="connsiteY1" fmla="*/ 1584960 h 1681082"/>
              <a:gd name="connsiteX2" fmla="*/ 3467100 w 6256020"/>
              <a:gd name="connsiteY2" fmla="*/ 1630680 h 1681082"/>
              <a:gd name="connsiteX3" fmla="*/ 5303520 w 6256020"/>
              <a:gd name="connsiteY3" fmla="*/ 975360 h 1681082"/>
              <a:gd name="connsiteX4" fmla="*/ 6256020 w 6256020"/>
              <a:gd name="connsiteY4" fmla="*/ 0 h 1681082"/>
              <a:gd name="connsiteX5" fmla="*/ 6256020 w 6256020"/>
              <a:gd name="connsiteY5" fmla="*/ 0 h 1681082"/>
              <a:gd name="connsiteX0" fmla="*/ 0 w 6256020"/>
              <a:gd name="connsiteY0" fmla="*/ 853440 h 1704679"/>
              <a:gd name="connsiteX1" fmla="*/ 1821180 w 6256020"/>
              <a:gd name="connsiteY1" fmla="*/ 1638300 h 1704679"/>
              <a:gd name="connsiteX2" fmla="*/ 3467100 w 6256020"/>
              <a:gd name="connsiteY2" fmla="*/ 1630680 h 1704679"/>
              <a:gd name="connsiteX3" fmla="*/ 5303520 w 6256020"/>
              <a:gd name="connsiteY3" fmla="*/ 975360 h 1704679"/>
              <a:gd name="connsiteX4" fmla="*/ 6256020 w 6256020"/>
              <a:gd name="connsiteY4" fmla="*/ 0 h 1704679"/>
              <a:gd name="connsiteX5" fmla="*/ 6256020 w 6256020"/>
              <a:gd name="connsiteY5" fmla="*/ 0 h 1704679"/>
              <a:gd name="connsiteX0" fmla="*/ 0 w 6362700"/>
              <a:gd name="connsiteY0" fmla="*/ 853440 h 1724957"/>
              <a:gd name="connsiteX1" fmla="*/ 1927860 w 6362700"/>
              <a:gd name="connsiteY1" fmla="*/ 1638300 h 1724957"/>
              <a:gd name="connsiteX2" fmla="*/ 3573780 w 6362700"/>
              <a:gd name="connsiteY2" fmla="*/ 1630680 h 1724957"/>
              <a:gd name="connsiteX3" fmla="*/ 5410200 w 6362700"/>
              <a:gd name="connsiteY3" fmla="*/ 975360 h 1724957"/>
              <a:gd name="connsiteX4" fmla="*/ 6362700 w 6362700"/>
              <a:gd name="connsiteY4" fmla="*/ 0 h 1724957"/>
              <a:gd name="connsiteX5" fmla="*/ 6362700 w 6362700"/>
              <a:gd name="connsiteY5" fmla="*/ 0 h 1724957"/>
              <a:gd name="connsiteX0" fmla="*/ 0 w 6362700"/>
              <a:gd name="connsiteY0" fmla="*/ 853440 h 1724957"/>
              <a:gd name="connsiteX1" fmla="*/ 1927860 w 6362700"/>
              <a:gd name="connsiteY1" fmla="*/ 1638300 h 1724957"/>
              <a:gd name="connsiteX2" fmla="*/ 3573780 w 6362700"/>
              <a:gd name="connsiteY2" fmla="*/ 1630680 h 1724957"/>
              <a:gd name="connsiteX3" fmla="*/ 5410200 w 6362700"/>
              <a:gd name="connsiteY3" fmla="*/ 975360 h 1724957"/>
              <a:gd name="connsiteX4" fmla="*/ 6362700 w 6362700"/>
              <a:gd name="connsiteY4" fmla="*/ 0 h 1724957"/>
              <a:gd name="connsiteX5" fmla="*/ 6362700 w 6362700"/>
              <a:gd name="connsiteY5" fmla="*/ 0 h 1724957"/>
              <a:gd name="connsiteX0" fmla="*/ 0 w 6362700"/>
              <a:gd name="connsiteY0" fmla="*/ 853440 h 1760756"/>
              <a:gd name="connsiteX1" fmla="*/ 1920240 w 6362700"/>
              <a:gd name="connsiteY1" fmla="*/ 1691640 h 1760756"/>
              <a:gd name="connsiteX2" fmla="*/ 3573780 w 6362700"/>
              <a:gd name="connsiteY2" fmla="*/ 1630680 h 1760756"/>
              <a:gd name="connsiteX3" fmla="*/ 5410200 w 6362700"/>
              <a:gd name="connsiteY3" fmla="*/ 975360 h 1760756"/>
              <a:gd name="connsiteX4" fmla="*/ 6362700 w 6362700"/>
              <a:gd name="connsiteY4" fmla="*/ 0 h 1760756"/>
              <a:gd name="connsiteX5" fmla="*/ 6362700 w 6362700"/>
              <a:gd name="connsiteY5" fmla="*/ 0 h 1760756"/>
              <a:gd name="connsiteX0" fmla="*/ 0 w 6362700"/>
              <a:gd name="connsiteY0" fmla="*/ 853440 h 1730921"/>
              <a:gd name="connsiteX1" fmla="*/ 1920240 w 6362700"/>
              <a:gd name="connsiteY1" fmla="*/ 1691640 h 1730921"/>
              <a:gd name="connsiteX2" fmla="*/ 3573780 w 6362700"/>
              <a:gd name="connsiteY2" fmla="*/ 1630680 h 1730921"/>
              <a:gd name="connsiteX3" fmla="*/ 5410200 w 6362700"/>
              <a:gd name="connsiteY3" fmla="*/ 975360 h 1730921"/>
              <a:gd name="connsiteX4" fmla="*/ 6362700 w 6362700"/>
              <a:gd name="connsiteY4" fmla="*/ 0 h 1730921"/>
              <a:gd name="connsiteX5" fmla="*/ 6362700 w 6362700"/>
              <a:gd name="connsiteY5" fmla="*/ 0 h 1730921"/>
              <a:gd name="connsiteX0" fmla="*/ 0 w 6362700"/>
              <a:gd name="connsiteY0" fmla="*/ 853440 h 1733235"/>
              <a:gd name="connsiteX1" fmla="*/ 1920240 w 6362700"/>
              <a:gd name="connsiteY1" fmla="*/ 1691640 h 1733235"/>
              <a:gd name="connsiteX2" fmla="*/ 3573780 w 6362700"/>
              <a:gd name="connsiteY2" fmla="*/ 1630680 h 1733235"/>
              <a:gd name="connsiteX3" fmla="*/ 5341620 w 6362700"/>
              <a:gd name="connsiteY3" fmla="*/ 929640 h 1733235"/>
              <a:gd name="connsiteX4" fmla="*/ 6362700 w 6362700"/>
              <a:gd name="connsiteY4" fmla="*/ 0 h 1733235"/>
              <a:gd name="connsiteX5" fmla="*/ 6362700 w 6362700"/>
              <a:gd name="connsiteY5" fmla="*/ 0 h 1733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62700" h="1733235">
                <a:moveTo>
                  <a:pt x="0" y="853440"/>
                </a:moveTo>
                <a:cubicBezTo>
                  <a:pt x="469900" y="1445895"/>
                  <a:pt x="1309370" y="1630680"/>
                  <a:pt x="1920240" y="1691640"/>
                </a:cubicBezTo>
                <a:cubicBezTo>
                  <a:pt x="2531110" y="1752600"/>
                  <a:pt x="3003550" y="1757680"/>
                  <a:pt x="3573780" y="1630680"/>
                </a:cubicBezTo>
                <a:cubicBezTo>
                  <a:pt x="4144010" y="1503680"/>
                  <a:pt x="4876800" y="1201420"/>
                  <a:pt x="5341620" y="929640"/>
                </a:cubicBezTo>
                <a:cubicBezTo>
                  <a:pt x="5806440" y="657860"/>
                  <a:pt x="6192520" y="154940"/>
                  <a:pt x="6362700" y="0"/>
                </a:cubicBezTo>
                <a:lnTo>
                  <a:pt x="6362700" y="0"/>
                </a:lnTo>
              </a:path>
            </a:pathLst>
          </a:cu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9" name="椭圆 28"/>
          <p:cNvSpPr/>
          <p:nvPr/>
        </p:nvSpPr>
        <p:spPr>
          <a:xfrm>
            <a:off x="2395490" y="4776438"/>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30" name="椭圆 29"/>
          <p:cNvSpPr/>
          <p:nvPr/>
        </p:nvSpPr>
        <p:spPr>
          <a:xfrm>
            <a:off x="1631925" y="4117240"/>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31" name="椭圆 30"/>
          <p:cNvSpPr/>
          <p:nvPr/>
        </p:nvSpPr>
        <p:spPr>
          <a:xfrm>
            <a:off x="1896854" y="4553424"/>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32" name="椭圆 31"/>
          <p:cNvSpPr/>
          <p:nvPr/>
        </p:nvSpPr>
        <p:spPr>
          <a:xfrm>
            <a:off x="2813282" y="4936971"/>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33" name="椭圆 32"/>
          <p:cNvSpPr/>
          <p:nvPr/>
        </p:nvSpPr>
        <p:spPr>
          <a:xfrm>
            <a:off x="4760595" y="4112031"/>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34" name="椭圆 33"/>
          <p:cNvSpPr/>
          <p:nvPr/>
        </p:nvSpPr>
        <p:spPr>
          <a:xfrm>
            <a:off x="5674411" y="4063240"/>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35" name="椭圆 34"/>
          <p:cNvSpPr/>
          <p:nvPr/>
        </p:nvSpPr>
        <p:spPr>
          <a:xfrm>
            <a:off x="2984104" y="4553752"/>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36" name="椭圆 35"/>
          <p:cNvSpPr/>
          <p:nvPr/>
        </p:nvSpPr>
        <p:spPr>
          <a:xfrm>
            <a:off x="3896744" y="4333240"/>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37" name="椭圆 36"/>
          <p:cNvSpPr/>
          <p:nvPr/>
        </p:nvSpPr>
        <p:spPr>
          <a:xfrm>
            <a:off x="4475291" y="4338291"/>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38" name="椭圆 37"/>
          <p:cNvSpPr/>
          <p:nvPr/>
        </p:nvSpPr>
        <p:spPr>
          <a:xfrm>
            <a:off x="4502106" y="4882105"/>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39" name="椭圆 38"/>
          <p:cNvSpPr/>
          <p:nvPr/>
        </p:nvSpPr>
        <p:spPr>
          <a:xfrm>
            <a:off x="3869929" y="4745201"/>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40" name="等腰三角形 39"/>
          <p:cNvSpPr/>
          <p:nvPr/>
        </p:nvSpPr>
        <p:spPr>
          <a:xfrm>
            <a:off x="3035858" y="3367391"/>
            <a:ext cx="108000" cy="108000"/>
          </a:xfrm>
          <a:prstGeom prst="triangl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1" name="等腰三角形 40"/>
          <p:cNvSpPr/>
          <p:nvPr/>
        </p:nvSpPr>
        <p:spPr>
          <a:xfrm>
            <a:off x="3621709" y="3003344"/>
            <a:ext cx="108000" cy="108000"/>
          </a:xfrm>
          <a:prstGeom prst="triangl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2" name="等腰三角形 41"/>
          <p:cNvSpPr/>
          <p:nvPr/>
        </p:nvSpPr>
        <p:spPr>
          <a:xfrm>
            <a:off x="2725481" y="3548778"/>
            <a:ext cx="108000" cy="108000"/>
          </a:xfrm>
          <a:prstGeom prst="triangl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3" name="等腰三角形 42"/>
          <p:cNvSpPr/>
          <p:nvPr/>
        </p:nvSpPr>
        <p:spPr>
          <a:xfrm>
            <a:off x="3178577" y="2891098"/>
            <a:ext cx="108000" cy="108000"/>
          </a:xfrm>
          <a:prstGeom prst="triangl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4" name="等腰三角形 43"/>
          <p:cNvSpPr/>
          <p:nvPr/>
        </p:nvSpPr>
        <p:spPr>
          <a:xfrm>
            <a:off x="4621838" y="2837098"/>
            <a:ext cx="108000" cy="108000"/>
          </a:xfrm>
          <a:prstGeom prst="triangl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5" name="等腰三角形 44"/>
          <p:cNvSpPr/>
          <p:nvPr/>
        </p:nvSpPr>
        <p:spPr>
          <a:xfrm>
            <a:off x="5652003" y="2837098"/>
            <a:ext cx="108000" cy="108000"/>
          </a:xfrm>
          <a:prstGeom prst="triangl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6" name="椭圆 45"/>
          <p:cNvSpPr/>
          <p:nvPr/>
        </p:nvSpPr>
        <p:spPr>
          <a:xfrm>
            <a:off x="2744033" y="4714085"/>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47" name="标题 1">
            <a:extLst>
              <a:ext uri="{FF2B5EF4-FFF2-40B4-BE49-F238E27FC236}">
                <a16:creationId xmlns:a16="http://schemas.microsoft.com/office/drawing/2014/main" id="{76CD45F9-01CE-417A-B951-FA1F5E2DC94C}"/>
              </a:ext>
            </a:extLst>
          </p:cNvPr>
          <p:cNvSpPr>
            <a:spLocks noGrp="1"/>
          </p:cNvSpPr>
          <p:nvPr>
            <p:ph type="title"/>
          </p:nvPr>
        </p:nvSpPr>
        <p:spPr>
          <a:xfrm>
            <a:off x="914400" y="274638"/>
            <a:ext cx="7772400" cy="1143000"/>
          </a:xfrm>
        </p:spPr>
        <p:txBody>
          <a:bodyPr/>
          <a:lstStyle/>
          <a:p>
            <a:pPr>
              <a:defRPr/>
            </a:pPr>
            <a:r>
              <a:rPr lang="zh-CN" altLang="en-US" dirty="0"/>
              <a:t>不同</a:t>
            </a:r>
            <a:r>
              <a:rPr lang="en-US" altLang="zh-CN" dirty="0"/>
              <a:t>σ</a:t>
            </a:r>
            <a:r>
              <a:rPr lang="zh-CN" altLang="en-US" dirty="0"/>
              <a:t>值下的分界面示意图</a:t>
            </a:r>
          </a:p>
        </p:txBody>
      </p:sp>
      <p:sp>
        <p:nvSpPr>
          <p:cNvPr id="48" name="内容占位符 2">
            <a:extLst>
              <a:ext uri="{FF2B5EF4-FFF2-40B4-BE49-F238E27FC236}">
                <a16:creationId xmlns:a16="http://schemas.microsoft.com/office/drawing/2014/main" id="{22996990-B622-4336-A643-955935CBEF56}"/>
              </a:ext>
            </a:extLst>
          </p:cNvPr>
          <p:cNvSpPr>
            <a:spLocks noGrp="1"/>
          </p:cNvSpPr>
          <p:nvPr>
            <p:ph idx="1"/>
          </p:nvPr>
        </p:nvSpPr>
        <p:spPr>
          <a:xfrm>
            <a:off x="914400" y="1710750"/>
            <a:ext cx="7772400" cy="4175234"/>
          </a:xfrm>
        </p:spPr>
        <p:txBody>
          <a:bodyPr/>
          <a:lstStyle/>
          <a:p>
            <a:pPr>
              <a:defRPr/>
            </a:pPr>
            <a:r>
              <a:rPr lang="en-US" altLang="zh-CN" dirty="0"/>
              <a:t>σ</a:t>
            </a:r>
            <a:r>
              <a:rPr lang="zh-CN" altLang="en-US" dirty="0"/>
              <a:t>值比较大时</a:t>
            </a:r>
            <a:r>
              <a:rPr lang="en-US" altLang="zh-CN" dirty="0"/>
              <a:t>——</a:t>
            </a:r>
            <a:r>
              <a:rPr lang="zh-CN" altLang="en-US" dirty="0"/>
              <a:t>欠拟合</a:t>
            </a:r>
          </a:p>
        </p:txBody>
      </p:sp>
    </p:spTree>
    <p:extLst>
      <p:ext uri="{BB962C8B-B14F-4D97-AF65-F5344CB8AC3E}">
        <p14:creationId xmlns:p14="http://schemas.microsoft.com/office/powerpoint/2010/main" val="270325300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等腰三角形 6"/>
          <p:cNvSpPr/>
          <p:nvPr/>
        </p:nvSpPr>
        <p:spPr>
          <a:xfrm>
            <a:off x="5157017" y="3717560"/>
            <a:ext cx="108000" cy="108000"/>
          </a:xfrm>
          <a:prstGeom prst="triangl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3" name="椭圆 12"/>
          <p:cNvSpPr/>
          <p:nvPr/>
        </p:nvSpPr>
        <p:spPr>
          <a:xfrm>
            <a:off x="3252740" y="4247539"/>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14" name="椭圆 13"/>
          <p:cNvSpPr/>
          <p:nvPr/>
        </p:nvSpPr>
        <p:spPr>
          <a:xfrm>
            <a:off x="4363852" y="3865725"/>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15" name="椭圆 14"/>
          <p:cNvSpPr/>
          <p:nvPr/>
        </p:nvSpPr>
        <p:spPr>
          <a:xfrm>
            <a:off x="3422759" y="3865725"/>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16" name="椭圆 15"/>
          <p:cNvSpPr/>
          <p:nvPr/>
        </p:nvSpPr>
        <p:spPr>
          <a:xfrm>
            <a:off x="5265017" y="4247539"/>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17" name="椭圆 16"/>
          <p:cNvSpPr/>
          <p:nvPr/>
        </p:nvSpPr>
        <p:spPr>
          <a:xfrm>
            <a:off x="3749099" y="3523027"/>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18" name="椭圆 17"/>
          <p:cNvSpPr/>
          <p:nvPr/>
        </p:nvSpPr>
        <p:spPr>
          <a:xfrm>
            <a:off x="6052185" y="3402828"/>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19" name="椭圆 18"/>
          <p:cNvSpPr/>
          <p:nvPr/>
        </p:nvSpPr>
        <p:spPr>
          <a:xfrm>
            <a:off x="5891581" y="3771560"/>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20" name="椭圆 19"/>
          <p:cNvSpPr/>
          <p:nvPr/>
        </p:nvSpPr>
        <p:spPr>
          <a:xfrm>
            <a:off x="3869929" y="3811725"/>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21" name="等腰三角形 20"/>
          <p:cNvSpPr/>
          <p:nvPr/>
        </p:nvSpPr>
        <p:spPr>
          <a:xfrm>
            <a:off x="5415707" y="3348828"/>
            <a:ext cx="108000" cy="108000"/>
          </a:xfrm>
          <a:prstGeom prst="triangl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2" name="等腰三角形 21"/>
          <p:cNvSpPr/>
          <p:nvPr/>
        </p:nvSpPr>
        <p:spPr>
          <a:xfrm>
            <a:off x="2169720" y="4031539"/>
            <a:ext cx="108000" cy="108000"/>
          </a:xfrm>
          <a:prstGeom prst="triangl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3" name="等腰三角形 22"/>
          <p:cNvSpPr/>
          <p:nvPr/>
        </p:nvSpPr>
        <p:spPr>
          <a:xfrm>
            <a:off x="2450583" y="3961270"/>
            <a:ext cx="108000" cy="108000"/>
          </a:xfrm>
          <a:prstGeom prst="triangl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4" name="等腰三角形 23"/>
          <p:cNvSpPr/>
          <p:nvPr/>
        </p:nvSpPr>
        <p:spPr>
          <a:xfrm>
            <a:off x="2427850" y="4276683"/>
            <a:ext cx="108000" cy="108000"/>
          </a:xfrm>
          <a:prstGeom prst="triangl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5" name="等腰三角形 24"/>
          <p:cNvSpPr/>
          <p:nvPr/>
        </p:nvSpPr>
        <p:spPr>
          <a:xfrm>
            <a:off x="2779481" y="3900624"/>
            <a:ext cx="108000" cy="108000"/>
          </a:xfrm>
          <a:prstGeom prst="triangl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6" name="等腰三角形 25"/>
          <p:cNvSpPr/>
          <p:nvPr/>
        </p:nvSpPr>
        <p:spPr>
          <a:xfrm>
            <a:off x="4887230" y="3389690"/>
            <a:ext cx="108000" cy="108000"/>
          </a:xfrm>
          <a:prstGeom prst="triangl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7" name="等腰三角形 26"/>
          <p:cNvSpPr/>
          <p:nvPr/>
        </p:nvSpPr>
        <p:spPr>
          <a:xfrm>
            <a:off x="1966790" y="3687875"/>
            <a:ext cx="108000" cy="108000"/>
          </a:xfrm>
          <a:prstGeom prst="triangl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8" name="等腰三角形 27"/>
          <p:cNvSpPr/>
          <p:nvPr/>
        </p:nvSpPr>
        <p:spPr>
          <a:xfrm>
            <a:off x="4255852" y="3155726"/>
            <a:ext cx="108000" cy="108000"/>
          </a:xfrm>
          <a:prstGeom prst="triangl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9" name="椭圆 28"/>
          <p:cNvSpPr/>
          <p:nvPr/>
        </p:nvSpPr>
        <p:spPr>
          <a:xfrm>
            <a:off x="2395490" y="4798737"/>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30" name="椭圆 29"/>
          <p:cNvSpPr/>
          <p:nvPr/>
        </p:nvSpPr>
        <p:spPr>
          <a:xfrm>
            <a:off x="1631925" y="4139539"/>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31" name="椭圆 30"/>
          <p:cNvSpPr/>
          <p:nvPr/>
        </p:nvSpPr>
        <p:spPr>
          <a:xfrm>
            <a:off x="1896854" y="4575723"/>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32" name="椭圆 31"/>
          <p:cNvSpPr/>
          <p:nvPr/>
        </p:nvSpPr>
        <p:spPr>
          <a:xfrm>
            <a:off x="2813282" y="4959270"/>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33" name="椭圆 32"/>
          <p:cNvSpPr/>
          <p:nvPr/>
        </p:nvSpPr>
        <p:spPr>
          <a:xfrm>
            <a:off x="4760595" y="4134330"/>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34" name="椭圆 33"/>
          <p:cNvSpPr/>
          <p:nvPr/>
        </p:nvSpPr>
        <p:spPr>
          <a:xfrm>
            <a:off x="5674411" y="4085539"/>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35" name="椭圆 34"/>
          <p:cNvSpPr/>
          <p:nvPr/>
        </p:nvSpPr>
        <p:spPr>
          <a:xfrm>
            <a:off x="2984104" y="4576051"/>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36" name="椭圆 35"/>
          <p:cNvSpPr/>
          <p:nvPr/>
        </p:nvSpPr>
        <p:spPr>
          <a:xfrm>
            <a:off x="3896744" y="4355539"/>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37" name="椭圆 36"/>
          <p:cNvSpPr/>
          <p:nvPr/>
        </p:nvSpPr>
        <p:spPr>
          <a:xfrm>
            <a:off x="4475291" y="4360590"/>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38" name="椭圆 37"/>
          <p:cNvSpPr/>
          <p:nvPr/>
        </p:nvSpPr>
        <p:spPr>
          <a:xfrm>
            <a:off x="4502106" y="4904404"/>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39" name="椭圆 38"/>
          <p:cNvSpPr/>
          <p:nvPr/>
        </p:nvSpPr>
        <p:spPr>
          <a:xfrm>
            <a:off x="3869929" y="4767500"/>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40" name="等腰三角形 39"/>
          <p:cNvSpPr/>
          <p:nvPr/>
        </p:nvSpPr>
        <p:spPr>
          <a:xfrm>
            <a:off x="3035858" y="3389690"/>
            <a:ext cx="108000" cy="108000"/>
          </a:xfrm>
          <a:prstGeom prst="triangl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1" name="等腰三角形 40"/>
          <p:cNvSpPr/>
          <p:nvPr/>
        </p:nvSpPr>
        <p:spPr>
          <a:xfrm>
            <a:off x="3621709" y="3025643"/>
            <a:ext cx="108000" cy="108000"/>
          </a:xfrm>
          <a:prstGeom prst="triangl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2" name="等腰三角形 41"/>
          <p:cNvSpPr/>
          <p:nvPr/>
        </p:nvSpPr>
        <p:spPr>
          <a:xfrm>
            <a:off x="2725481" y="3571077"/>
            <a:ext cx="108000" cy="108000"/>
          </a:xfrm>
          <a:prstGeom prst="triangl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3" name="等腰三角形 42"/>
          <p:cNvSpPr/>
          <p:nvPr/>
        </p:nvSpPr>
        <p:spPr>
          <a:xfrm>
            <a:off x="3178577" y="2913397"/>
            <a:ext cx="108000" cy="108000"/>
          </a:xfrm>
          <a:prstGeom prst="triangl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4" name="等腰三角形 43"/>
          <p:cNvSpPr/>
          <p:nvPr/>
        </p:nvSpPr>
        <p:spPr>
          <a:xfrm>
            <a:off x="4621838" y="2859397"/>
            <a:ext cx="108000" cy="108000"/>
          </a:xfrm>
          <a:prstGeom prst="triangl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5" name="等腰三角形 44"/>
          <p:cNvSpPr/>
          <p:nvPr/>
        </p:nvSpPr>
        <p:spPr>
          <a:xfrm>
            <a:off x="5652003" y="2859397"/>
            <a:ext cx="108000" cy="108000"/>
          </a:xfrm>
          <a:prstGeom prst="triangl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3" name="椭圆 2"/>
          <p:cNvSpPr/>
          <p:nvPr/>
        </p:nvSpPr>
        <p:spPr>
          <a:xfrm>
            <a:off x="1667821" y="3456828"/>
            <a:ext cx="1440180" cy="966006"/>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6" name="椭圆 45"/>
          <p:cNvSpPr/>
          <p:nvPr/>
        </p:nvSpPr>
        <p:spPr>
          <a:xfrm>
            <a:off x="4157324" y="2531684"/>
            <a:ext cx="1700708" cy="139309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7" name="椭圆 46"/>
          <p:cNvSpPr/>
          <p:nvPr/>
        </p:nvSpPr>
        <p:spPr>
          <a:xfrm>
            <a:off x="2779481" y="2691602"/>
            <a:ext cx="1051856" cy="966006"/>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9" name="椭圆 48"/>
          <p:cNvSpPr/>
          <p:nvPr/>
        </p:nvSpPr>
        <p:spPr>
          <a:xfrm>
            <a:off x="2744033" y="4736384"/>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48" name="标题 1">
            <a:extLst>
              <a:ext uri="{FF2B5EF4-FFF2-40B4-BE49-F238E27FC236}">
                <a16:creationId xmlns:a16="http://schemas.microsoft.com/office/drawing/2014/main" id="{CD7CA75C-F50F-4C00-8D90-1D3995720888}"/>
              </a:ext>
            </a:extLst>
          </p:cNvPr>
          <p:cNvSpPr txBox="1">
            <a:spLocks/>
          </p:cNvSpPr>
          <p:nvPr/>
        </p:nvSpPr>
        <p:spPr>
          <a:xfrm>
            <a:off x="914400" y="257911"/>
            <a:ext cx="7772400" cy="1143000"/>
          </a:xfrm>
          <a:prstGeom prst="rect">
            <a:avLst/>
          </a:prstGeom>
        </p:spPr>
        <p:txBody>
          <a:bodyPr bIns="91440" anchor="b" anchorCtr="0">
            <a:normAutofit/>
          </a:bodyPr>
          <a:lstStyle>
            <a:lvl1pPr algn="l" rtl="0" eaLnBrk="1" latinLnBrk="0" hangingPunct="1">
              <a:spcBef>
                <a:spcPct val="0"/>
              </a:spcBef>
              <a:buNone/>
              <a:defRPr kumimoji="0" sz="3200" b="1" kern="1200">
                <a:solidFill>
                  <a:srgbClr val="C00000"/>
                </a:solidFill>
                <a:latin typeface="Times New Roman" pitchFamily="18" charset="0"/>
                <a:ea typeface="+mj-ea"/>
                <a:cs typeface="Times New Roman" pitchFamily="18" charset="0"/>
              </a:defRPr>
            </a:lvl1pPr>
          </a:lstStyle>
          <a:p>
            <a:pPr>
              <a:defRPr/>
            </a:pPr>
            <a:r>
              <a:rPr lang="zh-CN" altLang="en-US"/>
              <a:t>不同</a:t>
            </a:r>
            <a:r>
              <a:rPr lang="en-US" altLang="zh-CN"/>
              <a:t>σ</a:t>
            </a:r>
            <a:r>
              <a:rPr lang="zh-CN" altLang="en-US"/>
              <a:t>值下的分界面示意图</a:t>
            </a:r>
            <a:endParaRPr lang="zh-CN" altLang="en-US" dirty="0"/>
          </a:p>
        </p:txBody>
      </p:sp>
      <p:sp>
        <p:nvSpPr>
          <p:cNvPr id="50" name="内容占位符 2">
            <a:extLst>
              <a:ext uri="{FF2B5EF4-FFF2-40B4-BE49-F238E27FC236}">
                <a16:creationId xmlns:a16="http://schemas.microsoft.com/office/drawing/2014/main" id="{ADDE09E4-5FA2-46AB-8E76-D73738DC87C8}"/>
              </a:ext>
            </a:extLst>
          </p:cNvPr>
          <p:cNvSpPr txBox="1">
            <a:spLocks/>
          </p:cNvSpPr>
          <p:nvPr/>
        </p:nvSpPr>
        <p:spPr>
          <a:xfrm>
            <a:off x="914400" y="1694023"/>
            <a:ext cx="7772400" cy="4175234"/>
          </a:xfrm>
          <a:prstGeom prst="rect">
            <a:avLst/>
          </a:prstGeom>
        </p:spPr>
        <p:txBody>
          <a:bodyPr vert="horz">
            <a:normAutofit/>
          </a:bodyPr>
          <a:lstStyle>
            <a:lvl1pPr marL="274320" indent="-274320" algn="l" rtl="0" eaLnBrk="1" latinLnBrk="0" hangingPunct="1">
              <a:spcBef>
                <a:spcPts val="580"/>
              </a:spcBef>
              <a:buClr>
                <a:schemeClr val="accent1"/>
              </a:buClr>
              <a:buSzPct val="85000"/>
              <a:buFontTx/>
              <a:buBlip>
                <a:blip r:embed="rId2"/>
              </a:buBlip>
              <a:defRPr kumimoji="0" sz="2600" kern="1200">
                <a:solidFill>
                  <a:schemeClr val="tx1"/>
                </a:solidFill>
                <a:latin typeface="+mn-lt"/>
                <a:ea typeface="+mn-ea"/>
                <a:cs typeface="+mn-cs"/>
              </a:defRPr>
            </a:lvl1pPr>
            <a:lvl2pPr marL="548640" indent="-228600" algn="l" rtl="0" eaLnBrk="1" latinLnBrk="0" hangingPunct="1">
              <a:spcBef>
                <a:spcPts val="370"/>
              </a:spcBef>
              <a:buClr>
                <a:srgbClr val="503DDB"/>
              </a:buClr>
              <a:buSzPct val="45000"/>
              <a:buFont typeface="Wingdings" pitchFamily="2" charset="2"/>
              <a:buChar char="q"/>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a:defRPr/>
            </a:pPr>
            <a:r>
              <a:rPr lang="en-US" altLang="zh-CN" dirty="0"/>
              <a:t>σ</a:t>
            </a:r>
            <a:r>
              <a:rPr lang="zh-CN" altLang="en-US" dirty="0"/>
              <a:t>值比较小时</a:t>
            </a:r>
            <a:r>
              <a:rPr lang="en-US" altLang="zh-CN" dirty="0"/>
              <a:t>——</a:t>
            </a:r>
            <a:r>
              <a:rPr lang="zh-CN" altLang="en-US" dirty="0"/>
              <a:t>过拟合</a:t>
            </a:r>
          </a:p>
        </p:txBody>
      </p:sp>
    </p:spTree>
    <p:extLst>
      <p:ext uri="{BB962C8B-B14F-4D97-AF65-F5344CB8AC3E}">
        <p14:creationId xmlns:p14="http://schemas.microsoft.com/office/powerpoint/2010/main" val="319755205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等腰三角形 6"/>
          <p:cNvSpPr/>
          <p:nvPr/>
        </p:nvSpPr>
        <p:spPr>
          <a:xfrm>
            <a:off x="5157017" y="3589349"/>
            <a:ext cx="108000" cy="108000"/>
          </a:xfrm>
          <a:prstGeom prst="triangl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3" name="椭圆 12"/>
          <p:cNvSpPr/>
          <p:nvPr/>
        </p:nvSpPr>
        <p:spPr>
          <a:xfrm>
            <a:off x="3252740" y="4136026"/>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14" name="椭圆 13"/>
          <p:cNvSpPr/>
          <p:nvPr/>
        </p:nvSpPr>
        <p:spPr>
          <a:xfrm>
            <a:off x="4363852" y="3754212"/>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15" name="椭圆 14"/>
          <p:cNvSpPr/>
          <p:nvPr/>
        </p:nvSpPr>
        <p:spPr>
          <a:xfrm>
            <a:off x="3422759" y="3754212"/>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16" name="椭圆 15"/>
          <p:cNvSpPr/>
          <p:nvPr/>
        </p:nvSpPr>
        <p:spPr>
          <a:xfrm>
            <a:off x="5265017" y="4136026"/>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17" name="椭圆 16"/>
          <p:cNvSpPr/>
          <p:nvPr/>
        </p:nvSpPr>
        <p:spPr>
          <a:xfrm>
            <a:off x="3749099" y="3411514"/>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18" name="椭圆 17"/>
          <p:cNvSpPr/>
          <p:nvPr/>
        </p:nvSpPr>
        <p:spPr>
          <a:xfrm>
            <a:off x="6052185" y="3291315"/>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19" name="椭圆 18"/>
          <p:cNvSpPr/>
          <p:nvPr/>
        </p:nvSpPr>
        <p:spPr>
          <a:xfrm>
            <a:off x="5891581" y="3660047"/>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20" name="椭圆 19"/>
          <p:cNvSpPr/>
          <p:nvPr/>
        </p:nvSpPr>
        <p:spPr>
          <a:xfrm>
            <a:off x="3869929" y="3700212"/>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21" name="等腰三角形 20"/>
          <p:cNvSpPr/>
          <p:nvPr/>
        </p:nvSpPr>
        <p:spPr>
          <a:xfrm>
            <a:off x="5415707" y="3237315"/>
            <a:ext cx="108000" cy="108000"/>
          </a:xfrm>
          <a:prstGeom prst="triangl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2" name="等腰三角形 21"/>
          <p:cNvSpPr/>
          <p:nvPr/>
        </p:nvSpPr>
        <p:spPr>
          <a:xfrm>
            <a:off x="2169720" y="3920026"/>
            <a:ext cx="108000" cy="108000"/>
          </a:xfrm>
          <a:prstGeom prst="triangl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3" name="等腰三角形 22"/>
          <p:cNvSpPr/>
          <p:nvPr/>
        </p:nvSpPr>
        <p:spPr>
          <a:xfrm>
            <a:off x="2450583" y="3849757"/>
            <a:ext cx="108000" cy="108000"/>
          </a:xfrm>
          <a:prstGeom prst="triangl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4" name="等腰三角形 23"/>
          <p:cNvSpPr/>
          <p:nvPr/>
        </p:nvSpPr>
        <p:spPr>
          <a:xfrm>
            <a:off x="2427850" y="4165170"/>
            <a:ext cx="108000" cy="108000"/>
          </a:xfrm>
          <a:prstGeom prst="triangl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5" name="等腰三角形 24"/>
          <p:cNvSpPr/>
          <p:nvPr/>
        </p:nvSpPr>
        <p:spPr>
          <a:xfrm>
            <a:off x="2779481" y="3789111"/>
            <a:ext cx="108000" cy="108000"/>
          </a:xfrm>
          <a:prstGeom prst="triangl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6" name="等腰三角形 25"/>
          <p:cNvSpPr/>
          <p:nvPr/>
        </p:nvSpPr>
        <p:spPr>
          <a:xfrm>
            <a:off x="4887230" y="3278177"/>
            <a:ext cx="108000" cy="108000"/>
          </a:xfrm>
          <a:prstGeom prst="triangl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7" name="等腰三角形 26"/>
          <p:cNvSpPr/>
          <p:nvPr/>
        </p:nvSpPr>
        <p:spPr>
          <a:xfrm>
            <a:off x="1966790" y="3576362"/>
            <a:ext cx="108000" cy="108000"/>
          </a:xfrm>
          <a:prstGeom prst="triangl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8" name="等腰三角形 27"/>
          <p:cNvSpPr/>
          <p:nvPr/>
        </p:nvSpPr>
        <p:spPr>
          <a:xfrm>
            <a:off x="4255852" y="3044213"/>
            <a:ext cx="108000" cy="108000"/>
          </a:xfrm>
          <a:prstGeom prst="triangl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 name="任意多边形 1"/>
          <p:cNvSpPr/>
          <p:nvPr/>
        </p:nvSpPr>
        <p:spPr>
          <a:xfrm>
            <a:off x="1685925" y="2801885"/>
            <a:ext cx="4366260" cy="1716326"/>
          </a:xfrm>
          <a:custGeom>
            <a:avLst/>
            <a:gdLst>
              <a:gd name="connsiteX0" fmla="*/ 0 w 5821680"/>
              <a:gd name="connsiteY0" fmla="*/ 906780 h 2288435"/>
              <a:gd name="connsiteX1" fmla="*/ 1082040 w 5821680"/>
              <a:gd name="connsiteY1" fmla="*/ 2286000 h 2288435"/>
              <a:gd name="connsiteX2" fmla="*/ 2773680 w 5821680"/>
              <a:gd name="connsiteY2" fmla="*/ 609600 h 2288435"/>
              <a:gd name="connsiteX3" fmla="*/ 4823460 w 5821680"/>
              <a:gd name="connsiteY3" fmla="*/ 1508760 h 2288435"/>
              <a:gd name="connsiteX4" fmla="*/ 5821680 w 5821680"/>
              <a:gd name="connsiteY4" fmla="*/ 0 h 2288435"/>
              <a:gd name="connsiteX5" fmla="*/ 5821680 w 5821680"/>
              <a:gd name="connsiteY5" fmla="*/ 0 h 2288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821680" h="2288435">
                <a:moveTo>
                  <a:pt x="0" y="906780"/>
                </a:moveTo>
                <a:cubicBezTo>
                  <a:pt x="309880" y="1621155"/>
                  <a:pt x="619760" y="2335530"/>
                  <a:pt x="1082040" y="2286000"/>
                </a:cubicBezTo>
                <a:cubicBezTo>
                  <a:pt x="1544320" y="2236470"/>
                  <a:pt x="2150110" y="739140"/>
                  <a:pt x="2773680" y="609600"/>
                </a:cubicBezTo>
                <a:cubicBezTo>
                  <a:pt x="3397250" y="480060"/>
                  <a:pt x="4315460" y="1610360"/>
                  <a:pt x="4823460" y="1508760"/>
                </a:cubicBezTo>
                <a:cubicBezTo>
                  <a:pt x="5331460" y="1407160"/>
                  <a:pt x="5821680" y="0"/>
                  <a:pt x="5821680" y="0"/>
                </a:cubicBezTo>
                <a:lnTo>
                  <a:pt x="5821680" y="0"/>
                </a:lnTo>
              </a:path>
            </a:pathLst>
          </a:cu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9" name="椭圆 28"/>
          <p:cNvSpPr/>
          <p:nvPr/>
        </p:nvSpPr>
        <p:spPr>
          <a:xfrm>
            <a:off x="2395490" y="4687224"/>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30" name="椭圆 29"/>
          <p:cNvSpPr/>
          <p:nvPr/>
        </p:nvSpPr>
        <p:spPr>
          <a:xfrm>
            <a:off x="1631925" y="4028026"/>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31" name="椭圆 30"/>
          <p:cNvSpPr/>
          <p:nvPr/>
        </p:nvSpPr>
        <p:spPr>
          <a:xfrm>
            <a:off x="1896854" y="4464210"/>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32" name="椭圆 31"/>
          <p:cNvSpPr/>
          <p:nvPr/>
        </p:nvSpPr>
        <p:spPr>
          <a:xfrm>
            <a:off x="2813282" y="4847757"/>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33" name="椭圆 32"/>
          <p:cNvSpPr/>
          <p:nvPr/>
        </p:nvSpPr>
        <p:spPr>
          <a:xfrm>
            <a:off x="4760595" y="4022817"/>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34" name="椭圆 33"/>
          <p:cNvSpPr/>
          <p:nvPr/>
        </p:nvSpPr>
        <p:spPr>
          <a:xfrm>
            <a:off x="5674411" y="3974026"/>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35" name="椭圆 34"/>
          <p:cNvSpPr/>
          <p:nvPr/>
        </p:nvSpPr>
        <p:spPr>
          <a:xfrm>
            <a:off x="2984104" y="4464538"/>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36" name="椭圆 35"/>
          <p:cNvSpPr/>
          <p:nvPr/>
        </p:nvSpPr>
        <p:spPr>
          <a:xfrm>
            <a:off x="3896744" y="4244026"/>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37" name="椭圆 36"/>
          <p:cNvSpPr/>
          <p:nvPr/>
        </p:nvSpPr>
        <p:spPr>
          <a:xfrm>
            <a:off x="4475291" y="4249077"/>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38" name="椭圆 37"/>
          <p:cNvSpPr/>
          <p:nvPr/>
        </p:nvSpPr>
        <p:spPr>
          <a:xfrm>
            <a:off x="4502106" y="4792891"/>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39" name="椭圆 38"/>
          <p:cNvSpPr/>
          <p:nvPr/>
        </p:nvSpPr>
        <p:spPr>
          <a:xfrm>
            <a:off x="3869929" y="4655987"/>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40" name="等腰三角形 39"/>
          <p:cNvSpPr/>
          <p:nvPr/>
        </p:nvSpPr>
        <p:spPr>
          <a:xfrm>
            <a:off x="3035858" y="3278177"/>
            <a:ext cx="108000" cy="108000"/>
          </a:xfrm>
          <a:prstGeom prst="triangl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1" name="等腰三角形 40"/>
          <p:cNvSpPr/>
          <p:nvPr/>
        </p:nvSpPr>
        <p:spPr>
          <a:xfrm>
            <a:off x="3621709" y="2914130"/>
            <a:ext cx="108000" cy="108000"/>
          </a:xfrm>
          <a:prstGeom prst="triangl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2" name="等腰三角形 41"/>
          <p:cNvSpPr/>
          <p:nvPr/>
        </p:nvSpPr>
        <p:spPr>
          <a:xfrm>
            <a:off x="2725481" y="3459564"/>
            <a:ext cx="108000" cy="108000"/>
          </a:xfrm>
          <a:prstGeom prst="triangl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3" name="等腰三角形 42"/>
          <p:cNvSpPr/>
          <p:nvPr/>
        </p:nvSpPr>
        <p:spPr>
          <a:xfrm>
            <a:off x="3178577" y="2801884"/>
            <a:ext cx="108000" cy="108000"/>
          </a:xfrm>
          <a:prstGeom prst="triangl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4" name="等腰三角形 43"/>
          <p:cNvSpPr/>
          <p:nvPr/>
        </p:nvSpPr>
        <p:spPr>
          <a:xfrm>
            <a:off x="4621838" y="2747884"/>
            <a:ext cx="108000" cy="108000"/>
          </a:xfrm>
          <a:prstGeom prst="triangl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5" name="等腰三角形 44"/>
          <p:cNvSpPr/>
          <p:nvPr/>
        </p:nvSpPr>
        <p:spPr>
          <a:xfrm>
            <a:off x="5652003" y="2747884"/>
            <a:ext cx="108000" cy="108000"/>
          </a:xfrm>
          <a:prstGeom prst="triangl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6" name="椭圆 45"/>
          <p:cNvSpPr/>
          <p:nvPr/>
        </p:nvSpPr>
        <p:spPr>
          <a:xfrm>
            <a:off x="2744033" y="4624871"/>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47" name="标题 1">
            <a:extLst>
              <a:ext uri="{FF2B5EF4-FFF2-40B4-BE49-F238E27FC236}">
                <a16:creationId xmlns:a16="http://schemas.microsoft.com/office/drawing/2014/main" id="{83212F4C-B79E-4DC1-9792-717ED458CE83}"/>
              </a:ext>
            </a:extLst>
          </p:cNvPr>
          <p:cNvSpPr txBox="1">
            <a:spLocks/>
          </p:cNvSpPr>
          <p:nvPr/>
        </p:nvSpPr>
        <p:spPr>
          <a:xfrm>
            <a:off x="914400" y="257911"/>
            <a:ext cx="7772400" cy="1143000"/>
          </a:xfrm>
          <a:prstGeom prst="rect">
            <a:avLst/>
          </a:prstGeom>
        </p:spPr>
        <p:txBody>
          <a:bodyPr bIns="91440" anchor="b" anchorCtr="0">
            <a:normAutofit/>
          </a:bodyPr>
          <a:lstStyle>
            <a:lvl1pPr algn="l" rtl="0" eaLnBrk="1" latinLnBrk="0" hangingPunct="1">
              <a:spcBef>
                <a:spcPct val="0"/>
              </a:spcBef>
              <a:buNone/>
              <a:defRPr kumimoji="0" sz="3200" b="1" kern="1200">
                <a:solidFill>
                  <a:srgbClr val="C00000"/>
                </a:solidFill>
                <a:latin typeface="Times New Roman" pitchFamily="18" charset="0"/>
                <a:ea typeface="+mj-ea"/>
                <a:cs typeface="Times New Roman" pitchFamily="18" charset="0"/>
              </a:defRPr>
            </a:lvl1pPr>
          </a:lstStyle>
          <a:p>
            <a:pPr>
              <a:defRPr/>
            </a:pPr>
            <a:r>
              <a:rPr lang="zh-CN" altLang="en-US"/>
              <a:t>不同</a:t>
            </a:r>
            <a:r>
              <a:rPr lang="en-US" altLang="zh-CN"/>
              <a:t>σ</a:t>
            </a:r>
            <a:r>
              <a:rPr lang="zh-CN" altLang="en-US"/>
              <a:t>值下的分界面示意图</a:t>
            </a:r>
            <a:endParaRPr lang="zh-CN" altLang="en-US" dirty="0"/>
          </a:p>
        </p:txBody>
      </p:sp>
      <p:sp>
        <p:nvSpPr>
          <p:cNvPr id="48" name="内容占位符 2">
            <a:extLst>
              <a:ext uri="{FF2B5EF4-FFF2-40B4-BE49-F238E27FC236}">
                <a16:creationId xmlns:a16="http://schemas.microsoft.com/office/drawing/2014/main" id="{06F2F103-D155-44D0-8CCA-D531DE613626}"/>
              </a:ext>
            </a:extLst>
          </p:cNvPr>
          <p:cNvSpPr txBox="1">
            <a:spLocks/>
          </p:cNvSpPr>
          <p:nvPr/>
        </p:nvSpPr>
        <p:spPr>
          <a:xfrm>
            <a:off x="914400" y="1694023"/>
            <a:ext cx="7772400" cy="4175234"/>
          </a:xfrm>
          <a:prstGeom prst="rect">
            <a:avLst/>
          </a:prstGeom>
        </p:spPr>
        <p:txBody>
          <a:bodyPr vert="horz">
            <a:normAutofit/>
          </a:bodyPr>
          <a:lstStyle>
            <a:lvl1pPr marL="274320" indent="-274320" algn="l" rtl="0" eaLnBrk="1" latinLnBrk="0" hangingPunct="1">
              <a:spcBef>
                <a:spcPts val="580"/>
              </a:spcBef>
              <a:buClr>
                <a:schemeClr val="accent1"/>
              </a:buClr>
              <a:buSzPct val="85000"/>
              <a:buFontTx/>
              <a:buBlip>
                <a:blip r:embed="rId2"/>
              </a:buBlip>
              <a:defRPr kumimoji="0" sz="2600" kern="1200">
                <a:solidFill>
                  <a:schemeClr val="tx1"/>
                </a:solidFill>
                <a:latin typeface="+mn-lt"/>
                <a:ea typeface="+mn-ea"/>
                <a:cs typeface="+mn-cs"/>
              </a:defRPr>
            </a:lvl1pPr>
            <a:lvl2pPr marL="548640" indent="-228600" algn="l" rtl="0" eaLnBrk="1" latinLnBrk="0" hangingPunct="1">
              <a:spcBef>
                <a:spcPts val="370"/>
              </a:spcBef>
              <a:buClr>
                <a:srgbClr val="503DDB"/>
              </a:buClr>
              <a:buSzPct val="45000"/>
              <a:buFont typeface="Wingdings" pitchFamily="2" charset="2"/>
              <a:buChar char="q"/>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a:defRPr/>
            </a:pPr>
            <a:r>
              <a:rPr lang="en-US" altLang="zh-CN" dirty="0"/>
              <a:t>σ</a:t>
            </a:r>
            <a:r>
              <a:rPr lang="zh-CN" altLang="en-US" dirty="0"/>
              <a:t>值合适时</a:t>
            </a:r>
            <a:r>
              <a:rPr lang="en-US" altLang="zh-CN" dirty="0"/>
              <a:t>——</a:t>
            </a:r>
            <a:r>
              <a:rPr lang="zh-CN" altLang="en-US" dirty="0"/>
              <a:t>恰拟合</a:t>
            </a:r>
          </a:p>
        </p:txBody>
      </p:sp>
    </p:spTree>
    <p:extLst>
      <p:ext uri="{BB962C8B-B14F-4D97-AF65-F5344CB8AC3E}">
        <p14:creationId xmlns:p14="http://schemas.microsoft.com/office/powerpoint/2010/main" val="264275385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dirty="0"/>
              <a:t>一个非线性分类的例子</a:t>
            </a:r>
          </a:p>
        </p:txBody>
      </p:sp>
      <p:sp>
        <p:nvSpPr>
          <p:cNvPr id="94211" name="内容占位符 2"/>
          <p:cNvSpPr>
            <a:spLocks noGrp="1"/>
          </p:cNvSpPr>
          <p:nvPr>
            <p:ph idx="1"/>
          </p:nvPr>
        </p:nvSpPr>
        <p:spPr/>
        <p:txBody>
          <a:bodyPr/>
          <a:lstStyle/>
          <a:p>
            <a:endParaRPr lang="zh-CN" altLang="en-US" dirty="0"/>
          </a:p>
        </p:txBody>
      </p:sp>
      <p:sp>
        <p:nvSpPr>
          <p:cNvPr id="94212" name="灯片编号占位符 3"/>
          <p:cNvSpPr>
            <a:spLocks noGrp="1"/>
          </p:cNvSpPr>
          <p:nvPr>
            <p:ph type="sldNum" sz="quarter" idx="12"/>
          </p:nvPr>
        </p:nvSpPr>
        <p:spPr>
          <a:noFill/>
        </p:spPr>
        <p:txBody>
          <a:bodyPr/>
          <a:lstStyle/>
          <a:p>
            <a:fld id="{4AFEB721-F933-4F0D-A1E0-EF43D190DECF}" type="slidenum">
              <a:rPr lang="en-US" altLang="zh-CN" smtClean="0">
                <a:ea typeface="黑体" pitchFamily="49" charset="-122"/>
              </a:rPr>
              <a:pPr/>
              <a:t>65</a:t>
            </a:fld>
            <a:endParaRPr lang="en-US" altLang="zh-CN">
              <a:ea typeface="黑体" pitchFamily="49" charset="-122"/>
            </a:endParaRPr>
          </a:p>
        </p:txBody>
      </p:sp>
      <p:pic>
        <p:nvPicPr>
          <p:cNvPr id="94213" name="Picture 2" descr="C:\Users\defaultstr\Documents\GitHub\mySVM\report\rbfc=4.png"/>
          <p:cNvPicPr>
            <a:picLocks noChangeAspect="1" noChangeArrowheads="1"/>
          </p:cNvPicPr>
          <p:nvPr/>
        </p:nvPicPr>
        <p:blipFill>
          <a:blip r:embed="rId2" cstate="print"/>
          <a:srcRect/>
          <a:stretch>
            <a:fillRect/>
          </a:stretch>
        </p:blipFill>
        <p:spPr bwMode="auto">
          <a:xfrm>
            <a:off x="987097" y="1495262"/>
            <a:ext cx="6565900" cy="4916487"/>
          </a:xfrm>
          <a:prstGeom prst="rect">
            <a:avLst/>
          </a:prstGeom>
          <a:noFill/>
          <a:ln w="9525">
            <a:noFill/>
            <a:miter lim="800000"/>
            <a:headEnd/>
            <a:tailEnd/>
          </a:ln>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dirty="0"/>
              <a:t>序列最小最优化算法</a:t>
            </a:r>
            <a:r>
              <a:rPr lang="en-US" altLang="zh-CN" dirty="0"/>
              <a:t>SMO</a:t>
            </a:r>
            <a:endParaRPr lang="zh-CN" altLang="en-US" dirty="0"/>
          </a:p>
        </p:txBody>
      </p:sp>
      <p:sp>
        <p:nvSpPr>
          <p:cNvPr id="95235" name="内容占位符 2"/>
          <p:cNvSpPr>
            <a:spLocks noGrp="1"/>
          </p:cNvSpPr>
          <p:nvPr>
            <p:ph idx="1"/>
          </p:nvPr>
        </p:nvSpPr>
        <p:spPr>
          <a:xfrm>
            <a:off x="914400" y="1765738"/>
            <a:ext cx="7772400" cy="4254062"/>
          </a:xfrm>
        </p:spPr>
        <p:txBody>
          <a:bodyPr/>
          <a:lstStyle/>
          <a:p>
            <a:r>
              <a:rPr lang="zh-CN" altLang="en-US" sz="3200" b="1" dirty="0"/>
              <a:t>支持向量机的学习问题是一个凸二次规划问题，具有全局最优解。</a:t>
            </a:r>
            <a:endParaRPr lang="en-US" altLang="zh-CN" sz="3200" b="1" dirty="0"/>
          </a:p>
          <a:p>
            <a:r>
              <a:rPr lang="zh-CN" altLang="en-US" sz="3200" b="1" dirty="0"/>
              <a:t>有很多算法可以求解这类问题，但是当样本数多时，往往非常低效，以致无法使用。</a:t>
            </a:r>
            <a:endParaRPr lang="en-US" altLang="zh-CN" sz="3200" b="1" dirty="0"/>
          </a:p>
          <a:p>
            <a:r>
              <a:rPr lang="zh-CN" altLang="en-US" sz="3200" b="1" dirty="0"/>
              <a:t>为此，提出了许多快速算法，</a:t>
            </a:r>
            <a:r>
              <a:rPr lang="en-US" altLang="zh-CN" sz="3200" b="1" dirty="0"/>
              <a:t>SMO </a:t>
            </a:r>
            <a:r>
              <a:rPr lang="zh-CN" altLang="en-US" sz="3200" b="1" dirty="0"/>
              <a:t>由微软的</a:t>
            </a:r>
            <a:r>
              <a:rPr lang="en-US" altLang="zh-CN" sz="3200" b="1" dirty="0"/>
              <a:t>Platt</a:t>
            </a:r>
            <a:r>
              <a:rPr lang="zh-CN" altLang="en-US" sz="3200" b="1" dirty="0"/>
              <a:t>与</a:t>
            </a:r>
            <a:r>
              <a:rPr lang="en-US" altLang="zh-CN" sz="3200" b="1" dirty="0"/>
              <a:t>1998</a:t>
            </a:r>
            <a:r>
              <a:rPr lang="zh-CN" altLang="en-US" sz="3200" b="1" dirty="0"/>
              <a:t>年提出，当时最快。</a:t>
            </a:r>
            <a:endParaRPr lang="en-US" altLang="zh-CN" sz="3200" b="1" dirty="0"/>
          </a:p>
          <a:p>
            <a:endParaRPr lang="en-US" altLang="zh-CN" dirty="0"/>
          </a:p>
          <a:p>
            <a:endParaRPr lang="zh-CN" altLang="en-US" dirty="0"/>
          </a:p>
        </p:txBody>
      </p:sp>
      <p:sp>
        <p:nvSpPr>
          <p:cNvPr id="95236" name="灯片编号占位符 3"/>
          <p:cNvSpPr>
            <a:spLocks noGrp="1"/>
          </p:cNvSpPr>
          <p:nvPr>
            <p:ph type="sldNum" sz="quarter" idx="12"/>
          </p:nvPr>
        </p:nvSpPr>
        <p:spPr>
          <a:noFill/>
        </p:spPr>
        <p:txBody>
          <a:bodyPr/>
          <a:lstStyle/>
          <a:p>
            <a:fld id="{E3B3A0A0-8DDF-4FF8-9AB5-363EFD0DF86E}" type="slidenum">
              <a:rPr lang="en-US" altLang="zh-CN" smtClean="0">
                <a:ea typeface="黑体" pitchFamily="49" charset="-122"/>
              </a:rPr>
              <a:pPr/>
              <a:t>66</a:t>
            </a:fld>
            <a:endParaRPr lang="en-US" altLang="zh-CN">
              <a:ea typeface="黑体" pitchFamily="49" charset="-122"/>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en-US" altLang="zh-CN" dirty="0"/>
              <a:t>SVM</a:t>
            </a:r>
            <a:r>
              <a:rPr lang="zh-CN" altLang="en-US" dirty="0"/>
              <a:t>用于求解多类问题</a:t>
            </a:r>
          </a:p>
        </p:txBody>
      </p:sp>
      <p:sp>
        <p:nvSpPr>
          <p:cNvPr id="3" name="内容占位符 2"/>
          <p:cNvSpPr>
            <a:spLocks noGrp="1"/>
          </p:cNvSpPr>
          <p:nvPr>
            <p:ph idx="1"/>
          </p:nvPr>
        </p:nvSpPr>
        <p:spPr>
          <a:xfrm>
            <a:off x="914400" y="1844566"/>
            <a:ext cx="7772400" cy="4175234"/>
          </a:xfrm>
        </p:spPr>
        <p:txBody>
          <a:bodyPr/>
          <a:lstStyle/>
          <a:p>
            <a:pPr>
              <a:defRPr/>
            </a:pPr>
            <a:r>
              <a:rPr lang="zh-CN" altLang="en-US" sz="3200" b="1" dirty="0"/>
              <a:t>一对多</a:t>
            </a:r>
            <a:endParaRPr lang="en-US" altLang="zh-CN" sz="3200" b="1" dirty="0"/>
          </a:p>
          <a:p>
            <a:pPr lvl="1">
              <a:defRPr/>
            </a:pPr>
            <a:r>
              <a:rPr lang="zh-CN" altLang="en-US" sz="2800" b="1" dirty="0"/>
              <a:t>某类为正例，其余类为负例。分类时将未知样本分类为具有最大分类函数值的那类</a:t>
            </a:r>
            <a:endParaRPr lang="en-US" altLang="zh-CN" sz="2800" b="1" dirty="0"/>
          </a:p>
          <a:p>
            <a:pPr marL="274320" lvl="1" indent="-274320">
              <a:spcBef>
                <a:spcPts val="580"/>
              </a:spcBef>
              <a:buClr>
                <a:schemeClr val="accent1"/>
              </a:buClr>
              <a:buSzPct val="85000"/>
              <a:buBlip>
                <a:blip r:embed="rId3"/>
              </a:buBlip>
              <a:defRPr/>
            </a:pPr>
            <a:r>
              <a:rPr lang="zh-CN" altLang="en-US" sz="3200" b="1" dirty="0"/>
              <a:t>一对一</a:t>
            </a:r>
            <a:endParaRPr lang="en-US" altLang="zh-CN" sz="3200" b="1" dirty="0"/>
          </a:p>
          <a:p>
            <a:pPr lvl="1">
              <a:defRPr/>
            </a:pPr>
            <a:r>
              <a:rPr lang="zh-CN" altLang="en-US" sz="2800" b="1" dirty="0"/>
              <a:t>任意两类构造一个</a:t>
            </a:r>
            <a:r>
              <a:rPr lang="en-US" altLang="zh-CN" sz="2800" b="1" dirty="0"/>
              <a:t>SVM</a:t>
            </a:r>
            <a:r>
              <a:rPr lang="zh-CN" altLang="en-US" sz="2800" b="1" dirty="0"/>
              <a:t>，分类时采取投票法决定类别</a:t>
            </a:r>
            <a:endParaRPr lang="en-US" altLang="zh-CN" sz="2800" b="1" dirty="0"/>
          </a:p>
          <a:p>
            <a:pPr>
              <a:defRPr/>
            </a:pPr>
            <a:r>
              <a:rPr lang="zh-CN" altLang="en-US" sz="3200" b="1" dirty="0"/>
              <a:t>层次法</a:t>
            </a:r>
            <a:endParaRPr lang="en-US" altLang="zh-CN" sz="3200" b="1" dirty="0"/>
          </a:p>
          <a:p>
            <a:pPr lvl="1">
              <a:defRPr/>
            </a:pPr>
            <a:r>
              <a:rPr lang="zh-CN" altLang="en-US" sz="2800" b="1" dirty="0"/>
              <a:t>所有类先分成两类，每类再分为两类</a:t>
            </a:r>
            <a:r>
              <a:rPr lang="en-US" altLang="zh-CN" sz="2800" b="1" dirty="0"/>
              <a:t>……</a:t>
            </a:r>
          </a:p>
          <a:p>
            <a:pPr lvl="2">
              <a:buFont typeface="Wingdings" pitchFamily="2" charset="2"/>
              <a:buNone/>
              <a:defRPr/>
            </a:pPr>
            <a:endParaRPr lang="zh-CN" altLang="en-US" dirty="0"/>
          </a:p>
        </p:txBody>
      </p:sp>
      <p:sp>
        <p:nvSpPr>
          <p:cNvPr id="98308" name="灯片编号占位符 3"/>
          <p:cNvSpPr>
            <a:spLocks noGrp="1"/>
          </p:cNvSpPr>
          <p:nvPr>
            <p:ph type="sldNum" sz="quarter" idx="12"/>
          </p:nvPr>
        </p:nvSpPr>
        <p:spPr>
          <a:noFill/>
        </p:spPr>
        <p:txBody>
          <a:bodyPr/>
          <a:lstStyle/>
          <a:p>
            <a:fld id="{E9661419-1EFD-47EB-A377-1B4B0E87A75A}" type="slidenum">
              <a:rPr lang="en-US" altLang="zh-CN" smtClean="0">
                <a:ea typeface="黑体" pitchFamily="49" charset="-122"/>
              </a:rPr>
              <a:pPr/>
              <a:t>67</a:t>
            </a:fld>
            <a:endParaRPr lang="en-US" altLang="zh-CN">
              <a:ea typeface="黑体" pitchFamily="49" charset="-122"/>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en-US" altLang="zh-CN" dirty="0"/>
              <a:t>SVM</a:t>
            </a:r>
            <a:r>
              <a:rPr lang="zh-CN" altLang="en-US" dirty="0"/>
              <a:t>应用举例：文本分类</a:t>
            </a:r>
          </a:p>
        </p:txBody>
      </p:sp>
      <p:sp>
        <p:nvSpPr>
          <p:cNvPr id="100355" name="内容占位符 2"/>
          <p:cNvSpPr>
            <a:spLocks noGrp="1"/>
          </p:cNvSpPr>
          <p:nvPr>
            <p:ph idx="1"/>
          </p:nvPr>
        </p:nvSpPr>
        <p:spPr>
          <a:xfrm>
            <a:off x="914400" y="1781502"/>
            <a:ext cx="7772400" cy="4238297"/>
          </a:xfrm>
        </p:spPr>
        <p:txBody>
          <a:bodyPr>
            <a:normAutofit/>
          </a:bodyPr>
          <a:lstStyle/>
          <a:p>
            <a:r>
              <a:rPr lang="zh-CN" altLang="en-US" sz="3200" b="1" dirty="0"/>
              <a:t>文本的向量空间模型</a:t>
            </a:r>
            <a:endParaRPr lang="en-US" altLang="zh-CN" sz="3200" b="1" dirty="0"/>
          </a:p>
          <a:p>
            <a:pPr lvl="1"/>
            <a:r>
              <a:rPr lang="zh-CN" altLang="en-US" sz="2800" b="1" dirty="0"/>
              <a:t>文本表达为一个向量</a:t>
            </a:r>
            <a:endParaRPr lang="en-US" altLang="zh-CN" sz="2800" b="1" dirty="0"/>
          </a:p>
          <a:p>
            <a:pPr lvl="1"/>
            <a:r>
              <a:rPr lang="en-US" altLang="zh-CN" sz="2800" b="1" dirty="0"/>
              <a:t>(w</a:t>
            </a:r>
            <a:r>
              <a:rPr lang="en-US" altLang="zh-CN" sz="2800" b="1" baseline="-25000" dirty="0"/>
              <a:t>1,j</a:t>
            </a:r>
            <a:r>
              <a:rPr lang="en-US" altLang="zh-CN" sz="2800" b="1" dirty="0"/>
              <a:t>,w</a:t>
            </a:r>
            <a:r>
              <a:rPr lang="en-US" altLang="zh-CN" sz="2800" b="1" baseline="-25000" dirty="0"/>
              <a:t>2,j</a:t>
            </a:r>
            <a:r>
              <a:rPr lang="en-US" altLang="zh-CN" sz="2800" b="1" dirty="0"/>
              <a:t>,……</a:t>
            </a:r>
            <a:r>
              <a:rPr lang="en-US" altLang="zh-CN" sz="2800" b="1" dirty="0" err="1"/>
              <a:t>w</a:t>
            </a:r>
            <a:r>
              <a:rPr lang="en-US" altLang="zh-CN" sz="2800" b="1" baseline="-25000" dirty="0" err="1"/>
              <a:t>n,j</a:t>
            </a:r>
            <a:r>
              <a:rPr lang="en-US" altLang="zh-CN" sz="2800" b="1" dirty="0"/>
              <a:t>)</a:t>
            </a:r>
            <a:r>
              <a:rPr lang="en-US" altLang="zh-CN" sz="2800" b="1" baseline="30000" dirty="0"/>
              <a:t>T</a:t>
            </a:r>
          </a:p>
          <a:p>
            <a:pPr lvl="1"/>
            <a:r>
              <a:rPr lang="en-US" altLang="zh-CN" sz="2800" b="1" dirty="0" err="1"/>
              <a:t>w</a:t>
            </a:r>
            <a:r>
              <a:rPr lang="en-US" altLang="zh-CN" sz="2800" b="1" baseline="-25000" dirty="0" err="1"/>
              <a:t>ij</a:t>
            </a:r>
            <a:r>
              <a:rPr lang="zh-CN" altLang="en-US" sz="2800" b="1" dirty="0"/>
              <a:t>表示词项</a:t>
            </a:r>
            <a:r>
              <a:rPr lang="en-US" altLang="zh-CN" sz="2800" b="1" dirty="0" err="1"/>
              <a:t>i</a:t>
            </a:r>
            <a:r>
              <a:rPr lang="zh-CN" altLang="en-US" sz="2800" b="1" dirty="0"/>
              <a:t>在文档</a:t>
            </a:r>
            <a:r>
              <a:rPr lang="en-US" altLang="zh-CN" sz="2800" b="1" dirty="0"/>
              <a:t>j</a:t>
            </a:r>
            <a:r>
              <a:rPr lang="zh-CN" altLang="en-US" sz="2800" b="1" dirty="0"/>
              <a:t>中的权重</a:t>
            </a:r>
            <a:endParaRPr lang="en-US" altLang="zh-CN" sz="2800" b="1" dirty="0"/>
          </a:p>
          <a:p>
            <a:pPr lvl="1"/>
            <a:endParaRPr lang="en-US" altLang="zh-CN" sz="2800" b="1" dirty="0"/>
          </a:p>
          <a:p>
            <a:r>
              <a:rPr lang="zh-CN" altLang="en-US" sz="3000" b="1" dirty="0"/>
              <a:t>词项频率</a:t>
            </a:r>
            <a:r>
              <a:rPr lang="en-US" altLang="zh-CN" sz="3000" b="1" dirty="0" err="1"/>
              <a:t>tf</a:t>
            </a:r>
            <a:r>
              <a:rPr lang="en-US" altLang="zh-CN" sz="3000" b="1" baseline="-25000" dirty="0" err="1"/>
              <a:t>ij</a:t>
            </a:r>
            <a:r>
              <a:rPr lang="zh-CN" altLang="en-US" sz="3000" b="1" dirty="0"/>
              <a:t>权重</a:t>
            </a:r>
            <a:endParaRPr lang="en-US" altLang="zh-CN" sz="3000" b="1" dirty="0"/>
          </a:p>
          <a:p>
            <a:endParaRPr lang="en-US" altLang="zh-CN" sz="3000" b="1" dirty="0"/>
          </a:p>
          <a:p>
            <a:r>
              <a:rPr lang="en-US" altLang="zh-CN" sz="3000" b="1" dirty="0" err="1"/>
              <a:t>tf-idf</a:t>
            </a:r>
            <a:r>
              <a:rPr lang="zh-CN" altLang="en-US" sz="3000" b="1" dirty="0"/>
              <a:t>权重</a:t>
            </a:r>
          </a:p>
        </p:txBody>
      </p:sp>
      <p:sp>
        <p:nvSpPr>
          <p:cNvPr id="100356" name="灯片编号占位符 3"/>
          <p:cNvSpPr>
            <a:spLocks noGrp="1"/>
          </p:cNvSpPr>
          <p:nvPr>
            <p:ph type="sldNum" sz="quarter" idx="12"/>
          </p:nvPr>
        </p:nvSpPr>
        <p:spPr>
          <a:noFill/>
        </p:spPr>
        <p:txBody>
          <a:bodyPr/>
          <a:lstStyle/>
          <a:p>
            <a:fld id="{3069B2D2-F90D-45E9-A160-B303533D2C11}" type="slidenum">
              <a:rPr lang="en-US" altLang="zh-CN" smtClean="0">
                <a:ea typeface="黑体" pitchFamily="49" charset="-122"/>
              </a:rPr>
              <a:pPr/>
              <a:t>68</a:t>
            </a:fld>
            <a:endParaRPr lang="en-US" altLang="zh-CN">
              <a:ea typeface="黑体" pitchFamily="49" charset="-122"/>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endParaRPr lang="zh-CN" altLang="en-US"/>
          </a:p>
        </p:txBody>
      </p:sp>
      <p:sp>
        <p:nvSpPr>
          <p:cNvPr id="101379" name="内容占位符 2"/>
          <p:cNvSpPr>
            <a:spLocks noGrp="1"/>
          </p:cNvSpPr>
          <p:nvPr>
            <p:ph idx="1"/>
          </p:nvPr>
        </p:nvSpPr>
        <p:spPr/>
        <p:txBody>
          <a:bodyPr>
            <a:normAutofit/>
          </a:bodyPr>
          <a:lstStyle/>
          <a:p>
            <a:r>
              <a:rPr lang="en-US" altLang="zh-CN" sz="3200" b="1" dirty="0" err="1"/>
              <a:t>tf</a:t>
            </a:r>
            <a:r>
              <a:rPr lang="en-US" altLang="zh-CN" sz="3200" b="1" baseline="-25000" dirty="0" err="1"/>
              <a:t>ij</a:t>
            </a:r>
            <a:r>
              <a:rPr lang="zh-CN" altLang="en-US" sz="3200" b="1" dirty="0"/>
              <a:t>权重</a:t>
            </a:r>
            <a:endParaRPr lang="en-US" altLang="zh-CN" sz="3200" b="1" dirty="0"/>
          </a:p>
          <a:p>
            <a:endParaRPr lang="en-US" altLang="zh-CN" sz="2800" b="1" dirty="0"/>
          </a:p>
          <a:p>
            <a:pPr lvl="1"/>
            <a:r>
              <a:rPr lang="en-US" altLang="zh-CN" sz="2600" b="1" dirty="0" err="1"/>
              <a:t>w</a:t>
            </a:r>
            <a:r>
              <a:rPr lang="en-US" altLang="zh-CN" sz="2600" b="1" baseline="-25000" dirty="0" err="1"/>
              <a:t>ij</a:t>
            </a:r>
            <a:r>
              <a:rPr lang="en-US" altLang="zh-CN" sz="2600" b="1" dirty="0"/>
              <a:t> =</a:t>
            </a:r>
            <a:r>
              <a:rPr lang="en-US" altLang="zh-CN" sz="2600" b="1" dirty="0" err="1"/>
              <a:t>tf</a:t>
            </a:r>
            <a:r>
              <a:rPr lang="en-US" altLang="zh-CN" sz="2600" b="1" baseline="-25000" dirty="0" err="1"/>
              <a:t>ij</a:t>
            </a:r>
            <a:endParaRPr lang="en-US" altLang="zh-CN" sz="2600" b="1" dirty="0"/>
          </a:p>
          <a:p>
            <a:pPr lvl="1"/>
            <a:endParaRPr lang="en-US" altLang="zh-CN" sz="2800" b="1" dirty="0"/>
          </a:p>
          <a:p>
            <a:pPr lvl="1"/>
            <a:r>
              <a:rPr lang="en-US" altLang="zh-CN" sz="2800" b="1" dirty="0" err="1"/>
              <a:t>tf</a:t>
            </a:r>
            <a:r>
              <a:rPr lang="en-US" altLang="zh-CN" sz="2800" b="1" baseline="-25000" dirty="0" err="1"/>
              <a:t>ij</a:t>
            </a:r>
            <a:r>
              <a:rPr lang="zh-CN" altLang="en-US" sz="2800" b="1" dirty="0"/>
              <a:t>表示第</a:t>
            </a:r>
            <a:r>
              <a:rPr lang="en-US" altLang="zh-CN" sz="2800" b="1" dirty="0" err="1"/>
              <a:t>i</a:t>
            </a:r>
            <a:r>
              <a:rPr lang="zh-CN" altLang="en-US" sz="2800" b="1" dirty="0"/>
              <a:t>个词项在第</a:t>
            </a:r>
            <a:r>
              <a:rPr lang="en-US" altLang="zh-CN" sz="2800" b="1" dirty="0"/>
              <a:t>j</a:t>
            </a:r>
            <a:r>
              <a:rPr lang="zh-CN" altLang="en-US" sz="2800" b="1" dirty="0"/>
              <a:t>个文档中的词频</a:t>
            </a:r>
            <a:endParaRPr lang="en-US" altLang="zh-CN" sz="2800" b="1" dirty="0"/>
          </a:p>
          <a:p>
            <a:pPr lvl="1"/>
            <a:endParaRPr lang="en-US" altLang="zh-CN" sz="2800" b="1" dirty="0"/>
          </a:p>
        </p:txBody>
      </p:sp>
      <p:sp>
        <p:nvSpPr>
          <p:cNvPr id="101380" name="灯片编号占位符 3"/>
          <p:cNvSpPr>
            <a:spLocks noGrp="1"/>
          </p:cNvSpPr>
          <p:nvPr>
            <p:ph type="sldNum" sz="quarter" idx="12"/>
          </p:nvPr>
        </p:nvSpPr>
        <p:spPr>
          <a:noFill/>
        </p:spPr>
        <p:txBody>
          <a:bodyPr/>
          <a:lstStyle/>
          <a:p>
            <a:fld id="{CFCB6F97-DACC-4691-AEC3-BDB631B61DA2}" type="slidenum">
              <a:rPr lang="en-US" altLang="zh-CN" smtClean="0">
                <a:ea typeface="黑体" pitchFamily="49" charset="-122"/>
              </a:rPr>
              <a:pPr/>
              <a:t>69</a:t>
            </a:fld>
            <a:endParaRPr lang="en-US" altLang="zh-CN">
              <a:ea typeface="黑体" pitchFamily="49" charset="-122"/>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endParaRPr lang="zh-CN" altLang="en-US"/>
          </a:p>
        </p:txBody>
      </p:sp>
      <p:sp>
        <p:nvSpPr>
          <p:cNvPr id="102403" name="内容占位符 2"/>
          <p:cNvSpPr>
            <a:spLocks noGrp="1"/>
          </p:cNvSpPr>
          <p:nvPr>
            <p:ph idx="1"/>
          </p:nvPr>
        </p:nvSpPr>
        <p:spPr/>
        <p:txBody>
          <a:bodyPr>
            <a:normAutofit/>
          </a:bodyPr>
          <a:lstStyle/>
          <a:p>
            <a:r>
              <a:rPr lang="en-US" altLang="zh-CN" sz="3200" b="1" dirty="0" err="1"/>
              <a:t>tf-idf</a:t>
            </a:r>
            <a:r>
              <a:rPr lang="zh-CN" altLang="en-US" sz="3200" b="1" dirty="0"/>
              <a:t>权重</a:t>
            </a:r>
            <a:endParaRPr lang="en-US" altLang="zh-CN" sz="3200" b="1" dirty="0"/>
          </a:p>
          <a:p>
            <a:pPr lvl="1"/>
            <a:r>
              <a:rPr lang="zh-CN" altLang="en-US" sz="2800" b="1" dirty="0"/>
              <a:t>文档频率：</a:t>
            </a:r>
            <a:r>
              <a:rPr lang="en-US" altLang="zh-CN" sz="2800" b="1" dirty="0" err="1"/>
              <a:t>df</a:t>
            </a:r>
            <a:r>
              <a:rPr lang="en-US" altLang="zh-CN" sz="2800" b="1" baseline="-25000" dirty="0" err="1"/>
              <a:t>i</a:t>
            </a:r>
            <a:r>
              <a:rPr lang="en-US" altLang="zh-CN" sz="2800" b="1" dirty="0"/>
              <a:t>=</a:t>
            </a:r>
            <a:r>
              <a:rPr lang="zh-CN" altLang="en-US" sz="2800" b="1" dirty="0"/>
              <a:t>出现词项</a:t>
            </a:r>
            <a:r>
              <a:rPr lang="en-US" altLang="zh-CN" sz="2800" b="1" dirty="0" err="1"/>
              <a:t>i</a:t>
            </a:r>
            <a:r>
              <a:rPr lang="zh-CN" altLang="en-US" sz="2800" b="1" dirty="0"/>
              <a:t>的文档数</a:t>
            </a:r>
            <a:r>
              <a:rPr lang="en-US" altLang="zh-CN" sz="2800" b="1" dirty="0"/>
              <a:t>/N</a:t>
            </a:r>
          </a:p>
          <a:p>
            <a:pPr lvl="2"/>
            <a:r>
              <a:rPr lang="en-US" altLang="zh-CN" sz="2400" b="1" dirty="0"/>
              <a:t>N</a:t>
            </a:r>
            <a:r>
              <a:rPr lang="zh-CN" altLang="en-US" sz="2400" b="1" dirty="0"/>
              <a:t>为训练集的文档总数</a:t>
            </a:r>
            <a:endParaRPr lang="en-US" altLang="zh-CN" sz="2400" b="1" dirty="0"/>
          </a:p>
          <a:p>
            <a:pPr lvl="1"/>
            <a:r>
              <a:rPr lang="zh-CN" altLang="en-US" sz="2800" b="1" dirty="0"/>
              <a:t>逆文档频率：</a:t>
            </a:r>
            <a:r>
              <a:rPr lang="en-US" altLang="zh-CN" sz="2800" b="1" dirty="0" err="1"/>
              <a:t>idf</a:t>
            </a:r>
            <a:r>
              <a:rPr lang="en-US" altLang="zh-CN" sz="2800" b="1" baseline="-25000" dirty="0" err="1"/>
              <a:t>i</a:t>
            </a:r>
            <a:r>
              <a:rPr lang="en-US" altLang="zh-CN" sz="2800" b="1" dirty="0"/>
              <a:t>=log(1/</a:t>
            </a:r>
            <a:r>
              <a:rPr lang="en-US" altLang="zh-CN" sz="2800" b="1" dirty="0" err="1"/>
              <a:t>df</a:t>
            </a:r>
            <a:r>
              <a:rPr lang="en-US" altLang="zh-CN" sz="2800" b="1" baseline="-25000" dirty="0" err="1"/>
              <a:t>i</a:t>
            </a:r>
            <a:r>
              <a:rPr lang="en-US" altLang="zh-CN" sz="2800" b="1" dirty="0"/>
              <a:t>),</a:t>
            </a:r>
          </a:p>
          <a:p>
            <a:endParaRPr lang="en-US" altLang="zh-CN" sz="3200" b="1" dirty="0"/>
          </a:p>
          <a:p>
            <a:r>
              <a:rPr lang="en-US" altLang="zh-CN" sz="3200" b="1" dirty="0"/>
              <a:t>(1)  </a:t>
            </a:r>
            <a:r>
              <a:rPr lang="en-US" altLang="zh-CN" sz="3200" b="1" dirty="0" err="1"/>
              <a:t>w</a:t>
            </a:r>
            <a:r>
              <a:rPr lang="en-US" altLang="zh-CN" sz="3200" b="1" baseline="-25000" dirty="0" err="1"/>
              <a:t>ij</a:t>
            </a:r>
            <a:r>
              <a:rPr lang="en-US" altLang="zh-CN" sz="3200" b="1" dirty="0"/>
              <a:t>= </a:t>
            </a:r>
            <a:r>
              <a:rPr lang="en-US" altLang="zh-CN" sz="3200" b="1" dirty="0" err="1"/>
              <a:t>tf</a:t>
            </a:r>
            <a:r>
              <a:rPr lang="en-US" altLang="zh-CN" sz="3200" b="1" baseline="-25000" dirty="0" err="1"/>
              <a:t>ij</a:t>
            </a:r>
            <a:r>
              <a:rPr lang="en-US" altLang="zh-CN" sz="3200" b="1" dirty="0"/>
              <a:t>*</a:t>
            </a:r>
            <a:r>
              <a:rPr lang="en-US" altLang="zh-CN" sz="3200" b="1" dirty="0" err="1"/>
              <a:t>idf</a:t>
            </a:r>
            <a:r>
              <a:rPr lang="en-US" altLang="zh-CN" sz="3200" b="1" baseline="-25000" dirty="0" err="1"/>
              <a:t>i</a:t>
            </a:r>
            <a:endParaRPr lang="en-US" altLang="zh-CN" sz="3200" b="1" dirty="0"/>
          </a:p>
          <a:p>
            <a:r>
              <a:rPr lang="zh-CN" altLang="en-US" sz="3200" b="1" dirty="0"/>
              <a:t>此外还有很多变形</a:t>
            </a:r>
          </a:p>
        </p:txBody>
      </p:sp>
      <p:sp>
        <p:nvSpPr>
          <p:cNvPr id="102404" name="灯片编号占位符 3"/>
          <p:cNvSpPr>
            <a:spLocks noGrp="1"/>
          </p:cNvSpPr>
          <p:nvPr>
            <p:ph type="sldNum" sz="quarter" idx="12"/>
          </p:nvPr>
        </p:nvSpPr>
        <p:spPr>
          <a:noFill/>
        </p:spPr>
        <p:txBody>
          <a:bodyPr/>
          <a:lstStyle/>
          <a:p>
            <a:fld id="{D4749E89-A326-4764-994A-86FC011A501F}" type="slidenum">
              <a:rPr lang="en-US" altLang="zh-CN" smtClean="0">
                <a:ea typeface="黑体" pitchFamily="49" charset="-122"/>
              </a:rPr>
              <a:pPr/>
              <a:t>70</a:t>
            </a:fld>
            <a:endParaRPr lang="en-US" altLang="zh-CN">
              <a:ea typeface="黑体" pitchFamily="49" charset="-122"/>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dirty="0"/>
              <a:t>实际中的问题</a:t>
            </a:r>
          </a:p>
        </p:txBody>
      </p:sp>
      <p:sp>
        <p:nvSpPr>
          <p:cNvPr id="105475" name="内容占位符 2"/>
          <p:cNvSpPr>
            <a:spLocks noGrp="1"/>
          </p:cNvSpPr>
          <p:nvPr>
            <p:ph idx="1"/>
          </p:nvPr>
        </p:nvSpPr>
        <p:spPr>
          <a:xfrm>
            <a:off x="914400" y="1749972"/>
            <a:ext cx="7772400" cy="4269828"/>
          </a:xfrm>
        </p:spPr>
        <p:txBody>
          <a:bodyPr/>
          <a:lstStyle/>
          <a:p>
            <a:r>
              <a:rPr lang="zh-CN" altLang="en-US" sz="3200" b="1" dirty="0"/>
              <a:t>分类体系的建立</a:t>
            </a:r>
            <a:endParaRPr lang="en-US" altLang="zh-CN" sz="3200" b="1" dirty="0"/>
          </a:p>
          <a:p>
            <a:r>
              <a:rPr lang="zh-CN" altLang="en-US" sz="3200" b="1" dirty="0"/>
              <a:t>数据的收集</a:t>
            </a:r>
            <a:endParaRPr lang="en-US" altLang="zh-CN" sz="3200" b="1" dirty="0"/>
          </a:p>
          <a:p>
            <a:r>
              <a:rPr lang="zh-CN" altLang="en-US" sz="3200" b="1" dirty="0"/>
              <a:t>预处理</a:t>
            </a:r>
            <a:endParaRPr lang="en-US" altLang="zh-CN" sz="3200" b="1" dirty="0"/>
          </a:p>
          <a:p>
            <a:pPr lvl="1"/>
            <a:r>
              <a:rPr lang="zh-CN" altLang="en-US" sz="2800" b="1" dirty="0"/>
              <a:t>分词</a:t>
            </a:r>
            <a:endParaRPr lang="en-US" altLang="zh-CN" sz="2800" b="1" dirty="0"/>
          </a:p>
          <a:p>
            <a:pPr lvl="1"/>
            <a:r>
              <a:rPr lang="zh-CN" altLang="en-US" sz="2800" b="1" dirty="0"/>
              <a:t>停用词（</a:t>
            </a:r>
            <a:r>
              <a:rPr lang="en-US" altLang="zh-CN" sz="2800" b="1" dirty="0"/>
              <a:t>Stop word</a:t>
            </a:r>
            <a:r>
              <a:rPr lang="zh-CN" altLang="en-US" sz="2800" b="1" dirty="0"/>
              <a:t>）处理</a:t>
            </a:r>
            <a:endParaRPr lang="en-US" altLang="zh-CN" sz="2800" b="1" dirty="0"/>
          </a:p>
          <a:p>
            <a:pPr lvl="1"/>
            <a:r>
              <a:rPr lang="zh-CN" altLang="en-US" sz="2800" b="1" dirty="0"/>
              <a:t>词干化（</a:t>
            </a:r>
            <a:r>
              <a:rPr lang="en-US" altLang="zh-CN" sz="2800" b="1" dirty="0"/>
              <a:t>Stemming</a:t>
            </a:r>
            <a:r>
              <a:rPr lang="zh-CN" altLang="en-US" sz="2800" b="1" dirty="0"/>
              <a:t>）</a:t>
            </a:r>
            <a:endParaRPr lang="en-US" altLang="zh-CN" sz="2800" b="1" dirty="0"/>
          </a:p>
          <a:p>
            <a:pPr lvl="1"/>
            <a:r>
              <a:rPr lang="zh-CN" altLang="en-US" sz="2800" b="1" dirty="0"/>
              <a:t>特征选择</a:t>
            </a:r>
            <a:endParaRPr lang="en-US" altLang="zh-CN" sz="2800" b="1" dirty="0"/>
          </a:p>
          <a:p>
            <a:pPr lvl="1"/>
            <a:endParaRPr lang="zh-CN" altLang="en-US" dirty="0"/>
          </a:p>
        </p:txBody>
      </p:sp>
      <p:sp>
        <p:nvSpPr>
          <p:cNvPr id="105476" name="灯片编号占位符 3"/>
          <p:cNvSpPr>
            <a:spLocks noGrp="1"/>
          </p:cNvSpPr>
          <p:nvPr>
            <p:ph type="sldNum" sz="quarter" idx="12"/>
          </p:nvPr>
        </p:nvSpPr>
        <p:spPr>
          <a:noFill/>
        </p:spPr>
        <p:txBody>
          <a:bodyPr/>
          <a:lstStyle/>
          <a:p>
            <a:fld id="{20A58001-6E30-4AAA-9117-CB3AE387B7F0}" type="slidenum">
              <a:rPr lang="en-US" altLang="zh-CN" smtClean="0">
                <a:ea typeface="黑体" pitchFamily="49" charset="-122"/>
              </a:rPr>
              <a:pPr/>
              <a:t>71</a:t>
            </a:fld>
            <a:endParaRPr lang="en-US" altLang="zh-CN">
              <a:ea typeface="黑体" pitchFamily="49" charset="-122"/>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练习题</a:t>
            </a:r>
          </a:p>
        </p:txBody>
      </p:sp>
      <p:sp>
        <p:nvSpPr>
          <p:cNvPr id="3" name="内容占位符 2"/>
          <p:cNvSpPr>
            <a:spLocks noGrp="1"/>
          </p:cNvSpPr>
          <p:nvPr>
            <p:ph sz="quarter" idx="1"/>
          </p:nvPr>
        </p:nvSpPr>
        <p:spPr/>
        <p:txBody>
          <a:bodyPr/>
          <a:lstStyle/>
          <a:p>
            <a:endParaRPr lang="en-US" altLang="zh-CN" dirty="0"/>
          </a:p>
          <a:p>
            <a:r>
              <a:rPr lang="zh-CN" altLang="en-US" dirty="0"/>
              <a:t>使用工具系统实现基于支持向量机方法的文本分类，并对比采用不同的特征、不同的超参数时，分类性能的优劣。</a:t>
            </a:r>
          </a:p>
        </p:txBody>
      </p:sp>
    </p:spTree>
    <p:extLst>
      <p:ext uri="{BB962C8B-B14F-4D97-AF65-F5344CB8AC3E}">
        <p14:creationId xmlns:p14="http://schemas.microsoft.com/office/powerpoint/2010/main" val="4232712233"/>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Recap:</a:t>
            </a:r>
            <a:r>
              <a:rPr lang="zh-CN" altLang="en-US" dirty="0"/>
              <a:t> </a:t>
            </a:r>
            <a:r>
              <a:rPr lang="en-US" altLang="zh-CN" dirty="0"/>
              <a:t>d</a:t>
            </a:r>
            <a:r>
              <a:rPr lang="en-US" dirty="0"/>
              <a:t>ual form of SVM</a:t>
            </a:r>
          </a:p>
        </p:txBody>
      </p:sp>
      <p:sp>
        <p:nvSpPr>
          <p:cNvPr id="3" name="Content Placeholder 2"/>
          <p:cNvSpPr>
            <a:spLocks noGrp="1"/>
          </p:cNvSpPr>
          <p:nvPr>
            <p:ph idx="1"/>
          </p:nvPr>
        </p:nvSpPr>
        <p:spPr/>
        <p:txBody>
          <a:bodyPr>
            <a:normAutofit/>
          </a:bodyPr>
          <a:lstStyle/>
          <a:p>
            <a:r>
              <a:rPr lang="en-US" dirty="0" err="1"/>
              <a:t>Lagrangian</a:t>
            </a:r>
            <a:r>
              <a:rPr lang="en-US" dirty="0"/>
              <a:t> dual</a:t>
            </a:r>
          </a:p>
        </p:txBody>
      </p:sp>
      <p:sp>
        <p:nvSpPr>
          <p:cNvPr id="4" name="Date Placeholder 3"/>
          <p:cNvSpPr>
            <a:spLocks noGrp="1"/>
          </p:cNvSpPr>
          <p:nvPr>
            <p:ph type="dt" sz="half" idx="10"/>
          </p:nvPr>
        </p:nvSpPr>
        <p:spPr/>
        <p:txBody>
          <a:bodyPr/>
          <a:lstStyle/>
          <a:p>
            <a:r>
              <a:rPr lang="en-US"/>
              <a:t>CS@THU</a:t>
            </a:r>
          </a:p>
        </p:txBody>
      </p:sp>
      <p:sp>
        <p:nvSpPr>
          <p:cNvPr id="5" name="Footer Placeholder 4"/>
          <p:cNvSpPr>
            <a:spLocks noGrp="1"/>
          </p:cNvSpPr>
          <p:nvPr>
            <p:ph type="ftr" sz="quarter" idx="11"/>
          </p:nvPr>
        </p:nvSpPr>
        <p:spPr/>
        <p:txBody>
          <a:bodyPr/>
          <a:lstStyle/>
          <a:p>
            <a:r>
              <a:rPr lang="en-US"/>
              <a:t>Intro to AI</a:t>
            </a:r>
          </a:p>
        </p:txBody>
      </p:sp>
      <p:sp>
        <p:nvSpPr>
          <p:cNvPr id="6" name="Slide Number Placeholder 5"/>
          <p:cNvSpPr>
            <a:spLocks noGrp="1"/>
          </p:cNvSpPr>
          <p:nvPr>
            <p:ph type="sldNum" sz="quarter" idx="12"/>
          </p:nvPr>
        </p:nvSpPr>
        <p:spPr/>
        <p:txBody>
          <a:bodyPr/>
          <a:lstStyle/>
          <a:p>
            <a:fld id="{8B21C241-DC31-4975-8740-BA05E6F19F00}" type="slidenum">
              <a:rPr lang="en-US" smtClean="0"/>
              <a:t>73</a:t>
            </a:fld>
            <a:endParaRPr lang="en-US"/>
          </a:p>
        </p:txBody>
      </p:sp>
      <mc:AlternateContent xmlns:mc="http://schemas.openxmlformats.org/markup-compatibility/2006" xmlns:a14="http://schemas.microsoft.com/office/drawing/2010/main">
        <mc:Choice Requires="a14">
          <p:sp>
            <p:nvSpPr>
              <p:cNvPr id="22" name="TextBox 21"/>
              <p:cNvSpPr txBox="1"/>
              <p:nvPr/>
            </p:nvSpPr>
            <p:spPr>
              <a:xfrm>
                <a:off x="2978167" y="3493851"/>
                <a:ext cx="251216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𝑠</m:t>
                      </m:r>
                      <m:r>
                        <a:rPr lang="en-US" sz="2400" b="0" i="1" smtClean="0">
                          <a:latin typeface="Cambria Math" panose="02040503050406030204" pitchFamily="18" charset="0"/>
                        </a:rPr>
                        <m:t>.</m:t>
                      </m:r>
                      <m:r>
                        <a:rPr lang="en-US" sz="2400" b="0" i="1" smtClean="0">
                          <a:latin typeface="Cambria Math" panose="02040503050406030204" pitchFamily="18" charset="0"/>
                        </a:rPr>
                        <m:t>𝑡</m:t>
                      </m:r>
                      <m:r>
                        <a:rPr lang="en-US" sz="2400" b="0" i="1" smtClean="0">
                          <a:latin typeface="Cambria Math" panose="02040503050406030204" pitchFamily="18" charset="0"/>
                        </a:rPr>
                        <m:t>.  ∀</m:t>
                      </m:r>
                      <m:r>
                        <a:rPr lang="en-US" sz="2400" b="0" i="1" smtClean="0">
                          <a:latin typeface="Cambria Math" panose="02040503050406030204" pitchFamily="18" charset="0"/>
                        </a:rPr>
                        <m:t>𝑖</m:t>
                      </m:r>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0≤</m:t>
                          </m:r>
                          <m:r>
                            <a:rPr lang="en-US" sz="2400" b="0" i="1" smtClean="0">
                              <a:latin typeface="Cambria Math" panose="02040503050406030204" pitchFamily="18" charset="0"/>
                            </a:rPr>
                            <m:t>𝛼</m:t>
                          </m:r>
                        </m:e>
                        <m:sub>
                          <m:r>
                            <a:rPr lang="en-US" sz="2400" b="0" i="1" smtClean="0">
                              <a:latin typeface="Cambria Math" panose="02040503050406030204" pitchFamily="18" charset="0"/>
                            </a:rPr>
                            <m:t>𝑖</m:t>
                          </m:r>
                        </m:sub>
                      </m:sSub>
                      <m:r>
                        <a:rPr lang="en-US" sz="2400" b="0" i="1" smtClean="0">
                          <a:latin typeface="Cambria Math" panose="02040503050406030204" pitchFamily="18" charset="0"/>
                        </a:rPr>
                        <m:t>≤</m:t>
                      </m:r>
                      <m:r>
                        <a:rPr lang="en-US" sz="2400" b="0" i="1" smtClean="0">
                          <a:latin typeface="Cambria Math" panose="02040503050406030204" pitchFamily="18" charset="0"/>
                        </a:rPr>
                        <m:t>𝐶</m:t>
                      </m:r>
                    </m:oMath>
                  </m:oMathPara>
                </a14:m>
                <a:endParaRPr lang="en-US" sz="2400" dirty="0"/>
              </a:p>
            </p:txBody>
          </p:sp>
        </mc:Choice>
        <mc:Fallback xmlns="">
          <p:sp>
            <p:nvSpPr>
              <p:cNvPr id="22" name="TextBox 21"/>
              <p:cNvSpPr txBox="1">
                <a:spLocks noRot="1" noChangeAspect="1" noMove="1" noResize="1" noEditPoints="1" noAdjustHandles="1" noChangeArrowheads="1" noChangeShapeType="1" noTextEdit="1"/>
              </p:cNvSpPr>
              <p:nvPr/>
            </p:nvSpPr>
            <p:spPr>
              <a:xfrm>
                <a:off x="2978167" y="3493851"/>
                <a:ext cx="2512163" cy="369332"/>
              </a:xfrm>
              <a:prstGeom prst="rect">
                <a:avLst/>
              </a:prstGeom>
              <a:blipFill rotWithShape="0">
                <a:blip r:embed="rId2"/>
                <a:stretch>
                  <a:fillRect l="-1214" r="-1699" b="-1475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p:cNvSpPr txBox="1"/>
              <p:nvPr/>
            </p:nvSpPr>
            <p:spPr>
              <a:xfrm>
                <a:off x="1699528" y="2325650"/>
                <a:ext cx="4572790" cy="93801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𝐿</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𝛼</m:t>
                          </m:r>
                        </m:e>
                      </m:d>
                      <m:r>
                        <a:rPr lang="en-US" sz="2400" b="0" i="1" smtClean="0">
                          <a:latin typeface="Cambria Math" panose="02040503050406030204" pitchFamily="18" charset="0"/>
                        </a:rPr>
                        <m:t>=</m:t>
                      </m:r>
                      <m:nary>
                        <m:naryPr>
                          <m:chr m:val="∑"/>
                          <m:supHide m:val="on"/>
                          <m:ctrlPr>
                            <a:rPr lang="en-US" sz="2400" b="0" i="1" smtClean="0">
                              <a:latin typeface="Cambria Math" panose="02040503050406030204" pitchFamily="18" charset="0"/>
                            </a:rPr>
                          </m:ctrlPr>
                        </m:naryPr>
                        <m:sub>
                          <m:r>
                            <a:rPr lang="en-US" sz="2400" b="0" i="1" smtClean="0">
                              <a:latin typeface="Cambria Math" panose="02040503050406030204" pitchFamily="18" charset="0"/>
                            </a:rPr>
                            <m:t>𝑖</m:t>
                          </m:r>
                        </m:sub>
                        <m:sup/>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𝛼</m:t>
                              </m:r>
                            </m:e>
                            <m:sub>
                              <m:r>
                                <a:rPr lang="en-US" sz="2400" b="0" i="1" smtClean="0">
                                  <a:latin typeface="Cambria Math" panose="02040503050406030204" pitchFamily="18" charset="0"/>
                                </a:rPr>
                                <m:t>𝑖</m:t>
                              </m:r>
                            </m:sub>
                          </m:sSub>
                        </m:e>
                      </m:nary>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2</m:t>
                          </m:r>
                        </m:den>
                      </m:f>
                      <m:nary>
                        <m:naryPr>
                          <m:chr m:val="∑"/>
                          <m:supHide m:val="on"/>
                          <m:ctrlPr>
                            <a:rPr lang="en-US" sz="2400" i="1">
                              <a:latin typeface="Cambria Math" panose="02040503050406030204" pitchFamily="18" charset="0"/>
                            </a:rPr>
                          </m:ctrlPr>
                        </m:naryPr>
                        <m:sub>
                          <m:r>
                            <a:rPr lang="en-US" sz="2400" i="1">
                              <a:latin typeface="Cambria Math" panose="02040503050406030204" pitchFamily="18" charset="0"/>
                            </a:rPr>
                            <m:t>𝑖</m:t>
                          </m:r>
                          <m:r>
                            <a:rPr lang="en-US" sz="2400" i="1">
                              <a:latin typeface="Cambria Math" panose="02040503050406030204" pitchFamily="18" charset="0"/>
                            </a:rPr>
                            <m:t>,</m:t>
                          </m:r>
                          <m:r>
                            <a:rPr lang="en-US" sz="2400" i="1">
                              <a:latin typeface="Cambria Math" panose="02040503050406030204" pitchFamily="18" charset="0"/>
                            </a:rPr>
                            <m:t>𝑗</m:t>
                          </m:r>
                        </m:sub>
                        <m:sup/>
                        <m:e>
                          <m:sSub>
                            <m:sSubPr>
                              <m:ctrlPr>
                                <a:rPr lang="en-US" sz="2400" i="1">
                                  <a:latin typeface="Cambria Math" panose="02040503050406030204" pitchFamily="18" charset="0"/>
                                </a:rPr>
                              </m:ctrlPr>
                            </m:sSubPr>
                            <m:e>
                              <m:r>
                                <a:rPr lang="en-US" sz="2400" i="1">
                                  <a:latin typeface="Cambria Math" panose="02040503050406030204" pitchFamily="18" charset="0"/>
                                </a:rPr>
                                <m:t>𝛼</m:t>
                              </m:r>
                            </m:e>
                            <m:sub>
                              <m:r>
                                <a:rPr lang="en-US" sz="2400" i="1">
                                  <a:latin typeface="Cambria Math" panose="02040503050406030204" pitchFamily="18" charset="0"/>
                                </a:rPr>
                                <m:t>𝑖</m:t>
                              </m:r>
                            </m:sub>
                          </m:sSub>
                          <m:sSub>
                            <m:sSubPr>
                              <m:ctrlPr>
                                <a:rPr lang="en-US" sz="2400" i="1">
                                  <a:latin typeface="Cambria Math" panose="02040503050406030204" pitchFamily="18" charset="0"/>
                                </a:rPr>
                              </m:ctrlPr>
                            </m:sSubPr>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𝛼</m:t>
                                  </m:r>
                                </m:e>
                                <m:sub>
                                  <m:r>
                                    <a:rPr lang="en-US" sz="2400" b="0" i="1" smtClean="0">
                                      <a:latin typeface="Cambria Math" panose="02040503050406030204" pitchFamily="18" charset="0"/>
                                    </a:rPr>
                                    <m:t>𝑗</m:t>
                                  </m:r>
                                </m:sub>
                              </m:sSub>
                              <m:r>
                                <a:rPr lang="en-US" sz="2400" i="1">
                                  <a:latin typeface="Cambria Math" panose="02040503050406030204" pitchFamily="18" charset="0"/>
                                </a:rPr>
                                <m:t>𝑦</m:t>
                              </m:r>
                            </m:e>
                            <m:sub>
                              <m:r>
                                <a:rPr lang="en-US" sz="2400" i="1">
                                  <a:latin typeface="Cambria Math" panose="02040503050406030204" pitchFamily="18" charset="0"/>
                                </a:rPr>
                                <m:t>𝑖</m:t>
                              </m:r>
                            </m:sub>
                          </m:sSub>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𝑦</m:t>
                              </m:r>
                            </m:e>
                            <m:sub>
                              <m:r>
                                <a:rPr lang="en-US" sz="2400" b="0" i="1" smtClean="0">
                                  <a:latin typeface="Cambria Math" panose="02040503050406030204" pitchFamily="18" charset="0"/>
                                </a:rPr>
                                <m:t>𝑗</m:t>
                              </m:r>
                            </m:sub>
                          </m:sSub>
                          <m:sSubSup>
                            <m:sSubSupPr>
                              <m:ctrlPr>
                                <a:rPr lang="en-US" sz="2400" b="0" i="1" smtClean="0">
                                  <a:latin typeface="Cambria Math" panose="02040503050406030204" pitchFamily="18" charset="0"/>
                                </a:rPr>
                              </m:ctrlPr>
                            </m:sSubSupPr>
                            <m:e>
                              <m:r>
                                <a:rPr lang="en-US" sz="2400" i="1">
                                  <a:latin typeface="Cambria Math" panose="02040503050406030204" pitchFamily="18" charset="0"/>
                                </a:rPr>
                                <m:t>𝑥</m:t>
                              </m:r>
                            </m:e>
                            <m:sub>
                              <m:r>
                                <a:rPr lang="en-US" sz="2400" i="1">
                                  <a:latin typeface="Cambria Math" panose="02040503050406030204" pitchFamily="18" charset="0"/>
                                </a:rPr>
                                <m:t>𝑖</m:t>
                              </m:r>
                            </m:sub>
                            <m:sup>
                              <m:r>
                                <a:rPr lang="en-US" sz="2400" b="0" i="1" smtClean="0">
                                  <a:latin typeface="Cambria Math" panose="02040503050406030204" pitchFamily="18" charset="0"/>
                                </a:rPr>
                                <m:t>𝑇</m:t>
                              </m:r>
                            </m:sup>
                          </m:sSubSup>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𝑗</m:t>
                              </m:r>
                            </m:sub>
                          </m:sSub>
                        </m:e>
                      </m:nary>
                    </m:oMath>
                  </m:oMathPara>
                </a14:m>
                <a:endParaRPr lang="en-US" sz="2400" dirty="0"/>
              </a:p>
            </p:txBody>
          </p:sp>
        </mc:Choice>
        <mc:Fallback xmlns="">
          <p:sp>
            <p:nvSpPr>
              <p:cNvPr id="19" name="TextBox 18"/>
              <p:cNvSpPr txBox="1">
                <a:spLocks noRot="1" noChangeAspect="1" noMove="1" noResize="1" noEditPoints="1" noAdjustHandles="1" noChangeArrowheads="1" noChangeShapeType="1" noTextEdit="1"/>
              </p:cNvSpPr>
              <p:nvPr/>
            </p:nvSpPr>
            <p:spPr>
              <a:xfrm>
                <a:off x="1699528" y="2325650"/>
                <a:ext cx="4572790" cy="938014"/>
              </a:xfrm>
              <a:prstGeom prst="rect">
                <a:avLst/>
              </a:prstGeom>
              <a:blipFill rotWithShape="0">
                <a:blip r:embed="rId3"/>
                <a:stretch>
                  <a:fillRect/>
                </a:stretch>
              </a:blipFill>
            </p:spPr>
            <p:txBody>
              <a:bodyPr/>
              <a:lstStyle/>
              <a:p>
                <a:r>
                  <a:rPr lang="en-US">
                    <a:noFill/>
                  </a:rPr>
                  <a:t> </a:t>
                </a:r>
              </a:p>
            </p:txBody>
          </p:sp>
        </mc:Fallback>
      </mc:AlternateContent>
      <p:grpSp>
        <p:nvGrpSpPr>
          <p:cNvPr id="17" name="Group 16"/>
          <p:cNvGrpSpPr/>
          <p:nvPr/>
        </p:nvGrpSpPr>
        <p:grpSpPr>
          <a:xfrm>
            <a:off x="5824152" y="3263665"/>
            <a:ext cx="2352016" cy="1184142"/>
            <a:chOff x="5824152" y="3263665"/>
            <a:chExt cx="2352016" cy="1184142"/>
          </a:xfrm>
        </p:grpSpPr>
        <p:sp>
          <p:nvSpPr>
            <p:cNvPr id="9" name="TextBox 8"/>
            <p:cNvSpPr txBox="1"/>
            <p:nvPr/>
          </p:nvSpPr>
          <p:spPr>
            <a:xfrm>
              <a:off x="6400069" y="3801476"/>
              <a:ext cx="1776099" cy="646331"/>
            </a:xfrm>
            <a:prstGeom prst="rect">
              <a:avLst/>
            </a:prstGeom>
            <a:noFill/>
          </p:spPr>
          <p:txBody>
            <a:bodyPr wrap="square" rtlCol="0">
              <a:spAutoFit/>
            </a:bodyPr>
            <a:lstStyle/>
            <a:p>
              <a:r>
                <a:rPr lang="en-US" i="1" dirty="0"/>
                <a:t>QP again!</a:t>
              </a:r>
            </a:p>
            <a:p>
              <a:r>
                <a:rPr lang="en-US" i="1" dirty="0"/>
                <a:t>Easy to optimize!</a:t>
              </a:r>
            </a:p>
          </p:txBody>
        </p:sp>
        <p:cxnSp>
          <p:nvCxnSpPr>
            <p:cNvPr id="10" name="Straight Arrow Connector 9"/>
            <p:cNvCxnSpPr/>
            <p:nvPr/>
          </p:nvCxnSpPr>
          <p:spPr>
            <a:xfrm flipH="1" flipV="1">
              <a:off x="5824152" y="3263665"/>
              <a:ext cx="760314" cy="537811"/>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1" name="Picture 2" descr="http://www.buzzle.com/images/cliparts/smiley-thumbs-up.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591933" y="3454664"/>
              <a:ext cx="532465" cy="51106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1" name="Group 20"/>
          <p:cNvGrpSpPr/>
          <p:nvPr/>
        </p:nvGrpSpPr>
        <p:grpSpPr>
          <a:xfrm>
            <a:off x="1046394" y="4365773"/>
            <a:ext cx="5472787" cy="746020"/>
            <a:chOff x="1046394" y="4365773"/>
            <a:chExt cx="5472787" cy="746020"/>
          </a:xfrm>
        </p:grpSpPr>
        <mc:AlternateContent xmlns:mc="http://schemas.openxmlformats.org/markup-compatibility/2006" xmlns:a14="http://schemas.microsoft.com/office/drawing/2010/main">
          <mc:Choice Requires="a14">
            <p:sp>
              <p:nvSpPr>
                <p:cNvPr id="14" name="Rectangle 13"/>
                <p:cNvSpPr/>
                <p:nvPr/>
              </p:nvSpPr>
              <p:spPr>
                <a:xfrm>
                  <a:off x="1699528" y="4742461"/>
                  <a:ext cx="4819653" cy="369332"/>
                </a:xfrm>
                <a:prstGeom prst="rect">
                  <a:avLst/>
                </a:prstGeom>
              </p:spPr>
              <p:txBody>
                <a:bodyPr wrap="none">
                  <a:spAutoFit/>
                </a:bodyPr>
                <a:lstStyle/>
                <a:p>
                  <a:r>
                    <a:rPr lang="en-US" dirty="0"/>
                    <a:t>In the optimal solution: </a:t>
                  </a:r>
                  <a14:m>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𝛼</m:t>
                          </m:r>
                        </m:e>
                        <m:sub>
                          <m:r>
                            <a:rPr lang="en-US" i="1">
                              <a:latin typeface="Cambria Math" panose="02040503050406030204" pitchFamily="18" charset="0"/>
                            </a:rPr>
                            <m:t>𝑖</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𝑖</m:t>
                              </m:r>
                            </m:sub>
                          </m:sSub>
                          <m:sSup>
                            <m:sSupPr>
                              <m:ctrlPr>
                                <a:rPr lang="en-US" i="1">
                                  <a:latin typeface="Cambria Math" panose="02040503050406030204" pitchFamily="18" charset="0"/>
                                </a:rPr>
                              </m:ctrlPr>
                            </m:sSupPr>
                            <m:e>
                              <m:r>
                                <a:rPr lang="en-US" i="1">
                                  <a:latin typeface="Cambria Math" panose="02040503050406030204" pitchFamily="18" charset="0"/>
                                </a:rPr>
                                <m:t>𝑤</m:t>
                              </m:r>
                            </m:e>
                            <m:sup>
                              <m:r>
                                <a:rPr lang="en-US" i="1">
                                  <a:latin typeface="Cambria Math" panose="02040503050406030204" pitchFamily="18" charset="0"/>
                                </a:rPr>
                                <m:t>𝑇</m:t>
                              </m:r>
                            </m:sup>
                          </m:sSup>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m:t>
                              </m:r>
                            </m:sub>
                          </m:sSub>
                          <m:r>
                            <a:rPr lang="en-US" i="1">
                              <a:latin typeface="Cambria Math" panose="02040503050406030204" pitchFamily="18" charset="0"/>
                            </a:rPr>
                            <m:t>−1+</m:t>
                          </m:r>
                          <m:sSub>
                            <m:sSubPr>
                              <m:ctrlPr>
                                <a:rPr lang="en-US" i="1">
                                  <a:latin typeface="Cambria Math" panose="02040503050406030204" pitchFamily="18" charset="0"/>
                                </a:rPr>
                              </m:ctrlPr>
                            </m:sSubPr>
                            <m:e>
                              <m:r>
                                <a:rPr lang="en-US" i="1">
                                  <a:latin typeface="Cambria Math" panose="02040503050406030204" pitchFamily="18" charset="0"/>
                                </a:rPr>
                                <m:t>𝜉</m:t>
                              </m:r>
                            </m:e>
                            <m:sub>
                              <m:r>
                                <a:rPr lang="en-US" i="1">
                                  <a:latin typeface="Cambria Math" panose="02040503050406030204" pitchFamily="18" charset="0"/>
                                </a:rPr>
                                <m:t>𝑖</m:t>
                              </m:r>
                            </m:sub>
                          </m:sSub>
                        </m:e>
                      </m:d>
                      <m:r>
                        <a:rPr lang="en-US" b="0" i="1" smtClean="0">
                          <a:latin typeface="Cambria Math" panose="02040503050406030204" pitchFamily="18" charset="0"/>
                        </a:rPr>
                        <m:t>=0</m:t>
                      </m:r>
                    </m:oMath>
                  </a14:m>
                  <a:endParaRPr lang="en-US" dirty="0"/>
                </a:p>
              </p:txBody>
            </p:sp>
          </mc:Choice>
          <mc:Fallback xmlns="">
            <p:sp>
              <p:nvSpPr>
                <p:cNvPr id="14" name="Rectangle 13"/>
                <p:cNvSpPr>
                  <a:spLocks noRot="1" noChangeAspect="1" noMove="1" noResize="1" noEditPoints="1" noAdjustHandles="1" noChangeArrowheads="1" noChangeShapeType="1" noTextEdit="1"/>
                </p:cNvSpPr>
                <p:nvPr/>
              </p:nvSpPr>
              <p:spPr>
                <a:xfrm>
                  <a:off x="1699528" y="4742461"/>
                  <a:ext cx="4819653" cy="369332"/>
                </a:xfrm>
                <a:prstGeom prst="rect">
                  <a:avLst/>
                </a:prstGeom>
                <a:blipFill rotWithShape="0">
                  <a:blip r:embed="rId5"/>
                  <a:stretch>
                    <a:fillRect l="-1139" t="-9836" b="-24590"/>
                  </a:stretch>
                </a:blipFill>
              </p:spPr>
              <p:txBody>
                <a:bodyPr/>
                <a:lstStyle/>
                <a:p>
                  <a:r>
                    <a:rPr lang="en-US">
                      <a:noFill/>
                    </a:rPr>
                    <a:t> </a:t>
                  </a:r>
                </a:p>
              </p:txBody>
            </p:sp>
          </mc:Fallback>
        </mc:AlternateContent>
        <p:sp>
          <p:nvSpPr>
            <p:cNvPr id="15" name="TextBox 14"/>
            <p:cNvSpPr txBox="1"/>
            <p:nvPr/>
          </p:nvSpPr>
          <p:spPr>
            <a:xfrm>
              <a:off x="1046394" y="4365773"/>
              <a:ext cx="2685535" cy="369332"/>
            </a:xfrm>
            <a:prstGeom prst="rect">
              <a:avLst/>
            </a:prstGeom>
            <a:noFill/>
          </p:spPr>
          <p:txBody>
            <a:bodyPr wrap="square" rtlCol="0">
              <a:spAutoFit/>
            </a:bodyPr>
            <a:lstStyle/>
            <a:p>
              <a:r>
                <a:rPr lang="en-US" dirty="0"/>
                <a:t>Complementary slackness</a:t>
              </a:r>
            </a:p>
          </p:txBody>
        </p:sp>
      </p:grpSp>
      <p:grpSp>
        <p:nvGrpSpPr>
          <p:cNvPr id="23" name="Group 22"/>
          <p:cNvGrpSpPr/>
          <p:nvPr/>
        </p:nvGrpSpPr>
        <p:grpSpPr>
          <a:xfrm>
            <a:off x="1046394" y="5157314"/>
            <a:ext cx="7582929" cy="717576"/>
            <a:chOff x="1046394" y="5157314"/>
            <a:chExt cx="7582929" cy="717576"/>
          </a:xfrm>
        </p:grpSpPr>
        <mc:AlternateContent xmlns:mc="http://schemas.openxmlformats.org/markup-compatibility/2006" xmlns:a14="http://schemas.microsoft.com/office/drawing/2010/main">
          <mc:Choice Requires="a14">
            <p:sp>
              <p:nvSpPr>
                <p:cNvPr id="18" name="TextBox 17"/>
                <p:cNvSpPr txBox="1"/>
                <p:nvPr/>
              </p:nvSpPr>
              <p:spPr>
                <a:xfrm>
                  <a:off x="1046394" y="5157314"/>
                  <a:ext cx="6993736" cy="369332"/>
                </a:xfrm>
                <a:prstGeom prst="rect">
                  <a:avLst/>
                </a:prstGeom>
                <a:noFill/>
              </p:spPr>
              <p:txBody>
                <a:bodyPr wrap="square" rtlCol="0">
                  <a:spAutoFit/>
                </a:bodyPr>
                <a:lstStyle/>
                <a:p>
                  <a:r>
                    <a:rPr lang="en-US" dirty="0"/>
                    <a:t>which means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𝛼</m:t>
                          </m:r>
                        </m:e>
                        <m:sub>
                          <m:r>
                            <a:rPr lang="en-US" b="0" i="1" smtClean="0">
                              <a:latin typeface="Cambria Math" panose="02040503050406030204" pitchFamily="18" charset="0"/>
                            </a:rPr>
                            <m:t>𝑖</m:t>
                          </m:r>
                        </m:sub>
                      </m:sSub>
                      <m:r>
                        <a:rPr lang="en-US" b="0" i="1" smtClean="0">
                          <a:latin typeface="Cambria Math" panose="02040503050406030204" pitchFamily="18" charset="0"/>
                        </a:rPr>
                        <m:t>=0</m:t>
                      </m:r>
                    </m:oMath>
                  </a14:m>
                  <a:r>
                    <a:rPr lang="en-US" dirty="0"/>
                    <a:t> if the constraint is satisfied (correct classification) </a:t>
                  </a:r>
                </a:p>
              </p:txBody>
            </p:sp>
          </mc:Choice>
          <mc:Fallback xmlns="">
            <p:sp>
              <p:nvSpPr>
                <p:cNvPr id="18" name="TextBox 17"/>
                <p:cNvSpPr txBox="1">
                  <a:spLocks noRot="1" noChangeAspect="1" noMove="1" noResize="1" noEditPoints="1" noAdjustHandles="1" noChangeArrowheads="1" noChangeShapeType="1" noTextEdit="1"/>
                </p:cNvSpPr>
                <p:nvPr/>
              </p:nvSpPr>
              <p:spPr>
                <a:xfrm>
                  <a:off x="1046394" y="5157314"/>
                  <a:ext cx="6993736" cy="369332"/>
                </a:xfrm>
                <a:prstGeom prst="rect">
                  <a:avLst/>
                </a:prstGeom>
                <a:blipFill rotWithShape="0">
                  <a:blip r:embed="rId6"/>
                  <a:stretch>
                    <a:fillRect l="-785"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p:cNvSpPr txBox="1"/>
                <p:nvPr/>
              </p:nvSpPr>
              <p:spPr>
                <a:xfrm>
                  <a:off x="2320092" y="5505558"/>
                  <a:ext cx="6309231" cy="369332"/>
                </a:xfrm>
                <a:prstGeom prst="rect">
                  <a:avLst/>
                </a:prstGeom>
                <a:noFill/>
              </p:spPr>
              <p:txBody>
                <a:bodyPr wrap="square" rtlCol="0">
                  <a:spAutoFit/>
                </a:bodyPr>
                <a:lstStyle/>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𝛼</m:t>
                          </m:r>
                        </m:e>
                        <m:sub>
                          <m:r>
                            <a:rPr lang="en-US" b="0" i="1" smtClean="0">
                              <a:latin typeface="Cambria Math" panose="02040503050406030204" pitchFamily="18" charset="0"/>
                            </a:rPr>
                            <m:t>𝑖</m:t>
                          </m:r>
                        </m:sub>
                      </m:sSub>
                      <m:r>
                        <a:rPr lang="en-US" b="0" i="1" smtClean="0">
                          <a:latin typeface="Cambria Math" panose="02040503050406030204" pitchFamily="18" charset="0"/>
                        </a:rPr>
                        <m:t>&gt;0</m:t>
                      </m:r>
                    </m:oMath>
                  </a14:m>
                  <a:r>
                    <a:rPr lang="en-US" dirty="0"/>
                    <a:t> if the constraint is tight (misclassification) </a:t>
                  </a:r>
                </a:p>
              </p:txBody>
            </p:sp>
          </mc:Choice>
          <mc:Fallback xmlns="">
            <p:sp>
              <p:nvSpPr>
                <p:cNvPr id="20" name="TextBox 19"/>
                <p:cNvSpPr txBox="1">
                  <a:spLocks noRot="1" noChangeAspect="1" noMove="1" noResize="1" noEditPoints="1" noAdjustHandles="1" noChangeArrowheads="1" noChangeShapeType="1" noTextEdit="1"/>
                </p:cNvSpPr>
                <p:nvPr/>
              </p:nvSpPr>
              <p:spPr>
                <a:xfrm>
                  <a:off x="2320092" y="5505558"/>
                  <a:ext cx="6309231" cy="369332"/>
                </a:xfrm>
                <a:prstGeom prst="rect">
                  <a:avLst/>
                </a:prstGeom>
                <a:blipFill>
                  <a:blip r:embed="rId7"/>
                  <a:stretch>
                    <a:fillRect t="-6667" b="-26667"/>
                  </a:stretch>
                </a:blipFill>
              </p:spPr>
              <p:txBody>
                <a:bodyPr/>
                <a:lstStyle/>
                <a:p>
                  <a:r>
                    <a:rPr lang="en-US">
                      <a:noFill/>
                    </a:rPr>
                    <a:t> </a:t>
                  </a:r>
                </a:p>
              </p:txBody>
            </p:sp>
          </mc:Fallback>
        </mc:AlternateContent>
      </p:grpSp>
      <p:grpSp>
        <p:nvGrpSpPr>
          <p:cNvPr id="13" name="Group 12"/>
          <p:cNvGrpSpPr/>
          <p:nvPr/>
        </p:nvGrpSpPr>
        <p:grpSpPr>
          <a:xfrm>
            <a:off x="3985923" y="1778260"/>
            <a:ext cx="4700877" cy="547390"/>
            <a:chOff x="3985923" y="1778260"/>
            <a:chExt cx="4700877" cy="547390"/>
          </a:xfrm>
        </p:grpSpPr>
        <p:sp>
          <p:nvSpPr>
            <p:cNvPr id="7" name="TextBox 6"/>
            <p:cNvSpPr txBox="1"/>
            <p:nvPr/>
          </p:nvSpPr>
          <p:spPr>
            <a:xfrm>
              <a:off x="4572000" y="1778260"/>
              <a:ext cx="4114800" cy="369332"/>
            </a:xfrm>
            <a:prstGeom prst="rect">
              <a:avLst/>
            </a:prstGeom>
            <a:noFill/>
          </p:spPr>
          <p:txBody>
            <a:bodyPr wrap="square" rtlCol="0">
              <a:spAutoFit/>
            </a:bodyPr>
            <a:lstStyle/>
            <a:p>
              <a:r>
                <a:rPr lang="en-US" dirty="0"/>
                <a:t>In the dual form, we need to maximize it!</a:t>
              </a:r>
            </a:p>
          </p:txBody>
        </p:sp>
        <p:cxnSp>
          <p:nvCxnSpPr>
            <p:cNvPr id="12" name="Straight Arrow Connector 11"/>
            <p:cNvCxnSpPr>
              <a:cxnSpLocks/>
              <a:stCxn id="7" idx="1"/>
              <a:endCxn id="19" idx="0"/>
            </p:cNvCxnSpPr>
            <p:nvPr/>
          </p:nvCxnSpPr>
          <p:spPr>
            <a:xfrm flipH="1">
              <a:off x="3985923" y="1962926"/>
              <a:ext cx="586077" cy="362724"/>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69381733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Recap:</a:t>
            </a:r>
            <a:r>
              <a:rPr lang="zh-CN" altLang="en-US" dirty="0"/>
              <a:t> </a:t>
            </a:r>
            <a:r>
              <a:rPr lang="en-US" altLang="zh-CN" dirty="0"/>
              <a:t>r</a:t>
            </a:r>
            <a:r>
              <a:rPr lang="en-US" dirty="0"/>
              <a:t>ethink about dual form SVM</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Kernel SVM</a:t>
                </a:r>
              </a:p>
              <a:p>
                <a:endParaRPr lang="en-US" dirty="0"/>
              </a:p>
              <a:p>
                <a:endParaRPr lang="en-US" dirty="0"/>
              </a:p>
              <a:p>
                <a:endParaRPr lang="en-US" dirty="0"/>
              </a:p>
              <a:p>
                <a:pPr lvl="1"/>
                <a:endParaRPr lang="en-US" dirty="0"/>
              </a:p>
              <a:p>
                <a:pPr lvl="1"/>
                <a:endParaRPr lang="en-US" dirty="0"/>
              </a:p>
              <a:p>
                <a:pPr lvl="1"/>
                <a:r>
                  <a:rPr lang="en-US" dirty="0"/>
                  <a:t>Decision boundary</a:t>
                </a:r>
              </a:p>
              <a:p>
                <a:pPr lvl="2"/>
                <a14:m>
                  <m:oMath xmlns:m="http://schemas.openxmlformats.org/officeDocument/2006/math">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i="1">
                            <a:latin typeface="Cambria Math" panose="02040503050406030204" pitchFamily="18" charset="0"/>
                          </a:rPr>
                          <m:t>𝑤</m:t>
                        </m:r>
                      </m:e>
                      <m:sup>
                        <m:r>
                          <a:rPr lang="en-US" b="0" i="1" smtClean="0">
                            <a:latin typeface="Cambria Math" panose="02040503050406030204" pitchFamily="18" charset="0"/>
                          </a:rPr>
                          <m:t>𝑇</m:t>
                        </m:r>
                      </m:sup>
                    </m:sSup>
                    <m:r>
                      <a:rPr lang="en-US" b="0" i="1" smtClean="0">
                        <a:latin typeface="Cambria Math" panose="02040503050406030204" pitchFamily="18" charset="0"/>
                      </a:rPr>
                      <m:t>𝜙</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i="1">
                        <a:latin typeface="Cambria Math" panose="02040503050406030204" pitchFamily="18" charset="0"/>
                      </a:rPr>
                      <m:t>=</m:t>
                    </m:r>
                    <m:nary>
                      <m:naryPr>
                        <m:chr m:val="∑"/>
                        <m:supHide m:val="on"/>
                        <m:ctrlPr>
                          <a:rPr lang="en-US" i="1">
                            <a:latin typeface="Cambria Math" panose="02040503050406030204" pitchFamily="18" charset="0"/>
                          </a:rPr>
                        </m:ctrlPr>
                      </m:naryPr>
                      <m:sub>
                        <m:r>
                          <a:rPr lang="en-US" i="1">
                            <a:latin typeface="Cambria Math" panose="02040503050406030204" pitchFamily="18" charset="0"/>
                          </a:rPr>
                          <m:t>𝑖</m:t>
                        </m:r>
                      </m:sub>
                      <m:sup/>
                      <m:e>
                        <m:sSub>
                          <m:sSubPr>
                            <m:ctrlPr>
                              <a:rPr lang="en-US" i="1">
                                <a:latin typeface="Cambria Math" panose="02040503050406030204" pitchFamily="18" charset="0"/>
                              </a:rPr>
                            </m:ctrlPr>
                          </m:sSubPr>
                          <m:e>
                            <m:r>
                              <a:rPr lang="en-US" i="1">
                                <a:latin typeface="Cambria Math" panose="02040503050406030204" pitchFamily="18" charset="0"/>
                              </a:rPr>
                              <m:t>𝛼</m:t>
                            </m:r>
                          </m:e>
                          <m:sub>
                            <m:r>
                              <a:rPr lang="en-US" i="1">
                                <a:latin typeface="Cambria Math" panose="02040503050406030204" pitchFamily="18" charset="0"/>
                              </a:rPr>
                              <m:t>𝑖</m:t>
                            </m:r>
                          </m:sub>
                        </m:sSub>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𝑖</m:t>
                            </m:r>
                          </m:sub>
                        </m:sSub>
                        <m:r>
                          <a:rPr lang="en-US" b="0" i="1" smtClean="0">
                            <a:latin typeface="Cambria Math" panose="02040503050406030204" pitchFamily="18" charset="0"/>
                          </a:rPr>
                          <m:t>𝜙</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m:t>
                                    </m:r>
                                  </m:sub>
                                </m:sSub>
                              </m:e>
                            </m:d>
                          </m:e>
                          <m:sup>
                            <m:r>
                              <a:rPr lang="en-US" b="0" i="1" smtClean="0">
                                <a:latin typeface="Cambria Math" panose="02040503050406030204" pitchFamily="18" charset="0"/>
                              </a:rPr>
                              <m:t>𝑇</m:t>
                            </m:r>
                          </m:sup>
                        </m:sSup>
                        <m:r>
                          <a:rPr lang="en-US" b="0" i="1" smtClean="0">
                            <a:latin typeface="Cambria Math" panose="02040503050406030204" pitchFamily="18" charset="0"/>
                          </a:rPr>
                          <m:t>𝜙</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e>
                    </m:nary>
                  </m:oMath>
                </a14:m>
                <a:endParaRPr lang="en-US" i="1" dirty="0">
                  <a:latin typeface="Cambria Math" panose="02040503050406030204" pitchFamily="18" charset="0"/>
                </a:endParaRPr>
              </a:p>
              <a:p>
                <a:pPr marL="914400" lvl="2"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nary>
                        <m:naryPr>
                          <m:chr m:val="∑"/>
                          <m:supHide m:val="on"/>
                          <m:ctrlPr>
                            <a:rPr lang="en-US" i="1">
                              <a:latin typeface="Cambria Math" panose="02040503050406030204" pitchFamily="18" charset="0"/>
                            </a:rPr>
                          </m:ctrlPr>
                        </m:naryPr>
                        <m:sub>
                          <m:r>
                            <a:rPr lang="en-US" i="1">
                              <a:latin typeface="Cambria Math" panose="02040503050406030204" pitchFamily="18" charset="0"/>
                            </a:rPr>
                            <m:t>𝑖</m:t>
                          </m:r>
                        </m:sub>
                        <m:sup/>
                        <m:e>
                          <m:sSub>
                            <m:sSubPr>
                              <m:ctrlPr>
                                <a:rPr lang="en-US" i="1">
                                  <a:latin typeface="Cambria Math" panose="02040503050406030204" pitchFamily="18" charset="0"/>
                                </a:rPr>
                              </m:ctrlPr>
                            </m:sSubPr>
                            <m:e>
                              <m:r>
                                <a:rPr lang="en-US" i="1">
                                  <a:latin typeface="Cambria Math" panose="02040503050406030204" pitchFamily="18" charset="0"/>
                                </a:rPr>
                                <m:t>𝛼</m:t>
                              </m:r>
                            </m:e>
                            <m:sub>
                              <m:r>
                                <a:rPr lang="en-US" i="1">
                                  <a:latin typeface="Cambria Math" panose="02040503050406030204" pitchFamily="18" charset="0"/>
                                </a:rPr>
                                <m:t>𝑖</m:t>
                              </m:r>
                            </m:sub>
                          </m:sSub>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𝑖</m:t>
                              </m:r>
                            </m:sub>
                          </m:sSub>
                          <m:r>
                            <a:rPr lang="en-US" b="0" i="1" smtClean="0">
                              <a:latin typeface="Cambria Math" panose="02040503050406030204" pitchFamily="18" charset="0"/>
                            </a:rPr>
                            <m:t>𝐾</m:t>
                          </m:r>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m:t>
                              </m:r>
                            </m:sub>
                          </m:sSub>
                          <m:r>
                            <a:rPr lang="en-US" b="0" i="1" smtClean="0">
                              <a:latin typeface="Cambria Math" panose="02040503050406030204" pitchFamily="18" charset="0"/>
                            </a:rPr>
                            <m:t>,</m:t>
                          </m:r>
                          <m:r>
                            <a:rPr lang="en-US" i="1">
                              <a:latin typeface="Cambria Math" panose="02040503050406030204" pitchFamily="18" charset="0"/>
                            </a:rPr>
                            <m:t>𝑥</m:t>
                          </m:r>
                        </m:e>
                      </m:nary>
                      <m:r>
                        <a:rPr lang="en-US" b="0" i="1" smtClean="0">
                          <a:latin typeface="Cambria Math" panose="02040503050406030204" pitchFamily="18" charset="0"/>
                        </a:rPr>
                        <m:t>)</m:t>
                      </m:r>
                    </m:oMath>
                  </m:oMathPara>
                </a14:m>
                <a:endParaRPr lang="en-US" dirty="0"/>
              </a:p>
              <a:p>
                <a:pPr lvl="2"/>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t="-1385" b="-25208"/>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r>
              <a:rPr lang="en-US"/>
              <a:t>CS@THU</a:t>
            </a:r>
          </a:p>
        </p:txBody>
      </p:sp>
      <p:sp>
        <p:nvSpPr>
          <p:cNvPr id="5" name="Footer Placeholder 4"/>
          <p:cNvSpPr>
            <a:spLocks noGrp="1"/>
          </p:cNvSpPr>
          <p:nvPr>
            <p:ph type="ftr" sz="quarter" idx="11"/>
          </p:nvPr>
        </p:nvSpPr>
        <p:spPr/>
        <p:txBody>
          <a:bodyPr/>
          <a:lstStyle/>
          <a:p>
            <a:r>
              <a:rPr lang="en-US"/>
              <a:t>Intro to AI</a:t>
            </a:r>
          </a:p>
        </p:txBody>
      </p:sp>
      <p:sp>
        <p:nvSpPr>
          <p:cNvPr id="6" name="Slide Number Placeholder 5"/>
          <p:cNvSpPr>
            <a:spLocks noGrp="1"/>
          </p:cNvSpPr>
          <p:nvPr>
            <p:ph type="sldNum" sz="quarter" idx="12"/>
          </p:nvPr>
        </p:nvSpPr>
        <p:spPr/>
        <p:txBody>
          <a:bodyPr/>
          <a:lstStyle/>
          <a:p>
            <a:fld id="{8B21C241-DC31-4975-8740-BA05E6F19F00}" type="slidenum">
              <a:rPr lang="en-US" smtClean="0"/>
              <a:t>74</a:t>
            </a:fld>
            <a:endParaRPr lang="en-US"/>
          </a:p>
        </p:txBody>
      </p:sp>
      <mc:AlternateContent xmlns:mc="http://schemas.openxmlformats.org/markup-compatibility/2006" xmlns:a14="http://schemas.microsoft.com/office/drawing/2010/main">
        <mc:Choice Requires="a14">
          <p:sp>
            <p:nvSpPr>
              <p:cNvPr id="7" name="TextBox 6"/>
              <p:cNvSpPr txBox="1"/>
              <p:nvPr/>
            </p:nvSpPr>
            <p:spPr>
              <a:xfrm>
                <a:off x="2852091" y="3427950"/>
                <a:ext cx="2725170" cy="40011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600" b="0" i="1" smtClean="0">
                          <a:latin typeface="Cambria Math" panose="02040503050406030204" pitchFamily="18" charset="0"/>
                        </a:rPr>
                        <m:t>𝑠</m:t>
                      </m:r>
                      <m:r>
                        <a:rPr lang="en-US" sz="2600" b="0" i="1" smtClean="0">
                          <a:latin typeface="Cambria Math" panose="02040503050406030204" pitchFamily="18" charset="0"/>
                        </a:rPr>
                        <m:t>.</m:t>
                      </m:r>
                      <m:r>
                        <a:rPr lang="en-US" sz="2600" b="0" i="1" smtClean="0">
                          <a:latin typeface="Cambria Math" panose="02040503050406030204" pitchFamily="18" charset="0"/>
                        </a:rPr>
                        <m:t>𝑡</m:t>
                      </m:r>
                      <m:r>
                        <a:rPr lang="en-US" sz="2600" b="0" i="1" smtClean="0">
                          <a:latin typeface="Cambria Math" panose="02040503050406030204" pitchFamily="18" charset="0"/>
                        </a:rPr>
                        <m:t>.  ∀</m:t>
                      </m:r>
                      <m:r>
                        <a:rPr lang="en-US" sz="2600" b="0" i="1" smtClean="0">
                          <a:latin typeface="Cambria Math" panose="02040503050406030204" pitchFamily="18" charset="0"/>
                        </a:rPr>
                        <m:t>𝑖</m:t>
                      </m:r>
                      <m:r>
                        <a:rPr lang="en-US" sz="2600" b="0" i="1" smtClean="0">
                          <a:latin typeface="Cambria Math" panose="02040503050406030204" pitchFamily="18" charset="0"/>
                        </a:rPr>
                        <m:t>,</m:t>
                      </m:r>
                      <m:sSub>
                        <m:sSubPr>
                          <m:ctrlPr>
                            <a:rPr lang="en-US" sz="2600" b="0" i="1" smtClean="0">
                              <a:latin typeface="Cambria Math" panose="02040503050406030204" pitchFamily="18" charset="0"/>
                            </a:rPr>
                          </m:ctrlPr>
                        </m:sSubPr>
                        <m:e>
                          <m:r>
                            <a:rPr lang="en-US" sz="2600" b="0" i="1" smtClean="0">
                              <a:latin typeface="Cambria Math" panose="02040503050406030204" pitchFamily="18" charset="0"/>
                            </a:rPr>
                            <m:t>0≤</m:t>
                          </m:r>
                          <m:r>
                            <a:rPr lang="en-US" sz="2600" b="0" i="1" smtClean="0">
                              <a:latin typeface="Cambria Math" panose="02040503050406030204" pitchFamily="18" charset="0"/>
                            </a:rPr>
                            <m:t>𝛼</m:t>
                          </m:r>
                        </m:e>
                        <m:sub>
                          <m:r>
                            <a:rPr lang="en-US" sz="2600" b="0" i="1" smtClean="0">
                              <a:latin typeface="Cambria Math" panose="02040503050406030204" pitchFamily="18" charset="0"/>
                            </a:rPr>
                            <m:t>𝑖</m:t>
                          </m:r>
                        </m:sub>
                      </m:sSub>
                      <m:r>
                        <a:rPr lang="en-US" sz="2600" b="0" i="1" smtClean="0">
                          <a:latin typeface="Cambria Math" panose="02040503050406030204" pitchFamily="18" charset="0"/>
                        </a:rPr>
                        <m:t>≤</m:t>
                      </m:r>
                      <m:r>
                        <a:rPr lang="en-US" sz="2600" b="0" i="1" smtClean="0">
                          <a:latin typeface="Cambria Math" panose="02040503050406030204" pitchFamily="18" charset="0"/>
                        </a:rPr>
                        <m:t>𝐶</m:t>
                      </m:r>
                    </m:oMath>
                  </m:oMathPara>
                </a14:m>
                <a:endParaRPr lang="en-US" sz="2600" dirty="0"/>
              </a:p>
            </p:txBody>
          </p:sp>
        </mc:Choice>
        <mc:Fallback xmlns="">
          <p:sp>
            <p:nvSpPr>
              <p:cNvPr id="7" name="TextBox 6"/>
              <p:cNvSpPr txBox="1">
                <a:spLocks noRot="1" noChangeAspect="1" noMove="1" noResize="1" noEditPoints="1" noAdjustHandles="1" noChangeArrowheads="1" noChangeShapeType="1" noTextEdit="1"/>
              </p:cNvSpPr>
              <p:nvPr/>
            </p:nvSpPr>
            <p:spPr>
              <a:xfrm>
                <a:off x="2852091" y="3427950"/>
                <a:ext cx="2725170" cy="400110"/>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2084173" y="2309175"/>
                <a:ext cx="5068503" cy="101617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lang="en-US" sz="2600" b="0" i="1" smtClean="0">
                              <a:latin typeface="Cambria Math" panose="02040503050406030204" pitchFamily="18" charset="0"/>
                            </a:rPr>
                          </m:ctrlPr>
                        </m:funcPr>
                        <m:fName>
                          <m:limLow>
                            <m:limLowPr>
                              <m:ctrlPr>
                                <a:rPr lang="en-US" sz="2600" b="0" i="1" smtClean="0">
                                  <a:latin typeface="Cambria Math" panose="02040503050406030204" pitchFamily="18" charset="0"/>
                                </a:rPr>
                              </m:ctrlPr>
                            </m:limLowPr>
                            <m:e>
                              <m:r>
                                <m:rPr>
                                  <m:sty m:val="p"/>
                                </m:rPr>
                                <a:rPr lang="en-US" sz="2600" b="0" i="0" smtClean="0">
                                  <a:latin typeface="Cambria Math" panose="02040503050406030204" pitchFamily="18" charset="0"/>
                                </a:rPr>
                                <m:t>max</m:t>
                              </m:r>
                            </m:e>
                            <m:lim>
                              <m:r>
                                <a:rPr lang="en-US" sz="2600" b="0" i="1" smtClean="0">
                                  <a:latin typeface="Cambria Math" panose="02040503050406030204" pitchFamily="18" charset="0"/>
                                </a:rPr>
                                <m:t>𝛼</m:t>
                              </m:r>
                            </m:lim>
                          </m:limLow>
                        </m:fName>
                        <m:e>
                          <m:nary>
                            <m:naryPr>
                              <m:chr m:val="∑"/>
                              <m:supHide m:val="on"/>
                              <m:ctrlPr>
                                <a:rPr lang="en-US" sz="2600" i="1">
                                  <a:latin typeface="Cambria Math" panose="02040503050406030204" pitchFamily="18" charset="0"/>
                                </a:rPr>
                              </m:ctrlPr>
                            </m:naryPr>
                            <m:sub>
                              <m:r>
                                <a:rPr lang="en-US" sz="2600" i="1">
                                  <a:latin typeface="Cambria Math" panose="02040503050406030204" pitchFamily="18" charset="0"/>
                                </a:rPr>
                                <m:t>𝑖</m:t>
                              </m:r>
                            </m:sub>
                            <m:sup/>
                            <m:e>
                              <m:sSub>
                                <m:sSubPr>
                                  <m:ctrlPr>
                                    <a:rPr lang="en-US" sz="2600" i="1">
                                      <a:latin typeface="Cambria Math" panose="02040503050406030204" pitchFamily="18" charset="0"/>
                                    </a:rPr>
                                  </m:ctrlPr>
                                </m:sSubPr>
                                <m:e>
                                  <m:r>
                                    <a:rPr lang="en-US" sz="2600" i="1">
                                      <a:latin typeface="Cambria Math" panose="02040503050406030204" pitchFamily="18" charset="0"/>
                                    </a:rPr>
                                    <m:t>𝛼</m:t>
                                  </m:r>
                                </m:e>
                                <m:sub>
                                  <m:r>
                                    <a:rPr lang="en-US" sz="2600" i="1">
                                      <a:latin typeface="Cambria Math" panose="02040503050406030204" pitchFamily="18" charset="0"/>
                                    </a:rPr>
                                    <m:t>𝑖</m:t>
                                  </m:r>
                                </m:sub>
                              </m:sSub>
                            </m:e>
                          </m:nary>
                          <m:r>
                            <a:rPr lang="en-US" sz="2600" i="1">
                              <a:latin typeface="Cambria Math" panose="02040503050406030204" pitchFamily="18" charset="0"/>
                            </a:rPr>
                            <m:t>−</m:t>
                          </m:r>
                          <m:f>
                            <m:fPr>
                              <m:ctrlPr>
                                <a:rPr lang="en-US" sz="2600" i="1">
                                  <a:latin typeface="Cambria Math" panose="02040503050406030204" pitchFamily="18" charset="0"/>
                                </a:rPr>
                              </m:ctrlPr>
                            </m:fPr>
                            <m:num>
                              <m:r>
                                <a:rPr lang="en-US" sz="2600" i="1">
                                  <a:latin typeface="Cambria Math" panose="02040503050406030204" pitchFamily="18" charset="0"/>
                                </a:rPr>
                                <m:t>1</m:t>
                              </m:r>
                            </m:num>
                            <m:den>
                              <m:r>
                                <a:rPr lang="en-US" sz="2600" i="1">
                                  <a:latin typeface="Cambria Math" panose="02040503050406030204" pitchFamily="18" charset="0"/>
                                </a:rPr>
                                <m:t>2</m:t>
                              </m:r>
                            </m:den>
                          </m:f>
                          <m:nary>
                            <m:naryPr>
                              <m:chr m:val="∑"/>
                              <m:supHide m:val="on"/>
                              <m:ctrlPr>
                                <a:rPr lang="en-US" sz="2600" i="1">
                                  <a:latin typeface="Cambria Math" panose="02040503050406030204" pitchFamily="18" charset="0"/>
                                </a:rPr>
                              </m:ctrlPr>
                            </m:naryPr>
                            <m:sub>
                              <m:r>
                                <a:rPr lang="en-US" sz="2600" i="1">
                                  <a:latin typeface="Cambria Math" panose="02040503050406030204" pitchFamily="18" charset="0"/>
                                </a:rPr>
                                <m:t>𝑖</m:t>
                              </m:r>
                              <m:r>
                                <a:rPr lang="en-US" sz="2600" i="1">
                                  <a:latin typeface="Cambria Math" panose="02040503050406030204" pitchFamily="18" charset="0"/>
                                </a:rPr>
                                <m:t>,</m:t>
                              </m:r>
                              <m:r>
                                <a:rPr lang="en-US" sz="2600" i="1">
                                  <a:latin typeface="Cambria Math" panose="02040503050406030204" pitchFamily="18" charset="0"/>
                                </a:rPr>
                                <m:t>𝑗</m:t>
                              </m:r>
                            </m:sub>
                            <m:sup/>
                            <m:e>
                              <m:sSub>
                                <m:sSubPr>
                                  <m:ctrlPr>
                                    <a:rPr lang="en-US" sz="2600" i="1">
                                      <a:latin typeface="Cambria Math" panose="02040503050406030204" pitchFamily="18" charset="0"/>
                                    </a:rPr>
                                  </m:ctrlPr>
                                </m:sSubPr>
                                <m:e>
                                  <m:r>
                                    <a:rPr lang="en-US" sz="2600" i="1">
                                      <a:latin typeface="Cambria Math" panose="02040503050406030204" pitchFamily="18" charset="0"/>
                                    </a:rPr>
                                    <m:t>𝛼</m:t>
                                  </m:r>
                                </m:e>
                                <m:sub>
                                  <m:r>
                                    <a:rPr lang="en-US" sz="2600" i="1">
                                      <a:latin typeface="Cambria Math" panose="02040503050406030204" pitchFamily="18" charset="0"/>
                                    </a:rPr>
                                    <m:t>𝑖</m:t>
                                  </m:r>
                                </m:sub>
                              </m:sSub>
                              <m:sSub>
                                <m:sSubPr>
                                  <m:ctrlPr>
                                    <a:rPr lang="en-US" sz="2600" i="1">
                                      <a:latin typeface="Cambria Math" panose="02040503050406030204" pitchFamily="18" charset="0"/>
                                    </a:rPr>
                                  </m:ctrlPr>
                                </m:sSubPr>
                                <m:e>
                                  <m:sSub>
                                    <m:sSubPr>
                                      <m:ctrlPr>
                                        <a:rPr lang="en-US" sz="2600" i="1">
                                          <a:latin typeface="Cambria Math" panose="02040503050406030204" pitchFamily="18" charset="0"/>
                                        </a:rPr>
                                      </m:ctrlPr>
                                    </m:sSubPr>
                                    <m:e>
                                      <m:r>
                                        <a:rPr lang="en-US" sz="2600" i="1">
                                          <a:latin typeface="Cambria Math" panose="02040503050406030204" pitchFamily="18" charset="0"/>
                                        </a:rPr>
                                        <m:t>𝛼</m:t>
                                      </m:r>
                                    </m:e>
                                    <m:sub>
                                      <m:r>
                                        <a:rPr lang="en-US" sz="2600" i="1">
                                          <a:latin typeface="Cambria Math" panose="02040503050406030204" pitchFamily="18" charset="0"/>
                                        </a:rPr>
                                        <m:t>𝑗</m:t>
                                      </m:r>
                                    </m:sub>
                                  </m:sSub>
                                  <m:r>
                                    <a:rPr lang="en-US" sz="2600" i="1">
                                      <a:latin typeface="Cambria Math" panose="02040503050406030204" pitchFamily="18" charset="0"/>
                                    </a:rPr>
                                    <m:t>𝑦</m:t>
                                  </m:r>
                                </m:e>
                                <m:sub>
                                  <m:r>
                                    <a:rPr lang="en-US" sz="2600" i="1">
                                      <a:latin typeface="Cambria Math" panose="02040503050406030204" pitchFamily="18" charset="0"/>
                                    </a:rPr>
                                    <m:t>𝑖</m:t>
                                  </m:r>
                                </m:sub>
                              </m:sSub>
                              <m:sSub>
                                <m:sSubPr>
                                  <m:ctrlPr>
                                    <a:rPr lang="en-US" sz="2600" i="1">
                                      <a:latin typeface="Cambria Math" panose="02040503050406030204" pitchFamily="18" charset="0"/>
                                    </a:rPr>
                                  </m:ctrlPr>
                                </m:sSubPr>
                                <m:e>
                                  <m:r>
                                    <a:rPr lang="en-US" sz="2600" i="1">
                                      <a:latin typeface="Cambria Math" panose="02040503050406030204" pitchFamily="18" charset="0"/>
                                    </a:rPr>
                                    <m:t>𝑦</m:t>
                                  </m:r>
                                </m:e>
                                <m:sub>
                                  <m:r>
                                    <a:rPr lang="en-US" sz="2600" i="1">
                                      <a:latin typeface="Cambria Math" panose="02040503050406030204" pitchFamily="18" charset="0"/>
                                    </a:rPr>
                                    <m:t>𝑗</m:t>
                                  </m:r>
                                </m:sub>
                              </m:sSub>
                              <m:r>
                                <a:rPr lang="en-US" sz="2600" b="0" i="1" smtClean="0">
                                  <a:latin typeface="Cambria Math" panose="02040503050406030204" pitchFamily="18" charset="0"/>
                                </a:rPr>
                                <m:t>𝐾</m:t>
                              </m:r>
                              <m:r>
                                <a:rPr lang="en-US" sz="2600" b="0" i="1" smtClean="0">
                                  <a:latin typeface="Cambria Math" panose="02040503050406030204" pitchFamily="18" charset="0"/>
                                </a:rPr>
                                <m:t>(</m:t>
                              </m:r>
                              <m:sSub>
                                <m:sSubPr>
                                  <m:ctrlPr>
                                    <a:rPr lang="en-US" sz="2600" i="1">
                                      <a:latin typeface="Cambria Math" panose="02040503050406030204" pitchFamily="18" charset="0"/>
                                    </a:rPr>
                                  </m:ctrlPr>
                                </m:sSubPr>
                                <m:e>
                                  <m:r>
                                    <a:rPr lang="en-US" sz="2600" i="1">
                                      <a:latin typeface="Cambria Math" panose="02040503050406030204" pitchFamily="18" charset="0"/>
                                    </a:rPr>
                                    <m:t>𝑥</m:t>
                                  </m:r>
                                </m:e>
                                <m:sub>
                                  <m:r>
                                    <a:rPr lang="en-US" sz="2600" i="1">
                                      <a:latin typeface="Cambria Math" panose="02040503050406030204" pitchFamily="18" charset="0"/>
                                    </a:rPr>
                                    <m:t>𝑖</m:t>
                                  </m:r>
                                </m:sub>
                              </m:sSub>
                              <m:r>
                                <a:rPr lang="en-US" sz="2600" b="0" i="1" smtClean="0">
                                  <a:latin typeface="Cambria Math" panose="02040503050406030204" pitchFamily="18" charset="0"/>
                                </a:rPr>
                                <m:t>,</m:t>
                              </m:r>
                              <m:sSub>
                                <m:sSubPr>
                                  <m:ctrlPr>
                                    <a:rPr lang="en-US" sz="2600" i="1">
                                      <a:latin typeface="Cambria Math" panose="02040503050406030204" pitchFamily="18" charset="0"/>
                                    </a:rPr>
                                  </m:ctrlPr>
                                </m:sSubPr>
                                <m:e>
                                  <m:r>
                                    <a:rPr lang="en-US" sz="2600" i="1">
                                      <a:latin typeface="Cambria Math" panose="02040503050406030204" pitchFamily="18" charset="0"/>
                                    </a:rPr>
                                    <m:t>𝑥</m:t>
                                  </m:r>
                                </m:e>
                                <m:sub>
                                  <m:r>
                                    <a:rPr lang="en-US" sz="2600" i="1">
                                      <a:latin typeface="Cambria Math" panose="02040503050406030204" pitchFamily="18" charset="0"/>
                                    </a:rPr>
                                    <m:t>𝑗</m:t>
                                  </m:r>
                                </m:sub>
                              </m:sSub>
                              <m:r>
                                <a:rPr lang="en-US" sz="2600" b="0" i="1" smtClean="0">
                                  <a:latin typeface="Cambria Math" panose="02040503050406030204" pitchFamily="18" charset="0"/>
                                </a:rPr>
                                <m:t>)</m:t>
                              </m:r>
                            </m:e>
                          </m:nary>
                        </m:e>
                      </m:func>
                    </m:oMath>
                  </m:oMathPara>
                </a14:m>
                <a:endParaRPr lang="en-US" sz="2600" dirty="0"/>
              </a:p>
            </p:txBody>
          </p:sp>
        </mc:Choice>
        <mc:Fallback xmlns="">
          <p:sp>
            <p:nvSpPr>
              <p:cNvPr id="8" name="TextBox 7"/>
              <p:cNvSpPr txBox="1">
                <a:spLocks noRot="1" noChangeAspect="1" noMove="1" noResize="1" noEditPoints="1" noAdjustHandles="1" noChangeArrowheads="1" noChangeShapeType="1" noTextEdit="1"/>
              </p:cNvSpPr>
              <p:nvPr/>
            </p:nvSpPr>
            <p:spPr>
              <a:xfrm>
                <a:off x="2084173" y="2309175"/>
                <a:ext cx="5068503" cy="1016176"/>
              </a:xfrm>
              <a:prstGeom prst="rect">
                <a:avLst/>
              </a:prstGeom>
              <a:blipFill rotWithShape="0">
                <a:blip r:embed="rId4"/>
                <a:stretch>
                  <a:fillRect/>
                </a:stretch>
              </a:blipFill>
            </p:spPr>
            <p:txBody>
              <a:bodyPr/>
              <a:lstStyle/>
              <a:p>
                <a:r>
                  <a:rPr lang="en-US">
                    <a:noFill/>
                  </a:rPr>
                  <a:t> </a:t>
                </a:r>
              </a:p>
            </p:txBody>
          </p:sp>
        </mc:Fallback>
      </mc:AlternateContent>
      <p:grpSp>
        <p:nvGrpSpPr>
          <p:cNvPr id="12" name="Group 11"/>
          <p:cNvGrpSpPr/>
          <p:nvPr/>
        </p:nvGrpSpPr>
        <p:grpSpPr>
          <a:xfrm>
            <a:off x="4794422" y="5477004"/>
            <a:ext cx="3457274" cy="831725"/>
            <a:chOff x="4253342" y="5022574"/>
            <a:chExt cx="3457274" cy="831725"/>
          </a:xfrm>
        </p:grpSpPr>
        <p:sp>
          <p:nvSpPr>
            <p:cNvPr id="9" name="TextBox 8"/>
            <p:cNvSpPr txBox="1"/>
            <p:nvPr/>
          </p:nvSpPr>
          <p:spPr>
            <a:xfrm>
              <a:off x="4942703" y="5207968"/>
              <a:ext cx="2767913" cy="646331"/>
            </a:xfrm>
            <a:prstGeom prst="rect">
              <a:avLst/>
            </a:prstGeom>
            <a:noFill/>
          </p:spPr>
          <p:txBody>
            <a:bodyPr wrap="square" rtlCol="0">
              <a:spAutoFit/>
            </a:bodyPr>
            <a:lstStyle/>
            <a:p>
              <a:r>
                <a:rPr lang="en-US" i="1" dirty="0">
                  <a:solidFill>
                    <a:srgbClr val="FF0000"/>
                  </a:solidFill>
                </a:rPr>
                <a:t>Similarity </a:t>
              </a:r>
              <a:r>
                <a:rPr lang="en-US" i="1">
                  <a:solidFill>
                    <a:srgbClr val="FF0000"/>
                  </a:solidFill>
                </a:rPr>
                <a:t>between a testing case </a:t>
              </a:r>
              <a:r>
                <a:rPr lang="en-US" i="1" dirty="0">
                  <a:solidFill>
                    <a:srgbClr val="FF0000"/>
                  </a:solidFill>
                </a:rPr>
                <a:t>and support vectors!</a:t>
              </a:r>
            </a:p>
          </p:txBody>
        </p:sp>
        <p:cxnSp>
          <p:nvCxnSpPr>
            <p:cNvPr id="11" name="Straight Arrow Connector 10"/>
            <p:cNvCxnSpPr/>
            <p:nvPr/>
          </p:nvCxnSpPr>
          <p:spPr>
            <a:xfrm flipH="1" flipV="1">
              <a:off x="4253342" y="5022574"/>
              <a:ext cx="689361" cy="50856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4" name="Group 23"/>
          <p:cNvGrpSpPr/>
          <p:nvPr/>
        </p:nvGrpSpPr>
        <p:grpSpPr>
          <a:xfrm>
            <a:off x="5185698" y="3738796"/>
            <a:ext cx="3370581" cy="755078"/>
            <a:chOff x="5139104" y="3775733"/>
            <a:chExt cx="3370581" cy="755078"/>
          </a:xfrm>
        </p:grpSpPr>
        <p:sp>
          <p:nvSpPr>
            <p:cNvPr id="21" name="TextBox 20"/>
            <p:cNvSpPr txBox="1"/>
            <p:nvPr/>
          </p:nvSpPr>
          <p:spPr>
            <a:xfrm>
              <a:off x="5982902" y="3775733"/>
              <a:ext cx="2526783" cy="646331"/>
            </a:xfrm>
            <a:prstGeom prst="rect">
              <a:avLst/>
            </a:prstGeom>
            <a:noFill/>
          </p:spPr>
          <p:txBody>
            <a:bodyPr wrap="square" rtlCol="0">
              <a:spAutoFit/>
            </a:bodyPr>
            <a:lstStyle/>
            <a:p>
              <a:r>
                <a:rPr lang="en-US" i="1" dirty="0">
                  <a:solidFill>
                    <a:schemeClr val="accent1">
                      <a:lumMod val="75000"/>
                    </a:schemeClr>
                  </a:solidFill>
                </a:rPr>
                <a:t>We still don’t need this explicit feature mapping!</a:t>
              </a:r>
            </a:p>
          </p:txBody>
        </p:sp>
        <p:cxnSp>
          <p:nvCxnSpPr>
            <p:cNvPr id="23" name="Straight Arrow Connector 22"/>
            <p:cNvCxnSpPr>
              <a:stCxn id="21" idx="1"/>
            </p:cNvCxnSpPr>
            <p:nvPr/>
          </p:nvCxnSpPr>
          <p:spPr>
            <a:xfrm flipH="1">
              <a:off x="5139104" y="4098899"/>
              <a:ext cx="843798" cy="431912"/>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cxnSp>
        <p:nvCxnSpPr>
          <p:cNvPr id="32" name="Straight Connector 31"/>
          <p:cNvCxnSpPr/>
          <p:nvPr/>
        </p:nvCxnSpPr>
        <p:spPr>
          <a:xfrm>
            <a:off x="4515774" y="4964081"/>
            <a:ext cx="1377666" cy="582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7292686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Recap:</a:t>
            </a:r>
            <a:r>
              <a:rPr lang="zh-CN" altLang="en-US" dirty="0"/>
              <a:t> </a:t>
            </a:r>
            <a:r>
              <a:rPr lang="en-US" altLang="zh-CN" dirty="0"/>
              <a:t>h</a:t>
            </a:r>
            <a:r>
              <a:rPr lang="en-US" dirty="0"/>
              <a:t>ow to construct a kernel</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Sufficient and necessary condition for </a:t>
                </a:r>
                <a14:m>
                  <m:oMath xmlns:m="http://schemas.openxmlformats.org/officeDocument/2006/math">
                    <m:r>
                      <a:rPr lang="en-US" i="1">
                        <a:latin typeface="Cambria Math" panose="02040503050406030204" pitchFamily="18" charset="0"/>
                      </a:rPr>
                      <m:t>𝐾</m:t>
                    </m:r>
                    <m:d>
                      <m:dPr>
                        <m:ctrlPr>
                          <a:rPr lang="en-US" i="1">
                            <a:latin typeface="Cambria Math" panose="02040503050406030204" pitchFamily="18" charset="0"/>
                          </a:rPr>
                        </m:ctrlPr>
                      </m:dPr>
                      <m:e>
                        <m:r>
                          <a:rPr lang="en-US" b="0" i="1" smtClean="0">
                            <a:latin typeface="Cambria Math" panose="02040503050406030204" pitchFamily="18" charset="0"/>
                          </a:rPr>
                          <m:t>𝑥</m:t>
                        </m:r>
                        <m:r>
                          <a:rPr lang="en-US" i="1">
                            <a:latin typeface="Cambria Math" panose="02040503050406030204" pitchFamily="18" charset="0"/>
                          </a:rPr>
                          <m:t>,</m:t>
                        </m:r>
                        <m:r>
                          <a:rPr lang="en-US" b="0" i="1" smtClean="0">
                            <a:latin typeface="Cambria Math" panose="02040503050406030204" pitchFamily="18" charset="0"/>
                          </a:rPr>
                          <m:t>𝑦</m:t>
                        </m:r>
                      </m:e>
                    </m:d>
                  </m:oMath>
                </a14:m>
                <a:r>
                  <a:rPr lang="en-US" dirty="0"/>
                  <a:t> to be valid kernel</a:t>
                </a:r>
              </a:p>
              <a:p>
                <a:pPr lvl="1"/>
                <a:r>
                  <a:rPr lang="en-US" dirty="0"/>
                  <a:t>Symmetric</a:t>
                </a:r>
              </a:p>
              <a:p>
                <a:pPr lvl="1"/>
                <a:r>
                  <a:rPr lang="en-US" dirty="0"/>
                  <a:t>Positive semi-definite</a:t>
                </a:r>
              </a:p>
              <a:p>
                <a:r>
                  <a:rPr lang="en-US" dirty="0"/>
                  <a:t>Operations that preserve kernel properties</a:t>
                </a:r>
              </a:p>
              <a:p>
                <a:pPr lvl="1"/>
                <a14:m>
                  <m:oMath xmlns:m="http://schemas.openxmlformats.org/officeDocument/2006/math">
                    <m:sSup>
                      <m:sSupPr>
                        <m:ctrlPr>
                          <a:rPr lang="en-US" b="0" i="1" smtClean="0">
                            <a:latin typeface="Cambria Math" panose="02040503050406030204" pitchFamily="18" charset="0"/>
                          </a:rPr>
                        </m:ctrlPr>
                      </m:sSupPr>
                      <m:e>
                        <m:r>
                          <a:rPr lang="en-US" i="1">
                            <a:latin typeface="Cambria Math" panose="02040503050406030204" pitchFamily="18" charset="0"/>
                          </a:rPr>
                          <m:t>𝐾</m:t>
                        </m:r>
                      </m:e>
                      <m:sup>
                        <m:r>
                          <a:rPr lang="en-US" b="0" i="1" smtClean="0">
                            <a:latin typeface="Cambria Math" panose="02040503050406030204" pitchFamily="18" charset="0"/>
                          </a:rPr>
                          <m:t>∗</m:t>
                        </m:r>
                      </m:sup>
                    </m:sSup>
                    <m:d>
                      <m:dPr>
                        <m:ctrlPr>
                          <a:rPr lang="en-US" i="1">
                            <a:latin typeface="Cambria Math" panose="02040503050406030204" pitchFamily="18" charset="0"/>
                          </a:rPr>
                        </m:ctrlPr>
                      </m:dPr>
                      <m:e>
                        <m:r>
                          <a:rPr lang="en-US" i="1">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𝑦</m:t>
                        </m:r>
                      </m:e>
                    </m:d>
                    <m:r>
                      <a:rPr lang="en-US" b="0" i="1" smtClean="0">
                        <a:latin typeface="Cambria Math" panose="02040503050406030204" pitchFamily="18" charset="0"/>
                      </a:rPr>
                      <m:t>=</m:t>
                    </m:r>
                    <m:r>
                      <a:rPr lang="en-US" b="0" i="1" smtClean="0">
                        <a:latin typeface="Cambria Math" panose="02040503050406030204" pitchFamily="18" charset="0"/>
                      </a:rPr>
                      <m:t>𝑐𝐾</m:t>
                    </m:r>
                    <m:d>
                      <m:dPr>
                        <m:ctrlPr>
                          <a:rPr lang="en-US" i="1">
                            <a:latin typeface="Cambria Math" panose="02040503050406030204" pitchFamily="18" charset="0"/>
                          </a:rPr>
                        </m:ctrlPr>
                      </m:dPr>
                      <m:e>
                        <m:r>
                          <a:rPr lang="en-US" i="1">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𝑦</m:t>
                        </m:r>
                      </m:e>
                    </m:d>
                  </m:oMath>
                </a14:m>
                <a:r>
                  <a:rPr lang="en-US" dirty="0"/>
                  <a:t>, where </a:t>
                </a:r>
                <a14:m>
                  <m:oMath xmlns:m="http://schemas.openxmlformats.org/officeDocument/2006/math">
                    <m:r>
                      <a:rPr lang="en-US" i="1" dirty="0" smtClean="0">
                        <a:latin typeface="Cambria Math" panose="02040503050406030204" pitchFamily="18" charset="0"/>
                      </a:rPr>
                      <m:t>𝑐</m:t>
                    </m:r>
                    <m:r>
                      <a:rPr lang="en-US" i="1" dirty="0" smtClean="0">
                        <a:latin typeface="Cambria Math" panose="02040503050406030204" pitchFamily="18" charset="0"/>
                      </a:rPr>
                      <m:t>&gt;0</m:t>
                    </m:r>
                  </m:oMath>
                </a14:m>
                <a:endParaRPr lang="en-US" dirty="0"/>
              </a:p>
              <a:p>
                <a:pPr lvl="1"/>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𝐾</m:t>
                        </m:r>
                      </m:e>
                      <m:sup>
                        <m:r>
                          <a:rPr lang="en-US" i="1">
                            <a:latin typeface="Cambria Math" panose="02040503050406030204" pitchFamily="18" charset="0"/>
                          </a:rPr>
                          <m:t>∗</m:t>
                        </m:r>
                      </m:sup>
                    </m:sSup>
                    <m:d>
                      <m:dPr>
                        <m:ctrlPr>
                          <a:rPr lang="en-US" i="1">
                            <a:latin typeface="Cambria Math" panose="02040503050406030204" pitchFamily="18" charset="0"/>
                          </a:rPr>
                        </m:ctrlPr>
                      </m:dPr>
                      <m:e>
                        <m:r>
                          <a:rPr lang="en-US" i="1">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𝑦</m:t>
                        </m:r>
                      </m:e>
                    </m:d>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i="1">
                            <a:latin typeface="Cambria Math" panose="02040503050406030204" pitchFamily="18" charset="0"/>
                          </a:rPr>
                          <m:t>𝐾</m:t>
                        </m:r>
                      </m:e>
                      <m:sub>
                        <m:r>
                          <a:rPr lang="en-US" b="0" i="1" smtClean="0">
                            <a:latin typeface="Cambria Math" panose="02040503050406030204" pitchFamily="18" charset="0"/>
                          </a:rPr>
                          <m:t>1</m:t>
                        </m:r>
                      </m:sub>
                    </m:sSub>
                    <m:d>
                      <m:dPr>
                        <m:ctrlPr>
                          <a:rPr lang="en-US" i="1">
                            <a:latin typeface="Cambria Math" panose="02040503050406030204" pitchFamily="18" charset="0"/>
                          </a:rPr>
                        </m:ctrlPr>
                      </m:dPr>
                      <m:e>
                        <m:r>
                          <a:rPr lang="en-US" i="1">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𝑦</m:t>
                        </m:r>
                      </m:e>
                    </m:d>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𝐾</m:t>
                        </m:r>
                      </m:e>
                      <m:sub>
                        <m:r>
                          <a:rPr lang="en-US" b="0" i="1" smtClean="0">
                            <a:latin typeface="Cambria Math" panose="02040503050406030204" pitchFamily="18" charset="0"/>
                          </a:rPr>
                          <m:t>2</m:t>
                        </m:r>
                      </m:sub>
                    </m:sSub>
                    <m:d>
                      <m:dPr>
                        <m:ctrlPr>
                          <a:rPr lang="en-US" i="1">
                            <a:latin typeface="Cambria Math" panose="02040503050406030204" pitchFamily="18" charset="0"/>
                          </a:rPr>
                        </m:ctrlPr>
                      </m:dPr>
                      <m:e>
                        <m:r>
                          <a:rPr lang="en-US" i="1">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𝑦</m:t>
                        </m:r>
                      </m:e>
                    </m:d>
                  </m:oMath>
                </a14:m>
                <a:endParaRPr lang="en-US" dirty="0"/>
              </a:p>
              <a:p>
                <a:pPr lvl="1"/>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𝐾</m:t>
                        </m:r>
                      </m:e>
                      <m:sup>
                        <m:r>
                          <a:rPr lang="en-US" i="1">
                            <a:latin typeface="Cambria Math" panose="02040503050406030204" pitchFamily="18" charset="0"/>
                          </a:rPr>
                          <m:t>∗</m:t>
                        </m:r>
                      </m:sup>
                    </m:sSup>
                    <m:d>
                      <m:dPr>
                        <m:ctrlPr>
                          <a:rPr lang="en-US" i="1">
                            <a:latin typeface="Cambria Math" panose="02040503050406030204" pitchFamily="18" charset="0"/>
                          </a:rPr>
                        </m:ctrlPr>
                      </m:dPr>
                      <m:e>
                        <m:r>
                          <a:rPr lang="en-US" i="1">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𝑦</m:t>
                        </m:r>
                      </m:e>
                    </m:d>
                    <m:r>
                      <a:rPr lang="en-US" i="1">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exp</m:t>
                        </m:r>
                      </m:fName>
                      <m:e>
                        <m:d>
                          <m:dPr>
                            <m:ctrlPr>
                              <a:rPr lang="en-US" b="0" i="1" smtClean="0">
                                <a:latin typeface="Cambria Math" panose="02040503050406030204" pitchFamily="18" charset="0"/>
                              </a:rPr>
                            </m:ctrlPr>
                          </m:dPr>
                          <m:e>
                            <m:r>
                              <a:rPr lang="en-US" i="1">
                                <a:latin typeface="Cambria Math" panose="02040503050406030204" pitchFamily="18" charset="0"/>
                              </a:rPr>
                              <m:t>𝐾</m:t>
                            </m:r>
                            <m:d>
                              <m:dPr>
                                <m:ctrlPr>
                                  <a:rPr lang="en-US" i="1">
                                    <a:latin typeface="Cambria Math" panose="02040503050406030204" pitchFamily="18" charset="0"/>
                                  </a:rPr>
                                </m:ctrlPr>
                              </m:dPr>
                              <m:e>
                                <m:r>
                                  <a:rPr lang="en-US" i="1">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𝑦</m:t>
                                </m:r>
                              </m:e>
                            </m:d>
                          </m:e>
                        </m:d>
                      </m:e>
                    </m:func>
                  </m:oMath>
                </a14:m>
                <a:endParaRPr lang="en-US" dirty="0"/>
              </a:p>
              <a:p>
                <a:pPr lvl="1"/>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𝐾</m:t>
                        </m:r>
                      </m:e>
                      <m:sup>
                        <m:r>
                          <a:rPr lang="en-US" i="1">
                            <a:latin typeface="Cambria Math" panose="02040503050406030204" pitchFamily="18" charset="0"/>
                          </a:rPr>
                          <m:t>∗</m:t>
                        </m:r>
                      </m:sup>
                    </m:sSup>
                    <m:d>
                      <m:dPr>
                        <m:ctrlPr>
                          <a:rPr lang="en-US" i="1">
                            <a:latin typeface="Cambria Math" panose="02040503050406030204" pitchFamily="18" charset="0"/>
                          </a:rPr>
                        </m:ctrlPr>
                      </m:dPr>
                      <m:e>
                        <m:r>
                          <a:rPr lang="en-US" i="1">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𝑦</m:t>
                        </m:r>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𝐾</m:t>
                        </m:r>
                      </m:e>
                      <m:sub>
                        <m:r>
                          <a:rPr lang="en-US" i="1">
                            <a:latin typeface="Cambria Math" panose="02040503050406030204" pitchFamily="18" charset="0"/>
                          </a:rPr>
                          <m:t>1</m:t>
                        </m:r>
                      </m:sub>
                    </m:sSub>
                    <m:d>
                      <m:dPr>
                        <m:ctrlPr>
                          <a:rPr lang="en-US" i="1">
                            <a:latin typeface="Cambria Math" panose="02040503050406030204" pitchFamily="18" charset="0"/>
                          </a:rPr>
                        </m:ctrlPr>
                      </m:dPr>
                      <m:e>
                        <m:r>
                          <a:rPr lang="en-US" i="1">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𝑦</m:t>
                        </m:r>
                      </m:e>
                    </m:d>
                    <m:sSub>
                      <m:sSubPr>
                        <m:ctrlPr>
                          <a:rPr lang="en-US" i="1">
                            <a:latin typeface="Cambria Math" panose="02040503050406030204" pitchFamily="18" charset="0"/>
                          </a:rPr>
                        </m:ctrlPr>
                      </m:sSubPr>
                      <m:e>
                        <m:r>
                          <a:rPr lang="en-US" i="1">
                            <a:latin typeface="Cambria Math" panose="02040503050406030204" pitchFamily="18" charset="0"/>
                          </a:rPr>
                          <m:t>𝐾</m:t>
                        </m:r>
                      </m:e>
                      <m:sub>
                        <m:r>
                          <a:rPr lang="en-US" i="1">
                            <a:latin typeface="Cambria Math" panose="02040503050406030204" pitchFamily="18" charset="0"/>
                          </a:rPr>
                          <m:t>2</m:t>
                        </m:r>
                      </m:sub>
                    </m:sSub>
                    <m:d>
                      <m:dPr>
                        <m:ctrlPr>
                          <a:rPr lang="en-US" i="1">
                            <a:latin typeface="Cambria Math" panose="02040503050406030204" pitchFamily="18" charset="0"/>
                          </a:rPr>
                        </m:ctrlPr>
                      </m:dPr>
                      <m:e>
                        <m:r>
                          <a:rPr lang="en-US" i="1">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𝑦</m:t>
                        </m:r>
                      </m:e>
                    </m:d>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t="-1108"/>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r>
              <a:rPr lang="en-US"/>
              <a:t>CS@THU</a:t>
            </a:r>
          </a:p>
        </p:txBody>
      </p:sp>
      <p:sp>
        <p:nvSpPr>
          <p:cNvPr id="5" name="Footer Placeholder 4"/>
          <p:cNvSpPr>
            <a:spLocks noGrp="1"/>
          </p:cNvSpPr>
          <p:nvPr>
            <p:ph type="ftr" sz="quarter" idx="11"/>
          </p:nvPr>
        </p:nvSpPr>
        <p:spPr/>
        <p:txBody>
          <a:bodyPr/>
          <a:lstStyle/>
          <a:p>
            <a:r>
              <a:rPr lang="en-US"/>
              <a:t>Intro to AI</a:t>
            </a:r>
          </a:p>
        </p:txBody>
      </p:sp>
      <p:sp>
        <p:nvSpPr>
          <p:cNvPr id="6" name="Slide Number Placeholder 5"/>
          <p:cNvSpPr>
            <a:spLocks noGrp="1"/>
          </p:cNvSpPr>
          <p:nvPr>
            <p:ph type="sldNum" sz="quarter" idx="12"/>
          </p:nvPr>
        </p:nvSpPr>
        <p:spPr/>
        <p:txBody>
          <a:bodyPr/>
          <a:lstStyle/>
          <a:p>
            <a:fld id="{8B21C241-DC31-4975-8740-BA05E6F19F00}" type="slidenum">
              <a:rPr lang="en-US" smtClean="0"/>
              <a:t>75</a:t>
            </a:fld>
            <a:endParaRPr lang="en-US"/>
          </a:p>
        </p:txBody>
      </p:sp>
      <p:grpSp>
        <p:nvGrpSpPr>
          <p:cNvPr id="13" name="Group 12"/>
          <p:cNvGrpSpPr/>
          <p:nvPr/>
        </p:nvGrpSpPr>
        <p:grpSpPr>
          <a:xfrm>
            <a:off x="4158656" y="2359663"/>
            <a:ext cx="3443418" cy="646331"/>
            <a:chOff x="4654378" y="2784389"/>
            <a:chExt cx="3443418" cy="646331"/>
          </a:xfrm>
        </p:grpSpPr>
        <p:sp>
          <p:nvSpPr>
            <p:cNvPr id="7" name="TextBox 6"/>
            <p:cNvSpPr txBox="1"/>
            <p:nvPr/>
          </p:nvSpPr>
          <p:spPr>
            <a:xfrm>
              <a:off x="5387547" y="2784389"/>
              <a:ext cx="2710249" cy="646331"/>
            </a:xfrm>
            <a:prstGeom prst="rect">
              <a:avLst/>
            </a:prstGeom>
            <a:noFill/>
          </p:spPr>
          <p:txBody>
            <a:bodyPr wrap="square" rtlCol="0">
              <a:spAutoFit/>
            </a:bodyPr>
            <a:lstStyle/>
            <a:p>
              <a:r>
                <a:rPr lang="en-US" i="1" dirty="0"/>
                <a:t>Just like the requirement for a distance metric</a:t>
              </a:r>
            </a:p>
          </p:txBody>
        </p:sp>
        <p:cxnSp>
          <p:nvCxnSpPr>
            <p:cNvPr id="9" name="Straight Arrow Connector 8"/>
            <p:cNvCxnSpPr>
              <a:stCxn id="7" idx="1"/>
            </p:cNvCxnSpPr>
            <p:nvPr/>
          </p:nvCxnSpPr>
          <p:spPr>
            <a:xfrm flipH="1" flipV="1">
              <a:off x="4654378" y="2932670"/>
              <a:ext cx="733169" cy="174885"/>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flipH="1">
              <a:off x="4654378" y="3107554"/>
              <a:ext cx="733170" cy="262851"/>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1179864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en-US" altLang="zh-CN" dirty="0"/>
              <a:t>4.2 </a:t>
            </a:r>
            <a:r>
              <a:rPr lang="zh-CN" altLang="en-US" dirty="0"/>
              <a:t>决策树</a:t>
            </a:r>
          </a:p>
        </p:txBody>
      </p:sp>
      <p:sp>
        <p:nvSpPr>
          <p:cNvPr id="106499" name="内容占位符 2"/>
          <p:cNvSpPr>
            <a:spLocks noGrp="1"/>
          </p:cNvSpPr>
          <p:nvPr>
            <p:ph idx="1"/>
          </p:nvPr>
        </p:nvSpPr>
        <p:spPr>
          <a:xfrm>
            <a:off x="914400" y="1797268"/>
            <a:ext cx="7772400" cy="4222531"/>
          </a:xfrm>
        </p:spPr>
        <p:txBody>
          <a:bodyPr>
            <a:normAutofit/>
          </a:bodyPr>
          <a:lstStyle/>
          <a:p>
            <a:r>
              <a:rPr lang="zh-CN" altLang="en-US" sz="3200" b="1" dirty="0"/>
              <a:t>决策树模型是一种描述对实例进行分类的树形结构，由节点和有向边组成</a:t>
            </a:r>
            <a:endParaRPr lang="en-US" altLang="zh-CN" sz="3200" b="1" dirty="0"/>
          </a:p>
          <a:p>
            <a:r>
              <a:rPr lang="zh-CN" altLang="en-US" sz="3200" b="1" dirty="0"/>
              <a:t>节点有两种类型：内部节点和叶节点</a:t>
            </a:r>
            <a:endParaRPr lang="en-US" altLang="zh-CN" sz="3200" b="1" dirty="0"/>
          </a:p>
          <a:p>
            <a:r>
              <a:rPr lang="zh-CN" altLang="en-US" sz="3200" b="1" dirty="0"/>
              <a:t>内部节点表示一个特征或者属性</a:t>
            </a:r>
            <a:endParaRPr lang="en-US" altLang="zh-CN" sz="3200" b="1" dirty="0"/>
          </a:p>
          <a:p>
            <a:r>
              <a:rPr lang="zh-CN" altLang="en-US" sz="3200" b="1" dirty="0"/>
              <a:t>叶节点表示一个类</a:t>
            </a:r>
          </a:p>
        </p:txBody>
      </p:sp>
      <p:sp>
        <p:nvSpPr>
          <p:cNvPr id="106500" name="灯片编号占位符 3"/>
          <p:cNvSpPr>
            <a:spLocks noGrp="1"/>
          </p:cNvSpPr>
          <p:nvPr>
            <p:ph type="sldNum" sz="quarter" idx="12"/>
          </p:nvPr>
        </p:nvSpPr>
        <p:spPr>
          <a:noFill/>
        </p:spPr>
        <p:txBody>
          <a:bodyPr/>
          <a:lstStyle/>
          <a:p>
            <a:fld id="{3CC3CAA2-8BFB-449C-B9D3-E2697E966C88}" type="slidenum">
              <a:rPr lang="en-US" altLang="zh-CN" smtClean="0">
                <a:ea typeface="黑体" pitchFamily="49" charset="-122"/>
              </a:rPr>
              <a:pPr/>
              <a:t>76</a:t>
            </a:fld>
            <a:endParaRPr lang="en-US" altLang="zh-CN">
              <a:ea typeface="黑体" pitchFamily="49" charset="-122"/>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灯片编号占位符 3"/>
          <p:cNvSpPr>
            <a:spLocks noGrp="1"/>
          </p:cNvSpPr>
          <p:nvPr>
            <p:ph type="sldNum" sz="quarter" idx="12"/>
          </p:nvPr>
        </p:nvSpPr>
        <p:spPr>
          <a:noFill/>
        </p:spPr>
        <p:txBody>
          <a:bodyPr/>
          <a:lstStyle/>
          <a:p>
            <a:fld id="{DAED0645-2AF3-4687-AB1B-B0C5E4717641}" type="slidenum">
              <a:rPr lang="en-US" altLang="zh-CN" smtClean="0">
                <a:ea typeface="黑体" pitchFamily="49" charset="-122"/>
              </a:rPr>
              <a:pPr/>
              <a:t>77</a:t>
            </a:fld>
            <a:endParaRPr lang="en-US" altLang="zh-CN">
              <a:ea typeface="黑体" pitchFamily="49" charset="-122"/>
            </a:endParaRPr>
          </a:p>
        </p:txBody>
      </p:sp>
      <p:sp>
        <p:nvSpPr>
          <p:cNvPr id="107523" name="灯片编号占位符 3"/>
          <p:cNvSpPr txBox="1">
            <a:spLocks/>
          </p:cNvSpPr>
          <p:nvPr/>
        </p:nvSpPr>
        <p:spPr bwMode="auto">
          <a:xfrm>
            <a:off x="7916863" y="6073775"/>
            <a:ext cx="1905000" cy="457200"/>
          </a:xfrm>
          <a:prstGeom prst="rect">
            <a:avLst/>
          </a:prstGeom>
          <a:noFill/>
          <a:ln w="9525">
            <a:noFill/>
            <a:miter lim="800000"/>
            <a:headEnd/>
            <a:tailEnd/>
          </a:ln>
        </p:spPr>
        <p:txBody>
          <a:bodyPr lIns="92075" tIns="46038" rIns="92075" bIns="46038" anchor="ctr"/>
          <a:lstStyle/>
          <a:p>
            <a:pPr algn="r"/>
            <a:fld id="{48E91961-2126-4518-8720-CB4563ED5E8E}" type="slidenum">
              <a:rPr kumimoji="0" lang="en-US" altLang="zh-CN" sz="1400"/>
              <a:pPr algn="r"/>
              <a:t>77</a:t>
            </a:fld>
            <a:endParaRPr kumimoji="0" lang="en-US" altLang="zh-CN" sz="1400"/>
          </a:p>
        </p:txBody>
      </p:sp>
      <p:sp>
        <p:nvSpPr>
          <p:cNvPr id="107524" name="椭圆 5"/>
          <p:cNvSpPr>
            <a:spLocks noChangeArrowheads="1"/>
          </p:cNvSpPr>
          <p:nvPr/>
        </p:nvSpPr>
        <p:spPr bwMode="auto">
          <a:xfrm>
            <a:off x="3370263" y="984250"/>
            <a:ext cx="381000" cy="381000"/>
          </a:xfrm>
          <a:prstGeom prst="ellipse">
            <a:avLst/>
          </a:prstGeom>
          <a:solidFill>
            <a:schemeClr val="accent1"/>
          </a:solidFill>
          <a:ln w="9525" algn="ctr">
            <a:solidFill>
              <a:schemeClr val="tx1"/>
            </a:solidFill>
            <a:round/>
            <a:headEnd/>
            <a:tailEnd type="triangle" w="med" len="med"/>
          </a:ln>
        </p:spPr>
        <p:txBody>
          <a:bodyPr wrap="none"/>
          <a:lstStyle/>
          <a:p>
            <a:endParaRPr lang="zh-CN" altLang="en-US"/>
          </a:p>
        </p:txBody>
      </p:sp>
      <p:sp>
        <p:nvSpPr>
          <p:cNvPr id="107525" name="TextBox 6"/>
          <p:cNvSpPr txBox="1">
            <a:spLocks noChangeArrowheads="1"/>
          </p:cNvSpPr>
          <p:nvPr/>
        </p:nvSpPr>
        <p:spPr bwMode="auto">
          <a:xfrm>
            <a:off x="3895725" y="874713"/>
            <a:ext cx="1695450" cy="400110"/>
          </a:xfrm>
          <a:prstGeom prst="rect">
            <a:avLst/>
          </a:prstGeom>
          <a:noFill/>
          <a:ln w="9525">
            <a:noFill/>
            <a:miter lim="800000"/>
            <a:headEnd/>
            <a:tailEnd/>
          </a:ln>
        </p:spPr>
        <p:txBody>
          <a:bodyPr>
            <a:spAutoFit/>
          </a:bodyPr>
          <a:lstStyle/>
          <a:p>
            <a:r>
              <a:rPr lang="zh-CN" altLang="en-US" sz="2000" b="1" dirty="0"/>
              <a:t>穿高跟鞋？</a:t>
            </a:r>
          </a:p>
        </p:txBody>
      </p:sp>
      <p:sp>
        <p:nvSpPr>
          <p:cNvPr id="107526" name="椭圆 7"/>
          <p:cNvSpPr>
            <a:spLocks noChangeArrowheads="1"/>
          </p:cNvSpPr>
          <p:nvPr/>
        </p:nvSpPr>
        <p:spPr bwMode="auto">
          <a:xfrm>
            <a:off x="5192713" y="2244725"/>
            <a:ext cx="381000" cy="381000"/>
          </a:xfrm>
          <a:prstGeom prst="ellipse">
            <a:avLst/>
          </a:prstGeom>
          <a:solidFill>
            <a:schemeClr val="accent1"/>
          </a:solidFill>
          <a:ln w="9525" algn="ctr">
            <a:solidFill>
              <a:schemeClr val="tx1"/>
            </a:solidFill>
            <a:round/>
            <a:headEnd/>
            <a:tailEnd type="triangle" w="med" len="med"/>
          </a:ln>
        </p:spPr>
        <p:txBody>
          <a:bodyPr wrap="none"/>
          <a:lstStyle/>
          <a:p>
            <a:endParaRPr lang="zh-CN" altLang="en-US"/>
          </a:p>
        </p:txBody>
      </p:sp>
      <p:cxnSp>
        <p:nvCxnSpPr>
          <p:cNvPr id="107527" name="直接箭头连接符 8"/>
          <p:cNvCxnSpPr>
            <a:cxnSpLocks noChangeShapeType="1"/>
            <a:stCxn id="107524" idx="4"/>
            <a:endCxn id="107526" idx="1"/>
          </p:cNvCxnSpPr>
          <p:nvPr/>
        </p:nvCxnSpPr>
        <p:spPr bwMode="auto">
          <a:xfrm>
            <a:off x="3560763" y="1365250"/>
            <a:ext cx="1689100" cy="935038"/>
          </a:xfrm>
          <a:prstGeom prst="straightConnector1">
            <a:avLst/>
          </a:prstGeom>
          <a:noFill/>
          <a:ln w="28575" algn="ctr">
            <a:solidFill>
              <a:schemeClr val="tx1"/>
            </a:solidFill>
            <a:round/>
            <a:headEnd/>
            <a:tailEnd type="arrow" w="med" len="med"/>
          </a:ln>
        </p:spPr>
      </p:cxnSp>
      <p:sp>
        <p:nvSpPr>
          <p:cNvPr id="107528" name="TextBox 9"/>
          <p:cNvSpPr txBox="1">
            <a:spLocks noChangeArrowheads="1"/>
          </p:cNvSpPr>
          <p:nvPr/>
        </p:nvSpPr>
        <p:spPr bwMode="auto">
          <a:xfrm>
            <a:off x="5710238" y="2768600"/>
            <a:ext cx="1695450" cy="400110"/>
          </a:xfrm>
          <a:prstGeom prst="rect">
            <a:avLst/>
          </a:prstGeom>
          <a:noFill/>
          <a:ln w="9525">
            <a:noFill/>
            <a:miter lim="800000"/>
            <a:headEnd/>
            <a:tailEnd/>
          </a:ln>
        </p:spPr>
        <p:txBody>
          <a:bodyPr>
            <a:spAutoFit/>
          </a:bodyPr>
          <a:lstStyle/>
          <a:p>
            <a:r>
              <a:rPr lang="en-US" altLang="zh-CN" sz="2000" b="1"/>
              <a:t>no</a:t>
            </a:r>
            <a:endParaRPr lang="zh-CN" altLang="en-US" sz="2000" b="1"/>
          </a:p>
        </p:txBody>
      </p:sp>
      <p:sp>
        <p:nvSpPr>
          <p:cNvPr id="107529" name="TextBox 10"/>
          <p:cNvSpPr txBox="1">
            <a:spLocks noChangeArrowheads="1"/>
          </p:cNvSpPr>
          <p:nvPr/>
        </p:nvSpPr>
        <p:spPr bwMode="auto">
          <a:xfrm>
            <a:off x="5707063" y="2187575"/>
            <a:ext cx="1695450" cy="400110"/>
          </a:xfrm>
          <a:prstGeom prst="rect">
            <a:avLst/>
          </a:prstGeom>
          <a:noFill/>
          <a:ln w="9525">
            <a:noFill/>
            <a:miter lim="800000"/>
            <a:headEnd/>
            <a:tailEnd/>
          </a:ln>
        </p:spPr>
        <p:txBody>
          <a:bodyPr>
            <a:spAutoFit/>
          </a:bodyPr>
          <a:lstStyle/>
          <a:p>
            <a:r>
              <a:rPr lang="zh-CN" altLang="en-US" sz="2000" b="1"/>
              <a:t>长发？</a:t>
            </a:r>
          </a:p>
        </p:txBody>
      </p:sp>
      <p:cxnSp>
        <p:nvCxnSpPr>
          <p:cNvPr id="107530" name="直接箭头连接符 12"/>
          <p:cNvCxnSpPr>
            <a:cxnSpLocks noChangeShapeType="1"/>
            <a:stCxn id="107524" idx="4"/>
          </p:cNvCxnSpPr>
          <p:nvPr/>
        </p:nvCxnSpPr>
        <p:spPr bwMode="auto">
          <a:xfrm flipH="1">
            <a:off x="2273300" y="1365250"/>
            <a:ext cx="1287463" cy="1096963"/>
          </a:xfrm>
          <a:prstGeom prst="straightConnector1">
            <a:avLst/>
          </a:prstGeom>
          <a:noFill/>
          <a:ln w="28575" algn="ctr">
            <a:solidFill>
              <a:schemeClr val="tx1"/>
            </a:solidFill>
            <a:round/>
            <a:headEnd/>
            <a:tailEnd type="arrow" w="med" len="med"/>
          </a:ln>
        </p:spPr>
      </p:cxnSp>
      <p:sp>
        <p:nvSpPr>
          <p:cNvPr id="107531" name="TextBox 13"/>
          <p:cNvSpPr txBox="1">
            <a:spLocks noChangeArrowheads="1"/>
          </p:cNvSpPr>
          <p:nvPr/>
        </p:nvSpPr>
        <p:spPr bwMode="auto">
          <a:xfrm>
            <a:off x="2357438" y="1520825"/>
            <a:ext cx="1695450" cy="400110"/>
          </a:xfrm>
          <a:prstGeom prst="rect">
            <a:avLst/>
          </a:prstGeom>
          <a:noFill/>
          <a:ln w="9525">
            <a:noFill/>
            <a:miter lim="800000"/>
            <a:headEnd/>
            <a:tailEnd/>
          </a:ln>
        </p:spPr>
        <p:txBody>
          <a:bodyPr>
            <a:spAutoFit/>
          </a:bodyPr>
          <a:lstStyle/>
          <a:p>
            <a:r>
              <a:rPr lang="en-US" altLang="zh-CN" sz="2000" b="1"/>
              <a:t>yes</a:t>
            </a:r>
            <a:endParaRPr lang="zh-CN" altLang="en-US" sz="2000" b="1"/>
          </a:p>
        </p:txBody>
      </p:sp>
      <p:sp>
        <p:nvSpPr>
          <p:cNvPr id="107532" name="TextBox 16"/>
          <p:cNvSpPr txBox="1">
            <a:spLocks noChangeArrowheads="1"/>
          </p:cNvSpPr>
          <p:nvPr/>
        </p:nvSpPr>
        <p:spPr bwMode="auto">
          <a:xfrm>
            <a:off x="658813" y="3740150"/>
            <a:ext cx="1968500" cy="2616101"/>
          </a:xfrm>
          <a:prstGeom prst="rect">
            <a:avLst/>
          </a:prstGeom>
          <a:noFill/>
          <a:ln w="9525">
            <a:noFill/>
            <a:miter lim="800000"/>
            <a:headEnd/>
            <a:tailEnd/>
          </a:ln>
        </p:spPr>
        <p:txBody>
          <a:bodyPr>
            <a:spAutoFit/>
          </a:bodyPr>
          <a:lstStyle/>
          <a:p>
            <a:r>
              <a:rPr lang="zh-CN" altLang="en-US" sz="2400" b="1" dirty="0"/>
              <a:t>可用的特征：</a:t>
            </a:r>
            <a:endParaRPr lang="en-US" altLang="zh-CN" sz="2400" b="1" dirty="0"/>
          </a:p>
          <a:p>
            <a:pPr lvl="1"/>
            <a:r>
              <a:rPr lang="zh-CN" altLang="en-US" sz="2400" b="1" dirty="0"/>
              <a:t>身高</a:t>
            </a:r>
            <a:endParaRPr lang="en-US" altLang="zh-CN" sz="2400" b="1" dirty="0"/>
          </a:p>
          <a:p>
            <a:pPr lvl="1"/>
            <a:r>
              <a:rPr lang="zh-CN" altLang="en-US" sz="2400" b="1" dirty="0"/>
              <a:t>体重</a:t>
            </a:r>
            <a:endParaRPr lang="en-US" altLang="zh-CN" sz="2400" b="1" dirty="0"/>
          </a:p>
          <a:p>
            <a:pPr lvl="1"/>
            <a:r>
              <a:rPr lang="zh-CN" altLang="en-US" sz="2400" b="1" dirty="0"/>
              <a:t>鞋的式样</a:t>
            </a:r>
            <a:endParaRPr lang="en-US" altLang="zh-CN" sz="2400" b="1" dirty="0"/>
          </a:p>
          <a:p>
            <a:pPr lvl="1"/>
            <a:r>
              <a:rPr lang="zh-CN" altLang="en-US" sz="2400" b="1" dirty="0"/>
              <a:t>头发长度</a:t>
            </a:r>
            <a:endParaRPr lang="en-US" altLang="zh-CN" sz="2400" b="1" dirty="0"/>
          </a:p>
          <a:p>
            <a:pPr lvl="1"/>
            <a:r>
              <a:rPr lang="zh-CN" altLang="en-US" sz="2400" b="1" dirty="0"/>
              <a:t>衣服颜色</a:t>
            </a:r>
            <a:endParaRPr lang="en-US" altLang="zh-CN" sz="2400" b="1" dirty="0"/>
          </a:p>
          <a:p>
            <a:pPr lvl="1"/>
            <a:r>
              <a:rPr lang="en-US" altLang="zh-CN" sz="2000" b="1" dirty="0"/>
              <a:t>……</a:t>
            </a:r>
            <a:endParaRPr lang="zh-CN" altLang="en-US" sz="2000" b="1" dirty="0"/>
          </a:p>
        </p:txBody>
      </p:sp>
      <p:sp>
        <p:nvSpPr>
          <p:cNvPr id="107533" name="椭圆 18"/>
          <p:cNvSpPr>
            <a:spLocks noChangeArrowheads="1"/>
          </p:cNvSpPr>
          <p:nvPr/>
        </p:nvSpPr>
        <p:spPr bwMode="auto">
          <a:xfrm>
            <a:off x="6043613" y="3467100"/>
            <a:ext cx="363537" cy="404813"/>
          </a:xfrm>
          <a:prstGeom prst="ellipse">
            <a:avLst/>
          </a:prstGeom>
          <a:solidFill>
            <a:schemeClr val="accent1"/>
          </a:solidFill>
          <a:ln w="9525" algn="ctr">
            <a:solidFill>
              <a:schemeClr val="tx1"/>
            </a:solidFill>
            <a:round/>
            <a:headEnd/>
            <a:tailEnd type="triangle" w="med" len="med"/>
          </a:ln>
        </p:spPr>
        <p:txBody>
          <a:bodyPr wrap="none"/>
          <a:lstStyle/>
          <a:p>
            <a:endParaRPr lang="zh-CN" altLang="en-US"/>
          </a:p>
        </p:txBody>
      </p:sp>
      <p:sp>
        <p:nvSpPr>
          <p:cNvPr id="107534" name="TextBox 19"/>
          <p:cNvSpPr txBox="1">
            <a:spLocks noChangeArrowheads="1"/>
          </p:cNvSpPr>
          <p:nvPr/>
        </p:nvSpPr>
        <p:spPr bwMode="auto">
          <a:xfrm>
            <a:off x="6589713" y="3402013"/>
            <a:ext cx="1616075" cy="400110"/>
          </a:xfrm>
          <a:prstGeom prst="rect">
            <a:avLst/>
          </a:prstGeom>
          <a:noFill/>
          <a:ln w="9525">
            <a:noFill/>
            <a:miter lim="800000"/>
            <a:headEnd/>
            <a:tailEnd/>
          </a:ln>
        </p:spPr>
        <p:txBody>
          <a:bodyPr>
            <a:spAutoFit/>
          </a:bodyPr>
          <a:lstStyle/>
          <a:p>
            <a:r>
              <a:rPr lang="zh-CN" altLang="en-US" sz="2000" b="1"/>
              <a:t>衣服颜色</a:t>
            </a:r>
          </a:p>
        </p:txBody>
      </p:sp>
      <p:cxnSp>
        <p:nvCxnSpPr>
          <p:cNvPr id="107535" name="直接箭头连接符 20"/>
          <p:cNvCxnSpPr>
            <a:cxnSpLocks noChangeShapeType="1"/>
            <a:stCxn id="107526" idx="4"/>
            <a:endCxn id="107533" idx="1"/>
          </p:cNvCxnSpPr>
          <p:nvPr/>
        </p:nvCxnSpPr>
        <p:spPr bwMode="auto">
          <a:xfrm>
            <a:off x="5383213" y="2625725"/>
            <a:ext cx="714375" cy="900113"/>
          </a:xfrm>
          <a:prstGeom prst="straightConnector1">
            <a:avLst/>
          </a:prstGeom>
          <a:noFill/>
          <a:ln w="28575" algn="ctr">
            <a:solidFill>
              <a:schemeClr val="tx1"/>
            </a:solidFill>
            <a:round/>
            <a:headEnd/>
            <a:tailEnd type="arrow" w="med" len="med"/>
          </a:ln>
        </p:spPr>
      </p:cxnSp>
      <p:sp>
        <p:nvSpPr>
          <p:cNvPr id="107536" name="TextBox 22"/>
          <p:cNvSpPr txBox="1">
            <a:spLocks noChangeArrowheads="1"/>
          </p:cNvSpPr>
          <p:nvPr/>
        </p:nvSpPr>
        <p:spPr bwMode="auto">
          <a:xfrm>
            <a:off x="6624638" y="4075113"/>
            <a:ext cx="1695450" cy="400110"/>
          </a:xfrm>
          <a:prstGeom prst="rect">
            <a:avLst/>
          </a:prstGeom>
          <a:noFill/>
          <a:ln w="9525">
            <a:noFill/>
            <a:miter lim="800000"/>
            <a:headEnd/>
            <a:tailEnd/>
          </a:ln>
        </p:spPr>
        <p:txBody>
          <a:bodyPr>
            <a:spAutoFit/>
          </a:bodyPr>
          <a:lstStyle/>
          <a:p>
            <a:r>
              <a:rPr lang="zh-CN" altLang="en-US" sz="2000" b="1"/>
              <a:t>素色</a:t>
            </a:r>
          </a:p>
        </p:txBody>
      </p:sp>
      <p:sp>
        <p:nvSpPr>
          <p:cNvPr id="107537" name="矩形 23"/>
          <p:cNvSpPr>
            <a:spLocks noChangeArrowheads="1"/>
          </p:cNvSpPr>
          <p:nvPr/>
        </p:nvSpPr>
        <p:spPr bwMode="auto">
          <a:xfrm>
            <a:off x="5341938" y="4789488"/>
            <a:ext cx="434975" cy="333375"/>
          </a:xfrm>
          <a:prstGeom prst="rect">
            <a:avLst/>
          </a:prstGeom>
          <a:solidFill>
            <a:schemeClr val="accent1"/>
          </a:solidFill>
          <a:ln w="9525" algn="ctr">
            <a:solidFill>
              <a:schemeClr val="tx1"/>
            </a:solidFill>
            <a:round/>
            <a:headEnd/>
            <a:tailEnd type="triangle" w="med" len="med"/>
          </a:ln>
        </p:spPr>
        <p:txBody>
          <a:bodyPr wrap="none"/>
          <a:lstStyle/>
          <a:p>
            <a:endParaRPr lang="zh-CN" altLang="en-US"/>
          </a:p>
        </p:txBody>
      </p:sp>
      <p:cxnSp>
        <p:nvCxnSpPr>
          <p:cNvPr id="107538" name="直接箭头连接符 24"/>
          <p:cNvCxnSpPr>
            <a:cxnSpLocks noChangeShapeType="1"/>
            <a:endCxn id="107537" idx="0"/>
          </p:cNvCxnSpPr>
          <p:nvPr/>
        </p:nvCxnSpPr>
        <p:spPr bwMode="auto">
          <a:xfrm flipH="1">
            <a:off x="5559425" y="3932238"/>
            <a:ext cx="681038" cy="857250"/>
          </a:xfrm>
          <a:prstGeom prst="straightConnector1">
            <a:avLst/>
          </a:prstGeom>
          <a:noFill/>
          <a:ln w="28575" algn="ctr">
            <a:solidFill>
              <a:schemeClr val="tx1"/>
            </a:solidFill>
            <a:round/>
            <a:headEnd/>
            <a:tailEnd type="arrow" w="med" len="med"/>
          </a:ln>
        </p:spPr>
      </p:cxnSp>
      <p:cxnSp>
        <p:nvCxnSpPr>
          <p:cNvPr id="107539" name="直接箭头连接符 27"/>
          <p:cNvCxnSpPr>
            <a:cxnSpLocks noChangeShapeType="1"/>
          </p:cNvCxnSpPr>
          <p:nvPr/>
        </p:nvCxnSpPr>
        <p:spPr bwMode="auto">
          <a:xfrm>
            <a:off x="6240463" y="3932238"/>
            <a:ext cx="712787" cy="900112"/>
          </a:xfrm>
          <a:prstGeom prst="straightConnector1">
            <a:avLst/>
          </a:prstGeom>
          <a:noFill/>
          <a:ln w="28575" algn="ctr">
            <a:solidFill>
              <a:schemeClr val="tx1"/>
            </a:solidFill>
            <a:round/>
            <a:headEnd/>
            <a:tailEnd type="arrow" w="med" len="med"/>
          </a:ln>
        </p:spPr>
      </p:cxnSp>
      <p:sp>
        <p:nvSpPr>
          <p:cNvPr id="107540" name="TextBox 28"/>
          <p:cNvSpPr txBox="1">
            <a:spLocks noChangeArrowheads="1"/>
          </p:cNvSpPr>
          <p:nvPr/>
        </p:nvSpPr>
        <p:spPr bwMode="auto">
          <a:xfrm>
            <a:off x="5100638" y="3987800"/>
            <a:ext cx="1695450" cy="400110"/>
          </a:xfrm>
          <a:prstGeom prst="rect">
            <a:avLst/>
          </a:prstGeom>
          <a:noFill/>
          <a:ln w="9525">
            <a:noFill/>
            <a:miter lim="800000"/>
            <a:headEnd/>
            <a:tailEnd/>
          </a:ln>
        </p:spPr>
        <p:txBody>
          <a:bodyPr>
            <a:spAutoFit/>
          </a:bodyPr>
          <a:lstStyle/>
          <a:p>
            <a:r>
              <a:rPr lang="zh-CN" altLang="en-US" sz="2000" b="1"/>
              <a:t>花色</a:t>
            </a:r>
          </a:p>
        </p:txBody>
      </p:sp>
      <p:sp>
        <p:nvSpPr>
          <p:cNvPr id="107541" name="TextBox 29"/>
          <p:cNvSpPr txBox="1">
            <a:spLocks noChangeArrowheads="1"/>
          </p:cNvSpPr>
          <p:nvPr/>
        </p:nvSpPr>
        <p:spPr bwMode="auto">
          <a:xfrm>
            <a:off x="4548188" y="4727575"/>
            <a:ext cx="909637" cy="400110"/>
          </a:xfrm>
          <a:prstGeom prst="rect">
            <a:avLst/>
          </a:prstGeom>
          <a:noFill/>
          <a:ln w="9525">
            <a:noFill/>
            <a:miter lim="800000"/>
            <a:headEnd/>
            <a:tailEnd/>
          </a:ln>
        </p:spPr>
        <p:txBody>
          <a:bodyPr>
            <a:spAutoFit/>
          </a:bodyPr>
          <a:lstStyle/>
          <a:p>
            <a:r>
              <a:rPr lang="zh-CN" altLang="en-US" sz="2000" b="1"/>
              <a:t>女生</a:t>
            </a:r>
          </a:p>
        </p:txBody>
      </p:sp>
      <p:sp>
        <p:nvSpPr>
          <p:cNvPr id="107542" name="矩形 31"/>
          <p:cNvSpPr>
            <a:spLocks noChangeArrowheads="1"/>
          </p:cNvSpPr>
          <p:nvPr/>
        </p:nvSpPr>
        <p:spPr bwMode="auto">
          <a:xfrm>
            <a:off x="6734175" y="4833938"/>
            <a:ext cx="436563" cy="333375"/>
          </a:xfrm>
          <a:prstGeom prst="rect">
            <a:avLst/>
          </a:prstGeom>
          <a:solidFill>
            <a:schemeClr val="accent1"/>
          </a:solidFill>
          <a:ln w="9525" algn="ctr">
            <a:solidFill>
              <a:schemeClr val="tx1"/>
            </a:solidFill>
            <a:round/>
            <a:headEnd/>
            <a:tailEnd type="triangle" w="med" len="med"/>
          </a:ln>
        </p:spPr>
        <p:txBody>
          <a:bodyPr wrap="none"/>
          <a:lstStyle/>
          <a:p>
            <a:endParaRPr lang="zh-CN" altLang="en-US"/>
          </a:p>
        </p:txBody>
      </p:sp>
      <p:sp>
        <p:nvSpPr>
          <p:cNvPr id="107543" name="TextBox 35"/>
          <p:cNvSpPr txBox="1">
            <a:spLocks noChangeArrowheads="1"/>
          </p:cNvSpPr>
          <p:nvPr/>
        </p:nvSpPr>
        <p:spPr bwMode="auto">
          <a:xfrm>
            <a:off x="7204075" y="4772025"/>
            <a:ext cx="1228725" cy="400110"/>
          </a:xfrm>
          <a:prstGeom prst="rect">
            <a:avLst/>
          </a:prstGeom>
          <a:noFill/>
          <a:ln w="9525">
            <a:noFill/>
            <a:miter lim="800000"/>
            <a:headEnd/>
            <a:tailEnd/>
          </a:ln>
        </p:spPr>
        <p:txBody>
          <a:bodyPr>
            <a:spAutoFit/>
          </a:bodyPr>
          <a:lstStyle/>
          <a:p>
            <a:r>
              <a:rPr lang="zh-CN" altLang="en-US" sz="2000" b="1"/>
              <a:t>男生</a:t>
            </a:r>
          </a:p>
        </p:txBody>
      </p:sp>
      <p:sp>
        <p:nvSpPr>
          <p:cNvPr id="107544" name="TextBox 38"/>
          <p:cNvSpPr txBox="1">
            <a:spLocks noChangeArrowheads="1"/>
          </p:cNvSpPr>
          <p:nvPr/>
        </p:nvSpPr>
        <p:spPr bwMode="auto">
          <a:xfrm>
            <a:off x="4302125" y="1433513"/>
            <a:ext cx="1695450" cy="400110"/>
          </a:xfrm>
          <a:prstGeom prst="rect">
            <a:avLst/>
          </a:prstGeom>
          <a:noFill/>
          <a:ln w="9525">
            <a:noFill/>
            <a:miter lim="800000"/>
            <a:headEnd/>
            <a:tailEnd/>
          </a:ln>
        </p:spPr>
        <p:txBody>
          <a:bodyPr>
            <a:spAutoFit/>
          </a:bodyPr>
          <a:lstStyle/>
          <a:p>
            <a:r>
              <a:rPr lang="en-US" altLang="zh-CN" sz="2000" b="1"/>
              <a:t>no</a:t>
            </a:r>
            <a:endParaRPr lang="zh-CN" altLang="en-US" sz="2000" b="1"/>
          </a:p>
        </p:txBody>
      </p:sp>
      <p:sp>
        <p:nvSpPr>
          <p:cNvPr id="107545" name="矩形 42"/>
          <p:cNvSpPr>
            <a:spLocks noChangeArrowheads="1"/>
          </p:cNvSpPr>
          <p:nvPr/>
        </p:nvSpPr>
        <p:spPr bwMode="auto">
          <a:xfrm>
            <a:off x="2119313" y="2466975"/>
            <a:ext cx="434975" cy="334963"/>
          </a:xfrm>
          <a:prstGeom prst="rect">
            <a:avLst/>
          </a:prstGeom>
          <a:solidFill>
            <a:schemeClr val="accent1"/>
          </a:solidFill>
          <a:ln w="9525" algn="ctr">
            <a:solidFill>
              <a:schemeClr val="tx1"/>
            </a:solidFill>
            <a:round/>
            <a:headEnd/>
            <a:tailEnd type="triangle" w="med" len="med"/>
          </a:ln>
        </p:spPr>
        <p:txBody>
          <a:bodyPr wrap="none"/>
          <a:lstStyle/>
          <a:p>
            <a:endParaRPr lang="zh-CN" altLang="en-US"/>
          </a:p>
        </p:txBody>
      </p:sp>
      <p:sp>
        <p:nvSpPr>
          <p:cNvPr id="107546" name="矩形 60"/>
          <p:cNvSpPr>
            <a:spLocks noChangeArrowheads="1"/>
          </p:cNvSpPr>
          <p:nvPr/>
        </p:nvSpPr>
        <p:spPr bwMode="auto">
          <a:xfrm>
            <a:off x="4368800" y="3395663"/>
            <a:ext cx="434975" cy="334962"/>
          </a:xfrm>
          <a:prstGeom prst="rect">
            <a:avLst/>
          </a:prstGeom>
          <a:solidFill>
            <a:schemeClr val="accent1"/>
          </a:solidFill>
          <a:ln w="9525" algn="ctr">
            <a:solidFill>
              <a:schemeClr val="tx1"/>
            </a:solidFill>
            <a:round/>
            <a:headEnd/>
            <a:tailEnd type="triangle" w="med" len="med"/>
          </a:ln>
        </p:spPr>
        <p:txBody>
          <a:bodyPr wrap="none"/>
          <a:lstStyle/>
          <a:p>
            <a:endParaRPr lang="zh-CN" altLang="en-US"/>
          </a:p>
        </p:txBody>
      </p:sp>
      <p:sp>
        <p:nvSpPr>
          <p:cNvPr id="107547" name="TextBox 61"/>
          <p:cNvSpPr txBox="1">
            <a:spLocks noChangeArrowheads="1"/>
          </p:cNvSpPr>
          <p:nvPr/>
        </p:nvSpPr>
        <p:spPr bwMode="auto">
          <a:xfrm>
            <a:off x="3575050" y="3319463"/>
            <a:ext cx="909638" cy="400110"/>
          </a:xfrm>
          <a:prstGeom prst="rect">
            <a:avLst/>
          </a:prstGeom>
          <a:noFill/>
          <a:ln w="9525">
            <a:noFill/>
            <a:miter lim="800000"/>
            <a:headEnd/>
            <a:tailEnd/>
          </a:ln>
        </p:spPr>
        <p:txBody>
          <a:bodyPr>
            <a:spAutoFit/>
          </a:bodyPr>
          <a:lstStyle/>
          <a:p>
            <a:r>
              <a:rPr lang="zh-CN" altLang="en-US" sz="2000" b="1" dirty="0"/>
              <a:t>女生</a:t>
            </a:r>
          </a:p>
        </p:txBody>
      </p:sp>
      <p:cxnSp>
        <p:nvCxnSpPr>
          <p:cNvPr id="107548" name="直接箭头连接符 63"/>
          <p:cNvCxnSpPr>
            <a:cxnSpLocks noChangeShapeType="1"/>
            <a:stCxn id="107526" idx="4"/>
            <a:endCxn id="107546" idx="0"/>
          </p:cNvCxnSpPr>
          <p:nvPr/>
        </p:nvCxnSpPr>
        <p:spPr bwMode="auto">
          <a:xfrm flipH="1">
            <a:off x="4586288" y="2625725"/>
            <a:ext cx="796925" cy="769938"/>
          </a:xfrm>
          <a:prstGeom prst="straightConnector1">
            <a:avLst/>
          </a:prstGeom>
          <a:noFill/>
          <a:ln w="28575" algn="ctr">
            <a:solidFill>
              <a:schemeClr val="tx1"/>
            </a:solidFill>
            <a:round/>
            <a:headEnd/>
            <a:tailEnd type="arrow" w="med" len="med"/>
          </a:ln>
        </p:spPr>
      </p:cxnSp>
      <p:sp>
        <p:nvSpPr>
          <p:cNvPr id="107549" name="TextBox 64"/>
          <p:cNvSpPr txBox="1">
            <a:spLocks noChangeArrowheads="1"/>
          </p:cNvSpPr>
          <p:nvPr/>
        </p:nvSpPr>
        <p:spPr bwMode="auto">
          <a:xfrm>
            <a:off x="4403725" y="2638425"/>
            <a:ext cx="1695450" cy="400110"/>
          </a:xfrm>
          <a:prstGeom prst="rect">
            <a:avLst/>
          </a:prstGeom>
          <a:noFill/>
          <a:ln w="9525">
            <a:noFill/>
            <a:miter lim="800000"/>
            <a:headEnd/>
            <a:tailEnd/>
          </a:ln>
        </p:spPr>
        <p:txBody>
          <a:bodyPr>
            <a:spAutoFit/>
          </a:bodyPr>
          <a:lstStyle/>
          <a:p>
            <a:r>
              <a:rPr lang="en-US" altLang="zh-CN" sz="2000" b="1"/>
              <a:t>yes</a:t>
            </a:r>
            <a:endParaRPr lang="zh-CN" altLang="en-US" sz="2000" b="1"/>
          </a:p>
        </p:txBody>
      </p:sp>
      <p:sp>
        <p:nvSpPr>
          <p:cNvPr id="30" name="TextBox 61"/>
          <p:cNvSpPr txBox="1">
            <a:spLocks noChangeArrowheads="1"/>
          </p:cNvSpPr>
          <p:nvPr/>
        </p:nvSpPr>
        <p:spPr bwMode="auto">
          <a:xfrm>
            <a:off x="1427162" y="2870934"/>
            <a:ext cx="909638" cy="400110"/>
          </a:xfrm>
          <a:prstGeom prst="rect">
            <a:avLst/>
          </a:prstGeom>
          <a:noFill/>
          <a:ln w="9525">
            <a:noFill/>
            <a:miter lim="800000"/>
            <a:headEnd/>
            <a:tailEnd/>
          </a:ln>
        </p:spPr>
        <p:txBody>
          <a:bodyPr>
            <a:spAutoFit/>
          </a:bodyPr>
          <a:lstStyle/>
          <a:p>
            <a:r>
              <a:rPr lang="zh-CN" altLang="en-US" sz="2000" b="1" dirty="0"/>
              <a:t>女生</a:t>
            </a:r>
          </a:p>
        </p:txBody>
      </p:sp>
      <p:pic>
        <p:nvPicPr>
          <p:cNvPr id="1026" name="Picture 2" descr="2024这位在爱丁堡博物馆门前广场吹风笛的苏格兰帅哥几乎每天都会 ...">
            <a:extLst>
              <a:ext uri="{FF2B5EF4-FFF2-40B4-BE49-F238E27FC236}">
                <a16:creationId xmlns:a16="http://schemas.microsoft.com/office/drawing/2014/main" id="{405447E5-C4E3-D759-EEA7-C28D6142CE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72007" y="3919904"/>
            <a:ext cx="1820455" cy="273068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blinds(horizontal)">
                                      <p:cBhvr>
                                        <p:cTn id="7" dur="500"/>
                                        <p:tgtEl>
                                          <p:spTgt spid="1026"/>
                                        </p:tgtEl>
                                      </p:cBhvr>
                                    </p:animEffect>
                                  </p:childTnLst>
                                </p:cTn>
                              </p:par>
                            </p:childTnLst>
                          </p:cTn>
                        </p:par>
                      </p:childTnLst>
                    </p:cTn>
                  </p:par>
                  <p:par>
                    <p:cTn id="8" fill="hold">
                      <p:stCondLst>
                        <p:cond delay="indefinite"/>
                      </p:stCondLst>
                      <p:childTnLst>
                        <p:par>
                          <p:cTn id="9" fill="hold">
                            <p:stCondLst>
                              <p:cond delay="0"/>
                            </p:stCondLst>
                            <p:childTnLst>
                              <p:par>
                                <p:cTn id="10" presetID="5" presetClass="exit" presetSubtype="10" fill="hold" nodeType="clickEffect">
                                  <p:stCondLst>
                                    <p:cond delay="0"/>
                                  </p:stCondLst>
                                  <p:childTnLst>
                                    <p:animEffect transition="out" filter="checkerboard(across)">
                                      <p:cBhvr>
                                        <p:cTn id="11" dur="500"/>
                                        <p:tgtEl>
                                          <p:spTgt spid="1026"/>
                                        </p:tgtEl>
                                      </p:cBhvr>
                                    </p:animEffect>
                                    <p:set>
                                      <p:cBhvr>
                                        <p:cTn id="12" dur="1" fill="hold">
                                          <p:stCondLst>
                                            <p:cond delay="499"/>
                                          </p:stCondLst>
                                        </p:cTn>
                                        <p:tgtEl>
                                          <p:spTgt spid="102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灯片编号占位符 3"/>
          <p:cNvSpPr>
            <a:spLocks noGrp="1"/>
          </p:cNvSpPr>
          <p:nvPr>
            <p:ph type="sldNum" sz="quarter" idx="12"/>
          </p:nvPr>
        </p:nvSpPr>
        <p:spPr>
          <a:noFill/>
        </p:spPr>
        <p:txBody>
          <a:bodyPr/>
          <a:lstStyle/>
          <a:p>
            <a:fld id="{4B04B2A6-9F8F-4481-8956-BEDAD428E0D6}" type="slidenum">
              <a:rPr lang="en-US" altLang="zh-CN" smtClean="0">
                <a:ea typeface="黑体" pitchFamily="49" charset="-122"/>
              </a:rPr>
              <a:pPr/>
              <a:t>78</a:t>
            </a:fld>
            <a:endParaRPr lang="en-US" altLang="zh-CN">
              <a:ea typeface="黑体" pitchFamily="49" charset="-122"/>
            </a:endParaRPr>
          </a:p>
        </p:txBody>
      </p:sp>
      <p:sp>
        <p:nvSpPr>
          <p:cNvPr id="108547" name="灯片编号占位符 3"/>
          <p:cNvSpPr txBox="1">
            <a:spLocks/>
          </p:cNvSpPr>
          <p:nvPr/>
        </p:nvSpPr>
        <p:spPr bwMode="auto">
          <a:xfrm>
            <a:off x="7916863" y="6073775"/>
            <a:ext cx="1905000" cy="457200"/>
          </a:xfrm>
          <a:prstGeom prst="rect">
            <a:avLst/>
          </a:prstGeom>
          <a:noFill/>
          <a:ln w="9525">
            <a:noFill/>
            <a:miter lim="800000"/>
            <a:headEnd/>
            <a:tailEnd/>
          </a:ln>
        </p:spPr>
        <p:txBody>
          <a:bodyPr lIns="92075" tIns="46038" rIns="92075" bIns="46038" anchor="ctr"/>
          <a:lstStyle/>
          <a:p>
            <a:pPr algn="r"/>
            <a:fld id="{ADC283FF-B84B-434D-95EF-B321842869C2}" type="slidenum">
              <a:rPr kumimoji="0" lang="en-US" altLang="zh-CN" sz="1400"/>
              <a:pPr algn="r"/>
              <a:t>78</a:t>
            </a:fld>
            <a:endParaRPr kumimoji="0" lang="en-US" altLang="zh-CN" sz="1400"/>
          </a:p>
        </p:txBody>
      </p:sp>
      <p:sp>
        <p:nvSpPr>
          <p:cNvPr id="108548" name="椭圆 5"/>
          <p:cNvSpPr>
            <a:spLocks noChangeArrowheads="1"/>
          </p:cNvSpPr>
          <p:nvPr/>
        </p:nvSpPr>
        <p:spPr bwMode="auto">
          <a:xfrm>
            <a:off x="3370263" y="984250"/>
            <a:ext cx="381000" cy="381000"/>
          </a:xfrm>
          <a:prstGeom prst="ellipse">
            <a:avLst/>
          </a:prstGeom>
          <a:solidFill>
            <a:schemeClr val="accent1"/>
          </a:solidFill>
          <a:ln w="9525" algn="ctr">
            <a:solidFill>
              <a:schemeClr val="tx1"/>
            </a:solidFill>
            <a:round/>
            <a:headEnd/>
            <a:tailEnd type="triangle" w="med" len="med"/>
          </a:ln>
        </p:spPr>
        <p:txBody>
          <a:bodyPr wrap="none"/>
          <a:lstStyle/>
          <a:p>
            <a:endParaRPr lang="zh-CN" altLang="en-US"/>
          </a:p>
        </p:txBody>
      </p:sp>
      <p:sp>
        <p:nvSpPr>
          <p:cNvPr id="108549" name="TextBox 6"/>
          <p:cNvSpPr txBox="1">
            <a:spLocks noChangeArrowheads="1"/>
          </p:cNvSpPr>
          <p:nvPr/>
        </p:nvSpPr>
        <p:spPr bwMode="auto">
          <a:xfrm>
            <a:off x="3895725" y="874713"/>
            <a:ext cx="1695450" cy="400110"/>
          </a:xfrm>
          <a:prstGeom prst="rect">
            <a:avLst/>
          </a:prstGeom>
          <a:noFill/>
          <a:ln w="9525">
            <a:noFill/>
            <a:miter lim="800000"/>
            <a:headEnd/>
            <a:tailEnd/>
          </a:ln>
        </p:spPr>
        <p:txBody>
          <a:bodyPr>
            <a:spAutoFit/>
          </a:bodyPr>
          <a:lstStyle/>
          <a:p>
            <a:r>
              <a:rPr lang="zh-CN" altLang="en-US" sz="2000" b="1"/>
              <a:t>身高？</a:t>
            </a:r>
          </a:p>
        </p:txBody>
      </p:sp>
      <p:sp>
        <p:nvSpPr>
          <p:cNvPr id="108550" name="椭圆 7"/>
          <p:cNvSpPr>
            <a:spLocks noChangeArrowheads="1"/>
          </p:cNvSpPr>
          <p:nvPr/>
        </p:nvSpPr>
        <p:spPr bwMode="auto">
          <a:xfrm>
            <a:off x="5192713" y="2244725"/>
            <a:ext cx="381000" cy="381000"/>
          </a:xfrm>
          <a:prstGeom prst="ellipse">
            <a:avLst/>
          </a:prstGeom>
          <a:solidFill>
            <a:schemeClr val="accent1"/>
          </a:solidFill>
          <a:ln w="9525" algn="ctr">
            <a:solidFill>
              <a:schemeClr val="tx1"/>
            </a:solidFill>
            <a:round/>
            <a:headEnd/>
            <a:tailEnd type="triangle" w="med" len="med"/>
          </a:ln>
        </p:spPr>
        <p:txBody>
          <a:bodyPr wrap="none"/>
          <a:lstStyle/>
          <a:p>
            <a:endParaRPr lang="zh-CN" altLang="en-US"/>
          </a:p>
        </p:txBody>
      </p:sp>
      <p:cxnSp>
        <p:nvCxnSpPr>
          <p:cNvPr id="108551" name="直接箭头连接符 8"/>
          <p:cNvCxnSpPr>
            <a:cxnSpLocks noChangeShapeType="1"/>
            <a:stCxn id="108548" idx="4"/>
            <a:endCxn id="108550" idx="1"/>
          </p:cNvCxnSpPr>
          <p:nvPr/>
        </p:nvCxnSpPr>
        <p:spPr bwMode="auto">
          <a:xfrm>
            <a:off x="3560763" y="1365250"/>
            <a:ext cx="1689100" cy="935038"/>
          </a:xfrm>
          <a:prstGeom prst="straightConnector1">
            <a:avLst/>
          </a:prstGeom>
          <a:noFill/>
          <a:ln w="28575" algn="ctr">
            <a:solidFill>
              <a:schemeClr val="tx1"/>
            </a:solidFill>
            <a:round/>
            <a:headEnd/>
            <a:tailEnd type="arrow" w="med" len="med"/>
          </a:ln>
        </p:spPr>
      </p:cxnSp>
      <p:sp>
        <p:nvSpPr>
          <p:cNvPr id="108552" name="TextBox 10"/>
          <p:cNvSpPr txBox="1">
            <a:spLocks noChangeArrowheads="1"/>
          </p:cNvSpPr>
          <p:nvPr/>
        </p:nvSpPr>
        <p:spPr bwMode="auto">
          <a:xfrm>
            <a:off x="5707063" y="2187575"/>
            <a:ext cx="1695450" cy="400110"/>
          </a:xfrm>
          <a:prstGeom prst="rect">
            <a:avLst/>
          </a:prstGeom>
          <a:noFill/>
          <a:ln w="9525">
            <a:noFill/>
            <a:miter lim="800000"/>
            <a:headEnd/>
            <a:tailEnd/>
          </a:ln>
        </p:spPr>
        <p:txBody>
          <a:bodyPr>
            <a:spAutoFit/>
          </a:bodyPr>
          <a:lstStyle/>
          <a:p>
            <a:r>
              <a:rPr lang="zh-CN" altLang="en-US" sz="2000" b="1"/>
              <a:t>体重？</a:t>
            </a:r>
          </a:p>
        </p:txBody>
      </p:sp>
      <p:cxnSp>
        <p:nvCxnSpPr>
          <p:cNvPr id="108553" name="直接箭头连接符 12"/>
          <p:cNvCxnSpPr>
            <a:cxnSpLocks noChangeShapeType="1"/>
            <a:stCxn id="108548" idx="4"/>
          </p:cNvCxnSpPr>
          <p:nvPr/>
        </p:nvCxnSpPr>
        <p:spPr bwMode="auto">
          <a:xfrm flipH="1">
            <a:off x="2273300" y="1365250"/>
            <a:ext cx="1287463" cy="1096963"/>
          </a:xfrm>
          <a:prstGeom prst="straightConnector1">
            <a:avLst/>
          </a:prstGeom>
          <a:noFill/>
          <a:ln w="28575" algn="ctr">
            <a:solidFill>
              <a:schemeClr val="tx1"/>
            </a:solidFill>
            <a:round/>
            <a:headEnd/>
            <a:tailEnd type="arrow" w="med" len="med"/>
          </a:ln>
        </p:spPr>
      </p:cxnSp>
      <p:sp>
        <p:nvSpPr>
          <p:cNvPr id="108554" name="TextBox 13"/>
          <p:cNvSpPr txBox="1">
            <a:spLocks noChangeArrowheads="1"/>
          </p:cNvSpPr>
          <p:nvPr/>
        </p:nvSpPr>
        <p:spPr bwMode="auto">
          <a:xfrm>
            <a:off x="2357438" y="1520825"/>
            <a:ext cx="1695450" cy="400110"/>
          </a:xfrm>
          <a:prstGeom prst="rect">
            <a:avLst/>
          </a:prstGeom>
          <a:noFill/>
          <a:ln w="9525">
            <a:noFill/>
            <a:miter lim="800000"/>
            <a:headEnd/>
            <a:tailEnd/>
          </a:ln>
        </p:spPr>
        <p:txBody>
          <a:bodyPr>
            <a:spAutoFit/>
          </a:bodyPr>
          <a:lstStyle/>
          <a:p>
            <a:r>
              <a:rPr lang="zh-CN" altLang="en-US" sz="2000" b="1" dirty="0"/>
              <a:t>高</a:t>
            </a:r>
          </a:p>
        </p:txBody>
      </p:sp>
      <p:sp>
        <p:nvSpPr>
          <p:cNvPr id="108555" name="TextBox 16"/>
          <p:cNvSpPr txBox="1">
            <a:spLocks noChangeArrowheads="1"/>
          </p:cNvSpPr>
          <p:nvPr/>
        </p:nvSpPr>
        <p:spPr bwMode="auto">
          <a:xfrm>
            <a:off x="658813" y="4030663"/>
            <a:ext cx="1968500" cy="2616101"/>
          </a:xfrm>
          <a:prstGeom prst="rect">
            <a:avLst/>
          </a:prstGeom>
          <a:noFill/>
          <a:ln w="9525">
            <a:noFill/>
            <a:miter lim="800000"/>
            <a:headEnd/>
            <a:tailEnd/>
          </a:ln>
        </p:spPr>
        <p:txBody>
          <a:bodyPr>
            <a:spAutoFit/>
          </a:bodyPr>
          <a:lstStyle/>
          <a:p>
            <a:r>
              <a:rPr lang="zh-CN" altLang="en-US" sz="2400" b="1" dirty="0"/>
              <a:t>可用的特征：</a:t>
            </a:r>
            <a:endParaRPr lang="en-US" altLang="zh-CN" sz="2400" b="1" dirty="0"/>
          </a:p>
          <a:p>
            <a:pPr lvl="1"/>
            <a:r>
              <a:rPr lang="zh-CN" altLang="en-US" sz="2400" b="1" dirty="0"/>
              <a:t>身高</a:t>
            </a:r>
            <a:endParaRPr lang="en-US" altLang="zh-CN" sz="2400" b="1" dirty="0"/>
          </a:p>
          <a:p>
            <a:pPr lvl="1"/>
            <a:r>
              <a:rPr lang="zh-CN" altLang="en-US" sz="2400" b="1" dirty="0"/>
              <a:t>体重</a:t>
            </a:r>
            <a:endParaRPr lang="en-US" altLang="zh-CN" sz="2400" b="1" dirty="0"/>
          </a:p>
          <a:p>
            <a:pPr lvl="1"/>
            <a:r>
              <a:rPr lang="zh-CN" altLang="en-US" sz="2400" b="1" dirty="0"/>
              <a:t>鞋的式样</a:t>
            </a:r>
            <a:endParaRPr lang="en-US" altLang="zh-CN" sz="2400" b="1" dirty="0"/>
          </a:p>
          <a:p>
            <a:pPr lvl="1"/>
            <a:r>
              <a:rPr lang="zh-CN" altLang="en-US" sz="2400" b="1" dirty="0"/>
              <a:t>头发长度</a:t>
            </a:r>
            <a:endParaRPr lang="en-US" altLang="zh-CN" sz="2400" b="1" dirty="0"/>
          </a:p>
          <a:p>
            <a:pPr lvl="1"/>
            <a:r>
              <a:rPr lang="zh-CN" altLang="en-US" sz="2400" b="1" dirty="0"/>
              <a:t>衣服颜色</a:t>
            </a:r>
            <a:endParaRPr lang="en-US" altLang="zh-CN" sz="2400" b="1" dirty="0"/>
          </a:p>
          <a:p>
            <a:pPr lvl="1"/>
            <a:r>
              <a:rPr lang="en-US" altLang="zh-CN" sz="2000" b="1" dirty="0"/>
              <a:t>……</a:t>
            </a:r>
            <a:endParaRPr lang="zh-CN" altLang="en-US" sz="2000" b="1" dirty="0"/>
          </a:p>
        </p:txBody>
      </p:sp>
      <p:sp>
        <p:nvSpPr>
          <p:cNvPr id="108556" name="椭圆 18"/>
          <p:cNvSpPr>
            <a:spLocks noChangeArrowheads="1"/>
          </p:cNvSpPr>
          <p:nvPr/>
        </p:nvSpPr>
        <p:spPr bwMode="auto">
          <a:xfrm>
            <a:off x="6043613" y="3467100"/>
            <a:ext cx="363537" cy="404813"/>
          </a:xfrm>
          <a:prstGeom prst="ellipse">
            <a:avLst/>
          </a:prstGeom>
          <a:solidFill>
            <a:schemeClr val="accent1"/>
          </a:solidFill>
          <a:ln w="9525" algn="ctr">
            <a:solidFill>
              <a:schemeClr val="tx1"/>
            </a:solidFill>
            <a:round/>
            <a:headEnd/>
            <a:tailEnd type="triangle" w="med" len="med"/>
          </a:ln>
        </p:spPr>
        <p:txBody>
          <a:bodyPr wrap="none"/>
          <a:lstStyle/>
          <a:p>
            <a:endParaRPr lang="zh-CN" altLang="en-US"/>
          </a:p>
        </p:txBody>
      </p:sp>
      <p:sp>
        <p:nvSpPr>
          <p:cNvPr id="108557" name="TextBox 19"/>
          <p:cNvSpPr txBox="1">
            <a:spLocks noChangeArrowheads="1"/>
          </p:cNvSpPr>
          <p:nvPr/>
        </p:nvSpPr>
        <p:spPr bwMode="auto">
          <a:xfrm>
            <a:off x="6589713" y="3402013"/>
            <a:ext cx="1616075" cy="400110"/>
          </a:xfrm>
          <a:prstGeom prst="rect">
            <a:avLst/>
          </a:prstGeom>
          <a:noFill/>
          <a:ln w="9525">
            <a:noFill/>
            <a:miter lim="800000"/>
            <a:headEnd/>
            <a:tailEnd/>
          </a:ln>
        </p:spPr>
        <p:txBody>
          <a:bodyPr>
            <a:spAutoFit/>
          </a:bodyPr>
          <a:lstStyle/>
          <a:p>
            <a:r>
              <a:rPr lang="zh-CN" altLang="en-US" sz="2000" b="1"/>
              <a:t>衣服颜色？</a:t>
            </a:r>
          </a:p>
        </p:txBody>
      </p:sp>
      <p:cxnSp>
        <p:nvCxnSpPr>
          <p:cNvPr id="108558" name="直接箭头连接符 20"/>
          <p:cNvCxnSpPr>
            <a:cxnSpLocks noChangeShapeType="1"/>
            <a:stCxn id="108550" idx="4"/>
            <a:endCxn id="108556" idx="1"/>
          </p:cNvCxnSpPr>
          <p:nvPr/>
        </p:nvCxnSpPr>
        <p:spPr bwMode="auto">
          <a:xfrm>
            <a:off x="5383213" y="2625725"/>
            <a:ext cx="714375" cy="900113"/>
          </a:xfrm>
          <a:prstGeom prst="straightConnector1">
            <a:avLst/>
          </a:prstGeom>
          <a:noFill/>
          <a:ln w="28575" algn="ctr">
            <a:solidFill>
              <a:schemeClr val="tx1"/>
            </a:solidFill>
            <a:round/>
            <a:headEnd/>
            <a:tailEnd type="arrow" w="med" len="med"/>
          </a:ln>
        </p:spPr>
      </p:cxnSp>
      <p:cxnSp>
        <p:nvCxnSpPr>
          <p:cNvPr id="108559" name="直接箭头连接符 24"/>
          <p:cNvCxnSpPr>
            <a:cxnSpLocks noChangeShapeType="1"/>
            <a:stCxn id="108556" idx="4"/>
          </p:cNvCxnSpPr>
          <p:nvPr/>
        </p:nvCxnSpPr>
        <p:spPr bwMode="auto">
          <a:xfrm flipH="1">
            <a:off x="5559425" y="3871913"/>
            <a:ext cx="666750" cy="1614487"/>
          </a:xfrm>
          <a:prstGeom prst="straightConnector1">
            <a:avLst/>
          </a:prstGeom>
          <a:noFill/>
          <a:ln w="28575" algn="ctr">
            <a:solidFill>
              <a:schemeClr val="tx1"/>
            </a:solidFill>
            <a:round/>
            <a:headEnd/>
            <a:tailEnd type="arrow" w="med" len="med"/>
          </a:ln>
        </p:spPr>
      </p:cxnSp>
      <p:cxnSp>
        <p:nvCxnSpPr>
          <p:cNvPr id="108560" name="直接箭头连接符 27"/>
          <p:cNvCxnSpPr>
            <a:cxnSpLocks noChangeShapeType="1"/>
          </p:cNvCxnSpPr>
          <p:nvPr/>
        </p:nvCxnSpPr>
        <p:spPr bwMode="auto">
          <a:xfrm>
            <a:off x="6240463" y="3932238"/>
            <a:ext cx="712787" cy="1598612"/>
          </a:xfrm>
          <a:prstGeom prst="straightConnector1">
            <a:avLst/>
          </a:prstGeom>
          <a:noFill/>
          <a:ln w="28575" algn="ctr">
            <a:solidFill>
              <a:schemeClr val="tx1"/>
            </a:solidFill>
            <a:round/>
            <a:headEnd/>
            <a:tailEnd type="arrow" w="med" len="med"/>
          </a:ln>
        </p:spPr>
      </p:cxnSp>
      <p:sp>
        <p:nvSpPr>
          <p:cNvPr id="108561" name="TextBox 38"/>
          <p:cNvSpPr txBox="1">
            <a:spLocks noChangeArrowheads="1"/>
          </p:cNvSpPr>
          <p:nvPr/>
        </p:nvSpPr>
        <p:spPr bwMode="auto">
          <a:xfrm>
            <a:off x="4302125" y="1433513"/>
            <a:ext cx="1695450" cy="400110"/>
          </a:xfrm>
          <a:prstGeom prst="rect">
            <a:avLst/>
          </a:prstGeom>
          <a:noFill/>
          <a:ln w="9525">
            <a:noFill/>
            <a:miter lim="800000"/>
            <a:headEnd/>
            <a:tailEnd/>
          </a:ln>
        </p:spPr>
        <p:txBody>
          <a:bodyPr>
            <a:spAutoFit/>
          </a:bodyPr>
          <a:lstStyle/>
          <a:p>
            <a:r>
              <a:rPr lang="zh-CN" altLang="en-US" sz="2000" b="1"/>
              <a:t>矮</a:t>
            </a:r>
          </a:p>
        </p:txBody>
      </p:sp>
      <p:cxnSp>
        <p:nvCxnSpPr>
          <p:cNvPr id="108562" name="直接箭头连接符 63"/>
          <p:cNvCxnSpPr>
            <a:cxnSpLocks noChangeShapeType="1"/>
            <a:stCxn id="108550" idx="4"/>
          </p:cNvCxnSpPr>
          <p:nvPr/>
        </p:nvCxnSpPr>
        <p:spPr bwMode="auto">
          <a:xfrm flipH="1">
            <a:off x="4586288" y="2625725"/>
            <a:ext cx="796925" cy="769938"/>
          </a:xfrm>
          <a:prstGeom prst="straightConnector1">
            <a:avLst/>
          </a:prstGeom>
          <a:noFill/>
          <a:ln w="28575" algn="ctr">
            <a:solidFill>
              <a:schemeClr val="tx1"/>
            </a:solidFill>
            <a:round/>
            <a:headEnd/>
            <a:tailEnd type="arrow" w="med" len="med"/>
          </a:ln>
        </p:spPr>
      </p:cxnSp>
      <p:sp>
        <p:nvSpPr>
          <p:cNvPr id="108563" name="TextBox 64"/>
          <p:cNvSpPr txBox="1">
            <a:spLocks noChangeArrowheads="1"/>
          </p:cNvSpPr>
          <p:nvPr/>
        </p:nvSpPr>
        <p:spPr bwMode="auto">
          <a:xfrm>
            <a:off x="4403725" y="2638425"/>
            <a:ext cx="574675" cy="400110"/>
          </a:xfrm>
          <a:prstGeom prst="rect">
            <a:avLst/>
          </a:prstGeom>
          <a:noFill/>
          <a:ln w="9525">
            <a:noFill/>
            <a:miter lim="800000"/>
            <a:headEnd/>
            <a:tailEnd/>
          </a:ln>
        </p:spPr>
        <p:txBody>
          <a:bodyPr>
            <a:spAutoFit/>
          </a:bodyPr>
          <a:lstStyle/>
          <a:p>
            <a:r>
              <a:rPr lang="zh-CN" altLang="en-US" sz="2000" b="1"/>
              <a:t>重</a:t>
            </a:r>
          </a:p>
        </p:txBody>
      </p:sp>
      <p:sp>
        <p:nvSpPr>
          <p:cNvPr id="108564" name="椭圆 7"/>
          <p:cNvSpPr>
            <a:spLocks noChangeArrowheads="1"/>
          </p:cNvSpPr>
          <p:nvPr/>
        </p:nvSpPr>
        <p:spPr bwMode="auto">
          <a:xfrm>
            <a:off x="2108200" y="2470150"/>
            <a:ext cx="381000" cy="381000"/>
          </a:xfrm>
          <a:prstGeom prst="ellipse">
            <a:avLst/>
          </a:prstGeom>
          <a:solidFill>
            <a:schemeClr val="accent1"/>
          </a:solidFill>
          <a:ln w="9525" algn="ctr">
            <a:solidFill>
              <a:schemeClr val="tx1"/>
            </a:solidFill>
            <a:round/>
            <a:headEnd/>
            <a:tailEnd type="triangle" w="med" len="med"/>
          </a:ln>
        </p:spPr>
        <p:txBody>
          <a:bodyPr wrap="none"/>
          <a:lstStyle/>
          <a:p>
            <a:endParaRPr lang="zh-CN" altLang="en-US"/>
          </a:p>
        </p:txBody>
      </p:sp>
      <p:cxnSp>
        <p:nvCxnSpPr>
          <p:cNvPr id="108565" name="直接箭头连接符 24"/>
          <p:cNvCxnSpPr>
            <a:cxnSpLocks noChangeShapeType="1"/>
          </p:cNvCxnSpPr>
          <p:nvPr/>
        </p:nvCxnSpPr>
        <p:spPr bwMode="auto">
          <a:xfrm flipH="1">
            <a:off x="1619250" y="2879725"/>
            <a:ext cx="681038" cy="857250"/>
          </a:xfrm>
          <a:prstGeom prst="straightConnector1">
            <a:avLst/>
          </a:prstGeom>
          <a:noFill/>
          <a:ln w="28575" algn="ctr">
            <a:solidFill>
              <a:schemeClr val="tx1"/>
            </a:solidFill>
            <a:round/>
            <a:headEnd/>
            <a:tailEnd type="arrow" w="med" len="med"/>
          </a:ln>
        </p:spPr>
      </p:cxnSp>
      <p:cxnSp>
        <p:nvCxnSpPr>
          <p:cNvPr id="108566" name="直接箭头连接符 27"/>
          <p:cNvCxnSpPr>
            <a:cxnSpLocks noChangeShapeType="1"/>
          </p:cNvCxnSpPr>
          <p:nvPr/>
        </p:nvCxnSpPr>
        <p:spPr bwMode="auto">
          <a:xfrm>
            <a:off x="2300288" y="2879725"/>
            <a:ext cx="712787" cy="900113"/>
          </a:xfrm>
          <a:prstGeom prst="straightConnector1">
            <a:avLst/>
          </a:prstGeom>
          <a:noFill/>
          <a:ln w="28575" algn="ctr">
            <a:solidFill>
              <a:schemeClr val="tx1"/>
            </a:solidFill>
            <a:round/>
            <a:headEnd/>
            <a:tailEnd type="arrow" w="med" len="med"/>
          </a:ln>
        </p:spPr>
      </p:cxnSp>
      <p:sp>
        <p:nvSpPr>
          <p:cNvPr id="108567" name="TextBox 64"/>
          <p:cNvSpPr txBox="1">
            <a:spLocks noChangeArrowheads="1"/>
          </p:cNvSpPr>
          <p:nvPr/>
        </p:nvSpPr>
        <p:spPr bwMode="auto">
          <a:xfrm>
            <a:off x="5913438" y="2697163"/>
            <a:ext cx="574675" cy="400110"/>
          </a:xfrm>
          <a:prstGeom prst="rect">
            <a:avLst/>
          </a:prstGeom>
          <a:noFill/>
          <a:ln w="9525">
            <a:noFill/>
            <a:miter lim="800000"/>
            <a:headEnd/>
            <a:tailEnd/>
          </a:ln>
        </p:spPr>
        <p:txBody>
          <a:bodyPr>
            <a:spAutoFit/>
          </a:bodyPr>
          <a:lstStyle/>
          <a:p>
            <a:r>
              <a:rPr lang="zh-CN" altLang="en-US" sz="2000" b="1"/>
              <a:t>轻</a:t>
            </a:r>
          </a:p>
        </p:txBody>
      </p:sp>
      <p:sp>
        <p:nvSpPr>
          <p:cNvPr id="108568" name="椭圆 7"/>
          <p:cNvSpPr>
            <a:spLocks noChangeArrowheads="1"/>
          </p:cNvSpPr>
          <p:nvPr/>
        </p:nvSpPr>
        <p:spPr bwMode="auto">
          <a:xfrm>
            <a:off x="4402138" y="3398838"/>
            <a:ext cx="381000" cy="381000"/>
          </a:xfrm>
          <a:prstGeom prst="ellipse">
            <a:avLst/>
          </a:prstGeom>
          <a:solidFill>
            <a:schemeClr val="accent1"/>
          </a:solidFill>
          <a:ln w="9525" algn="ctr">
            <a:solidFill>
              <a:schemeClr val="tx1"/>
            </a:solidFill>
            <a:round/>
            <a:headEnd/>
            <a:tailEnd type="triangle" w="med" len="med"/>
          </a:ln>
        </p:spPr>
        <p:txBody>
          <a:bodyPr wrap="none"/>
          <a:lstStyle/>
          <a:p>
            <a:endParaRPr lang="zh-CN" altLang="en-US"/>
          </a:p>
        </p:txBody>
      </p:sp>
      <p:cxnSp>
        <p:nvCxnSpPr>
          <p:cNvPr id="108569" name="直接箭头连接符 24"/>
          <p:cNvCxnSpPr>
            <a:cxnSpLocks noChangeShapeType="1"/>
          </p:cNvCxnSpPr>
          <p:nvPr/>
        </p:nvCxnSpPr>
        <p:spPr bwMode="auto">
          <a:xfrm flipH="1">
            <a:off x="3911600" y="3808413"/>
            <a:ext cx="681038" cy="857250"/>
          </a:xfrm>
          <a:prstGeom prst="straightConnector1">
            <a:avLst/>
          </a:prstGeom>
          <a:noFill/>
          <a:ln w="28575" algn="ctr">
            <a:solidFill>
              <a:schemeClr val="tx1"/>
            </a:solidFill>
            <a:round/>
            <a:headEnd/>
            <a:tailEnd type="arrow" w="med" len="med"/>
          </a:ln>
        </p:spPr>
      </p:cxnSp>
      <p:cxnSp>
        <p:nvCxnSpPr>
          <p:cNvPr id="108570" name="直接箭头连接符 27"/>
          <p:cNvCxnSpPr>
            <a:cxnSpLocks noChangeShapeType="1"/>
          </p:cNvCxnSpPr>
          <p:nvPr/>
        </p:nvCxnSpPr>
        <p:spPr bwMode="auto">
          <a:xfrm>
            <a:off x="4592638" y="3808413"/>
            <a:ext cx="712787" cy="900112"/>
          </a:xfrm>
          <a:prstGeom prst="straightConnector1">
            <a:avLst/>
          </a:prstGeom>
          <a:noFill/>
          <a:ln w="28575" algn="ctr">
            <a:solidFill>
              <a:schemeClr val="tx1"/>
            </a:solidFill>
            <a:round/>
            <a:headEnd/>
            <a:tailEnd type="arrow" w="med" len="med"/>
          </a:ln>
        </p:spPr>
      </p:cxn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dirty="0"/>
              <a:t>决策树学习</a:t>
            </a:r>
          </a:p>
        </p:txBody>
      </p:sp>
      <p:sp>
        <p:nvSpPr>
          <p:cNvPr id="59396" name="内容占位符 2"/>
          <p:cNvSpPr>
            <a:spLocks noGrp="1"/>
          </p:cNvSpPr>
          <p:nvPr>
            <p:ph idx="1"/>
          </p:nvPr>
        </p:nvSpPr>
        <p:spPr>
          <a:xfrm>
            <a:off x="685800" y="4325938"/>
            <a:ext cx="7772400" cy="1770062"/>
          </a:xfrm>
        </p:spPr>
        <p:txBody>
          <a:bodyPr>
            <a:normAutofit/>
          </a:bodyPr>
          <a:lstStyle/>
          <a:p>
            <a:r>
              <a:rPr lang="zh-CN" altLang="en-US" sz="3200" b="1" dirty="0"/>
              <a:t>决策树学习就是从训练集中归纳出一组分类规则，得到一个与训练集矛盾最小的决策树</a:t>
            </a:r>
          </a:p>
        </p:txBody>
      </p:sp>
      <p:sp>
        <p:nvSpPr>
          <p:cNvPr id="59397" name="灯片编号占位符 3"/>
          <p:cNvSpPr>
            <a:spLocks noGrp="1"/>
          </p:cNvSpPr>
          <p:nvPr>
            <p:ph type="sldNum" sz="quarter" idx="12"/>
          </p:nvPr>
        </p:nvSpPr>
        <p:spPr>
          <a:noFill/>
        </p:spPr>
        <p:txBody>
          <a:bodyPr/>
          <a:lstStyle/>
          <a:p>
            <a:fld id="{4E7C28B4-5570-4B56-9B93-CDB7E17D69B8}" type="slidenum">
              <a:rPr lang="en-US" altLang="zh-CN" smtClean="0">
                <a:ea typeface="黑体" pitchFamily="49" charset="-122"/>
              </a:rPr>
              <a:pPr/>
              <a:t>79</a:t>
            </a:fld>
            <a:endParaRPr lang="en-US" altLang="zh-CN">
              <a:ea typeface="黑体" pitchFamily="49" charset="-122"/>
            </a:endParaRPr>
          </a:p>
        </p:txBody>
      </p:sp>
      <p:graphicFrame>
        <p:nvGraphicFramePr>
          <p:cNvPr id="59394" name="Object 1" descr="羊皮纸"/>
          <p:cNvGraphicFramePr>
            <a:graphicFrameLocks noChangeAspect="1"/>
          </p:cNvGraphicFramePr>
          <p:nvPr/>
        </p:nvGraphicFramePr>
        <p:xfrm>
          <a:off x="1103313" y="1766888"/>
          <a:ext cx="7188200" cy="2311400"/>
        </p:xfrm>
        <a:graphic>
          <a:graphicData uri="http://schemas.openxmlformats.org/presentationml/2006/ole">
            <mc:AlternateContent xmlns:mc="http://schemas.openxmlformats.org/markup-compatibility/2006">
              <mc:Choice xmlns:v="urn:schemas-microsoft-com:vml" Requires="v">
                <p:oleObj name="公式" r:id="rId3" imgW="3136680" imgH="965160" progId="Equation.3">
                  <p:embed/>
                </p:oleObj>
              </mc:Choice>
              <mc:Fallback>
                <p:oleObj name="公式" r:id="rId3" imgW="3136680" imgH="965160" progId="Equation.3">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03313" y="1766888"/>
                        <a:ext cx="7188200" cy="2311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endParaRPr lang="zh-CN" altLang="en-US"/>
          </a:p>
        </p:txBody>
      </p:sp>
      <p:sp>
        <p:nvSpPr>
          <p:cNvPr id="109571" name="内容占位符 2"/>
          <p:cNvSpPr>
            <a:spLocks noGrp="1"/>
          </p:cNvSpPr>
          <p:nvPr>
            <p:ph idx="1"/>
          </p:nvPr>
        </p:nvSpPr>
        <p:spPr/>
        <p:txBody>
          <a:bodyPr>
            <a:normAutofit/>
          </a:bodyPr>
          <a:lstStyle/>
          <a:p>
            <a:r>
              <a:rPr lang="zh-CN" altLang="en-US" sz="3200" b="1" dirty="0"/>
              <a:t>对于给定的训练集，可以构造出多个决策树，一般以损失函数最小化作为优化目标</a:t>
            </a:r>
            <a:endParaRPr lang="en-US" altLang="zh-CN" sz="3200" b="1" dirty="0"/>
          </a:p>
          <a:p>
            <a:r>
              <a:rPr lang="zh-CN" altLang="en-US" sz="3200" b="1" dirty="0"/>
              <a:t>从所有决策树中选取最优决策树是一个</a:t>
            </a:r>
            <a:r>
              <a:rPr lang="en-US" altLang="zh-CN" sz="3200" b="1" dirty="0"/>
              <a:t>NPC</a:t>
            </a:r>
            <a:r>
              <a:rPr lang="zh-CN" altLang="en-US" sz="3200" b="1" dirty="0"/>
              <a:t>问题，所以一般采用启发式方法，得到一个近似解</a:t>
            </a:r>
          </a:p>
        </p:txBody>
      </p:sp>
      <p:sp>
        <p:nvSpPr>
          <p:cNvPr id="109572" name="灯片编号占位符 3"/>
          <p:cNvSpPr>
            <a:spLocks noGrp="1"/>
          </p:cNvSpPr>
          <p:nvPr>
            <p:ph type="sldNum" sz="quarter" idx="12"/>
          </p:nvPr>
        </p:nvSpPr>
        <p:spPr>
          <a:noFill/>
        </p:spPr>
        <p:txBody>
          <a:bodyPr/>
          <a:lstStyle/>
          <a:p>
            <a:fld id="{9C7F1B9E-B2BA-43B7-946D-43BBFD68D286}" type="slidenum">
              <a:rPr lang="en-US" altLang="zh-CN" smtClean="0">
                <a:ea typeface="黑体" pitchFamily="49" charset="-122"/>
              </a:rPr>
              <a:pPr/>
              <a:t>80</a:t>
            </a:fld>
            <a:endParaRPr lang="en-US" altLang="zh-CN">
              <a:ea typeface="黑体" pitchFamily="49" charset="-122"/>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endParaRPr lang="zh-CN" altLang="en-US"/>
          </a:p>
        </p:txBody>
      </p:sp>
      <p:sp>
        <p:nvSpPr>
          <p:cNvPr id="110595" name="内容占位符 2"/>
          <p:cNvSpPr>
            <a:spLocks noGrp="1"/>
          </p:cNvSpPr>
          <p:nvPr>
            <p:ph idx="1"/>
          </p:nvPr>
        </p:nvSpPr>
        <p:spPr/>
        <p:txBody>
          <a:bodyPr>
            <a:normAutofit/>
          </a:bodyPr>
          <a:lstStyle/>
          <a:p>
            <a:r>
              <a:rPr lang="zh-CN" altLang="en-US" sz="3200" b="1" dirty="0"/>
              <a:t>决策树学习包括</a:t>
            </a:r>
            <a:endParaRPr lang="en-US" altLang="zh-CN" sz="3200" b="1" dirty="0"/>
          </a:p>
          <a:p>
            <a:endParaRPr lang="en-US" altLang="zh-CN" sz="2800" b="1" dirty="0"/>
          </a:p>
          <a:p>
            <a:pPr lvl="1"/>
            <a:r>
              <a:rPr lang="zh-CN" altLang="en-US" sz="2800" b="1" dirty="0"/>
              <a:t>特征选择</a:t>
            </a:r>
            <a:endParaRPr lang="en-US" altLang="zh-CN" sz="2800" b="1" dirty="0"/>
          </a:p>
          <a:p>
            <a:pPr lvl="1"/>
            <a:r>
              <a:rPr lang="zh-CN" altLang="en-US" sz="2800" b="1" dirty="0"/>
              <a:t>决策树生成</a:t>
            </a:r>
            <a:endParaRPr lang="en-US" altLang="zh-CN" sz="2800" b="1" dirty="0"/>
          </a:p>
          <a:p>
            <a:pPr lvl="1"/>
            <a:r>
              <a:rPr lang="zh-CN" altLang="en-US" sz="2800" b="1" dirty="0"/>
              <a:t>决策树剪枝</a:t>
            </a:r>
          </a:p>
        </p:txBody>
      </p:sp>
      <p:sp>
        <p:nvSpPr>
          <p:cNvPr id="110596" name="灯片编号占位符 3"/>
          <p:cNvSpPr>
            <a:spLocks noGrp="1"/>
          </p:cNvSpPr>
          <p:nvPr>
            <p:ph type="sldNum" sz="quarter" idx="12"/>
          </p:nvPr>
        </p:nvSpPr>
        <p:spPr>
          <a:noFill/>
        </p:spPr>
        <p:txBody>
          <a:bodyPr/>
          <a:lstStyle/>
          <a:p>
            <a:fld id="{BA3C77C8-B71B-4878-825B-19E67CD8FF04}" type="slidenum">
              <a:rPr lang="en-US" altLang="zh-CN" smtClean="0">
                <a:ea typeface="黑体" pitchFamily="49" charset="-122"/>
              </a:rPr>
              <a:pPr/>
              <a:t>81</a:t>
            </a:fld>
            <a:endParaRPr lang="en-US" altLang="zh-CN">
              <a:ea typeface="黑体" pitchFamily="49" charset="-122"/>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dirty="0"/>
              <a:t>特征选择</a:t>
            </a:r>
          </a:p>
        </p:txBody>
      </p:sp>
      <p:sp>
        <p:nvSpPr>
          <p:cNvPr id="111619" name="内容占位符 2"/>
          <p:cNvSpPr>
            <a:spLocks noGrp="1"/>
          </p:cNvSpPr>
          <p:nvPr>
            <p:ph idx="1"/>
          </p:nvPr>
        </p:nvSpPr>
        <p:spPr/>
        <p:txBody>
          <a:bodyPr/>
          <a:lstStyle/>
          <a:p>
            <a:r>
              <a:rPr lang="zh-CN" altLang="en-US" sz="3200" b="1" dirty="0"/>
              <a:t>一个问题中可能有不同的特征，不同的特征具有不同的分类能力，特征选择就是如何选取出那些分类能力强的特征。</a:t>
            </a:r>
            <a:endParaRPr lang="en-US" altLang="zh-CN" sz="3200" b="1" dirty="0"/>
          </a:p>
          <a:p>
            <a:endParaRPr lang="en-US" altLang="zh-CN" sz="3200" b="1" dirty="0"/>
          </a:p>
          <a:p>
            <a:r>
              <a:rPr lang="zh-CN" altLang="en-US" sz="3200" b="1" dirty="0"/>
              <a:t>决策树中一般按照</a:t>
            </a:r>
            <a:r>
              <a:rPr lang="zh-CN" altLang="en-US" sz="3200" b="1" dirty="0">
                <a:solidFill>
                  <a:srgbClr val="FF0000"/>
                </a:solidFill>
              </a:rPr>
              <a:t>信息增益</a:t>
            </a:r>
            <a:r>
              <a:rPr lang="zh-CN" altLang="en-US" sz="3200" b="1" dirty="0"/>
              <a:t>选择特征</a:t>
            </a:r>
            <a:endParaRPr lang="en-US" altLang="zh-CN" sz="3200" b="1" dirty="0"/>
          </a:p>
          <a:p>
            <a:endParaRPr lang="en-US" altLang="zh-CN" sz="3200" b="1" dirty="0"/>
          </a:p>
          <a:p>
            <a:r>
              <a:rPr lang="zh-CN" altLang="en-US" sz="3200" b="1" dirty="0"/>
              <a:t>所谓的信息增益就是某个特征</a:t>
            </a:r>
            <a:r>
              <a:rPr lang="en-US" altLang="zh-CN" sz="3200" b="1" dirty="0"/>
              <a:t>A</a:t>
            </a:r>
            <a:r>
              <a:rPr lang="zh-CN" altLang="en-US" sz="3200" b="1" dirty="0"/>
              <a:t>对数据集</a:t>
            </a:r>
            <a:r>
              <a:rPr lang="en-US" altLang="zh-CN" sz="3200" b="1" dirty="0"/>
              <a:t>D</a:t>
            </a:r>
            <a:r>
              <a:rPr lang="zh-CN" altLang="en-US" sz="3200" b="1" dirty="0"/>
              <a:t>进行分类的不确定性减少的程度</a:t>
            </a:r>
            <a:endParaRPr lang="en-US" altLang="zh-CN" sz="3200" b="1" dirty="0"/>
          </a:p>
          <a:p>
            <a:endParaRPr lang="zh-CN" altLang="en-US" dirty="0"/>
          </a:p>
        </p:txBody>
      </p:sp>
      <p:sp>
        <p:nvSpPr>
          <p:cNvPr id="111620" name="灯片编号占位符 3"/>
          <p:cNvSpPr>
            <a:spLocks noGrp="1"/>
          </p:cNvSpPr>
          <p:nvPr>
            <p:ph type="sldNum" sz="quarter" idx="12"/>
          </p:nvPr>
        </p:nvSpPr>
        <p:spPr>
          <a:noFill/>
        </p:spPr>
        <p:txBody>
          <a:bodyPr/>
          <a:lstStyle/>
          <a:p>
            <a:fld id="{DA6DBFE2-34C4-4054-8E55-E4C35D50AD38}" type="slidenum">
              <a:rPr lang="en-US" altLang="zh-CN" smtClean="0">
                <a:ea typeface="黑体" pitchFamily="49" charset="-122"/>
              </a:rPr>
              <a:pPr/>
              <a:t>82</a:t>
            </a:fld>
            <a:endParaRPr lang="en-US" altLang="zh-CN">
              <a:ea typeface="黑体" pitchFamily="49" charset="-122"/>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dirty="0"/>
              <a:t>信息增益</a:t>
            </a:r>
          </a:p>
        </p:txBody>
      </p:sp>
      <p:sp>
        <p:nvSpPr>
          <p:cNvPr id="60421" name="灯片编号占位符 3"/>
          <p:cNvSpPr>
            <a:spLocks noGrp="1"/>
          </p:cNvSpPr>
          <p:nvPr>
            <p:ph type="sldNum" sz="quarter" idx="12"/>
          </p:nvPr>
        </p:nvSpPr>
        <p:spPr>
          <a:noFill/>
        </p:spPr>
        <p:txBody>
          <a:bodyPr/>
          <a:lstStyle/>
          <a:p>
            <a:fld id="{A0A0C364-3ED6-4D15-80D5-9337AB6C6044}" type="slidenum">
              <a:rPr lang="en-US" altLang="zh-CN" smtClean="0">
                <a:ea typeface="黑体" pitchFamily="49" charset="-122"/>
              </a:rPr>
              <a:pPr/>
              <a:t>83</a:t>
            </a:fld>
            <a:endParaRPr lang="en-US" altLang="zh-CN">
              <a:ea typeface="黑体" pitchFamily="49" charset="-122"/>
            </a:endParaRPr>
          </a:p>
        </p:txBody>
      </p:sp>
      <p:graphicFrame>
        <p:nvGraphicFramePr>
          <p:cNvPr id="60418" name="Object 1" descr="羊皮纸"/>
          <p:cNvGraphicFramePr>
            <a:graphicFrameLocks noChangeAspect="1"/>
          </p:cNvGraphicFramePr>
          <p:nvPr>
            <p:extLst>
              <p:ext uri="{D42A27DB-BD31-4B8C-83A1-F6EECF244321}">
                <p14:modId xmlns:p14="http://schemas.microsoft.com/office/powerpoint/2010/main" val="43083337"/>
              </p:ext>
            </p:extLst>
          </p:nvPr>
        </p:nvGraphicFramePr>
        <p:xfrm>
          <a:off x="914400" y="1911441"/>
          <a:ext cx="7515835" cy="3566251"/>
        </p:xfrm>
        <a:graphic>
          <a:graphicData uri="http://schemas.openxmlformats.org/presentationml/2006/ole">
            <mc:AlternateContent xmlns:mc="http://schemas.openxmlformats.org/markup-compatibility/2006">
              <mc:Choice xmlns:v="urn:schemas-microsoft-com:vml" Requires="v">
                <p:oleObj name="公式" r:id="rId3" imgW="3733560" imgH="1803240" progId="Equation.3">
                  <p:embed/>
                </p:oleObj>
              </mc:Choice>
              <mc:Fallback>
                <p:oleObj name="公式" r:id="rId3" imgW="3733560" imgH="1803240" progId="Equation.3">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400" y="1911441"/>
                        <a:ext cx="7515835" cy="3566251"/>
                      </a:xfrm>
                      <a:prstGeom prst="rect">
                        <a:avLst/>
                      </a:prstGeom>
                      <a:noFill/>
                    </p:spPr>
                  </p:pic>
                </p:oleObj>
              </mc:Fallback>
            </mc:AlternateContent>
          </a:graphicData>
        </a:graphic>
      </p:graphicFrame>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endParaRPr lang="zh-CN" altLang="en-US"/>
          </a:p>
        </p:txBody>
      </p:sp>
      <p:sp>
        <p:nvSpPr>
          <p:cNvPr id="61444" name="内容占位符 2"/>
          <p:cNvSpPr>
            <a:spLocks noGrp="1"/>
          </p:cNvSpPr>
          <p:nvPr>
            <p:ph idx="1"/>
          </p:nvPr>
        </p:nvSpPr>
        <p:spPr/>
        <p:txBody>
          <a:bodyPr>
            <a:normAutofit/>
          </a:bodyPr>
          <a:lstStyle/>
          <a:p>
            <a:r>
              <a:rPr lang="zh-CN" altLang="en-US" sz="3200" b="1" dirty="0"/>
              <a:t>特征</a:t>
            </a:r>
            <a:r>
              <a:rPr lang="en-US" altLang="zh-CN" sz="3200" b="1" dirty="0"/>
              <a:t>A</a:t>
            </a:r>
            <a:r>
              <a:rPr lang="zh-CN" altLang="en-US" sz="3200" b="1" dirty="0"/>
              <a:t>对数据集</a:t>
            </a:r>
            <a:r>
              <a:rPr lang="en-US" altLang="zh-CN" sz="3200" b="1" dirty="0"/>
              <a:t>D</a:t>
            </a:r>
            <a:r>
              <a:rPr lang="zh-CN" altLang="en-US" sz="3200" b="1" dirty="0"/>
              <a:t>的信息增益定义为：</a:t>
            </a:r>
            <a:endParaRPr lang="en-US" altLang="zh-CN" sz="3200" b="1" dirty="0"/>
          </a:p>
          <a:p>
            <a:endParaRPr lang="en-US" altLang="zh-CN" sz="3200" b="1" dirty="0"/>
          </a:p>
          <a:p>
            <a:endParaRPr lang="en-US" altLang="zh-CN" sz="3200" b="1" dirty="0"/>
          </a:p>
          <a:p>
            <a:r>
              <a:rPr lang="zh-CN" altLang="en-US" sz="3200" b="1" dirty="0"/>
              <a:t>表示特征</a:t>
            </a:r>
            <a:r>
              <a:rPr lang="en-US" altLang="zh-CN" sz="3200" b="1" dirty="0"/>
              <a:t>A</a:t>
            </a:r>
            <a:r>
              <a:rPr lang="zh-CN" altLang="en-US" sz="3200" b="1" dirty="0"/>
              <a:t>对数据集</a:t>
            </a:r>
            <a:r>
              <a:rPr lang="en-US" altLang="zh-CN" sz="3200" b="1" dirty="0"/>
              <a:t>D</a:t>
            </a:r>
            <a:r>
              <a:rPr lang="zh-CN" altLang="en-US" sz="3200" b="1" dirty="0"/>
              <a:t>的分类的不确定性减少的程度</a:t>
            </a:r>
            <a:endParaRPr lang="en-US" altLang="zh-CN" sz="3200" b="1" dirty="0"/>
          </a:p>
          <a:p>
            <a:r>
              <a:rPr lang="zh-CN" altLang="en-US" sz="3200" b="1" dirty="0"/>
              <a:t>信息增益大的特征具有更强的分类能力</a:t>
            </a:r>
          </a:p>
        </p:txBody>
      </p:sp>
      <p:sp>
        <p:nvSpPr>
          <p:cNvPr id="61445" name="灯片编号占位符 3"/>
          <p:cNvSpPr>
            <a:spLocks noGrp="1"/>
          </p:cNvSpPr>
          <p:nvPr>
            <p:ph type="sldNum" sz="quarter" idx="12"/>
          </p:nvPr>
        </p:nvSpPr>
        <p:spPr>
          <a:noFill/>
        </p:spPr>
        <p:txBody>
          <a:bodyPr/>
          <a:lstStyle/>
          <a:p>
            <a:fld id="{10002FE3-1E90-423F-8827-2C69B9D72F83}" type="slidenum">
              <a:rPr lang="en-US" altLang="zh-CN" smtClean="0">
                <a:ea typeface="黑体" pitchFamily="49" charset="-122"/>
              </a:rPr>
              <a:pPr/>
              <a:t>84</a:t>
            </a:fld>
            <a:endParaRPr lang="en-US" altLang="zh-CN">
              <a:ea typeface="黑体" pitchFamily="49" charset="-122"/>
            </a:endParaRPr>
          </a:p>
        </p:txBody>
      </p:sp>
      <p:graphicFrame>
        <p:nvGraphicFramePr>
          <p:cNvPr id="61442" name="Object 1" descr="羊皮纸"/>
          <p:cNvGraphicFramePr>
            <a:graphicFrameLocks noChangeAspect="1"/>
          </p:cNvGraphicFramePr>
          <p:nvPr/>
        </p:nvGraphicFramePr>
        <p:xfrm>
          <a:off x="1924050" y="2267372"/>
          <a:ext cx="3987800" cy="461963"/>
        </p:xfrm>
        <a:graphic>
          <a:graphicData uri="http://schemas.openxmlformats.org/presentationml/2006/ole">
            <mc:AlternateContent xmlns:mc="http://schemas.openxmlformats.org/markup-compatibility/2006">
              <mc:Choice xmlns:v="urn:schemas-microsoft-com:vml" Requires="v">
                <p:oleObj name="公式" r:id="rId2" imgW="1726920" imgH="203040" progId="Equation.3">
                  <p:embed/>
                </p:oleObj>
              </mc:Choice>
              <mc:Fallback>
                <p:oleObj name="公式" r:id="rId2" imgW="1726920" imgH="203040" progId="Equation.3">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24050" y="2267372"/>
                        <a:ext cx="3987800" cy="461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内容占位符 2"/>
          <p:cNvSpPr>
            <a:spLocks noGrp="1"/>
          </p:cNvSpPr>
          <p:nvPr>
            <p:ph idx="1"/>
          </p:nvPr>
        </p:nvSpPr>
        <p:spPr>
          <a:xfrm>
            <a:off x="685800" y="851338"/>
            <a:ext cx="7772400" cy="5244662"/>
          </a:xfrm>
        </p:spPr>
        <p:txBody>
          <a:bodyPr/>
          <a:lstStyle/>
          <a:p>
            <a:r>
              <a:rPr lang="zh-CN" altLang="en-US" sz="3200" b="1" dirty="0"/>
              <a:t>设训练集</a:t>
            </a:r>
            <a:r>
              <a:rPr lang="en-US" altLang="zh-CN" sz="3200" b="1" dirty="0"/>
              <a:t>D</a:t>
            </a:r>
            <a:r>
              <a:rPr lang="zh-CN" altLang="en-US" sz="3200" b="1" dirty="0"/>
              <a:t>，</a:t>
            </a:r>
            <a:r>
              <a:rPr lang="en-US" altLang="zh-CN" sz="3200" b="1" dirty="0"/>
              <a:t>K</a:t>
            </a:r>
            <a:r>
              <a:rPr lang="zh-CN" altLang="en-US" sz="3200" b="1" dirty="0"/>
              <a:t>个类</a:t>
            </a:r>
            <a:r>
              <a:rPr lang="en-US" altLang="zh-CN" sz="3200" b="1" dirty="0"/>
              <a:t>C</a:t>
            </a:r>
            <a:r>
              <a:rPr lang="en-US" altLang="zh-CN" sz="3200" b="1" baseline="-25000" dirty="0"/>
              <a:t>k</a:t>
            </a:r>
            <a:r>
              <a:rPr lang="zh-CN" altLang="en-US" sz="3200" b="1" dirty="0"/>
              <a:t>，特征</a:t>
            </a:r>
            <a:r>
              <a:rPr lang="en-US" altLang="zh-CN" sz="3200" b="1" dirty="0"/>
              <a:t>A</a:t>
            </a:r>
            <a:r>
              <a:rPr lang="zh-CN" altLang="en-US" sz="3200" b="1" dirty="0"/>
              <a:t>有</a:t>
            </a:r>
            <a:r>
              <a:rPr lang="en-US" altLang="zh-CN" sz="3200" b="1" dirty="0"/>
              <a:t>n</a:t>
            </a:r>
            <a:r>
              <a:rPr lang="zh-CN" altLang="en-US" sz="3200" b="1" dirty="0"/>
              <a:t>个不同的取值</a:t>
            </a:r>
            <a:r>
              <a:rPr lang="en-US" altLang="zh-CN" sz="3200" b="1" dirty="0"/>
              <a:t>{</a:t>
            </a:r>
            <a:r>
              <a:rPr lang="en-US" altLang="zh-CN" sz="3200" b="1" dirty="0" err="1"/>
              <a:t>a</a:t>
            </a:r>
            <a:r>
              <a:rPr lang="en-US" altLang="zh-CN" sz="3200" b="1" baseline="-25000" dirty="0" err="1"/>
              <a:t>i</a:t>
            </a:r>
            <a:r>
              <a:rPr lang="en-US" altLang="zh-CN" sz="3200" b="1" dirty="0"/>
              <a:t>,…,a</a:t>
            </a:r>
            <a:r>
              <a:rPr lang="en-US" altLang="zh-CN" sz="3200" b="1" baseline="-25000" dirty="0"/>
              <a:t>n</a:t>
            </a:r>
            <a:r>
              <a:rPr lang="en-US" altLang="zh-CN" sz="3200" b="1" dirty="0"/>
              <a:t>}</a:t>
            </a:r>
            <a:r>
              <a:rPr lang="zh-CN" altLang="en-US" sz="3200" b="1" dirty="0"/>
              <a:t>，</a:t>
            </a:r>
            <a:r>
              <a:rPr lang="en-US" altLang="zh-CN" sz="3200" b="1" dirty="0"/>
              <a:t>A</a:t>
            </a:r>
            <a:r>
              <a:rPr lang="zh-CN" altLang="en-US" sz="3200" b="1" dirty="0"/>
              <a:t>的不同取值将</a:t>
            </a:r>
            <a:r>
              <a:rPr lang="en-US" altLang="zh-CN" sz="3200" b="1" dirty="0"/>
              <a:t>D</a:t>
            </a:r>
            <a:r>
              <a:rPr lang="zh-CN" altLang="en-US" sz="3200" b="1" dirty="0"/>
              <a:t>划分为</a:t>
            </a:r>
            <a:r>
              <a:rPr lang="en-US" altLang="zh-CN" sz="3200" b="1" dirty="0"/>
              <a:t>n</a:t>
            </a:r>
            <a:r>
              <a:rPr lang="zh-CN" altLang="en-US" sz="3200" b="1" dirty="0"/>
              <a:t>个子集</a:t>
            </a:r>
            <a:r>
              <a:rPr lang="en-US" altLang="zh-CN" sz="3200" b="1" dirty="0"/>
              <a:t>D</a:t>
            </a:r>
            <a:r>
              <a:rPr lang="en-US" altLang="zh-CN" sz="3200" b="1" baseline="-25000" dirty="0"/>
              <a:t>1</a:t>
            </a:r>
            <a:r>
              <a:rPr lang="en-US" altLang="zh-CN" sz="3200" b="1" dirty="0"/>
              <a:t>…</a:t>
            </a:r>
            <a:r>
              <a:rPr lang="en-US" altLang="zh-CN" sz="3200" b="1" dirty="0" err="1"/>
              <a:t>D</a:t>
            </a:r>
            <a:r>
              <a:rPr lang="en-US" altLang="zh-CN" sz="3200" b="1" baseline="-25000" dirty="0" err="1"/>
              <a:t>n</a:t>
            </a:r>
            <a:r>
              <a:rPr lang="zh-CN" altLang="en-US" sz="3200" b="1" dirty="0"/>
              <a:t>，</a:t>
            </a:r>
            <a:r>
              <a:rPr lang="en-US" altLang="zh-CN" sz="3200" b="1" dirty="0"/>
              <a:t>D</a:t>
            </a:r>
            <a:r>
              <a:rPr lang="en-US" altLang="zh-CN" sz="3200" b="1" baseline="-25000" dirty="0"/>
              <a:t>i</a:t>
            </a:r>
            <a:r>
              <a:rPr lang="zh-CN" altLang="en-US" sz="3200" b="1" dirty="0"/>
              <a:t>中属于类</a:t>
            </a:r>
            <a:r>
              <a:rPr lang="en-US" altLang="zh-CN" sz="3200" b="1" dirty="0"/>
              <a:t>C</a:t>
            </a:r>
            <a:r>
              <a:rPr lang="en-US" altLang="zh-CN" sz="3200" b="1" baseline="-25000" dirty="0"/>
              <a:t>k</a:t>
            </a:r>
            <a:r>
              <a:rPr lang="zh-CN" altLang="en-US" sz="3200" b="1" dirty="0"/>
              <a:t>的样本的集合为</a:t>
            </a:r>
            <a:r>
              <a:rPr lang="en-US" altLang="zh-CN" sz="3200" b="1" dirty="0" err="1"/>
              <a:t>D</a:t>
            </a:r>
            <a:r>
              <a:rPr lang="en-US" altLang="zh-CN" sz="3200" b="1" baseline="-25000" dirty="0" err="1"/>
              <a:t>ik</a:t>
            </a:r>
            <a:r>
              <a:rPr lang="zh-CN" altLang="en-US" sz="3200" b="1" dirty="0"/>
              <a:t>，</a:t>
            </a:r>
            <a:r>
              <a:rPr lang="en-US" altLang="zh-CN" sz="3200" b="1" dirty="0"/>
              <a:t>|·|</a:t>
            </a:r>
            <a:r>
              <a:rPr lang="zh-CN" altLang="en-US" sz="3200" b="1" dirty="0"/>
              <a:t>表示样本个数。</a:t>
            </a:r>
            <a:endParaRPr lang="en-US" altLang="zh-CN" sz="2000" b="1" dirty="0"/>
          </a:p>
          <a:p>
            <a:r>
              <a:rPr lang="zh-CN" altLang="en-US" sz="3200" b="1" dirty="0"/>
              <a:t>信息增益计算如下：</a:t>
            </a:r>
            <a:endParaRPr lang="en-US" altLang="zh-CN" sz="3200" b="1" dirty="0"/>
          </a:p>
          <a:p>
            <a:endParaRPr lang="zh-CN" altLang="en-US" baseline="-25000" dirty="0"/>
          </a:p>
        </p:txBody>
      </p:sp>
      <p:sp>
        <p:nvSpPr>
          <p:cNvPr id="62468" name="灯片编号占位符 3"/>
          <p:cNvSpPr>
            <a:spLocks noGrp="1"/>
          </p:cNvSpPr>
          <p:nvPr>
            <p:ph type="sldNum" sz="quarter" idx="12"/>
          </p:nvPr>
        </p:nvSpPr>
        <p:spPr>
          <a:noFill/>
        </p:spPr>
        <p:txBody>
          <a:bodyPr/>
          <a:lstStyle/>
          <a:p>
            <a:fld id="{1DD470D1-C934-42CE-B780-58F000CDCE62}" type="slidenum">
              <a:rPr lang="en-US" altLang="zh-CN" smtClean="0">
                <a:ea typeface="黑体" pitchFamily="49" charset="-122"/>
              </a:rPr>
              <a:pPr/>
              <a:t>85</a:t>
            </a:fld>
            <a:endParaRPr lang="en-US" altLang="zh-CN">
              <a:ea typeface="黑体" pitchFamily="49" charset="-122"/>
            </a:endParaRPr>
          </a:p>
        </p:txBody>
      </p:sp>
      <p:graphicFrame>
        <p:nvGraphicFramePr>
          <p:cNvPr id="62466" name="Object 1" descr="羊皮纸"/>
          <p:cNvGraphicFramePr>
            <a:graphicFrameLocks noChangeAspect="1"/>
          </p:cNvGraphicFramePr>
          <p:nvPr/>
        </p:nvGraphicFramePr>
        <p:xfrm>
          <a:off x="892175" y="3474867"/>
          <a:ext cx="7535863" cy="2714625"/>
        </p:xfrm>
        <a:graphic>
          <a:graphicData uri="http://schemas.openxmlformats.org/presentationml/2006/ole">
            <mc:AlternateContent xmlns:mc="http://schemas.openxmlformats.org/markup-compatibility/2006">
              <mc:Choice xmlns:v="urn:schemas-microsoft-com:vml" Requires="v">
                <p:oleObj name="公式" r:id="rId2" imgW="3263760" imgH="1193760" progId="Equation.3">
                  <p:embed/>
                </p:oleObj>
              </mc:Choice>
              <mc:Fallback>
                <p:oleObj name="公式" r:id="rId2" imgW="3263760" imgH="1193760" progId="Equation.3">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2175" y="3474867"/>
                        <a:ext cx="7535863" cy="2714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dirty="0"/>
              <a:t>决策树的生成</a:t>
            </a:r>
          </a:p>
        </p:txBody>
      </p:sp>
      <p:sp>
        <p:nvSpPr>
          <p:cNvPr id="112643" name="内容占位符 2"/>
          <p:cNvSpPr>
            <a:spLocks noGrp="1"/>
          </p:cNvSpPr>
          <p:nvPr>
            <p:ph idx="1"/>
          </p:nvPr>
        </p:nvSpPr>
        <p:spPr>
          <a:xfrm>
            <a:off x="914400" y="1828800"/>
            <a:ext cx="7772400" cy="4191000"/>
          </a:xfrm>
        </p:spPr>
        <p:txBody>
          <a:bodyPr>
            <a:normAutofit/>
          </a:bodyPr>
          <a:lstStyle/>
          <a:p>
            <a:r>
              <a:rPr lang="zh-CN" altLang="en-US" sz="3200" b="1" dirty="0"/>
              <a:t>两个常用的算法</a:t>
            </a:r>
            <a:endParaRPr lang="en-US" altLang="zh-CN" sz="3200" b="1" dirty="0"/>
          </a:p>
          <a:p>
            <a:endParaRPr lang="en-US" altLang="zh-CN" sz="2800" b="1" dirty="0"/>
          </a:p>
          <a:p>
            <a:r>
              <a:rPr lang="en-US" altLang="zh-CN" sz="3200" b="1" dirty="0"/>
              <a:t>ID3</a:t>
            </a:r>
            <a:r>
              <a:rPr lang="zh-CN" altLang="en-US" sz="3200" b="1" dirty="0"/>
              <a:t> </a:t>
            </a:r>
            <a:r>
              <a:rPr lang="en-US" altLang="zh-CN" sz="3200" b="1" dirty="0"/>
              <a:t>(Iterative </a:t>
            </a:r>
            <a:r>
              <a:rPr lang="en-US" altLang="zh-CN" sz="3200" b="1" dirty="0" err="1"/>
              <a:t>Dichotomiser</a:t>
            </a:r>
            <a:r>
              <a:rPr lang="en-US" altLang="zh-CN" sz="3200" b="1" dirty="0"/>
              <a:t> 3)</a:t>
            </a:r>
            <a:r>
              <a:rPr lang="zh-CN" altLang="en-US" sz="3200" b="1" dirty="0"/>
              <a:t> </a:t>
            </a:r>
            <a:endParaRPr lang="en-US" altLang="zh-CN" sz="3200" b="1" dirty="0"/>
          </a:p>
          <a:p>
            <a:pPr lvl="1"/>
            <a:r>
              <a:rPr lang="zh-CN" altLang="en-US" sz="2800" b="1" dirty="0"/>
              <a:t>一个基本的决策树生成算法</a:t>
            </a:r>
            <a:endParaRPr lang="en-US" altLang="zh-CN" sz="2800" b="1" dirty="0"/>
          </a:p>
          <a:p>
            <a:r>
              <a:rPr lang="en-US" altLang="zh-CN" sz="3200" b="1" dirty="0"/>
              <a:t>C4.5</a:t>
            </a:r>
          </a:p>
          <a:p>
            <a:pPr lvl="1"/>
            <a:r>
              <a:rPr lang="zh-CN" altLang="en-US" sz="2800" b="1" dirty="0"/>
              <a:t>对</a:t>
            </a:r>
            <a:r>
              <a:rPr lang="en-US" altLang="zh-CN" sz="2800" b="1" dirty="0"/>
              <a:t>ID3</a:t>
            </a:r>
            <a:r>
              <a:rPr lang="zh-CN" altLang="en-US" sz="2800" b="1" dirty="0"/>
              <a:t>的改进</a:t>
            </a:r>
            <a:endParaRPr lang="en-US" altLang="zh-CN" sz="2800" b="1" dirty="0"/>
          </a:p>
        </p:txBody>
      </p:sp>
      <p:sp>
        <p:nvSpPr>
          <p:cNvPr id="112644" name="灯片编号占位符 3"/>
          <p:cNvSpPr>
            <a:spLocks noGrp="1"/>
          </p:cNvSpPr>
          <p:nvPr>
            <p:ph type="sldNum" sz="quarter" idx="12"/>
          </p:nvPr>
        </p:nvSpPr>
        <p:spPr>
          <a:noFill/>
        </p:spPr>
        <p:txBody>
          <a:bodyPr/>
          <a:lstStyle/>
          <a:p>
            <a:fld id="{492BC4AD-D109-4007-9CC8-5CD9999DF320}" type="slidenum">
              <a:rPr lang="en-US" altLang="zh-CN" smtClean="0">
                <a:ea typeface="黑体" pitchFamily="49" charset="-122"/>
              </a:rPr>
              <a:pPr/>
              <a:t>86</a:t>
            </a:fld>
            <a:endParaRPr lang="en-US" altLang="zh-CN">
              <a:ea typeface="黑体" pitchFamily="49" charset="-122"/>
            </a:endParaRPr>
          </a:p>
        </p:txBody>
      </p:sp>
      <p:grpSp>
        <p:nvGrpSpPr>
          <p:cNvPr id="6" name="Group 5">
            <a:extLst>
              <a:ext uri="{FF2B5EF4-FFF2-40B4-BE49-F238E27FC236}">
                <a16:creationId xmlns:a16="http://schemas.microsoft.com/office/drawing/2014/main" id="{0E6DAC0C-96CA-AD4C-9043-3183E9BC7C99}"/>
              </a:ext>
            </a:extLst>
          </p:cNvPr>
          <p:cNvGrpSpPr/>
          <p:nvPr/>
        </p:nvGrpSpPr>
        <p:grpSpPr>
          <a:xfrm>
            <a:off x="4870383" y="2310064"/>
            <a:ext cx="2377440" cy="683393"/>
            <a:chOff x="4870383" y="2310064"/>
            <a:chExt cx="2377440" cy="683393"/>
          </a:xfrm>
        </p:grpSpPr>
        <p:sp>
          <p:nvSpPr>
            <p:cNvPr id="3" name="TextBox 2">
              <a:extLst>
                <a:ext uri="{FF2B5EF4-FFF2-40B4-BE49-F238E27FC236}">
                  <a16:creationId xmlns:a16="http://schemas.microsoft.com/office/drawing/2014/main" id="{75060A2F-4F9C-1C40-9D87-C10070B74E57}"/>
                </a:ext>
              </a:extLst>
            </p:cNvPr>
            <p:cNvSpPr txBox="1"/>
            <p:nvPr/>
          </p:nvSpPr>
          <p:spPr>
            <a:xfrm>
              <a:off x="5573028" y="2310064"/>
              <a:ext cx="1674795" cy="369332"/>
            </a:xfrm>
            <a:prstGeom prst="rect">
              <a:avLst/>
            </a:prstGeom>
            <a:noFill/>
          </p:spPr>
          <p:txBody>
            <a:bodyPr wrap="square" rtlCol="0">
              <a:spAutoFit/>
            </a:bodyPr>
            <a:lstStyle/>
            <a:p>
              <a:r>
                <a:rPr lang="en-US" dirty="0" err="1">
                  <a:solidFill>
                    <a:srgbClr val="FF0000"/>
                  </a:solidFill>
                </a:rPr>
                <a:t>一分为二</a:t>
              </a:r>
              <a:endParaRPr lang="en-US" dirty="0">
                <a:solidFill>
                  <a:srgbClr val="FF0000"/>
                </a:solidFill>
              </a:endParaRPr>
            </a:p>
          </p:txBody>
        </p:sp>
        <p:cxnSp>
          <p:nvCxnSpPr>
            <p:cNvPr id="5" name="Straight Arrow Connector 4">
              <a:extLst>
                <a:ext uri="{FF2B5EF4-FFF2-40B4-BE49-F238E27FC236}">
                  <a16:creationId xmlns:a16="http://schemas.microsoft.com/office/drawing/2014/main" id="{48A8A5EB-51FE-4DA8-CCD1-1C6A3C6D9FE9}"/>
                </a:ext>
              </a:extLst>
            </p:cNvPr>
            <p:cNvCxnSpPr/>
            <p:nvPr/>
          </p:nvCxnSpPr>
          <p:spPr>
            <a:xfrm flipH="1">
              <a:off x="4870383" y="2483318"/>
              <a:ext cx="644893" cy="510139"/>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en-US" altLang="zh-CN" dirty="0"/>
              <a:t>ID3</a:t>
            </a:r>
            <a:r>
              <a:rPr lang="zh-CN" altLang="en-US" dirty="0"/>
              <a:t>算法</a:t>
            </a:r>
          </a:p>
        </p:txBody>
      </p:sp>
      <mc:AlternateContent xmlns:mc="http://schemas.openxmlformats.org/markup-compatibility/2006" xmlns:a14="http://schemas.microsoft.com/office/drawing/2010/main">
        <mc:Choice Requires="a14">
          <p:sp>
            <p:nvSpPr>
              <p:cNvPr id="113667" name="内容占位符 2"/>
              <p:cNvSpPr>
                <a:spLocks noGrp="1"/>
              </p:cNvSpPr>
              <p:nvPr>
                <p:ph idx="1"/>
              </p:nvPr>
            </p:nvSpPr>
            <p:spPr>
              <a:xfrm>
                <a:off x="685799" y="1655379"/>
                <a:ext cx="8269015" cy="4440621"/>
              </a:xfrm>
            </p:spPr>
            <p:txBody>
              <a:bodyPr>
                <a:noAutofit/>
              </a:bodyPr>
              <a:lstStyle/>
              <a:p>
                <a:r>
                  <a:rPr lang="zh-CN" altLang="en-US" b="1" dirty="0"/>
                  <a:t>输入：训练集</a:t>
                </a:r>
                <a:r>
                  <a:rPr lang="en-US" altLang="zh-CN" b="1" dirty="0"/>
                  <a:t>D</a:t>
                </a:r>
                <a:r>
                  <a:rPr lang="zh-CN" altLang="en-US" b="1" dirty="0"/>
                  <a:t>，特征集</a:t>
                </a:r>
                <a:r>
                  <a:rPr lang="en-US" altLang="zh-CN" b="1" dirty="0"/>
                  <a:t>A</a:t>
                </a:r>
                <a:r>
                  <a:rPr lang="zh-CN" altLang="en-US" b="1" dirty="0"/>
                  <a:t>，阈值</a:t>
                </a:r>
                <a14:m>
                  <m:oMath xmlns:m="http://schemas.openxmlformats.org/officeDocument/2006/math">
                    <m:r>
                      <a:rPr lang="en-US" altLang="zh-CN" b="1" i="1" smtClean="0">
                        <a:latin typeface="Cambria Math" panose="02040503050406030204" pitchFamily="18" charset="0"/>
                      </a:rPr>
                      <m:t>𝜀</m:t>
                    </m:r>
                    <m:r>
                      <a:rPr lang="en-US" altLang="zh-CN" b="1" i="1" smtClean="0">
                        <a:latin typeface="Cambria Math" panose="02040503050406030204" pitchFamily="18" charset="0"/>
                      </a:rPr>
                      <m:t>&gt;</m:t>
                    </m:r>
                    <m:r>
                      <a:rPr lang="en-US" altLang="zh-CN" b="1" i="1" smtClean="0">
                        <a:latin typeface="Cambria Math" panose="02040503050406030204" pitchFamily="18" charset="0"/>
                      </a:rPr>
                      <m:t>𝟎</m:t>
                    </m:r>
                  </m:oMath>
                </a14:m>
                <a:endParaRPr lang="en-US" altLang="zh-CN" b="1" dirty="0"/>
              </a:p>
              <a:p>
                <a:r>
                  <a:rPr lang="zh-CN" altLang="en-US" b="1" dirty="0"/>
                  <a:t>输出：决策树</a:t>
                </a:r>
                <a:r>
                  <a:rPr lang="en-US" altLang="zh-CN" b="1" dirty="0"/>
                  <a:t>T</a:t>
                </a:r>
              </a:p>
              <a:p>
                <a:r>
                  <a:rPr lang="en-US" altLang="zh-CN" b="1" dirty="0"/>
                  <a:t>1</a:t>
                </a:r>
                <a:r>
                  <a:rPr lang="zh-CN" altLang="en-US" b="1" dirty="0"/>
                  <a:t>，若</a:t>
                </a:r>
                <a:r>
                  <a:rPr lang="en-US" altLang="zh-CN" b="1" dirty="0"/>
                  <a:t>D</a:t>
                </a:r>
                <a:r>
                  <a:rPr lang="zh-CN" altLang="en-US" b="1" dirty="0"/>
                  <a:t>中所有实例属于同一类</a:t>
                </a:r>
                <a:r>
                  <a:rPr lang="en-US" altLang="zh-CN" b="1" dirty="0"/>
                  <a:t>C</a:t>
                </a:r>
                <a:r>
                  <a:rPr lang="en-US" altLang="zh-CN" b="1" baseline="-25000" dirty="0"/>
                  <a:t>k</a:t>
                </a:r>
                <a:r>
                  <a:rPr lang="zh-CN" altLang="en-US" b="1" dirty="0"/>
                  <a:t>，则</a:t>
                </a:r>
                <a:r>
                  <a:rPr lang="en-US" altLang="zh-CN" b="1" dirty="0"/>
                  <a:t>T</a:t>
                </a:r>
                <a:r>
                  <a:rPr lang="zh-CN" altLang="en-US" b="1" dirty="0"/>
                  <a:t>为单节点树，将</a:t>
                </a:r>
                <a:r>
                  <a:rPr lang="en-US" altLang="zh-CN" b="1" dirty="0"/>
                  <a:t>C</a:t>
                </a:r>
                <a:r>
                  <a:rPr lang="en-US" altLang="zh-CN" b="1" baseline="-25000" dirty="0"/>
                  <a:t>k</a:t>
                </a:r>
                <a:r>
                  <a:rPr lang="zh-CN" altLang="en-US" b="1" dirty="0"/>
                  <a:t>作为该节点的类标记，返回</a:t>
                </a:r>
                <a:r>
                  <a:rPr lang="en-US" altLang="zh-CN" b="1" dirty="0"/>
                  <a:t>T</a:t>
                </a:r>
              </a:p>
              <a:p>
                <a:r>
                  <a:rPr lang="en-US" altLang="zh-CN" b="1" dirty="0"/>
                  <a:t>2</a:t>
                </a:r>
                <a:r>
                  <a:rPr lang="zh-CN" altLang="en-US" b="1" dirty="0"/>
                  <a:t>，若</a:t>
                </a:r>
                <a:r>
                  <a:rPr lang="en-US" altLang="zh-CN" b="1" dirty="0"/>
                  <a:t>A</a:t>
                </a:r>
                <a:r>
                  <a:rPr lang="zh-CN" altLang="en-US" b="1" dirty="0"/>
                  <a:t>为空，则</a:t>
                </a:r>
                <a:r>
                  <a:rPr lang="en-US" altLang="zh-CN" b="1" dirty="0"/>
                  <a:t>T</a:t>
                </a:r>
                <a:r>
                  <a:rPr lang="zh-CN" altLang="en-US" b="1" dirty="0"/>
                  <a:t>为单节点树，将</a:t>
                </a:r>
                <a:r>
                  <a:rPr lang="en-US" altLang="zh-CN" b="1" dirty="0"/>
                  <a:t>D</a:t>
                </a:r>
                <a:r>
                  <a:rPr lang="zh-CN" altLang="en-US" b="1" dirty="0"/>
                  <a:t>中实例数最多的类</a:t>
                </a:r>
                <a:r>
                  <a:rPr lang="en-US" altLang="zh-CN" b="1" dirty="0"/>
                  <a:t>C</a:t>
                </a:r>
                <a:r>
                  <a:rPr lang="en-US" altLang="zh-CN" b="1" baseline="-25000" dirty="0"/>
                  <a:t>k</a:t>
                </a:r>
                <a:r>
                  <a:rPr lang="zh-CN" altLang="en-US" b="1" dirty="0"/>
                  <a:t>作为该节点的类标记，返回</a:t>
                </a:r>
                <a:r>
                  <a:rPr lang="en-US" altLang="zh-CN" b="1" dirty="0"/>
                  <a:t>T</a:t>
                </a:r>
              </a:p>
              <a:p>
                <a:r>
                  <a:rPr lang="en-US" altLang="zh-CN" b="1" dirty="0"/>
                  <a:t>3</a:t>
                </a:r>
                <a:r>
                  <a:rPr lang="zh-CN" altLang="en-US" b="1" dirty="0"/>
                  <a:t>，否则计算</a:t>
                </a:r>
                <a:r>
                  <a:rPr lang="en-US" altLang="zh-CN" b="1" dirty="0"/>
                  <a:t>A</a:t>
                </a:r>
                <a:r>
                  <a:rPr lang="zh-CN" altLang="en-US" b="1" dirty="0"/>
                  <a:t>中各特征对</a:t>
                </a:r>
                <a:r>
                  <a:rPr lang="en-US" altLang="zh-CN" b="1" dirty="0"/>
                  <a:t>D</a:t>
                </a:r>
                <a:r>
                  <a:rPr lang="zh-CN" altLang="en-US" b="1" dirty="0"/>
                  <a:t>的信息增益，选择信增益息最大的特征</a:t>
                </a:r>
                <a:r>
                  <a:rPr lang="en-US" altLang="zh-CN" b="1" dirty="0"/>
                  <a:t>A</a:t>
                </a:r>
                <a:r>
                  <a:rPr lang="en-US" altLang="zh-CN" b="1" baseline="-25000" dirty="0"/>
                  <a:t>g</a:t>
                </a:r>
              </a:p>
              <a:p>
                <a:r>
                  <a:rPr lang="en-US" altLang="zh-CN" b="1" dirty="0"/>
                  <a:t>4</a:t>
                </a:r>
                <a:r>
                  <a:rPr lang="zh-CN" altLang="en-US" b="1" dirty="0"/>
                  <a:t>，如果</a:t>
                </a:r>
                <a:r>
                  <a:rPr lang="en-US" altLang="zh-CN" b="1" dirty="0"/>
                  <a:t>A</a:t>
                </a:r>
                <a:r>
                  <a:rPr lang="en-US" altLang="zh-CN" b="1" baseline="-25000" dirty="0"/>
                  <a:t>g</a:t>
                </a:r>
                <a:r>
                  <a:rPr lang="zh-CN" altLang="en-US" b="1" dirty="0"/>
                  <a:t>的信息增益小于阈值</a:t>
                </a:r>
                <a14:m>
                  <m:oMath xmlns:m="http://schemas.openxmlformats.org/officeDocument/2006/math">
                    <m:r>
                      <a:rPr lang="en-US" altLang="zh-CN" b="1" i="1">
                        <a:latin typeface="Cambria Math" panose="02040503050406030204" pitchFamily="18" charset="0"/>
                      </a:rPr>
                      <m:t>𝜀</m:t>
                    </m:r>
                  </m:oMath>
                </a14:m>
                <a:r>
                  <a:rPr lang="zh-CN" altLang="en-US" b="1" dirty="0"/>
                  <a:t>，则置</a:t>
                </a:r>
                <a:r>
                  <a:rPr lang="en-US" altLang="zh-CN" b="1" dirty="0"/>
                  <a:t>T</a:t>
                </a:r>
                <a:r>
                  <a:rPr lang="zh-CN" altLang="en-US" b="1" dirty="0"/>
                  <a:t>为单节点树，将</a:t>
                </a:r>
                <a:r>
                  <a:rPr lang="en-US" altLang="zh-CN" b="1" dirty="0"/>
                  <a:t>D</a:t>
                </a:r>
                <a:r>
                  <a:rPr lang="zh-CN" altLang="en-US" b="1" dirty="0"/>
                  <a:t>中实例数最大的类</a:t>
                </a:r>
                <a:r>
                  <a:rPr lang="en-US" altLang="zh-CN" b="1" dirty="0"/>
                  <a:t>C</a:t>
                </a:r>
                <a:r>
                  <a:rPr lang="en-US" altLang="zh-CN" b="1" baseline="-25000" dirty="0"/>
                  <a:t>k</a:t>
                </a:r>
                <a:r>
                  <a:rPr lang="zh-CN" altLang="en-US" b="1" dirty="0"/>
                  <a:t>作为该节点的类标记，返回</a:t>
                </a:r>
                <a:r>
                  <a:rPr lang="en-US" altLang="zh-CN" b="1" dirty="0"/>
                  <a:t>T</a:t>
                </a:r>
                <a:endParaRPr lang="zh-CN" altLang="en-US" b="1" dirty="0"/>
              </a:p>
            </p:txBody>
          </p:sp>
        </mc:Choice>
        <mc:Fallback xmlns="">
          <p:sp>
            <p:nvSpPr>
              <p:cNvPr id="113667" name="内容占位符 2"/>
              <p:cNvSpPr>
                <a:spLocks noGrp="1" noRot="1" noChangeAspect="1" noMove="1" noResize="1" noEditPoints="1" noAdjustHandles="1" noChangeArrowheads="1" noChangeShapeType="1" noTextEdit="1"/>
              </p:cNvSpPr>
              <p:nvPr>
                <p:ph idx="1"/>
              </p:nvPr>
            </p:nvSpPr>
            <p:spPr>
              <a:xfrm>
                <a:off x="685799" y="1655379"/>
                <a:ext cx="8269015" cy="4440621"/>
              </a:xfrm>
              <a:blipFill>
                <a:blip r:embed="rId2"/>
                <a:stretch>
                  <a:fillRect t="-2564" r="-5360" b="-11966"/>
                </a:stretch>
              </a:blipFill>
            </p:spPr>
            <p:txBody>
              <a:bodyPr/>
              <a:lstStyle/>
              <a:p>
                <a:r>
                  <a:rPr lang="zh-CN" altLang="en-US">
                    <a:noFill/>
                  </a:rPr>
                  <a:t> </a:t>
                </a:r>
              </a:p>
            </p:txBody>
          </p:sp>
        </mc:Fallback>
      </mc:AlternateContent>
      <p:sp>
        <p:nvSpPr>
          <p:cNvPr id="113668" name="灯片编号占位符 3"/>
          <p:cNvSpPr>
            <a:spLocks noGrp="1"/>
          </p:cNvSpPr>
          <p:nvPr>
            <p:ph type="sldNum" sz="quarter" idx="12"/>
          </p:nvPr>
        </p:nvSpPr>
        <p:spPr>
          <a:noFill/>
        </p:spPr>
        <p:txBody>
          <a:bodyPr/>
          <a:lstStyle/>
          <a:p>
            <a:fld id="{4B3868FD-877C-4777-A301-AF2354B4D152}" type="slidenum">
              <a:rPr lang="en-US" altLang="zh-CN" smtClean="0">
                <a:ea typeface="黑体" pitchFamily="49" charset="-122"/>
              </a:rPr>
              <a:pPr/>
              <a:t>87</a:t>
            </a:fld>
            <a:endParaRPr lang="en-US" altLang="zh-CN">
              <a:ea typeface="黑体" pitchFamily="49" charset="-122"/>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1" name="内容占位符 2"/>
          <p:cNvSpPr>
            <a:spLocks noGrp="1"/>
          </p:cNvSpPr>
          <p:nvPr>
            <p:ph idx="1"/>
          </p:nvPr>
        </p:nvSpPr>
        <p:spPr/>
        <p:txBody>
          <a:bodyPr>
            <a:normAutofit/>
          </a:bodyPr>
          <a:lstStyle/>
          <a:p>
            <a:r>
              <a:rPr lang="en-US" altLang="zh-CN" b="1" dirty="0"/>
              <a:t>5</a:t>
            </a:r>
            <a:r>
              <a:rPr lang="zh-CN" altLang="en-US" b="1" dirty="0"/>
              <a:t>，否则对</a:t>
            </a:r>
            <a:r>
              <a:rPr lang="en-US" altLang="zh-CN" b="1" dirty="0"/>
              <a:t>A</a:t>
            </a:r>
            <a:r>
              <a:rPr lang="en-US" altLang="zh-CN" b="1" baseline="-25000" dirty="0"/>
              <a:t>g</a:t>
            </a:r>
            <a:r>
              <a:rPr lang="zh-CN" altLang="en-US" b="1" dirty="0"/>
              <a:t>的每一可能值</a:t>
            </a:r>
            <a:r>
              <a:rPr lang="en-US" altLang="zh-CN" b="1" dirty="0" err="1"/>
              <a:t>a</a:t>
            </a:r>
            <a:r>
              <a:rPr lang="en-US" altLang="zh-CN" b="1" baseline="-25000" dirty="0" err="1"/>
              <a:t>i</a:t>
            </a:r>
            <a:r>
              <a:rPr lang="zh-CN" altLang="en-US" b="1" dirty="0"/>
              <a:t>，依</a:t>
            </a:r>
            <a:r>
              <a:rPr lang="en-US" altLang="zh-CN" b="1" dirty="0"/>
              <a:t>A</a:t>
            </a:r>
            <a:r>
              <a:rPr lang="en-US" altLang="zh-CN" b="1" baseline="-25000" dirty="0"/>
              <a:t>g</a:t>
            </a:r>
            <a:r>
              <a:rPr lang="en-US" altLang="zh-CN" b="1" dirty="0"/>
              <a:t>=</a:t>
            </a:r>
            <a:r>
              <a:rPr lang="en-US" altLang="zh-CN" b="1" dirty="0" err="1"/>
              <a:t>a</a:t>
            </a:r>
            <a:r>
              <a:rPr lang="en-US" altLang="zh-CN" b="1" baseline="-25000" dirty="0" err="1"/>
              <a:t>i</a:t>
            </a:r>
            <a:r>
              <a:rPr lang="zh-CN" altLang="en-US" b="1" dirty="0"/>
              <a:t>将</a:t>
            </a:r>
            <a:r>
              <a:rPr lang="en-US" altLang="zh-CN" b="1" dirty="0"/>
              <a:t>D</a:t>
            </a:r>
            <a:r>
              <a:rPr lang="zh-CN" altLang="en-US" b="1" dirty="0"/>
              <a:t>分割为若干子集</a:t>
            </a:r>
            <a:r>
              <a:rPr lang="en-US" altLang="zh-CN" b="1" dirty="0"/>
              <a:t>D</a:t>
            </a:r>
            <a:r>
              <a:rPr lang="en-US" altLang="zh-CN" b="1" baseline="-25000" dirty="0"/>
              <a:t>i</a:t>
            </a:r>
            <a:r>
              <a:rPr lang="zh-CN" altLang="en-US" b="1" dirty="0"/>
              <a:t>，作为</a:t>
            </a:r>
            <a:r>
              <a:rPr lang="en-US" altLang="zh-CN" b="1" dirty="0"/>
              <a:t>D</a:t>
            </a:r>
            <a:r>
              <a:rPr lang="zh-CN" altLang="en-US" b="1" dirty="0"/>
              <a:t>的子节点</a:t>
            </a:r>
            <a:endParaRPr lang="en-US" altLang="zh-CN" b="1" dirty="0"/>
          </a:p>
          <a:p>
            <a:r>
              <a:rPr lang="en-US" altLang="zh-CN" b="1" dirty="0"/>
              <a:t>6</a:t>
            </a:r>
            <a:r>
              <a:rPr lang="zh-CN" altLang="en-US" b="1" dirty="0"/>
              <a:t>，对于</a:t>
            </a:r>
            <a:r>
              <a:rPr lang="en-US" altLang="zh-CN" b="1" dirty="0"/>
              <a:t>D</a:t>
            </a:r>
            <a:r>
              <a:rPr lang="zh-CN" altLang="en-US" b="1" dirty="0"/>
              <a:t>的每个子节点</a:t>
            </a:r>
            <a:r>
              <a:rPr lang="en-US" altLang="zh-CN" b="1" dirty="0"/>
              <a:t>D</a:t>
            </a:r>
            <a:r>
              <a:rPr lang="en-US" altLang="zh-CN" b="1" baseline="-25000" dirty="0"/>
              <a:t>i</a:t>
            </a:r>
            <a:r>
              <a:rPr lang="zh-CN" altLang="en-US" b="1" dirty="0"/>
              <a:t>，如果</a:t>
            </a:r>
            <a:r>
              <a:rPr lang="en-US" altLang="zh-CN" b="1" dirty="0"/>
              <a:t>D</a:t>
            </a:r>
            <a:r>
              <a:rPr lang="en-US" altLang="zh-CN" b="1" baseline="-25000" dirty="0"/>
              <a:t>i</a:t>
            </a:r>
            <a:r>
              <a:rPr lang="zh-CN" altLang="en-US" b="1" dirty="0"/>
              <a:t>为空，则将</a:t>
            </a:r>
            <a:r>
              <a:rPr lang="en-US" altLang="zh-CN" b="1" dirty="0"/>
              <a:t>D</a:t>
            </a:r>
            <a:r>
              <a:rPr lang="zh-CN" altLang="en-US" b="1" dirty="0"/>
              <a:t>中实例最多的类作为标记，构建子节点</a:t>
            </a:r>
            <a:endParaRPr lang="en-US" altLang="zh-CN" b="1" dirty="0"/>
          </a:p>
          <a:p>
            <a:r>
              <a:rPr lang="en-US" altLang="zh-CN" b="1" dirty="0"/>
              <a:t>7</a:t>
            </a:r>
            <a:r>
              <a:rPr lang="zh-CN" altLang="en-US" b="1" dirty="0"/>
              <a:t>，否则以</a:t>
            </a:r>
            <a:r>
              <a:rPr lang="en-US" altLang="zh-CN" b="1" dirty="0"/>
              <a:t>D</a:t>
            </a:r>
            <a:r>
              <a:rPr lang="en-US" altLang="zh-CN" b="1" baseline="-25000" dirty="0"/>
              <a:t>i</a:t>
            </a:r>
            <a:r>
              <a:rPr lang="zh-CN" altLang="en-US" b="1" dirty="0"/>
              <a:t>为训练集，以</a:t>
            </a:r>
            <a:r>
              <a:rPr lang="en-US" altLang="zh-CN" b="1" dirty="0"/>
              <a:t>A-{A</a:t>
            </a:r>
            <a:r>
              <a:rPr lang="en-US" altLang="zh-CN" b="1" baseline="-25000" dirty="0"/>
              <a:t>g</a:t>
            </a:r>
            <a:r>
              <a:rPr lang="en-US" altLang="zh-CN" b="1" dirty="0"/>
              <a:t>}</a:t>
            </a:r>
            <a:r>
              <a:rPr lang="zh-CN" altLang="en-US" b="1" dirty="0"/>
              <a:t>为特征集，递归地调用步</a:t>
            </a:r>
            <a:r>
              <a:rPr lang="en-US" altLang="zh-CN" b="1" dirty="0"/>
              <a:t>1~</a:t>
            </a:r>
            <a:r>
              <a:rPr lang="zh-CN" altLang="en-US" b="1" dirty="0"/>
              <a:t>步</a:t>
            </a:r>
            <a:r>
              <a:rPr lang="en-US" altLang="zh-CN" b="1" dirty="0"/>
              <a:t>6</a:t>
            </a:r>
            <a:r>
              <a:rPr lang="zh-CN" altLang="en-US" b="1" dirty="0"/>
              <a:t>，得到子树</a:t>
            </a:r>
            <a:r>
              <a:rPr lang="en-US" altLang="zh-CN" b="1" dirty="0"/>
              <a:t>T</a:t>
            </a:r>
            <a:r>
              <a:rPr lang="en-US" altLang="zh-CN" b="1" baseline="-25000" dirty="0"/>
              <a:t>i</a:t>
            </a:r>
            <a:r>
              <a:rPr lang="zh-CN" altLang="en-US" b="1" dirty="0"/>
              <a:t>，返回</a:t>
            </a:r>
            <a:r>
              <a:rPr lang="en-US" altLang="zh-CN" b="1" dirty="0"/>
              <a:t>T</a:t>
            </a:r>
            <a:r>
              <a:rPr lang="en-US" altLang="zh-CN" b="1" baseline="-25000" dirty="0"/>
              <a:t>i</a:t>
            </a:r>
            <a:endParaRPr lang="en-US" altLang="zh-CN" b="1" dirty="0"/>
          </a:p>
          <a:p>
            <a:endParaRPr lang="zh-CN" altLang="en-US" b="1" baseline="-25000" dirty="0"/>
          </a:p>
        </p:txBody>
      </p:sp>
      <p:sp>
        <p:nvSpPr>
          <p:cNvPr id="114692" name="灯片编号占位符 3"/>
          <p:cNvSpPr>
            <a:spLocks noGrp="1"/>
          </p:cNvSpPr>
          <p:nvPr>
            <p:ph type="sldNum" sz="quarter" idx="12"/>
          </p:nvPr>
        </p:nvSpPr>
        <p:spPr>
          <a:noFill/>
        </p:spPr>
        <p:txBody>
          <a:bodyPr/>
          <a:lstStyle/>
          <a:p>
            <a:fld id="{BF6AC9C6-7B64-4707-B9DC-D41948C49379}" type="slidenum">
              <a:rPr lang="en-US" altLang="zh-CN" smtClean="0">
                <a:ea typeface="黑体" pitchFamily="49" charset="-122"/>
              </a:rPr>
              <a:pPr/>
              <a:t>88</a:t>
            </a:fld>
            <a:endParaRPr lang="en-US" altLang="zh-CN">
              <a:ea typeface="黑体" pitchFamily="49" charset="-122"/>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endParaRPr lang="zh-CN" altLang="en-US"/>
          </a:p>
        </p:txBody>
      </p:sp>
      <p:sp>
        <p:nvSpPr>
          <p:cNvPr id="115715" name="内容占位符 2"/>
          <p:cNvSpPr>
            <a:spLocks noGrp="1"/>
          </p:cNvSpPr>
          <p:nvPr>
            <p:ph idx="1"/>
          </p:nvPr>
        </p:nvSpPr>
        <p:spPr/>
        <p:txBody>
          <a:bodyPr>
            <a:normAutofit/>
          </a:bodyPr>
          <a:lstStyle/>
          <a:p>
            <a:r>
              <a:rPr lang="zh-CN" altLang="en-US" sz="3200" b="1" dirty="0"/>
              <a:t>例：贷款申请样本如下表所示，试用</a:t>
            </a:r>
            <a:r>
              <a:rPr lang="en-US" altLang="zh-CN" sz="3200" b="1" dirty="0"/>
              <a:t>ID3</a:t>
            </a:r>
            <a:r>
              <a:rPr lang="zh-CN" altLang="en-US" sz="3200" b="1" dirty="0"/>
              <a:t>算法构建决策树。</a:t>
            </a:r>
          </a:p>
        </p:txBody>
      </p:sp>
      <p:sp>
        <p:nvSpPr>
          <p:cNvPr id="115716" name="灯片编号占位符 3"/>
          <p:cNvSpPr>
            <a:spLocks noGrp="1"/>
          </p:cNvSpPr>
          <p:nvPr>
            <p:ph type="sldNum" sz="quarter" idx="12"/>
          </p:nvPr>
        </p:nvSpPr>
        <p:spPr>
          <a:noFill/>
        </p:spPr>
        <p:txBody>
          <a:bodyPr/>
          <a:lstStyle/>
          <a:p>
            <a:fld id="{7067FA86-DFAD-470F-A47C-CD09FA3364ED}" type="slidenum">
              <a:rPr lang="en-US" altLang="zh-CN" smtClean="0">
                <a:ea typeface="黑体" pitchFamily="49" charset="-122"/>
              </a:rPr>
              <a:pPr/>
              <a:t>89</a:t>
            </a:fld>
            <a:endParaRPr lang="en-US" altLang="zh-CN">
              <a:ea typeface="黑体" pitchFamily="49" charset="-122"/>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灯片编号占位符 3"/>
          <p:cNvSpPr>
            <a:spLocks noGrp="1"/>
          </p:cNvSpPr>
          <p:nvPr>
            <p:ph type="sldNum" sz="quarter" idx="12"/>
          </p:nvPr>
        </p:nvSpPr>
        <p:spPr>
          <a:noFill/>
        </p:spPr>
        <p:txBody>
          <a:bodyPr/>
          <a:lstStyle/>
          <a:p>
            <a:fld id="{818FCF74-8801-41CA-81AB-CC28E42ABA61}" type="slidenum">
              <a:rPr lang="en-US" altLang="zh-CN" smtClean="0">
                <a:ea typeface="黑体" pitchFamily="49" charset="-122"/>
              </a:rPr>
              <a:pPr/>
              <a:t>90</a:t>
            </a:fld>
            <a:endParaRPr lang="en-US" altLang="zh-CN">
              <a:ea typeface="黑体" pitchFamily="49" charset="-122"/>
            </a:endParaRPr>
          </a:p>
        </p:txBody>
      </p:sp>
      <p:graphicFrame>
        <p:nvGraphicFramePr>
          <p:cNvPr id="6" name="表格 5"/>
          <p:cNvGraphicFramePr>
            <a:graphicFrameLocks noGrp="1"/>
          </p:cNvGraphicFramePr>
          <p:nvPr/>
        </p:nvGraphicFramePr>
        <p:xfrm>
          <a:off x="347663" y="373063"/>
          <a:ext cx="8244114" cy="5996213"/>
        </p:xfrm>
        <a:graphic>
          <a:graphicData uri="http://schemas.openxmlformats.org/drawingml/2006/table">
            <a:tbl>
              <a:tblPr firstRow="1" bandRow="1">
                <a:tableStyleId>{073A0DAA-6AF3-43AB-8588-CEC1D06C72B9}</a:tableStyleId>
              </a:tblPr>
              <a:tblGrid>
                <a:gridCol w="1374019">
                  <a:extLst>
                    <a:ext uri="{9D8B030D-6E8A-4147-A177-3AD203B41FA5}">
                      <a16:colId xmlns:a16="http://schemas.microsoft.com/office/drawing/2014/main" val="20000"/>
                    </a:ext>
                  </a:extLst>
                </a:gridCol>
                <a:gridCol w="1374019">
                  <a:extLst>
                    <a:ext uri="{9D8B030D-6E8A-4147-A177-3AD203B41FA5}">
                      <a16:colId xmlns:a16="http://schemas.microsoft.com/office/drawing/2014/main" val="20001"/>
                    </a:ext>
                  </a:extLst>
                </a:gridCol>
                <a:gridCol w="1374019">
                  <a:extLst>
                    <a:ext uri="{9D8B030D-6E8A-4147-A177-3AD203B41FA5}">
                      <a16:colId xmlns:a16="http://schemas.microsoft.com/office/drawing/2014/main" val="20002"/>
                    </a:ext>
                  </a:extLst>
                </a:gridCol>
                <a:gridCol w="1374019">
                  <a:extLst>
                    <a:ext uri="{9D8B030D-6E8A-4147-A177-3AD203B41FA5}">
                      <a16:colId xmlns:a16="http://schemas.microsoft.com/office/drawing/2014/main" val="20003"/>
                    </a:ext>
                  </a:extLst>
                </a:gridCol>
                <a:gridCol w="1529518">
                  <a:extLst>
                    <a:ext uri="{9D8B030D-6E8A-4147-A177-3AD203B41FA5}">
                      <a16:colId xmlns:a16="http://schemas.microsoft.com/office/drawing/2014/main" val="20004"/>
                    </a:ext>
                  </a:extLst>
                </a:gridCol>
                <a:gridCol w="1218520">
                  <a:extLst>
                    <a:ext uri="{9D8B030D-6E8A-4147-A177-3AD203B41FA5}">
                      <a16:colId xmlns:a16="http://schemas.microsoft.com/office/drawing/2014/main" val="20005"/>
                    </a:ext>
                  </a:extLst>
                </a:gridCol>
              </a:tblGrid>
              <a:tr h="369479">
                <a:tc>
                  <a:txBody>
                    <a:bodyPr/>
                    <a:lstStyle/>
                    <a:p>
                      <a:r>
                        <a:rPr lang="en-US" altLang="zh-CN" dirty="0"/>
                        <a:t>ID</a:t>
                      </a:r>
                      <a:endParaRPr lang="zh-CN" altLang="en-US" dirty="0"/>
                    </a:p>
                  </a:txBody>
                  <a:tcPr/>
                </a:tc>
                <a:tc>
                  <a:txBody>
                    <a:bodyPr/>
                    <a:lstStyle/>
                    <a:p>
                      <a:r>
                        <a:rPr lang="zh-CN" altLang="en-US" dirty="0"/>
                        <a:t>年龄</a:t>
                      </a:r>
                      <a:r>
                        <a:rPr lang="en-US" altLang="zh-CN" baseline="0" dirty="0"/>
                        <a:t> A1</a:t>
                      </a:r>
                      <a:endParaRPr lang="zh-CN" altLang="en-US" dirty="0"/>
                    </a:p>
                  </a:txBody>
                  <a:tcPr/>
                </a:tc>
                <a:tc>
                  <a:txBody>
                    <a:bodyPr/>
                    <a:lstStyle/>
                    <a:p>
                      <a:r>
                        <a:rPr lang="zh-CN" altLang="en-US" dirty="0"/>
                        <a:t>有工作 </a:t>
                      </a:r>
                      <a:r>
                        <a:rPr lang="en-US" altLang="zh-CN" dirty="0"/>
                        <a:t>A2</a:t>
                      </a:r>
                      <a:endParaRPr lang="zh-CN" altLang="en-US" dirty="0"/>
                    </a:p>
                  </a:txBody>
                  <a:tcPr/>
                </a:tc>
                <a:tc>
                  <a:txBody>
                    <a:bodyPr/>
                    <a:lstStyle/>
                    <a:p>
                      <a:r>
                        <a:rPr lang="zh-CN" altLang="en-US" dirty="0"/>
                        <a:t>有房子 </a:t>
                      </a:r>
                      <a:r>
                        <a:rPr lang="en-US" altLang="zh-CN" dirty="0"/>
                        <a:t>A3</a:t>
                      </a:r>
                      <a:endParaRPr lang="zh-CN" altLang="en-US" dirty="0"/>
                    </a:p>
                  </a:txBody>
                  <a:tcPr/>
                </a:tc>
                <a:tc>
                  <a:txBody>
                    <a:bodyPr/>
                    <a:lstStyle/>
                    <a:p>
                      <a:r>
                        <a:rPr lang="zh-CN" altLang="en-US" dirty="0"/>
                        <a:t>信贷情况 </a:t>
                      </a:r>
                      <a:r>
                        <a:rPr lang="en-US" altLang="zh-CN" dirty="0"/>
                        <a:t>A4</a:t>
                      </a:r>
                      <a:endParaRPr lang="zh-CN" altLang="en-US" dirty="0"/>
                    </a:p>
                  </a:txBody>
                  <a:tcPr/>
                </a:tc>
                <a:tc>
                  <a:txBody>
                    <a:bodyPr/>
                    <a:lstStyle/>
                    <a:p>
                      <a:r>
                        <a:rPr lang="zh-CN" altLang="en-US" dirty="0"/>
                        <a:t>类别</a:t>
                      </a:r>
                    </a:p>
                  </a:txBody>
                  <a:tcPr/>
                </a:tc>
                <a:extLst>
                  <a:ext uri="{0D108BD9-81ED-4DB2-BD59-A6C34878D82A}">
                    <a16:rowId xmlns:a16="http://schemas.microsoft.com/office/drawing/2014/main" val="10000"/>
                  </a:ext>
                </a:extLst>
              </a:tr>
              <a:tr h="369479">
                <a:tc>
                  <a:txBody>
                    <a:bodyPr/>
                    <a:lstStyle/>
                    <a:p>
                      <a:r>
                        <a:rPr lang="en-US" altLang="zh-CN" dirty="0"/>
                        <a:t>1</a:t>
                      </a:r>
                      <a:endParaRPr lang="zh-CN" altLang="en-US" dirty="0"/>
                    </a:p>
                  </a:txBody>
                  <a:tcPr/>
                </a:tc>
                <a:tc>
                  <a:txBody>
                    <a:bodyPr/>
                    <a:lstStyle/>
                    <a:p>
                      <a:r>
                        <a:rPr lang="zh-CN" altLang="en-US" dirty="0"/>
                        <a:t>青年</a:t>
                      </a:r>
                    </a:p>
                  </a:txBody>
                  <a:tcPr/>
                </a:tc>
                <a:tc>
                  <a:txBody>
                    <a:bodyPr/>
                    <a:lstStyle/>
                    <a:p>
                      <a:r>
                        <a:rPr lang="zh-CN" altLang="en-US" dirty="0"/>
                        <a:t>否</a:t>
                      </a:r>
                    </a:p>
                  </a:txBody>
                  <a:tcPr/>
                </a:tc>
                <a:tc>
                  <a:txBody>
                    <a:bodyPr/>
                    <a:lstStyle/>
                    <a:p>
                      <a:r>
                        <a:rPr lang="zh-CN" altLang="en-US" dirty="0"/>
                        <a:t>否</a:t>
                      </a:r>
                    </a:p>
                  </a:txBody>
                  <a:tcPr/>
                </a:tc>
                <a:tc>
                  <a:txBody>
                    <a:bodyPr/>
                    <a:lstStyle/>
                    <a:p>
                      <a:r>
                        <a:rPr lang="zh-CN" altLang="en-US" dirty="0"/>
                        <a:t>一般</a:t>
                      </a:r>
                    </a:p>
                  </a:txBody>
                  <a:tcPr/>
                </a:tc>
                <a:tc>
                  <a:txBody>
                    <a:bodyPr/>
                    <a:lstStyle/>
                    <a:p>
                      <a:r>
                        <a:rPr lang="zh-CN" altLang="en-US" dirty="0"/>
                        <a:t>否</a:t>
                      </a:r>
                    </a:p>
                  </a:txBody>
                  <a:tcPr/>
                </a:tc>
                <a:extLst>
                  <a:ext uri="{0D108BD9-81ED-4DB2-BD59-A6C34878D82A}">
                    <a16:rowId xmlns:a16="http://schemas.microsoft.com/office/drawing/2014/main" val="10001"/>
                  </a:ext>
                </a:extLst>
              </a:tr>
              <a:tr h="369479">
                <a:tc>
                  <a:txBody>
                    <a:bodyPr/>
                    <a:lstStyle/>
                    <a:p>
                      <a:r>
                        <a:rPr lang="en-US" altLang="zh-CN" dirty="0"/>
                        <a:t>2</a:t>
                      </a:r>
                      <a:endParaRPr lang="zh-CN" altLang="en-US" dirty="0"/>
                    </a:p>
                  </a:txBody>
                  <a:tcPr/>
                </a:tc>
                <a:tc>
                  <a:txBody>
                    <a:bodyPr/>
                    <a:lstStyle/>
                    <a:p>
                      <a:r>
                        <a:rPr lang="zh-CN" altLang="en-US" dirty="0"/>
                        <a:t>青年</a:t>
                      </a:r>
                    </a:p>
                  </a:txBody>
                  <a:tcPr/>
                </a:tc>
                <a:tc>
                  <a:txBody>
                    <a:bodyPr/>
                    <a:lstStyle/>
                    <a:p>
                      <a:r>
                        <a:rPr lang="zh-CN" altLang="en-US" dirty="0"/>
                        <a:t>否</a:t>
                      </a:r>
                    </a:p>
                  </a:txBody>
                  <a:tcPr/>
                </a:tc>
                <a:tc>
                  <a:txBody>
                    <a:bodyPr/>
                    <a:lstStyle/>
                    <a:p>
                      <a:r>
                        <a:rPr lang="zh-CN" altLang="en-US" dirty="0"/>
                        <a:t>否</a:t>
                      </a:r>
                    </a:p>
                  </a:txBody>
                  <a:tcPr/>
                </a:tc>
                <a:tc>
                  <a:txBody>
                    <a:bodyPr/>
                    <a:lstStyle/>
                    <a:p>
                      <a:r>
                        <a:rPr lang="zh-CN" altLang="en-US" dirty="0"/>
                        <a:t>好</a:t>
                      </a:r>
                    </a:p>
                  </a:txBody>
                  <a:tcPr/>
                </a:tc>
                <a:tc>
                  <a:txBody>
                    <a:bodyPr/>
                    <a:lstStyle/>
                    <a:p>
                      <a:r>
                        <a:rPr lang="zh-CN" altLang="en-US" dirty="0"/>
                        <a:t>否</a:t>
                      </a:r>
                    </a:p>
                  </a:txBody>
                  <a:tcPr/>
                </a:tc>
                <a:extLst>
                  <a:ext uri="{0D108BD9-81ED-4DB2-BD59-A6C34878D82A}">
                    <a16:rowId xmlns:a16="http://schemas.microsoft.com/office/drawing/2014/main" val="10002"/>
                  </a:ext>
                </a:extLst>
              </a:tr>
              <a:tr h="369479">
                <a:tc>
                  <a:txBody>
                    <a:bodyPr/>
                    <a:lstStyle/>
                    <a:p>
                      <a:r>
                        <a:rPr lang="en-US" altLang="zh-CN" dirty="0"/>
                        <a:t>3</a:t>
                      </a:r>
                      <a:endParaRPr lang="zh-CN" altLang="en-US" dirty="0"/>
                    </a:p>
                  </a:txBody>
                  <a:tcPr/>
                </a:tc>
                <a:tc>
                  <a:txBody>
                    <a:bodyPr/>
                    <a:lstStyle/>
                    <a:p>
                      <a:r>
                        <a:rPr lang="zh-CN" altLang="en-US" dirty="0"/>
                        <a:t>青年</a:t>
                      </a:r>
                    </a:p>
                  </a:txBody>
                  <a:tcPr/>
                </a:tc>
                <a:tc>
                  <a:txBody>
                    <a:bodyPr/>
                    <a:lstStyle/>
                    <a:p>
                      <a:r>
                        <a:rPr lang="zh-CN" altLang="en-US" dirty="0"/>
                        <a:t>是</a:t>
                      </a:r>
                    </a:p>
                  </a:txBody>
                  <a:tcPr/>
                </a:tc>
                <a:tc>
                  <a:txBody>
                    <a:bodyPr/>
                    <a:lstStyle/>
                    <a:p>
                      <a:r>
                        <a:rPr lang="zh-CN" altLang="en-US" dirty="0"/>
                        <a:t>否</a:t>
                      </a:r>
                    </a:p>
                  </a:txBody>
                  <a:tcPr/>
                </a:tc>
                <a:tc>
                  <a:txBody>
                    <a:bodyPr/>
                    <a:lstStyle/>
                    <a:p>
                      <a:r>
                        <a:rPr lang="zh-CN" altLang="en-US" dirty="0"/>
                        <a:t>好</a:t>
                      </a:r>
                    </a:p>
                  </a:txBody>
                  <a:tcPr/>
                </a:tc>
                <a:tc>
                  <a:txBody>
                    <a:bodyPr/>
                    <a:lstStyle/>
                    <a:p>
                      <a:r>
                        <a:rPr lang="zh-CN" altLang="en-US" dirty="0"/>
                        <a:t>是</a:t>
                      </a:r>
                    </a:p>
                  </a:txBody>
                  <a:tcPr/>
                </a:tc>
                <a:extLst>
                  <a:ext uri="{0D108BD9-81ED-4DB2-BD59-A6C34878D82A}">
                    <a16:rowId xmlns:a16="http://schemas.microsoft.com/office/drawing/2014/main" val="10003"/>
                  </a:ext>
                </a:extLst>
              </a:tr>
              <a:tr h="369479">
                <a:tc>
                  <a:txBody>
                    <a:bodyPr/>
                    <a:lstStyle/>
                    <a:p>
                      <a:r>
                        <a:rPr lang="en-US" altLang="zh-CN" dirty="0"/>
                        <a:t>4</a:t>
                      </a:r>
                      <a:endParaRPr lang="zh-CN" altLang="en-US" dirty="0"/>
                    </a:p>
                  </a:txBody>
                  <a:tcPr/>
                </a:tc>
                <a:tc>
                  <a:txBody>
                    <a:bodyPr/>
                    <a:lstStyle/>
                    <a:p>
                      <a:r>
                        <a:rPr lang="zh-CN" altLang="en-US" dirty="0"/>
                        <a:t>青年</a:t>
                      </a:r>
                    </a:p>
                  </a:txBody>
                  <a:tcPr/>
                </a:tc>
                <a:tc>
                  <a:txBody>
                    <a:bodyPr/>
                    <a:lstStyle/>
                    <a:p>
                      <a:r>
                        <a:rPr lang="zh-CN" altLang="en-US" dirty="0"/>
                        <a:t>是</a:t>
                      </a:r>
                    </a:p>
                  </a:txBody>
                  <a:tcPr/>
                </a:tc>
                <a:tc>
                  <a:txBody>
                    <a:bodyPr/>
                    <a:lstStyle/>
                    <a:p>
                      <a:r>
                        <a:rPr lang="zh-CN" altLang="en-US" dirty="0"/>
                        <a:t>是</a:t>
                      </a:r>
                    </a:p>
                  </a:txBody>
                  <a:tcPr/>
                </a:tc>
                <a:tc>
                  <a:txBody>
                    <a:bodyPr/>
                    <a:lstStyle/>
                    <a:p>
                      <a:r>
                        <a:rPr lang="zh-CN" altLang="en-US" dirty="0"/>
                        <a:t>一般</a:t>
                      </a:r>
                    </a:p>
                  </a:txBody>
                  <a:tcPr/>
                </a:tc>
                <a:tc>
                  <a:txBody>
                    <a:bodyPr/>
                    <a:lstStyle/>
                    <a:p>
                      <a:r>
                        <a:rPr lang="zh-CN" altLang="en-US" dirty="0"/>
                        <a:t>是</a:t>
                      </a:r>
                    </a:p>
                  </a:txBody>
                  <a:tcPr/>
                </a:tc>
                <a:extLst>
                  <a:ext uri="{0D108BD9-81ED-4DB2-BD59-A6C34878D82A}">
                    <a16:rowId xmlns:a16="http://schemas.microsoft.com/office/drawing/2014/main" val="10004"/>
                  </a:ext>
                </a:extLst>
              </a:tr>
              <a:tr h="369479">
                <a:tc>
                  <a:txBody>
                    <a:bodyPr/>
                    <a:lstStyle/>
                    <a:p>
                      <a:r>
                        <a:rPr lang="en-US" altLang="zh-CN" dirty="0"/>
                        <a:t>5</a:t>
                      </a:r>
                      <a:endParaRPr lang="zh-CN" altLang="en-US" dirty="0"/>
                    </a:p>
                  </a:txBody>
                  <a:tcPr/>
                </a:tc>
                <a:tc>
                  <a:txBody>
                    <a:bodyPr/>
                    <a:lstStyle/>
                    <a:p>
                      <a:r>
                        <a:rPr lang="zh-CN" altLang="en-US" dirty="0"/>
                        <a:t>青年</a:t>
                      </a:r>
                    </a:p>
                  </a:txBody>
                  <a:tcPr/>
                </a:tc>
                <a:tc>
                  <a:txBody>
                    <a:bodyPr/>
                    <a:lstStyle/>
                    <a:p>
                      <a:r>
                        <a:rPr lang="zh-CN" altLang="en-US" dirty="0"/>
                        <a:t>否</a:t>
                      </a:r>
                    </a:p>
                  </a:txBody>
                  <a:tcPr/>
                </a:tc>
                <a:tc>
                  <a:txBody>
                    <a:bodyPr/>
                    <a:lstStyle/>
                    <a:p>
                      <a:r>
                        <a:rPr lang="zh-CN" altLang="en-US" dirty="0"/>
                        <a:t>否</a:t>
                      </a:r>
                    </a:p>
                  </a:txBody>
                  <a:tcPr/>
                </a:tc>
                <a:tc>
                  <a:txBody>
                    <a:bodyPr/>
                    <a:lstStyle/>
                    <a:p>
                      <a:r>
                        <a:rPr lang="zh-CN" altLang="en-US" dirty="0"/>
                        <a:t>一般</a:t>
                      </a:r>
                    </a:p>
                  </a:txBody>
                  <a:tcPr/>
                </a:tc>
                <a:tc>
                  <a:txBody>
                    <a:bodyPr/>
                    <a:lstStyle/>
                    <a:p>
                      <a:r>
                        <a:rPr lang="zh-CN" altLang="en-US" dirty="0"/>
                        <a:t>否</a:t>
                      </a:r>
                    </a:p>
                  </a:txBody>
                  <a:tcPr/>
                </a:tc>
                <a:extLst>
                  <a:ext uri="{0D108BD9-81ED-4DB2-BD59-A6C34878D82A}">
                    <a16:rowId xmlns:a16="http://schemas.microsoft.com/office/drawing/2014/main" val="10005"/>
                  </a:ext>
                </a:extLst>
              </a:tr>
              <a:tr h="369479">
                <a:tc>
                  <a:txBody>
                    <a:bodyPr/>
                    <a:lstStyle/>
                    <a:p>
                      <a:r>
                        <a:rPr lang="en-US" altLang="zh-CN" dirty="0"/>
                        <a:t>6</a:t>
                      </a:r>
                      <a:endParaRPr lang="zh-CN" altLang="en-US" dirty="0"/>
                    </a:p>
                  </a:txBody>
                  <a:tcPr/>
                </a:tc>
                <a:tc>
                  <a:txBody>
                    <a:bodyPr/>
                    <a:lstStyle/>
                    <a:p>
                      <a:r>
                        <a:rPr lang="zh-CN" altLang="en-US" dirty="0"/>
                        <a:t>中年</a:t>
                      </a:r>
                    </a:p>
                  </a:txBody>
                  <a:tcPr/>
                </a:tc>
                <a:tc>
                  <a:txBody>
                    <a:bodyPr/>
                    <a:lstStyle/>
                    <a:p>
                      <a:r>
                        <a:rPr lang="zh-CN" altLang="en-US" dirty="0"/>
                        <a:t>否</a:t>
                      </a:r>
                    </a:p>
                  </a:txBody>
                  <a:tcPr/>
                </a:tc>
                <a:tc>
                  <a:txBody>
                    <a:bodyPr/>
                    <a:lstStyle/>
                    <a:p>
                      <a:r>
                        <a:rPr lang="zh-CN" altLang="en-US" dirty="0"/>
                        <a:t>否</a:t>
                      </a:r>
                    </a:p>
                  </a:txBody>
                  <a:tcPr/>
                </a:tc>
                <a:tc>
                  <a:txBody>
                    <a:bodyPr/>
                    <a:lstStyle/>
                    <a:p>
                      <a:r>
                        <a:rPr lang="zh-CN" altLang="en-US" dirty="0"/>
                        <a:t>一般</a:t>
                      </a:r>
                    </a:p>
                  </a:txBody>
                  <a:tcPr/>
                </a:tc>
                <a:tc>
                  <a:txBody>
                    <a:bodyPr/>
                    <a:lstStyle/>
                    <a:p>
                      <a:r>
                        <a:rPr lang="zh-CN" altLang="en-US" dirty="0"/>
                        <a:t>否</a:t>
                      </a:r>
                    </a:p>
                  </a:txBody>
                  <a:tcPr/>
                </a:tc>
                <a:extLst>
                  <a:ext uri="{0D108BD9-81ED-4DB2-BD59-A6C34878D82A}">
                    <a16:rowId xmlns:a16="http://schemas.microsoft.com/office/drawing/2014/main" val="10006"/>
                  </a:ext>
                </a:extLst>
              </a:tr>
              <a:tr h="369479">
                <a:tc>
                  <a:txBody>
                    <a:bodyPr/>
                    <a:lstStyle/>
                    <a:p>
                      <a:r>
                        <a:rPr lang="en-US" altLang="zh-CN" dirty="0"/>
                        <a:t>7</a:t>
                      </a:r>
                      <a:endParaRPr lang="zh-CN" altLang="en-US" dirty="0"/>
                    </a:p>
                  </a:txBody>
                  <a:tcPr/>
                </a:tc>
                <a:tc>
                  <a:txBody>
                    <a:bodyPr/>
                    <a:lstStyle/>
                    <a:p>
                      <a:r>
                        <a:rPr lang="zh-CN" altLang="en-US" dirty="0"/>
                        <a:t>中年</a:t>
                      </a:r>
                    </a:p>
                  </a:txBody>
                  <a:tcPr/>
                </a:tc>
                <a:tc>
                  <a:txBody>
                    <a:bodyPr/>
                    <a:lstStyle/>
                    <a:p>
                      <a:r>
                        <a:rPr lang="zh-CN" altLang="en-US" dirty="0"/>
                        <a:t>否</a:t>
                      </a:r>
                    </a:p>
                  </a:txBody>
                  <a:tcPr/>
                </a:tc>
                <a:tc>
                  <a:txBody>
                    <a:bodyPr/>
                    <a:lstStyle/>
                    <a:p>
                      <a:r>
                        <a:rPr lang="zh-CN" altLang="en-US" dirty="0"/>
                        <a:t>否</a:t>
                      </a:r>
                    </a:p>
                  </a:txBody>
                  <a:tcPr/>
                </a:tc>
                <a:tc>
                  <a:txBody>
                    <a:bodyPr/>
                    <a:lstStyle/>
                    <a:p>
                      <a:r>
                        <a:rPr lang="zh-CN" altLang="en-US" dirty="0"/>
                        <a:t>好</a:t>
                      </a:r>
                    </a:p>
                  </a:txBody>
                  <a:tcPr/>
                </a:tc>
                <a:tc>
                  <a:txBody>
                    <a:bodyPr/>
                    <a:lstStyle/>
                    <a:p>
                      <a:r>
                        <a:rPr lang="zh-CN" altLang="en-US" dirty="0"/>
                        <a:t>否</a:t>
                      </a:r>
                    </a:p>
                  </a:txBody>
                  <a:tcPr/>
                </a:tc>
                <a:extLst>
                  <a:ext uri="{0D108BD9-81ED-4DB2-BD59-A6C34878D82A}">
                    <a16:rowId xmlns:a16="http://schemas.microsoft.com/office/drawing/2014/main" val="10007"/>
                  </a:ext>
                </a:extLst>
              </a:tr>
              <a:tr h="369479">
                <a:tc>
                  <a:txBody>
                    <a:bodyPr/>
                    <a:lstStyle/>
                    <a:p>
                      <a:r>
                        <a:rPr lang="en-US" altLang="zh-CN" dirty="0"/>
                        <a:t>8</a:t>
                      </a:r>
                      <a:endParaRPr lang="zh-CN" altLang="en-US" dirty="0"/>
                    </a:p>
                  </a:txBody>
                  <a:tcPr/>
                </a:tc>
                <a:tc>
                  <a:txBody>
                    <a:bodyPr/>
                    <a:lstStyle/>
                    <a:p>
                      <a:r>
                        <a:rPr lang="zh-CN" altLang="en-US" dirty="0"/>
                        <a:t>中年</a:t>
                      </a:r>
                    </a:p>
                  </a:txBody>
                  <a:tcPr/>
                </a:tc>
                <a:tc>
                  <a:txBody>
                    <a:bodyPr/>
                    <a:lstStyle/>
                    <a:p>
                      <a:r>
                        <a:rPr lang="zh-CN" altLang="en-US" dirty="0"/>
                        <a:t>是</a:t>
                      </a:r>
                    </a:p>
                  </a:txBody>
                  <a:tcPr/>
                </a:tc>
                <a:tc>
                  <a:txBody>
                    <a:bodyPr/>
                    <a:lstStyle/>
                    <a:p>
                      <a:r>
                        <a:rPr lang="zh-CN" altLang="en-US" dirty="0"/>
                        <a:t>是</a:t>
                      </a:r>
                    </a:p>
                  </a:txBody>
                  <a:tcPr/>
                </a:tc>
                <a:tc>
                  <a:txBody>
                    <a:bodyPr/>
                    <a:lstStyle/>
                    <a:p>
                      <a:r>
                        <a:rPr lang="zh-CN" altLang="en-US" dirty="0"/>
                        <a:t>好</a:t>
                      </a:r>
                    </a:p>
                  </a:txBody>
                  <a:tcPr/>
                </a:tc>
                <a:tc>
                  <a:txBody>
                    <a:bodyPr/>
                    <a:lstStyle/>
                    <a:p>
                      <a:r>
                        <a:rPr lang="zh-CN" altLang="en-US" dirty="0"/>
                        <a:t>是</a:t>
                      </a:r>
                    </a:p>
                  </a:txBody>
                  <a:tcPr/>
                </a:tc>
                <a:extLst>
                  <a:ext uri="{0D108BD9-81ED-4DB2-BD59-A6C34878D82A}">
                    <a16:rowId xmlns:a16="http://schemas.microsoft.com/office/drawing/2014/main" val="10008"/>
                  </a:ext>
                </a:extLst>
              </a:tr>
              <a:tr h="369479">
                <a:tc>
                  <a:txBody>
                    <a:bodyPr/>
                    <a:lstStyle/>
                    <a:p>
                      <a:r>
                        <a:rPr lang="en-US" altLang="zh-CN" dirty="0"/>
                        <a:t>9</a:t>
                      </a:r>
                      <a:endParaRPr lang="zh-CN" altLang="en-US" dirty="0"/>
                    </a:p>
                  </a:txBody>
                  <a:tcPr/>
                </a:tc>
                <a:tc>
                  <a:txBody>
                    <a:bodyPr/>
                    <a:lstStyle/>
                    <a:p>
                      <a:r>
                        <a:rPr lang="zh-CN" altLang="en-US" dirty="0"/>
                        <a:t>中年</a:t>
                      </a:r>
                    </a:p>
                  </a:txBody>
                  <a:tcPr/>
                </a:tc>
                <a:tc>
                  <a:txBody>
                    <a:bodyPr/>
                    <a:lstStyle/>
                    <a:p>
                      <a:r>
                        <a:rPr lang="zh-CN" altLang="en-US" dirty="0"/>
                        <a:t>否</a:t>
                      </a:r>
                    </a:p>
                  </a:txBody>
                  <a:tcPr/>
                </a:tc>
                <a:tc>
                  <a:txBody>
                    <a:bodyPr/>
                    <a:lstStyle/>
                    <a:p>
                      <a:r>
                        <a:rPr lang="zh-CN" altLang="en-US" dirty="0"/>
                        <a:t>是</a:t>
                      </a:r>
                    </a:p>
                  </a:txBody>
                  <a:tcPr/>
                </a:tc>
                <a:tc>
                  <a:txBody>
                    <a:bodyPr/>
                    <a:lstStyle/>
                    <a:p>
                      <a:r>
                        <a:rPr lang="zh-CN" altLang="en-US" dirty="0"/>
                        <a:t>非常好</a:t>
                      </a:r>
                    </a:p>
                  </a:txBody>
                  <a:tcPr/>
                </a:tc>
                <a:tc>
                  <a:txBody>
                    <a:bodyPr/>
                    <a:lstStyle/>
                    <a:p>
                      <a:r>
                        <a:rPr lang="zh-CN" altLang="en-US" dirty="0"/>
                        <a:t>是</a:t>
                      </a:r>
                    </a:p>
                  </a:txBody>
                  <a:tcPr/>
                </a:tc>
                <a:extLst>
                  <a:ext uri="{0D108BD9-81ED-4DB2-BD59-A6C34878D82A}">
                    <a16:rowId xmlns:a16="http://schemas.microsoft.com/office/drawing/2014/main" val="10009"/>
                  </a:ext>
                </a:extLst>
              </a:tr>
              <a:tr h="369479">
                <a:tc>
                  <a:txBody>
                    <a:bodyPr/>
                    <a:lstStyle/>
                    <a:p>
                      <a:r>
                        <a:rPr lang="en-US" altLang="zh-CN" dirty="0"/>
                        <a:t>10</a:t>
                      </a:r>
                      <a:endParaRPr lang="zh-CN" altLang="en-US" dirty="0"/>
                    </a:p>
                  </a:txBody>
                  <a:tcPr/>
                </a:tc>
                <a:tc>
                  <a:txBody>
                    <a:bodyPr/>
                    <a:lstStyle/>
                    <a:p>
                      <a:r>
                        <a:rPr lang="zh-CN" altLang="en-US" dirty="0"/>
                        <a:t>中年</a:t>
                      </a:r>
                    </a:p>
                  </a:txBody>
                  <a:tcPr/>
                </a:tc>
                <a:tc>
                  <a:txBody>
                    <a:bodyPr/>
                    <a:lstStyle/>
                    <a:p>
                      <a:r>
                        <a:rPr lang="zh-CN" altLang="en-US" dirty="0"/>
                        <a:t>否</a:t>
                      </a:r>
                    </a:p>
                  </a:txBody>
                  <a:tcPr/>
                </a:tc>
                <a:tc>
                  <a:txBody>
                    <a:bodyPr/>
                    <a:lstStyle/>
                    <a:p>
                      <a:r>
                        <a:rPr lang="zh-CN" altLang="en-US" dirty="0"/>
                        <a:t>是</a:t>
                      </a:r>
                    </a:p>
                  </a:txBody>
                  <a:tcPr/>
                </a:tc>
                <a:tc>
                  <a:txBody>
                    <a:bodyPr/>
                    <a:lstStyle/>
                    <a:p>
                      <a:r>
                        <a:rPr lang="zh-CN" altLang="en-US" dirty="0"/>
                        <a:t>非常好</a:t>
                      </a:r>
                    </a:p>
                  </a:txBody>
                  <a:tcPr/>
                </a:tc>
                <a:tc>
                  <a:txBody>
                    <a:bodyPr/>
                    <a:lstStyle/>
                    <a:p>
                      <a:r>
                        <a:rPr lang="zh-CN" altLang="en-US" dirty="0"/>
                        <a:t>是</a:t>
                      </a:r>
                    </a:p>
                  </a:txBody>
                  <a:tcPr/>
                </a:tc>
                <a:extLst>
                  <a:ext uri="{0D108BD9-81ED-4DB2-BD59-A6C34878D82A}">
                    <a16:rowId xmlns:a16="http://schemas.microsoft.com/office/drawing/2014/main" val="10010"/>
                  </a:ext>
                </a:extLst>
              </a:tr>
              <a:tr h="454028">
                <a:tc>
                  <a:txBody>
                    <a:bodyPr/>
                    <a:lstStyle/>
                    <a:p>
                      <a:r>
                        <a:rPr lang="en-US" altLang="zh-CN" dirty="0"/>
                        <a:t>11</a:t>
                      </a:r>
                      <a:endParaRPr lang="zh-CN" altLang="en-US" dirty="0"/>
                    </a:p>
                  </a:txBody>
                  <a:tcPr/>
                </a:tc>
                <a:tc>
                  <a:txBody>
                    <a:bodyPr/>
                    <a:lstStyle/>
                    <a:p>
                      <a:r>
                        <a:rPr lang="zh-CN" altLang="en-US" dirty="0"/>
                        <a:t>老年</a:t>
                      </a:r>
                    </a:p>
                  </a:txBody>
                  <a:tcPr/>
                </a:tc>
                <a:tc>
                  <a:txBody>
                    <a:bodyPr/>
                    <a:lstStyle/>
                    <a:p>
                      <a:r>
                        <a:rPr lang="zh-CN" altLang="en-US" dirty="0"/>
                        <a:t>否</a:t>
                      </a:r>
                    </a:p>
                  </a:txBody>
                  <a:tcPr/>
                </a:tc>
                <a:tc>
                  <a:txBody>
                    <a:bodyPr/>
                    <a:lstStyle/>
                    <a:p>
                      <a:r>
                        <a:rPr lang="zh-CN" altLang="en-US" dirty="0"/>
                        <a:t>是</a:t>
                      </a:r>
                    </a:p>
                  </a:txBody>
                  <a:tcPr/>
                </a:tc>
                <a:tc>
                  <a:txBody>
                    <a:bodyPr/>
                    <a:lstStyle/>
                    <a:p>
                      <a:r>
                        <a:rPr lang="zh-CN" altLang="en-US" dirty="0"/>
                        <a:t>非常好</a:t>
                      </a:r>
                    </a:p>
                  </a:txBody>
                  <a:tcPr/>
                </a:tc>
                <a:tc>
                  <a:txBody>
                    <a:bodyPr/>
                    <a:lstStyle/>
                    <a:p>
                      <a:r>
                        <a:rPr lang="zh-CN" altLang="en-US" dirty="0"/>
                        <a:t>是</a:t>
                      </a:r>
                    </a:p>
                  </a:txBody>
                  <a:tcPr/>
                </a:tc>
                <a:extLst>
                  <a:ext uri="{0D108BD9-81ED-4DB2-BD59-A6C34878D82A}">
                    <a16:rowId xmlns:a16="http://schemas.microsoft.com/office/drawing/2014/main" val="10011"/>
                  </a:ext>
                </a:extLst>
              </a:tr>
              <a:tr h="369479">
                <a:tc>
                  <a:txBody>
                    <a:bodyPr/>
                    <a:lstStyle/>
                    <a:p>
                      <a:r>
                        <a:rPr lang="en-US" altLang="zh-CN" dirty="0"/>
                        <a:t>12</a:t>
                      </a:r>
                      <a:endParaRPr lang="zh-CN" altLang="en-US" dirty="0"/>
                    </a:p>
                  </a:txBody>
                  <a:tcPr/>
                </a:tc>
                <a:tc>
                  <a:txBody>
                    <a:bodyPr/>
                    <a:lstStyle/>
                    <a:p>
                      <a:r>
                        <a:rPr lang="zh-CN" altLang="en-US" dirty="0"/>
                        <a:t>老年</a:t>
                      </a:r>
                    </a:p>
                  </a:txBody>
                  <a:tcPr/>
                </a:tc>
                <a:tc>
                  <a:txBody>
                    <a:bodyPr/>
                    <a:lstStyle/>
                    <a:p>
                      <a:r>
                        <a:rPr lang="zh-CN" altLang="en-US" dirty="0"/>
                        <a:t>否</a:t>
                      </a:r>
                    </a:p>
                  </a:txBody>
                  <a:tcPr/>
                </a:tc>
                <a:tc>
                  <a:txBody>
                    <a:bodyPr/>
                    <a:lstStyle/>
                    <a:p>
                      <a:r>
                        <a:rPr lang="zh-CN" altLang="en-US" dirty="0"/>
                        <a:t>是</a:t>
                      </a:r>
                    </a:p>
                  </a:txBody>
                  <a:tcPr/>
                </a:tc>
                <a:tc>
                  <a:txBody>
                    <a:bodyPr/>
                    <a:lstStyle/>
                    <a:p>
                      <a:r>
                        <a:rPr lang="zh-CN" altLang="en-US" dirty="0"/>
                        <a:t>好</a:t>
                      </a:r>
                    </a:p>
                  </a:txBody>
                  <a:tcPr/>
                </a:tc>
                <a:tc>
                  <a:txBody>
                    <a:bodyPr/>
                    <a:lstStyle/>
                    <a:p>
                      <a:r>
                        <a:rPr lang="zh-CN" altLang="en-US" dirty="0"/>
                        <a:t>是</a:t>
                      </a:r>
                    </a:p>
                  </a:txBody>
                  <a:tcPr/>
                </a:tc>
                <a:extLst>
                  <a:ext uri="{0D108BD9-81ED-4DB2-BD59-A6C34878D82A}">
                    <a16:rowId xmlns:a16="http://schemas.microsoft.com/office/drawing/2014/main" val="10012"/>
                  </a:ext>
                </a:extLst>
              </a:tr>
              <a:tr h="369479">
                <a:tc>
                  <a:txBody>
                    <a:bodyPr/>
                    <a:lstStyle/>
                    <a:p>
                      <a:r>
                        <a:rPr lang="en-US" altLang="zh-CN" dirty="0"/>
                        <a:t>13</a:t>
                      </a:r>
                      <a:endParaRPr lang="zh-CN" altLang="en-US" dirty="0"/>
                    </a:p>
                  </a:txBody>
                  <a:tcPr/>
                </a:tc>
                <a:tc>
                  <a:txBody>
                    <a:bodyPr/>
                    <a:lstStyle/>
                    <a:p>
                      <a:r>
                        <a:rPr lang="zh-CN" altLang="en-US" dirty="0"/>
                        <a:t>老年</a:t>
                      </a:r>
                    </a:p>
                  </a:txBody>
                  <a:tcPr/>
                </a:tc>
                <a:tc>
                  <a:txBody>
                    <a:bodyPr/>
                    <a:lstStyle/>
                    <a:p>
                      <a:r>
                        <a:rPr lang="zh-CN" altLang="en-US" dirty="0"/>
                        <a:t>是</a:t>
                      </a:r>
                    </a:p>
                  </a:txBody>
                  <a:tcPr/>
                </a:tc>
                <a:tc>
                  <a:txBody>
                    <a:bodyPr/>
                    <a:lstStyle/>
                    <a:p>
                      <a:r>
                        <a:rPr lang="zh-CN" altLang="en-US" dirty="0"/>
                        <a:t>否</a:t>
                      </a:r>
                    </a:p>
                  </a:txBody>
                  <a:tcPr/>
                </a:tc>
                <a:tc>
                  <a:txBody>
                    <a:bodyPr/>
                    <a:lstStyle/>
                    <a:p>
                      <a:r>
                        <a:rPr lang="zh-CN" altLang="en-US" dirty="0"/>
                        <a:t>好</a:t>
                      </a:r>
                    </a:p>
                  </a:txBody>
                  <a:tcPr/>
                </a:tc>
                <a:tc>
                  <a:txBody>
                    <a:bodyPr/>
                    <a:lstStyle/>
                    <a:p>
                      <a:r>
                        <a:rPr lang="zh-CN" altLang="en-US" dirty="0"/>
                        <a:t>是</a:t>
                      </a:r>
                    </a:p>
                  </a:txBody>
                  <a:tcPr/>
                </a:tc>
                <a:extLst>
                  <a:ext uri="{0D108BD9-81ED-4DB2-BD59-A6C34878D82A}">
                    <a16:rowId xmlns:a16="http://schemas.microsoft.com/office/drawing/2014/main" val="10013"/>
                  </a:ext>
                </a:extLst>
              </a:tr>
              <a:tr h="369479">
                <a:tc>
                  <a:txBody>
                    <a:bodyPr/>
                    <a:lstStyle/>
                    <a:p>
                      <a:r>
                        <a:rPr lang="en-US" altLang="zh-CN" dirty="0"/>
                        <a:t>14</a:t>
                      </a:r>
                      <a:endParaRPr lang="zh-CN" altLang="en-US" dirty="0"/>
                    </a:p>
                  </a:txBody>
                  <a:tcPr/>
                </a:tc>
                <a:tc>
                  <a:txBody>
                    <a:bodyPr/>
                    <a:lstStyle/>
                    <a:p>
                      <a:r>
                        <a:rPr lang="zh-CN" altLang="en-US" dirty="0"/>
                        <a:t>老年</a:t>
                      </a:r>
                    </a:p>
                  </a:txBody>
                  <a:tcPr/>
                </a:tc>
                <a:tc>
                  <a:txBody>
                    <a:bodyPr/>
                    <a:lstStyle/>
                    <a:p>
                      <a:r>
                        <a:rPr lang="zh-CN" altLang="en-US" dirty="0"/>
                        <a:t>是</a:t>
                      </a:r>
                    </a:p>
                  </a:txBody>
                  <a:tcPr/>
                </a:tc>
                <a:tc>
                  <a:txBody>
                    <a:bodyPr/>
                    <a:lstStyle/>
                    <a:p>
                      <a:r>
                        <a:rPr lang="zh-CN" altLang="en-US" dirty="0"/>
                        <a:t>否</a:t>
                      </a:r>
                    </a:p>
                  </a:txBody>
                  <a:tcPr/>
                </a:tc>
                <a:tc>
                  <a:txBody>
                    <a:bodyPr/>
                    <a:lstStyle/>
                    <a:p>
                      <a:r>
                        <a:rPr lang="zh-CN" altLang="en-US" dirty="0"/>
                        <a:t>非常好</a:t>
                      </a:r>
                    </a:p>
                  </a:txBody>
                  <a:tcPr/>
                </a:tc>
                <a:tc>
                  <a:txBody>
                    <a:bodyPr/>
                    <a:lstStyle/>
                    <a:p>
                      <a:r>
                        <a:rPr lang="zh-CN" altLang="en-US" dirty="0"/>
                        <a:t>是</a:t>
                      </a:r>
                    </a:p>
                  </a:txBody>
                  <a:tcPr/>
                </a:tc>
                <a:extLst>
                  <a:ext uri="{0D108BD9-81ED-4DB2-BD59-A6C34878D82A}">
                    <a16:rowId xmlns:a16="http://schemas.microsoft.com/office/drawing/2014/main" val="10014"/>
                  </a:ext>
                </a:extLst>
              </a:tr>
              <a:tr h="369479">
                <a:tc>
                  <a:txBody>
                    <a:bodyPr/>
                    <a:lstStyle/>
                    <a:p>
                      <a:r>
                        <a:rPr lang="en-US" altLang="zh-CN" dirty="0"/>
                        <a:t>15</a:t>
                      </a:r>
                      <a:endParaRPr lang="zh-CN" altLang="en-US" dirty="0"/>
                    </a:p>
                  </a:txBody>
                  <a:tcPr/>
                </a:tc>
                <a:tc>
                  <a:txBody>
                    <a:bodyPr/>
                    <a:lstStyle/>
                    <a:p>
                      <a:r>
                        <a:rPr lang="zh-CN" altLang="en-US" dirty="0"/>
                        <a:t>老年</a:t>
                      </a:r>
                    </a:p>
                  </a:txBody>
                  <a:tcPr/>
                </a:tc>
                <a:tc>
                  <a:txBody>
                    <a:bodyPr/>
                    <a:lstStyle/>
                    <a:p>
                      <a:r>
                        <a:rPr lang="zh-CN" altLang="en-US" dirty="0"/>
                        <a:t>否</a:t>
                      </a:r>
                    </a:p>
                  </a:txBody>
                  <a:tcPr/>
                </a:tc>
                <a:tc>
                  <a:txBody>
                    <a:bodyPr/>
                    <a:lstStyle/>
                    <a:p>
                      <a:r>
                        <a:rPr lang="zh-CN" altLang="en-US" dirty="0"/>
                        <a:t>否</a:t>
                      </a:r>
                    </a:p>
                  </a:txBody>
                  <a:tcPr/>
                </a:tc>
                <a:tc>
                  <a:txBody>
                    <a:bodyPr/>
                    <a:lstStyle/>
                    <a:p>
                      <a:r>
                        <a:rPr lang="zh-CN" altLang="en-US" dirty="0"/>
                        <a:t>一般</a:t>
                      </a:r>
                    </a:p>
                  </a:txBody>
                  <a:tcPr/>
                </a:tc>
                <a:tc>
                  <a:txBody>
                    <a:bodyPr/>
                    <a:lstStyle/>
                    <a:p>
                      <a:r>
                        <a:rPr lang="zh-CN" altLang="en-US"/>
                        <a:t>否</a:t>
                      </a:r>
                      <a:endParaRPr lang="zh-CN" altLang="en-US" dirty="0"/>
                    </a:p>
                  </a:txBody>
                  <a:tcPr/>
                </a:tc>
                <a:extLst>
                  <a:ext uri="{0D108BD9-81ED-4DB2-BD59-A6C34878D82A}">
                    <a16:rowId xmlns:a16="http://schemas.microsoft.com/office/drawing/2014/main" val="10015"/>
                  </a:ext>
                </a:extLst>
              </a:tr>
            </a:tbl>
          </a:graphicData>
        </a:graphic>
      </p:graphicFrame>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3" name="灯片编号占位符 3"/>
          <p:cNvSpPr>
            <a:spLocks noGrp="1"/>
          </p:cNvSpPr>
          <p:nvPr>
            <p:ph type="sldNum" sz="quarter" idx="12"/>
          </p:nvPr>
        </p:nvSpPr>
        <p:spPr>
          <a:noFill/>
        </p:spPr>
        <p:txBody>
          <a:bodyPr/>
          <a:lstStyle/>
          <a:p>
            <a:fld id="{A5E44D6F-7EF7-4C92-84D8-7B4EEBBD1775}" type="slidenum">
              <a:rPr lang="en-US" altLang="zh-CN" smtClean="0">
                <a:ea typeface="黑体" pitchFamily="49" charset="-122"/>
              </a:rPr>
              <a:pPr/>
              <a:t>91</a:t>
            </a:fld>
            <a:endParaRPr lang="en-US" altLang="zh-CN">
              <a:ea typeface="黑体" pitchFamily="49" charset="-122"/>
            </a:endParaRPr>
          </a:p>
        </p:txBody>
      </p:sp>
      <p:graphicFrame>
        <p:nvGraphicFramePr>
          <p:cNvPr id="63490" name="Object 1" descr="羊皮纸"/>
          <p:cNvGraphicFramePr>
            <a:graphicFrameLocks noChangeAspect="1"/>
          </p:cNvGraphicFramePr>
          <p:nvPr/>
        </p:nvGraphicFramePr>
        <p:xfrm>
          <a:off x="290513" y="760413"/>
          <a:ext cx="8621712" cy="5510212"/>
        </p:xfrm>
        <a:graphic>
          <a:graphicData uri="http://schemas.openxmlformats.org/presentationml/2006/ole">
            <mc:AlternateContent xmlns:mc="http://schemas.openxmlformats.org/markup-compatibility/2006">
              <mc:Choice xmlns:v="urn:schemas-microsoft-com:vml" Requires="v">
                <p:oleObj name="公式" r:id="rId3" imgW="3873240" imgH="2514600" progId="Equation.3">
                  <p:embed/>
                </p:oleObj>
              </mc:Choice>
              <mc:Fallback>
                <p:oleObj name="公式" r:id="rId3" imgW="3873240" imgH="2514600" progId="Equation.3">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0513" y="760413"/>
                        <a:ext cx="8621712" cy="55102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6" name="灯片编号占位符 3"/>
          <p:cNvSpPr>
            <a:spLocks noGrp="1"/>
          </p:cNvSpPr>
          <p:nvPr>
            <p:ph type="sldNum" sz="quarter" idx="12"/>
          </p:nvPr>
        </p:nvSpPr>
        <p:spPr>
          <a:noFill/>
        </p:spPr>
        <p:txBody>
          <a:bodyPr/>
          <a:lstStyle/>
          <a:p>
            <a:fld id="{EEA2FFF9-AD9E-4CB7-978C-79E8B69B5642}" type="slidenum">
              <a:rPr lang="en-US" altLang="zh-CN" smtClean="0">
                <a:ea typeface="黑体" pitchFamily="49" charset="-122"/>
              </a:rPr>
              <a:pPr/>
              <a:t>92</a:t>
            </a:fld>
            <a:endParaRPr lang="en-US" altLang="zh-CN">
              <a:ea typeface="黑体" pitchFamily="49" charset="-122"/>
            </a:endParaRPr>
          </a:p>
        </p:txBody>
      </p:sp>
      <p:graphicFrame>
        <p:nvGraphicFramePr>
          <p:cNvPr id="64514" name="Object 1" descr="羊皮纸"/>
          <p:cNvGraphicFramePr>
            <a:graphicFrameLocks noChangeAspect="1"/>
          </p:cNvGraphicFramePr>
          <p:nvPr/>
        </p:nvGraphicFramePr>
        <p:xfrm>
          <a:off x="431800" y="957263"/>
          <a:ext cx="8339138" cy="5119687"/>
        </p:xfrm>
        <a:graphic>
          <a:graphicData uri="http://schemas.openxmlformats.org/presentationml/2006/ole">
            <mc:AlternateContent xmlns:mc="http://schemas.openxmlformats.org/markup-compatibility/2006">
              <mc:Choice xmlns:v="urn:schemas-microsoft-com:vml" Requires="v">
                <p:oleObj name="公式" r:id="rId2" imgW="3746160" imgH="2336760" progId="Equation.3">
                  <p:embed/>
                </p:oleObj>
              </mc:Choice>
              <mc:Fallback>
                <p:oleObj name="公式" r:id="rId2" imgW="3746160" imgH="2336760" progId="Equation.3">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1800" y="957263"/>
                        <a:ext cx="8339138" cy="51196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内容占位符 2"/>
          <p:cNvSpPr>
            <a:spLocks noGrp="1"/>
          </p:cNvSpPr>
          <p:nvPr>
            <p:ph idx="1"/>
          </p:nvPr>
        </p:nvSpPr>
        <p:spPr>
          <a:xfrm>
            <a:off x="685800" y="623888"/>
            <a:ext cx="7772400" cy="5892800"/>
          </a:xfrm>
        </p:spPr>
        <p:txBody>
          <a:bodyPr>
            <a:normAutofit/>
          </a:bodyPr>
          <a:lstStyle/>
          <a:p>
            <a:r>
              <a:rPr lang="zh-CN" altLang="en-US" sz="3200" b="1" dirty="0"/>
              <a:t>生成的决策树如下：</a:t>
            </a:r>
            <a:endParaRPr lang="en-US" altLang="zh-CN" sz="3200" b="1" dirty="0"/>
          </a:p>
          <a:p>
            <a:endParaRPr lang="en-US" altLang="zh-CN" sz="3200" b="1" dirty="0"/>
          </a:p>
          <a:p>
            <a:endParaRPr lang="en-US" altLang="zh-CN" sz="3200" b="1" dirty="0"/>
          </a:p>
          <a:p>
            <a:endParaRPr lang="en-US" altLang="zh-CN" sz="3200" b="1" dirty="0"/>
          </a:p>
          <a:p>
            <a:endParaRPr lang="en-US" altLang="zh-CN" sz="3200" b="1" dirty="0"/>
          </a:p>
          <a:p>
            <a:endParaRPr lang="en-US" altLang="zh-CN" sz="3200" b="1" dirty="0"/>
          </a:p>
          <a:p>
            <a:endParaRPr lang="en-US" altLang="zh-CN" sz="3200" b="1" dirty="0"/>
          </a:p>
          <a:p>
            <a:endParaRPr lang="en-US" altLang="zh-CN" sz="3200" b="1" dirty="0"/>
          </a:p>
          <a:p>
            <a:pPr marL="0" indent="0">
              <a:buNone/>
            </a:pPr>
            <a:endParaRPr lang="en-US" altLang="zh-CN" sz="3200" b="1" dirty="0"/>
          </a:p>
        </p:txBody>
      </p:sp>
      <p:sp>
        <p:nvSpPr>
          <p:cNvPr id="117763" name="灯片编号占位符 3"/>
          <p:cNvSpPr>
            <a:spLocks noGrp="1"/>
          </p:cNvSpPr>
          <p:nvPr>
            <p:ph type="sldNum" sz="quarter" idx="12"/>
          </p:nvPr>
        </p:nvSpPr>
        <p:spPr>
          <a:noFill/>
        </p:spPr>
        <p:txBody>
          <a:bodyPr/>
          <a:lstStyle/>
          <a:p>
            <a:fld id="{86202069-0C41-41AE-91E5-9584B255B047}" type="slidenum">
              <a:rPr lang="en-US" altLang="zh-CN" smtClean="0">
                <a:ea typeface="黑体" pitchFamily="49" charset="-122"/>
              </a:rPr>
              <a:pPr/>
              <a:t>93</a:t>
            </a:fld>
            <a:endParaRPr lang="en-US" altLang="zh-CN">
              <a:ea typeface="黑体" pitchFamily="49" charset="-122"/>
            </a:endParaRPr>
          </a:p>
        </p:txBody>
      </p:sp>
      <p:sp>
        <p:nvSpPr>
          <p:cNvPr id="117764" name="椭圆 6"/>
          <p:cNvSpPr>
            <a:spLocks noChangeArrowheads="1"/>
          </p:cNvSpPr>
          <p:nvPr/>
        </p:nvSpPr>
        <p:spPr bwMode="auto">
          <a:xfrm>
            <a:off x="4078288" y="1944688"/>
            <a:ext cx="261937" cy="247650"/>
          </a:xfrm>
          <a:prstGeom prst="ellipse">
            <a:avLst/>
          </a:prstGeom>
          <a:solidFill>
            <a:schemeClr val="accent1"/>
          </a:solidFill>
          <a:ln w="9525" algn="ctr">
            <a:solidFill>
              <a:schemeClr val="tx1"/>
            </a:solidFill>
            <a:round/>
            <a:headEnd/>
            <a:tailEnd type="triangle" w="med" len="med"/>
          </a:ln>
        </p:spPr>
        <p:txBody>
          <a:bodyPr wrap="none"/>
          <a:lstStyle/>
          <a:p>
            <a:endParaRPr lang="zh-CN" altLang="en-US"/>
          </a:p>
        </p:txBody>
      </p:sp>
      <p:sp>
        <p:nvSpPr>
          <p:cNvPr id="117765" name="椭圆 7"/>
          <p:cNvSpPr>
            <a:spLocks noChangeArrowheads="1"/>
          </p:cNvSpPr>
          <p:nvPr/>
        </p:nvSpPr>
        <p:spPr bwMode="auto">
          <a:xfrm>
            <a:off x="5384800" y="3236913"/>
            <a:ext cx="261938" cy="246062"/>
          </a:xfrm>
          <a:prstGeom prst="ellipse">
            <a:avLst/>
          </a:prstGeom>
          <a:solidFill>
            <a:schemeClr val="accent1"/>
          </a:solidFill>
          <a:ln w="9525" algn="ctr">
            <a:solidFill>
              <a:schemeClr val="tx1"/>
            </a:solidFill>
            <a:round/>
            <a:headEnd/>
            <a:tailEnd type="triangle" w="med" len="med"/>
          </a:ln>
        </p:spPr>
        <p:txBody>
          <a:bodyPr wrap="none"/>
          <a:lstStyle/>
          <a:p>
            <a:endParaRPr lang="zh-CN" altLang="en-US"/>
          </a:p>
        </p:txBody>
      </p:sp>
      <p:sp>
        <p:nvSpPr>
          <p:cNvPr id="117766" name="矩形 8"/>
          <p:cNvSpPr>
            <a:spLocks noChangeArrowheads="1"/>
          </p:cNvSpPr>
          <p:nvPr/>
        </p:nvSpPr>
        <p:spPr bwMode="auto">
          <a:xfrm>
            <a:off x="2830513" y="3352800"/>
            <a:ext cx="434975" cy="261938"/>
          </a:xfrm>
          <a:prstGeom prst="rect">
            <a:avLst/>
          </a:prstGeom>
          <a:solidFill>
            <a:schemeClr val="accent1"/>
          </a:solidFill>
          <a:ln w="9525" algn="ctr">
            <a:solidFill>
              <a:schemeClr val="tx1"/>
            </a:solidFill>
            <a:round/>
            <a:headEnd/>
            <a:tailEnd type="triangle" w="med" len="med"/>
          </a:ln>
        </p:spPr>
        <p:txBody>
          <a:bodyPr wrap="none"/>
          <a:lstStyle/>
          <a:p>
            <a:endParaRPr lang="zh-CN" altLang="en-US"/>
          </a:p>
        </p:txBody>
      </p:sp>
      <p:sp>
        <p:nvSpPr>
          <p:cNvPr id="117767" name="矩形 9"/>
          <p:cNvSpPr>
            <a:spLocks noChangeArrowheads="1"/>
          </p:cNvSpPr>
          <p:nvPr/>
        </p:nvSpPr>
        <p:spPr bwMode="auto">
          <a:xfrm>
            <a:off x="4238625" y="4687888"/>
            <a:ext cx="434975" cy="261937"/>
          </a:xfrm>
          <a:prstGeom prst="rect">
            <a:avLst/>
          </a:prstGeom>
          <a:solidFill>
            <a:schemeClr val="accent1"/>
          </a:solidFill>
          <a:ln w="9525" algn="ctr">
            <a:solidFill>
              <a:schemeClr val="tx1"/>
            </a:solidFill>
            <a:round/>
            <a:headEnd/>
            <a:tailEnd type="triangle" w="med" len="med"/>
          </a:ln>
        </p:spPr>
        <p:txBody>
          <a:bodyPr wrap="none"/>
          <a:lstStyle/>
          <a:p>
            <a:endParaRPr lang="zh-CN" altLang="en-US"/>
          </a:p>
        </p:txBody>
      </p:sp>
      <p:sp>
        <p:nvSpPr>
          <p:cNvPr id="117768" name="矩形 10"/>
          <p:cNvSpPr>
            <a:spLocks noChangeArrowheads="1"/>
          </p:cNvSpPr>
          <p:nvPr/>
        </p:nvSpPr>
        <p:spPr bwMode="auto">
          <a:xfrm>
            <a:off x="6691313" y="4732338"/>
            <a:ext cx="434975" cy="260350"/>
          </a:xfrm>
          <a:prstGeom prst="rect">
            <a:avLst/>
          </a:prstGeom>
          <a:solidFill>
            <a:schemeClr val="accent1"/>
          </a:solidFill>
          <a:ln w="9525" algn="ctr">
            <a:solidFill>
              <a:schemeClr val="tx1"/>
            </a:solidFill>
            <a:round/>
            <a:headEnd/>
            <a:tailEnd type="triangle" w="med" len="med"/>
          </a:ln>
        </p:spPr>
        <p:txBody>
          <a:bodyPr wrap="none"/>
          <a:lstStyle/>
          <a:p>
            <a:endParaRPr lang="zh-CN" altLang="en-US"/>
          </a:p>
        </p:txBody>
      </p:sp>
      <p:cxnSp>
        <p:nvCxnSpPr>
          <p:cNvPr id="117769" name="直接箭头连接符 12"/>
          <p:cNvCxnSpPr>
            <a:cxnSpLocks noChangeShapeType="1"/>
            <a:stCxn id="117764" idx="4"/>
            <a:endCxn id="117766" idx="0"/>
          </p:cNvCxnSpPr>
          <p:nvPr/>
        </p:nvCxnSpPr>
        <p:spPr bwMode="auto">
          <a:xfrm flipH="1">
            <a:off x="3048000" y="2192338"/>
            <a:ext cx="1160463" cy="1160462"/>
          </a:xfrm>
          <a:prstGeom prst="straightConnector1">
            <a:avLst/>
          </a:prstGeom>
          <a:noFill/>
          <a:ln w="38100" algn="ctr">
            <a:solidFill>
              <a:schemeClr val="tx1"/>
            </a:solidFill>
            <a:round/>
            <a:headEnd/>
            <a:tailEnd type="arrow" w="med" len="med"/>
          </a:ln>
        </p:spPr>
      </p:cxnSp>
      <p:cxnSp>
        <p:nvCxnSpPr>
          <p:cNvPr id="117770" name="直接箭头连接符 16"/>
          <p:cNvCxnSpPr>
            <a:cxnSpLocks noChangeShapeType="1"/>
            <a:stCxn id="117764" idx="4"/>
            <a:endCxn id="117765" idx="1"/>
          </p:cNvCxnSpPr>
          <p:nvPr/>
        </p:nvCxnSpPr>
        <p:spPr bwMode="auto">
          <a:xfrm>
            <a:off x="4208463" y="2192338"/>
            <a:ext cx="1214437" cy="1081087"/>
          </a:xfrm>
          <a:prstGeom prst="straightConnector1">
            <a:avLst/>
          </a:prstGeom>
          <a:noFill/>
          <a:ln w="38100" algn="ctr">
            <a:solidFill>
              <a:schemeClr val="tx1"/>
            </a:solidFill>
            <a:round/>
            <a:headEnd/>
            <a:tailEnd type="arrow" w="med" len="med"/>
          </a:ln>
        </p:spPr>
      </p:cxnSp>
      <p:cxnSp>
        <p:nvCxnSpPr>
          <p:cNvPr id="117771" name="直接箭头连接符 18"/>
          <p:cNvCxnSpPr>
            <a:cxnSpLocks noChangeShapeType="1"/>
            <a:stCxn id="117765" idx="4"/>
            <a:endCxn id="117767" idx="0"/>
          </p:cNvCxnSpPr>
          <p:nvPr/>
        </p:nvCxnSpPr>
        <p:spPr bwMode="auto">
          <a:xfrm flipH="1">
            <a:off x="4456113" y="3482975"/>
            <a:ext cx="1058862" cy="1204913"/>
          </a:xfrm>
          <a:prstGeom prst="straightConnector1">
            <a:avLst/>
          </a:prstGeom>
          <a:noFill/>
          <a:ln w="38100" algn="ctr">
            <a:solidFill>
              <a:schemeClr val="tx1"/>
            </a:solidFill>
            <a:round/>
            <a:headEnd/>
            <a:tailEnd type="arrow" w="med" len="med"/>
          </a:ln>
        </p:spPr>
      </p:cxnSp>
      <p:cxnSp>
        <p:nvCxnSpPr>
          <p:cNvPr id="117772" name="直接箭头连接符 20"/>
          <p:cNvCxnSpPr>
            <a:cxnSpLocks noChangeShapeType="1"/>
            <a:stCxn id="117765" idx="4"/>
            <a:endCxn id="117768" idx="0"/>
          </p:cNvCxnSpPr>
          <p:nvPr/>
        </p:nvCxnSpPr>
        <p:spPr bwMode="auto">
          <a:xfrm>
            <a:off x="5514975" y="3482975"/>
            <a:ext cx="1393825" cy="1249363"/>
          </a:xfrm>
          <a:prstGeom prst="straightConnector1">
            <a:avLst/>
          </a:prstGeom>
          <a:noFill/>
          <a:ln w="38100" algn="ctr">
            <a:solidFill>
              <a:schemeClr val="tx1"/>
            </a:solidFill>
            <a:round/>
            <a:headEnd/>
            <a:tailEnd type="arrow" w="med" len="med"/>
          </a:ln>
        </p:spPr>
      </p:cxnSp>
      <p:sp>
        <p:nvSpPr>
          <p:cNvPr id="117773" name="TextBox 21"/>
          <p:cNvSpPr txBox="1">
            <a:spLocks noChangeArrowheads="1"/>
          </p:cNvSpPr>
          <p:nvPr/>
        </p:nvSpPr>
        <p:spPr bwMode="auto">
          <a:xfrm>
            <a:off x="4498975" y="3744913"/>
            <a:ext cx="741363" cy="400110"/>
          </a:xfrm>
          <a:prstGeom prst="rect">
            <a:avLst/>
          </a:prstGeom>
          <a:noFill/>
          <a:ln w="9525">
            <a:noFill/>
            <a:miter lim="800000"/>
            <a:headEnd/>
            <a:tailEnd/>
          </a:ln>
        </p:spPr>
        <p:txBody>
          <a:bodyPr>
            <a:spAutoFit/>
          </a:bodyPr>
          <a:lstStyle/>
          <a:p>
            <a:r>
              <a:rPr lang="zh-CN" altLang="en-US" sz="2000" b="1"/>
              <a:t>是</a:t>
            </a:r>
          </a:p>
        </p:txBody>
      </p:sp>
      <p:sp>
        <p:nvSpPr>
          <p:cNvPr id="117774" name="TextBox 22"/>
          <p:cNvSpPr txBox="1">
            <a:spLocks noChangeArrowheads="1"/>
          </p:cNvSpPr>
          <p:nvPr/>
        </p:nvSpPr>
        <p:spPr bwMode="auto">
          <a:xfrm>
            <a:off x="3076575" y="2511425"/>
            <a:ext cx="741363" cy="400110"/>
          </a:xfrm>
          <a:prstGeom prst="rect">
            <a:avLst/>
          </a:prstGeom>
          <a:noFill/>
          <a:ln w="9525">
            <a:noFill/>
            <a:miter lim="800000"/>
            <a:headEnd/>
            <a:tailEnd/>
          </a:ln>
        </p:spPr>
        <p:txBody>
          <a:bodyPr>
            <a:spAutoFit/>
          </a:bodyPr>
          <a:lstStyle/>
          <a:p>
            <a:r>
              <a:rPr lang="zh-CN" altLang="en-US" sz="2000" b="1"/>
              <a:t>是</a:t>
            </a:r>
          </a:p>
        </p:txBody>
      </p:sp>
      <p:sp>
        <p:nvSpPr>
          <p:cNvPr id="117775" name="TextBox 23"/>
          <p:cNvSpPr txBox="1">
            <a:spLocks noChangeArrowheads="1"/>
          </p:cNvSpPr>
          <p:nvPr/>
        </p:nvSpPr>
        <p:spPr bwMode="auto">
          <a:xfrm>
            <a:off x="2641600" y="3759200"/>
            <a:ext cx="739775" cy="400110"/>
          </a:xfrm>
          <a:prstGeom prst="rect">
            <a:avLst/>
          </a:prstGeom>
          <a:noFill/>
          <a:ln w="9525">
            <a:noFill/>
            <a:miter lim="800000"/>
            <a:headEnd/>
            <a:tailEnd/>
          </a:ln>
        </p:spPr>
        <p:txBody>
          <a:bodyPr>
            <a:spAutoFit/>
          </a:bodyPr>
          <a:lstStyle/>
          <a:p>
            <a:r>
              <a:rPr lang="zh-CN" altLang="en-US" sz="2000" b="1"/>
              <a:t>是</a:t>
            </a:r>
          </a:p>
        </p:txBody>
      </p:sp>
      <p:sp>
        <p:nvSpPr>
          <p:cNvPr id="117776" name="TextBox 24"/>
          <p:cNvSpPr txBox="1">
            <a:spLocks noChangeArrowheads="1"/>
          </p:cNvSpPr>
          <p:nvPr/>
        </p:nvSpPr>
        <p:spPr bwMode="auto">
          <a:xfrm>
            <a:off x="4064000" y="5080000"/>
            <a:ext cx="739775" cy="400110"/>
          </a:xfrm>
          <a:prstGeom prst="rect">
            <a:avLst/>
          </a:prstGeom>
          <a:noFill/>
          <a:ln w="9525">
            <a:noFill/>
            <a:miter lim="800000"/>
            <a:headEnd/>
            <a:tailEnd/>
          </a:ln>
        </p:spPr>
        <p:txBody>
          <a:bodyPr>
            <a:spAutoFit/>
          </a:bodyPr>
          <a:lstStyle/>
          <a:p>
            <a:r>
              <a:rPr lang="zh-CN" altLang="en-US" sz="2000" b="1"/>
              <a:t>是</a:t>
            </a:r>
          </a:p>
        </p:txBody>
      </p:sp>
      <p:sp>
        <p:nvSpPr>
          <p:cNvPr id="117777" name="TextBox 25"/>
          <p:cNvSpPr txBox="1">
            <a:spLocks noChangeArrowheads="1"/>
          </p:cNvSpPr>
          <p:nvPr/>
        </p:nvSpPr>
        <p:spPr bwMode="auto">
          <a:xfrm>
            <a:off x="4716463" y="2308225"/>
            <a:ext cx="741362" cy="400110"/>
          </a:xfrm>
          <a:prstGeom prst="rect">
            <a:avLst/>
          </a:prstGeom>
          <a:noFill/>
          <a:ln w="9525">
            <a:noFill/>
            <a:miter lim="800000"/>
            <a:headEnd/>
            <a:tailEnd/>
          </a:ln>
        </p:spPr>
        <p:txBody>
          <a:bodyPr>
            <a:spAutoFit/>
          </a:bodyPr>
          <a:lstStyle/>
          <a:p>
            <a:r>
              <a:rPr lang="zh-CN" altLang="en-US" sz="2000" b="1"/>
              <a:t>否</a:t>
            </a:r>
          </a:p>
        </p:txBody>
      </p:sp>
      <p:sp>
        <p:nvSpPr>
          <p:cNvPr id="117778" name="TextBox 26"/>
          <p:cNvSpPr txBox="1">
            <a:spLocks noChangeArrowheads="1"/>
          </p:cNvSpPr>
          <p:nvPr/>
        </p:nvSpPr>
        <p:spPr bwMode="auto">
          <a:xfrm>
            <a:off x="6053138" y="3598863"/>
            <a:ext cx="739775" cy="400110"/>
          </a:xfrm>
          <a:prstGeom prst="rect">
            <a:avLst/>
          </a:prstGeom>
          <a:noFill/>
          <a:ln w="9525">
            <a:noFill/>
            <a:miter lim="800000"/>
            <a:headEnd/>
            <a:tailEnd/>
          </a:ln>
        </p:spPr>
        <p:txBody>
          <a:bodyPr>
            <a:spAutoFit/>
          </a:bodyPr>
          <a:lstStyle/>
          <a:p>
            <a:r>
              <a:rPr lang="zh-CN" altLang="en-US" sz="2000" b="1"/>
              <a:t>否</a:t>
            </a:r>
          </a:p>
        </p:txBody>
      </p:sp>
      <p:sp>
        <p:nvSpPr>
          <p:cNvPr id="117779" name="TextBox 27"/>
          <p:cNvSpPr txBox="1">
            <a:spLocks noChangeArrowheads="1"/>
          </p:cNvSpPr>
          <p:nvPr/>
        </p:nvSpPr>
        <p:spPr bwMode="auto">
          <a:xfrm>
            <a:off x="6561138" y="5065713"/>
            <a:ext cx="739775" cy="400110"/>
          </a:xfrm>
          <a:prstGeom prst="rect">
            <a:avLst/>
          </a:prstGeom>
          <a:noFill/>
          <a:ln w="9525">
            <a:noFill/>
            <a:miter lim="800000"/>
            <a:headEnd/>
            <a:tailEnd/>
          </a:ln>
        </p:spPr>
        <p:txBody>
          <a:bodyPr>
            <a:spAutoFit/>
          </a:bodyPr>
          <a:lstStyle/>
          <a:p>
            <a:r>
              <a:rPr lang="zh-CN" altLang="en-US" sz="2000" b="1"/>
              <a:t>否</a:t>
            </a:r>
          </a:p>
        </p:txBody>
      </p:sp>
      <p:sp>
        <p:nvSpPr>
          <p:cNvPr id="117780" name="TextBox 28"/>
          <p:cNvSpPr txBox="1">
            <a:spLocks noChangeArrowheads="1"/>
          </p:cNvSpPr>
          <p:nvPr/>
        </p:nvSpPr>
        <p:spPr bwMode="auto">
          <a:xfrm>
            <a:off x="3629025" y="1393825"/>
            <a:ext cx="1814513" cy="400110"/>
          </a:xfrm>
          <a:prstGeom prst="rect">
            <a:avLst/>
          </a:prstGeom>
          <a:noFill/>
          <a:ln w="9525">
            <a:noFill/>
            <a:miter lim="800000"/>
            <a:headEnd/>
            <a:tailEnd/>
          </a:ln>
        </p:spPr>
        <p:txBody>
          <a:bodyPr>
            <a:spAutoFit/>
          </a:bodyPr>
          <a:lstStyle/>
          <a:p>
            <a:r>
              <a:rPr lang="zh-CN" altLang="en-US" sz="2000" b="1"/>
              <a:t>有房子</a:t>
            </a:r>
          </a:p>
        </p:txBody>
      </p:sp>
      <p:sp>
        <p:nvSpPr>
          <p:cNvPr id="117781" name="TextBox 29"/>
          <p:cNvSpPr txBox="1">
            <a:spLocks noChangeArrowheads="1"/>
          </p:cNvSpPr>
          <p:nvPr/>
        </p:nvSpPr>
        <p:spPr bwMode="auto">
          <a:xfrm>
            <a:off x="5732463" y="3005138"/>
            <a:ext cx="1814512" cy="400110"/>
          </a:xfrm>
          <a:prstGeom prst="rect">
            <a:avLst/>
          </a:prstGeom>
          <a:noFill/>
          <a:ln w="9525">
            <a:noFill/>
            <a:miter lim="800000"/>
            <a:headEnd/>
            <a:tailEnd/>
          </a:ln>
        </p:spPr>
        <p:txBody>
          <a:bodyPr>
            <a:spAutoFit/>
          </a:bodyPr>
          <a:lstStyle/>
          <a:p>
            <a:r>
              <a:rPr lang="zh-CN" altLang="en-US" sz="2000" b="1"/>
              <a:t>有工作</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ID3</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算法，请选择以下正确的说法</a:t>
            </a:r>
          </a:p>
        </p:txBody>
      </p:sp>
      <p:sp>
        <p:nvSpPr>
          <p:cNvPr id="6" name="文本框 5"/>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在生成决策树过程中必须使用所有的特征</a:t>
            </a:r>
          </a:p>
        </p:txBody>
      </p:sp>
      <p:sp>
        <p:nvSpPr>
          <p:cNvPr id="7" name="文本框 6"/>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允许生成的决策树叶节点实例类别不一样</a:t>
            </a:r>
          </a:p>
        </p:txBody>
      </p:sp>
      <p:sp>
        <p:nvSpPr>
          <p:cNvPr id="8" name="文本框 7"/>
          <p:cNvSpPr txBox="1"/>
          <p:nvPr>
            <p:custDataLst>
              <p:tags r:id="rId5"/>
            </p:custDataLst>
          </p:nvPr>
        </p:nvSpPr>
        <p:spPr>
          <a:xfrm>
            <a:off x="1828800" y="450056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同一个特征只能用在一个节点上</a:t>
            </a:r>
          </a:p>
        </p:txBody>
      </p:sp>
      <p:sp>
        <p:nvSpPr>
          <p:cNvPr id="9" name="文本框 8"/>
          <p:cNvSpPr txBox="1"/>
          <p:nvPr>
            <p:custDataLst>
              <p:tags r:id="rId6"/>
            </p:custDataLst>
          </p:nvPr>
        </p:nvSpPr>
        <p:spPr>
          <a:xfrm>
            <a:off x="1828800" y="535781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得到的决策树并不能保证最优</a:t>
            </a:r>
          </a:p>
        </p:txBody>
      </p:sp>
      <p:sp>
        <p:nvSpPr>
          <p:cNvPr id="10" name="矩形 9"/>
          <p:cNvSpPr>
            <a:spLocks noChangeAspect="1"/>
          </p:cNvSpPr>
          <p:nvPr>
            <p:custDataLst>
              <p:tags r:id="rId7"/>
            </p:custDataLst>
          </p:nvPr>
        </p:nvSpPr>
        <p:spPr>
          <a:xfrm>
            <a:off x="1114425" y="2850356"/>
            <a:ext cx="514350" cy="514350"/>
          </a:xfrm>
          <a:prstGeom prst="rect">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8"/>
            </p:custDataLst>
          </p:nvPr>
        </p:nvSpPr>
        <p:spPr>
          <a:xfrm>
            <a:off x="1114425" y="3707606"/>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矩形 11"/>
          <p:cNvSpPr>
            <a:spLocks noChangeAspect="1"/>
          </p:cNvSpPr>
          <p:nvPr>
            <p:custDataLst>
              <p:tags r:id="rId9"/>
            </p:custDataLst>
          </p:nvPr>
        </p:nvSpPr>
        <p:spPr>
          <a:xfrm>
            <a:off x="1114425" y="4564856"/>
            <a:ext cx="514350" cy="514350"/>
          </a:xfrm>
          <a:prstGeom prst="rect">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矩形 12"/>
          <p:cNvSpPr>
            <a:spLocks noChangeAspect="1"/>
          </p:cNvSpPr>
          <p:nvPr>
            <p:custDataLst>
              <p:tags r:id="rId10"/>
            </p:custDataLst>
          </p:nvPr>
        </p:nvSpPr>
        <p:spPr>
          <a:xfrm>
            <a:off x="1114425" y="5422106"/>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4" name="圆角矩形 13"/>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dirty="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9" name="组合 18"/>
          <p:cNvGrpSpPr/>
          <p:nvPr>
            <p:custDataLst>
              <p:tags r:id="rId12"/>
            </p:custDataLst>
          </p:nvPr>
        </p:nvGrpSpPr>
        <p:grpSpPr>
          <a:xfrm>
            <a:off x="0" y="0"/>
            <a:ext cx="9144000" cy="635000"/>
            <a:chOff x="0" y="0"/>
            <a:chExt cx="9144000" cy="635000"/>
          </a:xfrm>
        </p:grpSpPr>
        <p:sp>
          <p:nvSpPr>
            <p:cNvPr id="15" name="TitleBackground"/>
            <p:cNvSpPr/>
            <p:nvPr>
              <p:custDataLst>
                <p:tags r:id="rId14"/>
              </p:custDataLst>
            </p:nvPr>
          </p:nvSpPr>
          <p:spPr>
            <a:xfrm>
              <a:off x="0" y="0"/>
              <a:ext cx="9144000" cy="635000"/>
            </a:xfrm>
            <a:prstGeom prst="rect">
              <a:avLst/>
            </a:prstGeom>
            <a:solidFill>
              <a:srgbClr val="F6F7F8"/>
            </a:solidFill>
            <a:ln w="12700" cap="flat" cmpd="sng" algn="ctr">
              <a:noFill/>
              <a:prstDash val="solid"/>
            </a:ln>
            <a:effectLst/>
            <a:extLst>
              <a:ext uri="{91240B29-F687-4F45-9708-019B960494DF}">
                <a14:hiddenLine xmlns:a14="http://schemas.microsoft.com/office/drawing/2010/main" w="127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ColorBlock"/>
            <p:cNvSpPr/>
            <p:nvPr>
              <p:custDataLst>
                <p:tags r:id="rId15"/>
              </p:custDataLst>
            </p:nvPr>
          </p:nvSpPr>
          <p:spPr>
            <a:xfrm>
              <a:off x="0" y="0"/>
              <a:ext cx="190500" cy="635000"/>
            </a:xfrm>
            <a:prstGeom prst="rect">
              <a:avLst/>
            </a:prstGeom>
            <a:solidFill>
              <a:srgbClr val="639EF4"/>
            </a:solidFill>
            <a:ln w="12700" cap="flat" cmpd="sng" algn="ctr">
              <a:noFill/>
              <a:prstDash val="solid"/>
            </a:ln>
            <a:effectLst/>
            <a:extLst>
              <a:ext uri="{91240B29-F687-4F45-9708-019B960494DF}">
                <a14:hiddenLine xmlns:a14="http://schemas.microsoft.com/office/drawing/2010/main" w="127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8"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4" name="图片 3"/>
          <p:cNvPicPr>
            <a:picLocks/>
          </p:cNvPicPr>
          <p:nvPr>
            <p:custDataLst>
              <p:tags r:id="rId13"/>
            </p:custDataLst>
          </p:nvPr>
        </p:nvPicPr>
        <p:blipFill>
          <a:blip r:embed="rId20">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34468819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en-US" altLang="zh-CN" dirty="0"/>
              <a:t>ID3</a:t>
            </a:r>
            <a:r>
              <a:rPr lang="zh-CN" altLang="en-US" dirty="0"/>
              <a:t>存在的问题</a:t>
            </a:r>
          </a:p>
        </p:txBody>
      </p:sp>
      <p:sp>
        <p:nvSpPr>
          <p:cNvPr id="118787" name="内容占位符 2"/>
          <p:cNvSpPr>
            <a:spLocks noGrp="1"/>
          </p:cNvSpPr>
          <p:nvPr>
            <p:ph idx="1"/>
          </p:nvPr>
        </p:nvSpPr>
        <p:spPr>
          <a:xfrm>
            <a:off x="914400" y="1671144"/>
            <a:ext cx="7772400" cy="4348655"/>
          </a:xfrm>
        </p:spPr>
        <p:txBody>
          <a:bodyPr>
            <a:normAutofit/>
          </a:bodyPr>
          <a:lstStyle/>
          <a:p>
            <a:r>
              <a:rPr lang="zh-CN" altLang="en-US" sz="3200" b="1" dirty="0"/>
              <a:t>信息增益倾向于选择分枝比较多的属性</a:t>
            </a:r>
            <a:endParaRPr lang="en-US" altLang="zh-CN" sz="3200" b="1" dirty="0"/>
          </a:p>
          <a:p>
            <a:endParaRPr lang="en-US" altLang="zh-CN" sz="3200" b="1" dirty="0"/>
          </a:p>
          <a:p>
            <a:r>
              <a:rPr lang="zh-CN" altLang="en-US" sz="3200" b="1" dirty="0"/>
              <a:t>比如前面贷款的例子中，如果用</a:t>
            </a:r>
            <a:r>
              <a:rPr lang="en-US" altLang="zh-CN" sz="3200" b="1" dirty="0"/>
              <a:t>ID</a:t>
            </a:r>
            <a:r>
              <a:rPr lang="zh-CN" altLang="en-US" sz="3200" b="1" dirty="0"/>
              <a:t>做属性，将获得最大的信息增益值</a:t>
            </a:r>
          </a:p>
        </p:txBody>
      </p:sp>
      <p:sp>
        <p:nvSpPr>
          <p:cNvPr id="118788" name="灯片编号占位符 3"/>
          <p:cNvSpPr>
            <a:spLocks noGrp="1"/>
          </p:cNvSpPr>
          <p:nvPr>
            <p:ph type="sldNum" sz="quarter" idx="12"/>
          </p:nvPr>
        </p:nvSpPr>
        <p:spPr>
          <a:noFill/>
        </p:spPr>
        <p:txBody>
          <a:bodyPr/>
          <a:lstStyle/>
          <a:p>
            <a:fld id="{84D9FF24-7B55-4602-916B-195D43A09ED4}" type="slidenum">
              <a:rPr lang="en-US" altLang="zh-CN" smtClean="0">
                <a:ea typeface="黑体" pitchFamily="49" charset="-122"/>
              </a:rPr>
              <a:pPr/>
              <a:t>95</a:t>
            </a:fld>
            <a:endParaRPr lang="en-US" altLang="zh-CN">
              <a:ea typeface="黑体" pitchFamily="49" charset="-122"/>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dirty="0"/>
              <a:t>信息增益比</a:t>
            </a:r>
          </a:p>
        </p:txBody>
      </p:sp>
      <p:sp>
        <p:nvSpPr>
          <p:cNvPr id="65540" name="内容占位符 2"/>
          <p:cNvSpPr>
            <a:spLocks noGrp="1"/>
          </p:cNvSpPr>
          <p:nvPr>
            <p:ph idx="1"/>
          </p:nvPr>
        </p:nvSpPr>
        <p:spPr>
          <a:xfrm>
            <a:off x="627063" y="1749425"/>
            <a:ext cx="7772400" cy="4114800"/>
          </a:xfrm>
        </p:spPr>
        <p:txBody>
          <a:bodyPr>
            <a:normAutofit lnSpcReduction="10000"/>
          </a:bodyPr>
          <a:lstStyle/>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r>
              <a:rPr lang="zh-CN" altLang="en-US" sz="3200" b="1" dirty="0"/>
              <a:t>其中</a:t>
            </a:r>
            <a:r>
              <a:rPr lang="en-US" altLang="zh-CN" sz="3200" b="1" dirty="0"/>
              <a:t>A</a:t>
            </a:r>
            <a:r>
              <a:rPr lang="zh-CN" altLang="en-US" sz="3200" b="1" dirty="0"/>
              <a:t>为属性，</a:t>
            </a:r>
            <a:r>
              <a:rPr lang="en-US" altLang="zh-CN" sz="3200" b="1" dirty="0"/>
              <a:t>A</a:t>
            </a:r>
            <a:r>
              <a:rPr lang="zh-CN" altLang="en-US" sz="3200" b="1" dirty="0"/>
              <a:t>的不同取值将</a:t>
            </a:r>
            <a:r>
              <a:rPr lang="en-US" altLang="zh-CN" sz="3200" b="1" dirty="0"/>
              <a:t>D</a:t>
            </a:r>
            <a:r>
              <a:rPr lang="zh-CN" altLang="en-US" sz="3200" b="1" dirty="0"/>
              <a:t>划分为</a:t>
            </a:r>
            <a:r>
              <a:rPr lang="en-US" altLang="zh-CN" sz="3200" b="1" dirty="0"/>
              <a:t>n</a:t>
            </a:r>
            <a:r>
              <a:rPr lang="zh-CN" altLang="en-US" sz="3200" b="1" dirty="0"/>
              <a:t>个子集</a:t>
            </a:r>
            <a:r>
              <a:rPr lang="en-US" altLang="zh-CN" sz="3200" b="1" dirty="0"/>
              <a:t>D</a:t>
            </a:r>
            <a:r>
              <a:rPr lang="en-US" altLang="zh-CN" sz="3200" b="1" baseline="-25000" dirty="0"/>
              <a:t>1</a:t>
            </a:r>
            <a:r>
              <a:rPr lang="en-US" altLang="zh-CN" sz="3200" b="1" dirty="0"/>
              <a:t>…</a:t>
            </a:r>
            <a:r>
              <a:rPr lang="en-US" altLang="zh-CN" sz="3200" b="1" dirty="0" err="1"/>
              <a:t>D</a:t>
            </a:r>
            <a:r>
              <a:rPr lang="en-US" altLang="zh-CN" sz="3200" b="1" baseline="-25000" dirty="0" err="1"/>
              <a:t>n</a:t>
            </a:r>
            <a:endParaRPr lang="zh-CN" altLang="en-US" sz="3200" b="1" dirty="0"/>
          </a:p>
        </p:txBody>
      </p:sp>
      <p:sp>
        <p:nvSpPr>
          <p:cNvPr id="65541" name="灯片编号占位符 3"/>
          <p:cNvSpPr>
            <a:spLocks noGrp="1"/>
          </p:cNvSpPr>
          <p:nvPr>
            <p:ph type="sldNum" sz="quarter" idx="12"/>
          </p:nvPr>
        </p:nvSpPr>
        <p:spPr>
          <a:noFill/>
        </p:spPr>
        <p:txBody>
          <a:bodyPr/>
          <a:lstStyle/>
          <a:p>
            <a:fld id="{4AA57C96-8621-47B5-B042-B216CA180E27}" type="slidenum">
              <a:rPr lang="en-US" altLang="zh-CN" smtClean="0">
                <a:ea typeface="黑体" pitchFamily="49" charset="-122"/>
              </a:rPr>
              <a:pPr/>
              <a:t>96</a:t>
            </a:fld>
            <a:endParaRPr lang="en-US" altLang="zh-CN">
              <a:ea typeface="黑体" pitchFamily="49" charset="-122"/>
            </a:endParaRPr>
          </a:p>
        </p:txBody>
      </p:sp>
      <p:graphicFrame>
        <p:nvGraphicFramePr>
          <p:cNvPr id="65538" name="Object 1" descr="羊皮纸"/>
          <p:cNvGraphicFramePr>
            <a:graphicFrameLocks noChangeAspect="1"/>
          </p:cNvGraphicFramePr>
          <p:nvPr/>
        </p:nvGraphicFramePr>
        <p:xfrm>
          <a:off x="1455301" y="1432357"/>
          <a:ext cx="5811837" cy="3097213"/>
        </p:xfrm>
        <a:graphic>
          <a:graphicData uri="http://schemas.openxmlformats.org/presentationml/2006/ole">
            <mc:AlternateContent xmlns:mc="http://schemas.openxmlformats.org/markup-compatibility/2006">
              <mc:Choice xmlns:v="urn:schemas-microsoft-com:vml" Requires="v">
                <p:oleObj name="公式" r:id="rId3" imgW="1688760" imgH="914400" progId="Equation.3">
                  <p:embed/>
                </p:oleObj>
              </mc:Choice>
              <mc:Fallback>
                <p:oleObj name="公式" r:id="rId3" imgW="1688760" imgH="914400" progId="Equation.3">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55301" y="1432357"/>
                        <a:ext cx="5811837" cy="30972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en-US" altLang="zh-CN" dirty="0"/>
              <a:t>C4.5</a:t>
            </a:r>
            <a:r>
              <a:rPr lang="zh-CN" altLang="en-US" dirty="0"/>
              <a:t>的生成算法</a:t>
            </a:r>
          </a:p>
        </p:txBody>
      </p:sp>
      <p:sp>
        <p:nvSpPr>
          <p:cNvPr id="119811" name="内容占位符 2"/>
          <p:cNvSpPr>
            <a:spLocks noGrp="1"/>
          </p:cNvSpPr>
          <p:nvPr>
            <p:ph idx="1"/>
          </p:nvPr>
        </p:nvSpPr>
        <p:spPr>
          <a:xfrm>
            <a:off x="914400" y="1797268"/>
            <a:ext cx="7772400" cy="4222531"/>
          </a:xfrm>
        </p:spPr>
        <p:txBody>
          <a:bodyPr>
            <a:normAutofit/>
          </a:bodyPr>
          <a:lstStyle/>
          <a:p>
            <a:r>
              <a:rPr lang="zh-CN" altLang="en-US" sz="3200" b="1" dirty="0"/>
              <a:t>除了根据信息增益比选择特征外，</a:t>
            </a:r>
            <a:r>
              <a:rPr lang="en-US" altLang="zh-CN" sz="3200" b="1" dirty="0"/>
              <a:t>C4.5</a:t>
            </a:r>
            <a:r>
              <a:rPr lang="zh-CN" altLang="en-US" sz="3200" b="1" dirty="0"/>
              <a:t>算法与</a:t>
            </a:r>
            <a:r>
              <a:rPr lang="en-US" altLang="zh-CN" sz="3200" b="1" dirty="0"/>
              <a:t>ID3</a:t>
            </a:r>
            <a:r>
              <a:rPr lang="zh-CN" altLang="en-US" sz="3200" b="1" dirty="0"/>
              <a:t>基本一样。</a:t>
            </a:r>
            <a:endParaRPr lang="en-US" altLang="zh-CN" sz="3200" b="1" dirty="0"/>
          </a:p>
          <a:p>
            <a:endParaRPr lang="en-US" altLang="zh-CN" sz="3200" b="1" dirty="0"/>
          </a:p>
          <a:p>
            <a:r>
              <a:rPr lang="zh-CN" altLang="en-US" sz="3200" b="1" dirty="0"/>
              <a:t>同时</a:t>
            </a:r>
            <a:r>
              <a:rPr lang="en-US" altLang="zh-CN" sz="3200" b="1" dirty="0"/>
              <a:t>C4.5</a:t>
            </a:r>
            <a:r>
              <a:rPr lang="zh-CN" altLang="en-US" sz="3200" b="1" dirty="0"/>
              <a:t>增加了对连续值属性的处理，对于连续值属性</a:t>
            </a:r>
            <a:r>
              <a:rPr lang="en-US" altLang="zh-CN" sz="3200" b="1" dirty="0"/>
              <a:t>A</a:t>
            </a:r>
            <a:r>
              <a:rPr lang="zh-CN" altLang="en-US" sz="3200" b="1" dirty="0"/>
              <a:t>，找到一个属性值</a:t>
            </a:r>
            <a:r>
              <a:rPr lang="en-US" altLang="zh-CN" sz="3200" b="1" dirty="0"/>
              <a:t>a</a:t>
            </a:r>
            <a:r>
              <a:rPr lang="en-US" altLang="zh-CN" sz="3200" b="1" baseline="-25000" dirty="0"/>
              <a:t>0</a:t>
            </a:r>
            <a:r>
              <a:rPr lang="zh-CN" altLang="en-US" sz="3200" b="1" dirty="0"/>
              <a:t>，将≤</a:t>
            </a:r>
            <a:r>
              <a:rPr lang="en-US" altLang="zh-CN" sz="3200" b="1" dirty="0"/>
              <a:t>a</a:t>
            </a:r>
            <a:r>
              <a:rPr lang="en-US" altLang="zh-CN" sz="3200" b="1" baseline="-25000" dirty="0"/>
              <a:t>0</a:t>
            </a:r>
            <a:r>
              <a:rPr lang="zh-CN" altLang="en-US" sz="3200" b="1" dirty="0"/>
              <a:t>的划分到左子树，＞</a:t>
            </a:r>
            <a:r>
              <a:rPr lang="en-US" altLang="zh-CN" sz="3200" b="1" dirty="0"/>
              <a:t>a</a:t>
            </a:r>
            <a:r>
              <a:rPr lang="en-US" altLang="zh-CN" sz="3200" b="1" baseline="-25000" dirty="0"/>
              <a:t>0</a:t>
            </a:r>
            <a:r>
              <a:rPr lang="zh-CN" altLang="en-US" sz="3200" b="1" dirty="0"/>
              <a:t>的划分到右子树</a:t>
            </a:r>
          </a:p>
        </p:txBody>
      </p:sp>
      <p:sp>
        <p:nvSpPr>
          <p:cNvPr id="119812" name="灯片编号占位符 3"/>
          <p:cNvSpPr>
            <a:spLocks noGrp="1"/>
          </p:cNvSpPr>
          <p:nvPr>
            <p:ph type="sldNum" sz="quarter" idx="12"/>
          </p:nvPr>
        </p:nvSpPr>
        <p:spPr>
          <a:noFill/>
        </p:spPr>
        <p:txBody>
          <a:bodyPr/>
          <a:lstStyle/>
          <a:p>
            <a:fld id="{E84C0309-7E31-40E8-AA49-7EBA662F2598}" type="slidenum">
              <a:rPr lang="en-US" altLang="zh-CN" smtClean="0">
                <a:ea typeface="黑体" pitchFamily="49" charset="-122"/>
              </a:rPr>
              <a:pPr/>
              <a:t>97</a:t>
            </a:fld>
            <a:endParaRPr lang="en-US" altLang="zh-CN">
              <a:ea typeface="黑体" pitchFamily="49" charset="-122"/>
            </a:endParaRPr>
          </a:p>
        </p:txBody>
      </p:sp>
      <p:grpSp>
        <p:nvGrpSpPr>
          <p:cNvPr id="4" name="Group 3">
            <a:extLst>
              <a:ext uri="{FF2B5EF4-FFF2-40B4-BE49-F238E27FC236}">
                <a16:creationId xmlns:a16="http://schemas.microsoft.com/office/drawing/2014/main" id="{9C20DB83-BA24-792E-72A1-F3202E9A2FC4}"/>
              </a:ext>
            </a:extLst>
          </p:cNvPr>
          <p:cNvGrpSpPr/>
          <p:nvPr/>
        </p:nvGrpSpPr>
        <p:grpSpPr>
          <a:xfrm>
            <a:off x="4494997" y="5285472"/>
            <a:ext cx="2933566" cy="998621"/>
            <a:chOff x="4494997" y="5285472"/>
            <a:chExt cx="2933566" cy="998621"/>
          </a:xfrm>
        </p:grpSpPr>
        <p:sp>
          <p:nvSpPr>
            <p:cNvPr id="3" name="TextBox 2">
              <a:extLst>
                <a:ext uri="{FF2B5EF4-FFF2-40B4-BE49-F238E27FC236}">
                  <a16:creationId xmlns:a16="http://schemas.microsoft.com/office/drawing/2014/main" id="{0EDC095D-5686-99BA-B3EE-82460489C584}"/>
                </a:ext>
              </a:extLst>
            </p:cNvPr>
            <p:cNvSpPr txBox="1"/>
            <p:nvPr/>
          </p:nvSpPr>
          <p:spPr>
            <a:xfrm>
              <a:off x="4494997" y="5419023"/>
              <a:ext cx="2849078" cy="365760"/>
            </a:xfrm>
            <a:prstGeom prst="rect">
              <a:avLst/>
            </a:prstGeom>
            <a:noFill/>
          </p:spPr>
          <p:txBody>
            <a:bodyPr wrap="square" rtlCol="0">
              <a:spAutoFit/>
            </a:bodyPr>
            <a:lstStyle/>
            <a:p>
              <a:r>
                <a:rPr lang="en-US" dirty="0" err="1">
                  <a:solidFill>
                    <a:srgbClr val="FF0000"/>
                  </a:solidFill>
                </a:rPr>
                <a:t>如何获得</a:t>
              </a:r>
              <a:r>
                <a:rPr lang="en-US" altLang="zh-CN" sz="1800" b="1" dirty="0">
                  <a:solidFill>
                    <a:srgbClr val="FF0000"/>
                  </a:solidFill>
                </a:rPr>
                <a:t> a</a:t>
              </a:r>
              <a:r>
                <a:rPr lang="en-US" altLang="zh-CN" sz="1800" b="1" baseline="-25000" dirty="0">
                  <a:solidFill>
                    <a:srgbClr val="FF0000"/>
                  </a:solidFill>
                </a:rPr>
                <a:t>0</a:t>
              </a:r>
              <a:r>
                <a:rPr lang="zh-CN" altLang="en-US" sz="1800" b="1" dirty="0">
                  <a:solidFill>
                    <a:srgbClr val="FF0000"/>
                  </a:solidFill>
                </a:rPr>
                <a:t>？</a:t>
              </a:r>
              <a:endParaRPr lang="en-US" dirty="0">
                <a:solidFill>
                  <a:srgbClr val="FF0000"/>
                </a:solidFill>
              </a:endParaRPr>
            </a:p>
          </p:txBody>
        </p:sp>
        <p:pic>
          <p:nvPicPr>
            <p:cNvPr id="1026" name="Picture 2" descr="Question Baby Images – Browse 12,543 Stock Photos, Vectors, and Video |  Adobe Stock">
              <a:extLst>
                <a:ext uri="{FF2B5EF4-FFF2-40B4-BE49-F238E27FC236}">
                  <a16:creationId xmlns:a16="http://schemas.microsoft.com/office/drawing/2014/main" id="{9E8C2735-74B4-CD2C-3CAC-9A7AED356E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19536" y="5285472"/>
              <a:ext cx="1509027" cy="998621"/>
            </a:xfrm>
            <a:prstGeom prst="rect">
              <a:avLst/>
            </a:prstGeom>
            <a:noFill/>
            <a:extLst>
              <a:ext uri="{909E8E84-426E-40DD-AFC4-6F175D3DCCD1}">
                <a14:hiddenFill xmlns:a14="http://schemas.microsoft.com/office/drawing/2010/main">
                  <a:solidFill>
                    <a:srgbClr val="FFFFFF"/>
                  </a:solidFill>
                </a14:hiddenFill>
              </a:ext>
            </a:extLst>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endParaRPr lang="zh-CN" altLang="en-US" dirty="0"/>
          </a:p>
        </p:txBody>
      </p:sp>
      <p:sp>
        <p:nvSpPr>
          <p:cNvPr id="120835" name="内容占位符 2"/>
          <p:cNvSpPr>
            <a:spLocks noGrp="1"/>
          </p:cNvSpPr>
          <p:nvPr>
            <p:ph idx="1"/>
          </p:nvPr>
        </p:nvSpPr>
        <p:spPr/>
        <p:txBody>
          <a:bodyPr>
            <a:normAutofit/>
          </a:bodyPr>
          <a:lstStyle/>
          <a:p>
            <a:r>
              <a:rPr lang="zh-CN" altLang="en-US" sz="3200" b="1" dirty="0"/>
              <a:t>信息增益比的问题：</a:t>
            </a:r>
            <a:endParaRPr lang="en-US" altLang="zh-CN" sz="3200" b="1" dirty="0"/>
          </a:p>
          <a:p>
            <a:pPr lvl="1"/>
            <a:r>
              <a:rPr lang="zh-CN" altLang="en-US" sz="2800" b="1" dirty="0"/>
              <a:t>倾向于选择分割不均匀的特征</a:t>
            </a:r>
            <a:endParaRPr lang="en-US" altLang="zh-CN" sz="2800" b="1" dirty="0"/>
          </a:p>
          <a:p>
            <a:endParaRPr lang="en-US" altLang="zh-CN" sz="2800" b="1" dirty="0"/>
          </a:p>
          <a:p>
            <a:r>
              <a:rPr lang="zh-CN" altLang="en-US" sz="3200" b="1" dirty="0"/>
              <a:t>解决办法</a:t>
            </a:r>
            <a:endParaRPr lang="en-US" altLang="zh-CN" sz="3200" b="1" dirty="0"/>
          </a:p>
          <a:p>
            <a:pPr lvl="1"/>
            <a:r>
              <a:rPr lang="zh-CN" altLang="en-US" sz="2800" b="1" dirty="0"/>
              <a:t>先选择</a:t>
            </a:r>
            <a:r>
              <a:rPr lang="en-US" altLang="zh-CN" sz="2800" b="1" dirty="0"/>
              <a:t>n</a:t>
            </a:r>
            <a:r>
              <a:rPr lang="zh-CN" altLang="en-US" sz="2800" b="1" dirty="0"/>
              <a:t>个信息增益大的特征，再从这</a:t>
            </a:r>
            <a:r>
              <a:rPr lang="en-US" altLang="zh-CN" sz="2800" b="1" dirty="0"/>
              <a:t>n</a:t>
            </a:r>
            <a:r>
              <a:rPr lang="zh-CN" altLang="en-US" sz="2800" b="1" dirty="0"/>
              <a:t>个特征中选择信息增益比最大的特征</a:t>
            </a:r>
            <a:endParaRPr lang="en-US" altLang="zh-CN" sz="2800" b="1" dirty="0"/>
          </a:p>
        </p:txBody>
      </p:sp>
      <p:sp>
        <p:nvSpPr>
          <p:cNvPr id="120836" name="灯片编号占位符 3"/>
          <p:cNvSpPr>
            <a:spLocks noGrp="1"/>
          </p:cNvSpPr>
          <p:nvPr>
            <p:ph type="sldNum" sz="quarter" idx="12"/>
          </p:nvPr>
        </p:nvSpPr>
        <p:spPr>
          <a:noFill/>
        </p:spPr>
        <p:txBody>
          <a:bodyPr/>
          <a:lstStyle/>
          <a:p>
            <a:fld id="{98C54635-238B-4D90-BE7F-5522484D7A66}" type="slidenum">
              <a:rPr lang="en-US" altLang="zh-CN" smtClean="0">
                <a:ea typeface="黑体" pitchFamily="49" charset="-122"/>
              </a:rPr>
              <a:pPr/>
              <a:t>98</a:t>
            </a:fld>
            <a:endParaRPr lang="en-US" altLang="zh-CN">
              <a:ea typeface="黑体" pitchFamily="49" charset="-122"/>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Overfitting with a Decision Tree – Entrepreneurial Geekiness">
            <a:extLst>
              <a:ext uri="{FF2B5EF4-FFF2-40B4-BE49-F238E27FC236}">
                <a16:creationId xmlns:a16="http://schemas.microsoft.com/office/drawing/2014/main" id="{3914D11C-EED6-0394-0121-DA2F24357A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7257" y="1196257"/>
            <a:ext cx="7052343" cy="5315095"/>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p:cNvSpPr>
            <a:spLocks noGrp="1"/>
          </p:cNvSpPr>
          <p:nvPr>
            <p:ph type="title"/>
          </p:nvPr>
        </p:nvSpPr>
        <p:spPr/>
        <p:txBody>
          <a:bodyPr/>
          <a:lstStyle/>
          <a:p>
            <a:pPr>
              <a:defRPr/>
            </a:pPr>
            <a:r>
              <a:rPr lang="zh-CN" altLang="en-US" dirty="0"/>
              <a:t>过拟合问题</a:t>
            </a:r>
          </a:p>
        </p:txBody>
      </p:sp>
      <p:sp>
        <p:nvSpPr>
          <p:cNvPr id="121860" name="灯片编号占位符 3"/>
          <p:cNvSpPr>
            <a:spLocks noGrp="1"/>
          </p:cNvSpPr>
          <p:nvPr>
            <p:ph type="sldNum" sz="quarter" idx="12"/>
          </p:nvPr>
        </p:nvSpPr>
        <p:spPr>
          <a:noFill/>
        </p:spPr>
        <p:txBody>
          <a:bodyPr/>
          <a:lstStyle/>
          <a:p>
            <a:fld id="{8FF3A44B-A945-460F-91AA-9EB17D7646E3}" type="slidenum">
              <a:rPr lang="en-US" altLang="zh-CN" smtClean="0">
                <a:ea typeface="黑体" pitchFamily="49" charset="-122"/>
              </a:rPr>
              <a:pPr/>
              <a:t>99</a:t>
            </a:fld>
            <a:endParaRPr lang="en-US" altLang="zh-CN" dirty="0">
              <a:ea typeface="黑体" pitchFamily="49" charset="-122"/>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dirty="0"/>
              <a:t>决策树的剪枝</a:t>
            </a:r>
          </a:p>
        </p:txBody>
      </p:sp>
      <p:sp>
        <p:nvSpPr>
          <p:cNvPr id="122883" name="内容占位符 2"/>
          <p:cNvSpPr>
            <a:spLocks noGrp="1"/>
          </p:cNvSpPr>
          <p:nvPr>
            <p:ph idx="1"/>
          </p:nvPr>
        </p:nvSpPr>
        <p:spPr>
          <a:xfrm>
            <a:off x="685800" y="1981200"/>
            <a:ext cx="8269288" cy="4114800"/>
          </a:xfrm>
        </p:spPr>
        <p:txBody>
          <a:bodyPr>
            <a:normAutofit/>
          </a:bodyPr>
          <a:lstStyle/>
          <a:p>
            <a:r>
              <a:rPr lang="zh-CN" altLang="en-US" sz="3200" b="1" dirty="0"/>
              <a:t>为了防止出现过拟合，对生成的决策树进行简化的过程称为</a:t>
            </a:r>
            <a:r>
              <a:rPr lang="zh-CN" altLang="en-US" sz="3200" b="1" dirty="0">
                <a:solidFill>
                  <a:srgbClr val="FF0000"/>
                </a:solidFill>
              </a:rPr>
              <a:t>剪枝</a:t>
            </a:r>
            <a:r>
              <a:rPr lang="zh-CN" altLang="en-US" sz="3200" b="1" dirty="0"/>
              <a:t>。也就是从已经生成的树上裁掉一些子树或者叶节点，将其父节点作为新的叶节点，用其实例数最大的类别作为标记。</a:t>
            </a:r>
            <a:endParaRPr lang="en-US" altLang="zh-CN" sz="3200" b="1" dirty="0"/>
          </a:p>
          <a:p>
            <a:endParaRPr lang="en-US" altLang="zh-CN" sz="3200" b="1" dirty="0"/>
          </a:p>
          <a:p>
            <a:r>
              <a:rPr lang="zh-CN" altLang="en-US" sz="3200" b="1" dirty="0"/>
              <a:t>这种先生成树再剪枝的方法称为后剪枝。</a:t>
            </a:r>
          </a:p>
        </p:txBody>
      </p:sp>
      <p:sp>
        <p:nvSpPr>
          <p:cNvPr id="122884" name="灯片编号占位符 3"/>
          <p:cNvSpPr>
            <a:spLocks noGrp="1"/>
          </p:cNvSpPr>
          <p:nvPr>
            <p:ph type="sldNum" sz="quarter" idx="12"/>
          </p:nvPr>
        </p:nvSpPr>
        <p:spPr>
          <a:noFill/>
        </p:spPr>
        <p:txBody>
          <a:bodyPr/>
          <a:lstStyle/>
          <a:p>
            <a:fld id="{F5FAFB68-36B6-43C4-99CA-64F0174B1EDF}" type="slidenum">
              <a:rPr lang="en-US" altLang="zh-CN" smtClean="0">
                <a:ea typeface="黑体" pitchFamily="49" charset="-122"/>
              </a:rPr>
              <a:pPr/>
              <a:t>100</a:t>
            </a:fld>
            <a:endParaRPr lang="en-US" altLang="zh-CN">
              <a:ea typeface="黑体" pitchFamily="49" charset="-122"/>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灯片编号占位符 3"/>
          <p:cNvSpPr>
            <a:spLocks noGrp="1"/>
          </p:cNvSpPr>
          <p:nvPr>
            <p:ph type="sldNum" sz="quarter" idx="12"/>
          </p:nvPr>
        </p:nvSpPr>
        <p:spPr>
          <a:noFill/>
        </p:spPr>
        <p:txBody>
          <a:bodyPr/>
          <a:lstStyle/>
          <a:p>
            <a:fld id="{0C361ABA-3864-4621-BD5E-50BA28C0E078}" type="slidenum">
              <a:rPr lang="en-US" altLang="zh-CN" smtClean="0">
                <a:ea typeface="黑体" pitchFamily="49" charset="-122"/>
              </a:rPr>
              <a:pPr/>
              <a:t>101</a:t>
            </a:fld>
            <a:endParaRPr lang="en-US" altLang="zh-CN">
              <a:ea typeface="黑体" pitchFamily="49" charset="-122"/>
            </a:endParaRPr>
          </a:p>
        </p:txBody>
      </p:sp>
      <p:grpSp>
        <p:nvGrpSpPr>
          <p:cNvPr id="2" name="组合 40"/>
          <p:cNvGrpSpPr>
            <a:grpSpLocks/>
          </p:cNvGrpSpPr>
          <p:nvPr/>
        </p:nvGrpSpPr>
        <p:grpSpPr bwMode="auto">
          <a:xfrm>
            <a:off x="1481138" y="2003425"/>
            <a:ext cx="6138862" cy="3916358"/>
            <a:chOff x="1480457" y="2002716"/>
            <a:chExt cx="6139314" cy="3916315"/>
          </a:xfrm>
        </p:grpSpPr>
        <p:sp>
          <p:nvSpPr>
            <p:cNvPr id="123909" name="椭圆 6"/>
            <p:cNvSpPr>
              <a:spLocks noChangeArrowheads="1"/>
            </p:cNvSpPr>
            <p:nvPr/>
          </p:nvSpPr>
          <p:spPr bwMode="auto">
            <a:xfrm>
              <a:off x="4426629" y="2002716"/>
              <a:ext cx="261937" cy="247650"/>
            </a:xfrm>
            <a:prstGeom prst="ellipse">
              <a:avLst/>
            </a:prstGeom>
            <a:solidFill>
              <a:schemeClr val="accent1"/>
            </a:solidFill>
            <a:ln w="9525" algn="ctr">
              <a:solidFill>
                <a:schemeClr val="tx1"/>
              </a:solidFill>
              <a:round/>
              <a:headEnd/>
              <a:tailEnd type="triangle" w="med" len="med"/>
            </a:ln>
          </p:spPr>
          <p:txBody>
            <a:bodyPr wrap="none"/>
            <a:lstStyle/>
            <a:p>
              <a:endParaRPr lang="zh-CN" altLang="en-US"/>
            </a:p>
          </p:txBody>
        </p:sp>
        <p:sp>
          <p:nvSpPr>
            <p:cNvPr id="123910" name="矩形 8"/>
            <p:cNvSpPr>
              <a:spLocks noChangeArrowheads="1"/>
            </p:cNvSpPr>
            <p:nvPr/>
          </p:nvSpPr>
          <p:spPr bwMode="auto">
            <a:xfrm>
              <a:off x="3933595" y="4920312"/>
              <a:ext cx="434975" cy="261938"/>
            </a:xfrm>
            <a:prstGeom prst="rect">
              <a:avLst/>
            </a:prstGeom>
            <a:solidFill>
              <a:schemeClr val="accent1"/>
            </a:solidFill>
            <a:ln w="9525" algn="ctr">
              <a:solidFill>
                <a:schemeClr val="tx1"/>
              </a:solidFill>
              <a:round/>
              <a:headEnd/>
              <a:tailEnd type="triangle" w="med" len="med"/>
            </a:ln>
          </p:spPr>
          <p:txBody>
            <a:bodyPr wrap="none"/>
            <a:lstStyle/>
            <a:p>
              <a:endParaRPr lang="zh-CN" altLang="en-US"/>
            </a:p>
          </p:txBody>
        </p:sp>
        <p:cxnSp>
          <p:nvCxnSpPr>
            <p:cNvPr id="123911" name="直接箭头连接符 12"/>
            <p:cNvCxnSpPr>
              <a:cxnSpLocks noChangeShapeType="1"/>
              <a:stCxn id="123909" idx="4"/>
              <a:endCxn id="123913" idx="0"/>
            </p:cNvCxnSpPr>
            <p:nvPr/>
          </p:nvCxnSpPr>
          <p:spPr bwMode="auto">
            <a:xfrm flipH="1">
              <a:off x="3265830" y="2250366"/>
              <a:ext cx="1291768" cy="1189264"/>
            </a:xfrm>
            <a:prstGeom prst="straightConnector1">
              <a:avLst/>
            </a:prstGeom>
            <a:noFill/>
            <a:ln w="38100" algn="ctr">
              <a:solidFill>
                <a:schemeClr val="tx1"/>
              </a:solidFill>
              <a:round/>
              <a:headEnd/>
              <a:tailEnd type="arrow" w="med" len="med"/>
            </a:ln>
          </p:spPr>
        </p:cxnSp>
        <p:sp>
          <p:nvSpPr>
            <p:cNvPr id="123912" name="椭圆 6"/>
            <p:cNvSpPr>
              <a:spLocks noChangeArrowheads="1"/>
            </p:cNvSpPr>
            <p:nvPr/>
          </p:nvSpPr>
          <p:spPr bwMode="auto">
            <a:xfrm>
              <a:off x="6110286" y="3352545"/>
              <a:ext cx="261937" cy="247650"/>
            </a:xfrm>
            <a:prstGeom prst="ellipse">
              <a:avLst/>
            </a:prstGeom>
            <a:solidFill>
              <a:schemeClr val="accent1"/>
            </a:solidFill>
            <a:ln w="9525" algn="ctr">
              <a:solidFill>
                <a:schemeClr val="tx1"/>
              </a:solidFill>
              <a:round/>
              <a:headEnd/>
              <a:tailEnd type="triangle" w="med" len="med"/>
            </a:ln>
          </p:spPr>
          <p:txBody>
            <a:bodyPr wrap="none"/>
            <a:lstStyle/>
            <a:p>
              <a:endParaRPr lang="zh-CN" altLang="en-US"/>
            </a:p>
          </p:txBody>
        </p:sp>
        <p:sp>
          <p:nvSpPr>
            <p:cNvPr id="123913" name="椭圆 6"/>
            <p:cNvSpPr>
              <a:spLocks noChangeArrowheads="1"/>
            </p:cNvSpPr>
            <p:nvPr/>
          </p:nvSpPr>
          <p:spPr bwMode="auto">
            <a:xfrm>
              <a:off x="3134861" y="3439630"/>
              <a:ext cx="261937" cy="247650"/>
            </a:xfrm>
            <a:prstGeom prst="ellipse">
              <a:avLst/>
            </a:prstGeom>
            <a:solidFill>
              <a:schemeClr val="accent1"/>
            </a:solidFill>
            <a:ln w="9525" algn="ctr">
              <a:solidFill>
                <a:schemeClr val="tx1"/>
              </a:solidFill>
              <a:round/>
              <a:headEnd/>
              <a:tailEnd type="triangle" w="med" len="med"/>
            </a:ln>
          </p:spPr>
          <p:txBody>
            <a:bodyPr wrap="none"/>
            <a:lstStyle/>
            <a:p>
              <a:endParaRPr lang="zh-CN" altLang="en-US"/>
            </a:p>
          </p:txBody>
        </p:sp>
        <p:sp>
          <p:nvSpPr>
            <p:cNvPr id="123914" name="矩形 8"/>
            <p:cNvSpPr>
              <a:spLocks noChangeArrowheads="1"/>
            </p:cNvSpPr>
            <p:nvPr/>
          </p:nvSpPr>
          <p:spPr bwMode="auto">
            <a:xfrm>
              <a:off x="5167310" y="4934828"/>
              <a:ext cx="434975" cy="261938"/>
            </a:xfrm>
            <a:prstGeom prst="rect">
              <a:avLst/>
            </a:prstGeom>
            <a:solidFill>
              <a:schemeClr val="accent1"/>
            </a:solidFill>
            <a:ln w="9525" algn="ctr">
              <a:solidFill>
                <a:schemeClr val="tx1"/>
              </a:solidFill>
              <a:round/>
              <a:headEnd/>
              <a:tailEnd type="triangle" w="med" len="med"/>
            </a:ln>
          </p:spPr>
          <p:txBody>
            <a:bodyPr wrap="none"/>
            <a:lstStyle/>
            <a:p>
              <a:endParaRPr lang="zh-CN" altLang="en-US"/>
            </a:p>
          </p:txBody>
        </p:sp>
        <p:sp>
          <p:nvSpPr>
            <p:cNvPr id="123915" name="矩形 8"/>
            <p:cNvSpPr>
              <a:spLocks noChangeArrowheads="1"/>
            </p:cNvSpPr>
            <p:nvPr/>
          </p:nvSpPr>
          <p:spPr bwMode="auto">
            <a:xfrm>
              <a:off x="7184796" y="4862257"/>
              <a:ext cx="434975" cy="261938"/>
            </a:xfrm>
            <a:prstGeom prst="rect">
              <a:avLst/>
            </a:prstGeom>
            <a:solidFill>
              <a:schemeClr val="accent1"/>
            </a:solidFill>
            <a:ln w="9525" algn="ctr">
              <a:solidFill>
                <a:schemeClr val="tx1"/>
              </a:solidFill>
              <a:round/>
              <a:headEnd/>
              <a:tailEnd type="triangle" w="med" len="med"/>
            </a:ln>
          </p:spPr>
          <p:txBody>
            <a:bodyPr wrap="none"/>
            <a:lstStyle/>
            <a:p>
              <a:endParaRPr lang="zh-CN" altLang="en-US"/>
            </a:p>
          </p:txBody>
        </p:sp>
        <p:sp>
          <p:nvSpPr>
            <p:cNvPr id="123916" name="矩形 8"/>
            <p:cNvSpPr>
              <a:spLocks noChangeArrowheads="1"/>
            </p:cNvSpPr>
            <p:nvPr/>
          </p:nvSpPr>
          <p:spPr bwMode="auto">
            <a:xfrm>
              <a:off x="1582281" y="4978367"/>
              <a:ext cx="434975" cy="261938"/>
            </a:xfrm>
            <a:prstGeom prst="rect">
              <a:avLst/>
            </a:prstGeom>
            <a:solidFill>
              <a:schemeClr val="accent1"/>
            </a:solidFill>
            <a:ln w="9525" algn="ctr">
              <a:solidFill>
                <a:schemeClr val="tx1"/>
              </a:solidFill>
              <a:round/>
              <a:headEnd/>
              <a:tailEnd type="triangle" w="med" len="med"/>
            </a:ln>
          </p:spPr>
          <p:txBody>
            <a:bodyPr wrap="none"/>
            <a:lstStyle/>
            <a:p>
              <a:endParaRPr lang="zh-CN" altLang="en-US"/>
            </a:p>
          </p:txBody>
        </p:sp>
        <p:cxnSp>
          <p:nvCxnSpPr>
            <p:cNvPr id="123917" name="直接箭头连接符 12"/>
            <p:cNvCxnSpPr>
              <a:cxnSpLocks noChangeShapeType="1"/>
              <a:stCxn id="123909" idx="5"/>
              <a:endCxn id="123912" idx="1"/>
            </p:cNvCxnSpPr>
            <p:nvPr/>
          </p:nvCxnSpPr>
          <p:spPr bwMode="auto">
            <a:xfrm>
              <a:off x="4650206" y="2214099"/>
              <a:ext cx="1498440" cy="1174713"/>
            </a:xfrm>
            <a:prstGeom prst="straightConnector1">
              <a:avLst/>
            </a:prstGeom>
            <a:noFill/>
            <a:ln w="38100" algn="ctr">
              <a:solidFill>
                <a:schemeClr val="tx1"/>
              </a:solidFill>
              <a:round/>
              <a:headEnd/>
              <a:tailEnd type="arrow" w="med" len="med"/>
            </a:ln>
          </p:spPr>
        </p:cxnSp>
        <p:cxnSp>
          <p:nvCxnSpPr>
            <p:cNvPr id="123918" name="直接箭头连接符 12"/>
            <p:cNvCxnSpPr>
              <a:cxnSpLocks noChangeShapeType="1"/>
              <a:stCxn id="123913" idx="4"/>
              <a:endCxn id="123916" idx="0"/>
            </p:cNvCxnSpPr>
            <p:nvPr/>
          </p:nvCxnSpPr>
          <p:spPr bwMode="auto">
            <a:xfrm flipH="1">
              <a:off x="1799769" y="3687280"/>
              <a:ext cx="1466061" cy="1291087"/>
            </a:xfrm>
            <a:prstGeom prst="straightConnector1">
              <a:avLst/>
            </a:prstGeom>
            <a:noFill/>
            <a:ln w="38100" algn="ctr">
              <a:solidFill>
                <a:schemeClr val="tx1"/>
              </a:solidFill>
              <a:round/>
              <a:headEnd/>
              <a:tailEnd type="arrow" w="med" len="med"/>
            </a:ln>
          </p:spPr>
        </p:cxnSp>
        <p:cxnSp>
          <p:nvCxnSpPr>
            <p:cNvPr id="123919" name="直接箭头连接符 12"/>
            <p:cNvCxnSpPr>
              <a:cxnSpLocks noChangeShapeType="1"/>
              <a:stCxn id="123913" idx="4"/>
              <a:endCxn id="123910" idx="0"/>
            </p:cNvCxnSpPr>
            <p:nvPr/>
          </p:nvCxnSpPr>
          <p:spPr bwMode="auto">
            <a:xfrm>
              <a:off x="3265830" y="3687280"/>
              <a:ext cx="885253" cy="1233032"/>
            </a:xfrm>
            <a:prstGeom prst="straightConnector1">
              <a:avLst/>
            </a:prstGeom>
            <a:noFill/>
            <a:ln w="38100" algn="ctr">
              <a:solidFill>
                <a:schemeClr val="tx1"/>
              </a:solidFill>
              <a:round/>
              <a:headEnd/>
              <a:tailEnd type="arrow" w="med" len="med"/>
            </a:ln>
          </p:spPr>
        </p:cxnSp>
        <p:cxnSp>
          <p:nvCxnSpPr>
            <p:cNvPr id="123920" name="直接箭头连接符 12"/>
            <p:cNvCxnSpPr>
              <a:cxnSpLocks noChangeShapeType="1"/>
              <a:stCxn id="123912" idx="5"/>
              <a:endCxn id="123915" idx="0"/>
            </p:cNvCxnSpPr>
            <p:nvPr/>
          </p:nvCxnSpPr>
          <p:spPr bwMode="auto">
            <a:xfrm>
              <a:off x="6333863" y="3563928"/>
              <a:ext cx="1068421" cy="1298329"/>
            </a:xfrm>
            <a:prstGeom prst="straightConnector1">
              <a:avLst/>
            </a:prstGeom>
            <a:noFill/>
            <a:ln w="38100" algn="ctr">
              <a:solidFill>
                <a:schemeClr val="tx1"/>
              </a:solidFill>
              <a:round/>
              <a:headEnd/>
              <a:tailEnd type="arrow" w="med" len="med"/>
            </a:ln>
          </p:spPr>
        </p:cxnSp>
        <p:cxnSp>
          <p:nvCxnSpPr>
            <p:cNvPr id="123921" name="直接箭头连接符 12"/>
            <p:cNvCxnSpPr>
              <a:cxnSpLocks noChangeShapeType="1"/>
              <a:stCxn id="123912" idx="4"/>
              <a:endCxn id="123914" idx="0"/>
            </p:cNvCxnSpPr>
            <p:nvPr/>
          </p:nvCxnSpPr>
          <p:spPr bwMode="auto">
            <a:xfrm flipH="1">
              <a:off x="5384798" y="3600195"/>
              <a:ext cx="856457" cy="1334633"/>
            </a:xfrm>
            <a:prstGeom prst="straightConnector1">
              <a:avLst/>
            </a:prstGeom>
            <a:noFill/>
            <a:ln w="38100" algn="ctr">
              <a:solidFill>
                <a:schemeClr val="tx1"/>
              </a:solidFill>
              <a:round/>
              <a:headEnd/>
              <a:tailEnd type="arrow" w="med" len="med"/>
            </a:ln>
          </p:spPr>
        </p:cxnSp>
        <p:sp>
          <p:nvSpPr>
            <p:cNvPr id="123922" name="TextBox 38"/>
            <p:cNvSpPr txBox="1">
              <a:spLocks noChangeArrowheads="1"/>
            </p:cNvSpPr>
            <p:nvPr/>
          </p:nvSpPr>
          <p:spPr bwMode="auto">
            <a:xfrm>
              <a:off x="1480457" y="5457371"/>
              <a:ext cx="1436914" cy="461660"/>
            </a:xfrm>
            <a:prstGeom prst="rect">
              <a:avLst/>
            </a:prstGeom>
            <a:noFill/>
            <a:ln w="9525">
              <a:noFill/>
              <a:miter lim="800000"/>
              <a:headEnd/>
              <a:tailEnd/>
            </a:ln>
          </p:spPr>
          <p:txBody>
            <a:bodyPr>
              <a:spAutoFit/>
            </a:bodyPr>
            <a:lstStyle/>
            <a:p>
              <a:r>
                <a:rPr lang="en-US" altLang="zh-CN" sz="2400" b="1" dirty="0"/>
                <a:t>a </a:t>
              </a:r>
              <a:r>
                <a:rPr lang="en-US" altLang="zh-CN" sz="2400" b="1" dirty="0" err="1"/>
                <a:t>a</a:t>
              </a:r>
              <a:r>
                <a:rPr lang="en-US" altLang="zh-CN" sz="2400" b="1" dirty="0"/>
                <a:t> </a:t>
              </a:r>
              <a:r>
                <a:rPr lang="en-US" altLang="zh-CN" sz="2400" b="1" dirty="0" err="1"/>
                <a:t>a</a:t>
              </a:r>
              <a:endParaRPr lang="zh-CN" altLang="en-US" sz="2400" b="1" dirty="0"/>
            </a:p>
          </p:txBody>
        </p:sp>
        <p:sp>
          <p:nvSpPr>
            <p:cNvPr id="123923" name="TextBox 39"/>
            <p:cNvSpPr txBox="1">
              <a:spLocks noChangeArrowheads="1"/>
            </p:cNvSpPr>
            <p:nvPr/>
          </p:nvSpPr>
          <p:spPr bwMode="auto">
            <a:xfrm>
              <a:off x="3875309" y="5413829"/>
              <a:ext cx="1436914" cy="461660"/>
            </a:xfrm>
            <a:prstGeom prst="rect">
              <a:avLst/>
            </a:prstGeom>
            <a:noFill/>
            <a:ln w="9525">
              <a:noFill/>
              <a:miter lim="800000"/>
              <a:headEnd/>
              <a:tailEnd/>
            </a:ln>
          </p:spPr>
          <p:txBody>
            <a:bodyPr>
              <a:spAutoFit/>
            </a:bodyPr>
            <a:lstStyle/>
            <a:p>
              <a:r>
                <a:rPr lang="en-US" altLang="zh-CN" sz="2400" b="1"/>
                <a:t>b b</a:t>
              </a:r>
              <a:endParaRPr lang="zh-CN" altLang="en-US" sz="2400" b="1"/>
            </a:p>
          </p:txBody>
        </p:sp>
      </p:grpSp>
      <p:sp>
        <p:nvSpPr>
          <p:cNvPr id="72" name="标题 1"/>
          <p:cNvSpPr>
            <a:spLocks noGrp="1"/>
          </p:cNvSpPr>
          <p:nvPr>
            <p:ph type="title"/>
          </p:nvPr>
        </p:nvSpPr>
        <p:spPr/>
        <p:txBody>
          <a:bodyPr/>
          <a:lstStyle/>
          <a:p>
            <a:pPr>
              <a:defRPr/>
            </a:pPr>
            <a:r>
              <a:rPr lang="zh-CN" altLang="en-US" dirty="0"/>
              <a:t>后剪枝方法示意</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灯片编号占位符 3"/>
          <p:cNvSpPr>
            <a:spLocks noGrp="1"/>
          </p:cNvSpPr>
          <p:nvPr>
            <p:ph type="sldNum" sz="quarter" idx="12"/>
          </p:nvPr>
        </p:nvSpPr>
        <p:spPr>
          <a:noFill/>
        </p:spPr>
        <p:txBody>
          <a:bodyPr/>
          <a:lstStyle/>
          <a:p>
            <a:fld id="{D47BEBAF-63E3-449C-9CF4-5AAE841587AD}" type="slidenum">
              <a:rPr lang="en-US" altLang="zh-CN" smtClean="0">
                <a:ea typeface="黑体" pitchFamily="49" charset="-122"/>
              </a:rPr>
              <a:pPr/>
              <a:t>102</a:t>
            </a:fld>
            <a:endParaRPr lang="en-US" altLang="zh-CN">
              <a:ea typeface="黑体" pitchFamily="49" charset="-122"/>
            </a:endParaRPr>
          </a:p>
        </p:txBody>
      </p:sp>
      <p:grpSp>
        <p:nvGrpSpPr>
          <p:cNvPr id="2" name="组合 46"/>
          <p:cNvGrpSpPr>
            <a:grpSpLocks/>
          </p:cNvGrpSpPr>
          <p:nvPr/>
        </p:nvGrpSpPr>
        <p:grpSpPr bwMode="auto">
          <a:xfrm>
            <a:off x="1089025" y="2003425"/>
            <a:ext cx="6530975" cy="4205432"/>
            <a:chOff x="1088579" y="2002716"/>
            <a:chExt cx="6531192" cy="4206744"/>
          </a:xfrm>
        </p:grpSpPr>
        <p:sp>
          <p:nvSpPr>
            <p:cNvPr id="124933" name="椭圆 6"/>
            <p:cNvSpPr>
              <a:spLocks noChangeArrowheads="1"/>
            </p:cNvSpPr>
            <p:nvPr/>
          </p:nvSpPr>
          <p:spPr bwMode="auto">
            <a:xfrm>
              <a:off x="4426629" y="2002716"/>
              <a:ext cx="261937" cy="247650"/>
            </a:xfrm>
            <a:prstGeom prst="ellipse">
              <a:avLst/>
            </a:prstGeom>
            <a:solidFill>
              <a:schemeClr val="accent1"/>
            </a:solidFill>
            <a:ln w="9525" algn="ctr">
              <a:solidFill>
                <a:schemeClr val="tx1"/>
              </a:solidFill>
              <a:round/>
              <a:headEnd/>
              <a:tailEnd type="triangle" w="med" len="med"/>
            </a:ln>
          </p:spPr>
          <p:txBody>
            <a:bodyPr wrap="none"/>
            <a:lstStyle/>
            <a:p>
              <a:endParaRPr lang="zh-CN" altLang="en-US"/>
            </a:p>
          </p:txBody>
        </p:sp>
        <p:sp>
          <p:nvSpPr>
            <p:cNvPr id="124934" name="矩形 8"/>
            <p:cNvSpPr>
              <a:spLocks noChangeArrowheads="1"/>
            </p:cNvSpPr>
            <p:nvPr/>
          </p:nvSpPr>
          <p:spPr bwMode="auto">
            <a:xfrm>
              <a:off x="3541717" y="5210592"/>
              <a:ext cx="434975" cy="261938"/>
            </a:xfrm>
            <a:prstGeom prst="rect">
              <a:avLst/>
            </a:prstGeom>
            <a:solidFill>
              <a:schemeClr val="accent1"/>
            </a:solidFill>
            <a:ln w="9525" algn="ctr">
              <a:solidFill>
                <a:schemeClr val="tx1"/>
              </a:solidFill>
              <a:round/>
              <a:headEnd/>
              <a:tailEnd type="triangle" w="med" len="med"/>
            </a:ln>
          </p:spPr>
          <p:txBody>
            <a:bodyPr wrap="none"/>
            <a:lstStyle/>
            <a:p>
              <a:endParaRPr lang="zh-CN" altLang="en-US"/>
            </a:p>
          </p:txBody>
        </p:sp>
        <p:sp>
          <p:nvSpPr>
            <p:cNvPr id="124935" name="椭圆 6"/>
            <p:cNvSpPr>
              <a:spLocks noChangeArrowheads="1"/>
            </p:cNvSpPr>
            <p:nvPr/>
          </p:nvSpPr>
          <p:spPr bwMode="auto">
            <a:xfrm>
              <a:off x="6110286" y="3352545"/>
              <a:ext cx="261937" cy="247650"/>
            </a:xfrm>
            <a:prstGeom prst="ellipse">
              <a:avLst/>
            </a:prstGeom>
            <a:solidFill>
              <a:schemeClr val="accent1"/>
            </a:solidFill>
            <a:ln w="9525" algn="ctr">
              <a:solidFill>
                <a:schemeClr val="tx1"/>
              </a:solidFill>
              <a:round/>
              <a:headEnd/>
              <a:tailEnd type="triangle" w="med" len="med"/>
            </a:ln>
          </p:spPr>
          <p:txBody>
            <a:bodyPr wrap="none"/>
            <a:lstStyle/>
            <a:p>
              <a:endParaRPr lang="zh-CN" altLang="en-US"/>
            </a:p>
          </p:txBody>
        </p:sp>
        <p:sp>
          <p:nvSpPr>
            <p:cNvPr id="124936" name="椭圆 6"/>
            <p:cNvSpPr>
              <a:spLocks noChangeArrowheads="1"/>
            </p:cNvSpPr>
            <p:nvPr/>
          </p:nvSpPr>
          <p:spPr bwMode="auto">
            <a:xfrm>
              <a:off x="2742983" y="3729910"/>
              <a:ext cx="261937" cy="247650"/>
            </a:xfrm>
            <a:prstGeom prst="ellipse">
              <a:avLst/>
            </a:prstGeom>
            <a:solidFill>
              <a:schemeClr val="accent1"/>
            </a:solidFill>
            <a:ln w="9525" algn="ctr">
              <a:solidFill>
                <a:schemeClr val="tx1"/>
              </a:solidFill>
              <a:round/>
              <a:headEnd/>
              <a:tailEnd type="triangle" w="med" len="med"/>
            </a:ln>
          </p:spPr>
          <p:txBody>
            <a:bodyPr wrap="none"/>
            <a:lstStyle/>
            <a:p>
              <a:endParaRPr lang="zh-CN" altLang="en-US"/>
            </a:p>
          </p:txBody>
        </p:sp>
        <p:sp>
          <p:nvSpPr>
            <p:cNvPr id="124937" name="矩形 8"/>
            <p:cNvSpPr>
              <a:spLocks noChangeArrowheads="1"/>
            </p:cNvSpPr>
            <p:nvPr/>
          </p:nvSpPr>
          <p:spPr bwMode="auto">
            <a:xfrm>
              <a:off x="5167310" y="4934828"/>
              <a:ext cx="434975" cy="261938"/>
            </a:xfrm>
            <a:prstGeom prst="rect">
              <a:avLst/>
            </a:prstGeom>
            <a:solidFill>
              <a:schemeClr val="accent1"/>
            </a:solidFill>
            <a:ln w="9525" algn="ctr">
              <a:solidFill>
                <a:schemeClr val="tx1"/>
              </a:solidFill>
              <a:round/>
              <a:headEnd/>
              <a:tailEnd type="triangle" w="med" len="med"/>
            </a:ln>
          </p:spPr>
          <p:txBody>
            <a:bodyPr wrap="none"/>
            <a:lstStyle/>
            <a:p>
              <a:endParaRPr lang="zh-CN" altLang="en-US"/>
            </a:p>
          </p:txBody>
        </p:sp>
        <p:sp>
          <p:nvSpPr>
            <p:cNvPr id="124938" name="矩形 8"/>
            <p:cNvSpPr>
              <a:spLocks noChangeArrowheads="1"/>
            </p:cNvSpPr>
            <p:nvPr/>
          </p:nvSpPr>
          <p:spPr bwMode="auto">
            <a:xfrm>
              <a:off x="7184796" y="4862257"/>
              <a:ext cx="434975" cy="261938"/>
            </a:xfrm>
            <a:prstGeom prst="rect">
              <a:avLst/>
            </a:prstGeom>
            <a:solidFill>
              <a:schemeClr val="accent1"/>
            </a:solidFill>
            <a:ln w="9525" algn="ctr">
              <a:solidFill>
                <a:schemeClr val="tx1"/>
              </a:solidFill>
              <a:round/>
              <a:headEnd/>
              <a:tailEnd type="triangle" w="med" len="med"/>
            </a:ln>
          </p:spPr>
          <p:txBody>
            <a:bodyPr wrap="none"/>
            <a:lstStyle/>
            <a:p>
              <a:endParaRPr lang="zh-CN" altLang="en-US"/>
            </a:p>
          </p:txBody>
        </p:sp>
        <p:sp>
          <p:nvSpPr>
            <p:cNvPr id="124939" name="矩形 8"/>
            <p:cNvSpPr>
              <a:spLocks noChangeArrowheads="1"/>
            </p:cNvSpPr>
            <p:nvPr/>
          </p:nvSpPr>
          <p:spPr bwMode="auto">
            <a:xfrm>
              <a:off x="1190403" y="5268647"/>
              <a:ext cx="434975" cy="261938"/>
            </a:xfrm>
            <a:prstGeom prst="rect">
              <a:avLst/>
            </a:prstGeom>
            <a:solidFill>
              <a:schemeClr val="accent1"/>
            </a:solidFill>
            <a:ln w="9525" algn="ctr">
              <a:solidFill>
                <a:schemeClr val="tx1"/>
              </a:solidFill>
              <a:round/>
              <a:headEnd/>
              <a:tailEnd type="triangle" w="med" len="med"/>
            </a:ln>
          </p:spPr>
          <p:txBody>
            <a:bodyPr wrap="none"/>
            <a:lstStyle/>
            <a:p>
              <a:endParaRPr lang="zh-CN" altLang="en-US"/>
            </a:p>
          </p:txBody>
        </p:sp>
        <p:cxnSp>
          <p:nvCxnSpPr>
            <p:cNvPr id="124940" name="直接箭头连接符 12"/>
            <p:cNvCxnSpPr>
              <a:cxnSpLocks noChangeShapeType="1"/>
              <a:stCxn id="124933" idx="5"/>
              <a:endCxn id="124935" idx="1"/>
            </p:cNvCxnSpPr>
            <p:nvPr/>
          </p:nvCxnSpPr>
          <p:spPr bwMode="auto">
            <a:xfrm>
              <a:off x="4650206" y="2214099"/>
              <a:ext cx="1498440" cy="1174713"/>
            </a:xfrm>
            <a:prstGeom prst="straightConnector1">
              <a:avLst/>
            </a:prstGeom>
            <a:noFill/>
            <a:ln w="38100" algn="ctr">
              <a:solidFill>
                <a:schemeClr val="tx1"/>
              </a:solidFill>
              <a:round/>
              <a:headEnd/>
              <a:tailEnd type="arrow" w="med" len="med"/>
            </a:ln>
          </p:spPr>
        </p:cxnSp>
        <p:cxnSp>
          <p:nvCxnSpPr>
            <p:cNvPr id="124941" name="直接箭头连接符 12"/>
            <p:cNvCxnSpPr>
              <a:cxnSpLocks noChangeShapeType="1"/>
              <a:stCxn id="124936" idx="4"/>
              <a:endCxn id="124939" idx="0"/>
            </p:cNvCxnSpPr>
            <p:nvPr/>
          </p:nvCxnSpPr>
          <p:spPr bwMode="auto">
            <a:xfrm flipH="1">
              <a:off x="1407891" y="3977560"/>
              <a:ext cx="1466061" cy="1291087"/>
            </a:xfrm>
            <a:prstGeom prst="straightConnector1">
              <a:avLst/>
            </a:prstGeom>
            <a:noFill/>
            <a:ln w="38100" algn="ctr">
              <a:solidFill>
                <a:schemeClr val="tx1"/>
              </a:solidFill>
              <a:round/>
              <a:headEnd/>
              <a:tailEnd type="arrow" w="med" len="med"/>
            </a:ln>
          </p:spPr>
        </p:cxnSp>
        <p:cxnSp>
          <p:nvCxnSpPr>
            <p:cNvPr id="124942" name="直接箭头连接符 12"/>
            <p:cNvCxnSpPr>
              <a:cxnSpLocks noChangeShapeType="1"/>
              <a:stCxn id="124936" idx="4"/>
              <a:endCxn id="124934" idx="0"/>
            </p:cNvCxnSpPr>
            <p:nvPr/>
          </p:nvCxnSpPr>
          <p:spPr bwMode="auto">
            <a:xfrm>
              <a:off x="2873952" y="3977560"/>
              <a:ext cx="885253" cy="1233032"/>
            </a:xfrm>
            <a:prstGeom prst="straightConnector1">
              <a:avLst/>
            </a:prstGeom>
            <a:noFill/>
            <a:ln w="38100" algn="ctr">
              <a:solidFill>
                <a:schemeClr val="tx1"/>
              </a:solidFill>
              <a:round/>
              <a:headEnd/>
              <a:tailEnd type="arrow" w="med" len="med"/>
            </a:ln>
          </p:spPr>
        </p:cxnSp>
        <p:cxnSp>
          <p:nvCxnSpPr>
            <p:cNvPr id="124943" name="直接箭头连接符 12"/>
            <p:cNvCxnSpPr>
              <a:cxnSpLocks noChangeShapeType="1"/>
              <a:stCxn id="124935" idx="5"/>
              <a:endCxn id="124938" idx="0"/>
            </p:cNvCxnSpPr>
            <p:nvPr/>
          </p:nvCxnSpPr>
          <p:spPr bwMode="auto">
            <a:xfrm>
              <a:off x="6333863" y="3563928"/>
              <a:ext cx="1068421" cy="1298329"/>
            </a:xfrm>
            <a:prstGeom prst="straightConnector1">
              <a:avLst/>
            </a:prstGeom>
            <a:noFill/>
            <a:ln w="38100" algn="ctr">
              <a:solidFill>
                <a:schemeClr val="tx1"/>
              </a:solidFill>
              <a:round/>
              <a:headEnd/>
              <a:tailEnd type="arrow" w="med" len="med"/>
            </a:ln>
          </p:spPr>
        </p:cxnSp>
        <p:cxnSp>
          <p:nvCxnSpPr>
            <p:cNvPr id="124944" name="直接箭头连接符 12"/>
            <p:cNvCxnSpPr>
              <a:cxnSpLocks noChangeShapeType="1"/>
              <a:stCxn id="124935" idx="4"/>
              <a:endCxn id="124937" idx="0"/>
            </p:cNvCxnSpPr>
            <p:nvPr/>
          </p:nvCxnSpPr>
          <p:spPr bwMode="auto">
            <a:xfrm flipH="1">
              <a:off x="5384798" y="3600195"/>
              <a:ext cx="856457" cy="1334633"/>
            </a:xfrm>
            <a:prstGeom prst="straightConnector1">
              <a:avLst/>
            </a:prstGeom>
            <a:noFill/>
            <a:ln w="38100" algn="ctr">
              <a:solidFill>
                <a:schemeClr val="tx1"/>
              </a:solidFill>
              <a:round/>
              <a:headEnd/>
              <a:tailEnd type="arrow" w="med" len="med"/>
            </a:ln>
          </p:spPr>
        </p:cxnSp>
        <p:sp>
          <p:nvSpPr>
            <p:cNvPr id="124945" name="TextBox 33"/>
            <p:cNvSpPr txBox="1">
              <a:spLocks noChangeArrowheads="1"/>
            </p:cNvSpPr>
            <p:nvPr/>
          </p:nvSpPr>
          <p:spPr bwMode="auto">
            <a:xfrm>
              <a:off x="1088579" y="5747651"/>
              <a:ext cx="1436914" cy="461809"/>
            </a:xfrm>
            <a:prstGeom prst="rect">
              <a:avLst/>
            </a:prstGeom>
            <a:noFill/>
            <a:ln w="9525">
              <a:noFill/>
              <a:miter lim="800000"/>
              <a:headEnd/>
              <a:tailEnd/>
            </a:ln>
          </p:spPr>
          <p:txBody>
            <a:bodyPr>
              <a:spAutoFit/>
            </a:bodyPr>
            <a:lstStyle/>
            <a:p>
              <a:r>
                <a:rPr lang="en-US" altLang="zh-CN" sz="2400" b="1" dirty="0"/>
                <a:t>a </a:t>
              </a:r>
              <a:r>
                <a:rPr lang="en-US" altLang="zh-CN" sz="2400" b="1" dirty="0" err="1"/>
                <a:t>a</a:t>
              </a:r>
              <a:r>
                <a:rPr lang="en-US" altLang="zh-CN" sz="2400" b="1" dirty="0"/>
                <a:t> </a:t>
              </a:r>
              <a:r>
                <a:rPr lang="en-US" altLang="zh-CN" sz="2400" b="1" dirty="0" err="1"/>
                <a:t>a</a:t>
              </a:r>
              <a:endParaRPr lang="zh-CN" altLang="en-US" sz="2400" b="1" dirty="0"/>
            </a:p>
          </p:txBody>
        </p:sp>
        <p:sp>
          <p:nvSpPr>
            <p:cNvPr id="124946" name="TextBox 34"/>
            <p:cNvSpPr txBox="1">
              <a:spLocks noChangeArrowheads="1"/>
            </p:cNvSpPr>
            <p:nvPr/>
          </p:nvSpPr>
          <p:spPr bwMode="auto">
            <a:xfrm>
              <a:off x="3483431" y="5704108"/>
              <a:ext cx="1436914" cy="461809"/>
            </a:xfrm>
            <a:prstGeom prst="rect">
              <a:avLst/>
            </a:prstGeom>
            <a:noFill/>
            <a:ln w="9525">
              <a:noFill/>
              <a:miter lim="800000"/>
              <a:headEnd/>
              <a:tailEnd/>
            </a:ln>
          </p:spPr>
          <p:txBody>
            <a:bodyPr>
              <a:spAutoFit/>
            </a:bodyPr>
            <a:lstStyle/>
            <a:p>
              <a:r>
                <a:rPr lang="en-US" altLang="zh-CN" sz="2400" b="1"/>
                <a:t>b b</a:t>
              </a:r>
              <a:endParaRPr lang="zh-CN" altLang="en-US" sz="2400" b="1"/>
            </a:p>
          </p:txBody>
        </p:sp>
        <p:cxnSp>
          <p:nvCxnSpPr>
            <p:cNvPr id="124947" name="直接箭头连接符 12"/>
            <p:cNvCxnSpPr>
              <a:cxnSpLocks noChangeShapeType="1"/>
            </p:cNvCxnSpPr>
            <p:nvPr/>
          </p:nvCxnSpPr>
          <p:spPr bwMode="auto">
            <a:xfrm flipH="1">
              <a:off x="3265830" y="2250366"/>
              <a:ext cx="1291768" cy="1189264"/>
            </a:xfrm>
            <a:prstGeom prst="straightConnector1">
              <a:avLst/>
            </a:prstGeom>
            <a:noFill/>
            <a:ln w="38100" algn="ctr">
              <a:solidFill>
                <a:schemeClr val="tx1"/>
              </a:solidFill>
              <a:round/>
              <a:headEnd/>
              <a:tailEnd type="arrow" w="med" len="med"/>
            </a:ln>
          </p:spPr>
        </p:cxnSp>
        <p:cxnSp>
          <p:nvCxnSpPr>
            <p:cNvPr id="124948" name="直接连接符 42"/>
            <p:cNvCxnSpPr>
              <a:cxnSpLocks noChangeShapeType="1"/>
            </p:cNvCxnSpPr>
            <p:nvPr/>
          </p:nvCxnSpPr>
          <p:spPr bwMode="auto">
            <a:xfrm flipH="1">
              <a:off x="2960916" y="3338284"/>
              <a:ext cx="420914" cy="493486"/>
            </a:xfrm>
            <a:prstGeom prst="line">
              <a:avLst/>
            </a:prstGeom>
            <a:noFill/>
            <a:ln w="76200" algn="ctr">
              <a:solidFill>
                <a:srgbClr val="FF0000"/>
              </a:solidFill>
              <a:round/>
              <a:headEnd/>
              <a:tailEnd/>
            </a:ln>
          </p:spPr>
        </p:cxnSp>
        <p:cxnSp>
          <p:nvCxnSpPr>
            <p:cNvPr id="124949" name="直接连接符 44"/>
            <p:cNvCxnSpPr>
              <a:cxnSpLocks noChangeShapeType="1"/>
            </p:cNvCxnSpPr>
            <p:nvPr/>
          </p:nvCxnSpPr>
          <p:spPr bwMode="auto">
            <a:xfrm flipH="1" flipV="1">
              <a:off x="2946402" y="3338285"/>
              <a:ext cx="507999" cy="464457"/>
            </a:xfrm>
            <a:prstGeom prst="line">
              <a:avLst/>
            </a:prstGeom>
            <a:noFill/>
            <a:ln w="76200" algn="ctr">
              <a:solidFill>
                <a:srgbClr val="FF0000"/>
              </a:solidFill>
              <a:round/>
              <a:headEnd/>
              <a:tailEnd/>
            </a:ln>
          </p:spPr>
        </p:cxnSp>
      </p:grpSp>
      <p:sp>
        <p:nvSpPr>
          <p:cNvPr id="48" name="标题 1"/>
          <p:cNvSpPr>
            <a:spLocks noGrp="1"/>
          </p:cNvSpPr>
          <p:nvPr>
            <p:ph type="title"/>
          </p:nvPr>
        </p:nvSpPr>
        <p:spPr/>
        <p:txBody>
          <a:bodyPr/>
          <a:lstStyle/>
          <a:p>
            <a:pPr>
              <a:defRPr/>
            </a:pPr>
            <a:r>
              <a:rPr lang="zh-CN" altLang="en-US" dirty="0"/>
              <a:t>后剪枝方法示意</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灯片编号占位符 3"/>
          <p:cNvSpPr>
            <a:spLocks noGrp="1"/>
          </p:cNvSpPr>
          <p:nvPr>
            <p:ph type="sldNum" sz="quarter" idx="12"/>
          </p:nvPr>
        </p:nvSpPr>
        <p:spPr>
          <a:noFill/>
        </p:spPr>
        <p:txBody>
          <a:bodyPr/>
          <a:lstStyle/>
          <a:p>
            <a:fld id="{C1CDC6C7-ABB1-416F-B2AB-3306656E9565}" type="slidenum">
              <a:rPr lang="en-US" altLang="zh-CN" smtClean="0">
                <a:ea typeface="黑体" pitchFamily="49" charset="-122"/>
              </a:rPr>
              <a:pPr/>
              <a:t>103</a:t>
            </a:fld>
            <a:endParaRPr lang="en-US" altLang="zh-CN">
              <a:ea typeface="黑体" pitchFamily="49" charset="-122"/>
            </a:endParaRPr>
          </a:p>
        </p:txBody>
      </p:sp>
      <p:grpSp>
        <p:nvGrpSpPr>
          <p:cNvPr id="2" name="组合 16"/>
          <p:cNvGrpSpPr>
            <a:grpSpLocks/>
          </p:cNvGrpSpPr>
          <p:nvPr/>
        </p:nvGrpSpPr>
        <p:grpSpPr bwMode="auto">
          <a:xfrm>
            <a:off x="2598738" y="2003425"/>
            <a:ext cx="5021262" cy="3194050"/>
            <a:chOff x="2598065" y="2002716"/>
            <a:chExt cx="5021706" cy="3194050"/>
          </a:xfrm>
        </p:grpSpPr>
        <p:sp>
          <p:nvSpPr>
            <p:cNvPr id="125957" name="椭圆 6"/>
            <p:cNvSpPr>
              <a:spLocks noChangeArrowheads="1"/>
            </p:cNvSpPr>
            <p:nvPr/>
          </p:nvSpPr>
          <p:spPr bwMode="auto">
            <a:xfrm>
              <a:off x="4426629" y="2002716"/>
              <a:ext cx="261937" cy="247650"/>
            </a:xfrm>
            <a:prstGeom prst="ellipse">
              <a:avLst/>
            </a:prstGeom>
            <a:solidFill>
              <a:schemeClr val="accent1"/>
            </a:solidFill>
            <a:ln w="9525" algn="ctr">
              <a:solidFill>
                <a:schemeClr val="tx1"/>
              </a:solidFill>
              <a:round/>
              <a:headEnd/>
              <a:tailEnd type="triangle" w="med" len="med"/>
            </a:ln>
          </p:spPr>
          <p:txBody>
            <a:bodyPr wrap="none"/>
            <a:lstStyle/>
            <a:p>
              <a:endParaRPr lang="zh-CN" altLang="en-US"/>
            </a:p>
          </p:txBody>
        </p:sp>
        <p:sp>
          <p:nvSpPr>
            <p:cNvPr id="125958" name="椭圆 6"/>
            <p:cNvSpPr>
              <a:spLocks noChangeArrowheads="1"/>
            </p:cNvSpPr>
            <p:nvPr/>
          </p:nvSpPr>
          <p:spPr bwMode="auto">
            <a:xfrm>
              <a:off x="6110286" y="3352545"/>
              <a:ext cx="261937" cy="247650"/>
            </a:xfrm>
            <a:prstGeom prst="ellipse">
              <a:avLst/>
            </a:prstGeom>
            <a:solidFill>
              <a:schemeClr val="accent1"/>
            </a:solidFill>
            <a:ln w="9525" algn="ctr">
              <a:solidFill>
                <a:schemeClr val="tx1"/>
              </a:solidFill>
              <a:round/>
              <a:headEnd/>
              <a:tailEnd type="triangle" w="med" len="med"/>
            </a:ln>
          </p:spPr>
          <p:txBody>
            <a:bodyPr wrap="none"/>
            <a:lstStyle/>
            <a:p>
              <a:endParaRPr lang="zh-CN" altLang="en-US"/>
            </a:p>
          </p:txBody>
        </p:sp>
        <p:sp>
          <p:nvSpPr>
            <p:cNvPr id="125959" name="矩形 8"/>
            <p:cNvSpPr>
              <a:spLocks noChangeArrowheads="1"/>
            </p:cNvSpPr>
            <p:nvPr/>
          </p:nvSpPr>
          <p:spPr bwMode="auto">
            <a:xfrm>
              <a:off x="5167310" y="4934828"/>
              <a:ext cx="434975" cy="261938"/>
            </a:xfrm>
            <a:prstGeom prst="rect">
              <a:avLst/>
            </a:prstGeom>
            <a:solidFill>
              <a:schemeClr val="accent1"/>
            </a:solidFill>
            <a:ln w="9525" algn="ctr">
              <a:solidFill>
                <a:schemeClr val="tx1"/>
              </a:solidFill>
              <a:round/>
              <a:headEnd/>
              <a:tailEnd type="triangle" w="med" len="med"/>
            </a:ln>
          </p:spPr>
          <p:txBody>
            <a:bodyPr wrap="none"/>
            <a:lstStyle/>
            <a:p>
              <a:endParaRPr lang="zh-CN" altLang="en-US"/>
            </a:p>
          </p:txBody>
        </p:sp>
        <p:sp>
          <p:nvSpPr>
            <p:cNvPr id="125960" name="矩形 8"/>
            <p:cNvSpPr>
              <a:spLocks noChangeArrowheads="1"/>
            </p:cNvSpPr>
            <p:nvPr/>
          </p:nvSpPr>
          <p:spPr bwMode="auto">
            <a:xfrm>
              <a:off x="7184796" y="4862257"/>
              <a:ext cx="434975" cy="261938"/>
            </a:xfrm>
            <a:prstGeom prst="rect">
              <a:avLst/>
            </a:prstGeom>
            <a:solidFill>
              <a:schemeClr val="accent1"/>
            </a:solidFill>
            <a:ln w="9525" algn="ctr">
              <a:solidFill>
                <a:schemeClr val="tx1"/>
              </a:solidFill>
              <a:round/>
              <a:headEnd/>
              <a:tailEnd type="triangle" w="med" len="med"/>
            </a:ln>
          </p:spPr>
          <p:txBody>
            <a:bodyPr wrap="none"/>
            <a:lstStyle/>
            <a:p>
              <a:endParaRPr lang="zh-CN" altLang="en-US"/>
            </a:p>
          </p:txBody>
        </p:sp>
        <p:cxnSp>
          <p:nvCxnSpPr>
            <p:cNvPr id="125961" name="直接箭头连接符 12"/>
            <p:cNvCxnSpPr>
              <a:cxnSpLocks noChangeShapeType="1"/>
              <a:stCxn id="125957" idx="5"/>
              <a:endCxn id="125958" idx="1"/>
            </p:cNvCxnSpPr>
            <p:nvPr/>
          </p:nvCxnSpPr>
          <p:spPr bwMode="auto">
            <a:xfrm>
              <a:off x="4650206" y="2214099"/>
              <a:ext cx="1498440" cy="1174713"/>
            </a:xfrm>
            <a:prstGeom prst="straightConnector1">
              <a:avLst/>
            </a:prstGeom>
            <a:noFill/>
            <a:ln w="38100" algn="ctr">
              <a:solidFill>
                <a:schemeClr val="tx1"/>
              </a:solidFill>
              <a:round/>
              <a:headEnd/>
              <a:tailEnd type="arrow" w="med" len="med"/>
            </a:ln>
          </p:spPr>
        </p:cxnSp>
        <p:cxnSp>
          <p:nvCxnSpPr>
            <p:cNvPr id="125962" name="直接箭头连接符 12"/>
            <p:cNvCxnSpPr>
              <a:cxnSpLocks noChangeShapeType="1"/>
              <a:stCxn id="125958" idx="5"/>
              <a:endCxn id="125960" idx="0"/>
            </p:cNvCxnSpPr>
            <p:nvPr/>
          </p:nvCxnSpPr>
          <p:spPr bwMode="auto">
            <a:xfrm>
              <a:off x="6333863" y="3563928"/>
              <a:ext cx="1068421" cy="1298329"/>
            </a:xfrm>
            <a:prstGeom prst="straightConnector1">
              <a:avLst/>
            </a:prstGeom>
            <a:noFill/>
            <a:ln w="38100" algn="ctr">
              <a:solidFill>
                <a:schemeClr val="tx1"/>
              </a:solidFill>
              <a:round/>
              <a:headEnd/>
              <a:tailEnd type="arrow" w="med" len="med"/>
            </a:ln>
          </p:spPr>
        </p:cxnSp>
        <p:cxnSp>
          <p:nvCxnSpPr>
            <p:cNvPr id="125963" name="直接箭头连接符 12"/>
            <p:cNvCxnSpPr>
              <a:cxnSpLocks noChangeShapeType="1"/>
              <a:stCxn id="125958" idx="4"/>
              <a:endCxn id="125959" idx="0"/>
            </p:cNvCxnSpPr>
            <p:nvPr/>
          </p:nvCxnSpPr>
          <p:spPr bwMode="auto">
            <a:xfrm flipH="1">
              <a:off x="5384798" y="3600195"/>
              <a:ext cx="856457" cy="1334633"/>
            </a:xfrm>
            <a:prstGeom prst="straightConnector1">
              <a:avLst/>
            </a:prstGeom>
            <a:noFill/>
            <a:ln w="38100" algn="ctr">
              <a:solidFill>
                <a:schemeClr val="tx1"/>
              </a:solidFill>
              <a:round/>
              <a:headEnd/>
              <a:tailEnd type="arrow" w="med" len="med"/>
            </a:ln>
          </p:spPr>
        </p:cxnSp>
        <p:cxnSp>
          <p:nvCxnSpPr>
            <p:cNvPr id="125964" name="直接箭头连接符 12"/>
            <p:cNvCxnSpPr>
              <a:cxnSpLocks noChangeShapeType="1"/>
            </p:cNvCxnSpPr>
            <p:nvPr/>
          </p:nvCxnSpPr>
          <p:spPr bwMode="auto">
            <a:xfrm flipH="1">
              <a:off x="3265830" y="2250366"/>
              <a:ext cx="1291768" cy="1189264"/>
            </a:xfrm>
            <a:prstGeom prst="straightConnector1">
              <a:avLst/>
            </a:prstGeom>
            <a:noFill/>
            <a:ln w="38100" algn="ctr">
              <a:solidFill>
                <a:schemeClr val="tx1"/>
              </a:solidFill>
              <a:round/>
              <a:headEnd/>
              <a:tailEnd type="arrow" w="med" len="med"/>
            </a:ln>
          </p:spPr>
        </p:cxnSp>
        <p:sp>
          <p:nvSpPr>
            <p:cNvPr id="125965" name="矩形 8"/>
            <p:cNvSpPr>
              <a:spLocks noChangeArrowheads="1"/>
            </p:cNvSpPr>
            <p:nvPr/>
          </p:nvSpPr>
          <p:spPr bwMode="auto">
            <a:xfrm>
              <a:off x="3077253" y="3439857"/>
              <a:ext cx="434975" cy="261938"/>
            </a:xfrm>
            <a:prstGeom prst="rect">
              <a:avLst/>
            </a:prstGeom>
            <a:solidFill>
              <a:schemeClr val="accent1"/>
            </a:solidFill>
            <a:ln w="9525" algn="ctr">
              <a:solidFill>
                <a:schemeClr val="tx1"/>
              </a:solidFill>
              <a:round/>
              <a:headEnd/>
              <a:tailEnd type="triangle" w="med" len="med"/>
            </a:ln>
          </p:spPr>
          <p:txBody>
            <a:bodyPr wrap="none"/>
            <a:lstStyle/>
            <a:p>
              <a:endParaRPr lang="zh-CN" altLang="en-US"/>
            </a:p>
          </p:txBody>
        </p:sp>
        <p:sp>
          <p:nvSpPr>
            <p:cNvPr id="125966" name="TextBox 14"/>
            <p:cNvSpPr txBox="1">
              <a:spLocks noChangeArrowheads="1"/>
            </p:cNvSpPr>
            <p:nvPr/>
          </p:nvSpPr>
          <p:spPr bwMode="auto">
            <a:xfrm>
              <a:off x="2612579" y="3817252"/>
              <a:ext cx="1436914" cy="461665"/>
            </a:xfrm>
            <a:prstGeom prst="rect">
              <a:avLst/>
            </a:prstGeom>
            <a:noFill/>
            <a:ln w="9525">
              <a:noFill/>
              <a:miter lim="800000"/>
              <a:headEnd/>
              <a:tailEnd/>
            </a:ln>
          </p:spPr>
          <p:txBody>
            <a:bodyPr>
              <a:spAutoFit/>
            </a:bodyPr>
            <a:lstStyle/>
            <a:p>
              <a:r>
                <a:rPr lang="en-US" altLang="zh-CN" sz="2400" b="1" dirty="0"/>
                <a:t>a </a:t>
              </a:r>
              <a:r>
                <a:rPr lang="en-US" altLang="zh-CN" sz="2400" b="1" dirty="0" err="1"/>
                <a:t>a</a:t>
              </a:r>
              <a:r>
                <a:rPr lang="en-US" altLang="zh-CN" sz="2400" b="1" dirty="0"/>
                <a:t> </a:t>
              </a:r>
              <a:r>
                <a:rPr lang="en-US" altLang="zh-CN" sz="2400" b="1" dirty="0" err="1"/>
                <a:t>a</a:t>
              </a:r>
              <a:r>
                <a:rPr lang="en-US" altLang="zh-CN" sz="2400" b="1" dirty="0"/>
                <a:t> b </a:t>
              </a:r>
              <a:r>
                <a:rPr lang="en-US" altLang="zh-CN" sz="2400" b="1" dirty="0" err="1"/>
                <a:t>b</a:t>
              </a:r>
              <a:endParaRPr lang="zh-CN" altLang="en-US" sz="2400" b="1" dirty="0"/>
            </a:p>
          </p:txBody>
        </p:sp>
        <p:sp>
          <p:nvSpPr>
            <p:cNvPr id="125967" name="TextBox 15"/>
            <p:cNvSpPr txBox="1">
              <a:spLocks noChangeArrowheads="1"/>
            </p:cNvSpPr>
            <p:nvPr/>
          </p:nvSpPr>
          <p:spPr bwMode="auto">
            <a:xfrm>
              <a:off x="2598065" y="4571999"/>
              <a:ext cx="1436914" cy="461665"/>
            </a:xfrm>
            <a:prstGeom prst="rect">
              <a:avLst/>
            </a:prstGeom>
            <a:noFill/>
            <a:ln w="9525">
              <a:noFill/>
              <a:miter lim="800000"/>
              <a:headEnd/>
              <a:tailEnd/>
            </a:ln>
          </p:spPr>
          <p:txBody>
            <a:bodyPr>
              <a:spAutoFit/>
            </a:bodyPr>
            <a:lstStyle/>
            <a:p>
              <a:r>
                <a:rPr lang="zh-CN" altLang="en-US" sz="2400" b="1"/>
                <a:t>标记为</a:t>
              </a:r>
              <a:r>
                <a:rPr lang="en-US" altLang="zh-CN" sz="2400" b="1"/>
                <a:t>a</a:t>
              </a:r>
              <a:endParaRPr lang="zh-CN" altLang="en-US" sz="2400" b="1"/>
            </a:p>
          </p:txBody>
        </p:sp>
      </p:grpSp>
      <p:sp>
        <p:nvSpPr>
          <p:cNvPr id="18" name="标题 1"/>
          <p:cNvSpPr>
            <a:spLocks noGrp="1"/>
          </p:cNvSpPr>
          <p:nvPr>
            <p:ph type="title"/>
          </p:nvPr>
        </p:nvSpPr>
        <p:spPr/>
        <p:txBody>
          <a:bodyPr/>
          <a:lstStyle/>
          <a:p>
            <a:pPr>
              <a:defRPr/>
            </a:pPr>
            <a:r>
              <a:rPr lang="zh-CN" altLang="en-US" dirty="0"/>
              <a:t>后剪枝方法示意</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dirty="0"/>
              <a:t>决策树的剪枝</a:t>
            </a:r>
          </a:p>
        </p:txBody>
      </p:sp>
      <p:sp>
        <p:nvSpPr>
          <p:cNvPr id="126979" name="内容占位符 2"/>
          <p:cNvSpPr>
            <a:spLocks noGrp="1"/>
          </p:cNvSpPr>
          <p:nvPr>
            <p:ph idx="1"/>
          </p:nvPr>
        </p:nvSpPr>
        <p:spPr>
          <a:xfrm>
            <a:off x="914400" y="1608082"/>
            <a:ext cx="7772400" cy="4411717"/>
          </a:xfrm>
        </p:spPr>
        <p:txBody>
          <a:bodyPr>
            <a:normAutofit/>
          </a:bodyPr>
          <a:lstStyle/>
          <a:p>
            <a:r>
              <a:rPr lang="zh-CN" altLang="en-US" sz="3200" b="1" dirty="0"/>
              <a:t>当数据量大时：</a:t>
            </a:r>
            <a:endParaRPr lang="en-US" altLang="zh-CN" sz="3200" b="1" dirty="0"/>
          </a:p>
          <a:p>
            <a:pPr lvl="1"/>
            <a:r>
              <a:rPr lang="zh-CN" altLang="en-US" sz="2800" b="1" dirty="0"/>
              <a:t>将数据划分为训练集、验证集和测试集</a:t>
            </a:r>
            <a:endParaRPr lang="en-US" altLang="zh-CN" sz="2800" b="1" dirty="0"/>
          </a:p>
          <a:p>
            <a:pPr lvl="1"/>
            <a:endParaRPr lang="en-US" altLang="zh-CN" sz="2800" b="1" dirty="0"/>
          </a:p>
          <a:p>
            <a:r>
              <a:rPr lang="zh-CN" altLang="en-US" sz="3200" b="1" dirty="0"/>
              <a:t>用训练集训练得到决策树</a:t>
            </a:r>
            <a:endParaRPr lang="en-US" altLang="zh-CN" sz="3200" b="1" dirty="0"/>
          </a:p>
          <a:p>
            <a:r>
              <a:rPr lang="zh-CN" altLang="en-US" sz="3200" b="1" dirty="0"/>
              <a:t>从下向上逐步剪枝</a:t>
            </a:r>
            <a:endParaRPr lang="en-US" altLang="zh-CN" sz="3200" b="1" dirty="0"/>
          </a:p>
          <a:p>
            <a:r>
              <a:rPr lang="zh-CN" altLang="en-US" sz="3200" b="1" dirty="0"/>
              <a:t>在验证集上测试性能，直到性能下降为止</a:t>
            </a:r>
            <a:endParaRPr lang="en-US" altLang="zh-CN" sz="3200" b="1" dirty="0"/>
          </a:p>
          <a:p>
            <a:r>
              <a:rPr lang="zh-CN" altLang="en-US" sz="3200" b="1" dirty="0"/>
              <a:t>最后在测试集上的性能作为系统的性能</a:t>
            </a:r>
          </a:p>
        </p:txBody>
      </p:sp>
      <p:sp>
        <p:nvSpPr>
          <p:cNvPr id="126980" name="灯片编号占位符 3"/>
          <p:cNvSpPr>
            <a:spLocks noGrp="1"/>
          </p:cNvSpPr>
          <p:nvPr>
            <p:ph type="sldNum" sz="quarter" idx="12"/>
          </p:nvPr>
        </p:nvSpPr>
        <p:spPr>
          <a:noFill/>
        </p:spPr>
        <p:txBody>
          <a:bodyPr/>
          <a:lstStyle/>
          <a:p>
            <a:fld id="{B001201A-7956-4336-9DE6-5B5330C5D9DF}" type="slidenum">
              <a:rPr lang="en-US" altLang="zh-CN" smtClean="0">
                <a:ea typeface="黑体" pitchFamily="49" charset="-122"/>
              </a:rPr>
              <a:pPr/>
              <a:t>104</a:t>
            </a:fld>
            <a:endParaRPr lang="en-US" altLang="zh-CN">
              <a:ea typeface="黑体" pitchFamily="49" charset="-122"/>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dirty="0"/>
              <a:t>剪枝的效果</a:t>
            </a:r>
          </a:p>
        </p:txBody>
      </p:sp>
      <p:sp>
        <p:nvSpPr>
          <p:cNvPr id="128003" name="灯片编号占位符 3"/>
          <p:cNvSpPr>
            <a:spLocks noGrp="1"/>
          </p:cNvSpPr>
          <p:nvPr>
            <p:ph type="sldNum" sz="quarter" idx="12"/>
          </p:nvPr>
        </p:nvSpPr>
        <p:spPr>
          <a:noFill/>
        </p:spPr>
        <p:txBody>
          <a:bodyPr/>
          <a:lstStyle/>
          <a:p>
            <a:fld id="{ADE51629-A8D5-4A21-8E8A-D5E20E3819D5}" type="slidenum">
              <a:rPr lang="en-US" altLang="zh-CN" smtClean="0">
                <a:ea typeface="黑体" pitchFamily="49" charset="-122"/>
              </a:rPr>
              <a:pPr/>
              <a:t>105</a:t>
            </a:fld>
            <a:endParaRPr lang="en-US" altLang="zh-CN">
              <a:ea typeface="黑体" pitchFamily="49" charset="-122"/>
            </a:endParaRPr>
          </a:p>
        </p:txBody>
      </p:sp>
      <p:grpSp>
        <p:nvGrpSpPr>
          <p:cNvPr id="3" name="组合 12"/>
          <p:cNvGrpSpPr>
            <a:grpSpLocks/>
          </p:cNvGrpSpPr>
          <p:nvPr/>
        </p:nvGrpSpPr>
        <p:grpSpPr bwMode="auto">
          <a:xfrm>
            <a:off x="1001713" y="1712913"/>
            <a:ext cx="7546975" cy="4794250"/>
            <a:chOff x="-1533525" y="-200025"/>
            <a:chExt cx="12211050" cy="7258050"/>
          </a:xfrm>
        </p:grpSpPr>
        <p:pic>
          <p:nvPicPr>
            <p:cNvPr id="128005" name="Picture 2" descr="F:\人工智能导论\2016本科生\img-160304144917-002.jpg"/>
            <p:cNvPicPr>
              <a:picLocks noChangeAspect="1" noChangeArrowheads="1"/>
            </p:cNvPicPr>
            <p:nvPr/>
          </p:nvPicPr>
          <p:blipFill>
            <a:blip r:embed="rId2" cstate="print"/>
            <a:srcRect/>
            <a:stretch>
              <a:fillRect/>
            </a:stretch>
          </p:blipFill>
          <p:spPr bwMode="auto">
            <a:xfrm>
              <a:off x="-1533525" y="-200025"/>
              <a:ext cx="12211050" cy="7258050"/>
            </a:xfrm>
            <a:prstGeom prst="rect">
              <a:avLst/>
            </a:prstGeom>
            <a:noFill/>
            <a:ln w="9525">
              <a:noFill/>
              <a:miter lim="800000"/>
              <a:headEnd/>
              <a:tailEnd/>
            </a:ln>
          </p:spPr>
        </p:pic>
        <p:sp>
          <p:nvSpPr>
            <p:cNvPr id="128006" name="任意多边形 5"/>
            <p:cNvSpPr>
              <a:spLocks/>
            </p:cNvSpPr>
            <p:nvPr/>
          </p:nvSpPr>
          <p:spPr bwMode="auto">
            <a:xfrm>
              <a:off x="232229" y="856343"/>
              <a:ext cx="8665028" cy="2917371"/>
            </a:xfrm>
            <a:custGeom>
              <a:avLst/>
              <a:gdLst>
                <a:gd name="T0" fmla="*/ 0 w 8665028"/>
                <a:gd name="T1" fmla="*/ 2917371 h 2917371"/>
                <a:gd name="T2" fmla="*/ 653142 w 8665028"/>
                <a:gd name="T3" fmla="*/ 1219212 h 2917371"/>
                <a:gd name="T4" fmla="*/ 1770754 w 8665028"/>
                <a:gd name="T5" fmla="*/ 1190183 h 2917371"/>
                <a:gd name="T6" fmla="*/ 2148115 w 8665028"/>
                <a:gd name="T7" fmla="*/ 841828 h 2917371"/>
                <a:gd name="T8" fmla="*/ 2873829 w 8665028"/>
                <a:gd name="T9" fmla="*/ 812800 h 2917371"/>
                <a:gd name="T10" fmla="*/ 3468915 w 8665028"/>
                <a:gd name="T11" fmla="*/ 624114 h 2917371"/>
                <a:gd name="T12" fmla="*/ 4034971 w 8665028"/>
                <a:gd name="T13" fmla="*/ 595086 h 2917371"/>
                <a:gd name="T14" fmla="*/ 5529942 w 8665028"/>
                <a:gd name="T15" fmla="*/ 391886 h 2917371"/>
                <a:gd name="T16" fmla="*/ 6255658 w 8665028"/>
                <a:gd name="T17" fmla="*/ 217714 h 2917371"/>
                <a:gd name="T18" fmla="*/ 7779658 w 8665028"/>
                <a:gd name="T19" fmla="*/ 116114 h 2917371"/>
                <a:gd name="T20" fmla="*/ 8011886 w 8665028"/>
                <a:gd name="T21" fmla="*/ 29028 h 2917371"/>
                <a:gd name="T22" fmla="*/ 8665028 w 8665028"/>
                <a:gd name="T23" fmla="*/ 0 h 291737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665028"/>
                <a:gd name="T37" fmla="*/ 0 h 2917371"/>
                <a:gd name="T38" fmla="*/ 8665028 w 8665028"/>
                <a:gd name="T39" fmla="*/ 2917371 h 291737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665028" h="2917371">
                  <a:moveTo>
                    <a:pt x="0" y="2917371"/>
                  </a:moveTo>
                  <a:lnTo>
                    <a:pt x="653142" y="1219200"/>
                  </a:lnTo>
                  <a:lnTo>
                    <a:pt x="1770742" y="1190171"/>
                  </a:lnTo>
                  <a:lnTo>
                    <a:pt x="2148114" y="841828"/>
                  </a:lnTo>
                  <a:lnTo>
                    <a:pt x="2873828" y="812800"/>
                  </a:lnTo>
                  <a:lnTo>
                    <a:pt x="3468914" y="624114"/>
                  </a:lnTo>
                  <a:lnTo>
                    <a:pt x="4034971" y="595086"/>
                  </a:lnTo>
                  <a:lnTo>
                    <a:pt x="5529942" y="391886"/>
                  </a:lnTo>
                  <a:lnTo>
                    <a:pt x="6255657" y="217714"/>
                  </a:lnTo>
                  <a:lnTo>
                    <a:pt x="7779657" y="116114"/>
                  </a:lnTo>
                  <a:lnTo>
                    <a:pt x="8011885" y="29028"/>
                  </a:lnTo>
                  <a:lnTo>
                    <a:pt x="8665028" y="0"/>
                  </a:lnTo>
                </a:path>
              </a:pathLst>
            </a:custGeom>
            <a:noFill/>
            <a:ln w="57150" cap="flat" cmpd="sng" algn="ctr">
              <a:solidFill>
                <a:srgbClr val="002060"/>
              </a:solidFill>
              <a:prstDash val="solid"/>
              <a:round/>
              <a:headEnd type="none" w="med" len="med"/>
              <a:tailEnd type="none" w="med" len="med"/>
            </a:ln>
          </p:spPr>
          <p:txBody>
            <a:bodyPr wrap="none"/>
            <a:lstStyle/>
            <a:p>
              <a:endParaRPr lang="zh-CN" altLang="en-US"/>
            </a:p>
          </p:txBody>
        </p:sp>
        <p:sp>
          <p:nvSpPr>
            <p:cNvPr id="128007" name="任意多边形 6"/>
            <p:cNvSpPr>
              <a:spLocks/>
            </p:cNvSpPr>
            <p:nvPr/>
          </p:nvSpPr>
          <p:spPr bwMode="auto">
            <a:xfrm>
              <a:off x="246743" y="2394857"/>
              <a:ext cx="8606971" cy="1378857"/>
            </a:xfrm>
            <a:custGeom>
              <a:avLst/>
              <a:gdLst>
                <a:gd name="T0" fmla="*/ 0 w 8606971"/>
                <a:gd name="T1" fmla="*/ 1378857 h 1378857"/>
                <a:gd name="T2" fmla="*/ 304800 w 8606971"/>
                <a:gd name="T3" fmla="*/ 217714 h 1378857"/>
                <a:gd name="T4" fmla="*/ 449943 w 8606971"/>
                <a:gd name="T5" fmla="*/ 130629 h 1378857"/>
                <a:gd name="T6" fmla="*/ 711200 w 8606971"/>
                <a:gd name="T7" fmla="*/ 0 h 1378857"/>
                <a:gd name="T8" fmla="*/ 1756228 w 8606971"/>
                <a:gd name="T9" fmla="*/ 14514 h 1378857"/>
                <a:gd name="T10" fmla="*/ 2133601 w 8606971"/>
                <a:gd name="T11" fmla="*/ 232229 h 1378857"/>
                <a:gd name="T12" fmla="*/ 3715657 w 8606971"/>
                <a:gd name="T13" fmla="*/ 203200 h 1378857"/>
                <a:gd name="T14" fmla="*/ 4310741 w 8606971"/>
                <a:gd name="T15" fmla="*/ 290286 h 1378857"/>
                <a:gd name="T16" fmla="*/ 4702629 w 8606971"/>
                <a:gd name="T17" fmla="*/ 812800 h 1378857"/>
                <a:gd name="T18" fmla="*/ 5341257 w 8606971"/>
                <a:gd name="T19" fmla="*/ 812800 h 1378857"/>
                <a:gd name="T20" fmla="*/ 5849257 w 8606971"/>
                <a:gd name="T21" fmla="*/ 957943 h 1378857"/>
                <a:gd name="T22" fmla="*/ 6763657 w 8606971"/>
                <a:gd name="T23" fmla="*/ 957943 h 1378857"/>
                <a:gd name="T24" fmla="*/ 7620001 w 8606971"/>
                <a:gd name="T25" fmla="*/ 943429 h 1378857"/>
                <a:gd name="T26" fmla="*/ 8026401 w 8606971"/>
                <a:gd name="T27" fmla="*/ 870857 h 1378857"/>
                <a:gd name="T28" fmla="*/ 8606971 w 8606971"/>
                <a:gd name="T29" fmla="*/ 885372 h 137885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8606971"/>
                <a:gd name="T46" fmla="*/ 0 h 1378857"/>
                <a:gd name="T47" fmla="*/ 8606971 w 8606971"/>
                <a:gd name="T48" fmla="*/ 1378857 h 137885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8606971" h="1378857">
                  <a:moveTo>
                    <a:pt x="0" y="1378857"/>
                  </a:moveTo>
                  <a:lnTo>
                    <a:pt x="304800" y="217714"/>
                  </a:lnTo>
                  <a:lnTo>
                    <a:pt x="449943" y="130629"/>
                  </a:lnTo>
                  <a:lnTo>
                    <a:pt x="711200" y="0"/>
                  </a:lnTo>
                  <a:lnTo>
                    <a:pt x="1756228" y="14514"/>
                  </a:lnTo>
                  <a:lnTo>
                    <a:pt x="2133600" y="232229"/>
                  </a:lnTo>
                  <a:lnTo>
                    <a:pt x="3715657" y="203200"/>
                  </a:lnTo>
                  <a:lnTo>
                    <a:pt x="4310743" y="290286"/>
                  </a:lnTo>
                  <a:lnTo>
                    <a:pt x="4702628" y="812800"/>
                  </a:lnTo>
                  <a:lnTo>
                    <a:pt x="5341257" y="812800"/>
                  </a:lnTo>
                  <a:lnTo>
                    <a:pt x="5849257" y="957943"/>
                  </a:lnTo>
                  <a:lnTo>
                    <a:pt x="6763657" y="957943"/>
                  </a:lnTo>
                  <a:lnTo>
                    <a:pt x="7620000" y="943429"/>
                  </a:lnTo>
                  <a:lnTo>
                    <a:pt x="8026400" y="870857"/>
                  </a:lnTo>
                  <a:lnTo>
                    <a:pt x="8606971" y="885372"/>
                  </a:lnTo>
                </a:path>
              </a:pathLst>
            </a:custGeom>
            <a:noFill/>
            <a:ln w="57150" cap="flat" cmpd="sng" algn="ctr">
              <a:solidFill>
                <a:srgbClr val="FF0000"/>
              </a:solidFill>
              <a:prstDash val="solid"/>
              <a:round/>
              <a:headEnd type="none" w="med" len="med"/>
              <a:tailEnd type="none" w="med" len="med"/>
            </a:ln>
          </p:spPr>
          <p:txBody>
            <a:bodyPr wrap="none"/>
            <a:lstStyle/>
            <a:p>
              <a:endParaRPr lang="zh-CN" altLang="en-US"/>
            </a:p>
          </p:txBody>
        </p:sp>
        <p:sp>
          <p:nvSpPr>
            <p:cNvPr id="128008" name="任意多边形 7"/>
            <p:cNvSpPr>
              <a:spLocks/>
            </p:cNvSpPr>
            <p:nvPr/>
          </p:nvSpPr>
          <p:spPr bwMode="auto">
            <a:xfrm>
              <a:off x="232229" y="2336800"/>
              <a:ext cx="8636000" cy="1422400"/>
            </a:xfrm>
            <a:custGeom>
              <a:avLst/>
              <a:gdLst>
                <a:gd name="T0" fmla="*/ 0 w 8636000"/>
                <a:gd name="T1" fmla="*/ 1422400 h 1422400"/>
                <a:gd name="T2" fmla="*/ 348342 w 8636000"/>
                <a:gd name="T3" fmla="*/ 333829 h 1422400"/>
                <a:gd name="T4" fmla="*/ 580571 w 8636000"/>
                <a:gd name="T5" fmla="*/ 116114 h 1422400"/>
                <a:gd name="T6" fmla="*/ 914400 w 8636000"/>
                <a:gd name="T7" fmla="*/ 29029 h 1422400"/>
                <a:gd name="T8" fmla="*/ 1901371 w 8636000"/>
                <a:gd name="T9" fmla="*/ 29029 h 1422400"/>
                <a:gd name="T10" fmla="*/ 2627084 w 8636000"/>
                <a:gd name="T11" fmla="*/ 0 h 1422400"/>
                <a:gd name="T12" fmla="*/ 3904319 w 8636000"/>
                <a:gd name="T13" fmla="*/ 159657 h 1422400"/>
                <a:gd name="T14" fmla="*/ 5109028 w 8636000"/>
                <a:gd name="T15" fmla="*/ 377371 h 1422400"/>
                <a:gd name="T16" fmla="*/ 6531383 w 8636000"/>
                <a:gd name="T17" fmla="*/ 609600 h 1422400"/>
                <a:gd name="T18" fmla="*/ 7808638 w 8636000"/>
                <a:gd name="T19" fmla="*/ 798286 h 1422400"/>
                <a:gd name="T20" fmla="*/ 8636000 w 8636000"/>
                <a:gd name="T21" fmla="*/ 928914 h 14224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8636000"/>
                <a:gd name="T34" fmla="*/ 0 h 1422400"/>
                <a:gd name="T35" fmla="*/ 8636000 w 8636000"/>
                <a:gd name="T36" fmla="*/ 1422400 h 142240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8636000" h="1422400">
                  <a:moveTo>
                    <a:pt x="0" y="1422400"/>
                  </a:moveTo>
                  <a:lnTo>
                    <a:pt x="348342" y="333829"/>
                  </a:lnTo>
                  <a:lnTo>
                    <a:pt x="580571" y="116114"/>
                  </a:lnTo>
                  <a:lnTo>
                    <a:pt x="914400" y="29029"/>
                  </a:lnTo>
                  <a:lnTo>
                    <a:pt x="1901371" y="29029"/>
                  </a:lnTo>
                  <a:lnTo>
                    <a:pt x="2627085" y="0"/>
                  </a:lnTo>
                  <a:lnTo>
                    <a:pt x="3904342" y="159657"/>
                  </a:lnTo>
                  <a:lnTo>
                    <a:pt x="5109028" y="377371"/>
                  </a:lnTo>
                  <a:lnTo>
                    <a:pt x="6531428" y="609600"/>
                  </a:lnTo>
                  <a:lnTo>
                    <a:pt x="7808685" y="798286"/>
                  </a:lnTo>
                  <a:lnTo>
                    <a:pt x="8636000" y="928914"/>
                  </a:lnTo>
                </a:path>
              </a:pathLst>
            </a:custGeom>
            <a:noFill/>
            <a:ln w="57150" cap="flat" cmpd="sng" algn="ctr">
              <a:solidFill>
                <a:srgbClr val="00B0F0"/>
              </a:solidFill>
              <a:prstDash val="solid"/>
              <a:round/>
              <a:headEnd type="none" w="med" len="med"/>
              <a:tailEnd type="none" w="med" len="med"/>
            </a:ln>
          </p:spPr>
          <p:txBody>
            <a:bodyPr wrap="none"/>
            <a:lstStyle/>
            <a:p>
              <a:endParaRPr lang="zh-CN" altLang="en-US"/>
            </a:p>
          </p:txBody>
        </p:sp>
        <p:cxnSp>
          <p:nvCxnSpPr>
            <p:cNvPr id="128009" name="直接连接符 9"/>
            <p:cNvCxnSpPr>
              <a:cxnSpLocks noChangeShapeType="1"/>
            </p:cNvCxnSpPr>
            <p:nvPr/>
          </p:nvCxnSpPr>
          <p:spPr bwMode="auto">
            <a:xfrm flipV="1">
              <a:off x="7634514" y="4455886"/>
              <a:ext cx="493486" cy="14514"/>
            </a:xfrm>
            <a:prstGeom prst="line">
              <a:avLst/>
            </a:prstGeom>
            <a:noFill/>
            <a:ln w="57150" algn="ctr">
              <a:solidFill>
                <a:srgbClr val="002060"/>
              </a:solidFill>
              <a:round/>
              <a:headEnd/>
              <a:tailEnd/>
            </a:ln>
          </p:spPr>
        </p:cxnSp>
        <p:cxnSp>
          <p:nvCxnSpPr>
            <p:cNvPr id="128010" name="直接连接符 10"/>
            <p:cNvCxnSpPr>
              <a:cxnSpLocks noChangeShapeType="1"/>
            </p:cNvCxnSpPr>
            <p:nvPr/>
          </p:nvCxnSpPr>
          <p:spPr bwMode="auto">
            <a:xfrm flipV="1">
              <a:off x="7634514" y="4702629"/>
              <a:ext cx="493486" cy="14514"/>
            </a:xfrm>
            <a:prstGeom prst="line">
              <a:avLst/>
            </a:prstGeom>
            <a:noFill/>
            <a:ln w="57150" algn="ctr">
              <a:solidFill>
                <a:srgbClr val="FF0000"/>
              </a:solidFill>
              <a:round/>
              <a:headEnd/>
              <a:tailEnd/>
            </a:ln>
          </p:spPr>
        </p:cxnSp>
        <p:cxnSp>
          <p:nvCxnSpPr>
            <p:cNvPr id="128011" name="直接连接符 11"/>
            <p:cNvCxnSpPr>
              <a:cxnSpLocks noChangeShapeType="1"/>
            </p:cNvCxnSpPr>
            <p:nvPr/>
          </p:nvCxnSpPr>
          <p:spPr bwMode="auto">
            <a:xfrm flipV="1">
              <a:off x="7634514" y="4992915"/>
              <a:ext cx="493486" cy="14514"/>
            </a:xfrm>
            <a:prstGeom prst="line">
              <a:avLst/>
            </a:prstGeom>
            <a:noFill/>
            <a:ln w="57150" algn="ctr">
              <a:solidFill>
                <a:srgbClr val="00B0F0"/>
              </a:solidFill>
              <a:round/>
              <a:headEnd/>
              <a:tailEnd/>
            </a:ln>
          </p:spPr>
        </p:cxnSp>
      </p:gr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dirty="0"/>
              <a:t>决策树的剪枝</a:t>
            </a:r>
          </a:p>
        </p:txBody>
      </p:sp>
      <p:sp>
        <p:nvSpPr>
          <p:cNvPr id="129027" name="内容占位符 2"/>
          <p:cNvSpPr>
            <a:spLocks noGrp="1"/>
          </p:cNvSpPr>
          <p:nvPr>
            <p:ph idx="1"/>
          </p:nvPr>
        </p:nvSpPr>
        <p:spPr>
          <a:xfrm>
            <a:off x="685800" y="1981200"/>
            <a:ext cx="8269288" cy="4114800"/>
          </a:xfrm>
        </p:spPr>
        <p:txBody>
          <a:bodyPr>
            <a:normAutofit/>
          </a:bodyPr>
          <a:lstStyle/>
          <a:p>
            <a:r>
              <a:rPr lang="zh-CN" altLang="en-US" sz="3200" b="1" dirty="0"/>
              <a:t>当数据量小时：</a:t>
            </a:r>
            <a:endParaRPr lang="en-US" altLang="zh-CN" sz="3200" b="1" dirty="0"/>
          </a:p>
          <a:p>
            <a:pPr lvl="1"/>
            <a:r>
              <a:rPr lang="zh-CN" altLang="en-US" sz="2800" b="1" dirty="0"/>
              <a:t>直接利用训练集进行剪枝</a:t>
            </a:r>
            <a:endParaRPr lang="en-US" altLang="zh-CN" sz="2800" b="1" dirty="0"/>
          </a:p>
          <a:p>
            <a:pPr lvl="1"/>
            <a:endParaRPr lang="en-US" altLang="zh-CN" sz="2800" b="1" dirty="0"/>
          </a:p>
          <a:p>
            <a:r>
              <a:rPr lang="zh-CN" altLang="en-US" sz="3200" b="1" dirty="0"/>
              <a:t>树</a:t>
            </a:r>
            <a:r>
              <a:rPr lang="en-US" altLang="zh-CN" sz="3200" b="1" dirty="0"/>
              <a:t>T</a:t>
            </a:r>
            <a:r>
              <a:rPr lang="zh-CN" altLang="en-US" sz="3200" b="1" dirty="0"/>
              <a:t>的叶节点个数为</a:t>
            </a:r>
            <a:r>
              <a:rPr lang="en-US" altLang="zh-CN" sz="3200" b="1" dirty="0"/>
              <a:t>|T|</a:t>
            </a:r>
            <a:r>
              <a:rPr lang="zh-CN" altLang="en-US" sz="3200" b="1" dirty="0"/>
              <a:t>，</a:t>
            </a:r>
            <a:r>
              <a:rPr lang="en-US" altLang="zh-CN" sz="3200" b="1" dirty="0"/>
              <a:t>t</a:t>
            </a:r>
            <a:r>
              <a:rPr lang="zh-CN" altLang="en-US" sz="3200" b="1" dirty="0"/>
              <a:t>是树</a:t>
            </a:r>
            <a:r>
              <a:rPr lang="en-US" altLang="zh-CN" sz="3200" b="1" dirty="0"/>
              <a:t>T</a:t>
            </a:r>
            <a:r>
              <a:rPr lang="zh-CN" altLang="en-US" sz="3200" b="1" dirty="0"/>
              <a:t>的叶节点，该节点有</a:t>
            </a:r>
            <a:r>
              <a:rPr lang="en-US" altLang="zh-CN" sz="3200" b="1" dirty="0" err="1"/>
              <a:t>N</a:t>
            </a:r>
            <a:r>
              <a:rPr lang="en-US" altLang="zh-CN" sz="3200" b="1" baseline="-25000" dirty="0" err="1"/>
              <a:t>t</a:t>
            </a:r>
            <a:r>
              <a:rPr lang="zh-CN" altLang="en-US" sz="3200" b="1" dirty="0"/>
              <a:t>个样本，其中</a:t>
            </a:r>
            <a:r>
              <a:rPr lang="en-US" altLang="zh-CN" sz="3200" b="1" dirty="0"/>
              <a:t>k</a:t>
            </a:r>
            <a:r>
              <a:rPr lang="zh-CN" altLang="en-US" sz="3200" b="1" dirty="0"/>
              <a:t>类的样本点有</a:t>
            </a:r>
            <a:r>
              <a:rPr lang="en-US" altLang="zh-CN" sz="3200" b="1" dirty="0" err="1"/>
              <a:t>N</a:t>
            </a:r>
            <a:r>
              <a:rPr lang="en-US" altLang="zh-CN" sz="3200" b="1" baseline="-25000" dirty="0" err="1"/>
              <a:t>tk</a:t>
            </a:r>
            <a:r>
              <a:rPr lang="zh-CN" altLang="en-US" sz="3200" b="1" dirty="0"/>
              <a:t>个（</a:t>
            </a:r>
            <a:r>
              <a:rPr lang="en-US" altLang="zh-CN" sz="3200" b="1" dirty="0"/>
              <a:t>k=1,…,K</a:t>
            </a:r>
            <a:r>
              <a:rPr lang="zh-CN" altLang="en-US" sz="3200" b="1" dirty="0"/>
              <a:t>），</a:t>
            </a:r>
            <a:r>
              <a:rPr lang="en-US" altLang="zh-CN" sz="3200" b="1" dirty="0"/>
              <a:t>H</a:t>
            </a:r>
            <a:r>
              <a:rPr lang="en-US" altLang="zh-CN" sz="3200" b="1" baseline="-25000" dirty="0"/>
              <a:t>t</a:t>
            </a:r>
            <a:r>
              <a:rPr lang="en-US" altLang="zh-CN" sz="3200" b="1" dirty="0"/>
              <a:t>(T)</a:t>
            </a:r>
            <a:r>
              <a:rPr lang="zh-CN" altLang="en-US" sz="3200" b="1" dirty="0"/>
              <a:t>为叶节点</a:t>
            </a:r>
            <a:r>
              <a:rPr lang="en-US" altLang="zh-CN" sz="3200" b="1" dirty="0"/>
              <a:t>t</a:t>
            </a:r>
            <a:r>
              <a:rPr lang="zh-CN" altLang="en-US" sz="3200" b="1" dirty="0"/>
              <a:t>上的经验熵，</a:t>
            </a:r>
            <a:r>
              <a:rPr lang="en-US" altLang="zh-CN" sz="3200" b="1" dirty="0"/>
              <a:t>a</a:t>
            </a:r>
            <a:r>
              <a:rPr lang="zh-CN" altLang="en-US" sz="3200" b="1" dirty="0"/>
              <a:t>≥</a:t>
            </a:r>
            <a:r>
              <a:rPr lang="en-US" altLang="zh-CN" sz="3200" b="1" dirty="0"/>
              <a:t>0</a:t>
            </a:r>
            <a:r>
              <a:rPr lang="zh-CN" altLang="en-US" sz="3200" b="1" dirty="0"/>
              <a:t>为参数</a:t>
            </a:r>
          </a:p>
        </p:txBody>
      </p:sp>
      <p:sp>
        <p:nvSpPr>
          <p:cNvPr id="129028" name="灯片编号占位符 3"/>
          <p:cNvSpPr>
            <a:spLocks noGrp="1"/>
          </p:cNvSpPr>
          <p:nvPr>
            <p:ph type="sldNum" sz="quarter" idx="12"/>
          </p:nvPr>
        </p:nvSpPr>
        <p:spPr>
          <a:noFill/>
        </p:spPr>
        <p:txBody>
          <a:bodyPr/>
          <a:lstStyle/>
          <a:p>
            <a:fld id="{D80B2EDD-97AF-4DB4-9BC6-C506AA4A5090}" type="slidenum">
              <a:rPr lang="en-US" altLang="zh-CN" smtClean="0">
                <a:ea typeface="黑体" pitchFamily="49" charset="-122"/>
              </a:rPr>
              <a:pPr/>
              <a:t>106</a:t>
            </a:fld>
            <a:endParaRPr lang="en-US" altLang="zh-CN">
              <a:ea typeface="黑体" pitchFamily="49" charset="-122"/>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内容占位符 2"/>
          <p:cNvSpPr>
            <a:spLocks noGrp="1"/>
          </p:cNvSpPr>
          <p:nvPr>
            <p:ph idx="1"/>
          </p:nvPr>
        </p:nvSpPr>
        <p:spPr>
          <a:xfrm>
            <a:off x="685800" y="536575"/>
            <a:ext cx="7772400" cy="5559425"/>
          </a:xfrm>
        </p:spPr>
        <p:txBody>
          <a:bodyPr/>
          <a:lstStyle/>
          <a:p>
            <a:r>
              <a:rPr lang="zh-CN" altLang="en-US" sz="3200" b="1" dirty="0"/>
              <a:t>定义损失函数：</a:t>
            </a:r>
            <a:endParaRPr lang="en-US" altLang="zh-CN" b="1" dirty="0"/>
          </a:p>
          <a:p>
            <a:endParaRPr lang="zh-CN" altLang="en-US" dirty="0"/>
          </a:p>
        </p:txBody>
      </p:sp>
      <p:sp>
        <p:nvSpPr>
          <p:cNvPr id="66564" name="灯片编号占位符 3"/>
          <p:cNvSpPr>
            <a:spLocks noGrp="1"/>
          </p:cNvSpPr>
          <p:nvPr>
            <p:ph type="sldNum" sz="quarter" idx="12"/>
          </p:nvPr>
        </p:nvSpPr>
        <p:spPr>
          <a:noFill/>
        </p:spPr>
        <p:txBody>
          <a:bodyPr/>
          <a:lstStyle/>
          <a:p>
            <a:fld id="{865447A6-EA93-4DE9-A841-44D525921ACC}" type="slidenum">
              <a:rPr lang="en-US" altLang="zh-CN" smtClean="0">
                <a:ea typeface="黑体" pitchFamily="49" charset="-122"/>
              </a:rPr>
              <a:pPr/>
              <a:t>107</a:t>
            </a:fld>
            <a:endParaRPr lang="en-US" altLang="zh-CN">
              <a:ea typeface="黑体" pitchFamily="49" charset="-122"/>
            </a:endParaRPr>
          </a:p>
        </p:txBody>
      </p:sp>
      <p:graphicFrame>
        <p:nvGraphicFramePr>
          <p:cNvPr id="66562" name="Object 1" descr="羊皮纸"/>
          <p:cNvGraphicFramePr>
            <a:graphicFrameLocks noChangeAspect="1"/>
          </p:cNvGraphicFramePr>
          <p:nvPr/>
        </p:nvGraphicFramePr>
        <p:xfrm>
          <a:off x="757238" y="1397000"/>
          <a:ext cx="7659687" cy="4675188"/>
        </p:xfrm>
        <a:graphic>
          <a:graphicData uri="http://schemas.openxmlformats.org/presentationml/2006/ole">
            <mc:AlternateContent xmlns:mc="http://schemas.openxmlformats.org/markup-compatibility/2006">
              <mc:Choice xmlns:v="urn:schemas-microsoft-com:vml" Requires="v">
                <p:oleObj name="公式" r:id="rId2" imgW="3441600" imgH="2133360" progId="Equation.3">
                  <p:embed/>
                </p:oleObj>
              </mc:Choice>
              <mc:Fallback>
                <p:oleObj name="公式" r:id="rId2" imgW="3441600" imgH="2133360" progId="Equation.3">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7238" y="1397000"/>
                        <a:ext cx="7659687" cy="46751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endParaRPr lang="zh-CN" altLang="en-US"/>
          </a:p>
        </p:txBody>
      </p:sp>
      <p:sp>
        <p:nvSpPr>
          <p:cNvPr id="130051" name="内容占位符 2"/>
          <p:cNvSpPr>
            <a:spLocks noGrp="1"/>
          </p:cNvSpPr>
          <p:nvPr>
            <p:ph idx="1"/>
          </p:nvPr>
        </p:nvSpPr>
        <p:spPr/>
        <p:txBody>
          <a:bodyPr>
            <a:normAutofit/>
          </a:bodyPr>
          <a:lstStyle/>
          <a:p>
            <a:r>
              <a:rPr lang="zh-CN" altLang="en-US" sz="3200" b="1" dirty="0"/>
              <a:t>剪枝，就是当</a:t>
            </a:r>
            <a:r>
              <a:rPr lang="en-US" altLang="zh-CN" sz="3200" b="1" dirty="0"/>
              <a:t>α</a:t>
            </a:r>
            <a:r>
              <a:rPr lang="zh-CN" altLang="en-US" sz="3200" b="1" dirty="0"/>
              <a:t>确定时，选择损失函数最小的模型。</a:t>
            </a:r>
          </a:p>
        </p:txBody>
      </p:sp>
      <p:sp>
        <p:nvSpPr>
          <p:cNvPr id="130052" name="灯片编号占位符 3"/>
          <p:cNvSpPr>
            <a:spLocks noGrp="1"/>
          </p:cNvSpPr>
          <p:nvPr>
            <p:ph type="sldNum" sz="quarter" idx="12"/>
          </p:nvPr>
        </p:nvSpPr>
        <p:spPr>
          <a:noFill/>
        </p:spPr>
        <p:txBody>
          <a:bodyPr/>
          <a:lstStyle/>
          <a:p>
            <a:fld id="{347D4A8A-4314-4943-A8B2-92F136F35859}" type="slidenum">
              <a:rPr lang="en-US" altLang="zh-CN" smtClean="0">
                <a:ea typeface="黑体" pitchFamily="49" charset="-122"/>
              </a:rPr>
              <a:pPr/>
              <a:t>108</a:t>
            </a:fld>
            <a:endParaRPr lang="en-US" altLang="zh-CN">
              <a:ea typeface="黑体" pitchFamily="49" charset="-122"/>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dirty="0"/>
              <a:t>决策树的剪枝算法</a:t>
            </a:r>
          </a:p>
        </p:txBody>
      </p:sp>
      <p:sp>
        <p:nvSpPr>
          <p:cNvPr id="131075" name="内容占位符 2"/>
          <p:cNvSpPr>
            <a:spLocks noGrp="1"/>
          </p:cNvSpPr>
          <p:nvPr>
            <p:ph idx="1"/>
          </p:nvPr>
        </p:nvSpPr>
        <p:spPr/>
        <p:txBody>
          <a:bodyPr>
            <a:normAutofit/>
          </a:bodyPr>
          <a:lstStyle/>
          <a:p>
            <a:r>
              <a:rPr lang="zh-CN" altLang="en-US" sz="3200" b="1" dirty="0"/>
              <a:t>输入：生成算法产生的整个树</a:t>
            </a:r>
            <a:r>
              <a:rPr lang="en-US" altLang="zh-CN" sz="3200" b="1" dirty="0"/>
              <a:t>T</a:t>
            </a:r>
            <a:r>
              <a:rPr lang="zh-CN" altLang="en-US" sz="3200" b="1" dirty="0"/>
              <a:t>，参数</a:t>
            </a:r>
            <a:r>
              <a:rPr lang="en-US" altLang="zh-CN" sz="3200" b="1" dirty="0"/>
              <a:t>a</a:t>
            </a:r>
          </a:p>
          <a:p>
            <a:r>
              <a:rPr lang="zh-CN" altLang="en-US" sz="3200" b="1" dirty="0"/>
              <a:t>输出：修剪后的子树</a:t>
            </a:r>
            <a:r>
              <a:rPr lang="en-US" altLang="zh-CN" sz="3200" b="1" dirty="0"/>
              <a:t>T</a:t>
            </a:r>
            <a:r>
              <a:rPr lang="en-US" altLang="zh-CN" sz="3200" b="1" baseline="-25000" dirty="0"/>
              <a:t>a</a:t>
            </a:r>
          </a:p>
          <a:p>
            <a:r>
              <a:rPr lang="en-US" altLang="zh-CN" sz="3200" b="1" dirty="0"/>
              <a:t>(1)</a:t>
            </a:r>
            <a:r>
              <a:rPr lang="zh-CN" altLang="en-US" sz="3200" b="1" dirty="0"/>
              <a:t>计算每个节点的经验熵</a:t>
            </a:r>
            <a:endParaRPr lang="en-US" altLang="zh-CN" sz="3200" b="1" dirty="0"/>
          </a:p>
          <a:p>
            <a:r>
              <a:rPr lang="en-US" altLang="zh-CN" sz="3200" b="1" dirty="0"/>
              <a:t>(2)</a:t>
            </a:r>
            <a:r>
              <a:rPr lang="zh-CN" altLang="en-US" sz="3200" b="1" dirty="0"/>
              <a:t>递归地从树的叶节点向上回缩，如果回缩后的损失函数小于等于回缩前，则剪枝，将父节点变为新的叶节点</a:t>
            </a:r>
            <a:endParaRPr lang="en-US" altLang="zh-CN" sz="3200" b="1" dirty="0"/>
          </a:p>
          <a:p>
            <a:r>
              <a:rPr lang="en-US" altLang="zh-CN" sz="3200" b="1" dirty="0"/>
              <a:t>(3)</a:t>
            </a:r>
            <a:r>
              <a:rPr lang="zh-CN" altLang="en-US" sz="3200" b="1" dirty="0"/>
              <a:t>返回</a:t>
            </a:r>
            <a:r>
              <a:rPr lang="en-US" altLang="zh-CN" sz="3200" b="1" dirty="0"/>
              <a:t>2</a:t>
            </a:r>
            <a:r>
              <a:rPr lang="zh-CN" altLang="en-US" sz="3200" b="1" dirty="0"/>
              <a:t>，直至不能继续为止，得到损失函数最小的子树</a:t>
            </a:r>
            <a:r>
              <a:rPr lang="en-US" altLang="zh-CN" sz="3200" b="1" dirty="0"/>
              <a:t>T</a:t>
            </a:r>
            <a:r>
              <a:rPr lang="en-US" altLang="zh-CN" sz="3200" b="1" baseline="-25000" dirty="0"/>
              <a:t>a</a:t>
            </a:r>
          </a:p>
          <a:p>
            <a:endParaRPr lang="en-US" altLang="zh-CN" sz="3200" b="1" dirty="0"/>
          </a:p>
          <a:p>
            <a:endParaRPr lang="zh-CN" altLang="en-US" sz="3200" b="1" dirty="0"/>
          </a:p>
        </p:txBody>
      </p:sp>
      <p:sp>
        <p:nvSpPr>
          <p:cNvPr id="131076" name="灯片编号占位符 3"/>
          <p:cNvSpPr>
            <a:spLocks noGrp="1"/>
          </p:cNvSpPr>
          <p:nvPr>
            <p:ph type="sldNum" sz="quarter" idx="12"/>
          </p:nvPr>
        </p:nvSpPr>
        <p:spPr>
          <a:noFill/>
        </p:spPr>
        <p:txBody>
          <a:bodyPr/>
          <a:lstStyle/>
          <a:p>
            <a:fld id="{4CB6F63E-BED2-4544-BD2B-6C4C9962E4AC}" type="slidenum">
              <a:rPr lang="en-US" altLang="zh-CN" smtClean="0">
                <a:ea typeface="黑体" pitchFamily="49" charset="-122"/>
              </a:rPr>
              <a:pPr/>
              <a:t>109</a:t>
            </a:fld>
            <a:endParaRPr lang="en-US" altLang="zh-CN" dirty="0">
              <a:ea typeface="黑体" pitchFamily="49" charset="-122"/>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请选择以下正确的说法：</a:t>
            </a:r>
          </a:p>
        </p:txBody>
      </p:sp>
      <p:sp>
        <p:nvSpPr>
          <p:cNvPr id="6" name="文本框 5"/>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剪枝后在训练集上性能提高</a:t>
            </a:r>
          </a:p>
        </p:txBody>
      </p:sp>
      <p:sp>
        <p:nvSpPr>
          <p:cNvPr id="7" name="文本框 6"/>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通过剪枝可以提高在测试集上的性能</a:t>
            </a:r>
          </a:p>
        </p:txBody>
      </p:sp>
      <p:sp>
        <p:nvSpPr>
          <p:cNvPr id="8" name="文本框 7"/>
          <p:cNvSpPr txBox="1"/>
          <p:nvPr>
            <p:custDataLst>
              <p:tags r:id="rId5"/>
            </p:custDataLst>
          </p:nvPr>
        </p:nvSpPr>
        <p:spPr>
          <a:xfrm>
            <a:off x="1828800" y="450056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决策树只能处理离散的特征值</a:t>
            </a:r>
          </a:p>
        </p:txBody>
      </p:sp>
      <p:sp>
        <p:nvSpPr>
          <p:cNvPr id="9" name="文本框 8"/>
          <p:cNvSpPr txBox="1"/>
          <p:nvPr>
            <p:custDataLst>
              <p:tags r:id="rId6"/>
            </p:custDataLst>
          </p:nvPr>
        </p:nvSpPr>
        <p:spPr>
          <a:xfrm>
            <a:off x="1828800" y="535781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决策树在训练集上的性能越高越好</a:t>
            </a:r>
          </a:p>
        </p:txBody>
      </p:sp>
      <p:sp>
        <p:nvSpPr>
          <p:cNvPr id="10" name="矩形 9"/>
          <p:cNvSpPr>
            <a:spLocks noChangeAspect="1"/>
          </p:cNvSpPr>
          <p:nvPr>
            <p:custDataLst>
              <p:tags r:id="rId7"/>
            </p:custDataLst>
          </p:nvPr>
        </p:nvSpPr>
        <p:spPr>
          <a:xfrm>
            <a:off x="1114425" y="2850356"/>
            <a:ext cx="514350" cy="514350"/>
          </a:xfrm>
          <a:prstGeom prst="rect">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8"/>
            </p:custDataLst>
          </p:nvPr>
        </p:nvSpPr>
        <p:spPr>
          <a:xfrm>
            <a:off x="1114425" y="3707606"/>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矩形 11"/>
          <p:cNvSpPr>
            <a:spLocks noChangeAspect="1"/>
          </p:cNvSpPr>
          <p:nvPr>
            <p:custDataLst>
              <p:tags r:id="rId9"/>
            </p:custDataLst>
          </p:nvPr>
        </p:nvSpPr>
        <p:spPr>
          <a:xfrm>
            <a:off x="1114425" y="4564856"/>
            <a:ext cx="514350" cy="514350"/>
          </a:xfrm>
          <a:prstGeom prst="rect">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矩形 12"/>
          <p:cNvSpPr>
            <a:spLocks noChangeAspect="1"/>
          </p:cNvSpPr>
          <p:nvPr>
            <p:custDataLst>
              <p:tags r:id="rId10"/>
            </p:custDataLst>
          </p:nvPr>
        </p:nvSpPr>
        <p:spPr>
          <a:xfrm>
            <a:off x="1114425" y="5422106"/>
            <a:ext cx="514350" cy="514350"/>
          </a:xfrm>
          <a:prstGeom prst="rect">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4" name="圆角矩形 13"/>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9" name="组合 18"/>
          <p:cNvGrpSpPr/>
          <p:nvPr>
            <p:custDataLst>
              <p:tags r:id="rId12"/>
            </p:custDataLst>
          </p:nvPr>
        </p:nvGrpSpPr>
        <p:grpSpPr>
          <a:xfrm>
            <a:off x="0" y="0"/>
            <a:ext cx="9144000" cy="635000"/>
            <a:chOff x="0" y="0"/>
            <a:chExt cx="9144000" cy="635000"/>
          </a:xfrm>
        </p:grpSpPr>
        <p:sp>
          <p:nvSpPr>
            <p:cNvPr id="15" name="TitleBackground"/>
            <p:cNvSpPr/>
            <p:nvPr>
              <p:custDataLst>
                <p:tags r:id="rId14"/>
              </p:custDataLst>
            </p:nvPr>
          </p:nvSpPr>
          <p:spPr>
            <a:xfrm>
              <a:off x="0" y="0"/>
              <a:ext cx="9144000" cy="635000"/>
            </a:xfrm>
            <a:prstGeom prst="rect">
              <a:avLst/>
            </a:prstGeom>
            <a:solidFill>
              <a:srgbClr val="F6F7F8"/>
            </a:solidFill>
            <a:ln w="12700" cap="flat" cmpd="sng" algn="ctr">
              <a:noFill/>
              <a:prstDash val="solid"/>
            </a:ln>
            <a:effectLst/>
            <a:extLst>
              <a:ext uri="{91240B29-F687-4F45-9708-019B960494DF}">
                <a14:hiddenLine xmlns:a14="http://schemas.microsoft.com/office/drawing/2010/main" w="127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ColorBlock"/>
            <p:cNvSpPr/>
            <p:nvPr>
              <p:custDataLst>
                <p:tags r:id="rId15"/>
              </p:custDataLst>
            </p:nvPr>
          </p:nvSpPr>
          <p:spPr>
            <a:xfrm>
              <a:off x="0" y="0"/>
              <a:ext cx="190500" cy="635000"/>
            </a:xfrm>
            <a:prstGeom prst="rect">
              <a:avLst/>
            </a:prstGeom>
            <a:solidFill>
              <a:srgbClr val="639EF4"/>
            </a:solidFill>
            <a:ln w="12700" cap="flat" cmpd="sng" algn="ctr">
              <a:noFill/>
              <a:prstDash val="solid"/>
            </a:ln>
            <a:effectLst/>
            <a:extLst>
              <a:ext uri="{91240B29-F687-4F45-9708-019B960494DF}">
                <a14:hiddenLine xmlns:a14="http://schemas.microsoft.com/office/drawing/2010/main" w="127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8"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4" name="图片 3"/>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2326878251"/>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练习题</a:t>
            </a:r>
          </a:p>
        </p:txBody>
      </p:sp>
      <p:sp>
        <p:nvSpPr>
          <p:cNvPr id="3" name="内容占位符 2"/>
          <p:cNvSpPr>
            <a:spLocks noGrp="1"/>
          </p:cNvSpPr>
          <p:nvPr>
            <p:ph sz="quarter" idx="1"/>
          </p:nvPr>
        </p:nvSpPr>
        <p:spPr/>
        <p:txBody>
          <a:bodyPr/>
          <a:lstStyle/>
          <a:p>
            <a:endParaRPr lang="en-US" altLang="zh-CN" dirty="0"/>
          </a:p>
          <a:p>
            <a:r>
              <a:rPr lang="zh-CN" altLang="en-US" dirty="0"/>
              <a:t>使用工具系统实现基于决策树方法的文本分类，并对</a:t>
            </a:r>
            <a:r>
              <a:rPr lang="en-US" altLang="zh-CN" dirty="0"/>
              <a:t>ID3</a:t>
            </a:r>
            <a:r>
              <a:rPr lang="zh-CN" altLang="en-US" dirty="0"/>
              <a:t>、</a:t>
            </a:r>
            <a:r>
              <a:rPr lang="en-US" altLang="zh-CN" dirty="0"/>
              <a:t>C4.5</a:t>
            </a:r>
            <a:r>
              <a:rPr lang="zh-CN" altLang="en-US" dirty="0"/>
              <a:t>算法进行比较。</a:t>
            </a:r>
          </a:p>
        </p:txBody>
      </p:sp>
    </p:spTree>
    <p:extLst>
      <p:ext uri="{BB962C8B-B14F-4D97-AF65-F5344CB8AC3E}">
        <p14:creationId xmlns:p14="http://schemas.microsoft.com/office/powerpoint/2010/main" val="2558964374"/>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随机森林</a:t>
            </a:r>
          </a:p>
        </p:txBody>
      </p:sp>
      <p:sp>
        <p:nvSpPr>
          <p:cNvPr id="3" name="内容占位符 2"/>
          <p:cNvSpPr>
            <a:spLocks noGrp="1"/>
          </p:cNvSpPr>
          <p:nvPr>
            <p:ph sz="quarter" idx="1"/>
          </p:nvPr>
        </p:nvSpPr>
        <p:spPr/>
        <p:txBody>
          <a:bodyPr>
            <a:normAutofit fontScale="92500" lnSpcReduction="10000"/>
          </a:bodyPr>
          <a:lstStyle/>
          <a:p>
            <a:endParaRPr lang="en-US" altLang="zh-CN" dirty="0"/>
          </a:p>
          <a:p>
            <a:r>
              <a:rPr lang="zh-CN" altLang="en-US" sz="2800" dirty="0"/>
              <a:t>决策树容易过拟合</a:t>
            </a:r>
            <a:endParaRPr lang="en-US" altLang="zh-CN" sz="2800" dirty="0"/>
          </a:p>
          <a:p>
            <a:r>
              <a:rPr lang="zh-CN" altLang="en-US" sz="2800" dirty="0"/>
              <a:t>随机森林是由多个决策树组成的分类器</a:t>
            </a:r>
            <a:endParaRPr lang="en-US" altLang="zh-CN" sz="2800" dirty="0"/>
          </a:p>
          <a:p>
            <a:r>
              <a:rPr lang="zh-CN" altLang="en-US" sz="2800" dirty="0"/>
              <a:t>通过投票机制改善决策树</a:t>
            </a:r>
            <a:endParaRPr lang="en-US" altLang="zh-CN" sz="2800" dirty="0"/>
          </a:p>
          <a:p>
            <a:pPr lvl="1"/>
            <a:r>
              <a:rPr lang="en-US" altLang="zh-CN" sz="2600" dirty="0"/>
              <a:t>Gradient-boosted</a:t>
            </a:r>
            <a:r>
              <a:rPr lang="zh-CN" altLang="en-US" sz="2600" dirty="0"/>
              <a:t> </a:t>
            </a:r>
            <a:r>
              <a:rPr lang="en-US" altLang="zh-CN" sz="2600" dirty="0"/>
              <a:t>Decision</a:t>
            </a:r>
            <a:r>
              <a:rPr lang="zh-CN" altLang="en-US" sz="2600" dirty="0"/>
              <a:t> </a:t>
            </a:r>
            <a:r>
              <a:rPr lang="en-US" altLang="zh-CN" sz="2600" dirty="0"/>
              <a:t>Trees</a:t>
            </a:r>
            <a:r>
              <a:rPr lang="zh-CN" altLang="en-US" sz="2600" dirty="0"/>
              <a:t> </a:t>
            </a:r>
            <a:r>
              <a:rPr lang="en-US" altLang="zh-CN" sz="2600" dirty="0"/>
              <a:t>–</a:t>
            </a:r>
            <a:r>
              <a:rPr lang="zh-CN" altLang="en-US" sz="2600" dirty="0"/>
              <a:t> </a:t>
            </a:r>
            <a:r>
              <a:rPr lang="en-US" altLang="zh-CN" sz="2600" dirty="0"/>
              <a:t>iteratively</a:t>
            </a:r>
            <a:r>
              <a:rPr lang="zh-CN" altLang="en-US" sz="2600" dirty="0"/>
              <a:t> </a:t>
            </a:r>
            <a:r>
              <a:rPr lang="en-US" altLang="zh-CN" sz="2600" dirty="0"/>
              <a:t>improves</a:t>
            </a:r>
            <a:r>
              <a:rPr lang="zh-CN" altLang="en-US" sz="2600" dirty="0"/>
              <a:t> </a:t>
            </a:r>
            <a:r>
              <a:rPr lang="en-US" altLang="zh-CN" sz="2600" dirty="0"/>
              <a:t>the</a:t>
            </a:r>
            <a:r>
              <a:rPr lang="zh-CN" altLang="en-US" sz="2600" dirty="0"/>
              <a:t> </a:t>
            </a:r>
            <a:r>
              <a:rPr lang="en-US" altLang="zh-CN" sz="2600" dirty="0"/>
              <a:t>prediction</a:t>
            </a:r>
            <a:r>
              <a:rPr lang="zh-CN" altLang="en-US" sz="2600" dirty="0"/>
              <a:t> </a:t>
            </a:r>
            <a:r>
              <a:rPr lang="en-US" altLang="zh-CN" sz="2600" dirty="0"/>
              <a:t>by</a:t>
            </a:r>
            <a:r>
              <a:rPr lang="zh-CN" altLang="en-US" sz="2600" dirty="0"/>
              <a:t> </a:t>
            </a:r>
            <a:r>
              <a:rPr lang="en-US" altLang="zh-CN" sz="2600" dirty="0"/>
              <a:t>constructing</a:t>
            </a:r>
            <a:r>
              <a:rPr lang="zh-CN" altLang="en-US" sz="2600" dirty="0"/>
              <a:t> </a:t>
            </a:r>
            <a:r>
              <a:rPr lang="en-US" altLang="zh-CN" sz="2600" dirty="0"/>
              <a:t>the</a:t>
            </a:r>
            <a:r>
              <a:rPr lang="zh-CN" altLang="en-US" sz="2600" dirty="0"/>
              <a:t> </a:t>
            </a:r>
            <a:r>
              <a:rPr lang="en-US" altLang="zh-CN" sz="2600" dirty="0"/>
              <a:t>next</a:t>
            </a:r>
            <a:r>
              <a:rPr lang="zh-CN" altLang="en-US" sz="2600" dirty="0"/>
              <a:t> </a:t>
            </a:r>
            <a:r>
              <a:rPr lang="en-US" altLang="zh-CN" sz="2600" dirty="0"/>
              <a:t>tree</a:t>
            </a:r>
          </a:p>
          <a:p>
            <a:r>
              <a:rPr lang="zh-CN" altLang="en-US" sz="2800" dirty="0"/>
              <a:t>单个决策树的生成</a:t>
            </a:r>
            <a:endParaRPr lang="en-US" altLang="zh-CN" sz="2800" dirty="0"/>
          </a:p>
          <a:p>
            <a:pPr lvl="1"/>
            <a:r>
              <a:rPr lang="zh-CN" altLang="en-US" sz="2600" dirty="0"/>
              <a:t>有放回的数据采样</a:t>
            </a:r>
            <a:endParaRPr lang="en-US" altLang="zh-CN" sz="2600" dirty="0"/>
          </a:p>
          <a:p>
            <a:pPr lvl="1"/>
            <a:r>
              <a:rPr lang="zh-CN" altLang="en-US" sz="2600" dirty="0"/>
              <a:t>属性（特征）的采样</a:t>
            </a:r>
            <a:endParaRPr lang="en-US" altLang="zh-CN" sz="2600" dirty="0"/>
          </a:p>
          <a:p>
            <a:r>
              <a:rPr lang="zh-CN" altLang="en-US" sz="2800" dirty="0"/>
              <a:t>集外数据的使用</a:t>
            </a:r>
            <a:endParaRPr lang="en-US" altLang="zh-CN" sz="2800" dirty="0"/>
          </a:p>
          <a:p>
            <a:pPr lvl="1"/>
            <a:r>
              <a:rPr lang="zh-CN" altLang="en-US" sz="2600" dirty="0"/>
              <a:t>单个决策树未用到的数据</a:t>
            </a:r>
          </a:p>
        </p:txBody>
      </p:sp>
    </p:spTree>
    <p:extLst>
      <p:ext uri="{BB962C8B-B14F-4D97-AF65-F5344CB8AC3E}">
        <p14:creationId xmlns:p14="http://schemas.microsoft.com/office/powerpoint/2010/main" val="1354437326"/>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小结</a:t>
            </a:r>
          </a:p>
        </p:txBody>
      </p:sp>
      <p:sp>
        <p:nvSpPr>
          <p:cNvPr id="3" name="内容占位符 2"/>
          <p:cNvSpPr>
            <a:spLocks noGrp="1"/>
          </p:cNvSpPr>
          <p:nvPr>
            <p:ph sz="quarter" idx="1"/>
          </p:nvPr>
        </p:nvSpPr>
        <p:spPr/>
        <p:txBody>
          <a:bodyPr/>
          <a:lstStyle/>
          <a:p>
            <a:endParaRPr lang="en-US" altLang="zh-CN" dirty="0"/>
          </a:p>
          <a:p>
            <a:r>
              <a:rPr lang="zh-CN" altLang="en-US" dirty="0"/>
              <a:t>什么是统计机器学习方法？</a:t>
            </a:r>
            <a:endParaRPr lang="en-US" altLang="zh-CN" dirty="0"/>
          </a:p>
          <a:p>
            <a:r>
              <a:rPr lang="zh-CN" altLang="en-US" dirty="0"/>
              <a:t>朴素贝叶斯方法</a:t>
            </a:r>
            <a:endParaRPr lang="en-US" altLang="zh-CN" dirty="0"/>
          </a:p>
          <a:p>
            <a:r>
              <a:rPr lang="zh-CN" altLang="en-US" dirty="0"/>
              <a:t>支持向量机</a:t>
            </a:r>
            <a:endParaRPr lang="en-US" altLang="zh-CN" dirty="0"/>
          </a:p>
          <a:p>
            <a:pPr lvl="1"/>
            <a:r>
              <a:rPr lang="zh-CN" altLang="en-US" dirty="0"/>
              <a:t>线性可分支持向量机</a:t>
            </a:r>
            <a:endParaRPr lang="en-US" altLang="zh-CN" dirty="0"/>
          </a:p>
          <a:p>
            <a:pPr lvl="1"/>
            <a:r>
              <a:rPr lang="zh-CN" altLang="en-US" dirty="0"/>
              <a:t>线性支持向量机</a:t>
            </a:r>
            <a:endParaRPr lang="en-US" altLang="zh-CN" dirty="0"/>
          </a:p>
          <a:p>
            <a:pPr lvl="1"/>
            <a:r>
              <a:rPr lang="zh-CN" altLang="en-US" dirty="0"/>
              <a:t>非线性支持向量机</a:t>
            </a:r>
            <a:endParaRPr lang="en-US" altLang="zh-CN" dirty="0"/>
          </a:p>
          <a:p>
            <a:r>
              <a:rPr lang="zh-CN" altLang="en-US" dirty="0"/>
              <a:t>决策树</a:t>
            </a:r>
            <a:endParaRPr lang="en-US" altLang="zh-CN" dirty="0"/>
          </a:p>
          <a:p>
            <a:pPr lvl="1"/>
            <a:r>
              <a:rPr lang="en-US" altLang="zh-CN" dirty="0"/>
              <a:t>ID3</a:t>
            </a:r>
            <a:r>
              <a:rPr lang="zh-CN" altLang="en-US" dirty="0"/>
              <a:t>算法</a:t>
            </a:r>
            <a:endParaRPr lang="en-US" altLang="zh-CN" dirty="0"/>
          </a:p>
          <a:p>
            <a:pPr lvl="1"/>
            <a:r>
              <a:rPr lang="en-US" altLang="zh-CN" dirty="0"/>
              <a:t>C4.5</a:t>
            </a:r>
            <a:r>
              <a:rPr lang="zh-CN" altLang="en-US" dirty="0"/>
              <a:t>算法</a:t>
            </a:r>
          </a:p>
        </p:txBody>
      </p:sp>
    </p:spTree>
    <p:extLst>
      <p:ext uri="{BB962C8B-B14F-4D97-AF65-F5344CB8AC3E}">
        <p14:creationId xmlns:p14="http://schemas.microsoft.com/office/powerpoint/2010/main" val="169636042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RAINPROBLEM" val="MultipleChoiceMA"/>
  <p:tag name="PROBLEMSCORE" val="1.0"/>
  <p:tag name="PROBLEMSCORE_HALF" val="0.0"/>
</p:tagLst>
</file>

<file path=ppt/tags/tag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1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1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1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xml><?xml version="1.0" encoding="utf-8"?>
<p:tagLst xmlns:a="http://schemas.openxmlformats.org/drawingml/2006/main" xmlns:r="http://schemas.openxmlformats.org/officeDocument/2006/relationships" xmlns:p="http://schemas.openxmlformats.org/presentationml/2006/main">
  <p:tag name="RAINPROBLEM" val="MultipleChoiceMA"/>
  <p:tag name="PROBLEMSCORE" val="1.0"/>
  <p:tag name="PROBLEMSCORE_HALF" val="0.0"/>
</p:tagLst>
</file>

<file path=ppt/tags/tag19.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2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2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3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5.xml><?xml version="1.0" encoding="utf-8"?>
<p:tagLst xmlns:a="http://schemas.openxmlformats.org/drawingml/2006/main" xmlns:r="http://schemas.openxmlformats.org/officeDocument/2006/relationships" xmlns:p="http://schemas.openxmlformats.org/presentationml/2006/main">
  <p:tag name="RAINPROBLEM" val="MultipleChoiceMA"/>
  <p:tag name="PROBLEMSCORE" val="1.0"/>
  <p:tag name="PROBLEMSCORE_HALF" val="0.0"/>
</p:tagLst>
</file>

<file path=ppt/tags/tag36.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4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4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4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45.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4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7.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4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2.xml><?xml version="1.0" encoding="utf-8"?>
<p:tagLst xmlns:a="http://schemas.openxmlformats.org/drawingml/2006/main" xmlns:r="http://schemas.openxmlformats.org/officeDocument/2006/relationships" xmlns:p="http://schemas.openxmlformats.org/presentationml/2006/main">
  <p:tag name="RAINPROBLEM" val="MultipleChoiceMA"/>
  <p:tag name="PROBLEMSCORE" val="1.0"/>
  <p:tag name="PROBLEMSCORE_HALF" val="0.0"/>
</p:tagLst>
</file>

<file path=ppt/tags/tag5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5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5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6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6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62.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6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6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208621</TotalTime>
  <Words>6611</Words>
  <Application>Microsoft Macintosh PowerPoint</Application>
  <PresentationFormat>On-screen Show (4:3)</PresentationFormat>
  <Paragraphs>1060</Paragraphs>
  <Slides>113</Slides>
  <Notes>68</Notes>
  <HiddenSlides>3</HiddenSlides>
  <MMClips>0</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1</vt:i4>
      </vt:variant>
      <vt:variant>
        <vt:lpstr>Slide Titles</vt:lpstr>
      </vt:variant>
      <vt:variant>
        <vt:i4>113</vt:i4>
      </vt:variant>
    </vt:vector>
  </HeadingPairs>
  <TitlesOfParts>
    <vt:vector size="126" baseType="lpstr">
      <vt:lpstr>Microsoft Yahei</vt:lpstr>
      <vt:lpstr>黑体</vt:lpstr>
      <vt:lpstr>宋体</vt:lpstr>
      <vt:lpstr>Arial</vt:lpstr>
      <vt:lpstr>Calibri</vt:lpstr>
      <vt:lpstr>Cambria Math</vt:lpstr>
      <vt:lpstr>Franklin Gothic Book</vt:lpstr>
      <vt:lpstr>Perpetua</vt:lpstr>
      <vt:lpstr>Times New Roman</vt:lpstr>
      <vt:lpstr>Wingdings</vt:lpstr>
      <vt:lpstr>Wingdings 2</vt:lpstr>
      <vt:lpstr>Equity</vt:lpstr>
      <vt:lpstr>公式</vt:lpstr>
      <vt:lpstr>前情回顾</vt:lpstr>
      <vt:lpstr>前情回顾</vt:lpstr>
      <vt:lpstr>第四章 统计机器学习方法</vt:lpstr>
      <vt:lpstr>PowerPoint Presentation</vt:lpstr>
      <vt:lpstr>什么是统计机器学习？</vt:lpstr>
      <vt:lpstr>PowerPoint Presentation</vt:lpstr>
      <vt:lpstr>如何形式化定义学习？</vt:lpstr>
      <vt:lpstr>PowerPoint Presentation</vt:lpstr>
      <vt:lpstr>PowerPoint Presentation</vt:lpstr>
      <vt:lpstr>统计机器学习的应用</vt:lpstr>
      <vt:lpstr>4.1 支持向量机（SVM）</vt:lpstr>
      <vt:lpstr>线性可分支持向量机</vt:lpstr>
      <vt:lpstr>PowerPoint Presentation</vt:lpstr>
      <vt:lpstr>最优分界面</vt:lpstr>
      <vt:lpstr>最优分界面</vt:lpstr>
      <vt:lpstr>函数间隔</vt:lpstr>
      <vt:lpstr>几何间隔</vt:lpstr>
      <vt:lpstr>PowerPoint Presentation</vt:lpstr>
      <vt:lpstr>函数间隔与几何间隔的关系</vt:lpstr>
      <vt:lpstr>间隔最大化</vt:lpstr>
      <vt:lpstr>PowerPoint Presentation</vt:lpstr>
      <vt:lpstr>最优分界面</vt:lpstr>
      <vt:lpstr>学习的对偶算法</vt:lpstr>
      <vt:lpstr>PowerPoint Presentation</vt:lpstr>
      <vt:lpstr>PowerPoint Presentation</vt:lpstr>
      <vt:lpstr>PowerPoint Presentation</vt:lpstr>
      <vt:lpstr>PowerPoint Presentation</vt:lpstr>
      <vt:lpstr>PowerPoint Presentation</vt:lpstr>
      <vt:lpstr>如何求得w*、b*?</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线性支持向量机</vt:lpstr>
      <vt:lpstr>线性支持向量机</vt:lpstr>
      <vt:lpstr>回顾：线性可分支持向量机</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非线性支持向量机</vt:lpstr>
      <vt:lpstr>PowerPoint Presentation</vt:lpstr>
      <vt:lpstr>PowerPoint Presentation</vt:lpstr>
      <vt:lpstr>PowerPoint Presentation</vt:lpstr>
      <vt:lpstr>核技巧应用于支持向量机</vt:lpstr>
      <vt:lpstr>PowerPoint Presentation</vt:lpstr>
      <vt:lpstr>核函数</vt:lpstr>
      <vt:lpstr>PowerPoint Presentation</vt:lpstr>
      <vt:lpstr>PowerPoint Presentation</vt:lpstr>
      <vt:lpstr>PowerPoint Presentation</vt:lpstr>
      <vt:lpstr>PowerPoint Presentation</vt:lpstr>
      <vt:lpstr>常用的核函数</vt:lpstr>
      <vt:lpstr>不同σ值下的分界面示意图</vt:lpstr>
      <vt:lpstr>PowerPoint Presentation</vt:lpstr>
      <vt:lpstr>PowerPoint Presentation</vt:lpstr>
      <vt:lpstr>一个非线性分类的例子</vt:lpstr>
      <vt:lpstr>序列最小最优化算法SMO</vt:lpstr>
      <vt:lpstr>SVM用于求解多类问题</vt:lpstr>
      <vt:lpstr>SVM应用举例：文本分类</vt:lpstr>
      <vt:lpstr>PowerPoint Presentation</vt:lpstr>
      <vt:lpstr>PowerPoint Presentation</vt:lpstr>
      <vt:lpstr>实际中的问题</vt:lpstr>
      <vt:lpstr>练习题</vt:lpstr>
      <vt:lpstr>Recap: dual form of SVM</vt:lpstr>
      <vt:lpstr>Recap: rethink about dual form SVM</vt:lpstr>
      <vt:lpstr>Recap: how to construct a kernel</vt:lpstr>
      <vt:lpstr>4.2 决策树</vt:lpstr>
      <vt:lpstr>PowerPoint Presentation</vt:lpstr>
      <vt:lpstr>PowerPoint Presentation</vt:lpstr>
      <vt:lpstr>决策树学习</vt:lpstr>
      <vt:lpstr>PowerPoint Presentation</vt:lpstr>
      <vt:lpstr>PowerPoint Presentation</vt:lpstr>
      <vt:lpstr>特征选择</vt:lpstr>
      <vt:lpstr>信息增益</vt:lpstr>
      <vt:lpstr>PowerPoint Presentation</vt:lpstr>
      <vt:lpstr>PowerPoint Presentation</vt:lpstr>
      <vt:lpstr>决策树的生成</vt:lpstr>
      <vt:lpstr>ID3算法</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ID3存在的问题</vt:lpstr>
      <vt:lpstr>信息增益比</vt:lpstr>
      <vt:lpstr>C4.5的生成算法</vt:lpstr>
      <vt:lpstr>PowerPoint Presentation</vt:lpstr>
      <vt:lpstr>过拟合问题</vt:lpstr>
      <vt:lpstr>决策树的剪枝</vt:lpstr>
      <vt:lpstr>后剪枝方法示意</vt:lpstr>
      <vt:lpstr>后剪枝方法示意</vt:lpstr>
      <vt:lpstr>后剪枝方法示意</vt:lpstr>
      <vt:lpstr>决策树的剪枝</vt:lpstr>
      <vt:lpstr>剪枝的效果</vt:lpstr>
      <vt:lpstr>决策树的剪枝</vt:lpstr>
      <vt:lpstr>PowerPoint Presentation</vt:lpstr>
      <vt:lpstr>PowerPoint Presentation</vt:lpstr>
      <vt:lpstr>决策树的剪枝算法</vt:lpstr>
      <vt:lpstr>PowerPoint Presentation</vt:lpstr>
      <vt:lpstr>练习题</vt:lpstr>
      <vt:lpstr>随机森林</vt:lpstr>
      <vt:lpstr>小结</vt:lpstr>
    </vt:vector>
  </TitlesOfParts>
  <Company>Carnegie Mellon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Infinite SVM: a DP Mixture of Large-margin Kernel Machines</dc:title>
  <dc:creator>SCS</dc:creator>
  <cp:lastModifiedBy>hongning wang</cp:lastModifiedBy>
  <cp:revision>7138</cp:revision>
  <dcterms:created xsi:type="dcterms:W3CDTF">2011-04-24T18:48:21Z</dcterms:created>
  <dcterms:modified xsi:type="dcterms:W3CDTF">2025-05-27T02:35:43Z</dcterms:modified>
</cp:coreProperties>
</file>