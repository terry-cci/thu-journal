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00"/>
  </p:notesMasterIdLst>
  <p:handoutMasterIdLst>
    <p:handoutMasterId r:id="rId101"/>
  </p:handoutMasterIdLst>
  <p:sldIdLst>
    <p:sldId id="499" r:id="rId2"/>
    <p:sldId id="382" r:id="rId3"/>
    <p:sldId id="481" r:id="rId4"/>
    <p:sldId id="488" r:id="rId5"/>
    <p:sldId id="384" r:id="rId6"/>
    <p:sldId id="478" r:id="rId7"/>
    <p:sldId id="489" r:id="rId8"/>
    <p:sldId id="385" r:id="rId9"/>
    <p:sldId id="386" r:id="rId10"/>
    <p:sldId id="387" r:id="rId11"/>
    <p:sldId id="388" r:id="rId12"/>
    <p:sldId id="389" r:id="rId13"/>
    <p:sldId id="390" r:id="rId14"/>
    <p:sldId id="391" r:id="rId15"/>
    <p:sldId id="392" r:id="rId16"/>
    <p:sldId id="393" r:id="rId17"/>
    <p:sldId id="394" r:id="rId18"/>
    <p:sldId id="395" r:id="rId19"/>
    <p:sldId id="396" r:id="rId20"/>
    <p:sldId id="397" r:id="rId21"/>
    <p:sldId id="398" r:id="rId22"/>
    <p:sldId id="479" r:id="rId23"/>
    <p:sldId id="490" r:id="rId24"/>
    <p:sldId id="480" r:id="rId25"/>
    <p:sldId id="425" r:id="rId26"/>
    <p:sldId id="506" r:id="rId27"/>
    <p:sldId id="507" r:id="rId28"/>
    <p:sldId id="526" r:id="rId29"/>
    <p:sldId id="424" r:id="rId30"/>
    <p:sldId id="527" r:id="rId31"/>
    <p:sldId id="508" r:id="rId32"/>
    <p:sldId id="509" r:id="rId33"/>
    <p:sldId id="434" r:id="rId34"/>
    <p:sldId id="510" r:id="rId35"/>
    <p:sldId id="435" r:id="rId36"/>
    <p:sldId id="436" r:id="rId37"/>
    <p:sldId id="513" r:id="rId38"/>
    <p:sldId id="440" r:id="rId39"/>
    <p:sldId id="439" r:id="rId40"/>
    <p:sldId id="437" r:id="rId41"/>
    <p:sldId id="438" r:id="rId42"/>
    <p:sldId id="516" r:id="rId43"/>
    <p:sldId id="441" r:id="rId44"/>
    <p:sldId id="442" r:id="rId45"/>
    <p:sldId id="443" r:id="rId46"/>
    <p:sldId id="496" r:id="rId47"/>
    <p:sldId id="444" r:id="rId48"/>
    <p:sldId id="445" r:id="rId49"/>
    <p:sldId id="446" r:id="rId50"/>
    <p:sldId id="447" r:id="rId51"/>
    <p:sldId id="523" r:id="rId52"/>
    <p:sldId id="524" r:id="rId53"/>
    <p:sldId id="448" r:id="rId54"/>
    <p:sldId id="449" r:id="rId55"/>
    <p:sldId id="450" r:id="rId56"/>
    <p:sldId id="451" r:id="rId57"/>
    <p:sldId id="452" r:id="rId58"/>
    <p:sldId id="453" r:id="rId59"/>
    <p:sldId id="454" r:id="rId60"/>
    <p:sldId id="491" r:id="rId61"/>
    <p:sldId id="456" r:id="rId62"/>
    <p:sldId id="457" r:id="rId63"/>
    <p:sldId id="458" r:id="rId64"/>
    <p:sldId id="459" r:id="rId65"/>
    <p:sldId id="460" r:id="rId66"/>
    <p:sldId id="521" r:id="rId67"/>
    <p:sldId id="461" r:id="rId68"/>
    <p:sldId id="462" r:id="rId69"/>
    <p:sldId id="525" r:id="rId70"/>
    <p:sldId id="511" r:id="rId71"/>
    <p:sldId id="463" r:id="rId72"/>
    <p:sldId id="464" r:id="rId73"/>
    <p:sldId id="465" r:id="rId74"/>
    <p:sldId id="514" r:id="rId75"/>
    <p:sldId id="515" r:id="rId76"/>
    <p:sldId id="467" r:id="rId77"/>
    <p:sldId id="517" r:id="rId78"/>
    <p:sldId id="497" r:id="rId79"/>
    <p:sldId id="498" r:id="rId80"/>
    <p:sldId id="471" r:id="rId81"/>
    <p:sldId id="472" r:id="rId82"/>
    <p:sldId id="473" r:id="rId83"/>
    <p:sldId id="474" r:id="rId84"/>
    <p:sldId id="522" r:id="rId85"/>
    <p:sldId id="500" r:id="rId86"/>
    <p:sldId id="501" r:id="rId87"/>
    <p:sldId id="502" r:id="rId88"/>
    <p:sldId id="520" r:id="rId89"/>
    <p:sldId id="519" r:id="rId90"/>
    <p:sldId id="503" r:id="rId91"/>
    <p:sldId id="504" r:id="rId92"/>
    <p:sldId id="505" r:id="rId93"/>
    <p:sldId id="475" r:id="rId94"/>
    <p:sldId id="476" r:id="rId95"/>
    <p:sldId id="477" r:id="rId96"/>
    <p:sldId id="486" r:id="rId97"/>
    <p:sldId id="494" r:id="rId98"/>
    <p:sldId id="495" r:id="rId9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第二堂课第一节" id="{8213C05D-483B-A146-AF76-921E148F0BCD}">
          <p14:sldIdLst>
            <p14:sldId id="499"/>
            <p14:sldId id="382"/>
            <p14:sldId id="481"/>
            <p14:sldId id="488"/>
            <p14:sldId id="384"/>
            <p14:sldId id="478"/>
            <p14:sldId id="489"/>
            <p14:sldId id="385"/>
            <p14:sldId id="386"/>
            <p14:sldId id="387"/>
            <p14:sldId id="388"/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  <p14:sldId id="397"/>
            <p14:sldId id="398"/>
            <p14:sldId id="479"/>
            <p14:sldId id="490"/>
            <p14:sldId id="480"/>
            <p14:sldId id="425"/>
            <p14:sldId id="506"/>
            <p14:sldId id="507"/>
          </p14:sldIdLst>
        </p14:section>
        <p14:section name="第二堂课第二节" id="{E9F84E7A-5E95-4B4C-AB5F-C368B61B231C}">
          <p14:sldIdLst>
            <p14:sldId id="526"/>
            <p14:sldId id="424"/>
            <p14:sldId id="527"/>
            <p14:sldId id="508"/>
            <p14:sldId id="509"/>
            <p14:sldId id="434"/>
            <p14:sldId id="510"/>
            <p14:sldId id="435"/>
            <p14:sldId id="436"/>
            <p14:sldId id="513"/>
            <p14:sldId id="440"/>
            <p14:sldId id="439"/>
            <p14:sldId id="437"/>
            <p14:sldId id="438"/>
            <p14:sldId id="516"/>
            <p14:sldId id="441"/>
            <p14:sldId id="442"/>
            <p14:sldId id="443"/>
            <p14:sldId id="496"/>
          </p14:sldIdLst>
        </p14:section>
        <p14:section name="第三堂课第一节" id="{AF4152AA-AD22-D342-B285-88A0DF895841}">
          <p14:sldIdLst>
            <p14:sldId id="444"/>
            <p14:sldId id="445"/>
            <p14:sldId id="446"/>
            <p14:sldId id="447"/>
            <p14:sldId id="523"/>
            <p14:sldId id="524"/>
            <p14:sldId id="448"/>
            <p14:sldId id="449"/>
            <p14:sldId id="450"/>
            <p14:sldId id="451"/>
            <p14:sldId id="452"/>
            <p14:sldId id="453"/>
            <p14:sldId id="454"/>
            <p14:sldId id="491"/>
            <p14:sldId id="456"/>
          </p14:sldIdLst>
        </p14:section>
        <p14:section name="第三堂课第二节" id="{31127804-0273-3449-AA71-00DD083E9ECF}">
          <p14:sldIdLst>
            <p14:sldId id="457"/>
            <p14:sldId id="458"/>
            <p14:sldId id="459"/>
            <p14:sldId id="460"/>
            <p14:sldId id="521"/>
            <p14:sldId id="461"/>
            <p14:sldId id="462"/>
            <p14:sldId id="525"/>
            <p14:sldId id="511"/>
            <p14:sldId id="463"/>
            <p14:sldId id="464"/>
            <p14:sldId id="465"/>
            <p14:sldId id="514"/>
            <p14:sldId id="515"/>
            <p14:sldId id="467"/>
            <p14:sldId id="517"/>
            <p14:sldId id="497"/>
            <p14:sldId id="498"/>
          </p14:sldIdLst>
        </p14:section>
        <p14:section name="第四堂课第一节" id="{6A265DA9-C559-0243-AA95-7B0FE3410843}">
          <p14:sldIdLst>
            <p14:sldId id="471"/>
            <p14:sldId id="472"/>
            <p14:sldId id="473"/>
            <p14:sldId id="474"/>
            <p14:sldId id="522"/>
            <p14:sldId id="500"/>
            <p14:sldId id="501"/>
            <p14:sldId id="502"/>
            <p14:sldId id="520"/>
            <p14:sldId id="519"/>
            <p14:sldId id="503"/>
            <p14:sldId id="504"/>
            <p14:sldId id="505"/>
            <p14:sldId id="475"/>
            <p14:sldId id="476"/>
            <p14:sldId id="477"/>
            <p14:sldId id="486"/>
            <p14:sldId id="494"/>
            <p14:sldId id="49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11EF"/>
    <a:srgbClr val="0000FF"/>
    <a:srgbClr val="EFF343"/>
    <a:srgbClr val="86F260"/>
    <a:srgbClr val="ECF127"/>
    <a:srgbClr val="FB81E1"/>
    <a:srgbClr val="119F14"/>
    <a:srgbClr val="FEC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15" autoAdjust="0"/>
    <p:restoredTop sz="96301" autoAdjust="0"/>
  </p:normalViewPr>
  <p:slideViewPr>
    <p:cSldViewPr snapToGrid="0">
      <p:cViewPr varScale="1">
        <p:scale>
          <a:sx n="157" d="100"/>
          <a:sy n="157" d="100"/>
        </p:scale>
        <p:origin x="1734" y="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notesMaster" Target="notesMasters/notesMaster1.xml"/><Relationship Id="rId105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5A66E1-596A-496E-B96E-FE454130F19C}" type="datetimeFigureOut">
              <a:rPr lang="zh-CN" altLang="en-US" smtClean="0"/>
              <a:pPr/>
              <a:t>2025/4/14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53B57A-208D-4E21-8008-BCE8E94FCB4F}" type="slidenum">
              <a:rPr lang="zh-CN" altLang="en-US" smtClean="0"/>
              <a:pPr/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64863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02705F-8347-41A8-82E6-B2920132BF3D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0AF6DD-051E-413B-8808-23D5AB3BD9E4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078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6%AF%9B%E6%B3%BD%E4%B8%9C/113835?fromModule=lemma_inlink" TargetMode="External"/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baike.baidu.com/item/%E5%85%B3%E4%BA%8E%E7%9B%AE%E5%89%8D%E5%85%9A%E7%9A%84%E6%94%BF%E7%AD%96%E4%B8%AD%E7%9A%84%E5%87%A0%E4%B8%AA%E9%87%8D%E8%A6%81%E9%97%AE%E9%A2%98/56668631?fromModule=lemma_inlink" TargetMode="Externa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找到南楼食堂</a:t>
            </a:r>
            <a:endParaRPr kumimoji="1" lang="en-US" altLang="zh-CN" dirty="0"/>
          </a:p>
          <a:p>
            <a:r>
              <a:rPr kumimoji="1" lang="zh-CN" altLang="en-US" dirty="0"/>
              <a:t>吃遍所有食堂</a:t>
            </a:r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5295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随机游走，第一天进校找宿舍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2984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传教士人数不能少于野人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5563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S0</a:t>
            </a:r>
            <a:r>
              <a:rPr kumimoji="1" lang="zh-CN" altLang="en-US" dirty="0"/>
              <a:t>是起点，</a:t>
            </a:r>
            <a:r>
              <a:rPr kumimoji="1" lang="en-US" altLang="zh-CN" dirty="0" err="1"/>
              <a:t>s_g</a:t>
            </a:r>
            <a:r>
              <a:rPr kumimoji="1" lang="zh-CN" altLang="en-US" dirty="0"/>
              <a:t>是终点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7972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用笔介绍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举个例子，导航的例子，</a:t>
            </a:r>
            <a:endParaRPr lang="en-US" altLang="zh-CN" dirty="0"/>
          </a:p>
          <a:p>
            <a:r>
              <a:rPr lang="zh-CN" altLang="en-US" dirty="0"/>
              <a:t>宽度优先搜索算法 </a:t>
            </a:r>
            <a:r>
              <a:rPr lang="en-US" altLang="zh-CN" dirty="0"/>
              <a:t>-》</a:t>
            </a:r>
            <a:r>
              <a:rPr lang="zh-CN" altLang="en-US" dirty="0"/>
              <a:t> 从出发点绕圈走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深度优先搜索算法 </a:t>
            </a:r>
            <a:r>
              <a:rPr lang="en-US" altLang="zh-CN" dirty="0"/>
              <a:t>-》</a:t>
            </a:r>
            <a:r>
              <a:rPr lang="zh-CN" altLang="en-US" dirty="0"/>
              <a:t> 从出发点先按一个方向走，发现没有，回来以后再往另一个方向走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6325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每行每列都要摆皇后，但每个斜线都只能有一个，否则会打架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8668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用笔描述放的过程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2681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0600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84F0D90-C7AE-4561-B43C-D1D3146A487F}" type="slidenum">
              <a:rPr lang="en-US" altLang="zh-CN" smtClean="0">
                <a:ea typeface="黑体" pitchFamily="49" charset="-122"/>
              </a:rPr>
              <a:pPr/>
              <a:t>22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zh-CN" altLang="en-US" dirty="0">
                <a:ea typeface="黑体" pitchFamily="49" charset="-122"/>
              </a:rPr>
              <a:t>深度限制， 限制单次搜索的最深的深度</a:t>
            </a:r>
            <a:endParaRPr lang="en-US" altLang="zh-CN" dirty="0">
              <a:ea typeface="黑体" pitchFamily="49" charset="-122"/>
            </a:endParaRPr>
          </a:p>
          <a:p>
            <a:pPr eaLnBrk="1" hangingPunct="1"/>
            <a:endParaRPr lang="en-US" altLang="zh-CN" dirty="0">
              <a:ea typeface="黑体" pitchFamily="49" charset="-122"/>
            </a:endParaRPr>
          </a:p>
          <a:p>
            <a:pPr eaLnBrk="1" hangingPunct="1"/>
            <a:r>
              <a:rPr lang="zh-CN" altLang="en-US" dirty="0">
                <a:ea typeface="黑体" pitchFamily="49" charset="-122"/>
              </a:rPr>
              <a:t>节省内存，不用记那么多东西</a:t>
            </a:r>
            <a:endParaRPr lang="zh-CN" altLang="zh-CN" dirty="0"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60440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不用交，写程序或者手作都行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用图描述，四张嘴，三个杯子</a:t>
            </a:r>
            <a:endParaRPr kumimoji="1" lang="en-US" altLang="zh-CN" dirty="0"/>
          </a:p>
          <a:p>
            <a:r>
              <a:rPr kumimoji="1" lang="en-US" altLang="zh-CN" dirty="0"/>
              <a:t>25-30m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0609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F5819-57F8-2906-2E32-5D64B20CF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393EEC5-DA48-3918-2930-8FCFDFD89E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7FAC826-FF39-264E-EF06-10480DD2C2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用笔介绍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举个例子，导航的例子，</a:t>
            </a:r>
            <a:endParaRPr lang="en-US" altLang="zh-CN" dirty="0"/>
          </a:p>
          <a:p>
            <a:r>
              <a:rPr lang="zh-CN" altLang="en-US" dirty="0"/>
              <a:t>宽度优先搜索算法 </a:t>
            </a:r>
            <a:r>
              <a:rPr lang="en-US" altLang="zh-CN" dirty="0"/>
              <a:t>-》</a:t>
            </a:r>
            <a:r>
              <a:rPr lang="zh-CN" altLang="en-US" dirty="0"/>
              <a:t> 从出发点绕圈走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深度优先搜索算法 </a:t>
            </a:r>
            <a:r>
              <a:rPr lang="en-US" altLang="zh-CN" dirty="0"/>
              <a:t>-》</a:t>
            </a:r>
            <a:r>
              <a:rPr lang="zh-CN" altLang="en-US" dirty="0"/>
              <a:t> 从出发点先按一个方向走，发现没有，回来以后再往另一个方向走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BB9E3F-320D-05B5-F85A-A7A3C225EB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3203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用图先描述一下，八数码任务是什么，类似华容道，最终实现右下角的状态，</a:t>
            </a:r>
            <a:endParaRPr kumimoji="1" lang="en-US" altLang="zh-CN" dirty="0"/>
          </a:p>
          <a:p>
            <a:r>
              <a:rPr kumimoji="1" lang="en-US" altLang="zh-CN" dirty="0"/>
              <a:t>1</a:t>
            </a:r>
            <a:r>
              <a:rPr kumimoji="1" lang="zh-CN" altLang="en-US" dirty="0"/>
              <a:t> </a:t>
            </a:r>
            <a:r>
              <a:rPr kumimoji="1" lang="en-US" altLang="zh-CN" dirty="0"/>
              <a:t>2</a:t>
            </a:r>
            <a:r>
              <a:rPr kumimoji="1" lang="zh-CN" altLang="en-US" dirty="0"/>
              <a:t> </a:t>
            </a:r>
            <a:r>
              <a:rPr kumimoji="1" lang="en-US" altLang="zh-CN" dirty="0"/>
              <a:t>3</a:t>
            </a:r>
          </a:p>
          <a:p>
            <a:r>
              <a:rPr kumimoji="1" lang="en-US" altLang="zh-CN" dirty="0"/>
              <a:t>8</a:t>
            </a:r>
            <a:r>
              <a:rPr kumimoji="1" lang="zh-CN" altLang="en-US" dirty="0"/>
              <a:t>    </a:t>
            </a:r>
            <a:r>
              <a:rPr kumimoji="1" lang="en-US" altLang="zh-CN" dirty="0"/>
              <a:t>4</a:t>
            </a:r>
          </a:p>
          <a:p>
            <a:r>
              <a:rPr kumimoji="1" lang="en-US" altLang="zh-CN" dirty="0"/>
              <a:t>7</a:t>
            </a:r>
            <a:r>
              <a:rPr kumimoji="1" lang="zh-CN" altLang="en-US" dirty="0"/>
              <a:t> </a:t>
            </a:r>
            <a:r>
              <a:rPr kumimoji="1" lang="en-US" altLang="zh-CN" dirty="0"/>
              <a:t>6</a:t>
            </a:r>
            <a:r>
              <a:rPr kumimoji="1" lang="zh-CN" altLang="en-US" dirty="0"/>
              <a:t> </a:t>
            </a:r>
            <a:r>
              <a:rPr kumimoji="1" lang="en-US" altLang="zh-CN" dirty="0"/>
              <a:t>5</a:t>
            </a:r>
          </a:p>
          <a:p>
            <a:r>
              <a:rPr kumimoji="1" lang="en-US" altLang="zh-CN" dirty="0"/>
              <a:t>9</a:t>
            </a:r>
            <a:r>
              <a:rPr kumimoji="1" lang="zh-CN" altLang="en-US" dirty="0"/>
              <a:t>！个可能状态，不是所有都能实现上面的状态，只有</a:t>
            </a:r>
            <a:r>
              <a:rPr kumimoji="1" lang="en-US" altLang="zh-CN" dirty="0"/>
              <a:t>9</a:t>
            </a:r>
            <a:r>
              <a:rPr kumimoji="1" lang="zh-CN" altLang="en-US" dirty="0"/>
              <a:t>！除以</a:t>
            </a:r>
            <a:r>
              <a:rPr kumimoji="1" lang="en-US" altLang="zh-CN" dirty="0"/>
              <a:t>2</a:t>
            </a:r>
            <a:r>
              <a:rPr kumimoji="1" lang="zh-CN" altLang="en-US" dirty="0"/>
              <a:t>个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每移动一次将排算一步，那宽度优先搜索必然找到最短的路径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7264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F7764-246C-A076-4F67-FDCD70A1B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47E05EF-E87C-884C-8E91-0B9844182A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C080615-1E10-F5AC-C0A3-384213DB0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不用交，写程序或者手作都行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用图描述，四张嘴，三个杯子</a:t>
            </a:r>
            <a:endParaRPr kumimoji="1" lang="en-US" altLang="zh-CN" dirty="0"/>
          </a:p>
          <a:p>
            <a:r>
              <a:rPr kumimoji="1" lang="en-US" altLang="zh-CN" dirty="0"/>
              <a:t>25-30m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EEEEAC-79B3-0375-B47C-E4402A9E4F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99178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结束条件不是已找到终点就结束，而是当终点距离是当前队列里最短的时候才结束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和同学互动，演示算法进行的过程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45m</a:t>
            </a:r>
            <a:r>
              <a:rPr kumimoji="1" lang="zh-CN" altLang="en-US" dirty="0"/>
              <a:t>，第二次课第一节课结束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不足，没有利用到终点的距离的信息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02698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4380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322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本科生，</a:t>
            </a:r>
            <a:r>
              <a:rPr lang="en-US" altLang="zh-CN" dirty="0"/>
              <a:t>20200224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2999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演示计算过程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宽度优先比迪杰斯塔拉慢，比</a:t>
            </a:r>
            <a:r>
              <a:rPr lang="en-US" altLang="zh-CN" dirty="0"/>
              <a:t>A</a:t>
            </a:r>
            <a:r>
              <a:rPr lang="zh-CN" altLang="en-US" dirty="0"/>
              <a:t>算法慢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0235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32390A7-0B3E-4F9F-9908-E8E791932D77}" type="slidenum">
              <a:rPr lang="en-US" altLang="zh-CN" smtClean="0">
                <a:ea typeface="黑体" pitchFamily="49" charset="-122"/>
              </a:rPr>
              <a:pPr/>
              <a:t>38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zh-CN" dirty="0">
              <a:ea typeface="黑体" pitchFamily="49" charset="-122"/>
            </a:endParaRPr>
          </a:p>
          <a:p>
            <a:pPr eaLnBrk="1" hangingPunct="1"/>
            <a:r>
              <a:rPr lang="en-US" altLang="zh-CN" dirty="0">
                <a:ea typeface="黑体" pitchFamily="49" charset="-122"/>
              </a:rPr>
              <a:t>A</a:t>
            </a:r>
            <a:r>
              <a:rPr lang="zh-CN" altLang="en-US" dirty="0">
                <a:ea typeface="黑体" pitchFamily="49" charset="-122"/>
              </a:rPr>
              <a:t>算法的思想，从</a:t>
            </a:r>
            <a:r>
              <a:rPr lang="en-US" altLang="zh-CN" dirty="0">
                <a:ea typeface="黑体" pitchFamily="49" charset="-122"/>
              </a:rPr>
              <a:t>open</a:t>
            </a:r>
            <a:r>
              <a:rPr lang="zh-CN" altLang="en-US" dirty="0">
                <a:ea typeface="黑体" pitchFamily="49" charset="-122"/>
              </a:rPr>
              <a:t>中选择一个节点</a:t>
            </a:r>
            <a:endParaRPr lang="en-US" altLang="zh-CN" dirty="0">
              <a:ea typeface="黑体" pitchFamily="49" charset="-122"/>
            </a:endParaRPr>
          </a:p>
          <a:p>
            <a:pPr eaLnBrk="1" hangingPunct="1"/>
            <a:endParaRPr lang="en-US" altLang="zh-CN" dirty="0"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656164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假定这是算法执行中的一个中间过程</a:t>
            </a:r>
            <a:endParaRPr kumimoji="1" lang="en-US" altLang="zh-CN" dirty="0"/>
          </a:p>
          <a:p>
            <a:r>
              <a:rPr kumimoji="1" lang="zh-CN" altLang="en-US" dirty="0"/>
              <a:t>黑色的点是扩展过的，当前要扩展的是节点</a:t>
            </a:r>
            <a:r>
              <a:rPr kumimoji="1" lang="en-US" altLang="zh-CN" dirty="0"/>
              <a:t>n</a:t>
            </a:r>
          </a:p>
          <a:p>
            <a:r>
              <a:rPr kumimoji="1" lang="en-US" altLang="zh-CN" dirty="0" err="1"/>
              <a:t>M_j</a:t>
            </a:r>
            <a:r>
              <a:rPr kumimoji="1" lang="zh-CN" altLang="en-US" dirty="0"/>
              <a:t>是看到</a:t>
            </a:r>
            <a:r>
              <a:rPr kumimoji="1" lang="en-US" altLang="zh-CN" dirty="0"/>
              <a:t>n</a:t>
            </a:r>
            <a:r>
              <a:rPr kumimoji="1" lang="zh-CN" altLang="en-US" dirty="0"/>
              <a:t>之前没有看到的，可以称谓新节点</a:t>
            </a:r>
            <a:endParaRPr kumimoji="1" lang="en-US" altLang="zh-CN" dirty="0"/>
          </a:p>
          <a:p>
            <a:r>
              <a:rPr kumimoji="1" lang="en-US" altLang="zh-CN" dirty="0" err="1"/>
              <a:t>M_k</a:t>
            </a:r>
            <a:r>
              <a:rPr kumimoji="1" lang="zh-CN" altLang="en-US" dirty="0"/>
              <a:t>是在扩展</a:t>
            </a:r>
            <a:r>
              <a:rPr kumimoji="1" lang="en-US" altLang="zh-CN" dirty="0"/>
              <a:t>n</a:t>
            </a:r>
            <a:r>
              <a:rPr kumimoji="1" lang="zh-CN" altLang="en-US" dirty="0"/>
              <a:t>之前已经看到的，但找到</a:t>
            </a:r>
            <a:r>
              <a:rPr kumimoji="1" lang="en-US" altLang="zh-CN" dirty="0"/>
              <a:t>n</a:t>
            </a:r>
            <a:r>
              <a:rPr kumimoji="1" lang="zh-CN" altLang="en-US" dirty="0"/>
              <a:t>的时候又出现</a:t>
            </a:r>
            <a:endParaRPr kumimoji="1" lang="en-US" altLang="zh-CN" dirty="0"/>
          </a:p>
          <a:p>
            <a:r>
              <a:rPr kumimoji="1" lang="en-US" altLang="zh-CN" dirty="0" err="1"/>
              <a:t>M_l</a:t>
            </a:r>
            <a:r>
              <a:rPr kumimoji="1" lang="zh-CN" altLang="en-US" dirty="0"/>
              <a:t>是已经被扩展过的节点，也是</a:t>
            </a:r>
            <a:r>
              <a:rPr kumimoji="1" lang="en-US" altLang="zh-CN" dirty="0"/>
              <a:t>n</a:t>
            </a:r>
            <a:r>
              <a:rPr kumimoji="1" lang="zh-CN" altLang="en-US" dirty="0"/>
              <a:t>的子节点</a:t>
            </a:r>
            <a:endParaRPr kumimoji="1" lang="en-US" altLang="zh-CN" dirty="0"/>
          </a:p>
          <a:p>
            <a:r>
              <a:rPr kumimoji="1" lang="zh-CN" altLang="en-US" dirty="0"/>
              <a:t>以上所有构成了</a:t>
            </a:r>
            <a:r>
              <a:rPr kumimoji="1" lang="en-US" altLang="zh-CN" dirty="0"/>
              <a:t>n</a:t>
            </a:r>
            <a:r>
              <a:rPr kumimoji="1" lang="zh-CN" altLang="en-US" dirty="0"/>
              <a:t>的所有子节点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9407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0595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altLang="zh-CN" dirty="0">
                <a:ea typeface="黑体" pitchFamily="49" charset="-122"/>
              </a:rPr>
              <a:t>Mk</a:t>
            </a:r>
            <a:r>
              <a:rPr lang="zh-CN" altLang="en-US" dirty="0">
                <a:ea typeface="黑体" pitchFamily="49" charset="-122"/>
              </a:rPr>
              <a:t>都在</a:t>
            </a:r>
            <a:r>
              <a:rPr lang="en-US" altLang="zh-CN" dirty="0">
                <a:ea typeface="黑体" pitchFamily="49" charset="-122"/>
              </a:rPr>
              <a:t>open</a:t>
            </a:r>
            <a:r>
              <a:rPr lang="zh-CN" altLang="en-US" dirty="0">
                <a:ea typeface="黑体" pitchFamily="49" charset="-122"/>
              </a:rPr>
              <a:t>里</a:t>
            </a:r>
            <a:endParaRPr lang="en-US" altLang="zh-CN" dirty="0">
              <a:ea typeface="黑体" pitchFamily="49" charset="-122"/>
            </a:endParaRPr>
          </a:p>
          <a:p>
            <a:endParaRPr lang="en-US" altLang="zh-CN" dirty="0">
              <a:ea typeface="黑体" pitchFamily="49" charset="-122"/>
            </a:endParaRPr>
          </a:p>
          <a:p>
            <a:r>
              <a:rPr lang="en-US" altLang="zh-CN" dirty="0" err="1">
                <a:ea typeface="黑体" pitchFamily="49" charset="-122"/>
              </a:rPr>
              <a:t>Ml</a:t>
            </a:r>
            <a:r>
              <a:rPr lang="zh-CN" altLang="en-US" dirty="0">
                <a:ea typeface="黑体" pitchFamily="49" charset="-122"/>
              </a:rPr>
              <a:t>本来在</a:t>
            </a:r>
            <a:r>
              <a:rPr lang="en-US" altLang="zh-CN" dirty="0">
                <a:ea typeface="黑体" pitchFamily="49" charset="-122"/>
              </a:rPr>
              <a:t>close</a:t>
            </a:r>
            <a:r>
              <a:rPr lang="zh-CN" altLang="en-US" dirty="0">
                <a:ea typeface="黑体" pitchFamily="49" charset="-122"/>
              </a:rPr>
              <a:t>里，又被拿回到</a:t>
            </a:r>
            <a:r>
              <a:rPr lang="en-US" altLang="zh-CN" dirty="0">
                <a:ea typeface="黑体" pitchFamily="49" charset="-122"/>
              </a:rPr>
              <a:t>open</a:t>
            </a:r>
            <a:r>
              <a:rPr lang="zh-CN" altLang="en-US" dirty="0">
                <a:ea typeface="黑体" pitchFamily="49" charset="-122"/>
              </a:rPr>
              <a:t>里</a:t>
            </a:r>
            <a:endParaRPr lang="en-US" altLang="zh-CN" dirty="0">
              <a:ea typeface="黑体" pitchFamily="49" charset="-122"/>
            </a:endParaRPr>
          </a:p>
          <a:p>
            <a:r>
              <a:rPr lang="en-US" altLang="zh-CN" dirty="0" err="1">
                <a:ea typeface="黑体" pitchFamily="49" charset="-122"/>
              </a:rPr>
              <a:t>m_l</a:t>
            </a:r>
            <a:r>
              <a:rPr lang="zh-CN" altLang="en-US" dirty="0">
                <a:ea typeface="黑体" pitchFamily="49" charset="-122"/>
              </a:rPr>
              <a:t>再次被扩展的时候，它的子节点会被更新</a:t>
            </a:r>
          </a:p>
        </p:txBody>
      </p:sp>
      <p:sp>
        <p:nvSpPr>
          <p:cNvPr id="11059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B5700B5-08DC-424D-ABE5-85BB57773E77}" type="slidenum">
              <a:rPr lang="en-US" altLang="zh-CN" smtClean="0">
                <a:ea typeface="黑体" pitchFamily="49" charset="-122"/>
              </a:rPr>
              <a:pPr/>
              <a:t>41</a:t>
            </a:fld>
            <a:endParaRPr lang="en-US" altLang="zh-CN" dirty="0"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043838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5716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43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>
              <a:ea typeface="黑体" pitchFamily="49" charset="-122"/>
            </a:endParaRPr>
          </a:p>
        </p:txBody>
      </p:sp>
      <p:sp>
        <p:nvSpPr>
          <p:cNvPr id="11264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73A9DA3-4070-4B4A-B0AE-5CBE179FAE95}" type="slidenum">
              <a:rPr lang="en-US" altLang="zh-CN" smtClean="0">
                <a:ea typeface="黑体" pitchFamily="49" charset="-122"/>
              </a:rPr>
              <a:pPr/>
              <a:t>43</a:t>
            </a:fld>
            <a:endParaRPr lang="en-US" altLang="zh-CN" dirty="0"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6900429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F2D4A9F-6CD6-4A52-AC34-3BD7B14FB704}" type="slidenum">
              <a:rPr lang="en-US" altLang="zh-CN" smtClean="0">
                <a:ea typeface="黑体" pitchFamily="49" charset="-122"/>
              </a:rPr>
              <a:pPr/>
              <a:t>45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zh-CN" altLang="en-US" dirty="0">
                <a:ea typeface="黑体" pitchFamily="49" charset="-122"/>
              </a:rPr>
              <a:t>介绍算法计算过程</a:t>
            </a:r>
            <a:endParaRPr lang="en-US" altLang="zh-CN" dirty="0">
              <a:ea typeface="黑体" pitchFamily="49" charset="-122"/>
            </a:endParaRPr>
          </a:p>
          <a:p>
            <a:pPr eaLnBrk="1" hangingPunct="1"/>
            <a:endParaRPr lang="en-US" altLang="zh-CN" dirty="0">
              <a:ea typeface="黑体" pitchFamily="49" charset="-122"/>
            </a:endParaRPr>
          </a:p>
          <a:p>
            <a:pPr eaLnBrk="1" hangingPunct="1"/>
            <a:r>
              <a:rPr lang="zh-CN" altLang="en-US" dirty="0">
                <a:ea typeface="黑体" pitchFamily="49" charset="-122"/>
              </a:rPr>
              <a:t>为什么</a:t>
            </a:r>
            <a:r>
              <a:rPr lang="en-US" altLang="zh-CN" dirty="0">
                <a:ea typeface="黑体" pitchFamily="49" charset="-122"/>
              </a:rPr>
              <a:t>A</a:t>
            </a:r>
            <a:r>
              <a:rPr lang="zh-CN" altLang="en-US" dirty="0">
                <a:ea typeface="黑体" pitchFamily="49" charset="-122"/>
              </a:rPr>
              <a:t>是</a:t>
            </a:r>
            <a:r>
              <a:rPr lang="en-US" altLang="zh-CN" dirty="0">
                <a:ea typeface="黑体" pitchFamily="49" charset="-122"/>
              </a:rPr>
              <a:t>6</a:t>
            </a:r>
            <a:r>
              <a:rPr lang="zh-CN" altLang="en-US" dirty="0">
                <a:ea typeface="黑体" pitchFamily="49" charset="-122"/>
              </a:rPr>
              <a:t>？ 步数</a:t>
            </a:r>
            <a:r>
              <a:rPr lang="en-US" altLang="zh-CN" dirty="0">
                <a:ea typeface="黑体" pitchFamily="49" charset="-122"/>
              </a:rPr>
              <a:t>g</a:t>
            </a:r>
            <a:r>
              <a:rPr lang="zh-CN" altLang="en-US" dirty="0">
                <a:ea typeface="黑体" pitchFamily="49" charset="-122"/>
              </a:rPr>
              <a:t>为</a:t>
            </a:r>
            <a:r>
              <a:rPr lang="en-US" altLang="zh-CN" dirty="0">
                <a:ea typeface="黑体" pitchFamily="49" charset="-122"/>
              </a:rPr>
              <a:t>1</a:t>
            </a:r>
            <a:r>
              <a:rPr lang="zh-CN" altLang="en-US" dirty="0">
                <a:ea typeface="黑体" pitchFamily="49" charset="-122"/>
              </a:rPr>
              <a:t>，距离</a:t>
            </a:r>
            <a:r>
              <a:rPr lang="en-US" altLang="zh-CN" dirty="0">
                <a:ea typeface="黑体" pitchFamily="49" charset="-122"/>
              </a:rPr>
              <a:t>h</a:t>
            </a:r>
            <a:r>
              <a:rPr lang="zh-CN" altLang="en-US" dirty="0">
                <a:ea typeface="黑体" pitchFamily="49" charset="-122"/>
              </a:rPr>
              <a:t>为</a:t>
            </a:r>
            <a:r>
              <a:rPr lang="en-US" altLang="zh-CN" dirty="0">
                <a:ea typeface="黑体" pitchFamily="49" charset="-122"/>
              </a:rPr>
              <a:t>5</a:t>
            </a:r>
            <a:r>
              <a:rPr lang="zh-CN" altLang="en-US" dirty="0">
                <a:ea typeface="黑体" pitchFamily="49" charset="-122"/>
              </a:rPr>
              <a:t>，加起来</a:t>
            </a:r>
            <a:r>
              <a:rPr lang="en-US" altLang="zh-CN" dirty="0">
                <a:ea typeface="黑体" pitchFamily="49" charset="-122"/>
              </a:rPr>
              <a:t>f</a:t>
            </a:r>
            <a:r>
              <a:rPr lang="zh-CN" altLang="en-US" dirty="0">
                <a:ea typeface="黑体" pitchFamily="49" charset="-122"/>
              </a:rPr>
              <a:t>为</a:t>
            </a:r>
            <a:r>
              <a:rPr lang="en-US" altLang="zh-CN" dirty="0">
                <a:ea typeface="黑体" pitchFamily="49" charset="-122"/>
              </a:rPr>
              <a:t>6</a:t>
            </a:r>
          </a:p>
          <a:p>
            <a:pPr eaLnBrk="1" hangingPunct="1"/>
            <a:endParaRPr lang="en-US" altLang="zh-CN" dirty="0"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67615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ea typeface="黑体" pitchFamily="49" charset="-122"/>
              </a:rPr>
              <a:t>45m</a:t>
            </a:r>
            <a:r>
              <a:rPr lang="zh-CN" altLang="en-US" dirty="0">
                <a:ea typeface="黑体" pitchFamily="49" charset="-122"/>
              </a:rPr>
              <a:t>， 第二次课第二节结束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0893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solidFill>
                <a:srgbClr val="333333"/>
              </a:solidFill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87481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  <a:p>
            <a:r>
              <a:rPr lang="zh-CN" altLang="en-US" dirty="0"/>
              <a:t>欧式距离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09318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所谓“放宽限制条件”，就是先把问题简化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可以不走路，可以飞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八数码错位数字 </a:t>
            </a:r>
            <a:r>
              <a:rPr lang="en-US" altLang="zh-CN" dirty="0"/>
              <a:t>-》</a:t>
            </a:r>
            <a:r>
              <a:rPr lang="zh-CN" altLang="en-US" dirty="0"/>
              <a:t> 数字可以跳着走</a:t>
            </a:r>
            <a:endParaRPr lang="en-US" altLang="zh-CN" dirty="0"/>
          </a:p>
          <a:p>
            <a:r>
              <a:rPr lang="zh-CN" altLang="en-US" dirty="0"/>
              <a:t>八数码距离目标位置的距离 </a:t>
            </a:r>
            <a:r>
              <a:rPr lang="en-US" altLang="zh-CN" dirty="0"/>
              <a:t>-》</a:t>
            </a:r>
            <a:r>
              <a:rPr lang="zh-CN" altLang="en-US" dirty="0"/>
              <a:t> 数字可以走到别的数字上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08176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用画图描述传教士与野人问题，先考虑</a:t>
            </a:r>
            <a:r>
              <a:rPr kumimoji="1" lang="en-US" altLang="zh-CN" dirty="0"/>
              <a:t>3</a:t>
            </a:r>
            <a:r>
              <a:rPr kumimoji="1" lang="zh-CN" altLang="en-US" dirty="0"/>
              <a:t>个野人和</a:t>
            </a:r>
            <a:r>
              <a:rPr kumimoji="1" lang="en-US" altLang="zh-CN" dirty="0"/>
              <a:t>3</a:t>
            </a:r>
            <a:r>
              <a:rPr kumimoji="1" lang="zh-CN" altLang="en-US" dirty="0"/>
              <a:t>个传教士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假设左岸现在有：</a:t>
            </a:r>
            <a:r>
              <a:rPr kumimoji="1" lang="en-US" altLang="zh-CN" dirty="0"/>
              <a:t>M</a:t>
            </a:r>
            <a:r>
              <a:rPr kumimoji="1" lang="zh-CN" altLang="en-US" dirty="0"/>
              <a:t>个传教士，</a:t>
            </a:r>
            <a:r>
              <a:rPr kumimoji="1" lang="en-US" altLang="zh-CN" dirty="0"/>
              <a:t>C</a:t>
            </a:r>
            <a:r>
              <a:rPr kumimoji="1" lang="zh-CN" altLang="en-US" dirty="0"/>
              <a:t>个野人，从左岸到右岸</a:t>
            </a:r>
            <a:endParaRPr kumimoji="1" lang="en-US" altLang="zh-CN" dirty="0"/>
          </a:p>
          <a:p>
            <a:r>
              <a:rPr kumimoji="1" lang="zh-CN" altLang="en-US" dirty="0"/>
              <a:t>船一次最多坐</a:t>
            </a:r>
            <a:r>
              <a:rPr kumimoji="1" lang="en-US" altLang="zh-CN" dirty="0"/>
              <a:t>3</a:t>
            </a:r>
            <a:r>
              <a:rPr kumimoji="1" lang="zh-CN" altLang="en-US" dirty="0"/>
              <a:t>个人</a:t>
            </a:r>
            <a:endParaRPr kumimoji="1" lang="en-US" altLang="zh-CN" dirty="0"/>
          </a:p>
          <a:p>
            <a:r>
              <a:rPr kumimoji="1" lang="zh-CN" altLang="en-US" dirty="0"/>
              <a:t>在任何一个时刻，如果有出现野人数量多于传教士，野人就会吃掉传教士</a:t>
            </a:r>
            <a:endParaRPr kumimoji="1" lang="en-US" altLang="zh-CN" dirty="0"/>
          </a:p>
          <a:p>
            <a:r>
              <a:rPr kumimoji="1" lang="zh-CN" altLang="en-US" dirty="0"/>
              <a:t>如何让大家安全渡河？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B</a:t>
            </a:r>
            <a:r>
              <a:rPr kumimoji="1" lang="zh-CN" altLang="en-US" dirty="0"/>
              <a:t>表示船在左岸</a:t>
            </a:r>
            <a:r>
              <a:rPr kumimoji="1" lang="en-US" altLang="zh-CN" dirty="0"/>
              <a:t>(1)</a:t>
            </a:r>
            <a:r>
              <a:rPr kumimoji="1" lang="zh-CN" altLang="en-US" dirty="0"/>
              <a:t>还是右岸</a:t>
            </a:r>
            <a:r>
              <a:rPr kumimoji="1" lang="en-US" altLang="zh-CN" dirty="0"/>
              <a:t>(0)</a:t>
            </a:r>
            <a:r>
              <a:rPr kumimoji="1" lang="zh-CN" altLang="en-US" dirty="0"/>
              <a:t>，用</a:t>
            </a:r>
            <a:r>
              <a:rPr kumimoji="1" lang="en-US" altLang="zh-CN" dirty="0"/>
              <a:t>1</a:t>
            </a:r>
            <a:r>
              <a:rPr kumimoji="1" lang="zh-CN" altLang="en-US" dirty="0"/>
              <a:t>和</a:t>
            </a:r>
            <a:r>
              <a:rPr kumimoji="1" lang="en-US" altLang="zh-CN" dirty="0"/>
              <a:t>0</a:t>
            </a:r>
            <a:r>
              <a:rPr kumimoji="1" lang="zh-CN" altLang="en-US" dirty="0"/>
              <a:t>表示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运一次的耗散值是</a:t>
            </a:r>
            <a:r>
              <a:rPr kumimoji="1" lang="en-US" altLang="zh-CN" dirty="0"/>
              <a:t>1</a:t>
            </a:r>
          </a:p>
          <a:p>
            <a:r>
              <a:rPr kumimoji="1" lang="zh-CN" altLang="en-US" dirty="0"/>
              <a:t>不考虑限制条件下，往返一次可以运过来</a:t>
            </a:r>
            <a:r>
              <a:rPr kumimoji="1" lang="en-US" altLang="zh-CN" dirty="0"/>
              <a:t>2</a:t>
            </a:r>
            <a:r>
              <a:rPr kumimoji="1" lang="zh-CN" altLang="en-US" dirty="0"/>
              <a:t>个人，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算出来这个值化简一下，就是</a:t>
            </a:r>
            <a:r>
              <a:rPr kumimoji="1" lang="en-US" altLang="zh-CN" dirty="0"/>
              <a:t>M+C-2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07961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用画图描述传教士与野人问题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假设左岸现在有：</a:t>
            </a:r>
            <a:r>
              <a:rPr kumimoji="1" lang="en-US" altLang="zh-CN" dirty="0"/>
              <a:t>M</a:t>
            </a:r>
            <a:r>
              <a:rPr kumimoji="1" lang="zh-CN" altLang="en-US" dirty="0"/>
              <a:t>个传教士，</a:t>
            </a:r>
            <a:r>
              <a:rPr kumimoji="1" lang="en-US" altLang="zh-CN" dirty="0"/>
              <a:t>C</a:t>
            </a:r>
            <a:r>
              <a:rPr kumimoji="1" lang="zh-CN" altLang="en-US" dirty="0"/>
              <a:t>个野人，从左岸到右岸</a:t>
            </a:r>
            <a:endParaRPr kumimoji="1" lang="en-US" altLang="zh-CN" dirty="0"/>
          </a:p>
          <a:p>
            <a:r>
              <a:rPr kumimoji="1" lang="zh-CN" altLang="en-US" dirty="0"/>
              <a:t>船一次最多坐</a:t>
            </a:r>
            <a:r>
              <a:rPr kumimoji="1" lang="en-US" altLang="zh-CN" dirty="0"/>
              <a:t>3</a:t>
            </a:r>
            <a:r>
              <a:rPr kumimoji="1" lang="zh-CN" altLang="en-US" dirty="0"/>
              <a:t>个人</a:t>
            </a:r>
            <a:endParaRPr kumimoji="1" lang="en-US" altLang="zh-CN" dirty="0"/>
          </a:p>
          <a:p>
            <a:r>
              <a:rPr kumimoji="1" lang="zh-CN" altLang="en-US" dirty="0"/>
              <a:t>在任何一个时刻，如果有出现野人数量多于传教士，野人就会吃掉传教士</a:t>
            </a:r>
            <a:endParaRPr kumimoji="1" lang="en-US" altLang="zh-CN" dirty="0"/>
          </a:p>
          <a:p>
            <a:r>
              <a:rPr kumimoji="1" lang="zh-CN" altLang="en-US" dirty="0"/>
              <a:t>如何让大家安全渡河？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B</a:t>
            </a:r>
            <a:r>
              <a:rPr kumimoji="1" lang="zh-CN" altLang="en-US" dirty="0"/>
              <a:t>表示船在左岸</a:t>
            </a:r>
            <a:r>
              <a:rPr kumimoji="1" lang="en-US" altLang="zh-CN" dirty="0"/>
              <a:t>(1)</a:t>
            </a:r>
            <a:r>
              <a:rPr kumimoji="1" lang="zh-CN" altLang="en-US" dirty="0"/>
              <a:t>还是右岸</a:t>
            </a:r>
            <a:r>
              <a:rPr kumimoji="1" lang="en-US" altLang="zh-CN" dirty="0"/>
              <a:t>(0)</a:t>
            </a:r>
            <a:r>
              <a:rPr kumimoji="1" lang="zh-CN" altLang="en-US" dirty="0"/>
              <a:t>，用</a:t>
            </a:r>
            <a:r>
              <a:rPr kumimoji="1" lang="en-US" altLang="zh-CN" dirty="0"/>
              <a:t>1</a:t>
            </a:r>
            <a:r>
              <a:rPr kumimoji="1" lang="zh-CN" altLang="en-US" dirty="0"/>
              <a:t>和</a:t>
            </a:r>
            <a:r>
              <a:rPr kumimoji="1" lang="en-US" altLang="zh-CN" dirty="0"/>
              <a:t>0</a:t>
            </a:r>
            <a:r>
              <a:rPr kumimoji="1" lang="zh-CN" altLang="en-US" dirty="0"/>
              <a:t>表示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运一次的耗散值是</a:t>
            </a:r>
            <a:r>
              <a:rPr kumimoji="1" lang="en-US" altLang="zh-CN" dirty="0"/>
              <a:t>1</a:t>
            </a:r>
          </a:p>
          <a:p>
            <a:r>
              <a:rPr kumimoji="1" lang="zh-CN" altLang="en-US" dirty="0"/>
              <a:t>不考虑限制条件下，往返一次可以运过来</a:t>
            </a:r>
            <a:r>
              <a:rPr kumimoji="1" lang="en-US" altLang="zh-CN" dirty="0"/>
              <a:t>2</a:t>
            </a:r>
            <a:r>
              <a:rPr kumimoji="1" lang="zh-CN" altLang="en-US" dirty="0"/>
              <a:t>个人，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算出来这个值化简一下，就是</a:t>
            </a:r>
            <a:r>
              <a:rPr kumimoji="1" lang="en-US" altLang="zh-CN" dirty="0"/>
              <a:t>M+C-2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1377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如果左岸有</a:t>
            </a:r>
            <a:r>
              <a:rPr kumimoji="1" lang="en-US" altLang="zh-CN" dirty="0"/>
              <a:t>M</a:t>
            </a:r>
            <a:r>
              <a:rPr kumimoji="1" lang="zh-CN" altLang="en-US" dirty="0"/>
              <a:t>个传教士，</a:t>
            </a:r>
            <a:r>
              <a:rPr kumimoji="1" lang="en-US" altLang="zh-CN" dirty="0"/>
              <a:t>C</a:t>
            </a:r>
            <a:r>
              <a:rPr kumimoji="1" lang="zh-CN" altLang="en-US" dirty="0"/>
              <a:t>个野人，但船在右岸（</a:t>
            </a:r>
            <a:r>
              <a:rPr kumimoji="1" lang="en-US" altLang="zh-CN" dirty="0"/>
              <a:t>B=0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r>
              <a:rPr kumimoji="1" lang="zh-CN" altLang="en-US" dirty="0"/>
              <a:t>需要一个人把船运过来，变成（</a:t>
            </a:r>
            <a:r>
              <a:rPr kumimoji="1" lang="en-US" altLang="zh-CN" dirty="0"/>
              <a:t>M+1,C,1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r>
              <a:rPr kumimoji="1" lang="en-US" altLang="zh-CN" dirty="0"/>
              <a:t>h(M+1,C,1)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M+C+1-2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M+C-1</a:t>
            </a:r>
          </a:p>
          <a:p>
            <a:r>
              <a:rPr kumimoji="1" lang="zh-CN" altLang="en-US" dirty="0"/>
              <a:t>加上第一次把船运过来，变成</a:t>
            </a:r>
            <a:r>
              <a:rPr kumimoji="1" lang="en-US" altLang="zh-CN" dirty="0"/>
              <a:t>h(M,C,0)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M+C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22636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如果左岸有</a:t>
            </a:r>
            <a:r>
              <a:rPr kumimoji="1" lang="en-US" altLang="zh-CN" dirty="0"/>
              <a:t>M</a:t>
            </a:r>
            <a:r>
              <a:rPr kumimoji="1" lang="zh-CN" altLang="en-US" dirty="0"/>
              <a:t>个传教士，</a:t>
            </a:r>
            <a:r>
              <a:rPr kumimoji="1" lang="en-US" altLang="zh-CN" dirty="0"/>
              <a:t>C</a:t>
            </a:r>
            <a:r>
              <a:rPr kumimoji="1" lang="zh-CN" altLang="en-US" dirty="0"/>
              <a:t>个野人，但船在右岸（</a:t>
            </a:r>
            <a:r>
              <a:rPr kumimoji="1" lang="en-US" altLang="zh-CN" dirty="0"/>
              <a:t>B=0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r>
              <a:rPr kumimoji="1" lang="zh-CN" altLang="en-US" dirty="0"/>
              <a:t>需要一个人把船运过来，变成（</a:t>
            </a:r>
            <a:r>
              <a:rPr kumimoji="1" lang="en-US" altLang="zh-CN" dirty="0"/>
              <a:t>M+1,C,1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r>
              <a:rPr kumimoji="1" lang="en-US" altLang="zh-CN" dirty="0"/>
              <a:t>h(M+1,C,1)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M+C+1-2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M+C-1</a:t>
            </a:r>
          </a:p>
          <a:p>
            <a:r>
              <a:rPr kumimoji="1" lang="zh-CN" altLang="en-US" dirty="0"/>
              <a:t>加上第一次把船运过来，变成</a:t>
            </a:r>
            <a:r>
              <a:rPr kumimoji="1" lang="en-US" altLang="zh-CN" dirty="0"/>
              <a:t>h(M,C,0)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M+C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27867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h2&gt;=h1</a:t>
            </a:r>
            <a:r>
              <a:rPr kumimoji="1" lang="zh-CN" altLang="en-US" dirty="0"/>
              <a:t>的时候不成立，只有</a:t>
            </a:r>
            <a:r>
              <a:rPr kumimoji="1" lang="en-US" altLang="zh-CN" dirty="0"/>
              <a:t>h2&gt;h1</a:t>
            </a:r>
            <a:r>
              <a:rPr kumimoji="1" lang="zh-CN" altLang="en-US" dirty="0"/>
              <a:t>才成立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扩展的节点数 不能于 扩展的节点次数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08502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7754E9-042C-4BDB-83CA-013DA6F939A9}" type="slidenum">
              <a:rPr lang="en-US" altLang="zh-CN" smtClean="0">
                <a:ea typeface="黑体" pitchFamily="49" charset="-122"/>
              </a:rPr>
              <a:pPr/>
              <a:t>56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8401435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5715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 dirty="0">
              <a:ea typeface="黑体" pitchFamily="49" charset="-122"/>
            </a:endParaRPr>
          </a:p>
        </p:txBody>
      </p:sp>
      <p:sp>
        <p:nvSpPr>
          <p:cNvPr id="11571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B0B52F7-1676-4C81-AF59-27C2D0DEF748}" type="slidenum">
              <a:rPr lang="en-US" altLang="zh-CN" smtClean="0">
                <a:ea typeface="黑体" pitchFamily="49" charset="-122"/>
              </a:rPr>
              <a:pPr/>
              <a:t>57</a:t>
            </a:fld>
            <a:endParaRPr lang="en-US" altLang="zh-CN" dirty="0"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16659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6739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 dirty="0">
                <a:ea typeface="黑体" pitchFamily="49" charset="-122"/>
              </a:rPr>
              <a:t>怎么评价</a:t>
            </a:r>
            <a:r>
              <a:rPr lang="en-US" altLang="zh-CN" dirty="0">
                <a:ea typeface="黑体" pitchFamily="49" charset="-122"/>
              </a:rPr>
              <a:t>h</a:t>
            </a:r>
            <a:r>
              <a:rPr lang="zh-CN" altLang="en-US" dirty="0">
                <a:ea typeface="黑体" pitchFamily="49" charset="-122"/>
              </a:rPr>
              <a:t>的好坏呢？</a:t>
            </a:r>
            <a:endParaRPr lang="en-US" altLang="zh-CN" dirty="0">
              <a:ea typeface="黑体" pitchFamily="49" charset="-122"/>
            </a:endParaRPr>
          </a:p>
          <a:p>
            <a:endParaRPr lang="en-US" altLang="zh-CN" dirty="0">
              <a:ea typeface="黑体" pitchFamily="49" charset="-122"/>
            </a:endParaRPr>
          </a:p>
          <a:p>
            <a:r>
              <a:rPr lang="zh-CN" altLang="en-US" dirty="0">
                <a:ea typeface="黑体" pitchFamily="49" charset="-122"/>
              </a:rPr>
              <a:t>跑跑程序看，用运行的情况来比较</a:t>
            </a:r>
            <a:endParaRPr lang="en-US" altLang="zh-CN" dirty="0">
              <a:ea typeface="黑体" pitchFamily="49" charset="-122"/>
            </a:endParaRPr>
          </a:p>
          <a:p>
            <a:endParaRPr lang="en-US" altLang="zh-CN" dirty="0">
              <a:ea typeface="黑体" pitchFamily="49" charset="-122"/>
            </a:endParaRPr>
          </a:p>
          <a:p>
            <a:r>
              <a:rPr lang="zh-CN" altLang="en-US" dirty="0">
                <a:ea typeface="黑体" pitchFamily="49" charset="-122"/>
              </a:rPr>
              <a:t>最优解的深度是</a:t>
            </a:r>
            <a:r>
              <a:rPr lang="en-US" altLang="zh-CN" dirty="0">
                <a:ea typeface="黑体" pitchFamily="49" charset="-122"/>
              </a:rPr>
              <a:t>d</a:t>
            </a:r>
          </a:p>
          <a:p>
            <a:endParaRPr lang="en-US" altLang="zh-CN" dirty="0">
              <a:ea typeface="黑体" pitchFamily="49" charset="-122"/>
            </a:endParaRPr>
          </a:p>
          <a:p>
            <a:r>
              <a:rPr lang="en-US" altLang="zh-CN" dirty="0">
                <a:ea typeface="黑体" pitchFamily="49" charset="-122"/>
              </a:rPr>
              <a:t>1+b^1+b^2+b^3+….+</a:t>
            </a:r>
            <a:r>
              <a:rPr lang="en-US" altLang="zh-CN" dirty="0" err="1">
                <a:ea typeface="黑体" pitchFamily="49" charset="-122"/>
              </a:rPr>
              <a:t>b^d</a:t>
            </a:r>
            <a:r>
              <a:rPr lang="zh-CN" altLang="en-US" dirty="0">
                <a:ea typeface="黑体" pitchFamily="49" charset="-122"/>
              </a:rPr>
              <a:t> </a:t>
            </a:r>
            <a:r>
              <a:rPr lang="en-US" altLang="zh-CN" dirty="0">
                <a:ea typeface="黑体" pitchFamily="49" charset="-122"/>
              </a:rPr>
              <a:t>=</a:t>
            </a:r>
            <a:r>
              <a:rPr lang="zh-CN" altLang="en-US" dirty="0">
                <a:ea typeface="黑体" pitchFamily="49" charset="-122"/>
              </a:rPr>
              <a:t> </a:t>
            </a:r>
            <a:r>
              <a:rPr lang="en-US" altLang="zh-CN" dirty="0">
                <a:ea typeface="黑体" pitchFamily="49" charset="-122"/>
              </a:rPr>
              <a:t>(1-b^(d+1))/(1-b)</a:t>
            </a:r>
            <a:r>
              <a:rPr lang="zh-CN" altLang="en-US" dirty="0">
                <a:ea typeface="黑体" pitchFamily="49" charset="-122"/>
              </a:rPr>
              <a:t> 等比数列求和</a:t>
            </a:r>
            <a:endParaRPr lang="en-US" altLang="zh-CN" dirty="0">
              <a:ea typeface="黑体" pitchFamily="49" charset="-122"/>
            </a:endParaRPr>
          </a:p>
          <a:p>
            <a:endParaRPr lang="en-US" altLang="zh-CN" dirty="0">
              <a:ea typeface="黑体" pitchFamily="49" charset="-122"/>
            </a:endParaRPr>
          </a:p>
          <a:p>
            <a:r>
              <a:rPr lang="en-US" altLang="zh-CN" dirty="0">
                <a:ea typeface="黑体" pitchFamily="49" charset="-122"/>
              </a:rPr>
              <a:t>b*</a:t>
            </a:r>
            <a:r>
              <a:rPr lang="zh-CN" altLang="en-US" dirty="0">
                <a:ea typeface="黑体" pitchFamily="49" charset="-122"/>
              </a:rPr>
              <a:t>没有解析解，但可以求出数值解</a:t>
            </a:r>
            <a:endParaRPr lang="en-US" altLang="zh-CN" dirty="0">
              <a:ea typeface="黑体" pitchFamily="49" charset="-122"/>
            </a:endParaRPr>
          </a:p>
          <a:p>
            <a:endParaRPr lang="en-US" altLang="zh-CN" dirty="0">
              <a:ea typeface="黑体" pitchFamily="49" charset="-122"/>
            </a:endParaRPr>
          </a:p>
          <a:p>
            <a:r>
              <a:rPr lang="en-US" altLang="zh-CN" dirty="0">
                <a:ea typeface="黑体" pitchFamily="49" charset="-122"/>
              </a:rPr>
              <a:t>N</a:t>
            </a:r>
            <a:r>
              <a:rPr lang="zh-CN" altLang="en-US" dirty="0">
                <a:ea typeface="黑体" pitchFamily="49" charset="-122"/>
              </a:rPr>
              <a:t>是</a:t>
            </a:r>
            <a:r>
              <a:rPr lang="en-US" altLang="zh-CN" dirty="0">
                <a:ea typeface="黑体" pitchFamily="49" charset="-122"/>
              </a:rPr>
              <a:t>close</a:t>
            </a:r>
            <a:r>
              <a:rPr lang="zh-CN" altLang="en-US" dirty="0">
                <a:ea typeface="黑体" pitchFamily="49" charset="-122"/>
              </a:rPr>
              <a:t>的节点数</a:t>
            </a:r>
          </a:p>
          <a:p>
            <a:endParaRPr lang="zh-CN" altLang="en-US" dirty="0">
              <a:ea typeface="黑体" pitchFamily="49" charset="-122"/>
            </a:endParaRPr>
          </a:p>
        </p:txBody>
      </p:sp>
      <p:sp>
        <p:nvSpPr>
          <p:cNvPr id="11674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CB92F33-1858-442D-9B5E-C4DEE8C6201E}" type="slidenum">
              <a:rPr lang="en-US" altLang="zh-CN" smtClean="0">
                <a:ea typeface="黑体" pitchFamily="49" charset="-122"/>
              </a:rPr>
              <a:pPr/>
              <a:t>58</a:t>
            </a:fld>
            <a:endParaRPr lang="en-US" altLang="zh-CN" dirty="0"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6811263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rgbClr val="333333"/>
                </a:solidFill>
                <a:effectLst/>
              </a:rPr>
              <a:t>战略上藐视敌人，战术上重视敌人是</a:t>
            </a:r>
            <a:r>
              <a:rPr lang="en-US" altLang="zh-CN" dirty="0">
                <a:solidFill>
                  <a:srgbClr val="333333"/>
                </a:solidFill>
                <a:effectLst/>
              </a:rPr>
              <a:t>1948</a:t>
            </a:r>
            <a:r>
              <a:rPr lang="zh-CN" altLang="en-US" dirty="0">
                <a:solidFill>
                  <a:srgbClr val="333333"/>
                </a:solidFill>
                <a:effectLst/>
              </a:rPr>
              <a:t>年</a:t>
            </a:r>
            <a:r>
              <a:rPr lang="en-US" altLang="zh-CN" dirty="0">
                <a:solidFill>
                  <a:srgbClr val="333333"/>
                </a:solidFill>
                <a:effectLst/>
              </a:rPr>
              <a:t>1</a:t>
            </a:r>
            <a:r>
              <a:rPr lang="zh-CN" altLang="en-US" dirty="0">
                <a:solidFill>
                  <a:srgbClr val="333333"/>
                </a:solidFill>
                <a:effectLst/>
              </a:rPr>
              <a:t>月</a:t>
            </a:r>
            <a:r>
              <a:rPr lang="en-US" altLang="zh-CN" dirty="0">
                <a:solidFill>
                  <a:srgbClr val="333333"/>
                </a:solidFill>
                <a:effectLst/>
              </a:rPr>
              <a:t>18</a:t>
            </a:r>
            <a:r>
              <a:rPr lang="zh-CN" altLang="en-US" dirty="0">
                <a:solidFill>
                  <a:srgbClr val="333333"/>
                </a:solidFill>
                <a:effectLst/>
              </a:rPr>
              <a:t>日，</a:t>
            </a:r>
            <a:r>
              <a:rPr lang="zh-CN" altLang="en-US" u="none" strike="noStrike" dirty="0">
                <a:solidFill>
                  <a:srgbClr val="136EC2"/>
                </a:solidFill>
                <a:effectLst/>
                <a:hlinkClick r:id="rId3"/>
              </a:rPr>
              <a:t>毛泽东</a:t>
            </a:r>
            <a:r>
              <a:rPr lang="zh-CN" altLang="en-US" dirty="0">
                <a:solidFill>
                  <a:srgbClr val="333333"/>
                </a:solidFill>
                <a:effectLst/>
              </a:rPr>
              <a:t>在为中共中央起草的决议草案</a:t>
            </a:r>
            <a:r>
              <a:rPr lang="en-US" altLang="zh-CN" dirty="0">
                <a:solidFill>
                  <a:srgbClr val="333333"/>
                </a:solidFill>
                <a:effectLst/>
              </a:rPr>
              <a:t>《</a:t>
            </a:r>
            <a:r>
              <a:rPr lang="zh-CN" altLang="en-US" u="none" strike="noStrike" dirty="0">
                <a:solidFill>
                  <a:srgbClr val="136EC2"/>
                </a:solidFill>
                <a:effectLst/>
                <a:hlinkClick r:id="rId4"/>
              </a:rPr>
              <a:t>关于目前党的政策中的几个重要问题</a:t>
            </a:r>
            <a:r>
              <a:rPr lang="en-US" altLang="zh-CN" dirty="0">
                <a:solidFill>
                  <a:srgbClr val="333333"/>
                </a:solidFill>
                <a:effectLst/>
              </a:rPr>
              <a:t>》</a:t>
            </a:r>
            <a:r>
              <a:rPr lang="zh-CN" altLang="en-US" dirty="0">
                <a:solidFill>
                  <a:srgbClr val="333333"/>
                </a:solidFill>
                <a:effectLst/>
              </a:rPr>
              <a:t>中又说：“当着我们正确地指出在全体上，在战略上，应当轻视敌人的时候，却决不可在每一个局部上，在每一个具体问题上，也轻视敌人。”这些论述后来被概括为“战略上藐视敌人，战术上重视敌人”口号，成为毛泽东战略和策略思想的集中表达。</a:t>
            </a:r>
            <a:endParaRPr lang="en-US" altLang="zh-CN" dirty="0">
              <a:solidFill>
                <a:srgbClr val="333333"/>
              </a:solidFill>
              <a:effectLst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81078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54014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82818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0C79C94-A0A6-4698-B3D2-3973CCE446EC}" type="slidenum">
              <a:rPr lang="en-US" altLang="zh-CN" smtClean="0">
                <a:ea typeface="黑体" pitchFamily="49" charset="-122"/>
              </a:rPr>
              <a:pPr/>
              <a:t>62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zh-CN" altLang="en-US" dirty="0">
                <a:ea typeface="黑体" pitchFamily="49" charset="-122"/>
              </a:rPr>
              <a:t>第三次课第一节结束</a:t>
            </a:r>
            <a:endParaRPr lang="en-US" altLang="zh-CN" dirty="0">
              <a:ea typeface="黑体" pitchFamily="49" charset="-122"/>
            </a:endParaRPr>
          </a:p>
          <a:p>
            <a:pPr eaLnBrk="1" hangingPunct="1"/>
            <a:endParaRPr lang="en-US" altLang="zh-CN" dirty="0">
              <a:ea typeface="黑体" pitchFamily="49" charset="-122"/>
            </a:endParaRPr>
          </a:p>
          <a:p>
            <a:pPr eaLnBrk="1" hangingPunct="1"/>
            <a:r>
              <a:rPr lang="zh-CN" altLang="en-US" dirty="0">
                <a:ea typeface="黑体" pitchFamily="49" charset="-122"/>
              </a:rPr>
              <a:t>科协，</a:t>
            </a:r>
            <a:r>
              <a:rPr lang="en-US" altLang="zh-CN" dirty="0">
                <a:ea typeface="黑体" pitchFamily="49" charset="-122"/>
              </a:rPr>
              <a:t>16</a:t>
            </a:r>
            <a:r>
              <a:rPr lang="zh-CN" altLang="en-US" dirty="0">
                <a:ea typeface="黑体" pitchFamily="49" charset="-122"/>
              </a:rPr>
              <a:t>强免做大作业，</a:t>
            </a:r>
            <a:r>
              <a:rPr lang="en-US" altLang="zh-CN" dirty="0">
                <a:ea typeface="黑体" pitchFamily="49" charset="-122"/>
              </a:rPr>
              <a:t>32</a:t>
            </a:r>
            <a:r>
              <a:rPr lang="zh-CN" altLang="en-US" dirty="0">
                <a:ea typeface="黑体" pitchFamily="49" charset="-122"/>
              </a:rPr>
              <a:t>强大作业加五分</a:t>
            </a:r>
            <a:endParaRPr lang="en-US" altLang="zh-CN" dirty="0">
              <a:ea typeface="黑体" pitchFamily="49" charset="-122"/>
            </a:endParaRPr>
          </a:p>
          <a:p>
            <a:pPr eaLnBrk="1" hangingPunct="1"/>
            <a:endParaRPr lang="en-US" altLang="zh-CN" dirty="0">
              <a:ea typeface="黑体" pitchFamily="49" charset="-122"/>
            </a:endParaRPr>
          </a:p>
          <a:p>
            <a:pPr eaLnBrk="1" hangingPunct="1"/>
            <a:r>
              <a:rPr lang="zh-CN" altLang="en-US" dirty="0">
                <a:ea typeface="黑体" pitchFamily="49" charset="-122"/>
              </a:rPr>
              <a:t>必考知识点</a:t>
            </a:r>
            <a:endParaRPr lang="en-US" altLang="zh-CN" dirty="0">
              <a:ea typeface="黑体" pitchFamily="49" charset="-122"/>
            </a:endParaRPr>
          </a:p>
          <a:p>
            <a:pPr eaLnBrk="1" hangingPunct="1"/>
            <a:endParaRPr lang="en-US" altLang="zh-CN" dirty="0">
              <a:ea typeface="黑体" pitchFamily="49" charset="-122"/>
            </a:endParaRPr>
          </a:p>
          <a:p>
            <a:pPr eaLnBrk="1" hangingPunct="1"/>
            <a:r>
              <a:rPr lang="zh-CN" altLang="en-US" dirty="0">
                <a:ea typeface="黑体" pitchFamily="49" charset="-122"/>
              </a:rPr>
              <a:t>左图括号中是</a:t>
            </a:r>
            <a:r>
              <a:rPr lang="en-US" altLang="zh-CN" dirty="0">
                <a:ea typeface="黑体" pitchFamily="49" charset="-122"/>
              </a:rPr>
              <a:t>h</a:t>
            </a:r>
            <a:r>
              <a:rPr lang="zh-CN" altLang="en-US" dirty="0">
                <a:ea typeface="黑体" pitchFamily="49" charset="-122"/>
              </a:rPr>
              <a:t>值，右表中的括号里是</a:t>
            </a:r>
            <a:r>
              <a:rPr lang="en-US" altLang="zh-CN" dirty="0">
                <a:ea typeface="黑体" pitchFamily="49" charset="-122"/>
              </a:rPr>
              <a:t>f</a:t>
            </a:r>
            <a:r>
              <a:rPr lang="zh-CN" altLang="en-US" dirty="0">
                <a:ea typeface="黑体" pitchFamily="49" charset="-122"/>
              </a:rPr>
              <a:t>值</a:t>
            </a:r>
            <a:endParaRPr lang="zh-CN" altLang="zh-CN" dirty="0">
              <a:ea typeface="黑体" pitchFamily="49" charset="-122"/>
            </a:endParaRPr>
          </a:p>
          <a:p>
            <a:pPr eaLnBrk="1" hangingPunct="1"/>
            <a:endParaRPr lang="zh-CN" altLang="zh-CN" dirty="0"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500855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6E8FE5A-D1B4-462E-9043-8B1F5538B060}" type="slidenum">
              <a:rPr lang="en-US" altLang="zh-CN" smtClean="0">
                <a:ea typeface="黑体" pitchFamily="49" charset="-122"/>
              </a:rPr>
              <a:pPr/>
              <a:t>63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zh-CN" altLang="en-US" dirty="0">
                <a:ea typeface="黑体" pitchFamily="49" charset="-122"/>
              </a:rPr>
              <a:t>突破口：</a:t>
            </a:r>
            <a:r>
              <a:rPr lang="en-US" altLang="zh-CN" dirty="0">
                <a:ea typeface="黑体" pitchFamily="49" charset="-122"/>
              </a:rPr>
              <a:t>h</a:t>
            </a:r>
            <a:r>
              <a:rPr lang="zh-CN" altLang="en-US" dirty="0">
                <a:ea typeface="黑体" pitchFamily="49" charset="-122"/>
              </a:rPr>
              <a:t>值估计的要合理，即应该满足单调条件。考虑到</a:t>
            </a:r>
            <a:r>
              <a:rPr lang="en-US" altLang="zh-CN" dirty="0">
                <a:ea typeface="黑体" pitchFamily="49" charset="-122"/>
              </a:rPr>
              <a:t>h</a:t>
            </a:r>
            <a:r>
              <a:rPr lang="zh-CN" altLang="en-US" dirty="0">
                <a:ea typeface="黑体" pitchFamily="49" charset="-122"/>
              </a:rPr>
              <a:t>满足</a:t>
            </a:r>
            <a:r>
              <a:rPr lang="en-US" altLang="zh-CN" dirty="0">
                <a:ea typeface="黑体" pitchFamily="49" charset="-122"/>
              </a:rPr>
              <a:t>A*</a:t>
            </a:r>
            <a:r>
              <a:rPr lang="zh-CN" altLang="en-US" dirty="0">
                <a:ea typeface="黑体" pitchFamily="49" charset="-122"/>
              </a:rPr>
              <a:t>条件，所以父子节点的</a:t>
            </a:r>
            <a:r>
              <a:rPr lang="en-US" altLang="zh-CN" dirty="0">
                <a:ea typeface="黑体" pitchFamily="49" charset="-122"/>
              </a:rPr>
              <a:t>h</a:t>
            </a:r>
            <a:r>
              <a:rPr lang="zh-CN" altLang="en-US" dirty="0">
                <a:ea typeface="黑体" pitchFamily="49" charset="-122"/>
              </a:rPr>
              <a:t>值差，应该小于等于</a:t>
            </a:r>
            <a:r>
              <a:rPr lang="en-US" altLang="zh-CN" dirty="0">
                <a:ea typeface="黑体" pitchFamily="49" charset="-122"/>
              </a:rPr>
              <a:t>c</a:t>
            </a:r>
            <a:r>
              <a:rPr lang="zh-CN" altLang="en-US" dirty="0">
                <a:ea typeface="黑体" pitchFamily="49" charset="-122"/>
              </a:rPr>
              <a:t>才合理。</a:t>
            </a:r>
            <a:endParaRPr lang="en-US" altLang="zh-CN" dirty="0">
              <a:ea typeface="黑体" pitchFamily="49" charset="-122"/>
            </a:endParaRPr>
          </a:p>
          <a:p>
            <a:pPr eaLnBrk="1" hangingPunct="1"/>
            <a:endParaRPr lang="en-US" altLang="zh-CN" dirty="0">
              <a:ea typeface="黑体" pitchFamily="49" charset="-122"/>
            </a:endParaRPr>
          </a:p>
          <a:p>
            <a:pPr eaLnBrk="1" hangingPunct="1"/>
            <a:r>
              <a:rPr lang="zh-CN" altLang="en-US" dirty="0">
                <a:ea typeface="黑体" pitchFamily="49" charset="-122"/>
              </a:rPr>
              <a:t>从清华到香山的距离估计，在香山脚下估计的距离应该误差比在清华西门估计的距离误差小</a:t>
            </a:r>
          </a:p>
          <a:p>
            <a:pPr eaLnBrk="1" hangingPunct="1"/>
            <a:endParaRPr lang="zh-CN" altLang="en-US" dirty="0"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4981698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9811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 dirty="0">
              <a:ea typeface="黑体" pitchFamily="49" charset="-122"/>
            </a:endParaRPr>
          </a:p>
        </p:txBody>
      </p:sp>
      <p:sp>
        <p:nvSpPr>
          <p:cNvPr id="11981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EDFD1EB-7560-45B6-88CA-CB1BA48E6CBB}" type="slidenum">
              <a:rPr lang="en-US" altLang="zh-CN" smtClean="0">
                <a:ea typeface="黑体" pitchFamily="49" charset="-122"/>
              </a:rPr>
              <a:pPr/>
              <a:t>64</a:t>
            </a:fld>
            <a:endParaRPr lang="en-US" altLang="zh-CN" dirty="0"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3493620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因为在</a:t>
            </a:r>
            <a:r>
              <a:rPr lang="en-US" altLang="zh-CN" dirty="0" err="1"/>
              <a:t>ni</a:t>
            </a:r>
            <a:r>
              <a:rPr lang="zh-CN" altLang="en-US" dirty="0"/>
              <a:t>估计值为</a:t>
            </a:r>
            <a:r>
              <a:rPr lang="en-US" altLang="zh-CN" dirty="0"/>
              <a:t>h(</a:t>
            </a:r>
            <a:r>
              <a:rPr lang="en-US" altLang="zh-CN" dirty="0" err="1"/>
              <a:t>ni</a:t>
            </a:r>
            <a:r>
              <a:rPr lang="en-US" altLang="zh-CN" dirty="0"/>
              <a:t>)</a:t>
            </a:r>
            <a:r>
              <a:rPr lang="zh-CN" altLang="en-US" dirty="0"/>
              <a:t>，现在从</a:t>
            </a:r>
            <a:r>
              <a:rPr lang="en-US" altLang="zh-CN" dirty="0" err="1"/>
              <a:t>ni</a:t>
            </a:r>
            <a:r>
              <a:rPr lang="zh-CN" altLang="en-US" dirty="0"/>
              <a:t>走到了</a:t>
            </a:r>
            <a:r>
              <a:rPr lang="en-US" altLang="zh-CN" dirty="0" err="1"/>
              <a:t>nj</a:t>
            </a:r>
            <a:r>
              <a:rPr lang="zh-CN" altLang="en-US" dirty="0"/>
              <a:t>，那么</a:t>
            </a:r>
            <a:r>
              <a:rPr lang="en-US" altLang="zh-CN" dirty="0"/>
              <a:t>h(</a:t>
            </a:r>
            <a:r>
              <a:rPr lang="en-US" altLang="zh-CN" dirty="0" err="1"/>
              <a:t>nj</a:t>
            </a:r>
            <a:r>
              <a:rPr lang="en-US" altLang="zh-CN" dirty="0"/>
              <a:t>)</a:t>
            </a:r>
            <a:r>
              <a:rPr lang="zh-CN" altLang="en-US" dirty="0"/>
              <a:t>至少应该为</a:t>
            </a:r>
            <a:r>
              <a:rPr lang="en-US" altLang="zh-CN" dirty="0"/>
              <a:t>h(</a:t>
            </a:r>
            <a:r>
              <a:rPr lang="en-US" altLang="zh-CN" dirty="0" err="1"/>
              <a:t>ni</a:t>
            </a:r>
            <a:r>
              <a:rPr lang="en-US" altLang="zh-CN" dirty="0"/>
              <a:t>)-C(</a:t>
            </a:r>
            <a:r>
              <a:rPr lang="en-US" altLang="zh-CN" dirty="0" err="1"/>
              <a:t>ni,nj</a:t>
            </a:r>
            <a:r>
              <a:rPr lang="en-US" altLang="zh-CN" dirty="0"/>
              <a:t>)</a:t>
            </a:r>
            <a:r>
              <a:rPr lang="zh-CN" altLang="en-US" dirty="0"/>
              <a:t>，小于这个值就不合理了。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86914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加个例子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97380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0C79C94-A0A6-4698-B3D2-3973CCE446EC}" type="slidenum">
              <a:rPr lang="en-US" altLang="zh-CN" smtClean="0">
                <a:ea typeface="黑体" pitchFamily="49" charset="-122"/>
              </a:rPr>
              <a:pPr/>
              <a:t>69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zh-CN" altLang="en-US" dirty="0">
                <a:ea typeface="黑体" pitchFamily="49" charset="-122"/>
              </a:rPr>
              <a:t>第三次课第一节结束</a:t>
            </a:r>
            <a:endParaRPr lang="en-US" altLang="zh-CN" dirty="0">
              <a:ea typeface="黑体" pitchFamily="49" charset="-122"/>
            </a:endParaRPr>
          </a:p>
          <a:p>
            <a:pPr eaLnBrk="1" hangingPunct="1"/>
            <a:endParaRPr lang="en-US" altLang="zh-CN" dirty="0">
              <a:ea typeface="黑体" pitchFamily="49" charset="-122"/>
            </a:endParaRPr>
          </a:p>
          <a:p>
            <a:pPr eaLnBrk="1" hangingPunct="1"/>
            <a:r>
              <a:rPr lang="zh-CN" altLang="en-US" dirty="0">
                <a:ea typeface="黑体" pitchFamily="49" charset="-122"/>
              </a:rPr>
              <a:t>科协，</a:t>
            </a:r>
            <a:r>
              <a:rPr lang="en-US" altLang="zh-CN" dirty="0">
                <a:ea typeface="黑体" pitchFamily="49" charset="-122"/>
              </a:rPr>
              <a:t>16</a:t>
            </a:r>
            <a:r>
              <a:rPr lang="zh-CN" altLang="en-US" dirty="0">
                <a:ea typeface="黑体" pitchFamily="49" charset="-122"/>
              </a:rPr>
              <a:t>强免做大作业，</a:t>
            </a:r>
            <a:r>
              <a:rPr lang="en-US" altLang="zh-CN" dirty="0">
                <a:ea typeface="黑体" pitchFamily="49" charset="-122"/>
              </a:rPr>
              <a:t>32</a:t>
            </a:r>
            <a:r>
              <a:rPr lang="zh-CN" altLang="en-US" dirty="0">
                <a:ea typeface="黑体" pitchFamily="49" charset="-122"/>
              </a:rPr>
              <a:t>强大作业加五分</a:t>
            </a:r>
            <a:endParaRPr lang="en-US" altLang="zh-CN" dirty="0">
              <a:ea typeface="黑体" pitchFamily="49" charset="-122"/>
            </a:endParaRPr>
          </a:p>
          <a:p>
            <a:pPr eaLnBrk="1" hangingPunct="1"/>
            <a:endParaRPr lang="en-US" altLang="zh-CN" dirty="0">
              <a:ea typeface="黑体" pitchFamily="49" charset="-122"/>
            </a:endParaRPr>
          </a:p>
          <a:p>
            <a:pPr eaLnBrk="1" hangingPunct="1"/>
            <a:r>
              <a:rPr lang="zh-CN" altLang="en-US" dirty="0">
                <a:ea typeface="黑体" pitchFamily="49" charset="-122"/>
              </a:rPr>
              <a:t>必考知识点</a:t>
            </a:r>
            <a:endParaRPr lang="en-US" altLang="zh-CN" dirty="0">
              <a:ea typeface="黑体" pitchFamily="49" charset="-122"/>
            </a:endParaRPr>
          </a:p>
          <a:p>
            <a:pPr eaLnBrk="1" hangingPunct="1"/>
            <a:endParaRPr lang="en-US" altLang="zh-CN" dirty="0">
              <a:ea typeface="黑体" pitchFamily="49" charset="-122"/>
            </a:endParaRPr>
          </a:p>
          <a:p>
            <a:pPr eaLnBrk="1" hangingPunct="1"/>
            <a:r>
              <a:rPr lang="zh-CN" altLang="en-US" dirty="0">
                <a:ea typeface="黑体" pitchFamily="49" charset="-122"/>
              </a:rPr>
              <a:t>左图括号中是</a:t>
            </a:r>
            <a:r>
              <a:rPr lang="en-US" altLang="zh-CN" dirty="0">
                <a:ea typeface="黑体" pitchFamily="49" charset="-122"/>
              </a:rPr>
              <a:t>h</a:t>
            </a:r>
            <a:r>
              <a:rPr lang="zh-CN" altLang="en-US" dirty="0">
                <a:ea typeface="黑体" pitchFamily="49" charset="-122"/>
              </a:rPr>
              <a:t>值，右表中的括号里是</a:t>
            </a:r>
            <a:r>
              <a:rPr lang="en-US" altLang="zh-CN" dirty="0">
                <a:ea typeface="黑体" pitchFamily="49" charset="-122"/>
              </a:rPr>
              <a:t>f</a:t>
            </a:r>
            <a:r>
              <a:rPr lang="zh-CN" altLang="en-US" dirty="0">
                <a:ea typeface="黑体" pitchFamily="49" charset="-122"/>
              </a:rPr>
              <a:t>值</a:t>
            </a:r>
            <a:endParaRPr lang="zh-CN" altLang="zh-CN" dirty="0">
              <a:ea typeface="黑体" pitchFamily="49" charset="-122"/>
            </a:endParaRPr>
          </a:p>
          <a:p>
            <a:pPr eaLnBrk="1" hangingPunct="1"/>
            <a:endParaRPr lang="zh-CN" altLang="zh-CN" dirty="0"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9000475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0835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 dirty="0">
                <a:ea typeface="黑体" pitchFamily="49" charset="-122"/>
              </a:rPr>
              <a:t>传教士</a:t>
            </a:r>
            <a:r>
              <a:rPr lang="en-US" altLang="zh-CN" dirty="0">
                <a:ea typeface="黑体" pitchFamily="49" charset="-122"/>
              </a:rPr>
              <a:t>M+C-2B</a:t>
            </a:r>
            <a:r>
              <a:rPr lang="zh-CN" altLang="en-US" dirty="0">
                <a:ea typeface="黑体" pitchFamily="49" charset="-122"/>
              </a:rPr>
              <a:t>不满足单调</a:t>
            </a:r>
          </a:p>
        </p:txBody>
      </p:sp>
      <p:sp>
        <p:nvSpPr>
          <p:cNvPr id="12083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CD34B02-43E8-4539-8C88-3881B312A5E2}" type="slidenum">
              <a:rPr lang="en-US" altLang="zh-CN" smtClean="0">
                <a:ea typeface="黑体" pitchFamily="49" charset="-122"/>
              </a:rPr>
              <a:pPr/>
              <a:t>71</a:t>
            </a:fld>
            <a:endParaRPr lang="en-US" altLang="zh-CN" dirty="0"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2822357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72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44154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65991C1-CBAC-4D98-B8FB-92D702FEF521}" type="slidenum">
              <a:rPr lang="en-US" altLang="zh-CN" smtClean="0">
                <a:ea typeface="黑体" pitchFamily="49" charset="-122"/>
              </a:rPr>
              <a:pPr/>
              <a:t>73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altLang="zh-CN" dirty="0">
                <a:ea typeface="黑体" pitchFamily="49" charset="-122"/>
              </a:rPr>
              <a:t>25m</a:t>
            </a:r>
            <a:endParaRPr lang="zh-CN" altLang="zh-CN" dirty="0"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7082019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F(</a:t>
            </a:r>
            <a:r>
              <a:rPr kumimoji="1" lang="en-US" altLang="zh-CN" dirty="0" err="1"/>
              <a:t>n_i</a:t>
            </a:r>
            <a:r>
              <a:rPr kumimoji="1" lang="en-US" altLang="zh-CN" dirty="0"/>
              <a:t>)&lt;</a:t>
            </a:r>
            <a:r>
              <a:rPr kumimoji="1" lang="en-US" altLang="zh-CN" dirty="0" err="1"/>
              <a:t>f_m</a:t>
            </a:r>
            <a:r>
              <a:rPr kumimoji="1" lang="zh-CN" altLang="en-US" dirty="0"/>
              <a:t> 不能是小于等于，否则可能会有重复拓展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74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09044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0595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 dirty="0">
              <a:ea typeface="黑体" pitchFamily="49" charset="-122"/>
            </a:endParaRPr>
          </a:p>
        </p:txBody>
      </p:sp>
      <p:sp>
        <p:nvSpPr>
          <p:cNvPr id="11059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B5700B5-08DC-424D-ABE5-85BB57773E77}" type="slidenum">
              <a:rPr lang="en-US" altLang="zh-CN" smtClean="0">
                <a:ea typeface="黑体" pitchFamily="49" charset="-122"/>
              </a:rPr>
              <a:pPr/>
              <a:t>75</a:t>
            </a:fld>
            <a:endParaRPr lang="en-US" altLang="zh-CN" dirty="0"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7079994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76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99294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77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0439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78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97635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第三次课第二节结束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79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0999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用爬山的方式举例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用塞尔达举例 神庙雷达</a:t>
            </a:r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80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19522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随机搜索：</a:t>
            </a:r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清醒的人很难爬到最高峰</a:t>
            </a:r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喝醉的人却很有可能到最高峰</a:t>
            </a:r>
          </a:p>
          <a:p>
            <a:endParaRPr kumimoji="1" lang="en-US" altLang="zh-CN" dirty="0"/>
          </a:p>
          <a:p>
            <a:r>
              <a:rPr kumimoji="1" lang="zh-CN" altLang="en-US" dirty="0"/>
              <a:t>动态规划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81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610513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层状结构，没有跳层的情况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核心在于利用对状态节点的记录，避免重复运算，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横着看，按层算，复杂度是线性的</a:t>
            </a:r>
            <a:endParaRPr kumimoji="1" lang="en-US" altLang="zh-CN" dirty="0"/>
          </a:p>
          <a:p>
            <a:r>
              <a:rPr kumimoji="1" lang="zh-CN" altLang="en-US" dirty="0"/>
              <a:t>纵着看，按点算，复杂度是平方的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82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28226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83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1421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输入法可以转化为求最短路径的问题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套用已有的方法解决新的问题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84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6355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87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65758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汉语大概</a:t>
            </a:r>
            <a:r>
              <a:rPr kumimoji="1" lang="en-US" altLang="zh-CN" dirty="0"/>
              <a:t>400</a:t>
            </a:r>
            <a:r>
              <a:rPr kumimoji="1" lang="zh-CN" altLang="en-US" dirty="0"/>
              <a:t>个音，不包括音调</a:t>
            </a:r>
            <a:endParaRPr kumimoji="1" lang="en-US" altLang="zh-CN" dirty="0"/>
          </a:p>
          <a:p>
            <a:r>
              <a:rPr kumimoji="1" lang="zh-CN" altLang="en-US" dirty="0"/>
              <a:t>常用汉字</a:t>
            </a:r>
            <a:r>
              <a:rPr kumimoji="1" lang="en-US" altLang="zh-CN" dirty="0"/>
              <a:t>4000</a:t>
            </a:r>
            <a:r>
              <a:rPr kumimoji="1" lang="zh-CN" altLang="en-US" dirty="0"/>
              <a:t>个， 所谓的</a:t>
            </a:r>
            <a:r>
              <a:rPr kumimoji="1" lang="en-US" altLang="zh-CN" dirty="0"/>
              <a:t>1</a:t>
            </a:r>
            <a:r>
              <a:rPr kumimoji="1" lang="zh-CN" altLang="en-US" dirty="0"/>
              <a:t>级汉字，统计预料中的</a:t>
            </a:r>
            <a:r>
              <a:rPr kumimoji="1" lang="en-US" altLang="zh-CN" dirty="0"/>
              <a:t>99%+</a:t>
            </a:r>
            <a:endParaRPr kumimoji="1"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88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92159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</a:t>
            </a:r>
            <a:r>
              <a:rPr lang="zh-CN" altLang="en-US" dirty="0"/>
              <a:t>是句子， </a:t>
            </a:r>
            <a:r>
              <a:rPr lang="en-US" altLang="zh-CN" dirty="0"/>
              <a:t>O</a:t>
            </a:r>
            <a:r>
              <a:rPr lang="zh-CN" altLang="en-US" dirty="0"/>
              <a:t>是拼音</a:t>
            </a:r>
            <a:endParaRPr lang="en-US" altLang="zh-CN" dirty="0"/>
          </a:p>
          <a:p>
            <a:r>
              <a:rPr lang="zh-CN" altLang="en-US" dirty="0"/>
              <a:t>贝叶斯公式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P(O)</a:t>
            </a:r>
            <a:r>
              <a:rPr lang="zh-CN" altLang="en-US" dirty="0"/>
              <a:t> 为</a:t>
            </a:r>
            <a:r>
              <a:rPr lang="en-US" altLang="zh-CN" dirty="0"/>
              <a:t>1</a:t>
            </a:r>
          </a:p>
          <a:p>
            <a:r>
              <a:rPr lang="en-US" altLang="zh-CN" dirty="0"/>
              <a:t>P(O|S)</a:t>
            </a:r>
            <a:r>
              <a:rPr lang="zh-CN" altLang="en-US" dirty="0"/>
              <a:t> 表示给定于这个句子后，它对应的拼音是什么的概率</a:t>
            </a:r>
            <a:endParaRPr lang="en-US" altLang="zh-CN" dirty="0"/>
          </a:p>
          <a:p>
            <a:r>
              <a:rPr lang="zh-CN" altLang="en-US" dirty="0"/>
              <a:t>通常给定句子之后他的拼音也确定，但个别时候会有多音字的问题，但可以忽略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你去河北省反省一下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南京市长江大桥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90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465924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P(wi|w1…w_i-1)</a:t>
            </a:r>
            <a:r>
              <a:rPr kumimoji="1" lang="zh-CN" altLang="en-US" dirty="0"/>
              <a:t> 概率太小，组合爆炸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91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15458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用</a:t>
            </a:r>
            <a:r>
              <a:rPr kumimoji="1" lang="en-US" altLang="zh-CN" dirty="0"/>
              <a:t>Viterbi</a:t>
            </a:r>
            <a:r>
              <a:rPr kumimoji="1" lang="zh-CN" altLang="en-US" dirty="0"/>
              <a:t>算法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考虑更多前置的字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用词代替字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第一次作业就是拼音输入法</a:t>
            </a:r>
            <a:endParaRPr kumimoji="1" lang="en-US" altLang="zh-CN" dirty="0"/>
          </a:p>
          <a:p>
            <a:r>
              <a:rPr kumimoji="1" lang="zh-CN" altLang="en-US" dirty="0"/>
              <a:t>按字做就行</a:t>
            </a:r>
            <a:endParaRPr kumimoji="1" lang="en-US" altLang="zh-CN" dirty="0"/>
          </a:p>
          <a:p>
            <a:r>
              <a:rPr kumimoji="1" lang="zh-CN" altLang="en-US" dirty="0"/>
              <a:t>作业中的拼音用空格做了分隔 （真实中更复杂，没有空格）</a:t>
            </a:r>
            <a:endParaRPr kumimoji="1" lang="en-US" altLang="zh-CN" dirty="0"/>
          </a:p>
          <a:p>
            <a:r>
              <a:rPr kumimoji="1" lang="zh-CN" altLang="en-US" dirty="0"/>
              <a:t>数据可能有错</a:t>
            </a:r>
            <a:endParaRPr kumimoji="1" lang="en-US" altLang="zh-CN" dirty="0"/>
          </a:p>
          <a:p>
            <a:r>
              <a:rPr kumimoji="1" lang="zh-CN" altLang="en-US" dirty="0"/>
              <a:t>一切以助教为准</a:t>
            </a:r>
            <a:endParaRPr kumimoji="1" lang="en-US" altLang="zh-CN" dirty="0"/>
          </a:p>
          <a:p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搜狗的创始人是我们组的博士生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92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54112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勤能补拙</a:t>
            </a:r>
            <a:endParaRPr kumimoji="1" lang="en-US" altLang="zh-CN" dirty="0"/>
          </a:p>
          <a:p>
            <a:r>
              <a:rPr kumimoji="1" lang="zh-CN" altLang="en-US" dirty="0"/>
              <a:t>杜甫能动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93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002346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横着一行是对一个字的潜在识别结果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我们要振奋精神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94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475940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单字错误率</a:t>
            </a:r>
            <a:r>
              <a:rPr kumimoji="1" lang="en-US" altLang="zh-CN" dirty="0"/>
              <a:t>80%</a:t>
            </a:r>
            <a:r>
              <a:rPr kumimoji="1" lang="zh-CN" altLang="en-US" dirty="0"/>
              <a:t>的情况下，可以纠正为</a:t>
            </a:r>
            <a:r>
              <a:rPr kumimoji="1" lang="en-US" altLang="zh-CN" dirty="0"/>
              <a:t>95%</a:t>
            </a:r>
          </a:p>
          <a:p>
            <a:endParaRPr kumimoji="1" lang="en-US" altLang="zh-CN" dirty="0"/>
          </a:p>
          <a:p>
            <a:r>
              <a:rPr kumimoji="1" lang="zh-CN" altLang="en-US" dirty="0"/>
              <a:t>马老师著名的工作之一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可以做的更复杂，考虑后面的字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95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64159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  <a:p>
            <a:r>
              <a:rPr kumimoji="1" lang="en-US" altLang="zh-CN" dirty="0" err="1"/>
              <a:t>dirichlet</a:t>
            </a:r>
            <a:r>
              <a:rPr kumimoji="1" lang="zh-CN" altLang="en-US" dirty="0"/>
              <a:t> </a:t>
            </a:r>
            <a:r>
              <a:rPr kumimoji="1" lang="en-US" altLang="zh-CN" dirty="0"/>
              <a:t>smoothing</a:t>
            </a:r>
          </a:p>
          <a:p>
            <a:r>
              <a:rPr kumimoji="1" lang="en-US" altLang="zh-CN" dirty="0"/>
              <a:t>JM</a:t>
            </a:r>
            <a:r>
              <a:rPr kumimoji="1" lang="zh-CN" altLang="en-US" dirty="0"/>
              <a:t> </a:t>
            </a:r>
            <a:r>
              <a:rPr kumimoji="1" lang="en-US" altLang="zh-CN" dirty="0"/>
              <a:t>smoothing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829680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第四次课第一节将近结束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291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101B3-0010-49BE-8236-66B90211FF04}" type="datetime1">
              <a:rPr lang="en-US" altLang="zh-CN" smtClean="0"/>
              <a:pPr/>
              <a:t>4/14/2025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5501D8D0-7646-4D22-887C-459A4F2FEB61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94328-A6FB-477A-B9C5-7FEFDBDE1042}" type="datetime1">
              <a:rPr lang="en-US" altLang="zh-CN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D8D0-7646-4D22-887C-459A4F2FEB61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>
            <a:lvl1pPr>
              <a:buFontTx/>
              <a:buBlip>
                <a:blip r:embed="rId2"/>
              </a:buBlip>
              <a:defRPr/>
            </a:lvl1pPr>
            <a:lvl2pPr>
              <a:buClr>
                <a:srgbClr val="503DDB"/>
              </a:buClr>
              <a:buSzPct val="45000"/>
              <a:buFont typeface="Wingdings" pitchFamily="2" charset="2"/>
              <a:buChar char="q"/>
              <a:defRPr/>
            </a:lvl2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pic>
        <p:nvPicPr>
          <p:cNvPr id="302081" name="Picture 1" descr="E:\resume\logo-tsinghua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1560" y="90151"/>
            <a:ext cx="2045531" cy="643813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29C65-C267-4342-9116-A00B6E7C55AD}" type="datetime1">
              <a:rPr lang="en-US" altLang="zh-CN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5501D8D0-7646-4D22-887C-459A4F2FEB61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8BA6D-2268-450C-9E6F-6553A2809D14}" type="datetime1">
              <a:rPr lang="en-US" altLang="zh-CN" smtClean="0"/>
              <a:pPr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D8D0-7646-4D22-887C-459A4F2FEB61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76173-FFAF-40B2-BD71-0C474124F5CA}" type="datetime1">
              <a:rPr lang="en-US" altLang="zh-CN" smtClean="0"/>
              <a:pPr/>
              <a:t>4/14/2025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D8D0-7646-4D22-887C-459A4F2FEB61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AAC5F-3C7D-47E2-8137-0D0E13270C17}" type="datetime1">
              <a:rPr lang="en-US" altLang="zh-CN" smtClean="0"/>
              <a:pPr/>
              <a:t>4/14/2025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D8D0-7646-4D22-887C-459A4F2FEB61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44C75-2845-4A49-8407-B10E57DDCB66}" type="datetime1">
              <a:rPr lang="en-US" altLang="zh-CN" smtClean="0"/>
              <a:pPr/>
              <a:t>4/14/2025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D8D0-7646-4D22-887C-459A4F2FEB61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D93C6-C0E5-4C94-83B0-EBE524181AA9}" type="datetime1">
              <a:rPr lang="en-US" altLang="zh-CN" smtClean="0"/>
              <a:pPr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D8D0-7646-4D22-887C-459A4F2FEB61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46CFF-7119-486E-A242-14937EB72380}" type="datetime1">
              <a:rPr lang="en-US" altLang="zh-CN" smtClean="0"/>
              <a:pPr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5501D8D0-7646-4D22-887C-459A4F2FEB61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7D574-52BE-4187-8AF7-E201A70CB6DC}" type="datetime1">
              <a:rPr lang="en-US" altLang="zh-CN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D8D0-7646-4D22-887C-459A4F2FEB61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C6442-F0BB-4DBA-B030-4A0192701801}" type="datetime1">
              <a:rPr lang="en-US" altLang="zh-CN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D8D0-7646-4D22-887C-459A4F2FEB61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17F057F-A64E-4BDF-9C5A-7B9C1755BBD0}" type="datetime1">
              <a:rPr lang="en-US" altLang="zh-CN" smtClean="0"/>
              <a:pPr/>
              <a:t>4/14/2025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5501D8D0-7646-4D22-887C-459A4F2FEB61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21" Type="http://schemas.openxmlformats.org/officeDocument/2006/relationships/notesSlide" Target="../notesSlides/notesSlide25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image" Target="../media/image13.tmp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wmf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emf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13" Type="http://schemas.openxmlformats.org/officeDocument/2006/relationships/tags" Target="../tags/tag32.xml"/><Relationship Id="rId18" Type="http://schemas.openxmlformats.org/officeDocument/2006/relationships/image" Target="../media/image13.tmp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12" Type="http://schemas.openxmlformats.org/officeDocument/2006/relationships/tags" Target="../tags/tag31.xml"/><Relationship Id="rId17" Type="http://schemas.openxmlformats.org/officeDocument/2006/relationships/notesSlide" Target="../notesSlides/notesSlide53.xml"/><Relationship Id="rId2" Type="http://schemas.openxmlformats.org/officeDocument/2006/relationships/tags" Target="../tags/tag21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tags" Target="../tags/tag30.xml"/><Relationship Id="rId5" Type="http://schemas.openxmlformats.org/officeDocument/2006/relationships/tags" Target="../tags/tag24.xml"/><Relationship Id="rId15" Type="http://schemas.openxmlformats.org/officeDocument/2006/relationships/tags" Target="../tags/tag34.xml"/><Relationship Id="rId10" Type="http://schemas.openxmlformats.org/officeDocument/2006/relationships/tags" Target="../tags/tag29.xml"/><Relationship Id="rId4" Type="http://schemas.openxmlformats.org/officeDocument/2006/relationships/tags" Target="../tags/tag23.xml"/><Relationship Id="rId9" Type="http://schemas.openxmlformats.org/officeDocument/2006/relationships/tags" Target="../tags/tag28.xml"/><Relationship Id="rId14" Type="http://schemas.openxmlformats.org/officeDocument/2006/relationships/tags" Target="../tags/tag3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emf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9.emf"/><Relationship Id="rId9" Type="http://schemas.openxmlformats.org/officeDocument/2006/relationships/image" Target="../media/image22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9.emf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13" Type="http://schemas.openxmlformats.org/officeDocument/2006/relationships/oleObject" Target="../embeddings/oleObject12.bin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31.emf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e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7.bin"/><Relationship Id="rId10" Type="http://schemas.openxmlformats.org/officeDocument/2006/relationships/image" Target="../media/image21.emf"/><Relationship Id="rId4" Type="http://schemas.openxmlformats.org/officeDocument/2006/relationships/image" Target="../media/image19.e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32.emf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33.emf"/><Relationship Id="rId4" Type="http://schemas.openxmlformats.org/officeDocument/2006/relationships/oleObject" Target="../embeddings/oleObject13.bin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第一章 搜索問題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什麼是搜索問題？</a:t>
            </a:r>
            <a:endParaRPr lang="en-US" altLang="zh-CN" dirty="0"/>
          </a:p>
          <a:p>
            <a:r>
              <a:rPr lang="zh-CN" altLang="en-US" dirty="0"/>
              <a:t>從自動導航說起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0852F71-2316-6E03-CE7C-BEC16F59F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7469" y="994290"/>
            <a:ext cx="4580482" cy="5249437"/>
          </a:xfrm>
          <a:prstGeom prst="rect">
            <a:avLst/>
          </a:prstGeom>
        </p:spPr>
      </p:pic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937EE63F-0F08-D509-F17E-283F28B16F6C}"/>
              </a:ext>
            </a:extLst>
          </p:cNvPr>
          <p:cNvCxnSpPr>
            <a:cxnSpLocks/>
          </p:cNvCxnSpPr>
          <p:nvPr/>
        </p:nvCxnSpPr>
        <p:spPr>
          <a:xfrm>
            <a:off x="7149574" y="4154496"/>
            <a:ext cx="349776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2318F75E-687D-9280-0E7F-740ADF4A9281}"/>
              </a:ext>
            </a:extLst>
          </p:cNvPr>
          <p:cNvCxnSpPr>
            <a:cxnSpLocks/>
          </p:cNvCxnSpPr>
          <p:nvPr/>
        </p:nvCxnSpPr>
        <p:spPr>
          <a:xfrm flipV="1">
            <a:off x="7176744" y="3857565"/>
            <a:ext cx="0" cy="296931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D98E6806-AF15-0A77-AB98-825F29B75AA4}"/>
              </a:ext>
            </a:extLst>
          </p:cNvPr>
          <p:cNvCxnSpPr>
            <a:cxnSpLocks/>
            <a:endCxn id="9" idx="7"/>
          </p:cNvCxnSpPr>
          <p:nvPr/>
        </p:nvCxnSpPr>
        <p:spPr>
          <a:xfrm>
            <a:off x="7470415" y="4154496"/>
            <a:ext cx="0" cy="941604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4245C652-C25C-BCCF-11E2-28AB716F7006}"/>
              </a:ext>
            </a:extLst>
          </p:cNvPr>
          <p:cNvSpPr/>
          <p:nvPr/>
        </p:nvSpPr>
        <p:spPr>
          <a:xfrm>
            <a:off x="6942132" y="3490096"/>
            <a:ext cx="390293" cy="3679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終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872D3FE9-F564-B23A-9A28-01F054A1667B}"/>
              </a:ext>
            </a:extLst>
          </p:cNvPr>
          <p:cNvSpPr/>
          <p:nvPr/>
        </p:nvSpPr>
        <p:spPr>
          <a:xfrm>
            <a:off x="7137279" y="5042209"/>
            <a:ext cx="390293" cy="367991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起</a:t>
            </a:r>
          </a:p>
        </p:txBody>
      </p:sp>
    </p:spTree>
    <p:extLst>
      <p:ext uri="{BB962C8B-B14F-4D97-AF65-F5344CB8AC3E}">
        <p14:creationId xmlns:p14="http://schemas.microsoft.com/office/powerpoint/2010/main" val="1426773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C54941F-B3B4-41B7-B57C-4DBF7C9AC447}" type="slidenum">
              <a:rPr lang="en-US" altLang="zh-CN" smtClean="0">
                <a:ea typeface="黑体" pitchFamily="49" charset="-122"/>
              </a:rPr>
              <a:pPr/>
              <a:t>2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906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搜索問題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4648200"/>
          </a:xfrm>
        </p:spPr>
        <p:txBody>
          <a:bodyPr/>
          <a:lstStyle/>
          <a:p>
            <a:pPr eaLnBrk="1" hangingPunct="1"/>
            <a:r>
              <a:rPr lang="zh-CN" altLang="en-US" sz="3200" b="1" dirty="0"/>
              <a:t>內容：</a:t>
            </a:r>
          </a:p>
          <a:p>
            <a:pPr lvl="1"/>
            <a:r>
              <a:rPr lang="zh-CN" altLang="en-US" sz="2800" b="1" dirty="0"/>
              <a:t>狀態空間的搜索問題</a:t>
            </a:r>
          </a:p>
          <a:p>
            <a:pPr eaLnBrk="1" hangingPunct="1"/>
            <a:r>
              <a:rPr lang="zh-CN" altLang="en-US" sz="3200" b="1" dirty="0"/>
              <a:t>搜索方式：</a:t>
            </a:r>
          </a:p>
          <a:p>
            <a:pPr lvl="1" eaLnBrk="1" hangingPunct="1"/>
            <a:r>
              <a:rPr lang="zh-CN" altLang="en-US" sz="2800" b="1" dirty="0"/>
              <a:t>盲目搜索</a:t>
            </a:r>
          </a:p>
          <a:p>
            <a:pPr lvl="1" eaLnBrk="1" hangingPunct="1"/>
            <a:r>
              <a:rPr lang="zh-CN" altLang="en-US" sz="2800" b="1" dirty="0"/>
              <a:t>啟發式搜索</a:t>
            </a:r>
          </a:p>
          <a:p>
            <a:pPr eaLnBrk="1" hangingPunct="1"/>
            <a:r>
              <a:rPr lang="zh-CN" altLang="en-US" sz="3200" b="1" dirty="0"/>
              <a:t>關鍵問題：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3200" b="1" dirty="0"/>
              <a:t>	如何利用知識，盡可能有效地找到問題的解（最佳解）。</a:t>
            </a:r>
            <a:endParaRPr lang="zh-CN" altLang="en-US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搜索問題（續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914400" y="1755058"/>
            <a:ext cx="7772400" cy="4264742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問題舉例：</a:t>
            </a:r>
            <a:endParaRPr lang="en-US" altLang="zh-CN" sz="3200" b="1" dirty="0"/>
          </a:p>
          <a:p>
            <a:pPr lvl="1"/>
            <a:r>
              <a:rPr lang="zh-CN" altLang="en-US" sz="2800" b="1" dirty="0"/>
              <a:t>地圖路徑</a:t>
            </a:r>
            <a:endParaRPr lang="en-US" altLang="zh-CN" sz="2800" b="1" dirty="0"/>
          </a:p>
          <a:p>
            <a:pPr lvl="1"/>
            <a:r>
              <a:rPr lang="zh-CN" altLang="en-US" sz="2800" b="1" dirty="0"/>
              <a:t>傳教士和野人問題</a:t>
            </a:r>
            <a:endParaRPr lang="en-US" altLang="zh-CN" sz="2800" b="1" dirty="0"/>
          </a:p>
          <a:p>
            <a:pPr lvl="1"/>
            <a:r>
              <a:rPr lang="zh-CN" altLang="en-US" sz="2800" b="1" dirty="0"/>
              <a:t>華容道問題</a:t>
            </a:r>
            <a:endParaRPr lang="en-US" altLang="zh-CN" sz="2800" b="1" dirty="0"/>
          </a:p>
          <a:p>
            <a:pPr lvl="1"/>
            <a:r>
              <a:rPr lang="zh-CN" altLang="en-US" sz="2800" b="1" dirty="0"/>
              <a:t>八皇后問題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5272" y="4114541"/>
            <a:ext cx="2640227" cy="264022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108" y="4358073"/>
            <a:ext cx="2153164" cy="215316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6299" y="4466966"/>
            <a:ext cx="2580501" cy="19353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搜索問題（續</a:t>
            </a:r>
            <a:r>
              <a:rPr lang="en-US" altLang="zh-CN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zh-CN" alt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）</a:t>
            </a:r>
            <a:endParaRPr lang="zh-CN" altLang="en-US" dirty="0"/>
          </a:p>
        </p:txBody>
      </p:sp>
      <p:grpSp>
        <p:nvGrpSpPr>
          <p:cNvPr id="134146" name="Group 2"/>
          <p:cNvGrpSpPr>
            <a:grpSpLocks/>
          </p:cNvGrpSpPr>
          <p:nvPr/>
        </p:nvGrpSpPr>
        <p:grpSpPr bwMode="auto">
          <a:xfrm>
            <a:off x="2597149" y="1918571"/>
            <a:ext cx="4850785" cy="4157763"/>
            <a:chOff x="3240" y="3060"/>
            <a:chExt cx="4770" cy="4620"/>
          </a:xfrm>
        </p:grpSpPr>
        <p:sp>
          <p:nvSpPr>
            <p:cNvPr id="134147" name="AutoShape 3"/>
            <p:cNvSpPr>
              <a:spLocks noChangeArrowheads="1"/>
            </p:cNvSpPr>
            <p:nvPr/>
          </p:nvSpPr>
          <p:spPr bwMode="auto">
            <a:xfrm>
              <a:off x="3240" y="3555"/>
              <a:ext cx="3060" cy="3495"/>
            </a:xfrm>
            <a:prstGeom prst="flowChartExtra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4148" name="Freeform 4"/>
            <p:cNvSpPr>
              <a:spLocks/>
            </p:cNvSpPr>
            <p:nvPr/>
          </p:nvSpPr>
          <p:spPr bwMode="auto">
            <a:xfrm>
              <a:off x="3780" y="3585"/>
              <a:ext cx="990" cy="3465"/>
            </a:xfrm>
            <a:custGeom>
              <a:avLst/>
              <a:gdLst/>
              <a:ahLst/>
              <a:cxnLst>
                <a:cxn ang="0">
                  <a:pos x="990" y="0"/>
                </a:cxn>
                <a:cxn ang="0">
                  <a:pos x="840" y="630"/>
                </a:cxn>
                <a:cxn ang="0">
                  <a:pos x="825" y="975"/>
                </a:cxn>
                <a:cxn ang="0">
                  <a:pos x="810" y="1500"/>
                </a:cxn>
                <a:cxn ang="0">
                  <a:pos x="660" y="1785"/>
                </a:cxn>
                <a:cxn ang="0">
                  <a:pos x="390" y="2055"/>
                </a:cxn>
                <a:cxn ang="0">
                  <a:pos x="435" y="2535"/>
                </a:cxn>
                <a:cxn ang="0">
                  <a:pos x="360" y="3030"/>
                </a:cxn>
                <a:cxn ang="0">
                  <a:pos x="0" y="3465"/>
                </a:cxn>
              </a:cxnLst>
              <a:rect l="0" t="0" r="r" b="b"/>
              <a:pathLst>
                <a:path w="990" h="3465">
                  <a:moveTo>
                    <a:pt x="990" y="0"/>
                  </a:moveTo>
                  <a:lnTo>
                    <a:pt x="840" y="630"/>
                  </a:lnTo>
                  <a:lnTo>
                    <a:pt x="825" y="975"/>
                  </a:lnTo>
                  <a:lnTo>
                    <a:pt x="810" y="1500"/>
                  </a:lnTo>
                  <a:lnTo>
                    <a:pt x="660" y="1785"/>
                  </a:lnTo>
                  <a:lnTo>
                    <a:pt x="390" y="2055"/>
                  </a:lnTo>
                  <a:lnTo>
                    <a:pt x="435" y="2535"/>
                  </a:lnTo>
                  <a:lnTo>
                    <a:pt x="360" y="3030"/>
                  </a:lnTo>
                  <a:lnTo>
                    <a:pt x="0" y="3465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4149" name="Freeform 5"/>
            <p:cNvSpPr>
              <a:spLocks/>
            </p:cNvSpPr>
            <p:nvPr/>
          </p:nvSpPr>
          <p:spPr bwMode="auto">
            <a:xfrm>
              <a:off x="4770" y="3600"/>
              <a:ext cx="870" cy="34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5" y="465"/>
                </a:cxn>
                <a:cxn ang="0">
                  <a:pos x="195" y="975"/>
                </a:cxn>
                <a:cxn ang="0">
                  <a:pos x="285" y="1605"/>
                </a:cxn>
                <a:cxn ang="0">
                  <a:pos x="435" y="2280"/>
                </a:cxn>
                <a:cxn ang="0">
                  <a:pos x="705" y="2775"/>
                </a:cxn>
                <a:cxn ang="0">
                  <a:pos x="810" y="3180"/>
                </a:cxn>
                <a:cxn ang="0">
                  <a:pos x="870" y="3450"/>
                </a:cxn>
              </a:cxnLst>
              <a:rect l="0" t="0" r="r" b="b"/>
              <a:pathLst>
                <a:path w="870" h="3450">
                  <a:moveTo>
                    <a:pt x="0" y="0"/>
                  </a:moveTo>
                  <a:lnTo>
                    <a:pt x="45" y="465"/>
                  </a:lnTo>
                  <a:lnTo>
                    <a:pt x="195" y="975"/>
                  </a:lnTo>
                  <a:lnTo>
                    <a:pt x="285" y="1605"/>
                  </a:lnTo>
                  <a:lnTo>
                    <a:pt x="435" y="2280"/>
                  </a:lnTo>
                  <a:lnTo>
                    <a:pt x="705" y="2775"/>
                  </a:lnTo>
                  <a:lnTo>
                    <a:pt x="810" y="3180"/>
                  </a:lnTo>
                  <a:lnTo>
                    <a:pt x="870" y="345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4150" name="Freeform 6"/>
            <p:cNvSpPr>
              <a:spLocks/>
            </p:cNvSpPr>
            <p:nvPr/>
          </p:nvSpPr>
          <p:spPr bwMode="auto">
            <a:xfrm>
              <a:off x="4530" y="3555"/>
              <a:ext cx="585" cy="3495"/>
            </a:xfrm>
            <a:custGeom>
              <a:avLst/>
              <a:gdLst/>
              <a:ahLst/>
              <a:cxnLst>
                <a:cxn ang="0">
                  <a:pos x="240" y="0"/>
                </a:cxn>
                <a:cxn ang="0">
                  <a:pos x="180" y="720"/>
                </a:cxn>
                <a:cxn ang="0">
                  <a:pos x="345" y="1185"/>
                </a:cxn>
                <a:cxn ang="0">
                  <a:pos x="45" y="1905"/>
                </a:cxn>
                <a:cxn ang="0">
                  <a:pos x="585" y="2865"/>
                </a:cxn>
                <a:cxn ang="0">
                  <a:pos x="0" y="3495"/>
                </a:cxn>
              </a:cxnLst>
              <a:rect l="0" t="0" r="r" b="b"/>
              <a:pathLst>
                <a:path w="585" h="3495">
                  <a:moveTo>
                    <a:pt x="240" y="0"/>
                  </a:moveTo>
                  <a:lnTo>
                    <a:pt x="180" y="720"/>
                  </a:lnTo>
                  <a:lnTo>
                    <a:pt x="345" y="1185"/>
                  </a:lnTo>
                  <a:lnTo>
                    <a:pt x="45" y="1905"/>
                  </a:lnTo>
                  <a:lnTo>
                    <a:pt x="585" y="2865"/>
                  </a:lnTo>
                  <a:lnTo>
                    <a:pt x="0" y="3495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34151" name="Line 7"/>
            <p:cNvSpPr>
              <a:spLocks noChangeShapeType="1"/>
            </p:cNvSpPr>
            <p:nvPr/>
          </p:nvSpPr>
          <p:spPr bwMode="auto">
            <a:xfrm flipV="1">
              <a:off x="5010" y="6705"/>
              <a:ext cx="54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4152" name="Line 8"/>
            <p:cNvSpPr>
              <a:spLocks noChangeShapeType="1"/>
            </p:cNvSpPr>
            <p:nvPr/>
          </p:nvSpPr>
          <p:spPr bwMode="auto">
            <a:xfrm flipV="1">
              <a:off x="4635" y="6420"/>
              <a:ext cx="870" cy="6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4153" name="Line 9"/>
            <p:cNvSpPr>
              <a:spLocks noChangeShapeType="1"/>
            </p:cNvSpPr>
            <p:nvPr/>
          </p:nvSpPr>
          <p:spPr bwMode="auto">
            <a:xfrm flipV="1">
              <a:off x="4260" y="6225"/>
              <a:ext cx="1140" cy="8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4154" name="Line 10"/>
            <p:cNvSpPr>
              <a:spLocks noChangeShapeType="1"/>
            </p:cNvSpPr>
            <p:nvPr/>
          </p:nvSpPr>
          <p:spPr bwMode="auto">
            <a:xfrm flipV="1">
              <a:off x="3930" y="6060"/>
              <a:ext cx="1350" cy="99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4155" name="Line 11"/>
            <p:cNvSpPr>
              <a:spLocks noChangeShapeType="1"/>
            </p:cNvSpPr>
            <p:nvPr/>
          </p:nvSpPr>
          <p:spPr bwMode="auto">
            <a:xfrm flipV="1">
              <a:off x="4155" y="5880"/>
              <a:ext cx="1065" cy="7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4156" name="Line 12"/>
            <p:cNvSpPr>
              <a:spLocks noChangeShapeType="1"/>
            </p:cNvSpPr>
            <p:nvPr/>
          </p:nvSpPr>
          <p:spPr bwMode="auto">
            <a:xfrm flipV="1">
              <a:off x="4185" y="5655"/>
              <a:ext cx="975" cy="69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4157" name="Line 13"/>
            <p:cNvSpPr>
              <a:spLocks noChangeShapeType="1"/>
            </p:cNvSpPr>
            <p:nvPr/>
          </p:nvSpPr>
          <p:spPr bwMode="auto">
            <a:xfrm flipV="1">
              <a:off x="4215" y="5355"/>
              <a:ext cx="855" cy="64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4158" name="Line 14"/>
            <p:cNvSpPr>
              <a:spLocks noChangeShapeType="1"/>
            </p:cNvSpPr>
            <p:nvPr/>
          </p:nvSpPr>
          <p:spPr bwMode="auto">
            <a:xfrm flipV="1">
              <a:off x="4185" y="5085"/>
              <a:ext cx="840" cy="6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4159" name="Line 15"/>
            <p:cNvSpPr>
              <a:spLocks noChangeShapeType="1"/>
            </p:cNvSpPr>
            <p:nvPr/>
          </p:nvSpPr>
          <p:spPr bwMode="auto">
            <a:xfrm flipV="1">
              <a:off x="4545" y="4770"/>
              <a:ext cx="450" cy="40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4160" name="Line 16"/>
            <p:cNvSpPr>
              <a:spLocks noChangeShapeType="1"/>
            </p:cNvSpPr>
            <p:nvPr/>
          </p:nvSpPr>
          <p:spPr bwMode="auto">
            <a:xfrm flipV="1">
              <a:off x="4605" y="4500"/>
              <a:ext cx="330" cy="31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4161" name="Line 17"/>
            <p:cNvSpPr>
              <a:spLocks noChangeShapeType="1"/>
            </p:cNvSpPr>
            <p:nvPr/>
          </p:nvSpPr>
          <p:spPr bwMode="auto">
            <a:xfrm flipV="1">
              <a:off x="4620" y="4215"/>
              <a:ext cx="225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4162" name="Line 18"/>
            <p:cNvSpPr>
              <a:spLocks noChangeShapeType="1"/>
            </p:cNvSpPr>
            <p:nvPr/>
          </p:nvSpPr>
          <p:spPr bwMode="auto">
            <a:xfrm flipV="1">
              <a:off x="4650" y="3945"/>
              <a:ext cx="150" cy="1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4163" name="Oval 19"/>
            <p:cNvSpPr>
              <a:spLocks noChangeArrowheads="1"/>
            </p:cNvSpPr>
            <p:nvPr/>
          </p:nvSpPr>
          <p:spPr bwMode="auto">
            <a:xfrm>
              <a:off x="4485" y="6960"/>
              <a:ext cx="143" cy="14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4164" name="Oval 20"/>
            <p:cNvSpPr>
              <a:spLocks noChangeArrowheads="1"/>
            </p:cNvSpPr>
            <p:nvPr/>
          </p:nvSpPr>
          <p:spPr bwMode="auto">
            <a:xfrm>
              <a:off x="5025" y="6330"/>
              <a:ext cx="143" cy="14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4165" name="Oval 21"/>
            <p:cNvSpPr>
              <a:spLocks noChangeArrowheads="1"/>
            </p:cNvSpPr>
            <p:nvPr/>
          </p:nvSpPr>
          <p:spPr bwMode="auto">
            <a:xfrm>
              <a:off x="4515" y="5370"/>
              <a:ext cx="143" cy="14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4166" name="Oval 22"/>
            <p:cNvSpPr>
              <a:spLocks noChangeArrowheads="1"/>
            </p:cNvSpPr>
            <p:nvPr/>
          </p:nvSpPr>
          <p:spPr bwMode="auto">
            <a:xfrm>
              <a:off x="4815" y="4650"/>
              <a:ext cx="143" cy="14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4167" name="Oval 23"/>
            <p:cNvSpPr>
              <a:spLocks noChangeArrowheads="1"/>
            </p:cNvSpPr>
            <p:nvPr/>
          </p:nvSpPr>
          <p:spPr bwMode="auto">
            <a:xfrm>
              <a:off x="4650" y="4140"/>
              <a:ext cx="143" cy="14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4168" name="Text Box 24"/>
            <p:cNvSpPr txBox="1">
              <a:spLocks noChangeArrowheads="1"/>
            </p:cNvSpPr>
            <p:nvPr/>
          </p:nvSpPr>
          <p:spPr bwMode="auto">
            <a:xfrm>
              <a:off x="4455" y="3060"/>
              <a:ext cx="795" cy="48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  <a:cs typeface="宋体" pitchFamily="2" charset="-122"/>
                </a:rPr>
                <a:t>S</a:t>
              </a:r>
              <a:r>
                <a:rPr kumimoji="0" lang="en-US" altLang="zh-CN" b="1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  <a:cs typeface="宋体" pitchFamily="2" charset="-122"/>
                </a:rPr>
                <a:t>0</a:t>
              </a:r>
              <a:endParaRPr kumimoji="0" lang="zh-CN" altLang="zh-CN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34169" name="AutoShape 25"/>
            <p:cNvSpPr>
              <a:spLocks noChangeArrowheads="1"/>
            </p:cNvSpPr>
            <p:nvPr/>
          </p:nvSpPr>
          <p:spPr bwMode="auto">
            <a:xfrm>
              <a:off x="6150" y="3585"/>
              <a:ext cx="1860" cy="450"/>
            </a:xfrm>
            <a:prstGeom prst="wedgeRectCallout">
              <a:avLst>
                <a:gd name="adj1" fmla="val -105644"/>
                <a:gd name="adj2" fmla="val 173333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  <a:cs typeface="宋体" pitchFamily="2" charset="-122"/>
                </a:rPr>
                <a:t>問題全狀態空間</a:t>
              </a:r>
              <a:endParaRPr kumimoji="0" lang="zh-CN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34170" name="AutoShape 26"/>
            <p:cNvSpPr>
              <a:spLocks noChangeArrowheads="1"/>
            </p:cNvSpPr>
            <p:nvPr/>
          </p:nvSpPr>
          <p:spPr bwMode="auto">
            <a:xfrm>
              <a:off x="5940" y="4425"/>
              <a:ext cx="1260" cy="450"/>
            </a:xfrm>
            <a:prstGeom prst="wedgeRectCallout">
              <a:avLst>
                <a:gd name="adj1" fmla="val -132144"/>
                <a:gd name="adj2" fmla="val 173333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  <a:cs typeface="宋体" pitchFamily="2" charset="-122"/>
                </a:rPr>
                <a:t>搜索空間</a:t>
              </a:r>
              <a:endParaRPr kumimoji="0" lang="zh-CN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34171" name="AutoShape 27"/>
            <p:cNvSpPr>
              <a:spLocks noChangeArrowheads="1"/>
            </p:cNvSpPr>
            <p:nvPr/>
          </p:nvSpPr>
          <p:spPr bwMode="auto">
            <a:xfrm>
              <a:off x="6000" y="5130"/>
              <a:ext cx="1260" cy="450"/>
            </a:xfrm>
            <a:prstGeom prst="wedgeRectCallout">
              <a:avLst>
                <a:gd name="adj1" fmla="val -132144"/>
                <a:gd name="adj2" fmla="val 173333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  <a:cs typeface="宋体" pitchFamily="2" charset="-122"/>
                </a:rPr>
                <a:t>解路徑</a:t>
              </a:r>
              <a:endParaRPr kumimoji="0" lang="zh-CN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34172" name="Text Box 28"/>
            <p:cNvSpPr txBox="1">
              <a:spLocks noChangeArrowheads="1"/>
            </p:cNvSpPr>
            <p:nvPr/>
          </p:nvSpPr>
          <p:spPr bwMode="auto">
            <a:xfrm>
              <a:off x="4170" y="7200"/>
              <a:ext cx="795" cy="48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  <a:cs typeface="宋体" pitchFamily="2" charset="-122"/>
                </a:rPr>
                <a:t>S</a:t>
              </a:r>
              <a:r>
                <a:rPr kumimoji="0" lang="en-US" altLang="zh-CN" b="1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  <a:cs typeface="宋体" pitchFamily="2" charset="-122"/>
                </a:rPr>
                <a:t>g</a:t>
              </a:r>
              <a:endParaRPr kumimoji="0" lang="zh-CN" altLang="zh-CN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6B59F20-37A8-4022-AF6D-61C7891DC590}" type="slidenum">
              <a:rPr lang="en-US" altLang="zh-CN" smtClean="0">
                <a:ea typeface="黑体" pitchFamily="49" charset="-122"/>
              </a:rPr>
              <a:pPr/>
              <a:t>5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搜索問題（續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sz="3200" b="1" dirty="0"/>
              <a:t>討論的問題：</a:t>
            </a:r>
          </a:p>
          <a:p>
            <a:pPr lvl="1" eaLnBrk="1" hangingPunct="1"/>
            <a:endParaRPr lang="zh-CN" altLang="en-US" sz="3200" b="1" dirty="0"/>
          </a:p>
          <a:p>
            <a:pPr lvl="1" eaLnBrk="1" hangingPunct="1"/>
            <a:r>
              <a:rPr lang="zh-CN" altLang="en-US" sz="2800" b="1" dirty="0"/>
              <a:t>有哪些常用的搜索演算法。</a:t>
            </a:r>
          </a:p>
          <a:p>
            <a:pPr lvl="1" eaLnBrk="1" hangingPunct="1"/>
            <a:r>
              <a:rPr lang="zh-CN" altLang="en-US" sz="2800" b="1" dirty="0"/>
              <a:t>問題有解時能否找到解。</a:t>
            </a:r>
          </a:p>
          <a:p>
            <a:pPr lvl="1" eaLnBrk="1" hangingPunct="1"/>
            <a:r>
              <a:rPr lang="zh-CN" altLang="en-US" sz="2800" b="1" dirty="0"/>
              <a:t>找到的解是最佳的嗎？</a:t>
            </a:r>
          </a:p>
          <a:p>
            <a:pPr lvl="1" eaLnBrk="1" hangingPunct="1"/>
            <a:r>
              <a:rPr lang="zh-CN" altLang="en-US" sz="2800" b="1" dirty="0"/>
              <a:t>什麼情況下可以找到最佳解？</a:t>
            </a:r>
          </a:p>
          <a:p>
            <a:pPr lvl="1" eaLnBrk="1" hangingPunct="1"/>
            <a:r>
              <a:rPr lang="zh-CN" altLang="en-US" sz="2800" b="1" dirty="0"/>
              <a:t>求解的效率如何。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1" grpId="0" build="p" bldLvl="2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盲目搜索與啟發式搜索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en-US" sz="3200" b="1" dirty="0"/>
              <a:t>盲目搜索：</a:t>
            </a:r>
            <a:endParaRPr lang="en-US" altLang="zh-CN" sz="3200" b="1" dirty="0"/>
          </a:p>
          <a:p>
            <a:pPr lvl="1"/>
            <a:r>
              <a:rPr lang="zh-CN" altLang="en-US" sz="2800" b="1" dirty="0"/>
              <a:t>深度優先搜索</a:t>
            </a:r>
            <a:endParaRPr lang="en-US" altLang="zh-CN" sz="2800" b="1" dirty="0"/>
          </a:p>
          <a:p>
            <a:pPr lvl="1"/>
            <a:r>
              <a:rPr lang="zh-CN" altLang="en-US" sz="2800" b="1" dirty="0"/>
              <a:t>寬度優先搜索</a:t>
            </a:r>
            <a:endParaRPr lang="en-US" altLang="zh-CN" sz="2800" b="1" dirty="0"/>
          </a:p>
          <a:p>
            <a:pPr lvl="1"/>
            <a:endParaRPr lang="en-US" altLang="zh-CN" sz="2800" b="1" dirty="0"/>
          </a:p>
          <a:p>
            <a:r>
              <a:rPr lang="zh-CN" altLang="en-US" sz="3200" b="1" dirty="0"/>
              <a:t>啟發式搜索</a:t>
            </a:r>
            <a:endParaRPr lang="en-US" altLang="zh-CN" sz="3200" b="1" dirty="0"/>
          </a:p>
          <a:p>
            <a:pPr lvl="1"/>
            <a:r>
              <a:rPr lang="en-US" altLang="zh-CN" sz="2800" b="1" dirty="0"/>
              <a:t>A</a:t>
            </a:r>
            <a:r>
              <a:rPr lang="zh-CN" altLang="en-US" sz="2800" b="1" dirty="0"/>
              <a:t>演算法</a:t>
            </a:r>
            <a:endParaRPr lang="en-US" altLang="zh-CN" sz="2800" b="1" dirty="0"/>
          </a:p>
          <a:p>
            <a:pPr lvl="1"/>
            <a:r>
              <a:rPr lang="en-US" altLang="zh-CN" sz="2800" b="1" dirty="0"/>
              <a:t>A*</a:t>
            </a:r>
            <a:r>
              <a:rPr lang="zh-CN" altLang="en-US" sz="2800" b="1" dirty="0"/>
              <a:t>演算法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搜索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b="1" dirty="0"/>
              <a:t>如何選擇一個節點擴展？</a:t>
            </a:r>
          </a:p>
        </p:txBody>
      </p:sp>
      <p:grpSp>
        <p:nvGrpSpPr>
          <p:cNvPr id="44" name="组合 43"/>
          <p:cNvGrpSpPr/>
          <p:nvPr/>
        </p:nvGrpSpPr>
        <p:grpSpPr>
          <a:xfrm>
            <a:off x="2139097" y="2396837"/>
            <a:ext cx="4878221" cy="3317750"/>
            <a:chOff x="2333069" y="2396837"/>
            <a:chExt cx="4878221" cy="3317750"/>
          </a:xfrm>
        </p:grpSpPr>
        <p:grpSp>
          <p:nvGrpSpPr>
            <p:cNvPr id="27" name="组合 26"/>
            <p:cNvGrpSpPr/>
            <p:nvPr/>
          </p:nvGrpSpPr>
          <p:grpSpPr>
            <a:xfrm>
              <a:off x="2333069" y="2396837"/>
              <a:ext cx="4878221" cy="2590800"/>
              <a:chOff x="2333069" y="2396837"/>
              <a:chExt cx="4878221" cy="2590800"/>
            </a:xfrm>
          </p:grpSpPr>
          <p:grpSp>
            <p:nvGrpSpPr>
              <p:cNvPr id="25" name="组合 24"/>
              <p:cNvGrpSpPr/>
              <p:nvPr/>
            </p:nvGrpSpPr>
            <p:grpSpPr>
              <a:xfrm>
                <a:off x="2660073" y="2396837"/>
                <a:ext cx="4142096" cy="2590800"/>
                <a:chOff x="2057400" y="2523276"/>
                <a:chExt cx="4142096" cy="2590800"/>
              </a:xfrm>
            </p:grpSpPr>
            <p:sp>
              <p:nvSpPr>
                <p:cNvPr id="4" name="Oval 4"/>
                <p:cNvSpPr>
                  <a:spLocks noChangeArrowheads="1"/>
                </p:cNvSpPr>
                <p:nvPr/>
              </p:nvSpPr>
              <p:spPr bwMode="auto">
                <a:xfrm>
                  <a:off x="4038600" y="2523276"/>
                  <a:ext cx="152400" cy="15240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" name="Oval 5"/>
                <p:cNvSpPr>
                  <a:spLocks noChangeArrowheads="1"/>
                </p:cNvSpPr>
                <p:nvPr/>
              </p:nvSpPr>
              <p:spPr bwMode="auto">
                <a:xfrm>
                  <a:off x="3276600" y="3132876"/>
                  <a:ext cx="152400" cy="15240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" name="Oval 6"/>
                <p:cNvSpPr>
                  <a:spLocks noChangeArrowheads="1"/>
                </p:cNvSpPr>
                <p:nvPr/>
              </p:nvSpPr>
              <p:spPr bwMode="auto">
                <a:xfrm>
                  <a:off x="4876800" y="3132876"/>
                  <a:ext cx="152400" cy="15240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" name="Oval 7"/>
                <p:cNvSpPr>
                  <a:spLocks noChangeArrowheads="1"/>
                </p:cNvSpPr>
                <p:nvPr/>
              </p:nvSpPr>
              <p:spPr bwMode="auto">
                <a:xfrm>
                  <a:off x="2971800" y="4047276"/>
                  <a:ext cx="152400" cy="15240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" name="Oval 8"/>
                <p:cNvSpPr>
                  <a:spLocks noChangeArrowheads="1"/>
                </p:cNvSpPr>
                <p:nvPr/>
              </p:nvSpPr>
              <p:spPr bwMode="auto">
                <a:xfrm>
                  <a:off x="5257800" y="4047276"/>
                  <a:ext cx="152400" cy="15240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" name="Oval 9"/>
                <p:cNvSpPr>
                  <a:spLocks noChangeArrowheads="1"/>
                </p:cNvSpPr>
                <p:nvPr/>
              </p:nvSpPr>
              <p:spPr bwMode="auto">
                <a:xfrm>
                  <a:off x="3657600" y="4047276"/>
                  <a:ext cx="152400" cy="15240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" name="Oval 10"/>
                <p:cNvSpPr>
                  <a:spLocks noChangeArrowheads="1"/>
                </p:cNvSpPr>
                <p:nvPr/>
              </p:nvSpPr>
              <p:spPr bwMode="auto">
                <a:xfrm>
                  <a:off x="6047096" y="4088220"/>
                  <a:ext cx="152400" cy="15240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" name="Oval 11"/>
                <p:cNvSpPr>
                  <a:spLocks noChangeArrowheads="1"/>
                </p:cNvSpPr>
                <p:nvPr/>
              </p:nvSpPr>
              <p:spPr bwMode="auto">
                <a:xfrm>
                  <a:off x="2057400" y="3992684"/>
                  <a:ext cx="152400" cy="15240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" name="Oval 12"/>
                <p:cNvSpPr>
                  <a:spLocks noChangeArrowheads="1"/>
                </p:cNvSpPr>
                <p:nvPr/>
              </p:nvSpPr>
              <p:spPr bwMode="auto">
                <a:xfrm>
                  <a:off x="4495800" y="4047276"/>
                  <a:ext cx="152400" cy="15240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" name="Line 13"/>
                <p:cNvSpPr>
                  <a:spLocks noChangeShapeType="1"/>
                </p:cNvSpPr>
                <p:nvPr/>
              </p:nvSpPr>
              <p:spPr bwMode="auto">
                <a:xfrm flipH="1">
                  <a:off x="3352800" y="2675676"/>
                  <a:ext cx="762000" cy="4572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" name="Line 14"/>
                <p:cNvSpPr>
                  <a:spLocks noChangeShapeType="1"/>
                </p:cNvSpPr>
                <p:nvPr/>
              </p:nvSpPr>
              <p:spPr bwMode="auto">
                <a:xfrm>
                  <a:off x="4114800" y="2675676"/>
                  <a:ext cx="838200" cy="4572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" name="Line 15"/>
                <p:cNvSpPr>
                  <a:spLocks noChangeShapeType="1"/>
                </p:cNvSpPr>
                <p:nvPr/>
              </p:nvSpPr>
              <p:spPr bwMode="auto">
                <a:xfrm flipH="1">
                  <a:off x="2133600" y="3306884"/>
                  <a:ext cx="1219200" cy="6858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6" name="Line 16"/>
                <p:cNvSpPr>
                  <a:spLocks noChangeShapeType="1"/>
                </p:cNvSpPr>
                <p:nvPr/>
              </p:nvSpPr>
              <p:spPr bwMode="auto">
                <a:xfrm flipH="1">
                  <a:off x="3034352" y="3320532"/>
                  <a:ext cx="304800" cy="7620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" name="Line 17"/>
                <p:cNvSpPr>
                  <a:spLocks noChangeShapeType="1"/>
                </p:cNvSpPr>
                <p:nvPr/>
              </p:nvSpPr>
              <p:spPr bwMode="auto">
                <a:xfrm>
                  <a:off x="3352800" y="3285276"/>
                  <a:ext cx="381000" cy="7620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8" name="Line 18"/>
                <p:cNvSpPr>
                  <a:spLocks noChangeShapeType="1"/>
                </p:cNvSpPr>
                <p:nvPr/>
              </p:nvSpPr>
              <p:spPr bwMode="auto">
                <a:xfrm flipH="1">
                  <a:off x="4572000" y="3285276"/>
                  <a:ext cx="381000" cy="7620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" name="Line 19"/>
                <p:cNvSpPr>
                  <a:spLocks noChangeShapeType="1"/>
                </p:cNvSpPr>
                <p:nvPr/>
              </p:nvSpPr>
              <p:spPr bwMode="auto">
                <a:xfrm>
                  <a:off x="4953000" y="3285276"/>
                  <a:ext cx="381000" cy="7620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0" name="Line 20"/>
                <p:cNvSpPr>
                  <a:spLocks noChangeShapeType="1"/>
                </p:cNvSpPr>
                <p:nvPr/>
              </p:nvSpPr>
              <p:spPr bwMode="auto">
                <a:xfrm>
                  <a:off x="5015552" y="3257980"/>
                  <a:ext cx="1066800" cy="8382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1" name="Oval 21"/>
                <p:cNvSpPr>
                  <a:spLocks noChangeArrowheads="1"/>
                </p:cNvSpPr>
                <p:nvPr/>
              </p:nvSpPr>
              <p:spPr bwMode="auto">
                <a:xfrm>
                  <a:off x="2743200" y="4961676"/>
                  <a:ext cx="152400" cy="15240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" name="Oval 22"/>
                <p:cNvSpPr>
                  <a:spLocks noChangeArrowheads="1"/>
                </p:cNvSpPr>
                <p:nvPr/>
              </p:nvSpPr>
              <p:spPr bwMode="auto">
                <a:xfrm>
                  <a:off x="3352800" y="4961676"/>
                  <a:ext cx="152400" cy="15240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3" name="Line 23"/>
                <p:cNvSpPr>
                  <a:spLocks noChangeShapeType="1"/>
                </p:cNvSpPr>
                <p:nvPr/>
              </p:nvSpPr>
              <p:spPr bwMode="auto">
                <a:xfrm flipH="1">
                  <a:off x="2819400" y="4199676"/>
                  <a:ext cx="228600" cy="7620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4" name="Line 24"/>
                <p:cNvSpPr>
                  <a:spLocks noChangeShapeType="1"/>
                </p:cNvSpPr>
                <p:nvPr/>
              </p:nvSpPr>
              <p:spPr bwMode="auto">
                <a:xfrm>
                  <a:off x="3048000" y="4199676"/>
                  <a:ext cx="381000" cy="7620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6" name="Oval 10"/>
              <p:cNvSpPr>
                <a:spLocks noChangeArrowheads="1"/>
              </p:cNvSpPr>
              <p:nvPr/>
            </p:nvSpPr>
            <p:spPr bwMode="auto">
              <a:xfrm>
                <a:off x="4683250" y="3214255"/>
                <a:ext cx="152400" cy="15240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cxnSp>
            <p:nvCxnSpPr>
              <p:cNvPr id="28" name="直接连接符 27"/>
              <p:cNvCxnSpPr>
                <a:stCxn id="14" idx="0"/>
                <a:endCxn id="26" idx="0"/>
              </p:cNvCxnSpPr>
              <p:nvPr/>
            </p:nvCxnSpPr>
            <p:spPr>
              <a:xfrm>
                <a:off x="4717473" y="2549237"/>
                <a:ext cx="41977" cy="66501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>
                <a:stCxn id="26" idx="5"/>
              </p:cNvCxnSpPr>
              <p:nvPr/>
            </p:nvCxnSpPr>
            <p:spPr>
              <a:xfrm>
                <a:off x="4813332" y="3344337"/>
                <a:ext cx="278213" cy="521908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>
                <a:off x="6725969" y="4114181"/>
                <a:ext cx="485321" cy="721056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 flipH="1">
                <a:off x="5887769" y="4061215"/>
                <a:ext cx="76200" cy="800078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>
                <a:stCxn id="12" idx="4"/>
              </p:cNvCxnSpPr>
              <p:nvPr/>
            </p:nvCxnSpPr>
            <p:spPr>
              <a:xfrm flipH="1">
                <a:off x="5091545" y="4073237"/>
                <a:ext cx="83128" cy="83820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>
                <a:off x="5261057" y="4144343"/>
                <a:ext cx="550512" cy="767094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>
                <a:stCxn id="11" idx="4"/>
              </p:cNvCxnSpPr>
              <p:nvPr/>
            </p:nvCxnSpPr>
            <p:spPr>
              <a:xfrm flipH="1">
                <a:off x="2333069" y="4018645"/>
                <a:ext cx="403204" cy="713096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6" name="直接连接符 35"/>
            <p:cNvCxnSpPr/>
            <p:nvPr/>
          </p:nvCxnSpPr>
          <p:spPr>
            <a:xfrm flipH="1">
              <a:off x="3634686" y="5001491"/>
              <a:ext cx="403204" cy="713096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>
              <a:off x="4373357" y="4073237"/>
              <a:ext cx="66612" cy="6096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>
              <a:off x="2772044" y="4018645"/>
              <a:ext cx="154626" cy="563562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>
              <a:off x="2926670" y="5017799"/>
              <a:ext cx="493982" cy="34024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>
              <a:off x="4059945" y="4958711"/>
              <a:ext cx="512469" cy="654834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46971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A7DA574-03C6-4B21-A5AA-C77B07E7D86E}" type="slidenum">
              <a:rPr lang="en-US" altLang="zh-CN" smtClean="0">
                <a:ea typeface="黑体" pitchFamily="49" charset="-122"/>
              </a:rPr>
              <a:pPr/>
              <a:t>8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zh-CN" dirty="0"/>
              <a:t>1.1 </a:t>
            </a:r>
            <a:r>
              <a:rPr lang="zh-CN" altLang="en-US" dirty="0"/>
              <a:t>深度優先搜索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696200" cy="4114800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</a:rPr>
              <a:t>優先擴展深度深的節點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sz="3200" b="1" dirty="0"/>
              <a:t>例：皇后問題</a:t>
            </a:r>
          </a:p>
        </p:txBody>
      </p:sp>
      <p:graphicFrame>
        <p:nvGraphicFramePr>
          <p:cNvPr id="5427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1847893"/>
              </p:ext>
            </p:extLst>
          </p:nvPr>
        </p:nvGraphicFramePr>
        <p:xfrm>
          <a:off x="2293938" y="3129540"/>
          <a:ext cx="3822700" cy="3200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6948886" imgH="4221152" progId="Word.Document.8">
                  <p:embed/>
                </p:oleObj>
              </mc:Choice>
              <mc:Fallback>
                <p:oleObj name="Document" r:id="rId3" imgW="6948886" imgH="4221152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3938" y="3129540"/>
                        <a:ext cx="3822700" cy="32008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5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2D0E26D-B4F4-4C4A-A8FC-EE1C3DDE4A98}" type="slidenum">
              <a:rPr lang="en-US" altLang="zh-CN" smtClean="0">
                <a:ea typeface="黑体" pitchFamily="49" charset="-122"/>
              </a:rPr>
              <a:pPr/>
              <a:t>9</a:t>
            </a:fld>
            <a:endParaRPr lang="en-US" altLang="zh-CN" dirty="0">
              <a:ea typeface="黑体" pitchFamily="49" charset="-122"/>
            </a:endParaRPr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4956175" y="300038"/>
          <a:ext cx="2874963" cy="259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091239" imgH="4625390" progId="Word.Document.8">
                  <p:embed/>
                </p:oleObj>
              </mc:Choice>
              <mc:Fallback>
                <p:oleObj name="Document" r:id="rId2" imgW="7091239" imgH="462539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175" y="300038"/>
                        <a:ext cx="2874963" cy="2595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2" name="Text Box 3"/>
          <p:cNvSpPr txBox="1">
            <a:spLocks noChangeArrowheads="1"/>
          </p:cNvSpPr>
          <p:nvPr/>
        </p:nvSpPr>
        <p:spPr bwMode="auto">
          <a:xfrm>
            <a:off x="1482725" y="876300"/>
            <a:ext cx="463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 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ABBD846-AAEB-47F8-984D-9E81B703D742}" type="slidenum">
              <a:rPr lang="en-US" altLang="zh-CN" smtClean="0">
                <a:ea typeface="黑体" pitchFamily="49" charset="-122"/>
              </a:rPr>
              <a:pPr/>
              <a:t>10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3076" name="Text Box 7"/>
          <p:cNvSpPr txBox="1">
            <a:spLocks noChangeArrowheads="1"/>
          </p:cNvSpPr>
          <p:nvPr/>
        </p:nvSpPr>
        <p:spPr bwMode="auto">
          <a:xfrm>
            <a:off x="1482725" y="876300"/>
            <a:ext cx="463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 )</a:t>
            </a:r>
          </a:p>
        </p:txBody>
      </p: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5105400" y="304800"/>
            <a:ext cx="438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  <a:latin typeface="Arial Black" pitchFamily="34" charset="0"/>
              </a:rPr>
              <a:t>Q</a:t>
            </a:r>
            <a:endParaRPr lang="en-US" altLang="zh-CN" dirty="0"/>
          </a:p>
        </p:txBody>
      </p:sp>
      <p:sp>
        <p:nvSpPr>
          <p:cNvPr id="3078" name="Text Box 9"/>
          <p:cNvSpPr txBox="1">
            <a:spLocks noChangeArrowheads="1"/>
          </p:cNvSpPr>
          <p:nvPr/>
        </p:nvSpPr>
        <p:spPr bwMode="auto">
          <a:xfrm>
            <a:off x="215900" y="1752600"/>
            <a:ext cx="971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>
                <a:solidFill>
                  <a:schemeClr val="tx2"/>
                </a:solidFill>
              </a:rPr>
              <a:t>((1,1))</a:t>
            </a:r>
            <a:endParaRPr lang="en-US" altLang="zh-CN" dirty="0"/>
          </a:p>
        </p:txBody>
      </p:sp>
      <p:sp>
        <p:nvSpPr>
          <p:cNvPr id="3079" name="Line 10"/>
          <p:cNvSpPr>
            <a:spLocks noChangeShapeType="1"/>
          </p:cNvSpPr>
          <p:nvPr/>
        </p:nvSpPr>
        <p:spPr bwMode="auto">
          <a:xfrm flipH="1">
            <a:off x="838200" y="1295400"/>
            <a:ext cx="685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7411" name="Object 2"/>
          <p:cNvGraphicFramePr>
            <a:graphicFrameLocks noChangeAspect="1"/>
          </p:cNvGraphicFramePr>
          <p:nvPr/>
        </p:nvGraphicFramePr>
        <p:xfrm>
          <a:off x="4956175" y="300038"/>
          <a:ext cx="2874963" cy="259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091239" imgH="4625390" progId="Word.Document.8">
                  <p:embed/>
                </p:oleObj>
              </mc:Choice>
              <mc:Fallback>
                <p:oleObj name="Document" r:id="rId2" imgW="7091239" imgH="462539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175" y="300038"/>
                        <a:ext cx="2874963" cy="2595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E047FD7-E15B-41D3-AD9B-882503309E77}" type="slidenum">
              <a:rPr lang="en-US" altLang="zh-CN" smtClean="0">
                <a:ea typeface="黑体" pitchFamily="49" charset="-122"/>
              </a:rPr>
              <a:pPr/>
              <a:t>11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4100" name="Text Box 9"/>
          <p:cNvSpPr txBox="1">
            <a:spLocks noChangeArrowheads="1"/>
          </p:cNvSpPr>
          <p:nvPr/>
        </p:nvSpPr>
        <p:spPr bwMode="auto">
          <a:xfrm>
            <a:off x="1482725" y="876300"/>
            <a:ext cx="463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 )</a:t>
            </a:r>
          </a:p>
        </p:txBody>
      </p:sp>
      <p:sp>
        <p:nvSpPr>
          <p:cNvPr id="4101" name="Text Box 10"/>
          <p:cNvSpPr txBox="1">
            <a:spLocks noChangeArrowheads="1"/>
          </p:cNvSpPr>
          <p:nvPr/>
        </p:nvSpPr>
        <p:spPr bwMode="auto">
          <a:xfrm>
            <a:off x="5105400" y="304800"/>
            <a:ext cx="438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  <a:latin typeface="Arial Black" pitchFamily="34" charset="0"/>
              </a:rPr>
              <a:t>Q</a:t>
            </a:r>
            <a:endParaRPr lang="en-US" altLang="zh-CN" dirty="0"/>
          </a:p>
        </p:txBody>
      </p:sp>
      <p:sp>
        <p:nvSpPr>
          <p:cNvPr id="4102" name="Text Box 12"/>
          <p:cNvSpPr txBox="1">
            <a:spLocks noChangeArrowheads="1"/>
          </p:cNvSpPr>
          <p:nvPr/>
        </p:nvSpPr>
        <p:spPr bwMode="auto">
          <a:xfrm>
            <a:off x="6324600" y="838200"/>
            <a:ext cx="438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  <a:latin typeface="Arial Black" pitchFamily="34" charset="0"/>
              </a:rPr>
              <a:t>Q</a:t>
            </a:r>
            <a:endParaRPr lang="en-US" altLang="zh-CN" dirty="0"/>
          </a:p>
        </p:txBody>
      </p:sp>
      <p:sp>
        <p:nvSpPr>
          <p:cNvPr id="4103" name="Text Box 13"/>
          <p:cNvSpPr txBox="1">
            <a:spLocks noChangeArrowheads="1"/>
          </p:cNvSpPr>
          <p:nvPr/>
        </p:nvSpPr>
        <p:spPr bwMode="auto">
          <a:xfrm>
            <a:off x="215900" y="1752600"/>
            <a:ext cx="971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((1,1))</a:t>
            </a:r>
          </a:p>
        </p:txBody>
      </p:sp>
      <p:sp>
        <p:nvSpPr>
          <p:cNvPr id="4104" name="Line 14"/>
          <p:cNvSpPr>
            <a:spLocks noChangeShapeType="1"/>
          </p:cNvSpPr>
          <p:nvPr/>
        </p:nvSpPr>
        <p:spPr bwMode="auto">
          <a:xfrm flipH="1">
            <a:off x="762000" y="12954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05" name="Text Box 15"/>
          <p:cNvSpPr txBox="1">
            <a:spLocks noChangeArrowheads="1"/>
          </p:cNvSpPr>
          <p:nvPr/>
        </p:nvSpPr>
        <p:spPr bwMode="auto">
          <a:xfrm>
            <a:off x="0" y="2971800"/>
            <a:ext cx="163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>
                <a:solidFill>
                  <a:schemeClr val="tx2"/>
                </a:solidFill>
              </a:rPr>
              <a:t>((1,1) (2,3))</a:t>
            </a:r>
            <a:endParaRPr lang="en-US" altLang="zh-CN" dirty="0"/>
          </a:p>
        </p:txBody>
      </p:sp>
      <p:sp>
        <p:nvSpPr>
          <p:cNvPr id="4106" name="Line 16"/>
          <p:cNvSpPr>
            <a:spLocks noChangeShapeType="1"/>
          </p:cNvSpPr>
          <p:nvPr/>
        </p:nvSpPr>
        <p:spPr bwMode="auto">
          <a:xfrm>
            <a:off x="609600" y="2286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8435" name="Object 2"/>
          <p:cNvGraphicFramePr>
            <a:graphicFrameLocks noChangeAspect="1"/>
          </p:cNvGraphicFramePr>
          <p:nvPr/>
        </p:nvGraphicFramePr>
        <p:xfrm>
          <a:off x="4956175" y="300038"/>
          <a:ext cx="2874963" cy="259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7091239" imgH="4625390" progId="Word.Document.8">
                  <p:embed/>
                </p:oleObj>
              </mc:Choice>
              <mc:Fallback>
                <p:oleObj name="Document" r:id="rId3" imgW="7091239" imgH="462539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175" y="300038"/>
                        <a:ext cx="2874963" cy="2595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4A9DBAD-C6BE-4468-854D-E051A86E5E72}" type="slidenum">
              <a:rPr lang="en-US" altLang="zh-CN" smtClean="0">
                <a:ea typeface="黑体" pitchFamily="49" charset="-122"/>
              </a:rPr>
              <a:pPr/>
              <a:t>12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5124" name="Text Box 3"/>
          <p:cNvSpPr txBox="1">
            <a:spLocks noChangeArrowheads="1"/>
          </p:cNvSpPr>
          <p:nvPr/>
        </p:nvSpPr>
        <p:spPr bwMode="auto">
          <a:xfrm>
            <a:off x="1482725" y="876300"/>
            <a:ext cx="463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 )</a:t>
            </a:r>
          </a:p>
        </p:txBody>
      </p:sp>
      <p:sp>
        <p:nvSpPr>
          <p:cNvPr id="5125" name="Text Box 4"/>
          <p:cNvSpPr txBox="1">
            <a:spLocks noChangeArrowheads="1"/>
          </p:cNvSpPr>
          <p:nvPr/>
        </p:nvSpPr>
        <p:spPr bwMode="auto">
          <a:xfrm>
            <a:off x="5105400" y="304800"/>
            <a:ext cx="438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  <a:latin typeface="Arial Black" pitchFamily="34" charset="0"/>
              </a:rPr>
              <a:t>Q</a:t>
            </a:r>
            <a:endParaRPr lang="en-US" altLang="zh-CN" dirty="0"/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215900" y="1752600"/>
            <a:ext cx="971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((1,1))</a:t>
            </a:r>
          </a:p>
        </p:txBody>
      </p:sp>
      <p:sp>
        <p:nvSpPr>
          <p:cNvPr id="5127" name="Line 7"/>
          <p:cNvSpPr>
            <a:spLocks noChangeShapeType="1"/>
          </p:cNvSpPr>
          <p:nvPr/>
        </p:nvSpPr>
        <p:spPr bwMode="auto">
          <a:xfrm flipH="1">
            <a:off x="762000" y="12954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8" name="Text Box 8"/>
          <p:cNvSpPr txBox="1">
            <a:spLocks noChangeArrowheads="1"/>
          </p:cNvSpPr>
          <p:nvPr/>
        </p:nvSpPr>
        <p:spPr bwMode="auto">
          <a:xfrm>
            <a:off x="0" y="2971800"/>
            <a:ext cx="163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((1,1) (2,3))</a:t>
            </a:r>
          </a:p>
        </p:txBody>
      </p:sp>
      <p:sp>
        <p:nvSpPr>
          <p:cNvPr id="5129" name="Line 9"/>
          <p:cNvSpPr>
            <a:spLocks noChangeShapeType="1"/>
          </p:cNvSpPr>
          <p:nvPr/>
        </p:nvSpPr>
        <p:spPr bwMode="auto">
          <a:xfrm>
            <a:off x="609600" y="2286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30" name="Line 10"/>
          <p:cNvSpPr>
            <a:spLocks noChangeShapeType="1"/>
          </p:cNvSpPr>
          <p:nvPr/>
        </p:nvSpPr>
        <p:spPr bwMode="auto">
          <a:xfrm flipV="1">
            <a:off x="838200" y="2209800"/>
            <a:ext cx="0" cy="6858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9459" name="Object 2"/>
          <p:cNvGraphicFramePr>
            <a:graphicFrameLocks noChangeAspect="1"/>
          </p:cNvGraphicFramePr>
          <p:nvPr/>
        </p:nvGraphicFramePr>
        <p:xfrm>
          <a:off x="4956175" y="300038"/>
          <a:ext cx="2874963" cy="259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091239" imgH="4625390" progId="Word.Document.8">
                  <p:embed/>
                </p:oleObj>
              </mc:Choice>
              <mc:Fallback>
                <p:oleObj name="Document" r:id="rId2" imgW="7091239" imgH="462539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175" y="300038"/>
                        <a:ext cx="2874963" cy="2595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1B90442-484D-4319-A9EC-3EFEDB15F360}" type="slidenum">
              <a:rPr lang="en-US" altLang="zh-CN" smtClean="0">
                <a:ea typeface="黑体" pitchFamily="49" charset="-122"/>
              </a:rPr>
              <a:pPr/>
              <a:t>13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6148" name="Text Box 3"/>
          <p:cNvSpPr txBox="1">
            <a:spLocks noChangeArrowheads="1"/>
          </p:cNvSpPr>
          <p:nvPr/>
        </p:nvSpPr>
        <p:spPr bwMode="auto">
          <a:xfrm>
            <a:off x="1482725" y="876300"/>
            <a:ext cx="463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 )</a:t>
            </a:r>
          </a:p>
        </p:txBody>
      </p:sp>
      <p:sp>
        <p:nvSpPr>
          <p:cNvPr id="6149" name="Text Box 4"/>
          <p:cNvSpPr txBox="1">
            <a:spLocks noChangeArrowheads="1"/>
          </p:cNvSpPr>
          <p:nvPr/>
        </p:nvSpPr>
        <p:spPr bwMode="auto">
          <a:xfrm>
            <a:off x="5105400" y="304800"/>
            <a:ext cx="438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  <a:latin typeface="Arial Black" pitchFamily="34" charset="0"/>
              </a:rPr>
              <a:t>Q</a:t>
            </a:r>
            <a:endParaRPr lang="en-US" altLang="zh-CN" dirty="0"/>
          </a:p>
        </p:txBody>
      </p:sp>
      <p:sp>
        <p:nvSpPr>
          <p:cNvPr id="6150" name="Text Box 5"/>
          <p:cNvSpPr txBox="1">
            <a:spLocks noChangeArrowheads="1"/>
          </p:cNvSpPr>
          <p:nvPr/>
        </p:nvSpPr>
        <p:spPr bwMode="auto">
          <a:xfrm>
            <a:off x="6934200" y="838200"/>
            <a:ext cx="438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  <a:latin typeface="Arial Black" pitchFamily="34" charset="0"/>
              </a:rPr>
              <a:t>Q</a:t>
            </a:r>
            <a:endParaRPr lang="en-US" altLang="zh-CN" dirty="0"/>
          </a:p>
        </p:txBody>
      </p:sp>
      <p:sp>
        <p:nvSpPr>
          <p:cNvPr id="6151" name="Text Box 6"/>
          <p:cNvSpPr txBox="1">
            <a:spLocks noChangeArrowheads="1"/>
          </p:cNvSpPr>
          <p:nvPr/>
        </p:nvSpPr>
        <p:spPr bwMode="auto">
          <a:xfrm>
            <a:off x="215900" y="1752600"/>
            <a:ext cx="971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((1,1))</a:t>
            </a:r>
          </a:p>
        </p:txBody>
      </p:sp>
      <p:sp>
        <p:nvSpPr>
          <p:cNvPr id="6152" name="Line 7"/>
          <p:cNvSpPr>
            <a:spLocks noChangeShapeType="1"/>
          </p:cNvSpPr>
          <p:nvPr/>
        </p:nvSpPr>
        <p:spPr bwMode="auto">
          <a:xfrm flipH="1">
            <a:off x="762000" y="12954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3" name="Text Box 8"/>
          <p:cNvSpPr txBox="1">
            <a:spLocks noChangeArrowheads="1"/>
          </p:cNvSpPr>
          <p:nvPr/>
        </p:nvSpPr>
        <p:spPr bwMode="auto">
          <a:xfrm>
            <a:off x="0" y="2971800"/>
            <a:ext cx="163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((1,1) (2,3))</a:t>
            </a:r>
          </a:p>
        </p:txBody>
      </p:sp>
      <p:sp>
        <p:nvSpPr>
          <p:cNvPr id="6154" name="Line 9"/>
          <p:cNvSpPr>
            <a:spLocks noChangeShapeType="1"/>
          </p:cNvSpPr>
          <p:nvPr/>
        </p:nvSpPr>
        <p:spPr bwMode="auto">
          <a:xfrm>
            <a:off x="609600" y="2286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5" name="Line 10"/>
          <p:cNvSpPr>
            <a:spLocks noChangeShapeType="1"/>
          </p:cNvSpPr>
          <p:nvPr/>
        </p:nvSpPr>
        <p:spPr bwMode="auto">
          <a:xfrm flipV="1">
            <a:off x="838200" y="2209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6" name="Text Box 11"/>
          <p:cNvSpPr txBox="1">
            <a:spLocks noChangeArrowheads="1"/>
          </p:cNvSpPr>
          <p:nvPr/>
        </p:nvSpPr>
        <p:spPr bwMode="auto">
          <a:xfrm>
            <a:off x="1981200" y="3048000"/>
            <a:ext cx="163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>
                <a:solidFill>
                  <a:schemeClr val="tx2"/>
                </a:solidFill>
              </a:rPr>
              <a:t>((1,1) (2,4))</a:t>
            </a:r>
            <a:endParaRPr lang="en-US" altLang="zh-CN" dirty="0"/>
          </a:p>
        </p:txBody>
      </p:sp>
      <p:sp>
        <p:nvSpPr>
          <p:cNvPr id="6157" name="Line 12"/>
          <p:cNvSpPr>
            <a:spLocks noChangeShapeType="1"/>
          </p:cNvSpPr>
          <p:nvPr/>
        </p:nvSpPr>
        <p:spPr bwMode="auto">
          <a:xfrm>
            <a:off x="1066800" y="2209800"/>
            <a:ext cx="1295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483" name="Object 2"/>
          <p:cNvGraphicFramePr>
            <a:graphicFrameLocks noChangeAspect="1"/>
          </p:cNvGraphicFramePr>
          <p:nvPr/>
        </p:nvGraphicFramePr>
        <p:xfrm>
          <a:off x="4956175" y="300038"/>
          <a:ext cx="2874963" cy="259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091239" imgH="4625390" progId="Word.Document.8">
                  <p:embed/>
                </p:oleObj>
              </mc:Choice>
              <mc:Fallback>
                <p:oleObj name="Document" r:id="rId2" imgW="7091239" imgH="462539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175" y="300038"/>
                        <a:ext cx="2874963" cy="2595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B768F59-0F6D-4271-B692-60A747C65495}" type="slidenum">
              <a:rPr lang="en-US" altLang="zh-CN" smtClean="0">
                <a:ea typeface="黑体" pitchFamily="49" charset="-122"/>
              </a:rPr>
              <a:pPr/>
              <a:t>14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7172" name="Text Box 9"/>
          <p:cNvSpPr txBox="1">
            <a:spLocks noChangeArrowheads="1"/>
          </p:cNvSpPr>
          <p:nvPr/>
        </p:nvSpPr>
        <p:spPr bwMode="auto">
          <a:xfrm>
            <a:off x="1482725" y="876300"/>
            <a:ext cx="463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 )</a:t>
            </a:r>
          </a:p>
        </p:txBody>
      </p:sp>
      <p:sp>
        <p:nvSpPr>
          <p:cNvPr id="7173" name="Text Box 10"/>
          <p:cNvSpPr txBox="1">
            <a:spLocks noChangeArrowheads="1"/>
          </p:cNvSpPr>
          <p:nvPr/>
        </p:nvSpPr>
        <p:spPr bwMode="auto">
          <a:xfrm>
            <a:off x="5105400" y="304800"/>
            <a:ext cx="438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  <a:latin typeface="Arial Black" pitchFamily="34" charset="0"/>
              </a:rPr>
              <a:t>Q</a:t>
            </a:r>
            <a:endParaRPr lang="en-US" altLang="zh-CN" dirty="0"/>
          </a:p>
        </p:txBody>
      </p:sp>
      <p:sp>
        <p:nvSpPr>
          <p:cNvPr id="7174" name="Text Box 11"/>
          <p:cNvSpPr txBox="1">
            <a:spLocks noChangeArrowheads="1"/>
          </p:cNvSpPr>
          <p:nvPr/>
        </p:nvSpPr>
        <p:spPr bwMode="auto">
          <a:xfrm>
            <a:off x="6934200" y="838200"/>
            <a:ext cx="438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  <a:latin typeface="Arial Black" pitchFamily="34" charset="0"/>
              </a:rPr>
              <a:t>Q</a:t>
            </a:r>
            <a:endParaRPr lang="en-US" altLang="zh-CN" dirty="0"/>
          </a:p>
        </p:txBody>
      </p:sp>
      <p:sp>
        <p:nvSpPr>
          <p:cNvPr id="7175" name="Text Box 12"/>
          <p:cNvSpPr txBox="1">
            <a:spLocks noChangeArrowheads="1"/>
          </p:cNvSpPr>
          <p:nvPr/>
        </p:nvSpPr>
        <p:spPr bwMode="auto">
          <a:xfrm>
            <a:off x="215900" y="1752600"/>
            <a:ext cx="971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((1,1))</a:t>
            </a:r>
          </a:p>
        </p:txBody>
      </p:sp>
      <p:sp>
        <p:nvSpPr>
          <p:cNvPr id="7176" name="Line 13"/>
          <p:cNvSpPr>
            <a:spLocks noChangeShapeType="1"/>
          </p:cNvSpPr>
          <p:nvPr/>
        </p:nvSpPr>
        <p:spPr bwMode="auto">
          <a:xfrm flipH="1">
            <a:off x="762000" y="12954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7" name="Text Box 14"/>
          <p:cNvSpPr txBox="1">
            <a:spLocks noChangeArrowheads="1"/>
          </p:cNvSpPr>
          <p:nvPr/>
        </p:nvSpPr>
        <p:spPr bwMode="auto">
          <a:xfrm>
            <a:off x="0" y="2971800"/>
            <a:ext cx="163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((1,1) (2,3))</a:t>
            </a:r>
          </a:p>
        </p:txBody>
      </p:sp>
      <p:sp>
        <p:nvSpPr>
          <p:cNvPr id="7178" name="Line 15"/>
          <p:cNvSpPr>
            <a:spLocks noChangeShapeType="1"/>
          </p:cNvSpPr>
          <p:nvPr/>
        </p:nvSpPr>
        <p:spPr bwMode="auto">
          <a:xfrm>
            <a:off x="609600" y="2286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9" name="Line 16"/>
          <p:cNvSpPr>
            <a:spLocks noChangeShapeType="1"/>
          </p:cNvSpPr>
          <p:nvPr/>
        </p:nvSpPr>
        <p:spPr bwMode="auto">
          <a:xfrm flipV="1">
            <a:off x="838200" y="2209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80" name="Text Box 17"/>
          <p:cNvSpPr txBox="1">
            <a:spLocks noChangeArrowheads="1"/>
          </p:cNvSpPr>
          <p:nvPr/>
        </p:nvSpPr>
        <p:spPr bwMode="auto">
          <a:xfrm>
            <a:off x="1981200" y="3048000"/>
            <a:ext cx="163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((1,1) (2,4))</a:t>
            </a:r>
          </a:p>
        </p:txBody>
      </p:sp>
      <p:sp>
        <p:nvSpPr>
          <p:cNvPr id="7181" name="Line 18"/>
          <p:cNvSpPr>
            <a:spLocks noChangeShapeType="1"/>
          </p:cNvSpPr>
          <p:nvPr/>
        </p:nvSpPr>
        <p:spPr bwMode="auto">
          <a:xfrm>
            <a:off x="1066800" y="2209800"/>
            <a:ext cx="1295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82" name="Text Box 19"/>
          <p:cNvSpPr txBox="1">
            <a:spLocks noChangeArrowheads="1"/>
          </p:cNvSpPr>
          <p:nvPr/>
        </p:nvSpPr>
        <p:spPr bwMode="auto">
          <a:xfrm>
            <a:off x="5715000" y="1371600"/>
            <a:ext cx="438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  <a:latin typeface="Arial Black" pitchFamily="34" charset="0"/>
              </a:rPr>
              <a:t>Q</a:t>
            </a:r>
            <a:endParaRPr lang="en-US" altLang="zh-CN" dirty="0"/>
          </a:p>
        </p:txBody>
      </p:sp>
      <p:sp>
        <p:nvSpPr>
          <p:cNvPr id="7183" name="Text Box 20"/>
          <p:cNvSpPr txBox="1">
            <a:spLocks noChangeArrowheads="1"/>
          </p:cNvSpPr>
          <p:nvPr/>
        </p:nvSpPr>
        <p:spPr bwMode="auto">
          <a:xfrm>
            <a:off x="76200" y="4191000"/>
            <a:ext cx="2292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>
                <a:solidFill>
                  <a:schemeClr val="tx2"/>
                </a:solidFill>
              </a:rPr>
              <a:t>((1,1) (2,4) (3.2))</a:t>
            </a:r>
            <a:endParaRPr lang="en-US" altLang="zh-CN" dirty="0"/>
          </a:p>
        </p:txBody>
      </p:sp>
      <p:sp>
        <p:nvSpPr>
          <p:cNvPr id="7184" name="Line 21"/>
          <p:cNvSpPr>
            <a:spLocks noChangeShapeType="1"/>
          </p:cNvSpPr>
          <p:nvPr/>
        </p:nvSpPr>
        <p:spPr bwMode="auto">
          <a:xfrm flipH="1">
            <a:off x="1143000" y="3581400"/>
            <a:ext cx="1295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1507" name="Object 2"/>
          <p:cNvGraphicFramePr>
            <a:graphicFrameLocks noChangeAspect="1"/>
          </p:cNvGraphicFramePr>
          <p:nvPr/>
        </p:nvGraphicFramePr>
        <p:xfrm>
          <a:off x="4956175" y="300038"/>
          <a:ext cx="2874963" cy="259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091239" imgH="4625390" progId="Word.Document.8">
                  <p:embed/>
                </p:oleObj>
              </mc:Choice>
              <mc:Fallback>
                <p:oleObj name="Document" r:id="rId2" imgW="7091239" imgH="462539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175" y="300038"/>
                        <a:ext cx="2874963" cy="2595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610C3F4-1000-4FE2-8D3E-043D6FC7406A}" type="slidenum">
              <a:rPr lang="en-US" altLang="zh-CN" smtClean="0">
                <a:ea typeface="黑体" pitchFamily="49" charset="-122"/>
              </a:rPr>
              <a:pPr/>
              <a:t>15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8196" name="Text Box 3"/>
          <p:cNvSpPr txBox="1">
            <a:spLocks noChangeArrowheads="1"/>
          </p:cNvSpPr>
          <p:nvPr/>
        </p:nvSpPr>
        <p:spPr bwMode="auto">
          <a:xfrm>
            <a:off x="1482725" y="876300"/>
            <a:ext cx="463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 )</a:t>
            </a:r>
          </a:p>
        </p:txBody>
      </p:sp>
      <p:sp>
        <p:nvSpPr>
          <p:cNvPr id="8197" name="Text Box 4"/>
          <p:cNvSpPr txBox="1">
            <a:spLocks noChangeArrowheads="1"/>
          </p:cNvSpPr>
          <p:nvPr/>
        </p:nvSpPr>
        <p:spPr bwMode="auto">
          <a:xfrm>
            <a:off x="5105400" y="304800"/>
            <a:ext cx="438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  <a:latin typeface="Arial Black" pitchFamily="34" charset="0"/>
              </a:rPr>
              <a:t>Q</a:t>
            </a:r>
            <a:endParaRPr lang="en-US" altLang="zh-CN" dirty="0"/>
          </a:p>
        </p:txBody>
      </p:sp>
      <p:sp>
        <p:nvSpPr>
          <p:cNvPr id="8198" name="Text Box 5"/>
          <p:cNvSpPr txBox="1">
            <a:spLocks noChangeArrowheads="1"/>
          </p:cNvSpPr>
          <p:nvPr/>
        </p:nvSpPr>
        <p:spPr bwMode="auto">
          <a:xfrm>
            <a:off x="6934200" y="838200"/>
            <a:ext cx="438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  <a:latin typeface="Arial Black" pitchFamily="34" charset="0"/>
              </a:rPr>
              <a:t>Q</a:t>
            </a:r>
            <a:endParaRPr lang="en-US" altLang="zh-CN" dirty="0"/>
          </a:p>
        </p:txBody>
      </p:sp>
      <p:sp>
        <p:nvSpPr>
          <p:cNvPr id="8199" name="Text Box 6"/>
          <p:cNvSpPr txBox="1">
            <a:spLocks noChangeArrowheads="1"/>
          </p:cNvSpPr>
          <p:nvPr/>
        </p:nvSpPr>
        <p:spPr bwMode="auto">
          <a:xfrm>
            <a:off x="215900" y="1752600"/>
            <a:ext cx="971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((1,1))</a:t>
            </a:r>
          </a:p>
        </p:txBody>
      </p:sp>
      <p:sp>
        <p:nvSpPr>
          <p:cNvPr id="8200" name="Line 7"/>
          <p:cNvSpPr>
            <a:spLocks noChangeShapeType="1"/>
          </p:cNvSpPr>
          <p:nvPr/>
        </p:nvSpPr>
        <p:spPr bwMode="auto">
          <a:xfrm flipH="1">
            <a:off x="762000" y="12954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1" name="Text Box 8"/>
          <p:cNvSpPr txBox="1">
            <a:spLocks noChangeArrowheads="1"/>
          </p:cNvSpPr>
          <p:nvPr/>
        </p:nvSpPr>
        <p:spPr bwMode="auto">
          <a:xfrm>
            <a:off x="0" y="2971800"/>
            <a:ext cx="163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((1,1) (2,3))</a:t>
            </a:r>
          </a:p>
        </p:txBody>
      </p:sp>
      <p:sp>
        <p:nvSpPr>
          <p:cNvPr id="8202" name="Line 9"/>
          <p:cNvSpPr>
            <a:spLocks noChangeShapeType="1"/>
          </p:cNvSpPr>
          <p:nvPr/>
        </p:nvSpPr>
        <p:spPr bwMode="auto">
          <a:xfrm>
            <a:off x="609600" y="2286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3" name="Line 10"/>
          <p:cNvSpPr>
            <a:spLocks noChangeShapeType="1"/>
          </p:cNvSpPr>
          <p:nvPr/>
        </p:nvSpPr>
        <p:spPr bwMode="auto">
          <a:xfrm flipV="1">
            <a:off x="838200" y="2209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4" name="Text Box 11"/>
          <p:cNvSpPr txBox="1">
            <a:spLocks noChangeArrowheads="1"/>
          </p:cNvSpPr>
          <p:nvPr/>
        </p:nvSpPr>
        <p:spPr bwMode="auto">
          <a:xfrm>
            <a:off x="1981200" y="3048000"/>
            <a:ext cx="163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((1,1) (2,4))</a:t>
            </a:r>
          </a:p>
        </p:txBody>
      </p:sp>
      <p:sp>
        <p:nvSpPr>
          <p:cNvPr id="8205" name="Line 12"/>
          <p:cNvSpPr>
            <a:spLocks noChangeShapeType="1"/>
          </p:cNvSpPr>
          <p:nvPr/>
        </p:nvSpPr>
        <p:spPr bwMode="auto">
          <a:xfrm>
            <a:off x="1066800" y="2209800"/>
            <a:ext cx="1295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6" name="Text Box 14"/>
          <p:cNvSpPr txBox="1">
            <a:spLocks noChangeArrowheads="1"/>
          </p:cNvSpPr>
          <p:nvPr/>
        </p:nvSpPr>
        <p:spPr bwMode="auto">
          <a:xfrm>
            <a:off x="76200" y="4191000"/>
            <a:ext cx="2292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((1,1) (2,4) (3.2))</a:t>
            </a:r>
          </a:p>
        </p:txBody>
      </p:sp>
      <p:sp>
        <p:nvSpPr>
          <p:cNvPr id="8207" name="Line 15"/>
          <p:cNvSpPr>
            <a:spLocks noChangeShapeType="1"/>
          </p:cNvSpPr>
          <p:nvPr/>
        </p:nvSpPr>
        <p:spPr bwMode="auto">
          <a:xfrm flipH="1">
            <a:off x="1143000" y="3581400"/>
            <a:ext cx="1295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8" name="Line 16"/>
          <p:cNvSpPr>
            <a:spLocks noChangeShapeType="1"/>
          </p:cNvSpPr>
          <p:nvPr/>
        </p:nvSpPr>
        <p:spPr bwMode="auto">
          <a:xfrm flipV="1">
            <a:off x="1752600" y="3657600"/>
            <a:ext cx="990600" cy="5334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2531" name="Object 2"/>
          <p:cNvGraphicFramePr>
            <a:graphicFrameLocks noChangeAspect="1"/>
          </p:cNvGraphicFramePr>
          <p:nvPr/>
        </p:nvGraphicFramePr>
        <p:xfrm>
          <a:off x="4956175" y="300038"/>
          <a:ext cx="2874963" cy="259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091239" imgH="4625390" progId="Word.Document.8">
                  <p:embed/>
                </p:oleObj>
              </mc:Choice>
              <mc:Fallback>
                <p:oleObj name="Document" r:id="rId2" imgW="7091239" imgH="462539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175" y="300038"/>
                        <a:ext cx="2874963" cy="2595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6E3AD81-A14E-42B2-A99F-3F3D8ED22147}" type="slidenum">
              <a:rPr lang="en-US" altLang="zh-CN" smtClean="0">
                <a:ea typeface="黑体" pitchFamily="49" charset="-122"/>
              </a:rPr>
              <a:pPr/>
              <a:t>16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9220" name="Text Box 3"/>
          <p:cNvSpPr txBox="1">
            <a:spLocks noChangeArrowheads="1"/>
          </p:cNvSpPr>
          <p:nvPr/>
        </p:nvSpPr>
        <p:spPr bwMode="auto">
          <a:xfrm>
            <a:off x="1482725" y="876300"/>
            <a:ext cx="463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 )</a:t>
            </a:r>
          </a:p>
        </p:txBody>
      </p:sp>
      <p:sp>
        <p:nvSpPr>
          <p:cNvPr id="9221" name="Text Box 4"/>
          <p:cNvSpPr txBox="1">
            <a:spLocks noChangeArrowheads="1"/>
          </p:cNvSpPr>
          <p:nvPr/>
        </p:nvSpPr>
        <p:spPr bwMode="auto">
          <a:xfrm>
            <a:off x="5105400" y="304800"/>
            <a:ext cx="438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  <a:latin typeface="Arial Black" pitchFamily="34" charset="0"/>
              </a:rPr>
              <a:t>Q</a:t>
            </a:r>
            <a:endParaRPr lang="en-US" altLang="zh-CN" dirty="0"/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215900" y="1752600"/>
            <a:ext cx="971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((1,1))</a:t>
            </a:r>
          </a:p>
        </p:txBody>
      </p:sp>
      <p:sp>
        <p:nvSpPr>
          <p:cNvPr id="9223" name="Line 7"/>
          <p:cNvSpPr>
            <a:spLocks noChangeShapeType="1"/>
          </p:cNvSpPr>
          <p:nvPr/>
        </p:nvSpPr>
        <p:spPr bwMode="auto">
          <a:xfrm flipH="1">
            <a:off x="762000" y="12954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4" name="Text Box 8"/>
          <p:cNvSpPr txBox="1">
            <a:spLocks noChangeArrowheads="1"/>
          </p:cNvSpPr>
          <p:nvPr/>
        </p:nvSpPr>
        <p:spPr bwMode="auto">
          <a:xfrm>
            <a:off x="0" y="2971800"/>
            <a:ext cx="163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((1,1) (2,3))</a:t>
            </a:r>
          </a:p>
        </p:txBody>
      </p:sp>
      <p:sp>
        <p:nvSpPr>
          <p:cNvPr id="9225" name="Line 9"/>
          <p:cNvSpPr>
            <a:spLocks noChangeShapeType="1"/>
          </p:cNvSpPr>
          <p:nvPr/>
        </p:nvSpPr>
        <p:spPr bwMode="auto">
          <a:xfrm>
            <a:off x="609600" y="2286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6" name="Line 10"/>
          <p:cNvSpPr>
            <a:spLocks noChangeShapeType="1"/>
          </p:cNvSpPr>
          <p:nvPr/>
        </p:nvSpPr>
        <p:spPr bwMode="auto">
          <a:xfrm flipV="1">
            <a:off x="838200" y="2209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7" name="Text Box 11"/>
          <p:cNvSpPr txBox="1">
            <a:spLocks noChangeArrowheads="1"/>
          </p:cNvSpPr>
          <p:nvPr/>
        </p:nvSpPr>
        <p:spPr bwMode="auto">
          <a:xfrm>
            <a:off x="1981200" y="3048000"/>
            <a:ext cx="163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((1,1) (2,4))</a:t>
            </a:r>
          </a:p>
        </p:txBody>
      </p:sp>
      <p:sp>
        <p:nvSpPr>
          <p:cNvPr id="9228" name="Line 12"/>
          <p:cNvSpPr>
            <a:spLocks noChangeShapeType="1"/>
          </p:cNvSpPr>
          <p:nvPr/>
        </p:nvSpPr>
        <p:spPr bwMode="auto">
          <a:xfrm>
            <a:off x="1066800" y="2209800"/>
            <a:ext cx="1295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9" name="Text Box 14"/>
          <p:cNvSpPr txBox="1">
            <a:spLocks noChangeArrowheads="1"/>
          </p:cNvSpPr>
          <p:nvPr/>
        </p:nvSpPr>
        <p:spPr bwMode="auto">
          <a:xfrm>
            <a:off x="76200" y="4191000"/>
            <a:ext cx="2292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((1,1) (2,4) (3.2))</a:t>
            </a:r>
          </a:p>
        </p:txBody>
      </p:sp>
      <p:sp>
        <p:nvSpPr>
          <p:cNvPr id="9230" name="Line 15"/>
          <p:cNvSpPr>
            <a:spLocks noChangeShapeType="1"/>
          </p:cNvSpPr>
          <p:nvPr/>
        </p:nvSpPr>
        <p:spPr bwMode="auto">
          <a:xfrm flipH="1">
            <a:off x="1143000" y="3581400"/>
            <a:ext cx="1295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31" name="Line 16"/>
          <p:cNvSpPr>
            <a:spLocks noChangeShapeType="1"/>
          </p:cNvSpPr>
          <p:nvPr/>
        </p:nvSpPr>
        <p:spPr bwMode="auto">
          <a:xfrm flipV="1">
            <a:off x="1752600" y="3657600"/>
            <a:ext cx="990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32" name="Line 17"/>
          <p:cNvSpPr>
            <a:spLocks noChangeShapeType="1"/>
          </p:cNvSpPr>
          <p:nvPr/>
        </p:nvSpPr>
        <p:spPr bwMode="auto">
          <a:xfrm flipH="1" flipV="1">
            <a:off x="1295400" y="2133600"/>
            <a:ext cx="1219200" cy="6858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3555" name="Object 2"/>
          <p:cNvGraphicFramePr>
            <a:graphicFrameLocks noChangeAspect="1"/>
          </p:cNvGraphicFramePr>
          <p:nvPr/>
        </p:nvGraphicFramePr>
        <p:xfrm>
          <a:off x="4956175" y="300038"/>
          <a:ext cx="2874963" cy="259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091239" imgH="4625390" progId="Word.Document.8">
                  <p:embed/>
                </p:oleObj>
              </mc:Choice>
              <mc:Fallback>
                <p:oleObj name="Document" r:id="rId2" imgW="7091239" imgH="462539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175" y="300038"/>
                        <a:ext cx="2874963" cy="2595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76FE3F2-519B-4811-AD3F-06D673144D80}" type="slidenum">
              <a:rPr lang="en-US" altLang="zh-CN" smtClean="0">
                <a:ea typeface="黑体" pitchFamily="49" charset="-122"/>
              </a:rPr>
              <a:pPr/>
              <a:t>17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10244" name="Text Box 16"/>
          <p:cNvSpPr txBox="1">
            <a:spLocks noChangeArrowheads="1"/>
          </p:cNvSpPr>
          <p:nvPr/>
        </p:nvSpPr>
        <p:spPr bwMode="auto">
          <a:xfrm>
            <a:off x="1482725" y="876300"/>
            <a:ext cx="463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 )</a:t>
            </a:r>
          </a:p>
        </p:txBody>
      </p:sp>
      <p:sp>
        <p:nvSpPr>
          <p:cNvPr id="10245" name="Text Box 18"/>
          <p:cNvSpPr txBox="1">
            <a:spLocks noChangeArrowheads="1"/>
          </p:cNvSpPr>
          <p:nvPr/>
        </p:nvSpPr>
        <p:spPr bwMode="auto">
          <a:xfrm>
            <a:off x="215900" y="1752600"/>
            <a:ext cx="971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((1,1))</a:t>
            </a:r>
          </a:p>
        </p:txBody>
      </p:sp>
      <p:sp>
        <p:nvSpPr>
          <p:cNvPr id="10246" name="Line 19"/>
          <p:cNvSpPr>
            <a:spLocks noChangeShapeType="1"/>
          </p:cNvSpPr>
          <p:nvPr/>
        </p:nvSpPr>
        <p:spPr bwMode="auto">
          <a:xfrm flipH="1">
            <a:off x="762000" y="12954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7" name="Text Box 20"/>
          <p:cNvSpPr txBox="1">
            <a:spLocks noChangeArrowheads="1"/>
          </p:cNvSpPr>
          <p:nvPr/>
        </p:nvSpPr>
        <p:spPr bwMode="auto">
          <a:xfrm>
            <a:off x="0" y="2971800"/>
            <a:ext cx="163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((1,1) (2,3))</a:t>
            </a:r>
          </a:p>
        </p:txBody>
      </p:sp>
      <p:sp>
        <p:nvSpPr>
          <p:cNvPr id="10248" name="Line 21"/>
          <p:cNvSpPr>
            <a:spLocks noChangeShapeType="1"/>
          </p:cNvSpPr>
          <p:nvPr/>
        </p:nvSpPr>
        <p:spPr bwMode="auto">
          <a:xfrm>
            <a:off x="609600" y="2286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9" name="Line 22"/>
          <p:cNvSpPr>
            <a:spLocks noChangeShapeType="1"/>
          </p:cNvSpPr>
          <p:nvPr/>
        </p:nvSpPr>
        <p:spPr bwMode="auto">
          <a:xfrm flipV="1">
            <a:off x="838200" y="2209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0" name="Text Box 23"/>
          <p:cNvSpPr txBox="1">
            <a:spLocks noChangeArrowheads="1"/>
          </p:cNvSpPr>
          <p:nvPr/>
        </p:nvSpPr>
        <p:spPr bwMode="auto">
          <a:xfrm>
            <a:off x="1981200" y="3048000"/>
            <a:ext cx="163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((1,1) (2,4))</a:t>
            </a:r>
          </a:p>
        </p:txBody>
      </p:sp>
      <p:sp>
        <p:nvSpPr>
          <p:cNvPr id="10251" name="Line 24"/>
          <p:cNvSpPr>
            <a:spLocks noChangeShapeType="1"/>
          </p:cNvSpPr>
          <p:nvPr/>
        </p:nvSpPr>
        <p:spPr bwMode="auto">
          <a:xfrm>
            <a:off x="1066800" y="2209800"/>
            <a:ext cx="1295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2" name="Text Box 25"/>
          <p:cNvSpPr txBox="1">
            <a:spLocks noChangeArrowheads="1"/>
          </p:cNvSpPr>
          <p:nvPr/>
        </p:nvSpPr>
        <p:spPr bwMode="auto">
          <a:xfrm>
            <a:off x="76200" y="4191000"/>
            <a:ext cx="2292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((1,1) (2,4) (3.2))</a:t>
            </a:r>
          </a:p>
        </p:txBody>
      </p:sp>
      <p:sp>
        <p:nvSpPr>
          <p:cNvPr id="10253" name="Line 26"/>
          <p:cNvSpPr>
            <a:spLocks noChangeShapeType="1"/>
          </p:cNvSpPr>
          <p:nvPr/>
        </p:nvSpPr>
        <p:spPr bwMode="auto">
          <a:xfrm flipH="1">
            <a:off x="1143000" y="3581400"/>
            <a:ext cx="1295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4" name="Line 27"/>
          <p:cNvSpPr>
            <a:spLocks noChangeShapeType="1"/>
          </p:cNvSpPr>
          <p:nvPr/>
        </p:nvSpPr>
        <p:spPr bwMode="auto">
          <a:xfrm flipV="1">
            <a:off x="1752600" y="3657600"/>
            <a:ext cx="990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5" name="Line 28"/>
          <p:cNvSpPr>
            <a:spLocks noChangeShapeType="1"/>
          </p:cNvSpPr>
          <p:nvPr/>
        </p:nvSpPr>
        <p:spPr bwMode="auto">
          <a:xfrm flipH="1" flipV="1">
            <a:off x="1295400" y="2133600"/>
            <a:ext cx="1219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6" name="Line 29"/>
          <p:cNvSpPr>
            <a:spLocks noChangeShapeType="1"/>
          </p:cNvSpPr>
          <p:nvPr/>
        </p:nvSpPr>
        <p:spPr bwMode="auto">
          <a:xfrm flipV="1">
            <a:off x="1143000" y="1447800"/>
            <a:ext cx="457200" cy="3048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4579" name="Object 2"/>
          <p:cNvGraphicFramePr>
            <a:graphicFrameLocks noChangeAspect="1"/>
          </p:cNvGraphicFramePr>
          <p:nvPr/>
        </p:nvGraphicFramePr>
        <p:xfrm>
          <a:off x="4956175" y="300038"/>
          <a:ext cx="2874963" cy="259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091239" imgH="4625390" progId="Word.Document.8">
                  <p:embed/>
                </p:oleObj>
              </mc:Choice>
              <mc:Fallback>
                <p:oleObj name="Document" r:id="rId2" imgW="7091239" imgH="462539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175" y="300038"/>
                        <a:ext cx="2874963" cy="2595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73CF3D2-ACA5-4CD9-9DEF-136DDC337C98}" type="slidenum">
              <a:rPr lang="en-US" altLang="zh-CN" smtClean="0">
                <a:ea typeface="黑体" pitchFamily="49" charset="-122"/>
              </a:rPr>
              <a:pPr/>
              <a:t>18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11268" name="Text Box 3"/>
          <p:cNvSpPr txBox="1">
            <a:spLocks noChangeArrowheads="1"/>
          </p:cNvSpPr>
          <p:nvPr/>
        </p:nvSpPr>
        <p:spPr bwMode="auto">
          <a:xfrm>
            <a:off x="1482725" y="876300"/>
            <a:ext cx="463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 )</a:t>
            </a:r>
          </a:p>
        </p:txBody>
      </p:sp>
      <p:sp>
        <p:nvSpPr>
          <p:cNvPr id="11269" name="Text Box 4"/>
          <p:cNvSpPr txBox="1">
            <a:spLocks noChangeArrowheads="1"/>
          </p:cNvSpPr>
          <p:nvPr/>
        </p:nvSpPr>
        <p:spPr bwMode="auto">
          <a:xfrm>
            <a:off x="215900" y="1752600"/>
            <a:ext cx="971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((1,1))</a:t>
            </a:r>
          </a:p>
        </p:txBody>
      </p:sp>
      <p:sp>
        <p:nvSpPr>
          <p:cNvPr id="11270" name="Line 5"/>
          <p:cNvSpPr>
            <a:spLocks noChangeShapeType="1"/>
          </p:cNvSpPr>
          <p:nvPr/>
        </p:nvSpPr>
        <p:spPr bwMode="auto">
          <a:xfrm flipH="1">
            <a:off x="762000" y="12954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1" name="Text Box 6"/>
          <p:cNvSpPr txBox="1">
            <a:spLocks noChangeArrowheads="1"/>
          </p:cNvSpPr>
          <p:nvPr/>
        </p:nvSpPr>
        <p:spPr bwMode="auto">
          <a:xfrm>
            <a:off x="0" y="2971800"/>
            <a:ext cx="163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((1,1) (2,3))</a:t>
            </a:r>
          </a:p>
        </p:txBody>
      </p:sp>
      <p:sp>
        <p:nvSpPr>
          <p:cNvPr id="11272" name="Line 7"/>
          <p:cNvSpPr>
            <a:spLocks noChangeShapeType="1"/>
          </p:cNvSpPr>
          <p:nvPr/>
        </p:nvSpPr>
        <p:spPr bwMode="auto">
          <a:xfrm>
            <a:off x="609600" y="2286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3" name="Line 8"/>
          <p:cNvSpPr>
            <a:spLocks noChangeShapeType="1"/>
          </p:cNvSpPr>
          <p:nvPr/>
        </p:nvSpPr>
        <p:spPr bwMode="auto">
          <a:xfrm flipV="1">
            <a:off x="838200" y="2209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4" name="Text Box 9"/>
          <p:cNvSpPr txBox="1">
            <a:spLocks noChangeArrowheads="1"/>
          </p:cNvSpPr>
          <p:nvPr/>
        </p:nvSpPr>
        <p:spPr bwMode="auto">
          <a:xfrm>
            <a:off x="1981200" y="3048000"/>
            <a:ext cx="163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((1,1) (2,4))</a:t>
            </a:r>
          </a:p>
        </p:txBody>
      </p:sp>
      <p:sp>
        <p:nvSpPr>
          <p:cNvPr id="11275" name="Line 10"/>
          <p:cNvSpPr>
            <a:spLocks noChangeShapeType="1"/>
          </p:cNvSpPr>
          <p:nvPr/>
        </p:nvSpPr>
        <p:spPr bwMode="auto">
          <a:xfrm>
            <a:off x="1066800" y="2209800"/>
            <a:ext cx="1295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6" name="Text Box 11"/>
          <p:cNvSpPr txBox="1">
            <a:spLocks noChangeArrowheads="1"/>
          </p:cNvSpPr>
          <p:nvPr/>
        </p:nvSpPr>
        <p:spPr bwMode="auto">
          <a:xfrm>
            <a:off x="76200" y="4191000"/>
            <a:ext cx="2292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((1,1) (2,4) (3.2))</a:t>
            </a:r>
          </a:p>
        </p:txBody>
      </p:sp>
      <p:sp>
        <p:nvSpPr>
          <p:cNvPr id="11277" name="Line 12"/>
          <p:cNvSpPr>
            <a:spLocks noChangeShapeType="1"/>
          </p:cNvSpPr>
          <p:nvPr/>
        </p:nvSpPr>
        <p:spPr bwMode="auto">
          <a:xfrm flipH="1">
            <a:off x="1143000" y="3581400"/>
            <a:ext cx="1295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8" name="Line 13"/>
          <p:cNvSpPr>
            <a:spLocks noChangeShapeType="1"/>
          </p:cNvSpPr>
          <p:nvPr/>
        </p:nvSpPr>
        <p:spPr bwMode="auto">
          <a:xfrm flipV="1">
            <a:off x="1752600" y="3657600"/>
            <a:ext cx="990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9" name="Line 14"/>
          <p:cNvSpPr>
            <a:spLocks noChangeShapeType="1"/>
          </p:cNvSpPr>
          <p:nvPr/>
        </p:nvSpPr>
        <p:spPr bwMode="auto">
          <a:xfrm flipH="1" flipV="1">
            <a:off x="1295400" y="2133600"/>
            <a:ext cx="1219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80" name="Line 15"/>
          <p:cNvSpPr>
            <a:spLocks noChangeShapeType="1"/>
          </p:cNvSpPr>
          <p:nvPr/>
        </p:nvSpPr>
        <p:spPr bwMode="auto">
          <a:xfrm flipV="1">
            <a:off x="1143000" y="1447800"/>
            <a:ext cx="457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81" name="Text Box 16"/>
          <p:cNvSpPr txBox="1">
            <a:spLocks noChangeArrowheads="1"/>
          </p:cNvSpPr>
          <p:nvPr/>
        </p:nvSpPr>
        <p:spPr bwMode="auto">
          <a:xfrm>
            <a:off x="5715000" y="304800"/>
            <a:ext cx="438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  <a:latin typeface="Arial Black" pitchFamily="34" charset="0"/>
              </a:rPr>
              <a:t>Q</a:t>
            </a:r>
            <a:endParaRPr lang="en-US" altLang="zh-CN" dirty="0"/>
          </a:p>
        </p:txBody>
      </p:sp>
      <p:sp>
        <p:nvSpPr>
          <p:cNvPr id="11282" name="Text Box 17"/>
          <p:cNvSpPr txBox="1">
            <a:spLocks noChangeArrowheads="1"/>
          </p:cNvSpPr>
          <p:nvPr/>
        </p:nvSpPr>
        <p:spPr bwMode="auto">
          <a:xfrm>
            <a:off x="3276600" y="1828800"/>
            <a:ext cx="971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>
                <a:solidFill>
                  <a:schemeClr val="tx2"/>
                </a:solidFill>
              </a:rPr>
              <a:t>((1,2))</a:t>
            </a:r>
            <a:endParaRPr lang="en-US" altLang="zh-CN" dirty="0"/>
          </a:p>
        </p:txBody>
      </p:sp>
      <p:sp>
        <p:nvSpPr>
          <p:cNvPr id="11283" name="Line 18"/>
          <p:cNvSpPr>
            <a:spLocks noChangeShapeType="1"/>
          </p:cNvSpPr>
          <p:nvPr/>
        </p:nvSpPr>
        <p:spPr bwMode="auto">
          <a:xfrm>
            <a:off x="1981200" y="1371600"/>
            <a:ext cx="1447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5603" name="Object 2"/>
          <p:cNvGraphicFramePr>
            <a:graphicFrameLocks noChangeAspect="1"/>
          </p:cNvGraphicFramePr>
          <p:nvPr/>
        </p:nvGraphicFramePr>
        <p:xfrm>
          <a:off x="4956175" y="300038"/>
          <a:ext cx="2874963" cy="259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091239" imgH="4625390" progId="Word.Document.8">
                  <p:embed/>
                </p:oleObj>
              </mc:Choice>
              <mc:Fallback>
                <p:oleObj name="Document" r:id="rId2" imgW="7091239" imgH="462539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175" y="300038"/>
                        <a:ext cx="2874963" cy="2595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08C3DD5-A510-4564-9CA6-FBE308EB08CD}" type="slidenum">
              <a:rPr lang="en-US" altLang="zh-CN" smtClean="0">
                <a:ea typeface="黑体" pitchFamily="49" charset="-122"/>
              </a:rPr>
              <a:pPr/>
              <a:t>19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12292" name="Text Box 3"/>
          <p:cNvSpPr txBox="1">
            <a:spLocks noChangeArrowheads="1"/>
          </p:cNvSpPr>
          <p:nvPr/>
        </p:nvSpPr>
        <p:spPr bwMode="auto">
          <a:xfrm>
            <a:off x="1482725" y="876300"/>
            <a:ext cx="463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 )</a:t>
            </a:r>
          </a:p>
        </p:txBody>
      </p:sp>
      <p:sp>
        <p:nvSpPr>
          <p:cNvPr id="12293" name="Text Box 4"/>
          <p:cNvSpPr txBox="1">
            <a:spLocks noChangeArrowheads="1"/>
          </p:cNvSpPr>
          <p:nvPr/>
        </p:nvSpPr>
        <p:spPr bwMode="auto">
          <a:xfrm>
            <a:off x="215900" y="1752600"/>
            <a:ext cx="971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((1,1))</a:t>
            </a:r>
          </a:p>
        </p:txBody>
      </p:sp>
      <p:sp>
        <p:nvSpPr>
          <p:cNvPr id="12294" name="Line 5"/>
          <p:cNvSpPr>
            <a:spLocks noChangeShapeType="1"/>
          </p:cNvSpPr>
          <p:nvPr/>
        </p:nvSpPr>
        <p:spPr bwMode="auto">
          <a:xfrm flipH="1">
            <a:off x="762000" y="12954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5" name="Text Box 6"/>
          <p:cNvSpPr txBox="1">
            <a:spLocks noChangeArrowheads="1"/>
          </p:cNvSpPr>
          <p:nvPr/>
        </p:nvSpPr>
        <p:spPr bwMode="auto">
          <a:xfrm>
            <a:off x="0" y="2971800"/>
            <a:ext cx="163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((1,1) (2,3))</a:t>
            </a:r>
          </a:p>
        </p:txBody>
      </p:sp>
      <p:sp>
        <p:nvSpPr>
          <p:cNvPr id="12296" name="Line 7"/>
          <p:cNvSpPr>
            <a:spLocks noChangeShapeType="1"/>
          </p:cNvSpPr>
          <p:nvPr/>
        </p:nvSpPr>
        <p:spPr bwMode="auto">
          <a:xfrm>
            <a:off x="609600" y="2286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7" name="Line 8"/>
          <p:cNvSpPr>
            <a:spLocks noChangeShapeType="1"/>
          </p:cNvSpPr>
          <p:nvPr/>
        </p:nvSpPr>
        <p:spPr bwMode="auto">
          <a:xfrm flipV="1">
            <a:off x="838200" y="2209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8" name="Text Box 9"/>
          <p:cNvSpPr txBox="1">
            <a:spLocks noChangeArrowheads="1"/>
          </p:cNvSpPr>
          <p:nvPr/>
        </p:nvSpPr>
        <p:spPr bwMode="auto">
          <a:xfrm>
            <a:off x="1981200" y="3048000"/>
            <a:ext cx="163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((1,1) (2,4))</a:t>
            </a:r>
          </a:p>
        </p:txBody>
      </p:sp>
      <p:sp>
        <p:nvSpPr>
          <p:cNvPr id="12299" name="Line 10"/>
          <p:cNvSpPr>
            <a:spLocks noChangeShapeType="1"/>
          </p:cNvSpPr>
          <p:nvPr/>
        </p:nvSpPr>
        <p:spPr bwMode="auto">
          <a:xfrm>
            <a:off x="1066800" y="2209800"/>
            <a:ext cx="1295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00" name="Text Box 11"/>
          <p:cNvSpPr txBox="1">
            <a:spLocks noChangeArrowheads="1"/>
          </p:cNvSpPr>
          <p:nvPr/>
        </p:nvSpPr>
        <p:spPr bwMode="auto">
          <a:xfrm>
            <a:off x="76200" y="4191000"/>
            <a:ext cx="2292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((1,1) (2,4) (3.2))</a:t>
            </a:r>
          </a:p>
        </p:txBody>
      </p:sp>
      <p:sp>
        <p:nvSpPr>
          <p:cNvPr id="12301" name="Line 12"/>
          <p:cNvSpPr>
            <a:spLocks noChangeShapeType="1"/>
          </p:cNvSpPr>
          <p:nvPr/>
        </p:nvSpPr>
        <p:spPr bwMode="auto">
          <a:xfrm flipH="1">
            <a:off x="1143000" y="3581400"/>
            <a:ext cx="1295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02" name="Line 13"/>
          <p:cNvSpPr>
            <a:spLocks noChangeShapeType="1"/>
          </p:cNvSpPr>
          <p:nvPr/>
        </p:nvSpPr>
        <p:spPr bwMode="auto">
          <a:xfrm flipV="1">
            <a:off x="1752600" y="3657600"/>
            <a:ext cx="990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03" name="Line 14"/>
          <p:cNvSpPr>
            <a:spLocks noChangeShapeType="1"/>
          </p:cNvSpPr>
          <p:nvPr/>
        </p:nvSpPr>
        <p:spPr bwMode="auto">
          <a:xfrm flipH="1" flipV="1">
            <a:off x="1295400" y="2133600"/>
            <a:ext cx="1219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04" name="Line 15"/>
          <p:cNvSpPr>
            <a:spLocks noChangeShapeType="1"/>
          </p:cNvSpPr>
          <p:nvPr/>
        </p:nvSpPr>
        <p:spPr bwMode="auto">
          <a:xfrm flipV="1">
            <a:off x="1143000" y="1447800"/>
            <a:ext cx="457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05" name="Text Box 16"/>
          <p:cNvSpPr txBox="1">
            <a:spLocks noChangeArrowheads="1"/>
          </p:cNvSpPr>
          <p:nvPr/>
        </p:nvSpPr>
        <p:spPr bwMode="auto">
          <a:xfrm>
            <a:off x="5715000" y="304800"/>
            <a:ext cx="438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  <a:latin typeface="Arial Black" pitchFamily="34" charset="0"/>
              </a:rPr>
              <a:t>Q</a:t>
            </a:r>
            <a:endParaRPr lang="en-US" altLang="zh-CN" dirty="0"/>
          </a:p>
        </p:txBody>
      </p:sp>
      <p:sp>
        <p:nvSpPr>
          <p:cNvPr id="12306" name="Text Box 17"/>
          <p:cNvSpPr txBox="1">
            <a:spLocks noChangeArrowheads="1"/>
          </p:cNvSpPr>
          <p:nvPr/>
        </p:nvSpPr>
        <p:spPr bwMode="auto">
          <a:xfrm>
            <a:off x="3276600" y="1828800"/>
            <a:ext cx="971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((1,2))</a:t>
            </a:r>
          </a:p>
        </p:txBody>
      </p:sp>
      <p:sp>
        <p:nvSpPr>
          <p:cNvPr id="12307" name="Line 18"/>
          <p:cNvSpPr>
            <a:spLocks noChangeShapeType="1"/>
          </p:cNvSpPr>
          <p:nvPr/>
        </p:nvSpPr>
        <p:spPr bwMode="auto">
          <a:xfrm>
            <a:off x="1981200" y="1371600"/>
            <a:ext cx="1447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08" name="Text Box 19"/>
          <p:cNvSpPr txBox="1">
            <a:spLocks noChangeArrowheads="1"/>
          </p:cNvSpPr>
          <p:nvPr/>
        </p:nvSpPr>
        <p:spPr bwMode="auto">
          <a:xfrm>
            <a:off x="6934200" y="838200"/>
            <a:ext cx="438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  <a:latin typeface="Arial Black" pitchFamily="34" charset="0"/>
              </a:rPr>
              <a:t>Q</a:t>
            </a:r>
            <a:endParaRPr lang="en-US" altLang="zh-CN" dirty="0"/>
          </a:p>
        </p:txBody>
      </p:sp>
      <p:sp>
        <p:nvSpPr>
          <p:cNvPr id="12309" name="Text Box 20"/>
          <p:cNvSpPr txBox="1">
            <a:spLocks noChangeArrowheads="1"/>
          </p:cNvSpPr>
          <p:nvPr/>
        </p:nvSpPr>
        <p:spPr bwMode="auto">
          <a:xfrm>
            <a:off x="4114800" y="3200400"/>
            <a:ext cx="163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>
                <a:solidFill>
                  <a:schemeClr val="tx2"/>
                </a:solidFill>
              </a:rPr>
              <a:t>((1,2) (2,4))</a:t>
            </a:r>
            <a:endParaRPr lang="en-US" altLang="zh-CN" dirty="0"/>
          </a:p>
        </p:txBody>
      </p:sp>
      <p:sp>
        <p:nvSpPr>
          <p:cNvPr id="12310" name="Line 21"/>
          <p:cNvSpPr>
            <a:spLocks noChangeShapeType="1"/>
          </p:cNvSpPr>
          <p:nvPr/>
        </p:nvSpPr>
        <p:spPr bwMode="auto">
          <a:xfrm>
            <a:off x="3962400" y="2362200"/>
            <a:ext cx="990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6627" name="Object 2"/>
          <p:cNvGraphicFramePr>
            <a:graphicFrameLocks noChangeAspect="1"/>
          </p:cNvGraphicFramePr>
          <p:nvPr/>
        </p:nvGraphicFramePr>
        <p:xfrm>
          <a:off x="4956175" y="300038"/>
          <a:ext cx="2874963" cy="259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091239" imgH="4625390" progId="Word.Document.8">
                  <p:embed/>
                </p:oleObj>
              </mc:Choice>
              <mc:Fallback>
                <p:oleObj name="Document" r:id="rId2" imgW="7091239" imgH="462539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175" y="300038"/>
                        <a:ext cx="2874963" cy="2595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49412B5-8CFF-4A19-A9B0-78C8D2790A5B}" type="slidenum">
              <a:rPr lang="en-US" altLang="zh-CN" smtClean="0">
                <a:ea typeface="黑体" pitchFamily="49" charset="-122"/>
              </a:rPr>
              <a:pPr/>
              <a:t>20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13316" name="Text Box 3"/>
          <p:cNvSpPr txBox="1">
            <a:spLocks noChangeArrowheads="1"/>
          </p:cNvSpPr>
          <p:nvPr/>
        </p:nvSpPr>
        <p:spPr bwMode="auto">
          <a:xfrm>
            <a:off x="1482725" y="876300"/>
            <a:ext cx="463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 )</a:t>
            </a:r>
          </a:p>
        </p:txBody>
      </p:sp>
      <p:sp>
        <p:nvSpPr>
          <p:cNvPr id="13317" name="Text Box 4"/>
          <p:cNvSpPr txBox="1">
            <a:spLocks noChangeArrowheads="1"/>
          </p:cNvSpPr>
          <p:nvPr/>
        </p:nvSpPr>
        <p:spPr bwMode="auto">
          <a:xfrm>
            <a:off x="215900" y="1752600"/>
            <a:ext cx="971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((1,1))</a:t>
            </a:r>
          </a:p>
        </p:txBody>
      </p:sp>
      <p:sp>
        <p:nvSpPr>
          <p:cNvPr id="13318" name="Line 5"/>
          <p:cNvSpPr>
            <a:spLocks noChangeShapeType="1"/>
          </p:cNvSpPr>
          <p:nvPr/>
        </p:nvSpPr>
        <p:spPr bwMode="auto">
          <a:xfrm flipH="1">
            <a:off x="762000" y="12954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9" name="Text Box 6"/>
          <p:cNvSpPr txBox="1">
            <a:spLocks noChangeArrowheads="1"/>
          </p:cNvSpPr>
          <p:nvPr/>
        </p:nvSpPr>
        <p:spPr bwMode="auto">
          <a:xfrm>
            <a:off x="0" y="2971800"/>
            <a:ext cx="163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((1,1) (2,3))</a:t>
            </a:r>
          </a:p>
        </p:txBody>
      </p:sp>
      <p:sp>
        <p:nvSpPr>
          <p:cNvPr id="13320" name="Line 7"/>
          <p:cNvSpPr>
            <a:spLocks noChangeShapeType="1"/>
          </p:cNvSpPr>
          <p:nvPr/>
        </p:nvSpPr>
        <p:spPr bwMode="auto">
          <a:xfrm>
            <a:off x="609600" y="2286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1" name="Line 8"/>
          <p:cNvSpPr>
            <a:spLocks noChangeShapeType="1"/>
          </p:cNvSpPr>
          <p:nvPr/>
        </p:nvSpPr>
        <p:spPr bwMode="auto">
          <a:xfrm flipV="1">
            <a:off x="838200" y="2209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2" name="Text Box 9"/>
          <p:cNvSpPr txBox="1">
            <a:spLocks noChangeArrowheads="1"/>
          </p:cNvSpPr>
          <p:nvPr/>
        </p:nvSpPr>
        <p:spPr bwMode="auto">
          <a:xfrm>
            <a:off x="1981200" y="3048000"/>
            <a:ext cx="163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((1,1) (2,4))</a:t>
            </a:r>
          </a:p>
        </p:txBody>
      </p:sp>
      <p:sp>
        <p:nvSpPr>
          <p:cNvPr id="13323" name="Line 10"/>
          <p:cNvSpPr>
            <a:spLocks noChangeShapeType="1"/>
          </p:cNvSpPr>
          <p:nvPr/>
        </p:nvSpPr>
        <p:spPr bwMode="auto">
          <a:xfrm>
            <a:off x="1066800" y="2209800"/>
            <a:ext cx="1295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4" name="Text Box 11"/>
          <p:cNvSpPr txBox="1">
            <a:spLocks noChangeArrowheads="1"/>
          </p:cNvSpPr>
          <p:nvPr/>
        </p:nvSpPr>
        <p:spPr bwMode="auto">
          <a:xfrm>
            <a:off x="76200" y="4191000"/>
            <a:ext cx="2292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((1,1) (2,4) (3.2))</a:t>
            </a:r>
          </a:p>
        </p:txBody>
      </p:sp>
      <p:sp>
        <p:nvSpPr>
          <p:cNvPr id="13325" name="Line 12"/>
          <p:cNvSpPr>
            <a:spLocks noChangeShapeType="1"/>
          </p:cNvSpPr>
          <p:nvPr/>
        </p:nvSpPr>
        <p:spPr bwMode="auto">
          <a:xfrm flipH="1">
            <a:off x="1143000" y="3581400"/>
            <a:ext cx="1295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6" name="Line 13"/>
          <p:cNvSpPr>
            <a:spLocks noChangeShapeType="1"/>
          </p:cNvSpPr>
          <p:nvPr/>
        </p:nvSpPr>
        <p:spPr bwMode="auto">
          <a:xfrm flipV="1">
            <a:off x="1752600" y="3657600"/>
            <a:ext cx="990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7" name="Line 14"/>
          <p:cNvSpPr>
            <a:spLocks noChangeShapeType="1"/>
          </p:cNvSpPr>
          <p:nvPr/>
        </p:nvSpPr>
        <p:spPr bwMode="auto">
          <a:xfrm flipH="1" flipV="1">
            <a:off x="1295400" y="2133600"/>
            <a:ext cx="1219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8" name="Line 15"/>
          <p:cNvSpPr>
            <a:spLocks noChangeShapeType="1"/>
          </p:cNvSpPr>
          <p:nvPr/>
        </p:nvSpPr>
        <p:spPr bwMode="auto">
          <a:xfrm flipV="1">
            <a:off x="1143000" y="1447800"/>
            <a:ext cx="457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9" name="Text Box 16"/>
          <p:cNvSpPr txBox="1">
            <a:spLocks noChangeArrowheads="1"/>
          </p:cNvSpPr>
          <p:nvPr/>
        </p:nvSpPr>
        <p:spPr bwMode="auto">
          <a:xfrm>
            <a:off x="5715000" y="304800"/>
            <a:ext cx="438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  <a:latin typeface="Arial Black" pitchFamily="34" charset="0"/>
              </a:rPr>
              <a:t>Q</a:t>
            </a:r>
            <a:endParaRPr lang="en-US" altLang="zh-CN" dirty="0"/>
          </a:p>
        </p:txBody>
      </p:sp>
      <p:sp>
        <p:nvSpPr>
          <p:cNvPr id="13330" name="Text Box 17"/>
          <p:cNvSpPr txBox="1">
            <a:spLocks noChangeArrowheads="1"/>
          </p:cNvSpPr>
          <p:nvPr/>
        </p:nvSpPr>
        <p:spPr bwMode="auto">
          <a:xfrm>
            <a:off x="3276600" y="1828800"/>
            <a:ext cx="971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((1,2))</a:t>
            </a:r>
          </a:p>
        </p:txBody>
      </p:sp>
      <p:sp>
        <p:nvSpPr>
          <p:cNvPr id="13331" name="Line 18"/>
          <p:cNvSpPr>
            <a:spLocks noChangeShapeType="1"/>
          </p:cNvSpPr>
          <p:nvPr/>
        </p:nvSpPr>
        <p:spPr bwMode="auto">
          <a:xfrm>
            <a:off x="1981200" y="1371600"/>
            <a:ext cx="1447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32" name="Text Box 19"/>
          <p:cNvSpPr txBox="1">
            <a:spLocks noChangeArrowheads="1"/>
          </p:cNvSpPr>
          <p:nvPr/>
        </p:nvSpPr>
        <p:spPr bwMode="auto">
          <a:xfrm>
            <a:off x="6934200" y="838200"/>
            <a:ext cx="438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  <a:latin typeface="Arial Black" pitchFamily="34" charset="0"/>
              </a:rPr>
              <a:t>Q</a:t>
            </a:r>
            <a:endParaRPr lang="en-US" altLang="zh-CN" dirty="0"/>
          </a:p>
        </p:txBody>
      </p:sp>
      <p:sp>
        <p:nvSpPr>
          <p:cNvPr id="13333" name="Text Box 20"/>
          <p:cNvSpPr txBox="1">
            <a:spLocks noChangeArrowheads="1"/>
          </p:cNvSpPr>
          <p:nvPr/>
        </p:nvSpPr>
        <p:spPr bwMode="auto">
          <a:xfrm>
            <a:off x="4114800" y="3200400"/>
            <a:ext cx="163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((1,2) (2,4))</a:t>
            </a:r>
          </a:p>
        </p:txBody>
      </p:sp>
      <p:sp>
        <p:nvSpPr>
          <p:cNvPr id="13334" name="Line 21"/>
          <p:cNvSpPr>
            <a:spLocks noChangeShapeType="1"/>
          </p:cNvSpPr>
          <p:nvPr/>
        </p:nvSpPr>
        <p:spPr bwMode="auto">
          <a:xfrm>
            <a:off x="3962400" y="2362200"/>
            <a:ext cx="990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35" name="Text Box 22"/>
          <p:cNvSpPr txBox="1">
            <a:spLocks noChangeArrowheads="1"/>
          </p:cNvSpPr>
          <p:nvPr/>
        </p:nvSpPr>
        <p:spPr bwMode="auto">
          <a:xfrm>
            <a:off x="5105400" y="1371600"/>
            <a:ext cx="438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  <a:latin typeface="Arial Black" pitchFamily="34" charset="0"/>
              </a:rPr>
              <a:t>Q</a:t>
            </a:r>
            <a:endParaRPr lang="en-US" altLang="zh-CN" dirty="0"/>
          </a:p>
        </p:txBody>
      </p:sp>
      <p:sp>
        <p:nvSpPr>
          <p:cNvPr id="13336" name="Text Box 23"/>
          <p:cNvSpPr txBox="1">
            <a:spLocks noChangeArrowheads="1"/>
          </p:cNvSpPr>
          <p:nvPr/>
        </p:nvSpPr>
        <p:spPr bwMode="auto">
          <a:xfrm>
            <a:off x="3784600" y="4267200"/>
            <a:ext cx="2292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>
                <a:solidFill>
                  <a:schemeClr val="tx2"/>
                </a:solidFill>
              </a:rPr>
              <a:t>((1,2) (2,4) (3,1))</a:t>
            </a:r>
            <a:endParaRPr lang="en-US" altLang="zh-CN" dirty="0"/>
          </a:p>
        </p:txBody>
      </p:sp>
      <p:sp>
        <p:nvSpPr>
          <p:cNvPr id="13337" name="Line 24"/>
          <p:cNvSpPr>
            <a:spLocks noChangeShapeType="1"/>
          </p:cNvSpPr>
          <p:nvPr/>
        </p:nvSpPr>
        <p:spPr bwMode="auto">
          <a:xfrm>
            <a:off x="4953000" y="3733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7651" name="Object 2"/>
          <p:cNvGraphicFramePr>
            <a:graphicFrameLocks noChangeAspect="1"/>
          </p:cNvGraphicFramePr>
          <p:nvPr/>
        </p:nvGraphicFramePr>
        <p:xfrm>
          <a:off x="4956175" y="300038"/>
          <a:ext cx="2874963" cy="259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091239" imgH="4625390" progId="Word.Document.8">
                  <p:embed/>
                </p:oleObj>
              </mc:Choice>
              <mc:Fallback>
                <p:oleObj name="Document" r:id="rId2" imgW="7091239" imgH="462539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175" y="300038"/>
                        <a:ext cx="2874963" cy="2595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7DED112-7F9A-4827-81AE-176DECCA4764}" type="slidenum">
              <a:rPr lang="en-US" altLang="zh-CN" smtClean="0">
                <a:ea typeface="黑体" pitchFamily="49" charset="-122"/>
              </a:rPr>
              <a:pPr/>
              <a:t>21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14340" name="Text Box 3"/>
          <p:cNvSpPr txBox="1">
            <a:spLocks noChangeArrowheads="1"/>
          </p:cNvSpPr>
          <p:nvPr/>
        </p:nvSpPr>
        <p:spPr bwMode="auto">
          <a:xfrm>
            <a:off x="1482725" y="876300"/>
            <a:ext cx="463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 )</a:t>
            </a:r>
          </a:p>
        </p:txBody>
      </p:sp>
      <p:sp>
        <p:nvSpPr>
          <p:cNvPr id="14341" name="Text Box 4"/>
          <p:cNvSpPr txBox="1">
            <a:spLocks noChangeArrowheads="1"/>
          </p:cNvSpPr>
          <p:nvPr/>
        </p:nvSpPr>
        <p:spPr bwMode="auto">
          <a:xfrm>
            <a:off x="215900" y="1752600"/>
            <a:ext cx="971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((1,1))</a:t>
            </a:r>
          </a:p>
        </p:txBody>
      </p:sp>
      <p:sp>
        <p:nvSpPr>
          <p:cNvPr id="14342" name="Line 5"/>
          <p:cNvSpPr>
            <a:spLocks noChangeShapeType="1"/>
          </p:cNvSpPr>
          <p:nvPr/>
        </p:nvSpPr>
        <p:spPr bwMode="auto">
          <a:xfrm flipH="1">
            <a:off x="762000" y="12954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3" name="Text Box 6"/>
          <p:cNvSpPr txBox="1">
            <a:spLocks noChangeArrowheads="1"/>
          </p:cNvSpPr>
          <p:nvPr/>
        </p:nvSpPr>
        <p:spPr bwMode="auto">
          <a:xfrm>
            <a:off x="0" y="2971800"/>
            <a:ext cx="163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((1,1) (2,3))</a:t>
            </a:r>
          </a:p>
        </p:txBody>
      </p:sp>
      <p:sp>
        <p:nvSpPr>
          <p:cNvPr id="14344" name="Line 7"/>
          <p:cNvSpPr>
            <a:spLocks noChangeShapeType="1"/>
          </p:cNvSpPr>
          <p:nvPr/>
        </p:nvSpPr>
        <p:spPr bwMode="auto">
          <a:xfrm>
            <a:off x="609600" y="2286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5" name="Line 8"/>
          <p:cNvSpPr>
            <a:spLocks noChangeShapeType="1"/>
          </p:cNvSpPr>
          <p:nvPr/>
        </p:nvSpPr>
        <p:spPr bwMode="auto">
          <a:xfrm flipV="1">
            <a:off x="838200" y="2209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6" name="Text Box 9"/>
          <p:cNvSpPr txBox="1">
            <a:spLocks noChangeArrowheads="1"/>
          </p:cNvSpPr>
          <p:nvPr/>
        </p:nvSpPr>
        <p:spPr bwMode="auto">
          <a:xfrm>
            <a:off x="1981200" y="3048000"/>
            <a:ext cx="163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((1,1) (2,4))</a:t>
            </a:r>
          </a:p>
        </p:txBody>
      </p:sp>
      <p:sp>
        <p:nvSpPr>
          <p:cNvPr id="14347" name="Line 10"/>
          <p:cNvSpPr>
            <a:spLocks noChangeShapeType="1"/>
          </p:cNvSpPr>
          <p:nvPr/>
        </p:nvSpPr>
        <p:spPr bwMode="auto">
          <a:xfrm>
            <a:off x="1066800" y="2209800"/>
            <a:ext cx="1295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8" name="Text Box 11"/>
          <p:cNvSpPr txBox="1">
            <a:spLocks noChangeArrowheads="1"/>
          </p:cNvSpPr>
          <p:nvPr/>
        </p:nvSpPr>
        <p:spPr bwMode="auto">
          <a:xfrm>
            <a:off x="76200" y="4191000"/>
            <a:ext cx="2292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((1,1) (2,4) (3.2))</a:t>
            </a:r>
          </a:p>
        </p:txBody>
      </p:sp>
      <p:sp>
        <p:nvSpPr>
          <p:cNvPr id="14349" name="Line 12"/>
          <p:cNvSpPr>
            <a:spLocks noChangeShapeType="1"/>
          </p:cNvSpPr>
          <p:nvPr/>
        </p:nvSpPr>
        <p:spPr bwMode="auto">
          <a:xfrm flipH="1">
            <a:off x="1143000" y="3581400"/>
            <a:ext cx="1295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0" name="Line 13"/>
          <p:cNvSpPr>
            <a:spLocks noChangeShapeType="1"/>
          </p:cNvSpPr>
          <p:nvPr/>
        </p:nvSpPr>
        <p:spPr bwMode="auto">
          <a:xfrm flipV="1">
            <a:off x="1752600" y="3657600"/>
            <a:ext cx="990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1" name="Line 14"/>
          <p:cNvSpPr>
            <a:spLocks noChangeShapeType="1"/>
          </p:cNvSpPr>
          <p:nvPr/>
        </p:nvSpPr>
        <p:spPr bwMode="auto">
          <a:xfrm flipH="1" flipV="1">
            <a:off x="1295400" y="2133600"/>
            <a:ext cx="1219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2" name="Line 15"/>
          <p:cNvSpPr>
            <a:spLocks noChangeShapeType="1"/>
          </p:cNvSpPr>
          <p:nvPr/>
        </p:nvSpPr>
        <p:spPr bwMode="auto">
          <a:xfrm flipV="1">
            <a:off x="1143000" y="1447800"/>
            <a:ext cx="457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3" name="Text Box 16"/>
          <p:cNvSpPr txBox="1">
            <a:spLocks noChangeArrowheads="1"/>
          </p:cNvSpPr>
          <p:nvPr/>
        </p:nvSpPr>
        <p:spPr bwMode="auto">
          <a:xfrm>
            <a:off x="5715000" y="304800"/>
            <a:ext cx="438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  <a:latin typeface="Arial Black" pitchFamily="34" charset="0"/>
              </a:rPr>
              <a:t>Q</a:t>
            </a:r>
            <a:endParaRPr lang="en-US" altLang="zh-CN" dirty="0"/>
          </a:p>
        </p:txBody>
      </p:sp>
      <p:sp>
        <p:nvSpPr>
          <p:cNvPr id="14354" name="Text Box 17"/>
          <p:cNvSpPr txBox="1">
            <a:spLocks noChangeArrowheads="1"/>
          </p:cNvSpPr>
          <p:nvPr/>
        </p:nvSpPr>
        <p:spPr bwMode="auto">
          <a:xfrm>
            <a:off x="3276600" y="1828800"/>
            <a:ext cx="971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((1,2))</a:t>
            </a:r>
          </a:p>
        </p:txBody>
      </p:sp>
      <p:sp>
        <p:nvSpPr>
          <p:cNvPr id="14355" name="Line 18"/>
          <p:cNvSpPr>
            <a:spLocks noChangeShapeType="1"/>
          </p:cNvSpPr>
          <p:nvPr/>
        </p:nvSpPr>
        <p:spPr bwMode="auto">
          <a:xfrm>
            <a:off x="1981200" y="1371600"/>
            <a:ext cx="1447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6" name="Text Box 19"/>
          <p:cNvSpPr txBox="1">
            <a:spLocks noChangeArrowheads="1"/>
          </p:cNvSpPr>
          <p:nvPr/>
        </p:nvSpPr>
        <p:spPr bwMode="auto">
          <a:xfrm>
            <a:off x="6934200" y="838200"/>
            <a:ext cx="438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  <a:latin typeface="Arial Black" pitchFamily="34" charset="0"/>
              </a:rPr>
              <a:t>Q</a:t>
            </a:r>
            <a:endParaRPr lang="en-US" altLang="zh-CN" dirty="0"/>
          </a:p>
        </p:txBody>
      </p:sp>
      <p:sp>
        <p:nvSpPr>
          <p:cNvPr id="14357" name="Text Box 20"/>
          <p:cNvSpPr txBox="1">
            <a:spLocks noChangeArrowheads="1"/>
          </p:cNvSpPr>
          <p:nvPr/>
        </p:nvSpPr>
        <p:spPr bwMode="auto">
          <a:xfrm>
            <a:off x="4114800" y="3200400"/>
            <a:ext cx="163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((1,2) (2,4))</a:t>
            </a:r>
          </a:p>
        </p:txBody>
      </p:sp>
      <p:sp>
        <p:nvSpPr>
          <p:cNvPr id="14358" name="Line 21"/>
          <p:cNvSpPr>
            <a:spLocks noChangeShapeType="1"/>
          </p:cNvSpPr>
          <p:nvPr/>
        </p:nvSpPr>
        <p:spPr bwMode="auto">
          <a:xfrm>
            <a:off x="3962400" y="2362200"/>
            <a:ext cx="990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9" name="Text Box 22"/>
          <p:cNvSpPr txBox="1">
            <a:spLocks noChangeArrowheads="1"/>
          </p:cNvSpPr>
          <p:nvPr/>
        </p:nvSpPr>
        <p:spPr bwMode="auto">
          <a:xfrm>
            <a:off x="5105400" y="1371600"/>
            <a:ext cx="438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  <a:latin typeface="Arial Black" pitchFamily="34" charset="0"/>
              </a:rPr>
              <a:t>Q</a:t>
            </a:r>
            <a:endParaRPr lang="en-US" altLang="zh-CN" dirty="0"/>
          </a:p>
        </p:txBody>
      </p:sp>
      <p:sp>
        <p:nvSpPr>
          <p:cNvPr id="14360" name="Text Box 23"/>
          <p:cNvSpPr txBox="1">
            <a:spLocks noChangeArrowheads="1"/>
          </p:cNvSpPr>
          <p:nvPr/>
        </p:nvSpPr>
        <p:spPr bwMode="auto">
          <a:xfrm>
            <a:off x="3784600" y="4267200"/>
            <a:ext cx="2292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((1,2) (2,4) (3,1))</a:t>
            </a:r>
          </a:p>
        </p:txBody>
      </p:sp>
      <p:sp>
        <p:nvSpPr>
          <p:cNvPr id="14361" name="Line 24"/>
          <p:cNvSpPr>
            <a:spLocks noChangeShapeType="1"/>
          </p:cNvSpPr>
          <p:nvPr/>
        </p:nvSpPr>
        <p:spPr bwMode="auto">
          <a:xfrm>
            <a:off x="4953000" y="3733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62" name="Text Box 25"/>
          <p:cNvSpPr txBox="1">
            <a:spLocks noChangeArrowheads="1"/>
          </p:cNvSpPr>
          <p:nvPr/>
        </p:nvSpPr>
        <p:spPr bwMode="auto">
          <a:xfrm>
            <a:off x="6324600" y="1905000"/>
            <a:ext cx="438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  <a:latin typeface="Arial Black" pitchFamily="34" charset="0"/>
              </a:rPr>
              <a:t>Q</a:t>
            </a:r>
            <a:endParaRPr lang="en-US" altLang="zh-CN" dirty="0"/>
          </a:p>
        </p:txBody>
      </p:sp>
      <p:sp>
        <p:nvSpPr>
          <p:cNvPr id="14363" name="Text Box 26"/>
          <p:cNvSpPr txBox="1">
            <a:spLocks noChangeArrowheads="1"/>
          </p:cNvSpPr>
          <p:nvPr/>
        </p:nvSpPr>
        <p:spPr bwMode="auto">
          <a:xfrm>
            <a:off x="3868377" y="5530334"/>
            <a:ext cx="217559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</a:rPr>
              <a:t>((1,2) (2,4) (3,1) (4,3))</a:t>
            </a:r>
          </a:p>
        </p:txBody>
      </p:sp>
      <p:sp>
        <p:nvSpPr>
          <p:cNvPr id="14364" name="Line 27"/>
          <p:cNvSpPr>
            <a:spLocks noChangeShapeType="1"/>
          </p:cNvSpPr>
          <p:nvPr/>
        </p:nvSpPr>
        <p:spPr bwMode="auto">
          <a:xfrm>
            <a:off x="4953000" y="4876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8675" name="Object 2"/>
          <p:cNvGraphicFramePr>
            <a:graphicFrameLocks noChangeAspect="1"/>
          </p:cNvGraphicFramePr>
          <p:nvPr/>
        </p:nvGraphicFramePr>
        <p:xfrm>
          <a:off x="4956175" y="300038"/>
          <a:ext cx="2874963" cy="259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7091239" imgH="4625390" progId="Word.Document.8">
                  <p:embed/>
                </p:oleObj>
              </mc:Choice>
              <mc:Fallback>
                <p:oleObj name="Document" r:id="rId3" imgW="7091239" imgH="462539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175" y="300038"/>
                        <a:ext cx="2874963" cy="2595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826463D-0835-45FA-BADF-2311CF2BF3D3}" type="slidenum">
              <a:rPr lang="en-US" altLang="zh-CN" smtClean="0">
                <a:ea typeface="黑体" pitchFamily="49" charset="-122"/>
              </a:rPr>
              <a:pPr/>
              <a:t>22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深度優先搜索的性質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774208"/>
            <a:ext cx="7772400" cy="4245591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3200" b="1" dirty="0"/>
              <a:t>一般不能保證找到最優解</a:t>
            </a:r>
          </a:p>
          <a:p>
            <a:pPr eaLnBrk="1" hangingPunct="1"/>
            <a:r>
              <a:rPr lang="zh-CN" altLang="en-US" sz="3200" b="1" dirty="0"/>
              <a:t>當深度限制不合理時，可能找不到解，可以將演算法改為可變深度限制</a:t>
            </a:r>
          </a:p>
          <a:p>
            <a:pPr eaLnBrk="1" hangingPunct="1"/>
            <a:r>
              <a:rPr lang="zh-CN" altLang="en-US" sz="3200" b="1" dirty="0"/>
              <a:t>最壞情況時，搜索空間等同於窮舉</a:t>
            </a:r>
          </a:p>
          <a:p>
            <a:pPr eaLnBrk="1" hangingPunct="1"/>
            <a:r>
              <a:rPr lang="zh-CN" altLang="en-US" sz="3200" b="1" dirty="0"/>
              <a:t>是一個通用的與問題無關的方法</a:t>
            </a:r>
            <a:endParaRPr lang="en-US" altLang="zh-CN" sz="3200" b="1" dirty="0"/>
          </a:p>
          <a:p>
            <a:pPr eaLnBrk="1" hangingPunct="1"/>
            <a:r>
              <a:rPr lang="zh-CN" altLang="en-US" sz="3200" b="1" dirty="0"/>
              <a:t>節省記憶體，只存儲從初始節點到當前節點的路徑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5" grpId="0" uiExpand="1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練習題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sz="3200" dirty="0"/>
              <a:t>設有三個沒有刻度的杯子，分別可以裝</a:t>
            </a:r>
            <a:r>
              <a:rPr lang="en-US" altLang="zh-CN" sz="3200" dirty="0"/>
              <a:t>8</a:t>
            </a:r>
            <a:r>
              <a:rPr lang="zh-CN" altLang="en-US" sz="3200" dirty="0"/>
              <a:t>兩、</a:t>
            </a:r>
            <a:r>
              <a:rPr lang="en-US" altLang="zh-CN" sz="3200" dirty="0"/>
              <a:t>8</a:t>
            </a:r>
            <a:r>
              <a:rPr lang="zh-CN" altLang="en-US" sz="3200" dirty="0"/>
              <a:t>兩和</a:t>
            </a:r>
            <a:r>
              <a:rPr lang="en-US" altLang="zh-CN" sz="3200" dirty="0"/>
              <a:t>3</a:t>
            </a:r>
            <a:r>
              <a:rPr lang="zh-CN" altLang="en-US" sz="3200" dirty="0"/>
              <a:t>兩水。兩個</a:t>
            </a:r>
            <a:r>
              <a:rPr lang="en-US" altLang="zh-CN" sz="3200" dirty="0"/>
              <a:t>8</a:t>
            </a:r>
            <a:r>
              <a:rPr lang="zh-CN" altLang="en-US" sz="3200" dirty="0"/>
              <a:t>兩的杯子裝滿了水，請問如何在不借助于其他器具的情况下，讓</a:t>
            </a:r>
            <a:r>
              <a:rPr lang="en-US" altLang="zh-CN" sz="3200" dirty="0"/>
              <a:t>4</a:t>
            </a:r>
            <a:r>
              <a:rPr lang="zh-CN" altLang="en-US" sz="3200" dirty="0"/>
              <a:t>個人每人喝到</a:t>
            </a:r>
            <a:r>
              <a:rPr lang="en-US" altLang="zh-CN" sz="3200" dirty="0"/>
              <a:t>4</a:t>
            </a:r>
            <a:r>
              <a:rPr lang="zh-CN" altLang="en-US" sz="3200" dirty="0"/>
              <a:t>兩水。</a:t>
            </a:r>
            <a:endParaRPr lang="en-US" altLang="zh-CN" sz="3200" dirty="0"/>
          </a:p>
          <a:p>
            <a:pPr marL="0" indent="0">
              <a:buNone/>
            </a:pPr>
            <a:r>
              <a:rPr lang="zh-CN" altLang="en-US" sz="3200" dirty="0"/>
              <a:t>請編程實現。</a:t>
            </a:r>
          </a:p>
        </p:txBody>
      </p:sp>
    </p:spTree>
    <p:extLst>
      <p:ext uri="{BB962C8B-B14F-4D97-AF65-F5344CB8AC3E}">
        <p14:creationId xmlns:p14="http://schemas.microsoft.com/office/powerpoint/2010/main" val="4327416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 </a:t>
            </a:r>
            <a:r>
              <a:rPr lang="zh-CN" altLang="en-US" dirty="0"/>
              <a:t>寬度優先搜索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en-US" sz="3200" b="1" dirty="0">
                <a:solidFill>
                  <a:srgbClr val="FF0000"/>
                </a:solidFill>
              </a:rPr>
              <a:t>優先擴展深度淺的節點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21C02C6-79F2-4654-A0A6-5BCA4B713B2C}" type="slidenum">
              <a:rPr lang="en-US" altLang="zh-CN" smtClean="0">
                <a:ea typeface="黑体" pitchFamily="49" charset="-122"/>
              </a:rPr>
              <a:pPr/>
              <a:t>25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寬度優先搜索的性質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774208"/>
            <a:ext cx="7772400" cy="4245591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3200" b="1" dirty="0"/>
              <a:t>當問題有解時，一定能找到解</a:t>
            </a:r>
          </a:p>
          <a:p>
            <a:pPr eaLnBrk="1" hangingPunct="1"/>
            <a:r>
              <a:rPr lang="zh-CN" altLang="en-US" sz="3200" b="1" dirty="0"/>
              <a:t>當問題爲單位耗散值，且問題有解時，一定能找到最優解</a:t>
            </a:r>
          </a:p>
          <a:p>
            <a:pPr eaLnBrk="1" hangingPunct="1"/>
            <a:r>
              <a:rPr lang="zh-CN" altLang="en-US" sz="3200" b="1" dirty="0"/>
              <a:t>方法與問題無關，具有通用性</a:t>
            </a:r>
          </a:p>
          <a:p>
            <a:pPr eaLnBrk="1" hangingPunct="1"/>
            <a:r>
              <a:rPr lang="zh-CN" altLang="en-US" sz="3200" b="1" dirty="0"/>
              <a:t>效率較低</a:t>
            </a:r>
          </a:p>
          <a:p>
            <a:pPr eaLnBrk="1" hangingPunct="1"/>
            <a:r>
              <a:rPr lang="zh-CN" altLang="en-US" sz="3200" b="1" dirty="0"/>
              <a:t>存儲量比較大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1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1.3 </a:t>
            </a:r>
            <a:r>
              <a:rPr lang="zh-CN" altLang="en-US" dirty="0"/>
              <a:t>迪杰斯特拉（</a:t>
            </a:r>
            <a:r>
              <a:rPr lang="en-US" altLang="zh-CN" dirty="0"/>
              <a:t>Dijkstra</a:t>
            </a:r>
            <a:r>
              <a:rPr lang="zh-CN" altLang="en-US" dirty="0"/>
              <a:t>）算法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寬度優先算法的不足</a:t>
            </a:r>
          </a:p>
        </p:txBody>
      </p:sp>
      <p:grpSp>
        <p:nvGrpSpPr>
          <p:cNvPr id="131" name="组合 130"/>
          <p:cNvGrpSpPr/>
          <p:nvPr/>
        </p:nvGrpSpPr>
        <p:grpSpPr>
          <a:xfrm>
            <a:off x="1383965" y="2781550"/>
            <a:ext cx="6664410" cy="3576003"/>
            <a:chOff x="0" y="0"/>
            <a:chExt cx="4139718" cy="1970532"/>
          </a:xfrm>
        </p:grpSpPr>
        <p:grpSp>
          <p:nvGrpSpPr>
            <p:cNvPr id="133" name="组合 132"/>
            <p:cNvGrpSpPr/>
            <p:nvPr/>
          </p:nvGrpSpPr>
          <p:grpSpPr>
            <a:xfrm>
              <a:off x="0" y="0"/>
              <a:ext cx="4139718" cy="1970532"/>
              <a:chOff x="0" y="0"/>
              <a:chExt cx="4139718" cy="1970532"/>
            </a:xfrm>
          </p:grpSpPr>
          <p:sp>
            <p:nvSpPr>
              <p:cNvPr id="159" name="文本框 58"/>
              <p:cNvSpPr txBox="1"/>
              <p:nvPr/>
            </p:nvSpPr>
            <p:spPr>
              <a:xfrm>
                <a:off x="493776" y="1587009"/>
                <a:ext cx="270000" cy="26640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6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1</a:t>
                </a:r>
                <a:endParaRPr lang="zh-CN" sz="16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6" name="文本框 54"/>
              <p:cNvSpPr txBox="1"/>
              <p:nvPr/>
            </p:nvSpPr>
            <p:spPr>
              <a:xfrm>
                <a:off x="2398174" y="795333"/>
                <a:ext cx="269875" cy="266065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altLang="zh-CN" sz="16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6</a:t>
                </a:r>
                <a:endParaRPr lang="zh-CN" sz="16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50" name="直接连接符 149"/>
              <p:cNvCxnSpPr>
                <a:endCxn id="145" idx="2"/>
              </p:cNvCxnSpPr>
              <p:nvPr/>
            </p:nvCxnSpPr>
            <p:spPr>
              <a:xfrm flipV="1">
                <a:off x="1459383" y="1018184"/>
                <a:ext cx="1901952" cy="6732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7" name="文本框 55"/>
              <p:cNvSpPr txBox="1"/>
              <p:nvPr/>
            </p:nvSpPr>
            <p:spPr>
              <a:xfrm>
                <a:off x="2798064" y="1621690"/>
                <a:ext cx="269875" cy="266065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6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3</a:t>
                </a:r>
                <a:endParaRPr lang="zh-CN" sz="16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1" name="椭圆 140"/>
              <p:cNvSpPr>
                <a:spLocks noChangeAspect="1"/>
              </p:cNvSpPr>
              <p:nvPr/>
            </p:nvSpPr>
            <p:spPr>
              <a:xfrm>
                <a:off x="1232611" y="182880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600" kern="100" dirty="0">
                    <a:solidFill>
                      <a:srgbClr val="000000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C</a:t>
                </a:r>
                <a:endParaRPr lang="zh-CN" sz="16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" name="椭圆 142"/>
              <p:cNvSpPr>
                <a:spLocks noChangeAspect="1"/>
              </p:cNvSpPr>
              <p:nvPr/>
            </p:nvSpPr>
            <p:spPr>
              <a:xfrm>
                <a:off x="1217981" y="1708099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600" kern="100" dirty="0">
                    <a:solidFill>
                      <a:srgbClr val="000000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E</a:t>
                </a:r>
                <a:endParaRPr lang="zh-CN" sz="16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4" name="椭圆 143"/>
              <p:cNvSpPr>
                <a:spLocks noChangeAspect="1"/>
              </p:cNvSpPr>
              <p:nvPr/>
            </p:nvSpPr>
            <p:spPr>
              <a:xfrm>
                <a:off x="2231136" y="1719072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600" kern="100" dirty="0">
                    <a:solidFill>
                      <a:srgbClr val="000000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B</a:t>
                </a:r>
                <a:endParaRPr lang="zh-CN" sz="16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5" name="椭圆 144"/>
              <p:cNvSpPr>
                <a:spLocks noChangeAspect="1"/>
              </p:cNvSpPr>
              <p:nvPr/>
            </p:nvSpPr>
            <p:spPr>
              <a:xfrm>
                <a:off x="3361335" y="892454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600" kern="100" dirty="0">
                    <a:solidFill>
                      <a:schemeClr val="tx1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A</a:t>
                </a:r>
                <a:endParaRPr lang="zh-CN" sz="1600" kern="100" dirty="0">
                  <a:solidFill>
                    <a:schemeClr val="tx1"/>
                  </a:solidFill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6" name="椭圆 145"/>
              <p:cNvSpPr>
                <a:spLocks noChangeAspect="1"/>
              </p:cNvSpPr>
              <p:nvPr/>
            </p:nvSpPr>
            <p:spPr>
              <a:xfrm>
                <a:off x="3364992" y="1693469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sz="1600" kern="100" dirty="0">
                    <a:solidFill>
                      <a:srgbClr val="000000"/>
                    </a:solidFill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T</a:t>
                </a:r>
                <a:endParaRPr lang="zh-CN" sz="16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7" name="椭圆 146"/>
              <p:cNvSpPr>
                <a:spLocks noChangeAspect="1"/>
              </p:cNvSpPr>
              <p:nvPr/>
            </p:nvSpPr>
            <p:spPr>
              <a:xfrm>
                <a:off x="14631" y="182880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600" kern="100" dirty="0">
                    <a:solidFill>
                      <a:schemeClr val="tx1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148" name="椭圆 147"/>
              <p:cNvSpPr>
                <a:spLocks noChangeAspect="1"/>
              </p:cNvSpPr>
              <p:nvPr/>
            </p:nvSpPr>
            <p:spPr>
              <a:xfrm>
                <a:off x="0" y="1708099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600" kern="100" dirty="0">
                    <a:solidFill>
                      <a:srgbClr val="000000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F</a:t>
                </a:r>
                <a:endParaRPr lang="zh-CN" sz="16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49" name="直接连接符 148"/>
              <p:cNvCxnSpPr/>
              <p:nvPr/>
            </p:nvCxnSpPr>
            <p:spPr>
              <a:xfrm flipV="1">
                <a:off x="270663" y="285293"/>
                <a:ext cx="962025" cy="4763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1" name="直接连接符 150"/>
              <p:cNvCxnSpPr/>
              <p:nvPr/>
            </p:nvCxnSpPr>
            <p:spPr>
              <a:xfrm flipV="1">
                <a:off x="245059" y="1821485"/>
                <a:ext cx="966470" cy="889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2" name="文本框 47"/>
              <p:cNvSpPr txBox="1"/>
              <p:nvPr/>
            </p:nvSpPr>
            <p:spPr>
              <a:xfrm>
                <a:off x="1722730" y="1587398"/>
                <a:ext cx="270000" cy="26640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6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2</a:t>
                </a:r>
                <a:endParaRPr lang="zh-CN" sz="16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3" name="文本框 48"/>
              <p:cNvSpPr txBox="1"/>
              <p:nvPr/>
            </p:nvSpPr>
            <p:spPr>
              <a:xfrm>
                <a:off x="1329889" y="504749"/>
                <a:ext cx="270000" cy="26640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6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1</a:t>
                </a:r>
                <a:endParaRPr lang="zh-CN" sz="16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4" name="文本框 49"/>
              <p:cNvSpPr txBox="1"/>
              <p:nvPr/>
            </p:nvSpPr>
            <p:spPr>
              <a:xfrm>
                <a:off x="1344519" y="1287475"/>
                <a:ext cx="270000" cy="26640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6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3</a:t>
                </a:r>
                <a:endParaRPr lang="zh-CN" sz="16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0" name="文本框 59"/>
              <p:cNvSpPr txBox="1"/>
              <p:nvPr/>
            </p:nvSpPr>
            <p:spPr>
              <a:xfrm>
                <a:off x="512064" y="0"/>
                <a:ext cx="270000" cy="26640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6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7</a:t>
                </a:r>
                <a:endParaRPr lang="zh-CN" sz="16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1" name="文本框 60"/>
              <p:cNvSpPr txBox="1"/>
              <p:nvPr/>
            </p:nvSpPr>
            <p:spPr>
              <a:xfrm>
                <a:off x="877842" y="950250"/>
                <a:ext cx="485775" cy="266065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zh-CN" sz="1600" b="1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起點</a:t>
                </a:r>
              </a:p>
            </p:txBody>
          </p:sp>
          <p:sp>
            <p:nvSpPr>
              <p:cNvPr id="162" name="文本框 61"/>
              <p:cNvSpPr txBox="1"/>
              <p:nvPr/>
            </p:nvSpPr>
            <p:spPr>
              <a:xfrm>
                <a:off x="3653943" y="1671523"/>
                <a:ext cx="485775" cy="266065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zh-CN" sz="1600" b="1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終點</a:t>
                </a:r>
              </a:p>
            </p:txBody>
          </p:sp>
          <p:cxnSp>
            <p:nvCxnSpPr>
              <p:cNvPr id="163" name="直接连接符 162"/>
              <p:cNvCxnSpPr/>
              <p:nvPr/>
            </p:nvCxnSpPr>
            <p:spPr>
              <a:xfrm flipV="1">
                <a:off x="1470355" y="1832458"/>
                <a:ext cx="762000" cy="4445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4" name="椭圆 163"/>
              <p:cNvSpPr>
                <a:spLocks noChangeAspect="1"/>
              </p:cNvSpPr>
              <p:nvPr/>
            </p:nvSpPr>
            <p:spPr>
              <a:xfrm>
                <a:off x="18288" y="899770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600" kern="100" dirty="0">
                    <a:solidFill>
                      <a:srgbClr val="000000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G</a:t>
                </a:r>
                <a:endParaRPr lang="zh-CN" sz="16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5" name="文本框 65"/>
              <p:cNvSpPr txBox="1"/>
              <p:nvPr/>
            </p:nvSpPr>
            <p:spPr>
              <a:xfrm>
                <a:off x="157241" y="1276502"/>
                <a:ext cx="269875" cy="266065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6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5</a:t>
                </a:r>
                <a:endParaRPr lang="zh-CN" sz="16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6" name="文本框 67"/>
              <p:cNvSpPr txBox="1"/>
              <p:nvPr/>
            </p:nvSpPr>
            <p:spPr>
              <a:xfrm>
                <a:off x="3460090" y="1283818"/>
                <a:ext cx="269875" cy="266065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altLang="zh-CN" sz="16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3</a:t>
                </a:r>
                <a:endParaRPr lang="zh-CN" sz="16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67" name="直接连接符 166"/>
              <p:cNvCxnSpPr/>
              <p:nvPr/>
            </p:nvCxnSpPr>
            <p:spPr>
              <a:xfrm flipH="1">
                <a:off x="1335024" y="1157694"/>
                <a:ext cx="9525" cy="55245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8" name="直接连接符 167"/>
              <p:cNvCxnSpPr/>
              <p:nvPr/>
            </p:nvCxnSpPr>
            <p:spPr>
              <a:xfrm flipH="1">
                <a:off x="131674" y="1155802"/>
                <a:ext cx="9525" cy="55245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9" name="椭圆 168"/>
              <p:cNvSpPr>
                <a:spLocks noChangeAspect="1"/>
              </p:cNvSpPr>
              <p:nvPr/>
            </p:nvSpPr>
            <p:spPr>
              <a:xfrm>
                <a:off x="1217981" y="896112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sz="1600" kern="100" dirty="0">
                    <a:solidFill>
                      <a:srgbClr val="000000"/>
                    </a:solidFill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S</a:t>
                </a:r>
                <a:endParaRPr lang="zh-CN" sz="16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36" name="直接连接符 135"/>
            <p:cNvCxnSpPr/>
            <p:nvPr/>
          </p:nvCxnSpPr>
          <p:spPr>
            <a:xfrm flipH="1">
              <a:off x="3485692" y="1144829"/>
              <a:ext cx="0" cy="55816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8" name="直接连接符 137"/>
            <p:cNvCxnSpPr/>
            <p:nvPr/>
          </p:nvCxnSpPr>
          <p:spPr>
            <a:xfrm>
              <a:off x="1342339" y="431597"/>
              <a:ext cx="0" cy="452437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/>
          </p:nvCxnSpPr>
          <p:spPr>
            <a:xfrm>
              <a:off x="2465222" y="1843430"/>
              <a:ext cx="89027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750357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914400" y="714628"/>
            <a:ext cx="7772400" cy="5496702"/>
          </a:xfrm>
        </p:spPr>
        <p:txBody>
          <a:bodyPr/>
          <a:lstStyle/>
          <a:p>
            <a:r>
              <a:rPr lang="zh-CN" altLang="en-US"/>
              <a:t>寬度優先的不足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/>
              <a:t>寬度優先沒有考慮兩個節點間的距離</a:t>
            </a:r>
            <a:endParaRPr lang="en-US" altLang="zh-CN" dirty="0"/>
          </a:p>
        </p:txBody>
      </p:sp>
      <p:grpSp>
        <p:nvGrpSpPr>
          <p:cNvPr id="4" name="组合 3"/>
          <p:cNvGrpSpPr/>
          <p:nvPr/>
        </p:nvGrpSpPr>
        <p:grpSpPr>
          <a:xfrm>
            <a:off x="5319591" y="733171"/>
            <a:ext cx="3814126" cy="2139780"/>
            <a:chOff x="0" y="0"/>
            <a:chExt cx="4139718" cy="1970532"/>
          </a:xfrm>
        </p:grpSpPr>
        <p:grpSp>
          <p:nvGrpSpPr>
            <p:cNvPr id="5" name="组合 4"/>
            <p:cNvGrpSpPr/>
            <p:nvPr/>
          </p:nvGrpSpPr>
          <p:grpSpPr>
            <a:xfrm>
              <a:off x="0" y="0"/>
              <a:ext cx="4139718" cy="1970532"/>
              <a:chOff x="0" y="0"/>
              <a:chExt cx="4139718" cy="1970532"/>
            </a:xfrm>
          </p:grpSpPr>
          <p:sp>
            <p:nvSpPr>
              <p:cNvPr id="9" name="文本框 58"/>
              <p:cNvSpPr txBox="1"/>
              <p:nvPr/>
            </p:nvSpPr>
            <p:spPr>
              <a:xfrm>
                <a:off x="493776" y="1556663"/>
                <a:ext cx="270000" cy="26640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1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文本框 54"/>
              <p:cNvSpPr txBox="1"/>
              <p:nvPr/>
            </p:nvSpPr>
            <p:spPr>
              <a:xfrm>
                <a:off x="2398174" y="742228"/>
                <a:ext cx="269875" cy="266065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altLang="zh-CN" sz="1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6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1" name="直接连接符 10"/>
              <p:cNvCxnSpPr>
                <a:endCxn id="16" idx="2"/>
              </p:cNvCxnSpPr>
              <p:nvPr/>
            </p:nvCxnSpPr>
            <p:spPr>
              <a:xfrm flipV="1">
                <a:off x="1459383" y="1018184"/>
                <a:ext cx="1901952" cy="6732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" name="文本框 55"/>
              <p:cNvSpPr txBox="1"/>
              <p:nvPr/>
            </p:nvSpPr>
            <p:spPr>
              <a:xfrm>
                <a:off x="2798064" y="1576171"/>
                <a:ext cx="269875" cy="266065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3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椭圆 12"/>
              <p:cNvSpPr>
                <a:spLocks noChangeAspect="1"/>
              </p:cNvSpPr>
              <p:nvPr/>
            </p:nvSpPr>
            <p:spPr>
              <a:xfrm>
                <a:off x="1232611" y="182880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400" kern="100" dirty="0">
                    <a:solidFill>
                      <a:srgbClr val="000000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C</a:t>
                </a:r>
                <a:endParaRPr lang="zh-CN" sz="14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椭圆 13"/>
              <p:cNvSpPr>
                <a:spLocks noChangeAspect="1"/>
              </p:cNvSpPr>
              <p:nvPr/>
            </p:nvSpPr>
            <p:spPr>
              <a:xfrm>
                <a:off x="1217981" y="1708099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400" kern="100" dirty="0">
                    <a:solidFill>
                      <a:srgbClr val="000000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E</a:t>
                </a:r>
                <a:endParaRPr lang="zh-CN" sz="14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椭圆 14"/>
              <p:cNvSpPr>
                <a:spLocks noChangeAspect="1"/>
              </p:cNvSpPr>
              <p:nvPr/>
            </p:nvSpPr>
            <p:spPr>
              <a:xfrm>
                <a:off x="2231136" y="1719072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400" kern="100" dirty="0">
                    <a:solidFill>
                      <a:srgbClr val="000000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B</a:t>
                </a:r>
                <a:endParaRPr lang="zh-CN" sz="14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椭圆 15"/>
              <p:cNvSpPr>
                <a:spLocks noChangeAspect="1"/>
              </p:cNvSpPr>
              <p:nvPr/>
            </p:nvSpPr>
            <p:spPr>
              <a:xfrm>
                <a:off x="3361335" y="892454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400" kern="100" dirty="0">
                    <a:solidFill>
                      <a:schemeClr val="tx1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A</a:t>
                </a:r>
                <a:endParaRPr lang="zh-CN" sz="1400" kern="100" dirty="0">
                  <a:solidFill>
                    <a:schemeClr val="tx1"/>
                  </a:solidFill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椭圆 16"/>
              <p:cNvSpPr>
                <a:spLocks noChangeAspect="1"/>
              </p:cNvSpPr>
              <p:nvPr/>
            </p:nvSpPr>
            <p:spPr>
              <a:xfrm>
                <a:off x="3364992" y="1693469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sz="1400" kern="100" dirty="0">
                    <a:solidFill>
                      <a:srgbClr val="000000"/>
                    </a:solidFill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T</a:t>
                </a:r>
                <a:endParaRPr lang="zh-CN" sz="14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" name="椭圆 17"/>
              <p:cNvSpPr>
                <a:spLocks noChangeAspect="1"/>
              </p:cNvSpPr>
              <p:nvPr/>
            </p:nvSpPr>
            <p:spPr>
              <a:xfrm>
                <a:off x="14631" y="182880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400" kern="100" dirty="0">
                    <a:solidFill>
                      <a:schemeClr val="tx1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19" name="椭圆 18"/>
              <p:cNvSpPr>
                <a:spLocks noChangeAspect="1"/>
              </p:cNvSpPr>
              <p:nvPr/>
            </p:nvSpPr>
            <p:spPr>
              <a:xfrm>
                <a:off x="0" y="1708099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400" kern="100" dirty="0">
                    <a:solidFill>
                      <a:srgbClr val="000000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F</a:t>
                </a:r>
                <a:endParaRPr lang="zh-CN" sz="14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0" name="直接连接符 19"/>
              <p:cNvCxnSpPr/>
              <p:nvPr/>
            </p:nvCxnSpPr>
            <p:spPr>
              <a:xfrm flipV="1">
                <a:off x="270663" y="285293"/>
                <a:ext cx="962025" cy="4763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/>
            </p:nvCxnSpPr>
            <p:spPr>
              <a:xfrm flipV="1">
                <a:off x="245059" y="1821485"/>
                <a:ext cx="966470" cy="889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2" name="文本框 47"/>
              <p:cNvSpPr txBox="1"/>
              <p:nvPr/>
            </p:nvSpPr>
            <p:spPr>
              <a:xfrm>
                <a:off x="1722730" y="1572225"/>
                <a:ext cx="270000" cy="26640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2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文本框 48"/>
              <p:cNvSpPr txBox="1"/>
              <p:nvPr/>
            </p:nvSpPr>
            <p:spPr>
              <a:xfrm>
                <a:off x="1329889" y="504749"/>
                <a:ext cx="270000" cy="26640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1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文本框 49"/>
              <p:cNvSpPr txBox="1"/>
              <p:nvPr/>
            </p:nvSpPr>
            <p:spPr>
              <a:xfrm>
                <a:off x="1344519" y="1287475"/>
                <a:ext cx="270000" cy="26640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3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文本框 59"/>
              <p:cNvSpPr txBox="1"/>
              <p:nvPr/>
            </p:nvSpPr>
            <p:spPr>
              <a:xfrm>
                <a:off x="512064" y="0"/>
                <a:ext cx="270000" cy="26640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7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" name="文本框 60"/>
              <p:cNvSpPr txBox="1"/>
              <p:nvPr/>
            </p:nvSpPr>
            <p:spPr>
              <a:xfrm>
                <a:off x="877842" y="950250"/>
                <a:ext cx="485775" cy="266065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zh-CN" sz="1400" b="1" kern="10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起點</a:t>
                </a:r>
                <a:endParaRPr lang="zh-CN" sz="1400" b="1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文本框 61"/>
              <p:cNvSpPr txBox="1"/>
              <p:nvPr/>
            </p:nvSpPr>
            <p:spPr>
              <a:xfrm>
                <a:off x="3653943" y="1671523"/>
                <a:ext cx="485775" cy="266065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zh-CN" sz="1400" b="1" kern="10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終點</a:t>
                </a:r>
                <a:endParaRPr lang="zh-CN" sz="1400" b="1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8" name="直接连接符 27"/>
              <p:cNvCxnSpPr/>
              <p:nvPr/>
            </p:nvCxnSpPr>
            <p:spPr>
              <a:xfrm flipV="1">
                <a:off x="1470355" y="1832458"/>
                <a:ext cx="762000" cy="4445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9" name="椭圆 28"/>
              <p:cNvSpPr>
                <a:spLocks noChangeAspect="1"/>
              </p:cNvSpPr>
              <p:nvPr/>
            </p:nvSpPr>
            <p:spPr>
              <a:xfrm>
                <a:off x="18288" y="899770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400" kern="100" dirty="0">
                    <a:solidFill>
                      <a:srgbClr val="000000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G</a:t>
                </a:r>
                <a:endParaRPr lang="zh-CN" sz="14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" name="文本框 65"/>
              <p:cNvSpPr txBox="1"/>
              <p:nvPr/>
            </p:nvSpPr>
            <p:spPr>
              <a:xfrm>
                <a:off x="157241" y="1276502"/>
                <a:ext cx="269875" cy="266065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5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" name="文本框 67"/>
              <p:cNvSpPr txBox="1"/>
              <p:nvPr/>
            </p:nvSpPr>
            <p:spPr>
              <a:xfrm>
                <a:off x="3460090" y="1283818"/>
                <a:ext cx="269875" cy="266065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altLang="zh-CN" sz="1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3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2" name="直接连接符 31"/>
              <p:cNvCxnSpPr/>
              <p:nvPr/>
            </p:nvCxnSpPr>
            <p:spPr>
              <a:xfrm flipH="1">
                <a:off x="1335024" y="1157694"/>
                <a:ext cx="9525" cy="55245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 flipH="1">
                <a:off x="131674" y="1155802"/>
                <a:ext cx="9525" cy="55245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4" name="椭圆 33"/>
              <p:cNvSpPr>
                <a:spLocks noChangeAspect="1"/>
              </p:cNvSpPr>
              <p:nvPr/>
            </p:nvSpPr>
            <p:spPr>
              <a:xfrm>
                <a:off x="1217981" y="896112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sz="1400" kern="100" dirty="0">
                    <a:solidFill>
                      <a:srgbClr val="000000"/>
                    </a:solidFill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S</a:t>
                </a:r>
                <a:endParaRPr lang="zh-CN" sz="14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6" name="直接连接符 5"/>
            <p:cNvCxnSpPr/>
            <p:nvPr/>
          </p:nvCxnSpPr>
          <p:spPr>
            <a:xfrm flipH="1">
              <a:off x="3485692" y="1144829"/>
              <a:ext cx="0" cy="55816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1342339" y="431597"/>
              <a:ext cx="0" cy="452437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2465222" y="1843430"/>
              <a:ext cx="89027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7" name="椭圆 36"/>
          <p:cNvSpPr>
            <a:spLocks noChangeAspect="1"/>
          </p:cNvSpPr>
          <p:nvPr/>
        </p:nvSpPr>
        <p:spPr>
          <a:xfrm>
            <a:off x="3061476" y="2263413"/>
            <a:ext cx="319425" cy="3156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 dirty="0">
                <a:solidFill>
                  <a:srgbClr val="00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S</a:t>
            </a:r>
            <a:endParaRPr lang="zh-CN" sz="14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0" name="椭圆 49"/>
          <p:cNvSpPr>
            <a:spLocks noChangeAspect="1"/>
          </p:cNvSpPr>
          <p:nvPr/>
        </p:nvSpPr>
        <p:spPr>
          <a:xfrm>
            <a:off x="3428253" y="2139128"/>
            <a:ext cx="251516" cy="2485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 dirty="0">
                <a:solidFill>
                  <a:srgbClr val="FF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endParaRPr lang="zh-CN" sz="1400" kern="100" dirty="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4" name="椭圆 53"/>
          <p:cNvSpPr>
            <a:spLocks noChangeAspect="1"/>
          </p:cNvSpPr>
          <p:nvPr/>
        </p:nvSpPr>
        <p:spPr>
          <a:xfrm>
            <a:off x="1500357" y="3167989"/>
            <a:ext cx="250862" cy="24792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FF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sz="1400" kern="100" dirty="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66" name="直接连接符 65"/>
          <p:cNvCxnSpPr/>
          <p:nvPr/>
        </p:nvCxnSpPr>
        <p:spPr>
          <a:xfrm flipH="1">
            <a:off x="1741960" y="2575653"/>
            <a:ext cx="1427734" cy="88606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椭圆 66"/>
          <p:cNvSpPr>
            <a:spLocks noChangeAspect="1"/>
          </p:cNvSpPr>
          <p:nvPr/>
        </p:nvSpPr>
        <p:spPr>
          <a:xfrm>
            <a:off x="1570050" y="3457271"/>
            <a:ext cx="319425" cy="3156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E</a:t>
            </a:r>
            <a:endParaRPr lang="zh-CN" sz="14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68" name="直接连接符 67"/>
          <p:cNvCxnSpPr/>
          <p:nvPr/>
        </p:nvCxnSpPr>
        <p:spPr>
          <a:xfrm>
            <a:off x="3228739" y="2589427"/>
            <a:ext cx="12099" cy="87291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椭圆 68"/>
          <p:cNvSpPr>
            <a:spLocks noChangeAspect="1"/>
          </p:cNvSpPr>
          <p:nvPr/>
        </p:nvSpPr>
        <p:spPr>
          <a:xfrm>
            <a:off x="3080060" y="3475637"/>
            <a:ext cx="319425" cy="3156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sz="14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0" name="椭圆 69"/>
          <p:cNvSpPr>
            <a:spLocks noChangeAspect="1"/>
          </p:cNvSpPr>
          <p:nvPr/>
        </p:nvSpPr>
        <p:spPr>
          <a:xfrm>
            <a:off x="3363478" y="3301150"/>
            <a:ext cx="250862" cy="24792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FF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endParaRPr lang="zh-CN" sz="1400" kern="100" dirty="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72" name="直接连接符 71"/>
          <p:cNvCxnSpPr/>
          <p:nvPr/>
        </p:nvCxnSpPr>
        <p:spPr>
          <a:xfrm flipH="1">
            <a:off x="3261262" y="3778694"/>
            <a:ext cx="12502" cy="99249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>
            <a:off x="3279846" y="2557285"/>
            <a:ext cx="1494280" cy="86095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椭圆 73"/>
          <p:cNvSpPr>
            <a:spLocks noChangeAspect="1"/>
          </p:cNvSpPr>
          <p:nvPr/>
        </p:nvSpPr>
        <p:spPr>
          <a:xfrm>
            <a:off x="4887426" y="3177173"/>
            <a:ext cx="250862" cy="24792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FF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4</a:t>
            </a:r>
            <a:endParaRPr lang="zh-CN" sz="1400" kern="100" dirty="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5" name="椭圆 74"/>
          <p:cNvSpPr>
            <a:spLocks noChangeAspect="1"/>
          </p:cNvSpPr>
          <p:nvPr/>
        </p:nvSpPr>
        <p:spPr>
          <a:xfrm>
            <a:off x="4622594" y="3425129"/>
            <a:ext cx="319425" cy="3156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endParaRPr lang="zh-CN" sz="14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76" name="直接连接符 75"/>
          <p:cNvCxnSpPr>
            <a:endCxn id="77" idx="0"/>
          </p:cNvCxnSpPr>
          <p:nvPr/>
        </p:nvCxnSpPr>
        <p:spPr>
          <a:xfrm>
            <a:off x="4822379" y="3719001"/>
            <a:ext cx="111460" cy="104022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椭圆 76"/>
          <p:cNvSpPr>
            <a:spLocks noChangeAspect="1"/>
          </p:cNvSpPr>
          <p:nvPr/>
        </p:nvSpPr>
        <p:spPr>
          <a:xfrm>
            <a:off x="4774126" y="4759227"/>
            <a:ext cx="319425" cy="3156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T</a:t>
            </a:r>
            <a:endParaRPr lang="zh-CN" sz="14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0" name="椭圆 79"/>
          <p:cNvSpPr>
            <a:spLocks noChangeAspect="1"/>
          </p:cNvSpPr>
          <p:nvPr/>
        </p:nvSpPr>
        <p:spPr>
          <a:xfrm>
            <a:off x="2076485" y="4770514"/>
            <a:ext cx="319425" cy="3156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 dirty="0">
                <a:solidFill>
                  <a:srgbClr val="00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sz="14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1" name="椭圆 80"/>
          <p:cNvSpPr>
            <a:spLocks noChangeAspect="1"/>
          </p:cNvSpPr>
          <p:nvPr/>
        </p:nvSpPr>
        <p:spPr>
          <a:xfrm>
            <a:off x="1058970" y="4770514"/>
            <a:ext cx="319425" cy="3156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F</a:t>
            </a:r>
            <a:endParaRPr lang="zh-CN" sz="14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82" name="直接连接符 81"/>
          <p:cNvCxnSpPr/>
          <p:nvPr/>
        </p:nvCxnSpPr>
        <p:spPr>
          <a:xfrm flipH="1">
            <a:off x="1240172" y="3792470"/>
            <a:ext cx="435580" cy="98133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>
            <a:off x="1718729" y="3778694"/>
            <a:ext cx="502530" cy="98053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椭圆 88"/>
          <p:cNvSpPr>
            <a:spLocks noChangeAspect="1"/>
          </p:cNvSpPr>
          <p:nvPr/>
        </p:nvSpPr>
        <p:spPr>
          <a:xfrm>
            <a:off x="3103291" y="4779698"/>
            <a:ext cx="319425" cy="3156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 dirty="0">
                <a:solidFill>
                  <a:srgbClr val="00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D</a:t>
            </a:r>
            <a:endParaRPr lang="zh-CN" sz="14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0433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7" grpId="0" animBg="1"/>
      <p:bldP spid="50" grpId="0" animBg="1"/>
      <p:bldP spid="54" grpId="0" animBg="1"/>
      <p:bldP spid="67" grpId="0" animBg="1"/>
      <p:bldP spid="69" grpId="0" animBg="1"/>
      <p:bldP spid="70" grpId="0" animBg="1"/>
      <p:bldP spid="74" grpId="0" animBg="1"/>
      <p:bldP spid="75" grpId="0" animBg="1"/>
      <p:bldP spid="77" grpId="0" animBg="1"/>
      <p:bldP spid="80" grpId="0" animBg="1"/>
      <p:bldP spid="81" grpId="0" animBg="1"/>
      <p:bldP spid="8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6331C-B049-B395-B08B-094091EC8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0E50D4-7EE2-3DDA-CBAE-E1ABF38F8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前傾回顧：搜索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734531-FEF2-8029-43F7-198704903CD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b="1"/>
              <a:t>如何選擇一個節點擴展？</a:t>
            </a:r>
            <a:endParaRPr lang="zh-CN" altLang="en-US" b="1" dirty="0"/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21C26338-7299-C042-A712-0E0F03D52DBE}"/>
              </a:ext>
            </a:extLst>
          </p:cNvPr>
          <p:cNvGrpSpPr/>
          <p:nvPr/>
        </p:nvGrpSpPr>
        <p:grpSpPr>
          <a:xfrm>
            <a:off x="2139097" y="2396837"/>
            <a:ext cx="4878221" cy="3317750"/>
            <a:chOff x="2333069" y="2396837"/>
            <a:chExt cx="4878221" cy="3317750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07F8ABA4-8D13-3123-7A88-FCED9E12DC9C}"/>
                </a:ext>
              </a:extLst>
            </p:cNvPr>
            <p:cNvGrpSpPr/>
            <p:nvPr/>
          </p:nvGrpSpPr>
          <p:grpSpPr>
            <a:xfrm>
              <a:off x="2333069" y="2396837"/>
              <a:ext cx="4878221" cy="2590800"/>
              <a:chOff x="2333069" y="2396837"/>
              <a:chExt cx="4878221" cy="2590800"/>
            </a:xfrm>
          </p:grpSpPr>
          <p:grpSp>
            <p:nvGrpSpPr>
              <p:cNvPr id="25" name="组合 24">
                <a:extLst>
                  <a:ext uri="{FF2B5EF4-FFF2-40B4-BE49-F238E27FC236}">
                    <a16:creationId xmlns:a16="http://schemas.microsoft.com/office/drawing/2014/main" id="{45507A70-A609-007B-E7E9-4DD6C8D1BEEB}"/>
                  </a:ext>
                </a:extLst>
              </p:cNvPr>
              <p:cNvGrpSpPr/>
              <p:nvPr/>
            </p:nvGrpSpPr>
            <p:grpSpPr>
              <a:xfrm>
                <a:off x="2660073" y="2396837"/>
                <a:ext cx="4142096" cy="2590800"/>
                <a:chOff x="2057400" y="2523276"/>
                <a:chExt cx="4142096" cy="2590800"/>
              </a:xfrm>
            </p:grpSpPr>
            <p:sp>
              <p:nvSpPr>
                <p:cNvPr id="4" name="Oval 4">
                  <a:extLst>
                    <a:ext uri="{FF2B5EF4-FFF2-40B4-BE49-F238E27FC236}">
                      <a16:creationId xmlns:a16="http://schemas.microsoft.com/office/drawing/2014/main" id="{8BE7DFEA-D5D7-667D-3FA1-BCA7C266DD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38600" y="2523276"/>
                  <a:ext cx="152400" cy="15240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" name="Oval 5">
                  <a:extLst>
                    <a:ext uri="{FF2B5EF4-FFF2-40B4-BE49-F238E27FC236}">
                      <a16:creationId xmlns:a16="http://schemas.microsoft.com/office/drawing/2014/main" id="{84A1C44C-0159-7A3E-B7EB-3498669600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76600" y="3132876"/>
                  <a:ext cx="152400" cy="15240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" name="Oval 6">
                  <a:extLst>
                    <a:ext uri="{FF2B5EF4-FFF2-40B4-BE49-F238E27FC236}">
                      <a16:creationId xmlns:a16="http://schemas.microsoft.com/office/drawing/2014/main" id="{53FF5AC4-51FD-D1E7-3155-535EF1A62D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76800" y="3132876"/>
                  <a:ext cx="152400" cy="15240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" name="Oval 7">
                  <a:extLst>
                    <a:ext uri="{FF2B5EF4-FFF2-40B4-BE49-F238E27FC236}">
                      <a16:creationId xmlns:a16="http://schemas.microsoft.com/office/drawing/2014/main" id="{65F03E2D-9E5D-E22A-D14D-C9453C0082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1800" y="4047276"/>
                  <a:ext cx="152400" cy="15240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" name="Oval 8">
                  <a:extLst>
                    <a:ext uri="{FF2B5EF4-FFF2-40B4-BE49-F238E27FC236}">
                      <a16:creationId xmlns:a16="http://schemas.microsoft.com/office/drawing/2014/main" id="{81D5E3E1-CF37-CD97-7335-553D542DA7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57800" y="4047276"/>
                  <a:ext cx="152400" cy="15240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" name="Oval 9">
                  <a:extLst>
                    <a:ext uri="{FF2B5EF4-FFF2-40B4-BE49-F238E27FC236}">
                      <a16:creationId xmlns:a16="http://schemas.microsoft.com/office/drawing/2014/main" id="{74E6E47F-6083-5BF3-AD84-56B1170428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57600" y="4047276"/>
                  <a:ext cx="152400" cy="15240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" name="Oval 10">
                  <a:extLst>
                    <a:ext uri="{FF2B5EF4-FFF2-40B4-BE49-F238E27FC236}">
                      <a16:creationId xmlns:a16="http://schemas.microsoft.com/office/drawing/2014/main" id="{350850D5-7AB5-5124-59FC-53B2F8B96B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47096" y="4088220"/>
                  <a:ext cx="152400" cy="15240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" name="Oval 11">
                  <a:extLst>
                    <a:ext uri="{FF2B5EF4-FFF2-40B4-BE49-F238E27FC236}">
                      <a16:creationId xmlns:a16="http://schemas.microsoft.com/office/drawing/2014/main" id="{CF23D812-9D18-574B-1341-75A61F6888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57400" y="3992684"/>
                  <a:ext cx="152400" cy="15240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" name="Oval 12">
                  <a:extLst>
                    <a:ext uri="{FF2B5EF4-FFF2-40B4-BE49-F238E27FC236}">
                      <a16:creationId xmlns:a16="http://schemas.microsoft.com/office/drawing/2014/main" id="{3187CB0D-6E6D-F01B-689B-A26B27A663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95800" y="4047276"/>
                  <a:ext cx="152400" cy="15240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" name="Line 13">
                  <a:extLst>
                    <a:ext uri="{FF2B5EF4-FFF2-40B4-BE49-F238E27FC236}">
                      <a16:creationId xmlns:a16="http://schemas.microsoft.com/office/drawing/2014/main" id="{F0457734-F816-D041-D31F-C07D63753C1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352800" y="2675676"/>
                  <a:ext cx="762000" cy="4572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" name="Line 14">
                  <a:extLst>
                    <a:ext uri="{FF2B5EF4-FFF2-40B4-BE49-F238E27FC236}">
                      <a16:creationId xmlns:a16="http://schemas.microsoft.com/office/drawing/2014/main" id="{97EB6F90-DFB7-D694-0D60-6EFC809C5A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14800" y="2675676"/>
                  <a:ext cx="838200" cy="4572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" name="Line 15">
                  <a:extLst>
                    <a:ext uri="{FF2B5EF4-FFF2-40B4-BE49-F238E27FC236}">
                      <a16:creationId xmlns:a16="http://schemas.microsoft.com/office/drawing/2014/main" id="{7A662DF1-3571-B17C-1BC5-68B3C52C42A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33600" y="3306884"/>
                  <a:ext cx="1219200" cy="6858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6" name="Line 16">
                  <a:extLst>
                    <a:ext uri="{FF2B5EF4-FFF2-40B4-BE49-F238E27FC236}">
                      <a16:creationId xmlns:a16="http://schemas.microsoft.com/office/drawing/2014/main" id="{45109F2F-4599-BAAC-32B1-EBA7A59387A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034352" y="3320532"/>
                  <a:ext cx="304800" cy="7620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" name="Line 17">
                  <a:extLst>
                    <a:ext uri="{FF2B5EF4-FFF2-40B4-BE49-F238E27FC236}">
                      <a16:creationId xmlns:a16="http://schemas.microsoft.com/office/drawing/2014/main" id="{D1CBA0C8-AA46-C7A5-0405-95B7414421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52800" y="3285276"/>
                  <a:ext cx="381000" cy="7620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8" name="Line 18">
                  <a:extLst>
                    <a:ext uri="{FF2B5EF4-FFF2-40B4-BE49-F238E27FC236}">
                      <a16:creationId xmlns:a16="http://schemas.microsoft.com/office/drawing/2014/main" id="{CF4305FC-3CB2-3ACC-9F37-6A6AEC894C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572000" y="3285276"/>
                  <a:ext cx="381000" cy="7620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" name="Line 19">
                  <a:extLst>
                    <a:ext uri="{FF2B5EF4-FFF2-40B4-BE49-F238E27FC236}">
                      <a16:creationId xmlns:a16="http://schemas.microsoft.com/office/drawing/2014/main" id="{BAFAFC0E-7780-C3E3-FFD2-7510C60FC5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53000" y="3285276"/>
                  <a:ext cx="381000" cy="7620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0" name="Line 20">
                  <a:extLst>
                    <a:ext uri="{FF2B5EF4-FFF2-40B4-BE49-F238E27FC236}">
                      <a16:creationId xmlns:a16="http://schemas.microsoft.com/office/drawing/2014/main" id="{B483A0D1-9DE8-4CD0-B3B3-CEA9ED5003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015552" y="3257980"/>
                  <a:ext cx="1066800" cy="8382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1" name="Oval 21">
                  <a:extLst>
                    <a:ext uri="{FF2B5EF4-FFF2-40B4-BE49-F238E27FC236}">
                      <a16:creationId xmlns:a16="http://schemas.microsoft.com/office/drawing/2014/main" id="{5EA41A97-9F7D-8CAA-A2DE-B0EE4C3131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43200" y="4961676"/>
                  <a:ext cx="152400" cy="15240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" name="Oval 22">
                  <a:extLst>
                    <a:ext uri="{FF2B5EF4-FFF2-40B4-BE49-F238E27FC236}">
                      <a16:creationId xmlns:a16="http://schemas.microsoft.com/office/drawing/2014/main" id="{A7AD18D0-46D4-FEF7-2577-C40D4DAE54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52800" y="4961676"/>
                  <a:ext cx="152400" cy="15240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3" name="Line 23">
                  <a:extLst>
                    <a:ext uri="{FF2B5EF4-FFF2-40B4-BE49-F238E27FC236}">
                      <a16:creationId xmlns:a16="http://schemas.microsoft.com/office/drawing/2014/main" id="{84E36A18-E762-C413-3633-F49C7CC29E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819400" y="4199676"/>
                  <a:ext cx="228600" cy="7620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4" name="Line 24">
                  <a:extLst>
                    <a:ext uri="{FF2B5EF4-FFF2-40B4-BE49-F238E27FC236}">
                      <a16:creationId xmlns:a16="http://schemas.microsoft.com/office/drawing/2014/main" id="{3B650BDE-A00A-FA3B-5A24-52C4211824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48000" y="4199676"/>
                  <a:ext cx="381000" cy="7620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6" name="Oval 10">
                <a:extLst>
                  <a:ext uri="{FF2B5EF4-FFF2-40B4-BE49-F238E27FC236}">
                    <a16:creationId xmlns:a16="http://schemas.microsoft.com/office/drawing/2014/main" id="{1E311425-5FB0-0E3C-B893-4150ADC69C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3250" y="3214255"/>
                <a:ext cx="152400" cy="15240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9D19C967-5993-04D6-459A-264AE2A5AE61}"/>
                  </a:ext>
                </a:extLst>
              </p:cNvPr>
              <p:cNvCxnSpPr>
                <a:stCxn id="14" idx="0"/>
                <a:endCxn id="26" idx="0"/>
              </p:cNvCxnSpPr>
              <p:nvPr/>
            </p:nvCxnSpPr>
            <p:spPr>
              <a:xfrm>
                <a:off x="4717473" y="2549237"/>
                <a:ext cx="41977" cy="66501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D10287AA-83AC-BF07-016A-982431C2E737}"/>
                  </a:ext>
                </a:extLst>
              </p:cNvPr>
              <p:cNvCxnSpPr>
                <a:stCxn id="26" idx="5"/>
              </p:cNvCxnSpPr>
              <p:nvPr/>
            </p:nvCxnSpPr>
            <p:spPr>
              <a:xfrm>
                <a:off x="4813332" y="3344337"/>
                <a:ext cx="278213" cy="521908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4524DDAB-A66F-595F-E49C-0B587ACEBED0}"/>
                  </a:ext>
                </a:extLst>
              </p:cNvPr>
              <p:cNvCxnSpPr/>
              <p:nvPr/>
            </p:nvCxnSpPr>
            <p:spPr>
              <a:xfrm>
                <a:off x="6725969" y="4114181"/>
                <a:ext cx="485321" cy="721056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ED72304C-C85A-0BF2-39C0-45B52127935E}"/>
                  </a:ext>
                </a:extLst>
              </p:cNvPr>
              <p:cNvCxnSpPr/>
              <p:nvPr/>
            </p:nvCxnSpPr>
            <p:spPr>
              <a:xfrm flipH="1">
                <a:off x="5887769" y="4061215"/>
                <a:ext cx="76200" cy="800078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06777CC0-557E-E0B1-AB29-D9E3CB2A38E6}"/>
                  </a:ext>
                </a:extLst>
              </p:cNvPr>
              <p:cNvCxnSpPr>
                <a:stCxn id="12" idx="4"/>
              </p:cNvCxnSpPr>
              <p:nvPr/>
            </p:nvCxnSpPr>
            <p:spPr>
              <a:xfrm flipH="1">
                <a:off x="5091545" y="4073237"/>
                <a:ext cx="83128" cy="83820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4FFD04BC-02C6-D302-525C-6F2EA346A1E7}"/>
                  </a:ext>
                </a:extLst>
              </p:cNvPr>
              <p:cNvCxnSpPr/>
              <p:nvPr/>
            </p:nvCxnSpPr>
            <p:spPr>
              <a:xfrm>
                <a:off x="5261057" y="4144343"/>
                <a:ext cx="550512" cy="767094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5297B732-08D9-77C1-1A22-9E326E7CC15E}"/>
                  </a:ext>
                </a:extLst>
              </p:cNvPr>
              <p:cNvCxnSpPr>
                <a:stCxn id="11" idx="4"/>
              </p:cNvCxnSpPr>
              <p:nvPr/>
            </p:nvCxnSpPr>
            <p:spPr>
              <a:xfrm flipH="1">
                <a:off x="2333069" y="4018645"/>
                <a:ext cx="403204" cy="713096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74FC5511-0DD1-B379-4868-D1D9C6B7D4B4}"/>
                </a:ext>
              </a:extLst>
            </p:cNvPr>
            <p:cNvCxnSpPr/>
            <p:nvPr/>
          </p:nvCxnSpPr>
          <p:spPr>
            <a:xfrm flipH="1">
              <a:off x="3634686" y="5001491"/>
              <a:ext cx="403204" cy="713096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AD78F6E4-68C5-6621-7F99-B6DDD62E51A9}"/>
                </a:ext>
              </a:extLst>
            </p:cNvPr>
            <p:cNvCxnSpPr/>
            <p:nvPr/>
          </p:nvCxnSpPr>
          <p:spPr>
            <a:xfrm>
              <a:off x="4373357" y="4073237"/>
              <a:ext cx="66612" cy="6096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865B6F53-4972-C435-FA25-B0EF02E020F0}"/>
                </a:ext>
              </a:extLst>
            </p:cNvPr>
            <p:cNvCxnSpPr/>
            <p:nvPr/>
          </p:nvCxnSpPr>
          <p:spPr>
            <a:xfrm>
              <a:off x="2772044" y="4018645"/>
              <a:ext cx="154626" cy="563562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41C1F951-3E97-1125-7758-D4B402EE6262}"/>
                </a:ext>
              </a:extLst>
            </p:cNvPr>
            <p:cNvCxnSpPr/>
            <p:nvPr/>
          </p:nvCxnSpPr>
          <p:spPr>
            <a:xfrm flipH="1">
              <a:off x="2926670" y="5017799"/>
              <a:ext cx="493982" cy="34024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1F7A2DCD-429A-374F-8D7C-D7A9D7700A06}"/>
                </a:ext>
              </a:extLst>
            </p:cNvPr>
            <p:cNvCxnSpPr/>
            <p:nvPr/>
          </p:nvCxnSpPr>
          <p:spPr>
            <a:xfrm>
              <a:off x="4059945" y="4958711"/>
              <a:ext cx="512469" cy="654834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53951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22913F5-7BDC-4648-BBBF-C26432A5F6FF}" type="slidenum">
              <a:rPr lang="en-US" altLang="zh-CN" smtClean="0">
                <a:ea typeface="黑体" pitchFamily="49" charset="-122"/>
              </a:rPr>
              <a:pPr/>
              <a:t>29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98306" name="Text Box 2"/>
          <p:cNvSpPr txBox="1">
            <a:spLocks noChangeArrowheads="1"/>
          </p:cNvSpPr>
          <p:nvPr/>
        </p:nvSpPr>
        <p:spPr bwMode="auto">
          <a:xfrm>
            <a:off x="4378325" y="381000"/>
            <a:ext cx="803275" cy="83502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1600" dirty="0"/>
              <a:t>2        3</a:t>
            </a:r>
          </a:p>
          <a:p>
            <a:r>
              <a:rPr lang="en-US" altLang="zh-CN" sz="1600" dirty="0"/>
              <a:t>1   8   4</a:t>
            </a:r>
          </a:p>
          <a:p>
            <a:r>
              <a:rPr lang="en-US" altLang="zh-CN" sz="1600" dirty="0"/>
              <a:t>7   6   5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971800" y="1219200"/>
            <a:ext cx="3851275" cy="1368425"/>
            <a:chOff x="1872" y="768"/>
            <a:chExt cx="2426" cy="862"/>
          </a:xfrm>
        </p:grpSpPr>
        <p:sp>
          <p:nvSpPr>
            <p:cNvPr id="50223" name="Text Box 4"/>
            <p:cNvSpPr txBox="1">
              <a:spLocks noChangeArrowheads="1"/>
            </p:cNvSpPr>
            <p:nvPr/>
          </p:nvSpPr>
          <p:spPr bwMode="auto">
            <a:xfrm>
              <a:off x="2784" y="1104"/>
              <a:ext cx="506" cy="526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 dirty="0"/>
                <a:t>     2   3</a:t>
              </a:r>
            </a:p>
            <a:p>
              <a:r>
                <a:rPr lang="en-US" altLang="zh-CN" sz="1600" dirty="0"/>
                <a:t>1   8   4</a:t>
              </a:r>
            </a:p>
            <a:p>
              <a:r>
                <a:rPr lang="en-US" altLang="zh-CN" sz="1600" dirty="0"/>
                <a:t>7   6   5</a:t>
              </a:r>
            </a:p>
          </p:txBody>
        </p:sp>
        <p:sp>
          <p:nvSpPr>
            <p:cNvPr id="50224" name="Text Box 5"/>
            <p:cNvSpPr txBox="1">
              <a:spLocks noChangeArrowheads="1"/>
            </p:cNvSpPr>
            <p:nvPr/>
          </p:nvSpPr>
          <p:spPr bwMode="auto">
            <a:xfrm>
              <a:off x="1872" y="1104"/>
              <a:ext cx="506" cy="526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 dirty="0"/>
                <a:t>2   8   3</a:t>
              </a:r>
            </a:p>
            <a:p>
              <a:r>
                <a:rPr lang="en-US" altLang="zh-CN" sz="1600" dirty="0"/>
                <a:t>1        4</a:t>
              </a:r>
            </a:p>
            <a:p>
              <a:r>
                <a:rPr lang="en-US" altLang="zh-CN" sz="1600" dirty="0"/>
                <a:t>7   6   5</a:t>
              </a:r>
            </a:p>
          </p:txBody>
        </p:sp>
        <p:sp>
          <p:nvSpPr>
            <p:cNvPr id="50225" name="Text Box 6"/>
            <p:cNvSpPr txBox="1">
              <a:spLocks noChangeArrowheads="1"/>
            </p:cNvSpPr>
            <p:nvPr/>
          </p:nvSpPr>
          <p:spPr bwMode="auto">
            <a:xfrm>
              <a:off x="3792" y="1104"/>
              <a:ext cx="506" cy="526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 dirty="0"/>
                <a:t>2   3</a:t>
              </a:r>
            </a:p>
            <a:p>
              <a:r>
                <a:rPr lang="en-US" altLang="zh-CN" sz="1600" dirty="0"/>
                <a:t>1   8   4</a:t>
              </a:r>
            </a:p>
            <a:p>
              <a:r>
                <a:rPr lang="en-US" altLang="zh-CN" sz="1600" dirty="0"/>
                <a:t>7   6   5</a:t>
              </a:r>
            </a:p>
          </p:txBody>
        </p:sp>
        <p:sp>
          <p:nvSpPr>
            <p:cNvPr id="50226" name="Line 7"/>
            <p:cNvSpPr>
              <a:spLocks noChangeShapeType="1"/>
            </p:cNvSpPr>
            <p:nvPr/>
          </p:nvSpPr>
          <p:spPr bwMode="auto">
            <a:xfrm flipV="1">
              <a:off x="2112" y="768"/>
              <a:ext cx="864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27" name="Line 8"/>
            <p:cNvSpPr>
              <a:spLocks noChangeShapeType="1"/>
            </p:cNvSpPr>
            <p:nvPr/>
          </p:nvSpPr>
          <p:spPr bwMode="auto">
            <a:xfrm flipH="1" flipV="1">
              <a:off x="2976" y="768"/>
              <a:ext cx="48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28" name="Line 9"/>
            <p:cNvSpPr>
              <a:spLocks noChangeShapeType="1"/>
            </p:cNvSpPr>
            <p:nvPr/>
          </p:nvSpPr>
          <p:spPr bwMode="auto">
            <a:xfrm flipH="1" flipV="1">
              <a:off x="3072" y="768"/>
              <a:ext cx="96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1828800" y="2590800"/>
            <a:ext cx="3394075" cy="1292225"/>
            <a:chOff x="1152" y="1632"/>
            <a:chExt cx="2138" cy="814"/>
          </a:xfrm>
        </p:grpSpPr>
        <p:sp>
          <p:nvSpPr>
            <p:cNvPr id="50217" name="Text Box 11"/>
            <p:cNvSpPr txBox="1">
              <a:spLocks noChangeArrowheads="1"/>
            </p:cNvSpPr>
            <p:nvPr/>
          </p:nvSpPr>
          <p:spPr bwMode="auto">
            <a:xfrm>
              <a:off x="2784" y="1920"/>
              <a:ext cx="506" cy="526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 dirty="0"/>
                <a:t>2   8   3</a:t>
              </a:r>
            </a:p>
            <a:p>
              <a:r>
                <a:rPr lang="en-US" altLang="zh-CN" sz="1600" dirty="0"/>
                <a:t>1   4</a:t>
              </a:r>
            </a:p>
            <a:p>
              <a:r>
                <a:rPr lang="en-US" altLang="zh-CN" sz="1600" dirty="0"/>
                <a:t>7   6   5</a:t>
              </a:r>
            </a:p>
          </p:txBody>
        </p:sp>
        <p:sp>
          <p:nvSpPr>
            <p:cNvPr id="50218" name="Text Box 12"/>
            <p:cNvSpPr txBox="1">
              <a:spLocks noChangeArrowheads="1"/>
            </p:cNvSpPr>
            <p:nvPr/>
          </p:nvSpPr>
          <p:spPr bwMode="auto">
            <a:xfrm>
              <a:off x="1152" y="1872"/>
              <a:ext cx="506" cy="526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 dirty="0"/>
                <a:t>2   8   3</a:t>
              </a:r>
            </a:p>
            <a:p>
              <a:r>
                <a:rPr lang="en-US" altLang="zh-CN" sz="1600" dirty="0"/>
                <a:t>1   6   4</a:t>
              </a:r>
            </a:p>
            <a:p>
              <a:r>
                <a:rPr lang="en-US" altLang="zh-CN" sz="1600" dirty="0"/>
                <a:t>7        5</a:t>
              </a:r>
            </a:p>
          </p:txBody>
        </p:sp>
        <p:sp>
          <p:nvSpPr>
            <p:cNvPr id="50219" name="Text Box 13"/>
            <p:cNvSpPr txBox="1">
              <a:spLocks noChangeArrowheads="1"/>
            </p:cNvSpPr>
            <p:nvPr/>
          </p:nvSpPr>
          <p:spPr bwMode="auto">
            <a:xfrm>
              <a:off x="1968" y="1872"/>
              <a:ext cx="506" cy="526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 dirty="0"/>
                <a:t>2   8   3</a:t>
              </a:r>
            </a:p>
            <a:p>
              <a:r>
                <a:rPr lang="en-US" altLang="zh-CN" sz="1600" dirty="0"/>
                <a:t>     1   4</a:t>
              </a:r>
            </a:p>
            <a:p>
              <a:r>
                <a:rPr lang="en-US" altLang="zh-CN" sz="1600" dirty="0"/>
                <a:t>7   6   5</a:t>
              </a:r>
            </a:p>
          </p:txBody>
        </p:sp>
        <p:sp>
          <p:nvSpPr>
            <p:cNvPr id="50220" name="Line 14"/>
            <p:cNvSpPr>
              <a:spLocks noChangeShapeType="1"/>
            </p:cNvSpPr>
            <p:nvPr/>
          </p:nvSpPr>
          <p:spPr bwMode="auto">
            <a:xfrm flipV="1">
              <a:off x="1392" y="1632"/>
              <a:ext cx="67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21" name="Line 15"/>
            <p:cNvSpPr>
              <a:spLocks noChangeShapeType="1"/>
            </p:cNvSpPr>
            <p:nvPr/>
          </p:nvSpPr>
          <p:spPr bwMode="auto">
            <a:xfrm flipH="1" flipV="1">
              <a:off x="2112" y="1632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22" name="Line 16"/>
            <p:cNvSpPr>
              <a:spLocks noChangeShapeType="1"/>
            </p:cNvSpPr>
            <p:nvPr/>
          </p:nvSpPr>
          <p:spPr bwMode="auto">
            <a:xfrm flipH="1" flipV="1">
              <a:off x="2160" y="1632"/>
              <a:ext cx="86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568325" y="3810000"/>
            <a:ext cx="1870075" cy="1368425"/>
            <a:chOff x="358" y="2400"/>
            <a:chExt cx="1178" cy="862"/>
          </a:xfrm>
        </p:grpSpPr>
        <p:sp>
          <p:nvSpPr>
            <p:cNvPr id="50213" name="Text Box 18"/>
            <p:cNvSpPr txBox="1">
              <a:spLocks noChangeArrowheads="1"/>
            </p:cNvSpPr>
            <p:nvPr/>
          </p:nvSpPr>
          <p:spPr bwMode="auto">
            <a:xfrm>
              <a:off x="1030" y="2736"/>
              <a:ext cx="506" cy="526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 dirty="0"/>
                <a:t>2   8   3</a:t>
              </a:r>
            </a:p>
            <a:p>
              <a:r>
                <a:rPr lang="en-US" altLang="zh-CN" sz="1600" dirty="0"/>
                <a:t>1   6   4</a:t>
              </a:r>
            </a:p>
            <a:p>
              <a:r>
                <a:rPr lang="en-US" altLang="zh-CN" sz="1600" dirty="0"/>
                <a:t>7   5</a:t>
              </a:r>
            </a:p>
          </p:txBody>
        </p:sp>
        <p:sp>
          <p:nvSpPr>
            <p:cNvPr id="50214" name="Text Box 19"/>
            <p:cNvSpPr txBox="1">
              <a:spLocks noChangeArrowheads="1"/>
            </p:cNvSpPr>
            <p:nvPr/>
          </p:nvSpPr>
          <p:spPr bwMode="auto">
            <a:xfrm>
              <a:off x="358" y="2736"/>
              <a:ext cx="506" cy="526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 dirty="0"/>
                <a:t>2   8   3</a:t>
              </a:r>
            </a:p>
            <a:p>
              <a:r>
                <a:rPr lang="en-US" altLang="zh-CN" sz="1600" dirty="0"/>
                <a:t>1   6   4</a:t>
              </a:r>
            </a:p>
            <a:p>
              <a:r>
                <a:rPr lang="en-US" altLang="zh-CN" sz="1600" dirty="0"/>
                <a:t>    7   5</a:t>
              </a:r>
            </a:p>
          </p:txBody>
        </p:sp>
        <p:sp>
          <p:nvSpPr>
            <p:cNvPr id="50215" name="Line 20"/>
            <p:cNvSpPr>
              <a:spLocks noChangeShapeType="1"/>
            </p:cNvSpPr>
            <p:nvPr/>
          </p:nvSpPr>
          <p:spPr bwMode="auto">
            <a:xfrm flipV="1">
              <a:off x="624" y="2400"/>
              <a:ext cx="72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16" name="Line 21"/>
            <p:cNvSpPr>
              <a:spLocks noChangeShapeType="1"/>
            </p:cNvSpPr>
            <p:nvPr/>
          </p:nvSpPr>
          <p:spPr bwMode="auto">
            <a:xfrm flipV="1">
              <a:off x="1296" y="2400"/>
              <a:ext cx="48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22"/>
          <p:cNvGrpSpPr>
            <a:grpSpLocks/>
          </p:cNvGrpSpPr>
          <p:nvPr/>
        </p:nvGrpSpPr>
        <p:grpSpPr bwMode="auto">
          <a:xfrm>
            <a:off x="2701925" y="3810000"/>
            <a:ext cx="1870075" cy="1368425"/>
            <a:chOff x="1702" y="2400"/>
            <a:chExt cx="1178" cy="862"/>
          </a:xfrm>
        </p:grpSpPr>
        <p:sp>
          <p:nvSpPr>
            <p:cNvPr id="50209" name="Text Box 23"/>
            <p:cNvSpPr txBox="1">
              <a:spLocks noChangeArrowheads="1"/>
            </p:cNvSpPr>
            <p:nvPr/>
          </p:nvSpPr>
          <p:spPr bwMode="auto">
            <a:xfrm>
              <a:off x="2374" y="2736"/>
              <a:ext cx="506" cy="526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 dirty="0"/>
                <a:t>2   8   3</a:t>
              </a:r>
            </a:p>
            <a:p>
              <a:r>
                <a:rPr lang="en-US" altLang="zh-CN" sz="1600" dirty="0"/>
                <a:t>7   1   4</a:t>
              </a:r>
            </a:p>
            <a:p>
              <a:r>
                <a:rPr lang="en-US" altLang="zh-CN" sz="1600" dirty="0"/>
                <a:t>     6   5</a:t>
              </a:r>
            </a:p>
          </p:txBody>
        </p:sp>
        <p:sp>
          <p:nvSpPr>
            <p:cNvPr id="50210" name="Text Box 24"/>
            <p:cNvSpPr txBox="1">
              <a:spLocks noChangeArrowheads="1"/>
            </p:cNvSpPr>
            <p:nvPr/>
          </p:nvSpPr>
          <p:spPr bwMode="auto">
            <a:xfrm>
              <a:off x="1702" y="2736"/>
              <a:ext cx="506" cy="526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 dirty="0"/>
                <a:t>     8   3</a:t>
              </a:r>
            </a:p>
            <a:p>
              <a:r>
                <a:rPr lang="en-US" altLang="zh-CN" sz="1600" dirty="0"/>
                <a:t>2   1   4</a:t>
              </a:r>
            </a:p>
            <a:p>
              <a:r>
                <a:rPr lang="en-US" altLang="zh-CN" sz="1600" dirty="0"/>
                <a:t>7   6   5</a:t>
              </a:r>
            </a:p>
          </p:txBody>
        </p:sp>
        <p:sp>
          <p:nvSpPr>
            <p:cNvPr id="50211" name="Line 25"/>
            <p:cNvSpPr>
              <a:spLocks noChangeShapeType="1"/>
            </p:cNvSpPr>
            <p:nvPr/>
          </p:nvSpPr>
          <p:spPr bwMode="auto">
            <a:xfrm flipV="1">
              <a:off x="1968" y="2400"/>
              <a:ext cx="24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12" name="Line 26"/>
            <p:cNvSpPr>
              <a:spLocks noChangeShapeType="1"/>
            </p:cNvSpPr>
            <p:nvPr/>
          </p:nvSpPr>
          <p:spPr bwMode="auto">
            <a:xfrm flipH="1" flipV="1">
              <a:off x="2256" y="2400"/>
              <a:ext cx="384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" name="Group 27"/>
          <p:cNvGrpSpPr>
            <a:grpSpLocks/>
          </p:cNvGrpSpPr>
          <p:nvPr/>
        </p:nvGrpSpPr>
        <p:grpSpPr bwMode="auto">
          <a:xfrm>
            <a:off x="4759325" y="3886200"/>
            <a:ext cx="1870075" cy="1292225"/>
            <a:chOff x="2998" y="2448"/>
            <a:chExt cx="1178" cy="814"/>
          </a:xfrm>
        </p:grpSpPr>
        <p:sp>
          <p:nvSpPr>
            <p:cNvPr id="50205" name="Text Box 28"/>
            <p:cNvSpPr txBox="1">
              <a:spLocks noChangeArrowheads="1"/>
            </p:cNvSpPr>
            <p:nvPr/>
          </p:nvSpPr>
          <p:spPr bwMode="auto">
            <a:xfrm>
              <a:off x="2998" y="2736"/>
              <a:ext cx="506" cy="526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 dirty="0"/>
                <a:t>2   8</a:t>
              </a:r>
            </a:p>
            <a:p>
              <a:r>
                <a:rPr lang="en-US" altLang="zh-CN" sz="1600" dirty="0"/>
                <a:t>1   4   3</a:t>
              </a:r>
            </a:p>
            <a:p>
              <a:r>
                <a:rPr lang="en-US" altLang="zh-CN" sz="1600" dirty="0"/>
                <a:t>7   6   5</a:t>
              </a:r>
            </a:p>
          </p:txBody>
        </p:sp>
        <p:sp>
          <p:nvSpPr>
            <p:cNvPr id="50206" name="Text Box 29"/>
            <p:cNvSpPr txBox="1">
              <a:spLocks noChangeArrowheads="1"/>
            </p:cNvSpPr>
            <p:nvPr/>
          </p:nvSpPr>
          <p:spPr bwMode="auto">
            <a:xfrm>
              <a:off x="3670" y="2736"/>
              <a:ext cx="506" cy="526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 dirty="0"/>
                <a:t>2   8   3</a:t>
              </a:r>
            </a:p>
            <a:p>
              <a:r>
                <a:rPr lang="en-US" altLang="zh-CN" sz="1600" dirty="0"/>
                <a:t>1   4   5</a:t>
              </a:r>
            </a:p>
            <a:p>
              <a:r>
                <a:rPr lang="en-US" altLang="zh-CN" sz="1600" dirty="0"/>
                <a:t>7   6   </a:t>
              </a:r>
            </a:p>
          </p:txBody>
        </p:sp>
        <p:sp>
          <p:nvSpPr>
            <p:cNvPr id="50207" name="Line 30"/>
            <p:cNvSpPr>
              <a:spLocks noChangeShapeType="1"/>
            </p:cNvSpPr>
            <p:nvPr/>
          </p:nvSpPr>
          <p:spPr bwMode="auto">
            <a:xfrm flipH="1" flipV="1">
              <a:off x="3024" y="2448"/>
              <a:ext cx="24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08" name="Line 31"/>
            <p:cNvSpPr>
              <a:spLocks noChangeShapeType="1"/>
            </p:cNvSpPr>
            <p:nvPr/>
          </p:nvSpPr>
          <p:spPr bwMode="auto">
            <a:xfrm flipH="1" flipV="1">
              <a:off x="3072" y="2448"/>
              <a:ext cx="86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" name="Group 32"/>
          <p:cNvGrpSpPr>
            <a:grpSpLocks/>
          </p:cNvGrpSpPr>
          <p:nvPr/>
        </p:nvGrpSpPr>
        <p:grpSpPr bwMode="auto">
          <a:xfrm>
            <a:off x="6324600" y="3810000"/>
            <a:ext cx="2387600" cy="1368425"/>
            <a:chOff x="3984" y="2400"/>
            <a:chExt cx="1504" cy="862"/>
          </a:xfrm>
        </p:grpSpPr>
        <p:sp>
          <p:nvSpPr>
            <p:cNvPr id="50201" name="Text Box 33"/>
            <p:cNvSpPr txBox="1">
              <a:spLocks noChangeArrowheads="1"/>
            </p:cNvSpPr>
            <p:nvPr/>
          </p:nvSpPr>
          <p:spPr bwMode="auto">
            <a:xfrm>
              <a:off x="4342" y="2736"/>
              <a:ext cx="506" cy="526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 dirty="0"/>
                <a:t>1   2   3</a:t>
              </a:r>
            </a:p>
            <a:p>
              <a:r>
                <a:rPr lang="en-US" altLang="zh-CN" sz="1600" dirty="0"/>
                <a:t>7   8   4</a:t>
              </a:r>
            </a:p>
            <a:p>
              <a:r>
                <a:rPr lang="en-US" altLang="zh-CN" sz="1600" dirty="0"/>
                <a:t>     6   5</a:t>
              </a:r>
            </a:p>
          </p:txBody>
        </p:sp>
        <p:sp>
          <p:nvSpPr>
            <p:cNvPr id="50202" name="Text Box 34"/>
            <p:cNvSpPr txBox="1">
              <a:spLocks noChangeArrowheads="1"/>
            </p:cNvSpPr>
            <p:nvPr/>
          </p:nvSpPr>
          <p:spPr bwMode="auto">
            <a:xfrm>
              <a:off x="5014" y="2736"/>
              <a:ext cx="474" cy="526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 dirty="0"/>
                <a:t>1  2   3</a:t>
              </a:r>
            </a:p>
            <a:p>
              <a:r>
                <a:rPr lang="en-US" altLang="zh-CN" sz="1600" dirty="0"/>
                <a:t>8       4</a:t>
              </a:r>
            </a:p>
            <a:p>
              <a:r>
                <a:rPr lang="en-US" altLang="zh-CN" sz="1600" dirty="0"/>
                <a:t>7   6  5</a:t>
              </a:r>
            </a:p>
          </p:txBody>
        </p:sp>
        <p:sp>
          <p:nvSpPr>
            <p:cNvPr id="50203" name="Line 35"/>
            <p:cNvSpPr>
              <a:spLocks noChangeShapeType="1"/>
            </p:cNvSpPr>
            <p:nvPr/>
          </p:nvSpPr>
          <p:spPr bwMode="auto">
            <a:xfrm flipH="1" flipV="1">
              <a:off x="3984" y="2400"/>
              <a:ext cx="57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04" name="Line 36"/>
            <p:cNvSpPr>
              <a:spLocks noChangeShapeType="1"/>
            </p:cNvSpPr>
            <p:nvPr/>
          </p:nvSpPr>
          <p:spPr bwMode="auto">
            <a:xfrm flipH="1" flipV="1">
              <a:off x="4080" y="2400"/>
              <a:ext cx="115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8359" name="Oval 55"/>
          <p:cNvSpPr>
            <a:spLocks noChangeArrowheads="1"/>
          </p:cNvSpPr>
          <p:nvPr/>
        </p:nvSpPr>
        <p:spPr bwMode="auto">
          <a:xfrm>
            <a:off x="5183188" y="-14288"/>
            <a:ext cx="407987" cy="430213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dirty="0"/>
              <a:t>1</a:t>
            </a:r>
            <a:endParaRPr lang="en-US" altLang="zh-CN" dirty="0"/>
          </a:p>
        </p:txBody>
      </p:sp>
      <p:sp>
        <p:nvSpPr>
          <p:cNvPr id="98360" name="Oval 56"/>
          <p:cNvSpPr>
            <a:spLocks noChangeArrowheads="1"/>
          </p:cNvSpPr>
          <p:nvPr/>
        </p:nvSpPr>
        <p:spPr bwMode="auto">
          <a:xfrm>
            <a:off x="2973388" y="1281113"/>
            <a:ext cx="407987" cy="430212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dirty="0"/>
              <a:t>2</a:t>
            </a:r>
            <a:endParaRPr lang="en-US" altLang="zh-CN" dirty="0"/>
          </a:p>
        </p:txBody>
      </p:sp>
      <p:sp>
        <p:nvSpPr>
          <p:cNvPr id="98361" name="Oval 57"/>
          <p:cNvSpPr>
            <a:spLocks noChangeArrowheads="1"/>
          </p:cNvSpPr>
          <p:nvPr/>
        </p:nvSpPr>
        <p:spPr bwMode="auto">
          <a:xfrm>
            <a:off x="1754188" y="2500313"/>
            <a:ext cx="407987" cy="430212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dirty="0"/>
              <a:t>5</a:t>
            </a:r>
            <a:endParaRPr lang="en-US" altLang="zh-CN" dirty="0"/>
          </a:p>
        </p:txBody>
      </p:sp>
      <p:sp>
        <p:nvSpPr>
          <p:cNvPr id="98364" name="Oval 60"/>
          <p:cNvSpPr>
            <a:spLocks noChangeArrowheads="1"/>
          </p:cNvSpPr>
          <p:nvPr/>
        </p:nvSpPr>
        <p:spPr bwMode="auto">
          <a:xfrm>
            <a:off x="3506788" y="2652713"/>
            <a:ext cx="407987" cy="430212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dirty="0"/>
              <a:t>6</a:t>
            </a:r>
            <a:endParaRPr lang="en-US" altLang="zh-CN" dirty="0"/>
          </a:p>
        </p:txBody>
      </p:sp>
      <p:sp>
        <p:nvSpPr>
          <p:cNvPr id="98367" name="Oval 63"/>
          <p:cNvSpPr>
            <a:spLocks noChangeArrowheads="1"/>
          </p:cNvSpPr>
          <p:nvPr/>
        </p:nvSpPr>
        <p:spPr bwMode="auto">
          <a:xfrm>
            <a:off x="4725988" y="2652713"/>
            <a:ext cx="407987" cy="430212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dirty="0"/>
              <a:t>7</a:t>
            </a:r>
            <a:endParaRPr lang="en-US" altLang="zh-CN" dirty="0"/>
          </a:p>
        </p:txBody>
      </p:sp>
      <p:sp>
        <p:nvSpPr>
          <p:cNvPr id="98370" name="Oval 66"/>
          <p:cNvSpPr>
            <a:spLocks noChangeArrowheads="1"/>
          </p:cNvSpPr>
          <p:nvPr/>
        </p:nvSpPr>
        <p:spPr bwMode="auto">
          <a:xfrm>
            <a:off x="4802188" y="1357313"/>
            <a:ext cx="407987" cy="430212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dirty="0"/>
              <a:t>3</a:t>
            </a:r>
            <a:endParaRPr lang="en-US" altLang="zh-CN" dirty="0"/>
          </a:p>
        </p:txBody>
      </p:sp>
      <p:grpSp>
        <p:nvGrpSpPr>
          <p:cNvPr id="8" name="Group 68"/>
          <p:cNvGrpSpPr>
            <a:grpSpLocks/>
          </p:cNvGrpSpPr>
          <p:nvPr/>
        </p:nvGrpSpPr>
        <p:grpSpPr bwMode="auto">
          <a:xfrm>
            <a:off x="4876800" y="2590800"/>
            <a:ext cx="1870075" cy="1216025"/>
            <a:chOff x="3072" y="1632"/>
            <a:chExt cx="1178" cy="766"/>
          </a:xfrm>
        </p:grpSpPr>
        <p:sp>
          <p:nvSpPr>
            <p:cNvPr id="50199" name="Text Box 69"/>
            <p:cNvSpPr txBox="1">
              <a:spLocks noChangeArrowheads="1"/>
            </p:cNvSpPr>
            <p:nvPr/>
          </p:nvSpPr>
          <p:spPr bwMode="auto">
            <a:xfrm>
              <a:off x="3744" y="1872"/>
              <a:ext cx="506" cy="526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 dirty="0"/>
                <a:t>1   2   3</a:t>
              </a:r>
            </a:p>
            <a:p>
              <a:r>
                <a:rPr lang="en-US" altLang="zh-CN" sz="1600" dirty="0"/>
                <a:t>     8   4</a:t>
              </a:r>
            </a:p>
            <a:p>
              <a:r>
                <a:rPr lang="en-US" altLang="zh-CN" sz="1600" dirty="0"/>
                <a:t>7   6   5</a:t>
              </a:r>
            </a:p>
          </p:txBody>
        </p:sp>
        <p:sp>
          <p:nvSpPr>
            <p:cNvPr id="50200" name="Line 70"/>
            <p:cNvSpPr>
              <a:spLocks noChangeShapeType="1"/>
            </p:cNvSpPr>
            <p:nvPr/>
          </p:nvSpPr>
          <p:spPr bwMode="auto">
            <a:xfrm flipH="1" flipV="1">
              <a:off x="3072" y="1632"/>
              <a:ext cx="91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8375" name="AutoShape 71"/>
          <p:cNvSpPr>
            <a:spLocks noChangeArrowheads="1"/>
          </p:cNvSpPr>
          <p:nvPr/>
        </p:nvSpPr>
        <p:spPr bwMode="auto">
          <a:xfrm>
            <a:off x="8077200" y="5867400"/>
            <a:ext cx="838200" cy="457200"/>
          </a:xfrm>
          <a:prstGeom prst="wedgeRectCallout">
            <a:avLst>
              <a:gd name="adj1" fmla="val -23676"/>
              <a:gd name="adj2" fmla="val -198611"/>
            </a:avLst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b="1">
                <a:solidFill>
                  <a:srgbClr val="FF0000"/>
                </a:solidFill>
              </a:rPr>
              <a:t>目標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98371" name="Oval 67"/>
          <p:cNvSpPr>
            <a:spLocks noChangeArrowheads="1"/>
          </p:cNvSpPr>
          <p:nvPr/>
        </p:nvSpPr>
        <p:spPr bwMode="auto">
          <a:xfrm>
            <a:off x="6173788" y="2576513"/>
            <a:ext cx="407987" cy="430212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dirty="0"/>
              <a:t>8</a:t>
            </a:r>
            <a:endParaRPr lang="en-US" altLang="zh-CN" dirty="0"/>
          </a:p>
        </p:txBody>
      </p:sp>
      <p:grpSp>
        <p:nvGrpSpPr>
          <p:cNvPr id="9" name="Group 76"/>
          <p:cNvGrpSpPr>
            <a:grpSpLocks/>
          </p:cNvGrpSpPr>
          <p:nvPr/>
        </p:nvGrpSpPr>
        <p:grpSpPr bwMode="auto">
          <a:xfrm>
            <a:off x="6477000" y="2590800"/>
            <a:ext cx="1717675" cy="1216025"/>
            <a:chOff x="4080" y="1632"/>
            <a:chExt cx="1082" cy="766"/>
          </a:xfrm>
        </p:grpSpPr>
        <p:sp>
          <p:nvSpPr>
            <p:cNvPr id="50197" name="Text Box 72"/>
            <p:cNvSpPr txBox="1">
              <a:spLocks noChangeArrowheads="1"/>
            </p:cNvSpPr>
            <p:nvPr/>
          </p:nvSpPr>
          <p:spPr bwMode="auto">
            <a:xfrm>
              <a:off x="4656" y="1872"/>
              <a:ext cx="506" cy="526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 dirty="0"/>
                <a:t>2   3   4</a:t>
              </a:r>
            </a:p>
            <a:p>
              <a:r>
                <a:rPr lang="en-US" altLang="zh-CN" sz="1600" dirty="0"/>
                <a:t>1   8   </a:t>
              </a:r>
            </a:p>
            <a:p>
              <a:r>
                <a:rPr lang="en-US" altLang="zh-CN" sz="1600" dirty="0"/>
                <a:t>7   6   5</a:t>
              </a:r>
            </a:p>
          </p:txBody>
        </p:sp>
        <p:sp>
          <p:nvSpPr>
            <p:cNvPr id="50198" name="Line 73"/>
            <p:cNvSpPr>
              <a:spLocks noChangeShapeType="1"/>
            </p:cNvSpPr>
            <p:nvPr/>
          </p:nvSpPr>
          <p:spPr bwMode="auto">
            <a:xfrm flipH="1" flipV="1">
              <a:off x="4080" y="1632"/>
              <a:ext cx="81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8379" name="Oval 75"/>
          <p:cNvSpPr>
            <a:spLocks noChangeArrowheads="1"/>
          </p:cNvSpPr>
          <p:nvPr/>
        </p:nvSpPr>
        <p:spPr bwMode="auto">
          <a:xfrm>
            <a:off x="6326188" y="1357313"/>
            <a:ext cx="407987" cy="430212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dirty="0"/>
              <a:t>4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83966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6" grpId="0" animBg="1" autoUpdateAnimBg="0"/>
      <p:bldP spid="98359" grpId="0" animBg="1" autoUpdateAnimBg="0"/>
      <p:bldP spid="98360" grpId="0" animBg="1" autoUpdateAnimBg="0"/>
      <p:bldP spid="98361" grpId="0" animBg="1" autoUpdateAnimBg="0"/>
      <p:bldP spid="98364" grpId="0" animBg="1" autoUpdateAnimBg="0"/>
      <p:bldP spid="98367" grpId="0" animBg="1" autoUpdateAnimBg="0"/>
      <p:bldP spid="98370" grpId="0" animBg="1" autoUpdateAnimBg="0"/>
      <p:bldP spid="98375" grpId="0" animBg="1" autoUpdateAnimBg="0"/>
      <p:bldP spid="98371" grpId="0" animBg="1" autoUpdateAnimBg="0"/>
      <p:bldP spid="98379" grpId="0" animBg="1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260DA-B2CA-C7A5-6673-D13473309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CE8BDB-137F-1D36-C1A2-0EEFBE71D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前情回顧：練習題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2C363F-1BFB-092F-384A-39A66B86CE5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sz="3200"/>
              <a:t>設有三個沒有刻度的杯子，分別可以裝</a:t>
            </a:r>
            <a:r>
              <a:rPr lang="en-US" altLang="zh-CN" sz="3200"/>
              <a:t>8</a:t>
            </a:r>
            <a:r>
              <a:rPr lang="zh-CN" altLang="en-US" sz="3200"/>
              <a:t>兩、</a:t>
            </a:r>
            <a:r>
              <a:rPr lang="en-US" altLang="zh-CN" sz="3200"/>
              <a:t>8</a:t>
            </a:r>
            <a:r>
              <a:rPr lang="zh-CN" altLang="en-US" sz="3200"/>
              <a:t>兩和</a:t>
            </a:r>
            <a:r>
              <a:rPr lang="en-US" altLang="zh-CN" sz="3200"/>
              <a:t>3</a:t>
            </a:r>
            <a:r>
              <a:rPr lang="zh-CN" altLang="en-US" sz="3200"/>
              <a:t>兩水。兩個</a:t>
            </a:r>
            <a:r>
              <a:rPr lang="en-US" altLang="zh-CN" sz="3200"/>
              <a:t>8</a:t>
            </a:r>
            <a:r>
              <a:rPr lang="zh-CN" altLang="en-US" sz="3200"/>
              <a:t>兩的杯子裝滿了水，請問如何在不借助于其他器具的情况下，讓</a:t>
            </a:r>
            <a:r>
              <a:rPr lang="en-US" altLang="zh-CN" sz="3200"/>
              <a:t>4</a:t>
            </a:r>
            <a:r>
              <a:rPr lang="zh-CN" altLang="en-US" sz="3200"/>
              <a:t>個人每人喝到</a:t>
            </a:r>
            <a:r>
              <a:rPr lang="en-US" altLang="zh-CN" sz="3200"/>
              <a:t>4</a:t>
            </a:r>
            <a:r>
              <a:rPr lang="zh-CN" altLang="en-US" sz="3200"/>
              <a:t>兩水。</a:t>
            </a:r>
            <a:endParaRPr lang="en-US" altLang="zh-CN" sz="3200" dirty="0"/>
          </a:p>
          <a:p>
            <a:pPr marL="0" indent="0">
              <a:buNone/>
            </a:pPr>
            <a:r>
              <a:rPr lang="zh-CN" altLang="en-US" sz="3200"/>
              <a:t>請編程實現。</a:t>
            </a:r>
            <a:endParaRPr lang="zh-CN" altLang="en-US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D48F44-4168-32E8-FE9A-D9B306BC8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218" y="1231900"/>
            <a:ext cx="3111500" cy="500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394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迪杰斯特拉（</a:t>
            </a:r>
            <a:r>
              <a:rPr lang="en-US" altLang="zh-CN" dirty="0"/>
              <a:t>Dijkstra</a:t>
            </a:r>
            <a:r>
              <a:rPr lang="zh-CN" altLang="en-US" dirty="0"/>
              <a:t>）算法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/>
              <a:t>優先擴展距離起點最近的節點，</a:t>
            </a:r>
            <a:r>
              <a:rPr lang="zh-CN" altLang="en-US">
                <a:solidFill>
                  <a:srgbClr val="FF0000"/>
                </a:solidFill>
              </a:rPr>
              <a:t>直到終點距離最短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6" name="文本框 115"/>
          <p:cNvSpPr txBox="1"/>
          <p:nvPr/>
        </p:nvSpPr>
        <p:spPr>
          <a:xfrm>
            <a:off x="3220653" y="4467587"/>
            <a:ext cx="626357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g=9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椭圆 6"/>
          <p:cNvSpPr>
            <a:spLocks noChangeAspect="1"/>
          </p:cNvSpPr>
          <p:nvPr/>
        </p:nvSpPr>
        <p:spPr>
          <a:xfrm>
            <a:off x="3017939" y="2283738"/>
            <a:ext cx="303409" cy="306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 dirty="0">
                <a:solidFill>
                  <a:srgbClr val="00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S</a:t>
            </a:r>
            <a:endParaRPr lang="zh-CN" sz="14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5"/>
          <p:cNvSpPr txBox="1"/>
          <p:nvPr/>
        </p:nvSpPr>
        <p:spPr>
          <a:xfrm>
            <a:off x="3201714" y="2801117"/>
            <a:ext cx="325780" cy="324521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76"/>
          <p:cNvSpPr txBox="1"/>
          <p:nvPr/>
        </p:nvSpPr>
        <p:spPr>
          <a:xfrm>
            <a:off x="2047028" y="2822862"/>
            <a:ext cx="325780" cy="324521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77"/>
          <p:cNvSpPr txBox="1"/>
          <p:nvPr/>
        </p:nvSpPr>
        <p:spPr>
          <a:xfrm>
            <a:off x="3953543" y="2778306"/>
            <a:ext cx="325629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6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89"/>
          <p:cNvSpPr txBox="1"/>
          <p:nvPr/>
        </p:nvSpPr>
        <p:spPr>
          <a:xfrm>
            <a:off x="1998482" y="4181814"/>
            <a:ext cx="325629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90"/>
          <p:cNvSpPr txBox="1"/>
          <p:nvPr/>
        </p:nvSpPr>
        <p:spPr>
          <a:xfrm>
            <a:off x="1208515" y="3981313"/>
            <a:ext cx="325780" cy="324521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4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92"/>
          <p:cNvSpPr txBox="1"/>
          <p:nvPr/>
        </p:nvSpPr>
        <p:spPr>
          <a:xfrm>
            <a:off x="2956154" y="4021414"/>
            <a:ext cx="325629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7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94"/>
          <p:cNvSpPr txBox="1"/>
          <p:nvPr/>
        </p:nvSpPr>
        <p:spPr>
          <a:xfrm>
            <a:off x="3780337" y="4794531"/>
            <a:ext cx="325629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100"/>
          <p:cNvSpPr txBox="1"/>
          <p:nvPr/>
        </p:nvSpPr>
        <p:spPr>
          <a:xfrm>
            <a:off x="2219144" y="5300165"/>
            <a:ext cx="325629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椭圆 19"/>
          <p:cNvSpPr>
            <a:spLocks noChangeAspect="1"/>
          </p:cNvSpPr>
          <p:nvPr/>
        </p:nvSpPr>
        <p:spPr>
          <a:xfrm>
            <a:off x="3397477" y="2190170"/>
            <a:ext cx="238905" cy="24119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 dirty="0">
                <a:solidFill>
                  <a:srgbClr val="FF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endParaRPr lang="zh-CN" sz="1400" kern="100" dirty="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" name="文本框 109"/>
          <p:cNvSpPr txBox="1"/>
          <p:nvPr/>
        </p:nvSpPr>
        <p:spPr>
          <a:xfrm>
            <a:off x="1866086" y="3339710"/>
            <a:ext cx="626357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g=3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文本框 110"/>
          <p:cNvSpPr txBox="1"/>
          <p:nvPr/>
        </p:nvSpPr>
        <p:spPr>
          <a:xfrm>
            <a:off x="3304799" y="3446643"/>
            <a:ext cx="625974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g=2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文本框 111"/>
          <p:cNvSpPr txBox="1"/>
          <p:nvPr/>
        </p:nvSpPr>
        <p:spPr>
          <a:xfrm>
            <a:off x="4765578" y="3397633"/>
            <a:ext cx="625974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g=6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" name="椭圆 23"/>
          <p:cNvSpPr>
            <a:spLocks noChangeAspect="1"/>
          </p:cNvSpPr>
          <p:nvPr/>
        </p:nvSpPr>
        <p:spPr>
          <a:xfrm>
            <a:off x="1535093" y="3161487"/>
            <a:ext cx="238284" cy="2405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FF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endParaRPr lang="zh-CN" sz="1400" kern="100" dirty="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" name="文本框 113"/>
          <p:cNvSpPr txBox="1"/>
          <p:nvPr/>
        </p:nvSpPr>
        <p:spPr>
          <a:xfrm>
            <a:off x="655390" y="4707573"/>
            <a:ext cx="626357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g=7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文本框 114"/>
          <p:cNvSpPr txBox="1"/>
          <p:nvPr/>
        </p:nvSpPr>
        <p:spPr>
          <a:xfrm>
            <a:off x="1651014" y="4707573"/>
            <a:ext cx="626357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g=5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" name="文本框 122"/>
          <p:cNvSpPr txBox="1"/>
          <p:nvPr/>
        </p:nvSpPr>
        <p:spPr>
          <a:xfrm>
            <a:off x="2836996" y="5928402"/>
            <a:ext cx="626357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g=8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" name="椭圆 33"/>
          <p:cNvSpPr>
            <a:spLocks noChangeAspect="1"/>
          </p:cNvSpPr>
          <p:nvPr/>
        </p:nvSpPr>
        <p:spPr>
          <a:xfrm>
            <a:off x="2320648" y="4493705"/>
            <a:ext cx="238284" cy="2405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FF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4</a:t>
            </a:r>
            <a:endParaRPr lang="zh-CN" sz="1400" kern="100" dirty="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6" name="直接连接符 35"/>
          <p:cNvCxnSpPr/>
          <p:nvPr/>
        </p:nvCxnSpPr>
        <p:spPr>
          <a:xfrm flipH="1">
            <a:off x="1764582" y="2586717"/>
            <a:ext cx="1356148" cy="85978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椭圆 36"/>
          <p:cNvSpPr>
            <a:spLocks noChangeAspect="1"/>
          </p:cNvSpPr>
          <p:nvPr/>
        </p:nvSpPr>
        <p:spPr>
          <a:xfrm>
            <a:off x="1601292" y="3442189"/>
            <a:ext cx="303409" cy="306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E</a:t>
            </a:r>
            <a:endParaRPr lang="zh-CN" sz="14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8" name="直接连接符 37"/>
          <p:cNvCxnSpPr/>
          <p:nvPr/>
        </p:nvCxnSpPr>
        <p:spPr>
          <a:xfrm>
            <a:off x="3176816" y="2600083"/>
            <a:ext cx="11493" cy="84702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椭圆 38"/>
          <p:cNvSpPr>
            <a:spLocks noChangeAspect="1"/>
          </p:cNvSpPr>
          <p:nvPr/>
        </p:nvSpPr>
        <p:spPr>
          <a:xfrm>
            <a:off x="3035591" y="3460010"/>
            <a:ext cx="303409" cy="306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sz="14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" name="椭圆 39"/>
          <p:cNvSpPr>
            <a:spLocks noChangeAspect="1"/>
          </p:cNvSpPr>
          <p:nvPr/>
        </p:nvSpPr>
        <p:spPr>
          <a:xfrm>
            <a:off x="3362828" y="3299504"/>
            <a:ext cx="238284" cy="2405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FF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sz="1400" kern="100" dirty="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2" name="直接连接符 41"/>
          <p:cNvCxnSpPr/>
          <p:nvPr/>
        </p:nvCxnSpPr>
        <p:spPr>
          <a:xfrm flipH="1">
            <a:off x="3207708" y="3754079"/>
            <a:ext cx="11875" cy="96305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3225360" y="2568894"/>
            <a:ext cx="1419358" cy="83542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椭圆 43"/>
          <p:cNvSpPr>
            <a:spLocks noChangeAspect="1"/>
          </p:cNvSpPr>
          <p:nvPr/>
        </p:nvSpPr>
        <p:spPr>
          <a:xfrm>
            <a:off x="4752338" y="3170398"/>
            <a:ext cx="238284" cy="2405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FF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5</a:t>
            </a:r>
            <a:endParaRPr lang="zh-CN" sz="1400" kern="100" dirty="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5" name="椭圆 44"/>
          <p:cNvSpPr>
            <a:spLocks noChangeAspect="1"/>
          </p:cNvSpPr>
          <p:nvPr/>
        </p:nvSpPr>
        <p:spPr>
          <a:xfrm>
            <a:off x="4500784" y="3411000"/>
            <a:ext cx="303409" cy="306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endParaRPr lang="zh-CN" sz="14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6" name="直接连接符 45"/>
          <p:cNvCxnSpPr>
            <a:endCxn id="55" idx="7"/>
          </p:cNvCxnSpPr>
          <p:nvPr/>
        </p:nvCxnSpPr>
        <p:spPr>
          <a:xfrm flipH="1">
            <a:off x="2862072" y="3696156"/>
            <a:ext cx="1828480" cy="2254829"/>
          </a:xfrm>
          <a:prstGeom prst="line">
            <a:avLst/>
          </a:prstGeom>
          <a:ln w="12700"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椭圆 49"/>
          <p:cNvSpPr>
            <a:spLocks noChangeAspect="1"/>
          </p:cNvSpPr>
          <p:nvPr/>
        </p:nvSpPr>
        <p:spPr>
          <a:xfrm>
            <a:off x="2082335" y="4716484"/>
            <a:ext cx="303409" cy="306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 dirty="0">
                <a:solidFill>
                  <a:srgbClr val="00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sz="14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1" name="椭圆 50"/>
          <p:cNvSpPr>
            <a:spLocks noChangeAspect="1"/>
          </p:cNvSpPr>
          <p:nvPr/>
        </p:nvSpPr>
        <p:spPr>
          <a:xfrm>
            <a:off x="1115837" y="4716484"/>
            <a:ext cx="303409" cy="306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F</a:t>
            </a:r>
            <a:endParaRPr lang="zh-CN" sz="14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52" name="直接连接符 51"/>
          <p:cNvCxnSpPr/>
          <p:nvPr/>
        </p:nvCxnSpPr>
        <p:spPr>
          <a:xfrm flipH="1">
            <a:off x="1287953" y="3767446"/>
            <a:ext cx="413740" cy="95222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>
            <a:off x="1742516" y="3754079"/>
            <a:ext cx="477334" cy="95145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椭圆 54"/>
          <p:cNvSpPr>
            <a:spLocks noChangeAspect="1"/>
          </p:cNvSpPr>
          <p:nvPr/>
        </p:nvSpPr>
        <p:spPr>
          <a:xfrm>
            <a:off x="2603096" y="5906125"/>
            <a:ext cx="303409" cy="306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 dirty="0">
                <a:solidFill>
                  <a:srgbClr val="00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T</a:t>
            </a:r>
            <a:endParaRPr lang="zh-CN" sz="14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56" name="直接连接符 55"/>
          <p:cNvCxnSpPr/>
          <p:nvPr/>
        </p:nvCxnSpPr>
        <p:spPr>
          <a:xfrm>
            <a:off x="2276516" y="5023919"/>
            <a:ext cx="476951" cy="87023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椭圆 58"/>
          <p:cNvSpPr>
            <a:spLocks noChangeAspect="1"/>
          </p:cNvSpPr>
          <p:nvPr/>
        </p:nvSpPr>
        <p:spPr>
          <a:xfrm>
            <a:off x="3057657" y="4725396"/>
            <a:ext cx="303409" cy="306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 dirty="0">
                <a:solidFill>
                  <a:srgbClr val="00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D</a:t>
            </a:r>
            <a:endParaRPr lang="zh-CN" sz="14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60" name="组合 59"/>
          <p:cNvGrpSpPr/>
          <p:nvPr/>
        </p:nvGrpSpPr>
        <p:grpSpPr>
          <a:xfrm>
            <a:off x="5136003" y="4197951"/>
            <a:ext cx="3814126" cy="2139780"/>
            <a:chOff x="0" y="0"/>
            <a:chExt cx="4139718" cy="1970532"/>
          </a:xfrm>
        </p:grpSpPr>
        <p:grpSp>
          <p:nvGrpSpPr>
            <p:cNvPr id="61" name="组合 60"/>
            <p:cNvGrpSpPr/>
            <p:nvPr/>
          </p:nvGrpSpPr>
          <p:grpSpPr>
            <a:xfrm>
              <a:off x="0" y="0"/>
              <a:ext cx="4139718" cy="1970532"/>
              <a:chOff x="0" y="0"/>
              <a:chExt cx="4139718" cy="1970532"/>
            </a:xfrm>
          </p:grpSpPr>
          <p:sp>
            <p:nvSpPr>
              <p:cNvPr id="65" name="文本框 58"/>
              <p:cNvSpPr txBox="1"/>
              <p:nvPr/>
            </p:nvSpPr>
            <p:spPr>
              <a:xfrm>
                <a:off x="493776" y="1556663"/>
                <a:ext cx="270000" cy="26640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altLang="zh-CN" sz="1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4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6" name="文本框 54"/>
              <p:cNvSpPr txBox="1"/>
              <p:nvPr/>
            </p:nvSpPr>
            <p:spPr>
              <a:xfrm>
                <a:off x="2398174" y="742228"/>
                <a:ext cx="269875" cy="266065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altLang="zh-CN" sz="1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6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67" name="直接连接符 66"/>
              <p:cNvCxnSpPr>
                <a:endCxn id="72" idx="2"/>
              </p:cNvCxnSpPr>
              <p:nvPr/>
            </p:nvCxnSpPr>
            <p:spPr>
              <a:xfrm flipV="1">
                <a:off x="1459383" y="1018184"/>
                <a:ext cx="1901952" cy="6732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8" name="文本框 55"/>
              <p:cNvSpPr txBox="1"/>
              <p:nvPr/>
            </p:nvSpPr>
            <p:spPr>
              <a:xfrm>
                <a:off x="2798064" y="1576171"/>
                <a:ext cx="269875" cy="266065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3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" name="椭圆 68"/>
              <p:cNvSpPr>
                <a:spLocks noChangeAspect="1"/>
              </p:cNvSpPr>
              <p:nvPr/>
            </p:nvSpPr>
            <p:spPr>
              <a:xfrm>
                <a:off x="1232611" y="182880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400" kern="100" dirty="0">
                    <a:solidFill>
                      <a:srgbClr val="000000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C</a:t>
                </a:r>
                <a:endParaRPr lang="zh-CN" sz="14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0" name="椭圆 69"/>
              <p:cNvSpPr>
                <a:spLocks noChangeAspect="1"/>
              </p:cNvSpPr>
              <p:nvPr/>
            </p:nvSpPr>
            <p:spPr>
              <a:xfrm>
                <a:off x="1217981" y="1708099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400" kern="100" dirty="0">
                    <a:solidFill>
                      <a:srgbClr val="000000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E</a:t>
                </a:r>
                <a:endParaRPr lang="zh-CN" sz="14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1" name="椭圆 70"/>
              <p:cNvSpPr>
                <a:spLocks noChangeAspect="1"/>
              </p:cNvSpPr>
              <p:nvPr/>
            </p:nvSpPr>
            <p:spPr>
              <a:xfrm>
                <a:off x="2231136" y="1719072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400" kern="100" dirty="0">
                    <a:solidFill>
                      <a:srgbClr val="000000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B</a:t>
                </a:r>
                <a:endParaRPr lang="zh-CN" sz="14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2" name="椭圆 71"/>
              <p:cNvSpPr>
                <a:spLocks noChangeAspect="1"/>
              </p:cNvSpPr>
              <p:nvPr/>
            </p:nvSpPr>
            <p:spPr>
              <a:xfrm>
                <a:off x="3361335" y="892454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400" kern="100" dirty="0">
                    <a:solidFill>
                      <a:schemeClr val="tx1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A</a:t>
                </a:r>
                <a:endParaRPr lang="zh-CN" sz="1400" kern="100" dirty="0">
                  <a:solidFill>
                    <a:schemeClr val="tx1"/>
                  </a:solidFill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3" name="椭圆 72"/>
              <p:cNvSpPr>
                <a:spLocks noChangeAspect="1"/>
              </p:cNvSpPr>
              <p:nvPr/>
            </p:nvSpPr>
            <p:spPr>
              <a:xfrm>
                <a:off x="3364992" y="1693469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sz="1400" kern="100" dirty="0">
                    <a:solidFill>
                      <a:srgbClr val="000000"/>
                    </a:solidFill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T</a:t>
                </a:r>
                <a:endParaRPr lang="zh-CN" sz="14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4" name="椭圆 73"/>
              <p:cNvSpPr>
                <a:spLocks noChangeAspect="1"/>
              </p:cNvSpPr>
              <p:nvPr/>
            </p:nvSpPr>
            <p:spPr>
              <a:xfrm>
                <a:off x="14631" y="182880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400" kern="100" dirty="0">
                    <a:solidFill>
                      <a:schemeClr val="tx1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75" name="椭圆 74"/>
              <p:cNvSpPr>
                <a:spLocks noChangeAspect="1"/>
              </p:cNvSpPr>
              <p:nvPr/>
            </p:nvSpPr>
            <p:spPr>
              <a:xfrm>
                <a:off x="0" y="1708099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400" kern="100" dirty="0">
                    <a:solidFill>
                      <a:srgbClr val="000000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F</a:t>
                </a:r>
                <a:endParaRPr lang="zh-CN" sz="14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76" name="直接连接符 75"/>
              <p:cNvCxnSpPr/>
              <p:nvPr/>
            </p:nvCxnSpPr>
            <p:spPr>
              <a:xfrm flipV="1">
                <a:off x="270663" y="285293"/>
                <a:ext cx="962025" cy="4763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/>
              <p:cNvCxnSpPr/>
              <p:nvPr/>
            </p:nvCxnSpPr>
            <p:spPr>
              <a:xfrm flipV="1">
                <a:off x="245059" y="1821485"/>
                <a:ext cx="966470" cy="889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8" name="文本框 47"/>
              <p:cNvSpPr txBox="1"/>
              <p:nvPr/>
            </p:nvSpPr>
            <p:spPr>
              <a:xfrm>
                <a:off x="1722730" y="1572225"/>
                <a:ext cx="270000" cy="26640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2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9" name="文本框 48"/>
              <p:cNvSpPr txBox="1"/>
              <p:nvPr/>
            </p:nvSpPr>
            <p:spPr>
              <a:xfrm>
                <a:off x="1329889" y="504749"/>
                <a:ext cx="270000" cy="26640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altLang="zh-CN" sz="1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2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0" name="文本框 49"/>
              <p:cNvSpPr txBox="1"/>
              <p:nvPr/>
            </p:nvSpPr>
            <p:spPr>
              <a:xfrm>
                <a:off x="1344519" y="1287475"/>
                <a:ext cx="270000" cy="26640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3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1" name="文本框 59"/>
              <p:cNvSpPr txBox="1"/>
              <p:nvPr/>
            </p:nvSpPr>
            <p:spPr>
              <a:xfrm>
                <a:off x="512064" y="0"/>
                <a:ext cx="270000" cy="26640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7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" name="文本框 60"/>
              <p:cNvSpPr txBox="1"/>
              <p:nvPr/>
            </p:nvSpPr>
            <p:spPr>
              <a:xfrm>
                <a:off x="877842" y="950250"/>
                <a:ext cx="485775" cy="266065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zh-CN" sz="1400" b="1" kern="10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起點</a:t>
                </a:r>
                <a:endParaRPr lang="zh-CN" sz="1400" b="1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" name="文本框 61"/>
              <p:cNvSpPr txBox="1"/>
              <p:nvPr/>
            </p:nvSpPr>
            <p:spPr>
              <a:xfrm>
                <a:off x="3653943" y="1671523"/>
                <a:ext cx="485775" cy="266065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zh-CN" sz="1400" b="1" kern="10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終點</a:t>
                </a:r>
                <a:endParaRPr lang="zh-CN" sz="1400" b="1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84" name="直接连接符 83"/>
              <p:cNvCxnSpPr/>
              <p:nvPr/>
            </p:nvCxnSpPr>
            <p:spPr>
              <a:xfrm flipV="1">
                <a:off x="1470355" y="1832458"/>
                <a:ext cx="762000" cy="4445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5" name="椭圆 84"/>
              <p:cNvSpPr>
                <a:spLocks noChangeAspect="1"/>
              </p:cNvSpPr>
              <p:nvPr/>
            </p:nvSpPr>
            <p:spPr>
              <a:xfrm>
                <a:off x="18288" y="899770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400" kern="100" dirty="0">
                    <a:solidFill>
                      <a:srgbClr val="000000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G</a:t>
                </a:r>
                <a:endParaRPr lang="zh-CN" sz="14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6" name="文本框 65"/>
              <p:cNvSpPr txBox="1"/>
              <p:nvPr/>
            </p:nvSpPr>
            <p:spPr>
              <a:xfrm>
                <a:off x="157241" y="1276502"/>
                <a:ext cx="269875" cy="266065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5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7" name="文本框 67"/>
              <p:cNvSpPr txBox="1"/>
              <p:nvPr/>
            </p:nvSpPr>
            <p:spPr>
              <a:xfrm>
                <a:off x="3460090" y="1283818"/>
                <a:ext cx="269875" cy="266065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altLang="zh-CN" sz="1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3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88" name="直接连接符 87"/>
              <p:cNvCxnSpPr/>
              <p:nvPr/>
            </p:nvCxnSpPr>
            <p:spPr>
              <a:xfrm flipH="1">
                <a:off x="1335024" y="1157694"/>
                <a:ext cx="9525" cy="55245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直接连接符 88"/>
              <p:cNvCxnSpPr/>
              <p:nvPr/>
            </p:nvCxnSpPr>
            <p:spPr>
              <a:xfrm flipH="1">
                <a:off x="131674" y="1155802"/>
                <a:ext cx="9525" cy="55245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0" name="椭圆 89"/>
              <p:cNvSpPr>
                <a:spLocks noChangeAspect="1"/>
              </p:cNvSpPr>
              <p:nvPr/>
            </p:nvSpPr>
            <p:spPr>
              <a:xfrm>
                <a:off x="1217981" y="896112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sz="1400" kern="100" dirty="0">
                    <a:solidFill>
                      <a:srgbClr val="000000"/>
                    </a:solidFill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S</a:t>
                </a:r>
                <a:endParaRPr lang="zh-CN" sz="14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62" name="直接连接符 61"/>
            <p:cNvCxnSpPr/>
            <p:nvPr/>
          </p:nvCxnSpPr>
          <p:spPr>
            <a:xfrm flipH="1">
              <a:off x="3485692" y="1144829"/>
              <a:ext cx="0" cy="55816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>
              <a:off x="1342339" y="431597"/>
              <a:ext cx="0" cy="452437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>
              <a:off x="2465222" y="1843430"/>
              <a:ext cx="89027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2" name="椭圆 91"/>
          <p:cNvSpPr>
            <a:spLocks noChangeAspect="1"/>
          </p:cNvSpPr>
          <p:nvPr/>
        </p:nvSpPr>
        <p:spPr>
          <a:xfrm>
            <a:off x="969585" y="4484826"/>
            <a:ext cx="238284" cy="2405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FF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6</a:t>
            </a:r>
            <a:endParaRPr lang="zh-CN" sz="1400" kern="100" dirty="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94" name="直接连接符 93"/>
          <p:cNvCxnSpPr>
            <a:endCxn id="93" idx="0"/>
          </p:cNvCxnSpPr>
          <p:nvPr/>
        </p:nvCxnSpPr>
        <p:spPr>
          <a:xfrm flipH="1">
            <a:off x="1242636" y="5033383"/>
            <a:ext cx="13551" cy="91117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6" name="文本框 90"/>
          <p:cNvSpPr txBox="1"/>
          <p:nvPr/>
        </p:nvSpPr>
        <p:spPr>
          <a:xfrm>
            <a:off x="912482" y="5448060"/>
            <a:ext cx="325780" cy="324521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5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" name="文本框 113"/>
          <p:cNvSpPr txBox="1"/>
          <p:nvPr/>
        </p:nvSpPr>
        <p:spPr>
          <a:xfrm>
            <a:off x="541799" y="5951042"/>
            <a:ext cx="626357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g=12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" name="椭圆 92"/>
          <p:cNvSpPr>
            <a:spLocks noChangeAspect="1"/>
          </p:cNvSpPr>
          <p:nvPr/>
        </p:nvSpPr>
        <p:spPr>
          <a:xfrm>
            <a:off x="1090931" y="5944561"/>
            <a:ext cx="303409" cy="306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G</a:t>
            </a:r>
            <a:endParaRPr lang="zh-CN" sz="14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8" name="椭圆 97"/>
          <p:cNvSpPr>
            <a:spLocks noChangeAspect="1"/>
          </p:cNvSpPr>
          <p:nvPr/>
        </p:nvSpPr>
        <p:spPr>
          <a:xfrm>
            <a:off x="3160644" y="5700663"/>
            <a:ext cx="238284" cy="2405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FF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7</a:t>
            </a:r>
            <a:endParaRPr lang="zh-CN" sz="1400" kern="100" dirty="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" name="椭圆 90"/>
          <p:cNvSpPr>
            <a:spLocks noChangeAspect="1"/>
          </p:cNvSpPr>
          <p:nvPr/>
        </p:nvSpPr>
        <p:spPr>
          <a:xfrm>
            <a:off x="6532123" y="4982706"/>
            <a:ext cx="238905" cy="24119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 dirty="0">
                <a:solidFill>
                  <a:srgbClr val="FF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endParaRPr lang="zh-CN" sz="1400" kern="100" dirty="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" name="椭圆 94"/>
          <p:cNvSpPr>
            <a:spLocks noChangeAspect="1"/>
          </p:cNvSpPr>
          <p:nvPr/>
        </p:nvSpPr>
        <p:spPr>
          <a:xfrm>
            <a:off x="6484955" y="4228540"/>
            <a:ext cx="238284" cy="2405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FF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sz="1400" kern="100" dirty="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9" name="椭圆 98"/>
          <p:cNvSpPr>
            <a:spLocks noChangeAspect="1"/>
          </p:cNvSpPr>
          <p:nvPr/>
        </p:nvSpPr>
        <p:spPr>
          <a:xfrm>
            <a:off x="6271668" y="6359017"/>
            <a:ext cx="238284" cy="2405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FF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endParaRPr lang="zh-CN" sz="1400" kern="100" dirty="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0" name="椭圆 99"/>
          <p:cNvSpPr>
            <a:spLocks noChangeAspect="1"/>
          </p:cNvSpPr>
          <p:nvPr/>
        </p:nvSpPr>
        <p:spPr>
          <a:xfrm>
            <a:off x="7191658" y="6397358"/>
            <a:ext cx="238284" cy="2405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FF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4</a:t>
            </a:r>
            <a:endParaRPr lang="zh-CN" sz="1400" kern="100" dirty="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1" name="椭圆 100"/>
          <p:cNvSpPr>
            <a:spLocks noChangeAspect="1"/>
          </p:cNvSpPr>
          <p:nvPr/>
        </p:nvSpPr>
        <p:spPr>
          <a:xfrm>
            <a:off x="8239112" y="4844084"/>
            <a:ext cx="238284" cy="2405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FF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5</a:t>
            </a:r>
            <a:endParaRPr lang="zh-CN" sz="1400" kern="100" dirty="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2" name="椭圆 101"/>
          <p:cNvSpPr>
            <a:spLocks noChangeAspect="1"/>
          </p:cNvSpPr>
          <p:nvPr/>
        </p:nvSpPr>
        <p:spPr>
          <a:xfrm>
            <a:off x="4826340" y="6080917"/>
            <a:ext cx="238284" cy="2405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FF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6</a:t>
            </a:r>
            <a:endParaRPr lang="zh-CN" sz="1400" kern="100" dirty="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3" name="椭圆 102"/>
          <p:cNvSpPr>
            <a:spLocks noChangeAspect="1"/>
          </p:cNvSpPr>
          <p:nvPr/>
        </p:nvSpPr>
        <p:spPr>
          <a:xfrm>
            <a:off x="8239112" y="6385175"/>
            <a:ext cx="238284" cy="2405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FF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7</a:t>
            </a:r>
            <a:endParaRPr lang="zh-CN" sz="1400" kern="100" dirty="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8502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6" grpId="0" animBg="1"/>
      <p:bldP spid="17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33" grpId="0" animBg="1"/>
      <p:bldP spid="34" grpId="0" animBg="1"/>
      <p:bldP spid="37" grpId="0" animBg="1"/>
      <p:bldP spid="39" grpId="0" animBg="1"/>
      <p:bldP spid="40" grpId="0" animBg="1"/>
      <p:bldP spid="44" grpId="0" animBg="1"/>
      <p:bldP spid="45" grpId="0" animBg="1"/>
      <p:bldP spid="50" grpId="0" animBg="1"/>
      <p:bldP spid="51" grpId="0" animBg="1"/>
      <p:bldP spid="55" grpId="0" animBg="1"/>
      <p:bldP spid="59" grpId="0" animBg="1"/>
      <p:bldP spid="92" grpId="0" animBg="1"/>
      <p:bldP spid="96" grpId="0" animBg="1"/>
      <p:bldP spid="97" grpId="0" animBg="1"/>
      <p:bldP spid="93" grpId="0" animBg="1"/>
      <p:bldP spid="98" grpId="0" animBg="1"/>
      <p:bldP spid="91" grpId="0" animBg="1"/>
      <p:bldP spid="95" grpId="0" animBg="1"/>
      <p:bldP spid="99" grpId="0" animBg="1"/>
      <p:bldP spid="100" grpId="0" animBg="1"/>
      <p:bldP spid="101" grpId="0" animBg="1"/>
      <p:bldP spid="102" grpId="0" animBg="1"/>
      <p:bldP spid="10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迪杰斯特拉（</a:t>
            </a:r>
            <a:r>
              <a:rPr lang="en-US" altLang="zh-CN" dirty="0"/>
              <a:t>Dijkstra</a:t>
            </a:r>
            <a:r>
              <a:rPr lang="zh-CN" altLang="en-US" dirty="0"/>
              <a:t>）算法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en-US"/>
              <a:t>優點：</a:t>
            </a:r>
            <a:endParaRPr lang="en-US" altLang="zh-CN" dirty="0"/>
          </a:p>
          <a:p>
            <a:pPr lvl="1"/>
            <a:r>
              <a:rPr lang="zh-CN" altLang="en-US"/>
              <a:t>當問題有解時，可以找到最佳解。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不足：</a:t>
            </a:r>
            <a:endParaRPr lang="en-US" altLang="zh-CN" dirty="0"/>
          </a:p>
          <a:p>
            <a:pPr lvl="1"/>
            <a:r>
              <a:rPr lang="zh-CN" altLang="en-US"/>
              <a:t>只考慮了節點距離起點的距離，沒有考慮節點到終點的距離</a:t>
            </a:r>
            <a:endParaRPr lang="en-US" altLang="zh-C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3CB851-19B3-460D-7430-14D09F3EEE9C}"/>
              </a:ext>
            </a:extLst>
          </p:cNvPr>
          <p:cNvSpPr txBox="1"/>
          <p:nvPr/>
        </p:nvSpPr>
        <p:spPr>
          <a:xfrm>
            <a:off x="3356113" y="5080624"/>
            <a:ext cx="2888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FF0000"/>
                </a:solidFill>
              </a:rPr>
              <a:t>這將帶來的後果是</a:t>
            </a:r>
            <a:r>
              <a:rPr lang="zh-CN" altLang="en-US" sz="2400">
                <a:solidFill>
                  <a:srgbClr val="FF0000"/>
                </a:solidFill>
              </a:rPr>
              <a:t>？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1936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E32BAC2-D8AB-4A76-9064-AE383319E85D}" type="slidenum">
              <a:rPr lang="en-US" altLang="zh-CN" smtClean="0">
                <a:ea typeface="黑体" pitchFamily="49" charset="-122"/>
              </a:rPr>
              <a:pPr/>
              <a:t>33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1.4 </a:t>
            </a:r>
            <a:r>
              <a:rPr lang="zh-CN" altLang="en-US"/>
              <a:t>啓發式圖搜索</a:t>
            </a:r>
            <a:endParaRPr lang="zh-CN" altLang="en-US" dirty="0"/>
          </a:p>
        </p:txBody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sz="3200" b="1" dirty="0"/>
          </a:p>
          <a:p>
            <a:r>
              <a:rPr lang="zh-CN" altLang="en-US" sz="3200" b="1"/>
              <a:t>引入啓發知識，在保證找到最佳解的情况下，盡可能减少搜索範圍，提高搜索效率。</a:t>
            </a:r>
          </a:p>
          <a:p>
            <a:pPr marL="0" indent="0" eaLnBrk="1" hangingPunct="1">
              <a:buNone/>
            </a:pPr>
            <a:endParaRPr lang="en-US" altLang="zh-CN" sz="3200" b="1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E32BAC2-D8AB-4A76-9064-AE383319E85D}" type="slidenum">
              <a:rPr lang="en-US" altLang="zh-CN" smtClean="0">
                <a:ea typeface="黑体" pitchFamily="49" charset="-122"/>
              </a:rPr>
              <a:pPr/>
              <a:t>34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1.4 </a:t>
            </a:r>
            <a:r>
              <a:rPr lang="zh-CN" altLang="en-US"/>
              <a:t>啓發式圖搜索</a:t>
            </a:r>
            <a:endParaRPr lang="zh-CN" altLang="en-US" dirty="0"/>
          </a:p>
        </p:txBody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sz="3200" b="1"/>
              <a:t>啓發知識：</a:t>
            </a:r>
            <a:endParaRPr lang="en-US" altLang="zh-CN" sz="3200" b="1" dirty="0"/>
          </a:p>
          <a:p>
            <a:pPr lvl="1"/>
            <a:r>
              <a:rPr lang="zh-CN" altLang="en-US" sz="3000" b="1"/>
              <a:t>評估節點到達目標的距離</a:t>
            </a:r>
            <a:endParaRPr lang="zh-CN" altLang="en-US" sz="3000" b="1" dirty="0"/>
          </a:p>
        </p:txBody>
      </p:sp>
      <p:sp>
        <p:nvSpPr>
          <p:cNvPr id="60421" name="Oval 4"/>
          <p:cNvSpPr>
            <a:spLocks noChangeArrowheads="1"/>
          </p:cNvSpPr>
          <p:nvPr/>
        </p:nvSpPr>
        <p:spPr bwMode="auto">
          <a:xfrm>
            <a:off x="4038600" y="268897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2" name="Oval 5"/>
          <p:cNvSpPr>
            <a:spLocks noChangeArrowheads="1"/>
          </p:cNvSpPr>
          <p:nvPr/>
        </p:nvSpPr>
        <p:spPr bwMode="auto">
          <a:xfrm>
            <a:off x="3276600" y="329857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3" name="Oval 6"/>
          <p:cNvSpPr>
            <a:spLocks noChangeArrowheads="1"/>
          </p:cNvSpPr>
          <p:nvPr/>
        </p:nvSpPr>
        <p:spPr bwMode="auto">
          <a:xfrm>
            <a:off x="4876800" y="329857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4" name="Oval 7"/>
          <p:cNvSpPr>
            <a:spLocks noChangeArrowheads="1"/>
          </p:cNvSpPr>
          <p:nvPr/>
        </p:nvSpPr>
        <p:spPr bwMode="auto">
          <a:xfrm>
            <a:off x="2971800" y="421297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5" name="Oval 8"/>
          <p:cNvSpPr>
            <a:spLocks noChangeArrowheads="1"/>
          </p:cNvSpPr>
          <p:nvPr/>
        </p:nvSpPr>
        <p:spPr bwMode="auto">
          <a:xfrm>
            <a:off x="5257800" y="421297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6" name="Oval 9"/>
          <p:cNvSpPr>
            <a:spLocks noChangeArrowheads="1"/>
          </p:cNvSpPr>
          <p:nvPr/>
        </p:nvSpPr>
        <p:spPr bwMode="auto">
          <a:xfrm>
            <a:off x="3657600" y="421297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7" name="Oval 10"/>
          <p:cNvSpPr>
            <a:spLocks noChangeArrowheads="1"/>
          </p:cNvSpPr>
          <p:nvPr/>
        </p:nvSpPr>
        <p:spPr bwMode="auto">
          <a:xfrm>
            <a:off x="6047096" y="4253914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8" name="Oval 11"/>
          <p:cNvSpPr>
            <a:spLocks noChangeArrowheads="1"/>
          </p:cNvSpPr>
          <p:nvPr/>
        </p:nvSpPr>
        <p:spPr bwMode="auto">
          <a:xfrm>
            <a:off x="2057400" y="4158378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9" name="Oval 12"/>
          <p:cNvSpPr>
            <a:spLocks noChangeArrowheads="1"/>
          </p:cNvSpPr>
          <p:nvPr/>
        </p:nvSpPr>
        <p:spPr bwMode="auto">
          <a:xfrm>
            <a:off x="4495800" y="421297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30" name="Line 13"/>
          <p:cNvSpPr>
            <a:spLocks noChangeShapeType="1"/>
          </p:cNvSpPr>
          <p:nvPr/>
        </p:nvSpPr>
        <p:spPr bwMode="auto">
          <a:xfrm flipH="1">
            <a:off x="3352800" y="284137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31" name="Line 14"/>
          <p:cNvSpPr>
            <a:spLocks noChangeShapeType="1"/>
          </p:cNvSpPr>
          <p:nvPr/>
        </p:nvSpPr>
        <p:spPr bwMode="auto">
          <a:xfrm>
            <a:off x="4114800" y="2841370"/>
            <a:ext cx="838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32" name="Line 15"/>
          <p:cNvSpPr>
            <a:spLocks noChangeShapeType="1"/>
          </p:cNvSpPr>
          <p:nvPr/>
        </p:nvSpPr>
        <p:spPr bwMode="auto">
          <a:xfrm flipH="1">
            <a:off x="2133600" y="3472578"/>
            <a:ext cx="1219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33" name="Line 16"/>
          <p:cNvSpPr>
            <a:spLocks noChangeShapeType="1"/>
          </p:cNvSpPr>
          <p:nvPr/>
        </p:nvSpPr>
        <p:spPr bwMode="auto">
          <a:xfrm flipH="1">
            <a:off x="3034352" y="3486226"/>
            <a:ext cx="304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34" name="Line 17"/>
          <p:cNvSpPr>
            <a:spLocks noChangeShapeType="1"/>
          </p:cNvSpPr>
          <p:nvPr/>
        </p:nvSpPr>
        <p:spPr bwMode="auto">
          <a:xfrm>
            <a:off x="3352800" y="3450970"/>
            <a:ext cx="381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35" name="Line 18"/>
          <p:cNvSpPr>
            <a:spLocks noChangeShapeType="1"/>
          </p:cNvSpPr>
          <p:nvPr/>
        </p:nvSpPr>
        <p:spPr bwMode="auto">
          <a:xfrm flipH="1">
            <a:off x="4572000" y="3450970"/>
            <a:ext cx="381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36" name="Line 19"/>
          <p:cNvSpPr>
            <a:spLocks noChangeShapeType="1"/>
          </p:cNvSpPr>
          <p:nvPr/>
        </p:nvSpPr>
        <p:spPr bwMode="auto">
          <a:xfrm>
            <a:off x="4953000" y="3450970"/>
            <a:ext cx="381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37" name="Line 20"/>
          <p:cNvSpPr>
            <a:spLocks noChangeShapeType="1"/>
          </p:cNvSpPr>
          <p:nvPr/>
        </p:nvSpPr>
        <p:spPr bwMode="auto">
          <a:xfrm>
            <a:off x="5015552" y="3423674"/>
            <a:ext cx="1066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38" name="Oval 21"/>
          <p:cNvSpPr>
            <a:spLocks noChangeArrowheads="1"/>
          </p:cNvSpPr>
          <p:nvPr/>
        </p:nvSpPr>
        <p:spPr bwMode="auto">
          <a:xfrm>
            <a:off x="2743200" y="512737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39" name="Oval 22"/>
          <p:cNvSpPr>
            <a:spLocks noChangeArrowheads="1"/>
          </p:cNvSpPr>
          <p:nvPr/>
        </p:nvSpPr>
        <p:spPr bwMode="auto">
          <a:xfrm>
            <a:off x="3352800" y="512737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40" name="Line 23"/>
          <p:cNvSpPr>
            <a:spLocks noChangeShapeType="1"/>
          </p:cNvSpPr>
          <p:nvPr/>
        </p:nvSpPr>
        <p:spPr bwMode="auto">
          <a:xfrm flipH="1">
            <a:off x="2819400" y="4365370"/>
            <a:ext cx="228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41" name="Line 24"/>
          <p:cNvSpPr>
            <a:spLocks noChangeShapeType="1"/>
          </p:cNvSpPr>
          <p:nvPr/>
        </p:nvSpPr>
        <p:spPr bwMode="auto">
          <a:xfrm>
            <a:off x="3048000" y="4365370"/>
            <a:ext cx="381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Oval 9"/>
          <p:cNvSpPr>
            <a:spLocks noChangeArrowheads="1"/>
          </p:cNvSpPr>
          <p:nvPr/>
        </p:nvSpPr>
        <p:spPr bwMode="auto">
          <a:xfrm>
            <a:off x="4011828" y="5835824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文本框 61"/>
          <p:cNvSpPr txBox="1"/>
          <p:nvPr/>
        </p:nvSpPr>
        <p:spPr>
          <a:xfrm>
            <a:off x="4226534" y="5693652"/>
            <a:ext cx="650266" cy="284344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zh-CN" altLang="en-US" kern="10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目標</a:t>
            </a:r>
            <a:endParaRPr 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" name="直接连接符 2"/>
          <p:cNvCxnSpPr>
            <a:stCxn id="60426" idx="4"/>
            <a:endCxn id="26" idx="0"/>
          </p:cNvCxnSpPr>
          <p:nvPr/>
        </p:nvCxnSpPr>
        <p:spPr>
          <a:xfrm>
            <a:off x="3733800" y="4365370"/>
            <a:ext cx="354228" cy="1470454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文本框 61"/>
          <p:cNvSpPr txBox="1"/>
          <p:nvPr/>
        </p:nvSpPr>
        <p:spPr>
          <a:xfrm>
            <a:off x="3921734" y="4687219"/>
            <a:ext cx="650266" cy="284344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h(n)</a:t>
            </a:r>
            <a:endParaRPr 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" name="文本框 61"/>
          <p:cNvSpPr txBox="1"/>
          <p:nvPr/>
        </p:nvSpPr>
        <p:spPr>
          <a:xfrm>
            <a:off x="3863686" y="4119702"/>
            <a:ext cx="507010" cy="286612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n</a:t>
            </a:r>
            <a:endParaRPr 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76585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6614746-0E0F-4B28-97DD-4CD3D965DE2A}" type="slidenum">
              <a:rPr lang="en-US" altLang="zh-CN" smtClean="0">
                <a:ea typeface="黑体" pitchFamily="49" charset="-122"/>
              </a:rPr>
              <a:pPr/>
              <a:t>35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609600"/>
            <a:ext cx="8153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/>
              <a:t>1.4.1</a:t>
            </a:r>
            <a:r>
              <a:rPr lang="zh-CN" altLang="en-US"/>
              <a:t> 啓發式搜索算法</a:t>
            </a:r>
            <a:r>
              <a:rPr lang="en-US" altLang="zh-CN"/>
              <a:t>A</a:t>
            </a:r>
            <a:r>
              <a:rPr lang="zh-CN" altLang="en-US" dirty="0"/>
              <a:t>（</a:t>
            </a:r>
            <a:r>
              <a:rPr lang="en-US" altLang="zh-CN" dirty="0"/>
              <a:t>A</a:t>
            </a:r>
            <a:r>
              <a:rPr lang="zh-CN" altLang="en-US" dirty="0"/>
              <a:t>算法）</a:t>
            </a:r>
          </a:p>
        </p:txBody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2088106"/>
            <a:ext cx="7772400" cy="393169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3200" b="1"/>
              <a:t>評價函數的格式：</a:t>
            </a:r>
          </a:p>
          <a:p>
            <a:pPr eaLnBrk="1" hangingPunct="1"/>
            <a:endParaRPr lang="zh-CN" altLang="en-US" sz="3200" b="1" dirty="0"/>
          </a:p>
          <a:p>
            <a:pPr eaLnBrk="1" hangingPunct="1">
              <a:buFont typeface="Wingdings" pitchFamily="2" charset="2"/>
              <a:buNone/>
            </a:pPr>
            <a:r>
              <a:rPr lang="en-US" altLang="en-US" sz="3200" b="1" dirty="0"/>
              <a:t>		</a:t>
            </a:r>
            <a:r>
              <a:rPr lang="en-US" altLang="zh-CN" sz="3200" b="1" dirty="0"/>
              <a:t>f(n) = g(n) + h(n)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3200" b="1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3200" b="1" dirty="0"/>
              <a:t>		f(</a:t>
            </a:r>
            <a:r>
              <a:rPr lang="en-US" altLang="zh-CN" sz="3200" b="1"/>
              <a:t>n)</a:t>
            </a:r>
            <a:r>
              <a:rPr lang="zh-CN" altLang="en-US" sz="3200" b="1"/>
              <a:t>：評價函數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3200" b="1" dirty="0"/>
              <a:t>		</a:t>
            </a:r>
            <a:r>
              <a:rPr lang="en-US" altLang="zh-CN" sz="3200" b="1" dirty="0"/>
              <a:t>h(</a:t>
            </a:r>
            <a:r>
              <a:rPr lang="en-US" altLang="zh-CN" sz="3200" b="1"/>
              <a:t>n)</a:t>
            </a:r>
            <a:r>
              <a:rPr lang="zh-CN" altLang="en-US" sz="3200" b="1"/>
              <a:t>：啓發函數</a:t>
            </a:r>
            <a:endParaRPr lang="zh-CN" altLang="en-US" sz="3200" b="1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FADE76C-6410-4B95-840C-10DA1C40D1A3}" type="slidenum">
              <a:rPr lang="en-US" altLang="zh-CN" smtClean="0">
                <a:ea typeface="黑体" pitchFamily="49" charset="-122"/>
              </a:rPr>
              <a:pPr/>
              <a:t>36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符號的意義</a:t>
            </a:r>
            <a:endParaRPr lang="zh-CN" altLang="en-US" dirty="0"/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077200" cy="4114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sz="3200" b="1" dirty="0"/>
              <a:t>g*(</a:t>
            </a:r>
            <a:r>
              <a:rPr lang="en-US" altLang="zh-CN" sz="3200" b="1"/>
              <a:t>n)</a:t>
            </a:r>
            <a:r>
              <a:rPr lang="zh-CN" altLang="en-US" sz="3200" b="1"/>
              <a:t>：從</a:t>
            </a:r>
            <a:r>
              <a:rPr lang="en-US" altLang="zh-CN" sz="3200" b="1"/>
              <a:t>s</a:t>
            </a:r>
            <a:r>
              <a:rPr lang="zh-CN" altLang="en-US" sz="3200" b="1"/>
              <a:t>到</a:t>
            </a:r>
            <a:r>
              <a:rPr lang="en-US" altLang="zh-CN" sz="3200" b="1"/>
              <a:t>n</a:t>
            </a:r>
            <a:r>
              <a:rPr lang="zh-CN" altLang="en-US" sz="3200" b="1"/>
              <a:t>的最短路徑的耗散值</a:t>
            </a:r>
          </a:p>
          <a:p>
            <a:pPr eaLnBrk="1" hangingPunct="1"/>
            <a:r>
              <a:rPr lang="en-US" altLang="zh-CN" sz="3200" b="1"/>
              <a:t>h</a:t>
            </a:r>
            <a:r>
              <a:rPr lang="en-US" altLang="zh-CN" sz="3200" b="1" dirty="0"/>
              <a:t>*(</a:t>
            </a:r>
            <a:r>
              <a:rPr lang="en-US" altLang="zh-CN" sz="3200" b="1"/>
              <a:t>n)</a:t>
            </a:r>
            <a:r>
              <a:rPr lang="zh-CN" altLang="en-US" sz="3200" b="1"/>
              <a:t>：從</a:t>
            </a:r>
            <a:r>
              <a:rPr lang="en-US" altLang="zh-CN" sz="3200" b="1"/>
              <a:t>n</a:t>
            </a:r>
            <a:r>
              <a:rPr lang="zh-CN" altLang="en-US" sz="3200" b="1"/>
              <a:t>到</a:t>
            </a:r>
            <a:r>
              <a:rPr lang="en-US" altLang="zh-CN" sz="3200" b="1"/>
              <a:t>t</a:t>
            </a:r>
            <a:r>
              <a:rPr lang="zh-CN" altLang="en-US" sz="3200" b="1"/>
              <a:t>的最短路徑的耗散值</a:t>
            </a:r>
          </a:p>
          <a:p>
            <a:pPr eaLnBrk="1" hangingPunct="1"/>
            <a:r>
              <a:rPr lang="en-US" altLang="zh-CN" sz="3200" b="1"/>
              <a:t>f</a:t>
            </a:r>
            <a:r>
              <a:rPr lang="en-US" altLang="zh-CN" sz="3200" b="1" dirty="0"/>
              <a:t>*(n)=g*(n)+h*(n</a:t>
            </a:r>
            <a:r>
              <a:rPr lang="en-US" altLang="zh-CN" sz="3200" b="1"/>
              <a:t>)</a:t>
            </a:r>
            <a:r>
              <a:rPr lang="zh-CN" altLang="en-US" sz="3200" b="1"/>
              <a:t>：</a:t>
            </a:r>
            <a:r>
              <a:rPr lang="zh-CN" altLang="zh-CN" sz="3200" b="1"/>
              <a:t>從</a:t>
            </a:r>
            <a:r>
              <a:rPr lang="en-US" altLang="zh-CN" sz="3200" b="1"/>
              <a:t>s</a:t>
            </a:r>
            <a:r>
              <a:rPr lang="zh-CN" altLang="zh-CN" sz="3200" b="1"/>
              <a:t>經過</a:t>
            </a:r>
            <a:r>
              <a:rPr lang="en-US" altLang="zh-CN" sz="3200" b="1"/>
              <a:t>n</a:t>
            </a:r>
            <a:r>
              <a:rPr lang="zh-CN" altLang="zh-CN" sz="3200" b="1"/>
              <a:t>到</a:t>
            </a:r>
            <a:r>
              <a:rPr lang="en-US" altLang="zh-CN" sz="3200" b="1"/>
              <a:t>t</a:t>
            </a:r>
            <a:r>
              <a:rPr lang="zh-CN" altLang="zh-CN" sz="3200" b="1"/>
              <a:t>的最短路徑的耗散值</a:t>
            </a:r>
          </a:p>
          <a:p>
            <a:pPr eaLnBrk="1" hangingPunct="1"/>
            <a:r>
              <a:rPr lang="en-US" altLang="zh-CN" sz="3200" b="1"/>
              <a:t>g</a:t>
            </a:r>
            <a:r>
              <a:rPr lang="en-US" altLang="zh-CN" sz="3200" b="1" dirty="0"/>
              <a:t>(n)</a:t>
            </a:r>
            <a:r>
              <a:rPr lang="zh-CN" altLang="en-US" sz="3200" b="1" dirty="0"/>
              <a:t>、</a:t>
            </a:r>
            <a:r>
              <a:rPr lang="en-US" altLang="zh-CN" sz="3200" b="1" dirty="0"/>
              <a:t>h(n)</a:t>
            </a:r>
            <a:r>
              <a:rPr lang="zh-CN" altLang="en-US" sz="3200" b="1" dirty="0"/>
              <a:t>、</a:t>
            </a:r>
            <a:r>
              <a:rPr lang="en-US" altLang="zh-CN" sz="3200" b="1" dirty="0"/>
              <a:t>f(</a:t>
            </a:r>
            <a:r>
              <a:rPr lang="en-US" altLang="zh-CN" sz="3200" b="1"/>
              <a:t>n)</a:t>
            </a:r>
            <a:r>
              <a:rPr lang="zh-CN" altLang="zh-CN" sz="3200" b="1"/>
              <a:t>分別是</a:t>
            </a:r>
            <a:r>
              <a:rPr lang="en-US" altLang="zh-CN" sz="3200" b="1"/>
              <a:t>g</a:t>
            </a:r>
            <a:r>
              <a:rPr lang="en-US" altLang="zh-CN" sz="3200" b="1" dirty="0"/>
              <a:t>*(n)</a:t>
            </a:r>
            <a:r>
              <a:rPr lang="zh-CN" altLang="en-US" sz="3200" b="1" dirty="0"/>
              <a:t>、</a:t>
            </a:r>
            <a:r>
              <a:rPr lang="en-US" altLang="zh-CN" sz="3200" b="1" dirty="0"/>
              <a:t>h*(n)</a:t>
            </a:r>
            <a:r>
              <a:rPr lang="zh-CN" altLang="en-US" sz="3200" b="1" dirty="0"/>
              <a:t>、</a:t>
            </a:r>
            <a:r>
              <a:rPr lang="en-US" altLang="zh-CN" sz="3200" b="1" dirty="0"/>
              <a:t>f*(</a:t>
            </a:r>
            <a:r>
              <a:rPr lang="en-US" altLang="zh-CN" sz="3200" b="1"/>
              <a:t>n)</a:t>
            </a:r>
            <a:r>
              <a:rPr lang="zh-CN" altLang="en-US" sz="3200" b="1"/>
              <a:t>的估計值</a:t>
            </a:r>
          </a:p>
          <a:p>
            <a:pPr eaLnBrk="1" hangingPunct="1"/>
            <a:r>
              <a:rPr lang="zh-CN" altLang="en-US" sz="3200" b="1">
                <a:solidFill>
                  <a:srgbClr val="FF0000"/>
                </a:solidFill>
              </a:rPr>
              <a:t>用</a:t>
            </a:r>
            <a:r>
              <a:rPr lang="en-US" altLang="zh-CN" sz="3200" b="1" dirty="0">
                <a:solidFill>
                  <a:srgbClr val="FF0000"/>
                </a:solidFill>
              </a:rPr>
              <a:t>f(</a:t>
            </a:r>
            <a:r>
              <a:rPr lang="en-US" altLang="zh-CN" sz="3200" b="1">
                <a:solidFill>
                  <a:srgbClr val="FF0000"/>
                </a:solidFill>
              </a:rPr>
              <a:t>n)</a:t>
            </a:r>
            <a:r>
              <a:rPr lang="zh-CN" altLang="en-US" sz="3200" b="1">
                <a:solidFill>
                  <a:srgbClr val="FF0000"/>
                </a:solidFill>
              </a:rPr>
              <a:t>對待擴展節點進行評價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1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舉例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/>
              <a:t>優先擴展</a:t>
            </a:r>
            <a:r>
              <a:rPr lang="en-US" altLang="zh-CN"/>
              <a:t>f</a:t>
            </a:r>
            <a:r>
              <a:rPr lang="en-US" altLang="zh-CN" dirty="0"/>
              <a:t>(</a:t>
            </a:r>
            <a:r>
              <a:rPr lang="en-US" altLang="zh-CN"/>
              <a:t>n)</a:t>
            </a:r>
            <a:r>
              <a:rPr lang="zh-CN" altLang="en-US"/>
              <a:t>值最小的節點，直到</a:t>
            </a:r>
            <a:r>
              <a:rPr lang="en-US" altLang="zh-CN"/>
              <a:t>f(</a:t>
            </a:r>
            <a:r>
              <a:rPr lang="zh-CN" altLang="en-US"/>
              <a:t>終點</a:t>
            </a:r>
            <a:r>
              <a:rPr lang="en-US" altLang="zh-CN"/>
              <a:t>)</a:t>
            </a:r>
            <a:r>
              <a:rPr lang="zh-CN" altLang="en-US" dirty="0"/>
              <a:t>最小。</a:t>
            </a:r>
          </a:p>
        </p:txBody>
      </p:sp>
      <p:sp>
        <p:nvSpPr>
          <p:cNvPr id="7" name="椭圆 6"/>
          <p:cNvSpPr>
            <a:spLocks noChangeAspect="1"/>
          </p:cNvSpPr>
          <p:nvPr/>
        </p:nvSpPr>
        <p:spPr>
          <a:xfrm>
            <a:off x="3017939" y="2283738"/>
            <a:ext cx="303409" cy="306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 dirty="0">
                <a:solidFill>
                  <a:srgbClr val="00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S</a:t>
            </a:r>
            <a:endParaRPr lang="zh-CN" sz="14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5"/>
          <p:cNvSpPr txBox="1"/>
          <p:nvPr/>
        </p:nvSpPr>
        <p:spPr>
          <a:xfrm>
            <a:off x="3201714" y="2801117"/>
            <a:ext cx="325780" cy="324521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76"/>
          <p:cNvSpPr txBox="1"/>
          <p:nvPr/>
        </p:nvSpPr>
        <p:spPr>
          <a:xfrm>
            <a:off x="2047028" y="2822862"/>
            <a:ext cx="325780" cy="324521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77"/>
          <p:cNvSpPr txBox="1"/>
          <p:nvPr/>
        </p:nvSpPr>
        <p:spPr>
          <a:xfrm>
            <a:off x="3953543" y="2778306"/>
            <a:ext cx="325629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6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89"/>
          <p:cNvSpPr txBox="1"/>
          <p:nvPr/>
        </p:nvSpPr>
        <p:spPr>
          <a:xfrm>
            <a:off x="1998482" y="4181814"/>
            <a:ext cx="325629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90"/>
          <p:cNvSpPr txBox="1"/>
          <p:nvPr/>
        </p:nvSpPr>
        <p:spPr>
          <a:xfrm>
            <a:off x="1208515" y="3981313"/>
            <a:ext cx="325780" cy="324521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4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100"/>
          <p:cNvSpPr txBox="1"/>
          <p:nvPr/>
        </p:nvSpPr>
        <p:spPr>
          <a:xfrm>
            <a:off x="2219144" y="5300165"/>
            <a:ext cx="325629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椭圆 19"/>
          <p:cNvSpPr>
            <a:spLocks noChangeAspect="1"/>
          </p:cNvSpPr>
          <p:nvPr/>
        </p:nvSpPr>
        <p:spPr>
          <a:xfrm>
            <a:off x="3397477" y="2190170"/>
            <a:ext cx="238905" cy="24119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 dirty="0">
                <a:solidFill>
                  <a:srgbClr val="FF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endParaRPr lang="zh-CN" sz="1400" kern="100" dirty="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" name="文本框 109"/>
          <p:cNvSpPr txBox="1"/>
          <p:nvPr/>
        </p:nvSpPr>
        <p:spPr>
          <a:xfrm>
            <a:off x="1866086" y="3339710"/>
            <a:ext cx="626357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=7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文本框 110"/>
          <p:cNvSpPr txBox="1"/>
          <p:nvPr/>
        </p:nvSpPr>
        <p:spPr>
          <a:xfrm>
            <a:off x="3304799" y="3446643"/>
            <a:ext cx="625974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=10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文本框 111"/>
          <p:cNvSpPr txBox="1"/>
          <p:nvPr/>
        </p:nvSpPr>
        <p:spPr>
          <a:xfrm>
            <a:off x="4048884" y="3397633"/>
            <a:ext cx="625974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=9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" name="椭圆 23"/>
          <p:cNvSpPr>
            <a:spLocks noChangeAspect="1"/>
          </p:cNvSpPr>
          <p:nvPr/>
        </p:nvSpPr>
        <p:spPr>
          <a:xfrm>
            <a:off x="1535093" y="3161487"/>
            <a:ext cx="238284" cy="2405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FF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sz="1400" kern="100" dirty="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" name="文本框 113"/>
          <p:cNvSpPr txBox="1"/>
          <p:nvPr/>
        </p:nvSpPr>
        <p:spPr>
          <a:xfrm>
            <a:off x="630676" y="4707573"/>
            <a:ext cx="626357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=14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文本框 114"/>
          <p:cNvSpPr txBox="1"/>
          <p:nvPr/>
        </p:nvSpPr>
        <p:spPr>
          <a:xfrm>
            <a:off x="1651014" y="4707573"/>
            <a:ext cx="626357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=6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" name="文本框 122"/>
          <p:cNvSpPr txBox="1"/>
          <p:nvPr/>
        </p:nvSpPr>
        <p:spPr>
          <a:xfrm>
            <a:off x="2886424" y="5928402"/>
            <a:ext cx="626357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=8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" name="椭圆 33"/>
          <p:cNvSpPr>
            <a:spLocks noChangeAspect="1"/>
          </p:cNvSpPr>
          <p:nvPr/>
        </p:nvSpPr>
        <p:spPr>
          <a:xfrm>
            <a:off x="2320648" y="4493705"/>
            <a:ext cx="238284" cy="2405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FF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endParaRPr lang="zh-CN" sz="1400" kern="100" dirty="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6" name="直接连接符 35"/>
          <p:cNvCxnSpPr/>
          <p:nvPr/>
        </p:nvCxnSpPr>
        <p:spPr>
          <a:xfrm flipH="1">
            <a:off x="1764582" y="2586717"/>
            <a:ext cx="1356148" cy="85978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椭圆 36"/>
          <p:cNvSpPr>
            <a:spLocks noChangeAspect="1"/>
          </p:cNvSpPr>
          <p:nvPr/>
        </p:nvSpPr>
        <p:spPr>
          <a:xfrm>
            <a:off x="1601292" y="3442189"/>
            <a:ext cx="303409" cy="306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E</a:t>
            </a:r>
            <a:endParaRPr lang="zh-CN" sz="14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8" name="直接连接符 37"/>
          <p:cNvCxnSpPr/>
          <p:nvPr/>
        </p:nvCxnSpPr>
        <p:spPr>
          <a:xfrm>
            <a:off x="3176816" y="2600083"/>
            <a:ext cx="11493" cy="84702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椭圆 38"/>
          <p:cNvSpPr>
            <a:spLocks noChangeAspect="1"/>
          </p:cNvSpPr>
          <p:nvPr/>
        </p:nvSpPr>
        <p:spPr>
          <a:xfrm>
            <a:off x="3035591" y="3460010"/>
            <a:ext cx="303409" cy="306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sz="14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3" name="直接连接符 42"/>
          <p:cNvCxnSpPr/>
          <p:nvPr/>
        </p:nvCxnSpPr>
        <p:spPr>
          <a:xfrm>
            <a:off x="3225360" y="2568894"/>
            <a:ext cx="1419358" cy="83542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椭圆 44"/>
          <p:cNvSpPr>
            <a:spLocks noChangeAspect="1"/>
          </p:cNvSpPr>
          <p:nvPr/>
        </p:nvSpPr>
        <p:spPr>
          <a:xfrm>
            <a:off x="4500784" y="3411000"/>
            <a:ext cx="303409" cy="306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endParaRPr lang="zh-CN" sz="14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0" name="椭圆 49"/>
          <p:cNvSpPr>
            <a:spLocks noChangeAspect="1"/>
          </p:cNvSpPr>
          <p:nvPr/>
        </p:nvSpPr>
        <p:spPr>
          <a:xfrm>
            <a:off x="2082335" y="4716484"/>
            <a:ext cx="303409" cy="306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 dirty="0">
                <a:solidFill>
                  <a:srgbClr val="00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sz="14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1" name="椭圆 50"/>
          <p:cNvSpPr>
            <a:spLocks noChangeAspect="1"/>
          </p:cNvSpPr>
          <p:nvPr/>
        </p:nvSpPr>
        <p:spPr>
          <a:xfrm>
            <a:off x="1115837" y="4716484"/>
            <a:ext cx="303409" cy="306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F</a:t>
            </a:r>
            <a:endParaRPr lang="zh-CN" sz="14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52" name="直接连接符 51"/>
          <p:cNvCxnSpPr/>
          <p:nvPr/>
        </p:nvCxnSpPr>
        <p:spPr>
          <a:xfrm flipH="1">
            <a:off x="1287953" y="3767446"/>
            <a:ext cx="413740" cy="95222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>
            <a:off x="1742516" y="3754079"/>
            <a:ext cx="477334" cy="95145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椭圆 54"/>
          <p:cNvSpPr>
            <a:spLocks noChangeAspect="1"/>
          </p:cNvSpPr>
          <p:nvPr/>
        </p:nvSpPr>
        <p:spPr>
          <a:xfrm>
            <a:off x="2603096" y="5906125"/>
            <a:ext cx="303409" cy="306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 dirty="0">
                <a:solidFill>
                  <a:srgbClr val="00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T</a:t>
            </a:r>
            <a:endParaRPr lang="zh-CN" sz="14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56" name="直接连接符 55"/>
          <p:cNvCxnSpPr/>
          <p:nvPr/>
        </p:nvCxnSpPr>
        <p:spPr>
          <a:xfrm>
            <a:off x="2276516" y="5023919"/>
            <a:ext cx="476951" cy="87023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0" name="组合 59"/>
          <p:cNvGrpSpPr/>
          <p:nvPr/>
        </p:nvGrpSpPr>
        <p:grpSpPr>
          <a:xfrm>
            <a:off x="5136003" y="2352675"/>
            <a:ext cx="3814126" cy="2139780"/>
            <a:chOff x="0" y="0"/>
            <a:chExt cx="4139718" cy="1970532"/>
          </a:xfrm>
        </p:grpSpPr>
        <p:grpSp>
          <p:nvGrpSpPr>
            <p:cNvPr id="61" name="组合 60"/>
            <p:cNvGrpSpPr/>
            <p:nvPr/>
          </p:nvGrpSpPr>
          <p:grpSpPr>
            <a:xfrm>
              <a:off x="0" y="0"/>
              <a:ext cx="4139718" cy="1970532"/>
              <a:chOff x="0" y="0"/>
              <a:chExt cx="4139718" cy="1970532"/>
            </a:xfrm>
          </p:grpSpPr>
          <p:sp>
            <p:nvSpPr>
              <p:cNvPr id="65" name="文本框 58"/>
              <p:cNvSpPr txBox="1"/>
              <p:nvPr/>
            </p:nvSpPr>
            <p:spPr>
              <a:xfrm>
                <a:off x="493776" y="1556663"/>
                <a:ext cx="270000" cy="26640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altLang="zh-CN" sz="1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4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6" name="文本框 54"/>
              <p:cNvSpPr txBox="1"/>
              <p:nvPr/>
            </p:nvSpPr>
            <p:spPr>
              <a:xfrm>
                <a:off x="2398174" y="742228"/>
                <a:ext cx="269875" cy="266065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altLang="zh-CN" sz="1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6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67" name="直接连接符 66"/>
              <p:cNvCxnSpPr>
                <a:endCxn id="72" idx="2"/>
              </p:cNvCxnSpPr>
              <p:nvPr/>
            </p:nvCxnSpPr>
            <p:spPr>
              <a:xfrm flipV="1">
                <a:off x="1459383" y="1018184"/>
                <a:ext cx="1901952" cy="6732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8" name="文本框 55"/>
              <p:cNvSpPr txBox="1"/>
              <p:nvPr/>
            </p:nvSpPr>
            <p:spPr>
              <a:xfrm>
                <a:off x="2798064" y="1576171"/>
                <a:ext cx="269875" cy="266065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3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" name="椭圆 68"/>
              <p:cNvSpPr>
                <a:spLocks noChangeAspect="1"/>
              </p:cNvSpPr>
              <p:nvPr/>
            </p:nvSpPr>
            <p:spPr>
              <a:xfrm>
                <a:off x="1232611" y="182880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400" kern="100" dirty="0">
                    <a:solidFill>
                      <a:srgbClr val="000000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C</a:t>
                </a:r>
                <a:endParaRPr lang="zh-CN" sz="14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0" name="椭圆 69"/>
              <p:cNvSpPr>
                <a:spLocks noChangeAspect="1"/>
              </p:cNvSpPr>
              <p:nvPr/>
            </p:nvSpPr>
            <p:spPr>
              <a:xfrm>
                <a:off x="1217981" y="1708099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400" kern="100" dirty="0">
                    <a:solidFill>
                      <a:srgbClr val="000000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E</a:t>
                </a:r>
                <a:endParaRPr lang="zh-CN" sz="14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1" name="椭圆 70"/>
              <p:cNvSpPr>
                <a:spLocks noChangeAspect="1"/>
              </p:cNvSpPr>
              <p:nvPr/>
            </p:nvSpPr>
            <p:spPr>
              <a:xfrm>
                <a:off x="2231136" y="1719072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400" kern="100" dirty="0">
                    <a:solidFill>
                      <a:srgbClr val="000000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B</a:t>
                </a:r>
                <a:endParaRPr lang="zh-CN" sz="14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2" name="椭圆 71"/>
              <p:cNvSpPr>
                <a:spLocks noChangeAspect="1"/>
              </p:cNvSpPr>
              <p:nvPr/>
            </p:nvSpPr>
            <p:spPr>
              <a:xfrm>
                <a:off x="3361335" y="892454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400" kern="100" dirty="0">
                    <a:solidFill>
                      <a:schemeClr val="tx1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A</a:t>
                </a:r>
                <a:endParaRPr lang="zh-CN" sz="1400" kern="100" dirty="0">
                  <a:solidFill>
                    <a:schemeClr val="tx1"/>
                  </a:solidFill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3" name="椭圆 72"/>
              <p:cNvSpPr>
                <a:spLocks noChangeAspect="1"/>
              </p:cNvSpPr>
              <p:nvPr/>
            </p:nvSpPr>
            <p:spPr>
              <a:xfrm>
                <a:off x="3364992" y="1693469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sz="1400" kern="100" dirty="0">
                    <a:solidFill>
                      <a:srgbClr val="000000"/>
                    </a:solidFill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T</a:t>
                </a:r>
                <a:endParaRPr lang="zh-CN" sz="14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4" name="椭圆 73"/>
              <p:cNvSpPr>
                <a:spLocks noChangeAspect="1"/>
              </p:cNvSpPr>
              <p:nvPr/>
            </p:nvSpPr>
            <p:spPr>
              <a:xfrm>
                <a:off x="14631" y="182880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400" kern="100" dirty="0">
                    <a:solidFill>
                      <a:schemeClr val="tx1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75" name="椭圆 74"/>
              <p:cNvSpPr>
                <a:spLocks noChangeAspect="1"/>
              </p:cNvSpPr>
              <p:nvPr/>
            </p:nvSpPr>
            <p:spPr>
              <a:xfrm>
                <a:off x="0" y="1708099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400" kern="100" dirty="0">
                    <a:solidFill>
                      <a:srgbClr val="000000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F</a:t>
                </a:r>
                <a:endParaRPr lang="zh-CN" sz="14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76" name="直接连接符 75"/>
              <p:cNvCxnSpPr/>
              <p:nvPr/>
            </p:nvCxnSpPr>
            <p:spPr>
              <a:xfrm flipV="1">
                <a:off x="270663" y="285293"/>
                <a:ext cx="962025" cy="4763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/>
              <p:cNvCxnSpPr/>
              <p:nvPr/>
            </p:nvCxnSpPr>
            <p:spPr>
              <a:xfrm flipV="1">
                <a:off x="245059" y="1821485"/>
                <a:ext cx="966470" cy="889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8" name="文本框 47"/>
              <p:cNvSpPr txBox="1"/>
              <p:nvPr/>
            </p:nvSpPr>
            <p:spPr>
              <a:xfrm>
                <a:off x="1722730" y="1572225"/>
                <a:ext cx="270000" cy="26640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2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9" name="文本框 48"/>
              <p:cNvSpPr txBox="1"/>
              <p:nvPr/>
            </p:nvSpPr>
            <p:spPr>
              <a:xfrm>
                <a:off x="1329889" y="504749"/>
                <a:ext cx="270000" cy="26640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altLang="zh-CN" sz="1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2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0" name="文本框 49"/>
              <p:cNvSpPr txBox="1"/>
              <p:nvPr/>
            </p:nvSpPr>
            <p:spPr>
              <a:xfrm>
                <a:off x="1344519" y="1287475"/>
                <a:ext cx="270000" cy="26640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3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1" name="文本框 59"/>
              <p:cNvSpPr txBox="1"/>
              <p:nvPr/>
            </p:nvSpPr>
            <p:spPr>
              <a:xfrm>
                <a:off x="512064" y="0"/>
                <a:ext cx="270000" cy="26640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7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" name="文本框 60"/>
              <p:cNvSpPr txBox="1"/>
              <p:nvPr/>
            </p:nvSpPr>
            <p:spPr>
              <a:xfrm>
                <a:off x="877842" y="950250"/>
                <a:ext cx="485775" cy="266065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zh-CN" sz="1400" b="1" kern="10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起點</a:t>
                </a:r>
                <a:endParaRPr lang="zh-CN" sz="1400" b="1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" name="文本框 61"/>
              <p:cNvSpPr txBox="1"/>
              <p:nvPr/>
            </p:nvSpPr>
            <p:spPr>
              <a:xfrm>
                <a:off x="3653943" y="1671523"/>
                <a:ext cx="485775" cy="266065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zh-CN" sz="1400" b="1" kern="10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終點</a:t>
                </a:r>
                <a:endParaRPr lang="zh-CN" sz="1400" b="1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84" name="直接连接符 83"/>
              <p:cNvCxnSpPr/>
              <p:nvPr/>
            </p:nvCxnSpPr>
            <p:spPr>
              <a:xfrm flipV="1">
                <a:off x="1470355" y="1832458"/>
                <a:ext cx="762000" cy="4445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5" name="椭圆 84"/>
              <p:cNvSpPr>
                <a:spLocks noChangeAspect="1"/>
              </p:cNvSpPr>
              <p:nvPr/>
            </p:nvSpPr>
            <p:spPr>
              <a:xfrm>
                <a:off x="18288" y="899770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400" kern="100" dirty="0">
                    <a:solidFill>
                      <a:srgbClr val="000000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G</a:t>
                </a:r>
                <a:endParaRPr lang="zh-CN" sz="14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6" name="文本框 65"/>
              <p:cNvSpPr txBox="1"/>
              <p:nvPr/>
            </p:nvSpPr>
            <p:spPr>
              <a:xfrm>
                <a:off x="157241" y="1276502"/>
                <a:ext cx="269875" cy="266065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5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7" name="文本框 67"/>
              <p:cNvSpPr txBox="1"/>
              <p:nvPr/>
            </p:nvSpPr>
            <p:spPr>
              <a:xfrm>
                <a:off x="3460090" y="1283818"/>
                <a:ext cx="269875" cy="266065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altLang="zh-CN" sz="1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3</a:t>
                </a:r>
                <a:endParaRPr lang="zh-CN" sz="1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88" name="直接连接符 87"/>
              <p:cNvCxnSpPr/>
              <p:nvPr/>
            </p:nvCxnSpPr>
            <p:spPr>
              <a:xfrm flipH="1">
                <a:off x="1335024" y="1157694"/>
                <a:ext cx="9525" cy="55245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直接连接符 88"/>
              <p:cNvCxnSpPr/>
              <p:nvPr/>
            </p:nvCxnSpPr>
            <p:spPr>
              <a:xfrm flipH="1">
                <a:off x="131674" y="1155802"/>
                <a:ext cx="9525" cy="55245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0" name="椭圆 89"/>
              <p:cNvSpPr>
                <a:spLocks noChangeAspect="1"/>
              </p:cNvSpPr>
              <p:nvPr/>
            </p:nvSpPr>
            <p:spPr>
              <a:xfrm>
                <a:off x="1217981" y="896112"/>
                <a:ext cx="251460" cy="2514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sz="1400" kern="100" dirty="0">
                    <a:solidFill>
                      <a:srgbClr val="000000"/>
                    </a:solidFill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S</a:t>
                </a:r>
                <a:endParaRPr lang="zh-CN" sz="14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62" name="直接连接符 61"/>
            <p:cNvCxnSpPr/>
            <p:nvPr/>
          </p:nvCxnSpPr>
          <p:spPr>
            <a:xfrm flipH="1">
              <a:off x="3485692" y="1144829"/>
              <a:ext cx="0" cy="55816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>
              <a:off x="1342339" y="431597"/>
              <a:ext cx="0" cy="452437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>
              <a:off x="2465222" y="1843430"/>
              <a:ext cx="89027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8" name="椭圆 97"/>
          <p:cNvSpPr>
            <a:spLocks noChangeAspect="1"/>
          </p:cNvSpPr>
          <p:nvPr/>
        </p:nvSpPr>
        <p:spPr>
          <a:xfrm>
            <a:off x="2897029" y="5684187"/>
            <a:ext cx="238284" cy="2405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FF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4</a:t>
            </a:r>
            <a:endParaRPr lang="zh-CN" sz="1400" kern="100" dirty="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136003" y="5011979"/>
            <a:ext cx="25034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h(A)=3          h(E)=4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h(B)=1          h(F)=7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h(C)=8         h(G)=12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h(D)=13</a:t>
            </a:r>
            <a:r>
              <a:rPr lang="zh-CN" altLang="en-US" dirty="0">
                <a:solidFill>
                  <a:srgbClr val="FF0000"/>
                </a:solidFill>
              </a:rPr>
              <a:t>       </a:t>
            </a:r>
            <a:r>
              <a:rPr lang="en-US" altLang="zh-CN" dirty="0">
                <a:solidFill>
                  <a:srgbClr val="FF0000"/>
                </a:solidFill>
              </a:rPr>
              <a:t>h(T)=0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2E42E4-FE8E-39A6-845B-AC5E62E1C352}"/>
              </a:ext>
            </a:extLst>
          </p:cNvPr>
          <p:cNvSpPr txBox="1"/>
          <p:nvPr/>
        </p:nvSpPr>
        <p:spPr>
          <a:xfrm>
            <a:off x="5529526" y="4707573"/>
            <a:ext cx="1227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事先給定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886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7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33" grpId="0" animBg="1"/>
      <p:bldP spid="34" grpId="0" animBg="1"/>
      <p:bldP spid="37" grpId="0" animBg="1"/>
      <p:bldP spid="39" grpId="0" animBg="1"/>
      <p:bldP spid="45" grpId="0" animBg="1"/>
      <p:bldP spid="50" grpId="0" animBg="1"/>
      <p:bldP spid="51" grpId="0" animBg="1"/>
      <p:bldP spid="55" grpId="0" animBg="1"/>
      <p:bldP spid="9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C3E314C-CA35-4025-BEC3-894D6673C810}" type="slidenum">
              <a:rPr lang="en-US" altLang="zh-CN" smtClean="0">
                <a:ea typeface="黑体" pitchFamily="49" charset="-122"/>
              </a:rPr>
              <a:pPr/>
              <a:t>38</a:t>
            </a:fld>
            <a:endParaRPr lang="en-US" altLang="zh-CN" dirty="0">
              <a:ea typeface="黑体" pitchFamily="49" charset="-122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2192449" y="1446941"/>
            <a:ext cx="4740607" cy="3261531"/>
            <a:chOff x="2497635" y="1733550"/>
            <a:chExt cx="4169865" cy="2590800"/>
          </a:xfrm>
        </p:grpSpPr>
        <p:sp>
          <p:nvSpPr>
            <p:cNvPr id="66565" name="Oval 4"/>
            <p:cNvSpPr>
              <a:spLocks noChangeArrowheads="1"/>
            </p:cNvSpPr>
            <p:nvPr/>
          </p:nvSpPr>
          <p:spPr bwMode="auto">
            <a:xfrm>
              <a:off x="3752850" y="234315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66" name="Oval 5"/>
            <p:cNvSpPr>
              <a:spLocks noChangeArrowheads="1"/>
            </p:cNvSpPr>
            <p:nvPr/>
          </p:nvSpPr>
          <p:spPr bwMode="auto">
            <a:xfrm>
              <a:off x="5353050" y="234315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67" name="Oval 6"/>
            <p:cNvSpPr>
              <a:spLocks noChangeArrowheads="1"/>
            </p:cNvSpPr>
            <p:nvPr/>
          </p:nvSpPr>
          <p:spPr bwMode="auto">
            <a:xfrm>
              <a:off x="3436045" y="325755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68" name="Oval 7"/>
            <p:cNvSpPr>
              <a:spLocks noChangeArrowheads="1"/>
            </p:cNvSpPr>
            <p:nvPr/>
          </p:nvSpPr>
          <p:spPr bwMode="auto">
            <a:xfrm>
              <a:off x="5734050" y="3257550"/>
              <a:ext cx="152400" cy="152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69" name="Oval 8"/>
            <p:cNvSpPr>
              <a:spLocks noChangeArrowheads="1"/>
            </p:cNvSpPr>
            <p:nvPr/>
          </p:nvSpPr>
          <p:spPr bwMode="auto">
            <a:xfrm>
              <a:off x="4133850" y="3257550"/>
              <a:ext cx="152400" cy="152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70" name="Oval 9"/>
            <p:cNvSpPr>
              <a:spLocks noChangeArrowheads="1"/>
            </p:cNvSpPr>
            <p:nvPr/>
          </p:nvSpPr>
          <p:spPr bwMode="auto">
            <a:xfrm>
              <a:off x="6515100" y="3295650"/>
              <a:ext cx="152400" cy="152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71" name="Oval 10"/>
            <p:cNvSpPr>
              <a:spLocks noChangeArrowheads="1"/>
            </p:cNvSpPr>
            <p:nvPr/>
          </p:nvSpPr>
          <p:spPr bwMode="auto">
            <a:xfrm>
              <a:off x="2497635" y="3181661"/>
              <a:ext cx="152400" cy="152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72" name="Oval 11"/>
            <p:cNvSpPr>
              <a:spLocks noChangeArrowheads="1"/>
            </p:cNvSpPr>
            <p:nvPr/>
          </p:nvSpPr>
          <p:spPr bwMode="auto">
            <a:xfrm>
              <a:off x="4972050" y="3257550"/>
              <a:ext cx="152400" cy="152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73" name="Line 12"/>
            <p:cNvSpPr>
              <a:spLocks noChangeShapeType="1"/>
            </p:cNvSpPr>
            <p:nvPr/>
          </p:nvSpPr>
          <p:spPr bwMode="auto">
            <a:xfrm flipH="1">
              <a:off x="3829050" y="1885950"/>
              <a:ext cx="7620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74" name="Line 13"/>
            <p:cNvSpPr>
              <a:spLocks noChangeShapeType="1"/>
            </p:cNvSpPr>
            <p:nvPr/>
          </p:nvSpPr>
          <p:spPr bwMode="auto">
            <a:xfrm>
              <a:off x="4591050" y="1885950"/>
              <a:ext cx="8382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75" name="Line 14"/>
            <p:cNvSpPr>
              <a:spLocks noChangeShapeType="1"/>
            </p:cNvSpPr>
            <p:nvPr/>
          </p:nvSpPr>
          <p:spPr bwMode="auto">
            <a:xfrm flipH="1">
              <a:off x="2585841" y="2506702"/>
              <a:ext cx="12192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76" name="Line 15"/>
            <p:cNvSpPr>
              <a:spLocks noChangeShapeType="1"/>
            </p:cNvSpPr>
            <p:nvPr/>
          </p:nvSpPr>
          <p:spPr bwMode="auto">
            <a:xfrm flipH="1">
              <a:off x="3500241" y="2506702"/>
              <a:ext cx="304800" cy="762000"/>
            </a:xfrm>
            <a:prstGeom prst="lin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77" name="Line 16"/>
            <p:cNvSpPr>
              <a:spLocks noChangeShapeType="1"/>
            </p:cNvSpPr>
            <p:nvPr/>
          </p:nvSpPr>
          <p:spPr bwMode="auto">
            <a:xfrm>
              <a:off x="3829050" y="2495550"/>
              <a:ext cx="38100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78" name="Line 17"/>
            <p:cNvSpPr>
              <a:spLocks noChangeShapeType="1"/>
            </p:cNvSpPr>
            <p:nvPr/>
          </p:nvSpPr>
          <p:spPr bwMode="auto">
            <a:xfrm flipH="1">
              <a:off x="5048250" y="2495550"/>
              <a:ext cx="38100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79" name="Line 18"/>
            <p:cNvSpPr>
              <a:spLocks noChangeShapeType="1"/>
            </p:cNvSpPr>
            <p:nvPr/>
          </p:nvSpPr>
          <p:spPr bwMode="auto">
            <a:xfrm>
              <a:off x="5429250" y="2495550"/>
              <a:ext cx="38100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80" name="Line 19"/>
            <p:cNvSpPr>
              <a:spLocks noChangeShapeType="1"/>
            </p:cNvSpPr>
            <p:nvPr/>
          </p:nvSpPr>
          <p:spPr bwMode="auto">
            <a:xfrm>
              <a:off x="5481441" y="2473868"/>
              <a:ext cx="106680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81" name="Oval 20"/>
            <p:cNvSpPr>
              <a:spLocks noChangeArrowheads="1"/>
            </p:cNvSpPr>
            <p:nvPr/>
          </p:nvSpPr>
          <p:spPr bwMode="auto">
            <a:xfrm>
              <a:off x="3219450" y="4171950"/>
              <a:ext cx="152400" cy="152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82" name="Oval 21"/>
            <p:cNvSpPr>
              <a:spLocks noChangeArrowheads="1"/>
            </p:cNvSpPr>
            <p:nvPr/>
          </p:nvSpPr>
          <p:spPr bwMode="auto">
            <a:xfrm>
              <a:off x="3829050" y="4171950"/>
              <a:ext cx="152400" cy="152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83" name="Line 22"/>
            <p:cNvSpPr>
              <a:spLocks noChangeShapeType="1"/>
            </p:cNvSpPr>
            <p:nvPr/>
          </p:nvSpPr>
          <p:spPr bwMode="auto">
            <a:xfrm flipH="1">
              <a:off x="3295650" y="3409950"/>
              <a:ext cx="22860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84" name="Line 23"/>
            <p:cNvSpPr>
              <a:spLocks noChangeShapeType="1"/>
            </p:cNvSpPr>
            <p:nvPr/>
          </p:nvSpPr>
          <p:spPr bwMode="auto">
            <a:xfrm>
              <a:off x="3524250" y="3409950"/>
              <a:ext cx="38100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85" name="Oval 24"/>
            <p:cNvSpPr>
              <a:spLocks noChangeArrowheads="1"/>
            </p:cNvSpPr>
            <p:nvPr/>
          </p:nvSpPr>
          <p:spPr bwMode="auto">
            <a:xfrm>
              <a:off x="4514850" y="173355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6586" name="Oval 26"/>
          <p:cNvSpPr>
            <a:spLocks noChangeArrowheads="1"/>
          </p:cNvSpPr>
          <p:nvPr/>
        </p:nvSpPr>
        <p:spPr bwMode="auto">
          <a:xfrm>
            <a:off x="2286000" y="52959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87" name="Oval 29"/>
          <p:cNvSpPr>
            <a:spLocks noChangeArrowheads="1"/>
          </p:cNvSpPr>
          <p:nvPr/>
        </p:nvSpPr>
        <p:spPr bwMode="auto">
          <a:xfrm>
            <a:off x="5238750" y="533400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88" name="Text Box 30"/>
          <p:cNvSpPr txBox="1">
            <a:spLocks noChangeArrowheads="1"/>
          </p:cNvSpPr>
          <p:nvPr/>
        </p:nvSpPr>
        <p:spPr bwMode="auto">
          <a:xfrm>
            <a:off x="2667000" y="5162550"/>
            <a:ext cx="234315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/>
              <a:t>Closed</a:t>
            </a:r>
            <a:r>
              <a:rPr lang="zh-CN" altLang="en-US" sz="2000" b="1" dirty="0"/>
              <a:t>表</a:t>
            </a:r>
          </a:p>
        </p:txBody>
      </p:sp>
      <p:sp>
        <p:nvSpPr>
          <p:cNvPr id="66589" name="Text Box 31"/>
          <p:cNvSpPr txBox="1">
            <a:spLocks noChangeArrowheads="1"/>
          </p:cNvSpPr>
          <p:nvPr/>
        </p:nvSpPr>
        <p:spPr bwMode="auto">
          <a:xfrm>
            <a:off x="5562600" y="5181600"/>
            <a:ext cx="234315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/>
              <a:t>Open</a:t>
            </a:r>
            <a:r>
              <a:rPr lang="zh-CN" altLang="en-US" sz="2000" b="1" dirty="0"/>
              <a:t>表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DDE45C2-9595-425F-9D84-8136A58570FB}" type="slidenum">
              <a:rPr lang="en-US" altLang="zh-CN" smtClean="0">
                <a:ea typeface="黑体" pitchFamily="49" charset="-122"/>
              </a:rPr>
              <a:pPr/>
              <a:t>39</a:t>
            </a:fld>
            <a:endParaRPr lang="en-US" altLang="zh-CN" dirty="0">
              <a:ea typeface="黑体" pitchFamily="49" charset="-122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1514907" y="1495560"/>
            <a:ext cx="6037997" cy="4386146"/>
            <a:chOff x="2438400" y="1905000"/>
            <a:chExt cx="4800600" cy="3048000"/>
          </a:xfrm>
        </p:grpSpPr>
        <p:sp>
          <p:nvSpPr>
            <p:cNvPr id="65541" name="Oval 4"/>
            <p:cNvSpPr>
              <a:spLocks noChangeArrowheads="1"/>
            </p:cNvSpPr>
            <p:nvPr/>
          </p:nvSpPr>
          <p:spPr bwMode="auto">
            <a:xfrm>
              <a:off x="4267200" y="2667000"/>
              <a:ext cx="15240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42" name="Oval 5"/>
            <p:cNvSpPr>
              <a:spLocks noChangeArrowheads="1"/>
            </p:cNvSpPr>
            <p:nvPr/>
          </p:nvSpPr>
          <p:spPr bwMode="auto">
            <a:xfrm>
              <a:off x="3886200" y="3657600"/>
              <a:ext cx="152400" cy="152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43" name="Oval 6"/>
            <p:cNvSpPr>
              <a:spLocks noChangeArrowheads="1"/>
            </p:cNvSpPr>
            <p:nvPr/>
          </p:nvSpPr>
          <p:spPr bwMode="auto">
            <a:xfrm>
              <a:off x="4724400" y="3657600"/>
              <a:ext cx="152400" cy="152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44" name="Text Box 7"/>
            <p:cNvSpPr txBox="1">
              <a:spLocks noChangeArrowheads="1"/>
            </p:cNvSpPr>
            <p:nvPr/>
          </p:nvSpPr>
          <p:spPr bwMode="auto">
            <a:xfrm>
              <a:off x="4132153" y="3518579"/>
              <a:ext cx="530444" cy="2780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dirty="0"/>
                <a:t>…...</a:t>
              </a:r>
            </a:p>
          </p:txBody>
        </p:sp>
        <p:sp>
          <p:nvSpPr>
            <p:cNvPr id="65545" name="Oval 8"/>
            <p:cNvSpPr>
              <a:spLocks noChangeArrowheads="1"/>
            </p:cNvSpPr>
            <p:nvPr/>
          </p:nvSpPr>
          <p:spPr bwMode="auto">
            <a:xfrm>
              <a:off x="5334000" y="36576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46" name="Oval 9"/>
            <p:cNvSpPr>
              <a:spLocks noChangeArrowheads="1"/>
            </p:cNvSpPr>
            <p:nvPr/>
          </p:nvSpPr>
          <p:spPr bwMode="auto">
            <a:xfrm>
              <a:off x="6172200" y="36576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47" name="Text Box 10"/>
            <p:cNvSpPr txBox="1">
              <a:spLocks noChangeArrowheads="1"/>
            </p:cNvSpPr>
            <p:nvPr/>
          </p:nvSpPr>
          <p:spPr bwMode="auto">
            <a:xfrm>
              <a:off x="5579953" y="3518579"/>
              <a:ext cx="530444" cy="2780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dirty="0"/>
                <a:t>…...</a:t>
              </a:r>
            </a:p>
          </p:txBody>
        </p:sp>
        <p:sp>
          <p:nvSpPr>
            <p:cNvPr id="65548" name="Oval 11"/>
            <p:cNvSpPr>
              <a:spLocks noChangeArrowheads="1"/>
            </p:cNvSpPr>
            <p:nvPr/>
          </p:nvSpPr>
          <p:spPr bwMode="auto">
            <a:xfrm>
              <a:off x="2438400" y="3657600"/>
              <a:ext cx="152400" cy="152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49" name="Oval 12"/>
            <p:cNvSpPr>
              <a:spLocks noChangeArrowheads="1"/>
            </p:cNvSpPr>
            <p:nvPr/>
          </p:nvSpPr>
          <p:spPr bwMode="auto">
            <a:xfrm>
              <a:off x="3276600" y="3657600"/>
              <a:ext cx="152400" cy="152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50" name="Text Box 13"/>
            <p:cNvSpPr txBox="1">
              <a:spLocks noChangeArrowheads="1"/>
            </p:cNvSpPr>
            <p:nvPr/>
          </p:nvSpPr>
          <p:spPr bwMode="auto">
            <a:xfrm>
              <a:off x="2684353" y="3518579"/>
              <a:ext cx="530444" cy="2780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dirty="0"/>
                <a:t>…...</a:t>
              </a:r>
              <a:endParaRPr lang="en-US" altLang="zh-CN" dirty="0"/>
            </a:p>
          </p:txBody>
        </p:sp>
        <p:sp>
          <p:nvSpPr>
            <p:cNvPr id="65551" name="Oval 14"/>
            <p:cNvSpPr>
              <a:spLocks noChangeArrowheads="1"/>
            </p:cNvSpPr>
            <p:nvPr/>
          </p:nvSpPr>
          <p:spPr bwMode="auto">
            <a:xfrm>
              <a:off x="4419600" y="4800600"/>
              <a:ext cx="152400" cy="152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52" name="Oval 15"/>
            <p:cNvSpPr>
              <a:spLocks noChangeArrowheads="1"/>
            </p:cNvSpPr>
            <p:nvPr/>
          </p:nvSpPr>
          <p:spPr bwMode="auto">
            <a:xfrm>
              <a:off x="5257800" y="4800600"/>
              <a:ext cx="152400" cy="152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53" name="Text Box 16"/>
            <p:cNvSpPr txBox="1">
              <a:spLocks noChangeArrowheads="1"/>
            </p:cNvSpPr>
            <p:nvPr/>
          </p:nvSpPr>
          <p:spPr bwMode="auto">
            <a:xfrm>
              <a:off x="4665553" y="4661579"/>
              <a:ext cx="530444" cy="2780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dirty="0"/>
                <a:t>…...</a:t>
              </a:r>
            </a:p>
          </p:txBody>
        </p:sp>
        <p:sp>
          <p:nvSpPr>
            <p:cNvPr id="65554" name="Oval 17"/>
            <p:cNvSpPr>
              <a:spLocks noChangeArrowheads="1"/>
            </p:cNvSpPr>
            <p:nvPr/>
          </p:nvSpPr>
          <p:spPr bwMode="auto">
            <a:xfrm>
              <a:off x="6248400" y="4800600"/>
              <a:ext cx="152400" cy="152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55" name="Oval 18"/>
            <p:cNvSpPr>
              <a:spLocks noChangeArrowheads="1"/>
            </p:cNvSpPr>
            <p:nvPr/>
          </p:nvSpPr>
          <p:spPr bwMode="auto">
            <a:xfrm>
              <a:off x="7086600" y="4800600"/>
              <a:ext cx="152400" cy="152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56" name="Text Box 19"/>
            <p:cNvSpPr txBox="1">
              <a:spLocks noChangeArrowheads="1"/>
            </p:cNvSpPr>
            <p:nvPr/>
          </p:nvSpPr>
          <p:spPr bwMode="auto">
            <a:xfrm>
              <a:off x="6494353" y="4661579"/>
              <a:ext cx="530444" cy="2780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dirty="0"/>
                <a:t>…...</a:t>
              </a:r>
            </a:p>
          </p:txBody>
        </p:sp>
        <p:sp>
          <p:nvSpPr>
            <p:cNvPr id="65557" name="Oval 20"/>
            <p:cNvSpPr>
              <a:spLocks noChangeArrowheads="1"/>
            </p:cNvSpPr>
            <p:nvPr/>
          </p:nvSpPr>
          <p:spPr bwMode="auto">
            <a:xfrm>
              <a:off x="2819400" y="26670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58" name="Line 21"/>
            <p:cNvSpPr>
              <a:spLocks noChangeShapeType="1"/>
            </p:cNvSpPr>
            <p:nvPr/>
          </p:nvSpPr>
          <p:spPr bwMode="auto">
            <a:xfrm flipV="1">
              <a:off x="4343400" y="1905000"/>
              <a:ext cx="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59" name="Line 22"/>
            <p:cNvSpPr>
              <a:spLocks noChangeShapeType="1"/>
            </p:cNvSpPr>
            <p:nvPr/>
          </p:nvSpPr>
          <p:spPr bwMode="auto">
            <a:xfrm flipV="1">
              <a:off x="2895600" y="1981200"/>
              <a:ext cx="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60" name="Line 23"/>
            <p:cNvSpPr>
              <a:spLocks noChangeShapeType="1"/>
            </p:cNvSpPr>
            <p:nvPr/>
          </p:nvSpPr>
          <p:spPr bwMode="auto">
            <a:xfrm flipV="1">
              <a:off x="2514600" y="2819400"/>
              <a:ext cx="38100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61" name="Line 24"/>
            <p:cNvSpPr>
              <a:spLocks noChangeShapeType="1"/>
            </p:cNvSpPr>
            <p:nvPr/>
          </p:nvSpPr>
          <p:spPr bwMode="auto">
            <a:xfrm flipH="1" flipV="1">
              <a:off x="2895600" y="2819400"/>
              <a:ext cx="45720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62" name="Line 25"/>
            <p:cNvSpPr>
              <a:spLocks noChangeShapeType="1"/>
            </p:cNvSpPr>
            <p:nvPr/>
          </p:nvSpPr>
          <p:spPr bwMode="auto">
            <a:xfrm flipV="1">
              <a:off x="3962400" y="2819400"/>
              <a:ext cx="38100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63" name="Line 26"/>
            <p:cNvSpPr>
              <a:spLocks noChangeShapeType="1"/>
            </p:cNvSpPr>
            <p:nvPr/>
          </p:nvSpPr>
          <p:spPr bwMode="auto">
            <a:xfrm flipH="1" flipV="1">
              <a:off x="4343400" y="2819400"/>
              <a:ext cx="38100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64" name="Line 27"/>
            <p:cNvSpPr>
              <a:spLocks noChangeShapeType="1"/>
            </p:cNvSpPr>
            <p:nvPr/>
          </p:nvSpPr>
          <p:spPr bwMode="auto">
            <a:xfrm flipV="1">
              <a:off x="2514600" y="2819400"/>
              <a:ext cx="175260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65" name="Line 28"/>
            <p:cNvSpPr>
              <a:spLocks noChangeShapeType="1"/>
            </p:cNvSpPr>
            <p:nvPr/>
          </p:nvSpPr>
          <p:spPr bwMode="auto">
            <a:xfrm flipV="1">
              <a:off x="3429000" y="2819400"/>
              <a:ext cx="83820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66" name="Line 29"/>
            <p:cNvSpPr>
              <a:spLocks noChangeShapeType="1"/>
            </p:cNvSpPr>
            <p:nvPr/>
          </p:nvSpPr>
          <p:spPr bwMode="auto">
            <a:xfrm flipH="1" flipV="1">
              <a:off x="4343400" y="2819400"/>
              <a:ext cx="106680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67" name="Line 30"/>
            <p:cNvSpPr>
              <a:spLocks noChangeShapeType="1"/>
            </p:cNvSpPr>
            <p:nvPr/>
          </p:nvSpPr>
          <p:spPr bwMode="auto">
            <a:xfrm flipH="1" flipV="1">
              <a:off x="4419600" y="2819400"/>
              <a:ext cx="182880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68" name="Line 31"/>
            <p:cNvSpPr>
              <a:spLocks noChangeShapeType="1"/>
            </p:cNvSpPr>
            <p:nvPr/>
          </p:nvSpPr>
          <p:spPr bwMode="auto">
            <a:xfrm flipV="1">
              <a:off x="4495800" y="3810000"/>
              <a:ext cx="914400" cy="990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69" name="Line 32"/>
            <p:cNvSpPr>
              <a:spLocks noChangeShapeType="1"/>
            </p:cNvSpPr>
            <p:nvPr/>
          </p:nvSpPr>
          <p:spPr bwMode="auto">
            <a:xfrm flipV="1">
              <a:off x="5334000" y="3886200"/>
              <a:ext cx="7620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70" name="Line 33"/>
            <p:cNvSpPr>
              <a:spLocks noChangeShapeType="1"/>
            </p:cNvSpPr>
            <p:nvPr/>
          </p:nvSpPr>
          <p:spPr bwMode="auto">
            <a:xfrm flipH="1" flipV="1">
              <a:off x="6248400" y="3810000"/>
              <a:ext cx="76200" cy="990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71" name="Line 34"/>
            <p:cNvSpPr>
              <a:spLocks noChangeShapeType="1"/>
            </p:cNvSpPr>
            <p:nvPr/>
          </p:nvSpPr>
          <p:spPr bwMode="auto">
            <a:xfrm flipH="1" flipV="1">
              <a:off x="6248400" y="3810000"/>
              <a:ext cx="914400" cy="990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72" name="Oval 35"/>
            <p:cNvSpPr>
              <a:spLocks noChangeArrowheads="1"/>
            </p:cNvSpPr>
            <p:nvPr/>
          </p:nvSpPr>
          <p:spPr bwMode="auto">
            <a:xfrm>
              <a:off x="5791200" y="26670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73" name="Line 36"/>
            <p:cNvSpPr>
              <a:spLocks noChangeShapeType="1"/>
            </p:cNvSpPr>
            <p:nvPr/>
          </p:nvSpPr>
          <p:spPr bwMode="auto">
            <a:xfrm flipV="1">
              <a:off x="5867400" y="1905000"/>
              <a:ext cx="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74" name="Line 37"/>
            <p:cNvSpPr>
              <a:spLocks noChangeShapeType="1"/>
            </p:cNvSpPr>
            <p:nvPr/>
          </p:nvSpPr>
          <p:spPr bwMode="auto">
            <a:xfrm flipV="1">
              <a:off x="5410200" y="2819400"/>
              <a:ext cx="45720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75" name="Line 38"/>
            <p:cNvSpPr>
              <a:spLocks noChangeShapeType="1"/>
            </p:cNvSpPr>
            <p:nvPr/>
          </p:nvSpPr>
          <p:spPr bwMode="auto">
            <a:xfrm flipH="1" flipV="1">
              <a:off x="5867400" y="2819400"/>
              <a:ext cx="38100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76" name="Text Box 39"/>
            <p:cNvSpPr txBox="1">
              <a:spLocks noChangeArrowheads="1"/>
            </p:cNvSpPr>
            <p:nvPr/>
          </p:nvSpPr>
          <p:spPr bwMode="auto">
            <a:xfrm>
              <a:off x="4226465" y="3780604"/>
              <a:ext cx="432309" cy="3635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 b="1" dirty="0" err="1"/>
                <a:t>m</a:t>
              </a:r>
              <a:r>
                <a:rPr lang="en-US" altLang="zh-CN" sz="2800" b="1" baseline="-25000" dirty="0" err="1"/>
                <a:t>j</a:t>
              </a:r>
              <a:endParaRPr lang="en-US" altLang="zh-CN" sz="2800" b="1" baseline="-25000" dirty="0"/>
            </a:p>
          </p:txBody>
        </p:sp>
        <p:sp>
          <p:nvSpPr>
            <p:cNvPr id="65577" name="Text Box 40"/>
            <p:cNvSpPr txBox="1">
              <a:spLocks noChangeArrowheads="1"/>
            </p:cNvSpPr>
            <p:nvPr/>
          </p:nvSpPr>
          <p:spPr bwMode="auto">
            <a:xfrm>
              <a:off x="2676976" y="3780604"/>
              <a:ext cx="483288" cy="3635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 b="1" dirty="0" err="1"/>
                <a:t>m</a:t>
              </a:r>
              <a:r>
                <a:rPr lang="en-US" altLang="zh-CN" sz="2800" b="1" baseline="-25000" dirty="0" err="1"/>
                <a:t>k</a:t>
              </a:r>
              <a:endParaRPr lang="en-US" altLang="zh-CN" sz="2800" b="1" baseline="-25000" dirty="0"/>
            </a:p>
          </p:txBody>
        </p:sp>
        <p:sp>
          <p:nvSpPr>
            <p:cNvPr id="65578" name="Text Box 41"/>
            <p:cNvSpPr txBox="1">
              <a:spLocks noChangeArrowheads="1"/>
            </p:cNvSpPr>
            <p:nvPr/>
          </p:nvSpPr>
          <p:spPr bwMode="auto">
            <a:xfrm>
              <a:off x="5674266" y="3856804"/>
              <a:ext cx="432308" cy="3635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 b="1" dirty="0"/>
                <a:t>m</a:t>
              </a:r>
              <a:r>
                <a:rPr lang="en-US" altLang="zh-CN" sz="2800" b="1" baseline="-25000" dirty="0"/>
                <a:t>l</a:t>
              </a:r>
            </a:p>
          </p:txBody>
        </p:sp>
        <p:sp>
          <p:nvSpPr>
            <p:cNvPr id="65579" name="Text Box 42"/>
            <p:cNvSpPr txBox="1">
              <a:spLocks noChangeArrowheads="1"/>
            </p:cNvSpPr>
            <p:nvPr/>
          </p:nvSpPr>
          <p:spPr bwMode="auto">
            <a:xfrm>
              <a:off x="4476750" y="2400300"/>
              <a:ext cx="590550" cy="3635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/>
                <a:t>n</a:t>
              </a:r>
            </a:p>
          </p:txBody>
        </p:sp>
        <p:sp>
          <p:nvSpPr>
            <p:cNvPr id="65580" name="Text Box 43"/>
            <p:cNvSpPr txBox="1">
              <a:spLocks noChangeArrowheads="1"/>
            </p:cNvSpPr>
            <p:nvPr/>
          </p:nvSpPr>
          <p:spPr bwMode="auto">
            <a:xfrm>
              <a:off x="6000750" y="2514600"/>
              <a:ext cx="590550" cy="3635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/>
                <a:t>a</a:t>
              </a:r>
            </a:p>
          </p:txBody>
        </p:sp>
        <p:sp>
          <p:nvSpPr>
            <p:cNvPr id="65581" name="Text Box 44"/>
            <p:cNvSpPr txBox="1">
              <a:spLocks noChangeArrowheads="1"/>
            </p:cNvSpPr>
            <p:nvPr/>
          </p:nvSpPr>
          <p:spPr bwMode="auto">
            <a:xfrm>
              <a:off x="6419850" y="3486150"/>
              <a:ext cx="590550" cy="3635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/>
                <a:t>b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B294302-C772-4BED-79AA-FCF7E5452C05}"/>
              </a:ext>
            </a:extLst>
          </p:cNvPr>
          <p:cNvSpPr txBox="1"/>
          <p:nvPr/>
        </p:nvSpPr>
        <p:spPr>
          <a:xfrm>
            <a:off x="6882015" y="3942582"/>
            <a:ext cx="1776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已經被訪問過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A5BCC2-0A4F-2B8E-67FC-FF58A9C085E5}"/>
              </a:ext>
            </a:extLst>
          </p:cNvPr>
          <p:cNvSpPr txBox="1"/>
          <p:nvPr/>
        </p:nvSpPr>
        <p:spPr>
          <a:xfrm>
            <a:off x="2144034" y="5212602"/>
            <a:ext cx="1776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尚未被訪問過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980377-7B29-FA35-50E1-E66171568853}"/>
              </a:ext>
            </a:extLst>
          </p:cNvPr>
          <p:cNvSpPr txBox="1"/>
          <p:nvPr/>
        </p:nvSpPr>
        <p:spPr>
          <a:xfrm>
            <a:off x="1067975" y="4625355"/>
            <a:ext cx="2204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可由其他節點到達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A30F59-DEC3-297F-358B-B154DB563105}"/>
              </a:ext>
            </a:extLst>
          </p:cNvPr>
          <p:cNvSpPr txBox="1"/>
          <p:nvPr/>
        </p:nvSpPr>
        <p:spPr>
          <a:xfrm>
            <a:off x="3069149" y="4622793"/>
            <a:ext cx="2204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當前只能由</a:t>
            </a:r>
            <a:r>
              <a:rPr lang="en-US" b="1"/>
              <a:t>n</a:t>
            </a:r>
            <a:r>
              <a:rPr lang="en-US"/>
              <a:t>到達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09E8145-1A4D-4AA4-B320-BB91F35E734B}" type="slidenum">
              <a:rPr lang="en-US" altLang="zh-CN" smtClean="0">
                <a:ea typeface="黑体" pitchFamily="49" charset="-122"/>
              </a:rPr>
              <a:pPr/>
              <a:t>40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A</a:t>
            </a:r>
            <a:r>
              <a:rPr lang="zh-CN" altLang="en-US" dirty="0"/>
              <a:t>算法</a:t>
            </a:r>
          </a:p>
        </p:txBody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14450"/>
            <a:ext cx="8534400" cy="50292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altLang="zh-CN" sz="3200" b="1" dirty="0"/>
              <a:t>A-algorithm (s)   </a:t>
            </a:r>
            <a:r>
              <a:rPr lang="en-US" altLang="zh-CN" sz="3200" b="1"/>
              <a:t>//s</a:t>
            </a:r>
            <a:r>
              <a:rPr lang="zh-CN" altLang="en-US" sz="3200" b="1"/>
              <a:t>爲初始節點</a:t>
            </a:r>
            <a:endParaRPr lang="en-US" altLang="zh-CN" sz="3200" b="1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3200" b="1" dirty="0"/>
              <a:t>OPEN=(s), CLOSED=(), f(s)=g(s)+h(s);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3200" b="1" dirty="0"/>
              <a:t>while OPEN</a:t>
            </a:r>
            <a:r>
              <a:rPr lang="zh-CN" altLang="en-US" sz="3200" b="1" dirty="0"/>
              <a:t>不空 </a:t>
            </a:r>
            <a:r>
              <a:rPr lang="en-US" altLang="zh-CN" sz="3200" b="1" dirty="0"/>
              <a:t>do</a:t>
            </a:r>
            <a:r>
              <a:rPr lang="zh-CN" altLang="en-US" sz="3200" b="1" dirty="0"/>
              <a:t>：</a:t>
            </a:r>
            <a:endParaRPr lang="en-US" altLang="zh-CN" sz="3200" b="1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3200" b="1" dirty="0">
                <a:solidFill>
                  <a:srgbClr val="FF0000"/>
                </a:solidFill>
              </a:rPr>
              <a:t>    </a:t>
            </a:r>
            <a:r>
              <a:rPr lang="en-US" altLang="zh-CN" sz="3200" b="1" dirty="0"/>
              <a:t>begin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3200" b="1" dirty="0"/>
              <a:t>         n=FIRST(OPEN);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3200" b="1" dirty="0"/>
              <a:t>         if GOAL(n) THEN return n;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3200" b="1" dirty="0"/>
              <a:t>         REMOVE(n, OPEN), ADD(n, CLOSED);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3200" b="1" dirty="0"/>
              <a:t>         EXPAND(n) </a:t>
            </a:r>
            <a:r>
              <a:rPr lang="en-US" altLang="zh-CN" sz="3600" b="1" dirty="0"/>
              <a:t>→{m</a:t>
            </a:r>
            <a:r>
              <a:rPr lang="en-US" altLang="zh-CN" sz="3600" b="1" baseline="-25000" dirty="0"/>
              <a:t>i</a:t>
            </a:r>
            <a:r>
              <a:rPr lang="en-US" altLang="zh-CN" sz="3600" b="1" dirty="0"/>
              <a:t>},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3600" b="1" dirty="0"/>
              <a:t>	</a:t>
            </a:r>
            <a:r>
              <a:rPr lang="en-US" altLang="zh-CN" sz="3600" b="1"/>
              <a:t>     </a:t>
            </a:r>
            <a:r>
              <a:rPr lang="zh-CN" altLang="zh-CN" sz="3200" b="1"/>
              <a:t>計算</a:t>
            </a:r>
            <a:r>
              <a:rPr lang="en-US" altLang="zh-CN" sz="3200" b="1"/>
              <a:t>f</a:t>
            </a:r>
            <a:r>
              <a:rPr lang="en-US" altLang="zh-CN" sz="3200" b="1" dirty="0"/>
              <a:t>(n, m</a:t>
            </a:r>
            <a:r>
              <a:rPr lang="en-US" altLang="zh-CN" sz="3600" b="1" baseline="-25000" dirty="0"/>
              <a:t>i</a:t>
            </a:r>
            <a:r>
              <a:rPr lang="en-US" altLang="zh-CN" sz="3200" b="1" dirty="0"/>
              <a:t>)=g(n, m</a:t>
            </a:r>
            <a:r>
              <a:rPr lang="en-US" altLang="zh-CN" sz="3600" b="1" baseline="-25000" dirty="0"/>
              <a:t>i</a:t>
            </a:r>
            <a:r>
              <a:rPr lang="en-US" altLang="zh-CN" sz="3200" b="1" dirty="0"/>
              <a:t>)+h(m</a:t>
            </a:r>
            <a:r>
              <a:rPr lang="en-US" altLang="zh-CN" sz="3600" b="1" baseline="-25000" dirty="0"/>
              <a:t>i</a:t>
            </a:r>
            <a:r>
              <a:rPr lang="en-US" altLang="zh-CN" sz="3200" b="1" dirty="0"/>
              <a:t>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	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543797B-EDD5-4C08-BC50-C3E9A8B5D401}" type="slidenum">
              <a:rPr lang="en-US" altLang="zh-CN" smtClean="0">
                <a:ea typeface="黑体" pitchFamily="49" charset="-122"/>
              </a:rPr>
              <a:pPr/>
              <a:t>41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1462" y="836141"/>
            <a:ext cx="8172451" cy="5729416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3200" b="1" dirty="0"/>
              <a:t>      ADD(</a:t>
            </a:r>
            <a:r>
              <a:rPr lang="en-US" altLang="zh-CN" sz="3200" b="1" dirty="0" err="1"/>
              <a:t>m</a:t>
            </a:r>
            <a:r>
              <a:rPr lang="en-US" altLang="zh-CN" sz="3200" b="1" baseline="-25000" dirty="0" err="1"/>
              <a:t>j</a:t>
            </a:r>
            <a:r>
              <a:rPr lang="en-US" altLang="zh-CN" sz="3200" b="1" dirty="0"/>
              <a:t>, OPEN</a:t>
            </a:r>
            <a:r>
              <a:rPr lang="en-US" altLang="zh-CN" sz="3200" b="1"/>
              <a:t>), </a:t>
            </a:r>
            <a:r>
              <a:rPr lang="zh-CN" altLang="en-US" sz="3200" b="1"/>
              <a:t>標記</a:t>
            </a:r>
            <a:r>
              <a:rPr lang="en-US" altLang="zh-CN" sz="3200" b="1"/>
              <a:t>m</a:t>
            </a:r>
            <a:r>
              <a:rPr lang="en-US" altLang="zh-CN" sz="3200" b="1" baseline="-25000"/>
              <a:t>j</a:t>
            </a:r>
            <a:r>
              <a:rPr lang="zh-CN" altLang="en-US" sz="3200" b="1"/>
              <a:t>到</a:t>
            </a:r>
            <a:r>
              <a:rPr lang="en-US" altLang="zh-CN" sz="3200" b="1"/>
              <a:t>n</a:t>
            </a:r>
            <a:r>
              <a:rPr lang="zh-CN" altLang="en-US" sz="3200" b="1"/>
              <a:t>的指針；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3200" b="1"/>
              <a:t>      </a:t>
            </a:r>
            <a:r>
              <a:rPr lang="en-US" altLang="zh-CN" sz="3200" b="1" dirty="0"/>
              <a:t>if f(n, </a:t>
            </a:r>
            <a:r>
              <a:rPr lang="en-US" altLang="zh-CN" sz="3200" b="1" dirty="0" err="1"/>
              <a:t>m</a:t>
            </a:r>
            <a:r>
              <a:rPr lang="en-US" altLang="zh-CN" sz="3200" b="1" baseline="-25000" dirty="0" err="1"/>
              <a:t>k</a:t>
            </a:r>
            <a:r>
              <a:rPr lang="en-US" altLang="zh-CN" sz="3200" b="1" dirty="0"/>
              <a:t>)&lt;f(</a:t>
            </a:r>
            <a:r>
              <a:rPr lang="en-US" altLang="zh-CN" sz="3200" b="1" dirty="0" err="1"/>
              <a:t>m</a:t>
            </a:r>
            <a:r>
              <a:rPr lang="en-US" altLang="zh-CN" sz="3200" b="1" baseline="-25000" dirty="0" err="1"/>
              <a:t>k</a:t>
            </a:r>
            <a:r>
              <a:rPr lang="en-US" altLang="zh-CN" sz="3200" b="1" dirty="0"/>
              <a:t>) then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3200" b="1" dirty="0"/>
              <a:t>          f(</a:t>
            </a:r>
            <a:r>
              <a:rPr lang="en-US" altLang="zh-CN" sz="3200" b="1" dirty="0" err="1"/>
              <a:t>m</a:t>
            </a:r>
            <a:r>
              <a:rPr lang="en-US" altLang="zh-CN" sz="3200" b="1" baseline="-25000" dirty="0" err="1"/>
              <a:t>k</a:t>
            </a:r>
            <a:r>
              <a:rPr lang="en-US" altLang="zh-CN" sz="3200" b="1" dirty="0"/>
              <a:t>)=f(n, </a:t>
            </a:r>
            <a:r>
              <a:rPr lang="en-US" altLang="zh-CN" sz="3200" b="1" dirty="0" err="1"/>
              <a:t>m</a:t>
            </a:r>
            <a:r>
              <a:rPr lang="en-US" altLang="zh-CN" sz="3200" b="1" baseline="-25000" dirty="0" err="1"/>
              <a:t>k</a:t>
            </a:r>
            <a:r>
              <a:rPr lang="en-US" altLang="zh-CN" sz="3200" b="1"/>
              <a:t>), </a:t>
            </a:r>
            <a:r>
              <a:rPr lang="zh-CN" altLang="zh-CN" sz="3200" b="1"/>
              <a:t>標記</a:t>
            </a:r>
            <a:r>
              <a:rPr lang="en-US" altLang="zh-CN" sz="3200" b="1"/>
              <a:t>m</a:t>
            </a:r>
            <a:r>
              <a:rPr lang="en-US" altLang="zh-CN" sz="3200" b="1" baseline="-25000"/>
              <a:t>k</a:t>
            </a:r>
            <a:r>
              <a:rPr lang="zh-CN" altLang="zh-CN" sz="3200" b="1"/>
              <a:t>到</a:t>
            </a:r>
            <a:r>
              <a:rPr lang="en-US" altLang="zh-CN" sz="3200" b="1"/>
              <a:t>n</a:t>
            </a:r>
            <a:r>
              <a:rPr lang="zh-CN" altLang="zh-CN" sz="3200" b="1"/>
              <a:t>的指針；</a:t>
            </a:r>
            <a:endParaRPr lang="zh-CN" altLang="en-US" sz="2800" b="1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3200" b="1" dirty="0"/>
              <a:t>      if f(n, m</a:t>
            </a:r>
            <a:r>
              <a:rPr lang="en-US" altLang="zh-CN" sz="3600" b="1" baseline="-25000" dirty="0"/>
              <a:t>l</a:t>
            </a:r>
            <a:r>
              <a:rPr lang="en-US" altLang="zh-CN" sz="3200" b="1" dirty="0"/>
              <a:t>)&lt;f(m</a:t>
            </a:r>
            <a:r>
              <a:rPr lang="en-US" altLang="zh-CN" sz="3600" b="1" baseline="-25000" dirty="0"/>
              <a:t>l</a:t>
            </a:r>
            <a:r>
              <a:rPr lang="en-US" altLang="zh-CN" sz="3200" b="1" dirty="0"/>
              <a:t>,) then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3200" b="1" dirty="0"/>
              <a:t>          f(m</a:t>
            </a:r>
            <a:r>
              <a:rPr lang="en-US" altLang="zh-CN" sz="3600" b="1" baseline="-25000" dirty="0"/>
              <a:t>l</a:t>
            </a:r>
            <a:r>
              <a:rPr lang="en-US" altLang="zh-CN" sz="3200" b="1" dirty="0"/>
              <a:t>)=f(n, </a:t>
            </a:r>
            <a:r>
              <a:rPr lang="en-US" altLang="zh-CN" sz="3200" b="1"/>
              <a:t>m</a:t>
            </a:r>
            <a:r>
              <a:rPr lang="en-US" altLang="zh-CN" sz="3200" b="1" baseline="-25000"/>
              <a:t>l</a:t>
            </a:r>
            <a:r>
              <a:rPr lang="en-US" altLang="zh-CN" sz="3200" b="1"/>
              <a:t>),</a:t>
            </a:r>
            <a:r>
              <a:rPr lang="zh-CN" altLang="en-US" sz="3200" b="1"/>
              <a:t>標記</a:t>
            </a:r>
            <a:r>
              <a:rPr lang="en-US" altLang="zh-CN" sz="3200" b="1"/>
              <a:t>m</a:t>
            </a:r>
            <a:r>
              <a:rPr lang="en-US" altLang="zh-CN" sz="3200" b="1" baseline="-25000"/>
              <a:t>l</a:t>
            </a:r>
            <a:r>
              <a:rPr lang="zh-CN" altLang="en-US" sz="3200" b="1"/>
              <a:t>到</a:t>
            </a:r>
            <a:r>
              <a:rPr lang="en-US" altLang="zh-CN" sz="3200" b="1"/>
              <a:t>n</a:t>
            </a:r>
            <a:r>
              <a:rPr lang="zh-CN" altLang="en-US" sz="3200" b="1"/>
              <a:t>的指針</a:t>
            </a:r>
            <a:r>
              <a:rPr lang="en-US" altLang="zh-CN" sz="3200" b="1"/>
              <a:t>, </a:t>
            </a:r>
            <a:endParaRPr lang="en-US" altLang="zh-CN" sz="3200" b="1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3200" b="1" dirty="0"/>
              <a:t>	       </a:t>
            </a:r>
            <a:r>
              <a:rPr lang="en-US" altLang="zh-CN" sz="3200" b="1" dirty="0">
                <a:solidFill>
                  <a:srgbClr val="FF0000"/>
                </a:solidFill>
              </a:rPr>
              <a:t>ADD(m</a:t>
            </a:r>
            <a:r>
              <a:rPr lang="en-US" altLang="zh-CN" sz="3200" b="1" baseline="-25000" dirty="0">
                <a:solidFill>
                  <a:srgbClr val="FF0000"/>
                </a:solidFill>
              </a:rPr>
              <a:t>l</a:t>
            </a:r>
            <a:r>
              <a:rPr lang="en-US" altLang="zh-CN" sz="3200" b="1" dirty="0">
                <a:solidFill>
                  <a:srgbClr val="FF0000"/>
                </a:solidFill>
              </a:rPr>
              <a:t>, OPEN);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3200" b="1"/>
              <a:t>      OPEN</a:t>
            </a:r>
            <a:r>
              <a:rPr lang="zh-CN" altLang="zh-CN" sz="3200" b="1"/>
              <a:t>中的節點按</a:t>
            </a:r>
            <a:r>
              <a:rPr lang="en-US" altLang="zh-CN" sz="3200" b="1"/>
              <a:t>f</a:t>
            </a:r>
            <a:r>
              <a:rPr lang="zh-CN" altLang="zh-CN" sz="3200" b="1"/>
              <a:t>值從小到大排序；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3200" b="1"/>
              <a:t>   </a:t>
            </a:r>
            <a:r>
              <a:rPr lang="en-US" altLang="zh-CN" sz="3200" b="1" dirty="0"/>
              <a:t>end while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3200" b="1" dirty="0"/>
              <a:t>return FAIL;</a:t>
            </a:r>
            <a:endParaRPr lang="zh-CN" altLang="en-US" sz="3200" b="1" dirty="0"/>
          </a:p>
        </p:txBody>
      </p:sp>
      <p:pic>
        <p:nvPicPr>
          <p:cNvPr id="1026" name="Picture 2" descr="question mark | 3d human with a red question mark | Damián Navas | Flickr">
            <a:extLst>
              <a:ext uri="{FF2B5EF4-FFF2-40B4-BE49-F238E27FC236}">
                <a16:creationId xmlns:a16="http://schemas.microsoft.com/office/drawing/2014/main" id="{B49FE247-95E3-C26D-312D-33F8865525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249" y="3251003"/>
            <a:ext cx="982819" cy="982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如何得到解路徑？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sz="3200"/>
              <a:t>從目標開始，順序訪問父節點，直到初始節點。</a:t>
            </a:r>
            <a:endParaRPr lang="zh-CN" altLang="en-US" sz="3200" dirty="0"/>
          </a:p>
        </p:txBody>
      </p:sp>
      <p:sp>
        <p:nvSpPr>
          <p:cNvPr id="4" name="椭圆 3"/>
          <p:cNvSpPr>
            <a:spLocks noChangeAspect="1"/>
          </p:cNvSpPr>
          <p:nvPr/>
        </p:nvSpPr>
        <p:spPr>
          <a:xfrm>
            <a:off x="4599612" y="2283738"/>
            <a:ext cx="303409" cy="306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 dirty="0">
                <a:solidFill>
                  <a:srgbClr val="00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S</a:t>
            </a:r>
            <a:endParaRPr lang="zh-CN" sz="14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75"/>
          <p:cNvSpPr txBox="1"/>
          <p:nvPr/>
        </p:nvSpPr>
        <p:spPr>
          <a:xfrm>
            <a:off x="4783387" y="2801117"/>
            <a:ext cx="325780" cy="324521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76"/>
          <p:cNvSpPr txBox="1"/>
          <p:nvPr/>
        </p:nvSpPr>
        <p:spPr>
          <a:xfrm>
            <a:off x="3628701" y="2822862"/>
            <a:ext cx="325780" cy="324521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77"/>
          <p:cNvSpPr txBox="1"/>
          <p:nvPr/>
        </p:nvSpPr>
        <p:spPr>
          <a:xfrm>
            <a:off x="5535216" y="2778306"/>
            <a:ext cx="325629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6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89"/>
          <p:cNvSpPr txBox="1"/>
          <p:nvPr/>
        </p:nvSpPr>
        <p:spPr>
          <a:xfrm>
            <a:off x="3580155" y="4181814"/>
            <a:ext cx="325629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90"/>
          <p:cNvSpPr txBox="1"/>
          <p:nvPr/>
        </p:nvSpPr>
        <p:spPr>
          <a:xfrm>
            <a:off x="2790188" y="3981313"/>
            <a:ext cx="325780" cy="324521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4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100"/>
          <p:cNvSpPr txBox="1"/>
          <p:nvPr/>
        </p:nvSpPr>
        <p:spPr>
          <a:xfrm>
            <a:off x="3800817" y="5300165"/>
            <a:ext cx="325629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椭圆 10"/>
          <p:cNvSpPr>
            <a:spLocks noChangeAspect="1"/>
          </p:cNvSpPr>
          <p:nvPr/>
        </p:nvSpPr>
        <p:spPr>
          <a:xfrm>
            <a:off x="4979150" y="2190170"/>
            <a:ext cx="238905" cy="24119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 dirty="0">
                <a:solidFill>
                  <a:srgbClr val="FF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endParaRPr lang="zh-CN" sz="1400" kern="100" dirty="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09"/>
          <p:cNvSpPr txBox="1"/>
          <p:nvPr/>
        </p:nvSpPr>
        <p:spPr>
          <a:xfrm>
            <a:off x="3447759" y="3339710"/>
            <a:ext cx="626357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=7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10"/>
          <p:cNvSpPr txBox="1"/>
          <p:nvPr/>
        </p:nvSpPr>
        <p:spPr>
          <a:xfrm>
            <a:off x="4886472" y="3446643"/>
            <a:ext cx="625974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=10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11"/>
          <p:cNvSpPr txBox="1"/>
          <p:nvPr/>
        </p:nvSpPr>
        <p:spPr>
          <a:xfrm>
            <a:off x="5630557" y="3397633"/>
            <a:ext cx="625974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=9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椭圆 14"/>
          <p:cNvSpPr>
            <a:spLocks noChangeAspect="1"/>
          </p:cNvSpPr>
          <p:nvPr/>
        </p:nvSpPr>
        <p:spPr>
          <a:xfrm>
            <a:off x="3116766" y="3161487"/>
            <a:ext cx="238284" cy="2405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FF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sz="1400" kern="100" dirty="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113"/>
          <p:cNvSpPr txBox="1"/>
          <p:nvPr/>
        </p:nvSpPr>
        <p:spPr>
          <a:xfrm>
            <a:off x="2212349" y="4707573"/>
            <a:ext cx="626357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=14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114"/>
          <p:cNvSpPr txBox="1"/>
          <p:nvPr/>
        </p:nvSpPr>
        <p:spPr>
          <a:xfrm>
            <a:off x="3232687" y="4707573"/>
            <a:ext cx="626357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=6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22"/>
          <p:cNvSpPr txBox="1"/>
          <p:nvPr/>
        </p:nvSpPr>
        <p:spPr>
          <a:xfrm>
            <a:off x="4468097" y="5928402"/>
            <a:ext cx="626357" cy="32411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=8</a:t>
            </a:r>
            <a:endParaRPr 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椭圆 18"/>
          <p:cNvSpPr>
            <a:spLocks noChangeAspect="1"/>
          </p:cNvSpPr>
          <p:nvPr/>
        </p:nvSpPr>
        <p:spPr>
          <a:xfrm>
            <a:off x="3902321" y="4493705"/>
            <a:ext cx="238284" cy="2405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FF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endParaRPr lang="zh-CN" sz="1400" kern="100" dirty="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0" name="直接连接符 19"/>
          <p:cNvCxnSpPr/>
          <p:nvPr/>
        </p:nvCxnSpPr>
        <p:spPr>
          <a:xfrm flipH="1">
            <a:off x="3346255" y="2586717"/>
            <a:ext cx="1356148" cy="85978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椭圆 20"/>
          <p:cNvSpPr>
            <a:spLocks noChangeAspect="1"/>
          </p:cNvSpPr>
          <p:nvPr/>
        </p:nvSpPr>
        <p:spPr>
          <a:xfrm>
            <a:off x="3182965" y="3442189"/>
            <a:ext cx="303409" cy="306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E</a:t>
            </a:r>
            <a:endParaRPr lang="zh-CN" sz="14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4758489" y="2600083"/>
            <a:ext cx="11493" cy="84702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椭圆 22"/>
          <p:cNvSpPr>
            <a:spLocks noChangeAspect="1"/>
          </p:cNvSpPr>
          <p:nvPr/>
        </p:nvSpPr>
        <p:spPr>
          <a:xfrm>
            <a:off x="4617264" y="3460010"/>
            <a:ext cx="303409" cy="306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sz="14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4807033" y="2568894"/>
            <a:ext cx="1419358" cy="83542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椭圆 24"/>
          <p:cNvSpPr>
            <a:spLocks noChangeAspect="1"/>
          </p:cNvSpPr>
          <p:nvPr/>
        </p:nvSpPr>
        <p:spPr>
          <a:xfrm>
            <a:off x="6082457" y="3411000"/>
            <a:ext cx="303409" cy="306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endParaRPr lang="zh-CN" sz="14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椭圆 25"/>
          <p:cNvSpPr>
            <a:spLocks noChangeAspect="1"/>
          </p:cNvSpPr>
          <p:nvPr/>
        </p:nvSpPr>
        <p:spPr>
          <a:xfrm>
            <a:off x="3664008" y="4716484"/>
            <a:ext cx="303409" cy="306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 dirty="0">
                <a:solidFill>
                  <a:srgbClr val="00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sz="14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" name="椭圆 26"/>
          <p:cNvSpPr>
            <a:spLocks noChangeAspect="1"/>
          </p:cNvSpPr>
          <p:nvPr/>
        </p:nvSpPr>
        <p:spPr>
          <a:xfrm>
            <a:off x="2697510" y="4716484"/>
            <a:ext cx="303409" cy="306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F</a:t>
            </a:r>
            <a:endParaRPr lang="zh-CN" sz="14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8" name="直接连接符 27"/>
          <p:cNvCxnSpPr/>
          <p:nvPr/>
        </p:nvCxnSpPr>
        <p:spPr>
          <a:xfrm flipH="1">
            <a:off x="2869626" y="3767446"/>
            <a:ext cx="413740" cy="95222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3324189" y="3754079"/>
            <a:ext cx="477334" cy="95145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椭圆 29"/>
          <p:cNvSpPr>
            <a:spLocks noChangeAspect="1"/>
          </p:cNvSpPr>
          <p:nvPr/>
        </p:nvSpPr>
        <p:spPr>
          <a:xfrm>
            <a:off x="4184769" y="5906125"/>
            <a:ext cx="303409" cy="306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 dirty="0">
                <a:solidFill>
                  <a:srgbClr val="00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T</a:t>
            </a:r>
            <a:endParaRPr lang="zh-CN" sz="14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3858189" y="5023919"/>
            <a:ext cx="476951" cy="87023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椭圆 31"/>
          <p:cNvSpPr>
            <a:spLocks noChangeAspect="1"/>
          </p:cNvSpPr>
          <p:nvPr/>
        </p:nvSpPr>
        <p:spPr>
          <a:xfrm>
            <a:off x="4478702" y="5684187"/>
            <a:ext cx="238284" cy="2405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kern="100" dirty="0">
                <a:solidFill>
                  <a:srgbClr val="FF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4</a:t>
            </a:r>
            <a:endParaRPr lang="zh-CN" sz="1400" kern="100" dirty="0">
              <a:solidFill>
                <a:srgbClr val="FF0000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4" name="直接箭头连接符 33"/>
          <p:cNvCxnSpPr/>
          <p:nvPr/>
        </p:nvCxnSpPr>
        <p:spPr>
          <a:xfrm flipH="1" flipV="1">
            <a:off x="4090812" y="4961308"/>
            <a:ext cx="574672" cy="94117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 flipH="1" flipV="1">
            <a:off x="3522737" y="3675995"/>
            <a:ext cx="574672" cy="94117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 flipV="1">
            <a:off x="3767659" y="2963377"/>
            <a:ext cx="753267" cy="54123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1967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3" grpId="0" animBg="1"/>
      <p:bldP spid="25" grpId="0" animBg="1"/>
      <p:bldP spid="26" grpId="0" animBg="1"/>
      <p:bldP spid="27" grpId="0" animBg="1"/>
      <p:bldP spid="30" grpId="0" animBg="1"/>
      <p:bldP spid="3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A3928A4-5050-4E58-B431-55149ACD32CA}" type="slidenum">
              <a:rPr lang="en-US" altLang="zh-CN" smtClean="0">
                <a:ea typeface="黑体" pitchFamily="49" charset="-122"/>
              </a:rPr>
              <a:pPr/>
              <a:t>43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一個</a:t>
            </a:r>
            <a:r>
              <a:rPr lang="en-US" altLang="zh-CN"/>
              <a:t>A</a:t>
            </a:r>
            <a:r>
              <a:rPr lang="zh-CN" altLang="en-US"/>
              <a:t>算法的例子：八數碼問題</a:t>
            </a:r>
            <a:endParaRPr lang="zh-CN" altLang="en-US" dirty="0"/>
          </a:p>
        </p:txBody>
      </p:sp>
      <p:sp>
        <p:nvSpPr>
          <p:cNvPr id="67588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838200" y="3505200"/>
            <a:ext cx="7772400" cy="3048000"/>
          </a:xfrm>
        </p:spPr>
        <p:txBody>
          <a:bodyPr>
            <a:norm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3200" b="1"/>
              <a:t>定義評價函數：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3200" b="1" dirty="0"/>
              <a:t>	</a:t>
            </a:r>
            <a:r>
              <a:rPr lang="en-US" altLang="zh-CN" sz="3200" b="1" dirty="0"/>
              <a:t>f(n) = g(n) + h(n)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3200" b="1" dirty="0"/>
              <a:t>	g(</a:t>
            </a:r>
            <a:r>
              <a:rPr lang="en-US" altLang="zh-CN" sz="3200" b="1"/>
              <a:t>n)</a:t>
            </a:r>
            <a:r>
              <a:rPr lang="zh-CN" altLang="en-US" sz="3200" b="1"/>
              <a:t>爲從初始節點到當前節點的耗散值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3200" b="1" dirty="0"/>
              <a:t>	</a:t>
            </a:r>
            <a:r>
              <a:rPr lang="en-US" altLang="zh-CN" sz="3200" b="1" dirty="0"/>
              <a:t>h(</a:t>
            </a:r>
            <a:r>
              <a:rPr lang="en-US" altLang="zh-CN" sz="3200" b="1"/>
              <a:t>n)</a:t>
            </a:r>
            <a:r>
              <a:rPr lang="zh-CN" altLang="en-US" sz="3200" b="1"/>
              <a:t>爲當前節點“不在位”的將牌數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3200" b="1" dirty="0"/>
              <a:t>	</a:t>
            </a:r>
          </a:p>
        </p:txBody>
      </p:sp>
      <p:sp>
        <p:nvSpPr>
          <p:cNvPr id="67589" name="Text Box 7"/>
          <p:cNvSpPr txBox="1">
            <a:spLocks noChangeArrowheads="1"/>
          </p:cNvSpPr>
          <p:nvPr/>
        </p:nvSpPr>
        <p:spPr bwMode="auto">
          <a:xfrm>
            <a:off x="2133600" y="1963390"/>
            <a:ext cx="1371600" cy="138499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 sz="2800" b="1" dirty="0"/>
              <a:t>2    8    3</a:t>
            </a:r>
          </a:p>
          <a:p>
            <a:r>
              <a:rPr lang="en-US" altLang="zh-CN" sz="2800" b="1" dirty="0"/>
              <a:t>1    6    4</a:t>
            </a:r>
          </a:p>
          <a:p>
            <a:r>
              <a:rPr lang="en-US" altLang="zh-CN" sz="2800" b="1" dirty="0"/>
              <a:t>7          5</a:t>
            </a:r>
          </a:p>
        </p:txBody>
      </p:sp>
      <p:sp>
        <p:nvSpPr>
          <p:cNvPr id="67590" name="Text Box 9"/>
          <p:cNvSpPr txBox="1">
            <a:spLocks noChangeArrowheads="1"/>
          </p:cNvSpPr>
          <p:nvPr/>
        </p:nvSpPr>
        <p:spPr bwMode="auto">
          <a:xfrm>
            <a:off x="5334000" y="2047528"/>
            <a:ext cx="1371600" cy="138499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 sz="2800" b="1" dirty="0"/>
              <a:t>1    2    3</a:t>
            </a:r>
          </a:p>
          <a:p>
            <a:r>
              <a:rPr lang="en-US" altLang="zh-CN" sz="2800" b="1" dirty="0"/>
              <a:t>8          4</a:t>
            </a:r>
          </a:p>
          <a:p>
            <a:r>
              <a:rPr lang="en-US" altLang="zh-CN" sz="2800" b="1" dirty="0"/>
              <a:t>7    6    5</a:t>
            </a:r>
          </a:p>
        </p:txBody>
      </p:sp>
      <p:sp>
        <p:nvSpPr>
          <p:cNvPr id="67591" name="AutoShape 11"/>
          <p:cNvSpPr>
            <a:spLocks noChangeArrowheads="1"/>
          </p:cNvSpPr>
          <p:nvPr/>
        </p:nvSpPr>
        <p:spPr bwMode="auto">
          <a:xfrm>
            <a:off x="3733800" y="2522538"/>
            <a:ext cx="1371600" cy="304800"/>
          </a:xfrm>
          <a:prstGeom prst="rightArrow">
            <a:avLst>
              <a:gd name="adj1" fmla="val 50000"/>
              <a:gd name="adj2" fmla="val 1125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027AEA0-19C8-434C-AEAA-FEDE6C997672}" type="slidenum">
              <a:rPr lang="en-US" altLang="zh-CN" smtClean="0">
                <a:ea typeface="黑体" pitchFamily="49" charset="-122"/>
              </a:rPr>
              <a:pPr/>
              <a:t>44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/>
              <a:t>h</a:t>
            </a:r>
            <a:r>
              <a:rPr lang="zh-CN" altLang="en-US"/>
              <a:t>計算舉例</a:t>
            </a:r>
            <a:endParaRPr lang="zh-CN" altLang="en-US" dirty="0"/>
          </a:p>
        </p:txBody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3962400"/>
            <a:ext cx="7772400" cy="21336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				</a:t>
            </a:r>
            <a:r>
              <a:rPr lang="en-US" altLang="zh-CN" sz="3200" b="1" dirty="0"/>
              <a:t>h(n) =4 </a:t>
            </a:r>
          </a:p>
        </p:txBody>
      </p:sp>
      <p:sp>
        <p:nvSpPr>
          <p:cNvPr id="68613" name="Text Box 5"/>
          <p:cNvSpPr txBox="1">
            <a:spLocks noChangeArrowheads="1"/>
          </p:cNvSpPr>
          <p:nvPr/>
        </p:nvSpPr>
        <p:spPr bwMode="auto">
          <a:xfrm>
            <a:off x="3778250" y="1734790"/>
            <a:ext cx="1371600" cy="138499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</a:rPr>
              <a:t>2    8</a:t>
            </a:r>
            <a:r>
              <a:rPr lang="en-US" altLang="zh-CN" sz="2800" b="1" dirty="0"/>
              <a:t>    3</a:t>
            </a:r>
          </a:p>
          <a:p>
            <a:r>
              <a:rPr lang="en-US" altLang="zh-CN" sz="2800" b="1" dirty="0">
                <a:solidFill>
                  <a:srgbClr val="0000FF"/>
                </a:solidFill>
              </a:rPr>
              <a:t>1    6    </a:t>
            </a:r>
            <a:r>
              <a:rPr lang="en-US" altLang="zh-CN" sz="2800" b="1" dirty="0"/>
              <a:t>4</a:t>
            </a:r>
          </a:p>
          <a:p>
            <a:r>
              <a:rPr lang="en-US" altLang="zh-CN" sz="2800" b="1" dirty="0"/>
              <a:t>7          5</a:t>
            </a:r>
          </a:p>
        </p:txBody>
      </p:sp>
      <p:sp>
        <p:nvSpPr>
          <p:cNvPr id="68614" name="Text Box 6"/>
          <p:cNvSpPr txBox="1">
            <a:spLocks noChangeArrowheads="1"/>
          </p:cNvSpPr>
          <p:nvPr/>
        </p:nvSpPr>
        <p:spPr bwMode="auto">
          <a:xfrm>
            <a:off x="3778250" y="1338591"/>
            <a:ext cx="132119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solidFill>
                  <a:srgbClr val="FF0000"/>
                </a:solidFill>
              </a:rPr>
              <a:t>1    2    3</a:t>
            </a:r>
            <a:endParaRPr lang="en-US" altLang="zh-CN" sz="2800" dirty="0"/>
          </a:p>
        </p:txBody>
      </p:sp>
      <p:sp>
        <p:nvSpPr>
          <p:cNvPr id="68615" name="Text Box 7"/>
          <p:cNvSpPr txBox="1">
            <a:spLocks noChangeArrowheads="1"/>
          </p:cNvSpPr>
          <p:nvPr/>
        </p:nvSpPr>
        <p:spPr bwMode="auto">
          <a:xfrm>
            <a:off x="5276302" y="2158197"/>
            <a:ext cx="349776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800" dirty="0">
                <a:solidFill>
                  <a:srgbClr val="FF0000"/>
                </a:solidFill>
              </a:rPr>
              <a:t>4</a:t>
            </a:r>
          </a:p>
          <a:p>
            <a:pPr algn="ctr"/>
            <a:r>
              <a:rPr lang="en-US" altLang="zh-CN" sz="2800" dirty="0">
                <a:solidFill>
                  <a:srgbClr val="FF0000"/>
                </a:solidFill>
              </a:rPr>
              <a:t>5</a:t>
            </a:r>
            <a:endParaRPr lang="en-US" altLang="zh-CN" sz="2800" dirty="0"/>
          </a:p>
        </p:txBody>
      </p:sp>
      <p:sp>
        <p:nvSpPr>
          <p:cNvPr id="68616" name="Text Box 8"/>
          <p:cNvSpPr txBox="1">
            <a:spLocks noChangeArrowheads="1"/>
          </p:cNvSpPr>
          <p:nvPr/>
        </p:nvSpPr>
        <p:spPr bwMode="auto">
          <a:xfrm>
            <a:off x="3854450" y="3091191"/>
            <a:ext cx="115608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solidFill>
                  <a:srgbClr val="FF0000"/>
                </a:solidFill>
              </a:rPr>
              <a:t>7    6    </a:t>
            </a:r>
            <a:endParaRPr lang="en-US" altLang="zh-CN" sz="2800" dirty="0"/>
          </a:p>
        </p:txBody>
      </p:sp>
      <p:sp>
        <p:nvSpPr>
          <p:cNvPr id="68617" name="Text Box 9"/>
          <p:cNvSpPr txBox="1">
            <a:spLocks noChangeArrowheads="1"/>
          </p:cNvSpPr>
          <p:nvPr/>
        </p:nvSpPr>
        <p:spPr bwMode="auto">
          <a:xfrm>
            <a:off x="3358887" y="2176791"/>
            <a:ext cx="34977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800" dirty="0">
                <a:solidFill>
                  <a:srgbClr val="FF0000"/>
                </a:solidFill>
              </a:rPr>
              <a:t>8</a:t>
            </a:r>
            <a:endParaRPr lang="en-US" altLang="zh-CN" sz="2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9E13D9C-51C6-4998-93D8-3505FEEA5656}" type="slidenum">
              <a:rPr lang="en-US" altLang="zh-CN" smtClean="0">
                <a:ea typeface="黑体" pitchFamily="49" charset="-122"/>
              </a:rPr>
              <a:pPr/>
              <a:t>45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115714" name="Text Box 2"/>
          <p:cNvSpPr txBox="1">
            <a:spLocks noChangeArrowheads="1"/>
          </p:cNvSpPr>
          <p:nvPr/>
        </p:nvSpPr>
        <p:spPr bwMode="auto">
          <a:xfrm>
            <a:off x="3921125" y="154414"/>
            <a:ext cx="747320" cy="83099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1600" b="1" dirty="0"/>
              <a:t>2   8   3</a:t>
            </a:r>
          </a:p>
          <a:p>
            <a:r>
              <a:rPr lang="en-US" altLang="zh-CN" sz="1600" b="1" dirty="0"/>
              <a:t>1   6   4</a:t>
            </a:r>
          </a:p>
          <a:p>
            <a:r>
              <a:rPr lang="en-US" altLang="zh-CN" sz="1600" b="1" dirty="0"/>
              <a:t>7        5</a:t>
            </a:r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2362200" y="990600"/>
            <a:ext cx="3948113" cy="1060450"/>
            <a:chOff x="768" y="624"/>
            <a:chExt cx="2487" cy="668"/>
          </a:xfrm>
        </p:grpSpPr>
        <p:sp>
          <p:nvSpPr>
            <p:cNvPr id="69683" name="Text Box 3"/>
            <p:cNvSpPr txBox="1">
              <a:spLocks noChangeArrowheads="1"/>
            </p:cNvSpPr>
            <p:nvPr/>
          </p:nvSpPr>
          <p:spPr bwMode="auto">
            <a:xfrm>
              <a:off x="1728" y="769"/>
              <a:ext cx="471" cy="523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 b="1" dirty="0"/>
                <a:t>2   8   3</a:t>
              </a:r>
            </a:p>
            <a:p>
              <a:r>
                <a:rPr lang="en-US" altLang="zh-CN" sz="1600" b="1" dirty="0"/>
                <a:t>1        4</a:t>
              </a:r>
            </a:p>
            <a:p>
              <a:r>
                <a:rPr lang="en-US" altLang="zh-CN" sz="1600" b="1" dirty="0"/>
                <a:t>7   6   5</a:t>
              </a:r>
            </a:p>
          </p:txBody>
        </p:sp>
        <p:sp>
          <p:nvSpPr>
            <p:cNvPr id="69684" name="Text Box 4"/>
            <p:cNvSpPr txBox="1">
              <a:spLocks noChangeArrowheads="1"/>
            </p:cNvSpPr>
            <p:nvPr/>
          </p:nvSpPr>
          <p:spPr bwMode="auto">
            <a:xfrm>
              <a:off x="768" y="769"/>
              <a:ext cx="471" cy="523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 b="1" dirty="0"/>
                <a:t>2   8   3</a:t>
              </a:r>
            </a:p>
            <a:p>
              <a:r>
                <a:rPr lang="en-US" altLang="zh-CN" sz="1600" b="1" dirty="0"/>
                <a:t>1   6   4</a:t>
              </a:r>
            </a:p>
            <a:p>
              <a:r>
                <a:rPr lang="en-US" altLang="zh-CN" sz="1600" b="1" dirty="0"/>
                <a:t>    7    5</a:t>
              </a:r>
            </a:p>
          </p:txBody>
        </p:sp>
        <p:sp>
          <p:nvSpPr>
            <p:cNvPr id="69685" name="Text Box 5"/>
            <p:cNvSpPr txBox="1">
              <a:spLocks noChangeArrowheads="1"/>
            </p:cNvSpPr>
            <p:nvPr/>
          </p:nvSpPr>
          <p:spPr bwMode="auto">
            <a:xfrm>
              <a:off x="2784" y="769"/>
              <a:ext cx="471" cy="523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 b="1" dirty="0"/>
                <a:t>2   8   3</a:t>
              </a:r>
            </a:p>
            <a:p>
              <a:r>
                <a:rPr lang="en-US" altLang="zh-CN" sz="1600" b="1" dirty="0"/>
                <a:t>1   6   4</a:t>
              </a:r>
            </a:p>
            <a:p>
              <a:r>
                <a:rPr lang="en-US" altLang="zh-CN" sz="1600" b="1" dirty="0"/>
                <a:t>7   5</a:t>
              </a:r>
            </a:p>
          </p:txBody>
        </p:sp>
        <p:sp>
          <p:nvSpPr>
            <p:cNvPr id="69686" name="Line 16"/>
            <p:cNvSpPr>
              <a:spLocks noChangeShapeType="1"/>
            </p:cNvSpPr>
            <p:nvPr/>
          </p:nvSpPr>
          <p:spPr bwMode="auto">
            <a:xfrm flipV="1">
              <a:off x="1968" y="62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69687" name="Line 17"/>
            <p:cNvSpPr>
              <a:spLocks noChangeShapeType="1"/>
            </p:cNvSpPr>
            <p:nvPr/>
          </p:nvSpPr>
          <p:spPr bwMode="auto">
            <a:xfrm flipV="1">
              <a:off x="1056" y="624"/>
              <a:ext cx="91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69688" name="Line 18"/>
            <p:cNvSpPr>
              <a:spLocks noChangeShapeType="1"/>
            </p:cNvSpPr>
            <p:nvPr/>
          </p:nvSpPr>
          <p:spPr bwMode="auto">
            <a:xfrm flipH="1" flipV="1">
              <a:off x="2016" y="624"/>
              <a:ext cx="105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</p:grpSp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2362200" y="2057400"/>
            <a:ext cx="3948113" cy="1136650"/>
            <a:chOff x="768" y="1296"/>
            <a:chExt cx="2487" cy="716"/>
          </a:xfrm>
        </p:grpSpPr>
        <p:sp>
          <p:nvSpPr>
            <p:cNvPr id="69677" name="Text Box 6"/>
            <p:cNvSpPr txBox="1">
              <a:spLocks noChangeArrowheads="1"/>
            </p:cNvSpPr>
            <p:nvPr/>
          </p:nvSpPr>
          <p:spPr bwMode="auto">
            <a:xfrm>
              <a:off x="1728" y="1489"/>
              <a:ext cx="471" cy="523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 b="1" dirty="0"/>
                <a:t>2        3</a:t>
              </a:r>
            </a:p>
            <a:p>
              <a:r>
                <a:rPr lang="en-US" altLang="zh-CN" sz="1600" b="1" dirty="0"/>
                <a:t>1   8   4</a:t>
              </a:r>
            </a:p>
            <a:p>
              <a:r>
                <a:rPr lang="en-US" altLang="zh-CN" sz="1600" b="1" dirty="0"/>
                <a:t>7   6   5</a:t>
              </a:r>
            </a:p>
          </p:txBody>
        </p:sp>
        <p:sp>
          <p:nvSpPr>
            <p:cNvPr id="69678" name="Text Box 7"/>
            <p:cNvSpPr txBox="1">
              <a:spLocks noChangeArrowheads="1"/>
            </p:cNvSpPr>
            <p:nvPr/>
          </p:nvSpPr>
          <p:spPr bwMode="auto">
            <a:xfrm>
              <a:off x="768" y="1489"/>
              <a:ext cx="471" cy="523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 b="1" dirty="0"/>
                <a:t>2   8   3</a:t>
              </a:r>
            </a:p>
            <a:p>
              <a:r>
                <a:rPr lang="en-US" altLang="zh-CN" sz="1600" b="1" dirty="0"/>
                <a:t>     1   4</a:t>
              </a:r>
            </a:p>
            <a:p>
              <a:r>
                <a:rPr lang="en-US" altLang="zh-CN" sz="1600" b="1" dirty="0"/>
                <a:t>7   6   5</a:t>
              </a:r>
            </a:p>
          </p:txBody>
        </p:sp>
        <p:sp>
          <p:nvSpPr>
            <p:cNvPr id="69679" name="Text Box 8"/>
            <p:cNvSpPr txBox="1">
              <a:spLocks noChangeArrowheads="1"/>
            </p:cNvSpPr>
            <p:nvPr/>
          </p:nvSpPr>
          <p:spPr bwMode="auto">
            <a:xfrm>
              <a:off x="2784" y="1489"/>
              <a:ext cx="471" cy="523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 b="1" dirty="0"/>
                <a:t>2   8   3</a:t>
              </a:r>
            </a:p>
            <a:p>
              <a:r>
                <a:rPr lang="en-US" altLang="zh-CN" sz="1600" b="1" dirty="0"/>
                <a:t>1   4</a:t>
              </a:r>
            </a:p>
            <a:p>
              <a:r>
                <a:rPr lang="en-US" altLang="zh-CN" sz="1600" b="1" dirty="0"/>
                <a:t>7    6  5</a:t>
              </a:r>
            </a:p>
          </p:txBody>
        </p:sp>
        <p:sp>
          <p:nvSpPr>
            <p:cNvPr id="69680" name="Line 19"/>
            <p:cNvSpPr>
              <a:spLocks noChangeShapeType="1"/>
            </p:cNvSpPr>
            <p:nvPr/>
          </p:nvSpPr>
          <p:spPr bwMode="auto">
            <a:xfrm flipV="1">
              <a:off x="1968" y="129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69681" name="Line 20"/>
            <p:cNvSpPr>
              <a:spLocks noChangeShapeType="1"/>
            </p:cNvSpPr>
            <p:nvPr/>
          </p:nvSpPr>
          <p:spPr bwMode="auto">
            <a:xfrm flipV="1">
              <a:off x="1056" y="1296"/>
              <a:ext cx="91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69682" name="Line 21"/>
            <p:cNvSpPr>
              <a:spLocks noChangeShapeType="1"/>
            </p:cNvSpPr>
            <p:nvPr/>
          </p:nvSpPr>
          <p:spPr bwMode="auto">
            <a:xfrm flipH="1" flipV="1">
              <a:off x="2016" y="1296"/>
              <a:ext cx="105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</p:grpSp>
      <p:grpSp>
        <p:nvGrpSpPr>
          <p:cNvPr id="4" name="Group 31"/>
          <p:cNvGrpSpPr>
            <a:grpSpLocks/>
          </p:cNvGrpSpPr>
          <p:nvPr/>
        </p:nvGrpSpPr>
        <p:grpSpPr bwMode="auto">
          <a:xfrm>
            <a:off x="1371600" y="3200400"/>
            <a:ext cx="2271713" cy="1289050"/>
            <a:chOff x="144" y="2016"/>
            <a:chExt cx="1431" cy="812"/>
          </a:xfrm>
        </p:grpSpPr>
        <p:sp>
          <p:nvSpPr>
            <p:cNvPr id="69673" name="Text Box 10"/>
            <p:cNvSpPr txBox="1">
              <a:spLocks noChangeArrowheads="1"/>
            </p:cNvSpPr>
            <p:nvPr/>
          </p:nvSpPr>
          <p:spPr bwMode="auto">
            <a:xfrm>
              <a:off x="1104" y="2305"/>
              <a:ext cx="471" cy="523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 b="1" dirty="0"/>
                <a:t>2   8   3</a:t>
              </a:r>
            </a:p>
            <a:p>
              <a:r>
                <a:rPr lang="en-US" altLang="zh-CN" sz="1600" b="1" dirty="0"/>
                <a:t>7   1   4</a:t>
              </a:r>
            </a:p>
            <a:p>
              <a:r>
                <a:rPr lang="en-US" altLang="zh-CN" sz="1600" b="1" dirty="0"/>
                <a:t>    6    5</a:t>
              </a:r>
            </a:p>
          </p:txBody>
        </p:sp>
        <p:sp>
          <p:nvSpPr>
            <p:cNvPr id="69674" name="Text Box 12"/>
            <p:cNvSpPr txBox="1">
              <a:spLocks noChangeArrowheads="1"/>
            </p:cNvSpPr>
            <p:nvPr/>
          </p:nvSpPr>
          <p:spPr bwMode="auto">
            <a:xfrm>
              <a:off x="144" y="2305"/>
              <a:ext cx="471" cy="523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 b="1" dirty="0"/>
                <a:t>     8   3</a:t>
              </a:r>
            </a:p>
            <a:p>
              <a:r>
                <a:rPr lang="en-US" altLang="zh-CN" sz="1600" b="1" dirty="0"/>
                <a:t>2   1   4</a:t>
              </a:r>
            </a:p>
            <a:p>
              <a:r>
                <a:rPr lang="en-US" altLang="zh-CN" sz="1600" b="1" dirty="0"/>
                <a:t>7   6   5</a:t>
              </a:r>
            </a:p>
          </p:txBody>
        </p:sp>
        <p:sp>
          <p:nvSpPr>
            <p:cNvPr id="69675" name="Line 22"/>
            <p:cNvSpPr>
              <a:spLocks noChangeShapeType="1"/>
            </p:cNvSpPr>
            <p:nvPr/>
          </p:nvSpPr>
          <p:spPr bwMode="auto">
            <a:xfrm flipV="1">
              <a:off x="432" y="2016"/>
              <a:ext cx="57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69676" name="Line 23"/>
            <p:cNvSpPr>
              <a:spLocks noChangeShapeType="1"/>
            </p:cNvSpPr>
            <p:nvPr/>
          </p:nvSpPr>
          <p:spPr bwMode="auto">
            <a:xfrm flipH="1" flipV="1">
              <a:off x="1008" y="2016"/>
              <a:ext cx="33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</p:grpSp>
      <p:grpSp>
        <p:nvGrpSpPr>
          <p:cNvPr id="5" name="Group 32"/>
          <p:cNvGrpSpPr>
            <a:grpSpLocks/>
          </p:cNvGrpSpPr>
          <p:nvPr/>
        </p:nvGrpSpPr>
        <p:grpSpPr bwMode="auto">
          <a:xfrm>
            <a:off x="4267201" y="3200400"/>
            <a:ext cx="2576513" cy="1289050"/>
            <a:chOff x="1968" y="2016"/>
            <a:chExt cx="1623" cy="812"/>
          </a:xfrm>
        </p:grpSpPr>
        <p:sp>
          <p:nvSpPr>
            <p:cNvPr id="69669" name="Text Box 9"/>
            <p:cNvSpPr txBox="1">
              <a:spLocks noChangeArrowheads="1"/>
            </p:cNvSpPr>
            <p:nvPr/>
          </p:nvSpPr>
          <p:spPr bwMode="auto">
            <a:xfrm>
              <a:off x="2064" y="2305"/>
              <a:ext cx="471" cy="523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 b="1" dirty="0"/>
                <a:t>     2   3</a:t>
              </a:r>
            </a:p>
            <a:p>
              <a:r>
                <a:rPr lang="en-US" altLang="zh-CN" sz="1600" b="1" dirty="0"/>
                <a:t>1   8   4</a:t>
              </a:r>
            </a:p>
            <a:p>
              <a:r>
                <a:rPr lang="en-US" altLang="zh-CN" sz="1600" b="1" dirty="0"/>
                <a:t>7   6   5</a:t>
              </a:r>
            </a:p>
          </p:txBody>
        </p:sp>
        <p:sp>
          <p:nvSpPr>
            <p:cNvPr id="69670" name="Text Box 11"/>
            <p:cNvSpPr txBox="1">
              <a:spLocks noChangeArrowheads="1"/>
            </p:cNvSpPr>
            <p:nvPr/>
          </p:nvSpPr>
          <p:spPr bwMode="auto">
            <a:xfrm>
              <a:off x="3120" y="2305"/>
              <a:ext cx="471" cy="523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 b="1" dirty="0"/>
                <a:t>2   3</a:t>
              </a:r>
            </a:p>
            <a:p>
              <a:r>
                <a:rPr lang="en-US" altLang="zh-CN" sz="1600" b="1" dirty="0"/>
                <a:t>1   8   4</a:t>
              </a:r>
            </a:p>
            <a:p>
              <a:r>
                <a:rPr lang="en-US" altLang="zh-CN" sz="1600" b="1" dirty="0"/>
                <a:t>7   6   5</a:t>
              </a:r>
            </a:p>
          </p:txBody>
        </p:sp>
        <p:sp>
          <p:nvSpPr>
            <p:cNvPr id="69671" name="Line 24"/>
            <p:cNvSpPr>
              <a:spLocks noChangeShapeType="1"/>
            </p:cNvSpPr>
            <p:nvPr/>
          </p:nvSpPr>
          <p:spPr bwMode="auto">
            <a:xfrm flipH="1" flipV="1">
              <a:off x="1968" y="2016"/>
              <a:ext cx="33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69672" name="Line 25"/>
            <p:cNvSpPr>
              <a:spLocks noChangeShapeType="1"/>
            </p:cNvSpPr>
            <p:nvPr/>
          </p:nvSpPr>
          <p:spPr bwMode="auto">
            <a:xfrm flipH="1" flipV="1">
              <a:off x="2016" y="2016"/>
              <a:ext cx="13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</p:grpSp>
      <p:grpSp>
        <p:nvGrpSpPr>
          <p:cNvPr id="6" name="Group 33"/>
          <p:cNvGrpSpPr>
            <a:grpSpLocks/>
          </p:cNvGrpSpPr>
          <p:nvPr/>
        </p:nvGrpSpPr>
        <p:grpSpPr bwMode="auto">
          <a:xfrm>
            <a:off x="4419600" y="4495800"/>
            <a:ext cx="793750" cy="1060450"/>
            <a:chOff x="2064" y="2832"/>
            <a:chExt cx="500" cy="668"/>
          </a:xfrm>
        </p:grpSpPr>
        <p:sp>
          <p:nvSpPr>
            <p:cNvPr id="69667" name="Text Box 13"/>
            <p:cNvSpPr txBox="1">
              <a:spLocks noChangeArrowheads="1"/>
            </p:cNvSpPr>
            <p:nvPr/>
          </p:nvSpPr>
          <p:spPr bwMode="auto">
            <a:xfrm>
              <a:off x="2064" y="2977"/>
              <a:ext cx="500" cy="523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 b="1" dirty="0"/>
                <a:t>1   2    3</a:t>
              </a:r>
            </a:p>
            <a:p>
              <a:r>
                <a:rPr lang="en-US" altLang="zh-CN" sz="1600" b="1" dirty="0"/>
                <a:t>     8   4</a:t>
              </a:r>
            </a:p>
            <a:p>
              <a:r>
                <a:rPr lang="en-US" altLang="zh-CN" sz="1600" b="1" dirty="0"/>
                <a:t>7   6   5</a:t>
              </a:r>
            </a:p>
          </p:txBody>
        </p:sp>
        <p:sp>
          <p:nvSpPr>
            <p:cNvPr id="69668" name="Line 26"/>
            <p:cNvSpPr>
              <a:spLocks noChangeShapeType="1"/>
            </p:cNvSpPr>
            <p:nvPr/>
          </p:nvSpPr>
          <p:spPr bwMode="auto">
            <a:xfrm flipV="1">
              <a:off x="2304" y="283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</p:grpSp>
      <p:grpSp>
        <p:nvGrpSpPr>
          <p:cNvPr id="7" name="Group 34"/>
          <p:cNvGrpSpPr>
            <a:grpSpLocks/>
          </p:cNvGrpSpPr>
          <p:nvPr/>
        </p:nvGrpSpPr>
        <p:grpSpPr bwMode="auto">
          <a:xfrm>
            <a:off x="2667000" y="5562600"/>
            <a:ext cx="4287838" cy="1060450"/>
            <a:chOff x="960" y="3504"/>
            <a:chExt cx="2701" cy="668"/>
          </a:xfrm>
        </p:grpSpPr>
        <p:sp>
          <p:nvSpPr>
            <p:cNvPr id="69663" name="Text Box 14"/>
            <p:cNvSpPr txBox="1">
              <a:spLocks noChangeArrowheads="1"/>
            </p:cNvSpPr>
            <p:nvPr/>
          </p:nvSpPr>
          <p:spPr bwMode="auto">
            <a:xfrm>
              <a:off x="960" y="3649"/>
              <a:ext cx="471" cy="523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 b="1" dirty="0"/>
                <a:t>1   2   3</a:t>
              </a:r>
            </a:p>
            <a:p>
              <a:r>
                <a:rPr lang="en-US" altLang="zh-CN" sz="1600" b="1" dirty="0"/>
                <a:t>8        4</a:t>
              </a:r>
            </a:p>
            <a:p>
              <a:r>
                <a:rPr lang="en-US" altLang="zh-CN" sz="1600" b="1" dirty="0"/>
                <a:t>7   6   5</a:t>
              </a:r>
            </a:p>
          </p:txBody>
        </p:sp>
        <p:sp>
          <p:nvSpPr>
            <p:cNvPr id="69664" name="Text Box 15"/>
            <p:cNvSpPr txBox="1">
              <a:spLocks noChangeArrowheads="1"/>
            </p:cNvSpPr>
            <p:nvPr/>
          </p:nvSpPr>
          <p:spPr bwMode="auto">
            <a:xfrm>
              <a:off x="3190" y="3649"/>
              <a:ext cx="471" cy="523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 b="1" dirty="0"/>
                <a:t>1   2   3</a:t>
              </a:r>
            </a:p>
            <a:p>
              <a:r>
                <a:rPr lang="en-US" altLang="zh-CN" sz="1600" b="1" dirty="0"/>
                <a:t>7   8   4</a:t>
              </a:r>
            </a:p>
            <a:p>
              <a:r>
                <a:rPr lang="en-US" altLang="zh-CN" sz="1600" b="1" dirty="0"/>
                <a:t>     6   5</a:t>
              </a:r>
            </a:p>
          </p:txBody>
        </p:sp>
        <p:sp>
          <p:nvSpPr>
            <p:cNvPr id="69665" name="Line 27"/>
            <p:cNvSpPr>
              <a:spLocks noChangeShapeType="1"/>
            </p:cNvSpPr>
            <p:nvPr/>
          </p:nvSpPr>
          <p:spPr bwMode="auto">
            <a:xfrm flipV="1">
              <a:off x="1200" y="3504"/>
              <a:ext cx="110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69666" name="Line 28"/>
            <p:cNvSpPr>
              <a:spLocks noChangeShapeType="1"/>
            </p:cNvSpPr>
            <p:nvPr/>
          </p:nvSpPr>
          <p:spPr bwMode="auto">
            <a:xfrm flipH="1" flipV="1">
              <a:off x="2304" y="3504"/>
              <a:ext cx="115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</p:grpSp>
      <p:sp>
        <p:nvSpPr>
          <p:cNvPr id="115748" name="Text Box 36"/>
          <p:cNvSpPr txBox="1">
            <a:spLocks noChangeArrowheads="1"/>
          </p:cNvSpPr>
          <p:nvPr/>
        </p:nvSpPr>
        <p:spPr bwMode="auto">
          <a:xfrm>
            <a:off x="4703971" y="-16698"/>
            <a:ext cx="58060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1" dirty="0"/>
              <a:t>s(4)</a:t>
            </a:r>
          </a:p>
        </p:txBody>
      </p:sp>
      <p:sp>
        <p:nvSpPr>
          <p:cNvPr id="115749" name="Text Box 37"/>
          <p:cNvSpPr txBox="1">
            <a:spLocks noChangeArrowheads="1"/>
          </p:cNvSpPr>
          <p:nvPr/>
        </p:nvSpPr>
        <p:spPr bwMode="auto">
          <a:xfrm>
            <a:off x="1654798" y="1431102"/>
            <a:ext cx="65915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1" dirty="0"/>
              <a:t>A(6)</a:t>
            </a:r>
          </a:p>
        </p:txBody>
      </p:sp>
      <p:sp>
        <p:nvSpPr>
          <p:cNvPr id="115750" name="Text Box 38"/>
          <p:cNvSpPr txBox="1">
            <a:spLocks noChangeArrowheads="1"/>
          </p:cNvSpPr>
          <p:nvPr/>
        </p:nvSpPr>
        <p:spPr bwMode="auto">
          <a:xfrm>
            <a:off x="4710011" y="1521589"/>
            <a:ext cx="64472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1" dirty="0"/>
              <a:t>B(4)</a:t>
            </a:r>
          </a:p>
        </p:txBody>
      </p:sp>
      <p:sp>
        <p:nvSpPr>
          <p:cNvPr id="115751" name="Text Box 39"/>
          <p:cNvSpPr txBox="1">
            <a:spLocks noChangeArrowheads="1"/>
          </p:cNvSpPr>
          <p:nvPr/>
        </p:nvSpPr>
        <p:spPr bwMode="auto">
          <a:xfrm>
            <a:off x="6462611" y="1431102"/>
            <a:ext cx="64472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1" dirty="0"/>
              <a:t>C(6)</a:t>
            </a:r>
          </a:p>
        </p:txBody>
      </p:sp>
      <p:sp>
        <p:nvSpPr>
          <p:cNvPr id="115752" name="Text Box 40"/>
          <p:cNvSpPr txBox="1">
            <a:spLocks noChangeArrowheads="1"/>
          </p:cNvSpPr>
          <p:nvPr/>
        </p:nvSpPr>
        <p:spPr bwMode="auto">
          <a:xfrm>
            <a:off x="1724586" y="2574102"/>
            <a:ext cx="67197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1" dirty="0"/>
              <a:t>D(5)</a:t>
            </a:r>
          </a:p>
        </p:txBody>
      </p:sp>
      <p:sp>
        <p:nvSpPr>
          <p:cNvPr id="115753" name="Text Box 41"/>
          <p:cNvSpPr txBox="1">
            <a:spLocks noChangeArrowheads="1"/>
          </p:cNvSpPr>
          <p:nvPr/>
        </p:nvSpPr>
        <p:spPr bwMode="auto">
          <a:xfrm>
            <a:off x="4722835" y="2574102"/>
            <a:ext cx="61908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1" dirty="0"/>
              <a:t>E(5)</a:t>
            </a:r>
          </a:p>
        </p:txBody>
      </p:sp>
      <p:sp>
        <p:nvSpPr>
          <p:cNvPr id="115754" name="Text Box 42"/>
          <p:cNvSpPr txBox="1">
            <a:spLocks noChangeArrowheads="1"/>
          </p:cNvSpPr>
          <p:nvPr/>
        </p:nvSpPr>
        <p:spPr bwMode="auto">
          <a:xfrm>
            <a:off x="6396892" y="2574102"/>
            <a:ext cx="61106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1" dirty="0"/>
              <a:t>F(6)</a:t>
            </a:r>
          </a:p>
        </p:txBody>
      </p:sp>
      <p:sp>
        <p:nvSpPr>
          <p:cNvPr id="115755" name="Text Box 43"/>
          <p:cNvSpPr txBox="1">
            <a:spLocks noChangeArrowheads="1"/>
          </p:cNvSpPr>
          <p:nvPr/>
        </p:nvSpPr>
        <p:spPr bwMode="auto">
          <a:xfrm>
            <a:off x="1407148" y="4555302"/>
            <a:ext cx="65915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1" dirty="0"/>
              <a:t>G(6)</a:t>
            </a:r>
          </a:p>
        </p:txBody>
      </p:sp>
      <p:sp>
        <p:nvSpPr>
          <p:cNvPr id="115756" name="Text Box 44"/>
          <p:cNvSpPr txBox="1">
            <a:spLocks noChangeArrowheads="1"/>
          </p:cNvSpPr>
          <p:nvPr/>
        </p:nvSpPr>
        <p:spPr bwMode="auto">
          <a:xfrm>
            <a:off x="2937373" y="4555302"/>
            <a:ext cx="68480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1" dirty="0"/>
              <a:t>H(7)</a:t>
            </a:r>
          </a:p>
        </p:txBody>
      </p:sp>
      <p:sp>
        <p:nvSpPr>
          <p:cNvPr id="115757" name="Text Box 45"/>
          <p:cNvSpPr txBox="1">
            <a:spLocks noChangeArrowheads="1"/>
          </p:cNvSpPr>
          <p:nvPr/>
        </p:nvSpPr>
        <p:spPr bwMode="auto">
          <a:xfrm>
            <a:off x="5186571" y="3869502"/>
            <a:ext cx="58060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1" dirty="0"/>
              <a:t>I(5)</a:t>
            </a:r>
          </a:p>
        </p:txBody>
      </p:sp>
      <p:sp>
        <p:nvSpPr>
          <p:cNvPr id="115758" name="Text Box 46"/>
          <p:cNvSpPr txBox="1">
            <a:spLocks noChangeArrowheads="1"/>
          </p:cNvSpPr>
          <p:nvPr/>
        </p:nvSpPr>
        <p:spPr bwMode="auto">
          <a:xfrm>
            <a:off x="6972300" y="3869502"/>
            <a:ext cx="53975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1" dirty="0"/>
              <a:t>J(7)</a:t>
            </a:r>
          </a:p>
        </p:txBody>
      </p:sp>
      <p:sp>
        <p:nvSpPr>
          <p:cNvPr id="115759" name="Text Box 47"/>
          <p:cNvSpPr txBox="1">
            <a:spLocks noChangeArrowheads="1"/>
          </p:cNvSpPr>
          <p:nvPr/>
        </p:nvSpPr>
        <p:spPr bwMode="auto">
          <a:xfrm>
            <a:off x="5269550" y="5088702"/>
            <a:ext cx="65595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1" dirty="0"/>
              <a:t>K(5)</a:t>
            </a:r>
          </a:p>
        </p:txBody>
      </p:sp>
      <p:sp>
        <p:nvSpPr>
          <p:cNvPr id="115760" name="Text Box 48"/>
          <p:cNvSpPr txBox="1">
            <a:spLocks noChangeArrowheads="1"/>
          </p:cNvSpPr>
          <p:nvPr/>
        </p:nvSpPr>
        <p:spPr bwMode="auto">
          <a:xfrm>
            <a:off x="1979635" y="6003102"/>
            <a:ext cx="61908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1" dirty="0"/>
              <a:t>L(5)</a:t>
            </a:r>
          </a:p>
        </p:txBody>
      </p:sp>
      <p:sp>
        <p:nvSpPr>
          <p:cNvPr id="115761" name="Text Box 49"/>
          <p:cNvSpPr txBox="1">
            <a:spLocks noChangeArrowheads="1"/>
          </p:cNvSpPr>
          <p:nvPr/>
        </p:nvSpPr>
        <p:spPr bwMode="auto">
          <a:xfrm>
            <a:off x="7086600" y="5926902"/>
            <a:ext cx="762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1" dirty="0"/>
              <a:t>M(7)</a:t>
            </a:r>
          </a:p>
        </p:txBody>
      </p:sp>
      <p:sp>
        <p:nvSpPr>
          <p:cNvPr id="115762" name="Text Box 50"/>
          <p:cNvSpPr txBox="1">
            <a:spLocks noChangeArrowheads="1"/>
          </p:cNvSpPr>
          <p:nvPr/>
        </p:nvSpPr>
        <p:spPr bwMode="auto">
          <a:xfrm>
            <a:off x="3526259" y="6155502"/>
            <a:ext cx="70083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 b="1"/>
              <a:t>目標</a:t>
            </a:r>
            <a:endParaRPr lang="zh-CN" altLang="en-US" sz="2000" b="1" dirty="0"/>
          </a:p>
        </p:txBody>
      </p:sp>
      <p:sp>
        <p:nvSpPr>
          <p:cNvPr id="115764" name="Oval 52"/>
          <p:cNvSpPr>
            <a:spLocks noChangeArrowheads="1"/>
          </p:cNvSpPr>
          <p:nvPr/>
        </p:nvSpPr>
        <p:spPr bwMode="auto">
          <a:xfrm>
            <a:off x="4802188" y="343784"/>
            <a:ext cx="223837" cy="476071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15765" name="Oval 53"/>
          <p:cNvSpPr>
            <a:spLocks noChangeArrowheads="1"/>
          </p:cNvSpPr>
          <p:nvPr/>
        </p:nvSpPr>
        <p:spPr bwMode="auto">
          <a:xfrm>
            <a:off x="4725988" y="1105784"/>
            <a:ext cx="223837" cy="476071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15767" name="Oval 55"/>
          <p:cNvSpPr>
            <a:spLocks noChangeArrowheads="1"/>
          </p:cNvSpPr>
          <p:nvPr/>
        </p:nvSpPr>
        <p:spPr bwMode="auto">
          <a:xfrm>
            <a:off x="3201988" y="2248784"/>
            <a:ext cx="223837" cy="476071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15768" name="Oval 56"/>
          <p:cNvSpPr>
            <a:spLocks noChangeArrowheads="1"/>
          </p:cNvSpPr>
          <p:nvPr/>
        </p:nvSpPr>
        <p:spPr bwMode="auto">
          <a:xfrm>
            <a:off x="4725988" y="2172584"/>
            <a:ext cx="223837" cy="476071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 b="1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15769" name="Oval 57"/>
          <p:cNvSpPr>
            <a:spLocks noChangeArrowheads="1"/>
          </p:cNvSpPr>
          <p:nvPr/>
        </p:nvSpPr>
        <p:spPr bwMode="auto">
          <a:xfrm>
            <a:off x="5335588" y="3467984"/>
            <a:ext cx="223837" cy="476071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 b="1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15770" name="Oval 58"/>
          <p:cNvSpPr>
            <a:spLocks noChangeArrowheads="1"/>
          </p:cNvSpPr>
          <p:nvPr/>
        </p:nvSpPr>
        <p:spPr bwMode="auto">
          <a:xfrm>
            <a:off x="5335588" y="4610984"/>
            <a:ext cx="223837" cy="476071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 b="1" dirty="0">
                <a:solidFill>
                  <a:srgbClr val="FF0000"/>
                </a:solidFill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48" grpId="0" autoUpdateAnimBg="0"/>
      <p:bldP spid="115749" grpId="0" autoUpdateAnimBg="0"/>
      <p:bldP spid="115750" grpId="0" autoUpdateAnimBg="0"/>
      <p:bldP spid="115751" grpId="0" autoUpdateAnimBg="0"/>
      <p:bldP spid="115752" grpId="0" autoUpdateAnimBg="0"/>
      <p:bldP spid="115753" grpId="0" autoUpdateAnimBg="0"/>
      <p:bldP spid="115754" grpId="0" autoUpdateAnimBg="0"/>
      <p:bldP spid="115755" grpId="0" autoUpdateAnimBg="0"/>
      <p:bldP spid="115756" grpId="0" autoUpdateAnimBg="0"/>
      <p:bldP spid="115757" grpId="0" autoUpdateAnimBg="0"/>
      <p:bldP spid="115758" grpId="0" autoUpdateAnimBg="0"/>
      <p:bldP spid="115759" grpId="0" autoUpdateAnimBg="0"/>
      <p:bldP spid="115760" grpId="0" autoUpdateAnimBg="0"/>
      <p:bldP spid="115761" grpId="0" autoUpdateAnimBg="0"/>
      <p:bldP spid="115762" grpId="0" autoUpdateAnimBg="0"/>
      <p:bldP spid="115764" grpId="0" animBg="1" autoUpdateAnimBg="0"/>
      <p:bldP spid="115765" grpId="0" animBg="1" autoUpdateAnimBg="0"/>
      <p:bldP spid="115767" grpId="0" animBg="1" autoUpdateAnimBg="0"/>
      <p:bldP spid="115768" grpId="0" animBg="1" autoUpdateAnimBg="0"/>
      <p:bldP spid="115769" grpId="0" animBg="1" autoUpdateAnimBg="0"/>
      <p:bldP spid="115770" grpId="0" animBg="1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設狀態圖如圖所示，括弧中數字爲節點的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h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值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算法按順序擴展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後，可得到一條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SAG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的路徑，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OPEN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=[</a:t>
            </a:r>
            <a:r>
              <a:rPr lang="en-US" altLang="zh-CN" sz="2800" b="1" dirty="0"/>
              <a:t>B(8),C(9),G(</a:t>
            </a:r>
            <a:r>
              <a:rPr lang="en-US" altLang="zh-CN" sz="2800" b="1"/>
              <a:t>14)]</a:t>
            </a:r>
            <a:r>
              <a:rPr lang="zh-CN" altLang="en-US" sz="2800" b="1"/>
              <a:t>，這時：</a:t>
            </a:r>
            <a:endParaRPr lang="en-US" altLang="zh-CN" sz="2800" b="1" dirty="0"/>
          </a:p>
          <a:p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得到了路徑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SAG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，結束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828800" y="34718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因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OPEN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中還有節點，未結束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828800" y="4157663"/>
            <a:ext cx="5486823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因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G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值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在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OPEN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中非最小，未結束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828800" y="48434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繼續擴展節點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矩形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矩形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5361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2219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49077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63" name="组合 62"/>
          <p:cNvGrpSpPr/>
          <p:nvPr/>
        </p:nvGrpSpPr>
        <p:grpSpPr>
          <a:xfrm>
            <a:off x="6127615" y="2175041"/>
            <a:ext cx="2776608" cy="3890665"/>
            <a:chOff x="5726172" y="1628635"/>
            <a:chExt cx="2776608" cy="3890665"/>
          </a:xfrm>
        </p:grpSpPr>
        <p:sp>
          <p:nvSpPr>
            <p:cNvPr id="41" name="Oval 2"/>
            <p:cNvSpPr>
              <a:spLocks noChangeArrowheads="1"/>
            </p:cNvSpPr>
            <p:nvPr/>
          </p:nvSpPr>
          <p:spPr bwMode="auto">
            <a:xfrm flipH="1">
              <a:off x="6990380" y="1889630"/>
              <a:ext cx="152400" cy="152400"/>
            </a:xfrm>
            <a:prstGeom prst="ellipse">
              <a:avLst/>
            </a:prstGeom>
            <a:solidFill>
              <a:srgbClr val="FFFFFF"/>
            </a:solidFill>
            <a:ln w="57150">
              <a:solidFill>
                <a:srgbClr val="0070C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42" name="Oval 3"/>
            <p:cNvSpPr>
              <a:spLocks noChangeArrowheads="1"/>
            </p:cNvSpPr>
            <p:nvPr/>
          </p:nvSpPr>
          <p:spPr bwMode="auto">
            <a:xfrm flipH="1">
              <a:off x="6228380" y="2727830"/>
              <a:ext cx="152400" cy="152400"/>
            </a:xfrm>
            <a:prstGeom prst="ellipse">
              <a:avLst/>
            </a:prstGeom>
            <a:solidFill>
              <a:srgbClr val="FFFFFF"/>
            </a:solidFill>
            <a:ln w="57150">
              <a:solidFill>
                <a:srgbClr val="0070C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43" name="Oval 4"/>
            <p:cNvSpPr>
              <a:spLocks noChangeArrowheads="1"/>
            </p:cNvSpPr>
            <p:nvPr/>
          </p:nvSpPr>
          <p:spPr bwMode="auto">
            <a:xfrm flipH="1">
              <a:off x="6914180" y="3185030"/>
              <a:ext cx="152400" cy="152400"/>
            </a:xfrm>
            <a:prstGeom prst="ellipse">
              <a:avLst/>
            </a:prstGeom>
            <a:solidFill>
              <a:srgbClr val="FFFFFF"/>
            </a:solidFill>
            <a:ln w="57150">
              <a:solidFill>
                <a:srgbClr val="0070C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44" name="Oval 5"/>
            <p:cNvSpPr>
              <a:spLocks noChangeArrowheads="1"/>
            </p:cNvSpPr>
            <p:nvPr/>
          </p:nvSpPr>
          <p:spPr bwMode="auto">
            <a:xfrm flipH="1">
              <a:off x="7676180" y="3566030"/>
              <a:ext cx="152400" cy="152400"/>
            </a:xfrm>
            <a:prstGeom prst="ellipse">
              <a:avLst/>
            </a:prstGeom>
            <a:solidFill>
              <a:srgbClr val="FFFFFF"/>
            </a:solidFill>
            <a:ln w="57150">
              <a:solidFill>
                <a:srgbClr val="0070C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45" name="Oval 6"/>
            <p:cNvSpPr>
              <a:spLocks noChangeArrowheads="1"/>
            </p:cNvSpPr>
            <p:nvPr/>
          </p:nvSpPr>
          <p:spPr bwMode="auto">
            <a:xfrm flipH="1">
              <a:off x="6609380" y="4709030"/>
              <a:ext cx="152400" cy="152400"/>
            </a:xfrm>
            <a:prstGeom prst="ellipse">
              <a:avLst/>
            </a:prstGeom>
            <a:solidFill>
              <a:srgbClr val="FFFFFF"/>
            </a:solidFill>
            <a:ln w="57150">
              <a:solidFill>
                <a:srgbClr val="0070C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46" name="Line 7"/>
            <p:cNvSpPr>
              <a:spLocks noChangeShapeType="1"/>
            </p:cNvSpPr>
            <p:nvPr/>
          </p:nvSpPr>
          <p:spPr bwMode="auto">
            <a:xfrm flipH="1">
              <a:off x="6380780" y="2042030"/>
              <a:ext cx="609600" cy="685800"/>
            </a:xfrm>
            <a:prstGeom prst="line">
              <a:avLst/>
            </a:prstGeom>
            <a:noFill/>
            <a:ln w="57150">
              <a:solidFill>
                <a:srgbClr val="0070C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47" name="Line 8"/>
            <p:cNvSpPr>
              <a:spLocks noChangeShapeType="1"/>
            </p:cNvSpPr>
            <p:nvPr/>
          </p:nvSpPr>
          <p:spPr bwMode="auto">
            <a:xfrm flipH="1">
              <a:off x="6990380" y="2118230"/>
              <a:ext cx="76200" cy="1066800"/>
            </a:xfrm>
            <a:prstGeom prst="line">
              <a:avLst/>
            </a:prstGeom>
            <a:noFill/>
            <a:ln w="57150">
              <a:solidFill>
                <a:srgbClr val="0070C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48" name="Line 9"/>
            <p:cNvSpPr>
              <a:spLocks noChangeShapeType="1"/>
            </p:cNvSpPr>
            <p:nvPr/>
          </p:nvSpPr>
          <p:spPr bwMode="auto">
            <a:xfrm>
              <a:off x="7142780" y="2042030"/>
              <a:ext cx="609600" cy="1524000"/>
            </a:xfrm>
            <a:prstGeom prst="line">
              <a:avLst/>
            </a:prstGeom>
            <a:noFill/>
            <a:ln w="57150">
              <a:solidFill>
                <a:srgbClr val="0070C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49" name="Line 10"/>
            <p:cNvSpPr>
              <a:spLocks noChangeShapeType="1"/>
            </p:cNvSpPr>
            <p:nvPr/>
          </p:nvSpPr>
          <p:spPr bwMode="auto">
            <a:xfrm flipH="1">
              <a:off x="6685580" y="3718430"/>
              <a:ext cx="990600" cy="990600"/>
            </a:xfrm>
            <a:prstGeom prst="line">
              <a:avLst/>
            </a:prstGeom>
            <a:noFill/>
            <a:ln w="57150">
              <a:solidFill>
                <a:srgbClr val="0070C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50" name="Line 11"/>
            <p:cNvSpPr>
              <a:spLocks noChangeShapeType="1"/>
            </p:cNvSpPr>
            <p:nvPr/>
          </p:nvSpPr>
          <p:spPr bwMode="auto">
            <a:xfrm>
              <a:off x="6380780" y="2880230"/>
              <a:ext cx="533400" cy="381000"/>
            </a:xfrm>
            <a:prstGeom prst="line">
              <a:avLst/>
            </a:prstGeom>
            <a:noFill/>
            <a:ln w="57150">
              <a:solidFill>
                <a:srgbClr val="0070C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51" name="Line 12"/>
            <p:cNvSpPr>
              <a:spLocks noChangeShapeType="1"/>
            </p:cNvSpPr>
            <p:nvPr/>
          </p:nvSpPr>
          <p:spPr bwMode="auto">
            <a:xfrm>
              <a:off x="7066580" y="3337430"/>
              <a:ext cx="609600" cy="304800"/>
            </a:xfrm>
            <a:prstGeom prst="line">
              <a:avLst/>
            </a:prstGeom>
            <a:noFill/>
            <a:ln w="57150">
              <a:solidFill>
                <a:srgbClr val="0070C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52" name="Text Box 13"/>
            <p:cNvSpPr txBox="1">
              <a:spLocks noChangeArrowheads="1"/>
            </p:cNvSpPr>
            <p:nvPr/>
          </p:nvSpPr>
          <p:spPr bwMode="auto">
            <a:xfrm>
              <a:off x="7093493" y="1628635"/>
              <a:ext cx="80342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70C0"/>
                  </a:solidFill>
                </a:rPr>
                <a:t>s(10)</a:t>
              </a:r>
            </a:p>
          </p:txBody>
        </p:sp>
        <p:sp>
          <p:nvSpPr>
            <p:cNvPr id="53" name="Text Box 14"/>
            <p:cNvSpPr txBox="1">
              <a:spLocks noChangeArrowheads="1"/>
            </p:cNvSpPr>
            <p:nvPr/>
          </p:nvSpPr>
          <p:spPr bwMode="auto">
            <a:xfrm>
              <a:off x="7747444" y="3457435"/>
              <a:ext cx="75533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70C0"/>
                  </a:solidFill>
                </a:rPr>
                <a:t>A(1)</a:t>
              </a:r>
            </a:p>
          </p:txBody>
        </p:sp>
        <p:sp>
          <p:nvSpPr>
            <p:cNvPr id="54" name="Text Box 15"/>
            <p:cNvSpPr txBox="1">
              <a:spLocks noChangeArrowheads="1"/>
            </p:cNvSpPr>
            <p:nvPr/>
          </p:nvSpPr>
          <p:spPr bwMode="auto">
            <a:xfrm>
              <a:off x="6587236" y="3316456"/>
              <a:ext cx="739305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70C0"/>
                  </a:solidFill>
                </a:rPr>
                <a:t>B(5)</a:t>
              </a:r>
            </a:p>
          </p:txBody>
        </p:sp>
        <p:sp>
          <p:nvSpPr>
            <p:cNvPr id="55" name="Text Box 16"/>
            <p:cNvSpPr txBox="1">
              <a:spLocks noChangeArrowheads="1"/>
            </p:cNvSpPr>
            <p:nvPr/>
          </p:nvSpPr>
          <p:spPr bwMode="auto">
            <a:xfrm>
              <a:off x="5726172" y="2314435"/>
              <a:ext cx="739305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70C0"/>
                  </a:solidFill>
                </a:rPr>
                <a:t>C(8)</a:t>
              </a:r>
            </a:p>
          </p:txBody>
        </p:sp>
        <p:sp>
          <p:nvSpPr>
            <p:cNvPr id="56" name="Text Box 17"/>
            <p:cNvSpPr txBox="1">
              <a:spLocks noChangeArrowheads="1"/>
            </p:cNvSpPr>
            <p:nvPr/>
          </p:nvSpPr>
          <p:spPr bwMode="auto">
            <a:xfrm>
              <a:off x="6175417" y="5057635"/>
              <a:ext cx="1071127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400" b="1">
                  <a:solidFill>
                    <a:srgbClr val="0070C0"/>
                  </a:solidFill>
                </a:rPr>
                <a:t>G </a:t>
              </a:r>
              <a:r>
                <a:rPr lang="zh-CN" altLang="en-US" sz="2400" b="1">
                  <a:solidFill>
                    <a:srgbClr val="0070C0"/>
                  </a:solidFill>
                </a:rPr>
                <a:t>目標</a:t>
              </a:r>
              <a:endParaRPr lang="zh-CN" altLang="en-US" sz="2400" b="1" dirty="0">
                <a:solidFill>
                  <a:srgbClr val="0070C0"/>
                </a:solidFill>
              </a:endParaRPr>
            </a:p>
          </p:txBody>
        </p:sp>
        <p:sp>
          <p:nvSpPr>
            <p:cNvPr id="57" name="Text Box 18"/>
            <p:cNvSpPr txBox="1">
              <a:spLocks noChangeArrowheads="1"/>
            </p:cNvSpPr>
            <p:nvPr/>
          </p:nvSpPr>
          <p:spPr bwMode="auto">
            <a:xfrm>
              <a:off x="7523780" y="2543035"/>
              <a:ext cx="32573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400" b="1" dirty="0">
                  <a:solidFill>
                    <a:srgbClr val="0070C0"/>
                  </a:solidFill>
                </a:rPr>
                <a:t>6</a:t>
              </a:r>
              <a:endParaRPr lang="en-US" altLang="zh-CN" sz="2400" b="1" dirty="0">
                <a:solidFill>
                  <a:srgbClr val="0070C0"/>
                </a:solidFill>
              </a:endParaRPr>
            </a:p>
          </p:txBody>
        </p:sp>
        <p:sp>
          <p:nvSpPr>
            <p:cNvPr id="58" name="Text Box 19"/>
            <p:cNvSpPr txBox="1">
              <a:spLocks noChangeArrowheads="1"/>
            </p:cNvSpPr>
            <p:nvPr/>
          </p:nvSpPr>
          <p:spPr bwMode="auto">
            <a:xfrm>
              <a:off x="6761780" y="2390635"/>
              <a:ext cx="32573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400" b="1" dirty="0">
                  <a:solidFill>
                    <a:srgbClr val="0070C0"/>
                  </a:solidFill>
                </a:rPr>
                <a:t>3</a:t>
              </a:r>
              <a:endParaRPr lang="en-US" altLang="zh-CN" sz="2400" b="1" dirty="0">
                <a:solidFill>
                  <a:srgbClr val="0070C0"/>
                </a:solidFill>
              </a:endParaRPr>
            </a:p>
          </p:txBody>
        </p:sp>
        <p:sp>
          <p:nvSpPr>
            <p:cNvPr id="59" name="Text Box 20"/>
            <p:cNvSpPr txBox="1">
              <a:spLocks noChangeArrowheads="1"/>
            </p:cNvSpPr>
            <p:nvPr/>
          </p:nvSpPr>
          <p:spPr bwMode="auto">
            <a:xfrm>
              <a:off x="6533180" y="1933435"/>
              <a:ext cx="32573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400" b="1" dirty="0">
                  <a:solidFill>
                    <a:srgbClr val="0070C0"/>
                  </a:solidFill>
                </a:rPr>
                <a:t>1</a:t>
              </a:r>
              <a:endParaRPr lang="en-US" altLang="zh-CN" sz="2400" b="1" dirty="0">
                <a:solidFill>
                  <a:srgbClr val="0070C0"/>
                </a:solidFill>
              </a:endParaRPr>
            </a:p>
          </p:txBody>
        </p:sp>
        <p:sp>
          <p:nvSpPr>
            <p:cNvPr id="60" name="Text Box 21"/>
            <p:cNvSpPr txBox="1">
              <a:spLocks noChangeArrowheads="1"/>
            </p:cNvSpPr>
            <p:nvPr/>
          </p:nvSpPr>
          <p:spPr bwMode="auto">
            <a:xfrm>
              <a:off x="6380780" y="2978627"/>
              <a:ext cx="32573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400" b="1" dirty="0">
                  <a:solidFill>
                    <a:srgbClr val="0070C0"/>
                  </a:solidFill>
                </a:rPr>
                <a:t>1</a:t>
              </a:r>
              <a:endParaRPr lang="en-US" altLang="zh-CN" sz="2400" b="1" dirty="0">
                <a:solidFill>
                  <a:srgbClr val="0070C0"/>
                </a:solidFill>
              </a:endParaRPr>
            </a:p>
          </p:txBody>
        </p:sp>
        <p:sp>
          <p:nvSpPr>
            <p:cNvPr id="61" name="Text Box 22"/>
            <p:cNvSpPr txBox="1">
              <a:spLocks noChangeArrowheads="1"/>
            </p:cNvSpPr>
            <p:nvPr/>
          </p:nvSpPr>
          <p:spPr bwMode="auto">
            <a:xfrm>
              <a:off x="7218980" y="3076435"/>
              <a:ext cx="32573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400" b="1" dirty="0">
                  <a:solidFill>
                    <a:srgbClr val="0070C0"/>
                  </a:solidFill>
                </a:rPr>
                <a:t>1</a:t>
              </a:r>
              <a:endParaRPr lang="en-US" altLang="zh-CN" sz="2400" b="1" dirty="0">
                <a:solidFill>
                  <a:srgbClr val="0070C0"/>
                </a:solidFill>
              </a:endParaRPr>
            </a:p>
          </p:txBody>
        </p:sp>
        <p:sp>
          <p:nvSpPr>
            <p:cNvPr id="62" name="Text Box 23"/>
            <p:cNvSpPr txBox="1">
              <a:spLocks noChangeArrowheads="1"/>
            </p:cNvSpPr>
            <p:nvPr/>
          </p:nvSpPr>
          <p:spPr bwMode="auto">
            <a:xfrm>
              <a:off x="6914180" y="3914635"/>
              <a:ext cx="32573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400" b="1" dirty="0">
                  <a:solidFill>
                    <a:srgbClr val="0070C0"/>
                  </a:solidFill>
                </a:rPr>
                <a:t>8</a:t>
              </a:r>
              <a:endParaRPr lang="en-US" altLang="zh-CN" sz="2400" b="1" dirty="0">
                <a:solidFill>
                  <a:srgbClr val="0070C0"/>
                </a:solidFill>
              </a:endParaRPr>
            </a:p>
          </p:txBody>
        </p:sp>
      </p:grpSp>
      <p:sp>
        <p:nvSpPr>
          <p:cNvPr id="64" name="文本框 63"/>
          <p:cNvSpPr txBox="1"/>
          <p:nvPr>
            <p:custDataLst>
              <p:tags r:id="rId12"/>
            </p:custDataLst>
          </p:nvPr>
        </p:nvSpPr>
        <p:spPr>
          <a:xfrm>
            <a:off x="1828800" y="5529263"/>
            <a:ext cx="3189249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繼續擴展節點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5" name="矩形 64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114425" y="55935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多選題</a:t>
              </a:r>
              <a:endPara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dirty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dirty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689349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D46E160-36DE-4646-B86E-AC309ADC73FC}" type="slidenum">
              <a:rPr lang="en-US" altLang="zh-CN" smtClean="0">
                <a:ea typeface="黑体" pitchFamily="49" charset="-122"/>
              </a:rPr>
              <a:pPr/>
              <a:t>47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>
          <a:xfrm>
            <a:off x="259312" y="609600"/>
            <a:ext cx="84582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/>
              <a:t>1.4.2</a:t>
            </a:r>
            <a:r>
              <a:rPr lang="zh-CN" altLang="en-US"/>
              <a:t> 最佳圖搜索算法</a:t>
            </a:r>
            <a:r>
              <a:rPr lang="en-US" altLang="zh-CN"/>
              <a:t>A</a:t>
            </a:r>
            <a:r>
              <a:rPr lang="en-US" altLang="zh-CN" dirty="0"/>
              <a:t>*</a:t>
            </a:r>
            <a:r>
              <a:rPr lang="zh-CN" altLang="en-US" dirty="0"/>
              <a:t>（</a:t>
            </a:r>
            <a:r>
              <a:rPr lang="en-US" altLang="zh-CN" dirty="0"/>
              <a:t>A*</a:t>
            </a:r>
            <a:r>
              <a:rPr lang="zh-CN" altLang="en-US" dirty="0"/>
              <a:t>算法）</a:t>
            </a:r>
          </a:p>
        </p:txBody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2171700"/>
          </a:xfrm>
        </p:spPr>
        <p:txBody>
          <a:bodyPr/>
          <a:lstStyle/>
          <a:p>
            <a:pPr eaLnBrk="1" hangingPunct="1"/>
            <a:r>
              <a:rPr lang="zh-CN" altLang="en-US" sz="3200" b="1"/>
              <a:t>在</a:t>
            </a:r>
            <a:r>
              <a:rPr lang="en-US" altLang="zh-CN" sz="3200" b="1"/>
              <a:t>A</a:t>
            </a:r>
            <a:r>
              <a:rPr lang="zh-CN" altLang="en-US" sz="3200" b="1"/>
              <a:t>算法中，如果滿足條件：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3200" b="1" dirty="0"/>
              <a:t>		</a:t>
            </a:r>
            <a:r>
              <a:rPr lang="en-US" altLang="zh-CN" sz="3200" b="1" dirty="0"/>
              <a:t>h(n)≤h*(n)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3200" b="1"/>
              <a:t>	</a:t>
            </a:r>
            <a:r>
              <a:rPr lang="zh-CN" altLang="en-US" sz="3200" b="1"/>
              <a:t>則</a:t>
            </a:r>
            <a:r>
              <a:rPr lang="en-US" altLang="zh-CN" sz="3200" b="1"/>
              <a:t>A</a:t>
            </a:r>
            <a:r>
              <a:rPr lang="zh-CN" altLang="en-US" sz="3200" b="1"/>
              <a:t>算法稱爲</a:t>
            </a:r>
            <a:r>
              <a:rPr lang="en-US" altLang="zh-CN" sz="3200" b="1"/>
              <a:t>A</a:t>
            </a:r>
            <a:r>
              <a:rPr lang="en-US" altLang="zh-CN" sz="3200" b="1" dirty="0"/>
              <a:t>*</a:t>
            </a:r>
            <a:r>
              <a:rPr lang="zh-CN" altLang="en-US" sz="3200" b="1" dirty="0"/>
              <a:t>算法。</a:t>
            </a:r>
            <a:endParaRPr lang="en-US" altLang="en-US" sz="3200" b="1" dirty="0"/>
          </a:p>
          <a:p>
            <a:pPr eaLnBrk="1" hangingPunct="1">
              <a:buFont typeface="Wingdings" pitchFamily="2" charset="2"/>
              <a:buNone/>
            </a:pPr>
            <a:endParaRPr lang="en-US" altLang="zh-CN" dirty="0"/>
          </a:p>
        </p:txBody>
      </p:sp>
      <p:sp>
        <p:nvSpPr>
          <p:cNvPr id="70661" name="Rectangle 5"/>
          <p:cNvSpPr>
            <a:spLocks noChangeArrowheads="1"/>
          </p:cNvSpPr>
          <p:nvPr/>
        </p:nvSpPr>
        <p:spPr bwMode="auto">
          <a:xfrm>
            <a:off x="590550" y="4152900"/>
            <a:ext cx="7772400" cy="217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</a:pPr>
            <a:endParaRPr lang="en-US" altLang="en-US" sz="3200" dirty="0"/>
          </a:p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endParaRPr lang="en-US" altLang="zh-CN" sz="3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0433279-2500-4359-9BD3-D7AB68FED718}" type="slidenum">
              <a:rPr lang="en-US" altLang="zh-CN" smtClean="0">
                <a:ea typeface="黑体" pitchFamily="49" charset="-122"/>
              </a:rPr>
              <a:pPr/>
              <a:t>48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/>
              <a:t>A*</a:t>
            </a:r>
            <a:r>
              <a:rPr lang="zh-CN" altLang="zh-CN"/>
              <a:t>條件舉例</a:t>
            </a:r>
            <a:endParaRPr lang="zh-CN" altLang="en-US" dirty="0"/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4196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sz="3200" b="1"/>
              <a:t>8</a:t>
            </a:r>
            <a:r>
              <a:rPr lang="zh-CN" altLang="en-US" sz="3200" b="1"/>
              <a:t>數碼問題</a:t>
            </a:r>
          </a:p>
          <a:p>
            <a:pPr lvl="1" eaLnBrk="1" hangingPunct="1"/>
            <a:r>
              <a:rPr lang="en-US" altLang="zh-CN" sz="2800" b="1"/>
              <a:t>h</a:t>
            </a:r>
            <a:r>
              <a:rPr lang="en-US" altLang="zh-CN" sz="2800" b="1" baseline="-25000"/>
              <a:t>1</a:t>
            </a:r>
            <a:r>
              <a:rPr lang="en-US" altLang="zh-CN" sz="2800" b="1" dirty="0"/>
              <a:t>(n) </a:t>
            </a:r>
            <a:r>
              <a:rPr lang="en-US" altLang="zh-CN" sz="2800" b="1"/>
              <a:t>= “</a:t>
            </a:r>
            <a:r>
              <a:rPr lang="zh-CN" altLang="en-US" sz="2800" b="1"/>
              <a:t>不在位”的將牌數</a:t>
            </a:r>
          </a:p>
          <a:p>
            <a:pPr lvl="1" eaLnBrk="1" hangingPunct="1"/>
            <a:r>
              <a:rPr lang="en-US" altLang="zh-CN" sz="2800" b="1"/>
              <a:t>h</a:t>
            </a:r>
            <a:r>
              <a:rPr lang="en-US" altLang="zh-CN" sz="2800" b="1" baseline="-25000"/>
              <a:t>2</a:t>
            </a:r>
            <a:r>
              <a:rPr lang="en-US" altLang="zh-CN" sz="2800" b="1" dirty="0"/>
              <a:t>(n) </a:t>
            </a:r>
            <a:r>
              <a:rPr lang="en-US" altLang="zh-CN" sz="2800" b="1"/>
              <a:t>= </a:t>
            </a:r>
            <a:r>
              <a:rPr lang="zh-CN" altLang="zh-CN" sz="2800" b="1"/>
              <a:t>將牌“不在位”的距離和</a:t>
            </a:r>
            <a:endParaRPr lang="zh-CN" altLang="en-US" sz="2800" b="1" dirty="0"/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1441451" y="3700464"/>
            <a:ext cx="4826001" cy="2276476"/>
            <a:chOff x="908" y="2331"/>
            <a:chExt cx="3040" cy="1434"/>
          </a:xfrm>
        </p:grpSpPr>
        <p:sp>
          <p:nvSpPr>
            <p:cNvPr id="71686" name="Text Box 4"/>
            <p:cNvSpPr txBox="1">
              <a:spLocks noChangeArrowheads="1"/>
            </p:cNvSpPr>
            <p:nvPr/>
          </p:nvSpPr>
          <p:spPr bwMode="auto">
            <a:xfrm>
              <a:off x="1172" y="2581"/>
              <a:ext cx="864" cy="872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en-US" altLang="zh-CN" sz="2800" b="1" dirty="0">
                  <a:solidFill>
                    <a:srgbClr val="0000FF"/>
                  </a:solidFill>
                </a:rPr>
                <a:t>2    8</a:t>
              </a:r>
              <a:r>
                <a:rPr lang="en-US" altLang="zh-CN" sz="2800" b="1" dirty="0"/>
                <a:t>    3</a:t>
              </a:r>
            </a:p>
            <a:p>
              <a:r>
                <a:rPr lang="en-US" altLang="zh-CN" sz="2800" b="1" dirty="0">
                  <a:solidFill>
                    <a:srgbClr val="0000FF"/>
                  </a:solidFill>
                </a:rPr>
                <a:t>1    6</a:t>
              </a:r>
              <a:r>
                <a:rPr lang="en-US" altLang="zh-CN" sz="2800" b="1" dirty="0"/>
                <a:t>    4</a:t>
              </a:r>
            </a:p>
            <a:p>
              <a:r>
                <a:rPr lang="en-US" altLang="zh-CN" sz="2800" b="1" dirty="0"/>
                <a:t>7          5</a:t>
              </a:r>
            </a:p>
          </p:txBody>
        </p:sp>
        <p:sp>
          <p:nvSpPr>
            <p:cNvPr id="71687" name="Text Box 5"/>
            <p:cNvSpPr txBox="1">
              <a:spLocks noChangeArrowheads="1"/>
            </p:cNvSpPr>
            <p:nvPr/>
          </p:nvSpPr>
          <p:spPr bwMode="auto">
            <a:xfrm>
              <a:off x="1172" y="2331"/>
              <a:ext cx="832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0000"/>
                  </a:solidFill>
                </a:rPr>
                <a:t>1    2    3</a:t>
              </a:r>
              <a:endParaRPr lang="en-US" altLang="zh-CN" sz="2800" b="1" dirty="0"/>
            </a:p>
          </p:txBody>
        </p:sp>
        <p:sp>
          <p:nvSpPr>
            <p:cNvPr id="71688" name="Text Box 6"/>
            <p:cNvSpPr txBox="1">
              <a:spLocks noChangeArrowheads="1"/>
            </p:cNvSpPr>
            <p:nvPr/>
          </p:nvSpPr>
          <p:spPr bwMode="auto">
            <a:xfrm>
              <a:off x="2176" y="2847"/>
              <a:ext cx="220" cy="6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rgbClr val="FF0000"/>
                  </a:solidFill>
                </a:rPr>
                <a:t>4</a:t>
              </a:r>
            </a:p>
            <a:p>
              <a:pPr algn="ctr"/>
              <a:r>
                <a:rPr lang="en-US" altLang="zh-CN" sz="2800" b="1" dirty="0">
                  <a:solidFill>
                    <a:srgbClr val="FF0000"/>
                  </a:solidFill>
                </a:rPr>
                <a:t>5</a:t>
              </a:r>
              <a:endParaRPr lang="en-US" altLang="zh-CN" sz="2800" b="1" dirty="0"/>
            </a:p>
          </p:txBody>
        </p:sp>
        <p:sp>
          <p:nvSpPr>
            <p:cNvPr id="71689" name="Text Box 7"/>
            <p:cNvSpPr txBox="1">
              <a:spLocks noChangeArrowheads="1"/>
            </p:cNvSpPr>
            <p:nvPr/>
          </p:nvSpPr>
          <p:spPr bwMode="auto">
            <a:xfrm>
              <a:off x="1220" y="3435"/>
              <a:ext cx="728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0000"/>
                  </a:solidFill>
                </a:rPr>
                <a:t>7    6    </a:t>
              </a:r>
              <a:endParaRPr lang="en-US" altLang="zh-CN" sz="2800" b="1" dirty="0"/>
            </a:p>
          </p:txBody>
        </p:sp>
        <p:sp>
          <p:nvSpPr>
            <p:cNvPr id="71690" name="Text Box 8"/>
            <p:cNvSpPr txBox="1">
              <a:spLocks noChangeArrowheads="1"/>
            </p:cNvSpPr>
            <p:nvPr/>
          </p:nvSpPr>
          <p:spPr bwMode="auto">
            <a:xfrm>
              <a:off x="908" y="2859"/>
              <a:ext cx="220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rgbClr val="FF0000"/>
                  </a:solidFill>
                </a:rPr>
                <a:t>8</a:t>
              </a:r>
              <a:endParaRPr lang="en-US" altLang="zh-CN" sz="2800" b="1" dirty="0"/>
            </a:p>
          </p:txBody>
        </p:sp>
        <p:sp>
          <p:nvSpPr>
            <p:cNvPr id="71691" name="Text Box 9"/>
            <p:cNvSpPr txBox="1">
              <a:spLocks noChangeArrowheads="1"/>
            </p:cNvSpPr>
            <p:nvPr/>
          </p:nvSpPr>
          <p:spPr bwMode="auto">
            <a:xfrm>
              <a:off x="3072" y="2491"/>
              <a:ext cx="876" cy="9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zh-CN" altLang="en-US" sz="2400" b="1"/>
                <a:t>將牌</a:t>
              </a:r>
              <a:r>
                <a:rPr lang="en-US" altLang="zh-CN" sz="2400" b="1"/>
                <a:t>1</a:t>
              </a:r>
              <a:r>
                <a:rPr lang="zh-CN" altLang="en-US" sz="2400" b="1" dirty="0"/>
                <a:t>：</a:t>
              </a:r>
              <a:r>
                <a:rPr lang="en-US" altLang="zh-CN" sz="2400" b="1" dirty="0"/>
                <a:t>1</a:t>
              </a:r>
            </a:p>
            <a:p>
              <a:r>
                <a:rPr lang="zh-CN" altLang="en-US" sz="2400" b="1"/>
                <a:t>將牌</a:t>
              </a:r>
              <a:r>
                <a:rPr lang="en-US" altLang="zh-CN" sz="2400" b="1"/>
                <a:t>2</a:t>
              </a:r>
              <a:r>
                <a:rPr lang="zh-CN" altLang="en-US" sz="2400" b="1" dirty="0"/>
                <a:t>：</a:t>
              </a:r>
              <a:r>
                <a:rPr lang="en-US" altLang="zh-CN" sz="2400" b="1" dirty="0"/>
                <a:t>1</a:t>
              </a:r>
            </a:p>
            <a:p>
              <a:r>
                <a:rPr lang="zh-CN" altLang="en-US" sz="2400" b="1"/>
                <a:t>將牌</a:t>
              </a:r>
              <a:r>
                <a:rPr lang="en-US" altLang="zh-CN" sz="2400" b="1"/>
                <a:t>6</a:t>
              </a:r>
              <a:r>
                <a:rPr lang="zh-CN" altLang="en-US" sz="2400" b="1" dirty="0"/>
                <a:t>：</a:t>
              </a:r>
              <a:r>
                <a:rPr lang="en-US" altLang="zh-CN" sz="2400" b="1" dirty="0"/>
                <a:t>1</a:t>
              </a:r>
            </a:p>
            <a:p>
              <a:r>
                <a:rPr lang="zh-CN" altLang="en-US" sz="2400" b="1"/>
                <a:t>將牌</a:t>
              </a:r>
              <a:r>
                <a:rPr lang="en-US" altLang="zh-CN" sz="2400" b="1"/>
                <a:t>8</a:t>
              </a:r>
              <a:r>
                <a:rPr lang="zh-CN" altLang="en-US" sz="2400" b="1" dirty="0"/>
                <a:t>：</a:t>
              </a:r>
              <a:r>
                <a:rPr lang="en-US" altLang="zh-CN" sz="2400" b="1" dirty="0"/>
                <a:t>2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5" grpId="0" build="p" bldLvl="2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12C8A9C-DC26-43DE-B887-01392CC1D5AD}" type="slidenum">
              <a:rPr lang="en-US" altLang="zh-CN" smtClean="0">
                <a:ea typeface="黑体" pitchFamily="49" charset="-122"/>
              </a:rPr>
              <a:pPr/>
              <a:t>49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233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定義</a:t>
            </a:r>
            <a:r>
              <a:rPr lang="en-US" altLang="zh-CN"/>
              <a:t>h</a:t>
            </a:r>
            <a:r>
              <a:rPr lang="zh-CN" altLang="en-US"/>
              <a:t>函數的一般原則</a:t>
            </a:r>
            <a:endParaRPr lang="zh-CN" altLang="en-US" dirty="0"/>
          </a:p>
        </p:txBody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951630"/>
            <a:ext cx="7772400" cy="4068170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3200" b="1"/>
              <a:t>放寬限制條件，在寬條件下，給出估計函數。</a:t>
            </a:r>
            <a:endParaRPr lang="zh-CN" altLang="en-US" sz="32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例：傳教士與野人問題</a:t>
            </a:r>
            <a:endParaRPr lang="zh-CN" altLang="en-US" dirty="0"/>
          </a:p>
        </p:txBody>
      </p:sp>
      <p:sp>
        <p:nvSpPr>
          <p:cNvPr id="17412" name="内容占位符 2"/>
          <p:cNvSpPr>
            <a:spLocks noGrp="1"/>
          </p:cNvSpPr>
          <p:nvPr>
            <p:ph idx="1"/>
          </p:nvPr>
        </p:nvSpPr>
        <p:spPr>
          <a:xfrm>
            <a:off x="914400" y="3869633"/>
            <a:ext cx="7772400" cy="2335696"/>
          </a:xfrm>
        </p:spPr>
        <p:txBody>
          <a:bodyPr>
            <a:normAutofit/>
          </a:bodyPr>
          <a:lstStyle/>
          <a:p>
            <a:r>
              <a:rPr lang="zh-CN" altLang="en-US" sz="3200" b="1"/>
              <a:t>思路：放寬約束條件，在寬約束條件下得到一個估計值。</a:t>
            </a:r>
            <a:endParaRPr lang="en-US" altLang="zh-CN" sz="3200" b="1" dirty="0"/>
          </a:p>
          <a:p>
            <a:r>
              <a:rPr lang="zh-CN" altLang="en-US" sz="3200" b="1"/>
              <a:t>假設只有乘船人數的約束沒有其他約束</a:t>
            </a:r>
            <a:endParaRPr lang="en-US" altLang="zh-CN" sz="3200" b="1" dirty="0"/>
          </a:p>
          <a:p>
            <a:r>
              <a:rPr lang="zh-CN" altLang="en-US" sz="3200" b="1"/>
              <a:t>從左岸到右岸至少需要的擺渡次數：</a:t>
            </a:r>
            <a:endParaRPr lang="zh-CN" altLang="en-US" sz="3200" b="1" dirty="0"/>
          </a:p>
        </p:txBody>
      </p:sp>
      <p:sp>
        <p:nvSpPr>
          <p:cNvPr id="1741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72425FB-73BB-4EAA-B82E-79694CE9CB95}" type="slidenum">
              <a:rPr lang="en-US" altLang="zh-CN" smtClean="0">
                <a:ea typeface="黑体" pitchFamily="49" charset="-122"/>
              </a:rPr>
              <a:pPr/>
              <a:t>50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174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41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6B1CCC-9061-4295-86EF-614F2BFF8AA2}"/>
              </a:ext>
            </a:extLst>
          </p:cNvPr>
          <p:cNvSpPr txBox="1"/>
          <p:nvPr/>
        </p:nvSpPr>
        <p:spPr>
          <a:xfrm>
            <a:off x="1824566" y="1745112"/>
            <a:ext cx="595206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/>
              <a:t>假設左岸現在有：</a:t>
            </a:r>
            <a:r>
              <a:rPr kumimoji="1" lang="en-US" altLang="zh-CN" sz="2400"/>
              <a:t>M</a:t>
            </a:r>
            <a:r>
              <a:rPr kumimoji="1" lang="zh-CN" altLang="en-US" sz="2400"/>
              <a:t>個傳教士，</a:t>
            </a:r>
            <a:r>
              <a:rPr kumimoji="1" lang="en-US" altLang="zh-CN" sz="2400"/>
              <a:t>C</a:t>
            </a:r>
            <a:r>
              <a:rPr kumimoji="1" lang="zh-CN" altLang="en-US" sz="2400"/>
              <a:t>個野人</a:t>
            </a:r>
            <a:endParaRPr kumimoji="1" lang="en-US" altLang="zh-CN" sz="2400" dirty="0"/>
          </a:p>
          <a:p>
            <a:r>
              <a:rPr kumimoji="1" lang="zh-CN" altLang="en-US" sz="2400"/>
              <a:t>從左岸到右岸船一次最多坐</a:t>
            </a:r>
            <a:r>
              <a:rPr kumimoji="1" lang="en-US" altLang="zh-CN" sz="2400"/>
              <a:t>3</a:t>
            </a:r>
            <a:r>
              <a:rPr kumimoji="1" lang="zh-CN" altLang="en-US" sz="2400"/>
              <a:t>個人</a:t>
            </a:r>
            <a:endParaRPr kumimoji="1" lang="en-US" altLang="zh-CN" sz="2400" dirty="0"/>
          </a:p>
          <a:p>
            <a:r>
              <a:rPr kumimoji="1" lang="zh-CN" altLang="en-US" sz="2400"/>
              <a:t>在任何一個時刻，如果有出現野人數量多於傳教士，野人就會吃掉傳教士</a:t>
            </a:r>
            <a:endParaRPr kumimoji="1" lang="en-US" altLang="zh-CN" sz="2400" dirty="0"/>
          </a:p>
          <a:p>
            <a:r>
              <a:rPr kumimoji="1" lang="zh-CN" altLang="en-US" sz="2400"/>
              <a:t>如何讓大家安全渡河？</a:t>
            </a:r>
            <a:endParaRPr kumimoji="1"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例：傳教士與野人問題</a:t>
            </a:r>
            <a:endParaRPr lang="zh-CN" altLang="en-US" dirty="0"/>
          </a:p>
        </p:txBody>
      </p:sp>
      <p:sp>
        <p:nvSpPr>
          <p:cNvPr id="17412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200" b="1"/>
              <a:t>思路：放寬約束條件，在寬約束條件下得到一個估計值。</a:t>
            </a:r>
            <a:endParaRPr lang="en-US" altLang="zh-CN" sz="3200" b="1" dirty="0"/>
          </a:p>
          <a:p>
            <a:r>
              <a:rPr lang="zh-CN" altLang="en-US" sz="3200" b="1"/>
              <a:t>假設只有乘船人數的約束沒有其他約束</a:t>
            </a:r>
            <a:endParaRPr lang="en-US" altLang="zh-CN" sz="3200" b="1" dirty="0"/>
          </a:p>
          <a:p>
            <a:r>
              <a:rPr lang="zh-CN" altLang="en-US" sz="3200" b="1"/>
              <a:t>從左岸到右岸至少需要的擺渡次數：</a:t>
            </a:r>
            <a:endParaRPr lang="zh-CN" altLang="en-US" sz="3200" b="1" dirty="0"/>
          </a:p>
        </p:txBody>
      </p:sp>
      <p:sp>
        <p:nvSpPr>
          <p:cNvPr id="1741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72425FB-73BB-4EAA-B82E-79694CE9CB95}" type="slidenum">
              <a:rPr lang="en-US" altLang="zh-CN" smtClean="0">
                <a:ea typeface="黑体" pitchFamily="49" charset="-122"/>
              </a:rPr>
              <a:pPr/>
              <a:t>51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174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41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7410" name="Object 3"/>
          <p:cNvGraphicFramePr>
            <a:graphicFrameLocks noChangeAspect="1"/>
          </p:cNvGraphicFramePr>
          <p:nvPr/>
        </p:nvGraphicFramePr>
        <p:xfrm>
          <a:off x="1336246" y="3652794"/>
          <a:ext cx="6134100" cy="132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993900" imgH="431800" progId="Equation.3">
                  <p:embed/>
                </p:oleObj>
              </mc:Choice>
              <mc:Fallback>
                <p:oleObj name="公式" r:id="rId3" imgW="1993900" imgH="431800" progId="Equation.3">
                  <p:embed/>
                  <p:pic>
                    <p:nvPicPr>
                      <p:cNvPr id="1741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6246" y="3652794"/>
                        <a:ext cx="6134100" cy="1320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790760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200" b="1"/>
              <a:t>從右岸到左岸至少需要的擺渡次數：</a:t>
            </a:r>
          </a:p>
          <a:p>
            <a:pPr marL="0" indent="0">
              <a:buNone/>
            </a:pPr>
            <a:r>
              <a:rPr lang="en-US" altLang="zh-CN" sz="3200" b="1"/>
              <a:t>     </a:t>
            </a:r>
            <a:endParaRPr lang="en-US" altLang="zh-CN" sz="3200" b="1" dirty="0"/>
          </a:p>
          <a:p>
            <a:endParaRPr lang="en-US" altLang="zh-CN" sz="3200" b="1" dirty="0"/>
          </a:p>
          <a:p>
            <a:r>
              <a:rPr lang="zh-CN" altLang="en-US" sz="3200" b="1"/>
              <a:t>綜合在一起，所需的最少擺渡次數：</a:t>
            </a:r>
            <a:endParaRPr lang="en-US" altLang="zh-CN" sz="3200" b="1" dirty="0"/>
          </a:p>
          <a:p>
            <a:pPr marL="0" indent="0">
              <a:buNone/>
            </a:pPr>
            <a:r>
              <a:rPr lang="en-US" altLang="zh-CN" sz="3200" b="1" dirty="0"/>
              <a:t>    </a:t>
            </a:r>
          </a:p>
          <a:p>
            <a:r>
              <a:rPr lang="en-US" altLang="zh-CN" sz="3200" b="1"/>
              <a:t> </a:t>
            </a:r>
            <a:r>
              <a:rPr lang="zh-CN" altLang="en-US" sz="3200" b="1"/>
              <a:t>以該最小擺渡次數作為啟發函數</a:t>
            </a:r>
            <a:r>
              <a:rPr lang="en-US" altLang="zh-CN" sz="3200" b="1"/>
              <a:t>h</a:t>
            </a:r>
            <a:r>
              <a:rPr lang="zh-CN" altLang="en-US" sz="3200" b="1"/>
              <a:t>，從推導可知，該</a:t>
            </a:r>
            <a:r>
              <a:rPr lang="en-US" altLang="zh-CN" sz="3200" b="1"/>
              <a:t>h</a:t>
            </a:r>
            <a:r>
              <a:rPr lang="zh-CN" altLang="en-US" sz="3200" b="1"/>
              <a:t>滿足</a:t>
            </a:r>
            <a:r>
              <a:rPr lang="en-US" altLang="zh-CN" sz="3200" b="1"/>
              <a:t>A*</a:t>
            </a:r>
            <a:r>
              <a:rPr lang="zh-CN" altLang="en-US" sz="3200" b="1"/>
              <a:t>條件</a:t>
            </a:r>
            <a:endParaRPr lang="zh-CN" altLang="en-US" sz="3200" b="1" dirty="0"/>
          </a:p>
        </p:txBody>
      </p:sp>
      <p:sp>
        <p:nvSpPr>
          <p:cNvPr id="7373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770F010-1893-486A-902B-A449B087090E}" type="slidenum">
              <a:rPr lang="en-US" altLang="zh-CN" smtClean="0">
                <a:ea typeface="黑体" pitchFamily="49" charset="-122"/>
              </a:rPr>
              <a:pPr/>
              <a:t>52</a:t>
            </a:fld>
            <a:endParaRPr lang="en-US" altLang="zh-CN" dirty="0"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6661173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200" b="1"/>
              <a:t>從右岸到左岸至少需要的擺渡次數：</a:t>
            </a:r>
          </a:p>
          <a:p>
            <a:pPr marL="0" indent="0">
              <a:buNone/>
            </a:pPr>
            <a:r>
              <a:rPr lang="en-US" altLang="zh-CN" sz="3200" b="1"/>
              <a:t>     </a:t>
            </a:r>
            <a:r>
              <a:rPr lang="en-US" altLang="zh-CN" sz="3200" b="1" dirty="0"/>
              <a:t>M+C</a:t>
            </a:r>
          </a:p>
          <a:p>
            <a:endParaRPr lang="en-US" altLang="zh-CN" sz="3200" b="1" dirty="0"/>
          </a:p>
          <a:p>
            <a:r>
              <a:rPr lang="zh-CN" altLang="en-US" sz="3200" b="1"/>
              <a:t>綜合在一起，所需的最少擺渡次數：</a:t>
            </a:r>
            <a:endParaRPr lang="en-US" altLang="zh-CN" sz="3200" b="1" dirty="0"/>
          </a:p>
          <a:p>
            <a:pPr marL="0" indent="0">
              <a:buNone/>
            </a:pPr>
            <a:r>
              <a:rPr lang="en-US" altLang="zh-CN" sz="3200" b="1" dirty="0"/>
              <a:t>    M+C-2B</a:t>
            </a:r>
          </a:p>
          <a:p>
            <a:r>
              <a:rPr lang="en-US" altLang="zh-CN" sz="3200" b="1"/>
              <a:t> </a:t>
            </a:r>
            <a:r>
              <a:rPr lang="zh-CN" altLang="en-US" sz="3200" b="1"/>
              <a:t>以該最小擺渡次數作為啟發函數</a:t>
            </a:r>
            <a:r>
              <a:rPr lang="en-US" altLang="zh-CN" sz="3200" b="1"/>
              <a:t>h</a:t>
            </a:r>
            <a:r>
              <a:rPr lang="zh-CN" altLang="en-US" sz="3200" b="1"/>
              <a:t>，從推導可知，該</a:t>
            </a:r>
            <a:r>
              <a:rPr lang="en-US" altLang="zh-CN" sz="3200" b="1"/>
              <a:t>h</a:t>
            </a:r>
            <a:r>
              <a:rPr lang="zh-CN" altLang="en-US" sz="3200" b="1"/>
              <a:t>滿足</a:t>
            </a:r>
            <a:r>
              <a:rPr lang="en-US" altLang="zh-CN" sz="3200" b="1"/>
              <a:t>A*</a:t>
            </a:r>
            <a:r>
              <a:rPr lang="zh-CN" altLang="en-US" sz="3200" b="1"/>
              <a:t>條件</a:t>
            </a:r>
            <a:endParaRPr lang="zh-CN" altLang="en-US" sz="3200" b="1" dirty="0"/>
          </a:p>
        </p:txBody>
      </p:sp>
      <p:sp>
        <p:nvSpPr>
          <p:cNvPr id="7373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770F010-1893-486A-902B-A449B087090E}" type="slidenum">
              <a:rPr lang="en-US" altLang="zh-CN" smtClean="0">
                <a:ea typeface="黑体" pitchFamily="49" charset="-122"/>
              </a:rPr>
              <a:pPr/>
              <a:t>53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BDA02B-3BB3-FB06-5B42-C2EF30538B93}"/>
              </a:ext>
            </a:extLst>
          </p:cNvPr>
          <p:cNvSpPr txBox="1"/>
          <p:nvPr/>
        </p:nvSpPr>
        <p:spPr>
          <a:xfrm>
            <a:off x="5604934" y="5604301"/>
            <a:ext cx="2929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</a:t>
            </a:r>
            <a:r>
              <a:rPr lang="en-US" altLang="zh-CN" sz="2400" dirty="0"/>
              <a:t>=1</a:t>
            </a:r>
            <a:r>
              <a:rPr lang="zh-CN" altLang="en-US" sz="2400" dirty="0"/>
              <a:t>，船在左岸</a:t>
            </a:r>
            <a:endParaRPr lang="en-US" altLang="zh-CN" sz="2400" dirty="0"/>
          </a:p>
          <a:p>
            <a:r>
              <a:rPr lang="en-US" altLang="zh-CN" sz="2400" dirty="0"/>
              <a:t>B=0</a:t>
            </a:r>
            <a:r>
              <a:rPr lang="zh-CN" altLang="en-US" sz="2400" dirty="0"/>
              <a:t>，船在右岸</a:t>
            </a:r>
            <a:endParaRPr lang="en-US" sz="2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A*</a:t>
            </a:r>
            <a:r>
              <a:rPr lang="zh-CN" altLang="en-US"/>
              <a:t>演算法的主要結論</a:t>
            </a:r>
            <a:endParaRPr lang="zh-CN" altLang="en-US" dirty="0"/>
          </a:p>
        </p:txBody>
      </p:sp>
      <p:sp>
        <p:nvSpPr>
          <p:cNvPr id="194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6750" y="1771650"/>
            <a:ext cx="7772400" cy="433705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en-US" altLang="zh-CN" sz="2800" dirty="0"/>
          </a:p>
          <a:p>
            <a:pPr eaLnBrk="1" hangingPunct="1">
              <a:buFont typeface="Wingdings" pitchFamily="2" charset="2"/>
              <a:buNone/>
            </a:pPr>
            <a:r>
              <a:rPr lang="zh-CN" altLang="en-US" sz="3200" b="1"/>
              <a:t>定理</a:t>
            </a:r>
            <a:r>
              <a:rPr lang="en-US" altLang="zh-CN" sz="3200" b="1"/>
              <a:t> (</a:t>
            </a:r>
            <a:r>
              <a:rPr lang="zh-CN" altLang="en-US" sz="3200" b="1"/>
              <a:t>可採納性定理</a:t>
            </a:r>
            <a:r>
              <a:rPr lang="en-US" altLang="zh-CN" sz="3200" b="1"/>
              <a:t>)</a:t>
            </a:r>
            <a:r>
              <a:rPr lang="zh-CN" altLang="en-US" sz="3200" b="1" dirty="0"/>
              <a:t>：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3200" b="1"/>
              <a:t>	若存在從初始節點</a:t>
            </a:r>
            <a:r>
              <a:rPr lang="en-US" altLang="zh-CN" sz="3200" b="1"/>
              <a:t>s</a:t>
            </a:r>
            <a:r>
              <a:rPr lang="zh-CN" altLang="en-US" sz="3200" b="1"/>
              <a:t>到目標節點</a:t>
            </a:r>
            <a:r>
              <a:rPr lang="en-US" altLang="zh-CN" sz="3200" b="1"/>
              <a:t>t</a:t>
            </a:r>
            <a:r>
              <a:rPr lang="zh-CN" altLang="en-US" sz="3200" b="1"/>
              <a:t>有路徑，則</a:t>
            </a:r>
            <a:r>
              <a:rPr lang="en-US" altLang="zh-CN" sz="3200" b="1"/>
              <a:t>A*</a:t>
            </a:r>
            <a:r>
              <a:rPr lang="zh-CN" altLang="en-US" sz="3200" b="1"/>
              <a:t>必能找到最佳解結束。</a:t>
            </a:r>
          </a:p>
          <a:p>
            <a:pPr eaLnBrk="1" hangingPunct="1"/>
            <a:endParaRPr lang="zh-CN" altLang="en-US" sz="2800" dirty="0">
              <a:sym typeface="Symbol" pitchFamily="18" charset="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内容占位符 2"/>
          <p:cNvSpPr>
            <a:spLocks noGrp="1"/>
          </p:cNvSpPr>
          <p:nvPr>
            <p:ph idx="1"/>
          </p:nvPr>
        </p:nvSpPr>
        <p:spPr>
          <a:xfrm>
            <a:off x="622300" y="1358900"/>
            <a:ext cx="7772400" cy="48260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3200" b="1"/>
              <a:t>定理：設對同一個問題定義了兩個</a:t>
            </a:r>
            <a:r>
              <a:rPr lang="en-US" altLang="zh-CN" sz="3200" b="1"/>
              <a:t>A*</a:t>
            </a:r>
            <a:r>
              <a:rPr lang="zh-CN" altLang="en-US" sz="3200" b="1"/>
              <a:t>演算法</a:t>
            </a:r>
            <a:r>
              <a:rPr lang="en-US" altLang="zh-CN" sz="3200" b="1"/>
              <a:t>A</a:t>
            </a:r>
            <a:r>
              <a:rPr lang="en-US" altLang="zh-CN" sz="3200" b="1" baseline="-25000"/>
              <a:t>1</a:t>
            </a:r>
            <a:r>
              <a:rPr lang="zh-CN" altLang="en-US" sz="3200" b="1" dirty="0"/>
              <a:t>和</a:t>
            </a:r>
            <a:r>
              <a:rPr lang="en-US" altLang="zh-CN" sz="3200" b="1" dirty="0"/>
              <a:t>A</a:t>
            </a:r>
            <a:r>
              <a:rPr lang="en-US" altLang="zh-CN" sz="3200" b="1" baseline="-25000" dirty="0"/>
              <a:t>2</a:t>
            </a:r>
            <a:r>
              <a:rPr lang="zh-CN" altLang="en-US" sz="3200" b="1" dirty="0"/>
              <a:t>，若</a:t>
            </a:r>
            <a:r>
              <a:rPr lang="en-US" altLang="zh-CN" sz="3200" b="1" dirty="0"/>
              <a:t>A</a:t>
            </a:r>
            <a:r>
              <a:rPr lang="en-US" altLang="zh-CN" sz="3200" b="1" baseline="-25000" dirty="0"/>
              <a:t>2</a:t>
            </a:r>
            <a:r>
              <a:rPr lang="zh-CN" altLang="en-US" sz="3200" b="1"/>
              <a:t>比</a:t>
            </a:r>
            <a:r>
              <a:rPr lang="en-US" altLang="zh-CN" sz="3200" b="1"/>
              <a:t>A</a:t>
            </a:r>
            <a:r>
              <a:rPr lang="en-US" altLang="zh-CN" sz="3200" b="1" baseline="-25000"/>
              <a:t>1</a:t>
            </a:r>
            <a:r>
              <a:rPr lang="zh-CN" altLang="en-US" sz="3200" b="1"/>
              <a:t>有較多的啟發資訊，即對所有非目標節點有</a:t>
            </a:r>
            <a:r>
              <a:rPr lang="en-US" altLang="zh-CN" sz="3200" b="1"/>
              <a:t>h</a:t>
            </a:r>
            <a:r>
              <a:rPr lang="en-US" altLang="zh-CN" sz="3200" b="1" baseline="-25000"/>
              <a:t>2</a:t>
            </a:r>
            <a:r>
              <a:rPr lang="en-US" altLang="zh-CN" sz="3200" b="1" dirty="0"/>
              <a:t>(n) &gt; h</a:t>
            </a:r>
            <a:r>
              <a:rPr lang="en-US" altLang="zh-CN" sz="3200" b="1" baseline="-25000" dirty="0"/>
              <a:t>1</a:t>
            </a:r>
            <a:r>
              <a:rPr lang="en-US" altLang="zh-CN" sz="3200" b="1" dirty="0"/>
              <a:t>(</a:t>
            </a:r>
            <a:r>
              <a:rPr lang="en-US" altLang="zh-CN" sz="3200" b="1"/>
              <a:t>n)</a:t>
            </a:r>
            <a:r>
              <a:rPr lang="zh-CN" altLang="en-US" sz="3200" b="1"/>
              <a:t>，則在具有一條從</a:t>
            </a:r>
            <a:r>
              <a:rPr lang="en-US" altLang="zh-CN" sz="3200" b="1"/>
              <a:t>s</a:t>
            </a:r>
            <a:r>
              <a:rPr lang="zh-CN" altLang="en-US" sz="3200" b="1"/>
              <a:t>到</a:t>
            </a:r>
            <a:r>
              <a:rPr lang="en-US" altLang="zh-CN" sz="3200" b="1"/>
              <a:t>t</a:t>
            </a:r>
            <a:r>
              <a:rPr lang="zh-CN" altLang="en-US" sz="3200" b="1"/>
              <a:t>的路徑的隱含圖上，搜索結束時，由</a:t>
            </a:r>
            <a:r>
              <a:rPr lang="en-US" altLang="zh-CN" sz="3200" b="1"/>
              <a:t>A</a:t>
            </a:r>
            <a:r>
              <a:rPr lang="en-US" altLang="zh-CN" sz="3200" b="1" baseline="-25000"/>
              <a:t>2</a:t>
            </a:r>
            <a:r>
              <a:rPr lang="zh-CN" altLang="en-US" sz="3200" b="1"/>
              <a:t>所擴展的每一個節點，也必定由</a:t>
            </a:r>
            <a:r>
              <a:rPr lang="en-US" altLang="zh-CN" sz="3200" b="1"/>
              <a:t>A</a:t>
            </a:r>
            <a:r>
              <a:rPr lang="en-US" altLang="zh-CN" sz="3200" b="1" baseline="-25000"/>
              <a:t>1</a:t>
            </a:r>
            <a:r>
              <a:rPr lang="zh-CN" altLang="en-US" sz="3200" b="1"/>
              <a:t>所擴展，即</a:t>
            </a:r>
            <a:r>
              <a:rPr lang="en-US" altLang="zh-CN" sz="3200" b="1"/>
              <a:t>A</a:t>
            </a:r>
            <a:r>
              <a:rPr lang="en-US" altLang="zh-CN" sz="3200" b="1" baseline="-25000"/>
              <a:t>1</a:t>
            </a:r>
            <a:r>
              <a:rPr lang="zh-CN" altLang="en-US" sz="3200" b="1"/>
              <a:t>擴展的節點數至少和</a:t>
            </a:r>
            <a:r>
              <a:rPr lang="en-US" altLang="zh-CN" sz="3200" b="1"/>
              <a:t>A</a:t>
            </a:r>
            <a:r>
              <a:rPr lang="en-US" altLang="zh-CN" sz="3200" b="1" baseline="-25000"/>
              <a:t>2</a:t>
            </a:r>
            <a:r>
              <a:rPr lang="zh-CN" altLang="en-US" sz="3200" b="1"/>
              <a:t>一樣多。</a:t>
            </a:r>
          </a:p>
          <a:p>
            <a:pPr eaLnBrk="1" hangingPunct="1">
              <a:spcBef>
                <a:spcPct val="30000"/>
              </a:spcBef>
              <a:buFont typeface="Wingdings" pitchFamily="2" charset="2"/>
              <a:buNone/>
            </a:pPr>
            <a:r>
              <a:rPr lang="zh-CN" altLang="en-US" sz="3200" b="1"/>
              <a:t>簡寫：</a:t>
            </a:r>
            <a:r>
              <a:rPr lang="zh-CN" altLang="en-US" sz="3200" b="1" dirty="0"/>
              <a:t>如果</a:t>
            </a:r>
            <a:r>
              <a:rPr lang="en-US" altLang="zh-CN" sz="3200" b="1" dirty="0"/>
              <a:t>h</a:t>
            </a:r>
            <a:r>
              <a:rPr lang="en-US" altLang="zh-CN" sz="3200" b="1" baseline="-25000" dirty="0"/>
              <a:t>2</a:t>
            </a:r>
            <a:r>
              <a:rPr lang="en-US" altLang="zh-CN" sz="3200" b="1" dirty="0"/>
              <a:t>(n) </a:t>
            </a:r>
            <a:r>
              <a:rPr lang="en-US" altLang="zh-CN" sz="3200" b="1" dirty="0">
                <a:solidFill>
                  <a:schemeClr val="tx2"/>
                </a:solidFill>
              </a:rPr>
              <a:t>&gt; </a:t>
            </a:r>
            <a:r>
              <a:rPr lang="en-US" altLang="zh-CN" sz="3200" b="1" dirty="0"/>
              <a:t>h</a:t>
            </a:r>
            <a:r>
              <a:rPr lang="en-US" altLang="zh-CN" sz="3200" b="1" baseline="-25000" dirty="0"/>
              <a:t>1</a:t>
            </a:r>
            <a:r>
              <a:rPr lang="en-US" altLang="zh-CN" sz="3200" b="1" dirty="0"/>
              <a:t>(n</a:t>
            </a:r>
            <a:r>
              <a:rPr lang="en-US" altLang="zh-CN" sz="3200" b="1"/>
              <a:t>) (</a:t>
            </a:r>
            <a:r>
              <a:rPr lang="zh-CN" altLang="en-US" sz="3200" b="1"/>
              <a:t>目標節點除外</a:t>
            </a:r>
            <a:r>
              <a:rPr lang="en-US" altLang="zh-CN" sz="3200" b="1"/>
              <a:t>)</a:t>
            </a:r>
            <a:r>
              <a:rPr lang="zh-CN" altLang="en-US" sz="3200" b="1"/>
              <a:t>，則</a:t>
            </a:r>
            <a:r>
              <a:rPr lang="en-US" altLang="zh-CN" sz="3200" b="1"/>
              <a:t>A</a:t>
            </a:r>
            <a:r>
              <a:rPr lang="en-US" altLang="zh-CN" sz="3200" b="1" baseline="-25000"/>
              <a:t>1</a:t>
            </a:r>
            <a:r>
              <a:rPr lang="zh-CN" altLang="en-US" sz="3200" b="1"/>
              <a:t>擴展的節點數</a:t>
            </a:r>
            <a:r>
              <a:rPr lang="zh-CN" altLang="en-US" sz="3200" b="1">
                <a:solidFill>
                  <a:schemeClr val="tx2"/>
                </a:solidFill>
              </a:rPr>
              <a:t>≥</a:t>
            </a:r>
            <a:r>
              <a:rPr lang="en-US" altLang="zh-CN" sz="3200" b="1"/>
              <a:t>A</a:t>
            </a:r>
            <a:r>
              <a:rPr lang="en-US" altLang="zh-CN" sz="3200" b="1" baseline="-25000"/>
              <a:t>2</a:t>
            </a:r>
            <a:r>
              <a:rPr lang="zh-CN" altLang="zh-CN" sz="3200" b="1"/>
              <a:t>擴展的節點數</a:t>
            </a:r>
            <a:endParaRPr lang="zh-CN" altLang="en-US" sz="3200" b="1" dirty="0"/>
          </a:p>
          <a:p>
            <a:endParaRPr lang="zh-CN" altLang="en-US" dirty="0"/>
          </a:p>
        </p:txBody>
      </p:sp>
      <p:sp>
        <p:nvSpPr>
          <p:cNvPr id="75779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9F33F06-7D24-40EB-892A-EB6E789373F4}" type="slidenum">
              <a:rPr lang="en-US" altLang="zh-CN" smtClean="0">
                <a:ea typeface="黑体" pitchFamily="49" charset="-122"/>
              </a:rPr>
              <a:pPr/>
              <a:t>55</a:t>
            </a:fld>
            <a:endParaRPr lang="en-US" altLang="zh-CN" dirty="0">
              <a:ea typeface="黑体" pitchFamily="49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71478B2-889C-4C37-9577-0EAEECAD6121}" type="slidenum">
              <a:rPr lang="en-US" altLang="zh-CN" smtClean="0">
                <a:ea typeface="黑体" pitchFamily="49" charset="-122"/>
              </a:rPr>
              <a:pPr/>
              <a:t>56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196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en-US" dirty="0"/>
          </a:p>
        </p:txBody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</a:rPr>
              <a:t>注意：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>
                <a:solidFill>
                  <a:schemeClr val="folHlink"/>
                </a:solidFill>
              </a:rPr>
              <a:t>   </a:t>
            </a:r>
            <a:r>
              <a:rPr lang="zh-CN" altLang="en-US" sz="3200" b="1"/>
              <a:t>上述定理，評價指標是“擴展的節點數”，也就是說，同一個節點無論被擴展多少次，都只計算一次。</a:t>
            </a:r>
            <a:endParaRPr lang="zh-CN" altLang="en-US" sz="3200" b="1" dirty="0">
              <a:solidFill>
                <a:schemeClr val="folHlink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40B4BAC-A7A9-4F31-B62E-7B269910F2E9}" type="slidenum">
              <a:rPr lang="en-US" altLang="zh-CN" smtClean="0">
                <a:ea typeface="黑体" pitchFamily="49" charset="-122"/>
              </a:rPr>
              <a:pPr/>
              <a:t>57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思考題</a:t>
            </a:r>
            <a:endParaRPr lang="zh-CN" altLang="en-US" dirty="0"/>
          </a:p>
        </p:txBody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665026"/>
            <a:ext cx="7772400" cy="4354773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zh-CN" altLang="en-US" sz="3200" b="1"/>
              <a:t>定理（簡寫）：如果</a:t>
            </a:r>
            <a:r>
              <a:rPr lang="en-US" altLang="zh-CN" sz="3200" b="1"/>
              <a:t>h</a:t>
            </a:r>
            <a:r>
              <a:rPr lang="en-US" altLang="zh-CN" sz="3200" b="1" baseline="-25000"/>
              <a:t>2</a:t>
            </a:r>
            <a:r>
              <a:rPr lang="en-US" altLang="zh-CN" sz="3200" b="1" dirty="0"/>
              <a:t>(n) </a:t>
            </a:r>
            <a:r>
              <a:rPr lang="en-US" altLang="zh-CN" sz="3200" b="1" dirty="0">
                <a:solidFill>
                  <a:schemeClr val="tx2"/>
                </a:solidFill>
              </a:rPr>
              <a:t>&gt; </a:t>
            </a:r>
            <a:r>
              <a:rPr lang="en-US" altLang="zh-CN" sz="3200" b="1" dirty="0"/>
              <a:t>h</a:t>
            </a:r>
            <a:r>
              <a:rPr lang="en-US" altLang="zh-CN" sz="3200" b="1" baseline="-25000" dirty="0"/>
              <a:t>1</a:t>
            </a:r>
            <a:r>
              <a:rPr lang="en-US" altLang="zh-CN" sz="3200" b="1" dirty="0"/>
              <a:t>(n</a:t>
            </a:r>
            <a:r>
              <a:rPr lang="en-US" altLang="zh-CN" sz="3200" b="1"/>
              <a:t>) (</a:t>
            </a:r>
            <a:r>
              <a:rPr lang="zh-CN" altLang="en-US" sz="3200" b="1"/>
              <a:t>目標節點除外</a:t>
            </a:r>
            <a:r>
              <a:rPr lang="en-US" altLang="zh-CN" sz="3200" b="1"/>
              <a:t>)</a:t>
            </a:r>
            <a:r>
              <a:rPr lang="zh-CN" altLang="en-US" sz="3200" b="1"/>
              <a:t>，則</a:t>
            </a:r>
            <a:r>
              <a:rPr lang="en-US" altLang="zh-CN" sz="3200" b="1"/>
              <a:t>A</a:t>
            </a:r>
            <a:r>
              <a:rPr lang="en-US" altLang="zh-CN" sz="3200" b="1" baseline="-25000"/>
              <a:t>1</a:t>
            </a:r>
            <a:r>
              <a:rPr lang="zh-CN" altLang="en-US" sz="3200" b="1"/>
              <a:t>擴展的節點數</a:t>
            </a:r>
            <a:r>
              <a:rPr lang="zh-CN" altLang="en-US" sz="3200" b="1">
                <a:solidFill>
                  <a:schemeClr val="tx2"/>
                </a:solidFill>
              </a:rPr>
              <a:t>≥</a:t>
            </a:r>
            <a:r>
              <a:rPr lang="en-US" altLang="zh-CN" sz="3200" b="1"/>
              <a:t>A</a:t>
            </a:r>
            <a:r>
              <a:rPr lang="en-US" altLang="zh-CN" sz="3200" b="1" baseline="-25000"/>
              <a:t>2</a:t>
            </a:r>
            <a:r>
              <a:rPr lang="zh-CN" altLang="zh-CN" sz="3200" b="1"/>
              <a:t>擴展的節點數</a:t>
            </a:r>
            <a:endParaRPr lang="zh-CN" altLang="en-US" sz="3200" b="1" dirty="0"/>
          </a:p>
          <a:p>
            <a:pPr lvl="1">
              <a:lnSpc>
                <a:spcPct val="90000"/>
              </a:lnSpc>
            </a:pPr>
            <a:r>
              <a:rPr lang="zh-CN" altLang="en-US" sz="2800" b="1"/>
              <a:t>為什麼條件不能是</a:t>
            </a:r>
            <a:r>
              <a:rPr lang="en-US" altLang="zh-CN" sz="2800" b="1"/>
              <a:t>h</a:t>
            </a:r>
            <a:r>
              <a:rPr lang="en-US" altLang="zh-CN" sz="2800" b="1" baseline="-25000"/>
              <a:t>2</a:t>
            </a:r>
            <a:r>
              <a:rPr lang="en-US" altLang="zh-CN" sz="2800" b="1" dirty="0"/>
              <a:t>(n) </a:t>
            </a:r>
            <a:r>
              <a:rPr lang="en-US" altLang="zh-CN" sz="2800" b="1" dirty="0">
                <a:solidFill>
                  <a:schemeClr val="tx2"/>
                </a:solidFill>
              </a:rPr>
              <a:t>≥ </a:t>
            </a:r>
            <a:r>
              <a:rPr lang="en-US" altLang="zh-CN" sz="2800" b="1" dirty="0"/>
              <a:t>h</a:t>
            </a:r>
            <a:r>
              <a:rPr lang="en-US" altLang="zh-CN" sz="2800" b="1" baseline="-25000" dirty="0"/>
              <a:t>1</a:t>
            </a:r>
            <a:r>
              <a:rPr lang="en-US" altLang="zh-CN" sz="2800" b="1" dirty="0"/>
              <a:t>(n</a:t>
            </a:r>
            <a:r>
              <a:rPr lang="en-US" altLang="zh-CN" sz="2800" b="1"/>
              <a:t>) </a:t>
            </a:r>
            <a:r>
              <a:rPr lang="zh-CN" altLang="en-US" sz="2800" b="1"/>
              <a:t>？什麼情況下會出現問題？能否給定理再增加條件，使得定理在</a:t>
            </a:r>
            <a:r>
              <a:rPr lang="en-US" altLang="zh-CN" sz="2800" b="1"/>
              <a:t>h</a:t>
            </a:r>
            <a:r>
              <a:rPr lang="en-US" altLang="zh-CN" sz="2800" b="1" baseline="-25000"/>
              <a:t>2</a:t>
            </a:r>
            <a:r>
              <a:rPr lang="en-US" altLang="zh-CN" sz="2800" b="1" dirty="0"/>
              <a:t>(n) </a:t>
            </a:r>
            <a:r>
              <a:rPr lang="en-US" altLang="zh-CN" sz="2800" b="1" dirty="0">
                <a:solidFill>
                  <a:schemeClr val="tx2"/>
                </a:solidFill>
              </a:rPr>
              <a:t>≥ </a:t>
            </a:r>
            <a:r>
              <a:rPr lang="en-US" altLang="zh-CN" sz="2800" b="1" dirty="0"/>
              <a:t>h</a:t>
            </a:r>
            <a:r>
              <a:rPr lang="en-US" altLang="zh-CN" sz="2800" b="1" baseline="-25000" dirty="0"/>
              <a:t>1</a:t>
            </a:r>
            <a:r>
              <a:rPr lang="en-US" altLang="zh-CN" sz="2800" b="1" dirty="0"/>
              <a:t>(n</a:t>
            </a:r>
            <a:r>
              <a:rPr lang="en-US" altLang="zh-CN" sz="2800" b="1"/>
              <a:t>) </a:t>
            </a:r>
            <a:r>
              <a:rPr lang="zh-CN" altLang="en-US" sz="2800" b="1"/>
              <a:t>條件下也成立？</a:t>
            </a:r>
            <a:endParaRPr lang="en-US" altLang="zh-CN" sz="2800" b="1" dirty="0"/>
          </a:p>
          <a:p>
            <a:pPr lvl="1">
              <a:lnSpc>
                <a:spcPct val="90000"/>
              </a:lnSpc>
            </a:pPr>
            <a:endParaRPr lang="en-US" altLang="zh-CN" sz="2800" b="1" dirty="0"/>
          </a:p>
          <a:p>
            <a:pPr lvl="1">
              <a:lnSpc>
                <a:spcPct val="90000"/>
              </a:lnSpc>
            </a:pPr>
            <a:r>
              <a:rPr lang="zh-CN" altLang="en-US" sz="2800" b="1">
                <a:solidFill>
                  <a:srgbClr val="FF0000"/>
                </a:solidFill>
              </a:rPr>
              <a:t>提示：</a:t>
            </a:r>
            <a:r>
              <a:rPr lang="zh-CN" altLang="en-US" sz="2800" b="1"/>
              <a:t>考慮那些</a:t>
            </a:r>
            <a:r>
              <a:rPr lang="en-US" altLang="zh-CN" sz="2800" b="1"/>
              <a:t>f</a:t>
            </a:r>
            <a:r>
              <a:rPr lang="en-US" altLang="zh-CN" sz="2800" b="1" dirty="0"/>
              <a:t>(n)=f*(</a:t>
            </a:r>
            <a:r>
              <a:rPr lang="en-US" altLang="zh-CN" sz="2800" b="1"/>
              <a:t>t)</a:t>
            </a:r>
            <a:r>
              <a:rPr lang="zh-CN" altLang="en-US" sz="2800" b="1"/>
              <a:t>的節點，</a:t>
            </a:r>
            <a:r>
              <a:rPr lang="en-US" altLang="zh-CN" sz="2800" b="1"/>
              <a:t>t</a:t>
            </a:r>
            <a:r>
              <a:rPr lang="zh-CN" altLang="en-US" sz="2800" b="1"/>
              <a:t>為目標節點。如果不考慮這樣的節點，等號可以加上。</a:t>
            </a:r>
            <a:endParaRPr lang="zh-CN" altLang="en-US" sz="2800" b="1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3C1AC7A-E699-442B-9BA1-047945E77060}" type="slidenum">
              <a:rPr lang="en-US" altLang="zh-CN" smtClean="0">
                <a:ea typeface="黑体" pitchFamily="49" charset="-122"/>
              </a:rPr>
              <a:pPr/>
              <a:t>58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1710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810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對</a:t>
            </a:r>
            <a:r>
              <a:rPr lang="en-US" altLang="zh-CN"/>
              <a:t>h</a:t>
            </a:r>
            <a:r>
              <a:rPr lang="zh-CN" altLang="en-US"/>
              <a:t>的評價方法</a:t>
            </a:r>
            <a:endParaRPr lang="zh-CN" altLang="en-US" dirty="0"/>
          </a:p>
        </p:txBody>
      </p:sp>
      <p:sp>
        <p:nvSpPr>
          <p:cNvPr id="184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8700" y="1885950"/>
            <a:ext cx="7772400" cy="421005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zh-CN" altLang="en-US" sz="3200" b="1"/>
              <a:t>平均分叉數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3200" b="1"/>
              <a:t>	設共擴展了</a:t>
            </a:r>
            <a:r>
              <a:rPr lang="en-US" altLang="zh-CN" sz="3200" b="1"/>
              <a:t>d</a:t>
            </a:r>
            <a:r>
              <a:rPr lang="zh-CN" altLang="en-US" sz="3200" b="1"/>
              <a:t>層節點，共搜索了</a:t>
            </a:r>
            <a:r>
              <a:rPr lang="en-US" altLang="zh-CN" sz="3200" b="1"/>
              <a:t>N</a:t>
            </a:r>
            <a:r>
              <a:rPr lang="zh-CN" altLang="en-US" sz="3200" b="1"/>
              <a:t>個節點，則</a:t>
            </a:r>
            <a:r>
              <a:rPr lang="en-US" altLang="zh-CN" sz="3200" b="1"/>
              <a:t>:</a:t>
            </a:r>
            <a:endParaRPr lang="en-US" altLang="zh-CN" sz="3200" b="1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3200" b="1" dirty="0"/>
              <a:t>	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3200" b="1" dirty="0"/>
              <a:t>	</a:t>
            </a:r>
            <a:r>
              <a:rPr lang="zh-CN" altLang="en-US" sz="3200" b="1" dirty="0"/>
              <a:t>其中，</a:t>
            </a:r>
            <a:r>
              <a:rPr lang="en-US" altLang="zh-CN" sz="3200" b="1"/>
              <a:t>b*</a:t>
            </a:r>
            <a:r>
              <a:rPr lang="zh-CN" altLang="en-US" sz="3200" b="1"/>
              <a:t>稱為平均分叉數。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3200" b="1"/>
              <a:t>b*</a:t>
            </a:r>
            <a:r>
              <a:rPr lang="zh-CN" altLang="en-US" sz="3200" b="1"/>
              <a:t>越小，說明</a:t>
            </a:r>
            <a:r>
              <a:rPr lang="en-US" altLang="zh-CN" sz="3200" b="1"/>
              <a:t>h</a:t>
            </a:r>
            <a:r>
              <a:rPr lang="zh-CN" altLang="en-US" sz="3200" b="1" dirty="0"/>
              <a:t>效果越好。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3200" b="1"/>
              <a:t>實驗表明，</a:t>
            </a:r>
            <a:r>
              <a:rPr lang="en-US" altLang="zh-CN" sz="3200" b="1"/>
              <a:t>b*</a:t>
            </a:r>
            <a:r>
              <a:rPr lang="zh-CN" altLang="en-US" sz="3200" b="1"/>
              <a:t>是一個比較穩定的常數，同一問題基本不隨問題規模變化。</a:t>
            </a:r>
            <a:endParaRPr lang="zh-CN" altLang="en-US" sz="3200" b="1" dirty="0"/>
          </a:p>
        </p:txBody>
      </p:sp>
      <p:graphicFrame>
        <p:nvGraphicFramePr>
          <p:cNvPr id="18434" name="Object 6"/>
          <p:cNvGraphicFramePr>
            <a:graphicFrameLocks noChangeAspect="1"/>
          </p:cNvGraphicFramePr>
          <p:nvPr/>
        </p:nvGraphicFramePr>
        <p:xfrm>
          <a:off x="2660887" y="3085525"/>
          <a:ext cx="3313113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384200" imgH="266400" progId="Equation.3">
                  <p:embed/>
                </p:oleObj>
              </mc:Choice>
              <mc:Fallback>
                <p:oleObj name="公式" r:id="rId3" imgW="1384200" imgH="266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0887" y="3085525"/>
                        <a:ext cx="3313113" cy="552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24D92D9-4B35-4799-8E47-F994212DB81D}" type="slidenum">
              <a:rPr lang="en-US" altLang="zh-CN" smtClean="0">
                <a:ea typeface="黑体" pitchFamily="49" charset="-122"/>
              </a:rPr>
              <a:pPr/>
              <a:t>59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66700"/>
            <a:ext cx="7772400" cy="8572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對</a:t>
            </a:r>
            <a:r>
              <a:rPr lang="en-US" altLang="zh-CN"/>
              <a:t>h</a:t>
            </a:r>
            <a:r>
              <a:rPr lang="zh-CN" altLang="en-US"/>
              <a:t>的評價舉例</a:t>
            </a:r>
            <a:endParaRPr lang="zh-CN" altLang="en-US" dirty="0"/>
          </a:p>
        </p:txBody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81100"/>
            <a:ext cx="7772400" cy="49149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3200" b="1" dirty="0"/>
              <a:t>例</a:t>
            </a:r>
            <a:r>
              <a:rPr lang="zh-CN" altLang="en-US" sz="3200" b="1"/>
              <a:t>：</a:t>
            </a:r>
            <a:r>
              <a:rPr lang="en-US" altLang="zh-CN" sz="3200" b="1"/>
              <a:t>8</a:t>
            </a:r>
            <a:r>
              <a:rPr lang="zh-CN" altLang="en-US" sz="3200" b="1"/>
              <a:t>數碼問題，隨機產生若干初始狀態。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3200" b="1" dirty="0"/>
          </a:p>
          <a:p>
            <a:pPr eaLnBrk="1" hangingPunct="1"/>
            <a:r>
              <a:rPr lang="zh-CN" altLang="en-US" sz="3200" b="1" dirty="0"/>
              <a:t>使用</a:t>
            </a:r>
            <a:r>
              <a:rPr lang="en-US" altLang="zh-CN" sz="3200" b="1" dirty="0"/>
              <a:t>h</a:t>
            </a:r>
            <a:r>
              <a:rPr lang="en-US" altLang="zh-CN" sz="3200" b="1" baseline="-25000" dirty="0"/>
              <a:t>1</a:t>
            </a:r>
            <a:r>
              <a:rPr lang="zh-CN" altLang="en-US" sz="3200" b="1" dirty="0"/>
              <a:t>：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3200" b="1" dirty="0"/>
              <a:t>	</a:t>
            </a:r>
            <a:r>
              <a:rPr lang="en-US" altLang="zh-CN" sz="3200" b="1" dirty="0"/>
              <a:t>d=14,   N=539,	          b*=1.44;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3200" b="1" dirty="0"/>
              <a:t>   d=20,   N=7276</a:t>
            </a:r>
            <a:r>
              <a:rPr lang="zh-CN" altLang="en-US" sz="3200" b="1" dirty="0"/>
              <a:t>，   	</a:t>
            </a:r>
            <a:r>
              <a:rPr lang="en-US" altLang="zh-CN" sz="3200" b="1" dirty="0"/>
              <a:t>b*=1.47</a:t>
            </a:r>
            <a:r>
              <a:rPr lang="zh-CN" altLang="en-US" sz="3200" b="1" dirty="0"/>
              <a:t>；</a:t>
            </a:r>
          </a:p>
          <a:p>
            <a:pPr eaLnBrk="1" hangingPunct="1"/>
            <a:r>
              <a:rPr lang="zh-CN" altLang="en-US" sz="3200" b="1" dirty="0"/>
              <a:t>使用</a:t>
            </a:r>
            <a:r>
              <a:rPr lang="en-US" altLang="zh-CN" sz="3200" b="1" dirty="0"/>
              <a:t>h</a:t>
            </a:r>
            <a:r>
              <a:rPr lang="en-US" altLang="zh-CN" sz="3200" b="1" baseline="-25000" dirty="0"/>
              <a:t>2</a:t>
            </a:r>
            <a:r>
              <a:rPr lang="zh-CN" altLang="en-US" sz="3200" b="1" dirty="0"/>
              <a:t>：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3200" b="1" dirty="0"/>
              <a:t>	</a:t>
            </a:r>
            <a:r>
              <a:rPr lang="en-US" altLang="zh-CN" sz="3200" b="1" dirty="0"/>
              <a:t>d=14,   N=113, 	b*=1.23;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3200" b="1" dirty="0"/>
              <a:t>	d=20,   N=676,	          b*=1.27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B73AF3-41AE-1530-FC10-D8D7D2D23C01}"/>
              </a:ext>
            </a:extLst>
          </p:cNvPr>
          <p:cNvSpPr txBox="1"/>
          <p:nvPr/>
        </p:nvSpPr>
        <p:spPr>
          <a:xfrm>
            <a:off x="4402666" y="1954368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eaLnBrk="1" hangingPunct="1"/>
            <a:r>
              <a:rPr lang="en-US" altLang="zh-CN" sz="1800" b="1" dirty="0"/>
              <a:t>h</a:t>
            </a:r>
            <a:r>
              <a:rPr lang="en-US" altLang="zh-CN" sz="1800" b="1" baseline="-25000" dirty="0"/>
              <a:t>1</a:t>
            </a:r>
            <a:r>
              <a:rPr lang="en-US" altLang="zh-CN" sz="1800" b="1" dirty="0"/>
              <a:t>(n) </a:t>
            </a:r>
            <a:r>
              <a:rPr lang="en-US" altLang="zh-CN" sz="1800" b="1"/>
              <a:t>= “</a:t>
            </a:r>
            <a:r>
              <a:rPr lang="zh-CN" altLang="en-US" sz="1800" b="1"/>
              <a:t>不在位”的將牌數</a:t>
            </a:r>
          </a:p>
          <a:p>
            <a:pPr lvl="1" eaLnBrk="1" hangingPunct="1"/>
            <a:r>
              <a:rPr lang="en-US" altLang="zh-CN" sz="1800" b="1"/>
              <a:t>h</a:t>
            </a:r>
            <a:r>
              <a:rPr lang="en-US" altLang="zh-CN" sz="1800" b="1" baseline="-25000"/>
              <a:t>2</a:t>
            </a:r>
            <a:r>
              <a:rPr lang="en-US" altLang="zh-CN" sz="1800" b="1" dirty="0"/>
              <a:t>(n) </a:t>
            </a:r>
            <a:r>
              <a:rPr lang="en-US" altLang="zh-CN" sz="1800" b="1"/>
              <a:t>= </a:t>
            </a:r>
            <a:r>
              <a:rPr lang="zh-CN" altLang="zh-CN" sz="1800" b="1"/>
              <a:t>將牌“不在位”的距離和</a:t>
            </a:r>
            <a:endParaRPr lang="zh-CN" altLang="en-US" sz="1800" b="1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練習題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sz="3200"/>
              <a:t>對於</a:t>
            </a:r>
            <a:r>
              <a:rPr lang="en-US" altLang="zh-CN" sz="3200"/>
              <a:t>8</a:t>
            </a:r>
            <a:r>
              <a:rPr lang="zh-CN" altLang="en-US" sz="3200"/>
              <a:t>數碼問題，假設移動一個將牌的耗散值為將牌號碼，請使用</a:t>
            </a:r>
            <a:r>
              <a:rPr lang="en-US" altLang="zh-CN" sz="3200"/>
              <a:t>A</a:t>
            </a:r>
            <a:r>
              <a:rPr lang="zh-CN" altLang="en-US" sz="3200"/>
              <a:t>*演算法求解該問題。（手工演算、程式設計實現）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304005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8F0654D-BC70-4395-9C49-82A16E122667}" type="slidenum">
              <a:rPr lang="en-US" altLang="zh-CN" smtClean="0">
                <a:ea typeface="黑体" pitchFamily="49" charset="-122"/>
              </a:rPr>
              <a:pPr/>
              <a:t>61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1.4.3</a:t>
            </a:r>
            <a:r>
              <a:rPr lang="zh-CN" altLang="en-US" dirty="0"/>
              <a:t> </a:t>
            </a:r>
            <a:r>
              <a:rPr lang="en-US" altLang="zh-CN"/>
              <a:t>A*</a:t>
            </a:r>
            <a:r>
              <a:rPr lang="zh-CN" altLang="en-US"/>
              <a:t>演算法的改進</a:t>
            </a:r>
            <a:endParaRPr lang="zh-CN" altLang="en-US" dirty="0"/>
          </a:p>
        </p:txBody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815152"/>
            <a:ext cx="7772400" cy="4204648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3200" b="1"/>
              <a:t>問題的提出：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3200" b="1" dirty="0"/>
              <a:t>	</a:t>
            </a:r>
            <a:r>
              <a:rPr lang="zh-CN" altLang="en-US" sz="3200" b="1"/>
              <a:t>因</a:t>
            </a:r>
            <a:r>
              <a:rPr lang="en-US" altLang="zh-CN" sz="3200" b="1"/>
              <a:t>A</a:t>
            </a:r>
            <a:r>
              <a:rPr lang="zh-CN" altLang="en-US" sz="3200" b="1"/>
              <a:t>演算法對</a:t>
            </a:r>
            <a:r>
              <a:rPr lang="en-US" altLang="zh-CN" sz="3200" b="1"/>
              <a:t>m</a:t>
            </a:r>
            <a:r>
              <a:rPr lang="en-US" altLang="zh-CN" sz="3200" b="1" baseline="-25000"/>
              <a:t>l</a:t>
            </a:r>
            <a:r>
              <a:rPr lang="zh-CN" altLang="en-US" sz="3200" b="1"/>
              <a:t>類節點可能要重新放回到</a:t>
            </a:r>
            <a:r>
              <a:rPr lang="en-US" altLang="zh-CN" sz="3200" b="1"/>
              <a:t>OPEN</a:t>
            </a:r>
            <a:r>
              <a:rPr lang="zh-CN" altLang="en-US" sz="3200" b="1"/>
              <a:t>表中，因此可能會導致多次重複擴展同一個節點，導致搜索效率下降。</a:t>
            </a:r>
            <a:endParaRPr lang="zh-CN" altLang="en-US" sz="32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FEF3F18-AAFB-414A-8062-82866A7FD945}" type="slidenum">
              <a:rPr lang="en-US" altLang="zh-CN" smtClean="0">
                <a:ea typeface="黑体" pitchFamily="49" charset="-122"/>
              </a:rPr>
              <a:pPr/>
              <a:t>62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81923" name="Oval 2"/>
          <p:cNvSpPr>
            <a:spLocks noChangeArrowheads="1"/>
          </p:cNvSpPr>
          <p:nvPr/>
        </p:nvSpPr>
        <p:spPr bwMode="auto">
          <a:xfrm flipH="1">
            <a:off x="1371600" y="1965325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24" name="Oval 3"/>
          <p:cNvSpPr>
            <a:spLocks noChangeArrowheads="1"/>
          </p:cNvSpPr>
          <p:nvPr/>
        </p:nvSpPr>
        <p:spPr bwMode="auto">
          <a:xfrm flipH="1">
            <a:off x="609600" y="2803525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25" name="Oval 4"/>
          <p:cNvSpPr>
            <a:spLocks noChangeArrowheads="1"/>
          </p:cNvSpPr>
          <p:nvPr/>
        </p:nvSpPr>
        <p:spPr bwMode="auto">
          <a:xfrm flipH="1">
            <a:off x="1295400" y="3260725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26" name="Oval 5"/>
          <p:cNvSpPr>
            <a:spLocks noChangeArrowheads="1"/>
          </p:cNvSpPr>
          <p:nvPr/>
        </p:nvSpPr>
        <p:spPr bwMode="auto">
          <a:xfrm flipH="1">
            <a:off x="2057400" y="3641725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27" name="Oval 6"/>
          <p:cNvSpPr>
            <a:spLocks noChangeArrowheads="1"/>
          </p:cNvSpPr>
          <p:nvPr/>
        </p:nvSpPr>
        <p:spPr bwMode="auto">
          <a:xfrm flipH="1">
            <a:off x="990600" y="4784725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28" name="Line 7"/>
          <p:cNvSpPr>
            <a:spLocks noChangeShapeType="1"/>
          </p:cNvSpPr>
          <p:nvPr/>
        </p:nvSpPr>
        <p:spPr bwMode="auto">
          <a:xfrm flipH="1">
            <a:off x="762000" y="2117725"/>
            <a:ext cx="609600" cy="685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29" name="Line 8"/>
          <p:cNvSpPr>
            <a:spLocks noChangeShapeType="1"/>
          </p:cNvSpPr>
          <p:nvPr/>
        </p:nvSpPr>
        <p:spPr bwMode="auto">
          <a:xfrm flipH="1">
            <a:off x="1371600" y="2193925"/>
            <a:ext cx="76200" cy="1066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30" name="Line 9"/>
          <p:cNvSpPr>
            <a:spLocks noChangeShapeType="1"/>
          </p:cNvSpPr>
          <p:nvPr/>
        </p:nvSpPr>
        <p:spPr bwMode="auto">
          <a:xfrm>
            <a:off x="1524000" y="2117725"/>
            <a:ext cx="609600" cy="1524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31" name="Line 10"/>
          <p:cNvSpPr>
            <a:spLocks noChangeShapeType="1"/>
          </p:cNvSpPr>
          <p:nvPr/>
        </p:nvSpPr>
        <p:spPr bwMode="auto">
          <a:xfrm flipH="1">
            <a:off x="1066800" y="3794125"/>
            <a:ext cx="990600" cy="990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32" name="Line 11"/>
          <p:cNvSpPr>
            <a:spLocks noChangeShapeType="1"/>
          </p:cNvSpPr>
          <p:nvPr/>
        </p:nvSpPr>
        <p:spPr bwMode="auto">
          <a:xfrm>
            <a:off x="762000" y="2955925"/>
            <a:ext cx="533400" cy="381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33" name="Line 12"/>
          <p:cNvSpPr>
            <a:spLocks noChangeShapeType="1"/>
          </p:cNvSpPr>
          <p:nvPr/>
        </p:nvSpPr>
        <p:spPr bwMode="auto">
          <a:xfrm>
            <a:off x="1447800" y="3413125"/>
            <a:ext cx="609600" cy="304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34" name="Text Box 13"/>
          <p:cNvSpPr txBox="1">
            <a:spLocks noChangeArrowheads="1"/>
          </p:cNvSpPr>
          <p:nvPr/>
        </p:nvSpPr>
        <p:spPr bwMode="auto">
          <a:xfrm>
            <a:off x="1474713" y="1704330"/>
            <a:ext cx="80342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/>
              <a:t>s(10)</a:t>
            </a:r>
          </a:p>
        </p:txBody>
      </p:sp>
      <p:sp>
        <p:nvSpPr>
          <p:cNvPr id="81935" name="Text Box 14"/>
          <p:cNvSpPr txBox="1">
            <a:spLocks noChangeArrowheads="1"/>
          </p:cNvSpPr>
          <p:nvPr/>
        </p:nvSpPr>
        <p:spPr bwMode="auto">
          <a:xfrm>
            <a:off x="2128664" y="3533130"/>
            <a:ext cx="75533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/>
              <a:t>A(1)</a:t>
            </a:r>
          </a:p>
        </p:txBody>
      </p:sp>
      <p:sp>
        <p:nvSpPr>
          <p:cNvPr id="81936" name="Text Box 15"/>
          <p:cNvSpPr txBox="1">
            <a:spLocks noChangeArrowheads="1"/>
          </p:cNvSpPr>
          <p:nvPr/>
        </p:nvSpPr>
        <p:spPr bwMode="auto">
          <a:xfrm>
            <a:off x="968456" y="3392151"/>
            <a:ext cx="73930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/>
              <a:t>B(5)</a:t>
            </a:r>
          </a:p>
        </p:txBody>
      </p:sp>
      <p:sp>
        <p:nvSpPr>
          <p:cNvPr id="81937" name="Text Box 16"/>
          <p:cNvSpPr txBox="1">
            <a:spLocks noChangeArrowheads="1"/>
          </p:cNvSpPr>
          <p:nvPr/>
        </p:nvSpPr>
        <p:spPr bwMode="auto">
          <a:xfrm>
            <a:off x="107392" y="2390130"/>
            <a:ext cx="73930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/>
              <a:t>C(8)</a:t>
            </a:r>
          </a:p>
        </p:txBody>
      </p:sp>
      <p:sp>
        <p:nvSpPr>
          <p:cNvPr id="81938" name="Text Box 17"/>
          <p:cNvSpPr txBox="1">
            <a:spLocks noChangeArrowheads="1"/>
          </p:cNvSpPr>
          <p:nvPr/>
        </p:nvSpPr>
        <p:spPr bwMode="auto">
          <a:xfrm>
            <a:off x="556637" y="5133330"/>
            <a:ext cx="107112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/>
              <a:t>G </a:t>
            </a:r>
            <a:r>
              <a:rPr lang="zh-CN" altLang="en-US" sz="2400" b="1"/>
              <a:t>目標</a:t>
            </a:r>
            <a:endParaRPr lang="zh-CN" altLang="en-US" sz="2400" b="1" dirty="0"/>
          </a:p>
        </p:txBody>
      </p:sp>
      <p:sp>
        <p:nvSpPr>
          <p:cNvPr id="81939" name="Text Box 18"/>
          <p:cNvSpPr txBox="1">
            <a:spLocks noChangeArrowheads="1"/>
          </p:cNvSpPr>
          <p:nvPr/>
        </p:nvSpPr>
        <p:spPr bwMode="auto">
          <a:xfrm>
            <a:off x="1905000" y="2618730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6</a:t>
            </a:r>
            <a:endParaRPr lang="en-US" altLang="zh-CN" sz="2400" b="1" dirty="0"/>
          </a:p>
        </p:txBody>
      </p:sp>
      <p:sp>
        <p:nvSpPr>
          <p:cNvPr id="81940" name="Text Box 19"/>
          <p:cNvSpPr txBox="1">
            <a:spLocks noChangeArrowheads="1"/>
          </p:cNvSpPr>
          <p:nvPr/>
        </p:nvSpPr>
        <p:spPr bwMode="auto">
          <a:xfrm>
            <a:off x="1143000" y="2466330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3</a:t>
            </a:r>
            <a:endParaRPr lang="en-US" altLang="zh-CN" sz="2400" b="1" dirty="0"/>
          </a:p>
        </p:txBody>
      </p:sp>
      <p:sp>
        <p:nvSpPr>
          <p:cNvPr id="81941" name="Text Box 20"/>
          <p:cNvSpPr txBox="1">
            <a:spLocks noChangeArrowheads="1"/>
          </p:cNvSpPr>
          <p:nvPr/>
        </p:nvSpPr>
        <p:spPr bwMode="auto">
          <a:xfrm>
            <a:off x="914400" y="2009130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1</a:t>
            </a:r>
            <a:endParaRPr lang="en-US" altLang="zh-CN" sz="2400" b="1" dirty="0"/>
          </a:p>
        </p:txBody>
      </p:sp>
      <p:sp>
        <p:nvSpPr>
          <p:cNvPr id="81942" name="Text Box 21"/>
          <p:cNvSpPr txBox="1">
            <a:spLocks noChangeArrowheads="1"/>
          </p:cNvSpPr>
          <p:nvPr/>
        </p:nvSpPr>
        <p:spPr bwMode="auto">
          <a:xfrm>
            <a:off x="762000" y="3054322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1</a:t>
            </a:r>
            <a:endParaRPr lang="en-US" altLang="zh-CN" sz="2400" b="1" dirty="0"/>
          </a:p>
        </p:txBody>
      </p:sp>
      <p:sp>
        <p:nvSpPr>
          <p:cNvPr id="81943" name="Text Box 22"/>
          <p:cNvSpPr txBox="1">
            <a:spLocks noChangeArrowheads="1"/>
          </p:cNvSpPr>
          <p:nvPr/>
        </p:nvSpPr>
        <p:spPr bwMode="auto">
          <a:xfrm>
            <a:off x="1600200" y="3152130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1</a:t>
            </a:r>
            <a:endParaRPr lang="en-US" altLang="zh-CN" sz="2400" b="1" dirty="0"/>
          </a:p>
        </p:txBody>
      </p:sp>
      <p:sp>
        <p:nvSpPr>
          <p:cNvPr id="81944" name="Text Box 23"/>
          <p:cNvSpPr txBox="1">
            <a:spLocks noChangeArrowheads="1"/>
          </p:cNvSpPr>
          <p:nvPr/>
        </p:nvSpPr>
        <p:spPr bwMode="auto">
          <a:xfrm>
            <a:off x="1295400" y="3990330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8</a:t>
            </a:r>
            <a:endParaRPr lang="en-US" altLang="zh-CN" sz="2400" b="1" dirty="0"/>
          </a:p>
        </p:txBody>
      </p:sp>
      <p:sp>
        <p:nvSpPr>
          <p:cNvPr id="128025" name="Text Box 25"/>
          <p:cNvSpPr txBox="1">
            <a:spLocks noChangeArrowheads="1"/>
          </p:cNvSpPr>
          <p:nvPr/>
        </p:nvSpPr>
        <p:spPr bwMode="auto">
          <a:xfrm>
            <a:off x="762000" y="652791"/>
            <a:ext cx="198002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/>
              <a:t>一個例子：</a:t>
            </a:r>
            <a:endParaRPr lang="zh-CN" altLang="en-US" sz="2800" b="1" dirty="0"/>
          </a:p>
        </p:txBody>
      </p:sp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3810000" y="1293813"/>
            <a:ext cx="4800600" cy="4421188"/>
            <a:chOff x="2400" y="815"/>
            <a:chExt cx="3024" cy="2785"/>
          </a:xfrm>
        </p:grpSpPr>
        <p:sp>
          <p:nvSpPr>
            <p:cNvPr id="81969" name="Line 26"/>
            <p:cNvSpPr>
              <a:spLocks noChangeShapeType="1"/>
            </p:cNvSpPr>
            <p:nvPr/>
          </p:nvSpPr>
          <p:spPr bwMode="auto">
            <a:xfrm>
              <a:off x="2400" y="1152"/>
              <a:ext cx="30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 b="1"/>
            </a:p>
          </p:txBody>
        </p:sp>
        <p:sp>
          <p:nvSpPr>
            <p:cNvPr id="81970" name="Line 27"/>
            <p:cNvSpPr>
              <a:spLocks noChangeShapeType="1"/>
            </p:cNvSpPr>
            <p:nvPr/>
          </p:nvSpPr>
          <p:spPr bwMode="auto">
            <a:xfrm>
              <a:off x="3696" y="864"/>
              <a:ext cx="0" cy="27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 b="1"/>
            </a:p>
          </p:txBody>
        </p:sp>
        <p:sp>
          <p:nvSpPr>
            <p:cNvPr id="81971" name="Text Box 29"/>
            <p:cNvSpPr txBox="1">
              <a:spLocks noChangeArrowheads="1"/>
            </p:cNvSpPr>
            <p:nvPr/>
          </p:nvSpPr>
          <p:spPr bwMode="auto">
            <a:xfrm>
              <a:off x="2496" y="815"/>
              <a:ext cx="77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/>
                <a:t>OPEN</a:t>
              </a:r>
              <a:r>
                <a:rPr lang="zh-CN" altLang="en-US" sz="2400" b="1" dirty="0"/>
                <a:t>表</a:t>
              </a:r>
            </a:p>
          </p:txBody>
        </p:sp>
        <p:sp>
          <p:nvSpPr>
            <p:cNvPr id="81972" name="Text Box 30"/>
            <p:cNvSpPr txBox="1">
              <a:spLocks noChangeArrowheads="1"/>
            </p:cNvSpPr>
            <p:nvPr/>
          </p:nvSpPr>
          <p:spPr bwMode="auto">
            <a:xfrm>
              <a:off x="3936" y="815"/>
              <a:ext cx="99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/>
                <a:t>CLOSED</a:t>
              </a:r>
              <a:r>
                <a:rPr lang="zh-CN" altLang="en-US" sz="2400" b="1" dirty="0"/>
                <a:t>表</a:t>
              </a:r>
            </a:p>
          </p:txBody>
        </p:sp>
      </p:grpSp>
      <p:sp>
        <p:nvSpPr>
          <p:cNvPr id="128033" name="Text Box 33"/>
          <p:cNvSpPr txBox="1">
            <a:spLocks noChangeArrowheads="1"/>
          </p:cNvSpPr>
          <p:nvPr/>
        </p:nvSpPr>
        <p:spPr bwMode="auto">
          <a:xfrm>
            <a:off x="3581400" y="1902768"/>
            <a:ext cx="8034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/>
              <a:t>s(10)</a:t>
            </a:r>
          </a:p>
        </p:txBody>
      </p:sp>
      <p:sp>
        <p:nvSpPr>
          <p:cNvPr id="128034" name="Text Box 34"/>
          <p:cNvSpPr txBox="1">
            <a:spLocks noChangeArrowheads="1"/>
          </p:cNvSpPr>
          <p:nvPr/>
        </p:nvSpPr>
        <p:spPr bwMode="auto">
          <a:xfrm>
            <a:off x="6019800" y="1902768"/>
            <a:ext cx="8034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/>
              <a:t>s(10)</a:t>
            </a:r>
          </a:p>
        </p:txBody>
      </p:sp>
      <p:sp>
        <p:nvSpPr>
          <p:cNvPr id="128035" name="Text Box 35"/>
          <p:cNvSpPr txBox="1">
            <a:spLocks noChangeArrowheads="1"/>
          </p:cNvSpPr>
          <p:nvPr/>
        </p:nvSpPr>
        <p:spPr bwMode="auto">
          <a:xfrm>
            <a:off x="3581400" y="2359968"/>
            <a:ext cx="200247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/>
              <a:t>A(7) B(8) C(9)</a:t>
            </a:r>
          </a:p>
        </p:txBody>
      </p:sp>
      <p:sp>
        <p:nvSpPr>
          <p:cNvPr id="128036" name="Text Box 36"/>
          <p:cNvSpPr txBox="1">
            <a:spLocks noChangeArrowheads="1"/>
          </p:cNvSpPr>
          <p:nvPr/>
        </p:nvSpPr>
        <p:spPr bwMode="auto">
          <a:xfrm>
            <a:off x="6019800" y="2283768"/>
            <a:ext cx="14430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/>
              <a:t>A(7) s(10)</a:t>
            </a:r>
          </a:p>
        </p:txBody>
      </p:sp>
      <p:sp>
        <p:nvSpPr>
          <p:cNvPr id="128037" name="Text Box 37"/>
          <p:cNvSpPr txBox="1">
            <a:spLocks noChangeArrowheads="1"/>
          </p:cNvSpPr>
          <p:nvPr/>
        </p:nvSpPr>
        <p:spPr bwMode="auto">
          <a:xfrm>
            <a:off x="3581400" y="2817168"/>
            <a:ext cx="214353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/>
              <a:t>B(8) C(9) G(14)</a:t>
            </a:r>
          </a:p>
        </p:txBody>
      </p:sp>
      <p:sp>
        <p:nvSpPr>
          <p:cNvPr id="128038" name="Text Box 38"/>
          <p:cNvSpPr txBox="1">
            <a:spLocks noChangeArrowheads="1"/>
          </p:cNvSpPr>
          <p:nvPr/>
        </p:nvSpPr>
        <p:spPr bwMode="auto">
          <a:xfrm>
            <a:off x="3581400" y="3350568"/>
            <a:ext cx="215956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/>
              <a:t>A(5) C(9) G(14)</a:t>
            </a:r>
          </a:p>
        </p:txBody>
      </p:sp>
      <p:sp>
        <p:nvSpPr>
          <p:cNvPr id="128039" name="Text Box 39"/>
          <p:cNvSpPr txBox="1">
            <a:spLocks noChangeArrowheads="1"/>
          </p:cNvSpPr>
          <p:nvPr/>
        </p:nvSpPr>
        <p:spPr bwMode="auto">
          <a:xfrm>
            <a:off x="3581400" y="3807768"/>
            <a:ext cx="151996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/>
              <a:t>C(9) G(12)</a:t>
            </a:r>
          </a:p>
        </p:txBody>
      </p:sp>
      <p:sp>
        <p:nvSpPr>
          <p:cNvPr id="128040" name="Text Box 40"/>
          <p:cNvSpPr txBox="1">
            <a:spLocks noChangeArrowheads="1"/>
          </p:cNvSpPr>
          <p:nvPr/>
        </p:nvSpPr>
        <p:spPr bwMode="auto">
          <a:xfrm>
            <a:off x="3599934" y="4264968"/>
            <a:ext cx="23166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/>
              <a:t>B(7) G(12) D(14)</a:t>
            </a:r>
          </a:p>
        </p:txBody>
      </p:sp>
      <p:sp>
        <p:nvSpPr>
          <p:cNvPr id="128041" name="Text Box 41"/>
          <p:cNvSpPr txBox="1">
            <a:spLocks noChangeArrowheads="1"/>
          </p:cNvSpPr>
          <p:nvPr/>
        </p:nvSpPr>
        <p:spPr bwMode="auto">
          <a:xfrm>
            <a:off x="3599934" y="4694579"/>
            <a:ext cx="233269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/>
              <a:t>A(4) G(12) D(14)</a:t>
            </a:r>
          </a:p>
        </p:txBody>
      </p:sp>
      <p:sp>
        <p:nvSpPr>
          <p:cNvPr id="128042" name="Text Box 42"/>
          <p:cNvSpPr txBox="1">
            <a:spLocks noChangeArrowheads="1"/>
          </p:cNvSpPr>
          <p:nvPr/>
        </p:nvSpPr>
        <p:spPr bwMode="auto">
          <a:xfrm>
            <a:off x="3608172" y="5255568"/>
            <a:ext cx="16930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/>
              <a:t>G(11) D(14)</a:t>
            </a:r>
          </a:p>
        </p:txBody>
      </p:sp>
      <p:sp>
        <p:nvSpPr>
          <p:cNvPr id="128043" name="Text Box 43"/>
          <p:cNvSpPr txBox="1">
            <a:spLocks noChangeArrowheads="1"/>
          </p:cNvSpPr>
          <p:nvPr/>
        </p:nvSpPr>
        <p:spPr bwMode="auto">
          <a:xfrm>
            <a:off x="6096000" y="2817168"/>
            <a:ext cx="142699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/>
              <a:t>B(8) s(10)</a:t>
            </a:r>
          </a:p>
        </p:txBody>
      </p:sp>
      <p:sp>
        <p:nvSpPr>
          <p:cNvPr id="128044" name="Text Box 44"/>
          <p:cNvSpPr txBox="1">
            <a:spLocks noChangeArrowheads="1"/>
          </p:cNvSpPr>
          <p:nvPr/>
        </p:nvSpPr>
        <p:spPr bwMode="auto">
          <a:xfrm>
            <a:off x="6096000" y="3274368"/>
            <a:ext cx="20665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/>
              <a:t>A(5) B(8) s(10)</a:t>
            </a:r>
          </a:p>
        </p:txBody>
      </p:sp>
      <p:sp>
        <p:nvSpPr>
          <p:cNvPr id="128045" name="Text Box 45"/>
          <p:cNvSpPr txBox="1">
            <a:spLocks noChangeArrowheads="1"/>
          </p:cNvSpPr>
          <p:nvPr/>
        </p:nvSpPr>
        <p:spPr bwMode="auto">
          <a:xfrm>
            <a:off x="6096000" y="3731568"/>
            <a:ext cx="205428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/>
              <a:t>C(9) A(5) s(10)</a:t>
            </a:r>
          </a:p>
        </p:txBody>
      </p:sp>
      <p:sp>
        <p:nvSpPr>
          <p:cNvPr id="128046" name="Text Box 46"/>
          <p:cNvSpPr txBox="1">
            <a:spLocks noChangeArrowheads="1"/>
          </p:cNvSpPr>
          <p:nvPr/>
        </p:nvSpPr>
        <p:spPr bwMode="auto">
          <a:xfrm>
            <a:off x="6096000" y="4188768"/>
            <a:ext cx="205056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/>
              <a:t>B(7) C(9) s(10)</a:t>
            </a:r>
          </a:p>
        </p:txBody>
      </p:sp>
      <p:sp>
        <p:nvSpPr>
          <p:cNvPr id="128047" name="Text Box 47"/>
          <p:cNvSpPr txBox="1">
            <a:spLocks noChangeArrowheads="1"/>
          </p:cNvSpPr>
          <p:nvPr/>
        </p:nvSpPr>
        <p:spPr bwMode="auto">
          <a:xfrm>
            <a:off x="6096000" y="4645968"/>
            <a:ext cx="26901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/>
              <a:t>A(4) B(7) C(9) s(10)</a:t>
            </a:r>
          </a:p>
        </p:txBody>
      </p:sp>
      <p:grpSp>
        <p:nvGrpSpPr>
          <p:cNvPr id="3" name="Group 51"/>
          <p:cNvGrpSpPr>
            <a:grpSpLocks/>
          </p:cNvGrpSpPr>
          <p:nvPr/>
        </p:nvGrpSpPr>
        <p:grpSpPr bwMode="auto">
          <a:xfrm>
            <a:off x="3657600" y="2819400"/>
            <a:ext cx="533400" cy="2286000"/>
            <a:chOff x="1872" y="1776"/>
            <a:chExt cx="336" cy="1440"/>
          </a:xfrm>
        </p:grpSpPr>
        <p:sp>
          <p:nvSpPr>
            <p:cNvPr id="81966" name="Line 48"/>
            <p:cNvSpPr>
              <a:spLocks noChangeShapeType="1"/>
            </p:cNvSpPr>
            <p:nvPr/>
          </p:nvSpPr>
          <p:spPr bwMode="auto">
            <a:xfrm>
              <a:off x="1872" y="1776"/>
              <a:ext cx="288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81967" name="Line 49"/>
            <p:cNvSpPr>
              <a:spLocks noChangeShapeType="1"/>
            </p:cNvSpPr>
            <p:nvPr/>
          </p:nvSpPr>
          <p:spPr bwMode="auto">
            <a:xfrm>
              <a:off x="1872" y="2352"/>
              <a:ext cx="288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81968" name="Line 50"/>
            <p:cNvSpPr>
              <a:spLocks noChangeShapeType="1"/>
            </p:cNvSpPr>
            <p:nvPr/>
          </p:nvSpPr>
          <p:spPr bwMode="auto">
            <a:xfrm>
              <a:off x="1920" y="3216"/>
              <a:ext cx="288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</p:grpSp>
      <p:grpSp>
        <p:nvGrpSpPr>
          <p:cNvPr id="4" name="Group 54"/>
          <p:cNvGrpSpPr>
            <a:grpSpLocks/>
          </p:cNvGrpSpPr>
          <p:nvPr/>
        </p:nvGrpSpPr>
        <p:grpSpPr bwMode="auto">
          <a:xfrm>
            <a:off x="3657600" y="3200400"/>
            <a:ext cx="533400" cy="1524000"/>
            <a:chOff x="1872" y="2016"/>
            <a:chExt cx="336" cy="960"/>
          </a:xfrm>
        </p:grpSpPr>
        <p:sp>
          <p:nvSpPr>
            <p:cNvPr id="81964" name="Line 52"/>
            <p:cNvSpPr>
              <a:spLocks noChangeShapeType="1"/>
            </p:cNvSpPr>
            <p:nvPr/>
          </p:nvSpPr>
          <p:spPr bwMode="auto">
            <a:xfrm>
              <a:off x="1872" y="2016"/>
              <a:ext cx="336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81965" name="Line 53"/>
            <p:cNvSpPr>
              <a:spLocks noChangeShapeType="1"/>
            </p:cNvSpPr>
            <p:nvPr/>
          </p:nvSpPr>
          <p:spPr bwMode="auto">
            <a:xfrm>
              <a:off x="1872" y="2976"/>
              <a:ext cx="336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</p:grpSp>
      <p:sp>
        <p:nvSpPr>
          <p:cNvPr id="53" name="Oval 3"/>
          <p:cNvSpPr>
            <a:spLocks noChangeArrowheads="1"/>
          </p:cNvSpPr>
          <p:nvPr/>
        </p:nvSpPr>
        <p:spPr bwMode="auto">
          <a:xfrm flipH="1">
            <a:off x="611996" y="3916362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" name="Line 11"/>
          <p:cNvSpPr>
            <a:spLocks noChangeShapeType="1"/>
          </p:cNvSpPr>
          <p:nvPr/>
        </p:nvSpPr>
        <p:spPr bwMode="auto">
          <a:xfrm>
            <a:off x="674200" y="2955925"/>
            <a:ext cx="19702" cy="941062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" name="Text Box 14"/>
          <p:cNvSpPr txBox="1">
            <a:spLocks noChangeArrowheads="1"/>
          </p:cNvSpPr>
          <p:nvPr/>
        </p:nvSpPr>
        <p:spPr bwMode="auto">
          <a:xfrm>
            <a:off x="330712" y="4084493"/>
            <a:ext cx="9124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/>
              <a:t>D(12)</a:t>
            </a:r>
          </a:p>
        </p:txBody>
      </p:sp>
      <p:sp>
        <p:nvSpPr>
          <p:cNvPr id="56" name="Text Box 21"/>
          <p:cNvSpPr txBox="1">
            <a:spLocks noChangeArrowheads="1"/>
          </p:cNvSpPr>
          <p:nvPr/>
        </p:nvSpPr>
        <p:spPr bwMode="auto">
          <a:xfrm>
            <a:off x="319607" y="3236267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1</a:t>
            </a:r>
            <a:endParaRPr lang="en-US" altLang="zh-CN" sz="24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33" grpId="0" autoUpdateAnimBg="0"/>
      <p:bldP spid="128034" grpId="0" autoUpdateAnimBg="0"/>
      <p:bldP spid="128035" grpId="0" autoUpdateAnimBg="0"/>
      <p:bldP spid="128036" grpId="0" autoUpdateAnimBg="0"/>
      <p:bldP spid="128037" grpId="0" autoUpdateAnimBg="0"/>
      <p:bldP spid="128038" grpId="0" autoUpdateAnimBg="0"/>
      <p:bldP spid="128039" grpId="0" autoUpdateAnimBg="0"/>
      <p:bldP spid="128040" grpId="0" autoUpdateAnimBg="0"/>
      <p:bldP spid="128041" grpId="0" autoUpdateAnimBg="0"/>
      <p:bldP spid="128042" grpId="0" autoUpdateAnimBg="0"/>
      <p:bldP spid="128043" grpId="0" autoUpdateAnimBg="0"/>
      <p:bldP spid="128044" grpId="0" autoUpdateAnimBg="0"/>
      <p:bldP spid="128045" grpId="0" autoUpdateAnimBg="0"/>
      <p:bldP spid="128046" grpId="0" autoUpdateAnimBg="0"/>
      <p:bldP spid="128047" grpId="0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09174B5-97BD-43ED-8AE5-EC6214D8D91F}" type="slidenum">
              <a:rPr lang="en-US" altLang="zh-CN" smtClean="0">
                <a:ea typeface="黑体" pitchFamily="49" charset="-122"/>
              </a:rPr>
              <a:pPr/>
              <a:t>63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出現多次擴展節點的原因</a:t>
            </a:r>
            <a:endParaRPr lang="zh-CN" altLang="en-US" dirty="0"/>
          </a:p>
        </p:txBody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4476750" cy="4114800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3200" b="1"/>
              <a:t>在前面的擴展中，並沒有找到從初始節點到當前節點的最短路徑，如節點</a:t>
            </a:r>
            <a:r>
              <a:rPr lang="en-US" altLang="zh-CN" sz="3200" b="1"/>
              <a:t>A</a:t>
            </a:r>
            <a:r>
              <a:rPr lang="zh-CN" altLang="en-US" sz="3200" b="1" dirty="0"/>
              <a:t>。</a:t>
            </a:r>
          </a:p>
          <a:p>
            <a:pPr eaLnBrk="1" hangingPunct="1"/>
            <a:endParaRPr lang="zh-CN" altLang="en-US" sz="3200" b="1" dirty="0"/>
          </a:p>
          <a:p>
            <a:pPr eaLnBrk="1" hangingPunct="1"/>
            <a:r>
              <a:rPr lang="zh-CN" altLang="en-US" sz="3200" b="1"/>
              <a:t>問題出在哪了？</a:t>
            </a:r>
            <a:endParaRPr lang="zh-CN" altLang="en-US" sz="3200" b="1" dirty="0"/>
          </a:p>
        </p:txBody>
      </p:sp>
      <p:sp>
        <p:nvSpPr>
          <p:cNvPr id="82949" name="Oval 5"/>
          <p:cNvSpPr>
            <a:spLocks noChangeArrowheads="1"/>
          </p:cNvSpPr>
          <p:nvPr/>
        </p:nvSpPr>
        <p:spPr bwMode="auto">
          <a:xfrm flipH="1">
            <a:off x="6896100" y="2403475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50" name="Oval 6"/>
          <p:cNvSpPr>
            <a:spLocks noChangeArrowheads="1"/>
          </p:cNvSpPr>
          <p:nvPr/>
        </p:nvSpPr>
        <p:spPr bwMode="auto">
          <a:xfrm flipH="1">
            <a:off x="6134100" y="3241675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51" name="Oval 7"/>
          <p:cNvSpPr>
            <a:spLocks noChangeArrowheads="1"/>
          </p:cNvSpPr>
          <p:nvPr/>
        </p:nvSpPr>
        <p:spPr bwMode="auto">
          <a:xfrm flipH="1">
            <a:off x="6819900" y="3698875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52" name="Oval 8"/>
          <p:cNvSpPr>
            <a:spLocks noChangeArrowheads="1"/>
          </p:cNvSpPr>
          <p:nvPr/>
        </p:nvSpPr>
        <p:spPr bwMode="auto">
          <a:xfrm flipH="1">
            <a:off x="7581900" y="4079875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53" name="Oval 9"/>
          <p:cNvSpPr>
            <a:spLocks noChangeArrowheads="1"/>
          </p:cNvSpPr>
          <p:nvPr/>
        </p:nvSpPr>
        <p:spPr bwMode="auto">
          <a:xfrm flipH="1">
            <a:off x="6515100" y="5222875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54" name="Line 10"/>
          <p:cNvSpPr>
            <a:spLocks noChangeShapeType="1"/>
          </p:cNvSpPr>
          <p:nvPr/>
        </p:nvSpPr>
        <p:spPr bwMode="auto">
          <a:xfrm flipH="1">
            <a:off x="6286500" y="2555875"/>
            <a:ext cx="609600" cy="685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55" name="Line 11"/>
          <p:cNvSpPr>
            <a:spLocks noChangeShapeType="1"/>
          </p:cNvSpPr>
          <p:nvPr/>
        </p:nvSpPr>
        <p:spPr bwMode="auto">
          <a:xfrm flipH="1">
            <a:off x="6896100" y="2632075"/>
            <a:ext cx="76200" cy="1066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56" name="Line 12"/>
          <p:cNvSpPr>
            <a:spLocks noChangeShapeType="1"/>
          </p:cNvSpPr>
          <p:nvPr/>
        </p:nvSpPr>
        <p:spPr bwMode="auto">
          <a:xfrm>
            <a:off x="7048500" y="2555875"/>
            <a:ext cx="609600" cy="1524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57" name="Line 13"/>
          <p:cNvSpPr>
            <a:spLocks noChangeShapeType="1"/>
          </p:cNvSpPr>
          <p:nvPr/>
        </p:nvSpPr>
        <p:spPr bwMode="auto">
          <a:xfrm flipH="1">
            <a:off x="6591300" y="4232275"/>
            <a:ext cx="990600" cy="990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58" name="Line 14"/>
          <p:cNvSpPr>
            <a:spLocks noChangeShapeType="1"/>
          </p:cNvSpPr>
          <p:nvPr/>
        </p:nvSpPr>
        <p:spPr bwMode="auto">
          <a:xfrm>
            <a:off x="6286500" y="3394075"/>
            <a:ext cx="533400" cy="381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59" name="Line 15"/>
          <p:cNvSpPr>
            <a:spLocks noChangeShapeType="1"/>
          </p:cNvSpPr>
          <p:nvPr/>
        </p:nvSpPr>
        <p:spPr bwMode="auto">
          <a:xfrm>
            <a:off x="6972300" y="3851275"/>
            <a:ext cx="609600" cy="304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60" name="Text Box 16"/>
          <p:cNvSpPr txBox="1">
            <a:spLocks noChangeArrowheads="1"/>
          </p:cNvSpPr>
          <p:nvPr/>
        </p:nvSpPr>
        <p:spPr bwMode="auto">
          <a:xfrm>
            <a:off x="6999213" y="2142480"/>
            <a:ext cx="80342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/>
              <a:t>s(10)</a:t>
            </a:r>
          </a:p>
        </p:txBody>
      </p:sp>
      <p:sp>
        <p:nvSpPr>
          <p:cNvPr id="82961" name="Text Box 17"/>
          <p:cNvSpPr txBox="1">
            <a:spLocks noChangeArrowheads="1"/>
          </p:cNvSpPr>
          <p:nvPr/>
        </p:nvSpPr>
        <p:spPr bwMode="auto">
          <a:xfrm>
            <a:off x="7639516" y="3971280"/>
            <a:ext cx="75533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/>
              <a:t>A(1)</a:t>
            </a:r>
          </a:p>
        </p:txBody>
      </p:sp>
      <p:sp>
        <p:nvSpPr>
          <p:cNvPr id="82962" name="Text Box 18"/>
          <p:cNvSpPr txBox="1">
            <a:spLocks noChangeArrowheads="1"/>
          </p:cNvSpPr>
          <p:nvPr/>
        </p:nvSpPr>
        <p:spPr bwMode="auto">
          <a:xfrm>
            <a:off x="6506604" y="3830301"/>
            <a:ext cx="73930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/>
              <a:t>B(5)</a:t>
            </a:r>
          </a:p>
        </p:txBody>
      </p:sp>
      <p:sp>
        <p:nvSpPr>
          <p:cNvPr id="82963" name="Text Box 19"/>
          <p:cNvSpPr txBox="1">
            <a:spLocks noChangeArrowheads="1"/>
          </p:cNvSpPr>
          <p:nvPr/>
        </p:nvSpPr>
        <p:spPr bwMode="auto">
          <a:xfrm>
            <a:off x="5631892" y="2828280"/>
            <a:ext cx="73930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/>
              <a:t>C(8)</a:t>
            </a:r>
          </a:p>
        </p:txBody>
      </p:sp>
      <p:sp>
        <p:nvSpPr>
          <p:cNvPr id="82964" name="Text Box 20"/>
          <p:cNvSpPr txBox="1">
            <a:spLocks noChangeArrowheads="1"/>
          </p:cNvSpPr>
          <p:nvPr/>
        </p:nvSpPr>
        <p:spPr bwMode="auto">
          <a:xfrm>
            <a:off x="6081137" y="5571480"/>
            <a:ext cx="107112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/>
              <a:t>G </a:t>
            </a:r>
            <a:r>
              <a:rPr lang="zh-CN" altLang="en-US" sz="2400" b="1"/>
              <a:t>目標</a:t>
            </a:r>
            <a:endParaRPr lang="zh-CN" altLang="en-US" sz="2400" b="1" dirty="0"/>
          </a:p>
        </p:txBody>
      </p:sp>
      <p:sp>
        <p:nvSpPr>
          <p:cNvPr id="82965" name="Text Box 21"/>
          <p:cNvSpPr txBox="1">
            <a:spLocks noChangeArrowheads="1"/>
          </p:cNvSpPr>
          <p:nvPr/>
        </p:nvSpPr>
        <p:spPr bwMode="auto">
          <a:xfrm>
            <a:off x="7429500" y="3056880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6</a:t>
            </a:r>
            <a:endParaRPr lang="en-US" altLang="zh-CN" sz="2400" b="1" dirty="0"/>
          </a:p>
        </p:txBody>
      </p:sp>
      <p:sp>
        <p:nvSpPr>
          <p:cNvPr id="82966" name="Text Box 22"/>
          <p:cNvSpPr txBox="1">
            <a:spLocks noChangeArrowheads="1"/>
          </p:cNvSpPr>
          <p:nvPr/>
        </p:nvSpPr>
        <p:spPr bwMode="auto">
          <a:xfrm>
            <a:off x="6667500" y="2904480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3</a:t>
            </a:r>
            <a:endParaRPr lang="en-US" altLang="zh-CN" sz="2400" b="1" dirty="0"/>
          </a:p>
        </p:txBody>
      </p:sp>
      <p:sp>
        <p:nvSpPr>
          <p:cNvPr id="82967" name="Text Box 23"/>
          <p:cNvSpPr txBox="1">
            <a:spLocks noChangeArrowheads="1"/>
          </p:cNvSpPr>
          <p:nvPr/>
        </p:nvSpPr>
        <p:spPr bwMode="auto">
          <a:xfrm>
            <a:off x="6438900" y="2447280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1</a:t>
            </a:r>
            <a:endParaRPr lang="en-US" altLang="zh-CN" sz="2400" b="1" dirty="0"/>
          </a:p>
        </p:txBody>
      </p:sp>
      <p:sp>
        <p:nvSpPr>
          <p:cNvPr id="82968" name="Text Box 24"/>
          <p:cNvSpPr txBox="1">
            <a:spLocks noChangeArrowheads="1"/>
          </p:cNvSpPr>
          <p:nvPr/>
        </p:nvSpPr>
        <p:spPr bwMode="auto">
          <a:xfrm>
            <a:off x="6272852" y="3465176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1</a:t>
            </a:r>
            <a:endParaRPr lang="en-US" altLang="zh-CN" sz="2400" b="1" dirty="0"/>
          </a:p>
        </p:txBody>
      </p:sp>
      <p:sp>
        <p:nvSpPr>
          <p:cNvPr id="82969" name="Text Box 25"/>
          <p:cNvSpPr txBox="1">
            <a:spLocks noChangeArrowheads="1"/>
          </p:cNvSpPr>
          <p:nvPr/>
        </p:nvSpPr>
        <p:spPr bwMode="auto">
          <a:xfrm>
            <a:off x="7124700" y="3590280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1</a:t>
            </a:r>
            <a:endParaRPr lang="en-US" altLang="zh-CN" sz="2400" b="1" dirty="0"/>
          </a:p>
        </p:txBody>
      </p:sp>
      <p:sp>
        <p:nvSpPr>
          <p:cNvPr id="82970" name="Text Box 26"/>
          <p:cNvSpPr txBox="1">
            <a:spLocks noChangeArrowheads="1"/>
          </p:cNvSpPr>
          <p:nvPr/>
        </p:nvSpPr>
        <p:spPr bwMode="auto">
          <a:xfrm>
            <a:off x="6819900" y="4428480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8</a:t>
            </a:r>
            <a:endParaRPr lang="en-US" altLang="zh-CN" sz="2400" b="1" dirty="0"/>
          </a:p>
        </p:txBody>
      </p:sp>
      <p:sp>
        <p:nvSpPr>
          <p:cNvPr id="27" name="Oval 3"/>
          <p:cNvSpPr>
            <a:spLocks noChangeArrowheads="1"/>
          </p:cNvSpPr>
          <p:nvPr/>
        </p:nvSpPr>
        <p:spPr bwMode="auto">
          <a:xfrm flipH="1">
            <a:off x="6164292" y="4385920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" name="Line 11"/>
          <p:cNvSpPr>
            <a:spLocks noChangeShapeType="1"/>
          </p:cNvSpPr>
          <p:nvPr/>
        </p:nvSpPr>
        <p:spPr bwMode="auto">
          <a:xfrm>
            <a:off x="6226496" y="3425483"/>
            <a:ext cx="19702" cy="941062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Text Box 14"/>
          <p:cNvSpPr txBox="1">
            <a:spLocks noChangeArrowheads="1"/>
          </p:cNvSpPr>
          <p:nvPr/>
        </p:nvSpPr>
        <p:spPr bwMode="auto">
          <a:xfrm>
            <a:off x="5883008" y="4554051"/>
            <a:ext cx="9124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/>
              <a:t>D(12)</a:t>
            </a:r>
          </a:p>
        </p:txBody>
      </p:sp>
      <p:sp>
        <p:nvSpPr>
          <p:cNvPr id="30" name="Text Box 21"/>
          <p:cNvSpPr txBox="1">
            <a:spLocks noChangeArrowheads="1"/>
          </p:cNvSpPr>
          <p:nvPr/>
        </p:nvSpPr>
        <p:spPr bwMode="auto">
          <a:xfrm>
            <a:off x="5871903" y="3705825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1</a:t>
            </a:r>
            <a:endParaRPr lang="en-US" altLang="zh-CN" sz="2400" b="1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2F3694B-1DE9-4B35-BDA2-1EAFD50D190C}" type="slidenum">
              <a:rPr lang="en-US" altLang="zh-CN" smtClean="0">
                <a:ea typeface="黑体" pitchFamily="49" charset="-122"/>
              </a:rPr>
              <a:pPr/>
              <a:t>64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解決的途徑</a:t>
            </a:r>
            <a:endParaRPr lang="zh-CN" altLang="en-US" dirty="0"/>
          </a:p>
        </p:txBody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746912"/>
            <a:ext cx="7772400" cy="4272887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3200" b="1"/>
              <a:t>對</a:t>
            </a:r>
            <a:r>
              <a:rPr lang="en-US" altLang="zh-CN" sz="3200" b="1"/>
              <a:t>h</a:t>
            </a:r>
            <a:r>
              <a:rPr lang="zh-CN" altLang="en-US" sz="3200" b="1" dirty="0"/>
              <a:t>加以限制</a:t>
            </a:r>
          </a:p>
          <a:p>
            <a:pPr lvl="1" eaLnBrk="1" hangingPunct="1"/>
            <a:r>
              <a:rPr lang="zh-CN" altLang="en-US" sz="2800" b="1"/>
              <a:t>能否對</a:t>
            </a:r>
            <a:r>
              <a:rPr lang="en-US" altLang="zh-CN" sz="2800" b="1"/>
              <a:t>h</a:t>
            </a:r>
            <a:r>
              <a:rPr lang="zh-CN" altLang="en-US" sz="2800" b="1"/>
              <a:t>增加適當的限制，使得第一次擴展一個節點時，就找到了從</a:t>
            </a:r>
            <a:r>
              <a:rPr lang="en-US" altLang="zh-CN" sz="2800" b="1"/>
              <a:t>s</a:t>
            </a:r>
            <a:r>
              <a:rPr lang="zh-CN" altLang="en-US" sz="2800" b="1"/>
              <a:t>到該節點的最短路徑。</a:t>
            </a:r>
          </a:p>
          <a:p>
            <a:pPr eaLnBrk="1" hangingPunct="1"/>
            <a:r>
              <a:rPr lang="zh-CN" altLang="en-US" sz="3200" b="1"/>
              <a:t>對演算法加以改進</a:t>
            </a:r>
          </a:p>
          <a:p>
            <a:pPr lvl="1" eaLnBrk="1" hangingPunct="1"/>
            <a:r>
              <a:rPr lang="zh-CN" altLang="en-US" sz="2800" b="1"/>
              <a:t>能否對演算法加以改進，避免或減少節點的多次擴展。</a:t>
            </a:r>
            <a:endParaRPr lang="zh-CN" altLang="en-US" sz="2800" b="1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63BC169-7F44-4BB6-A7EF-20942407EC48}" type="slidenum">
              <a:rPr lang="en-US" altLang="zh-CN" smtClean="0">
                <a:ea typeface="黑体" pitchFamily="49" charset="-122"/>
              </a:rPr>
              <a:pPr/>
              <a:t>65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改進的條件</a:t>
            </a:r>
            <a:endParaRPr lang="zh-CN" altLang="en-US" dirty="0"/>
          </a:p>
        </p:txBody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774208"/>
            <a:ext cx="7772400" cy="4245591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3200" b="1"/>
              <a:t>可採納性不變</a:t>
            </a:r>
          </a:p>
          <a:p>
            <a:pPr eaLnBrk="1" hangingPunct="1"/>
            <a:r>
              <a:rPr lang="zh-CN" altLang="en-US" sz="3200" b="1"/>
              <a:t>不多擴展節點</a:t>
            </a:r>
          </a:p>
          <a:p>
            <a:pPr eaLnBrk="1" hangingPunct="1"/>
            <a:r>
              <a:rPr lang="zh-CN" altLang="en-US" sz="3200" b="1"/>
              <a:t>不增加演算法的複雜性</a:t>
            </a:r>
            <a:endParaRPr lang="zh-CN" altLang="en-US" sz="3200" b="1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9F9CBA-5CB6-46AE-9B25-F22407D37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合理</a:t>
            </a:r>
            <a:r>
              <a:rPr lang="zh-CN" altLang="en-US"/>
              <a:t>的</a:t>
            </a:r>
            <a:r>
              <a:rPr lang="en-US" altLang="zh-CN"/>
              <a:t>h</a:t>
            </a:r>
            <a:r>
              <a:rPr lang="zh-CN" altLang="en-US"/>
              <a:t>函數應該滿足的條件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9726368-B27B-4292-820D-36E7A1B6B8A1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914400" y="1626354"/>
                <a:ext cx="4557137" cy="4572000"/>
              </a:xfrm>
            </p:spPr>
            <p:txBody>
              <a:bodyPr/>
              <a:lstStyle/>
              <a:p>
                <a:r>
                  <a:rPr lang="zh-CN" altLang="en-US"/>
                  <a:t>設</a:t>
                </a:r>
                <a:r>
                  <a:rPr lang="en-US" altLang="zh-CN"/>
                  <a:t>n</a:t>
                </a:r>
                <a:r>
                  <a:rPr lang="en-US" altLang="zh-CN" baseline="-25000"/>
                  <a:t>i</a:t>
                </a:r>
                <a:r>
                  <a:rPr lang="zh-CN" altLang="en-US"/>
                  <a:t>是</a:t>
                </a:r>
                <a:r>
                  <a:rPr lang="en-US" altLang="zh-CN"/>
                  <a:t>n</a:t>
                </a:r>
                <a:r>
                  <a:rPr lang="en-US" altLang="zh-CN" baseline="-25000"/>
                  <a:t>j</a:t>
                </a:r>
                <a:r>
                  <a:rPr lang="zh-CN" altLang="en-US"/>
                  <a:t>的父節點</a:t>
                </a:r>
                <a:endParaRPr lang="en-US" altLang="zh-CN" dirty="0"/>
              </a:p>
              <a:p>
                <a:r>
                  <a:rPr lang="en-US" altLang="zh-CN" dirty="0"/>
                  <a:t>C(</a:t>
                </a:r>
                <a:r>
                  <a:rPr lang="en-US" altLang="zh-CN" dirty="0" err="1"/>
                  <a:t>n</a:t>
                </a:r>
                <a:r>
                  <a:rPr lang="en-US" altLang="zh-CN" baseline="-25000" dirty="0" err="1"/>
                  <a:t>i</a:t>
                </a:r>
                <a:r>
                  <a:rPr lang="en-US" altLang="zh-CN" dirty="0" err="1"/>
                  <a:t>,</a:t>
                </a:r>
                <a:r>
                  <a:rPr lang="en-US" altLang="zh-CN" err="1"/>
                  <a:t>n</a:t>
                </a:r>
                <a:r>
                  <a:rPr lang="en-US" altLang="zh-CN" baseline="-25000" err="1"/>
                  <a:t>j</a:t>
                </a:r>
                <a:r>
                  <a:rPr lang="en-US" altLang="zh-CN"/>
                  <a:t>)</a:t>
                </a:r>
                <a:r>
                  <a:rPr lang="zh-CN" altLang="en-US"/>
                  <a:t>為</a:t>
                </a:r>
                <a:r>
                  <a:rPr lang="en-US" altLang="zh-CN"/>
                  <a:t>n</a:t>
                </a:r>
                <a:r>
                  <a:rPr lang="en-US" altLang="zh-CN" baseline="-25000"/>
                  <a:t>i</a:t>
                </a:r>
                <a:r>
                  <a:rPr lang="zh-CN" altLang="en-US"/>
                  <a:t>、</a:t>
                </a:r>
                <a:r>
                  <a:rPr lang="en-US" altLang="zh-CN"/>
                  <a:t>n</a:t>
                </a:r>
                <a:r>
                  <a:rPr lang="en-US" altLang="zh-CN" baseline="-25000"/>
                  <a:t>j</a:t>
                </a:r>
                <a:r>
                  <a:rPr lang="zh-CN" altLang="en-US"/>
                  <a:t>間的耗散值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/>
                  <a:t>那麼合理的</a:t>
                </a:r>
                <a:r>
                  <a:rPr lang="en-US" altLang="zh-CN"/>
                  <a:t>h</a:t>
                </a:r>
                <a:r>
                  <a:rPr lang="zh-CN" altLang="en-US"/>
                  <a:t>函數應該滿足：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   </a:t>
                </a:r>
                <a:r>
                  <a:rPr lang="zh-CN" altLang="en-US" dirty="0"/>
                  <a:t>即：</a:t>
                </a:r>
                <a:r>
                  <a:rPr lang="en-US" altLang="zh-CN" dirty="0"/>
                  <a:t>     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   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   </a:t>
                </a:r>
                <a:r>
                  <a:rPr lang="en-US" altLang="zh-CN"/>
                  <a:t>h(</a:t>
                </a:r>
                <a:r>
                  <a:rPr lang="zh-CN" altLang="en-US"/>
                  <a:t>目標</a:t>
                </a:r>
                <a:r>
                  <a:rPr lang="en-US" altLang="zh-CN"/>
                  <a:t>)=</a:t>
                </a:r>
                <a:r>
                  <a:rPr lang="en-US" altLang="zh-CN" dirty="0"/>
                  <a:t>0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9726368-B27B-4292-820D-36E7A1B6B8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914400" y="1626354"/>
                <a:ext cx="4557137" cy="4572000"/>
              </a:xfrm>
              <a:blipFill>
                <a:blip r:embed="rId3"/>
                <a:stretch>
                  <a:fillRect t="-2000" r="-254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5">
            <a:extLst>
              <a:ext uri="{FF2B5EF4-FFF2-40B4-BE49-F238E27FC236}">
                <a16:creationId xmlns:a16="http://schemas.microsoft.com/office/drawing/2014/main" id="{8E42EA1F-9636-4357-B80B-0325CB75334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896100" y="2208690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Oval 6">
            <a:extLst>
              <a:ext uri="{FF2B5EF4-FFF2-40B4-BE49-F238E27FC236}">
                <a16:creationId xmlns:a16="http://schemas.microsoft.com/office/drawing/2014/main" id="{E05FF9D4-CD7C-4219-B4BB-86A89C260692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134100" y="3046890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Oval 7">
            <a:extLst>
              <a:ext uri="{FF2B5EF4-FFF2-40B4-BE49-F238E27FC236}">
                <a16:creationId xmlns:a16="http://schemas.microsoft.com/office/drawing/2014/main" id="{61426671-BF95-4887-A462-653E495DBEA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819900" y="3504090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Oval 8">
            <a:extLst>
              <a:ext uri="{FF2B5EF4-FFF2-40B4-BE49-F238E27FC236}">
                <a16:creationId xmlns:a16="http://schemas.microsoft.com/office/drawing/2014/main" id="{28BE9585-6BA7-4D58-A2B8-4737CBF56D7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581900" y="3885090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B2B03037-9756-461A-8430-4A545C12E849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515100" y="5028090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7B46C882-34FA-4D28-B069-296BAAF54F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86500" y="2361090"/>
            <a:ext cx="609600" cy="685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B2493821-BA2D-494B-ADA8-54005379639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96100" y="2437290"/>
            <a:ext cx="76200" cy="1066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6BDD2D80-9370-48F6-8CBD-19750D7FE3BD}"/>
              </a:ext>
            </a:extLst>
          </p:cNvPr>
          <p:cNvSpPr>
            <a:spLocks noChangeShapeType="1"/>
          </p:cNvSpPr>
          <p:nvPr/>
        </p:nvSpPr>
        <p:spPr bwMode="auto">
          <a:xfrm>
            <a:off x="7048500" y="2361090"/>
            <a:ext cx="609600" cy="1524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FADC65D6-A34F-4F52-896A-23E9A4E74D7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91300" y="4037490"/>
            <a:ext cx="990600" cy="990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2C2B136F-42BA-4300-B994-D5F501968574}"/>
              </a:ext>
            </a:extLst>
          </p:cNvPr>
          <p:cNvSpPr>
            <a:spLocks noChangeShapeType="1"/>
          </p:cNvSpPr>
          <p:nvPr/>
        </p:nvSpPr>
        <p:spPr bwMode="auto">
          <a:xfrm>
            <a:off x="6286500" y="3199290"/>
            <a:ext cx="533400" cy="381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Line 15">
            <a:extLst>
              <a:ext uri="{FF2B5EF4-FFF2-40B4-BE49-F238E27FC236}">
                <a16:creationId xmlns:a16="http://schemas.microsoft.com/office/drawing/2014/main" id="{04679292-B830-400A-82BD-6AAAFF166AE6}"/>
              </a:ext>
            </a:extLst>
          </p:cNvPr>
          <p:cNvSpPr>
            <a:spLocks noChangeShapeType="1"/>
          </p:cNvSpPr>
          <p:nvPr/>
        </p:nvSpPr>
        <p:spPr bwMode="auto">
          <a:xfrm>
            <a:off x="6972300" y="3656490"/>
            <a:ext cx="609600" cy="304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Text Box 16">
            <a:extLst>
              <a:ext uri="{FF2B5EF4-FFF2-40B4-BE49-F238E27FC236}">
                <a16:creationId xmlns:a16="http://schemas.microsoft.com/office/drawing/2014/main" id="{0733ACA5-1A6D-415E-B36B-F0777E2730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9213" y="1947695"/>
            <a:ext cx="80342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/>
              <a:t>s(10)</a:t>
            </a:r>
          </a:p>
        </p:txBody>
      </p:sp>
      <p:sp>
        <p:nvSpPr>
          <p:cNvPr id="16" name="Text Box 17">
            <a:extLst>
              <a:ext uri="{FF2B5EF4-FFF2-40B4-BE49-F238E27FC236}">
                <a16:creationId xmlns:a16="http://schemas.microsoft.com/office/drawing/2014/main" id="{7A7CB32C-1F57-411E-A147-743CA93222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9516" y="3776495"/>
            <a:ext cx="75533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/>
              <a:t>A(1)</a:t>
            </a:r>
          </a:p>
        </p:txBody>
      </p:sp>
      <p:sp>
        <p:nvSpPr>
          <p:cNvPr id="17" name="Text Box 18">
            <a:extLst>
              <a:ext uri="{FF2B5EF4-FFF2-40B4-BE49-F238E27FC236}">
                <a16:creationId xmlns:a16="http://schemas.microsoft.com/office/drawing/2014/main" id="{F76B79FD-7874-42FE-974B-8EAD64D05C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6604" y="3635516"/>
            <a:ext cx="73930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/>
              <a:t>B(5)</a:t>
            </a:r>
          </a:p>
        </p:txBody>
      </p:sp>
      <p:sp>
        <p:nvSpPr>
          <p:cNvPr id="18" name="Text Box 19">
            <a:extLst>
              <a:ext uri="{FF2B5EF4-FFF2-40B4-BE49-F238E27FC236}">
                <a16:creationId xmlns:a16="http://schemas.microsoft.com/office/drawing/2014/main" id="{A0AF5B7E-B54D-48A5-991A-4D5B42A386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1892" y="2633495"/>
            <a:ext cx="73930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/>
              <a:t>C(8)</a:t>
            </a:r>
          </a:p>
        </p:txBody>
      </p:sp>
      <p:sp>
        <p:nvSpPr>
          <p:cNvPr id="19" name="Text Box 20">
            <a:extLst>
              <a:ext uri="{FF2B5EF4-FFF2-40B4-BE49-F238E27FC236}">
                <a16:creationId xmlns:a16="http://schemas.microsoft.com/office/drawing/2014/main" id="{E67F0303-3AC5-49FA-B062-08AA1EAA93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1137" y="5376695"/>
            <a:ext cx="107112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/>
              <a:t>G </a:t>
            </a:r>
            <a:r>
              <a:rPr lang="zh-CN" altLang="en-US" sz="2400" b="1"/>
              <a:t>目標</a:t>
            </a:r>
            <a:endParaRPr lang="zh-CN" altLang="en-US" sz="2400" b="1" dirty="0"/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E7F255C5-0C69-42A5-8CA2-3886838EBC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9500" y="2862095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6</a:t>
            </a:r>
            <a:endParaRPr lang="en-US" altLang="zh-CN" sz="2400" b="1" dirty="0"/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B68EA69C-F9C8-418B-B19D-44D722C58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7500" y="2709695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3</a:t>
            </a:r>
            <a:endParaRPr lang="en-US" altLang="zh-CN" sz="2400" b="1" dirty="0"/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185E1806-49F0-4C16-BB03-8EEE8AB720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8900" y="2252495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1</a:t>
            </a:r>
            <a:endParaRPr lang="en-US" altLang="zh-CN" sz="2400" b="1" dirty="0"/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EBCD10C4-CF4C-4903-9D2C-5F0E6B7843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2852" y="3270391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1</a:t>
            </a:r>
            <a:endParaRPr lang="en-US" altLang="zh-CN" sz="2400" b="1" dirty="0"/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5E8A84BB-4AAF-4E83-8EBC-37351D5B6A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4700" y="3395495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1</a:t>
            </a:r>
            <a:endParaRPr lang="en-US" altLang="zh-CN" sz="2400" b="1" dirty="0"/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A4F5A223-5316-4572-97AC-56697E5214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9900" y="4233695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8</a:t>
            </a:r>
            <a:endParaRPr lang="en-US" altLang="zh-CN" sz="2400" b="1" dirty="0"/>
          </a:p>
        </p:txBody>
      </p:sp>
      <p:sp>
        <p:nvSpPr>
          <p:cNvPr id="26" name="Oval 3">
            <a:extLst>
              <a:ext uri="{FF2B5EF4-FFF2-40B4-BE49-F238E27FC236}">
                <a16:creationId xmlns:a16="http://schemas.microsoft.com/office/drawing/2014/main" id="{9A974D7A-625C-432E-B3EC-4B09641D6D4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164292" y="4191135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Line 11">
            <a:extLst>
              <a:ext uri="{FF2B5EF4-FFF2-40B4-BE49-F238E27FC236}">
                <a16:creationId xmlns:a16="http://schemas.microsoft.com/office/drawing/2014/main" id="{979483E9-7E38-4963-A223-B51409D8652B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6496" y="3230698"/>
            <a:ext cx="19702" cy="941062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" name="Text Box 14">
            <a:extLst>
              <a:ext uri="{FF2B5EF4-FFF2-40B4-BE49-F238E27FC236}">
                <a16:creationId xmlns:a16="http://schemas.microsoft.com/office/drawing/2014/main" id="{CAA03DD4-3ABA-45CB-AA62-2A2F1577E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3008" y="4359266"/>
            <a:ext cx="9124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/>
              <a:t>D(12)</a:t>
            </a:r>
          </a:p>
        </p:txBody>
      </p:sp>
      <p:sp>
        <p:nvSpPr>
          <p:cNvPr id="29" name="Text Box 21">
            <a:extLst>
              <a:ext uri="{FF2B5EF4-FFF2-40B4-BE49-F238E27FC236}">
                <a16:creationId xmlns:a16="http://schemas.microsoft.com/office/drawing/2014/main" id="{720CEF01-DB6B-4DF5-88B8-DE43ED9C6D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1903" y="3511040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1</a:t>
            </a:r>
            <a:endParaRPr lang="en-US" altLang="zh-CN" sz="2400" b="1" dirty="0"/>
          </a:p>
        </p:txBody>
      </p:sp>
    </p:spTree>
    <p:extLst>
      <p:ext uri="{BB962C8B-B14F-4D97-AF65-F5344CB8AC3E}">
        <p14:creationId xmlns:p14="http://schemas.microsoft.com/office/powerpoint/2010/main" val="2106671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3CF24F0-E3B9-41BC-9F26-7682632B12C3}" type="slidenum">
              <a:rPr lang="en-US" altLang="zh-CN" smtClean="0">
                <a:ea typeface="黑体" pitchFamily="49" charset="-122"/>
              </a:rPr>
              <a:pPr/>
              <a:t>67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對</a:t>
            </a:r>
            <a:r>
              <a:rPr lang="en-US" altLang="zh-CN"/>
              <a:t>h</a:t>
            </a:r>
            <a:r>
              <a:rPr lang="zh-CN" altLang="en-US" dirty="0"/>
              <a:t>加以限制</a:t>
            </a:r>
          </a:p>
        </p:txBody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7772400" cy="4876800"/>
          </a:xfrm>
        </p:spPr>
        <p:txBody>
          <a:bodyPr/>
          <a:lstStyle/>
          <a:p>
            <a:pPr eaLnBrk="1" hangingPunct="1"/>
            <a:r>
              <a:rPr lang="zh-CN" altLang="en-US" sz="3200" b="1"/>
              <a:t>定義：一個啟發函數</a:t>
            </a:r>
            <a:r>
              <a:rPr lang="en-US" altLang="zh-CN" sz="3200" b="1"/>
              <a:t>h</a:t>
            </a:r>
            <a:r>
              <a:rPr lang="zh-CN" altLang="en-US" sz="3200" b="1"/>
              <a:t>，如果對所有節點</a:t>
            </a:r>
            <a:r>
              <a:rPr lang="en-US" altLang="zh-CN" sz="3200" b="1"/>
              <a:t>n</a:t>
            </a:r>
            <a:r>
              <a:rPr lang="en-US" altLang="zh-CN" sz="3200" b="1" baseline="-25000"/>
              <a:t>i</a:t>
            </a:r>
            <a:r>
              <a:rPr lang="zh-CN" altLang="en-US" sz="3200" b="1" dirty="0"/>
              <a:t>和</a:t>
            </a:r>
            <a:r>
              <a:rPr lang="en-US" altLang="zh-CN" sz="3200" b="1" dirty="0" err="1"/>
              <a:t>n</a:t>
            </a:r>
            <a:r>
              <a:rPr lang="en-US" altLang="zh-CN" sz="3200" b="1" baseline="-25000" dirty="0" err="1"/>
              <a:t>j</a:t>
            </a:r>
            <a:r>
              <a:rPr lang="zh-CN" altLang="en-US" sz="3200" b="1" dirty="0"/>
              <a:t>，其中</a:t>
            </a:r>
            <a:r>
              <a:rPr lang="en-US" altLang="zh-CN" sz="3200" b="1" dirty="0" err="1"/>
              <a:t>n</a:t>
            </a:r>
            <a:r>
              <a:rPr lang="en-US" altLang="zh-CN" sz="3200" b="1" baseline="-25000" dirty="0" err="1"/>
              <a:t>j</a:t>
            </a:r>
            <a:r>
              <a:rPr lang="zh-CN" altLang="en-US" sz="3200" b="1"/>
              <a:t>是</a:t>
            </a:r>
            <a:r>
              <a:rPr lang="en-US" altLang="zh-CN" sz="3200" b="1"/>
              <a:t>n</a:t>
            </a:r>
            <a:r>
              <a:rPr lang="en-US" altLang="zh-CN" sz="3200" b="1" baseline="-25000"/>
              <a:t>i</a:t>
            </a:r>
            <a:r>
              <a:rPr lang="zh-CN" altLang="en-US" sz="3200" b="1"/>
              <a:t>的子節點，滿足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3200" b="1" dirty="0"/>
              <a:t>		</a:t>
            </a:r>
            <a:r>
              <a:rPr lang="en-US" altLang="zh-CN" sz="3200" b="1" dirty="0"/>
              <a:t>h(</a:t>
            </a:r>
            <a:r>
              <a:rPr lang="en-US" altLang="zh-CN" sz="3200" b="1" dirty="0" err="1"/>
              <a:t>n</a:t>
            </a:r>
            <a:r>
              <a:rPr lang="en-US" altLang="zh-CN" sz="3200" b="1" baseline="-25000" dirty="0" err="1"/>
              <a:t>i</a:t>
            </a:r>
            <a:r>
              <a:rPr lang="en-US" altLang="zh-CN" sz="3200" b="1" dirty="0"/>
              <a:t>) - h(</a:t>
            </a:r>
            <a:r>
              <a:rPr lang="en-US" altLang="zh-CN" sz="3200" b="1" dirty="0" err="1"/>
              <a:t>n</a:t>
            </a:r>
            <a:r>
              <a:rPr lang="en-US" altLang="zh-CN" sz="3200" b="1" baseline="-25000" dirty="0" err="1"/>
              <a:t>j</a:t>
            </a:r>
            <a:r>
              <a:rPr lang="en-US" altLang="zh-CN" sz="3200" b="1" dirty="0"/>
              <a:t>) ≤ c(</a:t>
            </a:r>
            <a:r>
              <a:rPr lang="en-US" altLang="zh-CN" sz="3200" b="1" dirty="0" err="1"/>
              <a:t>n</a:t>
            </a:r>
            <a:r>
              <a:rPr lang="en-US" altLang="zh-CN" sz="3200" b="1" baseline="-25000" dirty="0" err="1"/>
              <a:t>i</a:t>
            </a:r>
            <a:r>
              <a:rPr lang="en-US" altLang="zh-CN" sz="3200" b="1" dirty="0"/>
              <a:t>, </a:t>
            </a:r>
            <a:r>
              <a:rPr lang="en-US" altLang="zh-CN" sz="3200" b="1" dirty="0" err="1"/>
              <a:t>n</a:t>
            </a:r>
            <a:r>
              <a:rPr lang="en-US" altLang="zh-CN" sz="3200" b="1" baseline="-25000" dirty="0" err="1"/>
              <a:t>j</a:t>
            </a:r>
            <a:r>
              <a:rPr lang="en-US" altLang="zh-CN" sz="3200" b="1" dirty="0"/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3200" b="1" dirty="0"/>
              <a:t>		h(t) = 0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3200" b="1" dirty="0"/>
              <a:t>	</a:t>
            </a:r>
            <a:r>
              <a:rPr lang="zh-CN" altLang="en-US" sz="3200" b="1" dirty="0"/>
              <a:t>或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3200" b="1" dirty="0"/>
              <a:t>         </a:t>
            </a:r>
            <a:r>
              <a:rPr lang="en-US" altLang="zh-CN" sz="3200" b="1" dirty="0"/>
              <a:t>h(</a:t>
            </a:r>
            <a:r>
              <a:rPr lang="en-US" altLang="zh-CN" sz="3200" b="1" dirty="0" err="1"/>
              <a:t>n</a:t>
            </a:r>
            <a:r>
              <a:rPr lang="en-US" altLang="zh-CN" sz="3200" b="1" baseline="-25000" dirty="0" err="1"/>
              <a:t>i</a:t>
            </a:r>
            <a:r>
              <a:rPr lang="en-US" altLang="zh-CN" sz="3200" b="1" dirty="0"/>
              <a:t>) ≤ c(</a:t>
            </a:r>
            <a:r>
              <a:rPr lang="en-US" altLang="zh-CN" sz="3200" b="1" dirty="0" err="1"/>
              <a:t>n</a:t>
            </a:r>
            <a:r>
              <a:rPr lang="en-US" altLang="zh-CN" sz="3200" b="1" baseline="-25000" dirty="0" err="1"/>
              <a:t>i</a:t>
            </a:r>
            <a:r>
              <a:rPr lang="en-US" altLang="zh-CN" sz="3200" b="1" dirty="0"/>
              <a:t>, </a:t>
            </a:r>
            <a:r>
              <a:rPr lang="en-US" altLang="zh-CN" sz="3200" b="1" dirty="0" err="1"/>
              <a:t>n</a:t>
            </a:r>
            <a:r>
              <a:rPr lang="en-US" altLang="zh-CN" sz="3200" b="1" baseline="-25000" dirty="0" err="1"/>
              <a:t>j</a:t>
            </a:r>
            <a:r>
              <a:rPr lang="en-US" altLang="zh-CN" sz="3200" b="1" dirty="0"/>
              <a:t>) + h(</a:t>
            </a:r>
            <a:r>
              <a:rPr lang="en-US" altLang="zh-CN" sz="3200" b="1" dirty="0" err="1"/>
              <a:t>n</a:t>
            </a:r>
            <a:r>
              <a:rPr lang="en-US" altLang="zh-CN" sz="3200" b="1" baseline="-25000" dirty="0" err="1"/>
              <a:t>j</a:t>
            </a:r>
            <a:r>
              <a:rPr lang="en-US" altLang="zh-CN" sz="3200" b="1" dirty="0"/>
              <a:t>)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3200" b="1" dirty="0"/>
              <a:t>		h(t) = 0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3200" b="1"/>
              <a:t>    </a:t>
            </a:r>
            <a:r>
              <a:rPr lang="zh-CN" altLang="en-US" sz="3200" b="1"/>
              <a:t>則稱</a:t>
            </a:r>
            <a:r>
              <a:rPr lang="en-US" altLang="zh-CN" sz="3200" b="1"/>
              <a:t>h</a:t>
            </a:r>
            <a:r>
              <a:rPr lang="zh-CN" altLang="en-US" sz="3200" b="1"/>
              <a:t>是單調的</a:t>
            </a:r>
            <a:r>
              <a:rPr lang="zh-CN" altLang="en-US" b="1"/>
              <a:t>。</a:t>
            </a:r>
            <a:endParaRPr lang="zh-CN" altLang="en-US" b="1" dirty="0"/>
          </a:p>
        </p:txBody>
      </p:sp>
      <p:sp>
        <p:nvSpPr>
          <p:cNvPr id="86021" name="AutoShape 4"/>
          <p:cNvSpPr>
            <a:spLocks/>
          </p:cNvSpPr>
          <p:nvPr/>
        </p:nvSpPr>
        <p:spPr bwMode="auto">
          <a:xfrm>
            <a:off x="1371600" y="2514600"/>
            <a:ext cx="228600" cy="762000"/>
          </a:xfrm>
          <a:prstGeom prst="leftBrace">
            <a:avLst>
              <a:gd name="adj1" fmla="val 27778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2" name="Oval 5"/>
          <p:cNvSpPr>
            <a:spLocks noChangeArrowheads="1"/>
          </p:cNvSpPr>
          <p:nvPr/>
        </p:nvSpPr>
        <p:spPr bwMode="auto">
          <a:xfrm>
            <a:off x="7185462" y="3429000"/>
            <a:ext cx="152400" cy="1524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3" name="Oval 6"/>
          <p:cNvSpPr>
            <a:spLocks noChangeArrowheads="1"/>
          </p:cNvSpPr>
          <p:nvPr/>
        </p:nvSpPr>
        <p:spPr bwMode="auto">
          <a:xfrm>
            <a:off x="6423462" y="4343400"/>
            <a:ext cx="152400" cy="1524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4" name="Oval 7"/>
          <p:cNvSpPr>
            <a:spLocks noChangeArrowheads="1"/>
          </p:cNvSpPr>
          <p:nvPr/>
        </p:nvSpPr>
        <p:spPr bwMode="auto">
          <a:xfrm>
            <a:off x="8023662" y="5638800"/>
            <a:ext cx="152400" cy="1524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5" name="Line 8"/>
          <p:cNvSpPr>
            <a:spLocks noChangeShapeType="1"/>
          </p:cNvSpPr>
          <p:nvPr/>
        </p:nvSpPr>
        <p:spPr bwMode="auto">
          <a:xfrm flipH="1">
            <a:off x="6575862" y="3581400"/>
            <a:ext cx="609600" cy="762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6" name="Line 9"/>
          <p:cNvSpPr>
            <a:spLocks noChangeShapeType="1"/>
          </p:cNvSpPr>
          <p:nvPr/>
        </p:nvSpPr>
        <p:spPr bwMode="auto">
          <a:xfrm>
            <a:off x="7261662" y="3581400"/>
            <a:ext cx="838200" cy="2057400"/>
          </a:xfrm>
          <a:prstGeom prst="line">
            <a:avLst/>
          </a:prstGeom>
          <a:noFill/>
          <a:ln w="57150" cap="rnd">
            <a:solidFill>
              <a:schemeClr val="tx1"/>
            </a:solidFill>
            <a:prstDash val="sysDot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7" name="Text Box 10"/>
          <p:cNvSpPr txBox="1">
            <a:spLocks noChangeArrowheads="1"/>
          </p:cNvSpPr>
          <p:nvPr/>
        </p:nvSpPr>
        <p:spPr bwMode="auto">
          <a:xfrm>
            <a:off x="7718862" y="4188768"/>
            <a:ext cx="8146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/>
              <a:t>h(</a:t>
            </a:r>
            <a:r>
              <a:rPr lang="en-US" altLang="zh-CN" sz="2400" b="1" dirty="0" err="1"/>
              <a:t>n</a:t>
            </a:r>
            <a:r>
              <a:rPr lang="en-US" altLang="zh-CN" sz="2400" b="1" baseline="-25000" dirty="0" err="1"/>
              <a:t>i</a:t>
            </a:r>
            <a:r>
              <a:rPr lang="en-US" altLang="zh-CN" sz="2400" b="1" dirty="0"/>
              <a:t>)</a:t>
            </a:r>
          </a:p>
        </p:txBody>
      </p:sp>
      <p:sp>
        <p:nvSpPr>
          <p:cNvPr id="86028" name="Line 11"/>
          <p:cNvSpPr>
            <a:spLocks noChangeShapeType="1"/>
          </p:cNvSpPr>
          <p:nvPr/>
        </p:nvSpPr>
        <p:spPr bwMode="auto">
          <a:xfrm>
            <a:off x="6575862" y="4495800"/>
            <a:ext cx="1447800" cy="1143000"/>
          </a:xfrm>
          <a:prstGeom prst="line">
            <a:avLst/>
          </a:prstGeom>
          <a:noFill/>
          <a:ln w="57150" cap="rnd">
            <a:solidFill>
              <a:schemeClr val="tx1"/>
            </a:solidFill>
            <a:prstDash val="sysDot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9" name="Text Box 12"/>
          <p:cNvSpPr txBox="1">
            <a:spLocks noChangeArrowheads="1"/>
          </p:cNvSpPr>
          <p:nvPr/>
        </p:nvSpPr>
        <p:spPr bwMode="auto">
          <a:xfrm>
            <a:off x="7033062" y="2893368"/>
            <a:ext cx="4171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 err="1"/>
              <a:t>n</a:t>
            </a:r>
            <a:r>
              <a:rPr lang="en-US" altLang="zh-CN" sz="2400" b="1" baseline="-25000" dirty="0" err="1"/>
              <a:t>i</a:t>
            </a:r>
            <a:endParaRPr lang="en-US" altLang="zh-CN" sz="2400" b="1" baseline="-25000" dirty="0"/>
          </a:p>
        </p:txBody>
      </p:sp>
      <p:sp>
        <p:nvSpPr>
          <p:cNvPr id="86030" name="Text Box 13"/>
          <p:cNvSpPr txBox="1">
            <a:spLocks noChangeArrowheads="1"/>
          </p:cNvSpPr>
          <p:nvPr/>
        </p:nvSpPr>
        <p:spPr bwMode="auto">
          <a:xfrm>
            <a:off x="5966262" y="4188768"/>
            <a:ext cx="4171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 err="1"/>
              <a:t>n</a:t>
            </a:r>
            <a:r>
              <a:rPr lang="en-US" altLang="zh-CN" sz="2400" b="1" baseline="-25000" dirty="0" err="1"/>
              <a:t>j</a:t>
            </a:r>
            <a:endParaRPr lang="en-US" altLang="zh-CN" sz="2400" b="1" baseline="-25000" dirty="0"/>
          </a:p>
        </p:txBody>
      </p:sp>
      <p:sp>
        <p:nvSpPr>
          <p:cNvPr id="86031" name="Text Box 14"/>
          <p:cNvSpPr txBox="1">
            <a:spLocks noChangeArrowheads="1"/>
          </p:cNvSpPr>
          <p:nvPr/>
        </p:nvSpPr>
        <p:spPr bwMode="auto">
          <a:xfrm>
            <a:off x="6561575" y="5026968"/>
            <a:ext cx="8146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/>
              <a:t>h(</a:t>
            </a:r>
            <a:r>
              <a:rPr lang="en-US" altLang="zh-CN" sz="2400" b="1" dirty="0" err="1"/>
              <a:t>n</a:t>
            </a:r>
            <a:r>
              <a:rPr lang="en-US" altLang="zh-CN" sz="2400" b="1" baseline="-25000" dirty="0" err="1"/>
              <a:t>j</a:t>
            </a:r>
            <a:r>
              <a:rPr lang="en-US" altLang="zh-CN" sz="2400" b="1" dirty="0"/>
              <a:t>)</a:t>
            </a:r>
          </a:p>
        </p:txBody>
      </p:sp>
      <p:sp>
        <p:nvSpPr>
          <p:cNvPr id="86032" name="Text Box 15"/>
          <p:cNvSpPr txBox="1">
            <a:spLocks noChangeArrowheads="1"/>
          </p:cNvSpPr>
          <p:nvPr/>
        </p:nvSpPr>
        <p:spPr bwMode="auto">
          <a:xfrm>
            <a:off x="5890062" y="3579168"/>
            <a:ext cx="109837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/>
              <a:t>c(</a:t>
            </a:r>
            <a:r>
              <a:rPr lang="en-US" altLang="zh-CN" sz="2400" b="1" dirty="0" err="1"/>
              <a:t>n</a:t>
            </a:r>
            <a:r>
              <a:rPr lang="en-US" altLang="zh-CN" sz="2400" b="1" baseline="-25000" dirty="0" err="1"/>
              <a:t>i</a:t>
            </a:r>
            <a:r>
              <a:rPr lang="en-US" altLang="zh-CN" sz="2400" b="1" dirty="0" err="1"/>
              <a:t>,n</a:t>
            </a:r>
            <a:r>
              <a:rPr lang="en-US" altLang="zh-CN" sz="2400" b="1" baseline="-25000" dirty="0" err="1"/>
              <a:t>j</a:t>
            </a:r>
            <a:r>
              <a:rPr lang="en-US" altLang="zh-CN" sz="2400" b="1" dirty="0"/>
              <a:t>)</a:t>
            </a:r>
          </a:p>
        </p:txBody>
      </p:sp>
      <p:sp>
        <p:nvSpPr>
          <p:cNvPr id="86033" name="AutoShape 17"/>
          <p:cNvSpPr>
            <a:spLocks/>
          </p:cNvSpPr>
          <p:nvPr/>
        </p:nvSpPr>
        <p:spPr bwMode="auto">
          <a:xfrm>
            <a:off x="1301750" y="4267200"/>
            <a:ext cx="260350" cy="762000"/>
          </a:xfrm>
          <a:prstGeom prst="leftBrace">
            <a:avLst>
              <a:gd name="adj1" fmla="val 2439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16F366E-40EC-424F-B63A-6E3FB7296CDA}" type="slidenum">
              <a:rPr lang="en-US" altLang="zh-CN" smtClean="0">
                <a:ea typeface="黑体" pitchFamily="49" charset="-122"/>
              </a:rPr>
              <a:pPr/>
              <a:t>68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/>
              <a:t>h</a:t>
            </a:r>
            <a:r>
              <a:rPr lang="zh-CN" altLang="en-US"/>
              <a:t>單調的性質</a:t>
            </a:r>
            <a:endParaRPr lang="zh-CN" altLang="en-US" dirty="0"/>
          </a:p>
        </p:txBody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419600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3200" b="1" dirty="0"/>
              <a:t>定理：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3200" b="1" dirty="0"/>
              <a:t>	若</a:t>
            </a:r>
            <a:r>
              <a:rPr lang="en-US" altLang="zh-CN" sz="3200" b="1" dirty="0"/>
              <a:t>h(</a:t>
            </a:r>
            <a:r>
              <a:rPr lang="en-US" altLang="zh-CN" sz="3200" b="1"/>
              <a:t>n)</a:t>
            </a:r>
            <a:r>
              <a:rPr lang="zh-CN" altLang="en-US" sz="3200" b="1"/>
              <a:t>是單調的，則</a:t>
            </a:r>
            <a:r>
              <a:rPr lang="en-US" altLang="zh-CN" sz="3200" b="1"/>
              <a:t>A*</a:t>
            </a:r>
            <a:r>
              <a:rPr lang="zh-CN" altLang="en-US" sz="3200" b="1"/>
              <a:t>擴展了節點</a:t>
            </a:r>
            <a:r>
              <a:rPr lang="en-US" altLang="zh-CN" sz="3200" b="1"/>
              <a:t>n</a:t>
            </a:r>
            <a:r>
              <a:rPr lang="zh-CN" altLang="en-US" sz="3200" b="1" dirty="0"/>
              <a:t>之</a:t>
            </a:r>
            <a:endParaRPr lang="en-US" altLang="zh-CN" sz="3200" b="1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3200" b="1"/>
              <a:t>   </a:t>
            </a:r>
            <a:r>
              <a:rPr lang="zh-CN" altLang="en-US" sz="3200" b="1"/>
              <a:t>後，就已經找到了到達節點</a:t>
            </a:r>
            <a:r>
              <a:rPr lang="en-US" altLang="zh-CN" sz="3200" b="1"/>
              <a:t>n</a:t>
            </a:r>
            <a:r>
              <a:rPr lang="zh-CN" altLang="en-US" sz="3200" b="1"/>
              <a:t>的最佳路徑。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3200" b="1"/>
              <a:t>	即：當</a:t>
            </a:r>
            <a:r>
              <a:rPr lang="en-US" altLang="zh-CN" sz="3200" b="1"/>
              <a:t>A*</a:t>
            </a:r>
            <a:r>
              <a:rPr lang="zh-CN" altLang="en-US" sz="3200" b="1"/>
              <a:t>選</a:t>
            </a:r>
            <a:r>
              <a:rPr lang="en-US" altLang="zh-CN" sz="3200" b="1"/>
              <a:t>n</a:t>
            </a:r>
            <a:r>
              <a:rPr lang="zh-CN" altLang="en-US" sz="3200" b="1"/>
              <a:t>擴展時，有</a:t>
            </a:r>
            <a:r>
              <a:rPr lang="en-US" altLang="zh-CN" sz="3200" b="1"/>
              <a:t>g</a:t>
            </a:r>
            <a:r>
              <a:rPr lang="en-US" altLang="zh-CN" sz="3200" b="1" dirty="0"/>
              <a:t>(n)=g*(n)</a:t>
            </a:r>
            <a:r>
              <a:rPr lang="zh-CN" altLang="en-US" sz="3200" b="1" dirty="0"/>
              <a:t>。</a:t>
            </a:r>
            <a:endParaRPr lang="en-US" altLang="zh-CN" sz="3200" b="1" dirty="0"/>
          </a:p>
          <a:p>
            <a:pPr eaLnBrk="1" hangingPunct="1">
              <a:buFont typeface="Wingdings" pitchFamily="2" charset="2"/>
              <a:buNone/>
            </a:pPr>
            <a:endParaRPr lang="en-US" altLang="zh-CN" sz="3200" b="1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FEF3F18-AAFB-414A-8062-82866A7FD945}" type="slidenum">
              <a:rPr lang="en-US" altLang="zh-CN" smtClean="0">
                <a:ea typeface="黑体" pitchFamily="49" charset="-122"/>
              </a:rPr>
              <a:pPr/>
              <a:t>69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81923" name="Oval 2"/>
          <p:cNvSpPr>
            <a:spLocks noChangeArrowheads="1"/>
          </p:cNvSpPr>
          <p:nvPr/>
        </p:nvSpPr>
        <p:spPr bwMode="auto">
          <a:xfrm flipH="1">
            <a:off x="1371600" y="1965325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24" name="Oval 3"/>
          <p:cNvSpPr>
            <a:spLocks noChangeArrowheads="1"/>
          </p:cNvSpPr>
          <p:nvPr/>
        </p:nvSpPr>
        <p:spPr bwMode="auto">
          <a:xfrm flipH="1">
            <a:off x="609600" y="2803525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25" name="Oval 4"/>
          <p:cNvSpPr>
            <a:spLocks noChangeArrowheads="1"/>
          </p:cNvSpPr>
          <p:nvPr/>
        </p:nvSpPr>
        <p:spPr bwMode="auto">
          <a:xfrm flipH="1">
            <a:off x="1295400" y="3260725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26" name="Oval 5"/>
          <p:cNvSpPr>
            <a:spLocks noChangeArrowheads="1"/>
          </p:cNvSpPr>
          <p:nvPr/>
        </p:nvSpPr>
        <p:spPr bwMode="auto">
          <a:xfrm flipH="1">
            <a:off x="2057400" y="3641725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27" name="Oval 6"/>
          <p:cNvSpPr>
            <a:spLocks noChangeArrowheads="1"/>
          </p:cNvSpPr>
          <p:nvPr/>
        </p:nvSpPr>
        <p:spPr bwMode="auto">
          <a:xfrm flipH="1">
            <a:off x="990600" y="4784725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28" name="Line 7"/>
          <p:cNvSpPr>
            <a:spLocks noChangeShapeType="1"/>
          </p:cNvSpPr>
          <p:nvPr/>
        </p:nvSpPr>
        <p:spPr bwMode="auto">
          <a:xfrm flipH="1">
            <a:off x="762000" y="2117725"/>
            <a:ext cx="609600" cy="685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29" name="Line 8"/>
          <p:cNvSpPr>
            <a:spLocks noChangeShapeType="1"/>
          </p:cNvSpPr>
          <p:nvPr/>
        </p:nvSpPr>
        <p:spPr bwMode="auto">
          <a:xfrm flipH="1">
            <a:off x="1371600" y="2193925"/>
            <a:ext cx="76200" cy="1066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30" name="Line 9"/>
          <p:cNvSpPr>
            <a:spLocks noChangeShapeType="1"/>
          </p:cNvSpPr>
          <p:nvPr/>
        </p:nvSpPr>
        <p:spPr bwMode="auto">
          <a:xfrm>
            <a:off x="1524000" y="2117725"/>
            <a:ext cx="609600" cy="1524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31" name="Line 10"/>
          <p:cNvSpPr>
            <a:spLocks noChangeShapeType="1"/>
          </p:cNvSpPr>
          <p:nvPr/>
        </p:nvSpPr>
        <p:spPr bwMode="auto">
          <a:xfrm flipH="1">
            <a:off x="1066800" y="3794125"/>
            <a:ext cx="990600" cy="990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32" name="Line 11"/>
          <p:cNvSpPr>
            <a:spLocks noChangeShapeType="1"/>
          </p:cNvSpPr>
          <p:nvPr/>
        </p:nvSpPr>
        <p:spPr bwMode="auto">
          <a:xfrm>
            <a:off x="762000" y="2955925"/>
            <a:ext cx="533400" cy="381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33" name="Line 12"/>
          <p:cNvSpPr>
            <a:spLocks noChangeShapeType="1"/>
          </p:cNvSpPr>
          <p:nvPr/>
        </p:nvSpPr>
        <p:spPr bwMode="auto">
          <a:xfrm>
            <a:off x="1447800" y="3413125"/>
            <a:ext cx="609600" cy="304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34" name="Text Box 13"/>
          <p:cNvSpPr txBox="1">
            <a:spLocks noChangeArrowheads="1"/>
          </p:cNvSpPr>
          <p:nvPr/>
        </p:nvSpPr>
        <p:spPr bwMode="auto">
          <a:xfrm>
            <a:off x="1545245" y="1704330"/>
            <a:ext cx="66236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/>
              <a:t>s</a:t>
            </a:r>
            <a:r>
              <a:rPr lang="en-US" altLang="zh-CN" sz="2400" b="1" dirty="0">
                <a:solidFill>
                  <a:srgbClr val="2B11EF"/>
                </a:solidFill>
              </a:rPr>
              <a:t>(4)</a:t>
            </a:r>
          </a:p>
        </p:txBody>
      </p:sp>
      <p:sp>
        <p:nvSpPr>
          <p:cNvPr id="81935" name="Text Box 14"/>
          <p:cNvSpPr txBox="1">
            <a:spLocks noChangeArrowheads="1"/>
          </p:cNvSpPr>
          <p:nvPr/>
        </p:nvSpPr>
        <p:spPr bwMode="auto">
          <a:xfrm>
            <a:off x="2128664" y="3533130"/>
            <a:ext cx="75533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/>
              <a:t>A</a:t>
            </a:r>
            <a:r>
              <a:rPr lang="en-US" altLang="zh-CN" sz="2400" b="1" dirty="0">
                <a:solidFill>
                  <a:srgbClr val="2B11EF"/>
                </a:solidFill>
              </a:rPr>
              <a:t>(5)</a:t>
            </a:r>
          </a:p>
        </p:txBody>
      </p:sp>
      <p:sp>
        <p:nvSpPr>
          <p:cNvPr id="81936" name="Text Box 15"/>
          <p:cNvSpPr txBox="1">
            <a:spLocks noChangeArrowheads="1"/>
          </p:cNvSpPr>
          <p:nvPr/>
        </p:nvSpPr>
        <p:spPr bwMode="auto">
          <a:xfrm>
            <a:off x="968456" y="3392151"/>
            <a:ext cx="73930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/>
              <a:t>B(5)</a:t>
            </a:r>
          </a:p>
        </p:txBody>
      </p:sp>
      <p:sp>
        <p:nvSpPr>
          <p:cNvPr id="81937" name="Text Box 16"/>
          <p:cNvSpPr txBox="1">
            <a:spLocks noChangeArrowheads="1"/>
          </p:cNvSpPr>
          <p:nvPr/>
        </p:nvSpPr>
        <p:spPr bwMode="auto">
          <a:xfrm>
            <a:off x="107392" y="2390130"/>
            <a:ext cx="73930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/>
              <a:t>C</a:t>
            </a:r>
            <a:r>
              <a:rPr lang="en-US" altLang="zh-CN" sz="2400" b="1" dirty="0">
                <a:solidFill>
                  <a:srgbClr val="2B11EF"/>
                </a:solidFill>
              </a:rPr>
              <a:t>(4)</a:t>
            </a:r>
          </a:p>
        </p:txBody>
      </p:sp>
      <p:sp>
        <p:nvSpPr>
          <p:cNvPr id="81938" name="Text Box 17"/>
          <p:cNvSpPr txBox="1">
            <a:spLocks noChangeArrowheads="1"/>
          </p:cNvSpPr>
          <p:nvPr/>
        </p:nvSpPr>
        <p:spPr bwMode="auto">
          <a:xfrm>
            <a:off x="556637" y="5133330"/>
            <a:ext cx="107112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/>
              <a:t>G </a:t>
            </a:r>
            <a:r>
              <a:rPr lang="zh-CN" altLang="en-US" sz="2400" b="1"/>
              <a:t>目標</a:t>
            </a:r>
            <a:endParaRPr lang="zh-CN" altLang="en-US" sz="2400" b="1" dirty="0"/>
          </a:p>
        </p:txBody>
      </p:sp>
      <p:sp>
        <p:nvSpPr>
          <p:cNvPr id="81939" name="Text Box 18"/>
          <p:cNvSpPr txBox="1">
            <a:spLocks noChangeArrowheads="1"/>
          </p:cNvSpPr>
          <p:nvPr/>
        </p:nvSpPr>
        <p:spPr bwMode="auto">
          <a:xfrm>
            <a:off x="1905000" y="2618730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6</a:t>
            </a:r>
            <a:endParaRPr lang="en-US" altLang="zh-CN" sz="2400" b="1" dirty="0"/>
          </a:p>
        </p:txBody>
      </p:sp>
      <p:sp>
        <p:nvSpPr>
          <p:cNvPr id="81940" name="Text Box 19"/>
          <p:cNvSpPr txBox="1">
            <a:spLocks noChangeArrowheads="1"/>
          </p:cNvSpPr>
          <p:nvPr/>
        </p:nvSpPr>
        <p:spPr bwMode="auto">
          <a:xfrm>
            <a:off x="1143000" y="2466330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3</a:t>
            </a:r>
            <a:endParaRPr lang="en-US" altLang="zh-CN" sz="2400" b="1" dirty="0"/>
          </a:p>
        </p:txBody>
      </p:sp>
      <p:sp>
        <p:nvSpPr>
          <p:cNvPr id="81941" name="Text Box 20"/>
          <p:cNvSpPr txBox="1">
            <a:spLocks noChangeArrowheads="1"/>
          </p:cNvSpPr>
          <p:nvPr/>
        </p:nvSpPr>
        <p:spPr bwMode="auto">
          <a:xfrm>
            <a:off x="914400" y="2009130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1</a:t>
            </a:r>
            <a:endParaRPr lang="en-US" altLang="zh-CN" sz="2400" b="1" dirty="0"/>
          </a:p>
        </p:txBody>
      </p:sp>
      <p:sp>
        <p:nvSpPr>
          <p:cNvPr id="81942" name="Text Box 21"/>
          <p:cNvSpPr txBox="1">
            <a:spLocks noChangeArrowheads="1"/>
          </p:cNvSpPr>
          <p:nvPr/>
        </p:nvSpPr>
        <p:spPr bwMode="auto">
          <a:xfrm>
            <a:off x="762000" y="3054322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1</a:t>
            </a:r>
            <a:endParaRPr lang="en-US" altLang="zh-CN" sz="2400" b="1" dirty="0"/>
          </a:p>
        </p:txBody>
      </p:sp>
      <p:sp>
        <p:nvSpPr>
          <p:cNvPr id="81943" name="Text Box 22"/>
          <p:cNvSpPr txBox="1">
            <a:spLocks noChangeArrowheads="1"/>
          </p:cNvSpPr>
          <p:nvPr/>
        </p:nvSpPr>
        <p:spPr bwMode="auto">
          <a:xfrm>
            <a:off x="1600200" y="3152130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1</a:t>
            </a:r>
            <a:endParaRPr lang="en-US" altLang="zh-CN" sz="2400" b="1" dirty="0"/>
          </a:p>
        </p:txBody>
      </p:sp>
      <p:sp>
        <p:nvSpPr>
          <p:cNvPr id="81944" name="Text Box 23"/>
          <p:cNvSpPr txBox="1">
            <a:spLocks noChangeArrowheads="1"/>
          </p:cNvSpPr>
          <p:nvPr/>
        </p:nvSpPr>
        <p:spPr bwMode="auto">
          <a:xfrm>
            <a:off x="1295400" y="3990330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8</a:t>
            </a:r>
            <a:endParaRPr lang="en-US" altLang="zh-CN" sz="2400" b="1" dirty="0"/>
          </a:p>
        </p:txBody>
      </p:sp>
      <p:sp>
        <p:nvSpPr>
          <p:cNvPr id="128025" name="Text Box 25"/>
          <p:cNvSpPr txBox="1">
            <a:spLocks noChangeArrowheads="1"/>
          </p:cNvSpPr>
          <p:nvPr/>
        </p:nvSpPr>
        <p:spPr bwMode="auto">
          <a:xfrm>
            <a:off x="762000" y="652791"/>
            <a:ext cx="295305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/>
              <a:t>改進</a:t>
            </a:r>
            <a:r>
              <a:rPr lang="en-US" altLang="zh-CN" sz="2800" b="1"/>
              <a:t>h</a:t>
            </a:r>
            <a:r>
              <a:rPr lang="zh-CN" altLang="en-US" sz="2800" b="1"/>
              <a:t>後的例子：</a:t>
            </a:r>
            <a:endParaRPr lang="zh-CN" altLang="en-US" sz="2800" b="1" dirty="0"/>
          </a:p>
        </p:txBody>
      </p:sp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3810000" y="1293813"/>
            <a:ext cx="4800600" cy="4421188"/>
            <a:chOff x="2400" y="815"/>
            <a:chExt cx="3024" cy="2785"/>
          </a:xfrm>
        </p:grpSpPr>
        <p:sp>
          <p:nvSpPr>
            <p:cNvPr id="81969" name="Line 26"/>
            <p:cNvSpPr>
              <a:spLocks noChangeShapeType="1"/>
            </p:cNvSpPr>
            <p:nvPr/>
          </p:nvSpPr>
          <p:spPr bwMode="auto">
            <a:xfrm>
              <a:off x="2400" y="1152"/>
              <a:ext cx="30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 b="1"/>
            </a:p>
          </p:txBody>
        </p:sp>
        <p:sp>
          <p:nvSpPr>
            <p:cNvPr id="81970" name="Line 27"/>
            <p:cNvSpPr>
              <a:spLocks noChangeShapeType="1"/>
            </p:cNvSpPr>
            <p:nvPr/>
          </p:nvSpPr>
          <p:spPr bwMode="auto">
            <a:xfrm>
              <a:off x="3696" y="864"/>
              <a:ext cx="0" cy="27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 b="1"/>
            </a:p>
          </p:txBody>
        </p:sp>
        <p:sp>
          <p:nvSpPr>
            <p:cNvPr id="81971" name="Text Box 29"/>
            <p:cNvSpPr txBox="1">
              <a:spLocks noChangeArrowheads="1"/>
            </p:cNvSpPr>
            <p:nvPr/>
          </p:nvSpPr>
          <p:spPr bwMode="auto">
            <a:xfrm>
              <a:off x="2496" y="815"/>
              <a:ext cx="77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/>
                <a:t>OPEN</a:t>
              </a:r>
              <a:r>
                <a:rPr lang="zh-CN" altLang="en-US" sz="2400" b="1" dirty="0"/>
                <a:t>表</a:t>
              </a:r>
            </a:p>
          </p:txBody>
        </p:sp>
        <p:sp>
          <p:nvSpPr>
            <p:cNvPr id="81972" name="Text Box 30"/>
            <p:cNvSpPr txBox="1">
              <a:spLocks noChangeArrowheads="1"/>
            </p:cNvSpPr>
            <p:nvPr/>
          </p:nvSpPr>
          <p:spPr bwMode="auto">
            <a:xfrm>
              <a:off x="3936" y="815"/>
              <a:ext cx="99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/>
                <a:t>CLOSED</a:t>
              </a:r>
              <a:r>
                <a:rPr lang="zh-CN" altLang="en-US" sz="2400" b="1" dirty="0"/>
                <a:t>表</a:t>
              </a:r>
            </a:p>
          </p:txBody>
        </p:sp>
      </p:grpSp>
      <p:sp>
        <p:nvSpPr>
          <p:cNvPr id="128033" name="Text Box 33"/>
          <p:cNvSpPr txBox="1">
            <a:spLocks noChangeArrowheads="1"/>
          </p:cNvSpPr>
          <p:nvPr/>
        </p:nvSpPr>
        <p:spPr bwMode="auto">
          <a:xfrm>
            <a:off x="3581400" y="1902768"/>
            <a:ext cx="66236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/>
              <a:t>s(4)</a:t>
            </a:r>
          </a:p>
        </p:txBody>
      </p:sp>
      <p:sp>
        <p:nvSpPr>
          <p:cNvPr id="128034" name="Text Box 34"/>
          <p:cNvSpPr txBox="1">
            <a:spLocks noChangeArrowheads="1"/>
          </p:cNvSpPr>
          <p:nvPr/>
        </p:nvSpPr>
        <p:spPr bwMode="auto">
          <a:xfrm>
            <a:off x="6019800" y="1902768"/>
            <a:ext cx="66236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/>
              <a:t>s(4)</a:t>
            </a:r>
          </a:p>
        </p:txBody>
      </p:sp>
      <p:sp>
        <p:nvSpPr>
          <p:cNvPr id="128035" name="Text Box 35"/>
          <p:cNvSpPr txBox="1">
            <a:spLocks noChangeArrowheads="1"/>
          </p:cNvSpPr>
          <p:nvPr/>
        </p:nvSpPr>
        <p:spPr bwMode="auto">
          <a:xfrm>
            <a:off x="3581400" y="2359968"/>
            <a:ext cx="21312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/>
              <a:t>C(5) B(8) A(11)</a:t>
            </a:r>
          </a:p>
        </p:txBody>
      </p:sp>
      <p:sp>
        <p:nvSpPr>
          <p:cNvPr id="128036" name="Text Box 36"/>
          <p:cNvSpPr txBox="1">
            <a:spLocks noChangeArrowheads="1"/>
          </p:cNvSpPr>
          <p:nvPr/>
        </p:nvSpPr>
        <p:spPr bwMode="auto">
          <a:xfrm>
            <a:off x="6019800" y="2361258"/>
            <a:ext cx="12859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/>
              <a:t>C(5) s(4)</a:t>
            </a:r>
          </a:p>
        </p:txBody>
      </p:sp>
      <p:sp>
        <p:nvSpPr>
          <p:cNvPr id="128037" name="Text Box 37"/>
          <p:cNvSpPr txBox="1">
            <a:spLocks noChangeArrowheads="1"/>
          </p:cNvSpPr>
          <p:nvPr/>
        </p:nvSpPr>
        <p:spPr bwMode="auto">
          <a:xfrm>
            <a:off x="3581400" y="2817168"/>
            <a:ext cx="230434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/>
              <a:t>B(7) A(11)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D(14)</a:t>
            </a:r>
          </a:p>
        </p:txBody>
      </p:sp>
      <p:sp>
        <p:nvSpPr>
          <p:cNvPr id="128038" name="Text Box 38"/>
          <p:cNvSpPr txBox="1">
            <a:spLocks noChangeArrowheads="1"/>
          </p:cNvSpPr>
          <p:nvPr/>
        </p:nvSpPr>
        <p:spPr bwMode="auto">
          <a:xfrm>
            <a:off x="3581400" y="3350568"/>
            <a:ext cx="15520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/>
              <a:t>A(8)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D(14)</a:t>
            </a:r>
          </a:p>
        </p:txBody>
      </p:sp>
      <p:sp>
        <p:nvSpPr>
          <p:cNvPr id="128039" name="Text Box 39"/>
          <p:cNvSpPr txBox="1">
            <a:spLocks noChangeArrowheads="1"/>
          </p:cNvSpPr>
          <p:nvPr/>
        </p:nvSpPr>
        <p:spPr bwMode="auto">
          <a:xfrm>
            <a:off x="3581400" y="3807768"/>
            <a:ext cx="16930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/>
              <a:t>G(11)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D(14)</a:t>
            </a:r>
          </a:p>
        </p:txBody>
      </p:sp>
      <p:sp>
        <p:nvSpPr>
          <p:cNvPr id="128043" name="Text Box 43"/>
          <p:cNvSpPr txBox="1">
            <a:spLocks noChangeArrowheads="1"/>
          </p:cNvSpPr>
          <p:nvPr/>
        </p:nvSpPr>
        <p:spPr bwMode="auto">
          <a:xfrm>
            <a:off x="6049506" y="2817168"/>
            <a:ext cx="190949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/>
              <a:t>B(7) C(5)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s(4)</a:t>
            </a:r>
          </a:p>
        </p:txBody>
      </p:sp>
      <p:sp>
        <p:nvSpPr>
          <p:cNvPr id="128044" name="Text Box 44"/>
          <p:cNvSpPr txBox="1">
            <a:spLocks noChangeArrowheads="1"/>
          </p:cNvSpPr>
          <p:nvPr/>
        </p:nvSpPr>
        <p:spPr bwMode="auto">
          <a:xfrm>
            <a:off x="6065004" y="3320862"/>
            <a:ext cx="25490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/>
              <a:t>A(8)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B(7) C(5) s(4)</a:t>
            </a:r>
          </a:p>
        </p:txBody>
      </p:sp>
      <p:sp>
        <p:nvSpPr>
          <p:cNvPr id="81966" name="Line 48"/>
          <p:cNvSpPr>
            <a:spLocks noChangeShapeType="1"/>
          </p:cNvSpPr>
          <p:nvPr/>
        </p:nvSpPr>
        <p:spPr bwMode="auto">
          <a:xfrm>
            <a:off x="3683980" y="2817733"/>
            <a:ext cx="4572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81967" name="Line 49"/>
          <p:cNvSpPr>
            <a:spLocks noChangeShapeType="1"/>
          </p:cNvSpPr>
          <p:nvPr/>
        </p:nvSpPr>
        <p:spPr bwMode="auto">
          <a:xfrm>
            <a:off x="3683980" y="3807768"/>
            <a:ext cx="4572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81968" name="Line 50"/>
          <p:cNvSpPr>
            <a:spLocks noChangeShapeType="1"/>
          </p:cNvSpPr>
          <p:nvPr/>
        </p:nvSpPr>
        <p:spPr bwMode="auto">
          <a:xfrm>
            <a:off x="3671614" y="4315325"/>
            <a:ext cx="6858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81964" name="Line 52"/>
          <p:cNvSpPr>
            <a:spLocks noChangeShapeType="1"/>
          </p:cNvSpPr>
          <p:nvPr/>
        </p:nvSpPr>
        <p:spPr bwMode="auto">
          <a:xfrm>
            <a:off x="3683980" y="3271930"/>
            <a:ext cx="5334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53" name="Oval 3"/>
          <p:cNvSpPr>
            <a:spLocks noChangeArrowheads="1"/>
          </p:cNvSpPr>
          <p:nvPr/>
        </p:nvSpPr>
        <p:spPr bwMode="auto">
          <a:xfrm flipH="1">
            <a:off x="611996" y="3916362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" name="Line 11"/>
          <p:cNvSpPr>
            <a:spLocks noChangeShapeType="1"/>
          </p:cNvSpPr>
          <p:nvPr/>
        </p:nvSpPr>
        <p:spPr bwMode="auto">
          <a:xfrm>
            <a:off x="674200" y="2955925"/>
            <a:ext cx="19702" cy="941062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" name="Text Box 14"/>
          <p:cNvSpPr txBox="1">
            <a:spLocks noChangeArrowheads="1"/>
          </p:cNvSpPr>
          <p:nvPr/>
        </p:nvSpPr>
        <p:spPr bwMode="auto">
          <a:xfrm>
            <a:off x="330712" y="4084493"/>
            <a:ext cx="9124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/>
              <a:t>D(12)</a:t>
            </a:r>
          </a:p>
        </p:txBody>
      </p:sp>
      <p:sp>
        <p:nvSpPr>
          <p:cNvPr id="56" name="Text Box 21"/>
          <p:cNvSpPr txBox="1">
            <a:spLocks noChangeArrowheads="1"/>
          </p:cNvSpPr>
          <p:nvPr/>
        </p:nvSpPr>
        <p:spPr bwMode="auto">
          <a:xfrm>
            <a:off x="319607" y="3236267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1</a:t>
            </a:r>
            <a:endParaRPr lang="en-US" altLang="zh-CN" sz="2400" b="1" dirty="0"/>
          </a:p>
        </p:txBody>
      </p:sp>
    </p:spTree>
    <p:extLst>
      <p:ext uri="{BB962C8B-B14F-4D97-AF65-F5344CB8AC3E}">
        <p14:creationId xmlns:p14="http://schemas.microsoft.com/office/powerpoint/2010/main" val="1432078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33" grpId="0" autoUpdateAnimBg="0"/>
      <p:bldP spid="128034" grpId="0" autoUpdateAnimBg="0"/>
      <p:bldP spid="128035" grpId="0" autoUpdateAnimBg="0"/>
      <p:bldP spid="128036" grpId="0" autoUpdateAnimBg="0"/>
      <p:bldP spid="128037" grpId="0" autoUpdateAnimBg="0"/>
      <p:bldP spid="128038" grpId="0" autoUpdateAnimBg="0"/>
      <p:bldP spid="128039" grpId="0" autoUpdateAnimBg="0"/>
      <p:bldP spid="128043" grpId="0" autoUpdateAnimBg="0"/>
      <p:bldP spid="128044" grpId="0" autoUpdateAnimBg="0"/>
      <p:bldP spid="81966" grpId="0" animBg="1"/>
      <p:bldP spid="81967" grpId="0" animBg="1"/>
      <p:bldP spid="81968" grpId="0" animBg="1"/>
      <p:bldP spid="81964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sz="2800" b="1"/>
              <a:t>思考題：</a:t>
            </a:r>
            <a:endParaRPr lang="en-US" altLang="zh-CN" sz="2800" b="1" dirty="0"/>
          </a:p>
          <a:p>
            <a:pPr marL="0" indent="0">
              <a:buNone/>
            </a:pPr>
            <a:r>
              <a:rPr lang="en-US" altLang="zh-CN" sz="2800" b="1" dirty="0"/>
              <a:t>h(</a:t>
            </a:r>
            <a:r>
              <a:rPr lang="en-US" altLang="zh-CN" sz="2800" b="1"/>
              <a:t>n)</a:t>
            </a:r>
            <a:r>
              <a:rPr lang="zh-CN" altLang="en-US" sz="2800" b="1"/>
              <a:t>單調與</a:t>
            </a:r>
            <a:r>
              <a:rPr lang="en-US" altLang="zh-CN" sz="2800" b="1"/>
              <a:t>A</a:t>
            </a:r>
            <a:r>
              <a:rPr lang="zh-CN" altLang="en-US" sz="2800" b="1"/>
              <a:t>*條件的關係，即當</a:t>
            </a:r>
            <a:r>
              <a:rPr lang="en-US" altLang="zh-CN" sz="2800" b="1"/>
              <a:t>h</a:t>
            </a:r>
            <a:r>
              <a:rPr lang="en-US" altLang="zh-CN" sz="2800" b="1" dirty="0"/>
              <a:t>(</a:t>
            </a:r>
            <a:r>
              <a:rPr lang="en-US" altLang="zh-CN" sz="2800" b="1"/>
              <a:t>n)</a:t>
            </a:r>
            <a:r>
              <a:rPr lang="zh-CN" altLang="en-US" sz="2800" b="1"/>
              <a:t>滿足單調條件時，是否一定滿足</a:t>
            </a:r>
            <a:r>
              <a:rPr lang="en-US" altLang="zh-CN" sz="2800" b="1"/>
              <a:t>A</a:t>
            </a:r>
            <a:r>
              <a:rPr lang="zh-CN" altLang="en-US" sz="2800" b="1"/>
              <a:t>*條件。</a:t>
            </a:r>
          </a:p>
          <a:p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提示：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/>
              <a:t>利用單調條件，從目標及目標的父節點向上歸納</a:t>
            </a:r>
            <a:endParaRPr lang="en-US" altLang="zh-CN" dirty="0"/>
          </a:p>
          <a:p>
            <a:pPr lvl="1"/>
            <a:r>
              <a:rPr lang="zh-CN" altLang="en-US"/>
              <a:t>結論是滿足單調的</a:t>
            </a:r>
            <a:r>
              <a:rPr lang="en-US" altLang="zh-CN"/>
              <a:t>h</a:t>
            </a:r>
            <a:r>
              <a:rPr lang="zh-CN" altLang="en-US"/>
              <a:t>一定滿足</a:t>
            </a:r>
            <a:r>
              <a:rPr lang="en-US" altLang="zh-CN"/>
              <a:t>A</a:t>
            </a:r>
            <a:r>
              <a:rPr lang="zh-CN" altLang="en-US"/>
              <a:t>*條件。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7730866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2C3FF74-1B7C-4B0B-8F75-1DC8662E93E6}" type="slidenum">
              <a:rPr lang="en-US" altLang="zh-CN" smtClean="0">
                <a:ea typeface="黑体" pitchFamily="49" charset="-122"/>
              </a:rPr>
              <a:pPr/>
              <a:t>71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/>
              <a:t>h</a:t>
            </a:r>
            <a:r>
              <a:rPr lang="zh-CN" altLang="en-US"/>
              <a:t>單調的例子</a:t>
            </a:r>
            <a:endParaRPr lang="zh-CN" altLang="en-US" dirty="0"/>
          </a:p>
        </p:txBody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7772400" cy="48768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CN" sz="3200" b="1"/>
              <a:t>8</a:t>
            </a:r>
            <a:r>
              <a:rPr lang="zh-CN" altLang="en-US" sz="3200" b="1"/>
              <a:t>數碼問題：</a:t>
            </a:r>
          </a:p>
          <a:p>
            <a:pPr lvl="1" eaLnBrk="1" hangingPunct="1">
              <a:buNone/>
            </a:pPr>
            <a:r>
              <a:rPr lang="en-US" altLang="zh-CN" sz="3200" b="1"/>
              <a:t>h</a:t>
            </a:r>
            <a:r>
              <a:rPr lang="zh-CN" altLang="en-US" sz="3200" b="1"/>
              <a:t>為“不在位”的將牌數</a:t>
            </a:r>
          </a:p>
          <a:p>
            <a:pPr lvl="1" eaLnBrk="1" hangingPunct="1">
              <a:buFontTx/>
              <a:buNone/>
            </a:pPr>
            <a:r>
              <a:rPr lang="zh-CN" altLang="en-US" sz="3200" b="1"/>
              <a:t>                                 </a:t>
            </a:r>
            <a:r>
              <a:rPr lang="en-US" altLang="zh-CN" sz="3200" b="1" dirty="0"/>
              <a:t>1</a:t>
            </a:r>
          </a:p>
          <a:p>
            <a:pPr lvl="1" eaLnBrk="1" hangingPunct="1">
              <a:buFontTx/>
              <a:buNone/>
            </a:pPr>
            <a:r>
              <a:rPr lang="en-US" altLang="zh-CN" sz="3200" b="1" dirty="0"/>
              <a:t>	h(</a:t>
            </a:r>
            <a:r>
              <a:rPr lang="en-US" altLang="zh-CN" sz="3200" b="1" dirty="0" err="1"/>
              <a:t>n</a:t>
            </a:r>
            <a:r>
              <a:rPr lang="en-US" altLang="zh-CN" sz="3200" b="1" baseline="-25000" dirty="0" err="1"/>
              <a:t>i</a:t>
            </a:r>
            <a:r>
              <a:rPr lang="en-US" altLang="zh-CN" sz="3200" b="1" dirty="0"/>
              <a:t>) - h(</a:t>
            </a:r>
            <a:r>
              <a:rPr lang="en-US" altLang="zh-CN" sz="3200" b="1" dirty="0" err="1"/>
              <a:t>n</a:t>
            </a:r>
            <a:r>
              <a:rPr lang="en-US" altLang="zh-CN" sz="3200" b="1" baseline="-25000" dirty="0" err="1"/>
              <a:t>j</a:t>
            </a:r>
            <a:r>
              <a:rPr lang="en-US" altLang="zh-CN" sz="3200" b="1" dirty="0"/>
              <a:t>) =     0   </a:t>
            </a:r>
            <a:r>
              <a:rPr lang="en-US" altLang="zh-CN" sz="2800" b="1"/>
              <a:t>(n</a:t>
            </a:r>
            <a:r>
              <a:rPr lang="en-US" altLang="zh-CN" sz="2800" b="1" baseline="-25000"/>
              <a:t>j</a:t>
            </a:r>
            <a:r>
              <a:rPr lang="zh-CN" altLang="zh-CN" sz="2800" b="1"/>
              <a:t>為</a:t>
            </a:r>
            <a:r>
              <a:rPr lang="en-US" altLang="zh-CN" sz="2800" b="1"/>
              <a:t>n</a:t>
            </a:r>
            <a:r>
              <a:rPr lang="en-US" altLang="zh-CN" sz="2800" b="1" baseline="-25000"/>
              <a:t>i</a:t>
            </a:r>
            <a:r>
              <a:rPr lang="zh-CN" altLang="zh-CN" sz="2800" b="1"/>
              <a:t>的後繼節點</a:t>
            </a:r>
            <a:r>
              <a:rPr lang="en-US" altLang="zh-CN" sz="2800" b="1"/>
              <a:t>)</a:t>
            </a:r>
            <a:endParaRPr lang="en-US" altLang="zh-CN" sz="3200" b="1" dirty="0"/>
          </a:p>
          <a:p>
            <a:pPr lvl="1" eaLnBrk="1" hangingPunct="1">
              <a:buFontTx/>
              <a:buNone/>
            </a:pPr>
            <a:r>
              <a:rPr lang="en-US" altLang="zh-CN" sz="3200" b="1" dirty="0"/>
              <a:t>                                -1  </a:t>
            </a:r>
          </a:p>
          <a:p>
            <a:pPr lvl="1" eaLnBrk="1" hangingPunct="1">
              <a:buFontTx/>
              <a:buNone/>
            </a:pPr>
            <a:r>
              <a:rPr lang="en-US" altLang="zh-CN" sz="3200" b="1" dirty="0"/>
              <a:t>	h(t) = 0</a:t>
            </a:r>
          </a:p>
          <a:p>
            <a:pPr lvl="1" eaLnBrk="1" hangingPunct="1">
              <a:buFontTx/>
              <a:buNone/>
            </a:pPr>
            <a:r>
              <a:rPr lang="en-US" altLang="zh-CN" sz="3200" b="1" dirty="0"/>
              <a:t>	c(</a:t>
            </a:r>
            <a:r>
              <a:rPr lang="en-US" altLang="zh-CN" sz="3200" b="1" dirty="0" err="1"/>
              <a:t>n</a:t>
            </a:r>
            <a:r>
              <a:rPr lang="en-US" altLang="zh-CN" sz="3200" b="1" baseline="-25000" dirty="0" err="1"/>
              <a:t>i</a:t>
            </a:r>
            <a:r>
              <a:rPr lang="en-US" altLang="zh-CN" sz="3200" b="1" dirty="0"/>
              <a:t>, </a:t>
            </a:r>
            <a:r>
              <a:rPr lang="en-US" altLang="zh-CN" sz="3200" b="1" dirty="0" err="1"/>
              <a:t>n</a:t>
            </a:r>
            <a:r>
              <a:rPr lang="en-US" altLang="zh-CN" sz="3200" b="1" baseline="-25000" dirty="0" err="1"/>
              <a:t>j</a:t>
            </a:r>
            <a:r>
              <a:rPr lang="en-US" altLang="zh-CN" sz="3200" b="1" dirty="0"/>
              <a:t>) = 1</a:t>
            </a:r>
          </a:p>
          <a:p>
            <a:pPr lvl="1" eaLnBrk="1" hangingPunct="1">
              <a:buFontTx/>
              <a:buNone/>
            </a:pPr>
            <a:endParaRPr lang="en-US" altLang="zh-CN" sz="3200" b="1" dirty="0"/>
          </a:p>
          <a:p>
            <a:pPr lvl="1" eaLnBrk="1" hangingPunct="1">
              <a:buFontTx/>
              <a:buNone/>
            </a:pPr>
            <a:r>
              <a:rPr lang="en-US" altLang="zh-CN" sz="3200" b="1"/>
              <a:t>   </a:t>
            </a:r>
            <a:r>
              <a:rPr lang="zh-CN" altLang="en-US" sz="3200" b="1"/>
              <a:t>滿足單調的條件。</a:t>
            </a:r>
            <a:endParaRPr lang="en-US" altLang="zh-CN" sz="3200" b="1" dirty="0"/>
          </a:p>
          <a:p>
            <a:pPr lvl="1">
              <a:buNone/>
            </a:pPr>
            <a:r>
              <a:rPr lang="zh-CN" altLang="en-US" sz="3200" b="1" dirty="0"/>
              <a:t>   </a:t>
            </a:r>
            <a:r>
              <a:rPr lang="en-US" altLang="zh-CN" sz="3200" b="1" dirty="0"/>
              <a:t>h(</a:t>
            </a:r>
            <a:r>
              <a:rPr lang="en-US" altLang="zh-CN" sz="3200" b="1" dirty="0" err="1"/>
              <a:t>n</a:t>
            </a:r>
            <a:r>
              <a:rPr lang="en-US" altLang="zh-CN" sz="3200" b="1" baseline="-25000" dirty="0" err="1"/>
              <a:t>i</a:t>
            </a:r>
            <a:r>
              <a:rPr lang="en-US" altLang="zh-CN" sz="3200" b="1" dirty="0"/>
              <a:t>) - h(</a:t>
            </a:r>
            <a:r>
              <a:rPr lang="en-US" altLang="zh-CN" sz="3200" b="1" dirty="0" err="1"/>
              <a:t>n</a:t>
            </a:r>
            <a:r>
              <a:rPr lang="en-US" altLang="zh-CN" sz="3200" b="1" baseline="-25000" dirty="0" err="1"/>
              <a:t>j</a:t>
            </a:r>
            <a:r>
              <a:rPr lang="en-US" altLang="zh-CN" sz="3200" b="1" dirty="0"/>
              <a:t>) ≤ c(</a:t>
            </a:r>
            <a:r>
              <a:rPr lang="en-US" altLang="zh-CN" sz="3200" b="1" dirty="0" err="1"/>
              <a:t>n</a:t>
            </a:r>
            <a:r>
              <a:rPr lang="en-US" altLang="zh-CN" sz="3200" b="1" baseline="-25000" dirty="0" err="1"/>
              <a:t>i</a:t>
            </a:r>
            <a:r>
              <a:rPr lang="en-US" altLang="zh-CN" sz="3200" b="1" dirty="0"/>
              <a:t>, </a:t>
            </a:r>
            <a:r>
              <a:rPr lang="en-US" altLang="zh-CN" sz="3200" b="1" dirty="0" err="1"/>
              <a:t>n</a:t>
            </a:r>
            <a:r>
              <a:rPr lang="en-US" altLang="zh-CN" sz="3200" b="1" baseline="-25000" dirty="0" err="1"/>
              <a:t>j</a:t>
            </a:r>
            <a:r>
              <a:rPr lang="en-US" altLang="zh-CN" sz="3200" b="1" dirty="0"/>
              <a:t>)</a:t>
            </a:r>
          </a:p>
          <a:p>
            <a:pPr lvl="1" eaLnBrk="1" hangingPunct="1">
              <a:buFontTx/>
              <a:buNone/>
            </a:pPr>
            <a:r>
              <a:rPr lang="zh-CN" altLang="en-US" sz="3200" dirty="0"/>
              <a:t>	</a:t>
            </a:r>
          </a:p>
        </p:txBody>
      </p:sp>
      <p:sp>
        <p:nvSpPr>
          <p:cNvPr id="88069" name="AutoShape 4"/>
          <p:cNvSpPr>
            <a:spLocks/>
          </p:cNvSpPr>
          <p:nvPr/>
        </p:nvSpPr>
        <p:spPr bwMode="auto">
          <a:xfrm>
            <a:off x="3733800" y="2514600"/>
            <a:ext cx="152400" cy="1143000"/>
          </a:xfrm>
          <a:prstGeom prst="leftBrace">
            <a:avLst>
              <a:gd name="adj1" fmla="val 625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10CC6B6-5F0D-4932-81AC-09AF03725A4C}" type="slidenum">
              <a:rPr lang="en-US" altLang="zh-CN" smtClean="0">
                <a:ea typeface="黑体" pitchFamily="49" charset="-122"/>
              </a:rPr>
              <a:pPr/>
              <a:t>72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對演算法加以改進</a:t>
            </a:r>
            <a:endParaRPr lang="zh-CN" altLang="en-US" dirty="0"/>
          </a:p>
        </p:txBody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883390"/>
            <a:ext cx="7772400" cy="4136409"/>
          </a:xfrm>
        </p:spPr>
        <p:txBody>
          <a:bodyPr/>
          <a:lstStyle/>
          <a:p>
            <a:pPr eaLnBrk="1" hangingPunct="1"/>
            <a:r>
              <a:rPr lang="zh-CN" altLang="en-US" sz="3200" b="1"/>
              <a:t>一些結論：</a:t>
            </a:r>
          </a:p>
          <a:p>
            <a:pPr lvl="1" eaLnBrk="1" hangingPunct="1"/>
            <a:r>
              <a:rPr lang="en-US" altLang="zh-CN" sz="2800" b="1"/>
              <a:t>OPEN</a:t>
            </a:r>
            <a:r>
              <a:rPr lang="zh-CN" altLang="en-US" sz="2800" b="1" dirty="0"/>
              <a:t>表上任以具有</a:t>
            </a:r>
            <a:r>
              <a:rPr lang="en-US" altLang="zh-CN" sz="2800" b="1" dirty="0"/>
              <a:t>f(n) &lt; f*(</a:t>
            </a:r>
            <a:r>
              <a:rPr lang="en-US" altLang="zh-CN" sz="2800" b="1"/>
              <a:t>s)</a:t>
            </a:r>
            <a:r>
              <a:rPr lang="zh-CN" altLang="en-US" sz="2800" b="1"/>
              <a:t>的節點定會被</a:t>
            </a:r>
            <a:r>
              <a:rPr lang="en-US" altLang="zh-CN" sz="2800" b="1"/>
              <a:t>A</a:t>
            </a:r>
            <a:r>
              <a:rPr lang="zh-CN" altLang="en-US" sz="2800" b="1"/>
              <a:t>*擴展。</a:t>
            </a:r>
          </a:p>
          <a:p>
            <a:pPr lvl="1" eaLnBrk="1" hangingPunct="1"/>
            <a:r>
              <a:rPr lang="en-US" altLang="zh-CN" sz="2800" b="1"/>
              <a:t>A*</a:t>
            </a:r>
            <a:r>
              <a:rPr lang="zh-CN" altLang="en-US" sz="2800" b="1"/>
              <a:t>選作擴展的任一節點，定有</a:t>
            </a:r>
            <a:r>
              <a:rPr lang="en-US" altLang="zh-CN" sz="2800" b="1"/>
              <a:t>f</a:t>
            </a:r>
            <a:r>
              <a:rPr lang="en-US" altLang="zh-CN" sz="2800" b="1" dirty="0"/>
              <a:t>(n)≤f*(s)</a:t>
            </a:r>
            <a:r>
              <a:rPr lang="zh-CN" altLang="en-US" sz="2800" b="1" dirty="0"/>
              <a:t>。</a:t>
            </a:r>
          </a:p>
          <a:p>
            <a:pPr lvl="1" eaLnBrk="1" hangingPunct="1"/>
            <a:r>
              <a:rPr lang="zh-CN" altLang="en-US" sz="2800" b="1"/>
              <a:t>當</a:t>
            </a:r>
            <a:r>
              <a:rPr lang="en-US" altLang="zh-CN" sz="2800" b="1"/>
              <a:t>h</a:t>
            </a:r>
            <a:r>
              <a:rPr lang="en-US" altLang="zh-CN" sz="2800" b="1" dirty="0"/>
              <a:t>(</a:t>
            </a:r>
            <a:r>
              <a:rPr lang="en-US" altLang="zh-CN" sz="2800" b="1"/>
              <a:t>n)</a:t>
            </a:r>
            <a:r>
              <a:rPr lang="zh-CN" altLang="en-US" sz="2800" b="1"/>
              <a:t>恒等於</a:t>
            </a:r>
            <a:r>
              <a:rPr lang="en-US" altLang="zh-CN" sz="2800" b="1"/>
              <a:t>0</a:t>
            </a:r>
            <a:r>
              <a:rPr lang="zh-CN" altLang="en-US" sz="2800" b="1"/>
              <a:t>時，</a:t>
            </a:r>
            <a:r>
              <a:rPr lang="en-US" altLang="zh-CN" sz="2800" b="1"/>
              <a:t>h</a:t>
            </a:r>
            <a:r>
              <a:rPr lang="zh-CN" altLang="en-US" sz="2800" b="1"/>
              <a:t>為單調的。</a:t>
            </a:r>
          </a:p>
          <a:p>
            <a:pPr lvl="1" eaLnBrk="1" hangingPunct="1"/>
            <a:endParaRPr lang="en-US" altLang="zh-CN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C9CC2AC-851F-4CE3-B9A5-A2CD5476BEA2}" type="slidenum">
              <a:rPr lang="en-US" altLang="zh-CN" smtClean="0">
                <a:ea typeface="黑体" pitchFamily="49" charset="-122"/>
              </a:rPr>
              <a:pPr/>
              <a:t>73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改進的出發點</a:t>
            </a:r>
            <a:endParaRPr lang="zh-CN" altLang="en-US" dirty="0"/>
          </a:p>
        </p:txBody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489576"/>
            <a:ext cx="7772400" cy="609600"/>
          </a:xfrm>
        </p:spPr>
        <p:txBody>
          <a:bodyPr>
            <a:norm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3200" b="1" dirty="0"/>
              <a:t>OPEN = ( … …    … … )</a:t>
            </a:r>
          </a:p>
        </p:txBody>
      </p:sp>
      <p:sp>
        <p:nvSpPr>
          <p:cNvPr id="90117" name="Line 4"/>
          <p:cNvSpPr>
            <a:spLocks noChangeShapeType="1"/>
          </p:cNvSpPr>
          <p:nvPr/>
        </p:nvSpPr>
        <p:spPr bwMode="auto">
          <a:xfrm>
            <a:off x="3581400" y="2337176"/>
            <a:ext cx="0" cy="1066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18" name="Text Box 5"/>
          <p:cNvSpPr txBox="1">
            <a:spLocks noChangeArrowheads="1"/>
          </p:cNvSpPr>
          <p:nvPr/>
        </p:nvSpPr>
        <p:spPr bwMode="auto">
          <a:xfrm>
            <a:off x="3276600" y="1694567"/>
            <a:ext cx="87395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/>
              <a:t>f*(s)</a:t>
            </a:r>
          </a:p>
        </p:txBody>
      </p:sp>
      <p:sp>
        <p:nvSpPr>
          <p:cNvPr id="90119" name="AutoShape 7"/>
          <p:cNvSpPr>
            <a:spLocks noChangeArrowheads="1"/>
          </p:cNvSpPr>
          <p:nvPr/>
        </p:nvSpPr>
        <p:spPr bwMode="auto">
          <a:xfrm>
            <a:off x="228600" y="3937376"/>
            <a:ext cx="2895600" cy="990600"/>
          </a:xfrm>
          <a:prstGeom prst="wedgeRoundRectCallout">
            <a:avLst>
              <a:gd name="adj1" fmla="val 41778"/>
              <a:gd name="adj2" fmla="val -136537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CN" sz="2400" b="1"/>
              <a:t>f</a:t>
            </a:r>
            <a:r>
              <a:rPr lang="zh-CN" altLang="zh-CN" sz="2400" b="1"/>
              <a:t>值小於</a:t>
            </a:r>
            <a:r>
              <a:rPr lang="en-US" altLang="zh-CN" sz="2400" b="1"/>
              <a:t>f</a:t>
            </a:r>
            <a:r>
              <a:rPr lang="en-US" altLang="zh-CN" sz="2400" b="1" dirty="0"/>
              <a:t>*(</a:t>
            </a:r>
            <a:r>
              <a:rPr lang="en-US" altLang="zh-CN" sz="2400" b="1"/>
              <a:t>s)</a:t>
            </a:r>
            <a:r>
              <a:rPr lang="zh-CN" altLang="zh-CN" sz="2400" b="1"/>
              <a:t>的節點</a:t>
            </a:r>
            <a:endParaRPr lang="zh-CN" altLang="en-US" sz="2400" b="1" dirty="0"/>
          </a:p>
        </p:txBody>
      </p:sp>
      <p:sp>
        <p:nvSpPr>
          <p:cNvPr id="90120" name="AutoShape 8"/>
          <p:cNvSpPr>
            <a:spLocks noChangeArrowheads="1"/>
          </p:cNvSpPr>
          <p:nvPr/>
        </p:nvSpPr>
        <p:spPr bwMode="auto">
          <a:xfrm>
            <a:off x="4572000" y="3937376"/>
            <a:ext cx="3352800" cy="990600"/>
          </a:xfrm>
          <a:prstGeom prst="wedgeRoundRectCallout">
            <a:avLst>
              <a:gd name="adj1" fmla="val -57102"/>
              <a:gd name="adj2" fmla="val -136537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CN" sz="2400" b="1"/>
              <a:t>f</a:t>
            </a:r>
            <a:r>
              <a:rPr lang="zh-CN" altLang="zh-CN" sz="2400" b="1"/>
              <a:t>值大於等於</a:t>
            </a:r>
            <a:r>
              <a:rPr lang="en-US" altLang="zh-CN" sz="2400" b="1"/>
              <a:t>f</a:t>
            </a:r>
            <a:r>
              <a:rPr lang="en-US" altLang="zh-CN" sz="2400" b="1" dirty="0"/>
              <a:t>*(</a:t>
            </a:r>
            <a:r>
              <a:rPr lang="en-US" altLang="zh-CN" sz="2400" b="1"/>
              <a:t>s)</a:t>
            </a:r>
            <a:r>
              <a:rPr lang="zh-CN" altLang="zh-CN" sz="2400" b="1"/>
              <a:t>的節點</a:t>
            </a:r>
            <a:endParaRPr lang="zh-CN" altLang="en-US" sz="2400" b="1" dirty="0"/>
          </a:p>
        </p:txBody>
      </p:sp>
      <p:sp>
        <p:nvSpPr>
          <p:cNvPr id="90121" name="Text Box 9"/>
          <p:cNvSpPr txBox="1">
            <a:spLocks noChangeArrowheads="1"/>
          </p:cNvSpPr>
          <p:nvPr/>
        </p:nvSpPr>
        <p:spPr bwMode="auto">
          <a:xfrm>
            <a:off x="425450" y="5646163"/>
            <a:ext cx="844814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err="1"/>
              <a:t>f</a:t>
            </a:r>
            <a:r>
              <a:rPr lang="en-US" altLang="zh-CN" sz="2800" b="1" baseline="-25000" err="1"/>
              <a:t>m</a:t>
            </a:r>
            <a:r>
              <a:rPr lang="zh-CN" altLang="en-US" sz="2800" b="1"/>
              <a:t>：</a:t>
            </a:r>
            <a:r>
              <a:rPr lang="zh-CN" altLang="zh-CN" sz="2800" b="1"/>
              <a:t>到目前為止已擴展節點的最大</a:t>
            </a:r>
            <a:r>
              <a:rPr lang="en-US" altLang="zh-CN" sz="2800" b="1"/>
              <a:t>f</a:t>
            </a:r>
            <a:r>
              <a:rPr lang="zh-CN" altLang="zh-CN" sz="2800" b="1" dirty="0"/>
              <a:t>值，</a:t>
            </a:r>
            <a:r>
              <a:rPr lang="zh-CN" altLang="en-US" sz="2800" b="1" dirty="0"/>
              <a:t>用</a:t>
            </a:r>
            <a:r>
              <a:rPr lang="en-US" altLang="zh-CN" sz="2800" b="1" dirty="0"/>
              <a:t>f</a:t>
            </a:r>
            <a:r>
              <a:rPr lang="en-US" altLang="zh-CN" sz="2800" b="1" baseline="-25000" dirty="0"/>
              <a:t>m</a:t>
            </a:r>
            <a:r>
              <a:rPr lang="zh-CN" altLang="en-US" sz="2800" b="1" dirty="0"/>
              <a:t>代替</a:t>
            </a:r>
            <a:r>
              <a:rPr lang="en-US" altLang="zh-CN" sz="2800" b="1" dirty="0"/>
              <a:t>f*(s)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21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09E8145-1A4D-4AA4-B320-BB91F35E734B}" type="slidenum">
              <a:rPr lang="en-US" altLang="zh-CN" smtClean="0">
                <a:ea typeface="黑体" pitchFamily="49" charset="-122"/>
              </a:rPr>
              <a:pPr/>
              <a:t>74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85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修正</a:t>
            </a:r>
            <a:r>
              <a:rPr lang="zh-CN" altLang="en-US"/>
              <a:t>的</a:t>
            </a:r>
            <a:r>
              <a:rPr lang="en-US" altLang="zh-CN"/>
              <a:t>A</a:t>
            </a:r>
            <a:r>
              <a:rPr lang="zh-CN" altLang="en-US"/>
              <a:t>*演算法</a:t>
            </a:r>
            <a:endParaRPr lang="zh-CN" altLang="en-US" dirty="0"/>
          </a:p>
        </p:txBody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4904" y="1017887"/>
            <a:ext cx="8534400" cy="5415863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altLang="zh-CN" sz="3500" b="1" dirty="0"/>
              <a:t>Modified-A-algorithm (s</a:t>
            </a:r>
            <a:r>
              <a:rPr lang="en-US" altLang="zh-CN" sz="3500" b="1"/>
              <a:t>)   s</a:t>
            </a:r>
            <a:r>
              <a:rPr lang="zh-CN" altLang="en-US" sz="3500" b="1"/>
              <a:t>為初始節點</a:t>
            </a:r>
            <a:endParaRPr lang="en-US" altLang="zh-CN" sz="3500" b="1" dirty="0"/>
          </a:p>
          <a:p>
            <a:pPr>
              <a:buNone/>
            </a:pPr>
            <a:r>
              <a:rPr lang="en-US" altLang="zh-CN" sz="3500" b="1" dirty="0"/>
              <a:t>OPEN=(s), CLOSED=(), f(s)=g(s)+h(s), </a:t>
            </a:r>
            <a:r>
              <a:rPr lang="en-US" altLang="zh-CN" sz="3500" b="1" dirty="0" err="1">
                <a:solidFill>
                  <a:srgbClr val="FF0000"/>
                </a:solidFill>
              </a:rPr>
              <a:t>f</a:t>
            </a:r>
            <a:r>
              <a:rPr lang="en-US" altLang="zh-CN" sz="3500" b="1" baseline="-25000" dirty="0" err="1">
                <a:solidFill>
                  <a:srgbClr val="FF0000"/>
                </a:solidFill>
              </a:rPr>
              <a:t>m</a:t>
            </a:r>
            <a:r>
              <a:rPr lang="en-US" altLang="zh-CN" sz="3500" b="1" dirty="0">
                <a:solidFill>
                  <a:srgbClr val="FF0000"/>
                </a:solidFill>
              </a:rPr>
              <a:t>=0</a:t>
            </a:r>
            <a:r>
              <a:rPr lang="en-US" altLang="zh-CN" sz="3500" b="1" dirty="0"/>
              <a:t>;</a:t>
            </a:r>
          </a:p>
          <a:p>
            <a:pPr>
              <a:buNone/>
            </a:pPr>
            <a:r>
              <a:rPr lang="en-US" altLang="zh-CN" sz="3500" b="1" dirty="0"/>
              <a:t>while OPEN</a:t>
            </a:r>
            <a:r>
              <a:rPr lang="zh-CN" altLang="en-US" sz="3500" b="1" dirty="0"/>
              <a:t>不空 </a:t>
            </a:r>
            <a:r>
              <a:rPr lang="en-US" altLang="zh-CN" sz="3500" b="1" dirty="0"/>
              <a:t>do</a:t>
            </a:r>
            <a:r>
              <a:rPr lang="zh-CN" altLang="en-US" sz="3500" b="1" dirty="0"/>
              <a:t>：</a:t>
            </a:r>
            <a:endParaRPr lang="en-US" altLang="zh-CN" sz="3500" b="1" dirty="0"/>
          </a:p>
          <a:p>
            <a:pPr>
              <a:buNone/>
            </a:pPr>
            <a:r>
              <a:rPr lang="en-US" altLang="zh-CN" sz="3500" b="1" dirty="0"/>
              <a:t>    begin</a:t>
            </a:r>
          </a:p>
          <a:p>
            <a:pPr>
              <a:buNone/>
            </a:pPr>
            <a:r>
              <a:rPr lang="en-US" altLang="zh-CN" sz="3200" b="1" dirty="0"/>
              <a:t>         </a:t>
            </a:r>
            <a:r>
              <a:rPr lang="en-US" altLang="zh-CN" sz="3500" b="1" dirty="0">
                <a:solidFill>
                  <a:srgbClr val="FF0000"/>
                </a:solidFill>
              </a:rPr>
              <a:t>NEST={</a:t>
            </a:r>
            <a:r>
              <a:rPr lang="en-US" altLang="zh-CN" sz="3500" b="1" dirty="0" err="1">
                <a:solidFill>
                  <a:srgbClr val="FF0000"/>
                </a:solidFill>
              </a:rPr>
              <a:t>n</a:t>
            </a:r>
            <a:r>
              <a:rPr lang="en-US" altLang="zh-CN" sz="3500" b="1" baseline="-25000" dirty="0" err="1">
                <a:solidFill>
                  <a:srgbClr val="FF0000"/>
                </a:solidFill>
              </a:rPr>
              <a:t>i</a:t>
            </a:r>
            <a:r>
              <a:rPr lang="en-US" altLang="zh-CN" sz="3500" b="1" dirty="0" err="1">
                <a:solidFill>
                  <a:srgbClr val="FF0000"/>
                </a:solidFill>
              </a:rPr>
              <a:t>|f</a:t>
            </a:r>
            <a:r>
              <a:rPr lang="en-US" altLang="zh-CN" sz="3500" b="1" dirty="0">
                <a:solidFill>
                  <a:srgbClr val="FF0000"/>
                </a:solidFill>
              </a:rPr>
              <a:t>(</a:t>
            </a:r>
            <a:r>
              <a:rPr lang="en-US" altLang="zh-CN" sz="3500" b="1" dirty="0" err="1">
                <a:solidFill>
                  <a:srgbClr val="FF0000"/>
                </a:solidFill>
              </a:rPr>
              <a:t>n</a:t>
            </a:r>
            <a:r>
              <a:rPr lang="en-US" altLang="zh-CN" sz="3500" b="1" baseline="-25000" dirty="0" err="1">
                <a:solidFill>
                  <a:srgbClr val="FF0000"/>
                </a:solidFill>
              </a:rPr>
              <a:t>i</a:t>
            </a:r>
            <a:r>
              <a:rPr lang="en-US" altLang="zh-CN" sz="3500" b="1" dirty="0">
                <a:solidFill>
                  <a:srgbClr val="FF0000"/>
                </a:solidFill>
              </a:rPr>
              <a:t>)&lt;</a:t>
            </a:r>
            <a:r>
              <a:rPr lang="en-US" altLang="zh-CN" sz="3500" b="1" dirty="0" err="1">
                <a:solidFill>
                  <a:srgbClr val="FF0000"/>
                </a:solidFill>
              </a:rPr>
              <a:t>f</a:t>
            </a:r>
            <a:r>
              <a:rPr lang="en-US" altLang="zh-CN" sz="3500" b="1" baseline="-25000" dirty="0" err="1">
                <a:solidFill>
                  <a:srgbClr val="FF0000"/>
                </a:solidFill>
              </a:rPr>
              <a:t>m</a:t>
            </a:r>
            <a:r>
              <a:rPr lang="en-US" altLang="zh-CN" sz="3500" b="1" dirty="0" err="1">
                <a:solidFill>
                  <a:srgbClr val="FF0000"/>
                </a:solidFill>
              </a:rPr>
              <a:t>,n</a:t>
            </a:r>
            <a:r>
              <a:rPr lang="en-US" altLang="zh-CN" sz="3500" b="1" baseline="-25000" dirty="0" err="1">
                <a:solidFill>
                  <a:srgbClr val="FF0000"/>
                </a:solidFill>
              </a:rPr>
              <a:t>i</a:t>
            </a:r>
            <a:r>
              <a:rPr lang="zh-CN" altLang="en-US" sz="3500" b="1" dirty="0">
                <a:solidFill>
                  <a:srgbClr val="FF0000"/>
                </a:solidFill>
              </a:rPr>
              <a:t>∈</a:t>
            </a:r>
            <a:r>
              <a:rPr lang="en-US" altLang="zh-CN" sz="3500" b="1" dirty="0">
                <a:solidFill>
                  <a:srgbClr val="FF0000"/>
                </a:solidFill>
              </a:rPr>
              <a:t>OPEN}</a:t>
            </a:r>
          </a:p>
          <a:p>
            <a:pPr>
              <a:buNone/>
            </a:pPr>
            <a:r>
              <a:rPr lang="en-US" altLang="zh-CN" sz="3200" b="1" dirty="0">
                <a:solidFill>
                  <a:srgbClr val="FF0000"/>
                </a:solidFill>
              </a:rPr>
              <a:t>	</a:t>
            </a:r>
            <a:r>
              <a:rPr lang="en-US" altLang="zh-CN" sz="3500" b="1" dirty="0">
                <a:solidFill>
                  <a:srgbClr val="FF0000"/>
                </a:solidFill>
              </a:rPr>
              <a:t>     if NEST ≠ ( ) then n=NEST</a:t>
            </a:r>
            <a:r>
              <a:rPr lang="zh-CN" altLang="en-US" sz="3500" b="1" dirty="0">
                <a:solidFill>
                  <a:srgbClr val="FF0000"/>
                </a:solidFill>
              </a:rPr>
              <a:t>中</a:t>
            </a:r>
            <a:r>
              <a:rPr lang="en-US" altLang="zh-CN" sz="3500" b="1" u="sng">
                <a:solidFill>
                  <a:srgbClr val="FF0000"/>
                </a:solidFill>
                <a:highlight>
                  <a:srgbClr val="FFFF00"/>
                </a:highlight>
              </a:rPr>
              <a:t>g</a:t>
            </a:r>
            <a:r>
              <a:rPr lang="zh-CN" altLang="en-US" sz="3500" b="1" u="sng">
                <a:solidFill>
                  <a:srgbClr val="FF0000"/>
                </a:solidFill>
                <a:highlight>
                  <a:srgbClr val="FFFF00"/>
                </a:highlight>
              </a:rPr>
              <a:t>最小</a:t>
            </a:r>
            <a:r>
              <a:rPr lang="zh-CN" altLang="en-US" sz="3500" b="1">
                <a:solidFill>
                  <a:srgbClr val="FF0000"/>
                </a:solidFill>
              </a:rPr>
              <a:t>的節點</a:t>
            </a:r>
          </a:p>
          <a:p>
            <a:pPr>
              <a:buNone/>
            </a:pPr>
            <a:r>
              <a:rPr lang="zh-CN" altLang="en-US" sz="3500" b="1" dirty="0">
                <a:solidFill>
                  <a:srgbClr val="FF0000"/>
                </a:solidFill>
              </a:rPr>
              <a:t>	     </a:t>
            </a:r>
            <a:r>
              <a:rPr lang="en-US" altLang="zh-CN" sz="3500" b="1" dirty="0">
                <a:solidFill>
                  <a:srgbClr val="FF0000"/>
                </a:solidFill>
              </a:rPr>
              <a:t>else n=FIRST(OPEN), </a:t>
            </a:r>
            <a:r>
              <a:rPr lang="en-US" altLang="zh-CN" sz="3500" b="1" dirty="0" err="1">
                <a:solidFill>
                  <a:srgbClr val="FF0000"/>
                </a:solidFill>
              </a:rPr>
              <a:t>f</a:t>
            </a:r>
            <a:r>
              <a:rPr lang="en-US" altLang="zh-CN" sz="3500" b="1" baseline="-25000" dirty="0" err="1">
                <a:solidFill>
                  <a:srgbClr val="FF0000"/>
                </a:solidFill>
              </a:rPr>
              <a:t>m</a:t>
            </a:r>
            <a:r>
              <a:rPr lang="en-US" altLang="zh-CN" sz="3500" b="1" dirty="0">
                <a:solidFill>
                  <a:srgbClr val="FF0000"/>
                </a:solidFill>
              </a:rPr>
              <a:t>=f(n);</a:t>
            </a:r>
          </a:p>
          <a:p>
            <a:pPr>
              <a:buNone/>
            </a:pPr>
            <a:r>
              <a:rPr lang="en-US" altLang="zh-CN" sz="3500" b="1" dirty="0"/>
              <a:t>         if GOAL(n) THEN return n;</a:t>
            </a:r>
          </a:p>
          <a:p>
            <a:pPr>
              <a:buNone/>
            </a:pPr>
            <a:r>
              <a:rPr lang="en-US" altLang="zh-CN" sz="3500" b="1" dirty="0"/>
              <a:t>         REMOVE(n, OPEN), ADD(n, CLOSED);</a:t>
            </a:r>
          </a:p>
          <a:p>
            <a:pPr>
              <a:buNone/>
            </a:pPr>
            <a:r>
              <a:rPr lang="en-US" altLang="zh-CN" sz="3500" b="1" dirty="0"/>
              <a:t>         EXPAND(n) →{m</a:t>
            </a:r>
            <a:r>
              <a:rPr lang="en-US" altLang="zh-CN" sz="3500" b="1" baseline="-25000" dirty="0"/>
              <a:t>i</a:t>
            </a:r>
            <a:r>
              <a:rPr lang="en-US" altLang="zh-CN" sz="3500" b="1" dirty="0"/>
              <a:t>}, </a:t>
            </a:r>
          </a:p>
          <a:p>
            <a:pPr>
              <a:buNone/>
            </a:pPr>
            <a:r>
              <a:rPr lang="en-US" altLang="zh-CN" sz="3500" b="1" dirty="0"/>
              <a:t>	</a:t>
            </a:r>
            <a:r>
              <a:rPr lang="en-US" altLang="zh-CN" sz="3500" b="1"/>
              <a:t>     </a:t>
            </a:r>
            <a:r>
              <a:rPr lang="zh-CN" altLang="zh-CN" sz="3500" b="1"/>
              <a:t>計算</a:t>
            </a:r>
            <a:r>
              <a:rPr lang="en-US" altLang="zh-CN" sz="3500" b="1"/>
              <a:t>f</a:t>
            </a:r>
            <a:r>
              <a:rPr lang="en-US" altLang="zh-CN" sz="3500" b="1" dirty="0"/>
              <a:t>(n, m</a:t>
            </a:r>
            <a:r>
              <a:rPr lang="en-US" altLang="zh-CN" sz="3500" b="1" baseline="-25000" dirty="0"/>
              <a:t>i</a:t>
            </a:r>
            <a:r>
              <a:rPr lang="en-US" altLang="zh-CN" sz="3500" b="1" dirty="0"/>
              <a:t>)=g(n, m</a:t>
            </a:r>
            <a:r>
              <a:rPr lang="en-US" altLang="zh-CN" sz="3500" b="1" baseline="-25000" dirty="0"/>
              <a:t>i</a:t>
            </a:r>
            <a:r>
              <a:rPr lang="en-US" altLang="zh-CN" sz="3500" b="1" dirty="0"/>
              <a:t>)+h(m</a:t>
            </a:r>
            <a:r>
              <a:rPr lang="en-US" altLang="zh-CN" sz="3500" b="1" baseline="-25000" dirty="0"/>
              <a:t>i</a:t>
            </a:r>
            <a:r>
              <a:rPr lang="en-US" altLang="zh-CN" sz="3500" b="1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4802000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543797B-EDD5-4C08-BC50-C3E9A8B5D401}" type="slidenum">
              <a:rPr lang="en-US" altLang="zh-CN" smtClean="0">
                <a:ea typeface="黑体" pitchFamily="49" charset="-122"/>
              </a:rPr>
              <a:pPr/>
              <a:t>75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1462" y="836141"/>
            <a:ext cx="8172451" cy="5729416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3200" b="1" dirty="0"/>
              <a:t>      ADD(</a:t>
            </a:r>
            <a:r>
              <a:rPr lang="en-US" altLang="zh-CN" sz="3200" b="1" dirty="0" err="1"/>
              <a:t>m</a:t>
            </a:r>
            <a:r>
              <a:rPr lang="en-US" altLang="zh-CN" sz="3200" b="1" baseline="-25000" dirty="0" err="1"/>
              <a:t>j</a:t>
            </a:r>
            <a:r>
              <a:rPr lang="en-US" altLang="zh-CN" sz="3200" b="1" dirty="0"/>
              <a:t>, OPEN</a:t>
            </a:r>
            <a:r>
              <a:rPr lang="en-US" altLang="zh-CN" sz="3200" b="1"/>
              <a:t>), </a:t>
            </a:r>
            <a:r>
              <a:rPr lang="zh-CN" altLang="en-US" sz="3200" b="1"/>
              <a:t>標記</a:t>
            </a:r>
            <a:r>
              <a:rPr lang="en-US" altLang="zh-CN" sz="3200" b="1"/>
              <a:t>m</a:t>
            </a:r>
            <a:r>
              <a:rPr lang="en-US" altLang="zh-CN" sz="3200" b="1" baseline="-25000"/>
              <a:t>j</a:t>
            </a:r>
            <a:r>
              <a:rPr lang="zh-CN" altLang="en-US" sz="3200" b="1"/>
              <a:t>到</a:t>
            </a:r>
            <a:r>
              <a:rPr lang="en-US" altLang="zh-CN" sz="3200" b="1"/>
              <a:t>n</a:t>
            </a:r>
            <a:r>
              <a:rPr lang="zh-CN" altLang="en-US" sz="3200" b="1"/>
              <a:t>的指針；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3200" b="1"/>
              <a:t>      </a:t>
            </a:r>
            <a:r>
              <a:rPr lang="en-US" altLang="zh-CN" sz="3200" b="1" dirty="0"/>
              <a:t>if f(n, </a:t>
            </a:r>
            <a:r>
              <a:rPr lang="en-US" altLang="zh-CN" sz="3200" b="1" dirty="0" err="1"/>
              <a:t>m</a:t>
            </a:r>
            <a:r>
              <a:rPr lang="en-US" altLang="zh-CN" sz="3200" b="1" baseline="-25000" dirty="0" err="1"/>
              <a:t>k</a:t>
            </a:r>
            <a:r>
              <a:rPr lang="en-US" altLang="zh-CN" sz="3200" b="1" dirty="0"/>
              <a:t>)&lt;f(</a:t>
            </a:r>
            <a:r>
              <a:rPr lang="en-US" altLang="zh-CN" sz="3200" b="1" dirty="0" err="1"/>
              <a:t>m</a:t>
            </a:r>
            <a:r>
              <a:rPr lang="en-US" altLang="zh-CN" sz="3200" b="1" baseline="-25000" dirty="0" err="1"/>
              <a:t>k</a:t>
            </a:r>
            <a:r>
              <a:rPr lang="en-US" altLang="zh-CN" sz="3200" b="1" dirty="0"/>
              <a:t>) then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3200" b="1" dirty="0"/>
              <a:t>          f(</a:t>
            </a:r>
            <a:r>
              <a:rPr lang="en-US" altLang="zh-CN" sz="3200" b="1" dirty="0" err="1"/>
              <a:t>m</a:t>
            </a:r>
            <a:r>
              <a:rPr lang="en-US" altLang="zh-CN" sz="3200" b="1" baseline="-25000" dirty="0" err="1"/>
              <a:t>k</a:t>
            </a:r>
            <a:r>
              <a:rPr lang="en-US" altLang="zh-CN" sz="3200" b="1" dirty="0"/>
              <a:t>)=f(n, </a:t>
            </a:r>
            <a:r>
              <a:rPr lang="en-US" altLang="zh-CN" sz="3200" b="1" dirty="0" err="1"/>
              <a:t>m</a:t>
            </a:r>
            <a:r>
              <a:rPr lang="en-US" altLang="zh-CN" sz="3200" b="1" baseline="-25000" dirty="0" err="1"/>
              <a:t>k</a:t>
            </a:r>
            <a:r>
              <a:rPr lang="en-US" altLang="zh-CN" sz="3200" b="1"/>
              <a:t>), </a:t>
            </a:r>
            <a:r>
              <a:rPr lang="zh-CN" altLang="zh-CN" sz="3200" b="1"/>
              <a:t>標記</a:t>
            </a:r>
            <a:r>
              <a:rPr lang="en-US" altLang="zh-CN" sz="3200" b="1"/>
              <a:t>m</a:t>
            </a:r>
            <a:r>
              <a:rPr lang="en-US" altLang="zh-CN" sz="3200" b="1" baseline="-25000"/>
              <a:t>k</a:t>
            </a:r>
            <a:r>
              <a:rPr lang="zh-CN" altLang="zh-CN" sz="3200" b="1"/>
              <a:t>到</a:t>
            </a:r>
            <a:r>
              <a:rPr lang="en-US" altLang="zh-CN" sz="3200" b="1"/>
              <a:t>n</a:t>
            </a:r>
            <a:r>
              <a:rPr lang="zh-CN" altLang="zh-CN" sz="3200" b="1"/>
              <a:t>的指針；</a:t>
            </a:r>
            <a:endParaRPr lang="zh-CN" altLang="en-US" sz="2800" b="1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3200" b="1" dirty="0"/>
              <a:t>      if f(n, m</a:t>
            </a:r>
            <a:r>
              <a:rPr lang="en-US" altLang="zh-CN" sz="3600" b="1" baseline="-25000" dirty="0"/>
              <a:t>l</a:t>
            </a:r>
            <a:r>
              <a:rPr lang="en-US" altLang="zh-CN" sz="3200" b="1" dirty="0"/>
              <a:t>)&lt;f(m</a:t>
            </a:r>
            <a:r>
              <a:rPr lang="en-US" altLang="zh-CN" sz="3600" b="1" baseline="-25000" dirty="0"/>
              <a:t>l</a:t>
            </a:r>
            <a:r>
              <a:rPr lang="en-US" altLang="zh-CN" sz="3200" b="1" dirty="0"/>
              <a:t>,) then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3200" b="1" dirty="0"/>
              <a:t>          f(m</a:t>
            </a:r>
            <a:r>
              <a:rPr lang="en-US" altLang="zh-CN" sz="3600" b="1" baseline="-25000" dirty="0"/>
              <a:t>l</a:t>
            </a:r>
            <a:r>
              <a:rPr lang="en-US" altLang="zh-CN" sz="3200" b="1" dirty="0"/>
              <a:t>)=f(n, </a:t>
            </a:r>
            <a:r>
              <a:rPr lang="en-US" altLang="zh-CN" sz="3200" b="1"/>
              <a:t>m</a:t>
            </a:r>
            <a:r>
              <a:rPr lang="en-US" altLang="zh-CN" sz="3200" b="1" baseline="-25000"/>
              <a:t>l</a:t>
            </a:r>
            <a:r>
              <a:rPr lang="en-US" altLang="zh-CN" sz="3200" b="1"/>
              <a:t>),</a:t>
            </a:r>
            <a:r>
              <a:rPr lang="zh-CN" altLang="en-US" sz="3200" b="1"/>
              <a:t>標記</a:t>
            </a:r>
            <a:r>
              <a:rPr lang="en-US" altLang="zh-CN" sz="3200" b="1"/>
              <a:t>m</a:t>
            </a:r>
            <a:r>
              <a:rPr lang="en-US" altLang="zh-CN" sz="3200" b="1" baseline="-25000"/>
              <a:t>l</a:t>
            </a:r>
            <a:r>
              <a:rPr lang="zh-CN" altLang="en-US" sz="3200" b="1"/>
              <a:t>到</a:t>
            </a:r>
            <a:r>
              <a:rPr lang="en-US" altLang="zh-CN" sz="3200" b="1"/>
              <a:t>n</a:t>
            </a:r>
            <a:r>
              <a:rPr lang="zh-CN" altLang="en-US" sz="3200" b="1"/>
              <a:t>的指針</a:t>
            </a:r>
            <a:r>
              <a:rPr lang="en-US" altLang="zh-CN" sz="3200" b="1"/>
              <a:t>, </a:t>
            </a:r>
            <a:endParaRPr lang="en-US" altLang="zh-CN" sz="3200" b="1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3200" b="1" dirty="0"/>
              <a:t>	       ADD(m</a:t>
            </a:r>
            <a:r>
              <a:rPr lang="en-US" altLang="zh-CN" sz="3200" b="1" baseline="-25000" dirty="0"/>
              <a:t>l</a:t>
            </a:r>
            <a:r>
              <a:rPr lang="en-US" altLang="zh-CN" sz="3200" b="1" dirty="0"/>
              <a:t>, OPEN);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3200" b="1"/>
              <a:t>      OPEN</a:t>
            </a:r>
            <a:r>
              <a:rPr lang="zh-CN" altLang="zh-CN" sz="3200" b="1"/>
              <a:t>中的節點按</a:t>
            </a:r>
            <a:r>
              <a:rPr lang="en-US" altLang="zh-CN" sz="3200" b="1"/>
              <a:t>f</a:t>
            </a:r>
            <a:r>
              <a:rPr lang="zh-CN" altLang="zh-CN" sz="3200" b="1"/>
              <a:t>值從小到大排序；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3200" b="1"/>
              <a:t>   </a:t>
            </a:r>
            <a:r>
              <a:rPr lang="en-US" altLang="zh-CN" sz="3200" b="1" dirty="0"/>
              <a:t>end while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3200" b="1" dirty="0"/>
              <a:t>return FAIL;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19731354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35107A3-780B-4B70-8D00-0111611A1140}" type="slidenum">
              <a:rPr lang="en-US" altLang="zh-CN" smtClean="0">
                <a:ea typeface="黑体" pitchFamily="49" charset="-122"/>
              </a:rPr>
              <a:pPr/>
              <a:t>76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92163" name="Oval 3"/>
          <p:cNvSpPr>
            <a:spLocks noChangeArrowheads="1"/>
          </p:cNvSpPr>
          <p:nvPr/>
        </p:nvSpPr>
        <p:spPr bwMode="auto">
          <a:xfrm flipH="1">
            <a:off x="1371600" y="1965325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64" name="Oval 4"/>
          <p:cNvSpPr>
            <a:spLocks noChangeArrowheads="1"/>
          </p:cNvSpPr>
          <p:nvPr/>
        </p:nvSpPr>
        <p:spPr bwMode="auto">
          <a:xfrm flipH="1">
            <a:off x="609600" y="2803525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65" name="Oval 5"/>
          <p:cNvSpPr>
            <a:spLocks noChangeArrowheads="1"/>
          </p:cNvSpPr>
          <p:nvPr/>
        </p:nvSpPr>
        <p:spPr bwMode="auto">
          <a:xfrm flipH="1">
            <a:off x="1295400" y="3260725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66" name="Oval 6"/>
          <p:cNvSpPr>
            <a:spLocks noChangeArrowheads="1"/>
          </p:cNvSpPr>
          <p:nvPr/>
        </p:nvSpPr>
        <p:spPr bwMode="auto">
          <a:xfrm flipH="1">
            <a:off x="2057400" y="3641725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67" name="Oval 7"/>
          <p:cNvSpPr>
            <a:spLocks noChangeArrowheads="1"/>
          </p:cNvSpPr>
          <p:nvPr/>
        </p:nvSpPr>
        <p:spPr bwMode="auto">
          <a:xfrm flipH="1">
            <a:off x="990600" y="4784725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68" name="Line 8"/>
          <p:cNvSpPr>
            <a:spLocks noChangeShapeType="1"/>
          </p:cNvSpPr>
          <p:nvPr/>
        </p:nvSpPr>
        <p:spPr bwMode="auto">
          <a:xfrm flipH="1">
            <a:off x="762000" y="2117725"/>
            <a:ext cx="609600" cy="685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69" name="Line 9"/>
          <p:cNvSpPr>
            <a:spLocks noChangeShapeType="1"/>
          </p:cNvSpPr>
          <p:nvPr/>
        </p:nvSpPr>
        <p:spPr bwMode="auto">
          <a:xfrm flipH="1">
            <a:off x="1371600" y="2193925"/>
            <a:ext cx="76200" cy="1066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70" name="Line 10"/>
          <p:cNvSpPr>
            <a:spLocks noChangeShapeType="1"/>
          </p:cNvSpPr>
          <p:nvPr/>
        </p:nvSpPr>
        <p:spPr bwMode="auto">
          <a:xfrm>
            <a:off x="1524000" y="2117725"/>
            <a:ext cx="609600" cy="1524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71" name="Line 11"/>
          <p:cNvSpPr>
            <a:spLocks noChangeShapeType="1"/>
          </p:cNvSpPr>
          <p:nvPr/>
        </p:nvSpPr>
        <p:spPr bwMode="auto">
          <a:xfrm flipH="1">
            <a:off x="1066800" y="3794125"/>
            <a:ext cx="990600" cy="990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72" name="Line 12"/>
          <p:cNvSpPr>
            <a:spLocks noChangeShapeType="1"/>
          </p:cNvSpPr>
          <p:nvPr/>
        </p:nvSpPr>
        <p:spPr bwMode="auto">
          <a:xfrm>
            <a:off x="762000" y="2955925"/>
            <a:ext cx="533400" cy="381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73" name="Line 13"/>
          <p:cNvSpPr>
            <a:spLocks noChangeShapeType="1"/>
          </p:cNvSpPr>
          <p:nvPr/>
        </p:nvSpPr>
        <p:spPr bwMode="auto">
          <a:xfrm>
            <a:off x="1447800" y="3413125"/>
            <a:ext cx="609600" cy="304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74" name="Text Box 14"/>
          <p:cNvSpPr txBox="1">
            <a:spLocks noChangeArrowheads="1"/>
          </p:cNvSpPr>
          <p:nvPr/>
        </p:nvSpPr>
        <p:spPr bwMode="auto">
          <a:xfrm>
            <a:off x="1474713" y="1704330"/>
            <a:ext cx="80342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/>
              <a:t>s(10)</a:t>
            </a:r>
          </a:p>
        </p:txBody>
      </p:sp>
      <p:sp>
        <p:nvSpPr>
          <p:cNvPr id="92175" name="Text Box 15"/>
          <p:cNvSpPr txBox="1">
            <a:spLocks noChangeArrowheads="1"/>
          </p:cNvSpPr>
          <p:nvPr/>
        </p:nvSpPr>
        <p:spPr bwMode="auto">
          <a:xfrm>
            <a:off x="2115016" y="3533130"/>
            <a:ext cx="75533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/>
              <a:t>A(1)</a:t>
            </a:r>
          </a:p>
        </p:txBody>
      </p:sp>
      <p:sp>
        <p:nvSpPr>
          <p:cNvPr id="92176" name="Text Box 16"/>
          <p:cNvSpPr txBox="1">
            <a:spLocks noChangeArrowheads="1"/>
          </p:cNvSpPr>
          <p:nvPr/>
        </p:nvSpPr>
        <p:spPr bwMode="auto">
          <a:xfrm>
            <a:off x="982104" y="3378503"/>
            <a:ext cx="73930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/>
              <a:t>B(5)</a:t>
            </a:r>
          </a:p>
        </p:txBody>
      </p:sp>
      <p:sp>
        <p:nvSpPr>
          <p:cNvPr id="92177" name="Text Box 17"/>
          <p:cNvSpPr txBox="1">
            <a:spLocks noChangeArrowheads="1"/>
          </p:cNvSpPr>
          <p:nvPr/>
        </p:nvSpPr>
        <p:spPr bwMode="auto">
          <a:xfrm>
            <a:off x="107392" y="2390130"/>
            <a:ext cx="73930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/>
              <a:t>C(8)</a:t>
            </a:r>
          </a:p>
        </p:txBody>
      </p:sp>
      <p:sp>
        <p:nvSpPr>
          <p:cNvPr id="92178" name="Text Box 18"/>
          <p:cNvSpPr txBox="1">
            <a:spLocks noChangeArrowheads="1"/>
          </p:cNvSpPr>
          <p:nvPr/>
        </p:nvSpPr>
        <p:spPr bwMode="auto">
          <a:xfrm>
            <a:off x="556637" y="5133330"/>
            <a:ext cx="107112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/>
              <a:t>G </a:t>
            </a:r>
            <a:r>
              <a:rPr lang="zh-CN" altLang="en-US" sz="2400" b="1"/>
              <a:t>目標</a:t>
            </a:r>
            <a:endParaRPr lang="zh-CN" altLang="en-US" sz="2400" b="1" dirty="0"/>
          </a:p>
        </p:txBody>
      </p:sp>
      <p:sp>
        <p:nvSpPr>
          <p:cNvPr id="92179" name="Text Box 19"/>
          <p:cNvSpPr txBox="1">
            <a:spLocks noChangeArrowheads="1"/>
          </p:cNvSpPr>
          <p:nvPr/>
        </p:nvSpPr>
        <p:spPr bwMode="auto">
          <a:xfrm>
            <a:off x="1905000" y="2618730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6</a:t>
            </a:r>
            <a:endParaRPr lang="en-US" altLang="zh-CN" sz="2400" b="1" dirty="0"/>
          </a:p>
        </p:txBody>
      </p:sp>
      <p:sp>
        <p:nvSpPr>
          <p:cNvPr id="92180" name="Text Box 20"/>
          <p:cNvSpPr txBox="1">
            <a:spLocks noChangeArrowheads="1"/>
          </p:cNvSpPr>
          <p:nvPr/>
        </p:nvSpPr>
        <p:spPr bwMode="auto">
          <a:xfrm>
            <a:off x="1143000" y="2466330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3</a:t>
            </a:r>
            <a:endParaRPr lang="en-US" altLang="zh-CN" sz="2400" b="1" dirty="0"/>
          </a:p>
        </p:txBody>
      </p:sp>
      <p:sp>
        <p:nvSpPr>
          <p:cNvPr id="92181" name="Text Box 21"/>
          <p:cNvSpPr txBox="1">
            <a:spLocks noChangeArrowheads="1"/>
          </p:cNvSpPr>
          <p:nvPr/>
        </p:nvSpPr>
        <p:spPr bwMode="auto">
          <a:xfrm>
            <a:off x="914400" y="2009130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1</a:t>
            </a:r>
            <a:endParaRPr lang="en-US" altLang="zh-CN" sz="2400" b="1" dirty="0"/>
          </a:p>
        </p:txBody>
      </p:sp>
      <p:sp>
        <p:nvSpPr>
          <p:cNvPr id="92182" name="Text Box 22"/>
          <p:cNvSpPr txBox="1">
            <a:spLocks noChangeArrowheads="1"/>
          </p:cNvSpPr>
          <p:nvPr/>
        </p:nvSpPr>
        <p:spPr bwMode="auto">
          <a:xfrm>
            <a:off x="734704" y="3027026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1</a:t>
            </a:r>
            <a:endParaRPr lang="en-US" altLang="zh-CN" sz="2400" b="1" dirty="0"/>
          </a:p>
        </p:txBody>
      </p:sp>
      <p:sp>
        <p:nvSpPr>
          <p:cNvPr id="92183" name="Text Box 23"/>
          <p:cNvSpPr txBox="1">
            <a:spLocks noChangeArrowheads="1"/>
          </p:cNvSpPr>
          <p:nvPr/>
        </p:nvSpPr>
        <p:spPr bwMode="auto">
          <a:xfrm>
            <a:off x="1600200" y="3152130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1</a:t>
            </a:r>
            <a:endParaRPr lang="en-US" altLang="zh-CN" sz="2400" b="1" dirty="0"/>
          </a:p>
        </p:txBody>
      </p:sp>
      <p:sp>
        <p:nvSpPr>
          <p:cNvPr id="92184" name="Text Box 24"/>
          <p:cNvSpPr txBox="1">
            <a:spLocks noChangeArrowheads="1"/>
          </p:cNvSpPr>
          <p:nvPr/>
        </p:nvSpPr>
        <p:spPr bwMode="auto">
          <a:xfrm>
            <a:off x="1295400" y="3990330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8</a:t>
            </a:r>
            <a:endParaRPr lang="en-US" altLang="zh-CN" sz="2400" b="1" dirty="0"/>
          </a:p>
        </p:txBody>
      </p:sp>
      <p:sp>
        <p:nvSpPr>
          <p:cNvPr id="92185" name="Text Box 25"/>
          <p:cNvSpPr txBox="1">
            <a:spLocks noChangeArrowheads="1"/>
          </p:cNvSpPr>
          <p:nvPr/>
        </p:nvSpPr>
        <p:spPr bwMode="auto">
          <a:xfrm>
            <a:off x="762000" y="683568"/>
            <a:ext cx="204094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/>
              <a:t>前面的例子：</a:t>
            </a:r>
          </a:p>
        </p:txBody>
      </p:sp>
      <p:sp>
        <p:nvSpPr>
          <p:cNvPr id="92186" name="Line 27"/>
          <p:cNvSpPr>
            <a:spLocks noChangeShapeType="1"/>
          </p:cNvSpPr>
          <p:nvPr/>
        </p:nvSpPr>
        <p:spPr bwMode="auto">
          <a:xfrm>
            <a:off x="3181064" y="1828800"/>
            <a:ext cx="5638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87" name="Line 28"/>
          <p:cNvSpPr>
            <a:spLocks noChangeShapeType="1"/>
          </p:cNvSpPr>
          <p:nvPr/>
        </p:nvSpPr>
        <p:spPr bwMode="auto">
          <a:xfrm>
            <a:off x="5334000" y="1371600"/>
            <a:ext cx="0" cy="434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88" name="Text Box 29"/>
          <p:cNvSpPr txBox="1">
            <a:spLocks noChangeArrowheads="1"/>
          </p:cNvSpPr>
          <p:nvPr/>
        </p:nvSpPr>
        <p:spPr bwMode="auto">
          <a:xfrm>
            <a:off x="3429000" y="1339334"/>
            <a:ext cx="97975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/>
              <a:t>OPEN</a:t>
            </a:r>
            <a:r>
              <a:rPr lang="zh-CN" altLang="en-US" b="1" dirty="0"/>
              <a:t>表</a:t>
            </a:r>
          </a:p>
        </p:txBody>
      </p:sp>
      <p:sp>
        <p:nvSpPr>
          <p:cNvPr id="92189" name="Text Box 30"/>
          <p:cNvSpPr txBox="1">
            <a:spLocks noChangeArrowheads="1"/>
          </p:cNvSpPr>
          <p:nvPr/>
        </p:nvSpPr>
        <p:spPr bwMode="auto">
          <a:xfrm>
            <a:off x="5715000" y="1339334"/>
            <a:ext cx="123303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/>
              <a:t>CLOSED</a:t>
            </a:r>
            <a:r>
              <a:rPr lang="zh-CN" altLang="en-US" b="1" dirty="0"/>
              <a:t>表</a:t>
            </a:r>
          </a:p>
        </p:txBody>
      </p:sp>
      <p:sp>
        <p:nvSpPr>
          <p:cNvPr id="92190" name="Line 31"/>
          <p:cNvSpPr>
            <a:spLocks noChangeShapeType="1"/>
          </p:cNvSpPr>
          <p:nvPr/>
        </p:nvSpPr>
        <p:spPr bwMode="auto">
          <a:xfrm>
            <a:off x="8235288" y="1371600"/>
            <a:ext cx="0" cy="441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91" name="Text Box 32"/>
          <p:cNvSpPr txBox="1">
            <a:spLocks noChangeArrowheads="1"/>
          </p:cNvSpPr>
          <p:nvPr/>
        </p:nvSpPr>
        <p:spPr bwMode="auto">
          <a:xfrm>
            <a:off x="8382000" y="1339334"/>
            <a:ext cx="38023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/>
              <a:t>f</a:t>
            </a:r>
            <a:r>
              <a:rPr lang="en-US" altLang="zh-CN" b="1" baseline="-25000" dirty="0"/>
              <a:t>m</a:t>
            </a:r>
          </a:p>
        </p:txBody>
      </p:sp>
      <p:sp>
        <p:nvSpPr>
          <p:cNvPr id="139297" name="Text Box 33"/>
          <p:cNvSpPr txBox="1">
            <a:spLocks noChangeArrowheads="1"/>
          </p:cNvSpPr>
          <p:nvPr/>
        </p:nvSpPr>
        <p:spPr bwMode="auto">
          <a:xfrm>
            <a:off x="3200400" y="2024341"/>
            <a:ext cx="91082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dirty="0"/>
              <a:t>s(0+10)</a:t>
            </a:r>
            <a:endParaRPr lang="en-US" altLang="zh-CN" b="1" dirty="0"/>
          </a:p>
        </p:txBody>
      </p:sp>
      <p:sp>
        <p:nvSpPr>
          <p:cNvPr id="139298" name="Text Box 34"/>
          <p:cNvSpPr txBox="1">
            <a:spLocks noChangeArrowheads="1"/>
          </p:cNvSpPr>
          <p:nvPr/>
        </p:nvSpPr>
        <p:spPr bwMode="auto">
          <a:xfrm>
            <a:off x="5486400" y="2024341"/>
            <a:ext cx="91082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dirty="0"/>
              <a:t>s(0+10)</a:t>
            </a:r>
            <a:endParaRPr lang="en-US" altLang="zh-CN" b="1" dirty="0"/>
          </a:p>
        </p:txBody>
      </p:sp>
      <p:sp>
        <p:nvSpPr>
          <p:cNvPr id="139299" name="Text Box 35"/>
          <p:cNvSpPr txBox="1">
            <a:spLocks noChangeArrowheads="1"/>
          </p:cNvSpPr>
          <p:nvPr/>
        </p:nvSpPr>
        <p:spPr bwMode="auto">
          <a:xfrm>
            <a:off x="8332788" y="2024341"/>
            <a:ext cx="3962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dirty="0"/>
              <a:t>10</a:t>
            </a:r>
            <a:endParaRPr lang="en-US" altLang="zh-CN" b="1" dirty="0"/>
          </a:p>
        </p:txBody>
      </p:sp>
      <p:sp>
        <p:nvSpPr>
          <p:cNvPr id="139300" name="Text Box 36"/>
          <p:cNvSpPr txBox="1">
            <a:spLocks noChangeArrowheads="1"/>
          </p:cNvSpPr>
          <p:nvPr/>
        </p:nvSpPr>
        <p:spPr bwMode="auto">
          <a:xfrm>
            <a:off x="3048000" y="2667000"/>
            <a:ext cx="23145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dirty="0">
                <a:solidFill>
                  <a:srgbClr val="00B0F0"/>
                </a:solidFill>
              </a:rPr>
              <a:t>A(6+1) B(3+5) C(1+8)</a:t>
            </a:r>
            <a:endParaRPr lang="en-US" altLang="zh-CN" b="1" dirty="0">
              <a:solidFill>
                <a:srgbClr val="00B0F0"/>
              </a:solidFill>
            </a:endParaRPr>
          </a:p>
        </p:txBody>
      </p:sp>
      <p:sp>
        <p:nvSpPr>
          <p:cNvPr id="139301" name="Line 37"/>
          <p:cNvSpPr>
            <a:spLocks noChangeShapeType="1"/>
          </p:cNvSpPr>
          <p:nvPr/>
        </p:nvSpPr>
        <p:spPr bwMode="auto">
          <a:xfrm>
            <a:off x="4572000" y="2971800"/>
            <a:ext cx="7620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02" name="Text Box 38"/>
          <p:cNvSpPr txBox="1">
            <a:spLocks noChangeArrowheads="1"/>
          </p:cNvSpPr>
          <p:nvPr/>
        </p:nvSpPr>
        <p:spPr bwMode="auto">
          <a:xfrm>
            <a:off x="5486400" y="2667000"/>
            <a:ext cx="1631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dirty="0"/>
              <a:t>s(0+10) C(1+8)</a:t>
            </a:r>
            <a:endParaRPr lang="en-US" altLang="zh-CN" b="1" dirty="0"/>
          </a:p>
        </p:txBody>
      </p:sp>
      <p:sp>
        <p:nvSpPr>
          <p:cNvPr id="139303" name="Text Box 39"/>
          <p:cNvSpPr txBox="1">
            <a:spLocks noChangeArrowheads="1"/>
          </p:cNvSpPr>
          <p:nvPr/>
        </p:nvSpPr>
        <p:spPr bwMode="auto">
          <a:xfrm>
            <a:off x="8382000" y="2589491"/>
            <a:ext cx="3962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dirty="0"/>
              <a:t>10</a:t>
            </a:r>
            <a:endParaRPr lang="en-US" altLang="zh-CN" b="1" dirty="0"/>
          </a:p>
        </p:txBody>
      </p:sp>
      <p:sp>
        <p:nvSpPr>
          <p:cNvPr id="139304" name="Text Box 40"/>
          <p:cNvSpPr txBox="1">
            <a:spLocks noChangeArrowheads="1"/>
          </p:cNvSpPr>
          <p:nvPr/>
        </p:nvSpPr>
        <p:spPr bwMode="auto">
          <a:xfrm>
            <a:off x="3036888" y="3199091"/>
            <a:ext cx="235994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dirty="0">
                <a:solidFill>
                  <a:srgbClr val="00B0F0"/>
                </a:solidFill>
              </a:rPr>
              <a:t>A(6+1)B(2+5)</a:t>
            </a:r>
            <a:r>
              <a:rPr lang="en-US" altLang="zh-CN" sz="1800" b="1" dirty="0"/>
              <a:t>D(2+12)</a:t>
            </a:r>
            <a:endParaRPr lang="en-US" altLang="zh-CN" b="1" dirty="0"/>
          </a:p>
        </p:txBody>
      </p:sp>
      <p:sp>
        <p:nvSpPr>
          <p:cNvPr id="139305" name="Line 41"/>
          <p:cNvSpPr>
            <a:spLocks noChangeShapeType="1"/>
          </p:cNvSpPr>
          <p:nvPr/>
        </p:nvSpPr>
        <p:spPr bwMode="auto">
          <a:xfrm>
            <a:off x="3785286" y="3505200"/>
            <a:ext cx="7620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06" name="Text Box 42"/>
          <p:cNvSpPr txBox="1">
            <a:spLocks noChangeArrowheads="1"/>
          </p:cNvSpPr>
          <p:nvPr/>
        </p:nvSpPr>
        <p:spPr bwMode="auto">
          <a:xfrm>
            <a:off x="5486400" y="3200400"/>
            <a:ext cx="2352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dirty="0"/>
              <a:t>s(0+10) C(1+8) B(2+5)</a:t>
            </a:r>
            <a:endParaRPr lang="en-US" altLang="zh-CN" b="1" dirty="0"/>
          </a:p>
        </p:txBody>
      </p:sp>
      <p:sp>
        <p:nvSpPr>
          <p:cNvPr id="139307" name="Text Box 43"/>
          <p:cNvSpPr txBox="1">
            <a:spLocks noChangeArrowheads="1"/>
          </p:cNvSpPr>
          <p:nvPr/>
        </p:nvSpPr>
        <p:spPr bwMode="auto">
          <a:xfrm>
            <a:off x="8382000" y="3199091"/>
            <a:ext cx="3962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dirty="0"/>
              <a:t>10</a:t>
            </a:r>
            <a:endParaRPr lang="en-US" altLang="zh-CN" b="1" dirty="0"/>
          </a:p>
        </p:txBody>
      </p:sp>
      <p:sp>
        <p:nvSpPr>
          <p:cNvPr id="139308" name="Text Box 44"/>
          <p:cNvSpPr txBox="1">
            <a:spLocks noChangeArrowheads="1"/>
          </p:cNvSpPr>
          <p:nvPr/>
        </p:nvSpPr>
        <p:spPr bwMode="auto">
          <a:xfrm>
            <a:off x="3048000" y="3808691"/>
            <a:ext cx="178446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dirty="0">
                <a:solidFill>
                  <a:srgbClr val="00B0F0"/>
                </a:solidFill>
              </a:rPr>
              <a:t>A(3+1</a:t>
            </a:r>
            <a:r>
              <a:rPr lang="en-US" altLang="zh-CN" b="1" dirty="0">
                <a:solidFill>
                  <a:srgbClr val="00B0F0"/>
                </a:solidFill>
              </a:rPr>
              <a:t>)</a:t>
            </a:r>
            <a:r>
              <a:rPr lang="en-US" altLang="zh-CN" b="1" dirty="0"/>
              <a:t> D(2+12) </a:t>
            </a:r>
          </a:p>
        </p:txBody>
      </p:sp>
      <p:sp>
        <p:nvSpPr>
          <p:cNvPr id="139309" name="Text Box 45"/>
          <p:cNvSpPr txBox="1">
            <a:spLocks noChangeArrowheads="1"/>
          </p:cNvSpPr>
          <p:nvPr/>
        </p:nvSpPr>
        <p:spPr bwMode="auto">
          <a:xfrm>
            <a:off x="5334000" y="3808691"/>
            <a:ext cx="295625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dirty="0"/>
              <a:t>s(0+10)C(1+8)B(2+5)A(3+1)</a:t>
            </a:r>
            <a:endParaRPr lang="en-US" altLang="zh-CN" b="1" dirty="0"/>
          </a:p>
        </p:txBody>
      </p:sp>
      <p:sp>
        <p:nvSpPr>
          <p:cNvPr id="139310" name="Text Box 46"/>
          <p:cNvSpPr txBox="1">
            <a:spLocks noChangeArrowheads="1"/>
          </p:cNvSpPr>
          <p:nvPr/>
        </p:nvSpPr>
        <p:spPr bwMode="auto">
          <a:xfrm>
            <a:off x="8382000" y="3808691"/>
            <a:ext cx="3962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dirty="0"/>
              <a:t>10</a:t>
            </a:r>
            <a:endParaRPr lang="en-US" altLang="zh-CN" b="1" dirty="0"/>
          </a:p>
        </p:txBody>
      </p:sp>
      <p:sp>
        <p:nvSpPr>
          <p:cNvPr id="139311" name="Line 47"/>
          <p:cNvSpPr>
            <a:spLocks noChangeShapeType="1"/>
          </p:cNvSpPr>
          <p:nvPr/>
        </p:nvSpPr>
        <p:spPr bwMode="auto">
          <a:xfrm>
            <a:off x="3124200" y="4114800"/>
            <a:ext cx="7620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12" name="Text Box 48"/>
          <p:cNvSpPr txBox="1">
            <a:spLocks noChangeArrowheads="1"/>
          </p:cNvSpPr>
          <p:nvPr/>
        </p:nvSpPr>
        <p:spPr bwMode="auto">
          <a:xfrm>
            <a:off x="3048000" y="4494491"/>
            <a:ext cx="189026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dirty="0"/>
              <a:t>G(11+0</a:t>
            </a:r>
            <a:r>
              <a:rPr lang="en-US" altLang="zh-CN" b="1" dirty="0"/>
              <a:t>) D(2+12) </a:t>
            </a:r>
          </a:p>
        </p:txBody>
      </p:sp>
      <p:sp>
        <p:nvSpPr>
          <p:cNvPr id="48" name="Oval 3"/>
          <p:cNvSpPr>
            <a:spLocks noChangeArrowheads="1"/>
          </p:cNvSpPr>
          <p:nvPr/>
        </p:nvSpPr>
        <p:spPr bwMode="auto">
          <a:xfrm flipH="1">
            <a:off x="611996" y="3916362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" name="Line 11"/>
          <p:cNvSpPr>
            <a:spLocks noChangeShapeType="1"/>
          </p:cNvSpPr>
          <p:nvPr/>
        </p:nvSpPr>
        <p:spPr bwMode="auto">
          <a:xfrm>
            <a:off x="674200" y="2955925"/>
            <a:ext cx="19702" cy="941062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" name="Text Box 14"/>
          <p:cNvSpPr txBox="1">
            <a:spLocks noChangeArrowheads="1"/>
          </p:cNvSpPr>
          <p:nvPr/>
        </p:nvSpPr>
        <p:spPr bwMode="auto">
          <a:xfrm>
            <a:off x="330712" y="4084493"/>
            <a:ext cx="9124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/>
              <a:t>D(12)</a:t>
            </a:r>
          </a:p>
        </p:txBody>
      </p:sp>
      <p:sp>
        <p:nvSpPr>
          <p:cNvPr id="51" name="Text Box 21"/>
          <p:cNvSpPr txBox="1">
            <a:spLocks noChangeArrowheads="1"/>
          </p:cNvSpPr>
          <p:nvPr/>
        </p:nvSpPr>
        <p:spPr bwMode="auto">
          <a:xfrm>
            <a:off x="319607" y="3236267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1</a:t>
            </a:r>
            <a:endParaRPr lang="en-US" altLang="zh-CN" sz="2400" b="1" dirty="0"/>
          </a:p>
        </p:txBody>
      </p:sp>
      <p:sp>
        <p:nvSpPr>
          <p:cNvPr id="52" name="Text Box 48"/>
          <p:cNvSpPr txBox="1">
            <a:spLocks noChangeArrowheads="1"/>
          </p:cNvSpPr>
          <p:nvPr/>
        </p:nvSpPr>
        <p:spPr bwMode="auto">
          <a:xfrm>
            <a:off x="3019165" y="5940242"/>
            <a:ext cx="366158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/>
              <a:t>說明：藍顏色表示在</a:t>
            </a:r>
            <a:r>
              <a:rPr lang="en-US" altLang="zh-CN" b="1"/>
              <a:t>nest</a:t>
            </a:r>
            <a:r>
              <a:rPr lang="zh-CN" altLang="en-US" b="1"/>
              <a:t>中的節點</a:t>
            </a:r>
            <a:r>
              <a:rPr lang="en-US" altLang="zh-CN" b="1"/>
              <a:t> </a:t>
            </a:r>
            <a:endParaRPr lang="en-US" altLang="zh-CN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9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9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9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97" grpId="0" autoUpdateAnimBg="0"/>
      <p:bldP spid="139298" grpId="0" autoUpdateAnimBg="0"/>
      <p:bldP spid="139299" grpId="0" autoUpdateAnimBg="0"/>
      <p:bldP spid="139300" grpId="0" autoUpdateAnimBg="0"/>
      <p:bldP spid="139301" grpId="0" animBg="1"/>
      <p:bldP spid="139302" grpId="0" autoUpdateAnimBg="0"/>
      <p:bldP spid="139303" grpId="0" autoUpdateAnimBg="0"/>
      <p:bldP spid="139304" grpId="0" autoUpdateAnimBg="0"/>
      <p:bldP spid="139305" grpId="0" animBg="1"/>
      <p:bldP spid="139306" grpId="0" autoUpdateAnimBg="0"/>
      <p:bldP spid="139307" grpId="0" autoUpdateAnimBg="0"/>
      <p:bldP spid="139308" grpId="0" autoUpdateAnimBg="0"/>
      <p:bldP spid="139309" grpId="0" autoUpdateAnimBg="0"/>
      <p:bldP spid="139310" grpId="0" autoUpdateAnimBg="0"/>
      <p:bldP spid="139311" grpId="0" animBg="1"/>
      <p:bldP spid="139312" grpId="0" autoUpdateAnimBg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35107A3-780B-4B70-8D00-0111611A1140}" type="slidenum">
              <a:rPr lang="en-US" altLang="zh-CN" smtClean="0">
                <a:ea typeface="黑体" pitchFamily="49" charset="-122"/>
              </a:rPr>
              <a:pPr/>
              <a:t>77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92163" name="Oval 3"/>
          <p:cNvSpPr>
            <a:spLocks noChangeArrowheads="1"/>
          </p:cNvSpPr>
          <p:nvPr/>
        </p:nvSpPr>
        <p:spPr bwMode="auto">
          <a:xfrm flipH="1">
            <a:off x="1371600" y="1965325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64" name="Oval 4"/>
          <p:cNvSpPr>
            <a:spLocks noChangeArrowheads="1"/>
          </p:cNvSpPr>
          <p:nvPr/>
        </p:nvSpPr>
        <p:spPr bwMode="auto">
          <a:xfrm flipH="1">
            <a:off x="609600" y="2803525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65" name="Oval 5"/>
          <p:cNvSpPr>
            <a:spLocks noChangeArrowheads="1"/>
          </p:cNvSpPr>
          <p:nvPr/>
        </p:nvSpPr>
        <p:spPr bwMode="auto">
          <a:xfrm flipH="1">
            <a:off x="1295400" y="3260725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66" name="Oval 6"/>
          <p:cNvSpPr>
            <a:spLocks noChangeArrowheads="1"/>
          </p:cNvSpPr>
          <p:nvPr/>
        </p:nvSpPr>
        <p:spPr bwMode="auto">
          <a:xfrm flipH="1">
            <a:off x="2057400" y="3641725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67" name="Oval 7"/>
          <p:cNvSpPr>
            <a:spLocks noChangeArrowheads="1"/>
          </p:cNvSpPr>
          <p:nvPr/>
        </p:nvSpPr>
        <p:spPr bwMode="auto">
          <a:xfrm flipH="1">
            <a:off x="990600" y="4784725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68" name="Line 8"/>
          <p:cNvSpPr>
            <a:spLocks noChangeShapeType="1"/>
          </p:cNvSpPr>
          <p:nvPr/>
        </p:nvSpPr>
        <p:spPr bwMode="auto">
          <a:xfrm flipH="1">
            <a:off x="762000" y="2117725"/>
            <a:ext cx="609600" cy="685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69" name="Line 9"/>
          <p:cNvSpPr>
            <a:spLocks noChangeShapeType="1"/>
          </p:cNvSpPr>
          <p:nvPr/>
        </p:nvSpPr>
        <p:spPr bwMode="auto">
          <a:xfrm flipH="1">
            <a:off x="1371600" y="2193925"/>
            <a:ext cx="76200" cy="1066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70" name="Line 10"/>
          <p:cNvSpPr>
            <a:spLocks noChangeShapeType="1"/>
          </p:cNvSpPr>
          <p:nvPr/>
        </p:nvSpPr>
        <p:spPr bwMode="auto">
          <a:xfrm>
            <a:off x="1524000" y="2117725"/>
            <a:ext cx="609600" cy="1524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71" name="Line 11"/>
          <p:cNvSpPr>
            <a:spLocks noChangeShapeType="1"/>
          </p:cNvSpPr>
          <p:nvPr/>
        </p:nvSpPr>
        <p:spPr bwMode="auto">
          <a:xfrm flipH="1">
            <a:off x="1066800" y="3794125"/>
            <a:ext cx="990600" cy="990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72" name="Line 12"/>
          <p:cNvSpPr>
            <a:spLocks noChangeShapeType="1"/>
          </p:cNvSpPr>
          <p:nvPr/>
        </p:nvSpPr>
        <p:spPr bwMode="auto">
          <a:xfrm>
            <a:off x="762000" y="2955925"/>
            <a:ext cx="533400" cy="381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73" name="Line 13"/>
          <p:cNvSpPr>
            <a:spLocks noChangeShapeType="1"/>
          </p:cNvSpPr>
          <p:nvPr/>
        </p:nvSpPr>
        <p:spPr bwMode="auto">
          <a:xfrm>
            <a:off x="1447800" y="3413125"/>
            <a:ext cx="609600" cy="304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74" name="Text Box 14"/>
          <p:cNvSpPr txBox="1">
            <a:spLocks noChangeArrowheads="1"/>
          </p:cNvSpPr>
          <p:nvPr/>
        </p:nvSpPr>
        <p:spPr bwMode="auto">
          <a:xfrm>
            <a:off x="1545245" y="1704330"/>
            <a:ext cx="66236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</a:rPr>
              <a:t>s(9)</a:t>
            </a:r>
          </a:p>
        </p:txBody>
      </p:sp>
      <p:sp>
        <p:nvSpPr>
          <p:cNvPr id="92175" name="Text Box 15"/>
          <p:cNvSpPr txBox="1">
            <a:spLocks noChangeArrowheads="1"/>
          </p:cNvSpPr>
          <p:nvPr/>
        </p:nvSpPr>
        <p:spPr bwMode="auto">
          <a:xfrm>
            <a:off x="2115016" y="3533130"/>
            <a:ext cx="75533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/>
              <a:t>A(1)</a:t>
            </a:r>
          </a:p>
        </p:txBody>
      </p:sp>
      <p:sp>
        <p:nvSpPr>
          <p:cNvPr id="92176" name="Text Box 16"/>
          <p:cNvSpPr txBox="1">
            <a:spLocks noChangeArrowheads="1"/>
          </p:cNvSpPr>
          <p:nvPr/>
        </p:nvSpPr>
        <p:spPr bwMode="auto">
          <a:xfrm>
            <a:off x="982104" y="3378503"/>
            <a:ext cx="73930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/>
              <a:t>B(5)</a:t>
            </a:r>
          </a:p>
        </p:txBody>
      </p:sp>
      <p:sp>
        <p:nvSpPr>
          <p:cNvPr id="92177" name="Text Box 17"/>
          <p:cNvSpPr txBox="1">
            <a:spLocks noChangeArrowheads="1"/>
          </p:cNvSpPr>
          <p:nvPr/>
        </p:nvSpPr>
        <p:spPr bwMode="auto">
          <a:xfrm>
            <a:off x="107392" y="2390130"/>
            <a:ext cx="73930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/>
              <a:t>C(8)</a:t>
            </a:r>
          </a:p>
        </p:txBody>
      </p:sp>
      <p:sp>
        <p:nvSpPr>
          <p:cNvPr id="92178" name="Text Box 18"/>
          <p:cNvSpPr txBox="1">
            <a:spLocks noChangeArrowheads="1"/>
          </p:cNvSpPr>
          <p:nvPr/>
        </p:nvSpPr>
        <p:spPr bwMode="auto">
          <a:xfrm>
            <a:off x="556637" y="5133330"/>
            <a:ext cx="107112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/>
              <a:t>G </a:t>
            </a:r>
            <a:r>
              <a:rPr lang="zh-CN" altLang="en-US" sz="2400" b="1"/>
              <a:t>目標</a:t>
            </a:r>
            <a:endParaRPr lang="zh-CN" altLang="en-US" sz="2400" b="1" dirty="0"/>
          </a:p>
        </p:txBody>
      </p:sp>
      <p:sp>
        <p:nvSpPr>
          <p:cNvPr id="92179" name="Text Box 19"/>
          <p:cNvSpPr txBox="1">
            <a:spLocks noChangeArrowheads="1"/>
          </p:cNvSpPr>
          <p:nvPr/>
        </p:nvSpPr>
        <p:spPr bwMode="auto">
          <a:xfrm>
            <a:off x="1905000" y="2618730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6</a:t>
            </a:r>
            <a:endParaRPr lang="en-US" altLang="zh-CN" sz="2400" b="1" dirty="0"/>
          </a:p>
        </p:txBody>
      </p:sp>
      <p:sp>
        <p:nvSpPr>
          <p:cNvPr id="92180" name="Text Box 20"/>
          <p:cNvSpPr txBox="1">
            <a:spLocks noChangeArrowheads="1"/>
          </p:cNvSpPr>
          <p:nvPr/>
        </p:nvSpPr>
        <p:spPr bwMode="auto">
          <a:xfrm>
            <a:off x="1143000" y="2466330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3</a:t>
            </a:r>
            <a:endParaRPr lang="en-US" altLang="zh-CN" sz="2400" b="1" dirty="0"/>
          </a:p>
        </p:txBody>
      </p:sp>
      <p:sp>
        <p:nvSpPr>
          <p:cNvPr id="92181" name="Text Box 21"/>
          <p:cNvSpPr txBox="1">
            <a:spLocks noChangeArrowheads="1"/>
          </p:cNvSpPr>
          <p:nvPr/>
        </p:nvSpPr>
        <p:spPr bwMode="auto">
          <a:xfrm>
            <a:off x="914400" y="2009130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1</a:t>
            </a:r>
            <a:endParaRPr lang="en-US" altLang="zh-CN" sz="2400" b="1" dirty="0"/>
          </a:p>
        </p:txBody>
      </p:sp>
      <p:sp>
        <p:nvSpPr>
          <p:cNvPr id="92182" name="Text Box 22"/>
          <p:cNvSpPr txBox="1">
            <a:spLocks noChangeArrowheads="1"/>
          </p:cNvSpPr>
          <p:nvPr/>
        </p:nvSpPr>
        <p:spPr bwMode="auto">
          <a:xfrm>
            <a:off x="734704" y="3027026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1</a:t>
            </a:r>
            <a:endParaRPr lang="en-US" altLang="zh-CN" sz="2400" b="1" dirty="0"/>
          </a:p>
        </p:txBody>
      </p:sp>
      <p:sp>
        <p:nvSpPr>
          <p:cNvPr id="92183" name="Text Box 23"/>
          <p:cNvSpPr txBox="1">
            <a:spLocks noChangeArrowheads="1"/>
          </p:cNvSpPr>
          <p:nvPr/>
        </p:nvSpPr>
        <p:spPr bwMode="auto">
          <a:xfrm>
            <a:off x="1600200" y="3152130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1</a:t>
            </a:r>
            <a:endParaRPr lang="en-US" altLang="zh-CN" sz="2400" b="1" dirty="0"/>
          </a:p>
        </p:txBody>
      </p:sp>
      <p:sp>
        <p:nvSpPr>
          <p:cNvPr id="92184" name="Text Box 24"/>
          <p:cNvSpPr txBox="1">
            <a:spLocks noChangeArrowheads="1"/>
          </p:cNvSpPr>
          <p:nvPr/>
        </p:nvSpPr>
        <p:spPr bwMode="auto">
          <a:xfrm>
            <a:off x="1295400" y="3990330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8</a:t>
            </a:r>
            <a:endParaRPr lang="en-US" altLang="zh-CN" sz="2400" b="1" dirty="0"/>
          </a:p>
        </p:txBody>
      </p:sp>
      <p:sp>
        <p:nvSpPr>
          <p:cNvPr id="92185" name="Text Box 25"/>
          <p:cNvSpPr txBox="1">
            <a:spLocks noChangeArrowheads="1"/>
          </p:cNvSpPr>
          <p:nvPr/>
        </p:nvSpPr>
        <p:spPr bwMode="auto">
          <a:xfrm>
            <a:off x="762000" y="683568"/>
            <a:ext cx="426751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/>
              <a:t>前面的例子中，</a:t>
            </a:r>
            <a:r>
              <a:rPr lang="en-US" altLang="zh-CN" sz="2400" b="1" dirty="0"/>
              <a:t>h(</a:t>
            </a:r>
            <a:r>
              <a:rPr lang="en-US" altLang="zh-CN" sz="2400" b="1"/>
              <a:t>S)</a:t>
            </a:r>
            <a:r>
              <a:rPr lang="zh-CN" altLang="en-US" sz="2400" b="1"/>
              <a:t>修改為</a:t>
            </a:r>
            <a:r>
              <a:rPr lang="en-US" altLang="zh-CN" sz="2400" b="1"/>
              <a:t>9</a:t>
            </a:r>
            <a:r>
              <a:rPr lang="zh-CN" altLang="en-US" sz="2400" b="1" dirty="0"/>
              <a:t>：</a:t>
            </a:r>
          </a:p>
        </p:txBody>
      </p:sp>
      <p:sp>
        <p:nvSpPr>
          <p:cNvPr id="92186" name="Line 27"/>
          <p:cNvSpPr>
            <a:spLocks noChangeShapeType="1"/>
          </p:cNvSpPr>
          <p:nvPr/>
        </p:nvSpPr>
        <p:spPr bwMode="auto">
          <a:xfrm>
            <a:off x="3073970" y="1828800"/>
            <a:ext cx="5638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87" name="Line 28"/>
          <p:cNvSpPr>
            <a:spLocks noChangeShapeType="1"/>
          </p:cNvSpPr>
          <p:nvPr/>
        </p:nvSpPr>
        <p:spPr bwMode="auto">
          <a:xfrm>
            <a:off x="5408142" y="1371600"/>
            <a:ext cx="0" cy="434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88" name="Text Box 29"/>
          <p:cNvSpPr txBox="1">
            <a:spLocks noChangeArrowheads="1"/>
          </p:cNvSpPr>
          <p:nvPr/>
        </p:nvSpPr>
        <p:spPr bwMode="auto">
          <a:xfrm>
            <a:off x="3429000" y="1339334"/>
            <a:ext cx="97975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/>
              <a:t>OPEN</a:t>
            </a:r>
            <a:r>
              <a:rPr lang="zh-CN" altLang="en-US" b="1" dirty="0"/>
              <a:t>表</a:t>
            </a:r>
          </a:p>
        </p:txBody>
      </p:sp>
      <p:sp>
        <p:nvSpPr>
          <p:cNvPr id="92189" name="Text Box 30"/>
          <p:cNvSpPr txBox="1">
            <a:spLocks noChangeArrowheads="1"/>
          </p:cNvSpPr>
          <p:nvPr/>
        </p:nvSpPr>
        <p:spPr bwMode="auto">
          <a:xfrm>
            <a:off x="5715000" y="1339334"/>
            <a:ext cx="123303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/>
              <a:t>CLOSED</a:t>
            </a:r>
            <a:r>
              <a:rPr lang="zh-CN" altLang="en-US" b="1" dirty="0"/>
              <a:t>表</a:t>
            </a:r>
          </a:p>
        </p:txBody>
      </p:sp>
      <p:sp>
        <p:nvSpPr>
          <p:cNvPr id="92190" name="Line 31"/>
          <p:cNvSpPr>
            <a:spLocks noChangeShapeType="1"/>
          </p:cNvSpPr>
          <p:nvPr/>
        </p:nvSpPr>
        <p:spPr bwMode="auto">
          <a:xfrm>
            <a:off x="8350620" y="1371600"/>
            <a:ext cx="0" cy="441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91" name="Text Box 32"/>
          <p:cNvSpPr txBox="1">
            <a:spLocks noChangeArrowheads="1"/>
          </p:cNvSpPr>
          <p:nvPr/>
        </p:nvSpPr>
        <p:spPr bwMode="auto">
          <a:xfrm>
            <a:off x="8382000" y="1339334"/>
            <a:ext cx="38023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/>
              <a:t>f</a:t>
            </a:r>
            <a:r>
              <a:rPr lang="en-US" altLang="zh-CN" b="1" baseline="-25000" dirty="0"/>
              <a:t>m</a:t>
            </a:r>
          </a:p>
        </p:txBody>
      </p:sp>
      <p:sp>
        <p:nvSpPr>
          <p:cNvPr id="139297" name="Text Box 33"/>
          <p:cNvSpPr txBox="1">
            <a:spLocks noChangeArrowheads="1"/>
          </p:cNvSpPr>
          <p:nvPr/>
        </p:nvSpPr>
        <p:spPr bwMode="auto">
          <a:xfrm>
            <a:off x="3052116" y="2024341"/>
            <a:ext cx="80502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dirty="0"/>
              <a:t>s(0+9)</a:t>
            </a:r>
            <a:endParaRPr lang="en-US" altLang="zh-CN" b="1" dirty="0"/>
          </a:p>
        </p:txBody>
      </p:sp>
      <p:sp>
        <p:nvSpPr>
          <p:cNvPr id="139298" name="Text Box 34"/>
          <p:cNvSpPr txBox="1">
            <a:spLocks noChangeArrowheads="1"/>
          </p:cNvSpPr>
          <p:nvPr/>
        </p:nvSpPr>
        <p:spPr bwMode="auto">
          <a:xfrm>
            <a:off x="5486400" y="2024341"/>
            <a:ext cx="80502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dirty="0"/>
              <a:t>s(0+9)</a:t>
            </a:r>
            <a:endParaRPr lang="en-US" altLang="zh-CN" b="1" dirty="0"/>
          </a:p>
        </p:txBody>
      </p:sp>
      <p:sp>
        <p:nvSpPr>
          <p:cNvPr id="139299" name="Text Box 35"/>
          <p:cNvSpPr txBox="1">
            <a:spLocks noChangeArrowheads="1"/>
          </p:cNvSpPr>
          <p:nvPr/>
        </p:nvSpPr>
        <p:spPr bwMode="auto">
          <a:xfrm>
            <a:off x="8332788" y="2024341"/>
            <a:ext cx="29046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/>
              <a:t>9</a:t>
            </a:r>
          </a:p>
        </p:txBody>
      </p:sp>
      <p:sp>
        <p:nvSpPr>
          <p:cNvPr id="139300" name="Text Box 36"/>
          <p:cNvSpPr txBox="1">
            <a:spLocks noChangeArrowheads="1"/>
          </p:cNvSpPr>
          <p:nvPr/>
        </p:nvSpPr>
        <p:spPr bwMode="auto">
          <a:xfrm>
            <a:off x="3048000" y="2667000"/>
            <a:ext cx="23145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dirty="0">
                <a:solidFill>
                  <a:srgbClr val="00B0F0"/>
                </a:solidFill>
              </a:rPr>
              <a:t>A(6+1) B(3+5) </a:t>
            </a:r>
            <a:r>
              <a:rPr lang="en-US" altLang="zh-CN" b="1" dirty="0"/>
              <a:t>C(1+8)</a:t>
            </a:r>
          </a:p>
        </p:txBody>
      </p:sp>
      <p:sp>
        <p:nvSpPr>
          <p:cNvPr id="139301" name="Line 37"/>
          <p:cNvSpPr>
            <a:spLocks noChangeShapeType="1"/>
          </p:cNvSpPr>
          <p:nvPr/>
        </p:nvSpPr>
        <p:spPr bwMode="auto">
          <a:xfrm>
            <a:off x="3810000" y="2995655"/>
            <a:ext cx="7620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02" name="Text Box 38"/>
          <p:cNvSpPr txBox="1">
            <a:spLocks noChangeArrowheads="1"/>
          </p:cNvSpPr>
          <p:nvPr/>
        </p:nvSpPr>
        <p:spPr bwMode="auto">
          <a:xfrm>
            <a:off x="5486400" y="2665691"/>
            <a:ext cx="15343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dirty="0"/>
              <a:t>s(0+9) B(3+5)</a:t>
            </a:r>
            <a:endParaRPr lang="en-US" altLang="zh-CN" b="1" dirty="0"/>
          </a:p>
        </p:txBody>
      </p:sp>
      <p:sp>
        <p:nvSpPr>
          <p:cNvPr id="139303" name="Text Box 39"/>
          <p:cNvSpPr txBox="1">
            <a:spLocks noChangeArrowheads="1"/>
          </p:cNvSpPr>
          <p:nvPr/>
        </p:nvSpPr>
        <p:spPr bwMode="auto">
          <a:xfrm>
            <a:off x="8382000" y="2589491"/>
            <a:ext cx="29046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/>
              <a:t>9</a:t>
            </a:r>
          </a:p>
        </p:txBody>
      </p:sp>
      <p:sp>
        <p:nvSpPr>
          <p:cNvPr id="139304" name="Text Box 40"/>
          <p:cNvSpPr txBox="1">
            <a:spLocks noChangeArrowheads="1"/>
          </p:cNvSpPr>
          <p:nvPr/>
        </p:nvSpPr>
        <p:spPr bwMode="auto">
          <a:xfrm>
            <a:off x="3036887" y="3199091"/>
            <a:ext cx="258955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dirty="0">
                <a:solidFill>
                  <a:srgbClr val="00B0F0"/>
                </a:solidFill>
              </a:rPr>
              <a:t>A(4+1) </a:t>
            </a:r>
            <a:r>
              <a:rPr lang="en-US" altLang="zh-CN" b="1" dirty="0"/>
              <a:t>C(1+8)</a:t>
            </a:r>
          </a:p>
        </p:txBody>
      </p:sp>
      <p:sp>
        <p:nvSpPr>
          <p:cNvPr id="139305" name="Line 41"/>
          <p:cNvSpPr>
            <a:spLocks noChangeShapeType="1"/>
          </p:cNvSpPr>
          <p:nvPr/>
        </p:nvSpPr>
        <p:spPr bwMode="auto">
          <a:xfrm>
            <a:off x="3068584" y="3505200"/>
            <a:ext cx="7620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06" name="Text Box 42"/>
          <p:cNvSpPr txBox="1">
            <a:spLocks noChangeArrowheads="1"/>
          </p:cNvSpPr>
          <p:nvPr/>
        </p:nvSpPr>
        <p:spPr bwMode="auto">
          <a:xfrm>
            <a:off x="5486400" y="3199091"/>
            <a:ext cx="226574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dirty="0"/>
              <a:t>s(0+9) </a:t>
            </a:r>
            <a:r>
              <a:rPr lang="en-US" altLang="zh-CN" b="1" dirty="0"/>
              <a:t>B(3+5) A(4+1)</a:t>
            </a:r>
          </a:p>
        </p:txBody>
      </p:sp>
      <p:sp>
        <p:nvSpPr>
          <p:cNvPr id="139307" name="Text Box 43"/>
          <p:cNvSpPr txBox="1">
            <a:spLocks noChangeArrowheads="1"/>
          </p:cNvSpPr>
          <p:nvPr/>
        </p:nvSpPr>
        <p:spPr bwMode="auto">
          <a:xfrm>
            <a:off x="8382000" y="3199091"/>
            <a:ext cx="29046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/>
              <a:t>9</a:t>
            </a:r>
          </a:p>
        </p:txBody>
      </p:sp>
      <p:sp>
        <p:nvSpPr>
          <p:cNvPr id="139308" name="Text Box 44"/>
          <p:cNvSpPr txBox="1">
            <a:spLocks noChangeArrowheads="1"/>
          </p:cNvSpPr>
          <p:nvPr/>
        </p:nvSpPr>
        <p:spPr bwMode="auto">
          <a:xfrm>
            <a:off x="3048000" y="3808691"/>
            <a:ext cx="170912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/>
              <a:t>C(1+8) G(12+0)</a:t>
            </a:r>
          </a:p>
        </p:txBody>
      </p:sp>
      <p:sp>
        <p:nvSpPr>
          <p:cNvPr id="139309" name="Text Box 45"/>
          <p:cNvSpPr txBox="1">
            <a:spLocks noChangeArrowheads="1"/>
          </p:cNvSpPr>
          <p:nvPr/>
        </p:nvSpPr>
        <p:spPr bwMode="auto">
          <a:xfrm>
            <a:off x="5449332" y="3808691"/>
            <a:ext cx="226574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/>
              <a:t>s(0+9) A(4+1) C(1+8)</a:t>
            </a:r>
          </a:p>
        </p:txBody>
      </p:sp>
      <p:sp>
        <p:nvSpPr>
          <p:cNvPr id="139310" name="Text Box 46"/>
          <p:cNvSpPr txBox="1">
            <a:spLocks noChangeArrowheads="1"/>
          </p:cNvSpPr>
          <p:nvPr/>
        </p:nvSpPr>
        <p:spPr bwMode="auto">
          <a:xfrm>
            <a:off x="8382000" y="3808691"/>
            <a:ext cx="29046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9311" name="Line 47"/>
          <p:cNvSpPr>
            <a:spLocks noChangeShapeType="1"/>
          </p:cNvSpPr>
          <p:nvPr/>
        </p:nvSpPr>
        <p:spPr bwMode="auto">
          <a:xfrm>
            <a:off x="3124200" y="4183580"/>
            <a:ext cx="7620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12" name="Text Box 48"/>
          <p:cNvSpPr txBox="1">
            <a:spLocks noChangeArrowheads="1"/>
          </p:cNvSpPr>
          <p:nvPr/>
        </p:nvSpPr>
        <p:spPr bwMode="auto">
          <a:xfrm>
            <a:off x="2990021" y="4896778"/>
            <a:ext cx="257955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00B0F0"/>
                </a:solidFill>
              </a:rPr>
              <a:t>A(3+1)</a:t>
            </a:r>
            <a:r>
              <a:rPr lang="en-US" altLang="zh-CN" b="1" dirty="0"/>
              <a:t>G(12+0) D(2+12) </a:t>
            </a:r>
          </a:p>
        </p:txBody>
      </p:sp>
      <p:sp>
        <p:nvSpPr>
          <p:cNvPr id="48" name="Oval 3"/>
          <p:cNvSpPr>
            <a:spLocks noChangeArrowheads="1"/>
          </p:cNvSpPr>
          <p:nvPr/>
        </p:nvSpPr>
        <p:spPr bwMode="auto">
          <a:xfrm flipH="1">
            <a:off x="611996" y="3916362"/>
            <a:ext cx="152400" cy="152400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" name="Line 11"/>
          <p:cNvSpPr>
            <a:spLocks noChangeShapeType="1"/>
          </p:cNvSpPr>
          <p:nvPr/>
        </p:nvSpPr>
        <p:spPr bwMode="auto">
          <a:xfrm>
            <a:off x="674200" y="2955925"/>
            <a:ext cx="19702" cy="941062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" name="Text Box 14"/>
          <p:cNvSpPr txBox="1">
            <a:spLocks noChangeArrowheads="1"/>
          </p:cNvSpPr>
          <p:nvPr/>
        </p:nvSpPr>
        <p:spPr bwMode="auto">
          <a:xfrm>
            <a:off x="330712" y="4084493"/>
            <a:ext cx="9124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/>
              <a:t>D(12)</a:t>
            </a:r>
          </a:p>
        </p:txBody>
      </p:sp>
      <p:sp>
        <p:nvSpPr>
          <p:cNvPr id="51" name="Text Box 21"/>
          <p:cNvSpPr txBox="1">
            <a:spLocks noChangeArrowheads="1"/>
          </p:cNvSpPr>
          <p:nvPr/>
        </p:nvSpPr>
        <p:spPr bwMode="auto">
          <a:xfrm>
            <a:off x="319607" y="3236267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1</a:t>
            </a:r>
            <a:endParaRPr lang="en-US" altLang="zh-CN" sz="2400" b="1" dirty="0"/>
          </a:p>
        </p:txBody>
      </p:sp>
      <p:sp>
        <p:nvSpPr>
          <p:cNvPr id="52" name="Text Box 48"/>
          <p:cNvSpPr txBox="1">
            <a:spLocks noChangeArrowheads="1"/>
          </p:cNvSpPr>
          <p:nvPr/>
        </p:nvSpPr>
        <p:spPr bwMode="auto">
          <a:xfrm>
            <a:off x="3019165" y="5940242"/>
            <a:ext cx="366158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/>
              <a:t>說明：藍顏色表示在</a:t>
            </a:r>
            <a:r>
              <a:rPr lang="en-US" altLang="zh-CN" b="1"/>
              <a:t>nest</a:t>
            </a:r>
            <a:r>
              <a:rPr lang="zh-CN" altLang="en-US" b="1"/>
              <a:t>中的節點</a:t>
            </a:r>
            <a:r>
              <a:rPr lang="en-US" altLang="zh-CN" b="1"/>
              <a:t> </a:t>
            </a:r>
            <a:endParaRPr lang="en-US" altLang="zh-CN" b="1" dirty="0"/>
          </a:p>
        </p:txBody>
      </p:sp>
      <p:sp>
        <p:nvSpPr>
          <p:cNvPr id="53" name="Text Box 48"/>
          <p:cNvSpPr txBox="1">
            <a:spLocks noChangeArrowheads="1"/>
          </p:cNvSpPr>
          <p:nvPr/>
        </p:nvSpPr>
        <p:spPr bwMode="auto">
          <a:xfrm>
            <a:off x="2949939" y="4335730"/>
            <a:ext cx="251393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00B0F0"/>
                </a:solidFill>
              </a:rPr>
              <a:t>B</a:t>
            </a:r>
            <a:r>
              <a:rPr lang="en-US" altLang="zh-CN" sz="1800" b="1" dirty="0">
                <a:solidFill>
                  <a:srgbClr val="00B0F0"/>
                </a:solidFill>
              </a:rPr>
              <a:t>(2+5</a:t>
            </a:r>
            <a:r>
              <a:rPr lang="en-US" altLang="zh-CN" b="1" dirty="0">
                <a:solidFill>
                  <a:srgbClr val="00B0F0"/>
                </a:solidFill>
              </a:rPr>
              <a:t>)</a:t>
            </a:r>
            <a:r>
              <a:rPr lang="en-US" altLang="zh-CN" b="1" dirty="0"/>
              <a:t> G(12+0) D(2+12)</a:t>
            </a:r>
          </a:p>
        </p:txBody>
      </p:sp>
      <p:sp>
        <p:nvSpPr>
          <p:cNvPr id="54" name="Text Box 45"/>
          <p:cNvSpPr txBox="1">
            <a:spLocks noChangeArrowheads="1"/>
          </p:cNvSpPr>
          <p:nvPr/>
        </p:nvSpPr>
        <p:spPr bwMode="auto">
          <a:xfrm>
            <a:off x="5362575" y="4325002"/>
            <a:ext cx="216116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dirty="0"/>
              <a:t>s(0+9)C(1+8)B(2+5)</a:t>
            </a:r>
            <a:endParaRPr lang="en-US" altLang="zh-CN" b="1" dirty="0"/>
          </a:p>
        </p:txBody>
      </p:sp>
      <p:sp>
        <p:nvSpPr>
          <p:cNvPr id="55" name="Text Box 45"/>
          <p:cNvSpPr txBox="1">
            <a:spLocks noChangeArrowheads="1"/>
          </p:cNvSpPr>
          <p:nvPr/>
        </p:nvSpPr>
        <p:spPr bwMode="auto">
          <a:xfrm>
            <a:off x="5463871" y="4902884"/>
            <a:ext cx="289252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dirty="0"/>
              <a:t>s(0+9)C(1+8)B(2+5)</a:t>
            </a:r>
            <a:r>
              <a:rPr lang="en-US" altLang="zh-CN" b="1" dirty="0"/>
              <a:t> A(3+1)</a:t>
            </a:r>
          </a:p>
        </p:txBody>
      </p:sp>
      <p:sp>
        <p:nvSpPr>
          <p:cNvPr id="56" name="Text Box 48"/>
          <p:cNvSpPr txBox="1">
            <a:spLocks noChangeArrowheads="1"/>
          </p:cNvSpPr>
          <p:nvPr/>
        </p:nvSpPr>
        <p:spPr bwMode="auto">
          <a:xfrm>
            <a:off x="2961677" y="5384180"/>
            <a:ext cx="189026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/>
              <a:t>G(11+0) D(2+12) </a:t>
            </a:r>
          </a:p>
        </p:txBody>
      </p:sp>
      <p:sp>
        <p:nvSpPr>
          <p:cNvPr id="57" name="Line 47"/>
          <p:cNvSpPr>
            <a:spLocks noChangeShapeType="1"/>
          </p:cNvSpPr>
          <p:nvPr/>
        </p:nvSpPr>
        <p:spPr bwMode="auto">
          <a:xfrm>
            <a:off x="3000610" y="4672050"/>
            <a:ext cx="7620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58" name="Line 47"/>
          <p:cNvSpPr>
            <a:spLocks noChangeShapeType="1"/>
          </p:cNvSpPr>
          <p:nvPr/>
        </p:nvSpPr>
        <p:spPr bwMode="auto">
          <a:xfrm>
            <a:off x="3019156" y="5275957"/>
            <a:ext cx="7620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" name="Text Box 46"/>
          <p:cNvSpPr txBox="1">
            <a:spLocks noChangeArrowheads="1"/>
          </p:cNvSpPr>
          <p:nvPr/>
        </p:nvSpPr>
        <p:spPr bwMode="auto">
          <a:xfrm>
            <a:off x="8422306" y="4326441"/>
            <a:ext cx="29046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/>
              <a:t>9</a:t>
            </a:r>
          </a:p>
        </p:txBody>
      </p:sp>
      <p:sp>
        <p:nvSpPr>
          <p:cNvPr id="60" name="Text Box 46"/>
          <p:cNvSpPr txBox="1">
            <a:spLocks noChangeArrowheads="1"/>
          </p:cNvSpPr>
          <p:nvPr/>
        </p:nvSpPr>
        <p:spPr bwMode="auto">
          <a:xfrm>
            <a:off x="8446852" y="4906625"/>
            <a:ext cx="29046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540909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9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9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9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97" grpId="0" autoUpdateAnimBg="0"/>
      <p:bldP spid="139298" grpId="0" autoUpdateAnimBg="0"/>
      <p:bldP spid="139299" grpId="0" autoUpdateAnimBg="0"/>
      <p:bldP spid="139300" grpId="0" autoUpdateAnimBg="0"/>
      <p:bldP spid="139301" grpId="0" animBg="1"/>
      <p:bldP spid="139302" grpId="0" autoUpdateAnimBg="0"/>
      <p:bldP spid="139303" grpId="0" autoUpdateAnimBg="0"/>
      <p:bldP spid="139304" grpId="0" autoUpdateAnimBg="0"/>
      <p:bldP spid="139305" grpId="0" animBg="1"/>
      <p:bldP spid="139306" grpId="0" autoUpdateAnimBg="0"/>
      <p:bldP spid="139307" grpId="0" autoUpdateAnimBg="0"/>
      <p:bldP spid="139308" grpId="0" autoUpdateAnimBg="0"/>
      <p:bldP spid="139309" grpId="0" autoUpdateAnimBg="0"/>
      <p:bldP spid="139310" grpId="0" autoUpdateAnimBg="0"/>
      <p:bldP spid="139311" grpId="0" animBg="1"/>
      <p:bldP spid="139312" grpId="0" autoUpdateAnimBg="0"/>
      <p:bldP spid="53" grpId="0" autoUpdateAnimBg="0"/>
      <p:bldP spid="54" grpId="0" autoUpdateAnimBg="0"/>
      <p:bldP spid="55" grpId="0" autoUpdateAnimBg="0"/>
      <p:bldP spid="56" grpId="0" autoUpdateAnimBg="0"/>
      <p:bldP spid="57" grpId="0" animBg="1"/>
      <p:bldP spid="58" grpId="0" animBg="1"/>
      <p:bldP spid="59" grpId="0" autoUpdateAnimBg="0"/>
      <p:bldP spid="60" grpId="0" autoUpdateAnimBg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前面例子中，假設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h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(s)=8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擴展後，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OPEN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為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en-US" altLang="zh-CN" sz="2800" dirty="0"/>
              <a:t>A(6+1), B(3+5), C(</a:t>
            </a:r>
            <a:r>
              <a:rPr lang="en-US" altLang="zh-CN" sz="2800"/>
              <a:t>1+8)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]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，對於改進的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*，應該選擇哪個節點擴展？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節點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828800" y="3747855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節點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節點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9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6127615" y="2175041"/>
            <a:ext cx="2776608" cy="3890665"/>
            <a:chOff x="5726172" y="1628635"/>
            <a:chExt cx="2776608" cy="3890665"/>
          </a:xfrm>
        </p:grpSpPr>
        <p:sp>
          <p:nvSpPr>
            <p:cNvPr id="22" name="Oval 2"/>
            <p:cNvSpPr>
              <a:spLocks noChangeArrowheads="1"/>
            </p:cNvSpPr>
            <p:nvPr/>
          </p:nvSpPr>
          <p:spPr bwMode="auto">
            <a:xfrm flipH="1">
              <a:off x="6990380" y="1889630"/>
              <a:ext cx="152400" cy="152400"/>
            </a:xfrm>
            <a:prstGeom prst="ellipse">
              <a:avLst/>
            </a:prstGeom>
            <a:solidFill>
              <a:srgbClr val="FFFFFF"/>
            </a:solidFill>
            <a:ln w="57150">
              <a:solidFill>
                <a:srgbClr val="0070C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23" name="Oval 3"/>
            <p:cNvSpPr>
              <a:spLocks noChangeArrowheads="1"/>
            </p:cNvSpPr>
            <p:nvPr/>
          </p:nvSpPr>
          <p:spPr bwMode="auto">
            <a:xfrm flipH="1">
              <a:off x="6228380" y="2727830"/>
              <a:ext cx="152400" cy="152400"/>
            </a:xfrm>
            <a:prstGeom prst="ellipse">
              <a:avLst/>
            </a:prstGeom>
            <a:solidFill>
              <a:srgbClr val="FFFFFF"/>
            </a:solidFill>
            <a:ln w="57150">
              <a:solidFill>
                <a:srgbClr val="0070C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24" name="Oval 4"/>
            <p:cNvSpPr>
              <a:spLocks noChangeArrowheads="1"/>
            </p:cNvSpPr>
            <p:nvPr/>
          </p:nvSpPr>
          <p:spPr bwMode="auto">
            <a:xfrm flipH="1">
              <a:off x="6914180" y="3185030"/>
              <a:ext cx="152400" cy="152400"/>
            </a:xfrm>
            <a:prstGeom prst="ellipse">
              <a:avLst/>
            </a:prstGeom>
            <a:solidFill>
              <a:srgbClr val="FFFFFF"/>
            </a:solidFill>
            <a:ln w="57150">
              <a:solidFill>
                <a:srgbClr val="0070C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25" name="Oval 5"/>
            <p:cNvSpPr>
              <a:spLocks noChangeArrowheads="1"/>
            </p:cNvSpPr>
            <p:nvPr/>
          </p:nvSpPr>
          <p:spPr bwMode="auto">
            <a:xfrm flipH="1">
              <a:off x="7676180" y="3566030"/>
              <a:ext cx="152400" cy="152400"/>
            </a:xfrm>
            <a:prstGeom prst="ellipse">
              <a:avLst/>
            </a:prstGeom>
            <a:solidFill>
              <a:srgbClr val="FFFFFF"/>
            </a:solidFill>
            <a:ln w="57150">
              <a:solidFill>
                <a:srgbClr val="0070C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26" name="Oval 6"/>
            <p:cNvSpPr>
              <a:spLocks noChangeArrowheads="1"/>
            </p:cNvSpPr>
            <p:nvPr/>
          </p:nvSpPr>
          <p:spPr bwMode="auto">
            <a:xfrm flipH="1">
              <a:off x="6609380" y="4709030"/>
              <a:ext cx="152400" cy="152400"/>
            </a:xfrm>
            <a:prstGeom prst="ellipse">
              <a:avLst/>
            </a:prstGeom>
            <a:solidFill>
              <a:srgbClr val="FFFFFF"/>
            </a:solidFill>
            <a:ln w="57150">
              <a:solidFill>
                <a:srgbClr val="0070C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27" name="Line 7"/>
            <p:cNvSpPr>
              <a:spLocks noChangeShapeType="1"/>
            </p:cNvSpPr>
            <p:nvPr/>
          </p:nvSpPr>
          <p:spPr bwMode="auto">
            <a:xfrm flipH="1">
              <a:off x="6380780" y="2042030"/>
              <a:ext cx="609600" cy="685800"/>
            </a:xfrm>
            <a:prstGeom prst="line">
              <a:avLst/>
            </a:prstGeom>
            <a:noFill/>
            <a:ln w="57150">
              <a:solidFill>
                <a:srgbClr val="0070C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28" name="Line 8"/>
            <p:cNvSpPr>
              <a:spLocks noChangeShapeType="1"/>
            </p:cNvSpPr>
            <p:nvPr/>
          </p:nvSpPr>
          <p:spPr bwMode="auto">
            <a:xfrm flipH="1">
              <a:off x="6990380" y="2118230"/>
              <a:ext cx="76200" cy="1066800"/>
            </a:xfrm>
            <a:prstGeom prst="line">
              <a:avLst/>
            </a:prstGeom>
            <a:noFill/>
            <a:ln w="57150">
              <a:solidFill>
                <a:srgbClr val="0070C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29" name="Line 9"/>
            <p:cNvSpPr>
              <a:spLocks noChangeShapeType="1"/>
            </p:cNvSpPr>
            <p:nvPr/>
          </p:nvSpPr>
          <p:spPr bwMode="auto">
            <a:xfrm>
              <a:off x="7142780" y="2042030"/>
              <a:ext cx="609600" cy="1524000"/>
            </a:xfrm>
            <a:prstGeom prst="line">
              <a:avLst/>
            </a:prstGeom>
            <a:noFill/>
            <a:ln w="57150">
              <a:solidFill>
                <a:srgbClr val="0070C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30" name="Line 10"/>
            <p:cNvSpPr>
              <a:spLocks noChangeShapeType="1"/>
            </p:cNvSpPr>
            <p:nvPr/>
          </p:nvSpPr>
          <p:spPr bwMode="auto">
            <a:xfrm flipH="1">
              <a:off x="6685580" y="3718430"/>
              <a:ext cx="990600" cy="990600"/>
            </a:xfrm>
            <a:prstGeom prst="line">
              <a:avLst/>
            </a:prstGeom>
            <a:noFill/>
            <a:ln w="57150">
              <a:solidFill>
                <a:srgbClr val="0070C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31" name="Line 11"/>
            <p:cNvSpPr>
              <a:spLocks noChangeShapeType="1"/>
            </p:cNvSpPr>
            <p:nvPr/>
          </p:nvSpPr>
          <p:spPr bwMode="auto">
            <a:xfrm>
              <a:off x="6380780" y="2880230"/>
              <a:ext cx="533400" cy="381000"/>
            </a:xfrm>
            <a:prstGeom prst="line">
              <a:avLst/>
            </a:prstGeom>
            <a:noFill/>
            <a:ln w="57150">
              <a:solidFill>
                <a:srgbClr val="0070C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32" name="Line 12"/>
            <p:cNvSpPr>
              <a:spLocks noChangeShapeType="1"/>
            </p:cNvSpPr>
            <p:nvPr/>
          </p:nvSpPr>
          <p:spPr bwMode="auto">
            <a:xfrm>
              <a:off x="7066580" y="3337430"/>
              <a:ext cx="609600" cy="304800"/>
            </a:xfrm>
            <a:prstGeom prst="line">
              <a:avLst/>
            </a:prstGeom>
            <a:noFill/>
            <a:ln w="57150">
              <a:solidFill>
                <a:srgbClr val="0070C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33" name="Text Box 13"/>
            <p:cNvSpPr txBox="1">
              <a:spLocks noChangeArrowheads="1"/>
            </p:cNvSpPr>
            <p:nvPr/>
          </p:nvSpPr>
          <p:spPr bwMode="auto">
            <a:xfrm>
              <a:off x="7164025" y="1628635"/>
              <a:ext cx="662361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FF0000"/>
                  </a:solidFill>
                </a:rPr>
                <a:t>s(8)</a:t>
              </a:r>
            </a:p>
          </p:txBody>
        </p:sp>
        <p:sp>
          <p:nvSpPr>
            <p:cNvPr id="34" name="Text Box 14"/>
            <p:cNvSpPr txBox="1">
              <a:spLocks noChangeArrowheads="1"/>
            </p:cNvSpPr>
            <p:nvPr/>
          </p:nvSpPr>
          <p:spPr bwMode="auto">
            <a:xfrm>
              <a:off x="7747444" y="3457435"/>
              <a:ext cx="75533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70C0"/>
                  </a:solidFill>
                </a:rPr>
                <a:t>A(1)</a:t>
              </a:r>
            </a:p>
          </p:txBody>
        </p:sp>
        <p:sp>
          <p:nvSpPr>
            <p:cNvPr id="35" name="Text Box 15"/>
            <p:cNvSpPr txBox="1">
              <a:spLocks noChangeArrowheads="1"/>
            </p:cNvSpPr>
            <p:nvPr/>
          </p:nvSpPr>
          <p:spPr bwMode="auto">
            <a:xfrm>
              <a:off x="6587236" y="3316456"/>
              <a:ext cx="739305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70C0"/>
                  </a:solidFill>
                </a:rPr>
                <a:t>B(5)</a:t>
              </a:r>
            </a:p>
          </p:txBody>
        </p:sp>
        <p:sp>
          <p:nvSpPr>
            <p:cNvPr id="36" name="Text Box 16"/>
            <p:cNvSpPr txBox="1">
              <a:spLocks noChangeArrowheads="1"/>
            </p:cNvSpPr>
            <p:nvPr/>
          </p:nvSpPr>
          <p:spPr bwMode="auto">
            <a:xfrm>
              <a:off x="5726172" y="2314435"/>
              <a:ext cx="739305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70C0"/>
                  </a:solidFill>
                </a:rPr>
                <a:t>C(8)</a:t>
              </a:r>
            </a:p>
          </p:txBody>
        </p:sp>
        <p:sp>
          <p:nvSpPr>
            <p:cNvPr id="37" name="Text Box 17"/>
            <p:cNvSpPr txBox="1">
              <a:spLocks noChangeArrowheads="1"/>
            </p:cNvSpPr>
            <p:nvPr/>
          </p:nvSpPr>
          <p:spPr bwMode="auto">
            <a:xfrm>
              <a:off x="6175417" y="5057635"/>
              <a:ext cx="1071127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400" b="1">
                  <a:solidFill>
                    <a:srgbClr val="0070C0"/>
                  </a:solidFill>
                </a:rPr>
                <a:t>G </a:t>
              </a:r>
              <a:r>
                <a:rPr lang="zh-CN" altLang="en-US" sz="2400" b="1">
                  <a:solidFill>
                    <a:srgbClr val="0070C0"/>
                  </a:solidFill>
                </a:rPr>
                <a:t>目標</a:t>
              </a:r>
              <a:endParaRPr lang="zh-CN" altLang="en-US" sz="2400" b="1" dirty="0">
                <a:solidFill>
                  <a:srgbClr val="0070C0"/>
                </a:solidFill>
              </a:endParaRPr>
            </a:p>
          </p:txBody>
        </p:sp>
        <p:sp>
          <p:nvSpPr>
            <p:cNvPr id="38" name="Text Box 18"/>
            <p:cNvSpPr txBox="1">
              <a:spLocks noChangeArrowheads="1"/>
            </p:cNvSpPr>
            <p:nvPr/>
          </p:nvSpPr>
          <p:spPr bwMode="auto">
            <a:xfrm>
              <a:off x="7523780" y="2543035"/>
              <a:ext cx="32573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400" b="1" dirty="0">
                  <a:solidFill>
                    <a:srgbClr val="0070C0"/>
                  </a:solidFill>
                </a:rPr>
                <a:t>6</a:t>
              </a:r>
              <a:endParaRPr lang="en-US" altLang="zh-CN" sz="2400" b="1" dirty="0">
                <a:solidFill>
                  <a:srgbClr val="0070C0"/>
                </a:solidFill>
              </a:endParaRPr>
            </a:p>
          </p:txBody>
        </p:sp>
        <p:sp>
          <p:nvSpPr>
            <p:cNvPr id="39" name="Text Box 19"/>
            <p:cNvSpPr txBox="1">
              <a:spLocks noChangeArrowheads="1"/>
            </p:cNvSpPr>
            <p:nvPr/>
          </p:nvSpPr>
          <p:spPr bwMode="auto">
            <a:xfrm>
              <a:off x="6761780" y="2390635"/>
              <a:ext cx="32573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400" b="1" dirty="0">
                  <a:solidFill>
                    <a:srgbClr val="0070C0"/>
                  </a:solidFill>
                </a:rPr>
                <a:t>3</a:t>
              </a:r>
              <a:endParaRPr lang="en-US" altLang="zh-CN" sz="2400" b="1" dirty="0">
                <a:solidFill>
                  <a:srgbClr val="0070C0"/>
                </a:solidFill>
              </a:endParaRPr>
            </a:p>
          </p:txBody>
        </p:sp>
        <p:sp>
          <p:nvSpPr>
            <p:cNvPr id="40" name="Text Box 20"/>
            <p:cNvSpPr txBox="1">
              <a:spLocks noChangeArrowheads="1"/>
            </p:cNvSpPr>
            <p:nvPr/>
          </p:nvSpPr>
          <p:spPr bwMode="auto">
            <a:xfrm>
              <a:off x="6533180" y="1933435"/>
              <a:ext cx="32573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400" b="1" dirty="0">
                  <a:solidFill>
                    <a:srgbClr val="0070C0"/>
                  </a:solidFill>
                </a:rPr>
                <a:t>1</a:t>
              </a:r>
              <a:endParaRPr lang="en-US" altLang="zh-CN" sz="2400" b="1" dirty="0">
                <a:solidFill>
                  <a:srgbClr val="0070C0"/>
                </a:solidFill>
              </a:endParaRPr>
            </a:p>
          </p:txBody>
        </p:sp>
        <p:sp>
          <p:nvSpPr>
            <p:cNvPr id="41" name="Text Box 21"/>
            <p:cNvSpPr txBox="1">
              <a:spLocks noChangeArrowheads="1"/>
            </p:cNvSpPr>
            <p:nvPr/>
          </p:nvSpPr>
          <p:spPr bwMode="auto">
            <a:xfrm>
              <a:off x="6380780" y="2978627"/>
              <a:ext cx="32573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400" b="1" dirty="0">
                  <a:solidFill>
                    <a:srgbClr val="0070C0"/>
                  </a:solidFill>
                </a:rPr>
                <a:t>1</a:t>
              </a:r>
              <a:endParaRPr lang="en-US" altLang="zh-CN" sz="2400" b="1" dirty="0">
                <a:solidFill>
                  <a:srgbClr val="0070C0"/>
                </a:solidFill>
              </a:endParaRPr>
            </a:p>
          </p:txBody>
        </p:sp>
        <p:sp>
          <p:nvSpPr>
            <p:cNvPr id="42" name="Text Box 22"/>
            <p:cNvSpPr txBox="1">
              <a:spLocks noChangeArrowheads="1"/>
            </p:cNvSpPr>
            <p:nvPr/>
          </p:nvSpPr>
          <p:spPr bwMode="auto">
            <a:xfrm>
              <a:off x="7218980" y="3076435"/>
              <a:ext cx="32573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400" b="1" dirty="0">
                  <a:solidFill>
                    <a:srgbClr val="0070C0"/>
                  </a:solidFill>
                </a:rPr>
                <a:t>1</a:t>
              </a:r>
              <a:endParaRPr lang="en-US" altLang="zh-CN" sz="2400" b="1" dirty="0">
                <a:solidFill>
                  <a:srgbClr val="0070C0"/>
                </a:solidFill>
              </a:endParaRPr>
            </a:p>
          </p:txBody>
        </p:sp>
        <p:sp>
          <p:nvSpPr>
            <p:cNvPr id="43" name="Text Box 23"/>
            <p:cNvSpPr txBox="1">
              <a:spLocks noChangeArrowheads="1"/>
            </p:cNvSpPr>
            <p:nvPr/>
          </p:nvSpPr>
          <p:spPr bwMode="auto">
            <a:xfrm>
              <a:off x="6914180" y="3914635"/>
              <a:ext cx="32573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400" b="1" dirty="0">
                  <a:solidFill>
                    <a:srgbClr val="0070C0"/>
                  </a:solidFill>
                </a:rPr>
                <a:t>8</a:t>
              </a:r>
              <a:endParaRPr lang="en-US" altLang="zh-CN" sz="2400" b="1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19" name="组合 18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單選題</a:t>
              </a:r>
              <a:endPara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dirty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dirty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1634814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思考題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sz="3200"/>
              <a:t>A</a:t>
            </a:r>
            <a:r>
              <a:rPr lang="zh-CN" altLang="en-US" sz="3200"/>
              <a:t>*演算法、</a:t>
            </a:r>
            <a:r>
              <a:rPr lang="en-US" altLang="zh-CN" sz="3200"/>
              <a:t>A</a:t>
            </a:r>
            <a:r>
              <a:rPr lang="zh-CN" altLang="en-US" sz="3200"/>
              <a:t>演算法、迪傑斯特拉演算法、寬度優先演算法之間是什麼關係？</a:t>
            </a:r>
            <a:endParaRPr lang="en-US" altLang="zh-CN" sz="3200" dirty="0"/>
          </a:p>
          <a:p>
            <a:pPr lvl="1"/>
            <a:endParaRPr lang="en-US" altLang="zh-CN" sz="3200" dirty="0"/>
          </a:p>
          <a:p>
            <a:r>
              <a:rPr lang="zh-CN" altLang="en-US" sz="3200" dirty="0"/>
              <a:t>如何修改</a:t>
            </a:r>
            <a:r>
              <a:rPr lang="en-US" altLang="zh-CN" sz="3200"/>
              <a:t>A*</a:t>
            </a:r>
            <a:r>
              <a:rPr lang="zh-CN" altLang="en-US" sz="3200"/>
              <a:t>演算法，當問題存在多於</a:t>
            </a:r>
            <a:r>
              <a:rPr lang="en-US" altLang="zh-CN" sz="3200"/>
              <a:t>n</a:t>
            </a:r>
            <a:r>
              <a:rPr lang="zh-CN" altLang="en-US" sz="3200"/>
              <a:t>個解時，演算法可以求解前</a:t>
            </a:r>
            <a:r>
              <a:rPr lang="en-US" altLang="zh-CN" sz="3200"/>
              <a:t>n</a:t>
            </a:r>
            <a:r>
              <a:rPr lang="zh-CN" altLang="en-US" sz="3200"/>
              <a:t>個最好的解。</a:t>
            </a:r>
            <a:endParaRPr lang="en-US" altLang="zh-CN" sz="3200" dirty="0"/>
          </a:p>
          <a:p>
            <a:pPr lvl="1"/>
            <a:r>
              <a:rPr lang="zh-CN" altLang="en-US" sz="2800">
                <a:solidFill>
                  <a:srgbClr val="FF0000"/>
                </a:solidFill>
              </a:rPr>
              <a:t>提示：</a:t>
            </a:r>
            <a:r>
              <a:rPr lang="zh-CN" altLang="en-US" sz="2800"/>
              <a:t>對於每個節點，當存在多於</a:t>
            </a:r>
            <a:r>
              <a:rPr lang="en-US" altLang="zh-CN" sz="2800"/>
              <a:t>n</a:t>
            </a:r>
            <a:r>
              <a:rPr lang="zh-CN" altLang="en-US" sz="2800"/>
              <a:t>條路徑時，都要保留前</a:t>
            </a:r>
            <a:r>
              <a:rPr lang="en-US" altLang="zh-CN" sz="2800"/>
              <a:t>n</a:t>
            </a:r>
            <a:r>
              <a:rPr lang="zh-CN" altLang="en-US" sz="2800"/>
              <a:t>條最短距離的路徑。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8686360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3A07BAE-BE62-4335-9CB6-8D94AC0D7AB3}" type="slidenum">
              <a:rPr lang="en-US" altLang="zh-CN" smtClean="0">
                <a:ea typeface="黑体" pitchFamily="49" charset="-122"/>
              </a:rPr>
              <a:pPr/>
              <a:t>80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1.5</a:t>
            </a:r>
            <a:r>
              <a:rPr lang="zh-CN" altLang="en-US"/>
              <a:t> 其他的搜索演算法</a:t>
            </a:r>
            <a:endParaRPr lang="zh-CN" altLang="en-US" dirty="0"/>
          </a:p>
        </p:txBody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685800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3200" b="1"/>
              <a:t>爬山法（局部搜索演算法）</a:t>
            </a:r>
            <a:endParaRPr lang="zh-CN" altLang="en-US" sz="3200" b="1" dirty="0"/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1143000" y="2933700"/>
            <a:ext cx="6038850" cy="2933700"/>
            <a:chOff x="720" y="1848"/>
            <a:chExt cx="3804" cy="1848"/>
          </a:xfrm>
        </p:grpSpPr>
        <p:sp>
          <p:nvSpPr>
            <p:cNvPr id="96262" name="Line 4"/>
            <p:cNvSpPr>
              <a:spLocks noChangeShapeType="1"/>
            </p:cNvSpPr>
            <p:nvPr/>
          </p:nvSpPr>
          <p:spPr bwMode="auto">
            <a:xfrm>
              <a:off x="1332" y="3048"/>
              <a:ext cx="30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263" name="Line 5"/>
            <p:cNvSpPr>
              <a:spLocks noChangeShapeType="1"/>
            </p:cNvSpPr>
            <p:nvPr/>
          </p:nvSpPr>
          <p:spPr bwMode="auto">
            <a:xfrm flipV="1">
              <a:off x="1356" y="1848"/>
              <a:ext cx="0" cy="12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264" name="Line 6"/>
            <p:cNvSpPr>
              <a:spLocks noChangeShapeType="1"/>
            </p:cNvSpPr>
            <p:nvPr/>
          </p:nvSpPr>
          <p:spPr bwMode="auto">
            <a:xfrm flipH="1">
              <a:off x="720" y="3048"/>
              <a:ext cx="636" cy="6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265" name="Freeform 7"/>
            <p:cNvSpPr>
              <a:spLocks/>
            </p:cNvSpPr>
            <p:nvPr/>
          </p:nvSpPr>
          <p:spPr bwMode="auto">
            <a:xfrm>
              <a:off x="1680" y="2088"/>
              <a:ext cx="2844" cy="1260"/>
            </a:xfrm>
            <a:custGeom>
              <a:avLst/>
              <a:gdLst>
                <a:gd name="T0" fmla="*/ 0 w 2844"/>
                <a:gd name="T1" fmla="*/ 1140 h 1260"/>
                <a:gd name="T2" fmla="*/ 372 w 2844"/>
                <a:gd name="T3" fmla="*/ 864 h 1260"/>
                <a:gd name="T4" fmla="*/ 600 w 2844"/>
                <a:gd name="T5" fmla="*/ 564 h 1260"/>
                <a:gd name="T6" fmla="*/ 888 w 2844"/>
                <a:gd name="T7" fmla="*/ 300 h 1260"/>
                <a:gd name="T8" fmla="*/ 1128 w 2844"/>
                <a:gd name="T9" fmla="*/ 96 h 1260"/>
                <a:gd name="T10" fmla="*/ 1308 w 2844"/>
                <a:gd name="T11" fmla="*/ 24 h 1260"/>
                <a:gd name="T12" fmla="*/ 1464 w 2844"/>
                <a:gd name="T13" fmla="*/ 0 h 1260"/>
                <a:gd name="T14" fmla="*/ 1692 w 2844"/>
                <a:gd name="T15" fmla="*/ 36 h 1260"/>
                <a:gd name="T16" fmla="*/ 1920 w 2844"/>
                <a:gd name="T17" fmla="*/ 204 h 1260"/>
                <a:gd name="T18" fmla="*/ 2088 w 2844"/>
                <a:gd name="T19" fmla="*/ 348 h 1260"/>
                <a:gd name="T20" fmla="*/ 2220 w 2844"/>
                <a:gd name="T21" fmla="*/ 624 h 1260"/>
                <a:gd name="T22" fmla="*/ 2364 w 2844"/>
                <a:gd name="T23" fmla="*/ 828 h 1260"/>
                <a:gd name="T24" fmla="*/ 2616 w 2844"/>
                <a:gd name="T25" fmla="*/ 1080 h 1260"/>
                <a:gd name="T26" fmla="*/ 2844 w 2844"/>
                <a:gd name="T27" fmla="*/ 1260 h 126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844"/>
                <a:gd name="T43" fmla="*/ 0 h 1260"/>
                <a:gd name="T44" fmla="*/ 2844 w 2844"/>
                <a:gd name="T45" fmla="*/ 1260 h 126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844" h="1260">
                  <a:moveTo>
                    <a:pt x="0" y="1140"/>
                  </a:moveTo>
                  <a:lnTo>
                    <a:pt x="372" y="864"/>
                  </a:lnTo>
                  <a:lnTo>
                    <a:pt x="600" y="564"/>
                  </a:lnTo>
                  <a:lnTo>
                    <a:pt x="888" y="300"/>
                  </a:lnTo>
                  <a:lnTo>
                    <a:pt x="1128" y="96"/>
                  </a:lnTo>
                  <a:lnTo>
                    <a:pt x="1308" y="24"/>
                  </a:lnTo>
                  <a:lnTo>
                    <a:pt x="1464" y="0"/>
                  </a:lnTo>
                  <a:lnTo>
                    <a:pt x="1692" y="36"/>
                  </a:lnTo>
                  <a:lnTo>
                    <a:pt x="1920" y="204"/>
                  </a:lnTo>
                  <a:lnTo>
                    <a:pt x="2088" y="348"/>
                  </a:lnTo>
                  <a:lnTo>
                    <a:pt x="2220" y="624"/>
                  </a:lnTo>
                  <a:lnTo>
                    <a:pt x="2364" y="828"/>
                  </a:lnTo>
                  <a:lnTo>
                    <a:pt x="2616" y="1080"/>
                  </a:lnTo>
                  <a:lnTo>
                    <a:pt x="2844" y="1260"/>
                  </a:lnTo>
                </a:path>
              </a:pathLst>
            </a:cu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266" name="Freeform 8"/>
            <p:cNvSpPr>
              <a:spLocks/>
            </p:cNvSpPr>
            <p:nvPr/>
          </p:nvSpPr>
          <p:spPr bwMode="auto">
            <a:xfrm>
              <a:off x="2436" y="2256"/>
              <a:ext cx="696" cy="1008"/>
            </a:xfrm>
            <a:custGeom>
              <a:avLst/>
              <a:gdLst>
                <a:gd name="T0" fmla="*/ 0 w 696"/>
                <a:gd name="T1" fmla="*/ 1008 h 1008"/>
                <a:gd name="T2" fmla="*/ 204 w 696"/>
                <a:gd name="T3" fmla="*/ 900 h 1008"/>
                <a:gd name="T4" fmla="*/ 420 w 696"/>
                <a:gd name="T5" fmla="*/ 672 h 1008"/>
                <a:gd name="T6" fmla="*/ 588 w 696"/>
                <a:gd name="T7" fmla="*/ 456 h 1008"/>
                <a:gd name="T8" fmla="*/ 648 w 696"/>
                <a:gd name="T9" fmla="*/ 228 h 1008"/>
                <a:gd name="T10" fmla="*/ 696 w 696"/>
                <a:gd name="T11" fmla="*/ 0 h 100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96"/>
                <a:gd name="T19" fmla="*/ 0 h 1008"/>
                <a:gd name="T20" fmla="*/ 696 w 696"/>
                <a:gd name="T21" fmla="*/ 1008 h 100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96" h="1008">
                  <a:moveTo>
                    <a:pt x="0" y="1008"/>
                  </a:moveTo>
                  <a:lnTo>
                    <a:pt x="204" y="900"/>
                  </a:lnTo>
                  <a:lnTo>
                    <a:pt x="420" y="672"/>
                  </a:lnTo>
                  <a:lnTo>
                    <a:pt x="588" y="456"/>
                  </a:lnTo>
                  <a:lnTo>
                    <a:pt x="648" y="228"/>
                  </a:lnTo>
                  <a:lnTo>
                    <a:pt x="696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267" name="Line 9"/>
            <p:cNvSpPr>
              <a:spLocks noChangeShapeType="1"/>
            </p:cNvSpPr>
            <p:nvPr/>
          </p:nvSpPr>
          <p:spPr bwMode="auto">
            <a:xfrm>
              <a:off x="3024" y="2712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268" name="Line 11"/>
            <p:cNvSpPr>
              <a:spLocks noChangeShapeType="1"/>
            </p:cNvSpPr>
            <p:nvPr/>
          </p:nvSpPr>
          <p:spPr bwMode="auto">
            <a:xfrm flipV="1">
              <a:off x="3024" y="2484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269" name="Line 12"/>
            <p:cNvSpPr>
              <a:spLocks noChangeShapeType="1"/>
            </p:cNvSpPr>
            <p:nvPr/>
          </p:nvSpPr>
          <p:spPr bwMode="auto">
            <a:xfrm flipH="1">
              <a:off x="2904" y="2724"/>
              <a:ext cx="120" cy="2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270" name="Line 13"/>
            <p:cNvSpPr>
              <a:spLocks noChangeShapeType="1"/>
            </p:cNvSpPr>
            <p:nvPr/>
          </p:nvSpPr>
          <p:spPr bwMode="auto">
            <a:xfrm flipH="1">
              <a:off x="2796" y="2712"/>
              <a:ext cx="2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79" grpId="0" build="p" autoUpdateAnimBg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906AA4E-A68F-499A-AEA0-23F9C470D5B7}" type="slidenum">
              <a:rPr lang="en-US" altLang="zh-CN" smtClean="0">
                <a:ea typeface="黑体" pitchFamily="49" charset="-122"/>
              </a:rPr>
              <a:pPr/>
              <a:t>81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其他的搜索演算法（續</a:t>
            </a:r>
            <a:r>
              <a:rPr lang="en-US" altLang="zh-CN"/>
              <a:t>1</a:t>
            </a:r>
            <a:r>
              <a:rPr lang="zh-CN" altLang="en-US" dirty="0"/>
              <a:t>）</a:t>
            </a:r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705970"/>
            <a:ext cx="7772400" cy="4313830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3200" b="1"/>
              <a:t>隨機搜索演算法</a:t>
            </a:r>
          </a:p>
          <a:p>
            <a:pPr eaLnBrk="1" hangingPunct="1"/>
            <a:r>
              <a:rPr lang="zh-CN" altLang="en-US" sz="3200" b="1"/>
              <a:t>動態規劃演算法</a:t>
            </a:r>
            <a:endParaRPr lang="zh-CN" altLang="en-US" sz="3200" b="1" dirty="0"/>
          </a:p>
          <a:p>
            <a:pPr eaLnBrk="1" hangingPunct="1">
              <a:buFont typeface="Wingdings" pitchFamily="2" charset="2"/>
              <a:buNone/>
            </a:pPr>
            <a:r>
              <a:rPr lang="zh-CN" altLang="en-US" sz="3200" b="1"/>
              <a:t>	如果對於任何</a:t>
            </a:r>
            <a:r>
              <a:rPr lang="en-US" altLang="zh-CN" sz="3200" b="1"/>
              <a:t>n</a:t>
            </a:r>
            <a:r>
              <a:rPr lang="zh-CN" altLang="en-US" sz="3200" b="1"/>
              <a:t>，當</a:t>
            </a:r>
            <a:r>
              <a:rPr lang="en-US" altLang="zh-CN" sz="3200" b="1"/>
              <a:t>h</a:t>
            </a:r>
            <a:r>
              <a:rPr lang="en-US" altLang="zh-CN" sz="3200" b="1" dirty="0"/>
              <a:t>(n</a:t>
            </a:r>
            <a:r>
              <a:rPr lang="en-US" altLang="zh-CN" sz="3200" b="1"/>
              <a:t>)=0</a:t>
            </a:r>
            <a:r>
              <a:rPr lang="zh-CN" altLang="en-US" sz="3200" b="1"/>
              <a:t>時，</a:t>
            </a:r>
            <a:r>
              <a:rPr lang="en-US" altLang="zh-CN" sz="3200" b="1"/>
              <a:t>A*</a:t>
            </a:r>
            <a:r>
              <a:rPr lang="zh-CN" altLang="en-US" sz="3200" b="1"/>
              <a:t>演算法就成為了動態規劃演算法。</a:t>
            </a:r>
            <a:endParaRPr lang="zh-CN" altLang="en-US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3" grpId="0" build="p" autoUpdateAnimBg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779A19B-5994-4039-85C7-AE1F87CD4DBF}" type="slidenum">
              <a:rPr lang="en-US" altLang="zh-CN" smtClean="0">
                <a:ea typeface="黑体" pitchFamily="49" charset="-122"/>
              </a:rPr>
              <a:pPr/>
              <a:t>82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2099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819150"/>
          </a:xfrm>
        </p:spPr>
        <p:txBody>
          <a:bodyPr/>
          <a:lstStyle/>
          <a:p>
            <a:pPr>
              <a:defRPr/>
            </a:pPr>
            <a:r>
              <a:rPr lang="zh-CN" altLang="en-US"/>
              <a:t>動態規劃：</a:t>
            </a:r>
            <a:r>
              <a:rPr lang="en-US" altLang="zh-CN" b="0"/>
              <a:t>viterbi</a:t>
            </a:r>
            <a:r>
              <a:rPr lang="zh-CN" altLang="en-US" b="0"/>
              <a:t>演算法</a:t>
            </a:r>
            <a:endParaRPr lang="zh-CN" altLang="en-US" dirty="0"/>
          </a:p>
        </p:txBody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333500"/>
            <a:ext cx="7772400" cy="74613"/>
          </a:xfrm>
        </p:spPr>
        <p:txBody>
          <a:bodyPr>
            <a:normAutofit fontScale="25000" lnSpcReduction="20000"/>
          </a:bodyPr>
          <a:lstStyle/>
          <a:p>
            <a:pPr eaLnBrk="1" hangingPunct="1">
              <a:lnSpc>
                <a:spcPct val="90000"/>
              </a:lnSpc>
            </a:pPr>
            <a:endParaRPr lang="zh-CN" altLang="zh-CN" sz="2800"/>
          </a:p>
        </p:txBody>
      </p:sp>
      <p:sp>
        <p:nvSpPr>
          <p:cNvPr id="98309" name="Oval 4"/>
          <p:cNvSpPr>
            <a:spLocks noChangeArrowheads="1"/>
          </p:cNvSpPr>
          <p:nvPr/>
        </p:nvSpPr>
        <p:spPr bwMode="auto">
          <a:xfrm>
            <a:off x="781050" y="3238500"/>
            <a:ext cx="361950" cy="32385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10" name="Oval 5"/>
          <p:cNvSpPr>
            <a:spLocks noChangeArrowheads="1"/>
          </p:cNvSpPr>
          <p:nvPr/>
        </p:nvSpPr>
        <p:spPr bwMode="auto">
          <a:xfrm>
            <a:off x="2038350" y="2609850"/>
            <a:ext cx="361950" cy="32385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11" name="Oval 6"/>
          <p:cNvSpPr>
            <a:spLocks noChangeArrowheads="1"/>
          </p:cNvSpPr>
          <p:nvPr/>
        </p:nvSpPr>
        <p:spPr bwMode="auto">
          <a:xfrm>
            <a:off x="1981200" y="3905250"/>
            <a:ext cx="361950" cy="32385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12" name="Oval 7"/>
          <p:cNvSpPr>
            <a:spLocks noChangeArrowheads="1"/>
          </p:cNvSpPr>
          <p:nvPr/>
        </p:nvSpPr>
        <p:spPr bwMode="auto">
          <a:xfrm>
            <a:off x="3810000" y="2305050"/>
            <a:ext cx="361950" cy="32385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13" name="Oval 8"/>
          <p:cNvSpPr>
            <a:spLocks noChangeArrowheads="1"/>
          </p:cNvSpPr>
          <p:nvPr/>
        </p:nvSpPr>
        <p:spPr bwMode="auto">
          <a:xfrm>
            <a:off x="3733800" y="3352800"/>
            <a:ext cx="361950" cy="32385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14" name="Oval 9"/>
          <p:cNvSpPr>
            <a:spLocks noChangeArrowheads="1"/>
          </p:cNvSpPr>
          <p:nvPr/>
        </p:nvSpPr>
        <p:spPr bwMode="auto">
          <a:xfrm>
            <a:off x="3867150" y="4533900"/>
            <a:ext cx="361950" cy="32385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15" name="Oval 10"/>
          <p:cNvSpPr>
            <a:spLocks noChangeArrowheads="1"/>
          </p:cNvSpPr>
          <p:nvPr/>
        </p:nvSpPr>
        <p:spPr bwMode="auto">
          <a:xfrm>
            <a:off x="5219700" y="2324100"/>
            <a:ext cx="361950" cy="32385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16" name="Oval 11"/>
          <p:cNvSpPr>
            <a:spLocks noChangeArrowheads="1"/>
          </p:cNvSpPr>
          <p:nvPr/>
        </p:nvSpPr>
        <p:spPr bwMode="auto">
          <a:xfrm>
            <a:off x="5162550" y="3314700"/>
            <a:ext cx="361950" cy="32385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17" name="Oval 12"/>
          <p:cNvSpPr>
            <a:spLocks noChangeArrowheads="1"/>
          </p:cNvSpPr>
          <p:nvPr/>
        </p:nvSpPr>
        <p:spPr bwMode="auto">
          <a:xfrm>
            <a:off x="5181600" y="4457700"/>
            <a:ext cx="361950" cy="32385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18" name="Text Box 14"/>
          <p:cNvSpPr txBox="1">
            <a:spLocks noChangeArrowheads="1"/>
          </p:cNvSpPr>
          <p:nvPr/>
        </p:nvSpPr>
        <p:spPr bwMode="auto">
          <a:xfrm>
            <a:off x="827169" y="1540818"/>
            <a:ext cx="4427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1" dirty="0"/>
              <a:t>S</a:t>
            </a:r>
            <a:r>
              <a:rPr lang="en-US" altLang="zh-CN" sz="3600" b="1" baseline="-25000" dirty="0"/>
              <a:t>0</a:t>
            </a:r>
          </a:p>
        </p:txBody>
      </p:sp>
      <p:sp>
        <p:nvSpPr>
          <p:cNvPr id="98319" name="Text Box 15"/>
          <p:cNvSpPr txBox="1">
            <a:spLocks noChangeArrowheads="1"/>
          </p:cNvSpPr>
          <p:nvPr/>
        </p:nvSpPr>
        <p:spPr bwMode="auto">
          <a:xfrm>
            <a:off x="7822728" y="2805282"/>
            <a:ext cx="42051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1" dirty="0"/>
              <a:t>t</a:t>
            </a:r>
          </a:p>
        </p:txBody>
      </p:sp>
      <p:sp>
        <p:nvSpPr>
          <p:cNvPr id="98320" name="Line 16"/>
          <p:cNvSpPr>
            <a:spLocks noChangeShapeType="1"/>
          </p:cNvSpPr>
          <p:nvPr/>
        </p:nvSpPr>
        <p:spPr bwMode="auto">
          <a:xfrm flipV="1">
            <a:off x="1143000" y="2857500"/>
            <a:ext cx="895350" cy="533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21" name="Line 17"/>
          <p:cNvSpPr>
            <a:spLocks noChangeShapeType="1"/>
          </p:cNvSpPr>
          <p:nvPr/>
        </p:nvSpPr>
        <p:spPr bwMode="auto">
          <a:xfrm>
            <a:off x="1143000" y="3429000"/>
            <a:ext cx="857250" cy="5905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22" name="Line 18"/>
          <p:cNvSpPr>
            <a:spLocks noChangeShapeType="1"/>
          </p:cNvSpPr>
          <p:nvPr/>
        </p:nvSpPr>
        <p:spPr bwMode="auto">
          <a:xfrm flipV="1">
            <a:off x="2400300" y="2457450"/>
            <a:ext cx="1390650" cy="2857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23" name="Line 19"/>
          <p:cNvSpPr>
            <a:spLocks noChangeShapeType="1"/>
          </p:cNvSpPr>
          <p:nvPr/>
        </p:nvSpPr>
        <p:spPr bwMode="auto">
          <a:xfrm>
            <a:off x="2400300" y="2781300"/>
            <a:ext cx="1314450" cy="7429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24" name="Line 20"/>
          <p:cNvSpPr>
            <a:spLocks noChangeShapeType="1"/>
          </p:cNvSpPr>
          <p:nvPr/>
        </p:nvSpPr>
        <p:spPr bwMode="auto">
          <a:xfrm>
            <a:off x="2400300" y="2800350"/>
            <a:ext cx="1466850" cy="19240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25" name="Line 21"/>
          <p:cNvSpPr>
            <a:spLocks noChangeShapeType="1"/>
          </p:cNvSpPr>
          <p:nvPr/>
        </p:nvSpPr>
        <p:spPr bwMode="auto">
          <a:xfrm flipV="1">
            <a:off x="2343150" y="3581400"/>
            <a:ext cx="1333500" cy="533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26" name="Line 22"/>
          <p:cNvSpPr>
            <a:spLocks noChangeShapeType="1"/>
          </p:cNvSpPr>
          <p:nvPr/>
        </p:nvSpPr>
        <p:spPr bwMode="auto">
          <a:xfrm>
            <a:off x="2362200" y="4152900"/>
            <a:ext cx="1428750" cy="533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27" name="Line 23"/>
          <p:cNvSpPr>
            <a:spLocks noChangeShapeType="1"/>
          </p:cNvSpPr>
          <p:nvPr/>
        </p:nvSpPr>
        <p:spPr bwMode="auto">
          <a:xfrm flipV="1">
            <a:off x="2381250" y="2495550"/>
            <a:ext cx="1352550" cy="16383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28" name="Line 24"/>
          <p:cNvSpPr>
            <a:spLocks noChangeShapeType="1"/>
          </p:cNvSpPr>
          <p:nvPr/>
        </p:nvSpPr>
        <p:spPr bwMode="auto">
          <a:xfrm>
            <a:off x="4171950" y="2457450"/>
            <a:ext cx="990600" cy="190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29" name="Line 25"/>
          <p:cNvSpPr>
            <a:spLocks noChangeShapeType="1"/>
          </p:cNvSpPr>
          <p:nvPr/>
        </p:nvSpPr>
        <p:spPr bwMode="auto">
          <a:xfrm>
            <a:off x="4171950" y="2514600"/>
            <a:ext cx="971550" cy="9334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30" name="Line 26"/>
          <p:cNvSpPr>
            <a:spLocks noChangeShapeType="1"/>
          </p:cNvSpPr>
          <p:nvPr/>
        </p:nvSpPr>
        <p:spPr bwMode="auto">
          <a:xfrm>
            <a:off x="4152900" y="2533650"/>
            <a:ext cx="1028700" cy="20002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31" name="Line 27"/>
          <p:cNvSpPr>
            <a:spLocks noChangeShapeType="1"/>
          </p:cNvSpPr>
          <p:nvPr/>
        </p:nvSpPr>
        <p:spPr bwMode="auto">
          <a:xfrm flipV="1">
            <a:off x="4057650" y="2533650"/>
            <a:ext cx="1162050" cy="10096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32" name="Line 28"/>
          <p:cNvSpPr>
            <a:spLocks noChangeShapeType="1"/>
          </p:cNvSpPr>
          <p:nvPr/>
        </p:nvSpPr>
        <p:spPr bwMode="auto">
          <a:xfrm flipV="1">
            <a:off x="4114800" y="3505200"/>
            <a:ext cx="1028700" cy="762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33" name="Line 29"/>
          <p:cNvSpPr>
            <a:spLocks noChangeShapeType="1"/>
          </p:cNvSpPr>
          <p:nvPr/>
        </p:nvSpPr>
        <p:spPr bwMode="auto">
          <a:xfrm>
            <a:off x="4114800" y="3600450"/>
            <a:ext cx="1066800" cy="10477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34" name="Line 30"/>
          <p:cNvSpPr>
            <a:spLocks noChangeShapeType="1"/>
          </p:cNvSpPr>
          <p:nvPr/>
        </p:nvSpPr>
        <p:spPr bwMode="auto">
          <a:xfrm flipV="1">
            <a:off x="4248150" y="2628900"/>
            <a:ext cx="1009650" cy="2057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35" name="Line 31"/>
          <p:cNvSpPr>
            <a:spLocks noChangeShapeType="1"/>
          </p:cNvSpPr>
          <p:nvPr/>
        </p:nvSpPr>
        <p:spPr bwMode="auto">
          <a:xfrm flipV="1">
            <a:off x="4229100" y="4686300"/>
            <a:ext cx="952500" cy="190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36" name="Line 32"/>
          <p:cNvSpPr>
            <a:spLocks noChangeShapeType="1"/>
          </p:cNvSpPr>
          <p:nvPr/>
        </p:nvSpPr>
        <p:spPr bwMode="auto">
          <a:xfrm flipV="1">
            <a:off x="4229100" y="3581400"/>
            <a:ext cx="914400" cy="11239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37" name="Line 36"/>
          <p:cNvSpPr>
            <a:spLocks noChangeShapeType="1"/>
          </p:cNvSpPr>
          <p:nvPr/>
        </p:nvSpPr>
        <p:spPr bwMode="auto">
          <a:xfrm>
            <a:off x="1543050" y="2133600"/>
            <a:ext cx="19050" cy="3028950"/>
          </a:xfrm>
          <a:prstGeom prst="line">
            <a:avLst/>
          </a:prstGeom>
          <a:noFill/>
          <a:ln w="57150" cap="rnd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38" name="Line 37"/>
          <p:cNvSpPr>
            <a:spLocks noChangeShapeType="1"/>
          </p:cNvSpPr>
          <p:nvPr/>
        </p:nvSpPr>
        <p:spPr bwMode="auto">
          <a:xfrm>
            <a:off x="3124200" y="2152650"/>
            <a:ext cx="19050" cy="3028950"/>
          </a:xfrm>
          <a:prstGeom prst="line">
            <a:avLst/>
          </a:prstGeom>
          <a:noFill/>
          <a:ln w="57150" cap="rnd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39" name="Line 38"/>
          <p:cNvSpPr>
            <a:spLocks noChangeShapeType="1"/>
          </p:cNvSpPr>
          <p:nvPr/>
        </p:nvSpPr>
        <p:spPr bwMode="auto">
          <a:xfrm>
            <a:off x="4762500" y="2190750"/>
            <a:ext cx="19050" cy="3028950"/>
          </a:xfrm>
          <a:prstGeom prst="line">
            <a:avLst/>
          </a:prstGeom>
          <a:noFill/>
          <a:ln w="57150" cap="rnd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40" name="Text Box 45"/>
          <p:cNvSpPr txBox="1">
            <a:spLocks noChangeArrowheads="1"/>
          </p:cNvSpPr>
          <p:nvPr/>
        </p:nvSpPr>
        <p:spPr bwMode="auto">
          <a:xfrm>
            <a:off x="2046369" y="1540818"/>
            <a:ext cx="4427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1" dirty="0"/>
              <a:t>S</a:t>
            </a:r>
            <a:r>
              <a:rPr lang="en-US" altLang="zh-CN" sz="3600" b="1" baseline="-25000" dirty="0"/>
              <a:t>1</a:t>
            </a:r>
          </a:p>
        </p:txBody>
      </p:sp>
      <p:sp>
        <p:nvSpPr>
          <p:cNvPr id="98341" name="Text Box 46"/>
          <p:cNvSpPr txBox="1">
            <a:spLocks noChangeArrowheads="1"/>
          </p:cNvSpPr>
          <p:nvPr/>
        </p:nvSpPr>
        <p:spPr bwMode="auto">
          <a:xfrm>
            <a:off x="3722769" y="1597968"/>
            <a:ext cx="4427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1" dirty="0"/>
              <a:t>S</a:t>
            </a:r>
            <a:r>
              <a:rPr lang="en-US" altLang="zh-CN" sz="3600" b="1" baseline="-25000" dirty="0"/>
              <a:t>2</a:t>
            </a:r>
          </a:p>
        </p:txBody>
      </p:sp>
      <p:sp>
        <p:nvSpPr>
          <p:cNvPr id="98342" name="Text Box 47"/>
          <p:cNvSpPr txBox="1">
            <a:spLocks noChangeArrowheads="1"/>
          </p:cNvSpPr>
          <p:nvPr/>
        </p:nvSpPr>
        <p:spPr bwMode="auto">
          <a:xfrm>
            <a:off x="5075319" y="1559868"/>
            <a:ext cx="4427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1" dirty="0"/>
              <a:t>S</a:t>
            </a:r>
            <a:r>
              <a:rPr lang="en-US" altLang="zh-CN" sz="3600" b="1" baseline="-25000" dirty="0"/>
              <a:t>3</a:t>
            </a:r>
          </a:p>
        </p:txBody>
      </p:sp>
      <p:sp>
        <p:nvSpPr>
          <p:cNvPr id="98343" name="Oval 49"/>
          <p:cNvSpPr>
            <a:spLocks noChangeArrowheads="1"/>
          </p:cNvSpPr>
          <p:nvPr/>
        </p:nvSpPr>
        <p:spPr bwMode="auto">
          <a:xfrm>
            <a:off x="6369050" y="2330450"/>
            <a:ext cx="361950" cy="32385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44" name="Oval 50"/>
          <p:cNvSpPr>
            <a:spLocks noChangeArrowheads="1"/>
          </p:cNvSpPr>
          <p:nvPr/>
        </p:nvSpPr>
        <p:spPr bwMode="auto">
          <a:xfrm>
            <a:off x="6311900" y="3321050"/>
            <a:ext cx="361950" cy="32385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45" name="Oval 51"/>
          <p:cNvSpPr>
            <a:spLocks noChangeArrowheads="1"/>
          </p:cNvSpPr>
          <p:nvPr/>
        </p:nvSpPr>
        <p:spPr bwMode="auto">
          <a:xfrm>
            <a:off x="6330950" y="4464050"/>
            <a:ext cx="361950" cy="32385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46" name="Oval 52"/>
          <p:cNvSpPr>
            <a:spLocks noChangeArrowheads="1"/>
          </p:cNvSpPr>
          <p:nvPr/>
        </p:nvSpPr>
        <p:spPr bwMode="auto">
          <a:xfrm>
            <a:off x="7969250" y="3302000"/>
            <a:ext cx="361950" cy="32385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47" name="Line 53"/>
          <p:cNvSpPr>
            <a:spLocks noChangeShapeType="1"/>
          </p:cNvSpPr>
          <p:nvPr/>
        </p:nvSpPr>
        <p:spPr bwMode="auto">
          <a:xfrm>
            <a:off x="6750050" y="2520950"/>
            <a:ext cx="1181100" cy="914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48" name="Line 54"/>
          <p:cNvSpPr>
            <a:spLocks noChangeShapeType="1"/>
          </p:cNvSpPr>
          <p:nvPr/>
        </p:nvSpPr>
        <p:spPr bwMode="auto">
          <a:xfrm flipV="1">
            <a:off x="6692900" y="3473450"/>
            <a:ext cx="1219200" cy="381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49" name="Line 55"/>
          <p:cNvSpPr>
            <a:spLocks noChangeShapeType="1"/>
          </p:cNvSpPr>
          <p:nvPr/>
        </p:nvSpPr>
        <p:spPr bwMode="auto">
          <a:xfrm flipV="1">
            <a:off x="6673850" y="3549650"/>
            <a:ext cx="1257300" cy="10858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50" name="Line 56"/>
          <p:cNvSpPr>
            <a:spLocks noChangeShapeType="1"/>
          </p:cNvSpPr>
          <p:nvPr/>
        </p:nvSpPr>
        <p:spPr bwMode="auto">
          <a:xfrm>
            <a:off x="7169150" y="2178050"/>
            <a:ext cx="19050" cy="3028950"/>
          </a:xfrm>
          <a:prstGeom prst="line">
            <a:avLst/>
          </a:prstGeom>
          <a:noFill/>
          <a:ln w="57150" cap="rnd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51" name="Text Box 57"/>
          <p:cNvSpPr txBox="1">
            <a:spLocks noChangeArrowheads="1"/>
          </p:cNvSpPr>
          <p:nvPr/>
        </p:nvSpPr>
        <p:spPr bwMode="auto">
          <a:xfrm>
            <a:off x="6221339" y="1617018"/>
            <a:ext cx="47481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1" dirty="0"/>
              <a:t>S</a:t>
            </a:r>
            <a:r>
              <a:rPr lang="en-US" altLang="zh-CN" sz="3600" b="1" baseline="-25000" dirty="0"/>
              <a:t>n</a:t>
            </a:r>
          </a:p>
        </p:txBody>
      </p:sp>
      <p:sp>
        <p:nvSpPr>
          <p:cNvPr id="98352" name="Text Box 58"/>
          <p:cNvSpPr txBox="1">
            <a:spLocks noChangeArrowheads="1"/>
          </p:cNvSpPr>
          <p:nvPr/>
        </p:nvSpPr>
        <p:spPr bwMode="auto">
          <a:xfrm>
            <a:off x="5524500" y="3257550"/>
            <a:ext cx="8763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>
                <a:cs typeface="Times New Roman" pitchFamily="18" charset="0"/>
              </a:rPr>
              <a:t>……</a:t>
            </a:r>
          </a:p>
        </p:txBody>
      </p:sp>
      <p:sp>
        <p:nvSpPr>
          <p:cNvPr id="98353" name="Text Box 59"/>
          <p:cNvSpPr txBox="1">
            <a:spLocks noChangeArrowheads="1"/>
          </p:cNvSpPr>
          <p:nvPr/>
        </p:nvSpPr>
        <p:spPr bwMode="auto">
          <a:xfrm>
            <a:off x="5619750" y="2247900"/>
            <a:ext cx="8763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>
                <a:cs typeface="Times New Roman" pitchFamily="18" charset="0"/>
              </a:rPr>
              <a:t>……</a:t>
            </a:r>
          </a:p>
        </p:txBody>
      </p:sp>
      <p:sp>
        <p:nvSpPr>
          <p:cNvPr id="98354" name="Text Box 60"/>
          <p:cNvSpPr txBox="1">
            <a:spLocks noChangeArrowheads="1"/>
          </p:cNvSpPr>
          <p:nvPr/>
        </p:nvSpPr>
        <p:spPr bwMode="auto">
          <a:xfrm>
            <a:off x="5543550" y="4362450"/>
            <a:ext cx="8763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>
                <a:cs typeface="Times New Roman" pitchFamily="18" charset="0"/>
              </a:rPr>
              <a:t>……</a:t>
            </a:r>
          </a:p>
        </p:txBody>
      </p:sp>
      <p:sp>
        <p:nvSpPr>
          <p:cNvPr id="98355" name="Text Box 61"/>
          <p:cNvSpPr txBox="1">
            <a:spLocks noChangeArrowheads="1"/>
          </p:cNvSpPr>
          <p:nvPr/>
        </p:nvSpPr>
        <p:spPr bwMode="auto">
          <a:xfrm>
            <a:off x="457200" y="3867150"/>
            <a:ext cx="8763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>
                <a:cs typeface="Times New Roman" pitchFamily="18" charset="0"/>
              </a:rPr>
              <a:t>W</a:t>
            </a:r>
            <a:r>
              <a:rPr lang="en-US" altLang="zh-CN" sz="3600" b="1" baseline="-25000" dirty="0">
                <a:cs typeface="Times New Roman" pitchFamily="18" charset="0"/>
              </a:rPr>
              <a:t>0</a:t>
            </a:r>
          </a:p>
        </p:txBody>
      </p:sp>
      <p:sp>
        <p:nvSpPr>
          <p:cNvPr id="98356" name="Text Box 62"/>
          <p:cNvSpPr txBox="1">
            <a:spLocks noChangeArrowheads="1"/>
          </p:cNvSpPr>
          <p:nvPr/>
        </p:nvSpPr>
        <p:spPr bwMode="auto">
          <a:xfrm>
            <a:off x="1885950" y="2990850"/>
            <a:ext cx="8763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>
                <a:cs typeface="Times New Roman" pitchFamily="18" charset="0"/>
              </a:rPr>
              <a:t>W</a:t>
            </a:r>
            <a:r>
              <a:rPr lang="en-US" altLang="zh-CN" sz="3600" b="1" baseline="-25000" dirty="0">
                <a:cs typeface="Times New Roman" pitchFamily="18" charset="0"/>
              </a:rPr>
              <a:t>1,1</a:t>
            </a:r>
          </a:p>
        </p:txBody>
      </p:sp>
      <p:sp>
        <p:nvSpPr>
          <p:cNvPr id="98357" name="Text Box 63"/>
          <p:cNvSpPr txBox="1">
            <a:spLocks noChangeArrowheads="1"/>
          </p:cNvSpPr>
          <p:nvPr/>
        </p:nvSpPr>
        <p:spPr bwMode="auto">
          <a:xfrm>
            <a:off x="1771650" y="4267200"/>
            <a:ext cx="8763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>
                <a:cs typeface="Times New Roman" pitchFamily="18" charset="0"/>
              </a:rPr>
              <a:t>W</a:t>
            </a:r>
            <a:r>
              <a:rPr lang="en-US" altLang="zh-CN" sz="3600" b="1" baseline="-25000" dirty="0">
                <a:cs typeface="Times New Roman" pitchFamily="18" charset="0"/>
              </a:rPr>
              <a:t>1,2</a:t>
            </a:r>
          </a:p>
        </p:txBody>
      </p:sp>
      <p:sp>
        <p:nvSpPr>
          <p:cNvPr id="98358" name="Text Box 77"/>
          <p:cNvSpPr txBox="1">
            <a:spLocks noChangeArrowheads="1"/>
          </p:cNvSpPr>
          <p:nvPr/>
        </p:nvSpPr>
        <p:spPr bwMode="auto">
          <a:xfrm>
            <a:off x="3543300" y="2705100"/>
            <a:ext cx="8763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>
                <a:cs typeface="Times New Roman" pitchFamily="18" charset="0"/>
              </a:rPr>
              <a:t>W</a:t>
            </a:r>
            <a:r>
              <a:rPr lang="en-US" altLang="zh-CN" sz="3600" b="1" baseline="-25000" dirty="0">
                <a:cs typeface="Times New Roman" pitchFamily="18" charset="0"/>
              </a:rPr>
              <a:t>2,1</a:t>
            </a:r>
          </a:p>
        </p:txBody>
      </p:sp>
      <p:sp>
        <p:nvSpPr>
          <p:cNvPr id="98359" name="Text Box 78"/>
          <p:cNvSpPr txBox="1">
            <a:spLocks noChangeArrowheads="1"/>
          </p:cNvSpPr>
          <p:nvPr/>
        </p:nvSpPr>
        <p:spPr bwMode="auto">
          <a:xfrm>
            <a:off x="3467100" y="3695700"/>
            <a:ext cx="8763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>
                <a:cs typeface="Times New Roman" pitchFamily="18" charset="0"/>
              </a:rPr>
              <a:t>W</a:t>
            </a:r>
            <a:r>
              <a:rPr lang="en-US" altLang="zh-CN" sz="3600" b="1" baseline="-25000" dirty="0">
                <a:cs typeface="Times New Roman" pitchFamily="18" charset="0"/>
              </a:rPr>
              <a:t>2,2</a:t>
            </a:r>
          </a:p>
        </p:txBody>
      </p:sp>
      <p:sp>
        <p:nvSpPr>
          <p:cNvPr id="98360" name="Text Box 79"/>
          <p:cNvSpPr txBox="1">
            <a:spLocks noChangeArrowheads="1"/>
          </p:cNvSpPr>
          <p:nvPr/>
        </p:nvSpPr>
        <p:spPr bwMode="auto">
          <a:xfrm>
            <a:off x="3581400" y="5010150"/>
            <a:ext cx="8763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>
                <a:cs typeface="Times New Roman" pitchFamily="18" charset="0"/>
              </a:rPr>
              <a:t>W</a:t>
            </a:r>
            <a:r>
              <a:rPr lang="en-US" altLang="zh-CN" sz="3600" b="1" baseline="-25000" dirty="0">
                <a:cs typeface="Times New Roman" pitchFamily="18" charset="0"/>
              </a:rPr>
              <a:t>2,3</a:t>
            </a:r>
          </a:p>
        </p:txBody>
      </p:sp>
      <p:sp>
        <p:nvSpPr>
          <p:cNvPr id="98361" name="Text Box 80"/>
          <p:cNvSpPr txBox="1">
            <a:spLocks noChangeArrowheads="1"/>
          </p:cNvSpPr>
          <p:nvPr/>
        </p:nvSpPr>
        <p:spPr bwMode="auto">
          <a:xfrm>
            <a:off x="5029200" y="4914900"/>
            <a:ext cx="8763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>
                <a:cs typeface="Times New Roman" pitchFamily="18" charset="0"/>
              </a:rPr>
              <a:t>W</a:t>
            </a:r>
            <a:r>
              <a:rPr lang="en-US" altLang="zh-CN" sz="3600" b="1" baseline="-25000" dirty="0">
                <a:cs typeface="Times New Roman" pitchFamily="18" charset="0"/>
              </a:rPr>
              <a:t>3,3</a:t>
            </a:r>
          </a:p>
        </p:txBody>
      </p:sp>
      <p:sp>
        <p:nvSpPr>
          <p:cNvPr id="98362" name="Text Box 81"/>
          <p:cNvSpPr txBox="1">
            <a:spLocks noChangeArrowheads="1"/>
          </p:cNvSpPr>
          <p:nvPr/>
        </p:nvSpPr>
        <p:spPr bwMode="auto">
          <a:xfrm>
            <a:off x="5105400" y="3752850"/>
            <a:ext cx="8763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>
                <a:cs typeface="Times New Roman" pitchFamily="18" charset="0"/>
              </a:rPr>
              <a:t>W</a:t>
            </a:r>
            <a:r>
              <a:rPr lang="en-US" altLang="zh-CN" sz="3600" b="1" baseline="-25000" dirty="0">
                <a:cs typeface="Times New Roman" pitchFamily="18" charset="0"/>
              </a:rPr>
              <a:t>3,2</a:t>
            </a:r>
          </a:p>
        </p:txBody>
      </p:sp>
      <p:sp>
        <p:nvSpPr>
          <p:cNvPr id="98363" name="Text Box 82"/>
          <p:cNvSpPr txBox="1">
            <a:spLocks noChangeArrowheads="1"/>
          </p:cNvSpPr>
          <p:nvPr/>
        </p:nvSpPr>
        <p:spPr bwMode="auto">
          <a:xfrm>
            <a:off x="5200650" y="2743200"/>
            <a:ext cx="8763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>
                <a:cs typeface="Times New Roman" pitchFamily="18" charset="0"/>
              </a:rPr>
              <a:t>W</a:t>
            </a:r>
            <a:r>
              <a:rPr lang="en-US" altLang="zh-CN" sz="3600" b="1" baseline="-25000" dirty="0">
                <a:cs typeface="Times New Roman" pitchFamily="18" charset="0"/>
              </a:rPr>
              <a:t>3,1</a:t>
            </a:r>
          </a:p>
        </p:txBody>
      </p:sp>
      <p:sp>
        <p:nvSpPr>
          <p:cNvPr id="98364" name="Text Box 83"/>
          <p:cNvSpPr txBox="1">
            <a:spLocks noChangeArrowheads="1"/>
          </p:cNvSpPr>
          <p:nvPr/>
        </p:nvSpPr>
        <p:spPr bwMode="auto">
          <a:xfrm>
            <a:off x="6172200" y="2590800"/>
            <a:ext cx="8763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>
                <a:cs typeface="Times New Roman" pitchFamily="18" charset="0"/>
              </a:rPr>
              <a:t>W</a:t>
            </a:r>
            <a:r>
              <a:rPr lang="en-US" altLang="zh-CN" sz="3600" b="1" baseline="-25000" dirty="0">
                <a:cs typeface="Times New Roman" pitchFamily="18" charset="0"/>
              </a:rPr>
              <a:t>n,1</a:t>
            </a:r>
          </a:p>
        </p:txBody>
      </p:sp>
      <p:sp>
        <p:nvSpPr>
          <p:cNvPr id="98365" name="Text Box 84"/>
          <p:cNvSpPr txBox="1">
            <a:spLocks noChangeArrowheads="1"/>
          </p:cNvSpPr>
          <p:nvPr/>
        </p:nvSpPr>
        <p:spPr bwMode="auto">
          <a:xfrm>
            <a:off x="6229350" y="3638550"/>
            <a:ext cx="8763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>
                <a:cs typeface="Times New Roman" pitchFamily="18" charset="0"/>
              </a:rPr>
              <a:t>W</a:t>
            </a:r>
            <a:r>
              <a:rPr lang="en-US" altLang="zh-CN" sz="3600" b="1" baseline="-25000" dirty="0">
                <a:cs typeface="Times New Roman" pitchFamily="18" charset="0"/>
              </a:rPr>
              <a:t>n,2</a:t>
            </a:r>
          </a:p>
        </p:txBody>
      </p:sp>
      <p:sp>
        <p:nvSpPr>
          <p:cNvPr id="98366" name="Text Box 85"/>
          <p:cNvSpPr txBox="1">
            <a:spLocks noChangeArrowheads="1"/>
          </p:cNvSpPr>
          <p:nvPr/>
        </p:nvSpPr>
        <p:spPr bwMode="auto">
          <a:xfrm>
            <a:off x="6153150" y="4819650"/>
            <a:ext cx="8763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>
                <a:cs typeface="Times New Roman" pitchFamily="18" charset="0"/>
              </a:rPr>
              <a:t>W</a:t>
            </a:r>
            <a:r>
              <a:rPr lang="en-US" altLang="zh-CN" sz="3600" b="1" baseline="-25000" dirty="0">
                <a:cs typeface="Times New Roman" pitchFamily="18" charset="0"/>
              </a:rPr>
              <a:t>n,3</a:t>
            </a:r>
          </a:p>
        </p:txBody>
      </p:sp>
      <p:sp>
        <p:nvSpPr>
          <p:cNvPr id="98367" name="Text Box 86"/>
          <p:cNvSpPr txBox="1">
            <a:spLocks noChangeArrowheads="1"/>
          </p:cNvSpPr>
          <p:nvPr/>
        </p:nvSpPr>
        <p:spPr bwMode="auto">
          <a:xfrm>
            <a:off x="7791450" y="3733800"/>
            <a:ext cx="9715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>
                <a:cs typeface="Times New Roman" pitchFamily="18" charset="0"/>
              </a:rPr>
              <a:t>W</a:t>
            </a:r>
            <a:r>
              <a:rPr lang="en-US" altLang="zh-CN" sz="3600" b="1" baseline="-25000" dirty="0">
                <a:cs typeface="Times New Roman" pitchFamily="18" charset="0"/>
              </a:rPr>
              <a:t>n+1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F1318EB-A675-43A9-AAAA-A05F72820007}" type="slidenum">
              <a:rPr lang="en-US" altLang="zh-CN" smtClean="0">
                <a:ea typeface="黑体" pitchFamily="49" charset="-122"/>
              </a:rPr>
              <a:pPr/>
              <a:t>83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214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zh-CN"/>
          </a:p>
        </p:txBody>
      </p:sp>
      <p:sp>
        <p:nvSpPr>
          <p:cNvPr id="1946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724400"/>
            <a:ext cx="8210550" cy="1447800"/>
          </a:xfrm>
        </p:spPr>
        <p:txBody>
          <a:bodyPr>
            <a:norm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/>
              <a:t>其中：</a:t>
            </a:r>
            <a:r>
              <a:rPr lang="en-US" altLang="zh-CN" sz="2800" b="1" dirty="0"/>
              <a:t>Q(</a:t>
            </a:r>
            <a:r>
              <a:rPr lang="en-US" altLang="zh-CN" sz="2800" b="1" err="1"/>
              <a:t>W</a:t>
            </a:r>
            <a:r>
              <a:rPr lang="en-US" altLang="zh-CN" sz="3600" b="1" baseline="-25000" err="1"/>
              <a:t>ij</a:t>
            </a:r>
            <a:r>
              <a:rPr lang="en-US" altLang="zh-CN" sz="2800" b="1"/>
              <a:t>)</a:t>
            </a:r>
            <a:r>
              <a:rPr lang="zh-CN" altLang="en-US" sz="2800" b="1"/>
              <a:t>表示起點到點</a:t>
            </a:r>
            <a:r>
              <a:rPr lang="en-US" altLang="zh-CN" sz="2800" b="1"/>
              <a:t>W</a:t>
            </a:r>
            <a:r>
              <a:rPr lang="en-US" altLang="zh-CN" sz="3600" b="1" baseline="-25000"/>
              <a:t>ij</a:t>
            </a:r>
            <a:r>
              <a:rPr lang="zh-CN" altLang="en-US" sz="2800" b="1"/>
              <a:t>的最佳路徑值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/>
              <a:t>             </a:t>
            </a:r>
            <a:r>
              <a:rPr lang="en-US" altLang="zh-CN" sz="2800" b="1" dirty="0"/>
              <a:t>D(W</a:t>
            </a:r>
            <a:r>
              <a:rPr lang="en-US" altLang="zh-CN" sz="3600" b="1" baseline="-25000" dirty="0"/>
              <a:t>i-1,k</a:t>
            </a:r>
            <a:r>
              <a:rPr lang="en-US" altLang="zh-CN" sz="2800" b="1" dirty="0"/>
              <a:t>, </a:t>
            </a:r>
            <a:r>
              <a:rPr lang="en-US" altLang="zh-CN" sz="2800" b="1" dirty="0" err="1"/>
              <a:t>W</a:t>
            </a:r>
            <a:r>
              <a:rPr lang="en-US" altLang="zh-CN" sz="3600" b="1" baseline="-25000" dirty="0" err="1"/>
              <a:t>i,k</a:t>
            </a:r>
            <a:r>
              <a:rPr lang="en-US" altLang="zh-CN" sz="2800" b="1" dirty="0"/>
              <a:t>)</a:t>
            </a:r>
            <a:r>
              <a:rPr lang="zh-CN" altLang="en-US" sz="2800" b="1" dirty="0"/>
              <a:t>表示</a:t>
            </a:r>
            <a:r>
              <a:rPr lang="en-US" altLang="zh-CN" sz="2800" b="1" dirty="0"/>
              <a:t>W</a:t>
            </a:r>
            <a:r>
              <a:rPr lang="en-US" altLang="zh-CN" sz="3600" b="1" baseline="-25000" dirty="0"/>
              <a:t>i-1,k</a:t>
            </a:r>
            <a:r>
              <a:rPr lang="zh-CN" altLang="en-US" sz="2800" b="1" dirty="0"/>
              <a:t>到</a:t>
            </a:r>
            <a:r>
              <a:rPr lang="en-US" altLang="zh-CN" sz="2800" b="1" dirty="0" err="1"/>
              <a:t>W</a:t>
            </a:r>
            <a:r>
              <a:rPr lang="en-US" altLang="zh-CN" sz="3600" b="1" baseline="-25000" dirty="0" err="1"/>
              <a:t>i</a:t>
            </a:r>
            <a:r>
              <a:rPr lang="en-US" altLang="zh-CN" sz="3600" b="1" baseline="-25000" err="1"/>
              <a:t>,</a:t>
            </a:r>
            <a:r>
              <a:rPr lang="en-US" altLang="zh-CN" sz="3600" b="1" baseline="-25000"/>
              <a:t>j</a:t>
            </a:r>
            <a:r>
              <a:rPr lang="zh-CN" altLang="en-US" sz="2800" b="1"/>
              <a:t>的距離</a:t>
            </a:r>
            <a:endParaRPr lang="zh-CN" altLang="en-US" sz="2800" b="1" dirty="0"/>
          </a:p>
        </p:txBody>
      </p:sp>
      <p:sp>
        <p:nvSpPr>
          <p:cNvPr id="19462" name="Rectangle 5"/>
          <p:cNvSpPr>
            <a:spLocks noChangeArrowheads="1"/>
          </p:cNvSpPr>
          <p:nvPr/>
        </p:nvSpPr>
        <p:spPr bwMode="auto">
          <a:xfrm>
            <a:off x="0" y="31623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9458" name="Object 4"/>
          <p:cNvGraphicFramePr>
            <a:graphicFrameLocks noChangeAspect="1"/>
          </p:cNvGraphicFramePr>
          <p:nvPr/>
        </p:nvGraphicFramePr>
        <p:xfrm>
          <a:off x="323850" y="2571750"/>
          <a:ext cx="8524875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225800" imgH="533400" progId="Equation.3">
                  <p:embed/>
                </p:oleObj>
              </mc:Choice>
              <mc:Fallback>
                <p:oleObj name="公式" r:id="rId3" imgW="3225800" imgH="533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2571750"/>
                        <a:ext cx="8524875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15F9B0-7C47-49B7-BBE3-526CDFCA985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E6E179CE-C351-4475-AF85-A97F63DF3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altLang="zh-CN"/>
              <a:t>1.6</a:t>
            </a:r>
            <a:r>
              <a:rPr lang="zh-CN" altLang="en-US"/>
              <a:t> 搜索演算法實用舉例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485609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拼音輸入法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sz="3200" dirty="0" err="1"/>
              <a:t>ji</a:t>
            </a:r>
            <a:r>
              <a:rPr lang="en-US" altLang="zh-CN" sz="3200" dirty="0"/>
              <a:t> qi </a:t>
            </a:r>
            <a:r>
              <a:rPr lang="en-US" altLang="zh-CN" sz="3200" dirty="0" err="1"/>
              <a:t>xue</a:t>
            </a:r>
            <a:r>
              <a:rPr lang="en-US" altLang="zh-CN" sz="3200" dirty="0"/>
              <a:t> xi </a:t>
            </a:r>
            <a:r>
              <a:rPr lang="en-US" altLang="zh-CN" sz="3200" dirty="0" err="1"/>
              <a:t>ji</a:t>
            </a:r>
            <a:r>
              <a:rPr lang="en-US" altLang="zh-CN" sz="3200" dirty="0"/>
              <a:t> qi </a:t>
            </a:r>
            <a:r>
              <a:rPr lang="en-US" altLang="zh-CN" sz="3200" dirty="0" err="1"/>
              <a:t>ying</a:t>
            </a:r>
            <a:r>
              <a:rPr lang="en-US" altLang="zh-CN" sz="3200" dirty="0"/>
              <a:t> </a:t>
            </a:r>
            <a:r>
              <a:rPr lang="en-US" altLang="zh-CN" sz="3200" dirty="0" err="1"/>
              <a:t>yong</a:t>
            </a:r>
            <a:endParaRPr lang="en-US" altLang="zh-CN" sz="3200" dirty="0"/>
          </a:p>
          <a:p>
            <a:pPr marL="0" indent="0">
              <a:buNone/>
            </a:pPr>
            <a:endParaRPr lang="zh-CN" altLang="en-US" sz="32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5417" y="3638005"/>
            <a:ext cx="3114675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52633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拼音輸入法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CN" sz="2800" b="1" dirty="0"/>
              <a:t> </a:t>
            </a:r>
          </a:p>
          <a:p>
            <a:pPr>
              <a:buNone/>
            </a:pPr>
            <a:r>
              <a:rPr lang="en-US" altLang="zh-CN" sz="2800" dirty="0"/>
              <a:t> </a:t>
            </a:r>
            <a:r>
              <a:rPr lang="en-US" altLang="zh-CN" sz="2800" dirty="0" err="1"/>
              <a:t>ji</a:t>
            </a:r>
            <a:r>
              <a:rPr lang="en-US" altLang="zh-CN" sz="2800" dirty="0"/>
              <a:t>    qi    </a:t>
            </a:r>
            <a:r>
              <a:rPr lang="en-US" altLang="zh-CN" sz="2800" dirty="0" err="1"/>
              <a:t>xue</a:t>
            </a:r>
            <a:r>
              <a:rPr lang="en-US" altLang="zh-CN" sz="2800" dirty="0"/>
              <a:t>  xi    </a:t>
            </a:r>
            <a:r>
              <a:rPr lang="en-US" altLang="zh-CN" sz="2800" dirty="0" err="1"/>
              <a:t>ji</a:t>
            </a:r>
            <a:r>
              <a:rPr lang="en-US" altLang="zh-CN" sz="2800" dirty="0"/>
              <a:t>     qi   </a:t>
            </a:r>
            <a:r>
              <a:rPr lang="en-US" altLang="zh-CN" sz="2800" dirty="0" err="1"/>
              <a:t>ying</a:t>
            </a:r>
            <a:r>
              <a:rPr lang="en-US" altLang="zh-CN" sz="2800" dirty="0"/>
              <a:t>  </a:t>
            </a:r>
            <a:r>
              <a:rPr lang="en-US" altLang="zh-CN" sz="2800" dirty="0" err="1"/>
              <a:t>yong</a:t>
            </a:r>
            <a:endParaRPr lang="en-US" altLang="zh-CN" sz="2800" dirty="0"/>
          </a:p>
          <a:p>
            <a:pPr>
              <a:buNone/>
            </a:pPr>
            <a:r>
              <a:rPr lang="zh-CN" altLang="en-US" sz="2800" b="1"/>
              <a:t>及  期   學   系   及  期   應    勇</a:t>
            </a:r>
            <a:endParaRPr lang="en-US" altLang="zh-CN" sz="2800" b="1" dirty="0"/>
          </a:p>
          <a:p>
            <a:pPr>
              <a:buNone/>
            </a:pPr>
            <a:r>
              <a:rPr lang="zh-CN" altLang="en-US" sz="2800" b="1"/>
              <a:t>計  器   雪   習   計  器   英    用</a:t>
            </a:r>
            <a:endParaRPr lang="en-US" altLang="zh-CN" sz="2800" b="1" dirty="0"/>
          </a:p>
          <a:p>
            <a:pPr>
              <a:buNone/>
            </a:pPr>
            <a:r>
              <a:rPr lang="zh-CN" altLang="en-US" sz="2800" b="1"/>
              <a:t>機  其   薛   西   機  其   營    永</a:t>
            </a:r>
            <a:endParaRPr lang="en-US" altLang="zh-CN" sz="2800" b="1" dirty="0"/>
          </a:p>
          <a:p>
            <a:pPr>
              <a:buNone/>
            </a:pPr>
            <a:r>
              <a:rPr lang="en-US" altLang="zh-CN" sz="2800" b="1" dirty="0"/>
              <a:t>…  …   …   …   …   …   …    …</a:t>
            </a:r>
          </a:p>
        </p:txBody>
      </p:sp>
    </p:spTree>
    <p:extLst>
      <p:ext uri="{BB962C8B-B14F-4D97-AF65-F5344CB8AC3E}">
        <p14:creationId xmlns:p14="http://schemas.microsoft.com/office/powerpoint/2010/main" val="1320923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拼音輸入法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CN" sz="2800" b="1" dirty="0"/>
              <a:t> </a:t>
            </a:r>
          </a:p>
          <a:p>
            <a:pPr>
              <a:buNone/>
            </a:pPr>
            <a:r>
              <a:rPr lang="en-US" altLang="zh-CN" sz="2800" dirty="0"/>
              <a:t> </a:t>
            </a:r>
            <a:r>
              <a:rPr lang="en-US" altLang="zh-CN" sz="2800" dirty="0" err="1"/>
              <a:t>ji</a:t>
            </a:r>
            <a:r>
              <a:rPr lang="en-US" altLang="zh-CN" sz="2800" dirty="0"/>
              <a:t>    qi    </a:t>
            </a:r>
            <a:r>
              <a:rPr lang="en-US" altLang="zh-CN" sz="2800" dirty="0" err="1"/>
              <a:t>xue</a:t>
            </a:r>
            <a:r>
              <a:rPr lang="en-US" altLang="zh-CN" sz="2800" dirty="0"/>
              <a:t>  xi    </a:t>
            </a:r>
            <a:r>
              <a:rPr lang="en-US" altLang="zh-CN" sz="2800" dirty="0" err="1"/>
              <a:t>ji</a:t>
            </a:r>
            <a:r>
              <a:rPr lang="en-US" altLang="zh-CN" sz="2800" dirty="0"/>
              <a:t>     qi   </a:t>
            </a:r>
            <a:r>
              <a:rPr lang="en-US" altLang="zh-CN" sz="2800" dirty="0" err="1"/>
              <a:t>ying</a:t>
            </a:r>
            <a:r>
              <a:rPr lang="en-US" altLang="zh-CN" sz="2800" dirty="0"/>
              <a:t>  </a:t>
            </a:r>
            <a:r>
              <a:rPr lang="en-US" altLang="zh-CN" sz="2800" dirty="0" err="1"/>
              <a:t>yong</a:t>
            </a:r>
            <a:endParaRPr lang="en-US" altLang="zh-CN" sz="2800" dirty="0"/>
          </a:p>
          <a:p>
            <a:pPr>
              <a:buNone/>
            </a:pPr>
            <a:r>
              <a:rPr lang="zh-CN" altLang="en-US" sz="2800" b="1" dirty="0"/>
              <a:t>及  </a:t>
            </a:r>
            <a:r>
              <a:rPr lang="zh-CN" altLang="en-US" sz="2800" b="1"/>
              <a:t>期   </a:t>
            </a:r>
            <a:r>
              <a:rPr lang="zh-CN" altLang="en-US" sz="2800" b="1">
                <a:solidFill>
                  <a:srgbClr val="0000FF"/>
                </a:solidFill>
              </a:rPr>
              <a:t>學</a:t>
            </a:r>
            <a:r>
              <a:rPr lang="zh-CN" altLang="en-US" sz="2800" b="1"/>
              <a:t>   </a:t>
            </a:r>
            <a:r>
              <a:rPr lang="zh-CN" altLang="en-US" sz="2800" b="1" dirty="0"/>
              <a:t>系   </a:t>
            </a:r>
            <a:r>
              <a:rPr lang="zh-CN" altLang="en-US" sz="2800" b="1" dirty="0">
                <a:solidFill>
                  <a:srgbClr val="0000FF"/>
                </a:solidFill>
              </a:rPr>
              <a:t>及</a:t>
            </a:r>
            <a:r>
              <a:rPr lang="zh-CN" altLang="en-US" sz="2800" b="1" dirty="0"/>
              <a:t>  </a:t>
            </a:r>
            <a:r>
              <a:rPr lang="zh-CN" altLang="en-US" sz="2800" b="1"/>
              <a:t>期   </a:t>
            </a:r>
            <a:r>
              <a:rPr lang="zh-CN" altLang="en-US" sz="2800" b="1">
                <a:solidFill>
                  <a:srgbClr val="0000FF"/>
                </a:solidFill>
              </a:rPr>
              <a:t>應</a:t>
            </a:r>
            <a:r>
              <a:rPr lang="zh-CN" altLang="en-US" sz="2800" b="1"/>
              <a:t>    </a:t>
            </a:r>
            <a:r>
              <a:rPr lang="zh-CN" altLang="en-US" sz="2800" b="1" dirty="0"/>
              <a:t>勇</a:t>
            </a:r>
            <a:endParaRPr lang="en-US" altLang="zh-CN" sz="2800" b="1" dirty="0"/>
          </a:p>
          <a:p>
            <a:pPr>
              <a:buNone/>
            </a:pPr>
            <a:r>
              <a:rPr lang="zh-CN" altLang="en-US" sz="2800" b="1"/>
              <a:t>計  </a:t>
            </a:r>
            <a:r>
              <a:rPr lang="zh-CN" altLang="en-US" sz="2800" b="1">
                <a:solidFill>
                  <a:srgbClr val="0000FF"/>
                </a:solidFill>
              </a:rPr>
              <a:t>器</a:t>
            </a:r>
            <a:r>
              <a:rPr lang="zh-CN" altLang="en-US" sz="2800" b="1"/>
              <a:t>   雪   </a:t>
            </a:r>
            <a:r>
              <a:rPr lang="zh-CN" altLang="en-US" sz="2800" b="1">
                <a:solidFill>
                  <a:srgbClr val="0000FF"/>
                </a:solidFill>
              </a:rPr>
              <a:t>習</a:t>
            </a:r>
            <a:r>
              <a:rPr lang="zh-CN" altLang="en-US" sz="2800" b="1"/>
              <a:t>   計  器   英    </a:t>
            </a:r>
            <a:r>
              <a:rPr lang="zh-CN" altLang="en-US" sz="2800" b="1">
                <a:solidFill>
                  <a:srgbClr val="0000FF"/>
                </a:solidFill>
              </a:rPr>
              <a:t>用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>
              <a:buNone/>
            </a:pPr>
            <a:r>
              <a:rPr lang="zh-CN" altLang="en-US" sz="2800" b="1">
                <a:solidFill>
                  <a:srgbClr val="0000FF"/>
                </a:solidFill>
              </a:rPr>
              <a:t>機</a:t>
            </a:r>
            <a:r>
              <a:rPr lang="zh-CN" altLang="en-US" sz="2800" b="1"/>
              <a:t>  其   薛   西   機  </a:t>
            </a:r>
            <a:r>
              <a:rPr lang="zh-CN" altLang="en-US" sz="2800" b="1">
                <a:solidFill>
                  <a:srgbClr val="0000FF"/>
                </a:solidFill>
              </a:rPr>
              <a:t>其</a:t>
            </a:r>
            <a:r>
              <a:rPr lang="zh-CN" altLang="en-US" sz="2800" b="1"/>
              <a:t>   營    永</a:t>
            </a:r>
            <a:endParaRPr lang="en-US" altLang="zh-CN" sz="2800" b="1" dirty="0"/>
          </a:p>
          <a:p>
            <a:pPr>
              <a:buNone/>
            </a:pPr>
            <a:r>
              <a:rPr lang="en-US" altLang="zh-CN" sz="2800" b="1" dirty="0"/>
              <a:t>…  …   …   …   …   …   …    …</a:t>
            </a:r>
          </a:p>
          <a:p>
            <a:pPr>
              <a:buNone/>
            </a:pPr>
            <a:endParaRPr lang="en-US" altLang="zh-CN" sz="2800" b="1" dirty="0"/>
          </a:p>
        </p:txBody>
      </p:sp>
    </p:spTree>
    <p:extLst>
      <p:ext uri="{BB962C8B-B14F-4D97-AF65-F5344CB8AC3E}">
        <p14:creationId xmlns:p14="http://schemas.microsoft.com/office/powerpoint/2010/main" val="409703120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6CC018-445A-472F-92D2-C1FF0890C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拼音輸入法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34E3A8-50AD-4202-9441-736A954F64A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8112642" cy="4572000"/>
          </a:xfrm>
        </p:spPr>
        <p:txBody>
          <a:bodyPr>
            <a:normAutofit/>
          </a:bodyPr>
          <a:lstStyle/>
          <a:p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sz="3000" b="1"/>
              <a:t>漢語約有</a:t>
            </a:r>
            <a:r>
              <a:rPr lang="en-US" altLang="zh-CN" sz="3000" b="1"/>
              <a:t>400</a:t>
            </a:r>
            <a:r>
              <a:rPr lang="zh-CN" altLang="en-US" sz="3000" b="1"/>
              <a:t>個音，常用漢字</a:t>
            </a:r>
            <a:r>
              <a:rPr lang="en-US" altLang="zh-CN" sz="3000" b="1"/>
              <a:t>4000</a:t>
            </a:r>
            <a:r>
              <a:rPr lang="zh-CN" altLang="en-US" sz="3000" b="1"/>
              <a:t>個，平均一個音對應</a:t>
            </a:r>
            <a:r>
              <a:rPr lang="en-US" altLang="zh-CN" sz="3000" b="1"/>
              <a:t>10</a:t>
            </a:r>
            <a:r>
              <a:rPr lang="zh-CN" altLang="en-US" sz="3000" b="1"/>
              <a:t>個漢字。</a:t>
            </a:r>
          </a:p>
          <a:p>
            <a:pPr>
              <a:lnSpc>
                <a:spcPct val="120000"/>
              </a:lnSpc>
            </a:pPr>
            <a:r>
              <a:rPr lang="zh-CN" altLang="en-US" sz="3000" b="1"/>
              <a:t>漢語句子平均長度</a:t>
            </a:r>
            <a:r>
              <a:rPr lang="en-US" altLang="zh-CN" sz="3000" b="1"/>
              <a:t>11</a:t>
            </a:r>
            <a:r>
              <a:rPr lang="zh-CN" altLang="en-US" sz="3000" b="1"/>
              <a:t>個</a:t>
            </a:r>
          </a:p>
          <a:p>
            <a:pPr>
              <a:lnSpc>
                <a:spcPct val="120000"/>
              </a:lnSpc>
            </a:pPr>
            <a:r>
              <a:rPr lang="zh-CN" altLang="en-US" sz="3000" b="1"/>
              <a:t>一個</a:t>
            </a:r>
            <a:r>
              <a:rPr lang="en-US" altLang="zh-CN" sz="3000" b="1"/>
              <a:t>11</a:t>
            </a:r>
            <a:r>
              <a:rPr lang="zh-CN" altLang="en-US" sz="3000" b="1"/>
              <a:t>個音的拼音串，約有</a:t>
            </a:r>
            <a:r>
              <a:rPr lang="en-US" altLang="zh-CN" sz="3000" b="1"/>
              <a:t>10</a:t>
            </a:r>
            <a:r>
              <a:rPr lang="en-US" altLang="zh-CN" sz="3000" b="1" baseline="30000"/>
              <a:t>11</a:t>
            </a:r>
            <a:r>
              <a:rPr lang="zh-CN" altLang="en-US" sz="3000" b="1"/>
              <a:t>個可能的句子</a:t>
            </a:r>
          </a:p>
          <a:p>
            <a:pPr>
              <a:lnSpc>
                <a:spcPct val="120000"/>
              </a:lnSpc>
            </a:pPr>
            <a:r>
              <a:rPr lang="zh-CN" altLang="en-US" sz="3000" b="1"/>
              <a:t>假設</a:t>
            </a:r>
            <a:r>
              <a:rPr lang="en-US" altLang="zh-CN" sz="3000" b="1"/>
              <a:t>1</a:t>
            </a:r>
            <a:r>
              <a:rPr lang="zh-CN" altLang="en-US" sz="3000" b="1"/>
              <a:t>毫秒生成一個句子，需要</a:t>
            </a:r>
            <a:r>
              <a:rPr lang="en-US" altLang="zh-CN" sz="3000" b="1"/>
              <a:t>3</a:t>
            </a:r>
            <a:r>
              <a:rPr lang="zh-CN" altLang="en-US" sz="3000" b="1"/>
              <a:t>年時間</a:t>
            </a:r>
          </a:p>
          <a:p>
            <a:pPr>
              <a:lnSpc>
                <a:spcPct val="120000"/>
              </a:lnSpc>
            </a:pPr>
            <a:r>
              <a:rPr lang="zh-CN" altLang="en-US" sz="3000" b="1"/>
              <a:t>如何從這麼多句子中找出正確的句子呢？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5158750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A4B454-D7D1-4736-8BCB-1C8067DC3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拼音輸入法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97764B-639C-4A8B-9652-AB491FCBF41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  <a:p>
            <a:pPr>
              <a:lnSpc>
                <a:spcPct val="130000"/>
              </a:lnSpc>
            </a:pPr>
            <a:r>
              <a:rPr lang="zh-CN" altLang="en-US" sz="3000" b="1"/>
              <a:t>涉及兩個問題</a:t>
            </a:r>
            <a:endParaRPr lang="en-US" altLang="zh-CN" sz="3000" b="1" dirty="0"/>
          </a:p>
          <a:p>
            <a:pPr marL="548640" lvl="2" indent="-274320">
              <a:lnSpc>
                <a:spcPct val="130000"/>
              </a:lnSpc>
              <a:spcBef>
                <a:spcPts val="580"/>
              </a:spcBef>
              <a:buClr>
                <a:schemeClr val="accent1"/>
              </a:buClr>
              <a:buBlip>
                <a:blip r:embed="rId2"/>
              </a:buBlip>
            </a:pPr>
            <a:r>
              <a:rPr lang="zh-CN" altLang="en-US" sz="2600" b="1"/>
              <a:t>如何判斷一個句子是一個正常的句子</a:t>
            </a:r>
            <a:endParaRPr lang="en-US" altLang="zh-CN" sz="2600" b="1" dirty="0"/>
          </a:p>
          <a:p>
            <a:pPr marL="548640" lvl="2" indent="-274320">
              <a:lnSpc>
                <a:spcPct val="130000"/>
              </a:lnSpc>
              <a:spcBef>
                <a:spcPts val="580"/>
              </a:spcBef>
              <a:buClr>
                <a:schemeClr val="accent1"/>
              </a:buClr>
              <a:buBlip>
                <a:blip r:embed="rId2"/>
              </a:buBlip>
            </a:pPr>
            <a:r>
              <a:rPr lang="zh-CN" altLang="en-US" sz="2600" b="1"/>
              <a:t>如何從眾多的句子中找出這個正常的句子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9835705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拼音輸入法</a:t>
            </a:r>
            <a:endParaRPr lang="zh-CN" altLang="en-US" dirty="0"/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1436688" y="3834529"/>
          <a:ext cx="4751388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692080" imgH="660240" progId="Equation.3">
                  <p:embed/>
                </p:oleObj>
              </mc:Choice>
              <mc:Fallback>
                <p:oleObj name="公式" r:id="rId3" imgW="2692080" imgH="660240" progId="Equation.3">
                  <p:embed/>
                  <p:pic>
                    <p:nvPicPr>
                      <p:cNvPr id="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6688" y="3834529"/>
                        <a:ext cx="4751388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1425537" y="1601979"/>
          <a:ext cx="5537200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3136680" imgH="317160" progId="Equation.3">
                  <p:embed/>
                </p:oleObj>
              </mc:Choice>
              <mc:Fallback>
                <p:oleObj name="公式" r:id="rId5" imgW="3136680" imgH="317160" progId="Equation.3">
                  <p:embed/>
                  <p:pic>
                    <p:nvPicPr>
                      <p:cNvPr id="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5537" y="1601979"/>
                        <a:ext cx="5537200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9"/>
          <p:cNvGrpSpPr>
            <a:grpSpLocks/>
          </p:cNvGrpSpPr>
          <p:nvPr/>
        </p:nvGrpSpPr>
        <p:grpSpPr bwMode="auto">
          <a:xfrm>
            <a:off x="1425537" y="2358741"/>
            <a:ext cx="2302335" cy="577851"/>
            <a:chOff x="859" y="2446"/>
            <a:chExt cx="1390" cy="364"/>
          </a:xfrm>
        </p:grpSpPr>
        <p:graphicFrame>
          <p:nvGraphicFramePr>
            <p:cNvPr id="10" name="Object 10"/>
            <p:cNvGraphicFramePr>
              <a:graphicFrameLocks noChangeAspect="1"/>
            </p:cNvGraphicFramePr>
            <p:nvPr/>
          </p:nvGraphicFramePr>
          <p:xfrm>
            <a:off x="859" y="2481"/>
            <a:ext cx="636" cy="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571320" imgH="304560" progId="Equation.3">
                    <p:embed/>
                  </p:oleObj>
                </mc:Choice>
                <mc:Fallback>
                  <p:oleObj name="公式" r:id="rId7" imgW="571320" imgH="304560" progId="Equation.3">
                    <p:embed/>
                    <p:pic>
                      <p:nvPicPr>
                        <p:cNvPr id="1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9" y="2481"/>
                          <a:ext cx="636" cy="3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Text Box 11"/>
            <p:cNvSpPr txBox="1">
              <a:spLocks noChangeArrowheads="1"/>
            </p:cNvSpPr>
            <p:nvPr/>
          </p:nvSpPr>
          <p:spPr bwMode="auto">
            <a:xfrm>
              <a:off x="1484" y="2446"/>
              <a:ext cx="765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800" b="1"/>
                <a:t>為常量</a:t>
              </a:r>
              <a:endParaRPr lang="zh-CN" altLang="en-US" sz="2800" b="1" dirty="0"/>
            </a:p>
          </p:txBody>
        </p:sp>
      </p:grpSp>
      <p:grpSp>
        <p:nvGrpSpPr>
          <p:cNvPr id="15" name="Group 15"/>
          <p:cNvGrpSpPr>
            <a:grpSpLocks/>
          </p:cNvGrpSpPr>
          <p:nvPr/>
        </p:nvGrpSpPr>
        <p:grpSpPr bwMode="auto">
          <a:xfrm>
            <a:off x="1380933" y="5505885"/>
            <a:ext cx="6381752" cy="544513"/>
            <a:chOff x="1162" y="3386"/>
            <a:chExt cx="4020" cy="343"/>
          </a:xfrm>
        </p:grpSpPr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1162" y="3399"/>
              <a:ext cx="344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800" b="1" dirty="0"/>
                <a:t>求</a:t>
              </a:r>
            </a:p>
          </p:txBody>
        </p:sp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4611" y="3386"/>
              <a:ext cx="571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800" b="1" dirty="0"/>
                <a:t>最大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1381912" y="3213235"/>
                <a:ext cx="2419816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)≈1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912" y="3213235"/>
                <a:ext cx="2419816" cy="5539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4570155"/>
              </p:ext>
            </p:extLst>
          </p:nvPr>
        </p:nvGraphicFramePr>
        <p:xfrm>
          <a:off x="2104834" y="5199497"/>
          <a:ext cx="4751388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692080" imgH="660240" progId="Equation.3">
                  <p:embed/>
                </p:oleObj>
              </mc:Choice>
              <mc:Fallback>
                <p:oleObj name="公式" r:id="rId3" imgW="2692080" imgH="660240" progId="Equation.3">
                  <p:embed/>
                  <p:pic>
                    <p:nvPicPr>
                      <p:cNvPr id="2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4834" y="5199497"/>
                        <a:ext cx="4751388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65721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拼音輸入法</a:t>
            </a:r>
            <a:endParaRPr lang="zh-CN" altLang="en-US" dirty="0"/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303141" y="2783651"/>
            <a:ext cx="2097088" cy="523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/>
              <a:t>二元語法時：</a:t>
            </a:r>
            <a:endParaRPr lang="zh-CN" altLang="en-US" sz="2400" dirty="0"/>
          </a:p>
        </p:txBody>
      </p:sp>
      <p:grpSp>
        <p:nvGrpSpPr>
          <p:cNvPr id="15" name="Group 15"/>
          <p:cNvGrpSpPr>
            <a:grpSpLocks/>
          </p:cNvGrpSpPr>
          <p:nvPr/>
        </p:nvGrpSpPr>
        <p:grpSpPr bwMode="auto">
          <a:xfrm>
            <a:off x="1303141" y="3819646"/>
            <a:ext cx="6099179" cy="541338"/>
            <a:chOff x="1161" y="3399"/>
            <a:chExt cx="3842" cy="341"/>
          </a:xfrm>
        </p:grpSpPr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1161" y="3399"/>
              <a:ext cx="343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800" dirty="0"/>
                <a:t>求</a:t>
              </a:r>
            </a:p>
          </p:txBody>
        </p:sp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3530" y="3410"/>
              <a:ext cx="1473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800"/>
                <a:t>所對應的句子</a:t>
              </a:r>
              <a:endParaRPr lang="zh-CN" altLang="en-US" sz="2800" dirty="0"/>
            </a:p>
          </p:txBody>
        </p:sp>
      </p:grpSp>
      <p:sp>
        <p:nvSpPr>
          <p:cNvPr id="20" name="Text Box 16"/>
          <p:cNvSpPr txBox="1">
            <a:spLocks noChangeArrowheads="1"/>
          </p:cNvSpPr>
          <p:nvPr/>
        </p:nvSpPr>
        <p:spPr bwMode="auto">
          <a:xfrm>
            <a:off x="1243046" y="5396570"/>
            <a:ext cx="54373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dirty="0"/>
              <a:t>求</a:t>
            </a:r>
          </a:p>
        </p:txBody>
      </p:sp>
      <p:sp>
        <p:nvSpPr>
          <p:cNvPr id="21" name="Text Box 18"/>
          <p:cNvSpPr txBox="1">
            <a:spLocks noChangeArrowheads="1"/>
          </p:cNvSpPr>
          <p:nvPr/>
        </p:nvSpPr>
        <p:spPr bwMode="auto">
          <a:xfrm>
            <a:off x="6028196" y="5357045"/>
            <a:ext cx="241039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/>
              <a:t>所對應的句子</a:t>
            </a:r>
            <a:endParaRPr lang="zh-CN" altLang="en-US" sz="2800" dirty="0"/>
          </a:p>
        </p:txBody>
      </p:sp>
      <p:sp>
        <p:nvSpPr>
          <p:cNvPr id="22" name="Text Box 16"/>
          <p:cNvSpPr txBox="1">
            <a:spLocks noChangeArrowheads="1"/>
          </p:cNvSpPr>
          <p:nvPr/>
        </p:nvSpPr>
        <p:spPr bwMode="auto">
          <a:xfrm>
            <a:off x="1303141" y="4654996"/>
            <a:ext cx="162095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/>
              <a:t>等價於：</a:t>
            </a:r>
            <a:endParaRPr lang="zh-CN" altLang="en-US" sz="2800" dirty="0"/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23B7808E-09A9-8217-BB63-B1C42BDDE0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3644962"/>
              </p:ext>
            </p:extLst>
          </p:nvPr>
        </p:nvGraphicFramePr>
        <p:xfrm>
          <a:off x="1303141" y="1632898"/>
          <a:ext cx="3995381" cy="955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692080" imgH="660240" progId="Equation.3">
                  <p:embed/>
                </p:oleObj>
              </mc:Choice>
              <mc:Fallback>
                <p:oleObj name="公式" r:id="rId3" imgW="2692080" imgH="660240" progId="Equation.3">
                  <p:embed/>
                  <p:pic>
                    <p:nvPicPr>
                      <p:cNvPr id="2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3141" y="1632898"/>
                        <a:ext cx="3995381" cy="9557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7FD28AB-A909-1F0C-480C-B40E779477AF}"/>
                  </a:ext>
                </a:extLst>
              </p:cNvPr>
              <p:cNvSpPr txBox="1"/>
              <p:nvPr/>
            </p:nvSpPr>
            <p:spPr>
              <a:xfrm>
                <a:off x="3300831" y="2418125"/>
                <a:ext cx="3676969" cy="1176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zh-CN" alt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∏"/>
                          <m:ctrlPr>
                            <a:rPr kumimoji="1" lang="zh-CN" alt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7FD28AB-A909-1F0C-480C-B40E779477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0831" y="2418125"/>
                <a:ext cx="3676969" cy="117621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8625B85-6059-AE02-9FBF-DF4A01EBBD5F}"/>
                  </a:ext>
                </a:extLst>
              </p:cNvPr>
              <p:cNvSpPr txBox="1"/>
              <p:nvPr/>
            </p:nvSpPr>
            <p:spPr>
              <a:xfrm>
                <a:off x="1741680" y="3478777"/>
                <a:ext cx="3504742" cy="1176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800" b="0" i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kumimoji="1" lang="zh-CN" alt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∏"/>
                          <m:ctrlPr>
                            <a:rPr kumimoji="1" lang="zh-CN" alt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  <m:r>
                            <a:rPr kumimoji="1" lang="zh-CN" alt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8625B85-6059-AE02-9FBF-DF4A01EBBD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1680" y="3478777"/>
                <a:ext cx="3504742" cy="117621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A179BB7-2DB1-4AFA-4C85-4FB6BCCEDFA7}"/>
                  </a:ext>
                </a:extLst>
              </p:cNvPr>
              <p:cNvSpPr txBox="1"/>
              <p:nvPr/>
            </p:nvSpPr>
            <p:spPr>
              <a:xfrm>
                <a:off x="1786785" y="5030545"/>
                <a:ext cx="4325992" cy="1176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80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1"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))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A179BB7-2DB1-4AFA-4C85-4FB6BCCED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6785" y="5030545"/>
                <a:ext cx="4325992" cy="117621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6766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0" grpId="0"/>
      <p:bldP spid="21" grpId="0"/>
      <p:bldP spid="22" grpId="0"/>
      <p:bldP spid="9" grpId="0"/>
      <p:bldP spid="10" grpId="0"/>
      <p:bldP spid="11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" name="直接箭头连接符 82"/>
          <p:cNvCxnSpPr/>
          <p:nvPr/>
        </p:nvCxnSpPr>
        <p:spPr>
          <a:xfrm>
            <a:off x="1488076" y="4288974"/>
            <a:ext cx="5932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/>
          <p:cNvCxnSpPr/>
          <p:nvPr/>
        </p:nvCxnSpPr>
        <p:spPr>
          <a:xfrm>
            <a:off x="1488894" y="3437709"/>
            <a:ext cx="544801" cy="8599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/>
          <p:cNvCxnSpPr/>
          <p:nvPr/>
        </p:nvCxnSpPr>
        <p:spPr>
          <a:xfrm>
            <a:off x="1488076" y="2555957"/>
            <a:ext cx="593273" cy="17970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/>
          <p:cNvCxnSpPr/>
          <p:nvPr/>
        </p:nvCxnSpPr>
        <p:spPr>
          <a:xfrm flipV="1">
            <a:off x="1476640" y="2612571"/>
            <a:ext cx="564409" cy="166811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拼音輸入法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1079871" y="1447799"/>
            <a:ext cx="7271656" cy="4108269"/>
          </a:xfrm>
        </p:spPr>
        <p:txBody>
          <a:bodyPr>
            <a:normAutofit/>
          </a:bodyPr>
          <a:lstStyle/>
          <a:p>
            <a:pPr>
              <a:buNone/>
            </a:pPr>
            <a:endParaRPr lang="en-US" altLang="zh-CN" sz="2400" b="1" dirty="0"/>
          </a:p>
          <a:p>
            <a:pPr>
              <a:buNone/>
            </a:pPr>
            <a:endParaRPr lang="en-US" altLang="zh-CN" sz="2400" b="1" dirty="0"/>
          </a:p>
          <a:p>
            <a:pPr>
              <a:buNone/>
            </a:pPr>
            <a:r>
              <a:rPr lang="zh-CN" altLang="en-US" sz="2400" b="1" dirty="0"/>
              <a:t>及</a:t>
            </a:r>
            <a:r>
              <a:rPr lang="en-US" altLang="zh-CN" sz="2400" b="1" dirty="0"/>
              <a:t>	</a:t>
            </a:r>
            <a:r>
              <a:rPr lang="zh-CN" altLang="en-US" sz="2400" b="1" dirty="0"/>
              <a:t>期</a:t>
            </a:r>
            <a:r>
              <a:rPr lang="en-US" altLang="zh-CN" sz="2400" b="1"/>
              <a:t>	</a:t>
            </a:r>
            <a:r>
              <a:rPr lang="zh-CN" altLang="en-US" sz="2400" b="1">
                <a:solidFill>
                  <a:srgbClr val="0000FF"/>
                </a:solidFill>
              </a:rPr>
              <a:t>學</a:t>
            </a:r>
            <a:r>
              <a:rPr lang="en-US" altLang="zh-CN" sz="2400" b="1" dirty="0"/>
              <a:t>	</a:t>
            </a:r>
            <a:r>
              <a:rPr lang="zh-CN" altLang="en-US" sz="2400" b="1" dirty="0"/>
              <a:t>系</a:t>
            </a:r>
            <a:r>
              <a:rPr lang="en-US" altLang="zh-CN" sz="2400" b="1" dirty="0"/>
              <a:t>	</a:t>
            </a:r>
            <a:r>
              <a:rPr lang="zh-CN" altLang="en-US" sz="2400" b="1" dirty="0">
                <a:solidFill>
                  <a:srgbClr val="0000FF"/>
                </a:solidFill>
              </a:rPr>
              <a:t>及</a:t>
            </a:r>
            <a:r>
              <a:rPr lang="en-US" altLang="zh-CN" sz="2400" b="1" dirty="0"/>
              <a:t>	</a:t>
            </a:r>
            <a:r>
              <a:rPr lang="zh-CN" altLang="en-US" sz="2400" b="1" dirty="0"/>
              <a:t>期</a:t>
            </a:r>
            <a:r>
              <a:rPr lang="en-US" altLang="zh-CN" sz="2400" b="1"/>
              <a:t>	</a:t>
            </a:r>
            <a:r>
              <a:rPr lang="zh-CN" altLang="en-US" sz="2400" b="1">
                <a:solidFill>
                  <a:srgbClr val="0000FF"/>
                </a:solidFill>
              </a:rPr>
              <a:t>應</a:t>
            </a:r>
            <a:r>
              <a:rPr lang="en-US" altLang="zh-CN" sz="2400" b="1" dirty="0"/>
              <a:t>	</a:t>
            </a:r>
            <a:r>
              <a:rPr lang="zh-CN" altLang="en-US" sz="2400" b="1" dirty="0"/>
              <a:t>勇</a:t>
            </a:r>
            <a:endParaRPr lang="en-US" altLang="zh-CN" sz="2400" b="1" dirty="0"/>
          </a:p>
          <a:p>
            <a:pPr>
              <a:buNone/>
            </a:pPr>
            <a:endParaRPr lang="en-US" altLang="zh-CN" sz="2400" b="1" dirty="0"/>
          </a:p>
          <a:p>
            <a:pPr>
              <a:buNone/>
            </a:pPr>
            <a:r>
              <a:rPr lang="zh-CN" altLang="en-US" sz="2400" b="1"/>
              <a:t>計</a:t>
            </a:r>
            <a:r>
              <a:rPr lang="en-US" altLang="zh-CN" sz="2400" b="1" dirty="0"/>
              <a:t>	</a:t>
            </a:r>
            <a:r>
              <a:rPr lang="zh-CN" altLang="en-US" sz="2400" b="1" dirty="0">
                <a:solidFill>
                  <a:srgbClr val="0000FF"/>
                </a:solidFill>
              </a:rPr>
              <a:t>器</a:t>
            </a:r>
            <a:r>
              <a:rPr lang="en-US" altLang="zh-CN" sz="2400" b="1" dirty="0"/>
              <a:t>	</a:t>
            </a:r>
            <a:r>
              <a:rPr lang="zh-CN" altLang="en-US" sz="2400" b="1" dirty="0"/>
              <a:t>雪</a:t>
            </a:r>
            <a:r>
              <a:rPr lang="en-US" altLang="zh-CN" sz="2400" b="1"/>
              <a:t>	</a:t>
            </a:r>
            <a:r>
              <a:rPr lang="zh-CN" altLang="en-US" sz="2400" b="1">
                <a:solidFill>
                  <a:srgbClr val="0000FF"/>
                </a:solidFill>
              </a:rPr>
              <a:t>習</a:t>
            </a:r>
            <a:r>
              <a:rPr lang="en-US" altLang="zh-CN" sz="2400" b="1"/>
              <a:t>	</a:t>
            </a:r>
            <a:r>
              <a:rPr lang="zh-CN" altLang="en-US" sz="2400" b="1"/>
              <a:t>計</a:t>
            </a:r>
            <a:r>
              <a:rPr lang="en-US" altLang="zh-CN" sz="2400" b="1" dirty="0"/>
              <a:t>	</a:t>
            </a:r>
            <a:r>
              <a:rPr lang="zh-CN" altLang="en-US" sz="2400" b="1" dirty="0"/>
              <a:t>器</a:t>
            </a:r>
            <a:r>
              <a:rPr lang="en-US" altLang="zh-CN" sz="2400" b="1" dirty="0"/>
              <a:t>	</a:t>
            </a:r>
            <a:r>
              <a:rPr lang="zh-CN" altLang="en-US" sz="2400" b="1" dirty="0"/>
              <a:t>英</a:t>
            </a:r>
            <a:r>
              <a:rPr lang="en-US" altLang="zh-CN" sz="2400" b="1" dirty="0"/>
              <a:t>	</a:t>
            </a:r>
            <a:r>
              <a:rPr lang="zh-CN" altLang="en-US" sz="2400" b="1" dirty="0">
                <a:solidFill>
                  <a:srgbClr val="0000FF"/>
                </a:solidFill>
              </a:rPr>
              <a:t>用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>
              <a:buNone/>
            </a:pPr>
            <a:endParaRPr lang="en-US" altLang="zh-CN" sz="2400" b="1" dirty="0">
              <a:solidFill>
                <a:srgbClr val="0000FF"/>
              </a:solidFill>
            </a:endParaRPr>
          </a:p>
          <a:p>
            <a:pPr>
              <a:buNone/>
            </a:pPr>
            <a:r>
              <a:rPr lang="zh-CN" altLang="en-US" sz="2400" b="1">
                <a:solidFill>
                  <a:srgbClr val="0000FF"/>
                </a:solidFill>
              </a:rPr>
              <a:t>機</a:t>
            </a:r>
            <a:r>
              <a:rPr lang="en-US" altLang="zh-CN" sz="2400" b="1" dirty="0"/>
              <a:t>	</a:t>
            </a:r>
            <a:r>
              <a:rPr lang="zh-CN" altLang="en-US" sz="2400" b="1" dirty="0"/>
              <a:t>其</a:t>
            </a:r>
            <a:r>
              <a:rPr lang="en-US" altLang="zh-CN" sz="2400" b="1" dirty="0"/>
              <a:t>	</a:t>
            </a:r>
            <a:r>
              <a:rPr lang="zh-CN" altLang="en-US" sz="2400" b="1" dirty="0"/>
              <a:t>薛</a:t>
            </a:r>
            <a:r>
              <a:rPr lang="en-US" altLang="zh-CN" sz="2400" b="1" dirty="0"/>
              <a:t>	</a:t>
            </a:r>
            <a:r>
              <a:rPr lang="zh-CN" altLang="en-US" sz="2400" b="1" dirty="0"/>
              <a:t>西</a:t>
            </a:r>
            <a:r>
              <a:rPr lang="en-US" altLang="zh-CN" sz="2400" b="1"/>
              <a:t>	</a:t>
            </a:r>
            <a:r>
              <a:rPr lang="zh-CN" altLang="en-US" sz="2400" b="1"/>
              <a:t>機</a:t>
            </a:r>
            <a:r>
              <a:rPr lang="en-US" altLang="zh-CN" sz="2400" b="1" dirty="0"/>
              <a:t>	</a:t>
            </a:r>
            <a:r>
              <a:rPr lang="zh-CN" altLang="en-US" sz="2400" b="1" dirty="0">
                <a:solidFill>
                  <a:srgbClr val="0000FF"/>
                </a:solidFill>
              </a:rPr>
              <a:t>其</a:t>
            </a:r>
            <a:r>
              <a:rPr lang="en-US" altLang="zh-CN" sz="2400" b="1"/>
              <a:t>	</a:t>
            </a:r>
            <a:r>
              <a:rPr lang="zh-CN" altLang="en-US" sz="2400" b="1"/>
              <a:t>營</a:t>
            </a:r>
            <a:r>
              <a:rPr lang="en-US" altLang="zh-CN" sz="2400" b="1" dirty="0"/>
              <a:t>	</a:t>
            </a:r>
            <a:r>
              <a:rPr lang="zh-CN" altLang="en-US" sz="2400" b="1" dirty="0"/>
              <a:t>永</a:t>
            </a:r>
            <a:endParaRPr lang="en-US" altLang="zh-CN" sz="2400" b="1" dirty="0"/>
          </a:p>
          <a:p>
            <a:pPr>
              <a:buNone/>
            </a:pPr>
            <a:r>
              <a:rPr lang="en-US" altLang="zh-CN" sz="2400" b="1" dirty="0"/>
              <a:t>…  	…  	 …   	…  	…   	…  	 …  	…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椭圆 3"/>
          <p:cNvSpPr/>
          <p:nvPr/>
        </p:nvSpPr>
        <p:spPr>
          <a:xfrm>
            <a:off x="372278" y="3345981"/>
            <a:ext cx="200297" cy="20029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8486503" y="3300548"/>
            <a:ext cx="200297" cy="20029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箭头连接符 25"/>
          <p:cNvCxnSpPr/>
          <p:nvPr/>
        </p:nvCxnSpPr>
        <p:spPr>
          <a:xfrm flipV="1">
            <a:off x="582401" y="2547252"/>
            <a:ext cx="568217" cy="8534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 flipV="1">
            <a:off x="604676" y="3426823"/>
            <a:ext cx="545942" cy="182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>
            <a:off x="1488076" y="2547252"/>
            <a:ext cx="5932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/>
          <p:cNvCxnSpPr/>
          <p:nvPr/>
        </p:nvCxnSpPr>
        <p:spPr>
          <a:xfrm>
            <a:off x="1488076" y="3426823"/>
            <a:ext cx="5932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/>
          <p:cNvCxnSpPr/>
          <p:nvPr/>
        </p:nvCxnSpPr>
        <p:spPr>
          <a:xfrm flipV="1">
            <a:off x="1477187" y="2582087"/>
            <a:ext cx="568217" cy="8534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84"/>
          <p:cNvCxnSpPr/>
          <p:nvPr/>
        </p:nvCxnSpPr>
        <p:spPr>
          <a:xfrm>
            <a:off x="1500603" y="2558139"/>
            <a:ext cx="544801" cy="8599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563875" y="3537574"/>
            <a:ext cx="586743" cy="8154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V="1">
            <a:off x="1488076" y="3457303"/>
            <a:ext cx="532313" cy="80989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箭头连接符 95"/>
          <p:cNvCxnSpPr/>
          <p:nvPr/>
        </p:nvCxnSpPr>
        <p:spPr>
          <a:xfrm>
            <a:off x="2384520" y="2569019"/>
            <a:ext cx="5932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箭头连接符 96"/>
          <p:cNvCxnSpPr/>
          <p:nvPr/>
        </p:nvCxnSpPr>
        <p:spPr>
          <a:xfrm>
            <a:off x="2423142" y="3418107"/>
            <a:ext cx="5932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箭头连接符 100"/>
          <p:cNvCxnSpPr/>
          <p:nvPr/>
        </p:nvCxnSpPr>
        <p:spPr>
          <a:xfrm>
            <a:off x="2423142" y="4297686"/>
            <a:ext cx="5932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/>
          <p:cNvCxnSpPr/>
          <p:nvPr/>
        </p:nvCxnSpPr>
        <p:spPr>
          <a:xfrm>
            <a:off x="3326663" y="4297686"/>
            <a:ext cx="5932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箭头连接符 104"/>
          <p:cNvCxnSpPr/>
          <p:nvPr/>
        </p:nvCxnSpPr>
        <p:spPr>
          <a:xfrm>
            <a:off x="3326663" y="3457302"/>
            <a:ext cx="5932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箭头连接符 105"/>
          <p:cNvCxnSpPr/>
          <p:nvPr/>
        </p:nvCxnSpPr>
        <p:spPr>
          <a:xfrm>
            <a:off x="3326663" y="2547252"/>
            <a:ext cx="5932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箭头连接符 106"/>
          <p:cNvCxnSpPr/>
          <p:nvPr/>
        </p:nvCxnSpPr>
        <p:spPr>
          <a:xfrm>
            <a:off x="4232105" y="2569019"/>
            <a:ext cx="5932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箭头连接符 107"/>
          <p:cNvCxnSpPr/>
          <p:nvPr/>
        </p:nvCxnSpPr>
        <p:spPr>
          <a:xfrm>
            <a:off x="5129351" y="2534175"/>
            <a:ext cx="5932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箭头连接符 108"/>
          <p:cNvCxnSpPr/>
          <p:nvPr/>
        </p:nvCxnSpPr>
        <p:spPr>
          <a:xfrm>
            <a:off x="4232105" y="3448583"/>
            <a:ext cx="5932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箭头连接符 109"/>
          <p:cNvCxnSpPr/>
          <p:nvPr/>
        </p:nvCxnSpPr>
        <p:spPr>
          <a:xfrm>
            <a:off x="4232105" y="4306383"/>
            <a:ext cx="5932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箭头连接符 112"/>
          <p:cNvCxnSpPr/>
          <p:nvPr/>
        </p:nvCxnSpPr>
        <p:spPr>
          <a:xfrm>
            <a:off x="5151124" y="3436371"/>
            <a:ext cx="5932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箭头连接符 113"/>
          <p:cNvCxnSpPr/>
          <p:nvPr/>
        </p:nvCxnSpPr>
        <p:spPr>
          <a:xfrm>
            <a:off x="5142415" y="4335588"/>
            <a:ext cx="5932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箭头连接符 114"/>
          <p:cNvCxnSpPr/>
          <p:nvPr/>
        </p:nvCxnSpPr>
        <p:spPr>
          <a:xfrm>
            <a:off x="6078576" y="4316892"/>
            <a:ext cx="5932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箭头连接符 115"/>
          <p:cNvCxnSpPr/>
          <p:nvPr/>
        </p:nvCxnSpPr>
        <p:spPr>
          <a:xfrm>
            <a:off x="6078576" y="3467806"/>
            <a:ext cx="5932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箭头连接符 116"/>
          <p:cNvCxnSpPr/>
          <p:nvPr/>
        </p:nvCxnSpPr>
        <p:spPr>
          <a:xfrm>
            <a:off x="6078576" y="2534175"/>
            <a:ext cx="5932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箭头连接符 117"/>
          <p:cNvCxnSpPr/>
          <p:nvPr/>
        </p:nvCxnSpPr>
        <p:spPr>
          <a:xfrm>
            <a:off x="7008238" y="2555957"/>
            <a:ext cx="5932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箭头连接符 118"/>
          <p:cNvCxnSpPr/>
          <p:nvPr/>
        </p:nvCxnSpPr>
        <p:spPr>
          <a:xfrm>
            <a:off x="6988631" y="3479063"/>
            <a:ext cx="5932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箭头连接符 122"/>
          <p:cNvCxnSpPr/>
          <p:nvPr/>
        </p:nvCxnSpPr>
        <p:spPr>
          <a:xfrm>
            <a:off x="6979922" y="4353006"/>
            <a:ext cx="5932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125"/>
          <p:cNvCxnSpPr>
            <a:endCxn id="5" idx="2"/>
          </p:cNvCxnSpPr>
          <p:nvPr/>
        </p:nvCxnSpPr>
        <p:spPr>
          <a:xfrm flipV="1">
            <a:off x="7885604" y="3400697"/>
            <a:ext cx="600899" cy="95230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接箭头连接符 126"/>
          <p:cNvCxnSpPr>
            <a:endCxn id="5" idx="2"/>
          </p:cNvCxnSpPr>
          <p:nvPr/>
        </p:nvCxnSpPr>
        <p:spPr>
          <a:xfrm>
            <a:off x="7885604" y="2534175"/>
            <a:ext cx="600899" cy="86652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箭头连接符 130"/>
          <p:cNvCxnSpPr/>
          <p:nvPr/>
        </p:nvCxnSpPr>
        <p:spPr>
          <a:xfrm flipV="1">
            <a:off x="2432958" y="3435519"/>
            <a:ext cx="555186" cy="84506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接箭头连接符 137"/>
          <p:cNvCxnSpPr/>
          <p:nvPr/>
        </p:nvCxnSpPr>
        <p:spPr>
          <a:xfrm flipV="1">
            <a:off x="2423142" y="2586441"/>
            <a:ext cx="593273" cy="171124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箭头连接符 148"/>
          <p:cNvCxnSpPr/>
          <p:nvPr/>
        </p:nvCxnSpPr>
        <p:spPr>
          <a:xfrm>
            <a:off x="2401354" y="2547252"/>
            <a:ext cx="565017" cy="8795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接箭头连接符 154"/>
          <p:cNvCxnSpPr/>
          <p:nvPr/>
        </p:nvCxnSpPr>
        <p:spPr>
          <a:xfrm>
            <a:off x="2418743" y="3444234"/>
            <a:ext cx="565017" cy="8795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箭头连接符 155"/>
          <p:cNvCxnSpPr/>
          <p:nvPr/>
        </p:nvCxnSpPr>
        <p:spPr>
          <a:xfrm>
            <a:off x="2384520" y="2551599"/>
            <a:ext cx="631895" cy="181140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V="1">
            <a:off x="2423142" y="2612571"/>
            <a:ext cx="544301" cy="7881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3326663" y="2612571"/>
            <a:ext cx="515994" cy="8142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V="1">
            <a:off x="4232105" y="2612573"/>
            <a:ext cx="568495" cy="8142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5151124" y="2547252"/>
            <a:ext cx="571500" cy="18057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V="1">
            <a:off x="6078576" y="2612573"/>
            <a:ext cx="548647" cy="165462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>
            <a:off x="7008238" y="2586441"/>
            <a:ext cx="564957" cy="8708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endCxn id="5" idx="2"/>
          </p:cNvCxnSpPr>
          <p:nvPr/>
        </p:nvCxnSpPr>
        <p:spPr>
          <a:xfrm flipV="1">
            <a:off x="7885604" y="3400697"/>
            <a:ext cx="600899" cy="261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接箭头连接符 160"/>
          <p:cNvCxnSpPr/>
          <p:nvPr/>
        </p:nvCxnSpPr>
        <p:spPr>
          <a:xfrm flipV="1">
            <a:off x="3326663" y="3500845"/>
            <a:ext cx="515994" cy="7797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接箭头连接符 164"/>
          <p:cNvCxnSpPr/>
          <p:nvPr/>
        </p:nvCxnSpPr>
        <p:spPr>
          <a:xfrm flipV="1">
            <a:off x="3349516" y="2564353"/>
            <a:ext cx="538847" cy="86262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接箭头连接符 170"/>
          <p:cNvCxnSpPr/>
          <p:nvPr/>
        </p:nvCxnSpPr>
        <p:spPr>
          <a:xfrm flipV="1">
            <a:off x="5133691" y="3508667"/>
            <a:ext cx="608506" cy="77191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接箭头连接符 171"/>
          <p:cNvCxnSpPr/>
          <p:nvPr/>
        </p:nvCxnSpPr>
        <p:spPr>
          <a:xfrm flipV="1">
            <a:off x="5151124" y="2581605"/>
            <a:ext cx="538847" cy="86262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接箭头连接符 180"/>
          <p:cNvCxnSpPr/>
          <p:nvPr/>
        </p:nvCxnSpPr>
        <p:spPr>
          <a:xfrm flipV="1">
            <a:off x="6074240" y="3509383"/>
            <a:ext cx="510574" cy="7624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接箭头连接符 181"/>
          <p:cNvCxnSpPr/>
          <p:nvPr/>
        </p:nvCxnSpPr>
        <p:spPr>
          <a:xfrm flipV="1">
            <a:off x="6091673" y="2572890"/>
            <a:ext cx="538847" cy="86262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接箭头连接符 182"/>
          <p:cNvCxnSpPr/>
          <p:nvPr/>
        </p:nvCxnSpPr>
        <p:spPr>
          <a:xfrm flipV="1">
            <a:off x="6997281" y="3488963"/>
            <a:ext cx="556280" cy="82792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接箭头连接符 183"/>
          <p:cNvCxnSpPr/>
          <p:nvPr/>
        </p:nvCxnSpPr>
        <p:spPr>
          <a:xfrm flipV="1">
            <a:off x="7014714" y="2617911"/>
            <a:ext cx="538847" cy="86262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接箭头连接符 184"/>
          <p:cNvCxnSpPr/>
          <p:nvPr/>
        </p:nvCxnSpPr>
        <p:spPr>
          <a:xfrm flipV="1">
            <a:off x="4232911" y="3481090"/>
            <a:ext cx="515994" cy="7797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接箭头连接符 185"/>
          <p:cNvCxnSpPr/>
          <p:nvPr/>
        </p:nvCxnSpPr>
        <p:spPr>
          <a:xfrm>
            <a:off x="3316117" y="2540692"/>
            <a:ext cx="631895" cy="181140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直接箭头连接符 187"/>
          <p:cNvCxnSpPr/>
          <p:nvPr/>
        </p:nvCxnSpPr>
        <p:spPr>
          <a:xfrm>
            <a:off x="4213056" y="2534114"/>
            <a:ext cx="631895" cy="181140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直接箭头连接符 188"/>
          <p:cNvCxnSpPr/>
          <p:nvPr/>
        </p:nvCxnSpPr>
        <p:spPr>
          <a:xfrm>
            <a:off x="6040248" y="2524180"/>
            <a:ext cx="631895" cy="181140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接箭头连接符 189"/>
          <p:cNvCxnSpPr/>
          <p:nvPr/>
        </p:nvCxnSpPr>
        <p:spPr>
          <a:xfrm>
            <a:off x="6978799" y="2605703"/>
            <a:ext cx="631895" cy="181140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接箭头连接符 190"/>
          <p:cNvCxnSpPr/>
          <p:nvPr/>
        </p:nvCxnSpPr>
        <p:spPr>
          <a:xfrm>
            <a:off x="3334144" y="3435519"/>
            <a:ext cx="565017" cy="8795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接箭头连接符 191"/>
          <p:cNvCxnSpPr/>
          <p:nvPr/>
        </p:nvCxnSpPr>
        <p:spPr>
          <a:xfrm>
            <a:off x="4231830" y="3444233"/>
            <a:ext cx="565017" cy="8795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接箭头连接符 192"/>
          <p:cNvCxnSpPr/>
          <p:nvPr/>
        </p:nvCxnSpPr>
        <p:spPr>
          <a:xfrm>
            <a:off x="5129351" y="3435519"/>
            <a:ext cx="565017" cy="8795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直接箭头连接符 193"/>
          <p:cNvCxnSpPr/>
          <p:nvPr/>
        </p:nvCxnSpPr>
        <p:spPr>
          <a:xfrm>
            <a:off x="6053312" y="3458987"/>
            <a:ext cx="565017" cy="8795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直接箭头连接符 195"/>
          <p:cNvCxnSpPr/>
          <p:nvPr/>
        </p:nvCxnSpPr>
        <p:spPr>
          <a:xfrm>
            <a:off x="7008306" y="3504711"/>
            <a:ext cx="565017" cy="8795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箭头连接符 196"/>
          <p:cNvCxnSpPr/>
          <p:nvPr/>
        </p:nvCxnSpPr>
        <p:spPr>
          <a:xfrm flipV="1">
            <a:off x="5129223" y="2524181"/>
            <a:ext cx="560748" cy="176479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接箭头连接符 200"/>
          <p:cNvCxnSpPr/>
          <p:nvPr/>
        </p:nvCxnSpPr>
        <p:spPr>
          <a:xfrm flipV="1">
            <a:off x="6992813" y="2558447"/>
            <a:ext cx="560748" cy="176479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接箭头连接符 201"/>
          <p:cNvCxnSpPr/>
          <p:nvPr/>
        </p:nvCxnSpPr>
        <p:spPr>
          <a:xfrm flipV="1">
            <a:off x="3309076" y="2515490"/>
            <a:ext cx="560748" cy="176479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接箭头连接符 202"/>
          <p:cNvCxnSpPr/>
          <p:nvPr/>
        </p:nvCxnSpPr>
        <p:spPr>
          <a:xfrm flipV="1">
            <a:off x="4250624" y="2558447"/>
            <a:ext cx="560748" cy="176479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接箭头连接符 204"/>
          <p:cNvCxnSpPr/>
          <p:nvPr/>
        </p:nvCxnSpPr>
        <p:spPr>
          <a:xfrm>
            <a:off x="5151373" y="2551821"/>
            <a:ext cx="600899" cy="86652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接箭头连接符 205"/>
          <p:cNvCxnSpPr/>
          <p:nvPr/>
        </p:nvCxnSpPr>
        <p:spPr>
          <a:xfrm>
            <a:off x="6083294" y="2569920"/>
            <a:ext cx="600899" cy="86652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接箭头连接符 206"/>
          <p:cNvCxnSpPr/>
          <p:nvPr/>
        </p:nvCxnSpPr>
        <p:spPr>
          <a:xfrm>
            <a:off x="4227878" y="2568999"/>
            <a:ext cx="600899" cy="86652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曲线连接符 211"/>
          <p:cNvCxnSpPr/>
          <p:nvPr/>
        </p:nvCxnSpPr>
        <p:spPr>
          <a:xfrm rot="16200000" flipH="1">
            <a:off x="5825822" y="1880902"/>
            <a:ext cx="711445" cy="404398"/>
          </a:xfrm>
          <a:prstGeom prst="curvedConnector3">
            <a:avLst/>
          </a:prstGeom>
          <a:ln w="38100">
            <a:solidFill>
              <a:srgbClr val="119F1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Text Box 16"/>
          <p:cNvSpPr txBox="1">
            <a:spLocks noChangeArrowheads="1"/>
          </p:cNvSpPr>
          <p:nvPr/>
        </p:nvSpPr>
        <p:spPr bwMode="auto">
          <a:xfrm>
            <a:off x="1295169" y="5468510"/>
            <a:ext cx="54373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dirty="0"/>
              <a:t>求</a:t>
            </a:r>
          </a:p>
        </p:txBody>
      </p:sp>
      <p:sp>
        <p:nvSpPr>
          <p:cNvPr id="216" name="Text Box 18"/>
          <p:cNvSpPr txBox="1">
            <a:spLocks noChangeArrowheads="1"/>
          </p:cNvSpPr>
          <p:nvPr/>
        </p:nvSpPr>
        <p:spPr bwMode="auto">
          <a:xfrm>
            <a:off x="5087681" y="5409297"/>
            <a:ext cx="90281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dirty="0"/>
              <a:t>最小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0A6D83C-72E6-7DE0-D08B-CFA98A77F751}"/>
                  </a:ext>
                </a:extLst>
              </p:cNvPr>
              <p:cNvSpPr txBox="1"/>
              <p:nvPr/>
            </p:nvSpPr>
            <p:spPr>
              <a:xfrm>
                <a:off x="1754761" y="5094535"/>
                <a:ext cx="3429913" cy="1176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1"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0A6D83C-72E6-7DE0-D08B-CFA98A77F7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4761" y="5094535"/>
                <a:ext cx="3429913" cy="11762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19BBC2B-A2A4-D2CE-49C1-67D430892F47}"/>
                  </a:ext>
                </a:extLst>
              </p:cNvPr>
              <p:cNvSpPr txBox="1"/>
              <p:nvPr/>
            </p:nvSpPr>
            <p:spPr>
              <a:xfrm>
                <a:off x="4633814" y="1047351"/>
                <a:ext cx="283423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kumimoji="1" lang="en-US" altLang="zh-CN" sz="280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2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19BBC2B-A2A4-D2CE-49C1-67D430892F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3814" y="1047351"/>
                <a:ext cx="2834237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2143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" grpId="0"/>
      <p:bldP spid="216" grpId="0"/>
      <p:bldP spid="6" grpId="0"/>
      <p:bldP spid="9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3200" b="1"/>
              <a:t>漢字識別後處理</a:t>
            </a:r>
            <a:endParaRPr lang="zh-CN" altLang="en-US" dirty="0"/>
          </a:p>
        </p:txBody>
      </p:sp>
      <p:sp>
        <p:nvSpPr>
          <p:cNvPr id="99331" name="内容占位符 2"/>
          <p:cNvSpPr>
            <a:spLocks noGrp="1"/>
          </p:cNvSpPr>
          <p:nvPr>
            <p:ph idx="1"/>
          </p:nvPr>
        </p:nvSpPr>
        <p:spPr>
          <a:xfrm>
            <a:off x="914400" y="1630712"/>
            <a:ext cx="7772400" cy="4572000"/>
          </a:xfrm>
        </p:spPr>
        <p:txBody>
          <a:bodyPr/>
          <a:lstStyle/>
          <a:p>
            <a:pPr marL="0" indent="0">
              <a:buNone/>
            </a:pPr>
            <a:endParaRPr lang="zh-CN" altLang="en-US" sz="3200" b="1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9933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EE5BC71-4935-4300-90E6-95E0A720811B}" type="slidenum">
              <a:rPr lang="en-US" altLang="zh-CN" smtClean="0">
                <a:ea typeface="黑体" pitchFamily="49" charset="-122"/>
              </a:rPr>
              <a:pPr/>
              <a:t>93</a:t>
            </a:fld>
            <a:endParaRPr lang="en-US" altLang="zh-CN" dirty="0">
              <a:ea typeface="黑体" pitchFamily="49" charset="-122"/>
            </a:endParaRPr>
          </a:p>
        </p:txBody>
      </p:sp>
      <p:pic>
        <p:nvPicPr>
          <p:cNvPr id="154626" name="Picture 2" descr="F:\人工智能导论\2015本科\杜甫能动.jpg"/>
          <p:cNvPicPr>
            <a:picLocks noChangeAspect="1" noChangeArrowheads="1"/>
          </p:cNvPicPr>
          <p:nvPr/>
        </p:nvPicPr>
        <p:blipFill rotWithShape="1">
          <a:blip r:embed="rId3" cstate="print"/>
          <a:srcRect t="10308" b="8229"/>
          <a:stretch/>
        </p:blipFill>
        <p:spPr bwMode="auto">
          <a:xfrm>
            <a:off x="1625600" y="2448732"/>
            <a:ext cx="5397500" cy="2929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63126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4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4FA8FA6-509D-45C8-9810-3EE1AA7F8844}" type="slidenum">
              <a:rPr lang="en-US" altLang="zh-CN" smtClean="0">
                <a:ea typeface="黑体" pitchFamily="49" charset="-122"/>
              </a:rPr>
              <a:pPr/>
              <a:t>94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漢字識別後處理</a:t>
            </a:r>
            <a:endParaRPr lang="zh-CN" altLang="en-US" dirty="0"/>
          </a:p>
        </p:txBody>
      </p:sp>
      <p:sp>
        <p:nvSpPr>
          <p:cNvPr id="210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zh-CN" altLang="en-US" sz="3200" b="1"/>
              <a:t>一個例子</a:t>
            </a:r>
          </a:p>
          <a:p>
            <a:pPr lvl="1" algn="just"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我錢線載哦栽哉裁劣綏	</a:t>
            </a:r>
          </a:p>
          <a:p>
            <a:pPr lvl="1" algn="just"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優仍們仿倫奶砧犯扔妨</a:t>
            </a:r>
            <a:endParaRPr lang="zh-CN" altLang="en-US" sz="2800" dirty="0"/>
          </a:p>
          <a:p>
            <a:pPr lvl="1" algn="just"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要耍密窮安壁駐努窯垂	</a:t>
            </a:r>
          </a:p>
          <a:p>
            <a:pPr lvl="1" algn="just"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扳報叔嵌奴振技寂敘蔽	</a:t>
            </a:r>
          </a:p>
          <a:p>
            <a:pPr lvl="1" algn="just"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奮夯杏蠶香脊秀吞吝番	</a:t>
            </a:r>
          </a:p>
          <a:p>
            <a:pPr lvl="1" algn="just"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精猜指潔括治捐活冶桔	</a:t>
            </a:r>
          </a:p>
          <a:p>
            <a:pPr lvl="1" algn="just"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種神襯祥科鐘拌樣拎補 	</a:t>
            </a:r>
          </a:p>
          <a:p>
            <a:pPr eaLnBrk="1" hangingPunct="1">
              <a:lnSpc>
                <a:spcPct val="90000"/>
              </a:lnSpc>
            </a:pPr>
            <a:endParaRPr lang="en-US" altLang="zh-CN" dirty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347416" y="2763092"/>
            <a:ext cx="2152650" cy="2571750"/>
            <a:chOff x="780" y="2208"/>
            <a:chExt cx="1356" cy="1620"/>
          </a:xfrm>
        </p:grpSpPr>
        <p:sp>
          <p:nvSpPr>
            <p:cNvPr id="100358" name="Line 5"/>
            <p:cNvSpPr>
              <a:spLocks noChangeShapeType="1"/>
            </p:cNvSpPr>
            <p:nvPr/>
          </p:nvSpPr>
          <p:spPr bwMode="auto">
            <a:xfrm flipV="1">
              <a:off x="792" y="2208"/>
              <a:ext cx="228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359" name="Line 6"/>
            <p:cNvSpPr>
              <a:spLocks noChangeShapeType="1"/>
            </p:cNvSpPr>
            <p:nvPr/>
          </p:nvSpPr>
          <p:spPr bwMode="auto">
            <a:xfrm>
              <a:off x="1224" y="2484"/>
              <a:ext cx="216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360" name="Line 7"/>
            <p:cNvSpPr>
              <a:spLocks noChangeShapeType="1"/>
            </p:cNvSpPr>
            <p:nvPr/>
          </p:nvSpPr>
          <p:spPr bwMode="auto">
            <a:xfrm>
              <a:off x="816" y="2746"/>
              <a:ext cx="204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361" name="Line 8"/>
            <p:cNvSpPr>
              <a:spLocks noChangeShapeType="1"/>
            </p:cNvSpPr>
            <p:nvPr/>
          </p:nvSpPr>
          <p:spPr bwMode="auto">
            <a:xfrm>
              <a:off x="1908" y="3012"/>
              <a:ext cx="228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362" name="Line 9"/>
            <p:cNvSpPr>
              <a:spLocks noChangeShapeType="1"/>
            </p:cNvSpPr>
            <p:nvPr/>
          </p:nvSpPr>
          <p:spPr bwMode="auto">
            <a:xfrm flipV="1">
              <a:off x="792" y="3300"/>
              <a:ext cx="240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363" name="Line 10"/>
            <p:cNvSpPr>
              <a:spLocks noChangeShapeType="1"/>
            </p:cNvSpPr>
            <p:nvPr/>
          </p:nvSpPr>
          <p:spPr bwMode="auto">
            <a:xfrm flipV="1">
              <a:off x="780" y="3552"/>
              <a:ext cx="252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364" name="Line 11"/>
            <p:cNvSpPr>
              <a:spLocks noChangeShapeType="1"/>
            </p:cNvSpPr>
            <p:nvPr/>
          </p:nvSpPr>
          <p:spPr bwMode="auto">
            <a:xfrm>
              <a:off x="1008" y="3828"/>
              <a:ext cx="192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" name="右大括号 2">
            <a:extLst>
              <a:ext uri="{FF2B5EF4-FFF2-40B4-BE49-F238E27FC236}">
                <a16:creationId xmlns:a16="http://schemas.microsoft.com/office/drawing/2014/main" id="{8AD8746B-6470-4174-BE04-4BF705FE467B}"/>
              </a:ext>
            </a:extLst>
          </p:cNvPr>
          <p:cNvSpPr/>
          <p:nvPr/>
        </p:nvSpPr>
        <p:spPr>
          <a:xfrm>
            <a:off x="5058267" y="2497970"/>
            <a:ext cx="660099" cy="2571749"/>
          </a:xfrm>
          <a:prstGeom prst="rightBrace">
            <a:avLst>
              <a:gd name="adj1" fmla="val 37785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ECA300CF-DCA1-4EF3-96CD-0802A1EBC6CA}"/>
                  </a:ext>
                </a:extLst>
              </p:cNvPr>
              <p:cNvSpPr txBox="1"/>
              <p:nvPr/>
            </p:nvSpPr>
            <p:spPr>
              <a:xfrm>
                <a:off x="5641199" y="3522234"/>
                <a:ext cx="298879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zh-CN" alt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個</m:t>
                    </m:r>
                    <m:r>
                      <a:rPr lang="zh-CN" alt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可能的</m:t>
                    </m:r>
                  </m:oMath>
                </a14:m>
                <a:r>
                  <a:rPr lang="zh-CN" altLang="en-US" sz="2800" dirty="0">
                    <a:solidFill>
                      <a:srgbClr val="FF0000"/>
                    </a:solidFill>
                  </a:rPr>
                  <a:t>句子</a:t>
                </a:r>
              </a:p>
            </p:txBody>
          </p:sp>
        </mc:Choice>
        <mc:Fallback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ECA300CF-DCA1-4EF3-96CD-0802A1EBC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1199" y="3522234"/>
                <a:ext cx="2988791" cy="523220"/>
              </a:xfrm>
              <a:prstGeom prst="rect">
                <a:avLst/>
              </a:prstGeom>
              <a:blipFill>
                <a:blip r:embed="rId3"/>
                <a:stretch>
                  <a:fillRect t="-20930" r="-204" b="-232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4269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5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E86A172-C417-4AF1-8C42-E35D285F4AE9}" type="slidenum">
              <a:rPr lang="en-US" altLang="zh-CN" smtClean="0">
                <a:ea typeface="黑体" pitchFamily="49" charset="-122"/>
              </a:rPr>
              <a:pPr/>
              <a:t>95</a:t>
            </a:fld>
            <a:endParaRPr lang="en-US" altLang="zh-CN" dirty="0">
              <a:ea typeface="黑体" pitchFamily="49" charset="-122"/>
            </a:endParaRPr>
          </a:p>
        </p:txBody>
      </p:sp>
      <p:sp>
        <p:nvSpPr>
          <p:cNvPr id="2119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47650"/>
            <a:ext cx="7772400" cy="5715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zh-CN" altLang="en-US"/>
              <a:t>漢字識別後處理</a:t>
            </a:r>
            <a:endParaRPr lang="zh-CN" altLang="en-US" dirty="0"/>
          </a:p>
        </p:txBody>
      </p:sp>
      <p:sp>
        <p:nvSpPr>
          <p:cNvPr id="204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23900" y="1390650"/>
            <a:ext cx="7772400" cy="74613"/>
          </a:xfrm>
        </p:spPr>
        <p:txBody>
          <a:bodyPr>
            <a:normAutofit fontScale="25000" lnSpcReduction="20000"/>
          </a:bodyPr>
          <a:lstStyle/>
          <a:p>
            <a:pPr eaLnBrk="1" hangingPunct="1">
              <a:lnSpc>
                <a:spcPct val="90000"/>
              </a:lnSpc>
            </a:pPr>
            <a:endParaRPr lang="zh-CN" altLang="zh-CN" sz="2800"/>
          </a:p>
        </p:txBody>
      </p:sp>
      <p:graphicFrame>
        <p:nvGraphicFramePr>
          <p:cNvPr id="211972" name="Object 4"/>
          <p:cNvGraphicFramePr>
            <a:graphicFrameLocks noChangeAspect="1"/>
          </p:cNvGraphicFramePr>
          <p:nvPr/>
        </p:nvGraphicFramePr>
        <p:xfrm>
          <a:off x="1339850" y="1670050"/>
          <a:ext cx="4751388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692080" imgH="660240" progId="Equation.3">
                  <p:embed/>
                </p:oleObj>
              </mc:Choice>
              <mc:Fallback>
                <p:oleObj name="公式" r:id="rId3" imgW="2692080" imgH="660240" progId="Equation.3">
                  <p:embed/>
                  <p:pic>
                    <p:nvPicPr>
                      <p:cNvPr id="21197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9850" y="1670050"/>
                        <a:ext cx="4751388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1973" name="Object 5"/>
          <p:cNvGraphicFramePr>
            <a:graphicFrameLocks noChangeAspect="1"/>
          </p:cNvGraphicFramePr>
          <p:nvPr/>
        </p:nvGraphicFramePr>
        <p:xfrm>
          <a:off x="1290638" y="1069975"/>
          <a:ext cx="5537200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3136680" imgH="317160" progId="Equation.3">
                  <p:embed/>
                </p:oleObj>
              </mc:Choice>
              <mc:Fallback>
                <p:oleObj name="公式" r:id="rId5" imgW="3136680" imgH="317160" progId="Equation.3">
                  <p:embed/>
                  <p:pic>
                    <p:nvPicPr>
                      <p:cNvPr id="21197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0638" y="1069975"/>
                        <a:ext cx="5537200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1279525" y="2736850"/>
            <a:ext cx="6126163" cy="1136650"/>
            <a:chOff x="806" y="1724"/>
            <a:chExt cx="3859" cy="716"/>
          </a:xfrm>
        </p:grpSpPr>
        <p:sp>
          <p:nvSpPr>
            <p:cNvPr id="20499" name="Text Box 7"/>
            <p:cNvSpPr txBox="1">
              <a:spLocks noChangeArrowheads="1"/>
            </p:cNvSpPr>
            <p:nvPr/>
          </p:nvSpPr>
          <p:spPr bwMode="auto">
            <a:xfrm>
              <a:off x="806" y="1942"/>
              <a:ext cx="1321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800" b="1"/>
                <a:t>二元語法時：</a:t>
              </a:r>
              <a:endParaRPr lang="zh-CN" altLang="en-US" sz="2400" b="1" dirty="0"/>
            </a:p>
          </p:txBody>
        </p:sp>
        <p:graphicFrame>
          <p:nvGraphicFramePr>
            <p:cNvPr id="20487" name="Object 8"/>
            <p:cNvGraphicFramePr>
              <a:graphicFrameLocks noChangeAspect="1"/>
            </p:cNvGraphicFramePr>
            <p:nvPr/>
          </p:nvGraphicFramePr>
          <p:xfrm>
            <a:off x="2152" y="1724"/>
            <a:ext cx="2513" cy="7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2260440" imgH="660240" progId="Equation.3">
                    <p:embed/>
                  </p:oleObj>
                </mc:Choice>
                <mc:Fallback>
                  <p:oleObj name="公式" r:id="rId7" imgW="2260440" imgH="660240" progId="Equation.3">
                    <p:embed/>
                    <p:pic>
                      <p:nvPicPr>
                        <p:cNvPr id="20487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2" y="1724"/>
                          <a:ext cx="2513" cy="7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1363663" y="3913191"/>
            <a:ext cx="2155824" cy="547688"/>
            <a:chOff x="859" y="2465"/>
            <a:chExt cx="1358" cy="345"/>
          </a:xfrm>
        </p:grpSpPr>
        <p:graphicFrame>
          <p:nvGraphicFramePr>
            <p:cNvPr id="20486" name="Object 10"/>
            <p:cNvGraphicFramePr>
              <a:graphicFrameLocks noChangeAspect="1"/>
            </p:cNvGraphicFramePr>
            <p:nvPr/>
          </p:nvGraphicFramePr>
          <p:xfrm>
            <a:off x="859" y="2481"/>
            <a:ext cx="636" cy="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571320" imgH="304560" progId="Equation.3">
                    <p:embed/>
                  </p:oleObj>
                </mc:Choice>
                <mc:Fallback>
                  <p:oleObj name="公式" r:id="rId9" imgW="571320" imgH="304560" progId="Equation.3">
                    <p:embed/>
                    <p:pic>
                      <p:nvPicPr>
                        <p:cNvPr id="20486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9" y="2481"/>
                          <a:ext cx="636" cy="3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98" name="Text Box 11"/>
            <p:cNvSpPr txBox="1">
              <a:spLocks noChangeArrowheads="1"/>
            </p:cNvSpPr>
            <p:nvPr/>
          </p:nvSpPr>
          <p:spPr bwMode="auto">
            <a:xfrm>
              <a:off x="1516" y="2465"/>
              <a:ext cx="701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b="1"/>
                <a:t>為常量</a:t>
              </a:r>
              <a:endParaRPr lang="zh-CN" altLang="en-US" sz="2400" b="1" dirty="0"/>
            </a:p>
          </p:txBody>
        </p:sp>
      </p:grp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1436688" y="4586288"/>
            <a:ext cx="4268789" cy="522287"/>
            <a:chOff x="905" y="2889"/>
            <a:chExt cx="2689" cy="329"/>
          </a:xfrm>
        </p:grpSpPr>
        <p:graphicFrame>
          <p:nvGraphicFramePr>
            <p:cNvPr id="20485" name="Object 13"/>
            <p:cNvGraphicFramePr>
              <a:graphicFrameLocks noChangeAspect="1"/>
            </p:cNvGraphicFramePr>
            <p:nvPr/>
          </p:nvGraphicFramePr>
          <p:xfrm>
            <a:off x="905" y="2889"/>
            <a:ext cx="975" cy="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876240" imgH="304560" progId="Equation.3">
                    <p:embed/>
                  </p:oleObj>
                </mc:Choice>
                <mc:Fallback>
                  <p:oleObj name="公式" r:id="rId11" imgW="876240" imgH="304560" progId="Equation.3">
                    <p:embed/>
                    <p:pic>
                      <p:nvPicPr>
                        <p:cNvPr id="20485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5" y="2889"/>
                          <a:ext cx="975" cy="3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97" name="Text Box 14"/>
            <p:cNvSpPr txBox="1">
              <a:spLocks noChangeArrowheads="1"/>
            </p:cNvSpPr>
            <p:nvPr/>
          </p:nvSpPr>
          <p:spPr bwMode="auto">
            <a:xfrm>
              <a:off x="1880" y="2918"/>
              <a:ext cx="171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b="1"/>
                <a:t>用識別信度</a:t>
              </a:r>
              <a:r>
                <a:rPr lang="en-US" altLang="zh-CN" sz="2400" b="1"/>
                <a:t>CF</a:t>
              </a:r>
              <a:r>
                <a:rPr lang="zh-CN" altLang="en-US" sz="2400" b="1" dirty="0"/>
                <a:t>代替</a:t>
              </a:r>
            </a:p>
          </p:txBody>
        </p:sp>
      </p:grp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1122364" y="5080000"/>
            <a:ext cx="7042152" cy="1136650"/>
            <a:chOff x="707" y="3200"/>
            <a:chExt cx="4436" cy="716"/>
          </a:xfrm>
        </p:grpSpPr>
        <p:sp>
          <p:nvSpPr>
            <p:cNvPr id="20495" name="Text Box 16"/>
            <p:cNvSpPr txBox="1">
              <a:spLocks noChangeArrowheads="1"/>
            </p:cNvSpPr>
            <p:nvPr/>
          </p:nvSpPr>
          <p:spPr bwMode="auto">
            <a:xfrm>
              <a:off x="707" y="3399"/>
              <a:ext cx="1252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800" b="1"/>
                <a:t>問題變為求</a:t>
              </a:r>
              <a:endParaRPr lang="zh-CN" altLang="en-US" sz="2800" b="1" dirty="0"/>
            </a:p>
          </p:txBody>
        </p:sp>
        <p:graphicFrame>
          <p:nvGraphicFramePr>
            <p:cNvPr id="20484" name="Object 17"/>
            <p:cNvGraphicFramePr>
              <a:graphicFrameLocks noChangeAspect="1"/>
            </p:cNvGraphicFramePr>
            <p:nvPr/>
          </p:nvGraphicFramePr>
          <p:xfrm>
            <a:off x="2025" y="3200"/>
            <a:ext cx="2527" cy="7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2273040" imgH="660240" progId="Equation.3">
                    <p:embed/>
                  </p:oleObj>
                </mc:Choice>
                <mc:Fallback>
                  <p:oleObj name="公式" r:id="rId13" imgW="2273040" imgH="660240" progId="Equation.3">
                    <p:embed/>
                    <p:pic>
                      <p:nvPicPr>
                        <p:cNvPr id="20484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25" y="3200"/>
                          <a:ext cx="2527" cy="7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96" name="Text Box 18"/>
            <p:cNvSpPr txBox="1">
              <a:spLocks noChangeArrowheads="1"/>
            </p:cNvSpPr>
            <p:nvPr/>
          </p:nvSpPr>
          <p:spPr bwMode="auto">
            <a:xfrm>
              <a:off x="4637" y="3389"/>
              <a:ext cx="50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b="1" dirty="0"/>
                <a:t>最大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83152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sz="3200" b="1"/>
              <a:t>概率的計算（語言模型）</a:t>
            </a:r>
            <a:endParaRPr lang="en-US" altLang="zh-CN" sz="3200" b="1" dirty="0"/>
          </a:p>
          <a:p>
            <a:endParaRPr lang="en-US" altLang="zh-CN" sz="3200" b="1" dirty="0"/>
          </a:p>
          <a:p>
            <a:endParaRPr lang="en-US" altLang="zh-CN" sz="3200" b="1" dirty="0"/>
          </a:p>
          <a:p>
            <a:endParaRPr lang="en-US" altLang="zh-CN" sz="3200" b="1" dirty="0"/>
          </a:p>
          <a:p>
            <a:r>
              <a:rPr lang="zh-CN" altLang="en-US" sz="3200" b="1" dirty="0"/>
              <a:t>平滑</a:t>
            </a:r>
            <a:endParaRPr lang="en-US" altLang="zh-CN" sz="3200" b="1" dirty="0"/>
          </a:p>
          <a:p>
            <a:pPr lvl="1">
              <a:buNone/>
            </a:pPr>
            <a:r>
              <a:rPr lang="zh-CN" altLang="en-US" sz="2800" b="1"/>
              <a:t>  解決                      可能為</a:t>
            </a:r>
            <a:r>
              <a:rPr lang="en-US" altLang="zh-CN" sz="2800" b="1"/>
              <a:t>0</a:t>
            </a:r>
            <a:r>
              <a:rPr lang="zh-CN" altLang="en-US" sz="2800" b="1"/>
              <a:t>的問題，有很多種方法，其中一種簡單的方法：</a:t>
            </a:r>
            <a:endParaRPr lang="zh-CN" altLang="en-US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8"/>
              <p:cNvSpPr txBox="1"/>
              <p:nvPr/>
            </p:nvSpPr>
            <p:spPr bwMode="auto">
              <a:xfrm>
                <a:off x="1579563" y="2008188"/>
                <a:ext cx="4808537" cy="10588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同现的次数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zh-CN" altLang="en-US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出现的次数</m:t>
                          </m:r>
                        </m:den>
                      </m:f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79563" y="2008188"/>
                <a:ext cx="4808537" cy="10588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800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1975478"/>
              </p:ext>
            </p:extLst>
          </p:nvPr>
        </p:nvGraphicFramePr>
        <p:xfrm>
          <a:off x="2263302" y="4230297"/>
          <a:ext cx="1705031" cy="5249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723600" imgH="228600" progId="Equation.3">
                  <p:embed/>
                </p:oleObj>
              </mc:Choice>
              <mc:Fallback>
                <p:oleObj name="公式" r:id="rId4" imgW="723600" imgH="228600" progId="Equation.3">
                  <p:embed/>
                  <p:pic>
                    <p:nvPicPr>
                      <p:cNvPr id="128003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3302" y="4230297"/>
                        <a:ext cx="1705031" cy="5249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D17FDBE-C19F-5D7B-F50B-7B8389D9C5C0}"/>
                  </a:ext>
                </a:extLst>
              </p:cNvPr>
              <p:cNvSpPr txBox="1"/>
              <p:nvPr/>
            </p:nvSpPr>
            <p:spPr>
              <a:xfrm>
                <a:off x="1318355" y="5410200"/>
                <a:ext cx="691124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D17FDBE-C19F-5D7B-F50B-7B8389D9C5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8355" y="5410200"/>
                <a:ext cx="6911245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9985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28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程式設計作業</a:t>
            </a:r>
            <a:r>
              <a:rPr lang="en-US" altLang="zh-CN"/>
              <a:t>1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en-US" sz="3200"/>
              <a:t>程式設計實現拼音輸入法，具體見網路學堂。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26651629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小結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盲目搜索</a:t>
            </a:r>
            <a:endParaRPr lang="en-US" altLang="zh-CN" sz="3200" dirty="0"/>
          </a:p>
          <a:p>
            <a:pPr lvl="1"/>
            <a:r>
              <a:rPr lang="zh-CN" altLang="en-US" sz="2800"/>
              <a:t>深度優先</a:t>
            </a:r>
            <a:endParaRPr lang="en-US" altLang="zh-CN" sz="2800" dirty="0"/>
          </a:p>
          <a:p>
            <a:pPr lvl="1"/>
            <a:r>
              <a:rPr lang="zh-CN" altLang="en-US" sz="2800"/>
              <a:t>寬度優先</a:t>
            </a:r>
            <a:endParaRPr lang="en-US" altLang="zh-CN" sz="3200" dirty="0"/>
          </a:p>
          <a:p>
            <a:r>
              <a:rPr lang="zh-CN" altLang="en-US" sz="3200"/>
              <a:t>啟發式搜索</a:t>
            </a:r>
            <a:endParaRPr lang="en-US" altLang="zh-CN" sz="3200" dirty="0"/>
          </a:p>
          <a:p>
            <a:pPr lvl="1"/>
            <a:r>
              <a:rPr lang="en-US" altLang="zh-CN" sz="2800"/>
              <a:t>A</a:t>
            </a:r>
            <a:r>
              <a:rPr lang="zh-CN" altLang="en-US" sz="2800"/>
              <a:t>演算法</a:t>
            </a:r>
            <a:endParaRPr lang="en-US" altLang="zh-CN" sz="2800" dirty="0"/>
          </a:p>
          <a:p>
            <a:pPr lvl="1"/>
            <a:r>
              <a:rPr lang="en-US" altLang="zh-CN" sz="2800"/>
              <a:t>A</a:t>
            </a:r>
            <a:r>
              <a:rPr lang="zh-CN" altLang="en-US" sz="2800"/>
              <a:t>*演算法</a:t>
            </a:r>
            <a:endParaRPr lang="en-US" altLang="zh-CN" sz="2800" dirty="0"/>
          </a:p>
          <a:p>
            <a:pPr lvl="1"/>
            <a:r>
              <a:rPr lang="zh-CN" altLang="en-US" sz="2800"/>
              <a:t>改進的</a:t>
            </a:r>
            <a:r>
              <a:rPr lang="en-US" altLang="zh-CN" sz="2800"/>
              <a:t>A</a:t>
            </a:r>
            <a:r>
              <a:rPr lang="zh-CN" altLang="en-US" sz="2800"/>
              <a:t>*演算法</a:t>
            </a:r>
            <a:endParaRPr lang="en-US" altLang="zh-CN" sz="2800" dirty="0"/>
          </a:p>
          <a:p>
            <a:r>
              <a:rPr lang="zh-CN" altLang="en-US" sz="3200"/>
              <a:t>動態規劃</a:t>
            </a:r>
            <a:endParaRPr lang="en-US" altLang="zh-CN" sz="3200" dirty="0"/>
          </a:p>
          <a:p>
            <a:pPr lvl="1"/>
            <a:r>
              <a:rPr lang="en-US" altLang="zh-CN" sz="2800"/>
              <a:t>viterbi</a:t>
            </a:r>
            <a:r>
              <a:rPr lang="zh-CN" altLang="en-US" sz="2800"/>
              <a:t>演算法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690000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.0"/>
  <p:tag name="PROBLEMSCORE_HALF" val="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179565</TotalTime>
  <Words>7911</Words>
  <Application>Microsoft Office PowerPoint</Application>
  <PresentationFormat>Affichage à l'écran (4:3)</PresentationFormat>
  <Paragraphs>1416</Paragraphs>
  <Slides>98</Slides>
  <Notes>69</Notes>
  <HiddenSlides>0</HiddenSlides>
  <MMClips>0</MMClips>
  <ScaleCrop>false</ScaleCrop>
  <HeadingPairs>
    <vt:vector size="8" baseType="variant">
      <vt:variant>
        <vt:lpstr>Polices utilisées</vt:lpstr>
      </vt:variant>
      <vt:variant>
        <vt:i4>13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2</vt:i4>
      </vt:variant>
      <vt:variant>
        <vt:lpstr>Titres des diapositives</vt:lpstr>
      </vt:variant>
      <vt:variant>
        <vt:i4>98</vt:i4>
      </vt:variant>
    </vt:vector>
  </HeadingPairs>
  <TitlesOfParts>
    <vt:vector size="114" baseType="lpstr">
      <vt:lpstr>Microsoft Yahei</vt:lpstr>
      <vt:lpstr>等线</vt:lpstr>
      <vt:lpstr>黑体</vt:lpstr>
      <vt:lpstr>Arial</vt:lpstr>
      <vt:lpstr>Arial Black</vt:lpstr>
      <vt:lpstr>Calibri</vt:lpstr>
      <vt:lpstr>Cambria Math</vt:lpstr>
      <vt:lpstr>Franklin Gothic Book</vt:lpstr>
      <vt:lpstr>Perpetua</vt:lpstr>
      <vt:lpstr>Symbol</vt:lpstr>
      <vt:lpstr>Times New Roman</vt:lpstr>
      <vt:lpstr>Wingdings</vt:lpstr>
      <vt:lpstr>Wingdings 2</vt:lpstr>
      <vt:lpstr>Equity</vt:lpstr>
      <vt:lpstr>Document</vt:lpstr>
      <vt:lpstr>公式</vt:lpstr>
      <vt:lpstr>第一章 搜索問題</vt:lpstr>
      <vt:lpstr>搜索問題</vt:lpstr>
      <vt:lpstr>搜索問題（續2）</vt:lpstr>
      <vt:lpstr>搜索問題（續3）</vt:lpstr>
      <vt:lpstr>搜索問題（續4）</vt:lpstr>
      <vt:lpstr>盲目搜索與啟發式搜索</vt:lpstr>
      <vt:lpstr>搜索</vt:lpstr>
      <vt:lpstr>1.1 深度優先搜索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深度優先搜索的性質</vt:lpstr>
      <vt:lpstr>練習題</vt:lpstr>
      <vt:lpstr>1.2 寬度優先搜索</vt:lpstr>
      <vt:lpstr>寬度優先搜索的性質</vt:lpstr>
      <vt:lpstr>1.3 迪杰斯特拉（Dijkstra）算法</vt:lpstr>
      <vt:lpstr>Présentation PowerPoint</vt:lpstr>
      <vt:lpstr>前傾回顧：搜索</vt:lpstr>
      <vt:lpstr>Présentation PowerPoint</vt:lpstr>
      <vt:lpstr>前情回顧：練習題</vt:lpstr>
      <vt:lpstr>迪杰斯特拉（Dijkstra）算法</vt:lpstr>
      <vt:lpstr>迪杰斯特拉（Dijkstra）算法</vt:lpstr>
      <vt:lpstr>1.4 啓發式圖搜索</vt:lpstr>
      <vt:lpstr>1.4 啓發式圖搜索</vt:lpstr>
      <vt:lpstr>1.4.1 啓發式搜索算法A（A算法）</vt:lpstr>
      <vt:lpstr>符號的意義</vt:lpstr>
      <vt:lpstr>舉例</vt:lpstr>
      <vt:lpstr>Présentation PowerPoint</vt:lpstr>
      <vt:lpstr>Présentation PowerPoint</vt:lpstr>
      <vt:lpstr>A算法</vt:lpstr>
      <vt:lpstr>Présentation PowerPoint</vt:lpstr>
      <vt:lpstr>如何得到解路徑？</vt:lpstr>
      <vt:lpstr>一個A算法的例子：八數碼問題</vt:lpstr>
      <vt:lpstr>h計算舉例</vt:lpstr>
      <vt:lpstr>Présentation PowerPoint</vt:lpstr>
      <vt:lpstr>Présentation PowerPoint</vt:lpstr>
      <vt:lpstr>1.4.2 最佳圖搜索算法A*（A*算法）</vt:lpstr>
      <vt:lpstr>A*條件舉例</vt:lpstr>
      <vt:lpstr>定義h函數的一般原則</vt:lpstr>
      <vt:lpstr>例：傳教士與野人問題</vt:lpstr>
      <vt:lpstr>例：傳教士與野人問題</vt:lpstr>
      <vt:lpstr>Présentation PowerPoint</vt:lpstr>
      <vt:lpstr>Présentation PowerPoint</vt:lpstr>
      <vt:lpstr>A*演算法的主要結論</vt:lpstr>
      <vt:lpstr>Présentation PowerPoint</vt:lpstr>
      <vt:lpstr>Présentation PowerPoint</vt:lpstr>
      <vt:lpstr>思考題</vt:lpstr>
      <vt:lpstr>對h的評價方法</vt:lpstr>
      <vt:lpstr>對h的評價舉例</vt:lpstr>
      <vt:lpstr>練習題</vt:lpstr>
      <vt:lpstr>1.4.3 A*演算法的改進</vt:lpstr>
      <vt:lpstr>Présentation PowerPoint</vt:lpstr>
      <vt:lpstr>出現多次擴展節點的原因</vt:lpstr>
      <vt:lpstr>解決的途徑</vt:lpstr>
      <vt:lpstr>改進的條件</vt:lpstr>
      <vt:lpstr>合理的h函數應該滿足的條件</vt:lpstr>
      <vt:lpstr>對h加以限制</vt:lpstr>
      <vt:lpstr>h單調的性質</vt:lpstr>
      <vt:lpstr>Présentation PowerPoint</vt:lpstr>
      <vt:lpstr>Présentation PowerPoint</vt:lpstr>
      <vt:lpstr>h單調的例子</vt:lpstr>
      <vt:lpstr>對演算法加以改進</vt:lpstr>
      <vt:lpstr>改進的出發點</vt:lpstr>
      <vt:lpstr>修正的A*演算法</vt:lpstr>
      <vt:lpstr>Présentation PowerPoint</vt:lpstr>
      <vt:lpstr>Présentation PowerPoint</vt:lpstr>
      <vt:lpstr>Présentation PowerPoint</vt:lpstr>
      <vt:lpstr>Présentation PowerPoint</vt:lpstr>
      <vt:lpstr>思考題</vt:lpstr>
      <vt:lpstr>1.5 其他的搜索演算法</vt:lpstr>
      <vt:lpstr>其他的搜索演算法（續1）</vt:lpstr>
      <vt:lpstr>動態規劃：viterbi演算法</vt:lpstr>
      <vt:lpstr>Présentation PowerPoint</vt:lpstr>
      <vt:lpstr>1.6 搜索演算法實用舉例</vt:lpstr>
      <vt:lpstr>拼音輸入法</vt:lpstr>
      <vt:lpstr>拼音輸入法</vt:lpstr>
      <vt:lpstr>拼音輸入法</vt:lpstr>
      <vt:lpstr>拼音輸入法</vt:lpstr>
      <vt:lpstr>拼音輸入法</vt:lpstr>
      <vt:lpstr>拼音輸入法</vt:lpstr>
      <vt:lpstr>拼音輸入法</vt:lpstr>
      <vt:lpstr>拼音輸入法</vt:lpstr>
      <vt:lpstr>漢字識別後處理</vt:lpstr>
      <vt:lpstr>漢字識別後處理</vt:lpstr>
      <vt:lpstr>漢字識別後處理</vt:lpstr>
      <vt:lpstr>Présentation PowerPoint</vt:lpstr>
      <vt:lpstr>程式設計作業1</vt:lpstr>
      <vt:lpstr>小結</vt:lpstr>
    </vt:vector>
  </TitlesOfParts>
  <Company>Carnegie Mellon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Infinite SVM: a DP Mixture of Large-margin Kernel Machines</dc:title>
  <dc:creator>SCS</dc:creator>
  <cp:lastModifiedBy>Terry C.</cp:lastModifiedBy>
  <cp:revision>7115</cp:revision>
  <cp:lastPrinted>2024-10-08T06:37:33Z</cp:lastPrinted>
  <dcterms:created xsi:type="dcterms:W3CDTF">2011-04-24T18:48:21Z</dcterms:created>
  <dcterms:modified xsi:type="dcterms:W3CDTF">2025-04-14T09:10:40Z</dcterms:modified>
</cp:coreProperties>
</file>