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2" r:id="rId1"/>
  </p:sldMasterIdLst>
  <p:notesMasterIdLst>
    <p:notesMasterId r:id="rId81"/>
  </p:notesMasterIdLst>
  <p:sldIdLst>
    <p:sldId id="1279" r:id="rId2"/>
    <p:sldId id="1183" r:id="rId3"/>
    <p:sldId id="1184" r:id="rId4"/>
    <p:sldId id="1185" r:id="rId5"/>
    <p:sldId id="1186" r:id="rId6"/>
    <p:sldId id="1187" r:id="rId7"/>
    <p:sldId id="1188" r:id="rId8"/>
    <p:sldId id="1189" r:id="rId9"/>
    <p:sldId id="1191" r:id="rId10"/>
    <p:sldId id="1192" r:id="rId11"/>
    <p:sldId id="1193" r:id="rId12"/>
    <p:sldId id="1194" r:id="rId13"/>
    <p:sldId id="1288" r:id="rId14"/>
    <p:sldId id="1196" r:id="rId15"/>
    <p:sldId id="1197" r:id="rId16"/>
    <p:sldId id="1198" r:id="rId17"/>
    <p:sldId id="1281" r:id="rId18"/>
    <p:sldId id="1283" r:id="rId19"/>
    <p:sldId id="1199" r:id="rId20"/>
    <p:sldId id="1282" r:id="rId21"/>
    <p:sldId id="1280" r:id="rId22"/>
    <p:sldId id="1200" r:id="rId23"/>
    <p:sldId id="1201" r:id="rId24"/>
    <p:sldId id="1202" r:id="rId25"/>
    <p:sldId id="1203" r:id="rId26"/>
    <p:sldId id="1204" r:id="rId27"/>
    <p:sldId id="1205" r:id="rId28"/>
    <p:sldId id="1206" r:id="rId29"/>
    <p:sldId id="1207" r:id="rId30"/>
    <p:sldId id="1208" r:id="rId31"/>
    <p:sldId id="1209" r:id="rId32"/>
    <p:sldId id="1210" r:id="rId33"/>
    <p:sldId id="1211" r:id="rId34"/>
    <p:sldId id="1212" r:id="rId35"/>
    <p:sldId id="1213" r:id="rId36"/>
    <p:sldId id="1214" r:id="rId37"/>
    <p:sldId id="1215" r:id="rId38"/>
    <p:sldId id="1216" r:id="rId39"/>
    <p:sldId id="1217" r:id="rId40"/>
    <p:sldId id="1218" r:id="rId41"/>
    <p:sldId id="1219" r:id="rId42"/>
    <p:sldId id="1220" r:id="rId43"/>
    <p:sldId id="1221" r:id="rId44"/>
    <p:sldId id="1222" r:id="rId45"/>
    <p:sldId id="1223" r:id="rId46"/>
    <p:sldId id="1224" r:id="rId47"/>
    <p:sldId id="1225" r:id="rId48"/>
    <p:sldId id="1226" r:id="rId49"/>
    <p:sldId id="1284" r:id="rId50"/>
    <p:sldId id="1227" r:id="rId51"/>
    <p:sldId id="1228" r:id="rId52"/>
    <p:sldId id="1229" r:id="rId53"/>
    <p:sldId id="1230" r:id="rId54"/>
    <p:sldId id="1231" r:id="rId55"/>
    <p:sldId id="1232" r:id="rId56"/>
    <p:sldId id="1233" r:id="rId57"/>
    <p:sldId id="1234" r:id="rId58"/>
    <p:sldId id="1286" r:id="rId59"/>
    <p:sldId id="1235" r:id="rId60"/>
    <p:sldId id="1236" r:id="rId61"/>
    <p:sldId id="1237" r:id="rId62"/>
    <p:sldId id="1238" r:id="rId63"/>
    <p:sldId id="1239" r:id="rId64"/>
    <p:sldId id="1240" r:id="rId65"/>
    <p:sldId id="1241" r:id="rId66"/>
    <p:sldId id="1242" r:id="rId67"/>
    <p:sldId id="1243" r:id="rId68"/>
    <p:sldId id="1244" r:id="rId69"/>
    <p:sldId id="1245" r:id="rId70"/>
    <p:sldId id="1289" r:id="rId71"/>
    <p:sldId id="1295" r:id="rId72"/>
    <p:sldId id="424" r:id="rId73"/>
    <p:sldId id="1290" r:id="rId74"/>
    <p:sldId id="1291" r:id="rId75"/>
    <p:sldId id="1292" r:id="rId76"/>
    <p:sldId id="1293" r:id="rId77"/>
    <p:sldId id="1294" r:id="rId78"/>
    <p:sldId id="1296" r:id="rId79"/>
    <p:sldId id="1246" r:id="rId80"/>
  </p:sldIdLst>
  <p:sldSz cx="9144000" cy="6858000" type="screen4x3"/>
  <p:notesSz cx="6797675" cy="9926638"/>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4817"/>
    <a:srgbClr val="CCECFF"/>
    <a:srgbClr val="CC0000"/>
    <a:srgbClr val="CC00FF"/>
    <a:srgbClr val="660066"/>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56" autoAdjust="0"/>
    <p:restoredTop sz="89871" autoAdjust="0"/>
  </p:normalViewPr>
  <p:slideViewPr>
    <p:cSldViewPr>
      <p:cViewPr varScale="1">
        <p:scale>
          <a:sx n="78" d="100"/>
          <a:sy n="78" d="100"/>
        </p:scale>
        <p:origin x="1488" y="4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sorterViewPr>
    <p:cViewPr>
      <p:scale>
        <a:sx n="66" d="100"/>
        <a:sy n="66" d="100"/>
      </p:scale>
      <p:origin x="0" y="586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73.xml"/><Relationship Id="rId7" Type="http://schemas.openxmlformats.org/officeDocument/2006/relationships/slide" Target="slides/slide77.xml"/><Relationship Id="rId2" Type="http://schemas.openxmlformats.org/officeDocument/2006/relationships/slide" Target="slides/slide72.xml"/><Relationship Id="rId1" Type="http://schemas.openxmlformats.org/officeDocument/2006/relationships/slide" Target="slides/slide71.xml"/><Relationship Id="rId6" Type="http://schemas.openxmlformats.org/officeDocument/2006/relationships/slide" Target="slides/slide76.xml"/><Relationship Id="rId5" Type="http://schemas.openxmlformats.org/officeDocument/2006/relationships/slide" Target="slides/slide75.xml"/><Relationship Id="rId4" Type="http://schemas.openxmlformats.org/officeDocument/2006/relationships/slide" Target="slides/slide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850" name="Rectangle 2"/>
          <p:cNvSpPr>
            <a:spLocks noGrp="1" noChangeArrowheads="1"/>
          </p:cNvSpPr>
          <p:nvPr>
            <p:ph type="hdr" sz="quarter"/>
          </p:nvPr>
        </p:nvSpPr>
        <p:spPr bwMode="auto">
          <a:xfrm>
            <a:off x="0" y="1"/>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4" tIns="46552" rIns="93104" bIns="46552" numCol="1" anchor="t" anchorCtr="0" compatLnSpc="1">
            <a:prstTxWarp prst="textNoShape">
              <a:avLst/>
            </a:prstTxWarp>
          </a:bodyPr>
          <a:lstStyle>
            <a:lvl1pPr>
              <a:defRPr sz="1200"/>
            </a:lvl1pPr>
          </a:lstStyle>
          <a:p>
            <a:endParaRPr lang="en-US" altLang="zh-CN"/>
          </a:p>
        </p:txBody>
      </p:sp>
      <p:sp>
        <p:nvSpPr>
          <p:cNvPr id="206851" name="Rectangle 3"/>
          <p:cNvSpPr>
            <a:spLocks noGrp="1" noChangeArrowheads="1"/>
          </p:cNvSpPr>
          <p:nvPr>
            <p:ph type="dt" idx="1"/>
          </p:nvPr>
        </p:nvSpPr>
        <p:spPr bwMode="auto">
          <a:xfrm>
            <a:off x="3852017" y="1"/>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4" tIns="46552" rIns="93104" bIns="46552" numCol="1" anchor="t" anchorCtr="0" compatLnSpc="1">
            <a:prstTxWarp prst="textNoShape">
              <a:avLst/>
            </a:prstTxWarp>
          </a:bodyPr>
          <a:lstStyle>
            <a:lvl1pPr algn="r">
              <a:defRPr sz="1200"/>
            </a:lvl1pPr>
          </a:lstStyle>
          <a:p>
            <a:endParaRPr lang="en-US" altLang="zh-CN"/>
          </a:p>
        </p:txBody>
      </p:sp>
      <p:sp>
        <p:nvSpPr>
          <p:cNvPr id="20685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6853" name="Rectangle 5"/>
          <p:cNvSpPr>
            <a:spLocks noGrp="1" noChangeArrowheads="1"/>
          </p:cNvSpPr>
          <p:nvPr>
            <p:ph type="body" sz="quarter" idx="3"/>
          </p:nvPr>
        </p:nvSpPr>
        <p:spPr bwMode="auto">
          <a:xfrm>
            <a:off x="906358" y="4715153"/>
            <a:ext cx="4984961" cy="446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4" tIns="46552" rIns="93104" bIns="46552"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6854" name="Rectangle 6"/>
          <p:cNvSpPr>
            <a:spLocks noGrp="1" noChangeArrowheads="1"/>
          </p:cNvSpPr>
          <p:nvPr>
            <p:ph type="ftr" sz="quarter" idx="4"/>
          </p:nvPr>
        </p:nvSpPr>
        <p:spPr bwMode="auto">
          <a:xfrm>
            <a:off x="0" y="9430306"/>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4" tIns="46552" rIns="93104" bIns="46552" numCol="1" anchor="b" anchorCtr="0" compatLnSpc="1">
            <a:prstTxWarp prst="textNoShape">
              <a:avLst/>
            </a:prstTxWarp>
          </a:bodyPr>
          <a:lstStyle>
            <a:lvl1pPr>
              <a:defRPr sz="1200"/>
            </a:lvl1pPr>
          </a:lstStyle>
          <a:p>
            <a:endParaRPr lang="en-US" altLang="zh-CN"/>
          </a:p>
        </p:txBody>
      </p:sp>
      <p:sp>
        <p:nvSpPr>
          <p:cNvPr id="206855" name="Rectangle 7"/>
          <p:cNvSpPr>
            <a:spLocks noGrp="1" noChangeArrowheads="1"/>
          </p:cNvSpPr>
          <p:nvPr>
            <p:ph type="sldNum" sz="quarter" idx="5"/>
          </p:nvPr>
        </p:nvSpPr>
        <p:spPr bwMode="auto">
          <a:xfrm>
            <a:off x="3852017" y="9430306"/>
            <a:ext cx="2945659" cy="496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04" tIns="46552" rIns="93104" bIns="46552" numCol="1" anchor="b" anchorCtr="0" compatLnSpc="1">
            <a:prstTxWarp prst="textNoShape">
              <a:avLst/>
            </a:prstTxWarp>
          </a:bodyPr>
          <a:lstStyle>
            <a:lvl1pPr algn="r">
              <a:defRPr sz="1200"/>
            </a:lvl1pPr>
          </a:lstStyle>
          <a:p>
            <a:fld id="{2799DC8E-3E0C-4B83-A882-B6D750375ACE}" type="slidenum">
              <a:rPr lang="en-US" altLang="zh-CN"/>
              <a:pPr/>
              <a:t>‹N°›</a:t>
            </a:fld>
            <a:endParaRPr lang="en-US" altLang="zh-CN"/>
          </a:p>
        </p:txBody>
      </p:sp>
    </p:spTree>
    <p:extLst>
      <p:ext uri="{BB962C8B-B14F-4D97-AF65-F5344CB8AC3E}">
        <p14:creationId xmlns:p14="http://schemas.microsoft.com/office/powerpoint/2010/main" val="343597315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宋体" pitchFamily="2" charset="-122"/>
        <a:cs typeface="+mn-cs"/>
      </a:defRPr>
    </a:lvl1pPr>
    <a:lvl2pPr marL="457200" algn="l" rtl="0" fontAlgn="base">
      <a:spcBef>
        <a:spcPct val="30000"/>
      </a:spcBef>
      <a:spcAft>
        <a:spcPct val="0"/>
      </a:spcAft>
      <a:defRPr sz="1200" kern="1200">
        <a:solidFill>
          <a:schemeClr val="tx1"/>
        </a:solidFill>
        <a:latin typeface="Arial" charset="0"/>
        <a:ea typeface="宋体" pitchFamily="2" charset="-122"/>
        <a:cs typeface="+mn-cs"/>
      </a:defRPr>
    </a:lvl2pPr>
    <a:lvl3pPr marL="914400" algn="l" rtl="0" fontAlgn="base">
      <a:spcBef>
        <a:spcPct val="30000"/>
      </a:spcBef>
      <a:spcAft>
        <a:spcPct val="0"/>
      </a:spcAft>
      <a:defRPr sz="1200" kern="1200">
        <a:solidFill>
          <a:schemeClr val="tx1"/>
        </a:solidFill>
        <a:latin typeface="Arial" charset="0"/>
        <a:ea typeface="宋体" pitchFamily="2" charset="-122"/>
        <a:cs typeface="+mn-cs"/>
      </a:defRPr>
    </a:lvl3pPr>
    <a:lvl4pPr marL="1371600" algn="l" rtl="0" fontAlgn="base">
      <a:spcBef>
        <a:spcPct val="30000"/>
      </a:spcBef>
      <a:spcAft>
        <a:spcPct val="0"/>
      </a:spcAft>
      <a:defRPr sz="1200" kern="1200">
        <a:solidFill>
          <a:schemeClr val="tx1"/>
        </a:solidFill>
        <a:latin typeface="Arial" charset="0"/>
        <a:ea typeface="宋体" pitchFamily="2" charset="-122"/>
        <a:cs typeface="+mn-cs"/>
      </a:defRPr>
    </a:lvl4pPr>
    <a:lvl5pPr marL="1828800" algn="l" rtl="0" fontAlgn="base">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BCC492-2C04-4F0B-8829-4EC94607D096}" type="slidenum">
              <a:rPr lang="en-US" altLang="zh-CN"/>
              <a:pPr/>
              <a:t>4</a:t>
            </a:fld>
            <a:endParaRPr lang="en-US" altLang="zh-CN" dirty="0"/>
          </a:p>
        </p:txBody>
      </p:sp>
      <p:sp>
        <p:nvSpPr>
          <p:cNvPr id="347138" name="Rectangle 2"/>
          <p:cNvSpPr>
            <a:spLocks noGrp="1" noRot="1" noChangeAspect="1" noChangeArrowheads="1" noTextEdit="1"/>
          </p:cNvSpPr>
          <p:nvPr>
            <p:ph type="sldImg"/>
          </p:nvPr>
        </p:nvSpPr>
        <p:spPr bwMode="auto">
          <a:xfrm>
            <a:off x="917575" y="744538"/>
            <a:ext cx="4962525" cy="3722687"/>
          </a:xfrm>
          <a:prstGeom prst="rect">
            <a:avLst/>
          </a:prstGeom>
          <a:solidFill>
            <a:srgbClr val="FFFFFF"/>
          </a:solidFill>
          <a:ln>
            <a:solidFill>
              <a:srgbClr val="000000"/>
            </a:solidFill>
            <a:miter lim="800000"/>
            <a:headEnd/>
            <a:tailEnd/>
          </a:ln>
        </p:spPr>
      </p:sp>
      <p:sp>
        <p:nvSpPr>
          <p:cNvPr id="347139" name="Rectangle 3"/>
          <p:cNvSpPr>
            <a:spLocks noGrp="1" noChangeArrowheads="1"/>
          </p:cNvSpPr>
          <p:nvPr>
            <p:ph type="body" idx="1"/>
          </p:nvPr>
        </p:nvSpPr>
        <p:spPr bwMode="auto">
          <a:xfrm>
            <a:off x="679768" y="4715153"/>
            <a:ext cx="5438140" cy="4466987"/>
          </a:xfrm>
          <a:prstGeom prst="rect">
            <a:avLst/>
          </a:prstGeom>
          <a:solidFill>
            <a:srgbClr val="FFFFFF"/>
          </a:solidFill>
          <a:ln>
            <a:solidFill>
              <a:srgbClr val="000000"/>
            </a:solidFill>
            <a:miter lim="800000"/>
            <a:headEnd/>
            <a:tailEnd/>
          </a:ln>
        </p:spPr>
        <p:txBody>
          <a:bodyPr/>
          <a:lstStyle/>
          <a:p>
            <a:r>
              <a:rPr lang="en-US" altLang="zh-CN" dirty="0"/>
              <a:t>Adder</a:t>
            </a:r>
            <a:r>
              <a:rPr lang="zh-CN" altLang="en-US" dirty="0"/>
              <a:t>是電腦的一個基本運算部件，也是構成</a:t>
            </a:r>
            <a:r>
              <a:rPr lang="en-US" altLang="zh-CN" dirty="0"/>
              <a:t>ALU</a:t>
            </a:r>
            <a:r>
              <a:rPr lang="zh-CN" altLang="en-US" dirty="0"/>
              <a:t>的基礎 </a:t>
            </a:r>
          </a:p>
        </p:txBody>
      </p:sp>
    </p:spTree>
    <p:extLst>
      <p:ext uri="{BB962C8B-B14F-4D97-AF65-F5344CB8AC3E}">
        <p14:creationId xmlns:p14="http://schemas.microsoft.com/office/powerpoint/2010/main" val="583645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99DC8E-3E0C-4B83-A882-B6D750375ACE}" type="slidenum">
              <a:rPr lang="en-US" altLang="zh-CN" smtClean="0"/>
              <a:pPr/>
              <a:t>28</a:t>
            </a:fld>
            <a:endParaRPr lang="en-US" altLang="zh-CN" dirty="0"/>
          </a:p>
        </p:txBody>
      </p:sp>
    </p:spTree>
    <p:extLst>
      <p:ext uri="{BB962C8B-B14F-4D97-AF65-F5344CB8AC3E}">
        <p14:creationId xmlns:p14="http://schemas.microsoft.com/office/powerpoint/2010/main" val="4037720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9186CD-F157-42CD-AAFD-5ED2B1DFA951}" type="slidenum">
              <a:rPr lang="en-US" altLang="zh-CN"/>
              <a:pPr/>
              <a:t>35</a:t>
            </a:fld>
            <a:endParaRPr lang="en-US" altLang="zh-CN" dirty="0"/>
          </a:p>
        </p:txBody>
      </p:sp>
      <p:sp>
        <p:nvSpPr>
          <p:cNvPr id="378882" name="Rectangle 2"/>
          <p:cNvSpPr>
            <a:spLocks noGrp="1" noRot="1" noChangeAspect="1" noChangeArrowheads="1" noTextEdit="1"/>
          </p:cNvSpPr>
          <p:nvPr>
            <p:ph type="sldImg"/>
          </p:nvPr>
        </p:nvSpPr>
        <p:spPr bwMode="auto">
          <a:xfrm>
            <a:off x="917575" y="744538"/>
            <a:ext cx="4962525" cy="3722687"/>
          </a:xfrm>
          <a:prstGeom prst="rect">
            <a:avLst/>
          </a:prstGeom>
          <a:solidFill>
            <a:srgbClr val="FFFFFF"/>
          </a:solidFill>
          <a:ln>
            <a:solidFill>
              <a:srgbClr val="000000"/>
            </a:solidFill>
            <a:miter lim="800000"/>
            <a:headEnd/>
            <a:tailEnd/>
          </a:ln>
        </p:spPr>
      </p:sp>
      <p:sp>
        <p:nvSpPr>
          <p:cNvPr id="378883" name="Rectangle 3"/>
          <p:cNvSpPr>
            <a:spLocks noGrp="1" noChangeArrowheads="1"/>
          </p:cNvSpPr>
          <p:nvPr>
            <p:ph type="body" idx="1"/>
          </p:nvPr>
        </p:nvSpPr>
        <p:spPr bwMode="auto">
          <a:xfrm>
            <a:off x="679768" y="4715153"/>
            <a:ext cx="5438140" cy="4466987"/>
          </a:xfrm>
          <a:prstGeom prst="rect">
            <a:avLst/>
          </a:prstGeom>
          <a:solidFill>
            <a:srgbClr val="FFFFFF"/>
          </a:solidFill>
          <a:ln>
            <a:solidFill>
              <a:srgbClr val="000000"/>
            </a:solidFill>
            <a:miter lim="800000"/>
            <a:headEnd/>
            <a:tailEnd/>
          </a:ln>
        </p:spPr>
        <p:txBody>
          <a:bodyPr/>
          <a:lstStyle/>
          <a:p>
            <a:r>
              <a:rPr lang="zh-CN" altLang="en-US" dirty="0"/>
              <a:t>用類似四位並行加法器中</a:t>
            </a:r>
            <a:r>
              <a:rPr lang="en-US" altLang="zh-CN" dirty="0"/>
              <a:t>C1</a:t>
            </a:r>
            <a:r>
              <a:rPr lang="zh-CN" altLang="en-US" dirty="0"/>
              <a:t>、</a:t>
            </a:r>
            <a:r>
              <a:rPr lang="en-US" altLang="zh-CN" dirty="0"/>
              <a:t>C2</a:t>
            </a:r>
            <a:r>
              <a:rPr lang="zh-CN" altLang="en-US" dirty="0"/>
              <a:t>、</a:t>
            </a:r>
            <a:r>
              <a:rPr lang="en-US" altLang="zh-CN" dirty="0"/>
              <a:t>C3</a:t>
            </a:r>
            <a:r>
              <a:rPr lang="zh-CN" altLang="en-US" dirty="0"/>
              <a:t>、</a:t>
            </a:r>
            <a:r>
              <a:rPr lang="en-US" altLang="zh-CN" dirty="0"/>
              <a:t>C4</a:t>
            </a:r>
            <a:r>
              <a:rPr lang="zh-CN" altLang="en-US" dirty="0"/>
              <a:t>形成的原理，去形成片間快速進位</a:t>
            </a:r>
            <a:r>
              <a:rPr lang="en-US" altLang="zh-CN" dirty="0"/>
              <a:t>C4</a:t>
            </a:r>
            <a:r>
              <a:rPr lang="zh-CN" altLang="en-US" dirty="0"/>
              <a:t>、</a:t>
            </a:r>
            <a:r>
              <a:rPr lang="en-US" altLang="zh-CN" dirty="0"/>
              <a:t>C8</a:t>
            </a:r>
            <a:r>
              <a:rPr lang="zh-CN" altLang="en-US" dirty="0"/>
              <a:t>、</a:t>
            </a:r>
            <a:r>
              <a:rPr lang="en-US" altLang="zh-CN" dirty="0"/>
              <a:t>C12</a:t>
            </a:r>
            <a:r>
              <a:rPr lang="zh-CN" altLang="en-US" dirty="0"/>
              <a:t>、</a:t>
            </a:r>
            <a:r>
              <a:rPr lang="en-US" altLang="zh-CN" dirty="0"/>
              <a:t>C16 </a:t>
            </a:r>
          </a:p>
        </p:txBody>
      </p:sp>
    </p:spTree>
    <p:extLst>
      <p:ext uri="{BB962C8B-B14F-4D97-AF65-F5344CB8AC3E}">
        <p14:creationId xmlns:p14="http://schemas.microsoft.com/office/powerpoint/2010/main" val="1234418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99DC8E-3E0C-4B83-A882-B6D750375ACE}" type="slidenum">
              <a:rPr lang="en-US" altLang="zh-CN" smtClean="0"/>
              <a:pPr/>
              <a:t>71</a:t>
            </a:fld>
            <a:endParaRPr lang="en-US" altLang="zh-CN" dirty="0"/>
          </a:p>
        </p:txBody>
      </p:sp>
    </p:spTree>
    <p:extLst>
      <p:ext uri="{BB962C8B-B14F-4D97-AF65-F5344CB8AC3E}">
        <p14:creationId xmlns:p14="http://schemas.microsoft.com/office/powerpoint/2010/main" val="4221582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99DC8E-3E0C-4B83-A882-B6D750375ACE}" type="slidenum">
              <a:rPr lang="en-US" altLang="zh-CN" smtClean="0"/>
              <a:pPr/>
              <a:t>75</a:t>
            </a:fld>
            <a:endParaRPr lang="en-US" altLang="zh-CN" dirty="0"/>
          </a:p>
        </p:txBody>
      </p:sp>
    </p:spTree>
    <p:extLst>
      <p:ext uri="{BB962C8B-B14F-4D97-AF65-F5344CB8AC3E}">
        <p14:creationId xmlns:p14="http://schemas.microsoft.com/office/powerpoint/2010/main" val="3976408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99DC8E-3E0C-4B83-A882-B6D750375ACE}" type="slidenum">
              <a:rPr lang="en-US" altLang="zh-CN" smtClean="0"/>
              <a:pPr/>
              <a:t>76</a:t>
            </a:fld>
            <a:endParaRPr lang="en-US" altLang="zh-CN" dirty="0"/>
          </a:p>
        </p:txBody>
      </p:sp>
    </p:spTree>
    <p:extLst>
      <p:ext uri="{BB962C8B-B14F-4D97-AF65-F5344CB8AC3E}">
        <p14:creationId xmlns:p14="http://schemas.microsoft.com/office/powerpoint/2010/main" val="2714756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799DC8E-3E0C-4B83-A882-B6D750375ACE}" type="slidenum">
              <a:rPr lang="en-US" altLang="zh-CN" smtClean="0"/>
              <a:pPr/>
              <a:t>77</a:t>
            </a:fld>
            <a:endParaRPr lang="en-US" altLang="zh-CN" dirty="0"/>
          </a:p>
        </p:txBody>
      </p:sp>
    </p:spTree>
    <p:extLst>
      <p:ext uri="{BB962C8B-B14F-4D97-AF65-F5344CB8AC3E}">
        <p14:creationId xmlns:p14="http://schemas.microsoft.com/office/powerpoint/2010/main" val="2190120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1"/>
      </p:bgRef>
    </p:bg>
    <p:spTree>
      <p:nvGrpSpPr>
        <p:cNvPr id="1" name=""/>
        <p:cNvGrpSpPr/>
        <p:nvPr/>
      </p:nvGrpSpPr>
      <p:grpSpPr>
        <a:xfrm>
          <a:off x="0" y="0"/>
          <a:ext cx="0" cy="0"/>
          <a:chOff x="0" y="0"/>
          <a:chExt cx="0" cy="0"/>
        </a:xfrm>
      </p:grpSpPr>
      <p:sp>
        <p:nvSpPr>
          <p:cNvPr id="12" name="矩形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圆角矩形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副标题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p:txBody>
          <a:bodyPr/>
          <a:lstStyle/>
          <a:p>
            <a:endParaRPr lang="en-US" altLang="zh-CN"/>
          </a:p>
        </p:txBody>
      </p:sp>
      <p:sp>
        <p:nvSpPr>
          <p:cNvPr id="17" name="页脚占位符 16"/>
          <p:cNvSpPr>
            <a:spLocks noGrp="1"/>
          </p:cNvSpPr>
          <p:nvPr>
            <p:ph type="ftr" sz="quarter" idx="11"/>
          </p:nvPr>
        </p:nvSpPr>
        <p:spPr/>
        <p:txBody>
          <a:bodyPr/>
          <a:lstStyle/>
          <a:p>
            <a:endParaRPr lang="en-US" altLang="zh-CN"/>
          </a:p>
        </p:txBody>
      </p:sp>
      <p:sp>
        <p:nvSpPr>
          <p:cNvPr id="29" name="灯片编号占位符 28"/>
          <p:cNvSpPr>
            <a:spLocks noGrp="1"/>
          </p:cNvSpPr>
          <p:nvPr>
            <p:ph type="sldNum" sz="quarter" idx="12"/>
          </p:nvPr>
        </p:nvSpPr>
        <p:spPr/>
        <p:txBody>
          <a:bodyPr lIns="0" tIns="0" rIns="0" bIns="0">
            <a:noAutofit/>
          </a:bodyPr>
          <a:lstStyle>
            <a:lvl1pPr>
              <a:defRPr sz="1400">
                <a:solidFill>
                  <a:srgbClr val="FFFFFF"/>
                </a:solidFill>
              </a:defRPr>
            </a:lvl1pPr>
          </a:lstStyle>
          <a:p>
            <a:fld id="{4B30A588-0376-425C-9358-AAC9F8B3AE78}" type="slidenum">
              <a:rPr lang="en-US" altLang="zh-CN" smtClean="0"/>
              <a:pPr/>
              <a:t>‹N°›</a:t>
            </a:fld>
            <a:endParaRPr lang="en-US" altLang="zh-CN"/>
          </a:p>
        </p:txBody>
      </p:sp>
      <p:sp>
        <p:nvSpPr>
          <p:cNvPr id="7" name="矩形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zh-CN" altLang="en-US"/>
              <a:t>单击此处编辑母版标题样式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dirty="0"/>
          </a:p>
        </p:txBody>
      </p:sp>
      <p:sp>
        <p:nvSpPr>
          <p:cNvPr id="6" name="灯片编号占位符 5"/>
          <p:cNvSpPr>
            <a:spLocks noGrp="1"/>
          </p:cNvSpPr>
          <p:nvPr>
            <p:ph type="sldNum" sz="quarter" idx="12"/>
          </p:nvPr>
        </p:nvSpPr>
        <p:spPr/>
        <p:txBody>
          <a:bodyPr/>
          <a:lstStyle/>
          <a:p>
            <a:fld id="{DE62D0AB-BF6E-4BE0-85BF-D4430B89A161}" type="slidenum">
              <a:rPr lang="en-US" altLang="zh-CN" smtClean="0"/>
              <a:pPr/>
              <a:t>‹N°›</a:t>
            </a:fld>
            <a:endParaRPr lang="en-US" altLang="zh-CN"/>
          </a:p>
        </p:txBody>
      </p:sp>
      <p:sp>
        <p:nvSpPr>
          <p:cNvPr id="8" name="内容占位符 7"/>
          <p:cNvSpPr>
            <a:spLocks noGrp="1"/>
          </p:cNvSpPr>
          <p:nvPr>
            <p:ph sz="quarter" idx="1"/>
          </p:nvPr>
        </p:nvSpPr>
        <p:spPr>
          <a:xfrm>
            <a:off x="914400" y="1447800"/>
            <a:ext cx="7772400" cy="45720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1"/>
      </p:bgRef>
    </p:bg>
    <p:spTree>
      <p:nvGrpSpPr>
        <p:cNvPr id="1" name=""/>
        <p:cNvGrpSpPr/>
        <p:nvPr/>
      </p:nvGrpSpPr>
      <p:grpSpPr>
        <a:xfrm>
          <a:off x="0" y="0"/>
          <a:ext cx="0" cy="0"/>
          <a:chOff x="0" y="0"/>
          <a:chExt cx="0" cy="0"/>
        </a:xfrm>
      </p:grpSpPr>
      <p:sp>
        <p:nvSpPr>
          <p:cNvPr id="11" name="矩形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圆角矩形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13" y="952500"/>
            <a:ext cx="7772400" cy="1362075"/>
          </a:xfrm>
        </p:spPr>
        <p:txBody>
          <a:bodyPr anchor="b" anchorCtr="0"/>
          <a:lstStyle>
            <a:lvl1pPr algn="l">
              <a:buNone/>
              <a:defRPr sz="4000" b="0" cap="none"/>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a:xfrm>
            <a:off x="800100" y="6172200"/>
            <a:ext cx="4000500" cy="457200"/>
          </a:xfrm>
        </p:spPr>
        <p:txBody>
          <a:bodyPr/>
          <a:lstStyle/>
          <a:p>
            <a:endParaRPr lang="en-US" altLang="zh-CN"/>
          </a:p>
        </p:txBody>
      </p:sp>
      <p:sp>
        <p:nvSpPr>
          <p:cNvPr id="7" name="矩形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灯片编号占位符 5"/>
          <p:cNvSpPr>
            <a:spLocks noGrp="1"/>
          </p:cNvSpPr>
          <p:nvPr>
            <p:ph type="sldNum" sz="quarter" idx="12"/>
          </p:nvPr>
        </p:nvSpPr>
        <p:spPr>
          <a:xfrm>
            <a:off x="146304" y="6208776"/>
            <a:ext cx="457200" cy="457200"/>
          </a:xfrm>
        </p:spPr>
        <p:txBody>
          <a:bodyPr/>
          <a:lstStyle/>
          <a:p>
            <a:fld id="{255848FC-EF2B-4D61-A77F-5D980ADF8F29}" type="slidenum">
              <a:rPr lang="en-US" altLang="zh-CN" smtClean="0"/>
              <a:pPr/>
              <a:t>‹N°›</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94D585EB-7DA3-4213-AA50-1E7517F29883}" type="slidenum">
              <a:rPr lang="en-US" altLang="zh-CN" smtClean="0"/>
              <a:pPr/>
              <a:t>‹N°›</a:t>
            </a:fld>
            <a:endParaRPr lang="en-US" altLang="zh-CN"/>
          </a:p>
        </p:txBody>
      </p:sp>
      <p:sp>
        <p:nvSpPr>
          <p:cNvPr id="9" name="内容占位符 8"/>
          <p:cNvSpPr>
            <a:spLocks noGrp="1"/>
          </p:cNvSpPr>
          <p:nvPr>
            <p:ph sz="quarter" idx="1"/>
          </p:nvPr>
        </p:nvSpPr>
        <p:spPr>
          <a:xfrm>
            <a:off x="914400" y="1447800"/>
            <a:ext cx="3749040" cy="45720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933950" y="1447800"/>
            <a:ext cx="3749040" cy="45720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14400" y="273050"/>
            <a:ext cx="7772400" cy="1143000"/>
          </a:xfrm>
        </p:spPr>
        <p:txBody>
          <a:bodyPr anchor="b" anchorCtr="0"/>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7" name="日期占位符 6"/>
          <p:cNvSpPr>
            <a:spLocks noGrp="1"/>
          </p:cNvSpPr>
          <p:nvPr>
            <p:ph type="dt" sz="half" idx="10"/>
          </p:nvPr>
        </p:nvSpPr>
        <p:spPr/>
        <p:txBody>
          <a:bodyPr/>
          <a:lstStyle/>
          <a:p>
            <a:endParaRPr lang="en-US" altLang="zh-CN"/>
          </a:p>
        </p:txBody>
      </p:sp>
      <p:sp>
        <p:nvSpPr>
          <p:cNvPr id="8" name="页脚占位符 7"/>
          <p:cNvSpPr>
            <a:spLocks noGrp="1"/>
          </p:cNvSpPr>
          <p:nvPr>
            <p:ph type="ftr" sz="quarter" idx="11"/>
          </p:nvPr>
        </p:nvSpPr>
        <p:spPr/>
        <p:txBody>
          <a:bodyPr/>
          <a:lstStyle/>
          <a:p>
            <a:endParaRPr lang="en-US" altLang="zh-CN"/>
          </a:p>
        </p:txBody>
      </p:sp>
      <p:sp>
        <p:nvSpPr>
          <p:cNvPr id="9" name="灯片编号占位符 8"/>
          <p:cNvSpPr>
            <a:spLocks noGrp="1"/>
          </p:cNvSpPr>
          <p:nvPr>
            <p:ph type="sldNum" sz="quarter" idx="12"/>
          </p:nvPr>
        </p:nvSpPr>
        <p:spPr/>
        <p:txBody>
          <a:bodyPr/>
          <a:lstStyle/>
          <a:p>
            <a:fld id="{7B8BBD98-E874-460E-93D2-A66AF25586CC}" type="slidenum">
              <a:rPr lang="en-US" altLang="zh-CN" smtClean="0"/>
              <a:pPr/>
              <a:t>‹N°›</a:t>
            </a:fld>
            <a:endParaRPr lang="en-US" altLang="zh-CN"/>
          </a:p>
        </p:txBody>
      </p:sp>
      <p:sp>
        <p:nvSpPr>
          <p:cNvPr id="11" name="内容占位符 10"/>
          <p:cNvSpPr>
            <a:spLocks noGrp="1"/>
          </p:cNvSpPr>
          <p:nvPr>
            <p:ph sz="half" idx="2"/>
          </p:nvPr>
        </p:nvSpPr>
        <p:spPr>
          <a:xfrm>
            <a:off x="914400" y="2247900"/>
            <a:ext cx="3733800" cy="38862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4"/>
          </p:nvPr>
        </p:nvSpPr>
        <p:spPr>
          <a:xfrm>
            <a:off x="4953000" y="2247900"/>
            <a:ext cx="3733800" cy="38862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endParaRPr lang="en-US" altLang="zh-CN"/>
          </a:p>
        </p:txBody>
      </p:sp>
      <p:sp>
        <p:nvSpPr>
          <p:cNvPr id="5" name="灯片编号占位符 4"/>
          <p:cNvSpPr>
            <a:spLocks noGrp="1"/>
          </p:cNvSpPr>
          <p:nvPr>
            <p:ph type="sldNum" sz="quarter" idx="12"/>
          </p:nvPr>
        </p:nvSpPr>
        <p:spPr/>
        <p:txBody>
          <a:bodyPr/>
          <a:lstStyle/>
          <a:p>
            <a:fld id="{50659822-5265-469A-AED4-05EC09D52EC2}" type="slidenum">
              <a:rPr lang="en-US" altLang="zh-CN" smtClean="0"/>
              <a:pPr/>
              <a:t>‹N°›</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p>
            <a:fld id="{E353BF01-E38B-4FFE-9505-69D089239113}" type="slidenum">
              <a:rPr lang="en-US" altLang="zh-CN" smtClean="0"/>
              <a:pPr/>
              <a:t>‹N°›</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圆角矩形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914400" y="273050"/>
            <a:ext cx="7772400" cy="1143000"/>
          </a:xfrm>
        </p:spPr>
        <p:txBody>
          <a:bodyPr anchor="b" anchorCtr="0"/>
          <a:lstStyle>
            <a:lvl1pPr algn="l">
              <a:buNone/>
              <a:defRPr sz="4000" b="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F201BF70-ECAA-49E5-B0CD-0C6107879468}" type="slidenum">
              <a:rPr lang="en-US" altLang="zh-CN" smtClean="0"/>
              <a:pPr/>
              <a:t>‹N°›</a:t>
            </a:fld>
            <a:endParaRPr lang="en-US" altLang="zh-CN"/>
          </a:p>
        </p:txBody>
      </p:sp>
      <p:sp>
        <p:nvSpPr>
          <p:cNvPr id="11" name="内容占位符 10"/>
          <p:cNvSpPr>
            <a:spLocks noGrp="1"/>
          </p:cNvSpPr>
          <p:nvPr>
            <p:ph sz="quarter" idx="1"/>
          </p:nvPr>
        </p:nvSpPr>
        <p:spPr>
          <a:xfrm>
            <a:off x="2971800" y="1600200"/>
            <a:ext cx="5715000" cy="4495800"/>
          </a:xfrm>
        </p:spPr>
        <p:txBody>
          <a:bodyPr vert="horz"/>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
        <p:nvSpPr>
          <p:cNvPr id="5" name="日期占位符 4"/>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a:xfrm>
            <a:off x="914400" y="6172200"/>
            <a:ext cx="3886200" cy="457200"/>
          </a:xfrm>
        </p:spPr>
        <p:txBody>
          <a:bodyPr/>
          <a:lstStyle/>
          <a:p>
            <a:endParaRPr lang="en-US" altLang="zh-CN"/>
          </a:p>
        </p:txBody>
      </p:sp>
      <p:sp>
        <p:nvSpPr>
          <p:cNvPr id="7" name="灯片编号占位符 6"/>
          <p:cNvSpPr>
            <a:spLocks noGrp="1"/>
          </p:cNvSpPr>
          <p:nvPr>
            <p:ph type="sldNum" sz="quarter" idx="12"/>
          </p:nvPr>
        </p:nvSpPr>
        <p:spPr>
          <a:xfrm>
            <a:off x="146304" y="6208776"/>
            <a:ext cx="457200" cy="457200"/>
          </a:xfrm>
        </p:spPr>
        <p:txBody>
          <a:bodyPr/>
          <a:lstStyle/>
          <a:p>
            <a:fld id="{42B7BE3C-D36C-4FF6-A391-2F85173D0C5C}" type="slidenum">
              <a:rPr lang="en-US" altLang="zh-CN" smtClean="0"/>
              <a:pPr/>
              <a:t>‹N°›</a:t>
            </a:fld>
            <a:endParaRPr lang="en-US" altLang="zh-CN"/>
          </a:p>
        </p:txBody>
      </p:sp>
      <p:sp>
        <p:nvSpPr>
          <p:cNvPr id="11" name="矩形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图片占位符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zh-CN" altLang="en-US"/>
              <a:t>单击图标添加图片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623A1FA9-0AB0-4260-A7EE-88F170B505A2}" type="slidenum">
              <a:rPr lang="en-US" altLang="zh-CN" smtClean="0"/>
              <a:pPr/>
              <a:t>‹N°›</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1168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914400" y="274640"/>
            <a:ext cx="5562600" cy="5851525"/>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5574FE4C-3867-48B5-BA8A-ABF8890382DA}" type="slidenum">
              <a:rPr lang="en-US" altLang="zh-CN" smtClean="0"/>
              <a:pPr/>
              <a:t>‹N°›</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304800"/>
            <a:ext cx="8610600" cy="990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447800"/>
            <a:ext cx="4000500" cy="4648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62500" y="1447800"/>
            <a:ext cx="4000500" cy="2247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62500" y="3848100"/>
            <a:ext cx="4000500" cy="2247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1066800" y="6248400"/>
            <a:ext cx="19050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429000" y="6248400"/>
            <a:ext cx="28956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705600" y="6248400"/>
            <a:ext cx="1905000" cy="457200"/>
          </a:xfrm>
        </p:spPr>
        <p:txBody>
          <a:bodyPr/>
          <a:lstStyle>
            <a:lvl1pPr>
              <a:defRPr/>
            </a:lvl1pPr>
          </a:lstStyle>
          <a:p>
            <a:fld id="{DE62D0AB-BF6E-4BE0-85BF-D4430B89A161}" type="slidenum">
              <a:rPr lang="en-US" altLang="zh-CN" smtClean="0"/>
              <a:pPr/>
              <a:t>‹N°›</a:t>
            </a:fld>
            <a:endParaRPr lang="en-US" altLang="zh-CN"/>
          </a:p>
        </p:txBody>
      </p:sp>
    </p:spTree>
    <p:extLst>
      <p:ext uri="{BB962C8B-B14F-4D97-AF65-F5344CB8AC3E}">
        <p14:creationId xmlns:p14="http://schemas.microsoft.com/office/powerpoint/2010/main" val="383923215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04800" y="304800"/>
            <a:ext cx="8610600" cy="990600"/>
          </a:xfrm>
        </p:spPr>
        <p:txBody>
          <a:bodyPr/>
          <a:lstStyle/>
          <a:p>
            <a:r>
              <a:rPr lang="zh-CN" altLang="en-US"/>
              <a:t>单击此处编辑母版标题样式</a:t>
            </a:r>
          </a:p>
        </p:txBody>
      </p:sp>
      <p:sp>
        <p:nvSpPr>
          <p:cNvPr id="3" name="内容占位符 2"/>
          <p:cNvSpPr>
            <a:spLocks noGrp="1"/>
          </p:cNvSpPr>
          <p:nvPr>
            <p:ph sz="quarter" idx="1"/>
          </p:nvPr>
        </p:nvSpPr>
        <p:spPr>
          <a:xfrm>
            <a:off x="609600" y="1447800"/>
            <a:ext cx="4000500" cy="2247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62500" y="1447800"/>
            <a:ext cx="4000500" cy="2247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848100"/>
            <a:ext cx="4000500" cy="2247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762500" y="3848100"/>
            <a:ext cx="4000500" cy="2247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1066800" y="6248400"/>
            <a:ext cx="1905000" cy="457200"/>
          </a:xfrm>
        </p:spPr>
        <p:txBody>
          <a:bodyPr/>
          <a:lstStyle>
            <a:lvl1pPr>
              <a:defRPr/>
            </a:lvl1pPr>
          </a:lstStyle>
          <a:p>
            <a:endParaRPr lang="en-US" altLang="zh-CN"/>
          </a:p>
        </p:txBody>
      </p:sp>
      <p:sp>
        <p:nvSpPr>
          <p:cNvPr id="8" name="页脚占位符 7"/>
          <p:cNvSpPr>
            <a:spLocks noGrp="1"/>
          </p:cNvSpPr>
          <p:nvPr>
            <p:ph type="ftr" sz="quarter" idx="11"/>
          </p:nvPr>
        </p:nvSpPr>
        <p:spPr>
          <a:xfrm>
            <a:off x="3429000" y="6248400"/>
            <a:ext cx="2895600" cy="457200"/>
          </a:xfrm>
        </p:spPr>
        <p:txBody>
          <a:bodyPr/>
          <a:lstStyle>
            <a:lvl1pPr>
              <a:defRPr/>
            </a:lvl1pPr>
          </a:lstStyle>
          <a:p>
            <a:endParaRPr lang="en-US" altLang="zh-CN"/>
          </a:p>
        </p:txBody>
      </p:sp>
      <p:sp>
        <p:nvSpPr>
          <p:cNvPr id="9" name="灯片编号占位符 8"/>
          <p:cNvSpPr>
            <a:spLocks noGrp="1"/>
          </p:cNvSpPr>
          <p:nvPr>
            <p:ph type="sldNum" sz="quarter" idx="12"/>
          </p:nvPr>
        </p:nvSpPr>
        <p:spPr>
          <a:xfrm>
            <a:off x="6705600" y="6248400"/>
            <a:ext cx="1905000" cy="457200"/>
          </a:xfrm>
        </p:spPr>
        <p:txBody>
          <a:bodyPr/>
          <a:lstStyle>
            <a:lvl1pPr>
              <a:defRPr/>
            </a:lvl1pPr>
          </a:lstStyle>
          <a:p>
            <a:fld id="{DE62D0AB-BF6E-4BE0-85BF-D4430B89A161}" type="slidenum">
              <a:rPr lang="en-US" altLang="zh-CN" smtClean="0"/>
              <a:pPr/>
              <a:t>‹N°›</a:t>
            </a:fld>
            <a:endParaRPr lang="en-US" altLang="zh-CN"/>
          </a:p>
        </p:txBody>
      </p:sp>
    </p:spTree>
    <p:extLst>
      <p:ext uri="{BB962C8B-B14F-4D97-AF65-F5344CB8AC3E}">
        <p14:creationId xmlns:p14="http://schemas.microsoft.com/office/powerpoint/2010/main" val="36864361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8" name="日期占位符 7"/>
          <p:cNvSpPr>
            <a:spLocks noGrp="1"/>
          </p:cNvSpPr>
          <p:nvPr>
            <p:ph type="dt" sz="half" idx="10"/>
          </p:nvPr>
        </p:nvSpPr>
        <p:spPr/>
        <p:txBody>
          <a:bodyPr/>
          <a:lstStyle/>
          <a:p>
            <a:endParaRPr lang="en-US" altLang="zh-CN"/>
          </a:p>
        </p:txBody>
      </p:sp>
      <p:sp>
        <p:nvSpPr>
          <p:cNvPr id="9" name="页脚占位符 8"/>
          <p:cNvSpPr>
            <a:spLocks noGrp="1"/>
          </p:cNvSpPr>
          <p:nvPr>
            <p:ph type="ftr" sz="quarter" idx="11"/>
          </p:nvPr>
        </p:nvSpPr>
        <p:spPr/>
        <p:txBody>
          <a:bodyPr/>
          <a:lstStyle/>
          <a:p>
            <a:endParaRPr lang="en-US" altLang="zh-CN"/>
          </a:p>
        </p:txBody>
      </p:sp>
      <p:sp>
        <p:nvSpPr>
          <p:cNvPr id="10" name="灯片编号占位符 9"/>
          <p:cNvSpPr>
            <a:spLocks noGrp="1"/>
          </p:cNvSpPr>
          <p:nvPr>
            <p:ph type="sldNum" sz="quarter" idx="12"/>
          </p:nvPr>
        </p:nvSpPr>
        <p:spPr/>
        <p:txBody>
          <a:bodyPr/>
          <a:lstStyle/>
          <a:p>
            <a:fld id="{DE62D0AB-BF6E-4BE0-85BF-D4430B89A161}" type="slidenum">
              <a:rPr lang="en-US" altLang="zh-CN" smtClean="0"/>
              <a:pPr/>
              <a:t>‹N°›</a:t>
            </a:fld>
            <a:endParaRPr lang="en-US" altLang="zh-CN"/>
          </a:p>
        </p:txBody>
      </p:sp>
    </p:spTree>
    <p:extLst>
      <p:ext uri="{BB962C8B-B14F-4D97-AF65-F5344CB8AC3E}">
        <p14:creationId xmlns:p14="http://schemas.microsoft.com/office/powerpoint/2010/main" val="244873447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标题和内容">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endParaRPr lang="en-US" altLang="zh-CN"/>
          </a:p>
        </p:txBody>
      </p:sp>
      <p:sp>
        <p:nvSpPr>
          <p:cNvPr id="3"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414432328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4_标题和内容">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endParaRPr lang="en-US" altLang="zh-CN"/>
          </a:p>
        </p:txBody>
      </p:sp>
      <p:sp>
        <p:nvSpPr>
          <p:cNvPr id="3"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217446158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_标题和内容">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endParaRPr lang="en-US" altLang="zh-CN"/>
          </a:p>
        </p:txBody>
      </p:sp>
      <p:sp>
        <p:nvSpPr>
          <p:cNvPr id="3"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233642338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8" name="日期占位符 7"/>
          <p:cNvSpPr>
            <a:spLocks noGrp="1"/>
          </p:cNvSpPr>
          <p:nvPr>
            <p:ph type="dt" sz="half" idx="10"/>
          </p:nvPr>
        </p:nvSpPr>
        <p:spPr/>
        <p:txBody>
          <a:bodyPr/>
          <a:lstStyle/>
          <a:p>
            <a:endParaRPr lang="en-US" altLang="zh-CN"/>
          </a:p>
        </p:txBody>
      </p:sp>
      <p:sp>
        <p:nvSpPr>
          <p:cNvPr id="9" name="页脚占位符 8"/>
          <p:cNvSpPr>
            <a:spLocks noGrp="1"/>
          </p:cNvSpPr>
          <p:nvPr>
            <p:ph type="ftr" sz="quarter" idx="11"/>
          </p:nvPr>
        </p:nvSpPr>
        <p:spPr/>
        <p:txBody>
          <a:bodyPr/>
          <a:lstStyle/>
          <a:p>
            <a:endParaRPr lang="en-US" altLang="zh-CN" dirty="0"/>
          </a:p>
        </p:txBody>
      </p:sp>
      <p:sp>
        <p:nvSpPr>
          <p:cNvPr id="10" name="灯片编号占位符 9"/>
          <p:cNvSpPr>
            <a:spLocks noGrp="1"/>
          </p:cNvSpPr>
          <p:nvPr>
            <p:ph type="sldNum" sz="quarter" idx="12"/>
          </p:nvPr>
        </p:nvSpPr>
        <p:spPr/>
        <p:txBody>
          <a:bodyPr/>
          <a:lstStyle/>
          <a:p>
            <a:fld id="{DE62D0AB-BF6E-4BE0-85BF-D4430B89A161}" type="slidenum">
              <a:rPr lang="en-US" altLang="zh-CN" smtClean="0"/>
              <a:pPr/>
              <a:t>‹N°›</a:t>
            </a:fld>
            <a:endParaRPr lang="en-US" altLang="zh-CN"/>
          </a:p>
        </p:txBody>
      </p:sp>
    </p:spTree>
    <p:extLst>
      <p:ext uri="{BB962C8B-B14F-4D97-AF65-F5344CB8AC3E}">
        <p14:creationId xmlns:p14="http://schemas.microsoft.com/office/powerpoint/2010/main" val="2448734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圆角矩形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标题占位符 21"/>
          <p:cNvSpPr>
            <a:spLocks noGrp="1"/>
          </p:cNvSpPr>
          <p:nvPr>
            <p:ph type="title"/>
          </p:nvPr>
        </p:nvSpPr>
        <p:spPr>
          <a:xfrm>
            <a:off x="914400" y="274638"/>
            <a:ext cx="7772400" cy="1143000"/>
          </a:xfrm>
          <a:prstGeom prst="rect">
            <a:avLst/>
          </a:prstGeom>
        </p:spPr>
        <p:txBody>
          <a:bodyPr bIns="91440" anchor="b" anchorCtr="0">
            <a:normAutofit/>
          </a:bodyPr>
          <a:lstStyle/>
          <a:p>
            <a:r>
              <a:rPr kumimoji="0" lang="zh-CN" altLang="en-US" dirty="0"/>
              <a:t>单击此处编辑母版标题样式</a:t>
            </a:r>
            <a:endParaRPr kumimoji="0" lang="en-US" dirty="0"/>
          </a:p>
        </p:txBody>
      </p:sp>
      <p:sp>
        <p:nvSpPr>
          <p:cNvPr id="13" name="文本占位符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4" name="日期占位符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endParaRPr lang="en-US" altLang="zh-CN"/>
          </a:p>
        </p:txBody>
      </p:sp>
      <p:sp>
        <p:nvSpPr>
          <p:cNvPr id="3" name="页脚占位符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ltLang="zh-CN"/>
          </a:p>
        </p:txBody>
      </p:sp>
      <p:sp>
        <p:nvSpPr>
          <p:cNvPr id="23" name="灯片编号占位符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DE62D0AB-BF6E-4BE0-85BF-D4430B89A161}" type="slidenum">
              <a:rPr lang="en-US" altLang="zh-CN" smtClean="0"/>
              <a:pPr/>
              <a:t>‹N°›</a:t>
            </a:fld>
            <a:endParaRPr lang="en-US" altLang="zh-CN"/>
          </a:p>
        </p:txBody>
      </p:sp>
    </p:spTree>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5" r:id="rId12"/>
    <p:sldLayoutId id="2147483846" r:id="rId13"/>
    <p:sldLayoutId id="2147483847" r:id="rId14"/>
    <p:sldLayoutId id="2147483848" r:id="rId15"/>
    <p:sldLayoutId id="2147483849" r:id="rId16"/>
    <p:sldLayoutId id="2147483850" r:id="rId17"/>
    <p:sldLayoutId id="2147483821" r:id="rId18"/>
  </p:sldLayoutIdLst>
  <p:hf hdr="0" ftr="0" dt="0"/>
  <p:txStyles>
    <p:titleStyle>
      <a:lvl1pPr algn="l" rtl="0" eaLnBrk="1" latinLnBrk="0" hangingPunct="1">
        <a:spcBef>
          <a:spcPct val="0"/>
        </a:spcBef>
        <a:buNone/>
        <a:defRPr kumimoji="0" sz="4000" b="1" kern="1200">
          <a:solidFill>
            <a:schemeClr val="tx1"/>
          </a:solidFill>
          <a:latin typeface="等线" panose="02010600030101010101" pitchFamily="2" charset="-122"/>
          <a:ea typeface="等线" panose="02010600030101010101" pitchFamily="2" charset="-122"/>
          <a:cs typeface="+mj-cs"/>
        </a:defRPr>
      </a:lvl1pPr>
    </p:titleStyle>
    <p:bodyStyle>
      <a:lvl1pPr marL="360000" indent="-360000" algn="l" rtl="0" eaLnBrk="1" latinLnBrk="0" hangingPunct="1">
        <a:spcBef>
          <a:spcPts val="580"/>
        </a:spcBef>
        <a:buClr>
          <a:schemeClr val="accent1"/>
        </a:buClr>
        <a:buSzPct val="85000"/>
        <a:buFont typeface="Wingdings" pitchFamily="2" charset="2"/>
        <a:buChar char="n"/>
        <a:defRPr kumimoji="0" sz="3600" b="1" kern="1200">
          <a:solidFill>
            <a:schemeClr val="tx1"/>
          </a:solidFill>
          <a:latin typeface="等线" panose="02010600030101010101" pitchFamily="2" charset="-122"/>
          <a:ea typeface="等线" panose="02010600030101010101" pitchFamily="2" charset="-122"/>
          <a:cs typeface="+mn-cs"/>
        </a:defRPr>
      </a:lvl1pPr>
      <a:lvl2pPr marL="612000" indent="-360000" algn="l" rtl="0" eaLnBrk="1" latinLnBrk="0" hangingPunct="1">
        <a:spcBef>
          <a:spcPts val="370"/>
        </a:spcBef>
        <a:buClr>
          <a:schemeClr val="accent2"/>
        </a:buClr>
        <a:buSzPct val="85000"/>
        <a:buFont typeface="Wingdings" pitchFamily="2" charset="2"/>
        <a:buChar char="p"/>
        <a:defRPr kumimoji="0" sz="3200" b="1" kern="1200">
          <a:solidFill>
            <a:schemeClr val="tx1"/>
          </a:solidFill>
          <a:latin typeface="等线" panose="02010600030101010101" pitchFamily="2" charset="-122"/>
          <a:ea typeface="等线" panose="02010600030101010101" pitchFamily="2" charset="-122"/>
          <a:cs typeface="+mn-cs"/>
        </a:defRPr>
      </a:lvl2pPr>
      <a:lvl3pPr marL="864000" indent="-360000" algn="l" rtl="0" eaLnBrk="1" latinLnBrk="0" hangingPunct="1">
        <a:spcBef>
          <a:spcPts val="370"/>
        </a:spcBef>
        <a:buClr>
          <a:schemeClr val="accent1">
            <a:tint val="60000"/>
          </a:schemeClr>
        </a:buClr>
        <a:buSzPct val="85000"/>
        <a:buFont typeface="Wingdings" pitchFamily="2" charset="2"/>
        <a:buChar char="l"/>
        <a:defRPr kumimoji="0" sz="2800" kern="1200">
          <a:solidFill>
            <a:schemeClr val="tx1"/>
          </a:solidFill>
          <a:latin typeface="等线" panose="02010600030101010101" pitchFamily="2" charset="-122"/>
          <a:ea typeface="等线" panose="02010600030101010101" pitchFamily="2" charset="-122"/>
          <a:cs typeface="+mn-cs"/>
        </a:defRPr>
      </a:lvl3pPr>
      <a:lvl4pPr marL="1097280" indent="-228600" algn="l" rtl="0" eaLnBrk="1" latinLnBrk="0" hangingPunct="1">
        <a:spcBef>
          <a:spcPts val="370"/>
        </a:spcBef>
        <a:buClr>
          <a:schemeClr val="accent3"/>
        </a:buClr>
        <a:buSzPct val="80000"/>
        <a:buFont typeface="Wingdings 2"/>
        <a:buChar char=""/>
        <a:defRPr kumimoji="0" sz="2400" kern="1200">
          <a:solidFill>
            <a:schemeClr val="tx1"/>
          </a:solidFill>
          <a:latin typeface="等线" panose="02010600030101010101" pitchFamily="2" charset="-122"/>
          <a:ea typeface="等线" panose="02010600030101010101" pitchFamily="2" charset="-122"/>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等线" panose="02010600030101010101" pitchFamily="2" charset="-122"/>
          <a:ea typeface="等线" panose="02010600030101010101" pitchFamily="2" charset="-122"/>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5.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10.wmf"/><Relationship Id="rId5" Type="http://schemas.openxmlformats.org/officeDocument/2006/relationships/image" Target="../media/image8.wmf"/><Relationship Id="rId10" Type="http://schemas.openxmlformats.org/officeDocument/2006/relationships/oleObject" Target="../embeddings/oleObject9.bin"/><Relationship Id="rId4" Type="http://schemas.openxmlformats.org/officeDocument/2006/relationships/oleObject" Target="../embeddings/oleObject7.bin"/><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13.wmf"/><Relationship Id="rId4"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6.wmf"/><Relationship Id="rId12" Type="http://schemas.openxmlformats.org/officeDocument/2006/relationships/oleObject" Target="../embeddings/oleObject17.bin"/><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7.wmf"/></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wmf"/><Relationship Id="rId2" Type="http://schemas.openxmlformats.org/officeDocument/2006/relationships/oleObject" Target="../embeddings/oleObject18.bin"/><Relationship Id="rId1" Type="http://schemas.openxmlformats.org/officeDocument/2006/relationships/slideLayout" Target="../slideLayouts/slideLayout4.xml"/><Relationship Id="rId6" Type="http://schemas.openxmlformats.org/officeDocument/2006/relationships/oleObject" Target="../embeddings/oleObject20.bin"/><Relationship Id="rId5" Type="http://schemas.openxmlformats.org/officeDocument/2006/relationships/image" Target="../media/image21.wmf"/><Relationship Id="rId4" Type="http://schemas.openxmlformats.org/officeDocument/2006/relationships/oleObject" Target="../embeddings/oleObject19.bin"/></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21.bin"/><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oleObject" Target="../embeddings/oleObject22.bin"/></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oleObject" Target="../embeddings/oleObject23.bin"/><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21.bin"/><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oleObject" Target="../embeddings/oleObject22.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oleObject" Target="../embeddings/oleObject23.bin"/><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oleObject" Target="../embeddings/oleObject24.bin"/></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33.wmf"/><Relationship Id="rId7" Type="http://schemas.openxmlformats.org/officeDocument/2006/relationships/image" Target="../media/image35.wmf"/><Relationship Id="rId2" Type="http://schemas.openxmlformats.org/officeDocument/2006/relationships/oleObject" Target="../embeddings/oleObject27.bin"/><Relationship Id="rId1" Type="http://schemas.openxmlformats.org/officeDocument/2006/relationships/slideLayout" Target="../slideLayouts/slideLayout2.xml"/><Relationship Id="rId6" Type="http://schemas.openxmlformats.org/officeDocument/2006/relationships/oleObject" Target="../embeddings/oleObject29.bin"/><Relationship Id="rId5" Type="http://schemas.openxmlformats.org/officeDocument/2006/relationships/image" Target="../media/image34.wmf"/><Relationship Id="rId4" Type="http://schemas.openxmlformats.org/officeDocument/2006/relationships/oleObject" Target="../embeddings/oleObject28.bin"/><Relationship Id="rId9" Type="http://schemas.openxmlformats.org/officeDocument/2006/relationships/image" Target="../media/image36.wmf"/></Relationships>
</file>

<file path=ppt/slides/_rels/slide26.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5" Type="http://schemas.openxmlformats.org/officeDocument/2006/relationships/image" Target="../media/image38.wmf"/><Relationship Id="rId4" Type="http://schemas.openxmlformats.org/officeDocument/2006/relationships/oleObject" Target="../embeddings/oleObject32.bin"/></Relationships>
</file>

<file path=ppt/slides/_rels/slide27.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image" Target="../media/image41.wmf"/><Relationship Id="rId4" Type="http://schemas.openxmlformats.org/officeDocument/2006/relationships/oleObject" Target="../embeddings/oleObject35.bin"/></Relationships>
</file>

<file path=ppt/slides/_rels/slide28.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38.bin"/><Relationship Id="rId4" Type="http://schemas.openxmlformats.org/officeDocument/2006/relationships/image" Target="../media/image43.wmf"/></Relationships>
</file>

<file path=ppt/slides/_rels/slide29.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40.bin"/><Relationship Id="rId1" Type="http://schemas.openxmlformats.org/officeDocument/2006/relationships/slideLayout" Target="../slideLayouts/slideLayout2.xml"/><Relationship Id="rId5" Type="http://schemas.openxmlformats.org/officeDocument/2006/relationships/image" Target="../media/image47.wmf"/><Relationship Id="rId4" Type="http://schemas.openxmlformats.org/officeDocument/2006/relationships/oleObject" Target="../embeddings/oleObject41.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48.png"/><Relationship Id="rId7" Type="http://schemas.openxmlformats.org/officeDocument/2006/relationships/image" Target="../media/image50.wmf"/><Relationship Id="rId2"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44.bin"/><Relationship Id="rId11" Type="http://schemas.openxmlformats.org/officeDocument/2006/relationships/image" Target="../media/image52.wmf"/><Relationship Id="rId5" Type="http://schemas.openxmlformats.org/officeDocument/2006/relationships/image" Target="../media/image49.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51.wmf"/></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oleObject" Target="../embeddings/oleObject47.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oleObject" Target="../embeddings/oleObject48.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49.bin"/><Relationship Id="rId1" Type="http://schemas.openxmlformats.org/officeDocument/2006/relationships/slideLayout" Target="../slideLayouts/slideLayout2.xml"/><Relationship Id="rId5" Type="http://schemas.openxmlformats.org/officeDocument/2006/relationships/image" Target="../media/image55.wmf"/><Relationship Id="rId4" Type="http://schemas.openxmlformats.org/officeDocument/2006/relationships/oleObject" Target="../embeddings/oleObject50.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7.wmf"/><Relationship Id="rId5" Type="http://schemas.openxmlformats.org/officeDocument/2006/relationships/oleObject" Target="../embeddings/oleObject52.bin"/><Relationship Id="rId4" Type="http://schemas.openxmlformats.org/officeDocument/2006/relationships/image" Target="../media/image56.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63.wmf"/><Relationship Id="rId18" Type="http://schemas.openxmlformats.org/officeDocument/2006/relationships/oleObject" Target="../embeddings/oleObject61.bin"/><Relationship Id="rId3" Type="http://schemas.openxmlformats.org/officeDocument/2006/relationships/image" Target="../media/image58.wmf"/><Relationship Id="rId21" Type="http://schemas.openxmlformats.org/officeDocument/2006/relationships/image" Target="../media/image67.wmf"/><Relationship Id="rId7" Type="http://schemas.openxmlformats.org/officeDocument/2006/relationships/image" Target="../media/image60.wmf"/><Relationship Id="rId12" Type="http://schemas.openxmlformats.org/officeDocument/2006/relationships/oleObject" Target="../embeddings/oleObject58.bin"/><Relationship Id="rId17" Type="http://schemas.openxmlformats.org/officeDocument/2006/relationships/image" Target="../media/image65.wmf"/><Relationship Id="rId25" Type="http://schemas.openxmlformats.org/officeDocument/2006/relationships/image" Target="../media/image69.wmf"/><Relationship Id="rId2" Type="http://schemas.openxmlformats.org/officeDocument/2006/relationships/oleObject" Target="../embeddings/oleObject53.bin"/><Relationship Id="rId16" Type="http://schemas.openxmlformats.org/officeDocument/2006/relationships/oleObject" Target="../embeddings/oleObject60.bin"/><Relationship Id="rId20" Type="http://schemas.openxmlformats.org/officeDocument/2006/relationships/oleObject" Target="../embeddings/oleObject62.bin"/><Relationship Id="rId1" Type="http://schemas.openxmlformats.org/officeDocument/2006/relationships/slideLayout" Target="../slideLayouts/slideLayout2.xml"/><Relationship Id="rId6" Type="http://schemas.openxmlformats.org/officeDocument/2006/relationships/oleObject" Target="../embeddings/oleObject55.bin"/><Relationship Id="rId11" Type="http://schemas.openxmlformats.org/officeDocument/2006/relationships/image" Target="../media/image62.wmf"/><Relationship Id="rId24" Type="http://schemas.openxmlformats.org/officeDocument/2006/relationships/oleObject" Target="../embeddings/oleObject64.bin"/><Relationship Id="rId5" Type="http://schemas.openxmlformats.org/officeDocument/2006/relationships/image" Target="../media/image59.wmf"/><Relationship Id="rId15" Type="http://schemas.openxmlformats.org/officeDocument/2006/relationships/image" Target="../media/image64.wmf"/><Relationship Id="rId23" Type="http://schemas.openxmlformats.org/officeDocument/2006/relationships/image" Target="../media/image68.wmf"/><Relationship Id="rId10" Type="http://schemas.openxmlformats.org/officeDocument/2006/relationships/oleObject" Target="../embeddings/oleObject57.bin"/><Relationship Id="rId19" Type="http://schemas.openxmlformats.org/officeDocument/2006/relationships/image" Target="../media/image66.wmf"/><Relationship Id="rId4" Type="http://schemas.openxmlformats.org/officeDocument/2006/relationships/oleObject" Target="../embeddings/oleObject54.bin"/><Relationship Id="rId9" Type="http://schemas.openxmlformats.org/officeDocument/2006/relationships/image" Target="../media/image61.wmf"/><Relationship Id="rId14" Type="http://schemas.openxmlformats.org/officeDocument/2006/relationships/oleObject" Target="../embeddings/oleObject59.bin"/><Relationship Id="rId22" Type="http://schemas.openxmlformats.org/officeDocument/2006/relationships/oleObject" Target="../embeddings/oleObject63.bin"/></Relationships>
</file>

<file path=ppt/slides/_rels/slide37.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65.bin"/><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oleObject" Target="../embeddings/oleObject66.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oleObject" Target="../embeddings/oleObject67.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oleObject" Target="../embeddings/oleObject68.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oleObject" Target="../embeddings/oleObject69.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0.png"/></Relationships>
</file>

<file path=ppt/slides/_rels/slide49.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6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oleObject" Target="../embeddings/oleObject70.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oleObject" Target="../embeddings/oleObject71.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oleObject" Target="../embeddings/oleObject72.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image" Target="../media/image80.wmf"/><Relationship Id="rId7" Type="http://schemas.openxmlformats.org/officeDocument/2006/relationships/image" Target="../media/image82.wmf"/><Relationship Id="rId2" Type="http://schemas.openxmlformats.org/officeDocument/2006/relationships/oleObject" Target="../embeddings/oleObject73.bin"/><Relationship Id="rId1" Type="http://schemas.openxmlformats.org/officeDocument/2006/relationships/slideLayout" Target="../slideLayouts/slideLayout2.xml"/><Relationship Id="rId6" Type="http://schemas.openxmlformats.org/officeDocument/2006/relationships/oleObject" Target="../embeddings/oleObject75.bin"/><Relationship Id="rId11" Type="http://schemas.openxmlformats.org/officeDocument/2006/relationships/image" Target="../media/image84.wmf"/><Relationship Id="rId5" Type="http://schemas.openxmlformats.org/officeDocument/2006/relationships/image" Target="../media/image81.wmf"/><Relationship Id="rId10" Type="http://schemas.openxmlformats.org/officeDocument/2006/relationships/oleObject" Target="../embeddings/oleObject77.bin"/><Relationship Id="rId4" Type="http://schemas.openxmlformats.org/officeDocument/2006/relationships/oleObject" Target="../embeddings/oleObject74.bin"/><Relationship Id="rId9" Type="http://schemas.openxmlformats.org/officeDocument/2006/relationships/image" Target="../media/image83.wmf"/></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image" Target="../media/image85.wmf"/><Relationship Id="rId7" Type="http://schemas.openxmlformats.org/officeDocument/2006/relationships/image" Target="../media/image87.wmf"/><Relationship Id="rId2" Type="http://schemas.openxmlformats.org/officeDocument/2006/relationships/oleObject" Target="../embeddings/oleObject78.bin"/><Relationship Id="rId1" Type="http://schemas.openxmlformats.org/officeDocument/2006/relationships/slideLayout" Target="../slideLayouts/slideLayout2.xml"/><Relationship Id="rId6" Type="http://schemas.openxmlformats.org/officeDocument/2006/relationships/oleObject" Target="../embeddings/oleObject80.bin"/><Relationship Id="rId5" Type="http://schemas.openxmlformats.org/officeDocument/2006/relationships/image" Target="../media/image86.wmf"/><Relationship Id="rId4" Type="http://schemas.openxmlformats.org/officeDocument/2006/relationships/oleObject" Target="../embeddings/oleObject79.bin"/><Relationship Id="rId9" Type="http://schemas.openxmlformats.org/officeDocument/2006/relationships/image" Target="../media/image88.wmf"/></Relationships>
</file>

<file path=ppt/slides/_rels/slide5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oleObject" Target="../embeddings/oleObject82.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oleObject" Target="../embeddings/oleObject83.bin"/><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oleObject" Target="../embeddings/oleObject84.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80" name="Rectangle 4"/>
          <p:cNvSpPr>
            <a:spLocks noGrp="1" noChangeArrowheads="1"/>
          </p:cNvSpPr>
          <p:nvPr>
            <p:ph type="subTitle" idx="1"/>
          </p:nvPr>
        </p:nvSpPr>
        <p:spPr>
          <a:xfrm>
            <a:off x="1465635" y="3573463"/>
            <a:ext cx="6400800" cy="2376487"/>
          </a:xfrm>
          <a:noFill/>
          <a:ln/>
        </p:spPr>
        <p:txBody>
          <a:bodyPr lIns="91440" tIns="45720" rIns="91440" bIns="45720" anchor="t"/>
          <a:lstStyle/>
          <a:p>
            <a:r>
              <a:rPr lang="zh-CN" altLang="en-US" dirty="0">
                <a:solidFill>
                  <a:schemeClr val="tx1"/>
                </a:solidFill>
                <a:latin typeface="华文楷体" pitchFamily="2" charset="-122"/>
                <a:ea typeface="华文楷体" pitchFamily="2" charset="-122"/>
              </a:rPr>
              <a:t>清華大學電腦系</a:t>
            </a:r>
          </a:p>
          <a:p>
            <a:r>
              <a:rPr lang="zh-CN" altLang="en-US" dirty="0">
                <a:solidFill>
                  <a:schemeClr val="tx1"/>
                </a:solidFill>
                <a:latin typeface="华文楷体" pitchFamily="2" charset="-122"/>
                <a:ea typeface="华文楷体" pitchFamily="2" charset="-122"/>
              </a:rPr>
              <a:t>陶品</a:t>
            </a:r>
          </a:p>
          <a:p>
            <a:r>
              <a:rPr lang="en-US" altLang="zh-CN" dirty="0">
                <a:solidFill>
                  <a:schemeClr val="tx1"/>
                </a:solidFill>
                <a:latin typeface="华文楷体" pitchFamily="2" charset="-122"/>
                <a:ea typeface="华文楷体" pitchFamily="2" charset="-122"/>
              </a:rPr>
              <a:t>taopin@tsinghua.edu.cn</a:t>
            </a:r>
          </a:p>
          <a:p>
            <a:r>
              <a:rPr lang="zh-CN" altLang="en-US" sz="2400" dirty="0">
                <a:solidFill>
                  <a:schemeClr val="tx1"/>
                </a:solidFill>
                <a:latin typeface="华文楷体" pitchFamily="2" charset="-122"/>
                <a:ea typeface="华文楷体" pitchFamily="2" charset="-122"/>
              </a:rPr>
              <a:t>辦公室：</a:t>
            </a:r>
            <a:r>
              <a:rPr lang="en-US" altLang="zh-CN" sz="2400" dirty="0">
                <a:solidFill>
                  <a:schemeClr val="tx1"/>
                </a:solidFill>
                <a:latin typeface="华文楷体" pitchFamily="2" charset="-122"/>
                <a:ea typeface="华文楷体" pitchFamily="2" charset="-122"/>
              </a:rPr>
              <a:t>FIT 3</a:t>
            </a:r>
            <a:r>
              <a:rPr lang="zh-CN" altLang="en-US" sz="2400" dirty="0">
                <a:solidFill>
                  <a:schemeClr val="tx1"/>
                </a:solidFill>
                <a:latin typeface="华文楷体" pitchFamily="2" charset="-122"/>
                <a:ea typeface="华文楷体" pitchFamily="2" charset="-122"/>
              </a:rPr>
              <a:t>－</a:t>
            </a:r>
            <a:r>
              <a:rPr lang="en-US" altLang="zh-CN" sz="2400" dirty="0">
                <a:solidFill>
                  <a:schemeClr val="tx1"/>
                </a:solidFill>
                <a:latin typeface="华文楷体" pitchFamily="2" charset="-122"/>
                <a:ea typeface="华文楷体" pitchFamily="2" charset="-122"/>
              </a:rPr>
              <a:t>531 </a:t>
            </a:r>
            <a:r>
              <a:rPr lang="zh-CN" altLang="en-US" sz="2400" dirty="0">
                <a:solidFill>
                  <a:schemeClr val="tx1"/>
                </a:solidFill>
                <a:latin typeface="华文楷体" pitchFamily="2" charset="-122"/>
                <a:ea typeface="华文楷体" pitchFamily="2" charset="-122"/>
              </a:rPr>
              <a:t>（</a:t>
            </a:r>
            <a:r>
              <a:rPr lang="en-US" altLang="zh-CN" sz="2400" dirty="0">
                <a:solidFill>
                  <a:schemeClr val="tx1"/>
                </a:solidFill>
                <a:latin typeface="华文楷体" pitchFamily="2" charset="-122"/>
                <a:ea typeface="华文楷体" pitchFamily="2" charset="-122"/>
              </a:rPr>
              <a:t>13717813059</a:t>
            </a:r>
            <a:r>
              <a:rPr lang="zh-CN" altLang="en-US" sz="2400" dirty="0">
                <a:solidFill>
                  <a:schemeClr val="tx1"/>
                </a:solidFill>
                <a:latin typeface="华文楷体" pitchFamily="2" charset="-122"/>
                <a:ea typeface="华文楷体" pitchFamily="2" charset="-122"/>
              </a:rPr>
              <a:t>）            </a:t>
            </a:r>
          </a:p>
        </p:txBody>
      </p:sp>
      <p:sp>
        <p:nvSpPr>
          <p:cNvPr id="229378" name="Rectangle 2"/>
          <p:cNvSpPr>
            <a:spLocks noGrp="1" noChangeArrowheads="1"/>
          </p:cNvSpPr>
          <p:nvPr>
            <p:ph type="ctrTitle"/>
          </p:nvPr>
        </p:nvSpPr>
        <p:spPr>
          <a:xfrm>
            <a:off x="611560" y="1412875"/>
            <a:ext cx="7772400" cy="1592263"/>
          </a:xfrm>
        </p:spPr>
        <p:txBody>
          <a:bodyPr/>
          <a:lstStyle/>
          <a:p>
            <a:r>
              <a:rPr lang="zh-CN" altLang="en-US" dirty="0">
                <a:solidFill>
                  <a:srgbClr val="000000"/>
                </a:solidFill>
                <a:latin typeface="华文楷体" pitchFamily="2" charset="-122"/>
                <a:ea typeface="华文楷体" pitchFamily="2" charset="-122"/>
              </a:rPr>
              <a:t>數位邏輯電路</a:t>
            </a:r>
            <a:endParaRPr lang="en-US" altLang="zh-CN" sz="3200" dirty="0">
              <a:solidFill>
                <a:srgbClr val="000000"/>
              </a:solidFill>
              <a:latin typeface="华文楷体" pitchFamily="2" charset="-122"/>
              <a:ea typeface="华文楷体" pitchFamily="2" charset="-122"/>
            </a:endParaRPr>
          </a:p>
        </p:txBody>
      </p:sp>
    </p:spTree>
    <p:extLst>
      <p:ext uri="{BB962C8B-B14F-4D97-AF65-F5344CB8AC3E}">
        <p14:creationId xmlns:p14="http://schemas.microsoft.com/office/powerpoint/2010/main" val="1351533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p:txBody>
          <a:bodyPr/>
          <a:lstStyle/>
          <a:p>
            <a:r>
              <a:rPr lang="en-US" altLang="zh-CN" sz="3600" dirty="0"/>
              <a:t>3.3  </a:t>
            </a:r>
            <a:r>
              <a:rPr lang="zh-CN" altLang="en-US" sz="3600" dirty="0"/>
              <a:t>常用的中規模組合邏輯電路</a:t>
            </a:r>
          </a:p>
        </p:txBody>
      </p:sp>
      <p:sp>
        <p:nvSpPr>
          <p:cNvPr id="7" name="灯片编号占位符 5"/>
          <p:cNvSpPr>
            <a:spLocks noGrp="1"/>
          </p:cNvSpPr>
          <p:nvPr>
            <p:ph type="sldNum" sz="quarter" idx="12"/>
          </p:nvPr>
        </p:nvSpPr>
        <p:spPr/>
        <p:txBody>
          <a:bodyPr/>
          <a:lstStyle/>
          <a:p>
            <a:fld id="{9781E3D3-744B-40C4-8A2B-E00EF81B0C1F}" type="slidenum">
              <a:rPr lang="en-US" altLang="zh-CN"/>
              <a:pPr/>
              <a:t>2</a:t>
            </a:fld>
            <a:endParaRPr lang="en-US" altLang="zh-CN" dirty="0"/>
          </a:p>
        </p:txBody>
      </p:sp>
      <p:sp>
        <p:nvSpPr>
          <p:cNvPr id="344067" name="Rectangle 3"/>
          <p:cNvSpPr>
            <a:spLocks noGrp="1" noChangeArrowheads="1"/>
          </p:cNvSpPr>
          <p:nvPr>
            <p:ph sz="quarter" idx="1"/>
          </p:nvPr>
        </p:nvSpPr>
        <p:spPr>
          <a:xfrm>
            <a:off x="1066800" y="1981200"/>
            <a:ext cx="7753350" cy="4400550"/>
          </a:xfrm>
        </p:spPr>
        <p:txBody>
          <a:bodyPr/>
          <a:lstStyle/>
          <a:p>
            <a:pPr>
              <a:buFont typeface="Wingdings" pitchFamily="2" charset="2"/>
              <a:buNone/>
            </a:pPr>
            <a:r>
              <a:rPr lang="en-US" altLang="zh-CN" b="1" dirty="0"/>
              <a:t>3.3.1 </a:t>
            </a:r>
            <a:r>
              <a:rPr lang="zh-CN" altLang="en-US" b="1" dirty="0"/>
              <a:t>解碼器</a:t>
            </a:r>
          </a:p>
          <a:p>
            <a:pPr>
              <a:buNone/>
            </a:pPr>
            <a:r>
              <a:rPr lang="en-US" altLang="zh-CN" dirty="0"/>
              <a:t>3.3.2 </a:t>
            </a:r>
            <a:r>
              <a:rPr lang="zh-CN" altLang="en-US" dirty="0"/>
              <a:t>資料選擇器</a:t>
            </a:r>
          </a:p>
          <a:p>
            <a:pPr>
              <a:buFont typeface="Wingdings" pitchFamily="2" charset="2"/>
              <a:buNone/>
            </a:pPr>
            <a:r>
              <a:rPr lang="en-US" altLang="zh-CN" b="1" dirty="0"/>
              <a:t>3.3.3 </a:t>
            </a:r>
            <a:r>
              <a:rPr lang="zh-CN" altLang="en-US" b="1" dirty="0"/>
              <a:t>編碼器</a:t>
            </a:r>
          </a:p>
          <a:p>
            <a:pPr>
              <a:buNone/>
            </a:pPr>
            <a:r>
              <a:rPr lang="en-US" altLang="zh-CN" b="1" dirty="0"/>
              <a:t>3.3.4 </a:t>
            </a:r>
            <a:r>
              <a:rPr lang="zh-CN" altLang="en-US" b="1" dirty="0"/>
              <a:t>資料比較器</a:t>
            </a:r>
            <a:endParaRPr lang="en-US" altLang="zh-CN" b="1" dirty="0"/>
          </a:p>
          <a:p>
            <a:pPr>
              <a:buNone/>
            </a:pPr>
            <a:r>
              <a:rPr lang="en-US" altLang="zh-CN" dirty="0"/>
              <a:t>3.3.5 </a:t>
            </a:r>
            <a:r>
              <a:rPr lang="zh-CN" altLang="en-US" dirty="0"/>
              <a:t>同位器</a:t>
            </a:r>
            <a:endParaRPr lang="en-US" altLang="zh-CN" dirty="0"/>
          </a:p>
          <a:p>
            <a:pPr>
              <a:buNone/>
            </a:pPr>
            <a:r>
              <a:rPr lang="en-US" altLang="zh-CN" b="1" dirty="0"/>
              <a:t>3</a:t>
            </a:r>
            <a:r>
              <a:rPr lang="en-US" altLang="zh-CN" dirty="0"/>
              <a:t>.3.6 </a:t>
            </a:r>
            <a:r>
              <a:rPr lang="zh-CN" altLang="en-US" dirty="0"/>
              <a:t>可程式設計邏輯器件</a:t>
            </a:r>
            <a:endParaRPr lang="zh-CN" altLang="en-US" b="1" dirty="0"/>
          </a:p>
          <a:p>
            <a:pPr>
              <a:buFont typeface="Wingdings" pitchFamily="2" charset="2"/>
              <a:buNone/>
            </a:pPr>
            <a:r>
              <a:rPr lang="en-US" altLang="zh-CN" b="1" dirty="0">
                <a:solidFill>
                  <a:srgbClr val="7030A0"/>
                </a:solidFill>
              </a:rPr>
              <a:t>3.3.7 </a:t>
            </a:r>
            <a:r>
              <a:rPr lang="zh-CN" altLang="en-US" b="1" dirty="0">
                <a:solidFill>
                  <a:srgbClr val="7030A0"/>
                </a:solidFill>
              </a:rPr>
              <a:t>運算器（算數邏輯單元 </a:t>
            </a:r>
            <a:r>
              <a:rPr lang="en-US" altLang="zh-CN" b="1" dirty="0">
                <a:solidFill>
                  <a:srgbClr val="7030A0"/>
                </a:solidFill>
              </a:rPr>
              <a:t>ALU</a:t>
            </a:r>
            <a:r>
              <a:rPr lang="zh-CN" altLang="en-US" b="1" dirty="0">
                <a:solidFill>
                  <a:srgbClr val="7030A0"/>
                </a:solidFill>
              </a:rPr>
              <a:t>）</a:t>
            </a:r>
          </a:p>
        </p:txBody>
      </p:sp>
      <p:sp>
        <p:nvSpPr>
          <p:cNvPr id="344068" name="Rectangle 4"/>
          <p:cNvSpPr>
            <a:spLocks noChangeArrowheads="1"/>
          </p:cNvSpPr>
          <p:nvPr/>
        </p:nvSpPr>
        <p:spPr bwMode="auto">
          <a:xfrm>
            <a:off x="395536" y="5661248"/>
            <a:ext cx="758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600" b="1" dirty="0">
                <a:solidFill>
                  <a:srgbClr val="7030A0"/>
                </a:solidFill>
                <a:latin typeface="Times New Roman" pitchFamily="18" charset="0"/>
                <a:sym typeface="Wingdings 3" pitchFamily="18" charset="2"/>
              </a:rPr>
              <a:t></a:t>
            </a:r>
            <a:endParaRPr lang="en-US" altLang="zh-CN" sz="3600" b="1" dirty="0">
              <a:solidFill>
                <a:srgbClr val="7030A0"/>
              </a:solidFill>
              <a:latin typeface="Times New Roman" pitchFamily="18" charset="0"/>
            </a:endParaRPr>
          </a:p>
        </p:txBody>
      </p:sp>
    </p:spTree>
    <p:extLst>
      <p:ext uri="{BB962C8B-B14F-4D97-AF65-F5344CB8AC3E}">
        <p14:creationId xmlns:p14="http://schemas.microsoft.com/office/powerpoint/2010/main" val="28478926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4067"/>
                                        </p:tgtEl>
                                        <p:attrNameLst>
                                          <p:attrName>style.visibility</p:attrName>
                                        </p:attrNameLst>
                                      </p:cBhvr>
                                      <p:to>
                                        <p:strVal val="visible"/>
                                      </p:to>
                                    </p:set>
                                    <p:animEffect transition="in" filter="blinds(horizontal)">
                                      <p:cBhvr>
                                        <p:cTn id="7" dur="500"/>
                                        <p:tgtEl>
                                          <p:spTgt spid="3440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44068"/>
                                        </p:tgtEl>
                                        <p:attrNameLst>
                                          <p:attrName>style.visibility</p:attrName>
                                        </p:attrNameLst>
                                      </p:cBhvr>
                                      <p:to>
                                        <p:strVal val="visible"/>
                                      </p:to>
                                    </p:set>
                                    <p:anim calcmode="lin" valueType="num">
                                      <p:cBhvr additive="base">
                                        <p:cTn id="12" dur="500" fill="hold"/>
                                        <p:tgtEl>
                                          <p:spTgt spid="344068"/>
                                        </p:tgtEl>
                                        <p:attrNameLst>
                                          <p:attrName>ppt_x</p:attrName>
                                        </p:attrNameLst>
                                      </p:cBhvr>
                                      <p:tavLst>
                                        <p:tav tm="0">
                                          <p:val>
                                            <p:strVal val="0-#ppt_w/2"/>
                                          </p:val>
                                        </p:tav>
                                        <p:tav tm="100000">
                                          <p:val>
                                            <p:strVal val="#ppt_x"/>
                                          </p:val>
                                        </p:tav>
                                      </p:tavLst>
                                    </p:anim>
                                    <p:anim calcmode="lin" valueType="num">
                                      <p:cBhvr additive="base">
                                        <p:cTn id="13" dur="500" fill="hold"/>
                                        <p:tgtEl>
                                          <p:spTgt spid="3440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7" grpId="0" autoUpdateAnimBg="0"/>
      <p:bldP spid="34406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a:xfrm>
            <a:off x="457200" y="304800"/>
            <a:ext cx="8382000" cy="585788"/>
          </a:xfrm>
        </p:spPr>
        <p:txBody>
          <a:bodyPr>
            <a:normAutofit fontScale="90000"/>
          </a:bodyPr>
          <a:lstStyle/>
          <a:p>
            <a:r>
              <a:rPr lang="en-US" altLang="zh-CN" sz="3600" dirty="0"/>
              <a:t>3.3.7   </a:t>
            </a:r>
            <a:r>
              <a:rPr lang="zh-CN" altLang="en-US" sz="3600" dirty="0"/>
              <a:t>運算器</a:t>
            </a:r>
            <a:endParaRPr lang="en-US" altLang="zh-CN" sz="3600" dirty="0"/>
          </a:p>
        </p:txBody>
      </p:sp>
      <p:sp>
        <p:nvSpPr>
          <p:cNvPr id="6" name="灯片编号占位符 5"/>
          <p:cNvSpPr>
            <a:spLocks noGrp="1"/>
          </p:cNvSpPr>
          <p:nvPr>
            <p:ph type="sldNum" sz="quarter" idx="12"/>
          </p:nvPr>
        </p:nvSpPr>
        <p:spPr/>
        <p:txBody>
          <a:bodyPr/>
          <a:lstStyle/>
          <a:p>
            <a:fld id="{D4D148D0-4105-4D2F-A0AC-3510C3A14390}" type="slidenum">
              <a:rPr lang="en-US" altLang="zh-CN"/>
              <a:pPr/>
              <a:t>3</a:t>
            </a:fld>
            <a:endParaRPr lang="en-US" altLang="zh-CN" dirty="0"/>
          </a:p>
        </p:txBody>
      </p:sp>
      <p:sp>
        <p:nvSpPr>
          <p:cNvPr id="345091" name="Rectangle 3"/>
          <p:cNvSpPr>
            <a:spLocks noGrp="1" noChangeArrowheads="1"/>
          </p:cNvSpPr>
          <p:nvPr>
            <p:ph sz="quarter" idx="1"/>
          </p:nvPr>
        </p:nvSpPr>
        <p:spPr/>
        <p:txBody>
          <a:bodyPr>
            <a:normAutofit lnSpcReduction="10000"/>
          </a:bodyPr>
          <a:lstStyle/>
          <a:p>
            <a:r>
              <a:rPr lang="en-US" altLang="zh-CN" b="1" dirty="0"/>
              <a:t>3.3.7 </a:t>
            </a:r>
            <a:r>
              <a:rPr lang="zh-CN" altLang="en-US" b="1" dirty="0"/>
              <a:t>運算器（算數邏輯單元 </a:t>
            </a:r>
            <a:r>
              <a:rPr lang="en-US" altLang="zh-CN" b="1" dirty="0"/>
              <a:t>ALU</a:t>
            </a:r>
            <a:r>
              <a:rPr lang="zh-CN" altLang="en-US" b="1" dirty="0"/>
              <a:t>）</a:t>
            </a:r>
          </a:p>
          <a:p>
            <a:pPr lvl="1"/>
            <a:r>
              <a:rPr lang="zh-CN" altLang="en-US" b="1" dirty="0"/>
              <a:t>加法器</a:t>
            </a:r>
          </a:p>
          <a:p>
            <a:pPr lvl="2"/>
            <a:r>
              <a:rPr lang="zh-CN" altLang="en-US" b="1" dirty="0">
                <a:solidFill>
                  <a:srgbClr val="7030A0"/>
                </a:solidFill>
              </a:rPr>
              <a:t>一位加法器</a:t>
            </a:r>
          </a:p>
          <a:p>
            <a:pPr lvl="2"/>
            <a:r>
              <a:rPr lang="zh-CN" altLang="en-US" b="1" dirty="0"/>
              <a:t>四位元串列進位元加法器</a:t>
            </a:r>
          </a:p>
          <a:p>
            <a:pPr lvl="2"/>
            <a:r>
              <a:rPr lang="zh-CN" altLang="en-US" b="1" dirty="0"/>
              <a:t>四位並行加法器</a:t>
            </a:r>
          </a:p>
          <a:p>
            <a:pPr lvl="2"/>
            <a:r>
              <a:rPr lang="en-US" altLang="zh-CN" b="1" dirty="0"/>
              <a:t>16</a:t>
            </a:r>
            <a:r>
              <a:rPr lang="zh-CN" altLang="en-US" b="1" dirty="0"/>
              <a:t>位加法器</a:t>
            </a:r>
          </a:p>
          <a:p>
            <a:pPr lvl="1"/>
            <a:r>
              <a:rPr lang="zh-CN" altLang="en-US" b="1" dirty="0"/>
              <a:t>算數運算邏輯單元</a:t>
            </a:r>
          </a:p>
          <a:p>
            <a:pPr lvl="2"/>
            <a:r>
              <a:rPr lang="zh-CN" altLang="en-US" b="1" dirty="0"/>
              <a:t>四位元算術邏輯運算單元</a:t>
            </a:r>
            <a:endParaRPr lang="en-US" altLang="zh-CN" b="1" dirty="0"/>
          </a:p>
          <a:p>
            <a:pPr lvl="1"/>
            <a:r>
              <a:rPr lang="zh-CN" altLang="en-US" dirty="0"/>
              <a:t>乘法器</a:t>
            </a:r>
            <a:endParaRPr lang="zh-CN" altLang="en-US" b="1" dirty="0"/>
          </a:p>
        </p:txBody>
      </p:sp>
    </p:spTree>
    <p:extLst>
      <p:ext uri="{BB962C8B-B14F-4D97-AF65-F5344CB8AC3E}">
        <p14:creationId xmlns:p14="http://schemas.microsoft.com/office/powerpoint/2010/main" val="1308093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50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091"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6115" name="Rectangle 3"/>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35" name="灯片编号占位符 6"/>
          <p:cNvSpPr>
            <a:spLocks noGrp="1"/>
          </p:cNvSpPr>
          <p:nvPr>
            <p:ph type="sldNum" sz="quarter" idx="12"/>
          </p:nvPr>
        </p:nvSpPr>
        <p:spPr/>
        <p:txBody>
          <a:bodyPr/>
          <a:lstStyle/>
          <a:p>
            <a:fld id="{07E84ED8-C236-430A-8BB6-71D1D7A9B1F5}" type="slidenum">
              <a:rPr lang="en-US" altLang="zh-CN"/>
              <a:pPr/>
              <a:t>4</a:t>
            </a:fld>
            <a:endParaRPr lang="en-US" altLang="zh-CN" dirty="0"/>
          </a:p>
        </p:txBody>
      </p:sp>
      <p:graphicFrame>
        <p:nvGraphicFramePr>
          <p:cNvPr id="346116" name="Object 4"/>
          <p:cNvGraphicFramePr>
            <a:graphicFrameLocks noGrp="1" noChangeAspect="1"/>
          </p:cNvGraphicFramePr>
          <p:nvPr>
            <p:ph sz="quarter" idx="1"/>
            <p:extLst>
              <p:ext uri="{D42A27DB-BD31-4B8C-83A1-F6EECF244321}">
                <p14:modId xmlns:p14="http://schemas.microsoft.com/office/powerpoint/2010/main" val="872536950"/>
              </p:ext>
            </p:extLst>
          </p:nvPr>
        </p:nvGraphicFramePr>
        <p:xfrm>
          <a:off x="4499992" y="4869160"/>
          <a:ext cx="3890846" cy="1756547"/>
        </p:xfrm>
        <a:graphic>
          <a:graphicData uri="http://schemas.openxmlformats.org/presentationml/2006/ole">
            <mc:AlternateContent xmlns:mc="http://schemas.openxmlformats.org/markup-compatibility/2006">
              <mc:Choice xmlns:v="urn:schemas-microsoft-com:vml" Requires="v">
                <p:oleObj name="位图图像" r:id="rId3" imgW="1961905" imgH="885949" progId="PBrush">
                  <p:embed/>
                </p:oleObj>
              </mc:Choice>
              <mc:Fallback>
                <p:oleObj name="位图图像" r:id="rId3" imgW="1961905" imgH="885949" progId="PBrush">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992" y="4869160"/>
                        <a:ext cx="3890846" cy="1756547"/>
                      </a:xfrm>
                      <a:prstGeom prst="rect">
                        <a:avLst/>
                      </a:prstGeom>
                      <a:noFill/>
                      <a:ln>
                        <a:noFill/>
                      </a:ln>
                      <a:effectLst/>
                    </p:spPr>
                  </p:pic>
                </p:oleObj>
              </mc:Fallback>
            </mc:AlternateContent>
          </a:graphicData>
        </a:graphic>
      </p:graphicFrame>
      <p:graphicFrame>
        <p:nvGraphicFramePr>
          <p:cNvPr id="346143" name="Object 31"/>
          <p:cNvGraphicFramePr>
            <a:graphicFrameLocks noGrp="1" noChangeAspect="1"/>
          </p:cNvGraphicFramePr>
          <p:nvPr>
            <p:ph sz="quarter" idx="2"/>
            <p:extLst>
              <p:ext uri="{D42A27DB-BD31-4B8C-83A1-F6EECF244321}">
                <p14:modId xmlns:p14="http://schemas.microsoft.com/office/powerpoint/2010/main" val="3415505273"/>
              </p:ext>
            </p:extLst>
          </p:nvPr>
        </p:nvGraphicFramePr>
        <p:xfrm>
          <a:off x="4355976" y="3573016"/>
          <a:ext cx="3861628" cy="1019997"/>
        </p:xfrm>
        <a:graphic>
          <a:graphicData uri="http://schemas.openxmlformats.org/presentationml/2006/ole">
            <mc:AlternateContent xmlns:mc="http://schemas.openxmlformats.org/markup-compatibility/2006">
              <mc:Choice xmlns:v="urn:schemas-microsoft-com:vml" Requires="v">
                <p:oleObj name="公式" r:id="rId5" imgW="2019240" imgH="533160" progId="Equation.3">
                  <p:embed/>
                </p:oleObj>
              </mc:Choice>
              <mc:Fallback>
                <p:oleObj name="公式" r:id="rId5" imgW="2019240" imgH="533160" progId="Equation.3">
                  <p:embed/>
                  <p:pic>
                    <p:nvPicPr>
                      <p:cNvPr id="0" name=""/>
                      <p:cNvPicPr>
                        <a:picLocks noGrp="1" noChangeAspect="1" noChangeArrowheads="1"/>
                      </p:cNvPicPr>
                      <p:nvPr/>
                    </p:nvPicPr>
                    <p:blipFill>
                      <a:blip r:embed="rId6"/>
                      <a:srcRect/>
                      <a:stretch>
                        <a:fillRect/>
                      </a:stretch>
                    </p:blipFill>
                    <p:spPr bwMode="auto">
                      <a:xfrm>
                        <a:off x="4355976" y="3573016"/>
                        <a:ext cx="3861628" cy="1019997"/>
                      </a:xfrm>
                      <a:prstGeom prst="rect">
                        <a:avLst/>
                      </a:prstGeom>
                      <a:noFill/>
                    </p:spPr>
                  </p:pic>
                </p:oleObj>
              </mc:Fallback>
            </mc:AlternateContent>
          </a:graphicData>
        </a:graphic>
      </p:graphicFrame>
      <p:sp>
        <p:nvSpPr>
          <p:cNvPr id="346114" name="Rectangle 2"/>
          <p:cNvSpPr>
            <a:spLocks noChangeArrowheads="1"/>
          </p:cNvSpPr>
          <p:nvPr/>
        </p:nvSpPr>
        <p:spPr bwMode="auto">
          <a:xfrm>
            <a:off x="685800" y="1447800"/>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en-US" altLang="zh-CN" sz="3200" b="1" dirty="0">
                <a:latin typeface="等线" panose="02010600030101010101" pitchFamily="2" charset="-122"/>
                <a:ea typeface="等线" panose="02010600030101010101" pitchFamily="2" charset="-122"/>
              </a:rPr>
              <a:t>3.3.7 </a:t>
            </a:r>
            <a:r>
              <a:rPr lang="zh-CN" altLang="en-US" sz="3200" b="1" dirty="0">
                <a:latin typeface="等线" panose="02010600030101010101" pitchFamily="2" charset="-122"/>
                <a:ea typeface="等线" panose="02010600030101010101" pitchFamily="2" charset="-122"/>
              </a:rPr>
              <a:t>運算器（算數邏輯單元 </a:t>
            </a:r>
            <a:r>
              <a:rPr lang="en-US" altLang="zh-CN" sz="3200" b="1" dirty="0">
                <a:latin typeface="等线" panose="02010600030101010101" pitchFamily="2" charset="-122"/>
                <a:ea typeface="等线" panose="02010600030101010101" pitchFamily="2" charset="-122"/>
              </a:rPr>
              <a:t>ALU</a:t>
            </a:r>
            <a:r>
              <a:rPr lang="zh-CN" altLang="en-US" sz="3200" b="1" dirty="0">
                <a:latin typeface="等线" panose="02010600030101010101" pitchFamily="2" charset="-122"/>
                <a:ea typeface="等线" panose="02010600030101010101" pitchFamily="2" charset="-122"/>
              </a:rPr>
              <a:t>）</a:t>
            </a:r>
          </a:p>
          <a:p>
            <a:pPr lvl="1">
              <a:spcBef>
                <a:spcPct val="20000"/>
              </a:spcBef>
              <a:buClr>
                <a:srgbClr val="FFFF00"/>
              </a:buClr>
            </a:pPr>
            <a:r>
              <a:rPr lang="zh-CN" altLang="en-US" sz="2400" b="1" dirty="0">
                <a:latin typeface="等线" panose="02010600030101010101" pitchFamily="2" charset="-122"/>
                <a:ea typeface="等线" panose="02010600030101010101" pitchFamily="2" charset="-122"/>
              </a:rPr>
              <a:t>加法器 </a:t>
            </a:r>
            <a:r>
              <a:rPr lang="en-US" altLang="zh-CN" sz="2400" b="1" dirty="0">
                <a:latin typeface="等线" panose="02010600030101010101" pitchFamily="2" charset="-122"/>
                <a:ea typeface="等线" panose="02010600030101010101" pitchFamily="2" charset="-122"/>
              </a:rPr>
              <a:t>Adder</a:t>
            </a:r>
            <a:endParaRPr lang="en-US" altLang="zh-CN" sz="2400" b="1" dirty="0">
              <a:solidFill>
                <a:srgbClr val="7030A0"/>
              </a:solidFill>
              <a:latin typeface="等线" panose="02010600030101010101" pitchFamily="2" charset="-122"/>
              <a:ea typeface="等线" panose="02010600030101010101" pitchFamily="2" charset="-122"/>
            </a:endParaRPr>
          </a:p>
          <a:p>
            <a:pPr lvl="2">
              <a:spcBef>
                <a:spcPct val="20000"/>
              </a:spcBef>
              <a:buClr>
                <a:srgbClr val="FFFF00"/>
              </a:buClr>
            </a:pPr>
            <a:r>
              <a:rPr lang="zh-CN" altLang="en-US" sz="2400" b="1" dirty="0">
                <a:latin typeface="等线" panose="02010600030101010101" pitchFamily="2" charset="-122"/>
                <a:ea typeface="等线" panose="02010600030101010101" pitchFamily="2" charset="-122"/>
              </a:rPr>
              <a:t>半加器 （</a:t>
            </a:r>
            <a:r>
              <a:rPr lang="en-US" altLang="zh-CN" sz="2400" b="1" dirty="0">
                <a:latin typeface="等线" panose="02010600030101010101" pitchFamily="2" charset="-122"/>
                <a:ea typeface="等线" panose="02010600030101010101" pitchFamily="2" charset="-122"/>
              </a:rPr>
              <a:t>Half Adder</a:t>
            </a:r>
            <a:r>
              <a:rPr lang="zh-CN" altLang="en-US" sz="2400" b="1" dirty="0">
                <a:latin typeface="等线" panose="02010600030101010101" pitchFamily="2" charset="-122"/>
                <a:ea typeface="等线" panose="02010600030101010101" pitchFamily="2" charset="-122"/>
              </a:rPr>
              <a:t>）：不考慮低位元進位元輸入和向高位的進位元輸出，兩數碼</a:t>
            </a:r>
            <a:r>
              <a:rPr lang="en-US" altLang="zh-CN" sz="2400" b="1" dirty="0" err="1">
                <a:latin typeface="等线" panose="02010600030101010101" pitchFamily="2" charset="-122"/>
                <a:ea typeface="等线" panose="02010600030101010101" pitchFamily="2" charset="-122"/>
              </a:rPr>
              <a:t>Xn</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Yn</a:t>
            </a:r>
            <a:r>
              <a:rPr lang="zh-CN" altLang="en-US" sz="2400" b="1" dirty="0">
                <a:latin typeface="等线" panose="02010600030101010101" pitchFamily="2" charset="-122"/>
                <a:ea typeface="等线" panose="02010600030101010101" pitchFamily="2" charset="-122"/>
              </a:rPr>
              <a:t>相加，稱半加 。</a:t>
            </a:r>
          </a:p>
        </p:txBody>
      </p:sp>
      <p:graphicFrame>
        <p:nvGraphicFramePr>
          <p:cNvPr id="346117" name="Group 5"/>
          <p:cNvGraphicFramePr>
            <a:graphicFrameLocks noGrp="1"/>
          </p:cNvGraphicFramePr>
          <p:nvPr>
            <p:extLst>
              <p:ext uri="{D42A27DB-BD31-4B8C-83A1-F6EECF244321}">
                <p14:modId xmlns:p14="http://schemas.microsoft.com/office/powerpoint/2010/main" val="1846247187"/>
              </p:ext>
            </p:extLst>
          </p:nvPr>
        </p:nvGraphicFramePr>
        <p:xfrm>
          <a:off x="762000" y="3951312"/>
          <a:ext cx="2832100" cy="2286000"/>
        </p:xfrm>
        <a:graphic>
          <a:graphicData uri="http://schemas.openxmlformats.org/drawingml/2006/table">
            <a:tbl>
              <a:tblPr/>
              <a:tblGrid>
                <a:gridCol w="944563">
                  <a:extLst>
                    <a:ext uri="{9D8B030D-6E8A-4147-A177-3AD203B41FA5}">
                      <a16:colId xmlns:a16="http://schemas.microsoft.com/office/drawing/2014/main" val="20000"/>
                    </a:ext>
                  </a:extLst>
                </a:gridCol>
                <a:gridCol w="942975">
                  <a:extLst>
                    <a:ext uri="{9D8B030D-6E8A-4147-A177-3AD203B41FA5}">
                      <a16:colId xmlns:a16="http://schemas.microsoft.com/office/drawing/2014/main" val="20001"/>
                    </a:ext>
                  </a:extLst>
                </a:gridCol>
                <a:gridCol w="944562">
                  <a:extLst>
                    <a:ext uri="{9D8B030D-6E8A-4147-A177-3AD203B41FA5}">
                      <a16:colId xmlns:a16="http://schemas.microsoft.com/office/drawing/2014/main" val="20002"/>
                    </a:ext>
                  </a:extLst>
                </a:gridCol>
              </a:tblGrid>
              <a:tr h="234950">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err="1">
                          <a:ln>
                            <a:noFill/>
                          </a:ln>
                          <a:solidFill>
                            <a:schemeClr val="tx1"/>
                          </a:solidFill>
                          <a:effectLst/>
                          <a:latin typeface="Tahoma" pitchFamily="34" charset="0"/>
                          <a:ea typeface="宋体" pitchFamily="2" charset="-122"/>
                        </a:rPr>
                        <a:t>Xn</a:t>
                      </a: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Yn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err="1">
                          <a:ln>
                            <a:noFill/>
                          </a:ln>
                          <a:solidFill>
                            <a:schemeClr val="tx1"/>
                          </a:solidFill>
                          <a:effectLst/>
                          <a:latin typeface="Tahoma" pitchFamily="34" charset="0"/>
                          <a:ea typeface="宋体" pitchFamily="2" charset="-122"/>
                        </a:rPr>
                        <a:t>Hn</a:t>
                      </a:r>
                      <a:endParaRPr kumimoji="0" lang="en-US" altLang="zh-CN" sz="2400" b="0" i="0" u="none" strike="noStrike" cap="none" normalizeH="0" baseline="0" dirty="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8763">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8763">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8763">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46144" name="Rectangle 32"/>
          <p:cNvSpPr>
            <a:spLocks noChangeArrowheads="1"/>
          </p:cNvSpPr>
          <p:nvPr/>
        </p:nvSpPr>
        <p:spPr bwMode="auto">
          <a:xfrm>
            <a:off x="914400" y="3312886"/>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latin typeface="等线" panose="02010600030101010101" pitchFamily="2" charset="-122"/>
                <a:ea typeface="等线" panose="02010600030101010101" pitchFamily="2" charset="-122"/>
              </a:rPr>
              <a:t>一位半加器功能表</a:t>
            </a:r>
          </a:p>
        </p:txBody>
      </p:sp>
    </p:spTree>
    <p:extLst>
      <p:ext uri="{BB962C8B-B14F-4D97-AF65-F5344CB8AC3E}">
        <p14:creationId xmlns:p14="http://schemas.microsoft.com/office/powerpoint/2010/main" val="9292507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61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461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346143"/>
                                        </p:tgtEl>
                                        <p:attrNameLst>
                                          <p:attrName>style.visibility</p:attrName>
                                        </p:attrNameLst>
                                      </p:cBhvr>
                                      <p:to>
                                        <p:strVal val="visible"/>
                                      </p:to>
                                    </p:set>
                                    <p:animEffect transition="in" filter="dissolve">
                                      <p:cBhvr>
                                        <p:cTn id="15" dur="500"/>
                                        <p:tgtEl>
                                          <p:spTgt spid="34614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346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44"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70" name="灯片编号占位符 5"/>
          <p:cNvSpPr>
            <a:spLocks noGrp="1"/>
          </p:cNvSpPr>
          <p:nvPr>
            <p:ph type="sldNum" sz="quarter" idx="12"/>
          </p:nvPr>
        </p:nvSpPr>
        <p:spPr/>
        <p:txBody>
          <a:bodyPr/>
          <a:lstStyle/>
          <a:p>
            <a:fld id="{47A07626-1771-48AB-A8A1-510E9C356D5A}" type="slidenum">
              <a:rPr lang="en-US" altLang="zh-CN"/>
              <a:pPr/>
              <a:t>5</a:t>
            </a:fld>
            <a:endParaRPr lang="en-US" altLang="zh-CN" dirty="0"/>
          </a:p>
        </p:txBody>
      </p:sp>
      <p:graphicFrame>
        <p:nvGraphicFramePr>
          <p:cNvPr id="348163" name="Group 3"/>
          <p:cNvGraphicFramePr>
            <a:graphicFrameLocks noGrp="1"/>
          </p:cNvGraphicFramePr>
          <p:nvPr>
            <p:extLst>
              <p:ext uri="{D42A27DB-BD31-4B8C-83A1-F6EECF244321}">
                <p14:modId xmlns:p14="http://schemas.microsoft.com/office/powerpoint/2010/main" val="2391806614"/>
              </p:ext>
            </p:extLst>
          </p:nvPr>
        </p:nvGraphicFramePr>
        <p:xfrm>
          <a:off x="2438400" y="3733800"/>
          <a:ext cx="3200400" cy="2944816"/>
        </p:xfrm>
        <a:graphic>
          <a:graphicData uri="http://schemas.openxmlformats.org/drawingml/2006/table">
            <a:tbl>
              <a:tblPr/>
              <a:tblGrid>
                <a:gridCol w="635000">
                  <a:extLst>
                    <a:ext uri="{9D8B030D-6E8A-4147-A177-3AD203B41FA5}">
                      <a16:colId xmlns:a16="http://schemas.microsoft.com/office/drawing/2014/main" val="20000"/>
                    </a:ext>
                  </a:extLst>
                </a:gridCol>
                <a:gridCol w="633413">
                  <a:extLst>
                    <a:ext uri="{9D8B030D-6E8A-4147-A177-3AD203B41FA5}">
                      <a16:colId xmlns:a16="http://schemas.microsoft.com/office/drawing/2014/main" val="20001"/>
                    </a:ext>
                  </a:extLst>
                </a:gridCol>
                <a:gridCol w="636587">
                  <a:extLst>
                    <a:ext uri="{9D8B030D-6E8A-4147-A177-3AD203B41FA5}">
                      <a16:colId xmlns:a16="http://schemas.microsoft.com/office/drawing/2014/main" val="20002"/>
                    </a:ext>
                  </a:extLst>
                </a:gridCol>
                <a:gridCol w="631825">
                  <a:extLst>
                    <a:ext uri="{9D8B030D-6E8A-4147-A177-3AD203B41FA5}">
                      <a16:colId xmlns:a16="http://schemas.microsoft.com/office/drawing/2014/main" val="20003"/>
                    </a:ext>
                  </a:extLst>
                </a:gridCol>
                <a:gridCol w="663575">
                  <a:extLst>
                    <a:ext uri="{9D8B030D-6E8A-4147-A177-3AD203B41FA5}">
                      <a16:colId xmlns:a16="http://schemas.microsoft.com/office/drawing/2014/main" val="20004"/>
                    </a:ext>
                  </a:extLst>
                </a:gridCol>
              </a:tblGrid>
              <a:tr h="381000">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err="1">
                          <a:ln>
                            <a:noFill/>
                          </a:ln>
                          <a:solidFill>
                            <a:schemeClr val="tx1"/>
                          </a:solidFill>
                          <a:effectLst/>
                          <a:latin typeface="Arial" pitchFamily="34" charset="0"/>
                          <a:ea typeface="宋体" pitchFamily="2" charset="-122"/>
                        </a:rPr>
                        <a:t>Xn</a:t>
                      </a:r>
                      <a:endParaRPr kumimoji="0" lang="en-US" altLang="zh-CN" sz="2400" b="0" i="0" u="none" strike="noStrike" cap="none" normalizeH="0" baseline="0" dirty="0">
                        <a:ln>
                          <a:noFill/>
                        </a:ln>
                        <a:solidFill>
                          <a:schemeClr val="tx1"/>
                        </a:solidFill>
                        <a:effectLst/>
                        <a:latin typeface="Arial" pitchFamily="34" charset="0"/>
                        <a:ea typeface="宋体" pitchFamily="2" charset="-122"/>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Yn</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C</a:t>
                      </a:r>
                      <a:r>
                        <a:rPr kumimoji="0" lang="en-US" altLang="zh-CN" sz="2400" b="0" i="0" u="none" strike="noStrike" cap="none" normalizeH="0" baseline="-30000" dirty="0">
                          <a:ln>
                            <a:noFill/>
                          </a:ln>
                          <a:solidFill>
                            <a:schemeClr val="tx1"/>
                          </a:solidFill>
                          <a:effectLst/>
                          <a:latin typeface="Arial" pitchFamily="34" charset="0"/>
                          <a:ea typeface="宋体" pitchFamily="2" charset="-122"/>
                        </a:rPr>
                        <a:t>n-1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err="1">
                          <a:ln>
                            <a:noFill/>
                          </a:ln>
                          <a:solidFill>
                            <a:schemeClr val="tx1"/>
                          </a:solidFill>
                          <a:effectLst/>
                          <a:latin typeface="Tahoma" pitchFamily="34" charset="0"/>
                          <a:ea typeface="宋体" pitchFamily="2" charset="-122"/>
                        </a:rPr>
                        <a:t>F</a:t>
                      </a:r>
                      <a:r>
                        <a:rPr kumimoji="0" lang="en-US" altLang="zh-CN" sz="2400" b="0" i="0" u="none" strike="noStrike" cap="none" normalizeH="0" baseline="-30000" dirty="0" err="1">
                          <a:ln>
                            <a:noFill/>
                          </a:ln>
                          <a:solidFill>
                            <a:schemeClr val="tx1"/>
                          </a:solidFill>
                          <a:effectLst/>
                          <a:latin typeface="Arial" pitchFamily="34" charset="0"/>
                          <a:ea typeface="宋体" pitchFamily="2" charset="-122"/>
                        </a:rPr>
                        <a:t>n</a:t>
                      </a:r>
                      <a:endParaRPr kumimoji="0" lang="en-US" altLang="zh-CN" sz="2400" b="0" i="0" u="none" strike="noStrike" cap="none" normalizeH="0" baseline="-30000" dirty="0">
                        <a:ln>
                          <a:noFill/>
                        </a:ln>
                        <a:solidFill>
                          <a:schemeClr val="tx1"/>
                        </a:solidFill>
                        <a:effectLst/>
                        <a:latin typeface="Arial" pitchFamily="34" charset="0"/>
                        <a:ea typeface="宋体" pitchFamily="2"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C</a:t>
                      </a:r>
                      <a:r>
                        <a:rPr kumimoji="0" lang="en-US" altLang="zh-CN" sz="2400" b="0" i="0" u="none" strike="noStrike" cap="none" normalizeH="0" baseline="-30000" dirty="0">
                          <a:ln>
                            <a:noFill/>
                          </a:ln>
                          <a:solidFill>
                            <a:schemeClr val="tx1"/>
                          </a:solidFill>
                          <a:effectLst/>
                          <a:latin typeface="Arial" pitchFamily="34" charset="0"/>
                          <a:ea typeface="宋体" pitchFamily="2" charset="-122"/>
                        </a:rPr>
                        <a:t>n</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713">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9088">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8">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4325">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000" b="0" i="0" u="none" strike="noStrike" cap="none" normalizeH="0" baseline="0" dirty="0">
                          <a:ln>
                            <a:noFill/>
                          </a:ln>
                          <a:solidFill>
                            <a:schemeClr val="tx1"/>
                          </a:solidFill>
                          <a:effectLst/>
                          <a:latin typeface="Tahoma" pitchFamily="34" charset="0"/>
                          <a:ea typeface="宋体" pitchFamily="2" charset="-122"/>
                        </a:rPr>
                        <a:t>1</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48225" name="Rectangle 65"/>
          <p:cNvSpPr>
            <a:spLocks noChangeArrowheads="1"/>
          </p:cNvSpPr>
          <p:nvPr/>
        </p:nvSpPr>
        <p:spPr bwMode="auto">
          <a:xfrm>
            <a:off x="685800" y="1447800"/>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en-US" altLang="zh-CN" sz="3200" b="1" dirty="0">
                <a:latin typeface="等线" panose="02010600030101010101" pitchFamily="2" charset="-122"/>
                <a:ea typeface="等线" panose="02010600030101010101" pitchFamily="2" charset="-122"/>
              </a:rPr>
              <a:t>3.3.7 </a:t>
            </a:r>
            <a:r>
              <a:rPr lang="zh-CN" altLang="en-US" sz="3200" b="1" dirty="0">
                <a:latin typeface="等线" panose="02010600030101010101" pitchFamily="2" charset="-122"/>
                <a:ea typeface="等线" panose="02010600030101010101" pitchFamily="2" charset="-122"/>
              </a:rPr>
              <a:t>運算器（算數邏輯單元 </a:t>
            </a:r>
            <a:r>
              <a:rPr lang="en-US" altLang="zh-CN" sz="3200" b="1" dirty="0">
                <a:latin typeface="等线" panose="02010600030101010101" pitchFamily="2" charset="-122"/>
                <a:ea typeface="等线" panose="02010600030101010101" pitchFamily="2" charset="-122"/>
              </a:rPr>
              <a:t>ALU</a:t>
            </a:r>
            <a:r>
              <a:rPr lang="zh-CN" altLang="en-US" sz="3200" b="1" dirty="0">
                <a:latin typeface="等线" panose="02010600030101010101" pitchFamily="2" charset="-122"/>
                <a:ea typeface="等线" panose="02010600030101010101" pitchFamily="2" charset="-122"/>
              </a:rPr>
              <a:t>）</a:t>
            </a:r>
          </a:p>
          <a:p>
            <a:pPr lvl="1">
              <a:spcBef>
                <a:spcPct val="20000"/>
              </a:spcBef>
              <a:buClr>
                <a:srgbClr val="FFFF00"/>
              </a:buClr>
            </a:pPr>
            <a:r>
              <a:rPr lang="zh-CN" altLang="en-US" sz="2400" b="1" dirty="0">
                <a:latin typeface="等线" panose="02010600030101010101" pitchFamily="2" charset="-122"/>
                <a:ea typeface="等线" panose="02010600030101010101" pitchFamily="2" charset="-122"/>
              </a:rPr>
              <a:t>加法器 </a:t>
            </a:r>
            <a:r>
              <a:rPr lang="en-US" altLang="zh-CN" sz="2400" b="1" dirty="0">
                <a:latin typeface="等线" panose="02010600030101010101" pitchFamily="2" charset="-122"/>
                <a:ea typeface="等线" panose="02010600030101010101" pitchFamily="2" charset="-122"/>
              </a:rPr>
              <a:t>Adder</a:t>
            </a:r>
          </a:p>
          <a:p>
            <a:pPr lvl="2">
              <a:spcBef>
                <a:spcPct val="20000"/>
              </a:spcBef>
              <a:buClr>
                <a:srgbClr val="FFFF00"/>
              </a:buClr>
            </a:pPr>
            <a:r>
              <a:rPr lang="zh-CN" altLang="en-US" sz="2400" b="1" dirty="0">
                <a:latin typeface="等线" panose="02010600030101010101" pitchFamily="2" charset="-122"/>
                <a:ea typeface="等线" panose="02010600030101010101" pitchFamily="2" charset="-122"/>
              </a:rPr>
              <a:t>全加器 （</a:t>
            </a:r>
            <a:r>
              <a:rPr lang="en-US" altLang="zh-CN" sz="2400" b="1" dirty="0">
                <a:latin typeface="等线" panose="02010600030101010101" pitchFamily="2" charset="-122"/>
                <a:ea typeface="等线" panose="02010600030101010101" pitchFamily="2" charset="-122"/>
              </a:rPr>
              <a:t>Adder</a:t>
            </a:r>
            <a:r>
              <a:rPr lang="zh-CN" altLang="en-US" sz="2400" b="1" dirty="0">
                <a:latin typeface="等线" panose="02010600030101010101" pitchFamily="2" charset="-122"/>
                <a:ea typeface="等线" panose="02010600030101010101" pitchFamily="2" charset="-122"/>
              </a:rPr>
              <a:t>）： 將</a:t>
            </a:r>
            <a:r>
              <a:rPr lang="en-US" altLang="zh-CN" sz="2400" b="1" dirty="0" err="1">
                <a:latin typeface="等线" panose="02010600030101010101" pitchFamily="2" charset="-122"/>
                <a:ea typeface="等线" panose="02010600030101010101" pitchFamily="2" charset="-122"/>
              </a:rPr>
              <a:t>Xn</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Yn</a:t>
            </a:r>
            <a:r>
              <a:rPr lang="zh-CN" altLang="en-US" sz="2400" b="1" dirty="0">
                <a:latin typeface="等线" panose="02010600030101010101" pitchFamily="2" charset="-122"/>
                <a:ea typeface="等线" panose="02010600030101010101" pitchFamily="2" charset="-122"/>
              </a:rPr>
              <a:t>及低位進位</a:t>
            </a:r>
            <a:r>
              <a:rPr lang="en-US" altLang="zh-CN" sz="2400" b="1" dirty="0">
                <a:latin typeface="等线" panose="02010600030101010101" pitchFamily="2" charset="-122"/>
                <a:ea typeface="等线" panose="02010600030101010101" pitchFamily="2" charset="-122"/>
              </a:rPr>
              <a:t>C</a:t>
            </a:r>
            <a:r>
              <a:rPr lang="en-US" altLang="zh-CN" sz="2400" b="1" baseline="-30000" dirty="0">
                <a:latin typeface="等线" panose="02010600030101010101" pitchFamily="2" charset="-122"/>
                <a:ea typeface="等线" panose="02010600030101010101" pitchFamily="2" charset="-122"/>
              </a:rPr>
              <a:t>n-1</a:t>
            </a:r>
            <a:r>
              <a:rPr lang="zh-CN" altLang="en-US" sz="2400" b="1" dirty="0">
                <a:latin typeface="等线" panose="02010600030101010101" pitchFamily="2" charset="-122"/>
                <a:ea typeface="等线" panose="02010600030101010101" pitchFamily="2" charset="-122"/>
              </a:rPr>
              <a:t>相加，並將進位輸出</a:t>
            </a:r>
            <a:r>
              <a:rPr lang="en-US" altLang="zh-CN" sz="2400" b="1" dirty="0">
                <a:latin typeface="等线" panose="02010600030101010101" pitchFamily="2" charset="-122"/>
                <a:ea typeface="等线" panose="02010600030101010101" pitchFamily="2" charset="-122"/>
              </a:rPr>
              <a:t>C</a:t>
            </a:r>
            <a:r>
              <a:rPr lang="en-US" altLang="zh-CN" sz="2400" b="1" baseline="-30000" dirty="0">
                <a:latin typeface="等线" panose="02010600030101010101" pitchFamily="2" charset="-122"/>
                <a:ea typeface="等线" panose="02010600030101010101" pitchFamily="2" charset="-122"/>
              </a:rPr>
              <a:t>n</a:t>
            </a:r>
            <a:r>
              <a:rPr lang="zh-CN" altLang="en-US" sz="2400" b="1" dirty="0">
                <a:latin typeface="等线" panose="02010600030101010101" pitchFamily="2" charset="-122"/>
                <a:ea typeface="等线" panose="02010600030101010101" pitchFamily="2" charset="-122"/>
              </a:rPr>
              <a:t>，稱全加 。</a:t>
            </a:r>
          </a:p>
        </p:txBody>
      </p:sp>
      <p:sp>
        <p:nvSpPr>
          <p:cNvPr id="348226" name="Rectangle 66"/>
          <p:cNvSpPr>
            <a:spLocks noChangeArrowheads="1"/>
          </p:cNvSpPr>
          <p:nvPr/>
        </p:nvSpPr>
        <p:spPr bwMode="auto">
          <a:xfrm>
            <a:off x="2819400" y="3276600"/>
            <a:ext cx="2635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latin typeface="等线" panose="02010600030101010101" pitchFamily="2" charset="-122"/>
                <a:ea typeface="等线" panose="02010600030101010101" pitchFamily="2" charset="-122"/>
              </a:rPr>
              <a:t>一位全加器功能表</a:t>
            </a:r>
          </a:p>
        </p:txBody>
      </p:sp>
      <p:sp>
        <p:nvSpPr>
          <p:cNvPr id="348227" name="Line 67"/>
          <p:cNvSpPr>
            <a:spLocks noChangeShapeType="1"/>
          </p:cNvSpPr>
          <p:nvPr/>
        </p:nvSpPr>
        <p:spPr bwMode="auto">
          <a:xfrm>
            <a:off x="4343400" y="3733800"/>
            <a:ext cx="0" cy="2971800"/>
          </a:xfrm>
          <a:prstGeom prst="line">
            <a:avLst/>
          </a:prstGeom>
          <a:ln>
            <a:solidFill>
              <a:srgbClr val="FF0000"/>
            </a:solidFill>
            <a:headEnd/>
            <a:tailEnd/>
          </a:ln>
        </p:spPr>
        <p:style>
          <a:lnRef idx="3">
            <a:schemeClr val="accent4"/>
          </a:lnRef>
          <a:fillRef idx="0">
            <a:schemeClr val="accent4"/>
          </a:fillRef>
          <a:effectRef idx="2">
            <a:schemeClr val="accent4"/>
          </a:effectRef>
          <a:fontRef idx="minor">
            <a:schemeClr val="tx1"/>
          </a:fontRef>
        </p:style>
        <p:txBody>
          <a:bodyPr wrap="none"/>
          <a:lstStyle/>
          <a:p>
            <a:endParaRPr lang="zh-CN" altLang="en-US"/>
          </a:p>
        </p:txBody>
      </p:sp>
    </p:spTree>
    <p:extLst>
      <p:ext uri="{BB962C8B-B14F-4D97-AF65-F5344CB8AC3E}">
        <p14:creationId xmlns:p14="http://schemas.microsoft.com/office/powerpoint/2010/main" val="2067749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8226"/>
                                        </p:tgtEl>
                                        <p:attrNameLst>
                                          <p:attrName>style.visibility</p:attrName>
                                        </p:attrNameLst>
                                      </p:cBhvr>
                                      <p:to>
                                        <p:strVal val="visible"/>
                                      </p:to>
                                    </p:set>
                                    <p:animEffect transition="in" filter="dissolve">
                                      <p:cBhvr>
                                        <p:cTn id="7" dur="500"/>
                                        <p:tgtEl>
                                          <p:spTgt spid="3482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48163"/>
                                        </p:tgtEl>
                                        <p:attrNameLst>
                                          <p:attrName>style.visibility</p:attrName>
                                        </p:attrNameLst>
                                      </p:cBhvr>
                                      <p:to>
                                        <p:strVal val="visible"/>
                                      </p:to>
                                    </p:set>
                                    <p:animEffect transition="in" filter="dissolve">
                                      <p:cBhvr>
                                        <p:cTn id="12" dur="500"/>
                                        <p:tgtEl>
                                          <p:spTgt spid="348163"/>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348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6" grpId="0" autoUpdateAnimBg="0"/>
      <p:bldP spid="3482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ChangeArrowheads="1"/>
          </p:cNvSpPr>
          <p:nvPr>
            <p:ph type="title"/>
          </p:nvPr>
        </p:nvSpPr>
        <p:spPr>
          <a:xfrm>
            <a:off x="531813" y="363538"/>
            <a:ext cx="8232775" cy="585787"/>
          </a:xfrm>
        </p:spPr>
        <p:txBody>
          <a:bodyPr>
            <a:normAutofit fontScale="90000"/>
          </a:bodyPr>
          <a:lstStyle/>
          <a:p>
            <a:r>
              <a:rPr lang="en-US" altLang="zh-CN" sz="3600" dirty="0"/>
              <a:t>3.3.7   </a:t>
            </a:r>
            <a:r>
              <a:rPr lang="zh-CN" altLang="en-US" sz="3600" dirty="0"/>
              <a:t>運算器</a:t>
            </a:r>
            <a:endParaRPr lang="en-US" altLang="zh-CN" sz="3600" dirty="0"/>
          </a:p>
        </p:txBody>
      </p:sp>
      <p:sp>
        <p:nvSpPr>
          <p:cNvPr id="86" name="灯片编号占位符 5"/>
          <p:cNvSpPr>
            <a:spLocks noGrp="1"/>
          </p:cNvSpPr>
          <p:nvPr>
            <p:ph type="sldNum" sz="quarter" idx="12"/>
          </p:nvPr>
        </p:nvSpPr>
        <p:spPr/>
        <p:txBody>
          <a:bodyPr/>
          <a:lstStyle/>
          <a:p>
            <a:fld id="{59810964-591C-4259-B59D-6D54B5EF615F}" type="slidenum">
              <a:rPr lang="en-US" altLang="zh-CN"/>
              <a:pPr/>
              <a:t>6</a:t>
            </a:fld>
            <a:endParaRPr lang="en-US" altLang="zh-CN" dirty="0"/>
          </a:p>
        </p:txBody>
      </p:sp>
      <p:grpSp>
        <p:nvGrpSpPr>
          <p:cNvPr id="2" name="Group 3"/>
          <p:cNvGrpSpPr>
            <a:grpSpLocks/>
          </p:cNvGrpSpPr>
          <p:nvPr/>
        </p:nvGrpSpPr>
        <p:grpSpPr bwMode="auto">
          <a:xfrm>
            <a:off x="1143000" y="2133600"/>
            <a:ext cx="2971800" cy="4471988"/>
            <a:chOff x="672" y="1248"/>
            <a:chExt cx="1872" cy="2817"/>
          </a:xfrm>
        </p:grpSpPr>
        <p:sp>
          <p:nvSpPr>
            <p:cNvPr id="349188" name="Text Box 4"/>
            <p:cNvSpPr txBox="1">
              <a:spLocks noChangeArrowheads="1"/>
            </p:cNvSpPr>
            <p:nvPr/>
          </p:nvSpPr>
          <p:spPr bwMode="auto">
            <a:xfrm>
              <a:off x="1200" y="1248"/>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latin typeface="等线" panose="02010600030101010101" pitchFamily="2" charset="-122"/>
                  <a:ea typeface="等线" panose="02010600030101010101" pitchFamily="2" charset="-122"/>
                </a:rPr>
                <a:t>真值表</a:t>
              </a:r>
            </a:p>
          </p:txBody>
        </p:sp>
        <p:sp>
          <p:nvSpPr>
            <p:cNvPr id="349189" name="Rectangle 5"/>
            <p:cNvSpPr>
              <a:spLocks noChangeArrowheads="1"/>
            </p:cNvSpPr>
            <p:nvPr/>
          </p:nvSpPr>
          <p:spPr bwMode="auto">
            <a:xfrm>
              <a:off x="2170" y="3816"/>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190" name="Rectangle 6"/>
            <p:cNvSpPr>
              <a:spLocks noChangeArrowheads="1"/>
            </p:cNvSpPr>
            <p:nvPr/>
          </p:nvSpPr>
          <p:spPr bwMode="auto">
            <a:xfrm>
              <a:off x="1776" y="3816"/>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191" name="Rectangle 7"/>
            <p:cNvSpPr>
              <a:spLocks noChangeArrowheads="1"/>
            </p:cNvSpPr>
            <p:nvPr/>
          </p:nvSpPr>
          <p:spPr bwMode="auto">
            <a:xfrm>
              <a:off x="1440" y="3816"/>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192" name="Rectangle 8"/>
            <p:cNvSpPr>
              <a:spLocks noChangeArrowheads="1"/>
            </p:cNvSpPr>
            <p:nvPr/>
          </p:nvSpPr>
          <p:spPr bwMode="auto">
            <a:xfrm>
              <a:off x="1046" y="3816"/>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193" name="Rectangle 9"/>
            <p:cNvSpPr>
              <a:spLocks noChangeArrowheads="1"/>
            </p:cNvSpPr>
            <p:nvPr/>
          </p:nvSpPr>
          <p:spPr bwMode="auto">
            <a:xfrm>
              <a:off x="672" y="3816"/>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194" name="Rectangle 10"/>
            <p:cNvSpPr>
              <a:spLocks noChangeArrowheads="1"/>
            </p:cNvSpPr>
            <p:nvPr/>
          </p:nvSpPr>
          <p:spPr bwMode="auto">
            <a:xfrm>
              <a:off x="2170" y="3567"/>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195" name="Rectangle 11"/>
            <p:cNvSpPr>
              <a:spLocks noChangeArrowheads="1"/>
            </p:cNvSpPr>
            <p:nvPr/>
          </p:nvSpPr>
          <p:spPr bwMode="auto">
            <a:xfrm>
              <a:off x="1776" y="3567"/>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196" name="Rectangle 12"/>
            <p:cNvSpPr>
              <a:spLocks noChangeArrowheads="1"/>
            </p:cNvSpPr>
            <p:nvPr/>
          </p:nvSpPr>
          <p:spPr bwMode="auto">
            <a:xfrm>
              <a:off x="1440" y="3567"/>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197" name="Rectangle 13"/>
            <p:cNvSpPr>
              <a:spLocks noChangeArrowheads="1"/>
            </p:cNvSpPr>
            <p:nvPr/>
          </p:nvSpPr>
          <p:spPr bwMode="auto">
            <a:xfrm>
              <a:off x="1046" y="3567"/>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198" name="Rectangle 14"/>
            <p:cNvSpPr>
              <a:spLocks noChangeArrowheads="1"/>
            </p:cNvSpPr>
            <p:nvPr/>
          </p:nvSpPr>
          <p:spPr bwMode="auto">
            <a:xfrm>
              <a:off x="672" y="3567"/>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199" name="Rectangle 15"/>
            <p:cNvSpPr>
              <a:spLocks noChangeArrowheads="1"/>
            </p:cNvSpPr>
            <p:nvPr/>
          </p:nvSpPr>
          <p:spPr bwMode="auto">
            <a:xfrm>
              <a:off x="2170" y="3318"/>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00" name="Rectangle 16"/>
            <p:cNvSpPr>
              <a:spLocks noChangeArrowheads="1"/>
            </p:cNvSpPr>
            <p:nvPr/>
          </p:nvSpPr>
          <p:spPr bwMode="auto">
            <a:xfrm>
              <a:off x="1776" y="3318"/>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01" name="Rectangle 17"/>
            <p:cNvSpPr>
              <a:spLocks noChangeArrowheads="1"/>
            </p:cNvSpPr>
            <p:nvPr/>
          </p:nvSpPr>
          <p:spPr bwMode="auto">
            <a:xfrm>
              <a:off x="1440" y="3318"/>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02" name="Rectangle 18"/>
            <p:cNvSpPr>
              <a:spLocks noChangeArrowheads="1"/>
            </p:cNvSpPr>
            <p:nvPr/>
          </p:nvSpPr>
          <p:spPr bwMode="auto">
            <a:xfrm>
              <a:off x="1046" y="3318"/>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03" name="Rectangle 19"/>
            <p:cNvSpPr>
              <a:spLocks noChangeArrowheads="1"/>
            </p:cNvSpPr>
            <p:nvPr/>
          </p:nvSpPr>
          <p:spPr bwMode="auto">
            <a:xfrm>
              <a:off x="672" y="3318"/>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04" name="Rectangle 20"/>
            <p:cNvSpPr>
              <a:spLocks noChangeArrowheads="1"/>
            </p:cNvSpPr>
            <p:nvPr/>
          </p:nvSpPr>
          <p:spPr bwMode="auto">
            <a:xfrm>
              <a:off x="2170" y="3069"/>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05" name="Rectangle 21"/>
            <p:cNvSpPr>
              <a:spLocks noChangeArrowheads="1"/>
            </p:cNvSpPr>
            <p:nvPr/>
          </p:nvSpPr>
          <p:spPr bwMode="auto">
            <a:xfrm>
              <a:off x="1776" y="3069"/>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06" name="Rectangle 22"/>
            <p:cNvSpPr>
              <a:spLocks noChangeArrowheads="1"/>
            </p:cNvSpPr>
            <p:nvPr/>
          </p:nvSpPr>
          <p:spPr bwMode="auto">
            <a:xfrm>
              <a:off x="1440" y="3069"/>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07" name="Rectangle 23"/>
            <p:cNvSpPr>
              <a:spLocks noChangeArrowheads="1"/>
            </p:cNvSpPr>
            <p:nvPr/>
          </p:nvSpPr>
          <p:spPr bwMode="auto">
            <a:xfrm>
              <a:off x="1046" y="3069"/>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08" name="Rectangle 24"/>
            <p:cNvSpPr>
              <a:spLocks noChangeArrowheads="1"/>
            </p:cNvSpPr>
            <p:nvPr/>
          </p:nvSpPr>
          <p:spPr bwMode="auto">
            <a:xfrm>
              <a:off x="672" y="3069"/>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09" name="Rectangle 25"/>
            <p:cNvSpPr>
              <a:spLocks noChangeArrowheads="1"/>
            </p:cNvSpPr>
            <p:nvPr/>
          </p:nvSpPr>
          <p:spPr bwMode="auto">
            <a:xfrm>
              <a:off x="2170" y="2820"/>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10" name="Rectangle 26"/>
            <p:cNvSpPr>
              <a:spLocks noChangeArrowheads="1"/>
            </p:cNvSpPr>
            <p:nvPr/>
          </p:nvSpPr>
          <p:spPr bwMode="auto">
            <a:xfrm>
              <a:off x="1776" y="2820"/>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11" name="Rectangle 27"/>
            <p:cNvSpPr>
              <a:spLocks noChangeArrowheads="1"/>
            </p:cNvSpPr>
            <p:nvPr/>
          </p:nvSpPr>
          <p:spPr bwMode="auto">
            <a:xfrm>
              <a:off x="1440" y="2820"/>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12" name="Rectangle 28"/>
            <p:cNvSpPr>
              <a:spLocks noChangeArrowheads="1"/>
            </p:cNvSpPr>
            <p:nvPr/>
          </p:nvSpPr>
          <p:spPr bwMode="auto">
            <a:xfrm>
              <a:off x="1046" y="2820"/>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13" name="Rectangle 29"/>
            <p:cNvSpPr>
              <a:spLocks noChangeArrowheads="1"/>
            </p:cNvSpPr>
            <p:nvPr/>
          </p:nvSpPr>
          <p:spPr bwMode="auto">
            <a:xfrm>
              <a:off x="672" y="2820"/>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14" name="Rectangle 30"/>
            <p:cNvSpPr>
              <a:spLocks noChangeArrowheads="1"/>
            </p:cNvSpPr>
            <p:nvPr/>
          </p:nvSpPr>
          <p:spPr bwMode="auto">
            <a:xfrm>
              <a:off x="2170" y="2571"/>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15" name="Rectangle 31"/>
            <p:cNvSpPr>
              <a:spLocks noChangeArrowheads="1"/>
            </p:cNvSpPr>
            <p:nvPr/>
          </p:nvSpPr>
          <p:spPr bwMode="auto">
            <a:xfrm>
              <a:off x="1776" y="2571"/>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16" name="Rectangle 32"/>
            <p:cNvSpPr>
              <a:spLocks noChangeArrowheads="1"/>
            </p:cNvSpPr>
            <p:nvPr/>
          </p:nvSpPr>
          <p:spPr bwMode="auto">
            <a:xfrm>
              <a:off x="1440" y="2571"/>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17" name="Rectangle 33"/>
            <p:cNvSpPr>
              <a:spLocks noChangeArrowheads="1"/>
            </p:cNvSpPr>
            <p:nvPr/>
          </p:nvSpPr>
          <p:spPr bwMode="auto">
            <a:xfrm>
              <a:off x="1046" y="2571"/>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18" name="Rectangle 34"/>
            <p:cNvSpPr>
              <a:spLocks noChangeArrowheads="1"/>
            </p:cNvSpPr>
            <p:nvPr/>
          </p:nvSpPr>
          <p:spPr bwMode="auto">
            <a:xfrm>
              <a:off x="672" y="2571"/>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19" name="Rectangle 35"/>
            <p:cNvSpPr>
              <a:spLocks noChangeArrowheads="1"/>
            </p:cNvSpPr>
            <p:nvPr/>
          </p:nvSpPr>
          <p:spPr bwMode="auto">
            <a:xfrm>
              <a:off x="2170" y="2322"/>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20" name="Rectangle 36"/>
            <p:cNvSpPr>
              <a:spLocks noChangeArrowheads="1"/>
            </p:cNvSpPr>
            <p:nvPr/>
          </p:nvSpPr>
          <p:spPr bwMode="auto">
            <a:xfrm>
              <a:off x="1776" y="2322"/>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21" name="Rectangle 37"/>
            <p:cNvSpPr>
              <a:spLocks noChangeArrowheads="1"/>
            </p:cNvSpPr>
            <p:nvPr/>
          </p:nvSpPr>
          <p:spPr bwMode="auto">
            <a:xfrm>
              <a:off x="1440" y="2322"/>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22" name="Rectangle 38"/>
            <p:cNvSpPr>
              <a:spLocks noChangeArrowheads="1"/>
            </p:cNvSpPr>
            <p:nvPr/>
          </p:nvSpPr>
          <p:spPr bwMode="auto">
            <a:xfrm>
              <a:off x="1046" y="2322"/>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23" name="Rectangle 39"/>
            <p:cNvSpPr>
              <a:spLocks noChangeArrowheads="1"/>
            </p:cNvSpPr>
            <p:nvPr/>
          </p:nvSpPr>
          <p:spPr bwMode="auto">
            <a:xfrm>
              <a:off x="672" y="2322"/>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1</a:t>
              </a:r>
            </a:p>
          </p:txBody>
        </p:sp>
        <p:sp>
          <p:nvSpPr>
            <p:cNvPr id="349224" name="Rectangle 40"/>
            <p:cNvSpPr>
              <a:spLocks noChangeArrowheads="1"/>
            </p:cNvSpPr>
            <p:nvPr/>
          </p:nvSpPr>
          <p:spPr bwMode="auto">
            <a:xfrm>
              <a:off x="2170" y="2073"/>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25" name="Rectangle 41"/>
            <p:cNvSpPr>
              <a:spLocks noChangeArrowheads="1"/>
            </p:cNvSpPr>
            <p:nvPr/>
          </p:nvSpPr>
          <p:spPr bwMode="auto">
            <a:xfrm>
              <a:off x="1776" y="2073"/>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26" name="Rectangle 42"/>
            <p:cNvSpPr>
              <a:spLocks noChangeArrowheads="1"/>
            </p:cNvSpPr>
            <p:nvPr/>
          </p:nvSpPr>
          <p:spPr bwMode="auto">
            <a:xfrm>
              <a:off x="1440" y="2073"/>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27" name="Rectangle 43"/>
            <p:cNvSpPr>
              <a:spLocks noChangeArrowheads="1"/>
            </p:cNvSpPr>
            <p:nvPr/>
          </p:nvSpPr>
          <p:spPr bwMode="auto">
            <a:xfrm>
              <a:off x="1046" y="2073"/>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28" name="Rectangle 44"/>
            <p:cNvSpPr>
              <a:spLocks noChangeArrowheads="1"/>
            </p:cNvSpPr>
            <p:nvPr/>
          </p:nvSpPr>
          <p:spPr bwMode="auto">
            <a:xfrm>
              <a:off x="672" y="2073"/>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latin typeface="等线" panose="02010600030101010101" pitchFamily="2" charset="-122"/>
                  <a:ea typeface="等线" panose="02010600030101010101" pitchFamily="2" charset="-122"/>
                </a:rPr>
                <a:t>0</a:t>
              </a:r>
            </a:p>
          </p:txBody>
        </p:sp>
        <p:sp>
          <p:nvSpPr>
            <p:cNvPr id="349229" name="Rectangle 45"/>
            <p:cNvSpPr>
              <a:spLocks noChangeArrowheads="1"/>
            </p:cNvSpPr>
            <p:nvPr/>
          </p:nvSpPr>
          <p:spPr bwMode="auto">
            <a:xfrm>
              <a:off x="2170" y="1632"/>
              <a:ext cx="374"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err="1">
                  <a:latin typeface="等线" panose="02010600030101010101" pitchFamily="2" charset="-122"/>
                  <a:ea typeface="等线" panose="02010600030101010101" pitchFamily="2" charset="-122"/>
                  <a:cs typeface="Times New Roman" pitchFamily="18" charset="0"/>
                </a:rPr>
                <a:t>C</a:t>
              </a:r>
              <a:r>
                <a:rPr lang="en-US" altLang="zh-CN" baseline="-30000" dirty="0" err="1">
                  <a:latin typeface="等线" panose="02010600030101010101" pitchFamily="2" charset="-122"/>
                  <a:ea typeface="等线" panose="02010600030101010101" pitchFamily="2" charset="-122"/>
                  <a:cs typeface="Times New Roman" pitchFamily="18" charset="0"/>
                </a:rPr>
                <a:t>n</a:t>
              </a:r>
              <a:endParaRPr lang="en-US" altLang="zh-CN" baseline="-30000" dirty="0">
                <a:latin typeface="等线" panose="02010600030101010101" pitchFamily="2" charset="-122"/>
                <a:ea typeface="等线" panose="02010600030101010101" pitchFamily="2" charset="-122"/>
                <a:cs typeface="Times New Roman" pitchFamily="18" charset="0"/>
              </a:endParaRPr>
            </a:p>
          </p:txBody>
        </p:sp>
        <p:sp>
          <p:nvSpPr>
            <p:cNvPr id="349230" name="Rectangle 46"/>
            <p:cNvSpPr>
              <a:spLocks noChangeArrowheads="1"/>
            </p:cNvSpPr>
            <p:nvPr/>
          </p:nvSpPr>
          <p:spPr bwMode="auto">
            <a:xfrm>
              <a:off x="1776" y="1632"/>
              <a:ext cx="394"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err="1">
                  <a:latin typeface="等线" panose="02010600030101010101" pitchFamily="2" charset="-122"/>
                  <a:ea typeface="等线" panose="02010600030101010101" pitchFamily="2" charset="-122"/>
                  <a:cs typeface="Times New Roman" pitchFamily="18" charset="0"/>
                </a:rPr>
                <a:t>F</a:t>
              </a:r>
              <a:r>
                <a:rPr lang="en-US" altLang="zh-CN" baseline="-30000" dirty="0" err="1">
                  <a:latin typeface="等线" panose="02010600030101010101" pitchFamily="2" charset="-122"/>
                  <a:ea typeface="等线" panose="02010600030101010101" pitchFamily="2" charset="-122"/>
                  <a:cs typeface="Times New Roman" pitchFamily="18" charset="0"/>
                </a:rPr>
                <a:t>n</a:t>
              </a:r>
              <a:endParaRPr lang="en-US" altLang="zh-CN" baseline="-30000" dirty="0">
                <a:latin typeface="等线" panose="02010600030101010101" pitchFamily="2" charset="-122"/>
                <a:ea typeface="等线" panose="02010600030101010101" pitchFamily="2" charset="-122"/>
                <a:cs typeface="Times New Roman" pitchFamily="18" charset="0"/>
              </a:endParaRPr>
            </a:p>
          </p:txBody>
        </p:sp>
        <p:sp>
          <p:nvSpPr>
            <p:cNvPr id="349231" name="Rectangle 47"/>
            <p:cNvSpPr>
              <a:spLocks noChangeArrowheads="1"/>
            </p:cNvSpPr>
            <p:nvPr/>
          </p:nvSpPr>
          <p:spPr bwMode="auto">
            <a:xfrm>
              <a:off x="1440" y="1632"/>
              <a:ext cx="336"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sz="1600" dirty="0">
                  <a:latin typeface="等线" panose="02010600030101010101" pitchFamily="2" charset="-122"/>
                  <a:ea typeface="等线" panose="02010600030101010101" pitchFamily="2" charset="-122"/>
                  <a:cs typeface="Times New Roman" pitchFamily="18" charset="0"/>
                </a:rPr>
                <a:t>C</a:t>
              </a:r>
              <a:r>
                <a:rPr lang="en-US" altLang="zh-CN" sz="1600" baseline="-30000" dirty="0">
                  <a:latin typeface="等线" panose="02010600030101010101" pitchFamily="2" charset="-122"/>
                  <a:ea typeface="等线" panose="02010600030101010101" pitchFamily="2" charset="-122"/>
                  <a:cs typeface="Times New Roman" pitchFamily="18" charset="0"/>
                </a:rPr>
                <a:t>n-1</a:t>
              </a:r>
              <a:r>
                <a:rPr lang="en-US" altLang="zh-CN" dirty="0">
                  <a:latin typeface="等线" panose="02010600030101010101" pitchFamily="2" charset="-122"/>
                  <a:ea typeface="等线" panose="02010600030101010101" pitchFamily="2" charset="-122"/>
                </a:rPr>
                <a:t> </a:t>
              </a:r>
            </a:p>
          </p:txBody>
        </p:sp>
        <p:sp>
          <p:nvSpPr>
            <p:cNvPr id="349232" name="Rectangle 48"/>
            <p:cNvSpPr>
              <a:spLocks noChangeArrowheads="1"/>
            </p:cNvSpPr>
            <p:nvPr/>
          </p:nvSpPr>
          <p:spPr bwMode="auto">
            <a:xfrm>
              <a:off x="1046" y="1632"/>
              <a:ext cx="394"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err="1">
                  <a:latin typeface="等线" panose="02010600030101010101" pitchFamily="2" charset="-122"/>
                  <a:ea typeface="等线" panose="02010600030101010101" pitchFamily="2" charset="-122"/>
                  <a:cs typeface="Times New Roman" pitchFamily="18" charset="0"/>
                </a:rPr>
                <a:t>Y</a:t>
              </a:r>
              <a:r>
                <a:rPr lang="en-US" altLang="zh-CN" baseline="-30000" dirty="0" err="1">
                  <a:latin typeface="等线" panose="02010600030101010101" pitchFamily="2" charset="-122"/>
                  <a:ea typeface="等线" panose="02010600030101010101" pitchFamily="2" charset="-122"/>
                  <a:cs typeface="Times New Roman" pitchFamily="18" charset="0"/>
                </a:rPr>
                <a:t>n</a:t>
              </a:r>
              <a:r>
                <a:rPr lang="en-US" altLang="zh-CN" dirty="0">
                  <a:latin typeface="等线" panose="02010600030101010101" pitchFamily="2" charset="-122"/>
                  <a:ea typeface="等线" panose="02010600030101010101" pitchFamily="2" charset="-122"/>
                </a:rPr>
                <a:t> </a:t>
              </a:r>
            </a:p>
          </p:txBody>
        </p:sp>
        <p:sp>
          <p:nvSpPr>
            <p:cNvPr id="349233" name="Rectangle 49"/>
            <p:cNvSpPr>
              <a:spLocks noChangeArrowheads="1"/>
            </p:cNvSpPr>
            <p:nvPr/>
          </p:nvSpPr>
          <p:spPr bwMode="auto">
            <a:xfrm>
              <a:off x="672" y="1632"/>
              <a:ext cx="374"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err="1">
                  <a:latin typeface="等线" panose="02010600030101010101" pitchFamily="2" charset="-122"/>
                  <a:ea typeface="等线" panose="02010600030101010101" pitchFamily="2" charset="-122"/>
                  <a:cs typeface="Times New Roman" pitchFamily="18" charset="0"/>
                </a:rPr>
                <a:t>X</a:t>
              </a:r>
              <a:r>
                <a:rPr lang="en-US" altLang="zh-CN" baseline="-30000" dirty="0" err="1">
                  <a:latin typeface="等线" panose="02010600030101010101" pitchFamily="2" charset="-122"/>
                  <a:ea typeface="等线" panose="02010600030101010101" pitchFamily="2" charset="-122"/>
                  <a:cs typeface="Times New Roman" pitchFamily="18" charset="0"/>
                </a:rPr>
                <a:t>n</a:t>
              </a:r>
              <a:r>
                <a:rPr lang="en-US" altLang="zh-CN" dirty="0">
                  <a:latin typeface="等线" panose="02010600030101010101" pitchFamily="2" charset="-122"/>
                  <a:ea typeface="等线" panose="02010600030101010101" pitchFamily="2" charset="-122"/>
                </a:rPr>
                <a:t> </a:t>
              </a:r>
            </a:p>
          </p:txBody>
        </p:sp>
        <p:sp>
          <p:nvSpPr>
            <p:cNvPr id="349234" name="Line 50"/>
            <p:cNvSpPr>
              <a:spLocks noChangeShapeType="1"/>
            </p:cNvSpPr>
            <p:nvPr/>
          </p:nvSpPr>
          <p:spPr bwMode="auto">
            <a:xfrm>
              <a:off x="672" y="1632"/>
              <a:ext cx="187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effectLst>
                  <a:outerShdw blurRad="38100" dist="38100" dir="2700000" algn="tl">
                    <a:srgbClr val="000000">
                      <a:alpha val="43137"/>
                    </a:srgbClr>
                  </a:outerShdw>
                </a:effectLst>
                <a:latin typeface="等线" panose="02010600030101010101" pitchFamily="2" charset="-122"/>
                <a:ea typeface="等线" panose="02010600030101010101" pitchFamily="2" charset="-122"/>
              </a:endParaRPr>
            </a:p>
          </p:txBody>
        </p:sp>
        <p:sp>
          <p:nvSpPr>
            <p:cNvPr id="349235" name="Line 51"/>
            <p:cNvSpPr>
              <a:spLocks noChangeShapeType="1"/>
            </p:cNvSpPr>
            <p:nvPr/>
          </p:nvSpPr>
          <p:spPr bwMode="auto">
            <a:xfrm>
              <a:off x="672" y="2073"/>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36" name="Line 52"/>
            <p:cNvSpPr>
              <a:spLocks noChangeShapeType="1"/>
            </p:cNvSpPr>
            <p:nvPr/>
          </p:nvSpPr>
          <p:spPr bwMode="auto">
            <a:xfrm>
              <a:off x="672" y="2322"/>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37" name="Line 53"/>
            <p:cNvSpPr>
              <a:spLocks noChangeShapeType="1"/>
            </p:cNvSpPr>
            <p:nvPr/>
          </p:nvSpPr>
          <p:spPr bwMode="auto">
            <a:xfrm>
              <a:off x="672" y="2571"/>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38" name="Line 54"/>
            <p:cNvSpPr>
              <a:spLocks noChangeShapeType="1"/>
            </p:cNvSpPr>
            <p:nvPr/>
          </p:nvSpPr>
          <p:spPr bwMode="auto">
            <a:xfrm>
              <a:off x="672" y="2820"/>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39" name="Line 55"/>
            <p:cNvSpPr>
              <a:spLocks noChangeShapeType="1"/>
            </p:cNvSpPr>
            <p:nvPr/>
          </p:nvSpPr>
          <p:spPr bwMode="auto">
            <a:xfrm>
              <a:off x="672" y="3069"/>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0" name="Line 56"/>
            <p:cNvSpPr>
              <a:spLocks noChangeShapeType="1"/>
            </p:cNvSpPr>
            <p:nvPr/>
          </p:nvSpPr>
          <p:spPr bwMode="auto">
            <a:xfrm>
              <a:off x="672" y="3318"/>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1" name="Line 57"/>
            <p:cNvSpPr>
              <a:spLocks noChangeShapeType="1"/>
            </p:cNvSpPr>
            <p:nvPr/>
          </p:nvSpPr>
          <p:spPr bwMode="auto">
            <a:xfrm>
              <a:off x="672" y="3567"/>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2" name="Line 58"/>
            <p:cNvSpPr>
              <a:spLocks noChangeShapeType="1"/>
            </p:cNvSpPr>
            <p:nvPr/>
          </p:nvSpPr>
          <p:spPr bwMode="auto">
            <a:xfrm>
              <a:off x="672" y="3816"/>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3" name="Line 59"/>
            <p:cNvSpPr>
              <a:spLocks noChangeShapeType="1"/>
            </p:cNvSpPr>
            <p:nvPr/>
          </p:nvSpPr>
          <p:spPr bwMode="auto">
            <a:xfrm>
              <a:off x="672" y="4065"/>
              <a:ext cx="187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4" name="Line 60"/>
            <p:cNvSpPr>
              <a:spLocks noChangeShapeType="1"/>
            </p:cNvSpPr>
            <p:nvPr/>
          </p:nvSpPr>
          <p:spPr bwMode="auto">
            <a:xfrm>
              <a:off x="672" y="1632"/>
              <a:ext cx="0" cy="243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5" name="Line 61"/>
            <p:cNvSpPr>
              <a:spLocks noChangeShapeType="1"/>
            </p:cNvSpPr>
            <p:nvPr/>
          </p:nvSpPr>
          <p:spPr bwMode="auto">
            <a:xfrm>
              <a:off x="1046" y="1632"/>
              <a:ext cx="0" cy="24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6" name="Line 62"/>
            <p:cNvSpPr>
              <a:spLocks noChangeShapeType="1"/>
            </p:cNvSpPr>
            <p:nvPr/>
          </p:nvSpPr>
          <p:spPr bwMode="auto">
            <a:xfrm>
              <a:off x="1440" y="1632"/>
              <a:ext cx="0" cy="24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7" name="Line 63"/>
            <p:cNvSpPr>
              <a:spLocks noChangeShapeType="1"/>
            </p:cNvSpPr>
            <p:nvPr/>
          </p:nvSpPr>
          <p:spPr bwMode="auto">
            <a:xfrm>
              <a:off x="1776" y="1632"/>
              <a:ext cx="0" cy="2433"/>
            </a:xfrm>
            <a:prstGeom prst="line">
              <a:avLst/>
            </a:prstGeom>
            <a:noFill/>
            <a:ln w="412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8" name="Line 64"/>
            <p:cNvSpPr>
              <a:spLocks noChangeShapeType="1"/>
            </p:cNvSpPr>
            <p:nvPr/>
          </p:nvSpPr>
          <p:spPr bwMode="auto">
            <a:xfrm>
              <a:off x="2170" y="1632"/>
              <a:ext cx="0" cy="24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49" name="Line 65"/>
            <p:cNvSpPr>
              <a:spLocks noChangeShapeType="1"/>
            </p:cNvSpPr>
            <p:nvPr/>
          </p:nvSpPr>
          <p:spPr bwMode="auto">
            <a:xfrm>
              <a:off x="2544" y="1632"/>
              <a:ext cx="0" cy="243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grpSp>
      <p:grpSp>
        <p:nvGrpSpPr>
          <p:cNvPr id="3" name="Group 66"/>
          <p:cNvGrpSpPr>
            <a:grpSpLocks/>
          </p:cNvGrpSpPr>
          <p:nvPr/>
        </p:nvGrpSpPr>
        <p:grpSpPr bwMode="auto">
          <a:xfrm>
            <a:off x="4800599" y="2438400"/>
            <a:ext cx="3542622" cy="4058629"/>
            <a:chOff x="3163" y="1248"/>
            <a:chExt cx="2428" cy="2931"/>
          </a:xfrm>
        </p:grpSpPr>
        <p:sp>
          <p:nvSpPr>
            <p:cNvPr id="349251" name="Text Box 67"/>
            <p:cNvSpPr txBox="1">
              <a:spLocks noChangeArrowheads="1"/>
            </p:cNvSpPr>
            <p:nvPr/>
          </p:nvSpPr>
          <p:spPr bwMode="auto">
            <a:xfrm>
              <a:off x="3840" y="1248"/>
              <a:ext cx="720" cy="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latin typeface="等线" panose="02010600030101010101" pitchFamily="2" charset="-122"/>
                  <a:ea typeface="等线" panose="02010600030101010101" pitchFamily="2" charset="-122"/>
                </a:rPr>
                <a:t>框圖</a:t>
              </a:r>
            </a:p>
          </p:txBody>
        </p:sp>
        <p:sp>
          <p:nvSpPr>
            <p:cNvPr id="349252" name="Rectangle 68"/>
            <p:cNvSpPr>
              <a:spLocks noChangeArrowheads="1"/>
            </p:cNvSpPr>
            <p:nvPr/>
          </p:nvSpPr>
          <p:spPr bwMode="auto">
            <a:xfrm>
              <a:off x="3408" y="2208"/>
              <a:ext cx="1584" cy="100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等线" panose="02010600030101010101" pitchFamily="2" charset="-122"/>
                <a:ea typeface="等线" panose="02010600030101010101" pitchFamily="2" charset="-122"/>
              </a:endParaRPr>
            </a:p>
          </p:txBody>
        </p:sp>
        <p:sp>
          <p:nvSpPr>
            <p:cNvPr id="349253" name="Line 69"/>
            <p:cNvSpPr>
              <a:spLocks noChangeShapeType="1"/>
            </p:cNvSpPr>
            <p:nvPr/>
          </p:nvSpPr>
          <p:spPr bwMode="auto">
            <a:xfrm flipV="1">
              <a:off x="3696" y="1872"/>
              <a:ext cx="0"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54" name="Line 70"/>
            <p:cNvSpPr>
              <a:spLocks noChangeShapeType="1"/>
            </p:cNvSpPr>
            <p:nvPr/>
          </p:nvSpPr>
          <p:spPr bwMode="auto">
            <a:xfrm flipH="1">
              <a:off x="3408" y="1872"/>
              <a:ext cx="28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55" name="Line 71"/>
            <p:cNvSpPr>
              <a:spLocks noChangeShapeType="1"/>
            </p:cNvSpPr>
            <p:nvPr/>
          </p:nvSpPr>
          <p:spPr bwMode="auto">
            <a:xfrm flipV="1">
              <a:off x="4512" y="1824"/>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56" name="Line 72"/>
            <p:cNvSpPr>
              <a:spLocks noChangeShapeType="1"/>
            </p:cNvSpPr>
            <p:nvPr/>
          </p:nvSpPr>
          <p:spPr bwMode="auto">
            <a:xfrm flipV="1">
              <a:off x="3744" y="3216"/>
              <a:ext cx="0" cy="62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57" name="Line 73"/>
            <p:cNvSpPr>
              <a:spLocks noChangeShapeType="1"/>
            </p:cNvSpPr>
            <p:nvPr/>
          </p:nvSpPr>
          <p:spPr bwMode="auto">
            <a:xfrm flipV="1">
              <a:off x="4224" y="3216"/>
              <a:ext cx="0" cy="62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58" name="Line 74"/>
            <p:cNvSpPr>
              <a:spLocks noChangeShapeType="1"/>
            </p:cNvSpPr>
            <p:nvPr/>
          </p:nvSpPr>
          <p:spPr bwMode="auto">
            <a:xfrm>
              <a:off x="4656" y="3648"/>
              <a:ext cx="62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59" name="Line 75"/>
            <p:cNvSpPr>
              <a:spLocks noChangeShapeType="1"/>
            </p:cNvSpPr>
            <p:nvPr/>
          </p:nvSpPr>
          <p:spPr bwMode="auto">
            <a:xfrm flipV="1">
              <a:off x="4656" y="3216"/>
              <a:ext cx="0" cy="43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349260" name="Rectangle 76"/>
            <p:cNvSpPr>
              <a:spLocks noChangeArrowheads="1"/>
            </p:cNvSpPr>
            <p:nvPr/>
          </p:nvSpPr>
          <p:spPr bwMode="auto">
            <a:xfrm>
              <a:off x="3163" y="1680"/>
              <a:ext cx="380"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hlink"/>
                </a:buClr>
                <a:buSzPct val="70000"/>
                <a:buFont typeface="Wingdings" pitchFamily="2" charset="2"/>
                <a:buNone/>
              </a:pPr>
              <a:r>
                <a:rPr lang="en-US" altLang="zh-CN" sz="2800" dirty="0" err="1">
                  <a:latin typeface="等线" panose="02010600030101010101" pitchFamily="2" charset="-122"/>
                  <a:ea typeface="等线" panose="02010600030101010101" pitchFamily="2" charset="-122"/>
                  <a:cs typeface="Times New Roman" pitchFamily="18" charset="0"/>
                </a:rPr>
                <a:t>C</a:t>
              </a:r>
              <a:r>
                <a:rPr lang="en-US" altLang="zh-CN" sz="2800" baseline="-30000" dirty="0" err="1">
                  <a:latin typeface="等线" panose="02010600030101010101" pitchFamily="2" charset="-122"/>
                  <a:ea typeface="等线" panose="02010600030101010101" pitchFamily="2" charset="-122"/>
                  <a:cs typeface="Times New Roman" pitchFamily="18" charset="0"/>
                </a:rPr>
                <a:t>n</a:t>
              </a:r>
              <a:endParaRPr lang="en-US" altLang="zh-CN" sz="2800" baseline="-30000" dirty="0">
                <a:latin typeface="等线" panose="02010600030101010101" pitchFamily="2" charset="-122"/>
                <a:ea typeface="等线" panose="02010600030101010101" pitchFamily="2" charset="-122"/>
                <a:cs typeface="Times New Roman" pitchFamily="18" charset="0"/>
              </a:endParaRPr>
            </a:p>
          </p:txBody>
        </p:sp>
        <p:sp>
          <p:nvSpPr>
            <p:cNvPr id="349261" name="Rectangle 77"/>
            <p:cNvSpPr>
              <a:spLocks noChangeArrowheads="1"/>
            </p:cNvSpPr>
            <p:nvPr/>
          </p:nvSpPr>
          <p:spPr bwMode="auto">
            <a:xfrm>
              <a:off x="4387" y="1439"/>
              <a:ext cx="334"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err="1">
                  <a:latin typeface="等线" panose="02010600030101010101" pitchFamily="2" charset="-122"/>
                  <a:ea typeface="等线" panose="02010600030101010101" pitchFamily="2" charset="-122"/>
                  <a:cs typeface="Times New Roman" pitchFamily="18" charset="0"/>
                </a:rPr>
                <a:t>F</a:t>
              </a:r>
              <a:r>
                <a:rPr lang="en-US" altLang="zh-CN" sz="2800" baseline="-30000" dirty="0" err="1">
                  <a:latin typeface="等线" panose="02010600030101010101" pitchFamily="2" charset="-122"/>
                  <a:ea typeface="等线" panose="02010600030101010101" pitchFamily="2" charset="-122"/>
                  <a:cs typeface="Times New Roman" pitchFamily="18" charset="0"/>
                </a:rPr>
                <a:t>n</a:t>
              </a:r>
              <a:endParaRPr lang="en-US" altLang="zh-CN" sz="2800" baseline="-30000" dirty="0">
                <a:latin typeface="等线" panose="02010600030101010101" pitchFamily="2" charset="-122"/>
                <a:ea typeface="等线" panose="02010600030101010101" pitchFamily="2" charset="-122"/>
                <a:cs typeface="Times New Roman" pitchFamily="18" charset="0"/>
              </a:endParaRPr>
            </a:p>
          </p:txBody>
        </p:sp>
        <p:sp>
          <p:nvSpPr>
            <p:cNvPr id="349262" name="Rectangle 78"/>
            <p:cNvSpPr>
              <a:spLocks noChangeArrowheads="1"/>
            </p:cNvSpPr>
            <p:nvPr/>
          </p:nvSpPr>
          <p:spPr bwMode="auto">
            <a:xfrm>
              <a:off x="3582" y="3801"/>
              <a:ext cx="361"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err="1">
                  <a:latin typeface="等线" panose="02010600030101010101" pitchFamily="2" charset="-122"/>
                  <a:ea typeface="等线" panose="02010600030101010101" pitchFamily="2" charset="-122"/>
                  <a:cs typeface="Times New Roman" pitchFamily="18" charset="0"/>
                </a:rPr>
                <a:t>X</a:t>
              </a:r>
              <a:r>
                <a:rPr lang="en-US" altLang="zh-CN" sz="2800" baseline="-30000" dirty="0" err="1">
                  <a:latin typeface="等线" panose="02010600030101010101" pitchFamily="2" charset="-122"/>
                  <a:ea typeface="等线" panose="02010600030101010101" pitchFamily="2" charset="-122"/>
                  <a:cs typeface="Times New Roman" pitchFamily="18" charset="0"/>
                </a:rPr>
                <a:t>n</a:t>
              </a:r>
              <a:endParaRPr lang="en-US" altLang="zh-CN" sz="2800" baseline="-30000" dirty="0">
                <a:latin typeface="等线" panose="02010600030101010101" pitchFamily="2" charset="-122"/>
                <a:ea typeface="等线" panose="02010600030101010101" pitchFamily="2" charset="-122"/>
                <a:cs typeface="Times New Roman" pitchFamily="18" charset="0"/>
              </a:endParaRPr>
            </a:p>
          </p:txBody>
        </p:sp>
        <p:sp>
          <p:nvSpPr>
            <p:cNvPr id="349263" name="Rectangle 79"/>
            <p:cNvSpPr>
              <a:spLocks noChangeArrowheads="1"/>
            </p:cNvSpPr>
            <p:nvPr/>
          </p:nvSpPr>
          <p:spPr bwMode="auto">
            <a:xfrm>
              <a:off x="4080" y="3801"/>
              <a:ext cx="351"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err="1">
                  <a:latin typeface="等线" panose="02010600030101010101" pitchFamily="2" charset="-122"/>
                  <a:ea typeface="等线" panose="02010600030101010101" pitchFamily="2" charset="-122"/>
                  <a:cs typeface="Times New Roman" pitchFamily="18" charset="0"/>
                </a:rPr>
                <a:t>Y</a:t>
              </a:r>
              <a:r>
                <a:rPr lang="en-US" altLang="zh-CN" sz="2800" baseline="-30000" dirty="0" err="1">
                  <a:latin typeface="等线" panose="02010600030101010101" pitchFamily="2" charset="-122"/>
                  <a:ea typeface="等线" panose="02010600030101010101" pitchFamily="2" charset="-122"/>
                  <a:cs typeface="Times New Roman" pitchFamily="18" charset="0"/>
                </a:rPr>
                <a:t>n</a:t>
              </a:r>
              <a:endParaRPr lang="en-US" altLang="zh-CN" sz="2800" baseline="-30000" dirty="0">
                <a:latin typeface="等线" panose="02010600030101010101" pitchFamily="2" charset="-122"/>
                <a:ea typeface="等线" panose="02010600030101010101" pitchFamily="2" charset="-122"/>
                <a:cs typeface="Times New Roman" pitchFamily="18" charset="0"/>
              </a:endParaRPr>
            </a:p>
          </p:txBody>
        </p:sp>
        <p:sp>
          <p:nvSpPr>
            <p:cNvPr id="349264" name="Rectangle 80"/>
            <p:cNvSpPr>
              <a:spLocks noChangeArrowheads="1"/>
            </p:cNvSpPr>
            <p:nvPr/>
          </p:nvSpPr>
          <p:spPr bwMode="auto">
            <a:xfrm>
              <a:off x="5052" y="3648"/>
              <a:ext cx="539" cy="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latin typeface="等线" panose="02010600030101010101" pitchFamily="2" charset="-122"/>
                  <a:ea typeface="等线" panose="02010600030101010101" pitchFamily="2" charset="-122"/>
                  <a:cs typeface="Times New Roman" pitchFamily="18" charset="0"/>
                </a:rPr>
                <a:t>C</a:t>
              </a:r>
              <a:r>
                <a:rPr lang="en-US" altLang="zh-CN" sz="2800" baseline="-30000" dirty="0">
                  <a:latin typeface="等线" panose="02010600030101010101" pitchFamily="2" charset="-122"/>
                  <a:ea typeface="等线" panose="02010600030101010101" pitchFamily="2" charset="-122"/>
                  <a:cs typeface="Times New Roman" pitchFamily="18" charset="0"/>
                </a:rPr>
                <a:t>n-1</a:t>
              </a:r>
            </a:p>
          </p:txBody>
        </p:sp>
        <p:sp>
          <p:nvSpPr>
            <p:cNvPr id="349265" name="Text Box 81"/>
            <p:cNvSpPr txBox="1">
              <a:spLocks noChangeArrowheads="1"/>
            </p:cNvSpPr>
            <p:nvPr/>
          </p:nvSpPr>
          <p:spPr bwMode="auto">
            <a:xfrm>
              <a:off x="3888" y="2400"/>
              <a:ext cx="672" cy="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4800" b="1" dirty="0">
                  <a:latin typeface="等线" panose="02010600030101010101" pitchFamily="2" charset="-122"/>
                  <a:ea typeface="等线" panose="02010600030101010101" pitchFamily="2" charset="-122"/>
                </a:rPr>
                <a:t>∑</a:t>
              </a:r>
            </a:p>
          </p:txBody>
        </p:sp>
      </p:grpSp>
      <p:sp>
        <p:nvSpPr>
          <p:cNvPr id="349266" name="Text Box 82"/>
          <p:cNvSpPr txBox="1">
            <a:spLocks noChangeArrowheads="1"/>
          </p:cNvSpPr>
          <p:nvPr/>
        </p:nvSpPr>
        <p:spPr bwMode="auto">
          <a:xfrm>
            <a:off x="7524750" y="2060575"/>
            <a:ext cx="122396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等线" panose="02010600030101010101" pitchFamily="2" charset="-122"/>
                <a:ea typeface="等线" panose="02010600030101010101" pitchFamily="2" charset="-122"/>
              </a:rPr>
              <a:t>3</a:t>
            </a:r>
            <a:r>
              <a:rPr lang="zh-CN" altLang="en-US" sz="2400" dirty="0">
                <a:latin typeface="等线" panose="02010600030101010101" pitchFamily="2" charset="-122"/>
                <a:ea typeface="等线" panose="02010600030101010101" pitchFamily="2" charset="-122"/>
              </a:rPr>
              <a:t>輸入</a:t>
            </a:r>
          </a:p>
          <a:p>
            <a:pPr>
              <a:spcBef>
                <a:spcPct val="50000"/>
              </a:spcBef>
            </a:pPr>
            <a:r>
              <a:rPr lang="en-US" altLang="zh-CN" sz="2400" dirty="0">
                <a:latin typeface="等线" panose="02010600030101010101" pitchFamily="2" charset="-122"/>
                <a:ea typeface="等线" panose="02010600030101010101" pitchFamily="2" charset="-122"/>
              </a:rPr>
              <a:t>2</a:t>
            </a:r>
            <a:r>
              <a:rPr lang="zh-CN" altLang="en-US" sz="2400" dirty="0">
                <a:latin typeface="等线" panose="02010600030101010101" pitchFamily="2" charset="-122"/>
                <a:ea typeface="等线" panose="02010600030101010101" pitchFamily="2" charset="-122"/>
              </a:rPr>
              <a:t>輸出</a:t>
            </a:r>
          </a:p>
        </p:txBody>
      </p:sp>
      <p:sp>
        <p:nvSpPr>
          <p:cNvPr id="349267" name="Rectangle 83"/>
          <p:cNvSpPr>
            <a:spLocks noChangeArrowheads="1"/>
          </p:cNvSpPr>
          <p:nvPr/>
        </p:nvSpPr>
        <p:spPr bwMode="auto">
          <a:xfrm>
            <a:off x="685800" y="1447800"/>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b="1" dirty="0">
                <a:latin typeface="等线" panose="02010600030101010101" pitchFamily="2" charset="-122"/>
                <a:ea typeface="等线" panose="02010600030101010101" pitchFamily="2" charset="-122"/>
              </a:rPr>
              <a:t>一位全加器 （</a:t>
            </a:r>
            <a:r>
              <a:rPr lang="en-US" altLang="zh-CN" sz="3200" b="1" dirty="0">
                <a:latin typeface="等线" panose="02010600030101010101" pitchFamily="2" charset="-122"/>
                <a:ea typeface="等线" panose="02010600030101010101" pitchFamily="2" charset="-122"/>
              </a:rPr>
              <a:t>Full Adder</a:t>
            </a:r>
            <a:r>
              <a:rPr lang="zh-CN" altLang="en-US" sz="3200" b="1" dirty="0">
                <a:latin typeface="等线" panose="02010600030101010101" pitchFamily="2" charset="-122"/>
                <a:ea typeface="等线" panose="02010600030101010101" pitchFamily="2" charset="-122"/>
              </a:rPr>
              <a:t>）</a:t>
            </a:r>
          </a:p>
        </p:txBody>
      </p:sp>
    </p:spTree>
    <p:extLst>
      <p:ext uri="{BB962C8B-B14F-4D97-AF65-F5344CB8AC3E}">
        <p14:creationId xmlns:p14="http://schemas.microsoft.com/office/powerpoint/2010/main" val="41548737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349266"/>
                                        </p:tgtEl>
                                        <p:attrNameLst>
                                          <p:attrName>style.visibility</p:attrName>
                                        </p:attrNameLst>
                                      </p:cBhvr>
                                      <p:to>
                                        <p:strVal val="visible"/>
                                      </p:to>
                                    </p:set>
                                    <p:anim calcmode="lin" valueType="num">
                                      <p:cBhvr additive="base">
                                        <p:cTn id="17" dur="500" fill="hold"/>
                                        <p:tgtEl>
                                          <p:spTgt spid="349266"/>
                                        </p:tgtEl>
                                        <p:attrNameLst>
                                          <p:attrName>ppt_x</p:attrName>
                                        </p:attrNameLst>
                                      </p:cBhvr>
                                      <p:tavLst>
                                        <p:tav tm="0">
                                          <p:val>
                                            <p:strVal val="1+#ppt_w/2"/>
                                          </p:val>
                                        </p:tav>
                                        <p:tav tm="100000">
                                          <p:val>
                                            <p:strVal val="#ppt_x"/>
                                          </p:val>
                                        </p:tav>
                                      </p:tavLst>
                                    </p:anim>
                                    <p:anim calcmode="lin" valueType="num">
                                      <p:cBhvr additive="base">
                                        <p:cTn id="18" dur="500" fill="hold"/>
                                        <p:tgtEl>
                                          <p:spTgt spid="3492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26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noChangeArrowheads="1"/>
          </p:cNvSpPr>
          <p:nvPr>
            <p:ph type="title"/>
          </p:nvPr>
        </p:nvSpPr>
        <p:spPr>
          <a:xfrm>
            <a:off x="914400" y="44624"/>
            <a:ext cx="7772400" cy="1143000"/>
          </a:xfrm>
        </p:spPr>
        <p:txBody>
          <a:bodyPr/>
          <a:lstStyle/>
          <a:p>
            <a:r>
              <a:rPr lang="en-US" altLang="zh-CN" sz="3600" dirty="0"/>
              <a:t>3.3.7   </a:t>
            </a:r>
            <a:r>
              <a:rPr lang="zh-CN" altLang="en-US" sz="3600" dirty="0"/>
              <a:t>運算器</a:t>
            </a:r>
            <a:endParaRPr lang="en-US" altLang="zh-CN" sz="3600" dirty="0"/>
          </a:p>
        </p:txBody>
      </p:sp>
      <p:sp>
        <p:nvSpPr>
          <p:cNvPr id="37" name="灯片编号占位符 5"/>
          <p:cNvSpPr>
            <a:spLocks noGrp="1"/>
          </p:cNvSpPr>
          <p:nvPr>
            <p:ph type="sldNum" sz="quarter" idx="12"/>
          </p:nvPr>
        </p:nvSpPr>
        <p:spPr/>
        <p:txBody>
          <a:bodyPr/>
          <a:lstStyle/>
          <a:p>
            <a:fld id="{2FE96FE6-F916-4CDD-97DA-39D7CDB9B569}" type="slidenum">
              <a:rPr lang="en-US" altLang="zh-CN"/>
              <a:pPr/>
              <a:t>7</a:t>
            </a:fld>
            <a:endParaRPr lang="en-US" altLang="zh-CN" dirty="0"/>
          </a:p>
        </p:txBody>
      </p:sp>
      <p:grpSp>
        <p:nvGrpSpPr>
          <p:cNvPr id="2" name="Group 3"/>
          <p:cNvGrpSpPr>
            <a:grpSpLocks/>
          </p:cNvGrpSpPr>
          <p:nvPr/>
        </p:nvGrpSpPr>
        <p:grpSpPr bwMode="auto">
          <a:xfrm>
            <a:off x="838200" y="2133600"/>
            <a:ext cx="3527425" cy="2274888"/>
            <a:chOff x="522" y="1389"/>
            <a:chExt cx="2222" cy="1433"/>
          </a:xfrm>
        </p:grpSpPr>
        <p:grpSp>
          <p:nvGrpSpPr>
            <p:cNvPr id="3" name="Group 4"/>
            <p:cNvGrpSpPr>
              <a:grpSpLocks/>
            </p:cNvGrpSpPr>
            <p:nvPr/>
          </p:nvGrpSpPr>
          <p:grpSpPr bwMode="auto">
            <a:xfrm>
              <a:off x="522" y="1389"/>
              <a:ext cx="2222" cy="1053"/>
              <a:chOff x="522" y="1389"/>
              <a:chExt cx="2222" cy="1053"/>
            </a:xfrm>
          </p:grpSpPr>
          <p:sp>
            <p:nvSpPr>
              <p:cNvPr id="350213" name="Rectangle 5"/>
              <p:cNvSpPr>
                <a:spLocks noChangeArrowheads="1"/>
              </p:cNvSpPr>
              <p:nvPr/>
            </p:nvSpPr>
            <p:spPr bwMode="auto">
              <a:xfrm>
                <a:off x="2208" y="2142"/>
                <a:ext cx="40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0214" name="Rectangle 6"/>
              <p:cNvSpPr>
                <a:spLocks noChangeArrowheads="1"/>
              </p:cNvSpPr>
              <p:nvPr/>
            </p:nvSpPr>
            <p:spPr bwMode="auto">
              <a:xfrm>
                <a:off x="1807" y="2142"/>
                <a:ext cx="40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0215" name="Rectangle 7"/>
              <p:cNvSpPr>
                <a:spLocks noChangeArrowheads="1"/>
              </p:cNvSpPr>
              <p:nvPr/>
            </p:nvSpPr>
            <p:spPr bwMode="auto">
              <a:xfrm>
                <a:off x="1407" y="2142"/>
                <a:ext cx="40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0216" name="Rectangle 8"/>
              <p:cNvSpPr>
                <a:spLocks noChangeArrowheads="1"/>
              </p:cNvSpPr>
              <p:nvPr/>
            </p:nvSpPr>
            <p:spPr bwMode="auto">
              <a:xfrm>
                <a:off x="1006" y="2142"/>
                <a:ext cx="40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0217" name="Rectangle 9"/>
              <p:cNvSpPr>
                <a:spLocks noChangeArrowheads="1"/>
              </p:cNvSpPr>
              <p:nvPr/>
            </p:nvSpPr>
            <p:spPr bwMode="auto">
              <a:xfrm>
                <a:off x="2208" y="1842"/>
                <a:ext cx="40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0218" name="Rectangle 10"/>
              <p:cNvSpPr>
                <a:spLocks noChangeArrowheads="1"/>
              </p:cNvSpPr>
              <p:nvPr/>
            </p:nvSpPr>
            <p:spPr bwMode="auto">
              <a:xfrm>
                <a:off x="1807" y="1842"/>
                <a:ext cx="40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0219" name="Rectangle 11"/>
              <p:cNvSpPr>
                <a:spLocks noChangeArrowheads="1"/>
              </p:cNvSpPr>
              <p:nvPr/>
            </p:nvSpPr>
            <p:spPr bwMode="auto">
              <a:xfrm>
                <a:off x="1407" y="1842"/>
                <a:ext cx="40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0220" name="Rectangle 12"/>
              <p:cNvSpPr>
                <a:spLocks noChangeArrowheads="1"/>
              </p:cNvSpPr>
              <p:nvPr/>
            </p:nvSpPr>
            <p:spPr bwMode="auto">
              <a:xfrm>
                <a:off x="1006" y="1842"/>
                <a:ext cx="40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0221" name="Line 13"/>
              <p:cNvSpPr>
                <a:spLocks noChangeShapeType="1"/>
              </p:cNvSpPr>
              <p:nvPr/>
            </p:nvSpPr>
            <p:spPr bwMode="auto">
              <a:xfrm>
                <a:off x="1006" y="1842"/>
                <a:ext cx="160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2" name="Line 14"/>
              <p:cNvSpPr>
                <a:spLocks noChangeShapeType="1"/>
              </p:cNvSpPr>
              <p:nvPr/>
            </p:nvSpPr>
            <p:spPr bwMode="auto">
              <a:xfrm>
                <a:off x="1006" y="2142"/>
                <a:ext cx="160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3" name="Line 15"/>
              <p:cNvSpPr>
                <a:spLocks noChangeShapeType="1"/>
              </p:cNvSpPr>
              <p:nvPr/>
            </p:nvSpPr>
            <p:spPr bwMode="auto">
              <a:xfrm>
                <a:off x="1006" y="2442"/>
                <a:ext cx="160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4" name="Line 16"/>
              <p:cNvSpPr>
                <a:spLocks noChangeShapeType="1"/>
              </p:cNvSpPr>
              <p:nvPr/>
            </p:nvSpPr>
            <p:spPr bwMode="auto">
              <a:xfrm>
                <a:off x="1006" y="1842"/>
                <a:ext cx="0" cy="6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5" name="Line 17"/>
              <p:cNvSpPr>
                <a:spLocks noChangeShapeType="1"/>
              </p:cNvSpPr>
              <p:nvPr/>
            </p:nvSpPr>
            <p:spPr bwMode="auto">
              <a:xfrm>
                <a:off x="1407" y="1842"/>
                <a:ext cx="0" cy="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6" name="Line 18"/>
              <p:cNvSpPr>
                <a:spLocks noChangeShapeType="1"/>
              </p:cNvSpPr>
              <p:nvPr/>
            </p:nvSpPr>
            <p:spPr bwMode="auto">
              <a:xfrm>
                <a:off x="1807" y="1842"/>
                <a:ext cx="0" cy="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7" name="Line 19"/>
              <p:cNvSpPr>
                <a:spLocks noChangeShapeType="1"/>
              </p:cNvSpPr>
              <p:nvPr/>
            </p:nvSpPr>
            <p:spPr bwMode="auto">
              <a:xfrm>
                <a:off x="2208" y="1842"/>
                <a:ext cx="0" cy="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8" name="Line 20"/>
              <p:cNvSpPr>
                <a:spLocks noChangeShapeType="1"/>
              </p:cNvSpPr>
              <p:nvPr/>
            </p:nvSpPr>
            <p:spPr bwMode="auto">
              <a:xfrm>
                <a:off x="2608" y="1842"/>
                <a:ext cx="0" cy="6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9" name="Line 21"/>
              <p:cNvSpPr>
                <a:spLocks noChangeShapeType="1"/>
              </p:cNvSpPr>
              <p:nvPr/>
            </p:nvSpPr>
            <p:spPr bwMode="auto">
              <a:xfrm flipH="1" flipV="1">
                <a:off x="734" y="1525"/>
                <a:ext cx="272"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30" name="Rectangle 22"/>
              <p:cNvSpPr>
                <a:spLocks noChangeArrowheads="1"/>
              </p:cNvSpPr>
              <p:nvPr/>
            </p:nvSpPr>
            <p:spPr bwMode="auto">
              <a:xfrm>
                <a:off x="748" y="1389"/>
                <a:ext cx="3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err="1">
                    <a:latin typeface="Times New Roman" pitchFamily="18" charset="0"/>
                    <a:cs typeface="Times New Roman" pitchFamily="18" charset="0"/>
                  </a:rPr>
                  <a:t>X</a:t>
                </a:r>
                <a:r>
                  <a:rPr lang="en-US" altLang="zh-CN" baseline="-30000" dirty="0" err="1">
                    <a:latin typeface="Times New Roman" pitchFamily="18" charset="0"/>
                    <a:cs typeface="Times New Roman" pitchFamily="18" charset="0"/>
                  </a:rPr>
                  <a:t>n</a:t>
                </a:r>
                <a:endParaRPr lang="en-US" altLang="zh-CN" baseline="-30000" dirty="0">
                  <a:latin typeface="Times New Roman" pitchFamily="18" charset="0"/>
                  <a:cs typeface="Times New Roman" pitchFamily="18" charset="0"/>
                </a:endParaRPr>
              </a:p>
            </p:txBody>
          </p:sp>
          <p:sp>
            <p:nvSpPr>
              <p:cNvPr id="350231" name="Rectangle 23"/>
              <p:cNvSpPr>
                <a:spLocks noChangeArrowheads="1"/>
              </p:cNvSpPr>
              <p:nvPr/>
            </p:nvSpPr>
            <p:spPr bwMode="auto">
              <a:xfrm>
                <a:off x="884" y="1389"/>
                <a:ext cx="3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err="1">
                    <a:latin typeface="Times New Roman" pitchFamily="18" charset="0"/>
                    <a:cs typeface="Times New Roman" pitchFamily="18" charset="0"/>
                  </a:rPr>
                  <a:t>Y</a:t>
                </a:r>
                <a:r>
                  <a:rPr lang="en-US" altLang="zh-CN" baseline="-30000" dirty="0" err="1">
                    <a:latin typeface="Times New Roman" pitchFamily="18" charset="0"/>
                    <a:cs typeface="Times New Roman" pitchFamily="18" charset="0"/>
                  </a:rPr>
                  <a:t>n</a:t>
                </a:r>
                <a:endParaRPr lang="en-US" altLang="zh-CN" baseline="-30000" dirty="0">
                  <a:latin typeface="Times New Roman" pitchFamily="18" charset="0"/>
                  <a:cs typeface="Times New Roman" pitchFamily="18" charset="0"/>
                </a:endParaRPr>
              </a:p>
            </p:txBody>
          </p:sp>
          <p:sp>
            <p:nvSpPr>
              <p:cNvPr id="350232" name="Rectangle 24"/>
              <p:cNvSpPr>
                <a:spLocks noChangeArrowheads="1"/>
              </p:cNvSpPr>
              <p:nvPr/>
            </p:nvSpPr>
            <p:spPr bwMode="auto">
              <a:xfrm>
                <a:off x="522" y="1592"/>
                <a:ext cx="4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n-1</a:t>
                </a:r>
              </a:p>
            </p:txBody>
          </p:sp>
          <p:sp>
            <p:nvSpPr>
              <p:cNvPr id="350233" name="Text Box 25"/>
              <p:cNvSpPr txBox="1">
                <a:spLocks noChangeArrowheads="1"/>
              </p:cNvSpPr>
              <p:nvPr/>
            </p:nvSpPr>
            <p:spPr bwMode="auto">
              <a:xfrm>
                <a:off x="1020" y="1570"/>
                <a:ext cx="17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Georgia" pitchFamily="18" charset="0"/>
                    <a:ea typeface=""/>
                  </a:rPr>
                  <a:t> 00    01    11     10</a:t>
                </a:r>
              </a:p>
            </p:txBody>
          </p:sp>
          <p:sp>
            <p:nvSpPr>
              <p:cNvPr id="350234" name="Text Box 26"/>
              <p:cNvSpPr txBox="1">
                <a:spLocks noChangeArrowheads="1"/>
              </p:cNvSpPr>
              <p:nvPr/>
            </p:nvSpPr>
            <p:spPr bwMode="auto">
              <a:xfrm>
                <a:off x="794" y="1797"/>
                <a:ext cx="272"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Georgia" pitchFamily="18" charset="0"/>
                    <a:ea typeface=""/>
                  </a:rPr>
                  <a:t>0</a:t>
                </a:r>
              </a:p>
              <a:p>
                <a:pPr>
                  <a:spcBef>
                    <a:spcPct val="50000"/>
                  </a:spcBef>
                </a:pPr>
                <a:r>
                  <a:rPr lang="en-US" altLang="zh-CN" sz="2400" dirty="0">
                    <a:latin typeface="Georgia" pitchFamily="18" charset="0"/>
                    <a:ea typeface=""/>
                  </a:rPr>
                  <a:t>1</a:t>
                </a:r>
              </a:p>
            </p:txBody>
          </p:sp>
        </p:grpSp>
        <p:graphicFrame>
          <p:nvGraphicFramePr>
            <p:cNvPr id="350235" name="Object 27"/>
            <p:cNvGraphicFramePr>
              <a:graphicFrameLocks noChangeAspect="1"/>
            </p:cNvGraphicFramePr>
            <p:nvPr>
              <p:extLst>
                <p:ext uri="{D42A27DB-BD31-4B8C-83A1-F6EECF244321}">
                  <p14:modId xmlns:p14="http://schemas.microsoft.com/office/powerpoint/2010/main" val="2822091650"/>
                </p:ext>
              </p:extLst>
            </p:nvPr>
          </p:nvGraphicFramePr>
          <p:xfrm>
            <a:off x="1560" y="2478"/>
            <a:ext cx="267" cy="344"/>
          </p:xfrm>
          <a:graphic>
            <a:graphicData uri="http://schemas.openxmlformats.org/presentationml/2006/ole">
              <mc:AlternateContent xmlns:mc="http://schemas.openxmlformats.org/markup-compatibility/2006">
                <mc:Choice xmlns:v="urn:schemas-microsoft-com:vml" Requires="v">
                  <p:oleObj name="公式" r:id="rId2" imgW="177480" imgH="228600" progId="Equation.3">
                    <p:embed/>
                  </p:oleObj>
                </mc:Choice>
                <mc:Fallback>
                  <p:oleObj name="公式" r:id="rId2" imgW="17748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0" y="2478"/>
                          <a:ext cx="267"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50236" name="Object 28"/>
          <p:cNvGraphicFramePr>
            <a:graphicFrameLocks noChangeAspect="1"/>
          </p:cNvGraphicFramePr>
          <p:nvPr>
            <p:extLst>
              <p:ext uri="{D42A27DB-BD31-4B8C-83A1-F6EECF244321}">
                <p14:modId xmlns:p14="http://schemas.microsoft.com/office/powerpoint/2010/main" val="3265734577"/>
              </p:ext>
            </p:extLst>
          </p:nvPr>
        </p:nvGraphicFramePr>
        <p:xfrm>
          <a:off x="406400" y="4437112"/>
          <a:ext cx="8167688" cy="622300"/>
        </p:xfrm>
        <a:graphic>
          <a:graphicData uri="http://schemas.openxmlformats.org/presentationml/2006/ole">
            <mc:AlternateContent xmlns:mc="http://schemas.openxmlformats.org/markup-compatibility/2006">
              <mc:Choice xmlns:v="urn:schemas-microsoft-com:vml" Requires="v">
                <p:oleObj name="公式" r:id="rId4" imgW="3327120" imgH="253800" progId="Equation.3">
                  <p:embed/>
                </p:oleObj>
              </mc:Choice>
              <mc:Fallback>
                <p:oleObj name="公式" r:id="rId4" imgW="332712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6400" y="4437112"/>
                        <a:ext cx="8167688"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0237" name="Rectangle 29"/>
          <p:cNvSpPr>
            <a:spLocks noChangeArrowheads="1"/>
          </p:cNvSpPr>
          <p:nvPr/>
        </p:nvSpPr>
        <p:spPr bwMode="auto">
          <a:xfrm>
            <a:off x="685800" y="1066800"/>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b="1" dirty="0">
                <a:latin typeface="等线" panose="02010600030101010101" pitchFamily="2" charset="-122"/>
                <a:ea typeface="等线" panose="02010600030101010101" pitchFamily="2" charset="-122"/>
              </a:rPr>
              <a:t>一位全加器 （</a:t>
            </a:r>
            <a:r>
              <a:rPr lang="en-US" altLang="zh-CN" sz="3200" b="1" dirty="0">
                <a:latin typeface="等线" panose="02010600030101010101" pitchFamily="2" charset="-122"/>
                <a:ea typeface="等线" panose="02010600030101010101" pitchFamily="2" charset="-122"/>
              </a:rPr>
              <a:t>Full Adder</a:t>
            </a:r>
            <a:r>
              <a:rPr lang="zh-CN" altLang="en-US" sz="3200" b="1" dirty="0">
                <a:latin typeface="等线" panose="02010600030101010101" pitchFamily="2" charset="-122"/>
                <a:ea typeface="等线" panose="02010600030101010101" pitchFamily="2" charset="-122"/>
              </a:rPr>
              <a:t>）</a:t>
            </a:r>
          </a:p>
          <a:p>
            <a:pPr lvl="1">
              <a:spcBef>
                <a:spcPct val="20000"/>
              </a:spcBef>
              <a:buClr>
                <a:srgbClr val="FFFF00"/>
              </a:buClr>
            </a:pPr>
            <a:r>
              <a:rPr kumimoji="1" lang="zh-CN" altLang="en-US" sz="2400" dirty="0">
                <a:latin typeface="等线" panose="02010600030101010101" pitchFamily="2" charset="-122"/>
                <a:ea typeface="等线" panose="02010600030101010101" pitchFamily="2" charset="-122"/>
              </a:rPr>
              <a:t>坎諾圖化簡</a:t>
            </a:r>
            <a:r>
              <a:rPr lang="zh-CN" altLang="en-US" sz="3200" dirty="0">
                <a:effectLst>
                  <a:outerShdw blurRad="38100" dist="38100" dir="2700000" algn="tl">
                    <a:srgbClr val="000000"/>
                  </a:outerShdw>
                </a:effectLst>
                <a:latin typeface="等线" panose="02010600030101010101" pitchFamily="2" charset="-122"/>
                <a:ea typeface="等线" panose="02010600030101010101" pitchFamily="2" charset="-122"/>
              </a:rPr>
              <a:t> </a:t>
            </a:r>
            <a:r>
              <a:rPr kumimoji="1" lang="en-US" altLang="zh-CN" sz="3200" dirty="0" err="1">
                <a:effectLst>
                  <a:outerShdw blurRad="38100" dist="38100" dir="2700000" algn="tl">
                    <a:srgbClr val="000000"/>
                  </a:outerShdw>
                </a:effectLst>
                <a:latin typeface="等线" panose="02010600030101010101" pitchFamily="2" charset="-122"/>
                <a:ea typeface="等线" panose="02010600030101010101" pitchFamily="2" charset="-122"/>
              </a:rPr>
              <a:t>Fn</a:t>
            </a:r>
            <a:endParaRPr kumimoji="1" lang="zh-CN" altLang="en-US" sz="3200" dirty="0">
              <a:effectLst>
                <a:outerShdw blurRad="38100" dist="38100" dir="2700000" algn="tl">
                  <a:srgbClr val="000000"/>
                </a:outerShdw>
              </a:effectLst>
              <a:latin typeface="等线" panose="02010600030101010101" pitchFamily="2" charset="-122"/>
              <a:ea typeface="等线" panose="02010600030101010101" pitchFamily="2" charset="-122"/>
            </a:endParaRPr>
          </a:p>
        </p:txBody>
      </p:sp>
      <p:sp>
        <p:nvSpPr>
          <p:cNvPr id="350238" name="Line 30"/>
          <p:cNvSpPr>
            <a:spLocks noChangeShapeType="1"/>
          </p:cNvSpPr>
          <p:nvPr/>
        </p:nvSpPr>
        <p:spPr bwMode="auto">
          <a:xfrm flipH="1" flipV="1">
            <a:off x="1981200" y="3657600"/>
            <a:ext cx="304800" cy="76200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0239" name="Line 31"/>
          <p:cNvSpPr>
            <a:spLocks noChangeShapeType="1"/>
          </p:cNvSpPr>
          <p:nvPr/>
        </p:nvSpPr>
        <p:spPr bwMode="auto">
          <a:xfrm flipH="1" flipV="1">
            <a:off x="2590800" y="3200400"/>
            <a:ext cx="1295400" cy="129540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0240" name="Line 32"/>
          <p:cNvSpPr>
            <a:spLocks noChangeShapeType="1"/>
          </p:cNvSpPr>
          <p:nvPr/>
        </p:nvSpPr>
        <p:spPr bwMode="auto">
          <a:xfrm flipH="1" flipV="1">
            <a:off x="3962400" y="3124200"/>
            <a:ext cx="1905000" cy="137160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0241" name="Line 33"/>
          <p:cNvSpPr>
            <a:spLocks noChangeShapeType="1"/>
          </p:cNvSpPr>
          <p:nvPr/>
        </p:nvSpPr>
        <p:spPr bwMode="auto">
          <a:xfrm flipH="1" flipV="1">
            <a:off x="3276600" y="3505200"/>
            <a:ext cx="4191000" cy="1066800"/>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350242" name="Object 34"/>
          <p:cNvGraphicFramePr>
            <a:graphicFrameLocks noChangeAspect="1"/>
          </p:cNvGraphicFramePr>
          <p:nvPr>
            <p:extLst>
              <p:ext uri="{D42A27DB-BD31-4B8C-83A1-F6EECF244321}">
                <p14:modId xmlns:p14="http://schemas.microsoft.com/office/powerpoint/2010/main" val="685425244"/>
              </p:ext>
            </p:extLst>
          </p:nvPr>
        </p:nvGraphicFramePr>
        <p:xfrm>
          <a:off x="899592" y="4975226"/>
          <a:ext cx="6470352" cy="1866594"/>
        </p:xfrm>
        <a:graphic>
          <a:graphicData uri="http://schemas.openxmlformats.org/presentationml/2006/ole">
            <mc:AlternateContent xmlns:mc="http://schemas.openxmlformats.org/markup-compatibility/2006">
              <mc:Choice xmlns:v="urn:schemas-microsoft-com:vml" Requires="v">
                <p:oleObj name="公式" r:id="rId6" imgW="2768400" imgH="799920" progId="Equation.3">
                  <p:embed/>
                </p:oleObj>
              </mc:Choice>
              <mc:Fallback>
                <p:oleObj name="公式" r:id="rId6" imgW="2768400" imgH="799920" progId="Equation.3">
                  <p:embed/>
                  <p:pic>
                    <p:nvPicPr>
                      <p:cNvPr id="0" name=""/>
                      <p:cNvPicPr>
                        <a:picLocks noChangeAspect="1" noChangeArrowheads="1"/>
                      </p:cNvPicPr>
                      <p:nvPr/>
                    </p:nvPicPr>
                    <p:blipFill>
                      <a:blip r:embed="rId7"/>
                      <a:srcRect/>
                      <a:stretch>
                        <a:fillRect/>
                      </a:stretch>
                    </p:blipFill>
                    <p:spPr bwMode="auto">
                      <a:xfrm>
                        <a:off x="899592" y="4975226"/>
                        <a:ext cx="6470352" cy="1866594"/>
                      </a:xfrm>
                      <a:prstGeom prst="rect">
                        <a:avLst/>
                      </a:prstGeom>
                      <a:noFill/>
                    </p:spPr>
                  </p:pic>
                </p:oleObj>
              </mc:Fallback>
            </mc:AlternateContent>
          </a:graphicData>
        </a:graphic>
      </p:graphicFrame>
    </p:spTree>
    <p:extLst>
      <p:ext uri="{BB962C8B-B14F-4D97-AF65-F5344CB8AC3E}">
        <p14:creationId xmlns:p14="http://schemas.microsoft.com/office/powerpoint/2010/main" val="12860781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502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9" fill="hold" grpId="0" nodeType="clickEffect">
                                  <p:stCondLst>
                                    <p:cond delay="0"/>
                                  </p:stCondLst>
                                  <p:childTnLst>
                                    <p:set>
                                      <p:cBhvr>
                                        <p:cTn id="14" dur="1" fill="hold">
                                          <p:stCondLst>
                                            <p:cond delay="0"/>
                                          </p:stCondLst>
                                        </p:cTn>
                                        <p:tgtEl>
                                          <p:spTgt spid="350238"/>
                                        </p:tgtEl>
                                        <p:attrNameLst>
                                          <p:attrName>style.visibility</p:attrName>
                                        </p:attrNameLst>
                                      </p:cBhvr>
                                      <p:to>
                                        <p:strVal val="visible"/>
                                      </p:to>
                                    </p:set>
                                    <p:animEffect transition="in" filter="strips(upLeft)">
                                      <p:cBhvr>
                                        <p:cTn id="15" dur="500"/>
                                        <p:tgtEl>
                                          <p:spTgt spid="350238"/>
                                        </p:tgtEl>
                                      </p:cBhvr>
                                    </p:animEffect>
                                  </p:childTnLst>
                                  <p:subTnLst>
                                    <p:set>
                                      <p:cBhvr override="childStyle">
                                        <p:cTn dur="1" fill="hold" display="0" masterRel="nextClick" afterEffect="1"/>
                                        <p:tgtEl>
                                          <p:spTgt spid="350238"/>
                                        </p:tgtEl>
                                        <p:attrNameLst>
                                          <p:attrName>style.visibility</p:attrName>
                                        </p:attrNameLst>
                                      </p:cBhvr>
                                      <p:to>
                                        <p:strVal val="hidden"/>
                                      </p:to>
                                    </p:set>
                                  </p:sub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9" fill="hold" grpId="0" nodeType="clickEffect">
                                  <p:stCondLst>
                                    <p:cond delay="0"/>
                                  </p:stCondLst>
                                  <p:childTnLst>
                                    <p:set>
                                      <p:cBhvr>
                                        <p:cTn id="19" dur="1" fill="hold">
                                          <p:stCondLst>
                                            <p:cond delay="0"/>
                                          </p:stCondLst>
                                        </p:cTn>
                                        <p:tgtEl>
                                          <p:spTgt spid="350239"/>
                                        </p:tgtEl>
                                        <p:attrNameLst>
                                          <p:attrName>style.visibility</p:attrName>
                                        </p:attrNameLst>
                                      </p:cBhvr>
                                      <p:to>
                                        <p:strVal val="visible"/>
                                      </p:to>
                                    </p:set>
                                    <p:animEffect transition="in" filter="strips(upLeft)">
                                      <p:cBhvr>
                                        <p:cTn id="20" dur="500"/>
                                        <p:tgtEl>
                                          <p:spTgt spid="350239"/>
                                        </p:tgtEl>
                                      </p:cBhvr>
                                    </p:animEffect>
                                  </p:childTnLst>
                                  <p:subTnLst>
                                    <p:set>
                                      <p:cBhvr override="childStyle">
                                        <p:cTn dur="1" fill="hold" display="0" masterRel="nextClick" afterEffect="1"/>
                                        <p:tgtEl>
                                          <p:spTgt spid="350239"/>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9" fill="hold" grpId="0" nodeType="clickEffect">
                                  <p:stCondLst>
                                    <p:cond delay="0"/>
                                  </p:stCondLst>
                                  <p:childTnLst>
                                    <p:set>
                                      <p:cBhvr>
                                        <p:cTn id="24" dur="1" fill="hold">
                                          <p:stCondLst>
                                            <p:cond delay="0"/>
                                          </p:stCondLst>
                                        </p:cTn>
                                        <p:tgtEl>
                                          <p:spTgt spid="350240"/>
                                        </p:tgtEl>
                                        <p:attrNameLst>
                                          <p:attrName>style.visibility</p:attrName>
                                        </p:attrNameLst>
                                      </p:cBhvr>
                                      <p:to>
                                        <p:strVal val="visible"/>
                                      </p:to>
                                    </p:set>
                                    <p:animEffect transition="in" filter="strips(upLeft)">
                                      <p:cBhvr>
                                        <p:cTn id="25" dur="500"/>
                                        <p:tgtEl>
                                          <p:spTgt spid="350240"/>
                                        </p:tgtEl>
                                      </p:cBhvr>
                                    </p:animEffect>
                                  </p:childTnLst>
                                  <p:subTnLst>
                                    <p:set>
                                      <p:cBhvr override="childStyle">
                                        <p:cTn dur="1" fill="hold" display="0" masterRel="nextClick" afterEffect="1"/>
                                        <p:tgtEl>
                                          <p:spTgt spid="350240"/>
                                        </p:tgtEl>
                                        <p:attrNameLst>
                                          <p:attrName>style.visibility</p:attrName>
                                        </p:attrNameLst>
                                      </p:cBhvr>
                                      <p:to>
                                        <p:strVal val="hidden"/>
                                      </p:to>
                                    </p:set>
                                  </p:subTnLst>
                                </p:cTn>
                              </p:par>
                            </p:childTnLst>
                          </p:cTn>
                        </p:par>
                      </p:childTnLst>
                    </p:cTn>
                  </p:par>
                  <p:par>
                    <p:cTn id="26" fill="hold" nodeType="clickPar">
                      <p:stCondLst>
                        <p:cond delay="indefinite"/>
                      </p:stCondLst>
                      <p:childTnLst>
                        <p:par>
                          <p:cTn id="27" fill="hold" nodeType="withGroup">
                            <p:stCondLst>
                              <p:cond delay="0"/>
                            </p:stCondLst>
                            <p:childTnLst>
                              <p:par>
                                <p:cTn id="28" presetID="18" presetClass="entr" presetSubtype="9" fill="hold" grpId="0" nodeType="clickEffect">
                                  <p:stCondLst>
                                    <p:cond delay="0"/>
                                  </p:stCondLst>
                                  <p:childTnLst>
                                    <p:set>
                                      <p:cBhvr>
                                        <p:cTn id="29" dur="1" fill="hold">
                                          <p:stCondLst>
                                            <p:cond delay="0"/>
                                          </p:stCondLst>
                                        </p:cTn>
                                        <p:tgtEl>
                                          <p:spTgt spid="350241"/>
                                        </p:tgtEl>
                                        <p:attrNameLst>
                                          <p:attrName>style.visibility</p:attrName>
                                        </p:attrNameLst>
                                      </p:cBhvr>
                                      <p:to>
                                        <p:strVal val="visible"/>
                                      </p:to>
                                    </p:set>
                                    <p:animEffect transition="in" filter="strips(upLeft)">
                                      <p:cBhvr>
                                        <p:cTn id="30" dur="500"/>
                                        <p:tgtEl>
                                          <p:spTgt spid="350241"/>
                                        </p:tgtEl>
                                      </p:cBhvr>
                                    </p:animEffect>
                                  </p:childTnLst>
                                  <p:subTnLst>
                                    <p:set>
                                      <p:cBhvr override="childStyle">
                                        <p:cTn dur="1" fill="hold" display="0" masterRel="nextClick" afterEffect="1"/>
                                        <p:tgtEl>
                                          <p:spTgt spid="350241"/>
                                        </p:tgtEl>
                                        <p:attrNameLst>
                                          <p:attrName>style.visibility</p:attrName>
                                        </p:attrNameLst>
                                      </p:cBhvr>
                                      <p:to>
                                        <p:strVal val="hidden"/>
                                      </p:to>
                                    </p:set>
                                  </p:sub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35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38" grpId="0" animBg="1"/>
      <p:bldP spid="350239" grpId="0" animBg="1"/>
      <p:bldP spid="350240" grpId="0" animBg="1"/>
      <p:bldP spid="35024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42" name="灯片编号占位符 5"/>
          <p:cNvSpPr>
            <a:spLocks noGrp="1"/>
          </p:cNvSpPr>
          <p:nvPr>
            <p:ph type="sldNum" sz="quarter" idx="12"/>
          </p:nvPr>
        </p:nvSpPr>
        <p:spPr/>
        <p:txBody>
          <a:bodyPr/>
          <a:lstStyle/>
          <a:p>
            <a:fld id="{83BA4B88-F866-4A55-BCB1-AE8AD8AA065E}" type="slidenum">
              <a:rPr lang="en-US" altLang="zh-CN"/>
              <a:pPr/>
              <a:t>8</a:t>
            </a:fld>
            <a:endParaRPr lang="en-US" altLang="zh-CN" dirty="0"/>
          </a:p>
        </p:txBody>
      </p:sp>
      <p:sp>
        <p:nvSpPr>
          <p:cNvPr id="351235" name="Rectangle 3"/>
          <p:cNvSpPr>
            <a:spLocks noGrp="1" noChangeArrowheads="1"/>
          </p:cNvSpPr>
          <p:nvPr>
            <p:ph sz="quarter" idx="1"/>
          </p:nvPr>
        </p:nvSpPr>
        <p:spPr/>
        <p:txBody>
          <a:bodyPr/>
          <a:lstStyle/>
          <a:p>
            <a:r>
              <a:rPr lang="zh-CN" altLang="en-US" b="1" dirty="0"/>
              <a:t>一位全加器 （</a:t>
            </a:r>
            <a:r>
              <a:rPr lang="en-US" altLang="zh-CN" b="1" dirty="0"/>
              <a:t>Full Adder</a:t>
            </a:r>
            <a:r>
              <a:rPr lang="zh-CN" altLang="en-US" b="1" dirty="0"/>
              <a:t>）</a:t>
            </a:r>
          </a:p>
          <a:p>
            <a:pPr lvl="1"/>
            <a:r>
              <a:rPr lang="zh-CN" altLang="en-US" dirty="0">
                <a:latin typeface="Arial" pitchFamily="34" charset="0"/>
              </a:rPr>
              <a:t>坎諾圖化簡</a:t>
            </a:r>
            <a:r>
              <a:rPr lang="en-US" altLang="zh-CN" dirty="0">
                <a:latin typeface="Arial" pitchFamily="34" charset="0"/>
              </a:rPr>
              <a:t>Cn</a:t>
            </a:r>
            <a:r>
              <a:rPr lang="zh-CN" altLang="en-US" dirty="0">
                <a:latin typeface="Arial" pitchFamily="34" charset="0"/>
              </a:rPr>
              <a:t> </a:t>
            </a:r>
            <a:endParaRPr lang="zh-CN" altLang="en-US" dirty="0"/>
          </a:p>
        </p:txBody>
      </p:sp>
      <p:grpSp>
        <p:nvGrpSpPr>
          <p:cNvPr id="2" name="Group 4"/>
          <p:cNvGrpSpPr>
            <a:grpSpLocks/>
          </p:cNvGrpSpPr>
          <p:nvPr/>
        </p:nvGrpSpPr>
        <p:grpSpPr bwMode="auto">
          <a:xfrm>
            <a:off x="4932040" y="2493044"/>
            <a:ext cx="3455987" cy="2335211"/>
            <a:chOff x="3107" y="1351"/>
            <a:chExt cx="2177" cy="1471"/>
          </a:xfrm>
        </p:grpSpPr>
        <p:grpSp>
          <p:nvGrpSpPr>
            <p:cNvPr id="3" name="Group 5"/>
            <p:cNvGrpSpPr>
              <a:grpSpLocks/>
            </p:cNvGrpSpPr>
            <p:nvPr/>
          </p:nvGrpSpPr>
          <p:grpSpPr bwMode="auto">
            <a:xfrm>
              <a:off x="3107" y="1351"/>
              <a:ext cx="2177" cy="1091"/>
              <a:chOff x="3107" y="1351"/>
              <a:chExt cx="2177" cy="1091"/>
            </a:xfrm>
          </p:grpSpPr>
          <p:sp>
            <p:nvSpPr>
              <p:cNvPr id="351238" name="Rectangle 6"/>
              <p:cNvSpPr>
                <a:spLocks noChangeArrowheads="1"/>
              </p:cNvSpPr>
              <p:nvPr/>
            </p:nvSpPr>
            <p:spPr bwMode="auto">
              <a:xfrm>
                <a:off x="4762" y="2142"/>
                <a:ext cx="40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1239" name="Rectangle 7"/>
              <p:cNvSpPr>
                <a:spLocks noChangeArrowheads="1"/>
              </p:cNvSpPr>
              <p:nvPr/>
            </p:nvSpPr>
            <p:spPr bwMode="auto">
              <a:xfrm>
                <a:off x="4361" y="2142"/>
                <a:ext cx="40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1240" name="Rectangle 8"/>
              <p:cNvSpPr>
                <a:spLocks noChangeArrowheads="1"/>
              </p:cNvSpPr>
              <p:nvPr/>
            </p:nvSpPr>
            <p:spPr bwMode="auto">
              <a:xfrm>
                <a:off x="3961" y="2142"/>
                <a:ext cx="40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1241" name="Rectangle 9"/>
              <p:cNvSpPr>
                <a:spLocks noChangeArrowheads="1"/>
              </p:cNvSpPr>
              <p:nvPr/>
            </p:nvSpPr>
            <p:spPr bwMode="auto">
              <a:xfrm>
                <a:off x="3560" y="2142"/>
                <a:ext cx="40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1242" name="Rectangle 10"/>
              <p:cNvSpPr>
                <a:spLocks noChangeArrowheads="1"/>
              </p:cNvSpPr>
              <p:nvPr/>
            </p:nvSpPr>
            <p:spPr bwMode="auto">
              <a:xfrm>
                <a:off x="4762" y="1842"/>
                <a:ext cx="40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1243" name="Rectangle 11"/>
              <p:cNvSpPr>
                <a:spLocks noChangeArrowheads="1"/>
              </p:cNvSpPr>
              <p:nvPr/>
            </p:nvSpPr>
            <p:spPr bwMode="auto">
              <a:xfrm>
                <a:off x="4361" y="1842"/>
                <a:ext cx="40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1244" name="Rectangle 12"/>
              <p:cNvSpPr>
                <a:spLocks noChangeArrowheads="1"/>
              </p:cNvSpPr>
              <p:nvPr/>
            </p:nvSpPr>
            <p:spPr bwMode="auto">
              <a:xfrm>
                <a:off x="3961" y="1842"/>
                <a:ext cx="400"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1245" name="Rectangle 13"/>
              <p:cNvSpPr>
                <a:spLocks noChangeArrowheads="1"/>
              </p:cNvSpPr>
              <p:nvPr/>
            </p:nvSpPr>
            <p:spPr bwMode="auto">
              <a:xfrm>
                <a:off x="3560" y="1842"/>
                <a:ext cx="401"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1246" name="Line 14"/>
              <p:cNvSpPr>
                <a:spLocks noChangeShapeType="1"/>
              </p:cNvSpPr>
              <p:nvPr/>
            </p:nvSpPr>
            <p:spPr bwMode="auto">
              <a:xfrm>
                <a:off x="3560" y="1842"/>
                <a:ext cx="160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7" name="Line 15"/>
              <p:cNvSpPr>
                <a:spLocks noChangeShapeType="1"/>
              </p:cNvSpPr>
              <p:nvPr/>
            </p:nvSpPr>
            <p:spPr bwMode="auto">
              <a:xfrm>
                <a:off x="3560" y="2142"/>
                <a:ext cx="160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8" name="Line 16"/>
              <p:cNvSpPr>
                <a:spLocks noChangeShapeType="1"/>
              </p:cNvSpPr>
              <p:nvPr/>
            </p:nvSpPr>
            <p:spPr bwMode="auto">
              <a:xfrm>
                <a:off x="3560" y="2442"/>
                <a:ext cx="160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49" name="Line 17"/>
              <p:cNvSpPr>
                <a:spLocks noChangeShapeType="1"/>
              </p:cNvSpPr>
              <p:nvPr/>
            </p:nvSpPr>
            <p:spPr bwMode="auto">
              <a:xfrm>
                <a:off x="3560" y="1842"/>
                <a:ext cx="0" cy="6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50" name="Line 18"/>
              <p:cNvSpPr>
                <a:spLocks noChangeShapeType="1"/>
              </p:cNvSpPr>
              <p:nvPr/>
            </p:nvSpPr>
            <p:spPr bwMode="auto">
              <a:xfrm>
                <a:off x="3961" y="1842"/>
                <a:ext cx="0" cy="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51" name="Line 19"/>
              <p:cNvSpPr>
                <a:spLocks noChangeShapeType="1"/>
              </p:cNvSpPr>
              <p:nvPr/>
            </p:nvSpPr>
            <p:spPr bwMode="auto">
              <a:xfrm>
                <a:off x="4361" y="1842"/>
                <a:ext cx="0" cy="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52" name="Line 20"/>
              <p:cNvSpPr>
                <a:spLocks noChangeShapeType="1"/>
              </p:cNvSpPr>
              <p:nvPr/>
            </p:nvSpPr>
            <p:spPr bwMode="auto">
              <a:xfrm>
                <a:off x="4762" y="1842"/>
                <a:ext cx="0" cy="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53" name="Line 21"/>
              <p:cNvSpPr>
                <a:spLocks noChangeShapeType="1"/>
              </p:cNvSpPr>
              <p:nvPr/>
            </p:nvSpPr>
            <p:spPr bwMode="auto">
              <a:xfrm>
                <a:off x="5162" y="1842"/>
                <a:ext cx="0" cy="6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54" name="Line 22"/>
              <p:cNvSpPr>
                <a:spLocks noChangeShapeType="1"/>
              </p:cNvSpPr>
              <p:nvPr/>
            </p:nvSpPr>
            <p:spPr bwMode="auto">
              <a:xfrm flipH="1" flipV="1">
                <a:off x="3288" y="1525"/>
                <a:ext cx="272"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1255" name="Rectangle 23"/>
              <p:cNvSpPr>
                <a:spLocks noChangeArrowheads="1"/>
              </p:cNvSpPr>
              <p:nvPr/>
            </p:nvSpPr>
            <p:spPr bwMode="auto">
              <a:xfrm>
                <a:off x="3288" y="1351"/>
                <a:ext cx="3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err="1">
                    <a:latin typeface="Times New Roman" pitchFamily="18" charset="0"/>
                    <a:cs typeface="Times New Roman" pitchFamily="18" charset="0"/>
                  </a:rPr>
                  <a:t>X</a:t>
                </a:r>
                <a:r>
                  <a:rPr lang="en-US" altLang="zh-CN" baseline="-30000" dirty="0" err="1">
                    <a:latin typeface="Times New Roman" pitchFamily="18" charset="0"/>
                    <a:cs typeface="Times New Roman" pitchFamily="18" charset="0"/>
                  </a:rPr>
                  <a:t>n</a:t>
                </a:r>
                <a:endParaRPr lang="en-US" altLang="zh-CN" baseline="-30000" dirty="0">
                  <a:latin typeface="Times New Roman" pitchFamily="18" charset="0"/>
                  <a:cs typeface="Times New Roman" pitchFamily="18" charset="0"/>
                </a:endParaRPr>
              </a:p>
            </p:txBody>
          </p:sp>
          <p:sp>
            <p:nvSpPr>
              <p:cNvPr id="351256" name="Rectangle 24"/>
              <p:cNvSpPr>
                <a:spLocks noChangeArrowheads="1"/>
              </p:cNvSpPr>
              <p:nvPr/>
            </p:nvSpPr>
            <p:spPr bwMode="auto">
              <a:xfrm>
                <a:off x="3424" y="1351"/>
                <a:ext cx="32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err="1">
                    <a:latin typeface="Times New Roman" pitchFamily="18" charset="0"/>
                    <a:cs typeface="Times New Roman" pitchFamily="18" charset="0"/>
                  </a:rPr>
                  <a:t>Y</a:t>
                </a:r>
                <a:r>
                  <a:rPr lang="en-US" altLang="zh-CN" baseline="-30000" dirty="0" err="1">
                    <a:latin typeface="Times New Roman" pitchFamily="18" charset="0"/>
                    <a:cs typeface="Times New Roman" pitchFamily="18" charset="0"/>
                  </a:rPr>
                  <a:t>n</a:t>
                </a:r>
                <a:endParaRPr lang="en-US" altLang="zh-CN" baseline="-30000" dirty="0">
                  <a:latin typeface="Times New Roman" pitchFamily="18" charset="0"/>
                  <a:cs typeface="Times New Roman" pitchFamily="18" charset="0"/>
                </a:endParaRPr>
              </a:p>
            </p:txBody>
          </p:sp>
          <p:sp>
            <p:nvSpPr>
              <p:cNvPr id="351257" name="Rectangle 25"/>
              <p:cNvSpPr>
                <a:spLocks noChangeArrowheads="1"/>
              </p:cNvSpPr>
              <p:nvPr/>
            </p:nvSpPr>
            <p:spPr bwMode="auto">
              <a:xfrm>
                <a:off x="3107" y="1592"/>
                <a:ext cx="4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n-1</a:t>
                </a:r>
              </a:p>
            </p:txBody>
          </p:sp>
          <p:sp>
            <p:nvSpPr>
              <p:cNvPr id="351258" name="Text Box 26"/>
              <p:cNvSpPr txBox="1">
                <a:spLocks noChangeArrowheads="1"/>
              </p:cNvSpPr>
              <p:nvPr/>
            </p:nvSpPr>
            <p:spPr bwMode="auto">
              <a:xfrm>
                <a:off x="3560" y="1570"/>
                <a:ext cx="17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Georgia" pitchFamily="18" charset="0"/>
                    <a:ea typeface=""/>
                  </a:rPr>
                  <a:t> 00    01    11     10</a:t>
                </a:r>
              </a:p>
            </p:txBody>
          </p:sp>
          <p:sp>
            <p:nvSpPr>
              <p:cNvPr id="351259" name="Text Box 27"/>
              <p:cNvSpPr txBox="1">
                <a:spLocks noChangeArrowheads="1"/>
              </p:cNvSpPr>
              <p:nvPr/>
            </p:nvSpPr>
            <p:spPr bwMode="auto">
              <a:xfrm>
                <a:off x="3334" y="1797"/>
                <a:ext cx="272"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Georgia" pitchFamily="18" charset="0"/>
                    <a:ea typeface=""/>
                  </a:rPr>
                  <a:t>0</a:t>
                </a:r>
              </a:p>
              <a:p>
                <a:pPr>
                  <a:spcBef>
                    <a:spcPct val="50000"/>
                  </a:spcBef>
                </a:pPr>
                <a:r>
                  <a:rPr lang="en-US" altLang="zh-CN" sz="2400" dirty="0">
                    <a:latin typeface="Georgia" pitchFamily="18" charset="0"/>
                    <a:ea typeface=""/>
                  </a:rPr>
                  <a:t>1</a:t>
                </a:r>
              </a:p>
            </p:txBody>
          </p:sp>
        </p:grpSp>
        <p:graphicFrame>
          <p:nvGraphicFramePr>
            <p:cNvPr id="351260" name="Object 28"/>
            <p:cNvGraphicFramePr>
              <a:graphicFrameLocks noChangeAspect="1"/>
            </p:cNvGraphicFramePr>
            <p:nvPr>
              <p:extLst>
                <p:ext uri="{D42A27DB-BD31-4B8C-83A1-F6EECF244321}">
                  <p14:modId xmlns:p14="http://schemas.microsoft.com/office/powerpoint/2010/main" val="1320329430"/>
                </p:ext>
              </p:extLst>
            </p:nvPr>
          </p:nvGraphicFramePr>
          <p:xfrm>
            <a:off x="4227" y="2478"/>
            <a:ext cx="286" cy="344"/>
          </p:xfrm>
          <a:graphic>
            <a:graphicData uri="http://schemas.openxmlformats.org/presentationml/2006/ole">
              <mc:AlternateContent xmlns:mc="http://schemas.openxmlformats.org/markup-compatibility/2006">
                <mc:Choice xmlns:v="urn:schemas-microsoft-com:vml" Requires="v">
                  <p:oleObj name="公式" r:id="rId2" imgW="190440" imgH="228600" progId="Equation.3">
                    <p:embed/>
                  </p:oleObj>
                </mc:Choice>
                <mc:Fallback>
                  <p:oleObj name="公式" r:id="rId2" imgW="19044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7" y="2478"/>
                          <a:ext cx="286"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51261" name="Object 29"/>
          <p:cNvGraphicFramePr>
            <a:graphicFrameLocks noChangeAspect="1"/>
          </p:cNvGraphicFramePr>
          <p:nvPr>
            <p:extLst>
              <p:ext uri="{D42A27DB-BD31-4B8C-83A1-F6EECF244321}">
                <p14:modId xmlns:p14="http://schemas.microsoft.com/office/powerpoint/2010/main" val="3875788035"/>
              </p:ext>
            </p:extLst>
          </p:nvPr>
        </p:nvGraphicFramePr>
        <p:xfrm>
          <a:off x="899592" y="5018757"/>
          <a:ext cx="4129087" cy="498475"/>
        </p:xfrm>
        <a:graphic>
          <a:graphicData uri="http://schemas.openxmlformats.org/presentationml/2006/ole">
            <mc:AlternateContent xmlns:mc="http://schemas.openxmlformats.org/markup-compatibility/2006">
              <mc:Choice xmlns:v="urn:schemas-microsoft-com:vml" Requires="v">
                <p:oleObj name="公式" r:id="rId4" imgW="1892160" imgH="228600" progId="Equation.3">
                  <p:embed/>
                </p:oleObj>
              </mc:Choice>
              <mc:Fallback>
                <p:oleObj name="公式" r:id="rId4" imgW="1892160" imgH="228600" progId="Equation.3">
                  <p:embed/>
                  <p:pic>
                    <p:nvPicPr>
                      <p:cNvPr id="0" name=""/>
                      <p:cNvPicPr>
                        <a:picLocks noChangeAspect="1" noChangeArrowheads="1"/>
                      </p:cNvPicPr>
                      <p:nvPr/>
                    </p:nvPicPr>
                    <p:blipFill>
                      <a:blip r:embed="rId5"/>
                      <a:srcRect/>
                      <a:stretch>
                        <a:fillRect/>
                      </a:stretch>
                    </p:blipFill>
                    <p:spPr bwMode="auto">
                      <a:xfrm>
                        <a:off x="899592" y="5018757"/>
                        <a:ext cx="4129087"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1262" name="Object 30"/>
          <p:cNvGraphicFramePr>
            <a:graphicFrameLocks noChangeAspect="1"/>
          </p:cNvGraphicFramePr>
          <p:nvPr>
            <p:extLst>
              <p:ext uri="{D42A27DB-BD31-4B8C-83A1-F6EECF244321}">
                <p14:modId xmlns:p14="http://schemas.microsoft.com/office/powerpoint/2010/main" val="4252459463"/>
              </p:ext>
            </p:extLst>
          </p:nvPr>
        </p:nvGraphicFramePr>
        <p:xfrm>
          <a:off x="1439218" y="5517232"/>
          <a:ext cx="3852862" cy="498475"/>
        </p:xfrm>
        <a:graphic>
          <a:graphicData uri="http://schemas.openxmlformats.org/presentationml/2006/ole">
            <mc:AlternateContent xmlns:mc="http://schemas.openxmlformats.org/markup-compatibility/2006">
              <mc:Choice xmlns:v="urn:schemas-microsoft-com:vml" Requires="v">
                <p:oleObj name="公式" r:id="rId6" imgW="1765080" imgH="228600" progId="Equation.3">
                  <p:embed/>
                </p:oleObj>
              </mc:Choice>
              <mc:Fallback>
                <p:oleObj name="公式" r:id="rId6" imgW="1765080" imgH="228600" progId="Equation.3">
                  <p:embed/>
                  <p:pic>
                    <p:nvPicPr>
                      <p:cNvPr id="0" name=""/>
                      <p:cNvPicPr>
                        <a:picLocks noChangeAspect="1" noChangeArrowheads="1"/>
                      </p:cNvPicPr>
                      <p:nvPr/>
                    </p:nvPicPr>
                    <p:blipFill>
                      <a:blip r:embed="rId7"/>
                      <a:srcRect/>
                      <a:stretch>
                        <a:fillRect/>
                      </a:stretch>
                    </p:blipFill>
                    <p:spPr bwMode="auto">
                      <a:xfrm>
                        <a:off x="1439218" y="5517232"/>
                        <a:ext cx="3852862"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 name="Group 31"/>
          <p:cNvGrpSpPr>
            <a:grpSpLocks/>
          </p:cNvGrpSpPr>
          <p:nvPr/>
        </p:nvGrpSpPr>
        <p:grpSpPr bwMode="auto">
          <a:xfrm>
            <a:off x="2362200" y="3272507"/>
            <a:ext cx="5160963" cy="1822450"/>
            <a:chOff x="1488" y="1588"/>
            <a:chExt cx="3251" cy="1148"/>
          </a:xfrm>
        </p:grpSpPr>
        <p:sp>
          <p:nvSpPr>
            <p:cNvPr id="351264" name="Rectangle 32"/>
            <p:cNvSpPr>
              <a:spLocks noChangeArrowheads="1"/>
            </p:cNvSpPr>
            <p:nvPr/>
          </p:nvSpPr>
          <p:spPr bwMode="auto">
            <a:xfrm>
              <a:off x="4422" y="1588"/>
              <a:ext cx="317" cy="544"/>
            </a:xfrm>
            <a:prstGeom prst="rect">
              <a:avLst/>
            </a:prstGeom>
            <a:solidFill>
              <a:srgbClr val="FFFF99">
                <a:alpha val="50000"/>
              </a:srgbClr>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65" name="Line 33"/>
            <p:cNvSpPr>
              <a:spLocks noChangeShapeType="1"/>
            </p:cNvSpPr>
            <p:nvPr/>
          </p:nvSpPr>
          <p:spPr bwMode="auto">
            <a:xfrm flipV="1">
              <a:off x="1488" y="1824"/>
              <a:ext cx="2976" cy="912"/>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 name="Group 34"/>
          <p:cNvGrpSpPr>
            <a:grpSpLocks/>
          </p:cNvGrpSpPr>
          <p:nvPr/>
        </p:nvGrpSpPr>
        <p:grpSpPr bwMode="auto">
          <a:xfrm>
            <a:off x="3733800" y="3777332"/>
            <a:ext cx="4294188" cy="1317625"/>
            <a:chOff x="2352" y="1906"/>
            <a:chExt cx="2705" cy="830"/>
          </a:xfrm>
        </p:grpSpPr>
        <p:sp>
          <p:nvSpPr>
            <p:cNvPr id="351267" name="Rectangle 35"/>
            <p:cNvSpPr>
              <a:spLocks noChangeArrowheads="1"/>
            </p:cNvSpPr>
            <p:nvPr/>
          </p:nvSpPr>
          <p:spPr bwMode="auto">
            <a:xfrm>
              <a:off x="4422" y="1906"/>
              <a:ext cx="635" cy="272"/>
            </a:xfrm>
            <a:prstGeom prst="rect">
              <a:avLst/>
            </a:prstGeom>
            <a:solidFill>
              <a:schemeClr val="hlink">
                <a:alpha val="50000"/>
              </a:schemeClr>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68" name="Line 36"/>
            <p:cNvSpPr>
              <a:spLocks noChangeShapeType="1"/>
            </p:cNvSpPr>
            <p:nvPr/>
          </p:nvSpPr>
          <p:spPr bwMode="auto">
            <a:xfrm flipV="1">
              <a:off x="2352" y="2160"/>
              <a:ext cx="2304" cy="576"/>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 name="Group 37"/>
          <p:cNvGrpSpPr>
            <a:grpSpLocks/>
          </p:cNvGrpSpPr>
          <p:nvPr/>
        </p:nvGrpSpPr>
        <p:grpSpPr bwMode="auto">
          <a:xfrm>
            <a:off x="4724400" y="3777332"/>
            <a:ext cx="2655888" cy="1317625"/>
            <a:chOff x="2976" y="1906"/>
            <a:chExt cx="1673" cy="830"/>
          </a:xfrm>
        </p:grpSpPr>
        <p:sp>
          <p:nvSpPr>
            <p:cNvPr id="351270" name="Rectangle 38"/>
            <p:cNvSpPr>
              <a:spLocks noChangeArrowheads="1"/>
            </p:cNvSpPr>
            <p:nvPr/>
          </p:nvSpPr>
          <p:spPr bwMode="auto">
            <a:xfrm>
              <a:off x="4059" y="1906"/>
              <a:ext cx="590" cy="227"/>
            </a:xfrm>
            <a:prstGeom prst="rect">
              <a:avLst/>
            </a:prstGeom>
            <a:solidFill>
              <a:srgbClr val="FF99CC">
                <a:alpha val="50000"/>
              </a:srgbClr>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71" name="Line 39"/>
            <p:cNvSpPr>
              <a:spLocks noChangeShapeType="1"/>
            </p:cNvSpPr>
            <p:nvPr/>
          </p:nvSpPr>
          <p:spPr bwMode="auto">
            <a:xfrm flipV="1">
              <a:off x="2976" y="2112"/>
              <a:ext cx="1248" cy="624"/>
            </a:xfrm>
            <a:prstGeom prst="line">
              <a:avLst/>
            </a:prstGeom>
            <a:noFill/>
            <a:ln w="38100">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mc:AlternateContent xmlns:mc="http://schemas.openxmlformats.org/markup-compatibility/2006" xmlns:a14="http://schemas.microsoft.com/office/drawing/2010/main">
        <mc:Choice Requires="a14">
          <p:sp>
            <p:nvSpPr>
              <p:cNvPr id="7" name="对象 6"/>
              <p:cNvSpPr txBox="1"/>
              <p:nvPr/>
            </p:nvSpPr>
            <p:spPr bwMode="auto">
              <a:xfrm>
                <a:off x="874960" y="6062662"/>
                <a:ext cx="5353224" cy="73977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bar>
                        <m:barPr>
                          <m:pos m:val="top"/>
                          <m:ctrlPr>
                            <a:rPr lang="zh-CN" altLang="en-US" sz="2800" i="1" smtClean="0">
                              <a:solidFill>
                                <a:srgbClr val="000000"/>
                              </a:solidFill>
                              <a:latin typeface="Cambria Math" panose="02040503050406030204" pitchFamily="18" charset="0"/>
                            </a:rPr>
                          </m:ctrlPr>
                        </m:barP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𝐶</m:t>
                              </m:r>
                            </m:e>
                            <m:sub>
                              <m:r>
                                <a:rPr lang="zh-CN" altLang="en-US" sz="2800" b="0" i="1">
                                  <a:solidFill>
                                    <a:srgbClr val="000000"/>
                                  </a:solidFill>
                                  <a:latin typeface="Cambria Math" panose="02040503050406030204" pitchFamily="18" charset="0"/>
                                </a:rPr>
                                <m:t>𝑛</m:t>
                              </m:r>
                            </m:sub>
                          </m:sSub>
                        </m:e>
                      </m:bar>
                      <m:r>
                        <a:rPr lang="zh-CN" altLang="en-US" sz="2800" b="0" i="1">
                          <a:solidFill>
                            <a:srgbClr val="000000"/>
                          </a:solidFill>
                          <a:latin typeface="Cambria Math" panose="02040503050406030204" pitchFamily="18" charset="0"/>
                        </a:rPr>
                        <m:t>=</m:t>
                      </m:r>
                      <m:bar>
                        <m:barPr>
                          <m:pos m:val="top"/>
                          <m:ctrlPr>
                            <a:rPr lang="zh-CN" altLang="en-US" sz="2800" i="1">
                              <a:solidFill>
                                <a:srgbClr val="000000"/>
                              </a:solidFill>
                              <a:latin typeface="Cambria Math" panose="02040503050406030204" pitchFamily="18" charset="0"/>
                            </a:rPr>
                          </m:ctrlPr>
                        </m:barP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𝑋</m:t>
                              </m:r>
                            </m:e>
                            <m:sub>
                              <m:r>
                                <a:rPr lang="zh-CN" altLang="en-US" sz="2800" b="0" i="1">
                                  <a:solidFill>
                                    <a:srgbClr val="000000"/>
                                  </a:solidFill>
                                  <a:latin typeface="Cambria Math" panose="02040503050406030204" pitchFamily="18" charset="0"/>
                                </a:rPr>
                                <m:t>𝑛</m:t>
                              </m:r>
                            </m:sub>
                          </m:sSub>
                        </m:e>
                      </m:bar>
                      <m:r>
                        <a:rPr lang="en-US" altLang="zh-CN" sz="2800" b="0" i="1" smtClean="0">
                          <a:solidFill>
                            <a:srgbClr val="000000"/>
                          </a:solidFill>
                          <a:latin typeface="Cambria Math" panose="02040503050406030204" pitchFamily="18" charset="0"/>
                        </a:rPr>
                        <m:t> </m:t>
                      </m:r>
                      <m:bar>
                        <m:barPr>
                          <m:pos m:val="top"/>
                          <m:ctrlPr>
                            <a:rPr lang="zh-CN" altLang="en-US" sz="2800" i="1">
                              <a:solidFill>
                                <a:srgbClr val="000000"/>
                              </a:solidFill>
                              <a:latin typeface="Cambria Math" panose="02040503050406030204" pitchFamily="18" charset="0"/>
                            </a:rPr>
                          </m:ctrlPr>
                        </m:barP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𝑌</m:t>
                              </m:r>
                            </m:e>
                            <m:sub>
                              <m:r>
                                <a:rPr lang="zh-CN" altLang="en-US" sz="2800" b="0" i="1">
                                  <a:solidFill>
                                    <a:srgbClr val="000000"/>
                                  </a:solidFill>
                                  <a:latin typeface="Cambria Math" panose="02040503050406030204" pitchFamily="18" charset="0"/>
                                </a:rPr>
                                <m:t>𝑛</m:t>
                              </m:r>
                            </m:sub>
                          </m:sSub>
                        </m:e>
                      </m:bar>
                      <m:r>
                        <a:rPr lang="zh-CN" altLang="en-US" sz="2800" b="0" i="1">
                          <a:solidFill>
                            <a:srgbClr val="000000"/>
                          </a:solidFill>
                          <a:latin typeface="Cambria Math" panose="02040503050406030204" pitchFamily="18" charset="0"/>
                        </a:rPr>
                        <m:t>+</m:t>
                      </m:r>
                      <m:bar>
                        <m:barPr>
                          <m:pos m:val="top"/>
                          <m:ctrlPr>
                            <a:rPr lang="zh-CN" altLang="en-US" sz="2800" i="1">
                              <a:solidFill>
                                <a:srgbClr val="000000"/>
                              </a:solidFill>
                              <a:latin typeface="Cambria Math" panose="02040503050406030204" pitchFamily="18" charset="0"/>
                            </a:rPr>
                          </m:ctrlPr>
                        </m:barP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𝑋</m:t>
                              </m:r>
                            </m:e>
                            <m:sub>
                              <m:r>
                                <a:rPr lang="zh-CN" altLang="en-US" sz="2800" b="0" i="1">
                                  <a:solidFill>
                                    <a:srgbClr val="000000"/>
                                  </a:solidFill>
                                  <a:latin typeface="Cambria Math" panose="02040503050406030204" pitchFamily="18" charset="0"/>
                                </a:rPr>
                                <m:t>𝑛</m:t>
                              </m:r>
                            </m:sub>
                          </m:sSub>
                        </m:e>
                      </m:bar>
                      <m:r>
                        <a:rPr lang="en-US" altLang="zh-CN" sz="2800" b="0" i="1" smtClean="0">
                          <a:solidFill>
                            <a:srgbClr val="000000"/>
                          </a:solidFill>
                          <a:latin typeface="Cambria Math" panose="02040503050406030204" pitchFamily="18" charset="0"/>
                        </a:rPr>
                        <m:t> </m:t>
                      </m:r>
                      <m:bar>
                        <m:barPr>
                          <m:pos m:val="top"/>
                          <m:ctrlPr>
                            <a:rPr lang="zh-CN" altLang="en-US" sz="2800" i="1">
                              <a:solidFill>
                                <a:srgbClr val="000000"/>
                              </a:solidFill>
                              <a:latin typeface="Cambria Math" panose="02040503050406030204" pitchFamily="18" charset="0"/>
                            </a:rPr>
                          </m:ctrlPr>
                        </m:barP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𝐶</m:t>
                              </m:r>
                            </m:e>
                            <m:sub>
                              <m:r>
                                <a:rPr lang="zh-CN" altLang="en-US" sz="2800" b="0" i="1">
                                  <a:solidFill>
                                    <a:srgbClr val="000000"/>
                                  </a:solidFill>
                                  <a:latin typeface="Cambria Math" panose="02040503050406030204" pitchFamily="18" charset="0"/>
                                </a:rPr>
                                <m:t>𝑛</m:t>
                              </m:r>
                              <m:r>
                                <a:rPr lang="zh-CN" altLang="en-US" sz="2800" b="0" i="1">
                                  <a:solidFill>
                                    <a:srgbClr val="000000"/>
                                  </a:solidFill>
                                  <a:latin typeface="Cambria Math" panose="02040503050406030204" pitchFamily="18" charset="0"/>
                                </a:rPr>
                                <m:t>−1</m:t>
                              </m:r>
                            </m:sub>
                          </m:sSub>
                        </m:e>
                      </m:bar>
                      <m:r>
                        <a:rPr lang="zh-CN" altLang="en-US" sz="2800" b="0" i="1">
                          <a:solidFill>
                            <a:srgbClr val="000000"/>
                          </a:solidFill>
                          <a:latin typeface="Cambria Math" panose="02040503050406030204" pitchFamily="18" charset="0"/>
                        </a:rPr>
                        <m:t>+</m:t>
                      </m:r>
                      <m:bar>
                        <m:barPr>
                          <m:pos m:val="top"/>
                          <m:ctrlPr>
                            <a:rPr lang="zh-CN" altLang="en-US" sz="2800" i="1">
                              <a:solidFill>
                                <a:srgbClr val="000000"/>
                              </a:solidFill>
                              <a:latin typeface="Cambria Math" panose="02040503050406030204" pitchFamily="18" charset="0"/>
                            </a:rPr>
                          </m:ctrlPr>
                        </m:barP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𝑌</m:t>
                              </m:r>
                            </m:e>
                            <m:sub>
                              <m:r>
                                <a:rPr lang="zh-CN" altLang="en-US" sz="2800" b="0" i="1">
                                  <a:solidFill>
                                    <a:srgbClr val="000000"/>
                                  </a:solidFill>
                                  <a:latin typeface="Cambria Math" panose="02040503050406030204" pitchFamily="18" charset="0"/>
                                </a:rPr>
                                <m:t>𝑛</m:t>
                              </m:r>
                            </m:sub>
                          </m:sSub>
                        </m:e>
                      </m:bar>
                      <m:r>
                        <a:rPr lang="en-US" altLang="zh-CN" sz="2800" b="0" i="1" smtClean="0">
                          <a:solidFill>
                            <a:srgbClr val="000000"/>
                          </a:solidFill>
                          <a:latin typeface="Cambria Math" panose="02040503050406030204" pitchFamily="18" charset="0"/>
                        </a:rPr>
                        <m:t> </m:t>
                      </m:r>
                      <m:bar>
                        <m:barPr>
                          <m:pos m:val="top"/>
                          <m:ctrlPr>
                            <a:rPr lang="zh-CN" altLang="en-US" sz="2800" i="1">
                              <a:solidFill>
                                <a:srgbClr val="000000"/>
                              </a:solidFill>
                              <a:latin typeface="Cambria Math" panose="02040503050406030204" pitchFamily="18" charset="0"/>
                            </a:rPr>
                          </m:ctrlPr>
                        </m:barPr>
                        <m:e>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𝐶</m:t>
                              </m:r>
                            </m:e>
                            <m:sub>
                              <m:r>
                                <a:rPr lang="zh-CN" altLang="en-US" sz="2800" b="0" i="1">
                                  <a:solidFill>
                                    <a:srgbClr val="000000"/>
                                  </a:solidFill>
                                  <a:latin typeface="Cambria Math" panose="02040503050406030204" pitchFamily="18" charset="0"/>
                                </a:rPr>
                                <m:t>𝑛</m:t>
                              </m:r>
                              <m:r>
                                <a:rPr lang="zh-CN" altLang="en-US" sz="2800" b="0" i="1">
                                  <a:solidFill>
                                    <a:srgbClr val="000000"/>
                                  </a:solidFill>
                                  <a:latin typeface="Cambria Math" panose="02040503050406030204" pitchFamily="18" charset="0"/>
                                </a:rPr>
                                <m:t>−1</m:t>
                              </m:r>
                            </m:sub>
                          </m:sSub>
                        </m:e>
                      </m:bar>
                    </m:oMath>
                  </m:oMathPara>
                </a14:m>
                <a:endParaRPr lang="zh-CN" altLang="en-US" sz="2800" i="1" dirty="0"/>
              </a:p>
            </p:txBody>
          </p:sp>
        </mc:Choice>
        <mc:Fallback xmlns="">
          <p:sp>
            <p:nvSpPr>
              <p:cNvPr id="7" name="对象 6"/>
              <p:cNvSpPr txBox="1">
                <a:spLocks noRot="1" noChangeAspect="1" noMove="1" noResize="1" noEditPoints="1" noAdjustHandles="1" noChangeArrowheads="1" noChangeShapeType="1" noTextEdit="1"/>
              </p:cNvSpPr>
              <p:nvPr/>
            </p:nvSpPr>
            <p:spPr bwMode="auto">
              <a:xfrm>
                <a:off x="874960" y="6062662"/>
                <a:ext cx="5353224" cy="739777"/>
              </a:xfrm>
              <a:prstGeom prst="rect">
                <a:avLst/>
              </a:prstGeom>
              <a:blipFill>
                <a:blip r:embed="rId9"/>
                <a:stretch>
                  <a:fillRect/>
                </a:stretch>
              </a:blipFill>
              <a:ln>
                <a:noFill/>
              </a:ln>
            </p:spPr>
            <p:txBody>
              <a:bodyPr/>
              <a:lstStyle/>
              <a:p>
                <a:r>
                  <a:rPr lang="zh-CN" altLang="en-US">
                    <a:noFill/>
                  </a:rPr>
                  <a:t> </a:t>
                </a:r>
              </a:p>
            </p:txBody>
          </p:sp>
        </mc:Fallback>
      </mc:AlternateContent>
      <p:graphicFrame>
        <p:nvGraphicFramePr>
          <p:cNvPr id="8" name="对象 7"/>
          <p:cNvGraphicFramePr>
            <a:graphicFrameLocks noChangeAspect="1"/>
          </p:cNvGraphicFramePr>
          <p:nvPr>
            <p:extLst>
              <p:ext uri="{D42A27DB-BD31-4B8C-83A1-F6EECF244321}">
                <p14:modId xmlns:p14="http://schemas.microsoft.com/office/powerpoint/2010/main" val="3929819521"/>
              </p:ext>
            </p:extLst>
          </p:nvPr>
        </p:nvGraphicFramePr>
        <p:xfrm>
          <a:off x="899592" y="2955006"/>
          <a:ext cx="3481387" cy="1281112"/>
        </p:xfrm>
        <a:graphic>
          <a:graphicData uri="http://schemas.openxmlformats.org/presentationml/2006/ole">
            <mc:AlternateContent xmlns:mc="http://schemas.openxmlformats.org/markup-compatibility/2006">
              <mc:Choice xmlns:v="urn:schemas-microsoft-com:vml" Requires="v">
                <p:oleObj name="公式" r:id="rId10" imgW="1803400" imgH="533400" progId="Equation.3">
                  <p:embed/>
                </p:oleObj>
              </mc:Choice>
              <mc:Fallback>
                <p:oleObj name="公式" r:id="rId10" imgW="1803400" imgH="5334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9592" y="2955006"/>
                        <a:ext cx="3481387"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012461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35126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8" presetClass="entr" presetSubtype="3"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strips(upRight)">
                                      <p:cBhvr>
                                        <p:cTn id="21"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3"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strips(upRight)">
                                      <p:cBhvr>
                                        <p:cTn id="26"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18" presetClass="entr" presetSubtype="3"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strips(upRight)">
                                      <p:cBhvr>
                                        <p:cTn id="31"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499"/>
                                          </p:stCondLst>
                                        </p:cTn>
                                        <p:tgtEl>
                                          <p:spTgt spid="35126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10" name="灯片编号占位符 5"/>
          <p:cNvSpPr>
            <a:spLocks noGrp="1"/>
          </p:cNvSpPr>
          <p:nvPr>
            <p:ph type="sldNum" sz="quarter" idx="12"/>
          </p:nvPr>
        </p:nvSpPr>
        <p:spPr/>
        <p:txBody>
          <a:bodyPr/>
          <a:lstStyle/>
          <a:p>
            <a:fld id="{620A03B1-779E-4EC9-951D-1EE1A64C4918}" type="slidenum">
              <a:rPr lang="en-US" altLang="zh-CN"/>
              <a:pPr/>
              <a:t>9</a:t>
            </a:fld>
            <a:endParaRPr lang="en-US" altLang="zh-CN" dirty="0"/>
          </a:p>
        </p:txBody>
      </p:sp>
      <p:graphicFrame>
        <p:nvGraphicFramePr>
          <p:cNvPr id="354307" name="Object 3"/>
          <p:cNvGraphicFramePr>
            <a:graphicFrameLocks noGrp="1" noChangeAspect="1"/>
          </p:cNvGraphicFramePr>
          <p:nvPr>
            <p:ph sz="quarter" idx="1"/>
            <p:extLst>
              <p:ext uri="{D42A27DB-BD31-4B8C-83A1-F6EECF244321}">
                <p14:modId xmlns:p14="http://schemas.microsoft.com/office/powerpoint/2010/main" val="1858281105"/>
              </p:ext>
            </p:extLst>
          </p:nvPr>
        </p:nvGraphicFramePr>
        <p:xfrm>
          <a:off x="4729931" y="1737320"/>
          <a:ext cx="3946525" cy="4572000"/>
        </p:xfrm>
        <a:graphic>
          <a:graphicData uri="http://schemas.openxmlformats.org/presentationml/2006/ole">
            <mc:AlternateContent xmlns:mc="http://schemas.openxmlformats.org/markup-compatibility/2006">
              <mc:Choice xmlns:v="urn:schemas-microsoft-com:vml" Requires="v">
                <p:oleObj name="Image" r:id="rId2" imgW="6857143" imgH="7944490" progId="">
                  <p:embed/>
                </p:oleObj>
              </mc:Choice>
              <mc:Fallback>
                <p:oleObj name="Image" r:id="rId2" imgW="6857143" imgH="7944490" progId="">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9931" y="1737320"/>
                        <a:ext cx="3946525"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4308" name="Text Box 4"/>
          <p:cNvSpPr txBox="1">
            <a:spLocks noChangeArrowheads="1"/>
          </p:cNvSpPr>
          <p:nvPr/>
        </p:nvSpPr>
        <p:spPr bwMode="auto">
          <a:xfrm>
            <a:off x="914400" y="5013920"/>
            <a:ext cx="394563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latin typeface="等线" panose="02010600030101010101" pitchFamily="2" charset="-122"/>
                <a:ea typeface="等线" panose="02010600030101010101" pitchFamily="2" charset="-122"/>
              </a:rPr>
              <a:t>不化簡，用全部最小項實現，需要</a:t>
            </a:r>
            <a:r>
              <a:rPr lang="en-US" altLang="zh-CN" sz="2800" dirty="0">
                <a:solidFill>
                  <a:srgbClr val="FF0000"/>
                </a:solidFill>
                <a:latin typeface="等线" panose="02010600030101010101" pitchFamily="2" charset="-122"/>
                <a:ea typeface="等线" panose="02010600030101010101" pitchFamily="2" charset="-122"/>
              </a:rPr>
              <a:t>3</a:t>
            </a:r>
            <a:r>
              <a:rPr lang="zh-CN" altLang="en-US" sz="2800" dirty="0">
                <a:latin typeface="等线" panose="02010600030101010101" pitchFamily="2" charset="-122"/>
                <a:ea typeface="等线" panose="02010600030101010101" pitchFamily="2" charset="-122"/>
              </a:rPr>
              <a:t>級門。</a:t>
            </a:r>
          </a:p>
        </p:txBody>
      </p:sp>
      <p:sp>
        <p:nvSpPr>
          <p:cNvPr id="354309" name="Rectangle 5"/>
          <p:cNvSpPr>
            <a:spLocks noChangeArrowheads="1"/>
          </p:cNvSpPr>
          <p:nvPr/>
        </p:nvSpPr>
        <p:spPr bwMode="auto">
          <a:xfrm>
            <a:off x="533400" y="1340768"/>
            <a:ext cx="8153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Font typeface="Wingdings" pitchFamily="2" charset="2"/>
              <a:buChar char="l"/>
            </a:pPr>
            <a:r>
              <a:rPr kumimoji="1" lang="zh-CN" altLang="en-US" sz="3200" b="1" dirty="0">
                <a:latin typeface="等线" panose="02010600030101010101" pitchFamily="2" charset="-122"/>
                <a:ea typeface="等线" panose="02010600030101010101" pitchFamily="2" charset="-122"/>
              </a:rPr>
              <a:t>一位</a:t>
            </a:r>
            <a:r>
              <a:rPr kumimoji="1" lang="zh-CN" altLang="en-US" sz="3200" dirty="0">
                <a:latin typeface="等线" panose="02010600030101010101" pitchFamily="2" charset="-122"/>
                <a:ea typeface="等线" panose="02010600030101010101" pitchFamily="2" charset="-122"/>
              </a:rPr>
              <a:t>全加器實現方案</a:t>
            </a:r>
            <a:r>
              <a:rPr kumimoji="1" lang="en-US" altLang="zh-CN" sz="3200" dirty="0">
                <a:latin typeface="等线" panose="02010600030101010101" pitchFamily="2" charset="-122"/>
                <a:ea typeface="等线" panose="02010600030101010101" pitchFamily="2" charset="-122"/>
              </a:rPr>
              <a:t>1</a:t>
            </a:r>
          </a:p>
        </p:txBody>
      </p:sp>
      <p:graphicFrame>
        <p:nvGraphicFramePr>
          <p:cNvPr id="354310" name="Object 6"/>
          <p:cNvGraphicFramePr>
            <a:graphicFrameLocks noChangeAspect="1"/>
          </p:cNvGraphicFramePr>
          <p:nvPr>
            <p:extLst>
              <p:ext uri="{D42A27DB-BD31-4B8C-83A1-F6EECF244321}">
                <p14:modId xmlns:p14="http://schemas.microsoft.com/office/powerpoint/2010/main" val="1350342196"/>
              </p:ext>
            </p:extLst>
          </p:nvPr>
        </p:nvGraphicFramePr>
        <p:xfrm>
          <a:off x="796925" y="2088158"/>
          <a:ext cx="3767138" cy="1263650"/>
        </p:xfrm>
        <a:graphic>
          <a:graphicData uri="http://schemas.openxmlformats.org/presentationml/2006/ole">
            <mc:AlternateContent xmlns:mc="http://schemas.openxmlformats.org/markup-compatibility/2006">
              <mc:Choice xmlns:v="urn:schemas-microsoft-com:vml" Requires="v">
                <p:oleObj name="公式" r:id="rId4" imgW="1815840" imgH="533160" progId="Equation.3">
                  <p:embed/>
                </p:oleObj>
              </mc:Choice>
              <mc:Fallback>
                <p:oleObj name="公式" r:id="rId4" imgW="1815840" imgH="5331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925" y="2088158"/>
                        <a:ext cx="3767138" cy="126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4311" name="Object 7"/>
          <p:cNvGraphicFramePr>
            <a:graphicFrameLocks noChangeAspect="1"/>
          </p:cNvGraphicFramePr>
          <p:nvPr>
            <p:extLst>
              <p:ext uri="{D42A27DB-BD31-4B8C-83A1-F6EECF244321}">
                <p14:modId xmlns:p14="http://schemas.microsoft.com/office/powerpoint/2010/main" val="1670872413"/>
              </p:ext>
            </p:extLst>
          </p:nvPr>
        </p:nvGraphicFramePr>
        <p:xfrm>
          <a:off x="804863" y="3535958"/>
          <a:ext cx="3481387" cy="1281112"/>
        </p:xfrm>
        <a:graphic>
          <a:graphicData uri="http://schemas.openxmlformats.org/presentationml/2006/ole">
            <mc:AlternateContent xmlns:mc="http://schemas.openxmlformats.org/markup-compatibility/2006">
              <mc:Choice xmlns:v="urn:schemas-microsoft-com:vml" Requires="v">
                <p:oleObj name="公式" r:id="rId6" imgW="1803240" imgH="533160" progId="Equation.3">
                  <p:embed/>
                </p:oleObj>
              </mc:Choice>
              <mc:Fallback>
                <p:oleObj name="公式" r:id="rId6" imgW="1803240" imgH="5331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4863" y="3535958"/>
                        <a:ext cx="3481387" cy="1281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93273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4310"/>
                                        </p:tgtEl>
                                        <p:attrNameLst>
                                          <p:attrName>style.visibility</p:attrName>
                                        </p:attrNameLst>
                                      </p:cBhvr>
                                      <p:to>
                                        <p:strVal val="visible"/>
                                      </p:to>
                                    </p:set>
                                    <p:animEffect transition="in" filter="dissolve">
                                      <p:cBhvr>
                                        <p:cTn id="7" dur="500"/>
                                        <p:tgtEl>
                                          <p:spTgt spid="3543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54311"/>
                                        </p:tgtEl>
                                        <p:attrNameLst>
                                          <p:attrName>style.visibility</p:attrName>
                                        </p:attrNameLst>
                                      </p:cBhvr>
                                      <p:to>
                                        <p:strVal val="visible"/>
                                      </p:to>
                                    </p:set>
                                    <p:animEffect transition="in" filter="dissolve">
                                      <p:cBhvr>
                                        <p:cTn id="12" dur="500"/>
                                        <p:tgtEl>
                                          <p:spTgt spid="3543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35430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54308"/>
                                        </p:tgtEl>
                                        <p:attrNameLst>
                                          <p:attrName>style.visibility</p:attrName>
                                        </p:attrNameLst>
                                      </p:cBhvr>
                                      <p:to>
                                        <p:strVal val="visible"/>
                                      </p:to>
                                    </p:set>
                                    <p:anim calcmode="lin" valueType="num">
                                      <p:cBhvr additive="base">
                                        <p:cTn id="21" dur="500" fill="hold"/>
                                        <p:tgtEl>
                                          <p:spTgt spid="354308"/>
                                        </p:tgtEl>
                                        <p:attrNameLst>
                                          <p:attrName>ppt_x</p:attrName>
                                        </p:attrNameLst>
                                      </p:cBhvr>
                                      <p:tavLst>
                                        <p:tav tm="0">
                                          <p:val>
                                            <p:strVal val="#ppt_x"/>
                                          </p:val>
                                        </p:tav>
                                        <p:tav tm="100000">
                                          <p:val>
                                            <p:strVal val="#ppt_x"/>
                                          </p:val>
                                        </p:tav>
                                      </p:tavLst>
                                    </p:anim>
                                    <p:anim calcmode="lin" valueType="num">
                                      <p:cBhvr additive="base">
                                        <p:cTn id="22" dur="500" fill="hold"/>
                                        <p:tgtEl>
                                          <p:spTgt spid="3543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914400" y="44624"/>
            <a:ext cx="7772400" cy="1143000"/>
          </a:xfrm>
        </p:spPr>
        <p:txBody>
          <a:bodyPr/>
          <a:lstStyle/>
          <a:p>
            <a:r>
              <a:rPr lang="en-US" altLang="zh-CN" sz="3600" dirty="0"/>
              <a:t>3.3.7   </a:t>
            </a:r>
            <a:r>
              <a:rPr lang="zh-CN" altLang="en-US" sz="3600" dirty="0"/>
              <a:t>運算器</a:t>
            </a:r>
            <a:endParaRPr lang="en-US" altLang="zh-CN" sz="3600" dirty="0"/>
          </a:p>
        </p:txBody>
      </p:sp>
      <p:sp>
        <p:nvSpPr>
          <p:cNvPr id="16" name="灯片编号占位符 5"/>
          <p:cNvSpPr>
            <a:spLocks noGrp="1"/>
          </p:cNvSpPr>
          <p:nvPr>
            <p:ph type="sldNum" sz="quarter" idx="12"/>
          </p:nvPr>
        </p:nvSpPr>
        <p:spPr/>
        <p:txBody>
          <a:bodyPr/>
          <a:lstStyle/>
          <a:p>
            <a:fld id="{488F63CB-4BD1-4DD0-AADD-1D0A3ABACED8}" type="slidenum">
              <a:rPr lang="en-US" altLang="zh-CN"/>
              <a:pPr/>
              <a:t>10</a:t>
            </a:fld>
            <a:endParaRPr lang="en-US" altLang="zh-CN" dirty="0"/>
          </a:p>
        </p:txBody>
      </p:sp>
      <p:grpSp>
        <p:nvGrpSpPr>
          <p:cNvPr id="2" name="Group 3"/>
          <p:cNvGrpSpPr>
            <a:grpSpLocks/>
          </p:cNvGrpSpPr>
          <p:nvPr/>
        </p:nvGrpSpPr>
        <p:grpSpPr bwMode="auto">
          <a:xfrm>
            <a:off x="900113" y="1833564"/>
            <a:ext cx="5761037" cy="468313"/>
            <a:chOff x="567" y="1155"/>
            <a:chExt cx="3629" cy="295"/>
          </a:xfrm>
        </p:grpSpPr>
        <p:sp>
          <p:nvSpPr>
            <p:cNvPr id="355332" name="Text Box 4"/>
            <p:cNvSpPr txBox="1">
              <a:spLocks noChangeArrowheads="1"/>
            </p:cNvSpPr>
            <p:nvPr/>
          </p:nvSpPr>
          <p:spPr bwMode="auto">
            <a:xfrm>
              <a:off x="567" y="1162"/>
              <a:ext cx="36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latin typeface="等线" panose="02010600030101010101" pitchFamily="2" charset="-122"/>
                  <a:ea typeface="等线" panose="02010600030101010101" pitchFamily="2" charset="-122"/>
                </a:rPr>
                <a:t>寫        的運算式</a:t>
              </a:r>
            </a:p>
          </p:txBody>
        </p:sp>
        <p:grpSp>
          <p:nvGrpSpPr>
            <p:cNvPr id="3" name="Group 5"/>
            <p:cNvGrpSpPr>
              <a:grpSpLocks/>
            </p:cNvGrpSpPr>
            <p:nvPr/>
          </p:nvGrpSpPr>
          <p:grpSpPr bwMode="auto">
            <a:xfrm>
              <a:off x="800" y="1155"/>
              <a:ext cx="395" cy="267"/>
              <a:chOff x="800" y="1155"/>
              <a:chExt cx="395" cy="267"/>
            </a:xfrm>
          </p:grpSpPr>
          <p:graphicFrame>
            <p:nvGraphicFramePr>
              <p:cNvPr id="355334" name="Object 6"/>
              <p:cNvGraphicFramePr>
                <a:graphicFrameLocks noChangeAspect="1"/>
              </p:cNvGraphicFramePr>
              <p:nvPr>
                <p:extLst>
                  <p:ext uri="{D42A27DB-BD31-4B8C-83A1-F6EECF244321}">
                    <p14:modId xmlns:p14="http://schemas.microsoft.com/office/powerpoint/2010/main" val="3531690803"/>
                  </p:ext>
                </p:extLst>
              </p:nvPr>
            </p:nvGraphicFramePr>
            <p:xfrm>
              <a:off x="800" y="1155"/>
              <a:ext cx="184" cy="260"/>
            </p:xfrm>
            <a:graphic>
              <a:graphicData uri="http://schemas.openxmlformats.org/presentationml/2006/ole">
                <mc:AlternateContent xmlns:mc="http://schemas.openxmlformats.org/markup-compatibility/2006">
                  <mc:Choice xmlns:v="urn:schemas-microsoft-com:vml" Requires="v">
                    <p:oleObj name="公式" r:id="rId2" imgW="152280" imgH="215640" progId="Equation.3">
                      <p:embed/>
                    </p:oleObj>
                  </mc:Choice>
                  <mc:Fallback>
                    <p:oleObj name="公式" r:id="rId2" imgW="15228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 y="1155"/>
                            <a:ext cx="184"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5335" name="Object 7"/>
              <p:cNvGraphicFramePr>
                <a:graphicFrameLocks noChangeAspect="1"/>
              </p:cNvGraphicFramePr>
              <p:nvPr>
                <p:extLst>
                  <p:ext uri="{D42A27DB-BD31-4B8C-83A1-F6EECF244321}">
                    <p14:modId xmlns:p14="http://schemas.microsoft.com/office/powerpoint/2010/main" val="321055197"/>
                  </p:ext>
                </p:extLst>
              </p:nvPr>
            </p:nvGraphicFramePr>
            <p:xfrm>
              <a:off x="1027" y="1162"/>
              <a:ext cx="168" cy="260"/>
            </p:xfrm>
            <a:graphic>
              <a:graphicData uri="http://schemas.openxmlformats.org/presentationml/2006/ole">
                <mc:AlternateContent xmlns:mc="http://schemas.openxmlformats.org/markup-compatibility/2006">
                  <mc:Choice xmlns:v="urn:schemas-microsoft-com:vml" Requires="v">
                    <p:oleObj name="公式" r:id="rId4" imgW="139680" imgH="215640" progId="Equation.3">
                      <p:embed/>
                    </p:oleObj>
                  </mc:Choice>
                  <mc:Fallback>
                    <p:oleObj name="公式" r:id="rId4" imgW="139680" imgH="215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 y="1162"/>
                            <a:ext cx="168" cy="2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355336" name="Object 8"/>
          <p:cNvGraphicFramePr>
            <a:graphicFrameLocks noChangeAspect="1"/>
          </p:cNvGraphicFramePr>
          <p:nvPr>
            <p:extLst>
              <p:ext uri="{D42A27DB-BD31-4B8C-83A1-F6EECF244321}">
                <p14:modId xmlns:p14="http://schemas.microsoft.com/office/powerpoint/2010/main" val="4056255227"/>
              </p:ext>
            </p:extLst>
          </p:nvPr>
        </p:nvGraphicFramePr>
        <p:xfrm>
          <a:off x="693738" y="2576513"/>
          <a:ext cx="7366000" cy="620712"/>
        </p:xfrm>
        <a:graphic>
          <a:graphicData uri="http://schemas.openxmlformats.org/presentationml/2006/ole">
            <mc:AlternateContent xmlns:mc="http://schemas.openxmlformats.org/markup-compatibility/2006">
              <mc:Choice xmlns:v="urn:schemas-microsoft-com:vml" Requires="v">
                <p:oleObj name="公式" r:id="rId6" imgW="3162240" imgH="266400" progId="Equation.3">
                  <p:embed/>
                </p:oleObj>
              </mc:Choice>
              <mc:Fallback>
                <p:oleObj name="公式" r:id="rId6" imgW="3162240" imgH="266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738" y="2576513"/>
                        <a:ext cx="7366000" cy="620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5337" name="Object 9"/>
          <p:cNvGraphicFramePr>
            <a:graphicFrameLocks noChangeAspect="1"/>
          </p:cNvGraphicFramePr>
          <p:nvPr>
            <p:extLst>
              <p:ext uri="{D42A27DB-BD31-4B8C-83A1-F6EECF244321}">
                <p14:modId xmlns:p14="http://schemas.microsoft.com/office/powerpoint/2010/main" val="1034792158"/>
              </p:ext>
            </p:extLst>
          </p:nvPr>
        </p:nvGraphicFramePr>
        <p:xfrm>
          <a:off x="523875" y="3262313"/>
          <a:ext cx="8259763" cy="688975"/>
        </p:xfrm>
        <a:graphic>
          <a:graphicData uri="http://schemas.openxmlformats.org/presentationml/2006/ole">
            <mc:AlternateContent xmlns:mc="http://schemas.openxmlformats.org/markup-compatibility/2006">
              <mc:Choice xmlns:v="urn:schemas-microsoft-com:vml" Requires="v">
                <p:oleObj name="公式" r:id="rId8" imgW="3504960" imgH="291960" progId="Equation.3">
                  <p:embed/>
                </p:oleObj>
              </mc:Choice>
              <mc:Fallback>
                <p:oleObj name="公式" r:id="rId8" imgW="3504960" imgH="29196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3875" y="3262313"/>
                        <a:ext cx="8259763"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5338" name="Object 10"/>
          <p:cNvGraphicFramePr>
            <a:graphicFrameLocks noChangeAspect="1"/>
          </p:cNvGraphicFramePr>
          <p:nvPr>
            <p:extLst>
              <p:ext uri="{D42A27DB-BD31-4B8C-83A1-F6EECF244321}">
                <p14:modId xmlns:p14="http://schemas.microsoft.com/office/powerpoint/2010/main" val="3163336"/>
              </p:ext>
            </p:extLst>
          </p:nvPr>
        </p:nvGraphicFramePr>
        <p:xfrm>
          <a:off x="722313" y="4267200"/>
          <a:ext cx="4506912" cy="588963"/>
        </p:xfrm>
        <a:graphic>
          <a:graphicData uri="http://schemas.openxmlformats.org/presentationml/2006/ole">
            <mc:AlternateContent xmlns:mc="http://schemas.openxmlformats.org/markup-compatibility/2006">
              <mc:Choice xmlns:v="urn:schemas-microsoft-com:vml" Requires="v">
                <p:oleObj name="公式" r:id="rId10" imgW="1942920" imgH="253800" progId="Equation.3">
                  <p:embed/>
                </p:oleObj>
              </mc:Choice>
              <mc:Fallback>
                <p:oleObj name="公式" r:id="rId10" imgW="1942920" imgH="2538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2313" y="4267200"/>
                        <a:ext cx="4506912" cy="588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5339" name="Object 11"/>
          <p:cNvGraphicFramePr>
            <a:graphicFrameLocks noChangeAspect="1"/>
          </p:cNvGraphicFramePr>
          <p:nvPr>
            <p:extLst>
              <p:ext uri="{D42A27DB-BD31-4B8C-83A1-F6EECF244321}">
                <p14:modId xmlns:p14="http://schemas.microsoft.com/office/powerpoint/2010/main" val="4117640115"/>
              </p:ext>
            </p:extLst>
          </p:nvPr>
        </p:nvGraphicFramePr>
        <p:xfrm>
          <a:off x="635000" y="4876800"/>
          <a:ext cx="5418138" cy="647700"/>
        </p:xfrm>
        <a:graphic>
          <a:graphicData uri="http://schemas.openxmlformats.org/presentationml/2006/ole">
            <mc:AlternateContent xmlns:mc="http://schemas.openxmlformats.org/markup-compatibility/2006">
              <mc:Choice xmlns:v="urn:schemas-microsoft-com:vml" Requires="v">
                <p:oleObj name="公式" r:id="rId12" imgW="2336760" imgH="279360" progId="Equation.3">
                  <p:embed/>
                </p:oleObj>
              </mc:Choice>
              <mc:Fallback>
                <p:oleObj name="公式" r:id="rId12" imgW="2336760" imgH="27936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5000" y="4876800"/>
                        <a:ext cx="5418138"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5340" name="Text Box 12"/>
          <p:cNvSpPr txBox="1">
            <a:spLocks noChangeArrowheads="1"/>
          </p:cNvSpPr>
          <p:nvPr/>
        </p:nvSpPr>
        <p:spPr bwMode="auto">
          <a:xfrm>
            <a:off x="914400" y="5805264"/>
            <a:ext cx="6121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dirty="0">
                <a:latin typeface="等线" panose="02010600030101010101" pitchFamily="2" charset="-122"/>
                <a:ea typeface="等线" panose="02010600030101010101" pitchFamily="2" charset="-122"/>
              </a:rPr>
              <a:t>經變換後只要</a:t>
            </a:r>
            <a:r>
              <a:rPr lang="en-US" altLang="zh-CN" sz="2800" dirty="0">
                <a:solidFill>
                  <a:srgbClr val="FF0000"/>
                </a:solidFill>
                <a:latin typeface="等线" panose="02010600030101010101" pitchFamily="2" charset="-122"/>
                <a:ea typeface="等线" panose="02010600030101010101" pitchFamily="2" charset="-122"/>
              </a:rPr>
              <a:t>2</a:t>
            </a:r>
            <a:r>
              <a:rPr lang="zh-CN" altLang="en-US" sz="2800" dirty="0">
                <a:latin typeface="等线" panose="02010600030101010101" pitchFamily="2" charset="-122"/>
                <a:ea typeface="等线" panose="02010600030101010101" pitchFamily="2" charset="-122"/>
              </a:rPr>
              <a:t>級門。</a:t>
            </a:r>
          </a:p>
        </p:txBody>
      </p:sp>
      <p:sp>
        <p:nvSpPr>
          <p:cNvPr id="355341" name="Rectangle 13"/>
          <p:cNvSpPr>
            <a:spLocks noChangeArrowheads="1"/>
          </p:cNvSpPr>
          <p:nvPr/>
        </p:nvSpPr>
        <p:spPr bwMode="auto">
          <a:xfrm>
            <a:off x="533400" y="1209823"/>
            <a:ext cx="8153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Font typeface="Wingdings" pitchFamily="2" charset="2"/>
              <a:buChar char="l"/>
            </a:pPr>
            <a:r>
              <a:rPr kumimoji="1" lang="zh-CN" altLang="en-US" sz="3200" b="1" dirty="0">
                <a:latin typeface="等线" panose="02010600030101010101" pitchFamily="2" charset="-122"/>
                <a:ea typeface="等线" panose="02010600030101010101" pitchFamily="2" charset="-122"/>
              </a:rPr>
              <a:t>一位</a:t>
            </a:r>
            <a:r>
              <a:rPr kumimoji="1" lang="zh-CN" altLang="en-US" sz="3200" dirty="0">
                <a:latin typeface="等线" panose="02010600030101010101" pitchFamily="2" charset="-122"/>
                <a:ea typeface="等线" panose="02010600030101010101" pitchFamily="2" charset="-122"/>
              </a:rPr>
              <a:t>全加器實現方案</a:t>
            </a:r>
            <a:r>
              <a:rPr kumimoji="1" lang="en-US" altLang="zh-CN" sz="3200" dirty="0">
                <a:latin typeface="等线" panose="02010600030101010101" pitchFamily="2" charset="-122"/>
                <a:ea typeface="等线" panose="02010600030101010101" pitchFamily="2" charset="-122"/>
              </a:rPr>
              <a:t>2</a:t>
            </a:r>
          </a:p>
        </p:txBody>
      </p:sp>
    </p:spTree>
    <p:extLst>
      <p:ext uri="{BB962C8B-B14F-4D97-AF65-F5344CB8AC3E}">
        <p14:creationId xmlns:p14="http://schemas.microsoft.com/office/powerpoint/2010/main" val="24865174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35533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355337"/>
                                        </p:tgtEl>
                                        <p:attrNameLst>
                                          <p:attrName>style.visibility</p:attrName>
                                        </p:attrNameLst>
                                      </p:cBhvr>
                                      <p:to>
                                        <p:strVal val="visible"/>
                                      </p:to>
                                    </p:set>
                                    <p:animEffect transition="in" filter="blinds(horizontal)">
                                      <p:cBhvr>
                                        <p:cTn id="16" dur="500"/>
                                        <p:tgtEl>
                                          <p:spTgt spid="3553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355338"/>
                                        </p:tgtEl>
                                        <p:attrNameLst>
                                          <p:attrName>style.visibility</p:attrName>
                                        </p:attrNameLst>
                                      </p:cBhvr>
                                      <p:to>
                                        <p:strVal val="visible"/>
                                      </p:to>
                                    </p:set>
                                    <p:anim calcmode="lin" valueType="num">
                                      <p:cBhvr additive="base">
                                        <p:cTn id="21" dur="500" fill="hold"/>
                                        <p:tgtEl>
                                          <p:spTgt spid="355338"/>
                                        </p:tgtEl>
                                        <p:attrNameLst>
                                          <p:attrName>ppt_x</p:attrName>
                                        </p:attrNameLst>
                                      </p:cBhvr>
                                      <p:tavLst>
                                        <p:tav tm="0">
                                          <p:val>
                                            <p:strVal val="0-#ppt_w/2"/>
                                          </p:val>
                                        </p:tav>
                                        <p:tav tm="100000">
                                          <p:val>
                                            <p:strVal val="#ppt_x"/>
                                          </p:val>
                                        </p:tav>
                                      </p:tavLst>
                                    </p:anim>
                                    <p:anim calcmode="lin" valueType="num">
                                      <p:cBhvr additive="base">
                                        <p:cTn id="22" dur="500" fill="hold"/>
                                        <p:tgtEl>
                                          <p:spTgt spid="355338"/>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355339"/>
                                        </p:tgtEl>
                                        <p:attrNameLst>
                                          <p:attrName>style.visibility</p:attrName>
                                        </p:attrNameLst>
                                      </p:cBhvr>
                                      <p:to>
                                        <p:strVal val="visible"/>
                                      </p:to>
                                    </p:set>
                                    <p:anim calcmode="lin" valueType="num">
                                      <p:cBhvr additive="base">
                                        <p:cTn id="27" dur="500" fill="hold"/>
                                        <p:tgtEl>
                                          <p:spTgt spid="355339"/>
                                        </p:tgtEl>
                                        <p:attrNameLst>
                                          <p:attrName>ppt_x</p:attrName>
                                        </p:attrNameLst>
                                      </p:cBhvr>
                                      <p:tavLst>
                                        <p:tav tm="0">
                                          <p:val>
                                            <p:strVal val="0-#ppt_w/2"/>
                                          </p:val>
                                        </p:tav>
                                        <p:tav tm="100000">
                                          <p:val>
                                            <p:strVal val="#ppt_x"/>
                                          </p:val>
                                        </p:tav>
                                      </p:tavLst>
                                    </p:anim>
                                    <p:anim calcmode="lin" valueType="num">
                                      <p:cBhvr additive="base">
                                        <p:cTn id="28" dur="500" fill="hold"/>
                                        <p:tgtEl>
                                          <p:spTgt spid="355339"/>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55340"/>
                                        </p:tgtEl>
                                        <p:attrNameLst>
                                          <p:attrName>style.visibility</p:attrName>
                                        </p:attrNameLst>
                                      </p:cBhvr>
                                      <p:to>
                                        <p:strVal val="visible"/>
                                      </p:to>
                                    </p:set>
                                    <p:anim calcmode="lin" valueType="num">
                                      <p:cBhvr additive="base">
                                        <p:cTn id="33" dur="500" fill="hold"/>
                                        <p:tgtEl>
                                          <p:spTgt spid="355340"/>
                                        </p:tgtEl>
                                        <p:attrNameLst>
                                          <p:attrName>ppt_x</p:attrName>
                                        </p:attrNameLst>
                                      </p:cBhvr>
                                      <p:tavLst>
                                        <p:tav tm="0">
                                          <p:val>
                                            <p:strVal val="#ppt_x"/>
                                          </p:val>
                                        </p:tav>
                                        <p:tav tm="100000">
                                          <p:val>
                                            <p:strVal val="#ppt_x"/>
                                          </p:val>
                                        </p:tav>
                                      </p:tavLst>
                                    </p:anim>
                                    <p:anim calcmode="lin" valueType="num">
                                      <p:cBhvr additive="base">
                                        <p:cTn id="34" dur="500" fill="hold"/>
                                        <p:tgtEl>
                                          <p:spTgt spid="355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4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a:xfrm>
            <a:off x="914400" y="-27384"/>
            <a:ext cx="7772400" cy="1143000"/>
          </a:xfrm>
        </p:spPr>
        <p:txBody>
          <a:bodyPr/>
          <a:lstStyle/>
          <a:p>
            <a:r>
              <a:rPr lang="en-US" altLang="zh-CN" sz="3600" dirty="0"/>
              <a:t>3.3.7   </a:t>
            </a:r>
            <a:r>
              <a:rPr lang="zh-CN" altLang="en-US" sz="3600" dirty="0"/>
              <a:t>運算器</a:t>
            </a:r>
            <a:endParaRPr lang="en-US" altLang="zh-CN" sz="3600" dirty="0"/>
          </a:p>
        </p:txBody>
      </p:sp>
      <p:sp>
        <p:nvSpPr>
          <p:cNvPr id="9" name="灯片编号占位符 6"/>
          <p:cNvSpPr>
            <a:spLocks noGrp="1"/>
          </p:cNvSpPr>
          <p:nvPr>
            <p:ph type="sldNum" sz="quarter" idx="12"/>
          </p:nvPr>
        </p:nvSpPr>
        <p:spPr/>
        <p:txBody>
          <a:bodyPr/>
          <a:lstStyle/>
          <a:p>
            <a:fld id="{2D94A4C0-29A6-4ADA-B055-164690EF772A}" type="slidenum">
              <a:rPr lang="en-US" altLang="zh-CN"/>
              <a:pPr/>
              <a:t>11</a:t>
            </a:fld>
            <a:endParaRPr lang="en-US" altLang="zh-CN" dirty="0"/>
          </a:p>
        </p:txBody>
      </p:sp>
      <p:graphicFrame>
        <p:nvGraphicFramePr>
          <p:cNvPr id="356355" name="Object 3"/>
          <p:cNvGraphicFramePr>
            <a:graphicFrameLocks noGrp="1" noChangeAspect="1"/>
          </p:cNvGraphicFramePr>
          <p:nvPr>
            <p:ph sz="quarter" idx="1"/>
            <p:extLst>
              <p:ext uri="{D42A27DB-BD31-4B8C-83A1-F6EECF244321}">
                <p14:modId xmlns:p14="http://schemas.microsoft.com/office/powerpoint/2010/main" val="3512076462"/>
              </p:ext>
            </p:extLst>
          </p:nvPr>
        </p:nvGraphicFramePr>
        <p:xfrm>
          <a:off x="5181538" y="2143991"/>
          <a:ext cx="3616325" cy="4570413"/>
        </p:xfrm>
        <a:graphic>
          <a:graphicData uri="http://schemas.openxmlformats.org/presentationml/2006/ole">
            <mc:AlternateContent xmlns:mc="http://schemas.openxmlformats.org/markup-compatibility/2006">
              <mc:Choice xmlns:v="urn:schemas-microsoft-com:vml" Requires="v">
                <p:oleObj name="Image" r:id="rId2" imgW="5495510" imgH="6945306" progId="">
                  <p:embed/>
                </p:oleObj>
              </mc:Choice>
              <mc:Fallback>
                <p:oleObj name="Image" r:id="rId2" imgW="5495510" imgH="6945306" progId="">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538" y="2143991"/>
                        <a:ext cx="3616325" cy="4570413"/>
                      </a:xfrm>
                      <a:prstGeom prst="rect">
                        <a:avLst/>
                      </a:prstGeom>
                      <a:noFill/>
                      <a:ln>
                        <a:noFill/>
                      </a:ln>
                      <a:effectLst/>
                    </p:spPr>
                  </p:pic>
                </p:oleObj>
              </mc:Fallback>
            </mc:AlternateContent>
          </a:graphicData>
        </a:graphic>
      </p:graphicFrame>
      <p:graphicFrame>
        <p:nvGraphicFramePr>
          <p:cNvPr id="356356" name="Object 4"/>
          <p:cNvGraphicFramePr>
            <a:graphicFrameLocks noChangeAspect="1"/>
          </p:cNvGraphicFramePr>
          <p:nvPr>
            <p:extLst>
              <p:ext uri="{D42A27DB-BD31-4B8C-83A1-F6EECF244321}">
                <p14:modId xmlns:p14="http://schemas.microsoft.com/office/powerpoint/2010/main" val="427485264"/>
              </p:ext>
            </p:extLst>
          </p:nvPr>
        </p:nvGraphicFramePr>
        <p:xfrm>
          <a:off x="251520" y="1700808"/>
          <a:ext cx="7223273" cy="601245"/>
        </p:xfrm>
        <a:graphic>
          <a:graphicData uri="http://schemas.openxmlformats.org/presentationml/2006/ole">
            <mc:AlternateContent xmlns:mc="http://schemas.openxmlformats.org/markup-compatibility/2006">
              <mc:Choice xmlns:v="urn:schemas-microsoft-com:vml" Requires="v">
                <p:oleObj name="公式" r:id="rId4" imgW="3504960" imgH="291960" progId="Equation.3">
                  <p:embed/>
                </p:oleObj>
              </mc:Choice>
              <mc:Fallback>
                <p:oleObj name="公式" r:id="rId4" imgW="3504960" imgH="2919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20" y="1700808"/>
                        <a:ext cx="7223273" cy="601245"/>
                      </a:xfrm>
                      <a:prstGeom prst="rect">
                        <a:avLst/>
                      </a:prstGeom>
                      <a:noFill/>
                    </p:spPr>
                  </p:pic>
                </p:oleObj>
              </mc:Fallback>
            </mc:AlternateContent>
          </a:graphicData>
        </a:graphic>
      </p:graphicFrame>
      <p:graphicFrame>
        <p:nvGraphicFramePr>
          <p:cNvPr id="356357" name="Object 5"/>
          <p:cNvGraphicFramePr>
            <a:graphicFrameLocks noChangeAspect="1"/>
          </p:cNvGraphicFramePr>
          <p:nvPr>
            <p:extLst>
              <p:ext uri="{D42A27DB-BD31-4B8C-83A1-F6EECF244321}">
                <p14:modId xmlns:p14="http://schemas.microsoft.com/office/powerpoint/2010/main" val="1263226912"/>
              </p:ext>
            </p:extLst>
          </p:nvPr>
        </p:nvGraphicFramePr>
        <p:xfrm>
          <a:off x="177800" y="2430421"/>
          <a:ext cx="4739145" cy="566531"/>
        </p:xfrm>
        <a:graphic>
          <a:graphicData uri="http://schemas.openxmlformats.org/presentationml/2006/ole">
            <mc:AlternateContent xmlns:mc="http://schemas.openxmlformats.org/markup-compatibility/2006">
              <mc:Choice xmlns:v="urn:schemas-microsoft-com:vml" Requires="v">
                <p:oleObj name="公式" r:id="rId6" imgW="2336760" imgH="279360" progId="Equation.3">
                  <p:embed/>
                </p:oleObj>
              </mc:Choice>
              <mc:Fallback>
                <p:oleObj name="公式" r:id="rId6" imgW="2336760" imgH="2793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800" y="2430421"/>
                        <a:ext cx="4739145" cy="566531"/>
                      </a:xfrm>
                      <a:prstGeom prst="rect">
                        <a:avLst/>
                      </a:prstGeom>
                      <a:noFill/>
                    </p:spPr>
                  </p:pic>
                </p:oleObj>
              </mc:Fallback>
            </mc:AlternateContent>
          </a:graphicData>
        </a:graphic>
      </p:graphicFrame>
      <p:sp>
        <p:nvSpPr>
          <p:cNvPr id="356358" name="Rectangle 6"/>
          <p:cNvSpPr>
            <a:spLocks noChangeArrowheads="1"/>
          </p:cNvSpPr>
          <p:nvPr/>
        </p:nvSpPr>
        <p:spPr bwMode="auto">
          <a:xfrm>
            <a:off x="533400" y="1066800"/>
            <a:ext cx="81534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folHlink"/>
              </a:buClr>
              <a:buFont typeface="Wingdings" pitchFamily="2" charset="2"/>
              <a:buChar char="l"/>
            </a:pPr>
            <a:r>
              <a:rPr kumimoji="1" lang="zh-CN" altLang="en-US" sz="3200" b="1" dirty="0">
                <a:latin typeface="等线" panose="02010600030101010101" pitchFamily="2" charset="-122"/>
                <a:ea typeface="等线" panose="02010600030101010101" pitchFamily="2" charset="-122"/>
              </a:rPr>
              <a:t>一位</a:t>
            </a:r>
            <a:r>
              <a:rPr kumimoji="1" lang="zh-CN" altLang="en-US" sz="3200" dirty="0">
                <a:latin typeface="等线" panose="02010600030101010101" pitchFamily="2" charset="-122"/>
                <a:ea typeface="等线" panose="02010600030101010101" pitchFamily="2" charset="-122"/>
              </a:rPr>
              <a:t>全加器實現方案</a:t>
            </a:r>
            <a:r>
              <a:rPr kumimoji="1" lang="en-US" altLang="zh-CN" sz="3200" dirty="0">
                <a:latin typeface="等线" panose="02010600030101010101" pitchFamily="2" charset="-122"/>
                <a:ea typeface="等线" panose="02010600030101010101" pitchFamily="2" charset="-122"/>
              </a:rPr>
              <a:t>2(</a:t>
            </a:r>
            <a:r>
              <a:rPr kumimoji="1" lang="zh-CN" altLang="en-US" sz="3200" dirty="0">
                <a:latin typeface="等线" panose="02010600030101010101" pitchFamily="2" charset="-122"/>
                <a:ea typeface="等线" panose="02010600030101010101" pitchFamily="2" charset="-122"/>
              </a:rPr>
              <a:t>續）</a:t>
            </a:r>
          </a:p>
        </p:txBody>
      </p:sp>
    </p:spTree>
    <p:extLst>
      <p:ext uri="{BB962C8B-B14F-4D97-AF65-F5344CB8AC3E}">
        <p14:creationId xmlns:p14="http://schemas.microsoft.com/office/powerpoint/2010/main" val="21940465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6356"/>
                                        </p:tgtEl>
                                        <p:attrNameLst>
                                          <p:attrName>style.visibility</p:attrName>
                                        </p:attrNameLst>
                                      </p:cBhvr>
                                      <p:to>
                                        <p:strVal val="visible"/>
                                      </p:to>
                                    </p:set>
                                    <p:animEffect transition="in" filter="blinds(horizontal)">
                                      <p:cBhvr>
                                        <p:cTn id="7" dur="500"/>
                                        <p:tgtEl>
                                          <p:spTgt spid="356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356357"/>
                                        </p:tgtEl>
                                        <p:attrNameLst>
                                          <p:attrName>style.visibility</p:attrName>
                                        </p:attrNameLst>
                                      </p:cBhvr>
                                      <p:to>
                                        <p:strVal val="visible"/>
                                      </p:to>
                                    </p:set>
                                    <p:anim calcmode="lin" valueType="num">
                                      <p:cBhvr additive="base">
                                        <p:cTn id="12" dur="500" fill="hold"/>
                                        <p:tgtEl>
                                          <p:spTgt spid="356357"/>
                                        </p:tgtEl>
                                        <p:attrNameLst>
                                          <p:attrName>ppt_x</p:attrName>
                                        </p:attrNameLst>
                                      </p:cBhvr>
                                      <p:tavLst>
                                        <p:tav tm="0">
                                          <p:val>
                                            <p:strVal val="0-#ppt_w/2"/>
                                          </p:val>
                                        </p:tav>
                                        <p:tav tm="100000">
                                          <p:val>
                                            <p:strVal val="#ppt_x"/>
                                          </p:val>
                                        </p:tav>
                                      </p:tavLst>
                                    </p:anim>
                                    <p:anim calcmode="lin" valueType="num">
                                      <p:cBhvr additive="base">
                                        <p:cTn id="13" dur="500" fill="hold"/>
                                        <p:tgtEl>
                                          <p:spTgt spid="356357"/>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3563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914400" y="-27384"/>
            <a:ext cx="7772400" cy="1143000"/>
          </a:xfrm>
        </p:spPr>
        <p:txBody>
          <a:bodyPr/>
          <a:lstStyle/>
          <a:p>
            <a:r>
              <a:rPr lang="en-US" altLang="zh-CN" sz="3600" dirty="0"/>
              <a:t>3.3.7   </a:t>
            </a:r>
            <a:r>
              <a:rPr lang="zh-CN" altLang="en-US" sz="3600" dirty="0"/>
              <a:t>運算器</a:t>
            </a:r>
            <a:endParaRPr lang="en-US" altLang="zh-CN" sz="3600" dirty="0"/>
          </a:p>
        </p:txBody>
      </p:sp>
      <p:sp>
        <p:nvSpPr>
          <p:cNvPr id="10" name="灯片编号占位符 6"/>
          <p:cNvSpPr>
            <a:spLocks noGrp="1"/>
          </p:cNvSpPr>
          <p:nvPr>
            <p:ph type="sldNum" sz="quarter" idx="12"/>
          </p:nvPr>
        </p:nvSpPr>
        <p:spPr/>
        <p:txBody>
          <a:bodyPr/>
          <a:lstStyle/>
          <a:p>
            <a:fld id="{AE81EBC4-1B61-43B3-84A5-B08F5638BFC6}" type="slidenum">
              <a:rPr lang="en-US" altLang="zh-CN"/>
              <a:pPr/>
              <a:t>12</a:t>
            </a:fld>
            <a:endParaRPr lang="en-US" altLang="zh-CN" dirty="0"/>
          </a:p>
        </p:txBody>
      </p:sp>
      <p:graphicFrame>
        <p:nvGraphicFramePr>
          <p:cNvPr id="357379" name="Object 3"/>
          <p:cNvGraphicFramePr>
            <a:graphicFrameLocks noGrp="1" noChangeAspect="1"/>
          </p:cNvGraphicFramePr>
          <p:nvPr>
            <p:ph sz="quarter" idx="1"/>
          </p:nvPr>
        </p:nvGraphicFramePr>
        <p:xfrm>
          <a:off x="914400" y="1562100"/>
          <a:ext cx="3749675" cy="4343400"/>
        </p:xfrm>
        <a:graphic>
          <a:graphicData uri="http://schemas.openxmlformats.org/presentationml/2006/ole">
            <mc:AlternateContent xmlns:mc="http://schemas.openxmlformats.org/markup-compatibility/2006">
              <mc:Choice xmlns:v="urn:schemas-microsoft-com:vml" Requires="v">
                <p:oleObj name="Image" r:id="rId2" imgW="6857143" imgH="7944490" progId="">
                  <p:embed/>
                </p:oleObj>
              </mc:Choice>
              <mc:Fallback>
                <p:oleObj name="Image" r:id="rId2" imgW="6857143" imgH="7944490" progId="">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562100"/>
                        <a:ext cx="3749675"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7380" name="Object 4"/>
          <p:cNvGraphicFramePr>
            <a:graphicFrameLocks noGrp="1" noChangeAspect="1"/>
          </p:cNvGraphicFramePr>
          <p:nvPr>
            <p:ph sz="quarter" idx="2"/>
          </p:nvPr>
        </p:nvGraphicFramePr>
        <p:xfrm>
          <a:off x="5000625" y="1447800"/>
          <a:ext cx="3616325" cy="4570413"/>
        </p:xfrm>
        <a:graphic>
          <a:graphicData uri="http://schemas.openxmlformats.org/presentationml/2006/ole">
            <mc:AlternateContent xmlns:mc="http://schemas.openxmlformats.org/markup-compatibility/2006">
              <mc:Choice xmlns:v="urn:schemas-microsoft-com:vml" Requires="v">
                <p:oleObj name="Image" r:id="rId4" imgW="5495510" imgH="6945306" progId="">
                  <p:embed/>
                </p:oleObj>
              </mc:Choice>
              <mc:Fallback>
                <p:oleObj name="Image" r:id="rId4" imgW="5495510" imgH="6945306" progId="">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625" y="1447800"/>
                        <a:ext cx="3616325" cy="4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7381" name="Rectangle 5"/>
          <p:cNvSpPr>
            <a:spLocks noChangeArrowheads="1"/>
          </p:cNvSpPr>
          <p:nvPr/>
        </p:nvSpPr>
        <p:spPr bwMode="auto">
          <a:xfrm>
            <a:off x="381000" y="6019800"/>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等线" panose="02010600030101010101" pitchFamily="2" charset="-122"/>
                <a:ea typeface="等线" panose="02010600030101010101" pitchFamily="2" charset="-122"/>
              </a:rPr>
              <a:t>Cn</a:t>
            </a:r>
            <a:r>
              <a:rPr lang="zh-CN" altLang="en-US" sz="2400" dirty="0">
                <a:latin typeface="等线" panose="02010600030101010101" pitchFamily="2" charset="-122"/>
                <a:ea typeface="等线" panose="02010600030101010101" pitchFamily="2" charset="-122"/>
              </a:rPr>
              <a:t>和</a:t>
            </a:r>
            <a:r>
              <a:rPr lang="en-US" altLang="zh-CN" sz="2400" dirty="0" err="1">
                <a:latin typeface="等线" panose="02010600030101010101" pitchFamily="2" charset="-122"/>
                <a:ea typeface="等线" panose="02010600030101010101" pitchFamily="2" charset="-122"/>
              </a:rPr>
              <a:t>Fn</a:t>
            </a:r>
            <a:r>
              <a:rPr lang="zh-CN" altLang="en-US" sz="2400" dirty="0">
                <a:latin typeface="等线" panose="02010600030101010101" pitchFamily="2" charset="-122"/>
                <a:ea typeface="等线" panose="02010600030101010101" pitchFamily="2" charset="-122"/>
              </a:rPr>
              <a:t>的形成需要</a:t>
            </a:r>
            <a:r>
              <a:rPr lang="zh-CN" altLang="en-US" sz="2400" dirty="0">
                <a:solidFill>
                  <a:srgbClr val="FF0000"/>
                </a:solidFill>
                <a:latin typeface="等线" panose="02010600030101010101" pitchFamily="2" charset="-122"/>
                <a:ea typeface="等线" panose="02010600030101010101" pitchFamily="2" charset="-122"/>
              </a:rPr>
              <a:t>三</a:t>
            </a:r>
            <a:r>
              <a:rPr lang="zh-CN" altLang="en-US" sz="2400" dirty="0">
                <a:latin typeface="等线" panose="02010600030101010101" pitchFamily="2" charset="-122"/>
                <a:ea typeface="等线" panose="02010600030101010101" pitchFamily="2" charset="-122"/>
              </a:rPr>
              <a:t>級門延遲</a:t>
            </a:r>
          </a:p>
        </p:txBody>
      </p:sp>
      <p:sp>
        <p:nvSpPr>
          <p:cNvPr id="357382" name="Rectangle 6"/>
          <p:cNvSpPr>
            <a:spLocks noChangeArrowheads="1"/>
          </p:cNvSpPr>
          <p:nvPr/>
        </p:nvSpPr>
        <p:spPr bwMode="auto">
          <a:xfrm>
            <a:off x="4697413" y="6019800"/>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等线" panose="02010600030101010101" pitchFamily="2" charset="-122"/>
                <a:ea typeface="等线" panose="02010600030101010101" pitchFamily="2" charset="-122"/>
              </a:rPr>
              <a:t>Cn</a:t>
            </a:r>
            <a:r>
              <a:rPr lang="zh-CN" altLang="en-US" sz="2400" dirty="0">
                <a:latin typeface="等线" panose="02010600030101010101" pitchFamily="2" charset="-122"/>
                <a:ea typeface="等线" panose="02010600030101010101" pitchFamily="2" charset="-122"/>
              </a:rPr>
              <a:t>和</a:t>
            </a:r>
            <a:r>
              <a:rPr lang="en-US" altLang="zh-CN" sz="2400" dirty="0" err="1">
                <a:latin typeface="等线" panose="02010600030101010101" pitchFamily="2" charset="-122"/>
                <a:ea typeface="等线" panose="02010600030101010101" pitchFamily="2" charset="-122"/>
              </a:rPr>
              <a:t>Fn</a:t>
            </a:r>
            <a:r>
              <a:rPr lang="zh-CN" altLang="en-US" sz="2400" dirty="0">
                <a:latin typeface="等线" panose="02010600030101010101" pitchFamily="2" charset="-122"/>
                <a:ea typeface="等线" panose="02010600030101010101" pitchFamily="2" charset="-122"/>
              </a:rPr>
              <a:t>的形成需要</a:t>
            </a:r>
            <a:r>
              <a:rPr lang="zh-CN" altLang="en-US" sz="2400" dirty="0">
                <a:solidFill>
                  <a:srgbClr val="FF0000"/>
                </a:solidFill>
                <a:latin typeface="等线" panose="02010600030101010101" pitchFamily="2" charset="-122"/>
                <a:ea typeface="等线" panose="02010600030101010101" pitchFamily="2" charset="-122"/>
              </a:rPr>
              <a:t>二</a:t>
            </a:r>
            <a:r>
              <a:rPr lang="zh-CN" altLang="en-US" sz="2400" dirty="0">
                <a:latin typeface="等线" panose="02010600030101010101" pitchFamily="2" charset="-122"/>
                <a:ea typeface="等线" panose="02010600030101010101" pitchFamily="2" charset="-122"/>
              </a:rPr>
              <a:t>級門延遲</a:t>
            </a:r>
          </a:p>
        </p:txBody>
      </p:sp>
      <p:sp>
        <p:nvSpPr>
          <p:cNvPr id="357383" name="Rectangle 7"/>
          <p:cNvSpPr>
            <a:spLocks noChangeArrowheads="1"/>
          </p:cNvSpPr>
          <p:nvPr/>
        </p:nvSpPr>
        <p:spPr bwMode="auto">
          <a:xfrm>
            <a:off x="685800" y="1052736"/>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b="1" dirty="0">
                <a:latin typeface="等线" panose="02010600030101010101" pitchFamily="2" charset="-122"/>
                <a:ea typeface="等线" panose="02010600030101010101" pitchFamily="2" charset="-122"/>
              </a:rPr>
              <a:t>四種形式的全加器（</a:t>
            </a:r>
            <a:r>
              <a:rPr lang="en-US" altLang="zh-CN" sz="3200" b="1" dirty="0">
                <a:latin typeface="等线" panose="02010600030101010101" pitchFamily="2" charset="-122"/>
                <a:ea typeface="等线" panose="02010600030101010101" pitchFamily="2" charset="-122"/>
              </a:rPr>
              <a:t>1</a:t>
            </a:r>
            <a:r>
              <a:rPr lang="zh-CN" altLang="en-US" sz="3200" b="1" dirty="0">
                <a:latin typeface="等线" panose="02010600030101010101" pitchFamily="2" charset="-122"/>
                <a:ea typeface="等线" panose="02010600030101010101" pitchFamily="2" charset="-122"/>
              </a:rPr>
              <a:t>）</a:t>
            </a:r>
            <a:endParaRPr lang="zh-CN" altLang="en-US" sz="3200" dirty="0">
              <a:latin typeface="等线" panose="02010600030101010101" pitchFamily="2" charset="-122"/>
              <a:ea typeface="等线" panose="02010600030101010101" pitchFamily="2" charset="-122"/>
            </a:endParaRPr>
          </a:p>
        </p:txBody>
      </p:sp>
      <p:sp>
        <p:nvSpPr>
          <p:cNvPr id="2" name="TextBox 1"/>
          <p:cNvSpPr txBox="1"/>
          <p:nvPr/>
        </p:nvSpPr>
        <p:spPr>
          <a:xfrm>
            <a:off x="1134050" y="4725144"/>
            <a:ext cx="7016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zh-CN" dirty="0"/>
              <a:t>(a)</a:t>
            </a:r>
            <a:endParaRPr lang="zh-CN" altLang="en-US" dirty="0"/>
          </a:p>
        </p:txBody>
      </p:sp>
      <p:sp>
        <p:nvSpPr>
          <p:cNvPr id="11" name="TextBox 10"/>
          <p:cNvSpPr txBox="1"/>
          <p:nvPr/>
        </p:nvSpPr>
        <p:spPr>
          <a:xfrm>
            <a:off x="5076056" y="4725144"/>
            <a:ext cx="7016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zh-CN" dirty="0"/>
              <a:t>(b)</a:t>
            </a:r>
            <a:endParaRPr lang="zh-CN" altLang="en-US" dirty="0"/>
          </a:p>
        </p:txBody>
      </p:sp>
    </p:spTree>
    <p:extLst>
      <p:ext uri="{BB962C8B-B14F-4D97-AF65-F5344CB8AC3E}">
        <p14:creationId xmlns:p14="http://schemas.microsoft.com/office/powerpoint/2010/main" val="38309942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7379"/>
                                        </p:tgtEl>
                                        <p:attrNameLst>
                                          <p:attrName>style.visibility</p:attrName>
                                        </p:attrNameLst>
                                      </p:cBhvr>
                                      <p:to>
                                        <p:strVal val="visible"/>
                                      </p:to>
                                    </p:set>
                                    <p:animEffect transition="in" filter="dissolve">
                                      <p:cBhvr>
                                        <p:cTn id="7" dur="500"/>
                                        <p:tgtEl>
                                          <p:spTgt spid="35737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57381"/>
                                        </p:tgtEl>
                                        <p:attrNameLst>
                                          <p:attrName>style.visibility</p:attrName>
                                        </p:attrNameLst>
                                      </p:cBhvr>
                                      <p:to>
                                        <p:strVal val="visible"/>
                                      </p:to>
                                    </p:set>
                                    <p:animEffect transition="in" filter="dissolve">
                                      <p:cBhvr>
                                        <p:cTn id="15" dur="500"/>
                                        <p:tgtEl>
                                          <p:spTgt spid="35738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57380"/>
                                        </p:tgtEl>
                                        <p:attrNameLst>
                                          <p:attrName>style.visibility</p:attrName>
                                        </p:attrNameLst>
                                      </p:cBhvr>
                                      <p:to>
                                        <p:strVal val="visible"/>
                                      </p:to>
                                    </p:set>
                                    <p:animEffect transition="in" filter="dissolve">
                                      <p:cBhvr>
                                        <p:cTn id="20" dur="500"/>
                                        <p:tgtEl>
                                          <p:spTgt spid="357380"/>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57382"/>
                                        </p:tgtEl>
                                        <p:attrNameLst>
                                          <p:attrName>style.visibility</p:attrName>
                                        </p:attrNameLst>
                                      </p:cBhvr>
                                      <p:to>
                                        <p:strVal val="visible"/>
                                      </p:to>
                                    </p:set>
                                    <p:animEffect transition="in" filter="dissolve">
                                      <p:cBhvr>
                                        <p:cTn id="28" dur="500"/>
                                        <p:tgtEl>
                                          <p:spTgt spid="357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1" grpId="0" autoUpdateAnimBg="0"/>
      <p:bldP spid="357382" grpId="0" autoUpdateAnimBg="0"/>
      <p:bldP spid="2"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矩形 81"/>
          <p:cNvSpPr/>
          <p:nvPr/>
        </p:nvSpPr>
        <p:spPr>
          <a:xfrm>
            <a:off x="3526780" y="5445224"/>
            <a:ext cx="5509716" cy="108416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526780" y="4365104"/>
            <a:ext cx="5509716" cy="100811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8402"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72" name="灯片编号占位符 5"/>
          <p:cNvSpPr>
            <a:spLocks noGrp="1"/>
          </p:cNvSpPr>
          <p:nvPr>
            <p:ph type="sldNum" sz="quarter" idx="12"/>
          </p:nvPr>
        </p:nvSpPr>
        <p:spPr/>
        <p:txBody>
          <a:bodyPr/>
          <a:lstStyle/>
          <a:p>
            <a:fld id="{A3EDC788-5E8D-4668-8912-6E937D7EEB79}" type="slidenum">
              <a:rPr lang="en-US" altLang="zh-CN"/>
              <a:pPr/>
              <a:t>13</a:t>
            </a:fld>
            <a:endParaRPr lang="en-US" altLang="zh-CN" dirty="0"/>
          </a:p>
        </p:txBody>
      </p:sp>
      <p:sp>
        <p:nvSpPr>
          <p:cNvPr id="358404" name="Text Box 4"/>
          <p:cNvSpPr txBox="1">
            <a:spLocks noChangeArrowheads="1"/>
          </p:cNvSpPr>
          <p:nvPr/>
        </p:nvSpPr>
        <p:spPr bwMode="auto">
          <a:xfrm>
            <a:off x="3707904" y="2056780"/>
            <a:ext cx="507605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latin typeface="等线" panose="02010600030101010101" pitchFamily="2" charset="-122"/>
                <a:ea typeface="等线" panose="02010600030101010101" pitchFamily="2" charset="-122"/>
              </a:rPr>
              <a:t>分析全加器真值表中</a:t>
            </a:r>
            <a:r>
              <a:rPr lang="en-US" altLang="zh-CN" sz="2400" b="1" dirty="0" err="1">
                <a:latin typeface="等线" panose="02010600030101010101" pitchFamily="2" charset="-122"/>
                <a:ea typeface="等线" panose="02010600030101010101" pitchFamily="2" charset="-122"/>
              </a:rPr>
              <a:t>F</a:t>
            </a:r>
            <a:r>
              <a:rPr lang="en-US" altLang="zh-CN" sz="2400" b="1" baseline="-25000" dirty="0" err="1">
                <a:latin typeface="等线" panose="02010600030101010101" pitchFamily="2" charset="-122"/>
                <a:ea typeface="等线" panose="02010600030101010101" pitchFamily="2" charset="-122"/>
              </a:rPr>
              <a:t>n</a:t>
            </a:r>
            <a:r>
              <a:rPr lang="zh-CN" altLang="en-US" sz="2400" b="1" dirty="0">
                <a:latin typeface="等线" panose="02010600030101010101" pitchFamily="2" charset="-122"/>
                <a:ea typeface="等线" panose="02010600030101010101" pitchFamily="2" charset="-122"/>
              </a:rPr>
              <a:t>和</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n</a:t>
            </a:r>
            <a:r>
              <a:rPr lang="zh-CN" altLang="en-US" sz="2400" b="1" dirty="0">
                <a:latin typeface="等线" panose="02010600030101010101" pitchFamily="2" charset="-122"/>
                <a:ea typeface="等线" panose="02010600030101010101" pitchFamily="2" charset="-122"/>
              </a:rPr>
              <a:t>的對應關係， </a:t>
            </a:r>
            <a:r>
              <a:rPr lang="en-US" altLang="zh-CN" sz="2400" b="1" dirty="0" err="1">
                <a:latin typeface="等线" panose="02010600030101010101" pitchFamily="2" charset="-122"/>
                <a:ea typeface="等线" panose="02010600030101010101" pitchFamily="2" charset="-122"/>
              </a:rPr>
              <a:t>F</a:t>
            </a:r>
            <a:r>
              <a:rPr lang="en-US" altLang="zh-CN" sz="2400" b="1" baseline="-25000" dirty="0" err="1">
                <a:latin typeface="等线" panose="02010600030101010101" pitchFamily="2" charset="-122"/>
                <a:ea typeface="等线" panose="02010600030101010101" pitchFamily="2" charset="-122"/>
              </a:rPr>
              <a:t>n</a:t>
            </a:r>
            <a:r>
              <a:rPr lang="zh-CN" altLang="en-US" sz="2400" b="1" dirty="0">
                <a:latin typeface="等线" panose="02010600030101010101" pitchFamily="2" charset="-122"/>
                <a:ea typeface="等线" panose="02010600030101010101" pitchFamily="2" charset="-122"/>
              </a:rPr>
              <a:t>為“</a:t>
            </a:r>
            <a:r>
              <a:rPr lang="en-US" altLang="zh-CN" sz="2400" b="1"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的條件有兩個：</a:t>
            </a:r>
          </a:p>
          <a:p>
            <a:r>
              <a:rPr lang="en-US" altLang="zh-CN" sz="2400" b="1"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a:t>
            </a:r>
            <a:r>
              <a:rPr lang="en-US" altLang="zh-CN" sz="2400" b="1" dirty="0" err="1">
                <a:latin typeface="等线" panose="02010600030101010101" pitchFamily="2" charset="-122"/>
                <a:ea typeface="等线" panose="02010600030101010101" pitchFamily="2" charset="-122"/>
              </a:rPr>
              <a:t>X</a:t>
            </a:r>
            <a:r>
              <a:rPr lang="en-US" altLang="zh-CN" sz="2400" b="1" baseline="-25000" dirty="0" err="1">
                <a:latin typeface="等线" panose="02010600030101010101" pitchFamily="2" charset="-122"/>
                <a:ea typeface="等线" panose="02010600030101010101" pitchFamily="2" charset="-122"/>
              </a:rPr>
              <a:t>n</a:t>
            </a:r>
            <a:r>
              <a:rPr lang="en-US" altLang="zh-CN" sz="2400" b="1" baseline="-250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Y</a:t>
            </a:r>
            <a:r>
              <a:rPr lang="en-US" altLang="zh-CN" sz="2400" b="1" baseline="-25000" dirty="0">
                <a:latin typeface="等线" panose="02010600030101010101" pitchFamily="2" charset="-122"/>
                <a:ea typeface="等线" panose="02010600030101010101" pitchFamily="2" charset="-122"/>
              </a:rPr>
              <a:t>n  </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n-1</a:t>
            </a:r>
            <a:r>
              <a:rPr lang="zh-CN" altLang="en-US" sz="2400" b="1" dirty="0">
                <a:latin typeface="等线" panose="02010600030101010101" pitchFamily="2" charset="-122"/>
                <a:ea typeface="等线" panose="02010600030101010101" pitchFamily="2" charset="-122"/>
              </a:rPr>
              <a:t>均為“</a:t>
            </a:r>
            <a:r>
              <a:rPr lang="en-US" altLang="zh-CN" sz="2400" b="1" dirty="0">
                <a:latin typeface="等线" panose="02010600030101010101" pitchFamily="2" charset="-122"/>
                <a:ea typeface="等线" panose="02010600030101010101" pitchFamily="2" charset="-122"/>
              </a:rPr>
              <a:t>1”</a:t>
            </a:r>
          </a:p>
          <a:p>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a:t>
            </a:r>
            <a:r>
              <a:rPr lang="en-US" altLang="zh-CN" sz="2400" b="1" dirty="0" err="1">
                <a:latin typeface="等线" panose="02010600030101010101" pitchFamily="2" charset="-122"/>
                <a:ea typeface="等线" panose="02010600030101010101" pitchFamily="2" charset="-122"/>
              </a:rPr>
              <a:t>X</a:t>
            </a:r>
            <a:r>
              <a:rPr lang="en-US" altLang="zh-CN" sz="2400" b="1" baseline="-25000" dirty="0" err="1">
                <a:latin typeface="等线" panose="02010600030101010101" pitchFamily="2" charset="-122"/>
                <a:ea typeface="等线" panose="02010600030101010101" pitchFamily="2" charset="-122"/>
              </a:rPr>
              <a:t>n</a:t>
            </a:r>
            <a:r>
              <a:rPr lang="en-US" altLang="zh-CN" sz="2400" b="1" baseline="-250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Y</a:t>
            </a:r>
            <a:r>
              <a:rPr lang="en-US" altLang="zh-CN" sz="2400" b="1" baseline="-25000" dirty="0">
                <a:latin typeface="等线" panose="02010600030101010101" pitchFamily="2" charset="-122"/>
                <a:ea typeface="等线" panose="02010600030101010101" pitchFamily="2" charset="-122"/>
              </a:rPr>
              <a:t>n  </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n-1</a:t>
            </a:r>
            <a:r>
              <a:rPr lang="zh-CN" altLang="en-US" sz="2400" b="1" dirty="0">
                <a:latin typeface="等线" panose="02010600030101010101" pitchFamily="2" charset="-122"/>
                <a:ea typeface="等线" panose="02010600030101010101" pitchFamily="2" charset="-122"/>
              </a:rPr>
              <a:t>只有一個為“</a:t>
            </a:r>
            <a:r>
              <a:rPr lang="en-US" altLang="zh-CN" sz="2400" b="1"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（有至少</a:t>
            </a:r>
            <a:r>
              <a:rPr lang="en-US" altLang="zh-CN" sz="2400" b="1"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個“</a:t>
            </a:r>
            <a:r>
              <a:rPr lang="en-US" altLang="zh-CN" sz="2400" b="1"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”且</a:t>
            </a:r>
            <a:r>
              <a:rPr lang="en-US" altLang="zh-CN" sz="2400" b="1" dirty="0">
                <a:latin typeface="等线" panose="02010600030101010101" pitchFamily="2" charset="-122"/>
                <a:ea typeface="等线" panose="02010600030101010101" pitchFamily="2" charset="-122"/>
              </a:rPr>
              <a:t>C</a:t>
            </a:r>
            <a:r>
              <a:rPr lang="en-US" altLang="zh-CN" sz="2400" baseline="-25000" dirty="0">
                <a:latin typeface="等线" panose="02010600030101010101" pitchFamily="2" charset="-122"/>
                <a:ea typeface="等线" panose="02010600030101010101" pitchFamily="2" charset="-122"/>
              </a:rPr>
              <a:t>n</a:t>
            </a:r>
            <a:r>
              <a:rPr lang="zh-CN" altLang="en-US" sz="2400" b="1" dirty="0">
                <a:latin typeface="等线" panose="02010600030101010101" pitchFamily="2" charset="-122"/>
                <a:ea typeface="等线" panose="02010600030101010101" pitchFamily="2" charset="-122"/>
              </a:rPr>
              <a:t>為“</a:t>
            </a:r>
            <a:r>
              <a:rPr lang="en-US" altLang="zh-CN" sz="2400" b="1" dirty="0">
                <a:latin typeface="等线" panose="02010600030101010101" pitchFamily="2" charset="-122"/>
                <a:ea typeface="等线" panose="02010600030101010101" pitchFamily="2" charset="-122"/>
              </a:rPr>
              <a:t>0”</a:t>
            </a:r>
            <a:r>
              <a:rPr lang="zh-CN" altLang="en-US" b="1" dirty="0">
                <a:latin typeface="等线" panose="02010600030101010101" pitchFamily="2" charset="-122"/>
                <a:ea typeface="等线" panose="02010600030101010101" pitchFamily="2" charset="-122"/>
              </a:rPr>
              <a:t> ）</a:t>
            </a:r>
            <a:endParaRPr lang="en-US" altLang="zh-CN" sz="2400" b="1" dirty="0">
              <a:latin typeface="等线" panose="02010600030101010101" pitchFamily="2" charset="-122"/>
              <a:ea typeface="等线" panose="02010600030101010101" pitchFamily="2" charset="-122"/>
            </a:endParaRPr>
          </a:p>
          <a:p>
            <a:r>
              <a:rPr lang="zh-CN" altLang="en-US" b="1" dirty="0">
                <a:latin typeface="等线" panose="02010600030101010101" pitchFamily="2" charset="-122"/>
                <a:ea typeface="等线" panose="02010600030101010101" pitchFamily="2" charset="-122"/>
              </a:rPr>
              <a:t>用</a:t>
            </a:r>
            <a:r>
              <a:rPr lang="en-US" altLang="zh-CN" b="1" dirty="0" err="1">
                <a:latin typeface="等线" panose="02010600030101010101" pitchFamily="2" charset="-122"/>
                <a:ea typeface="等线" panose="02010600030101010101" pitchFamily="2" charset="-122"/>
              </a:rPr>
              <a:t>C</a:t>
            </a:r>
            <a:r>
              <a:rPr lang="en-US" altLang="zh-CN" baseline="-25000" dirty="0" err="1">
                <a:latin typeface="等线" panose="02010600030101010101" pitchFamily="2" charset="-122"/>
                <a:ea typeface="等线" panose="02010600030101010101" pitchFamily="2" charset="-122"/>
              </a:rPr>
              <a:t>n</a:t>
            </a:r>
            <a:r>
              <a:rPr lang="en-US" altLang="zh-CN" b="1" dirty="0">
                <a:latin typeface="等线" panose="02010600030101010101" pitchFamily="2" charset="-122"/>
                <a:ea typeface="等线" panose="02010600030101010101" pitchFamily="2" charset="-122"/>
              </a:rPr>
              <a:t> </a:t>
            </a:r>
            <a:r>
              <a:rPr lang="zh-CN" altLang="en-US" b="1" dirty="0">
                <a:latin typeface="等线" panose="02010600030101010101" pitchFamily="2" charset="-122"/>
                <a:ea typeface="等线" panose="02010600030101010101" pitchFamily="2" charset="-122"/>
              </a:rPr>
              <a:t>表示</a:t>
            </a:r>
            <a:r>
              <a:rPr lang="en-US" altLang="zh-CN" b="1" dirty="0" err="1">
                <a:latin typeface="等线" panose="02010600030101010101" pitchFamily="2" charset="-122"/>
                <a:ea typeface="等线" panose="02010600030101010101" pitchFamily="2" charset="-122"/>
              </a:rPr>
              <a:t>F</a:t>
            </a:r>
            <a:r>
              <a:rPr lang="en-US" altLang="zh-CN" b="1" baseline="-25000" dirty="0" err="1">
                <a:latin typeface="等线" panose="02010600030101010101" pitchFamily="2" charset="-122"/>
                <a:ea typeface="等线" panose="02010600030101010101" pitchFamily="2" charset="-122"/>
              </a:rPr>
              <a:t>n</a:t>
            </a:r>
            <a:r>
              <a:rPr lang="zh-CN" altLang="en-US" b="1" baseline="-25000" dirty="0">
                <a:latin typeface="等线" panose="02010600030101010101" pitchFamily="2" charset="-122"/>
                <a:ea typeface="等线" panose="02010600030101010101" pitchFamily="2" charset="-122"/>
              </a:rPr>
              <a:t>，</a:t>
            </a:r>
            <a:r>
              <a:rPr lang="zh-CN" altLang="en-US" b="1" dirty="0">
                <a:latin typeface="等线" panose="02010600030101010101" pitchFamily="2" charset="-122"/>
                <a:ea typeface="等线" panose="02010600030101010101" pitchFamily="2" charset="-122"/>
              </a:rPr>
              <a:t>先組合出</a:t>
            </a:r>
            <a:r>
              <a:rPr lang="en-US" altLang="zh-CN" b="1" dirty="0">
                <a:latin typeface="等线" panose="02010600030101010101" pitchFamily="2" charset="-122"/>
                <a:ea typeface="等线" panose="02010600030101010101" pitchFamily="2" charset="-122"/>
              </a:rPr>
              <a:t>C</a:t>
            </a:r>
            <a:r>
              <a:rPr lang="en-US" altLang="zh-CN" baseline="-25000" dirty="0">
                <a:latin typeface="等线" panose="02010600030101010101" pitchFamily="2" charset="-122"/>
                <a:ea typeface="等线" panose="02010600030101010101" pitchFamily="2" charset="-122"/>
              </a:rPr>
              <a:t>n</a:t>
            </a:r>
            <a:r>
              <a:rPr lang="en-US" altLang="zh-CN" b="1" dirty="0">
                <a:latin typeface="等线" panose="02010600030101010101" pitchFamily="2" charset="-122"/>
                <a:ea typeface="等线" panose="02010600030101010101" pitchFamily="2" charset="-122"/>
              </a:rPr>
              <a:t> ,</a:t>
            </a:r>
            <a:r>
              <a:rPr lang="zh-CN" altLang="en-US" b="1" dirty="0">
                <a:latin typeface="等线" panose="02010600030101010101" pitchFamily="2" charset="-122"/>
                <a:ea typeface="等线" panose="02010600030101010101" pitchFamily="2" charset="-122"/>
              </a:rPr>
              <a:t>再有</a:t>
            </a:r>
            <a:r>
              <a:rPr lang="en-US" altLang="zh-CN" b="1" dirty="0" err="1">
                <a:latin typeface="等线" panose="02010600030101010101" pitchFamily="2" charset="-122"/>
                <a:ea typeface="等线" panose="02010600030101010101" pitchFamily="2" charset="-122"/>
              </a:rPr>
              <a:t>F</a:t>
            </a:r>
            <a:r>
              <a:rPr lang="en-US" altLang="zh-CN" b="1" baseline="-25000" dirty="0" err="1">
                <a:latin typeface="等线" panose="02010600030101010101" pitchFamily="2" charset="-122"/>
                <a:ea typeface="等线" panose="02010600030101010101" pitchFamily="2" charset="-122"/>
              </a:rPr>
              <a:t>n</a:t>
            </a:r>
            <a:endParaRPr lang="en-US" altLang="zh-CN" b="1" dirty="0">
              <a:latin typeface="等线" panose="02010600030101010101" pitchFamily="2" charset="-122"/>
              <a:ea typeface="等线" panose="02010600030101010101" pitchFamily="2" charset="-122"/>
            </a:endParaRPr>
          </a:p>
        </p:txBody>
      </p:sp>
      <p:grpSp>
        <p:nvGrpSpPr>
          <p:cNvPr id="2" name="Group 5"/>
          <p:cNvGrpSpPr>
            <a:grpSpLocks/>
          </p:cNvGrpSpPr>
          <p:nvPr/>
        </p:nvGrpSpPr>
        <p:grpSpPr bwMode="auto">
          <a:xfrm>
            <a:off x="467544" y="2057400"/>
            <a:ext cx="2971800" cy="4471988"/>
            <a:chOff x="672" y="1248"/>
            <a:chExt cx="1872" cy="2817"/>
          </a:xfrm>
        </p:grpSpPr>
        <p:sp>
          <p:nvSpPr>
            <p:cNvPr id="358406" name="Text Box 6"/>
            <p:cNvSpPr txBox="1">
              <a:spLocks noChangeArrowheads="1"/>
            </p:cNvSpPr>
            <p:nvPr/>
          </p:nvSpPr>
          <p:spPr bwMode="auto">
            <a:xfrm>
              <a:off x="1200" y="1248"/>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latin typeface="等线" panose="02010600030101010101" pitchFamily="2" charset="-122"/>
                  <a:ea typeface="等线" panose="02010600030101010101" pitchFamily="2" charset="-122"/>
                </a:rPr>
                <a:t>真值表</a:t>
              </a:r>
            </a:p>
          </p:txBody>
        </p:sp>
        <p:sp>
          <p:nvSpPr>
            <p:cNvPr id="358407" name="Rectangle 7"/>
            <p:cNvSpPr>
              <a:spLocks noChangeArrowheads="1"/>
            </p:cNvSpPr>
            <p:nvPr/>
          </p:nvSpPr>
          <p:spPr bwMode="auto">
            <a:xfrm>
              <a:off x="2170" y="3816"/>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08" name="Rectangle 8"/>
            <p:cNvSpPr>
              <a:spLocks noChangeArrowheads="1"/>
            </p:cNvSpPr>
            <p:nvPr/>
          </p:nvSpPr>
          <p:spPr bwMode="auto">
            <a:xfrm>
              <a:off x="1776" y="3816"/>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09" name="Rectangle 9"/>
            <p:cNvSpPr>
              <a:spLocks noChangeArrowheads="1"/>
            </p:cNvSpPr>
            <p:nvPr/>
          </p:nvSpPr>
          <p:spPr bwMode="auto">
            <a:xfrm>
              <a:off x="1440" y="3816"/>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10" name="Rectangle 10"/>
            <p:cNvSpPr>
              <a:spLocks noChangeArrowheads="1"/>
            </p:cNvSpPr>
            <p:nvPr/>
          </p:nvSpPr>
          <p:spPr bwMode="auto">
            <a:xfrm>
              <a:off x="1046" y="3816"/>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11" name="Rectangle 11"/>
            <p:cNvSpPr>
              <a:spLocks noChangeArrowheads="1"/>
            </p:cNvSpPr>
            <p:nvPr/>
          </p:nvSpPr>
          <p:spPr bwMode="auto">
            <a:xfrm>
              <a:off x="672" y="3816"/>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12" name="Rectangle 12"/>
            <p:cNvSpPr>
              <a:spLocks noChangeArrowheads="1"/>
            </p:cNvSpPr>
            <p:nvPr/>
          </p:nvSpPr>
          <p:spPr bwMode="auto">
            <a:xfrm>
              <a:off x="2170" y="3567"/>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13" name="Rectangle 13"/>
            <p:cNvSpPr>
              <a:spLocks noChangeArrowheads="1"/>
            </p:cNvSpPr>
            <p:nvPr/>
          </p:nvSpPr>
          <p:spPr bwMode="auto">
            <a:xfrm>
              <a:off x="1776" y="3567"/>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14" name="Rectangle 14"/>
            <p:cNvSpPr>
              <a:spLocks noChangeArrowheads="1"/>
            </p:cNvSpPr>
            <p:nvPr/>
          </p:nvSpPr>
          <p:spPr bwMode="auto">
            <a:xfrm>
              <a:off x="1440" y="3567"/>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15" name="Rectangle 15"/>
            <p:cNvSpPr>
              <a:spLocks noChangeArrowheads="1"/>
            </p:cNvSpPr>
            <p:nvPr/>
          </p:nvSpPr>
          <p:spPr bwMode="auto">
            <a:xfrm>
              <a:off x="1046" y="3567"/>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16" name="Rectangle 16"/>
            <p:cNvSpPr>
              <a:spLocks noChangeArrowheads="1"/>
            </p:cNvSpPr>
            <p:nvPr/>
          </p:nvSpPr>
          <p:spPr bwMode="auto">
            <a:xfrm>
              <a:off x="672" y="3567"/>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17" name="Rectangle 17"/>
            <p:cNvSpPr>
              <a:spLocks noChangeArrowheads="1"/>
            </p:cNvSpPr>
            <p:nvPr/>
          </p:nvSpPr>
          <p:spPr bwMode="auto">
            <a:xfrm>
              <a:off x="2170" y="3318"/>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18" name="Rectangle 18"/>
            <p:cNvSpPr>
              <a:spLocks noChangeArrowheads="1"/>
            </p:cNvSpPr>
            <p:nvPr/>
          </p:nvSpPr>
          <p:spPr bwMode="auto">
            <a:xfrm>
              <a:off x="1776" y="3318"/>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19" name="Rectangle 19"/>
            <p:cNvSpPr>
              <a:spLocks noChangeArrowheads="1"/>
            </p:cNvSpPr>
            <p:nvPr/>
          </p:nvSpPr>
          <p:spPr bwMode="auto">
            <a:xfrm>
              <a:off x="1440" y="3318"/>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20" name="Rectangle 20"/>
            <p:cNvSpPr>
              <a:spLocks noChangeArrowheads="1"/>
            </p:cNvSpPr>
            <p:nvPr/>
          </p:nvSpPr>
          <p:spPr bwMode="auto">
            <a:xfrm>
              <a:off x="1046" y="3318"/>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21" name="Rectangle 21"/>
            <p:cNvSpPr>
              <a:spLocks noChangeArrowheads="1"/>
            </p:cNvSpPr>
            <p:nvPr/>
          </p:nvSpPr>
          <p:spPr bwMode="auto">
            <a:xfrm>
              <a:off x="672" y="3318"/>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22" name="Rectangle 22"/>
            <p:cNvSpPr>
              <a:spLocks noChangeArrowheads="1"/>
            </p:cNvSpPr>
            <p:nvPr/>
          </p:nvSpPr>
          <p:spPr bwMode="auto">
            <a:xfrm>
              <a:off x="2170" y="3069"/>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23" name="Rectangle 23"/>
            <p:cNvSpPr>
              <a:spLocks noChangeArrowheads="1"/>
            </p:cNvSpPr>
            <p:nvPr/>
          </p:nvSpPr>
          <p:spPr bwMode="auto">
            <a:xfrm>
              <a:off x="1776" y="3069"/>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24" name="Rectangle 24"/>
            <p:cNvSpPr>
              <a:spLocks noChangeArrowheads="1"/>
            </p:cNvSpPr>
            <p:nvPr/>
          </p:nvSpPr>
          <p:spPr bwMode="auto">
            <a:xfrm>
              <a:off x="1440" y="3069"/>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25" name="Rectangle 25"/>
            <p:cNvSpPr>
              <a:spLocks noChangeArrowheads="1"/>
            </p:cNvSpPr>
            <p:nvPr/>
          </p:nvSpPr>
          <p:spPr bwMode="auto">
            <a:xfrm>
              <a:off x="1046" y="3069"/>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26" name="Rectangle 26"/>
            <p:cNvSpPr>
              <a:spLocks noChangeArrowheads="1"/>
            </p:cNvSpPr>
            <p:nvPr/>
          </p:nvSpPr>
          <p:spPr bwMode="auto">
            <a:xfrm>
              <a:off x="672" y="3069"/>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27" name="Rectangle 27"/>
            <p:cNvSpPr>
              <a:spLocks noChangeArrowheads="1"/>
            </p:cNvSpPr>
            <p:nvPr/>
          </p:nvSpPr>
          <p:spPr bwMode="auto">
            <a:xfrm>
              <a:off x="2170" y="2820"/>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28" name="Rectangle 28"/>
            <p:cNvSpPr>
              <a:spLocks noChangeArrowheads="1"/>
            </p:cNvSpPr>
            <p:nvPr/>
          </p:nvSpPr>
          <p:spPr bwMode="auto">
            <a:xfrm>
              <a:off x="1776" y="2820"/>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29" name="Rectangle 29"/>
            <p:cNvSpPr>
              <a:spLocks noChangeArrowheads="1"/>
            </p:cNvSpPr>
            <p:nvPr/>
          </p:nvSpPr>
          <p:spPr bwMode="auto">
            <a:xfrm>
              <a:off x="1440" y="2820"/>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30" name="Rectangle 30"/>
            <p:cNvSpPr>
              <a:spLocks noChangeArrowheads="1"/>
            </p:cNvSpPr>
            <p:nvPr/>
          </p:nvSpPr>
          <p:spPr bwMode="auto">
            <a:xfrm>
              <a:off x="1046" y="2820"/>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31" name="Rectangle 31"/>
            <p:cNvSpPr>
              <a:spLocks noChangeArrowheads="1"/>
            </p:cNvSpPr>
            <p:nvPr/>
          </p:nvSpPr>
          <p:spPr bwMode="auto">
            <a:xfrm>
              <a:off x="672" y="2820"/>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32" name="Rectangle 32"/>
            <p:cNvSpPr>
              <a:spLocks noChangeArrowheads="1"/>
            </p:cNvSpPr>
            <p:nvPr/>
          </p:nvSpPr>
          <p:spPr bwMode="auto">
            <a:xfrm>
              <a:off x="2170" y="2571"/>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33" name="Rectangle 33"/>
            <p:cNvSpPr>
              <a:spLocks noChangeArrowheads="1"/>
            </p:cNvSpPr>
            <p:nvPr/>
          </p:nvSpPr>
          <p:spPr bwMode="auto">
            <a:xfrm>
              <a:off x="1776" y="2571"/>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34" name="Rectangle 34"/>
            <p:cNvSpPr>
              <a:spLocks noChangeArrowheads="1"/>
            </p:cNvSpPr>
            <p:nvPr/>
          </p:nvSpPr>
          <p:spPr bwMode="auto">
            <a:xfrm>
              <a:off x="1440" y="2571"/>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35" name="Rectangle 35"/>
            <p:cNvSpPr>
              <a:spLocks noChangeArrowheads="1"/>
            </p:cNvSpPr>
            <p:nvPr/>
          </p:nvSpPr>
          <p:spPr bwMode="auto">
            <a:xfrm>
              <a:off x="1046" y="2571"/>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36" name="Rectangle 36"/>
            <p:cNvSpPr>
              <a:spLocks noChangeArrowheads="1"/>
            </p:cNvSpPr>
            <p:nvPr/>
          </p:nvSpPr>
          <p:spPr bwMode="auto">
            <a:xfrm>
              <a:off x="672" y="2571"/>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37" name="Rectangle 37"/>
            <p:cNvSpPr>
              <a:spLocks noChangeArrowheads="1"/>
            </p:cNvSpPr>
            <p:nvPr/>
          </p:nvSpPr>
          <p:spPr bwMode="auto">
            <a:xfrm>
              <a:off x="2170" y="2322"/>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38" name="Rectangle 38"/>
            <p:cNvSpPr>
              <a:spLocks noChangeArrowheads="1"/>
            </p:cNvSpPr>
            <p:nvPr/>
          </p:nvSpPr>
          <p:spPr bwMode="auto">
            <a:xfrm>
              <a:off x="1776" y="2322"/>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39" name="Rectangle 39"/>
            <p:cNvSpPr>
              <a:spLocks noChangeArrowheads="1"/>
            </p:cNvSpPr>
            <p:nvPr/>
          </p:nvSpPr>
          <p:spPr bwMode="auto">
            <a:xfrm>
              <a:off x="1440" y="2322"/>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1</a:t>
              </a:r>
            </a:p>
          </p:txBody>
        </p:sp>
        <p:sp>
          <p:nvSpPr>
            <p:cNvPr id="358440" name="Rectangle 40"/>
            <p:cNvSpPr>
              <a:spLocks noChangeArrowheads="1"/>
            </p:cNvSpPr>
            <p:nvPr/>
          </p:nvSpPr>
          <p:spPr bwMode="auto">
            <a:xfrm>
              <a:off x="1046" y="2322"/>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41" name="Rectangle 41"/>
            <p:cNvSpPr>
              <a:spLocks noChangeArrowheads="1"/>
            </p:cNvSpPr>
            <p:nvPr/>
          </p:nvSpPr>
          <p:spPr bwMode="auto">
            <a:xfrm>
              <a:off x="672" y="2322"/>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42" name="Rectangle 42"/>
            <p:cNvSpPr>
              <a:spLocks noChangeArrowheads="1"/>
            </p:cNvSpPr>
            <p:nvPr/>
          </p:nvSpPr>
          <p:spPr bwMode="auto">
            <a:xfrm>
              <a:off x="2170" y="2073"/>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43" name="Rectangle 43"/>
            <p:cNvSpPr>
              <a:spLocks noChangeArrowheads="1"/>
            </p:cNvSpPr>
            <p:nvPr/>
          </p:nvSpPr>
          <p:spPr bwMode="auto">
            <a:xfrm>
              <a:off x="1776" y="2073"/>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44" name="Rectangle 44"/>
            <p:cNvSpPr>
              <a:spLocks noChangeArrowheads="1"/>
            </p:cNvSpPr>
            <p:nvPr/>
          </p:nvSpPr>
          <p:spPr bwMode="auto">
            <a:xfrm>
              <a:off x="1440" y="2073"/>
              <a:ext cx="3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45" name="Rectangle 45"/>
            <p:cNvSpPr>
              <a:spLocks noChangeArrowheads="1"/>
            </p:cNvSpPr>
            <p:nvPr/>
          </p:nvSpPr>
          <p:spPr bwMode="auto">
            <a:xfrm>
              <a:off x="1046" y="2073"/>
              <a:ext cx="39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46" name="Rectangle 46"/>
            <p:cNvSpPr>
              <a:spLocks noChangeArrowheads="1"/>
            </p:cNvSpPr>
            <p:nvPr/>
          </p:nvSpPr>
          <p:spPr bwMode="auto">
            <a:xfrm>
              <a:off x="672" y="2073"/>
              <a:ext cx="37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a:t>0</a:t>
              </a:r>
            </a:p>
          </p:txBody>
        </p:sp>
        <p:sp>
          <p:nvSpPr>
            <p:cNvPr id="358447" name="Rectangle 47"/>
            <p:cNvSpPr>
              <a:spLocks noChangeArrowheads="1"/>
            </p:cNvSpPr>
            <p:nvPr/>
          </p:nvSpPr>
          <p:spPr bwMode="auto">
            <a:xfrm>
              <a:off x="2170" y="1632"/>
              <a:ext cx="374"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err="1">
                  <a:cs typeface="Times New Roman" pitchFamily="18" charset="0"/>
                </a:rPr>
                <a:t>C</a:t>
              </a:r>
              <a:r>
                <a:rPr lang="en-US" altLang="zh-CN" baseline="-30000" dirty="0" err="1">
                  <a:cs typeface="Times New Roman" pitchFamily="18" charset="0"/>
                </a:rPr>
                <a:t>n</a:t>
              </a:r>
              <a:endParaRPr lang="en-US" altLang="zh-CN" baseline="-30000" dirty="0">
                <a:cs typeface="Times New Roman" pitchFamily="18" charset="0"/>
              </a:endParaRPr>
            </a:p>
          </p:txBody>
        </p:sp>
        <p:sp>
          <p:nvSpPr>
            <p:cNvPr id="358448" name="Rectangle 48"/>
            <p:cNvSpPr>
              <a:spLocks noChangeArrowheads="1"/>
            </p:cNvSpPr>
            <p:nvPr/>
          </p:nvSpPr>
          <p:spPr bwMode="auto">
            <a:xfrm>
              <a:off x="1776" y="1632"/>
              <a:ext cx="394"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err="1">
                  <a:cs typeface="Times New Roman" pitchFamily="18" charset="0"/>
                </a:rPr>
                <a:t>F</a:t>
              </a:r>
              <a:r>
                <a:rPr lang="en-US" altLang="zh-CN" baseline="-30000" dirty="0" err="1">
                  <a:cs typeface="Times New Roman" pitchFamily="18" charset="0"/>
                </a:rPr>
                <a:t>n</a:t>
              </a:r>
              <a:endParaRPr lang="en-US" altLang="zh-CN" baseline="-30000" dirty="0">
                <a:cs typeface="Times New Roman" pitchFamily="18" charset="0"/>
              </a:endParaRPr>
            </a:p>
          </p:txBody>
        </p:sp>
        <p:sp>
          <p:nvSpPr>
            <p:cNvPr id="358449" name="Rectangle 49"/>
            <p:cNvSpPr>
              <a:spLocks noChangeArrowheads="1"/>
            </p:cNvSpPr>
            <p:nvPr/>
          </p:nvSpPr>
          <p:spPr bwMode="auto">
            <a:xfrm>
              <a:off x="1440" y="1632"/>
              <a:ext cx="336"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sz="1600" dirty="0">
                  <a:cs typeface="Times New Roman" pitchFamily="18" charset="0"/>
                </a:rPr>
                <a:t>C</a:t>
              </a:r>
              <a:r>
                <a:rPr lang="en-US" altLang="zh-CN" sz="1600" baseline="-30000" dirty="0">
                  <a:cs typeface="Times New Roman" pitchFamily="18" charset="0"/>
                </a:rPr>
                <a:t>n-1</a:t>
              </a:r>
              <a:r>
                <a:rPr lang="en-US" altLang="zh-CN" dirty="0">
                  <a:effectLst>
                    <a:outerShdw blurRad="38100" dist="38100" dir="2700000" algn="tl">
                      <a:srgbClr val="000000"/>
                    </a:outerShdw>
                  </a:effectLst>
                </a:rPr>
                <a:t> </a:t>
              </a:r>
            </a:p>
          </p:txBody>
        </p:sp>
        <p:sp>
          <p:nvSpPr>
            <p:cNvPr id="358450" name="Rectangle 50"/>
            <p:cNvSpPr>
              <a:spLocks noChangeArrowheads="1"/>
            </p:cNvSpPr>
            <p:nvPr/>
          </p:nvSpPr>
          <p:spPr bwMode="auto">
            <a:xfrm>
              <a:off x="1046" y="1632"/>
              <a:ext cx="394"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err="1">
                  <a:cs typeface="Times New Roman" pitchFamily="18" charset="0"/>
                </a:rPr>
                <a:t>Y</a:t>
              </a:r>
              <a:r>
                <a:rPr lang="en-US" altLang="zh-CN" baseline="-30000" dirty="0" err="1">
                  <a:cs typeface="Times New Roman" pitchFamily="18" charset="0"/>
                </a:rPr>
                <a:t>n</a:t>
              </a:r>
              <a:r>
                <a:rPr lang="en-US" altLang="zh-CN" dirty="0">
                  <a:effectLst>
                    <a:outerShdw blurRad="38100" dist="38100" dir="2700000" algn="tl">
                      <a:srgbClr val="000000"/>
                    </a:outerShdw>
                  </a:effectLst>
                </a:rPr>
                <a:t> </a:t>
              </a:r>
            </a:p>
          </p:txBody>
        </p:sp>
        <p:sp>
          <p:nvSpPr>
            <p:cNvPr id="358451" name="Rectangle 51"/>
            <p:cNvSpPr>
              <a:spLocks noChangeArrowheads="1"/>
            </p:cNvSpPr>
            <p:nvPr/>
          </p:nvSpPr>
          <p:spPr bwMode="auto">
            <a:xfrm>
              <a:off x="672" y="1632"/>
              <a:ext cx="374" cy="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20000"/>
                </a:spcBef>
                <a:buClr>
                  <a:srgbClr val="FFFF00"/>
                </a:buClr>
                <a:buFont typeface="Wingdings" pitchFamily="2" charset="2"/>
                <a:buNone/>
              </a:pPr>
              <a:r>
                <a:rPr lang="en-US" altLang="zh-CN" dirty="0" err="1">
                  <a:cs typeface="Times New Roman" pitchFamily="18" charset="0"/>
                </a:rPr>
                <a:t>X</a:t>
              </a:r>
              <a:r>
                <a:rPr lang="en-US" altLang="zh-CN" baseline="-30000" dirty="0" err="1">
                  <a:cs typeface="Times New Roman" pitchFamily="18" charset="0"/>
                </a:rPr>
                <a:t>n</a:t>
              </a:r>
              <a:r>
                <a:rPr lang="en-US" altLang="zh-CN" dirty="0">
                  <a:effectLst>
                    <a:outerShdw blurRad="38100" dist="38100" dir="2700000" algn="tl">
                      <a:srgbClr val="000000"/>
                    </a:outerShdw>
                  </a:effectLst>
                </a:rPr>
                <a:t> </a:t>
              </a:r>
            </a:p>
          </p:txBody>
        </p:sp>
        <p:sp>
          <p:nvSpPr>
            <p:cNvPr id="358452" name="Line 52"/>
            <p:cNvSpPr>
              <a:spLocks noChangeShapeType="1"/>
            </p:cNvSpPr>
            <p:nvPr/>
          </p:nvSpPr>
          <p:spPr bwMode="auto">
            <a:xfrm>
              <a:off x="672" y="1632"/>
              <a:ext cx="187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3" name="Line 53"/>
            <p:cNvSpPr>
              <a:spLocks noChangeShapeType="1"/>
            </p:cNvSpPr>
            <p:nvPr/>
          </p:nvSpPr>
          <p:spPr bwMode="auto">
            <a:xfrm>
              <a:off x="672" y="2073"/>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4" name="Line 54"/>
            <p:cNvSpPr>
              <a:spLocks noChangeShapeType="1"/>
            </p:cNvSpPr>
            <p:nvPr/>
          </p:nvSpPr>
          <p:spPr bwMode="auto">
            <a:xfrm>
              <a:off x="672" y="2322"/>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5" name="Line 55"/>
            <p:cNvSpPr>
              <a:spLocks noChangeShapeType="1"/>
            </p:cNvSpPr>
            <p:nvPr/>
          </p:nvSpPr>
          <p:spPr bwMode="auto">
            <a:xfrm>
              <a:off x="672" y="2571"/>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6" name="Line 56"/>
            <p:cNvSpPr>
              <a:spLocks noChangeShapeType="1"/>
            </p:cNvSpPr>
            <p:nvPr/>
          </p:nvSpPr>
          <p:spPr bwMode="auto">
            <a:xfrm>
              <a:off x="672" y="2820"/>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7" name="Line 57"/>
            <p:cNvSpPr>
              <a:spLocks noChangeShapeType="1"/>
            </p:cNvSpPr>
            <p:nvPr/>
          </p:nvSpPr>
          <p:spPr bwMode="auto">
            <a:xfrm>
              <a:off x="672" y="3069"/>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8" name="Line 58"/>
            <p:cNvSpPr>
              <a:spLocks noChangeShapeType="1"/>
            </p:cNvSpPr>
            <p:nvPr/>
          </p:nvSpPr>
          <p:spPr bwMode="auto">
            <a:xfrm>
              <a:off x="672" y="3318"/>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59" name="Line 59"/>
            <p:cNvSpPr>
              <a:spLocks noChangeShapeType="1"/>
            </p:cNvSpPr>
            <p:nvPr/>
          </p:nvSpPr>
          <p:spPr bwMode="auto">
            <a:xfrm>
              <a:off x="672" y="3567"/>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0" name="Line 60"/>
            <p:cNvSpPr>
              <a:spLocks noChangeShapeType="1"/>
            </p:cNvSpPr>
            <p:nvPr/>
          </p:nvSpPr>
          <p:spPr bwMode="auto">
            <a:xfrm>
              <a:off x="672" y="3816"/>
              <a:ext cx="187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1" name="Line 61"/>
            <p:cNvSpPr>
              <a:spLocks noChangeShapeType="1"/>
            </p:cNvSpPr>
            <p:nvPr/>
          </p:nvSpPr>
          <p:spPr bwMode="auto">
            <a:xfrm>
              <a:off x="672" y="4065"/>
              <a:ext cx="1872"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2" name="Line 62"/>
            <p:cNvSpPr>
              <a:spLocks noChangeShapeType="1"/>
            </p:cNvSpPr>
            <p:nvPr/>
          </p:nvSpPr>
          <p:spPr bwMode="auto">
            <a:xfrm>
              <a:off x="672" y="1632"/>
              <a:ext cx="0" cy="243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3" name="Line 63"/>
            <p:cNvSpPr>
              <a:spLocks noChangeShapeType="1"/>
            </p:cNvSpPr>
            <p:nvPr/>
          </p:nvSpPr>
          <p:spPr bwMode="auto">
            <a:xfrm>
              <a:off x="1046" y="1632"/>
              <a:ext cx="0" cy="24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4" name="Line 64"/>
            <p:cNvSpPr>
              <a:spLocks noChangeShapeType="1"/>
            </p:cNvSpPr>
            <p:nvPr/>
          </p:nvSpPr>
          <p:spPr bwMode="auto">
            <a:xfrm>
              <a:off x="1440" y="1632"/>
              <a:ext cx="0" cy="24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5" name="Line 65"/>
            <p:cNvSpPr>
              <a:spLocks noChangeShapeType="1"/>
            </p:cNvSpPr>
            <p:nvPr/>
          </p:nvSpPr>
          <p:spPr bwMode="auto">
            <a:xfrm>
              <a:off x="1776" y="1632"/>
              <a:ext cx="0" cy="2433"/>
            </a:xfrm>
            <a:prstGeom prst="line">
              <a:avLst/>
            </a:prstGeom>
            <a:noFill/>
            <a:ln w="412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6" name="Line 66"/>
            <p:cNvSpPr>
              <a:spLocks noChangeShapeType="1"/>
            </p:cNvSpPr>
            <p:nvPr/>
          </p:nvSpPr>
          <p:spPr bwMode="auto">
            <a:xfrm>
              <a:off x="2170" y="1632"/>
              <a:ext cx="0" cy="24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467" name="Line 67"/>
            <p:cNvSpPr>
              <a:spLocks noChangeShapeType="1"/>
            </p:cNvSpPr>
            <p:nvPr/>
          </p:nvSpPr>
          <p:spPr bwMode="auto">
            <a:xfrm>
              <a:off x="2544" y="1632"/>
              <a:ext cx="0" cy="243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8468" name="Rectangle 68"/>
          <p:cNvSpPr>
            <a:spLocks noChangeArrowheads="1"/>
          </p:cNvSpPr>
          <p:nvPr/>
        </p:nvSpPr>
        <p:spPr bwMode="auto">
          <a:xfrm>
            <a:off x="685800" y="1447800"/>
            <a:ext cx="809816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b="1" dirty="0">
                <a:latin typeface="等线" panose="02010600030101010101" pitchFamily="2" charset="-122"/>
                <a:ea typeface="等线" panose="02010600030101010101" pitchFamily="2" charset="-122"/>
              </a:rPr>
              <a:t>四種形式的</a:t>
            </a:r>
            <a:r>
              <a:rPr lang="en-US" altLang="zh-CN" sz="3200" b="1" dirty="0">
                <a:latin typeface="等线" panose="02010600030101010101" pitchFamily="2" charset="-122"/>
                <a:ea typeface="等线" panose="02010600030101010101" pitchFamily="2" charset="-122"/>
              </a:rPr>
              <a:t>1</a:t>
            </a:r>
            <a:r>
              <a:rPr lang="zh-CN" altLang="en-US" sz="3200" b="1" dirty="0">
                <a:latin typeface="等线" panose="02010600030101010101" pitchFamily="2" charset="-122"/>
                <a:ea typeface="等线" panose="02010600030101010101" pitchFamily="2" charset="-122"/>
              </a:rPr>
              <a:t>位全加器</a:t>
            </a:r>
            <a:r>
              <a:rPr lang="en-US" altLang="zh-CN" sz="3200" b="1" dirty="0">
                <a:latin typeface="等线" panose="02010600030101010101" pitchFamily="2" charset="-122"/>
                <a:ea typeface="等线" panose="02010600030101010101" pitchFamily="2" charset="-122"/>
              </a:rPr>
              <a:t>(2)</a:t>
            </a:r>
          </a:p>
        </p:txBody>
      </p:sp>
      <p:sp>
        <p:nvSpPr>
          <p:cNvPr id="3" name="矩形 2"/>
          <p:cNvSpPr/>
          <p:nvPr/>
        </p:nvSpPr>
        <p:spPr>
          <a:xfrm>
            <a:off x="448072" y="3771900"/>
            <a:ext cx="2971800" cy="385763"/>
          </a:xfrm>
          <a:prstGeom prst="rect">
            <a:avLst/>
          </a:prstGeom>
          <a:solidFill>
            <a:schemeClr val="bg2">
              <a:lumMod val="75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448072" y="4149080"/>
            <a:ext cx="2971800" cy="385763"/>
          </a:xfrm>
          <a:prstGeom prst="rect">
            <a:avLst/>
          </a:prstGeom>
          <a:solidFill>
            <a:schemeClr val="bg2">
              <a:lumMod val="75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448072" y="4941168"/>
            <a:ext cx="2971800" cy="385763"/>
          </a:xfrm>
          <a:prstGeom prst="rect">
            <a:avLst/>
          </a:prstGeom>
          <a:solidFill>
            <a:schemeClr val="bg2">
              <a:lumMod val="75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448072" y="6139581"/>
            <a:ext cx="2971800" cy="385763"/>
          </a:xfrm>
          <a:prstGeom prst="rect">
            <a:avLst/>
          </a:prstGeom>
          <a:solidFill>
            <a:schemeClr val="bg2">
              <a:lumMod val="75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a:off x="448072" y="3386137"/>
            <a:ext cx="2971800" cy="385763"/>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445852" y="4546269"/>
            <a:ext cx="2971800" cy="385763"/>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447785" y="5358121"/>
            <a:ext cx="2971800" cy="385763"/>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47785" y="5764446"/>
            <a:ext cx="2971800" cy="385763"/>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6444208" y="5548631"/>
            <a:ext cx="387028" cy="4571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7444208" y="5548631"/>
            <a:ext cx="387028" cy="4571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8612583" y="5549943"/>
            <a:ext cx="387028" cy="4571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文本框 6"/>
              <p:cNvSpPr txBox="1"/>
              <p:nvPr/>
            </p:nvSpPr>
            <p:spPr>
              <a:xfrm>
                <a:off x="3593634" y="5458055"/>
                <a:ext cx="5579493" cy="41921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acc>
                        <m:accPr>
                          <m:chr m:val="̅"/>
                          <m:ctrlPr>
                            <a:rPr lang="en-US" altLang="zh-CN" i="1" smtClean="0">
                              <a:latin typeface="Cambria Math" panose="02040503050406030204" pitchFamily="18" charset="0"/>
                            </a:rPr>
                          </m:ctrlPr>
                        </m:accPr>
                        <m:e>
                          <m:acc>
                            <m:accPr>
                              <m:chr m:val="̅"/>
                              <m:ctrlPr>
                                <a:rPr lang="en-US" altLang="zh-CN"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𝑛</m:t>
                                  </m:r>
                                </m:sub>
                              </m:sSub>
                            </m:e>
                          </m:acc>
                          <m:r>
                            <a:rPr lang="en-US" altLang="zh-CN" b="0" i="1" smtClean="0">
                              <a:latin typeface="Cambria Math" panose="02040503050406030204" pitchFamily="18" charset="0"/>
                            </a:rPr>
                            <m:t> </m:t>
                          </m:r>
                          <m:acc>
                            <m:accPr>
                              <m:chr m:val="̅"/>
                              <m:ctrlPr>
                                <a:rPr lang="en-US" altLang="zh-CN"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𝑛</m:t>
                                  </m:r>
                                </m:sub>
                              </m:sSub>
                            </m:e>
                          </m:acc>
                          <m:r>
                            <a:rPr lang="en-US" altLang="zh-CN" b="0" i="1" smtClean="0">
                              <a:latin typeface="Cambria Math" panose="02040503050406030204" pitchFamily="18" charset="0"/>
                            </a:rPr>
                            <m:t> </m:t>
                          </m:r>
                          <m:acc>
                            <m:accPr>
                              <m:chr m:val="̅"/>
                              <m:ctrlPr>
                                <a:rPr lang="en-US" altLang="zh-CN"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e>
                          </m:acc>
                          <m:r>
                            <a:rPr lang="en-US" altLang="zh-CN" b="0" i="1" smtClean="0">
                              <a:latin typeface="Cambria Math" panose="02040503050406030204" pitchFamily="18" charset="0"/>
                            </a:rPr>
                            <m:t>+</m:t>
                          </m:r>
                          <m:acc>
                            <m:accPr>
                              <m:chr m:val="̅"/>
                              <m:ctrlPr>
                                <a:rPr lang="en-US" altLang="zh-CN"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𝑛</m:t>
                                  </m:r>
                                </m:sub>
                              </m:sSub>
                            </m:e>
                          </m:acc>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i="1">
                                      <a:latin typeface="Cambria Math" panose="02040503050406030204" pitchFamily="18" charset="0"/>
                                    </a:rPr>
                                    <m:t>𝑛</m:t>
                                  </m:r>
                                </m:sub>
                              </m:sSub>
                            </m:e>
                          </m:acc>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sub>
                          </m:sSub>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i="1">
                                      <a:latin typeface="Cambria Math" panose="02040503050406030204" pitchFamily="18" charset="0"/>
                                    </a:rPr>
                                    <m:t>𝑛</m:t>
                                  </m:r>
                                  <m:r>
                                    <a:rPr lang="en-US" altLang="zh-CN" b="0" i="1" smtClean="0">
                                      <a:latin typeface="Cambria Math" panose="02040503050406030204" pitchFamily="18" charset="0"/>
                                    </a:rPr>
                                    <m:t>−1</m:t>
                                  </m:r>
                                </m:sub>
                              </m:sSub>
                            </m:e>
                          </m:acc>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sub>
                          </m:sSub>
                        </m:e>
                      </m:acc>
                    </m:oMath>
                  </m:oMathPara>
                </a14:m>
                <a:endParaRPr lang="zh-CN" altLang="en-US" i="1" dirty="0"/>
              </a:p>
            </p:txBody>
          </p:sp>
        </mc:Choice>
        <mc:Fallback xmlns="">
          <p:sp>
            <p:nvSpPr>
              <p:cNvPr id="7" name="文本框 6"/>
              <p:cNvSpPr txBox="1">
                <a:spLocks noRot="1" noChangeAspect="1" noMove="1" noResize="1" noEditPoints="1" noAdjustHandles="1" noChangeArrowheads="1" noChangeShapeType="1" noTextEdit="1"/>
              </p:cNvSpPr>
              <p:nvPr/>
            </p:nvSpPr>
            <p:spPr>
              <a:xfrm>
                <a:off x="3593634" y="5458055"/>
                <a:ext cx="5579493" cy="419217"/>
              </a:xfrm>
              <a:prstGeom prst="rect">
                <a:avLst/>
              </a:prstGeom>
              <a:blipFill rotWithShape="0">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p:cNvSpPr txBox="1"/>
              <p:nvPr/>
            </p:nvSpPr>
            <p:spPr>
              <a:xfrm>
                <a:off x="3601157" y="4377935"/>
                <a:ext cx="5579493" cy="37010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𝑛</m:t>
                          </m:r>
                        </m:sub>
                      </m:sSub>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sub>
                          </m:sSub>
                        </m:e>
                      </m:ac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𝑛</m:t>
                          </m:r>
                        </m:sub>
                      </m:sSub>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sub>
                          </m:sSub>
                        </m:e>
                      </m:acc>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r>
                            <a:rPr lang="en-US" altLang="zh-CN" i="1">
                              <a:latin typeface="Cambria Math" panose="02040503050406030204" pitchFamily="18" charset="0"/>
                            </a:rPr>
                            <m:t>−1</m:t>
                          </m:r>
                        </m:sub>
                      </m:sSub>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sub>
                          </m:sSub>
                        </m:e>
                      </m:acc>
                    </m:oMath>
                  </m:oMathPara>
                </a14:m>
                <a:endParaRPr lang="zh-CN" altLang="en-US" i="1" dirty="0"/>
              </a:p>
            </p:txBody>
          </p:sp>
        </mc:Choice>
        <mc:Fallback xmlns="">
          <p:sp>
            <p:nvSpPr>
              <p:cNvPr id="90" name="文本框 89"/>
              <p:cNvSpPr txBox="1">
                <a:spLocks noRot="1" noChangeAspect="1" noMove="1" noResize="1" noEditPoints="1" noAdjustHandles="1" noChangeArrowheads="1" noChangeShapeType="1" noTextEdit="1"/>
              </p:cNvSpPr>
              <p:nvPr/>
            </p:nvSpPr>
            <p:spPr>
              <a:xfrm>
                <a:off x="3601157" y="4377935"/>
                <a:ext cx="5579493" cy="370101"/>
              </a:xfrm>
              <a:prstGeom prst="rect">
                <a:avLst/>
              </a:prstGeom>
              <a:blipFill rotWithShape="0">
                <a:blip r:embed="rId3"/>
                <a:stretch>
                  <a:fillRect l="-1967" b="-163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文本框 90"/>
              <p:cNvSpPr txBox="1"/>
              <p:nvPr/>
            </p:nvSpPr>
            <p:spPr>
              <a:xfrm>
                <a:off x="3597521" y="6034119"/>
                <a:ext cx="5579493" cy="419217"/>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acc>
                        <m:accPr>
                          <m:chr m:val="̅"/>
                          <m:ctrlPr>
                            <a:rPr lang="en-US" altLang="zh-CN" i="1" smtClean="0">
                              <a:latin typeface="Cambria Math" panose="02040503050406030204" pitchFamily="18" charset="0"/>
                            </a:rPr>
                          </m:ctrlPr>
                        </m:accPr>
                        <m:e>
                          <m:acc>
                            <m:accPr>
                              <m:chr m:val="̅"/>
                              <m:ctrlPr>
                                <a:rPr lang="en-US" altLang="zh-CN"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𝑋</m:t>
                                  </m:r>
                                </m:e>
                                <m:sub>
                                  <m:r>
                                    <a:rPr lang="en-US" altLang="zh-CN" b="0" i="1" smtClean="0">
                                      <a:latin typeface="Cambria Math" panose="02040503050406030204" pitchFamily="18" charset="0"/>
                                    </a:rPr>
                                    <m:t>𝑛</m:t>
                                  </m:r>
                                </m:sub>
                              </m:sSub>
                            </m:e>
                          </m:acc>
                          <m:r>
                            <a:rPr lang="en-US" altLang="zh-CN" b="0" i="1" smtClean="0">
                              <a:latin typeface="Cambria Math" panose="02040503050406030204" pitchFamily="18" charset="0"/>
                            </a:rPr>
                            <m:t> </m:t>
                          </m:r>
                          <m:acc>
                            <m:accPr>
                              <m:chr m:val="̅"/>
                              <m:ctrlPr>
                                <a:rPr lang="en-US" altLang="zh-CN"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𝑛</m:t>
                                  </m:r>
                                </m:sub>
                              </m:sSub>
                            </m:e>
                          </m:acc>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𝑛</m:t>
                                      </m:r>
                                    </m:sub>
                                  </m:sSub>
                                </m:e>
                              </m:acc>
                              <m:r>
                                <a:rPr lang="en-US" altLang="zh-CN" i="1">
                                  <a:latin typeface="Cambria Math" panose="02040503050406030204" pitchFamily="18" charset="0"/>
                                </a:rPr>
                                <m:t>+</m:t>
                              </m:r>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𝑛</m:t>
                                      </m:r>
                                    </m:sub>
                                  </m:sSub>
                                </m:e>
                              </m:acc>
                            </m:e>
                          </m:d>
                          <m:acc>
                            <m:accPr>
                              <m:chr m:val="̅"/>
                              <m:ctrlPr>
                                <a:rPr lang="en-US" altLang="zh-CN" i="1">
                                  <a:latin typeface="Cambria Math" panose="02040503050406030204" pitchFamily="18" charset="0"/>
                                </a:rPr>
                              </m:ctrlPr>
                            </m:acc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i="1">
                                      <a:latin typeface="Cambria Math" panose="02040503050406030204" pitchFamily="18" charset="0"/>
                                    </a:rPr>
                                    <m:t>𝑛</m:t>
                                  </m:r>
                                  <m:r>
                                    <a:rPr lang="en-US" altLang="zh-CN" b="0" i="1" smtClean="0">
                                      <a:latin typeface="Cambria Math" panose="02040503050406030204" pitchFamily="18" charset="0"/>
                                    </a:rPr>
                                    <m:t>−1</m:t>
                                  </m:r>
                                </m:sub>
                              </m:sSub>
                            </m:e>
                          </m:acc>
                        </m:e>
                      </m:acc>
                    </m:oMath>
                  </m:oMathPara>
                </a14:m>
                <a:endParaRPr lang="zh-CN" altLang="en-US" i="1" dirty="0"/>
              </a:p>
            </p:txBody>
          </p:sp>
        </mc:Choice>
        <mc:Fallback xmlns="">
          <p:sp>
            <p:nvSpPr>
              <p:cNvPr id="91" name="文本框 90"/>
              <p:cNvSpPr txBox="1">
                <a:spLocks noRot="1" noChangeAspect="1" noMove="1" noResize="1" noEditPoints="1" noAdjustHandles="1" noChangeArrowheads="1" noChangeShapeType="1" noTextEdit="1"/>
              </p:cNvSpPr>
              <p:nvPr/>
            </p:nvSpPr>
            <p:spPr>
              <a:xfrm>
                <a:off x="3597521" y="6034119"/>
                <a:ext cx="5579493" cy="419217"/>
              </a:xfrm>
              <a:prstGeom prst="rect">
                <a:avLst/>
              </a:prstGeom>
              <a:blipFill rotWithShape="0">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p:cNvSpPr txBox="1"/>
              <p:nvPr/>
            </p:nvSpPr>
            <p:spPr>
              <a:xfrm>
                <a:off x="3601157" y="4941168"/>
                <a:ext cx="5579493" cy="370101"/>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𝑛</m:t>
                          </m:r>
                        </m:sub>
                      </m:sSub>
                      <m:r>
                        <a:rPr lang="en-US" altLang="zh-CN" i="1" smtClean="0">
                          <a:latin typeface="Cambria Math" panose="02040503050406030204" pitchFamily="18" charset="0"/>
                        </a:rPr>
                        <m:t>+</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𝑛</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𝑛</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𝑛</m:t>
                          </m:r>
                          <m:r>
                            <a:rPr lang="en-US" altLang="zh-CN" i="1">
                              <a:latin typeface="Cambria Math" panose="02040503050406030204" pitchFamily="18" charset="0"/>
                            </a:rPr>
                            <m:t>−1</m:t>
                          </m:r>
                        </m:sub>
                      </m:sSub>
                    </m:oMath>
                  </m:oMathPara>
                </a14:m>
                <a:endParaRPr lang="zh-CN" altLang="en-US" i="1" dirty="0"/>
              </a:p>
            </p:txBody>
          </p:sp>
        </mc:Choice>
        <mc:Fallback xmlns="">
          <p:sp>
            <p:nvSpPr>
              <p:cNvPr id="92" name="文本框 91"/>
              <p:cNvSpPr txBox="1">
                <a:spLocks noRot="1" noChangeAspect="1" noMove="1" noResize="1" noEditPoints="1" noAdjustHandles="1" noChangeArrowheads="1" noChangeShapeType="1" noTextEdit="1"/>
              </p:cNvSpPr>
              <p:nvPr/>
            </p:nvSpPr>
            <p:spPr>
              <a:xfrm>
                <a:off x="3601157" y="4941168"/>
                <a:ext cx="5579493" cy="370101"/>
              </a:xfrm>
              <a:prstGeom prst="rect">
                <a:avLst/>
              </a:prstGeom>
              <a:blipFill rotWithShape="0">
                <a:blip r:embed="rId5"/>
                <a:stretch>
                  <a:fillRect l="-1967" b="-16667"/>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BD13BF2-0D57-447D-9CC8-828E5991F46D}"/>
              </a:ext>
            </a:extLst>
          </p:cNvPr>
          <p:cNvSpPr txBox="1"/>
          <p:nvPr/>
        </p:nvSpPr>
        <p:spPr>
          <a:xfrm>
            <a:off x="5709753" y="1023930"/>
            <a:ext cx="3096344" cy="830997"/>
          </a:xfrm>
          <a:prstGeom prst="rect">
            <a:avLst/>
          </a:prstGeom>
          <a:noFill/>
        </p:spPr>
        <p:txBody>
          <a:bodyPr wrap="square" rtlCol="0">
            <a:spAutoFit/>
          </a:bodyPr>
          <a:lstStyle/>
          <a:p>
            <a:r>
              <a:rPr lang="zh-CN" altLang="en-US" dirty="0">
                <a:latin typeface="等线" panose="02010600030101010101" pitchFamily="2" charset="-122"/>
                <a:ea typeface="等线" panose="02010600030101010101" pitchFamily="2" charset="-122"/>
              </a:rPr>
              <a:t>思考：如何只使用原信號，不需要反信號。</a:t>
            </a:r>
          </a:p>
        </p:txBody>
      </p:sp>
    </p:spTree>
    <p:extLst>
      <p:ext uri="{BB962C8B-B14F-4D97-AF65-F5344CB8AC3E}">
        <p14:creationId xmlns:p14="http://schemas.microsoft.com/office/powerpoint/2010/main" val="15338950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fade">
                                      <p:cBhvr>
                                        <p:cTn id="17" dur="500"/>
                                        <p:tgtEl>
                                          <p:spTgt spid="7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animEffect transition="in" filter="fade">
                                      <p:cBhvr>
                                        <p:cTn id="23" dur="500"/>
                                        <p:tgtEl>
                                          <p:spTgt spid="7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fade">
                                      <p:cBhvr>
                                        <p:cTn id="26" dur="500"/>
                                        <p:tgtEl>
                                          <p:spTgt spid="7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58404"/>
                                        </p:tgtEl>
                                        <p:attrNameLst>
                                          <p:attrName>style.visibility</p:attrName>
                                        </p:attrNameLst>
                                      </p:cBhvr>
                                      <p:to>
                                        <p:strVal val="visible"/>
                                      </p:to>
                                    </p:set>
                                    <p:animEffect transition="in" filter="dissolve">
                                      <p:cBhvr>
                                        <p:cTn id="31" dur="500"/>
                                        <p:tgtEl>
                                          <p:spTgt spid="35840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92"/>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9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fade">
                                      <p:cBhvr>
                                        <p:cTn id="46" dur="500"/>
                                        <p:tgtEl>
                                          <p:spTgt spid="7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8"/>
                                        </p:tgtEl>
                                        <p:attrNameLst>
                                          <p:attrName>style.visibility</p:attrName>
                                        </p:attrNameLst>
                                      </p:cBhvr>
                                      <p:to>
                                        <p:strVal val="visible"/>
                                      </p:to>
                                    </p:set>
                                    <p:animEffect transition="in" filter="fade">
                                      <p:cBhvr>
                                        <p:cTn id="49" dur="500"/>
                                        <p:tgtEl>
                                          <p:spTgt spid="7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fade">
                                      <p:cBhvr>
                                        <p:cTn id="52" dur="500"/>
                                        <p:tgtEl>
                                          <p:spTgt spid="7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6"/>
                                        </p:tgtEl>
                                        <p:attrNameLst>
                                          <p:attrName>style.visibility</p:attrName>
                                        </p:attrNameLst>
                                      </p:cBhvr>
                                      <p:to>
                                        <p:strVal val="visible"/>
                                      </p:to>
                                    </p:set>
                                    <p:animEffect transition="in" filter="fade">
                                      <p:cBhvr>
                                        <p:cTn id="55" dur="500"/>
                                        <p:tgtEl>
                                          <p:spTgt spid="76"/>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82"/>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85"/>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86"/>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8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7"/>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6" grpId="0" animBg="1"/>
      <p:bldP spid="358404" grpId="0" autoUpdateAnimBg="0"/>
      <p:bldP spid="3" grpId="0" animBg="1"/>
      <p:bldP spid="73" grpId="0" animBg="1"/>
      <p:bldP spid="74" grpId="0" animBg="1"/>
      <p:bldP spid="75" grpId="0" animBg="1"/>
      <p:bldP spid="76" grpId="0" animBg="1"/>
      <p:bldP spid="77" grpId="0" animBg="1"/>
      <p:bldP spid="78" grpId="0" animBg="1"/>
      <p:bldP spid="79" grpId="0" animBg="1"/>
      <p:bldP spid="85" grpId="0" animBg="1"/>
      <p:bldP spid="86" grpId="0" animBg="1"/>
      <p:bldP spid="87" grpId="0" animBg="1"/>
      <p:bldP spid="7" grpId="0"/>
      <p:bldP spid="90" grpId="0"/>
      <p:bldP spid="91" grpId="0"/>
      <p:bldP spid="92"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914400" y="-171400"/>
            <a:ext cx="7772400" cy="1143000"/>
          </a:xfrm>
        </p:spPr>
        <p:txBody>
          <a:bodyPr/>
          <a:lstStyle/>
          <a:p>
            <a:r>
              <a:rPr lang="en-US" altLang="zh-CN" sz="3600" dirty="0"/>
              <a:t>3.3.7   </a:t>
            </a:r>
            <a:r>
              <a:rPr lang="zh-CN" altLang="en-US" sz="3600" dirty="0"/>
              <a:t>運算器</a:t>
            </a:r>
            <a:endParaRPr lang="en-US" altLang="zh-CN" sz="3600" dirty="0"/>
          </a:p>
        </p:txBody>
      </p:sp>
      <p:sp>
        <p:nvSpPr>
          <p:cNvPr id="10" name="灯片编号占位符 6"/>
          <p:cNvSpPr>
            <a:spLocks noGrp="1"/>
          </p:cNvSpPr>
          <p:nvPr>
            <p:ph type="sldNum" sz="quarter" idx="12"/>
          </p:nvPr>
        </p:nvSpPr>
        <p:spPr/>
        <p:txBody>
          <a:bodyPr/>
          <a:lstStyle/>
          <a:p>
            <a:fld id="{C2727415-6800-490B-A5D8-C52007053D19}" type="slidenum">
              <a:rPr lang="en-US" altLang="zh-CN"/>
              <a:pPr/>
              <a:t>14</a:t>
            </a:fld>
            <a:endParaRPr lang="en-US" altLang="zh-CN" dirty="0"/>
          </a:p>
        </p:txBody>
      </p:sp>
      <p:graphicFrame>
        <p:nvGraphicFramePr>
          <p:cNvPr id="359427" name="Object 3"/>
          <p:cNvGraphicFramePr>
            <a:graphicFrameLocks noGrp="1" noChangeAspect="1"/>
          </p:cNvGraphicFramePr>
          <p:nvPr>
            <p:ph sz="quarter" idx="1"/>
          </p:nvPr>
        </p:nvGraphicFramePr>
        <p:xfrm>
          <a:off x="1112838" y="1447800"/>
          <a:ext cx="3352800" cy="4570413"/>
        </p:xfrm>
        <a:graphic>
          <a:graphicData uri="http://schemas.openxmlformats.org/presentationml/2006/ole">
            <mc:AlternateContent xmlns:mc="http://schemas.openxmlformats.org/markup-compatibility/2006">
              <mc:Choice xmlns:v="urn:schemas-microsoft-com:vml" Requires="v">
                <p:oleObj name="Image" r:id="rId2" imgW="5123265" imgH="6984490" progId="">
                  <p:embed/>
                </p:oleObj>
              </mc:Choice>
              <mc:Fallback>
                <p:oleObj name="Image" r:id="rId2" imgW="5123265" imgH="6984490" progId="">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838" y="1447800"/>
                        <a:ext cx="3352800" cy="4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9428" name="Object 4"/>
          <p:cNvGraphicFramePr>
            <a:graphicFrameLocks noGrp="1" noChangeAspect="1"/>
          </p:cNvGraphicFramePr>
          <p:nvPr>
            <p:ph sz="quarter" idx="2"/>
          </p:nvPr>
        </p:nvGraphicFramePr>
        <p:xfrm>
          <a:off x="5141913" y="1447800"/>
          <a:ext cx="3333750" cy="4570413"/>
        </p:xfrm>
        <a:graphic>
          <a:graphicData uri="http://schemas.openxmlformats.org/presentationml/2006/ole">
            <mc:AlternateContent xmlns:mc="http://schemas.openxmlformats.org/markup-compatibility/2006">
              <mc:Choice xmlns:v="urn:schemas-microsoft-com:vml" Requires="v">
                <p:oleObj name="Image" r:id="rId4" imgW="5309388" imgH="7278367" progId="">
                  <p:embed/>
                </p:oleObj>
              </mc:Choice>
              <mc:Fallback>
                <p:oleObj name="Image" r:id="rId4" imgW="5309388" imgH="7278367" progId="">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1913" y="1447800"/>
                        <a:ext cx="3333750" cy="4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9429" name="Rectangle 5"/>
          <p:cNvSpPr>
            <a:spLocks noChangeArrowheads="1"/>
          </p:cNvSpPr>
          <p:nvPr/>
        </p:nvSpPr>
        <p:spPr bwMode="auto">
          <a:xfrm>
            <a:off x="838200" y="5943600"/>
            <a:ext cx="36215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err="1">
                <a:latin typeface="等线" panose="02010600030101010101" pitchFamily="2" charset="-122"/>
                <a:ea typeface="等线" panose="02010600030101010101" pitchFamily="2" charset="-122"/>
              </a:rPr>
              <a:t>Cn</a:t>
            </a:r>
            <a:r>
              <a:rPr lang="zh-CN" altLang="en-US" sz="2400" dirty="0">
                <a:latin typeface="等线" panose="02010600030101010101" pitchFamily="2" charset="-122"/>
                <a:ea typeface="等线" panose="02010600030101010101" pitchFamily="2" charset="-122"/>
              </a:rPr>
              <a:t>的形成需要</a:t>
            </a:r>
            <a:r>
              <a:rPr lang="zh-CN" altLang="en-US" sz="2400" b="1" dirty="0">
                <a:solidFill>
                  <a:srgbClr val="FF0000"/>
                </a:solidFill>
                <a:latin typeface="等线" panose="02010600030101010101" pitchFamily="2" charset="-122"/>
                <a:ea typeface="等线" panose="02010600030101010101" pitchFamily="2" charset="-122"/>
              </a:rPr>
              <a:t>二</a:t>
            </a:r>
            <a:r>
              <a:rPr lang="zh-CN" altLang="en-US" sz="2400" dirty="0">
                <a:latin typeface="等线" panose="02010600030101010101" pitchFamily="2" charset="-122"/>
                <a:ea typeface="等线" panose="02010600030101010101" pitchFamily="2" charset="-122"/>
              </a:rPr>
              <a:t>級門延遲</a:t>
            </a:r>
          </a:p>
          <a:p>
            <a:r>
              <a:rPr lang="en-US" altLang="zh-CN" sz="2400" dirty="0" err="1">
                <a:latin typeface="等线" panose="02010600030101010101" pitchFamily="2" charset="-122"/>
                <a:ea typeface="等线" panose="02010600030101010101" pitchFamily="2" charset="-122"/>
              </a:rPr>
              <a:t>Fn</a:t>
            </a:r>
            <a:r>
              <a:rPr lang="zh-CN" altLang="en-US" sz="2400" dirty="0">
                <a:latin typeface="等线" panose="02010600030101010101" pitchFamily="2" charset="-122"/>
                <a:ea typeface="等线" panose="02010600030101010101" pitchFamily="2" charset="-122"/>
              </a:rPr>
              <a:t>的形成需要</a:t>
            </a:r>
            <a:r>
              <a:rPr lang="zh-CN" altLang="en-US" sz="2400" b="1" dirty="0">
                <a:solidFill>
                  <a:srgbClr val="FF0000"/>
                </a:solidFill>
                <a:latin typeface="等线" panose="02010600030101010101" pitchFamily="2" charset="-122"/>
                <a:ea typeface="等线" panose="02010600030101010101" pitchFamily="2" charset="-122"/>
              </a:rPr>
              <a:t>三</a:t>
            </a:r>
            <a:r>
              <a:rPr lang="zh-CN" altLang="en-US" sz="2400" dirty="0">
                <a:latin typeface="等线" panose="02010600030101010101" pitchFamily="2" charset="-122"/>
                <a:ea typeface="等线" panose="02010600030101010101" pitchFamily="2" charset="-122"/>
              </a:rPr>
              <a:t>級門延遲</a:t>
            </a:r>
          </a:p>
        </p:txBody>
      </p:sp>
      <p:sp>
        <p:nvSpPr>
          <p:cNvPr id="359430" name="Rectangle 6"/>
          <p:cNvSpPr>
            <a:spLocks noChangeArrowheads="1"/>
          </p:cNvSpPr>
          <p:nvPr/>
        </p:nvSpPr>
        <p:spPr bwMode="auto">
          <a:xfrm>
            <a:off x="5105400" y="5943600"/>
            <a:ext cx="362310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err="1">
                <a:latin typeface="等线" panose="02010600030101010101" pitchFamily="2" charset="-122"/>
                <a:ea typeface="等线" panose="02010600030101010101" pitchFamily="2" charset="-122"/>
              </a:rPr>
              <a:t>Cn</a:t>
            </a:r>
            <a:r>
              <a:rPr lang="zh-CN" altLang="en-US" sz="2400" dirty="0">
                <a:latin typeface="等线" panose="02010600030101010101" pitchFamily="2" charset="-122"/>
                <a:ea typeface="等线" panose="02010600030101010101" pitchFamily="2" charset="-122"/>
              </a:rPr>
              <a:t>的形成需要</a:t>
            </a:r>
            <a:r>
              <a:rPr lang="zh-CN" altLang="en-US" sz="2400" b="1" dirty="0">
                <a:solidFill>
                  <a:srgbClr val="FF0000"/>
                </a:solidFill>
                <a:latin typeface="等线" panose="02010600030101010101" pitchFamily="2" charset="-122"/>
                <a:ea typeface="等线" panose="02010600030101010101" pitchFamily="2" charset="-122"/>
              </a:rPr>
              <a:t>二</a:t>
            </a:r>
            <a:r>
              <a:rPr lang="zh-CN" altLang="en-US" sz="2400" dirty="0">
                <a:latin typeface="等线" panose="02010600030101010101" pitchFamily="2" charset="-122"/>
                <a:ea typeface="等线" panose="02010600030101010101" pitchFamily="2" charset="-122"/>
              </a:rPr>
              <a:t>級門延遲</a:t>
            </a:r>
          </a:p>
          <a:p>
            <a:r>
              <a:rPr lang="en-US" altLang="zh-CN" sz="2400" dirty="0" err="1">
                <a:latin typeface="等线" panose="02010600030101010101" pitchFamily="2" charset="-122"/>
                <a:ea typeface="等线" panose="02010600030101010101" pitchFamily="2" charset="-122"/>
              </a:rPr>
              <a:t>Fn</a:t>
            </a:r>
            <a:r>
              <a:rPr lang="zh-CN" altLang="en-US" sz="2400" dirty="0">
                <a:latin typeface="等线" panose="02010600030101010101" pitchFamily="2" charset="-122"/>
                <a:ea typeface="等线" panose="02010600030101010101" pitchFamily="2" charset="-122"/>
              </a:rPr>
              <a:t>的形成需要</a:t>
            </a:r>
            <a:r>
              <a:rPr lang="zh-CN" altLang="en-US" sz="2400" b="1" dirty="0">
                <a:solidFill>
                  <a:srgbClr val="FF0000"/>
                </a:solidFill>
                <a:latin typeface="等线" panose="02010600030101010101" pitchFamily="2" charset="-122"/>
                <a:ea typeface="等线" panose="02010600030101010101" pitchFamily="2" charset="-122"/>
              </a:rPr>
              <a:t>三</a:t>
            </a:r>
            <a:r>
              <a:rPr lang="zh-CN" altLang="en-US" sz="2400" dirty="0">
                <a:latin typeface="等线" panose="02010600030101010101" pitchFamily="2" charset="-122"/>
                <a:ea typeface="等线" panose="02010600030101010101" pitchFamily="2" charset="-122"/>
              </a:rPr>
              <a:t>級門延遲</a:t>
            </a:r>
          </a:p>
        </p:txBody>
      </p:sp>
      <p:sp>
        <p:nvSpPr>
          <p:cNvPr id="359431" name="Rectangle 7"/>
          <p:cNvSpPr>
            <a:spLocks noChangeArrowheads="1"/>
          </p:cNvSpPr>
          <p:nvPr/>
        </p:nvSpPr>
        <p:spPr bwMode="auto">
          <a:xfrm>
            <a:off x="685800" y="1001762"/>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b="1" dirty="0">
                <a:latin typeface="等线" panose="02010600030101010101" pitchFamily="2" charset="-122"/>
                <a:ea typeface="等线" panose="02010600030101010101" pitchFamily="2" charset="-122"/>
              </a:rPr>
              <a:t>四種形式的全加器（</a:t>
            </a:r>
            <a:r>
              <a:rPr lang="en-US" altLang="zh-CN" sz="3200" b="1" dirty="0">
                <a:latin typeface="等线" panose="02010600030101010101" pitchFamily="2" charset="-122"/>
                <a:ea typeface="等线" panose="02010600030101010101" pitchFamily="2" charset="-122"/>
              </a:rPr>
              <a:t>3</a:t>
            </a:r>
            <a:r>
              <a:rPr lang="zh-CN" altLang="en-US" sz="3200" b="1" dirty="0">
                <a:latin typeface="等线" panose="02010600030101010101" pitchFamily="2" charset="-122"/>
                <a:ea typeface="等线" panose="02010600030101010101" pitchFamily="2" charset="-122"/>
              </a:rPr>
              <a:t>）</a:t>
            </a:r>
          </a:p>
        </p:txBody>
      </p:sp>
      <p:sp>
        <p:nvSpPr>
          <p:cNvPr id="9" name="TextBox 8"/>
          <p:cNvSpPr txBox="1"/>
          <p:nvPr/>
        </p:nvSpPr>
        <p:spPr>
          <a:xfrm>
            <a:off x="1134050" y="4725144"/>
            <a:ext cx="7016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zh-CN" dirty="0"/>
              <a:t>(c)</a:t>
            </a:r>
            <a:endParaRPr lang="zh-CN" altLang="en-US" dirty="0"/>
          </a:p>
        </p:txBody>
      </p:sp>
      <p:sp>
        <p:nvSpPr>
          <p:cNvPr id="11" name="TextBox 10"/>
          <p:cNvSpPr txBox="1"/>
          <p:nvPr/>
        </p:nvSpPr>
        <p:spPr>
          <a:xfrm>
            <a:off x="5076056" y="4725144"/>
            <a:ext cx="7016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zh-CN" dirty="0"/>
              <a:t>(d)</a:t>
            </a:r>
            <a:endParaRPr lang="zh-CN" altLang="en-US" dirty="0"/>
          </a:p>
        </p:txBody>
      </p:sp>
    </p:spTree>
    <p:extLst>
      <p:ext uri="{BB962C8B-B14F-4D97-AF65-F5344CB8AC3E}">
        <p14:creationId xmlns:p14="http://schemas.microsoft.com/office/powerpoint/2010/main" val="37085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9427"/>
                                        </p:tgtEl>
                                        <p:attrNameLst>
                                          <p:attrName>style.visibility</p:attrName>
                                        </p:attrNameLst>
                                      </p:cBhvr>
                                      <p:to>
                                        <p:strVal val="visible"/>
                                      </p:to>
                                    </p:set>
                                    <p:animEffect transition="in" filter="dissolve">
                                      <p:cBhvr>
                                        <p:cTn id="7" dur="500"/>
                                        <p:tgtEl>
                                          <p:spTgt spid="359427"/>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59429"/>
                                        </p:tgtEl>
                                        <p:attrNameLst>
                                          <p:attrName>style.visibility</p:attrName>
                                        </p:attrNameLst>
                                      </p:cBhvr>
                                      <p:to>
                                        <p:strVal val="visible"/>
                                      </p:to>
                                    </p:set>
                                    <p:animEffect transition="in" filter="dissolve">
                                      <p:cBhvr>
                                        <p:cTn id="15" dur="500"/>
                                        <p:tgtEl>
                                          <p:spTgt spid="35942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59428"/>
                                        </p:tgtEl>
                                        <p:attrNameLst>
                                          <p:attrName>style.visibility</p:attrName>
                                        </p:attrNameLst>
                                      </p:cBhvr>
                                      <p:to>
                                        <p:strVal val="visible"/>
                                      </p:to>
                                    </p:set>
                                    <p:animEffect transition="in" filter="dissolve">
                                      <p:cBhvr>
                                        <p:cTn id="20" dur="500"/>
                                        <p:tgtEl>
                                          <p:spTgt spid="359428"/>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59430"/>
                                        </p:tgtEl>
                                        <p:attrNameLst>
                                          <p:attrName>style.visibility</p:attrName>
                                        </p:attrNameLst>
                                      </p:cBhvr>
                                      <p:to>
                                        <p:strVal val="visible"/>
                                      </p:to>
                                    </p:set>
                                    <p:animEffect transition="in" filter="dissolve">
                                      <p:cBhvr>
                                        <p:cTn id="28" dur="500"/>
                                        <p:tgtEl>
                                          <p:spTgt spid="359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9" grpId="0" autoUpdateAnimBg="0"/>
      <p:bldP spid="359430" grpId="0" autoUpdateAnimBg="0"/>
      <p:bldP spid="9"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6" name="灯片编号占位符 5"/>
          <p:cNvSpPr>
            <a:spLocks noGrp="1"/>
          </p:cNvSpPr>
          <p:nvPr>
            <p:ph type="sldNum" sz="quarter" idx="12"/>
          </p:nvPr>
        </p:nvSpPr>
        <p:spPr/>
        <p:txBody>
          <a:bodyPr/>
          <a:lstStyle/>
          <a:p>
            <a:fld id="{4E1A9375-5441-4D2B-A7A2-31921CC4A12F}" type="slidenum">
              <a:rPr lang="en-US" altLang="zh-CN"/>
              <a:pPr/>
              <a:t>15</a:t>
            </a:fld>
            <a:endParaRPr lang="en-US" altLang="zh-CN" dirty="0"/>
          </a:p>
        </p:txBody>
      </p:sp>
      <p:sp>
        <p:nvSpPr>
          <p:cNvPr id="360451" name="Rectangle 3"/>
          <p:cNvSpPr>
            <a:spLocks noGrp="1" noChangeArrowheads="1"/>
          </p:cNvSpPr>
          <p:nvPr>
            <p:ph sz="quarter" idx="1"/>
          </p:nvPr>
        </p:nvSpPr>
        <p:spPr/>
        <p:txBody>
          <a:bodyPr>
            <a:normAutofit lnSpcReduction="10000"/>
          </a:bodyPr>
          <a:lstStyle/>
          <a:p>
            <a:r>
              <a:rPr lang="en-US" altLang="zh-CN" b="1" dirty="0"/>
              <a:t>3.3.7 </a:t>
            </a:r>
            <a:r>
              <a:rPr lang="zh-CN" altLang="en-US" b="1" dirty="0"/>
              <a:t>運算器（算數邏輯單元 </a:t>
            </a:r>
            <a:r>
              <a:rPr lang="en-US" altLang="zh-CN" b="1" dirty="0"/>
              <a:t>ALU</a:t>
            </a:r>
            <a:r>
              <a:rPr lang="zh-CN" altLang="en-US" b="1" dirty="0"/>
              <a:t>）</a:t>
            </a:r>
          </a:p>
          <a:p>
            <a:pPr lvl="1"/>
            <a:r>
              <a:rPr lang="zh-CN" altLang="en-US" b="1" dirty="0"/>
              <a:t>加法器</a:t>
            </a:r>
          </a:p>
          <a:p>
            <a:pPr lvl="2"/>
            <a:r>
              <a:rPr lang="zh-CN" altLang="en-US" b="1" dirty="0"/>
              <a:t>一位加法器</a:t>
            </a:r>
          </a:p>
          <a:p>
            <a:pPr lvl="2"/>
            <a:r>
              <a:rPr lang="zh-CN" altLang="en-US" b="1" dirty="0">
                <a:solidFill>
                  <a:srgbClr val="7030A0"/>
                </a:solidFill>
              </a:rPr>
              <a:t>四位元串列進位元加法器</a:t>
            </a:r>
          </a:p>
          <a:p>
            <a:pPr lvl="2"/>
            <a:r>
              <a:rPr lang="zh-CN" altLang="en-US" b="1" dirty="0"/>
              <a:t>四位並行加法器</a:t>
            </a:r>
          </a:p>
          <a:p>
            <a:pPr lvl="2"/>
            <a:r>
              <a:rPr lang="en-US" altLang="zh-CN" b="1" dirty="0"/>
              <a:t>16</a:t>
            </a:r>
            <a:r>
              <a:rPr lang="zh-CN" altLang="en-US" b="1" dirty="0"/>
              <a:t>位加法器</a:t>
            </a:r>
          </a:p>
          <a:p>
            <a:pPr lvl="1"/>
            <a:r>
              <a:rPr lang="zh-CN" altLang="en-US" b="1" dirty="0"/>
              <a:t>算數運算邏輯單元</a:t>
            </a:r>
          </a:p>
          <a:p>
            <a:pPr lvl="2"/>
            <a:r>
              <a:rPr lang="zh-CN" altLang="en-US" b="1" dirty="0"/>
              <a:t>四位元算術邏輯運算單元</a:t>
            </a:r>
            <a:endParaRPr lang="en-US" altLang="zh-CN" b="1" dirty="0"/>
          </a:p>
          <a:p>
            <a:pPr lvl="1"/>
            <a:r>
              <a:rPr lang="zh-CN" altLang="en-US" dirty="0"/>
              <a:t>乘法器</a:t>
            </a:r>
            <a:endParaRPr lang="zh-CN" altLang="en-US" b="1" dirty="0"/>
          </a:p>
        </p:txBody>
      </p:sp>
    </p:spTree>
    <p:extLst>
      <p:ext uri="{BB962C8B-B14F-4D97-AF65-F5344CB8AC3E}">
        <p14:creationId xmlns:p14="http://schemas.microsoft.com/office/powerpoint/2010/main" val="712968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a:xfrm>
            <a:off x="914400" y="-27384"/>
            <a:ext cx="7772400" cy="1143000"/>
          </a:xfrm>
        </p:spPr>
        <p:txBody>
          <a:bodyPr/>
          <a:lstStyle/>
          <a:p>
            <a:r>
              <a:rPr lang="en-US" altLang="zh-CN" sz="3600" dirty="0"/>
              <a:t>3.3.7   </a:t>
            </a:r>
            <a:r>
              <a:rPr lang="zh-CN" altLang="en-US" sz="3600" dirty="0"/>
              <a:t>運算器</a:t>
            </a:r>
            <a:endParaRPr lang="en-US" altLang="zh-CN" sz="3600" dirty="0"/>
          </a:p>
        </p:txBody>
      </p:sp>
      <p:sp>
        <p:nvSpPr>
          <p:cNvPr id="72" name="灯片编号占位符 5"/>
          <p:cNvSpPr>
            <a:spLocks noGrp="1"/>
          </p:cNvSpPr>
          <p:nvPr>
            <p:ph type="sldNum" sz="quarter" idx="12"/>
          </p:nvPr>
        </p:nvSpPr>
        <p:spPr/>
        <p:txBody>
          <a:bodyPr/>
          <a:lstStyle/>
          <a:p>
            <a:fld id="{2AA32074-AD1E-43A0-A5D8-409A14E2E7A5}" type="slidenum">
              <a:rPr lang="en-US" altLang="zh-CN"/>
              <a:pPr/>
              <a:t>16</a:t>
            </a:fld>
            <a:endParaRPr lang="en-US" altLang="zh-CN" dirty="0"/>
          </a:p>
        </p:txBody>
      </p:sp>
      <p:graphicFrame>
        <p:nvGraphicFramePr>
          <p:cNvPr id="361475" name="Object 3"/>
          <p:cNvGraphicFramePr>
            <a:graphicFrameLocks noGrp="1" noChangeAspect="1"/>
          </p:cNvGraphicFramePr>
          <p:nvPr>
            <p:ph sz="quarter" idx="1"/>
            <p:extLst>
              <p:ext uri="{D42A27DB-BD31-4B8C-83A1-F6EECF244321}">
                <p14:modId xmlns:p14="http://schemas.microsoft.com/office/powerpoint/2010/main" val="228970698"/>
              </p:ext>
            </p:extLst>
          </p:nvPr>
        </p:nvGraphicFramePr>
        <p:xfrm>
          <a:off x="1571624" y="4297635"/>
          <a:ext cx="7115175" cy="2371725"/>
        </p:xfrm>
        <a:graphic>
          <a:graphicData uri="http://schemas.openxmlformats.org/presentationml/2006/ole">
            <mc:AlternateContent xmlns:mc="http://schemas.openxmlformats.org/markup-compatibility/2006">
              <mc:Choice xmlns:v="urn:schemas-microsoft-com:vml" Requires="v">
                <p:oleObj name="Image" r:id="rId2" imgW="11079184" imgH="3693061" progId="">
                  <p:embed/>
                </p:oleObj>
              </mc:Choice>
              <mc:Fallback>
                <p:oleObj name="Image" r:id="rId2" imgW="11079184" imgH="3693061" progId="">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24" y="4297635"/>
                        <a:ext cx="7115175" cy="2371725"/>
                      </a:xfrm>
                      <a:prstGeom prst="rect">
                        <a:avLst/>
                      </a:prstGeom>
                      <a:noFill/>
                      <a:ln>
                        <a:noFill/>
                      </a:ln>
                      <a:effectLst/>
                    </p:spPr>
                  </p:pic>
                </p:oleObj>
              </mc:Fallback>
            </mc:AlternateContent>
          </a:graphicData>
        </a:graphic>
      </p:graphicFrame>
      <p:grpSp>
        <p:nvGrpSpPr>
          <p:cNvPr id="2" name="Group 4"/>
          <p:cNvGrpSpPr>
            <a:grpSpLocks/>
          </p:cNvGrpSpPr>
          <p:nvPr/>
        </p:nvGrpSpPr>
        <p:grpSpPr bwMode="auto">
          <a:xfrm>
            <a:off x="3352800" y="1684935"/>
            <a:ext cx="968375" cy="461963"/>
            <a:chOff x="2112" y="940"/>
            <a:chExt cx="610" cy="291"/>
          </a:xfrm>
        </p:grpSpPr>
        <p:sp>
          <p:nvSpPr>
            <p:cNvPr id="361477" name="Rectangle 5"/>
            <p:cNvSpPr>
              <a:spLocks noChangeArrowheads="1"/>
            </p:cNvSpPr>
            <p:nvPr/>
          </p:nvSpPr>
          <p:spPr bwMode="auto">
            <a:xfrm>
              <a:off x="2352"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cs typeface="Times New Roman" pitchFamily="18" charset="0"/>
                </a:rPr>
                <a:t>2</a:t>
              </a:r>
              <a:r>
                <a:rPr lang="en-US" altLang="zh-CN" dirty="0"/>
                <a:t> </a:t>
              </a:r>
            </a:p>
          </p:txBody>
        </p:sp>
        <p:sp>
          <p:nvSpPr>
            <p:cNvPr id="361478" name="Rectangle 6"/>
            <p:cNvSpPr>
              <a:spLocks noChangeArrowheads="1"/>
            </p:cNvSpPr>
            <p:nvPr/>
          </p:nvSpPr>
          <p:spPr bwMode="auto">
            <a:xfrm>
              <a:off x="2112"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cs typeface="Times New Roman" pitchFamily="18" charset="0"/>
                </a:rPr>
                <a:t>2</a:t>
              </a:r>
              <a:r>
                <a:rPr lang="en-US" altLang="zh-CN" dirty="0"/>
                <a:t> </a:t>
              </a:r>
            </a:p>
          </p:txBody>
        </p:sp>
      </p:grpSp>
      <p:grpSp>
        <p:nvGrpSpPr>
          <p:cNvPr id="3" name="Group 7"/>
          <p:cNvGrpSpPr>
            <a:grpSpLocks/>
          </p:cNvGrpSpPr>
          <p:nvPr/>
        </p:nvGrpSpPr>
        <p:grpSpPr bwMode="auto">
          <a:xfrm>
            <a:off x="971550" y="1669060"/>
            <a:ext cx="1295400" cy="461963"/>
            <a:chOff x="612" y="930"/>
            <a:chExt cx="816" cy="291"/>
          </a:xfrm>
        </p:grpSpPr>
        <p:sp>
          <p:nvSpPr>
            <p:cNvPr id="361480" name="Rectangle 8"/>
            <p:cNvSpPr>
              <a:spLocks noChangeArrowheads="1"/>
            </p:cNvSpPr>
            <p:nvPr/>
          </p:nvSpPr>
          <p:spPr bwMode="auto">
            <a:xfrm>
              <a:off x="1058"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1</a:t>
              </a:r>
              <a:r>
                <a:rPr lang="en-US" altLang="zh-CN" dirty="0"/>
                <a:t> </a:t>
              </a:r>
            </a:p>
          </p:txBody>
        </p:sp>
        <p:sp>
          <p:nvSpPr>
            <p:cNvPr id="361481" name="Rectangle 9"/>
            <p:cNvSpPr>
              <a:spLocks noChangeArrowheads="1"/>
            </p:cNvSpPr>
            <p:nvPr/>
          </p:nvSpPr>
          <p:spPr bwMode="auto">
            <a:xfrm>
              <a:off x="848"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cs typeface="Times New Roman" pitchFamily="18" charset="0"/>
                </a:rPr>
                <a:t>1</a:t>
              </a:r>
              <a:r>
                <a:rPr lang="en-US" altLang="zh-CN" dirty="0"/>
                <a:t> </a:t>
              </a:r>
            </a:p>
          </p:txBody>
        </p:sp>
        <p:sp>
          <p:nvSpPr>
            <p:cNvPr id="361482" name="Rectangle 10"/>
            <p:cNvSpPr>
              <a:spLocks noChangeArrowheads="1"/>
            </p:cNvSpPr>
            <p:nvPr/>
          </p:nvSpPr>
          <p:spPr bwMode="auto">
            <a:xfrm>
              <a:off x="612" y="950"/>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in</a:t>
              </a:r>
              <a:r>
                <a:rPr lang="en-US" altLang="zh-CN" dirty="0"/>
                <a:t> </a:t>
              </a:r>
            </a:p>
          </p:txBody>
        </p:sp>
      </p:grpSp>
      <p:grpSp>
        <p:nvGrpSpPr>
          <p:cNvPr id="4" name="Group 11"/>
          <p:cNvGrpSpPr>
            <a:grpSpLocks/>
          </p:cNvGrpSpPr>
          <p:nvPr/>
        </p:nvGrpSpPr>
        <p:grpSpPr bwMode="auto">
          <a:xfrm>
            <a:off x="7399338" y="1684935"/>
            <a:ext cx="1019175" cy="461963"/>
            <a:chOff x="4368" y="940"/>
            <a:chExt cx="642" cy="291"/>
          </a:xfrm>
        </p:grpSpPr>
        <p:sp>
          <p:nvSpPr>
            <p:cNvPr id="361484" name="Rectangle 12"/>
            <p:cNvSpPr>
              <a:spLocks noChangeArrowheads="1"/>
            </p:cNvSpPr>
            <p:nvPr/>
          </p:nvSpPr>
          <p:spPr bwMode="auto">
            <a:xfrm>
              <a:off x="4640"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cs typeface="Times New Roman" pitchFamily="18" charset="0"/>
                </a:rPr>
                <a:t>4</a:t>
              </a:r>
              <a:r>
                <a:rPr lang="en-US" altLang="zh-CN" dirty="0"/>
                <a:t> </a:t>
              </a:r>
            </a:p>
          </p:txBody>
        </p:sp>
        <p:sp>
          <p:nvSpPr>
            <p:cNvPr id="361485" name="Rectangle 13"/>
            <p:cNvSpPr>
              <a:spLocks noChangeArrowheads="1"/>
            </p:cNvSpPr>
            <p:nvPr/>
          </p:nvSpPr>
          <p:spPr bwMode="auto">
            <a:xfrm>
              <a:off x="4368"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cs typeface="Times New Roman" pitchFamily="18" charset="0"/>
                </a:rPr>
                <a:t>4</a:t>
              </a:r>
              <a:r>
                <a:rPr lang="en-US" altLang="zh-CN" dirty="0"/>
                <a:t> </a:t>
              </a:r>
            </a:p>
          </p:txBody>
        </p:sp>
      </p:grpSp>
      <p:grpSp>
        <p:nvGrpSpPr>
          <p:cNvPr id="5" name="Group 14"/>
          <p:cNvGrpSpPr>
            <a:grpSpLocks/>
          </p:cNvGrpSpPr>
          <p:nvPr/>
        </p:nvGrpSpPr>
        <p:grpSpPr bwMode="auto">
          <a:xfrm>
            <a:off x="7162800" y="2113558"/>
            <a:ext cx="1262063" cy="2166938"/>
            <a:chOff x="4219" y="1210"/>
            <a:chExt cx="795" cy="1365"/>
          </a:xfrm>
        </p:grpSpPr>
        <p:sp>
          <p:nvSpPr>
            <p:cNvPr id="361487" name="Rectangle 15"/>
            <p:cNvSpPr>
              <a:spLocks noChangeArrowheads="1"/>
            </p:cNvSpPr>
            <p:nvPr/>
          </p:nvSpPr>
          <p:spPr bwMode="auto">
            <a:xfrm>
              <a:off x="4219"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488" name="Line 16"/>
            <p:cNvSpPr>
              <a:spLocks noChangeShapeType="1"/>
            </p:cNvSpPr>
            <p:nvPr/>
          </p:nvSpPr>
          <p:spPr bwMode="auto">
            <a:xfrm>
              <a:off x="4310"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89" name="Line 17"/>
            <p:cNvSpPr>
              <a:spLocks noChangeShapeType="1"/>
            </p:cNvSpPr>
            <p:nvPr/>
          </p:nvSpPr>
          <p:spPr bwMode="auto">
            <a:xfrm>
              <a:off x="4537"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90" name="Line 18"/>
            <p:cNvSpPr>
              <a:spLocks noChangeShapeType="1"/>
            </p:cNvSpPr>
            <p:nvPr/>
          </p:nvSpPr>
          <p:spPr bwMode="auto">
            <a:xfrm>
              <a:off x="4764"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91" name="Line 19"/>
            <p:cNvSpPr>
              <a:spLocks noChangeShapeType="1"/>
            </p:cNvSpPr>
            <p:nvPr/>
          </p:nvSpPr>
          <p:spPr bwMode="auto">
            <a:xfrm>
              <a:off x="4401" y="202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92" name="Line 20"/>
            <p:cNvSpPr>
              <a:spLocks noChangeShapeType="1"/>
            </p:cNvSpPr>
            <p:nvPr/>
          </p:nvSpPr>
          <p:spPr bwMode="auto">
            <a:xfrm>
              <a:off x="4718"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493" name="Rectangle 21"/>
            <p:cNvSpPr>
              <a:spLocks noChangeArrowheads="1"/>
            </p:cNvSpPr>
            <p:nvPr/>
          </p:nvSpPr>
          <p:spPr bwMode="auto">
            <a:xfrm>
              <a:off x="4320" y="2284"/>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4</a:t>
              </a:r>
              <a:r>
                <a:rPr lang="en-US" altLang="zh-CN" dirty="0"/>
                <a:t> </a:t>
              </a:r>
            </a:p>
          </p:txBody>
        </p:sp>
        <p:sp>
          <p:nvSpPr>
            <p:cNvPr id="361494" name="Rectangle 22"/>
            <p:cNvSpPr>
              <a:spLocks noChangeArrowheads="1"/>
            </p:cNvSpPr>
            <p:nvPr/>
          </p:nvSpPr>
          <p:spPr bwMode="auto">
            <a:xfrm>
              <a:off x="4608" y="2304"/>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sp>
          <p:nvSpPr>
            <p:cNvPr id="361495" name="Text Box 23"/>
            <p:cNvSpPr txBox="1">
              <a:spLocks noChangeArrowheads="1"/>
            </p:cNvSpPr>
            <p:nvPr/>
          </p:nvSpPr>
          <p:spPr bwMode="auto">
            <a:xfrm>
              <a:off x="426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grpSp>
      <p:grpSp>
        <p:nvGrpSpPr>
          <p:cNvPr id="6" name="Group 24"/>
          <p:cNvGrpSpPr>
            <a:grpSpLocks/>
          </p:cNvGrpSpPr>
          <p:nvPr/>
        </p:nvGrpSpPr>
        <p:grpSpPr bwMode="auto">
          <a:xfrm>
            <a:off x="5410200" y="1669060"/>
            <a:ext cx="968375" cy="461963"/>
            <a:chOff x="3264" y="930"/>
            <a:chExt cx="610" cy="291"/>
          </a:xfrm>
        </p:grpSpPr>
        <p:sp>
          <p:nvSpPr>
            <p:cNvPr id="361497" name="Rectangle 25"/>
            <p:cNvSpPr>
              <a:spLocks noChangeArrowheads="1"/>
            </p:cNvSpPr>
            <p:nvPr/>
          </p:nvSpPr>
          <p:spPr bwMode="auto">
            <a:xfrm>
              <a:off x="3504"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cs typeface="Times New Roman" pitchFamily="18" charset="0"/>
                </a:rPr>
                <a:t>3</a:t>
              </a:r>
              <a:r>
                <a:rPr lang="en-US" altLang="zh-CN" dirty="0"/>
                <a:t> </a:t>
              </a:r>
            </a:p>
          </p:txBody>
        </p:sp>
        <p:sp>
          <p:nvSpPr>
            <p:cNvPr id="361498" name="Rectangle 26"/>
            <p:cNvSpPr>
              <a:spLocks noChangeArrowheads="1"/>
            </p:cNvSpPr>
            <p:nvPr/>
          </p:nvSpPr>
          <p:spPr bwMode="auto">
            <a:xfrm>
              <a:off x="3264"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cs typeface="Times New Roman" pitchFamily="18" charset="0"/>
                </a:rPr>
                <a:t>3</a:t>
              </a:r>
              <a:r>
                <a:rPr lang="en-US" altLang="zh-CN" dirty="0"/>
                <a:t> </a:t>
              </a:r>
            </a:p>
          </p:txBody>
        </p:sp>
      </p:grpSp>
      <p:grpSp>
        <p:nvGrpSpPr>
          <p:cNvPr id="7" name="Group 27"/>
          <p:cNvGrpSpPr>
            <a:grpSpLocks/>
          </p:cNvGrpSpPr>
          <p:nvPr/>
        </p:nvGrpSpPr>
        <p:grpSpPr bwMode="auto">
          <a:xfrm>
            <a:off x="1066800" y="2097683"/>
            <a:ext cx="1254125" cy="2159001"/>
            <a:chOff x="672" y="1200"/>
            <a:chExt cx="790" cy="1360"/>
          </a:xfrm>
        </p:grpSpPr>
        <p:sp>
          <p:nvSpPr>
            <p:cNvPr id="361500" name="Rectangle 28"/>
            <p:cNvSpPr>
              <a:spLocks noChangeArrowheads="1"/>
            </p:cNvSpPr>
            <p:nvPr/>
          </p:nvSpPr>
          <p:spPr bwMode="auto">
            <a:xfrm>
              <a:off x="672" y="147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501" name="Line 29"/>
            <p:cNvSpPr>
              <a:spLocks noChangeShapeType="1"/>
            </p:cNvSpPr>
            <p:nvPr/>
          </p:nvSpPr>
          <p:spPr bwMode="auto">
            <a:xfrm>
              <a:off x="763"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02" name="Line 30"/>
            <p:cNvSpPr>
              <a:spLocks noChangeShapeType="1"/>
            </p:cNvSpPr>
            <p:nvPr/>
          </p:nvSpPr>
          <p:spPr bwMode="auto">
            <a:xfrm>
              <a:off x="990"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03" name="Line 31"/>
            <p:cNvSpPr>
              <a:spLocks noChangeShapeType="1"/>
            </p:cNvSpPr>
            <p:nvPr/>
          </p:nvSpPr>
          <p:spPr bwMode="auto">
            <a:xfrm>
              <a:off x="1217"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04" name="Line 32"/>
            <p:cNvSpPr>
              <a:spLocks noChangeShapeType="1"/>
            </p:cNvSpPr>
            <p:nvPr/>
          </p:nvSpPr>
          <p:spPr bwMode="auto">
            <a:xfrm>
              <a:off x="856" y="201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05" name="Rectangle 33"/>
            <p:cNvSpPr>
              <a:spLocks noChangeArrowheads="1"/>
            </p:cNvSpPr>
            <p:nvPr/>
          </p:nvSpPr>
          <p:spPr bwMode="auto">
            <a:xfrm>
              <a:off x="720" y="226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1</a:t>
              </a:r>
              <a:r>
                <a:rPr lang="en-US" altLang="zh-CN" dirty="0"/>
                <a:t> </a:t>
              </a:r>
            </a:p>
          </p:txBody>
        </p:sp>
        <p:sp>
          <p:nvSpPr>
            <p:cNvPr id="361506" name="Text Box 34"/>
            <p:cNvSpPr txBox="1">
              <a:spLocks noChangeArrowheads="1"/>
            </p:cNvSpPr>
            <p:nvPr/>
          </p:nvSpPr>
          <p:spPr bwMode="auto">
            <a:xfrm>
              <a:off x="717" y="1519"/>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1507" name="Line 35"/>
            <p:cNvSpPr>
              <a:spLocks noChangeShapeType="1"/>
            </p:cNvSpPr>
            <p:nvPr/>
          </p:nvSpPr>
          <p:spPr bwMode="auto">
            <a:xfrm>
              <a:off x="1166"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08" name="Rectangle 36"/>
            <p:cNvSpPr>
              <a:spLocks noChangeArrowheads="1"/>
            </p:cNvSpPr>
            <p:nvPr/>
          </p:nvSpPr>
          <p:spPr bwMode="auto">
            <a:xfrm>
              <a:off x="1056"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8" name="Group 37"/>
          <p:cNvGrpSpPr>
            <a:grpSpLocks/>
          </p:cNvGrpSpPr>
          <p:nvPr/>
        </p:nvGrpSpPr>
        <p:grpSpPr bwMode="auto">
          <a:xfrm>
            <a:off x="3048000" y="2113558"/>
            <a:ext cx="1282700" cy="2159001"/>
            <a:chOff x="1998" y="1210"/>
            <a:chExt cx="808" cy="1360"/>
          </a:xfrm>
        </p:grpSpPr>
        <p:sp>
          <p:nvSpPr>
            <p:cNvPr id="361510" name="Rectangle 38"/>
            <p:cNvSpPr>
              <a:spLocks noChangeArrowheads="1"/>
            </p:cNvSpPr>
            <p:nvPr/>
          </p:nvSpPr>
          <p:spPr bwMode="auto">
            <a:xfrm>
              <a:off x="1998"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511" name="Line 39"/>
            <p:cNvSpPr>
              <a:spLocks noChangeShapeType="1"/>
            </p:cNvSpPr>
            <p:nvPr/>
          </p:nvSpPr>
          <p:spPr bwMode="auto">
            <a:xfrm>
              <a:off x="2089"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12" name="Line 40"/>
            <p:cNvSpPr>
              <a:spLocks noChangeShapeType="1"/>
            </p:cNvSpPr>
            <p:nvPr/>
          </p:nvSpPr>
          <p:spPr bwMode="auto">
            <a:xfrm>
              <a:off x="2316"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13" name="Line 41"/>
            <p:cNvSpPr>
              <a:spLocks noChangeShapeType="1"/>
            </p:cNvSpPr>
            <p:nvPr/>
          </p:nvSpPr>
          <p:spPr bwMode="auto">
            <a:xfrm>
              <a:off x="2543"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14" name="Line 42"/>
            <p:cNvSpPr>
              <a:spLocks noChangeShapeType="1"/>
            </p:cNvSpPr>
            <p:nvPr/>
          </p:nvSpPr>
          <p:spPr bwMode="auto">
            <a:xfrm>
              <a:off x="2155"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15" name="Rectangle 43"/>
            <p:cNvSpPr>
              <a:spLocks noChangeArrowheads="1"/>
            </p:cNvSpPr>
            <p:nvPr/>
          </p:nvSpPr>
          <p:spPr bwMode="auto">
            <a:xfrm>
              <a:off x="2064" y="227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2</a:t>
              </a:r>
              <a:r>
                <a:rPr lang="en-US" altLang="zh-CN" dirty="0"/>
                <a:t> </a:t>
              </a:r>
            </a:p>
          </p:txBody>
        </p:sp>
        <p:sp>
          <p:nvSpPr>
            <p:cNvPr id="361516" name="Text Box 44"/>
            <p:cNvSpPr txBox="1">
              <a:spLocks noChangeArrowheads="1"/>
            </p:cNvSpPr>
            <p:nvPr/>
          </p:nvSpPr>
          <p:spPr bwMode="auto">
            <a:xfrm>
              <a:off x="204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1517" name="Line 45"/>
            <p:cNvSpPr>
              <a:spLocks noChangeShapeType="1"/>
            </p:cNvSpPr>
            <p:nvPr/>
          </p:nvSpPr>
          <p:spPr bwMode="auto">
            <a:xfrm>
              <a:off x="2510"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18" name="Rectangle 46"/>
            <p:cNvSpPr>
              <a:spLocks noChangeArrowheads="1"/>
            </p:cNvSpPr>
            <p:nvPr/>
          </p:nvSpPr>
          <p:spPr bwMode="auto">
            <a:xfrm>
              <a:off x="2400"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9" name="Group 47"/>
          <p:cNvGrpSpPr>
            <a:grpSpLocks/>
          </p:cNvGrpSpPr>
          <p:nvPr/>
        </p:nvGrpSpPr>
        <p:grpSpPr bwMode="auto">
          <a:xfrm>
            <a:off x="5129213" y="2113558"/>
            <a:ext cx="1271587" cy="2159001"/>
            <a:chOff x="3087" y="1210"/>
            <a:chExt cx="801" cy="1360"/>
          </a:xfrm>
        </p:grpSpPr>
        <p:sp>
          <p:nvSpPr>
            <p:cNvPr id="361520" name="Rectangle 48"/>
            <p:cNvSpPr>
              <a:spLocks noChangeArrowheads="1"/>
            </p:cNvSpPr>
            <p:nvPr/>
          </p:nvSpPr>
          <p:spPr bwMode="auto">
            <a:xfrm>
              <a:off x="3168" y="227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3</a:t>
              </a:r>
              <a:r>
                <a:rPr lang="en-US" altLang="zh-CN" dirty="0">
                  <a:solidFill>
                    <a:srgbClr val="FFFF00"/>
                  </a:solidFill>
                </a:rPr>
                <a:t> </a:t>
              </a:r>
            </a:p>
          </p:txBody>
        </p:sp>
        <p:sp>
          <p:nvSpPr>
            <p:cNvPr id="361521" name="Rectangle 49"/>
            <p:cNvSpPr>
              <a:spLocks noChangeArrowheads="1"/>
            </p:cNvSpPr>
            <p:nvPr/>
          </p:nvSpPr>
          <p:spPr bwMode="auto">
            <a:xfrm>
              <a:off x="3087"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1522" name="Line 50"/>
            <p:cNvSpPr>
              <a:spLocks noChangeShapeType="1"/>
            </p:cNvSpPr>
            <p:nvPr/>
          </p:nvSpPr>
          <p:spPr bwMode="auto">
            <a:xfrm>
              <a:off x="3178"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23" name="Line 51"/>
            <p:cNvSpPr>
              <a:spLocks noChangeShapeType="1"/>
            </p:cNvSpPr>
            <p:nvPr/>
          </p:nvSpPr>
          <p:spPr bwMode="auto">
            <a:xfrm>
              <a:off x="3405"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24" name="Line 52"/>
            <p:cNvSpPr>
              <a:spLocks noChangeShapeType="1"/>
            </p:cNvSpPr>
            <p:nvPr/>
          </p:nvSpPr>
          <p:spPr bwMode="auto">
            <a:xfrm>
              <a:off x="3632"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25" name="Line 53"/>
            <p:cNvSpPr>
              <a:spLocks noChangeShapeType="1"/>
            </p:cNvSpPr>
            <p:nvPr/>
          </p:nvSpPr>
          <p:spPr bwMode="auto">
            <a:xfrm>
              <a:off x="3304"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26" name="Text Box 54"/>
            <p:cNvSpPr txBox="1">
              <a:spLocks noChangeArrowheads="1"/>
            </p:cNvSpPr>
            <p:nvPr/>
          </p:nvSpPr>
          <p:spPr bwMode="auto">
            <a:xfrm>
              <a:off x="314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1527" name="Line 55"/>
            <p:cNvSpPr>
              <a:spLocks noChangeShapeType="1"/>
            </p:cNvSpPr>
            <p:nvPr/>
          </p:nvSpPr>
          <p:spPr bwMode="auto">
            <a:xfrm>
              <a:off x="3592"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28" name="Rectangle 56"/>
            <p:cNvSpPr>
              <a:spLocks noChangeArrowheads="1"/>
            </p:cNvSpPr>
            <p:nvPr/>
          </p:nvSpPr>
          <p:spPr bwMode="auto">
            <a:xfrm>
              <a:off x="3482"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10" name="Group 57"/>
          <p:cNvGrpSpPr>
            <a:grpSpLocks/>
          </p:cNvGrpSpPr>
          <p:nvPr/>
        </p:nvGrpSpPr>
        <p:grpSpPr bwMode="auto">
          <a:xfrm>
            <a:off x="1828800" y="2097683"/>
            <a:ext cx="1371600" cy="1676400"/>
            <a:chOff x="1152" y="1200"/>
            <a:chExt cx="864" cy="1056"/>
          </a:xfrm>
        </p:grpSpPr>
        <p:sp>
          <p:nvSpPr>
            <p:cNvPr id="361530" name="Line 58"/>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31" name="Line 59"/>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32" name="Line 60"/>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 name="Group 61"/>
          <p:cNvGrpSpPr>
            <a:grpSpLocks/>
          </p:cNvGrpSpPr>
          <p:nvPr/>
        </p:nvGrpSpPr>
        <p:grpSpPr bwMode="auto">
          <a:xfrm>
            <a:off x="3886200" y="2113558"/>
            <a:ext cx="1371600" cy="1676400"/>
            <a:chOff x="1152" y="1200"/>
            <a:chExt cx="864" cy="1056"/>
          </a:xfrm>
        </p:grpSpPr>
        <p:sp>
          <p:nvSpPr>
            <p:cNvPr id="361534" name="Line 62"/>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35" name="Line 63"/>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36" name="Line 64"/>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 name="Group 65"/>
          <p:cNvGrpSpPr>
            <a:grpSpLocks/>
          </p:cNvGrpSpPr>
          <p:nvPr/>
        </p:nvGrpSpPr>
        <p:grpSpPr bwMode="auto">
          <a:xfrm>
            <a:off x="5943600" y="2097683"/>
            <a:ext cx="1371600" cy="1676400"/>
            <a:chOff x="1152" y="1200"/>
            <a:chExt cx="864" cy="1056"/>
          </a:xfrm>
        </p:grpSpPr>
        <p:sp>
          <p:nvSpPr>
            <p:cNvPr id="361538" name="Line 66"/>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39" name="Line 67"/>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1540" name="Line 68"/>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1541" name="Rectangle 69"/>
          <p:cNvSpPr>
            <a:spLocks noChangeArrowheads="1"/>
          </p:cNvSpPr>
          <p:nvPr/>
        </p:nvSpPr>
        <p:spPr bwMode="auto">
          <a:xfrm>
            <a:off x="685800" y="1052736"/>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b="1" dirty="0">
                <a:latin typeface="等线" panose="02010600030101010101" pitchFamily="2" charset="-122"/>
                <a:ea typeface="等线" panose="02010600030101010101" pitchFamily="2" charset="-122"/>
              </a:rPr>
              <a:t>四位元串列進位元加法器</a:t>
            </a:r>
          </a:p>
        </p:txBody>
      </p:sp>
    </p:spTree>
    <p:extLst>
      <p:ext uri="{BB962C8B-B14F-4D97-AF65-F5344CB8AC3E}">
        <p14:creationId xmlns:p14="http://schemas.microsoft.com/office/powerpoint/2010/main" val="14599645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1"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1"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1"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additive="base">
                                        <p:cTn id="45" dur="500" fill="hold"/>
                                        <p:tgtEl>
                                          <p:spTgt spid="4"/>
                                        </p:tgtEl>
                                        <p:attrNameLst>
                                          <p:attrName>ppt_x</p:attrName>
                                        </p:attrNameLst>
                                      </p:cBhvr>
                                      <p:tavLst>
                                        <p:tav tm="0">
                                          <p:val>
                                            <p:strVal val="#ppt_x"/>
                                          </p:val>
                                        </p:tav>
                                        <p:tav tm="100000">
                                          <p:val>
                                            <p:strVal val="#ppt_x"/>
                                          </p:val>
                                        </p:tav>
                                      </p:tavLst>
                                    </p:anim>
                                    <p:anim calcmode="lin" valueType="num">
                                      <p:cBhvr additive="base">
                                        <p:cTn id="46"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3"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strips(upRight)">
                                      <p:cBhvr>
                                        <p:cTn id="51" dur="500"/>
                                        <p:tgtEl>
                                          <p:spTgt spid="1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8" presetClass="entr" presetSubtype="3"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trips(upRight)">
                                      <p:cBhvr>
                                        <p:cTn id="56" dur="500"/>
                                        <p:tgtEl>
                                          <p:spTgt spid="1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8" presetClass="entr" presetSubtype="3" fill="hold"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strips(upRight)">
                                      <p:cBhvr>
                                        <p:cTn id="61" dur="500"/>
                                        <p:tgtEl>
                                          <p:spTgt spid="1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 presetClass="entr" presetSubtype="10" fill="hold" nodeType="clickEffect">
                                  <p:stCondLst>
                                    <p:cond delay="0"/>
                                  </p:stCondLst>
                                  <p:childTnLst>
                                    <p:set>
                                      <p:cBhvr>
                                        <p:cTn id="65" dur="1" fill="hold">
                                          <p:stCondLst>
                                            <p:cond delay="0"/>
                                          </p:stCondLst>
                                        </p:cTn>
                                        <p:tgtEl>
                                          <p:spTgt spid="361475"/>
                                        </p:tgtEl>
                                        <p:attrNameLst>
                                          <p:attrName>style.visibility</p:attrName>
                                        </p:attrNameLst>
                                      </p:cBhvr>
                                      <p:to>
                                        <p:strVal val="visible"/>
                                      </p:to>
                                    </p:set>
                                    <p:animEffect transition="in" filter="checkerboard(across)">
                                      <p:cBhvr>
                                        <p:cTn id="66" dur="500"/>
                                        <p:tgtEl>
                                          <p:spTgt spid="361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914400" y="-27384"/>
            <a:ext cx="7772400" cy="1143000"/>
          </a:xfrm>
        </p:spPr>
        <p:txBody>
          <a:bodyPr/>
          <a:lstStyle/>
          <a:p>
            <a:r>
              <a:rPr lang="en-US" altLang="zh-CN" sz="3600" dirty="0"/>
              <a:t>3.3.7   </a:t>
            </a:r>
            <a:r>
              <a:rPr lang="zh-CN" altLang="en-US" sz="3600" dirty="0"/>
              <a:t>運算器</a:t>
            </a:r>
            <a:endParaRPr lang="en-US" altLang="zh-CN" sz="3600" dirty="0"/>
          </a:p>
        </p:txBody>
      </p:sp>
      <p:sp>
        <p:nvSpPr>
          <p:cNvPr id="10" name="灯片编号占位符 6"/>
          <p:cNvSpPr>
            <a:spLocks noGrp="1"/>
          </p:cNvSpPr>
          <p:nvPr>
            <p:ph type="sldNum" sz="quarter" idx="12"/>
          </p:nvPr>
        </p:nvSpPr>
        <p:spPr/>
        <p:txBody>
          <a:bodyPr/>
          <a:lstStyle/>
          <a:p>
            <a:fld id="{AE81EBC4-1B61-43B3-84A5-B08F5638BFC6}" type="slidenum">
              <a:rPr lang="en-US" altLang="zh-CN"/>
              <a:pPr/>
              <a:t>17</a:t>
            </a:fld>
            <a:endParaRPr lang="en-US" altLang="zh-CN" dirty="0"/>
          </a:p>
        </p:txBody>
      </p:sp>
      <p:graphicFrame>
        <p:nvGraphicFramePr>
          <p:cNvPr id="357379" name="Object 3"/>
          <p:cNvGraphicFramePr>
            <a:graphicFrameLocks noGrp="1" noChangeAspect="1"/>
          </p:cNvGraphicFramePr>
          <p:nvPr>
            <p:ph sz="quarter" idx="1"/>
          </p:nvPr>
        </p:nvGraphicFramePr>
        <p:xfrm>
          <a:off x="914400" y="1562100"/>
          <a:ext cx="3749675" cy="4343400"/>
        </p:xfrm>
        <a:graphic>
          <a:graphicData uri="http://schemas.openxmlformats.org/presentationml/2006/ole">
            <mc:AlternateContent xmlns:mc="http://schemas.openxmlformats.org/markup-compatibility/2006">
              <mc:Choice xmlns:v="urn:schemas-microsoft-com:vml" Requires="v">
                <p:oleObj name="Image" r:id="rId2" imgW="6857143" imgH="7944490" progId="">
                  <p:embed/>
                </p:oleObj>
              </mc:Choice>
              <mc:Fallback>
                <p:oleObj name="Image" r:id="rId2" imgW="6857143" imgH="7944490" progId="">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562100"/>
                        <a:ext cx="3749675"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7380" name="Object 4"/>
          <p:cNvGraphicFramePr>
            <a:graphicFrameLocks noGrp="1" noChangeAspect="1"/>
          </p:cNvGraphicFramePr>
          <p:nvPr>
            <p:ph sz="quarter" idx="2"/>
          </p:nvPr>
        </p:nvGraphicFramePr>
        <p:xfrm>
          <a:off x="5000625" y="1447800"/>
          <a:ext cx="3616325" cy="4570413"/>
        </p:xfrm>
        <a:graphic>
          <a:graphicData uri="http://schemas.openxmlformats.org/presentationml/2006/ole">
            <mc:AlternateContent xmlns:mc="http://schemas.openxmlformats.org/markup-compatibility/2006">
              <mc:Choice xmlns:v="urn:schemas-microsoft-com:vml" Requires="v">
                <p:oleObj name="Image" r:id="rId4" imgW="5495510" imgH="6945306" progId="">
                  <p:embed/>
                </p:oleObj>
              </mc:Choice>
              <mc:Fallback>
                <p:oleObj name="Image" r:id="rId4" imgW="5495510" imgH="6945306" progId="">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625" y="1447800"/>
                        <a:ext cx="3616325" cy="4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7381" name="Rectangle 5"/>
          <p:cNvSpPr>
            <a:spLocks noChangeArrowheads="1"/>
          </p:cNvSpPr>
          <p:nvPr/>
        </p:nvSpPr>
        <p:spPr bwMode="auto">
          <a:xfrm>
            <a:off x="381000" y="6019800"/>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等线" panose="02010600030101010101" pitchFamily="2" charset="-122"/>
                <a:ea typeface="等线" panose="02010600030101010101" pitchFamily="2" charset="-122"/>
              </a:rPr>
              <a:t>Cn</a:t>
            </a:r>
            <a:r>
              <a:rPr lang="zh-CN" altLang="en-US" sz="2400" dirty="0">
                <a:latin typeface="等线" panose="02010600030101010101" pitchFamily="2" charset="-122"/>
                <a:ea typeface="等线" panose="02010600030101010101" pitchFamily="2" charset="-122"/>
              </a:rPr>
              <a:t>和</a:t>
            </a:r>
            <a:r>
              <a:rPr lang="en-US" altLang="zh-CN" sz="2400" dirty="0" err="1">
                <a:latin typeface="等线" panose="02010600030101010101" pitchFamily="2" charset="-122"/>
                <a:ea typeface="等线" panose="02010600030101010101" pitchFamily="2" charset="-122"/>
              </a:rPr>
              <a:t>Fn</a:t>
            </a:r>
            <a:r>
              <a:rPr lang="zh-CN" altLang="en-US" sz="2400" dirty="0">
                <a:latin typeface="等线" panose="02010600030101010101" pitchFamily="2" charset="-122"/>
                <a:ea typeface="等线" panose="02010600030101010101" pitchFamily="2" charset="-122"/>
              </a:rPr>
              <a:t>的形成需要</a:t>
            </a:r>
            <a:r>
              <a:rPr lang="zh-CN" altLang="en-US" sz="2400" dirty="0">
                <a:solidFill>
                  <a:srgbClr val="FF0000"/>
                </a:solidFill>
                <a:latin typeface="等线" panose="02010600030101010101" pitchFamily="2" charset="-122"/>
                <a:ea typeface="等线" panose="02010600030101010101" pitchFamily="2" charset="-122"/>
              </a:rPr>
              <a:t>三</a:t>
            </a:r>
            <a:r>
              <a:rPr lang="zh-CN" altLang="en-US" sz="2400" dirty="0">
                <a:latin typeface="等线" panose="02010600030101010101" pitchFamily="2" charset="-122"/>
                <a:ea typeface="等线" panose="02010600030101010101" pitchFamily="2" charset="-122"/>
              </a:rPr>
              <a:t>級門延遲</a:t>
            </a:r>
          </a:p>
        </p:txBody>
      </p:sp>
      <p:sp>
        <p:nvSpPr>
          <p:cNvPr id="357382" name="Rectangle 6"/>
          <p:cNvSpPr>
            <a:spLocks noChangeArrowheads="1"/>
          </p:cNvSpPr>
          <p:nvPr/>
        </p:nvSpPr>
        <p:spPr bwMode="auto">
          <a:xfrm>
            <a:off x="4697413" y="6019800"/>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latin typeface="等线" panose="02010600030101010101" pitchFamily="2" charset="-122"/>
                <a:ea typeface="等线" panose="02010600030101010101" pitchFamily="2" charset="-122"/>
              </a:rPr>
              <a:t>Cn</a:t>
            </a:r>
            <a:r>
              <a:rPr lang="zh-CN" altLang="en-US" sz="2400" dirty="0">
                <a:latin typeface="等线" panose="02010600030101010101" pitchFamily="2" charset="-122"/>
                <a:ea typeface="等线" panose="02010600030101010101" pitchFamily="2" charset="-122"/>
              </a:rPr>
              <a:t>和</a:t>
            </a:r>
            <a:r>
              <a:rPr lang="en-US" altLang="zh-CN" sz="2400" dirty="0" err="1">
                <a:latin typeface="等线" panose="02010600030101010101" pitchFamily="2" charset="-122"/>
                <a:ea typeface="等线" panose="02010600030101010101" pitchFamily="2" charset="-122"/>
              </a:rPr>
              <a:t>Fn</a:t>
            </a:r>
            <a:r>
              <a:rPr lang="zh-CN" altLang="en-US" sz="2400" dirty="0">
                <a:latin typeface="等线" panose="02010600030101010101" pitchFamily="2" charset="-122"/>
                <a:ea typeface="等线" panose="02010600030101010101" pitchFamily="2" charset="-122"/>
              </a:rPr>
              <a:t>的形成需要</a:t>
            </a:r>
            <a:r>
              <a:rPr lang="zh-CN" altLang="en-US" sz="2400" dirty="0">
                <a:solidFill>
                  <a:srgbClr val="FF0000"/>
                </a:solidFill>
                <a:latin typeface="等线" panose="02010600030101010101" pitchFamily="2" charset="-122"/>
                <a:ea typeface="等线" panose="02010600030101010101" pitchFamily="2" charset="-122"/>
              </a:rPr>
              <a:t>二</a:t>
            </a:r>
            <a:r>
              <a:rPr lang="zh-CN" altLang="en-US" sz="2400" dirty="0">
                <a:latin typeface="等线" panose="02010600030101010101" pitchFamily="2" charset="-122"/>
                <a:ea typeface="等线" panose="02010600030101010101" pitchFamily="2" charset="-122"/>
              </a:rPr>
              <a:t>級門延遲</a:t>
            </a:r>
          </a:p>
        </p:txBody>
      </p:sp>
      <p:sp>
        <p:nvSpPr>
          <p:cNvPr id="357383" name="Rectangle 7"/>
          <p:cNvSpPr>
            <a:spLocks noChangeArrowheads="1"/>
          </p:cNvSpPr>
          <p:nvPr/>
        </p:nvSpPr>
        <p:spPr bwMode="auto">
          <a:xfrm>
            <a:off x="685800" y="1052736"/>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b="1" dirty="0">
                <a:latin typeface="等线" panose="02010600030101010101" pitchFamily="2" charset="-122"/>
                <a:ea typeface="等线" panose="02010600030101010101" pitchFamily="2" charset="-122"/>
              </a:rPr>
              <a:t>四種形式的全加器（</a:t>
            </a:r>
            <a:r>
              <a:rPr lang="en-US" altLang="zh-CN" sz="3200" b="1" dirty="0">
                <a:latin typeface="等线" panose="02010600030101010101" pitchFamily="2" charset="-122"/>
                <a:ea typeface="等线" panose="02010600030101010101" pitchFamily="2" charset="-122"/>
              </a:rPr>
              <a:t>1</a:t>
            </a:r>
            <a:r>
              <a:rPr lang="zh-CN" altLang="en-US" sz="3200" b="1" dirty="0">
                <a:latin typeface="等线" panose="02010600030101010101" pitchFamily="2" charset="-122"/>
                <a:ea typeface="等线" panose="02010600030101010101" pitchFamily="2" charset="-122"/>
              </a:rPr>
              <a:t>）</a:t>
            </a:r>
            <a:endParaRPr lang="zh-CN" altLang="en-US" sz="3200" dirty="0">
              <a:latin typeface="等线" panose="02010600030101010101" pitchFamily="2" charset="-122"/>
              <a:ea typeface="等线" panose="02010600030101010101" pitchFamily="2" charset="-122"/>
            </a:endParaRPr>
          </a:p>
        </p:txBody>
      </p:sp>
      <p:sp>
        <p:nvSpPr>
          <p:cNvPr id="2" name="TextBox 1"/>
          <p:cNvSpPr txBox="1"/>
          <p:nvPr/>
        </p:nvSpPr>
        <p:spPr>
          <a:xfrm>
            <a:off x="1134050" y="4725144"/>
            <a:ext cx="7016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zh-CN" dirty="0"/>
              <a:t>(a)</a:t>
            </a:r>
            <a:endParaRPr lang="zh-CN" altLang="en-US" dirty="0"/>
          </a:p>
        </p:txBody>
      </p:sp>
      <p:sp>
        <p:nvSpPr>
          <p:cNvPr id="11" name="TextBox 10"/>
          <p:cNvSpPr txBox="1"/>
          <p:nvPr/>
        </p:nvSpPr>
        <p:spPr>
          <a:xfrm>
            <a:off x="5076056" y="4725144"/>
            <a:ext cx="7016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zh-CN" dirty="0"/>
              <a:t>(b)</a:t>
            </a:r>
            <a:endParaRPr lang="zh-CN" altLang="en-US" dirty="0"/>
          </a:p>
        </p:txBody>
      </p:sp>
      <p:sp>
        <p:nvSpPr>
          <p:cNvPr id="3" name="矩形 2"/>
          <p:cNvSpPr/>
          <p:nvPr/>
        </p:nvSpPr>
        <p:spPr>
          <a:xfrm>
            <a:off x="3041397" y="3309432"/>
            <a:ext cx="273630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等线" panose="02010600030101010101" pitchFamily="2" charset="-122"/>
                <a:ea typeface="等线" panose="02010600030101010101" pitchFamily="2" charset="-122"/>
              </a:rPr>
              <a:t>哪個更快？</a:t>
            </a:r>
          </a:p>
        </p:txBody>
      </p:sp>
    </p:spTree>
    <p:extLst>
      <p:ext uri="{BB962C8B-B14F-4D97-AF65-F5344CB8AC3E}">
        <p14:creationId xmlns:p14="http://schemas.microsoft.com/office/powerpoint/2010/main" val="3200953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73" name="灯片编号占位符 5"/>
          <p:cNvSpPr>
            <a:spLocks noGrp="1"/>
          </p:cNvSpPr>
          <p:nvPr>
            <p:ph type="sldNum" sz="quarter" idx="12"/>
          </p:nvPr>
        </p:nvSpPr>
        <p:spPr/>
        <p:txBody>
          <a:bodyPr/>
          <a:lstStyle/>
          <a:p>
            <a:fld id="{E03B4E8F-CA34-4E79-BF3F-5E2B888E1031}" type="slidenum">
              <a:rPr lang="en-US" altLang="zh-CN"/>
              <a:pPr/>
              <a:t>18</a:t>
            </a:fld>
            <a:endParaRPr lang="en-US" altLang="zh-CN" dirty="0"/>
          </a:p>
        </p:txBody>
      </p:sp>
      <p:sp>
        <p:nvSpPr>
          <p:cNvPr id="362499" name="Rectangle 3"/>
          <p:cNvSpPr>
            <a:spLocks noGrp="1" noChangeArrowheads="1"/>
          </p:cNvSpPr>
          <p:nvPr>
            <p:ph sz="quarter" idx="1"/>
          </p:nvPr>
        </p:nvSpPr>
        <p:spPr/>
        <p:txBody>
          <a:bodyPr/>
          <a:lstStyle/>
          <a:p>
            <a:r>
              <a:rPr lang="zh-CN" altLang="en-US" b="1" dirty="0"/>
              <a:t>四位元串列進位元加法器</a:t>
            </a:r>
          </a:p>
          <a:p>
            <a:endParaRPr lang="zh-CN" altLang="en-US" b="1" dirty="0"/>
          </a:p>
          <a:p>
            <a:endParaRPr lang="zh-CN" altLang="en-US" b="1" dirty="0"/>
          </a:p>
          <a:p>
            <a:endParaRPr lang="zh-CN" altLang="en-US" b="1" dirty="0"/>
          </a:p>
          <a:p>
            <a:endParaRPr lang="zh-CN" altLang="en-US" sz="2400" b="1" dirty="0"/>
          </a:p>
          <a:p>
            <a:endParaRPr lang="zh-CN" altLang="en-US" sz="2400" b="1" dirty="0"/>
          </a:p>
          <a:p>
            <a:r>
              <a:rPr lang="zh-CN" altLang="en-US" sz="2400" b="1" dirty="0"/>
              <a:t>假設計算</a:t>
            </a:r>
            <a:r>
              <a:rPr lang="en-US" altLang="zh-CN" sz="2400" b="1" dirty="0" err="1"/>
              <a:t>Fn</a:t>
            </a:r>
            <a:r>
              <a:rPr lang="zh-CN" altLang="en-US" sz="2400" b="1" dirty="0"/>
              <a:t>需要</a:t>
            </a:r>
            <a:r>
              <a:rPr lang="en-US" altLang="zh-CN" sz="2400" b="1" dirty="0"/>
              <a:t>2</a:t>
            </a:r>
            <a:r>
              <a:rPr lang="zh-CN" altLang="en-US" sz="2400" b="1" dirty="0"/>
              <a:t>級，</a:t>
            </a:r>
            <a:r>
              <a:rPr lang="en-US" altLang="zh-CN" sz="2400" b="1" dirty="0"/>
              <a:t>Cn</a:t>
            </a:r>
            <a:r>
              <a:rPr lang="zh-CN" altLang="en-US" sz="2400" b="1" dirty="0"/>
              <a:t>需要</a:t>
            </a:r>
            <a:r>
              <a:rPr lang="en-US" altLang="zh-CN" sz="2400" b="1" dirty="0"/>
              <a:t>2</a:t>
            </a:r>
            <a:r>
              <a:rPr lang="zh-CN" altLang="en-US" sz="2400" b="1" dirty="0"/>
              <a:t>級，</a:t>
            </a:r>
            <a:r>
              <a:rPr lang="en-US" altLang="zh-CN" sz="2400" b="1" dirty="0"/>
              <a:t>Cin</a:t>
            </a:r>
            <a:r>
              <a:rPr lang="zh-CN" altLang="en-US" sz="2400" b="1" dirty="0"/>
              <a:t>、</a:t>
            </a:r>
            <a:r>
              <a:rPr lang="en-US" altLang="zh-CN" sz="2400" b="1" dirty="0"/>
              <a:t>Xi</a:t>
            </a:r>
            <a:r>
              <a:rPr lang="zh-CN" altLang="en-US" sz="2400" b="1" dirty="0"/>
              <a:t>和</a:t>
            </a:r>
            <a:r>
              <a:rPr lang="en-US" altLang="zh-CN" sz="2400" b="1" dirty="0"/>
              <a:t>Yi</a:t>
            </a:r>
            <a:r>
              <a:rPr lang="zh-CN" altLang="en-US" sz="2400" b="1" dirty="0"/>
              <a:t>同時到達。最後結果需要多少級延遲？</a:t>
            </a:r>
            <a:endParaRPr lang="zh-CN" altLang="en-US" b="1" dirty="0"/>
          </a:p>
        </p:txBody>
      </p:sp>
      <p:grpSp>
        <p:nvGrpSpPr>
          <p:cNvPr id="2" name="Group 4"/>
          <p:cNvGrpSpPr>
            <a:grpSpLocks/>
          </p:cNvGrpSpPr>
          <p:nvPr/>
        </p:nvGrpSpPr>
        <p:grpSpPr bwMode="auto">
          <a:xfrm>
            <a:off x="990600" y="2146300"/>
            <a:ext cx="7386638" cy="2611438"/>
            <a:chOff x="606" y="1112"/>
            <a:chExt cx="4653" cy="1645"/>
          </a:xfrm>
        </p:grpSpPr>
        <p:grpSp>
          <p:nvGrpSpPr>
            <p:cNvPr id="3" name="Group 5"/>
            <p:cNvGrpSpPr>
              <a:grpSpLocks/>
            </p:cNvGrpSpPr>
            <p:nvPr/>
          </p:nvGrpSpPr>
          <p:grpSpPr bwMode="auto">
            <a:xfrm>
              <a:off x="2064" y="1122"/>
              <a:ext cx="610" cy="291"/>
              <a:chOff x="2112" y="940"/>
              <a:chExt cx="610" cy="291"/>
            </a:xfrm>
          </p:grpSpPr>
          <p:sp>
            <p:nvSpPr>
              <p:cNvPr id="362502" name="Rectangle 6"/>
              <p:cNvSpPr>
                <a:spLocks noChangeArrowheads="1"/>
              </p:cNvSpPr>
              <p:nvPr/>
            </p:nvSpPr>
            <p:spPr bwMode="auto">
              <a:xfrm>
                <a:off x="2352"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2</a:t>
                </a:r>
                <a:r>
                  <a:rPr lang="en-US" altLang="zh-CN" dirty="0"/>
                  <a:t> </a:t>
                </a:r>
              </a:p>
            </p:txBody>
          </p:sp>
          <p:sp>
            <p:nvSpPr>
              <p:cNvPr id="362503" name="Rectangle 7"/>
              <p:cNvSpPr>
                <a:spLocks noChangeArrowheads="1"/>
              </p:cNvSpPr>
              <p:nvPr/>
            </p:nvSpPr>
            <p:spPr bwMode="auto">
              <a:xfrm>
                <a:off x="2112"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2</a:t>
                </a:r>
                <a:r>
                  <a:rPr lang="en-US" altLang="zh-CN" dirty="0"/>
                  <a:t> </a:t>
                </a:r>
              </a:p>
            </p:txBody>
          </p:sp>
        </p:grpSp>
        <p:grpSp>
          <p:nvGrpSpPr>
            <p:cNvPr id="4" name="Group 8"/>
            <p:cNvGrpSpPr>
              <a:grpSpLocks/>
            </p:cNvGrpSpPr>
            <p:nvPr/>
          </p:nvGrpSpPr>
          <p:grpSpPr bwMode="auto">
            <a:xfrm>
              <a:off x="606" y="1112"/>
              <a:ext cx="774" cy="291"/>
              <a:chOff x="654" y="930"/>
              <a:chExt cx="774" cy="291"/>
            </a:xfrm>
          </p:grpSpPr>
          <p:sp>
            <p:nvSpPr>
              <p:cNvPr id="362505" name="Rectangle 9"/>
              <p:cNvSpPr>
                <a:spLocks noChangeArrowheads="1"/>
              </p:cNvSpPr>
              <p:nvPr/>
            </p:nvSpPr>
            <p:spPr bwMode="auto">
              <a:xfrm>
                <a:off x="1058"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1</a:t>
                </a:r>
                <a:r>
                  <a:rPr lang="en-US" altLang="zh-CN" dirty="0"/>
                  <a:t> </a:t>
                </a:r>
              </a:p>
            </p:txBody>
          </p:sp>
          <p:sp>
            <p:nvSpPr>
              <p:cNvPr id="362506" name="Rectangle 10"/>
              <p:cNvSpPr>
                <a:spLocks noChangeArrowheads="1"/>
              </p:cNvSpPr>
              <p:nvPr/>
            </p:nvSpPr>
            <p:spPr bwMode="auto">
              <a:xfrm>
                <a:off x="848"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1</a:t>
                </a:r>
                <a:r>
                  <a:rPr lang="en-US" altLang="zh-CN" dirty="0"/>
                  <a:t> </a:t>
                </a:r>
              </a:p>
            </p:txBody>
          </p:sp>
          <p:sp>
            <p:nvSpPr>
              <p:cNvPr id="362507" name="Rectangle 11"/>
              <p:cNvSpPr>
                <a:spLocks noChangeArrowheads="1"/>
              </p:cNvSpPr>
              <p:nvPr/>
            </p:nvSpPr>
            <p:spPr bwMode="auto">
              <a:xfrm>
                <a:off x="654" y="950"/>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in</a:t>
                </a:r>
                <a:r>
                  <a:rPr lang="en-US" altLang="zh-CN" dirty="0"/>
                  <a:t> </a:t>
                </a:r>
              </a:p>
            </p:txBody>
          </p:sp>
        </p:grpSp>
        <p:grpSp>
          <p:nvGrpSpPr>
            <p:cNvPr id="5" name="Group 12"/>
            <p:cNvGrpSpPr>
              <a:grpSpLocks/>
            </p:cNvGrpSpPr>
            <p:nvPr/>
          </p:nvGrpSpPr>
          <p:grpSpPr bwMode="auto">
            <a:xfrm>
              <a:off x="4613" y="1122"/>
              <a:ext cx="642" cy="291"/>
              <a:chOff x="4368" y="940"/>
              <a:chExt cx="642" cy="291"/>
            </a:xfrm>
          </p:grpSpPr>
          <p:sp>
            <p:nvSpPr>
              <p:cNvPr id="362509" name="Rectangle 13"/>
              <p:cNvSpPr>
                <a:spLocks noChangeArrowheads="1"/>
              </p:cNvSpPr>
              <p:nvPr/>
            </p:nvSpPr>
            <p:spPr bwMode="auto">
              <a:xfrm>
                <a:off x="4640"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4</a:t>
                </a:r>
                <a:r>
                  <a:rPr lang="en-US" altLang="zh-CN" dirty="0"/>
                  <a:t> </a:t>
                </a:r>
              </a:p>
            </p:txBody>
          </p:sp>
          <p:sp>
            <p:nvSpPr>
              <p:cNvPr id="362510" name="Rectangle 14"/>
              <p:cNvSpPr>
                <a:spLocks noChangeArrowheads="1"/>
              </p:cNvSpPr>
              <p:nvPr/>
            </p:nvSpPr>
            <p:spPr bwMode="auto">
              <a:xfrm>
                <a:off x="4368"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4</a:t>
                </a:r>
                <a:r>
                  <a:rPr lang="en-US" altLang="zh-CN" dirty="0"/>
                  <a:t> </a:t>
                </a:r>
              </a:p>
            </p:txBody>
          </p:sp>
        </p:grpSp>
        <p:grpSp>
          <p:nvGrpSpPr>
            <p:cNvPr id="6" name="Group 15"/>
            <p:cNvGrpSpPr>
              <a:grpSpLocks/>
            </p:cNvGrpSpPr>
            <p:nvPr/>
          </p:nvGrpSpPr>
          <p:grpSpPr bwMode="auto">
            <a:xfrm>
              <a:off x="4464" y="1392"/>
              <a:ext cx="795" cy="1365"/>
              <a:chOff x="4219" y="1210"/>
              <a:chExt cx="795" cy="1365"/>
            </a:xfrm>
          </p:grpSpPr>
          <p:sp>
            <p:nvSpPr>
              <p:cNvPr id="362512" name="Rectangle 16"/>
              <p:cNvSpPr>
                <a:spLocks noChangeArrowheads="1"/>
              </p:cNvSpPr>
              <p:nvPr/>
            </p:nvSpPr>
            <p:spPr bwMode="auto">
              <a:xfrm>
                <a:off x="4219"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13" name="Line 17"/>
              <p:cNvSpPr>
                <a:spLocks noChangeShapeType="1"/>
              </p:cNvSpPr>
              <p:nvPr/>
            </p:nvSpPr>
            <p:spPr bwMode="auto">
              <a:xfrm>
                <a:off x="4310"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4" name="Line 18"/>
              <p:cNvSpPr>
                <a:spLocks noChangeShapeType="1"/>
              </p:cNvSpPr>
              <p:nvPr/>
            </p:nvSpPr>
            <p:spPr bwMode="auto">
              <a:xfrm>
                <a:off x="4537"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5" name="Line 19"/>
              <p:cNvSpPr>
                <a:spLocks noChangeShapeType="1"/>
              </p:cNvSpPr>
              <p:nvPr/>
            </p:nvSpPr>
            <p:spPr bwMode="auto">
              <a:xfrm>
                <a:off x="4764"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6" name="Line 20"/>
              <p:cNvSpPr>
                <a:spLocks noChangeShapeType="1"/>
              </p:cNvSpPr>
              <p:nvPr/>
            </p:nvSpPr>
            <p:spPr bwMode="auto">
              <a:xfrm>
                <a:off x="4401" y="202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7" name="Line 21"/>
              <p:cNvSpPr>
                <a:spLocks noChangeShapeType="1"/>
              </p:cNvSpPr>
              <p:nvPr/>
            </p:nvSpPr>
            <p:spPr bwMode="auto">
              <a:xfrm>
                <a:off x="4718"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8" name="Rectangle 22"/>
              <p:cNvSpPr>
                <a:spLocks noChangeArrowheads="1"/>
              </p:cNvSpPr>
              <p:nvPr/>
            </p:nvSpPr>
            <p:spPr bwMode="auto">
              <a:xfrm>
                <a:off x="4320" y="2284"/>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4</a:t>
                </a:r>
                <a:r>
                  <a:rPr lang="en-US" altLang="zh-CN" dirty="0"/>
                  <a:t> </a:t>
                </a:r>
              </a:p>
            </p:txBody>
          </p:sp>
          <p:sp>
            <p:nvSpPr>
              <p:cNvPr id="362519" name="Rectangle 23"/>
              <p:cNvSpPr>
                <a:spLocks noChangeArrowheads="1"/>
              </p:cNvSpPr>
              <p:nvPr/>
            </p:nvSpPr>
            <p:spPr bwMode="auto">
              <a:xfrm>
                <a:off x="4608" y="2304"/>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sp>
            <p:nvSpPr>
              <p:cNvPr id="362520" name="Text Box 24"/>
              <p:cNvSpPr txBox="1">
                <a:spLocks noChangeArrowheads="1"/>
              </p:cNvSpPr>
              <p:nvPr/>
            </p:nvSpPr>
            <p:spPr bwMode="auto">
              <a:xfrm>
                <a:off x="426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grpSp>
        <p:grpSp>
          <p:nvGrpSpPr>
            <p:cNvPr id="7" name="Group 25"/>
            <p:cNvGrpSpPr>
              <a:grpSpLocks/>
            </p:cNvGrpSpPr>
            <p:nvPr/>
          </p:nvGrpSpPr>
          <p:grpSpPr bwMode="auto">
            <a:xfrm>
              <a:off x="3360" y="1112"/>
              <a:ext cx="610" cy="291"/>
              <a:chOff x="3264" y="930"/>
              <a:chExt cx="610" cy="291"/>
            </a:xfrm>
          </p:grpSpPr>
          <p:sp>
            <p:nvSpPr>
              <p:cNvPr id="362522" name="Rectangle 26"/>
              <p:cNvSpPr>
                <a:spLocks noChangeArrowheads="1"/>
              </p:cNvSpPr>
              <p:nvPr/>
            </p:nvSpPr>
            <p:spPr bwMode="auto">
              <a:xfrm>
                <a:off x="3504"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3</a:t>
                </a:r>
                <a:r>
                  <a:rPr lang="en-US" altLang="zh-CN" dirty="0"/>
                  <a:t> </a:t>
                </a:r>
              </a:p>
            </p:txBody>
          </p:sp>
          <p:sp>
            <p:nvSpPr>
              <p:cNvPr id="362523" name="Rectangle 27"/>
              <p:cNvSpPr>
                <a:spLocks noChangeArrowheads="1"/>
              </p:cNvSpPr>
              <p:nvPr/>
            </p:nvSpPr>
            <p:spPr bwMode="auto">
              <a:xfrm>
                <a:off x="3264"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3</a:t>
                </a:r>
                <a:r>
                  <a:rPr lang="en-US" altLang="zh-CN" dirty="0"/>
                  <a:t> </a:t>
                </a:r>
              </a:p>
            </p:txBody>
          </p:sp>
        </p:grpSp>
        <p:grpSp>
          <p:nvGrpSpPr>
            <p:cNvPr id="8" name="Group 28"/>
            <p:cNvGrpSpPr>
              <a:grpSpLocks/>
            </p:cNvGrpSpPr>
            <p:nvPr/>
          </p:nvGrpSpPr>
          <p:grpSpPr bwMode="auto">
            <a:xfrm>
              <a:off x="624" y="1382"/>
              <a:ext cx="790" cy="1360"/>
              <a:chOff x="672" y="1200"/>
              <a:chExt cx="790" cy="1360"/>
            </a:xfrm>
          </p:grpSpPr>
          <p:sp>
            <p:nvSpPr>
              <p:cNvPr id="362525" name="Rectangle 29"/>
              <p:cNvSpPr>
                <a:spLocks noChangeArrowheads="1"/>
              </p:cNvSpPr>
              <p:nvPr/>
            </p:nvSpPr>
            <p:spPr bwMode="auto">
              <a:xfrm>
                <a:off x="672" y="147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26" name="Line 30"/>
              <p:cNvSpPr>
                <a:spLocks noChangeShapeType="1"/>
              </p:cNvSpPr>
              <p:nvPr/>
            </p:nvSpPr>
            <p:spPr bwMode="auto">
              <a:xfrm>
                <a:off x="763"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27" name="Line 31"/>
              <p:cNvSpPr>
                <a:spLocks noChangeShapeType="1"/>
              </p:cNvSpPr>
              <p:nvPr/>
            </p:nvSpPr>
            <p:spPr bwMode="auto">
              <a:xfrm>
                <a:off x="990"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28" name="Line 32"/>
              <p:cNvSpPr>
                <a:spLocks noChangeShapeType="1"/>
              </p:cNvSpPr>
              <p:nvPr/>
            </p:nvSpPr>
            <p:spPr bwMode="auto">
              <a:xfrm>
                <a:off x="1217"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29" name="Line 33"/>
              <p:cNvSpPr>
                <a:spLocks noChangeShapeType="1"/>
              </p:cNvSpPr>
              <p:nvPr/>
            </p:nvSpPr>
            <p:spPr bwMode="auto">
              <a:xfrm>
                <a:off x="856" y="201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0" name="Rectangle 34"/>
              <p:cNvSpPr>
                <a:spLocks noChangeArrowheads="1"/>
              </p:cNvSpPr>
              <p:nvPr/>
            </p:nvSpPr>
            <p:spPr bwMode="auto">
              <a:xfrm>
                <a:off x="720" y="226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1</a:t>
                </a:r>
                <a:r>
                  <a:rPr lang="en-US" altLang="zh-CN" dirty="0"/>
                  <a:t> </a:t>
                </a:r>
              </a:p>
            </p:txBody>
          </p:sp>
          <p:sp>
            <p:nvSpPr>
              <p:cNvPr id="362531" name="Text Box 35"/>
              <p:cNvSpPr txBox="1">
                <a:spLocks noChangeArrowheads="1"/>
              </p:cNvSpPr>
              <p:nvPr/>
            </p:nvSpPr>
            <p:spPr bwMode="auto">
              <a:xfrm>
                <a:off x="717" y="151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2532" name="Line 36"/>
              <p:cNvSpPr>
                <a:spLocks noChangeShapeType="1"/>
              </p:cNvSpPr>
              <p:nvPr/>
            </p:nvSpPr>
            <p:spPr bwMode="auto">
              <a:xfrm>
                <a:off x="1166"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3" name="Rectangle 37"/>
              <p:cNvSpPr>
                <a:spLocks noChangeArrowheads="1"/>
              </p:cNvSpPr>
              <p:nvPr/>
            </p:nvSpPr>
            <p:spPr bwMode="auto">
              <a:xfrm>
                <a:off x="1056"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9" name="Group 38"/>
            <p:cNvGrpSpPr>
              <a:grpSpLocks/>
            </p:cNvGrpSpPr>
            <p:nvPr/>
          </p:nvGrpSpPr>
          <p:grpSpPr bwMode="auto">
            <a:xfrm>
              <a:off x="1872" y="1392"/>
              <a:ext cx="808" cy="1360"/>
              <a:chOff x="1998" y="1210"/>
              <a:chExt cx="808" cy="1360"/>
            </a:xfrm>
          </p:grpSpPr>
          <p:sp>
            <p:nvSpPr>
              <p:cNvPr id="362535" name="Rectangle 39"/>
              <p:cNvSpPr>
                <a:spLocks noChangeArrowheads="1"/>
              </p:cNvSpPr>
              <p:nvPr/>
            </p:nvSpPr>
            <p:spPr bwMode="auto">
              <a:xfrm>
                <a:off x="1998"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36" name="Line 40"/>
              <p:cNvSpPr>
                <a:spLocks noChangeShapeType="1"/>
              </p:cNvSpPr>
              <p:nvPr/>
            </p:nvSpPr>
            <p:spPr bwMode="auto">
              <a:xfrm>
                <a:off x="2089"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7" name="Line 41"/>
              <p:cNvSpPr>
                <a:spLocks noChangeShapeType="1"/>
              </p:cNvSpPr>
              <p:nvPr/>
            </p:nvSpPr>
            <p:spPr bwMode="auto">
              <a:xfrm>
                <a:off x="2316"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8" name="Line 42"/>
              <p:cNvSpPr>
                <a:spLocks noChangeShapeType="1"/>
              </p:cNvSpPr>
              <p:nvPr/>
            </p:nvSpPr>
            <p:spPr bwMode="auto">
              <a:xfrm>
                <a:off x="2543"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9" name="Line 43"/>
              <p:cNvSpPr>
                <a:spLocks noChangeShapeType="1"/>
              </p:cNvSpPr>
              <p:nvPr/>
            </p:nvSpPr>
            <p:spPr bwMode="auto">
              <a:xfrm>
                <a:off x="2155"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40" name="Rectangle 44"/>
              <p:cNvSpPr>
                <a:spLocks noChangeArrowheads="1"/>
              </p:cNvSpPr>
              <p:nvPr/>
            </p:nvSpPr>
            <p:spPr bwMode="auto">
              <a:xfrm>
                <a:off x="2064" y="227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2</a:t>
                </a:r>
                <a:r>
                  <a:rPr lang="en-US" altLang="zh-CN" dirty="0"/>
                  <a:t> </a:t>
                </a:r>
              </a:p>
            </p:txBody>
          </p:sp>
          <p:sp>
            <p:nvSpPr>
              <p:cNvPr id="362541" name="Text Box 45"/>
              <p:cNvSpPr txBox="1">
                <a:spLocks noChangeArrowheads="1"/>
              </p:cNvSpPr>
              <p:nvPr/>
            </p:nvSpPr>
            <p:spPr bwMode="auto">
              <a:xfrm>
                <a:off x="204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2542" name="Line 46"/>
              <p:cNvSpPr>
                <a:spLocks noChangeShapeType="1"/>
              </p:cNvSpPr>
              <p:nvPr/>
            </p:nvSpPr>
            <p:spPr bwMode="auto">
              <a:xfrm>
                <a:off x="2510"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43" name="Rectangle 47"/>
              <p:cNvSpPr>
                <a:spLocks noChangeArrowheads="1"/>
              </p:cNvSpPr>
              <p:nvPr/>
            </p:nvSpPr>
            <p:spPr bwMode="auto">
              <a:xfrm>
                <a:off x="2400"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10" name="Group 48"/>
            <p:cNvGrpSpPr>
              <a:grpSpLocks/>
            </p:cNvGrpSpPr>
            <p:nvPr/>
          </p:nvGrpSpPr>
          <p:grpSpPr bwMode="auto">
            <a:xfrm>
              <a:off x="3183" y="1392"/>
              <a:ext cx="801" cy="1360"/>
              <a:chOff x="3087" y="1210"/>
              <a:chExt cx="801" cy="1360"/>
            </a:xfrm>
          </p:grpSpPr>
          <p:sp>
            <p:nvSpPr>
              <p:cNvPr id="362545" name="Rectangle 49"/>
              <p:cNvSpPr>
                <a:spLocks noChangeArrowheads="1"/>
              </p:cNvSpPr>
              <p:nvPr/>
            </p:nvSpPr>
            <p:spPr bwMode="auto">
              <a:xfrm>
                <a:off x="3168" y="227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3</a:t>
                </a:r>
                <a:r>
                  <a:rPr lang="en-US" altLang="zh-CN" dirty="0">
                    <a:solidFill>
                      <a:srgbClr val="FFFF00"/>
                    </a:solidFill>
                  </a:rPr>
                  <a:t> </a:t>
                </a:r>
              </a:p>
            </p:txBody>
          </p:sp>
          <p:sp>
            <p:nvSpPr>
              <p:cNvPr id="362546" name="Rectangle 50"/>
              <p:cNvSpPr>
                <a:spLocks noChangeArrowheads="1"/>
              </p:cNvSpPr>
              <p:nvPr/>
            </p:nvSpPr>
            <p:spPr bwMode="auto">
              <a:xfrm>
                <a:off x="3087"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47" name="Line 51"/>
              <p:cNvSpPr>
                <a:spLocks noChangeShapeType="1"/>
              </p:cNvSpPr>
              <p:nvPr/>
            </p:nvSpPr>
            <p:spPr bwMode="auto">
              <a:xfrm>
                <a:off x="3178"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48" name="Line 52"/>
              <p:cNvSpPr>
                <a:spLocks noChangeShapeType="1"/>
              </p:cNvSpPr>
              <p:nvPr/>
            </p:nvSpPr>
            <p:spPr bwMode="auto">
              <a:xfrm>
                <a:off x="3405"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49" name="Line 53"/>
              <p:cNvSpPr>
                <a:spLocks noChangeShapeType="1"/>
              </p:cNvSpPr>
              <p:nvPr/>
            </p:nvSpPr>
            <p:spPr bwMode="auto">
              <a:xfrm>
                <a:off x="3632"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0" name="Line 54"/>
              <p:cNvSpPr>
                <a:spLocks noChangeShapeType="1"/>
              </p:cNvSpPr>
              <p:nvPr/>
            </p:nvSpPr>
            <p:spPr bwMode="auto">
              <a:xfrm>
                <a:off x="3304"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1" name="Text Box 55"/>
              <p:cNvSpPr txBox="1">
                <a:spLocks noChangeArrowheads="1"/>
              </p:cNvSpPr>
              <p:nvPr/>
            </p:nvSpPr>
            <p:spPr bwMode="auto">
              <a:xfrm>
                <a:off x="3177"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2552" name="Line 56"/>
              <p:cNvSpPr>
                <a:spLocks noChangeShapeType="1"/>
              </p:cNvSpPr>
              <p:nvPr/>
            </p:nvSpPr>
            <p:spPr bwMode="auto">
              <a:xfrm>
                <a:off x="3592"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3" name="Rectangle 57"/>
              <p:cNvSpPr>
                <a:spLocks noChangeArrowheads="1"/>
              </p:cNvSpPr>
              <p:nvPr/>
            </p:nvSpPr>
            <p:spPr bwMode="auto">
              <a:xfrm>
                <a:off x="3482"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11" name="Group 58"/>
            <p:cNvGrpSpPr>
              <a:grpSpLocks/>
            </p:cNvGrpSpPr>
            <p:nvPr/>
          </p:nvGrpSpPr>
          <p:grpSpPr bwMode="auto">
            <a:xfrm>
              <a:off x="1104" y="1382"/>
              <a:ext cx="864" cy="1056"/>
              <a:chOff x="1152" y="1200"/>
              <a:chExt cx="864" cy="1056"/>
            </a:xfrm>
          </p:grpSpPr>
          <p:sp>
            <p:nvSpPr>
              <p:cNvPr id="362555" name="Line 59"/>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6" name="Line 60"/>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7" name="Line 61"/>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 name="Group 62"/>
            <p:cNvGrpSpPr>
              <a:grpSpLocks/>
            </p:cNvGrpSpPr>
            <p:nvPr/>
          </p:nvGrpSpPr>
          <p:grpSpPr bwMode="auto">
            <a:xfrm>
              <a:off x="2400" y="1392"/>
              <a:ext cx="864" cy="1056"/>
              <a:chOff x="1152" y="1200"/>
              <a:chExt cx="864" cy="1056"/>
            </a:xfrm>
          </p:grpSpPr>
          <p:sp>
            <p:nvSpPr>
              <p:cNvPr id="362559" name="Line 63"/>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60" name="Line 64"/>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61" name="Line 65"/>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 name="Group 66"/>
            <p:cNvGrpSpPr>
              <a:grpSpLocks/>
            </p:cNvGrpSpPr>
            <p:nvPr/>
          </p:nvGrpSpPr>
          <p:grpSpPr bwMode="auto">
            <a:xfrm>
              <a:off x="3696" y="1382"/>
              <a:ext cx="864" cy="1056"/>
              <a:chOff x="1152" y="1200"/>
              <a:chExt cx="864" cy="1056"/>
            </a:xfrm>
          </p:grpSpPr>
          <p:sp>
            <p:nvSpPr>
              <p:cNvPr id="362563" name="Line 67"/>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64" name="Line 68"/>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65" name="Line 69"/>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62566" name="Rectangle 70"/>
          <p:cNvSpPr>
            <a:spLocks noChangeArrowheads="1"/>
          </p:cNvSpPr>
          <p:nvPr/>
        </p:nvSpPr>
        <p:spPr bwMode="auto">
          <a:xfrm>
            <a:off x="762000" y="5734050"/>
            <a:ext cx="7460697"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folHlink"/>
              </a:buClr>
              <a:buFont typeface="Wingdings" pitchFamily="2" charset="2"/>
              <a:buChar char="l"/>
            </a:pP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4</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4</a:t>
            </a:r>
            <a:r>
              <a:rPr lang="zh-CN" altLang="en-US" sz="2400" b="1" dirty="0">
                <a:latin typeface="等线" panose="02010600030101010101" pitchFamily="2" charset="-122"/>
                <a:ea typeface="等线" panose="02010600030101010101" pitchFamily="2" charset="-122"/>
              </a:rPr>
              <a:t>級，</a:t>
            </a:r>
          </a:p>
          <a:p>
            <a:pPr>
              <a:spcBef>
                <a:spcPct val="20000"/>
              </a:spcBef>
              <a:buClr>
                <a:schemeClr val="folHlink"/>
              </a:buClr>
              <a:buFont typeface="Wingdings" pitchFamily="2" charset="2"/>
              <a:buNone/>
            </a:pPr>
            <a:r>
              <a:rPr lang="en-US" altLang="zh-CN" sz="2400" b="1" dirty="0">
                <a:latin typeface="等线" panose="02010600030101010101" pitchFamily="2" charset="-122"/>
                <a:ea typeface="等线" panose="02010600030101010101" pitchFamily="2" charset="-122"/>
              </a:rPr>
              <a:t>   F</a:t>
            </a:r>
            <a:r>
              <a:rPr lang="en-US" altLang="zh-CN" sz="2400" b="1" baseline="-25000"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6</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6</a:t>
            </a:r>
            <a:r>
              <a:rPr lang="zh-CN" altLang="en-US" sz="2400" b="1" dirty="0">
                <a:latin typeface="等线" panose="02010600030101010101" pitchFamily="2" charset="-122"/>
                <a:ea typeface="等线" panose="02010600030101010101" pitchFamily="2" charset="-122"/>
              </a:rPr>
              <a:t>級，</a:t>
            </a:r>
            <a:r>
              <a:rPr lang="en-US" altLang="zh-CN" sz="2400" b="1" dirty="0">
                <a:solidFill>
                  <a:srgbClr val="FF0000"/>
                </a:solidFill>
                <a:latin typeface="等线" panose="02010600030101010101" pitchFamily="2" charset="-122"/>
                <a:ea typeface="等线" panose="02010600030101010101" pitchFamily="2" charset="-122"/>
              </a:rPr>
              <a:t>F</a:t>
            </a:r>
            <a:r>
              <a:rPr lang="en-US" altLang="zh-CN" sz="2400" b="1" baseline="-25000" dirty="0">
                <a:solidFill>
                  <a:srgbClr val="FF0000"/>
                </a:solidFill>
                <a:latin typeface="等线" panose="02010600030101010101" pitchFamily="2" charset="-122"/>
                <a:ea typeface="等线" panose="02010600030101010101" pitchFamily="2" charset="-122"/>
              </a:rPr>
              <a:t>4</a:t>
            </a:r>
            <a:r>
              <a:rPr lang="zh-CN" altLang="en-US" sz="2400" b="1" dirty="0">
                <a:solidFill>
                  <a:srgbClr val="FF0000"/>
                </a:solidFill>
                <a:latin typeface="等线" panose="02010600030101010101" pitchFamily="2" charset="-122"/>
                <a:ea typeface="等线" panose="02010600030101010101" pitchFamily="2" charset="-122"/>
              </a:rPr>
              <a:t>需要</a:t>
            </a:r>
            <a:r>
              <a:rPr lang="en-US" altLang="zh-CN" sz="2400" b="1" dirty="0">
                <a:solidFill>
                  <a:srgbClr val="FF0000"/>
                </a:solidFill>
                <a:latin typeface="等线" panose="02010600030101010101" pitchFamily="2" charset="-122"/>
                <a:ea typeface="等线" panose="02010600030101010101" pitchFamily="2" charset="-122"/>
              </a:rPr>
              <a:t>8</a:t>
            </a:r>
            <a:r>
              <a:rPr lang="zh-CN" altLang="en-US" sz="2400" b="1" dirty="0">
                <a:solidFill>
                  <a:srgbClr val="FF0000"/>
                </a:solidFill>
                <a:latin typeface="等线" panose="02010600030101010101" pitchFamily="2" charset="-122"/>
                <a:ea typeface="等线" panose="02010600030101010101" pitchFamily="2" charset="-122"/>
              </a:rPr>
              <a:t>級，</a:t>
            </a:r>
            <a:r>
              <a:rPr lang="en-US" altLang="zh-CN" sz="2400" b="1" dirty="0">
                <a:solidFill>
                  <a:srgbClr val="FF0000"/>
                </a:solidFill>
                <a:latin typeface="等线" panose="02010600030101010101" pitchFamily="2" charset="-122"/>
                <a:ea typeface="等线" panose="02010600030101010101" pitchFamily="2" charset="-122"/>
              </a:rPr>
              <a:t>C</a:t>
            </a:r>
            <a:r>
              <a:rPr lang="en-US" altLang="zh-CN" sz="2400" b="1" baseline="-25000" dirty="0">
                <a:solidFill>
                  <a:srgbClr val="FF0000"/>
                </a:solidFill>
                <a:latin typeface="等线" panose="02010600030101010101" pitchFamily="2" charset="-122"/>
                <a:ea typeface="等线" panose="02010600030101010101" pitchFamily="2" charset="-122"/>
              </a:rPr>
              <a:t>4</a:t>
            </a:r>
            <a:r>
              <a:rPr lang="zh-CN" altLang="en-US" sz="2400" b="1" dirty="0">
                <a:solidFill>
                  <a:srgbClr val="FF0000"/>
                </a:solidFill>
                <a:latin typeface="等线" panose="02010600030101010101" pitchFamily="2" charset="-122"/>
                <a:ea typeface="等线" panose="02010600030101010101" pitchFamily="2" charset="-122"/>
              </a:rPr>
              <a:t>需要</a:t>
            </a:r>
            <a:r>
              <a:rPr lang="en-US" altLang="zh-CN" sz="2400" b="1" dirty="0">
                <a:solidFill>
                  <a:srgbClr val="FF0000"/>
                </a:solidFill>
                <a:latin typeface="等线" panose="02010600030101010101" pitchFamily="2" charset="-122"/>
                <a:ea typeface="等线" panose="02010600030101010101" pitchFamily="2" charset="-122"/>
              </a:rPr>
              <a:t>8</a:t>
            </a:r>
            <a:r>
              <a:rPr lang="zh-CN" altLang="en-US" sz="2400" b="1" dirty="0">
                <a:solidFill>
                  <a:srgbClr val="FF0000"/>
                </a:solidFill>
                <a:latin typeface="等线" panose="02010600030101010101" pitchFamily="2" charset="-122"/>
                <a:ea typeface="等线" panose="02010600030101010101" pitchFamily="2" charset="-122"/>
              </a:rPr>
              <a:t>級。</a:t>
            </a:r>
          </a:p>
        </p:txBody>
      </p:sp>
    </p:spTree>
    <p:extLst>
      <p:ext uri="{BB962C8B-B14F-4D97-AF65-F5344CB8AC3E}">
        <p14:creationId xmlns:p14="http://schemas.microsoft.com/office/powerpoint/2010/main" val="35271407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2566"/>
                                        </p:tgtEl>
                                        <p:attrNameLst>
                                          <p:attrName>style.visibility</p:attrName>
                                        </p:attrNameLst>
                                      </p:cBhvr>
                                      <p:to>
                                        <p:strVal val="visible"/>
                                      </p:to>
                                    </p:set>
                                    <p:anim calcmode="lin" valueType="num">
                                      <p:cBhvr additive="base">
                                        <p:cTn id="7" dur="500" fill="hold"/>
                                        <p:tgtEl>
                                          <p:spTgt spid="362566"/>
                                        </p:tgtEl>
                                        <p:attrNameLst>
                                          <p:attrName>ppt_x</p:attrName>
                                        </p:attrNameLst>
                                      </p:cBhvr>
                                      <p:tavLst>
                                        <p:tav tm="0">
                                          <p:val>
                                            <p:strVal val="0-#ppt_w/2"/>
                                          </p:val>
                                        </p:tav>
                                        <p:tav tm="100000">
                                          <p:val>
                                            <p:strVal val="#ppt_x"/>
                                          </p:val>
                                        </p:tav>
                                      </p:tavLst>
                                    </p:anim>
                                    <p:anim calcmode="lin" valueType="num">
                                      <p:cBhvr additive="base">
                                        <p:cTn id="8" dur="500" fill="hold"/>
                                        <p:tgtEl>
                                          <p:spTgt spid="3625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6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73" name="灯片编号占位符 5"/>
          <p:cNvSpPr>
            <a:spLocks noGrp="1"/>
          </p:cNvSpPr>
          <p:nvPr>
            <p:ph type="sldNum" sz="quarter" idx="12"/>
          </p:nvPr>
        </p:nvSpPr>
        <p:spPr/>
        <p:txBody>
          <a:bodyPr/>
          <a:lstStyle/>
          <a:p>
            <a:fld id="{E03B4E8F-CA34-4E79-BF3F-5E2B888E1031}" type="slidenum">
              <a:rPr lang="en-US" altLang="zh-CN"/>
              <a:pPr/>
              <a:t>19</a:t>
            </a:fld>
            <a:endParaRPr lang="en-US" altLang="zh-CN" dirty="0"/>
          </a:p>
        </p:txBody>
      </p:sp>
      <p:sp>
        <p:nvSpPr>
          <p:cNvPr id="362499" name="Rectangle 3"/>
          <p:cNvSpPr>
            <a:spLocks noGrp="1" noChangeArrowheads="1"/>
          </p:cNvSpPr>
          <p:nvPr>
            <p:ph sz="quarter" idx="1"/>
          </p:nvPr>
        </p:nvSpPr>
        <p:spPr/>
        <p:txBody>
          <a:bodyPr/>
          <a:lstStyle/>
          <a:p>
            <a:r>
              <a:rPr lang="zh-CN" altLang="en-US" b="1" dirty="0"/>
              <a:t>四位元串列進位元加法器</a:t>
            </a:r>
          </a:p>
          <a:p>
            <a:endParaRPr lang="zh-CN" altLang="en-US" b="1" dirty="0"/>
          </a:p>
          <a:p>
            <a:endParaRPr lang="zh-CN" altLang="en-US" b="1" dirty="0"/>
          </a:p>
          <a:p>
            <a:endParaRPr lang="zh-CN" altLang="en-US" b="1" dirty="0"/>
          </a:p>
          <a:p>
            <a:endParaRPr lang="zh-CN" altLang="en-US" sz="2400" b="1" dirty="0"/>
          </a:p>
          <a:p>
            <a:endParaRPr lang="zh-CN" altLang="en-US" sz="2400" b="1" dirty="0"/>
          </a:p>
          <a:p>
            <a:r>
              <a:rPr lang="zh-CN" altLang="en-US" sz="2400" b="1" dirty="0"/>
              <a:t>假設計算</a:t>
            </a:r>
            <a:r>
              <a:rPr lang="en-US" altLang="zh-CN" sz="2400" b="1" dirty="0" err="1"/>
              <a:t>Fn</a:t>
            </a:r>
            <a:r>
              <a:rPr lang="zh-CN" altLang="en-US" sz="2400" b="1" dirty="0"/>
              <a:t>需要</a:t>
            </a:r>
            <a:r>
              <a:rPr lang="en-US" altLang="zh-CN" sz="2400" b="1" dirty="0"/>
              <a:t>3</a:t>
            </a:r>
            <a:r>
              <a:rPr lang="zh-CN" altLang="en-US" sz="2400" b="1" dirty="0"/>
              <a:t>級，</a:t>
            </a:r>
            <a:r>
              <a:rPr lang="en-US" altLang="zh-CN" sz="2400" b="1" dirty="0"/>
              <a:t>Cn</a:t>
            </a:r>
            <a:r>
              <a:rPr lang="zh-CN" altLang="en-US" sz="2400" b="1" dirty="0"/>
              <a:t>需要</a:t>
            </a:r>
            <a:r>
              <a:rPr lang="en-US" altLang="zh-CN" sz="2400" b="1" dirty="0"/>
              <a:t>2</a:t>
            </a:r>
            <a:r>
              <a:rPr lang="zh-CN" altLang="en-US" sz="2400" b="1" dirty="0"/>
              <a:t>級，</a:t>
            </a:r>
            <a:r>
              <a:rPr lang="en-US" altLang="zh-CN" sz="2400" b="1" dirty="0"/>
              <a:t>Cin</a:t>
            </a:r>
            <a:r>
              <a:rPr lang="zh-CN" altLang="en-US" sz="2400" b="1" dirty="0"/>
              <a:t>、</a:t>
            </a:r>
            <a:r>
              <a:rPr lang="en-US" altLang="zh-CN" sz="2400" b="1" dirty="0"/>
              <a:t>Xi</a:t>
            </a:r>
            <a:r>
              <a:rPr lang="zh-CN" altLang="en-US" sz="2400" b="1" dirty="0"/>
              <a:t>和</a:t>
            </a:r>
            <a:r>
              <a:rPr lang="en-US" altLang="zh-CN" sz="2400" b="1" dirty="0"/>
              <a:t>Yi</a:t>
            </a:r>
            <a:r>
              <a:rPr lang="zh-CN" altLang="en-US" sz="2400" b="1" dirty="0"/>
              <a:t>同時到達。最後結果需要多少級延遲？</a:t>
            </a:r>
            <a:endParaRPr lang="zh-CN" altLang="en-US" b="1" dirty="0"/>
          </a:p>
        </p:txBody>
      </p:sp>
      <p:grpSp>
        <p:nvGrpSpPr>
          <p:cNvPr id="2" name="Group 4"/>
          <p:cNvGrpSpPr>
            <a:grpSpLocks/>
          </p:cNvGrpSpPr>
          <p:nvPr/>
        </p:nvGrpSpPr>
        <p:grpSpPr bwMode="auto">
          <a:xfrm>
            <a:off x="990600" y="2146300"/>
            <a:ext cx="7386638" cy="2611438"/>
            <a:chOff x="606" y="1112"/>
            <a:chExt cx="4653" cy="1645"/>
          </a:xfrm>
        </p:grpSpPr>
        <p:grpSp>
          <p:nvGrpSpPr>
            <p:cNvPr id="3" name="Group 5"/>
            <p:cNvGrpSpPr>
              <a:grpSpLocks/>
            </p:cNvGrpSpPr>
            <p:nvPr/>
          </p:nvGrpSpPr>
          <p:grpSpPr bwMode="auto">
            <a:xfrm>
              <a:off x="2064" y="1122"/>
              <a:ext cx="610" cy="291"/>
              <a:chOff x="2112" y="940"/>
              <a:chExt cx="610" cy="291"/>
            </a:xfrm>
          </p:grpSpPr>
          <p:sp>
            <p:nvSpPr>
              <p:cNvPr id="362502" name="Rectangle 6"/>
              <p:cNvSpPr>
                <a:spLocks noChangeArrowheads="1"/>
              </p:cNvSpPr>
              <p:nvPr/>
            </p:nvSpPr>
            <p:spPr bwMode="auto">
              <a:xfrm>
                <a:off x="2352"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2</a:t>
                </a:r>
                <a:r>
                  <a:rPr lang="en-US" altLang="zh-CN" dirty="0"/>
                  <a:t> </a:t>
                </a:r>
              </a:p>
            </p:txBody>
          </p:sp>
          <p:sp>
            <p:nvSpPr>
              <p:cNvPr id="362503" name="Rectangle 7"/>
              <p:cNvSpPr>
                <a:spLocks noChangeArrowheads="1"/>
              </p:cNvSpPr>
              <p:nvPr/>
            </p:nvSpPr>
            <p:spPr bwMode="auto">
              <a:xfrm>
                <a:off x="2112"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2</a:t>
                </a:r>
                <a:r>
                  <a:rPr lang="en-US" altLang="zh-CN" dirty="0"/>
                  <a:t> </a:t>
                </a:r>
              </a:p>
            </p:txBody>
          </p:sp>
        </p:grpSp>
        <p:grpSp>
          <p:nvGrpSpPr>
            <p:cNvPr id="4" name="Group 8"/>
            <p:cNvGrpSpPr>
              <a:grpSpLocks/>
            </p:cNvGrpSpPr>
            <p:nvPr/>
          </p:nvGrpSpPr>
          <p:grpSpPr bwMode="auto">
            <a:xfrm>
              <a:off x="606" y="1112"/>
              <a:ext cx="774" cy="291"/>
              <a:chOff x="654" y="930"/>
              <a:chExt cx="774" cy="291"/>
            </a:xfrm>
          </p:grpSpPr>
          <p:sp>
            <p:nvSpPr>
              <p:cNvPr id="362505" name="Rectangle 9"/>
              <p:cNvSpPr>
                <a:spLocks noChangeArrowheads="1"/>
              </p:cNvSpPr>
              <p:nvPr/>
            </p:nvSpPr>
            <p:spPr bwMode="auto">
              <a:xfrm>
                <a:off x="1058"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1</a:t>
                </a:r>
                <a:r>
                  <a:rPr lang="en-US" altLang="zh-CN" dirty="0"/>
                  <a:t> </a:t>
                </a:r>
              </a:p>
            </p:txBody>
          </p:sp>
          <p:sp>
            <p:nvSpPr>
              <p:cNvPr id="362506" name="Rectangle 10"/>
              <p:cNvSpPr>
                <a:spLocks noChangeArrowheads="1"/>
              </p:cNvSpPr>
              <p:nvPr/>
            </p:nvSpPr>
            <p:spPr bwMode="auto">
              <a:xfrm>
                <a:off x="848"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1</a:t>
                </a:r>
                <a:r>
                  <a:rPr lang="en-US" altLang="zh-CN" dirty="0"/>
                  <a:t> </a:t>
                </a:r>
              </a:p>
            </p:txBody>
          </p:sp>
          <p:sp>
            <p:nvSpPr>
              <p:cNvPr id="362507" name="Rectangle 11"/>
              <p:cNvSpPr>
                <a:spLocks noChangeArrowheads="1"/>
              </p:cNvSpPr>
              <p:nvPr/>
            </p:nvSpPr>
            <p:spPr bwMode="auto">
              <a:xfrm>
                <a:off x="654" y="950"/>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in</a:t>
                </a:r>
                <a:r>
                  <a:rPr lang="en-US" altLang="zh-CN" dirty="0"/>
                  <a:t> </a:t>
                </a:r>
              </a:p>
            </p:txBody>
          </p:sp>
        </p:grpSp>
        <p:grpSp>
          <p:nvGrpSpPr>
            <p:cNvPr id="5" name="Group 12"/>
            <p:cNvGrpSpPr>
              <a:grpSpLocks/>
            </p:cNvGrpSpPr>
            <p:nvPr/>
          </p:nvGrpSpPr>
          <p:grpSpPr bwMode="auto">
            <a:xfrm>
              <a:off x="4613" y="1122"/>
              <a:ext cx="642" cy="291"/>
              <a:chOff x="4368" y="940"/>
              <a:chExt cx="642" cy="291"/>
            </a:xfrm>
          </p:grpSpPr>
          <p:sp>
            <p:nvSpPr>
              <p:cNvPr id="362509" name="Rectangle 13"/>
              <p:cNvSpPr>
                <a:spLocks noChangeArrowheads="1"/>
              </p:cNvSpPr>
              <p:nvPr/>
            </p:nvSpPr>
            <p:spPr bwMode="auto">
              <a:xfrm>
                <a:off x="4640"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4</a:t>
                </a:r>
                <a:r>
                  <a:rPr lang="en-US" altLang="zh-CN" dirty="0"/>
                  <a:t> </a:t>
                </a:r>
              </a:p>
            </p:txBody>
          </p:sp>
          <p:sp>
            <p:nvSpPr>
              <p:cNvPr id="362510" name="Rectangle 14"/>
              <p:cNvSpPr>
                <a:spLocks noChangeArrowheads="1"/>
              </p:cNvSpPr>
              <p:nvPr/>
            </p:nvSpPr>
            <p:spPr bwMode="auto">
              <a:xfrm>
                <a:off x="4368"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4</a:t>
                </a:r>
                <a:r>
                  <a:rPr lang="en-US" altLang="zh-CN" dirty="0"/>
                  <a:t> </a:t>
                </a:r>
              </a:p>
            </p:txBody>
          </p:sp>
        </p:grpSp>
        <p:grpSp>
          <p:nvGrpSpPr>
            <p:cNvPr id="6" name="Group 15"/>
            <p:cNvGrpSpPr>
              <a:grpSpLocks/>
            </p:cNvGrpSpPr>
            <p:nvPr/>
          </p:nvGrpSpPr>
          <p:grpSpPr bwMode="auto">
            <a:xfrm>
              <a:off x="4464" y="1392"/>
              <a:ext cx="795" cy="1365"/>
              <a:chOff x="4219" y="1210"/>
              <a:chExt cx="795" cy="1365"/>
            </a:xfrm>
          </p:grpSpPr>
          <p:sp>
            <p:nvSpPr>
              <p:cNvPr id="362512" name="Rectangle 16"/>
              <p:cNvSpPr>
                <a:spLocks noChangeArrowheads="1"/>
              </p:cNvSpPr>
              <p:nvPr/>
            </p:nvSpPr>
            <p:spPr bwMode="auto">
              <a:xfrm>
                <a:off x="4219"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13" name="Line 17"/>
              <p:cNvSpPr>
                <a:spLocks noChangeShapeType="1"/>
              </p:cNvSpPr>
              <p:nvPr/>
            </p:nvSpPr>
            <p:spPr bwMode="auto">
              <a:xfrm>
                <a:off x="4310"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4" name="Line 18"/>
              <p:cNvSpPr>
                <a:spLocks noChangeShapeType="1"/>
              </p:cNvSpPr>
              <p:nvPr/>
            </p:nvSpPr>
            <p:spPr bwMode="auto">
              <a:xfrm>
                <a:off x="4537"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5" name="Line 19"/>
              <p:cNvSpPr>
                <a:spLocks noChangeShapeType="1"/>
              </p:cNvSpPr>
              <p:nvPr/>
            </p:nvSpPr>
            <p:spPr bwMode="auto">
              <a:xfrm>
                <a:off x="4764"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6" name="Line 20"/>
              <p:cNvSpPr>
                <a:spLocks noChangeShapeType="1"/>
              </p:cNvSpPr>
              <p:nvPr/>
            </p:nvSpPr>
            <p:spPr bwMode="auto">
              <a:xfrm>
                <a:off x="4401" y="202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7" name="Line 21"/>
              <p:cNvSpPr>
                <a:spLocks noChangeShapeType="1"/>
              </p:cNvSpPr>
              <p:nvPr/>
            </p:nvSpPr>
            <p:spPr bwMode="auto">
              <a:xfrm>
                <a:off x="4718"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8" name="Rectangle 22"/>
              <p:cNvSpPr>
                <a:spLocks noChangeArrowheads="1"/>
              </p:cNvSpPr>
              <p:nvPr/>
            </p:nvSpPr>
            <p:spPr bwMode="auto">
              <a:xfrm>
                <a:off x="4320" y="2284"/>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4</a:t>
                </a:r>
                <a:r>
                  <a:rPr lang="en-US" altLang="zh-CN" dirty="0"/>
                  <a:t> </a:t>
                </a:r>
              </a:p>
            </p:txBody>
          </p:sp>
          <p:sp>
            <p:nvSpPr>
              <p:cNvPr id="362519" name="Rectangle 23"/>
              <p:cNvSpPr>
                <a:spLocks noChangeArrowheads="1"/>
              </p:cNvSpPr>
              <p:nvPr/>
            </p:nvSpPr>
            <p:spPr bwMode="auto">
              <a:xfrm>
                <a:off x="4608" y="2304"/>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sp>
            <p:nvSpPr>
              <p:cNvPr id="362520" name="Text Box 24"/>
              <p:cNvSpPr txBox="1">
                <a:spLocks noChangeArrowheads="1"/>
              </p:cNvSpPr>
              <p:nvPr/>
            </p:nvSpPr>
            <p:spPr bwMode="auto">
              <a:xfrm>
                <a:off x="426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grpSp>
        <p:grpSp>
          <p:nvGrpSpPr>
            <p:cNvPr id="7" name="Group 25"/>
            <p:cNvGrpSpPr>
              <a:grpSpLocks/>
            </p:cNvGrpSpPr>
            <p:nvPr/>
          </p:nvGrpSpPr>
          <p:grpSpPr bwMode="auto">
            <a:xfrm>
              <a:off x="3360" y="1112"/>
              <a:ext cx="610" cy="291"/>
              <a:chOff x="3264" y="930"/>
              <a:chExt cx="610" cy="291"/>
            </a:xfrm>
          </p:grpSpPr>
          <p:sp>
            <p:nvSpPr>
              <p:cNvPr id="362522" name="Rectangle 26"/>
              <p:cNvSpPr>
                <a:spLocks noChangeArrowheads="1"/>
              </p:cNvSpPr>
              <p:nvPr/>
            </p:nvSpPr>
            <p:spPr bwMode="auto">
              <a:xfrm>
                <a:off x="3504"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3</a:t>
                </a:r>
                <a:r>
                  <a:rPr lang="en-US" altLang="zh-CN" dirty="0"/>
                  <a:t> </a:t>
                </a:r>
              </a:p>
            </p:txBody>
          </p:sp>
          <p:sp>
            <p:nvSpPr>
              <p:cNvPr id="362523" name="Rectangle 27"/>
              <p:cNvSpPr>
                <a:spLocks noChangeArrowheads="1"/>
              </p:cNvSpPr>
              <p:nvPr/>
            </p:nvSpPr>
            <p:spPr bwMode="auto">
              <a:xfrm>
                <a:off x="3264"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3</a:t>
                </a:r>
                <a:r>
                  <a:rPr lang="en-US" altLang="zh-CN" dirty="0"/>
                  <a:t> </a:t>
                </a:r>
              </a:p>
            </p:txBody>
          </p:sp>
        </p:grpSp>
        <p:grpSp>
          <p:nvGrpSpPr>
            <p:cNvPr id="8" name="Group 28"/>
            <p:cNvGrpSpPr>
              <a:grpSpLocks/>
            </p:cNvGrpSpPr>
            <p:nvPr/>
          </p:nvGrpSpPr>
          <p:grpSpPr bwMode="auto">
            <a:xfrm>
              <a:off x="624" y="1382"/>
              <a:ext cx="790" cy="1360"/>
              <a:chOff x="672" y="1200"/>
              <a:chExt cx="790" cy="1360"/>
            </a:xfrm>
          </p:grpSpPr>
          <p:sp>
            <p:nvSpPr>
              <p:cNvPr id="362525" name="Rectangle 29"/>
              <p:cNvSpPr>
                <a:spLocks noChangeArrowheads="1"/>
              </p:cNvSpPr>
              <p:nvPr/>
            </p:nvSpPr>
            <p:spPr bwMode="auto">
              <a:xfrm>
                <a:off x="672" y="147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26" name="Line 30"/>
              <p:cNvSpPr>
                <a:spLocks noChangeShapeType="1"/>
              </p:cNvSpPr>
              <p:nvPr/>
            </p:nvSpPr>
            <p:spPr bwMode="auto">
              <a:xfrm>
                <a:off x="763"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27" name="Line 31"/>
              <p:cNvSpPr>
                <a:spLocks noChangeShapeType="1"/>
              </p:cNvSpPr>
              <p:nvPr/>
            </p:nvSpPr>
            <p:spPr bwMode="auto">
              <a:xfrm>
                <a:off x="990"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28" name="Line 32"/>
              <p:cNvSpPr>
                <a:spLocks noChangeShapeType="1"/>
              </p:cNvSpPr>
              <p:nvPr/>
            </p:nvSpPr>
            <p:spPr bwMode="auto">
              <a:xfrm>
                <a:off x="1217"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29" name="Line 33"/>
              <p:cNvSpPr>
                <a:spLocks noChangeShapeType="1"/>
              </p:cNvSpPr>
              <p:nvPr/>
            </p:nvSpPr>
            <p:spPr bwMode="auto">
              <a:xfrm>
                <a:off x="856" y="201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0" name="Rectangle 34"/>
              <p:cNvSpPr>
                <a:spLocks noChangeArrowheads="1"/>
              </p:cNvSpPr>
              <p:nvPr/>
            </p:nvSpPr>
            <p:spPr bwMode="auto">
              <a:xfrm>
                <a:off x="720" y="226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1</a:t>
                </a:r>
                <a:r>
                  <a:rPr lang="en-US" altLang="zh-CN" dirty="0"/>
                  <a:t> </a:t>
                </a:r>
              </a:p>
            </p:txBody>
          </p:sp>
          <p:sp>
            <p:nvSpPr>
              <p:cNvPr id="362531" name="Text Box 35"/>
              <p:cNvSpPr txBox="1">
                <a:spLocks noChangeArrowheads="1"/>
              </p:cNvSpPr>
              <p:nvPr/>
            </p:nvSpPr>
            <p:spPr bwMode="auto">
              <a:xfrm>
                <a:off x="717" y="151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2532" name="Line 36"/>
              <p:cNvSpPr>
                <a:spLocks noChangeShapeType="1"/>
              </p:cNvSpPr>
              <p:nvPr/>
            </p:nvSpPr>
            <p:spPr bwMode="auto">
              <a:xfrm>
                <a:off x="1166"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3" name="Rectangle 37"/>
              <p:cNvSpPr>
                <a:spLocks noChangeArrowheads="1"/>
              </p:cNvSpPr>
              <p:nvPr/>
            </p:nvSpPr>
            <p:spPr bwMode="auto">
              <a:xfrm>
                <a:off x="1056"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9" name="Group 38"/>
            <p:cNvGrpSpPr>
              <a:grpSpLocks/>
            </p:cNvGrpSpPr>
            <p:nvPr/>
          </p:nvGrpSpPr>
          <p:grpSpPr bwMode="auto">
            <a:xfrm>
              <a:off x="1872" y="1392"/>
              <a:ext cx="808" cy="1360"/>
              <a:chOff x="1998" y="1210"/>
              <a:chExt cx="808" cy="1360"/>
            </a:xfrm>
          </p:grpSpPr>
          <p:sp>
            <p:nvSpPr>
              <p:cNvPr id="362535" name="Rectangle 39"/>
              <p:cNvSpPr>
                <a:spLocks noChangeArrowheads="1"/>
              </p:cNvSpPr>
              <p:nvPr/>
            </p:nvSpPr>
            <p:spPr bwMode="auto">
              <a:xfrm>
                <a:off x="1998"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36" name="Line 40"/>
              <p:cNvSpPr>
                <a:spLocks noChangeShapeType="1"/>
              </p:cNvSpPr>
              <p:nvPr/>
            </p:nvSpPr>
            <p:spPr bwMode="auto">
              <a:xfrm>
                <a:off x="2089"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7" name="Line 41"/>
              <p:cNvSpPr>
                <a:spLocks noChangeShapeType="1"/>
              </p:cNvSpPr>
              <p:nvPr/>
            </p:nvSpPr>
            <p:spPr bwMode="auto">
              <a:xfrm>
                <a:off x="2316"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8" name="Line 42"/>
              <p:cNvSpPr>
                <a:spLocks noChangeShapeType="1"/>
              </p:cNvSpPr>
              <p:nvPr/>
            </p:nvSpPr>
            <p:spPr bwMode="auto">
              <a:xfrm>
                <a:off x="2543"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39" name="Line 43"/>
              <p:cNvSpPr>
                <a:spLocks noChangeShapeType="1"/>
              </p:cNvSpPr>
              <p:nvPr/>
            </p:nvSpPr>
            <p:spPr bwMode="auto">
              <a:xfrm>
                <a:off x="2155"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40" name="Rectangle 44"/>
              <p:cNvSpPr>
                <a:spLocks noChangeArrowheads="1"/>
              </p:cNvSpPr>
              <p:nvPr/>
            </p:nvSpPr>
            <p:spPr bwMode="auto">
              <a:xfrm>
                <a:off x="2064" y="227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2</a:t>
                </a:r>
                <a:r>
                  <a:rPr lang="en-US" altLang="zh-CN" dirty="0"/>
                  <a:t> </a:t>
                </a:r>
              </a:p>
            </p:txBody>
          </p:sp>
          <p:sp>
            <p:nvSpPr>
              <p:cNvPr id="362541" name="Text Box 45"/>
              <p:cNvSpPr txBox="1">
                <a:spLocks noChangeArrowheads="1"/>
              </p:cNvSpPr>
              <p:nvPr/>
            </p:nvSpPr>
            <p:spPr bwMode="auto">
              <a:xfrm>
                <a:off x="204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2542" name="Line 46"/>
              <p:cNvSpPr>
                <a:spLocks noChangeShapeType="1"/>
              </p:cNvSpPr>
              <p:nvPr/>
            </p:nvSpPr>
            <p:spPr bwMode="auto">
              <a:xfrm>
                <a:off x="2510"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43" name="Rectangle 47"/>
              <p:cNvSpPr>
                <a:spLocks noChangeArrowheads="1"/>
              </p:cNvSpPr>
              <p:nvPr/>
            </p:nvSpPr>
            <p:spPr bwMode="auto">
              <a:xfrm>
                <a:off x="2400"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10" name="Group 48"/>
            <p:cNvGrpSpPr>
              <a:grpSpLocks/>
            </p:cNvGrpSpPr>
            <p:nvPr/>
          </p:nvGrpSpPr>
          <p:grpSpPr bwMode="auto">
            <a:xfrm>
              <a:off x="3183" y="1392"/>
              <a:ext cx="801" cy="1360"/>
              <a:chOff x="3087" y="1210"/>
              <a:chExt cx="801" cy="1360"/>
            </a:xfrm>
          </p:grpSpPr>
          <p:sp>
            <p:nvSpPr>
              <p:cNvPr id="362545" name="Rectangle 49"/>
              <p:cNvSpPr>
                <a:spLocks noChangeArrowheads="1"/>
              </p:cNvSpPr>
              <p:nvPr/>
            </p:nvSpPr>
            <p:spPr bwMode="auto">
              <a:xfrm>
                <a:off x="3168" y="227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3</a:t>
                </a:r>
                <a:r>
                  <a:rPr lang="en-US" altLang="zh-CN" dirty="0">
                    <a:solidFill>
                      <a:srgbClr val="FFFF00"/>
                    </a:solidFill>
                  </a:rPr>
                  <a:t> </a:t>
                </a:r>
              </a:p>
            </p:txBody>
          </p:sp>
          <p:sp>
            <p:nvSpPr>
              <p:cNvPr id="362546" name="Rectangle 50"/>
              <p:cNvSpPr>
                <a:spLocks noChangeArrowheads="1"/>
              </p:cNvSpPr>
              <p:nvPr/>
            </p:nvSpPr>
            <p:spPr bwMode="auto">
              <a:xfrm>
                <a:off x="3087"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2547" name="Line 51"/>
              <p:cNvSpPr>
                <a:spLocks noChangeShapeType="1"/>
              </p:cNvSpPr>
              <p:nvPr/>
            </p:nvSpPr>
            <p:spPr bwMode="auto">
              <a:xfrm>
                <a:off x="3178"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48" name="Line 52"/>
              <p:cNvSpPr>
                <a:spLocks noChangeShapeType="1"/>
              </p:cNvSpPr>
              <p:nvPr/>
            </p:nvSpPr>
            <p:spPr bwMode="auto">
              <a:xfrm>
                <a:off x="3405"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49" name="Line 53"/>
              <p:cNvSpPr>
                <a:spLocks noChangeShapeType="1"/>
              </p:cNvSpPr>
              <p:nvPr/>
            </p:nvSpPr>
            <p:spPr bwMode="auto">
              <a:xfrm>
                <a:off x="3632"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0" name="Line 54"/>
              <p:cNvSpPr>
                <a:spLocks noChangeShapeType="1"/>
              </p:cNvSpPr>
              <p:nvPr/>
            </p:nvSpPr>
            <p:spPr bwMode="auto">
              <a:xfrm>
                <a:off x="3304"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1" name="Text Box 55"/>
              <p:cNvSpPr txBox="1">
                <a:spLocks noChangeArrowheads="1"/>
              </p:cNvSpPr>
              <p:nvPr/>
            </p:nvSpPr>
            <p:spPr bwMode="auto">
              <a:xfrm>
                <a:off x="3177"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2552" name="Line 56"/>
              <p:cNvSpPr>
                <a:spLocks noChangeShapeType="1"/>
              </p:cNvSpPr>
              <p:nvPr/>
            </p:nvSpPr>
            <p:spPr bwMode="auto">
              <a:xfrm>
                <a:off x="3592"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3" name="Rectangle 57"/>
              <p:cNvSpPr>
                <a:spLocks noChangeArrowheads="1"/>
              </p:cNvSpPr>
              <p:nvPr/>
            </p:nvSpPr>
            <p:spPr bwMode="auto">
              <a:xfrm>
                <a:off x="3482"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11" name="Group 58"/>
            <p:cNvGrpSpPr>
              <a:grpSpLocks/>
            </p:cNvGrpSpPr>
            <p:nvPr/>
          </p:nvGrpSpPr>
          <p:grpSpPr bwMode="auto">
            <a:xfrm>
              <a:off x="1104" y="1382"/>
              <a:ext cx="864" cy="1056"/>
              <a:chOff x="1152" y="1200"/>
              <a:chExt cx="864" cy="1056"/>
            </a:xfrm>
          </p:grpSpPr>
          <p:sp>
            <p:nvSpPr>
              <p:cNvPr id="362555" name="Line 59"/>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6" name="Line 60"/>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57" name="Line 61"/>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 name="Group 62"/>
            <p:cNvGrpSpPr>
              <a:grpSpLocks/>
            </p:cNvGrpSpPr>
            <p:nvPr/>
          </p:nvGrpSpPr>
          <p:grpSpPr bwMode="auto">
            <a:xfrm>
              <a:off x="2400" y="1392"/>
              <a:ext cx="864" cy="1056"/>
              <a:chOff x="1152" y="1200"/>
              <a:chExt cx="864" cy="1056"/>
            </a:xfrm>
          </p:grpSpPr>
          <p:sp>
            <p:nvSpPr>
              <p:cNvPr id="362559" name="Line 63"/>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60" name="Line 64"/>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61" name="Line 65"/>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 name="Group 66"/>
            <p:cNvGrpSpPr>
              <a:grpSpLocks/>
            </p:cNvGrpSpPr>
            <p:nvPr/>
          </p:nvGrpSpPr>
          <p:grpSpPr bwMode="auto">
            <a:xfrm>
              <a:off x="3696" y="1382"/>
              <a:ext cx="864" cy="1056"/>
              <a:chOff x="1152" y="1200"/>
              <a:chExt cx="864" cy="1056"/>
            </a:xfrm>
          </p:grpSpPr>
          <p:sp>
            <p:nvSpPr>
              <p:cNvPr id="362563" name="Line 67"/>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64" name="Line 68"/>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65" name="Line 69"/>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62566" name="Rectangle 70"/>
          <p:cNvSpPr>
            <a:spLocks noChangeArrowheads="1"/>
          </p:cNvSpPr>
          <p:nvPr/>
        </p:nvSpPr>
        <p:spPr bwMode="auto">
          <a:xfrm>
            <a:off x="762000" y="5734050"/>
            <a:ext cx="7460697"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folHlink"/>
              </a:buClr>
              <a:buFont typeface="Wingdings" pitchFamily="2" charset="2"/>
              <a:buChar char="l"/>
            </a:pP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5</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4</a:t>
            </a:r>
            <a:r>
              <a:rPr lang="zh-CN" altLang="en-US" sz="2400" b="1" dirty="0">
                <a:latin typeface="等线" panose="02010600030101010101" pitchFamily="2" charset="-122"/>
                <a:ea typeface="等线" panose="02010600030101010101" pitchFamily="2" charset="-122"/>
              </a:rPr>
              <a:t>級，</a:t>
            </a:r>
          </a:p>
          <a:p>
            <a:pPr>
              <a:spcBef>
                <a:spcPct val="20000"/>
              </a:spcBef>
              <a:buClr>
                <a:schemeClr val="folHlink"/>
              </a:buClr>
              <a:buFont typeface="Wingdings" pitchFamily="2" charset="2"/>
              <a:buNone/>
            </a:pPr>
            <a:r>
              <a:rPr lang="en-US" altLang="zh-CN" sz="2400" b="1" dirty="0">
                <a:latin typeface="等线" panose="02010600030101010101" pitchFamily="2" charset="-122"/>
                <a:ea typeface="等线" panose="02010600030101010101" pitchFamily="2" charset="-122"/>
              </a:rPr>
              <a:t>   F</a:t>
            </a:r>
            <a:r>
              <a:rPr lang="en-US" altLang="zh-CN" sz="2400" b="1" baseline="-25000"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7</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6</a:t>
            </a:r>
            <a:r>
              <a:rPr lang="zh-CN" altLang="en-US" sz="2400" b="1" dirty="0">
                <a:latin typeface="等线" panose="02010600030101010101" pitchFamily="2" charset="-122"/>
                <a:ea typeface="等线" panose="02010600030101010101" pitchFamily="2" charset="-122"/>
              </a:rPr>
              <a:t>級，</a:t>
            </a:r>
            <a:r>
              <a:rPr lang="en-US" altLang="zh-CN" sz="2400" b="1" dirty="0">
                <a:solidFill>
                  <a:srgbClr val="FF0000"/>
                </a:solidFill>
                <a:latin typeface="等线" panose="02010600030101010101" pitchFamily="2" charset="-122"/>
                <a:ea typeface="等线" panose="02010600030101010101" pitchFamily="2" charset="-122"/>
              </a:rPr>
              <a:t>F</a:t>
            </a:r>
            <a:r>
              <a:rPr lang="en-US" altLang="zh-CN" sz="2400" b="1" baseline="-25000" dirty="0">
                <a:solidFill>
                  <a:srgbClr val="FF0000"/>
                </a:solidFill>
                <a:latin typeface="等线" panose="02010600030101010101" pitchFamily="2" charset="-122"/>
                <a:ea typeface="等线" panose="02010600030101010101" pitchFamily="2" charset="-122"/>
              </a:rPr>
              <a:t>4</a:t>
            </a:r>
            <a:r>
              <a:rPr lang="zh-CN" altLang="en-US" sz="2400" b="1" dirty="0">
                <a:solidFill>
                  <a:srgbClr val="FF0000"/>
                </a:solidFill>
                <a:latin typeface="等线" panose="02010600030101010101" pitchFamily="2" charset="-122"/>
                <a:ea typeface="等线" panose="02010600030101010101" pitchFamily="2" charset="-122"/>
              </a:rPr>
              <a:t>需要</a:t>
            </a:r>
            <a:r>
              <a:rPr lang="en-US" altLang="zh-CN" sz="2400" b="1" dirty="0">
                <a:solidFill>
                  <a:srgbClr val="FF0000"/>
                </a:solidFill>
                <a:latin typeface="等线" panose="02010600030101010101" pitchFamily="2" charset="-122"/>
                <a:ea typeface="等线" panose="02010600030101010101" pitchFamily="2" charset="-122"/>
              </a:rPr>
              <a:t>9</a:t>
            </a:r>
            <a:r>
              <a:rPr lang="zh-CN" altLang="en-US" sz="2400" b="1" dirty="0">
                <a:solidFill>
                  <a:srgbClr val="FF0000"/>
                </a:solidFill>
                <a:latin typeface="等线" panose="02010600030101010101" pitchFamily="2" charset="-122"/>
                <a:ea typeface="等线" panose="02010600030101010101" pitchFamily="2" charset="-122"/>
              </a:rPr>
              <a:t>級，</a:t>
            </a:r>
            <a:r>
              <a:rPr lang="en-US" altLang="zh-CN" sz="2400" b="1" dirty="0">
                <a:solidFill>
                  <a:srgbClr val="FF0000"/>
                </a:solidFill>
                <a:latin typeface="等线" panose="02010600030101010101" pitchFamily="2" charset="-122"/>
                <a:ea typeface="等线" panose="02010600030101010101" pitchFamily="2" charset="-122"/>
              </a:rPr>
              <a:t>C</a:t>
            </a:r>
            <a:r>
              <a:rPr lang="en-US" altLang="zh-CN" sz="2400" b="1" baseline="-25000" dirty="0">
                <a:solidFill>
                  <a:srgbClr val="FF0000"/>
                </a:solidFill>
                <a:latin typeface="等线" panose="02010600030101010101" pitchFamily="2" charset="-122"/>
                <a:ea typeface="等线" panose="02010600030101010101" pitchFamily="2" charset="-122"/>
              </a:rPr>
              <a:t>4</a:t>
            </a:r>
            <a:r>
              <a:rPr lang="zh-CN" altLang="en-US" sz="2400" b="1" dirty="0">
                <a:solidFill>
                  <a:srgbClr val="FF0000"/>
                </a:solidFill>
                <a:latin typeface="等线" panose="02010600030101010101" pitchFamily="2" charset="-122"/>
                <a:ea typeface="等线" panose="02010600030101010101" pitchFamily="2" charset="-122"/>
              </a:rPr>
              <a:t>需要</a:t>
            </a:r>
            <a:r>
              <a:rPr lang="en-US" altLang="zh-CN" sz="2400" b="1" dirty="0">
                <a:solidFill>
                  <a:srgbClr val="FF0000"/>
                </a:solidFill>
                <a:latin typeface="等线" panose="02010600030101010101" pitchFamily="2" charset="-122"/>
                <a:ea typeface="等线" panose="02010600030101010101" pitchFamily="2" charset="-122"/>
              </a:rPr>
              <a:t>8</a:t>
            </a:r>
            <a:r>
              <a:rPr lang="zh-CN" altLang="en-US" sz="2400" b="1" dirty="0">
                <a:solidFill>
                  <a:srgbClr val="FF0000"/>
                </a:solidFill>
                <a:latin typeface="等线" panose="02010600030101010101" pitchFamily="2" charset="-122"/>
                <a:ea typeface="等线" panose="02010600030101010101" pitchFamily="2" charset="-122"/>
              </a:rPr>
              <a:t>級。</a:t>
            </a:r>
          </a:p>
        </p:txBody>
      </p:sp>
    </p:spTree>
    <p:extLst>
      <p:ext uri="{BB962C8B-B14F-4D97-AF65-F5344CB8AC3E}">
        <p14:creationId xmlns:p14="http://schemas.microsoft.com/office/powerpoint/2010/main" val="33977899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2566"/>
                                        </p:tgtEl>
                                        <p:attrNameLst>
                                          <p:attrName>style.visibility</p:attrName>
                                        </p:attrNameLst>
                                      </p:cBhvr>
                                      <p:to>
                                        <p:strVal val="visible"/>
                                      </p:to>
                                    </p:set>
                                    <p:anim calcmode="lin" valueType="num">
                                      <p:cBhvr additive="base">
                                        <p:cTn id="7" dur="500" fill="hold"/>
                                        <p:tgtEl>
                                          <p:spTgt spid="362566"/>
                                        </p:tgtEl>
                                        <p:attrNameLst>
                                          <p:attrName>ppt_x</p:attrName>
                                        </p:attrNameLst>
                                      </p:cBhvr>
                                      <p:tavLst>
                                        <p:tav tm="0">
                                          <p:val>
                                            <p:strVal val="0-#ppt_w/2"/>
                                          </p:val>
                                        </p:tav>
                                        <p:tav tm="100000">
                                          <p:val>
                                            <p:strVal val="#ppt_x"/>
                                          </p:val>
                                        </p:tav>
                                      </p:tavLst>
                                    </p:anim>
                                    <p:anim calcmode="lin" valueType="num">
                                      <p:cBhvr additive="base">
                                        <p:cTn id="8" dur="500" fill="hold"/>
                                        <p:tgtEl>
                                          <p:spTgt spid="3625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6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914400" y="-171400"/>
            <a:ext cx="7772400" cy="1143000"/>
          </a:xfrm>
        </p:spPr>
        <p:txBody>
          <a:bodyPr/>
          <a:lstStyle/>
          <a:p>
            <a:r>
              <a:rPr lang="en-US" altLang="zh-CN" sz="3600" dirty="0"/>
              <a:t>3.3.7   </a:t>
            </a:r>
            <a:r>
              <a:rPr lang="zh-CN" altLang="en-US" sz="3600" dirty="0"/>
              <a:t>運算器</a:t>
            </a:r>
            <a:endParaRPr lang="en-US" altLang="zh-CN" sz="3600" dirty="0"/>
          </a:p>
        </p:txBody>
      </p:sp>
      <p:sp>
        <p:nvSpPr>
          <p:cNvPr id="10" name="灯片编号占位符 6"/>
          <p:cNvSpPr>
            <a:spLocks noGrp="1"/>
          </p:cNvSpPr>
          <p:nvPr>
            <p:ph type="sldNum" sz="quarter" idx="12"/>
          </p:nvPr>
        </p:nvSpPr>
        <p:spPr/>
        <p:txBody>
          <a:bodyPr/>
          <a:lstStyle/>
          <a:p>
            <a:fld id="{C2727415-6800-490B-A5D8-C52007053D19}" type="slidenum">
              <a:rPr lang="en-US" altLang="zh-CN"/>
              <a:pPr/>
              <a:t>20</a:t>
            </a:fld>
            <a:endParaRPr lang="en-US" altLang="zh-CN" dirty="0"/>
          </a:p>
        </p:txBody>
      </p:sp>
      <p:graphicFrame>
        <p:nvGraphicFramePr>
          <p:cNvPr id="359427" name="Object 3"/>
          <p:cNvGraphicFramePr>
            <a:graphicFrameLocks noGrp="1" noChangeAspect="1"/>
          </p:cNvGraphicFramePr>
          <p:nvPr>
            <p:ph sz="quarter" idx="1"/>
          </p:nvPr>
        </p:nvGraphicFramePr>
        <p:xfrm>
          <a:off x="1112838" y="1447800"/>
          <a:ext cx="3352800" cy="4570413"/>
        </p:xfrm>
        <a:graphic>
          <a:graphicData uri="http://schemas.openxmlformats.org/presentationml/2006/ole">
            <mc:AlternateContent xmlns:mc="http://schemas.openxmlformats.org/markup-compatibility/2006">
              <mc:Choice xmlns:v="urn:schemas-microsoft-com:vml" Requires="v">
                <p:oleObj name="Image" r:id="rId2" imgW="5123265" imgH="6984490" progId="">
                  <p:embed/>
                </p:oleObj>
              </mc:Choice>
              <mc:Fallback>
                <p:oleObj name="Image" r:id="rId2" imgW="5123265" imgH="6984490" progId="">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838" y="1447800"/>
                        <a:ext cx="3352800" cy="4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9428" name="Object 4"/>
          <p:cNvGraphicFramePr>
            <a:graphicFrameLocks noGrp="1" noChangeAspect="1"/>
          </p:cNvGraphicFramePr>
          <p:nvPr>
            <p:ph sz="quarter" idx="2"/>
          </p:nvPr>
        </p:nvGraphicFramePr>
        <p:xfrm>
          <a:off x="5141913" y="1447800"/>
          <a:ext cx="3333750" cy="4570413"/>
        </p:xfrm>
        <a:graphic>
          <a:graphicData uri="http://schemas.openxmlformats.org/presentationml/2006/ole">
            <mc:AlternateContent xmlns:mc="http://schemas.openxmlformats.org/markup-compatibility/2006">
              <mc:Choice xmlns:v="urn:schemas-microsoft-com:vml" Requires="v">
                <p:oleObj name="Image" r:id="rId4" imgW="5309388" imgH="7278367" progId="">
                  <p:embed/>
                </p:oleObj>
              </mc:Choice>
              <mc:Fallback>
                <p:oleObj name="Image" r:id="rId4" imgW="5309388" imgH="7278367" progId="">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1913" y="1447800"/>
                        <a:ext cx="3333750" cy="4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9429" name="Rectangle 5"/>
          <p:cNvSpPr>
            <a:spLocks noChangeArrowheads="1"/>
          </p:cNvSpPr>
          <p:nvPr/>
        </p:nvSpPr>
        <p:spPr bwMode="auto">
          <a:xfrm>
            <a:off x="838200" y="5943600"/>
            <a:ext cx="36215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err="1">
                <a:latin typeface="等线" panose="02010600030101010101" pitchFamily="2" charset="-122"/>
                <a:ea typeface="等线" panose="02010600030101010101" pitchFamily="2" charset="-122"/>
              </a:rPr>
              <a:t>Cn</a:t>
            </a:r>
            <a:r>
              <a:rPr lang="zh-CN" altLang="en-US" sz="2400" dirty="0">
                <a:latin typeface="等线" panose="02010600030101010101" pitchFamily="2" charset="-122"/>
                <a:ea typeface="等线" panose="02010600030101010101" pitchFamily="2" charset="-122"/>
              </a:rPr>
              <a:t>的形成需要</a:t>
            </a:r>
            <a:r>
              <a:rPr lang="zh-CN" altLang="en-US" sz="2400" b="1" dirty="0">
                <a:solidFill>
                  <a:srgbClr val="FF0000"/>
                </a:solidFill>
                <a:latin typeface="等线" panose="02010600030101010101" pitchFamily="2" charset="-122"/>
                <a:ea typeface="等线" panose="02010600030101010101" pitchFamily="2" charset="-122"/>
              </a:rPr>
              <a:t>二</a:t>
            </a:r>
            <a:r>
              <a:rPr lang="zh-CN" altLang="en-US" sz="2400" dirty="0">
                <a:latin typeface="等线" panose="02010600030101010101" pitchFamily="2" charset="-122"/>
                <a:ea typeface="等线" panose="02010600030101010101" pitchFamily="2" charset="-122"/>
              </a:rPr>
              <a:t>級門延遲</a:t>
            </a:r>
          </a:p>
          <a:p>
            <a:r>
              <a:rPr lang="en-US" altLang="zh-CN" sz="2400" dirty="0" err="1">
                <a:latin typeface="等线" panose="02010600030101010101" pitchFamily="2" charset="-122"/>
                <a:ea typeface="等线" panose="02010600030101010101" pitchFamily="2" charset="-122"/>
              </a:rPr>
              <a:t>Fn</a:t>
            </a:r>
            <a:r>
              <a:rPr lang="zh-CN" altLang="en-US" sz="2400" dirty="0">
                <a:latin typeface="等线" panose="02010600030101010101" pitchFamily="2" charset="-122"/>
                <a:ea typeface="等线" panose="02010600030101010101" pitchFamily="2" charset="-122"/>
              </a:rPr>
              <a:t>的形成需要</a:t>
            </a:r>
            <a:r>
              <a:rPr lang="zh-CN" altLang="en-US" sz="2400" b="1" dirty="0">
                <a:solidFill>
                  <a:srgbClr val="FF0000"/>
                </a:solidFill>
                <a:latin typeface="等线" panose="02010600030101010101" pitchFamily="2" charset="-122"/>
                <a:ea typeface="等线" panose="02010600030101010101" pitchFamily="2" charset="-122"/>
              </a:rPr>
              <a:t>三</a:t>
            </a:r>
            <a:r>
              <a:rPr lang="zh-CN" altLang="en-US" sz="2400" dirty="0">
                <a:latin typeface="等线" panose="02010600030101010101" pitchFamily="2" charset="-122"/>
                <a:ea typeface="等线" panose="02010600030101010101" pitchFamily="2" charset="-122"/>
              </a:rPr>
              <a:t>級門延遲</a:t>
            </a:r>
          </a:p>
        </p:txBody>
      </p:sp>
      <p:sp>
        <p:nvSpPr>
          <p:cNvPr id="359430" name="Rectangle 6"/>
          <p:cNvSpPr>
            <a:spLocks noChangeArrowheads="1"/>
          </p:cNvSpPr>
          <p:nvPr/>
        </p:nvSpPr>
        <p:spPr bwMode="auto">
          <a:xfrm>
            <a:off x="5105400" y="5943600"/>
            <a:ext cx="362310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err="1">
                <a:latin typeface="等线" panose="02010600030101010101" pitchFamily="2" charset="-122"/>
                <a:ea typeface="等线" panose="02010600030101010101" pitchFamily="2" charset="-122"/>
              </a:rPr>
              <a:t>Cn</a:t>
            </a:r>
            <a:r>
              <a:rPr lang="zh-CN" altLang="en-US" sz="2400" dirty="0">
                <a:latin typeface="等线" panose="02010600030101010101" pitchFamily="2" charset="-122"/>
                <a:ea typeface="等线" panose="02010600030101010101" pitchFamily="2" charset="-122"/>
              </a:rPr>
              <a:t>的形成需要</a:t>
            </a:r>
            <a:r>
              <a:rPr lang="zh-CN" altLang="en-US" sz="2400" b="1" dirty="0">
                <a:solidFill>
                  <a:srgbClr val="FF0000"/>
                </a:solidFill>
                <a:latin typeface="等线" panose="02010600030101010101" pitchFamily="2" charset="-122"/>
                <a:ea typeface="等线" panose="02010600030101010101" pitchFamily="2" charset="-122"/>
              </a:rPr>
              <a:t>二</a:t>
            </a:r>
            <a:r>
              <a:rPr lang="zh-CN" altLang="en-US" sz="2400" dirty="0">
                <a:latin typeface="等线" panose="02010600030101010101" pitchFamily="2" charset="-122"/>
                <a:ea typeface="等线" panose="02010600030101010101" pitchFamily="2" charset="-122"/>
              </a:rPr>
              <a:t>級門延遲</a:t>
            </a:r>
          </a:p>
          <a:p>
            <a:r>
              <a:rPr lang="en-US" altLang="zh-CN" sz="2400" dirty="0" err="1">
                <a:latin typeface="等线" panose="02010600030101010101" pitchFamily="2" charset="-122"/>
                <a:ea typeface="等线" panose="02010600030101010101" pitchFamily="2" charset="-122"/>
              </a:rPr>
              <a:t>Fn</a:t>
            </a:r>
            <a:r>
              <a:rPr lang="zh-CN" altLang="en-US" sz="2400" dirty="0">
                <a:latin typeface="等线" panose="02010600030101010101" pitchFamily="2" charset="-122"/>
                <a:ea typeface="等线" panose="02010600030101010101" pitchFamily="2" charset="-122"/>
              </a:rPr>
              <a:t>的形成需要</a:t>
            </a:r>
            <a:r>
              <a:rPr lang="zh-CN" altLang="en-US" sz="2400" b="1" dirty="0">
                <a:solidFill>
                  <a:srgbClr val="FF0000"/>
                </a:solidFill>
                <a:latin typeface="等线" panose="02010600030101010101" pitchFamily="2" charset="-122"/>
                <a:ea typeface="等线" panose="02010600030101010101" pitchFamily="2" charset="-122"/>
              </a:rPr>
              <a:t>三</a:t>
            </a:r>
            <a:r>
              <a:rPr lang="zh-CN" altLang="en-US" sz="2400" dirty="0">
                <a:latin typeface="等线" panose="02010600030101010101" pitchFamily="2" charset="-122"/>
                <a:ea typeface="等线" panose="02010600030101010101" pitchFamily="2" charset="-122"/>
              </a:rPr>
              <a:t>級門延遲</a:t>
            </a:r>
          </a:p>
        </p:txBody>
      </p:sp>
      <p:sp>
        <p:nvSpPr>
          <p:cNvPr id="359431" name="Rectangle 7"/>
          <p:cNvSpPr>
            <a:spLocks noChangeArrowheads="1"/>
          </p:cNvSpPr>
          <p:nvPr/>
        </p:nvSpPr>
        <p:spPr bwMode="auto">
          <a:xfrm>
            <a:off x="685800" y="1001762"/>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b="1" dirty="0">
                <a:latin typeface="等线" panose="02010600030101010101" pitchFamily="2" charset="-122"/>
                <a:ea typeface="等线" panose="02010600030101010101" pitchFamily="2" charset="-122"/>
              </a:rPr>
              <a:t>四種形式的全加器（</a:t>
            </a:r>
            <a:r>
              <a:rPr lang="en-US" altLang="zh-CN" sz="3200" b="1" dirty="0">
                <a:latin typeface="等线" panose="02010600030101010101" pitchFamily="2" charset="-122"/>
                <a:ea typeface="等线" panose="02010600030101010101" pitchFamily="2" charset="-122"/>
              </a:rPr>
              <a:t>3</a:t>
            </a:r>
            <a:r>
              <a:rPr lang="zh-CN" altLang="en-US" sz="3200" b="1" dirty="0">
                <a:latin typeface="等线" panose="02010600030101010101" pitchFamily="2" charset="-122"/>
                <a:ea typeface="等线" panose="02010600030101010101" pitchFamily="2" charset="-122"/>
              </a:rPr>
              <a:t>）</a:t>
            </a:r>
          </a:p>
        </p:txBody>
      </p:sp>
      <p:sp>
        <p:nvSpPr>
          <p:cNvPr id="9" name="TextBox 8"/>
          <p:cNvSpPr txBox="1"/>
          <p:nvPr/>
        </p:nvSpPr>
        <p:spPr>
          <a:xfrm>
            <a:off x="1134050" y="4725144"/>
            <a:ext cx="7016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zh-CN" dirty="0"/>
              <a:t>(c)</a:t>
            </a:r>
            <a:endParaRPr lang="zh-CN" altLang="en-US" dirty="0"/>
          </a:p>
        </p:txBody>
      </p:sp>
      <p:sp>
        <p:nvSpPr>
          <p:cNvPr id="11" name="TextBox 10"/>
          <p:cNvSpPr txBox="1"/>
          <p:nvPr/>
        </p:nvSpPr>
        <p:spPr>
          <a:xfrm>
            <a:off x="5076056" y="4725144"/>
            <a:ext cx="7016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zh-CN" dirty="0"/>
              <a:t>(d)</a:t>
            </a:r>
            <a:endParaRPr lang="zh-CN" altLang="en-US" dirty="0"/>
          </a:p>
        </p:txBody>
      </p:sp>
      <p:sp>
        <p:nvSpPr>
          <p:cNvPr id="12" name="矩形 11"/>
          <p:cNvSpPr/>
          <p:nvPr/>
        </p:nvSpPr>
        <p:spPr>
          <a:xfrm>
            <a:off x="2483768" y="3309432"/>
            <a:ext cx="3888431"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等线" panose="02010600030101010101" pitchFamily="2" charset="-122"/>
                <a:ea typeface="等线" panose="02010600030101010101" pitchFamily="2" charset="-122"/>
              </a:rPr>
              <a:t>(c)</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(d)</a:t>
            </a:r>
            <a:r>
              <a:rPr lang="zh-CN" altLang="en-US" b="1" dirty="0">
                <a:latin typeface="等线" panose="02010600030101010101" pitchFamily="2" charset="-122"/>
                <a:ea typeface="等线" panose="02010600030101010101" pitchFamily="2" charset="-122"/>
              </a:rPr>
              <a:t>交叉串聯更快！</a:t>
            </a:r>
          </a:p>
        </p:txBody>
      </p:sp>
    </p:spTree>
    <p:extLst>
      <p:ext uri="{BB962C8B-B14F-4D97-AF65-F5344CB8AC3E}">
        <p14:creationId xmlns:p14="http://schemas.microsoft.com/office/powerpoint/2010/main" val="150250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78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60000">
            <a:off x="107504" y="2642580"/>
            <a:ext cx="8928992" cy="315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r>
              <a:rPr lang="zh-CN" altLang="en-US" dirty="0"/>
              <a:t>集成</a:t>
            </a:r>
            <a:r>
              <a:rPr lang="en-US" altLang="zh-CN" dirty="0"/>
              <a:t>4</a:t>
            </a:r>
            <a:r>
              <a:rPr lang="zh-CN" altLang="en-US" dirty="0"/>
              <a:t>位元串列進位元加法器</a:t>
            </a:r>
          </a:p>
        </p:txBody>
      </p:sp>
      <p:sp>
        <p:nvSpPr>
          <p:cNvPr id="3" name="灯片编号占位符 2"/>
          <p:cNvSpPr>
            <a:spLocks noGrp="1"/>
          </p:cNvSpPr>
          <p:nvPr>
            <p:ph type="sldNum" sz="quarter" idx="12"/>
          </p:nvPr>
        </p:nvSpPr>
        <p:spPr/>
        <p:txBody>
          <a:bodyPr/>
          <a:lstStyle/>
          <a:p>
            <a:fld id="{DE62D0AB-BF6E-4BE0-85BF-D4430B89A161}" type="slidenum">
              <a:rPr lang="en-US" altLang="zh-CN" smtClean="0"/>
              <a:pPr/>
              <a:t>21</a:t>
            </a:fld>
            <a:endParaRPr lang="en-US" altLang="zh-CN" dirty="0"/>
          </a:p>
        </p:txBody>
      </p:sp>
      <p:sp>
        <p:nvSpPr>
          <p:cNvPr id="5" name="TextBox 4"/>
          <p:cNvSpPr txBox="1"/>
          <p:nvPr/>
        </p:nvSpPr>
        <p:spPr>
          <a:xfrm>
            <a:off x="683568" y="1661899"/>
            <a:ext cx="7704856" cy="830997"/>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(c)</a:t>
            </a:r>
            <a:r>
              <a:rPr lang="zh-CN" altLang="en-US"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(d)</a:t>
            </a:r>
            <a:r>
              <a:rPr lang="zh-CN" altLang="en-US" dirty="0">
                <a:latin typeface="等线" panose="02010600030101010101" pitchFamily="2" charset="-122"/>
                <a:ea typeface="等线" panose="02010600030101010101" pitchFamily="2" charset="-122"/>
              </a:rPr>
              <a:t>兩種一位加法器交叉串聯，</a:t>
            </a:r>
            <a:r>
              <a:rPr lang="en-US" altLang="zh-CN" dirty="0">
                <a:latin typeface="等线" panose="02010600030101010101" pitchFamily="2" charset="-122"/>
                <a:ea typeface="等线" panose="02010600030101010101" pitchFamily="2" charset="-122"/>
              </a:rPr>
              <a:t>C4</a:t>
            </a:r>
            <a:r>
              <a:rPr lang="zh-CN" altLang="en-US"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F4</a:t>
            </a:r>
            <a:r>
              <a:rPr lang="zh-CN" altLang="en-US" dirty="0">
                <a:latin typeface="等线" panose="02010600030101010101" pitchFamily="2" charset="-122"/>
                <a:ea typeface="等线" panose="02010600030101010101" pitchFamily="2" charset="-122"/>
              </a:rPr>
              <a:t>經</a:t>
            </a:r>
            <a:r>
              <a:rPr lang="en-US" altLang="zh-CN" dirty="0">
                <a:latin typeface="等线" panose="02010600030101010101" pitchFamily="2" charset="-122"/>
                <a:ea typeface="等线" panose="02010600030101010101" pitchFamily="2" charset="-122"/>
              </a:rPr>
              <a:t>4</a:t>
            </a:r>
            <a:r>
              <a:rPr lang="zh-CN" altLang="en-US" dirty="0">
                <a:latin typeface="等线" panose="02010600030101010101" pitchFamily="2" charset="-122"/>
                <a:ea typeface="等线" panose="02010600030101010101" pitchFamily="2" charset="-122"/>
              </a:rPr>
              <a:t>級門延遲生成，不僅提高了速度，還節省了門的數量！</a:t>
            </a:r>
          </a:p>
        </p:txBody>
      </p:sp>
      <p:sp>
        <p:nvSpPr>
          <p:cNvPr id="6" name="Rectangle 70"/>
          <p:cNvSpPr>
            <a:spLocks noChangeArrowheads="1"/>
          </p:cNvSpPr>
          <p:nvPr/>
        </p:nvSpPr>
        <p:spPr bwMode="auto">
          <a:xfrm>
            <a:off x="762000" y="5734050"/>
            <a:ext cx="7460697"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folHlink"/>
              </a:buClr>
              <a:buFont typeface="Wingdings" pitchFamily="2" charset="2"/>
              <a:buChar char="l"/>
            </a:pPr>
            <a:r>
              <a:rPr lang="en-US" altLang="zh-CN" sz="2400" b="1" dirty="0">
                <a:latin typeface="等线" panose="02010600030101010101" pitchFamily="2" charset="-122"/>
                <a:ea typeface="等线" panose="02010600030101010101" pitchFamily="2" charset="-122"/>
              </a:rPr>
              <a:t>F</a:t>
            </a:r>
            <a:r>
              <a:rPr lang="en-US" altLang="zh-CN" sz="2000" b="1" baseline="-25000"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需要</a:t>
            </a:r>
            <a:r>
              <a:rPr lang="en-US" altLang="zh-CN"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000" b="1" baseline="-25000"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需要</a:t>
            </a:r>
            <a:r>
              <a:rPr lang="en-US" altLang="zh-CN"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級，</a:t>
            </a:r>
          </a:p>
          <a:p>
            <a:pPr>
              <a:spcBef>
                <a:spcPct val="20000"/>
              </a:spcBef>
              <a:buClr>
                <a:schemeClr val="folHlink"/>
              </a:buClr>
              <a:buFont typeface="Wingdings" pitchFamily="2" charset="2"/>
              <a:buNone/>
            </a:pPr>
            <a:r>
              <a:rPr lang="en-US" altLang="zh-CN" sz="2400" b="1" dirty="0">
                <a:latin typeface="等线" panose="02010600030101010101" pitchFamily="2" charset="-122"/>
                <a:ea typeface="等线" panose="02010600030101010101" pitchFamily="2" charset="-122"/>
              </a:rPr>
              <a:t>   F</a:t>
            </a:r>
            <a:r>
              <a:rPr lang="en-US" altLang="zh-CN" sz="2400" b="1" baseline="-25000"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需要</a:t>
            </a:r>
            <a:r>
              <a:rPr lang="en-US" altLang="zh-CN" b="1" dirty="0">
                <a:latin typeface="等线" panose="02010600030101010101" pitchFamily="2" charset="-122"/>
                <a:ea typeface="等线" panose="02010600030101010101" pitchFamily="2" charset="-122"/>
              </a:rPr>
              <a:t>5</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需要</a:t>
            </a:r>
            <a:r>
              <a:rPr lang="en-US" altLang="zh-CN" sz="2400" b="1" dirty="0">
                <a:latin typeface="等线" panose="02010600030101010101" pitchFamily="2" charset="-122"/>
                <a:ea typeface="等线" panose="02010600030101010101" pitchFamily="2" charset="-122"/>
              </a:rPr>
              <a:t>4</a:t>
            </a:r>
            <a:r>
              <a:rPr lang="zh-CN" altLang="en-US" sz="2400" b="1" dirty="0">
                <a:latin typeface="等线" panose="02010600030101010101" pitchFamily="2" charset="-122"/>
                <a:ea typeface="等线" panose="02010600030101010101" pitchFamily="2" charset="-122"/>
              </a:rPr>
              <a:t>級，</a:t>
            </a:r>
            <a:r>
              <a:rPr lang="en-US" altLang="zh-CN" sz="2400" b="1" dirty="0">
                <a:solidFill>
                  <a:srgbClr val="FF0000"/>
                </a:solidFill>
                <a:latin typeface="等线" panose="02010600030101010101" pitchFamily="2" charset="-122"/>
                <a:ea typeface="等线" panose="02010600030101010101" pitchFamily="2" charset="-122"/>
              </a:rPr>
              <a:t>F</a:t>
            </a:r>
            <a:r>
              <a:rPr lang="en-US" altLang="zh-CN" sz="2400" b="1" baseline="-25000" dirty="0">
                <a:solidFill>
                  <a:srgbClr val="FF0000"/>
                </a:solidFill>
                <a:latin typeface="等线" panose="02010600030101010101" pitchFamily="2" charset="-122"/>
                <a:ea typeface="等线" panose="02010600030101010101" pitchFamily="2" charset="-122"/>
              </a:rPr>
              <a:t>4</a:t>
            </a:r>
            <a:r>
              <a:rPr lang="zh-CN" altLang="en-US" sz="2400" b="1" dirty="0">
                <a:solidFill>
                  <a:srgbClr val="FF0000"/>
                </a:solidFill>
                <a:latin typeface="等线" panose="02010600030101010101" pitchFamily="2" charset="-122"/>
                <a:ea typeface="等线" panose="02010600030101010101" pitchFamily="2" charset="-122"/>
              </a:rPr>
              <a:t>需要</a:t>
            </a:r>
            <a:r>
              <a:rPr lang="en-US" altLang="zh-CN" b="1" dirty="0">
                <a:solidFill>
                  <a:srgbClr val="FF0000"/>
                </a:solidFill>
                <a:latin typeface="等线" panose="02010600030101010101" pitchFamily="2" charset="-122"/>
                <a:ea typeface="等线" panose="02010600030101010101" pitchFamily="2" charset="-122"/>
              </a:rPr>
              <a:t>5</a:t>
            </a:r>
            <a:r>
              <a:rPr lang="zh-CN" altLang="en-US" sz="2400" b="1" dirty="0">
                <a:solidFill>
                  <a:srgbClr val="FF0000"/>
                </a:solidFill>
                <a:latin typeface="等线" panose="02010600030101010101" pitchFamily="2" charset="-122"/>
                <a:ea typeface="等线" panose="02010600030101010101" pitchFamily="2" charset="-122"/>
              </a:rPr>
              <a:t>級，</a:t>
            </a:r>
            <a:r>
              <a:rPr lang="en-US" altLang="zh-CN" sz="2400" b="1" dirty="0">
                <a:solidFill>
                  <a:srgbClr val="FF0000"/>
                </a:solidFill>
                <a:latin typeface="等线" panose="02010600030101010101" pitchFamily="2" charset="-122"/>
                <a:ea typeface="等线" panose="02010600030101010101" pitchFamily="2" charset="-122"/>
              </a:rPr>
              <a:t>C</a:t>
            </a:r>
            <a:r>
              <a:rPr lang="en-US" altLang="zh-CN" sz="2400" b="1" baseline="-25000" dirty="0">
                <a:solidFill>
                  <a:srgbClr val="FF0000"/>
                </a:solidFill>
                <a:latin typeface="等线" panose="02010600030101010101" pitchFamily="2" charset="-122"/>
                <a:ea typeface="等线" panose="02010600030101010101" pitchFamily="2" charset="-122"/>
              </a:rPr>
              <a:t>4</a:t>
            </a:r>
            <a:r>
              <a:rPr lang="zh-CN" altLang="en-US" sz="2400" b="1" dirty="0">
                <a:solidFill>
                  <a:srgbClr val="FF0000"/>
                </a:solidFill>
                <a:latin typeface="等线" panose="02010600030101010101" pitchFamily="2" charset="-122"/>
                <a:ea typeface="等线" panose="02010600030101010101" pitchFamily="2" charset="-122"/>
              </a:rPr>
              <a:t>需要</a:t>
            </a:r>
            <a:r>
              <a:rPr lang="en-US" altLang="zh-CN" sz="2400" b="1" dirty="0">
                <a:solidFill>
                  <a:srgbClr val="FF0000"/>
                </a:solidFill>
                <a:latin typeface="等线" panose="02010600030101010101" pitchFamily="2" charset="-122"/>
                <a:ea typeface="等线" panose="02010600030101010101" pitchFamily="2" charset="-122"/>
              </a:rPr>
              <a:t>4</a:t>
            </a:r>
            <a:r>
              <a:rPr lang="zh-CN" altLang="en-US" sz="2400" b="1" dirty="0">
                <a:solidFill>
                  <a:srgbClr val="FF0000"/>
                </a:solidFill>
                <a:latin typeface="等线" panose="02010600030101010101" pitchFamily="2" charset="-122"/>
                <a:ea typeface="等线" panose="02010600030101010101" pitchFamily="2" charset="-122"/>
              </a:rPr>
              <a:t>級。</a:t>
            </a:r>
          </a:p>
        </p:txBody>
      </p:sp>
      <p:sp>
        <p:nvSpPr>
          <p:cNvPr id="7" name="等腰三角形 6"/>
          <p:cNvSpPr/>
          <p:nvPr/>
        </p:nvSpPr>
        <p:spPr>
          <a:xfrm>
            <a:off x="762000" y="4725144"/>
            <a:ext cx="530352" cy="694929"/>
          </a:xfrm>
          <a:prstGeom prst="triangl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dirty="0"/>
              <a:t>4</a:t>
            </a:r>
            <a:endParaRPr lang="zh-CN" altLang="en-US" dirty="0"/>
          </a:p>
        </p:txBody>
      </p:sp>
      <p:sp>
        <p:nvSpPr>
          <p:cNvPr id="12" name="等腰三角形 11"/>
          <p:cNvSpPr/>
          <p:nvPr/>
        </p:nvSpPr>
        <p:spPr>
          <a:xfrm>
            <a:off x="2843808" y="4725144"/>
            <a:ext cx="530352" cy="694929"/>
          </a:xfrm>
          <a:prstGeom prst="triangl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dirty="0"/>
              <a:t>3</a:t>
            </a:r>
            <a:endParaRPr lang="zh-CN" altLang="en-US" dirty="0"/>
          </a:p>
        </p:txBody>
      </p:sp>
      <p:sp>
        <p:nvSpPr>
          <p:cNvPr id="13" name="等腰三角形 12"/>
          <p:cNvSpPr/>
          <p:nvPr/>
        </p:nvSpPr>
        <p:spPr>
          <a:xfrm>
            <a:off x="5076056" y="4725144"/>
            <a:ext cx="530352" cy="694929"/>
          </a:xfrm>
          <a:prstGeom prst="triangl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dirty="0"/>
              <a:t>2</a:t>
            </a:r>
            <a:endParaRPr lang="zh-CN" altLang="en-US" dirty="0"/>
          </a:p>
        </p:txBody>
      </p:sp>
      <p:sp>
        <p:nvSpPr>
          <p:cNvPr id="14" name="等腰三角形 13"/>
          <p:cNvSpPr/>
          <p:nvPr/>
        </p:nvSpPr>
        <p:spPr>
          <a:xfrm>
            <a:off x="7308304" y="4725144"/>
            <a:ext cx="530352" cy="694929"/>
          </a:xfrm>
          <a:prstGeom prst="triangl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dirty="0"/>
              <a:t>1</a:t>
            </a:r>
            <a:endParaRPr lang="zh-CN" altLang="en-US" dirty="0"/>
          </a:p>
        </p:txBody>
      </p:sp>
      <p:sp>
        <p:nvSpPr>
          <p:cNvPr id="11" name="椭圆 10"/>
          <p:cNvSpPr/>
          <p:nvPr/>
        </p:nvSpPr>
        <p:spPr>
          <a:xfrm>
            <a:off x="7236296" y="2924944"/>
            <a:ext cx="720080"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zh-CN" altLang="en-US" dirty="0"/>
          </a:p>
        </p:txBody>
      </p:sp>
      <p:sp>
        <p:nvSpPr>
          <p:cNvPr id="16" name="椭圆 15"/>
          <p:cNvSpPr/>
          <p:nvPr/>
        </p:nvSpPr>
        <p:spPr>
          <a:xfrm>
            <a:off x="5076056" y="2924944"/>
            <a:ext cx="720080"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sp>
        <p:nvSpPr>
          <p:cNvPr id="17" name="椭圆 16"/>
          <p:cNvSpPr/>
          <p:nvPr/>
        </p:nvSpPr>
        <p:spPr>
          <a:xfrm>
            <a:off x="2883002" y="2924944"/>
            <a:ext cx="720080"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zh-CN" altLang="en-US" dirty="0"/>
          </a:p>
        </p:txBody>
      </p:sp>
      <p:sp>
        <p:nvSpPr>
          <p:cNvPr id="18" name="椭圆 17"/>
          <p:cNvSpPr/>
          <p:nvPr/>
        </p:nvSpPr>
        <p:spPr>
          <a:xfrm>
            <a:off x="722762" y="2924944"/>
            <a:ext cx="720080"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18FB239-6F24-42A3-939D-D3CFBF4C9C32}"/>
                  </a:ext>
                </a:extLst>
              </p:cNvPr>
              <p:cNvSpPr txBox="1"/>
              <p:nvPr/>
            </p:nvSpPr>
            <p:spPr>
              <a:xfrm>
                <a:off x="7168041" y="4816900"/>
                <a:ext cx="280526" cy="2775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800" i="1" smtClean="0">
                              <a:latin typeface="Cambria Math" panose="02040503050406030204" pitchFamily="18" charset="0"/>
                            </a:rPr>
                          </m:ctrlPr>
                        </m:accPr>
                        <m:e>
                          <m:r>
                            <a:rPr lang="en-US" altLang="zh-CN" sz="1800" b="0" i="1" smtClean="0">
                              <a:latin typeface="Cambria Math" panose="02040503050406030204" pitchFamily="18" charset="0"/>
                            </a:rPr>
                            <m:t>𝐶</m:t>
                          </m:r>
                          <m:r>
                            <a:rPr lang="en-US" altLang="zh-CN" sz="1800" b="0" i="1" baseline="-25000" smtClean="0">
                              <a:latin typeface="Cambria Math" panose="02040503050406030204" pitchFamily="18" charset="0"/>
                            </a:rPr>
                            <m:t>1</m:t>
                          </m:r>
                        </m:e>
                      </m:acc>
                    </m:oMath>
                  </m:oMathPara>
                </a14:m>
                <a:endParaRPr lang="zh-CN" altLang="en-US" sz="1800" dirty="0"/>
              </a:p>
            </p:txBody>
          </p:sp>
        </mc:Choice>
        <mc:Fallback xmlns="">
          <p:sp>
            <p:nvSpPr>
              <p:cNvPr id="4" name="文本框 3">
                <a:extLst>
                  <a:ext uri="{FF2B5EF4-FFF2-40B4-BE49-F238E27FC236}">
                    <a16:creationId xmlns:a16="http://schemas.microsoft.com/office/drawing/2014/main" id="{618FB239-6F24-42A3-939D-D3CFBF4C9C32}"/>
                  </a:ext>
                </a:extLst>
              </p:cNvPr>
              <p:cNvSpPr txBox="1">
                <a:spLocks noRot="1" noChangeAspect="1" noMove="1" noResize="1" noEditPoints="1" noAdjustHandles="1" noChangeArrowheads="1" noChangeShapeType="1" noTextEdit="1"/>
              </p:cNvSpPr>
              <p:nvPr/>
            </p:nvSpPr>
            <p:spPr>
              <a:xfrm>
                <a:off x="7168041" y="4816900"/>
                <a:ext cx="280526" cy="277576"/>
              </a:xfrm>
              <a:prstGeom prst="rect">
                <a:avLst/>
              </a:prstGeom>
              <a:blipFill>
                <a:blip r:embed="rId3"/>
                <a:stretch>
                  <a:fillRect l="-19565" r="-10870"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224414D1-754E-4D1A-9E8D-F18196696924}"/>
                  </a:ext>
                </a:extLst>
              </p:cNvPr>
              <p:cNvSpPr txBox="1"/>
              <p:nvPr/>
            </p:nvSpPr>
            <p:spPr>
              <a:xfrm>
                <a:off x="2627784" y="4816900"/>
                <a:ext cx="280525" cy="2775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1800" i="1" smtClean="0">
                              <a:latin typeface="Cambria Math" panose="02040503050406030204" pitchFamily="18" charset="0"/>
                            </a:rPr>
                          </m:ctrlPr>
                        </m:accPr>
                        <m:e>
                          <m:r>
                            <a:rPr lang="en-US" altLang="zh-CN" sz="1800" b="0" i="1" smtClean="0">
                              <a:latin typeface="Cambria Math" panose="02040503050406030204" pitchFamily="18" charset="0"/>
                            </a:rPr>
                            <m:t>𝐶</m:t>
                          </m:r>
                          <m:r>
                            <a:rPr lang="en-US" altLang="zh-CN" sz="1800" b="0" i="1" baseline="-25000" smtClean="0">
                              <a:latin typeface="Cambria Math" panose="02040503050406030204" pitchFamily="18" charset="0"/>
                            </a:rPr>
                            <m:t>3</m:t>
                          </m:r>
                        </m:e>
                      </m:acc>
                    </m:oMath>
                  </m:oMathPara>
                </a14:m>
                <a:endParaRPr lang="zh-CN" altLang="en-US" sz="1800" dirty="0"/>
              </a:p>
            </p:txBody>
          </p:sp>
        </mc:Choice>
        <mc:Fallback xmlns="">
          <p:sp>
            <p:nvSpPr>
              <p:cNvPr id="19" name="文本框 18">
                <a:extLst>
                  <a:ext uri="{FF2B5EF4-FFF2-40B4-BE49-F238E27FC236}">
                    <a16:creationId xmlns:a16="http://schemas.microsoft.com/office/drawing/2014/main" id="{224414D1-754E-4D1A-9E8D-F18196696924}"/>
                  </a:ext>
                </a:extLst>
              </p:cNvPr>
              <p:cNvSpPr txBox="1">
                <a:spLocks noRot="1" noChangeAspect="1" noMove="1" noResize="1" noEditPoints="1" noAdjustHandles="1" noChangeArrowheads="1" noChangeShapeType="1" noTextEdit="1"/>
              </p:cNvSpPr>
              <p:nvPr/>
            </p:nvSpPr>
            <p:spPr>
              <a:xfrm>
                <a:off x="2627784" y="4816900"/>
                <a:ext cx="280525" cy="277576"/>
              </a:xfrm>
              <a:prstGeom prst="rect">
                <a:avLst/>
              </a:prstGeom>
              <a:blipFill>
                <a:blip r:embed="rId4"/>
                <a:stretch>
                  <a:fillRect l="-17391" r="-10870" b="-15217"/>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60123861-5BBC-4732-8813-BED9EC6DD5CE}"/>
              </a:ext>
            </a:extLst>
          </p:cNvPr>
          <p:cNvSpPr txBox="1"/>
          <p:nvPr/>
        </p:nvSpPr>
        <p:spPr>
          <a:xfrm>
            <a:off x="4804574" y="4725144"/>
            <a:ext cx="415498" cy="369332"/>
          </a:xfrm>
          <a:prstGeom prst="rect">
            <a:avLst/>
          </a:prstGeom>
          <a:noFill/>
        </p:spPr>
        <p:txBody>
          <a:bodyPr wrap="none" rtlCol="0">
            <a:spAutoFit/>
          </a:bodyPr>
          <a:lstStyle/>
          <a:p>
            <a:r>
              <a:rPr lang="en-US" altLang="zh-CN" sz="1800" i="1" dirty="0"/>
              <a:t>C</a:t>
            </a:r>
            <a:r>
              <a:rPr lang="en-US" altLang="zh-CN" sz="1800" i="1" baseline="-25000" dirty="0"/>
              <a:t>2</a:t>
            </a:r>
            <a:endParaRPr lang="zh-CN" altLang="en-US" i="1" baseline="-25000" dirty="0"/>
          </a:p>
        </p:txBody>
      </p:sp>
      <p:sp>
        <p:nvSpPr>
          <p:cNvPr id="9" name="矩形 8">
            <a:extLst>
              <a:ext uri="{FF2B5EF4-FFF2-40B4-BE49-F238E27FC236}">
                <a16:creationId xmlns:a16="http://schemas.microsoft.com/office/drawing/2014/main" id="{A922A6F4-7D65-4666-84F9-9226CB6F84AF}"/>
              </a:ext>
            </a:extLst>
          </p:cNvPr>
          <p:cNvSpPr/>
          <p:nvPr/>
        </p:nvSpPr>
        <p:spPr>
          <a:xfrm>
            <a:off x="8268428" y="4653592"/>
            <a:ext cx="288032" cy="1235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EFD81A5E-2103-4F96-A38B-C3C78250F74C}"/>
              </a:ext>
            </a:extLst>
          </p:cNvPr>
          <p:cNvSpPr/>
          <p:nvPr/>
        </p:nvSpPr>
        <p:spPr>
          <a:xfrm>
            <a:off x="8383564" y="4489132"/>
            <a:ext cx="45719" cy="4571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8FF9AC7D-536C-45D3-8EB2-BFCF2764AE68}"/>
              </a:ext>
            </a:extLst>
          </p:cNvPr>
          <p:cNvSpPr/>
          <p:nvPr/>
        </p:nvSpPr>
        <p:spPr>
          <a:xfrm>
            <a:off x="8380215" y="4777164"/>
            <a:ext cx="47199" cy="4666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0B2F759-0834-4D55-A841-E35123F36B70}"/>
              </a:ext>
            </a:extLst>
          </p:cNvPr>
          <p:cNvSpPr/>
          <p:nvPr/>
        </p:nvSpPr>
        <p:spPr>
          <a:xfrm>
            <a:off x="3764183" y="4654262"/>
            <a:ext cx="288032" cy="1235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CCBD4941-A660-40E9-B40B-77B7E5E26234}"/>
              </a:ext>
            </a:extLst>
          </p:cNvPr>
          <p:cNvSpPr/>
          <p:nvPr/>
        </p:nvSpPr>
        <p:spPr>
          <a:xfrm>
            <a:off x="3885340" y="4489132"/>
            <a:ext cx="45719" cy="4571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EC54F8ED-DEFA-4747-A126-B9049DA09294}"/>
              </a:ext>
            </a:extLst>
          </p:cNvPr>
          <p:cNvSpPr/>
          <p:nvPr/>
        </p:nvSpPr>
        <p:spPr>
          <a:xfrm>
            <a:off x="3884697" y="4778112"/>
            <a:ext cx="45953" cy="4571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3246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0-#ppt_w/2"/>
                                          </p:val>
                                        </p:tav>
                                        <p:tav tm="100000">
                                          <p:val>
                                            <p:strVal val="#ppt_x"/>
                                          </p:val>
                                        </p:tav>
                                      </p:tavLst>
                                    </p:anim>
                                    <p:anim calcmode="lin" valueType="num">
                                      <p:cBhvr additive="base">
                                        <p:cTn id="4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nimBg="1"/>
      <p:bldP spid="12" grpId="0" animBg="1"/>
      <p:bldP spid="13" grpId="0" animBg="1"/>
      <p:bldP spid="14" grpId="0" animBg="1"/>
      <p:bldP spid="11" grpId="0" animBg="1"/>
      <p:bldP spid="16" grpId="0" animBg="1"/>
      <p:bldP spid="17" grpId="0" animBg="1"/>
      <p:bldP spid="18" grpId="0" animBg="1"/>
      <p:bldP spid="9" grpId="0" animBg="1"/>
      <p:bldP spid="10" grpId="0" animBg="1"/>
      <p:bldP spid="20" grpId="0" animBg="1"/>
      <p:bldP spid="21" grpId="0" animBg="1"/>
      <p:bldP spid="22"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a:xfrm>
            <a:off x="914400" y="-27384"/>
            <a:ext cx="7772400" cy="1143000"/>
          </a:xfrm>
        </p:spPr>
        <p:txBody>
          <a:bodyPr/>
          <a:lstStyle/>
          <a:p>
            <a:r>
              <a:rPr lang="en-US" altLang="zh-CN" sz="3600" dirty="0"/>
              <a:t>3.3.7   </a:t>
            </a:r>
            <a:r>
              <a:rPr lang="zh-CN" altLang="en-US" sz="3600" dirty="0"/>
              <a:t>運算器</a:t>
            </a:r>
            <a:r>
              <a:rPr lang="en-US" altLang="zh-CN" sz="3600" dirty="0"/>
              <a:t>(18)</a:t>
            </a:r>
          </a:p>
        </p:txBody>
      </p:sp>
      <p:sp>
        <p:nvSpPr>
          <p:cNvPr id="72" name="灯片编号占位符 5"/>
          <p:cNvSpPr>
            <a:spLocks noGrp="1"/>
          </p:cNvSpPr>
          <p:nvPr>
            <p:ph type="sldNum" sz="quarter" idx="12"/>
          </p:nvPr>
        </p:nvSpPr>
        <p:spPr/>
        <p:txBody>
          <a:bodyPr/>
          <a:lstStyle/>
          <a:p>
            <a:fld id="{5DA16CC2-E46B-41E5-A5E6-349A184366A5}" type="slidenum">
              <a:rPr lang="en-US" altLang="zh-CN"/>
              <a:pPr/>
              <a:t>22</a:t>
            </a:fld>
            <a:endParaRPr lang="en-US" altLang="zh-CN" dirty="0"/>
          </a:p>
        </p:txBody>
      </p:sp>
      <p:sp>
        <p:nvSpPr>
          <p:cNvPr id="363523" name="Rectangle 3"/>
          <p:cNvSpPr>
            <a:spLocks noGrp="1" noChangeArrowheads="1"/>
          </p:cNvSpPr>
          <p:nvPr>
            <p:ph sz="quarter" idx="1"/>
          </p:nvPr>
        </p:nvSpPr>
        <p:spPr>
          <a:xfrm>
            <a:off x="914400" y="1145778"/>
            <a:ext cx="7772400" cy="4572000"/>
          </a:xfrm>
        </p:spPr>
        <p:txBody>
          <a:bodyPr>
            <a:normAutofit/>
          </a:bodyPr>
          <a:lstStyle/>
          <a:p>
            <a:r>
              <a:rPr lang="zh-CN" altLang="en-US" sz="3200" b="1" dirty="0"/>
              <a:t>四位元串列進位元加法器</a:t>
            </a:r>
          </a:p>
          <a:p>
            <a:pPr lvl="1"/>
            <a:r>
              <a:rPr lang="zh-CN" altLang="en-US" sz="2800" b="1" dirty="0"/>
              <a:t>問題：由於前一個加法完成</a:t>
            </a:r>
            <a:r>
              <a:rPr lang="zh-CN" altLang="en-US" sz="2800" b="1" dirty="0">
                <a:solidFill>
                  <a:srgbClr val="FF0000"/>
                </a:solidFill>
              </a:rPr>
              <a:t>並提供進位後</a:t>
            </a:r>
            <a:r>
              <a:rPr lang="zh-CN" altLang="en-US" sz="2800" b="1" dirty="0"/>
              <a:t>，下一個加法器才能開始運算。延遲長，速度慢。</a:t>
            </a:r>
          </a:p>
          <a:p>
            <a:pPr lvl="1"/>
            <a:r>
              <a:rPr lang="zh-CN" altLang="en-US" sz="2800" b="1" dirty="0"/>
              <a:t>位數越多，加法完成的時間越長。</a:t>
            </a:r>
          </a:p>
          <a:p>
            <a:pPr lvl="1"/>
            <a:r>
              <a:rPr lang="zh-CN" altLang="en-US" sz="2800" b="1" dirty="0"/>
              <a:t>是否可以用專用的進位元電路提高速度？</a:t>
            </a:r>
          </a:p>
        </p:txBody>
      </p:sp>
      <p:grpSp>
        <p:nvGrpSpPr>
          <p:cNvPr id="2" name="Group 4"/>
          <p:cNvGrpSpPr>
            <a:grpSpLocks/>
          </p:cNvGrpSpPr>
          <p:nvPr/>
        </p:nvGrpSpPr>
        <p:grpSpPr bwMode="auto">
          <a:xfrm>
            <a:off x="971551" y="4103710"/>
            <a:ext cx="7481889" cy="2611438"/>
            <a:chOff x="594" y="2552"/>
            <a:chExt cx="4713" cy="1645"/>
          </a:xfrm>
        </p:grpSpPr>
        <p:grpSp>
          <p:nvGrpSpPr>
            <p:cNvPr id="3" name="Group 5"/>
            <p:cNvGrpSpPr>
              <a:grpSpLocks/>
            </p:cNvGrpSpPr>
            <p:nvPr/>
          </p:nvGrpSpPr>
          <p:grpSpPr bwMode="auto">
            <a:xfrm>
              <a:off x="2112" y="2562"/>
              <a:ext cx="610" cy="291"/>
              <a:chOff x="2112" y="940"/>
              <a:chExt cx="610" cy="291"/>
            </a:xfrm>
          </p:grpSpPr>
          <p:sp>
            <p:nvSpPr>
              <p:cNvPr id="363526" name="Rectangle 6"/>
              <p:cNvSpPr>
                <a:spLocks noChangeArrowheads="1"/>
              </p:cNvSpPr>
              <p:nvPr/>
            </p:nvSpPr>
            <p:spPr bwMode="auto">
              <a:xfrm>
                <a:off x="2352"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2</a:t>
                </a:r>
                <a:r>
                  <a:rPr lang="en-US" altLang="zh-CN" dirty="0"/>
                  <a:t> </a:t>
                </a:r>
              </a:p>
            </p:txBody>
          </p:sp>
          <p:sp>
            <p:nvSpPr>
              <p:cNvPr id="363527" name="Rectangle 7"/>
              <p:cNvSpPr>
                <a:spLocks noChangeArrowheads="1"/>
              </p:cNvSpPr>
              <p:nvPr/>
            </p:nvSpPr>
            <p:spPr bwMode="auto">
              <a:xfrm>
                <a:off x="2112"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2</a:t>
                </a:r>
                <a:r>
                  <a:rPr lang="en-US" altLang="zh-CN" dirty="0"/>
                  <a:t> </a:t>
                </a:r>
              </a:p>
            </p:txBody>
          </p:sp>
        </p:grpSp>
        <p:grpSp>
          <p:nvGrpSpPr>
            <p:cNvPr id="4" name="Group 8"/>
            <p:cNvGrpSpPr>
              <a:grpSpLocks/>
            </p:cNvGrpSpPr>
            <p:nvPr/>
          </p:nvGrpSpPr>
          <p:grpSpPr bwMode="auto">
            <a:xfrm>
              <a:off x="594" y="2552"/>
              <a:ext cx="834" cy="291"/>
              <a:chOff x="594" y="930"/>
              <a:chExt cx="834" cy="291"/>
            </a:xfrm>
          </p:grpSpPr>
          <p:sp>
            <p:nvSpPr>
              <p:cNvPr id="363529" name="Rectangle 9"/>
              <p:cNvSpPr>
                <a:spLocks noChangeArrowheads="1"/>
              </p:cNvSpPr>
              <p:nvPr/>
            </p:nvSpPr>
            <p:spPr bwMode="auto">
              <a:xfrm>
                <a:off x="1058"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1</a:t>
                </a:r>
                <a:r>
                  <a:rPr lang="en-US" altLang="zh-CN" dirty="0"/>
                  <a:t> </a:t>
                </a:r>
              </a:p>
            </p:txBody>
          </p:sp>
          <p:sp>
            <p:nvSpPr>
              <p:cNvPr id="363530" name="Rectangle 10"/>
              <p:cNvSpPr>
                <a:spLocks noChangeArrowheads="1"/>
              </p:cNvSpPr>
              <p:nvPr/>
            </p:nvSpPr>
            <p:spPr bwMode="auto">
              <a:xfrm>
                <a:off x="848"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1</a:t>
                </a:r>
                <a:r>
                  <a:rPr lang="en-US" altLang="zh-CN" dirty="0"/>
                  <a:t> </a:t>
                </a:r>
              </a:p>
            </p:txBody>
          </p:sp>
          <p:sp>
            <p:nvSpPr>
              <p:cNvPr id="363531" name="Rectangle 11"/>
              <p:cNvSpPr>
                <a:spLocks noChangeArrowheads="1"/>
              </p:cNvSpPr>
              <p:nvPr/>
            </p:nvSpPr>
            <p:spPr bwMode="auto">
              <a:xfrm>
                <a:off x="594" y="950"/>
                <a:ext cx="3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in</a:t>
                </a:r>
                <a:r>
                  <a:rPr lang="en-US" altLang="zh-CN" dirty="0"/>
                  <a:t> </a:t>
                </a:r>
              </a:p>
            </p:txBody>
          </p:sp>
        </p:grpSp>
        <p:grpSp>
          <p:nvGrpSpPr>
            <p:cNvPr id="5" name="Group 12"/>
            <p:cNvGrpSpPr>
              <a:grpSpLocks/>
            </p:cNvGrpSpPr>
            <p:nvPr/>
          </p:nvGrpSpPr>
          <p:grpSpPr bwMode="auto">
            <a:xfrm>
              <a:off x="4661" y="2562"/>
              <a:ext cx="642" cy="291"/>
              <a:chOff x="4368" y="940"/>
              <a:chExt cx="642" cy="291"/>
            </a:xfrm>
          </p:grpSpPr>
          <p:sp>
            <p:nvSpPr>
              <p:cNvPr id="363533" name="Rectangle 13"/>
              <p:cNvSpPr>
                <a:spLocks noChangeArrowheads="1"/>
              </p:cNvSpPr>
              <p:nvPr/>
            </p:nvSpPr>
            <p:spPr bwMode="auto">
              <a:xfrm>
                <a:off x="4640"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4</a:t>
                </a:r>
                <a:r>
                  <a:rPr lang="en-US" altLang="zh-CN" dirty="0"/>
                  <a:t> </a:t>
                </a:r>
              </a:p>
            </p:txBody>
          </p:sp>
          <p:sp>
            <p:nvSpPr>
              <p:cNvPr id="363534" name="Rectangle 14"/>
              <p:cNvSpPr>
                <a:spLocks noChangeArrowheads="1"/>
              </p:cNvSpPr>
              <p:nvPr/>
            </p:nvSpPr>
            <p:spPr bwMode="auto">
              <a:xfrm>
                <a:off x="4368" y="94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4</a:t>
                </a:r>
                <a:r>
                  <a:rPr lang="en-US" altLang="zh-CN" dirty="0"/>
                  <a:t> </a:t>
                </a:r>
              </a:p>
            </p:txBody>
          </p:sp>
        </p:grpSp>
        <p:grpSp>
          <p:nvGrpSpPr>
            <p:cNvPr id="6" name="Group 15"/>
            <p:cNvGrpSpPr>
              <a:grpSpLocks/>
            </p:cNvGrpSpPr>
            <p:nvPr/>
          </p:nvGrpSpPr>
          <p:grpSpPr bwMode="auto">
            <a:xfrm>
              <a:off x="4512" y="2832"/>
              <a:ext cx="795" cy="1365"/>
              <a:chOff x="4219" y="1210"/>
              <a:chExt cx="795" cy="1365"/>
            </a:xfrm>
          </p:grpSpPr>
          <p:sp>
            <p:nvSpPr>
              <p:cNvPr id="363536" name="Rectangle 16"/>
              <p:cNvSpPr>
                <a:spLocks noChangeArrowheads="1"/>
              </p:cNvSpPr>
              <p:nvPr/>
            </p:nvSpPr>
            <p:spPr bwMode="auto">
              <a:xfrm>
                <a:off x="4219"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37" name="Line 17"/>
              <p:cNvSpPr>
                <a:spLocks noChangeShapeType="1"/>
              </p:cNvSpPr>
              <p:nvPr/>
            </p:nvSpPr>
            <p:spPr bwMode="auto">
              <a:xfrm>
                <a:off x="4310"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38" name="Line 18"/>
              <p:cNvSpPr>
                <a:spLocks noChangeShapeType="1"/>
              </p:cNvSpPr>
              <p:nvPr/>
            </p:nvSpPr>
            <p:spPr bwMode="auto">
              <a:xfrm>
                <a:off x="4537"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39" name="Line 19"/>
              <p:cNvSpPr>
                <a:spLocks noChangeShapeType="1"/>
              </p:cNvSpPr>
              <p:nvPr/>
            </p:nvSpPr>
            <p:spPr bwMode="auto">
              <a:xfrm>
                <a:off x="4764"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40" name="Line 20"/>
              <p:cNvSpPr>
                <a:spLocks noChangeShapeType="1"/>
              </p:cNvSpPr>
              <p:nvPr/>
            </p:nvSpPr>
            <p:spPr bwMode="auto">
              <a:xfrm>
                <a:off x="4401" y="202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41" name="Line 21"/>
              <p:cNvSpPr>
                <a:spLocks noChangeShapeType="1"/>
              </p:cNvSpPr>
              <p:nvPr/>
            </p:nvSpPr>
            <p:spPr bwMode="auto">
              <a:xfrm>
                <a:off x="4718"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42" name="Rectangle 22"/>
              <p:cNvSpPr>
                <a:spLocks noChangeArrowheads="1"/>
              </p:cNvSpPr>
              <p:nvPr/>
            </p:nvSpPr>
            <p:spPr bwMode="auto">
              <a:xfrm>
                <a:off x="4320" y="2284"/>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4</a:t>
                </a:r>
                <a:r>
                  <a:rPr lang="en-US" altLang="zh-CN" dirty="0"/>
                  <a:t> </a:t>
                </a:r>
              </a:p>
            </p:txBody>
          </p:sp>
          <p:sp>
            <p:nvSpPr>
              <p:cNvPr id="363543" name="Rectangle 23"/>
              <p:cNvSpPr>
                <a:spLocks noChangeArrowheads="1"/>
              </p:cNvSpPr>
              <p:nvPr/>
            </p:nvSpPr>
            <p:spPr bwMode="auto">
              <a:xfrm>
                <a:off x="4608" y="2304"/>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sp>
            <p:nvSpPr>
              <p:cNvPr id="363544" name="Text Box 24"/>
              <p:cNvSpPr txBox="1">
                <a:spLocks noChangeArrowheads="1"/>
              </p:cNvSpPr>
              <p:nvPr/>
            </p:nvSpPr>
            <p:spPr bwMode="auto">
              <a:xfrm>
                <a:off x="426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grpSp>
        <p:grpSp>
          <p:nvGrpSpPr>
            <p:cNvPr id="7" name="Group 25"/>
            <p:cNvGrpSpPr>
              <a:grpSpLocks/>
            </p:cNvGrpSpPr>
            <p:nvPr/>
          </p:nvGrpSpPr>
          <p:grpSpPr bwMode="auto">
            <a:xfrm>
              <a:off x="3408" y="2552"/>
              <a:ext cx="610" cy="291"/>
              <a:chOff x="3264" y="930"/>
              <a:chExt cx="610" cy="291"/>
            </a:xfrm>
          </p:grpSpPr>
          <p:sp>
            <p:nvSpPr>
              <p:cNvPr id="363546" name="Rectangle 26"/>
              <p:cNvSpPr>
                <a:spLocks noChangeArrowheads="1"/>
              </p:cNvSpPr>
              <p:nvPr/>
            </p:nvSpPr>
            <p:spPr bwMode="auto">
              <a:xfrm>
                <a:off x="3504"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Y</a:t>
                </a:r>
                <a:r>
                  <a:rPr lang="en-US" altLang="zh-CN" baseline="-30000" dirty="0">
                    <a:latin typeface="Times New Roman" pitchFamily="18" charset="0"/>
                    <a:cs typeface="Times New Roman" pitchFamily="18" charset="0"/>
                  </a:rPr>
                  <a:t>3</a:t>
                </a:r>
                <a:r>
                  <a:rPr lang="en-US" altLang="zh-CN" dirty="0"/>
                  <a:t> </a:t>
                </a:r>
              </a:p>
            </p:txBody>
          </p:sp>
          <p:sp>
            <p:nvSpPr>
              <p:cNvPr id="363547" name="Rectangle 27"/>
              <p:cNvSpPr>
                <a:spLocks noChangeArrowheads="1"/>
              </p:cNvSpPr>
              <p:nvPr/>
            </p:nvSpPr>
            <p:spPr bwMode="auto">
              <a:xfrm>
                <a:off x="3264" y="930"/>
                <a:ext cx="37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X</a:t>
                </a:r>
                <a:r>
                  <a:rPr lang="en-US" altLang="zh-CN" baseline="-30000" dirty="0">
                    <a:latin typeface="Times New Roman" pitchFamily="18" charset="0"/>
                    <a:cs typeface="Times New Roman" pitchFamily="18" charset="0"/>
                  </a:rPr>
                  <a:t>3</a:t>
                </a:r>
                <a:r>
                  <a:rPr lang="en-US" altLang="zh-CN" dirty="0"/>
                  <a:t> </a:t>
                </a:r>
              </a:p>
            </p:txBody>
          </p:sp>
        </p:grpSp>
        <p:grpSp>
          <p:nvGrpSpPr>
            <p:cNvPr id="8" name="Group 28"/>
            <p:cNvGrpSpPr>
              <a:grpSpLocks/>
            </p:cNvGrpSpPr>
            <p:nvPr/>
          </p:nvGrpSpPr>
          <p:grpSpPr bwMode="auto">
            <a:xfrm>
              <a:off x="672" y="2822"/>
              <a:ext cx="790" cy="1360"/>
              <a:chOff x="672" y="1200"/>
              <a:chExt cx="790" cy="1360"/>
            </a:xfrm>
          </p:grpSpPr>
          <p:sp>
            <p:nvSpPr>
              <p:cNvPr id="363549" name="Rectangle 29"/>
              <p:cNvSpPr>
                <a:spLocks noChangeArrowheads="1"/>
              </p:cNvSpPr>
              <p:nvPr/>
            </p:nvSpPr>
            <p:spPr bwMode="auto">
              <a:xfrm>
                <a:off x="672" y="147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50" name="Line 30"/>
              <p:cNvSpPr>
                <a:spLocks noChangeShapeType="1"/>
              </p:cNvSpPr>
              <p:nvPr/>
            </p:nvSpPr>
            <p:spPr bwMode="auto">
              <a:xfrm>
                <a:off x="763"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1" name="Line 31"/>
              <p:cNvSpPr>
                <a:spLocks noChangeShapeType="1"/>
              </p:cNvSpPr>
              <p:nvPr/>
            </p:nvSpPr>
            <p:spPr bwMode="auto">
              <a:xfrm>
                <a:off x="990"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2" name="Line 32"/>
              <p:cNvSpPr>
                <a:spLocks noChangeShapeType="1"/>
              </p:cNvSpPr>
              <p:nvPr/>
            </p:nvSpPr>
            <p:spPr bwMode="auto">
              <a:xfrm>
                <a:off x="1217" y="120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3" name="Line 33"/>
              <p:cNvSpPr>
                <a:spLocks noChangeShapeType="1"/>
              </p:cNvSpPr>
              <p:nvPr/>
            </p:nvSpPr>
            <p:spPr bwMode="auto">
              <a:xfrm>
                <a:off x="856" y="201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4" name="Rectangle 34"/>
              <p:cNvSpPr>
                <a:spLocks noChangeArrowheads="1"/>
              </p:cNvSpPr>
              <p:nvPr/>
            </p:nvSpPr>
            <p:spPr bwMode="auto">
              <a:xfrm>
                <a:off x="720" y="226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1</a:t>
                </a:r>
                <a:r>
                  <a:rPr lang="en-US" altLang="zh-CN" dirty="0"/>
                  <a:t> </a:t>
                </a:r>
              </a:p>
            </p:txBody>
          </p:sp>
          <p:sp>
            <p:nvSpPr>
              <p:cNvPr id="363555" name="Text Box 35"/>
              <p:cNvSpPr txBox="1">
                <a:spLocks noChangeArrowheads="1"/>
              </p:cNvSpPr>
              <p:nvPr/>
            </p:nvSpPr>
            <p:spPr bwMode="auto">
              <a:xfrm>
                <a:off x="717" y="151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3556" name="Line 36"/>
              <p:cNvSpPr>
                <a:spLocks noChangeShapeType="1"/>
              </p:cNvSpPr>
              <p:nvPr/>
            </p:nvSpPr>
            <p:spPr bwMode="auto">
              <a:xfrm>
                <a:off x="1166"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57" name="Rectangle 37"/>
              <p:cNvSpPr>
                <a:spLocks noChangeArrowheads="1"/>
              </p:cNvSpPr>
              <p:nvPr/>
            </p:nvSpPr>
            <p:spPr bwMode="auto">
              <a:xfrm>
                <a:off x="1056"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9" name="Group 38"/>
            <p:cNvGrpSpPr>
              <a:grpSpLocks/>
            </p:cNvGrpSpPr>
            <p:nvPr/>
          </p:nvGrpSpPr>
          <p:grpSpPr bwMode="auto">
            <a:xfrm>
              <a:off x="1920" y="2832"/>
              <a:ext cx="808" cy="1360"/>
              <a:chOff x="1998" y="1210"/>
              <a:chExt cx="808" cy="1360"/>
            </a:xfrm>
          </p:grpSpPr>
          <p:sp>
            <p:nvSpPr>
              <p:cNvPr id="363559" name="Rectangle 39"/>
              <p:cNvSpPr>
                <a:spLocks noChangeArrowheads="1"/>
              </p:cNvSpPr>
              <p:nvPr/>
            </p:nvSpPr>
            <p:spPr bwMode="auto">
              <a:xfrm>
                <a:off x="1998"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60" name="Line 40"/>
              <p:cNvSpPr>
                <a:spLocks noChangeShapeType="1"/>
              </p:cNvSpPr>
              <p:nvPr/>
            </p:nvSpPr>
            <p:spPr bwMode="auto">
              <a:xfrm>
                <a:off x="2089"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61" name="Line 41"/>
              <p:cNvSpPr>
                <a:spLocks noChangeShapeType="1"/>
              </p:cNvSpPr>
              <p:nvPr/>
            </p:nvSpPr>
            <p:spPr bwMode="auto">
              <a:xfrm>
                <a:off x="2316"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62" name="Line 42"/>
              <p:cNvSpPr>
                <a:spLocks noChangeShapeType="1"/>
              </p:cNvSpPr>
              <p:nvPr/>
            </p:nvSpPr>
            <p:spPr bwMode="auto">
              <a:xfrm>
                <a:off x="2543"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63" name="Line 43"/>
              <p:cNvSpPr>
                <a:spLocks noChangeShapeType="1"/>
              </p:cNvSpPr>
              <p:nvPr/>
            </p:nvSpPr>
            <p:spPr bwMode="auto">
              <a:xfrm>
                <a:off x="2155"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64" name="Rectangle 44"/>
              <p:cNvSpPr>
                <a:spLocks noChangeArrowheads="1"/>
              </p:cNvSpPr>
              <p:nvPr/>
            </p:nvSpPr>
            <p:spPr bwMode="auto">
              <a:xfrm>
                <a:off x="2064" y="227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2</a:t>
                </a:r>
                <a:r>
                  <a:rPr lang="en-US" altLang="zh-CN" dirty="0"/>
                  <a:t> </a:t>
                </a:r>
              </a:p>
            </p:txBody>
          </p:sp>
          <p:sp>
            <p:nvSpPr>
              <p:cNvPr id="363565" name="Text Box 45"/>
              <p:cNvSpPr txBox="1">
                <a:spLocks noChangeArrowheads="1"/>
              </p:cNvSpPr>
              <p:nvPr/>
            </p:nvSpPr>
            <p:spPr bwMode="auto">
              <a:xfrm>
                <a:off x="2044"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3566" name="Line 46"/>
              <p:cNvSpPr>
                <a:spLocks noChangeShapeType="1"/>
              </p:cNvSpPr>
              <p:nvPr/>
            </p:nvSpPr>
            <p:spPr bwMode="auto">
              <a:xfrm>
                <a:off x="2510"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67" name="Rectangle 47"/>
              <p:cNvSpPr>
                <a:spLocks noChangeArrowheads="1"/>
              </p:cNvSpPr>
              <p:nvPr/>
            </p:nvSpPr>
            <p:spPr bwMode="auto">
              <a:xfrm>
                <a:off x="2400"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10" name="Group 48"/>
            <p:cNvGrpSpPr>
              <a:grpSpLocks/>
            </p:cNvGrpSpPr>
            <p:nvPr/>
          </p:nvGrpSpPr>
          <p:grpSpPr bwMode="auto">
            <a:xfrm>
              <a:off x="3231" y="2832"/>
              <a:ext cx="801" cy="1360"/>
              <a:chOff x="3087" y="1210"/>
              <a:chExt cx="801" cy="1360"/>
            </a:xfrm>
          </p:grpSpPr>
          <p:sp>
            <p:nvSpPr>
              <p:cNvPr id="363569" name="Rectangle 49"/>
              <p:cNvSpPr>
                <a:spLocks noChangeArrowheads="1"/>
              </p:cNvSpPr>
              <p:nvPr/>
            </p:nvSpPr>
            <p:spPr bwMode="auto">
              <a:xfrm>
                <a:off x="3168" y="2279"/>
                <a:ext cx="33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7030A0"/>
                    </a:solidFill>
                    <a:latin typeface="Times New Roman" pitchFamily="18" charset="0"/>
                  </a:rPr>
                  <a:t>F</a:t>
                </a:r>
                <a:r>
                  <a:rPr lang="en-US" altLang="zh-CN" baseline="-30000" dirty="0">
                    <a:solidFill>
                      <a:srgbClr val="7030A0"/>
                    </a:solidFill>
                    <a:latin typeface="Times New Roman" pitchFamily="18" charset="0"/>
                    <a:cs typeface="Times New Roman" pitchFamily="18" charset="0"/>
                  </a:rPr>
                  <a:t>3</a:t>
                </a:r>
                <a:r>
                  <a:rPr lang="en-US" altLang="zh-CN" dirty="0">
                    <a:solidFill>
                      <a:srgbClr val="FFFF00"/>
                    </a:solidFill>
                  </a:rPr>
                  <a:t> </a:t>
                </a:r>
              </a:p>
            </p:txBody>
          </p:sp>
          <p:sp>
            <p:nvSpPr>
              <p:cNvPr id="363570" name="Rectangle 50"/>
              <p:cNvSpPr>
                <a:spLocks noChangeArrowheads="1"/>
              </p:cNvSpPr>
              <p:nvPr/>
            </p:nvSpPr>
            <p:spPr bwMode="auto">
              <a:xfrm>
                <a:off x="3087" y="1483"/>
                <a:ext cx="681" cy="5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3571" name="Line 51"/>
              <p:cNvSpPr>
                <a:spLocks noChangeShapeType="1"/>
              </p:cNvSpPr>
              <p:nvPr/>
            </p:nvSpPr>
            <p:spPr bwMode="auto">
              <a:xfrm>
                <a:off x="3178"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2" name="Line 52"/>
              <p:cNvSpPr>
                <a:spLocks noChangeShapeType="1"/>
              </p:cNvSpPr>
              <p:nvPr/>
            </p:nvSpPr>
            <p:spPr bwMode="auto">
              <a:xfrm>
                <a:off x="3405"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3" name="Line 53"/>
              <p:cNvSpPr>
                <a:spLocks noChangeShapeType="1"/>
              </p:cNvSpPr>
              <p:nvPr/>
            </p:nvSpPr>
            <p:spPr bwMode="auto">
              <a:xfrm>
                <a:off x="3632" y="1210"/>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4" name="Line 54"/>
              <p:cNvSpPr>
                <a:spLocks noChangeShapeType="1"/>
              </p:cNvSpPr>
              <p:nvPr/>
            </p:nvSpPr>
            <p:spPr bwMode="auto">
              <a:xfrm>
                <a:off x="3304" y="2027"/>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5" name="Text Box 55"/>
              <p:cNvSpPr txBox="1">
                <a:spLocks noChangeArrowheads="1"/>
              </p:cNvSpPr>
              <p:nvPr/>
            </p:nvSpPr>
            <p:spPr bwMode="auto">
              <a:xfrm>
                <a:off x="3126" y="1528"/>
                <a:ext cx="59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t>FULL Adder</a:t>
                </a:r>
              </a:p>
            </p:txBody>
          </p:sp>
          <p:sp>
            <p:nvSpPr>
              <p:cNvPr id="363576" name="Line 56"/>
              <p:cNvSpPr>
                <a:spLocks noChangeShapeType="1"/>
              </p:cNvSpPr>
              <p:nvPr/>
            </p:nvSpPr>
            <p:spPr bwMode="auto">
              <a:xfrm>
                <a:off x="3592" y="2016"/>
                <a:ext cx="0" cy="27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77" name="Rectangle 57"/>
              <p:cNvSpPr>
                <a:spLocks noChangeArrowheads="1"/>
              </p:cNvSpPr>
              <p:nvPr/>
            </p:nvSpPr>
            <p:spPr bwMode="auto">
              <a:xfrm>
                <a:off x="3482" y="2293"/>
                <a:ext cx="4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latin typeface="Times New Roman" pitchFamily="18" charset="0"/>
                    <a:cs typeface="Times New Roman" pitchFamily="18" charset="0"/>
                  </a:rPr>
                  <a:t>C</a:t>
                </a:r>
                <a:r>
                  <a:rPr lang="en-US" altLang="zh-CN" baseline="-30000" dirty="0">
                    <a:latin typeface="Times New Roman" pitchFamily="18" charset="0"/>
                    <a:cs typeface="Times New Roman" pitchFamily="18" charset="0"/>
                  </a:rPr>
                  <a:t>out</a:t>
                </a:r>
                <a:r>
                  <a:rPr lang="en-US" altLang="zh-CN" dirty="0"/>
                  <a:t> </a:t>
                </a:r>
              </a:p>
            </p:txBody>
          </p:sp>
        </p:grpSp>
        <p:grpSp>
          <p:nvGrpSpPr>
            <p:cNvPr id="11" name="Group 58"/>
            <p:cNvGrpSpPr>
              <a:grpSpLocks/>
            </p:cNvGrpSpPr>
            <p:nvPr/>
          </p:nvGrpSpPr>
          <p:grpSpPr bwMode="auto">
            <a:xfrm>
              <a:off x="1152" y="2822"/>
              <a:ext cx="864" cy="1056"/>
              <a:chOff x="1152" y="1200"/>
              <a:chExt cx="864" cy="1056"/>
            </a:xfrm>
          </p:grpSpPr>
          <p:sp>
            <p:nvSpPr>
              <p:cNvPr id="363579" name="Line 59"/>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0" name="Line 60"/>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1" name="Line 61"/>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 name="Group 62"/>
            <p:cNvGrpSpPr>
              <a:grpSpLocks/>
            </p:cNvGrpSpPr>
            <p:nvPr/>
          </p:nvGrpSpPr>
          <p:grpSpPr bwMode="auto">
            <a:xfrm>
              <a:off x="2448" y="2822"/>
              <a:ext cx="864" cy="1056"/>
              <a:chOff x="1152" y="1200"/>
              <a:chExt cx="864" cy="1056"/>
            </a:xfrm>
          </p:grpSpPr>
          <p:sp>
            <p:nvSpPr>
              <p:cNvPr id="363583" name="Line 63"/>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4" name="Line 64"/>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5" name="Line 65"/>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 name="Group 66"/>
            <p:cNvGrpSpPr>
              <a:grpSpLocks/>
            </p:cNvGrpSpPr>
            <p:nvPr/>
          </p:nvGrpSpPr>
          <p:grpSpPr bwMode="auto">
            <a:xfrm>
              <a:off x="3744" y="2822"/>
              <a:ext cx="864" cy="1056"/>
              <a:chOff x="1152" y="1200"/>
              <a:chExt cx="864" cy="1056"/>
            </a:xfrm>
          </p:grpSpPr>
          <p:sp>
            <p:nvSpPr>
              <p:cNvPr id="363587" name="Line 67"/>
              <p:cNvSpPr>
                <a:spLocks noChangeShapeType="1"/>
              </p:cNvSpPr>
              <p:nvPr/>
            </p:nvSpPr>
            <p:spPr bwMode="auto">
              <a:xfrm>
                <a:off x="1152" y="2256"/>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8" name="Line 68"/>
              <p:cNvSpPr>
                <a:spLocks noChangeShapeType="1"/>
              </p:cNvSpPr>
              <p:nvPr/>
            </p:nvSpPr>
            <p:spPr bwMode="auto">
              <a:xfrm flipV="1">
                <a:off x="1632" y="1200"/>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3589" name="Line 69"/>
              <p:cNvSpPr>
                <a:spLocks noChangeShapeType="1"/>
              </p:cNvSpPr>
              <p:nvPr/>
            </p:nvSpPr>
            <p:spPr bwMode="auto">
              <a:xfrm>
                <a:off x="1632" y="120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extLst>
      <p:ext uri="{BB962C8B-B14F-4D97-AF65-F5344CB8AC3E}">
        <p14:creationId xmlns:p14="http://schemas.microsoft.com/office/powerpoint/2010/main" val="22656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r>
              <a:rPr lang="en-US" altLang="zh-CN" sz="3600" dirty="0"/>
              <a:t>3.3.7   </a:t>
            </a:r>
            <a:r>
              <a:rPr lang="zh-CN" altLang="en-US" sz="3600" dirty="0"/>
              <a:t>運算器</a:t>
            </a:r>
            <a:r>
              <a:rPr lang="en-US" altLang="zh-CN" sz="3600" dirty="0"/>
              <a:t>(19)</a:t>
            </a:r>
          </a:p>
        </p:txBody>
      </p:sp>
      <p:sp>
        <p:nvSpPr>
          <p:cNvPr id="6" name="灯片编号占位符 5"/>
          <p:cNvSpPr>
            <a:spLocks noGrp="1"/>
          </p:cNvSpPr>
          <p:nvPr>
            <p:ph type="sldNum" sz="quarter" idx="12"/>
          </p:nvPr>
        </p:nvSpPr>
        <p:spPr/>
        <p:txBody>
          <a:bodyPr/>
          <a:lstStyle/>
          <a:p>
            <a:fld id="{4767EDFC-77D0-4364-B354-0A2B5D43998E}" type="slidenum">
              <a:rPr lang="en-US" altLang="zh-CN"/>
              <a:pPr/>
              <a:t>23</a:t>
            </a:fld>
            <a:endParaRPr lang="en-US" altLang="zh-CN" dirty="0"/>
          </a:p>
        </p:txBody>
      </p:sp>
      <p:sp>
        <p:nvSpPr>
          <p:cNvPr id="364547" name="Rectangle 3"/>
          <p:cNvSpPr>
            <a:spLocks noGrp="1" noChangeArrowheads="1"/>
          </p:cNvSpPr>
          <p:nvPr>
            <p:ph sz="quarter" idx="1"/>
          </p:nvPr>
        </p:nvSpPr>
        <p:spPr/>
        <p:txBody>
          <a:bodyPr>
            <a:normAutofit lnSpcReduction="10000"/>
          </a:bodyPr>
          <a:lstStyle/>
          <a:p>
            <a:r>
              <a:rPr lang="en-US" altLang="zh-CN" b="1" dirty="0"/>
              <a:t>3.3.7 </a:t>
            </a:r>
            <a:r>
              <a:rPr lang="zh-CN" altLang="en-US" b="1" dirty="0"/>
              <a:t>運算器（算數邏輯單元 </a:t>
            </a:r>
            <a:r>
              <a:rPr lang="en-US" altLang="zh-CN" b="1" dirty="0"/>
              <a:t>ALU</a:t>
            </a:r>
            <a:r>
              <a:rPr lang="zh-CN" altLang="en-US" b="1" dirty="0"/>
              <a:t>）</a:t>
            </a:r>
          </a:p>
          <a:p>
            <a:pPr lvl="1"/>
            <a:r>
              <a:rPr lang="zh-CN" altLang="en-US" b="1" dirty="0"/>
              <a:t>加法器</a:t>
            </a:r>
          </a:p>
          <a:p>
            <a:pPr lvl="2"/>
            <a:r>
              <a:rPr lang="zh-CN" altLang="en-US" b="1" dirty="0"/>
              <a:t>一位加法器</a:t>
            </a:r>
          </a:p>
          <a:p>
            <a:pPr lvl="2"/>
            <a:r>
              <a:rPr lang="zh-CN" altLang="en-US" b="1" dirty="0"/>
              <a:t>四位元串列進位元加法器</a:t>
            </a:r>
          </a:p>
          <a:p>
            <a:pPr lvl="2"/>
            <a:r>
              <a:rPr lang="zh-CN" altLang="en-US" b="1" dirty="0">
                <a:solidFill>
                  <a:srgbClr val="7030A0"/>
                </a:solidFill>
              </a:rPr>
              <a:t>四位並行加法器</a:t>
            </a:r>
          </a:p>
          <a:p>
            <a:pPr lvl="2"/>
            <a:r>
              <a:rPr lang="en-US" altLang="zh-CN" b="1" dirty="0"/>
              <a:t>16</a:t>
            </a:r>
            <a:r>
              <a:rPr lang="zh-CN" altLang="en-US" b="1" dirty="0"/>
              <a:t>位加法器</a:t>
            </a:r>
          </a:p>
          <a:p>
            <a:pPr lvl="1"/>
            <a:r>
              <a:rPr lang="zh-CN" altLang="en-US" b="1" dirty="0"/>
              <a:t>算數運算邏輯單元</a:t>
            </a:r>
          </a:p>
          <a:p>
            <a:pPr lvl="2"/>
            <a:r>
              <a:rPr lang="zh-CN" altLang="en-US" b="1" dirty="0"/>
              <a:t>四位元算術邏輯運算單元</a:t>
            </a:r>
            <a:endParaRPr lang="en-US" altLang="zh-CN" b="1" dirty="0"/>
          </a:p>
          <a:p>
            <a:pPr lvl="1"/>
            <a:r>
              <a:rPr lang="zh-CN" altLang="en-US" dirty="0"/>
              <a:t>乘法器</a:t>
            </a:r>
            <a:endParaRPr lang="zh-CN" altLang="en-US" b="1" dirty="0"/>
          </a:p>
        </p:txBody>
      </p:sp>
    </p:spTree>
    <p:extLst>
      <p:ext uri="{BB962C8B-B14F-4D97-AF65-F5344CB8AC3E}">
        <p14:creationId xmlns:p14="http://schemas.microsoft.com/office/powerpoint/2010/main" val="1670068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p:nvPr>
        </p:nvSpPr>
        <p:spPr/>
        <p:txBody>
          <a:bodyPr/>
          <a:lstStyle/>
          <a:p>
            <a:r>
              <a:rPr lang="en-US" altLang="zh-CN" sz="3600" dirty="0"/>
              <a:t>3.3.7   </a:t>
            </a:r>
            <a:r>
              <a:rPr lang="zh-CN" altLang="en-US" sz="3600" dirty="0"/>
              <a:t>運算器</a:t>
            </a:r>
            <a:r>
              <a:rPr lang="en-US" altLang="zh-CN" sz="3600" dirty="0"/>
              <a:t>(20)</a:t>
            </a:r>
          </a:p>
        </p:txBody>
      </p:sp>
      <p:sp>
        <p:nvSpPr>
          <p:cNvPr id="8" name="灯片编号占位符 5"/>
          <p:cNvSpPr>
            <a:spLocks noGrp="1"/>
          </p:cNvSpPr>
          <p:nvPr>
            <p:ph type="sldNum" sz="quarter" idx="12"/>
          </p:nvPr>
        </p:nvSpPr>
        <p:spPr/>
        <p:txBody>
          <a:bodyPr/>
          <a:lstStyle/>
          <a:p>
            <a:fld id="{74684C22-D756-43BA-8861-F09FC17F6D56}" type="slidenum">
              <a:rPr lang="en-US" altLang="zh-CN"/>
              <a:pPr/>
              <a:t>24</a:t>
            </a:fld>
            <a:endParaRPr lang="en-US" altLang="zh-CN" dirty="0"/>
          </a:p>
        </p:txBody>
      </p:sp>
      <p:sp>
        <p:nvSpPr>
          <p:cNvPr id="365571" name="Rectangle 3"/>
          <p:cNvSpPr>
            <a:spLocks noGrp="1" noChangeArrowheads="1"/>
          </p:cNvSpPr>
          <p:nvPr>
            <p:ph sz="quarter" idx="1"/>
          </p:nvPr>
        </p:nvSpPr>
        <p:spPr/>
        <p:txBody>
          <a:bodyPr/>
          <a:lstStyle/>
          <a:p>
            <a:r>
              <a:rPr lang="zh-CN" altLang="en-US" dirty="0"/>
              <a:t>四位並行加法器、超前進位加法器</a:t>
            </a:r>
          </a:p>
          <a:p>
            <a:pPr lvl="1"/>
            <a:r>
              <a:rPr lang="zh-CN" altLang="en-US" dirty="0"/>
              <a:t>進位輸入是由</a:t>
            </a:r>
            <a:r>
              <a:rPr lang="zh-CN" altLang="en-US" dirty="0">
                <a:solidFill>
                  <a:srgbClr val="FF0000"/>
                </a:solidFill>
              </a:rPr>
              <a:t>專門的“進位門”</a:t>
            </a:r>
            <a:r>
              <a:rPr lang="zh-CN" altLang="en-US" dirty="0"/>
              <a:t>綜合所有低位的加數、被加數及最低位進入輸入後提供的。</a:t>
            </a:r>
          </a:p>
          <a:p>
            <a:pPr lvl="1"/>
            <a:r>
              <a:rPr lang="zh-CN" altLang="en-US" dirty="0"/>
              <a:t>由於進位不是由前一級加法器提供的，所以快速加法器又稱位超前進位加法器或並行進位加法器。</a:t>
            </a:r>
          </a:p>
        </p:txBody>
      </p:sp>
      <p:graphicFrame>
        <p:nvGraphicFramePr>
          <p:cNvPr id="365572" name="Object 4"/>
          <p:cNvGraphicFramePr>
            <a:graphicFrameLocks noChangeAspect="1"/>
          </p:cNvGraphicFramePr>
          <p:nvPr/>
        </p:nvGraphicFramePr>
        <p:xfrm>
          <a:off x="381000" y="3657600"/>
          <a:ext cx="8458200" cy="2057400"/>
        </p:xfrm>
        <a:graphic>
          <a:graphicData uri="http://schemas.openxmlformats.org/presentationml/2006/ole">
            <mc:AlternateContent xmlns:mc="http://schemas.openxmlformats.org/markup-compatibility/2006">
              <mc:Choice xmlns:v="urn:schemas-microsoft-com:vml" Requires="v">
                <p:oleObj name="Image" r:id="rId2" imgW="15203265" imgH="3134694" progId="">
                  <p:embed/>
                </p:oleObj>
              </mc:Choice>
              <mc:Fallback>
                <p:oleObj name="Image" r:id="rId2" imgW="15203265" imgH="3134694"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657600"/>
                        <a:ext cx="84582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5573" name="Rectangle 5"/>
          <p:cNvSpPr>
            <a:spLocks noChangeArrowheads="1"/>
          </p:cNvSpPr>
          <p:nvPr/>
        </p:nvSpPr>
        <p:spPr bwMode="auto">
          <a:xfrm>
            <a:off x="1753592" y="5921896"/>
            <a:ext cx="45929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dirty="0">
                <a:latin typeface="等线" panose="02010600030101010101" pitchFamily="2" charset="-122"/>
                <a:ea typeface="等线" panose="02010600030101010101" pitchFamily="2" charset="-122"/>
              </a:rPr>
              <a:t>C</a:t>
            </a:r>
            <a:r>
              <a:rPr lang="en-US" altLang="zh-CN" sz="2400" baseline="-30000" dirty="0">
                <a:latin typeface="等线" panose="02010600030101010101" pitchFamily="2" charset="-122"/>
                <a:ea typeface="等线" panose="02010600030101010101" pitchFamily="2" charset="-122"/>
              </a:rPr>
              <a:t>1</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2400" baseline="-30000" dirty="0">
                <a:latin typeface="等线" panose="02010600030101010101" pitchFamily="2" charset="-122"/>
                <a:ea typeface="等线" panose="02010600030101010101" pitchFamily="2" charset="-122"/>
              </a:rPr>
              <a:t>2</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2400" baseline="-30000" dirty="0">
                <a:latin typeface="等线" panose="02010600030101010101" pitchFamily="2" charset="-122"/>
                <a:ea typeface="等线" panose="02010600030101010101" pitchFamily="2" charset="-122"/>
              </a:rPr>
              <a:t>3</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2400" baseline="-30000" dirty="0">
                <a:latin typeface="等线" panose="02010600030101010101" pitchFamily="2" charset="-122"/>
                <a:ea typeface="等线" panose="02010600030101010101" pitchFamily="2" charset="-122"/>
              </a:rPr>
              <a:t>4</a:t>
            </a:r>
            <a:r>
              <a:rPr lang="zh-CN" altLang="en-US" sz="2400" dirty="0">
                <a:latin typeface="等线" panose="02010600030101010101" pitchFamily="2" charset="-122"/>
                <a:ea typeface="等线" panose="02010600030101010101" pitchFamily="2" charset="-122"/>
              </a:rPr>
              <a:t>是怎樣形成的？ </a:t>
            </a:r>
          </a:p>
        </p:txBody>
      </p:sp>
    </p:spTree>
    <p:extLst>
      <p:ext uri="{BB962C8B-B14F-4D97-AF65-F5344CB8AC3E}">
        <p14:creationId xmlns:p14="http://schemas.microsoft.com/office/powerpoint/2010/main" val="32375334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655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55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5" name="Rectangle 3"/>
          <p:cNvSpPr>
            <a:spLocks noGrp="1" noChangeArrowheads="1"/>
          </p:cNvSpPr>
          <p:nvPr>
            <p:ph type="title"/>
          </p:nvPr>
        </p:nvSpPr>
        <p:spPr>
          <a:xfrm>
            <a:off x="914400" y="44624"/>
            <a:ext cx="7772400" cy="1143000"/>
          </a:xfrm>
        </p:spPr>
        <p:txBody>
          <a:bodyPr/>
          <a:lstStyle/>
          <a:p>
            <a:r>
              <a:rPr lang="en-US" altLang="zh-CN" sz="3600" dirty="0"/>
              <a:t>3.3.7   </a:t>
            </a:r>
            <a:r>
              <a:rPr lang="zh-CN" altLang="en-US" sz="3600" dirty="0"/>
              <a:t>運算器</a:t>
            </a:r>
            <a:r>
              <a:rPr lang="en-US" altLang="zh-CN" sz="3600" dirty="0"/>
              <a:t>(21)</a:t>
            </a:r>
          </a:p>
        </p:txBody>
      </p:sp>
      <p:sp>
        <p:nvSpPr>
          <p:cNvPr id="16" name="灯片编号占位符 5"/>
          <p:cNvSpPr>
            <a:spLocks noGrp="1"/>
          </p:cNvSpPr>
          <p:nvPr>
            <p:ph type="sldNum" sz="quarter" idx="12"/>
          </p:nvPr>
        </p:nvSpPr>
        <p:spPr/>
        <p:txBody>
          <a:bodyPr/>
          <a:lstStyle/>
          <a:p>
            <a:fld id="{508C620B-C227-47D1-9A10-608A695DE94B}" type="slidenum">
              <a:rPr lang="en-US" altLang="zh-CN"/>
              <a:pPr/>
              <a:t>25</a:t>
            </a:fld>
            <a:endParaRPr lang="en-US" altLang="zh-CN" dirty="0"/>
          </a:p>
        </p:txBody>
      </p:sp>
      <p:graphicFrame>
        <p:nvGraphicFramePr>
          <p:cNvPr id="366596" name="Object 4"/>
          <p:cNvGraphicFramePr>
            <a:graphicFrameLocks noGrp="1" noChangeAspect="1"/>
          </p:cNvGraphicFramePr>
          <p:nvPr>
            <p:ph sz="quarter" idx="1"/>
            <p:extLst>
              <p:ext uri="{D42A27DB-BD31-4B8C-83A1-F6EECF244321}">
                <p14:modId xmlns:p14="http://schemas.microsoft.com/office/powerpoint/2010/main" val="2665272621"/>
              </p:ext>
            </p:extLst>
          </p:nvPr>
        </p:nvGraphicFramePr>
        <p:xfrm>
          <a:off x="762695" y="2492375"/>
          <a:ext cx="3449637" cy="504825"/>
        </p:xfrm>
        <a:graphic>
          <a:graphicData uri="http://schemas.openxmlformats.org/presentationml/2006/ole">
            <mc:AlternateContent xmlns:mc="http://schemas.openxmlformats.org/markup-compatibility/2006">
              <mc:Choice xmlns:v="urn:schemas-microsoft-com:vml" Requires="v">
                <p:oleObj name="公式" r:id="rId2" imgW="1562040" imgH="228600" progId="Equation.3">
                  <p:embed/>
                </p:oleObj>
              </mc:Choice>
              <mc:Fallback>
                <p:oleObj name="公式" r:id="rId2" imgW="1562040" imgH="228600" progId="Equation.3">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695" y="2492375"/>
                        <a:ext cx="3449637"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6594" name="Rectangle 2"/>
          <p:cNvSpPr>
            <a:spLocks noChangeArrowheads="1"/>
          </p:cNvSpPr>
          <p:nvPr/>
        </p:nvSpPr>
        <p:spPr bwMode="auto">
          <a:xfrm>
            <a:off x="175592" y="1268760"/>
            <a:ext cx="79248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FFFF00"/>
              </a:buClr>
            </a:pPr>
            <a:r>
              <a:rPr lang="zh-CN" altLang="en-US" sz="3200" dirty="0">
                <a:latin typeface="等线" panose="02010600030101010101" pitchFamily="2" charset="-122"/>
                <a:ea typeface="等线" panose="02010600030101010101" pitchFamily="2" charset="-122"/>
              </a:rPr>
              <a:t>四位並行加法器、超前進位加法器</a:t>
            </a:r>
            <a:endParaRPr lang="zh-CN" altLang="en-US" sz="2400" dirty="0">
              <a:latin typeface="等线" panose="02010600030101010101" pitchFamily="2" charset="-122"/>
              <a:ea typeface="等线" panose="02010600030101010101" pitchFamily="2" charset="-122"/>
            </a:endParaRPr>
          </a:p>
          <a:p>
            <a:pPr lvl="1">
              <a:spcBef>
                <a:spcPct val="20000"/>
              </a:spcBef>
              <a:buClr>
                <a:srgbClr val="FFFF00"/>
              </a:buClr>
            </a:pPr>
            <a:r>
              <a:rPr lang="en-US" altLang="zh-CN" sz="2400" dirty="0">
                <a:latin typeface="等线" panose="02010600030101010101" pitchFamily="2" charset="-122"/>
                <a:ea typeface="等线" panose="02010600030101010101" pitchFamily="2" charset="-122"/>
              </a:rPr>
              <a:t>C</a:t>
            </a:r>
            <a:r>
              <a:rPr lang="en-US" altLang="zh-CN" sz="2400" baseline="-30000" dirty="0">
                <a:latin typeface="等线" panose="02010600030101010101" pitchFamily="2" charset="-122"/>
                <a:ea typeface="等线" panose="02010600030101010101" pitchFamily="2" charset="-122"/>
              </a:rPr>
              <a:t>1</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2400" baseline="-30000" dirty="0">
                <a:latin typeface="等线" panose="02010600030101010101" pitchFamily="2" charset="-122"/>
                <a:ea typeface="等线" panose="02010600030101010101" pitchFamily="2" charset="-122"/>
              </a:rPr>
              <a:t>2</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2400" baseline="-30000" dirty="0">
                <a:latin typeface="等线" panose="02010600030101010101" pitchFamily="2" charset="-122"/>
                <a:ea typeface="等线" panose="02010600030101010101" pitchFamily="2" charset="-122"/>
              </a:rPr>
              <a:t>3</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2400" baseline="-30000" dirty="0">
                <a:latin typeface="等线" panose="02010600030101010101" pitchFamily="2" charset="-122"/>
                <a:ea typeface="等线" panose="02010600030101010101" pitchFamily="2" charset="-122"/>
              </a:rPr>
              <a:t>4</a:t>
            </a:r>
            <a:r>
              <a:rPr lang="zh-CN" altLang="en-US" sz="2400" dirty="0">
                <a:latin typeface="等线" panose="02010600030101010101" pitchFamily="2" charset="-122"/>
                <a:ea typeface="等线" panose="02010600030101010101" pitchFamily="2" charset="-122"/>
              </a:rPr>
              <a:t>形成的條件</a:t>
            </a:r>
          </a:p>
        </p:txBody>
      </p:sp>
      <p:graphicFrame>
        <p:nvGraphicFramePr>
          <p:cNvPr id="366597" name="Object 5"/>
          <p:cNvGraphicFramePr>
            <a:graphicFrameLocks noChangeAspect="1"/>
          </p:cNvGraphicFramePr>
          <p:nvPr>
            <p:extLst>
              <p:ext uri="{D42A27DB-BD31-4B8C-83A1-F6EECF244321}">
                <p14:modId xmlns:p14="http://schemas.microsoft.com/office/powerpoint/2010/main" val="3986277978"/>
              </p:ext>
            </p:extLst>
          </p:nvPr>
        </p:nvGraphicFramePr>
        <p:xfrm>
          <a:off x="769639" y="3140968"/>
          <a:ext cx="6970713" cy="517525"/>
        </p:xfrm>
        <a:graphic>
          <a:graphicData uri="http://schemas.openxmlformats.org/presentationml/2006/ole">
            <mc:AlternateContent xmlns:mc="http://schemas.openxmlformats.org/markup-compatibility/2006">
              <mc:Choice xmlns:v="urn:schemas-microsoft-com:vml" Requires="v">
                <p:oleObj name="公式" r:id="rId4" imgW="3263760" imgH="228600" progId="Equation.3">
                  <p:embed/>
                </p:oleObj>
              </mc:Choice>
              <mc:Fallback>
                <p:oleObj name="公式" r:id="rId4" imgW="326376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39" y="3140968"/>
                        <a:ext cx="6970713"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6598" name="Object 6"/>
          <p:cNvGraphicFramePr>
            <a:graphicFrameLocks noChangeAspect="1"/>
          </p:cNvGraphicFramePr>
          <p:nvPr>
            <p:extLst>
              <p:ext uri="{D42A27DB-BD31-4B8C-83A1-F6EECF244321}">
                <p14:modId xmlns:p14="http://schemas.microsoft.com/office/powerpoint/2010/main" val="1911746858"/>
              </p:ext>
            </p:extLst>
          </p:nvPr>
        </p:nvGraphicFramePr>
        <p:xfrm>
          <a:off x="811484" y="3789040"/>
          <a:ext cx="7000876" cy="1066800"/>
        </p:xfrm>
        <a:graphic>
          <a:graphicData uri="http://schemas.openxmlformats.org/presentationml/2006/ole">
            <mc:AlternateContent xmlns:mc="http://schemas.openxmlformats.org/markup-compatibility/2006">
              <mc:Choice xmlns:v="urn:schemas-microsoft-com:vml" Requires="v">
                <p:oleObj name="公式" r:id="rId6" imgW="3390840" imgH="482400" progId="Equation.3">
                  <p:embed/>
                </p:oleObj>
              </mc:Choice>
              <mc:Fallback>
                <p:oleObj name="公式" r:id="rId6" imgW="3390840" imgH="482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1484" y="3789040"/>
                        <a:ext cx="7000876"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6599" name="Object 7"/>
          <p:cNvGraphicFramePr>
            <a:graphicFrameLocks noChangeAspect="1"/>
          </p:cNvGraphicFramePr>
          <p:nvPr>
            <p:extLst>
              <p:ext uri="{D42A27DB-BD31-4B8C-83A1-F6EECF244321}">
                <p14:modId xmlns:p14="http://schemas.microsoft.com/office/powerpoint/2010/main" val="2259379153"/>
              </p:ext>
            </p:extLst>
          </p:nvPr>
        </p:nvGraphicFramePr>
        <p:xfrm>
          <a:off x="815106" y="4917752"/>
          <a:ext cx="6853238" cy="1557338"/>
        </p:xfrm>
        <a:graphic>
          <a:graphicData uri="http://schemas.openxmlformats.org/presentationml/2006/ole">
            <mc:AlternateContent xmlns:mc="http://schemas.openxmlformats.org/markup-compatibility/2006">
              <mc:Choice xmlns:v="urn:schemas-microsoft-com:vml" Requires="v">
                <p:oleObj name="公式" r:id="rId8" imgW="3454200" imgH="723600" progId="Equation.3">
                  <p:embed/>
                </p:oleObj>
              </mc:Choice>
              <mc:Fallback>
                <p:oleObj name="公式" r:id="rId8" imgW="3454200" imgH="723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5106" y="4917752"/>
                        <a:ext cx="6853238" cy="155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8"/>
          <p:cNvGrpSpPr>
            <a:grpSpLocks/>
          </p:cNvGrpSpPr>
          <p:nvPr/>
        </p:nvGrpSpPr>
        <p:grpSpPr bwMode="auto">
          <a:xfrm>
            <a:off x="539552" y="2438400"/>
            <a:ext cx="8352928" cy="4038600"/>
            <a:chOff x="336" y="1584"/>
            <a:chExt cx="5088" cy="2640"/>
          </a:xfrm>
        </p:grpSpPr>
        <p:sp>
          <p:nvSpPr>
            <p:cNvPr id="366601" name="Rectangle 9"/>
            <p:cNvSpPr>
              <a:spLocks noChangeArrowheads="1"/>
            </p:cNvSpPr>
            <p:nvPr/>
          </p:nvSpPr>
          <p:spPr bwMode="auto">
            <a:xfrm>
              <a:off x="336" y="1584"/>
              <a:ext cx="5088" cy="264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6602" name="Line 10"/>
            <p:cNvSpPr>
              <a:spLocks noChangeShapeType="1"/>
            </p:cNvSpPr>
            <p:nvPr/>
          </p:nvSpPr>
          <p:spPr bwMode="auto">
            <a:xfrm>
              <a:off x="336" y="2016"/>
              <a:ext cx="50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6603" name="Line 11"/>
            <p:cNvSpPr>
              <a:spLocks noChangeShapeType="1"/>
            </p:cNvSpPr>
            <p:nvPr/>
          </p:nvSpPr>
          <p:spPr bwMode="auto">
            <a:xfrm>
              <a:off x="336" y="2448"/>
              <a:ext cx="50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6604" name="Line 12"/>
            <p:cNvSpPr>
              <a:spLocks noChangeShapeType="1"/>
            </p:cNvSpPr>
            <p:nvPr/>
          </p:nvSpPr>
          <p:spPr bwMode="auto">
            <a:xfrm>
              <a:off x="336" y="3168"/>
              <a:ext cx="50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6605" name="Text Box 13"/>
          <p:cNvSpPr txBox="1">
            <a:spLocks noChangeArrowheads="1"/>
          </p:cNvSpPr>
          <p:nvPr/>
        </p:nvSpPr>
        <p:spPr bwMode="auto">
          <a:xfrm>
            <a:off x="6588224" y="248617"/>
            <a:ext cx="22860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spcBef>
                <a:spcPct val="50000"/>
              </a:spcBef>
            </a:pPr>
            <a:r>
              <a:rPr lang="en-US" altLang="zh-CN" sz="2400" dirty="0">
                <a:latin typeface="等线" panose="02010600030101010101" pitchFamily="2" charset="-122"/>
                <a:ea typeface="等线" panose="02010600030101010101" pitchFamily="2" charset="-122"/>
              </a:rPr>
              <a:t>G</a:t>
            </a:r>
            <a:r>
              <a:rPr lang="en-US" altLang="zh-CN" sz="2400" baseline="-25000" dirty="0">
                <a:latin typeface="等线" panose="02010600030101010101" pitchFamily="2" charset="-122"/>
                <a:ea typeface="等线" panose="02010600030101010101" pitchFamily="2" charset="-122"/>
              </a:rPr>
              <a:t>i </a:t>
            </a:r>
            <a:r>
              <a:rPr lang="en-US" altLang="zh-CN" sz="2400" dirty="0">
                <a:latin typeface="等线" panose="02010600030101010101" pitchFamily="2" charset="-122"/>
                <a:ea typeface="等线" panose="02010600030101010101" pitchFamily="2" charset="-122"/>
              </a:rPr>
              <a:t>= </a:t>
            </a:r>
            <a:r>
              <a:rPr lang="en-US" altLang="zh-CN" sz="2400" dirty="0" err="1">
                <a:latin typeface="等线" panose="02010600030101010101" pitchFamily="2" charset="-122"/>
                <a:ea typeface="等线" panose="02010600030101010101" pitchFamily="2" charset="-122"/>
              </a:rPr>
              <a:t>X</a:t>
            </a:r>
            <a:r>
              <a:rPr lang="en-US" altLang="zh-CN" sz="2400" baseline="-25000" dirty="0" err="1">
                <a:latin typeface="等线" panose="02010600030101010101" pitchFamily="2" charset="-122"/>
                <a:ea typeface="等线" panose="02010600030101010101" pitchFamily="2" charset="-122"/>
              </a:rPr>
              <a:t>i</a:t>
            </a:r>
            <a:r>
              <a:rPr lang="en-US" altLang="zh-CN" sz="2400" dirty="0" err="1">
                <a:latin typeface="等线" panose="02010600030101010101" pitchFamily="2" charset="-122"/>
                <a:ea typeface="等线" panose="02010600030101010101" pitchFamily="2" charset="-122"/>
              </a:rPr>
              <a:t>Y</a:t>
            </a:r>
            <a:r>
              <a:rPr lang="en-US" altLang="zh-CN" sz="2400" baseline="-25000" dirty="0" err="1">
                <a:latin typeface="等线" panose="02010600030101010101" pitchFamily="2" charset="-122"/>
                <a:ea typeface="等线" panose="02010600030101010101" pitchFamily="2" charset="-122"/>
              </a:rPr>
              <a:t>i</a:t>
            </a:r>
            <a:r>
              <a:rPr lang="en-US" altLang="zh-CN" sz="2400" b="1" baseline="-25000" dirty="0">
                <a:latin typeface="等线" panose="02010600030101010101" pitchFamily="2" charset="-122"/>
                <a:ea typeface="等线" panose="02010600030101010101" pitchFamily="2" charset="-122"/>
              </a:rPr>
              <a:t>  </a:t>
            </a:r>
            <a:r>
              <a:rPr lang="zh-CN" altLang="en-US" sz="2400" b="1" dirty="0">
                <a:latin typeface="等线" panose="02010600030101010101" pitchFamily="2" charset="-122"/>
                <a:ea typeface="等线" panose="02010600030101010101" pitchFamily="2" charset="-122"/>
              </a:rPr>
              <a:t>稱為</a:t>
            </a:r>
          </a:p>
          <a:p>
            <a:pPr>
              <a:spcBef>
                <a:spcPct val="50000"/>
              </a:spcBef>
            </a:pPr>
            <a:r>
              <a:rPr lang="zh-CN" altLang="en-US" sz="2400" b="1" dirty="0">
                <a:solidFill>
                  <a:srgbClr val="FF0000"/>
                </a:solidFill>
                <a:latin typeface="等线" panose="02010600030101010101" pitchFamily="2" charset="-122"/>
                <a:ea typeface="等线" panose="02010600030101010101" pitchFamily="2" charset="-122"/>
              </a:rPr>
              <a:t>產生進位函數</a:t>
            </a:r>
          </a:p>
          <a:p>
            <a:pPr>
              <a:spcBef>
                <a:spcPct val="50000"/>
              </a:spcBef>
            </a:pPr>
            <a:r>
              <a:rPr lang="en-US" altLang="zh-CN" sz="2400" dirty="0">
                <a:latin typeface="等线" panose="02010600030101010101" pitchFamily="2" charset="-122"/>
                <a:ea typeface="等线" panose="02010600030101010101" pitchFamily="2" charset="-122"/>
              </a:rPr>
              <a:t>P</a:t>
            </a:r>
            <a:r>
              <a:rPr lang="en-US" altLang="zh-CN" sz="2400" baseline="-25000" dirty="0">
                <a:latin typeface="等线" panose="02010600030101010101" pitchFamily="2" charset="-122"/>
                <a:ea typeface="等线" panose="02010600030101010101" pitchFamily="2" charset="-122"/>
              </a:rPr>
              <a:t>i</a:t>
            </a:r>
            <a:r>
              <a:rPr lang="en-US" altLang="zh-CN" sz="2400" dirty="0">
                <a:latin typeface="等线" panose="02010600030101010101" pitchFamily="2" charset="-122"/>
                <a:ea typeface="等线" panose="02010600030101010101" pitchFamily="2" charset="-122"/>
              </a:rPr>
              <a:t>=</a:t>
            </a:r>
            <a:r>
              <a:rPr lang="en-US" altLang="zh-CN" sz="2400" dirty="0" err="1">
                <a:latin typeface="等线" panose="02010600030101010101" pitchFamily="2" charset="-122"/>
                <a:ea typeface="等线" panose="02010600030101010101" pitchFamily="2" charset="-122"/>
              </a:rPr>
              <a:t>X</a:t>
            </a:r>
            <a:r>
              <a:rPr lang="en-US" altLang="zh-CN" sz="2400" baseline="-25000" dirty="0" err="1">
                <a:latin typeface="等线" panose="02010600030101010101" pitchFamily="2" charset="-122"/>
                <a:ea typeface="等线" panose="02010600030101010101" pitchFamily="2" charset="-122"/>
              </a:rPr>
              <a:t>i</a:t>
            </a:r>
            <a:r>
              <a:rPr lang="en-US" altLang="zh-CN" sz="2400" dirty="0" err="1">
                <a:latin typeface="等线" panose="02010600030101010101" pitchFamily="2" charset="-122"/>
                <a:ea typeface="等线" panose="02010600030101010101" pitchFamily="2" charset="-122"/>
              </a:rPr>
              <a:t>+Y</a:t>
            </a:r>
            <a:r>
              <a:rPr lang="en-US" altLang="zh-CN" sz="2400" baseline="-25000" dirty="0" err="1">
                <a:latin typeface="等线" panose="02010600030101010101" pitchFamily="2" charset="-122"/>
                <a:ea typeface="等线" panose="02010600030101010101" pitchFamily="2" charset="-122"/>
              </a:rPr>
              <a:t>i</a:t>
            </a:r>
            <a:r>
              <a:rPr lang="en-US" altLang="zh-CN" sz="2400" b="1" baseline="-25000" dirty="0">
                <a:latin typeface="等线" panose="02010600030101010101" pitchFamily="2" charset="-122"/>
                <a:ea typeface="等线" panose="02010600030101010101" pitchFamily="2" charset="-122"/>
              </a:rPr>
              <a:t>  </a:t>
            </a:r>
            <a:r>
              <a:rPr lang="zh-CN" altLang="en-US" sz="2400" b="1" dirty="0">
                <a:latin typeface="等线" panose="02010600030101010101" pitchFamily="2" charset="-122"/>
                <a:ea typeface="等线" panose="02010600030101010101" pitchFamily="2" charset="-122"/>
              </a:rPr>
              <a:t>稱為</a:t>
            </a:r>
            <a:endParaRPr lang="zh-CN" altLang="en-US" sz="2400" b="1" baseline="-25000" dirty="0">
              <a:latin typeface="等线" panose="02010600030101010101" pitchFamily="2" charset="-122"/>
              <a:ea typeface="等线" panose="02010600030101010101" pitchFamily="2" charset="-122"/>
            </a:endParaRPr>
          </a:p>
          <a:p>
            <a:pPr>
              <a:spcBef>
                <a:spcPct val="50000"/>
              </a:spcBef>
            </a:pPr>
            <a:r>
              <a:rPr lang="zh-CN" altLang="en-US" sz="2400" b="1" dirty="0">
                <a:solidFill>
                  <a:srgbClr val="FF0000"/>
                </a:solidFill>
                <a:latin typeface="等线" panose="02010600030101010101" pitchFamily="2" charset="-122"/>
                <a:ea typeface="等线" panose="02010600030101010101" pitchFamily="2" charset="-122"/>
              </a:rPr>
              <a:t>傳遞進位元函數</a:t>
            </a:r>
          </a:p>
        </p:txBody>
      </p:sp>
    </p:spTree>
    <p:extLst>
      <p:ext uri="{BB962C8B-B14F-4D97-AF65-F5344CB8AC3E}">
        <p14:creationId xmlns:p14="http://schemas.microsoft.com/office/powerpoint/2010/main" val="21523954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66596"/>
                                        </p:tgtEl>
                                        <p:attrNameLst>
                                          <p:attrName>style.visibility</p:attrName>
                                        </p:attrNameLst>
                                      </p:cBhvr>
                                      <p:to>
                                        <p:strVal val="visible"/>
                                      </p:to>
                                    </p:set>
                                    <p:anim calcmode="lin" valueType="num">
                                      <p:cBhvr additive="base">
                                        <p:cTn id="12" dur="500" fill="hold"/>
                                        <p:tgtEl>
                                          <p:spTgt spid="366596"/>
                                        </p:tgtEl>
                                        <p:attrNameLst>
                                          <p:attrName>ppt_x</p:attrName>
                                        </p:attrNameLst>
                                      </p:cBhvr>
                                      <p:tavLst>
                                        <p:tav tm="0">
                                          <p:val>
                                            <p:strVal val="#ppt_x"/>
                                          </p:val>
                                        </p:tav>
                                        <p:tav tm="100000">
                                          <p:val>
                                            <p:strVal val="#ppt_x"/>
                                          </p:val>
                                        </p:tav>
                                      </p:tavLst>
                                    </p:anim>
                                    <p:anim calcmode="lin" valueType="num">
                                      <p:cBhvr additive="base">
                                        <p:cTn id="13" dur="500" fill="hold"/>
                                        <p:tgtEl>
                                          <p:spTgt spid="366596"/>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66597"/>
                                        </p:tgtEl>
                                        <p:attrNameLst>
                                          <p:attrName>style.visibility</p:attrName>
                                        </p:attrNameLst>
                                      </p:cBhvr>
                                      <p:to>
                                        <p:strVal val="visible"/>
                                      </p:to>
                                    </p:set>
                                    <p:anim calcmode="lin" valueType="num">
                                      <p:cBhvr additive="base">
                                        <p:cTn id="18" dur="500" fill="hold"/>
                                        <p:tgtEl>
                                          <p:spTgt spid="366597"/>
                                        </p:tgtEl>
                                        <p:attrNameLst>
                                          <p:attrName>ppt_x</p:attrName>
                                        </p:attrNameLst>
                                      </p:cBhvr>
                                      <p:tavLst>
                                        <p:tav tm="0">
                                          <p:val>
                                            <p:strVal val="#ppt_x"/>
                                          </p:val>
                                        </p:tav>
                                        <p:tav tm="100000">
                                          <p:val>
                                            <p:strVal val="#ppt_x"/>
                                          </p:val>
                                        </p:tav>
                                      </p:tavLst>
                                    </p:anim>
                                    <p:anim calcmode="lin" valueType="num">
                                      <p:cBhvr additive="base">
                                        <p:cTn id="19" dur="500" fill="hold"/>
                                        <p:tgtEl>
                                          <p:spTgt spid="366597"/>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66598"/>
                                        </p:tgtEl>
                                        <p:attrNameLst>
                                          <p:attrName>style.visibility</p:attrName>
                                        </p:attrNameLst>
                                      </p:cBhvr>
                                      <p:to>
                                        <p:strVal val="visible"/>
                                      </p:to>
                                    </p:set>
                                    <p:anim calcmode="lin" valueType="num">
                                      <p:cBhvr additive="base">
                                        <p:cTn id="24" dur="500" fill="hold"/>
                                        <p:tgtEl>
                                          <p:spTgt spid="366598"/>
                                        </p:tgtEl>
                                        <p:attrNameLst>
                                          <p:attrName>ppt_x</p:attrName>
                                        </p:attrNameLst>
                                      </p:cBhvr>
                                      <p:tavLst>
                                        <p:tav tm="0">
                                          <p:val>
                                            <p:strVal val="#ppt_x"/>
                                          </p:val>
                                        </p:tav>
                                        <p:tav tm="100000">
                                          <p:val>
                                            <p:strVal val="#ppt_x"/>
                                          </p:val>
                                        </p:tav>
                                      </p:tavLst>
                                    </p:anim>
                                    <p:anim calcmode="lin" valueType="num">
                                      <p:cBhvr additive="base">
                                        <p:cTn id="25" dur="500" fill="hold"/>
                                        <p:tgtEl>
                                          <p:spTgt spid="366598"/>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366599"/>
                                        </p:tgtEl>
                                        <p:attrNameLst>
                                          <p:attrName>style.visibility</p:attrName>
                                        </p:attrNameLst>
                                      </p:cBhvr>
                                      <p:to>
                                        <p:strVal val="visible"/>
                                      </p:to>
                                    </p:set>
                                    <p:anim calcmode="lin" valueType="num">
                                      <p:cBhvr additive="base">
                                        <p:cTn id="30" dur="500" fill="hold"/>
                                        <p:tgtEl>
                                          <p:spTgt spid="366599"/>
                                        </p:tgtEl>
                                        <p:attrNameLst>
                                          <p:attrName>ppt_x</p:attrName>
                                        </p:attrNameLst>
                                      </p:cBhvr>
                                      <p:tavLst>
                                        <p:tav tm="0">
                                          <p:val>
                                            <p:strVal val="#ppt_x"/>
                                          </p:val>
                                        </p:tav>
                                        <p:tav tm="100000">
                                          <p:val>
                                            <p:strVal val="#ppt_x"/>
                                          </p:val>
                                        </p:tav>
                                      </p:tavLst>
                                    </p:anim>
                                    <p:anim calcmode="lin" valueType="num">
                                      <p:cBhvr additive="base">
                                        <p:cTn id="31" dur="500" fill="hold"/>
                                        <p:tgtEl>
                                          <p:spTgt spid="366599"/>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66605"/>
                                        </p:tgtEl>
                                        <p:attrNameLst>
                                          <p:attrName>style.visibility</p:attrName>
                                        </p:attrNameLst>
                                      </p:cBhvr>
                                      <p:to>
                                        <p:strVal val="visible"/>
                                      </p:to>
                                    </p:set>
                                    <p:animEffect transition="in" filter="dissolve">
                                      <p:cBhvr>
                                        <p:cTn id="36" dur="500"/>
                                        <p:tgtEl>
                                          <p:spTgt spid="366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60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p:txBody>
          <a:bodyPr/>
          <a:lstStyle/>
          <a:p>
            <a:r>
              <a:rPr lang="en-US" altLang="zh-CN" sz="3600" dirty="0"/>
              <a:t>3.3.7   </a:t>
            </a:r>
            <a:r>
              <a:rPr lang="zh-CN" altLang="en-US" sz="3600" dirty="0"/>
              <a:t>運算器</a:t>
            </a:r>
            <a:r>
              <a:rPr lang="en-US" altLang="zh-CN" sz="3600" dirty="0"/>
              <a:t>(22)</a:t>
            </a:r>
          </a:p>
        </p:txBody>
      </p:sp>
      <p:sp>
        <p:nvSpPr>
          <p:cNvPr id="12" name="灯片编号占位符 5"/>
          <p:cNvSpPr>
            <a:spLocks noGrp="1"/>
          </p:cNvSpPr>
          <p:nvPr>
            <p:ph type="sldNum" sz="quarter" idx="12"/>
          </p:nvPr>
        </p:nvSpPr>
        <p:spPr/>
        <p:txBody>
          <a:bodyPr/>
          <a:lstStyle/>
          <a:p>
            <a:fld id="{511D9F38-8084-4392-9E4B-A0F2D4012DE4}" type="slidenum">
              <a:rPr lang="en-US" altLang="zh-CN"/>
              <a:pPr/>
              <a:t>26</a:t>
            </a:fld>
            <a:endParaRPr lang="en-US" altLang="zh-CN" dirty="0"/>
          </a:p>
        </p:txBody>
      </p:sp>
      <p:sp>
        <p:nvSpPr>
          <p:cNvPr id="367619" name="Text Box 3"/>
          <p:cNvSpPr txBox="1">
            <a:spLocks noChangeArrowheads="1"/>
          </p:cNvSpPr>
          <p:nvPr/>
        </p:nvSpPr>
        <p:spPr bwMode="auto">
          <a:xfrm>
            <a:off x="762000" y="2743200"/>
            <a:ext cx="1766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latin typeface="等线" panose="02010600030101010101" pitchFamily="2" charset="-122"/>
                <a:ea typeface="等线" panose="02010600030101010101" pitchFamily="2" charset="-122"/>
              </a:rPr>
              <a:t>化簡，得</a:t>
            </a:r>
          </a:p>
        </p:txBody>
      </p:sp>
      <p:graphicFrame>
        <p:nvGraphicFramePr>
          <p:cNvPr id="367620" name="Object 4"/>
          <p:cNvGraphicFramePr>
            <a:graphicFrameLocks noChangeAspect="1"/>
          </p:cNvGraphicFramePr>
          <p:nvPr>
            <p:extLst>
              <p:ext uri="{D42A27DB-BD31-4B8C-83A1-F6EECF244321}">
                <p14:modId xmlns:p14="http://schemas.microsoft.com/office/powerpoint/2010/main" val="427531847"/>
              </p:ext>
            </p:extLst>
          </p:nvPr>
        </p:nvGraphicFramePr>
        <p:xfrm>
          <a:off x="2589213" y="3505200"/>
          <a:ext cx="3849687" cy="690563"/>
        </p:xfrm>
        <a:graphic>
          <a:graphicData uri="http://schemas.openxmlformats.org/presentationml/2006/ole">
            <mc:AlternateContent xmlns:mc="http://schemas.openxmlformats.org/markup-compatibility/2006">
              <mc:Choice xmlns:v="urn:schemas-microsoft-com:vml" Requires="v">
                <p:oleObj name="公式" r:id="rId2" imgW="1587240" imgH="279360" progId="Equation.3">
                  <p:embed/>
                </p:oleObj>
              </mc:Choice>
              <mc:Fallback>
                <p:oleObj name="公式" r:id="rId2" imgW="1587240" imgH="27936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213" y="3505200"/>
                        <a:ext cx="3849687"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7621" name="Object 5"/>
          <p:cNvGraphicFramePr>
            <a:graphicFrameLocks noChangeAspect="1"/>
          </p:cNvGraphicFramePr>
          <p:nvPr>
            <p:extLst>
              <p:ext uri="{D42A27DB-BD31-4B8C-83A1-F6EECF244321}">
                <p14:modId xmlns:p14="http://schemas.microsoft.com/office/powerpoint/2010/main" val="1892586002"/>
              </p:ext>
            </p:extLst>
          </p:nvPr>
        </p:nvGraphicFramePr>
        <p:xfrm>
          <a:off x="1739900" y="2057400"/>
          <a:ext cx="5761038" cy="565150"/>
        </p:xfrm>
        <a:graphic>
          <a:graphicData uri="http://schemas.openxmlformats.org/presentationml/2006/ole">
            <mc:AlternateContent xmlns:mc="http://schemas.openxmlformats.org/markup-compatibility/2006">
              <mc:Choice xmlns:v="urn:schemas-microsoft-com:vml" Requires="v">
                <p:oleObj name="公式" r:id="rId4" imgW="2374560" imgH="228600" progId="Equation.3">
                  <p:embed/>
                </p:oleObj>
              </mc:Choice>
              <mc:Fallback>
                <p:oleObj name="公式" r:id="rId4" imgW="237456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9900" y="2057400"/>
                        <a:ext cx="5761038" cy="56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7622" name="AutoShape 6"/>
          <p:cNvSpPr>
            <a:spLocks noChangeArrowheads="1"/>
          </p:cNvSpPr>
          <p:nvPr/>
        </p:nvSpPr>
        <p:spPr bwMode="auto">
          <a:xfrm>
            <a:off x="4495800" y="2590800"/>
            <a:ext cx="228600" cy="914400"/>
          </a:xfrm>
          <a:prstGeom prst="downArrow">
            <a:avLst>
              <a:gd name="adj1" fmla="val 50000"/>
              <a:gd name="adj2" fmla="val 1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23" name="AutoShape 7"/>
          <p:cNvSpPr>
            <a:spLocks noChangeArrowheads="1"/>
          </p:cNvSpPr>
          <p:nvPr/>
        </p:nvSpPr>
        <p:spPr bwMode="auto">
          <a:xfrm>
            <a:off x="4495800" y="4343400"/>
            <a:ext cx="228600" cy="914400"/>
          </a:xfrm>
          <a:prstGeom prst="downArrow">
            <a:avLst>
              <a:gd name="adj1" fmla="val 50000"/>
              <a:gd name="adj2" fmla="val 1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7624" name="Text Box 8"/>
          <p:cNvSpPr txBox="1">
            <a:spLocks noChangeArrowheads="1"/>
          </p:cNvSpPr>
          <p:nvPr/>
        </p:nvSpPr>
        <p:spPr bwMode="auto">
          <a:xfrm>
            <a:off x="990600" y="45720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latin typeface="等线" panose="02010600030101010101" pitchFamily="2" charset="-122"/>
                <a:ea typeface="等线" panose="02010600030101010101" pitchFamily="2" charset="-122"/>
              </a:rPr>
              <a:t>改寫為</a:t>
            </a:r>
          </a:p>
        </p:txBody>
      </p:sp>
      <p:graphicFrame>
        <p:nvGraphicFramePr>
          <p:cNvPr id="367625" name="Object 9"/>
          <p:cNvGraphicFramePr>
            <a:graphicFrameLocks noChangeAspect="1"/>
          </p:cNvGraphicFramePr>
          <p:nvPr>
            <p:extLst>
              <p:ext uri="{D42A27DB-BD31-4B8C-83A1-F6EECF244321}">
                <p14:modId xmlns:p14="http://schemas.microsoft.com/office/powerpoint/2010/main" val="856150269"/>
              </p:ext>
            </p:extLst>
          </p:nvPr>
        </p:nvGraphicFramePr>
        <p:xfrm>
          <a:off x="1803400" y="5334000"/>
          <a:ext cx="5602288" cy="690563"/>
        </p:xfrm>
        <a:graphic>
          <a:graphicData uri="http://schemas.openxmlformats.org/presentationml/2006/ole">
            <mc:AlternateContent xmlns:mc="http://schemas.openxmlformats.org/markup-compatibility/2006">
              <mc:Choice xmlns:v="urn:schemas-microsoft-com:vml" Requires="v">
                <p:oleObj name="公式" r:id="rId6" imgW="2311200" imgH="279360" progId="Equation.3">
                  <p:embed/>
                </p:oleObj>
              </mc:Choice>
              <mc:Fallback>
                <p:oleObj name="公式" r:id="rId6" imgW="2311200" imgH="2793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3400" y="5334000"/>
                        <a:ext cx="5602288"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34315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7621"/>
                                        </p:tgtEl>
                                        <p:attrNameLst>
                                          <p:attrName>style.visibility</p:attrName>
                                        </p:attrNameLst>
                                      </p:cBhvr>
                                      <p:to>
                                        <p:strVal val="visible"/>
                                      </p:to>
                                    </p:set>
                                    <p:anim calcmode="lin" valueType="num">
                                      <p:cBhvr additive="base">
                                        <p:cTn id="7" dur="500" fill="hold"/>
                                        <p:tgtEl>
                                          <p:spTgt spid="367621"/>
                                        </p:tgtEl>
                                        <p:attrNameLst>
                                          <p:attrName>ppt_x</p:attrName>
                                        </p:attrNameLst>
                                      </p:cBhvr>
                                      <p:tavLst>
                                        <p:tav tm="0">
                                          <p:val>
                                            <p:strVal val="#ppt_x"/>
                                          </p:val>
                                        </p:tav>
                                        <p:tav tm="100000">
                                          <p:val>
                                            <p:strVal val="#ppt_x"/>
                                          </p:val>
                                        </p:tav>
                                      </p:tavLst>
                                    </p:anim>
                                    <p:anim calcmode="lin" valueType="num">
                                      <p:cBhvr additive="base">
                                        <p:cTn id="8" dur="500" fill="hold"/>
                                        <p:tgtEl>
                                          <p:spTgt spid="36762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67619"/>
                                        </p:tgtEl>
                                        <p:attrNameLst>
                                          <p:attrName>style.visibility</p:attrName>
                                        </p:attrNameLst>
                                      </p:cBhvr>
                                      <p:to>
                                        <p:strVal val="visible"/>
                                      </p:to>
                                    </p:set>
                                    <p:animEffect transition="in" filter="blinds(horizontal)">
                                      <p:cBhvr>
                                        <p:cTn id="13" dur="500"/>
                                        <p:tgtEl>
                                          <p:spTgt spid="36761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12" fill="hold" grpId="0" nodeType="clickEffect">
                                  <p:stCondLst>
                                    <p:cond delay="0"/>
                                  </p:stCondLst>
                                  <p:childTnLst>
                                    <p:set>
                                      <p:cBhvr>
                                        <p:cTn id="17" dur="1" fill="hold">
                                          <p:stCondLst>
                                            <p:cond delay="0"/>
                                          </p:stCondLst>
                                        </p:cTn>
                                        <p:tgtEl>
                                          <p:spTgt spid="367622"/>
                                        </p:tgtEl>
                                        <p:attrNameLst>
                                          <p:attrName>style.visibility</p:attrName>
                                        </p:attrNameLst>
                                      </p:cBhvr>
                                      <p:to>
                                        <p:strVal val="visible"/>
                                      </p:to>
                                    </p:set>
                                    <p:animEffect transition="in" filter="strips(downLeft)">
                                      <p:cBhvr>
                                        <p:cTn id="18" dur="500"/>
                                        <p:tgtEl>
                                          <p:spTgt spid="36762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367620"/>
                                        </p:tgtEl>
                                        <p:attrNameLst>
                                          <p:attrName>style.visibility</p:attrName>
                                        </p:attrNameLst>
                                      </p:cBhvr>
                                      <p:to>
                                        <p:strVal val="visible"/>
                                      </p:to>
                                    </p:set>
                                    <p:anim calcmode="lin" valueType="num">
                                      <p:cBhvr additive="base">
                                        <p:cTn id="23" dur="500" fill="hold"/>
                                        <p:tgtEl>
                                          <p:spTgt spid="367620"/>
                                        </p:tgtEl>
                                        <p:attrNameLst>
                                          <p:attrName>ppt_x</p:attrName>
                                        </p:attrNameLst>
                                      </p:cBhvr>
                                      <p:tavLst>
                                        <p:tav tm="0">
                                          <p:val>
                                            <p:strVal val="#ppt_x"/>
                                          </p:val>
                                        </p:tav>
                                        <p:tav tm="100000">
                                          <p:val>
                                            <p:strVal val="#ppt_x"/>
                                          </p:val>
                                        </p:tav>
                                      </p:tavLst>
                                    </p:anim>
                                    <p:anim calcmode="lin" valueType="num">
                                      <p:cBhvr additive="base">
                                        <p:cTn id="24" dur="500" fill="hold"/>
                                        <p:tgtEl>
                                          <p:spTgt spid="367620"/>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67624"/>
                                        </p:tgtEl>
                                        <p:attrNameLst>
                                          <p:attrName>style.visibility</p:attrName>
                                        </p:attrNameLst>
                                      </p:cBhvr>
                                      <p:to>
                                        <p:strVal val="visible"/>
                                      </p:to>
                                    </p:set>
                                    <p:animEffect transition="in" filter="blinds(horizontal)">
                                      <p:cBhvr>
                                        <p:cTn id="29" dur="500"/>
                                        <p:tgtEl>
                                          <p:spTgt spid="36762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8" presetClass="entr" presetSubtype="12" fill="hold" grpId="0" nodeType="clickEffect">
                                  <p:stCondLst>
                                    <p:cond delay="0"/>
                                  </p:stCondLst>
                                  <p:childTnLst>
                                    <p:set>
                                      <p:cBhvr>
                                        <p:cTn id="33" dur="1" fill="hold">
                                          <p:stCondLst>
                                            <p:cond delay="0"/>
                                          </p:stCondLst>
                                        </p:cTn>
                                        <p:tgtEl>
                                          <p:spTgt spid="367623"/>
                                        </p:tgtEl>
                                        <p:attrNameLst>
                                          <p:attrName>style.visibility</p:attrName>
                                        </p:attrNameLst>
                                      </p:cBhvr>
                                      <p:to>
                                        <p:strVal val="visible"/>
                                      </p:to>
                                    </p:set>
                                    <p:animEffect transition="in" filter="strips(downLeft)">
                                      <p:cBhvr>
                                        <p:cTn id="34" dur="500"/>
                                        <p:tgtEl>
                                          <p:spTgt spid="36762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367625"/>
                                        </p:tgtEl>
                                        <p:attrNameLst>
                                          <p:attrName>style.visibility</p:attrName>
                                        </p:attrNameLst>
                                      </p:cBhvr>
                                      <p:to>
                                        <p:strVal val="visible"/>
                                      </p:to>
                                    </p:set>
                                    <p:anim calcmode="lin" valueType="num">
                                      <p:cBhvr additive="base">
                                        <p:cTn id="39" dur="500" fill="hold"/>
                                        <p:tgtEl>
                                          <p:spTgt spid="367625"/>
                                        </p:tgtEl>
                                        <p:attrNameLst>
                                          <p:attrName>ppt_x</p:attrName>
                                        </p:attrNameLst>
                                      </p:cBhvr>
                                      <p:tavLst>
                                        <p:tav tm="0">
                                          <p:val>
                                            <p:strVal val="#ppt_x"/>
                                          </p:val>
                                        </p:tav>
                                        <p:tav tm="100000">
                                          <p:val>
                                            <p:strVal val="#ppt_x"/>
                                          </p:val>
                                        </p:tav>
                                      </p:tavLst>
                                    </p:anim>
                                    <p:anim calcmode="lin" valueType="num">
                                      <p:cBhvr additive="base">
                                        <p:cTn id="40" dur="500" fill="hold"/>
                                        <p:tgtEl>
                                          <p:spTgt spid="3676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autoUpdateAnimBg="0"/>
      <p:bldP spid="367622" grpId="0" animBg="1"/>
      <p:bldP spid="367623" grpId="0" animBg="1"/>
      <p:bldP spid="367624"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a:xfrm>
            <a:off x="457200" y="304800"/>
            <a:ext cx="8534400" cy="609600"/>
          </a:xfrm>
        </p:spPr>
        <p:txBody>
          <a:bodyPr>
            <a:normAutofit fontScale="90000"/>
          </a:bodyPr>
          <a:lstStyle/>
          <a:p>
            <a:r>
              <a:rPr lang="en-US" altLang="zh-CN" sz="3600" dirty="0"/>
              <a:t>3.3.7   </a:t>
            </a:r>
            <a:r>
              <a:rPr lang="zh-CN" altLang="en-US" sz="3600" dirty="0"/>
              <a:t>運算器</a:t>
            </a:r>
            <a:r>
              <a:rPr lang="en-US" altLang="zh-CN" sz="3600" dirty="0"/>
              <a:t>(23)</a:t>
            </a:r>
          </a:p>
        </p:txBody>
      </p:sp>
      <p:sp>
        <p:nvSpPr>
          <p:cNvPr id="10" name="灯片编号占位符 5"/>
          <p:cNvSpPr>
            <a:spLocks noGrp="1"/>
          </p:cNvSpPr>
          <p:nvPr>
            <p:ph type="sldNum" sz="quarter" idx="12"/>
          </p:nvPr>
        </p:nvSpPr>
        <p:spPr/>
        <p:txBody>
          <a:bodyPr/>
          <a:lstStyle/>
          <a:p>
            <a:fld id="{2B08D80C-0AA8-4C67-A2F3-BE16CFE7BE1F}" type="slidenum">
              <a:rPr lang="en-US" altLang="zh-CN"/>
              <a:pPr/>
              <a:t>27</a:t>
            </a:fld>
            <a:endParaRPr lang="en-US" altLang="zh-CN" dirty="0"/>
          </a:p>
        </p:txBody>
      </p:sp>
      <p:graphicFrame>
        <p:nvGraphicFramePr>
          <p:cNvPr id="368643" name="Object 3"/>
          <p:cNvGraphicFramePr>
            <a:graphicFrameLocks noChangeAspect="1"/>
          </p:cNvGraphicFramePr>
          <p:nvPr>
            <p:extLst>
              <p:ext uri="{D42A27DB-BD31-4B8C-83A1-F6EECF244321}">
                <p14:modId xmlns:p14="http://schemas.microsoft.com/office/powerpoint/2010/main" val="1591020889"/>
              </p:ext>
            </p:extLst>
          </p:nvPr>
        </p:nvGraphicFramePr>
        <p:xfrm>
          <a:off x="1038225" y="1419225"/>
          <a:ext cx="6953250" cy="1089025"/>
        </p:xfrm>
        <a:graphic>
          <a:graphicData uri="http://schemas.openxmlformats.org/presentationml/2006/ole">
            <mc:AlternateContent xmlns:mc="http://schemas.openxmlformats.org/markup-compatibility/2006">
              <mc:Choice xmlns:v="urn:schemas-microsoft-com:vml" Requires="v">
                <p:oleObj name="公式" r:id="rId2" imgW="3263760" imgH="482400" progId="Equation.3">
                  <p:embed/>
                </p:oleObj>
              </mc:Choice>
              <mc:Fallback>
                <p:oleObj name="公式" r:id="rId2" imgW="3263760" imgH="482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225" y="1419225"/>
                        <a:ext cx="6953250" cy="1089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44" name="Object 4"/>
          <p:cNvGraphicFramePr>
            <a:graphicFrameLocks noChangeAspect="1"/>
          </p:cNvGraphicFramePr>
          <p:nvPr>
            <p:extLst>
              <p:ext uri="{D42A27DB-BD31-4B8C-83A1-F6EECF244321}">
                <p14:modId xmlns:p14="http://schemas.microsoft.com/office/powerpoint/2010/main" val="3892975915"/>
              </p:ext>
            </p:extLst>
          </p:nvPr>
        </p:nvGraphicFramePr>
        <p:xfrm>
          <a:off x="809625" y="3733800"/>
          <a:ext cx="7053263" cy="631825"/>
        </p:xfrm>
        <a:graphic>
          <a:graphicData uri="http://schemas.openxmlformats.org/presentationml/2006/ole">
            <mc:AlternateContent xmlns:mc="http://schemas.openxmlformats.org/markup-compatibility/2006">
              <mc:Choice xmlns:v="urn:schemas-microsoft-com:vml" Requires="v">
                <p:oleObj name="公式" r:id="rId4" imgW="3301920" imgH="279360" progId="Equation.3">
                  <p:embed/>
                </p:oleObj>
              </mc:Choice>
              <mc:Fallback>
                <p:oleObj name="公式" r:id="rId4" imgW="3301920" imgH="2793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625" y="3733800"/>
                        <a:ext cx="7053263"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45" name="AutoShape 5"/>
          <p:cNvSpPr>
            <a:spLocks noChangeArrowheads="1"/>
          </p:cNvSpPr>
          <p:nvPr/>
        </p:nvSpPr>
        <p:spPr bwMode="auto">
          <a:xfrm>
            <a:off x="4038600" y="2743200"/>
            <a:ext cx="228600" cy="914400"/>
          </a:xfrm>
          <a:prstGeom prst="downArrow">
            <a:avLst>
              <a:gd name="adj1" fmla="val 50000"/>
              <a:gd name="adj2" fmla="val 1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68646" name="Object 6"/>
          <p:cNvGraphicFramePr>
            <a:graphicFrameLocks noChangeAspect="1"/>
          </p:cNvGraphicFramePr>
          <p:nvPr>
            <p:extLst>
              <p:ext uri="{D42A27DB-BD31-4B8C-83A1-F6EECF244321}">
                <p14:modId xmlns:p14="http://schemas.microsoft.com/office/powerpoint/2010/main" val="1029630852"/>
              </p:ext>
            </p:extLst>
          </p:nvPr>
        </p:nvGraphicFramePr>
        <p:xfrm>
          <a:off x="1436688" y="5343525"/>
          <a:ext cx="6003925" cy="1317625"/>
        </p:xfrm>
        <a:graphic>
          <a:graphicData uri="http://schemas.openxmlformats.org/presentationml/2006/ole">
            <mc:AlternateContent xmlns:mc="http://schemas.openxmlformats.org/markup-compatibility/2006">
              <mc:Choice xmlns:v="urn:schemas-microsoft-com:vml" Requires="v">
                <p:oleObj name="公式" r:id="rId6" imgW="2819160" imgH="583920" progId="Equation.3">
                  <p:embed/>
                </p:oleObj>
              </mc:Choice>
              <mc:Fallback>
                <p:oleObj name="公式" r:id="rId6" imgW="2819160" imgH="58392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6688" y="5343525"/>
                        <a:ext cx="6003925" cy="1317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647" name="AutoShape 7"/>
          <p:cNvSpPr>
            <a:spLocks noChangeArrowheads="1"/>
          </p:cNvSpPr>
          <p:nvPr/>
        </p:nvSpPr>
        <p:spPr bwMode="auto">
          <a:xfrm>
            <a:off x="3962400" y="4419600"/>
            <a:ext cx="228600" cy="914400"/>
          </a:xfrm>
          <a:prstGeom prst="downArrow">
            <a:avLst>
              <a:gd name="adj1" fmla="val 50000"/>
              <a:gd name="adj2" fmla="val 1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995690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8643"/>
                                        </p:tgtEl>
                                        <p:attrNameLst>
                                          <p:attrName>style.visibility</p:attrName>
                                        </p:attrNameLst>
                                      </p:cBhvr>
                                      <p:to>
                                        <p:strVal val="visible"/>
                                      </p:to>
                                    </p:set>
                                    <p:anim calcmode="lin" valueType="num">
                                      <p:cBhvr additive="base">
                                        <p:cTn id="7" dur="500" fill="hold"/>
                                        <p:tgtEl>
                                          <p:spTgt spid="368643"/>
                                        </p:tgtEl>
                                        <p:attrNameLst>
                                          <p:attrName>ppt_x</p:attrName>
                                        </p:attrNameLst>
                                      </p:cBhvr>
                                      <p:tavLst>
                                        <p:tav tm="0">
                                          <p:val>
                                            <p:strVal val="#ppt_x"/>
                                          </p:val>
                                        </p:tav>
                                        <p:tav tm="100000">
                                          <p:val>
                                            <p:strVal val="#ppt_x"/>
                                          </p:val>
                                        </p:tav>
                                      </p:tavLst>
                                    </p:anim>
                                    <p:anim calcmode="lin" valueType="num">
                                      <p:cBhvr additive="base">
                                        <p:cTn id="8" dur="500" fill="hold"/>
                                        <p:tgtEl>
                                          <p:spTgt spid="36864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368645"/>
                                        </p:tgtEl>
                                        <p:attrNameLst>
                                          <p:attrName>style.visibility</p:attrName>
                                        </p:attrNameLst>
                                      </p:cBhvr>
                                      <p:to>
                                        <p:strVal val="visible"/>
                                      </p:to>
                                    </p:set>
                                    <p:animEffect transition="in" filter="strips(downLeft)">
                                      <p:cBhvr>
                                        <p:cTn id="13" dur="500"/>
                                        <p:tgtEl>
                                          <p:spTgt spid="36864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68644"/>
                                        </p:tgtEl>
                                        <p:attrNameLst>
                                          <p:attrName>style.visibility</p:attrName>
                                        </p:attrNameLst>
                                      </p:cBhvr>
                                      <p:to>
                                        <p:strVal val="visible"/>
                                      </p:to>
                                    </p:set>
                                    <p:anim calcmode="lin" valueType="num">
                                      <p:cBhvr additive="base">
                                        <p:cTn id="18" dur="500" fill="hold"/>
                                        <p:tgtEl>
                                          <p:spTgt spid="368644"/>
                                        </p:tgtEl>
                                        <p:attrNameLst>
                                          <p:attrName>ppt_x</p:attrName>
                                        </p:attrNameLst>
                                      </p:cBhvr>
                                      <p:tavLst>
                                        <p:tav tm="0">
                                          <p:val>
                                            <p:strVal val="#ppt_x"/>
                                          </p:val>
                                        </p:tav>
                                        <p:tav tm="100000">
                                          <p:val>
                                            <p:strVal val="#ppt_x"/>
                                          </p:val>
                                        </p:tav>
                                      </p:tavLst>
                                    </p:anim>
                                    <p:anim calcmode="lin" valueType="num">
                                      <p:cBhvr additive="base">
                                        <p:cTn id="19" dur="500" fill="hold"/>
                                        <p:tgtEl>
                                          <p:spTgt spid="368644"/>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368647"/>
                                        </p:tgtEl>
                                        <p:attrNameLst>
                                          <p:attrName>style.visibility</p:attrName>
                                        </p:attrNameLst>
                                      </p:cBhvr>
                                      <p:to>
                                        <p:strVal val="visible"/>
                                      </p:to>
                                    </p:set>
                                    <p:animEffect transition="in" filter="strips(downLeft)">
                                      <p:cBhvr>
                                        <p:cTn id="24" dur="500"/>
                                        <p:tgtEl>
                                          <p:spTgt spid="36864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68646"/>
                                        </p:tgtEl>
                                        <p:attrNameLst>
                                          <p:attrName>style.visibility</p:attrName>
                                        </p:attrNameLst>
                                      </p:cBhvr>
                                      <p:to>
                                        <p:strVal val="visible"/>
                                      </p:to>
                                    </p:set>
                                    <p:anim calcmode="lin" valueType="num">
                                      <p:cBhvr additive="base">
                                        <p:cTn id="29" dur="500" fill="hold"/>
                                        <p:tgtEl>
                                          <p:spTgt spid="368646"/>
                                        </p:tgtEl>
                                        <p:attrNameLst>
                                          <p:attrName>ppt_x</p:attrName>
                                        </p:attrNameLst>
                                      </p:cBhvr>
                                      <p:tavLst>
                                        <p:tav tm="0">
                                          <p:val>
                                            <p:strVal val="#ppt_x"/>
                                          </p:val>
                                        </p:tav>
                                        <p:tav tm="100000">
                                          <p:val>
                                            <p:strVal val="#ppt_x"/>
                                          </p:val>
                                        </p:tav>
                                      </p:tavLst>
                                    </p:anim>
                                    <p:anim calcmode="lin" valueType="num">
                                      <p:cBhvr additive="base">
                                        <p:cTn id="30" dur="500" fill="hold"/>
                                        <p:tgtEl>
                                          <p:spTgt spid="3686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5" grpId="0" animBg="1"/>
      <p:bldP spid="36864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1D0E14BF-3779-4D6B-8675-84BCDE5B2C15}" type="slidenum">
              <a:rPr lang="en-US" altLang="zh-CN"/>
              <a:pPr/>
              <a:t>28</a:t>
            </a:fld>
            <a:endParaRPr lang="en-US" altLang="zh-CN" dirty="0"/>
          </a:p>
        </p:txBody>
      </p:sp>
      <p:graphicFrame>
        <p:nvGraphicFramePr>
          <p:cNvPr id="369667" name="Object 3"/>
          <p:cNvGraphicFramePr>
            <a:graphicFrameLocks noChangeAspect="1"/>
          </p:cNvGraphicFramePr>
          <p:nvPr>
            <p:extLst>
              <p:ext uri="{D42A27DB-BD31-4B8C-83A1-F6EECF244321}">
                <p14:modId xmlns:p14="http://schemas.microsoft.com/office/powerpoint/2010/main" val="3898561981"/>
              </p:ext>
            </p:extLst>
          </p:nvPr>
        </p:nvGraphicFramePr>
        <p:xfrm>
          <a:off x="603250" y="568325"/>
          <a:ext cx="7000875" cy="1601788"/>
        </p:xfrm>
        <a:graphic>
          <a:graphicData uri="http://schemas.openxmlformats.org/presentationml/2006/ole">
            <mc:AlternateContent xmlns:mc="http://schemas.openxmlformats.org/markup-compatibility/2006">
              <mc:Choice xmlns:v="urn:schemas-microsoft-com:vml" Requires="v">
                <p:oleObj name="公式" r:id="rId3" imgW="3390840" imgH="723600" progId="Equation.3">
                  <p:embed/>
                </p:oleObj>
              </mc:Choice>
              <mc:Fallback>
                <p:oleObj name="公式" r:id="rId3" imgW="3390840" imgH="723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250" y="568325"/>
                        <a:ext cx="7000875" cy="160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9668" name="Object 4"/>
          <p:cNvGraphicFramePr>
            <a:graphicFrameLocks noChangeAspect="1"/>
          </p:cNvGraphicFramePr>
          <p:nvPr>
            <p:extLst>
              <p:ext uri="{D42A27DB-BD31-4B8C-83A1-F6EECF244321}">
                <p14:modId xmlns:p14="http://schemas.microsoft.com/office/powerpoint/2010/main" val="3544056957"/>
              </p:ext>
            </p:extLst>
          </p:nvPr>
        </p:nvGraphicFramePr>
        <p:xfrm>
          <a:off x="527050" y="3019425"/>
          <a:ext cx="7105650" cy="1293813"/>
        </p:xfrm>
        <a:graphic>
          <a:graphicData uri="http://schemas.openxmlformats.org/presentationml/2006/ole">
            <mc:AlternateContent xmlns:mc="http://schemas.openxmlformats.org/markup-compatibility/2006">
              <mc:Choice xmlns:v="urn:schemas-microsoft-com:vml" Requires="v">
                <p:oleObj name="公式" r:id="rId5" imgW="3441600" imgH="583920" progId="Equation.3">
                  <p:embed/>
                </p:oleObj>
              </mc:Choice>
              <mc:Fallback>
                <p:oleObj name="公式" r:id="rId5" imgW="3441600" imgH="5839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7050" y="3019425"/>
                        <a:ext cx="7105650" cy="1293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669" name="AutoShape 5"/>
          <p:cNvSpPr>
            <a:spLocks noChangeArrowheads="1"/>
          </p:cNvSpPr>
          <p:nvPr/>
        </p:nvSpPr>
        <p:spPr bwMode="auto">
          <a:xfrm>
            <a:off x="3733800" y="2133600"/>
            <a:ext cx="228600" cy="914400"/>
          </a:xfrm>
          <a:prstGeom prst="downArrow">
            <a:avLst>
              <a:gd name="adj1" fmla="val 50000"/>
              <a:gd name="adj2" fmla="val 1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69670" name="Object 6"/>
          <p:cNvGraphicFramePr>
            <a:graphicFrameLocks noChangeAspect="1"/>
          </p:cNvGraphicFramePr>
          <p:nvPr>
            <p:extLst>
              <p:ext uri="{D42A27DB-BD31-4B8C-83A1-F6EECF244321}">
                <p14:modId xmlns:p14="http://schemas.microsoft.com/office/powerpoint/2010/main" val="2866636213"/>
              </p:ext>
            </p:extLst>
          </p:nvPr>
        </p:nvGraphicFramePr>
        <p:xfrm>
          <a:off x="527050" y="5257800"/>
          <a:ext cx="8548791" cy="1292225"/>
        </p:xfrm>
        <a:graphic>
          <a:graphicData uri="http://schemas.openxmlformats.org/presentationml/2006/ole">
            <mc:AlternateContent xmlns:mc="http://schemas.openxmlformats.org/markup-compatibility/2006">
              <mc:Choice xmlns:v="urn:schemas-microsoft-com:vml" Requires="v">
                <p:oleObj name="公式" r:id="rId7" imgW="4431960" imgH="583920" progId="Equation.3">
                  <p:embed/>
                </p:oleObj>
              </mc:Choice>
              <mc:Fallback>
                <p:oleObj name="公式" r:id="rId7" imgW="4431960" imgH="58392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7050" y="5257800"/>
                        <a:ext cx="8548791" cy="1292225"/>
                      </a:xfrm>
                      <a:prstGeom prst="rect">
                        <a:avLst/>
                      </a:prstGeom>
                      <a:noFill/>
                    </p:spPr>
                  </p:pic>
                </p:oleObj>
              </mc:Fallback>
            </mc:AlternateContent>
          </a:graphicData>
        </a:graphic>
      </p:graphicFrame>
      <p:sp>
        <p:nvSpPr>
          <p:cNvPr id="369671" name="AutoShape 7"/>
          <p:cNvSpPr>
            <a:spLocks noChangeArrowheads="1"/>
          </p:cNvSpPr>
          <p:nvPr/>
        </p:nvSpPr>
        <p:spPr bwMode="auto">
          <a:xfrm>
            <a:off x="3733800" y="4343400"/>
            <a:ext cx="228600" cy="914400"/>
          </a:xfrm>
          <a:prstGeom prst="downArrow">
            <a:avLst>
              <a:gd name="adj1" fmla="val 50000"/>
              <a:gd name="adj2" fmla="val 1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37740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9667"/>
                                        </p:tgtEl>
                                        <p:attrNameLst>
                                          <p:attrName>style.visibility</p:attrName>
                                        </p:attrNameLst>
                                      </p:cBhvr>
                                      <p:to>
                                        <p:strVal val="visible"/>
                                      </p:to>
                                    </p:set>
                                    <p:anim calcmode="lin" valueType="num">
                                      <p:cBhvr additive="base">
                                        <p:cTn id="7" dur="500" fill="hold"/>
                                        <p:tgtEl>
                                          <p:spTgt spid="369667"/>
                                        </p:tgtEl>
                                        <p:attrNameLst>
                                          <p:attrName>ppt_x</p:attrName>
                                        </p:attrNameLst>
                                      </p:cBhvr>
                                      <p:tavLst>
                                        <p:tav tm="0">
                                          <p:val>
                                            <p:strVal val="#ppt_x"/>
                                          </p:val>
                                        </p:tav>
                                        <p:tav tm="100000">
                                          <p:val>
                                            <p:strVal val="#ppt_x"/>
                                          </p:val>
                                        </p:tav>
                                      </p:tavLst>
                                    </p:anim>
                                    <p:anim calcmode="lin" valueType="num">
                                      <p:cBhvr additive="base">
                                        <p:cTn id="8" dur="500" fill="hold"/>
                                        <p:tgtEl>
                                          <p:spTgt spid="36966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369669"/>
                                        </p:tgtEl>
                                        <p:attrNameLst>
                                          <p:attrName>style.visibility</p:attrName>
                                        </p:attrNameLst>
                                      </p:cBhvr>
                                      <p:to>
                                        <p:strVal val="visible"/>
                                      </p:to>
                                    </p:set>
                                    <p:animEffect transition="in" filter="strips(downLeft)">
                                      <p:cBhvr>
                                        <p:cTn id="13" dur="500"/>
                                        <p:tgtEl>
                                          <p:spTgt spid="36966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69668"/>
                                        </p:tgtEl>
                                        <p:attrNameLst>
                                          <p:attrName>style.visibility</p:attrName>
                                        </p:attrNameLst>
                                      </p:cBhvr>
                                      <p:to>
                                        <p:strVal val="visible"/>
                                      </p:to>
                                    </p:set>
                                    <p:anim calcmode="lin" valueType="num">
                                      <p:cBhvr additive="base">
                                        <p:cTn id="18" dur="500" fill="hold"/>
                                        <p:tgtEl>
                                          <p:spTgt spid="369668"/>
                                        </p:tgtEl>
                                        <p:attrNameLst>
                                          <p:attrName>ppt_x</p:attrName>
                                        </p:attrNameLst>
                                      </p:cBhvr>
                                      <p:tavLst>
                                        <p:tav tm="0">
                                          <p:val>
                                            <p:strVal val="#ppt_x"/>
                                          </p:val>
                                        </p:tav>
                                        <p:tav tm="100000">
                                          <p:val>
                                            <p:strVal val="#ppt_x"/>
                                          </p:val>
                                        </p:tav>
                                      </p:tavLst>
                                    </p:anim>
                                    <p:anim calcmode="lin" valueType="num">
                                      <p:cBhvr additive="base">
                                        <p:cTn id="19" dur="500" fill="hold"/>
                                        <p:tgtEl>
                                          <p:spTgt spid="369668"/>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8" presetClass="entr" presetSubtype="12" fill="hold" grpId="0" nodeType="clickEffect">
                                  <p:stCondLst>
                                    <p:cond delay="0"/>
                                  </p:stCondLst>
                                  <p:childTnLst>
                                    <p:set>
                                      <p:cBhvr>
                                        <p:cTn id="23" dur="1" fill="hold">
                                          <p:stCondLst>
                                            <p:cond delay="0"/>
                                          </p:stCondLst>
                                        </p:cTn>
                                        <p:tgtEl>
                                          <p:spTgt spid="369671"/>
                                        </p:tgtEl>
                                        <p:attrNameLst>
                                          <p:attrName>style.visibility</p:attrName>
                                        </p:attrNameLst>
                                      </p:cBhvr>
                                      <p:to>
                                        <p:strVal val="visible"/>
                                      </p:to>
                                    </p:set>
                                    <p:animEffect transition="in" filter="strips(downLeft)">
                                      <p:cBhvr>
                                        <p:cTn id="24" dur="500"/>
                                        <p:tgtEl>
                                          <p:spTgt spid="36967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69670"/>
                                        </p:tgtEl>
                                        <p:attrNameLst>
                                          <p:attrName>style.visibility</p:attrName>
                                        </p:attrNameLst>
                                      </p:cBhvr>
                                      <p:to>
                                        <p:strVal val="visible"/>
                                      </p:to>
                                    </p:set>
                                    <p:anim calcmode="lin" valueType="num">
                                      <p:cBhvr additive="base">
                                        <p:cTn id="29" dur="500" fill="hold"/>
                                        <p:tgtEl>
                                          <p:spTgt spid="369670"/>
                                        </p:tgtEl>
                                        <p:attrNameLst>
                                          <p:attrName>ppt_x</p:attrName>
                                        </p:attrNameLst>
                                      </p:cBhvr>
                                      <p:tavLst>
                                        <p:tav tm="0">
                                          <p:val>
                                            <p:strVal val="#ppt_x"/>
                                          </p:val>
                                        </p:tav>
                                        <p:tav tm="100000">
                                          <p:val>
                                            <p:strVal val="#ppt_x"/>
                                          </p:val>
                                        </p:tav>
                                      </p:tavLst>
                                    </p:anim>
                                    <p:anim calcmode="lin" valueType="num">
                                      <p:cBhvr additive="base">
                                        <p:cTn id="30" dur="500" fill="hold"/>
                                        <p:tgtEl>
                                          <p:spTgt spid="3696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9" grpId="0" animBg="1"/>
      <p:bldP spid="369671"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A28106A-F78F-4742-9BC2-BB2FB43E2B88}" type="slidenum">
              <a:rPr lang="en-US" altLang="zh-CN"/>
              <a:pPr/>
              <a:t>29</a:t>
            </a:fld>
            <a:endParaRPr lang="en-US" altLang="zh-CN" dirty="0"/>
          </a:p>
        </p:txBody>
      </p:sp>
      <p:graphicFrame>
        <p:nvGraphicFramePr>
          <p:cNvPr id="370690" name="Object 2"/>
          <p:cNvGraphicFramePr>
            <a:graphicFrameLocks noGrp="1" noChangeAspect="1"/>
          </p:cNvGraphicFramePr>
          <p:nvPr>
            <p:ph sz="quarter" idx="1"/>
            <p:extLst>
              <p:ext uri="{D42A27DB-BD31-4B8C-83A1-F6EECF244321}">
                <p14:modId xmlns:p14="http://schemas.microsoft.com/office/powerpoint/2010/main" val="1496154071"/>
              </p:ext>
            </p:extLst>
          </p:nvPr>
        </p:nvGraphicFramePr>
        <p:xfrm>
          <a:off x="838200" y="627063"/>
          <a:ext cx="7239000" cy="2022475"/>
        </p:xfrm>
        <a:graphic>
          <a:graphicData uri="http://schemas.openxmlformats.org/presentationml/2006/ole">
            <mc:AlternateContent xmlns:mc="http://schemas.openxmlformats.org/markup-compatibility/2006">
              <mc:Choice xmlns:v="urn:schemas-microsoft-com:vml" Requires="v">
                <p:oleObj name="公式" r:id="rId2" imgW="3454200" imgH="965160" progId="Equation.3">
                  <p:embed/>
                </p:oleObj>
              </mc:Choice>
              <mc:Fallback>
                <p:oleObj name="公式" r:id="rId2" imgW="3454200" imgH="965160" progId="Equation.3">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627063"/>
                        <a:ext cx="7239000" cy="202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0691" name="AutoShape 3"/>
          <p:cNvSpPr>
            <a:spLocks noChangeArrowheads="1"/>
          </p:cNvSpPr>
          <p:nvPr/>
        </p:nvSpPr>
        <p:spPr bwMode="auto">
          <a:xfrm>
            <a:off x="4267200" y="2743200"/>
            <a:ext cx="228600" cy="914400"/>
          </a:xfrm>
          <a:prstGeom prst="downArrow">
            <a:avLst>
              <a:gd name="adj1" fmla="val 50000"/>
              <a:gd name="adj2" fmla="val 10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70692" name="Object 4"/>
          <p:cNvGraphicFramePr>
            <a:graphicFrameLocks noChangeAspect="1"/>
          </p:cNvGraphicFramePr>
          <p:nvPr>
            <p:extLst>
              <p:ext uri="{D42A27DB-BD31-4B8C-83A1-F6EECF244321}">
                <p14:modId xmlns:p14="http://schemas.microsoft.com/office/powerpoint/2010/main" val="3482456675"/>
              </p:ext>
            </p:extLst>
          </p:nvPr>
        </p:nvGraphicFramePr>
        <p:xfrm>
          <a:off x="723900" y="3838575"/>
          <a:ext cx="7469188" cy="2000250"/>
        </p:xfrm>
        <a:graphic>
          <a:graphicData uri="http://schemas.openxmlformats.org/presentationml/2006/ole">
            <mc:AlternateContent xmlns:mc="http://schemas.openxmlformats.org/markup-compatibility/2006">
              <mc:Choice xmlns:v="urn:schemas-microsoft-com:vml" Requires="v">
                <p:oleObj name="公式" r:id="rId4" imgW="3314520" imgH="888840" progId="Equation.3">
                  <p:embed/>
                </p:oleObj>
              </mc:Choice>
              <mc:Fallback>
                <p:oleObj name="公式" r:id="rId4" imgW="3314520" imgH="8888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 y="3838575"/>
                        <a:ext cx="7469188" cy="200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499616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0690"/>
                                        </p:tgtEl>
                                        <p:attrNameLst>
                                          <p:attrName>style.visibility</p:attrName>
                                        </p:attrNameLst>
                                      </p:cBhvr>
                                      <p:to>
                                        <p:strVal val="visible"/>
                                      </p:to>
                                    </p:set>
                                    <p:anim calcmode="lin" valueType="num">
                                      <p:cBhvr additive="base">
                                        <p:cTn id="7" dur="500" fill="hold"/>
                                        <p:tgtEl>
                                          <p:spTgt spid="370690"/>
                                        </p:tgtEl>
                                        <p:attrNameLst>
                                          <p:attrName>ppt_x</p:attrName>
                                        </p:attrNameLst>
                                      </p:cBhvr>
                                      <p:tavLst>
                                        <p:tav tm="0">
                                          <p:val>
                                            <p:strVal val="#ppt_x"/>
                                          </p:val>
                                        </p:tav>
                                        <p:tav tm="100000">
                                          <p:val>
                                            <p:strVal val="#ppt_x"/>
                                          </p:val>
                                        </p:tav>
                                      </p:tavLst>
                                    </p:anim>
                                    <p:anim calcmode="lin" valueType="num">
                                      <p:cBhvr additive="base">
                                        <p:cTn id="8" dur="500" fill="hold"/>
                                        <p:tgtEl>
                                          <p:spTgt spid="37069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370691"/>
                                        </p:tgtEl>
                                        <p:attrNameLst>
                                          <p:attrName>style.visibility</p:attrName>
                                        </p:attrNameLst>
                                      </p:cBhvr>
                                      <p:to>
                                        <p:strVal val="visible"/>
                                      </p:to>
                                    </p:set>
                                    <p:animEffect transition="in" filter="strips(downLeft)">
                                      <p:cBhvr>
                                        <p:cTn id="13" dur="500"/>
                                        <p:tgtEl>
                                          <p:spTgt spid="37069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70692"/>
                                        </p:tgtEl>
                                        <p:attrNameLst>
                                          <p:attrName>style.visibility</p:attrName>
                                        </p:attrNameLst>
                                      </p:cBhvr>
                                      <p:to>
                                        <p:strVal val="visible"/>
                                      </p:to>
                                    </p:set>
                                    <p:anim calcmode="lin" valueType="num">
                                      <p:cBhvr additive="base">
                                        <p:cTn id="18" dur="500" fill="hold"/>
                                        <p:tgtEl>
                                          <p:spTgt spid="370692"/>
                                        </p:tgtEl>
                                        <p:attrNameLst>
                                          <p:attrName>ppt_x</p:attrName>
                                        </p:attrNameLst>
                                      </p:cBhvr>
                                      <p:tavLst>
                                        <p:tav tm="0">
                                          <p:val>
                                            <p:strVal val="#ppt_x"/>
                                          </p:val>
                                        </p:tav>
                                        <p:tav tm="100000">
                                          <p:val>
                                            <p:strVal val="#ppt_x"/>
                                          </p:val>
                                        </p:tav>
                                      </p:tavLst>
                                    </p:anim>
                                    <p:anim calcmode="lin" valueType="num">
                                      <p:cBhvr additive="base">
                                        <p:cTn id="19" dur="500" fill="hold"/>
                                        <p:tgtEl>
                                          <p:spTgt spid="3706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5"/>
          <p:cNvSpPr>
            <a:spLocks noGrp="1"/>
          </p:cNvSpPr>
          <p:nvPr>
            <p:ph type="sldNum" sz="quarter" idx="12"/>
          </p:nvPr>
        </p:nvSpPr>
        <p:spPr/>
        <p:txBody>
          <a:bodyPr/>
          <a:lstStyle/>
          <a:p>
            <a:fld id="{7B713392-23F5-49E6-B920-78B18FC09B37}" type="slidenum">
              <a:rPr lang="en-US" altLang="zh-CN"/>
              <a:pPr/>
              <a:t>30</a:t>
            </a:fld>
            <a:endParaRPr lang="en-US" altLang="zh-CN" dirty="0"/>
          </a:p>
        </p:txBody>
      </p:sp>
      <p:graphicFrame>
        <p:nvGraphicFramePr>
          <p:cNvPr id="371714" name="Object 2"/>
          <p:cNvGraphicFramePr>
            <a:graphicFrameLocks noChangeAspect="1"/>
          </p:cNvGraphicFramePr>
          <p:nvPr>
            <p:extLst>
              <p:ext uri="{D42A27DB-BD31-4B8C-83A1-F6EECF244321}">
                <p14:modId xmlns:p14="http://schemas.microsoft.com/office/powerpoint/2010/main" val="3115847879"/>
              </p:ext>
            </p:extLst>
          </p:nvPr>
        </p:nvGraphicFramePr>
        <p:xfrm>
          <a:off x="288354" y="2266968"/>
          <a:ext cx="8820150" cy="3733800"/>
        </p:xfrm>
        <a:graphic>
          <a:graphicData uri="http://schemas.openxmlformats.org/presentationml/2006/ole">
            <mc:AlternateContent xmlns:mc="http://schemas.openxmlformats.org/markup-compatibility/2006">
              <mc:Choice xmlns:v="urn:schemas-microsoft-com:vml" Requires="v">
                <p:oleObj name="Image" r:id="rId2" imgW="13479184" imgH="6592653" progId="">
                  <p:embed/>
                </p:oleObj>
              </mc:Choice>
              <mc:Fallback>
                <p:oleObj name="Image" r:id="rId2" imgW="13479184" imgH="6592653"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354" y="2266968"/>
                        <a:ext cx="882015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1715" name="Text Box 3"/>
          <p:cNvSpPr txBox="1">
            <a:spLocks noChangeArrowheads="1"/>
          </p:cNvSpPr>
          <p:nvPr/>
        </p:nvSpPr>
        <p:spPr bwMode="auto">
          <a:xfrm>
            <a:off x="1258888" y="6092825"/>
            <a:ext cx="68421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i</a:t>
            </a:r>
            <a:r>
              <a:rPr lang="zh-CN" altLang="en-US" sz="2400" b="1" dirty="0">
                <a:latin typeface="等线" panose="02010600030101010101" pitchFamily="2" charset="-122"/>
                <a:ea typeface="等线" panose="02010600030101010101" pitchFamily="2" charset="-122"/>
              </a:rPr>
              <a:t>延遲級數與位數無關</a:t>
            </a:r>
            <a:r>
              <a:rPr lang="en-US" altLang="zh-CN" sz="2400" b="1" dirty="0">
                <a:latin typeface="等线" panose="02010600030101010101" pitchFamily="2" charset="-122"/>
                <a:ea typeface="等线" panose="02010600030101010101" pitchFamily="2" charset="-122"/>
              </a:rPr>
              <a:t>: </a:t>
            </a:r>
            <a:r>
              <a:rPr lang="zh-CN" altLang="en-US" sz="2400" b="1" dirty="0">
                <a:latin typeface="等线" panose="02010600030101010101" pitchFamily="2" charset="-122"/>
                <a:ea typeface="等线" panose="02010600030101010101" pitchFamily="2" charset="-122"/>
              </a:rPr>
              <a:t>都是</a:t>
            </a:r>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級</a:t>
            </a:r>
            <a:r>
              <a:rPr lang="en-US" altLang="zh-CN" sz="2400" b="1" dirty="0">
                <a:latin typeface="等线" panose="02010600030101010101" pitchFamily="2" charset="-122"/>
                <a:ea typeface="等线" panose="02010600030101010101" pitchFamily="2" charset="-122"/>
              </a:rPr>
              <a:t>;  F</a:t>
            </a:r>
            <a:r>
              <a:rPr lang="en-US" altLang="zh-CN" sz="2400" b="1" baseline="-25000" dirty="0">
                <a:latin typeface="等线" panose="02010600030101010101" pitchFamily="2" charset="-122"/>
                <a:ea typeface="等线" panose="02010600030101010101" pitchFamily="2" charset="-122"/>
              </a:rPr>
              <a:t>i</a:t>
            </a:r>
            <a:r>
              <a:rPr lang="zh-CN" altLang="en-US" sz="2400" b="1" dirty="0">
                <a:solidFill>
                  <a:srgbClr val="0070C0"/>
                </a:solidFill>
                <a:latin typeface="等线" panose="02010600030101010101" pitchFamily="2" charset="-122"/>
                <a:ea typeface="等线" panose="02010600030101010101" pitchFamily="2" charset="-122"/>
              </a:rPr>
              <a:t>基本</a:t>
            </a:r>
            <a:r>
              <a:rPr lang="zh-CN" altLang="en-US" sz="2400" b="1" dirty="0">
                <a:latin typeface="等线" panose="02010600030101010101" pitchFamily="2" charset="-122"/>
                <a:ea typeface="等线" panose="02010600030101010101" pitchFamily="2" charset="-122"/>
              </a:rPr>
              <a:t>都是</a:t>
            </a:r>
            <a:r>
              <a:rPr lang="en-US" altLang="zh-CN" sz="2400"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級</a:t>
            </a:r>
          </a:p>
        </p:txBody>
      </p:sp>
      <p:graphicFrame>
        <p:nvGraphicFramePr>
          <p:cNvPr id="371716" name="Object 4"/>
          <p:cNvGraphicFramePr>
            <a:graphicFrameLocks noChangeAspect="1"/>
          </p:cNvGraphicFramePr>
          <p:nvPr>
            <p:extLst>
              <p:ext uri="{D42A27DB-BD31-4B8C-83A1-F6EECF244321}">
                <p14:modId xmlns:p14="http://schemas.microsoft.com/office/powerpoint/2010/main" val="2535315785"/>
              </p:ext>
            </p:extLst>
          </p:nvPr>
        </p:nvGraphicFramePr>
        <p:xfrm>
          <a:off x="82550" y="152400"/>
          <a:ext cx="4254500" cy="523875"/>
        </p:xfrm>
        <a:graphic>
          <a:graphicData uri="http://schemas.openxmlformats.org/presentationml/2006/ole">
            <mc:AlternateContent xmlns:mc="http://schemas.openxmlformats.org/markup-compatibility/2006">
              <mc:Choice xmlns:v="urn:schemas-microsoft-com:vml" Requires="v">
                <p:oleObj name="公式" r:id="rId4" imgW="2311200" imgH="279360" progId="Equation.3">
                  <p:embed/>
                </p:oleObj>
              </mc:Choice>
              <mc:Fallback>
                <p:oleObj name="公式" r:id="rId4" imgW="2311200" imgH="2793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50" y="152400"/>
                        <a:ext cx="425450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1717" name="Object 5"/>
          <p:cNvGraphicFramePr>
            <a:graphicFrameLocks noChangeAspect="1"/>
          </p:cNvGraphicFramePr>
          <p:nvPr>
            <p:extLst>
              <p:ext uri="{D42A27DB-BD31-4B8C-83A1-F6EECF244321}">
                <p14:modId xmlns:p14="http://schemas.microsoft.com/office/powerpoint/2010/main" val="2345705546"/>
              </p:ext>
            </p:extLst>
          </p:nvPr>
        </p:nvGraphicFramePr>
        <p:xfrm>
          <a:off x="82550" y="625475"/>
          <a:ext cx="7454900" cy="517525"/>
        </p:xfrm>
        <a:graphic>
          <a:graphicData uri="http://schemas.openxmlformats.org/presentationml/2006/ole">
            <mc:AlternateContent xmlns:mc="http://schemas.openxmlformats.org/markup-compatibility/2006">
              <mc:Choice xmlns:v="urn:schemas-microsoft-com:vml" Requires="v">
                <p:oleObj name="公式" r:id="rId6" imgW="4267080" imgH="279360" progId="Equation.3">
                  <p:embed/>
                </p:oleObj>
              </mc:Choice>
              <mc:Fallback>
                <p:oleObj name="公式" r:id="rId6" imgW="4267080" imgH="2793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550" y="625475"/>
                        <a:ext cx="745490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1718" name="Object 6"/>
          <p:cNvGraphicFramePr>
            <a:graphicFrameLocks noChangeAspect="1"/>
          </p:cNvGraphicFramePr>
          <p:nvPr>
            <p:extLst>
              <p:ext uri="{D42A27DB-BD31-4B8C-83A1-F6EECF244321}">
                <p14:modId xmlns:p14="http://schemas.microsoft.com/office/powerpoint/2010/main" val="2664389483"/>
              </p:ext>
            </p:extLst>
          </p:nvPr>
        </p:nvGraphicFramePr>
        <p:xfrm>
          <a:off x="107504" y="1066800"/>
          <a:ext cx="7440612" cy="515938"/>
        </p:xfrm>
        <a:graphic>
          <a:graphicData uri="http://schemas.openxmlformats.org/presentationml/2006/ole">
            <mc:AlternateContent xmlns:mc="http://schemas.openxmlformats.org/markup-compatibility/2006">
              <mc:Choice xmlns:v="urn:schemas-microsoft-com:vml" Requires="v">
                <p:oleObj name="公式" r:id="rId8" imgW="4431960" imgH="279360" progId="Equation.3">
                  <p:embed/>
                </p:oleObj>
              </mc:Choice>
              <mc:Fallback>
                <p:oleObj name="公式" r:id="rId8" imgW="4431960" imgH="27936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504" y="1066800"/>
                        <a:ext cx="7440612" cy="515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1719" name="Object 7"/>
          <p:cNvGraphicFramePr>
            <a:graphicFrameLocks noChangeAspect="1"/>
          </p:cNvGraphicFramePr>
          <p:nvPr>
            <p:extLst>
              <p:ext uri="{D42A27DB-BD31-4B8C-83A1-F6EECF244321}">
                <p14:modId xmlns:p14="http://schemas.microsoft.com/office/powerpoint/2010/main" val="3054368701"/>
              </p:ext>
            </p:extLst>
          </p:nvPr>
        </p:nvGraphicFramePr>
        <p:xfrm>
          <a:off x="128141" y="1595438"/>
          <a:ext cx="8921750" cy="461962"/>
        </p:xfrm>
        <a:graphic>
          <a:graphicData uri="http://schemas.openxmlformats.org/presentationml/2006/ole">
            <mc:AlternateContent xmlns:mc="http://schemas.openxmlformats.org/markup-compatibility/2006">
              <mc:Choice xmlns:v="urn:schemas-microsoft-com:vml" Requires="v">
                <p:oleObj name="公式" r:id="rId10" imgW="6298920" imgH="279360" progId="Equation.3">
                  <p:embed/>
                </p:oleObj>
              </mc:Choice>
              <mc:Fallback>
                <p:oleObj name="公式" r:id="rId10" imgW="6298920" imgH="27936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8141" y="1595438"/>
                        <a:ext cx="8921750"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8"/>
          <p:cNvGrpSpPr>
            <a:grpSpLocks/>
          </p:cNvGrpSpPr>
          <p:nvPr/>
        </p:nvGrpSpPr>
        <p:grpSpPr bwMode="auto">
          <a:xfrm>
            <a:off x="2231454" y="3115816"/>
            <a:ext cx="533400" cy="457200"/>
            <a:chOff x="432" y="3840"/>
            <a:chExt cx="336" cy="288"/>
          </a:xfrm>
        </p:grpSpPr>
        <p:sp>
          <p:nvSpPr>
            <p:cNvPr id="371721" name="Text Box 9"/>
            <p:cNvSpPr txBox="1">
              <a:spLocks noChangeArrowheads="1"/>
            </p:cNvSpPr>
            <p:nvPr/>
          </p:nvSpPr>
          <p:spPr bwMode="auto">
            <a:xfrm>
              <a:off x="432" y="38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FF0000"/>
                  </a:solidFill>
                  <a:latin typeface="Times New Roman" pitchFamily="18" charset="0"/>
                </a:rPr>
                <a:t>P</a:t>
              </a:r>
              <a:r>
                <a:rPr kumimoji="1" lang="en-US" altLang="zh-CN" sz="2400" baseline="-25000" dirty="0">
                  <a:solidFill>
                    <a:srgbClr val="FF0000"/>
                  </a:solidFill>
                  <a:latin typeface="Times New Roman" pitchFamily="18" charset="0"/>
                </a:rPr>
                <a:t>1</a:t>
              </a:r>
            </a:p>
          </p:txBody>
        </p:sp>
        <p:sp>
          <p:nvSpPr>
            <p:cNvPr id="371722" name="Line 10"/>
            <p:cNvSpPr>
              <a:spLocks noChangeShapeType="1"/>
            </p:cNvSpPr>
            <p:nvPr/>
          </p:nvSpPr>
          <p:spPr bwMode="auto">
            <a:xfrm>
              <a:off x="432" y="3888"/>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grpSp>
        <p:nvGrpSpPr>
          <p:cNvPr id="3" name="Group 11"/>
          <p:cNvGrpSpPr>
            <a:grpSpLocks/>
          </p:cNvGrpSpPr>
          <p:nvPr/>
        </p:nvGrpSpPr>
        <p:grpSpPr bwMode="auto">
          <a:xfrm>
            <a:off x="1317054" y="3115816"/>
            <a:ext cx="533400" cy="457200"/>
            <a:chOff x="432" y="3840"/>
            <a:chExt cx="336" cy="288"/>
          </a:xfrm>
        </p:grpSpPr>
        <p:sp>
          <p:nvSpPr>
            <p:cNvPr id="371724" name="Text Box 12"/>
            <p:cNvSpPr txBox="1">
              <a:spLocks noChangeArrowheads="1"/>
            </p:cNvSpPr>
            <p:nvPr/>
          </p:nvSpPr>
          <p:spPr bwMode="auto">
            <a:xfrm>
              <a:off x="432" y="38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FF0000"/>
                  </a:solidFill>
                  <a:latin typeface="Times New Roman" pitchFamily="18" charset="0"/>
                </a:rPr>
                <a:t>G</a:t>
              </a:r>
              <a:r>
                <a:rPr kumimoji="1" lang="en-US" altLang="zh-CN" sz="2400" baseline="-25000" dirty="0">
                  <a:solidFill>
                    <a:srgbClr val="FF0000"/>
                  </a:solidFill>
                  <a:latin typeface="Times New Roman" pitchFamily="18" charset="0"/>
                </a:rPr>
                <a:t>1</a:t>
              </a:r>
            </a:p>
          </p:txBody>
        </p:sp>
        <p:sp>
          <p:nvSpPr>
            <p:cNvPr id="371725" name="Line 13"/>
            <p:cNvSpPr>
              <a:spLocks noChangeShapeType="1"/>
            </p:cNvSpPr>
            <p:nvPr/>
          </p:nvSpPr>
          <p:spPr bwMode="auto">
            <a:xfrm>
              <a:off x="432" y="3888"/>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grpSp>
        <p:nvGrpSpPr>
          <p:cNvPr id="4" name="Group 14"/>
          <p:cNvGrpSpPr>
            <a:grpSpLocks/>
          </p:cNvGrpSpPr>
          <p:nvPr/>
        </p:nvGrpSpPr>
        <p:grpSpPr bwMode="auto">
          <a:xfrm>
            <a:off x="4136454" y="3115816"/>
            <a:ext cx="533400" cy="457200"/>
            <a:chOff x="432" y="3840"/>
            <a:chExt cx="336" cy="288"/>
          </a:xfrm>
        </p:grpSpPr>
        <p:sp>
          <p:nvSpPr>
            <p:cNvPr id="371727" name="Text Box 15"/>
            <p:cNvSpPr txBox="1">
              <a:spLocks noChangeArrowheads="1"/>
            </p:cNvSpPr>
            <p:nvPr/>
          </p:nvSpPr>
          <p:spPr bwMode="auto">
            <a:xfrm>
              <a:off x="432" y="38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FF0000"/>
                  </a:solidFill>
                  <a:latin typeface="Times New Roman" pitchFamily="18" charset="0"/>
                </a:rPr>
                <a:t>P</a:t>
              </a:r>
              <a:r>
                <a:rPr kumimoji="1" lang="en-US" altLang="zh-CN" sz="2400" baseline="-25000" dirty="0">
                  <a:solidFill>
                    <a:srgbClr val="FF0000"/>
                  </a:solidFill>
                  <a:latin typeface="Times New Roman" pitchFamily="18" charset="0"/>
                </a:rPr>
                <a:t>2</a:t>
              </a:r>
            </a:p>
          </p:txBody>
        </p:sp>
        <p:sp>
          <p:nvSpPr>
            <p:cNvPr id="371728" name="Line 16"/>
            <p:cNvSpPr>
              <a:spLocks noChangeShapeType="1"/>
            </p:cNvSpPr>
            <p:nvPr/>
          </p:nvSpPr>
          <p:spPr bwMode="auto">
            <a:xfrm>
              <a:off x="432" y="3888"/>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grpSp>
        <p:nvGrpSpPr>
          <p:cNvPr id="5" name="Group 17"/>
          <p:cNvGrpSpPr>
            <a:grpSpLocks/>
          </p:cNvGrpSpPr>
          <p:nvPr/>
        </p:nvGrpSpPr>
        <p:grpSpPr bwMode="auto">
          <a:xfrm>
            <a:off x="3222054" y="3115816"/>
            <a:ext cx="533400" cy="457200"/>
            <a:chOff x="432" y="3840"/>
            <a:chExt cx="336" cy="288"/>
          </a:xfrm>
        </p:grpSpPr>
        <p:sp>
          <p:nvSpPr>
            <p:cNvPr id="371730" name="Text Box 18"/>
            <p:cNvSpPr txBox="1">
              <a:spLocks noChangeArrowheads="1"/>
            </p:cNvSpPr>
            <p:nvPr/>
          </p:nvSpPr>
          <p:spPr bwMode="auto">
            <a:xfrm>
              <a:off x="432" y="38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FF0000"/>
                  </a:solidFill>
                  <a:latin typeface="Times New Roman" pitchFamily="18" charset="0"/>
                </a:rPr>
                <a:t>G</a:t>
              </a:r>
              <a:r>
                <a:rPr kumimoji="1" lang="en-US" altLang="zh-CN" sz="2400" baseline="-25000" dirty="0">
                  <a:solidFill>
                    <a:srgbClr val="FF0000"/>
                  </a:solidFill>
                  <a:latin typeface="Times New Roman" pitchFamily="18" charset="0"/>
                </a:rPr>
                <a:t>2</a:t>
              </a:r>
            </a:p>
          </p:txBody>
        </p:sp>
        <p:sp>
          <p:nvSpPr>
            <p:cNvPr id="371731" name="Line 19"/>
            <p:cNvSpPr>
              <a:spLocks noChangeShapeType="1"/>
            </p:cNvSpPr>
            <p:nvPr/>
          </p:nvSpPr>
          <p:spPr bwMode="auto">
            <a:xfrm>
              <a:off x="432" y="3888"/>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grpSp>
        <p:nvGrpSpPr>
          <p:cNvPr id="6" name="Group 20"/>
          <p:cNvGrpSpPr>
            <a:grpSpLocks/>
          </p:cNvGrpSpPr>
          <p:nvPr/>
        </p:nvGrpSpPr>
        <p:grpSpPr bwMode="auto">
          <a:xfrm>
            <a:off x="5965254" y="3115816"/>
            <a:ext cx="533400" cy="457200"/>
            <a:chOff x="432" y="3840"/>
            <a:chExt cx="336" cy="288"/>
          </a:xfrm>
        </p:grpSpPr>
        <p:sp>
          <p:nvSpPr>
            <p:cNvPr id="371733" name="Text Box 21"/>
            <p:cNvSpPr txBox="1">
              <a:spLocks noChangeArrowheads="1"/>
            </p:cNvSpPr>
            <p:nvPr/>
          </p:nvSpPr>
          <p:spPr bwMode="auto">
            <a:xfrm>
              <a:off x="432" y="38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FF0000"/>
                  </a:solidFill>
                  <a:latin typeface="Times New Roman" pitchFamily="18" charset="0"/>
                </a:rPr>
                <a:t>P</a:t>
              </a:r>
              <a:r>
                <a:rPr kumimoji="1" lang="en-US" altLang="zh-CN" sz="2400" baseline="-25000" dirty="0">
                  <a:solidFill>
                    <a:srgbClr val="FF0000"/>
                  </a:solidFill>
                  <a:latin typeface="Times New Roman" pitchFamily="18" charset="0"/>
                </a:rPr>
                <a:t>3</a:t>
              </a:r>
            </a:p>
          </p:txBody>
        </p:sp>
        <p:sp>
          <p:nvSpPr>
            <p:cNvPr id="371734" name="Line 22"/>
            <p:cNvSpPr>
              <a:spLocks noChangeShapeType="1"/>
            </p:cNvSpPr>
            <p:nvPr/>
          </p:nvSpPr>
          <p:spPr bwMode="auto">
            <a:xfrm>
              <a:off x="432" y="3888"/>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grpSp>
        <p:nvGrpSpPr>
          <p:cNvPr id="7" name="Group 23"/>
          <p:cNvGrpSpPr>
            <a:grpSpLocks/>
          </p:cNvGrpSpPr>
          <p:nvPr/>
        </p:nvGrpSpPr>
        <p:grpSpPr bwMode="auto">
          <a:xfrm>
            <a:off x="5050854" y="3115816"/>
            <a:ext cx="533400" cy="457200"/>
            <a:chOff x="432" y="3840"/>
            <a:chExt cx="336" cy="288"/>
          </a:xfrm>
        </p:grpSpPr>
        <p:sp>
          <p:nvSpPr>
            <p:cNvPr id="371736" name="Text Box 24"/>
            <p:cNvSpPr txBox="1">
              <a:spLocks noChangeArrowheads="1"/>
            </p:cNvSpPr>
            <p:nvPr/>
          </p:nvSpPr>
          <p:spPr bwMode="auto">
            <a:xfrm>
              <a:off x="432" y="38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FF0000"/>
                  </a:solidFill>
                  <a:latin typeface="Times New Roman" pitchFamily="18" charset="0"/>
                </a:rPr>
                <a:t>G</a:t>
              </a:r>
              <a:r>
                <a:rPr kumimoji="1" lang="en-US" altLang="zh-CN" sz="2400" baseline="-25000" dirty="0">
                  <a:solidFill>
                    <a:srgbClr val="FF0000"/>
                  </a:solidFill>
                  <a:latin typeface="Times New Roman" pitchFamily="18" charset="0"/>
                </a:rPr>
                <a:t>3</a:t>
              </a:r>
            </a:p>
          </p:txBody>
        </p:sp>
        <p:sp>
          <p:nvSpPr>
            <p:cNvPr id="371737" name="Line 25"/>
            <p:cNvSpPr>
              <a:spLocks noChangeShapeType="1"/>
            </p:cNvSpPr>
            <p:nvPr/>
          </p:nvSpPr>
          <p:spPr bwMode="auto">
            <a:xfrm>
              <a:off x="432" y="3888"/>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sp>
        <p:nvSpPr>
          <p:cNvPr id="371738" name="Text Box 26"/>
          <p:cNvSpPr txBox="1">
            <a:spLocks noChangeArrowheads="1"/>
          </p:cNvSpPr>
          <p:nvPr/>
        </p:nvSpPr>
        <p:spPr bwMode="auto">
          <a:xfrm>
            <a:off x="-20960" y="4797152"/>
            <a:ext cx="533400"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spcBef>
                <a:spcPct val="50000"/>
              </a:spcBef>
            </a:pPr>
            <a:r>
              <a:rPr kumimoji="1" lang="en-US" altLang="zh-CN" sz="2400" dirty="0">
                <a:solidFill>
                  <a:schemeClr val="bg2"/>
                </a:solidFill>
                <a:latin typeface="Times New Roman" pitchFamily="18" charset="0"/>
              </a:rPr>
              <a:t>C</a:t>
            </a:r>
            <a:r>
              <a:rPr kumimoji="1" lang="en-US" altLang="zh-CN" sz="2400" baseline="-25000" dirty="0">
                <a:solidFill>
                  <a:schemeClr val="bg2"/>
                </a:solidFill>
                <a:latin typeface="Times New Roman" pitchFamily="18" charset="0"/>
              </a:rPr>
              <a:t>0</a:t>
            </a:r>
          </a:p>
        </p:txBody>
      </p:sp>
      <p:sp>
        <p:nvSpPr>
          <p:cNvPr id="371739" name="Text Box 27"/>
          <p:cNvSpPr txBox="1">
            <a:spLocks noChangeArrowheads="1"/>
          </p:cNvSpPr>
          <p:nvPr/>
        </p:nvSpPr>
        <p:spPr bwMode="auto">
          <a:xfrm>
            <a:off x="1526232" y="4797152"/>
            <a:ext cx="533400"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spcBef>
                <a:spcPct val="50000"/>
              </a:spcBef>
            </a:pPr>
            <a:r>
              <a:rPr kumimoji="1" lang="en-US" altLang="zh-CN" sz="2400" dirty="0">
                <a:solidFill>
                  <a:schemeClr val="bg2"/>
                </a:solidFill>
                <a:latin typeface="Times New Roman" pitchFamily="18" charset="0"/>
              </a:rPr>
              <a:t>C</a:t>
            </a:r>
            <a:r>
              <a:rPr kumimoji="1" lang="en-US" altLang="zh-CN" sz="2400" baseline="-25000" dirty="0">
                <a:solidFill>
                  <a:schemeClr val="bg2"/>
                </a:solidFill>
                <a:latin typeface="Times New Roman" pitchFamily="18" charset="0"/>
              </a:rPr>
              <a:t>1</a:t>
            </a:r>
          </a:p>
        </p:txBody>
      </p:sp>
      <p:sp>
        <p:nvSpPr>
          <p:cNvPr id="371740" name="Text Box 28"/>
          <p:cNvSpPr txBox="1">
            <a:spLocks noChangeArrowheads="1"/>
          </p:cNvSpPr>
          <p:nvPr/>
        </p:nvSpPr>
        <p:spPr bwMode="auto">
          <a:xfrm>
            <a:off x="3507432" y="4797152"/>
            <a:ext cx="533400"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spcBef>
                <a:spcPct val="50000"/>
              </a:spcBef>
            </a:pPr>
            <a:r>
              <a:rPr kumimoji="1" lang="en-US" altLang="zh-CN" sz="2400" dirty="0">
                <a:solidFill>
                  <a:schemeClr val="bg2"/>
                </a:solidFill>
                <a:latin typeface="Times New Roman" pitchFamily="18" charset="0"/>
              </a:rPr>
              <a:t>C</a:t>
            </a:r>
            <a:r>
              <a:rPr kumimoji="1" lang="en-US" altLang="zh-CN" sz="2400" baseline="-25000" dirty="0">
                <a:solidFill>
                  <a:schemeClr val="bg2"/>
                </a:solidFill>
                <a:latin typeface="Times New Roman" pitchFamily="18" charset="0"/>
              </a:rPr>
              <a:t>2</a:t>
            </a:r>
          </a:p>
        </p:txBody>
      </p:sp>
      <p:sp>
        <p:nvSpPr>
          <p:cNvPr id="371741" name="Text Box 29"/>
          <p:cNvSpPr txBox="1">
            <a:spLocks noChangeArrowheads="1"/>
          </p:cNvSpPr>
          <p:nvPr/>
        </p:nvSpPr>
        <p:spPr bwMode="auto">
          <a:xfrm>
            <a:off x="5451648" y="4797152"/>
            <a:ext cx="533400" cy="457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spcBef>
                <a:spcPct val="50000"/>
              </a:spcBef>
            </a:pPr>
            <a:r>
              <a:rPr kumimoji="1" lang="en-US" altLang="zh-CN" sz="2400" dirty="0">
                <a:solidFill>
                  <a:schemeClr val="bg2"/>
                </a:solidFill>
                <a:latin typeface="Times New Roman" pitchFamily="18" charset="0"/>
              </a:rPr>
              <a:t>C</a:t>
            </a:r>
            <a:r>
              <a:rPr kumimoji="1" lang="en-US" altLang="zh-CN" sz="2400" baseline="-25000" dirty="0">
                <a:solidFill>
                  <a:schemeClr val="bg2"/>
                </a:solidFill>
                <a:latin typeface="Times New Roman" pitchFamily="18" charset="0"/>
              </a:rPr>
              <a:t>3</a:t>
            </a:r>
          </a:p>
        </p:txBody>
      </p:sp>
      <p:sp>
        <p:nvSpPr>
          <p:cNvPr id="371742" name="Rectangle 30"/>
          <p:cNvSpPr>
            <a:spLocks noChangeArrowheads="1"/>
          </p:cNvSpPr>
          <p:nvPr/>
        </p:nvSpPr>
        <p:spPr bwMode="auto">
          <a:xfrm>
            <a:off x="440432" y="2636912"/>
            <a:ext cx="8610600" cy="2088232"/>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1743" name="Rectangle 31"/>
          <p:cNvSpPr>
            <a:spLocks noChangeArrowheads="1"/>
          </p:cNvSpPr>
          <p:nvPr/>
        </p:nvSpPr>
        <p:spPr bwMode="auto">
          <a:xfrm>
            <a:off x="326454" y="4653136"/>
            <a:ext cx="7162800" cy="838200"/>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3" name="Group 20"/>
          <p:cNvGrpSpPr>
            <a:grpSpLocks/>
          </p:cNvGrpSpPr>
          <p:nvPr/>
        </p:nvGrpSpPr>
        <p:grpSpPr bwMode="auto">
          <a:xfrm>
            <a:off x="7899920" y="3115823"/>
            <a:ext cx="533400" cy="461963"/>
            <a:chOff x="432" y="3840"/>
            <a:chExt cx="336" cy="291"/>
          </a:xfrm>
        </p:grpSpPr>
        <p:sp>
          <p:nvSpPr>
            <p:cNvPr id="35" name="Text Box 21"/>
            <p:cNvSpPr txBox="1">
              <a:spLocks noChangeArrowheads="1"/>
            </p:cNvSpPr>
            <p:nvPr/>
          </p:nvSpPr>
          <p:spPr bwMode="auto">
            <a:xfrm>
              <a:off x="432" y="3840"/>
              <a:ext cx="3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FF0000"/>
                  </a:solidFill>
                  <a:latin typeface="Times New Roman" pitchFamily="18" charset="0"/>
                </a:rPr>
                <a:t>P</a:t>
              </a:r>
              <a:r>
                <a:rPr kumimoji="1" lang="en-US" altLang="zh-CN" sz="2400" baseline="-25000" dirty="0">
                  <a:solidFill>
                    <a:srgbClr val="FF0000"/>
                  </a:solidFill>
                  <a:latin typeface="Times New Roman" pitchFamily="18" charset="0"/>
                </a:rPr>
                <a:t>4</a:t>
              </a:r>
            </a:p>
          </p:txBody>
        </p:sp>
        <p:sp>
          <p:nvSpPr>
            <p:cNvPr id="36" name="Line 22"/>
            <p:cNvSpPr>
              <a:spLocks noChangeShapeType="1"/>
            </p:cNvSpPr>
            <p:nvPr/>
          </p:nvSpPr>
          <p:spPr bwMode="auto">
            <a:xfrm>
              <a:off x="432" y="3888"/>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grpSp>
        <p:nvGrpSpPr>
          <p:cNvPr id="37" name="Group 23"/>
          <p:cNvGrpSpPr>
            <a:grpSpLocks/>
          </p:cNvGrpSpPr>
          <p:nvPr/>
        </p:nvGrpSpPr>
        <p:grpSpPr bwMode="auto">
          <a:xfrm>
            <a:off x="6985520" y="3115823"/>
            <a:ext cx="533400" cy="461963"/>
            <a:chOff x="432" y="3840"/>
            <a:chExt cx="336" cy="291"/>
          </a:xfrm>
        </p:grpSpPr>
        <p:sp>
          <p:nvSpPr>
            <p:cNvPr id="38" name="Text Box 24"/>
            <p:cNvSpPr txBox="1">
              <a:spLocks noChangeArrowheads="1"/>
            </p:cNvSpPr>
            <p:nvPr/>
          </p:nvSpPr>
          <p:spPr bwMode="auto">
            <a:xfrm>
              <a:off x="432" y="3840"/>
              <a:ext cx="33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solidFill>
                    <a:srgbClr val="FF0000"/>
                  </a:solidFill>
                  <a:latin typeface="Times New Roman" pitchFamily="18" charset="0"/>
                </a:rPr>
                <a:t>G</a:t>
              </a:r>
              <a:r>
                <a:rPr kumimoji="1" lang="en-US" altLang="zh-CN" sz="2400" baseline="-25000" dirty="0">
                  <a:solidFill>
                    <a:srgbClr val="FF0000"/>
                  </a:solidFill>
                  <a:latin typeface="Times New Roman" pitchFamily="18" charset="0"/>
                </a:rPr>
                <a:t>4</a:t>
              </a:r>
            </a:p>
          </p:txBody>
        </p:sp>
        <p:sp>
          <p:nvSpPr>
            <p:cNvPr id="39" name="Line 25"/>
            <p:cNvSpPr>
              <a:spLocks noChangeShapeType="1"/>
            </p:cNvSpPr>
            <p:nvPr/>
          </p:nvSpPr>
          <p:spPr bwMode="auto">
            <a:xfrm>
              <a:off x="432" y="3888"/>
              <a:ext cx="2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solidFill>
                  <a:srgbClr val="FF0000"/>
                </a:solidFill>
              </a:endParaRPr>
            </a:p>
          </p:txBody>
        </p:sp>
      </p:grpSp>
      <p:sp>
        <p:nvSpPr>
          <p:cNvPr id="40" name="Text Box 29"/>
          <p:cNvSpPr txBox="1">
            <a:spLocks noChangeArrowheads="1"/>
          </p:cNvSpPr>
          <p:nvPr/>
        </p:nvSpPr>
        <p:spPr bwMode="auto">
          <a:xfrm>
            <a:off x="7539880" y="4797152"/>
            <a:ext cx="533400" cy="46166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spcBef>
                <a:spcPct val="50000"/>
              </a:spcBef>
            </a:pPr>
            <a:r>
              <a:rPr kumimoji="1" lang="en-US" altLang="zh-CN" sz="2400" dirty="0">
                <a:solidFill>
                  <a:schemeClr val="bg2"/>
                </a:solidFill>
                <a:latin typeface="Times New Roman" pitchFamily="18" charset="0"/>
              </a:rPr>
              <a:t>C</a:t>
            </a:r>
            <a:r>
              <a:rPr kumimoji="1" lang="en-US" altLang="zh-CN" sz="2400" baseline="-25000" dirty="0">
                <a:solidFill>
                  <a:schemeClr val="bg2"/>
                </a:solidFill>
                <a:latin typeface="Times New Roman" pitchFamily="18" charset="0"/>
              </a:rPr>
              <a:t>4</a:t>
            </a:r>
          </a:p>
        </p:txBody>
      </p:sp>
    </p:spTree>
    <p:extLst>
      <p:ext uri="{BB962C8B-B14F-4D97-AF65-F5344CB8AC3E}">
        <p14:creationId xmlns:p14="http://schemas.microsoft.com/office/powerpoint/2010/main" val="20990367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71714"/>
                                        </p:tgtEl>
                                        <p:attrNameLst>
                                          <p:attrName>style.visibility</p:attrName>
                                        </p:attrNameLst>
                                      </p:cBhvr>
                                      <p:to>
                                        <p:strVal val="visible"/>
                                      </p:to>
                                    </p:set>
                                    <p:animEffect transition="in" filter="dissolve">
                                      <p:cBhvr>
                                        <p:cTn id="7" dur="500"/>
                                        <p:tgtEl>
                                          <p:spTgt spid="3717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additive="base">
                                        <p:cTn id="36" dur="500" fill="hold"/>
                                        <p:tgtEl>
                                          <p:spTgt spid="37"/>
                                        </p:tgtEl>
                                        <p:attrNameLst>
                                          <p:attrName>ppt_x</p:attrName>
                                        </p:attrNameLst>
                                      </p:cBhvr>
                                      <p:tavLst>
                                        <p:tav tm="0">
                                          <p:val>
                                            <p:strVal val="#ppt_x"/>
                                          </p:val>
                                        </p:tav>
                                        <p:tav tm="100000">
                                          <p:val>
                                            <p:strVal val="#ppt_x"/>
                                          </p:val>
                                        </p:tav>
                                      </p:tavLst>
                                    </p:anim>
                                    <p:anim calcmode="lin" valueType="num">
                                      <p:cBhvr additive="base">
                                        <p:cTn id="37" dur="500" fill="hold"/>
                                        <p:tgtEl>
                                          <p:spTgt spid="37"/>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3"/>
                                        </p:tgtEl>
                                        <p:attrNameLst>
                                          <p:attrName>style.visibility</p:attrName>
                                        </p:attrNameLst>
                                      </p:cBhvr>
                                      <p:to>
                                        <p:strVal val="visible"/>
                                      </p:to>
                                    </p:set>
                                    <p:anim calcmode="lin" valueType="num">
                                      <p:cBhvr additive="base">
                                        <p:cTn id="40" dur="500" fill="hold"/>
                                        <p:tgtEl>
                                          <p:spTgt spid="33"/>
                                        </p:tgtEl>
                                        <p:attrNameLst>
                                          <p:attrName>ppt_x</p:attrName>
                                        </p:attrNameLst>
                                      </p:cBhvr>
                                      <p:tavLst>
                                        <p:tav tm="0">
                                          <p:val>
                                            <p:strVal val="#ppt_x"/>
                                          </p:val>
                                        </p:tav>
                                        <p:tav tm="100000">
                                          <p:val>
                                            <p:strVal val="#ppt_x"/>
                                          </p:val>
                                        </p:tav>
                                      </p:tavLst>
                                    </p:anim>
                                    <p:anim calcmode="lin" valueType="num">
                                      <p:cBhvr additive="base">
                                        <p:cTn id="41"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371738"/>
                                        </p:tgtEl>
                                        <p:attrNameLst>
                                          <p:attrName>style.visibility</p:attrName>
                                        </p:attrNameLst>
                                      </p:cBhvr>
                                      <p:to>
                                        <p:strVal val="visible"/>
                                      </p:to>
                                    </p:set>
                                    <p:anim calcmode="lin" valueType="num">
                                      <p:cBhvr additive="base">
                                        <p:cTn id="46" dur="500" fill="hold"/>
                                        <p:tgtEl>
                                          <p:spTgt spid="371738"/>
                                        </p:tgtEl>
                                        <p:attrNameLst>
                                          <p:attrName>ppt_x</p:attrName>
                                        </p:attrNameLst>
                                      </p:cBhvr>
                                      <p:tavLst>
                                        <p:tav tm="0">
                                          <p:val>
                                            <p:strVal val="#ppt_x"/>
                                          </p:val>
                                        </p:tav>
                                        <p:tav tm="100000">
                                          <p:val>
                                            <p:strVal val="#ppt_x"/>
                                          </p:val>
                                        </p:tav>
                                      </p:tavLst>
                                    </p:anim>
                                    <p:anim calcmode="lin" valueType="num">
                                      <p:cBhvr additive="base">
                                        <p:cTn id="47" dur="500" fill="hold"/>
                                        <p:tgtEl>
                                          <p:spTgt spid="371738"/>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371739"/>
                                        </p:tgtEl>
                                        <p:attrNameLst>
                                          <p:attrName>style.visibility</p:attrName>
                                        </p:attrNameLst>
                                      </p:cBhvr>
                                      <p:to>
                                        <p:strVal val="visible"/>
                                      </p:to>
                                    </p:set>
                                    <p:anim calcmode="lin" valueType="num">
                                      <p:cBhvr additive="base">
                                        <p:cTn id="50" dur="500" fill="hold"/>
                                        <p:tgtEl>
                                          <p:spTgt spid="371739"/>
                                        </p:tgtEl>
                                        <p:attrNameLst>
                                          <p:attrName>ppt_x</p:attrName>
                                        </p:attrNameLst>
                                      </p:cBhvr>
                                      <p:tavLst>
                                        <p:tav tm="0">
                                          <p:val>
                                            <p:strVal val="#ppt_x"/>
                                          </p:val>
                                        </p:tav>
                                        <p:tav tm="100000">
                                          <p:val>
                                            <p:strVal val="#ppt_x"/>
                                          </p:val>
                                        </p:tav>
                                      </p:tavLst>
                                    </p:anim>
                                    <p:anim calcmode="lin" valueType="num">
                                      <p:cBhvr additive="base">
                                        <p:cTn id="51" dur="500" fill="hold"/>
                                        <p:tgtEl>
                                          <p:spTgt spid="371739"/>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71740"/>
                                        </p:tgtEl>
                                        <p:attrNameLst>
                                          <p:attrName>style.visibility</p:attrName>
                                        </p:attrNameLst>
                                      </p:cBhvr>
                                      <p:to>
                                        <p:strVal val="visible"/>
                                      </p:to>
                                    </p:set>
                                    <p:anim calcmode="lin" valueType="num">
                                      <p:cBhvr additive="base">
                                        <p:cTn id="54" dur="500" fill="hold"/>
                                        <p:tgtEl>
                                          <p:spTgt spid="371740"/>
                                        </p:tgtEl>
                                        <p:attrNameLst>
                                          <p:attrName>ppt_x</p:attrName>
                                        </p:attrNameLst>
                                      </p:cBhvr>
                                      <p:tavLst>
                                        <p:tav tm="0">
                                          <p:val>
                                            <p:strVal val="#ppt_x"/>
                                          </p:val>
                                        </p:tav>
                                        <p:tav tm="100000">
                                          <p:val>
                                            <p:strVal val="#ppt_x"/>
                                          </p:val>
                                        </p:tav>
                                      </p:tavLst>
                                    </p:anim>
                                    <p:anim calcmode="lin" valueType="num">
                                      <p:cBhvr additive="base">
                                        <p:cTn id="55" dur="500" fill="hold"/>
                                        <p:tgtEl>
                                          <p:spTgt spid="37174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71741"/>
                                        </p:tgtEl>
                                        <p:attrNameLst>
                                          <p:attrName>style.visibility</p:attrName>
                                        </p:attrNameLst>
                                      </p:cBhvr>
                                      <p:to>
                                        <p:strVal val="visible"/>
                                      </p:to>
                                    </p:set>
                                    <p:anim calcmode="lin" valueType="num">
                                      <p:cBhvr additive="base">
                                        <p:cTn id="58" dur="500" fill="hold"/>
                                        <p:tgtEl>
                                          <p:spTgt spid="371741"/>
                                        </p:tgtEl>
                                        <p:attrNameLst>
                                          <p:attrName>ppt_x</p:attrName>
                                        </p:attrNameLst>
                                      </p:cBhvr>
                                      <p:tavLst>
                                        <p:tav tm="0">
                                          <p:val>
                                            <p:strVal val="#ppt_x"/>
                                          </p:val>
                                        </p:tav>
                                        <p:tav tm="100000">
                                          <p:val>
                                            <p:strVal val="#ppt_x"/>
                                          </p:val>
                                        </p:tav>
                                      </p:tavLst>
                                    </p:anim>
                                    <p:anim calcmode="lin" valueType="num">
                                      <p:cBhvr additive="base">
                                        <p:cTn id="59" dur="500" fill="hold"/>
                                        <p:tgtEl>
                                          <p:spTgt spid="37174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40"/>
                                        </p:tgtEl>
                                        <p:attrNameLst>
                                          <p:attrName>style.visibility</p:attrName>
                                        </p:attrNameLst>
                                      </p:cBhvr>
                                      <p:to>
                                        <p:strVal val="visible"/>
                                      </p:to>
                                    </p:set>
                                    <p:anim calcmode="lin" valueType="num">
                                      <p:cBhvr additive="base">
                                        <p:cTn id="62" dur="500" fill="hold"/>
                                        <p:tgtEl>
                                          <p:spTgt spid="40"/>
                                        </p:tgtEl>
                                        <p:attrNameLst>
                                          <p:attrName>ppt_x</p:attrName>
                                        </p:attrNameLst>
                                      </p:cBhvr>
                                      <p:tavLst>
                                        <p:tav tm="0">
                                          <p:val>
                                            <p:strVal val="#ppt_x"/>
                                          </p:val>
                                        </p:tav>
                                        <p:tav tm="100000">
                                          <p:val>
                                            <p:strVal val="#ppt_x"/>
                                          </p:val>
                                        </p:tav>
                                      </p:tavLst>
                                    </p:anim>
                                    <p:anim calcmode="lin" valueType="num">
                                      <p:cBhvr additive="base">
                                        <p:cTn id="63"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grpId="0" nodeType="clickEffect">
                                  <p:stCondLst>
                                    <p:cond delay="0"/>
                                  </p:stCondLst>
                                  <p:childTnLst>
                                    <p:set>
                                      <p:cBhvr>
                                        <p:cTn id="67" dur="1" fill="hold">
                                          <p:stCondLst>
                                            <p:cond delay="0"/>
                                          </p:stCondLst>
                                        </p:cTn>
                                        <p:tgtEl>
                                          <p:spTgt spid="371742"/>
                                        </p:tgtEl>
                                        <p:attrNameLst>
                                          <p:attrName>style.visibility</p:attrName>
                                        </p:attrNameLst>
                                      </p:cBhvr>
                                      <p:to>
                                        <p:strVal val="visible"/>
                                      </p:to>
                                    </p:set>
                                    <p:anim calcmode="lin" valueType="num">
                                      <p:cBhvr>
                                        <p:cTn id="68" dur="500" fill="hold"/>
                                        <p:tgtEl>
                                          <p:spTgt spid="371742"/>
                                        </p:tgtEl>
                                        <p:attrNameLst>
                                          <p:attrName>ppt_w</p:attrName>
                                        </p:attrNameLst>
                                      </p:cBhvr>
                                      <p:tavLst>
                                        <p:tav tm="0">
                                          <p:val>
                                            <p:fltVal val="0"/>
                                          </p:val>
                                        </p:tav>
                                        <p:tav tm="100000">
                                          <p:val>
                                            <p:strVal val="#ppt_w"/>
                                          </p:val>
                                        </p:tav>
                                      </p:tavLst>
                                    </p:anim>
                                    <p:anim calcmode="lin" valueType="num">
                                      <p:cBhvr>
                                        <p:cTn id="69" dur="500" fill="hold"/>
                                        <p:tgtEl>
                                          <p:spTgt spid="371742"/>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371742"/>
                                        </p:tgtEl>
                                        <p:attrNameLst>
                                          <p:attrName>style.visibility</p:attrName>
                                        </p:attrNameLst>
                                      </p:cBhvr>
                                      <p:to>
                                        <p:strVal val="hidden"/>
                                      </p:to>
                                    </p:set>
                                  </p:subTnLst>
                                </p:cTn>
                              </p:par>
                            </p:childTnLst>
                          </p:cTn>
                        </p:par>
                      </p:childTnLst>
                    </p:cTn>
                  </p:par>
                  <p:par>
                    <p:cTn id="70" fill="hold">
                      <p:stCondLst>
                        <p:cond delay="indefinite"/>
                      </p:stCondLst>
                      <p:childTnLst>
                        <p:par>
                          <p:cTn id="71" fill="hold">
                            <p:stCondLst>
                              <p:cond delay="0"/>
                            </p:stCondLst>
                            <p:childTnLst>
                              <p:par>
                                <p:cTn id="72" presetID="23" presetClass="entr" presetSubtype="16" fill="hold" grpId="0" nodeType="clickEffect">
                                  <p:stCondLst>
                                    <p:cond delay="0"/>
                                  </p:stCondLst>
                                  <p:childTnLst>
                                    <p:set>
                                      <p:cBhvr>
                                        <p:cTn id="73" dur="1" fill="hold">
                                          <p:stCondLst>
                                            <p:cond delay="0"/>
                                          </p:stCondLst>
                                        </p:cTn>
                                        <p:tgtEl>
                                          <p:spTgt spid="371743"/>
                                        </p:tgtEl>
                                        <p:attrNameLst>
                                          <p:attrName>style.visibility</p:attrName>
                                        </p:attrNameLst>
                                      </p:cBhvr>
                                      <p:to>
                                        <p:strVal val="visible"/>
                                      </p:to>
                                    </p:set>
                                    <p:anim calcmode="lin" valueType="num">
                                      <p:cBhvr>
                                        <p:cTn id="74" dur="500" fill="hold"/>
                                        <p:tgtEl>
                                          <p:spTgt spid="371743"/>
                                        </p:tgtEl>
                                        <p:attrNameLst>
                                          <p:attrName>ppt_w</p:attrName>
                                        </p:attrNameLst>
                                      </p:cBhvr>
                                      <p:tavLst>
                                        <p:tav tm="0">
                                          <p:val>
                                            <p:fltVal val="0"/>
                                          </p:val>
                                        </p:tav>
                                        <p:tav tm="100000">
                                          <p:val>
                                            <p:strVal val="#ppt_w"/>
                                          </p:val>
                                        </p:tav>
                                      </p:tavLst>
                                    </p:anim>
                                    <p:anim calcmode="lin" valueType="num">
                                      <p:cBhvr>
                                        <p:cTn id="75" dur="500" fill="hold"/>
                                        <p:tgtEl>
                                          <p:spTgt spid="371743"/>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371743"/>
                                        </p:tgtEl>
                                        <p:attrNameLst>
                                          <p:attrName>style.visibility</p:attrName>
                                        </p:attrNameLst>
                                      </p:cBhvr>
                                      <p:to>
                                        <p:strVal val="hidden"/>
                                      </p:to>
                                    </p:set>
                                  </p:sub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371715"/>
                                        </p:tgtEl>
                                        <p:attrNameLst>
                                          <p:attrName>style.visibility</p:attrName>
                                        </p:attrNameLst>
                                      </p:cBhvr>
                                      <p:to>
                                        <p:strVal val="visible"/>
                                      </p:to>
                                    </p:set>
                                    <p:anim calcmode="lin" valueType="num">
                                      <p:cBhvr additive="base">
                                        <p:cTn id="80" dur="500" fill="hold"/>
                                        <p:tgtEl>
                                          <p:spTgt spid="371715"/>
                                        </p:tgtEl>
                                        <p:attrNameLst>
                                          <p:attrName>ppt_x</p:attrName>
                                        </p:attrNameLst>
                                      </p:cBhvr>
                                      <p:tavLst>
                                        <p:tav tm="0">
                                          <p:val>
                                            <p:strVal val="#ppt_x"/>
                                          </p:val>
                                        </p:tav>
                                        <p:tav tm="100000">
                                          <p:val>
                                            <p:strVal val="#ppt_x"/>
                                          </p:val>
                                        </p:tav>
                                      </p:tavLst>
                                    </p:anim>
                                    <p:anim calcmode="lin" valueType="num">
                                      <p:cBhvr additive="base">
                                        <p:cTn id="81" dur="500" fill="hold"/>
                                        <p:tgtEl>
                                          <p:spTgt spid="3717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autoUpdateAnimBg="0"/>
      <p:bldP spid="371738" grpId="0" animBg="1" autoUpdateAnimBg="0"/>
      <p:bldP spid="371739" grpId="0" animBg="1" autoUpdateAnimBg="0"/>
      <p:bldP spid="371740" grpId="0" animBg="1" autoUpdateAnimBg="0"/>
      <p:bldP spid="371741" grpId="0" animBg="1" autoUpdateAnimBg="0"/>
      <p:bldP spid="371742" grpId="0" animBg="1"/>
      <p:bldP spid="371743" grpId="0" animBg="1"/>
      <p:bldP spid="40"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p:txBody>
          <a:bodyPr/>
          <a:lstStyle/>
          <a:p>
            <a:r>
              <a:rPr lang="en-US" altLang="zh-CN" sz="3600" dirty="0"/>
              <a:t>3.3.7   </a:t>
            </a:r>
            <a:r>
              <a:rPr lang="zh-CN" altLang="en-US" sz="3600" dirty="0"/>
              <a:t>運算器</a:t>
            </a:r>
            <a:r>
              <a:rPr lang="en-US" altLang="zh-CN" sz="3600" dirty="0"/>
              <a:t>(24)</a:t>
            </a:r>
          </a:p>
        </p:txBody>
      </p:sp>
      <p:sp>
        <p:nvSpPr>
          <p:cNvPr id="7" name="灯片编号占位符 5"/>
          <p:cNvSpPr>
            <a:spLocks noGrp="1"/>
          </p:cNvSpPr>
          <p:nvPr>
            <p:ph type="sldNum" sz="quarter" idx="12"/>
          </p:nvPr>
        </p:nvSpPr>
        <p:spPr/>
        <p:txBody>
          <a:bodyPr/>
          <a:lstStyle/>
          <a:p>
            <a:fld id="{08AB5ACC-3EF9-4464-9ACA-D443166258A2}" type="slidenum">
              <a:rPr lang="en-US" altLang="zh-CN"/>
              <a:pPr/>
              <a:t>31</a:t>
            </a:fld>
            <a:endParaRPr lang="en-US" altLang="zh-CN" dirty="0"/>
          </a:p>
        </p:txBody>
      </p:sp>
      <p:sp>
        <p:nvSpPr>
          <p:cNvPr id="372739" name="Rectangle 3"/>
          <p:cNvSpPr>
            <a:spLocks noGrp="1" noChangeArrowheads="1"/>
          </p:cNvSpPr>
          <p:nvPr>
            <p:ph sz="quarter" idx="1"/>
          </p:nvPr>
        </p:nvSpPr>
        <p:spPr/>
        <p:txBody>
          <a:bodyPr>
            <a:normAutofit/>
          </a:bodyPr>
          <a:lstStyle/>
          <a:p>
            <a:r>
              <a:rPr lang="zh-CN" altLang="en-US" sz="3200" dirty="0"/>
              <a:t>四位並行加法器、超前進位加法器</a:t>
            </a:r>
          </a:p>
          <a:p>
            <a:pPr lvl="1"/>
            <a:r>
              <a:rPr lang="zh-CN" altLang="en-US" sz="2800" dirty="0"/>
              <a:t>進位輸入是由</a:t>
            </a:r>
            <a:r>
              <a:rPr lang="zh-CN" altLang="en-US" sz="2800" dirty="0">
                <a:solidFill>
                  <a:srgbClr val="FF0000"/>
                </a:solidFill>
              </a:rPr>
              <a:t>專門的“進位門”</a:t>
            </a:r>
            <a:r>
              <a:rPr lang="zh-CN" altLang="en-US" sz="2800" dirty="0"/>
              <a:t>綜合所有低位的加數、被加數及最低位進位輸入後提供的。</a:t>
            </a:r>
          </a:p>
          <a:p>
            <a:pPr lvl="1"/>
            <a:r>
              <a:rPr lang="zh-CN" altLang="en-US" sz="2800" dirty="0"/>
              <a:t>由於進位不是由前一級加法器提供的，所以四位並行加法器又稱超前進位加法器或快速加法器。</a:t>
            </a:r>
          </a:p>
        </p:txBody>
      </p:sp>
      <p:graphicFrame>
        <p:nvGraphicFramePr>
          <p:cNvPr id="372740" name="Object 4"/>
          <p:cNvGraphicFramePr>
            <a:graphicFrameLocks noChangeAspect="1"/>
          </p:cNvGraphicFramePr>
          <p:nvPr>
            <p:extLst>
              <p:ext uri="{D42A27DB-BD31-4B8C-83A1-F6EECF244321}">
                <p14:modId xmlns:p14="http://schemas.microsoft.com/office/powerpoint/2010/main" val="2059546180"/>
              </p:ext>
            </p:extLst>
          </p:nvPr>
        </p:nvGraphicFramePr>
        <p:xfrm>
          <a:off x="683568" y="4653136"/>
          <a:ext cx="8155632" cy="1983802"/>
        </p:xfrm>
        <a:graphic>
          <a:graphicData uri="http://schemas.openxmlformats.org/presentationml/2006/ole">
            <mc:AlternateContent xmlns:mc="http://schemas.openxmlformats.org/markup-compatibility/2006">
              <mc:Choice xmlns:v="urn:schemas-microsoft-com:vml" Requires="v">
                <p:oleObj name="Image" r:id="rId2" imgW="15203265" imgH="3134694" progId="">
                  <p:embed/>
                </p:oleObj>
              </mc:Choice>
              <mc:Fallback>
                <p:oleObj name="Image" r:id="rId2" imgW="15203265" imgH="3134694"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4653136"/>
                        <a:ext cx="8155632" cy="198380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220403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727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F6C351E-66D6-4935-97D0-37CE00794035}" type="slidenum">
              <a:rPr lang="en-US" altLang="zh-CN"/>
              <a:pPr/>
              <a:t>32</a:t>
            </a:fld>
            <a:endParaRPr lang="en-US" altLang="zh-CN" dirty="0"/>
          </a:p>
        </p:txBody>
      </p:sp>
      <p:sp>
        <p:nvSpPr>
          <p:cNvPr id="373762" name="Rectangle 2"/>
          <p:cNvSpPr>
            <a:spLocks noGrp="1" noChangeArrowheads="1"/>
          </p:cNvSpPr>
          <p:nvPr>
            <p:ph type="title"/>
          </p:nvPr>
        </p:nvSpPr>
        <p:spPr/>
        <p:txBody>
          <a:bodyPr/>
          <a:lstStyle/>
          <a:p>
            <a:r>
              <a:rPr lang="en-US" altLang="zh-CN" sz="3600" dirty="0"/>
              <a:t>3.3.7   </a:t>
            </a:r>
            <a:r>
              <a:rPr lang="zh-CN" altLang="en-US" sz="3600" dirty="0"/>
              <a:t>運算器</a:t>
            </a:r>
            <a:r>
              <a:rPr lang="en-US" altLang="zh-CN" sz="3600" dirty="0"/>
              <a:t>(25)</a:t>
            </a:r>
          </a:p>
        </p:txBody>
      </p:sp>
      <p:sp>
        <p:nvSpPr>
          <p:cNvPr id="373763" name="Rectangle 3"/>
          <p:cNvSpPr>
            <a:spLocks noGrp="1" noChangeArrowheads="1"/>
          </p:cNvSpPr>
          <p:nvPr>
            <p:ph type="body" idx="1"/>
          </p:nvPr>
        </p:nvSpPr>
        <p:spPr>
          <a:xfrm>
            <a:off x="457200" y="1600200"/>
            <a:ext cx="8229600" cy="4829196"/>
          </a:xfrm>
        </p:spPr>
        <p:txBody>
          <a:bodyPr>
            <a:normAutofit/>
          </a:bodyPr>
          <a:lstStyle/>
          <a:p>
            <a:r>
              <a:rPr lang="en-US" altLang="zh-CN" b="1" dirty="0"/>
              <a:t>3.3.7 </a:t>
            </a:r>
            <a:r>
              <a:rPr lang="zh-CN" altLang="en-US" b="1" dirty="0"/>
              <a:t>運算器（算數邏輯單元 </a:t>
            </a:r>
            <a:r>
              <a:rPr lang="en-US" altLang="zh-CN" b="1" dirty="0"/>
              <a:t>ALU</a:t>
            </a:r>
            <a:r>
              <a:rPr lang="zh-CN" altLang="en-US" b="1" dirty="0"/>
              <a:t>）</a:t>
            </a:r>
          </a:p>
          <a:p>
            <a:pPr lvl="1"/>
            <a:r>
              <a:rPr lang="zh-CN" altLang="en-US" b="1" dirty="0"/>
              <a:t>加法器</a:t>
            </a:r>
          </a:p>
          <a:p>
            <a:pPr lvl="2"/>
            <a:r>
              <a:rPr lang="zh-CN" altLang="en-US" b="1" dirty="0"/>
              <a:t>一位加法器</a:t>
            </a:r>
          </a:p>
          <a:p>
            <a:pPr lvl="2"/>
            <a:r>
              <a:rPr lang="zh-CN" altLang="en-US" b="1" dirty="0"/>
              <a:t>四位元串列進位元加法器</a:t>
            </a:r>
          </a:p>
          <a:p>
            <a:pPr lvl="2"/>
            <a:r>
              <a:rPr lang="zh-CN" altLang="en-US" b="1" dirty="0"/>
              <a:t>四位並行加法器</a:t>
            </a:r>
          </a:p>
          <a:p>
            <a:pPr lvl="2"/>
            <a:r>
              <a:rPr lang="en-US" altLang="zh-CN" b="1" dirty="0">
                <a:solidFill>
                  <a:srgbClr val="7030A0"/>
                </a:solidFill>
              </a:rPr>
              <a:t>16</a:t>
            </a:r>
            <a:r>
              <a:rPr lang="zh-CN" altLang="en-US" b="1" dirty="0">
                <a:solidFill>
                  <a:srgbClr val="7030A0"/>
                </a:solidFill>
              </a:rPr>
              <a:t>位加法器</a:t>
            </a:r>
          </a:p>
          <a:p>
            <a:pPr lvl="1"/>
            <a:r>
              <a:rPr lang="zh-CN" altLang="en-US" b="1" dirty="0"/>
              <a:t>算數運算邏輯單元</a:t>
            </a:r>
          </a:p>
          <a:p>
            <a:pPr lvl="2"/>
            <a:r>
              <a:rPr lang="zh-CN" altLang="en-US" b="1" dirty="0"/>
              <a:t>四位元算術邏輯運算單元</a:t>
            </a:r>
            <a:endParaRPr lang="en-US" altLang="zh-CN" b="1" dirty="0"/>
          </a:p>
          <a:p>
            <a:pPr lvl="1"/>
            <a:r>
              <a:rPr lang="zh-CN" altLang="en-US" dirty="0"/>
              <a:t>乘法器</a:t>
            </a:r>
            <a:endParaRPr lang="en-US" altLang="zh-CN" b="1" dirty="0"/>
          </a:p>
        </p:txBody>
      </p:sp>
    </p:spTree>
    <p:extLst>
      <p:ext uri="{BB962C8B-B14F-4D97-AF65-F5344CB8AC3E}">
        <p14:creationId xmlns:p14="http://schemas.microsoft.com/office/powerpoint/2010/main" val="1980728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fld id="{28C3BC5E-7BF2-452F-866E-4F3369EF4428}" type="slidenum">
              <a:rPr lang="en-US" altLang="zh-CN"/>
              <a:pPr/>
              <a:t>33</a:t>
            </a:fld>
            <a:endParaRPr lang="en-US" altLang="zh-CN" dirty="0"/>
          </a:p>
        </p:txBody>
      </p:sp>
      <p:sp>
        <p:nvSpPr>
          <p:cNvPr id="375810" name="Rectangle 2"/>
          <p:cNvSpPr>
            <a:spLocks noGrp="1" noChangeArrowheads="1"/>
          </p:cNvSpPr>
          <p:nvPr>
            <p:ph type="title"/>
          </p:nvPr>
        </p:nvSpPr>
        <p:spPr>
          <a:xfrm>
            <a:off x="914400" y="44624"/>
            <a:ext cx="7772400" cy="1143000"/>
          </a:xfrm>
        </p:spPr>
        <p:txBody>
          <a:bodyPr/>
          <a:lstStyle/>
          <a:p>
            <a:r>
              <a:rPr lang="en-US" altLang="zh-CN" sz="3600" dirty="0"/>
              <a:t>3.3.7   </a:t>
            </a:r>
            <a:r>
              <a:rPr lang="zh-CN" altLang="en-US" sz="3600" dirty="0"/>
              <a:t>運算器</a:t>
            </a:r>
            <a:r>
              <a:rPr lang="en-US" altLang="zh-CN" sz="3600" dirty="0"/>
              <a:t>(26)</a:t>
            </a:r>
          </a:p>
        </p:txBody>
      </p:sp>
      <p:graphicFrame>
        <p:nvGraphicFramePr>
          <p:cNvPr id="375811" name="Object 3"/>
          <p:cNvGraphicFramePr>
            <a:graphicFrameLocks noChangeAspect="1"/>
          </p:cNvGraphicFramePr>
          <p:nvPr/>
        </p:nvGraphicFramePr>
        <p:xfrm>
          <a:off x="990600" y="2786058"/>
          <a:ext cx="7704138" cy="1960563"/>
        </p:xfrm>
        <a:graphic>
          <a:graphicData uri="http://schemas.openxmlformats.org/presentationml/2006/ole">
            <mc:AlternateContent xmlns:mc="http://schemas.openxmlformats.org/markup-compatibility/2006">
              <mc:Choice xmlns:v="urn:schemas-microsoft-com:vml" Requires="v">
                <p:oleObj name="Image" r:id="rId2" imgW="14360816" imgH="3653878" progId="">
                  <p:embed/>
                </p:oleObj>
              </mc:Choice>
              <mc:Fallback>
                <p:oleObj name="Image" r:id="rId2" imgW="14360816" imgH="3653878"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786058"/>
                        <a:ext cx="7704138" cy="196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5812" name="Rectangle 4"/>
          <p:cNvSpPr>
            <a:spLocks noGrp="1" noChangeArrowheads="1"/>
          </p:cNvSpPr>
          <p:nvPr>
            <p:ph type="body" idx="1"/>
          </p:nvPr>
        </p:nvSpPr>
        <p:spPr>
          <a:xfrm>
            <a:off x="609600" y="1143000"/>
            <a:ext cx="8153400" cy="4648200"/>
          </a:xfrm>
          <a:noFill/>
          <a:ln/>
        </p:spPr>
        <p:txBody>
          <a:bodyPr/>
          <a:lstStyle/>
          <a:p>
            <a:pPr marL="342900" lvl="1" indent="-342900">
              <a:buFont typeface="Arial" pitchFamily="34" charset="0"/>
              <a:buChar char="•"/>
            </a:pPr>
            <a:r>
              <a:rPr lang="en-US" altLang="zh-CN" sz="3200" b="1" dirty="0"/>
              <a:t>16</a:t>
            </a:r>
            <a:r>
              <a:rPr lang="zh-CN" altLang="en-US" sz="3200" b="1" dirty="0"/>
              <a:t>位元串列加法器和</a:t>
            </a:r>
            <a:r>
              <a:rPr lang="en-US" altLang="zh-CN" sz="3200" b="1" dirty="0"/>
              <a:t>16</a:t>
            </a:r>
            <a:r>
              <a:rPr lang="zh-CN" altLang="en-US" sz="3200" b="1" dirty="0"/>
              <a:t>位並行加法器</a:t>
            </a:r>
          </a:p>
          <a:p>
            <a:pPr lvl="1"/>
            <a:r>
              <a:rPr lang="en-US" altLang="zh-CN" b="1" dirty="0"/>
              <a:t>16</a:t>
            </a:r>
            <a:r>
              <a:rPr lang="zh-CN" altLang="en-US" b="1" dirty="0"/>
              <a:t>位元串列加法器</a:t>
            </a:r>
          </a:p>
          <a:p>
            <a:pPr lvl="2"/>
            <a:r>
              <a:rPr lang="zh-CN" altLang="en-US" b="1" dirty="0"/>
              <a:t>用</a:t>
            </a:r>
            <a:r>
              <a:rPr lang="en-US" altLang="zh-CN" b="1" dirty="0"/>
              <a:t>4</a:t>
            </a:r>
            <a:r>
              <a:rPr lang="zh-CN" altLang="en-US" b="1" dirty="0"/>
              <a:t>片四位並行加法器組成</a:t>
            </a:r>
            <a:r>
              <a:rPr lang="en-US" altLang="zh-CN" b="1" dirty="0"/>
              <a:t>16</a:t>
            </a:r>
            <a:r>
              <a:rPr lang="zh-CN" altLang="en-US" b="1" dirty="0"/>
              <a:t>位快速加法器 </a:t>
            </a:r>
          </a:p>
        </p:txBody>
      </p:sp>
      <p:sp>
        <p:nvSpPr>
          <p:cNvPr id="375813" name="Rectangle 5"/>
          <p:cNvSpPr>
            <a:spLocks noChangeArrowheads="1"/>
          </p:cNvSpPr>
          <p:nvPr/>
        </p:nvSpPr>
        <p:spPr bwMode="auto">
          <a:xfrm>
            <a:off x="428596" y="4786322"/>
            <a:ext cx="82153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b="1" dirty="0">
                <a:latin typeface="等线" panose="02010600030101010101" pitchFamily="2" charset="-122"/>
                <a:ea typeface="等线" panose="02010600030101010101" pitchFamily="2" charset="-122"/>
              </a:rPr>
              <a:t>此時</a:t>
            </a:r>
            <a:r>
              <a:rPr lang="en-US" altLang="zh-CN" sz="2400" b="1" dirty="0">
                <a:latin typeface="等线" panose="02010600030101010101" pitchFamily="2" charset="-122"/>
                <a:ea typeface="等线" panose="02010600030101010101" pitchFamily="2" charset="-122"/>
              </a:rPr>
              <a:t>,</a:t>
            </a:r>
            <a:r>
              <a:rPr lang="zh-CN" altLang="en-US" sz="2400" b="1" dirty="0">
                <a:latin typeface="等线" panose="02010600030101010101" pitchFamily="2" charset="-122"/>
                <a:ea typeface="等线" panose="02010600030101010101" pitchFamily="2" charset="-122"/>
              </a:rPr>
              <a:t>片內雖然是並行</a:t>
            </a:r>
            <a:r>
              <a:rPr lang="en-US" altLang="zh-CN" sz="2400" b="1" dirty="0">
                <a:latin typeface="等线" panose="02010600030101010101" pitchFamily="2" charset="-122"/>
                <a:ea typeface="等线" panose="02010600030101010101" pitchFamily="2" charset="-122"/>
              </a:rPr>
              <a:t>,</a:t>
            </a:r>
            <a:r>
              <a:rPr lang="zh-CN" altLang="en-US" sz="2400" b="1" dirty="0">
                <a:latin typeface="等线" panose="02010600030101010101" pitchFamily="2" charset="-122"/>
                <a:ea typeface="等线" panose="02010600030101010101" pitchFamily="2" charset="-122"/>
              </a:rPr>
              <a:t>但片間進位元仍是串列逐片傳遞，</a:t>
            </a:r>
            <a:endParaRPr lang="en-US" altLang="zh-CN" sz="2400" b="1" dirty="0">
              <a:latin typeface="等线" panose="02010600030101010101" pitchFamily="2" charset="-122"/>
              <a:ea typeface="等线" panose="02010600030101010101" pitchFamily="2" charset="-122"/>
            </a:endParaRPr>
          </a:p>
          <a:p>
            <a:r>
              <a:rPr lang="zh-CN" altLang="en-US" sz="2400" b="1" dirty="0">
                <a:latin typeface="等线" panose="02010600030101010101" pitchFamily="2" charset="-122"/>
                <a:ea typeface="等线" panose="02010600030101010101" pitchFamily="2" charset="-122"/>
              </a:rPr>
              <a:t>產生</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4</a:t>
            </a:r>
            <a:r>
              <a:rPr lang="en-US" altLang="zh-CN" sz="2400" b="1" dirty="0">
                <a:latin typeface="等线" panose="02010600030101010101" pitchFamily="2" charset="-122"/>
                <a:ea typeface="等线" panose="02010600030101010101" pitchFamily="2" charset="-122"/>
              </a:rPr>
              <a:t>, C</a:t>
            </a:r>
            <a:r>
              <a:rPr lang="en-US" altLang="zh-CN" sz="2400" b="1" baseline="-25000" dirty="0">
                <a:latin typeface="等线" panose="02010600030101010101" pitchFamily="2" charset="-122"/>
                <a:ea typeface="等线" panose="02010600030101010101" pitchFamily="2" charset="-122"/>
              </a:rPr>
              <a:t>8 </a:t>
            </a:r>
            <a:r>
              <a:rPr lang="en-US" altLang="zh-CN" sz="1800" b="1" dirty="0">
                <a:latin typeface="等线" panose="02010600030101010101" pitchFamily="2" charset="-122"/>
                <a:ea typeface="等线" panose="02010600030101010101" pitchFamily="2" charset="-122"/>
              </a:rPr>
              <a:t>,</a:t>
            </a:r>
            <a:r>
              <a:rPr lang="en-US" altLang="zh-CN" sz="18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12 </a:t>
            </a:r>
            <a:r>
              <a:rPr lang="en-US" altLang="zh-CN" sz="1800" b="1" dirty="0">
                <a:latin typeface="等线" panose="02010600030101010101" pitchFamily="2" charset="-122"/>
                <a:ea typeface="等线" panose="02010600030101010101" pitchFamily="2" charset="-122"/>
              </a:rPr>
              <a:t>,</a:t>
            </a:r>
            <a:r>
              <a:rPr lang="en-US" altLang="zh-CN" sz="18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16</a:t>
            </a:r>
            <a:r>
              <a:rPr lang="zh-CN" altLang="en-US" sz="2400" b="1" dirty="0">
                <a:latin typeface="等线" panose="02010600030101010101" pitchFamily="2" charset="-122"/>
                <a:ea typeface="等线" panose="02010600030101010101" pitchFamily="2" charset="-122"/>
              </a:rPr>
              <a:t>的延遲各是幾級</a:t>
            </a:r>
            <a:r>
              <a:rPr lang="en-US" altLang="zh-CN" sz="2400" b="1" dirty="0">
                <a:latin typeface="等线" panose="02010600030101010101" pitchFamily="2" charset="-122"/>
                <a:ea typeface="等线" panose="02010600030101010101" pitchFamily="2" charset="-122"/>
              </a:rPr>
              <a:t>?  F</a:t>
            </a:r>
            <a:r>
              <a:rPr lang="en-US" altLang="zh-CN" sz="2400" b="1" baseline="-25000" dirty="0">
                <a:latin typeface="等线" panose="02010600030101010101" pitchFamily="2" charset="-122"/>
                <a:ea typeface="等线" panose="02010600030101010101" pitchFamily="2" charset="-122"/>
              </a:rPr>
              <a:t>i</a:t>
            </a:r>
            <a:r>
              <a:rPr lang="zh-CN" altLang="en-US" sz="2400" b="1" dirty="0">
                <a:latin typeface="等线" panose="02010600030101010101" pitchFamily="2" charset="-122"/>
                <a:ea typeface="等线" panose="02010600030101010101" pitchFamily="2" charset="-122"/>
              </a:rPr>
              <a:t>要幾級</a:t>
            </a:r>
            <a:r>
              <a:rPr lang="en-US" altLang="zh-CN" sz="2400" b="1" dirty="0">
                <a:latin typeface="等线" panose="02010600030101010101" pitchFamily="2" charset="-122"/>
                <a:ea typeface="等线" panose="02010600030101010101" pitchFamily="2" charset="-122"/>
              </a:rPr>
              <a:t>?(</a:t>
            </a:r>
            <a:r>
              <a:rPr lang="zh-CN" altLang="en-US" sz="2400" b="1" dirty="0">
                <a:latin typeface="等线" panose="02010600030101010101" pitchFamily="2" charset="-122"/>
                <a:ea typeface="等线" panose="02010600030101010101" pitchFamily="2" charset="-122"/>
              </a:rPr>
              <a:t>用</a:t>
            </a:r>
            <a:r>
              <a:rPr lang="en-US" altLang="zh-CN" sz="2400" b="1" dirty="0">
                <a:latin typeface="等线" panose="02010600030101010101" pitchFamily="2" charset="-122"/>
                <a:ea typeface="等线" panose="02010600030101010101" pitchFamily="2" charset="-122"/>
              </a:rPr>
              <a:t>P136</a:t>
            </a:r>
            <a:r>
              <a:rPr lang="zh-CN" altLang="en-US" sz="2400" b="1" dirty="0">
                <a:latin typeface="等线" panose="02010600030101010101" pitchFamily="2" charset="-122"/>
                <a:ea typeface="等线" panose="02010600030101010101" pitchFamily="2" charset="-122"/>
              </a:rPr>
              <a:t>圖</a:t>
            </a:r>
            <a:r>
              <a:rPr lang="en-US" altLang="zh-CN" sz="2400" b="1" dirty="0">
                <a:latin typeface="等线" panose="02010600030101010101" pitchFamily="2" charset="-122"/>
                <a:ea typeface="等线" panose="02010600030101010101" pitchFamily="2" charset="-122"/>
              </a:rPr>
              <a:t>)</a:t>
            </a:r>
          </a:p>
        </p:txBody>
      </p:sp>
      <p:sp>
        <p:nvSpPr>
          <p:cNvPr id="375814" name="Rectangle 6"/>
          <p:cNvSpPr>
            <a:spLocks noChangeArrowheads="1"/>
          </p:cNvSpPr>
          <p:nvPr/>
        </p:nvSpPr>
        <p:spPr bwMode="auto">
          <a:xfrm>
            <a:off x="771857" y="5595971"/>
            <a:ext cx="7586357"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folHlink"/>
              </a:buClr>
              <a:buFont typeface="Wingdings" pitchFamily="2" charset="2"/>
              <a:buNone/>
            </a:pPr>
            <a:r>
              <a:rPr lang="en-US" altLang="zh-CN" b="1" dirty="0">
                <a:latin typeface="等线" panose="02010600030101010101" pitchFamily="2" charset="-122"/>
                <a:ea typeface="等线" panose="02010600030101010101" pitchFamily="2" charset="-122"/>
              </a:rPr>
              <a:t>C</a:t>
            </a:r>
            <a:r>
              <a:rPr lang="en-US" altLang="zh-CN" b="1" baseline="-25000" dirty="0">
                <a:latin typeface="等线" panose="02010600030101010101" pitchFamily="2" charset="-122"/>
                <a:ea typeface="等线" panose="02010600030101010101" pitchFamily="2" charset="-122"/>
              </a:rPr>
              <a:t>4</a:t>
            </a:r>
            <a:r>
              <a:rPr lang="zh-CN" altLang="en-US" b="1" dirty="0">
                <a:latin typeface="等线" panose="02010600030101010101" pitchFamily="2" charset="-122"/>
                <a:ea typeface="等线" panose="02010600030101010101" pitchFamily="2" charset="-122"/>
              </a:rPr>
              <a:t>需</a:t>
            </a:r>
            <a:r>
              <a:rPr lang="en-US" altLang="zh-CN" b="1" dirty="0">
                <a:latin typeface="等线" panose="02010600030101010101" pitchFamily="2" charset="-122"/>
                <a:ea typeface="等线" panose="02010600030101010101" pitchFamily="2" charset="-122"/>
              </a:rPr>
              <a:t>2</a:t>
            </a:r>
            <a:r>
              <a:rPr lang="zh-CN" altLang="en-US" b="1" dirty="0">
                <a:latin typeface="等线" panose="02010600030101010101" pitchFamily="2" charset="-122"/>
                <a:ea typeface="等线" panose="02010600030101010101" pitchFamily="2" charset="-122"/>
              </a:rPr>
              <a:t>級</a:t>
            </a:r>
            <a:r>
              <a:rPr lang="en-US" altLang="zh-CN"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1</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4</a:t>
            </a:r>
            <a:r>
              <a:rPr lang="zh-CN" altLang="en-US" sz="2400" b="1" dirty="0">
                <a:latin typeface="等线" panose="02010600030101010101" pitchFamily="2" charset="-122"/>
                <a:ea typeface="等线" panose="02010600030101010101" pitchFamily="2" charset="-122"/>
              </a:rPr>
              <a:t>需</a:t>
            </a:r>
            <a:r>
              <a:rPr lang="en-US" altLang="zh-CN" sz="2400"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級</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C</a:t>
            </a:r>
            <a:r>
              <a:rPr lang="en-US" altLang="zh-CN" b="1" baseline="-25000" dirty="0">
                <a:latin typeface="等线" panose="02010600030101010101" pitchFamily="2" charset="-122"/>
                <a:ea typeface="等线" panose="02010600030101010101" pitchFamily="2" charset="-122"/>
              </a:rPr>
              <a:t>8</a:t>
            </a:r>
            <a:r>
              <a:rPr lang="zh-CN" altLang="en-US" b="1" dirty="0">
                <a:latin typeface="等线" panose="02010600030101010101" pitchFamily="2" charset="-122"/>
                <a:ea typeface="等线" panose="02010600030101010101" pitchFamily="2" charset="-122"/>
              </a:rPr>
              <a:t>需</a:t>
            </a:r>
            <a:r>
              <a:rPr lang="en-US" altLang="zh-CN" b="1" dirty="0">
                <a:latin typeface="等线" panose="02010600030101010101" pitchFamily="2" charset="-122"/>
                <a:ea typeface="等线" panose="02010600030101010101" pitchFamily="2" charset="-122"/>
              </a:rPr>
              <a:t>4</a:t>
            </a:r>
            <a:r>
              <a:rPr lang="zh-CN" altLang="en-US" b="1" dirty="0">
                <a:latin typeface="等线" panose="02010600030101010101" pitchFamily="2" charset="-122"/>
                <a:ea typeface="等线" panose="02010600030101010101" pitchFamily="2" charset="-122"/>
              </a:rPr>
              <a:t>級</a:t>
            </a:r>
            <a:r>
              <a:rPr lang="en-US" altLang="zh-CN"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5</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8</a:t>
            </a:r>
            <a:r>
              <a:rPr lang="zh-CN" altLang="en-US" sz="2400" b="1" dirty="0">
                <a:latin typeface="等线" panose="02010600030101010101" pitchFamily="2" charset="-122"/>
                <a:ea typeface="等线" panose="02010600030101010101" pitchFamily="2" charset="-122"/>
              </a:rPr>
              <a:t>需</a:t>
            </a:r>
            <a:r>
              <a:rPr lang="en-US" altLang="zh-CN" sz="2400" b="1" dirty="0">
                <a:latin typeface="等线" panose="02010600030101010101" pitchFamily="2" charset="-122"/>
                <a:ea typeface="等线" panose="02010600030101010101" pitchFamily="2" charset="-122"/>
              </a:rPr>
              <a:t>5</a:t>
            </a:r>
            <a:r>
              <a:rPr lang="zh-CN" altLang="en-US" sz="2400" b="1" dirty="0">
                <a:latin typeface="等线" panose="02010600030101010101" pitchFamily="2" charset="-122"/>
                <a:ea typeface="等线" panose="02010600030101010101" pitchFamily="2" charset="-122"/>
              </a:rPr>
              <a:t>級</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C</a:t>
            </a:r>
            <a:r>
              <a:rPr lang="en-US" altLang="zh-CN" b="1" baseline="-25000" dirty="0">
                <a:latin typeface="等线" panose="02010600030101010101" pitchFamily="2" charset="-122"/>
                <a:ea typeface="等线" panose="02010600030101010101" pitchFamily="2" charset="-122"/>
              </a:rPr>
              <a:t>12</a:t>
            </a:r>
            <a:r>
              <a:rPr lang="zh-CN" altLang="en-US" b="1" dirty="0">
                <a:latin typeface="等线" panose="02010600030101010101" pitchFamily="2" charset="-122"/>
                <a:ea typeface="等线" panose="02010600030101010101" pitchFamily="2" charset="-122"/>
              </a:rPr>
              <a:t>需</a:t>
            </a:r>
            <a:r>
              <a:rPr lang="en-US" altLang="zh-CN" b="1" dirty="0">
                <a:latin typeface="等线" panose="02010600030101010101" pitchFamily="2" charset="-122"/>
                <a:ea typeface="等线" panose="02010600030101010101" pitchFamily="2" charset="-122"/>
              </a:rPr>
              <a:t>6</a:t>
            </a:r>
            <a:r>
              <a:rPr lang="zh-CN" altLang="en-US" b="1" dirty="0">
                <a:latin typeface="等线" panose="02010600030101010101" pitchFamily="2" charset="-122"/>
                <a:ea typeface="等线" panose="02010600030101010101" pitchFamily="2" charset="-122"/>
              </a:rPr>
              <a:t>級，</a:t>
            </a:r>
            <a:endParaRPr lang="zh-CN" altLang="en-US" sz="2400" b="1" dirty="0">
              <a:latin typeface="等线" panose="02010600030101010101" pitchFamily="2" charset="-122"/>
              <a:ea typeface="等线" panose="02010600030101010101" pitchFamily="2" charset="-122"/>
            </a:endParaRPr>
          </a:p>
          <a:p>
            <a:pPr>
              <a:spcBef>
                <a:spcPct val="20000"/>
              </a:spcBef>
              <a:buClr>
                <a:schemeClr val="folHlink"/>
              </a:buClr>
              <a:buFont typeface="Wingdings" pitchFamily="2" charset="2"/>
              <a:buNone/>
            </a:pP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9</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12</a:t>
            </a:r>
            <a:r>
              <a:rPr lang="zh-CN" altLang="en-US" sz="2400" b="1" dirty="0">
                <a:latin typeface="等线" panose="02010600030101010101" pitchFamily="2" charset="-122"/>
                <a:ea typeface="等线" panose="02010600030101010101" pitchFamily="2" charset="-122"/>
              </a:rPr>
              <a:t>需</a:t>
            </a:r>
            <a:r>
              <a:rPr lang="en-US" altLang="zh-CN" sz="2400" b="1" dirty="0">
                <a:latin typeface="等线" panose="02010600030101010101" pitchFamily="2" charset="-122"/>
                <a:ea typeface="等线" panose="02010600030101010101" pitchFamily="2" charset="-122"/>
              </a:rPr>
              <a:t>7</a:t>
            </a:r>
            <a:r>
              <a:rPr lang="zh-CN" altLang="en-US" sz="2400" b="1" dirty="0">
                <a:latin typeface="等线" panose="02010600030101010101" pitchFamily="2" charset="-122"/>
                <a:ea typeface="等线" panose="02010600030101010101" pitchFamily="2" charset="-122"/>
              </a:rPr>
              <a:t>級；</a:t>
            </a:r>
            <a:r>
              <a:rPr lang="en-US" altLang="zh-CN" b="1" dirty="0">
                <a:solidFill>
                  <a:srgbClr val="FF0000"/>
                </a:solidFill>
                <a:latin typeface="等线" panose="02010600030101010101" pitchFamily="2" charset="-122"/>
                <a:ea typeface="等线" panose="02010600030101010101" pitchFamily="2" charset="-122"/>
              </a:rPr>
              <a:t>C</a:t>
            </a:r>
            <a:r>
              <a:rPr lang="en-US" altLang="zh-CN" b="1" baseline="-25000" dirty="0">
                <a:solidFill>
                  <a:srgbClr val="FF0000"/>
                </a:solidFill>
                <a:latin typeface="等线" panose="02010600030101010101" pitchFamily="2" charset="-122"/>
                <a:ea typeface="等线" panose="02010600030101010101" pitchFamily="2" charset="-122"/>
              </a:rPr>
              <a:t>16</a:t>
            </a:r>
            <a:r>
              <a:rPr lang="zh-CN" altLang="en-US" b="1" dirty="0">
                <a:solidFill>
                  <a:srgbClr val="FF0000"/>
                </a:solidFill>
                <a:latin typeface="等线" panose="02010600030101010101" pitchFamily="2" charset="-122"/>
                <a:ea typeface="等线" panose="02010600030101010101" pitchFamily="2" charset="-122"/>
              </a:rPr>
              <a:t>需</a:t>
            </a:r>
            <a:r>
              <a:rPr lang="en-US" altLang="zh-CN" b="1" dirty="0">
                <a:solidFill>
                  <a:srgbClr val="FF0000"/>
                </a:solidFill>
                <a:latin typeface="等线" panose="02010600030101010101" pitchFamily="2" charset="-122"/>
                <a:ea typeface="等线" panose="02010600030101010101" pitchFamily="2" charset="-122"/>
              </a:rPr>
              <a:t>8</a:t>
            </a:r>
            <a:r>
              <a:rPr lang="zh-CN" altLang="en-US" b="1" dirty="0">
                <a:solidFill>
                  <a:srgbClr val="FF0000"/>
                </a:solidFill>
                <a:latin typeface="等线" panose="02010600030101010101" pitchFamily="2" charset="-122"/>
                <a:ea typeface="等线" panose="02010600030101010101" pitchFamily="2" charset="-122"/>
              </a:rPr>
              <a:t>級</a:t>
            </a:r>
            <a:r>
              <a:rPr lang="en-US" altLang="zh-CN" b="1" dirty="0">
                <a:solidFill>
                  <a:srgbClr val="FF0000"/>
                </a:solidFill>
                <a:latin typeface="等线" panose="02010600030101010101" pitchFamily="2" charset="-122"/>
                <a:ea typeface="等线" panose="02010600030101010101" pitchFamily="2" charset="-122"/>
              </a:rPr>
              <a:t>,</a:t>
            </a:r>
            <a:r>
              <a:rPr lang="en-US" altLang="zh-CN" sz="2400" b="1" dirty="0">
                <a:solidFill>
                  <a:srgbClr val="FF0000"/>
                </a:solidFill>
                <a:latin typeface="等线" panose="02010600030101010101" pitchFamily="2" charset="-122"/>
                <a:ea typeface="等线" panose="02010600030101010101" pitchFamily="2" charset="-122"/>
              </a:rPr>
              <a:t>F</a:t>
            </a:r>
            <a:r>
              <a:rPr lang="en-US" altLang="zh-CN" sz="2400" b="1" baseline="-25000" dirty="0">
                <a:solidFill>
                  <a:srgbClr val="FF0000"/>
                </a:solidFill>
                <a:latin typeface="等线" panose="02010600030101010101" pitchFamily="2" charset="-122"/>
                <a:ea typeface="等线" panose="02010600030101010101" pitchFamily="2" charset="-122"/>
              </a:rPr>
              <a:t>13</a:t>
            </a:r>
            <a:r>
              <a:rPr lang="en-US" altLang="zh-CN" sz="2400" b="1" dirty="0">
                <a:solidFill>
                  <a:srgbClr val="FF0000"/>
                </a:solidFill>
                <a:latin typeface="等线" panose="02010600030101010101" pitchFamily="2" charset="-122"/>
                <a:ea typeface="等线" panose="02010600030101010101" pitchFamily="2" charset="-122"/>
              </a:rPr>
              <a:t>~F</a:t>
            </a:r>
            <a:r>
              <a:rPr lang="en-US" altLang="zh-CN" sz="2400" b="1" baseline="-25000" dirty="0">
                <a:solidFill>
                  <a:srgbClr val="FF0000"/>
                </a:solidFill>
                <a:latin typeface="等线" panose="02010600030101010101" pitchFamily="2" charset="-122"/>
                <a:ea typeface="等线" panose="02010600030101010101" pitchFamily="2" charset="-122"/>
              </a:rPr>
              <a:t>16</a:t>
            </a:r>
            <a:r>
              <a:rPr lang="zh-CN" altLang="en-US" sz="2400" b="1" dirty="0">
                <a:solidFill>
                  <a:srgbClr val="FF0000"/>
                </a:solidFill>
                <a:latin typeface="等线" panose="02010600030101010101" pitchFamily="2" charset="-122"/>
                <a:ea typeface="等线" panose="02010600030101010101" pitchFamily="2" charset="-122"/>
              </a:rPr>
              <a:t>需</a:t>
            </a:r>
            <a:r>
              <a:rPr lang="en-US" altLang="zh-CN" sz="2400" b="1" dirty="0">
                <a:solidFill>
                  <a:srgbClr val="FF0000"/>
                </a:solidFill>
                <a:latin typeface="等线" panose="02010600030101010101" pitchFamily="2" charset="-122"/>
                <a:ea typeface="等线" panose="02010600030101010101" pitchFamily="2" charset="-122"/>
              </a:rPr>
              <a:t>9</a:t>
            </a:r>
            <a:r>
              <a:rPr lang="zh-CN" altLang="en-US" sz="2400" b="1" dirty="0">
                <a:solidFill>
                  <a:srgbClr val="FF0000"/>
                </a:solidFill>
                <a:latin typeface="等线" panose="02010600030101010101" pitchFamily="2" charset="-122"/>
                <a:ea typeface="等线" panose="02010600030101010101" pitchFamily="2" charset="-122"/>
              </a:rPr>
              <a:t>級</a:t>
            </a:r>
            <a:r>
              <a:rPr lang="en-US" altLang="zh-CN" b="1" dirty="0">
                <a:solidFill>
                  <a:srgbClr val="FF0000"/>
                </a:solidFill>
                <a:latin typeface="等线" panose="02010600030101010101" pitchFamily="2" charset="-122"/>
                <a:ea typeface="等线" panose="02010600030101010101" pitchFamily="2" charset="-122"/>
              </a:rPr>
              <a:t>.   C</a:t>
            </a:r>
            <a:r>
              <a:rPr lang="en-US" altLang="zh-CN" sz="1800" b="1" dirty="0">
                <a:solidFill>
                  <a:srgbClr val="FF0000"/>
                </a:solidFill>
                <a:latin typeface="等线" panose="02010600030101010101" pitchFamily="2" charset="-122"/>
                <a:ea typeface="等线" panose="02010600030101010101" pitchFamily="2" charset="-122"/>
              </a:rPr>
              <a:t>n</a:t>
            </a:r>
            <a:r>
              <a:rPr lang="en-US" altLang="zh-CN" b="1" dirty="0">
                <a:solidFill>
                  <a:srgbClr val="FF0000"/>
                </a:solidFill>
                <a:latin typeface="等线" panose="02010600030101010101" pitchFamily="2" charset="-122"/>
                <a:ea typeface="等线" panose="02010600030101010101" pitchFamily="2" charset="-122"/>
              </a:rPr>
              <a:t>=n/2</a:t>
            </a:r>
            <a:r>
              <a:rPr lang="zh-CN" altLang="en-US" b="1" dirty="0">
                <a:solidFill>
                  <a:srgbClr val="FF0000"/>
                </a:solidFill>
                <a:latin typeface="等线" panose="02010600030101010101" pitchFamily="2" charset="-122"/>
                <a:ea typeface="等线" panose="02010600030101010101" pitchFamily="2" charset="-122"/>
              </a:rPr>
              <a:t>級</a:t>
            </a:r>
            <a:endParaRPr lang="zh-CN" altLang="en-US" sz="2400" b="1" dirty="0">
              <a:solidFill>
                <a:srgbClr val="FF0000"/>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A1B9E081-1154-4CFF-932F-B9293447BC73}"/>
              </a:ext>
            </a:extLst>
          </p:cNvPr>
          <p:cNvSpPr txBox="1"/>
          <p:nvPr/>
        </p:nvSpPr>
        <p:spPr>
          <a:xfrm>
            <a:off x="2932366" y="3068960"/>
            <a:ext cx="364202" cy="307777"/>
          </a:xfrm>
          <a:prstGeom prst="rect">
            <a:avLst/>
          </a:prstGeom>
          <a:noFill/>
        </p:spPr>
        <p:txBody>
          <a:bodyPr wrap="none" rtlCol="0">
            <a:spAutoFit/>
          </a:bodyPr>
          <a:lstStyle/>
          <a:p>
            <a:r>
              <a:rPr lang="en-US" altLang="zh-CN" sz="1400" i="1" dirty="0"/>
              <a:t>C</a:t>
            </a:r>
            <a:r>
              <a:rPr lang="en-US" altLang="zh-CN" sz="1400" i="1" baseline="-25000" dirty="0"/>
              <a:t>4</a:t>
            </a:r>
            <a:endParaRPr lang="zh-CN" altLang="en-US" sz="1800" i="1" baseline="-25000" dirty="0"/>
          </a:p>
        </p:txBody>
      </p:sp>
      <p:sp>
        <p:nvSpPr>
          <p:cNvPr id="10" name="文本框 9">
            <a:extLst>
              <a:ext uri="{FF2B5EF4-FFF2-40B4-BE49-F238E27FC236}">
                <a16:creationId xmlns:a16="http://schemas.microsoft.com/office/drawing/2014/main" id="{5A876ECE-859D-49AA-8FBD-924DDB7FD8B0}"/>
              </a:ext>
            </a:extLst>
          </p:cNvPr>
          <p:cNvSpPr txBox="1"/>
          <p:nvPr/>
        </p:nvSpPr>
        <p:spPr>
          <a:xfrm>
            <a:off x="6388750" y="3068960"/>
            <a:ext cx="423514" cy="307777"/>
          </a:xfrm>
          <a:prstGeom prst="rect">
            <a:avLst/>
          </a:prstGeom>
          <a:noFill/>
        </p:spPr>
        <p:txBody>
          <a:bodyPr wrap="none" rtlCol="0">
            <a:spAutoFit/>
          </a:bodyPr>
          <a:lstStyle/>
          <a:p>
            <a:r>
              <a:rPr lang="en-US" altLang="zh-CN" sz="1400" i="1" dirty="0"/>
              <a:t>C</a:t>
            </a:r>
            <a:r>
              <a:rPr lang="en-US" altLang="zh-CN" sz="1400" i="1" baseline="-25000" dirty="0"/>
              <a:t>12</a:t>
            </a:r>
            <a:endParaRPr lang="zh-CN" altLang="en-US" sz="1800" i="1" baseline="-25000" dirty="0"/>
          </a:p>
        </p:txBody>
      </p:sp>
      <p:sp>
        <p:nvSpPr>
          <p:cNvPr id="11" name="文本框 10">
            <a:extLst>
              <a:ext uri="{FF2B5EF4-FFF2-40B4-BE49-F238E27FC236}">
                <a16:creationId xmlns:a16="http://schemas.microsoft.com/office/drawing/2014/main" id="{8CC9EF92-7560-4868-9864-E29F70DC1CFC}"/>
              </a:ext>
            </a:extLst>
          </p:cNvPr>
          <p:cNvSpPr txBox="1"/>
          <p:nvPr/>
        </p:nvSpPr>
        <p:spPr>
          <a:xfrm>
            <a:off x="4716016" y="3068960"/>
            <a:ext cx="364202" cy="307777"/>
          </a:xfrm>
          <a:prstGeom prst="rect">
            <a:avLst/>
          </a:prstGeom>
          <a:noFill/>
        </p:spPr>
        <p:txBody>
          <a:bodyPr wrap="none" rtlCol="0">
            <a:spAutoFit/>
          </a:bodyPr>
          <a:lstStyle/>
          <a:p>
            <a:r>
              <a:rPr lang="en-US" altLang="zh-CN" sz="1400" i="1" dirty="0"/>
              <a:t>C</a:t>
            </a:r>
            <a:r>
              <a:rPr lang="en-US" altLang="zh-CN" sz="1400" i="1" baseline="-25000" dirty="0"/>
              <a:t>8</a:t>
            </a:r>
            <a:endParaRPr lang="zh-CN" altLang="en-US" sz="1800" i="1" baseline="-25000" dirty="0"/>
          </a:p>
        </p:txBody>
      </p:sp>
    </p:spTree>
    <p:extLst>
      <p:ext uri="{BB962C8B-B14F-4D97-AF65-F5344CB8AC3E}">
        <p14:creationId xmlns:p14="http://schemas.microsoft.com/office/powerpoint/2010/main" val="4289992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758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758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75814"/>
                                        </p:tgtEl>
                                        <p:attrNameLst>
                                          <p:attrName>style.visibility</p:attrName>
                                        </p:attrNameLst>
                                      </p:cBhvr>
                                      <p:to>
                                        <p:strVal val="visible"/>
                                      </p:to>
                                    </p:set>
                                    <p:anim calcmode="lin" valueType="num">
                                      <p:cBhvr additive="base">
                                        <p:cTn id="23" dur="500" fill="hold"/>
                                        <p:tgtEl>
                                          <p:spTgt spid="375814"/>
                                        </p:tgtEl>
                                        <p:attrNameLst>
                                          <p:attrName>ppt_x</p:attrName>
                                        </p:attrNameLst>
                                      </p:cBhvr>
                                      <p:tavLst>
                                        <p:tav tm="0">
                                          <p:val>
                                            <p:strVal val="0-#ppt_w/2"/>
                                          </p:val>
                                        </p:tav>
                                        <p:tav tm="100000">
                                          <p:val>
                                            <p:strVal val="#ppt_x"/>
                                          </p:val>
                                        </p:tav>
                                      </p:tavLst>
                                    </p:anim>
                                    <p:anim calcmode="lin" valueType="num">
                                      <p:cBhvr additive="base">
                                        <p:cTn id="24" dur="500" fill="hold"/>
                                        <p:tgtEl>
                                          <p:spTgt spid="3758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3" grpId="0" autoUpdateAnimBg="0"/>
      <p:bldP spid="375814" grpId="0" autoUpdateAnimBg="0"/>
      <p:bldP spid="8" grpId="0"/>
      <p:bldP spid="10"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a:xfrm>
            <a:off x="914400" y="44624"/>
            <a:ext cx="7772400" cy="1143000"/>
          </a:xfrm>
        </p:spPr>
        <p:txBody>
          <a:bodyPr/>
          <a:lstStyle/>
          <a:p>
            <a:r>
              <a:rPr lang="en-US" altLang="zh-CN" sz="3600" dirty="0"/>
              <a:t>3.3.7   </a:t>
            </a:r>
            <a:r>
              <a:rPr lang="zh-CN" altLang="en-US" sz="3600" dirty="0"/>
              <a:t>運算器</a:t>
            </a:r>
            <a:r>
              <a:rPr lang="en-US" altLang="zh-CN" sz="3600" dirty="0"/>
              <a:t>(27)</a:t>
            </a:r>
          </a:p>
        </p:txBody>
      </p:sp>
      <p:sp>
        <p:nvSpPr>
          <p:cNvPr id="376835" name="Rectangle 3"/>
          <p:cNvSpPr>
            <a:spLocks noGrp="1" noChangeArrowheads="1"/>
          </p:cNvSpPr>
          <p:nvPr>
            <p:ph type="body" idx="1"/>
          </p:nvPr>
        </p:nvSpPr>
        <p:spPr>
          <a:xfrm>
            <a:off x="571472" y="1142984"/>
            <a:ext cx="8153400" cy="1428760"/>
          </a:xfrm>
        </p:spPr>
        <p:txBody>
          <a:bodyPr>
            <a:normAutofit fontScale="92500"/>
          </a:bodyPr>
          <a:lstStyle/>
          <a:p>
            <a:pPr lvl="1"/>
            <a:r>
              <a:rPr lang="en-US" altLang="zh-CN" b="1" dirty="0"/>
              <a:t>16</a:t>
            </a:r>
            <a:r>
              <a:rPr lang="zh-CN" altLang="en-US" b="1" dirty="0"/>
              <a:t>位並行進位加法器</a:t>
            </a:r>
            <a:r>
              <a:rPr lang="zh-CN" altLang="en-US" dirty="0"/>
              <a:t>：</a:t>
            </a:r>
          </a:p>
          <a:p>
            <a:pPr lvl="2">
              <a:buNone/>
            </a:pPr>
            <a:r>
              <a:rPr lang="zh-CN" altLang="en-US" b="1" dirty="0"/>
              <a:t>用類似四位並行加法器中</a:t>
            </a:r>
            <a:r>
              <a:rPr lang="en-US" altLang="zh-CN" b="1" dirty="0"/>
              <a:t>C1</a:t>
            </a:r>
            <a:r>
              <a:rPr lang="zh-CN" altLang="en-US" b="1" dirty="0"/>
              <a:t>、</a:t>
            </a:r>
            <a:r>
              <a:rPr lang="en-US" altLang="zh-CN" b="1" dirty="0"/>
              <a:t>C2</a:t>
            </a:r>
            <a:r>
              <a:rPr lang="zh-CN" altLang="en-US" b="1" dirty="0"/>
              <a:t>、</a:t>
            </a:r>
            <a:r>
              <a:rPr lang="en-US" altLang="zh-CN" b="1" dirty="0"/>
              <a:t>C3</a:t>
            </a:r>
            <a:r>
              <a:rPr lang="zh-CN" altLang="en-US" b="1" dirty="0"/>
              <a:t>、</a:t>
            </a:r>
            <a:r>
              <a:rPr lang="en-US" altLang="zh-CN" b="1" dirty="0"/>
              <a:t>C4</a:t>
            </a:r>
            <a:r>
              <a:rPr lang="zh-CN" altLang="en-US" b="1" dirty="0"/>
              <a:t>形成的原理，去形成片間快速進位</a:t>
            </a:r>
            <a:r>
              <a:rPr lang="en-US" altLang="zh-CN" b="1" dirty="0"/>
              <a:t>C4</a:t>
            </a:r>
            <a:r>
              <a:rPr lang="zh-CN" altLang="en-US" b="1" dirty="0"/>
              <a:t>、</a:t>
            </a:r>
            <a:r>
              <a:rPr lang="en-US" altLang="zh-CN" b="1" dirty="0"/>
              <a:t>C8</a:t>
            </a:r>
            <a:r>
              <a:rPr lang="zh-CN" altLang="en-US" b="1" dirty="0"/>
              <a:t>、</a:t>
            </a:r>
            <a:r>
              <a:rPr lang="en-US" altLang="zh-CN" b="1" dirty="0"/>
              <a:t>C12</a:t>
            </a:r>
            <a:r>
              <a:rPr lang="zh-CN" altLang="en-US" b="1" dirty="0"/>
              <a:t>、</a:t>
            </a:r>
            <a:r>
              <a:rPr lang="en-US" altLang="zh-CN" b="1" dirty="0"/>
              <a:t>C16 </a:t>
            </a:r>
          </a:p>
          <a:p>
            <a:pPr>
              <a:spcBef>
                <a:spcPct val="30000"/>
              </a:spcBef>
              <a:buClrTx/>
              <a:buFontTx/>
              <a:buNone/>
            </a:pPr>
            <a:endParaRPr lang="en-US" altLang="zh-CN" sz="2400" b="1" dirty="0"/>
          </a:p>
        </p:txBody>
      </p:sp>
      <p:graphicFrame>
        <p:nvGraphicFramePr>
          <p:cNvPr id="376836" name="Object 4"/>
          <p:cNvGraphicFramePr>
            <a:graphicFrameLocks noChangeAspect="1"/>
          </p:cNvGraphicFramePr>
          <p:nvPr>
            <p:extLst>
              <p:ext uri="{D42A27DB-BD31-4B8C-83A1-F6EECF244321}">
                <p14:modId xmlns:p14="http://schemas.microsoft.com/office/powerpoint/2010/main" val="1952157078"/>
              </p:ext>
            </p:extLst>
          </p:nvPr>
        </p:nvGraphicFramePr>
        <p:xfrm>
          <a:off x="785813" y="2643188"/>
          <a:ext cx="7240587" cy="1085850"/>
        </p:xfrm>
        <a:graphic>
          <a:graphicData uri="http://schemas.openxmlformats.org/presentationml/2006/ole">
            <mc:AlternateContent xmlns:mc="http://schemas.openxmlformats.org/markup-compatibility/2006">
              <mc:Choice xmlns:v="urn:schemas-microsoft-com:vml" Requires="v">
                <p:oleObj name="公式" r:id="rId2" imgW="3213000" imgH="482400" progId="Equation.3">
                  <p:embed/>
                </p:oleObj>
              </mc:Choice>
              <mc:Fallback>
                <p:oleObj name="公式" r:id="rId2" imgW="3213000" imgH="482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643188"/>
                        <a:ext cx="7240587" cy="1085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6837" name="Object 5"/>
          <p:cNvGraphicFramePr>
            <a:graphicFrameLocks noChangeAspect="1"/>
          </p:cNvGraphicFramePr>
          <p:nvPr>
            <p:extLst>
              <p:ext uri="{D42A27DB-BD31-4B8C-83A1-F6EECF244321}">
                <p14:modId xmlns:p14="http://schemas.microsoft.com/office/powerpoint/2010/main" val="1508187427"/>
              </p:ext>
            </p:extLst>
          </p:nvPr>
        </p:nvGraphicFramePr>
        <p:xfrm>
          <a:off x="857224" y="3929066"/>
          <a:ext cx="8012113" cy="2095500"/>
        </p:xfrm>
        <a:graphic>
          <a:graphicData uri="http://schemas.openxmlformats.org/presentationml/2006/ole">
            <mc:AlternateContent xmlns:mc="http://schemas.openxmlformats.org/markup-compatibility/2006">
              <mc:Choice xmlns:v="urn:schemas-microsoft-com:vml" Requires="v">
                <p:oleObj name="公式" r:id="rId4" imgW="3682800" imgH="965160" progId="Equation.3">
                  <p:embed/>
                </p:oleObj>
              </mc:Choice>
              <mc:Fallback>
                <p:oleObj name="公式" r:id="rId4" imgW="3682800" imgH="9651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24" y="3929066"/>
                        <a:ext cx="8012113" cy="209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085789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6836"/>
                                        </p:tgtEl>
                                        <p:attrNameLst>
                                          <p:attrName>style.visibility</p:attrName>
                                        </p:attrNameLst>
                                      </p:cBhvr>
                                      <p:to>
                                        <p:strVal val="visible"/>
                                      </p:to>
                                    </p:set>
                                    <p:anim calcmode="lin" valueType="num">
                                      <p:cBhvr additive="base">
                                        <p:cTn id="7" dur="500" fill="hold"/>
                                        <p:tgtEl>
                                          <p:spTgt spid="376836"/>
                                        </p:tgtEl>
                                        <p:attrNameLst>
                                          <p:attrName>ppt_x</p:attrName>
                                        </p:attrNameLst>
                                      </p:cBhvr>
                                      <p:tavLst>
                                        <p:tav tm="0">
                                          <p:val>
                                            <p:strVal val="#ppt_x"/>
                                          </p:val>
                                        </p:tav>
                                        <p:tav tm="100000">
                                          <p:val>
                                            <p:strVal val="#ppt_x"/>
                                          </p:val>
                                        </p:tav>
                                      </p:tavLst>
                                    </p:anim>
                                    <p:anim calcmode="lin" valueType="num">
                                      <p:cBhvr additive="base">
                                        <p:cTn id="8" dur="500" fill="hold"/>
                                        <p:tgtEl>
                                          <p:spTgt spid="37683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76837"/>
                                        </p:tgtEl>
                                        <p:attrNameLst>
                                          <p:attrName>style.visibility</p:attrName>
                                        </p:attrNameLst>
                                      </p:cBhvr>
                                      <p:to>
                                        <p:strVal val="visible"/>
                                      </p:to>
                                    </p:set>
                                    <p:anim calcmode="lin" valueType="num">
                                      <p:cBhvr additive="base">
                                        <p:cTn id="13" dur="500" fill="hold"/>
                                        <p:tgtEl>
                                          <p:spTgt spid="376837"/>
                                        </p:tgtEl>
                                        <p:attrNameLst>
                                          <p:attrName>ppt_x</p:attrName>
                                        </p:attrNameLst>
                                      </p:cBhvr>
                                      <p:tavLst>
                                        <p:tav tm="0">
                                          <p:val>
                                            <p:strVal val="#ppt_x"/>
                                          </p:val>
                                        </p:tav>
                                        <p:tav tm="100000">
                                          <p:val>
                                            <p:strVal val="#ppt_x"/>
                                          </p:val>
                                        </p:tav>
                                      </p:tavLst>
                                    </p:anim>
                                    <p:anim calcmode="lin" valueType="num">
                                      <p:cBhvr additive="base">
                                        <p:cTn id="14" dur="500" fill="hold"/>
                                        <p:tgtEl>
                                          <p:spTgt spid="3768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16733886-24E3-48AD-9E3B-A755D3CB30D7}" type="slidenum">
              <a:rPr lang="en-US" altLang="zh-CN"/>
              <a:pPr/>
              <a:t>35</a:t>
            </a:fld>
            <a:endParaRPr lang="en-US" altLang="zh-CN" dirty="0"/>
          </a:p>
        </p:txBody>
      </p:sp>
      <p:sp>
        <p:nvSpPr>
          <p:cNvPr id="377858" name="Rectangle 2"/>
          <p:cNvSpPr>
            <a:spLocks noGrp="1" noChangeArrowheads="1"/>
          </p:cNvSpPr>
          <p:nvPr>
            <p:ph type="title"/>
          </p:nvPr>
        </p:nvSpPr>
        <p:spPr>
          <a:xfrm>
            <a:off x="457200" y="304800"/>
            <a:ext cx="8534400" cy="609600"/>
          </a:xfrm>
        </p:spPr>
        <p:txBody>
          <a:bodyPr>
            <a:normAutofit fontScale="90000"/>
          </a:bodyPr>
          <a:lstStyle/>
          <a:p>
            <a:r>
              <a:rPr lang="en-US" altLang="zh-CN" sz="3600" dirty="0"/>
              <a:t>3.3.7   </a:t>
            </a:r>
            <a:r>
              <a:rPr lang="zh-CN" altLang="en-US" sz="3600" dirty="0"/>
              <a:t>運算器</a:t>
            </a:r>
            <a:r>
              <a:rPr lang="en-US" altLang="zh-CN" sz="3600" dirty="0"/>
              <a:t>(28)</a:t>
            </a:r>
          </a:p>
        </p:txBody>
      </p:sp>
      <p:graphicFrame>
        <p:nvGraphicFramePr>
          <p:cNvPr id="377859" name="Object 3"/>
          <p:cNvGraphicFramePr>
            <a:graphicFrameLocks noChangeAspect="1"/>
          </p:cNvGraphicFramePr>
          <p:nvPr>
            <p:extLst>
              <p:ext uri="{D42A27DB-BD31-4B8C-83A1-F6EECF244321}">
                <p14:modId xmlns:p14="http://schemas.microsoft.com/office/powerpoint/2010/main" val="1945721227"/>
              </p:ext>
            </p:extLst>
          </p:nvPr>
        </p:nvGraphicFramePr>
        <p:xfrm>
          <a:off x="620713" y="1981200"/>
          <a:ext cx="6456362" cy="511175"/>
        </p:xfrm>
        <a:graphic>
          <a:graphicData uri="http://schemas.openxmlformats.org/presentationml/2006/ole">
            <mc:AlternateContent xmlns:mc="http://schemas.openxmlformats.org/markup-compatibility/2006">
              <mc:Choice xmlns:v="urn:schemas-microsoft-com:vml" Requires="v">
                <p:oleObj name="公式" r:id="rId3" imgW="2882880" imgH="228600" progId="Equation.3">
                  <p:embed/>
                </p:oleObj>
              </mc:Choice>
              <mc:Fallback>
                <p:oleObj name="公式" r:id="rId3" imgW="288288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713" y="1981200"/>
                        <a:ext cx="6456362"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7860" name="Object 4"/>
          <p:cNvGraphicFramePr>
            <a:graphicFrameLocks noChangeAspect="1"/>
          </p:cNvGraphicFramePr>
          <p:nvPr>
            <p:extLst>
              <p:ext uri="{D42A27DB-BD31-4B8C-83A1-F6EECF244321}">
                <p14:modId xmlns:p14="http://schemas.microsoft.com/office/powerpoint/2010/main" val="4091433866"/>
              </p:ext>
            </p:extLst>
          </p:nvPr>
        </p:nvGraphicFramePr>
        <p:xfrm>
          <a:off x="620713" y="2819400"/>
          <a:ext cx="8375650" cy="476250"/>
        </p:xfrm>
        <a:graphic>
          <a:graphicData uri="http://schemas.openxmlformats.org/presentationml/2006/ole">
            <mc:AlternateContent xmlns:mc="http://schemas.openxmlformats.org/markup-compatibility/2006">
              <mc:Choice xmlns:v="urn:schemas-microsoft-com:vml" Requires="v">
                <p:oleObj name="公式" r:id="rId5" imgW="4038480" imgH="228600" progId="Equation.3">
                  <p:embed/>
                </p:oleObj>
              </mc:Choice>
              <mc:Fallback>
                <p:oleObj name="公式" r:id="rId5" imgW="403848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713" y="2819400"/>
                        <a:ext cx="8375650" cy="476250"/>
                      </a:xfrm>
                      <a:prstGeom prst="rect">
                        <a:avLst/>
                      </a:prstGeom>
                      <a:noFill/>
                    </p:spPr>
                  </p:pic>
                </p:oleObj>
              </mc:Fallback>
            </mc:AlternateContent>
          </a:graphicData>
        </a:graphic>
      </p:graphicFrame>
    </p:spTree>
    <p:extLst>
      <p:ext uri="{BB962C8B-B14F-4D97-AF65-F5344CB8AC3E}">
        <p14:creationId xmlns:p14="http://schemas.microsoft.com/office/powerpoint/2010/main" val="31964080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7859"/>
                                        </p:tgtEl>
                                        <p:attrNameLst>
                                          <p:attrName>style.visibility</p:attrName>
                                        </p:attrNameLst>
                                      </p:cBhvr>
                                      <p:to>
                                        <p:strVal val="visible"/>
                                      </p:to>
                                    </p:set>
                                    <p:anim calcmode="lin" valueType="num">
                                      <p:cBhvr additive="base">
                                        <p:cTn id="7" dur="500" fill="hold"/>
                                        <p:tgtEl>
                                          <p:spTgt spid="377859"/>
                                        </p:tgtEl>
                                        <p:attrNameLst>
                                          <p:attrName>ppt_x</p:attrName>
                                        </p:attrNameLst>
                                      </p:cBhvr>
                                      <p:tavLst>
                                        <p:tav tm="0">
                                          <p:val>
                                            <p:strVal val="#ppt_x"/>
                                          </p:val>
                                        </p:tav>
                                        <p:tav tm="100000">
                                          <p:val>
                                            <p:strVal val="#ppt_x"/>
                                          </p:val>
                                        </p:tav>
                                      </p:tavLst>
                                    </p:anim>
                                    <p:anim calcmode="lin" valueType="num">
                                      <p:cBhvr additive="base">
                                        <p:cTn id="8" dur="500" fill="hold"/>
                                        <p:tgtEl>
                                          <p:spTgt spid="37785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77860"/>
                                        </p:tgtEl>
                                        <p:attrNameLst>
                                          <p:attrName>style.visibility</p:attrName>
                                        </p:attrNameLst>
                                      </p:cBhvr>
                                      <p:to>
                                        <p:strVal val="visible"/>
                                      </p:to>
                                    </p:set>
                                    <p:anim calcmode="lin" valueType="num">
                                      <p:cBhvr additive="base">
                                        <p:cTn id="13" dur="500" fill="hold"/>
                                        <p:tgtEl>
                                          <p:spTgt spid="377860"/>
                                        </p:tgtEl>
                                        <p:attrNameLst>
                                          <p:attrName>ppt_x</p:attrName>
                                        </p:attrNameLst>
                                      </p:cBhvr>
                                      <p:tavLst>
                                        <p:tav tm="0">
                                          <p:val>
                                            <p:strVal val="#ppt_x"/>
                                          </p:val>
                                        </p:tav>
                                        <p:tav tm="100000">
                                          <p:val>
                                            <p:strVal val="#ppt_x"/>
                                          </p:val>
                                        </p:tav>
                                      </p:tavLst>
                                    </p:anim>
                                    <p:anim calcmode="lin" valueType="num">
                                      <p:cBhvr additive="base">
                                        <p:cTn id="14" dur="500" fill="hold"/>
                                        <p:tgtEl>
                                          <p:spTgt spid="3778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5"/>
          <p:cNvSpPr>
            <a:spLocks noGrp="1"/>
          </p:cNvSpPr>
          <p:nvPr>
            <p:ph type="sldNum" sz="quarter" idx="12"/>
          </p:nvPr>
        </p:nvSpPr>
        <p:spPr/>
        <p:txBody>
          <a:bodyPr/>
          <a:lstStyle/>
          <a:p>
            <a:fld id="{552AFACE-81C7-4AC8-8C04-E1E745D359F4}" type="slidenum">
              <a:rPr lang="en-US" altLang="zh-CN"/>
              <a:pPr/>
              <a:t>36</a:t>
            </a:fld>
            <a:endParaRPr lang="en-US" altLang="zh-CN" dirty="0"/>
          </a:p>
        </p:txBody>
      </p:sp>
      <p:sp>
        <p:nvSpPr>
          <p:cNvPr id="379906" name="Rectangle 2"/>
          <p:cNvSpPr>
            <a:spLocks noGrp="1" noChangeArrowheads="1"/>
          </p:cNvSpPr>
          <p:nvPr>
            <p:ph type="title"/>
          </p:nvPr>
        </p:nvSpPr>
        <p:spPr>
          <a:xfrm>
            <a:off x="604838" y="304800"/>
            <a:ext cx="8234362" cy="468313"/>
          </a:xfrm>
        </p:spPr>
        <p:txBody>
          <a:bodyPr>
            <a:normAutofit fontScale="90000"/>
          </a:bodyPr>
          <a:lstStyle/>
          <a:p>
            <a:r>
              <a:rPr lang="en-US" altLang="zh-CN" sz="3600" dirty="0"/>
              <a:t>3.3.7   </a:t>
            </a:r>
            <a:r>
              <a:rPr lang="zh-CN" altLang="en-US" sz="3600" dirty="0"/>
              <a:t>運算器</a:t>
            </a:r>
            <a:r>
              <a:rPr lang="en-US" altLang="zh-CN" sz="3600" dirty="0"/>
              <a:t>(29)</a:t>
            </a:r>
          </a:p>
        </p:txBody>
      </p:sp>
      <p:graphicFrame>
        <p:nvGraphicFramePr>
          <p:cNvPr id="379907" name="Object 3"/>
          <p:cNvGraphicFramePr>
            <a:graphicFrameLocks noChangeAspect="1"/>
          </p:cNvGraphicFramePr>
          <p:nvPr>
            <p:extLst>
              <p:ext uri="{D42A27DB-BD31-4B8C-83A1-F6EECF244321}">
                <p14:modId xmlns:p14="http://schemas.microsoft.com/office/powerpoint/2010/main" val="85965253"/>
              </p:ext>
            </p:extLst>
          </p:nvPr>
        </p:nvGraphicFramePr>
        <p:xfrm>
          <a:off x="357188" y="1219200"/>
          <a:ext cx="2546350" cy="514350"/>
        </p:xfrm>
        <a:graphic>
          <a:graphicData uri="http://schemas.openxmlformats.org/presentationml/2006/ole">
            <mc:AlternateContent xmlns:mc="http://schemas.openxmlformats.org/markup-compatibility/2006">
              <mc:Choice xmlns:v="urn:schemas-microsoft-com:vml" Requires="v">
                <p:oleObj name="公式" r:id="rId2" imgW="1130040" imgH="228600" progId="Equation.3">
                  <p:embed/>
                </p:oleObj>
              </mc:Choice>
              <mc:Fallback>
                <p:oleObj name="公式" r:id="rId2" imgW="113004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219200"/>
                        <a:ext cx="254635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08" name="Object 4"/>
          <p:cNvGraphicFramePr>
            <a:graphicFrameLocks noChangeAspect="1"/>
          </p:cNvGraphicFramePr>
          <p:nvPr>
            <p:extLst>
              <p:ext uri="{D42A27DB-BD31-4B8C-83A1-F6EECF244321}">
                <p14:modId xmlns:p14="http://schemas.microsoft.com/office/powerpoint/2010/main" val="4216926133"/>
              </p:ext>
            </p:extLst>
          </p:nvPr>
        </p:nvGraphicFramePr>
        <p:xfrm>
          <a:off x="374650" y="1752600"/>
          <a:ext cx="4117975" cy="495300"/>
        </p:xfrm>
        <a:graphic>
          <a:graphicData uri="http://schemas.openxmlformats.org/presentationml/2006/ole">
            <mc:AlternateContent xmlns:mc="http://schemas.openxmlformats.org/markup-compatibility/2006">
              <mc:Choice xmlns:v="urn:schemas-microsoft-com:vml" Requires="v">
                <p:oleObj name="公式" r:id="rId4" imgW="1892160" imgH="228600" progId="Equation.3">
                  <p:embed/>
                </p:oleObj>
              </mc:Choice>
              <mc:Fallback>
                <p:oleObj name="公式" r:id="rId4" imgW="189216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650" y="1752600"/>
                        <a:ext cx="41179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09" name="Object 5"/>
          <p:cNvGraphicFramePr>
            <a:graphicFrameLocks noChangeAspect="1"/>
          </p:cNvGraphicFramePr>
          <p:nvPr>
            <p:extLst>
              <p:ext uri="{D42A27DB-BD31-4B8C-83A1-F6EECF244321}">
                <p14:modId xmlns:p14="http://schemas.microsoft.com/office/powerpoint/2010/main" val="2335086796"/>
              </p:ext>
            </p:extLst>
          </p:nvPr>
        </p:nvGraphicFramePr>
        <p:xfrm>
          <a:off x="357188" y="2232025"/>
          <a:ext cx="6456362" cy="511175"/>
        </p:xfrm>
        <a:graphic>
          <a:graphicData uri="http://schemas.openxmlformats.org/presentationml/2006/ole">
            <mc:AlternateContent xmlns:mc="http://schemas.openxmlformats.org/markup-compatibility/2006">
              <mc:Choice xmlns:v="urn:schemas-microsoft-com:vml" Requires="v">
                <p:oleObj name="公式" r:id="rId6" imgW="2882880" imgH="228600" progId="Equation.3">
                  <p:embed/>
                </p:oleObj>
              </mc:Choice>
              <mc:Fallback>
                <p:oleObj name="公式" r:id="rId6" imgW="288288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188" y="2232025"/>
                        <a:ext cx="6456362"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0" name="Object 6"/>
          <p:cNvGraphicFramePr>
            <a:graphicFrameLocks noChangeAspect="1"/>
          </p:cNvGraphicFramePr>
          <p:nvPr>
            <p:extLst>
              <p:ext uri="{D42A27DB-BD31-4B8C-83A1-F6EECF244321}">
                <p14:modId xmlns:p14="http://schemas.microsoft.com/office/powerpoint/2010/main" val="3804519691"/>
              </p:ext>
            </p:extLst>
          </p:nvPr>
        </p:nvGraphicFramePr>
        <p:xfrm>
          <a:off x="377825" y="2800350"/>
          <a:ext cx="8464550" cy="476250"/>
        </p:xfrm>
        <a:graphic>
          <a:graphicData uri="http://schemas.openxmlformats.org/presentationml/2006/ole">
            <mc:AlternateContent xmlns:mc="http://schemas.openxmlformats.org/markup-compatibility/2006">
              <mc:Choice xmlns:v="urn:schemas-microsoft-com:vml" Requires="v">
                <p:oleObj name="公式" r:id="rId8" imgW="4038480" imgH="228600" progId="Equation.3">
                  <p:embed/>
                </p:oleObj>
              </mc:Choice>
              <mc:Fallback>
                <p:oleObj name="公式" r:id="rId8" imgW="403848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825" y="2800350"/>
                        <a:ext cx="846455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1" name="Object 7"/>
          <p:cNvGraphicFramePr>
            <a:graphicFrameLocks noChangeAspect="1"/>
          </p:cNvGraphicFramePr>
          <p:nvPr>
            <p:extLst>
              <p:ext uri="{D42A27DB-BD31-4B8C-83A1-F6EECF244321}">
                <p14:modId xmlns:p14="http://schemas.microsoft.com/office/powerpoint/2010/main" val="2021381921"/>
              </p:ext>
            </p:extLst>
          </p:nvPr>
        </p:nvGraphicFramePr>
        <p:xfrm>
          <a:off x="440580" y="3501008"/>
          <a:ext cx="4673600" cy="457200"/>
        </p:xfrm>
        <a:graphic>
          <a:graphicData uri="http://schemas.openxmlformats.org/presentationml/2006/ole">
            <mc:AlternateContent xmlns:mc="http://schemas.openxmlformats.org/markup-compatibility/2006">
              <mc:Choice xmlns:v="urn:schemas-microsoft-com:vml" Requires="v">
                <p:oleObj name="公式" r:id="rId10" imgW="2336760" imgH="228600" progId="Equation.3">
                  <p:embed/>
                </p:oleObj>
              </mc:Choice>
              <mc:Fallback>
                <p:oleObj name="公式" r:id="rId10" imgW="233676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0580" y="3501008"/>
                        <a:ext cx="4673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2" name="Object 8"/>
          <p:cNvGraphicFramePr>
            <a:graphicFrameLocks noChangeAspect="1"/>
          </p:cNvGraphicFramePr>
          <p:nvPr>
            <p:extLst>
              <p:ext uri="{D42A27DB-BD31-4B8C-83A1-F6EECF244321}">
                <p14:modId xmlns:p14="http://schemas.microsoft.com/office/powerpoint/2010/main" val="3829367994"/>
              </p:ext>
            </p:extLst>
          </p:nvPr>
        </p:nvGraphicFramePr>
        <p:xfrm>
          <a:off x="440580" y="3997896"/>
          <a:ext cx="4673600" cy="457200"/>
        </p:xfrm>
        <a:graphic>
          <a:graphicData uri="http://schemas.openxmlformats.org/presentationml/2006/ole">
            <mc:AlternateContent xmlns:mc="http://schemas.openxmlformats.org/markup-compatibility/2006">
              <mc:Choice xmlns:v="urn:schemas-microsoft-com:vml" Requires="v">
                <p:oleObj name="公式" r:id="rId12" imgW="2336760" imgH="228600" progId="Equation.3">
                  <p:embed/>
                </p:oleObj>
              </mc:Choice>
              <mc:Fallback>
                <p:oleObj name="公式" r:id="rId12" imgW="2336760" imgH="228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0580" y="3997896"/>
                        <a:ext cx="4673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3" name="Object 9"/>
          <p:cNvGraphicFramePr>
            <a:graphicFrameLocks noChangeAspect="1"/>
          </p:cNvGraphicFramePr>
          <p:nvPr>
            <p:extLst>
              <p:ext uri="{D42A27DB-BD31-4B8C-83A1-F6EECF244321}">
                <p14:modId xmlns:p14="http://schemas.microsoft.com/office/powerpoint/2010/main" val="944996334"/>
              </p:ext>
            </p:extLst>
          </p:nvPr>
        </p:nvGraphicFramePr>
        <p:xfrm>
          <a:off x="453280" y="4491608"/>
          <a:ext cx="4800600" cy="457200"/>
        </p:xfrm>
        <a:graphic>
          <a:graphicData uri="http://schemas.openxmlformats.org/presentationml/2006/ole">
            <mc:AlternateContent xmlns:mc="http://schemas.openxmlformats.org/markup-compatibility/2006">
              <mc:Choice xmlns:v="urn:schemas-microsoft-com:vml" Requires="v">
                <p:oleObj name="公式" r:id="rId14" imgW="2679480" imgH="228600" progId="Equation.3">
                  <p:embed/>
                </p:oleObj>
              </mc:Choice>
              <mc:Fallback>
                <p:oleObj name="公式" r:id="rId14" imgW="2679480" imgH="2286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3280" y="4491608"/>
                        <a:ext cx="48006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4" name="Object 10"/>
          <p:cNvGraphicFramePr>
            <a:graphicFrameLocks noChangeAspect="1"/>
          </p:cNvGraphicFramePr>
          <p:nvPr>
            <p:extLst>
              <p:ext uri="{D42A27DB-BD31-4B8C-83A1-F6EECF244321}">
                <p14:modId xmlns:p14="http://schemas.microsoft.com/office/powerpoint/2010/main" val="2147018964"/>
              </p:ext>
            </p:extLst>
          </p:nvPr>
        </p:nvGraphicFramePr>
        <p:xfrm>
          <a:off x="431055" y="5025008"/>
          <a:ext cx="4913313" cy="457200"/>
        </p:xfrm>
        <a:graphic>
          <a:graphicData uri="http://schemas.openxmlformats.org/presentationml/2006/ole">
            <mc:AlternateContent xmlns:mc="http://schemas.openxmlformats.org/markup-compatibility/2006">
              <mc:Choice xmlns:v="urn:schemas-microsoft-com:vml" Requires="v">
                <p:oleObj name="公式" r:id="rId16" imgW="2743200" imgH="228600" progId="Equation.3">
                  <p:embed/>
                </p:oleObj>
              </mc:Choice>
              <mc:Fallback>
                <p:oleObj name="公式" r:id="rId16" imgW="2743200" imgH="2286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1055" y="5025008"/>
                        <a:ext cx="49133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5" name="Object 11"/>
          <p:cNvGraphicFramePr>
            <a:graphicFrameLocks noChangeAspect="1"/>
          </p:cNvGraphicFramePr>
          <p:nvPr>
            <p:extLst>
              <p:ext uri="{D42A27DB-BD31-4B8C-83A1-F6EECF244321}">
                <p14:modId xmlns:p14="http://schemas.microsoft.com/office/powerpoint/2010/main" val="3365847227"/>
              </p:ext>
            </p:extLst>
          </p:nvPr>
        </p:nvGraphicFramePr>
        <p:xfrm>
          <a:off x="6258569" y="3501008"/>
          <a:ext cx="1962150" cy="476250"/>
        </p:xfrm>
        <a:graphic>
          <a:graphicData uri="http://schemas.openxmlformats.org/presentationml/2006/ole">
            <mc:AlternateContent xmlns:mc="http://schemas.openxmlformats.org/markup-compatibility/2006">
              <mc:Choice xmlns:v="urn:schemas-microsoft-com:vml" Requires="v">
                <p:oleObj name="公式" r:id="rId18" imgW="939600" imgH="228600" progId="Equation.3">
                  <p:embed/>
                </p:oleObj>
              </mc:Choice>
              <mc:Fallback>
                <p:oleObj name="公式" r:id="rId18" imgW="939600" imgH="2286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258569" y="3501008"/>
                        <a:ext cx="196215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6" name="Object 12"/>
          <p:cNvGraphicFramePr>
            <a:graphicFrameLocks noChangeAspect="1"/>
          </p:cNvGraphicFramePr>
          <p:nvPr>
            <p:extLst>
              <p:ext uri="{D42A27DB-BD31-4B8C-83A1-F6EECF244321}">
                <p14:modId xmlns:p14="http://schemas.microsoft.com/office/powerpoint/2010/main" val="1227962065"/>
              </p:ext>
            </p:extLst>
          </p:nvPr>
        </p:nvGraphicFramePr>
        <p:xfrm>
          <a:off x="6260157" y="4034408"/>
          <a:ext cx="1987550" cy="476250"/>
        </p:xfrm>
        <a:graphic>
          <a:graphicData uri="http://schemas.openxmlformats.org/presentationml/2006/ole">
            <mc:AlternateContent xmlns:mc="http://schemas.openxmlformats.org/markup-compatibility/2006">
              <mc:Choice xmlns:v="urn:schemas-microsoft-com:vml" Requires="v">
                <p:oleObj name="公式" r:id="rId20" imgW="952200" imgH="228600" progId="Equation.3">
                  <p:embed/>
                </p:oleObj>
              </mc:Choice>
              <mc:Fallback>
                <p:oleObj name="公式" r:id="rId20" imgW="952200" imgH="2286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60157" y="4034408"/>
                        <a:ext cx="198755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7" name="Object 13"/>
          <p:cNvGraphicFramePr>
            <a:graphicFrameLocks noChangeAspect="1"/>
          </p:cNvGraphicFramePr>
          <p:nvPr>
            <p:extLst>
              <p:ext uri="{D42A27DB-BD31-4B8C-83A1-F6EECF244321}">
                <p14:modId xmlns:p14="http://schemas.microsoft.com/office/powerpoint/2010/main" val="1014786687"/>
              </p:ext>
            </p:extLst>
          </p:nvPr>
        </p:nvGraphicFramePr>
        <p:xfrm>
          <a:off x="6225232" y="4509071"/>
          <a:ext cx="2146300" cy="458787"/>
        </p:xfrm>
        <a:graphic>
          <a:graphicData uri="http://schemas.openxmlformats.org/presentationml/2006/ole">
            <mc:AlternateContent xmlns:mc="http://schemas.openxmlformats.org/markup-compatibility/2006">
              <mc:Choice xmlns:v="urn:schemas-microsoft-com:vml" Requires="v">
                <p:oleObj name="公式" r:id="rId22" imgW="1066680" imgH="228600" progId="Equation.3">
                  <p:embed/>
                </p:oleObj>
              </mc:Choice>
              <mc:Fallback>
                <p:oleObj name="公式" r:id="rId22" imgW="1066680" imgH="22860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225232" y="4509071"/>
                        <a:ext cx="2146300"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9918" name="Object 14"/>
          <p:cNvGraphicFramePr>
            <a:graphicFrameLocks noChangeAspect="1"/>
          </p:cNvGraphicFramePr>
          <p:nvPr>
            <p:extLst>
              <p:ext uri="{D42A27DB-BD31-4B8C-83A1-F6EECF244321}">
                <p14:modId xmlns:p14="http://schemas.microsoft.com/office/powerpoint/2010/main" val="3129703023"/>
              </p:ext>
            </p:extLst>
          </p:nvPr>
        </p:nvGraphicFramePr>
        <p:xfrm>
          <a:off x="6209357" y="5042471"/>
          <a:ext cx="2251075" cy="458787"/>
        </p:xfrm>
        <a:graphic>
          <a:graphicData uri="http://schemas.openxmlformats.org/presentationml/2006/ole">
            <mc:AlternateContent xmlns:mc="http://schemas.openxmlformats.org/markup-compatibility/2006">
              <mc:Choice xmlns:v="urn:schemas-microsoft-com:vml" Requires="v">
                <p:oleObj name="公式" r:id="rId24" imgW="1117440" imgH="228600" progId="Equation.3">
                  <p:embed/>
                </p:oleObj>
              </mc:Choice>
              <mc:Fallback>
                <p:oleObj name="公式" r:id="rId24" imgW="1117440" imgH="22860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209357" y="5042471"/>
                        <a:ext cx="2251075"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919" name="Text Box 15"/>
          <p:cNvSpPr txBox="1">
            <a:spLocks noChangeArrowheads="1"/>
          </p:cNvSpPr>
          <p:nvPr/>
        </p:nvSpPr>
        <p:spPr bwMode="auto">
          <a:xfrm>
            <a:off x="620216" y="5562600"/>
            <a:ext cx="7696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等线" panose="02010600030101010101" pitchFamily="2" charset="-122"/>
                <a:ea typeface="等线" panose="02010600030101010101" pitchFamily="2" charset="-122"/>
              </a:rPr>
              <a:t>G</a:t>
            </a:r>
            <a:r>
              <a:rPr lang="en-US" altLang="zh-CN" sz="1800" dirty="0">
                <a:latin typeface="等线" panose="02010600030101010101" pitchFamily="2" charset="-122"/>
                <a:ea typeface="等线" panose="02010600030101010101" pitchFamily="2" charset="-122"/>
              </a:rPr>
              <a:t>m</a:t>
            </a:r>
            <a:r>
              <a:rPr lang="zh-CN" altLang="en-US" sz="2400" dirty="0">
                <a:latin typeface="等线" panose="02010600030101010101" pitchFamily="2" charset="-122"/>
                <a:ea typeface="等线" panose="02010600030101010101" pitchFamily="2" charset="-122"/>
              </a:rPr>
              <a:t>和</a:t>
            </a:r>
            <a:r>
              <a:rPr lang="en-US" altLang="zh-CN" sz="2400" dirty="0">
                <a:latin typeface="等线" panose="02010600030101010101" pitchFamily="2" charset="-122"/>
                <a:ea typeface="等线" panose="02010600030101010101" pitchFamily="2" charset="-122"/>
              </a:rPr>
              <a:t>P</a:t>
            </a:r>
            <a:r>
              <a:rPr lang="en-US" altLang="zh-CN" sz="1800" dirty="0">
                <a:latin typeface="等线" panose="02010600030101010101" pitchFamily="2" charset="-122"/>
                <a:ea typeface="等线" panose="02010600030101010101" pitchFamily="2" charset="-122"/>
              </a:rPr>
              <a:t>m</a:t>
            </a:r>
            <a:r>
              <a:rPr lang="zh-CN" altLang="en-US" dirty="0">
                <a:latin typeface="等线" panose="02010600030101010101" pitchFamily="2" charset="-122"/>
                <a:ea typeface="等线" panose="02010600030101010101" pitchFamily="2" charset="-122"/>
              </a:rPr>
              <a:t>有</a:t>
            </a:r>
            <a:r>
              <a:rPr lang="zh-CN" altLang="en-US" sz="2400" dirty="0">
                <a:latin typeface="等线" panose="02010600030101010101" pitchFamily="2" charset="-122"/>
                <a:ea typeface="等线" panose="02010600030101010101" pitchFamily="2" charset="-122"/>
              </a:rPr>
              <a:t>規律，可以根據輸入</a:t>
            </a:r>
            <a:r>
              <a:rPr lang="en-US" altLang="zh-CN" sz="2400" dirty="0">
                <a:latin typeface="等线" panose="02010600030101010101" pitchFamily="2" charset="-122"/>
                <a:ea typeface="等线" panose="02010600030101010101" pitchFamily="2" charset="-122"/>
              </a:rPr>
              <a:t>X</a:t>
            </a:r>
            <a:r>
              <a:rPr lang="zh-CN" altLang="en-US" sz="2400" dirty="0">
                <a:latin typeface="等线" panose="02010600030101010101" pitchFamily="2" charset="-122"/>
                <a:ea typeface="等线" panose="02010600030101010101" pitchFamily="2" charset="-122"/>
              </a:rPr>
              <a:t>和</a:t>
            </a:r>
            <a:r>
              <a:rPr lang="en-US" altLang="zh-CN" sz="2400" dirty="0">
                <a:latin typeface="等线" panose="02010600030101010101" pitchFamily="2" charset="-122"/>
                <a:ea typeface="等线" panose="02010600030101010101" pitchFamily="2" charset="-122"/>
              </a:rPr>
              <a:t>Y</a:t>
            </a:r>
            <a:r>
              <a:rPr lang="zh-CN" altLang="en-US" sz="2400" dirty="0">
                <a:latin typeface="等线" panose="02010600030101010101" pitchFamily="2" charset="-122"/>
                <a:ea typeface="等线" panose="02010600030101010101" pitchFamily="2" charset="-122"/>
              </a:rPr>
              <a:t>直接計算得出，意味者</a:t>
            </a:r>
            <a:r>
              <a:rPr lang="en-US" altLang="zh-CN" sz="2400" dirty="0">
                <a:latin typeface="等线" panose="02010600030101010101" pitchFamily="2" charset="-122"/>
                <a:ea typeface="等线" panose="02010600030101010101" pitchFamily="2" charset="-122"/>
              </a:rPr>
              <a:t>4</a:t>
            </a:r>
            <a:r>
              <a:rPr lang="zh-CN" altLang="en-US" sz="2400" dirty="0">
                <a:latin typeface="等线" panose="02010600030101010101" pitchFamily="2" charset="-122"/>
                <a:ea typeface="等线" panose="02010600030101010101" pitchFamily="2" charset="-122"/>
              </a:rPr>
              <a:t>位加法器內部可以直接提供</a:t>
            </a:r>
            <a:r>
              <a:rPr lang="en-US" altLang="zh-CN" sz="2400" dirty="0">
                <a:latin typeface="等线" panose="02010600030101010101" pitchFamily="2" charset="-122"/>
                <a:ea typeface="等线" panose="02010600030101010101" pitchFamily="2" charset="-122"/>
              </a:rPr>
              <a:t>G</a:t>
            </a:r>
            <a:r>
              <a:rPr lang="en-US" altLang="zh-CN" sz="1800" dirty="0">
                <a:latin typeface="等线" panose="02010600030101010101" pitchFamily="2" charset="-122"/>
                <a:ea typeface="等线" panose="02010600030101010101" pitchFamily="2" charset="-122"/>
              </a:rPr>
              <a:t>m</a:t>
            </a:r>
            <a:r>
              <a:rPr lang="zh-CN" altLang="en-US" sz="2400" dirty="0">
                <a:latin typeface="等线" panose="02010600030101010101" pitchFamily="2" charset="-122"/>
                <a:ea typeface="等线" panose="02010600030101010101" pitchFamily="2" charset="-122"/>
              </a:rPr>
              <a:t>和</a:t>
            </a:r>
            <a:r>
              <a:rPr lang="en-US" altLang="zh-CN" sz="2400" dirty="0">
                <a:latin typeface="等线" panose="02010600030101010101" pitchFamily="2" charset="-122"/>
                <a:ea typeface="等线" panose="02010600030101010101" pitchFamily="2" charset="-122"/>
              </a:rPr>
              <a:t>P</a:t>
            </a:r>
            <a:r>
              <a:rPr lang="en-US" altLang="zh-CN" sz="1800" dirty="0">
                <a:latin typeface="等线" panose="02010600030101010101" pitchFamily="2" charset="-122"/>
                <a:ea typeface="等线" panose="02010600030101010101" pitchFamily="2" charset="-122"/>
              </a:rPr>
              <a:t>m</a:t>
            </a:r>
            <a:r>
              <a:rPr lang="zh-CN" altLang="en-US" sz="2400"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C</a:t>
            </a:r>
            <a:r>
              <a:rPr lang="en-US" altLang="zh-CN" sz="1800" dirty="0">
                <a:latin typeface="等线" panose="02010600030101010101" pitchFamily="2" charset="-122"/>
                <a:ea typeface="等线" panose="02010600030101010101" pitchFamily="2" charset="-122"/>
              </a:rPr>
              <a:t>4</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1800" dirty="0">
                <a:latin typeface="等线" panose="02010600030101010101" pitchFamily="2" charset="-122"/>
                <a:ea typeface="等线" panose="02010600030101010101" pitchFamily="2" charset="-122"/>
              </a:rPr>
              <a:t>8</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1800" dirty="0">
                <a:latin typeface="等线" panose="02010600030101010101" pitchFamily="2" charset="-122"/>
                <a:ea typeface="等线" panose="02010600030101010101" pitchFamily="2" charset="-122"/>
              </a:rPr>
              <a:t>12</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C</a:t>
            </a:r>
            <a:r>
              <a:rPr lang="en-US" altLang="zh-CN" sz="1800" dirty="0">
                <a:latin typeface="等线" panose="02010600030101010101" pitchFamily="2" charset="-122"/>
                <a:ea typeface="等线" panose="02010600030101010101" pitchFamily="2" charset="-122"/>
              </a:rPr>
              <a:t>16</a:t>
            </a:r>
            <a:r>
              <a:rPr lang="zh-CN" altLang="en-US" sz="2400" dirty="0">
                <a:latin typeface="等线" panose="02010600030101010101" pitchFamily="2" charset="-122"/>
                <a:ea typeface="等线" panose="02010600030101010101" pitchFamily="2" charset="-122"/>
              </a:rPr>
              <a:t>可以設計一個</a:t>
            </a:r>
            <a:r>
              <a:rPr lang="zh-CN" altLang="en-US" dirty="0">
                <a:latin typeface="等线" panose="02010600030101010101" pitchFamily="2" charset="-122"/>
                <a:ea typeface="等线" panose="02010600030101010101" pitchFamily="2" charset="-122"/>
              </a:rPr>
              <a:t>“</a:t>
            </a:r>
            <a:r>
              <a:rPr lang="zh-CN" altLang="en-US" sz="2400" dirty="0">
                <a:latin typeface="等线" panose="02010600030101010101" pitchFamily="2" charset="-122"/>
                <a:ea typeface="等线" panose="02010600030101010101" pitchFamily="2" charset="-122"/>
              </a:rPr>
              <a:t>快速進位擴展器”形成。</a:t>
            </a:r>
          </a:p>
        </p:txBody>
      </p:sp>
      <p:sp>
        <p:nvSpPr>
          <p:cNvPr id="17" name="Rectangle 31"/>
          <p:cNvSpPr>
            <a:spLocks noChangeArrowheads="1"/>
          </p:cNvSpPr>
          <p:nvPr/>
        </p:nvSpPr>
        <p:spPr bwMode="auto">
          <a:xfrm>
            <a:off x="305406" y="3501008"/>
            <a:ext cx="5202698" cy="2061592"/>
          </a:xfrm>
          <a:prstGeom prst="rect">
            <a:avLst/>
          </a:prstGeom>
          <a:solidFill>
            <a:srgbClr val="0099FF">
              <a:alpha val="30196"/>
            </a:srgbClr>
          </a:solidFill>
          <a:ln w="38100">
            <a:noFill/>
            <a:miter lim="800000"/>
            <a:headEnd/>
            <a:tailEnd/>
          </a:ln>
          <a:effectLst/>
        </p:spPr>
        <p:txBody>
          <a:bodyPr wrap="none" anchor="ctr"/>
          <a:lstStyle/>
          <a:p>
            <a:endParaRPr lang="zh-CN" altLang="en-US"/>
          </a:p>
        </p:txBody>
      </p:sp>
      <p:sp>
        <p:nvSpPr>
          <p:cNvPr id="19" name="Rectangle 31">
            <a:extLst>
              <a:ext uri="{FF2B5EF4-FFF2-40B4-BE49-F238E27FC236}">
                <a16:creationId xmlns:a16="http://schemas.microsoft.com/office/drawing/2014/main" id="{602617F6-07A3-4026-A264-B95FE792461A}"/>
              </a:ext>
            </a:extLst>
          </p:cNvPr>
          <p:cNvSpPr>
            <a:spLocks noChangeArrowheads="1"/>
          </p:cNvSpPr>
          <p:nvPr/>
        </p:nvSpPr>
        <p:spPr bwMode="auto">
          <a:xfrm>
            <a:off x="6084168" y="3501008"/>
            <a:ext cx="2466394" cy="2061592"/>
          </a:xfrm>
          <a:prstGeom prst="rect">
            <a:avLst/>
          </a:prstGeom>
          <a:solidFill>
            <a:srgbClr val="0099FF">
              <a:alpha val="30196"/>
            </a:srgbClr>
          </a:solidFill>
          <a:ln w="38100">
            <a:noFill/>
            <a:miter lim="800000"/>
            <a:headEnd/>
            <a:tailEnd/>
          </a:ln>
          <a:effectLst/>
        </p:spPr>
        <p:txBody>
          <a:bodyPr wrap="none" anchor="ctr"/>
          <a:lstStyle/>
          <a:p>
            <a:endParaRPr lang="zh-CN" altLang="en-US"/>
          </a:p>
        </p:txBody>
      </p:sp>
    </p:spTree>
    <p:extLst>
      <p:ext uri="{BB962C8B-B14F-4D97-AF65-F5344CB8AC3E}">
        <p14:creationId xmlns:p14="http://schemas.microsoft.com/office/powerpoint/2010/main" val="18510964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9907"/>
                                        </p:tgtEl>
                                        <p:attrNameLst>
                                          <p:attrName>style.visibility</p:attrName>
                                        </p:attrNameLst>
                                      </p:cBhvr>
                                      <p:to>
                                        <p:strVal val="visible"/>
                                      </p:to>
                                    </p:set>
                                    <p:anim calcmode="lin" valueType="num">
                                      <p:cBhvr additive="base">
                                        <p:cTn id="7" dur="500" fill="hold"/>
                                        <p:tgtEl>
                                          <p:spTgt spid="379907"/>
                                        </p:tgtEl>
                                        <p:attrNameLst>
                                          <p:attrName>ppt_x</p:attrName>
                                        </p:attrNameLst>
                                      </p:cBhvr>
                                      <p:tavLst>
                                        <p:tav tm="0">
                                          <p:val>
                                            <p:strVal val="#ppt_x"/>
                                          </p:val>
                                        </p:tav>
                                        <p:tav tm="100000">
                                          <p:val>
                                            <p:strVal val="#ppt_x"/>
                                          </p:val>
                                        </p:tav>
                                      </p:tavLst>
                                    </p:anim>
                                    <p:anim calcmode="lin" valueType="num">
                                      <p:cBhvr additive="base">
                                        <p:cTn id="8" dur="500" fill="hold"/>
                                        <p:tgtEl>
                                          <p:spTgt spid="37990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9908"/>
                                        </p:tgtEl>
                                        <p:attrNameLst>
                                          <p:attrName>style.visibility</p:attrName>
                                        </p:attrNameLst>
                                      </p:cBhvr>
                                      <p:to>
                                        <p:strVal val="visible"/>
                                      </p:to>
                                    </p:set>
                                    <p:anim calcmode="lin" valueType="num">
                                      <p:cBhvr additive="base">
                                        <p:cTn id="11" dur="500" fill="hold"/>
                                        <p:tgtEl>
                                          <p:spTgt spid="379908"/>
                                        </p:tgtEl>
                                        <p:attrNameLst>
                                          <p:attrName>ppt_x</p:attrName>
                                        </p:attrNameLst>
                                      </p:cBhvr>
                                      <p:tavLst>
                                        <p:tav tm="0">
                                          <p:val>
                                            <p:strVal val="#ppt_x"/>
                                          </p:val>
                                        </p:tav>
                                        <p:tav tm="100000">
                                          <p:val>
                                            <p:strVal val="#ppt_x"/>
                                          </p:val>
                                        </p:tav>
                                      </p:tavLst>
                                    </p:anim>
                                    <p:anim calcmode="lin" valueType="num">
                                      <p:cBhvr additive="base">
                                        <p:cTn id="12" dur="500" fill="hold"/>
                                        <p:tgtEl>
                                          <p:spTgt spid="37990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9909"/>
                                        </p:tgtEl>
                                        <p:attrNameLst>
                                          <p:attrName>style.visibility</p:attrName>
                                        </p:attrNameLst>
                                      </p:cBhvr>
                                      <p:to>
                                        <p:strVal val="visible"/>
                                      </p:to>
                                    </p:set>
                                    <p:anim calcmode="lin" valueType="num">
                                      <p:cBhvr additive="base">
                                        <p:cTn id="15" dur="500" fill="hold"/>
                                        <p:tgtEl>
                                          <p:spTgt spid="379909"/>
                                        </p:tgtEl>
                                        <p:attrNameLst>
                                          <p:attrName>ppt_x</p:attrName>
                                        </p:attrNameLst>
                                      </p:cBhvr>
                                      <p:tavLst>
                                        <p:tav tm="0">
                                          <p:val>
                                            <p:strVal val="#ppt_x"/>
                                          </p:val>
                                        </p:tav>
                                        <p:tav tm="100000">
                                          <p:val>
                                            <p:strVal val="#ppt_x"/>
                                          </p:val>
                                        </p:tav>
                                      </p:tavLst>
                                    </p:anim>
                                    <p:anim calcmode="lin" valueType="num">
                                      <p:cBhvr additive="base">
                                        <p:cTn id="16" dur="500" fill="hold"/>
                                        <p:tgtEl>
                                          <p:spTgt spid="37990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9910"/>
                                        </p:tgtEl>
                                        <p:attrNameLst>
                                          <p:attrName>style.visibility</p:attrName>
                                        </p:attrNameLst>
                                      </p:cBhvr>
                                      <p:to>
                                        <p:strVal val="visible"/>
                                      </p:to>
                                    </p:set>
                                    <p:anim calcmode="lin" valueType="num">
                                      <p:cBhvr additive="base">
                                        <p:cTn id="19" dur="500" fill="hold"/>
                                        <p:tgtEl>
                                          <p:spTgt spid="379910"/>
                                        </p:tgtEl>
                                        <p:attrNameLst>
                                          <p:attrName>ppt_x</p:attrName>
                                        </p:attrNameLst>
                                      </p:cBhvr>
                                      <p:tavLst>
                                        <p:tav tm="0">
                                          <p:val>
                                            <p:strVal val="#ppt_x"/>
                                          </p:val>
                                        </p:tav>
                                        <p:tav tm="100000">
                                          <p:val>
                                            <p:strVal val="#ppt_x"/>
                                          </p:val>
                                        </p:tav>
                                      </p:tavLst>
                                    </p:anim>
                                    <p:anim calcmode="lin" valueType="num">
                                      <p:cBhvr additive="base">
                                        <p:cTn id="20" dur="500" fill="hold"/>
                                        <p:tgtEl>
                                          <p:spTgt spid="37991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79911"/>
                                        </p:tgtEl>
                                        <p:attrNameLst>
                                          <p:attrName>style.visibility</p:attrName>
                                        </p:attrNameLst>
                                      </p:cBhvr>
                                      <p:to>
                                        <p:strVal val="visible"/>
                                      </p:to>
                                    </p:set>
                                    <p:anim calcmode="lin" valueType="num">
                                      <p:cBhvr additive="base">
                                        <p:cTn id="25" dur="500" fill="hold"/>
                                        <p:tgtEl>
                                          <p:spTgt spid="379911"/>
                                        </p:tgtEl>
                                        <p:attrNameLst>
                                          <p:attrName>ppt_x</p:attrName>
                                        </p:attrNameLst>
                                      </p:cBhvr>
                                      <p:tavLst>
                                        <p:tav tm="0">
                                          <p:val>
                                            <p:strVal val="#ppt_x"/>
                                          </p:val>
                                        </p:tav>
                                        <p:tav tm="100000">
                                          <p:val>
                                            <p:strVal val="#ppt_x"/>
                                          </p:val>
                                        </p:tav>
                                      </p:tavLst>
                                    </p:anim>
                                    <p:anim calcmode="lin" valueType="num">
                                      <p:cBhvr additive="base">
                                        <p:cTn id="26" dur="500" fill="hold"/>
                                        <p:tgtEl>
                                          <p:spTgt spid="37991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79912"/>
                                        </p:tgtEl>
                                        <p:attrNameLst>
                                          <p:attrName>style.visibility</p:attrName>
                                        </p:attrNameLst>
                                      </p:cBhvr>
                                      <p:to>
                                        <p:strVal val="visible"/>
                                      </p:to>
                                    </p:set>
                                    <p:anim calcmode="lin" valueType="num">
                                      <p:cBhvr additive="base">
                                        <p:cTn id="29" dur="500" fill="hold"/>
                                        <p:tgtEl>
                                          <p:spTgt spid="379912"/>
                                        </p:tgtEl>
                                        <p:attrNameLst>
                                          <p:attrName>ppt_x</p:attrName>
                                        </p:attrNameLst>
                                      </p:cBhvr>
                                      <p:tavLst>
                                        <p:tav tm="0">
                                          <p:val>
                                            <p:strVal val="#ppt_x"/>
                                          </p:val>
                                        </p:tav>
                                        <p:tav tm="100000">
                                          <p:val>
                                            <p:strVal val="#ppt_x"/>
                                          </p:val>
                                        </p:tav>
                                      </p:tavLst>
                                    </p:anim>
                                    <p:anim calcmode="lin" valueType="num">
                                      <p:cBhvr additive="base">
                                        <p:cTn id="30" dur="500" fill="hold"/>
                                        <p:tgtEl>
                                          <p:spTgt spid="379912"/>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79913"/>
                                        </p:tgtEl>
                                        <p:attrNameLst>
                                          <p:attrName>style.visibility</p:attrName>
                                        </p:attrNameLst>
                                      </p:cBhvr>
                                      <p:to>
                                        <p:strVal val="visible"/>
                                      </p:to>
                                    </p:set>
                                    <p:anim calcmode="lin" valueType="num">
                                      <p:cBhvr additive="base">
                                        <p:cTn id="33" dur="500" fill="hold"/>
                                        <p:tgtEl>
                                          <p:spTgt spid="379913"/>
                                        </p:tgtEl>
                                        <p:attrNameLst>
                                          <p:attrName>ppt_x</p:attrName>
                                        </p:attrNameLst>
                                      </p:cBhvr>
                                      <p:tavLst>
                                        <p:tav tm="0">
                                          <p:val>
                                            <p:strVal val="#ppt_x"/>
                                          </p:val>
                                        </p:tav>
                                        <p:tav tm="100000">
                                          <p:val>
                                            <p:strVal val="#ppt_x"/>
                                          </p:val>
                                        </p:tav>
                                      </p:tavLst>
                                    </p:anim>
                                    <p:anim calcmode="lin" valueType="num">
                                      <p:cBhvr additive="base">
                                        <p:cTn id="34" dur="500" fill="hold"/>
                                        <p:tgtEl>
                                          <p:spTgt spid="37991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79914"/>
                                        </p:tgtEl>
                                        <p:attrNameLst>
                                          <p:attrName>style.visibility</p:attrName>
                                        </p:attrNameLst>
                                      </p:cBhvr>
                                      <p:to>
                                        <p:strVal val="visible"/>
                                      </p:to>
                                    </p:set>
                                    <p:anim calcmode="lin" valueType="num">
                                      <p:cBhvr additive="base">
                                        <p:cTn id="37" dur="500" fill="hold"/>
                                        <p:tgtEl>
                                          <p:spTgt spid="379914"/>
                                        </p:tgtEl>
                                        <p:attrNameLst>
                                          <p:attrName>ppt_x</p:attrName>
                                        </p:attrNameLst>
                                      </p:cBhvr>
                                      <p:tavLst>
                                        <p:tav tm="0">
                                          <p:val>
                                            <p:strVal val="#ppt_x"/>
                                          </p:val>
                                        </p:tav>
                                        <p:tav tm="100000">
                                          <p:val>
                                            <p:strVal val="#ppt_x"/>
                                          </p:val>
                                        </p:tav>
                                      </p:tavLst>
                                    </p:anim>
                                    <p:anim calcmode="lin" valueType="num">
                                      <p:cBhvr additive="base">
                                        <p:cTn id="38" dur="500" fill="hold"/>
                                        <p:tgtEl>
                                          <p:spTgt spid="379914"/>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79915"/>
                                        </p:tgtEl>
                                        <p:attrNameLst>
                                          <p:attrName>style.visibility</p:attrName>
                                        </p:attrNameLst>
                                      </p:cBhvr>
                                      <p:to>
                                        <p:strVal val="visible"/>
                                      </p:to>
                                    </p:set>
                                    <p:anim calcmode="lin" valueType="num">
                                      <p:cBhvr additive="base">
                                        <p:cTn id="43" dur="500" fill="hold"/>
                                        <p:tgtEl>
                                          <p:spTgt spid="379915"/>
                                        </p:tgtEl>
                                        <p:attrNameLst>
                                          <p:attrName>ppt_x</p:attrName>
                                        </p:attrNameLst>
                                      </p:cBhvr>
                                      <p:tavLst>
                                        <p:tav tm="0">
                                          <p:val>
                                            <p:strVal val="#ppt_x"/>
                                          </p:val>
                                        </p:tav>
                                        <p:tav tm="100000">
                                          <p:val>
                                            <p:strVal val="#ppt_x"/>
                                          </p:val>
                                        </p:tav>
                                      </p:tavLst>
                                    </p:anim>
                                    <p:anim calcmode="lin" valueType="num">
                                      <p:cBhvr additive="base">
                                        <p:cTn id="44" dur="500" fill="hold"/>
                                        <p:tgtEl>
                                          <p:spTgt spid="379915"/>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79916"/>
                                        </p:tgtEl>
                                        <p:attrNameLst>
                                          <p:attrName>style.visibility</p:attrName>
                                        </p:attrNameLst>
                                      </p:cBhvr>
                                      <p:to>
                                        <p:strVal val="visible"/>
                                      </p:to>
                                    </p:set>
                                    <p:anim calcmode="lin" valueType="num">
                                      <p:cBhvr additive="base">
                                        <p:cTn id="47" dur="500" fill="hold"/>
                                        <p:tgtEl>
                                          <p:spTgt spid="379916"/>
                                        </p:tgtEl>
                                        <p:attrNameLst>
                                          <p:attrName>ppt_x</p:attrName>
                                        </p:attrNameLst>
                                      </p:cBhvr>
                                      <p:tavLst>
                                        <p:tav tm="0">
                                          <p:val>
                                            <p:strVal val="#ppt_x"/>
                                          </p:val>
                                        </p:tav>
                                        <p:tav tm="100000">
                                          <p:val>
                                            <p:strVal val="#ppt_x"/>
                                          </p:val>
                                        </p:tav>
                                      </p:tavLst>
                                    </p:anim>
                                    <p:anim calcmode="lin" valueType="num">
                                      <p:cBhvr additive="base">
                                        <p:cTn id="48" dur="500" fill="hold"/>
                                        <p:tgtEl>
                                          <p:spTgt spid="379916"/>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79917"/>
                                        </p:tgtEl>
                                        <p:attrNameLst>
                                          <p:attrName>style.visibility</p:attrName>
                                        </p:attrNameLst>
                                      </p:cBhvr>
                                      <p:to>
                                        <p:strVal val="visible"/>
                                      </p:to>
                                    </p:set>
                                    <p:anim calcmode="lin" valueType="num">
                                      <p:cBhvr additive="base">
                                        <p:cTn id="51" dur="500" fill="hold"/>
                                        <p:tgtEl>
                                          <p:spTgt spid="379917"/>
                                        </p:tgtEl>
                                        <p:attrNameLst>
                                          <p:attrName>ppt_x</p:attrName>
                                        </p:attrNameLst>
                                      </p:cBhvr>
                                      <p:tavLst>
                                        <p:tav tm="0">
                                          <p:val>
                                            <p:strVal val="#ppt_x"/>
                                          </p:val>
                                        </p:tav>
                                        <p:tav tm="100000">
                                          <p:val>
                                            <p:strVal val="#ppt_x"/>
                                          </p:val>
                                        </p:tav>
                                      </p:tavLst>
                                    </p:anim>
                                    <p:anim calcmode="lin" valueType="num">
                                      <p:cBhvr additive="base">
                                        <p:cTn id="52" dur="500" fill="hold"/>
                                        <p:tgtEl>
                                          <p:spTgt spid="37991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79918"/>
                                        </p:tgtEl>
                                        <p:attrNameLst>
                                          <p:attrName>style.visibility</p:attrName>
                                        </p:attrNameLst>
                                      </p:cBhvr>
                                      <p:to>
                                        <p:strVal val="visible"/>
                                      </p:to>
                                    </p:set>
                                    <p:anim calcmode="lin" valueType="num">
                                      <p:cBhvr additive="base">
                                        <p:cTn id="55" dur="500" fill="hold"/>
                                        <p:tgtEl>
                                          <p:spTgt spid="379918"/>
                                        </p:tgtEl>
                                        <p:attrNameLst>
                                          <p:attrName>ppt_x</p:attrName>
                                        </p:attrNameLst>
                                      </p:cBhvr>
                                      <p:tavLst>
                                        <p:tav tm="0">
                                          <p:val>
                                            <p:strVal val="#ppt_x"/>
                                          </p:val>
                                        </p:tav>
                                        <p:tav tm="100000">
                                          <p:val>
                                            <p:strVal val="#ppt_x"/>
                                          </p:val>
                                        </p:tav>
                                      </p:tavLst>
                                    </p:anim>
                                    <p:anim calcmode="lin" valueType="num">
                                      <p:cBhvr additive="base">
                                        <p:cTn id="56" dur="500" fill="hold"/>
                                        <p:tgtEl>
                                          <p:spTgt spid="37991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p:cTn id="61" dur="500" fill="hold"/>
                                        <p:tgtEl>
                                          <p:spTgt spid="17"/>
                                        </p:tgtEl>
                                        <p:attrNameLst>
                                          <p:attrName>ppt_w</p:attrName>
                                        </p:attrNameLst>
                                      </p:cBhvr>
                                      <p:tavLst>
                                        <p:tav tm="0">
                                          <p:val>
                                            <p:fltVal val="0"/>
                                          </p:val>
                                        </p:tav>
                                        <p:tav tm="100000">
                                          <p:val>
                                            <p:strVal val="#ppt_w"/>
                                          </p:val>
                                        </p:tav>
                                      </p:tavLst>
                                    </p:anim>
                                    <p:anim calcmode="lin" valueType="num">
                                      <p:cBhvr>
                                        <p:cTn id="62" dur="500" fill="hold"/>
                                        <p:tgtEl>
                                          <p:spTgt spid="17"/>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379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19" grpId="0" autoUpdateAnimBg="0"/>
      <p:bldP spid="17" grpId="0" animBg="1"/>
      <p:bldP spid="1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a:xfrm>
            <a:off x="457200" y="304800"/>
            <a:ext cx="8534400" cy="609600"/>
          </a:xfrm>
        </p:spPr>
        <p:txBody>
          <a:bodyPr>
            <a:normAutofit fontScale="90000"/>
          </a:bodyPr>
          <a:lstStyle/>
          <a:p>
            <a:r>
              <a:rPr lang="en-US" altLang="zh-CN" sz="3600" dirty="0"/>
              <a:t>3.3.7   </a:t>
            </a:r>
            <a:r>
              <a:rPr lang="zh-CN" altLang="en-US" sz="3600" dirty="0"/>
              <a:t>運算器（</a:t>
            </a:r>
            <a:r>
              <a:rPr lang="en-US" altLang="zh-CN" sz="3600" dirty="0"/>
              <a:t>30</a:t>
            </a:r>
            <a:r>
              <a:rPr lang="zh-CN" altLang="en-US" sz="3600" dirty="0"/>
              <a:t>）</a:t>
            </a:r>
            <a:endParaRPr lang="en-US" altLang="zh-CN" sz="3600" dirty="0"/>
          </a:p>
        </p:txBody>
      </p:sp>
      <p:sp>
        <p:nvSpPr>
          <p:cNvPr id="380932" name="Text Box 4"/>
          <p:cNvSpPr txBox="1">
            <a:spLocks noChangeArrowheads="1"/>
          </p:cNvSpPr>
          <p:nvPr/>
        </p:nvSpPr>
        <p:spPr bwMode="auto">
          <a:xfrm>
            <a:off x="914400" y="6172200"/>
            <a:ext cx="74168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等线" panose="02010600030101010101" pitchFamily="2" charset="-122"/>
                <a:ea typeface="等线" panose="02010600030101010101" pitchFamily="2" charset="-122"/>
              </a:rPr>
              <a:t>超前進位擴展器</a:t>
            </a:r>
            <a:r>
              <a:rPr lang="en-US" altLang="zh-CN" b="1" dirty="0">
                <a:latin typeface="等线" panose="02010600030101010101" pitchFamily="2" charset="-122"/>
                <a:ea typeface="等线" panose="02010600030101010101" pitchFamily="2" charset="-122"/>
              </a:rPr>
              <a:t>, </a:t>
            </a:r>
            <a:r>
              <a:rPr lang="zh-CN" altLang="en-US" b="1" dirty="0">
                <a:latin typeface="等线" panose="02010600030101010101" pitchFamily="2" charset="-122"/>
                <a:ea typeface="等线" panose="02010600030101010101" pitchFamily="2" charset="-122"/>
              </a:rPr>
              <a:t>使得</a:t>
            </a:r>
            <a:r>
              <a:rPr lang="en-US" altLang="zh-CN" sz="2000" b="1" dirty="0">
                <a:latin typeface="等线" panose="02010600030101010101" pitchFamily="2" charset="-122"/>
                <a:ea typeface="等线" panose="02010600030101010101" pitchFamily="2" charset="-122"/>
              </a:rPr>
              <a:t>C</a:t>
            </a:r>
            <a:r>
              <a:rPr lang="en-US" altLang="zh-CN" sz="2000" b="1" baseline="-25000" dirty="0">
                <a:latin typeface="等线" panose="02010600030101010101" pitchFamily="2" charset="-122"/>
                <a:ea typeface="等线" panose="02010600030101010101" pitchFamily="2" charset="-122"/>
              </a:rPr>
              <a:t>4</a:t>
            </a:r>
            <a:r>
              <a:rPr lang="en-US" altLang="zh-CN" sz="2000" b="1" dirty="0">
                <a:latin typeface="等线" panose="02010600030101010101" pitchFamily="2" charset="-122"/>
                <a:ea typeface="等线" panose="02010600030101010101" pitchFamily="2" charset="-122"/>
              </a:rPr>
              <a:t>, C</a:t>
            </a:r>
            <a:r>
              <a:rPr lang="en-US" altLang="zh-CN" sz="2000" b="1" baseline="-25000" dirty="0">
                <a:latin typeface="等线" panose="02010600030101010101" pitchFamily="2" charset="-122"/>
                <a:ea typeface="等线" panose="02010600030101010101" pitchFamily="2" charset="-122"/>
              </a:rPr>
              <a:t>8 </a:t>
            </a:r>
            <a:r>
              <a:rPr lang="en-US" altLang="zh-CN" sz="1600" b="1" dirty="0">
                <a:latin typeface="等线" panose="02010600030101010101" pitchFamily="2" charset="-122"/>
                <a:ea typeface="等线" panose="02010600030101010101" pitchFamily="2" charset="-122"/>
              </a:rPr>
              <a:t>,</a:t>
            </a:r>
            <a:r>
              <a:rPr lang="en-US" altLang="zh-CN" sz="1600" dirty="0">
                <a:latin typeface="等线" panose="02010600030101010101" pitchFamily="2" charset="-122"/>
                <a:ea typeface="等线" panose="02010600030101010101" pitchFamily="2" charset="-122"/>
              </a:rPr>
              <a:t> </a:t>
            </a:r>
            <a:r>
              <a:rPr lang="en-US" altLang="zh-CN" sz="2000" b="1" dirty="0">
                <a:latin typeface="等线" panose="02010600030101010101" pitchFamily="2" charset="-122"/>
                <a:ea typeface="等线" panose="02010600030101010101" pitchFamily="2" charset="-122"/>
              </a:rPr>
              <a:t>C</a:t>
            </a:r>
            <a:r>
              <a:rPr lang="en-US" altLang="zh-CN" sz="2000" b="1" baseline="-25000" dirty="0">
                <a:latin typeface="等线" panose="02010600030101010101" pitchFamily="2" charset="-122"/>
                <a:ea typeface="等线" panose="02010600030101010101" pitchFamily="2" charset="-122"/>
              </a:rPr>
              <a:t>12 </a:t>
            </a:r>
            <a:r>
              <a:rPr lang="en-US" altLang="zh-CN" sz="1600" b="1" dirty="0">
                <a:latin typeface="等线" panose="02010600030101010101" pitchFamily="2" charset="-122"/>
                <a:ea typeface="等线" panose="02010600030101010101" pitchFamily="2" charset="-122"/>
              </a:rPr>
              <a:t>,</a:t>
            </a:r>
            <a:r>
              <a:rPr lang="en-US" altLang="zh-CN" sz="1600" dirty="0">
                <a:latin typeface="等线" panose="02010600030101010101" pitchFamily="2" charset="-122"/>
                <a:ea typeface="等线" panose="02010600030101010101" pitchFamily="2" charset="-122"/>
              </a:rPr>
              <a:t> </a:t>
            </a:r>
            <a:r>
              <a:rPr lang="en-US" altLang="zh-CN" sz="2000" b="1" dirty="0">
                <a:latin typeface="等线" panose="02010600030101010101" pitchFamily="2" charset="-122"/>
                <a:ea typeface="等线" panose="02010600030101010101" pitchFamily="2" charset="-122"/>
              </a:rPr>
              <a:t>C</a:t>
            </a:r>
            <a:r>
              <a:rPr lang="en-US" altLang="zh-CN" sz="2000" b="1" baseline="-25000" dirty="0">
                <a:latin typeface="等线" panose="02010600030101010101" pitchFamily="2" charset="-122"/>
                <a:ea typeface="等线" panose="02010600030101010101" pitchFamily="2" charset="-122"/>
              </a:rPr>
              <a:t>16</a:t>
            </a:r>
            <a:r>
              <a:rPr lang="zh-CN" altLang="en-US" b="1" dirty="0">
                <a:latin typeface="等线" panose="02010600030101010101" pitchFamily="2" charset="-122"/>
                <a:ea typeface="等线" panose="02010600030101010101" pitchFamily="2" charset="-122"/>
              </a:rPr>
              <a:t>同時產生</a:t>
            </a:r>
            <a:r>
              <a:rPr lang="en-US" altLang="zh-CN" b="1" dirty="0">
                <a:latin typeface="等线" panose="02010600030101010101" pitchFamily="2" charset="-122"/>
                <a:ea typeface="等线" panose="02010600030101010101" pitchFamily="2" charset="-122"/>
              </a:rPr>
              <a:t>!</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P138</a:t>
            </a:r>
            <a:r>
              <a:rPr lang="zh-CN" altLang="en-US" b="1" dirty="0">
                <a:latin typeface="等线" panose="02010600030101010101" pitchFamily="2" charset="-122"/>
                <a:ea typeface="等线" panose="02010600030101010101" pitchFamily="2" charset="-122"/>
              </a:rPr>
              <a:t>）</a:t>
            </a:r>
            <a:endParaRPr lang="en-US" altLang="zh-CN" b="1" dirty="0">
              <a:latin typeface="等线" panose="02010600030101010101" pitchFamily="2" charset="-122"/>
              <a:ea typeface="等线" panose="02010600030101010101" pitchFamily="2" charset="-122"/>
            </a:endParaRPr>
          </a:p>
        </p:txBody>
      </p:sp>
      <p:graphicFrame>
        <p:nvGraphicFramePr>
          <p:cNvPr id="380933" name="Object 5"/>
          <p:cNvGraphicFramePr>
            <a:graphicFrameLocks noChangeAspect="1"/>
          </p:cNvGraphicFramePr>
          <p:nvPr>
            <p:extLst>
              <p:ext uri="{D42A27DB-BD31-4B8C-83A1-F6EECF244321}">
                <p14:modId xmlns:p14="http://schemas.microsoft.com/office/powerpoint/2010/main" val="2287236309"/>
              </p:ext>
            </p:extLst>
          </p:nvPr>
        </p:nvGraphicFramePr>
        <p:xfrm>
          <a:off x="428596" y="1952618"/>
          <a:ext cx="8466138" cy="476250"/>
        </p:xfrm>
        <a:graphic>
          <a:graphicData uri="http://schemas.openxmlformats.org/presentationml/2006/ole">
            <mc:AlternateContent xmlns:mc="http://schemas.openxmlformats.org/markup-compatibility/2006">
              <mc:Choice xmlns:v="urn:schemas-microsoft-com:vml" Requires="v">
                <p:oleObj name="公式" r:id="rId2" imgW="4038480" imgH="228600" progId="Equation.3">
                  <p:embed/>
                </p:oleObj>
              </mc:Choice>
              <mc:Fallback>
                <p:oleObj name="公式" r:id="rId2" imgW="403848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596" y="1952618"/>
                        <a:ext cx="8466138"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0934" name="Rectangle 6"/>
          <p:cNvSpPr>
            <a:spLocks noGrp="1" noChangeArrowheads="1"/>
          </p:cNvSpPr>
          <p:nvPr>
            <p:ph type="body" idx="1"/>
          </p:nvPr>
        </p:nvSpPr>
        <p:spPr>
          <a:xfrm>
            <a:off x="609600" y="928670"/>
            <a:ext cx="8153400" cy="4876800"/>
          </a:xfrm>
          <a:noFill/>
          <a:ln/>
        </p:spPr>
        <p:txBody>
          <a:bodyPr/>
          <a:lstStyle/>
          <a:p>
            <a:r>
              <a:rPr lang="en-US" altLang="zh-CN" b="1" dirty="0"/>
              <a:t>16</a:t>
            </a:r>
            <a:r>
              <a:rPr lang="zh-CN" altLang="en-US" b="1" dirty="0"/>
              <a:t>位並行進位加法器</a:t>
            </a:r>
            <a:r>
              <a:rPr lang="zh-CN" altLang="en-US" dirty="0"/>
              <a:t>：</a:t>
            </a:r>
          </a:p>
          <a:p>
            <a:pPr lvl="1">
              <a:spcBef>
                <a:spcPct val="0"/>
              </a:spcBef>
            </a:pPr>
            <a:r>
              <a:rPr lang="zh-CN" altLang="en-US" dirty="0"/>
              <a:t>超前進位擴展器</a:t>
            </a:r>
          </a:p>
        </p:txBody>
      </p:sp>
      <p:pic>
        <p:nvPicPr>
          <p:cNvPr id="5" name="图片 4">
            <a:extLst>
              <a:ext uri="{FF2B5EF4-FFF2-40B4-BE49-F238E27FC236}">
                <a16:creationId xmlns:a16="http://schemas.microsoft.com/office/drawing/2014/main" id="{CDF45B73-5D87-4F25-BB10-33654F952957}"/>
              </a:ext>
            </a:extLst>
          </p:cNvPr>
          <p:cNvPicPr>
            <a:picLocks noChangeAspect="1"/>
          </p:cNvPicPr>
          <p:nvPr/>
        </p:nvPicPr>
        <p:blipFill>
          <a:blip r:embed="rId4"/>
          <a:stretch>
            <a:fillRect/>
          </a:stretch>
        </p:blipFill>
        <p:spPr>
          <a:xfrm>
            <a:off x="808802" y="2636912"/>
            <a:ext cx="7705725" cy="3476625"/>
          </a:xfrm>
          <a:prstGeom prst="rect">
            <a:avLst/>
          </a:prstGeom>
        </p:spPr>
      </p:pic>
    </p:spTree>
    <p:extLst>
      <p:ext uri="{BB962C8B-B14F-4D97-AF65-F5344CB8AC3E}">
        <p14:creationId xmlns:p14="http://schemas.microsoft.com/office/powerpoint/2010/main" val="20260606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80933"/>
                                        </p:tgtEl>
                                        <p:attrNameLst>
                                          <p:attrName>style.visibility</p:attrName>
                                        </p:attrNameLst>
                                      </p:cBhvr>
                                      <p:to>
                                        <p:strVal val="visible"/>
                                      </p:to>
                                    </p:set>
                                    <p:anim calcmode="lin" valueType="num">
                                      <p:cBhvr additive="base">
                                        <p:cTn id="7" dur="500" fill="hold"/>
                                        <p:tgtEl>
                                          <p:spTgt spid="380933"/>
                                        </p:tgtEl>
                                        <p:attrNameLst>
                                          <p:attrName>ppt_x</p:attrName>
                                        </p:attrNameLst>
                                      </p:cBhvr>
                                      <p:tavLst>
                                        <p:tav tm="0">
                                          <p:val>
                                            <p:strVal val="#ppt_x"/>
                                          </p:val>
                                        </p:tav>
                                        <p:tav tm="100000">
                                          <p:val>
                                            <p:strVal val="#ppt_x"/>
                                          </p:val>
                                        </p:tav>
                                      </p:tavLst>
                                    </p:anim>
                                    <p:anim calcmode="lin" valueType="num">
                                      <p:cBhvr additive="base">
                                        <p:cTn id="8" dur="500" fill="hold"/>
                                        <p:tgtEl>
                                          <p:spTgt spid="38093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80932"/>
                                        </p:tgtEl>
                                        <p:attrNameLst>
                                          <p:attrName>style.visibility</p:attrName>
                                        </p:attrNameLst>
                                      </p:cBhvr>
                                      <p:to>
                                        <p:strVal val="visible"/>
                                      </p:to>
                                    </p:set>
                                    <p:anim calcmode="lin" valueType="num">
                                      <p:cBhvr additive="base">
                                        <p:cTn id="17" dur="500" fill="hold"/>
                                        <p:tgtEl>
                                          <p:spTgt spid="380932"/>
                                        </p:tgtEl>
                                        <p:attrNameLst>
                                          <p:attrName>ppt_x</p:attrName>
                                        </p:attrNameLst>
                                      </p:cBhvr>
                                      <p:tavLst>
                                        <p:tav tm="0">
                                          <p:val>
                                            <p:strVal val="0-#ppt_w/2"/>
                                          </p:val>
                                        </p:tav>
                                        <p:tav tm="100000">
                                          <p:val>
                                            <p:strVal val="#ppt_x"/>
                                          </p:val>
                                        </p:tav>
                                      </p:tavLst>
                                    </p:anim>
                                    <p:anim calcmode="lin" valueType="num">
                                      <p:cBhvr additive="base">
                                        <p:cTn id="18" dur="500" fill="hold"/>
                                        <p:tgtEl>
                                          <p:spTgt spid="3809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2"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807ED345-2D25-4B94-891D-509EBC95AE90}" type="slidenum">
              <a:rPr lang="en-US" altLang="zh-CN"/>
              <a:pPr/>
              <a:t>38</a:t>
            </a:fld>
            <a:endParaRPr lang="en-US" altLang="zh-CN" dirty="0"/>
          </a:p>
        </p:txBody>
      </p:sp>
      <p:sp>
        <p:nvSpPr>
          <p:cNvPr id="381954" name="Rectangle 2"/>
          <p:cNvSpPr>
            <a:spLocks noGrp="1" noChangeArrowheads="1"/>
          </p:cNvSpPr>
          <p:nvPr>
            <p:ph type="body" idx="1"/>
          </p:nvPr>
        </p:nvSpPr>
        <p:spPr>
          <a:xfrm>
            <a:off x="609600" y="620688"/>
            <a:ext cx="8153400" cy="4648200"/>
          </a:xfrm>
          <a:noFill/>
          <a:ln/>
        </p:spPr>
        <p:txBody>
          <a:bodyPr>
            <a:normAutofit/>
          </a:bodyPr>
          <a:lstStyle/>
          <a:p>
            <a:r>
              <a:rPr lang="en-US" altLang="zh-CN" sz="3200" b="1" dirty="0"/>
              <a:t>16</a:t>
            </a:r>
            <a:r>
              <a:rPr lang="zh-CN" altLang="en-US" sz="3200" b="1" dirty="0"/>
              <a:t>位元並行進位元加法器邏輯結構圖</a:t>
            </a:r>
            <a:r>
              <a:rPr lang="zh-CN" altLang="en-US" sz="3200" dirty="0"/>
              <a:t>：</a:t>
            </a:r>
          </a:p>
          <a:p>
            <a:pPr lvl="1"/>
            <a:r>
              <a:rPr lang="zh-CN" altLang="en-US" sz="2400" b="1" dirty="0"/>
              <a:t>用類似四位並行加法器中</a:t>
            </a:r>
            <a:r>
              <a:rPr lang="en-US" altLang="zh-CN" sz="2400" b="1" dirty="0"/>
              <a:t>C1</a:t>
            </a:r>
            <a:r>
              <a:rPr lang="zh-CN" altLang="en-US" sz="2400" b="1" dirty="0"/>
              <a:t>、</a:t>
            </a:r>
            <a:r>
              <a:rPr lang="en-US" altLang="zh-CN" sz="2400" b="1" dirty="0"/>
              <a:t>C2</a:t>
            </a:r>
            <a:r>
              <a:rPr lang="zh-CN" altLang="en-US" sz="2400" b="1" dirty="0"/>
              <a:t>、</a:t>
            </a:r>
            <a:r>
              <a:rPr lang="en-US" altLang="zh-CN" sz="2400" b="1" dirty="0"/>
              <a:t>C3</a:t>
            </a:r>
            <a:r>
              <a:rPr lang="zh-CN" altLang="en-US" sz="2400" b="1" dirty="0"/>
              <a:t>、</a:t>
            </a:r>
            <a:r>
              <a:rPr lang="en-US" altLang="zh-CN" sz="2400" b="1" dirty="0"/>
              <a:t>C4</a:t>
            </a:r>
            <a:r>
              <a:rPr lang="zh-CN" altLang="en-US" sz="2400" b="1" dirty="0"/>
              <a:t>形成的原理，去形成片間快速進位</a:t>
            </a:r>
            <a:r>
              <a:rPr lang="en-US" altLang="zh-CN" sz="2400" b="1" dirty="0"/>
              <a:t>C4</a:t>
            </a:r>
            <a:r>
              <a:rPr lang="zh-CN" altLang="en-US" sz="2400" b="1" dirty="0"/>
              <a:t>、</a:t>
            </a:r>
            <a:r>
              <a:rPr lang="en-US" altLang="zh-CN" sz="2400" b="1" dirty="0"/>
              <a:t>C8</a:t>
            </a:r>
            <a:r>
              <a:rPr lang="zh-CN" altLang="en-US" sz="2400" b="1" dirty="0"/>
              <a:t>、</a:t>
            </a:r>
            <a:r>
              <a:rPr lang="en-US" altLang="zh-CN" sz="2400" b="1" dirty="0"/>
              <a:t>C12</a:t>
            </a:r>
            <a:r>
              <a:rPr lang="zh-CN" altLang="en-US" sz="2400" b="1" dirty="0"/>
              <a:t>、</a:t>
            </a:r>
            <a:r>
              <a:rPr lang="en-US" altLang="zh-CN" sz="2400" b="1" dirty="0"/>
              <a:t>C16 </a:t>
            </a:r>
            <a:endParaRPr lang="zh-CN" altLang="en-US" sz="2400" b="1" dirty="0"/>
          </a:p>
          <a:p>
            <a:pPr>
              <a:spcBef>
                <a:spcPct val="30000"/>
              </a:spcBef>
              <a:buClrTx/>
              <a:buFontTx/>
              <a:buNone/>
            </a:pPr>
            <a:endParaRPr lang="en-US" altLang="zh-CN" sz="2000" b="1" dirty="0"/>
          </a:p>
        </p:txBody>
      </p:sp>
      <p:sp>
        <p:nvSpPr>
          <p:cNvPr id="381955" name="Rectangle 3"/>
          <p:cNvSpPr>
            <a:spLocks noGrp="1" noChangeArrowheads="1"/>
          </p:cNvSpPr>
          <p:nvPr>
            <p:ph type="title"/>
          </p:nvPr>
        </p:nvSpPr>
        <p:spPr>
          <a:xfrm>
            <a:off x="457200" y="44624"/>
            <a:ext cx="8534400" cy="609600"/>
          </a:xfrm>
        </p:spPr>
        <p:txBody>
          <a:bodyPr>
            <a:normAutofit fontScale="90000"/>
          </a:bodyPr>
          <a:lstStyle/>
          <a:p>
            <a:r>
              <a:rPr lang="en-US" altLang="zh-CN" sz="3600" dirty="0"/>
              <a:t>3.3.7   </a:t>
            </a:r>
            <a:r>
              <a:rPr lang="zh-CN" altLang="en-US" sz="3600" dirty="0"/>
              <a:t>運算器（</a:t>
            </a:r>
            <a:r>
              <a:rPr lang="en-US" altLang="zh-CN" sz="3600" dirty="0"/>
              <a:t>31</a:t>
            </a:r>
            <a:r>
              <a:rPr lang="zh-CN" altLang="en-US" sz="3600" dirty="0"/>
              <a:t>）</a:t>
            </a:r>
            <a:endParaRPr lang="en-US" altLang="zh-CN" sz="3600" dirty="0"/>
          </a:p>
        </p:txBody>
      </p:sp>
      <p:graphicFrame>
        <p:nvGraphicFramePr>
          <p:cNvPr id="381956" name="Object 4"/>
          <p:cNvGraphicFramePr>
            <a:graphicFrameLocks noChangeAspect="1"/>
          </p:cNvGraphicFramePr>
          <p:nvPr>
            <p:extLst>
              <p:ext uri="{D42A27DB-BD31-4B8C-83A1-F6EECF244321}">
                <p14:modId xmlns:p14="http://schemas.microsoft.com/office/powerpoint/2010/main" val="4061344296"/>
              </p:ext>
            </p:extLst>
          </p:nvPr>
        </p:nvGraphicFramePr>
        <p:xfrm>
          <a:off x="990600" y="2266925"/>
          <a:ext cx="7632700" cy="2962275"/>
        </p:xfrm>
        <a:graphic>
          <a:graphicData uri="http://schemas.openxmlformats.org/presentationml/2006/ole">
            <mc:AlternateContent xmlns:mc="http://schemas.openxmlformats.org/markup-compatibility/2006">
              <mc:Choice xmlns:v="urn:schemas-microsoft-com:vml" Requires="v">
                <p:oleObj name="Image" r:id="rId2" imgW="12793469" imgH="5348571" progId="">
                  <p:embed/>
                </p:oleObj>
              </mc:Choice>
              <mc:Fallback>
                <p:oleObj name="Image" r:id="rId2" imgW="12793469" imgH="5348571"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66925"/>
                        <a:ext cx="763270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1957" name="Rectangle 5"/>
          <p:cNvSpPr>
            <a:spLocks noChangeArrowheads="1"/>
          </p:cNvSpPr>
          <p:nvPr/>
        </p:nvSpPr>
        <p:spPr bwMode="auto">
          <a:xfrm>
            <a:off x="381000" y="5429264"/>
            <a:ext cx="8534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b="1" dirty="0">
                <a:latin typeface="等线" panose="02010600030101010101" pitchFamily="2" charset="-122"/>
                <a:ea typeface="等线" panose="02010600030101010101" pitchFamily="2" charset="-122"/>
              </a:rPr>
              <a:t>四位並行加法器的輸出提供</a:t>
            </a:r>
            <a:r>
              <a:rPr lang="en-US" altLang="zh-CN" sz="2400" b="1" dirty="0">
                <a:latin typeface="等线" panose="02010600030101010101" pitchFamily="2" charset="-122"/>
                <a:ea typeface="等线" panose="02010600030101010101" pitchFamily="2" charset="-122"/>
              </a:rPr>
              <a:t>P</a:t>
            </a:r>
            <a:r>
              <a:rPr lang="en-US" altLang="zh-CN" sz="2400" b="1" baseline="-25000" dirty="0">
                <a:latin typeface="等线" panose="02010600030101010101" pitchFamily="2" charset="-122"/>
                <a:ea typeface="等线" panose="02010600030101010101" pitchFamily="2" charset="-122"/>
              </a:rPr>
              <a:t>m</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G</a:t>
            </a:r>
            <a:r>
              <a:rPr lang="en-US" altLang="zh-CN" sz="2400" b="1" baseline="-25000" dirty="0">
                <a:latin typeface="等线" panose="02010600030101010101" pitchFamily="2" charset="-122"/>
                <a:ea typeface="等线" panose="02010600030101010101" pitchFamily="2" charset="-122"/>
              </a:rPr>
              <a:t>m</a:t>
            </a:r>
            <a:r>
              <a:rPr lang="en-US" altLang="zh-CN" sz="2400" b="1" dirty="0">
                <a:latin typeface="等线" panose="02010600030101010101" pitchFamily="2" charset="-122"/>
                <a:ea typeface="等线" panose="02010600030101010101" pitchFamily="2" charset="-122"/>
              </a:rPr>
              <a:t> </a:t>
            </a:r>
            <a:r>
              <a:rPr lang="zh-CN" altLang="en-US" sz="2400" b="1" dirty="0">
                <a:latin typeface="等线" panose="02010600030101010101" pitchFamily="2" charset="-122"/>
                <a:ea typeface="等线" panose="02010600030101010101" pitchFamily="2" charset="-122"/>
              </a:rPr>
              <a:t>需</a:t>
            </a:r>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級延遲，</a:t>
            </a:r>
            <a:r>
              <a:rPr lang="en-US" altLang="zh-CN" sz="2400" b="1" dirty="0">
                <a:latin typeface="等线" panose="02010600030101010101" pitchFamily="2" charset="-122"/>
                <a:ea typeface="等线" panose="02010600030101010101" pitchFamily="2" charset="-122"/>
              </a:rPr>
              <a:t>F</a:t>
            </a:r>
            <a:r>
              <a:rPr lang="zh-CN" altLang="en-US" sz="2400" b="1" dirty="0">
                <a:latin typeface="等线" panose="02010600030101010101" pitchFamily="2" charset="-122"/>
                <a:ea typeface="等线" panose="02010600030101010101" pitchFamily="2" charset="-122"/>
              </a:rPr>
              <a:t>需</a:t>
            </a:r>
            <a:r>
              <a:rPr lang="en-US" altLang="zh-CN" sz="2400"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級延遲。</a:t>
            </a:r>
          </a:p>
          <a:p>
            <a:r>
              <a:rPr lang="zh-CN" altLang="en-US" sz="2400" b="1" dirty="0">
                <a:latin typeface="等线" panose="02010600030101010101" pitchFamily="2" charset="-122"/>
                <a:ea typeface="等线" panose="02010600030101010101" pitchFamily="2" charset="-122"/>
              </a:rPr>
              <a:t>則產生</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4</a:t>
            </a:r>
            <a:r>
              <a:rPr lang="en-US" altLang="zh-CN" sz="2400" b="1" dirty="0">
                <a:latin typeface="等线" panose="02010600030101010101" pitchFamily="2" charset="-122"/>
                <a:ea typeface="等线" panose="02010600030101010101" pitchFamily="2" charset="-122"/>
              </a:rPr>
              <a:t>, C</a:t>
            </a:r>
            <a:r>
              <a:rPr lang="en-US" altLang="zh-CN" sz="2400" b="1" baseline="-25000" dirty="0">
                <a:latin typeface="等线" panose="02010600030101010101" pitchFamily="2" charset="-122"/>
                <a:ea typeface="等线" panose="02010600030101010101" pitchFamily="2" charset="-122"/>
              </a:rPr>
              <a:t>8 </a:t>
            </a:r>
            <a:r>
              <a:rPr lang="en-US" altLang="zh-CN" sz="1800" b="1" dirty="0">
                <a:latin typeface="等线" panose="02010600030101010101" pitchFamily="2" charset="-122"/>
                <a:ea typeface="等线" panose="02010600030101010101" pitchFamily="2" charset="-122"/>
              </a:rPr>
              <a:t>,</a:t>
            </a:r>
            <a:r>
              <a:rPr lang="en-US" altLang="zh-CN" sz="18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12 </a:t>
            </a:r>
            <a:r>
              <a:rPr lang="en-US" altLang="zh-CN" sz="1800" b="1" dirty="0">
                <a:latin typeface="等线" panose="02010600030101010101" pitchFamily="2" charset="-122"/>
                <a:ea typeface="等线" panose="02010600030101010101" pitchFamily="2" charset="-122"/>
              </a:rPr>
              <a:t>,</a:t>
            </a:r>
            <a:r>
              <a:rPr lang="en-US" altLang="zh-CN" sz="18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16</a:t>
            </a:r>
            <a:r>
              <a:rPr lang="zh-CN" altLang="en-US" sz="2400" b="1" dirty="0">
                <a:latin typeface="等线" panose="02010600030101010101" pitchFamily="2" charset="-122"/>
                <a:ea typeface="等线" panose="02010600030101010101" pitchFamily="2" charset="-122"/>
              </a:rPr>
              <a:t>的延遲各是幾級</a:t>
            </a:r>
            <a:r>
              <a:rPr lang="en-US" altLang="zh-CN" sz="2400" b="1" dirty="0">
                <a:latin typeface="等线" panose="02010600030101010101" pitchFamily="2" charset="-122"/>
                <a:ea typeface="等线" panose="02010600030101010101" pitchFamily="2" charset="-122"/>
              </a:rPr>
              <a:t>?  F</a:t>
            </a:r>
            <a:r>
              <a:rPr lang="en-US" altLang="zh-CN" sz="2400" b="1" baseline="-25000" dirty="0">
                <a:latin typeface="等线" panose="02010600030101010101" pitchFamily="2" charset="-122"/>
                <a:ea typeface="等线" panose="02010600030101010101" pitchFamily="2" charset="-122"/>
              </a:rPr>
              <a:t>i</a:t>
            </a:r>
            <a:r>
              <a:rPr lang="zh-CN" altLang="en-US" sz="2400" b="1" dirty="0">
                <a:latin typeface="等线" panose="02010600030101010101" pitchFamily="2" charset="-122"/>
                <a:ea typeface="等线" panose="02010600030101010101" pitchFamily="2" charset="-122"/>
              </a:rPr>
              <a:t>要幾級</a:t>
            </a:r>
            <a:r>
              <a:rPr lang="en-US" altLang="zh-CN" sz="2400" b="1" dirty="0">
                <a:latin typeface="等线" panose="02010600030101010101" pitchFamily="2" charset="-122"/>
                <a:ea typeface="等线" panose="02010600030101010101" pitchFamily="2" charset="-122"/>
              </a:rPr>
              <a:t>?</a:t>
            </a:r>
          </a:p>
        </p:txBody>
      </p:sp>
    </p:spTree>
    <p:extLst>
      <p:ext uri="{BB962C8B-B14F-4D97-AF65-F5344CB8AC3E}">
        <p14:creationId xmlns:p14="http://schemas.microsoft.com/office/powerpoint/2010/main" val="17013949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19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19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7"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fld id="{76B2D17C-16FE-4BDE-BD11-F1BC8A414ACB}" type="slidenum">
              <a:rPr lang="en-US" altLang="zh-CN"/>
              <a:pPr/>
              <a:t>39</a:t>
            </a:fld>
            <a:endParaRPr lang="en-US" altLang="zh-CN" dirty="0"/>
          </a:p>
        </p:txBody>
      </p:sp>
      <p:sp>
        <p:nvSpPr>
          <p:cNvPr id="382978" name="Rectangle 2"/>
          <p:cNvSpPr>
            <a:spLocks noGrp="1" noChangeArrowheads="1"/>
          </p:cNvSpPr>
          <p:nvPr>
            <p:ph type="title"/>
          </p:nvPr>
        </p:nvSpPr>
        <p:spPr>
          <a:xfrm>
            <a:off x="914400" y="116632"/>
            <a:ext cx="7772400" cy="1143000"/>
          </a:xfrm>
        </p:spPr>
        <p:txBody>
          <a:bodyPr/>
          <a:lstStyle/>
          <a:p>
            <a:r>
              <a:rPr lang="en-US" altLang="zh-CN" sz="3600" dirty="0"/>
              <a:t>3.3.7   </a:t>
            </a:r>
            <a:r>
              <a:rPr lang="zh-CN" altLang="en-US" sz="3600" dirty="0"/>
              <a:t>運算器</a:t>
            </a:r>
            <a:endParaRPr lang="en-US" altLang="zh-CN" sz="3600" dirty="0"/>
          </a:p>
        </p:txBody>
      </p:sp>
      <p:sp>
        <p:nvSpPr>
          <p:cNvPr id="382979" name="Rectangle 3"/>
          <p:cNvSpPr>
            <a:spLocks noGrp="1" noChangeArrowheads="1"/>
          </p:cNvSpPr>
          <p:nvPr>
            <p:ph type="body" idx="1"/>
          </p:nvPr>
        </p:nvSpPr>
        <p:spPr>
          <a:xfrm>
            <a:off x="457200" y="1214423"/>
            <a:ext cx="8229600" cy="785818"/>
          </a:xfrm>
        </p:spPr>
        <p:txBody>
          <a:bodyPr/>
          <a:lstStyle/>
          <a:p>
            <a:r>
              <a:rPr lang="en-US" altLang="zh-CN" b="1" dirty="0"/>
              <a:t>16</a:t>
            </a:r>
            <a:r>
              <a:rPr lang="zh-CN" altLang="en-US" b="1" dirty="0"/>
              <a:t>位快速加法器的結構圖</a:t>
            </a:r>
          </a:p>
        </p:txBody>
      </p:sp>
      <p:graphicFrame>
        <p:nvGraphicFramePr>
          <p:cNvPr id="382980" name="Object 4"/>
          <p:cNvGraphicFramePr>
            <a:graphicFrameLocks noChangeAspect="1"/>
          </p:cNvGraphicFramePr>
          <p:nvPr/>
        </p:nvGraphicFramePr>
        <p:xfrm>
          <a:off x="990600" y="1914532"/>
          <a:ext cx="7632700" cy="2514600"/>
        </p:xfrm>
        <a:graphic>
          <a:graphicData uri="http://schemas.openxmlformats.org/presentationml/2006/ole">
            <mc:AlternateContent xmlns:mc="http://schemas.openxmlformats.org/markup-compatibility/2006">
              <mc:Choice xmlns:v="urn:schemas-microsoft-com:vml" Requires="v">
                <p:oleObj name="Image" r:id="rId2" imgW="12793469" imgH="5348571" progId="">
                  <p:embed/>
                </p:oleObj>
              </mc:Choice>
              <mc:Fallback>
                <p:oleObj name="Image" r:id="rId2" imgW="12793469" imgH="5348571"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914532"/>
                        <a:ext cx="76327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2981" name="Rectangle 5"/>
          <p:cNvSpPr>
            <a:spLocks noChangeArrowheads="1"/>
          </p:cNvSpPr>
          <p:nvPr/>
        </p:nvSpPr>
        <p:spPr bwMode="auto">
          <a:xfrm>
            <a:off x="520700" y="4289028"/>
            <a:ext cx="85471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b="1" dirty="0">
                <a:latin typeface="等线" panose="02010600030101010101" pitchFamily="2" charset="-122"/>
                <a:ea typeface="等线" panose="02010600030101010101" pitchFamily="2" charset="-122"/>
              </a:rPr>
              <a:t>四位並行加法器的輸出提供</a:t>
            </a:r>
            <a:r>
              <a:rPr lang="en-US" altLang="zh-CN" sz="2400" b="1" dirty="0">
                <a:latin typeface="等线" panose="02010600030101010101" pitchFamily="2" charset="-122"/>
                <a:ea typeface="等线" panose="02010600030101010101" pitchFamily="2" charset="-122"/>
              </a:rPr>
              <a:t>P</a:t>
            </a:r>
            <a:r>
              <a:rPr lang="en-US" altLang="zh-CN" sz="2400" b="1" baseline="-25000" dirty="0">
                <a:latin typeface="等线" panose="02010600030101010101" pitchFamily="2" charset="-122"/>
                <a:ea typeface="等线" panose="02010600030101010101" pitchFamily="2" charset="-122"/>
              </a:rPr>
              <a:t>m</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G</a:t>
            </a:r>
            <a:r>
              <a:rPr lang="en-US" altLang="zh-CN" sz="2400" b="1" baseline="-25000" dirty="0">
                <a:latin typeface="等线" panose="02010600030101010101" pitchFamily="2" charset="-122"/>
                <a:ea typeface="等线" panose="02010600030101010101" pitchFamily="2" charset="-122"/>
              </a:rPr>
              <a:t>m</a:t>
            </a:r>
            <a:r>
              <a:rPr lang="en-US" altLang="zh-CN" sz="2400" b="1" dirty="0">
                <a:latin typeface="等线" panose="02010600030101010101" pitchFamily="2" charset="-122"/>
                <a:ea typeface="等线" panose="02010600030101010101" pitchFamily="2" charset="-122"/>
              </a:rPr>
              <a:t> </a:t>
            </a:r>
            <a:r>
              <a:rPr lang="zh-CN" altLang="en-US" sz="2400" b="1" dirty="0">
                <a:latin typeface="等线" panose="02010600030101010101" pitchFamily="2" charset="-122"/>
                <a:ea typeface="等线" panose="02010600030101010101" pitchFamily="2" charset="-122"/>
              </a:rPr>
              <a:t>需</a:t>
            </a:r>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級延遲。產生</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4</a:t>
            </a:r>
            <a:r>
              <a:rPr lang="en-US" altLang="zh-CN" sz="2400" b="1" dirty="0">
                <a:latin typeface="等线" panose="02010600030101010101" pitchFamily="2" charset="-122"/>
                <a:ea typeface="等线" panose="02010600030101010101" pitchFamily="2" charset="-122"/>
              </a:rPr>
              <a:t>, C</a:t>
            </a:r>
            <a:r>
              <a:rPr lang="en-US" altLang="zh-CN" sz="2400" b="1" baseline="-25000" dirty="0">
                <a:latin typeface="等线" panose="02010600030101010101" pitchFamily="2" charset="-122"/>
                <a:ea typeface="等线" panose="02010600030101010101" pitchFamily="2" charset="-122"/>
              </a:rPr>
              <a:t>8 </a:t>
            </a:r>
            <a:r>
              <a:rPr lang="en-US" altLang="zh-CN" sz="1800" b="1" dirty="0">
                <a:latin typeface="等线" panose="02010600030101010101" pitchFamily="2" charset="-122"/>
                <a:ea typeface="等线" panose="02010600030101010101" pitchFamily="2" charset="-122"/>
              </a:rPr>
              <a:t>,</a:t>
            </a:r>
            <a:r>
              <a:rPr lang="en-US" altLang="zh-CN" sz="18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12 </a:t>
            </a:r>
            <a:r>
              <a:rPr lang="en-US" altLang="zh-CN" sz="1800" b="1" dirty="0">
                <a:latin typeface="等线" panose="02010600030101010101" pitchFamily="2" charset="-122"/>
                <a:ea typeface="等线" panose="02010600030101010101" pitchFamily="2" charset="-122"/>
              </a:rPr>
              <a:t>,</a:t>
            </a:r>
            <a:r>
              <a:rPr lang="en-US" altLang="zh-CN" sz="1800" dirty="0">
                <a:latin typeface="等线" panose="02010600030101010101" pitchFamily="2" charset="-122"/>
                <a:ea typeface="等线" panose="02010600030101010101" pitchFamily="2" charset="-122"/>
              </a:rPr>
              <a:t> </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16</a:t>
            </a:r>
            <a:r>
              <a:rPr lang="zh-CN" altLang="en-US" sz="2400" b="1" dirty="0">
                <a:latin typeface="等线" panose="02010600030101010101" pitchFamily="2" charset="-122"/>
                <a:ea typeface="等线" panose="02010600030101010101" pitchFamily="2" charset="-122"/>
              </a:rPr>
              <a:t>的延遲</a:t>
            </a:r>
            <a:r>
              <a:rPr lang="en-US" altLang="zh-CN" sz="2400"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級，  </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1 </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4</a:t>
            </a:r>
            <a:r>
              <a:rPr lang="zh-CN" altLang="en-US" sz="2400" b="1" dirty="0">
                <a:latin typeface="等线" panose="02010600030101010101" pitchFamily="2" charset="-122"/>
                <a:ea typeface="等线" panose="02010600030101010101" pitchFamily="2" charset="-122"/>
              </a:rPr>
              <a:t>要</a:t>
            </a:r>
            <a:r>
              <a:rPr lang="en-US" altLang="zh-CN" sz="2400"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級， </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5 </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16</a:t>
            </a:r>
            <a:r>
              <a:rPr lang="zh-CN" altLang="en-US" sz="2400" b="1" dirty="0">
                <a:latin typeface="等线" panose="02010600030101010101" pitchFamily="2" charset="-122"/>
                <a:ea typeface="等线" panose="02010600030101010101" pitchFamily="2" charset="-122"/>
              </a:rPr>
              <a:t>要</a:t>
            </a:r>
            <a:r>
              <a:rPr lang="en-US" altLang="zh-CN" sz="2400" b="1" dirty="0">
                <a:latin typeface="等线" panose="02010600030101010101" pitchFamily="2" charset="-122"/>
                <a:ea typeface="等线" panose="02010600030101010101" pitchFamily="2" charset="-122"/>
              </a:rPr>
              <a:t>6</a:t>
            </a:r>
            <a:r>
              <a:rPr lang="zh-CN" altLang="en-US" sz="2400" b="1" dirty="0">
                <a:latin typeface="等线" panose="02010600030101010101" pitchFamily="2" charset="-122"/>
                <a:ea typeface="等线" panose="02010600030101010101" pitchFamily="2" charset="-122"/>
              </a:rPr>
              <a:t>級。</a:t>
            </a:r>
          </a:p>
          <a:p>
            <a:endParaRPr lang="zh-CN" altLang="en-US" sz="2400" b="1" dirty="0">
              <a:latin typeface="等线" panose="02010600030101010101" pitchFamily="2" charset="-122"/>
              <a:ea typeface="等线" panose="02010600030101010101" pitchFamily="2" charset="-122"/>
            </a:endParaRPr>
          </a:p>
          <a:p>
            <a:r>
              <a:rPr lang="zh-CN" altLang="en-US" sz="2400" b="1" dirty="0">
                <a:latin typeface="等线" panose="02010600030101010101" pitchFamily="2" charset="-122"/>
                <a:ea typeface="等线" panose="02010600030101010101" pitchFamily="2" charset="-122"/>
              </a:rPr>
              <a:t>請大家課後比較：由</a:t>
            </a:r>
            <a:r>
              <a:rPr lang="en-US" altLang="zh-CN" sz="2400" b="1"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位全加器構成</a:t>
            </a:r>
            <a:r>
              <a:rPr lang="en-US" altLang="zh-CN" sz="2400" b="1" dirty="0">
                <a:latin typeface="等线" panose="02010600030101010101" pitchFamily="2" charset="-122"/>
                <a:ea typeface="等线" panose="02010600030101010101" pitchFamily="2" charset="-122"/>
              </a:rPr>
              <a:t>16</a:t>
            </a:r>
            <a:r>
              <a:rPr lang="zh-CN" altLang="en-US" sz="2400" b="1" dirty="0">
                <a:latin typeface="等线" panose="02010600030101010101" pitchFamily="2" charset="-122"/>
                <a:ea typeface="等线" panose="02010600030101010101" pitchFamily="2" charset="-122"/>
              </a:rPr>
              <a:t>位元串列加法器</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4</a:t>
            </a:r>
            <a:r>
              <a:rPr lang="zh-CN" altLang="en-US" b="1" dirty="0">
                <a:latin typeface="等线" panose="02010600030101010101" pitchFamily="2" charset="-122"/>
                <a:ea typeface="等线" panose="02010600030101010101" pitchFamily="2" charset="-122"/>
              </a:rPr>
              <a:t>位並行加法器構成</a:t>
            </a:r>
            <a:r>
              <a:rPr lang="en-US" altLang="zh-CN" sz="2400" b="1" dirty="0">
                <a:latin typeface="等线" panose="02010600030101010101" pitchFamily="2" charset="-122"/>
                <a:ea typeface="等线" panose="02010600030101010101" pitchFamily="2" charset="-122"/>
              </a:rPr>
              <a:t>16</a:t>
            </a:r>
            <a:r>
              <a:rPr lang="zh-CN" altLang="en-US" sz="2400" b="1" dirty="0">
                <a:latin typeface="等线" panose="02010600030101010101" pitchFamily="2" charset="-122"/>
                <a:ea typeface="等线" panose="02010600030101010101" pitchFamily="2" charset="-122"/>
              </a:rPr>
              <a:t>位元串列加法器、</a:t>
            </a:r>
            <a:r>
              <a:rPr lang="en-US" altLang="zh-CN" sz="2400" b="1" dirty="0">
                <a:latin typeface="等线" panose="02010600030101010101" pitchFamily="2" charset="-122"/>
                <a:ea typeface="等线" panose="02010600030101010101" pitchFamily="2" charset="-122"/>
              </a:rPr>
              <a:t>16</a:t>
            </a:r>
            <a:r>
              <a:rPr lang="zh-CN" altLang="en-US" sz="2400" b="1" dirty="0">
                <a:latin typeface="等线" panose="02010600030101010101" pitchFamily="2" charset="-122"/>
                <a:ea typeface="等线" panose="02010600030101010101" pitchFamily="2" charset="-122"/>
              </a:rPr>
              <a:t>位元並行加法器計算結果所需要的級數。</a:t>
            </a:r>
          </a:p>
        </p:txBody>
      </p:sp>
    </p:spTree>
    <p:extLst>
      <p:ext uri="{BB962C8B-B14F-4D97-AF65-F5344CB8AC3E}">
        <p14:creationId xmlns:p14="http://schemas.microsoft.com/office/powerpoint/2010/main" val="4157121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29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829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1"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A88864E7-BD76-4DEA-96E6-0F8735F84EF5}" type="slidenum">
              <a:rPr lang="en-US" altLang="zh-CN"/>
              <a:pPr/>
              <a:t>40</a:t>
            </a:fld>
            <a:endParaRPr lang="en-US" altLang="zh-CN" dirty="0"/>
          </a:p>
        </p:txBody>
      </p:sp>
      <p:sp>
        <p:nvSpPr>
          <p:cNvPr id="384002" name="Rectangle 2"/>
          <p:cNvSpPr>
            <a:spLocks noGrp="1" noChangeArrowheads="1"/>
          </p:cNvSpPr>
          <p:nvPr>
            <p:ph type="body" idx="1"/>
          </p:nvPr>
        </p:nvSpPr>
        <p:spPr>
          <a:xfrm>
            <a:off x="533400" y="1066800"/>
            <a:ext cx="8534400" cy="4876800"/>
          </a:xfrm>
          <a:noFill/>
          <a:ln/>
        </p:spPr>
        <p:txBody>
          <a:bodyPr/>
          <a:lstStyle/>
          <a:p>
            <a:r>
              <a:rPr lang="zh-CN" altLang="en-US" b="1" dirty="0"/>
              <a:t>和</a:t>
            </a:r>
            <a:r>
              <a:rPr lang="en-US" altLang="zh-CN" b="1" dirty="0"/>
              <a:t>4</a:t>
            </a:r>
            <a:r>
              <a:rPr lang="zh-CN" altLang="en-US" b="1" dirty="0"/>
              <a:t>位加法器（或</a:t>
            </a:r>
            <a:r>
              <a:rPr lang="en-US" altLang="zh-CN" b="1" dirty="0"/>
              <a:t>4</a:t>
            </a:r>
            <a:r>
              <a:rPr lang="zh-CN" altLang="en-US" b="1" dirty="0"/>
              <a:t>位</a:t>
            </a:r>
            <a:r>
              <a:rPr lang="en-US" altLang="zh-CN" b="1" dirty="0"/>
              <a:t>ALU</a:t>
            </a:r>
            <a:r>
              <a:rPr lang="zh-CN" altLang="en-US" b="1" dirty="0"/>
              <a:t>）連用的超前進位擴展器專用器件</a:t>
            </a:r>
            <a:r>
              <a:rPr lang="en-US" altLang="zh-CN" b="1" dirty="0"/>
              <a:t>(SN74182)</a:t>
            </a:r>
            <a:r>
              <a:rPr lang="zh-CN" altLang="en-US" b="1" dirty="0"/>
              <a:t>（</a:t>
            </a:r>
            <a:r>
              <a:rPr lang="en-US" altLang="zh-CN" b="1" dirty="0"/>
              <a:t>P146</a:t>
            </a:r>
            <a:r>
              <a:rPr lang="zh-CN" altLang="en-US" b="1" dirty="0"/>
              <a:t>）</a:t>
            </a:r>
            <a:endParaRPr lang="en-US" altLang="zh-CN" b="1" dirty="0"/>
          </a:p>
        </p:txBody>
      </p:sp>
      <p:sp>
        <p:nvSpPr>
          <p:cNvPr id="384003" name="Rectangle 3"/>
          <p:cNvSpPr>
            <a:spLocks noGrp="1" noChangeArrowheads="1"/>
          </p:cNvSpPr>
          <p:nvPr>
            <p:ph type="title"/>
          </p:nvPr>
        </p:nvSpPr>
        <p:spPr>
          <a:xfrm>
            <a:off x="381000" y="304800"/>
            <a:ext cx="8610600" cy="609600"/>
          </a:xfrm>
        </p:spPr>
        <p:txBody>
          <a:bodyPr>
            <a:normAutofit fontScale="90000"/>
          </a:bodyPr>
          <a:lstStyle/>
          <a:p>
            <a:r>
              <a:rPr lang="en-US" altLang="zh-CN" sz="3600" dirty="0"/>
              <a:t>3.3.7   </a:t>
            </a:r>
            <a:r>
              <a:rPr lang="zh-CN" altLang="en-US" sz="3600" dirty="0"/>
              <a:t>運算器（</a:t>
            </a:r>
            <a:r>
              <a:rPr lang="en-US" altLang="zh-CN" sz="3600" dirty="0"/>
              <a:t>32</a:t>
            </a:r>
            <a:r>
              <a:rPr lang="zh-CN" altLang="en-US" sz="3600" dirty="0"/>
              <a:t>）</a:t>
            </a:r>
            <a:endParaRPr lang="en-US" altLang="zh-CN" sz="3600" dirty="0"/>
          </a:p>
        </p:txBody>
      </p:sp>
      <p:graphicFrame>
        <p:nvGraphicFramePr>
          <p:cNvPr id="384004" name="Object 4"/>
          <p:cNvGraphicFramePr>
            <a:graphicFrameLocks noChangeAspect="1"/>
          </p:cNvGraphicFramePr>
          <p:nvPr/>
        </p:nvGraphicFramePr>
        <p:xfrm>
          <a:off x="990600" y="2209800"/>
          <a:ext cx="7777163" cy="3624263"/>
        </p:xfrm>
        <a:graphic>
          <a:graphicData uri="http://schemas.openxmlformats.org/presentationml/2006/ole">
            <mc:AlternateContent xmlns:mc="http://schemas.openxmlformats.org/markup-compatibility/2006">
              <mc:Choice xmlns:v="urn:schemas-microsoft-com:vml" Requires="v">
                <p:oleObj name="Image" r:id="rId2" imgW="13361633" imgH="6230204" progId="">
                  <p:embed/>
                </p:oleObj>
              </mc:Choice>
              <mc:Fallback>
                <p:oleObj name="Image" r:id="rId2" imgW="13361633" imgH="6230204"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209800"/>
                        <a:ext cx="7777163" cy="362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707139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84004"/>
                                        </p:tgtEl>
                                        <p:attrNameLst>
                                          <p:attrName>style.visibility</p:attrName>
                                        </p:attrNameLst>
                                      </p:cBhvr>
                                      <p:to>
                                        <p:strVal val="visible"/>
                                      </p:to>
                                    </p:set>
                                    <p:animEffect transition="in" filter="dissolve">
                                      <p:cBhvr>
                                        <p:cTn id="7" dur="500"/>
                                        <p:tgtEl>
                                          <p:spTgt spid="384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2785921D-141D-49BC-BCC3-F0CF584D8A72}" type="slidenum">
              <a:rPr lang="en-US" altLang="zh-CN"/>
              <a:pPr/>
              <a:t>41</a:t>
            </a:fld>
            <a:endParaRPr lang="en-US" altLang="zh-CN" dirty="0"/>
          </a:p>
        </p:txBody>
      </p:sp>
      <p:sp>
        <p:nvSpPr>
          <p:cNvPr id="385026" name="Rectangle 2"/>
          <p:cNvSpPr>
            <a:spLocks noGrp="1" noChangeArrowheads="1"/>
          </p:cNvSpPr>
          <p:nvPr>
            <p:ph type="title"/>
          </p:nvPr>
        </p:nvSpPr>
        <p:spPr>
          <a:xfrm>
            <a:off x="457200" y="304800"/>
            <a:ext cx="8534400" cy="609600"/>
          </a:xfrm>
        </p:spPr>
        <p:txBody>
          <a:bodyPr>
            <a:normAutofit fontScale="90000"/>
          </a:bodyPr>
          <a:lstStyle/>
          <a:p>
            <a:r>
              <a:rPr lang="en-US" altLang="zh-CN" sz="3600" dirty="0"/>
              <a:t>3.3.7   </a:t>
            </a:r>
            <a:r>
              <a:rPr lang="zh-CN" altLang="en-US" sz="3600" dirty="0"/>
              <a:t>運算器（</a:t>
            </a:r>
            <a:r>
              <a:rPr lang="en-US" altLang="zh-CN" sz="3600" dirty="0"/>
              <a:t>33</a:t>
            </a:r>
            <a:r>
              <a:rPr lang="zh-CN" altLang="en-US" sz="3600" dirty="0"/>
              <a:t>）</a:t>
            </a:r>
            <a:endParaRPr lang="en-US" altLang="zh-CN" sz="3600" dirty="0"/>
          </a:p>
        </p:txBody>
      </p:sp>
      <p:graphicFrame>
        <p:nvGraphicFramePr>
          <p:cNvPr id="385027" name="Object 3"/>
          <p:cNvGraphicFramePr>
            <a:graphicFrameLocks noChangeAspect="1"/>
          </p:cNvGraphicFramePr>
          <p:nvPr/>
        </p:nvGraphicFramePr>
        <p:xfrm>
          <a:off x="762000" y="2362200"/>
          <a:ext cx="7705725" cy="2827338"/>
        </p:xfrm>
        <a:graphic>
          <a:graphicData uri="http://schemas.openxmlformats.org/presentationml/2006/ole">
            <mc:AlternateContent xmlns:mc="http://schemas.openxmlformats.org/markup-compatibility/2006">
              <mc:Choice xmlns:v="urn:schemas-microsoft-com:vml" Requires="v">
                <p:oleObj name="Image" r:id="rId2" imgW="11186939" imgH="4104490" progId="">
                  <p:embed/>
                </p:oleObj>
              </mc:Choice>
              <mc:Fallback>
                <p:oleObj name="Image" r:id="rId2" imgW="11186939" imgH="410449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362200"/>
                        <a:ext cx="7705725" cy="282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5028" name="Rectangle 4"/>
          <p:cNvSpPr>
            <a:spLocks noGrp="1" noChangeArrowheads="1"/>
          </p:cNvSpPr>
          <p:nvPr>
            <p:ph type="body" idx="1"/>
          </p:nvPr>
        </p:nvSpPr>
        <p:spPr>
          <a:xfrm>
            <a:off x="533400" y="1066800"/>
            <a:ext cx="8534400" cy="4876800"/>
          </a:xfrm>
          <a:noFill/>
          <a:ln/>
        </p:spPr>
        <p:txBody>
          <a:bodyPr/>
          <a:lstStyle/>
          <a:p>
            <a:r>
              <a:rPr lang="en-US" altLang="zh-CN" b="1" dirty="0"/>
              <a:t>4</a:t>
            </a:r>
            <a:r>
              <a:rPr lang="zh-CN" altLang="en-US" b="1" dirty="0"/>
              <a:t>位</a:t>
            </a:r>
            <a:r>
              <a:rPr lang="en-US" altLang="zh-CN" b="1" dirty="0"/>
              <a:t>ALU</a:t>
            </a:r>
            <a:r>
              <a:rPr lang="zh-CN" altLang="en-US" b="1" dirty="0"/>
              <a:t>和超前進位擴展器組成</a:t>
            </a:r>
            <a:r>
              <a:rPr lang="en-US" altLang="zh-CN" b="1" dirty="0"/>
              <a:t>16</a:t>
            </a:r>
            <a:r>
              <a:rPr lang="zh-CN" altLang="en-US" b="1" dirty="0"/>
              <a:t>位元快速運算單元 （</a:t>
            </a:r>
            <a:r>
              <a:rPr lang="en-US" altLang="zh-CN" b="1" dirty="0"/>
              <a:t>P146</a:t>
            </a:r>
            <a:r>
              <a:rPr lang="zh-CN" altLang="en-US" b="1" dirty="0"/>
              <a:t>）</a:t>
            </a:r>
          </a:p>
        </p:txBody>
      </p:sp>
    </p:spTree>
    <p:extLst>
      <p:ext uri="{BB962C8B-B14F-4D97-AF65-F5344CB8AC3E}">
        <p14:creationId xmlns:p14="http://schemas.microsoft.com/office/powerpoint/2010/main" val="7251619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85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734387F-02A2-45A9-B41C-FD32DA3B9EED}" type="slidenum">
              <a:rPr lang="en-US" altLang="zh-CN"/>
              <a:pPr/>
              <a:t>42</a:t>
            </a:fld>
            <a:endParaRPr lang="en-US" altLang="zh-CN" dirty="0"/>
          </a:p>
        </p:txBody>
      </p:sp>
      <p:sp>
        <p:nvSpPr>
          <p:cNvPr id="386050"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386051" name="Rectangle 3"/>
          <p:cNvSpPr>
            <a:spLocks noGrp="1" noChangeArrowheads="1"/>
          </p:cNvSpPr>
          <p:nvPr>
            <p:ph type="body" idx="1"/>
          </p:nvPr>
        </p:nvSpPr>
        <p:spPr/>
        <p:txBody>
          <a:bodyPr>
            <a:normAutofit lnSpcReduction="10000"/>
          </a:bodyPr>
          <a:lstStyle/>
          <a:p>
            <a:r>
              <a:rPr lang="en-US" altLang="zh-CN" b="1" dirty="0"/>
              <a:t>3.3.7 </a:t>
            </a:r>
            <a:r>
              <a:rPr lang="zh-CN" altLang="en-US" b="1" dirty="0"/>
              <a:t>運算器（算數邏輯單元 </a:t>
            </a:r>
            <a:r>
              <a:rPr lang="en-US" altLang="zh-CN" b="1" dirty="0"/>
              <a:t>ALU</a:t>
            </a:r>
            <a:r>
              <a:rPr lang="zh-CN" altLang="en-US" b="1" dirty="0"/>
              <a:t>）</a:t>
            </a:r>
          </a:p>
          <a:p>
            <a:pPr lvl="1"/>
            <a:r>
              <a:rPr lang="zh-CN" altLang="en-US" b="1" dirty="0"/>
              <a:t>加法器</a:t>
            </a:r>
          </a:p>
          <a:p>
            <a:pPr lvl="2"/>
            <a:r>
              <a:rPr lang="en-US" altLang="zh-CN" b="1" dirty="0">
                <a:solidFill>
                  <a:srgbClr val="002060"/>
                </a:solidFill>
              </a:rPr>
              <a:t>1</a:t>
            </a:r>
            <a:r>
              <a:rPr lang="zh-CN" altLang="en-US" b="1" dirty="0">
                <a:solidFill>
                  <a:srgbClr val="002060"/>
                </a:solidFill>
              </a:rPr>
              <a:t>位加法器</a:t>
            </a:r>
          </a:p>
          <a:p>
            <a:pPr lvl="2"/>
            <a:r>
              <a:rPr lang="en-US" altLang="zh-CN" b="1" dirty="0">
                <a:solidFill>
                  <a:srgbClr val="002060"/>
                </a:solidFill>
              </a:rPr>
              <a:t>4</a:t>
            </a:r>
            <a:r>
              <a:rPr lang="zh-CN" altLang="en-US" b="1" dirty="0">
                <a:solidFill>
                  <a:srgbClr val="002060"/>
                </a:solidFill>
              </a:rPr>
              <a:t>位元串列進位元加法器</a:t>
            </a:r>
          </a:p>
          <a:p>
            <a:pPr lvl="2"/>
            <a:r>
              <a:rPr lang="en-US" altLang="zh-CN" b="1" dirty="0">
                <a:solidFill>
                  <a:srgbClr val="002060"/>
                </a:solidFill>
              </a:rPr>
              <a:t>4</a:t>
            </a:r>
            <a:r>
              <a:rPr lang="zh-CN" altLang="en-US" b="1" dirty="0">
                <a:solidFill>
                  <a:srgbClr val="002060"/>
                </a:solidFill>
              </a:rPr>
              <a:t>位元並行進位元加法器和快速進位元邏輯</a:t>
            </a:r>
          </a:p>
          <a:p>
            <a:pPr lvl="2"/>
            <a:r>
              <a:rPr lang="en-US" altLang="zh-CN" b="1" dirty="0"/>
              <a:t>16</a:t>
            </a:r>
            <a:r>
              <a:rPr lang="zh-CN" altLang="en-US" b="1" dirty="0"/>
              <a:t>位並行進位加法器</a:t>
            </a:r>
          </a:p>
          <a:p>
            <a:pPr lvl="1"/>
            <a:r>
              <a:rPr lang="zh-CN" altLang="en-US" b="1" dirty="0">
                <a:solidFill>
                  <a:srgbClr val="7030A0"/>
                </a:solidFill>
              </a:rPr>
              <a:t>算數運算邏輯單元</a:t>
            </a:r>
          </a:p>
          <a:p>
            <a:pPr lvl="2"/>
            <a:r>
              <a:rPr lang="en-US" altLang="zh-CN" b="1" dirty="0"/>
              <a:t>4</a:t>
            </a:r>
            <a:r>
              <a:rPr lang="zh-CN" altLang="en-US" b="1" dirty="0"/>
              <a:t>位元算術邏輯運算單元</a:t>
            </a:r>
            <a:endParaRPr lang="en-US" altLang="zh-CN" b="1" dirty="0"/>
          </a:p>
          <a:p>
            <a:pPr lvl="1"/>
            <a:r>
              <a:rPr lang="zh-CN" altLang="en-US" dirty="0"/>
              <a:t>乘法器</a:t>
            </a:r>
            <a:endParaRPr lang="zh-CN" altLang="en-US" b="1" dirty="0"/>
          </a:p>
        </p:txBody>
      </p:sp>
    </p:spTree>
    <p:extLst>
      <p:ext uri="{BB962C8B-B14F-4D97-AF65-F5344CB8AC3E}">
        <p14:creationId xmlns:p14="http://schemas.microsoft.com/office/powerpoint/2010/main" val="1107834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24F89E7C-FD54-4F65-BF05-0156F681E031}" type="slidenum">
              <a:rPr lang="en-US" altLang="zh-CN"/>
              <a:pPr/>
              <a:t>43</a:t>
            </a:fld>
            <a:endParaRPr lang="en-US" altLang="zh-CN" dirty="0"/>
          </a:p>
        </p:txBody>
      </p:sp>
      <p:sp>
        <p:nvSpPr>
          <p:cNvPr id="387074" name="Rectangle 2"/>
          <p:cNvSpPr>
            <a:spLocks noGrp="1" noChangeArrowheads="1"/>
          </p:cNvSpPr>
          <p:nvPr>
            <p:ph type="title"/>
          </p:nvPr>
        </p:nvSpPr>
        <p:spPr>
          <a:xfrm>
            <a:off x="457200" y="304800"/>
            <a:ext cx="8534400" cy="609600"/>
          </a:xfrm>
        </p:spPr>
        <p:txBody>
          <a:bodyPr>
            <a:normAutofit fontScale="90000"/>
          </a:bodyPr>
          <a:lstStyle/>
          <a:p>
            <a:r>
              <a:rPr lang="en-US" altLang="zh-CN" sz="3600" dirty="0"/>
              <a:t>3.3.7   </a:t>
            </a:r>
            <a:r>
              <a:rPr lang="zh-CN" altLang="en-US" sz="3600" dirty="0"/>
              <a:t>運算器</a:t>
            </a:r>
            <a:r>
              <a:rPr lang="en-US" altLang="zh-CN" sz="3600" dirty="0"/>
              <a:t>(34)</a:t>
            </a:r>
          </a:p>
        </p:txBody>
      </p:sp>
      <p:sp>
        <p:nvSpPr>
          <p:cNvPr id="387075" name="Rectangle 3"/>
          <p:cNvSpPr>
            <a:spLocks noGrp="1" noChangeArrowheads="1"/>
          </p:cNvSpPr>
          <p:nvPr>
            <p:ph type="body" idx="1"/>
          </p:nvPr>
        </p:nvSpPr>
        <p:spPr>
          <a:xfrm>
            <a:off x="1066800" y="1219200"/>
            <a:ext cx="7543800" cy="4876800"/>
          </a:xfrm>
        </p:spPr>
        <p:txBody>
          <a:bodyPr/>
          <a:lstStyle/>
          <a:p>
            <a:r>
              <a:rPr lang="zh-CN" altLang="en-US" dirty="0"/>
              <a:t>算數運算邏輯單元</a:t>
            </a:r>
            <a:r>
              <a:rPr lang="en-US" altLang="zh-CN" dirty="0"/>
              <a:t>(ALU) </a:t>
            </a:r>
          </a:p>
          <a:p>
            <a:pPr lvl="1"/>
            <a:r>
              <a:rPr lang="en-US" altLang="zh-CN" dirty="0"/>
              <a:t>ALU</a:t>
            </a:r>
            <a:r>
              <a:rPr lang="zh-CN" altLang="en-US" dirty="0"/>
              <a:t>是</a:t>
            </a:r>
            <a:r>
              <a:rPr lang="en-US" altLang="zh-CN" dirty="0"/>
              <a:t>CPU</a:t>
            </a:r>
            <a:r>
              <a:rPr lang="zh-CN" altLang="en-US" dirty="0"/>
              <a:t>的核心</a:t>
            </a:r>
            <a:r>
              <a:rPr lang="en-US" altLang="zh-CN" dirty="0"/>
              <a:t>,</a:t>
            </a:r>
            <a:r>
              <a:rPr lang="zh-CN" altLang="en-US" dirty="0"/>
              <a:t>不僅完成算術（加法、減法等）運算</a:t>
            </a:r>
            <a:r>
              <a:rPr lang="en-US" altLang="zh-CN" dirty="0"/>
              <a:t>,</a:t>
            </a:r>
            <a:r>
              <a:rPr lang="zh-CN" altLang="en-US" dirty="0"/>
              <a:t>而且完成邏輯運算</a:t>
            </a:r>
            <a:r>
              <a:rPr lang="en-US" altLang="zh-CN" dirty="0"/>
              <a:t>.</a:t>
            </a:r>
          </a:p>
          <a:p>
            <a:pPr lvl="1"/>
            <a:r>
              <a:rPr lang="en-US" altLang="zh-CN" dirty="0"/>
              <a:t>ALU</a:t>
            </a:r>
            <a:r>
              <a:rPr lang="zh-CN" altLang="en-US" dirty="0"/>
              <a:t>是多種功能集成在一起的器件</a:t>
            </a:r>
            <a:r>
              <a:rPr lang="en-US" altLang="zh-CN" dirty="0"/>
              <a:t>,</a:t>
            </a:r>
            <a:r>
              <a:rPr lang="zh-CN" altLang="en-US" dirty="0"/>
              <a:t>因此要有功能控制端</a:t>
            </a:r>
            <a:r>
              <a:rPr lang="en-US" altLang="zh-CN" dirty="0"/>
              <a:t>. </a:t>
            </a:r>
          </a:p>
          <a:p>
            <a:pPr lvl="2"/>
            <a:r>
              <a:rPr lang="zh-CN" altLang="en-US" dirty="0"/>
              <a:t>加</a:t>
            </a:r>
            <a:endParaRPr lang="en-US" altLang="zh-CN" dirty="0"/>
          </a:p>
          <a:p>
            <a:pPr lvl="2"/>
            <a:r>
              <a:rPr lang="zh-CN" altLang="en-US" dirty="0"/>
              <a:t>減</a:t>
            </a:r>
            <a:endParaRPr lang="en-US" altLang="zh-CN" dirty="0"/>
          </a:p>
          <a:p>
            <a:pPr lvl="2"/>
            <a:r>
              <a:rPr lang="zh-CN" altLang="en-US" dirty="0"/>
              <a:t>比較、與、或、非、移位</a:t>
            </a:r>
            <a:endParaRPr lang="en-US" altLang="zh-CN" dirty="0"/>
          </a:p>
        </p:txBody>
      </p:sp>
    </p:spTree>
    <p:extLst>
      <p:ext uri="{BB962C8B-B14F-4D97-AF65-F5344CB8AC3E}">
        <p14:creationId xmlns:p14="http://schemas.microsoft.com/office/powerpoint/2010/main" val="38548789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CF829F8-3DD7-4F2F-BE55-8E7B61B1D547}" type="slidenum">
              <a:rPr lang="en-US" altLang="zh-CN"/>
              <a:pPr/>
              <a:t>44</a:t>
            </a:fld>
            <a:endParaRPr lang="en-US" altLang="zh-CN" dirty="0"/>
          </a:p>
        </p:txBody>
      </p:sp>
      <p:sp>
        <p:nvSpPr>
          <p:cNvPr id="388098" name="Rectangle 2"/>
          <p:cNvSpPr>
            <a:spLocks noGrp="1" noChangeArrowheads="1"/>
          </p:cNvSpPr>
          <p:nvPr>
            <p:ph type="title"/>
          </p:nvPr>
        </p:nvSpPr>
        <p:spPr/>
        <p:txBody>
          <a:bodyPr/>
          <a:lstStyle/>
          <a:p>
            <a:r>
              <a:rPr lang="en-US" altLang="zh-CN" sz="3600" dirty="0"/>
              <a:t>3.3.7   </a:t>
            </a:r>
            <a:r>
              <a:rPr lang="zh-CN" altLang="en-US" sz="3600" dirty="0"/>
              <a:t>運算器</a:t>
            </a:r>
            <a:r>
              <a:rPr lang="en-US" altLang="zh-CN" sz="3600" dirty="0"/>
              <a:t>(35)</a:t>
            </a:r>
          </a:p>
        </p:txBody>
      </p:sp>
      <p:sp>
        <p:nvSpPr>
          <p:cNvPr id="388099" name="Rectangle 3"/>
          <p:cNvSpPr>
            <a:spLocks noGrp="1" noChangeArrowheads="1"/>
          </p:cNvSpPr>
          <p:nvPr>
            <p:ph type="body" idx="1"/>
          </p:nvPr>
        </p:nvSpPr>
        <p:spPr/>
        <p:txBody>
          <a:bodyPr>
            <a:normAutofit lnSpcReduction="10000"/>
          </a:bodyPr>
          <a:lstStyle/>
          <a:p>
            <a:r>
              <a:rPr lang="en-US" altLang="zh-CN" b="1" dirty="0"/>
              <a:t>3.3.7 </a:t>
            </a:r>
            <a:r>
              <a:rPr lang="zh-CN" altLang="en-US" b="1" dirty="0"/>
              <a:t>運算器（算數邏輯單元 </a:t>
            </a:r>
            <a:r>
              <a:rPr lang="en-US" altLang="zh-CN" b="1" dirty="0"/>
              <a:t>ALU</a:t>
            </a:r>
            <a:r>
              <a:rPr lang="zh-CN" altLang="en-US" b="1" dirty="0"/>
              <a:t>）</a:t>
            </a:r>
          </a:p>
          <a:p>
            <a:pPr lvl="1"/>
            <a:r>
              <a:rPr lang="zh-CN" altLang="en-US" b="1" dirty="0"/>
              <a:t>加法器</a:t>
            </a:r>
          </a:p>
          <a:p>
            <a:pPr lvl="2"/>
            <a:r>
              <a:rPr lang="zh-CN" altLang="en-US" b="1" dirty="0"/>
              <a:t>一位加法器</a:t>
            </a:r>
          </a:p>
          <a:p>
            <a:pPr lvl="2"/>
            <a:r>
              <a:rPr lang="zh-CN" altLang="en-US" b="1" dirty="0"/>
              <a:t>四位元串列進位元加法器</a:t>
            </a:r>
          </a:p>
          <a:p>
            <a:pPr lvl="2"/>
            <a:r>
              <a:rPr lang="zh-CN" altLang="en-US" b="1" dirty="0"/>
              <a:t>四位並行加法器</a:t>
            </a:r>
          </a:p>
          <a:p>
            <a:pPr lvl="2"/>
            <a:r>
              <a:rPr lang="en-US" altLang="zh-CN" b="1" dirty="0"/>
              <a:t>16</a:t>
            </a:r>
            <a:r>
              <a:rPr lang="zh-CN" altLang="en-US" b="1" dirty="0"/>
              <a:t>位加法器</a:t>
            </a:r>
          </a:p>
          <a:p>
            <a:pPr lvl="1"/>
            <a:r>
              <a:rPr lang="zh-CN" altLang="en-US" b="1" dirty="0"/>
              <a:t>算數運算邏輯單元</a:t>
            </a:r>
          </a:p>
          <a:p>
            <a:pPr lvl="2"/>
            <a:r>
              <a:rPr lang="en-US" altLang="zh-CN" b="1" dirty="0">
                <a:solidFill>
                  <a:srgbClr val="7030A0"/>
                </a:solidFill>
              </a:rPr>
              <a:t>4</a:t>
            </a:r>
            <a:r>
              <a:rPr lang="zh-CN" altLang="en-US" b="1" dirty="0">
                <a:solidFill>
                  <a:srgbClr val="7030A0"/>
                </a:solidFill>
              </a:rPr>
              <a:t>位元算術邏輯運算單元</a:t>
            </a:r>
            <a:endParaRPr lang="en-US" altLang="zh-CN" b="1" dirty="0">
              <a:solidFill>
                <a:srgbClr val="7030A0"/>
              </a:solidFill>
            </a:endParaRPr>
          </a:p>
          <a:p>
            <a:pPr lvl="1"/>
            <a:r>
              <a:rPr lang="zh-CN" altLang="en-US" dirty="0"/>
              <a:t>乘法器</a:t>
            </a:r>
          </a:p>
        </p:txBody>
      </p:sp>
    </p:spTree>
    <p:extLst>
      <p:ext uri="{BB962C8B-B14F-4D97-AF65-F5344CB8AC3E}">
        <p14:creationId xmlns:p14="http://schemas.microsoft.com/office/powerpoint/2010/main" val="4017520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5"/>
          <p:cNvSpPr>
            <a:spLocks noGrp="1"/>
          </p:cNvSpPr>
          <p:nvPr>
            <p:ph type="sldNum" sz="quarter" idx="12"/>
          </p:nvPr>
        </p:nvSpPr>
        <p:spPr/>
        <p:txBody>
          <a:bodyPr/>
          <a:lstStyle/>
          <a:p>
            <a:fld id="{283847F2-187E-40EC-8732-005C177DA41A}" type="slidenum">
              <a:rPr lang="en-US" altLang="zh-CN"/>
              <a:pPr/>
              <a:t>45</a:t>
            </a:fld>
            <a:endParaRPr lang="en-US" altLang="zh-CN" dirty="0"/>
          </a:p>
        </p:txBody>
      </p:sp>
      <p:sp>
        <p:nvSpPr>
          <p:cNvPr id="389122" name="Rectangle 2"/>
          <p:cNvSpPr>
            <a:spLocks noGrp="1" noChangeArrowheads="1"/>
          </p:cNvSpPr>
          <p:nvPr>
            <p:ph type="title"/>
          </p:nvPr>
        </p:nvSpPr>
        <p:spPr>
          <a:xfrm>
            <a:off x="381000" y="304800"/>
            <a:ext cx="8686800" cy="609600"/>
          </a:xfrm>
        </p:spPr>
        <p:txBody>
          <a:bodyPr>
            <a:normAutofit fontScale="90000"/>
          </a:bodyPr>
          <a:lstStyle/>
          <a:p>
            <a:r>
              <a:rPr lang="en-US" altLang="zh-CN" sz="3600" dirty="0"/>
              <a:t>3.3.7   </a:t>
            </a:r>
            <a:r>
              <a:rPr lang="zh-CN" altLang="en-US" sz="3600" dirty="0"/>
              <a:t>運算器</a:t>
            </a:r>
            <a:r>
              <a:rPr lang="en-US" altLang="zh-CN" sz="3600" dirty="0"/>
              <a:t>(36)</a:t>
            </a:r>
          </a:p>
        </p:txBody>
      </p:sp>
      <p:sp>
        <p:nvSpPr>
          <p:cNvPr id="389123" name="Rectangle 3"/>
          <p:cNvSpPr>
            <a:spLocks noGrp="1" noChangeArrowheads="1"/>
          </p:cNvSpPr>
          <p:nvPr>
            <p:ph type="body" idx="1"/>
          </p:nvPr>
        </p:nvSpPr>
        <p:spPr>
          <a:xfrm>
            <a:off x="457200" y="1000108"/>
            <a:ext cx="8229600" cy="4525963"/>
          </a:xfrm>
        </p:spPr>
        <p:txBody>
          <a:bodyPr/>
          <a:lstStyle/>
          <a:p>
            <a:pPr>
              <a:buClr>
                <a:schemeClr val="hlink"/>
              </a:buClr>
              <a:buFont typeface="Wingdings" pitchFamily="2" charset="2"/>
              <a:buNone/>
            </a:pPr>
            <a:endParaRPr lang="en-US" altLang="zh-CN" sz="1800" dirty="0"/>
          </a:p>
          <a:p>
            <a:r>
              <a:rPr lang="zh-CN" altLang="en-US" b="1" dirty="0"/>
              <a:t>四位元算術邏輯運算單元</a:t>
            </a:r>
          </a:p>
          <a:p>
            <a:pPr lvl="1"/>
            <a:r>
              <a:rPr lang="en-US" altLang="zh-CN" dirty="0"/>
              <a:t>4</a:t>
            </a:r>
            <a:r>
              <a:rPr lang="zh-CN" altLang="en-US" dirty="0"/>
              <a:t>位</a:t>
            </a:r>
            <a:r>
              <a:rPr lang="en-US" altLang="zh-CN" dirty="0"/>
              <a:t>ALU</a:t>
            </a:r>
            <a:r>
              <a:rPr lang="zh-CN" altLang="en-US" dirty="0"/>
              <a:t>的核心是</a:t>
            </a:r>
            <a:r>
              <a:rPr lang="en-US" altLang="zh-CN" dirty="0"/>
              <a:t>4</a:t>
            </a:r>
            <a:r>
              <a:rPr lang="zh-CN" altLang="en-US" dirty="0"/>
              <a:t>位並行加法器</a:t>
            </a:r>
            <a:r>
              <a:rPr lang="en-US" altLang="zh-CN" dirty="0"/>
              <a:t>,</a:t>
            </a:r>
            <a:r>
              <a:rPr lang="zh-CN" altLang="en-US" dirty="0"/>
              <a:t>通過控制加法器的一些邏輯門或改變進位元邏輯門能夠獲得多種功能。</a:t>
            </a:r>
          </a:p>
        </p:txBody>
      </p:sp>
      <p:grpSp>
        <p:nvGrpSpPr>
          <p:cNvPr id="389124" name="Group 4"/>
          <p:cNvGrpSpPr>
            <a:grpSpLocks/>
          </p:cNvGrpSpPr>
          <p:nvPr/>
        </p:nvGrpSpPr>
        <p:grpSpPr bwMode="auto">
          <a:xfrm>
            <a:off x="3124200" y="3788940"/>
            <a:ext cx="3348038" cy="2592388"/>
            <a:chOff x="3651" y="2568"/>
            <a:chExt cx="2109" cy="1633"/>
          </a:xfrm>
        </p:grpSpPr>
        <p:sp>
          <p:nvSpPr>
            <p:cNvPr id="389125" name="Rectangle 5"/>
            <p:cNvSpPr>
              <a:spLocks noChangeArrowheads="1"/>
            </p:cNvSpPr>
            <p:nvPr/>
          </p:nvSpPr>
          <p:spPr bwMode="auto">
            <a:xfrm>
              <a:off x="4332" y="2568"/>
              <a:ext cx="817" cy="140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126" name="Line 6"/>
            <p:cNvSpPr>
              <a:spLocks noChangeShapeType="1"/>
            </p:cNvSpPr>
            <p:nvPr/>
          </p:nvSpPr>
          <p:spPr bwMode="auto">
            <a:xfrm>
              <a:off x="3787" y="2931"/>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27" name="Line 7"/>
            <p:cNvSpPr>
              <a:spLocks noChangeShapeType="1"/>
            </p:cNvSpPr>
            <p:nvPr/>
          </p:nvSpPr>
          <p:spPr bwMode="auto">
            <a:xfrm>
              <a:off x="3787" y="2976"/>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28" name="Line 8"/>
            <p:cNvSpPr>
              <a:spLocks noChangeShapeType="1"/>
            </p:cNvSpPr>
            <p:nvPr/>
          </p:nvSpPr>
          <p:spPr bwMode="auto">
            <a:xfrm>
              <a:off x="3787" y="3657"/>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29" name="Line 9"/>
            <p:cNvSpPr>
              <a:spLocks noChangeShapeType="1"/>
            </p:cNvSpPr>
            <p:nvPr/>
          </p:nvSpPr>
          <p:spPr bwMode="auto">
            <a:xfrm>
              <a:off x="3787" y="3612"/>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0" name="Text Box 10"/>
            <p:cNvSpPr txBox="1">
              <a:spLocks noChangeArrowheads="1"/>
            </p:cNvSpPr>
            <p:nvPr/>
          </p:nvSpPr>
          <p:spPr bwMode="auto">
            <a:xfrm>
              <a:off x="3742" y="2614"/>
              <a:ext cx="6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t>運算元</a:t>
              </a:r>
            </a:p>
          </p:txBody>
        </p:sp>
        <p:sp>
          <p:nvSpPr>
            <p:cNvPr id="389131" name="Text Box 11"/>
            <p:cNvSpPr txBox="1">
              <a:spLocks noChangeArrowheads="1"/>
            </p:cNvSpPr>
            <p:nvPr/>
          </p:nvSpPr>
          <p:spPr bwMode="auto">
            <a:xfrm>
              <a:off x="3651" y="3339"/>
              <a:ext cx="7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t>被運算元</a:t>
              </a:r>
            </a:p>
          </p:txBody>
        </p:sp>
        <p:sp>
          <p:nvSpPr>
            <p:cNvPr id="389132" name="Line 12"/>
            <p:cNvSpPr>
              <a:spLocks noChangeShapeType="1"/>
            </p:cNvSpPr>
            <p:nvPr/>
          </p:nvSpPr>
          <p:spPr bwMode="auto">
            <a:xfrm flipV="1">
              <a:off x="4694" y="3974"/>
              <a:ext cx="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3" name="Line 13"/>
            <p:cNvSpPr>
              <a:spLocks noChangeShapeType="1"/>
            </p:cNvSpPr>
            <p:nvPr/>
          </p:nvSpPr>
          <p:spPr bwMode="auto">
            <a:xfrm flipV="1">
              <a:off x="4740" y="3974"/>
              <a:ext cx="0" cy="1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4" name="Line 14"/>
            <p:cNvSpPr>
              <a:spLocks noChangeShapeType="1"/>
            </p:cNvSpPr>
            <p:nvPr/>
          </p:nvSpPr>
          <p:spPr bwMode="auto">
            <a:xfrm>
              <a:off x="5147" y="3702"/>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5" name="Line 15"/>
            <p:cNvSpPr>
              <a:spLocks noChangeShapeType="1"/>
            </p:cNvSpPr>
            <p:nvPr/>
          </p:nvSpPr>
          <p:spPr bwMode="auto">
            <a:xfrm>
              <a:off x="5147" y="3657"/>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6" name="Line 16"/>
            <p:cNvSpPr>
              <a:spLocks noChangeShapeType="1"/>
            </p:cNvSpPr>
            <p:nvPr/>
          </p:nvSpPr>
          <p:spPr bwMode="auto">
            <a:xfrm>
              <a:off x="5147" y="2976"/>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7" name="Line 17"/>
            <p:cNvSpPr>
              <a:spLocks noChangeShapeType="1"/>
            </p:cNvSpPr>
            <p:nvPr/>
          </p:nvSpPr>
          <p:spPr bwMode="auto">
            <a:xfrm>
              <a:off x="5147" y="2931"/>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38" name="Text Box 18"/>
            <p:cNvSpPr txBox="1">
              <a:spLocks noChangeArrowheads="1"/>
            </p:cNvSpPr>
            <p:nvPr/>
          </p:nvSpPr>
          <p:spPr bwMode="auto">
            <a:xfrm>
              <a:off x="5193" y="2614"/>
              <a:ext cx="56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t>結果</a:t>
              </a:r>
            </a:p>
          </p:txBody>
        </p:sp>
        <p:sp>
          <p:nvSpPr>
            <p:cNvPr id="389139" name="Text Box 19"/>
            <p:cNvSpPr txBox="1">
              <a:spLocks noChangeArrowheads="1"/>
            </p:cNvSpPr>
            <p:nvPr/>
          </p:nvSpPr>
          <p:spPr bwMode="auto">
            <a:xfrm>
              <a:off x="5193" y="3430"/>
              <a:ext cx="40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t>進位</a:t>
              </a:r>
            </a:p>
          </p:txBody>
        </p:sp>
        <p:sp>
          <p:nvSpPr>
            <p:cNvPr id="389140" name="Text Box 20"/>
            <p:cNvSpPr txBox="1">
              <a:spLocks noChangeArrowheads="1"/>
            </p:cNvSpPr>
            <p:nvPr/>
          </p:nvSpPr>
          <p:spPr bwMode="auto">
            <a:xfrm>
              <a:off x="4740" y="3970"/>
              <a:ext cx="97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t>功能控制</a:t>
              </a:r>
            </a:p>
          </p:txBody>
        </p:sp>
        <p:sp>
          <p:nvSpPr>
            <p:cNvPr id="389141" name="Text Box 21"/>
            <p:cNvSpPr txBox="1">
              <a:spLocks noChangeArrowheads="1"/>
            </p:cNvSpPr>
            <p:nvPr/>
          </p:nvSpPr>
          <p:spPr bwMode="auto">
            <a:xfrm>
              <a:off x="4468" y="3022"/>
              <a:ext cx="635"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t> 4</a:t>
              </a:r>
              <a:r>
                <a:rPr lang="zh-CN" altLang="en-US" b="1" dirty="0"/>
                <a:t>位</a:t>
              </a:r>
            </a:p>
            <a:p>
              <a:pPr>
                <a:spcBef>
                  <a:spcPct val="50000"/>
                </a:spcBef>
              </a:pPr>
              <a:r>
                <a:rPr lang="en-US" altLang="zh-CN" b="1" dirty="0"/>
                <a:t>ALU</a:t>
              </a:r>
            </a:p>
          </p:txBody>
        </p:sp>
      </p:grpSp>
    </p:spTree>
    <p:extLst>
      <p:ext uri="{BB962C8B-B14F-4D97-AF65-F5344CB8AC3E}">
        <p14:creationId xmlns:p14="http://schemas.microsoft.com/office/powerpoint/2010/main" val="36260086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FD04C57A-FD9B-43EB-A8FB-E57D0BDAFA57}" type="slidenum">
              <a:rPr lang="en-US" altLang="zh-CN"/>
              <a:pPr/>
              <a:t>46</a:t>
            </a:fld>
            <a:endParaRPr lang="en-US" altLang="zh-CN" dirty="0"/>
          </a:p>
        </p:txBody>
      </p:sp>
      <p:sp>
        <p:nvSpPr>
          <p:cNvPr id="390146" name="Rectangle 2"/>
          <p:cNvSpPr>
            <a:spLocks noGrp="1" noChangeArrowheads="1"/>
          </p:cNvSpPr>
          <p:nvPr>
            <p:ph type="title"/>
          </p:nvPr>
        </p:nvSpPr>
        <p:spPr>
          <a:xfrm>
            <a:off x="457200" y="304800"/>
            <a:ext cx="8534400" cy="609600"/>
          </a:xfrm>
        </p:spPr>
        <p:txBody>
          <a:bodyPr>
            <a:normAutofit fontScale="90000"/>
          </a:bodyPr>
          <a:lstStyle/>
          <a:p>
            <a:r>
              <a:rPr lang="en-US" altLang="zh-CN" sz="3600" dirty="0"/>
              <a:t>3.3.7   </a:t>
            </a:r>
            <a:r>
              <a:rPr lang="zh-CN" altLang="en-US" sz="3600" dirty="0"/>
              <a:t>運算器</a:t>
            </a:r>
            <a:r>
              <a:rPr lang="en-US" altLang="zh-CN" sz="3600" dirty="0"/>
              <a:t>(37)</a:t>
            </a:r>
          </a:p>
        </p:txBody>
      </p:sp>
      <p:sp>
        <p:nvSpPr>
          <p:cNvPr id="390147" name="Rectangle 3"/>
          <p:cNvSpPr>
            <a:spLocks noGrp="1" noChangeArrowheads="1"/>
          </p:cNvSpPr>
          <p:nvPr>
            <p:ph type="body" idx="1"/>
          </p:nvPr>
        </p:nvSpPr>
        <p:spPr/>
        <p:txBody>
          <a:bodyPr/>
          <a:lstStyle/>
          <a:p>
            <a:r>
              <a:rPr lang="en-US" altLang="zh-CN" b="1" dirty="0"/>
              <a:t>4</a:t>
            </a:r>
            <a:r>
              <a:rPr lang="zh-CN" altLang="en-US" b="1" dirty="0"/>
              <a:t>位元算術邏輯運算單元</a:t>
            </a:r>
          </a:p>
          <a:p>
            <a:pPr lvl="1"/>
            <a:r>
              <a:rPr lang="zh-CN" altLang="en-US" sz="3200" b="1" dirty="0"/>
              <a:t>運算能力的獲得方法</a:t>
            </a:r>
          </a:p>
          <a:p>
            <a:pPr lvl="2"/>
            <a:r>
              <a:rPr lang="zh-CN" altLang="en-US" sz="2800" b="1" dirty="0"/>
              <a:t>方法</a:t>
            </a:r>
            <a:r>
              <a:rPr lang="en-US" altLang="zh-CN" sz="2800" b="1" dirty="0"/>
              <a:t>1</a:t>
            </a:r>
            <a:r>
              <a:rPr lang="zh-CN" altLang="en-US" sz="2800" b="1" dirty="0"/>
              <a:t>：控制</a:t>
            </a:r>
            <a:r>
              <a:rPr lang="en-US" altLang="zh-CN" sz="2800" b="1" dirty="0"/>
              <a:t>4</a:t>
            </a:r>
            <a:r>
              <a:rPr lang="zh-CN" altLang="en-US" sz="2800" b="1" dirty="0"/>
              <a:t>位元加法器中的進位元邏輯，獲得多種運算能力</a:t>
            </a:r>
            <a:endParaRPr lang="en-US" altLang="zh-CN" sz="2800" b="1" dirty="0"/>
          </a:p>
          <a:p>
            <a:pPr lvl="3"/>
            <a:r>
              <a:rPr lang="zh-CN" altLang="en-US" dirty="0"/>
              <a:t>簡單、但運算種類少</a:t>
            </a:r>
          </a:p>
          <a:p>
            <a:pPr lvl="2"/>
            <a:r>
              <a:rPr lang="zh-CN" altLang="en-US" sz="2800" b="1" dirty="0"/>
              <a:t>方法</a:t>
            </a:r>
            <a:r>
              <a:rPr lang="en-US" altLang="zh-CN" sz="2800" b="1" dirty="0"/>
              <a:t>2</a:t>
            </a:r>
            <a:r>
              <a:rPr lang="zh-CN" altLang="en-US" sz="2800" b="1" dirty="0"/>
              <a:t>：改變加法器中的</a:t>
            </a:r>
            <a:r>
              <a:rPr lang="en-US" altLang="zh-CN" sz="2800" b="1" dirty="0"/>
              <a:t>Gi</a:t>
            </a:r>
            <a:r>
              <a:rPr lang="zh-CN" altLang="en-US" sz="2800" b="1" dirty="0"/>
              <a:t>和</a:t>
            </a:r>
            <a:r>
              <a:rPr lang="en-US" altLang="zh-CN" sz="2800" b="1" dirty="0"/>
              <a:t>Pi</a:t>
            </a:r>
            <a:r>
              <a:rPr lang="zh-CN" altLang="en-US" sz="2800" b="1" dirty="0"/>
              <a:t>來獲得多種運算能力</a:t>
            </a:r>
            <a:endParaRPr lang="en-US" altLang="zh-CN" sz="2800" b="1" dirty="0"/>
          </a:p>
          <a:p>
            <a:pPr lvl="3"/>
            <a:r>
              <a:rPr lang="zh-CN" altLang="en-US" dirty="0"/>
              <a:t>運算種類多、但運算單元結構較複雜。</a:t>
            </a:r>
            <a:endParaRPr lang="zh-CN" altLang="en-US" b="1" dirty="0"/>
          </a:p>
        </p:txBody>
      </p:sp>
    </p:spTree>
    <p:extLst>
      <p:ext uri="{BB962C8B-B14F-4D97-AF65-F5344CB8AC3E}">
        <p14:creationId xmlns:p14="http://schemas.microsoft.com/office/powerpoint/2010/main" val="29316089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02D1FD72-B895-4B85-965C-5BFBB82A29C8}" type="slidenum">
              <a:rPr lang="en-US" altLang="zh-CN"/>
              <a:pPr/>
              <a:t>47</a:t>
            </a:fld>
            <a:endParaRPr lang="en-US" altLang="zh-CN" dirty="0"/>
          </a:p>
        </p:txBody>
      </p:sp>
      <p:sp>
        <p:nvSpPr>
          <p:cNvPr id="391170" name="Rectangle 2"/>
          <p:cNvSpPr>
            <a:spLocks noGrp="1" noChangeArrowheads="1"/>
          </p:cNvSpPr>
          <p:nvPr>
            <p:ph type="title"/>
          </p:nvPr>
        </p:nvSpPr>
        <p:spPr>
          <a:xfrm>
            <a:off x="457200" y="304800"/>
            <a:ext cx="8610600" cy="609600"/>
          </a:xfrm>
        </p:spPr>
        <p:txBody>
          <a:bodyPr>
            <a:normAutofit fontScale="90000"/>
          </a:bodyPr>
          <a:lstStyle/>
          <a:p>
            <a:r>
              <a:rPr lang="en-US" altLang="zh-CN" sz="3600" dirty="0"/>
              <a:t>3.3.7   </a:t>
            </a:r>
            <a:r>
              <a:rPr lang="zh-CN" altLang="en-US" sz="3600" dirty="0"/>
              <a:t>運算器</a:t>
            </a:r>
            <a:r>
              <a:rPr lang="en-US" altLang="zh-CN" sz="3600" dirty="0"/>
              <a:t>(38)</a:t>
            </a:r>
          </a:p>
        </p:txBody>
      </p:sp>
      <p:sp>
        <p:nvSpPr>
          <p:cNvPr id="391171" name="Rectangle 3"/>
          <p:cNvSpPr>
            <a:spLocks noGrp="1" noChangeArrowheads="1"/>
          </p:cNvSpPr>
          <p:nvPr>
            <p:ph type="body" idx="1"/>
          </p:nvPr>
        </p:nvSpPr>
        <p:spPr/>
        <p:txBody>
          <a:bodyPr/>
          <a:lstStyle/>
          <a:p>
            <a:r>
              <a:rPr lang="zh-CN" altLang="en-US" dirty="0"/>
              <a:t>方法</a:t>
            </a:r>
            <a:r>
              <a:rPr lang="en-US" altLang="zh-CN" dirty="0"/>
              <a:t>1</a:t>
            </a:r>
            <a:r>
              <a:rPr lang="zh-CN" altLang="en-US" dirty="0"/>
              <a:t>：控制</a:t>
            </a:r>
            <a:r>
              <a:rPr lang="en-US" altLang="zh-CN" dirty="0"/>
              <a:t>4</a:t>
            </a:r>
            <a:r>
              <a:rPr lang="zh-CN" altLang="en-US" dirty="0"/>
              <a:t>位元加法器中的進位元邏輯，獲得多種運算能力。</a:t>
            </a:r>
          </a:p>
          <a:p>
            <a:pPr lvl="1"/>
            <a:r>
              <a:rPr lang="zh-CN" altLang="en-US" dirty="0"/>
              <a:t>簡單、運算種類較少。</a:t>
            </a:r>
          </a:p>
          <a:p>
            <a:pPr lvl="1"/>
            <a:r>
              <a:rPr lang="zh-CN" altLang="en-US" dirty="0"/>
              <a:t>在控制信號</a:t>
            </a:r>
            <a:r>
              <a:rPr lang="en-US" altLang="zh-CN" dirty="0"/>
              <a:t>C</a:t>
            </a:r>
            <a:r>
              <a:rPr lang="en-US" altLang="zh-CN" baseline="-25000" dirty="0"/>
              <a:t>INH</a:t>
            </a:r>
            <a:r>
              <a:rPr lang="zh-CN" altLang="en-US" dirty="0"/>
              <a:t>、</a:t>
            </a:r>
            <a:r>
              <a:rPr lang="en-US" altLang="zh-CN" dirty="0"/>
              <a:t>E</a:t>
            </a:r>
            <a:r>
              <a:rPr lang="en-US" altLang="zh-CN" baseline="-25000" dirty="0"/>
              <a:t>INH</a:t>
            </a:r>
            <a:r>
              <a:rPr lang="zh-CN" altLang="en-US" dirty="0"/>
              <a:t>的作用下，可以完成</a:t>
            </a:r>
            <a:r>
              <a:rPr lang="en-US" altLang="zh-CN" dirty="0"/>
              <a:t>4</a:t>
            </a:r>
            <a:r>
              <a:rPr lang="zh-CN" altLang="en-US" dirty="0"/>
              <a:t>位元數的加、比較和邏輯乘（與）運算。</a:t>
            </a:r>
          </a:p>
          <a:p>
            <a:pPr lvl="1"/>
            <a:r>
              <a:rPr lang="zh-CN" altLang="en-US" dirty="0"/>
              <a:t>如圖</a:t>
            </a:r>
            <a:r>
              <a:rPr lang="en-US" altLang="zh-CN" dirty="0"/>
              <a:t>4</a:t>
            </a:r>
            <a:r>
              <a:rPr lang="zh-CN" altLang="en-US" dirty="0"/>
              <a:t>－</a:t>
            </a:r>
            <a:r>
              <a:rPr lang="en-US" altLang="zh-CN" dirty="0"/>
              <a:t>57</a:t>
            </a:r>
            <a:r>
              <a:rPr lang="zh-CN" altLang="en-US" dirty="0"/>
              <a:t>所示（</a:t>
            </a:r>
            <a:r>
              <a:rPr lang="en-US" altLang="zh-CN" dirty="0"/>
              <a:t>P139</a:t>
            </a:r>
            <a:r>
              <a:rPr lang="zh-CN" altLang="en-US" dirty="0"/>
              <a:t>）</a:t>
            </a:r>
          </a:p>
        </p:txBody>
      </p:sp>
    </p:spTree>
    <p:extLst>
      <p:ext uri="{BB962C8B-B14F-4D97-AF65-F5344CB8AC3E}">
        <p14:creationId xmlns:p14="http://schemas.microsoft.com/office/powerpoint/2010/main" val="2945987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99421B0B-8DDC-41EB-BF70-71280E5A2F8D}" type="slidenum">
              <a:rPr lang="en-US" altLang="zh-CN"/>
              <a:pPr/>
              <a:t>48</a:t>
            </a:fld>
            <a:endParaRPr lang="en-US" altLang="zh-CN" dirty="0"/>
          </a:p>
        </p:txBody>
      </p:sp>
      <p:pic>
        <p:nvPicPr>
          <p:cNvPr id="392194" name="Picture 2" descr="4-54"/>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733"/>
          <a:stretch/>
        </p:blipFill>
        <p:spPr>
          <a:xfrm>
            <a:off x="899592" y="188640"/>
            <a:ext cx="7489825" cy="61206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2195" name="Text Box 3"/>
          <p:cNvSpPr txBox="1">
            <a:spLocks noChangeArrowheads="1"/>
          </p:cNvSpPr>
          <p:nvPr/>
        </p:nvSpPr>
        <p:spPr bwMode="auto">
          <a:xfrm>
            <a:off x="1116013" y="6309320"/>
            <a:ext cx="576024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等线" panose="02010600030101010101" pitchFamily="2" charset="-122"/>
                <a:ea typeface="等线" panose="02010600030101010101" pitchFamily="2" charset="-122"/>
              </a:rPr>
              <a:t>電路</a:t>
            </a:r>
            <a:r>
              <a:rPr lang="en-US" altLang="zh-CN" sz="2400" b="1" dirty="0">
                <a:latin typeface="等线" panose="02010600030101010101" pitchFamily="2" charset="-122"/>
                <a:ea typeface="等线" panose="02010600030101010101" pitchFamily="2" charset="-122"/>
              </a:rPr>
              <a:t>1: </a:t>
            </a:r>
            <a:r>
              <a:rPr lang="zh-CN" altLang="en-US" sz="2400" b="1" dirty="0">
                <a:latin typeface="等线" panose="02010600030101010101" pitchFamily="2" charset="-122"/>
                <a:ea typeface="等线" panose="02010600030101010101" pitchFamily="2" charset="-122"/>
              </a:rPr>
              <a:t>功能控制加在進位門和半加器</a:t>
            </a:r>
          </a:p>
        </p:txBody>
      </p:sp>
      <p:sp>
        <p:nvSpPr>
          <p:cNvPr id="2" name="TextBox 1"/>
          <p:cNvSpPr txBox="1"/>
          <p:nvPr/>
        </p:nvSpPr>
        <p:spPr>
          <a:xfrm>
            <a:off x="3347864" y="5805264"/>
            <a:ext cx="556563" cy="276999"/>
          </a:xfrm>
          <a:prstGeom prst="rect">
            <a:avLst/>
          </a:prstGeom>
          <a:solidFill>
            <a:schemeClr val="bg1"/>
          </a:solidFill>
        </p:spPr>
        <p:txBody>
          <a:bodyPr wrap="none" rtlCol="0">
            <a:spAutoFit/>
          </a:bodyPr>
          <a:lstStyle/>
          <a:p>
            <a:r>
              <a:rPr lang="en-US" altLang="zh-CN" sz="1200" b="1" dirty="0">
                <a:latin typeface="Courier New" pitchFamily="49" charset="0"/>
                <a:cs typeface="Courier New" pitchFamily="49" charset="0"/>
              </a:rPr>
              <a:t>4-57</a:t>
            </a:r>
            <a:endParaRPr lang="zh-CN" altLang="en-US" sz="1200" b="1" dirty="0">
              <a:latin typeface="Courier New" pitchFamily="49" charset="0"/>
              <a:cs typeface="Courier New" pitchFamily="49" charset="0"/>
            </a:endParaRPr>
          </a:p>
        </p:txBody>
      </p:sp>
      <p:sp>
        <p:nvSpPr>
          <p:cNvPr id="3" name="TextBox 2"/>
          <p:cNvSpPr txBox="1"/>
          <p:nvPr/>
        </p:nvSpPr>
        <p:spPr>
          <a:xfrm>
            <a:off x="1980486" y="3429000"/>
            <a:ext cx="287258" cy="338554"/>
          </a:xfrm>
          <a:prstGeom prst="rect">
            <a:avLst/>
          </a:prstGeom>
          <a:noFill/>
        </p:spPr>
        <p:txBody>
          <a:bodyPr wrap="none" rtlCol="0">
            <a:spAutoFit/>
          </a:bodyPr>
          <a:lstStyle/>
          <a:p>
            <a:r>
              <a:rPr lang="en-US" altLang="zh-CN" sz="1600" b="1" dirty="0">
                <a:solidFill>
                  <a:srgbClr val="FF0000"/>
                </a:solidFill>
              </a:rPr>
              <a:t>0</a:t>
            </a:r>
            <a:endParaRPr lang="zh-CN" altLang="en-US" b="1" dirty="0">
              <a:solidFill>
                <a:srgbClr val="FF0000"/>
              </a:solidFill>
            </a:endParaRPr>
          </a:p>
        </p:txBody>
      </p:sp>
      <p:sp>
        <p:nvSpPr>
          <p:cNvPr id="8" name="TextBox 7"/>
          <p:cNvSpPr txBox="1"/>
          <p:nvPr/>
        </p:nvSpPr>
        <p:spPr>
          <a:xfrm>
            <a:off x="2195736" y="3284984"/>
            <a:ext cx="287258" cy="338554"/>
          </a:xfrm>
          <a:prstGeom prst="rect">
            <a:avLst/>
          </a:prstGeom>
          <a:noFill/>
        </p:spPr>
        <p:txBody>
          <a:bodyPr wrap="none" rtlCol="0">
            <a:spAutoFit/>
          </a:bodyPr>
          <a:lstStyle/>
          <a:p>
            <a:r>
              <a:rPr lang="en-US" altLang="zh-CN" sz="1600" b="1" dirty="0">
                <a:solidFill>
                  <a:srgbClr val="FF0000"/>
                </a:solidFill>
              </a:rPr>
              <a:t>0</a:t>
            </a:r>
            <a:endParaRPr lang="zh-CN" altLang="en-US" b="1" dirty="0">
              <a:solidFill>
                <a:srgbClr val="FF0000"/>
              </a:solidFill>
            </a:endParaRPr>
          </a:p>
        </p:txBody>
      </p:sp>
      <p:sp>
        <p:nvSpPr>
          <p:cNvPr id="9" name="TextBox 8"/>
          <p:cNvSpPr txBox="1"/>
          <p:nvPr/>
        </p:nvSpPr>
        <p:spPr>
          <a:xfrm>
            <a:off x="5076830" y="4314582"/>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0" name="TextBox 9"/>
          <p:cNvSpPr txBox="1"/>
          <p:nvPr/>
        </p:nvSpPr>
        <p:spPr>
          <a:xfrm>
            <a:off x="2988598" y="4314582"/>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1" name="TextBox 10"/>
          <p:cNvSpPr txBox="1"/>
          <p:nvPr/>
        </p:nvSpPr>
        <p:spPr>
          <a:xfrm>
            <a:off x="3851920" y="4314582"/>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2" name="TextBox 11"/>
          <p:cNvSpPr txBox="1"/>
          <p:nvPr/>
        </p:nvSpPr>
        <p:spPr>
          <a:xfrm>
            <a:off x="1907704" y="4314582"/>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3" name="TextBox 12"/>
          <p:cNvSpPr txBox="1"/>
          <p:nvPr/>
        </p:nvSpPr>
        <p:spPr>
          <a:xfrm>
            <a:off x="1907704" y="3789040"/>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4" name="TextBox 13"/>
          <p:cNvSpPr txBox="1"/>
          <p:nvPr/>
        </p:nvSpPr>
        <p:spPr>
          <a:xfrm>
            <a:off x="1116013" y="2924944"/>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5" name="TextBox 14"/>
          <p:cNvSpPr txBox="1"/>
          <p:nvPr/>
        </p:nvSpPr>
        <p:spPr>
          <a:xfrm>
            <a:off x="1116013" y="3847946"/>
            <a:ext cx="287258" cy="338554"/>
          </a:xfrm>
          <a:prstGeom prst="rect">
            <a:avLst/>
          </a:prstGeom>
          <a:noFill/>
        </p:spPr>
        <p:txBody>
          <a:bodyPr wrap="none" rtlCol="0">
            <a:spAutoFit/>
          </a:bodyPr>
          <a:lstStyle/>
          <a:p>
            <a:r>
              <a:rPr lang="en-US" altLang="zh-CN" sz="1600" b="1" dirty="0">
                <a:solidFill>
                  <a:srgbClr val="FF0000"/>
                </a:solidFill>
              </a:rPr>
              <a:t>0</a:t>
            </a:r>
            <a:endParaRPr lang="zh-CN" altLang="en-US" b="1" dirty="0">
              <a:solidFill>
                <a:srgbClr val="FF0000"/>
              </a:solidFill>
            </a:endParaRPr>
          </a:p>
        </p:txBody>
      </p:sp>
      <p:cxnSp>
        <p:nvCxnSpPr>
          <p:cNvPr id="6" name="直接箭头连接符 5"/>
          <p:cNvCxnSpPr/>
          <p:nvPr/>
        </p:nvCxnSpPr>
        <p:spPr>
          <a:xfrm flipV="1">
            <a:off x="4829261" y="4314582"/>
            <a:ext cx="1069654" cy="91461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flipV="1">
            <a:off x="6228184" y="4314582"/>
            <a:ext cx="648073" cy="106701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6552220" y="5381600"/>
                <a:ext cx="8735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solidFill>
                                <a:srgbClr val="FF0000"/>
                              </a:solidFill>
                              <a:latin typeface="Cambria Math" panose="02040503050406030204" pitchFamily="18" charset="0"/>
                            </a:rPr>
                          </m:ctrlPr>
                        </m:accPr>
                        <m:e>
                          <m:r>
                            <a:rPr lang="en-US" altLang="zh-CN" b="0" i="1" smtClean="0">
                              <a:solidFill>
                                <a:srgbClr val="FF0000"/>
                              </a:solidFill>
                              <a:latin typeface="Cambria Math"/>
                            </a:rPr>
                            <m:t>𝑋</m:t>
                          </m:r>
                          <m:r>
                            <a:rPr lang="en-US" altLang="zh-CN" b="0" i="1" smtClean="0">
                              <a:solidFill>
                                <a:srgbClr val="FF0000"/>
                              </a:solidFill>
                              <a:latin typeface="Cambria Math"/>
                              <a:ea typeface="Cambria Math"/>
                            </a:rPr>
                            <m:t>∙</m:t>
                          </m:r>
                          <m:r>
                            <a:rPr lang="en-US" altLang="zh-CN" b="0" i="1" smtClean="0">
                              <a:solidFill>
                                <a:srgbClr val="FF0000"/>
                              </a:solidFill>
                              <a:latin typeface="Cambria Math"/>
                            </a:rPr>
                            <m:t>𝑌</m:t>
                          </m:r>
                        </m:e>
                      </m:acc>
                    </m:oMath>
                  </m:oMathPara>
                </a14:m>
                <a:endParaRPr lang="zh-CN" altLang="en-US" dirty="0">
                  <a:solidFill>
                    <a:srgbClr val="FF0000"/>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6552220" y="5381600"/>
                <a:ext cx="873509" cy="46166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283968" y="5209606"/>
                <a:ext cx="102739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a:rPr>
                        <m:t>𝑋</m:t>
                      </m:r>
                      <m:r>
                        <a:rPr lang="en-US" altLang="zh-CN" b="0" i="1" smtClean="0">
                          <a:solidFill>
                            <a:srgbClr val="FF0000"/>
                          </a:solidFill>
                          <a:latin typeface="Cambria Math"/>
                        </a:rPr>
                        <m:t>+</m:t>
                      </m:r>
                      <m:r>
                        <a:rPr lang="en-US" altLang="zh-CN" b="0" i="1" smtClean="0">
                          <a:solidFill>
                            <a:srgbClr val="FF0000"/>
                          </a:solidFill>
                          <a:latin typeface="Cambria Math"/>
                        </a:rPr>
                        <m:t>𝑌</m:t>
                      </m:r>
                    </m:oMath>
                  </m:oMathPara>
                </a14:m>
                <a:endParaRPr lang="zh-CN" altLang="en-US" dirty="0">
                  <a:solidFill>
                    <a:srgbClr val="FF000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4283968" y="5209606"/>
                <a:ext cx="1027397" cy="461665"/>
              </a:xfrm>
              <a:prstGeom prst="rect">
                <a:avLst/>
              </a:prstGeom>
              <a:blipFill rotWithShape="1">
                <a:blip r:embed="rId4"/>
                <a:stretch>
                  <a:fillRect/>
                </a:stretch>
              </a:blipFill>
            </p:spPr>
            <p:txBody>
              <a:bodyPr/>
              <a:lstStyle/>
              <a:p>
                <a:r>
                  <a:rPr lang="zh-CN" altLang="en-US">
                    <a:noFill/>
                  </a:rPr>
                  <a:t> </a:t>
                </a:r>
              </a:p>
            </p:txBody>
          </p:sp>
        </mc:Fallback>
      </mc:AlternateContent>
      <p:cxnSp>
        <p:nvCxnSpPr>
          <p:cNvPr id="22" name="直接箭头连接符 21">
            <a:extLst>
              <a:ext uri="{FF2B5EF4-FFF2-40B4-BE49-F238E27FC236}">
                <a16:creationId xmlns:a16="http://schemas.microsoft.com/office/drawing/2014/main" id="{08540161-514D-4B41-AD10-8C45A01524FF}"/>
              </a:ext>
            </a:extLst>
          </p:cNvPr>
          <p:cNvCxnSpPr>
            <a:cxnSpLocks/>
          </p:cNvCxnSpPr>
          <p:nvPr/>
        </p:nvCxnSpPr>
        <p:spPr>
          <a:xfrm flipH="1" flipV="1">
            <a:off x="5866377" y="4714401"/>
            <a:ext cx="433815" cy="113325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0">
                <a:extLst>
                  <a:ext uri="{FF2B5EF4-FFF2-40B4-BE49-F238E27FC236}">
                    <a16:creationId xmlns:a16="http://schemas.microsoft.com/office/drawing/2014/main" id="{CB840EBF-CF15-4BE0-9ECB-587CCEA7F146}"/>
                  </a:ext>
                </a:extLst>
              </p:cNvPr>
              <p:cNvSpPr txBox="1"/>
              <p:nvPr/>
            </p:nvSpPr>
            <p:spPr>
              <a:xfrm>
                <a:off x="5886006" y="5851430"/>
                <a:ext cx="110434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a:rPr>
                        <m:t>𝑋</m:t>
                      </m:r>
                      <m:r>
                        <a:rPr lang="en-US" altLang="zh-CN" b="0" i="1" smtClean="0">
                          <a:solidFill>
                            <a:srgbClr val="FF0000"/>
                          </a:solidFill>
                          <a:latin typeface="Cambria Math"/>
                        </a:rPr>
                        <m:t>⊕</m:t>
                      </m:r>
                      <m:r>
                        <a:rPr lang="en-US" altLang="zh-CN" b="0" i="1" smtClean="0">
                          <a:solidFill>
                            <a:srgbClr val="FF0000"/>
                          </a:solidFill>
                          <a:latin typeface="Cambria Math"/>
                        </a:rPr>
                        <m:t>𝑌</m:t>
                      </m:r>
                    </m:oMath>
                  </m:oMathPara>
                </a14:m>
                <a:endParaRPr lang="zh-CN" altLang="en-US" dirty="0">
                  <a:solidFill>
                    <a:srgbClr val="FF0000"/>
                  </a:solidFill>
                </a:endParaRPr>
              </a:p>
            </p:txBody>
          </p:sp>
        </mc:Choice>
        <mc:Fallback xmlns="">
          <p:sp>
            <p:nvSpPr>
              <p:cNvPr id="23" name="TextBox 20">
                <a:extLst>
                  <a:ext uri="{FF2B5EF4-FFF2-40B4-BE49-F238E27FC236}">
                    <a16:creationId xmlns:a16="http://schemas.microsoft.com/office/drawing/2014/main" id="{CB840EBF-CF15-4BE0-9ECB-587CCEA7F146}"/>
                  </a:ext>
                </a:extLst>
              </p:cNvPr>
              <p:cNvSpPr txBox="1">
                <a:spLocks noRot="1" noChangeAspect="1" noMove="1" noResize="1" noEditPoints="1" noAdjustHandles="1" noChangeArrowheads="1" noChangeShapeType="1" noTextEdit="1"/>
              </p:cNvSpPr>
              <p:nvPr/>
            </p:nvSpPr>
            <p:spPr>
              <a:xfrm>
                <a:off x="5886006" y="5851430"/>
                <a:ext cx="1104341" cy="461665"/>
              </a:xfrm>
              <a:prstGeom prst="rect">
                <a:avLst/>
              </a:prstGeom>
              <a:blipFill>
                <a:blip r:embed="rId5"/>
                <a:stretch>
                  <a:fillRect b="-105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977727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99421B0B-8DDC-41EB-BF70-71280E5A2F8D}" type="slidenum">
              <a:rPr lang="en-US" altLang="zh-CN"/>
              <a:pPr/>
              <a:t>49</a:t>
            </a:fld>
            <a:endParaRPr lang="en-US" altLang="zh-CN" dirty="0"/>
          </a:p>
        </p:txBody>
      </p:sp>
      <p:pic>
        <p:nvPicPr>
          <p:cNvPr id="392194" name="Picture 2" descr="4-54"/>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803"/>
          <a:stretch/>
        </p:blipFill>
        <p:spPr>
          <a:xfrm>
            <a:off x="899592" y="193040"/>
            <a:ext cx="7489825" cy="61162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2195" name="Text Box 3"/>
          <p:cNvSpPr txBox="1">
            <a:spLocks noChangeArrowheads="1"/>
          </p:cNvSpPr>
          <p:nvPr/>
        </p:nvSpPr>
        <p:spPr bwMode="auto">
          <a:xfrm>
            <a:off x="1116013" y="6309320"/>
            <a:ext cx="576024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等线" panose="02010600030101010101" pitchFamily="2" charset="-122"/>
                <a:ea typeface="等线" panose="02010600030101010101" pitchFamily="2" charset="-122"/>
              </a:rPr>
              <a:t>電路</a:t>
            </a:r>
            <a:r>
              <a:rPr lang="en-US" altLang="zh-CN" sz="2400" b="1" dirty="0">
                <a:latin typeface="等线" panose="02010600030101010101" pitchFamily="2" charset="-122"/>
                <a:ea typeface="等线" panose="02010600030101010101" pitchFamily="2" charset="-122"/>
              </a:rPr>
              <a:t>1: </a:t>
            </a:r>
            <a:r>
              <a:rPr lang="zh-CN" altLang="en-US" sz="2400" b="1" dirty="0">
                <a:latin typeface="等线" panose="02010600030101010101" pitchFamily="2" charset="-122"/>
                <a:ea typeface="等线" panose="02010600030101010101" pitchFamily="2" charset="-122"/>
              </a:rPr>
              <a:t>功能控制加在進位門和半加器</a:t>
            </a:r>
          </a:p>
        </p:txBody>
      </p:sp>
      <p:sp>
        <p:nvSpPr>
          <p:cNvPr id="2" name="TextBox 1"/>
          <p:cNvSpPr txBox="1"/>
          <p:nvPr/>
        </p:nvSpPr>
        <p:spPr>
          <a:xfrm>
            <a:off x="3347864" y="5805264"/>
            <a:ext cx="556563" cy="276999"/>
          </a:xfrm>
          <a:prstGeom prst="rect">
            <a:avLst/>
          </a:prstGeom>
          <a:solidFill>
            <a:schemeClr val="bg1"/>
          </a:solidFill>
        </p:spPr>
        <p:txBody>
          <a:bodyPr wrap="none" rtlCol="0">
            <a:spAutoFit/>
          </a:bodyPr>
          <a:lstStyle/>
          <a:p>
            <a:r>
              <a:rPr lang="en-US" altLang="zh-CN" sz="1200" b="1" dirty="0">
                <a:latin typeface="Courier New" pitchFamily="49" charset="0"/>
                <a:cs typeface="Courier New" pitchFamily="49" charset="0"/>
              </a:rPr>
              <a:t>4-57</a:t>
            </a:r>
            <a:endParaRPr lang="zh-CN" altLang="en-US" sz="1200" b="1" dirty="0">
              <a:latin typeface="Courier New" pitchFamily="49" charset="0"/>
              <a:cs typeface="Courier New" pitchFamily="49" charset="0"/>
            </a:endParaRPr>
          </a:p>
        </p:txBody>
      </p:sp>
      <p:sp>
        <p:nvSpPr>
          <p:cNvPr id="3" name="TextBox 2"/>
          <p:cNvSpPr txBox="1"/>
          <p:nvPr/>
        </p:nvSpPr>
        <p:spPr>
          <a:xfrm>
            <a:off x="1907704" y="3378478"/>
            <a:ext cx="287258" cy="338554"/>
          </a:xfrm>
          <a:prstGeom prst="rect">
            <a:avLst/>
          </a:prstGeom>
          <a:noFill/>
        </p:spPr>
        <p:txBody>
          <a:bodyPr wrap="none" rtlCol="0">
            <a:spAutoFit/>
          </a:bodyPr>
          <a:lstStyle/>
          <a:p>
            <a:r>
              <a:rPr lang="en-US" altLang="zh-CN" sz="1600" b="1" dirty="0">
                <a:solidFill>
                  <a:srgbClr val="FF0000"/>
                </a:solidFill>
              </a:rPr>
              <a:t>0</a:t>
            </a:r>
            <a:endParaRPr lang="zh-CN" altLang="en-US" b="1" dirty="0">
              <a:solidFill>
                <a:srgbClr val="FF0000"/>
              </a:solidFill>
            </a:endParaRPr>
          </a:p>
        </p:txBody>
      </p:sp>
      <p:sp>
        <p:nvSpPr>
          <p:cNvPr id="8" name="TextBox 7"/>
          <p:cNvSpPr txBox="1"/>
          <p:nvPr/>
        </p:nvSpPr>
        <p:spPr>
          <a:xfrm>
            <a:off x="2123728" y="3284984"/>
            <a:ext cx="287258" cy="338554"/>
          </a:xfrm>
          <a:prstGeom prst="rect">
            <a:avLst/>
          </a:prstGeom>
          <a:noFill/>
        </p:spPr>
        <p:txBody>
          <a:bodyPr wrap="none" rtlCol="0">
            <a:spAutoFit/>
          </a:bodyPr>
          <a:lstStyle/>
          <a:p>
            <a:r>
              <a:rPr lang="en-US" altLang="zh-CN" sz="1600" b="1" dirty="0">
                <a:solidFill>
                  <a:srgbClr val="FF0000"/>
                </a:solidFill>
              </a:rPr>
              <a:t>0</a:t>
            </a:r>
            <a:endParaRPr lang="zh-CN" altLang="en-US" b="1" dirty="0">
              <a:solidFill>
                <a:srgbClr val="FF0000"/>
              </a:solidFill>
            </a:endParaRPr>
          </a:p>
        </p:txBody>
      </p:sp>
      <p:sp>
        <p:nvSpPr>
          <p:cNvPr id="9" name="TextBox 8"/>
          <p:cNvSpPr txBox="1"/>
          <p:nvPr/>
        </p:nvSpPr>
        <p:spPr>
          <a:xfrm>
            <a:off x="5076830" y="4314582"/>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0" name="TextBox 9"/>
          <p:cNvSpPr txBox="1"/>
          <p:nvPr/>
        </p:nvSpPr>
        <p:spPr>
          <a:xfrm>
            <a:off x="2988598" y="4314582"/>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1" name="TextBox 10"/>
          <p:cNvSpPr txBox="1"/>
          <p:nvPr/>
        </p:nvSpPr>
        <p:spPr>
          <a:xfrm>
            <a:off x="3851920" y="4314582"/>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2" name="TextBox 11"/>
          <p:cNvSpPr txBox="1"/>
          <p:nvPr/>
        </p:nvSpPr>
        <p:spPr>
          <a:xfrm>
            <a:off x="1907704" y="4314582"/>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3" name="TextBox 12"/>
          <p:cNvSpPr txBox="1"/>
          <p:nvPr/>
        </p:nvSpPr>
        <p:spPr>
          <a:xfrm>
            <a:off x="1907704" y="3789040"/>
            <a:ext cx="287258" cy="338554"/>
          </a:xfrm>
          <a:prstGeom prst="rect">
            <a:avLst/>
          </a:prstGeom>
          <a:noFill/>
        </p:spPr>
        <p:txBody>
          <a:bodyPr wrap="none" rtlCol="0">
            <a:spAutoFit/>
          </a:bodyPr>
          <a:lstStyle/>
          <a:p>
            <a:r>
              <a:rPr lang="en-US" altLang="zh-CN" sz="1600" b="1" dirty="0">
                <a:solidFill>
                  <a:srgbClr val="FF0000"/>
                </a:solidFill>
              </a:rPr>
              <a:t>0</a:t>
            </a:r>
            <a:endParaRPr lang="zh-CN" altLang="en-US" b="1" dirty="0">
              <a:solidFill>
                <a:srgbClr val="FF0000"/>
              </a:solidFill>
            </a:endParaRPr>
          </a:p>
        </p:txBody>
      </p:sp>
      <p:sp>
        <p:nvSpPr>
          <p:cNvPr id="14" name="TextBox 13"/>
          <p:cNvSpPr txBox="1"/>
          <p:nvPr/>
        </p:nvSpPr>
        <p:spPr>
          <a:xfrm>
            <a:off x="1085997" y="2852936"/>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sp>
        <p:nvSpPr>
          <p:cNvPr id="15" name="TextBox 14"/>
          <p:cNvSpPr txBox="1"/>
          <p:nvPr/>
        </p:nvSpPr>
        <p:spPr>
          <a:xfrm>
            <a:off x="1112061" y="3810296"/>
            <a:ext cx="287258" cy="338554"/>
          </a:xfrm>
          <a:prstGeom prst="rect">
            <a:avLst/>
          </a:prstGeom>
          <a:noFill/>
        </p:spPr>
        <p:txBody>
          <a:bodyPr wrap="none" rtlCol="0">
            <a:spAutoFit/>
          </a:bodyPr>
          <a:lstStyle/>
          <a:p>
            <a:r>
              <a:rPr lang="en-US" altLang="zh-CN" sz="1600" b="1" dirty="0">
                <a:solidFill>
                  <a:srgbClr val="FF0000"/>
                </a:solidFill>
              </a:rPr>
              <a:t>1</a:t>
            </a:r>
            <a:endParaRPr lang="zh-CN" altLang="en-US" b="1" dirty="0">
              <a:solidFill>
                <a:srgbClr val="FF0000"/>
              </a:solidFill>
            </a:endParaRPr>
          </a:p>
        </p:txBody>
      </p:sp>
      <p:cxnSp>
        <p:nvCxnSpPr>
          <p:cNvPr id="16" name="直接箭头连接符 15"/>
          <p:cNvCxnSpPr/>
          <p:nvPr/>
        </p:nvCxnSpPr>
        <p:spPr>
          <a:xfrm flipH="1" flipV="1">
            <a:off x="6228184" y="4314582"/>
            <a:ext cx="648073" cy="106701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6552220" y="5381600"/>
                <a:ext cx="8735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solidFill>
                                <a:srgbClr val="FF0000"/>
                              </a:solidFill>
                              <a:latin typeface="Cambria Math" panose="02040503050406030204" pitchFamily="18" charset="0"/>
                            </a:rPr>
                          </m:ctrlPr>
                        </m:accPr>
                        <m:e>
                          <m:r>
                            <a:rPr lang="en-US" altLang="zh-CN" b="0" i="1" smtClean="0">
                              <a:solidFill>
                                <a:srgbClr val="FF0000"/>
                              </a:solidFill>
                              <a:latin typeface="Cambria Math"/>
                            </a:rPr>
                            <m:t>𝑋</m:t>
                          </m:r>
                          <m:r>
                            <a:rPr lang="en-US" altLang="zh-CN" b="0" i="1" smtClean="0">
                              <a:solidFill>
                                <a:srgbClr val="FF0000"/>
                              </a:solidFill>
                              <a:latin typeface="Cambria Math"/>
                              <a:ea typeface="Cambria Math"/>
                            </a:rPr>
                            <m:t>∙</m:t>
                          </m:r>
                          <m:r>
                            <a:rPr lang="en-US" altLang="zh-CN" b="0" i="1" smtClean="0">
                              <a:solidFill>
                                <a:srgbClr val="FF0000"/>
                              </a:solidFill>
                              <a:latin typeface="Cambria Math"/>
                            </a:rPr>
                            <m:t>𝑌</m:t>
                          </m:r>
                        </m:e>
                      </m:acc>
                    </m:oMath>
                  </m:oMathPara>
                </a14:m>
                <a:endParaRPr lang="zh-CN" altLang="en-US" dirty="0">
                  <a:solidFill>
                    <a:srgbClr val="FF0000"/>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6552220" y="5381600"/>
                <a:ext cx="873509" cy="461665"/>
              </a:xfrm>
              <a:prstGeom prst="rect">
                <a:avLst/>
              </a:prstGeom>
              <a:blipFill rotWithShape="1">
                <a:blip r:embed="rId3"/>
                <a:stretch>
                  <a:fillRect/>
                </a:stretch>
              </a:blipFill>
            </p:spPr>
            <p:txBody>
              <a:bodyPr/>
              <a:lstStyle/>
              <a:p>
                <a:r>
                  <a:rPr lang="zh-CN" altLang="en-US">
                    <a:noFill/>
                  </a:rPr>
                  <a:t> </a:t>
                </a:r>
              </a:p>
            </p:txBody>
          </p:sp>
        </mc:Fallback>
      </mc:AlternateContent>
      <p:cxnSp>
        <p:nvCxnSpPr>
          <p:cNvPr id="18" name="直接箭头连接符 17"/>
          <p:cNvCxnSpPr/>
          <p:nvPr/>
        </p:nvCxnSpPr>
        <p:spPr>
          <a:xfrm flipH="1" flipV="1">
            <a:off x="5473082" y="5078923"/>
            <a:ext cx="324035" cy="30267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p:cNvSpPr txBox="1"/>
              <p:nvPr/>
            </p:nvSpPr>
            <p:spPr>
              <a:xfrm>
                <a:off x="5364088" y="5301208"/>
                <a:ext cx="87350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a:solidFill>
                            <a:srgbClr val="FF0000"/>
                          </a:solidFill>
                          <a:latin typeface="Cambria Math"/>
                        </a:rPr>
                        <m:t>𝑋</m:t>
                      </m:r>
                      <m:r>
                        <a:rPr lang="en-US" altLang="zh-CN" i="1">
                          <a:solidFill>
                            <a:srgbClr val="FF0000"/>
                          </a:solidFill>
                          <a:latin typeface="Cambria Math"/>
                          <a:ea typeface="Cambria Math"/>
                        </a:rPr>
                        <m:t>∙</m:t>
                      </m:r>
                      <m:r>
                        <a:rPr lang="en-US" altLang="zh-CN" i="1">
                          <a:solidFill>
                            <a:srgbClr val="FF0000"/>
                          </a:solidFill>
                          <a:latin typeface="Cambria Math"/>
                        </a:rPr>
                        <m:t>𝑌</m:t>
                      </m:r>
                    </m:oMath>
                  </m:oMathPara>
                </a14:m>
                <a:endParaRPr lang="zh-CN" altLang="en-US" dirty="0">
                  <a:solidFill>
                    <a:srgbClr val="FF0000"/>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5364088" y="5301208"/>
                <a:ext cx="873509" cy="461665"/>
              </a:xfrm>
              <a:prstGeom prst="rect">
                <a:avLst/>
              </a:prstGeom>
              <a:blipFill rotWithShape="1">
                <a:blip r:embed="rId4"/>
                <a:stretch>
                  <a:fillRect/>
                </a:stretch>
              </a:blipFill>
            </p:spPr>
            <p:txBody>
              <a:bodyPr/>
              <a:lstStyle/>
              <a:p>
                <a:r>
                  <a:rPr lang="zh-CN" altLang="en-US">
                    <a:noFill/>
                  </a:rPr>
                  <a:t> </a:t>
                </a:r>
              </a:p>
            </p:txBody>
          </p:sp>
        </mc:Fallback>
      </mc:AlternateContent>
      <p:cxnSp>
        <p:nvCxnSpPr>
          <p:cNvPr id="20" name="直接箭头连接符 19"/>
          <p:cNvCxnSpPr/>
          <p:nvPr/>
        </p:nvCxnSpPr>
        <p:spPr>
          <a:xfrm flipH="1" flipV="1">
            <a:off x="6084168" y="4653136"/>
            <a:ext cx="792088" cy="72846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13138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B9693729-5FE7-49D6-A057-A7F1C292065D}" type="slidenum">
              <a:rPr lang="en-US" altLang="zh-CN"/>
              <a:pPr/>
              <a:t>50</a:t>
            </a:fld>
            <a:endParaRPr lang="en-US" altLang="zh-CN" dirty="0"/>
          </a:p>
        </p:txBody>
      </p:sp>
      <p:sp>
        <p:nvSpPr>
          <p:cNvPr id="393218" name="Rectangle 2"/>
          <p:cNvSpPr>
            <a:spLocks noGrp="1" noChangeArrowheads="1"/>
          </p:cNvSpPr>
          <p:nvPr>
            <p:ph type="title"/>
          </p:nvPr>
        </p:nvSpPr>
        <p:spPr>
          <a:xfrm>
            <a:off x="457200" y="304800"/>
            <a:ext cx="8534400" cy="609600"/>
          </a:xfrm>
        </p:spPr>
        <p:txBody>
          <a:bodyPr>
            <a:normAutofit fontScale="90000"/>
          </a:bodyPr>
          <a:lstStyle/>
          <a:p>
            <a:r>
              <a:rPr lang="en-US" altLang="zh-CN" sz="3600" dirty="0"/>
              <a:t>3.3.7   </a:t>
            </a:r>
            <a:r>
              <a:rPr lang="zh-CN" altLang="en-US" sz="3600" dirty="0"/>
              <a:t>運算器</a:t>
            </a:r>
            <a:r>
              <a:rPr lang="en-US" altLang="zh-CN" sz="3600" dirty="0"/>
              <a:t>(39)</a:t>
            </a:r>
          </a:p>
        </p:txBody>
      </p:sp>
      <p:sp>
        <p:nvSpPr>
          <p:cNvPr id="393219" name="Rectangle 3"/>
          <p:cNvSpPr>
            <a:spLocks noGrp="1" noChangeArrowheads="1"/>
          </p:cNvSpPr>
          <p:nvPr>
            <p:ph type="body" idx="1"/>
          </p:nvPr>
        </p:nvSpPr>
        <p:spPr/>
        <p:txBody>
          <a:bodyPr/>
          <a:lstStyle/>
          <a:p>
            <a:r>
              <a:rPr lang="zh-CN" altLang="en-US" dirty="0"/>
              <a:t>方法</a:t>
            </a:r>
            <a:r>
              <a:rPr lang="en-US" altLang="zh-CN" dirty="0"/>
              <a:t>2</a:t>
            </a:r>
            <a:r>
              <a:rPr lang="zh-CN" altLang="en-US" dirty="0"/>
              <a:t>：改變加法器中的</a:t>
            </a:r>
            <a:r>
              <a:rPr lang="en-US" altLang="zh-CN" dirty="0"/>
              <a:t>Gi</a:t>
            </a:r>
            <a:r>
              <a:rPr lang="zh-CN" altLang="en-US" dirty="0"/>
              <a:t>和</a:t>
            </a:r>
            <a:r>
              <a:rPr lang="en-US" altLang="zh-CN" dirty="0"/>
              <a:t>Pi</a:t>
            </a:r>
            <a:r>
              <a:rPr lang="zh-CN" altLang="en-US" dirty="0"/>
              <a:t>來獲得多種運算能力。</a:t>
            </a:r>
          </a:p>
          <a:p>
            <a:pPr lvl="1"/>
            <a:r>
              <a:rPr lang="zh-CN" altLang="en-US" dirty="0"/>
              <a:t>運算種類多、但運算單元結構較複雜。</a:t>
            </a:r>
          </a:p>
          <a:p>
            <a:pPr lvl="1"/>
            <a:r>
              <a:rPr lang="zh-CN" altLang="en-US" dirty="0"/>
              <a:t>圖</a:t>
            </a:r>
            <a:r>
              <a:rPr lang="en-US" altLang="zh-CN" dirty="0"/>
              <a:t>4</a:t>
            </a:r>
            <a:r>
              <a:rPr lang="zh-CN" altLang="en-US" dirty="0"/>
              <a:t>－</a:t>
            </a:r>
            <a:r>
              <a:rPr lang="en-US" altLang="zh-CN" dirty="0"/>
              <a:t>59</a:t>
            </a:r>
            <a:r>
              <a:rPr lang="zh-CN" altLang="en-US" dirty="0"/>
              <a:t>給出了這類集成化</a:t>
            </a:r>
            <a:r>
              <a:rPr lang="en-US" altLang="zh-CN" dirty="0"/>
              <a:t>4</a:t>
            </a:r>
            <a:r>
              <a:rPr lang="zh-CN" altLang="en-US" dirty="0"/>
              <a:t>位元運算單元（簡稱功能發生器）的邏輯圖。</a:t>
            </a:r>
          </a:p>
          <a:p>
            <a:pPr lvl="1"/>
            <a:r>
              <a:rPr lang="zh-CN" altLang="en-US" dirty="0"/>
              <a:t>它能執行</a:t>
            </a:r>
            <a:r>
              <a:rPr lang="en-US" altLang="zh-CN" dirty="0"/>
              <a:t>16</a:t>
            </a:r>
            <a:r>
              <a:rPr lang="zh-CN" altLang="en-US" dirty="0"/>
              <a:t>種算數運算和</a:t>
            </a:r>
            <a:r>
              <a:rPr lang="en-US" altLang="zh-CN" dirty="0"/>
              <a:t>16</a:t>
            </a:r>
            <a:r>
              <a:rPr lang="zh-CN" altLang="en-US" dirty="0"/>
              <a:t>種邏輯運算。</a:t>
            </a:r>
          </a:p>
          <a:p>
            <a:endParaRPr lang="zh-CN" altLang="en-US" b="1" dirty="0"/>
          </a:p>
          <a:p>
            <a:endParaRPr lang="en-US" altLang="zh-CN" dirty="0"/>
          </a:p>
        </p:txBody>
      </p:sp>
    </p:spTree>
    <p:extLst>
      <p:ext uri="{BB962C8B-B14F-4D97-AF65-F5344CB8AC3E}">
        <p14:creationId xmlns:p14="http://schemas.microsoft.com/office/powerpoint/2010/main" val="16532169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5EA5C963-395B-4D4D-B6BB-D4BA0482DA63}" type="slidenum">
              <a:rPr lang="en-US" altLang="zh-CN"/>
              <a:pPr/>
              <a:t>51</a:t>
            </a:fld>
            <a:endParaRPr lang="en-US" altLang="zh-CN" dirty="0"/>
          </a:p>
        </p:txBody>
      </p:sp>
      <p:sp>
        <p:nvSpPr>
          <p:cNvPr id="394242" name="Rectangle 2"/>
          <p:cNvSpPr>
            <a:spLocks noGrp="1" noChangeArrowheads="1"/>
          </p:cNvSpPr>
          <p:nvPr>
            <p:ph type="title"/>
          </p:nvPr>
        </p:nvSpPr>
        <p:spPr>
          <a:xfrm>
            <a:off x="457200" y="304800"/>
            <a:ext cx="8534400" cy="609600"/>
          </a:xfrm>
        </p:spPr>
        <p:txBody>
          <a:bodyPr>
            <a:normAutofit fontScale="90000"/>
          </a:bodyPr>
          <a:lstStyle/>
          <a:p>
            <a:r>
              <a:rPr lang="en-US" altLang="zh-CN" sz="3600" dirty="0"/>
              <a:t>3.3.7   </a:t>
            </a:r>
            <a:r>
              <a:rPr lang="zh-CN" altLang="en-US" sz="3600" dirty="0"/>
              <a:t>運算器</a:t>
            </a:r>
            <a:r>
              <a:rPr lang="en-US" altLang="zh-CN" sz="3600" dirty="0"/>
              <a:t>(40)</a:t>
            </a:r>
          </a:p>
        </p:txBody>
      </p:sp>
      <p:graphicFrame>
        <p:nvGraphicFramePr>
          <p:cNvPr id="394243" name="Object 3"/>
          <p:cNvGraphicFramePr>
            <a:graphicFrameLocks noChangeAspect="1"/>
          </p:cNvGraphicFramePr>
          <p:nvPr/>
        </p:nvGraphicFramePr>
        <p:xfrm>
          <a:off x="914400" y="1981200"/>
          <a:ext cx="7345363" cy="4767263"/>
        </p:xfrm>
        <a:graphic>
          <a:graphicData uri="http://schemas.openxmlformats.org/presentationml/2006/ole">
            <mc:AlternateContent xmlns:mc="http://schemas.openxmlformats.org/markup-compatibility/2006">
              <mc:Choice xmlns:v="urn:schemas-microsoft-com:vml" Requires="v">
                <p:oleObj name="Image" r:id="rId2" imgW="16966531" imgH="11010612" progId="">
                  <p:embed/>
                </p:oleObj>
              </mc:Choice>
              <mc:Fallback>
                <p:oleObj name="Image" r:id="rId2" imgW="16966531" imgH="11010612"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81200"/>
                        <a:ext cx="7345363" cy="476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4244" name="Rectangle 4"/>
          <p:cNvSpPr>
            <a:spLocks noGrp="1" noChangeArrowheads="1"/>
          </p:cNvSpPr>
          <p:nvPr>
            <p:ph type="body" idx="1"/>
          </p:nvPr>
        </p:nvSpPr>
        <p:spPr>
          <a:xfrm>
            <a:off x="533400" y="914400"/>
            <a:ext cx="8467756" cy="1085840"/>
          </a:xfrm>
          <a:noFill/>
          <a:ln/>
        </p:spPr>
        <p:txBody>
          <a:bodyPr/>
          <a:lstStyle/>
          <a:p>
            <a:r>
              <a:rPr lang="en-US" altLang="zh-CN" dirty="0"/>
              <a:t>4</a:t>
            </a:r>
            <a:r>
              <a:rPr lang="zh-CN" altLang="en-US" dirty="0"/>
              <a:t>位</a:t>
            </a:r>
            <a:r>
              <a:rPr lang="en-US" altLang="zh-CN" dirty="0"/>
              <a:t>ALU</a:t>
            </a:r>
            <a:r>
              <a:rPr lang="zh-CN" altLang="en-US" dirty="0"/>
              <a:t>功能表 </a:t>
            </a:r>
            <a:r>
              <a:rPr lang="en-US" altLang="zh-CN" sz="2800" dirty="0"/>
              <a:t>(SN74181)</a:t>
            </a:r>
            <a:endParaRPr lang="en-US" altLang="zh-CN" sz="2000" dirty="0"/>
          </a:p>
          <a:p>
            <a:pPr lvl="1">
              <a:buNone/>
            </a:pPr>
            <a:r>
              <a:rPr lang="en-US" altLang="zh-CN" sz="2000" dirty="0"/>
              <a:t>M</a:t>
            </a:r>
            <a:r>
              <a:rPr lang="zh-CN" altLang="en-US" sz="2000" dirty="0"/>
              <a:t>是狀態控制端，</a:t>
            </a:r>
            <a:r>
              <a:rPr lang="en-US" altLang="zh-CN" sz="2000" dirty="0"/>
              <a:t>M</a:t>
            </a:r>
            <a:r>
              <a:rPr lang="zh-CN" altLang="en-US" sz="2000" dirty="0"/>
              <a:t>＝”</a:t>
            </a:r>
            <a:r>
              <a:rPr lang="en-US" altLang="zh-CN" sz="2000" dirty="0"/>
              <a:t>H”</a:t>
            </a:r>
            <a:r>
              <a:rPr lang="zh-CN" altLang="en-US" sz="2000" dirty="0"/>
              <a:t>，執行邏輯運算，反之，執行算數運算。</a:t>
            </a:r>
          </a:p>
          <a:p>
            <a:endParaRPr lang="zh-CN" altLang="en-US" sz="2400" b="1" dirty="0"/>
          </a:p>
          <a:p>
            <a:endParaRPr lang="en-US" altLang="zh-CN" dirty="0"/>
          </a:p>
        </p:txBody>
      </p:sp>
      <p:sp>
        <p:nvSpPr>
          <p:cNvPr id="2" name="矩形 1"/>
          <p:cNvSpPr/>
          <p:nvPr/>
        </p:nvSpPr>
        <p:spPr>
          <a:xfrm>
            <a:off x="899592" y="5013176"/>
            <a:ext cx="3960440" cy="288032"/>
          </a:xfrm>
          <a:prstGeom prst="rect">
            <a:avLst/>
          </a:prstGeom>
          <a:solidFill>
            <a:srgbClr val="D34817">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939504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94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BD48EA6C-1E74-4184-9C4D-CA337E1904A2}" type="slidenum">
              <a:rPr lang="en-US" altLang="zh-CN"/>
              <a:pPr/>
              <a:t>52</a:t>
            </a:fld>
            <a:endParaRPr lang="en-US" altLang="zh-CN" dirty="0"/>
          </a:p>
        </p:txBody>
      </p:sp>
      <p:graphicFrame>
        <p:nvGraphicFramePr>
          <p:cNvPr id="395266" name="Object 2"/>
          <p:cNvGraphicFramePr>
            <a:graphicFrameLocks noChangeAspect="1"/>
          </p:cNvGraphicFramePr>
          <p:nvPr/>
        </p:nvGraphicFramePr>
        <p:xfrm>
          <a:off x="1219200" y="381000"/>
          <a:ext cx="7367588" cy="5541963"/>
        </p:xfrm>
        <a:graphic>
          <a:graphicData uri="http://schemas.openxmlformats.org/presentationml/2006/ole">
            <mc:AlternateContent xmlns:mc="http://schemas.openxmlformats.org/markup-compatibility/2006">
              <mc:Choice xmlns:v="urn:schemas-microsoft-com:vml" Requires="v">
                <p:oleObj name="Image" r:id="rId2" imgW="14958367" imgH="14625306" progId="">
                  <p:embed/>
                </p:oleObj>
              </mc:Choice>
              <mc:Fallback>
                <p:oleObj name="Image" r:id="rId2" imgW="14958367" imgH="14625306"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81000"/>
                        <a:ext cx="7367588" cy="554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5267" name="Rectangle 3"/>
          <p:cNvSpPr>
            <a:spLocks noChangeArrowheads="1"/>
          </p:cNvSpPr>
          <p:nvPr/>
        </p:nvSpPr>
        <p:spPr bwMode="auto">
          <a:xfrm>
            <a:off x="936227" y="6165850"/>
            <a:ext cx="774022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a:latin typeface="等线" panose="02010600030101010101" pitchFamily="2" charset="-122"/>
                <a:ea typeface="等线" panose="02010600030101010101" pitchFamily="2" charset="-122"/>
              </a:rPr>
              <a:t>電路</a:t>
            </a:r>
            <a:r>
              <a:rPr lang="en-US" altLang="zh-CN" sz="2000" b="1" dirty="0">
                <a:latin typeface="等线" panose="02010600030101010101" pitchFamily="2" charset="-122"/>
                <a:ea typeface="等线" panose="02010600030101010101" pitchFamily="2" charset="-122"/>
              </a:rPr>
              <a:t>2: </a:t>
            </a:r>
            <a:r>
              <a:rPr lang="zh-CN" altLang="en-US" sz="2000" b="1" dirty="0">
                <a:latin typeface="等线" panose="02010600030101010101" pitchFamily="2" charset="-122"/>
                <a:ea typeface="等线" panose="02010600030101010101" pitchFamily="2" charset="-122"/>
              </a:rPr>
              <a:t>功能控制加在輸入端</a:t>
            </a:r>
            <a:r>
              <a:rPr lang="en-US" altLang="zh-CN" sz="2000" b="1" dirty="0">
                <a:latin typeface="等线" panose="02010600030101010101" pitchFamily="2" charset="-122"/>
                <a:ea typeface="等线" panose="02010600030101010101" pitchFamily="2" charset="-122"/>
              </a:rPr>
              <a:t>,</a:t>
            </a:r>
            <a:r>
              <a:rPr lang="zh-CN" altLang="en-US" sz="2000" b="1" dirty="0">
                <a:latin typeface="等线" panose="02010600030101010101" pitchFamily="2" charset="-122"/>
                <a:ea typeface="等线" panose="02010600030101010101" pitchFamily="2" charset="-122"/>
              </a:rPr>
              <a:t>改變進位元產生函數</a:t>
            </a:r>
            <a:r>
              <a:rPr lang="en-US" altLang="zh-CN" sz="2000" b="1" dirty="0">
                <a:latin typeface="等线" panose="02010600030101010101" pitchFamily="2" charset="-122"/>
                <a:ea typeface="等线" panose="02010600030101010101" pitchFamily="2" charset="-122"/>
              </a:rPr>
              <a:t>G</a:t>
            </a:r>
            <a:r>
              <a:rPr lang="en-US" altLang="zh-CN" sz="2000" b="1" baseline="-25000" dirty="0">
                <a:latin typeface="等线" panose="02010600030101010101" pitchFamily="2" charset="-122"/>
                <a:ea typeface="等线" panose="02010600030101010101" pitchFamily="2" charset="-122"/>
              </a:rPr>
              <a:t>i</a:t>
            </a:r>
            <a:r>
              <a:rPr lang="zh-CN" altLang="en-US" sz="2000" b="1" dirty="0">
                <a:latin typeface="等线" panose="02010600030101010101" pitchFamily="2" charset="-122"/>
                <a:ea typeface="等线" panose="02010600030101010101" pitchFamily="2" charset="-122"/>
              </a:rPr>
              <a:t>和進位元傳遞函數</a:t>
            </a:r>
            <a:r>
              <a:rPr lang="en-US" altLang="zh-CN" sz="2000" b="1" dirty="0">
                <a:latin typeface="等线" panose="02010600030101010101" pitchFamily="2" charset="-122"/>
                <a:ea typeface="等线" panose="02010600030101010101" pitchFamily="2" charset="-122"/>
              </a:rPr>
              <a:t>P</a:t>
            </a:r>
            <a:r>
              <a:rPr lang="en-US" altLang="zh-CN" sz="2000" b="1" baseline="-25000" dirty="0">
                <a:latin typeface="等线" panose="02010600030101010101" pitchFamily="2" charset="-122"/>
                <a:ea typeface="等线" panose="02010600030101010101" pitchFamily="2" charset="-122"/>
              </a:rPr>
              <a:t>i</a:t>
            </a:r>
          </a:p>
        </p:txBody>
      </p:sp>
      <p:sp>
        <p:nvSpPr>
          <p:cNvPr id="395268" name="Text Box 4"/>
          <p:cNvSpPr txBox="1">
            <a:spLocks noChangeArrowheads="1"/>
          </p:cNvSpPr>
          <p:nvPr/>
        </p:nvSpPr>
        <p:spPr bwMode="auto">
          <a:xfrm>
            <a:off x="357158" y="4714884"/>
            <a:ext cx="104298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t>74181</a:t>
            </a:r>
          </a:p>
          <a:p>
            <a:pPr>
              <a:spcBef>
                <a:spcPct val="50000"/>
              </a:spcBef>
            </a:pPr>
            <a:r>
              <a:rPr lang="en-US" altLang="zh-CN" b="1" dirty="0"/>
              <a:t>P141</a:t>
            </a:r>
          </a:p>
        </p:txBody>
      </p:sp>
    </p:spTree>
    <p:extLst>
      <p:ext uri="{BB962C8B-B14F-4D97-AF65-F5344CB8AC3E}">
        <p14:creationId xmlns:p14="http://schemas.microsoft.com/office/powerpoint/2010/main" val="8566221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B7761CD4-B6AB-4C1C-A5A4-96D50558A708}" type="slidenum">
              <a:rPr lang="en-US" altLang="zh-CN"/>
              <a:pPr/>
              <a:t>53</a:t>
            </a:fld>
            <a:endParaRPr lang="en-US" altLang="zh-CN" dirty="0"/>
          </a:p>
        </p:txBody>
      </p:sp>
      <p:sp>
        <p:nvSpPr>
          <p:cNvPr id="396290" name="Rectangle 2"/>
          <p:cNvSpPr>
            <a:spLocks noGrp="1" noChangeArrowheads="1"/>
          </p:cNvSpPr>
          <p:nvPr>
            <p:ph type="title"/>
          </p:nvPr>
        </p:nvSpPr>
        <p:spPr>
          <a:xfrm>
            <a:off x="914400" y="413792"/>
            <a:ext cx="7772400" cy="1143000"/>
          </a:xfrm>
        </p:spPr>
        <p:txBody>
          <a:bodyPr/>
          <a:lstStyle/>
          <a:p>
            <a:r>
              <a:rPr lang="en-US" altLang="zh-CN" dirty="0"/>
              <a:t>4</a:t>
            </a:r>
            <a:r>
              <a:rPr lang="zh-CN" altLang="en-US" dirty="0"/>
              <a:t>位</a:t>
            </a:r>
            <a:r>
              <a:rPr lang="en-US" altLang="zh-CN" dirty="0"/>
              <a:t>ALU   </a:t>
            </a:r>
            <a:r>
              <a:rPr lang="en-US" altLang="zh-CN" sz="2800" dirty="0"/>
              <a:t>(SN74181)</a:t>
            </a:r>
          </a:p>
        </p:txBody>
      </p:sp>
      <p:graphicFrame>
        <p:nvGraphicFramePr>
          <p:cNvPr id="396291" name="Object 3"/>
          <p:cNvGraphicFramePr>
            <a:graphicFrameLocks noChangeAspect="1"/>
          </p:cNvGraphicFramePr>
          <p:nvPr/>
        </p:nvGraphicFramePr>
        <p:xfrm>
          <a:off x="1187450" y="1557338"/>
          <a:ext cx="7200900" cy="5113337"/>
        </p:xfrm>
        <a:graphic>
          <a:graphicData uri="http://schemas.openxmlformats.org/presentationml/2006/ole">
            <mc:AlternateContent xmlns:mc="http://schemas.openxmlformats.org/markup-compatibility/2006">
              <mc:Choice xmlns:v="urn:schemas-microsoft-com:vml" Requires="v">
                <p:oleObj name="Image" r:id="rId2" imgW="14958367" imgH="12313469" progId="">
                  <p:embed/>
                </p:oleObj>
              </mc:Choice>
              <mc:Fallback>
                <p:oleObj name="Image" r:id="rId2" imgW="14958367" imgH="12313469"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557338"/>
                        <a:ext cx="7200900" cy="5113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6292" name="Text Box 4"/>
          <p:cNvSpPr txBox="1">
            <a:spLocks noChangeArrowheads="1"/>
          </p:cNvSpPr>
          <p:nvPr/>
        </p:nvSpPr>
        <p:spPr bwMode="auto">
          <a:xfrm>
            <a:off x="319485" y="2565400"/>
            <a:ext cx="615553" cy="309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2800" b="1" dirty="0">
                <a:latin typeface="等线" panose="02010600030101010101" pitchFamily="2" charset="-122"/>
                <a:ea typeface="等线" panose="02010600030101010101" pitchFamily="2" charset="-122"/>
              </a:rPr>
              <a:t>簡化邏輯圖</a:t>
            </a:r>
          </a:p>
        </p:txBody>
      </p:sp>
      <p:sp>
        <p:nvSpPr>
          <p:cNvPr id="2" name="矩形 1"/>
          <p:cNvSpPr/>
          <p:nvPr/>
        </p:nvSpPr>
        <p:spPr>
          <a:xfrm>
            <a:off x="6084168" y="1038162"/>
            <a:ext cx="2961067" cy="461665"/>
          </a:xfrm>
          <a:prstGeom prst="rect">
            <a:avLst/>
          </a:prstGeom>
        </p:spPr>
        <p:txBody>
          <a:bodyPr wrap="none">
            <a:spAutoFit/>
          </a:bodyPr>
          <a:lstStyle/>
          <a:p>
            <a:r>
              <a:rPr lang="zh-CN" altLang="en-US" b="1" dirty="0">
                <a:latin typeface="等线" panose="02010600030101010101" pitchFamily="2" charset="-122"/>
                <a:ea typeface="等线" panose="02010600030101010101" pitchFamily="2" charset="-122"/>
              </a:rPr>
              <a:t>（控制端＝ </a:t>
            </a:r>
            <a:r>
              <a:rPr lang="en-US" altLang="zh-CN" b="1" dirty="0">
                <a:latin typeface="等线" panose="02010600030101010101" pitchFamily="2" charset="-122"/>
                <a:ea typeface="等线" panose="02010600030101010101" pitchFamily="2" charset="-122"/>
              </a:rPr>
              <a:t>HLLH</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 </a:t>
            </a:r>
            <a:endParaRPr lang="zh-CN" altLang="en-US" dirty="0"/>
          </a:p>
        </p:txBody>
      </p:sp>
      <p:sp>
        <p:nvSpPr>
          <p:cNvPr id="8" name="Rectangle 2">
            <a:extLst>
              <a:ext uri="{FF2B5EF4-FFF2-40B4-BE49-F238E27FC236}">
                <a16:creationId xmlns:a16="http://schemas.microsoft.com/office/drawing/2014/main" id="{5F45F625-D03C-421C-8A9C-FA58D08EBFF5}"/>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(41)</a:t>
            </a:r>
          </a:p>
        </p:txBody>
      </p:sp>
    </p:spTree>
    <p:extLst>
      <p:ext uri="{BB962C8B-B14F-4D97-AF65-F5344CB8AC3E}">
        <p14:creationId xmlns:p14="http://schemas.microsoft.com/office/powerpoint/2010/main" val="18123370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629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396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2"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5"/>
          <p:cNvSpPr>
            <a:spLocks noGrp="1"/>
          </p:cNvSpPr>
          <p:nvPr>
            <p:ph type="sldNum" sz="quarter" idx="12"/>
          </p:nvPr>
        </p:nvSpPr>
        <p:spPr/>
        <p:txBody>
          <a:bodyPr/>
          <a:lstStyle/>
          <a:p>
            <a:fld id="{58B3E0A2-BFB6-4C96-AF1A-16F998187ADD}" type="slidenum">
              <a:rPr lang="en-US" altLang="zh-CN"/>
              <a:pPr/>
              <a:t>54</a:t>
            </a:fld>
            <a:endParaRPr lang="en-US" altLang="zh-CN" dirty="0"/>
          </a:p>
        </p:txBody>
      </p:sp>
      <p:sp>
        <p:nvSpPr>
          <p:cNvPr id="397314" name="Rectangle 2"/>
          <p:cNvSpPr>
            <a:spLocks noGrp="1" noChangeArrowheads="1"/>
          </p:cNvSpPr>
          <p:nvPr>
            <p:ph type="title"/>
          </p:nvPr>
        </p:nvSpPr>
        <p:spPr>
          <a:xfrm>
            <a:off x="914400" y="485800"/>
            <a:ext cx="7772400" cy="1143000"/>
          </a:xfrm>
        </p:spPr>
        <p:txBody>
          <a:bodyPr/>
          <a:lstStyle/>
          <a:p>
            <a:r>
              <a:rPr lang="en-US" altLang="zh-CN" dirty="0"/>
              <a:t>4</a:t>
            </a:r>
            <a:r>
              <a:rPr lang="zh-CN" altLang="en-US" dirty="0"/>
              <a:t>位</a:t>
            </a:r>
            <a:r>
              <a:rPr lang="en-US" altLang="zh-CN" dirty="0"/>
              <a:t>ALU</a:t>
            </a:r>
            <a:r>
              <a:rPr lang="zh-CN" altLang="en-US" dirty="0"/>
              <a:t>功能</a:t>
            </a:r>
          </a:p>
        </p:txBody>
      </p:sp>
      <p:sp>
        <p:nvSpPr>
          <p:cNvPr id="397315" name="Rectangle 3"/>
          <p:cNvSpPr>
            <a:spLocks noChangeArrowheads="1"/>
          </p:cNvSpPr>
          <p:nvPr/>
        </p:nvSpPr>
        <p:spPr bwMode="auto">
          <a:xfrm>
            <a:off x="971550" y="1871663"/>
            <a:ext cx="45291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b="1" dirty="0">
                <a:latin typeface="等线" panose="02010600030101010101" pitchFamily="2" charset="-122"/>
                <a:ea typeface="等线" panose="02010600030101010101" pitchFamily="2" charset="-122"/>
              </a:rPr>
              <a:t>1</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M=L  </a:t>
            </a:r>
            <a:r>
              <a:rPr lang="zh-CN" altLang="en-US" sz="2400" b="1" dirty="0">
                <a:latin typeface="等线" panose="02010600030101010101" pitchFamily="2" charset="-122"/>
                <a:ea typeface="等线" panose="02010600030101010101" pitchFamily="2" charset="-122"/>
              </a:rPr>
              <a:t>（控制端＝ </a:t>
            </a:r>
            <a:r>
              <a:rPr lang="en-US" altLang="zh-CN" sz="2400" b="1" dirty="0">
                <a:latin typeface="等线" panose="02010600030101010101" pitchFamily="2" charset="-122"/>
                <a:ea typeface="等线" panose="02010600030101010101" pitchFamily="2" charset="-122"/>
              </a:rPr>
              <a:t>HLLH</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 </a:t>
            </a:r>
          </a:p>
        </p:txBody>
      </p:sp>
      <p:sp>
        <p:nvSpPr>
          <p:cNvPr id="397316" name="Rectangle 4"/>
          <p:cNvSpPr>
            <a:spLocks noChangeArrowheads="1"/>
          </p:cNvSpPr>
          <p:nvPr/>
        </p:nvSpPr>
        <p:spPr bwMode="auto">
          <a:xfrm>
            <a:off x="1403350" y="2414146"/>
            <a:ext cx="15263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13</a:t>
            </a:r>
            <a:r>
              <a:rPr lang="zh-CN" altLang="en-US" sz="2400" b="1" dirty="0">
                <a:latin typeface="等线" panose="02010600030101010101" pitchFamily="2" charset="-122"/>
                <a:ea typeface="等线" panose="02010600030101010101" pitchFamily="2" charset="-122"/>
              </a:rPr>
              <a:t>輸出 </a:t>
            </a:r>
          </a:p>
        </p:txBody>
      </p:sp>
      <p:sp>
        <p:nvSpPr>
          <p:cNvPr id="397317" name="Rectangle 5"/>
          <p:cNvSpPr>
            <a:spLocks noChangeArrowheads="1"/>
          </p:cNvSpPr>
          <p:nvPr/>
        </p:nvSpPr>
        <p:spPr bwMode="auto">
          <a:xfrm>
            <a:off x="1403350" y="2893571"/>
            <a:ext cx="15263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14</a:t>
            </a:r>
            <a:r>
              <a:rPr lang="zh-CN" altLang="en-US" sz="2400" b="1" dirty="0">
                <a:latin typeface="等线" panose="02010600030101010101" pitchFamily="2" charset="-122"/>
                <a:ea typeface="等线" panose="02010600030101010101" pitchFamily="2" charset="-122"/>
              </a:rPr>
              <a:t>輸出 </a:t>
            </a:r>
          </a:p>
        </p:txBody>
      </p:sp>
      <p:sp>
        <p:nvSpPr>
          <p:cNvPr id="397318" name="Rectangle 6"/>
          <p:cNvSpPr>
            <a:spLocks noChangeArrowheads="1"/>
          </p:cNvSpPr>
          <p:nvPr/>
        </p:nvSpPr>
        <p:spPr bwMode="auto">
          <a:xfrm>
            <a:off x="1403350" y="3350771"/>
            <a:ext cx="15263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15</a:t>
            </a:r>
            <a:r>
              <a:rPr lang="zh-CN" altLang="en-US" sz="2400" b="1" dirty="0">
                <a:latin typeface="等线" panose="02010600030101010101" pitchFamily="2" charset="-122"/>
                <a:ea typeface="等线" panose="02010600030101010101" pitchFamily="2" charset="-122"/>
              </a:rPr>
              <a:t>輸出 </a:t>
            </a:r>
          </a:p>
        </p:txBody>
      </p:sp>
      <p:sp>
        <p:nvSpPr>
          <p:cNvPr id="397319" name="Rectangle 7"/>
          <p:cNvSpPr>
            <a:spLocks noChangeArrowheads="1"/>
          </p:cNvSpPr>
          <p:nvPr/>
        </p:nvSpPr>
        <p:spPr bwMode="auto">
          <a:xfrm>
            <a:off x="1403350" y="3854009"/>
            <a:ext cx="15263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16</a:t>
            </a:r>
            <a:r>
              <a:rPr lang="zh-CN" altLang="en-US" sz="2400" b="1" dirty="0">
                <a:latin typeface="等线" panose="02010600030101010101" pitchFamily="2" charset="-122"/>
                <a:ea typeface="等线" panose="02010600030101010101" pitchFamily="2" charset="-122"/>
              </a:rPr>
              <a:t>輸出 </a:t>
            </a:r>
          </a:p>
        </p:txBody>
      </p:sp>
      <p:sp>
        <p:nvSpPr>
          <p:cNvPr id="397320" name="Rectangle 8"/>
          <p:cNvSpPr>
            <a:spLocks noChangeArrowheads="1"/>
          </p:cNvSpPr>
          <p:nvPr/>
        </p:nvSpPr>
        <p:spPr bwMode="auto">
          <a:xfrm>
            <a:off x="1389063" y="4358834"/>
            <a:ext cx="15263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19</a:t>
            </a:r>
            <a:r>
              <a:rPr lang="zh-CN" altLang="en-US" sz="2400" b="1" dirty="0">
                <a:latin typeface="等线" panose="02010600030101010101" pitchFamily="2" charset="-122"/>
                <a:ea typeface="等线" panose="02010600030101010101" pitchFamily="2" charset="-122"/>
              </a:rPr>
              <a:t>輸出 </a:t>
            </a:r>
          </a:p>
        </p:txBody>
      </p:sp>
      <p:sp>
        <p:nvSpPr>
          <p:cNvPr id="397321" name="Rectangle 9"/>
          <p:cNvSpPr>
            <a:spLocks noChangeArrowheads="1"/>
          </p:cNvSpPr>
          <p:nvPr/>
        </p:nvSpPr>
        <p:spPr bwMode="auto">
          <a:xfrm>
            <a:off x="1390650" y="4974267"/>
            <a:ext cx="717375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13~16</a:t>
            </a:r>
            <a:r>
              <a:rPr lang="zh-CN" altLang="en-US" sz="2400" b="1" dirty="0">
                <a:latin typeface="等线" panose="02010600030101010101" pitchFamily="2" charset="-122"/>
                <a:ea typeface="等线" panose="02010600030101010101" pitchFamily="2" charset="-122"/>
              </a:rPr>
              <a:t>形成以</a:t>
            </a:r>
            <a:r>
              <a:rPr lang="en-US" altLang="zh-CN" sz="2400" b="1" dirty="0">
                <a:latin typeface="等线" panose="02010600030101010101" pitchFamily="2" charset="-122"/>
                <a:ea typeface="等线" panose="02010600030101010101" pitchFamily="2" charset="-122"/>
              </a:rPr>
              <a:t>X</a:t>
            </a:r>
            <a:r>
              <a:rPr lang="en-US" altLang="zh-CN" sz="2400" b="1" baseline="-30000" dirty="0">
                <a:latin typeface="等线" panose="02010600030101010101" pitchFamily="2" charset="-122"/>
                <a:ea typeface="等线" panose="02010600030101010101" pitchFamily="2" charset="-122"/>
              </a:rPr>
              <a:t>0~3</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Y</a:t>
            </a:r>
            <a:r>
              <a:rPr lang="en-US" altLang="zh-CN" sz="2400" b="1" baseline="-30000" dirty="0">
                <a:latin typeface="等线" panose="02010600030101010101" pitchFamily="2" charset="-122"/>
                <a:ea typeface="等线" panose="02010600030101010101" pitchFamily="2" charset="-122"/>
              </a:rPr>
              <a:t>0~3</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C</a:t>
            </a:r>
            <a:r>
              <a:rPr lang="en-US" altLang="zh-CN" sz="2400" b="1" baseline="-25000" dirty="0">
                <a:latin typeface="等线" panose="02010600030101010101" pitchFamily="2" charset="-122"/>
                <a:ea typeface="等线" panose="02010600030101010101" pitchFamily="2" charset="-122"/>
              </a:rPr>
              <a:t>n</a:t>
            </a:r>
            <a:r>
              <a:rPr lang="zh-CN" altLang="en-US" sz="2400" b="1" dirty="0">
                <a:latin typeface="等线" panose="02010600030101010101" pitchFamily="2" charset="-122"/>
                <a:ea typeface="等线" panose="02010600030101010101" pitchFamily="2" charset="-122"/>
              </a:rPr>
              <a:t>為輸入的四位快速加</a:t>
            </a:r>
          </a:p>
          <a:p>
            <a:r>
              <a:rPr lang="zh-CN" altLang="en-US" sz="2400" b="1" dirty="0">
                <a:latin typeface="等线" panose="02010600030101010101" pitchFamily="2" charset="-122"/>
                <a:ea typeface="等线" panose="02010600030101010101" pitchFamily="2" charset="-122"/>
              </a:rPr>
              <a:t>法器的各進位的反碼 </a:t>
            </a:r>
          </a:p>
        </p:txBody>
      </p:sp>
      <p:graphicFrame>
        <p:nvGraphicFramePr>
          <p:cNvPr id="397322" name="Object 10"/>
          <p:cNvGraphicFramePr>
            <a:graphicFrameLocks noChangeAspect="1"/>
          </p:cNvGraphicFramePr>
          <p:nvPr>
            <p:extLst>
              <p:ext uri="{D42A27DB-BD31-4B8C-83A1-F6EECF244321}">
                <p14:modId xmlns:p14="http://schemas.microsoft.com/office/powerpoint/2010/main" val="1887640473"/>
              </p:ext>
            </p:extLst>
          </p:nvPr>
        </p:nvGraphicFramePr>
        <p:xfrm>
          <a:off x="2843808" y="2425903"/>
          <a:ext cx="403225" cy="504825"/>
        </p:xfrm>
        <a:graphic>
          <a:graphicData uri="http://schemas.openxmlformats.org/presentationml/2006/ole">
            <mc:AlternateContent xmlns:mc="http://schemas.openxmlformats.org/markup-compatibility/2006">
              <mc:Choice xmlns:v="urn:schemas-microsoft-com:vml" Requires="v">
                <p:oleObj name="公式" r:id="rId2" imgW="203040" imgH="253800" progId="Equation.3">
                  <p:embed/>
                </p:oleObj>
              </mc:Choice>
              <mc:Fallback>
                <p:oleObj name="公式" r:id="rId2" imgW="203040" imgH="253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2425903"/>
                        <a:ext cx="40322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7323" name="Object 11"/>
          <p:cNvGraphicFramePr>
            <a:graphicFrameLocks noChangeAspect="1"/>
          </p:cNvGraphicFramePr>
          <p:nvPr>
            <p:extLst>
              <p:ext uri="{D42A27DB-BD31-4B8C-83A1-F6EECF244321}">
                <p14:modId xmlns:p14="http://schemas.microsoft.com/office/powerpoint/2010/main" val="4048187449"/>
              </p:ext>
            </p:extLst>
          </p:nvPr>
        </p:nvGraphicFramePr>
        <p:xfrm>
          <a:off x="2843808" y="2919616"/>
          <a:ext cx="2068512" cy="504825"/>
        </p:xfrm>
        <a:graphic>
          <a:graphicData uri="http://schemas.openxmlformats.org/presentationml/2006/ole">
            <mc:AlternateContent xmlns:mc="http://schemas.openxmlformats.org/markup-compatibility/2006">
              <mc:Choice xmlns:v="urn:schemas-microsoft-com:vml" Requires="v">
                <p:oleObj name="公式" r:id="rId4" imgW="1041120" imgH="253800" progId="Equation.3">
                  <p:embed/>
                </p:oleObj>
              </mc:Choice>
              <mc:Fallback>
                <p:oleObj name="公式" r:id="rId4" imgW="104112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808" y="2919616"/>
                        <a:ext cx="2068512"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7324" name="Object 12"/>
          <p:cNvGraphicFramePr>
            <a:graphicFrameLocks noChangeAspect="1"/>
          </p:cNvGraphicFramePr>
          <p:nvPr>
            <p:extLst>
              <p:ext uri="{D42A27DB-BD31-4B8C-83A1-F6EECF244321}">
                <p14:modId xmlns:p14="http://schemas.microsoft.com/office/powerpoint/2010/main" val="2147927634"/>
              </p:ext>
            </p:extLst>
          </p:nvPr>
        </p:nvGraphicFramePr>
        <p:xfrm>
          <a:off x="2843808" y="3353003"/>
          <a:ext cx="3127375" cy="504825"/>
        </p:xfrm>
        <a:graphic>
          <a:graphicData uri="http://schemas.openxmlformats.org/presentationml/2006/ole">
            <mc:AlternateContent xmlns:mc="http://schemas.openxmlformats.org/markup-compatibility/2006">
              <mc:Choice xmlns:v="urn:schemas-microsoft-com:vml" Requires="v">
                <p:oleObj name="公式" r:id="rId6" imgW="1574640" imgH="253800" progId="Equation.3">
                  <p:embed/>
                </p:oleObj>
              </mc:Choice>
              <mc:Fallback>
                <p:oleObj name="公式" r:id="rId6" imgW="1574640" imgH="253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43808" y="3353003"/>
                        <a:ext cx="31273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7325" name="Object 13"/>
          <p:cNvGraphicFramePr>
            <a:graphicFrameLocks noChangeAspect="1"/>
          </p:cNvGraphicFramePr>
          <p:nvPr>
            <p:extLst>
              <p:ext uri="{D42A27DB-BD31-4B8C-83A1-F6EECF244321}">
                <p14:modId xmlns:p14="http://schemas.microsoft.com/office/powerpoint/2010/main" val="1346477141"/>
              </p:ext>
            </p:extLst>
          </p:nvPr>
        </p:nvGraphicFramePr>
        <p:xfrm>
          <a:off x="2843808" y="3856241"/>
          <a:ext cx="4537075" cy="504825"/>
        </p:xfrm>
        <a:graphic>
          <a:graphicData uri="http://schemas.openxmlformats.org/presentationml/2006/ole">
            <mc:AlternateContent xmlns:mc="http://schemas.openxmlformats.org/markup-compatibility/2006">
              <mc:Choice xmlns:v="urn:schemas-microsoft-com:vml" Requires="v">
                <p:oleObj name="公式" r:id="rId8" imgW="2286000" imgH="253800" progId="Equation.3">
                  <p:embed/>
                </p:oleObj>
              </mc:Choice>
              <mc:Fallback>
                <p:oleObj name="公式" r:id="rId8" imgW="2286000" imgH="253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43808" y="3856241"/>
                        <a:ext cx="453707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7326" name="Object 14"/>
          <p:cNvGraphicFramePr>
            <a:graphicFrameLocks noChangeAspect="1"/>
          </p:cNvGraphicFramePr>
          <p:nvPr>
            <p:extLst>
              <p:ext uri="{D42A27DB-BD31-4B8C-83A1-F6EECF244321}">
                <p14:modId xmlns:p14="http://schemas.microsoft.com/office/powerpoint/2010/main" val="1279592051"/>
              </p:ext>
            </p:extLst>
          </p:nvPr>
        </p:nvGraphicFramePr>
        <p:xfrm>
          <a:off x="2843808" y="4410278"/>
          <a:ext cx="6127750" cy="454025"/>
        </p:xfrm>
        <a:graphic>
          <a:graphicData uri="http://schemas.openxmlformats.org/presentationml/2006/ole">
            <mc:AlternateContent xmlns:mc="http://schemas.openxmlformats.org/markup-compatibility/2006">
              <mc:Choice xmlns:v="urn:schemas-microsoft-com:vml" Requires="v">
                <p:oleObj name="公式" r:id="rId10" imgW="3085920" imgH="228600" progId="Equation.3">
                  <p:embed/>
                </p:oleObj>
              </mc:Choice>
              <mc:Fallback>
                <p:oleObj name="公式" r:id="rId10" imgW="308592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43808" y="4410278"/>
                        <a:ext cx="6127750"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2">
            <a:extLst>
              <a:ext uri="{FF2B5EF4-FFF2-40B4-BE49-F238E27FC236}">
                <a16:creationId xmlns:a16="http://schemas.microsoft.com/office/drawing/2014/main" id="{B0318EC0-6B22-418D-B7F7-8B67F7D3470D}"/>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(42)</a:t>
            </a:r>
          </a:p>
        </p:txBody>
      </p:sp>
    </p:spTree>
    <p:extLst>
      <p:ext uri="{BB962C8B-B14F-4D97-AF65-F5344CB8AC3E}">
        <p14:creationId xmlns:p14="http://schemas.microsoft.com/office/powerpoint/2010/main" val="1336923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7315"/>
                                        </p:tgtEl>
                                        <p:attrNameLst>
                                          <p:attrName>style.visibility</p:attrName>
                                        </p:attrNameLst>
                                      </p:cBhvr>
                                      <p:to>
                                        <p:strVal val="visible"/>
                                      </p:to>
                                    </p:set>
                                    <p:animEffect transition="in" filter="blinds(horizontal)">
                                      <p:cBhvr>
                                        <p:cTn id="7" dur="500"/>
                                        <p:tgtEl>
                                          <p:spTgt spid="397315"/>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97316"/>
                                        </p:tgtEl>
                                        <p:attrNameLst>
                                          <p:attrName>style.visibility</p:attrName>
                                        </p:attrNameLst>
                                      </p:cBhvr>
                                      <p:to>
                                        <p:strVal val="visible"/>
                                      </p:to>
                                    </p:set>
                                    <p:animEffect transition="in" filter="blinds(horizontal)">
                                      <p:cBhvr>
                                        <p:cTn id="11" dur="500"/>
                                        <p:tgtEl>
                                          <p:spTgt spid="397316"/>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397322"/>
                                        </p:tgtEl>
                                        <p:attrNameLst>
                                          <p:attrName>style.visibility</p:attrName>
                                        </p:attrNameLst>
                                      </p:cBhvr>
                                      <p:to>
                                        <p:strVal val="visible"/>
                                      </p:to>
                                    </p:set>
                                    <p:animEffect transition="in" filter="blinds(horizontal)">
                                      <p:cBhvr>
                                        <p:cTn id="15" dur="500"/>
                                        <p:tgtEl>
                                          <p:spTgt spid="397322"/>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97317"/>
                                        </p:tgtEl>
                                        <p:attrNameLst>
                                          <p:attrName>style.visibility</p:attrName>
                                        </p:attrNameLst>
                                      </p:cBhvr>
                                      <p:to>
                                        <p:strVal val="visible"/>
                                      </p:to>
                                    </p:set>
                                    <p:animEffect transition="in" filter="blinds(horizontal)">
                                      <p:cBhvr>
                                        <p:cTn id="19" dur="500"/>
                                        <p:tgtEl>
                                          <p:spTgt spid="397317"/>
                                        </p:tgtEl>
                                      </p:cBhvr>
                                    </p:animEffect>
                                  </p:childTnLst>
                                </p:cTn>
                              </p:par>
                            </p:childTnLst>
                          </p:cTn>
                        </p:par>
                        <p:par>
                          <p:cTn id="20" fill="hold" nodeType="afterGroup">
                            <p:stCondLst>
                              <p:cond delay="2000"/>
                            </p:stCondLst>
                            <p:childTnLst>
                              <p:par>
                                <p:cTn id="21" presetID="3" presetClass="entr" presetSubtype="10" fill="hold" nodeType="afterEffect">
                                  <p:stCondLst>
                                    <p:cond delay="0"/>
                                  </p:stCondLst>
                                  <p:childTnLst>
                                    <p:set>
                                      <p:cBhvr>
                                        <p:cTn id="22" dur="1" fill="hold">
                                          <p:stCondLst>
                                            <p:cond delay="0"/>
                                          </p:stCondLst>
                                        </p:cTn>
                                        <p:tgtEl>
                                          <p:spTgt spid="397323"/>
                                        </p:tgtEl>
                                        <p:attrNameLst>
                                          <p:attrName>style.visibility</p:attrName>
                                        </p:attrNameLst>
                                      </p:cBhvr>
                                      <p:to>
                                        <p:strVal val="visible"/>
                                      </p:to>
                                    </p:set>
                                    <p:animEffect transition="in" filter="blinds(horizontal)">
                                      <p:cBhvr>
                                        <p:cTn id="23" dur="500"/>
                                        <p:tgtEl>
                                          <p:spTgt spid="397323"/>
                                        </p:tgtEl>
                                      </p:cBhvr>
                                    </p:animEffect>
                                  </p:childTnLst>
                                </p:cTn>
                              </p:par>
                            </p:childTnLst>
                          </p:cTn>
                        </p:par>
                        <p:par>
                          <p:cTn id="24" fill="hold" nodeType="afterGroup">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397318"/>
                                        </p:tgtEl>
                                        <p:attrNameLst>
                                          <p:attrName>style.visibility</p:attrName>
                                        </p:attrNameLst>
                                      </p:cBhvr>
                                      <p:to>
                                        <p:strVal val="visible"/>
                                      </p:to>
                                    </p:set>
                                    <p:animEffect transition="in" filter="blinds(horizontal)">
                                      <p:cBhvr>
                                        <p:cTn id="27" dur="500"/>
                                        <p:tgtEl>
                                          <p:spTgt spid="397318"/>
                                        </p:tgtEl>
                                      </p:cBhvr>
                                    </p:animEffect>
                                  </p:childTnLst>
                                </p:cTn>
                              </p:par>
                            </p:childTnLst>
                          </p:cTn>
                        </p:par>
                        <p:par>
                          <p:cTn id="28" fill="hold" nodeType="afterGroup">
                            <p:stCondLst>
                              <p:cond delay="3000"/>
                            </p:stCondLst>
                            <p:childTnLst>
                              <p:par>
                                <p:cTn id="29" presetID="3" presetClass="entr" presetSubtype="10" fill="hold" nodeType="afterEffect">
                                  <p:stCondLst>
                                    <p:cond delay="0"/>
                                  </p:stCondLst>
                                  <p:childTnLst>
                                    <p:set>
                                      <p:cBhvr>
                                        <p:cTn id="30" dur="1" fill="hold">
                                          <p:stCondLst>
                                            <p:cond delay="0"/>
                                          </p:stCondLst>
                                        </p:cTn>
                                        <p:tgtEl>
                                          <p:spTgt spid="397324"/>
                                        </p:tgtEl>
                                        <p:attrNameLst>
                                          <p:attrName>style.visibility</p:attrName>
                                        </p:attrNameLst>
                                      </p:cBhvr>
                                      <p:to>
                                        <p:strVal val="visible"/>
                                      </p:to>
                                    </p:set>
                                    <p:animEffect transition="in" filter="blinds(horizontal)">
                                      <p:cBhvr>
                                        <p:cTn id="31" dur="500"/>
                                        <p:tgtEl>
                                          <p:spTgt spid="397324"/>
                                        </p:tgtEl>
                                      </p:cBhvr>
                                    </p:animEffect>
                                  </p:childTnLst>
                                </p:cTn>
                              </p:par>
                            </p:childTnLst>
                          </p:cTn>
                        </p:par>
                        <p:par>
                          <p:cTn id="32" fill="hold" nodeType="afterGroup">
                            <p:stCondLst>
                              <p:cond delay="3500"/>
                            </p:stCondLst>
                            <p:childTnLst>
                              <p:par>
                                <p:cTn id="33" presetID="3" presetClass="entr" presetSubtype="10" fill="hold" grpId="0" nodeType="afterEffect">
                                  <p:stCondLst>
                                    <p:cond delay="0"/>
                                  </p:stCondLst>
                                  <p:childTnLst>
                                    <p:set>
                                      <p:cBhvr>
                                        <p:cTn id="34" dur="1" fill="hold">
                                          <p:stCondLst>
                                            <p:cond delay="0"/>
                                          </p:stCondLst>
                                        </p:cTn>
                                        <p:tgtEl>
                                          <p:spTgt spid="397319"/>
                                        </p:tgtEl>
                                        <p:attrNameLst>
                                          <p:attrName>style.visibility</p:attrName>
                                        </p:attrNameLst>
                                      </p:cBhvr>
                                      <p:to>
                                        <p:strVal val="visible"/>
                                      </p:to>
                                    </p:set>
                                    <p:animEffect transition="in" filter="blinds(horizontal)">
                                      <p:cBhvr>
                                        <p:cTn id="35" dur="500"/>
                                        <p:tgtEl>
                                          <p:spTgt spid="397319"/>
                                        </p:tgtEl>
                                      </p:cBhvr>
                                    </p:animEffect>
                                  </p:childTnLst>
                                </p:cTn>
                              </p:par>
                            </p:childTnLst>
                          </p:cTn>
                        </p:par>
                        <p:par>
                          <p:cTn id="36" fill="hold" nodeType="afterGroup">
                            <p:stCondLst>
                              <p:cond delay="4000"/>
                            </p:stCondLst>
                            <p:childTnLst>
                              <p:par>
                                <p:cTn id="37" presetID="3" presetClass="entr" presetSubtype="10" fill="hold" nodeType="afterEffect">
                                  <p:stCondLst>
                                    <p:cond delay="0"/>
                                  </p:stCondLst>
                                  <p:childTnLst>
                                    <p:set>
                                      <p:cBhvr>
                                        <p:cTn id="38" dur="1" fill="hold">
                                          <p:stCondLst>
                                            <p:cond delay="0"/>
                                          </p:stCondLst>
                                        </p:cTn>
                                        <p:tgtEl>
                                          <p:spTgt spid="397325"/>
                                        </p:tgtEl>
                                        <p:attrNameLst>
                                          <p:attrName>style.visibility</p:attrName>
                                        </p:attrNameLst>
                                      </p:cBhvr>
                                      <p:to>
                                        <p:strVal val="visible"/>
                                      </p:to>
                                    </p:set>
                                    <p:animEffect transition="in" filter="blinds(horizontal)">
                                      <p:cBhvr>
                                        <p:cTn id="39" dur="500"/>
                                        <p:tgtEl>
                                          <p:spTgt spid="397325"/>
                                        </p:tgtEl>
                                      </p:cBhvr>
                                    </p:animEffect>
                                  </p:childTnLst>
                                </p:cTn>
                              </p:par>
                            </p:childTnLst>
                          </p:cTn>
                        </p:par>
                        <p:par>
                          <p:cTn id="40" fill="hold" nodeType="afterGroup">
                            <p:stCondLst>
                              <p:cond delay="4500"/>
                            </p:stCondLst>
                            <p:childTnLst>
                              <p:par>
                                <p:cTn id="41" presetID="3" presetClass="entr" presetSubtype="10" fill="hold" grpId="0" nodeType="afterEffect">
                                  <p:stCondLst>
                                    <p:cond delay="0"/>
                                  </p:stCondLst>
                                  <p:childTnLst>
                                    <p:set>
                                      <p:cBhvr>
                                        <p:cTn id="42" dur="1" fill="hold">
                                          <p:stCondLst>
                                            <p:cond delay="0"/>
                                          </p:stCondLst>
                                        </p:cTn>
                                        <p:tgtEl>
                                          <p:spTgt spid="397320"/>
                                        </p:tgtEl>
                                        <p:attrNameLst>
                                          <p:attrName>style.visibility</p:attrName>
                                        </p:attrNameLst>
                                      </p:cBhvr>
                                      <p:to>
                                        <p:strVal val="visible"/>
                                      </p:to>
                                    </p:set>
                                    <p:animEffect transition="in" filter="blinds(horizontal)">
                                      <p:cBhvr>
                                        <p:cTn id="43" dur="500"/>
                                        <p:tgtEl>
                                          <p:spTgt spid="397320"/>
                                        </p:tgtEl>
                                      </p:cBhvr>
                                    </p:animEffect>
                                  </p:childTnLst>
                                </p:cTn>
                              </p:par>
                            </p:childTnLst>
                          </p:cTn>
                        </p:par>
                        <p:par>
                          <p:cTn id="44" fill="hold" nodeType="afterGroup">
                            <p:stCondLst>
                              <p:cond delay="5000"/>
                            </p:stCondLst>
                            <p:childTnLst>
                              <p:par>
                                <p:cTn id="45" presetID="3" presetClass="entr" presetSubtype="10" fill="hold" nodeType="afterEffect">
                                  <p:stCondLst>
                                    <p:cond delay="0"/>
                                  </p:stCondLst>
                                  <p:childTnLst>
                                    <p:set>
                                      <p:cBhvr>
                                        <p:cTn id="46" dur="1" fill="hold">
                                          <p:stCondLst>
                                            <p:cond delay="0"/>
                                          </p:stCondLst>
                                        </p:cTn>
                                        <p:tgtEl>
                                          <p:spTgt spid="397326"/>
                                        </p:tgtEl>
                                        <p:attrNameLst>
                                          <p:attrName>style.visibility</p:attrName>
                                        </p:attrNameLst>
                                      </p:cBhvr>
                                      <p:to>
                                        <p:strVal val="visible"/>
                                      </p:to>
                                    </p:set>
                                    <p:animEffect transition="in" filter="blinds(horizontal)">
                                      <p:cBhvr>
                                        <p:cTn id="47" dur="500"/>
                                        <p:tgtEl>
                                          <p:spTgt spid="3973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3973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5" grpId="0" autoUpdateAnimBg="0"/>
      <p:bldP spid="397316" grpId="0" autoUpdateAnimBg="0"/>
      <p:bldP spid="397317" grpId="0" autoUpdateAnimBg="0"/>
      <p:bldP spid="397318" grpId="0" autoUpdateAnimBg="0"/>
      <p:bldP spid="397319" grpId="0" autoUpdateAnimBg="0"/>
      <p:bldP spid="397320" grpId="0" autoUpdateAnimBg="0"/>
      <p:bldP spid="397321"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12"/>
          </p:nvPr>
        </p:nvSpPr>
        <p:spPr/>
        <p:txBody>
          <a:bodyPr/>
          <a:lstStyle/>
          <a:p>
            <a:fld id="{B281C67A-1EA0-4C78-A98B-52A5E7529A0E}" type="slidenum">
              <a:rPr lang="en-US" altLang="zh-CN"/>
              <a:pPr/>
              <a:t>55</a:t>
            </a:fld>
            <a:endParaRPr lang="en-US" altLang="zh-CN" dirty="0"/>
          </a:p>
        </p:txBody>
      </p:sp>
      <p:sp>
        <p:nvSpPr>
          <p:cNvPr id="398338" name="Rectangle 2"/>
          <p:cNvSpPr>
            <a:spLocks noGrp="1" noChangeArrowheads="1"/>
          </p:cNvSpPr>
          <p:nvPr>
            <p:ph type="title"/>
          </p:nvPr>
        </p:nvSpPr>
        <p:spPr>
          <a:xfrm>
            <a:off x="914400" y="413792"/>
            <a:ext cx="7772400" cy="1143000"/>
          </a:xfrm>
        </p:spPr>
        <p:txBody>
          <a:bodyPr/>
          <a:lstStyle/>
          <a:p>
            <a:r>
              <a:rPr lang="en-US" altLang="zh-CN" dirty="0"/>
              <a:t>4</a:t>
            </a:r>
            <a:r>
              <a:rPr lang="zh-CN" altLang="en-US" dirty="0"/>
              <a:t>位</a:t>
            </a:r>
            <a:r>
              <a:rPr lang="en-US" altLang="zh-CN" dirty="0"/>
              <a:t>ALU</a:t>
            </a:r>
            <a:r>
              <a:rPr lang="zh-CN" altLang="en-US" dirty="0"/>
              <a:t>功能</a:t>
            </a:r>
          </a:p>
        </p:txBody>
      </p:sp>
      <p:sp>
        <p:nvSpPr>
          <p:cNvPr id="398339" name="Rectangle 3"/>
          <p:cNvSpPr>
            <a:spLocks noChangeArrowheads="1"/>
          </p:cNvSpPr>
          <p:nvPr/>
        </p:nvSpPr>
        <p:spPr bwMode="auto">
          <a:xfrm>
            <a:off x="1042988" y="1916113"/>
            <a:ext cx="561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19</a:t>
            </a:r>
            <a:r>
              <a:rPr lang="zh-CN" altLang="en-US" sz="2400" b="1" dirty="0">
                <a:latin typeface="等线" panose="02010600030101010101" pitchFamily="2" charset="-122"/>
                <a:ea typeface="等线" panose="02010600030101010101" pitchFamily="2" charset="-122"/>
              </a:rPr>
              <a:t>形成的是第</a:t>
            </a:r>
            <a:r>
              <a:rPr lang="en-US" altLang="zh-CN" sz="2400" b="1" dirty="0">
                <a:latin typeface="等线" panose="02010600030101010101" pitchFamily="2" charset="-122"/>
                <a:ea typeface="等线" panose="02010600030101010101" pitchFamily="2" charset="-122"/>
              </a:rPr>
              <a:t>3</a:t>
            </a:r>
            <a:r>
              <a:rPr lang="zh-CN" altLang="en-US" sz="2400" b="1" dirty="0">
                <a:latin typeface="等线" panose="02010600030101010101" pitchFamily="2" charset="-122"/>
                <a:ea typeface="等线" panose="02010600030101010101" pitchFamily="2" charset="-122"/>
              </a:rPr>
              <a:t>位向第</a:t>
            </a:r>
            <a:r>
              <a:rPr lang="en-US" altLang="zh-CN" sz="2400" b="1" dirty="0">
                <a:latin typeface="等线" panose="02010600030101010101" pitchFamily="2" charset="-122"/>
                <a:ea typeface="等线" panose="02010600030101010101" pitchFamily="2" charset="-122"/>
              </a:rPr>
              <a:t>4</a:t>
            </a:r>
            <a:r>
              <a:rPr lang="zh-CN" altLang="en-US" sz="2400" b="1" dirty="0">
                <a:latin typeface="等线" panose="02010600030101010101" pitchFamily="2" charset="-122"/>
                <a:ea typeface="等线" panose="02010600030101010101" pitchFamily="2" charset="-122"/>
              </a:rPr>
              <a:t>位進位的原碼 </a:t>
            </a:r>
          </a:p>
        </p:txBody>
      </p:sp>
      <p:sp>
        <p:nvSpPr>
          <p:cNvPr id="398340" name="Rectangle 4"/>
          <p:cNvSpPr>
            <a:spLocks noChangeArrowheads="1"/>
          </p:cNvSpPr>
          <p:nvPr/>
        </p:nvSpPr>
        <p:spPr bwMode="auto">
          <a:xfrm>
            <a:off x="1042988" y="2420938"/>
            <a:ext cx="7091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21</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23</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25</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27</a:t>
            </a:r>
            <a:r>
              <a:rPr lang="zh-CN" altLang="en-US" sz="2400" b="1" dirty="0">
                <a:latin typeface="等线" panose="02010600030101010101" pitchFamily="2" charset="-122"/>
                <a:ea typeface="等线" panose="02010600030101010101" pitchFamily="2" charset="-122"/>
              </a:rPr>
              <a:t>形成以</a:t>
            </a:r>
            <a:r>
              <a:rPr lang="en-US" altLang="zh-CN" sz="2400" b="1" dirty="0" err="1">
                <a:latin typeface="等线" panose="02010600030101010101" pitchFamily="2" charset="-122"/>
                <a:ea typeface="等线" panose="02010600030101010101" pitchFamily="2" charset="-122"/>
              </a:rPr>
              <a:t>X</a:t>
            </a:r>
            <a:r>
              <a:rPr lang="en-US" altLang="zh-CN" sz="2400" b="1" baseline="-25000" dirty="0" err="1">
                <a:latin typeface="等线" panose="02010600030101010101" pitchFamily="2" charset="-122"/>
                <a:ea typeface="等线" panose="02010600030101010101" pitchFamily="2" charset="-122"/>
              </a:rPr>
              <a:t>n</a:t>
            </a:r>
            <a:r>
              <a:rPr lang="zh-CN" altLang="en-US"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Y</a:t>
            </a:r>
            <a:r>
              <a:rPr lang="en-US" altLang="zh-CN" sz="2400" b="1" baseline="-25000" dirty="0">
                <a:latin typeface="等线" panose="02010600030101010101" pitchFamily="2" charset="-122"/>
                <a:ea typeface="等线" panose="02010600030101010101" pitchFamily="2" charset="-122"/>
              </a:rPr>
              <a:t>n</a:t>
            </a:r>
            <a:r>
              <a:rPr lang="zh-CN" altLang="en-US" sz="2400" b="1" dirty="0">
                <a:latin typeface="等线" panose="02010600030101010101" pitchFamily="2" charset="-122"/>
                <a:ea typeface="等线" panose="02010600030101010101" pitchFamily="2" charset="-122"/>
              </a:rPr>
              <a:t>為輸入的半加和 </a:t>
            </a:r>
          </a:p>
        </p:txBody>
      </p:sp>
      <p:sp>
        <p:nvSpPr>
          <p:cNvPr id="398341" name="Rectangle 5"/>
          <p:cNvSpPr>
            <a:spLocks noChangeArrowheads="1"/>
          </p:cNvSpPr>
          <p:nvPr/>
        </p:nvSpPr>
        <p:spPr bwMode="auto">
          <a:xfrm>
            <a:off x="1042988" y="2969568"/>
            <a:ext cx="9172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22 </a:t>
            </a:r>
          </a:p>
        </p:txBody>
      </p:sp>
      <p:sp>
        <p:nvSpPr>
          <p:cNvPr id="398342" name="Rectangle 6"/>
          <p:cNvSpPr>
            <a:spLocks noChangeArrowheads="1"/>
          </p:cNvSpPr>
          <p:nvPr/>
        </p:nvSpPr>
        <p:spPr bwMode="auto">
          <a:xfrm>
            <a:off x="1042988" y="3498206"/>
            <a:ext cx="9172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24 </a:t>
            </a:r>
          </a:p>
        </p:txBody>
      </p:sp>
      <p:sp>
        <p:nvSpPr>
          <p:cNvPr id="398343" name="Rectangle 7"/>
          <p:cNvSpPr>
            <a:spLocks noChangeArrowheads="1"/>
          </p:cNvSpPr>
          <p:nvPr/>
        </p:nvSpPr>
        <p:spPr bwMode="auto">
          <a:xfrm>
            <a:off x="1042988" y="4074468"/>
            <a:ext cx="9172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26 </a:t>
            </a:r>
          </a:p>
        </p:txBody>
      </p:sp>
      <p:sp>
        <p:nvSpPr>
          <p:cNvPr id="398344" name="Rectangle 8"/>
          <p:cNvSpPr>
            <a:spLocks noChangeArrowheads="1"/>
          </p:cNvSpPr>
          <p:nvPr/>
        </p:nvSpPr>
        <p:spPr bwMode="auto">
          <a:xfrm>
            <a:off x="1042988" y="4650731"/>
            <a:ext cx="9172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28 </a:t>
            </a:r>
          </a:p>
        </p:txBody>
      </p:sp>
      <p:sp>
        <p:nvSpPr>
          <p:cNvPr id="398345" name="Rectangle 9"/>
          <p:cNvSpPr>
            <a:spLocks noChangeArrowheads="1"/>
          </p:cNvSpPr>
          <p:nvPr/>
        </p:nvSpPr>
        <p:spPr bwMode="auto">
          <a:xfrm>
            <a:off x="1062038" y="5042327"/>
            <a:ext cx="319350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zh-CN" sz="2400" b="1" dirty="0">
              <a:latin typeface="等线" panose="02010600030101010101" pitchFamily="2" charset="-122"/>
              <a:ea typeface="等线" panose="02010600030101010101" pitchFamily="2" charset="-122"/>
            </a:endParaRPr>
          </a:p>
          <a:p>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1</a:t>
            </a:r>
            <a:r>
              <a:rPr lang="en-US" altLang="zh-CN" sz="2400" b="1" dirty="0">
                <a:latin typeface="等线" panose="02010600030101010101" pitchFamily="2" charset="-122"/>
                <a:ea typeface="等线" panose="02010600030101010101" pitchFamily="2" charset="-122"/>
              </a:rPr>
              <a:t>--F</a:t>
            </a:r>
            <a:r>
              <a:rPr lang="en-US" altLang="zh-CN" sz="2400" b="1" baseline="-25000" dirty="0">
                <a:latin typeface="等线" panose="02010600030101010101" pitchFamily="2" charset="-122"/>
                <a:ea typeface="等线" panose="02010600030101010101" pitchFamily="2" charset="-122"/>
              </a:rPr>
              <a:t>4</a:t>
            </a:r>
            <a:r>
              <a:rPr lang="zh-CN" altLang="en-US" sz="2400" b="1" dirty="0">
                <a:latin typeface="等线" panose="02010600030101010101" pitchFamily="2" charset="-122"/>
                <a:ea typeface="等线" panose="02010600030101010101" pitchFamily="2" charset="-122"/>
              </a:rPr>
              <a:t>是全加和的反碼</a:t>
            </a:r>
            <a:endParaRPr lang="zh-CN" altLang="en-US" sz="2400" b="1" baseline="-25000" dirty="0">
              <a:latin typeface="等线" panose="02010600030101010101" pitchFamily="2" charset="-122"/>
              <a:ea typeface="等线" panose="02010600030101010101" pitchFamily="2" charset="-122"/>
            </a:endParaRPr>
          </a:p>
        </p:txBody>
      </p:sp>
      <p:graphicFrame>
        <p:nvGraphicFramePr>
          <p:cNvPr id="398346" name="Object 10"/>
          <p:cNvGraphicFramePr>
            <a:graphicFrameLocks noChangeAspect="1"/>
          </p:cNvGraphicFramePr>
          <p:nvPr>
            <p:extLst>
              <p:ext uri="{D42A27DB-BD31-4B8C-83A1-F6EECF244321}">
                <p14:modId xmlns:p14="http://schemas.microsoft.com/office/powerpoint/2010/main" val="647399104"/>
              </p:ext>
            </p:extLst>
          </p:nvPr>
        </p:nvGraphicFramePr>
        <p:xfrm>
          <a:off x="1907704" y="2894012"/>
          <a:ext cx="6997700" cy="534988"/>
        </p:xfrm>
        <a:graphic>
          <a:graphicData uri="http://schemas.openxmlformats.org/presentationml/2006/ole">
            <mc:AlternateContent xmlns:mc="http://schemas.openxmlformats.org/markup-compatibility/2006">
              <mc:Choice xmlns:v="urn:schemas-microsoft-com:vml" Requires="v">
                <p:oleObj name="公式" r:id="rId2" imgW="3327120" imgH="253800" progId="Equation.3">
                  <p:embed/>
                </p:oleObj>
              </mc:Choice>
              <mc:Fallback>
                <p:oleObj name="公式" r:id="rId2" imgW="3327120" imgH="253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894012"/>
                        <a:ext cx="6997700" cy="53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8347" name="Object 11"/>
          <p:cNvGraphicFramePr>
            <a:graphicFrameLocks noChangeAspect="1"/>
          </p:cNvGraphicFramePr>
          <p:nvPr>
            <p:extLst>
              <p:ext uri="{D42A27DB-BD31-4B8C-83A1-F6EECF244321}">
                <p14:modId xmlns:p14="http://schemas.microsoft.com/office/powerpoint/2010/main" val="2560017959"/>
              </p:ext>
            </p:extLst>
          </p:nvPr>
        </p:nvGraphicFramePr>
        <p:xfrm>
          <a:off x="1907704" y="3494857"/>
          <a:ext cx="4302125" cy="536575"/>
        </p:xfrm>
        <a:graphic>
          <a:graphicData uri="http://schemas.openxmlformats.org/presentationml/2006/ole">
            <mc:AlternateContent xmlns:mc="http://schemas.openxmlformats.org/markup-compatibility/2006">
              <mc:Choice xmlns:v="urn:schemas-microsoft-com:vml" Requires="v">
                <p:oleObj name="公式" r:id="rId4" imgW="2044440" imgH="253800" progId="Equation.3">
                  <p:embed/>
                </p:oleObj>
              </mc:Choice>
              <mc:Fallback>
                <p:oleObj name="公式" r:id="rId4" imgW="204444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7704" y="3494857"/>
                        <a:ext cx="4302125"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8348" name="Object 12"/>
          <p:cNvGraphicFramePr>
            <a:graphicFrameLocks noChangeAspect="1"/>
          </p:cNvGraphicFramePr>
          <p:nvPr>
            <p:extLst>
              <p:ext uri="{D42A27DB-BD31-4B8C-83A1-F6EECF244321}">
                <p14:modId xmlns:p14="http://schemas.microsoft.com/office/powerpoint/2010/main" val="1314265841"/>
              </p:ext>
            </p:extLst>
          </p:nvPr>
        </p:nvGraphicFramePr>
        <p:xfrm>
          <a:off x="1907704" y="4029844"/>
          <a:ext cx="4356100" cy="533400"/>
        </p:xfrm>
        <a:graphic>
          <a:graphicData uri="http://schemas.openxmlformats.org/presentationml/2006/ole">
            <mc:AlternateContent xmlns:mc="http://schemas.openxmlformats.org/markup-compatibility/2006">
              <mc:Choice xmlns:v="urn:schemas-microsoft-com:vml" Requires="v">
                <p:oleObj name="公式" r:id="rId6" imgW="2070000" imgH="253800" progId="Equation.3">
                  <p:embed/>
                </p:oleObj>
              </mc:Choice>
              <mc:Fallback>
                <p:oleObj name="公式" r:id="rId6" imgW="2070000" imgH="253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7704" y="4029844"/>
                        <a:ext cx="43561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8349" name="Object 13"/>
          <p:cNvGraphicFramePr>
            <a:graphicFrameLocks noChangeAspect="1"/>
          </p:cNvGraphicFramePr>
          <p:nvPr>
            <p:extLst>
              <p:ext uri="{D42A27DB-BD31-4B8C-83A1-F6EECF244321}">
                <p14:modId xmlns:p14="http://schemas.microsoft.com/office/powerpoint/2010/main" val="4081741507"/>
              </p:ext>
            </p:extLst>
          </p:nvPr>
        </p:nvGraphicFramePr>
        <p:xfrm>
          <a:off x="1907704" y="4575944"/>
          <a:ext cx="4354513" cy="534988"/>
        </p:xfrm>
        <a:graphic>
          <a:graphicData uri="http://schemas.openxmlformats.org/presentationml/2006/ole">
            <mc:AlternateContent xmlns:mc="http://schemas.openxmlformats.org/markup-compatibility/2006">
              <mc:Choice xmlns:v="urn:schemas-microsoft-com:vml" Requires="v">
                <p:oleObj name="公式" r:id="rId8" imgW="2070000" imgH="253800" progId="Equation.3">
                  <p:embed/>
                </p:oleObj>
              </mc:Choice>
              <mc:Fallback>
                <p:oleObj name="公式" r:id="rId8" imgW="2070000" imgH="253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7704" y="4575944"/>
                        <a:ext cx="4354513" cy="53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2">
            <a:extLst>
              <a:ext uri="{FF2B5EF4-FFF2-40B4-BE49-F238E27FC236}">
                <a16:creationId xmlns:a16="http://schemas.microsoft.com/office/drawing/2014/main" id="{08CDD21A-E3D3-47F9-A5E0-BE1C46EE36C8}"/>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(43)</a:t>
            </a:r>
          </a:p>
        </p:txBody>
      </p:sp>
    </p:spTree>
    <p:extLst>
      <p:ext uri="{BB962C8B-B14F-4D97-AF65-F5344CB8AC3E}">
        <p14:creationId xmlns:p14="http://schemas.microsoft.com/office/powerpoint/2010/main" val="32407942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8339"/>
                                        </p:tgtEl>
                                        <p:attrNameLst>
                                          <p:attrName>style.visibility</p:attrName>
                                        </p:attrNameLst>
                                      </p:cBhvr>
                                      <p:to>
                                        <p:strVal val="visible"/>
                                      </p:to>
                                    </p:set>
                                    <p:animEffect transition="in" filter="blinds(horizontal)">
                                      <p:cBhvr>
                                        <p:cTn id="7" dur="500"/>
                                        <p:tgtEl>
                                          <p:spTgt spid="3983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98340"/>
                                        </p:tgtEl>
                                        <p:attrNameLst>
                                          <p:attrName>style.visibility</p:attrName>
                                        </p:attrNameLst>
                                      </p:cBhvr>
                                      <p:to>
                                        <p:strVal val="visible"/>
                                      </p:to>
                                    </p:set>
                                  </p:childTnLst>
                                </p:cTn>
                              </p:par>
                            </p:childTnLst>
                          </p:cTn>
                        </p:par>
                        <p:par>
                          <p:cTn id="12" fill="hold" nodeType="afterGroup">
                            <p:stCondLst>
                              <p:cond delay="500"/>
                            </p:stCondLst>
                            <p:childTnLst>
                              <p:par>
                                <p:cTn id="13" presetID="3" presetClass="entr" presetSubtype="10" fill="hold" grpId="0" nodeType="afterEffect">
                                  <p:stCondLst>
                                    <p:cond delay="0"/>
                                  </p:stCondLst>
                                  <p:childTnLst>
                                    <p:set>
                                      <p:cBhvr>
                                        <p:cTn id="14" dur="1" fill="hold">
                                          <p:stCondLst>
                                            <p:cond delay="0"/>
                                          </p:stCondLst>
                                        </p:cTn>
                                        <p:tgtEl>
                                          <p:spTgt spid="398341"/>
                                        </p:tgtEl>
                                        <p:attrNameLst>
                                          <p:attrName>style.visibility</p:attrName>
                                        </p:attrNameLst>
                                      </p:cBhvr>
                                      <p:to>
                                        <p:strVal val="visible"/>
                                      </p:to>
                                    </p:set>
                                    <p:animEffect transition="in" filter="blinds(horizontal)">
                                      <p:cBhvr>
                                        <p:cTn id="15" dur="500"/>
                                        <p:tgtEl>
                                          <p:spTgt spid="398341"/>
                                        </p:tgtEl>
                                      </p:cBhvr>
                                    </p:animEffect>
                                  </p:childTnLst>
                                </p:cTn>
                              </p:par>
                            </p:childTnLst>
                          </p:cTn>
                        </p:par>
                        <p:par>
                          <p:cTn id="16" fill="hold" nodeType="afterGroup">
                            <p:stCondLst>
                              <p:cond delay="1000"/>
                            </p:stCondLst>
                            <p:childTnLst>
                              <p:par>
                                <p:cTn id="17" presetID="3" presetClass="entr" presetSubtype="10" fill="hold" nodeType="afterEffect">
                                  <p:stCondLst>
                                    <p:cond delay="0"/>
                                  </p:stCondLst>
                                  <p:childTnLst>
                                    <p:set>
                                      <p:cBhvr>
                                        <p:cTn id="18" dur="1" fill="hold">
                                          <p:stCondLst>
                                            <p:cond delay="0"/>
                                          </p:stCondLst>
                                        </p:cTn>
                                        <p:tgtEl>
                                          <p:spTgt spid="398346"/>
                                        </p:tgtEl>
                                        <p:attrNameLst>
                                          <p:attrName>style.visibility</p:attrName>
                                        </p:attrNameLst>
                                      </p:cBhvr>
                                      <p:to>
                                        <p:strVal val="visible"/>
                                      </p:to>
                                    </p:set>
                                    <p:animEffect transition="in" filter="blinds(horizontal)">
                                      <p:cBhvr>
                                        <p:cTn id="19" dur="500"/>
                                        <p:tgtEl>
                                          <p:spTgt spid="398346"/>
                                        </p:tgtEl>
                                      </p:cBhvr>
                                    </p:animEffect>
                                  </p:childTnLst>
                                </p:cTn>
                              </p:par>
                            </p:childTnLst>
                          </p:cTn>
                        </p:par>
                        <p:par>
                          <p:cTn id="20" fill="hold" nodeType="afterGroup">
                            <p:stCondLst>
                              <p:cond delay="1500"/>
                            </p:stCondLst>
                            <p:childTnLst>
                              <p:par>
                                <p:cTn id="21" presetID="3" presetClass="entr" presetSubtype="10" fill="hold" grpId="0" nodeType="afterEffect">
                                  <p:stCondLst>
                                    <p:cond delay="0"/>
                                  </p:stCondLst>
                                  <p:childTnLst>
                                    <p:set>
                                      <p:cBhvr>
                                        <p:cTn id="22" dur="1" fill="hold">
                                          <p:stCondLst>
                                            <p:cond delay="0"/>
                                          </p:stCondLst>
                                        </p:cTn>
                                        <p:tgtEl>
                                          <p:spTgt spid="398342"/>
                                        </p:tgtEl>
                                        <p:attrNameLst>
                                          <p:attrName>style.visibility</p:attrName>
                                        </p:attrNameLst>
                                      </p:cBhvr>
                                      <p:to>
                                        <p:strVal val="visible"/>
                                      </p:to>
                                    </p:set>
                                    <p:animEffect transition="in" filter="blinds(horizontal)">
                                      <p:cBhvr>
                                        <p:cTn id="23" dur="500"/>
                                        <p:tgtEl>
                                          <p:spTgt spid="398342"/>
                                        </p:tgtEl>
                                      </p:cBhvr>
                                    </p:animEffect>
                                  </p:childTnLst>
                                </p:cTn>
                              </p:par>
                            </p:childTnLst>
                          </p:cTn>
                        </p:par>
                        <p:par>
                          <p:cTn id="24" fill="hold" nodeType="afterGroup">
                            <p:stCondLst>
                              <p:cond delay="2000"/>
                            </p:stCondLst>
                            <p:childTnLst>
                              <p:par>
                                <p:cTn id="25" presetID="3" presetClass="entr" presetSubtype="10" fill="hold" nodeType="afterEffect">
                                  <p:stCondLst>
                                    <p:cond delay="0"/>
                                  </p:stCondLst>
                                  <p:childTnLst>
                                    <p:set>
                                      <p:cBhvr>
                                        <p:cTn id="26" dur="1" fill="hold">
                                          <p:stCondLst>
                                            <p:cond delay="0"/>
                                          </p:stCondLst>
                                        </p:cTn>
                                        <p:tgtEl>
                                          <p:spTgt spid="398347"/>
                                        </p:tgtEl>
                                        <p:attrNameLst>
                                          <p:attrName>style.visibility</p:attrName>
                                        </p:attrNameLst>
                                      </p:cBhvr>
                                      <p:to>
                                        <p:strVal val="visible"/>
                                      </p:to>
                                    </p:set>
                                    <p:animEffect transition="in" filter="blinds(horizontal)">
                                      <p:cBhvr>
                                        <p:cTn id="27" dur="500"/>
                                        <p:tgtEl>
                                          <p:spTgt spid="398347"/>
                                        </p:tgtEl>
                                      </p:cBhvr>
                                    </p:animEffect>
                                  </p:childTnLst>
                                </p:cTn>
                              </p:par>
                            </p:childTnLst>
                          </p:cTn>
                        </p:par>
                        <p:par>
                          <p:cTn id="28" fill="hold" nodeType="afterGroup">
                            <p:stCondLst>
                              <p:cond delay="2500"/>
                            </p:stCondLst>
                            <p:childTnLst>
                              <p:par>
                                <p:cTn id="29" presetID="3" presetClass="entr" presetSubtype="10" fill="hold" grpId="0" nodeType="afterEffect">
                                  <p:stCondLst>
                                    <p:cond delay="0"/>
                                  </p:stCondLst>
                                  <p:childTnLst>
                                    <p:set>
                                      <p:cBhvr>
                                        <p:cTn id="30" dur="1" fill="hold">
                                          <p:stCondLst>
                                            <p:cond delay="0"/>
                                          </p:stCondLst>
                                        </p:cTn>
                                        <p:tgtEl>
                                          <p:spTgt spid="398343"/>
                                        </p:tgtEl>
                                        <p:attrNameLst>
                                          <p:attrName>style.visibility</p:attrName>
                                        </p:attrNameLst>
                                      </p:cBhvr>
                                      <p:to>
                                        <p:strVal val="visible"/>
                                      </p:to>
                                    </p:set>
                                    <p:animEffect transition="in" filter="blinds(horizontal)">
                                      <p:cBhvr>
                                        <p:cTn id="31" dur="500"/>
                                        <p:tgtEl>
                                          <p:spTgt spid="398343"/>
                                        </p:tgtEl>
                                      </p:cBhvr>
                                    </p:animEffect>
                                  </p:childTnLst>
                                </p:cTn>
                              </p:par>
                            </p:childTnLst>
                          </p:cTn>
                        </p:par>
                        <p:par>
                          <p:cTn id="32" fill="hold" nodeType="afterGroup">
                            <p:stCondLst>
                              <p:cond delay="3000"/>
                            </p:stCondLst>
                            <p:childTnLst>
                              <p:par>
                                <p:cTn id="33" presetID="3" presetClass="entr" presetSubtype="10" fill="hold" nodeType="afterEffect">
                                  <p:stCondLst>
                                    <p:cond delay="0"/>
                                  </p:stCondLst>
                                  <p:childTnLst>
                                    <p:set>
                                      <p:cBhvr>
                                        <p:cTn id="34" dur="1" fill="hold">
                                          <p:stCondLst>
                                            <p:cond delay="0"/>
                                          </p:stCondLst>
                                        </p:cTn>
                                        <p:tgtEl>
                                          <p:spTgt spid="398348"/>
                                        </p:tgtEl>
                                        <p:attrNameLst>
                                          <p:attrName>style.visibility</p:attrName>
                                        </p:attrNameLst>
                                      </p:cBhvr>
                                      <p:to>
                                        <p:strVal val="visible"/>
                                      </p:to>
                                    </p:set>
                                    <p:animEffect transition="in" filter="blinds(horizontal)">
                                      <p:cBhvr>
                                        <p:cTn id="35" dur="500"/>
                                        <p:tgtEl>
                                          <p:spTgt spid="398348"/>
                                        </p:tgtEl>
                                      </p:cBhvr>
                                    </p:animEffect>
                                  </p:childTnLst>
                                </p:cTn>
                              </p:par>
                            </p:childTnLst>
                          </p:cTn>
                        </p:par>
                        <p:par>
                          <p:cTn id="36" fill="hold" nodeType="afterGroup">
                            <p:stCondLst>
                              <p:cond delay="3500"/>
                            </p:stCondLst>
                            <p:childTnLst>
                              <p:par>
                                <p:cTn id="37" presetID="3" presetClass="entr" presetSubtype="10" fill="hold" grpId="0" nodeType="afterEffect">
                                  <p:stCondLst>
                                    <p:cond delay="0"/>
                                  </p:stCondLst>
                                  <p:childTnLst>
                                    <p:set>
                                      <p:cBhvr>
                                        <p:cTn id="38" dur="1" fill="hold">
                                          <p:stCondLst>
                                            <p:cond delay="0"/>
                                          </p:stCondLst>
                                        </p:cTn>
                                        <p:tgtEl>
                                          <p:spTgt spid="398344"/>
                                        </p:tgtEl>
                                        <p:attrNameLst>
                                          <p:attrName>style.visibility</p:attrName>
                                        </p:attrNameLst>
                                      </p:cBhvr>
                                      <p:to>
                                        <p:strVal val="visible"/>
                                      </p:to>
                                    </p:set>
                                    <p:animEffect transition="in" filter="blinds(horizontal)">
                                      <p:cBhvr>
                                        <p:cTn id="39" dur="500"/>
                                        <p:tgtEl>
                                          <p:spTgt spid="398344"/>
                                        </p:tgtEl>
                                      </p:cBhvr>
                                    </p:animEffect>
                                  </p:childTnLst>
                                </p:cTn>
                              </p:par>
                            </p:childTnLst>
                          </p:cTn>
                        </p:par>
                        <p:par>
                          <p:cTn id="40" fill="hold" nodeType="afterGroup">
                            <p:stCondLst>
                              <p:cond delay="4000"/>
                            </p:stCondLst>
                            <p:childTnLst>
                              <p:par>
                                <p:cTn id="41" presetID="3" presetClass="entr" presetSubtype="10" fill="hold" nodeType="afterEffect">
                                  <p:stCondLst>
                                    <p:cond delay="0"/>
                                  </p:stCondLst>
                                  <p:childTnLst>
                                    <p:set>
                                      <p:cBhvr>
                                        <p:cTn id="42" dur="1" fill="hold">
                                          <p:stCondLst>
                                            <p:cond delay="0"/>
                                          </p:stCondLst>
                                        </p:cTn>
                                        <p:tgtEl>
                                          <p:spTgt spid="398349"/>
                                        </p:tgtEl>
                                        <p:attrNameLst>
                                          <p:attrName>style.visibility</p:attrName>
                                        </p:attrNameLst>
                                      </p:cBhvr>
                                      <p:to>
                                        <p:strVal val="visible"/>
                                      </p:to>
                                    </p:set>
                                    <p:animEffect transition="in" filter="blinds(horizontal)">
                                      <p:cBhvr>
                                        <p:cTn id="43" dur="500"/>
                                        <p:tgtEl>
                                          <p:spTgt spid="39834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98345"/>
                                        </p:tgtEl>
                                        <p:attrNameLst>
                                          <p:attrName>style.visibility</p:attrName>
                                        </p:attrNameLst>
                                      </p:cBhvr>
                                      <p:to>
                                        <p:strVal val="visible"/>
                                      </p:to>
                                    </p:set>
                                    <p:anim calcmode="lin" valueType="num">
                                      <p:cBhvr additive="base">
                                        <p:cTn id="48" dur="500" fill="hold"/>
                                        <p:tgtEl>
                                          <p:spTgt spid="398345"/>
                                        </p:tgtEl>
                                        <p:attrNameLst>
                                          <p:attrName>ppt_x</p:attrName>
                                        </p:attrNameLst>
                                      </p:cBhvr>
                                      <p:tavLst>
                                        <p:tav tm="0">
                                          <p:val>
                                            <p:strVal val="#ppt_x"/>
                                          </p:val>
                                        </p:tav>
                                        <p:tav tm="100000">
                                          <p:val>
                                            <p:strVal val="#ppt_x"/>
                                          </p:val>
                                        </p:tav>
                                      </p:tavLst>
                                    </p:anim>
                                    <p:anim calcmode="lin" valueType="num">
                                      <p:cBhvr additive="base">
                                        <p:cTn id="49" dur="500" fill="hold"/>
                                        <p:tgtEl>
                                          <p:spTgt spid="3983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9" grpId="0" autoUpdateAnimBg="0"/>
      <p:bldP spid="398340" grpId="0" autoUpdateAnimBg="0"/>
      <p:bldP spid="398341" grpId="0" autoUpdateAnimBg="0"/>
      <p:bldP spid="398342" grpId="0" autoUpdateAnimBg="0"/>
      <p:bldP spid="398343" grpId="0" autoUpdateAnimBg="0"/>
      <p:bldP spid="398344" grpId="0" autoUpdateAnimBg="0"/>
      <p:bldP spid="398345"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2A355B3E-4123-4238-A90B-5E9B645FB11A}" type="slidenum">
              <a:rPr lang="en-US" altLang="zh-CN"/>
              <a:pPr/>
              <a:t>56</a:t>
            </a:fld>
            <a:endParaRPr lang="en-US" altLang="zh-CN" dirty="0"/>
          </a:p>
        </p:txBody>
      </p:sp>
      <p:sp>
        <p:nvSpPr>
          <p:cNvPr id="399362" name="Rectangle 2"/>
          <p:cNvSpPr>
            <a:spLocks noGrp="1" noChangeArrowheads="1"/>
          </p:cNvSpPr>
          <p:nvPr>
            <p:ph type="title"/>
          </p:nvPr>
        </p:nvSpPr>
        <p:spPr>
          <a:xfrm>
            <a:off x="914400" y="413792"/>
            <a:ext cx="7772400" cy="1143000"/>
          </a:xfrm>
        </p:spPr>
        <p:txBody>
          <a:bodyPr/>
          <a:lstStyle/>
          <a:p>
            <a:r>
              <a:rPr lang="en-US" altLang="zh-CN" dirty="0"/>
              <a:t>4</a:t>
            </a:r>
            <a:r>
              <a:rPr lang="zh-CN" altLang="en-US" dirty="0"/>
              <a:t>位</a:t>
            </a:r>
            <a:r>
              <a:rPr lang="en-US" altLang="zh-CN" dirty="0"/>
              <a:t>ALU</a:t>
            </a:r>
            <a:r>
              <a:rPr lang="zh-CN" altLang="en-US" dirty="0"/>
              <a:t>功能</a:t>
            </a:r>
          </a:p>
        </p:txBody>
      </p:sp>
      <p:graphicFrame>
        <p:nvGraphicFramePr>
          <p:cNvPr id="399363" name="Object 3"/>
          <p:cNvGraphicFramePr>
            <a:graphicFrameLocks noChangeAspect="1"/>
          </p:cNvGraphicFramePr>
          <p:nvPr/>
        </p:nvGraphicFramePr>
        <p:xfrm>
          <a:off x="1258888" y="2133600"/>
          <a:ext cx="6632575" cy="4300538"/>
        </p:xfrm>
        <a:graphic>
          <a:graphicData uri="http://schemas.openxmlformats.org/presentationml/2006/ole">
            <mc:AlternateContent xmlns:mc="http://schemas.openxmlformats.org/markup-compatibility/2006">
              <mc:Choice xmlns:v="urn:schemas-microsoft-com:vml" Requires="v">
                <p:oleObj name="Image" r:id="rId2" imgW="6631837" imgH="4300408" progId="">
                  <p:embed/>
                </p:oleObj>
              </mc:Choice>
              <mc:Fallback>
                <p:oleObj name="Image" r:id="rId2" imgW="6631837" imgH="4300408"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2133600"/>
                        <a:ext cx="6632575" cy="430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2">
            <a:extLst>
              <a:ext uri="{FF2B5EF4-FFF2-40B4-BE49-F238E27FC236}">
                <a16:creationId xmlns:a16="http://schemas.microsoft.com/office/drawing/2014/main" id="{C85DA739-80BE-4C89-A288-72200F5BC8BE}"/>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(44)</a:t>
            </a:r>
          </a:p>
        </p:txBody>
      </p:sp>
    </p:spTree>
    <p:extLst>
      <p:ext uri="{BB962C8B-B14F-4D97-AF65-F5344CB8AC3E}">
        <p14:creationId xmlns:p14="http://schemas.microsoft.com/office/powerpoint/2010/main" val="1527225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993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p:cNvSpPr>
            <a:spLocks noGrp="1"/>
          </p:cNvSpPr>
          <p:nvPr>
            <p:ph type="sldNum" sz="quarter" idx="12"/>
          </p:nvPr>
        </p:nvSpPr>
        <p:spPr/>
        <p:txBody>
          <a:bodyPr/>
          <a:lstStyle/>
          <a:p>
            <a:fld id="{4DB485E1-C2DF-4EE2-AC64-657B5465F363}" type="slidenum">
              <a:rPr lang="en-US" altLang="zh-CN"/>
              <a:pPr/>
              <a:t>57</a:t>
            </a:fld>
            <a:endParaRPr lang="en-US" altLang="zh-CN" dirty="0"/>
          </a:p>
        </p:txBody>
      </p:sp>
      <p:sp>
        <p:nvSpPr>
          <p:cNvPr id="400386" name="Rectangle 2"/>
          <p:cNvSpPr>
            <a:spLocks noGrp="1" noChangeArrowheads="1"/>
          </p:cNvSpPr>
          <p:nvPr>
            <p:ph type="title"/>
          </p:nvPr>
        </p:nvSpPr>
        <p:spPr>
          <a:xfrm>
            <a:off x="914400" y="413792"/>
            <a:ext cx="7772400" cy="1143000"/>
          </a:xfrm>
        </p:spPr>
        <p:txBody>
          <a:bodyPr/>
          <a:lstStyle/>
          <a:p>
            <a:r>
              <a:rPr lang="en-US" altLang="zh-CN" dirty="0"/>
              <a:t>4</a:t>
            </a:r>
            <a:r>
              <a:rPr lang="zh-CN" altLang="en-US" dirty="0"/>
              <a:t>位</a:t>
            </a:r>
            <a:r>
              <a:rPr lang="en-US" altLang="zh-CN" dirty="0"/>
              <a:t>ALU</a:t>
            </a:r>
            <a:r>
              <a:rPr lang="zh-CN" altLang="en-US" dirty="0"/>
              <a:t>功能</a:t>
            </a:r>
          </a:p>
        </p:txBody>
      </p:sp>
      <p:sp>
        <p:nvSpPr>
          <p:cNvPr id="400387" name="Rectangle 3"/>
          <p:cNvSpPr>
            <a:spLocks noChangeArrowheads="1"/>
          </p:cNvSpPr>
          <p:nvPr/>
        </p:nvSpPr>
        <p:spPr bwMode="auto">
          <a:xfrm>
            <a:off x="900113" y="1844675"/>
            <a:ext cx="524352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b="1" dirty="0">
                <a:latin typeface="等线" panose="02010600030101010101" pitchFamily="2" charset="-122"/>
                <a:ea typeface="等线" panose="02010600030101010101" pitchFamily="2" charset="-122"/>
              </a:rPr>
              <a:t>2</a:t>
            </a:r>
            <a:r>
              <a:rPr lang="zh-CN" altLang="en-US" sz="2400"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 M=H </a:t>
            </a:r>
            <a:r>
              <a:rPr lang="zh-CN" altLang="en-US" b="1" dirty="0">
                <a:latin typeface="等线" panose="02010600030101010101" pitchFamily="2" charset="-122"/>
                <a:ea typeface="等线" panose="02010600030101010101" pitchFamily="2" charset="-122"/>
              </a:rPr>
              <a:t>（控制端＝ </a:t>
            </a:r>
            <a:r>
              <a:rPr lang="en-US" altLang="zh-CN" b="1" dirty="0">
                <a:latin typeface="等线" panose="02010600030101010101" pitchFamily="2" charset="-122"/>
                <a:ea typeface="等线" panose="02010600030101010101" pitchFamily="2" charset="-122"/>
              </a:rPr>
              <a:t>HLLH</a:t>
            </a:r>
            <a:r>
              <a:rPr lang="zh-CN" altLang="en-US" b="1" dirty="0">
                <a:latin typeface="等线" panose="02010600030101010101" pitchFamily="2" charset="-122"/>
                <a:ea typeface="等线" panose="02010600030101010101" pitchFamily="2" charset="-122"/>
              </a:rPr>
              <a:t>）</a:t>
            </a:r>
            <a:r>
              <a:rPr lang="en-US" altLang="zh-CN" b="1" dirty="0">
                <a:latin typeface="等线" panose="02010600030101010101" pitchFamily="2" charset="-122"/>
                <a:ea typeface="等线" panose="02010600030101010101" pitchFamily="2" charset="-122"/>
              </a:rPr>
              <a:t> </a:t>
            </a:r>
            <a:endParaRPr lang="en-US" altLang="zh-CN" sz="2400" b="1" dirty="0">
              <a:latin typeface="等线" panose="02010600030101010101" pitchFamily="2" charset="-122"/>
              <a:ea typeface="等线" panose="02010600030101010101" pitchFamily="2" charset="-122"/>
            </a:endParaRPr>
          </a:p>
        </p:txBody>
      </p:sp>
      <p:sp>
        <p:nvSpPr>
          <p:cNvPr id="400388" name="Rectangle 4"/>
          <p:cNvSpPr>
            <a:spLocks noChangeArrowheads="1"/>
          </p:cNvSpPr>
          <p:nvPr/>
        </p:nvSpPr>
        <p:spPr bwMode="auto">
          <a:xfrm>
            <a:off x="672774" y="2274243"/>
            <a:ext cx="807785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indent="266700" algn="ctr"/>
            <a:r>
              <a:rPr lang="zh-CN" altLang="en-US" sz="2400" b="1" dirty="0">
                <a:latin typeface="等线" panose="02010600030101010101" pitchFamily="2" charset="-122"/>
                <a:ea typeface="等线" panose="02010600030101010101" pitchFamily="2" charset="-122"/>
              </a:rPr>
              <a:t>門</a:t>
            </a:r>
            <a:r>
              <a:rPr lang="en-US" altLang="zh-CN" sz="2400" b="1" dirty="0">
                <a:latin typeface="等线" panose="02010600030101010101" pitchFamily="2" charset="-122"/>
                <a:ea typeface="等线" panose="02010600030101010101" pitchFamily="2" charset="-122"/>
              </a:rPr>
              <a:t>13~16</a:t>
            </a:r>
            <a:r>
              <a:rPr lang="zh-CN" altLang="en-US" sz="2400" b="1" dirty="0">
                <a:latin typeface="等线" panose="02010600030101010101" pitchFamily="2" charset="-122"/>
                <a:ea typeface="等线" panose="02010600030101010101" pitchFamily="2" charset="-122"/>
              </a:rPr>
              <a:t>均被封鎖，位元間沒有操作，電路執行邏輯運算</a:t>
            </a:r>
          </a:p>
        </p:txBody>
      </p:sp>
      <p:grpSp>
        <p:nvGrpSpPr>
          <p:cNvPr id="400389" name="Group 5"/>
          <p:cNvGrpSpPr>
            <a:grpSpLocks/>
          </p:cNvGrpSpPr>
          <p:nvPr/>
        </p:nvGrpSpPr>
        <p:grpSpPr bwMode="auto">
          <a:xfrm>
            <a:off x="827088" y="2781300"/>
            <a:ext cx="3560762" cy="520700"/>
            <a:chOff x="521" y="1752"/>
            <a:chExt cx="2243" cy="328"/>
          </a:xfrm>
        </p:grpSpPr>
        <p:sp>
          <p:nvSpPr>
            <p:cNvPr id="400390" name="Rectangle 6"/>
            <p:cNvSpPr>
              <a:spLocks noChangeArrowheads="1"/>
            </p:cNvSpPr>
            <p:nvPr/>
          </p:nvSpPr>
          <p:spPr bwMode="auto">
            <a:xfrm>
              <a:off x="521" y="1752"/>
              <a:ext cx="11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電路輸出為 </a:t>
              </a:r>
            </a:p>
          </p:txBody>
        </p:sp>
        <p:graphicFrame>
          <p:nvGraphicFramePr>
            <p:cNvPr id="400391" name="Object 7"/>
            <p:cNvGraphicFramePr>
              <a:graphicFrameLocks noChangeAspect="1"/>
            </p:cNvGraphicFramePr>
            <p:nvPr>
              <p:extLst>
                <p:ext uri="{D42A27DB-BD31-4B8C-83A1-F6EECF244321}">
                  <p14:modId xmlns:p14="http://schemas.microsoft.com/office/powerpoint/2010/main" val="3938506144"/>
                </p:ext>
              </p:extLst>
            </p:nvPr>
          </p:nvGraphicFramePr>
          <p:xfrm>
            <a:off x="1537" y="1752"/>
            <a:ext cx="1227" cy="328"/>
          </p:xfrm>
          <a:graphic>
            <a:graphicData uri="http://schemas.openxmlformats.org/presentationml/2006/ole">
              <mc:AlternateContent xmlns:mc="http://schemas.openxmlformats.org/markup-compatibility/2006">
                <mc:Choice xmlns:v="urn:schemas-microsoft-com:vml" Requires="v">
                  <p:oleObj name="公式" r:id="rId2" imgW="952200" imgH="253800" progId="Equation.3">
                    <p:embed/>
                  </p:oleObj>
                </mc:Choice>
                <mc:Fallback>
                  <p:oleObj name="公式" r:id="rId2" imgW="952200" imgH="253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7" y="1752"/>
                          <a:ext cx="1227" cy="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00392" name="Rectangle 8"/>
          <p:cNvSpPr>
            <a:spLocks noChangeArrowheads="1"/>
          </p:cNvSpPr>
          <p:nvPr/>
        </p:nvSpPr>
        <p:spPr bwMode="auto">
          <a:xfrm>
            <a:off x="827088" y="3318083"/>
            <a:ext cx="264687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b="1" dirty="0">
                <a:latin typeface="等线" panose="02010600030101010101" pitchFamily="2" charset="-122"/>
                <a:ea typeface="等线" panose="02010600030101010101" pitchFamily="2" charset="-122"/>
              </a:rPr>
              <a:t>電路是異或非邏輯</a:t>
            </a:r>
            <a:endParaRPr lang="en-US" altLang="zh-CN" sz="2400" b="1" dirty="0">
              <a:latin typeface="等线" panose="02010600030101010101" pitchFamily="2" charset="-122"/>
              <a:ea typeface="等线" panose="02010600030101010101" pitchFamily="2" charset="-122"/>
            </a:endParaRPr>
          </a:p>
          <a:p>
            <a:r>
              <a:rPr lang="zh-CN" altLang="en-US" b="1" dirty="0">
                <a:latin typeface="等线" panose="02010600030101010101" pitchFamily="2" charset="-122"/>
                <a:ea typeface="等线" panose="02010600030101010101" pitchFamily="2" charset="-122"/>
              </a:rPr>
              <a:t>（比較器）</a:t>
            </a:r>
            <a:r>
              <a:rPr lang="en-US" altLang="zh-CN" sz="2400" b="1" dirty="0">
                <a:latin typeface="等线" panose="02010600030101010101" pitchFamily="2" charset="-122"/>
                <a:ea typeface="等线" panose="02010600030101010101" pitchFamily="2" charset="-122"/>
              </a:rPr>
              <a:t>. </a:t>
            </a:r>
          </a:p>
        </p:txBody>
      </p:sp>
      <p:graphicFrame>
        <p:nvGraphicFramePr>
          <p:cNvPr id="400393" name="Object 9"/>
          <p:cNvGraphicFramePr>
            <a:graphicFrameLocks noChangeAspect="1"/>
          </p:cNvGraphicFramePr>
          <p:nvPr/>
        </p:nvGraphicFramePr>
        <p:xfrm>
          <a:off x="4211638" y="3357563"/>
          <a:ext cx="4679950" cy="3227387"/>
        </p:xfrm>
        <a:graphic>
          <a:graphicData uri="http://schemas.openxmlformats.org/presentationml/2006/ole">
            <mc:AlternateContent xmlns:mc="http://schemas.openxmlformats.org/markup-compatibility/2006">
              <mc:Choice xmlns:v="urn:schemas-microsoft-com:vml" Requires="v">
                <p:oleObj name="Image" r:id="rId4" imgW="5142857" imgH="3546122" progId="">
                  <p:embed/>
                </p:oleObj>
              </mc:Choice>
              <mc:Fallback>
                <p:oleObj name="Image" r:id="rId4" imgW="5142857" imgH="3546122"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3357563"/>
                        <a:ext cx="4679950" cy="322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2">
            <a:extLst>
              <a:ext uri="{FF2B5EF4-FFF2-40B4-BE49-F238E27FC236}">
                <a16:creationId xmlns:a16="http://schemas.microsoft.com/office/drawing/2014/main" id="{36BEEEE6-E2DB-4222-A142-DEE5987276B3}"/>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(45)</a:t>
            </a:r>
          </a:p>
        </p:txBody>
      </p:sp>
    </p:spTree>
    <p:extLst>
      <p:ext uri="{BB962C8B-B14F-4D97-AF65-F5344CB8AC3E}">
        <p14:creationId xmlns:p14="http://schemas.microsoft.com/office/powerpoint/2010/main" val="41593585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0387"/>
                                        </p:tgtEl>
                                        <p:attrNameLst>
                                          <p:attrName>style.visibility</p:attrName>
                                        </p:attrNameLst>
                                      </p:cBhvr>
                                      <p:to>
                                        <p:strVal val="visible"/>
                                      </p:to>
                                    </p:set>
                                    <p:anim calcmode="lin" valueType="num">
                                      <p:cBhvr additive="base">
                                        <p:cTn id="7" dur="500" fill="hold"/>
                                        <p:tgtEl>
                                          <p:spTgt spid="400387"/>
                                        </p:tgtEl>
                                        <p:attrNameLst>
                                          <p:attrName>ppt_x</p:attrName>
                                        </p:attrNameLst>
                                      </p:cBhvr>
                                      <p:tavLst>
                                        <p:tav tm="0">
                                          <p:val>
                                            <p:strVal val="#ppt_x"/>
                                          </p:val>
                                        </p:tav>
                                        <p:tav tm="100000">
                                          <p:val>
                                            <p:strVal val="#ppt_x"/>
                                          </p:val>
                                        </p:tav>
                                      </p:tavLst>
                                    </p:anim>
                                    <p:anim calcmode="lin" valueType="num">
                                      <p:cBhvr additive="base">
                                        <p:cTn id="8" dur="500" fill="hold"/>
                                        <p:tgtEl>
                                          <p:spTgt spid="40038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0038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40038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00392"/>
                                        </p:tgtEl>
                                        <p:attrNameLst>
                                          <p:attrName>style.visibility</p:attrName>
                                        </p:attrNameLst>
                                      </p:cBhvr>
                                      <p:to>
                                        <p:strVal val="visible"/>
                                      </p:to>
                                    </p:set>
                                  </p:childTnLst>
                                </p:cTn>
                              </p:par>
                            </p:childTnLst>
                          </p:cTn>
                        </p:par>
                        <p:par>
                          <p:cTn id="21" fill="hold" nodeType="afterGroup">
                            <p:stCondLst>
                              <p:cond delay="500"/>
                            </p:stCondLst>
                            <p:childTnLst>
                              <p:par>
                                <p:cTn id="22" presetID="1" presetClass="entr" presetSubtype="0" fill="hold" nodeType="afterEffect">
                                  <p:stCondLst>
                                    <p:cond delay="0"/>
                                  </p:stCondLst>
                                  <p:childTnLst>
                                    <p:set>
                                      <p:cBhvr>
                                        <p:cTn id="23" dur="1" fill="hold">
                                          <p:stCondLst>
                                            <p:cond delay="499"/>
                                          </p:stCondLst>
                                        </p:cTn>
                                        <p:tgtEl>
                                          <p:spTgt spid="4003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7" grpId="0" autoUpdateAnimBg="0"/>
      <p:bldP spid="400388" grpId="0" autoUpdateAnimBg="0"/>
      <p:bldP spid="400392"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MIT</a:t>
            </a:r>
            <a:r>
              <a:rPr lang="zh-CN" altLang="en-US" dirty="0"/>
              <a:t>數位邏輯電路課中的</a:t>
            </a:r>
            <a:r>
              <a:rPr lang="en-US" altLang="zh-CN" dirty="0"/>
              <a:t>ALU</a:t>
            </a:r>
            <a:r>
              <a:rPr lang="zh-CN" altLang="en-US" dirty="0"/>
              <a:t>課件</a:t>
            </a:r>
          </a:p>
        </p:txBody>
      </p:sp>
      <p:sp>
        <p:nvSpPr>
          <p:cNvPr id="6" name="文本占位符 5"/>
          <p:cNvSpPr>
            <a:spLocks noGrp="1"/>
          </p:cNvSpPr>
          <p:nvPr>
            <p:ph type="body"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DE62D0AB-BF6E-4BE0-85BF-D4430B89A161}" type="slidenum">
              <a:rPr lang="en-US" altLang="zh-CN" smtClean="0"/>
              <a:pPr/>
              <a:t>58</a:t>
            </a:fld>
            <a:endParaRPr lang="en-US" altLang="zh-CN" dirty="0"/>
          </a:p>
        </p:txBody>
      </p:sp>
    </p:spTree>
    <p:extLst>
      <p:ext uri="{BB962C8B-B14F-4D97-AF65-F5344CB8AC3E}">
        <p14:creationId xmlns:p14="http://schemas.microsoft.com/office/powerpoint/2010/main" val="8034151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59</a:t>
            </a:fld>
            <a:endParaRPr lang="en-US" altLang="zh-CN" dirty="0"/>
          </a:p>
        </p:txBody>
      </p:sp>
      <p:pic>
        <p:nvPicPr>
          <p:cNvPr id="6400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
            <a:ext cx="8820472" cy="6815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72074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60</a:t>
            </a:fld>
            <a:endParaRPr lang="en-US" altLang="zh-CN" dirty="0"/>
          </a:p>
        </p:txBody>
      </p:sp>
      <p:pic>
        <p:nvPicPr>
          <p:cNvPr id="64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37" y="0"/>
            <a:ext cx="887505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21727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61</a:t>
            </a:fld>
            <a:endParaRPr lang="en-US" altLang="zh-CN" dirty="0"/>
          </a:p>
        </p:txBody>
      </p:sp>
      <p:pic>
        <p:nvPicPr>
          <p:cNvPr id="64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37" y="0"/>
            <a:ext cx="887505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64316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62</a:t>
            </a:fld>
            <a:endParaRPr lang="en-US" altLang="zh-CN" dirty="0"/>
          </a:p>
        </p:txBody>
      </p:sp>
      <p:pic>
        <p:nvPicPr>
          <p:cNvPr id="64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35" y="-1"/>
            <a:ext cx="8875061" cy="6858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00755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63</a:t>
            </a:fld>
            <a:endParaRPr lang="en-US" altLang="zh-CN" dirty="0"/>
          </a:p>
        </p:txBody>
      </p:sp>
      <p:pic>
        <p:nvPicPr>
          <p:cNvPr id="64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36" y="-1"/>
            <a:ext cx="8875060" cy="6858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51642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64</a:t>
            </a:fld>
            <a:endParaRPr lang="en-US" altLang="zh-CN" dirty="0"/>
          </a:p>
        </p:txBody>
      </p:sp>
      <p:pic>
        <p:nvPicPr>
          <p:cNvPr id="64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54" y="5190"/>
            <a:ext cx="8868342" cy="6852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83284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65</a:t>
            </a:fld>
            <a:endParaRPr lang="en-US" altLang="zh-CN" dirty="0"/>
          </a:p>
        </p:txBody>
      </p:sp>
      <p:pic>
        <p:nvPicPr>
          <p:cNvPr id="64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6894"/>
            <a:ext cx="8784976" cy="6788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28711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66</a:t>
            </a:fld>
            <a:endParaRPr lang="en-US" altLang="zh-CN" dirty="0"/>
          </a:p>
        </p:txBody>
      </p:sp>
      <p:pic>
        <p:nvPicPr>
          <p:cNvPr id="64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37" y="0"/>
            <a:ext cx="887505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76932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67</a:t>
            </a:fld>
            <a:endParaRPr lang="en-US" altLang="zh-CN" dirty="0"/>
          </a:p>
        </p:txBody>
      </p:sp>
      <p:pic>
        <p:nvPicPr>
          <p:cNvPr id="64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4" y="11781"/>
            <a:ext cx="8859812" cy="6846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17218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68</a:t>
            </a:fld>
            <a:endParaRPr lang="en-US" altLang="zh-CN" dirty="0"/>
          </a:p>
        </p:txBody>
      </p:sp>
      <p:pic>
        <p:nvPicPr>
          <p:cNvPr id="64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37" y="0"/>
            <a:ext cx="887505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90864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4B30A588-0376-425C-9358-AAC9F8B3AE78}" type="slidenum">
              <a:rPr lang="en-US" altLang="zh-CN" smtClean="0"/>
              <a:pPr/>
              <a:t>69</a:t>
            </a:fld>
            <a:endParaRPr lang="en-US" altLang="zh-CN" dirty="0"/>
          </a:p>
        </p:txBody>
      </p:sp>
      <p:pic>
        <p:nvPicPr>
          <p:cNvPr id="65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37" y="0"/>
            <a:ext cx="887505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56157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734387F-02A2-45A9-B41C-FD32DA3B9EED}" type="slidenum">
              <a:rPr lang="en-US" altLang="zh-CN"/>
              <a:pPr/>
              <a:t>70</a:t>
            </a:fld>
            <a:endParaRPr lang="en-US" altLang="zh-CN" dirty="0"/>
          </a:p>
        </p:txBody>
      </p:sp>
      <p:sp>
        <p:nvSpPr>
          <p:cNvPr id="386050"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386051" name="Rectangle 3"/>
          <p:cNvSpPr>
            <a:spLocks noGrp="1" noChangeArrowheads="1"/>
          </p:cNvSpPr>
          <p:nvPr>
            <p:ph type="body" idx="1"/>
          </p:nvPr>
        </p:nvSpPr>
        <p:spPr/>
        <p:txBody>
          <a:bodyPr>
            <a:normAutofit lnSpcReduction="10000"/>
          </a:bodyPr>
          <a:lstStyle/>
          <a:p>
            <a:r>
              <a:rPr lang="en-US" altLang="zh-CN" b="1" dirty="0"/>
              <a:t>3.3.7 </a:t>
            </a:r>
            <a:r>
              <a:rPr lang="zh-CN" altLang="en-US" b="1" dirty="0"/>
              <a:t>運算器（算數邏輯單元 </a:t>
            </a:r>
            <a:r>
              <a:rPr lang="en-US" altLang="zh-CN" b="1" dirty="0"/>
              <a:t>ALU</a:t>
            </a:r>
            <a:r>
              <a:rPr lang="zh-CN" altLang="en-US" b="1" dirty="0"/>
              <a:t>）</a:t>
            </a:r>
          </a:p>
          <a:p>
            <a:pPr lvl="1"/>
            <a:r>
              <a:rPr lang="zh-CN" altLang="en-US" b="1" dirty="0"/>
              <a:t>加法器</a:t>
            </a:r>
          </a:p>
          <a:p>
            <a:pPr lvl="2"/>
            <a:r>
              <a:rPr lang="en-US" altLang="zh-CN" b="1" dirty="0">
                <a:solidFill>
                  <a:srgbClr val="002060"/>
                </a:solidFill>
              </a:rPr>
              <a:t>1</a:t>
            </a:r>
            <a:r>
              <a:rPr lang="zh-CN" altLang="en-US" b="1" dirty="0">
                <a:solidFill>
                  <a:srgbClr val="002060"/>
                </a:solidFill>
              </a:rPr>
              <a:t>位加法器</a:t>
            </a:r>
          </a:p>
          <a:p>
            <a:pPr lvl="2"/>
            <a:r>
              <a:rPr lang="en-US" altLang="zh-CN" b="1" dirty="0">
                <a:solidFill>
                  <a:srgbClr val="002060"/>
                </a:solidFill>
              </a:rPr>
              <a:t>4</a:t>
            </a:r>
            <a:r>
              <a:rPr lang="zh-CN" altLang="en-US" b="1" dirty="0">
                <a:solidFill>
                  <a:srgbClr val="002060"/>
                </a:solidFill>
              </a:rPr>
              <a:t>位元串列進位元加法器</a:t>
            </a:r>
          </a:p>
          <a:p>
            <a:pPr lvl="2"/>
            <a:r>
              <a:rPr lang="en-US" altLang="zh-CN" b="1" dirty="0">
                <a:solidFill>
                  <a:srgbClr val="002060"/>
                </a:solidFill>
              </a:rPr>
              <a:t>4</a:t>
            </a:r>
            <a:r>
              <a:rPr lang="zh-CN" altLang="en-US" b="1" dirty="0">
                <a:solidFill>
                  <a:srgbClr val="002060"/>
                </a:solidFill>
              </a:rPr>
              <a:t>位元並行進位元加法器和快速進位元邏輯</a:t>
            </a:r>
          </a:p>
          <a:p>
            <a:pPr lvl="2"/>
            <a:r>
              <a:rPr lang="en-US" altLang="zh-CN" b="1" dirty="0"/>
              <a:t>16</a:t>
            </a:r>
            <a:r>
              <a:rPr lang="zh-CN" altLang="en-US" b="1" dirty="0"/>
              <a:t>位並行進位加法器</a:t>
            </a:r>
          </a:p>
          <a:p>
            <a:pPr lvl="1"/>
            <a:r>
              <a:rPr lang="zh-CN" altLang="en-US" dirty="0"/>
              <a:t>算數運算邏輯單元</a:t>
            </a:r>
          </a:p>
          <a:p>
            <a:pPr lvl="2"/>
            <a:r>
              <a:rPr lang="en-US" altLang="zh-CN" b="1" dirty="0"/>
              <a:t>4</a:t>
            </a:r>
            <a:r>
              <a:rPr lang="zh-CN" altLang="en-US" b="1" dirty="0"/>
              <a:t>位元算術邏輯運算單元</a:t>
            </a:r>
            <a:endParaRPr lang="en-US" altLang="zh-CN" b="1" dirty="0"/>
          </a:p>
          <a:p>
            <a:pPr lvl="1"/>
            <a:r>
              <a:rPr lang="zh-CN" altLang="en-US" dirty="0">
                <a:solidFill>
                  <a:srgbClr val="7030A0"/>
                </a:solidFill>
              </a:rPr>
              <a:t>乘法器（不要求掌握</a:t>
            </a:r>
            <a:r>
              <a:rPr lang="en-US" altLang="zh-CN" dirty="0">
                <a:solidFill>
                  <a:srgbClr val="7030A0"/>
                </a:solidFill>
              </a:rPr>
              <a:t>!</a:t>
            </a:r>
            <a:r>
              <a:rPr lang="zh-CN" altLang="en-US" dirty="0">
                <a:solidFill>
                  <a:srgbClr val="7030A0"/>
                </a:solidFill>
              </a:rPr>
              <a:t>）</a:t>
            </a:r>
            <a:endParaRPr lang="en-US" altLang="zh-CN" dirty="0">
              <a:solidFill>
                <a:srgbClr val="7030A0"/>
              </a:solidFill>
            </a:endParaRPr>
          </a:p>
        </p:txBody>
      </p:sp>
    </p:spTree>
    <p:extLst>
      <p:ext uri="{BB962C8B-B14F-4D97-AF65-F5344CB8AC3E}">
        <p14:creationId xmlns:p14="http://schemas.microsoft.com/office/powerpoint/2010/main" val="31580538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37A216C-18A3-466E-BD90-37CCADC359B9}" type="slidenum">
              <a:rPr lang="en-US" altLang="zh-CN"/>
              <a:pPr/>
              <a:t>71</a:t>
            </a:fld>
            <a:endParaRPr lang="en-US" altLang="zh-CN" dirty="0"/>
          </a:p>
        </p:txBody>
      </p:sp>
      <p:sp>
        <p:nvSpPr>
          <p:cNvPr id="250883" name="Rectangle 3"/>
          <p:cNvSpPr>
            <a:spLocks noGrp="1" noChangeArrowheads="1"/>
          </p:cNvSpPr>
          <p:nvPr>
            <p:ph sz="quarter" idx="1"/>
          </p:nvPr>
        </p:nvSpPr>
        <p:spPr>
          <a:xfrm>
            <a:off x="413538" y="914400"/>
            <a:ext cx="8334926" cy="5754688"/>
          </a:xfrm>
        </p:spPr>
        <p:txBody>
          <a:bodyPr>
            <a:normAutofit/>
          </a:bodyPr>
          <a:lstStyle/>
          <a:p>
            <a:pPr>
              <a:lnSpc>
                <a:spcPct val="90000"/>
              </a:lnSpc>
            </a:pPr>
            <a:r>
              <a:rPr lang="zh-CN" altLang="en-US" dirty="0"/>
              <a:t>乘法器</a:t>
            </a:r>
            <a:endParaRPr lang="en-US" altLang="zh-CN" sz="3200" baseline="-25000" dirty="0"/>
          </a:p>
        </p:txBody>
      </p:sp>
      <p:sp>
        <p:nvSpPr>
          <p:cNvPr id="30" name="Rectangle 2">
            <a:extLst>
              <a:ext uri="{FF2B5EF4-FFF2-40B4-BE49-F238E27FC236}">
                <a16:creationId xmlns:a16="http://schemas.microsoft.com/office/drawing/2014/main" id="{41D43722-B50A-41C8-BC92-3CBE824BACD3}"/>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(46)</a:t>
            </a:r>
          </a:p>
        </p:txBody>
      </p:sp>
      <p:sp>
        <p:nvSpPr>
          <p:cNvPr id="3" name="文本框 2">
            <a:extLst>
              <a:ext uri="{FF2B5EF4-FFF2-40B4-BE49-F238E27FC236}">
                <a16:creationId xmlns:a16="http://schemas.microsoft.com/office/drawing/2014/main" id="{6BA6D41D-23B0-41F0-8AE9-D5440FFC7349}"/>
              </a:ext>
            </a:extLst>
          </p:cNvPr>
          <p:cNvSpPr txBox="1"/>
          <p:nvPr/>
        </p:nvSpPr>
        <p:spPr>
          <a:xfrm>
            <a:off x="766792" y="1772816"/>
            <a:ext cx="7981672" cy="3046988"/>
          </a:xfrm>
          <a:prstGeom prst="rect">
            <a:avLst/>
          </a:prstGeom>
          <a:noFill/>
        </p:spPr>
        <p:txBody>
          <a:bodyPr wrap="square" rtlCol="0">
            <a:spAutoFit/>
          </a:bodyPr>
          <a:lstStyle/>
          <a:p>
            <a:r>
              <a:rPr lang="zh-CN" altLang="en-US" sz="3200" dirty="0">
                <a:latin typeface="等线" panose="02010600030101010101" pitchFamily="2" charset="-122"/>
                <a:ea typeface="等线" panose="02010600030101010101" pitchFamily="2" charset="-122"/>
              </a:rPr>
              <a:t>深度學習和大模型技術的迅速發展，如何實現更加高效的計算？比如</a:t>
            </a:r>
            <a:r>
              <a:rPr lang="en-US" altLang="zh-CN" sz="3200" dirty="0">
                <a:latin typeface="等线" panose="02010600030101010101" pitchFamily="2" charset="-122"/>
                <a:ea typeface="等线" panose="02010600030101010101" pitchFamily="2" charset="-122"/>
              </a:rPr>
              <a:t>4-bit</a:t>
            </a:r>
            <a:r>
              <a:rPr lang="zh-CN" altLang="en-US" sz="3200" dirty="0">
                <a:latin typeface="等线" panose="02010600030101010101" pitchFamily="2" charset="-122"/>
                <a:ea typeface="等线" panose="02010600030101010101" pitchFamily="2" charset="-122"/>
              </a:rPr>
              <a:t>量化的大模型的基本計算單元，需要</a:t>
            </a:r>
            <a:r>
              <a:rPr lang="en-US" altLang="zh-CN" sz="3200" dirty="0">
                <a:latin typeface="等线" panose="02010600030101010101" pitchFamily="2" charset="-122"/>
                <a:ea typeface="等线" panose="02010600030101010101" pitchFamily="2" charset="-122"/>
              </a:rPr>
              <a:t>4-bit</a:t>
            </a:r>
            <a:r>
              <a:rPr lang="zh-CN" altLang="en-US" sz="3200" dirty="0">
                <a:latin typeface="等线" panose="02010600030101010101" pitchFamily="2" charset="-122"/>
                <a:ea typeface="等线" panose="02010600030101010101" pitchFamily="2" charset="-122"/>
              </a:rPr>
              <a:t>加法、</a:t>
            </a:r>
            <a:r>
              <a:rPr lang="en-US" altLang="zh-CN" sz="3200" dirty="0">
                <a:latin typeface="等线" panose="02010600030101010101" pitchFamily="2" charset="-122"/>
                <a:ea typeface="等线" panose="02010600030101010101" pitchFamily="2" charset="-122"/>
              </a:rPr>
              <a:t>4-bit</a:t>
            </a:r>
            <a:r>
              <a:rPr lang="zh-CN" altLang="en-US" sz="3200" dirty="0">
                <a:latin typeface="等线" panose="02010600030101010101" pitchFamily="2" charset="-122"/>
                <a:ea typeface="等线" panose="02010600030101010101" pitchFamily="2" charset="-122"/>
              </a:rPr>
              <a:t>乘法以及其他運算子的組合。</a:t>
            </a:r>
            <a:endParaRPr lang="en-US" altLang="zh-CN" sz="3200" dirty="0">
              <a:latin typeface="等线" panose="02010600030101010101" pitchFamily="2" charset="-122"/>
              <a:ea typeface="等线" panose="02010600030101010101" pitchFamily="2" charset="-122"/>
            </a:endParaRPr>
          </a:p>
          <a:p>
            <a:endParaRPr lang="en-US" altLang="zh-CN" sz="3200" dirty="0">
              <a:latin typeface="等线" panose="02010600030101010101" pitchFamily="2" charset="-122"/>
              <a:ea typeface="等线" panose="02010600030101010101" pitchFamily="2" charset="-122"/>
            </a:endParaRPr>
          </a:p>
          <a:p>
            <a:r>
              <a:rPr lang="zh-CN" altLang="en-US" sz="3200" dirty="0">
                <a:latin typeface="等线" panose="02010600030101010101" pitchFamily="2" charset="-122"/>
                <a:ea typeface="等线" panose="02010600030101010101" pitchFamily="2" charset="-122"/>
              </a:rPr>
              <a:t>從速度優先 轉向 簡單優先。</a:t>
            </a:r>
          </a:p>
        </p:txBody>
      </p:sp>
    </p:spTree>
    <p:extLst>
      <p:ext uri="{BB962C8B-B14F-4D97-AF65-F5344CB8AC3E}">
        <p14:creationId xmlns:p14="http://schemas.microsoft.com/office/powerpoint/2010/main" val="3895050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37A216C-18A3-466E-BD90-37CCADC359B9}" type="slidenum">
              <a:rPr lang="en-US" altLang="zh-CN"/>
              <a:pPr/>
              <a:t>72</a:t>
            </a:fld>
            <a:endParaRPr lang="en-US" altLang="zh-CN" dirty="0"/>
          </a:p>
        </p:txBody>
      </p:sp>
      <p:sp>
        <p:nvSpPr>
          <p:cNvPr id="250883" name="Rectangle 3"/>
          <p:cNvSpPr>
            <a:spLocks noGrp="1" noChangeArrowheads="1"/>
          </p:cNvSpPr>
          <p:nvPr>
            <p:ph sz="quarter" idx="1"/>
          </p:nvPr>
        </p:nvSpPr>
        <p:spPr>
          <a:xfrm>
            <a:off x="413538" y="914400"/>
            <a:ext cx="8334926" cy="5754688"/>
          </a:xfrm>
        </p:spPr>
        <p:txBody>
          <a:bodyPr>
            <a:normAutofit/>
          </a:bodyPr>
          <a:lstStyle/>
          <a:p>
            <a:pPr>
              <a:lnSpc>
                <a:spcPct val="90000"/>
              </a:lnSpc>
            </a:pPr>
            <a:r>
              <a:rPr lang="zh-CN" altLang="en-US" dirty="0"/>
              <a:t>十</a:t>
            </a:r>
            <a:r>
              <a:rPr lang="en-US" altLang="zh-CN" dirty="0"/>
              <a:t>/</a:t>
            </a:r>
            <a:r>
              <a:rPr lang="zh-CN" altLang="en-US" dirty="0"/>
              <a:t>二進位乘法</a:t>
            </a:r>
            <a:endParaRPr lang="en-US" altLang="zh-CN" sz="3200" baseline="-25000" dirty="0"/>
          </a:p>
        </p:txBody>
      </p:sp>
      <p:grpSp>
        <p:nvGrpSpPr>
          <p:cNvPr id="5" name="Group 2">
            <a:extLst>
              <a:ext uri="{FF2B5EF4-FFF2-40B4-BE49-F238E27FC236}">
                <a16:creationId xmlns:a16="http://schemas.microsoft.com/office/drawing/2014/main" id="{3C269A2F-CD20-4FD2-9E5F-45B0487DDB2E}"/>
              </a:ext>
            </a:extLst>
          </p:cNvPr>
          <p:cNvGrpSpPr>
            <a:grpSpLocks/>
          </p:cNvGrpSpPr>
          <p:nvPr/>
        </p:nvGrpSpPr>
        <p:grpSpPr bwMode="auto">
          <a:xfrm>
            <a:off x="1586010" y="3179983"/>
            <a:ext cx="2249092" cy="1476374"/>
            <a:chOff x="944" y="1593"/>
            <a:chExt cx="1889" cy="930"/>
          </a:xfrm>
        </p:grpSpPr>
        <p:sp>
          <p:nvSpPr>
            <p:cNvPr id="7" name="Text Box 3">
              <a:extLst>
                <a:ext uri="{FF2B5EF4-FFF2-40B4-BE49-F238E27FC236}">
                  <a16:creationId xmlns:a16="http://schemas.microsoft.com/office/drawing/2014/main" id="{E1917659-E241-4E25-B503-3E7DDCC5FEE5}"/>
                </a:ext>
              </a:extLst>
            </p:cNvPr>
            <p:cNvSpPr txBox="1">
              <a:spLocks noChangeArrowheads="1"/>
            </p:cNvSpPr>
            <p:nvPr/>
          </p:nvSpPr>
          <p:spPr bwMode="auto">
            <a:xfrm>
              <a:off x="944" y="1593"/>
              <a:ext cx="1889" cy="601"/>
            </a:xfrm>
            <a:prstGeom prst="rect">
              <a:avLst/>
            </a:prstGeom>
            <a:noFill/>
            <a:ln w="9525">
              <a:noFill/>
              <a:miter lim="800000"/>
              <a:headEnd/>
              <a:tailEnd/>
            </a:ln>
            <a:effectLst/>
          </p:spPr>
          <p:txBody>
            <a:bodyPr wrap="none">
              <a:spAutoFit/>
            </a:bodyPr>
            <a:lstStyle/>
            <a:p>
              <a:r>
                <a:rPr lang="zh-CN" altLang="en-US" sz="2800" dirty="0">
                  <a:latin typeface="方正姚体" pitchFamily="2" charset="-122"/>
                  <a:ea typeface="方正姚体" pitchFamily="2" charset="-122"/>
                </a:rPr>
                <a:t>        </a:t>
              </a:r>
              <a:r>
                <a:rPr lang="en-US" altLang="zh-CN" sz="2800" dirty="0">
                  <a:latin typeface="方正姚体" pitchFamily="2" charset="-122"/>
                  <a:ea typeface="方正姚体" pitchFamily="2" charset="-122"/>
                </a:rPr>
                <a:t>0  0  1  1</a:t>
              </a:r>
            </a:p>
            <a:p>
              <a:r>
                <a:rPr lang="en-US" altLang="zh-CN" sz="2800" dirty="0">
                  <a:latin typeface="方正姚体" pitchFamily="2" charset="-122"/>
                  <a:ea typeface="方正姚体" pitchFamily="2" charset="-122"/>
                </a:rPr>
                <a:t>ⅹ)   0  1  0  1</a:t>
              </a:r>
            </a:p>
          </p:txBody>
        </p:sp>
        <p:sp>
          <p:nvSpPr>
            <p:cNvPr id="8" name="Line 4">
              <a:extLst>
                <a:ext uri="{FF2B5EF4-FFF2-40B4-BE49-F238E27FC236}">
                  <a16:creationId xmlns:a16="http://schemas.microsoft.com/office/drawing/2014/main" id="{A996F718-B420-4489-88DD-C40B5F1E3F50}"/>
                </a:ext>
              </a:extLst>
            </p:cNvPr>
            <p:cNvSpPr>
              <a:spLocks noChangeShapeType="1"/>
            </p:cNvSpPr>
            <p:nvPr/>
          </p:nvSpPr>
          <p:spPr bwMode="auto">
            <a:xfrm flipV="1">
              <a:off x="1197" y="2200"/>
              <a:ext cx="1573" cy="11"/>
            </a:xfrm>
            <a:prstGeom prst="line">
              <a:avLst/>
            </a:prstGeom>
            <a:noFill/>
            <a:ln w="9525">
              <a:solidFill>
                <a:schemeClr val="tx1"/>
              </a:solidFill>
              <a:round/>
              <a:headEnd/>
              <a:tailEnd/>
            </a:ln>
            <a:effectLst/>
          </p:spPr>
          <p:txBody>
            <a:bodyPr wrap="none" anchor="ctr"/>
            <a:lstStyle/>
            <a:p>
              <a:endParaRPr lang="zh-CN" altLang="en-US">
                <a:latin typeface="方正姚体" pitchFamily="2" charset="-122"/>
                <a:ea typeface="方正姚体" pitchFamily="2" charset="-122"/>
              </a:endParaRPr>
            </a:p>
          </p:txBody>
        </p:sp>
        <p:sp>
          <p:nvSpPr>
            <p:cNvPr id="9" name="Text Box 5">
              <a:extLst>
                <a:ext uri="{FF2B5EF4-FFF2-40B4-BE49-F238E27FC236}">
                  <a16:creationId xmlns:a16="http://schemas.microsoft.com/office/drawing/2014/main" id="{05219F4E-4B1D-4F34-9223-688407BF44EE}"/>
                </a:ext>
              </a:extLst>
            </p:cNvPr>
            <p:cNvSpPr txBox="1">
              <a:spLocks noChangeArrowheads="1"/>
            </p:cNvSpPr>
            <p:nvPr/>
          </p:nvSpPr>
          <p:spPr bwMode="auto">
            <a:xfrm>
              <a:off x="1559" y="2193"/>
              <a:ext cx="1211" cy="330"/>
            </a:xfrm>
            <a:prstGeom prst="rect">
              <a:avLst/>
            </a:prstGeom>
            <a:noFill/>
            <a:ln w="9525">
              <a:noFill/>
              <a:miter lim="800000"/>
              <a:headEnd/>
              <a:tailEnd/>
            </a:ln>
            <a:effectLst/>
          </p:spPr>
          <p:txBody>
            <a:bodyPr wrap="none">
              <a:spAutoFit/>
            </a:bodyPr>
            <a:lstStyle/>
            <a:p>
              <a:r>
                <a:rPr lang="en-US" altLang="zh-CN" sz="2800" dirty="0">
                  <a:latin typeface="方正姚体" pitchFamily="2" charset="-122"/>
                  <a:ea typeface="方正姚体" pitchFamily="2" charset="-122"/>
                </a:rPr>
                <a:t>0  0  1  1</a:t>
              </a:r>
            </a:p>
          </p:txBody>
        </p:sp>
      </p:grpSp>
      <p:grpSp>
        <p:nvGrpSpPr>
          <p:cNvPr id="10" name="Group 6">
            <a:extLst>
              <a:ext uri="{FF2B5EF4-FFF2-40B4-BE49-F238E27FC236}">
                <a16:creationId xmlns:a16="http://schemas.microsoft.com/office/drawing/2014/main" id="{6362DB1A-D172-471E-8D54-01454166455F}"/>
              </a:ext>
            </a:extLst>
          </p:cNvPr>
          <p:cNvGrpSpPr>
            <a:grpSpLocks/>
          </p:cNvGrpSpPr>
          <p:nvPr/>
        </p:nvGrpSpPr>
        <p:grpSpPr bwMode="auto">
          <a:xfrm>
            <a:off x="865930" y="5029672"/>
            <a:ext cx="2964658" cy="1063624"/>
            <a:chOff x="944" y="2486"/>
            <a:chExt cx="2490" cy="670"/>
          </a:xfrm>
        </p:grpSpPr>
        <p:sp>
          <p:nvSpPr>
            <p:cNvPr id="11" name="Rectangle 7">
              <a:extLst>
                <a:ext uri="{FF2B5EF4-FFF2-40B4-BE49-F238E27FC236}">
                  <a16:creationId xmlns:a16="http://schemas.microsoft.com/office/drawing/2014/main" id="{F6FE8145-9934-486C-BF78-B1BAFEA11666}"/>
                </a:ext>
              </a:extLst>
            </p:cNvPr>
            <p:cNvSpPr>
              <a:spLocks noChangeArrowheads="1"/>
            </p:cNvSpPr>
            <p:nvPr/>
          </p:nvSpPr>
          <p:spPr bwMode="auto">
            <a:xfrm>
              <a:off x="944" y="2486"/>
              <a:ext cx="556" cy="330"/>
            </a:xfrm>
            <a:prstGeom prst="rect">
              <a:avLst/>
            </a:prstGeom>
            <a:noFill/>
            <a:ln w="9525">
              <a:noFill/>
              <a:miter lim="800000"/>
              <a:headEnd/>
              <a:tailEnd/>
            </a:ln>
            <a:effectLst/>
          </p:spPr>
          <p:txBody>
            <a:bodyPr wrap="none">
              <a:spAutoFit/>
            </a:bodyPr>
            <a:lstStyle/>
            <a:p>
              <a:r>
                <a:rPr lang="zh-CN" altLang="en-US" sz="2800" dirty="0">
                  <a:latin typeface="方正姚体" pitchFamily="2" charset="-122"/>
                  <a:ea typeface="方正姚体" pitchFamily="2" charset="-122"/>
                </a:rPr>
                <a:t>＋</a:t>
              </a:r>
              <a:r>
                <a:rPr lang="en-US" altLang="zh-CN" sz="2800" dirty="0">
                  <a:latin typeface="方正姚体" pitchFamily="2" charset="-122"/>
                  <a:ea typeface="方正姚体" pitchFamily="2" charset="-122"/>
                </a:rPr>
                <a:t>)</a:t>
              </a:r>
            </a:p>
          </p:txBody>
        </p:sp>
        <p:sp>
          <p:nvSpPr>
            <p:cNvPr id="12" name="Text Box 8">
              <a:extLst>
                <a:ext uri="{FF2B5EF4-FFF2-40B4-BE49-F238E27FC236}">
                  <a16:creationId xmlns:a16="http://schemas.microsoft.com/office/drawing/2014/main" id="{6DDD1BBF-76FD-45B8-A94A-64B6A18F535C}"/>
                </a:ext>
              </a:extLst>
            </p:cNvPr>
            <p:cNvSpPr txBox="1">
              <a:spLocks noChangeArrowheads="1"/>
            </p:cNvSpPr>
            <p:nvPr/>
          </p:nvSpPr>
          <p:spPr bwMode="auto">
            <a:xfrm>
              <a:off x="1571" y="2490"/>
              <a:ext cx="1211" cy="330"/>
            </a:xfrm>
            <a:prstGeom prst="rect">
              <a:avLst/>
            </a:prstGeom>
            <a:noFill/>
            <a:ln w="9525">
              <a:noFill/>
              <a:miter lim="800000"/>
              <a:headEnd/>
              <a:tailEnd/>
            </a:ln>
            <a:effectLst/>
          </p:spPr>
          <p:txBody>
            <a:bodyPr wrap="none">
              <a:spAutoFit/>
            </a:bodyPr>
            <a:lstStyle/>
            <a:p>
              <a:r>
                <a:rPr lang="en-US" altLang="zh-CN" sz="2800" dirty="0">
                  <a:latin typeface="方正姚体" pitchFamily="2" charset="-122"/>
                  <a:ea typeface="方正姚体" pitchFamily="2" charset="-122"/>
                </a:rPr>
                <a:t>0  0  1  1</a:t>
              </a:r>
            </a:p>
          </p:txBody>
        </p:sp>
        <p:sp>
          <p:nvSpPr>
            <p:cNvPr id="13" name="Line 9">
              <a:extLst>
                <a:ext uri="{FF2B5EF4-FFF2-40B4-BE49-F238E27FC236}">
                  <a16:creationId xmlns:a16="http://schemas.microsoft.com/office/drawing/2014/main" id="{8A949AE9-070D-427C-86EC-C3C08FDAF48E}"/>
                </a:ext>
              </a:extLst>
            </p:cNvPr>
            <p:cNvSpPr>
              <a:spLocks noChangeShapeType="1"/>
            </p:cNvSpPr>
            <p:nvPr/>
          </p:nvSpPr>
          <p:spPr bwMode="auto">
            <a:xfrm flipV="1">
              <a:off x="1149" y="2826"/>
              <a:ext cx="2226" cy="18"/>
            </a:xfrm>
            <a:prstGeom prst="line">
              <a:avLst/>
            </a:prstGeom>
            <a:noFill/>
            <a:ln w="9525">
              <a:solidFill>
                <a:schemeClr val="tx1"/>
              </a:solidFill>
              <a:round/>
              <a:headEnd/>
              <a:tailEnd/>
            </a:ln>
            <a:effectLst/>
          </p:spPr>
          <p:txBody>
            <a:bodyPr wrap="none" anchor="ctr"/>
            <a:lstStyle/>
            <a:p>
              <a:endParaRPr lang="zh-CN" altLang="en-US">
                <a:latin typeface="方正姚体" pitchFamily="2" charset="-122"/>
                <a:ea typeface="方正姚体" pitchFamily="2" charset="-122"/>
              </a:endParaRPr>
            </a:p>
          </p:txBody>
        </p:sp>
        <p:sp>
          <p:nvSpPr>
            <p:cNvPr id="14" name="Text Box 10">
              <a:extLst>
                <a:ext uri="{FF2B5EF4-FFF2-40B4-BE49-F238E27FC236}">
                  <a16:creationId xmlns:a16="http://schemas.microsoft.com/office/drawing/2014/main" id="{7E19CDE0-2D4D-4CF4-AA61-E30D7B508D41}"/>
                </a:ext>
              </a:extLst>
            </p:cNvPr>
            <p:cNvSpPr txBox="1">
              <a:spLocks noChangeArrowheads="1"/>
            </p:cNvSpPr>
            <p:nvPr/>
          </p:nvSpPr>
          <p:spPr bwMode="auto">
            <a:xfrm>
              <a:off x="1583" y="2826"/>
              <a:ext cx="1851" cy="330"/>
            </a:xfrm>
            <a:prstGeom prst="rect">
              <a:avLst/>
            </a:prstGeom>
            <a:noFill/>
            <a:ln w="9525">
              <a:noFill/>
              <a:miter lim="800000"/>
              <a:headEnd/>
              <a:tailEnd/>
            </a:ln>
            <a:effectLst/>
          </p:spPr>
          <p:txBody>
            <a:bodyPr wrap="square">
              <a:spAutoFit/>
            </a:bodyPr>
            <a:lstStyle/>
            <a:p>
              <a:r>
                <a:rPr lang="en-US" altLang="zh-CN" sz="2800" dirty="0">
                  <a:latin typeface="方正姚体" pitchFamily="2" charset="-122"/>
                  <a:ea typeface="方正姚体" pitchFamily="2" charset="-122"/>
                </a:rPr>
                <a:t>0  0  1  1  1  1</a:t>
              </a:r>
            </a:p>
          </p:txBody>
        </p:sp>
      </p:grpSp>
      <p:sp>
        <p:nvSpPr>
          <p:cNvPr id="15" name="Text Box 11">
            <a:extLst>
              <a:ext uri="{FF2B5EF4-FFF2-40B4-BE49-F238E27FC236}">
                <a16:creationId xmlns:a16="http://schemas.microsoft.com/office/drawing/2014/main" id="{479AEB4E-4C28-4162-B5D8-9BEBFB666E7E}"/>
              </a:ext>
            </a:extLst>
          </p:cNvPr>
          <p:cNvSpPr txBox="1">
            <a:spLocks noChangeArrowheads="1"/>
          </p:cNvSpPr>
          <p:nvPr/>
        </p:nvSpPr>
        <p:spPr bwMode="auto">
          <a:xfrm>
            <a:off x="395536" y="2133851"/>
            <a:ext cx="3959738" cy="523220"/>
          </a:xfrm>
          <a:prstGeom prst="rect">
            <a:avLst/>
          </a:prstGeom>
          <a:noFill/>
          <a:ln w="9525">
            <a:noFill/>
            <a:miter lim="800000"/>
            <a:headEnd/>
            <a:tailEnd/>
          </a:ln>
          <a:effectLst/>
        </p:spPr>
        <p:txBody>
          <a:bodyPr wrap="none">
            <a:spAutoFit/>
          </a:bodyPr>
          <a:lstStyle/>
          <a:p>
            <a:r>
              <a:rPr lang="zh-CN" altLang="en-US" sz="2800" b="1" dirty="0">
                <a:latin typeface="方正姚体" pitchFamily="2" charset="-122"/>
                <a:ea typeface="方正姚体" pitchFamily="2" charset="-122"/>
              </a:rPr>
              <a:t>例如：</a:t>
            </a:r>
            <a:r>
              <a:rPr lang="en-US" altLang="zh-CN" sz="2800" dirty="0">
                <a:latin typeface="方正姚体" pitchFamily="2" charset="-122"/>
                <a:ea typeface="方正姚体" pitchFamily="2" charset="-122"/>
              </a:rPr>
              <a:t>0011ⅹ0101=1111</a:t>
            </a:r>
            <a:endParaRPr lang="en-US" altLang="zh-CN" sz="2800" b="1" dirty="0">
              <a:latin typeface="方正姚体" pitchFamily="2" charset="-122"/>
              <a:ea typeface="方正姚体" pitchFamily="2" charset="-122"/>
            </a:endParaRPr>
          </a:p>
        </p:txBody>
      </p:sp>
      <p:grpSp>
        <p:nvGrpSpPr>
          <p:cNvPr id="16" name="Group 12">
            <a:extLst>
              <a:ext uri="{FF2B5EF4-FFF2-40B4-BE49-F238E27FC236}">
                <a16:creationId xmlns:a16="http://schemas.microsoft.com/office/drawing/2014/main" id="{167324C4-306E-48E5-BB2B-ECB4BDBC2688}"/>
              </a:ext>
            </a:extLst>
          </p:cNvPr>
          <p:cNvGrpSpPr>
            <a:grpSpLocks/>
          </p:cNvGrpSpPr>
          <p:nvPr/>
        </p:nvGrpSpPr>
        <p:grpSpPr bwMode="auto">
          <a:xfrm>
            <a:off x="5707036" y="3179976"/>
            <a:ext cx="2969420" cy="1476375"/>
            <a:chOff x="3003" y="1593"/>
            <a:chExt cx="2494" cy="930"/>
          </a:xfrm>
        </p:grpSpPr>
        <p:sp>
          <p:nvSpPr>
            <p:cNvPr id="19" name="Text Box 15">
              <a:extLst>
                <a:ext uri="{FF2B5EF4-FFF2-40B4-BE49-F238E27FC236}">
                  <a16:creationId xmlns:a16="http://schemas.microsoft.com/office/drawing/2014/main" id="{F07A3FBA-3520-40D1-9CDD-D68009F6D1E0}"/>
                </a:ext>
              </a:extLst>
            </p:cNvPr>
            <p:cNvSpPr txBox="1">
              <a:spLocks noChangeArrowheads="1"/>
            </p:cNvSpPr>
            <p:nvPr/>
          </p:nvSpPr>
          <p:spPr bwMode="auto">
            <a:xfrm>
              <a:off x="3003" y="2193"/>
              <a:ext cx="2494" cy="330"/>
            </a:xfrm>
            <a:prstGeom prst="rect">
              <a:avLst/>
            </a:prstGeom>
            <a:noFill/>
            <a:ln w="9525">
              <a:noFill/>
              <a:miter lim="800000"/>
              <a:headEnd/>
              <a:tailEnd/>
            </a:ln>
            <a:effectLst/>
          </p:spPr>
          <p:txBody>
            <a:bodyPr wrap="square">
              <a:spAutoFit/>
            </a:bodyPr>
            <a:lstStyle/>
            <a:p>
              <a:r>
                <a:rPr lang="en-US" altLang="zh-CN" sz="2800" dirty="0">
                  <a:latin typeface="方正姚体" pitchFamily="2" charset="-122"/>
                  <a:ea typeface="方正姚体" pitchFamily="2" charset="-122"/>
                </a:rPr>
                <a:t>  1  1  0  0</a:t>
              </a:r>
            </a:p>
          </p:txBody>
        </p:sp>
        <p:sp>
          <p:nvSpPr>
            <p:cNvPr id="17" name="Text Box 13">
              <a:extLst>
                <a:ext uri="{FF2B5EF4-FFF2-40B4-BE49-F238E27FC236}">
                  <a16:creationId xmlns:a16="http://schemas.microsoft.com/office/drawing/2014/main" id="{032B83B2-25D7-49E0-B341-A7DD2048296D}"/>
                </a:ext>
              </a:extLst>
            </p:cNvPr>
            <p:cNvSpPr txBox="1">
              <a:spLocks noChangeArrowheads="1"/>
            </p:cNvSpPr>
            <p:nvPr/>
          </p:nvSpPr>
          <p:spPr bwMode="auto">
            <a:xfrm>
              <a:off x="3115" y="1593"/>
              <a:ext cx="1838" cy="601"/>
            </a:xfrm>
            <a:prstGeom prst="rect">
              <a:avLst/>
            </a:prstGeom>
            <a:noFill/>
            <a:ln w="9525">
              <a:noFill/>
              <a:miter lim="800000"/>
              <a:headEnd/>
              <a:tailEnd/>
            </a:ln>
            <a:effectLst/>
          </p:spPr>
          <p:txBody>
            <a:bodyPr wrap="none">
              <a:spAutoFit/>
            </a:bodyPr>
            <a:lstStyle/>
            <a:p>
              <a:r>
                <a:rPr lang="zh-CN" altLang="en-US" sz="2800" dirty="0">
                  <a:latin typeface="方正姚体" pitchFamily="2" charset="-122"/>
                  <a:ea typeface="方正姚体" pitchFamily="2" charset="-122"/>
                </a:rPr>
                <a:t>        </a:t>
              </a:r>
              <a:r>
                <a:rPr lang="en-US" altLang="zh-CN" sz="2800" dirty="0">
                  <a:latin typeface="方正姚体" pitchFamily="2" charset="-122"/>
                  <a:ea typeface="方正姚体" pitchFamily="2" charset="-122"/>
                </a:rPr>
                <a:t>1  1  0  0</a:t>
              </a:r>
            </a:p>
            <a:p>
              <a:r>
                <a:rPr lang="en-US" altLang="zh-CN" sz="2800" dirty="0">
                  <a:latin typeface="方正姚体" pitchFamily="2" charset="-122"/>
                  <a:ea typeface="方正姚体" pitchFamily="2" charset="-122"/>
                </a:rPr>
                <a:t>ⅹ)   1  1  0  0</a:t>
              </a:r>
            </a:p>
          </p:txBody>
        </p:sp>
        <p:sp>
          <p:nvSpPr>
            <p:cNvPr id="18" name="Line 14">
              <a:extLst>
                <a:ext uri="{FF2B5EF4-FFF2-40B4-BE49-F238E27FC236}">
                  <a16:creationId xmlns:a16="http://schemas.microsoft.com/office/drawing/2014/main" id="{FDF70C0F-D967-4144-A5C8-D48B5A941563}"/>
                </a:ext>
              </a:extLst>
            </p:cNvPr>
            <p:cNvSpPr>
              <a:spLocks noChangeShapeType="1"/>
            </p:cNvSpPr>
            <p:nvPr/>
          </p:nvSpPr>
          <p:spPr bwMode="auto">
            <a:xfrm>
              <a:off x="3280" y="2211"/>
              <a:ext cx="1673" cy="9"/>
            </a:xfrm>
            <a:prstGeom prst="line">
              <a:avLst/>
            </a:prstGeom>
            <a:noFill/>
            <a:ln w="9525">
              <a:solidFill>
                <a:schemeClr val="tx1"/>
              </a:solidFill>
              <a:round/>
              <a:headEnd/>
              <a:tailEnd/>
            </a:ln>
            <a:effectLst/>
          </p:spPr>
          <p:txBody>
            <a:bodyPr wrap="none" anchor="ctr"/>
            <a:lstStyle/>
            <a:p>
              <a:endParaRPr lang="zh-CN" altLang="en-US">
                <a:latin typeface="方正姚体" pitchFamily="2" charset="-122"/>
                <a:ea typeface="方正姚体" pitchFamily="2" charset="-122"/>
              </a:endParaRPr>
            </a:p>
          </p:txBody>
        </p:sp>
      </p:grpSp>
      <p:grpSp>
        <p:nvGrpSpPr>
          <p:cNvPr id="20" name="Group 16">
            <a:extLst>
              <a:ext uri="{FF2B5EF4-FFF2-40B4-BE49-F238E27FC236}">
                <a16:creationId xmlns:a16="http://schemas.microsoft.com/office/drawing/2014/main" id="{9FD7C1A3-DD60-40C0-9B5D-15D26D1E7308}"/>
              </a:ext>
            </a:extLst>
          </p:cNvPr>
          <p:cNvGrpSpPr>
            <a:grpSpLocks/>
          </p:cNvGrpSpPr>
          <p:nvPr/>
        </p:nvGrpSpPr>
        <p:grpSpPr bwMode="auto">
          <a:xfrm>
            <a:off x="4787860" y="4597621"/>
            <a:ext cx="3562345" cy="1063627"/>
            <a:chOff x="2231" y="2486"/>
            <a:chExt cx="2992" cy="670"/>
          </a:xfrm>
        </p:grpSpPr>
        <p:sp>
          <p:nvSpPr>
            <p:cNvPr id="24" name="Text Box 20">
              <a:extLst>
                <a:ext uri="{FF2B5EF4-FFF2-40B4-BE49-F238E27FC236}">
                  <a16:creationId xmlns:a16="http://schemas.microsoft.com/office/drawing/2014/main" id="{4CF3FE26-90E6-46E2-B219-0FA0435DF696}"/>
                </a:ext>
              </a:extLst>
            </p:cNvPr>
            <p:cNvSpPr txBox="1">
              <a:spLocks noChangeArrowheads="1"/>
            </p:cNvSpPr>
            <p:nvPr/>
          </p:nvSpPr>
          <p:spPr bwMode="auto">
            <a:xfrm>
              <a:off x="2413" y="2826"/>
              <a:ext cx="2810" cy="330"/>
            </a:xfrm>
            <a:prstGeom prst="rect">
              <a:avLst/>
            </a:prstGeom>
            <a:noFill/>
            <a:ln w="9525">
              <a:noFill/>
              <a:miter lim="800000"/>
              <a:headEnd/>
              <a:tailEnd/>
            </a:ln>
            <a:effectLst/>
          </p:spPr>
          <p:txBody>
            <a:bodyPr wrap="square">
              <a:spAutoFit/>
            </a:bodyPr>
            <a:lstStyle/>
            <a:p>
              <a:r>
                <a:rPr lang="en-US" altLang="zh-CN" sz="2800" dirty="0">
                  <a:latin typeface="方正姚体" pitchFamily="2" charset="-122"/>
                  <a:ea typeface="方正姚体" pitchFamily="2" charset="-122"/>
                </a:rPr>
                <a:t>  1  0  0  1  0  0  0  0</a:t>
              </a:r>
            </a:p>
          </p:txBody>
        </p:sp>
        <p:sp>
          <p:nvSpPr>
            <p:cNvPr id="21" name="Rectangle 17">
              <a:extLst>
                <a:ext uri="{FF2B5EF4-FFF2-40B4-BE49-F238E27FC236}">
                  <a16:creationId xmlns:a16="http://schemas.microsoft.com/office/drawing/2014/main" id="{23120920-2999-4A3F-A380-E5CDC6C56626}"/>
                </a:ext>
              </a:extLst>
            </p:cNvPr>
            <p:cNvSpPr>
              <a:spLocks noChangeArrowheads="1"/>
            </p:cNvSpPr>
            <p:nvPr/>
          </p:nvSpPr>
          <p:spPr bwMode="auto">
            <a:xfrm>
              <a:off x="2231" y="2486"/>
              <a:ext cx="607" cy="330"/>
            </a:xfrm>
            <a:prstGeom prst="rect">
              <a:avLst/>
            </a:prstGeom>
            <a:noFill/>
            <a:ln w="9525">
              <a:noFill/>
              <a:miter lim="800000"/>
              <a:headEnd/>
              <a:tailEnd/>
            </a:ln>
            <a:effectLst/>
          </p:spPr>
          <p:txBody>
            <a:bodyPr wrap="none">
              <a:spAutoFit/>
            </a:bodyPr>
            <a:lstStyle/>
            <a:p>
              <a:r>
                <a:rPr lang="zh-CN" altLang="en-US" sz="2800" dirty="0">
                  <a:latin typeface="方正姚体" pitchFamily="2" charset="-122"/>
                  <a:ea typeface="方正姚体" pitchFamily="2" charset="-122"/>
                </a:rPr>
                <a:t>＋</a:t>
              </a:r>
              <a:r>
                <a:rPr lang="en-US" altLang="zh-CN" sz="2800" dirty="0">
                  <a:latin typeface="方正姚体" pitchFamily="2" charset="-122"/>
                  <a:ea typeface="方正姚体" pitchFamily="2" charset="-122"/>
                </a:rPr>
                <a:t>)</a:t>
              </a:r>
            </a:p>
          </p:txBody>
        </p:sp>
        <p:sp>
          <p:nvSpPr>
            <p:cNvPr id="22" name="Text Box 18">
              <a:extLst>
                <a:ext uri="{FF2B5EF4-FFF2-40B4-BE49-F238E27FC236}">
                  <a16:creationId xmlns:a16="http://schemas.microsoft.com/office/drawing/2014/main" id="{70E58D01-2504-48BF-B640-359C530A121F}"/>
                </a:ext>
              </a:extLst>
            </p:cNvPr>
            <p:cNvSpPr txBox="1">
              <a:spLocks noChangeArrowheads="1"/>
            </p:cNvSpPr>
            <p:nvPr/>
          </p:nvSpPr>
          <p:spPr bwMode="auto">
            <a:xfrm>
              <a:off x="2836" y="2490"/>
              <a:ext cx="1211" cy="330"/>
            </a:xfrm>
            <a:prstGeom prst="rect">
              <a:avLst/>
            </a:prstGeom>
            <a:noFill/>
            <a:ln w="9525">
              <a:noFill/>
              <a:miter lim="800000"/>
              <a:headEnd/>
              <a:tailEnd/>
            </a:ln>
            <a:effectLst/>
          </p:spPr>
          <p:txBody>
            <a:bodyPr wrap="none">
              <a:spAutoFit/>
            </a:bodyPr>
            <a:lstStyle/>
            <a:p>
              <a:r>
                <a:rPr lang="en-US" altLang="zh-CN" sz="2800" dirty="0">
                  <a:latin typeface="方正姚体" pitchFamily="2" charset="-122"/>
                  <a:ea typeface="方正姚体" pitchFamily="2" charset="-122"/>
                </a:rPr>
                <a:t>1  1  0  0</a:t>
              </a:r>
            </a:p>
          </p:txBody>
        </p:sp>
        <p:sp>
          <p:nvSpPr>
            <p:cNvPr id="23" name="Line 19">
              <a:extLst>
                <a:ext uri="{FF2B5EF4-FFF2-40B4-BE49-F238E27FC236}">
                  <a16:creationId xmlns:a16="http://schemas.microsoft.com/office/drawing/2014/main" id="{BE778FF6-A5F8-4F76-B43F-D2AD5ABB93CB}"/>
                </a:ext>
              </a:extLst>
            </p:cNvPr>
            <p:cNvSpPr>
              <a:spLocks noChangeShapeType="1"/>
            </p:cNvSpPr>
            <p:nvPr/>
          </p:nvSpPr>
          <p:spPr bwMode="auto">
            <a:xfrm flipV="1">
              <a:off x="2338" y="2842"/>
              <a:ext cx="2615" cy="0"/>
            </a:xfrm>
            <a:prstGeom prst="line">
              <a:avLst/>
            </a:prstGeom>
            <a:noFill/>
            <a:ln w="9525">
              <a:solidFill>
                <a:schemeClr val="tx1"/>
              </a:solidFill>
              <a:round/>
              <a:headEnd/>
              <a:tailEnd/>
            </a:ln>
            <a:effectLst/>
          </p:spPr>
          <p:txBody>
            <a:bodyPr wrap="none" anchor="ctr"/>
            <a:lstStyle/>
            <a:p>
              <a:endParaRPr lang="zh-CN" altLang="en-US">
                <a:latin typeface="方正姚体" pitchFamily="2" charset="-122"/>
                <a:ea typeface="方正姚体" pitchFamily="2" charset="-122"/>
              </a:endParaRPr>
            </a:p>
          </p:txBody>
        </p:sp>
      </p:grpSp>
      <p:sp>
        <p:nvSpPr>
          <p:cNvPr id="26" name="TextBox 6">
            <a:extLst>
              <a:ext uri="{FF2B5EF4-FFF2-40B4-BE49-F238E27FC236}">
                <a16:creationId xmlns:a16="http://schemas.microsoft.com/office/drawing/2014/main" id="{B6BD7290-82E1-4715-9BE8-0708B60D52D2}"/>
              </a:ext>
            </a:extLst>
          </p:cNvPr>
          <p:cNvSpPr txBox="1"/>
          <p:nvPr/>
        </p:nvSpPr>
        <p:spPr>
          <a:xfrm>
            <a:off x="1437936" y="1628800"/>
            <a:ext cx="6806472" cy="523220"/>
          </a:xfrm>
          <a:prstGeom prst="rect">
            <a:avLst/>
          </a:prstGeom>
          <a:noFill/>
        </p:spPr>
        <p:txBody>
          <a:bodyPr wrap="square" rtlCol="0">
            <a:spAutoFit/>
          </a:bodyPr>
          <a:lstStyle/>
          <a:p>
            <a:r>
              <a:rPr lang="en-US" altLang="zh-CN" sz="2800" dirty="0">
                <a:solidFill>
                  <a:srgbClr val="FF0000"/>
                </a:solidFill>
                <a:latin typeface="方正姚体" pitchFamily="2" charset="-122"/>
                <a:ea typeface="方正姚体" pitchFamily="2" charset="-122"/>
              </a:rPr>
              <a:t>     3       5        15            12      12          144</a:t>
            </a:r>
            <a:endParaRPr lang="zh-CN" altLang="en-US" sz="2800" dirty="0">
              <a:solidFill>
                <a:srgbClr val="FF0000"/>
              </a:solidFill>
              <a:latin typeface="方正姚体" pitchFamily="2" charset="-122"/>
              <a:ea typeface="方正姚体" pitchFamily="2" charset="-122"/>
            </a:endParaRPr>
          </a:p>
        </p:txBody>
      </p:sp>
      <p:sp>
        <p:nvSpPr>
          <p:cNvPr id="28" name="Rectangle 24">
            <a:extLst>
              <a:ext uri="{FF2B5EF4-FFF2-40B4-BE49-F238E27FC236}">
                <a16:creationId xmlns:a16="http://schemas.microsoft.com/office/drawing/2014/main" id="{3E281F6F-2F5F-49A2-8A2B-A3AC5EECB3F6}"/>
              </a:ext>
            </a:extLst>
          </p:cNvPr>
          <p:cNvSpPr>
            <a:spLocks noChangeArrowheads="1"/>
          </p:cNvSpPr>
          <p:nvPr/>
        </p:nvSpPr>
        <p:spPr bwMode="auto">
          <a:xfrm>
            <a:off x="4663741" y="2106434"/>
            <a:ext cx="3685624" cy="523220"/>
          </a:xfrm>
          <a:prstGeom prst="rect">
            <a:avLst/>
          </a:prstGeom>
          <a:noFill/>
          <a:ln w="9525">
            <a:noFill/>
            <a:miter lim="800000"/>
            <a:headEnd/>
            <a:tailEnd/>
          </a:ln>
          <a:effectLst/>
        </p:spPr>
        <p:txBody>
          <a:bodyPr wrap="none">
            <a:spAutoFit/>
          </a:bodyPr>
          <a:lstStyle/>
          <a:p>
            <a:r>
              <a:rPr lang="en-US" altLang="zh-CN" sz="2800" dirty="0">
                <a:latin typeface="方正姚体" pitchFamily="2" charset="-122"/>
                <a:ea typeface="方正姚体" pitchFamily="2" charset="-122"/>
              </a:rPr>
              <a:t>1100ⅹ1100= 10010000</a:t>
            </a:r>
          </a:p>
        </p:txBody>
      </p:sp>
      <p:sp>
        <p:nvSpPr>
          <p:cNvPr id="30" name="Rectangle 2">
            <a:extLst>
              <a:ext uri="{FF2B5EF4-FFF2-40B4-BE49-F238E27FC236}">
                <a16:creationId xmlns:a16="http://schemas.microsoft.com/office/drawing/2014/main" id="{41D43722-B50A-41C8-BC92-3CBE824BACD3}"/>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(47)</a:t>
            </a:r>
          </a:p>
        </p:txBody>
      </p:sp>
      <p:sp>
        <p:nvSpPr>
          <p:cNvPr id="32" name="Text Box 8">
            <a:extLst>
              <a:ext uri="{FF2B5EF4-FFF2-40B4-BE49-F238E27FC236}">
                <a16:creationId xmlns:a16="http://schemas.microsoft.com/office/drawing/2014/main" id="{14FCD862-AD7D-43B0-A7B3-63F1A8491963}"/>
              </a:ext>
            </a:extLst>
          </p:cNvPr>
          <p:cNvSpPr txBox="1">
            <a:spLocks noChangeArrowheads="1"/>
          </p:cNvSpPr>
          <p:nvPr/>
        </p:nvSpPr>
        <p:spPr bwMode="auto">
          <a:xfrm>
            <a:off x="1979712" y="4581128"/>
            <a:ext cx="1441848" cy="523875"/>
          </a:xfrm>
          <a:prstGeom prst="rect">
            <a:avLst/>
          </a:prstGeom>
          <a:noFill/>
          <a:ln w="9525">
            <a:noFill/>
            <a:miter lim="800000"/>
            <a:headEnd/>
            <a:tailEnd/>
          </a:ln>
          <a:effectLst/>
        </p:spPr>
        <p:txBody>
          <a:bodyPr wrap="none">
            <a:spAutoFit/>
          </a:bodyPr>
          <a:lstStyle/>
          <a:p>
            <a:r>
              <a:rPr lang="en-US" altLang="zh-CN" sz="2800" dirty="0">
                <a:latin typeface="方正姚体" pitchFamily="2" charset="-122"/>
                <a:ea typeface="方正姚体" pitchFamily="2" charset="-122"/>
              </a:rPr>
              <a:t>0  0  0  0</a:t>
            </a:r>
          </a:p>
        </p:txBody>
      </p:sp>
    </p:spTree>
    <p:extLst>
      <p:ext uri="{BB962C8B-B14F-4D97-AF65-F5344CB8AC3E}">
        <p14:creationId xmlns:p14="http://schemas.microsoft.com/office/powerpoint/2010/main" val="28678043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37A216C-18A3-466E-BD90-37CCADC359B9}" type="slidenum">
              <a:rPr lang="en-US" altLang="zh-CN"/>
              <a:pPr/>
              <a:t>73</a:t>
            </a:fld>
            <a:endParaRPr lang="en-US" altLang="zh-CN" dirty="0"/>
          </a:p>
        </p:txBody>
      </p:sp>
      <p:sp>
        <p:nvSpPr>
          <p:cNvPr id="250883" name="Rectangle 3"/>
          <p:cNvSpPr>
            <a:spLocks noGrp="1" noChangeArrowheads="1"/>
          </p:cNvSpPr>
          <p:nvPr>
            <p:ph sz="quarter" idx="1"/>
          </p:nvPr>
        </p:nvSpPr>
        <p:spPr>
          <a:xfrm>
            <a:off x="413538" y="914400"/>
            <a:ext cx="8334926" cy="5754688"/>
          </a:xfrm>
        </p:spPr>
        <p:txBody>
          <a:bodyPr>
            <a:normAutofit/>
          </a:bodyPr>
          <a:lstStyle/>
          <a:p>
            <a:pPr>
              <a:lnSpc>
                <a:spcPct val="90000"/>
              </a:lnSpc>
            </a:pPr>
            <a:r>
              <a:rPr lang="zh-CN" altLang="en-US" dirty="0"/>
              <a:t>四位乘法器</a:t>
            </a:r>
            <a:endParaRPr lang="en-US" altLang="zh-CN" sz="3200" baseline="-25000" dirty="0"/>
          </a:p>
        </p:txBody>
      </p:sp>
      <p:sp>
        <p:nvSpPr>
          <p:cNvPr id="30" name="Rectangle 2">
            <a:extLst>
              <a:ext uri="{FF2B5EF4-FFF2-40B4-BE49-F238E27FC236}">
                <a16:creationId xmlns:a16="http://schemas.microsoft.com/office/drawing/2014/main" id="{41D43722-B50A-41C8-BC92-3CBE824BACD3}"/>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(48)</a:t>
            </a:r>
          </a:p>
        </p:txBody>
      </p:sp>
      <p:sp>
        <p:nvSpPr>
          <p:cNvPr id="2" name="文本框 1">
            <a:extLst>
              <a:ext uri="{FF2B5EF4-FFF2-40B4-BE49-F238E27FC236}">
                <a16:creationId xmlns:a16="http://schemas.microsoft.com/office/drawing/2014/main" id="{FEB7C560-0608-420C-91C2-8F3B8A7B4DCD}"/>
              </a:ext>
            </a:extLst>
          </p:cNvPr>
          <p:cNvSpPr txBox="1"/>
          <p:nvPr/>
        </p:nvSpPr>
        <p:spPr>
          <a:xfrm>
            <a:off x="7878348" y="2564904"/>
            <a:ext cx="510076" cy="461665"/>
          </a:xfrm>
          <a:prstGeom prst="rect">
            <a:avLst/>
          </a:prstGeom>
          <a:noFill/>
        </p:spPr>
        <p:txBody>
          <a:bodyPr wrap="none" rtlCol="0">
            <a:spAutoFit/>
          </a:bodyPr>
          <a:lstStyle/>
          <a:p>
            <a:r>
              <a:rPr lang="en-US" altLang="zh-CN" dirty="0"/>
              <a:t>A</a:t>
            </a:r>
            <a:r>
              <a:rPr lang="en-US" altLang="zh-CN" baseline="-25000" dirty="0"/>
              <a:t>0</a:t>
            </a:r>
            <a:endParaRPr lang="zh-CN" altLang="en-US" baseline="-25000" dirty="0"/>
          </a:p>
        </p:txBody>
      </p:sp>
      <p:sp>
        <p:nvSpPr>
          <p:cNvPr id="29" name="文本框 28">
            <a:extLst>
              <a:ext uri="{FF2B5EF4-FFF2-40B4-BE49-F238E27FC236}">
                <a16:creationId xmlns:a16="http://schemas.microsoft.com/office/drawing/2014/main" id="{B89C4D5C-6C8E-4721-8107-09C5AB4D01B1}"/>
              </a:ext>
            </a:extLst>
          </p:cNvPr>
          <p:cNvSpPr txBox="1"/>
          <p:nvPr/>
        </p:nvSpPr>
        <p:spPr>
          <a:xfrm>
            <a:off x="7878348" y="3140968"/>
            <a:ext cx="510076" cy="461665"/>
          </a:xfrm>
          <a:prstGeom prst="rect">
            <a:avLst/>
          </a:prstGeom>
          <a:noFill/>
        </p:spPr>
        <p:txBody>
          <a:bodyPr wrap="none" rtlCol="0">
            <a:spAutoFit/>
          </a:bodyPr>
          <a:lstStyle/>
          <a:p>
            <a:r>
              <a:rPr lang="en-US" altLang="zh-CN" dirty="0"/>
              <a:t>B</a:t>
            </a:r>
            <a:r>
              <a:rPr lang="en-US" altLang="zh-CN" baseline="-25000" dirty="0"/>
              <a:t>0</a:t>
            </a:r>
            <a:endParaRPr lang="zh-CN" altLang="en-US" baseline="-25000" dirty="0"/>
          </a:p>
        </p:txBody>
      </p:sp>
      <p:sp>
        <p:nvSpPr>
          <p:cNvPr id="31" name="文本框 30">
            <a:extLst>
              <a:ext uri="{FF2B5EF4-FFF2-40B4-BE49-F238E27FC236}">
                <a16:creationId xmlns:a16="http://schemas.microsoft.com/office/drawing/2014/main" id="{3C30899A-7D84-4EA0-B816-8C5AE5A9BC00}"/>
              </a:ext>
            </a:extLst>
          </p:cNvPr>
          <p:cNvSpPr txBox="1"/>
          <p:nvPr/>
        </p:nvSpPr>
        <p:spPr>
          <a:xfrm>
            <a:off x="7088266" y="2564904"/>
            <a:ext cx="510076" cy="461665"/>
          </a:xfrm>
          <a:prstGeom prst="rect">
            <a:avLst/>
          </a:prstGeom>
          <a:noFill/>
        </p:spPr>
        <p:txBody>
          <a:bodyPr wrap="none" rtlCol="0">
            <a:spAutoFit/>
          </a:bodyPr>
          <a:lstStyle/>
          <a:p>
            <a:r>
              <a:rPr lang="en-US" altLang="zh-CN" dirty="0"/>
              <a:t>A</a:t>
            </a:r>
            <a:r>
              <a:rPr lang="en-US" altLang="zh-CN" baseline="-25000" dirty="0"/>
              <a:t>1</a:t>
            </a:r>
            <a:endParaRPr lang="zh-CN" altLang="en-US" baseline="-25000" dirty="0"/>
          </a:p>
        </p:txBody>
      </p:sp>
      <p:sp>
        <p:nvSpPr>
          <p:cNvPr id="33" name="文本框 32">
            <a:extLst>
              <a:ext uri="{FF2B5EF4-FFF2-40B4-BE49-F238E27FC236}">
                <a16:creationId xmlns:a16="http://schemas.microsoft.com/office/drawing/2014/main" id="{BFA469B1-01B4-4E46-B379-23E321FEC2C7}"/>
              </a:ext>
            </a:extLst>
          </p:cNvPr>
          <p:cNvSpPr txBox="1"/>
          <p:nvPr/>
        </p:nvSpPr>
        <p:spPr>
          <a:xfrm>
            <a:off x="7088266" y="3140968"/>
            <a:ext cx="492443" cy="461665"/>
          </a:xfrm>
          <a:prstGeom prst="rect">
            <a:avLst/>
          </a:prstGeom>
          <a:noFill/>
        </p:spPr>
        <p:txBody>
          <a:bodyPr wrap="none" rtlCol="0">
            <a:spAutoFit/>
          </a:bodyPr>
          <a:lstStyle/>
          <a:p>
            <a:r>
              <a:rPr lang="en-US" altLang="zh-CN" dirty="0"/>
              <a:t>B</a:t>
            </a:r>
            <a:r>
              <a:rPr lang="en-US" altLang="zh-CN" baseline="-25000" dirty="0"/>
              <a:t>1</a:t>
            </a:r>
            <a:endParaRPr lang="zh-CN" altLang="en-US" baseline="-25000" dirty="0"/>
          </a:p>
        </p:txBody>
      </p:sp>
      <p:sp>
        <p:nvSpPr>
          <p:cNvPr id="34" name="文本框 33">
            <a:extLst>
              <a:ext uri="{FF2B5EF4-FFF2-40B4-BE49-F238E27FC236}">
                <a16:creationId xmlns:a16="http://schemas.microsoft.com/office/drawing/2014/main" id="{3BA0396A-A709-4060-8422-8AF8EE0D0809}"/>
              </a:ext>
            </a:extLst>
          </p:cNvPr>
          <p:cNvSpPr txBox="1"/>
          <p:nvPr/>
        </p:nvSpPr>
        <p:spPr>
          <a:xfrm>
            <a:off x="6298185" y="2564904"/>
            <a:ext cx="510076" cy="461665"/>
          </a:xfrm>
          <a:prstGeom prst="rect">
            <a:avLst/>
          </a:prstGeom>
          <a:noFill/>
        </p:spPr>
        <p:txBody>
          <a:bodyPr wrap="none" rtlCol="0">
            <a:spAutoFit/>
          </a:bodyPr>
          <a:lstStyle/>
          <a:p>
            <a:r>
              <a:rPr lang="en-US" altLang="zh-CN" dirty="0"/>
              <a:t>A</a:t>
            </a:r>
            <a:r>
              <a:rPr lang="en-US" altLang="zh-CN" baseline="-25000" dirty="0"/>
              <a:t>2</a:t>
            </a:r>
            <a:endParaRPr lang="zh-CN" altLang="en-US" baseline="-25000" dirty="0"/>
          </a:p>
        </p:txBody>
      </p:sp>
      <p:sp>
        <p:nvSpPr>
          <p:cNvPr id="35" name="文本框 34">
            <a:extLst>
              <a:ext uri="{FF2B5EF4-FFF2-40B4-BE49-F238E27FC236}">
                <a16:creationId xmlns:a16="http://schemas.microsoft.com/office/drawing/2014/main" id="{43628144-838B-4583-AE32-7B9A3DB6C2E6}"/>
              </a:ext>
            </a:extLst>
          </p:cNvPr>
          <p:cNvSpPr txBox="1"/>
          <p:nvPr/>
        </p:nvSpPr>
        <p:spPr>
          <a:xfrm>
            <a:off x="6298185" y="3140968"/>
            <a:ext cx="492443" cy="461665"/>
          </a:xfrm>
          <a:prstGeom prst="rect">
            <a:avLst/>
          </a:prstGeom>
          <a:noFill/>
        </p:spPr>
        <p:txBody>
          <a:bodyPr wrap="none" rtlCol="0">
            <a:spAutoFit/>
          </a:bodyPr>
          <a:lstStyle/>
          <a:p>
            <a:r>
              <a:rPr lang="en-US" altLang="zh-CN" dirty="0"/>
              <a:t>B</a:t>
            </a:r>
            <a:r>
              <a:rPr lang="en-US" altLang="zh-CN" baseline="-25000" dirty="0"/>
              <a:t>2</a:t>
            </a:r>
            <a:endParaRPr lang="zh-CN" altLang="en-US" baseline="-25000" dirty="0"/>
          </a:p>
        </p:txBody>
      </p:sp>
      <p:sp>
        <p:nvSpPr>
          <p:cNvPr id="36" name="文本框 35">
            <a:extLst>
              <a:ext uri="{FF2B5EF4-FFF2-40B4-BE49-F238E27FC236}">
                <a16:creationId xmlns:a16="http://schemas.microsoft.com/office/drawing/2014/main" id="{4CB9787F-F268-47EA-8F75-A836D2D8F87A}"/>
              </a:ext>
            </a:extLst>
          </p:cNvPr>
          <p:cNvSpPr txBox="1"/>
          <p:nvPr/>
        </p:nvSpPr>
        <p:spPr>
          <a:xfrm>
            <a:off x="5508104" y="2564904"/>
            <a:ext cx="510076" cy="461665"/>
          </a:xfrm>
          <a:prstGeom prst="rect">
            <a:avLst/>
          </a:prstGeom>
          <a:noFill/>
        </p:spPr>
        <p:txBody>
          <a:bodyPr wrap="none" rtlCol="0">
            <a:spAutoFit/>
          </a:bodyPr>
          <a:lstStyle/>
          <a:p>
            <a:r>
              <a:rPr lang="en-US" altLang="zh-CN" dirty="0"/>
              <a:t>A</a:t>
            </a:r>
            <a:r>
              <a:rPr lang="en-US" altLang="zh-CN" baseline="-25000" dirty="0"/>
              <a:t>3</a:t>
            </a:r>
            <a:endParaRPr lang="zh-CN" altLang="en-US" baseline="-25000" dirty="0"/>
          </a:p>
        </p:txBody>
      </p:sp>
      <p:sp>
        <p:nvSpPr>
          <p:cNvPr id="37" name="文本框 36">
            <a:extLst>
              <a:ext uri="{FF2B5EF4-FFF2-40B4-BE49-F238E27FC236}">
                <a16:creationId xmlns:a16="http://schemas.microsoft.com/office/drawing/2014/main" id="{C3530758-7D2D-4608-A193-F9C4560B43C8}"/>
              </a:ext>
            </a:extLst>
          </p:cNvPr>
          <p:cNvSpPr txBox="1"/>
          <p:nvPr/>
        </p:nvSpPr>
        <p:spPr>
          <a:xfrm>
            <a:off x="5508104" y="3140968"/>
            <a:ext cx="492443" cy="461665"/>
          </a:xfrm>
          <a:prstGeom prst="rect">
            <a:avLst/>
          </a:prstGeom>
          <a:noFill/>
        </p:spPr>
        <p:txBody>
          <a:bodyPr wrap="none" rtlCol="0">
            <a:spAutoFit/>
          </a:bodyPr>
          <a:lstStyle/>
          <a:p>
            <a:r>
              <a:rPr lang="en-US" altLang="zh-CN" dirty="0"/>
              <a:t>B</a:t>
            </a:r>
            <a:r>
              <a:rPr lang="en-US" altLang="zh-CN" baseline="-25000" dirty="0"/>
              <a:t>3</a:t>
            </a:r>
            <a:endParaRPr lang="zh-CN" altLang="en-US" baseline="-25000" dirty="0"/>
          </a:p>
        </p:txBody>
      </p:sp>
      <p:sp>
        <p:nvSpPr>
          <p:cNvPr id="38" name="Text Box 3">
            <a:extLst>
              <a:ext uri="{FF2B5EF4-FFF2-40B4-BE49-F238E27FC236}">
                <a16:creationId xmlns:a16="http://schemas.microsoft.com/office/drawing/2014/main" id="{D9194F37-D279-4D53-8432-6D0081259D24}"/>
              </a:ext>
            </a:extLst>
          </p:cNvPr>
          <p:cNvSpPr txBox="1">
            <a:spLocks noChangeArrowheads="1"/>
          </p:cNvSpPr>
          <p:nvPr/>
        </p:nvSpPr>
        <p:spPr bwMode="auto">
          <a:xfrm>
            <a:off x="4355976" y="3068960"/>
            <a:ext cx="752129" cy="523220"/>
          </a:xfrm>
          <a:prstGeom prst="rect">
            <a:avLst/>
          </a:prstGeom>
          <a:noFill/>
          <a:ln w="9525">
            <a:noFill/>
            <a:miter lim="800000"/>
            <a:headEnd/>
            <a:tailEnd/>
          </a:ln>
          <a:effectLst/>
        </p:spPr>
        <p:txBody>
          <a:bodyPr wrap="none">
            <a:spAutoFit/>
          </a:bodyPr>
          <a:lstStyle/>
          <a:p>
            <a:r>
              <a:rPr lang="en-US" altLang="zh-CN" sz="2800" dirty="0">
                <a:latin typeface="方正姚体" pitchFamily="2" charset="-122"/>
                <a:ea typeface="方正姚体" pitchFamily="2" charset="-122"/>
              </a:rPr>
              <a:t>ⅹ) </a:t>
            </a:r>
          </a:p>
        </p:txBody>
      </p:sp>
      <p:sp>
        <p:nvSpPr>
          <p:cNvPr id="39" name="Line 4">
            <a:extLst>
              <a:ext uri="{FF2B5EF4-FFF2-40B4-BE49-F238E27FC236}">
                <a16:creationId xmlns:a16="http://schemas.microsoft.com/office/drawing/2014/main" id="{9E888109-4B2A-4BC8-96B8-1E3CC51BE575}"/>
              </a:ext>
            </a:extLst>
          </p:cNvPr>
          <p:cNvSpPr>
            <a:spLocks noChangeShapeType="1"/>
          </p:cNvSpPr>
          <p:nvPr/>
        </p:nvSpPr>
        <p:spPr bwMode="auto">
          <a:xfrm>
            <a:off x="4355975" y="3636168"/>
            <a:ext cx="4291869" cy="1"/>
          </a:xfrm>
          <a:prstGeom prst="line">
            <a:avLst/>
          </a:prstGeom>
          <a:noFill/>
          <a:ln w="9525">
            <a:solidFill>
              <a:schemeClr val="tx1"/>
            </a:solidFill>
            <a:round/>
            <a:headEnd/>
            <a:tailEnd/>
          </a:ln>
          <a:effectLst/>
        </p:spPr>
        <p:txBody>
          <a:bodyPr wrap="none" anchor="ctr"/>
          <a:lstStyle/>
          <a:p>
            <a:endParaRPr lang="zh-CN" altLang="en-US">
              <a:latin typeface="方正姚体" pitchFamily="2" charset="-122"/>
              <a:ea typeface="方正姚体" pitchFamily="2" charset="-122"/>
            </a:endParaRPr>
          </a:p>
        </p:txBody>
      </p:sp>
      <p:sp>
        <p:nvSpPr>
          <p:cNvPr id="40" name="文本框 39">
            <a:extLst>
              <a:ext uri="{FF2B5EF4-FFF2-40B4-BE49-F238E27FC236}">
                <a16:creationId xmlns:a16="http://schemas.microsoft.com/office/drawing/2014/main" id="{8B1E1A5C-F394-449E-8963-A3D5B3953CC4}"/>
              </a:ext>
            </a:extLst>
          </p:cNvPr>
          <p:cNvSpPr txBox="1"/>
          <p:nvPr/>
        </p:nvSpPr>
        <p:spPr>
          <a:xfrm>
            <a:off x="7812360" y="3725684"/>
            <a:ext cx="835485" cy="461665"/>
          </a:xfrm>
          <a:prstGeom prst="rect">
            <a:avLst/>
          </a:prstGeom>
          <a:noFill/>
        </p:spPr>
        <p:txBody>
          <a:bodyPr wrap="none" rtlCol="0">
            <a:spAutoFit/>
          </a:bodyPr>
          <a:lstStyle/>
          <a:p>
            <a:r>
              <a:rPr lang="en-US" altLang="zh-CN" dirty="0"/>
              <a:t>A</a:t>
            </a:r>
            <a:r>
              <a:rPr lang="en-US" altLang="zh-CN" baseline="-25000" dirty="0"/>
              <a:t>0</a:t>
            </a:r>
            <a:r>
              <a:rPr lang="en-US" altLang="zh-CN" dirty="0"/>
              <a:t>B</a:t>
            </a:r>
            <a:r>
              <a:rPr lang="en-US" altLang="zh-CN" baseline="-25000" dirty="0"/>
              <a:t>0</a:t>
            </a:r>
            <a:endParaRPr lang="zh-CN" altLang="en-US" baseline="-25000" dirty="0"/>
          </a:p>
        </p:txBody>
      </p:sp>
      <p:sp>
        <p:nvSpPr>
          <p:cNvPr id="41" name="文本框 40">
            <a:extLst>
              <a:ext uri="{FF2B5EF4-FFF2-40B4-BE49-F238E27FC236}">
                <a16:creationId xmlns:a16="http://schemas.microsoft.com/office/drawing/2014/main" id="{36F1C01F-8F01-4CD7-BF11-BA90539F7354}"/>
              </a:ext>
            </a:extLst>
          </p:cNvPr>
          <p:cNvSpPr txBox="1"/>
          <p:nvPr/>
        </p:nvSpPr>
        <p:spPr>
          <a:xfrm>
            <a:off x="7013466" y="3725684"/>
            <a:ext cx="817853" cy="461665"/>
          </a:xfrm>
          <a:prstGeom prst="rect">
            <a:avLst/>
          </a:prstGeom>
          <a:noFill/>
        </p:spPr>
        <p:txBody>
          <a:bodyPr wrap="none" rtlCol="0">
            <a:spAutoFit/>
          </a:bodyPr>
          <a:lstStyle/>
          <a:p>
            <a:r>
              <a:rPr lang="en-US" altLang="zh-CN" dirty="0"/>
              <a:t>A</a:t>
            </a:r>
            <a:r>
              <a:rPr lang="en-US" altLang="zh-CN" baseline="-25000" dirty="0"/>
              <a:t>1</a:t>
            </a:r>
            <a:r>
              <a:rPr lang="en-US" altLang="zh-CN" dirty="0"/>
              <a:t>B</a:t>
            </a:r>
            <a:r>
              <a:rPr lang="en-US" altLang="zh-CN" baseline="-25000" dirty="0"/>
              <a:t>0</a:t>
            </a:r>
            <a:endParaRPr lang="zh-CN" altLang="en-US" baseline="-25000" dirty="0"/>
          </a:p>
        </p:txBody>
      </p:sp>
      <p:sp>
        <p:nvSpPr>
          <p:cNvPr id="42" name="文本框 41">
            <a:extLst>
              <a:ext uri="{FF2B5EF4-FFF2-40B4-BE49-F238E27FC236}">
                <a16:creationId xmlns:a16="http://schemas.microsoft.com/office/drawing/2014/main" id="{87047594-55E0-4AF7-B2F3-4E026580F709}"/>
              </a:ext>
            </a:extLst>
          </p:cNvPr>
          <p:cNvSpPr txBox="1"/>
          <p:nvPr/>
        </p:nvSpPr>
        <p:spPr>
          <a:xfrm>
            <a:off x="6214572" y="3725684"/>
            <a:ext cx="817853" cy="461665"/>
          </a:xfrm>
          <a:prstGeom prst="rect">
            <a:avLst/>
          </a:prstGeom>
          <a:noFill/>
        </p:spPr>
        <p:txBody>
          <a:bodyPr wrap="none" rtlCol="0">
            <a:spAutoFit/>
          </a:bodyPr>
          <a:lstStyle/>
          <a:p>
            <a:r>
              <a:rPr lang="en-US" altLang="zh-CN" dirty="0"/>
              <a:t>A</a:t>
            </a:r>
            <a:r>
              <a:rPr lang="en-US" altLang="zh-CN" baseline="-25000" dirty="0"/>
              <a:t>2</a:t>
            </a:r>
            <a:r>
              <a:rPr lang="en-US" altLang="zh-CN" dirty="0"/>
              <a:t>B</a:t>
            </a:r>
            <a:r>
              <a:rPr lang="en-US" altLang="zh-CN" baseline="-25000" dirty="0"/>
              <a:t>0</a:t>
            </a:r>
            <a:endParaRPr lang="zh-CN" altLang="en-US" baseline="-25000" dirty="0"/>
          </a:p>
        </p:txBody>
      </p:sp>
      <p:sp>
        <p:nvSpPr>
          <p:cNvPr id="43" name="文本框 42">
            <a:extLst>
              <a:ext uri="{FF2B5EF4-FFF2-40B4-BE49-F238E27FC236}">
                <a16:creationId xmlns:a16="http://schemas.microsoft.com/office/drawing/2014/main" id="{7F93B4D5-F429-49DD-9D2C-EF27589BE33C}"/>
              </a:ext>
            </a:extLst>
          </p:cNvPr>
          <p:cNvSpPr txBox="1"/>
          <p:nvPr/>
        </p:nvSpPr>
        <p:spPr>
          <a:xfrm>
            <a:off x="5415678" y="3725684"/>
            <a:ext cx="817853" cy="461665"/>
          </a:xfrm>
          <a:prstGeom prst="rect">
            <a:avLst/>
          </a:prstGeom>
          <a:noFill/>
        </p:spPr>
        <p:txBody>
          <a:bodyPr wrap="none" rtlCol="0">
            <a:spAutoFit/>
          </a:bodyPr>
          <a:lstStyle/>
          <a:p>
            <a:r>
              <a:rPr lang="en-US" altLang="zh-CN" dirty="0"/>
              <a:t>A</a:t>
            </a:r>
            <a:r>
              <a:rPr lang="en-US" altLang="zh-CN" baseline="-25000" dirty="0"/>
              <a:t>3</a:t>
            </a:r>
            <a:r>
              <a:rPr lang="en-US" altLang="zh-CN" dirty="0"/>
              <a:t>B</a:t>
            </a:r>
            <a:r>
              <a:rPr lang="en-US" altLang="zh-CN" baseline="-25000" dirty="0"/>
              <a:t>0</a:t>
            </a:r>
            <a:endParaRPr lang="zh-CN" altLang="en-US" baseline="-25000" dirty="0"/>
          </a:p>
        </p:txBody>
      </p:sp>
      <p:sp>
        <p:nvSpPr>
          <p:cNvPr id="44" name="文本框 43">
            <a:extLst>
              <a:ext uri="{FF2B5EF4-FFF2-40B4-BE49-F238E27FC236}">
                <a16:creationId xmlns:a16="http://schemas.microsoft.com/office/drawing/2014/main" id="{61DFC9FE-9FDA-4EDA-A224-01D90465AFAD}"/>
              </a:ext>
            </a:extLst>
          </p:cNvPr>
          <p:cNvSpPr txBox="1"/>
          <p:nvPr/>
        </p:nvSpPr>
        <p:spPr>
          <a:xfrm>
            <a:off x="7040690" y="4191471"/>
            <a:ext cx="817853" cy="461665"/>
          </a:xfrm>
          <a:prstGeom prst="rect">
            <a:avLst/>
          </a:prstGeom>
          <a:noFill/>
        </p:spPr>
        <p:txBody>
          <a:bodyPr wrap="none" rtlCol="0">
            <a:spAutoFit/>
          </a:bodyPr>
          <a:lstStyle/>
          <a:p>
            <a:r>
              <a:rPr lang="en-US" altLang="zh-CN" dirty="0"/>
              <a:t>A</a:t>
            </a:r>
            <a:r>
              <a:rPr lang="en-US" altLang="zh-CN" baseline="-25000" dirty="0"/>
              <a:t>0</a:t>
            </a:r>
            <a:r>
              <a:rPr lang="en-US" altLang="zh-CN" dirty="0"/>
              <a:t>B</a:t>
            </a:r>
            <a:r>
              <a:rPr lang="en-US" altLang="zh-CN" baseline="-25000" dirty="0"/>
              <a:t>1</a:t>
            </a:r>
            <a:endParaRPr lang="zh-CN" altLang="en-US" baseline="-25000" dirty="0"/>
          </a:p>
        </p:txBody>
      </p:sp>
      <p:sp>
        <p:nvSpPr>
          <p:cNvPr id="45" name="文本框 44">
            <a:extLst>
              <a:ext uri="{FF2B5EF4-FFF2-40B4-BE49-F238E27FC236}">
                <a16:creationId xmlns:a16="http://schemas.microsoft.com/office/drawing/2014/main" id="{F3C45F36-D0D2-47EA-B62E-368B2ACA8DE0}"/>
              </a:ext>
            </a:extLst>
          </p:cNvPr>
          <p:cNvSpPr txBox="1"/>
          <p:nvPr/>
        </p:nvSpPr>
        <p:spPr>
          <a:xfrm>
            <a:off x="6241796" y="4191471"/>
            <a:ext cx="817853" cy="461665"/>
          </a:xfrm>
          <a:prstGeom prst="rect">
            <a:avLst/>
          </a:prstGeom>
          <a:noFill/>
        </p:spPr>
        <p:txBody>
          <a:bodyPr wrap="none" rtlCol="0">
            <a:spAutoFit/>
          </a:bodyPr>
          <a:lstStyle/>
          <a:p>
            <a:r>
              <a:rPr lang="en-US" altLang="zh-CN" dirty="0"/>
              <a:t>A</a:t>
            </a:r>
            <a:r>
              <a:rPr lang="en-US" altLang="zh-CN" baseline="-25000" dirty="0"/>
              <a:t>1</a:t>
            </a:r>
            <a:r>
              <a:rPr lang="en-US" altLang="zh-CN" dirty="0"/>
              <a:t>B</a:t>
            </a:r>
            <a:r>
              <a:rPr lang="en-US" altLang="zh-CN" baseline="-25000" dirty="0"/>
              <a:t>1</a:t>
            </a:r>
            <a:endParaRPr lang="zh-CN" altLang="en-US" baseline="-25000" dirty="0"/>
          </a:p>
        </p:txBody>
      </p:sp>
      <p:sp>
        <p:nvSpPr>
          <p:cNvPr id="46" name="文本框 45">
            <a:extLst>
              <a:ext uri="{FF2B5EF4-FFF2-40B4-BE49-F238E27FC236}">
                <a16:creationId xmlns:a16="http://schemas.microsoft.com/office/drawing/2014/main" id="{CF8DA47E-17CA-4D14-A470-5A05EF53D3C8}"/>
              </a:ext>
            </a:extLst>
          </p:cNvPr>
          <p:cNvSpPr txBox="1"/>
          <p:nvPr/>
        </p:nvSpPr>
        <p:spPr>
          <a:xfrm>
            <a:off x="5442902" y="4191471"/>
            <a:ext cx="817853" cy="461665"/>
          </a:xfrm>
          <a:prstGeom prst="rect">
            <a:avLst/>
          </a:prstGeom>
          <a:noFill/>
        </p:spPr>
        <p:txBody>
          <a:bodyPr wrap="none" rtlCol="0">
            <a:spAutoFit/>
          </a:bodyPr>
          <a:lstStyle/>
          <a:p>
            <a:r>
              <a:rPr lang="en-US" altLang="zh-CN" dirty="0"/>
              <a:t>A</a:t>
            </a:r>
            <a:r>
              <a:rPr lang="en-US" altLang="zh-CN" baseline="-25000" dirty="0"/>
              <a:t>2</a:t>
            </a:r>
            <a:r>
              <a:rPr lang="en-US" altLang="zh-CN" dirty="0"/>
              <a:t>B</a:t>
            </a:r>
            <a:r>
              <a:rPr lang="en-US" altLang="zh-CN" baseline="-25000" dirty="0"/>
              <a:t>1</a:t>
            </a:r>
            <a:endParaRPr lang="zh-CN" altLang="en-US" baseline="-25000" dirty="0"/>
          </a:p>
        </p:txBody>
      </p:sp>
      <p:sp>
        <p:nvSpPr>
          <p:cNvPr id="47" name="文本框 46">
            <a:extLst>
              <a:ext uri="{FF2B5EF4-FFF2-40B4-BE49-F238E27FC236}">
                <a16:creationId xmlns:a16="http://schemas.microsoft.com/office/drawing/2014/main" id="{E7F012B2-B2E0-43FB-AA5B-8DF7168EB775}"/>
              </a:ext>
            </a:extLst>
          </p:cNvPr>
          <p:cNvSpPr txBox="1"/>
          <p:nvPr/>
        </p:nvSpPr>
        <p:spPr>
          <a:xfrm>
            <a:off x="4644008" y="4191471"/>
            <a:ext cx="817853" cy="461665"/>
          </a:xfrm>
          <a:prstGeom prst="rect">
            <a:avLst/>
          </a:prstGeom>
          <a:noFill/>
        </p:spPr>
        <p:txBody>
          <a:bodyPr wrap="none" rtlCol="0">
            <a:spAutoFit/>
          </a:bodyPr>
          <a:lstStyle/>
          <a:p>
            <a:r>
              <a:rPr lang="en-US" altLang="zh-CN" dirty="0"/>
              <a:t>A</a:t>
            </a:r>
            <a:r>
              <a:rPr lang="en-US" altLang="zh-CN" baseline="-25000" dirty="0"/>
              <a:t>3</a:t>
            </a:r>
            <a:r>
              <a:rPr lang="en-US" altLang="zh-CN" dirty="0"/>
              <a:t>B</a:t>
            </a:r>
            <a:r>
              <a:rPr lang="en-US" altLang="zh-CN" baseline="-25000" dirty="0"/>
              <a:t>1</a:t>
            </a:r>
            <a:endParaRPr lang="zh-CN" altLang="en-US" baseline="-25000" dirty="0"/>
          </a:p>
        </p:txBody>
      </p:sp>
      <p:sp>
        <p:nvSpPr>
          <p:cNvPr id="48" name="文本框 47">
            <a:extLst>
              <a:ext uri="{FF2B5EF4-FFF2-40B4-BE49-F238E27FC236}">
                <a16:creationId xmlns:a16="http://schemas.microsoft.com/office/drawing/2014/main" id="{E40ACD6E-E3F3-4629-BD1B-8B6293CA465F}"/>
              </a:ext>
            </a:extLst>
          </p:cNvPr>
          <p:cNvSpPr txBox="1"/>
          <p:nvPr/>
        </p:nvSpPr>
        <p:spPr>
          <a:xfrm>
            <a:off x="6248602" y="4695527"/>
            <a:ext cx="817853" cy="461665"/>
          </a:xfrm>
          <a:prstGeom prst="rect">
            <a:avLst/>
          </a:prstGeom>
          <a:noFill/>
        </p:spPr>
        <p:txBody>
          <a:bodyPr wrap="none" rtlCol="0">
            <a:spAutoFit/>
          </a:bodyPr>
          <a:lstStyle/>
          <a:p>
            <a:r>
              <a:rPr lang="en-US" altLang="zh-CN" dirty="0"/>
              <a:t>A</a:t>
            </a:r>
            <a:r>
              <a:rPr lang="en-US" altLang="zh-CN" baseline="-25000" dirty="0"/>
              <a:t>0</a:t>
            </a:r>
            <a:r>
              <a:rPr lang="en-US" altLang="zh-CN" dirty="0"/>
              <a:t>B</a:t>
            </a:r>
            <a:r>
              <a:rPr lang="en-US" altLang="zh-CN" baseline="-25000" dirty="0"/>
              <a:t>2</a:t>
            </a:r>
            <a:endParaRPr lang="zh-CN" altLang="en-US" baseline="-25000" dirty="0"/>
          </a:p>
        </p:txBody>
      </p:sp>
      <p:sp>
        <p:nvSpPr>
          <p:cNvPr id="49" name="文本框 48">
            <a:extLst>
              <a:ext uri="{FF2B5EF4-FFF2-40B4-BE49-F238E27FC236}">
                <a16:creationId xmlns:a16="http://schemas.microsoft.com/office/drawing/2014/main" id="{FDF46F9F-C877-45A4-B78C-E3B2FC9B36F6}"/>
              </a:ext>
            </a:extLst>
          </p:cNvPr>
          <p:cNvSpPr txBox="1"/>
          <p:nvPr/>
        </p:nvSpPr>
        <p:spPr>
          <a:xfrm>
            <a:off x="5449708" y="4695527"/>
            <a:ext cx="817853" cy="461665"/>
          </a:xfrm>
          <a:prstGeom prst="rect">
            <a:avLst/>
          </a:prstGeom>
          <a:noFill/>
        </p:spPr>
        <p:txBody>
          <a:bodyPr wrap="none" rtlCol="0">
            <a:spAutoFit/>
          </a:bodyPr>
          <a:lstStyle/>
          <a:p>
            <a:r>
              <a:rPr lang="en-US" altLang="zh-CN" dirty="0"/>
              <a:t>A</a:t>
            </a:r>
            <a:r>
              <a:rPr lang="en-US" altLang="zh-CN" baseline="-25000" dirty="0"/>
              <a:t>1</a:t>
            </a:r>
            <a:r>
              <a:rPr lang="en-US" altLang="zh-CN" dirty="0"/>
              <a:t>B</a:t>
            </a:r>
            <a:r>
              <a:rPr lang="en-US" altLang="zh-CN" baseline="-25000" dirty="0"/>
              <a:t>2</a:t>
            </a:r>
            <a:endParaRPr lang="zh-CN" altLang="en-US" baseline="-25000" dirty="0"/>
          </a:p>
        </p:txBody>
      </p:sp>
      <p:sp>
        <p:nvSpPr>
          <p:cNvPr id="50" name="文本框 49">
            <a:extLst>
              <a:ext uri="{FF2B5EF4-FFF2-40B4-BE49-F238E27FC236}">
                <a16:creationId xmlns:a16="http://schemas.microsoft.com/office/drawing/2014/main" id="{7AE48BF0-CC60-4555-931A-2DA76E3B3F13}"/>
              </a:ext>
            </a:extLst>
          </p:cNvPr>
          <p:cNvSpPr txBox="1"/>
          <p:nvPr/>
        </p:nvSpPr>
        <p:spPr>
          <a:xfrm>
            <a:off x="4650814" y="4695527"/>
            <a:ext cx="817853" cy="461665"/>
          </a:xfrm>
          <a:prstGeom prst="rect">
            <a:avLst/>
          </a:prstGeom>
          <a:noFill/>
        </p:spPr>
        <p:txBody>
          <a:bodyPr wrap="none" rtlCol="0">
            <a:spAutoFit/>
          </a:bodyPr>
          <a:lstStyle/>
          <a:p>
            <a:r>
              <a:rPr lang="en-US" altLang="zh-CN" dirty="0"/>
              <a:t>A</a:t>
            </a:r>
            <a:r>
              <a:rPr lang="en-US" altLang="zh-CN" baseline="-25000" dirty="0"/>
              <a:t>2</a:t>
            </a:r>
            <a:r>
              <a:rPr lang="en-US" altLang="zh-CN" dirty="0"/>
              <a:t>B</a:t>
            </a:r>
            <a:r>
              <a:rPr lang="en-US" altLang="zh-CN" baseline="-25000" dirty="0"/>
              <a:t>2</a:t>
            </a:r>
            <a:endParaRPr lang="zh-CN" altLang="en-US" baseline="-25000" dirty="0"/>
          </a:p>
        </p:txBody>
      </p:sp>
      <p:sp>
        <p:nvSpPr>
          <p:cNvPr id="51" name="文本框 50">
            <a:extLst>
              <a:ext uri="{FF2B5EF4-FFF2-40B4-BE49-F238E27FC236}">
                <a16:creationId xmlns:a16="http://schemas.microsoft.com/office/drawing/2014/main" id="{68430C81-B796-406B-9592-17B8F41C4CF0}"/>
              </a:ext>
            </a:extLst>
          </p:cNvPr>
          <p:cNvSpPr txBox="1"/>
          <p:nvPr/>
        </p:nvSpPr>
        <p:spPr>
          <a:xfrm>
            <a:off x="3851920" y="4695527"/>
            <a:ext cx="817853" cy="461665"/>
          </a:xfrm>
          <a:prstGeom prst="rect">
            <a:avLst/>
          </a:prstGeom>
          <a:noFill/>
        </p:spPr>
        <p:txBody>
          <a:bodyPr wrap="none" rtlCol="0">
            <a:spAutoFit/>
          </a:bodyPr>
          <a:lstStyle/>
          <a:p>
            <a:r>
              <a:rPr lang="en-US" altLang="zh-CN" dirty="0"/>
              <a:t>A</a:t>
            </a:r>
            <a:r>
              <a:rPr lang="en-US" altLang="zh-CN" baseline="-25000" dirty="0"/>
              <a:t>3</a:t>
            </a:r>
            <a:r>
              <a:rPr lang="en-US" altLang="zh-CN" dirty="0"/>
              <a:t>B</a:t>
            </a:r>
            <a:r>
              <a:rPr lang="en-US" altLang="zh-CN" baseline="-25000" dirty="0"/>
              <a:t>2</a:t>
            </a:r>
            <a:endParaRPr lang="zh-CN" altLang="en-US" baseline="-25000" dirty="0"/>
          </a:p>
        </p:txBody>
      </p:sp>
      <p:sp>
        <p:nvSpPr>
          <p:cNvPr id="52" name="文本框 51">
            <a:extLst>
              <a:ext uri="{FF2B5EF4-FFF2-40B4-BE49-F238E27FC236}">
                <a16:creationId xmlns:a16="http://schemas.microsoft.com/office/drawing/2014/main" id="{8E935D9C-0188-44BA-B373-88FBF56A06FA}"/>
              </a:ext>
            </a:extLst>
          </p:cNvPr>
          <p:cNvSpPr txBox="1"/>
          <p:nvPr/>
        </p:nvSpPr>
        <p:spPr>
          <a:xfrm>
            <a:off x="5456514" y="5199583"/>
            <a:ext cx="817853" cy="461665"/>
          </a:xfrm>
          <a:prstGeom prst="rect">
            <a:avLst/>
          </a:prstGeom>
          <a:noFill/>
        </p:spPr>
        <p:txBody>
          <a:bodyPr wrap="none" rtlCol="0">
            <a:spAutoFit/>
          </a:bodyPr>
          <a:lstStyle/>
          <a:p>
            <a:r>
              <a:rPr lang="en-US" altLang="zh-CN" dirty="0"/>
              <a:t>A</a:t>
            </a:r>
            <a:r>
              <a:rPr lang="en-US" altLang="zh-CN" baseline="-25000" dirty="0"/>
              <a:t>0</a:t>
            </a:r>
            <a:r>
              <a:rPr lang="en-US" altLang="zh-CN" dirty="0"/>
              <a:t>B</a:t>
            </a:r>
            <a:r>
              <a:rPr lang="en-US" altLang="zh-CN" baseline="-25000" dirty="0"/>
              <a:t>3</a:t>
            </a:r>
            <a:endParaRPr lang="zh-CN" altLang="en-US" baseline="-25000" dirty="0"/>
          </a:p>
        </p:txBody>
      </p:sp>
      <p:sp>
        <p:nvSpPr>
          <p:cNvPr id="53" name="文本框 52">
            <a:extLst>
              <a:ext uri="{FF2B5EF4-FFF2-40B4-BE49-F238E27FC236}">
                <a16:creationId xmlns:a16="http://schemas.microsoft.com/office/drawing/2014/main" id="{E34E0ECA-57B0-4AEC-9CBE-CF4A573D7800}"/>
              </a:ext>
            </a:extLst>
          </p:cNvPr>
          <p:cNvSpPr txBox="1"/>
          <p:nvPr/>
        </p:nvSpPr>
        <p:spPr>
          <a:xfrm>
            <a:off x="4657620" y="5199583"/>
            <a:ext cx="817853" cy="461665"/>
          </a:xfrm>
          <a:prstGeom prst="rect">
            <a:avLst/>
          </a:prstGeom>
          <a:noFill/>
        </p:spPr>
        <p:txBody>
          <a:bodyPr wrap="none" rtlCol="0">
            <a:spAutoFit/>
          </a:bodyPr>
          <a:lstStyle/>
          <a:p>
            <a:r>
              <a:rPr lang="en-US" altLang="zh-CN" dirty="0"/>
              <a:t>A</a:t>
            </a:r>
            <a:r>
              <a:rPr lang="en-US" altLang="zh-CN" baseline="-25000" dirty="0"/>
              <a:t>1</a:t>
            </a:r>
            <a:r>
              <a:rPr lang="en-US" altLang="zh-CN" dirty="0"/>
              <a:t>B</a:t>
            </a:r>
            <a:r>
              <a:rPr lang="en-US" altLang="zh-CN" baseline="-25000" dirty="0"/>
              <a:t>3</a:t>
            </a:r>
            <a:endParaRPr lang="zh-CN" altLang="en-US" baseline="-25000" dirty="0"/>
          </a:p>
        </p:txBody>
      </p:sp>
      <p:sp>
        <p:nvSpPr>
          <p:cNvPr id="54" name="文本框 53">
            <a:extLst>
              <a:ext uri="{FF2B5EF4-FFF2-40B4-BE49-F238E27FC236}">
                <a16:creationId xmlns:a16="http://schemas.microsoft.com/office/drawing/2014/main" id="{C5D95235-C298-4B88-9280-778085C6EADA}"/>
              </a:ext>
            </a:extLst>
          </p:cNvPr>
          <p:cNvSpPr txBox="1"/>
          <p:nvPr/>
        </p:nvSpPr>
        <p:spPr>
          <a:xfrm>
            <a:off x="3858726" y="5199583"/>
            <a:ext cx="817853" cy="461665"/>
          </a:xfrm>
          <a:prstGeom prst="rect">
            <a:avLst/>
          </a:prstGeom>
          <a:noFill/>
        </p:spPr>
        <p:txBody>
          <a:bodyPr wrap="none" rtlCol="0">
            <a:spAutoFit/>
          </a:bodyPr>
          <a:lstStyle/>
          <a:p>
            <a:r>
              <a:rPr lang="en-US" altLang="zh-CN" dirty="0"/>
              <a:t>A</a:t>
            </a:r>
            <a:r>
              <a:rPr lang="en-US" altLang="zh-CN" baseline="-25000" dirty="0"/>
              <a:t>2</a:t>
            </a:r>
            <a:r>
              <a:rPr lang="en-US" altLang="zh-CN" dirty="0"/>
              <a:t>B</a:t>
            </a:r>
            <a:r>
              <a:rPr lang="en-US" altLang="zh-CN" baseline="-25000" dirty="0"/>
              <a:t>3</a:t>
            </a:r>
            <a:endParaRPr lang="zh-CN" altLang="en-US" baseline="-25000" dirty="0"/>
          </a:p>
        </p:txBody>
      </p:sp>
      <p:sp>
        <p:nvSpPr>
          <p:cNvPr id="55" name="文本框 54">
            <a:extLst>
              <a:ext uri="{FF2B5EF4-FFF2-40B4-BE49-F238E27FC236}">
                <a16:creationId xmlns:a16="http://schemas.microsoft.com/office/drawing/2014/main" id="{8E707E2F-235C-4ED6-9EB7-C5E950CEA465}"/>
              </a:ext>
            </a:extLst>
          </p:cNvPr>
          <p:cNvSpPr txBox="1"/>
          <p:nvPr/>
        </p:nvSpPr>
        <p:spPr>
          <a:xfrm>
            <a:off x="3059832" y="5199583"/>
            <a:ext cx="817853" cy="461665"/>
          </a:xfrm>
          <a:prstGeom prst="rect">
            <a:avLst/>
          </a:prstGeom>
          <a:noFill/>
        </p:spPr>
        <p:txBody>
          <a:bodyPr wrap="none" rtlCol="0">
            <a:spAutoFit/>
          </a:bodyPr>
          <a:lstStyle/>
          <a:p>
            <a:r>
              <a:rPr lang="en-US" altLang="zh-CN" dirty="0"/>
              <a:t>A</a:t>
            </a:r>
            <a:r>
              <a:rPr lang="en-US" altLang="zh-CN" baseline="-25000" dirty="0"/>
              <a:t>3</a:t>
            </a:r>
            <a:r>
              <a:rPr lang="en-US" altLang="zh-CN" dirty="0"/>
              <a:t>B</a:t>
            </a:r>
            <a:r>
              <a:rPr lang="en-US" altLang="zh-CN" baseline="-25000" dirty="0"/>
              <a:t>3</a:t>
            </a:r>
            <a:endParaRPr lang="zh-CN" altLang="en-US" baseline="-25000" dirty="0"/>
          </a:p>
        </p:txBody>
      </p:sp>
      <p:sp>
        <p:nvSpPr>
          <p:cNvPr id="56" name="Line 4">
            <a:extLst>
              <a:ext uri="{FF2B5EF4-FFF2-40B4-BE49-F238E27FC236}">
                <a16:creationId xmlns:a16="http://schemas.microsoft.com/office/drawing/2014/main" id="{AEB459CF-83EB-4D39-A7F9-0D410F6CED91}"/>
              </a:ext>
            </a:extLst>
          </p:cNvPr>
          <p:cNvSpPr>
            <a:spLocks noChangeShapeType="1"/>
          </p:cNvSpPr>
          <p:nvPr/>
        </p:nvSpPr>
        <p:spPr bwMode="auto">
          <a:xfrm flipV="1">
            <a:off x="1979712" y="5766792"/>
            <a:ext cx="6668133" cy="0"/>
          </a:xfrm>
          <a:prstGeom prst="line">
            <a:avLst/>
          </a:prstGeom>
          <a:noFill/>
          <a:ln w="9525">
            <a:solidFill>
              <a:schemeClr val="tx1"/>
            </a:solidFill>
            <a:round/>
            <a:headEnd/>
            <a:tailEnd/>
          </a:ln>
          <a:effectLst/>
        </p:spPr>
        <p:txBody>
          <a:bodyPr wrap="none" anchor="ctr"/>
          <a:lstStyle/>
          <a:p>
            <a:endParaRPr lang="zh-CN" altLang="en-US">
              <a:latin typeface="方正姚体" pitchFamily="2" charset="-122"/>
              <a:ea typeface="方正姚体" pitchFamily="2" charset="-122"/>
            </a:endParaRPr>
          </a:p>
        </p:txBody>
      </p:sp>
      <p:sp>
        <p:nvSpPr>
          <p:cNvPr id="57" name="Text Box 3">
            <a:extLst>
              <a:ext uri="{FF2B5EF4-FFF2-40B4-BE49-F238E27FC236}">
                <a16:creationId xmlns:a16="http://schemas.microsoft.com/office/drawing/2014/main" id="{5C21E65D-D7E9-451C-A6F5-6FEDAD9844FE}"/>
              </a:ext>
            </a:extLst>
          </p:cNvPr>
          <p:cNvSpPr txBox="1">
            <a:spLocks noChangeArrowheads="1"/>
          </p:cNvSpPr>
          <p:nvPr/>
        </p:nvSpPr>
        <p:spPr bwMode="auto">
          <a:xfrm>
            <a:off x="2035696" y="5138028"/>
            <a:ext cx="662361" cy="523220"/>
          </a:xfrm>
          <a:prstGeom prst="rect">
            <a:avLst/>
          </a:prstGeom>
          <a:noFill/>
          <a:ln w="9525">
            <a:noFill/>
            <a:miter lim="800000"/>
            <a:headEnd/>
            <a:tailEnd/>
          </a:ln>
          <a:effectLst/>
        </p:spPr>
        <p:txBody>
          <a:bodyPr wrap="none">
            <a:spAutoFit/>
          </a:bodyPr>
          <a:lstStyle/>
          <a:p>
            <a:r>
              <a:rPr lang="en-US" altLang="zh-CN" sz="2800" dirty="0">
                <a:latin typeface="方正姚体" pitchFamily="2" charset="-122"/>
                <a:ea typeface="方正姚体" pitchFamily="2" charset="-122"/>
              </a:rPr>
              <a:t>+ ) </a:t>
            </a:r>
          </a:p>
        </p:txBody>
      </p:sp>
      <p:sp>
        <p:nvSpPr>
          <p:cNvPr id="58" name="文本框 57">
            <a:extLst>
              <a:ext uri="{FF2B5EF4-FFF2-40B4-BE49-F238E27FC236}">
                <a16:creationId xmlns:a16="http://schemas.microsoft.com/office/drawing/2014/main" id="{FAE9F98B-0800-4DAE-B87B-D89F95C875CC}"/>
              </a:ext>
            </a:extLst>
          </p:cNvPr>
          <p:cNvSpPr txBox="1"/>
          <p:nvPr/>
        </p:nvSpPr>
        <p:spPr>
          <a:xfrm>
            <a:off x="7879263" y="5847655"/>
            <a:ext cx="458780" cy="461665"/>
          </a:xfrm>
          <a:prstGeom prst="rect">
            <a:avLst/>
          </a:prstGeom>
          <a:noFill/>
        </p:spPr>
        <p:txBody>
          <a:bodyPr wrap="none" rtlCol="0">
            <a:spAutoFit/>
          </a:bodyPr>
          <a:lstStyle/>
          <a:p>
            <a:r>
              <a:rPr lang="en-US" altLang="zh-CN" dirty="0"/>
              <a:t>S</a:t>
            </a:r>
            <a:r>
              <a:rPr lang="en-US" altLang="zh-CN" baseline="-25000" dirty="0"/>
              <a:t>0</a:t>
            </a:r>
            <a:endParaRPr lang="zh-CN" altLang="en-US" baseline="-25000" dirty="0"/>
          </a:p>
        </p:txBody>
      </p:sp>
      <p:sp>
        <p:nvSpPr>
          <p:cNvPr id="59" name="文本框 58">
            <a:extLst>
              <a:ext uri="{FF2B5EF4-FFF2-40B4-BE49-F238E27FC236}">
                <a16:creationId xmlns:a16="http://schemas.microsoft.com/office/drawing/2014/main" id="{2549121C-3016-4C60-B4D3-FA43529F6797}"/>
              </a:ext>
            </a:extLst>
          </p:cNvPr>
          <p:cNvSpPr txBox="1"/>
          <p:nvPr/>
        </p:nvSpPr>
        <p:spPr>
          <a:xfrm>
            <a:off x="7089181" y="5847655"/>
            <a:ext cx="458780" cy="461665"/>
          </a:xfrm>
          <a:prstGeom prst="rect">
            <a:avLst/>
          </a:prstGeom>
          <a:noFill/>
        </p:spPr>
        <p:txBody>
          <a:bodyPr wrap="none" rtlCol="0">
            <a:spAutoFit/>
          </a:bodyPr>
          <a:lstStyle/>
          <a:p>
            <a:r>
              <a:rPr lang="en-US" altLang="zh-CN" dirty="0"/>
              <a:t>S</a:t>
            </a:r>
            <a:r>
              <a:rPr lang="en-US" altLang="zh-CN" baseline="-25000" dirty="0"/>
              <a:t>1</a:t>
            </a:r>
            <a:endParaRPr lang="zh-CN" altLang="en-US" baseline="-25000" dirty="0"/>
          </a:p>
        </p:txBody>
      </p:sp>
      <p:sp>
        <p:nvSpPr>
          <p:cNvPr id="60" name="文本框 59">
            <a:extLst>
              <a:ext uri="{FF2B5EF4-FFF2-40B4-BE49-F238E27FC236}">
                <a16:creationId xmlns:a16="http://schemas.microsoft.com/office/drawing/2014/main" id="{22D7AE49-7E30-4A5B-9832-CFE9BC00526E}"/>
              </a:ext>
            </a:extLst>
          </p:cNvPr>
          <p:cNvSpPr txBox="1"/>
          <p:nvPr/>
        </p:nvSpPr>
        <p:spPr>
          <a:xfrm>
            <a:off x="6299100" y="5847655"/>
            <a:ext cx="458780" cy="461665"/>
          </a:xfrm>
          <a:prstGeom prst="rect">
            <a:avLst/>
          </a:prstGeom>
          <a:noFill/>
        </p:spPr>
        <p:txBody>
          <a:bodyPr wrap="none" rtlCol="0">
            <a:spAutoFit/>
          </a:bodyPr>
          <a:lstStyle/>
          <a:p>
            <a:r>
              <a:rPr lang="en-US" altLang="zh-CN" dirty="0"/>
              <a:t>S</a:t>
            </a:r>
            <a:r>
              <a:rPr lang="en-US" altLang="zh-CN" baseline="-25000" dirty="0"/>
              <a:t>2</a:t>
            </a:r>
            <a:endParaRPr lang="zh-CN" altLang="en-US" baseline="-25000" dirty="0"/>
          </a:p>
        </p:txBody>
      </p:sp>
      <p:sp>
        <p:nvSpPr>
          <p:cNvPr id="61" name="文本框 60">
            <a:extLst>
              <a:ext uri="{FF2B5EF4-FFF2-40B4-BE49-F238E27FC236}">
                <a16:creationId xmlns:a16="http://schemas.microsoft.com/office/drawing/2014/main" id="{A0A7C684-1FFB-4FCF-8292-45A7A73A321E}"/>
              </a:ext>
            </a:extLst>
          </p:cNvPr>
          <p:cNvSpPr txBox="1"/>
          <p:nvPr/>
        </p:nvSpPr>
        <p:spPr>
          <a:xfrm>
            <a:off x="5509019" y="5847655"/>
            <a:ext cx="458780" cy="461665"/>
          </a:xfrm>
          <a:prstGeom prst="rect">
            <a:avLst/>
          </a:prstGeom>
          <a:noFill/>
        </p:spPr>
        <p:txBody>
          <a:bodyPr wrap="none" rtlCol="0">
            <a:spAutoFit/>
          </a:bodyPr>
          <a:lstStyle/>
          <a:p>
            <a:r>
              <a:rPr lang="en-US" altLang="zh-CN" dirty="0"/>
              <a:t>S</a:t>
            </a:r>
            <a:r>
              <a:rPr lang="en-US" altLang="zh-CN" baseline="-25000" dirty="0"/>
              <a:t>3</a:t>
            </a:r>
            <a:endParaRPr lang="zh-CN" altLang="en-US" baseline="-25000" dirty="0"/>
          </a:p>
        </p:txBody>
      </p:sp>
      <p:sp>
        <p:nvSpPr>
          <p:cNvPr id="62" name="文本框 61">
            <a:extLst>
              <a:ext uri="{FF2B5EF4-FFF2-40B4-BE49-F238E27FC236}">
                <a16:creationId xmlns:a16="http://schemas.microsoft.com/office/drawing/2014/main" id="{26C272FE-9650-4EFD-8741-E5306E981457}"/>
              </a:ext>
            </a:extLst>
          </p:cNvPr>
          <p:cNvSpPr txBox="1"/>
          <p:nvPr/>
        </p:nvSpPr>
        <p:spPr>
          <a:xfrm>
            <a:off x="4782004" y="5847655"/>
            <a:ext cx="458780" cy="461665"/>
          </a:xfrm>
          <a:prstGeom prst="rect">
            <a:avLst/>
          </a:prstGeom>
          <a:noFill/>
        </p:spPr>
        <p:txBody>
          <a:bodyPr wrap="none" rtlCol="0">
            <a:spAutoFit/>
          </a:bodyPr>
          <a:lstStyle/>
          <a:p>
            <a:r>
              <a:rPr lang="en-US" altLang="zh-CN" dirty="0"/>
              <a:t>S</a:t>
            </a:r>
            <a:r>
              <a:rPr lang="en-US" altLang="zh-CN" baseline="-25000" dirty="0"/>
              <a:t>4</a:t>
            </a:r>
            <a:endParaRPr lang="zh-CN" altLang="en-US" baseline="-25000" dirty="0"/>
          </a:p>
        </p:txBody>
      </p:sp>
      <p:sp>
        <p:nvSpPr>
          <p:cNvPr id="63" name="文本框 62">
            <a:extLst>
              <a:ext uri="{FF2B5EF4-FFF2-40B4-BE49-F238E27FC236}">
                <a16:creationId xmlns:a16="http://schemas.microsoft.com/office/drawing/2014/main" id="{2DA3B5BE-DA4D-4CE4-A7F9-6FA7CCC96DF7}"/>
              </a:ext>
            </a:extLst>
          </p:cNvPr>
          <p:cNvSpPr txBox="1"/>
          <p:nvPr/>
        </p:nvSpPr>
        <p:spPr>
          <a:xfrm>
            <a:off x="3991922" y="5847655"/>
            <a:ext cx="458780" cy="461665"/>
          </a:xfrm>
          <a:prstGeom prst="rect">
            <a:avLst/>
          </a:prstGeom>
          <a:noFill/>
        </p:spPr>
        <p:txBody>
          <a:bodyPr wrap="none" rtlCol="0">
            <a:spAutoFit/>
          </a:bodyPr>
          <a:lstStyle/>
          <a:p>
            <a:r>
              <a:rPr lang="en-US" altLang="zh-CN" dirty="0"/>
              <a:t>S</a:t>
            </a:r>
            <a:r>
              <a:rPr lang="en-US" altLang="zh-CN" baseline="-25000" dirty="0"/>
              <a:t>5</a:t>
            </a:r>
            <a:endParaRPr lang="zh-CN" altLang="en-US" baseline="-25000" dirty="0"/>
          </a:p>
        </p:txBody>
      </p:sp>
      <p:sp>
        <p:nvSpPr>
          <p:cNvPr id="64" name="文本框 63">
            <a:extLst>
              <a:ext uri="{FF2B5EF4-FFF2-40B4-BE49-F238E27FC236}">
                <a16:creationId xmlns:a16="http://schemas.microsoft.com/office/drawing/2014/main" id="{C7EE2CA1-8E71-45E2-B7A3-7CC9EFEEEDB8}"/>
              </a:ext>
            </a:extLst>
          </p:cNvPr>
          <p:cNvSpPr txBox="1"/>
          <p:nvPr/>
        </p:nvSpPr>
        <p:spPr>
          <a:xfrm>
            <a:off x="3201841" y="5847655"/>
            <a:ext cx="458780" cy="461665"/>
          </a:xfrm>
          <a:prstGeom prst="rect">
            <a:avLst/>
          </a:prstGeom>
          <a:noFill/>
        </p:spPr>
        <p:txBody>
          <a:bodyPr wrap="none" rtlCol="0">
            <a:spAutoFit/>
          </a:bodyPr>
          <a:lstStyle/>
          <a:p>
            <a:r>
              <a:rPr lang="en-US" altLang="zh-CN" dirty="0"/>
              <a:t>S</a:t>
            </a:r>
            <a:r>
              <a:rPr lang="en-US" altLang="zh-CN" baseline="-25000" dirty="0"/>
              <a:t>6</a:t>
            </a:r>
            <a:endParaRPr lang="zh-CN" altLang="en-US" baseline="-25000" dirty="0"/>
          </a:p>
        </p:txBody>
      </p:sp>
      <p:sp>
        <p:nvSpPr>
          <p:cNvPr id="65" name="文本框 64">
            <a:extLst>
              <a:ext uri="{FF2B5EF4-FFF2-40B4-BE49-F238E27FC236}">
                <a16:creationId xmlns:a16="http://schemas.microsoft.com/office/drawing/2014/main" id="{DDE3EF0C-FD7E-46C7-A840-42B5B2E5C365}"/>
              </a:ext>
            </a:extLst>
          </p:cNvPr>
          <p:cNvSpPr txBox="1"/>
          <p:nvPr/>
        </p:nvSpPr>
        <p:spPr>
          <a:xfrm>
            <a:off x="2411760" y="5847655"/>
            <a:ext cx="458780" cy="461665"/>
          </a:xfrm>
          <a:prstGeom prst="rect">
            <a:avLst/>
          </a:prstGeom>
          <a:noFill/>
        </p:spPr>
        <p:txBody>
          <a:bodyPr wrap="none" rtlCol="0">
            <a:spAutoFit/>
          </a:bodyPr>
          <a:lstStyle/>
          <a:p>
            <a:r>
              <a:rPr lang="en-US" altLang="zh-CN" dirty="0"/>
              <a:t>S</a:t>
            </a:r>
            <a:r>
              <a:rPr lang="en-US" altLang="zh-CN" baseline="-25000" dirty="0"/>
              <a:t>7</a:t>
            </a:r>
            <a:endParaRPr lang="zh-CN" altLang="en-US" baseline="-25000" dirty="0"/>
          </a:p>
        </p:txBody>
      </p:sp>
      <p:graphicFrame>
        <p:nvGraphicFramePr>
          <p:cNvPr id="66" name="Group 5">
            <a:extLst>
              <a:ext uri="{FF2B5EF4-FFF2-40B4-BE49-F238E27FC236}">
                <a16:creationId xmlns:a16="http://schemas.microsoft.com/office/drawing/2014/main" id="{5BCFB58E-29E4-4E46-A37F-C6B65B353B7E}"/>
              </a:ext>
            </a:extLst>
          </p:cNvPr>
          <p:cNvGraphicFramePr>
            <a:graphicFrameLocks noGrp="1"/>
          </p:cNvGraphicFramePr>
          <p:nvPr>
            <p:extLst>
              <p:ext uri="{D42A27DB-BD31-4B8C-83A1-F6EECF244321}">
                <p14:modId xmlns:p14="http://schemas.microsoft.com/office/powerpoint/2010/main" val="904965439"/>
              </p:ext>
            </p:extLst>
          </p:nvPr>
        </p:nvGraphicFramePr>
        <p:xfrm>
          <a:off x="543941" y="2148539"/>
          <a:ext cx="2832100" cy="2286000"/>
        </p:xfrm>
        <a:graphic>
          <a:graphicData uri="http://schemas.openxmlformats.org/drawingml/2006/table">
            <a:tbl>
              <a:tblPr/>
              <a:tblGrid>
                <a:gridCol w="944563">
                  <a:extLst>
                    <a:ext uri="{9D8B030D-6E8A-4147-A177-3AD203B41FA5}">
                      <a16:colId xmlns:a16="http://schemas.microsoft.com/office/drawing/2014/main" val="20000"/>
                    </a:ext>
                  </a:extLst>
                </a:gridCol>
                <a:gridCol w="942975">
                  <a:extLst>
                    <a:ext uri="{9D8B030D-6E8A-4147-A177-3AD203B41FA5}">
                      <a16:colId xmlns:a16="http://schemas.microsoft.com/office/drawing/2014/main" val="20001"/>
                    </a:ext>
                  </a:extLst>
                </a:gridCol>
                <a:gridCol w="944562">
                  <a:extLst>
                    <a:ext uri="{9D8B030D-6E8A-4147-A177-3AD203B41FA5}">
                      <a16:colId xmlns:a16="http://schemas.microsoft.com/office/drawing/2014/main" val="20002"/>
                    </a:ext>
                  </a:extLst>
                </a:gridCol>
              </a:tblGrid>
              <a:tr h="234950">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A</a:t>
                      </a:r>
                      <a:r>
                        <a:rPr kumimoji="0" lang="en-US" altLang="zh-CN" sz="2400" b="0" i="0" u="none" strike="noStrike" cap="none" normalizeH="0" baseline="-25000" dirty="0">
                          <a:ln>
                            <a:noFill/>
                          </a:ln>
                          <a:solidFill>
                            <a:schemeClr val="tx1"/>
                          </a:solidFill>
                          <a:effectLst/>
                          <a:latin typeface="Tahoma" pitchFamily="34" charset="0"/>
                          <a:ea typeface="宋体" pitchFamily="2" charset="-122"/>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B</a:t>
                      </a:r>
                      <a:r>
                        <a:rPr kumimoji="0" lang="en-US" altLang="zh-CN" sz="2400" b="0" i="0" u="none" strike="noStrike" cap="none" normalizeH="0" baseline="-25000" dirty="0">
                          <a:ln>
                            <a:noFill/>
                          </a:ln>
                          <a:solidFill>
                            <a:schemeClr val="tx1"/>
                          </a:solidFill>
                          <a:effectLst/>
                          <a:latin typeface="Tahoma" pitchFamily="34"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M</a:t>
                      </a:r>
                      <a:r>
                        <a:rPr kumimoji="0" lang="en-US" altLang="zh-CN" sz="2400" b="0" i="0" u="none" strike="noStrike" cap="none" normalizeH="0" baseline="-25000" dirty="0">
                          <a:ln>
                            <a:noFill/>
                          </a:ln>
                          <a:solidFill>
                            <a:schemeClr val="tx1"/>
                          </a:solidFill>
                          <a:effectLst/>
                          <a:latin typeface="Tahoma" pitchFamily="34" charset="0"/>
                          <a:ea typeface="宋体"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8763">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8763">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8763">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FF00"/>
                        </a:buClr>
                        <a:buSzTx/>
                        <a:buFont typeface="Wingdings" pitchFamily="2" charset="2"/>
                        <a:buNone/>
                        <a:tabLst/>
                      </a:pPr>
                      <a:r>
                        <a:rPr kumimoji="0" lang="en-US" altLang="zh-CN" sz="2400" b="0" i="0" u="none" strike="noStrike" cap="none" normalizeH="0" baseline="0" dirty="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 name="文本框 2">
            <a:extLst>
              <a:ext uri="{FF2B5EF4-FFF2-40B4-BE49-F238E27FC236}">
                <a16:creationId xmlns:a16="http://schemas.microsoft.com/office/drawing/2014/main" id="{80CEA568-E574-4B9A-A9CA-7B2F000A7AC6}"/>
              </a:ext>
            </a:extLst>
          </p:cNvPr>
          <p:cNvSpPr txBox="1"/>
          <p:nvPr/>
        </p:nvSpPr>
        <p:spPr>
          <a:xfrm>
            <a:off x="526229" y="1599183"/>
            <a:ext cx="3877985" cy="461665"/>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一位乘法功能表（與運算）</a:t>
            </a:r>
          </a:p>
        </p:txBody>
      </p:sp>
    </p:spTree>
    <p:extLst>
      <p:ext uri="{BB962C8B-B14F-4D97-AF65-F5344CB8AC3E}">
        <p14:creationId xmlns:p14="http://schemas.microsoft.com/office/powerpoint/2010/main" val="202464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37A216C-18A3-466E-BD90-37CCADC359B9}" type="slidenum">
              <a:rPr lang="en-US" altLang="zh-CN"/>
              <a:pPr/>
              <a:t>74</a:t>
            </a:fld>
            <a:endParaRPr lang="en-US" altLang="zh-CN" dirty="0"/>
          </a:p>
        </p:txBody>
      </p:sp>
      <p:sp>
        <p:nvSpPr>
          <p:cNvPr id="250883" name="Rectangle 3"/>
          <p:cNvSpPr>
            <a:spLocks noGrp="1" noChangeArrowheads="1"/>
          </p:cNvSpPr>
          <p:nvPr>
            <p:ph sz="quarter" idx="1"/>
          </p:nvPr>
        </p:nvSpPr>
        <p:spPr>
          <a:xfrm>
            <a:off x="413538" y="914400"/>
            <a:ext cx="8334926" cy="5754688"/>
          </a:xfrm>
        </p:spPr>
        <p:txBody>
          <a:bodyPr>
            <a:normAutofit/>
          </a:bodyPr>
          <a:lstStyle/>
          <a:p>
            <a:pPr>
              <a:lnSpc>
                <a:spcPct val="90000"/>
              </a:lnSpc>
            </a:pPr>
            <a:r>
              <a:rPr lang="zh-CN" altLang="en-US" dirty="0"/>
              <a:t>四位乘法器</a:t>
            </a:r>
            <a:endParaRPr lang="en-US" altLang="zh-CN" sz="3200" baseline="-25000" dirty="0"/>
          </a:p>
        </p:txBody>
      </p:sp>
      <p:sp>
        <p:nvSpPr>
          <p:cNvPr id="30" name="Rectangle 2">
            <a:extLst>
              <a:ext uri="{FF2B5EF4-FFF2-40B4-BE49-F238E27FC236}">
                <a16:creationId xmlns:a16="http://schemas.microsoft.com/office/drawing/2014/main" id="{41D43722-B50A-41C8-BC92-3CBE824BACD3}"/>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(49)</a:t>
            </a:r>
          </a:p>
        </p:txBody>
      </p:sp>
      <p:pic>
        <p:nvPicPr>
          <p:cNvPr id="5" name="图片 4">
            <a:extLst>
              <a:ext uri="{FF2B5EF4-FFF2-40B4-BE49-F238E27FC236}">
                <a16:creationId xmlns:a16="http://schemas.microsoft.com/office/drawing/2014/main" id="{058E820F-4F9A-41CA-8ECD-7282CEABC54E}"/>
              </a:ext>
            </a:extLst>
          </p:cNvPr>
          <p:cNvPicPr>
            <a:picLocks noChangeAspect="1"/>
          </p:cNvPicPr>
          <p:nvPr/>
        </p:nvPicPr>
        <p:blipFill>
          <a:blip r:embed="rId2"/>
          <a:stretch>
            <a:fillRect/>
          </a:stretch>
        </p:blipFill>
        <p:spPr>
          <a:xfrm>
            <a:off x="5940152" y="188913"/>
            <a:ext cx="2929880" cy="1809882"/>
          </a:xfrm>
          <a:prstGeom prst="rect">
            <a:avLst/>
          </a:prstGeom>
          <a:ln>
            <a:solidFill>
              <a:schemeClr val="accent1"/>
            </a:solidFill>
          </a:ln>
        </p:spPr>
      </p:pic>
      <p:sp>
        <p:nvSpPr>
          <p:cNvPr id="67" name="文本框 66">
            <a:extLst>
              <a:ext uri="{FF2B5EF4-FFF2-40B4-BE49-F238E27FC236}">
                <a16:creationId xmlns:a16="http://schemas.microsoft.com/office/drawing/2014/main" id="{EE1C43CB-8818-46AC-B6A2-732A348331AF}"/>
              </a:ext>
            </a:extLst>
          </p:cNvPr>
          <p:cNvSpPr txBox="1"/>
          <p:nvPr/>
        </p:nvSpPr>
        <p:spPr>
          <a:xfrm>
            <a:off x="1619672" y="1412776"/>
            <a:ext cx="510076" cy="461665"/>
          </a:xfrm>
          <a:prstGeom prst="rect">
            <a:avLst/>
          </a:prstGeom>
          <a:noFill/>
        </p:spPr>
        <p:txBody>
          <a:bodyPr wrap="none" rtlCol="0">
            <a:spAutoFit/>
          </a:bodyPr>
          <a:lstStyle/>
          <a:p>
            <a:r>
              <a:rPr lang="en-US" altLang="zh-CN" dirty="0"/>
              <a:t>A</a:t>
            </a:r>
            <a:r>
              <a:rPr lang="en-US" altLang="zh-CN" baseline="-25000" dirty="0"/>
              <a:t>0</a:t>
            </a:r>
            <a:endParaRPr lang="zh-CN" altLang="en-US" baseline="-25000" dirty="0"/>
          </a:p>
        </p:txBody>
      </p:sp>
      <p:sp>
        <p:nvSpPr>
          <p:cNvPr id="68" name="文本框 67">
            <a:extLst>
              <a:ext uri="{FF2B5EF4-FFF2-40B4-BE49-F238E27FC236}">
                <a16:creationId xmlns:a16="http://schemas.microsoft.com/office/drawing/2014/main" id="{AB701DC0-489F-4AD6-B7AF-1F7DE30F7F39}"/>
              </a:ext>
            </a:extLst>
          </p:cNvPr>
          <p:cNvSpPr txBox="1"/>
          <p:nvPr/>
        </p:nvSpPr>
        <p:spPr>
          <a:xfrm>
            <a:off x="1193858" y="1412776"/>
            <a:ext cx="510076" cy="461665"/>
          </a:xfrm>
          <a:prstGeom prst="rect">
            <a:avLst/>
          </a:prstGeom>
          <a:noFill/>
        </p:spPr>
        <p:txBody>
          <a:bodyPr wrap="none" rtlCol="0">
            <a:spAutoFit/>
          </a:bodyPr>
          <a:lstStyle/>
          <a:p>
            <a:r>
              <a:rPr lang="en-US" altLang="zh-CN" dirty="0"/>
              <a:t>A</a:t>
            </a:r>
            <a:r>
              <a:rPr lang="en-US" altLang="zh-CN" baseline="-25000" dirty="0"/>
              <a:t>1</a:t>
            </a:r>
            <a:endParaRPr lang="zh-CN" altLang="en-US" baseline="-25000" dirty="0"/>
          </a:p>
        </p:txBody>
      </p:sp>
      <p:sp>
        <p:nvSpPr>
          <p:cNvPr id="69" name="文本框 68">
            <a:extLst>
              <a:ext uri="{FF2B5EF4-FFF2-40B4-BE49-F238E27FC236}">
                <a16:creationId xmlns:a16="http://schemas.microsoft.com/office/drawing/2014/main" id="{6379D29A-4A26-4E8F-87D1-89E36CE5478A}"/>
              </a:ext>
            </a:extLst>
          </p:cNvPr>
          <p:cNvSpPr txBox="1"/>
          <p:nvPr/>
        </p:nvSpPr>
        <p:spPr>
          <a:xfrm>
            <a:off x="768043" y="1412776"/>
            <a:ext cx="510076" cy="461665"/>
          </a:xfrm>
          <a:prstGeom prst="rect">
            <a:avLst/>
          </a:prstGeom>
          <a:noFill/>
        </p:spPr>
        <p:txBody>
          <a:bodyPr wrap="none" rtlCol="0">
            <a:spAutoFit/>
          </a:bodyPr>
          <a:lstStyle/>
          <a:p>
            <a:r>
              <a:rPr lang="en-US" altLang="zh-CN" dirty="0"/>
              <a:t>A</a:t>
            </a:r>
            <a:r>
              <a:rPr lang="en-US" altLang="zh-CN" baseline="-25000" dirty="0"/>
              <a:t>2</a:t>
            </a:r>
            <a:endParaRPr lang="zh-CN" altLang="en-US" baseline="-25000" dirty="0"/>
          </a:p>
        </p:txBody>
      </p:sp>
      <p:sp>
        <p:nvSpPr>
          <p:cNvPr id="70" name="文本框 69">
            <a:extLst>
              <a:ext uri="{FF2B5EF4-FFF2-40B4-BE49-F238E27FC236}">
                <a16:creationId xmlns:a16="http://schemas.microsoft.com/office/drawing/2014/main" id="{206E68D2-1619-4EBF-990D-1B6220C5298B}"/>
              </a:ext>
            </a:extLst>
          </p:cNvPr>
          <p:cNvSpPr txBox="1"/>
          <p:nvPr/>
        </p:nvSpPr>
        <p:spPr>
          <a:xfrm>
            <a:off x="342228" y="1412776"/>
            <a:ext cx="510076" cy="461665"/>
          </a:xfrm>
          <a:prstGeom prst="rect">
            <a:avLst/>
          </a:prstGeom>
          <a:noFill/>
        </p:spPr>
        <p:txBody>
          <a:bodyPr wrap="none" rtlCol="0">
            <a:spAutoFit/>
          </a:bodyPr>
          <a:lstStyle/>
          <a:p>
            <a:r>
              <a:rPr lang="en-US" altLang="zh-CN" dirty="0"/>
              <a:t>A</a:t>
            </a:r>
            <a:r>
              <a:rPr lang="en-US" altLang="zh-CN" baseline="-25000" dirty="0"/>
              <a:t>3</a:t>
            </a:r>
            <a:endParaRPr lang="zh-CN" altLang="en-US" baseline="-25000" dirty="0"/>
          </a:p>
        </p:txBody>
      </p:sp>
      <p:cxnSp>
        <p:nvCxnSpPr>
          <p:cNvPr id="8" name="直接连接符 7">
            <a:extLst>
              <a:ext uri="{FF2B5EF4-FFF2-40B4-BE49-F238E27FC236}">
                <a16:creationId xmlns:a16="http://schemas.microsoft.com/office/drawing/2014/main" id="{BE531BB6-9884-4A65-BA80-7B4D3E61C279}"/>
              </a:ext>
            </a:extLst>
          </p:cNvPr>
          <p:cNvCxnSpPr>
            <a:cxnSpLocks/>
            <a:stCxn id="70" idx="2"/>
          </p:cNvCxnSpPr>
          <p:nvPr/>
        </p:nvCxnSpPr>
        <p:spPr>
          <a:xfrm>
            <a:off x="597266" y="1874441"/>
            <a:ext cx="10621" cy="41574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27210E5F-D42B-415A-81ED-6EDCBF6C0805}"/>
              </a:ext>
            </a:extLst>
          </p:cNvPr>
          <p:cNvCxnSpPr>
            <a:cxnSpLocks/>
          </p:cNvCxnSpPr>
          <p:nvPr/>
        </p:nvCxnSpPr>
        <p:spPr>
          <a:xfrm>
            <a:off x="1011944" y="1874441"/>
            <a:ext cx="0" cy="40854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5BDA5B0-9305-4BF5-8427-8AA0C76E86B7}"/>
              </a:ext>
            </a:extLst>
          </p:cNvPr>
          <p:cNvCxnSpPr>
            <a:cxnSpLocks/>
          </p:cNvCxnSpPr>
          <p:nvPr/>
        </p:nvCxnSpPr>
        <p:spPr>
          <a:xfrm>
            <a:off x="1418011" y="1874441"/>
            <a:ext cx="10621" cy="4013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980F1A82-8624-4FCD-BD1E-BFD9C7B2E555}"/>
              </a:ext>
            </a:extLst>
          </p:cNvPr>
          <p:cNvCxnSpPr>
            <a:cxnSpLocks/>
          </p:cNvCxnSpPr>
          <p:nvPr/>
        </p:nvCxnSpPr>
        <p:spPr>
          <a:xfrm>
            <a:off x="1840657" y="1874441"/>
            <a:ext cx="0" cy="39414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87081BB1-E205-45D9-8F6C-DC54B4F43F58}"/>
              </a:ext>
            </a:extLst>
          </p:cNvPr>
          <p:cNvCxnSpPr>
            <a:cxnSpLocks/>
          </p:cNvCxnSpPr>
          <p:nvPr/>
        </p:nvCxnSpPr>
        <p:spPr>
          <a:xfrm>
            <a:off x="3053080" y="2351107"/>
            <a:ext cx="5263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DAED8A50-42B0-4AE5-8CAB-54B58B40562B}"/>
              </a:ext>
            </a:extLst>
          </p:cNvPr>
          <p:cNvSpPr txBox="1"/>
          <p:nvPr/>
        </p:nvSpPr>
        <p:spPr>
          <a:xfrm>
            <a:off x="8309284" y="2132856"/>
            <a:ext cx="510076" cy="461665"/>
          </a:xfrm>
          <a:prstGeom prst="rect">
            <a:avLst/>
          </a:prstGeom>
          <a:noFill/>
        </p:spPr>
        <p:txBody>
          <a:bodyPr wrap="none" rtlCol="0">
            <a:spAutoFit/>
          </a:bodyPr>
          <a:lstStyle/>
          <a:p>
            <a:r>
              <a:rPr lang="en-US" altLang="zh-CN" dirty="0"/>
              <a:t>B</a:t>
            </a:r>
            <a:r>
              <a:rPr lang="en-US" altLang="zh-CN" baseline="-25000" dirty="0"/>
              <a:t>0</a:t>
            </a:r>
            <a:endParaRPr lang="zh-CN" altLang="en-US" baseline="-25000" dirty="0"/>
          </a:p>
        </p:txBody>
      </p:sp>
      <p:sp>
        <p:nvSpPr>
          <p:cNvPr id="76" name="文本框 75">
            <a:extLst>
              <a:ext uri="{FF2B5EF4-FFF2-40B4-BE49-F238E27FC236}">
                <a16:creationId xmlns:a16="http://schemas.microsoft.com/office/drawing/2014/main" id="{5CDBC239-684D-44FA-AEF7-46E978B7899E}"/>
              </a:ext>
            </a:extLst>
          </p:cNvPr>
          <p:cNvSpPr txBox="1"/>
          <p:nvPr/>
        </p:nvSpPr>
        <p:spPr>
          <a:xfrm>
            <a:off x="8309284" y="3347120"/>
            <a:ext cx="492443" cy="461665"/>
          </a:xfrm>
          <a:prstGeom prst="rect">
            <a:avLst/>
          </a:prstGeom>
          <a:noFill/>
        </p:spPr>
        <p:txBody>
          <a:bodyPr wrap="none" rtlCol="0">
            <a:spAutoFit/>
          </a:bodyPr>
          <a:lstStyle/>
          <a:p>
            <a:r>
              <a:rPr lang="en-US" altLang="zh-CN" dirty="0"/>
              <a:t>B</a:t>
            </a:r>
            <a:r>
              <a:rPr lang="en-US" altLang="zh-CN" baseline="-25000" dirty="0"/>
              <a:t>1</a:t>
            </a:r>
            <a:endParaRPr lang="zh-CN" altLang="en-US" baseline="-25000" dirty="0"/>
          </a:p>
        </p:txBody>
      </p:sp>
      <p:sp>
        <p:nvSpPr>
          <p:cNvPr id="77" name="文本框 76">
            <a:extLst>
              <a:ext uri="{FF2B5EF4-FFF2-40B4-BE49-F238E27FC236}">
                <a16:creationId xmlns:a16="http://schemas.microsoft.com/office/drawing/2014/main" id="{AF9092E8-1A54-4950-B222-AB3C0B0B95CA}"/>
              </a:ext>
            </a:extLst>
          </p:cNvPr>
          <p:cNvSpPr txBox="1"/>
          <p:nvPr/>
        </p:nvSpPr>
        <p:spPr>
          <a:xfrm>
            <a:off x="8309284" y="4561384"/>
            <a:ext cx="492443" cy="461665"/>
          </a:xfrm>
          <a:prstGeom prst="rect">
            <a:avLst/>
          </a:prstGeom>
          <a:noFill/>
        </p:spPr>
        <p:txBody>
          <a:bodyPr wrap="none" rtlCol="0">
            <a:spAutoFit/>
          </a:bodyPr>
          <a:lstStyle/>
          <a:p>
            <a:r>
              <a:rPr lang="en-US" altLang="zh-CN" dirty="0"/>
              <a:t>B</a:t>
            </a:r>
            <a:r>
              <a:rPr lang="en-US" altLang="zh-CN" baseline="-25000" dirty="0"/>
              <a:t>2</a:t>
            </a:r>
            <a:endParaRPr lang="zh-CN" altLang="en-US" baseline="-25000" dirty="0"/>
          </a:p>
        </p:txBody>
      </p:sp>
      <p:sp>
        <p:nvSpPr>
          <p:cNvPr id="78" name="文本框 77">
            <a:extLst>
              <a:ext uri="{FF2B5EF4-FFF2-40B4-BE49-F238E27FC236}">
                <a16:creationId xmlns:a16="http://schemas.microsoft.com/office/drawing/2014/main" id="{410A913E-5296-445E-8A2C-A052641973AF}"/>
              </a:ext>
            </a:extLst>
          </p:cNvPr>
          <p:cNvSpPr txBox="1"/>
          <p:nvPr/>
        </p:nvSpPr>
        <p:spPr>
          <a:xfrm>
            <a:off x="8309284" y="5794469"/>
            <a:ext cx="492443" cy="461665"/>
          </a:xfrm>
          <a:prstGeom prst="rect">
            <a:avLst/>
          </a:prstGeom>
          <a:noFill/>
        </p:spPr>
        <p:txBody>
          <a:bodyPr wrap="none" rtlCol="0">
            <a:spAutoFit/>
          </a:bodyPr>
          <a:lstStyle/>
          <a:p>
            <a:r>
              <a:rPr lang="en-US" altLang="zh-CN" dirty="0"/>
              <a:t>B</a:t>
            </a:r>
            <a:r>
              <a:rPr lang="en-US" altLang="zh-CN" baseline="-25000" dirty="0"/>
              <a:t>3</a:t>
            </a:r>
            <a:endParaRPr lang="zh-CN" altLang="en-US" baseline="-25000" dirty="0"/>
          </a:p>
        </p:txBody>
      </p:sp>
      <p:cxnSp>
        <p:nvCxnSpPr>
          <p:cNvPr id="79" name="直接连接符 78">
            <a:extLst>
              <a:ext uri="{FF2B5EF4-FFF2-40B4-BE49-F238E27FC236}">
                <a16:creationId xmlns:a16="http://schemas.microsoft.com/office/drawing/2014/main" id="{BA99DE42-E68F-499C-8F02-A8AF39DE565E}"/>
              </a:ext>
            </a:extLst>
          </p:cNvPr>
          <p:cNvCxnSpPr>
            <a:cxnSpLocks/>
          </p:cNvCxnSpPr>
          <p:nvPr/>
        </p:nvCxnSpPr>
        <p:spPr>
          <a:xfrm>
            <a:off x="3053080" y="3573016"/>
            <a:ext cx="5263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6137AB0D-AEB0-4163-8C6D-6CCDE8C9D28C}"/>
              </a:ext>
            </a:extLst>
          </p:cNvPr>
          <p:cNvCxnSpPr>
            <a:cxnSpLocks/>
          </p:cNvCxnSpPr>
          <p:nvPr/>
        </p:nvCxnSpPr>
        <p:spPr>
          <a:xfrm>
            <a:off x="3053080" y="4797152"/>
            <a:ext cx="5263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8061242F-8961-4D72-8A47-141C5BC6880B}"/>
              </a:ext>
            </a:extLst>
          </p:cNvPr>
          <p:cNvCxnSpPr>
            <a:cxnSpLocks/>
          </p:cNvCxnSpPr>
          <p:nvPr/>
        </p:nvCxnSpPr>
        <p:spPr>
          <a:xfrm>
            <a:off x="3045948" y="6040110"/>
            <a:ext cx="5263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78E18086-1784-42B0-8F4D-8777F769DE0F}"/>
              </a:ext>
            </a:extLst>
          </p:cNvPr>
          <p:cNvCxnSpPr>
            <a:cxnSpLocks/>
          </p:cNvCxnSpPr>
          <p:nvPr/>
        </p:nvCxnSpPr>
        <p:spPr>
          <a:xfrm>
            <a:off x="1840657" y="2132856"/>
            <a:ext cx="52467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7263DB8D-63A7-4914-BB49-A1C0E2C69C22}"/>
              </a:ext>
            </a:extLst>
          </p:cNvPr>
          <p:cNvCxnSpPr>
            <a:cxnSpLocks/>
          </p:cNvCxnSpPr>
          <p:nvPr/>
        </p:nvCxnSpPr>
        <p:spPr>
          <a:xfrm>
            <a:off x="1418011" y="2204864"/>
            <a:ext cx="42391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25B70931-88C6-4D1C-BC85-D8E863C66A05}"/>
              </a:ext>
            </a:extLst>
          </p:cNvPr>
          <p:cNvCxnSpPr>
            <a:cxnSpLocks/>
          </p:cNvCxnSpPr>
          <p:nvPr/>
        </p:nvCxnSpPr>
        <p:spPr>
          <a:xfrm>
            <a:off x="1011944" y="2276872"/>
            <a:ext cx="32150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46A66609-CE72-4E50-B533-6326B24CC872}"/>
              </a:ext>
            </a:extLst>
          </p:cNvPr>
          <p:cNvCxnSpPr>
            <a:cxnSpLocks/>
          </p:cNvCxnSpPr>
          <p:nvPr/>
        </p:nvCxnSpPr>
        <p:spPr>
          <a:xfrm>
            <a:off x="597266" y="2348880"/>
            <a:ext cx="21995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70698E72-84C3-4F43-B8F8-A35B5FC74AF0}"/>
              </a:ext>
            </a:extLst>
          </p:cNvPr>
          <p:cNvGrpSpPr/>
          <p:nvPr/>
        </p:nvGrpSpPr>
        <p:grpSpPr>
          <a:xfrm>
            <a:off x="2640076" y="2348880"/>
            <a:ext cx="869432" cy="667817"/>
            <a:chOff x="2640076" y="2348880"/>
            <a:chExt cx="869432" cy="667817"/>
          </a:xfrm>
        </p:grpSpPr>
        <p:sp>
          <p:nvSpPr>
            <p:cNvPr id="10" name="矩形 9">
              <a:extLst>
                <a:ext uri="{FF2B5EF4-FFF2-40B4-BE49-F238E27FC236}">
                  <a16:creationId xmlns:a16="http://schemas.microsoft.com/office/drawing/2014/main" id="{551F610C-C756-4794-BDD1-22B61A69EE04}"/>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7" name="直接连接符 86">
              <a:extLst>
                <a:ext uri="{FF2B5EF4-FFF2-40B4-BE49-F238E27FC236}">
                  <a16:creationId xmlns:a16="http://schemas.microsoft.com/office/drawing/2014/main" id="{030288B9-A166-4FD1-BF6B-B8ED6B2B1A2B}"/>
                </a:ext>
              </a:extLst>
            </p:cNvPr>
            <p:cNvCxnSpPr>
              <a:cxnSpLocks/>
            </p:cNvCxnSpPr>
            <p:nvPr/>
          </p:nvCxnSpPr>
          <p:spPr>
            <a:xfrm>
              <a:off x="2796830"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89E87C0F-E006-425C-98CB-3D295FF1A8B9}"/>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CE67E398-164F-4E83-936B-058B5116E6F9}"/>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文本框 92">
              <a:extLst>
                <a:ext uri="{FF2B5EF4-FFF2-40B4-BE49-F238E27FC236}">
                  <a16:creationId xmlns:a16="http://schemas.microsoft.com/office/drawing/2014/main" id="{72B7CB87-9002-4381-85B4-DD9E7CB267D5}"/>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3</a:t>
              </a:r>
              <a:r>
                <a:rPr lang="en-US" altLang="zh-CN" sz="1400" dirty="0"/>
                <a:t>B</a:t>
              </a:r>
              <a:r>
                <a:rPr lang="en-US" altLang="zh-CN" sz="1400" baseline="-25000" dirty="0"/>
                <a:t>0</a:t>
              </a:r>
              <a:endParaRPr lang="zh-CN" altLang="en-US" sz="1400" baseline="-25000" dirty="0"/>
            </a:p>
          </p:txBody>
        </p:sp>
      </p:grpSp>
      <p:grpSp>
        <p:nvGrpSpPr>
          <p:cNvPr id="106" name="组合 105">
            <a:extLst>
              <a:ext uri="{FF2B5EF4-FFF2-40B4-BE49-F238E27FC236}">
                <a16:creationId xmlns:a16="http://schemas.microsoft.com/office/drawing/2014/main" id="{AF129672-56B3-40CB-8D02-7FA45FB171E0}"/>
              </a:ext>
            </a:extLst>
          </p:cNvPr>
          <p:cNvGrpSpPr/>
          <p:nvPr/>
        </p:nvGrpSpPr>
        <p:grpSpPr>
          <a:xfrm>
            <a:off x="4070263" y="2276872"/>
            <a:ext cx="869432" cy="739825"/>
            <a:chOff x="2640076" y="2276872"/>
            <a:chExt cx="869432" cy="739825"/>
          </a:xfrm>
        </p:grpSpPr>
        <p:sp>
          <p:nvSpPr>
            <p:cNvPr id="107" name="矩形 106">
              <a:extLst>
                <a:ext uri="{FF2B5EF4-FFF2-40B4-BE49-F238E27FC236}">
                  <a16:creationId xmlns:a16="http://schemas.microsoft.com/office/drawing/2014/main" id="{3ED4AE6A-987E-4039-82BE-42CB9CF2F234}"/>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7720D576-0442-4A01-88A6-892DD23306EC}"/>
                </a:ext>
              </a:extLst>
            </p:cNvPr>
            <p:cNvCxnSpPr>
              <a:cxnSpLocks/>
            </p:cNvCxnSpPr>
            <p:nvPr/>
          </p:nvCxnSpPr>
          <p:spPr>
            <a:xfrm>
              <a:off x="2796830" y="2276872"/>
              <a:ext cx="0" cy="2165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B7E4ABD4-ADA8-4319-91FA-EA30A24664D0}"/>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1878352B-52BA-40F9-8D1E-AA59BB32B540}"/>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47A3AF5F-FAA6-43E7-ABC0-4A1C1F9B1C4D}"/>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2</a:t>
              </a:r>
              <a:r>
                <a:rPr lang="en-US" altLang="zh-CN" sz="1400" dirty="0"/>
                <a:t>B</a:t>
              </a:r>
              <a:r>
                <a:rPr lang="en-US" altLang="zh-CN" sz="1400" baseline="-25000" dirty="0"/>
                <a:t>0</a:t>
              </a:r>
              <a:endParaRPr lang="zh-CN" altLang="en-US" sz="1400" baseline="-25000" dirty="0"/>
            </a:p>
          </p:txBody>
        </p:sp>
      </p:grpSp>
      <p:grpSp>
        <p:nvGrpSpPr>
          <p:cNvPr id="112" name="组合 111">
            <a:extLst>
              <a:ext uri="{FF2B5EF4-FFF2-40B4-BE49-F238E27FC236}">
                <a16:creationId xmlns:a16="http://schemas.microsoft.com/office/drawing/2014/main" id="{B201801B-1E19-419A-B253-51E460637A25}"/>
              </a:ext>
            </a:extLst>
          </p:cNvPr>
          <p:cNvGrpSpPr/>
          <p:nvPr/>
        </p:nvGrpSpPr>
        <p:grpSpPr>
          <a:xfrm>
            <a:off x="5500450" y="2204864"/>
            <a:ext cx="869432" cy="811833"/>
            <a:chOff x="2640076" y="2204864"/>
            <a:chExt cx="869432" cy="811833"/>
          </a:xfrm>
        </p:grpSpPr>
        <p:sp>
          <p:nvSpPr>
            <p:cNvPr id="113" name="矩形 112">
              <a:extLst>
                <a:ext uri="{FF2B5EF4-FFF2-40B4-BE49-F238E27FC236}">
                  <a16:creationId xmlns:a16="http://schemas.microsoft.com/office/drawing/2014/main" id="{6996EFA3-1942-47A3-A7AE-E995B8B5CFD0}"/>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 name="直接连接符 113">
              <a:extLst>
                <a:ext uri="{FF2B5EF4-FFF2-40B4-BE49-F238E27FC236}">
                  <a16:creationId xmlns:a16="http://schemas.microsoft.com/office/drawing/2014/main" id="{B292B006-7685-49D7-9069-359B8CD82D07}"/>
                </a:ext>
              </a:extLst>
            </p:cNvPr>
            <p:cNvCxnSpPr>
              <a:cxnSpLocks/>
            </p:cNvCxnSpPr>
            <p:nvPr/>
          </p:nvCxnSpPr>
          <p:spPr>
            <a:xfrm>
              <a:off x="2796830" y="2204864"/>
              <a:ext cx="0" cy="2885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AD8DCA85-EA3D-45F9-8153-2A2E23B41F88}"/>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96BE9F77-735D-4AE9-9F7B-6E3146688031}"/>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文本框 116">
              <a:extLst>
                <a:ext uri="{FF2B5EF4-FFF2-40B4-BE49-F238E27FC236}">
                  <a16:creationId xmlns:a16="http://schemas.microsoft.com/office/drawing/2014/main" id="{323FE3C4-8F5A-4F06-97D4-66D938363225}"/>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1</a:t>
              </a:r>
              <a:r>
                <a:rPr lang="en-US" altLang="zh-CN" sz="1400" dirty="0"/>
                <a:t>B</a:t>
              </a:r>
              <a:r>
                <a:rPr lang="en-US" altLang="zh-CN" sz="1400" baseline="-25000" dirty="0"/>
                <a:t>0</a:t>
              </a:r>
              <a:endParaRPr lang="zh-CN" altLang="en-US" sz="1400" baseline="-25000" dirty="0"/>
            </a:p>
          </p:txBody>
        </p:sp>
      </p:grpSp>
      <p:grpSp>
        <p:nvGrpSpPr>
          <p:cNvPr id="118" name="组合 117">
            <a:extLst>
              <a:ext uri="{FF2B5EF4-FFF2-40B4-BE49-F238E27FC236}">
                <a16:creationId xmlns:a16="http://schemas.microsoft.com/office/drawing/2014/main" id="{4E6678B9-623C-443D-9083-3C38B7CEE511}"/>
              </a:ext>
            </a:extLst>
          </p:cNvPr>
          <p:cNvGrpSpPr/>
          <p:nvPr/>
        </p:nvGrpSpPr>
        <p:grpSpPr>
          <a:xfrm>
            <a:off x="6930636" y="2132856"/>
            <a:ext cx="869432" cy="883841"/>
            <a:chOff x="2640076" y="2132856"/>
            <a:chExt cx="869432" cy="883841"/>
          </a:xfrm>
        </p:grpSpPr>
        <p:sp>
          <p:nvSpPr>
            <p:cNvPr id="119" name="矩形 118">
              <a:extLst>
                <a:ext uri="{FF2B5EF4-FFF2-40B4-BE49-F238E27FC236}">
                  <a16:creationId xmlns:a16="http://schemas.microsoft.com/office/drawing/2014/main" id="{6CF1991F-E94A-4ED0-A52F-14E85D12BA03}"/>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0" name="直接连接符 119">
              <a:extLst>
                <a:ext uri="{FF2B5EF4-FFF2-40B4-BE49-F238E27FC236}">
                  <a16:creationId xmlns:a16="http://schemas.microsoft.com/office/drawing/2014/main" id="{347DD428-D248-4B75-BFD5-A879733F3341}"/>
                </a:ext>
              </a:extLst>
            </p:cNvPr>
            <p:cNvCxnSpPr>
              <a:cxnSpLocks/>
            </p:cNvCxnSpPr>
            <p:nvPr/>
          </p:nvCxnSpPr>
          <p:spPr>
            <a:xfrm>
              <a:off x="2796830" y="2132856"/>
              <a:ext cx="0" cy="360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DCDB4762-CBD0-487F-863F-319E3600483A}"/>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CD5A5EA2-3B7D-471B-9CE8-22DC8B589823}"/>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C5A618E9-ADB0-4268-A80A-C7EF800FA86A}"/>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0</a:t>
              </a:r>
              <a:r>
                <a:rPr lang="en-US" altLang="zh-CN" sz="1400" dirty="0"/>
                <a:t>B</a:t>
              </a:r>
              <a:r>
                <a:rPr lang="en-US" altLang="zh-CN" sz="1400" baseline="-25000" dirty="0"/>
                <a:t>0</a:t>
              </a:r>
              <a:endParaRPr lang="zh-CN" altLang="en-US" sz="1400" baseline="-25000" dirty="0"/>
            </a:p>
          </p:txBody>
        </p:sp>
      </p:grpSp>
      <p:sp>
        <p:nvSpPr>
          <p:cNvPr id="28" name="椭圆 27">
            <a:extLst>
              <a:ext uri="{FF2B5EF4-FFF2-40B4-BE49-F238E27FC236}">
                <a16:creationId xmlns:a16="http://schemas.microsoft.com/office/drawing/2014/main" id="{F6B63B62-6B95-4117-8053-8983BDDF0838}"/>
              </a:ext>
            </a:extLst>
          </p:cNvPr>
          <p:cNvSpPr/>
          <p:nvPr/>
        </p:nvSpPr>
        <p:spPr>
          <a:xfrm>
            <a:off x="1817796" y="210777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F47B1ACA-15DC-4FEA-8BB3-36345C80A5F5}"/>
              </a:ext>
            </a:extLst>
          </p:cNvPr>
          <p:cNvSpPr/>
          <p:nvPr/>
        </p:nvSpPr>
        <p:spPr>
          <a:xfrm>
            <a:off x="1395150" y="217977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E620942A-6A8D-4CED-83CF-BC793D54CBEA}"/>
              </a:ext>
            </a:extLst>
          </p:cNvPr>
          <p:cNvSpPr/>
          <p:nvPr/>
        </p:nvSpPr>
        <p:spPr>
          <a:xfrm>
            <a:off x="989083" y="225401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20CC5C6A-D6F7-49B7-8FD7-BA5E48C90473}"/>
              </a:ext>
            </a:extLst>
          </p:cNvPr>
          <p:cNvSpPr/>
          <p:nvPr/>
        </p:nvSpPr>
        <p:spPr>
          <a:xfrm>
            <a:off x="577525" y="232602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a:extLst>
              <a:ext uri="{FF2B5EF4-FFF2-40B4-BE49-F238E27FC236}">
                <a16:creationId xmlns:a16="http://schemas.microsoft.com/office/drawing/2014/main" id="{1880FF4D-D403-4E5A-9569-041D95EEF05F}"/>
              </a:ext>
            </a:extLst>
          </p:cNvPr>
          <p:cNvSpPr/>
          <p:nvPr/>
        </p:nvSpPr>
        <p:spPr>
          <a:xfrm>
            <a:off x="4455575" y="2328247"/>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a:extLst>
              <a:ext uri="{FF2B5EF4-FFF2-40B4-BE49-F238E27FC236}">
                <a16:creationId xmlns:a16="http://schemas.microsoft.com/office/drawing/2014/main" id="{6CD30977-344C-41C3-A600-FBB18E44A229}"/>
              </a:ext>
            </a:extLst>
          </p:cNvPr>
          <p:cNvSpPr/>
          <p:nvPr/>
        </p:nvSpPr>
        <p:spPr>
          <a:xfrm>
            <a:off x="5884450" y="233012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a:extLst>
              <a:ext uri="{FF2B5EF4-FFF2-40B4-BE49-F238E27FC236}">
                <a16:creationId xmlns:a16="http://schemas.microsoft.com/office/drawing/2014/main" id="{40C055D1-2627-419D-99FB-C3B161CB6E7C}"/>
              </a:ext>
            </a:extLst>
          </p:cNvPr>
          <p:cNvSpPr/>
          <p:nvPr/>
        </p:nvSpPr>
        <p:spPr>
          <a:xfrm>
            <a:off x="7314635" y="232602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0" name="直接连接符 129">
            <a:extLst>
              <a:ext uri="{FF2B5EF4-FFF2-40B4-BE49-F238E27FC236}">
                <a16:creationId xmlns:a16="http://schemas.microsoft.com/office/drawing/2014/main" id="{56376DED-FEB9-4D09-8581-EEC06B966181}"/>
              </a:ext>
            </a:extLst>
          </p:cNvPr>
          <p:cNvCxnSpPr>
            <a:cxnSpLocks/>
          </p:cNvCxnSpPr>
          <p:nvPr/>
        </p:nvCxnSpPr>
        <p:spPr>
          <a:xfrm>
            <a:off x="1846175" y="3355478"/>
            <a:ext cx="52467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DA022FC4-D0DA-4D66-BD2A-CF2849564D08}"/>
              </a:ext>
            </a:extLst>
          </p:cNvPr>
          <p:cNvCxnSpPr>
            <a:cxnSpLocks/>
          </p:cNvCxnSpPr>
          <p:nvPr/>
        </p:nvCxnSpPr>
        <p:spPr>
          <a:xfrm>
            <a:off x="1423529" y="3427486"/>
            <a:ext cx="42391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3A53A2C3-DFB4-418C-966C-4234ECB4932E}"/>
              </a:ext>
            </a:extLst>
          </p:cNvPr>
          <p:cNvCxnSpPr>
            <a:cxnSpLocks/>
          </p:cNvCxnSpPr>
          <p:nvPr/>
        </p:nvCxnSpPr>
        <p:spPr>
          <a:xfrm>
            <a:off x="1017462" y="3499494"/>
            <a:ext cx="32150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4DA58710-D1C1-44A5-925A-1B4951A1C669}"/>
              </a:ext>
            </a:extLst>
          </p:cNvPr>
          <p:cNvCxnSpPr>
            <a:cxnSpLocks/>
          </p:cNvCxnSpPr>
          <p:nvPr/>
        </p:nvCxnSpPr>
        <p:spPr>
          <a:xfrm>
            <a:off x="602784" y="3571502"/>
            <a:ext cx="21995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4" name="组合 133">
            <a:extLst>
              <a:ext uri="{FF2B5EF4-FFF2-40B4-BE49-F238E27FC236}">
                <a16:creationId xmlns:a16="http://schemas.microsoft.com/office/drawing/2014/main" id="{5DA32EFC-E089-4620-B0B8-1EFE876FFCEA}"/>
              </a:ext>
            </a:extLst>
          </p:cNvPr>
          <p:cNvGrpSpPr/>
          <p:nvPr/>
        </p:nvGrpSpPr>
        <p:grpSpPr>
          <a:xfrm>
            <a:off x="2645594" y="3571502"/>
            <a:ext cx="869432" cy="667817"/>
            <a:chOff x="2640076" y="2348880"/>
            <a:chExt cx="869432" cy="667817"/>
          </a:xfrm>
        </p:grpSpPr>
        <p:sp>
          <p:nvSpPr>
            <p:cNvPr id="135" name="矩形 134">
              <a:extLst>
                <a:ext uri="{FF2B5EF4-FFF2-40B4-BE49-F238E27FC236}">
                  <a16:creationId xmlns:a16="http://schemas.microsoft.com/office/drawing/2014/main" id="{A052B92F-3877-4293-8B82-E8D54AC30F54}"/>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6" name="直接连接符 135">
              <a:extLst>
                <a:ext uri="{FF2B5EF4-FFF2-40B4-BE49-F238E27FC236}">
                  <a16:creationId xmlns:a16="http://schemas.microsoft.com/office/drawing/2014/main" id="{3F6F2978-8B51-4E73-9EEF-A3ABB055AE90}"/>
                </a:ext>
              </a:extLst>
            </p:cNvPr>
            <p:cNvCxnSpPr>
              <a:cxnSpLocks/>
            </p:cNvCxnSpPr>
            <p:nvPr/>
          </p:nvCxnSpPr>
          <p:spPr>
            <a:xfrm>
              <a:off x="2796830"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EA8D335F-7DB6-49CA-A8FD-8BBA5ADCBC3A}"/>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FB34F619-2BF8-4FDE-B67F-41CD87455C49}"/>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9" name="文本框 138">
              <a:extLst>
                <a:ext uri="{FF2B5EF4-FFF2-40B4-BE49-F238E27FC236}">
                  <a16:creationId xmlns:a16="http://schemas.microsoft.com/office/drawing/2014/main" id="{073F4237-C624-4C57-BCF1-A5C8777FC228}"/>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3</a:t>
              </a:r>
              <a:r>
                <a:rPr lang="en-US" altLang="zh-CN" sz="1400" dirty="0"/>
                <a:t>B</a:t>
              </a:r>
              <a:r>
                <a:rPr lang="en-US" altLang="zh-CN" sz="1400" baseline="-25000" dirty="0"/>
                <a:t>1</a:t>
              </a:r>
              <a:endParaRPr lang="zh-CN" altLang="en-US" sz="1400" baseline="-25000" dirty="0"/>
            </a:p>
          </p:txBody>
        </p:sp>
      </p:grpSp>
      <p:grpSp>
        <p:nvGrpSpPr>
          <p:cNvPr id="140" name="组合 139">
            <a:extLst>
              <a:ext uri="{FF2B5EF4-FFF2-40B4-BE49-F238E27FC236}">
                <a16:creationId xmlns:a16="http://schemas.microsoft.com/office/drawing/2014/main" id="{0D9F7F62-483F-4ED4-80D6-668FAE969FE4}"/>
              </a:ext>
            </a:extLst>
          </p:cNvPr>
          <p:cNvGrpSpPr/>
          <p:nvPr/>
        </p:nvGrpSpPr>
        <p:grpSpPr>
          <a:xfrm>
            <a:off x="4075781" y="3499494"/>
            <a:ext cx="869432" cy="739825"/>
            <a:chOff x="2640076" y="2276872"/>
            <a:chExt cx="869432" cy="739825"/>
          </a:xfrm>
        </p:grpSpPr>
        <p:sp>
          <p:nvSpPr>
            <p:cNvPr id="141" name="矩形 140">
              <a:extLst>
                <a:ext uri="{FF2B5EF4-FFF2-40B4-BE49-F238E27FC236}">
                  <a16:creationId xmlns:a16="http://schemas.microsoft.com/office/drawing/2014/main" id="{553B3D5E-1500-465A-AF01-348C0E4745B8}"/>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2" name="直接连接符 141">
              <a:extLst>
                <a:ext uri="{FF2B5EF4-FFF2-40B4-BE49-F238E27FC236}">
                  <a16:creationId xmlns:a16="http://schemas.microsoft.com/office/drawing/2014/main" id="{890495BA-9490-4EB4-AEAF-C1D21655A114}"/>
                </a:ext>
              </a:extLst>
            </p:cNvPr>
            <p:cNvCxnSpPr>
              <a:cxnSpLocks/>
            </p:cNvCxnSpPr>
            <p:nvPr/>
          </p:nvCxnSpPr>
          <p:spPr>
            <a:xfrm>
              <a:off x="2796830" y="2276872"/>
              <a:ext cx="0" cy="2165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02FDE72D-C5E1-4B0A-8296-50F496039C37}"/>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D3DF5019-A7B0-493F-987F-63E1B5B0C404}"/>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5" name="文本框 144">
              <a:extLst>
                <a:ext uri="{FF2B5EF4-FFF2-40B4-BE49-F238E27FC236}">
                  <a16:creationId xmlns:a16="http://schemas.microsoft.com/office/drawing/2014/main" id="{70B1C507-E6D6-421B-93F8-43430147F3DE}"/>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2</a:t>
              </a:r>
              <a:r>
                <a:rPr lang="en-US" altLang="zh-CN" sz="1400" dirty="0"/>
                <a:t>B</a:t>
              </a:r>
              <a:r>
                <a:rPr lang="en-US" altLang="zh-CN" sz="1400" baseline="-25000" dirty="0"/>
                <a:t>1</a:t>
              </a:r>
              <a:endParaRPr lang="zh-CN" altLang="en-US" sz="1400" baseline="-25000" dirty="0"/>
            </a:p>
          </p:txBody>
        </p:sp>
      </p:grpSp>
      <p:grpSp>
        <p:nvGrpSpPr>
          <p:cNvPr id="146" name="组合 145">
            <a:extLst>
              <a:ext uri="{FF2B5EF4-FFF2-40B4-BE49-F238E27FC236}">
                <a16:creationId xmlns:a16="http://schemas.microsoft.com/office/drawing/2014/main" id="{84DBAA2F-CA5A-47D4-8BF4-FF7AF0AE2E6F}"/>
              </a:ext>
            </a:extLst>
          </p:cNvPr>
          <p:cNvGrpSpPr/>
          <p:nvPr/>
        </p:nvGrpSpPr>
        <p:grpSpPr>
          <a:xfrm>
            <a:off x="5505968" y="3427486"/>
            <a:ext cx="869432" cy="811833"/>
            <a:chOff x="2640076" y="2204864"/>
            <a:chExt cx="869432" cy="811833"/>
          </a:xfrm>
        </p:grpSpPr>
        <p:sp>
          <p:nvSpPr>
            <p:cNvPr id="147" name="矩形 146">
              <a:extLst>
                <a:ext uri="{FF2B5EF4-FFF2-40B4-BE49-F238E27FC236}">
                  <a16:creationId xmlns:a16="http://schemas.microsoft.com/office/drawing/2014/main" id="{07D37366-8FCC-4131-9C8A-8BF089F88E21}"/>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8" name="直接连接符 147">
              <a:extLst>
                <a:ext uri="{FF2B5EF4-FFF2-40B4-BE49-F238E27FC236}">
                  <a16:creationId xmlns:a16="http://schemas.microsoft.com/office/drawing/2014/main" id="{F02CB0E5-143C-44B3-99AA-002F3A96964E}"/>
                </a:ext>
              </a:extLst>
            </p:cNvPr>
            <p:cNvCxnSpPr>
              <a:cxnSpLocks/>
            </p:cNvCxnSpPr>
            <p:nvPr/>
          </p:nvCxnSpPr>
          <p:spPr>
            <a:xfrm>
              <a:off x="2796830" y="2204864"/>
              <a:ext cx="0" cy="2885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BB30E53B-E4E4-4CD2-97FB-1A7689657BBD}"/>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B900E957-6C3A-421C-AA1C-F7C1640EA00A}"/>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文本框 150">
              <a:extLst>
                <a:ext uri="{FF2B5EF4-FFF2-40B4-BE49-F238E27FC236}">
                  <a16:creationId xmlns:a16="http://schemas.microsoft.com/office/drawing/2014/main" id="{45A89ADB-AB35-4190-B4AD-BC31A0D12B35}"/>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1</a:t>
              </a:r>
              <a:r>
                <a:rPr lang="en-US" altLang="zh-CN" sz="1400" dirty="0"/>
                <a:t>B</a:t>
              </a:r>
              <a:r>
                <a:rPr lang="en-US" altLang="zh-CN" sz="1400" baseline="-25000" dirty="0"/>
                <a:t>1</a:t>
              </a:r>
              <a:endParaRPr lang="zh-CN" altLang="en-US" sz="1400" baseline="-25000" dirty="0"/>
            </a:p>
          </p:txBody>
        </p:sp>
      </p:grpSp>
      <p:grpSp>
        <p:nvGrpSpPr>
          <p:cNvPr id="152" name="组合 151">
            <a:extLst>
              <a:ext uri="{FF2B5EF4-FFF2-40B4-BE49-F238E27FC236}">
                <a16:creationId xmlns:a16="http://schemas.microsoft.com/office/drawing/2014/main" id="{3F41FF3E-09BB-4A84-8A7F-6E54CB109538}"/>
              </a:ext>
            </a:extLst>
          </p:cNvPr>
          <p:cNvGrpSpPr/>
          <p:nvPr/>
        </p:nvGrpSpPr>
        <p:grpSpPr>
          <a:xfrm>
            <a:off x="6936154" y="3355478"/>
            <a:ext cx="869432" cy="883841"/>
            <a:chOff x="2640076" y="2132856"/>
            <a:chExt cx="869432" cy="883841"/>
          </a:xfrm>
        </p:grpSpPr>
        <p:sp>
          <p:nvSpPr>
            <p:cNvPr id="153" name="矩形 152">
              <a:extLst>
                <a:ext uri="{FF2B5EF4-FFF2-40B4-BE49-F238E27FC236}">
                  <a16:creationId xmlns:a16="http://schemas.microsoft.com/office/drawing/2014/main" id="{39BC0287-CCDC-493A-8357-710E8EE4E315}"/>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4" name="直接连接符 153">
              <a:extLst>
                <a:ext uri="{FF2B5EF4-FFF2-40B4-BE49-F238E27FC236}">
                  <a16:creationId xmlns:a16="http://schemas.microsoft.com/office/drawing/2014/main" id="{A2D7FC7B-4621-4E58-9D22-BF1FF66BD634}"/>
                </a:ext>
              </a:extLst>
            </p:cNvPr>
            <p:cNvCxnSpPr>
              <a:cxnSpLocks/>
            </p:cNvCxnSpPr>
            <p:nvPr/>
          </p:nvCxnSpPr>
          <p:spPr>
            <a:xfrm>
              <a:off x="2796830" y="2132856"/>
              <a:ext cx="0" cy="360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00116ABF-395A-4EE7-A709-4C2760781B78}"/>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4D4BE7CF-D053-4DD6-AE9D-D45CB940C7C6}"/>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文本框 156">
              <a:extLst>
                <a:ext uri="{FF2B5EF4-FFF2-40B4-BE49-F238E27FC236}">
                  <a16:creationId xmlns:a16="http://schemas.microsoft.com/office/drawing/2014/main" id="{7F43432E-FE84-483A-974A-93149647A38E}"/>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0</a:t>
              </a:r>
              <a:r>
                <a:rPr lang="en-US" altLang="zh-CN" sz="1400" dirty="0"/>
                <a:t>B</a:t>
              </a:r>
              <a:r>
                <a:rPr lang="en-US" altLang="zh-CN" sz="1400" baseline="-25000" dirty="0"/>
                <a:t>1</a:t>
              </a:r>
              <a:endParaRPr lang="zh-CN" altLang="en-US" sz="1400" baseline="-25000" dirty="0"/>
            </a:p>
          </p:txBody>
        </p:sp>
      </p:grpSp>
      <p:sp>
        <p:nvSpPr>
          <p:cNvPr id="158" name="椭圆 157">
            <a:extLst>
              <a:ext uri="{FF2B5EF4-FFF2-40B4-BE49-F238E27FC236}">
                <a16:creationId xmlns:a16="http://schemas.microsoft.com/office/drawing/2014/main" id="{DB9CBA21-9DFD-41AD-90B1-56C52057CACB}"/>
              </a:ext>
            </a:extLst>
          </p:cNvPr>
          <p:cNvSpPr/>
          <p:nvPr/>
        </p:nvSpPr>
        <p:spPr>
          <a:xfrm>
            <a:off x="1823314" y="333039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a:extLst>
              <a:ext uri="{FF2B5EF4-FFF2-40B4-BE49-F238E27FC236}">
                <a16:creationId xmlns:a16="http://schemas.microsoft.com/office/drawing/2014/main" id="{7C7BF938-74C5-4F7C-B82F-BE0BA7530DA3}"/>
              </a:ext>
            </a:extLst>
          </p:cNvPr>
          <p:cNvSpPr/>
          <p:nvPr/>
        </p:nvSpPr>
        <p:spPr>
          <a:xfrm>
            <a:off x="1400668" y="340240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a:extLst>
              <a:ext uri="{FF2B5EF4-FFF2-40B4-BE49-F238E27FC236}">
                <a16:creationId xmlns:a16="http://schemas.microsoft.com/office/drawing/2014/main" id="{8FA55CAC-9E38-49AF-8C70-50904012E536}"/>
              </a:ext>
            </a:extLst>
          </p:cNvPr>
          <p:cNvSpPr/>
          <p:nvPr/>
        </p:nvSpPr>
        <p:spPr>
          <a:xfrm>
            <a:off x="994601" y="347663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a:extLst>
              <a:ext uri="{FF2B5EF4-FFF2-40B4-BE49-F238E27FC236}">
                <a16:creationId xmlns:a16="http://schemas.microsoft.com/office/drawing/2014/main" id="{4B9FE2F0-33AC-4E95-813B-EC7FCF3F0FD3}"/>
              </a:ext>
            </a:extLst>
          </p:cNvPr>
          <p:cNvSpPr/>
          <p:nvPr/>
        </p:nvSpPr>
        <p:spPr>
          <a:xfrm>
            <a:off x="583043" y="354864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椭圆 161">
            <a:extLst>
              <a:ext uri="{FF2B5EF4-FFF2-40B4-BE49-F238E27FC236}">
                <a16:creationId xmlns:a16="http://schemas.microsoft.com/office/drawing/2014/main" id="{748C49A5-A0C1-4050-82A3-FE1F3C4FF73A}"/>
              </a:ext>
            </a:extLst>
          </p:cNvPr>
          <p:cNvSpPr/>
          <p:nvPr/>
        </p:nvSpPr>
        <p:spPr>
          <a:xfrm>
            <a:off x="4461093" y="355086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椭圆 162">
            <a:extLst>
              <a:ext uri="{FF2B5EF4-FFF2-40B4-BE49-F238E27FC236}">
                <a16:creationId xmlns:a16="http://schemas.microsoft.com/office/drawing/2014/main" id="{AF8907AD-6F18-4B83-8506-11672FE1EA57}"/>
              </a:ext>
            </a:extLst>
          </p:cNvPr>
          <p:cNvSpPr/>
          <p:nvPr/>
        </p:nvSpPr>
        <p:spPr>
          <a:xfrm>
            <a:off x="5889968" y="355274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a:extLst>
              <a:ext uri="{FF2B5EF4-FFF2-40B4-BE49-F238E27FC236}">
                <a16:creationId xmlns:a16="http://schemas.microsoft.com/office/drawing/2014/main" id="{47E65B06-BCF9-4691-BC4B-4ADDE7A9ED45}"/>
              </a:ext>
            </a:extLst>
          </p:cNvPr>
          <p:cNvSpPr/>
          <p:nvPr/>
        </p:nvSpPr>
        <p:spPr>
          <a:xfrm>
            <a:off x="7320153" y="354864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5" name="直接连接符 164">
            <a:extLst>
              <a:ext uri="{FF2B5EF4-FFF2-40B4-BE49-F238E27FC236}">
                <a16:creationId xmlns:a16="http://schemas.microsoft.com/office/drawing/2014/main" id="{EB29DE42-6D69-4DD4-B794-6A8AAF363BBE}"/>
              </a:ext>
            </a:extLst>
          </p:cNvPr>
          <p:cNvCxnSpPr>
            <a:cxnSpLocks/>
          </p:cNvCxnSpPr>
          <p:nvPr/>
        </p:nvCxnSpPr>
        <p:spPr>
          <a:xfrm>
            <a:off x="1851278" y="4577387"/>
            <a:ext cx="52467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30A20417-E5D5-4D57-A6FE-C3D9C23A885D}"/>
              </a:ext>
            </a:extLst>
          </p:cNvPr>
          <p:cNvCxnSpPr>
            <a:cxnSpLocks/>
          </p:cNvCxnSpPr>
          <p:nvPr/>
        </p:nvCxnSpPr>
        <p:spPr>
          <a:xfrm>
            <a:off x="1428632" y="4649395"/>
            <a:ext cx="42391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CCC04E6A-8870-4304-A923-2869C64F4C81}"/>
              </a:ext>
            </a:extLst>
          </p:cNvPr>
          <p:cNvCxnSpPr>
            <a:cxnSpLocks/>
          </p:cNvCxnSpPr>
          <p:nvPr/>
        </p:nvCxnSpPr>
        <p:spPr>
          <a:xfrm>
            <a:off x="1022565" y="4721403"/>
            <a:ext cx="32150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01BA82EE-8229-449A-BCAC-0EE9C3D3806E}"/>
              </a:ext>
            </a:extLst>
          </p:cNvPr>
          <p:cNvCxnSpPr>
            <a:cxnSpLocks/>
          </p:cNvCxnSpPr>
          <p:nvPr/>
        </p:nvCxnSpPr>
        <p:spPr>
          <a:xfrm>
            <a:off x="607887" y="4793411"/>
            <a:ext cx="21995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9" name="组合 168">
            <a:extLst>
              <a:ext uri="{FF2B5EF4-FFF2-40B4-BE49-F238E27FC236}">
                <a16:creationId xmlns:a16="http://schemas.microsoft.com/office/drawing/2014/main" id="{625BB610-A236-4CFB-AD83-02EA85106324}"/>
              </a:ext>
            </a:extLst>
          </p:cNvPr>
          <p:cNvGrpSpPr/>
          <p:nvPr/>
        </p:nvGrpSpPr>
        <p:grpSpPr>
          <a:xfrm>
            <a:off x="2650697" y="4793411"/>
            <a:ext cx="869432" cy="667817"/>
            <a:chOff x="2640076" y="2348880"/>
            <a:chExt cx="869432" cy="667817"/>
          </a:xfrm>
        </p:grpSpPr>
        <p:sp>
          <p:nvSpPr>
            <p:cNvPr id="170" name="矩形 169">
              <a:extLst>
                <a:ext uri="{FF2B5EF4-FFF2-40B4-BE49-F238E27FC236}">
                  <a16:creationId xmlns:a16="http://schemas.microsoft.com/office/drawing/2014/main" id="{1AB71A3A-B8AE-4CF9-8009-6EE8A87C42F5}"/>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1" name="直接连接符 170">
              <a:extLst>
                <a:ext uri="{FF2B5EF4-FFF2-40B4-BE49-F238E27FC236}">
                  <a16:creationId xmlns:a16="http://schemas.microsoft.com/office/drawing/2014/main" id="{97DC0688-CD04-469C-A751-6962367067DE}"/>
                </a:ext>
              </a:extLst>
            </p:cNvPr>
            <p:cNvCxnSpPr>
              <a:cxnSpLocks/>
            </p:cNvCxnSpPr>
            <p:nvPr/>
          </p:nvCxnSpPr>
          <p:spPr>
            <a:xfrm>
              <a:off x="2796830"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11344EDE-70BD-4E67-876A-3AE15097D5F4}"/>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56EB2151-AEA6-406A-9BEE-C4B7B37FA4E6}"/>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文本框 173">
              <a:extLst>
                <a:ext uri="{FF2B5EF4-FFF2-40B4-BE49-F238E27FC236}">
                  <a16:creationId xmlns:a16="http://schemas.microsoft.com/office/drawing/2014/main" id="{971D66EB-1C8A-4B02-B22B-716C17A083BF}"/>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3</a:t>
              </a:r>
              <a:r>
                <a:rPr lang="en-US" altLang="zh-CN" sz="1400" dirty="0"/>
                <a:t>B</a:t>
              </a:r>
              <a:r>
                <a:rPr lang="en-US" altLang="zh-CN" sz="1400" baseline="-25000" dirty="0"/>
                <a:t>2</a:t>
              </a:r>
              <a:endParaRPr lang="zh-CN" altLang="en-US" sz="1400" baseline="-25000" dirty="0"/>
            </a:p>
          </p:txBody>
        </p:sp>
      </p:grpSp>
      <p:grpSp>
        <p:nvGrpSpPr>
          <p:cNvPr id="175" name="组合 174">
            <a:extLst>
              <a:ext uri="{FF2B5EF4-FFF2-40B4-BE49-F238E27FC236}">
                <a16:creationId xmlns:a16="http://schemas.microsoft.com/office/drawing/2014/main" id="{ABB2813B-B3E9-4E66-B8F9-24E15CFF9F24}"/>
              </a:ext>
            </a:extLst>
          </p:cNvPr>
          <p:cNvGrpSpPr/>
          <p:nvPr/>
        </p:nvGrpSpPr>
        <p:grpSpPr>
          <a:xfrm>
            <a:off x="4080884" y="4721403"/>
            <a:ext cx="869432" cy="739825"/>
            <a:chOff x="2640076" y="2276872"/>
            <a:chExt cx="869432" cy="739825"/>
          </a:xfrm>
        </p:grpSpPr>
        <p:sp>
          <p:nvSpPr>
            <p:cNvPr id="176" name="矩形 175">
              <a:extLst>
                <a:ext uri="{FF2B5EF4-FFF2-40B4-BE49-F238E27FC236}">
                  <a16:creationId xmlns:a16="http://schemas.microsoft.com/office/drawing/2014/main" id="{D97B9E32-6970-4F2A-B4AE-8EFEDAC4AD55}"/>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7" name="直接连接符 176">
              <a:extLst>
                <a:ext uri="{FF2B5EF4-FFF2-40B4-BE49-F238E27FC236}">
                  <a16:creationId xmlns:a16="http://schemas.microsoft.com/office/drawing/2014/main" id="{23D19D4D-C695-44FB-AAAF-26F11C25F6E9}"/>
                </a:ext>
              </a:extLst>
            </p:cNvPr>
            <p:cNvCxnSpPr>
              <a:cxnSpLocks/>
            </p:cNvCxnSpPr>
            <p:nvPr/>
          </p:nvCxnSpPr>
          <p:spPr>
            <a:xfrm>
              <a:off x="2796830" y="2276872"/>
              <a:ext cx="0" cy="2165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D4417714-E1CC-4BE1-A339-FC9E144412D0}"/>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292D3811-6E9E-4360-84D1-117E235B7374}"/>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文本框 179">
              <a:extLst>
                <a:ext uri="{FF2B5EF4-FFF2-40B4-BE49-F238E27FC236}">
                  <a16:creationId xmlns:a16="http://schemas.microsoft.com/office/drawing/2014/main" id="{BED985A0-D931-47EE-B148-69B1545D507C}"/>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2</a:t>
              </a:r>
              <a:r>
                <a:rPr lang="en-US" altLang="zh-CN" sz="1400" dirty="0"/>
                <a:t>B</a:t>
              </a:r>
              <a:r>
                <a:rPr lang="en-US" altLang="zh-CN" sz="1400" baseline="-25000" dirty="0"/>
                <a:t>2</a:t>
              </a:r>
              <a:endParaRPr lang="zh-CN" altLang="en-US" sz="1400" baseline="-25000" dirty="0"/>
            </a:p>
          </p:txBody>
        </p:sp>
      </p:grpSp>
      <p:grpSp>
        <p:nvGrpSpPr>
          <p:cNvPr id="181" name="组合 180">
            <a:extLst>
              <a:ext uri="{FF2B5EF4-FFF2-40B4-BE49-F238E27FC236}">
                <a16:creationId xmlns:a16="http://schemas.microsoft.com/office/drawing/2014/main" id="{8DFA24D7-C4DA-4676-998D-F6ABF2CEBAED}"/>
              </a:ext>
            </a:extLst>
          </p:cNvPr>
          <p:cNvGrpSpPr/>
          <p:nvPr/>
        </p:nvGrpSpPr>
        <p:grpSpPr>
          <a:xfrm>
            <a:off x="5511071" y="4649395"/>
            <a:ext cx="869432" cy="811833"/>
            <a:chOff x="2640076" y="2204864"/>
            <a:chExt cx="869432" cy="811833"/>
          </a:xfrm>
        </p:grpSpPr>
        <p:sp>
          <p:nvSpPr>
            <p:cNvPr id="182" name="矩形 181">
              <a:extLst>
                <a:ext uri="{FF2B5EF4-FFF2-40B4-BE49-F238E27FC236}">
                  <a16:creationId xmlns:a16="http://schemas.microsoft.com/office/drawing/2014/main" id="{90356A8A-0C7D-4747-ABEE-6E600EED009A}"/>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3" name="直接连接符 182">
              <a:extLst>
                <a:ext uri="{FF2B5EF4-FFF2-40B4-BE49-F238E27FC236}">
                  <a16:creationId xmlns:a16="http://schemas.microsoft.com/office/drawing/2014/main" id="{ECCB4E66-7930-44B6-B7FA-4476CD0A3A05}"/>
                </a:ext>
              </a:extLst>
            </p:cNvPr>
            <p:cNvCxnSpPr>
              <a:cxnSpLocks/>
            </p:cNvCxnSpPr>
            <p:nvPr/>
          </p:nvCxnSpPr>
          <p:spPr>
            <a:xfrm>
              <a:off x="2796830" y="2204864"/>
              <a:ext cx="0" cy="2885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D02FD18F-7750-4154-B957-8B807207CD7B}"/>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7384F5A9-8A73-4DDF-8B60-5FEEFDA9271D}"/>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6" name="文本框 185">
              <a:extLst>
                <a:ext uri="{FF2B5EF4-FFF2-40B4-BE49-F238E27FC236}">
                  <a16:creationId xmlns:a16="http://schemas.microsoft.com/office/drawing/2014/main" id="{D4034AF9-42D3-42B8-BE9E-0D56BB6F2D2F}"/>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1</a:t>
              </a:r>
              <a:r>
                <a:rPr lang="en-US" altLang="zh-CN" sz="1400" dirty="0"/>
                <a:t>B</a:t>
              </a:r>
              <a:r>
                <a:rPr lang="en-US" altLang="zh-CN" sz="1400" baseline="-25000" dirty="0"/>
                <a:t>2</a:t>
              </a:r>
              <a:endParaRPr lang="zh-CN" altLang="en-US" sz="1400" baseline="-25000" dirty="0"/>
            </a:p>
          </p:txBody>
        </p:sp>
      </p:grpSp>
      <p:grpSp>
        <p:nvGrpSpPr>
          <p:cNvPr id="187" name="组合 186">
            <a:extLst>
              <a:ext uri="{FF2B5EF4-FFF2-40B4-BE49-F238E27FC236}">
                <a16:creationId xmlns:a16="http://schemas.microsoft.com/office/drawing/2014/main" id="{CF647DAE-EFCE-421C-9D21-7ED8CFFEF4F0}"/>
              </a:ext>
            </a:extLst>
          </p:cNvPr>
          <p:cNvGrpSpPr/>
          <p:nvPr/>
        </p:nvGrpSpPr>
        <p:grpSpPr>
          <a:xfrm>
            <a:off x="6941257" y="4577387"/>
            <a:ext cx="869432" cy="883841"/>
            <a:chOff x="2640076" y="2132856"/>
            <a:chExt cx="869432" cy="883841"/>
          </a:xfrm>
        </p:grpSpPr>
        <p:sp>
          <p:nvSpPr>
            <p:cNvPr id="188" name="矩形 187">
              <a:extLst>
                <a:ext uri="{FF2B5EF4-FFF2-40B4-BE49-F238E27FC236}">
                  <a16:creationId xmlns:a16="http://schemas.microsoft.com/office/drawing/2014/main" id="{AA908486-C1A0-49DC-A066-C1B894C648A3}"/>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9" name="直接连接符 188">
              <a:extLst>
                <a:ext uri="{FF2B5EF4-FFF2-40B4-BE49-F238E27FC236}">
                  <a16:creationId xmlns:a16="http://schemas.microsoft.com/office/drawing/2014/main" id="{62F031CE-989D-4D3A-BA23-35D507BB8C16}"/>
                </a:ext>
              </a:extLst>
            </p:cNvPr>
            <p:cNvCxnSpPr>
              <a:cxnSpLocks/>
            </p:cNvCxnSpPr>
            <p:nvPr/>
          </p:nvCxnSpPr>
          <p:spPr>
            <a:xfrm>
              <a:off x="2796830" y="2132856"/>
              <a:ext cx="0" cy="360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E6A26F44-5CDC-40D1-BD99-B1A8D2EE66E7}"/>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FB27DD9C-0071-4439-8D5C-1A679B5BD009}"/>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2" name="文本框 191">
              <a:extLst>
                <a:ext uri="{FF2B5EF4-FFF2-40B4-BE49-F238E27FC236}">
                  <a16:creationId xmlns:a16="http://schemas.microsoft.com/office/drawing/2014/main" id="{B6F99340-1B3E-4461-8DCE-B68DB999A527}"/>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0</a:t>
              </a:r>
              <a:r>
                <a:rPr lang="en-US" altLang="zh-CN" sz="1400" dirty="0"/>
                <a:t>B</a:t>
              </a:r>
              <a:r>
                <a:rPr lang="en-US" altLang="zh-CN" sz="1400" baseline="-25000" dirty="0"/>
                <a:t>2</a:t>
              </a:r>
              <a:endParaRPr lang="zh-CN" altLang="en-US" sz="1400" baseline="-25000" dirty="0"/>
            </a:p>
          </p:txBody>
        </p:sp>
      </p:grpSp>
      <p:sp>
        <p:nvSpPr>
          <p:cNvPr id="193" name="椭圆 192">
            <a:extLst>
              <a:ext uri="{FF2B5EF4-FFF2-40B4-BE49-F238E27FC236}">
                <a16:creationId xmlns:a16="http://schemas.microsoft.com/office/drawing/2014/main" id="{EA9F5B08-D3EE-4A15-B921-E10341A35C7B}"/>
              </a:ext>
            </a:extLst>
          </p:cNvPr>
          <p:cNvSpPr/>
          <p:nvPr/>
        </p:nvSpPr>
        <p:spPr>
          <a:xfrm>
            <a:off x="1828417" y="455230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椭圆 193">
            <a:extLst>
              <a:ext uri="{FF2B5EF4-FFF2-40B4-BE49-F238E27FC236}">
                <a16:creationId xmlns:a16="http://schemas.microsoft.com/office/drawing/2014/main" id="{2574A7F9-23C8-4137-8172-5AA1599A9653}"/>
              </a:ext>
            </a:extLst>
          </p:cNvPr>
          <p:cNvSpPr/>
          <p:nvPr/>
        </p:nvSpPr>
        <p:spPr>
          <a:xfrm>
            <a:off x="1405771" y="4624309"/>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C8476037-F402-4E91-822F-1229201080CD}"/>
              </a:ext>
            </a:extLst>
          </p:cNvPr>
          <p:cNvSpPr/>
          <p:nvPr/>
        </p:nvSpPr>
        <p:spPr>
          <a:xfrm>
            <a:off x="999704" y="4698543"/>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椭圆 195">
            <a:extLst>
              <a:ext uri="{FF2B5EF4-FFF2-40B4-BE49-F238E27FC236}">
                <a16:creationId xmlns:a16="http://schemas.microsoft.com/office/drawing/2014/main" id="{CA7B86E4-7203-4D2B-AE4C-29D0CF936AC7}"/>
              </a:ext>
            </a:extLst>
          </p:cNvPr>
          <p:cNvSpPr/>
          <p:nvPr/>
        </p:nvSpPr>
        <p:spPr>
          <a:xfrm>
            <a:off x="588146" y="47705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7" name="椭圆 196">
            <a:extLst>
              <a:ext uri="{FF2B5EF4-FFF2-40B4-BE49-F238E27FC236}">
                <a16:creationId xmlns:a16="http://schemas.microsoft.com/office/drawing/2014/main" id="{60E41091-286A-45B4-A63A-E52A935C82FF}"/>
              </a:ext>
            </a:extLst>
          </p:cNvPr>
          <p:cNvSpPr/>
          <p:nvPr/>
        </p:nvSpPr>
        <p:spPr>
          <a:xfrm>
            <a:off x="4466196" y="477277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椭圆 197">
            <a:extLst>
              <a:ext uri="{FF2B5EF4-FFF2-40B4-BE49-F238E27FC236}">
                <a16:creationId xmlns:a16="http://schemas.microsoft.com/office/drawing/2014/main" id="{63C91797-2365-450A-AA8F-928FCC9C7221}"/>
              </a:ext>
            </a:extLst>
          </p:cNvPr>
          <p:cNvSpPr/>
          <p:nvPr/>
        </p:nvSpPr>
        <p:spPr>
          <a:xfrm>
            <a:off x="5895071" y="4774657"/>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椭圆 198">
            <a:extLst>
              <a:ext uri="{FF2B5EF4-FFF2-40B4-BE49-F238E27FC236}">
                <a16:creationId xmlns:a16="http://schemas.microsoft.com/office/drawing/2014/main" id="{CFA6C405-11E7-4382-9C64-93A491650B06}"/>
              </a:ext>
            </a:extLst>
          </p:cNvPr>
          <p:cNvSpPr/>
          <p:nvPr/>
        </p:nvSpPr>
        <p:spPr>
          <a:xfrm>
            <a:off x="7325256" y="477055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5" name="直接连接符 234">
            <a:extLst>
              <a:ext uri="{FF2B5EF4-FFF2-40B4-BE49-F238E27FC236}">
                <a16:creationId xmlns:a16="http://schemas.microsoft.com/office/drawing/2014/main" id="{BBAFAC87-09ED-4EFC-9973-15AD3AB81343}"/>
              </a:ext>
            </a:extLst>
          </p:cNvPr>
          <p:cNvCxnSpPr>
            <a:cxnSpLocks/>
          </p:cNvCxnSpPr>
          <p:nvPr/>
        </p:nvCxnSpPr>
        <p:spPr>
          <a:xfrm>
            <a:off x="1846175" y="5815890"/>
            <a:ext cx="52467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10BF97C4-C1BD-4283-A03A-4C243C4414EC}"/>
              </a:ext>
            </a:extLst>
          </p:cNvPr>
          <p:cNvCxnSpPr>
            <a:cxnSpLocks/>
          </p:cNvCxnSpPr>
          <p:nvPr/>
        </p:nvCxnSpPr>
        <p:spPr>
          <a:xfrm>
            <a:off x="1423529" y="5887898"/>
            <a:ext cx="42391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4453A771-C72D-4BEA-B91B-5C35883BED08}"/>
              </a:ext>
            </a:extLst>
          </p:cNvPr>
          <p:cNvCxnSpPr>
            <a:cxnSpLocks/>
          </p:cNvCxnSpPr>
          <p:nvPr/>
        </p:nvCxnSpPr>
        <p:spPr>
          <a:xfrm>
            <a:off x="1017462" y="5959906"/>
            <a:ext cx="32150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E3E63EEB-0F69-4BEA-96DF-68A8A568B704}"/>
              </a:ext>
            </a:extLst>
          </p:cNvPr>
          <p:cNvCxnSpPr>
            <a:cxnSpLocks/>
          </p:cNvCxnSpPr>
          <p:nvPr/>
        </p:nvCxnSpPr>
        <p:spPr>
          <a:xfrm>
            <a:off x="602784" y="6031914"/>
            <a:ext cx="21995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9" name="组合 238">
            <a:extLst>
              <a:ext uri="{FF2B5EF4-FFF2-40B4-BE49-F238E27FC236}">
                <a16:creationId xmlns:a16="http://schemas.microsoft.com/office/drawing/2014/main" id="{7C76A940-F200-4C5A-8FBD-74A4371A46DC}"/>
              </a:ext>
            </a:extLst>
          </p:cNvPr>
          <p:cNvGrpSpPr/>
          <p:nvPr/>
        </p:nvGrpSpPr>
        <p:grpSpPr>
          <a:xfrm>
            <a:off x="2645594" y="6031914"/>
            <a:ext cx="869432" cy="667817"/>
            <a:chOff x="2640076" y="2348880"/>
            <a:chExt cx="869432" cy="667817"/>
          </a:xfrm>
        </p:grpSpPr>
        <p:sp>
          <p:nvSpPr>
            <p:cNvPr id="240" name="矩形 239">
              <a:extLst>
                <a:ext uri="{FF2B5EF4-FFF2-40B4-BE49-F238E27FC236}">
                  <a16:creationId xmlns:a16="http://schemas.microsoft.com/office/drawing/2014/main" id="{2D6DEEF3-1304-4546-A196-F6CE39734158}"/>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1" name="直接连接符 240">
              <a:extLst>
                <a:ext uri="{FF2B5EF4-FFF2-40B4-BE49-F238E27FC236}">
                  <a16:creationId xmlns:a16="http://schemas.microsoft.com/office/drawing/2014/main" id="{653FB6CA-92C9-4F4F-AE13-848AA8DBA161}"/>
                </a:ext>
              </a:extLst>
            </p:cNvPr>
            <p:cNvCxnSpPr>
              <a:cxnSpLocks/>
            </p:cNvCxnSpPr>
            <p:nvPr/>
          </p:nvCxnSpPr>
          <p:spPr>
            <a:xfrm>
              <a:off x="2796830"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AB2E32D3-683E-4B7E-A37C-84A383CCFE39}"/>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直接连接符 242">
              <a:extLst>
                <a:ext uri="{FF2B5EF4-FFF2-40B4-BE49-F238E27FC236}">
                  <a16:creationId xmlns:a16="http://schemas.microsoft.com/office/drawing/2014/main" id="{A57EB7C5-CE19-4D40-8575-644C6119D99A}"/>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4" name="文本框 243">
              <a:extLst>
                <a:ext uri="{FF2B5EF4-FFF2-40B4-BE49-F238E27FC236}">
                  <a16:creationId xmlns:a16="http://schemas.microsoft.com/office/drawing/2014/main" id="{55209986-D9A7-4E6E-8404-562DF115A1F1}"/>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3</a:t>
              </a:r>
              <a:r>
                <a:rPr lang="en-US" altLang="zh-CN" sz="1400" dirty="0"/>
                <a:t>B</a:t>
              </a:r>
              <a:r>
                <a:rPr lang="en-US" altLang="zh-CN" sz="1400" baseline="-25000" dirty="0"/>
                <a:t>3</a:t>
              </a:r>
              <a:endParaRPr lang="zh-CN" altLang="en-US" sz="1400" baseline="-25000" dirty="0"/>
            </a:p>
          </p:txBody>
        </p:sp>
      </p:grpSp>
      <p:grpSp>
        <p:nvGrpSpPr>
          <p:cNvPr id="245" name="组合 244">
            <a:extLst>
              <a:ext uri="{FF2B5EF4-FFF2-40B4-BE49-F238E27FC236}">
                <a16:creationId xmlns:a16="http://schemas.microsoft.com/office/drawing/2014/main" id="{626B63CF-C864-4903-8D7D-00A3E825D64F}"/>
              </a:ext>
            </a:extLst>
          </p:cNvPr>
          <p:cNvGrpSpPr/>
          <p:nvPr/>
        </p:nvGrpSpPr>
        <p:grpSpPr>
          <a:xfrm>
            <a:off x="4075781" y="5959906"/>
            <a:ext cx="869432" cy="739825"/>
            <a:chOff x="2640076" y="2276872"/>
            <a:chExt cx="869432" cy="739825"/>
          </a:xfrm>
        </p:grpSpPr>
        <p:sp>
          <p:nvSpPr>
            <p:cNvPr id="246" name="矩形 245">
              <a:extLst>
                <a:ext uri="{FF2B5EF4-FFF2-40B4-BE49-F238E27FC236}">
                  <a16:creationId xmlns:a16="http://schemas.microsoft.com/office/drawing/2014/main" id="{774378D2-CA54-4912-8C50-D4812B24C23B}"/>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7" name="直接连接符 246">
              <a:extLst>
                <a:ext uri="{FF2B5EF4-FFF2-40B4-BE49-F238E27FC236}">
                  <a16:creationId xmlns:a16="http://schemas.microsoft.com/office/drawing/2014/main" id="{3157FD21-D1DD-4EC7-B092-2F0E221CF6DB}"/>
                </a:ext>
              </a:extLst>
            </p:cNvPr>
            <p:cNvCxnSpPr>
              <a:cxnSpLocks/>
            </p:cNvCxnSpPr>
            <p:nvPr/>
          </p:nvCxnSpPr>
          <p:spPr>
            <a:xfrm>
              <a:off x="2796830" y="2276872"/>
              <a:ext cx="0" cy="2165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6FF942DB-EB75-437B-9489-A96BF3B32961}"/>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9" name="直接连接符 248">
              <a:extLst>
                <a:ext uri="{FF2B5EF4-FFF2-40B4-BE49-F238E27FC236}">
                  <a16:creationId xmlns:a16="http://schemas.microsoft.com/office/drawing/2014/main" id="{311353BB-4AFD-4089-85CB-8E05DB255083}"/>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0" name="文本框 249">
              <a:extLst>
                <a:ext uri="{FF2B5EF4-FFF2-40B4-BE49-F238E27FC236}">
                  <a16:creationId xmlns:a16="http://schemas.microsoft.com/office/drawing/2014/main" id="{078FF076-F77A-4CD5-A025-B3972A128C24}"/>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2</a:t>
              </a:r>
              <a:r>
                <a:rPr lang="en-US" altLang="zh-CN" sz="1400" dirty="0"/>
                <a:t>B</a:t>
              </a:r>
              <a:r>
                <a:rPr lang="en-US" altLang="zh-CN" sz="1400" baseline="-25000" dirty="0"/>
                <a:t>3</a:t>
              </a:r>
              <a:endParaRPr lang="zh-CN" altLang="en-US" sz="1400" baseline="-25000" dirty="0"/>
            </a:p>
          </p:txBody>
        </p:sp>
      </p:grpSp>
      <p:grpSp>
        <p:nvGrpSpPr>
          <p:cNvPr id="251" name="组合 250">
            <a:extLst>
              <a:ext uri="{FF2B5EF4-FFF2-40B4-BE49-F238E27FC236}">
                <a16:creationId xmlns:a16="http://schemas.microsoft.com/office/drawing/2014/main" id="{49AB347C-2B4D-46CA-AF93-5D2716D8598D}"/>
              </a:ext>
            </a:extLst>
          </p:cNvPr>
          <p:cNvGrpSpPr/>
          <p:nvPr/>
        </p:nvGrpSpPr>
        <p:grpSpPr>
          <a:xfrm>
            <a:off x="5505968" y="5887898"/>
            <a:ext cx="869432" cy="811833"/>
            <a:chOff x="2640076" y="2204864"/>
            <a:chExt cx="869432" cy="811833"/>
          </a:xfrm>
        </p:grpSpPr>
        <p:sp>
          <p:nvSpPr>
            <p:cNvPr id="252" name="矩形 251">
              <a:extLst>
                <a:ext uri="{FF2B5EF4-FFF2-40B4-BE49-F238E27FC236}">
                  <a16:creationId xmlns:a16="http://schemas.microsoft.com/office/drawing/2014/main" id="{101024B1-A61B-49B1-A388-BB8F68915F97}"/>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3" name="直接连接符 252">
              <a:extLst>
                <a:ext uri="{FF2B5EF4-FFF2-40B4-BE49-F238E27FC236}">
                  <a16:creationId xmlns:a16="http://schemas.microsoft.com/office/drawing/2014/main" id="{1129BA9C-B6CB-4881-8C2C-D05813BA0E12}"/>
                </a:ext>
              </a:extLst>
            </p:cNvPr>
            <p:cNvCxnSpPr>
              <a:cxnSpLocks/>
            </p:cNvCxnSpPr>
            <p:nvPr/>
          </p:nvCxnSpPr>
          <p:spPr>
            <a:xfrm>
              <a:off x="2796830" y="2204864"/>
              <a:ext cx="0" cy="2885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直接连接符 253">
              <a:extLst>
                <a:ext uri="{FF2B5EF4-FFF2-40B4-BE49-F238E27FC236}">
                  <a16:creationId xmlns:a16="http://schemas.microsoft.com/office/drawing/2014/main" id="{3286D9CA-CA53-4F42-AE22-0EE46D3356E7}"/>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F4B66578-FD6E-4E79-A125-CE20513C67B4}"/>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文本框 255">
              <a:extLst>
                <a:ext uri="{FF2B5EF4-FFF2-40B4-BE49-F238E27FC236}">
                  <a16:creationId xmlns:a16="http://schemas.microsoft.com/office/drawing/2014/main" id="{F03C95F8-9A1B-4E84-AB29-44410C1CAC66}"/>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1</a:t>
              </a:r>
              <a:r>
                <a:rPr lang="en-US" altLang="zh-CN" sz="1400" dirty="0"/>
                <a:t>B</a:t>
              </a:r>
              <a:r>
                <a:rPr lang="en-US" altLang="zh-CN" sz="1400" baseline="-25000" dirty="0"/>
                <a:t>3</a:t>
              </a:r>
              <a:endParaRPr lang="zh-CN" altLang="en-US" sz="1400" baseline="-25000" dirty="0"/>
            </a:p>
          </p:txBody>
        </p:sp>
      </p:grpSp>
      <p:grpSp>
        <p:nvGrpSpPr>
          <p:cNvPr id="257" name="组合 256">
            <a:extLst>
              <a:ext uri="{FF2B5EF4-FFF2-40B4-BE49-F238E27FC236}">
                <a16:creationId xmlns:a16="http://schemas.microsoft.com/office/drawing/2014/main" id="{BCFB7025-FFBC-4E81-9727-C94D221DD783}"/>
              </a:ext>
            </a:extLst>
          </p:cNvPr>
          <p:cNvGrpSpPr/>
          <p:nvPr/>
        </p:nvGrpSpPr>
        <p:grpSpPr>
          <a:xfrm>
            <a:off x="6936154" y="5815890"/>
            <a:ext cx="869432" cy="883841"/>
            <a:chOff x="2640076" y="2132856"/>
            <a:chExt cx="869432" cy="883841"/>
          </a:xfrm>
        </p:grpSpPr>
        <p:sp>
          <p:nvSpPr>
            <p:cNvPr id="258" name="矩形 257">
              <a:extLst>
                <a:ext uri="{FF2B5EF4-FFF2-40B4-BE49-F238E27FC236}">
                  <a16:creationId xmlns:a16="http://schemas.microsoft.com/office/drawing/2014/main" id="{24093555-D50A-422F-BA69-915F6D884500}"/>
                </a:ext>
              </a:extLst>
            </p:cNvPr>
            <p:cNvSpPr/>
            <p:nvPr/>
          </p:nvSpPr>
          <p:spPr>
            <a:xfrm>
              <a:off x="2640076" y="2493433"/>
              <a:ext cx="563772"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9" name="直接连接符 258">
              <a:extLst>
                <a:ext uri="{FF2B5EF4-FFF2-40B4-BE49-F238E27FC236}">
                  <a16:creationId xmlns:a16="http://schemas.microsoft.com/office/drawing/2014/main" id="{3E4229FD-28F4-42AC-B949-7258F6C1F937}"/>
                </a:ext>
              </a:extLst>
            </p:cNvPr>
            <p:cNvCxnSpPr>
              <a:cxnSpLocks/>
            </p:cNvCxnSpPr>
            <p:nvPr/>
          </p:nvCxnSpPr>
          <p:spPr>
            <a:xfrm>
              <a:off x="2796830" y="2132856"/>
              <a:ext cx="0" cy="360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31AFC9A8-98FD-4A4D-908F-BE3393F9CA42}"/>
                </a:ext>
              </a:extLst>
            </p:cNvPr>
            <p:cNvCxnSpPr>
              <a:cxnSpLocks/>
            </p:cNvCxnSpPr>
            <p:nvPr/>
          </p:nvCxnSpPr>
          <p:spPr>
            <a:xfrm>
              <a:off x="3048249" y="234888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E1556BC4-C89F-4FEF-82AB-FEA9C01076E1}"/>
                </a:ext>
              </a:extLst>
            </p:cNvPr>
            <p:cNvCxnSpPr>
              <a:cxnSpLocks/>
            </p:cNvCxnSpPr>
            <p:nvPr/>
          </p:nvCxnSpPr>
          <p:spPr>
            <a:xfrm>
              <a:off x="2921962" y="272303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2" name="文本框 261">
              <a:extLst>
                <a:ext uri="{FF2B5EF4-FFF2-40B4-BE49-F238E27FC236}">
                  <a16:creationId xmlns:a16="http://schemas.microsoft.com/office/drawing/2014/main" id="{9ACD5BC2-A540-41B1-A596-A9D6A105463A}"/>
                </a:ext>
              </a:extLst>
            </p:cNvPr>
            <p:cNvSpPr txBox="1"/>
            <p:nvPr/>
          </p:nvSpPr>
          <p:spPr>
            <a:xfrm>
              <a:off x="2956151" y="2708920"/>
              <a:ext cx="553357" cy="307777"/>
            </a:xfrm>
            <a:prstGeom prst="rect">
              <a:avLst/>
            </a:prstGeom>
            <a:noFill/>
          </p:spPr>
          <p:txBody>
            <a:bodyPr wrap="none" rtlCol="0">
              <a:spAutoFit/>
            </a:bodyPr>
            <a:lstStyle/>
            <a:p>
              <a:r>
                <a:rPr lang="en-US" altLang="zh-CN" sz="1400" dirty="0"/>
                <a:t>A</a:t>
              </a:r>
              <a:r>
                <a:rPr lang="en-US" altLang="zh-CN" sz="1400" baseline="-25000" dirty="0"/>
                <a:t>0</a:t>
              </a:r>
              <a:r>
                <a:rPr lang="en-US" altLang="zh-CN" sz="1400" dirty="0"/>
                <a:t>B</a:t>
              </a:r>
              <a:r>
                <a:rPr lang="en-US" altLang="zh-CN" sz="1400" baseline="-25000" dirty="0"/>
                <a:t>3</a:t>
              </a:r>
              <a:endParaRPr lang="zh-CN" altLang="en-US" sz="1400" baseline="-25000" dirty="0"/>
            </a:p>
          </p:txBody>
        </p:sp>
      </p:grpSp>
      <p:sp>
        <p:nvSpPr>
          <p:cNvPr id="267" name="椭圆 266">
            <a:extLst>
              <a:ext uri="{FF2B5EF4-FFF2-40B4-BE49-F238E27FC236}">
                <a16:creationId xmlns:a16="http://schemas.microsoft.com/office/drawing/2014/main" id="{341EA2A5-4C76-455D-918F-B9621616E9A9}"/>
              </a:ext>
            </a:extLst>
          </p:cNvPr>
          <p:cNvSpPr/>
          <p:nvPr/>
        </p:nvSpPr>
        <p:spPr>
          <a:xfrm>
            <a:off x="4461093" y="6011281"/>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8" name="椭圆 267">
            <a:extLst>
              <a:ext uri="{FF2B5EF4-FFF2-40B4-BE49-F238E27FC236}">
                <a16:creationId xmlns:a16="http://schemas.microsoft.com/office/drawing/2014/main" id="{064E181A-BD98-455A-940A-76EF9208E91C}"/>
              </a:ext>
            </a:extLst>
          </p:cNvPr>
          <p:cNvSpPr/>
          <p:nvPr/>
        </p:nvSpPr>
        <p:spPr>
          <a:xfrm>
            <a:off x="5889968" y="601316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椭圆 268">
            <a:extLst>
              <a:ext uri="{FF2B5EF4-FFF2-40B4-BE49-F238E27FC236}">
                <a16:creationId xmlns:a16="http://schemas.microsoft.com/office/drawing/2014/main" id="{30805B33-F579-4EF5-8C20-D6750862BA30}"/>
              </a:ext>
            </a:extLst>
          </p:cNvPr>
          <p:cNvSpPr/>
          <p:nvPr/>
        </p:nvSpPr>
        <p:spPr>
          <a:xfrm>
            <a:off x="7320153" y="600905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643305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37A216C-18A3-466E-BD90-37CCADC359B9}" type="slidenum">
              <a:rPr lang="en-US" altLang="zh-CN"/>
              <a:pPr/>
              <a:t>75</a:t>
            </a:fld>
            <a:endParaRPr lang="en-US" altLang="zh-CN" dirty="0"/>
          </a:p>
        </p:txBody>
      </p:sp>
      <p:sp>
        <p:nvSpPr>
          <p:cNvPr id="250883" name="Rectangle 3"/>
          <p:cNvSpPr>
            <a:spLocks noGrp="1" noChangeArrowheads="1"/>
          </p:cNvSpPr>
          <p:nvPr>
            <p:ph sz="quarter" idx="1"/>
          </p:nvPr>
        </p:nvSpPr>
        <p:spPr>
          <a:xfrm>
            <a:off x="413538" y="914400"/>
            <a:ext cx="8334926" cy="5754688"/>
          </a:xfrm>
        </p:spPr>
        <p:txBody>
          <a:bodyPr>
            <a:normAutofit/>
          </a:bodyPr>
          <a:lstStyle/>
          <a:p>
            <a:pPr>
              <a:lnSpc>
                <a:spcPct val="90000"/>
              </a:lnSpc>
            </a:pPr>
            <a:r>
              <a:rPr lang="zh-CN" altLang="en-US" dirty="0"/>
              <a:t>四位乘法器</a:t>
            </a:r>
            <a:endParaRPr lang="en-US" altLang="zh-CN" sz="3200" baseline="-25000" dirty="0"/>
          </a:p>
        </p:txBody>
      </p:sp>
      <p:sp>
        <p:nvSpPr>
          <p:cNvPr id="30" name="Rectangle 2">
            <a:extLst>
              <a:ext uri="{FF2B5EF4-FFF2-40B4-BE49-F238E27FC236}">
                <a16:creationId xmlns:a16="http://schemas.microsoft.com/office/drawing/2014/main" id="{41D43722-B50A-41C8-BC92-3CBE824BACD3}"/>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(50)</a:t>
            </a:r>
          </a:p>
        </p:txBody>
      </p:sp>
      <p:pic>
        <p:nvPicPr>
          <p:cNvPr id="5" name="图片 4">
            <a:extLst>
              <a:ext uri="{FF2B5EF4-FFF2-40B4-BE49-F238E27FC236}">
                <a16:creationId xmlns:a16="http://schemas.microsoft.com/office/drawing/2014/main" id="{058E820F-4F9A-41CA-8ECD-7282CEABC54E}"/>
              </a:ext>
            </a:extLst>
          </p:cNvPr>
          <p:cNvPicPr>
            <a:picLocks noChangeAspect="1"/>
          </p:cNvPicPr>
          <p:nvPr/>
        </p:nvPicPr>
        <p:blipFill>
          <a:blip r:embed="rId3"/>
          <a:stretch>
            <a:fillRect/>
          </a:stretch>
        </p:blipFill>
        <p:spPr>
          <a:xfrm>
            <a:off x="5940152" y="188913"/>
            <a:ext cx="2929880" cy="1809882"/>
          </a:xfrm>
          <a:prstGeom prst="rect">
            <a:avLst/>
          </a:prstGeom>
          <a:ln>
            <a:solidFill>
              <a:schemeClr val="accent1"/>
            </a:solidFill>
          </a:ln>
        </p:spPr>
      </p:pic>
      <p:sp>
        <p:nvSpPr>
          <p:cNvPr id="67" name="文本框 66">
            <a:extLst>
              <a:ext uri="{FF2B5EF4-FFF2-40B4-BE49-F238E27FC236}">
                <a16:creationId xmlns:a16="http://schemas.microsoft.com/office/drawing/2014/main" id="{EE1C43CB-8818-46AC-B6A2-732A348331AF}"/>
              </a:ext>
            </a:extLst>
          </p:cNvPr>
          <p:cNvSpPr txBox="1"/>
          <p:nvPr/>
        </p:nvSpPr>
        <p:spPr>
          <a:xfrm>
            <a:off x="1619672" y="1412776"/>
            <a:ext cx="510076" cy="461665"/>
          </a:xfrm>
          <a:prstGeom prst="rect">
            <a:avLst/>
          </a:prstGeom>
          <a:noFill/>
        </p:spPr>
        <p:txBody>
          <a:bodyPr wrap="none" rtlCol="0">
            <a:spAutoFit/>
          </a:bodyPr>
          <a:lstStyle/>
          <a:p>
            <a:r>
              <a:rPr lang="en-US" altLang="zh-CN" dirty="0"/>
              <a:t>A</a:t>
            </a:r>
            <a:r>
              <a:rPr lang="en-US" altLang="zh-CN" baseline="-25000" dirty="0"/>
              <a:t>0</a:t>
            </a:r>
            <a:endParaRPr lang="zh-CN" altLang="en-US" baseline="-25000" dirty="0"/>
          </a:p>
        </p:txBody>
      </p:sp>
      <p:sp>
        <p:nvSpPr>
          <p:cNvPr id="68" name="文本框 67">
            <a:extLst>
              <a:ext uri="{FF2B5EF4-FFF2-40B4-BE49-F238E27FC236}">
                <a16:creationId xmlns:a16="http://schemas.microsoft.com/office/drawing/2014/main" id="{AB701DC0-489F-4AD6-B7AF-1F7DE30F7F39}"/>
              </a:ext>
            </a:extLst>
          </p:cNvPr>
          <p:cNvSpPr txBox="1"/>
          <p:nvPr/>
        </p:nvSpPr>
        <p:spPr>
          <a:xfrm>
            <a:off x="1193858" y="1412776"/>
            <a:ext cx="510076" cy="461665"/>
          </a:xfrm>
          <a:prstGeom prst="rect">
            <a:avLst/>
          </a:prstGeom>
          <a:noFill/>
        </p:spPr>
        <p:txBody>
          <a:bodyPr wrap="none" rtlCol="0">
            <a:spAutoFit/>
          </a:bodyPr>
          <a:lstStyle/>
          <a:p>
            <a:r>
              <a:rPr lang="en-US" altLang="zh-CN" dirty="0"/>
              <a:t>A</a:t>
            </a:r>
            <a:r>
              <a:rPr lang="en-US" altLang="zh-CN" baseline="-25000" dirty="0"/>
              <a:t>1</a:t>
            </a:r>
            <a:endParaRPr lang="zh-CN" altLang="en-US" baseline="-25000" dirty="0"/>
          </a:p>
        </p:txBody>
      </p:sp>
      <p:sp>
        <p:nvSpPr>
          <p:cNvPr id="69" name="文本框 68">
            <a:extLst>
              <a:ext uri="{FF2B5EF4-FFF2-40B4-BE49-F238E27FC236}">
                <a16:creationId xmlns:a16="http://schemas.microsoft.com/office/drawing/2014/main" id="{6379D29A-4A26-4E8F-87D1-89E36CE5478A}"/>
              </a:ext>
            </a:extLst>
          </p:cNvPr>
          <p:cNvSpPr txBox="1"/>
          <p:nvPr/>
        </p:nvSpPr>
        <p:spPr>
          <a:xfrm>
            <a:off x="768043" y="1412776"/>
            <a:ext cx="510076" cy="461665"/>
          </a:xfrm>
          <a:prstGeom prst="rect">
            <a:avLst/>
          </a:prstGeom>
          <a:noFill/>
        </p:spPr>
        <p:txBody>
          <a:bodyPr wrap="none" rtlCol="0">
            <a:spAutoFit/>
          </a:bodyPr>
          <a:lstStyle/>
          <a:p>
            <a:r>
              <a:rPr lang="en-US" altLang="zh-CN" dirty="0"/>
              <a:t>A</a:t>
            </a:r>
            <a:r>
              <a:rPr lang="en-US" altLang="zh-CN" baseline="-25000" dirty="0"/>
              <a:t>2</a:t>
            </a:r>
            <a:endParaRPr lang="zh-CN" altLang="en-US" baseline="-25000" dirty="0"/>
          </a:p>
        </p:txBody>
      </p:sp>
      <p:sp>
        <p:nvSpPr>
          <p:cNvPr id="70" name="文本框 69">
            <a:extLst>
              <a:ext uri="{FF2B5EF4-FFF2-40B4-BE49-F238E27FC236}">
                <a16:creationId xmlns:a16="http://schemas.microsoft.com/office/drawing/2014/main" id="{206E68D2-1619-4EBF-990D-1B6220C5298B}"/>
              </a:ext>
            </a:extLst>
          </p:cNvPr>
          <p:cNvSpPr txBox="1"/>
          <p:nvPr/>
        </p:nvSpPr>
        <p:spPr>
          <a:xfrm>
            <a:off x="342228" y="1412776"/>
            <a:ext cx="510076" cy="461665"/>
          </a:xfrm>
          <a:prstGeom prst="rect">
            <a:avLst/>
          </a:prstGeom>
          <a:noFill/>
        </p:spPr>
        <p:txBody>
          <a:bodyPr wrap="none" rtlCol="0">
            <a:spAutoFit/>
          </a:bodyPr>
          <a:lstStyle/>
          <a:p>
            <a:r>
              <a:rPr lang="en-US" altLang="zh-CN" dirty="0"/>
              <a:t>A</a:t>
            </a:r>
            <a:r>
              <a:rPr lang="en-US" altLang="zh-CN" baseline="-25000" dirty="0"/>
              <a:t>3</a:t>
            </a:r>
            <a:endParaRPr lang="zh-CN" altLang="en-US" baseline="-25000" dirty="0"/>
          </a:p>
        </p:txBody>
      </p:sp>
      <p:cxnSp>
        <p:nvCxnSpPr>
          <p:cNvPr id="8" name="直接连接符 7">
            <a:extLst>
              <a:ext uri="{FF2B5EF4-FFF2-40B4-BE49-F238E27FC236}">
                <a16:creationId xmlns:a16="http://schemas.microsoft.com/office/drawing/2014/main" id="{BE531BB6-9884-4A65-BA80-7B4D3E61C279}"/>
              </a:ext>
            </a:extLst>
          </p:cNvPr>
          <p:cNvCxnSpPr>
            <a:cxnSpLocks/>
            <a:stCxn id="70" idx="2"/>
          </p:cNvCxnSpPr>
          <p:nvPr/>
        </p:nvCxnSpPr>
        <p:spPr>
          <a:xfrm>
            <a:off x="597266" y="1874441"/>
            <a:ext cx="10621" cy="37559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27210E5F-D42B-415A-81ED-6EDCBF6C0805}"/>
              </a:ext>
            </a:extLst>
          </p:cNvPr>
          <p:cNvCxnSpPr>
            <a:cxnSpLocks/>
          </p:cNvCxnSpPr>
          <p:nvPr/>
        </p:nvCxnSpPr>
        <p:spPr>
          <a:xfrm>
            <a:off x="1011944" y="1874441"/>
            <a:ext cx="10619" cy="36866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5BDA5B0-9305-4BF5-8427-8AA0C76E86B7}"/>
              </a:ext>
            </a:extLst>
          </p:cNvPr>
          <p:cNvCxnSpPr>
            <a:cxnSpLocks/>
          </p:cNvCxnSpPr>
          <p:nvPr/>
        </p:nvCxnSpPr>
        <p:spPr>
          <a:xfrm>
            <a:off x="1418011" y="1874441"/>
            <a:ext cx="7970" cy="36119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980F1A82-8624-4FCD-BD1E-BFD9C7B2E555}"/>
              </a:ext>
            </a:extLst>
          </p:cNvPr>
          <p:cNvCxnSpPr>
            <a:cxnSpLocks/>
          </p:cNvCxnSpPr>
          <p:nvPr/>
        </p:nvCxnSpPr>
        <p:spPr>
          <a:xfrm>
            <a:off x="1840657" y="1874441"/>
            <a:ext cx="0" cy="3539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87081BB1-E205-45D9-8F6C-DC54B4F43F58}"/>
              </a:ext>
            </a:extLst>
          </p:cNvPr>
          <p:cNvCxnSpPr>
            <a:cxnSpLocks/>
          </p:cNvCxnSpPr>
          <p:nvPr/>
        </p:nvCxnSpPr>
        <p:spPr>
          <a:xfrm>
            <a:off x="5849366" y="2351107"/>
            <a:ext cx="24670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DAED8A50-42B0-4AE5-8CAB-54B58B40562B}"/>
              </a:ext>
            </a:extLst>
          </p:cNvPr>
          <p:cNvSpPr txBox="1"/>
          <p:nvPr/>
        </p:nvSpPr>
        <p:spPr>
          <a:xfrm>
            <a:off x="8309284" y="2132856"/>
            <a:ext cx="510076" cy="461665"/>
          </a:xfrm>
          <a:prstGeom prst="rect">
            <a:avLst/>
          </a:prstGeom>
          <a:noFill/>
        </p:spPr>
        <p:txBody>
          <a:bodyPr wrap="none" rtlCol="0">
            <a:spAutoFit/>
          </a:bodyPr>
          <a:lstStyle/>
          <a:p>
            <a:r>
              <a:rPr lang="en-US" altLang="zh-CN" dirty="0"/>
              <a:t>B</a:t>
            </a:r>
            <a:r>
              <a:rPr lang="en-US" altLang="zh-CN" baseline="-25000" dirty="0"/>
              <a:t>0</a:t>
            </a:r>
            <a:endParaRPr lang="zh-CN" altLang="en-US" baseline="-25000" dirty="0"/>
          </a:p>
        </p:txBody>
      </p:sp>
      <p:sp>
        <p:nvSpPr>
          <p:cNvPr id="76" name="文本框 75">
            <a:extLst>
              <a:ext uri="{FF2B5EF4-FFF2-40B4-BE49-F238E27FC236}">
                <a16:creationId xmlns:a16="http://schemas.microsoft.com/office/drawing/2014/main" id="{5CDBC239-684D-44FA-AEF7-46E978B7899E}"/>
              </a:ext>
            </a:extLst>
          </p:cNvPr>
          <p:cNvSpPr txBox="1"/>
          <p:nvPr/>
        </p:nvSpPr>
        <p:spPr>
          <a:xfrm>
            <a:off x="8309284" y="3013680"/>
            <a:ext cx="492443" cy="461665"/>
          </a:xfrm>
          <a:prstGeom prst="rect">
            <a:avLst/>
          </a:prstGeom>
          <a:noFill/>
        </p:spPr>
        <p:txBody>
          <a:bodyPr wrap="none" rtlCol="0">
            <a:spAutoFit/>
          </a:bodyPr>
          <a:lstStyle/>
          <a:p>
            <a:r>
              <a:rPr lang="en-US" altLang="zh-CN" dirty="0"/>
              <a:t>B</a:t>
            </a:r>
            <a:r>
              <a:rPr lang="en-US" altLang="zh-CN" baseline="-25000" dirty="0"/>
              <a:t>1</a:t>
            </a:r>
            <a:endParaRPr lang="zh-CN" altLang="en-US" baseline="-25000" dirty="0"/>
          </a:p>
        </p:txBody>
      </p:sp>
      <p:sp>
        <p:nvSpPr>
          <p:cNvPr id="77" name="文本框 76">
            <a:extLst>
              <a:ext uri="{FF2B5EF4-FFF2-40B4-BE49-F238E27FC236}">
                <a16:creationId xmlns:a16="http://schemas.microsoft.com/office/drawing/2014/main" id="{AF9092E8-1A54-4950-B222-AB3C0B0B95CA}"/>
              </a:ext>
            </a:extLst>
          </p:cNvPr>
          <p:cNvSpPr txBox="1"/>
          <p:nvPr/>
        </p:nvSpPr>
        <p:spPr>
          <a:xfrm>
            <a:off x="8309284" y="4179649"/>
            <a:ext cx="492443" cy="461665"/>
          </a:xfrm>
          <a:prstGeom prst="rect">
            <a:avLst/>
          </a:prstGeom>
          <a:noFill/>
        </p:spPr>
        <p:txBody>
          <a:bodyPr wrap="none" rtlCol="0">
            <a:spAutoFit/>
          </a:bodyPr>
          <a:lstStyle/>
          <a:p>
            <a:r>
              <a:rPr lang="en-US" altLang="zh-CN" dirty="0"/>
              <a:t>B</a:t>
            </a:r>
            <a:r>
              <a:rPr lang="en-US" altLang="zh-CN" baseline="-25000" dirty="0"/>
              <a:t>2</a:t>
            </a:r>
            <a:endParaRPr lang="zh-CN" altLang="en-US" baseline="-25000" dirty="0"/>
          </a:p>
        </p:txBody>
      </p:sp>
      <p:sp>
        <p:nvSpPr>
          <p:cNvPr id="78" name="文本框 77">
            <a:extLst>
              <a:ext uri="{FF2B5EF4-FFF2-40B4-BE49-F238E27FC236}">
                <a16:creationId xmlns:a16="http://schemas.microsoft.com/office/drawing/2014/main" id="{410A913E-5296-445E-8A2C-A052641973AF}"/>
              </a:ext>
            </a:extLst>
          </p:cNvPr>
          <p:cNvSpPr txBox="1"/>
          <p:nvPr/>
        </p:nvSpPr>
        <p:spPr>
          <a:xfrm>
            <a:off x="8309284" y="5392975"/>
            <a:ext cx="492443" cy="461665"/>
          </a:xfrm>
          <a:prstGeom prst="rect">
            <a:avLst/>
          </a:prstGeom>
          <a:noFill/>
        </p:spPr>
        <p:txBody>
          <a:bodyPr wrap="none" rtlCol="0">
            <a:spAutoFit/>
          </a:bodyPr>
          <a:lstStyle/>
          <a:p>
            <a:r>
              <a:rPr lang="en-US" altLang="zh-CN" dirty="0"/>
              <a:t>B</a:t>
            </a:r>
            <a:r>
              <a:rPr lang="en-US" altLang="zh-CN" baseline="-25000" dirty="0"/>
              <a:t>3</a:t>
            </a:r>
            <a:endParaRPr lang="zh-CN" altLang="en-US" baseline="-25000" dirty="0"/>
          </a:p>
        </p:txBody>
      </p:sp>
      <p:cxnSp>
        <p:nvCxnSpPr>
          <p:cNvPr id="79" name="直接连接符 78">
            <a:extLst>
              <a:ext uri="{FF2B5EF4-FFF2-40B4-BE49-F238E27FC236}">
                <a16:creationId xmlns:a16="http://schemas.microsoft.com/office/drawing/2014/main" id="{BA99DE42-E68F-499C-8F02-A8AF39DE565E}"/>
              </a:ext>
            </a:extLst>
          </p:cNvPr>
          <p:cNvCxnSpPr>
            <a:cxnSpLocks/>
          </p:cNvCxnSpPr>
          <p:nvPr/>
        </p:nvCxnSpPr>
        <p:spPr>
          <a:xfrm>
            <a:off x="4956212" y="3235106"/>
            <a:ext cx="3360204" cy="44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6137AB0D-AEB0-4163-8C6D-6CCDE8C9D28C}"/>
              </a:ext>
            </a:extLst>
          </p:cNvPr>
          <p:cNvCxnSpPr>
            <a:cxnSpLocks/>
          </p:cNvCxnSpPr>
          <p:nvPr/>
        </p:nvCxnSpPr>
        <p:spPr>
          <a:xfrm>
            <a:off x="4203318" y="4415417"/>
            <a:ext cx="41130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8061242F-8961-4D72-8A47-141C5BC6880B}"/>
              </a:ext>
            </a:extLst>
          </p:cNvPr>
          <p:cNvCxnSpPr>
            <a:cxnSpLocks/>
          </p:cNvCxnSpPr>
          <p:nvPr/>
        </p:nvCxnSpPr>
        <p:spPr>
          <a:xfrm>
            <a:off x="3483240" y="5638616"/>
            <a:ext cx="48260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78E18086-1784-42B0-8F4D-8777F769DE0F}"/>
              </a:ext>
            </a:extLst>
          </p:cNvPr>
          <p:cNvCxnSpPr>
            <a:cxnSpLocks/>
          </p:cNvCxnSpPr>
          <p:nvPr/>
        </p:nvCxnSpPr>
        <p:spPr>
          <a:xfrm>
            <a:off x="1840657" y="2132856"/>
            <a:ext cx="5755679" cy="128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7263DB8D-63A7-4914-BB49-A1C0E2C69C22}"/>
              </a:ext>
            </a:extLst>
          </p:cNvPr>
          <p:cNvCxnSpPr>
            <a:cxnSpLocks/>
          </p:cNvCxnSpPr>
          <p:nvPr/>
        </p:nvCxnSpPr>
        <p:spPr>
          <a:xfrm>
            <a:off x="1418011" y="2204864"/>
            <a:ext cx="55399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25B70931-88C6-4D1C-BC85-D8E863C66A05}"/>
              </a:ext>
            </a:extLst>
          </p:cNvPr>
          <p:cNvCxnSpPr>
            <a:cxnSpLocks/>
          </p:cNvCxnSpPr>
          <p:nvPr/>
        </p:nvCxnSpPr>
        <p:spPr>
          <a:xfrm>
            <a:off x="1011944" y="2276872"/>
            <a:ext cx="530761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46A66609-CE72-4E50-B533-6326B24CC872}"/>
              </a:ext>
            </a:extLst>
          </p:cNvPr>
          <p:cNvCxnSpPr>
            <a:cxnSpLocks/>
          </p:cNvCxnSpPr>
          <p:nvPr/>
        </p:nvCxnSpPr>
        <p:spPr>
          <a:xfrm>
            <a:off x="597266" y="2348880"/>
            <a:ext cx="50839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a:extLst>
              <a:ext uri="{FF2B5EF4-FFF2-40B4-BE49-F238E27FC236}">
                <a16:creationId xmlns:a16="http://schemas.microsoft.com/office/drawing/2014/main" id="{F6B63B62-6B95-4117-8053-8983BDDF0838}"/>
              </a:ext>
            </a:extLst>
          </p:cNvPr>
          <p:cNvSpPr/>
          <p:nvPr/>
        </p:nvSpPr>
        <p:spPr>
          <a:xfrm>
            <a:off x="1817796" y="210777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F47B1ACA-15DC-4FEA-8BB3-36345C80A5F5}"/>
              </a:ext>
            </a:extLst>
          </p:cNvPr>
          <p:cNvSpPr/>
          <p:nvPr/>
        </p:nvSpPr>
        <p:spPr>
          <a:xfrm>
            <a:off x="1395150" y="217977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E620942A-6A8D-4CED-83CF-BC793D54CBEA}"/>
              </a:ext>
            </a:extLst>
          </p:cNvPr>
          <p:cNvSpPr/>
          <p:nvPr/>
        </p:nvSpPr>
        <p:spPr>
          <a:xfrm>
            <a:off x="989083" y="225401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20CC5C6A-D6F7-49B7-8FD7-BA5E48C90473}"/>
              </a:ext>
            </a:extLst>
          </p:cNvPr>
          <p:cNvSpPr/>
          <p:nvPr/>
        </p:nvSpPr>
        <p:spPr>
          <a:xfrm>
            <a:off x="577525" y="232602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5EAE27F1-8FD2-4431-B0CD-208E4A2D40A9}"/>
              </a:ext>
            </a:extLst>
          </p:cNvPr>
          <p:cNvGrpSpPr/>
          <p:nvPr/>
        </p:nvGrpSpPr>
        <p:grpSpPr>
          <a:xfrm>
            <a:off x="7524330" y="2145731"/>
            <a:ext cx="565924" cy="799651"/>
            <a:chOff x="7524330" y="2145731"/>
            <a:chExt cx="565924" cy="799651"/>
          </a:xfrm>
        </p:grpSpPr>
        <p:sp>
          <p:nvSpPr>
            <p:cNvPr id="119" name="矩形 118">
              <a:extLst>
                <a:ext uri="{FF2B5EF4-FFF2-40B4-BE49-F238E27FC236}">
                  <a16:creationId xmlns:a16="http://schemas.microsoft.com/office/drawing/2014/main" id="{6CF1991F-E94A-4ED0-A52F-14E85D12BA03}"/>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0" name="直接连接符 119">
              <a:extLst>
                <a:ext uri="{FF2B5EF4-FFF2-40B4-BE49-F238E27FC236}">
                  <a16:creationId xmlns:a16="http://schemas.microsoft.com/office/drawing/2014/main" id="{347DD428-D248-4B75-BFD5-A879733F3341}"/>
                </a:ext>
              </a:extLst>
            </p:cNvPr>
            <p:cNvCxnSpPr>
              <a:cxnSpLocks/>
            </p:cNvCxnSpPr>
            <p:nvPr/>
          </p:nvCxnSpPr>
          <p:spPr>
            <a:xfrm>
              <a:off x="7596336" y="2145731"/>
              <a:ext cx="0" cy="360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DCDB4762-CBD0-487F-863F-319E3600483A}"/>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CD5A5EA2-3B7D-471B-9CE8-22DC8B589823}"/>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C5A618E9-ADB0-4268-A80A-C7EF800FA86A}"/>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0</a:t>
              </a:r>
              <a:r>
                <a:rPr lang="en-US" altLang="zh-CN" sz="900" dirty="0"/>
                <a:t>B</a:t>
              </a:r>
              <a:r>
                <a:rPr lang="en-US" altLang="zh-CN" sz="900" baseline="-25000" dirty="0"/>
                <a:t>0</a:t>
              </a:r>
              <a:endParaRPr lang="zh-CN" altLang="en-US" sz="900" baseline="-25000" dirty="0"/>
            </a:p>
          </p:txBody>
        </p:sp>
        <p:sp>
          <p:nvSpPr>
            <p:cNvPr id="129" name="椭圆 128">
              <a:extLst>
                <a:ext uri="{FF2B5EF4-FFF2-40B4-BE49-F238E27FC236}">
                  <a16:creationId xmlns:a16="http://schemas.microsoft.com/office/drawing/2014/main" id="{40C055D1-2627-419D-99FB-C3B161CB6E7C}"/>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0" name="直接连接符 129">
            <a:extLst>
              <a:ext uri="{FF2B5EF4-FFF2-40B4-BE49-F238E27FC236}">
                <a16:creationId xmlns:a16="http://schemas.microsoft.com/office/drawing/2014/main" id="{56376DED-FEB9-4D09-8581-EEC06B966181}"/>
              </a:ext>
            </a:extLst>
          </p:cNvPr>
          <p:cNvCxnSpPr>
            <a:cxnSpLocks/>
          </p:cNvCxnSpPr>
          <p:nvPr/>
        </p:nvCxnSpPr>
        <p:spPr>
          <a:xfrm>
            <a:off x="1846175" y="3022039"/>
            <a:ext cx="4857007" cy="47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DA022FC4-D0DA-4D66-BD2A-CF2849564D08}"/>
              </a:ext>
            </a:extLst>
          </p:cNvPr>
          <p:cNvCxnSpPr>
            <a:cxnSpLocks/>
          </p:cNvCxnSpPr>
          <p:nvPr/>
        </p:nvCxnSpPr>
        <p:spPr>
          <a:xfrm flipV="1">
            <a:off x="1423529" y="3091733"/>
            <a:ext cx="4641267" cy="23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3A53A2C3-DFB4-418C-966C-4234ECB4932E}"/>
              </a:ext>
            </a:extLst>
          </p:cNvPr>
          <p:cNvCxnSpPr>
            <a:cxnSpLocks/>
          </p:cNvCxnSpPr>
          <p:nvPr/>
        </p:nvCxnSpPr>
        <p:spPr>
          <a:xfrm>
            <a:off x="1017462" y="3166055"/>
            <a:ext cx="4408947" cy="42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4DA58710-D1C1-44A5-925A-1B4951A1C669}"/>
              </a:ext>
            </a:extLst>
          </p:cNvPr>
          <p:cNvCxnSpPr>
            <a:cxnSpLocks/>
          </p:cNvCxnSpPr>
          <p:nvPr/>
        </p:nvCxnSpPr>
        <p:spPr>
          <a:xfrm flipV="1">
            <a:off x="602784" y="3235106"/>
            <a:ext cx="4185238" cy="29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8" name="椭圆 157">
            <a:extLst>
              <a:ext uri="{FF2B5EF4-FFF2-40B4-BE49-F238E27FC236}">
                <a16:creationId xmlns:a16="http://schemas.microsoft.com/office/drawing/2014/main" id="{DB9CBA21-9DFD-41AD-90B1-56C52057CACB}"/>
              </a:ext>
            </a:extLst>
          </p:cNvPr>
          <p:cNvSpPr/>
          <p:nvPr/>
        </p:nvSpPr>
        <p:spPr>
          <a:xfrm>
            <a:off x="1823314" y="299695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a:extLst>
              <a:ext uri="{FF2B5EF4-FFF2-40B4-BE49-F238E27FC236}">
                <a16:creationId xmlns:a16="http://schemas.microsoft.com/office/drawing/2014/main" id="{7C7BF938-74C5-4F7C-B82F-BE0BA7530DA3}"/>
              </a:ext>
            </a:extLst>
          </p:cNvPr>
          <p:cNvSpPr/>
          <p:nvPr/>
        </p:nvSpPr>
        <p:spPr>
          <a:xfrm>
            <a:off x="1400668" y="306896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a:extLst>
              <a:ext uri="{FF2B5EF4-FFF2-40B4-BE49-F238E27FC236}">
                <a16:creationId xmlns:a16="http://schemas.microsoft.com/office/drawing/2014/main" id="{8FA55CAC-9E38-49AF-8C70-50904012E536}"/>
              </a:ext>
            </a:extLst>
          </p:cNvPr>
          <p:cNvSpPr/>
          <p:nvPr/>
        </p:nvSpPr>
        <p:spPr>
          <a:xfrm>
            <a:off x="994601" y="314319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a:extLst>
              <a:ext uri="{FF2B5EF4-FFF2-40B4-BE49-F238E27FC236}">
                <a16:creationId xmlns:a16="http://schemas.microsoft.com/office/drawing/2014/main" id="{4B9FE2F0-33AC-4E95-813B-EC7FCF3F0FD3}"/>
              </a:ext>
            </a:extLst>
          </p:cNvPr>
          <p:cNvSpPr/>
          <p:nvPr/>
        </p:nvSpPr>
        <p:spPr>
          <a:xfrm>
            <a:off x="583043" y="321520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5" name="直接连接符 164">
            <a:extLst>
              <a:ext uri="{FF2B5EF4-FFF2-40B4-BE49-F238E27FC236}">
                <a16:creationId xmlns:a16="http://schemas.microsoft.com/office/drawing/2014/main" id="{EB29DE42-6D69-4DD4-B794-6A8AAF363BBE}"/>
              </a:ext>
            </a:extLst>
          </p:cNvPr>
          <p:cNvCxnSpPr>
            <a:cxnSpLocks/>
          </p:cNvCxnSpPr>
          <p:nvPr/>
        </p:nvCxnSpPr>
        <p:spPr>
          <a:xfrm flipV="1">
            <a:off x="1851278" y="4193425"/>
            <a:ext cx="4099012" cy="22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30A20417-E5D5-4D57-A6FE-C3D9C23A885D}"/>
              </a:ext>
            </a:extLst>
          </p:cNvPr>
          <p:cNvCxnSpPr>
            <a:cxnSpLocks/>
          </p:cNvCxnSpPr>
          <p:nvPr/>
        </p:nvCxnSpPr>
        <p:spPr>
          <a:xfrm flipV="1">
            <a:off x="1428632" y="4267660"/>
            <a:ext cx="388142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CCC04E6A-8870-4304-A923-2869C64F4C81}"/>
              </a:ext>
            </a:extLst>
          </p:cNvPr>
          <p:cNvCxnSpPr>
            <a:cxnSpLocks/>
          </p:cNvCxnSpPr>
          <p:nvPr/>
        </p:nvCxnSpPr>
        <p:spPr>
          <a:xfrm flipV="1">
            <a:off x="1022565" y="4339667"/>
            <a:ext cx="3650952"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01BA82EE-8229-449A-BCAC-0EE9C3D3806E}"/>
              </a:ext>
            </a:extLst>
          </p:cNvPr>
          <p:cNvCxnSpPr>
            <a:cxnSpLocks/>
          </p:cNvCxnSpPr>
          <p:nvPr/>
        </p:nvCxnSpPr>
        <p:spPr>
          <a:xfrm>
            <a:off x="607887" y="4411676"/>
            <a:ext cx="3427242" cy="101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椭圆 192">
            <a:extLst>
              <a:ext uri="{FF2B5EF4-FFF2-40B4-BE49-F238E27FC236}">
                <a16:creationId xmlns:a16="http://schemas.microsoft.com/office/drawing/2014/main" id="{EA9F5B08-D3EE-4A15-B921-E10341A35C7B}"/>
              </a:ext>
            </a:extLst>
          </p:cNvPr>
          <p:cNvSpPr/>
          <p:nvPr/>
        </p:nvSpPr>
        <p:spPr>
          <a:xfrm>
            <a:off x="1828417" y="417056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椭圆 193">
            <a:extLst>
              <a:ext uri="{FF2B5EF4-FFF2-40B4-BE49-F238E27FC236}">
                <a16:creationId xmlns:a16="http://schemas.microsoft.com/office/drawing/2014/main" id="{2574A7F9-23C8-4137-8172-5AA1599A9653}"/>
              </a:ext>
            </a:extLst>
          </p:cNvPr>
          <p:cNvSpPr/>
          <p:nvPr/>
        </p:nvSpPr>
        <p:spPr>
          <a:xfrm>
            <a:off x="1405771" y="424257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C8476037-F402-4E91-822F-1229201080CD}"/>
              </a:ext>
            </a:extLst>
          </p:cNvPr>
          <p:cNvSpPr/>
          <p:nvPr/>
        </p:nvSpPr>
        <p:spPr>
          <a:xfrm>
            <a:off x="999704" y="431680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椭圆 195">
            <a:extLst>
              <a:ext uri="{FF2B5EF4-FFF2-40B4-BE49-F238E27FC236}">
                <a16:creationId xmlns:a16="http://schemas.microsoft.com/office/drawing/2014/main" id="{CA7B86E4-7203-4D2B-AE4C-29D0CF936AC7}"/>
              </a:ext>
            </a:extLst>
          </p:cNvPr>
          <p:cNvSpPr/>
          <p:nvPr/>
        </p:nvSpPr>
        <p:spPr>
          <a:xfrm>
            <a:off x="588146" y="438881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5" name="直接连接符 234">
            <a:extLst>
              <a:ext uri="{FF2B5EF4-FFF2-40B4-BE49-F238E27FC236}">
                <a16:creationId xmlns:a16="http://schemas.microsoft.com/office/drawing/2014/main" id="{BBAFAC87-09ED-4EFC-9973-15AD3AB81343}"/>
              </a:ext>
            </a:extLst>
          </p:cNvPr>
          <p:cNvCxnSpPr>
            <a:cxnSpLocks/>
          </p:cNvCxnSpPr>
          <p:nvPr/>
        </p:nvCxnSpPr>
        <p:spPr>
          <a:xfrm>
            <a:off x="1840655" y="5414237"/>
            <a:ext cx="3389555" cy="1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10BF97C4-C1BD-4283-A03A-4C243C4414EC}"/>
              </a:ext>
            </a:extLst>
          </p:cNvPr>
          <p:cNvCxnSpPr>
            <a:cxnSpLocks/>
          </p:cNvCxnSpPr>
          <p:nvPr/>
        </p:nvCxnSpPr>
        <p:spPr>
          <a:xfrm>
            <a:off x="1423529" y="5486404"/>
            <a:ext cx="3168295" cy="5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4453A771-C72D-4BEA-B91B-5C35883BED08}"/>
              </a:ext>
            </a:extLst>
          </p:cNvPr>
          <p:cNvCxnSpPr>
            <a:cxnSpLocks/>
          </p:cNvCxnSpPr>
          <p:nvPr/>
        </p:nvCxnSpPr>
        <p:spPr>
          <a:xfrm>
            <a:off x="1017462" y="5558412"/>
            <a:ext cx="2935975" cy="5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E3E63EEB-0F69-4BEA-96DF-68A8A568B704}"/>
              </a:ext>
            </a:extLst>
          </p:cNvPr>
          <p:cNvCxnSpPr>
            <a:cxnSpLocks/>
          </p:cNvCxnSpPr>
          <p:nvPr/>
        </p:nvCxnSpPr>
        <p:spPr>
          <a:xfrm>
            <a:off x="602784" y="5630420"/>
            <a:ext cx="2711109" cy="63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0" name="组合 199">
            <a:extLst>
              <a:ext uri="{FF2B5EF4-FFF2-40B4-BE49-F238E27FC236}">
                <a16:creationId xmlns:a16="http://schemas.microsoft.com/office/drawing/2014/main" id="{868FC434-AB84-4FB2-AB32-FC630E336FD3}"/>
              </a:ext>
            </a:extLst>
          </p:cNvPr>
          <p:cNvGrpSpPr/>
          <p:nvPr/>
        </p:nvGrpSpPr>
        <p:grpSpPr>
          <a:xfrm>
            <a:off x="6885944" y="2204864"/>
            <a:ext cx="565924" cy="740518"/>
            <a:chOff x="7524330" y="2204864"/>
            <a:chExt cx="565924" cy="740518"/>
          </a:xfrm>
        </p:grpSpPr>
        <p:sp>
          <p:nvSpPr>
            <p:cNvPr id="201" name="矩形 200">
              <a:extLst>
                <a:ext uri="{FF2B5EF4-FFF2-40B4-BE49-F238E27FC236}">
                  <a16:creationId xmlns:a16="http://schemas.microsoft.com/office/drawing/2014/main" id="{842C38CB-0AFC-4421-9885-FD47CC6BD119}"/>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2" name="直接连接符 201">
              <a:extLst>
                <a:ext uri="{FF2B5EF4-FFF2-40B4-BE49-F238E27FC236}">
                  <a16:creationId xmlns:a16="http://schemas.microsoft.com/office/drawing/2014/main" id="{7A6AF729-09BA-424B-B225-3FDB764C2051}"/>
                </a:ext>
              </a:extLst>
            </p:cNvPr>
            <p:cNvCxnSpPr>
              <a:cxnSpLocks/>
            </p:cNvCxnSpPr>
            <p:nvPr/>
          </p:nvCxnSpPr>
          <p:spPr>
            <a:xfrm>
              <a:off x="7596336" y="2204864"/>
              <a:ext cx="0" cy="301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EAB5BDE3-EA59-4F90-B146-C3FD725B1BD2}"/>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216FAE38-96D9-46B6-941D-45F8F9AC07AF}"/>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5" name="文本框 204">
              <a:extLst>
                <a:ext uri="{FF2B5EF4-FFF2-40B4-BE49-F238E27FC236}">
                  <a16:creationId xmlns:a16="http://schemas.microsoft.com/office/drawing/2014/main" id="{47EDAD77-B488-437C-975F-9E4154D72E1C}"/>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1</a:t>
              </a:r>
              <a:r>
                <a:rPr lang="en-US" altLang="zh-CN" sz="900" dirty="0"/>
                <a:t>B</a:t>
              </a:r>
              <a:r>
                <a:rPr lang="en-US" altLang="zh-CN" sz="900" baseline="-25000" dirty="0"/>
                <a:t>0</a:t>
              </a:r>
              <a:endParaRPr lang="zh-CN" altLang="en-US" sz="900" baseline="-25000" dirty="0"/>
            </a:p>
          </p:txBody>
        </p:sp>
        <p:sp>
          <p:nvSpPr>
            <p:cNvPr id="206" name="椭圆 205">
              <a:extLst>
                <a:ext uri="{FF2B5EF4-FFF2-40B4-BE49-F238E27FC236}">
                  <a16:creationId xmlns:a16="http://schemas.microsoft.com/office/drawing/2014/main" id="{14B473F6-E712-4983-AECC-F0E8347B28A3}"/>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7" name="组合 206">
            <a:extLst>
              <a:ext uri="{FF2B5EF4-FFF2-40B4-BE49-F238E27FC236}">
                <a16:creationId xmlns:a16="http://schemas.microsoft.com/office/drawing/2014/main" id="{ECA624BC-F124-4673-8AB5-2B4B16291450}"/>
              </a:ext>
            </a:extLst>
          </p:cNvPr>
          <p:cNvGrpSpPr/>
          <p:nvPr/>
        </p:nvGrpSpPr>
        <p:grpSpPr>
          <a:xfrm>
            <a:off x="6247557" y="2276872"/>
            <a:ext cx="565924" cy="663768"/>
            <a:chOff x="7524330" y="2281614"/>
            <a:chExt cx="565924" cy="663768"/>
          </a:xfrm>
        </p:grpSpPr>
        <p:sp>
          <p:nvSpPr>
            <p:cNvPr id="208" name="矩形 207">
              <a:extLst>
                <a:ext uri="{FF2B5EF4-FFF2-40B4-BE49-F238E27FC236}">
                  <a16:creationId xmlns:a16="http://schemas.microsoft.com/office/drawing/2014/main" id="{1F06B15D-A9ED-48FC-A660-A06FDBF34762}"/>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9" name="直接连接符 208">
              <a:extLst>
                <a:ext uri="{FF2B5EF4-FFF2-40B4-BE49-F238E27FC236}">
                  <a16:creationId xmlns:a16="http://schemas.microsoft.com/office/drawing/2014/main" id="{A8D56D76-12D8-4244-91B8-36B393C117D8}"/>
                </a:ext>
              </a:extLst>
            </p:cNvPr>
            <p:cNvCxnSpPr>
              <a:cxnSpLocks/>
            </p:cNvCxnSpPr>
            <p:nvPr/>
          </p:nvCxnSpPr>
          <p:spPr>
            <a:xfrm>
              <a:off x="7596336" y="2281614"/>
              <a:ext cx="0" cy="224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B81B7D9D-B8B9-421C-8878-3765BCB09EC6}"/>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C2781463-653B-4770-A4BB-E6548FBAF3DF}"/>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2" name="文本框 211">
              <a:extLst>
                <a:ext uri="{FF2B5EF4-FFF2-40B4-BE49-F238E27FC236}">
                  <a16:creationId xmlns:a16="http://schemas.microsoft.com/office/drawing/2014/main" id="{8B7D048E-2E9B-4A70-9E36-597FB2421ACD}"/>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2</a:t>
              </a:r>
              <a:r>
                <a:rPr lang="en-US" altLang="zh-CN" sz="900" dirty="0"/>
                <a:t>B</a:t>
              </a:r>
              <a:r>
                <a:rPr lang="en-US" altLang="zh-CN" sz="900" baseline="-25000" dirty="0"/>
                <a:t>0</a:t>
              </a:r>
              <a:endParaRPr lang="zh-CN" altLang="en-US" sz="900" baseline="-25000" dirty="0"/>
            </a:p>
          </p:txBody>
        </p:sp>
        <p:sp>
          <p:nvSpPr>
            <p:cNvPr id="213" name="椭圆 212">
              <a:extLst>
                <a:ext uri="{FF2B5EF4-FFF2-40B4-BE49-F238E27FC236}">
                  <a16:creationId xmlns:a16="http://schemas.microsoft.com/office/drawing/2014/main" id="{58E6E604-B903-48E2-977D-BAB0F529F959}"/>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4" name="组合 213">
            <a:extLst>
              <a:ext uri="{FF2B5EF4-FFF2-40B4-BE49-F238E27FC236}">
                <a16:creationId xmlns:a16="http://schemas.microsoft.com/office/drawing/2014/main" id="{8FD25422-6D5B-454F-A53D-13F26BC70D03}"/>
              </a:ext>
            </a:extLst>
          </p:cNvPr>
          <p:cNvGrpSpPr/>
          <p:nvPr/>
        </p:nvGrpSpPr>
        <p:grpSpPr>
          <a:xfrm>
            <a:off x="5609170" y="2348880"/>
            <a:ext cx="565924" cy="591760"/>
            <a:chOff x="7524330" y="2353622"/>
            <a:chExt cx="565924" cy="591760"/>
          </a:xfrm>
        </p:grpSpPr>
        <p:sp>
          <p:nvSpPr>
            <p:cNvPr id="215" name="矩形 214">
              <a:extLst>
                <a:ext uri="{FF2B5EF4-FFF2-40B4-BE49-F238E27FC236}">
                  <a16:creationId xmlns:a16="http://schemas.microsoft.com/office/drawing/2014/main" id="{E2EBC63B-278F-42F7-8E55-4A39DF9FC4FA}"/>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6" name="直接连接符 215">
              <a:extLst>
                <a:ext uri="{FF2B5EF4-FFF2-40B4-BE49-F238E27FC236}">
                  <a16:creationId xmlns:a16="http://schemas.microsoft.com/office/drawing/2014/main" id="{9F3AD739-55F3-4FDC-B3B3-60E486F5E4E1}"/>
                </a:ext>
              </a:extLst>
            </p:cNvPr>
            <p:cNvCxnSpPr>
              <a:cxnSpLocks/>
            </p:cNvCxnSpPr>
            <p:nvPr/>
          </p:nvCxnSpPr>
          <p:spPr>
            <a:xfrm>
              <a:off x="7596336" y="2353622"/>
              <a:ext cx="0" cy="15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DAE906D0-2242-4D6E-999F-CD35A9EE0B02}"/>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F0269A77-12AB-48F5-8768-B43B73C1F2DB}"/>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9" name="文本框 218">
              <a:extLst>
                <a:ext uri="{FF2B5EF4-FFF2-40B4-BE49-F238E27FC236}">
                  <a16:creationId xmlns:a16="http://schemas.microsoft.com/office/drawing/2014/main" id="{F65A0937-5072-4CF3-A289-71CFDB55ECD7}"/>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3</a:t>
              </a:r>
              <a:r>
                <a:rPr lang="en-US" altLang="zh-CN" sz="900" dirty="0"/>
                <a:t>B</a:t>
              </a:r>
              <a:r>
                <a:rPr lang="en-US" altLang="zh-CN" sz="900" baseline="-25000" dirty="0"/>
                <a:t>0</a:t>
              </a:r>
              <a:endParaRPr lang="zh-CN" altLang="en-US" sz="900" baseline="-25000" dirty="0"/>
            </a:p>
          </p:txBody>
        </p:sp>
      </p:grpSp>
      <p:grpSp>
        <p:nvGrpSpPr>
          <p:cNvPr id="222" name="组合 221">
            <a:extLst>
              <a:ext uri="{FF2B5EF4-FFF2-40B4-BE49-F238E27FC236}">
                <a16:creationId xmlns:a16="http://schemas.microsoft.com/office/drawing/2014/main" id="{7CFB2B10-F746-43CA-A0D4-327F694EC9C9}"/>
              </a:ext>
            </a:extLst>
          </p:cNvPr>
          <p:cNvGrpSpPr/>
          <p:nvPr/>
        </p:nvGrpSpPr>
        <p:grpSpPr>
          <a:xfrm>
            <a:off x="6631176" y="3032600"/>
            <a:ext cx="565924" cy="799651"/>
            <a:chOff x="7524330" y="2145731"/>
            <a:chExt cx="565924" cy="799651"/>
          </a:xfrm>
        </p:grpSpPr>
        <p:sp>
          <p:nvSpPr>
            <p:cNvPr id="223" name="矩形 222">
              <a:extLst>
                <a:ext uri="{FF2B5EF4-FFF2-40B4-BE49-F238E27FC236}">
                  <a16:creationId xmlns:a16="http://schemas.microsoft.com/office/drawing/2014/main" id="{A8C936E5-1802-426A-BF2F-070820EB2856}"/>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4" name="直接连接符 223">
              <a:extLst>
                <a:ext uri="{FF2B5EF4-FFF2-40B4-BE49-F238E27FC236}">
                  <a16:creationId xmlns:a16="http://schemas.microsoft.com/office/drawing/2014/main" id="{425A6873-D1BD-45E7-9DBF-35A8C4D52043}"/>
                </a:ext>
              </a:extLst>
            </p:cNvPr>
            <p:cNvCxnSpPr>
              <a:cxnSpLocks/>
            </p:cNvCxnSpPr>
            <p:nvPr/>
          </p:nvCxnSpPr>
          <p:spPr>
            <a:xfrm>
              <a:off x="7596336" y="2145731"/>
              <a:ext cx="0" cy="360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48A0B37D-460C-4F3F-880B-BAFF9C43DBBF}"/>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EAB663C5-EF32-410B-A83D-26F02EF77C10}"/>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7" name="文本框 226">
              <a:extLst>
                <a:ext uri="{FF2B5EF4-FFF2-40B4-BE49-F238E27FC236}">
                  <a16:creationId xmlns:a16="http://schemas.microsoft.com/office/drawing/2014/main" id="{951A0D6C-3C2B-4167-8D8F-3A9B79FD8C73}"/>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0</a:t>
              </a:r>
              <a:r>
                <a:rPr lang="en-US" altLang="zh-CN" sz="900" dirty="0"/>
                <a:t>B</a:t>
              </a:r>
              <a:r>
                <a:rPr lang="en-US" altLang="zh-CN" sz="900" baseline="-25000" dirty="0"/>
                <a:t>1</a:t>
              </a:r>
              <a:endParaRPr lang="zh-CN" altLang="en-US" sz="900" baseline="-25000" dirty="0"/>
            </a:p>
          </p:txBody>
        </p:sp>
        <p:sp>
          <p:nvSpPr>
            <p:cNvPr id="228" name="椭圆 227">
              <a:extLst>
                <a:ext uri="{FF2B5EF4-FFF2-40B4-BE49-F238E27FC236}">
                  <a16:creationId xmlns:a16="http://schemas.microsoft.com/office/drawing/2014/main" id="{43987796-42BE-4320-A57D-78D0AFC93459}"/>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9" name="组合 228">
            <a:extLst>
              <a:ext uri="{FF2B5EF4-FFF2-40B4-BE49-F238E27FC236}">
                <a16:creationId xmlns:a16="http://schemas.microsoft.com/office/drawing/2014/main" id="{5BDBC326-E80D-4D9A-8C0D-9B882BB5D158}"/>
              </a:ext>
            </a:extLst>
          </p:cNvPr>
          <p:cNvGrpSpPr/>
          <p:nvPr/>
        </p:nvGrpSpPr>
        <p:grpSpPr>
          <a:xfrm>
            <a:off x="5992790" y="3091733"/>
            <a:ext cx="565924" cy="740518"/>
            <a:chOff x="7524330" y="2204864"/>
            <a:chExt cx="565924" cy="740518"/>
          </a:xfrm>
        </p:grpSpPr>
        <p:sp>
          <p:nvSpPr>
            <p:cNvPr id="230" name="矩形 229">
              <a:extLst>
                <a:ext uri="{FF2B5EF4-FFF2-40B4-BE49-F238E27FC236}">
                  <a16:creationId xmlns:a16="http://schemas.microsoft.com/office/drawing/2014/main" id="{F94E96D2-152C-4049-B131-68B1E118655D}"/>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1" name="直接连接符 230">
              <a:extLst>
                <a:ext uri="{FF2B5EF4-FFF2-40B4-BE49-F238E27FC236}">
                  <a16:creationId xmlns:a16="http://schemas.microsoft.com/office/drawing/2014/main" id="{19E08942-FDF7-472D-BFB1-C1950FD5623C}"/>
                </a:ext>
              </a:extLst>
            </p:cNvPr>
            <p:cNvCxnSpPr>
              <a:cxnSpLocks/>
            </p:cNvCxnSpPr>
            <p:nvPr/>
          </p:nvCxnSpPr>
          <p:spPr>
            <a:xfrm>
              <a:off x="7596336" y="2204864"/>
              <a:ext cx="0" cy="301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AD9FFD47-404C-4448-B6C3-65673D60A924}"/>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4D00EB63-E072-4933-B493-BC535AF8E682}"/>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4" name="文本框 233">
              <a:extLst>
                <a:ext uri="{FF2B5EF4-FFF2-40B4-BE49-F238E27FC236}">
                  <a16:creationId xmlns:a16="http://schemas.microsoft.com/office/drawing/2014/main" id="{487117A5-14AE-4F43-BA72-C184D746AECD}"/>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1</a:t>
              </a:r>
              <a:r>
                <a:rPr lang="en-US" altLang="zh-CN" sz="900" dirty="0"/>
                <a:t>B</a:t>
              </a:r>
              <a:r>
                <a:rPr lang="en-US" altLang="zh-CN" sz="900" baseline="-25000" dirty="0"/>
                <a:t>1</a:t>
              </a:r>
              <a:endParaRPr lang="zh-CN" altLang="en-US" sz="900" baseline="-25000" dirty="0"/>
            </a:p>
          </p:txBody>
        </p:sp>
        <p:sp>
          <p:nvSpPr>
            <p:cNvPr id="263" name="椭圆 262">
              <a:extLst>
                <a:ext uri="{FF2B5EF4-FFF2-40B4-BE49-F238E27FC236}">
                  <a16:creationId xmlns:a16="http://schemas.microsoft.com/office/drawing/2014/main" id="{E750FFEB-90C2-4B6E-96CA-6795585FB82C}"/>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4" name="组合 263">
            <a:extLst>
              <a:ext uri="{FF2B5EF4-FFF2-40B4-BE49-F238E27FC236}">
                <a16:creationId xmlns:a16="http://schemas.microsoft.com/office/drawing/2014/main" id="{EE4453AA-FE5F-4E12-878F-757ACC04E613}"/>
              </a:ext>
            </a:extLst>
          </p:cNvPr>
          <p:cNvGrpSpPr/>
          <p:nvPr/>
        </p:nvGrpSpPr>
        <p:grpSpPr>
          <a:xfrm>
            <a:off x="5354403" y="3163741"/>
            <a:ext cx="565924" cy="663768"/>
            <a:chOff x="7524330" y="2281614"/>
            <a:chExt cx="565924" cy="663768"/>
          </a:xfrm>
        </p:grpSpPr>
        <p:sp>
          <p:nvSpPr>
            <p:cNvPr id="265" name="矩形 264">
              <a:extLst>
                <a:ext uri="{FF2B5EF4-FFF2-40B4-BE49-F238E27FC236}">
                  <a16:creationId xmlns:a16="http://schemas.microsoft.com/office/drawing/2014/main" id="{A90354E6-0762-4971-B1E8-BA98433A78E2}"/>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6" name="直接连接符 265">
              <a:extLst>
                <a:ext uri="{FF2B5EF4-FFF2-40B4-BE49-F238E27FC236}">
                  <a16:creationId xmlns:a16="http://schemas.microsoft.com/office/drawing/2014/main" id="{2E963D62-310D-4842-A5C5-F432F239BA8E}"/>
                </a:ext>
              </a:extLst>
            </p:cNvPr>
            <p:cNvCxnSpPr>
              <a:cxnSpLocks/>
            </p:cNvCxnSpPr>
            <p:nvPr/>
          </p:nvCxnSpPr>
          <p:spPr>
            <a:xfrm>
              <a:off x="7596336" y="2281614"/>
              <a:ext cx="0" cy="224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直接连接符 269">
              <a:extLst>
                <a:ext uri="{FF2B5EF4-FFF2-40B4-BE49-F238E27FC236}">
                  <a16:creationId xmlns:a16="http://schemas.microsoft.com/office/drawing/2014/main" id="{5AE065A3-96B0-415E-B994-0BAD77DBD1DD}"/>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直接连接符 270">
              <a:extLst>
                <a:ext uri="{FF2B5EF4-FFF2-40B4-BE49-F238E27FC236}">
                  <a16:creationId xmlns:a16="http://schemas.microsoft.com/office/drawing/2014/main" id="{049A84C2-2ACE-4845-8AD9-E002958A9C70}"/>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2" name="文本框 271">
              <a:extLst>
                <a:ext uri="{FF2B5EF4-FFF2-40B4-BE49-F238E27FC236}">
                  <a16:creationId xmlns:a16="http://schemas.microsoft.com/office/drawing/2014/main" id="{723196D9-E9C6-4FCA-B622-A6009A54D875}"/>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2</a:t>
              </a:r>
              <a:r>
                <a:rPr lang="en-US" altLang="zh-CN" sz="900" dirty="0"/>
                <a:t>B</a:t>
              </a:r>
              <a:r>
                <a:rPr lang="en-US" altLang="zh-CN" sz="900" baseline="-25000" dirty="0"/>
                <a:t>1</a:t>
              </a:r>
              <a:endParaRPr lang="zh-CN" altLang="en-US" sz="900" baseline="-25000" dirty="0"/>
            </a:p>
          </p:txBody>
        </p:sp>
        <p:sp>
          <p:nvSpPr>
            <p:cNvPr id="273" name="椭圆 272">
              <a:extLst>
                <a:ext uri="{FF2B5EF4-FFF2-40B4-BE49-F238E27FC236}">
                  <a16:creationId xmlns:a16="http://schemas.microsoft.com/office/drawing/2014/main" id="{38B3ED60-35F6-4F59-8AE5-1D63A48E9DEA}"/>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4" name="组合 273">
            <a:extLst>
              <a:ext uri="{FF2B5EF4-FFF2-40B4-BE49-F238E27FC236}">
                <a16:creationId xmlns:a16="http://schemas.microsoft.com/office/drawing/2014/main" id="{B4156125-1BF4-4D8D-B2AE-83293CB530CD}"/>
              </a:ext>
            </a:extLst>
          </p:cNvPr>
          <p:cNvGrpSpPr/>
          <p:nvPr/>
        </p:nvGrpSpPr>
        <p:grpSpPr>
          <a:xfrm>
            <a:off x="4716016" y="3235749"/>
            <a:ext cx="565924" cy="591760"/>
            <a:chOff x="7524330" y="2353622"/>
            <a:chExt cx="565924" cy="591760"/>
          </a:xfrm>
        </p:grpSpPr>
        <p:sp>
          <p:nvSpPr>
            <p:cNvPr id="275" name="矩形 274">
              <a:extLst>
                <a:ext uri="{FF2B5EF4-FFF2-40B4-BE49-F238E27FC236}">
                  <a16:creationId xmlns:a16="http://schemas.microsoft.com/office/drawing/2014/main" id="{E7027F1A-0FC2-467A-B2D1-268236F035F8}"/>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6" name="直接连接符 275">
              <a:extLst>
                <a:ext uri="{FF2B5EF4-FFF2-40B4-BE49-F238E27FC236}">
                  <a16:creationId xmlns:a16="http://schemas.microsoft.com/office/drawing/2014/main" id="{7BBD89FA-9365-4A37-A3B3-B92C7D714C97}"/>
                </a:ext>
              </a:extLst>
            </p:cNvPr>
            <p:cNvCxnSpPr>
              <a:cxnSpLocks/>
            </p:cNvCxnSpPr>
            <p:nvPr/>
          </p:nvCxnSpPr>
          <p:spPr>
            <a:xfrm>
              <a:off x="7596336" y="2353622"/>
              <a:ext cx="0" cy="15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直接连接符 276">
              <a:extLst>
                <a:ext uri="{FF2B5EF4-FFF2-40B4-BE49-F238E27FC236}">
                  <a16:creationId xmlns:a16="http://schemas.microsoft.com/office/drawing/2014/main" id="{1E76EB21-4703-4ACA-A639-135BBE5C0CEC}"/>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a:extLst>
                <a:ext uri="{FF2B5EF4-FFF2-40B4-BE49-F238E27FC236}">
                  <a16:creationId xmlns:a16="http://schemas.microsoft.com/office/drawing/2014/main" id="{CA83F790-B323-4112-8015-E24662DB1588}"/>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9" name="文本框 278">
              <a:extLst>
                <a:ext uri="{FF2B5EF4-FFF2-40B4-BE49-F238E27FC236}">
                  <a16:creationId xmlns:a16="http://schemas.microsoft.com/office/drawing/2014/main" id="{D8867F02-4A8D-4DFA-BAA9-AF995542391A}"/>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3</a:t>
              </a:r>
              <a:r>
                <a:rPr lang="en-US" altLang="zh-CN" sz="900" dirty="0"/>
                <a:t>B</a:t>
              </a:r>
              <a:r>
                <a:rPr lang="en-US" altLang="zh-CN" sz="900" baseline="-25000" dirty="0"/>
                <a:t>1</a:t>
              </a:r>
              <a:endParaRPr lang="zh-CN" altLang="en-US" sz="900" baseline="-25000" dirty="0"/>
            </a:p>
          </p:txBody>
        </p:sp>
      </p:grpSp>
      <p:grpSp>
        <p:nvGrpSpPr>
          <p:cNvPr id="281" name="组合 280">
            <a:extLst>
              <a:ext uri="{FF2B5EF4-FFF2-40B4-BE49-F238E27FC236}">
                <a16:creationId xmlns:a16="http://schemas.microsoft.com/office/drawing/2014/main" id="{F29A3385-DAA1-4864-A1C8-7F73E8FD1D07}"/>
              </a:ext>
            </a:extLst>
          </p:cNvPr>
          <p:cNvGrpSpPr/>
          <p:nvPr/>
        </p:nvGrpSpPr>
        <p:grpSpPr>
          <a:xfrm>
            <a:off x="5878284" y="4195652"/>
            <a:ext cx="565924" cy="814040"/>
            <a:chOff x="7524330" y="2131342"/>
            <a:chExt cx="565924" cy="814040"/>
          </a:xfrm>
        </p:grpSpPr>
        <p:sp>
          <p:nvSpPr>
            <p:cNvPr id="282" name="矩形 281">
              <a:extLst>
                <a:ext uri="{FF2B5EF4-FFF2-40B4-BE49-F238E27FC236}">
                  <a16:creationId xmlns:a16="http://schemas.microsoft.com/office/drawing/2014/main" id="{7C8B87D9-7200-4002-9C0B-8C2E6A2369F9}"/>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3" name="直接连接符 282">
              <a:extLst>
                <a:ext uri="{FF2B5EF4-FFF2-40B4-BE49-F238E27FC236}">
                  <a16:creationId xmlns:a16="http://schemas.microsoft.com/office/drawing/2014/main" id="{21DCFEBE-9F73-499C-AEF7-87089AF85725}"/>
                </a:ext>
              </a:extLst>
            </p:cNvPr>
            <p:cNvCxnSpPr>
              <a:cxnSpLocks/>
            </p:cNvCxnSpPr>
            <p:nvPr/>
          </p:nvCxnSpPr>
          <p:spPr>
            <a:xfrm>
              <a:off x="7596336" y="2131342"/>
              <a:ext cx="0" cy="3749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4" name="直接连接符 283">
              <a:extLst>
                <a:ext uri="{FF2B5EF4-FFF2-40B4-BE49-F238E27FC236}">
                  <a16:creationId xmlns:a16="http://schemas.microsoft.com/office/drawing/2014/main" id="{159FFF96-9A93-4D68-B1E5-3FB04040DE0B}"/>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直接连接符 284">
              <a:extLst>
                <a:ext uri="{FF2B5EF4-FFF2-40B4-BE49-F238E27FC236}">
                  <a16:creationId xmlns:a16="http://schemas.microsoft.com/office/drawing/2014/main" id="{7E96E0E8-2292-4DAA-BE94-FBB3EFB64708}"/>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6" name="文本框 285">
              <a:extLst>
                <a:ext uri="{FF2B5EF4-FFF2-40B4-BE49-F238E27FC236}">
                  <a16:creationId xmlns:a16="http://schemas.microsoft.com/office/drawing/2014/main" id="{55758410-9933-478D-9423-F04D129D242E}"/>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0</a:t>
              </a:r>
              <a:r>
                <a:rPr lang="en-US" altLang="zh-CN" sz="900" dirty="0"/>
                <a:t>B</a:t>
              </a:r>
              <a:r>
                <a:rPr lang="en-US" altLang="zh-CN" sz="900" baseline="-25000" dirty="0"/>
                <a:t>2</a:t>
              </a:r>
              <a:endParaRPr lang="zh-CN" altLang="en-US" sz="900" baseline="-25000" dirty="0"/>
            </a:p>
          </p:txBody>
        </p:sp>
        <p:sp>
          <p:nvSpPr>
            <p:cNvPr id="287" name="椭圆 286">
              <a:extLst>
                <a:ext uri="{FF2B5EF4-FFF2-40B4-BE49-F238E27FC236}">
                  <a16:creationId xmlns:a16="http://schemas.microsoft.com/office/drawing/2014/main" id="{5DA67E07-CB56-4FCA-AFFC-30C860E6A5B4}"/>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8" name="组合 287">
            <a:extLst>
              <a:ext uri="{FF2B5EF4-FFF2-40B4-BE49-F238E27FC236}">
                <a16:creationId xmlns:a16="http://schemas.microsoft.com/office/drawing/2014/main" id="{F5FBB775-5B87-4D1B-BDA5-D5AE9B454997}"/>
              </a:ext>
            </a:extLst>
          </p:cNvPr>
          <p:cNvGrpSpPr/>
          <p:nvPr/>
        </p:nvGrpSpPr>
        <p:grpSpPr>
          <a:xfrm>
            <a:off x="5239898" y="4269174"/>
            <a:ext cx="565924" cy="740518"/>
            <a:chOff x="7524330" y="2204864"/>
            <a:chExt cx="565924" cy="740518"/>
          </a:xfrm>
        </p:grpSpPr>
        <p:sp>
          <p:nvSpPr>
            <p:cNvPr id="289" name="矩形 288">
              <a:extLst>
                <a:ext uri="{FF2B5EF4-FFF2-40B4-BE49-F238E27FC236}">
                  <a16:creationId xmlns:a16="http://schemas.microsoft.com/office/drawing/2014/main" id="{E18CD982-9274-40DC-8F9A-EC0BDB7EA072}"/>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0" name="直接连接符 289">
              <a:extLst>
                <a:ext uri="{FF2B5EF4-FFF2-40B4-BE49-F238E27FC236}">
                  <a16:creationId xmlns:a16="http://schemas.microsoft.com/office/drawing/2014/main" id="{3DEC191D-2AC6-4A64-A4C8-2A54B8777BA2}"/>
                </a:ext>
              </a:extLst>
            </p:cNvPr>
            <p:cNvCxnSpPr>
              <a:cxnSpLocks/>
            </p:cNvCxnSpPr>
            <p:nvPr/>
          </p:nvCxnSpPr>
          <p:spPr>
            <a:xfrm>
              <a:off x="7596336" y="2204864"/>
              <a:ext cx="0" cy="301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接连接符 290">
              <a:extLst>
                <a:ext uri="{FF2B5EF4-FFF2-40B4-BE49-F238E27FC236}">
                  <a16:creationId xmlns:a16="http://schemas.microsoft.com/office/drawing/2014/main" id="{C06E4BA2-A339-4C37-A62C-1F8C6AC3ED27}"/>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接连接符 291">
              <a:extLst>
                <a:ext uri="{FF2B5EF4-FFF2-40B4-BE49-F238E27FC236}">
                  <a16:creationId xmlns:a16="http://schemas.microsoft.com/office/drawing/2014/main" id="{0DC4B6BE-20F1-4DFA-B98C-1013C48FC785}"/>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文本框 292">
              <a:extLst>
                <a:ext uri="{FF2B5EF4-FFF2-40B4-BE49-F238E27FC236}">
                  <a16:creationId xmlns:a16="http://schemas.microsoft.com/office/drawing/2014/main" id="{0A4DD4B3-57A4-429A-B64D-10BF36C1FB1F}"/>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1</a:t>
              </a:r>
              <a:r>
                <a:rPr lang="en-US" altLang="zh-CN" sz="900" dirty="0"/>
                <a:t>B</a:t>
              </a:r>
              <a:r>
                <a:rPr lang="en-US" altLang="zh-CN" sz="900" baseline="-25000" dirty="0"/>
                <a:t>2</a:t>
              </a:r>
              <a:endParaRPr lang="zh-CN" altLang="en-US" sz="900" baseline="-25000" dirty="0"/>
            </a:p>
          </p:txBody>
        </p:sp>
        <p:sp>
          <p:nvSpPr>
            <p:cNvPr id="294" name="椭圆 293">
              <a:extLst>
                <a:ext uri="{FF2B5EF4-FFF2-40B4-BE49-F238E27FC236}">
                  <a16:creationId xmlns:a16="http://schemas.microsoft.com/office/drawing/2014/main" id="{E3B31F52-5801-4497-8D01-F083E6EC599F}"/>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5" name="组合 294">
            <a:extLst>
              <a:ext uri="{FF2B5EF4-FFF2-40B4-BE49-F238E27FC236}">
                <a16:creationId xmlns:a16="http://schemas.microsoft.com/office/drawing/2014/main" id="{AF709CA0-E65E-449D-A92B-4C6A147C350A}"/>
              </a:ext>
            </a:extLst>
          </p:cNvPr>
          <p:cNvGrpSpPr/>
          <p:nvPr/>
        </p:nvGrpSpPr>
        <p:grpSpPr>
          <a:xfrm>
            <a:off x="4601511" y="4341182"/>
            <a:ext cx="565924" cy="663768"/>
            <a:chOff x="7524330" y="2281614"/>
            <a:chExt cx="565924" cy="663768"/>
          </a:xfrm>
        </p:grpSpPr>
        <p:sp>
          <p:nvSpPr>
            <p:cNvPr id="296" name="矩形 295">
              <a:extLst>
                <a:ext uri="{FF2B5EF4-FFF2-40B4-BE49-F238E27FC236}">
                  <a16:creationId xmlns:a16="http://schemas.microsoft.com/office/drawing/2014/main" id="{B4E3204B-EEEE-4EB9-BA09-AE68AD154009}"/>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7" name="直接连接符 296">
              <a:extLst>
                <a:ext uri="{FF2B5EF4-FFF2-40B4-BE49-F238E27FC236}">
                  <a16:creationId xmlns:a16="http://schemas.microsoft.com/office/drawing/2014/main" id="{419A1803-A98A-460E-A61F-C13816E37C64}"/>
                </a:ext>
              </a:extLst>
            </p:cNvPr>
            <p:cNvCxnSpPr>
              <a:cxnSpLocks/>
            </p:cNvCxnSpPr>
            <p:nvPr/>
          </p:nvCxnSpPr>
          <p:spPr>
            <a:xfrm>
              <a:off x="7596336" y="2281614"/>
              <a:ext cx="0" cy="224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51BB62ED-0BC5-4B0D-95CB-10BAF3FA309A}"/>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a:extLst>
                <a:ext uri="{FF2B5EF4-FFF2-40B4-BE49-F238E27FC236}">
                  <a16:creationId xmlns:a16="http://schemas.microsoft.com/office/drawing/2014/main" id="{A8D56C80-391A-4D49-99D7-6AE3D622F606}"/>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0" name="文本框 299">
              <a:extLst>
                <a:ext uri="{FF2B5EF4-FFF2-40B4-BE49-F238E27FC236}">
                  <a16:creationId xmlns:a16="http://schemas.microsoft.com/office/drawing/2014/main" id="{91F82B6F-A099-492B-8443-8624CE804BDE}"/>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2</a:t>
              </a:r>
              <a:r>
                <a:rPr lang="en-US" altLang="zh-CN" sz="900" dirty="0"/>
                <a:t>B</a:t>
              </a:r>
              <a:r>
                <a:rPr lang="en-US" altLang="zh-CN" sz="900" baseline="-25000" dirty="0"/>
                <a:t>2</a:t>
              </a:r>
              <a:endParaRPr lang="zh-CN" altLang="en-US" sz="900" baseline="-25000" dirty="0"/>
            </a:p>
          </p:txBody>
        </p:sp>
        <p:sp>
          <p:nvSpPr>
            <p:cNvPr id="301" name="椭圆 300">
              <a:extLst>
                <a:ext uri="{FF2B5EF4-FFF2-40B4-BE49-F238E27FC236}">
                  <a16:creationId xmlns:a16="http://schemas.microsoft.com/office/drawing/2014/main" id="{11B7D777-2BB6-475C-9A89-35199302997F}"/>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2" name="组合 301">
            <a:extLst>
              <a:ext uri="{FF2B5EF4-FFF2-40B4-BE49-F238E27FC236}">
                <a16:creationId xmlns:a16="http://schemas.microsoft.com/office/drawing/2014/main" id="{63456502-B12E-4C9C-86AE-38FCAC1169EA}"/>
              </a:ext>
            </a:extLst>
          </p:cNvPr>
          <p:cNvGrpSpPr/>
          <p:nvPr/>
        </p:nvGrpSpPr>
        <p:grpSpPr>
          <a:xfrm>
            <a:off x="3963124" y="4413190"/>
            <a:ext cx="565924" cy="591760"/>
            <a:chOff x="7524330" y="2353622"/>
            <a:chExt cx="565924" cy="591760"/>
          </a:xfrm>
        </p:grpSpPr>
        <p:sp>
          <p:nvSpPr>
            <p:cNvPr id="303" name="矩形 302">
              <a:extLst>
                <a:ext uri="{FF2B5EF4-FFF2-40B4-BE49-F238E27FC236}">
                  <a16:creationId xmlns:a16="http://schemas.microsoft.com/office/drawing/2014/main" id="{F8B721A9-AE29-4A8F-9D8F-EDF53BE63167}"/>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4" name="直接连接符 303">
              <a:extLst>
                <a:ext uri="{FF2B5EF4-FFF2-40B4-BE49-F238E27FC236}">
                  <a16:creationId xmlns:a16="http://schemas.microsoft.com/office/drawing/2014/main" id="{A9EB1A84-B819-468F-88B9-E4F50B2EE5B5}"/>
                </a:ext>
              </a:extLst>
            </p:cNvPr>
            <p:cNvCxnSpPr>
              <a:cxnSpLocks/>
            </p:cNvCxnSpPr>
            <p:nvPr/>
          </p:nvCxnSpPr>
          <p:spPr>
            <a:xfrm>
              <a:off x="7596336" y="2353622"/>
              <a:ext cx="0" cy="15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5" name="直接连接符 304">
              <a:extLst>
                <a:ext uri="{FF2B5EF4-FFF2-40B4-BE49-F238E27FC236}">
                  <a16:creationId xmlns:a16="http://schemas.microsoft.com/office/drawing/2014/main" id="{78D52C9E-B48B-4DE3-89A5-67992C63F881}"/>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8329ABAD-2EE8-403D-84A4-F7BE1C71FAA0}"/>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7" name="文本框 306">
              <a:extLst>
                <a:ext uri="{FF2B5EF4-FFF2-40B4-BE49-F238E27FC236}">
                  <a16:creationId xmlns:a16="http://schemas.microsoft.com/office/drawing/2014/main" id="{80C78970-C735-40F5-87F5-57C00B57C77B}"/>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3</a:t>
              </a:r>
              <a:r>
                <a:rPr lang="en-US" altLang="zh-CN" sz="900" dirty="0"/>
                <a:t>B</a:t>
              </a:r>
              <a:r>
                <a:rPr lang="en-US" altLang="zh-CN" sz="900" baseline="-25000" dirty="0"/>
                <a:t>2</a:t>
              </a:r>
              <a:endParaRPr lang="zh-CN" altLang="en-US" sz="900" baseline="-25000" dirty="0"/>
            </a:p>
          </p:txBody>
        </p:sp>
      </p:grpSp>
      <p:grpSp>
        <p:nvGrpSpPr>
          <p:cNvPr id="309" name="组合 308">
            <a:extLst>
              <a:ext uri="{FF2B5EF4-FFF2-40B4-BE49-F238E27FC236}">
                <a16:creationId xmlns:a16="http://schemas.microsoft.com/office/drawing/2014/main" id="{DF238693-3DBA-4215-9886-9E45F04A8960}"/>
              </a:ext>
            </a:extLst>
          </p:cNvPr>
          <p:cNvGrpSpPr/>
          <p:nvPr/>
        </p:nvGrpSpPr>
        <p:grpSpPr>
          <a:xfrm>
            <a:off x="5158204" y="5414396"/>
            <a:ext cx="565924" cy="817979"/>
            <a:chOff x="7524330" y="2127403"/>
            <a:chExt cx="565924" cy="817979"/>
          </a:xfrm>
        </p:grpSpPr>
        <p:sp>
          <p:nvSpPr>
            <p:cNvPr id="310" name="矩形 309">
              <a:extLst>
                <a:ext uri="{FF2B5EF4-FFF2-40B4-BE49-F238E27FC236}">
                  <a16:creationId xmlns:a16="http://schemas.microsoft.com/office/drawing/2014/main" id="{6CDFFDFC-DF68-4905-993C-413C284F4DBD}"/>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1" name="直接连接符 310">
              <a:extLst>
                <a:ext uri="{FF2B5EF4-FFF2-40B4-BE49-F238E27FC236}">
                  <a16:creationId xmlns:a16="http://schemas.microsoft.com/office/drawing/2014/main" id="{31B41B18-2AA0-4B00-A2A2-2D1750E3DC80}"/>
                </a:ext>
              </a:extLst>
            </p:cNvPr>
            <p:cNvCxnSpPr>
              <a:cxnSpLocks/>
            </p:cNvCxnSpPr>
            <p:nvPr/>
          </p:nvCxnSpPr>
          <p:spPr>
            <a:xfrm>
              <a:off x="7596336" y="2127403"/>
              <a:ext cx="0" cy="3789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A52F71BB-34E8-4CE3-A1B2-D8BF3ED506CD}"/>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B0E8C965-F717-4D8A-B3D4-5A354627D843}"/>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4" name="文本框 313">
              <a:extLst>
                <a:ext uri="{FF2B5EF4-FFF2-40B4-BE49-F238E27FC236}">
                  <a16:creationId xmlns:a16="http://schemas.microsoft.com/office/drawing/2014/main" id="{11A14482-834F-49C4-B190-AA4F318F162F}"/>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0</a:t>
              </a:r>
              <a:r>
                <a:rPr lang="en-US" altLang="zh-CN" sz="900" dirty="0"/>
                <a:t>B</a:t>
              </a:r>
              <a:r>
                <a:rPr lang="en-US" altLang="zh-CN" sz="900" baseline="-25000" dirty="0"/>
                <a:t>3</a:t>
              </a:r>
              <a:endParaRPr lang="zh-CN" altLang="en-US" sz="900" baseline="-25000" dirty="0"/>
            </a:p>
          </p:txBody>
        </p:sp>
        <p:sp>
          <p:nvSpPr>
            <p:cNvPr id="315" name="椭圆 314">
              <a:extLst>
                <a:ext uri="{FF2B5EF4-FFF2-40B4-BE49-F238E27FC236}">
                  <a16:creationId xmlns:a16="http://schemas.microsoft.com/office/drawing/2014/main" id="{9C9AA2F7-4ACB-4349-8A10-DB2B9F950FF1}"/>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6" name="组合 315">
            <a:extLst>
              <a:ext uri="{FF2B5EF4-FFF2-40B4-BE49-F238E27FC236}">
                <a16:creationId xmlns:a16="http://schemas.microsoft.com/office/drawing/2014/main" id="{27E13BB8-581A-4B94-9782-023241824AC6}"/>
              </a:ext>
            </a:extLst>
          </p:cNvPr>
          <p:cNvGrpSpPr/>
          <p:nvPr/>
        </p:nvGrpSpPr>
        <p:grpSpPr>
          <a:xfrm>
            <a:off x="4519818" y="5491857"/>
            <a:ext cx="565924" cy="740518"/>
            <a:chOff x="7524330" y="2204864"/>
            <a:chExt cx="565924" cy="740518"/>
          </a:xfrm>
        </p:grpSpPr>
        <p:sp>
          <p:nvSpPr>
            <p:cNvPr id="317" name="矩形 316">
              <a:extLst>
                <a:ext uri="{FF2B5EF4-FFF2-40B4-BE49-F238E27FC236}">
                  <a16:creationId xmlns:a16="http://schemas.microsoft.com/office/drawing/2014/main" id="{B9B15E83-E6FA-49C7-AA9A-88AAC977E949}"/>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8" name="直接连接符 317">
              <a:extLst>
                <a:ext uri="{FF2B5EF4-FFF2-40B4-BE49-F238E27FC236}">
                  <a16:creationId xmlns:a16="http://schemas.microsoft.com/office/drawing/2014/main" id="{FD4EDFCE-7395-487A-A036-DA8ED7D0C039}"/>
                </a:ext>
              </a:extLst>
            </p:cNvPr>
            <p:cNvCxnSpPr>
              <a:cxnSpLocks/>
            </p:cNvCxnSpPr>
            <p:nvPr/>
          </p:nvCxnSpPr>
          <p:spPr>
            <a:xfrm>
              <a:off x="7596336" y="2204864"/>
              <a:ext cx="0" cy="301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直接连接符 318">
              <a:extLst>
                <a:ext uri="{FF2B5EF4-FFF2-40B4-BE49-F238E27FC236}">
                  <a16:creationId xmlns:a16="http://schemas.microsoft.com/office/drawing/2014/main" id="{1D3BBEBE-53C7-4608-B75D-BD3AAB9273A5}"/>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直接连接符 319">
              <a:extLst>
                <a:ext uri="{FF2B5EF4-FFF2-40B4-BE49-F238E27FC236}">
                  <a16:creationId xmlns:a16="http://schemas.microsoft.com/office/drawing/2014/main" id="{94D9915B-7F5F-4F11-AF99-457251938812}"/>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1" name="文本框 320">
              <a:extLst>
                <a:ext uri="{FF2B5EF4-FFF2-40B4-BE49-F238E27FC236}">
                  <a16:creationId xmlns:a16="http://schemas.microsoft.com/office/drawing/2014/main" id="{4AB9847F-D1C5-46A2-B938-16F5A79EFB34}"/>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1</a:t>
              </a:r>
              <a:r>
                <a:rPr lang="en-US" altLang="zh-CN" sz="900" dirty="0"/>
                <a:t>B</a:t>
              </a:r>
              <a:r>
                <a:rPr lang="en-US" altLang="zh-CN" sz="900" baseline="-25000" dirty="0"/>
                <a:t>3</a:t>
              </a:r>
              <a:endParaRPr lang="zh-CN" altLang="en-US" sz="900" baseline="-25000" dirty="0"/>
            </a:p>
          </p:txBody>
        </p:sp>
        <p:sp>
          <p:nvSpPr>
            <p:cNvPr id="322" name="椭圆 321">
              <a:extLst>
                <a:ext uri="{FF2B5EF4-FFF2-40B4-BE49-F238E27FC236}">
                  <a16:creationId xmlns:a16="http://schemas.microsoft.com/office/drawing/2014/main" id="{E59E7746-928A-472A-AAC4-FFECFC7C5BFE}"/>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3" name="组合 322">
            <a:extLst>
              <a:ext uri="{FF2B5EF4-FFF2-40B4-BE49-F238E27FC236}">
                <a16:creationId xmlns:a16="http://schemas.microsoft.com/office/drawing/2014/main" id="{1526F331-6CB8-46E2-9585-7E74178A33B7}"/>
              </a:ext>
            </a:extLst>
          </p:cNvPr>
          <p:cNvGrpSpPr/>
          <p:nvPr/>
        </p:nvGrpSpPr>
        <p:grpSpPr>
          <a:xfrm>
            <a:off x="3881431" y="5563865"/>
            <a:ext cx="565924" cy="663768"/>
            <a:chOff x="7524330" y="2281614"/>
            <a:chExt cx="565924" cy="663768"/>
          </a:xfrm>
        </p:grpSpPr>
        <p:sp>
          <p:nvSpPr>
            <p:cNvPr id="324" name="矩形 323">
              <a:extLst>
                <a:ext uri="{FF2B5EF4-FFF2-40B4-BE49-F238E27FC236}">
                  <a16:creationId xmlns:a16="http://schemas.microsoft.com/office/drawing/2014/main" id="{08C06B09-A04F-4A13-A81E-C48EB1D7C087}"/>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5" name="直接连接符 324">
              <a:extLst>
                <a:ext uri="{FF2B5EF4-FFF2-40B4-BE49-F238E27FC236}">
                  <a16:creationId xmlns:a16="http://schemas.microsoft.com/office/drawing/2014/main" id="{95291A4F-443C-4521-ABB7-C97C69ADEDE3}"/>
                </a:ext>
              </a:extLst>
            </p:cNvPr>
            <p:cNvCxnSpPr>
              <a:cxnSpLocks/>
            </p:cNvCxnSpPr>
            <p:nvPr/>
          </p:nvCxnSpPr>
          <p:spPr>
            <a:xfrm>
              <a:off x="7596336" y="2281614"/>
              <a:ext cx="0" cy="224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直接连接符 325">
              <a:extLst>
                <a:ext uri="{FF2B5EF4-FFF2-40B4-BE49-F238E27FC236}">
                  <a16:creationId xmlns:a16="http://schemas.microsoft.com/office/drawing/2014/main" id="{B8E5A872-7D95-48FC-A565-79A193FEACF1}"/>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7" name="直接连接符 326">
              <a:extLst>
                <a:ext uri="{FF2B5EF4-FFF2-40B4-BE49-F238E27FC236}">
                  <a16:creationId xmlns:a16="http://schemas.microsoft.com/office/drawing/2014/main" id="{51C6CE17-D884-456D-AF1A-91E8C871ADD0}"/>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8" name="文本框 327">
              <a:extLst>
                <a:ext uri="{FF2B5EF4-FFF2-40B4-BE49-F238E27FC236}">
                  <a16:creationId xmlns:a16="http://schemas.microsoft.com/office/drawing/2014/main" id="{23A0467E-D185-472A-940E-4F608E679F21}"/>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2</a:t>
              </a:r>
              <a:r>
                <a:rPr lang="en-US" altLang="zh-CN" sz="900" dirty="0"/>
                <a:t>B</a:t>
              </a:r>
              <a:r>
                <a:rPr lang="en-US" altLang="zh-CN" sz="900" baseline="-25000" dirty="0"/>
                <a:t>3</a:t>
              </a:r>
              <a:endParaRPr lang="zh-CN" altLang="en-US" sz="900" baseline="-25000" dirty="0"/>
            </a:p>
          </p:txBody>
        </p:sp>
        <p:sp>
          <p:nvSpPr>
            <p:cNvPr id="329" name="椭圆 328">
              <a:extLst>
                <a:ext uri="{FF2B5EF4-FFF2-40B4-BE49-F238E27FC236}">
                  <a16:creationId xmlns:a16="http://schemas.microsoft.com/office/drawing/2014/main" id="{118E8123-BDC0-4D3A-8B66-3D74843F5434}"/>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0" name="组合 329">
            <a:extLst>
              <a:ext uri="{FF2B5EF4-FFF2-40B4-BE49-F238E27FC236}">
                <a16:creationId xmlns:a16="http://schemas.microsoft.com/office/drawing/2014/main" id="{BFDDB720-D843-44ED-ACAD-5A8004A32C79}"/>
              </a:ext>
            </a:extLst>
          </p:cNvPr>
          <p:cNvGrpSpPr/>
          <p:nvPr/>
        </p:nvGrpSpPr>
        <p:grpSpPr>
          <a:xfrm>
            <a:off x="3243044" y="5635873"/>
            <a:ext cx="538674" cy="576372"/>
            <a:chOff x="7524330" y="2353622"/>
            <a:chExt cx="538674" cy="576372"/>
          </a:xfrm>
        </p:grpSpPr>
        <p:sp>
          <p:nvSpPr>
            <p:cNvPr id="331" name="矩形 330">
              <a:extLst>
                <a:ext uri="{FF2B5EF4-FFF2-40B4-BE49-F238E27FC236}">
                  <a16:creationId xmlns:a16="http://schemas.microsoft.com/office/drawing/2014/main" id="{B795EB01-F587-4DAF-A7F5-C070BC4CC990}"/>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2" name="直接连接符 331">
              <a:extLst>
                <a:ext uri="{FF2B5EF4-FFF2-40B4-BE49-F238E27FC236}">
                  <a16:creationId xmlns:a16="http://schemas.microsoft.com/office/drawing/2014/main" id="{47245945-3C48-4D07-B274-A6005D4FD06C}"/>
                </a:ext>
              </a:extLst>
            </p:cNvPr>
            <p:cNvCxnSpPr>
              <a:cxnSpLocks/>
            </p:cNvCxnSpPr>
            <p:nvPr/>
          </p:nvCxnSpPr>
          <p:spPr>
            <a:xfrm>
              <a:off x="7596336" y="2353622"/>
              <a:ext cx="0" cy="15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直接连接符 332">
              <a:extLst>
                <a:ext uri="{FF2B5EF4-FFF2-40B4-BE49-F238E27FC236}">
                  <a16:creationId xmlns:a16="http://schemas.microsoft.com/office/drawing/2014/main" id="{D9215EC8-9924-4480-8C7A-F753D65DE366}"/>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4" name="直接连接符 333">
              <a:extLst>
                <a:ext uri="{FF2B5EF4-FFF2-40B4-BE49-F238E27FC236}">
                  <a16:creationId xmlns:a16="http://schemas.microsoft.com/office/drawing/2014/main" id="{FC4B5768-D8C9-4CC3-B773-47F25713F675}"/>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5" name="文本框 334">
              <a:extLst>
                <a:ext uri="{FF2B5EF4-FFF2-40B4-BE49-F238E27FC236}">
                  <a16:creationId xmlns:a16="http://schemas.microsoft.com/office/drawing/2014/main" id="{DE1248E0-6731-474D-9B75-03A0F12A1F50}"/>
                </a:ext>
              </a:extLst>
            </p:cNvPr>
            <p:cNvSpPr txBox="1"/>
            <p:nvPr/>
          </p:nvSpPr>
          <p:spPr>
            <a:xfrm>
              <a:off x="7668344" y="2714550"/>
              <a:ext cx="394660" cy="215444"/>
            </a:xfrm>
            <a:prstGeom prst="rect">
              <a:avLst/>
            </a:prstGeom>
            <a:noFill/>
          </p:spPr>
          <p:txBody>
            <a:bodyPr wrap="none" rtlCol="0">
              <a:spAutoFit/>
            </a:bodyPr>
            <a:lstStyle/>
            <a:p>
              <a:r>
                <a:rPr lang="en-US" altLang="zh-CN" sz="800" dirty="0"/>
                <a:t>A</a:t>
              </a:r>
              <a:r>
                <a:rPr lang="en-US" altLang="zh-CN" sz="800" baseline="-25000" dirty="0"/>
                <a:t>3</a:t>
              </a:r>
              <a:r>
                <a:rPr lang="en-US" altLang="zh-CN" sz="800" dirty="0"/>
                <a:t>B</a:t>
              </a:r>
              <a:r>
                <a:rPr lang="en-US" altLang="zh-CN" sz="800" baseline="-25000" dirty="0"/>
                <a:t>3</a:t>
              </a:r>
              <a:endParaRPr lang="zh-CN" altLang="en-US" sz="800" baseline="-25000" dirty="0"/>
            </a:p>
          </p:txBody>
        </p:sp>
      </p:grpSp>
      <p:cxnSp>
        <p:nvCxnSpPr>
          <p:cNvPr id="340" name="直接连接符 339">
            <a:extLst>
              <a:ext uri="{FF2B5EF4-FFF2-40B4-BE49-F238E27FC236}">
                <a16:creationId xmlns:a16="http://schemas.microsoft.com/office/drawing/2014/main" id="{E9A8ED0E-4F4C-4CA4-AE61-084B7BD2047A}"/>
              </a:ext>
            </a:extLst>
          </p:cNvPr>
          <p:cNvCxnSpPr>
            <a:cxnSpLocks/>
          </p:cNvCxnSpPr>
          <p:nvPr/>
        </p:nvCxnSpPr>
        <p:spPr>
          <a:xfrm>
            <a:off x="7047782" y="2868664"/>
            <a:ext cx="0" cy="890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2" name="直接连接符 341">
            <a:extLst>
              <a:ext uri="{FF2B5EF4-FFF2-40B4-BE49-F238E27FC236}">
                <a16:creationId xmlns:a16="http://schemas.microsoft.com/office/drawing/2014/main" id="{D71F17CD-7CE8-4F8F-B5BF-C0798690A64E}"/>
              </a:ext>
            </a:extLst>
          </p:cNvPr>
          <p:cNvCxnSpPr>
            <a:cxnSpLocks/>
          </p:cNvCxnSpPr>
          <p:nvPr/>
        </p:nvCxnSpPr>
        <p:spPr>
          <a:xfrm>
            <a:off x="6408238" y="2872112"/>
            <a:ext cx="0" cy="890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5" name="直接连接符 344">
            <a:extLst>
              <a:ext uri="{FF2B5EF4-FFF2-40B4-BE49-F238E27FC236}">
                <a16:creationId xmlns:a16="http://schemas.microsoft.com/office/drawing/2014/main" id="{13B46104-B4B5-4B54-825C-007FBB4B2809}"/>
              </a:ext>
            </a:extLst>
          </p:cNvPr>
          <p:cNvCxnSpPr>
            <a:cxnSpLocks/>
          </p:cNvCxnSpPr>
          <p:nvPr/>
        </p:nvCxnSpPr>
        <p:spPr>
          <a:xfrm>
            <a:off x="5768695" y="2868664"/>
            <a:ext cx="0" cy="890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直接连接符 347">
            <a:extLst>
              <a:ext uri="{FF2B5EF4-FFF2-40B4-BE49-F238E27FC236}">
                <a16:creationId xmlns:a16="http://schemas.microsoft.com/office/drawing/2014/main" id="{477086C1-7D43-4E2A-AD3D-F46AF645609F}"/>
              </a:ext>
            </a:extLst>
          </p:cNvPr>
          <p:cNvCxnSpPr>
            <a:cxnSpLocks/>
          </p:cNvCxnSpPr>
          <p:nvPr/>
        </p:nvCxnSpPr>
        <p:spPr>
          <a:xfrm>
            <a:off x="5132641" y="2864159"/>
            <a:ext cx="0" cy="890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B437C2C6-37A2-497C-BD9A-E2BDAF6F259B}"/>
              </a:ext>
            </a:extLst>
          </p:cNvPr>
          <p:cNvSpPr txBox="1"/>
          <p:nvPr/>
        </p:nvSpPr>
        <p:spPr>
          <a:xfrm>
            <a:off x="4992464" y="2572770"/>
            <a:ext cx="274434" cy="307777"/>
          </a:xfrm>
          <a:prstGeom prst="rect">
            <a:avLst/>
          </a:prstGeom>
          <a:noFill/>
        </p:spPr>
        <p:txBody>
          <a:bodyPr wrap="none" rtlCol="0">
            <a:spAutoFit/>
          </a:bodyPr>
          <a:lstStyle/>
          <a:p>
            <a:r>
              <a:rPr lang="en-US" altLang="zh-CN" sz="1400" dirty="0"/>
              <a:t>0</a:t>
            </a:r>
            <a:endParaRPr lang="zh-CN" altLang="en-US" sz="1400" dirty="0"/>
          </a:p>
        </p:txBody>
      </p:sp>
      <p:cxnSp>
        <p:nvCxnSpPr>
          <p:cNvPr id="350" name="直接连接符 349">
            <a:extLst>
              <a:ext uri="{FF2B5EF4-FFF2-40B4-BE49-F238E27FC236}">
                <a16:creationId xmlns:a16="http://schemas.microsoft.com/office/drawing/2014/main" id="{D9E8AC1A-EA6E-435B-A36F-7FF9B064E743}"/>
              </a:ext>
            </a:extLst>
          </p:cNvPr>
          <p:cNvCxnSpPr>
            <a:cxnSpLocks/>
          </p:cNvCxnSpPr>
          <p:nvPr/>
        </p:nvCxnSpPr>
        <p:spPr>
          <a:xfrm>
            <a:off x="7686168" y="2863785"/>
            <a:ext cx="29200" cy="366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0894" name="组合 250893">
            <a:extLst>
              <a:ext uri="{FF2B5EF4-FFF2-40B4-BE49-F238E27FC236}">
                <a16:creationId xmlns:a16="http://schemas.microsoft.com/office/drawing/2014/main" id="{A3AB4274-4DEA-488E-94D6-29CD91BB9BE3}"/>
              </a:ext>
            </a:extLst>
          </p:cNvPr>
          <p:cNvGrpSpPr/>
          <p:nvPr/>
        </p:nvGrpSpPr>
        <p:grpSpPr>
          <a:xfrm>
            <a:off x="4355976" y="3683066"/>
            <a:ext cx="2841124" cy="469673"/>
            <a:chOff x="4355976" y="3683066"/>
            <a:chExt cx="2841124" cy="469673"/>
          </a:xfrm>
        </p:grpSpPr>
        <p:grpSp>
          <p:nvGrpSpPr>
            <p:cNvPr id="250892" name="组合 250891">
              <a:extLst>
                <a:ext uri="{FF2B5EF4-FFF2-40B4-BE49-F238E27FC236}">
                  <a16:creationId xmlns:a16="http://schemas.microsoft.com/office/drawing/2014/main" id="{1FF0C3FC-AC05-4C71-818C-2A90CC8D52B6}"/>
                </a:ext>
              </a:extLst>
            </p:cNvPr>
            <p:cNvGrpSpPr/>
            <p:nvPr/>
          </p:nvGrpSpPr>
          <p:grpSpPr>
            <a:xfrm>
              <a:off x="4355976" y="3760041"/>
              <a:ext cx="2744795" cy="392698"/>
              <a:chOff x="4355976" y="3760041"/>
              <a:chExt cx="2744795" cy="392698"/>
            </a:xfrm>
          </p:grpSpPr>
          <p:sp>
            <p:nvSpPr>
              <p:cNvPr id="48" name="矩形 47">
                <a:extLst>
                  <a:ext uri="{FF2B5EF4-FFF2-40B4-BE49-F238E27FC236}">
                    <a16:creationId xmlns:a16="http://schemas.microsoft.com/office/drawing/2014/main" id="{994AC7AA-F2F1-4F9C-B3CA-8E5CE76330DE}"/>
                  </a:ext>
                </a:extLst>
              </p:cNvPr>
              <p:cNvSpPr/>
              <p:nvPr/>
            </p:nvSpPr>
            <p:spPr>
              <a:xfrm>
                <a:off x="6756281"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58" name="直接连接符 57">
                <a:extLst>
                  <a:ext uri="{FF2B5EF4-FFF2-40B4-BE49-F238E27FC236}">
                    <a16:creationId xmlns:a16="http://schemas.microsoft.com/office/drawing/2014/main" id="{A628A366-379B-489B-9676-89B7C86542AE}"/>
                  </a:ext>
                </a:extLst>
              </p:cNvPr>
              <p:cNvCxnSpPr>
                <a:stCxn id="48" idx="2"/>
              </p:cNvCxnSpPr>
              <p:nvPr/>
            </p:nvCxnSpPr>
            <p:spPr>
              <a:xfrm>
                <a:off x="6928526"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1" name="矩形 340">
                <a:extLst>
                  <a:ext uri="{FF2B5EF4-FFF2-40B4-BE49-F238E27FC236}">
                    <a16:creationId xmlns:a16="http://schemas.microsoft.com/office/drawing/2014/main" id="{2768CA13-8F36-4802-8998-279D0CDF0CDC}"/>
                  </a:ext>
                </a:extLst>
              </p:cNvPr>
              <p:cNvSpPr/>
              <p:nvPr/>
            </p:nvSpPr>
            <p:spPr>
              <a:xfrm>
                <a:off x="6116737"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343" name="直接连接符 342">
                <a:extLst>
                  <a:ext uri="{FF2B5EF4-FFF2-40B4-BE49-F238E27FC236}">
                    <a16:creationId xmlns:a16="http://schemas.microsoft.com/office/drawing/2014/main" id="{9C24D8F4-F7A7-434F-91C6-5CACD80B04B1}"/>
                  </a:ext>
                </a:extLst>
              </p:cNvPr>
              <p:cNvCxnSpPr>
                <a:stCxn id="341" idx="2"/>
              </p:cNvCxnSpPr>
              <p:nvPr/>
            </p:nvCxnSpPr>
            <p:spPr>
              <a:xfrm>
                <a:off x="6288982" y="3979047"/>
                <a:ext cx="0" cy="173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直接连接符 345">
                <a:extLst>
                  <a:ext uri="{FF2B5EF4-FFF2-40B4-BE49-F238E27FC236}">
                    <a16:creationId xmlns:a16="http://schemas.microsoft.com/office/drawing/2014/main" id="{4A10DB61-8A0A-4808-9F75-DB59B09FFEBC}"/>
                  </a:ext>
                </a:extLst>
              </p:cNvPr>
              <p:cNvCxnSpPr>
                <a:stCxn id="344" idx="2"/>
              </p:cNvCxnSpPr>
              <p:nvPr/>
            </p:nvCxnSpPr>
            <p:spPr>
              <a:xfrm>
                <a:off x="5649439"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7" name="矩形 346">
                <a:extLst>
                  <a:ext uri="{FF2B5EF4-FFF2-40B4-BE49-F238E27FC236}">
                    <a16:creationId xmlns:a16="http://schemas.microsoft.com/office/drawing/2014/main" id="{F9BEF0C6-C7AA-4630-A551-A92DD121ED21}"/>
                  </a:ext>
                </a:extLst>
              </p:cNvPr>
              <p:cNvSpPr/>
              <p:nvPr/>
            </p:nvSpPr>
            <p:spPr>
              <a:xfrm>
                <a:off x="4841140"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349" name="直接连接符 348">
                <a:extLst>
                  <a:ext uri="{FF2B5EF4-FFF2-40B4-BE49-F238E27FC236}">
                    <a16:creationId xmlns:a16="http://schemas.microsoft.com/office/drawing/2014/main" id="{5E8868B4-8403-4020-9EF0-C47A96985567}"/>
                  </a:ext>
                </a:extLst>
              </p:cNvPr>
              <p:cNvCxnSpPr>
                <a:stCxn id="347" idx="2"/>
              </p:cNvCxnSpPr>
              <p:nvPr/>
            </p:nvCxnSpPr>
            <p:spPr>
              <a:xfrm>
                <a:off x="5013385" y="3979047"/>
                <a:ext cx="0" cy="1657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直接连接符 350">
                <a:extLst>
                  <a:ext uri="{FF2B5EF4-FFF2-40B4-BE49-F238E27FC236}">
                    <a16:creationId xmlns:a16="http://schemas.microsoft.com/office/drawing/2014/main" id="{5D412B2D-6781-41D9-B5D3-FAC819C7B948}"/>
                  </a:ext>
                </a:extLst>
              </p:cNvPr>
              <p:cNvCxnSpPr>
                <a:cxnSpLocks/>
                <a:stCxn id="48" idx="1"/>
                <a:endCxn id="341" idx="3"/>
              </p:cNvCxnSpPr>
              <p:nvPr/>
            </p:nvCxnSpPr>
            <p:spPr>
              <a:xfrm flipH="1">
                <a:off x="6461227" y="3869544"/>
                <a:ext cx="2950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直接连接符 351">
                <a:extLst>
                  <a:ext uri="{FF2B5EF4-FFF2-40B4-BE49-F238E27FC236}">
                    <a16:creationId xmlns:a16="http://schemas.microsoft.com/office/drawing/2014/main" id="{8A01C943-05A3-477E-A1C8-9F39EAA9A8D2}"/>
                  </a:ext>
                </a:extLst>
              </p:cNvPr>
              <p:cNvCxnSpPr>
                <a:cxnSpLocks/>
                <a:stCxn id="341" idx="1"/>
                <a:endCxn id="344" idx="3"/>
              </p:cNvCxnSpPr>
              <p:nvPr/>
            </p:nvCxnSpPr>
            <p:spPr>
              <a:xfrm flipH="1">
                <a:off x="5821684" y="3869544"/>
                <a:ext cx="2950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3" name="直接连接符 352">
                <a:extLst>
                  <a:ext uri="{FF2B5EF4-FFF2-40B4-BE49-F238E27FC236}">
                    <a16:creationId xmlns:a16="http://schemas.microsoft.com/office/drawing/2014/main" id="{F7B86224-1824-4FD9-A4A3-B18245F2C986}"/>
                  </a:ext>
                </a:extLst>
              </p:cNvPr>
              <p:cNvCxnSpPr>
                <a:cxnSpLocks/>
                <a:stCxn id="344" idx="1"/>
                <a:endCxn id="347" idx="3"/>
              </p:cNvCxnSpPr>
              <p:nvPr/>
            </p:nvCxnSpPr>
            <p:spPr>
              <a:xfrm flipH="1">
                <a:off x="5185630" y="3869544"/>
                <a:ext cx="2915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4" name="直接连接符 353">
                <a:extLst>
                  <a:ext uri="{FF2B5EF4-FFF2-40B4-BE49-F238E27FC236}">
                    <a16:creationId xmlns:a16="http://schemas.microsoft.com/office/drawing/2014/main" id="{D947A80F-F63F-4754-8ED2-8DC76DF1437F}"/>
                  </a:ext>
                </a:extLst>
              </p:cNvPr>
              <p:cNvCxnSpPr>
                <a:cxnSpLocks/>
                <a:stCxn id="347" idx="1"/>
              </p:cNvCxnSpPr>
              <p:nvPr/>
            </p:nvCxnSpPr>
            <p:spPr>
              <a:xfrm flipH="1" flipV="1">
                <a:off x="4355976" y="3867468"/>
                <a:ext cx="485164" cy="20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4" name="矩形 343">
              <a:extLst>
                <a:ext uri="{FF2B5EF4-FFF2-40B4-BE49-F238E27FC236}">
                  <a16:creationId xmlns:a16="http://schemas.microsoft.com/office/drawing/2014/main" id="{81E846A8-BCDC-42D4-91F7-0BE0373643C1}"/>
                </a:ext>
              </a:extLst>
            </p:cNvPr>
            <p:cNvSpPr/>
            <p:nvPr/>
          </p:nvSpPr>
          <p:spPr>
            <a:xfrm>
              <a:off x="5477194"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sp>
          <p:nvSpPr>
            <p:cNvPr id="250891" name="矩形 250890">
              <a:extLst>
                <a:ext uri="{FF2B5EF4-FFF2-40B4-BE49-F238E27FC236}">
                  <a16:creationId xmlns:a16="http://schemas.microsoft.com/office/drawing/2014/main" id="{8C8A07DE-ABC0-437B-8655-6B3F2ED61736}"/>
                </a:ext>
              </a:extLst>
            </p:cNvPr>
            <p:cNvSpPr/>
            <p:nvPr/>
          </p:nvSpPr>
          <p:spPr>
            <a:xfrm>
              <a:off x="4684823" y="3683066"/>
              <a:ext cx="2512277" cy="359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0" name="组合 369">
            <a:extLst>
              <a:ext uri="{FF2B5EF4-FFF2-40B4-BE49-F238E27FC236}">
                <a16:creationId xmlns:a16="http://schemas.microsoft.com/office/drawing/2014/main" id="{A52F64E9-92BD-4ACE-B566-F174377F066B}"/>
              </a:ext>
            </a:extLst>
          </p:cNvPr>
          <p:cNvGrpSpPr/>
          <p:nvPr/>
        </p:nvGrpSpPr>
        <p:grpSpPr>
          <a:xfrm>
            <a:off x="3635896" y="4868255"/>
            <a:ext cx="2804400" cy="469673"/>
            <a:chOff x="4392700" y="3683066"/>
            <a:chExt cx="2804400" cy="469673"/>
          </a:xfrm>
        </p:grpSpPr>
        <p:grpSp>
          <p:nvGrpSpPr>
            <p:cNvPr id="371" name="组合 370">
              <a:extLst>
                <a:ext uri="{FF2B5EF4-FFF2-40B4-BE49-F238E27FC236}">
                  <a16:creationId xmlns:a16="http://schemas.microsoft.com/office/drawing/2014/main" id="{4AD2B21D-5FD9-4303-8303-A841C33D012F}"/>
                </a:ext>
              </a:extLst>
            </p:cNvPr>
            <p:cNvGrpSpPr/>
            <p:nvPr/>
          </p:nvGrpSpPr>
          <p:grpSpPr>
            <a:xfrm>
              <a:off x="4392700" y="3760041"/>
              <a:ext cx="2708071" cy="392698"/>
              <a:chOff x="4392700" y="3760041"/>
              <a:chExt cx="2708071" cy="392698"/>
            </a:xfrm>
          </p:grpSpPr>
          <p:sp>
            <p:nvSpPr>
              <p:cNvPr id="374" name="矩形 373">
                <a:extLst>
                  <a:ext uri="{FF2B5EF4-FFF2-40B4-BE49-F238E27FC236}">
                    <a16:creationId xmlns:a16="http://schemas.microsoft.com/office/drawing/2014/main" id="{EAAA0249-F82E-4251-AC49-3FA6E6C068F9}"/>
                  </a:ext>
                </a:extLst>
              </p:cNvPr>
              <p:cNvSpPr/>
              <p:nvPr/>
            </p:nvSpPr>
            <p:spPr>
              <a:xfrm>
                <a:off x="6756281"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375" name="直接连接符 374">
                <a:extLst>
                  <a:ext uri="{FF2B5EF4-FFF2-40B4-BE49-F238E27FC236}">
                    <a16:creationId xmlns:a16="http://schemas.microsoft.com/office/drawing/2014/main" id="{E818B02D-6FD8-49A5-B7B8-1FBDD4018942}"/>
                  </a:ext>
                </a:extLst>
              </p:cNvPr>
              <p:cNvCxnSpPr>
                <a:stCxn id="374" idx="2"/>
              </p:cNvCxnSpPr>
              <p:nvPr/>
            </p:nvCxnSpPr>
            <p:spPr>
              <a:xfrm>
                <a:off x="6928526"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6" name="矩形 375">
                <a:extLst>
                  <a:ext uri="{FF2B5EF4-FFF2-40B4-BE49-F238E27FC236}">
                    <a16:creationId xmlns:a16="http://schemas.microsoft.com/office/drawing/2014/main" id="{C0B54CFF-8E3C-4672-BBF9-0E699D2280AC}"/>
                  </a:ext>
                </a:extLst>
              </p:cNvPr>
              <p:cNvSpPr/>
              <p:nvPr/>
            </p:nvSpPr>
            <p:spPr>
              <a:xfrm>
                <a:off x="6116737"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377" name="直接连接符 376">
                <a:extLst>
                  <a:ext uri="{FF2B5EF4-FFF2-40B4-BE49-F238E27FC236}">
                    <a16:creationId xmlns:a16="http://schemas.microsoft.com/office/drawing/2014/main" id="{2BA8C392-DE74-44B6-B24C-62185328A0E7}"/>
                  </a:ext>
                </a:extLst>
              </p:cNvPr>
              <p:cNvCxnSpPr>
                <a:stCxn id="376" idx="2"/>
              </p:cNvCxnSpPr>
              <p:nvPr/>
            </p:nvCxnSpPr>
            <p:spPr>
              <a:xfrm>
                <a:off x="6288982" y="3979047"/>
                <a:ext cx="0" cy="173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29966992-2400-4CC4-9628-53BCEC465CEC}"/>
                  </a:ext>
                </a:extLst>
              </p:cNvPr>
              <p:cNvCxnSpPr>
                <a:stCxn id="372" idx="2"/>
              </p:cNvCxnSpPr>
              <p:nvPr/>
            </p:nvCxnSpPr>
            <p:spPr>
              <a:xfrm>
                <a:off x="5649439"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9" name="矩形 378">
                <a:extLst>
                  <a:ext uri="{FF2B5EF4-FFF2-40B4-BE49-F238E27FC236}">
                    <a16:creationId xmlns:a16="http://schemas.microsoft.com/office/drawing/2014/main" id="{5BBCBB62-2E6D-4A74-8BF2-F7C8DCB75D2C}"/>
                  </a:ext>
                </a:extLst>
              </p:cNvPr>
              <p:cNvSpPr/>
              <p:nvPr/>
            </p:nvSpPr>
            <p:spPr>
              <a:xfrm>
                <a:off x="4841140"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380" name="直接连接符 379">
                <a:extLst>
                  <a:ext uri="{FF2B5EF4-FFF2-40B4-BE49-F238E27FC236}">
                    <a16:creationId xmlns:a16="http://schemas.microsoft.com/office/drawing/2014/main" id="{8606DA5E-1CF7-4632-AC59-C4BFBF2967A7}"/>
                  </a:ext>
                </a:extLst>
              </p:cNvPr>
              <p:cNvCxnSpPr>
                <a:stCxn id="379" idx="2"/>
              </p:cNvCxnSpPr>
              <p:nvPr/>
            </p:nvCxnSpPr>
            <p:spPr>
              <a:xfrm>
                <a:off x="5013385" y="3979047"/>
                <a:ext cx="0" cy="1657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1" name="直接连接符 380">
                <a:extLst>
                  <a:ext uri="{FF2B5EF4-FFF2-40B4-BE49-F238E27FC236}">
                    <a16:creationId xmlns:a16="http://schemas.microsoft.com/office/drawing/2014/main" id="{11C4A6F8-0B74-49F4-B8F1-B5F0AEFBDD34}"/>
                  </a:ext>
                </a:extLst>
              </p:cNvPr>
              <p:cNvCxnSpPr>
                <a:cxnSpLocks/>
                <a:stCxn id="374" idx="1"/>
                <a:endCxn id="376" idx="3"/>
              </p:cNvCxnSpPr>
              <p:nvPr/>
            </p:nvCxnSpPr>
            <p:spPr>
              <a:xfrm flipH="1">
                <a:off x="6461227" y="3869544"/>
                <a:ext cx="2950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2" name="直接连接符 381">
                <a:extLst>
                  <a:ext uri="{FF2B5EF4-FFF2-40B4-BE49-F238E27FC236}">
                    <a16:creationId xmlns:a16="http://schemas.microsoft.com/office/drawing/2014/main" id="{1B2CD95A-8489-4FCD-9DA3-DD2B87F8E7A8}"/>
                  </a:ext>
                </a:extLst>
              </p:cNvPr>
              <p:cNvCxnSpPr>
                <a:cxnSpLocks/>
                <a:stCxn id="376" idx="1"/>
                <a:endCxn id="372" idx="3"/>
              </p:cNvCxnSpPr>
              <p:nvPr/>
            </p:nvCxnSpPr>
            <p:spPr>
              <a:xfrm flipH="1">
                <a:off x="5821684" y="3869544"/>
                <a:ext cx="2950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直接连接符 382">
                <a:extLst>
                  <a:ext uri="{FF2B5EF4-FFF2-40B4-BE49-F238E27FC236}">
                    <a16:creationId xmlns:a16="http://schemas.microsoft.com/office/drawing/2014/main" id="{B7E818D0-9C4E-4CBA-B956-54B8E168CA79}"/>
                  </a:ext>
                </a:extLst>
              </p:cNvPr>
              <p:cNvCxnSpPr>
                <a:cxnSpLocks/>
                <a:stCxn id="372" idx="1"/>
                <a:endCxn id="379" idx="3"/>
              </p:cNvCxnSpPr>
              <p:nvPr/>
            </p:nvCxnSpPr>
            <p:spPr>
              <a:xfrm flipH="1">
                <a:off x="5185630" y="3869544"/>
                <a:ext cx="2915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4" name="直接连接符 383">
                <a:extLst>
                  <a:ext uri="{FF2B5EF4-FFF2-40B4-BE49-F238E27FC236}">
                    <a16:creationId xmlns:a16="http://schemas.microsoft.com/office/drawing/2014/main" id="{29FFD885-C822-42F2-BFB7-F97DF985D348}"/>
                  </a:ext>
                </a:extLst>
              </p:cNvPr>
              <p:cNvCxnSpPr>
                <a:cxnSpLocks/>
                <a:stCxn id="379" idx="1"/>
              </p:cNvCxnSpPr>
              <p:nvPr/>
            </p:nvCxnSpPr>
            <p:spPr>
              <a:xfrm flipH="1">
                <a:off x="4392700" y="3869544"/>
                <a:ext cx="4484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2" name="矩形 371">
              <a:extLst>
                <a:ext uri="{FF2B5EF4-FFF2-40B4-BE49-F238E27FC236}">
                  <a16:creationId xmlns:a16="http://schemas.microsoft.com/office/drawing/2014/main" id="{489AF754-4375-404B-8F45-5218EAF71328}"/>
                </a:ext>
              </a:extLst>
            </p:cNvPr>
            <p:cNvSpPr/>
            <p:nvPr/>
          </p:nvSpPr>
          <p:spPr>
            <a:xfrm>
              <a:off x="5477194"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sp>
          <p:nvSpPr>
            <p:cNvPr id="373" name="矩形 372">
              <a:extLst>
                <a:ext uri="{FF2B5EF4-FFF2-40B4-BE49-F238E27FC236}">
                  <a16:creationId xmlns:a16="http://schemas.microsoft.com/office/drawing/2014/main" id="{5FA2D5E7-71EA-48CF-BB13-DD2822B0C808}"/>
                </a:ext>
              </a:extLst>
            </p:cNvPr>
            <p:cNvSpPr/>
            <p:nvPr/>
          </p:nvSpPr>
          <p:spPr>
            <a:xfrm>
              <a:off x="4684823" y="3683066"/>
              <a:ext cx="2512277" cy="359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85" name="直接连接符 384">
            <a:extLst>
              <a:ext uri="{FF2B5EF4-FFF2-40B4-BE49-F238E27FC236}">
                <a16:creationId xmlns:a16="http://schemas.microsoft.com/office/drawing/2014/main" id="{A024EA32-801E-4831-B3BE-294278FCA1CB}"/>
              </a:ext>
            </a:extLst>
          </p:cNvPr>
          <p:cNvCxnSpPr>
            <a:cxnSpLocks/>
          </p:cNvCxnSpPr>
          <p:nvPr/>
        </p:nvCxnSpPr>
        <p:spPr>
          <a:xfrm>
            <a:off x="6288982" y="4152739"/>
            <a:ext cx="0" cy="7931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接连接符 385">
            <a:extLst>
              <a:ext uri="{FF2B5EF4-FFF2-40B4-BE49-F238E27FC236}">
                <a16:creationId xmlns:a16="http://schemas.microsoft.com/office/drawing/2014/main" id="{3B701E31-6048-4B6D-A456-882D6CBA1E93}"/>
              </a:ext>
            </a:extLst>
          </p:cNvPr>
          <p:cNvCxnSpPr>
            <a:cxnSpLocks/>
          </p:cNvCxnSpPr>
          <p:nvPr/>
        </p:nvCxnSpPr>
        <p:spPr>
          <a:xfrm>
            <a:off x="5648746" y="4149643"/>
            <a:ext cx="0" cy="7931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id="{797E7C01-8052-4D64-830B-CF03533984F8}"/>
              </a:ext>
            </a:extLst>
          </p:cNvPr>
          <p:cNvCxnSpPr>
            <a:cxnSpLocks/>
          </p:cNvCxnSpPr>
          <p:nvPr/>
        </p:nvCxnSpPr>
        <p:spPr>
          <a:xfrm>
            <a:off x="5013385" y="4139676"/>
            <a:ext cx="0" cy="7931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4" name="组合 393">
            <a:extLst>
              <a:ext uri="{FF2B5EF4-FFF2-40B4-BE49-F238E27FC236}">
                <a16:creationId xmlns:a16="http://schemas.microsoft.com/office/drawing/2014/main" id="{EFD9DD75-4730-4C6D-9A6F-785636195480}"/>
              </a:ext>
            </a:extLst>
          </p:cNvPr>
          <p:cNvGrpSpPr/>
          <p:nvPr/>
        </p:nvGrpSpPr>
        <p:grpSpPr>
          <a:xfrm>
            <a:off x="2798136" y="6091924"/>
            <a:ext cx="2896467" cy="469673"/>
            <a:chOff x="4300633" y="3683066"/>
            <a:chExt cx="2896467" cy="469673"/>
          </a:xfrm>
        </p:grpSpPr>
        <p:grpSp>
          <p:nvGrpSpPr>
            <p:cNvPr id="395" name="组合 394">
              <a:extLst>
                <a:ext uri="{FF2B5EF4-FFF2-40B4-BE49-F238E27FC236}">
                  <a16:creationId xmlns:a16="http://schemas.microsoft.com/office/drawing/2014/main" id="{F8581131-70E8-4F08-94FE-92571ABCC9AE}"/>
                </a:ext>
              </a:extLst>
            </p:cNvPr>
            <p:cNvGrpSpPr/>
            <p:nvPr/>
          </p:nvGrpSpPr>
          <p:grpSpPr>
            <a:xfrm>
              <a:off x="4300633" y="3760041"/>
              <a:ext cx="2800138" cy="392698"/>
              <a:chOff x="4300633" y="3760041"/>
              <a:chExt cx="2800138" cy="392698"/>
            </a:xfrm>
          </p:grpSpPr>
          <p:sp>
            <p:nvSpPr>
              <p:cNvPr id="398" name="矩形 397">
                <a:extLst>
                  <a:ext uri="{FF2B5EF4-FFF2-40B4-BE49-F238E27FC236}">
                    <a16:creationId xmlns:a16="http://schemas.microsoft.com/office/drawing/2014/main" id="{A80B5FDC-4A1C-40DD-A1AA-96CAC438C15A}"/>
                  </a:ext>
                </a:extLst>
              </p:cNvPr>
              <p:cNvSpPr/>
              <p:nvPr/>
            </p:nvSpPr>
            <p:spPr>
              <a:xfrm>
                <a:off x="6756281"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399" name="直接连接符 398">
                <a:extLst>
                  <a:ext uri="{FF2B5EF4-FFF2-40B4-BE49-F238E27FC236}">
                    <a16:creationId xmlns:a16="http://schemas.microsoft.com/office/drawing/2014/main" id="{25E277FA-7FC1-44FA-8EF0-26A522BCF8DD}"/>
                  </a:ext>
                </a:extLst>
              </p:cNvPr>
              <p:cNvCxnSpPr>
                <a:stCxn id="398" idx="2"/>
              </p:cNvCxnSpPr>
              <p:nvPr/>
            </p:nvCxnSpPr>
            <p:spPr>
              <a:xfrm>
                <a:off x="6928526"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0" name="矩形 399">
                <a:extLst>
                  <a:ext uri="{FF2B5EF4-FFF2-40B4-BE49-F238E27FC236}">
                    <a16:creationId xmlns:a16="http://schemas.microsoft.com/office/drawing/2014/main" id="{B913ED48-9728-4F19-B071-3D299309D096}"/>
                  </a:ext>
                </a:extLst>
              </p:cNvPr>
              <p:cNvSpPr/>
              <p:nvPr/>
            </p:nvSpPr>
            <p:spPr>
              <a:xfrm>
                <a:off x="6116737"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401" name="直接连接符 400">
                <a:extLst>
                  <a:ext uri="{FF2B5EF4-FFF2-40B4-BE49-F238E27FC236}">
                    <a16:creationId xmlns:a16="http://schemas.microsoft.com/office/drawing/2014/main" id="{F4EAB509-9D02-455E-B3BE-1EF7D5B82DDC}"/>
                  </a:ext>
                </a:extLst>
              </p:cNvPr>
              <p:cNvCxnSpPr>
                <a:stCxn id="400" idx="2"/>
              </p:cNvCxnSpPr>
              <p:nvPr/>
            </p:nvCxnSpPr>
            <p:spPr>
              <a:xfrm>
                <a:off x="6288982" y="3979047"/>
                <a:ext cx="0" cy="173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直接连接符 401">
                <a:extLst>
                  <a:ext uri="{FF2B5EF4-FFF2-40B4-BE49-F238E27FC236}">
                    <a16:creationId xmlns:a16="http://schemas.microsoft.com/office/drawing/2014/main" id="{ADD87B95-9BA4-46E6-AEF8-EEE6D0AF0082}"/>
                  </a:ext>
                </a:extLst>
              </p:cNvPr>
              <p:cNvCxnSpPr>
                <a:stCxn id="396" idx="2"/>
              </p:cNvCxnSpPr>
              <p:nvPr/>
            </p:nvCxnSpPr>
            <p:spPr>
              <a:xfrm>
                <a:off x="5649439"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3" name="矩形 402">
                <a:extLst>
                  <a:ext uri="{FF2B5EF4-FFF2-40B4-BE49-F238E27FC236}">
                    <a16:creationId xmlns:a16="http://schemas.microsoft.com/office/drawing/2014/main" id="{9E4D4586-01D2-41A0-BA6A-1F2320D9ACAB}"/>
                  </a:ext>
                </a:extLst>
              </p:cNvPr>
              <p:cNvSpPr/>
              <p:nvPr/>
            </p:nvSpPr>
            <p:spPr>
              <a:xfrm>
                <a:off x="4841140"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cxnSp>
            <p:nvCxnSpPr>
              <p:cNvPr id="404" name="直接连接符 403">
                <a:extLst>
                  <a:ext uri="{FF2B5EF4-FFF2-40B4-BE49-F238E27FC236}">
                    <a16:creationId xmlns:a16="http://schemas.microsoft.com/office/drawing/2014/main" id="{772E0039-3E4E-49B3-8340-610592161B38}"/>
                  </a:ext>
                </a:extLst>
              </p:cNvPr>
              <p:cNvCxnSpPr>
                <a:stCxn id="403" idx="2"/>
              </p:cNvCxnSpPr>
              <p:nvPr/>
            </p:nvCxnSpPr>
            <p:spPr>
              <a:xfrm>
                <a:off x="5013385" y="3979047"/>
                <a:ext cx="0" cy="1657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5" name="直接连接符 404">
                <a:extLst>
                  <a:ext uri="{FF2B5EF4-FFF2-40B4-BE49-F238E27FC236}">
                    <a16:creationId xmlns:a16="http://schemas.microsoft.com/office/drawing/2014/main" id="{AAEF75B4-BA0F-43B5-B699-B99BFA52AE27}"/>
                  </a:ext>
                </a:extLst>
              </p:cNvPr>
              <p:cNvCxnSpPr>
                <a:cxnSpLocks/>
                <a:stCxn id="398" idx="1"/>
                <a:endCxn id="400" idx="3"/>
              </p:cNvCxnSpPr>
              <p:nvPr/>
            </p:nvCxnSpPr>
            <p:spPr>
              <a:xfrm flipH="1">
                <a:off x="6461227" y="3869544"/>
                <a:ext cx="2950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6" name="直接连接符 405">
                <a:extLst>
                  <a:ext uri="{FF2B5EF4-FFF2-40B4-BE49-F238E27FC236}">
                    <a16:creationId xmlns:a16="http://schemas.microsoft.com/office/drawing/2014/main" id="{8059CD04-46DB-4300-A965-CF6E797AA58B}"/>
                  </a:ext>
                </a:extLst>
              </p:cNvPr>
              <p:cNvCxnSpPr>
                <a:cxnSpLocks/>
                <a:stCxn id="400" idx="1"/>
                <a:endCxn id="396" idx="3"/>
              </p:cNvCxnSpPr>
              <p:nvPr/>
            </p:nvCxnSpPr>
            <p:spPr>
              <a:xfrm flipH="1">
                <a:off x="5821684" y="3869544"/>
                <a:ext cx="2950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a:extLst>
                  <a:ext uri="{FF2B5EF4-FFF2-40B4-BE49-F238E27FC236}">
                    <a16:creationId xmlns:a16="http://schemas.microsoft.com/office/drawing/2014/main" id="{DB3ED9B3-2254-4EBE-9CCA-8A7E630C69C3}"/>
                  </a:ext>
                </a:extLst>
              </p:cNvPr>
              <p:cNvCxnSpPr>
                <a:cxnSpLocks/>
                <a:stCxn id="396" idx="1"/>
                <a:endCxn id="403" idx="3"/>
              </p:cNvCxnSpPr>
              <p:nvPr/>
            </p:nvCxnSpPr>
            <p:spPr>
              <a:xfrm flipH="1">
                <a:off x="5185630" y="3869544"/>
                <a:ext cx="2915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8" name="直接连接符 407">
                <a:extLst>
                  <a:ext uri="{FF2B5EF4-FFF2-40B4-BE49-F238E27FC236}">
                    <a16:creationId xmlns:a16="http://schemas.microsoft.com/office/drawing/2014/main" id="{3668DD23-A0A5-4590-A205-DF193A402661}"/>
                  </a:ext>
                </a:extLst>
              </p:cNvPr>
              <p:cNvCxnSpPr>
                <a:cxnSpLocks/>
                <a:stCxn id="403" idx="1"/>
              </p:cNvCxnSpPr>
              <p:nvPr/>
            </p:nvCxnSpPr>
            <p:spPr>
              <a:xfrm flipH="1">
                <a:off x="4300633" y="3869544"/>
                <a:ext cx="540507" cy="1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6" name="矩形 395">
              <a:extLst>
                <a:ext uri="{FF2B5EF4-FFF2-40B4-BE49-F238E27FC236}">
                  <a16:creationId xmlns:a16="http://schemas.microsoft.com/office/drawing/2014/main" id="{F93AF8C6-7C91-48AE-BD5D-A0EDEF334CA2}"/>
                </a:ext>
              </a:extLst>
            </p:cNvPr>
            <p:cNvSpPr/>
            <p:nvPr/>
          </p:nvSpPr>
          <p:spPr>
            <a:xfrm>
              <a:off x="5477194" y="3760041"/>
              <a:ext cx="344490" cy="219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t>ADD</a:t>
              </a:r>
              <a:endParaRPr lang="zh-CN" altLang="en-US" sz="2000" dirty="0"/>
            </a:p>
          </p:txBody>
        </p:sp>
        <p:sp>
          <p:nvSpPr>
            <p:cNvPr id="397" name="矩形 396">
              <a:extLst>
                <a:ext uri="{FF2B5EF4-FFF2-40B4-BE49-F238E27FC236}">
                  <a16:creationId xmlns:a16="http://schemas.microsoft.com/office/drawing/2014/main" id="{E5BE613C-00D1-46C5-A0BE-F9EFA305DCB7}"/>
                </a:ext>
              </a:extLst>
            </p:cNvPr>
            <p:cNvSpPr/>
            <p:nvPr/>
          </p:nvSpPr>
          <p:spPr>
            <a:xfrm>
              <a:off x="4684823" y="3683066"/>
              <a:ext cx="2512277" cy="359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09" name="直接连接符 408">
            <a:extLst>
              <a:ext uri="{FF2B5EF4-FFF2-40B4-BE49-F238E27FC236}">
                <a16:creationId xmlns:a16="http://schemas.microsoft.com/office/drawing/2014/main" id="{4609AD69-8C92-49FC-BBC0-4035479291C4}"/>
              </a:ext>
            </a:extLst>
          </p:cNvPr>
          <p:cNvCxnSpPr>
            <a:cxnSpLocks/>
          </p:cNvCxnSpPr>
          <p:nvPr/>
        </p:nvCxnSpPr>
        <p:spPr>
          <a:xfrm>
            <a:off x="6171722" y="5333968"/>
            <a:ext cx="0" cy="11913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 name="直接连接符 409">
            <a:extLst>
              <a:ext uri="{FF2B5EF4-FFF2-40B4-BE49-F238E27FC236}">
                <a16:creationId xmlns:a16="http://schemas.microsoft.com/office/drawing/2014/main" id="{7E1F3AAF-E016-4271-B240-8347DFA4B87A}"/>
              </a:ext>
            </a:extLst>
          </p:cNvPr>
          <p:cNvCxnSpPr>
            <a:cxnSpLocks/>
          </p:cNvCxnSpPr>
          <p:nvPr/>
        </p:nvCxnSpPr>
        <p:spPr>
          <a:xfrm flipH="1">
            <a:off x="5531486" y="5337928"/>
            <a:ext cx="692" cy="8273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1" name="直接连接符 410">
            <a:extLst>
              <a:ext uri="{FF2B5EF4-FFF2-40B4-BE49-F238E27FC236}">
                <a16:creationId xmlns:a16="http://schemas.microsoft.com/office/drawing/2014/main" id="{14F9AD7A-0D28-42E0-8CE7-3F4F9CBED276}"/>
              </a:ext>
            </a:extLst>
          </p:cNvPr>
          <p:cNvCxnSpPr>
            <a:cxnSpLocks/>
          </p:cNvCxnSpPr>
          <p:nvPr/>
        </p:nvCxnSpPr>
        <p:spPr>
          <a:xfrm>
            <a:off x="4892635" y="5329975"/>
            <a:ext cx="0" cy="8353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2" name="直接连接符 411">
            <a:extLst>
              <a:ext uri="{FF2B5EF4-FFF2-40B4-BE49-F238E27FC236}">
                <a16:creationId xmlns:a16="http://schemas.microsoft.com/office/drawing/2014/main" id="{B603AF35-41D8-4FD9-93A2-B8E475D8B1A2}"/>
              </a:ext>
            </a:extLst>
          </p:cNvPr>
          <p:cNvCxnSpPr>
            <a:cxnSpLocks/>
          </p:cNvCxnSpPr>
          <p:nvPr/>
        </p:nvCxnSpPr>
        <p:spPr>
          <a:xfrm>
            <a:off x="4256581" y="5329975"/>
            <a:ext cx="0" cy="8353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0" name="直接连接符 419">
            <a:extLst>
              <a:ext uri="{FF2B5EF4-FFF2-40B4-BE49-F238E27FC236}">
                <a16:creationId xmlns:a16="http://schemas.microsoft.com/office/drawing/2014/main" id="{9BD2188A-1905-4CB1-95AB-62D3E09771C2}"/>
              </a:ext>
            </a:extLst>
          </p:cNvPr>
          <p:cNvCxnSpPr>
            <a:cxnSpLocks/>
          </p:cNvCxnSpPr>
          <p:nvPr/>
        </p:nvCxnSpPr>
        <p:spPr>
          <a:xfrm>
            <a:off x="4355976" y="3869544"/>
            <a:ext cx="0" cy="10686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3" name="直接连接符 422">
            <a:extLst>
              <a:ext uri="{FF2B5EF4-FFF2-40B4-BE49-F238E27FC236}">
                <a16:creationId xmlns:a16="http://schemas.microsoft.com/office/drawing/2014/main" id="{9F020FE9-8BB4-42F6-B9F3-7CD2B4AC3B81}"/>
              </a:ext>
            </a:extLst>
          </p:cNvPr>
          <p:cNvCxnSpPr>
            <a:cxnSpLocks/>
          </p:cNvCxnSpPr>
          <p:nvPr/>
        </p:nvCxnSpPr>
        <p:spPr>
          <a:xfrm>
            <a:off x="3635896" y="5054733"/>
            <a:ext cx="0" cy="11176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6" name="直接连接符 425">
            <a:extLst>
              <a:ext uri="{FF2B5EF4-FFF2-40B4-BE49-F238E27FC236}">
                <a16:creationId xmlns:a16="http://schemas.microsoft.com/office/drawing/2014/main" id="{9C108080-B0ED-4CDA-BFAD-AF525489A678}"/>
              </a:ext>
            </a:extLst>
          </p:cNvPr>
          <p:cNvCxnSpPr>
            <a:cxnSpLocks/>
          </p:cNvCxnSpPr>
          <p:nvPr/>
        </p:nvCxnSpPr>
        <p:spPr>
          <a:xfrm>
            <a:off x="2798136" y="6271888"/>
            <a:ext cx="0" cy="253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5" name="直接连接符 434">
            <a:extLst>
              <a:ext uri="{FF2B5EF4-FFF2-40B4-BE49-F238E27FC236}">
                <a16:creationId xmlns:a16="http://schemas.microsoft.com/office/drawing/2014/main" id="{AA9D9C61-F3FC-4287-ACFD-F3AC5F190EE2}"/>
              </a:ext>
            </a:extLst>
          </p:cNvPr>
          <p:cNvCxnSpPr>
            <a:cxnSpLocks/>
          </p:cNvCxnSpPr>
          <p:nvPr/>
        </p:nvCxnSpPr>
        <p:spPr>
          <a:xfrm>
            <a:off x="6928526" y="4149291"/>
            <a:ext cx="0" cy="23760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0" name="文本框 439">
            <a:extLst>
              <a:ext uri="{FF2B5EF4-FFF2-40B4-BE49-F238E27FC236}">
                <a16:creationId xmlns:a16="http://schemas.microsoft.com/office/drawing/2014/main" id="{0ADD3D6F-DDA7-4C2E-B775-66C242A800DA}"/>
              </a:ext>
            </a:extLst>
          </p:cNvPr>
          <p:cNvSpPr txBox="1"/>
          <p:nvPr/>
        </p:nvSpPr>
        <p:spPr>
          <a:xfrm>
            <a:off x="7649909" y="6351711"/>
            <a:ext cx="458780" cy="461665"/>
          </a:xfrm>
          <a:prstGeom prst="rect">
            <a:avLst/>
          </a:prstGeom>
          <a:noFill/>
        </p:spPr>
        <p:txBody>
          <a:bodyPr wrap="none" rtlCol="0">
            <a:spAutoFit/>
          </a:bodyPr>
          <a:lstStyle/>
          <a:p>
            <a:r>
              <a:rPr lang="en-US" altLang="zh-CN" dirty="0"/>
              <a:t>S</a:t>
            </a:r>
            <a:r>
              <a:rPr lang="en-US" altLang="zh-CN" baseline="-25000" dirty="0"/>
              <a:t>0</a:t>
            </a:r>
            <a:endParaRPr lang="zh-CN" altLang="en-US" baseline="-25000" dirty="0"/>
          </a:p>
        </p:txBody>
      </p:sp>
      <p:sp>
        <p:nvSpPr>
          <p:cNvPr id="441" name="文本框 440">
            <a:extLst>
              <a:ext uri="{FF2B5EF4-FFF2-40B4-BE49-F238E27FC236}">
                <a16:creationId xmlns:a16="http://schemas.microsoft.com/office/drawing/2014/main" id="{20F06A38-12FF-4FD4-91D6-3B3EEC46C15D}"/>
              </a:ext>
            </a:extLst>
          </p:cNvPr>
          <p:cNvSpPr txBox="1"/>
          <p:nvPr/>
        </p:nvSpPr>
        <p:spPr>
          <a:xfrm>
            <a:off x="6879361" y="6351711"/>
            <a:ext cx="458780" cy="461665"/>
          </a:xfrm>
          <a:prstGeom prst="rect">
            <a:avLst/>
          </a:prstGeom>
          <a:noFill/>
        </p:spPr>
        <p:txBody>
          <a:bodyPr wrap="none" rtlCol="0">
            <a:spAutoFit/>
          </a:bodyPr>
          <a:lstStyle/>
          <a:p>
            <a:r>
              <a:rPr lang="en-US" altLang="zh-CN" dirty="0"/>
              <a:t>S</a:t>
            </a:r>
            <a:r>
              <a:rPr lang="en-US" altLang="zh-CN" baseline="-25000" dirty="0"/>
              <a:t>1</a:t>
            </a:r>
            <a:endParaRPr lang="zh-CN" altLang="en-US" baseline="-25000" dirty="0"/>
          </a:p>
        </p:txBody>
      </p:sp>
      <p:sp>
        <p:nvSpPr>
          <p:cNvPr id="442" name="文本框 441">
            <a:extLst>
              <a:ext uri="{FF2B5EF4-FFF2-40B4-BE49-F238E27FC236}">
                <a16:creationId xmlns:a16="http://schemas.microsoft.com/office/drawing/2014/main" id="{FA93F754-24A1-47D4-8874-D49699C52D13}"/>
              </a:ext>
            </a:extLst>
          </p:cNvPr>
          <p:cNvSpPr txBox="1"/>
          <p:nvPr/>
        </p:nvSpPr>
        <p:spPr>
          <a:xfrm>
            <a:off x="6125687" y="6351711"/>
            <a:ext cx="458780" cy="461665"/>
          </a:xfrm>
          <a:prstGeom prst="rect">
            <a:avLst/>
          </a:prstGeom>
          <a:noFill/>
        </p:spPr>
        <p:txBody>
          <a:bodyPr wrap="none" rtlCol="0">
            <a:spAutoFit/>
          </a:bodyPr>
          <a:lstStyle/>
          <a:p>
            <a:r>
              <a:rPr lang="en-US" altLang="zh-CN" dirty="0"/>
              <a:t>S</a:t>
            </a:r>
            <a:r>
              <a:rPr lang="en-US" altLang="zh-CN" baseline="-25000" dirty="0"/>
              <a:t>2</a:t>
            </a:r>
            <a:endParaRPr lang="zh-CN" altLang="en-US" baseline="-25000" dirty="0"/>
          </a:p>
        </p:txBody>
      </p:sp>
      <p:sp>
        <p:nvSpPr>
          <p:cNvPr id="443" name="文本框 442">
            <a:extLst>
              <a:ext uri="{FF2B5EF4-FFF2-40B4-BE49-F238E27FC236}">
                <a16:creationId xmlns:a16="http://schemas.microsoft.com/office/drawing/2014/main" id="{CD1B58CF-8EDA-4215-B0AE-13ED860114B1}"/>
              </a:ext>
            </a:extLst>
          </p:cNvPr>
          <p:cNvSpPr txBox="1"/>
          <p:nvPr/>
        </p:nvSpPr>
        <p:spPr>
          <a:xfrm>
            <a:off x="5372013" y="6351711"/>
            <a:ext cx="458780" cy="461665"/>
          </a:xfrm>
          <a:prstGeom prst="rect">
            <a:avLst/>
          </a:prstGeom>
          <a:noFill/>
        </p:spPr>
        <p:txBody>
          <a:bodyPr wrap="none" rtlCol="0">
            <a:spAutoFit/>
          </a:bodyPr>
          <a:lstStyle/>
          <a:p>
            <a:r>
              <a:rPr lang="en-US" altLang="zh-CN" dirty="0"/>
              <a:t>S</a:t>
            </a:r>
            <a:r>
              <a:rPr lang="en-US" altLang="zh-CN" baseline="-25000" dirty="0"/>
              <a:t>3</a:t>
            </a:r>
            <a:endParaRPr lang="zh-CN" altLang="en-US" baseline="-25000" dirty="0"/>
          </a:p>
        </p:txBody>
      </p:sp>
      <p:sp>
        <p:nvSpPr>
          <p:cNvPr id="444" name="文本框 443">
            <a:extLst>
              <a:ext uri="{FF2B5EF4-FFF2-40B4-BE49-F238E27FC236}">
                <a16:creationId xmlns:a16="http://schemas.microsoft.com/office/drawing/2014/main" id="{A605B928-22AF-4664-B5C4-23974AF6CF28}"/>
              </a:ext>
            </a:extLst>
          </p:cNvPr>
          <p:cNvSpPr txBox="1"/>
          <p:nvPr/>
        </p:nvSpPr>
        <p:spPr>
          <a:xfrm>
            <a:off x="4736787" y="6351711"/>
            <a:ext cx="458780" cy="461665"/>
          </a:xfrm>
          <a:prstGeom prst="rect">
            <a:avLst/>
          </a:prstGeom>
          <a:noFill/>
        </p:spPr>
        <p:txBody>
          <a:bodyPr wrap="none" rtlCol="0">
            <a:spAutoFit/>
          </a:bodyPr>
          <a:lstStyle/>
          <a:p>
            <a:r>
              <a:rPr lang="en-US" altLang="zh-CN" dirty="0"/>
              <a:t>S</a:t>
            </a:r>
            <a:r>
              <a:rPr lang="en-US" altLang="zh-CN" baseline="-25000" dirty="0"/>
              <a:t>4</a:t>
            </a:r>
            <a:endParaRPr lang="zh-CN" altLang="en-US" baseline="-25000" dirty="0"/>
          </a:p>
        </p:txBody>
      </p:sp>
      <p:sp>
        <p:nvSpPr>
          <p:cNvPr id="445" name="文本框 444">
            <a:extLst>
              <a:ext uri="{FF2B5EF4-FFF2-40B4-BE49-F238E27FC236}">
                <a16:creationId xmlns:a16="http://schemas.microsoft.com/office/drawing/2014/main" id="{7F4D2687-0A47-42EE-B8B4-E5E725140CA8}"/>
              </a:ext>
            </a:extLst>
          </p:cNvPr>
          <p:cNvSpPr txBox="1"/>
          <p:nvPr/>
        </p:nvSpPr>
        <p:spPr>
          <a:xfrm>
            <a:off x="4093930" y="6351711"/>
            <a:ext cx="458780" cy="461665"/>
          </a:xfrm>
          <a:prstGeom prst="rect">
            <a:avLst/>
          </a:prstGeom>
          <a:noFill/>
        </p:spPr>
        <p:txBody>
          <a:bodyPr wrap="none" rtlCol="0">
            <a:spAutoFit/>
          </a:bodyPr>
          <a:lstStyle/>
          <a:p>
            <a:r>
              <a:rPr lang="en-US" altLang="zh-CN" dirty="0"/>
              <a:t>S</a:t>
            </a:r>
            <a:r>
              <a:rPr lang="en-US" altLang="zh-CN" baseline="-25000" dirty="0"/>
              <a:t>5</a:t>
            </a:r>
            <a:endParaRPr lang="zh-CN" altLang="en-US" baseline="-25000" dirty="0"/>
          </a:p>
        </p:txBody>
      </p:sp>
      <p:sp>
        <p:nvSpPr>
          <p:cNvPr id="446" name="文本框 445">
            <a:extLst>
              <a:ext uri="{FF2B5EF4-FFF2-40B4-BE49-F238E27FC236}">
                <a16:creationId xmlns:a16="http://schemas.microsoft.com/office/drawing/2014/main" id="{439B6039-5962-4632-8D7B-B8F45A1FB52C}"/>
              </a:ext>
            </a:extLst>
          </p:cNvPr>
          <p:cNvSpPr txBox="1"/>
          <p:nvPr/>
        </p:nvSpPr>
        <p:spPr>
          <a:xfrm>
            <a:off x="3467845" y="6351711"/>
            <a:ext cx="458780" cy="461665"/>
          </a:xfrm>
          <a:prstGeom prst="rect">
            <a:avLst/>
          </a:prstGeom>
          <a:noFill/>
        </p:spPr>
        <p:txBody>
          <a:bodyPr wrap="none" rtlCol="0">
            <a:spAutoFit/>
          </a:bodyPr>
          <a:lstStyle/>
          <a:p>
            <a:r>
              <a:rPr lang="en-US" altLang="zh-CN" dirty="0"/>
              <a:t>S</a:t>
            </a:r>
            <a:r>
              <a:rPr lang="en-US" altLang="zh-CN" baseline="-25000" dirty="0"/>
              <a:t>6</a:t>
            </a:r>
            <a:endParaRPr lang="zh-CN" altLang="en-US" baseline="-25000" dirty="0"/>
          </a:p>
        </p:txBody>
      </p:sp>
      <p:sp>
        <p:nvSpPr>
          <p:cNvPr id="447" name="文本框 446">
            <a:extLst>
              <a:ext uri="{FF2B5EF4-FFF2-40B4-BE49-F238E27FC236}">
                <a16:creationId xmlns:a16="http://schemas.microsoft.com/office/drawing/2014/main" id="{D60EE7DF-0AA3-4FDF-8FA4-8EE1C1C4AE91}"/>
              </a:ext>
            </a:extLst>
          </p:cNvPr>
          <p:cNvSpPr txBox="1"/>
          <p:nvPr/>
        </p:nvSpPr>
        <p:spPr>
          <a:xfrm>
            <a:off x="2741765" y="6351711"/>
            <a:ext cx="458780" cy="461665"/>
          </a:xfrm>
          <a:prstGeom prst="rect">
            <a:avLst/>
          </a:prstGeom>
          <a:noFill/>
        </p:spPr>
        <p:txBody>
          <a:bodyPr wrap="none" rtlCol="0">
            <a:spAutoFit/>
          </a:bodyPr>
          <a:lstStyle/>
          <a:p>
            <a:r>
              <a:rPr lang="en-US" altLang="zh-CN" dirty="0"/>
              <a:t>S</a:t>
            </a:r>
            <a:r>
              <a:rPr lang="en-US" altLang="zh-CN" baseline="-25000" dirty="0"/>
              <a:t>7</a:t>
            </a:r>
            <a:endParaRPr lang="zh-CN" altLang="en-US" baseline="-25000" dirty="0"/>
          </a:p>
        </p:txBody>
      </p:sp>
      <p:sp>
        <p:nvSpPr>
          <p:cNvPr id="250934" name="文本框 250933">
            <a:extLst>
              <a:ext uri="{FF2B5EF4-FFF2-40B4-BE49-F238E27FC236}">
                <a16:creationId xmlns:a16="http://schemas.microsoft.com/office/drawing/2014/main" id="{EF3D56D9-52A7-4564-8A1E-B5E7803017D5}"/>
              </a:ext>
            </a:extLst>
          </p:cNvPr>
          <p:cNvSpPr txBox="1"/>
          <p:nvPr/>
        </p:nvSpPr>
        <p:spPr>
          <a:xfrm>
            <a:off x="3528213" y="3576113"/>
            <a:ext cx="1122423" cy="338554"/>
          </a:xfrm>
          <a:prstGeom prst="rect">
            <a:avLst/>
          </a:prstGeom>
          <a:noFill/>
        </p:spPr>
        <p:txBody>
          <a:bodyPr wrap="none" rtlCol="0">
            <a:spAutoFit/>
          </a:bodyPr>
          <a:lstStyle/>
          <a:p>
            <a:r>
              <a:rPr lang="en-US" altLang="zh-CN" sz="1600" b="1" dirty="0">
                <a:solidFill>
                  <a:schemeClr val="accent1"/>
                </a:solidFill>
                <a:latin typeface="等线" panose="02010600030101010101" pitchFamily="2" charset="-122"/>
                <a:ea typeface="等线" panose="02010600030101010101" pitchFamily="2" charset="-122"/>
              </a:rPr>
              <a:t>4</a:t>
            </a:r>
            <a:r>
              <a:rPr lang="zh-CN" altLang="en-US" sz="1600" b="1" dirty="0">
                <a:solidFill>
                  <a:schemeClr val="accent1"/>
                </a:solidFill>
                <a:latin typeface="等线" panose="02010600030101010101" pitchFamily="2" charset="-122"/>
                <a:ea typeface="等线" panose="02010600030101010101" pitchFamily="2" charset="-122"/>
              </a:rPr>
              <a:t>位加法器</a:t>
            </a:r>
          </a:p>
        </p:txBody>
      </p:sp>
    </p:spTree>
    <p:extLst>
      <p:ext uri="{BB962C8B-B14F-4D97-AF65-F5344CB8AC3E}">
        <p14:creationId xmlns:p14="http://schemas.microsoft.com/office/powerpoint/2010/main" val="6794862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37A216C-18A3-466E-BD90-37CCADC359B9}" type="slidenum">
              <a:rPr lang="en-US" altLang="zh-CN"/>
              <a:pPr/>
              <a:t>76</a:t>
            </a:fld>
            <a:endParaRPr lang="en-US" altLang="zh-CN" dirty="0"/>
          </a:p>
        </p:txBody>
      </p:sp>
      <p:sp>
        <p:nvSpPr>
          <p:cNvPr id="250883" name="Rectangle 3"/>
          <p:cNvSpPr>
            <a:spLocks noGrp="1" noChangeArrowheads="1"/>
          </p:cNvSpPr>
          <p:nvPr>
            <p:ph sz="quarter" idx="1"/>
          </p:nvPr>
        </p:nvSpPr>
        <p:spPr>
          <a:xfrm>
            <a:off x="413538" y="914400"/>
            <a:ext cx="8334926" cy="5754688"/>
          </a:xfrm>
        </p:spPr>
        <p:txBody>
          <a:bodyPr>
            <a:normAutofit/>
          </a:bodyPr>
          <a:lstStyle/>
          <a:p>
            <a:pPr>
              <a:lnSpc>
                <a:spcPct val="90000"/>
              </a:lnSpc>
            </a:pPr>
            <a:r>
              <a:rPr lang="zh-CN" altLang="en-US" dirty="0"/>
              <a:t>四位乘法器</a:t>
            </a:r>
            <a:endParaRPr lang="en-US" altLang="zh-CN" sz="3200" baseline="-25000" dirty="0"/>
          </a:p>
        </p:txBody>
      </p:sp>
      <p:sp>
        <p:nvSpPr>
          <p:cNvPr id="30" name="Rectangle 2">
            <a:extLst>
              <a:ext uri="{FF2B5EF4-FFF2-40B4-BE49-F238E27FC236}">
                <a16:creationId xmlns:a16="http://schemas.microsoft.com/office/drawing/2014/main" id="{41D43722-B50A-41C8-BC92-3CBE824BACD3}"/>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(51)</a:t>
            </a:r>
          </a:p>
        </p:txBody>
      </p:sp>
      <p:pic>
        <p:nvPicPr>
          <p:cNvPr id="5" name="图片 4">
            <a:extLst>
              <a:ext uri="{FF2B5EF4-FFF2-40B4-BE49-F238E27FC236}">
                <a16:creationId xmlns:a16="http://schemas.microsoft.com/office/drawing/2014/main" id="{058E820F-4F9A-41CA-8ECD-7282CEABC54E}"/>
              </a:ext>
            </a:extLst>
          </p:cNvPr>
          <p:cNvPicPr>
            <a:picLocks noChangeAspect="1"/>
          </p:cNvPicPr>
          <p:nvPr/>
        </p:nvPicPr>
        <p:blipFill>
          <a:blip r:embed="rId3"/>
          <a:stretch>
            <a:fillRect/>
          </a:stretch>
        </p:blipFill>
        <p:spPr>
          <a:xfrm>
            <a:off x="5940152" y="188913"/>
            <a:ext cx="2929880" cy="1809882"/>
          </a:xfrm>
          <a:prstGeom prst="rect">
            <a:avLst/>
          </a:prstGeom>
          <a:ln>
            <a:solidFill>
              <a:schemeClr val="accent1"/>
            </a:solidFill>
          </a:ln>
        </p:spPr>
      </p:pic>
      <p:sp>
        <p:nvSpPr>
          <p:cNvPr id="67" name="文本框 66">
            <a:extLst>
              <a:ext uri="{FF2B5EF4-FFF2-40B4-BE49-F238E27FC236}">
                <a16:creationId xmlns:a16="http://schemas.microsoft.com/office/drawing/2014/main" id="{EE1C43CB-8818-46AC-B6A2-732A348331AF}"/>
              </a:ext>
            </a:extLst>
          </p:cNvPr>
          <p:cNvSpPr txBox="1"/>
          <p:nvPr/>
        </p:nvSpPr>
        <p:spPr>
          <a:xfrm>
            <a:off x="1619672" y="1412776"/>
            <a:ext cx="510076" cy="461665"/>
          </a:xfrm>
          <a:prstGeom prst="rect">
            <a:avLst/>
          </a:prstGeom>
          <a:noFill/>
        </p:spPr>
        <p:txBody>
          <a:bodyPr wrap="none" rtlCol="0">
            <a:spAutoFit/>
          </a:bodyPr>
          <a:lstStyle/>
          <a:p>
            <a:r>
              <a:rPr lang="en-US" altLang="zh-CN" dirty="0"/>
              <a:t>A</a:t>
            </a:r>
            <a:r>
              <a:rPr lang="en-US" altLang="zh-CN" baseline="-25000" dirty="0"/>
              <a:t>0</a:t>
            </a:r>
            <a:endParaRPr lang="zh-CN" altLang="en-US" baseline="-25000" dirty="0"/>
          </a:p>
        </p:txBody>
      </p:sp>
      <p:sp>
        <p:nvSpPr>
          <p:cNvPr id="68" name="文本框 67">
            <a:extLst>
              <a:ext uri="{FF2B5EF4-FFF2-40B4-BE49-F238E27FC236}">
                <a16:creationId xmlns:a16="http://schemas.microsoft.com/office/drawing/2014/main" id="{AB701DC0-489F-4AD6-B7AF-1F7DE30F7F39}"/>
              </a:ext>
            </a:extLst>
          </p:cNvPr>
          <p:cNvSpPr txBox="1"/>
          <p:nvPr/>
        </p:nvSpPr>
        <p:spPr>
          <a:xfrm>
            <a:off x="1193858" y="1412776"/>
            <a:ext cx="510076" cy="461665"/>
          </a:xfrm>
          <a:prstGeom prst="rect">
            <a:avLst/>
          </a:prstGeom>
          <a:noFill/>
        </p:spPr>
        <p:txBody>
          <a:bodyPr wrap="none" rtlCol="0">
            <a:spAutoFit/>
          </a:bodyPr>
          <a:lstStyle/>
          <a:p>
            <a:r>
              <a:rPr lang="en-US" altLang="zh-CN" dirty="0"/>
              <a:t>A</a:t>
            </a:r>
            <a:r>
              <a:rPr lang="en-US" altLang="zh-CN" baseline="-25000" dirty="0"/>
              <a:t>1</a:t>
            </a:r>
            <a:endParaRPr lang="zh-CN" altLang="en-US" baseline="-25000" dirty="0"/>
          </a:p>
        </p:txBody>
      </p:sp>
      <p:sp>
        <p:nvSpPr>
          <p:cNvPr id="69" name="文本框 68">
            <a:extLst>
              <a:ext uri="{FF2B5EF4-FFF2-40B4-BE49-F238E27FC236}">
                <a16:creationId xmlns:a16="http://schemas.microsoft.com/office/drawing/2014/main" id="{6379D29A-4A26-4E8F-87D1-89E36CE5478A}"/>
              </a:ext>
            </a:extLst>
          </p:cNvPr>
          <p:cNvSpPr txBox="1"/>
          <p:nvPr/>
        </p:nvSpPr>
        <p:spPr>
          <a:xfrm>
            <a:off x="768043" y="1412776"/>
            <a:ext cx="510076" cy="461665"/>
          </a:xfrm>
          <a:prstGeom prst="rect">
            <a:avLst/>
          </a:prstGeom>
          <a:noFill/>
        </p:spPr>
        <p:txBody>
          <a:bodyPr wrap="none" rtlCol="0">
            <a:spAutoFit/>
          </a:bodyPr>
          <a:lstStyle/>
          <a:p>
            <a:r>
              <a:rPr lang="en-US" altLang="zh-CN" dirty="0"/>
              <a:t>A</a:t>
            </a:r>
            <a:r>
              <a:rPr lang="en-US" altLang="zh-CN" baseline="-25000" dirty="0"/>
              <a:t>2</a:t>
            </a:r>
            <a:endParaRPr lang="zh-CN" altLang="en-US" baseline="-25000" dirty="0"/>
          </a:p>
        </p:txBody>
      </p:sp>
      <p:sp>
        <p:nvSpPr>
          <p:cNvPr id="70" name="文本框 69">
            <a:extLst>
              <a:ext uri="{FF2B5EF4-FFF2-40B4-BE49-F238E27FC236}">
                <a16:creationId xmlns:a16="http://schemas.microsoft.com/office/drawing/2014/main" id="{206E68D2-1619-4EBF-990D-1B6220C5298B}"/>
              </a:ext>
            </a:extLst>
          </p:cNvPr>
          <p:cNvSpPr txBox="1"/>
          <p:nvPr/>
        </p:nvSpPr>
        <p:spPr>
          <a:xfrm>
            <a:off x="342228" y="1412776"/>
            <a:ext cx="510076" cy="461665"/>
          </a:xfrm>
          <a:prstGeom prst="rect">
            <a:avLst/>
          </a:prstGeom>
          <a:noFill/>
        </p:spPr>
        <p:txBody>
          <a:bodyPr wrap="none" rtlCol="0">
            <a:spAutoFit/>
          </a:bodyPr>
          <a:lstStyle/>
          <a:p>
            <a:r>
              <a:rPr lang="en-US" altLang="zh-CN" dirty="0"/>
              <a:t>A</a:t>
            </a:r>
            <a:r>
              <a:rPr lang="en-US" altLang="zh-CN" baseline="-25000" dirty="0"/>
              <a:t>3</a:t>
            </a:r>
            <a:endParaRPr lang="zh-CN" altLang="en-US" baseline="-25000" dirty="0"/>
          </a:p>
        </p:txBody>
      </p:sp>
      <p:cxnSp>
        <p:nvCxnSpPr>
          <p:cNvPr id="8" name="直接连接符 7">
            <a:extLst>
              <a:ext uri="{FF2B5EF4-FFF2-40B4-BE49-F238E27FC236}">
                <a16:creationId xmlns:a16="http://schemas.microsoft.com/office/drawing/2014/main" id="{BE531BB6-9884-4A65-BA80-7B4D3E61C279}"/>
              </a:ext>
            </a:extLst>
          </p:cNvPr>
          <p:cNvCxnSpPr>
            <a:cxnSpLocks/>
            <a:stCxn id="70" idx="2"/>
          </p:cNvCxnSpPr>
          <p:nvPr/>
        </p:nvCxnSpPr>
        <p:spPr>
          <a:xfrm>
            <a:off x="597266" y="1874441"/>
            <a:ext cx="10621" cy="37559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27210E5F-D42B-415A-81ED-6EDCBF6C0805}"/>
              </a:ext>
            </a:extLst>
          </p:cNvPr>
          <p:cNvCxnSpPr>
            <a:cxnSpLocks/>
          </p:cNvCxnSpPr>
          <p:nvPr/>
        </p:nvCxnSpPr>
        <p:spPr>
          <a:xfrm>
            <a:off x="1011944" y="1874441"/>
            <a:ext cx="0" cy="36839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5BDA5B0-9305-4BF5-8427-8AA0C76E86B7}"/>
              </a:ext>
            </a:extLst>
          </p:cNvPr>
          <p:cNvCxnSpPr>
            <a:cxnSpLocks/>
          </p:cNvCxnSpPr>
          <p:nvPr/>
        </p:nvCxnSpPr>
        <p:spPr>
          <a:xfrm>
            <a:off x="1418011" y="1874441"/>
            <a:ext cx="10621" cy="36119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980F1A82-8624-4FCD-BD1E-BFD9C7B2E555}"/>
              </a:ext>
            </a:extLst>
          </p:cNvPr>
          <p:cNvCxnSpPr>
            <a:cxnSpLocks/>
          </p:cNvCxnSpPr>
          <p:nvPr/>
        </p:nvCxnSpPr>
        <p:spPr>
          <a:xfrm>
            <a:off x="1840657" y="1874441"/>
            <a:ext cx="0" cy="35397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87081BB1-E205-45D9-8F6C-DC54B4F43F58}"/>
              </a:ext>
            </a:extLst>
          </p:cNvPr>
          <p:cNvCxnSpPr>
            <a:cxnSpLocks/>
          </p:cNvCxnSpPr>
          <p:nvPr/>
        </p:nvCxnSpPr>
        <p:spPr>
          <a:xfrm>
            <a:off x="5849366" y="2351107"/>
            <a:ext cx="24670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DAED8A50-42B0-4AE5-8CAB-54B58B40562B}"/>
              </a:ext>
            </a:extLst>
          </p:cNvPr>
          <p:cNvSpPr txBox="1"/>
          <p:nvPr/>
        </p:nvSpPr>
        <p:spPr>
          <a:xfrm>
            <a:off x="8309284" y="2132856"/>
            <a:ext cx="510076" cy="461665"/>
          </a:xfrm>
          <a:prstGeom prst="rect">
            <a:avLst/>
          </a:prstGeom>
          <a:noFill/>
        </p:spPr>
        <p:txBody>
          <a:bodyPr wrap="none" rtlCol="0">
            <a:spAutoFit/>
          </a:bodyPr>
          <a:lstStyle/>
          <a:p>
            <a:r>
              <a:rPr lang="en-US" altLang="zh-CN" dirty="0"/>
              <a:t>B</a:t>
            </a:r>
            <a:r>
              <a:rPr lang="en-US" altLang="zh-CN" baseline="-25000" dirty="0"/>
              <a:t>0</a:t>
            </a:r>
            <a:endParaRPr lang="zh-CN" altLang="en-US" baseline="-25000" dirty="0"/>
          </a:p>
        </p:txBody>
      </p:sp>
      <p:sp>
        <p:nvSpPr>
          <p:cNvPr id="76" name="文本框 75">
            <a:extLst>
              <a:ext uri="{FF2B5EF4-FFF2-40B4-BE49-F238E27FC236}">
                <a16:creationId xmlns:a16="http://schemas.microsoft.com/office/drawing/2014/main" id="{5CDBC239-684D-44FA-AEF7-46E978B7899E}"/>
              </a:ext>
            </a:extLst>
          </p:cNvPr>
          <p:cNvSpPr txBox="1"/>
          <p:nvPr/>
        </p:nvSpPr>
        <p:spPr>
          <a:xfrm>
            <a:off x="8309284" y="3013680"/>
            <a:ext cx="492443" cy="461665"/>
          </a:xfrm>
          <a:prstGeom prst="rect">
            <a:avLst/>
          </a:prstGeom>
          <a:noFill/>
        </p:spPr>
        <p:txBody>
          <a:bodyPr wrap="none" rtlCol="0">
            <a:spAutoFit/>
          </a:bodyPr>
          <a:lstStyle/>
          <a:p>
            <a:r>
              <a:rPr lang="en-US" altLang="zh-CN" dirty="0"/>
              <a:t>B</a:t>
            </a:r>
            <a:r>
              <a:rPr lang="en-US" altLang="zh-CN" baseline="-25000" dirty="0"/>
              <a:t>1</a:t>
            </a:r>
            <a:endParaRPr lang="zh-CN" altLang="en-US" baseline="-25000" dirty="0"/>
          </a:p>
        </p:txBody>
      </p:sp>
      <p:sp>
        <p:nvSpPr>
          <p:cNvPr id="77" name="文本框 76">
            <a:extLst>
              <a:ext uri="{FF2B5EF4-FFF2-40B4-BE49-F238E27FC236}">
                <a16:creationId xmlns:a16="http://schemas.microsoft.com/office/drawing/2014/main" id="{AF9092E8-1A54-4950-B222-AB3C0B0B95CA}"/>
              </a:ext>
            </a:extLst>
          </p:cNvPr>
          <p:cNvSpPr txBox="1"/>
          <p:nvPr/>
        </p:nvSpPr>
        <p:spPr>
          <a:xfrm>
            <a:off x="8309284" y="4179649"/>
            <a:ext cx="492443" cy="461665"/>
          </a:xfrm>
          <a:prstGeom prst="rect">
            <a:avLst/>
          </a:prstGeom>
          <a:noFill/>
        </p:spPr>
        <p:txBody>
          <a:bodyPr wrap="none" rtlCol="0">
            <a:spAutoFit/>
          </a:bodyPr>
          <a:lstStyle/>
          <a:p>
            <a:r>
              <a:rPr lang="en-US" altLang="zh-CN" dirty="0"/>
              <a:t>B</a:t>
            </a:r>
            <a:r>
              <a:rPr lang="en-US" altLang="zh-CN" baseline="-25000" dirty="0"/>
              <a:t>2</a:t>
            </a:r>
            <a:endParaRPr lang="zh-CN" altLang="en-US" baseline="-25000" dirty="0"/>
          </a:p>
        </p:txBody>
      </p:sp>
      <p:sp>
        <p:nvSpPr>
          <p:cNvPr id="78" name="文本框 77">
            <a:extLst>
              <a:ext uri="{FF2B5EF4-FFF2-40B4-BE49-F238E27FC236}">
                <a16:creationId xmlns:a16="http://schemas.microsoft.com/office/drawing/2014/main" id="{410A913E-5296-445E-8A2C-A052641973AF}"/>
              </a:ext>
            </a:extLst>
          </p:cNvPr>
          <p:cNvSpPr txBox="1"/>
          <p:nvPr/>
        </p:nvSpPr>
        <p:spPr>
          <a:xfrm>
            <a:off x="8309284" y="5392975"/>
            <a:ext cx="492443" cy="461665"/>
          </a:xfrm>
          <a:prstGeom prst="rect">
            <a:avLst/>
          </a:prstGeom>
          <a:noFill/>
        </p:spPr>
        <p:txBody>
          <a:bodyPr wrap="none" rtlCol="0">
            <a:spAutoFit/>
          </a:bodyPr>
          <a:lstStyle/>
          <a:p>
            <a:r>
              <a:rPr lang="en-US" altLang="zh-CN" dirty="0"/>
              <a:t>B</a:t>
            </a:r>
            <a:r>
              <a:rPr lang="en-US" altLang="zh-CN" baseline="-25000" dirty="0"/>
              <a:t>3</a:t>
            </a:r>
            <a:endParaRPr lang="zh-CN" altLang="en-US" baseline="-25000" dirty="0"/>
          </a:p>
        </p:txBody>
      </p:sp>
      <p:cxnSp>
        <p:nvCxnSpPr>
          <p:cNvPr id="79" name="直接连接符 78">
            <a:extLst>
              <a:ext uri="{FF2B5EF4-FFF2-40B4-BE49-F238E27FC236}">
                <a16:creationId xmlns:a16="http://schemas.microsoft.com/office/drawing/2014/main" id="{BA99DE42-E68F-499C-8F02-A8AF39DE565E}"/>
              </a:ext>
            </a:extLst>
          </p:cNvPr>
          <p:cNvCxnSpPr>
            <a:cxnSpLocks/>
          </p:cNvCxnSpPr>
          <p:nvPr/>
        </p:nvCxnSpPr>
        <p:spPr>
          <a:xfrm>
            <a:off x="4956212" y="3235106"/>
            <a:ext cx="3360204" cy="44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6137AB0D-AEB0-4163-8C6D-6CCDE8C9D28C}"/>
              </a:ext>
            </a:extLst>
          </p:cNvPr>
          <p:cNvCxnSpPr>
            <a:cxnSpLocks/>
          </p:cNvCxnSpPr>
          <p:nvPr/>
        </p:nvCxnSpPr>
        <p:spPr>
          <a:xfrm>
            <a:off x="4203318" y="4415417"/>
            <a:ext cx="41130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8061242F-8961-4D72-8A47-141C5BC6880B}"/>
              </a:ext>
            </a:extLst>
          </p:cNvPr>
          <p:cNvCxnSpPr>
            <a:cxnSpLocks/>
          </p:cNvCxnSpPr>
          <p:nvPr/>
        </p:nvCxnSpPr>
        <p:spPr>
          <a:xfrm>
            <a:off x="3483240" y="5638616"/>
            <a:ext cx="48260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78E18086-1784-42B0-8F4D-8777F769DE0F}"/>
              </a:ext>
            </a:extLst>
          </p:cNvPr>
          <p:cNvCxnSpPr>
            <a:cxnSpLocks/>
          </p:cNvCxnSpPr>
          <p:nvPr/>
        </p:nvCxnSpPr>
        <p:spPr>
          <a:xfrm>
            <a:off x="1840657" y="2132856"/>
            <a:ext cx="5755679" cy="128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7263DB8D-63A7-4914-BB49-A1C0E2C69C22}"/>
              </a:ext>
            </a:extLst>
          </p:cNvPr>
          <p:cNvCxnSpPr>
            <a:cxnSpLocks/>
          </p:cNvCxnSpPr>
          <p:nvPr/>
        </p:nvCxnSpPr>
        <p:spPr>
          <a:xfrm>
            <a:off x="1418011" y="2204864"/>
            <a:ext cx="55399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25B70931-88C6-4D1C-BC85-D8E863C66A05}"/>
              </a:ext>
            </a:extLst>
          </p:cNvPr>
          <p:cNvCxnSpPr>
            <a:cxnSpLocks/>
          </p:cNvCxnSpPr>
          <p:nvPr/>
        </p:nvCxnSpPr>
        <p:spPr>
          <a:xfrm>
            <a:off x="1011944" y="2276872"/>
            <a:ext cx="530761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46A66609-CE72-4E50-B533-6326B24CC872}"/>
              </a:ext>
            </a:extLst>
          </p:cNvPr>
          <p:cNvCxnSpPr>
            <a:cxnSpLocks/>
          </p:cNvCxnSpPr>
          <p:nvPr/>
        </p:nvCxnSpPr>
        <p:spPr>
          <a:xfrm>
            <a:off x="597266" y="2348880"/>
            <a:ext cx="508391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a:extLst>
              <a:ext uri="{FF2B5EF4-FFF2-40B4-BE49-F238E27FC236}">
                <a16:creationId xmlns:a16="http://schemas.microsoft.com/office/drawing/2014/main" id="{F6B63B62-6B95-4117-8053-8983BDDF0838}"/>
              </a:ext>
            </a:extLst>
          </p:cNvPr>
          <p:cNvSpPr/>
          <p:nvPr/>
        </p:nvSpPr>
        <p:spPr>
          <a:xfrm>
            <a:off x="1817796" y="210777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F47B1ACA-15DC-4FEA-8BB3-36345C80A5F5}"/>
              </a:ext>
            </a:extLst>
          </p:cNvPr>
          <p:cNvSpPr/>
          <p:nvPr/>
        </p:nvSpPr>
        <p:spPr>
          <a:xfrm>
            <a:off x="1395150" y="217977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E620942A-6A8D-4CED-83CF-BC793D54CBEA}"/>
              </a:ext>
            </a:extLst>
          </p:cNvPr>
          <p:cNvSpPr/>
          <p:nvPr/>
        </p:nvSpPr>
        <p:spPr>
          <a:xfrm>
            <a:off x="989083" y="225401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20CC5C6A-D6F7-49B7-8FD7-BA5E48C90473}"/>
              </a:ext>
            </a:extLst>
          </p:cNvPr>
          <p:cNvSpPr/>
          <p:nvPr/>
        </p:nvSpPr>
        <p:spPr>
          <a:xfrm>
            <a:off x="577525" y="232602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5EAE27F1-8FD2-4431-B0CD-208E4A2D40A9}"/>
              </a:ext>
            </a:extLst>
          </p:cNvPr>
          <p:cNvGrpSpPr/>
          <p:nvPr/>
        </p:nvGrpSpPr>
        <p:grpSpPr>
          <a:xfrm>
            <a:off x="7524330" y="2145731"/>
            <a:ext cx="565924" cy="799651"/>
            <a:chOff x="7524330" y="2145731"/>
            <a:chExt cx="565924" cy="799651"/>
          </a:xfrm>
        </p:grpSpPr>
        <p:sp>
          <p:nvSpPr>
            <p:cNvPr id="119" name="矩形 118">
              <a:extLst>
                <a:ext uri="{FF2B5EF4-FFF2-40B4-BE49-F238E27FC236}">
                  <a16:creationId xmlns:a16="http://schemas.microsoft.com/office/drawing/2014/main" id="{6CF1991F-E94A-4ED0-A52F-14E85D12BA03}"/>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0" name="直接连接符 119">
              <a:extLst>
                <a:ext uri="{FF2B5EF4-FFF2-40B4-BE49-F238E27FC236}">
                  <a16:creationId xmlns:a16="http://schemas.microsoft.com/office/drawing/2014/main" id="{347DD428-D248-4B75-BFD5-A879733F3341}"/>
                </a:ext>
              </a:extLst>
            </p:cNvPr>
            <p:cNvCxnSpPr>
              <a:cxnSpLocks/>
            </p:cNvCxnSpPr>
            <p:nvPr/>
          </p:nvCxnSpPr>
          <p:spPr>
            <a:xfrm>
              <a:off x="7596336" y="2145731"/>
              <a:ext cx="0" cy="360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DCDB4762-CBD0-487F-863F-319E3600483A}"/>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CD5A5EA2-3B7D-471B-9CE8-22DC8B589823}"/>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C5A618E9-ADB0-4268-A80A-C7EF800FA86A}"/>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0</a:t>
              </a:r>
              <a:r>
                <a:rPr lang="en-US" altLang="zh-CN" sz="900" dirty="0"/>
                <a:t>B</a:t>
              </a:r>
              <a:r>
                <a:rPr lang="en-US" altLang="zh-CN" sz="900" baseline="-25000" dirty="0"/>
                <a:t>0</a:t>
              </a:r>
              <a:endParaRPr lang="zh-CN" altLang="en-US" sz="900" baseline="-25000" dirty="0"/>
            </a:p>
          </p:txBody>
        </p:sp>
        <p:sp>
          <p:nvSpPr>
            <p:cNvPr id="129" name="椭圆 128">
              <a:extLst>
                <a:ext uri="{FF2B5EF4-FFF2-40B4-BE49-F238E27FC236}">
                  <a16:creationId xmlns:a16="http://schemas.microsoft.com/office/drawing/2014/main" id="{40C055D1-2627-419D-99FB-C3B161CB6E7C}"/>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0" name="直接连接符 129">
            <a:extLst>
              <a:ext uri="{FF2B5EF4-FFF2-40B4-BE49-F238E27FC236}">
                <a16:creationId xmlns:a16="http://schemas.microsoft.com/office/drawing/2014/main" id="{56376DED-FEB9-4D09-8581-EEC06B966181}"/>
              </a:ext>
            </a:extLst>
          </p:cNvPr>
          <p:cNvCxnSpPr>
            <a:cxnSpLocks/>
          </p:cNvCxnSpPr>
          <p:nvPr/>
        </p:nvCxnSpPr>
        <p:spPr>
          <a:xfrm>
            <a:off x="1846175" y="3022039"/>
            <a:ext cx="4857007" cy="47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DA022FC4-D0DA-4D66-BD2A-CF2849564D08}"/>
              </a:ext>
            </a:extLst>
          </p:cNvPr>
          <p:cNvCxnSpPr>
            <a:cxnSpLocks/>
          </p:cNvCxnSpPr>
          <p:nvPr/>
        </p:nvCxnSpPr>
        <p:spPr>
          <a:xfrm flipV="1">
            <a:off x="1423529" y="3091733"/>
            <a:ext cx="4641267" cy="23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3A53A2C3-DFB4-418C-966C-4234ECB4932E}"/>
              </a:ext>
            </a:extLst>
          </p:cNvPr>
          <p:cNvCxnSpPr>
            <a:cxnSpLocks/>
          </p:cNvCxnSpPr>
          <p:nvPr/>
        </p:nvCxnSpPr>
        <p:spPr>
          <a:xfrm>
            <a:off x="1017462" y="3166055"/>
            <a:ext cx="4408947" cy="42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4DA58710-D1C1-44A5-925A-1B4951A1C669}"/>
              </a:ext>
            </a:extLst>
          </p:cNvPr>
          <p:cNvCxnSpPr>
            <a:cxnSpLocks/>
          </p:cNvCxnSpPr>
          <p:nvPr/>
        </p:nvCxnSpPr>
        <p:spPr>
          <a:xfrm flipV="1">
            <a:off x="602784" y="3235106"/>
            <a:ext cx="4185238" cy="29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8" name="椭圆 157">
            <a:extLst>
              <a:ext uri="{FF2B5EF4-FFF2-40B4-BE49-F238E27FC236}">
                <a16:creationId xmlns:a16="http://schemas.microsoft.com/office/drawing/2014/main" id="{DB9CBA21-9DFD-41AD-90B1-56C52057CACB}"/>
              </a:ext>
            </a:extLst>
          </p:cNvPr>
          <p:cNvSpPr/>
          <p:nvPr/>
        </p:nvSpPr>
        <p:spPr>
          <a:xfrm>
            <a:off x="1823314" y="299695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a:extLst>
              <a:ext uri="{FF2B5EF4-FFF2-40B4-BE49-F238E27FC236}">
                <a16:creationId xmlns:a16="http://schemas.microsoft.com/office/drawing/2014/main" id="{7C7BF938-74C5-4F7C-B82F-BE0BA7530DA3}"/>
              </a:ext>
            </a:extLst>
          </p:cNvPr>
          <p:cNvSpPr/>
          <p:nvPr/>
        </p:nvSpPr>
        <p:spPr>
          <a:xfrm>
            <a:off x="1400668" y="306896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a:extLst>
              <a:ext uri="{FF2B5EF4-FFF2-40B4-BE49-F238E27FC236}">
                <a16:creationId xmlns:a16="http://schemas.microsoft.com/office/drawing/2014/main" id="{8FA55CAC-9E38-49AF-8C70-50904012E536}"/>
              </a:ext>
            </a:extLst>
          </p:cNvPr>
          <p:cNvSpPr/>
          <p:nvPr/>
        </p:nvSpPr>
        <p:spPr>
          <a:xfrm>
            <a:off x="994601" y="314319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a:extLst>
              <a:ext uri="{FF2B5EF4-FFF2-40B4-BE49-F238E27FC236}">
                <a16:creationId xmlns:a16="http://schemas.microsoft.com/office/drawing/2014/main" id="{4B9FE2F0-33AC-4E95-813B-EC7FCF3F0FD3}"/>
              </a:ext>
            </a:extLst>
          </p:cNvPr>
          <p:cNvSpPr/>
          <p:nvPr/>
        </p:nvSpPr>
        <p:spPr>
          <a:xfrm>
            <a:off x="583043" y="3215202"/>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5" name="直接连接符 164">
            <a:extLst>
              <a:ext uri="{FF2B5EF4-FFF2-40B4-BE49-F238E27FC236}">
                <a16:creationId xmlns:a16="http://schemas.microsoft.com/office/drawing/2014/main" id="{EB29DE42-6D69-4DD4-B794-6A8AAF363BBE}"/>
              </a:ext>
            </a:extLst>
          </p:cNvPr>
          <p:cNvCxnSpPr>
            <a:cxnSpLocks/>
          </p:cNvCxnSpPr>
          <p:nvPr/>
        </p:nvCxnSpPr>
        <p:spPr>
          <a:xfrm flipV="1">
            <a:off x="1851278" y="4193425"/>
            <a:ext cx="4099012" cy="22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30A20417-E5D5-4D57-A6FE-C3D9C23A885D}"/>
              </a:ext>
            </a:extLst>
          </p:cNvPr>
          <p:cNvCxnSpPr>
            <a:cxnSpLocks/>
          </p:cNvCxnSpPr>
          <p:nvPr/>
        </p:nvCxnSpPr>
        <p:spPr>
          <a:xfrm flipV="1">
            <a:off x="1428632" y="4267660"/>
            <a:ext cx="388142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CCC04E6A-8870-4304-A923-2869C64F4C81}"/>
              </a:ext>
            </a:extLst>
          </p:cNvPr>
          <p:cNvCxnSpPr>
            <a:cxnSpLocks/>
          </p:cNvCxnSpPr>
          <p:nvPr/>
        </p:nvCxnSpPr>
        <p:spPr>
          <a:xfrm flipV="1">
            <a:off x="1022565" y="4339667"/>
            <a:ext cx="3650952"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01BA82EE-8229-449A-BCAC-0EE9C3D3806E}"/>
              </a:ext>
            </a:extLst>
          </p:cNvPr>
          <p:cNvCxnSpPr>
            <a:cxnSpLocks/>
          </p:cNvCxnSpPr>
          <p:nvPr/>
        </p:nvCxnSpPr>
        <p:spPr>
          <a:xfrm>
            <a:off x="607887" y="4411676"/>
            <a:ext cx="3427242" cy="101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椭圆 192">
            <a:extLst>
              <a:ext uri="{FF2B5EF4-FFF2-40B4-BE49-F238E27FC236}">
                <a16:creationId xmlns:a16="http://schemas.microsoft.com/office/drawing/2014/main" id="{EA9F5B08-D3EE-4A15-B921-E10341A35C7B}"/>
              </a:ext>
            </a:extLst>
          </p:cNvPr>
          <p:cNvSpPr/>
          <p:nvPr/>
        </p:nvSpPr>
        <p:spPr>
          <a:xfrm>
            <a:off x="1828417" y="417056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椭圆 193">
            <a:extLst>
              <a:ext uri="{FF2B5EF4-FFF2-40B4-BE49-F238E27FC236}">
                <a16:creationId xmlns:a16="http://schemas.microsoft.com/office/drawing/2014/main" id="{2574A7F9-23C8-4137-8172-5AA1599A9653}"/>
              </a:ext>
            </a:extLst>
          </p:cNvPr>
          <p:cNvSpPr/>
          <p:nvPr/>
        </p:nvSpPr>
        <p:spPr>
          <a:xfrm>
            <a:off x="1405771" y="4242574"/>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C8476037-F402-4E91-822F-1229201080CD}"/>
              </a:ext>
            </a:extLst>
          </p:cNvPr>
          <p:cNvSpPr/>
          <p:nvPr/>
        </p:nvSpPr>
        <p:spPr>
          <a:xfrm>
            <a:off x="999704" y="4316808"/>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椭圆 195">
            <a:extLst>
              <a:ext uri="{FF2B5EF4-FFF2-40B4-BE49-F238E27FC236}">
                <a16:creationId xmlns:a16="http://schemas.microsoft.com/office/drawing/2014/main" id="{CA7B86E4-7203-4D2B-AE4C-29D0CF936AC7}"/>
              </a:ext>
            </a:extLst>
          </p:cNvPr>
          <p:cNvSpPr/>
          <p:nvPr/>
        </p:nvSpPr>
        <p:spPr>
          <a:xfrm>
            <a:off x="588146" y="438881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5" name="直接连接符 234">
            <a:extLst>
              <a:ext uri="{FF2B5EF4-FFF2-40B4-BE49-F238E27FC236}">
                <a16:creationId xmlns:a16="http://schemas.microsoft.com/office/drawing/2014/main" id="{BBAFAC87-09ED-4EFC-9973-15AD3AB81343}"/>
              </a:ext>
            </a:extLst>
          </p:cNvPr>
          <p:cNvCxnSpPr>
            <a:cxnSpLocks/>
          </p:cNvCxnSpPr>
          <p:nvPr/>
        </p:nvCxnSpPr>
        <p:spPr>
          <a:xfrm>
            <a:off x="1840655" y="5414237"/>
            <a:ext cx="3389555" cy="1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10BF97C4-C1BD-4283-A03A-4C243C4414EC}"/>
              </a:ext>
            </a:extLst>
          </p:cNvPr>
          <p:cNvCxnSpPr>
            <a:cxnSpLocks/>
          </p:cNvCxnSpPr>
          <p:nvPr/>
        </p:nvCxnSpPr>
        <p:spPr>
          <a:xfrm>
            <a:off x="1423529" y="5486404"/>
            <a:ext cx="3168295" cy="5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4453A771-C72D-4BEA-B91B-5C35883BED08}"/>
              </a:ext>
            </a:extLst>
          </p:cNvPr>
          <p:cNvCxnSpPr>
            <a:cxnSpLocks/>
          </p:cNvCxnSpPr>
          <p:nvPr/>
        </p:nvCxnSpPr>
        <p:spPr>
          <a:xfrm>
            <a:off x="1017462" y="5558412"/>
            <a:ext cx="2935975" cy="5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E3E63EEB-0F69-4BEA-96DF-68A8A568B704}"/>
              </a:ext>
            </a:extLst>
          </p:cNvPr>
          <p:cNvCxnSpPr>
            <a:cxnSpLocks/>
          </p:cNvCxnSpPr>
          <p:nvPr/>
        </p:nvCxnSpPr>
        <p:spPr>
          <a:xfrm>
            <a:off x="602784" y="5630420"/>
            <a:ext cx="2711109" cy="63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0" name="组合 199">
            <a:extLst>
              <a:ext uri="{FF2B5EF4-FFF2-40B4-BE49-F238E27FC236}">
                <a16:creationId xmlns:a16="http://schemas.microsoft.com/office/drawing/2014/main" id="{868FC434-AB84-4FB2-AB32-FC630E336FD3}"/>
              </a:ext>
            </a:extLst>
          </p:cNvPr>
          <p:cNvGrpSpPr/>
          <p:nvPr/>
        </p:nvGrpSpPr>
        <p:grpSpPr>
          <a:xfrm>
            <a:off x="6885944" y="2204864"/>
            <a:ext cx="565924" cy="740518"/>
            <a:chOff x="7524330" y="2204864"/>
            <a:chExt cx="565924" cy="740518"/>
          </a:xfrm>
        </p:grpSpPr>
        <p:sp>
          <p:nvSpPr>
            <p:cNvPr id="201" name="矩形 200">
              <a:extLst>
                <a:ext uri="{FF2B5EF4-FFF2-40B4-BE49-F238E27FC236}">
                  <a16:creationId xmlns:a16="http://schemas.microsoft.com/office/drawing/2014/main" id="{842C38CB-0AFC-4421-9885-FD47CC6BD119}"/>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2" name="直接连接符 201">
              <a:extLst>
                <a:ext uri="{FF2B5EF4-FFF2-40B4-BE49-F238E27FC236}">
                  <a16:creationId xmlns:a16="http://schemas.microsoft.com/office/drawing/2014/main" id="{7A6AF729-09BA-424B-B225-3FDB764C2051}"/>
                </a:ext>
              </a:extLst>
            </p:cNvPr>
            <p:cNvCxnSpPr>
              <a:cxnSpLocks/>
            </p:cNvCxnSpPr>
            <p:nvPr/>
          </p:nvCxnSpPr>
          <p:spPr>
            <a:xfrm>
              <a:off x="7596336" y="2204864"/>
              <a:ext cx="0" cy="301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EAB5BDE3-EA59-4F90-B146-C3FD725B1BD2}"/>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216FAE38-96D9-46B6-941D-45F8F9AC07AF}"/>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5" name="文本框 204">
              <a:extLst>
                <a:ext uri="{FF2B5EF4-FFF2-40B4-BE49-F238E27FC236}">
                  <a16:creationId xmlns:a16="http://schemas.microsoft.com/office/drawing/2014/main" id="{47EDAD77-B488-437C-975F-9E4154D72E1C}"/>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1</a:t>
              </a:r>
              <a:r>
                <a:rPr lang="en-US" altLang="zh-CN" sz="900" dirty="0"/>
                <a:t>B</a:t>
              </a:r>
              <a:r>
                <a:rPr lang="en-US" altLang="zh-CN" sz="900" baseline="-25000" dirty="0"/>
                <a:t>0</a:t>
              </a:r>
              <a:endParaRPr lang="zh-CN" altLang="en-US" sz="900" baseline="-25000" dirty="0"/>
            </a:p>
          </p:txBody>
        </p:sp>
        <p:sp>
          <p:nvSpPr>
            <p:cNvPr id="206" name="椭圆 205">
              <a:extLst>
                <a:ext uri="{FF2B5EF4-FFF2-40B4-BE49-F238E27FC236}">
                  <a16:creationId xmlns:a16="http://schemas.microsoft.com/office/drawing/2014/main" id="{14B473F6-E712-4983-AECC-F0E8347B28A3}"/>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7" name="组合 206">
            <a:extLst>
              <a:ext uri="{FF2B5EF4-FFF2-40B4-BE49-F238E27FC236}">
                <a16:creationId xmlns:a16="http://schemas.microsoft.com/office/drawing/2014/main" id="{ECA624BC-F124-4673-8AB5-2B4B16291450}"/>
              </a:ext>
            </a:extLst>
          </p:cNvPr>
          <p:cNvGrpSpPr/>
          <p:nvPr/>
        </p:nvGrpSpPr>
        <p:grpSpPr>
          <a:xfrm>
            <a:off x="6247557" y="2276872"/>
            <a:ext cx="565924" cy="663768"/>
            <a:chOff x="7524330" y="2281614"/>
            <a:chExt cx="565924" cy="663768"/>
          </a:xfrm>
        </p:grpSpPr>
        <p:sp>
          <p:nvSpPr>
            <p:cNvPr id="208" name="矩形 207">
              <a:extLst>
                <a:ext uri="{FF2B5EF4-FFF2-40B4-BE49-F238E27FC236}">
                  <a16:creationId xmlns:a16="http://schemas.microsoft.com/office/drawing/2014/main" id="{1F06B15D-A9ED-48FC-A660-A06FDBF34762}"/>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9" name="直接连接符 208">
              <a:extLst>
                <a:ext uri="{FF2B5EF4-FFF2-40B4-BE49-F238E27FC236}">
                  <a16:creationId xmlns:a16="http://schemas.microsoft.com/office/drawing/2014/main" id="{A8D56D76-12D8-4244-91B8-36B393C117D8}"/>
                </a:ext>
              </a:extLst>
            </p:cNvPr>
            <p:cNvCxnSpPr>
              <a:cxnSpLocks/>
            </p:cNvCxnSpPr>
            <p:nvPr/>
          </p:nvCxnSpPr>
          <p:spPr>
            <a:xfrm>
              <a:off x="7596336" y="2281614"/>
              <a:ext cx="0" cy="224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B81B7D9D-B8B9-421C-8878-3765BCB09EC6}"/>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C2781463-653B-4770-A4BB-E6548FBAF3DF}"/>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2" name="文本框 211">
              <a:extLst>
                <a:ext uri="{FF2B5EF4-FFF2-40B4-BE49-F238E27FC236}">
                  <a16:creationId xmlns:a16="http://schemas.microsoft.com/office/drawing/2014/main" id="{8B7D048E-2E9B-4A70-9E36-597FB2421ACD}"/>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2</a:t>
              </a:r>
              <a:r>
                <a:rPr lang="en-US" altLang="zh-CN" sz="900" dirty="0"/>
                <a:t>B</a:t>
              </a:r>
              <a:r>
                <a:rPr lang="en-US" altLang="zh-CN" sz="900" baseline="-25000" dirty="0"/>
                <a:t>0</a:t>
              </a:r>
              <a:endParaRPr lang="zh-CN" altLang="en-US" sz="900" baseline="-25000" dirty="0"/>
            </a:p>
          </p:txBody>
        </p:sp>
        <p:sp>
          <p:nvSpPr>
            <p:cNvPr id="213" name="椭圆 212">
              <a:extLst>
                <a:ext uri="{FF2B5EF4-FFF2-40B4-BE49-F238E27FC236}">
                  <a16:creationId xmlns:a16="http://schemas.microsoft.com/office/drawing/2014/main" id="{58E6E604-B903-48E2-977D-BAB0F529F959}"/>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4" name="组合 213">
            <a:extLst>
              <a:ext uri="{FF2B5EF4-FFF2-40B4-BE49-F238E27FC236}">
                <a16:creationId xmlns:a16="http://schemas.microsoft.com/office/drawing/2014/main" id="{8FD25422-6D5B-454F-A53D-13F26BC70D03}"/>
              </a:ext>
            </a:extLst>
          </p:cNvPr>
          <p:cNvGrpSpPr/>
          <p:nvPr/>
        </p:nvGrpSpPr>
        <p:grpSpPr>
          <a:xfrm>
            <a:off x="5609170" y="2348880"/>
            <a:ext cx="565924" cy="591760"/>
            <a:chOff x="7524330" y="2353622"/>
            <a:chExt cx="565924" cy="591760"/>
          </a:xfrm>
        </p:grpSpPr>
        <p:sp>
          <p:nvSpPr>
            <p:cNvPr id="215" name="矩形 214">
              <a:extLst>
                <a:ext uri="{FF2B5EF4-FFF2-40B4-BE49-F238E27FC236}">
                  <a16:creationId xmlns:a16="http://schemas.microsoft.com/office/drawing/2014/main" id="{E2EBC63B-278F-42F7-8E55-4A39DF9FC4FA}"/>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6" name="直接连接符 215">
              <a:extLst>
                <a:ext uri="{FF2B5EF4-FFF2-40B4-BE49-F238E27FC236}">
                  <a16:creationId xmlns:a16="http://schemas.microsoft.com/office/drawing/2014/main" id="{9F3AD739-55F3-4FDC-B3B3-60E486F5E4E1}"/>
                </a:ext>
              </a:extLst>
            </p:cNvPr>
            <p:cNvCxnSpPr>
              <a:cxnSpLocks/>
            </p:cNvCxnSpPr>
            <p:nvPr/>
          </p:nvCxnSpPr>
          <p:spPr>
            <a:xfrm>
              <a:off x="7596336" y="2353622"/>
              <a:ext cx="0" cy="15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DAE906D0-2242-4D6E-999F-CD35A9EE0B02}"/>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F0269A77-12AB-48F5-8768-B43B73C1F2DB}"/>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9" name="文本框 218">
              <a:extLst>
                <a:ext uri="{FF2B5EF4-FFF2-40B4-BE49-F238E27FC236}">
                  <a16:creationId xmlns:a16="http://schemas.microsoft.com/office/drawing/2014/main" id="{F65A0937-5072-4CF3-A289-71CFDB55ECD7}"/>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3</a:t>
              </a:r>
              <a:r>
                <a:rPr lang="en-US" altLang="zh-CN" sz="900" dirty="0"/>
                <a:t>B</a:t>
              </a:r>
              <a:r>
                <a:rPr lang="en-US" altLang="zh-CN" sz="900" baseline="-25000" dirty="0"/>
                <a:t>0</a:t>
              </a:r>
              <a:endParaRPr lang="zh-CN" altLang="en-US" sz="900" baseline="-25000" dirty="0"/>
            </a:p>
          </p:txBody>
        </p:sp>
      </p:grpSp>
      <p:grpSp>
        <p:nvGrpSpPr>
          <p:cNvPr id="222" name="组合 221">
            <a:extLst>
              <a:ext uri="{FF2B5EF4-FFF2-40B4-BE49-F238E27FC236}">
                <a16:creationId xmlns:a16="http://schemas.microsoft.com/office/drawing/2014/main" id="{7CFB2B10-F746-43CA-A0D4-327F694EC9C9}"/>
              </a:ext>
            </a:extLst>
          </p:cNvPr>
          <p:cNvGrpSpPr/>
          <p:nvPr/>
        </p:nvGrpSpPr>
        <p:grpSpPr>
          <a:xfrm>
            <a:off x="6631176" y="3032600"/>
            <a:ext cx="565924" cy="799651"/>
            <a:chOff x="7524330" y="2145731"/>
            <a:chExt cx="565924" cy="799651"/>
          </a:xfrm>
        </p:grpSpPr>
        <p:sp>
          <p:nvSpPr>
            <p:cNvPr id="223" name="矩形 222">
              <a:extLst>
                <a:ext uri="{FF2B5EF4-FFF2-40B4-BE49-F238E27FC236}">
                  <a16:creationId xmlns:a16="http://schemas.microsoft.com/office/drawing/2014/main" id="{A8C936E5-1802-426A-BF2F-070820EB2856}"/>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4" name="直接连接符 223">
              <a:extLst>
                <a:ext uri="{FF2B5EF4-FFF2-40B4-BE49-F238E27FC236}">
                  <a16:creationId xmlns:a16="http://schemas.microsoft.com/office/drawing/2014/main" id="{425A6873-D1BD-45E7-9DBF-35A8C4D52043}"/>
                </a:ext>
              </a:extLst>
            </p:cNvPr>
            <p:cNvCxnSpPr>
              <a:cxnSpLocks/>
            </p:cNvCxnSpPr>
            <p:nvPr/>
          </p:nvCxnSpPr>
          <p:spPr>
            <a:xfrm>
              <a:off x="7596336" y="2145731"/>
              <a:ext cx="0" cy="3605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48A0B37D-460C-4F3F-880B-BAFF9C43DBBF}"/>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接连接符 225">
              <a:extLst>
                <a:ext uri="{FF2B5EF4-FFF2-40B4-BE49-F238E27FC236}">
                  <a16:creationId xmlns:a16="http://schemas.microsoft.com/office/drawing/2014/main" id="{EAB663C5-EF32-410B-A83D-26F02EF77C10}"/>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7" name="文本框 226">
              <a:extLst>
                <a:ext uri="{FF2B5EF4-FFF2-40B4-BE49-F238E27FC236}">
                  <a16:creationId xmlns:a16="http://schemas.microsoft.com/office/drawing/2014/main" id="{951A0D6C-3C2B-4167-8D8F-3A9B79FD8C73}"/>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0</a:t>
              </a:r>
              <a:r>
                <a:rPr lang="en-US" altLang="zh-CN" sz="900" dirty="0"/>
                <a:t>B</a:t>
              </a:r>
              <a:r>
                <a:rPr lang="en-US" altLang="zh-CN" sz="900" baseline="-25000" dirty="0"/>
                <a:t>1</a:t>
              </a:r>
              <a:endParaRPr lang="zh-CN" altLang="en-US" sz="900" baseline="-25000" dirty="0"/>
            </a:p>
          </p:txBody>
        </p:sp>
        <p:sp>
          <p:nvSpPr>
            <p:cNvPr id="228" name="椭圆 227">
              <a:extLst>
                <a:ext uri="{FF2B5EF4-FFF2-40B4-BE49-F238E27FC236}">
                  <a16:creationId xmlns:a16="http://schemas.microsoft.com/office/drawing/2014/main" id="{43987796-42BE-4320-A57D-78D0AFC93459}"/>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9" name="组合 228">
            <a:extLst>
              <a:ext uri="{FF2B5EF4-FFF2-40B4-BE49-F238E27FC236}">
                <a16:creationId xmlns:a16="http://schemas.microsoft.com/office/drawing/2014/main" id="{5BDBC326-E80D-4D9A-8C0D-9B882BB5D158}"/>
              </a:ext>
            </a:extLst>
          </p:cNvPr>
          <p:cNvGrpSpPr/>
          <p:nvPr/>
        </p:nvGrpSpPr>
        <p:grpSpPr>
          <a:xfrm>
            <a:off x="5992790" y="3091733"/>
            <a:ext cx="565924" cy="740518"/>
            <a:chOff x="7524330" y="2204864"/>
            <a:chExt cx="565924" cy="740518"/>
          </a:xfrm>
        </p:grpSpPr>
        <p:sp>
          <p:nvSpPr>
            <p:cNvPr id="230" name="矩形 229">
              <a:extLst>
                <a:ext uri="{FF2B5EF4-FFF2-40B4-BE49-F238E27FC236}">
                  <a16:creationId xmlns:a16="http://schemas.microsoft.com/office/drawing/2014/main" id="{F94E96D2-152C-4049-B131-68B1E118655D}"/>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1" name="直接连接符 230">
              <a:extLst>
                <a:ext uri="{FF2B5EF4-FFF2-40B4-BE49-F238E27FC236}">
                  <a16:creationId xmlns:a16="http://schemas.microsoft.com/office/drawing/2014/main" id="{19E08942-FDF7-472D-BFB1-C1950FD5623C}"/>
                </a:ext>
              </a:extLst>
            </p:cNvPr>
            <p:cNvCxnSpPr>
              <a:cxnSpLocks/>
            </p:cNvCxnSpPr>
            <p:nvPr/>
          </p:nvCxnSpPr>
          <p:spPr>
            <a:xfrm>
              <a:off x="7596336" y="2204864"/>
              <a:ext cx="0" cy="301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id="{AD9FFD47-404C-4448-B6C3-65673D60A924}"/>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4D00EB63-E072-4933-B493-BC535AF8E682}"/>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4" name="文本框 233">
              <a:extLst>
                <a:ext uri="{FF2B5EF4-FFF2-40B4-BE49-F238E27FC236}">
                  <a16:creationId xmlns:a16="http://schemas.microsoft.com/office/drawing/2014/main" id="{487117A5-14AE-4F43-BA72-C184D746AECD}"/>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1</a:t>
              </a:r>
              <a:r>
                <a:rPr lang="en-US" altLang="zh-CN" sz="900" dirty="0"/>
                <a:t>B</a:t>
              </a:r>
              <a:r>
                <a:rPr lang="en-US" altLang="zh-CN" sz="900" baseline="-25000" dirty="0"/>
                <a:t>1</a:t>
              </a:r>
              <a:endParaRPr lang="zh-CN" altLang="en-US" sz="900" baseline="-25000" dirty="0"/>
            </a:p>
          </p:txBody>
        </p:sp>
        <p:sp>
          <p:nvSpPr>
            <p:cNvPr id="263" name="椭圆 262">
              <a:extLst>
                <a:ext uri="{FF2B5EF4-FFF2-40B4-BE49-F238E27FC236}">
                  <a16:creationId xmlns:a16="http://schemas.microsoft.com/office/drawing/2014/main" id="{E750FFEB-90C2-4B6E-96CA-6795585FB82C}"/>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4" name="组合 263">
            <a:extLst>
              <a:ext uri="{FF2B5EF4-FFF2-40B4-BE49-F238E27FC236}">
                <a16:creationId xmlns:a16="http://schemas.microsoft.com/office/drawing/2014/main" id="{EE4453AA-FE5F-4E12-878F-757ACC04E613}"/>
              </a:ext>
            </a:extLst>
          </p:cNvPr>
          <p:cNvGrpSpPr/>
          <p:nvPr/>
        </p:nvGrpSpPr>
        <p:grpSpPr>
          <a:xfrm>
            <a:off x="5354403" y="3163741"/>
            <a:ext cx="565924" cy="663768"/>
            <a:chOff x="7524330" y="2281614"/>
            <a:chExt cx="565924" cy="663768"/>
          </a:xfrm>
        </p:grpSpPr>
        <p:sp>
          <p:nvSpPr>
            <p:cNvPr id="265" name="矩形 264">
              <a:extLst>
                <a:ext uri="{FF2B5EF4-FFF2-40B4-BE49-F238E27FC236}">
                  <a16:creationId xmlns:a16="http://schemas.microsoft.com/office/drawing/2014/main" id="{A90354E6-0762-4971-B1E8-BA98433A78E2}"/>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6" name="直接连接符 265">
              <a:extLst>
                <a:ext uri="{FF2B5EF4-FFF2-40B4-BE49-F238E27FC236}">
                  <a16:creationId xmlns:a16="http://schemas.microsoft.com/office/drawing/2014/main" id="{2E963D62-310D-4842-A5C5-F432F239BA8E}"/>
                </a:ext>
              </a:extLst>
            </p:cNvPr>
            <p:cNvCxnSpPr>
              <a:cxnSpLocks/>
            </p:cNvCxnSpPr>
            <p:nvPr/>
          </p:nvCxnSpPr>
          <p:spPr>
            <a:xfrm>
              <a:off x="7596336" y="2281614"/>
              <a:ext cx="0" cy="224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直接连接符 269">
              <a:extLst>
                <a:ext uri="{FF2B5EF4-FFF2-40B4-BE49-F238E27FC236}">
                  <a16:creationId xmlns:a16="http://schemas.microsoft.com/office/drawing/2014/main" id="{5AE065A3-96B0-415E-B994-0BAD77DBD1DD}"/>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直接连接符 270">
              <a:extLst>
                <a:ext uri="{FF2B5EF4-FFF2-40B4-BE49-F238E27FC236}">
                  <a16:creationId xmlns:a16="http://schemas.microsoft.com/office/drawing/2014/main" id="{049A84C2-2ACE-4845-8AD9-E002958A9C70}"/>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2" name="文本框 271">
              <a:extLst>
                <a:ext uri="{FF2B5EF4-FFF2-40B4-BE49-F238E27FC236}">
                  <a16:creationId xmlns:a16="http://schemas.microsoft.com/office/drawing/2014/main" id="{723196D9-E9C6-4FCA-B622-A6009A54D875}"/>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2</a:t>
              </a:r>
              <a:r>
                <a:rPr lang="en-US" altLang="zh-CN" sz="900" dirty="0"/>
                <a:t>B</a:t>
              </a:r>
              <a:r>
                <a:rPr lang="en-US" altLang="zh-CN" sz="900" baseline="-25000" dirty="0"/>
                <a:t>1</a:t>
              </a:r>
              <a:endParaRPr lang="zh-CN" altLang="en-US" sz="900" baseline="-25000" dirty="0"/>
            </a:p>
          </p:txBody>
        </p:sp>
        <p:sp>
          <p:nvSpPr>
            <p:cNvPr id="273" name="椭圆 272">
              <a:extLst>
                <a:ext uri="{FF2B5EF4-FFF2-40B4-BE49-F238E27FC236}">
                  <a16:creationId xmlns:a16="http://schemas.microsoft.com/office/drawing/2014/main" id="{38B3ED60-35F6-4F59-8AE5-1D63A48E9DEA}"/>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4" name="组合 273">
            <a:extLst>
              <a:ext uri="{FF2B5EF4-FFF2-40B4-BE49-F238E27FC236}">
                <a16:creationId xmlns:a16="http://schemas.microsoft.com/office/drawing/2014/main" id="{B4156125-1BF4-4D8D-B2AE-83293CB530CD}"/>
              </a:ext>
            </a:extLst>
          </p:cNvPr>
          <p:cNvGrpSpPr/>
          <p:nvPr/>
        </p:nvGrpSpPr>
        <p:grpSpPr>
          <a:xfrm>
            <a:off x="4716016" y="3235749"/>
            <a:ext cx="565924" cy="591760"/>
            <a:chOff x="7524330" y="2353622"/>
            <a:chExt cx="565924" cy="591760"/>
          </a:xfrm>
        </p:grpSpPr>
        <p:sp>
          <p:nvSpPr>
            <p:cNvPr id="275" name="矩形 274">
              <a:extLst>
                <a:ext uri="{FF2B5EF4-FFF2-40B4-BE49-F238E27FC236}">
                  <a16:creationId xmlns:a16="http://schemas.microsoft.com/office/drawing/2014/main" id="{E7027F1A-0FC2-467A-B2D1-268236F035F8}"/>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6" name="直接连接符 275">
              <a:extLst>
                <a:ext uri="{FF2B5EF4-FFF2-40B4-BE49-F238E27FC236}">
                  <a16:creationId xmlns:a16="http://schemas.microsoft.com/office/drawing/2014/main" id="{7BBD89FA-9365-4A37-A3B3-B92C7D714C97}"/>
                </a:ext>
              </a:extLst>
            </p:cNvPr>
            <p:cNvCxnSpPr>
              <a:cxnSpLocks/>
            </p:cNvCxnSpPr>
            <p:nvPr/>
          </p:nvCxnSpPr>
          <p:spPr>
            <a:xfrm>
              <a:off x="7596336" y="2353622"/>
              <a:ext cx="0" cy="15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直接连接符 276">
              <a:extLst>
                <a:ext uri="{FF2B5EF4-FFF2-40B4-BE49-F238E27FC236}">
                  <a16:creationId xmlns:a16="http://schemas.microsoft.com/office/drawing/2014/main" id="{1E76EB21-4703-4ACA-A639-135BBE5C0CEC}"/>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a:extLst>
                <a:ext uri="{FF2B5EF4-FFF2-40B4-BE49-F238E27FC236}">
                  <a16:creationId xmlns:a16="http://schemas.microsoft.com/office/drawing/2014/main" id="{CA83F790-B323-4112-8015-E24662DB1588}"/>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9" name="文本框 278">
              <a:extLst>
                <a:ext uri="{FF2B5EF4-FFF2-40B4-BE49-F238E27FC236}">
                  <a16:creationId xmlns:a16="http://schemas.microsoft.com/office/drawing/2014/main" id="{D8867F02-4A8D-4DFA-BAA9-AF995542391A}"/>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3</a:t>
              </a:r>
              <a:r>
                <a:rPr lang="en-US" altLang="zh-CN" sz="900" dirty="0"/>
                <a:t>B</a:t>
              </a:r>
              <a:r>
                <a:rPr lang="en-US" altLang="zh-CN" sz="900" baseline="-25000" dirty="0"/>
                <a:t>1</a:t>
              </a:r>
              <a:endParaRPr lang="zh-CN" altLang="en-US" sz="900" baseline="-25000" dirty="0"/>
            </a:p>
          </p:txBody>
        </p:sp>
      </p:grpSp>
      <p:grpSp>
        <p:nvGrpSpPr>
          <p:cNvPr id="281" name="组合 280">
            <a:extLst>
              <a:ext uri="{FF2B5EF4-FFF2-40B4-BE49-F238E27FC236}">
                <a16:creationId xmlns:a16="http://schemas.microsoft.com/office/drawing/2014/main" id="{F29A3385-DAA1-4864-A1C8-7F73E8FD1D07}"/>
              </a:ext>
            </a:extLst>
          </p:cNvPr>
          <p:cNvGrpSpPr/>
          <p:nvPr/>
        </p:nvGrpSpPr>
        <p:grpSpPr>
          <a:xfrm>
            <a:off x="5878284" y="4195652"/>
            <a:ext cx="565924" cy="814040"/>
            <a:chOff x="7524330" y="2131342"/>
            <a:chExt cx="565924" cy="814040"/>
          </a:xfrm>
        </p:grpSpPr>
        <p:sp>
          <p:nvSpPr>
            <p:cNvPr id="282" name="矩形 281">
              <a:extLst>
                <a:ext uri="{FF2B5EF4-FFF2-40B4-BE49-F238E27FC236}">
                  <a16:creationId xmlns:a16="http://schemas.microsoft.com/office/drawing/2014/main" id="{7C8B87D9-7200-4002-9C0B-8C2E6A2369F9}"/>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3" name="直接连接符 282">
              <a:extLst>
                <a:ext uri="{FF2B5EF4-FFF2-40B4-BE49-F238E27FC236}">
                  <a16:creationId xmlns:a16="http://schemas.microsoft.com/office/drawing/2014/main" id="{21DCFEBE-9F73-499C-AEF7-87089AF85725}"/>
                </a:ext>
              </a:extLst>
            </p:cNvPr>
            <p:cNvCxnSpPr>
              <a:cxnSpLocks/>
            </p:cNvCxnSpPr>
            <p:nvPr/>
          </p:nvCxnSpPr>
          <p:spPr>
            <a:xfrm>
              <a:off x="7596336" y="2131342"/>
              <a:ext cx="0" cy="3749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4" name="直接连接符 283">
              <a:extLst>
                <a:ext uri="{FF2B5EF4-FFF2-40B4-BE49-F238E27FC236}">
                  <a16:creationId xmlns:a16="http://schemas.microsoft.com/office/drawing/2014/main" id="{159FFF96-9A93-4D68-B1E5-3FB04040DE0B}"/>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直接连接符 284">
              <a:extLst>
                <a:ext uri="{FF2B5EF4-FFF2-40B4-BE49-F238E27FC236}">
                  <a16:creationId xmlns:a16="http://schemas.microsoft.com/office/drawing/2014/main" id="{7E96E0E8-2292-4DAA-BE94-FBB3EFB64708}"/>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6" name="文本框 285">
              <a:extLst>
                <a:ext uri="{FF2B5EF4-FFF2-40B4-BE49-F238E27FC236}">
                  <a16:creationId xmlns:a16="http://schemas.microsoft.com/office/drawing/2014/main" id="{55758410-9933-478D-9423-F04D129D242E}"/>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0</a:t>
              </a:r>
              <a:r>
                <a:rPr lang="en-US" altLang="zh-CN" sz="900" dirty="0"/>
                <a:t>B</a:t>
              </a:r>
              <a:r>
                <a:rPr lang="en-US" altLang="zh-CN" sz="900" baseline="-25000" dirty="0"/>
                <a:t>2</a:t>
              </a:r>
              <a:endParaRPr lang="zh-CN" altLang="en-US" sz="900" baseline="-25000" dirty="0"/>
            </a:p>
          </p:txBody>
        </p:sp>
        <p:sp>
          <p:nvSpPr>
            <p:cNvPr id="287" name="椭圆 286">
              <a:extLst>
                <a:ext uri="{FF2B5EF4-FFF2-40B4-BE49-F238E27FC236}">
                  <a16:creationId xmlns:a16="http://schemas.microsoft.com/office/drawing/2014/main" id="{5DA67E07-CB56-4FCA-AFFC-30C860E6A5B4}"/>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8" name="组合 287">
            <a:extLst>
              <a:ext uri="{FF2B5EF4-FFF2-40B4-BE49-F238E27FC236}">
                <a16:creationId xmlns:a16="http://schemas.microsoft.com/office/drawing/2014/main" id="{F5FBB775-5B87-4D1B-BDA5-D5AE9B454997}"/>
              </a:ext>
            </a:extLst>
          </p:cNvPr>
          <p:cNvGrpSpPr/>
          <p:nvPr/>
        </p:nvGrpSpPr>
        <p:grpSpPr>
          <a:xfrm>
            <a:off x="5239898" y="4269174"/>
            <a:ext cx="565924" cy="740518"/>
            <a:chOff x="7524330" y="2204864"/>
            <a:chExt cx="565924" cy="740518"/>
          </a:xfrm>
        </p:grpSpPr>
        <p:sp>
          <p:nvSpPr>
            <p:cNvPr id="289" name="矩形 288">
              <a:extLst>
                <a:ext uri="{FF2B5EF4-FFF2-40B4-BE49-F238E27FC236}">
                  <a16:creationId xmlns:a16="http://schemas.microsoft.com/office/drawing/2014/main" id="{E18CD982-9274-40DC-8F9A-EC0BDB7EA072}"/>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0" name="直接连接符 289">
              <a:extLst>
                <a:ext uri="{FF2B5EF4-FFF2-40B4-BE49-F238E27FC236}">
                  <a16:creationId xmlns:a16="http://schemas.microsoft.com/office/drawing/2014/main" id="{3DEC191D-2AC6-4A64-A4C8-2A54B8777BA2}"/>
                </a:ext>
              </a:extLst>
            </p:cNvPr>
            <p:cNvCxnSpPr>
              <a:cxnSpLocks/>
            </p:cNvCxnSpPr>
            <p:nvPr/>
          </p:nvCxnSpPr>
          <p:spPr>
            <a:xfrm>
              <a:off x="7596336" y="2204864"/>
              <a:ext cx="0" cy="301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接连接符 290">
              <a:extLst>
                <a:ext uri="{FF2B5EF4-FFF2-40B4-BE49-F238E27FC236}">
                  <a16:creationId xmlns:a16="http://schemas.microsoft.com/office/drawing/2014/main" id="{C06E4BA2-A339-4C37-A62C-1F8C6AC3ED27}"/>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接连接符 291">
              <a:extLst>
                <a:ext uri="{FF2B5EF4-FFF2-40B4-BE49-F238E27FC236}">
                  <a16:creationId xmlns:a16="http://schemas.microsoft.com/office/drawing/2014/main" id="{0DC4B6BE-20F1-4DFA-B98C-1013C48FC785}"/>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文本框 292">
              <a:extLst>
                <a:ext uri="{FF2B5EF4-FFF2-40B4-BE49-F238E27FC236}">
                  <a16:creationId xmlns:a16="http://schemas.microsoft.com/office/drawing/2014/main" id="{0A4DD4B3-57A4-429A-B64D-10BF36C1FB1F}"/>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1</a:t>
              </a:r>
              <a:r>
                <a:rPr lang="en-US" altLang="zh-CN" sz="900" dirty="0"/>
                <a:t>B</a:t>
              </a:r>
              <a:r>
                <a:rPr lang="en-US" altLang="zh-CN" sz="900" baseline="-25000" dirty="0"/>
                <a:t>2</a:t>
              </a:r>
              <a:endParaRPr lang="zh-CN" altLang="en-US" sz="900" baseline="-25000" dirty="0"/>
            </a:p>
          </p:txBody>
        </p:sp>
        <p:sp>
          <p:nvSpPr>
            <p:cNvPr id="294" name="椭圆 293">
              <a:extLst>
                <a:ext uri="{FF2B5EF4-FFF2-40B4-BE49-F238E27FC236}">
                  <a16:creationId xmlns:a16="http://schemas.microsoft.com/office/drawing/2014/main" id="{E3B31F52-5801-4497-8D01-F083E6EC599F}"/>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5" name="组合 294">
            <a:extLst>
              <a:ext uri="{FF2B5EF4-FFF2-40B4-BE49-F238E27FC236}">
                <a16:creationId xmlns:a16="http://schemas.microsoft.com/office/drawing/2014/main" id="{AF709CA0-E65E-449D-A92B-4C6A147C350A}"/>
              </a:ext>
            </a:extLst>
          </p:cNvPr>
          <p:cNvGrpSpPr/>
          <p:nvPr/>
        </p:nvGrpSpPr>
        <p:grpSpPr>
          <a:xfrm>
            <a:off x="4601511" y="4341182"/>
            <a:ext cx="565924" cy="663768"/>
            <a:chOff x="7524330" y="2281614"/>
            <a:chExt cx="565924" cy="663768"/>
          </a:xfrm>
        </p:grpSpPr>
        <p:sp>
          <p:nvSpPr>
            <p:cNvPr id="296" name="矩形 295">
              <a:extLst>
                <a:ext uri="{FF2B5EF4-FFF2-40B4-BE49-F238E27FC236}">
                  <a16:creationId xmlns:a16="http://schemas.microsoft.com/office/drawing/2014/main" id="{B4E3204B-EEEE-4EB9-BA09-AE68AD154009}"/>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7" name="直接连接符 296">
              <a:extLst>
                <a:ext uri="{FF2B5EF4-FFF2-40B4-BE49-F238E27FC236}">
                  <a16:creationId xmlns:a16="http://schemas.microsoft.com/office/drawing/2014/main" id="{419A1803-A98A-460E-A61F-C13816E37C64}"/>
                </a:ext>
              </a:extLst>
            </p:cNvPr>
            <p:cNvCxnSpPr>
              <a:cxnSpLocks/>
            </p:cNvCxnSpPr>
            <p:nvPr/>
          </p:nvCxnSpPr>
          <p:spPr>
            <a:xfrm>
              <a:off x="7596336" y="2281614"/>
              <a:ext cx="0" cy="224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51BB62ED-0BC5-4B0D-95CB-10BAF3FA309A}"/>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a:extLst>
                <a:ext uri="{FF2B5EF4-FFF2-40B4-BE49-F238E27FC236}">
                  <a16:creationId xmlns:a16="http://schemas.microsoft.com/office/drawing/2014/main" id="{A8D56C80-391A-4D49-99D7-6AE3D622F606}"/>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0" name="文本框 299">
              <a:extLst>
                <a:ext uri="{FF2B5EF4-FFF2-40B4-BE49-F238E27FC236}">
                  <a16:creationId xmlns:a16="http://schemas.microsoft.com/office/drawing/2014/main" id="{91F82B6F-A099-492B-8443-8624CE804BDE}"/>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2</a:t>
              </a:r>
              <a:r>
                <a:rPr lang="en-US" altLang="zh-CN" sz="900" dirty="0"/>
                <a:t>B</a:t>
              </a:r>
              <a:r>
                <a:rPr lang="en-US" altLang="zh-CN" sz="900" baseline="-25000" dirty="0"/>
                <a:t>2</a:t>
              </a:r>
              <a:endParaRPr lang="zh-CN" altLang="en-US" sz="900" baseline="-25000" dirty="0"/>
            </a:p>
          </p:txBody>
        </p:sp>
        <p:sp>
          <p:nvSpPr>
            <p:cNvPr id="301" name="椭圆 300">
              <a:extLst>
                <a:ext uri="{FF2B5EF4-FFF2-40B4-BE49-F238E27FC236}">
                  <a16:creationId xmlns:a16="http://schemas.microsoft.com/office/drawing/2014/main" id="{11B7D777-2BB6-475C-9A89-35199302997F}"/>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2" name="组合 301">
            <a:extLst>
              <a:ext uri="{FF2B5EF4-FFF2-40B4-BE49-F238E27FC236}">
                <a16:creationId xmlns:a16="http://schemas.microsoft.com/office/drawing/2014/main" id="{63456502-B12E-4C9C-86AE-38FCAC1169EA}"/>
              </a:ext>
            </a:extLst>
          </p:cNvPr>
          <p:cNvGrpSpPr/>
          <p:nvPr/>
        </p:nvGrpSpPr>
        <p:grpSpPr>
          <a:xfrm>
            <a:off x="3963124" y="4413190"/>
            <a:ext cx="565924" cy="591760"/>
            <a:chOff x="7524330" y="2353622"/>
            <a:chExt cx="565924" cy="591760"/>
          </a:xfrm>
        </p:grpSpPr>
        <p:sp>
          <p:nvSpPr>
            <p:cNvPr id="303" name="矩形 302">
              <a:extLst>
                <a:ext uri="{FF2B5EF4-FFF2-40B4-BE49-F238E27FC236}">
                  <a16:creationId xmlns:a16="http://schemas.microsoft.com/office/drawing/2014/main" id="{F8B721A9-AE29-4A8F-9D8F-EDF53BE63167}"/>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4" name="直接连接符 303">
              <a:extLst>
                <a:ext uri="{FF2B5EF4-FFF2-40B4-BE49-F238E27FC236}">
                  <a16:creationId xmlns:a16="http://schemas.microsoft.com/office/drawing/2014/main" id="{A9EB1A84-B819-468F-88B9-E4F50B2EE5B5}"/>
                </a:ext>
              </a:extLst>
            </p:cNvPr>
            <p:cNvCxnSpPr>
              <a:cxnSpLocks/>
            </p:cNvCxnSpPr>
            <p:nvPr/>
          </p:nvCxnSpPr>
          <p:spPr>
            <a:xfrm>
              <a:off x="7596336" y="2353622"/>
              <a:ext cx="0" cy="15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5" name="直接连接符 304">
              <a:extLst>
                <a:ext uri="{FF2B5EF4-FFF2-40B4-BE49-F238E27FC236}">
                  <a16:creationId xmlns:a16="http://schemas.microsoft.com/office/drawing/2014/main" id="{78D52C9E-B48B-4DE3-89A5-67992C63F881}"/>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8329ABAD-2EE8-403D-84A4-F7BE1C71FAA0}"/>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7" name="文本框 306">
              <a:extLst>
                <a:ext uri="{FF2B5EF4-FFF2-40B4-BE49-F238E27FC236}">
                  <a16:creationId xmlns:a16="http://schemas.microsoft.com/office/drawing/2014/main" id="{80C78970-C735-40F5-87F5-57C00B57C77B}"/>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3</a:t>
              </a:r>
              <a:r>
                <a:rPr lang="en-US" altLang="zh-CN" sz="900" dirty="0"/>
                <a:t>B</a:t>
              </a:r>
              <a:r>
                <a:rPr lang="en-US" altLang="zh-CN" sz="900" baseline="-25000" dirty="0"/>
                <a:t>2</a:t>
              </a:r>
              <a:endParaRPr lang="zh-CN" altLang="en-US" sz="900" baseline="-25000" dirty="0"/>
            </a:p>
          </p:txBody>
        </p:sp>
      </p:grpSp>
      <p:grpSp>
        <p:nvGrpSpPr>
          <p:cNvPr id="309" name="组合 308">
            <a:extLst>
              <a:ext uri="{FF2B5EF4-FFF2-40B4-BE49-F238E27FC236}">
                <a16:creationId xmlns:a16="http://schemas.microsoft.com/office/drawing/2014/main" id="{DF238693-3DBA-4215-9886-9E45F04A8960}"/>
              </a:ext>
            </a:extLst>
          </p:cNvPr>
          <p:cNvGrpSpPr/>
          <p:nvPr/>
        </p:nvGrpSpPr>
        <p:grpSpPr>
          <a:xfrm>
            <a:off x="5158204" y="5414396"/>
            <a:ext cx="565924" cy="817979"/>
            <a:chOff x="7524330" y="2127403"/>
            <a:chExt cx="565924" cy="817979"/>
          </a:xfrm>
        </p:grpSpPr>
        <p:sp>
          <p:nvSpPr>
            <p:cNvPr id="310" name="矩形 309">
              <a:extLst>
                <a:ext uri="{FF2B5EF4-FFF2-40B4-BE49-F238E27FC236}">
                  <a16:creationId xmlns:a16="http://schemas.microsoft.com/office/drawing/2014/main" id="{6CDFFDFC-DF68-4905-993C-413C284F4DBD}"/>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1" name="直接连接符 310">
              <a:extLst>
                <a:ext uri="{FF2B5EF4-FFF2-40B4-BE49-F238E27FC236}">
                  <a16:creationId xmlns:a16="http://schemas.microsoft.com/office/drawing/2014/main" id="{31B41B18-2AA0-4B00-A2A2-2D1750E3DC80}"/>
                </a:ext>
              </a:extLst>
            </p:cNvPr>
            <p:cNvCxnSpPr>
              <a:cxnSpLocks/>
            </p:cNvCxnSpPr>
            <p:nvPr/>
          </p:nvCxnSpPr>
          <p:spPr>
            <a:xfrm>
              <a:off x="7596336" y="2127403"/>
              <a:ext cx="0" cy="3789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A52F71BB-34E8-4CE3-A1B2-D8BF3ED506CD}"/>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B0E8C965-F717-4D8A-B3D4-5A354627D843}"/>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4" name="文本框 313">
              <a:extLst>
                <a:ext uri="{FF2B5EF4-FFF2-40B4-BE49-F238E27FC236}">
                  <a16:creationId xmlns:a16="http://schemas.microsoft.com/office/drawing/2014/main" id="{11A14482-834F-49C4-B190-AA4F318F162F}"/>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0</a:t>
              </a:r>
              <a:r>
                <a:rPr lang="en-US" altLang="zh-CN" sz="900" dirty="0"/>
                <a:t>B</a:t>
              </a:r>
              <a:r>
                <a:rPr lang="en-US" altLang="zh-CN" sz="900" baseline="-25000" dirty="0"/>
                <a:t>3</a:t>
              </a:r>
              <a:endParaRPr lang="zh-CN" altLang="en-US" sz="900" baseline="-25000" dirty="0"/>
            </a:p>
          </p:txBody>
        </p:sp>
        <p:sp>
          <p:nvSpPr>
            <p:cNvPr id="315" name="椭圆 314">
              <a:extLst>
                <a:ext uri="{FF2B5EF4-FFF2-40B4-BE49-F238E27FC236}">
                  <a16:creationId xmlns:a16="http://schemas.microsoft.com/office/drawing/2014/main" id="{9C9AA2F7-4ACB-4349-8A10-DB2B9F950FF1}"/>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6" name="组合 315">
            <a:extLst>
              <a:ext uri="{FF2B5EF4-FFF2-40B4-BE49-F238E27FC236}">
                <a16:creationId xmlns:a16="http://schemas.microsoft.com/office/drawing/2014/main" id="{27E13BB8-581A-4B94-9782-023241824AC6}"/>
              </a:ext>
            </a:extLst>
          </p:cNvPr>
          <p:cNvGrpSpPr/>
          <p:nvPr/>
        </p:nvGrpSpPr>
        <p:grpSpPr>
          <a:xfrm>
            <a:off x="4519818" y="5491857"/>
            <a:ext cx="565924" cy="740518"/>
            <a:chOff x="7524330" y="2204864"/>
            <a:chExt cx="565924" cy="740518"/>
          </a:xfrm>
        </p:grpSpPr>
        <p:sp>
          <p:nvSpPr>
            <p:cNvPr id="317" name="矩形 316">
              <a:extLst>
                <a:ext uri="{FF2B5EF4-FFF2-40B4-BE49-F238E27FC236}">
                  <a16:creationId xmlns:a16="http://schemas.microsoft.com/office/drawing/2014/main" id="{B9B15E83-E6FA-49C7-AA9A-88AAC977E949}"/>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8" name="直接连接符 317">
              <a:extLst>
                <a:ext uri="{FF2B5EF4-FFF2-40B4-BE49-F238E27FC236}">
                  <a16:creationId xmlns:a16="http://schemas.microsoft.com/office/drawing/2014/main" id="{FD4EDFCE-7395-487A-A036-DA8ED7D0C039}"/>
                </a:ext>
              </a:extLst>
            </p:cNvPr>
            <p:cNvCxnSpPr>
              <a:cxnSpLocks/>
            </p:cNvCxnSpPr>
            <p:nvPr/>
          </p:nvCxnSpPr>
          <p:spPr>
            <a:xfrm>
              <a:off x="7596336" y="2204864"/>
              <a:ext cx="0" cy="3014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直接连接符 318">
              <a:extLst>
                <a:ext uri="{FF2B5EF4-FFF2-40B4-BE49-F238E27FC236}">
                  <a16:creationId xmlns:a16="http://schemas.microsoft.com/office/drawing/2014/main" id="{1D3BBEBE-53C7-4608-B75D-BD3AAB9273A5}"/>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直接连接符 319">
              <a:extLst>
                <a:ext uri="{FF2B5EF4-FFF2-40B4-BE49-F238E27FC236}">
                  <a16:creationId xmlns:a16="http://schemas.microsoft.com/office/drawing/2014/main" id="{94D9915B-7F5F-4F11-AF99-457251938812}"/>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1" name="文本框 320">
              <a:extLst>
                <a:ext uri="{FF2B5EF4-FFF2-40B4-BE49-F238E27FC236}">
                  <a16:creationId xmlns:a16="http://schemas.microsoft.com/office/drawing/2014/main" id="{4AB9847F-D1C5-46A2-B938-16F5A79EFB34}"/>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1</a:t>
              </a:r>
              <a:r>
                <a:rPr lang="en-US" altLang="zh-CN" sz="900" dirty="0"/>
                <a:t>B</a:t>
              </a:r>
              <a:r>
                <a:rPr lang="en-US" altLang="zh-CN" sz="900" baseline="-25000" dirty="0"/>
                <a:t>3</a:t>
              </a:r>
              <a:endParaRPr lang="zh-CN" altLang="en-US" sz="900" baseline="-25000" dirty="0"/>
            </a:p>
          </p:txBody>
        </p:sp>
        <p:sp>
          <p:nvSpPr>
            <p:cNvPr id="322" name="椭圆 321">
              <a:extLst>
                <a:ext uri="{FF2B5EF4-FFF2-40B4-BE49-F238E27FC236}">
                  <a16:creationId xmlns:a16="http://schemas.microsoft.com/office/drawing/2014/main" id="{E59E7746-928A-472A-AAC4-FFECFC7C5BFE}"/>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3" name="组合 322">
            <a:extLst>
              <a:ext uri="{FF2B5EF4-FFF2-40B4-BE49-F238E27FC236}">
                <a16:creationId xmlns:a16="http://schemas.microsoft.com/office/drawing/2014/main" id="{1526F331-6CB8-46E2-9585-7E74178A33B7}"/>
              </a:ext>
            </a:extLst>
          </p:cNvPr>
          <p:cNvGrpSpPr/>
          <p:nvPr/>
        </p:nvGrpSpPr>
        <p:grpSpPr>
          <a:xfrm>
            <a:off x="3881431" y="5563865"/>
            <a:ext cx="565924" cy="663768"/>
            <a:chOff x="7524330" y="2281614"/>
            <a:chExt cx="565924" cy="663768"/>
          </a:xfrm>
        </p:grpSpPr>
        <p:sp>
          <p:nvSpPr>
            <p:cNvPr id="324" name="矩形 323">
              <a:extLst>
                <a:ext uri="{FF2B5EF4-FFF2-40B4-BE49-F238E27FC236}">
                  <a16:creationId xmlns:a16="http://schemas.microsoft.com/office/drawing/2014/main" id="{08C06B09-A04F-4A13-A81E-C48EB1D7C087}"/>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5" name="直接连接符 324">
              <a:extLst>
                <a:ext uri="{FF2B5EF4-FFF2-40B4-BE49-F238E27FC236}">
                  <a16:creationId xmlns:a16="http://schemas.microsoft.com/office/drawing/2014/main" id="{95291A4F-443C-4521-ABB7-C97C69ADEDE3}"/>
                </a:ext>
              </a:extLst>
            </p:cNvPr>
            <p:cNvCxnSpPr>
              <a:cxnSpLocks/>
            </p:cNvCxnSpPr>
            <p:nvPr/>
          </p:nvCxnSpPr>
          <p:spPr>
            <a:xfrm>
              <a:off x="7596336" y="2281614"/>
              <a:ext cx="0" cy="2246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直接连接符 325">
              <a:extLst>
                <a:ext uri="{FF2B5EF4-FFF2-40B4-BE49-F238E27FC236}">
                  <a16:creationId xmlns:a16="http://schemas.microsoft.com/office/drawing/2014/main" id="{B8E5A872-7D95-48FC-A565-79A193FEACF1}"/>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7" name="直接连接符 326">
              <a:extLst>
                <a:ext uri="{FF2B5EF4-FFF2-40B4-BE49-F238E27FC236}">
                  <a16:creationId xmlns:a16="http://schemas.microsoft.com/office/drawing/2014/main" id="{51C6CE17-D884-456D-AF1A-91E8C871ADD0}"/>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8" name="文本框 327">
              <a:extLst>
                <a:ext uri="{FF2B5EF4-FFF2-40B4-BE49-F238E27FC236}">
                  <a16:creationId xmlns:a16="http://schemas.microsoft.com/office/drawing/2014/main" id="{23A0467E-D185-472A-940E-4F608E679F21}"/>
                </a:ext>
              </a:extLst>
            </p:cNvPr>
            <p:cNvSpPr txBox="1"/>
            <p:nvPr/>
          </p:nvSpPr>
          <p:spPr>
            <a:xfrm>
              <a:off x="7668344" y="2714550"/>
              <a:ext cx="421910" cy="230832"/>
            </a:xfrm>
            <a:prstGeom prst="rect">
              <a:avLst/>
            </a:prstGeom>
            <a:noFill/>
          </p:spPr>
          <p:txBody>
            <a:bodyPr wrap="none" rtlCol="0">
              <a:spAutoFit/>
            </a:bodyPr>
            <a:lstStyle/>
            <a:p>
              <a:r>
                <a:rPr lang="en-US" altLang="zh-CN" sz="900" dirty="0"/>
                <a:t>A</a:t>
              </a:r>
              <a:r>
                <a:rPr lang="en-US" altLang="zh-CN" sz="900" baseline="-25000" dirty="0"/>
                <a:t>2</a:t>
              </a:r>
              <a:r>
                <a:rPr lang="en-US" altLang="zh-CN" sz="900" dirty="0"/>
                <a:t>B</a:t>
              </a:r>
              <a:r>
                <a:rPr lang="en-US" altLang="zh-CN" sz="900" baseline="-25000" dirty="0"/>
                <a:t>3</a:t>
              </a:r>
              <a:endParaRPr lang="zh-CN" altLang="en-US" sz="900" baseline="-25000" dirty="0"/>
            </a:p>
          </p:txBody>
        </p:sp>
        <p:sp>
          <p:nvSpPr>
            <p:cNvPr id="329" name="椭圆 328">
              <a:extLst>
                <a:ext uri="{FF2B5EF4-FFF2-40B4-BE49-F238E27FC236}">
                  <a16:creationId xmlns:a16="http://schemas.microsoft.com/office/drawing/2014/main" id="{118E8123-BDC0-4D3A-8B66-3D74843F5434}"/>
                </a:ext>
              </a:extLst>
            </p:cNvPr>
            <p:cNvSpPr/>
            <p:nvPr/>
          </p:nvSpPr>
          <p:spPr>
            <a:xfrm>
              <a:off x="7740352" y="2331650"/>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0" name="组合 329">
            <a:extLst>
              <a:ext uri="{FF2B5EF4-FFF2-40B4-BE49-F238E27FC236}">
                <a16:creationId xmlns:a16="http://schemas.microsoft.com/office/drawing/2014/main" id="{BFDDB720-D843-44ED-ACAD-5A8004A32C79}"/>
              </a:ext>
            </a:extLst>
          </p:cNvPr>
          <p:cNvGrpSpPr/>
          <p:nvPr/>
        </p:nvGrpSpPr>
        <p:grpSpPr>
          <a:xfrm>
            <a:off x="3243044" y="5635873"/>
            <a:ext cx="538674" cy="576372"/>
            <a:chOff x="7524330" y="2353622"/>
            <a:chExt cx="538674" cy="576372"/>
          </a:xfrm>
        </p:grpSpPr>
        <p:sp>
          <p:nvSpPr>
            <p:cNvPr id="331" name="矩形 330">
              <a:extLst>
                <a:ext uri="{FF2B5EF4-FFF2-40B4-BE49-F238E27FC236}">
                  <a16:creationId xmlns:a16="http://schemas.microsoft.com/office/drawing/2014/main" id="{B795EB01-F587-4DAF-A7F5-C070BC4CC990}"/>
                </a:ext>
              </a:extLst>
            </p:cNvPr>
            <p:cNvSpPr/>
            <p:nvPr/>
          </p:nvSpPr>
          <p:spPr>
            <a:xfrm>
              <a:off x="7524330" y="2499063"/>
              <a:ext cx="323676" cy="2340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2" name="直接连接符 331">
              <a:extLst>
                <a:ext uri="{FF2B5EF4-FFF2-40B4-BE49-F238E27FC236}">
                  <a16:creationId xmlns:a16="http://schemas.microsoft.com/office/drawing/2014/main" id="{47245945-3C48-4D07-B274-A6005D4FD06C}"/>
                </a:ext>
              </a:extLst>
            </p:cNvPr>
            <p:cNvCxnSpPr>
              <a:cxnSpLocks/>
            </p:cNvCxnSpPr>
            <p:nvPr/>
          </p:nvCxnSpPr>
          <p:spPr>
            <a:xfrm>
              <a:off x="7596336" y="2353622"/>
              <a:ext cx="0" cy="1526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直接连接符 332">
              <a:extLst>
                <a:ext uri="{FF2B5EF4-FFF2-40B4-BE49-F238E27FC236}">
                  <a16:creationId xmlns:a16="http://schemas.microsoft.com/office/drawing/2014/main" id="{D9215EC8-9924-4480-8C7A-F753D65DE366}"/>
                </a:ext>
              </a:extLst>
            </p:cNvPr>
            <p:cNvCxnSpPr>
              <a:cxnSpLocks/>
            </p:cNvCxnSpPr>
            <p:nvPr/>
          </p:nvCxnSpPr>
          <p:spPr>
            <a:xfrm>
              <a:off x="7764526" y="2354510"/>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4" name="直接连接符 333">
              <a:extLst>
                <a:ext uri="{FF2B5EF4-FFF2-40B4-BE49-F238E27FC236}">
                  <a16:creationId xmlns:a16="http://schemas.microsoft.com/office/drawing/2014/main" id="{FC4B5768-D8C9-4CC3-B773-47F25713F675}"/>
                </a:ext>
              </a:extLst>
            </p:cNvPr>
            <p:cNvCxnSpPr>
              <a:cxnSpLocks/>
            </p:cNvCxnSpPr>
            <p:nvPr/>
          </p:nvCxnSpPr>
          <p:spPr>
            <a:xfrm>
              <a:off x="7686168" y="2728663"/>
              <a:ext cx="0" cy="1445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5" name="文本框 334">
              <a:extLst>
                <a:ext uri="{FF2B5EF4-FFF2-40B4-BE49-F238E27FC236}">
                  <a16:creationId xmlns:a16="http://schemas.microsoft.com/office/drawing/2014/main" id="{DE1248E0-6731-474D-9B75-03A0F12A1F50}"/>
                </a:ext>
              </a:extLst>
            </p:cNvPr>
            <p:cNvSpPr txBox="1"/>
            <p:nvPr/>
          </p:nvSpPr>
          <p:spPr>
            <a:xfrm>
              <a:off x="7668344" y="2714550"/>
              <a:ext cx="394660" cy="215444"/>
            </a:xfrm>
            <a:prstGeom prst="rect">
              <a:avLst/>
            </a:prstGeom>
            <a:noFill/>
          </p:spPr>
          <p:txBody>
            <a:bodyPr wrap="none" rtlCol="0">
              <a:spAutoFit/>
            </a:bodyPr>
            <a:lstStyle/>
            <a:p>
              <a:r>
                <a:rPr lang="en-US" altLang="zh-CN" sz="800" dirty="0"/>
                <a:t>A</a:t>
              </a:r>
              <a:r>
                <a:rPr lang="en-US" altLang="zh-CN" sz="800" baseline="-25000" dirty="0"/>
                <a:t>3</a:t>
              </a:r>
              <a:r>
                <a:rPr lang="en-US" altLang="zh-CN" sz="800" dirty="0"/>
                <a:t>B</a:t>
              </a:r>
              <a:r>
                <a:rPr lang="en-US" altLang="zh-CN" sz="800" baseline="-25000" dirty="0"/>
                <a:t>3</a:t>
              </a:r>
              <a:endParaRPr lang="zh-CN" altLang="en-US" sz="800" baseline="-25000" dirty="0"/>
            </a:p>
          </p:txBody>
        </p:sp>
      </p:grpSp>
      <p:cxnSp>
        <p:nvCxnSpPr>
          <p:cNvPr id="340" name="直接连接符 339">
            <a:extLst>
              <a:ext uri="{FF2B5EF4-FFF2-40B4-BE49-F238E27FC236}">
                <a16:creationId xmlns:a16="http://schemas.microsoft.com/office/drawing/2014/main" id="{E9A8ED0E-4F4C-4CA4-AE61-084B7BD2047A}"/>
              </a:ext>
            </a:extLst>
          </p:cNvPr>
          <p:cNvCxnSpPr>
            <a:cxnSpLocks/>
          </p:cNvCxnSpPr>
          <p:nvPr/>
        </p:nvCxnSpPr>
        <p:spPr>
          <a:xfrm>
            <a:off x="7047782" y="2868664"/>
            <a:ext cx="0" cy="890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2" name="直接连接符 341">
            <a:extLst>
              <a:ext uri="{FF2B5EF4-FFF2-40B4-BE49-F238E27FC236}">
                <a16:creationId xmlns:a16="http://schemas.microsoft.com/office/drawing/2014/main" id="{D71F17CD-7CE8-4F8F-B5BF-C0798690A64E}"/>
              </a:ext>
            </a:extLst>
          </p:cNvPr>
          <p:cNvCxnSpPr>
            <a:cxnSpLocks/>
          </p:cNvCxnSpPr>
          <p:nvPr/>
        </p:nvCxnSpPr>
        <p:spPr>
          <a:xfrm>
            <a:off x="6408238" y="2872112"/>
            <a:ext cx="0" cy="890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5" name="直接连接符 344">
            <a:extLst>
              <a:ext uri="{FF2B5EF4-FFF2-40B4-BE49-F238E27FC236}">
                <a16:creationId xmlns:a16="http://schemas.microsoft.com/office/drawing/2014/main" id="{13B46104-B4B5-4B54-825C-007FBB4B2809}"/>
              </a:ext>
            </a:extLst>
          </p:cNvPr>
          <p:cNvCxnSpPr>
            <a:cxnSpLocks/>
          </p:cNvCxnSpPr>
          <p:nvPr/>
        </p:nvCxnSpPr>
        <p:spPr>
          <a:xfrm>
            <a:off x="5768695" y="2868664"/>
            <a:ext cx="0" cy="890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直接连接符 347">
            <a:extLst>
              <a:ext uri="{FF2B5EF4-FFF2-40B4-BE49-F238E27FC236}">
                <a16:creationId xmlns:a16="http://schemas.microsoft.com/office/drawing/2014/main" id="{477086C1-7D43-4E2A-AD3D-F46AF645609F}"/>
              </a:ext>
            </a:extLst>
          </p:cNvPr>
          <p:cNvCxnSpPr>
            <a:cxnSpLocks/>
          </p:cNvCxnSpPr>
          <p:nvPr/>
        </p:nvCxnSpPr>
        <p:spPr>
          <a:xfrm>
            <a:off x="5132641" y="2864159"/>
            <a:ext cx="0" cy="8902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B437C2C6-37A2-497C-BD9A-E2BDAF6F259B}"/>
              </a:ext>
            </a:extLst>
          </p:cNvPr>
          <p:cNvSpPr txBox="1"/>
          <p:nvPr/>
        </p:nvSpPr>
        <p:spPr>
          <a:xfrm>
            <a:off x="4992464" y="2572770"/>
            <a:ext cx="274434" cy="307777"/>
          </a:xfrm>
          <a:prstGeom prst="rect">
            <a:avLst/>
          </a:prstGeom>
          <a:noFill/>
        </p:spPr>
        <p:txBody>
          <a:bodyPr wrap="none" rtlCol="0">
            <a:spAutoFit/>
          </a:bodyPr>
          <a:lstStyle/>
          <a:p>
            <a:r>
              <a:rPr lang="en-US" altLang="zh-CN" sz="1400" dirty="0"/>
              <a:t>0</a:t>
            </a:r>
            <a:endParaRPr lang="zh-CN" altLang="en-US" sz="1400" dirty="0"/>
          </a:p>
        </p:txBody>
      </p:sp>
      <p:cxnSp>
        <p:nvCxnSpPr>
          <p:cNvPr id="350" name="直接连接符 349">
            <a:extLst>
              <a:ext uri="{FF2B5EF4-FFF2-40B4-BE49-F238E27FC236}">
                <a16:creationId xmlns:a16="http://schemas.microsoft.com/office/drawing/2014/main" id="{D9E8AC1A-EA6E-435B-A36F-7FF9B064E743}"/>
              </a:ext>
            </a:extLst>
          </p:cNvPr>
          <p:cNvCxnSpPr>
            <a:cxnSpLocks/>
          </p:cNvCxnSpPr>
          <p:nvPr/>
        </p:nvCxnSpPr>
        <p:spPr>
          <a:xfrm>
            <a:off x="7686168" y="2863785"/>
            <a:ext cx="29200" cy="36615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0894" name="组合 250893">
            <a:extLst>
              <a:ext uri="{FF2B5EF4-FFF2-40B4-BE49-F238E27FC236}">
                <a16:creationId xmlns:a16="http://schemas.microsoft.com/office/drawing/2014/main" id="{A3AB4274-4DEA-488E-94D6-29CD91BB9BE3}"/>
              </a:ext>
            </a:extLst>
          </p:cNvPr>
          <p:cNvGrpSpPr/>
          <p:nvPr/>
        </p:nvGrpSpPr>
        <p:grpSpPr>
          <a:xfrm>
            <a:off x="4355976" y="3683066"/>
            <a:ext cx="2841124" cy="469673"/>
            <a:chOff x="4355976" y="3683066"/>
            <a:chExt cx="2841124" cy="469673"/>
          </a:xfrm>
        </p:grpSpPr>
        <p:grpSp>
          <p:nvGrpSpPr>
            <p:cNvPr id="250892" name="组合 250891">
              <a:extLst>
                <a:ext uri="{FF2B5EF4-FFF2-40B4-BE49-F238E27FC236}">
                  <a16:creationId xmlns:a16="http://schemas.microsoft.com/office/drawing/2014/main" id="{1FF0C3FC-AC05-4C71-818C-2A90CC8D52B6}"/>
                </a:ext>
              </a:extLst>
            </p:cNvPr>
            <p:cNvGrpSpPr/>
            <p:nvPr/>
          </p:nvGrpSpPr>
          <p:grpSpPr>
            <a:xfrm>
              <a:off x="4355976" y="3760041"/>
              <a:ext cx="2744795" cy="392698"/>
              <a:chOff x="4355976" y="3760041"/>
              <a:chExt cx="2744795" cy="392698"/>
            </a:xfrm>
          </p:grpSpPr>
          <p:sp>
            <p:nvSpPr>
              <p:cNvPr id="48" name="矩形 47">
                <a:extLst>
                  <a:ext uri="{FF2B5EF4-FFF2-40B4-BE49-F238E27FC236}">
                    <a16:creationId xmlns:a16="http://schemas.microsoft.com/office/drawing/2014/main" id="{994AC7AA-F2F1-4F9C-B3CA-8E5CE76330DE}"/>
                  </a:ext>
                </a:extLst>
              </p:cNvPr>
              <p:cNvSpPr/>
              <p:nvPr/>
            </p:nvSpPr>
            <p:spPr>
              <a:xfrm>
                <a:off x="6756281"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58" name="直接连接符 57">
                <a:extLst>
                  <a:ext uri="{FF2B5EF4-FFF2-40B4-BE49-F238E27FC236}">
                    <a16:creationId xmlns:a16="http://schemas.microsoft.com/office/drawing/2014/main" id="{A628A366-379B-489B-9676-89B7C86542AE}"/>
                  </a:ext>
                </a:extLst>
              </p:cNvPr>
              <p:cNvCxnSpPr>
                <a:stCxn id="48" idx="2"/>
              </p:cNvCxnSpPr>
              <p:nvPr/>
            </p:nvCxnSpPr>
            <p:spPr>
              <a:xfrm>
                <a:off x="6928526"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1" name="矩形 340">
                <a:extLst>
                  <a:ext uri="{FF2B5EF4-FFF2-40B4-BE49-F238E27FC236}">
                    <a16:creationId xmlns:a16="http://schemas.microsoft.com/office/drawing/2014/main" id="{2768CA13-8F36-4802-8998-279D0CDF0CDC}"/>
                  </a:ext>
                </a:extLst>
              </p:cNvPr>
              <p:cNvSpPr/>
              <p:nvPr/>
            </p:nvSpPr>
            <p:spPr>
              <a:xfrm>
                <a:off x="6116737"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343" name="直接连接符 342">
                <a:extLst>
                  <a:ext uri="{FF2B5EF4-FFF2-40B4-BE49-F238E27FC236}">
                    <a16:creationId xmlns:a16="http://schemas.microsoft.com/office/drawing/2014/main" id="{9C24D8F4-F7A7-434F-91C6-5CACD80B04B1}"/>
                  </a:ext>
                </a:extLst>
              </p:cNvPr>
              <p:cNvCxnSpPr>
                <a:stCxn id="341" idx="2"/>
              </p:cNvCxnSpPr>
              <p:nvPr/>
            </p:nvCxnSpPr>
            <p:spPr>
              <a:xfrm>
                <a:off x="6288982" y="3979047"/>
                <a:ext cx="0" cy="173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直接连接符 345">
                <a:extLst>
                  <a:ext uri="{FF2B5EF4-FFF2-40B4-BE49-F238E27FC236}">
                    <a16:creationId xmlns:a16="http://schemas.microsoft.com/office/drawing/2014/main" id="{4A10DB61-8A0A-4808-9F75-DB59B09FFEBC}"/>
                  </a:ext>
                </a:extLst>
              </p:cNvPr>
              <p:cNvCxnSpPr>
                <a:stCxn id="344" idx="2"/>
              </p:cNvCxnSpPr>
              <p:nvPr/>
            </p:nvCxnSpPr>
            <p:spPr>
              <a:xfrm>
                <a:off x="5649439"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7" name="矩形 346">
                <a:extLst>
                  <a:ext uri="{FF2B5EF4-FFF2-40B4-BE49-F238E27FC236}">
                    <a16:creationId xmlns:a16="http://schemas.microsoft.com/office/drawing/2014/main" id="{F9BEF0C6-C7AA-4630-A551-A92DD121ED21}"/>
                  </a:ext>
                </a:extLst>
              </p:cNvPr>
              <p:cNvSpPr/>
              <p:nvPr/>
            </p:nvSpPr>
            <p:spPr>
              <a:xfrm>
                <a:off x="4841140"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349" name="直接连接符 348">
                <a:extLst>
                  <a:ext uri="{FF2B5EF4-FFF2-40B4-BE49-F238E27FC236}">
                    <a16:creationId xmlns:a16="http://schemas.microsoft.com/office/drawing/2014/main" id="{5E8868B4-8403-4020-9EF0-C47A96985567}"/>
                  </a:ext>
                </a:extLst>
              </p:cNvPr>
              <p:cNvCxnSpPr>
                <a:stCxn id="347" idx="2"/>
              </p:cNvCxnSpPr>
              <p:nvPr/>
            </p:nvCxnSpPr>
            <p:spPr>
              <a:xfrm>
                <a:off x="5013385" y="3979047"/>
                <a:ext cx="0" cy="1657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4" name="直接连接符 353">
                <a:extLst>
                  <a:ext uri="{FF2B5EF4-FFF2-40B4-BE49-F238E27FC236}">
                    <a16:creationId xmlns:a16="http://schemas.microsoft.com/office/drawing/2014/main" id="{D947A80F-F63F-4754-8ED2-8DC76DF1437F}"/>
                  </a:ext>
                </a:extLst>
              </p:cNvPr>
              <p:cNvCxnSpPr>
                <a:cxnSpLocks/>
                <a:stCxn id="347" idx="1"/>
              </p:cNvCxnSpPr>
              <p:nvPr/>
            </p:nvCxnSpPr>
            <p:spPr>
              <a:xfrm flipH="1" flipV="1">
                <a:off x="4355976" y="3867468"/>
                <a:ext cx="485164" cy="20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4" name="矩形 343">
              <a:extLst>
                <a:ext uri="{FF2B5EF4-FFF2-40B4-BE49-F238E27FC236}">
                  <a16:creationId xmlns:a16="http://schemas.microsoft.com/office/drawing/2014/main" id="{81E846A8-BCDC-42D4-91F7-0BE0373643C1}"/>
                </a:ext>
              </a:extLst>
            </p:cNvPr>
            <p:cNvSpPr/>
            <p:nvPr/>
          </p:nvSpPr>
          <p:spPr>
            <a:xfrm>
              <a:off x="5477194"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sp>
          <p:nvSpPr>
            <p:cNvPr id="250891" name="矩形 250890">
              <a:extLst>
                <a:ext uri="{FF2B5EF4-FFF2-40B4-BE49-F238E27FC236}">
                  <a16:creationId xmlns:a16="http://schemas.microsoft.com/office/drawing/2014/main" id="{8C8A07DE-ABC0-437B-8655-6B3F2ED61736}"/>
                </a:ext>
              </a:extLst>
            </p:cNvPr>
            <p:cNvSpPr/>
            <p:nvPr/>
          </p:nvSpPr>
          <p:spPr>
            <a:xfrm>
              <a:off x="4684823" y="3683066"/>
              <a:ext cx="2512277" cy="359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0" name="组合 369">
            <a:extLst>
              <a:ext uri="{FF2B5EF4-FFF2-40B4-BE49-F238E27FC236}">
                <a16:creationId xmlns:a16="http://schemas.microsoft.com/office/drawing/2014/main" id="{A52F64E9-92BD-4ACE-B566-F174377F066B}"/>
              </a:ext>
            </a:extLst>
          </p:cNvPr>
          <p:cNvGrpSpPr/>
          <p:nvPr/>
        </p:nvGrpSpPr>
        <p:grpSpPr>
          <a:xfrm>
            <a:off x="3635896" y="4868255"/>
            <a:ext cx="2804400" cy="469673"/>
            <a:chOff x="4392700" y="3683066"/>
            <a:chExt cx="2804400" cy="469673"/>
          </a:xfrm>
        </p:grpSpPr>
        <p:grpSp>
          <p:nvGrpSpPr>
            <p:cNvPr id="371" name="组合 370">
              <a:extLst>
                <a:ext uri="{FF2B5EF4-FFF2-40B4-BE49-F238E27FC236}">
                  <a16:creationId xmlns:a16="http://schemas.microsoft.com/office/drawing/2014/main" id="{4AD2B21D-5FD9-4303-8303-A841C33D012F}"/>
                </a:ext>
              </a:extLst>
            </p:cNvPr>
            <p:cNvGrpSpPr/>
            <p:nvPr/>
          </p:nvGrpSpPr>
          <p:grpSpPr>
            <a:xfrm>
              <a:off x="4392700" y="3760041"/>
              <a:ext cx="2708071" cy="392698"/>
              <a:chOff x="4392700" y="3760041"/>
              <a:chExt cx="2708071" cy="392698"/>
            </a:xfrm>
          </p:grpSpPr>
          <p:sp>
            <p:nvSpPr>
              <p:cNvPr id="374" name="矩形 373">
                <a:extLst>
                  <a:ext uri="{FF2B5EF4-FFF2-40B4-BE49-F238E27FC236}">
                    <a16:creationId xmlns:a16="http://schemas.microsoft.com/office/drawing/2014/main" id="{EAAA0249-F82E-4251-AC49-3FA6E6C068F9}"/>
                  </a:ext>
                </a:extLst>
              </p:cNvPr>
              <p:cNvSpPr/>
              <p:nvPr/>
            </p:nvSpPr>
            <p:spPr>
              <a:xfrm>
                <a:off x="6756281"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375" name="直接连接符 374">
                <a:extLst>
                  <a:ext uri="{FF2B5EF4-FFF2-40B4-BE49-F238E27FC236}">
                    <a16:creationId xmlns:a16="http://schemas.microsoft.com/office/drawing/2014/main" id="{E818B02D-6FD8-49A5-B7B8-1FBDD4018942}"/>
                  </a:ext>
                </a:extLst>
              </p:cNvPr>
              <p:cNvCxnSpPr>
                <a:stCxn id="374" idx="2"/>
              </p:cNvCxnSpPr>
              <p:nvPr/>
            </p:nvCxnSpPr>
            <p:spPr>
              <a:xfrm>
                <a:off x="6928526"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6" name="矩形 375">
                <a:extLst>
                  <a:ext uri="{FF2B5EF4-FFF2-40B4-BE49-F238E27FC236}">
                    <a16:creationId xmlns:a16="http://schemas.microsoft.com/office/drawing/2014/main" id="{C0B54CFF-8E3C-4672-BBF9-0E699D2280AC}"/>
                  </a:ext>
                </a:extLst>
              </p:cNvPr>
              <p:cNvSpPr/>
              <p:nvPr/>
            </p:nvSpPr>
            <p:spPr>
              <a:xfrm>
                <a:off x="6116737"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377" name="直接连接符 376">
                <a:extLst>
                  <a:ext uri="{FF2B5EF4-FFF2-40B4-BE49-F238E27FC236}">
                    <a16:creationId xmlns:a16="http://schemas.microsoft.com/office/drawing/2014/main" id="{2BA8C392-DE74-44B6-B24C-62185328A0E7}"/>
                  </a:ext>
                </a:extLst>
              </p:cNvPr>
              <p:cNvCxnSpPr>
                <a:stCxn id="376" idx="2"/>
              </p:cNvCxnSpPr>
              <p:nvPr/>
            </p:nvCxnSpPr>
            <p:spPr>
              <a:xfrm>
                <a:off x="6288982" y="3979047"/>
                <a:ext cx="0" cy="173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8" name="直接连接符 377">
                <a:extLst>
                  <a:ext uri="{FF2B5EF4-FFF2-40B4-BE49-F238E27FC236}">
                    <a16:creationId xmlns:a16="http://schemas.microsoft.com/office/drawing/2014/main" id="{29966992-2400-4CC4-9628-53BCEC465CEC}"/>
                  </a:ext>
                </a:extLst>
              </p:cNvPr>
              <p:cNvCxnSpPr>
                <a:stCxn id="372" idx="2"/>
              </p:cNvCxnSpPr>
              <p:nvPr/>
            </p:nvCxnSpPr>
            <p:spPr>
              <a:xfrm>
                <a:off x="5649439"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9" name="矩形 378">
                <a:extLst>
                  <a:ext uri="{FF2B5EF4-FFF2-40B4-BE49-F238E27FC236}">
                    <a16:creationId xmlns:a16="http://schemas.microsoft.com/office/drawing/2014/main" id="{5BBCBB62-2E6D-4A74-8BF2-F7C8DCB75D2C}"/>
                  </a:ext>
                </a:extLst>
              </p:cNvPr>
              <p:cNvSpPr/>
              <p:nvPr/>
            </p:nvSpPr>
            <p:spPr>
              <a:xfrm>
                <a:off x="4841140"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380" name="直接连接符 379">
                <a:extLst>
                  <a:ext uri="{FF2B5EF4-FFF2-40B4-BE49-F238E27FC236}">
                    <a16:creationId xmlns:a16="http://schemas.microsoft.com/office/drawing/2014/main" id="{8606DA5E-1CF7-4632-AC59-C4BFBF2967A7}"/>
                  </a:ext>
                </a:extLst>
              </p:cNvPr>
              <p:cNvCxnSpPr>
                <a:stCxn id="379" idx="2"/>
              </p:cNvCxnSpPr>
              <p:nvPr/>
            </p:nvCxnSpPr>
            <p:spPr>
              <a:xfrm>
                <a:off x="5013385" y="3979047"/>
                <a:ext cx="0" cy="1657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4" name="直接连接符 383">
                <a:extLst>
                  <a:ext uri="{FF2B5EF4-FFF2-40B4-BE49-F238E27FC236}">
                    <a16:creationId xmlns:a16="http://schemas.microsoft.com/office/drawing/2014/main" id="{29FFD885-C822-42F2-BFB7-F97DF985D348}"/>
                  </a:ext>
                </a:extLst>
              </p:cNvPr>
              <p:cNvCxnSpPr>
                <a:cxnSpLocks/>
                <a:stCxn id="379" idx="1"/>
              </p:cNvCxnSpPr>
              <p:nvPr/>
            </p:nvCxnSpPr>
            <p:spPr>
              <a:xfrm flipH="1">
                <a:off x="4392700" y="3869544"/>
                <a:ext cx="4484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2" name="矩形 371">
              <a:extLst>
                <a:ext uri="{FF2B5EF4-FFF2-40B4-BE49-F238E27FC236}">
                  <a16:creationId xmlns:a16="http://schemas.microsoft.com/office/drawing/2014/main" id="{489AF754-4375-404B-8F45-5218EAF71328}"/>
                </a:ext>
              </a:extLst>
            </p:cNvPr>
            <p:cNvSpPr/>
            <p:nvPr/>
          </p:nvSpPr>
          <p:spPr>
            <a:xfrm>
              <a:off x="5477194"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sp>
          <p:nvSpPr>
            <p:cNvPr id="373" name="矩形 372">
              <a:extLst>
                <a:ext uri="{FF2B5EF4-FFF2-40B4-BE49-F238E27FC236}">
                  <a16:creationId xmlns:a16="http://schemas.microsoft.com/office/drawing/2014/main" id="{5FA2D5E7-71EA-48CF-BB13-DD2822B0C808}"/>
                </a:ext>
              </a:extLst>
            </p:cNvPr>
            <p:cNvSpPr/>
            <p:nvPr/>
          </p:nvSpPr>
          <p:spPr>
            <a:xfrm>
              <a:off x="4684823" y="3683066"/>
              <a:ext cx="2512277" cy="359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85" name="直接连接符 384">
            <a:extLst>
              <a:ext uri="{FF2B5EF4-FFF2-40B4-BE49-F238E27FC236}">
                <a16:creationId xmlns:a16="http://schemas.microsoft.com/office/drawing/2014/main" id="{A024EA32-801E-4831-B3BE-294278FCA1CB}"/>
              </a:ext>
            </a:extLst>
          </p:cNvPr>
          <p:cNvCxnSpPr>
            <a:cxnSpLocks/>
          </p:cNvCxnSpPr>
          <p:nvPr/>
        </p:nvCxnSpPr>
        <p:spPr>
          <a:xfrm>
            <a:off x="6288982" y="4152739"/>
            <a:ext cx="0" cy="7931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接连接符 385">
            <a:extLst>
              <a:ext uri="{FF2B5EF4-FFF2-40B4-BE49-F238E27FC236}">
                <a16:creationId xmlns:a16="http://schemas.microsoft.com/office/drawing/2014/main" id="{3B701E31-6048-4B6D-A456-882D6CBA1E93}"/>
              </a:ext>
            </a:extLst>
          </p:cNvPr>
          <p:cNvCxnSpPr>
            <a:cxnSpLocks/>
          </p:cNvCxnSpPr>
          <p:nvPr/>
        </p:nvCxnSpPr>
        <p:spPr>
          <a:xfrm>
            <a:off x="5648746" y="4149643"/>
            <a:ext cx="0" cy="7931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id="{797E7C01-8052-4D64-830B-CF03533984F8}"/>
              </a:ext>
            </a:extLst>
          </p:cNvPr>
          <p:cNvCxnSpPr>
            <a:cxnSpLocks/>
          </p:cNvCxnSpPr>
          <p:nvPr/>
        </p:nvCxnSpPr>
        <p:spPr>
          <a:xfrm>
            <a:off x="5013385" y="4139676"/>
            <a:ext cx="0" cy="7931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4" name="组合 393">
            <a:extLst>
              <a:ext uri="{FF2B5EF4-FFF2-40B4-BE49-F238E27FC236}">
                <a16:creationId xmlns:a16="http://schemas.microsoft.com/office/drawing/2014/main" id="{EFD9DD75-4730-4C6D-9A6F-785636195480}"/>
              </a:ext>
            </a:extLst>
          </p:cNvPr>
          <p:cNvGrpSpPr/>
          <p:nvPr/>
        </p:nvGrpSpPr>
        <p:grpSpPr>
          <a:xfrm>
            <a:off x="2798136" y="6091924"/>
            <a:ext cx="2896467" cy="469673"/>
            <a:chOff x="4300633" y="3683066"/>
            <a:chExt cx="2896467" cy="469673"/>
          </a:xfrm>
        </p:grpSpPr>
        <p:grpSp>
          <p:nvGrpSpPr>
            <p:cNvPr id="395" name="组合 394">
              <a:extLst>
                <a:ext uri="{FF2B5EF4-FFF2-40B4-BE49-F238E27FC236}">
                  <a16:creationId xmlns:a16="http://schemas.microsoft.com/office/drawing/2014/main" id="{F8581131-70E8-4F08-94FE-92571ABCC9AE}"/>
                </a:ext>
              </a:extLst>
            </p:cNvPr>
            <p:cNvGrpSpPr/>
            <p:nvPr/>
          </p:nvGrpSpPr>
          <p:grpSpPr>
            <a:xfrm>
              <a:off x="4300633" y="3760041"/>
              <a:ext cx="2800138" cy="392698"/>
              <a:chOff x="4300633" y="3760041"/>
              <a:chExt cx="2800138" cy="392698"/>
            </a:xfrm>
          </p:grpSpPr>
          <p:sp>
            <p:nvSpPr>
              <p:cNvPr id="398" name="矩形 397">
                <a:extLst>
                  <a:ext uri="{FF2B5EF4-FFF2-40B4-BE49-F238E27FC236}">
                    <a16:creationId xmlns:a16="http://schemas.microsoft.com/office/drawing/2014/main" id="{A80B5FDC-4A1C-40DD-A1AA-96CAC438C15A}"/>
                  </a:ext>
                </a:extLst>
              </p:cNvPr>
              <p:cNvSpPr/>
              <p:nvPr/>
            </p:nvSpPr>
            <p:spPr>
              <a:xfrm>
                <a:off x="6756281"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399" name="直接连接符 398">
                <a:extLst>
                  <a:ext uri="{FF2B5EF4-FFF2-40B4-BE49-F238E27FC236}">
                    <a16:creationId xmlns:a16="http://schemas.microsoft.com/office/drawing/2014/main" id="{25E277FA-7FC1-44FA-8EF0-26A522BCF8DD}"/>
                  </a:ext>
                </a:extLst>
              </p:cNvPr>
              <p:cNvCxnSpPr>
                <a:stCxn id="398" idx="2"/>
              </p:cNvCxnSpPr>
              <p:nvPr/>
            </p:nvCxnSpPr>
            <p:spPr>
              <a:xfrm>
                <a:off x="6928526"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0" name="矩形 399">
                <a:extLst>
                  <a:ext uri="{FF2B5EF4-FFF2-40B4-BE49-F238E27FC236}">
                    <a16:creationId xmlns:a16="http://schemas.microsoft.com/office/drawing/2014/main" id="{B913ED48-9728-4F19-B071-3D299309D096}"/>
                  </a:ext>
                </a:extLst>
              </p:cNvPr>
              <p:cNvSpPr/>
              <p:nvPr/>
            </p:nvSpPr>
            <p:spPr>
              <a:xfrm>
                <a:off x="6116737"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401" name="直接连接符 400">
                <a:extLst>
                  <a:ext uri="{FF2B5EF4-FFF2-40B4-BE49-F238E27FC236}">
                    <a16:creationId xmlns:a16="http://schemas.microsoft.com/office/drawing/2014/main" id="{F4EAB509-9D02-455E-B3BE-1EF7D5B82DDC}"/>
                  </a:ext>
                </a:extLst>
              </p:cNvPr>
              <p:cNvCxnSpPr>
                <a:stCxn id="400" idx="2"/>
              </p:cNvCxnSpPr>
              <p:nvPr/>
            </p:nvCxnSpPr>
            <p:spPr>
              <a:xfrm>
                <a:off x="6288982" y="3979047"/>
                <a:ext cx="0" cy="173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直接连接符 401">
                <a:extLst>
                  <a:ext uri="{FF2B5EF4-FFF2-40B4-BE49-F238E27FC236}">
                    <a16:creationId xmlns:a16="http://schemas.microsoft.com/office/drawing/2014/main" id="{ADD87B95-9BA4-46E6-AEF8-EEE6D0AF0082}"/>
                  </a:ext>
                </a:extLst>
              </p:cNvPr>
              <p:cNvCxnSpPr>
                <a:stCxn id="396" idx="2"/>
              </p:cNvCxnSpPr>
              <p:nvPr/>
            </p:nvCxnSpPr>
            <p:spPr>
              <a:xfrm>
                <a:off x="5649439" y="3979047"/>
                <a:ext cx="0" cy="1702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3" name="矩形 402">
                <a:extLst>
                  <a:ext uri="{FF2B5EF4-FFF2-40B4-BE49-F238E27FC236}">
                    <a16:creationId xmlns:a16="http://schemas.microsoft.com/office/drawing/2014/main" id="{9E4D4586-01D2-41A0-BA6A-1F2320D9ACAB}"/>
                  </a:ext>
                </a:extLst>
              </p:cNvPr>
              <p:cNvSpPr/>
              <p:nvPr/>
            </p:nvSpPr>
            <p:spPr>
              <a:xfrm>
                <a:off x="4841140"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cxnSp>
            <p:nvCxnSpPr>
              <p:cNvPr id="404" name="直接连接符 403">
                <a:extLst>
                  <a:ext uri="{FF2B5EF4-FFF2-40B4-BE49-F238E27FC236}">
                    <a16:creationId xmlns:a16="http://schemas.microsoft.com/office/drawing/2014/main" id="{772E0039-3E4E-49B3-8340-610592161B38}"/>
                  </a:ext>
                </a:extLst>
              </p:cNvPr>
              <p:cNvCxnSpPr>
                <a:stCxn id="403" idx="2"/>
              </p:cNvCxnSpPr>
              <p:nvPr/>
            </p:nvCxnSpPr>
            <p:spPr>
              <a:xfrm>
                <a:off x="5013385" y="3979047"/>
                <a:ext cx="0" cy="1657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8" name="直接连接符 407">
                <a:extLst>
                  <a:ext uri="{FF2B5EF4-FFF2-40B4-BE49-F238E27FC236}">
                    <a16:creationId xmlns:a16="http://schemas.microsoft.com/office/drawing/2014/main" id="{3668DD23-A0A5-4590-A205-DF193A402661}"/>
                  </a:ext>
                </a:extLst>
              </p:cNvPr>
              <p:cNvCxnSpPr>
                <a:cxnSpLocks/>
                <a:stCxn id="403" idx="1"/>
              </p:cNvCxnSpPr>
              <p:nvPr/>
            </p:nvCxnSpPr>
            <p:spPr>
              <a:xfrm flipH="1">
                <a:off x="4300633" y="3869544"/>
                <a:ext cx="540507" cy="19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6" name="矩形 395">
              <a:extLst>
                <a:ext uri="{FF2B5EF4-FFF2-40B4-BE49-F238E27FC236}">
                  <a16:creationId xmlns:a16="http://schemas.microsoft.com/office/drawing/2014/main" id="{F93AF8C6-7C91-48AE-BD5D-A0EDEF334CA2}"/>
                </a:ext>
              </a:extLst>
            </p:cNvPr>
            <p:cNvSpPr/>
            <p:nvPr/>
          </p:nvSpPr>
          <p:spPr>
            <a:xfrm>
              <a:off x="5477194" y="3760041"/>
              <a:ext cx="344490" cy="21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800" dirty="0">
                  <a:solidFill>
                    <a:schemeClr val="tx1"/>
                  </a:solidFill>
                </a:rPr>
                <a:t>ADD</a:t>
              </a:r>
              <a:endParaRPr lang="zh-CN" altLang="en-US" sz="2000" dirty="0">
                <a:solidFill>
                  <a:schemeClr val="tx1"/>
                </a:solidFill>
              </a:endParaRPr>
            </a:p>
          </p:txBody>
        </p:sp>
        <p:sp>
          <p:nvSpPr>
            <p:cNvPr id="397" name="矩形 396">
              <a:extLst>
                <a:ext uri="{FF2B5EF4-FFF2-40B4-BE49-F238E27FC236}">
                  <a16:creationId xmlns:a16="http://schemas.microsoft.com/office/drawing/2014/main" id="{E5BE613C-00D1-46C5-A0BE-F9EFA305DCB7}"/>
                </a:ext>
              </a:extLst>
            </p:cNvPr>
            <p:cNvSpPr/>
            <p:nvPr/>
          </p:nvSpPr>
          <p:spPr>
            <a:xfrm>
              <a:off x="4684823" y="3683066"/>
              <a:ext cx="2512277" cy="359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09" name="直接连接符 408">
            <a:extLst>
              <a:ext uri="{FF2B5EF4-FFF2-40B4-BE49-F238E27FC236}">
                <a16:creationId xmlns:a16="http://schemas.microsoft.com/office/drawing/2014/main" id="{4609AD69-8C92-49FC-BBC0-4035479291C4}"/>
              </a:ext>
            </a:extLst>
          </p:cNvPr>
          <p:cNvCxnSpPr>
            <a:cxnSpLocks/>
          </p:cNvCxnSpPr>
          <p:nvPr/>
        </p:nvCxnSpPr>
        <p:spPr>
          <a:xfrm>
            <a:off x="6171722" y="5333968"/>
            <a:ext cx="0" cy="11913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 name="直接连接符 409">
            <a:extLst>
              <a:ext uri="{FF2B5EF4-FFF2-40B4-BE49-F238E27FC236}">
                <a16:creationId xmlns:a16="http://schemas.microsoft.com/office/drawing/2014/main" id="{7E1F3AAF-E016-4271-B240-8347DFA4B87A}"/>
              </a:ext>
            </a:extLst>
          </p:cNvPr>
          <p:cNvCxnSpPr>
            <a:cxnSpLocks/>
          </p:cNvCxnSpPr>
          <p:nvPr/>
        </p:nvCxnSpPr>
        <p:spPr>
          <a:xfrm flipH="1">
            <a:off x="5531486" y="5337928"/>
            <a:ext cx="692" cy="8273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1" name="直接连接符 410">
            <a:extLst>
              <a:ext uri="{FF2B5EF4-FFF2-40B4-BE49-F238E27FC236}">
                <a16:creationId xmlns:a16="http://schemas.microsoft.com/office/drawing/2014/main" id="{14F9AD7A-0D28-42E0-8CE7-3F4F9CBED276}"/>
              </a:ext>
            </a:extLst>
          </p:cNvPr>
          <p:cNvCxnSpPr>
            <a:cxnSpLocks/>
          </p:cNvCxnSpPr>
          <p:nvPr/>
        </p:nvCxnSpPr>
        <p:spPr>
          <a:xfrm>
            <a:off x="4892635" y="5329975"/>
            <a:ext cx="0" cy="8353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2" name="直接连接符 411">
            <a:extLst>
              <a:ext uri="{FF2B5EF4-FFF2-40B4-BE49-F238E27FC236}">
                <a16:creationId xmlns:a16="http://schemas.microsoft.com/office/drawing/2014/main" id="{B603AF35-41D8-4FD9-93A2-B8E475D8B1A2}"/>
              </a:ext>
            </a:extLst>
          </p:cNvPr>
          <p:cNvCxnSpPr>
            <a:cxnSpLocks/>
          </p:cNvCxnSpPr>
          <p:nvPr/>
        </p:nvCxnSpPr>
        <p:spPr>
          <a:xfrm>
            <a:off x="4256581" y="5329975"/>
            <a:ext cx="0" cy="8353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0" name="直接连接符 419">
            <a:extLst>
              <a:ext uri="{FF2B5EF4-FFF2-40B4-BE49-F238E27FC236}">
                <a16:creationId xmlns:a16="http://schemas.microsoft.com/office/drawing/2014/main" id="{9BD2188A-1905-4CB1-95AB-62D3E09771C2}"/>
              </a:ext>
            </a:extLst>
          </p:cNvPr>
          <p:cNvCxnSpPr>
            <a:cxnSpLocks/>
          </p:cNvCxnSpPr>
          <p:nvPr/>
        </p:nvCxnSpPr>
        <p:spPr>
          <a:xfrm>
            <a:off x="4355976" y="3869544"/>
            <a:ext cx="0" cy="10686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3" name="直接连接符 422">
            <a:extLst>
              <a:ext uri="{FF2B5EF4-FFF2-40B4-BE49-F238E27FC236}">
                <a16:creationId xmlns:a16="http://schemas.microsoft.com/office/drawing/2014/main" id="{9F020FE9-8BB4-42F6-B9F3-7CD2B4AC3B81}"/>
              </a:ext>
            </a:extLst>
          </p:cNvPr>
          <p:cNvCxnSpPr>
            <a:cxnSpLocks/>
          </p:cNvCxnSpPr>
          <p:nvPr/>
        </p:nvCxnSpPr>
        <p:spPr>
          <a:xfrm>
            <a:off x="3635896" y="5054733"/>
            <a:ext cx="0" cy="11176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6" name="直接连接符 425">
            <a:extLst>
              <a:ext uri="{FF2B5EF4-FFF2-40B4-BE49-F238E27FC236}">
                <a16:creationId xmlns:a16="http://schemas.microsoft.com/office/drawing/2014/main" id="{9C108080-B0ED-4CDA-BFAD-AF525489A678}"/>
              </a:ext>
            </a:extLst>
          </p:cNvPr>
          <p:cNvCxnSpPr>
            <a:cxnSpLocks/>
          </p:cNvCxnSpPr>
          <p:nvPr/>
        </p:nvCxnSpPr>
        <p:spPr>
          <a:xfrm>
            <a:off x="2798136" y="6271888"/>
            <a:ext cx="0" cy="253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5" name="直接连接符 434">
            <a:extLst>
              <a:ext uri="{FF2B5EF4-FFF2-40B4-BE49-F238E27FC236}">
                <a16:creationId xmlns:a16="http://schemas.microsoft.com/office/drawing/2014/main" id="{AA9D9C61-F3FC-4287-ACFD-F3AC5F190EE2}"/>
              </a:ext>
            </a:extLst>
          </p:cNvPr>
          <p:cNvCxnSpPr>
            <a:cxnSpLocks/>
          </p:cNvCxnSpPr>
          <p:nvPr/>
        </p:nvCxnSpPr>
        <p:spPr>
          <a:xfrm>
            <a:off x="6928526" y="4149291"/>
            <a:ext cx="0" cy="23760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0" name="文本框 439">
            <a:extLst>
              <a:ext uri="{FF2B5EF4-FFF2-40B4-BE49-F238E27FC236}">
                <a16:creationId xmlns:a16="http://schemas.microsoft.com/office/drawing/2014/main" id="{0ADD3D6F-DDA7-4C2E-B775-66C242A800DA}"/>
              </a:ext>
            </a:extLst>
          </p:cNvPr>
          <p:cNvSpPr txBox="1"/>
          <p:nvPr/>
        </p:nvSpPr>
        <p:spPr>
          <a:xfrm>
            <a:off x="7649909" y="6351711"/>
            <a:ext cx="458780" cy="461665"/>
          </a:xfrm>
          <a:prstGeom prst="rect">
            <a:avLst/>
          </a:prstGeom>
          <a:noFill/>
        </p:spPr>
        <p:txBody>
          <a:bodyPr wrap="none" rtlCol="0">
            <a:spAutoFit/>
          </a:bodyPr>
          <a:lstStyle/>
          <a:p>
            <a:r>
              <a:rPr lang="en-US" altLang="zh-CN" dirty="0"/>
              <a:t>S</a:t>
            </a:r>
            <a:r>
              <a:rPr lang="en-US" altLang="zh-CN" baseline="-25000" dirty="0"/>
              <a:t>0</a:t>
            </a:r>
            <a:endParaRPr lang="zh-CN" altLang="en-US" baseline="-25000" dirty="0"/>
          </a:p>
        </p:txBody>
      </p:sp>
      <p:sp>
        <p:nvSpPr>
          <p:cNvPr id="441" name="文本框 440">
            <a:extLst>
              <a:ext uri="{FF2B5EF4-FFF2-40B4-BE49-F238E27FC236}">
                <a16:creationId xmlns:a16="http://schemas.microsoft.com/office/drawing/2014/main" id="{20F06A38-12FF-4FD4-91D6-3B3EEC46C15D}"/>
              </a:ext>
            </a:extLst>
          </p:cNvPr>
          <p:cNvSpPr txBox="1"/>
          <p:nvPr/>
        </p:nvSpPr>
        <p:spPr>
          <a:xfrm>
            <a:off x="6879361" y="6351711"/>
            <a:ext cx="458780" cy="461665"/>
          </a:xfrm>
          <a:prstGeom prst="rect">
            <a:avLst/>
          </a:prstGeom>
          <a:noFill/>
        </p:spPr>
        <p:txBody>
          <a:bodyPr wrap="none" rtlCol="0">
            <a:spAutoFit/>
          </a:bodyPr>
          <a:lstStyle/>
          <a:p>
            <a:r>
              <a:rPr lang="en-US" altLang="zh-CN" dirty="0"/>
              <a:t>S</a:t>
            </a:r>
            <a:r>
              <a:rPr lang="en-US" altLang="zh-CN" baseline="-25000" dirty="0"/>
              <a:t>1</a:t>
            </a:r>
            <a:endParaRPr lang="zh-CN" altLang="en-US" baseline="-25000" dirty="0"/>
          </a:p>
        </p:txBody>
      </p:sp>
      <p:sp>
        <p:nvSpPr>
          <p:cNvPr id="442" name="文本框 441">
            <a:extLst>
              <a:ext uri="{FF2B5EF4-FFF2-40B4-BE49-F238E27FC236}">
                <a16:creationId xmlns:a16="http://schemas.microsoft.com/office/drawing/2014/main" id="{FA93F754-24A1-47D4-8874-D49699C52D13}"/>
              </a:ext>
            </a:extLst>
          </p:cNvPr>
          <p:cNvSpPr txBox="1"/>
          <p:nvPr/>
        </p:nvSpPr>
        <p:spPr>
          <a:xfrm>
            <a:off x="6125687" y="6351711"/>
            <a:ext cx="458780" cy="461665"/>
          </a:xfrm>
          <a:prstGeom prst="rect">
            <a:avLst/>
          </a:prstGeom>
          <a:noFill/>
        </p:spPr>
        <p:txBody>
          <a:bodyPr wrap="none" rtlCol="0">
            <a:spAutoFit/>
          </a:bodyPr>
          <a:lstStyle/>
          <a:p>
            <a:r>
              <a:rPr lang="en-US" altLang="zh-CN" dirty="0"/>
              <a:t>S</a:t>
            </a:r>
            <a:r>
              <a:rPr lang="en-US" altLang="zh-CN" baseline="-25000" dirty="0"/>
              <a:t>2</a:t>
            </a:r>
            <a:endParaRPr lang="zh-CN" altLang="en-US" baseline="-25000" dirty="0"/>
          </a:p>
        </p:txBody>
      </p:sp>
      <p:sp>
        <p:nvSpPr>
          <p:cNvPr id="443" name="文本框 442">
            <a:extLst>
              <a:ext uri="{FF2B5EF4-FFF2-40B4-BE49-F238E27FC236}">
                <a16:creationId xmlns:a16="http://schemas.microsoft.com/office/drawing/2014/main" id="{CD1B58CF-8EDA-4215-B0AE-13ED860114B1}"/>
              </a:ext>
            </a:extLst>
          </p:cNvPr>
          <p:cNvSpPr txBox="1"/>
          <p:nvPr/>
        </p:nvSpPr>
        <p:spPr>
          <a:xfrm>
            <a:off x="5372013" y="6351711"/>
            <a:ext cx="458780" cy="461665"/>
          </a:xfrm>
          <a:prstGeom prst="rect">
            <a:avLst/>
          </a:prstGeom>
          <a:noFill/>
        </p:spPr>
        <p:txBody>
          <a:bodyPr wrap="none" rtlCol="0">
            <a:spAutoFit/>
          </a:bodyPr>
          <a:lstStyle/>
          <a:p>
            <a:r>
              <a:rPr lang="en-US" altLang="zh-CN" dirty="0"/>
              <a:t>S</a:t>
            </a:r>
            <a:r>
              <a:rPr lang="en-US" altLang="zh-CN" baseline="-25000" dirty="0"/>
              <a:t>3</a:t>
            </a:r>
            <a:endParaRPr lang="zh-CN" altLang="en-US" baseline="-25000" dirty="0"/>
          </a:p>
        </p:txBody>
      </p:sp>
      <p:sp>
        <p:nvSpPr>
          <p:cNvPr id="444" name="文本框 443">
            <a:extLst>
              <a:ext uri="{FF2B5EF4-FFF2-40B4-BE49-F238E27FC236}">
                <a16:creationId xmlns:a16="http://schemas.microsoft.com/office/drawing/2014/main" id="{A605B928-22AF-4664-B5C4-23974AF6CF28}"/>
              </a:ext>
            </a:extLst>
          </p:cNvPr>
          <p:cNvSpPr txBox="1"/>
          <p:nvPr/>
        </p:nvSpPr>
        <p:spPr>
          <a:xfrm>
            <a:off x="4736787" y="6351711"/>
            <a:ext cx="458780" cy="461665"/>
          </a:xfrm>
          <a:prstGeom prst="rect">
            <a:avLst/>
          </a:prstGeom>
          <a:noFill/>
        </p:spPr>
        <p:txBody>
          <a:bodyPr wrap="none" rtlCol="0">
            <a:spAutoFit/>
          </a:bodyPr>
          <a:lstStyle/>
          <a:p>
            <a:r>
              <a:rPr lang="en-US" altLang="zh-CN" dirty="0"/>
              <a:t>S</a:t>
            </a:r>
            <a:r>
              <a:rPr lang="en-US" altLang="zh-CN" baseline="-25000" dirty="0"/>
              <a:t>4</a:t>
            </a:r>
            <a:endParaRPr lang="zh-CN" altLang="en-US" baseline="-25000" dirty="0"/>
          </a:p>
        </p:txBody>
      </p:sp>
      <p:sp>
        <p:nvSpPr>
          <p:cNvPr id="445" name="文本框 444">
            <a:extLst>
              <a:ext uri="{FF2B5EF4-FFF2-40B4-BE49-F238E27FC236}">
                <a16:creationId xmlns:a16="http://schemas.microsoft.com/office/drawing/2014/main" id="{7F4D2687-0A47-42EE-B8B4-E5E725140CA8}"/>
              </a:ext>
            </a:extLst>
          </p:cNvPr>
          <p:cNvSpPr txBox="1"/>
          <p:nvPr/>
        </p:nvSpPr>
        <p:spPr>
          <a:xfrm>
            <a:off x="4093930" y="6351711"/>
            <a:ext cx="458780" cy="461665"/>
          </a:xfrm>
          <a:prstGeom prst="rect">
            <a:avLst/>
          </a:prstGeom>
          <a:noFill/>
        </p:spPr>
        <p:txBody>
          <a:bodyPr wrap="none" rtlCol="0">
            <a:spAutoFit/>
          </a:bodyPr>
          <a:lstStyle/>
          <a:p>
            <a:r>
              <a:rPr lang="en-US" altLang="zh-CN" dirty="0"/>
              <a:t>S</a:t>
            </a:r>
            <a:r>
              <a:rPr lang="en-US" altLang="zh-CN" baseline="-25000" dirty="0"/>
              <a:t>5</a:t>
            </a:r>
            <a:endParaRPr lang="zh-CN" altLang="en-US" baseline="-25000" dirty="0"/>
          </a:p>
        </p:txBody>
      </p:sp>
      <p:sp>
        <p:nvSpPr>
          <p:cNvPr id="446" name="文本框 445">
            <a:extLst>
              <a:ext uri="{FF2B5EF4-FFF2-40B4-BE49-F238E27FC236}">
                <a16:creationId xmlns:a16="http://schemas.microsoft.com/office/drawing/2014/main" id="{439B6039-5962-4632-8D7B-B8F45A1FB52C}"/>
              </a:ext>
            </a:extLst>
          </p:cNvPr>
          <p:cNvSpPr txBox="1"/>
          <p:nvPr/>
        </p:nvSpPr>
        <p:spPr>
          <a:xfrm>
            <a:off x="3467845" y="6351711"/>
            <a:ext cx="458780" cy="461665"/>
          </a:xfrm>
          <a:prstGeom prst="rect">
            <a:avLst/>
          </a:prstGeom>
          <a:noFill/>
        </p:spPr>
        <p:txBody>
          <a:bodyPr wrap="none" rtlCol="0">
            <a:spAutoFit/>
          </a:bodyPr>
          <a:lstStyle/>
          <a:p>
            <a:r>
              <a:rPr lang="en-US" altLang="zh-CN" dirty="0"/>
              <a:t>S</a:t>
            </a:r>
            <a:r>
              <a:rPr lang="en-US" altLang="zh-CN" baseline="-25000" dirty="0"/>
              <a:t>6</a:t>
            </a:r>
            <a:endParaRPr lang="zh-CN" altLang="en-US" baseline="-25000" dirty="0"/>
          </a:p>
        </p:txBody>
      </p:sp>
      <p:sp>
        <p:nvSpPr>
          <p:cNvPr id="447" name="文本框 446">
            <a:extLst>
              <a:ext uri="{FF2B5EF4-FFF2-40B4-BE49-F238E27FC236}">
                <a16:creationId xmlns:a16="http://schemas.microsoft.com/office/drawing/2014/main" id="{D60EE7DF-0AA3-4FDF-8FA4-8EE1C1C4AE91}"/>
              </a:ext>
            </a:extLst>
          </p:cNvPr>
          <p:cNvSpPr txBox="1"/>
          <p:nvPr/>
        </p:nvSpPr>
        <p:spPr>
          <a:xfrm>
            <a:off x="2741765" y="6351711"/>
            <a:ext cx="458780" cy="461665"/>
          </a:xfrm>
          <a:prstGeom prst="rect">
            <a:avLst/>
          </a:prstGeom>
          <a:noFill/>
        </p:spPr>
        <p:txBody>
          <a:bodyPr wrap="none" rtlCol="0">
            <a:spAutoFit/>
          </a:bodyPr>
          <a:lstStyle/>
          <a:p>
            <a:r>
              <a:rPr lang="en-US" altLang="zh-CN" dirty="0"/>
              <a:t>S</a:t>
            </a:r>
            <a:r>
              <a:rPr lang="en-US" altLang="zh-CN" baseline="-25000" dirty="0"/>
              <a:t>7</a:t>
            </a:r>
            <a:endParaRPr lang="zh-CN" altLang="en-US" baseline="-25000" dirty="0"/>
          </a:p>
        </p:txBody>
      </p:sp>
      <p:sp>
        <p:nvSpPr>
          <p:cNvPr id="2" name="等腰三角形 1">
            <a:extLst>
              <a:ext uri="{FF2B5EF4-FFF2-40B4-BE49-F238E27FC236}">
                <a16:creationId xmlns:a16="http://schemas.microsoft.com/office/drawing/2014/main" id="{BAD1C108-03F3-4FCC-AC6A-EA70FC085A25}"/>
              </a:ext>
            </a:extLst>
          </p:cNvPr>
          <p:cNvSpPr/>
          <p:nvPr/>
        </p:nvSpPr>
        <p:spPr>
          <a:xfrm>
            <a:off x="7763211" y="2931152"/>
            <a:ext cx="435007" cy="4999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239" name="等腰三角形 238">
            <a:extLst>
              <a:ext uri="{FF2B5EF4-FFF2-40B4-BE49-F238E27FC236}">
                <a16:creationId xmlns:a16="http://schemas.microsoft.com/office/drawing/2014/main" id="{C362122B-3B0D-40CD-9728-A1409884B3AC}"/>
              </a:ext>
            </a:extLst>
          </p:cNvPr>
          <p:cNvSpPr/>
          <p:nvPr/>
        </p:nvSpPr>
        <p:spPr>
          <a:xfrm>
            <a:off x="7113761" y="3160869"/>
            <a:ext cx="435007" cy="4999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240" name="等腰三角形 239">
            <a:extLst>
              <a:ext uri="{FF2B5EF4-FFF2-40B4-BE49-F238E27FC236}">
                <a16:creationId xmlns:a16="http://schemas.microsoft.com/office/drawing/2014/main" id="{C26445CB-9272-4A97-9221-DE34124DA1F0}"/>
              </a:ext>
            </a:extLst>
          </p:cNvPr>
          <p:cNvSpPr/>
          <p:nvPr/>
        </p:nvSpPr>
        <p:spPr>
          <a:xfrm>
            <a:off x="6912297" y="4076076"/>
            <a:ext cx="435007" cy="4999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241" name="等腰三角形 240">
            <a:extLst>
              <a:ext uri="{FF2B5EF4-FFF2-40B4-BE49-F238E27FC236}">
                <a16:creationId xmlns:a16="http://schemas.microsoft.com/office/drawing/2014/main" id="{1E76B774-F801-4863-AFAC-1A4A9A311938}"/>
              </a:ext>
            </a:extLst>
          </p:cNvPr>
          <p:cNvSpPr/>
          <p:nvPr/>
        </p:nvSpPr>
        <p:spPr>
          <a:xfrm>
            <a:off x="3890157" y="3557421"/>
            <a:ext cx="435007" cy="4999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242" name="等腰三角形 241">
            <a:extLst>
              <a:ext uri="{FF2B5EF4-FFF2-40B4-BE49-F238E27FC236}">
                <a16:creationId xmlns:a16="http://schemas.microsoft.com/office/drawing/2014/main" id="{1AE07FB8-8734-4095-8D16-9FBB6294A06B}"/>
              </a:ext>
            </a:extLst>
          </p:cNvPr>
          <p:cNvSpPr/>
          <p:nvPr/>
        </p:nvSpPr>
        <p:spPr>
          <a:xfrm>
            <a:off x="6328000" y="5102018"/>
            <a:ext cx="435007" cy="4999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243" name="等腰三角形 242">
            <a:extLst>
              <a:ext uri="{FF2B5EF4-FFF2-40B4-BE49-F238E27FC236}">
                <a16:creationId xmlns:a16="http://schemas.microsoft.com/office/drawing/2014/main" id="{248C0EE2-198B-425E-88C2-FC03043090CE}"/>
              </a:ext>
            </a:extLst>
          </p:cNvPr>
          <p:cNvSpPr/>
          <p:nvPr/>
        </p:nvSpPr>
        <p:spPr>
          <a:xfrm>
            <a:off x="3168598" y="4711318"/>
            <a:ext cx="435007" cy="4999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sp>
        <p:nvSpPr>
          <p:cNvPr id="245" name="等腰三角形 244">
            <a:extLst>
              <a:ext uri="{FF2B5EF4-FFF2-40B4-BE49-F238E27FC236}">
                <a16:creationId xmlns:a16="http://schemas.microsoft.com/office/drawing/2014/main" id="{2DCFB117-9954-4135-ADD6-48610F9FFE3C}"/>
              </a:ext>
            </a:extLst>
          </p:cNvPr>
          <p:cNvSpPr/>
          <p:nvPr/>
        </p:nvSpPr>
        <p:spPr>
          <a:xfrm>
            <a:off x="2294080" y="6177033"/>
            <a:ext cx="435007" cy="4999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
        <p:nvSpPr>
          <p:cNvPr id="246" name="等腰三角形 245">
            <a:extLst>
              <a:ext uri="{FF2B5EF4-FFF2-40B4-BE49-F238E27FC236}">
                <a16:creationId xmlns:a16="http://schemas.microsoft.com/office/drawing/2014/main" id="{2C142B7B-7447-40A4-A4D6-3187026B4923}"/>
              </a:ext>
            </a:extLst>
          </p:cNvPr>
          <p:cNvSpPr/>
          <p:nvPr/>
        </p:nvSpPr>
        <p:spPr>
          <a:xfrm>
            <a:off x="5656860" y="6005821"/>
            <a:ext cx="435007" cy="4999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70000" lnSpcReduction="20000"/>
          </a:bodyPr>
          <a:lstStyle/>
          <a:p>
            <a:pPr algn="ctr"/>
            <a:r>
              <a:rPr lang="en-US" altLang="zh-CN" dirty="0"/>
              <a:t>10</a:t>
            </a:r>
            <a:endParaRPr lang="zh-CN" altLang="en-US" dirty="0"/>
          </a:p>
        </p:txBody>
      </p:sp>
      <p:sp>
        <p:nvSpPr>
          <p:cNvPr id="250" name="文本框 249">
            <a:extLst>
              <a:ext uri="{FF2B5EF4-FFF2-40B4-BE49-F238E27FC236}">
                <a16:creationId xmlns:a16="http://schemas.microsoft.com/office/drawing/2014/main" id="{A9C044DB-240D-4555-8D4E-DEE79AAA6D02}"/>
              </a:ext>
            </a:extLst>
          </p:cNvPr>
          <p:cNvSpPr txBox="1"/>
          <p:nvPr/>
        </p:nvSpPr>
        <p:spPr>
          <a:xfrm>
            <a:off x="3111216" y="3378478"/>
            <a:ext cx="1532792" cy="338554"/>
          </a:xfrm>
          <a:prstGeom prst="rect">
            <a:avLst/>
          </a:prstGeom>
          <a:noFill/>
        </p:spPr>
        <p:txBody>
          <a:bodyPr wrap="none" rtlCol="0">
            <a:spAutoFit/>
          </a:bodyPr>
          <a:lstStyle/>
          <a:p>
            <a:r>
              <a:rPr lang="en-US" altLang="zh-CN" sz="1600" b="1" dirty="0">
                <a:solidFill>
                  <a:schemeClr val="accent1"/>
                </a:solidFill>
                <a:latin typeface="等线" panose="02010600030101010101" pitchFamily="2" charset="-122"/>
                <a:ea typeface="等线" panose="02010600030101010101" pitchFamily="2" charset="-122"/>
              </a:rPr>
              <a:t>4</a:t>
            </a:r>
            <a:r>
              <a:rPr lang="zh-CN" altLang="en-US" sz="1600" b="1" dirty="0">
                <a:solidFill>
                  <a:schemeClr val="accent1"/>
                </a:solidFill>
                <a:latin typeface="等线" panose="02010600030101010101" pitchFamily="2" charset="-122"/>
                <a:ea typeface="等线" panose="02010600030101010101" pitchFamily="2" charset="-122"/>
              </a:rPr>
              <a:t>位並行加法器</a:t>
            </a:r>
          </a:p>
        </p:txBody>
      </p:sp>
    </p:spTree>
    <p:extLst>
      <p:ext uri="{BB962C8B-B14F-4D97-AF65-F5344CB8AC3E}">
        <p14:creationId xmlns:p14="http://schemas.microsoft.com/office/powerpoint/2010/main" val="14355077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37A216C-18A3-466E-BD90-37CCADC359B9}" type="slidenum">
              <a:rPr lang="en-US" altLang="zh-CN"/>
              <a:pPr/>
              <a:t>77</a:t>
            </a:fld>
            <a:endParaRPr lang="en-US" altLang="zh-CN" dirty="0"/>
          </a:p>
        </p:txBody>
      </p:sp>
      <p:sp>
        <p:nvSpPr>
          <p:cNvPr id="250883" name="Rectangle 3"/>
          <p:cNvSpPr>
            <a:spLocks noGrp="1" noChangeArrowheads="1"/>
          </p:cNvSpPr>
          <p:nvPr>
            <p:ph sz="quarter" idx="1"/>
          </p:nvPr>
        </p:nvSpPr>
        <p:spPr>
          <a:xfrm>
            <a:off x="413538" y="914400"/>
            <a:ext cx="8334926" cy="5754688"/>
          </a:xfrm>
        </p:spPr>
        <p:txBody>
          <a:bodyPr>
            <a:normAutofit/>
          </a:bodyPr>
          <a:lstStyle/>
          <a:p>
            <a:pPr>
              <a:lnSpc>
                <a:spcPct val="90000"/>
              </a:lnSpc>
            </a:pPr>
            <a:r>
              <a:rPr lang="zh-CN" altLang="en-US" dirty="0"/>
              <a:t>並行四位乘法器</a:t>
            </a:r>
            <a:endParaRPr lang="en-US" altLang="zh-CN" sz="3200" baseline="-25000" dirty="0"/>
          </a:p>
        </p:txBody>
      </p:sp>
      <p:sp>
        <p:nvSpPr>
          <p:cNvPr id="30" name="Rectangle 2">
            <a:extLst>
              <a:ext uri="{FF2B5EF4-FFF2-40B4-BE49-F238E27FC236}">
                <a16:creationId xmlns:a16="http://schemas.microsoft.com/office/drawing/2014/main" id="{41D43722-B50A-41C8-BC92-3CBE824BACD3}"/>
              </a:ext>
            </a:extLst>
          </p:cNvPr>
          <p:cNvSpPr txBox="1">
            <a:spLocks noChangeArrowheads="1"/>
          </p:cNvSpPr>
          <p:nvPr/>
        </p:nvSpPr>
        <p:spPr>
          <a:xfrm>
            <a:off x="457200" y="304800"/>
            <a:ext cx="8534400" cy="609600"/>
          </a:xfrm>
          <a:prstGeom prst="rect">
            <a:avLst/>
          </a:prstGeom>
        </p:spPr>
        <p:txBody>
          <a:bodyPr bIns="91440" anchor="b" anchorCtr="0">
            <a:normAutofit fontScale="90000" lnSpcReduction="10000"/>
          </a:bodyPr>
          <a:lstStyle>
            <a:lvl1pPr algn="l" rtl="0" eaLnBrk="1" latinLnBrk="0" hangingPunct="1">
              <a:spcBef>
                <a:spcPct val="0"/>
              </a:spcBef>
              <a:buNone/>
              <a:defRPr kumimoji="0" sz="4000" b="1" kern="1200">
                <a:solidFill>
                  <a:schemeClr val="tx1"/>
                </a:solidFill>
                <a:latin typeface="华文新魏" pitchFamily="2" charset="-122"/>
                <a:ea typeface="华文新魏" pitchFamily="2" charset="-122"/>
                <a:cs typeface="+mj-cs"/>
              </a:defRPr>
            </a:lvl1pPr>
          </a:lstStyle>
          <a:p>
            <a:pPr fontAlgn="auto">
              <a:spcAft>
                <a:spcPts val="0"/>
              </a:spcAft>
            </a:pPr>
            <a:r>
              <a:rPr lang="en-US" altLang="zh-CN" sz="3600" dirty="0">
                <a:latin typeface="等线" panose="02010600030101010101" pitchFamily="2" charset="-122"/>
                <a:ea typeface="等线" panose="02010600030101010101" pitchFamily="2" charset="-122"/>
              </a:rPr>
              <a:t>3.3.7   </a:t>
            </a:r>
            <a:r>
              <a:rPr lang="zh-CN" altLang="en-US" sz="3600" dirty="0">
                <a:latin typeface="等线" panose="02010600030101010101" pitchFamily="2" charset="-122"/>
                <a:ea typeface="等线" panose="02010600030101010101" pitchFamily="2" charset="-122"/>
              </a:rPr>
              <a:t>運算器</a:t>
            </a:r>
            <a:r>
              <a:rPr lang="en-US" altLang="zh-CN" sz="3600" dirty="0">
                <a:latin typeface="等线" panose="02010600030101010101" pitchFamily="2" charset="-122"/>
                <a:ea typeface="等线" panose="02010600030101010101" pitchFamily="2" charset="-122"/>
              </a:rPr>
              <a:t>(52)</a:t>
            </a:r>
          </a:p>
        </p:txBody>
      </p:sp>
      <p:sp>
        <p:nvSpPr>
          <p:cNvPr id="3" name="文本框 2">
            <a:extLst>
              <a:ext uri="{FF2B5EF4-FFF2-40B4-BE49-F238E27FC236}">
                <a16:creationId xmlns:a16="http://schemas.microsoft.com/office/drawing/2014/main" id="{6BA6D41D-23B0-41F0-8AE9-D5440FFC7349}"/>
              </a:ext>
            </a:extLst>
          </p:cNvPr>
          <p:cNvSpPr txBox="1"/>
          <p:nvPr/>
        </p:nvSpPr>
        <p:spPr>
          <a:xfrm>
            <a:off x="766792" y="1772816"/>
            <a:ext cx="7981672" cy="3539430"/>
          </a:xfrm>
          <a:prstGeom prst="rect">
            <a:avLst/>
          </a:prstGeom>
          <a:noFill/>
        </p:spPr>
        <p:txBody>
          <a:bodyPr wrap="square" rtlCol="0">
            <a:spAutoFit/>
          </a:bodyPr>
          <a:lstStyle/>
          <a:p>
            <a:r>
              <a:rPr lang="zh-CN" altLang="en-US" sz="3200" dirty="0">
                <a:latin typeface="等线" panose="02010600030101010101" pitchFamily="2" charset="-122"/>
                <a:ea typeface="等线" panose="02010600030101010101" pitchFamily="2" charset="-122"/>
              </a:rPr>
              <a:t>思考題：</a:t>
            </a:r>
            <a:endParaRPr lang="en-US" altLang="zh-CN" sz="3200" dirty="0">
              <a:latin typeface="等线" panose="02010600030101010101" pitchFamily="2" charset="-122"/>
              <a:ea typeface="等线" panose="02010600030101010101" pitchFamily="2" charset="-122"/>
            </a:endParaRPr>
          </a:p>
          <a:p>
            <a:pPr marL="457200" indent="-457200">
              <a:buFont typeface="Arial" panose="020B0604020202020204" pitchFamily="34" charset="0"/>
              <a:buChar char="•"/>
            </a:pPr>
            <a:r>
              <a:rPr lang="zh-CN" altLang="en-US" sz="3200" dirty="0">
                <a:latin typeface="等线" panose="02010600030101010101" pitchFamily="2" charset="-122"/>
                <a:ea typeface="等线" panose="02010600030101010101" pitchFamily="2" charset="-122"/>
              </a:rPr>
              <a:t>更快的四位乘法器可以多快？</a:t>
            </a:r>
            <a:endParaRPr lang="en-US" altLang="zh-CN" sz="3200" dirty="0">
              <a:latin typeface="等线" panose="02010600030101010101" pitchFamily="2" charset="-122"/>
              <a:ea typeface="等线" panose="02010600030101010101" pitchFamily="2" charset="-122"/>
            </a:endParaRPr>
          </a:p>
          <a:p>
            <a:pPr marL="457200" indent="-457200">
              <a:buFont typeface="Arial" panose="020B0604020202020204" pitchFamily="34" charset="0"/>
              <a:buChar char="•"/>
            </a:pPr>
            <a:r>
              <a:rPr lang="zh-CN" altLang="en-US" sz="3200" dirty="0">
                <a:latin typeface="等线" panose="02010600030101010101" pitchFamily="2" charset="-122"/>
                <a:ea typeface="等线" panose="02010600030101010101" pitchFamily="2" charset="-122"/>
              </a:rPr>
              <a:t>如何將加法器和乘法器合在一起實現乘加器？</a:t>
            </a:r>
            <a:endParaRPr lang="en-US" altLang="zh-CN" sz="3200" dirty="0">
              <a:latin typeface="等线" panose="02010600030101010101" pitchFamily="2" charset="-122"/>
              <a:ea typeface="等线" panose="02010600030101010101" pitchFamily="2" charset="-122"/>
            </a:endParaRPr>
          </a:p>
          <a:p>
            <a:pPr marL="457200" indent="-457200">
              <a:buFont typeface="Arial" panose="020B0604020202020204" pitchFamily="34" charset="0"/>
              <a:buChar char="•"/>
            </a:pPr>
            <a:r>
              <a:rPr lang="zh-CN" altLang="en-US" sz="3200" dirty="0">
                <a:latin typeface="等线" panose="02010600030101010101" pitchFamily="2" charset="-122"/>
                <a:ea typeface="等线" panose="02010600030101010101" pitchFamily="2" charset="-122"/>
              </a:rPr>
              <a:t>如何讓乘加器所需的門更少？從而部署大量乘加器實現高維矩陣的乘加運算。</a:t>
            </a:r>
            <a:endParaRPr lang="en-US" altLang="zh-CN" sz="3200" dirty="0">
              <a:latin typeface="等线" panose="02010600030101010101" pitchFamily="2" charset="-122"/>
              <a:ea typeface="等线" panose="02010600030101010101" pitchFamily="2" charset="-122"/>
            </a:endParaRPr>
          </a:p>
          <a:p>
            <a:pPr marL="457200" indent="-457200">
              <a:buFont typeface="Arial" panose="020B0604020202020204" pitchFamily="34" charset="0"/>
              <a:buChar char="•"/>
            </a:pPr>
            <a:r>
              <a:rPr lang="zh-CN" altLang="en-US" sz="3200" dirty="0">
                <a:latin typeface="等线" panose="02010600030101010101" pitchFamily="2" charset="-122"/>
                <a:ea typeface="等线" panose="02010600030101010101" pitchFamily="2" charset="-122"/>
              </a:rPr>
              <a:t>如何實現一個神經計算單元？</a:t>
            </a:r>
          </a:p>
        </p:txBody>
      </p:sp>
    </p:spTree>
    <p:extLst>
      <p:ext uri="{BB962C8B-B14F-4D97-AF65-F5344CB8AC3E}">
        <p14:creationId xmlns:p14="http://schemas.microsoft.com/office/powerpoint/2010/main" val="38426945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1734387F-02A2-45A9-B41C-FD32DA3B9EED}" type="slidenum">
              <a:rPr lang="en-US" altLang="zh-CN"/>
              <a:pPr/>
              <a:t>78</a:t>
            </a:fld>
            <a:endParaRPr lang="en-US" altLang="zh-CN" dirty="0"/>
          </a:p>
        </p:txBody>
      </p:sp>
      <p:sp>
        <p:nvSpPr>
          <p:cNvPr id="386050" name="Rectangle 2"/>
          <p:cNvSpPr>
            <a:spLocks noGrp="1" noChangeArrowheads="1"/>
          </p:cNvSpPr>
          <p:nvPr>
            <p:ph type="title"/>
          </p:nvPr>
        </p:nvSpPr>
        <p:spPr/>
        <p:txBody>
          <a:bodyPr/>
          <a:lstStyle/>
          <a:p>
            <a:r>
              <a:rPr lang="en-US" altLang="zh-CN" sz="3600" dirty="0"/>
              <a:t>3.3.7   </a:t>
            </a:r>
            <a:r>
              <a:rPr lang="zh-CN" altLang="en-US" sz="3600" dirty="0"/>
              <a:t>運算器</a:t>
            </a:r>
            <a:endParaRPr lang="en-US" altLang="zh-CN" sz="3600" dirty="0"/>
          </a:p>
        </p:txBody>
      </p:sp>
      <p:sp>
        <p:nvSpPr>
          <p:cNvPr id="386051" name="Rectangle 3"/>
          <p:cNvSpPr>
            <a:spLocks noGrp="1" noChangeArrowheads="1"/>
          </p:cNvSpPr>
          <p:nvPr>
            <p:ph type="body" idx="1"/>
          </p:nvPr>
        </p:nvSpPr>
        <p:spPr/>
        <p:txBody>
          <a:bodyPr>
            <a:normAutofit lnSpcReduction="10000"/>
          </a:bodyPr>
          <a:lstStyle/>
          <a:p>
            <a:r>
              <a:rPr lang="en-US" altLang="zh-CN" b="1" dirty="0"/>
              <a:t>3.3.7 </a:t>
            </a:r>
            <a:r>
              <a:rPr lang="zh-CN" altLang="en-US" b="1" dirty="0"/>
              <a:t>運算器（算數邏輯單元 </a:t>
            </a:r>
            <a:r>
              <a:rPr lang="en-US" altLang="zh-CN" b="1" dirty="0"/>
              <a:t>ALU</a:t>
            </a:r>
            <a:r>
              <a:rPr lang="zh-CN" altLang="en-US" b="1" dirty="0"/>
              <a:t>）</a:t>
            </a:r>
          </a:p>
          <a:p>
            <a:pPr lvl="1"/>
            <a:r>
              <a:rPr lang="zh-CN" altLang="en-US" b="1" dirty="0"/>
              <a:t>加法器</a:t>
            </a:r>
          </a:p>
          <a:p>
            <a:pPr lvl="2"/>
            <a:r>
              <a:rPr lang="en-US" altLang="zh-CN" b="1" dirty="0">
                <a:solidFill>
                  <a:srgbClr val="002060"/>
                </a:solidFill>
              </a:rPr>
              <a:t>1</a:t>
            </a:r>
            <a:r>
              <a:rPr lang="zh-CN" altLang="en-US" b="1" dirty="0">
                <a:solidFill>
                  <a:srgbClr val="002060"/>
                </a:solidFill>
              </a:rPr>
              <a:t>位加法器</a:t>
            </a:r>
          </a:p>
          <a:p>
            <a:pPr lvl="2"/>
            <a:r>
              <a:rPr lang="en-US" altLang="zh-CN" b="1" dirty="0">
                <a:solidFill>
                  <a:srgbClr val="002060"/>
                </a:solidFill>
              </a:rPr>
              <a:t>4</a:t>
            </a:r>
            <a:r>
              <a:rPr lang="zh-CN" altLang="en-US" b="1" dirty="0">
                <a:solidFill>
                  <a:srgbClr val="002060"/>
                </a:solidFill>
              </a:rPr>
              <a:t>位元串列進位元加法器</a:t>
            </a:r>
          </a:p>
          <a:p>
            <a:pPr lvl="2"/>
            <a:r>
              <a:rPr lang="en-US" altLang="zh-CN" b="1" dirty="0">
                <a:solidFill>
                  <a:srgbClr val="002060"/>
                </a:solidFill>
              </a:rPr>
              <a:t>4</a:t>
            </a:r>
            <a:r>
              <a:rPr lang="zh-CN" altLang="en-US" b="1" dirty="0">
                <a:solidFill>
                  <a:srgbClr val="002060"/>
                </a:solidFill>
              </a:rPr>
              <a:t>位元並行進位元加法器和快速進位元邏輯</a:t>
            </a:r>
          </a:p>
          <a:p>
            <a:pPr lvl="2"/>
            <a:r>
              <a:rPr lang="en-US" altLang="zh-CN" b="1" dirty="0"/>
              <a:t>16</a:t>
            </a:r>
            <a:r>
              <a:rPr lang="zh-CN" altLang="en-US" b="1" dirty="0"/>
              <a:t>位並行進位加法器</a:t>
            </a:r>
          </a:p>
          <a:p>
            <a:pPr lvl="1"/>
            <a:r>
              <a:rPr lang="zh-CN" altLang="en-US" dirty="0"/>
              <a:t>算數運算邏輯單元</a:t>
            </a:r>
          </a:p>
          <a:p>
            <a:pPr lvl="2"/>
            <a:r>
              <a:rPr lang="en-US" altLang="zh-CN" b="1" dirty="0"/>
              <a:t>4</a:t>
            </a:r>
            <a:r>
              <a:rPr lang="zh-CN" altLang="en-US" b="1" dirty="0"/>
              <a:t>位元算術邏輯運算單元</a:t>
            </a:r>
            <a:endParaRPr lang="en-US" altLang="zh-CN" b="1" dirty="0"/>
          </a:p>
          <a:p>
            <a:pPr lvl="1"/>
            <a:r>
              <a:rPr lang="zh-CN" altLang="en-US" dirty="0">
                <a:solidFill>
                  <a:srgbClr val="7030A0"/>
                </a:solidFill>
              </a:rPr>
              <a:t>乘法器（不要求掌握</a:t>
            </a:r>
            <a:r>
              <a:rPr lang="en-US" altLang="zh-CN" dirty="0">
                <a:solidFill>
                  <a:srgbClr val="7030A0"/>
                </a:solidFill>
              </a:rPr>
              <a:t>!</a:t>
            </a:r>
            <a:r>
              <a:rPr lang="zh-CN" altLang="en-US" dirty="0">
                <a:solidFill>
                  <a:srgbClr val="7030A0"/>
                </a:solidFill>
              </a:rPr>
              <a:t>）</a:t>
            </a:r>
            <a:endParaRPr lang="en-US" altLang="zh-CN" dirty="0">
              <a:solidFill>
                <a:srgbClr val="7030A0"/>
              </a:solidFill>
            </a:endParaRPr>
          </a:p>
        </p:txBody>
      </p:sp>
    </p:spTree>
    <p:extLst>
      <p:ext uri="{BB962C8B-B14F-4D97-AF65-F5344CB8AC3E}">
        <p14:creationId xmlns:p14="http://schemas.microsoft.com/office/powerpoint/2010/main" val="7784268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476672"/>
            <a:ext cx="8712968" cy="5543128"/>
          </a:xfrm>
        </p:spPr>
        <p:txBody>
          <a:bodyPr>
            <a:normAutofit lnSpcReduction="10000"/>
          </a:bodyPr>
          <a:lstStyle/>
          <a:p>
            <a:pPr marL="0" lvl="2" indent="0">
              <a:buNone/>
            </a:pPr>
            <a:r>
              <a:rPr lang="zh-CN" altLang="en-US" sz="4000" b="1" dirty="0"/>
              <a:t>作業：</a:t>
            </a:r>
            <a:r>
              <a:rPr lang="en-US" altLang="zh-CN" sz="4000" b="1" dirty="0"/>
              <a:t>4.18, 4.23</a:t>
            </a: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b="1" dirty="0"/>
              <a:t>附加題：給出由最快的</a:t>
            </a:r>
            <a:r>
              <a:rPr lang="en-US" altLang="zh-CN" b="1" dirty="0"/>
              <a:t>1</a:t>
            </a:r>
            <a:r>
              <a:rPr lang="zh-CN" altLang="en-US" b="1" dirty="0"/>
              <a:t>位全加器構成</a:t>
            </a:r>
            <a:r>
              <a:rPr lang="en-US" altLang="zh-CN" b="1" dirty="0"/>
              <a:t>16</a:t>
            </a:r>
            <a:r>
              <a:rPr lang="zh-CN" altLang="en-US" b="1" dirty="0"/>
              <a:t>位元串列加法器、</a:t>
            </a:r>
            <a:r>
              <a:rPr lang="en-US" altLang="zh-CN" b="1" dirty="0"/>
              <a:t>4</a:t>
            </a:r>
            <a:r>
              <a:rPr lang="zh-CN" altLang="en-US" b="1" dirty="0"/>
              <a:t>位並行全加器構成</a:t>
            </a:r>
            <a:r>
              <a:rPr lang="en-US" altLang="zh-CN" b="1" dirty="0"/>
              <a:t>16</a:t>
            </a:r>
            <a:r>
              <a:rPr lang="zh-CN" altLang="en-US" b="1" dirty="0"/>
              <a:t>位元串列加法器、</a:t>
            </a:r>
            <a:r>
              <a:rPr lang="en-US" altLang="zh-CN" b="1" dirty="0"/>
              <a:t>16</a:t>
            </a:r>
            <a:r>
              <a:rPr lang="zh-CN" altLang="en-US" b="1" dirty="0"/>
              <a:t>位並行加法器計算結果（</a:t>
            </a:r>
            <a:r>
              <a:rPr lang="en-US" altLang="zh-CN" b="1" dirty="0"/>
              <a:t>C</a:t>
            </a:r>
            <a:r>
              <a:rPr lang="en-US" altLang="zh-CN" b="1" baseline="-25000" dirty="0"/>
              <a:t>16</a:t>
            </a:r>
            <a:r>
              <a:rPr lang="zh-CN" altLang="en-US" b="1" dirty="0"/>
              <a:t>、</a:t>
            </a:r>
            <a:r>
              <a:rPr lang="en-US" altLang="zh-CN" b="1" dirty="0"/>
              <a:t>F</a:t>
            </a:r>
            <a:r>
              <a:rPr lang="en-US" altLang="zh-CN" b="1" baseline="-25000" dirty="0"/>
              <a:t>16</a:t>
            </a:r>
            <a:r>
              <a:rPr lang="zh-CN" altLang="en-US" b="1" dirty="0"/>
              <a:t>）所需要的級數，</a:t>
            </a:r>
            <a:r>
              <a:rPr lang="zh-CN" altLang="en-US" b="1" dirty="0">
                <a:solidFill>
                  <a:srgbClr val="FF0000"/>
                </a:solidFill>
              </a:rPr>
              <a:t>要求描述計算過程</a:t>
            </a:r>
            <a:r>
              <a:rPr lang="zh-CN" altLang="en-US" b="1" dirty="0"/>
              <a:t>。</a:t>
            </a:r>
          </a:p>
          <a:p>
            <a:pPr marL="0" indent="0">
              <a:buNone/>
            </a:pPr>
            <a:endParaRPr lang="zh-CN" altLang="en-US" dirty="0"/>
          </a:p>
        </p:txBody>
      </p:sp>
      <p:sp>
        <p:nvSpPr>
          <p:cNvPr id="4" name="灯片编号占位符 3"/>
          <p:cNvSpPr>
            <a:spLocks noGrp="1"/>
          </p:cNvSpPr>
          <p:nvPr>
            <p:ph type="sldNum" sz="quarter" idx="12"/>
          </p:nvPr>
        </p:nvSpPr>
        <p:spPr/>
        <p:txBody>
          <a:bodyPr/>
          <a:lstStyle/>
          <a:p>
            <a:fld id="{DE62D0AB-BF6E-4BE0-85BF-D4430B89A161}" type="slidenum">
              <a:rPr lang="en-US" altLang="zh-CN" smtClean="0"/>
              <a:pPr/>
              <a:t>79</a:t>
            </a:fld>
            <a:endParaRPr lang="en-US" altLang="zh-CN"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340768"/>
            <a:ext cx="8404684"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5" y="2492896"/>
            <a:ext cx="8404685" cy="68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16DB3137-2F5B-4049-804D-F0D46E42CC3C}"/>
              </a:ext>
            </a:extLst>
          </p:cNvPr>
          <p:cNvSpPr txBox="1"/>
          <p:nvPr/>
        </p:nvSpPr>
        <p:spPr>
          <a:xfrm>
            <a:off x="683568" y="3172986"/>
            <a:ext cx="3025187" cy="400110"/>
          </a:xfrm>
          <a:prstGeom prst="rect">
            <a:avLst/>
          </a:prstGeom>
          <a:noFill/>
        </p:spPr>
        <p:txBody>
          <a:bodyPr wrap="none" rtlCol="0">
            <a:spAutoFit/>
          </a:bodyPr>
          <a:lstStyle/>
          <a:p>
            <a:r>
              <a:rPr lang="zh-CN" altLang="en-US" sz="2000" dirty="0">
                <a:latin typeface="等线" panose="02010600030101010101" pitchFamily="2" charset="-122"/>
                <a:ea typeface="等线" panose="02010600030101010101" pitchFamily="2" charset="-122"/>
              </a:rPr>
              <a:t>注：可以再使用 </a:t>
            </a:r>
            <a:r>
              <a:rPr lang="en-US" altLang="zh-CN" sz="2000" dirty="0">
                <a:latin typeface="等线" panose="02010600030101010101" pitchFamily="2" charset="-122"/>
                <a:ea typeface="等线" panose="02010600030101010101" pitchFamily="2" charset="-122"/>
              </a:rPr>
              <a:t>1 </a:t>
            </a:r>
            <a:r>
              <a:rPr lang="zh-CN" altLang="en-US" sz="2000" dirty="0">
                <a:latin typeface="等线" panose="02010600030101010101" pitchFamily="2" charset="-122"/>
                <a:ea typeface="等线" panose="02010600030101010101" pitchFamily="2" charset="-122"/>
              </a:rPr>
              <a:t>個反閘</a:t>
            </a:r>
          </a:p>
        </p:txBody>
      </p:sp>
    </p:spTree>
    <p:extLst>
      <p:ext uri="{BB962C8B-B14F-4D97-AF65-F5344CB8AC3E}">
        <p14:creationId xmlns:p14="http://schemas.microsoft.com/office/powerpoint/2010/main" val="12325946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数字逻辑课程2014">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数字逻辑课程2014</Template>
  <TotalTime>14600</TotalTime>
  <Words>4184</Words>
  <Application>Microsoft Office PowerPoint</Application>
  <PresentationFormat>Affichage à l'écran (4:3)</PresentationFormat>
  <Paragraphs>953</Paragraphs>
  <Slides>79</Slides>
  <Notes>7</Notes>
  <HiddenSlides>0</HiddenSlides>
  <MMClips>0</MMClips>
  <ScaleCrop>false</ScaleCrop>
  <HeadingPairs>
    <vt:vector size="8" baseType="variant">
      <vt:variant>
        <vt:lpstr>Polices utilisées</vt:lpstr>
      </vt:variant>
      <vt:variant>
        <vt:i4>13</vt:i4>
      </vt:variant>
      <vt:variant>
        <vt:lpstr>Thème</vt:lpstr>
      </vt:variant>
      <vt:variant>
        <vt:i4>1</vt:i4>
      </vt:variant>
      <vt:variant>
        <vt:lpstr>Serveurs OLE incorporés</vt:lpstr>
      </vt:variant>
      <vt:variant>
        <vt:i4>3</vt:i4>
      </vt:variant>
      <vt:variant>
        <vt:lpstr>Titres des diapositives</vt:lpstr>
      </vt:variant>
      <vt:variant>
        <vt:i4>79</vt:i4>
      </vt:variant>
    </vt:vector>
  </HeadingPairs>
  <TitlesOfParts>
    <vt:vector size="96" baseType="lpstr">
      <vt:lpstr>华文楷体</vt:lpstr>
      <vt:lpstr>方正姚体</vt:lpstr>
      <vt:lpstr>等线</vt:lpstr>
      <vt:lpstr>Arial</vt:lpstr>
      <vt:lpstr>Cambria Math</vt:lpstr>
      <vt:lpstr>Courier New</vt:lpstr>
      <vt:lpstr>Franklin Gothic Book</vt:lpstr>
      <vt:lpstr>Georgia</vt:lpstr>
      <vt:lpstr>Perpetua</vt:lpstr>
      <vt:lpstr>Tahoma</vt:lpstr>
      <vt:lpstr>Times New Roman</vt:lpstr>
      <vt:lpstr>Wingdings</vt:lpstr>
      <vt:lpstr>Wingdings 2</vt:lpstr>
      <vt:lpstr>数字逻辑课程2014</vt:lpstr>
      <vt:lpstr>位图图像</vt:lpstr>
      <vt:lpstr>公式</vt:lpstr>
      <vt:lpstr>Image</vt:lpstr>
      <vt:lpstr>數位邏輯電路</vt:lpstr>
      <vt:lpstr>3.3  常用的中規模組合邏輯電路</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3.3.7   運算器</vt:lpstr>
      <vt:lpstr>集成4位元串列進位元加法器</vt:lpstr>
      <vt:lpstr>3.3.7   運算器(18)</vt:lpstr>
      <vt:lpstr>3.3.7   運算器(19)</vt:lpstr>
      <vt:lpstr>3.3.7   運算器(20)</vt:lpstr>
      <vt:lpstr>3.3.7   運算器(21)</vt:lpstr>
      <vt:lpstr>3.3.7   運算器(22)</vt:lpstr>
      <vt:lpstr>3.3.7   運算器(23)</vt:lpstr>
      <vt:lpstr>Présentation PowerPoint</vt:lpstr>
      <vt:lpstr>Présentation PowerPoint</vt:lpstr>
      <vt:lpstr>Présentation PowerPoint</vt:lpstr>
      <vt:lpstr>3.3.7   運算器(24)</vt:lpstr>
      <vt:lpstr>3.3.7   運算器(25)</vt:lpstr>
      <vt:lpstr>3.3.7   運算器(26)</vt:lpstr>
      <vt:lpstr>3.3.7   運算器(27)</vt:lpstr>
      <vt:lpstr>3.3.7   運算器(28)</vt:lpstr>
      <vt:lpstr>3.3.7   運算器(29)</vt:lpstr>
      <vt:lpstr>3.3.7   運算器（30）</vt:lpstr>
      <vt:lpstr>3.3.7   運算器（31）</vt:lpstr>
      <vt:lpstr>3.3.7   運算器</vt:lpstr>
      <vt:lpstr>3.3.7   運算器（32）</vt:lpstr>
      <vt:lpstr>3.3.7   運算器（33）</vt:lpstr>
      <vt:lpstr>3.3.7   運算器</vt:lpstr>
      <vt:lpstr>3.3.7   運算器(34)</vt:lpstr>
      <vt:lpstr>3.3.7   運算器(35)</vt:lpstr>
      <vt:lpstr>3.3.7   運算器(36)</vt:lpstr>
      <vt:lpstr>3.3.7   運算器(37)</vt:lpstr>
      <vt:lpstr>3.3.7   運算器(38)</vt:lpstr>
      <vt:lpstr>Présentation PowerPoint</vt:lpstr>
      <vt:lpstr>Présentation PowerPoint</vt:lpstr>
      <vt:lpstr>3.3.7   運算器(39)</vt:lpstr>
      <vt:lpstr>3.3.7   運算器(40)</vt:lpstr>
      <vt:lpstr>Présentation PowerPoint</vt:lpstr>
      <vt:lpstr>4位ALU   (SN74181)</vt:lpstr>
      <vt:lpstr>4位ALU功能</vt:lpstr>
      <vt:lpstr>4位ALU功能</vt:lpstr>
      <vt:lpstr>4位ALU功能</vt:lpstr>
      <vt:lpstr>4位ALU功能</vt:lpstr>
      <vt:lpstr>MIT數位邏輯電路課中的ALU課件</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3.3.7   運算器</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3.3.7   運算器</vt:lpstr>
      <vt:lpstr>Présentation PowerPoint</vt:lpstr>
    </vt:vector>
  </TitlesOfParts>
  <Company>cs-lab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逻辑代数及逻辑函数的化简</dc:title>
  <dc:creator>cs-lab23</dc:creator>
  <cp:lastModifiedBy>Terry C.</cp:lastModifiedBy>
  <cp:revision>429</cp:revision>
  <cp:lastPrinted>2017-04-01T01:38:23Z</cp:lastPrinted>
  <dcterms:created xsi:type="dcterms:W3CDTF">2002-01-07T08:53:03Z</dcterms:created>
  <dcterms:modified xsi:type="dcterms:W3CDTF">2025-04-05T08:00:16Z</dcterms:modified>
</cp:coreProperties>
</file>