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</p:sldMasterIdLst>
  <p:notesMasterIdLst>
    <p:notesMasterId r:id="rId97"/>
  </p:notesMasterIdLst>
  <p:sldIdLst>
    <p:sldId id="893" r:id="rId2"/>
    <p:sldId id="805" r:id="rId3"/>
    <p:sldId id="897" r:id="rId4"/>
    <p:sldId id="806" r:id="rId5"/>
    <p:sldId id="807" r:id="rId6"/>
    <p:sldId id="808" r:id="rId7"/>
    <p:sldId id="809" r:id="rId8"/>
    <p:sldId id="810" r:id="rId9"/>
    <p:sldId id="811" r:id="rId10"/>
    <p:sldId id="812" r:id="rId11"/>
    <p:sldId id="813" r:id="rId12"/>
    <p:sldId id="814" r:id="rId13"/>
    <p:sldId id="815" r:id="rId14"/>
    <p:sldId id="816" r:id="rId15"/>
    <p:sldId id="817" r:id="rId16"/>
    <p:sldId id="818" r:id="rId17"/>
    <p:sldId id="819" r:id="rId18"/>
    <p:sldId id="820" r:id="rId19"/>
    <p:sldId id="821" r:id="rId20"/>
    <p:sldId id="822" r:id="rId21"/>
    <p:sldId id="823" r:id="rId22"/>
    <p:sldId id="824" r:id="rId23"/>
    <p:sldId id="825" r:id="rId24"/>
    <p:sldId id="826" r:id="rId25"/>
    <p:sldId id="827" r:id="rId26"/>
    <p:sldId id="828" r:id="rId27"/>
    <p:sldId id="829" r:id="rId28"/>
    <p:sldId id="830" r:id="rId29"/>
    <p:sldId id="831" r:id="rId30"/>
    <p:sldId id="832" r:id="rId31"/>
    <p:sldId id="833" r:id="rId32"/>
    <p:sldId id="834" r:id="rId33"/>
    <p:sldId id="835" r:id="rId34"/>
    <p:sldId id="836" r:id="rId35"/>
    <p:sldId id="734" r:id="rId36"/>
    <p:sldId id="735" r:id="rId37"/>
    <p:sldId id="736" r:id="rId38"/>
    <p:sldId id="737" r:id="rId39"/>
    <p:sldId id="738" r:id="rId40"/>
    <p:sldId id="739" r:id="rId41"/>
    <p:sldId id="740" r:id="rId42"/>
    <p:sldId id="741" r:id="rId43"/>
    <p:sldId id="743" r:id="rId44"/>
    <p:sldId id="744" r:id="rId45"/>
    <p:sldId id="745" r:id="rId46"/>
    <p:sldId id="746" r:id="rId47"/>
    <p:sldId id="747" r:id="rId48"/>
    <p:sldId id="748" r:id="rId49"/>
    <p:sldId id="749" r:id="rId50"/>
    <p:sldId id="750" r:id="rId51"/>
    <p:sldId id="751" r:id="rId52"/>
    <p:sldId id="752" r:id="rId53"/>
    <p:sldId id="860" r:id="rId54"/>
    <p:sldId id="753" r:id="rId55"/>
    <p:sldId id="754" r:id="rId56"/>
    <p:sldId id="755" r:id="rId57"/>
    <p:sldId id="756" r:id="rId58"/>
    <p:sldId id="757" r:id="rId59"/>
    <p:sldId id="758" r:id="rId60"/>
    <p:sldId id="759" r:id="rId61"/>
    <p:sldId id="760" r:id="rId62"/>
    <p:sldId id="761" r:id="rId63"/>
    <p:sldId id="762" r:id="rId64"/>
    <p:sldId id="763" r:id="rId65"/>
    <p:sldId id="764" r:id="rId66"/>
    <p:sldId id="765" r:id="rId67"/>
    <p:sldId id="766" r:id="rId68"/>
    <p:sldId id="767" r:id="rId69"/>
    <p:sldId id="768" r:id="rId70"/>
    <p:sldId id="769" r:id="rId71"/>
    <p:sldId id="770" r:id="rId72"/>
    <p:sldId id="838" r:id="rId73"/>
    <p:sldId id="839" r:id="rId74"/>
    <p:sldId id="841" r:id="rId75"/>
    <p:sldId id="843" r:id="rId76"/>
    <p:sldId id="844" r:id="rId77"/>
    <p:sldId id="845" r:id="rId78"/>
    <p:sldId id="846" r:id="rId79"/>
    <p:sldId id="847" r:id="rId80"/>
    <p:sldId id="848" r:id="rId81"/>
    <p:sldId id="849" r:id="rId82"/>
    <p:sldId id="850" r:id="rId83"/>
    <p:sldId id="851" r:id="rId84"/>
    <p:sldId id="852" r:id="rId85"/>
    <p:sldId id="853" r:id="rId86"/>
    <p:sldId id="854" r:id="rId87"/>
    <p:sldId id="855" r:id="rId88"/>
    <p:sldId id="856" r:id="rId89"/>
    <p:sldId id="857" r:id="rId90"/>
    <p:sldId id="858" r:id="rId91"/>
    <p:sldId id="859" r:id="rId92"/>
    <p:sldId id="861" r:id="rId93"/>
    <p:sldId id="894" r:id="rId94"/>
    <p:sldId id="895" r:id="rId95"/>
    <p:sldId id="896" r:id="rId9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o pin" initials="tp" lastIdx="1" clrIdx="0">
    <p:extLst>
      <p:ext uri="{19B8F6BF-5375-455C-9EA6-DF929625EA0E}">
        <p15:presenceInfo xmlns:p15="http://schemas.microsoft.com/office/powerpoint/2012/main" userId="807e6fd19ccaffc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660066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9796" autoAdjust="0"/>
  </p:normalViewPr>
  <p:slideViewPr>
    <p:cSldViewPr>
      <p:cViewPr varScale="1">
        <p:scale>
          <a:sx n="87" d="100"/>
          <a:sy n="87" d="100"/>
        </p:scale>
        <p:origin x="1002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8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commentAuthors" Target="commentAuthors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27.xml"/><Relationship Id="rId18" Type="http://schemas.openxmlformats.org/officeDocument/2006/relationships/slide" Target="slides/slide38.xml"/><Relationship Id="rId26" Type="http://schemas.openxmlformats.org/officeDocument/2006/relationships/slide" Target="slides/slide50.xml"/><Relationship Id="rId39" Type="http://schemas.openxmlformats.org/officeDocument/2006/relationships/slide" Target="slides/slide71.xml"/><Relationship Id="rId21" Type="http://schemas.openxmlformats.org/officeDocument/2006/relationships/slide" Target="slides/slide42.xml"/><Relationship Id="rId34" Type="http://schemas.openxmlformats.org/officeDocument/2006/relationships/slide" Target="slides/slide65.xml"/><Relationship Id="rId7" Type="http://schemas.openxmlformats.org/officeDocument/2006/relationships/slide" Target="slides/slide14.xml"/><Relationship Id="rId12" Type="http://schemas.openxmlformats.org/officeDocument/2006/relationships/slide" Target="slides/slide25.xml"/><Relationship Id="rId17" Type="http://schemas.openxmlformats.org/officeDocument/2006/relationships/slide" Target="slides/slide36.xml"/><Relationship Id="rId25" Type="http://schemas.openxmlformats.org/officeDocument/2006/relationships/slide" Target="slides/slide49.xml"/><Relationship Id="rId33" Type="http://schemas.openxmlformats.org/officeDocument/2006/relationships/slide" Target="slides/slide64.xml"/><Relationship Id="rId38" Type="http://schemas.openxmlformats.org/officeDocument/2006/relationships/slide" Target="slides/slide70.xml"/><Relationship Id="rId2" Type="http://schemas.openxmlformats.org/officeDocument/2006/relationships/slide" Target="slides/slide5.xml"/><Relationship Id="rId16" Type="http://schemas.openxmlformats.org/officeDocument/2006/relationships/slide" Target="slides/slide35.xml"/><Relationship Id="rId20" Type="http://schemas.openxmlformats.org/officeDocument/2006/relationships/slide" Target="slides/slide41.xml"/><Relationship Id="rId29" Type="http://schemas.openxmlformats.org/officeDocument/2006/relationships/slide" Target="slides/slide55.xml"/><Relationship Id="rId1" Type="http://schemas.openxmlformats.org/officeDocument/2006/relationships/slide" Target="slides/slide4.xml"/><Relationship Id="rId6" Type="http://schemas.openxmlformats.org/officeDocument/2006/relationships/slide" Target="slides/slide13.xml"/><Relationship Id="rId11" Type="http://schemas.openxmlformats.org/officeDocument/2006/relationships/slide" Target="slides/slide24.xml"/><Relationship Id="rId24" Type="http://schemas.openxmlformats.org/officeDocument/2006/relationships/slide" Target="slides/slide48.xml"/><Relationship Id="rId32" Type="http://schemas.openxmlformats.org/officeDocument/2006/relationships/slide" Target="slides/slide58.xml"/><Relationship Id="rId37" Type="http://schemas.openxmlformats.org/officeDocument/2006/relationships/slide" Target="slides/slide68.xml"/><Relationship Id="rId5" Type="http://schemas.openxmlformats.org/officeDocument/2006/relationships/slide" Target="slides/slide12.xml"/><Relationship Id="rId15" Type="http://schemas.openxmlformats.org/officeDocument/2006/relationships/slide" Target="slides/slide30.xml"/><Relationship Id="rId23" Type="http://schemas.openxmlformats.org/officeDocument/2006/relationships/slide" Target="slides/slide47.xml"/><Relationship Id="rId28" Type="http://schemas.openxmlformats.org/officeDocument/2006/relationships/slide" Target="slides/slide54.xml"/><Relationship Id="rId36" Type="http://schemas.openxmlformats.org/officeDocument/2006/relationships/slide" Target="slides/slide67.xml"/><Relationship Id="rId10" Type="http://schemas.openxmlformats.org/officeDocument/2006/relationships/slide" Target="slides/slide23.xml"/><Relationship Id="rId19" Type="http://schemas.openxmlformats.org/officeDocument/2006/relationships/slide" Target="slides/slide39.xml"/><Relationship Id="rId31" Type="http://schemas.openxmlformats.org/officeDocument/2006/relationships/slide" Target="slides/slide57.xml"/><Relationship Id="rId4" Type="http://schemas.openxmlformats.org/officeDocument/2006/relationships/slide" Target="slides/slide10.xml"/><Relationship Id="rId9" Type="http://schemas.openxmlformats.org/officeDocument/2006/relationships/slide" Target="slides/slide20.xml"/><Relationship Id="rId14" Type="http://schemas.openxmlformats.org/officeDocument/2006/relationships/slide" Target="slides/slide29.xml"/><Relationship Id="rId22" Type="http://schemas.openxmlformats.org/officeDocument/2006/relationships/slide" Target="slides/slide43.xml"/><Relationship Id="rId27" Type="http://schemas.openxmlformats.org/officeDocument/2006/relationships/slide" Target="slides/slide53.xml"/><Relationship Id="rId30" Type="http://schemas.openxmlformats.org/officeDocument/2006/relationships/slide" Target="slides/slide56.xml"/><Relationship Id="rId35" Type="http://schemas.openxmlformats.org/officeDocument/2006/relationships/slide" Target="slides/slide66.xml"/><Relationship Id="rId8" Type="http://schemas.openxmlformats.org/officeDocument/2006/relationships/slide" Target="slides/slide18.xml"/><Relationship Id="rId3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Noto Serif SC" panose="02020200000000000000" pitchFamily="18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Noto Serif SC" panose="02020200000000000000" pitchFamily="18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068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6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06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Noto Serif SC" panose="02020200000000000000" pitchFamily="18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06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Noto Serif SC" panose="02020200000000000000" pitchFamily="18" charset="-122"/>
              </a:defRPr>
            </a:lvl1pPr>
          </a:lstStyle>
          <a:p>
            <a:fld id="{2799DC8E-3E0C-4B83-A882-B6D750375ACE}" type="slidenum">
              <a:rPr lang="en-US" altLang="zh-CN" smtClean="0"/>
              <a:pPr/>
              <a:t>‹N°›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359731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Noto Serif SC" panose="02020200000000000000" pitchFamily="18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Noto Serif SC" panose="02020200000000000000" pitchFamily="18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Noto Serif SC" panose="02020200000000000000" pitchFamily="18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Noto Serif SC" panose="02020200000000000000" pitchFamily="18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Noto Serif SC" panose="02020200000000000000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BBB324-01E1-4213-BA31-6B4D66F5F5DE}" type="slidenum">
              <a:rPr lang="en-US" altLang="zh-CN"/>
              <a:pPr/>
              <a:t>5</a:t>
            </a:fld>
            <a:endParaRPr lang="en-US" altLang="zh-CN" dirty="0"/>
          </a:p>
        </p:txBody>
      </p:sp>
      <p:sp>
        <p:nvSpPr>
          <p:cNvPr id="267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28600" indent="-228600"/>
            <a:r>
              <a:rPr lang="en-US" altLang="zh-CN" dirty="0"/>
              <a:t>3.</a:t>
            </a:r>
            <a:r>
              <a:rPr lang="zh-CN" altLang="en-US" dirty="0"/>
              <a:t>碼制變換解碼器：</a:t>
            </a:r>
          </a:p>
          <a:p>
            <a:pPr marL="228600" indent="-228600"/>
            <a:r>
              <a:rPr lang="zh-CN" altLang="en-US" dirty="0"/>
              <a:t>如：二－十進位</a:t>
            </a:r>
            <a:r>
              <a:rPr lang="en-US" altLang="zh-CN" dirty="0"/>
              <a:t>——</a:t>
            </a:r>
            <a:r>
              <a:rPr lang="zh-CN" altLang="en-US" dirty="0"/>
              <a:t>十進位解碼器</a:t>
            </a:r>
          </a:p>
          <a:p>
            <a:pPr marL="228600" indent="-228600"/>
            <a:r>
              <a:rPr lang="zh-CN" altLang="en-US" dirty="0"/>
              <a:t>	餘</a:t>
            </a:r>
            <a:r>
              <a:rPr lang="en-US" altLang="zh-CN" dirty="0"/>
              <a:t>3</a:t>
            </a:r>
            <a:r>
              <a:rPr lang="zh-CN" altLang="en-US" dirty="0"/>
              <a:t>碼</a:t>
            </a:r>
            <a:r>
              <a:rPr lang="en-US" altLang="zh-CN" dirty="0"/>
              <a:t>——</a:t>
            </a:r>
            <a:r>
              <a:rPr lang="zh-CN" altLang="en-US" dirty="0"/>
              <a:t>十進位解碼器</a:t>
            </a:r>
          </a:p>
          <a:p>
            <a:pPr marL="228600" indent="-228600"/>
            <a:r>
              <a:rPr lang="zh-CN" altLang="en-US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346690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E4FD3B-7B1C-4744-9E89-B7ED71893971}" type="slidenum">
              <a:rPr lang="en-US" altLang="zh-CN"/>
              <a:pPr/>
              <a:t>11</a:t>
            </a:fld>
            <a:endParaRPr lang="en-US" altLang="zh-CN" dirty="0"/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dirty="0"/>
              <a:t>結構：</a:t>
            </a:r>
            <a:r>
              <a:rPr lang="en-US" altLang="zh-CN" dirty="0"/>
              <a:t>Buffer    </a:t>
            </a:r>
            <a:r>
              <a:rPr lang="zh-CN" altLang="en-US" dirty="0"/>
              <a:t>減輕前級負載</a:t>
            </a:r>
          </a:p>
          <a:p>
            <a:r>
              <a:rPr lang="en-US" altLang="zh-CN" dirty="0"/>
              <a:t>Decoder</a:t>
            </a:r>
            <a:r>
              <a:rPr lang="zh-CN" altLang="en-US" dirty="0"/>
              <a:t>：如當某一輸入組合時，對應的僅有一個為“</a:t>
            </a:r>
            <a:r>
              <a:rPr lang="en-US" altLang="zh-CN" dirty="0"/>
              <a:t>0”</a:t>
            </a:r>
            <a:r>
              <a:rPr lang="zh-CN" altLang="en-US" dirty="0"/>
              <a:t>，則用</a:t>
            </a:r>
            <a:r>
              <a:rPr lang="en-US" altLang="zh-CN" dirty="0"/>
              <a:t>NAND</a:t>
            </a:r>
            <a:r>
              <a:rPr lang="zh-CN" altLang="en-US" dirty="0"/>
              <a:t>元件；</a:t>
            </a:r>
          </a:p>
          <a:p>
            <a:r>
              <a:rPr lang="zh-CN" altLang="en-US" dirty="0"/>
              <a:t>					如對應的僅有一個為“</a:t>
            </a:r>
            <a:r>
              <a:rPr lang="en-US" altLang="zh-CN" dirty="0"/>
              <a:t>1”</a:t>
            </a:r>
            <a:r>
              <a:rPr lang="zh-CN" altLang="en-US" dirty="0"/>
              <a:t>，則用</a:t>
            </a:r>
            <a:r>
              <a:rPr lang="en-US" altLang="zh-CN" dirty="0"/>
              <a:t>NOR</a:t>
            </a:r>
            <a:r>
              <a:rPr lang="zh-CN" altLang="en-US" dirty="0"/>
              <a:t>元件。</a:t>
            </a:r>
          </a:p>
        </p:txBody>
      </p:sp>
    </p:spTree>
    <p:extLst>
      <p:ext uri="{BB962C8B-B14F-4D97-AF65-F5344CB8AC3E}">
        <p14:creationId xmlns:p14="http://schemas.microsoft.com/office/powerpoint/2010/main" val="1251655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B4A491-ABD7-4189-8EB8-FBBB31DE7579}" type="slidenum">
              <a:rPr lang="en-US" altLang="zh-CN"/>
              <a:pPr/>
              <a:t>28</a:t>
            </a:fld>
            <a:endParaRPr lang="en-US" altLang="zh-CN" dirty="0"/>
          </a:p>
        </p:txBody>
      </p:sp>
      <p:sp>
        <p:nvSpPr>
          <p:cNvPr id="29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Decoder</a:t>
            </a:r>
            <a:r>
              <a:rPr lang="zh-CN" altLang="en-US" dirty="0"/>
              <a:t>中，設置了二級</a:t>
            </a:r>
            <a:r>
              <a:rPr lang="en-US" altLang="zh-CN" dirty="0"/>
              <a:t>Buffer</a:t>
            </a:r>
            <a:r>
              <a:rPr lang="zh-CN" altLang="en-US" dirty="0"/>
              <a:t>，它是造成輸出</a:t>
            </a:r>
            <a:r>
              <a:rPr lang="en-US" altLang="zh-CN" dirty="0"/>
              <a:t>Spike</a:t>
            </a:r>
            <a:r>
              <a:rPr lang="zh-CN" altLang="en-US" dirty="0"/>
              <a:t>和</a:t>
            </a:r>
            <a:r>
              <a:rPr lang="en-US" altLang="zh-CN" dirty="0"/>
              <a:t>Overlap</a:t>
            </a:r>
            <a:r>
              <a:rPr lang="zh-CN" altLang="en-US" dirty="0"/>
              <a:t>的根本原因之一 </a:t>
            </a:r>
          </a:p>
        </p:txBody>
      </p:sp>
    </p:spTree>
    <p:extLst>
      <p:ext uri="{BB962C8B-B14F-4D97-AF65-F5344CB8AC3E}">
        <p14:creationId xmlns:p14="http://schemas.microsoft.com/office/powerpoint/2010/main" val="2647397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074825-A0AF-4710-9843-B5BE9489FF66}" type="slidenum">
              <a:rPr lang="en-US" altLang="zh-CN"/>
              <a:pPr/>
              <a:t>60</a:t>
            </a:fld>
            <a:endParaRPr lang="en-US" altLang="zh-CN" dirty="0"/>
          </a:p>
        </p:txBody>
      </p:sp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dirty="0"/>
              <a:t>雖然邏輯結構比較簡單，但當</a:t>
            </a:r>
            <a:r>
              <a:rPr lang="en-US" altLang="zh-CN" dirty="0"/>
              <a:t>ABCD=0101~1111</a:t>
            </a:r>
            <a:r>
              <a:rPr lang="zh-CN" altLang="en-US" dirty="0"/>
              <a:t>時，</a:t>
            </a:r>
            <a:r>
              <a:rPr lang="en-US" altLang="zh-CN" dirty="0"/>
              <a:t>Y0~Y9</a:t>
            </a:r>
            <a:r>
              <a:rPr lang="zh-CN" altLang="en-US" dirty="0"/>
              <a:t>可能出現多個“</a:t>
            </a:r>
            <a:r>
              <a:rPr lang="en-US" altLang="zh-CN" dirty="0"/>
              <a:t>0”</a:t>
            </a:r>
            <a:r>
              <a:rPr lang="zh-CN" altLang="en-US" dirty="0"/>
              <a:t>。例 </a:t>
            </a:r>
            <a:r>
              <a:rPr lang="en-US" altLang="zh-CN" dirty="0"/>
              <a:t>ABCD=1111</a:t>
            </a:r>
            <a:r>
              <a:rPr lang="zh-CN" altLang="en-US" dirty="0"/>
              <a:t>時，</a:t>
            </a:r>
            <a:r>
              <a:rPr lang="en-US" altLang="zh-CN" dirty="0"/>
              <a:t>Y7=Y9=0</a:t>
            </a:r>
            <a:r>
              <a:rPr lang="zh-CN" altLang="en-US" dirty="0"/>
              <a:t>。非完全解碼</a:t>
            </a:r>
            <a:r>
              <a:rPr lang="en-US" altLang="zh-CN" dirty="0"/>
              <a:t>Decoder</a:t>
            </a:r>
            <a:r>
              <a:rPr lang="zh-CN" altLang="en-US" dirty="0"/>
              <a:t>一般用來驅動“燈”、顯示管等。 </a:t>
            </a:r>
          </a:p>
        </p:txBody>
      </p:sp>
    </p:spTree>
    <p:extLst>
      <p:ext uri="{BB962C8B-B14F-4D97-AF65-F5344CB8AC3E}">
        <p14:creationId xmlns:p14="http://schemas.microsoft.com/office/powerpoint/2010/main" val="3842161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B30A588-0376-425C-9358-AAC9F8B3AE78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圆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255848FC-EF2B-4D61-A77F-5D980ADF8F29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585EB-7DA3-4213-AA50-1E7517F29883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BBD98-E874-460E-93D2-A66AF25586CC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59822-5265-469A-AED4-05EC09D52EC2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圆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1BF70-ECAA-49E5-B0CD-0C6107879468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2B7BE3C-D36C-4FF6-A391-2F85173D0C5C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A1FA9-0AB0-4260-A7EE-88F170B505A2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4FE4C-3867-48B5-BA8A-ABF8890382DA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62D0AB-BF6E-4BE0-85BF-D4430B89A161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6106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447800"/>
            <a:ext cx="40005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62500" y="14478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62500" y="38481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066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E62D0AB-BF6E-4BE0-85BF-D4430B89A161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923215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734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432328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4461581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6423381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734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 dirty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/>
              <a:t>第二级</a:t>
            </a:r>
          </a:p>
          <a:p>
            <a:pPr lvl="2" eaLnBrk="1" latinLnBrk="0" hangingPunct="1"/>
            <a:r>
              <a:rPr kumimoji="0" lang="zh-CN" altLang="en-US" dirty="0"/>
              <a:t>第三级</a:t>
            </a:r>
          </a:p>
          <a:p>
            <a:pPr lvl="3" eaLnBrk="1" latinLnBrk="0" hangingPunct="1"/>
            <a:r>
              <a:rPr kumimoji="0" lang="zh-CN" altLang="en-US" dirty="0"/>
              <a:t>第四级</a:t>
            </a:r>
          </a:p>
          <a:p>
            <a:pPr lvl="4" eaLnBrk="1" latinLnBrk="0" hangingPunct="1"/>
            <a:r>
              <a:rPr kumimoji="0" lang="zh-CN" altLang="en-US" dirty="0"/>
              <a:t>第五级</a:t>
            </a:r>
            <a:endParaRPr kumimoji="0"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ea typeface="Noto Serif SC" panose="02020200000000000000" pitchFamily="18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ea typeface="Noto Serif SC" panose="02020200000000000000" pitchFamily="18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DE62D0AB-BF6E-4BE0-85BF-D4430B89A161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  <p:sldLayoutId id="2147483856" r:id="rId13"/>
    <p:sldLayoutId id="2147483858" r:id="rId14"/>
    <p:sldLayoutId id="2147483859" r:id="rId15"/>
    <p:sldLayoutId id="2147483860" r:id="rId16"/>
    <p:sldLayoutId id="2147483861" r:id="rId17"/>
    <p:sldLayoutId id="2147483821" r:id="rId1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000" b="1" kern="1200">
          <a:solidFill>
            <a:schemeClr val="tx1"/>
          </a:solidFill>
          <a:latin typeface="Noto Serif SC" panose="02020200000000000000" pitchFamily="18" charset="-122"/>
          <a:ea typeface="Noto Serif SC" panose="02020200000000000000" pitchFamily="18" charset="-122"/>
          <a:cs typeface="+mj-cs"/>
        </a:defRPr>
      </a:lvl1pPr>
    </p:titleStyle>
    <p:bodyStyle>
      <a:lvl1pPr marL="360000" indent="-36000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" pitchFamily="2" charset="2"/>
        <a:buChar char="n"/>
        <a:defRPr kumimoji="0" sz="3600" b="1" kern="1200">
          <a:solidFill>
            <a:schemeClr val="tx1"/>
          </a:solidFill>
          <a:latin typeface="Noto Serif SC" panose="02020200000000000000" pitchFamily="18" charset="-122"/>
          <a:ea typeface="Noto Serif SC" panose="02020200000000000000" pitchFamily="18" charset="-122"/>
          <a:cs typeface="+mn-cs"/>
        </a:defRPr>
      </a:lvl1pPr>
      <a:lvl2pPr marL="612000" indent="-3600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" pitchFamily="2" charset="2"/>
        <a:buChar char="p"/>
        <a:defRPr kumimoji="0" sz="3200" b="1" kern="1200">
          <a:solidFill>
            <a:schemeClr val="tx1"/>
          </a:solidFill>
          <a:latin typeface="Noto Serif SC" panose="02020200000000000000" pitchFamily="18" charset="-122"/>
          <a:ea typeface="Noto Serif SC" panose="02020200000000000000" pitchFamily="18" charset="-122"/>
          <a:cs typeface="+mn-cs"/>
        </a:defRPr>
      </a:lvl2pPr>
      <a:lvl3pPr marL="864000" indent="-3600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" pitchFamily="2" charset="2"/>
        <a:buChar char="l"/>
        <a:defRPr kumimoji="0" sz="2800" kern="1200">
          <a:solidFill>
            <a:schemeClr val="tx1"/>
          </a:solidFill>
          <a:latin typeface="Noto Serif SC" panose="02020200000000000000" pitchFamily="18" charset="-122"/>
          <a:ea typeface="Noto Serif SC" panose="02020200000000000000" pitchFamily="18" charset="-122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400" kern="1200">
          <a:solidFill>
            <a:schemeClr val="tx1"/>
          </a:solidFill>
          <a:latin typeface="Noto Serif SC" panose="02020200000000000000" pitchFamily="18" charset="-122"/>
          <a:ea typeface="Noto Serif SC" panose="02020200000000000000" pitchFamily="18" charset="-122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Noto Serif SC" panose="02020200000000000000" pitchFamily="18" charset="-122"/>
          <a:ea typeface="Noto Serif SC" panose="02020200000000000000" pitchFamily="18" charset="-122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4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4.wmf"/><Relationship Id="rId3" Type="http://schemas.openxmlformats.org/officeDocument/2006/relationships/image" Target="../media/image19.emf"/><Relationship Id="rId7" Type="http://schemas.openxmlformats.org/officeDocument/2006/relationships/image" Target="../media/image21.emf"/><Relationship Id="rId12" Type="http://schemas.openxmlformats.org/officeDocument/2006/relationships/oleObject" Target="../embeddings/oleObject23.bin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3.wmf"/><Relationship Id="rId5" Type="http://schemas.openxmlformats.org/officeDocument/2006/relationships/image" Target="../media/image20.emf"/><Relationship Id="rId15" Type="http://schemas.openxmlformats.org/officeDocument/2006/relationships/image" Target="../media/image25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2.emf"/><Relationship Id="rId14" Type="http://schemas.openxmlformats.org/officeDocument/2006/relationships/oleObject" Target="../embeddings/oleObject2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30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5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2.wmf"/><Relationship Id="rId5" Type="http://schemas.openxmlformats.org/officeDocument/2006/relationships/image" Target="../media/image39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1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image" Target="../media/image43.wmf"/><Relationship Id="rId7" Type="http://schemas.openxmlformats.org/officeDocument/2006/relationships/image" Target="../media/image45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0" Type="http://schemas.openxmlformats.org/officeDocument/2006/relationships/oleObject" Target="../embeddings/oleObject46.bin"/><Relationship Id="rId4" Type="http://schemas.openxmlformats.org/officeDocument/2006/relationships/oleObject" Target="../embeddings/oleObject43.bin"/><Relationship Id="rId9" Type="http://schemas.openxmlformats.org/officeDocument/2006/relationships/image" Target="../media/image46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wmf"/><Relationship Id="rId4" Type="http://schemas.openxmlformats.org/officeDocument/2006/relationships/oleObject" Target="../embeddings/oleObject48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55.wmf"/><Relationship Id="rId18" Type="http://schemas.openxmlformats.org/officeDocument/2006/relationships/oleObject" Target="../embeddings/oleObject57.bin"/><Relationship Id="rId26" Type="http://schemas.openxmlformats.org/officeDocument/2006/relationships/oleObject" Target="../embeddings/oleObject61.bin"/><Relationship Id="rId3" Type="http://schemas.openxmlformats.org/officeDocument/2006/relationships/image" Target="../media/image50.wmf"/><Relationship Id="rId21" Type="http://schemas.openxmlformats.org/officeDocument/2006/relationships/image" Target="../media/image59.wmf"/><Relationship Id="rId7" Type="http://schemas.openxmlformats.org/officeDocument/2006/relationships/image" Target="../media/image52.wmf"/><Relationship Id="rId12" Type="http://schemas.openxmlformats.org/officeDocument/2006/relationships/oleObject" Target="../embeddings/oleObject54.bin"/><Relationship Id="rId17" Type="http://schemas.openxmlformats.org/officeDocument/2006/relationships/image" Target="../media/image57.wmf"/><Relationship Id="rId25" Type="http://schemas.openxmlformats.org/officeDocument/2006/relationships/image" Target="../media/image61.wmf"/><Relationship Id="rId2" Type="http://schemas.openxmlformats.org/officeDocument/2006/relationships/oleObject" Target="../embeddings/oleObject49.bin"/><Relationship Id="rId16" Type="http://schemas.openxmlformats.org/officeDocument/2006/relationships/oleObject" Target="../embeddings/oleObject56.bin"/><Relationship Id="rId20" Type="http://schemas.openxmlformats.org/officeDocument/2006/relationships/oleObject" Target="../embeddings/oleObject58.bin"/><Relationship Id="rId29" Type="http://schemas.openxmlformats.org/officeDocument/2006/relationships/image" Target="../media/image63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54.wmf"/><Relationship Id="rId24" Type="http://schemas.openxmlformats.org/officeDocument/2006/relationships/oleObject" Target="../embeddings/oleObject60.bin"/><Relationship Id="rId5" Type="http://schemas.openxmlformats.org/officeDocument/2006/relationships/image" Target="../media/image51.wmf"/><Relationship Id="rId15" Type="http://schemas.openxmlformats.org/officeDocument/2006/relationships/image" Target="../media/image56.wmf"/><Relationship Id="rId23" Type="http://schemas.openxmlformats.org/officeDocument/2006/relationships/image" Target="../media/image60.wmf"/><Relationship Id="rId28" Type="http://schemas.openxmlformats.org/officeDocument/2006/relationships/oleObject" Target="../embeddings/oleObject62.bin"/><Relationship Id="rId10" Type="http://schemas.openxmlformats.org/officeDocument/2006/relationships/oleObject" Target="../embeddings/oleObject53.bin"/><Relationship Id="rId19" Type="http://schemas.openxmlformats.org/officeDocument/2006/relationships/image" Target="../media/image58.wmf"/><Relationship Id="rId4" Type="http://schemas.openxmlformats.org/officeDocument/2006/relationships/oleObject" Target="../embeddings/oleObject50.bin"/><Relationship Id="rId9" Type="http://schemas.openxmlformats.org/officeDocument/2006/relationships/image" Target="../media/image53.wmf"/><Relationship Id="rId14" Type="http://schemas.openxmlformats.org/officeDocument/2006/relationships/oleObject" Target="../embeddings/oleObject55.bin"/><Relationship Id="rId22" Type="http://schemas.openxmlformats.org/officeDocument/2006/relationships/oleObject" Target="../embeddings/oleObject59.bin"/><Relationship Id="rId27" Type="http://schemas.openxmlformats.org/officeDocument/2006/relationships/image" Target="../media/image62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68.bin"/><Relationship Id="rId18" Type="http://schemas.openxmlformats.org/officeDocument/2006/relationships/image" Target="../media/image71.wmf"/><Relationship Id="rId3" Type="http://schemas.openxmlformats.org/officeDocument/2006/relationships/oleObject" Target="../embeddings/oleObject63.bin"/><Relationship Id="rId21" Type="http://schemas.openxmlformats.org/officeDocument/2006/relationships/oleObject" Target="../embeddings/oleObject57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68.wmf"/><Relationship Id="rId17" Type="http://schemas.openxmlformats.org/officeDocument/2006/relationships/oleObject" Target="../embeddings/oleObject70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70.wmf"/><Relationship Id="rId20" Type="http://schemas.openxmlformats.org/officeDocument/2006/relationships/image" Target="../media/image7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10" Type="http://schemas.openxmlformats.org/officeDocument/2006/relationships/image" Target="../media/image67.wmf"/><Relationship Id="rId19" Type="http://schemas.openxmlformats.org/officeDocument/2006/relationships/oleObject" Target="../embeddings/oleObject71.bin"/><Relationship Id="rId4" Type="http://schemas.openxmlformats.org/officeDocument/2006/relationships/image" Target="../media/image64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69.wmf"/><Relationship Id="rId22" Type="http://schemas.openxmlformats.org/officeDocument/2006/relationships/image" Target="../media/image58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78.wmf"/><Relationship Id="rId18" Type="http://schemas.openxmlformats.org/officeDocument/2006/relationships/oleObject" Target="../embeddings/oleObject80.bin"/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12" Type="http://schemas.openxmlformats.org/officeDocument/2006/relationships/oleObject" Target="../embeddings/oleObject77.bin"/><Relationship Id="rId17" Type="http://schemas.openxmlformats.org/officeDocument/2006/relationships/image" Target="../media/image80.wmf"/><Relationship Id="rId2" Type="http://schemas.openxmlformats.org/officeDocument/2006/relationships/oleObject" Target="../embeddings/oleObject72.bin"/><Relationship Id="rId16" Type="http://schemas.openxmlformats.org/officeDocument/2006/relationships/oleObject" Target="../embeddings/oleObject7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77.wmf"/><Relationship Id="rId5" Type="http://schemas.openxmlformats.org/officeDocument/2006/relationships/image" Target="../media/image74.wmf"/><Relationship Id="rId15" Type="http://schemas.openxmlformats.org/officeDocument/2006/relationships/image" Target="../media/image79.wmf"/><Relationship Id="rId10" Type="http://schemas.openxmlformats.org/officeDocument/2006/relationships/oleObject" Target="../embeddings/oleObject76.bin"/><Relationship Id="rId19" Type="http://schemas.openxmlformats.org/officeDocument/2006/relationships/image" Target="../media/image81.wmf"/><Relationship Id="rId4" Type="http://schemas.openxmlformats.org/officeDocument/2006/relationships/oleObject" Target="../embeddings/oleObject73.bin"/><Relationship Id="rId9" Type="http://schemas.openxmlformats.org/officeDocument/2006/relationships/image" Target="../media/image76.wmf"/><Relationship Id="rId14" Type="http://schemas.openxmlformats.org/officeDocument/2006/relationships/oleObject" Target="../embeddings/oleObject78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oleObject" Target="../embeddings/oleObject8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wmf"/><Relationship Id="rId4" Type="http://schemas.openxmlformats.org/officeDocument/2006/relationships/oleObject" Target="../embeddings/oleObject82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7" Type="http://schemas.openxmlformats.org/officeDocument/2006/relationships/image" Target="../media/image86.wmf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5.bin"/><Relationship Id="rId5" Type="http://schemas.openxmlformats.org/officeDocument/2006/relationships/image" Target="../media/image85.png"/><Relationship Id="rId4" Type="http://schemas.openxmlformats.org/officeDocument/2006/relationships/oleObject" Target="../embeddings/oleObject84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oleObject" Target="../embeddings/oleObject8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emf"/><Relationship Id="rId4" Type="http://schemas.openxmlformats.org/officeDocument/2006/relationships/oleObject" Target="../embeddings/oleObject87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94.wmf"/><Relationship Id="rId3" Type="http://schemas.openxmlformats.org/officeDocument/2006/relationships/image" Target="../media/image89.wmf"/><Relationship Id="rId7" Type="http://schemas.openxmlformats.org/officeDocument/2006/relationships/image" Target="../media/image91.wmf"/><Relationship Id="rId12" Type="http://schemas.openxmlformats.org/officeDocument/2006/relationships/oleObject" Target="../embeddings/oleObject93.bin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93.wmf"/><Relationship Id="rId5" Type="http://schemas.openxmlformats.org/officeDocument/2006/relationships/image" Target="../media/image90.wmf"/><Relationship Id="rId15" Type="http://schemas.openxmlformats.org/officeDocument/2006/relationships/image" Target="../media/image95.wmf"/><Relationship Id="rId10" Type="http://schemas.openxmlformats.org/officeDocument/2006/relationships/oleObject" Target="../embeddings/oleObject92.bin"/><Relationship Id="rId4" Type="http://schemas.openxmlformats.org/officeDocument/2006/relationships/oleObject" Target="../embeddings/oleObject89.bin"/><Relationship Id="rId9" Type="http://schemas.openxmlformats.org/officeDocument/2006/relationships/image" Target="../media/image92.wmf"/><Relationship Id="rId14" Type="http://schemas.openxmlformats.org/officeDocument/2006/relationships/oleObject" Target="../embeddings/oleObject94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oleObject" Target="../embeddings/oleObject9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wmf"/><Relationship Id="rId4" Type="http://schemas.openxmlformats.org/officeDocument/2006/relationships/oleObject" Target="../embeddings/oleObject96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13" Type="http://schemas.openxmlformats.org/officeDocument/2006/relationships/image" Target="../media/image104.wmf"/><Relationship Id="rId3" Type="http://schemas.openxmlformats.org/officeDocument/2006/relationships/image" Target="../media/image99.wmf"/><Relationship Id="rId7" Type="http://schemas.openxmlformats.org/officeDocument/2006/relationships/image" Target="../media/image101.wmf"/><Relationship Id="rId12" Type="http://schemas.openxmlformats.org/officeDocument/2006/relationships/oleObject" Target="../embeddings/oleObject102.bin"/><Relationship Id="rId2" Type="http://schemas.openxmlformats.org/officeDocument/2006/relationships/oleObject" Target="../embeddings/oleObject9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103.wmf"/><Relationship Id="rId5" Type="http://schemas.openxmlformats.org/officeDocument/2006/relationships/image" Target="../media/image100.wmf"/><Relationship Id="rId15" Type="http://schemas.openxmlformats.org/officeDocument/2006/relationships/image" Target="../media/image105.wmf"/><Relationship Id="rId10" Type="http://schemas.openxmlformats.org/officeDocument/2006/relationships/oleObject" Target="../embeddings/oleObject101.bin"/><Relationship Id="rId4" Type="http://schemas.openxmlformats.org/officeDocument/2006/relationships/oleObject" Target="../embeddings/oleObject98.bin"/><Relationship Id="rId9" Type="http://schemas.openxmlformats.org/officeDocument/2006/relationships/image" Target="../media/image102.wmf"/><Relationship Id="rId14" Type="http://schemas.openxmlformats.org/officeDocument/2006/relationships/oleObject" Target="../embeddings/oleObject103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oleObject" Target="../embeddings/oleObject104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emf"/><Relationship Id="rId3" Type="http://schemas.openxmlformats.org/officeDocument/2006/relationships/image" Target="../media/image107.emf"/><Relationship Id="rId7" Type="http://schemas.openxmlformats.org/officeDocument/2006/relationships/image" Target="../media/image109.emf"/><Relationship Id="rId2" Type="http://schemas.openxmlformats.org/officeDocument/2006/relationships/oleObject" Target="../embeddings/oleObject10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7.bin"/><Relationship Id="rId5" Type="http://schemas.openxmlformats.org/officeDocument/2006/relationships/image" Target="../media/image108.emf"/><Relationship Id="rId10" Type="http://schemas.openxmlformats.org/officeDocument/2006/relationships/image" Target="../media/image111.emf"/><Relationship Id="rId4" Type="http://schemas.openxmlformats.org/officeDocument/2006/relationships/oleObject" Target="../embeddings/oleObject106.bin"/><Relationship Id="rId9" Type="http://schemas.openxmlformats.org/officeDocument/2006/relationships/oleObject" Target="../embeddings/oleObject108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oleObject" Target="../embeddings/oleObject109.bin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oleObject" Target="../embeddings/oleObject110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.wmf"/><Relationship Id="rId18" Type="http://schemas.openxmlformats.org/officeDocument/2006/relationships/oleObject" Target="../embeddings/oleObject119.bin"/><Relationship Id="rId26" Type="http://schemas.openxmlformats.org/officeDocument/2006/relationships/oleObject" Target="../embeddings/oleObject123.bin"/><Relationship Id="rId3" Type="http://schemas.openxmlformats.org/officeDocument/2006/relationships/image" Target="../media/image115.wmf"/><Relationship Id="rId21" Type="http://schemas.openxmlformats.org/officeDocument/2006/relationships/image" Target="../media/image124.wmf"/><Relationship Id="rId7" Type="http://schemas.openxmlformats.org/officeDocument/2006/relationships/image" Target="../media/image117.wmf"/><Relationship Id="rId12" Type="http://schemas.openxmlformats.org/officeDocument/2006/relationships/oleObject" Target="../embeddings/oleObject116.bin"/><Relationship Id="rId17" Type="http://schemas.openxmlformats.org/officeDocument/2006/relationships/image" Target="../media/image122.wmf"/><Relationship Id="rId25" Type="http://schemas.openxmlformats.org/officeDocument/2006/relationships/image" Target="../media/image126.wmf"/><Relationship Id="rId33" Type="http://schemas.openxmlformats.org/officeDocument/2006/relationships/image" Target="../media/image130.wmf"/><Relationship Id="rId2" Type="http://schemas.openxmlformats.org/officeDocument/2006/relationships/oleObject" Target="../embeddings/oleObject111.bin"/><Relationship Id="rId16" Type="http://schemas.openxmlformats.org/officeDocument/2006/relationships/oleObject" Target="../embeddings/oleObject118.bin"/><Relationship Id="rId20" Type="http://schemas.openxmlformats.org/officeDocument/2006/relationships/oleObject" Target="../embeddings/oleObject120.bin"/><Relationship Id="rId29" Type="http://schemas.openxmlformats.org/officeDocument/2006/relationships/image" Target="../media/image128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119.wmf"/><Relationship Id="rId24" Type="http://schemas.openxmlformats.org/officeDocument/2006/relationships/oleObject" Target="../embeddings/oleObject122.bin"/><Relationship Id="rId32" Type="http://schemas.openxmlformats.org/officeDocument/2006/relationships/oleObject" Target="../embeddings/oleObject126.bin"/><Relationship Id="rId5" Type="http://schemas.openxmlformats.org/officeDocument/2006/relationships/image" Target="../media/image116.wmf"/><Relationship Id="rId15" Type="http://schemas.openxmlformats.org/officeDocument/2006/relationships/image" Target="../media/image121.wmf"/><Relationship Id="rId23" Type="http://schemas.openxmlformats.org/officeDocument/2006/relationships/image" Target="../media/image125.wmf"/><Relationship Id="rId28" Type="http://schemas.openxmlformats.org/officeDocument/2006/relationships/oleObject" Target="../embeddings/oleObject124.bin"/><Relationship Id="rId10" Type="http://schemas.openxmlformats.org/officeDocument/2006/relationships/oleObject" Target="../embeddings/oleObject115.bin"/><Relationship Id="rId19" Type="http://schemas.openxmlformats.org/officeDocument/2006/relationships/image" Target="../media/image123.wmf"/><Relationship Id="rId31" Type="http://schemas.openxmlformats.org/officeDocument/2006/relationships/image" Target="../media/image129.wmf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18.wmf"/><Relationship Id="rId14" Type="http://schemas.openxmlformats.org/officeDocument/2006/relationships/oleObject" Target="../embeddings/oleObject117.bin"/><Relationship Id="rId22" Type="http://schemas.openxmlformats.org/officeDocument/2006/relationships/oleObject" Target="../embeddings/oleObject121.bin"/><Relationship Id="rId27" Type="http://schemas.openxmlformats.org/officeDocument/2006/relationships/image" Target="../media/image127.wmf"/><Relationship Id="rId30" Type="http://schemas.openxmlformats.org/officeDocument/2006/relationships/oleObject" Target="../embeddings/oleObject125.bin"/><Relationship Id="rId8" Type="http://schemas.openxmlformats.org/officeDocument/2006/relationships/oleObject" Target="../embeddings/oleObject114.bin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6.wmf"/><Relationship Id="rId18" Type="http://schemas.openxmlformats.org/officeDocument/2006/relationships/oleObject" Target="../embeddings/oleObject135.bin"/><Relationship Id="rId26" Type="http://schemas.openxmlformats.org/officeDocument/2006/relationships/oleObject" Target="../embeddings/oleObject139.bin"/><Relationship Id="rId3" Type="http://schemas.openxmlformats.org/officeDocument/2006/relationships/image" Target="../media/image131.wmf"/><Relationship Id="rId21" Type="http://schemas.openxmlformats.org/officeDocument/2006/relationships/image" Target="../media/image140.wmf"/><Relationship Id="rId34" Type="http://schemas.openxmlformats.org/officeDocument/2006/relationships/oleObject" Target="../embeddings/oleObject143.bin"/><Relationship Id="rId7" Type="http://schemas.openxmlformats.org/officeDocument/2006/relationships/image" Target="../media/image133.wmf"/><Relationship Id="rId12" Type="http://schemas.openxmlformats.org/officeDocument/2006/relationships/oleObject" Target="../embeddings/oleObject132.bin"/><Relationship Id="rId17" Type="http://schemas.openxmlformats.org/officeDocument/2006/relationships/image" Target="../media/image138.wmf"/><Relationship Id="rId25" Type="http://schemas.openxmlformats.org/officeDocument/2006/relationships/image" Target="../media/image142.wmf"/><Relationship Id="rId33" Type="http://schemas.openxmlformats.org/officeDocument/2006/relationships/image" Target="../media/image146.wmf"/><Relationship Id="rId2" Type="http://schemas.openxmlformats.org/officeDocument/2006/relationships/oleObject" Target="../embeddings/oleObject127.bin"/><Relationship Id="rId16" Type="http://schemas.openxmlformats.org/officeDocument/2006/relationships/oleObject" Target="../embeddings/oleObject134.bin"/><Relationship Id="rId20" Type="http://schemas.openxmlformats.org/officeDocument/2006/relationships/oleObject" Target="../embeddings/oleObject136.bin"/><Relationship Id="rId29" Type="http://schemas.openxmlformats.org/officeDocument/2006/relationships/image" Target="../media/image144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9.bin"/><Relationship Id="rId11" Type="http://schemas.openxmlformats.org/officeDocument/2006/relationships/image" Target="../media/image135.wmf"/><Relationship Id="rId24" Type="http://schemas.openxmlformats.org/officeDocument/2006/relationships/oleObject" Target="../embeddings/oleObject138.bin"/><Relationship Id="rId32" Type="http://schemas.openxmlformats.org/officeDocument/2006/relationships/oleObject" Target="../embeddings/oleObject142.bin"/><Relationship Id="rId5" Type="http://schemas.openxmlformats.org/officeDocument/2006/relationships/image" Target="../media/image132.wmf"/><Relationship Id="rId15" Type="http://schemas.openxmlformats.org/officeDocument/2006/relationships/image" Target="../media/image137.wmf"/><Relationship Id="rId23" Type="http://schemas.openxmlformats.org/officeDocument/2006/relationships/image" Target="../media/image141.wmf"/><Relationship Id="rId28" Type="http://schemas.openxmlformats.org/officeDocument/2006/relationships/oleObject" Target="../embeddings/oleObject140.bin"/><Relationship Id="rId10" Type="http://schemas.openxmlformats.org/officeDocument/2006/relationships/oleObject" Target="../embeddings/oleObject131.bin"/><Relationship Id="rId19" Type="http://schemas.openxmlformats.org/officeDocument/2006/relationships/image" Target="../media/image139.wmf"/><Relationship Id="rId31" Type="http://schemas.openxmlformats.org/officeDocument/2006/relationships/image" Target="../media/image145.wmf"/><Relationship Id="rId4" Type="http://schemas.openxmlformats.org/officeDocument/2006/relationships/oleObject" Target="../embeddings/oleObject128.bin"/><Relationship Id="rId9" Type="http://schemas.openxmlformats.org/officeDocument/2006/relationships/image" Target="../media/image134.wmf"/><Relationship Id="rId14" Type="http://schemas.openxmlformats.org/officeDocument/2006/relationships/oleObject" Target="../embeddings/oleObject133.bin"/><Relationship Id="rId22" Type="http://schemas.openxmlformats.org/officeDocument/2006/relationships/oleObject" Target="../embeddings/oleObject137.bin"/><Relationship Id="rId27" Type="http://schemas.openxmlformats.org/officeDocument/2006/relationships/image" Target="../media/image143.wmf"/><Relationship Id="rId30" Type="http://schemas.openxmlformats.org/officeDocument/2006/relationships/oleObject" Target="../embeddings/oleObject141.bin"/><Relationship Id="rId35" Type="http://schemas.openxmlformats.org/officeDocument/2006/relationships/image" Target="../media/image147.wmf"/><Relationship Id="rId8" Type="http://schemas.openxmlformats.org/officeDocument/2006/relationships/oleObject" Target="../embeddings/oleObject130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13" Type="http://schemas.openxmlformats.org/officeDocument/2006/relationships/image" Target="../media/image153.wmf"/><Relationship Id="rId18" Type="http://schemas.openxmlformats.org/officeDocument/2006/relationships/oleObject" Target="../embeddings/oleObject152.bin"/><Relationship Id="rId26" Type="http://schemas.openxmlformats.org/officeDocument/2006/relationships/oleObject" Target="../embeddings/oleObject156.bin"/><Relationship Id="rId3" Type="http://schemas.openxmlformats.org/officeDocument/2006/relationships/image" Target="../media/image148.png"/><Relationship Id="rId21" Type="http://schemas.openxmlformats.org/officeDocument/2006/relationships/image" Target="../media/image157.wmf"/><Relationship Id="rId7" Type="http://schemas.openxmlformats.org/officeDocument/2006/relationships/image" Target="../media/image150.png"/><Relationship Id="rId12" Type="http://schemas.openxmlformats.org/officeDocument/2006/relationships/oleObject" Target="../embeddings/oleObject149.bin"/><Relationship Id="rId17" Type="http://schemas.openxmlformats.org/officeDocument/2006/relationships/image" Target="../media/image155.wmf"/><Relationship Id="rId25" Type="http://schemas.openxmlformats.org/officeDocument/2006/relationships/image" Target="../media/image159.wmf"/><Relationship Id="rId2" Type="http://schemas.openxmlformats.org/officeDocument/2006/relationships/oleObject" Target="../embeddings/oleObject144.bin"/><Relationship Id="rId16" Type="http://schemas.openxmlformats.org/officeDocument/2006/relationships/oleObject" Target="../embeddings/oleObject151.bin"/><Relationship Id="rId20" Type="http://schemas.openxmlformats.org/officeDocument/2006/relationships/oleObject" Target="../embeddings/oleObject15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152.png"/><Relationship Id="rId24" Type="http://schemas.openxmlformats.org/officeDocument/2006/relationships/oleObject" Target="../embeddings/oleObject155.bin"/><Relationship Id="rId5" Type="http://schemas.openxmlformats.org/officeDocument/2006/relationships/image" Target="../media/image149.png"/><Relationship Id="rId15" Type="http://schemas.openxmlformats.org/officeDocument/2006/relationships/image" Target="../media/image154.wmf"/><Relationship Id="rId23" Type="http://schemas.openxmlformats.org/officeDocument/2006/relationships/image" Target="../media/image158.wmf"/><Relationship Id="rId10" Type="http://schemas.openxmlformats.org/officeDocument/2006/relationships/oleObject" Target="../embeddings/oleObject148.bin"/><Relationship Id="rId19" Type="http://schemas.openxmlformats.org/officeDocument/2006/relationships/image" Target="../media/image156.wmf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151.png"/><Relationship Id="rId14" Type="http://schemas.openxmlformats.org/officeDocument/2006/relationships/oleObject" Target="../embeddings/oleObject150.bin"/><Relationship Id="rId22" Type="http://schemas.openxmlformats.org/officeDocument/2006/relationships/oleObject" Target="../embeddings/oleObject154.bin"/><Relationship Id="rId27" Type="http://schemas.openxmlformats.org/officeDocument/2006/relationships/image" Target="../media/image160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0.bin"/><Relationship Id="rId13" Type="http://schemas.openxmlformats.org/officeDocument/2006/relationships/image" Target="../media/image166.wmf"/><Relationship Id="rId18" Type="http://schemas.openxmlformats.org/officeDocument/2006/relationships/oleObject" Target="../embeddings/oleObject165.bin"/><Relationship Id="rId3" Type="http://schemas.openxmlformats.org/officeDocument/2006/relationships/image" Target="../media/image161.wmf"/><Relationship Id="rId7" Type="http://schemas.openxmlformats.org/officeDocument/2006/relationships/image" Target="../media/image163.wmf"/><Relationship Id="rId12" Type="http://schemas.openxmlformats.org/officeDocument/2006/relationships/oleObject" Target="../embeddings/oleObject162.bin"/><Relationship Id="rId17" Type="http://schemas.openxmlformats.org/officeDocument/2006/relationships/image" Target="../media/image168.wmf"/><Relationship Id="rId2" Type="http://schemas.openxmlformats.org/officeDocument/2006/relationships/oleObject" Target="../embeddings/oleObject157.bin"/><Relationship Id="rId16" Type="http://schemas.openxmlformats.org/officeDocument/2006/relationships/oleObject" Target="../embeddings/oleObject16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9.bin"/><Relationship Id="rId11" Type="http://schemas.openxmlformats.org/officeDocument/2006/relationships/image" Target="../media/image165.wmf"/><Relationship Id="rId5" Type="http://schemas.openxmlformats.org/officeDocument/2006/relationships/image" Target="../media/image162.wmf"/><Relationship Id="rId15" Type="http://schemas.openxmlformats.org/officeDocument/2006/relationships/image" Target="../media/image167.wmf"/><Relationship Id="rId10" Type="http://schemas.openxmlformats.org/officeDocument/2006/relationships/oleObject" Target="../embeddings/oleObject161.bin"/><Relationship Id="rId19" Type="http://schemas.openxmlformats.org/officeDocument/2006/relationships/image" Target="../media/image169.wmf"/><Relationship Id="rId4" Type="http://schemas.openxmlformats.org/officeDocument/2006/relationships/oleObject" Target="../embeddings/oleObject158.bin"/><Relationship Id="rId9" Type="http://schemas.openxmlformats.org/officeDocument/2006/relationships/image" Target="../media/image164.wmf"/><Relationship Id="rId14" Type="http://schemas.openxmlformats.org/officeDocument/2006/relationships/oleObject" Target="../embeddings/oleObject163.bin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oleObject" Target="../embeddings/oleObject166.bin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7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2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oleObject" Target="../embeddings/oleObject168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4.wmf"/><Relationship Id="rId4" Type="http://schemas.openxmlformats.org/officeDocument/2006/relationships/oleObject" Target="../embeddings/oleObject169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wmf"/><Relationship Id="rId2" Type="http://schemas.openxmlformats.org/officeDocument/2006/relationships/oleObject" Target="../embeddings/oleObject17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6.png"/><Relationship Id="rId4" Type="http://schemas.openxmlformats.org/officeDocument/2006/relationships/oleObject" Target="../embeddings/oleObject171.bin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wmf"/><Relationship Id="rId2" Type="http://schemas.openxmlformats.org/officeDocument/2006/relationships/oleObject" Target="../embeddings/oleObject17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8.png"/><Relationship Id="rId4" Type="http://schemas.openxmlformats.org/officeDocument/2006/relationships/oleObject" Target="../embeddings/oleObject173.bin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oleObject" Target="../embeddings/oleObject174.bin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wmf"/><Relationship Id="rId2" Type="http://schemas.openxmlformats.org/officeDocument/2006/relationships/oleObject" Target="../embeddings/oleObject175.bin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wmf"/><Relationship Id="rId2" Type="http://schemas.openxmlformats.org/officeDocument/2006/relationships/oleObject" Target="../embeddings/oleObject176.bin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0.bin"/><Relationship Id="rId13" Type="http://schemas.openxmlformats.org/officeDocument/2006/relationships/image" Target="../media/image187.wmf"/><Relationship Id="rId3" Type="http://schemas.openxmlformats.org/officeDocument/2006/relationships/image" Target="../media/image182.wmf"/><Relationship Id="rId7" Type="http://schemas.openxmlformats.org/officeDocument/2006/relationships/image" Target="../media/image184.wmf"/><Relationship Id="rId12" Type="http://schemas.openxmlformats.org/officeDocument/2006/relationships/oleObject" Target="../embeddings/oleObject182.bin"/><Relationship Id="rId2" Type="http://schemas.openxmlformats.org/officeDocument/2006/relationships/oleObject" Target="../embeddings/oleObject17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9.bin"/><Relationship Id="rId11" Type="http://schemas.openxmlformats.org/officeDocument/2006/relationships/image" Target="../media/image186.wmf"/><Relationship Id="rId5" Type="http://schemas.openxmlformats.org/officeDocument/2006/relationships/image" Target="../media/image183.wmf"/><Relationship Id="rId15" Type="http://schemas.openxmlformats.org/officeDocument/2006/relationships/image" Target="../media/image188.wmf"/><Relationship Id="rId10" Type="http://schemas.openxmlformats.org/officeDocument/2006/relationships/oleObject" Target="../embeddings/oleObject181.bin"/><Relationship Id="rId4" Type="http://schemas.openxmlformats.org/officeDocument/2006/relationships/oleObject" Target="../embeddings/oleObject178.bin"/><Relationship Id="rId9" Type="http://schemas.openxmlformats.org/officeDocument/2006/relationships/image" Target="../media/image185.wmf"/><Relationship Id="rId14" Type="http://schemas.openxmlformats.org/officeDocument/2006/relationships/oleObject" Target="../embeddings/oleObject183.bin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2" Type="http://schemas.openxmlformats.org/officeDocument/2006/relationships/oleObject" Target="../embeddings/oleObject184.bin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wmf"/><Relationship Id="rId2" Type="http://schemas.openxmlformats.org/officeDocument/2006/relationships/oleObject" Target="../embeddings/oleObject185.bin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wmf"/><Relationship Id="rId2" Type="http://schemas.openxmlformats.org/officeDocument/2006/relationships/oleObject" Target="../embeddings/oleObject186.bin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emf"/><Relationship Id="rId3" Type="http://schemas.openxmlformats.org/officeDocument/2006/relationships/image" Target="../media/image193.emf"/><Relationship Id="rId7" Type="http://schemas.openxmlformats.org/officeDocument/2006/relationships/image" Target="../media/image195.emf"/><Relationship Id="rId2" Type="http://schemas.openxmlformats.org/officeDocument/2006/relationships/oleObject" Target="../embeddings/oleObject18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9.bin"/><Relationship Id="rId5" Type="http://schemas.openxmlformats.org/officeDocument/2006/relationships/image" Target="../media/image194.emf"/><Relationship Id="rId10" Type="http://schemas.openxmlformats.org/officeDocument/2006/relationships/image" Target="../media/image197.wmf"/><Relationship Id="rId4" Type="http://schemas.openxmlformats.org/officeDocument/2006/relationships/oleObject" Target="../embeddings/oleObject188.bin"/><Relationship Id="rId9" Type="http://schemas.openxmlformats.org/officeDocument/2006/relationships/oleObject" Target="../embeddings/oleObject190.bin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wmf"/><Relationship Id="rId7" Type="http://schemas.openxmlformats.org/officeDocument/2006/relationships/image" Target="../media/image200.wmf"/><Relationship Id="rId2" Type="http://schemas.openxmlformats.org/officeDocument/2006/relationships/oleObject" Target="../embeddings/oleObject19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3.bin"/><Relationship Id="rId5" Type="http://schemas.openxmlformats.org/officeDocument/2006/relationships/image" Target="../media/image199.wmf"/><Relationship Id="rId4" Type="http://schemas.openxmlformats.org/officeDocument/2006/relationships/oleObject" Target="../embeddings/oleObject192.bin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wmf"/><Relationship Id="rId2" Type="http://schemas.openxmlformats.org/officeDocument/2006/relationships/oleObject" Target="../embeddings/oleObject194.bin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8.bin"/><Relationship Id="rId13" Type="http://schemas.openxmlformats.org/officeDocument/2006/relationships/image" Target="../media/image207.wmf"/><Relationship Id="rId18" Type="http://schemas.openxmlformats.org/officeDocument/2006/relationships/oleObject" Target="../embeddings/oleObject203.bin"/><Relationship Id="rId3" Type="http://schemas.openxmlformats.org/officeDocument/2006/relationships/image" Target="../media/image202.wmf"/><Relationship Id="rId21" Type="http://schemas.openxmlformats.org/officeDocument/2006/relationships/image" Target="../media/image211.wmf"/><Relationship Id="rId7" Type="http://schemas.openxmlformats.org/officeDocument/2006/relationships/image" Target="../media/image204.wmf"/><Relationship Id="rId12" Type="http://schemas.openxmlformats.org/officeDocument/2006/relationships/oleObject" Target="../embeddings/oleObject200.bin"/><Relationship Id="rId17" Type="http://schemas.openxmlformats.org/officeDocument/2006/relationships/image" Target="../media/image209.wmf"/><Relationship Id="rId2" Type="http://schemas.openxmlformats.org/officeDocument/2006/relationships/oleObject" Target="../embeddings/oleObject195.bin"/><Relationship Id="rId16" Type="http://schemas.openxmlformats.org/officeDocument/2006/relationships/oleObject" Target="../embeddings/oleObject202.bin"/><Relationship Id="rId20" Type="http://schemas.openxmlformats.org/officeDocument/2006/relationships/oleObject" Target="../embeddings/oleObject20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7.bin"/><Relationship Id="rId11" Type="http://schemas.openxmlformats.org/officeDocument/2006/relationships/image" Target="../media/image206.wmf"/><Relationship Id="rId5" Type="http://schemas.openxmlformats.org/officeDocument/2006/relationships/image" Target="../media/image203.wmf"/><Relationship Id="rId15" Type="http://schemas.openxmlformats.org/officeDocument/2006/relationships/image" Target="../media/image208.wmf"/><Relationship Id="rId10" Type="http://schemas.openxmlformats.org/officeDocument/2006/relationships/oleObject" Target="../embeddings/oleObject199.bin"/><Relationship Id="rId19" Type="http://schemas.openxmlformats.org/officeDocument/2006/relationships/image" Target="../media/image210.wmf"/><Relationship Id="rId4" Type="http://schemas.openxmlformats.org/officeDocument/2006/relationships/oleObject" Target="../embeddings/oleObject196.bin"/><Relationship Id="rId9" Type="http://schemas.openxmlformats.org/officeDocument/2006/relationships/image" Target="../media/image205.wmf"/><Relationship Id="rId14" Type="http://schemas.openxmlformats.org/officeDocument/2006/relationships/oleObject" Target="../embeddings/oleObject201.bin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wmf"/><Relationship Id="rId2" Type="http://schemas.openxmlformats.org/officeDocument/2006/relationships/oleObject" Target="../embeddings/oleObject205.bin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9.bin"/><Relationship Id="rId3" Type="http://schemas.openxmlformats.org/officeDocument/2006/relationships/image" Target="../media/image213.wmf"/><Relationship Id="rId7" Type="http://schemas.openxmlformats.org/officeDocument/2006/relationships/image" Target="../media/image215.wmf"/><Relationship Id="rId2" Type="http://schemas.openxmlformats.org/officeDocument/2006/relationships/oleObject" Target="../embeddings/oleObject20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8.bin"/><Relationship Id="rId11" Type="http://schemas.openxmlformats.org/officeDocument/2006/relationships/image" Target="../media/image217.wmf"/><Relationship Id="rId5" Type="http://schemas.openxmlformats.org/officeDocument/2006/relationships/image" Target="../media/image214.png"/><Relationship Id="rId10" Type="http://schemas.openxmlformats.org/officeDocument/2006/relationships/oleObject" Target="../embeddings/oleObject210.bin"/><Relationship Id="rId4" Type="http://schemas.openxmlformats.org/officeDocument/2006/relationships/oleObject" Target="../embeddings/oleObject207.bin"/><Relationship Id="rId9" Type="http://schemas.openxmlformats.org/officeDocument/2006/relationships/image" Target="../media/image216.w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wmf"/><Relationship Id="rId2" Type="http://schemas.openxmlformats.org/officeDocument/2006/relationships/oleObject" Target="../embeddings/oleObject211.bin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5.bin"/><Relationship Id="rId13" Type="http://schemas.openxmlformats.org/officeDocument/2006/relationships/image" Target="../media/image224.wmf"/><Relationship Id="rId18" Type="http://schemas.openxmlformats.org/officeDocument/2006/relationships/oleObject" Target="../embeddings/oleObject220.bin"/><Relationship Id="rId3" Type="http://schemas.openxmlformats.org/officeDocument/2006/relationships/image" Target="../media/image219.wmf"/><Relationship Id="rId7" Type="http://schemas.openxmlformats.org/officeDocument/2006/relationships/image" Target="../media/image221.wmf"/><Relationship Id="rId12" Type="http://schemas.openxmlformats.org/officeDocument/2006/relationships/oleObject" Target="../embeddings/oleObject217.bin"/><Relationship Id="rId17" Type="http://schemas.openxmlformats.org/officeDocument/2006/relationships/image" Target="../media/image226.wmf"/><Relationship Id="rId2" Type="http://schemas.openxmlformats.org/officeDocument/2006/relationships/oleObject" Target="../embeddings/oleObject212.bin"/><Relationship Id="rId16" Type="http://schemas.openxmlformats.org/officeDocument/2006/relationships/oleObject" Target="../embeddings/oleObject2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4.bin"/><Relationship Id="rId11" Type="http://schemas.openxmlformats.org/officeDocument/2006/relationships/image" Target="../media/image223.wmf"/><Relationship Id="rId5" Type="http://schemas.openxmlformats.org/officeDocument/2006/relationships/image" Target="../media/image220.wmf"/><Relationship Id="rId15" Type="http://schemas.openxmlformats.org/officeDocument/2006/relationships/image" Target="../media/image225.wmf"/><Relationship Id="rId10" Type="http://schemas.openxmlformats.org/officeDocument/2006/relationships/oleObject" Target="../embeddings/oleObject216.bin"/><Relationship Id="rId19" Type="http://schemas.openxmlformats.org/officeDocument/2006/relationships/image" Target="../media/image227.wmf"/><Relationship Id="rId4" Type="http://schemas.openxmlformats.org/officeDocument/2006/relationships/oleObject" Target="../embeddings/oleObject213.bin"/><Relationship Id="rId9" Type="http://schemas.openxmlformats.org/officeDocument/2006/relationships/image" Target="../media/image222.wmf"/><Relationship Id="rId14" Type="http://schemas.openxmlformats.org/officeDocument/2006/relationships/oleObject" Target="../embeddings/oleObject218.bin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jpe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jpe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jpeg"/><Relationship Id="rId2" Type="http://schemas.openxmlformats.org/officeDocument/2006/relationships/image" Target="../media/image230.jpe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jpeg"/><Relationship Id="rId2" Type="http://schemas.openxmlformats.org/officeDocument/2006/relationships/image" Target="../media/image23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65635" y="3573463"/>
            <a:ext cx="6400800" cy="2376487"/>
          </a:xfrm>
          <a:noFill/>
          <a:ln/>
        </p:spPr>
        <p:txBody>
          <a:bodyPr lIns="91440" tIns="45720" rIns="91440" bIns="45720" anchor="t"/>
          <a:lstStyle/>
          <a:p>
            <a:r>
              <a:rPr lang="zh-CN" altLang="en-US" dirty="0">
                <a:solidFill>
                  <a:schemeClr val="tx1"/>
                </a:solidFill>
              </a:rPr>
              <a:t>清華大學電腦系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陶品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taopin@tsinghua.edu.cn</a:t>
            </a:r>
          </a:p>
          <a:p>
            <a:r>
              <a:rPr lang="zh-CN" altLang="en-US" sz="2400" dirty="0">
                <a:solidFill>
                  <a:schemeClr val="tx1"/>
                </a:solidFill>
              </a:rPr>
              <a:t>辦公室：</a:t>
            </a:r>
            <a:r>
              <a:rPr lang="en-US" altLang="zh-CN" sz="2400" dirty="0">
                <a:solidFill>
                  <a:schemeClr val="tx1"/>
                </a:solidFill>
              </a:rPr>
              <a:t>FIT 3</a:t>
            </a:r>
            <a:r>
              <a:rPr lang="zh-CN" altLang="en-US" sz="2400" dirty="0">
                <a:solidFill>
                  <a:schemeClr val="tx1"/>
                </a:solidFill>
              </a:rPr>
              <a:t>－</a:t>
            </a:r>
            <a:r>
              <a:rPr lang="en-US" altLang="zh-CN" sz="2400" dirty="0">
                <a:solidFill>
                  <a:schemeClr val="tx1"/>
                </a:solidFill>
              </a:rPr>
              <a:t>531 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13717813059</a:t>
            </a:r>
            <a:r>
              <a:rPr lang="zh-CN" altLang="en-US" sz="2400" dirty="0">
                <a:solidFill>
                  <a:schemeClr val="tx1"/>
                </a:solidFill>
              </a:rPr>
              <a:t>）            </a:t>
            </a:r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1412875"/>
            <a:ext cx="7772400" cy="1592263"/>
          </a:xfrm>
        </p:spPr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</a:rPr>
              <a:t>數位邏輯電路</a:t>
            </a:r>
            <a:endParaRPr lang="en-US" altLang="zh-CN" sz="3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393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>
                <a:latin typeface="+mn-ea"/>
                <a:ea typeface="+mn-ea"/>
              </a:rPr>
              <a:t>第三章   組合邏輯電路</a:t>
            </a:r>
          </a:p>
        </p:txBody>
      </p:sp>
      <p:sp>
        <p:nvSpPr>
          <p:cNvPr id="2" name="内容占位符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64195" name="Text Box 1027"/>
          <p:cNvSpPr txBox="1">
            <a:spLocks noChangeArrowheads="1"/>
          </p:cNvSpPr>
          <p:nvPr/>
        </p:nvSpPr>
        <p:spPr bwMode="auto">
          <a:xfrm>
            <a:off x="1524000" y="2286000"/>
            <a:ext cx="6792416" cy="3725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+mn-ea"/>
                <a:ea typeface="+mn-ea"/>
              </a:rPr>
              <a:t>3.1  </a:t>
            </a:r>
            <a:r>
              <a:rPr lang="zh-CN" altLang="en-US" sz="2800" b="1" dirty="0">
                <a:latin typeface="+mn-ea"/>
                <a:ea typeface="+mn-ea"/>
              </a:rPr>
              <a:t>引言</a:t>
            </a: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+mn-ea"/>
                <a:ea typeface="+mn-ea"/>
              </a:rPr>
              <a:t>3.2  </a:t>
            </a:r>
            <a:r>
              <a:rPr lang="zh-CN" altLang="en-US" sz="2800" b="1" dirty="0">
                <a:latin typeface="+mn-ea"/>
                <a:ea typeface="+mn-ea"/>
              </a:rPr>
              <a:t>門電路</a:t>
            </a: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CC00FF"/>
                </a:solidFill>
                <a:latin typeface="+mn-ea"/>
                <a:ea typeface="+mn-ea"/>
              </a:rPr>
              <a:t>3.3  </a:t>
            </a:r>
            <a:r>
              <a:rPr lang="zh-CN" altLang="en-US" sz="2800" b="1" dirty="0">
                <a:solidFill>
                  <a:srgbClr val="CC00FF"/>
                </a:solidFill>
                <a:latin typeface="+mn-ea"/>
                <a:ea typeface="+mn-ea"/>
              </a:rPr>
              <a:t>常用的中規模組合邏輯電路</a:t>
            </a: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+mn-ea"/>
                <a:ea typeface="+mn-ea"/>
              </a:rPr>
              <a:t>3.4  </a:t>
            </a:r>
            <a:r>
              <a:rPr lang="zh-CN" altLang="en-US" sz="2800" b="1" dirty="0">
                <a:latin typeface="+mn-ea"/>
                <a:ea typeface="+mn-ea"/>
              </a:rPr>
              <a:t>運算器與</a:t>
            </a:r>
            <a:r>
              <a:rPr lang="en-US" altLang="zh-CN" sz="2800" b="1" dirty="0">
                <a:latin typeface="+mn-ea"/>
                <a:ea typeface="+mn-ea"/>
              </a:rPr>
              <a:t>ALU</a:t>
            </a: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+mn-ea"/>
                <a:ea typeface="+mn-ea"/>
              </a:rPr>
              <a:t>3.5  </a:t>
            </a:r>
            <a:r>
              <a:rPr lang="zh-CN" altLang="en-US" sz="2800" b="1" dirty="0">
                <a:latin typeface="+mn-ea"/>
                <a:ea typeface="+mn-ea"/>
              </a:rPr>
              <a:t>組合邏輯電路中的競爭與冒險問題</a:t>
            </a:r>
          </a:p>
          <a:p>
            <a:pPr>
              <a:spcBef>
                <a:spcPct val="50000"/>
              </a:spcBef>
            </a:pPr>
            <a:endParaRPr lang="en-US" altLang="zh-CN" sz="2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3421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組合邏輯電路的分析與設計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組合邏輯電路分析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組合邏輯電路設計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1490464" y="2348880"/>
            <a:ext cx="914400" cy="129614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邏輯電路圖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3124944" y="2348880"/>
            <a:ext cx="914400" cy="129614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邏輯運算式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4759424" y="2348880"/>
            <a:ext cx="914400" cy="129614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列出功能表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6393904" y="2348880"/>
            <a:ext cx="1994520" cy="129614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思考</a:t>
            </a:r>
            <a:endParaRPr lang="en-US" altLang="zh-CN" dirty="0"/>
          </a:p>
          <a:p>
            <a:pPr algn="ctr"/>
            <a:r>
              <a:rPr lang="zh-CN" altLang="en-US" dirty="0"/>
              <a:t>得出有意義的功能描述</a:t>
            </a:r>
          </a:p>
        </p:txBody>
      </p:sp>
      <p:sp>
        <p:nvSpPr>
          <p:cNvPr id="9" name="右箭头 8"/>
          <p:cNvSpPr/>
          <p:nvPr/>
        </p:nvSpPr>
        <p:spPr>
          <a:xfrm>
            <a:off x="2404864" y="2780928"/>
            <a:ext cx="748680" cy="432048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4010744" y="2780928"/>
            <a:ext cx="748680" cy="432048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659524" y="2780928"/>
            <a:ext cx="748680" cy="432048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6804248" y="4955057"/>
            <a:ext cx="1584176" cy="129614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畫出美觀的邏輯電路圖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5032986" y="4955057"/>
            <a:ext cx="914400" cy="129614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邏輯運算式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3261725" y="4955057"/>
            <a:ext cx="914400" cy="129614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列出功能表</a:t>
            </a:r>
          </a:p>
        </p:txBody>
      </p:sp>
      <p:sp>
        <p:nvSpPr>
          <p:cNvPr id="15" name="右箭头 14"/>
          <p:cNvSpPr/>
          <p:nvPr/>
        </p:nvSpPr>
        <p:spPr>
          <a:xfrm>
            <a:off x="5947386" y="5387105"/>
            <a:ext cx="856862" cy="432048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2404863" y="5387105"/>
            <a:ext cx="886961" cy="432048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1490464" y="4955057"/>
            <a:ext cx="914400" cy="129614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理解功能要求</a:t>
            </a:r>
          </a:p>
        </p:txBody>
      </p:sp>
      <p:sp>
        <p:nvSpPr>
          <p:cNvPr id="18" name="右箭头 17"/>
          <p:cNvSpPr/>
          <p:nvPr/>
        </p:nvSpPr>
        <p:spPr>
          <a:xfrm>
            <a:off x="4176124" y="5387105"/>
            <a:ext cx="856524" cy="432048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135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+mn-ea"/>
                <a:ea typeface="+mn-ea"/>
              </a:rPr>
              <a:t>3.3  </a:t>
            </a:r>
            <a:r>
              <a:rPr lang="zh-CN" altLang="en-US" sz="3600" dirty="0">
                <a:latin typeface="+mn-ea"/>
                <a:ea typeface="+mn-ea"/>
              </a:rPr>
              <a:t>常用的中規模組合邏輯電路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04734-468C-42E7-A771-71FBA7D96753}" type="slidenum">
              <a:rPr lang="en-US" altLang="zh-CN">
                <a:latin typeface="+mn-ea"/>
                <a:ea typeface="+mn-ea"/>
              </a:rPr>
              <a:pPr/>
              <a:t>4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39619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1066800" y="1981200"/>
            <a:ext cx="7753350" cy="44005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b="1" dirty="0">
                <a:solidFill>
                  <a:srgbClr val="CC00FF"/>
                </a:solidFill>
                <a:latin typeface="+mn-ea"/>
              </a:rPr>
              <a:t>3.3.1 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解碼器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>
                <a:latin typeface="+mn-ea"/>
              </a:rPr>
              <a:t>3.3.2 </a:t>
            </a:r>
            <a:r>
              <a:rPr lang="zh-CN" altLang="en-US" b="1" dirty="0">
                <a:latin typeface="+mn-ea"/>
              </a:rPr>
              <a:t>資料選擇器</a:t>
            </a:r>
          </a:p>
          <a:p>
            <a:pPr>
              <a:buNone/>
            </a:pPr>
            <a:r>
              <a:rPr lang="en-US" altLang="zh-CN" dirty="0">
                <a:latin typeface="+mn-ea"/>
              </a:rPr>
              <a:t>3.3.3 </a:t>
            </a:r>
            <a:r>
              <a:rPr lang="zh-CN" altLang="en-US" dirty="0">
                <a:latin typeface="+mn-ea"/>
              </a:rPr>
              <a:t>編碼器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>
                <a:latin typeface="+mn-ea"/>
              </a:rPr>
              <a:t>3.3.4 </a:t>
            </a:r>
            <a:r>
              <a:rPr lang="zh-CN" altLang="en-US" b="1" dirty="0">
                <a:latin typeface="+mn-ea"/>
              </a:rPr>
              <a:t>資料比較器</a:t>
            </a:r>
          </a:p>
          <a:p>
            <a:pPr>
              <a:buNone/>
            </a:pPr>
            <a:r>
              <a:rPr lang="en-US" altLang="zh-CN" dirty="0">
                <a:latin typeface="+mn-ea"/>
              </a:rPr>
              <a:t>3.3.5 </a:t>
            </a:r>
            <a:r>
              <a:rPr lang="zh-CN" altLang="en-US" dirty="0">
                <a:latin typeface="+mn-ea"/>
              </a:rPr>
              <a:t>同位器</a:t>
            </a:r>
            <a:endParaRPr lang="en-US" altLang="zh-CN" dirty="0">
              <a:latin typeface="+mn-ea"/>
            </a:endParaRPr>
          </a:p>
          <a:p>
            <a:pPr>
              <a:buNone/>
            </a:pPr>
            <a:r>
              <a:rPr lang="en-US" altLang="zh-CN" dirty="0">
                <a:latin typeface="+mn-ea"/>
              </a:rPr>
              <a:t>3.3.6 </a:t>
            </a:r>
            <a:r>
              <a:rPr lang="zh-CN" altLang="en-US" dirty="0">
                <a:latin typeface="+mn-ea"/>
              </a:rPr>
              <a:t>可程式設計邏輯器件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>
                <a:latin typeface="+mn-ea"/>
              </a:rPr>
              <a:t>3.3.7 </a:t>
            </a:r>
            <a:r>
              <a:rPr lang="zh-CN" altLang="en-US" b="1" dirty="0">
                <a:latin typeface="+mn-ea"/>
              </a:rPr>
              <a:t>運算器（算數邏輯單元 </a:t>
            </a:r>
            <a:r>
              <a:rPr lang="en-US" altLang="zh-CN" b="1" dirty="0">
                <a:latin typeface="+mn-ea"/>
              </a:rPr>
              <a:t>ALU</a:t>
            </a:r>
            <a:r>
              <a:rPr lang="zh-CN" altLang="en-US" b="1" dirty="0">
                <a:latin typeface="+mn-ea"/>
              </a:rPr>
              <a:t>）</a:t>
            </a:r>
          </a:p>
        </p:txBody>
      </p:sp>
      <p:sp>
        <p:nvSpPr>
          <p:cNvPr id="239620" name="Rectangle 1028"/>
          <p:cNvSpPr>
            <a:spLocks noChangeArrowheads="1"/>
          </p:cNvSpPr>
          <p:nvPr/>
        </p:nvSpPr>
        <p:spPr bwMode="auto">
          <a:xfrm>
            <a:off x="457200" y="198120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CC00FF"/>
                </a:solidFill>
                <a:latin typeface="+mn-ea"/>
                <a:ea typeface="+mn-ea"/>
                <a:sym typeface="Wingdings 3" pitchFamily="18" charset="2"/>
              </a:rPr>
              <a:t></a:t>
            </a:r>
            <a:endParaRPr lang="en-US" altLang="zh-CN" sz="3600" b="1" dirty="0">
              <a:solidFill>
                <a:srgbClr val="CC00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1911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9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 autoUpdateAnimBg="0"/>
      <p:bldP spid="23962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+mn-ea"/>
                <a:ea typeface="+mn-ea"/>
              </a:rPr>
              <a:t>3.3.1  </a:t>
            </a:r>
            <a:r>
              <a:rPr lang="zh-CN" altLang="en-US" sz="3600" dirty="0">
                <a:latin typeface="+mn-ea"/>
                <a:ea typeface="+mn-ea"/>
              </a:rPr>
              <a:t>解碼器（</a:t>
            </a:r>
            <a:r>
              <a:rPr lang="en-US" altLang="zh-CN" sz="3600" dirty="0">
                <a:latin typeface="+mn-ea"/>
                <a:ea typeface="+mn-ea"/>
              </a:rPr>
              <a:t>1</a:t>
            </a:r>
            <a:r>
              <a:rPr lang="zh-CN" altLang="en-US" sz="3600" dirty="0">
                <a:latin typeface="+mn-ea"/>
                <a:ea typeface="+mn-ea"/>
              </a:rPr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FBD12-D0C1-4A74-928A-F6D482D03C1E}" type="slidenum">
              <a:rPr lang="en-US" altLang="zh-CN">
                <a:latin typeface="+mn-ea"/>
                <a:ea typeface="+mn-ea"/>
              </a:rPr>
              <a:pPr/>
              <a:t>5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66243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686800" cy="4525963"/>
          </a:xfrm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dirty="0">
                <a:latin typeface="+mn-ea"/>
              </a:rPr>
              <a:t>解碼器的功能分類：</a:t>
            </a:r>
            <a:endParaRPr lang="zh-CN" altLang="en-US" sz="2400" dirty="0">
              <a:effectLst/>
              <a:latin typeface="+mn-ea"/>
            </a:endParaRP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effectLst/>
                <a:latin typeface="+mn-ea"/>
              </a:rPr>
              <a:t>變數解碼器：用來表示輸入變數狀態的全部組合</a:t>
            </a:r>
          </a:p>
          <a:p>
            <a:pPr lvl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b="1" dirty="0">
                <a:effectLst/>
                <a:latin typeface="+mn-ea"/>
              </a:rPr>
              <a:t>      </a:t>
            </a:r>
            <a:r>
              <a:rPr lang="en-US" altLang="zh-CN" b="1" dirty="0">
                <a:effectLst/>
                <a:latin typeface="+mn-ea"/>
              </a:rPr>
              <a:t>N</a:t>
            </a:r>
            <a:r>
              <a:rPr lang="zh-CN" altLang="en-US" b="1" dirty="0">
                <a:effectLst/>
                <a:latin typeface="+mn-ea"/>
              </a:rPr>
              <a:t>位輸入，</a:t>
            </a:r>
            <a:r>
              <a:rPr lang="en-US" altLang="zh-CN" b="1" dirty="0">
                <a:effectLst/>
                <a:latin typeface="+mn-ea"/>
              </a:rPr>
              <a:t>2</a:t>
            </a:r>
            <a:r>
              <a:rPr lang="en-US" altLang="zh-CN" b="1" baseline="30000" dirty="0">
                <a:effectLst/>
                <a:latin typeface="+mn-ea"/>
              </a:rPr>
              <a:t>N</a:t>
            </a:r>
            <a:r>
              <a:rPr lang="zh-CN" altLang="en-US" b="1" dirty="0">
                <a:effectLst/>
                <a:latin typeface="+mn-ea"/>
              </a:rPr>
              <a:t>輸出，</a:t>
            </a:r>
          </a:p>
          <a:p>
            <a:pPr lvl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b="1" dirty="0">
                <a:effectLst/>
                <a:latin typeface="+mn-ea"/>
              </a:rPr>
              <a:t>		常見的集成化解碼器有</a:t>
            </a:r>
            <a:r>
              <a:rPr lang="en-US" altLang="zh-CN" b="1" dirty="0">
                <a:effectLst/>
                <a:latin typeface="+mn-ea"/>
              </a:rPr>
              <a:t>2-4</a:t>
            </a:r>
            <a:r>
              <a:rPr lang="zh-CN" altLang="en-US" b="1" dirty="0">
                <a:effectLst/>
                <a:latin typeface="+mn-ea"/>
              </a:rPr>
              <a:t>、</a:t>
            </a:r>
            <a:r>
              <a:rPr lang="en-US" altLang="zh-CN" b="1" dirty="0">
                <a:effectLst/>
                <a:latin typeface="+mn-ea"/>
              </a:rPr>
              <a:t>3-8</a:t>
            </a:r>
            <a:r>
              <a:rPr lang="zh-CN" altLang="en-US" b="1" dirty="0">
                <a:effectLst/>
                <a:latin typeface="+mn-ea"/>
              </a:rPr>
              <a:t>、</a:t>
            </a:r>
            <a:r>
              <a:rPr lang="en-US" altLang="zh-CN" b="1" dirty="0">
                <a:effectLst/>
                <a:latin typeface="+mn-ea"/>
              </a:rPr>
              <a:t>4-16</a:t>
            </a: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effectLst/>
                <a:latin typeface="+mn-ea"/>
              </a:rPr>
              <a:t>碼制解碼器：如</a:t>
            </a:r>
            <a:r>
              <a:rPr lang="en-US" altLang="zh-CN" b="1" dirty="0">
                <a:effectLst/>
                <a:latin typeface="+mn-ea"/>
              </a:rPr>
              <a:t>8421</a:t>
            </a:r>
            <a:r>
              <a:rPr lang="zh-CN" altLang="en-US" b="1" dirty="0">
                <a:effectLst/>
                <a:latin typeface="+mn-ea"/>
              </a:rPr>
              <a:t>碼變換為迴圈碼等</a:t>
            </a: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effectLst/>
                <a:latin typeface="+mn-ea"/>
              </a:rPr>
              <a:t>顯示解碼器：控制數碼管顯示</a:t>
            </a:r>
          </a:p>
          <a:p>
            <a:pPr lvl="1">
              <a:buFont typeface="Wingdings" pitchFamily="2" charset="2"/>
              <a:buNone/>
            </a:pP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890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458200" cy="1295400"/>
          </a:xfrm>
        </p:spPr>
        <p:txBody>
          <a:bodyPr/>
          <a:lstStyle/>
          <a:p>
            <a:r>
              <a:rPr lang="en-US" altLang="zh-CN" sz="3600" dirty="0"/>
              <a:t>3.3.1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2</a:t>
            </a:r>
            <a:r>
              <a:rPr lang="zh-CN" altLang="en-US" sz="3600" dirty="0"/>
              <a:t>）</a:t>
            </a:r>
          </a:p>
        </p:txBody>
      </p:sp>
      <p:sp>
        <p:nvSpPr>
          <p:cNvPr id="3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3B9A8-954F-45A6-B7B6-46E5D61DB367}" type="slidenum">
              <a:rPr lang="en-US" altLang="zh-CN">
                <a:latin typeface="+mn-ea"/>
                <a:ea typeface="+mn-ea"/>
              </a:rPr>
              <a:pPr/>
              <a:t>6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68291" name="Text Box 1027"/>
          <p:cNvSpPr txBox="1">
            <a:spLocks noChangeArrowheads="1"/>
          </p:cNvSpPr>
          <p:nvPr/>
        </p:nvSpPr>
        <p:spPr bwMode="auto">
          <a:xfrm>
            <a:off x="4716463" y="1844675"/>
            <a:ext cx="151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800">
              <a:latin typeface="+mn-ea"/>
              <a:ea typeface="+mn-ea"/>
            </a:endParaRPr>
          </a:p>
        </p:txBody>
      </p:sp>
      <p:sp>
        <p:nvSpPr>
          <p:cNvPr id="268292" name="Rectangle 1028"/>
          <p:cNvSpPr>
            <a:spLocks noChangeArrowheads="1"/>
          </p:cNvSpPr>
          <p:nvPr/>
        </p:nvSpPr>
        <p:spPr bwMode="auto">
          <a:xfrm>
            <a:off x="609600" y="14478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en-US" altLang="zh-CN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2-4</a:t>
            </a: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變數解碼器</a:t>
            </a:r>
            <a:endParaRPr lang="zh-CN" altLang="en-US" sz="2400" dirty="0">
              <a:latin typeface="Noto Serif SC" panose="02020200000000000000" pitchFamily="18" charset="-122"/>
              <a:ea typeface="Noto Serif SC" panose="02020200000000000000" pitchFamily="18" charset="-122"/>
            </a:endParaRPr>
          </a:p>
          <a:p>
            <a:pPr marL="742950" lvl="1" indent="-285750"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（步驟一）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定義：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2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－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4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解碼器是指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2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輸入－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4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輸出的變數解碼器。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2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輸入</a:t>
            </a:r>
            <a:r>
              <a:rPr lang="zh-CN" altLang="en-US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，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4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輸出。對應輸入的每一種組合，唯一只有一個輸出為“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0”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。</a:t>
            </a:r>
            <a:endParaRPr lang="en-US" altLang="zh-CN" sz="2400" dirty="0">
              <a:latin typeface="Noto Serif SC" panose="02020200000000000000" pitchFamily="18" charset="-122"/>
              <a:ea typeface="Noto Serif SC" panose="02020200000000000000" pitchFamily="18" charset="-122"/>
            </a:endParaRPr>
          </a:p>
        </p:txBody>
      </p:sp>
      <p:grpSp>
        <p:nvGrpSpPr>
          <p:cNvPr id="268293" name="Group 1029"/>
          <p:cNvGrpSpPr>
            <a:grpSpLocks/>
          </p:cNvGrpSpPr>
          <p:nvPr/>
        </p:nvGrpSpPr>
        <p:grpSpPr bwMode="auto">
          <a:xfrm>
            <a:off x="2080865" y="3429000"/>
            <a:ext cx="5587180" cy="3044825"/>
            <a:chOff x="526" y="912"/>
            <a:chExt cx="2013" cy="1918"/>
          </a:xfrm>
        </p:grpSpPr>
        <p:sp>
          <p:nvSpPr>
            <p:cNvPr id="268294" name="Text Box 1030"/>
            <p:cNvSpPr txBox="1">
              <a:spLocks noChangeArrowheads="1"/>
            </p:cNvSpPr>
            <p:nvPr/>
          </p:nvSpPr>
          <p:spPr bwMode="auto">
            <a:xfrm>
              <a:off x="1123" y="912"/>
              <a:ext cx="8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真值表</a:t>
              </a:r>
            </a:p>
          </p:txBody>
        </p:sp>
        <p:sp>
          <p:nvSpPr>
            <p:cNvPr id="268295" name="Rectangle 1031"/>
            <p:cNvSpPr>
              <a:spLocks noChangeArrowheads="1"/>
            </p:cNvSpPr>
            <p:nvPr/>
          </p:nvSpPr>
          <p:spPr bwMode="auto">
            <a:xfrm>
              <a:off x="1458" y="2581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1    1    1    0</a:t>
              </a:r>
            </a:p>
          </p:txBody>
        </p:sp>
        <p:sp>
          <p:nvSpPr>
            <p:cNvPr id="268296" name="Rectangle 1032"/>
            <p:cNvSpPr>
              <a:spLocks noChangeArrowheads="1"/>
            </p:cNvSpPr>
            <p:nvPr/>
          </p:nvSpPr>
          <p:spPr bwMode="auto">
            <a:xfrm>
              <a:off x="624" y="2581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1    1</a:t>
              </a:r>
            </a:p>
          </p:txBody>
        </p:sp>
        <p:sp>
          <p:nvSpPr>
            <p:cNvPr id="268297" name="Rectangle 1033"/>
            <p:cNvSpPr>
              <a:spLocks noChangeArrowheads="1"/>
            </p:cNvSpPr>
            <p:nvPr/>
          </p:nvSpPr>
          <p:spPr bwMode="auto">
            <a:xfrm>
              <a:off x="1458" y="2332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1    1    0    1</a:t>
              </a:r>
            </a:p>
          </p:txBody>
        </p:sp>
        <p:sp>
          <p:nvSpPr>
            <p:cNvPr id="268298" name="Rectangle 1034"/>
            <p:cNvSpPr>
              <a:spLocks noChangeArrowheads="1"/>
            </p:cNvSpPr>
            <p:nvPr/>
          </p:nvSpPr>
          <p:spPr bwMode="auto">
            <a:xfrm>
              <a:off x="624" y="2332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0    1</a:t>
              </a:r>
            </a:p>
          </p:txBody>
        </p:sp>
        <p:sp>
          <p:nvSpPr>
            <p:cNvPr id="268299" name="Rectangle 1035"/>
            <p:cNvSpPr>
              <a:spLocks noChangeArrowheads="1"/>
            </p:cNvSpPr>
            <p:nvPr/>
          </p:nvSpPr>
          <p:spPr bwMode="auto">
            <a:xfrm>
              <a:off x="1458" y="2083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1    0    1    1</a:t>
              </a:r>
            </a:p>
          </p:txBody>
        </p:sp>
        <p:sp>
          <p:nvSpPr>
            <p:cNvPr id="268300" name="Rectangle 1036"/>
            <p:cNvSpPr>
              <a:spLocks noChangeArrowheads="1"/>
            </p:cNvSpPr>
            <p:nvPr/>
          </p:nvSpPr>
          <p:spPr bwMode="auto">
            <a:xfrm>
              <a:off x="624" y="2083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1    0</a:t>
              </a:r>
            </a:p>
          </p:txBody>
        </p:sp>
        <p:sp>
          <p:nvSpPr>
            <p:cNvPr id="268301" name="Rectangle 1037"/>
            <p:cNvSpPr>
              <a:spLocks noChangeArrowheads="1"/>
            </p:cNvSpPr>
            <p:nvPr/>
          </p:nvSpPr>
          <p:spPr bwMode="auto">
            <a:xfrm>
              <a:off x="1458" y="1834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0    1    1    1</a:t>
              </a:r>
            </a:p>
          </p:txBody>
        </p:sp>
        <p:sp>
          <p:nvSpPr>
            <p:cNvPr id="268302" name="Rectangle 1038"/>
            <p:cNvSpPr>
              <a:spLocks noChangeArrowheads="1"/>
            </p:cNvSpPr>
            <p:nvPr/>
          </p:nvSpPr>
          <p:spPr bwMode="auto">
            <a:xfrm>
              <a:off x="624" y="1824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0    0</a:t>
              </a:r>
            </a:p>
          </p:txBody>
        </p:sp>
        <p:sp>
          <p:nvSpPr>
            <p:cNvPr id="268303" name="Rectangle 1039"/>
            <p:cNvSpPr>
              <a:spLocks noChangeArrowheads="1"/>
            </p:cNvSpPr>
            <p:nvPr/>
          </p:nvSpPr>
          <p:spPr bwMode="auto">
            <a:xfrm>
              <a:off x="1458" y="1585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68304" name="Rectangle 1040"/>
            <p:cNvSpPr>
              <a:spLocks noChangeArrowheads="1"/>
            </p:cNvSpPr>
            <p:nvPr/>
          </p:nvSpPr>
          <p:spPr bwMode="auto">
            <a:xfrm>
              <a:off x="624" y="1585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rPr>
                <a:t>   </a:t>
              </a:r>
            </a:p>
          </p:txBody>
        </p:sp>
        <p:sp>
          <p:nvSpPr>
            <p:cNvPr id="268305" name="Rectangle 1041"/>
            <p:cNvSpPr>
              <a:spLocks noChangeArrowheads="1"/>
            </p:cNvSpPr>
            <p:nvPr/>
          </p:nvSpPr>
          <p:spPr bwMode="auto">
            <a:xfrm>
              <a:off x="1468" y="1547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0     </a:t>
              </a: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1     </a:t>
              </a: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2     </a:t>
              </a: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268306" name="Rectangle 1042"/>
            <p:cNvSpPr>
              <a:spLocks noChangeArrowheads="1"/>
            </p:cNvSpPr>
            <p:nvPr/>
          </p:nvSpPr>
          <p:spPr bwMode="auto">
            <a:xfrm>
              <a:off x="624" y="1584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A    B</a:t>
              </a:r>
            </a:p>
          </p:txBody>
        </p:sp>
        <p:sp>
          <p:nvSpPr>
            <p:cNvPr id="268307" name="Line 1043"/>
            <p:cNvSpPr>
              <a:spLocks noChangeShapeType="1"/>
            </p:cNvSpPr>
            <p:nvPr/>
          </p:nvSpPr>
          <p:spPr bwMode="auto">
            <a:xfrm>
              <a:off x="624" y="1336"/>
              <a:ext cx="190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8308" name="Line 1044"/>
            <p:cNvSpPr>
              <a:spLocks noChangeShapeType="1"/>
            </p:cNvSpPr>
            <p:nvPr/>
          </p:nvSpPr>
          <p:spPr bwMode="auto">
            <a:xfrm>
              <a:off x="624" y="1585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8309" name="Line 1045"/>
            <p:cNvSpPr>
              <a:spLocks noChangeShapeType="1"/>
            </p:cNvSpPr>
            <p:nvPr/>
          </p:nvSpPr>
          <p:spPr bwMode="auto">
            <a:xfrm>
              <a:off x="624" y="1834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8310" name="Line 1046"/>
            <p:cNvSpPr>
              <a:spLocks noChangeShapeType="1"/>
            </p:cNvSpPr>
            <p:nvPr/>
          </p:nvSpPr>
          <p:spPr bwMode="auto">
            <a:xfrm>
              <a:off x="624" y="2083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+mn-ea"/>
                <a:ea typeface="+mn-ea"/>
              </a:endParaRPr>
            </a:p>
          </p:txBody>
        </p:sp>
        <p:sp>
          <p:nvSpPr>
            <p:cNvPr id="268311" name="Line 1047"/>
            <p:cNvSpPr>
              <a:spLocks noChangeShapeType="1"/>
            </p:cNvSpPr>
            <p:nvPr/>
          </p:nvSpPr>
          <p:spPr bwMode="auto">
            <a:xfrm>
              <a:off x="624" y="2332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8312" name="Line 1048"/>
            <p:cNvSpPr>
              <a:spLocks noChangeShapeType="1"/>
            </p:cNvSpPr>
            <p:nvPr/>
          </p:nvSpPr>
          <p:spPr bwMode="auto">
            <a:xfrm>
              <a:off x="624" y="2581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8313" name="Line 1049"/>
            <p:cNvSpPr>
              <a:spLocks noChangeShapeType="1"/>
            </p:cNvSpPr>
            <p:nvPr/>
          </p:nvSpPr>
          <p:spPr bwMode="auto">
            <a:xfrm>
              <a:off x="624" y="2830"/>
              <a:ext cx="190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8314" name="Line 1050"/>
            <p:cNvSpPr>
              <a:spLocks noChangeShapeType="1"/>
            </p:cNvSpPr>
            <p:nvPr/>
          </p:nvSpPr>
          <p:spPr bwMode="auto">
            <a:xfrm>
              <a:off x="624" y="1336"/>
              <a:ext cx="0" cy="149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8315" name="Line 1051"/>
            <p:cNvSpPr>
              <a:spLocks noChangeShapeType="1"/>
            </p:cNvSpPr>
            <p:nvPr/>
          </p:nvSpPr>
          <p:spPr bwMode="auto">
            <a:xfrm>
              <a:off x="1458" y="1336"/>
              <a:ext cx="0" cy="14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8316" name="Line 1052"/>
            <p:cNvSpPr>
              <a:spLocks noChangeShapeType="1"/>
            </p:cNvSpPr>
            <p:nvPr/>
          </p:nvSpPr>
          <p:spPr bwMode="auto">
            <a:xfrm>
              <a:off x="2529" y="1336"/>
              <a:ext cx="0" cy="149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68317" name="Object 1053"/>
            <p:cNvGraphicFramePr>
              <a:graphicFrameLocks noChangeAspect="1"/>
            </p:cNvGraphicFramePr>
            <p:nvPr/>
          </p:nvGraphicFramePr>
          <p:xfrm>
            <a:off x="526" y="1161"/>
            <a:ext cx="145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39680" imgH="279000" progId="Equation.3">
                    <p:embed/>
                  </p:oleObj>
                </mc:Choice>
                <mc:Fallback>
                  <p:oleObj name="公式" r:id="rId2" imgW="139680" imgH="279000" progId="Equation.3">
                    <p:embed/>
                    <p:pic>
                      <p:nvPicPr>
                        <p:cNvPr id="268317" name="Object 10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" y="1161"/>
                          <a:ext cx="145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8318" name="Rectangle 1054"/>
            <p:cNvSpPr>
              <a:spLocks noChangeArrowheads="1"/>
            </p:cNvSpPr>
            <p:nvPr/>
          </p:nvSpPr>
          <p:spPr bwMode="auto">
            <a:xfrm>
              <a:off x="2208" y="2228"/>
              <a:ext cx="138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100" dirty="0">
                  <a:latin typeface="+mn-ea"/>
                  <a:ea typeface="+mn-ea"/>
                </a:rPr>
                <a:t> </a:t>
              </a:r>
              <a:endParaRPr lang="en-US" altLang="zh-CN" sz="1800" dirty="0">
                <a:latin typeface="+mn-ea"/>
                <a:ea typeface="+mn-ea"/>
              </a:endParaRPr>
            </a:p>
          </p:txBody>
        </p:sp>
        <p:sp>
          <p:nvSpPr>
            <p:cNvPr id="268319" name="Rectangle 1055"/>
            <p:cNvSpPr>
              <a:spLocks noChangeArrowheads="1"/>
            </p:cNvSpPr>
            <p:nvPr/>
          </p:nvSpPr>
          <p:spPr bwMode="auto">
            <a:xfrm>
              <a:off x="624" y="1344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zh-CN" altLang="en-US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輸   入</a:t>
              </a:r>
            </a:p>
          </p:txBody>
        </p:sp>
        <p:sp>
          <p:nvSpPr>
            <p:cNvPr id="268320" name="Rectangle 1056"/>
            <p:cNvSpPr>
              <a:spLocks noChangeArrowheads="1"/>
            </p:cNvSpPr>
            <p:nvPr/>
          </p:nvSpPr>
          <p:spPr bwMode="auto">
            <a:xfrm>
              <a:off x="1440" y="1344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zh-CN" altLang="en-US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輸    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7775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3</a:t>
            </a:r>
            <a:r>
              <a:rPr lang="zh-CN" altLang="en-US" sz="3600" dirty="0"/>
              <a:t>）</a:t>
            </a:r>
          </a:p>
        </p:txBody>
      </p:sp>
      <p:sp>
        <p:nvSpPr>
          <p:cNvPr id="5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27224-C390-4F20-817A-124C4CFCAA3A}" type="slidenum">
              <a:rPr lang="en-US" altLang="zh-CN">
                <a:latin typeface="+mn-ea"/>
                <a:ea typeface="+mn-ea"/>
              </a:rPr>
              <a:pPr/>
              <a:t>7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69315" name="Rectangle 1027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b="1" dirty="0">
                <a:latin typeface="+mn-ea"/>
              </a:rPr>
              <a:t>2-4</a:t>
            </a:r>
            <a:r>
              <a:rPr lang="zh-CN" altLang="en-US" b="1" dirty="0">
                <a:latin typeface="+mn-ea"/>
              </a:rPr>
              <a:t>解碼器</a:t>
            </a:r>
          </a:p>
          <a:p>
            <a:pPr lvl="1"/>
            <a:r>
              <a:rPr lang="zh-CN" altLang="en-US" dirty="0">
                <a:latin typeface="+mn-ea"/>
              </a:rPr>
              <a:t>（步驟二）</a:t>
            </a:r>
            <a:r>
              <a:rPr lang="zh-CN" altLang="en-US" b="1" dirty="0">
                <a:latin typeface="+mn-ea"/>
              </a:rPr>
              <a:t>根據真值表寫出輸出運算式</a:t>
            </a:r>
          </a:p>
        </p:txBody>
      </p:sp>
      <p:grpSp>
        <p:nvGrpSpPr>
          <p:cNvPr id="269316" name="Group 1028"/>
          <p:cNvGrpSpPr>
            <a:grpSpLocks/>
          </p:cNvGrpSpPr>
          <p:nvPr/>
        </p:nvGrpSpPr>
        <p:grpSpPr bwMode="auto">
          <a:xfrm>
            <a:off x="304800" y="2819400"/>
            <a:ext cx="3381013" cy="3044825"/>
            <a:chOff x="524" y="912"/>
            <a:chExt cx="2005" cy="1918"/>
          </a:xfrm>
        </p:grpSpPr>
        <p:sp>
          <p:nvSpPr>
            <p:cNvPr id="269317" name="Text Box 1029"/>
            <p:cNvSpPr txBox="1">
              <a:spLocks noChangeArrowheads="1"/>
            </p:cNvSpPr>
            <p:nvPr/>
          </p:nvSpPr>
          <p:spPr bwMode="auto">
            <a:xfrm>
              <a:off x="1123" y="912"/>
              <a:ext cx="8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真值表</a:t>
              </a:r>
            </a:p>
          </p:txBody>
        </p:sp>
        <p:sp>
          <p:nvSpPr>
            <p:cNvPr id="269318" name="Rectangle 1030"/>
            <p:cNvSpPr>
              <a:spLocks noChangeArrowheads="1"/>
            </p:cNvSpPr>
            <p:nvPr/>
          </p:nvSpPr>
          <p:spPr bwMode="auto">
            <a:xfrm>
              <a:off x="1458" y="2581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spc="200" dirty="0">
                  <a:latin typeface="+mn-ea"/>
                  <a:ea typeface="+mn-ea"/>
                </a:rPr>
                <a:t>1 1 1 0</a:t>
              </a:r>
            </a:p>
          </p:txBody>
        </p:sp>
        <p:sp>
          <p:nvSpPr>
            <p:cNvPr id="269319" name="Rectangle 1031"/>
            <p:cNvSpPr>
              <a:spLocks noChangeArrowheads="1"/>
            </p:cNvSpPr>
            <p:nvPr/>
          </p:nvSpPr>
          <p:spPr bwMode="auto">
            <a:xfrm>
              <a:off x="624" y="2581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1    1</a:t>
              </a:r>
            </a:p>
          </p:txBody>
        </p:sp>
        <p:sp>
          <p:nvSpPr>
            <p:cNvPr id="269320" name="Rectangle 1032"/>
            <p:cNvSpPr>
              <a:spLocks noChangeArrowheads="1"/>
            </p:cNvSpPr>
            <p:nvPr/>
          </p:nvSpPr>
          <p:spPr bwMode="auto">
            <a:xfrm>
              <a:off x="1458" y="2332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spc="200" dirty="0">
                  <a:latin typeface="+mn-ea"/>
                  <a:ea typeface="+mn-ea"/>
                </a:rPr>
                <a:t>1 1 0 1</a:t>
              </a:r>
            </a:p>
          </p:txBody>
        </p:sp>
        <p:sp>
          <p:nvSpPr>
            <p:cNvPr id="269321" name="Rectangle 1033"/>
            <p:cNvSpPr>
              <a:spLocks noChangeArrowheads="1"/>
            </p:cNvSpPr>
            <p:nvPr/>
          </p:nvSpPr>
          <p:spPr bwMode="auto">
            <a:xfrm>
              <a:off x="624" y="2332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0    1</a:t>
              </a:r>
            </a:p>
          </p:txBody>
        </p:sp>
        <p:sp>
          <p:nvSpPr>
            <p:cNvPr id="269322" name="Rectangle 1034"/>
            <p:cNvSpPr>
              <a:spLocks noChangeArrowheads="1"/>
            </p:cNvSpPr>
            <p:nvPr/>
          </p:nvSpPr>
          <p:spPr bwMode="auto">
            <a:xfrm>
              <a:off x="1458" y="2083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spc="200" dirty="0">
                  <a:latin typeface="+mn-ea"/>
                  <a:ea typeface="+mn-ea"/>
                </a:rPr>
                <a:t>1 0 1 1</a:t>
              </a:r>
            </a:p>
          </p:txBody>
        </p:sp>
        <p:sp>
          <p:nvSpPr>
            <p:cNvPr id="269323" name="Rectangle 1035"/>
            <p:cNvSpPr>
              <a:spLocks noChangeArrowheads="1"/>
            </p:cNvSpPr>
            <p:nvPr/>
          </p:nvSpPr>
          <p:spPr bwMode="auto">
            <a:xfrm>
              <a:off x="624" y="2083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1    0</a:t>
              </a:r>
            </a:p>
          </p:txBody>
        </p:sp>
        <p:sp>
          <p:nvSpPr>
            <p:cNvPr id="269324" name="Rectangle 1036"/>
            <p:cNvSpPr>
              <a:spLocks noChangeArrowheads="1"/>
            </p:cNvSpPr>
            <p:nvPr/>
          </p:nvSpPr>
          <p:spPr bwMode="auto">
            <a:xfrm>
              <a:off x="1458" y="1834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spc="200" dirty="0">
                  <a:latin typeface="+mn-ea"/>
                  <a:ea typeface="+mn-ea"/>
                </a:rPr>
                <a:t>0 1 1 1</a:t>
              </a:r>
            </a:p>
          </p:txBody>
        </p:sp>
        <p:sp>
          <p:nvSpPr>
            <p:cNvPr id="269325" name="Rectangle 1037"/>
            <p:cNvSpPr>
              <a:spLocks noChangeArrowheads="1"/>
            </p:cNvSpPr>
            <p:nvPr/>
          </p:nvSpPr>
          <p:spPr bwMode="auto">
            <a:xfrm>
              <a:off x="624" y="1824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0    0</a:t>
              </a:r>
            </a:p>
          </p:txBody>
        </p:sp>
        <p:sp>
          <p:nvSpPr>
            <p:cNvPr id="269326" name="Rectangle 1038"/>
            <p:cNvSpPr>
              <a:spLocks noChangeArrowheads="1"/>
            </p:cNvSpPr>
            <p:nvPr/>
          </p:nvSpPr>
          <p:spPr bwMode="auto">
            <a:xfrm>
              <a:off x="1458" y="1585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69327" name="Rectangle 1039"/>
            <p:cNvSpPr>
              <a:spLocks noChangeArrowheads="1"/>
            </p:cNvSpPr>
            <p:nvPr/>
          </p:nvSpPr>
          <p:spPr bwMode="auto">
            <a:xfrm>
              <a:off x="624" y="1585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rPr>
                <a:t>   </a:t>
              </a:r>
            </a:p>
          </p:txBody>
        </p:sp>
        <p:sp>
          <p:nvSpPr>
            <p:cNvPr id="269328" name="Rectangle 1040"/>
            <p:cNvSpPr>
              <a:spLocks noChangeArrowheads="1"/>
            </p:cNvSpPr>
            <p:nvPr/>
          </p:nvSpPr>
          <p:spPr bwMode="auto">
            <a:xfrm>
              <a:off x="1440" y="1584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0 </a:t>
              </a: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1 </a:t>
              </a: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2 </a:t>
              </a: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269329" name="Rectangle 1041"/>
            <p:cNvSpPr>
              <a:spLocks noChangeArrowheads="1"/>
            </p:cNvSpPr>
            <p:nvPr/>
          </p:nvSpPr>
          <p:spPr bwMode="auto">
            <a:xfrm>
              <a:off x="624" y="1584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A    B</a:t>
              </a:r>
            </a:p>
          </p:txBody>
        </p:sp>
        <p:sp>
          <p:nvSpPr>
            <p:cNvPr id="269330" name="Line 1042"/>
            <p:cNvSpPr>
              <a:spLocks noChangeShapeType="1"/>
            </p:cNvSpPr>
            <p:nvPr/>
          </p:nvSpPr>
          <p:spPr bwMode="auto">
            <a:xfrm>
              <a:off x="624" y="1336"/>
              <a:ext cx="190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9331" name="Line 1043"/>
            <p:cNvSpPr>
              <a:spLocks noChangeShapeType="1"/>
            </p:cNvSpPr>
            <p:nvPr/>
          </p:nvSpPr>
          <p:spPr bwMode="auto">
            <a:xfrm>
              <a:off x="624" y="1585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9332" name="Line 1044"/>
            <p:cNvSpPr>
              <a:spLocks noChangeShapeType="1"/>
            </p:cNvSpPr>
            <p:nvPr/>
          </p:nvSpPr>
          <p:spPr bwMode="auto">
            <a:xfrm>
              <a:off x="624" y="1834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9333" name="Line 1045"/>
            <p:cNvSpPr>
              <a:spLocks noChangeShapeType="1"/>
            </p:cNvSpPr>
            <p:nvPr/>
          </p:nvSpPr>
          <p:spPr bwMode="auto">
            <a:xfrm>
              <a:off x="624" y="2083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9334" name="Line 1046"/>
            <p:cNvSpPr>
              <a:spLocks noChangeShapeType="1"/>
            </p:cNvSpPr>
            <p:nvPr/>
          </p:nvSpPr>
          <p:spPr bwMode="auto">
            <a:xfrm>
              <a:off x="624" y="2332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9335" name="Line 1047"/>
            <p:cNvSpPr>
              <a:spLocks noChangeShapeType="1"/>
            </p:cNvSpPr>
            <p:nvPr/>
          </p:nvSpPr>
          <p:spPr bwMode="auto">
            <a:xfrm>
              <a:off x="624" y="2581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9336" name="Line 1048"/>
            <p:cNvSpPr>
              <a:spLocks noChangeShapeType="1"/>
            </p:cNvSpPr>
            <p:nvPr/>
          </p:nvSpPr>
          <p:spPr bwMode="auto">
            <a:xfrm>
              <a:off x="624" y="2830"/>
              <a:ext cx="190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9337" name="Line 1049"/>
            <p:cNvSpPr>
              <a:spLocks noChangeShapeType="1"/>
            </p:cNvSpPr>
            <p:nvPr/>
          </p:nvSpPr>
          <p:spPr bwMode="auto">
            <a:xfrm>
              <a:off x="624" y="1336"/>
              <a:ext cx="0" cy="149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9338" name="Line 1050"/>
            <p:cNvSpPr>
              <a:spLocks noChangeShapeType="1"/>
            </p:cNvSpPr>
            <p:nvPr/>
          </p:nvSpPr>
          <p:spPr bwMode="auto">
            <a:xfrm>
              <a:off x="1458" y="1336"/>
              <a:ext cx="0" cy="14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9339" name="Line 1051"/>
            <p:cNvSpPr>
              <a:spLocks noChangeShapeType="1"/>
            </p:cNvSpPr>
            <p:nvPr/>
          </p:nvSpPr>
          <p:spPr bwMode="auto">
            <a:xfrm>
              <a:off x="2529" y="1336"/>
              <a:ext cx="0" cy="149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69340" name="Object 1052"/>
            <p:cNvGraphicFramePr>
              <a:graphicFrameLocks noChangeAspect="1"/>
            </p:cNvGraphicFramePr>
            <p:nvPr/>
          </p:nvGraphicFramePr>
          <p:xfrm>
            <a:off x="524" y="1161"/>
            <a:ext cx="149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39680" imgH="279000" progId="Equation.3">
                    <p:embed/>
                  </p:oleObj>
                </mc:Choice>
                <mc:Fallback>
                  <p:oleObj name="公式" r:id="rId2" imgW="139680" imgH="279000" progId="Equation.3">
                    <p:embed/>
                    <p:pic>
                      <p:nvPicPr>
                        <p:cNvPr id="269340" name="Object 10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" y="1161"/>
                          <a:ext cx="149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9341" name="Rectangle 1053"/>
            <p:cNvSpPr>
              <a:spLocks noChangeArrowheads="1"/>
            </p:cNvSpPr>
            <p:nvPr/>
          </p:nvSpPr>
          <p:spPr bwMode="auto">
            <a:xfrm>
              <a:off x="2208" y="2228"/>
              <a:ext cx="138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100" dirty="0">
                  <a:latin typeface="+mn-ea"/>
                  <a:ea typeface="+mn-ea"/>
                </a:rPr>
                <a:t> </a:t>
              </a:r>
              <a:endParaRPr lang="en-US" altLang="zh-CN" sz="1800" dirty="0">
                <a:latin typeface="+mn-ea"/>
                <a:ea typeface="+mn-ea"/>
              </a:endParaRPr>
            </a:p>
          </p:txBody>
        </p:sp>
        <p:sp>
          <p:nvSpPr>
            <p:cNvPr id="269342" name="Rectangle 1054"/>
            <p:cNvSpPr>
              <a:spLocks noChangeArrowheads="1"/>
            </p:cNvSpPr>
            <p:nvPr/>
          </p:nvSpPr>
          <p:spPr bwMode="auto">
            <a:xfrm>
              <a:off x="624" y="1344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zh-CN" altLang="en-US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輸   入</a:t>
              </a:r>
            </a:p>
          </p:txBody>
        </p:sp>
        <p:sp>
          <p:nvSpPr>
            <p:cNvPr id="269343" name="Rectangle 1055"/>
            <p:cNvSpPr>
              <a:spLocks noChangeArrowheads="1"/>
            </p:cNvSpPr>
            <p:nvPr/>
          </p:nvSpPr>
          <p:spPr bwMode="auto">
            <a:xfrm>
              <a:off x="1440" y="1344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zh-CN" altLang="en-US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輸    出</a:t>
              </a:r>
            </a:p>
          </p:txBody>
        </p:sp>
      </p:grpSp>
      <p:sp>
        <p:nvSpPr>
          <p:cNvPr id="269344" name="Text Box 1056"/>
          <p:cNvSpPr txBox="1">
            <a:spLocks noChangeArrowheads="1"/>
          </p:cNvSpPr>
          <p:nvPr/>
        </p:nvSpPr>
        <p:spPr bwMode="auto">
          <a:xfrm>
            <a:off x="3886200" y="60198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只用反及閘實現</a:t>
            </a:r>
          </a:p>
        </p:txBody>
      </p:sp>
      <p:grpSp>
        <p:nvGrpSpPr>
          <p:cNvPr id="269345" name="Group 1057"/>
          <p:cNvGrpSpPr>
            <a:grpSpLocks/>
          </p:cNvGrpSpPr>
          <p:nvPr/>
        </p:nvGrpSpPr>
        <p:grpSpPr bwMode="auto">
          <a:xfrm>
            <a:off x="6477000" y="3200400"/>
            <a:ext cx="2089150" cy="2801938"/>
            <a:chOff x="4286" y="890"/>
            <a:chExt cx="1316" cy="1765"/>
          </a:xfrm>
        </p:grpSpPr>
        <p:sp>
          <p:nvSpPr>
            <p:cNvPr id="269346" name="Rectangle 1058"/>
            <p:cNvSpPr>
              <a:spLocks noChangeArrowheads="1"/>
            </p:cNvSpPr>
            <p:nvPr/>
          </p:nvSpPr>
          <p:spPr bwMode="auto">
            <a:xfrm>
              <a:off x="4514" y="1389"/>
              <a:ext cx="681" cy="12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69347" name="Line 1059"/>
            <p:cNvSpPr>
              <a:spLocks noChangeShapeType="1"/>
            </p:cNvSpPr>
            <p:nvPr/>
          </p:nvSpPr>
          <p:spPr bwMode="auto">
            <a:xfrm>
              <a:off x="4332" y="161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69348" name="Line 1060"/>
            <p:cNvSpPr>
              <a:spLocks noChangeShapeType="1"/>
            </p:cNvSpPr>
            <p:nvPr/>
          </p:nvSpPr>
          <p:spPr bwMode="auto">
            <a:xfrm>
              <a:off x="5194" y="1525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69349" name="Line 1061"/>
            <p:cNvSpPr>
              <a:spLocks noChangeShapeType="1"/>
            </p:cNvSpPr>
            <p:nvPr/>
          </p:nvSpPr>
          <p:spPr bwMode="auto">
            <a:xfrm>
              <a:off x="5194" y="1842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69350" name="Line 1062"/>
            <p:cNvSpPr>
              <a:spLocks noChangeShapeType="1"/>
            </p:cNvSpPr>
            <p:nvPr/>
          </p:nvSpPr>
          <p:spPr bwMode="auto">
            <a:xfrm>
              <a:off x="5194" y="216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69351" name="Line 1063"/>
            <p:cNvSpPr>
              <a:spLocks noChangeShapeType="1"/>
            </p:cNvSpPr>
            <p:nvPr/>
          </p:nvSpPr>
          <p:spPr bwMode="auto">
            <a:xfrm>
              <a:off x="5194" y="2477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69352" name="Rectangle 1064"/>
            <p:cNvSpPr>
              <a:spLocks noChangeArrowheads="1"/>
            </p:cNvSpPr>
            <p:nvPr/>
          </p:nvSpPr>
          <p:spPr bwMode="auto">
            <a:xfrm>
              <a:off x="4922" y="1389"/>
              <a:ext cx="32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="1" baseline="-30000" dirty="0">
                  <a:latin typeface="Noto Serif SC" panose="02020200000000000000" pitchFamily="18" charset="-122"/>
                  <a:ea typeface="Noto Serif SC" panose="02020200000000000000" pitchFamily="18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69353" name="Line 1065"/>
            <p:cNvSpPr>
              <a:spLocks noChangeShapeType="1"/>
            </p:cNvSpPr>
            <p:nvPr/>
          </p:nvSpPr>
          <p:spPr bwMode="auto">
            <a:xfrm>
              <a:off x="4333" y="2024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69354" name="Rectangle 1066"/>
            <p:cNvSpPr>
              <a:spLocks noChangeArrowheads="1"/>
            </p:cNvSpPr>
            <p:nvPr/>
          </p:nvSpPr>
          <p:spPr bwMode="auto">
            <a:xfrm>
              <a:off x="4923" y="1706"/>
              <a:ext cx="3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="1" baseline="-30000" dirty="0">
                  <a:latin typeface="Noto Serif SC" panose="02020200000000000000" pitchFamily="18" charset="-122"/>
                  <a:ea typeface="Noto Serif SC" panose="02020200000000000000" pitchFamily="18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69355" name="Rectangle 1067"/>
            <p:cNvSpPr>
              <a:spLocks noChangeArrowheads="1"/>
            </p:cNvSpPr>
            <p:nvPr/>
          </p:nvSpPr>
          <p:spPr bwMode="auto">
            <a:xfrm>
              <a:off x="4923" y="2024"/>
              <a:ext cx="32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="1" baseline="-30000" dirty="0">
                  <a:latin typeface="Noto Serif SC" panose="02020200000000000000" pitchFamily="18" charset="-122"/>
                  <a:ea typeface="Noto Serif SC" panose="02020200000000000000" pitchFamily="18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69356" name="Rectangle 1068"/>
            <p:cNvSpPr>
              <a:spLocks noChangeArrowheads="1"/>
            </p:cNvSpPr>
            <p:nvPr/>
          </p:nvSpPr>
          <p:spPr bwMode="auto">
            <a:xfrm>
              <a:off x="4923" y="2364"/>
              <a:ext cx="32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="1" baseline="-30000" dirty="0">
                  <a:latin typeface="Noto Serif SC" panose="02020200000000000000" pitchFamily="18" charset="-122"/>
                  <a:ea typeface="Noto Serif SC" panose="02020200000000000000" pitchFamily="18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269357" name="Text Box 1069"/>
            <p:cNvSpPr txBox="1">
              <a:spLocks noChangeArrowheads="1"/>
            </p:cNvSpPr>
            <p:nvPr/>
          </p:nvSpPr>
          <p:spPr bwMode="auto">
            <a:xfrm>
              <a:off x="4515" y="1525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A</a:t>
              </a:r>
            </a:p>
          </p:txBody>
        </p:sp>
        <p:sp>
          <p:nvSpPr>
            <p:cNvPr id="269358" name="Text Box 1070"/>
            <p:cNvSpPr txBox="1">
              <a:spLocks noChangeArrowheads="1"/>
            </p:cNvSpPr>
            <p:nvPr/>
          </p:nvSpPr>
          <p:spPr bwMode="auto">
            <a:xfrm>
              <a:off x="4515" y="192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B</a:t>
              </a:r>
            </a:p>
          </p:txBody>
        </p:sp>
        <p:sp>
          <p:nvSpPr>
            <p:cNvPr id="269359" name="Text Box 1071"/>
            <p:cNvSpPr txBox="1">
              <a:spLocks noChangeArrowheads="1"/>
            </p:cNvSpPr>
            <p:nvPr/>
          </p:nvSpPr>
          <p:spPr bwMode="auto">
            <a:xfrm>
              <a:off x="4286" y="890"/>
              <a:ext cx="13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邏輯示意圖</a:t>
              </a:r>
            </a:p>
          </p:txBody>
        </p:sp>
      </p:grpSp>
      <p:grpSp>
        <p:nvGrpSpPr>
          <p:cNvPr id="269360" name="Group 1072"/>
          <p:cNvGrpSpPr>
            <a:grpSpLocks/>
          </p:cNvGrpSpPr>
          <p:nvPr/>
        </p:nvGrpSpPr>
        <p:grpSpPr bwMode="auto">
          <a:xfrm>
            <a:off x="3802063" y="2971800"/>
            <a:ext cx="1806575" cy="3184526"/>
            <a:chOff x="4123" y="1968"/>
            <a:chExt cx="1138" cy="2006"/>
          </a:xfrm>
        </p:grpSpPr>
        <p:graphicFrame>
          <p:nvGraphicFramePr>
            <p:cNvPr id="269361" name="Object 10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7475244"/>
                </p:ext>
              </p:extLst>
            </p:nvPr>
          </p:nvGraphicFramePr>
          <p:xfrm>
            <a:off x="4123" y="2213"/>
            <a:ext cx="1138" cy="17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672840" imgH="1041120" progId="Equation.3">
                    <p:embed/>
                  </p:oleObj>
                </mc:Choice>
                <mc:Fallback>
                  <p:oleObj name="公式" r:id="rId4" imgW="672840" imgH="1041120" progId="Equation.3">
                    <p:embed/>
                    <p:pic>
                      <p:nvPicPr>
                        <p:cNvPr id="269361" name="Object 10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3" y="2213"/>
                          <a:ext cx="1138" cy="176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9362" name="Text Box 1074"/>
            <p:cNvSpPr txBox="1">
              <a:spLocks noChangeArrowheads="1"/>
            </p:cNvSpPr>
            <p:nvPr/>
          </p:nvSpPr>
          <p:spPr bwMode="auto">
            <a:xfrm>
              <a:off x="4128" y="1968"/>
              <a:ext cx="11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輸出運算式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74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4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01700" y="304800"/>
            <a:ext cx="7715250" cy="644525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3.3.1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4</a:t>
            </a:r>
            <a:r>
              <a:rPr lang="zh-CN" altLang="en-US" sz="3600" dirty="0"/>
              <a:t>）</a:t>
            </a:r>
          </a:p>
        </p:txBody>
      </p:sp>
      <p:sp>
        <p:nvSpPr>
          <p:cNvPr id="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69A1-1414-4B3B-9273-2113CB70BEA0}" type="slidenum">
              <a:rPr lang="en-US" altLang="zh-CN">
                <a:latin typeface="+mn-ea"/>
                <a:ea typeface="+mn-ea"/>
              </a:rPr>
              <a:pPr/>
              <a:t>8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70418" name="Rectangle 1106"/>
          <p:cNvSpPr>
            <a:spLocks noGrp="1" noChangeArrowheads="1"/>
          </p:cNvSpPr>
          <p:nvPr>
            <p:ph sz="quarter" idx="1"/>
          </p:nvPr>
        </p:nvSpPr>
        <p:spPr>
          <a:xfrm>
            <a:off x="609600" y="1219200"/>
            <a:ext cx="8153400" cy="4648200"/>
          </a:xfrm>
          <a:noFill/>
          <a:ln/>
        </p:spPr>
        <p:txBody>
          <a:bodyPr/>
          <a:lstStyle/>
          <a:p>
            <a:r>
              <a:rPr lang="en-US" altLang="zh-CN" b="1" dirty="0">
                <a:latin typeface="+mn-ea"/>
              </a:rPr>
              <a:t>2-4</a:t>
            </a:r>
            <a:r>
              <a:rPr lang="zh-CN" altLang="en-US" b="1" dirty="0">
                <a:latin typeface="+mn-ea"/>
              </a:rPr>
              <a:t>解碼器</a:t>
            </a:r>
          </a:p>
          <a:p>
            <a:pPr lvl="1"/>
            <a:r>
              <a:rPr lang="zh-CN" altLang="en-US" dirty="0">
                <a:latin typeface="+mn-ea"/>
              </a:rPr>
              <a:t>（步驟三）</a:t>
            </a:r>
            <a:r>
              <a:rPr lang="zh-CN" altLang="en-US" dirty="0">
                <a:effectLst/>
                <a:latin typeface="+mn-ea"/>
              </a:rPr>
              <a:t>按照輸出運算式畫出邏輯圖</a:t>
            </a:r>
          </a:p>
        </p:txBody>
      </p:sp>
      <p:grpSp>
        <p:nvGrpSpPr>
          <p:cNvPr id="270339" name="Group 1027"/>
          <p:cNvGrpSpPr>
            <a:grpSpLocks/>
          </p:cNvGrpSpPr>
          <p:nvPr/>
        </p:nvGrpSpPr>
        <p:grpSpPr bwMode="auto">
          <a:xfrm>
            <a:off x="754063" y="2362200"/>
            <a:ext cx="1806575" cy="3184526"/>
            <a:chOff x="4123" y="1968"/>
            <a:chExt cx="1138" cy="2006"/>
          </a:xfrm>
        </p:grpSpPr>
        <p:graphicFrame>
          <p:nvGraphicFramePr>
            <p:cNvPr id="270340" name="Object 10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0965573"/>
                </p:ext>
              </p:extLst>
            </p:nvPr>
          </p:nvGraphicFramePr>
          <p:xfrm>
            <a:off x="4123" y="2213"/>
            <a:ext cx="1138" cy="17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672840" imgH="1041120" progId="Equation.3">
                    <p:embed/>
                  </p:oleObj>
                </mc:Choice>
                <mc:Fallback>
                  <p:oleObj name="公式" r:id="rId2" imgW="672840" imgH="1041120" progId="Equation.3">
                    <p:embed/>
                    <p:pic>
                      <p:nvPicPr>
                        <p:cNvPr id="270340" name="Object 10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3" y="2213"/>
                          <a:ext cx="1138" cy="176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0341" name="Text Box 1029"/>
            <p:cNvSpPr txBox="1">
              <a:spLocks noChangeArrowheads="1"/>
            </p:cNvSpPr>
            <p:nvPr/>
          </p:nvSpPr>
          <p:spPr bwMode="auto">
            <a:xfrm>
              <a:off x="4128" y="1968"/>
              <a:ext cx="11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輸出運算式</a:t>
              </a:r>
            </a:p>
          </p:txBody>
        </p:sp>
      </p:grpSp>
      <p:sp>
        <p:nvSpPr>
          <p:cNvPr id="270342" name="Rectangle 1030"/>
          <p:cNvSpPr>
            <a:spLocks noChangeArrowheads="1"/>
          </p:cNvSpPr>
          <p:nvPr/>
        </p:nvSpPr>
        <p:spPr bwMode="auto">
          <a:xfrm>
            <a:off x="4343400" y="2438400"/>
            <a:ext cx="3886200" cy="39624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>
              <a:solidFill>
                <a:srgbClr val="CC00FF"/>
              </a:solidFill>
              <a:latin typeface="+mn-ea"/>
              <a:ea typeface="+mn-ea"/>
            </a:endParaRPr>
          </a:p>
        </p:txBody>
      </p:sp>
      <p:grpSp>
        <p:nvGrpSpPr>
          <p:cNvPr id="270343" name="Group 1031"/>
          <p:cNvGrpSpPr>
            <a:grpSpLocks/>
          </p:cNvGrpSpPr>
          <p:nvPr/>
        </p:nvGrpSpPr>
        <p:grpSpPr bwMode="auto">
          <a:xfrm>
            <a:off x="4800600" y="2762249"/>
            <a:ext cx="990600" cy="819149"/>
            <a:chOff x="3024" y="1575"/>
            <a:chExt cx="624" cy="516"/>
          </a:xfrm>
        </p:grpSpPr>
        <p:grpSp>
          <p:nvGrpSpPr>
            <p:cNvPr id="270344" name="Group 1032"/>
            <p:cNvGrpSpPr>
              <a:grpSpLocks/>
            </p:cNvGrpSpPr>
            <p:nvPr/>
          </p:nvGrpSpPr>
          <p:grpSpPr bwMode="auto">
            <a:xfrm>
              <a:off x="3024" y="1728"/>
              <a:ext cx="317" cy="363"/>
              <a:chOff x="1020" y="1706"/>
              <a:chExt cx="317" cy="363"/>
            </a:xfrm>
          </p:grpSpPr>
          <p:sp>
            <p:nvSpPr>
              <p:cNvPr id="270345" name="Rectangle 1033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0346" name="Oval 1034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0347" name="Line 1035"/>
            <p:cNvSpPr>
              <a:spLocks noChangeShapeType="1"/>
            </p:cNvSpPr>
            <p:nvPr/>
          </p:nvSpPr>
          <p:spPr bwMode="auto">
            <a:xfrm>
              <a:off x="3360" y="192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70348" name="Object 10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8560241"/>
                </p:ext>
              </p:extLst>
            </p:nvPr>
          </p:nvGraphicFramePr>
          <p:xfrm>
            <a:off x="3379" y="1575"/>
            <a:ext cx="190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26720" imgH="215640" progId="Equation.3">
                    <p:embed/>
                  </p:oleObj>
                </mc:Choice>
                <mc:Fallback>
                  <p:oleObj name="公式" r:id="rId4" imgW="126720" imgH="215640" progId="Equation.3">
                    <p:embed/>
                    <p:pic>
                      <p:nvPicPr>
                        <p:cNvPr id="270348" name="Object 10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" y="1575"/>
                          <a:ext cx="190" cy="3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0349" name="Group 1037"/>
          <p:cNvGrpSpPr>
            <a:grpSpLocks/>
          </p:cNvGrpSpPr>
          <p:nvPr/>
        </p:nvGrpSpPr>
        <p:grpSpPr bwMode="auto">
          <a:xfrm>
            <a:off x="4800600" y="4057648"/>
            <a:ext cx="2057400" cy="819149"/>
            <a:chOff x="3024" y="2391"/>
            <a:chExt cx="1296" cy="516"/>
          </a:xfrm>
        </p:grpSpPr>
        <p:grpSp>
          <p:nvGrpSpPr>
            <p:cNvPr id="270350" name="Group 1038"/>
            <p:cNvGrpSpPr>
              <a:grpSpLocks/>
            </p:cNvGrpSpPr>
            <p:nvPr/>
          </p:nvGrpSpPr>
          <p:grpSpPr bwMode="auto">
            <a:xfrm>
              <a:off x="3024" y="2544"/>
              <a:ext cx="1296" cy="363"/>
              <a:chOff x="3024" y="2544"/>
              <a:chExt cx="1296" cy="363"/>
            </a:xfrm>
          </p:grpSpPr>
          <p:grpSp>
            <p:nvGrpSpPr>
              <p:cNvPr id="270351" name="Group 1039"/>
              <p:cNvGrpSpPr>
                <a:grpSpLocks/>
              </p:cNvGrpSpPr>
              <p:nvPr/>
            </p:nvGrpSpPr>
            <p:grpSpPr bwMode="auto">
              <a:xfrm>
                <a:off x="3024" y="2544"/>
                <a:ext cx="317" cy="363"/>
                <a:chOff x="1020" y="1706"/>
                <a:chExt cx="317" cy="363"/>
              </a:xfrm>
            </p:grpSpPr>
            <p:sp>
              <p:nvSpPr>
                <p:cNvPr id="270352" name="Rectangle 1040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0353" name="Oval 1041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70354" name="Line 1042"/>
              <p:cNvSpPr>
                <a:spLocks noChangeShapeType="1"/>
              </p:cNvSpPr>
              <p:nvPr/>
            </p:nvSpPr>
            <p:spPr bwMode="auto">
              <a:xfrm>
                <a:off x="3360" y="2736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270355" name="Object 10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8051477"/>
                </p:ext>
              </p:extLst>
            </p:nvPr>
          </p:nvGraphicFramePr>
          <p:xfrm>
            <a:off x="3360" y="2391"/>
            <a:ext cx="228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52280" imgH="215640" progId="Equation.3">
                    <p:embed/>
                  </p:oleObj>
                </mc:Choice>
                <mc:Fallback>
                  <p:oleObj name="公式" r:id="rId6" imgW="152280" imgH="215640" progId="Equation.3">
                    <p:embed/>
                    <p:pic>
                      <p:nvPicPr>
                        <p:cNvPr id="270355" name="Object 10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2391"/>
                          <a:ext cx="228" cy="3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0356" name="Group 1044"/>
          <p:cNvGrpSpPr>
            <a:grpSpLocks/>
          </p:cNvGrpSpPr>
          <p:nvPr/>
        </p:nvGrpSpPr>
        <p:grpSpPr bwMode="auto">
          <a:xfrm>
            <a:off x="6858000" y="3005138"/>
            <a:ext cx="381000" cy="1600200"/>
            <a:chOff x="4320" y="1728"/>
            <a:chExt cx="240" cy="1008"/>
          </a:xfrm>
        </p:grpSpPr>
        <p:sp>
          <p:nvSpPr>
            <p:cNvPr id="270357" name="Line 1045"/>
            <p:cNvSpPr>
              <a:spLocks noChangeShapeType="1"/>
            </p:cNvSpPr>
            <p:nvPr/>
          </p:nvSpPr>
          <p:spPr bwMode="auto">
            <a:xfrm flipV="1">
              <a:off x="4320" y="1728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58" name="Line 1046"/>
            <p:cNvSpPr>
              <a:spLocks noChangeShapeType="1"/>
            </p:cNvSpPr>
            <p:nvPr/>
          </p:nvSpPr>
          <p:spPr bwMode="auto">
            <a:xfrm>
              <a:off x="4320" y="17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0359" name="Group 1047"/>
          <p:cNvGrpSpPr>
            <a:grpSpLocks/>
          </p:cNvGrpSpPr>
          <p:nvPr/>
        </p:nvGrpSpPr>
        <p:grpSpPr bwMode="auto">
          <a:xfrm>
            <a:off x="4648200" y="3309938"/>
            <a:ext cx="2590800" cy="457200"/>
            <a:chOff x="2928" y="1920"/>
            <a:chExt cx="1632" cy="288"/>
          </a:xfrm>
        </p:grpSpPr>
        <p:sp>
          <p:nvSpPr>
            <p:cNvPr id="270360" name="Line 1048"/>
            <p:cNvSpPr>
              <a:spLocks noChangeShapeType="1"/>
            </p:cNvSpPr>
            <p:nvPr/>
          </p:nvSpPr>
          <p:spPr bwMode="auto">
            <a:xfrm>
              <a:off x="2928" y="192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70361" name="Group 1049"/>
            <p:cNvGrpSpPr>
              <a:grpSpLocks/>
            </p:cNvGrpSpPr>
            <p:nvPr/>
          </p:nvGrpSpPr>
          <p:grpSpPr bwMode="auto">
            <a:xfrm>
              <a:off x="2928" y="2208"/>
              <a:ext cx="1632" cy="0"/>
              <a:chOff x="2928" y="2208"/>
              <a:chExt cx="1632" cy="0"/>
            </a:xfrm>
          </p:grpSpPr>
          <p:sp>
            <p:nvSpPr>
              <p:cNvPr id="270362" name="Line 1050"/>
              <p:cNvSpPr>
                <a:spLocks noChangeShapeType="1"/>
              </p:cNvSpPr>
              <p:nvPr/>
            </p:nvSpPr>
            <p:spPr bwMode="auto">
              <a:xfrm flipH="1">
                <a:off x="3792" y="2208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0363" name="Line 1051"/>
              <p:cNvSpPr>
                <a:spLocks noChangeShapeType="1"/>
              </p:cNvSpPr>
              <p:nvPr/>
            </p:nvSpPr>
            <p:spPr bwMode="auto">
              <a:xfrm>
                <a:off x="2928" y="220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70364" name="Group 1052"/>
          <p:cNvGrpSpPr>
            <a:grpSpLocks/>
          </p:cNvGrpSpPr>
          <p:nvPr/>
        </p:nvGrpSpPr>
        <p:grpSpPr bwMode="auto">
          <a:xfrm>
            <a:off x="5791200" y="2700338"/>
            <a:ext cx="1465263" cy="609600"/>
            <a:chOff x="3648" y="1536"/>
            <a:chExt cx="923" cy="384"/>
          </a:xfrm>
        </p:grpSpPr>
        <p:sp>
          <p:nvSpPr>
            <p:cNvPr id="270365" name="Line 1053"/>
            <p:cNvSpPr>
              <a:spLocks noChangeShapeType="1"/>
            </p:cNvSpPr>
            <p:nvPr/>
          </p:nvSpPr>
          <p:spPr bwMode="auto">
            <a:xfrm flipH="1">
              <a:off x="3648" y="1536"/>
              <a:ext cx="9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66" name="Line 1054"/>
            <p:cNvSpPr>
              <a:spLocks noChangeShapeType="1"/>
            </p:cNvSpPr>
            <p:nvPr/>
          </p:nvSpPr>
          <p:spPr bwMode="auto">
            <a:xfrm>
              <a:off x="3648" y="153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0367" name="Group 1055"/>
          <p:cNvGrpSpPr>
            <a:grpSpLocks/>
          </p:cNvGrpSpPr>
          <p:nvPr/>
        </p:nvGrpSpPr>
        <p:grpSpPr bwMode="auto">
          <a:xfrm>
            <a:off x="3505200" y="2776538"/>
            <a:ext cx="1295400" cy="609600"/>
            <a:chOff x="2208" y="1584"/>
            <a:chExt cx="816" cy="384"/>
          </a:xfrm>
        </p:grpSpPr>
        <p:sp>
          <p:nvSpPr>
            <p:cNvPr id="270368" name="Text Box 1056"/>
            <p:cNvSpPr txBox="1">
              <a:spLocks noChangeArrowheads="1"/>
            </p:cNvSpPr>
            <p:nvPr/>
          </p:nvSpPr>
          <p:spPr bwMode="auto">
            <a:xfrm>
              <a:off x="2208" y="1584"/>
              <a:ext cx="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A</a:t>
              </a:r>
            </a:p>
          </p:txBody>
        </p:sp>
        <p:grpSp>
          <p:nvGrpSpPr>
            <p:cNvPr id="270369" name="Group 1057"/>
            <p:cNvGrpSpPr>
              <a:grpSpLocks/>
            </p:cNvGrpSpPr>
            <p:nvPr/>
          </p:nvGrpSpPr>
          <p:grpSpPr bwMode="auto">
            <a:xfrm>
              <a:off x="2208" y="1872"/>
              <a:ext cx="816" cy="96"/>
              <a:chOff x="2208" y="1872"/>
              <a:chExt cx="816" cy="96"/>
            </a:xfrm>
          </p:grpSpPr>
          <p:sp>
            <p:nvSpPr>
              <p:cNvPr id="270370" name="Line 1058"/>
              <p:cNvSpPr>
                <a:spLocks noChangeShapeType="1"/>
              </p:cNvSpPr>
              <p:nvPr/>
            </p:nvSpPr>
            <p:spPr bwMode="auto">
              <a:xfrm flipH="1">
                <a:off x="2208" y="1920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0371" name="Oval 1059"/>
              <p:cNvSpPr>
                <a:spLocks noChangeArrowheads="1"/>
              </p:cNvSpPr>
              <p:nvPr/>
            </p:nvSpPr>
            <p:spPr bwMode="auto">
              <a:xfrm>
                <a:off x="2880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70372" name="Group 1060"/>
          <p:cNvGrpSpPr>
            <a:grpSpLocks/>
          </p:cNvGrpSpPr>
          <p:nvPr/>
        </p:nvGrpSpPr>
        <p:grpSpPr bwMode="auto">
          <a:xfrm>
            <a:off x="3429000" y="4300538"/>
            <a:ext cx="1371600" cy="381000"/>
            <a:chOff x="2160" y="2544"/>
            <a:chExt cx="864" cy="240"/>
          </a:xfrm>
        </p:grpSpPr>
        <p:sp>
          <p:nvSpPr>
            <p:cNvPr id="270373" name="Line 1061"/>
            <p:cNvSpPr>
              <a:spLocks noChangeShapeType="1"/>
            </p:cNvSpPr>
            <p:nvPr/>
          </p:nvSpPr>
          <p:spPr bwMode="auto">
            <a:xfrm flipH="1">
              <a:off x="2160" y="2736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74" name="Text Box 1062"/>
            <p:cNvSpPr txBox="1">
              <a:spLocks noChangeArrowheads="1"/>
            </p:cNvSpPr>
            <p:nvPr/>
          </p:nvSpPr>
          <p:spPr bwMode="auto">
            <a:xfrm>
              <a:off x="2208" y="2544"/>
              <a:ext cx="14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B</a:t>
              </a:r>
            </a:p>
          </p:txBody>
        </p:sp>
        <p:sp>
          <p:nvSpPr>
            <p:cNvPr id="270375" name="Oval 1063"/>
            <p:cNvSpPr>
              <a:spLocks noChangeArrowheads="1"/>
            </p:cNvSpPr>
            <p:nvPr/>
          </p:nvSpPr>
          <p:spPr bwMode="auto">
            <a:xfrm>
              <a:off x="2880" y="26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0376" name="Group 1064"/>
          <p:cNvGrpSpPr>
            <a:grpSpLocks/>
          </p:cNvGrpSpPr>
          <p:nvPr/>
        </p:nvGrpSpPr>
        <p:grpSpPr bwMode="auto">
          <a:xfrm>
            <a:off x="6400800" y="2624138"/>
            <a:ext cx="838200" cy="2209800"/>
            <a:chOff x="4032" y="1488"/>
            <a:chExt cx="528" cy="1392"/>
          </a:xfrm>
        </p:grpSpPr>
        <p:sp>
          <p:nvSpPr>
            <p:cNvPr id="270377" name="Line 1065"/>
            <p:cNvSpPr>
              <a:spLocks noChangeShapeType="1"/>
            </p:cNvSpPr>
            <p:nvPr/>
          </p:nvSpPr>
          <p:spPr bwMode="auto">
            <a:xfrm flipH="1">
              <a:off x="4080" y="288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78" name="Line 1066"/>
            <p:cNvSpPr>
              <a:spLocks noChangeShapeType="1"/>
            </p:cNvSpPr>
            <p:nvPr/>
          </p:nvSpPr>
          <p:spPr bwMode="auto">
            <a:xfrm flipH="1">
              <a:off x="4080" y="1536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79" name="Oval 1067"/>
            <p:cNvSpPr>
              <a:spLocks noChangeArrowheads="1"/>
            </p:cNvSpPr>
            <p:nvPr/>
          </p:nvSpPr>
          <p:spPr bwMode="auto">
            <a:xfrm>
              <a:off x="4032" y="14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0380" name="Group 1068"/>
          <p:cNvGrpSpPr>
            <a:grpSpLocks/>
          </p:cNvGrpSpPr>
          <p:nvPr/>
        </p:nvGrpSpPr>
        <p:grpSpPr bwMode="auto">
          <a:xfrm>
            <a:off x="6781800" y="3919538"/>
            <a:ext cx="457200" cy="152400"/>
            <a:chOff x="4272" y="2304"/>
            <a:chExt cx="288" cy="96"/>
          </a:xfrm>
        </p:grpSpPr>
        <p:sp>
          <p:nvSpPr>
            <p:cNvPr id="270381" name="Line 1069"/>
            <p:cNvSpPr>
              <a:spLocks noChangeShapeType="1"/>
            </p:cNvSpPr>
            <p:nvPr/>
          </p:nvSpPr>
          <p:spPr bwMode="auto">
            <a:xfrm flipH="1">
              <a:off x="4320" y="235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82" name="Oval 1070"/>
            <p:cNvSpPr>
              <a:spLocks noChangeArrowheads="1"/>
            </p:cNvSpPr>
            <p:nvPr/>
          </p:nvSpPr>
          <p:spPr bwMode="auto">
            <a:xfrm>
              <a:off x="4272" y="230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0383" name="Group 1071"/>
          <p:cNvGrpSpPr>
            <a:grpSpLocks/>
          </p:cNvGrpSpPr>
          <p:nvPr/>
        </p:nvGrpSpPr>
        <p:grpSpPr bwMode="auto">
          <a:xfrm>
            <a:off x="5943600" y="3690938"/>
            <a:ext cx="1295400" cy="2209800"/>
            <a:chOff x="3744" y="2160"/>
            <a:chExt cx="816" cy="1392"/>
          </a:xfrm>
        </p:grpSpPr>
        <p:sp>
          <p:nvSpPr>
            <p:cNvPr id="270384" name="Line 1072"/>
            <p:cNvSpPr>
              <a:spLocks noChangeShapeType="1"/>
            </p:cNvSpPr>
            <p:nvPr/>
          </p:nvSpPr>
          <p:spPr bwMode="auto">
            <a:xfrm flipH="1">
              <a:off x="3792" y="355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85" name="Line 1073"/>
            <p:cNvSpPr>
              <a:spLocks noChangeShapeType="1"/>
            </p:cNvSpPr>
            <p:nvPr/>
          </p:nvSpPr>
          <p:spPr bwMode="auto">
            <a:xfrm flipV="1">
              <a:off x="3792" y="2208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86" name="Oval 1074"/>
            <p:cNvSpPr>
              <a:spLocks noChangeArrowheads="1"/>
            </p:cNvSpPr>
            <p:nvPr/>
          </p:nvSpPr>
          <p:spPr bwMode="auto">
            <a:xfrm>
              <a:off x="3744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0387" name="Group 1075"/>
          <p:cNvGrpSpPr>
            <a:grpSpLocks/>
          </p:cNvGrpSpPr>
          <p:nvPr/>
        </p:nvGrpSpPr>
        <p:grpSpPr bwMode="auto">
          <a:xfrm>
            <a:off x="4648200" y="4605338"/>
            <a:ext cx="2590800" cy="457200"/>
            <a:chOff x="2928" y="2736"/>
            <a:chExt cx="1632" cy="288"/>
          </a:xfrm>
        </p:grpSpPr>
        <p:sp>
          <p:nvSpPr>
            <p:cNvPr id="270388" name="Line 1076"/>
            <p:cNvSpPr>
              <a:spLocks noChangeShapeType="1"/>
            </p:cNvSpPr>
            <p:nvPr/>
          </p:nvSpPr>
          <p:spPr bwMode="auto">
            <a:xfrm flipH="1" flipV="1">
              <a:off x="4128" y="302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89" name="Line 1077"/>
            <p:cNvSpPr>
              <a:spLocks noChangeShapeType="1"/>
            </p:cNvSpPr>
            <p:nvPr/>
          </p:nvSpPr>
          <p:spPr bwMode="auto">
            <a:xfrm>
              <a:off x="2928" y="27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90" name="Line 1078"/>
            <p:cNvSpPr>
              <a:spLocks noChangeShapeType="1"/>
            </p:cNvSpPr>
            <p:nvPr/>
          </p:nvSpPr>
          <p:spPr bwMode="auto">
            <a:xfrm>
              <a:off x="2928" y="302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0391" name="Group 1079"/>
          <p:cNvGrpSpPr>
            <a:grpSpLocks/>
          </p:cNvGrpSpPr>
          <p:nvPr/>
        </p:nvGrpSpPr>
        <p:grpSpPr bwMode="auto">
          <a:xfrm>
            <a:off x="5562600" y="4986338"/>
            <a:ext cx="1676400" cy="1219200"/>
            <a:chOff x="3504" y="2976"/>
            <a:chExt cx="1056" cy="768"/>
          </a:xfrm>
        </p:grpSpPr>
        <p:sp>
          <p:nvSpPr>
            <p:cNvPr id="270392" name="Line 1080"/>
            <p:cNvSpPr>
              <a:spLocks noChangeShapeType="1"/>
            </p:cNvSpPr>
            <p:nvPr/>
          </p:nvSpPr>
          <p:spPr bwMode="auto">
            <a:xfrm flipH="1">
              <a:off x="3552" y="3744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93" name="Line 1081"/>
            <p:cNvSpPr>
              <a:spLocks noChangeShapeType="1"/>
            </p:cNvSpPr>
            <p:nvPr/>
          </p:nvSpPr>
          <p:spPr bwMode="auto">
            <a:xfrm flipV="1">
              <a:off x="3552" y="302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94" name="Oval 1082"/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0395" name="Group 1083"/>
          <p:cNvGrpSpPr>
            <a:grpSpLocks/>
          </p:cNvGrpSpPr>
          <p:nvPr/>
        </p:nvGrpSpPr>
        <p:grpSpPr bwMode="auto">
          <a:xfrm>
            <a:off x="7239000" y="2547938"/>
            <a:ext cx="530225" cy="3776662"/>
            <a:chOff x="4560" y="1440"/>
            <a:chExt cx="334" cy="2379"/>
          </a:xfrm>
        </p:grpSpPr>
        <p:grpSp>
          <p:nvGrpSpPr>
            <p:cNvPr id="270396" name="Group 1084"/>
            <p:cNvGrpSpPr>
              <a:grpSpLocks/>
            </p:cNvGrpSpPr>
            <p:nvPr/>
          </p:nvGrpSpPr>
          <p:grpSpPr bwMode="auto">
            <a:xfrm>
              <a:off x="4577" y="1440"/>
              <a:ext cx="317" cy="363"/>
              <a:chOff x="1020" y="1706"/>
              <a:chExt cx="317" cy="363"/>
            </a:xfrm>
          </p:grpSpPr>
          <p:sp>
            <p:nvSpPr>
              <p:cNvPr id="270397" name="Rectangle 1085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0398" name="Oval 1086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0399" name="Group 1087"/>
            <p:cNvGrpSpPr>
              <a:grpSpLocks/>
            </p:cNvGrpSpPr>
            <p:nvPr/>
          </p:nvGrpSpPr>
          <p:grpSpPr bwMode="auto">
            <a:xfrm>
              <a:off x="4560" y="2112"/>
              <a:ext cx="317" cy="363"/>
              <a:chOff x="1020" y="1706"/>
              <a:chExt cx="317" cy="363"/>
            </a:xfrm>
          </p:grpSpPr>
          <p:sp>
            <p:nvSpPr>
              <p:cNvPr id="270400" name="Rectangle 1088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0401" name="Oval 1089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0402" name="Group 1090"/>
            <p:cNvGrpSpPr>
              <a:grpSpLocks/>
            </p:cNvGrpSpPr>
            <p:nvPr/>
          </p:nvGrpSpPr>
          <p:grpSpPr bwMode="auto">
            <a:xfrm>
              <a:off x="4560" y="2784"/>
              <a:ext cx="317" cy="363"/>
              <a:chOff x="1020" y="1706"/>
              <a:chExt cx="317" cy="363"/>
            </a:xfrm>
          </p:grpSpPr>
          <p:sp>
            <p:nvSpPr>
              <p:cNvPr id="270403" name="Rectangle 1091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0404" name="Oval 1092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0405" name="Group 1093"/>
            <p:cNvGrpSpPr>
              <a:grpSpLocks/>
            </p:cNvGrpSpPr>
            <p:nvPr/>
          </p:nvGrpSpPr>
          <p:grpSpPr bwMode="auto">
            <a:xfrm>
              <a:off x="4560" y="3456"/>
              <a:ext cx="317" cy="363"/>
              <a:chOff x="1020" y="1706"/>
              <a:chExt cx="317" cy="363"/>
            </a:xfrm>
          </p:grpSpPr>
          <p:sp>
            <p:nvSpPr>
              <p:cNvPr id="270406" name="Rectangle 1094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0407" name="Oval 1095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70408" name="Group 1096"/>
          <p:cNvGrpSpPr>
            <a:grpSpLocks/>
          </p:cNvGrpSpPr>
          <p:nvPr/>
        </p:nvGrpSpPr>
        <p:grpSpPr bwMode="auto">
          <a:xfrm>
            <a:off x="7745413" y="2471738"/>
            <a:ext cx="1169987" cy="3581400"/>
            <a:chOff x="4879" y="1392"/>
            <a:chExt cx="737" cy="2256"/>
          </a:xfrm>
        </p:grpSpPr>
        <p:sp>
          <p:nvSpPr>
            <p:cNvPr id="270409" name="Line 1097"/>
            <p:cNvSpPr>
              <a:spLocks noChangeShapeType="1"/>
            </p:cNvSpPr>
            <p:nvPr/>
          </p:nvSpPr>
          <p:spPr bwMode="auto">
            <a:xfrm>
              <a:off x="4896" y="163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410" name="Line 1098"/>
            <p:cNvSpPr>
              <a:spLocks noChangeShapeType="1"/>
            </p:cNvSpPr>
            <p:nvPr/>
          </p:nvSpPr>
          <p:spPr bwMode="auto">
            <a:xfrm>
              <a:off x="4896" y="230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411" name="Line 1099"/>
            <p:cNvSpPr>
              <a:spLocks noChangeShapeType="1"/>
            </p:cNvSpPr>
            <p:nvPr/>
          </p:nvSpPr>
          <p:spPr bwMode="auto">
            <a:xfrm>
              <a:off x="4879" y="297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412" name="Line 1100"/>
            <p:cNvSpPr>
              <a:spLocks noChangeShapeType="1"/>
            </p:cNvSpPr>
            <p:nvPr/>
          </p:nvSpPr>
          <p:spPr bwMode="auto">
            <a:xfrm>
              <a:off x="4879" y="364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413" name="Text Box 1101"/>
            <p:cNvSpPr txBox="1">
              <a:spLocks noChangeArrowheads="1"/>
            </p:cNvSpPr>
            <p:nvPr/>
          </p:nvSpPr>
          <p:spPr bwMode="auto">
            <a:xfrm>
              <a:off x="5280" y="13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270414" name="Text Box 1102"/>
            <p:cNvSpPr txBox="1">
              <a:spLocks noChangeArrowheads="1"/>
            </p:cNvSpPr>
            <p:nvPr/>
          </p:nvSpPr>
          <p:spPr bwMode="auto">
            <a:xfrm>
              <a:off x="5328" y="206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270415" name="Text Box 1103"/>
            <p:cNvSpPr txBox="1">
              <a:spLocks noChangeArrowheads="1"/>
            </p:cNvSpPr>
            <p:nvPr/>
          </p:nvSpPr>
          <p:spPr bwMode="auto">
            <a:xfrm>
              <a:off x="5328" y="268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270416" name="Text Box 1104"/>
            <p:cNvSpPr txBox="1">
              <a:spLocks noChangeArrowheads="1"/>
            </p:cNvSpPr>
            <p:nvPr/>
          </p:nvSpPr>
          <p:spPr bwMode="auto">
            <a:xfrm>
              <a:off x="5280" y="33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3</a:t>
              </a:r>
            </a:p>
          </p:txBody>
        </p:sp>
      </p:grpSp>
      <p:sp>
        <p:nvSpPr>
          <p:cNvPr id="270417" name="Text Box 1105"/>
          <p:cNvSpPr txBox="1">
            <a:spLocks noChangeArrowheads="1"/>
          </p:cNvSpPr>
          <p:nvPr/>
        </p:nvSpPr>
        <p:spPr bwMode="auto">
          <a:xfrm>
            <a:off x="533400" y="5562600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有沒有什麼問題？</a:t>
            </a:r>
          </a:p>
        </p:txBody>
      </p:sp>
    </p:spTree>
    <p:extLst>
      <p:ext uri="{BB962C8B-B14F-4D97-AF65-F5344CB8AC3E}">
        <p14:creationId xmlns:p14="http://schemas.microsoft.com/office/powerpoint/2010/main" val="843586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70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70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70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27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9" dur="500"/>
                                        <p:tgtEl>
                                          <p:spTgt spid="27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27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270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270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27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270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270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0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70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2" grpId="0" animBg="1"/>
      <p:bldP spid="27041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5</a:t>
            </a:r>
            <a:r>
              <a:rPr lang="zh-CN" altLang="en-US" sz="3600" dirty="0"/>
              <a:t>）</a:t>
            </a:r>
          </a:p>
        </p:txBody>
      </p:sp>
      <p:sp>
        <p:nvSpPr>
          <p:cNvPr id="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E06E-9607-4DFB-84A6-5E587F84C886}" type="slidenum">
              <a:rPr lang="en-US" altLang="zh-CN">
                <a:latin typeface="+mn-ea"/>
                <a:ea typeface="+mn-ea"/>
              </a:rPr>
              <a:pPr/>
              <a:t>9</a:t>
            </a:fld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271363" name="Group 1027"/>
          <p:cNvGrpSpPr>
            <a:grpSpLocks/>
          </p:cNvGrpSpPr>
          <p:nvPr/>
        </p:nvGrpSpPr>
        <p:grpSpPr bwMode="auto">
          <a:xfrm>
            <a:off x="3429000" y="2438400"/>
            <a:ext cx="5486400" cy="3962400"/>
            <a:chOff x="2160" y="1536"/>
            <a:chExt cx="3456" cy="2496"/>
          </a:xfrm>
        </p:grpSpPr>
        <p:sp>
          <p:nvSpPr>
            <p:cNvPr id="271364" name="Rectangle 1028"/>
            <p:cNvSpPr>
              <a:spLocks noChangeArrowheads="1"/>
            </p:cNvSpPr>
            <p:nvPr/>
          </p:nvSpPr>
          <p:spPr bwMode="auto">
            <a:xfrm>
              <a:off x="2736" y="1536"/>
              <a:ext cx="2448" cy="2496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71365" name="Group 1029"/>
            <p:cNvGrpSpPr>
              <a:grpSpLocks/>
            </p:cNvGrpSpPr>
            <p:nvPr/>
          </p:nvGrpSpPr>
          <p:grpSpPr bwMode="auto">
            <a:xfrm>
              <a:off x="3024" y="1740"/>
              <a:ext cx="624" cy="516"/>
              <a:chOff x="3024" y="1575"/>
              <a:chExt cx="624" cy="516"/>
            </a:xfrm>
          </p:grpSpPr>
          <p:grpSp>
            <p:nvGrpSpPr>
              <p:cNvPr id="271366" name="Group 1030"/>
              <p:cNvGrpSpPr>
                <a:grpSpLocks/>
              </p:cNvGrpSpPr>
              <p:nvPr/>
            </p:nvGrpSpPr>
            <p:grpSpPr bwMode="auto">
              <a:xfrm>
                <a:off x="3024" y="1728"/>
                <a:ext cx="317" cy="363"/>
                <a:chOff x="1020" y="1706"/>
                <a:chExt cx="317" cy="363"/>
              </a:xfrm>
            </p:grpSpPr>
            <p:sp>
              <p:nvSpPr>
                <p:cNvPr id="271367" name="Rectangle 1031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1368" name="Oval 1032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71369" name="Line 1033"/>
              <p:cNvSpPr>
                <a:spLocks noChangeShapeType="1"/>
              </p:cNvSpPr>
              <p:nvPr/>
            </p:nvSpPr>
            <p:spPr bwMode="auto">
              <a:xfrm>
                <a:off x="3360" y="192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71370" name="Object 103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20168452"/>
                  </p:ext>
                </p:extLst>
              </p:nvPr>
            </p:nvGraphicFramePr>
            <p:xfrm>
              <a:off x="3379" y="1575"/>
              <a:ext cx="190" cy="3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126720" imgH="215640" progId="Equation.3">
                      <p:embed/>
                    </p:oleObj>
                  </mc:Choice>
                  <mc:Fallback>
                    <p:oleObj name="公式" r:id="rId2" imgW="126720" imgH="215640" progId="Equation.3">
                      <p:embed/>
                      <p:pic>
                        <p:nvPicPr>
                          <p:cNvPr id="271370" name="Object 10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79" y="1575"/>
                            <a:ext cx="190" cy="32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1371" name="Group 1035"/>
            <p:cNvGrpSpPr>
              <a:grpSpLocks/>
            </p:cNvGrpSpPr>
            <p:nvPr/>
          </p:nvGrpSpPr>
          <p:grpSpPr bwMode="auto">
            <a:xfrm>
              <a:off x="3024" y="2556"/>
              <a:ext cx="1296" cy="516"/>
              <a:chOff x="3024" y="2391"/>
              <a:chExt cx="1296" cy="516"/>
            </a:xfrm>
          </p:grpSpPr>
          <p:grpSp>
            <p:nvGrpSpPr>
              <p:cNvPr id="271372" name="Group 1036"/>
              <p:cNvGrpSpPr>
                <a:grpSpLocks/>
              </p:cNvGrpSpPr>
              <p:nvPr/>
            </p:nvGrpSpPr>
            <p:grpSpPr bwMode="auto">
              <a:xfrm>
                <a:off x="3024" y="2544"/>
                <a:ext cx="1296" cy="363"/>
                <a:chOff x="3024" y="2544"/>
                <a:chExt cx="1296" cy="363"/>
              </a:xfrm>
            </p:grpSpPr>
            <p:grpSp>
              <p:nvGrpSpPr>
                <p:cNvPr id="271373" name="Group 1037"/>
                <p:cNvGrpSpPr>
                  <a:grpSpLocks/>
                </p:cNvGrpSpPr>
                <p:nvPr/>
              </p:nvGrpSpPr>
              <p:grpSpPr bwMode="auto">
                <a:xfrm>
                  <a:off x="3024" y="2544"/>
                  <a:ext cx="317" cy="363"/>
                  <a:chOff x="1020" y="1706"/>
                  <a:chExt cx="317" cy="363"/>
                </a:xfrm>
              </p:grpSpPr>
              <p:sp>
                <p:nvSpPr>
                  <p:cNvPr id="271374" name="Rectangle 1038"/>
                  <p:cNvSpPr>
                    <a:spLocks noChangeArrowheads="1"/>
                  </p:cNvSpPr>
                  <p:nvPr/>
                </p:nvSpPr>
                <p:spPr bwMode="auto">
                  <a:xfrm>
                    <a:off x="1020" y="1706"/>
                    <a:ext cx="227" cy="363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271375" name="Oval 1039"/>
                  <p:cNvSpPr>
                    <a:spLocks noChangeArrowheads="1"/>
                  </p:cNvSpPr>
                  <p:nvPr/>
                </p:nvSpPr>
                <p:spPr bwMode="auto">
                  <a:xfrm>
                    <a:off x="1247" y="1842"/>
                    <a:ext cx="90" cy="9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271376" name="Line 1040"/>
                <p:cNvSpPr>
                  <a:spLocks noChangeShapeType="1"/>
                </p:cNvSpPr>
                <p:nvPr/>
              </p:nvSpPr>
              <p:spPr bwMode="auto">
                <a:xfrm>
                  <a:off x="3360" y="2736"/>
                  <a:ext cx="96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aphicFrame>
            <p:nvGraphicFramePr>
              <p:cNvPr id="271377" name="Object 104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9865588"/>
                  </p:ext>
                </p:extLst>
              </p:nvPr>
            </p:nvGraphicFramePr>
            <p:xfrm>
              <a:off x="3360" y="2391"/>
              <a:ext cx="228" cy="3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152280" imgH="215640" progId="Equation.3">
                      <p:embed/>
                    </p:oleObj>
                  </mc:Choice>
                  <mc:Fallback>
                    <p:oleObj name="公式" r:id="rId4" imgW="152280" imgH="215640" progId="Equation.3">
                      <p:embed/>
                      <p:pic>
                        <p:nvPicPr>
                          <p:cNvPr id="271377" name="Object 10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0" y="2391"/>
                            <a:ext cx="228" cy="32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1378" name="Group 1042"/>
            <p:cNvGrpSpPr>
              <a:grpSpLocks/>
            </p:cNvGrpSpPr>
            <p:nvPr/>
          </p:nvGrpSpPr>
          <p:grpSpPr bwMode="auto">
            <a:xfrm>
              <a:off x="4320" y="1893"/>
              <a:ext cx="240" cy="1008"/>
              <a:chOff x="4320" y="1728"/>
              <a:chExt cx="240" cy="1008"/>
            </a:xfrm>
          </p:grpSpPr>
          <p:sp>
            <p:nvSpPr>
              <p:cNvPr id="271379" name="Line 1043"/>
              <p:cNvSpPr>
                <a:spLocks noChangeShapeType="1"/>
              </p:cNvSpPr>
              <p:nvPr/>
            </p:nvSpPr>
            <p:spPr bwMode="auto">
              <a:xfrm flipV="1">
                <a:off x="4320" y="1728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380" name="Line 1044"/>
              <p:cNvSpPr>
                <a:spLocks noChangeShapeType="1"/>
              </p:cNvSpPr>
              <p:nvPr/>
            </p:nvSpPr>
            <p:spPr bwMode="auto">
              <a:xfrm>
                <a:off x="4320" y="17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1381" name="Group 1045"/>
            <p:cNvGrpSpPr>
              <a:grpSpLocks/>
            </p:cNvGrpSpPr>
            <p:nvPr/>
          </p:nvGrpSpPr>
          <p:grpSpPr bwMode="auto">
            <a:xfrm>
              <a:off x="2928" y="2085"/>
              <a:ext cx="1632" cy="288"/>
              <a:chOff x="2928" y="1920"/>
              <a:chExt cx="1632" cy="288"/>
            </a:xfrm>
          </p:grpSpPr>
          <p:sp>
            <p:nvSpPr>
              <p:cNvPr id="271382" name="Line 1046"/>
              <p:cNvSpPr>
                <a:spLocks noChangeShapeType="1"/>
              </p:cNvSpPr>
              <p:nvPr/>
            </p:nvSpPr>
            <p:spPr bwMode="auto">
              <a:xfrm>
                <a:off x="2928" y="192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71383" name="Group 1047"/>
              <p:cNvGrpSpPr>
                <a:grpSpLocks/>
              </p:cNvGrpSpPr>
              <p:nvPr/>
            </p:nvGrpSpPr>
            <p:grpSpPr bwMode="auto">
              <a:xfrm>
                <a:off x="2928" y="2208"/>
                <a:ext cx="1632" cy="0"/>
                <a:chOff x="2928" y="2208"/>
                <a:chExt cx="1632" cy="0"/>
              </a:xfrm>
            </p:grpSpPr>
            <p:sp>
              <p:nvSpPr>
                <p:cNvPr id="271384" name="Line 1048"/>
                <p:cNvSpPr>
                  <a:spLocks noChangeShapeType="1"/>
                </p:cNvSpPr>
                <p:nvPr/>
              </p:nvSpPr>
              <p:spPr bwMode="auto">
                <a:xfrm flipH="1">
                  <a:off x="3792" y="2208"/>
                  <a:ext cx="76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1385" name="Line 1049"/>
                <p:cNvSpPr>
                  <a:spLocks noChangeShapeType="1"/>
                </p:cNvSpPr>
                <p:nvPr/>
              </p:nvSpPr>
              <p:spPr bwMode="auto">
                <a:xfrm>
                  <a:off x="2928" y="2208"/>
                  <a:ext cx="86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271386" name="Group 1050"/>
            <p:cNvGrpSpPr>
              <a:grpSpLocks/>
            </p:cNvGrpSpPr>
            <p:nvPr/>
          </p:nvGrpSpPr>
          <p:grpSpPr bwMode="auto">
            <a:xfrm>
              <a:off x="3648" y="1701"/>
              <a:ext cx="923" cy="384"/>
              <a:chOff x="3648" y="1536"/>
              <a:chExt cx="923" cy="384"/>
            </a:xfrm>
          </p:grpSpPr>
          <p:sp>
            <p:nvSpPr>
              <p:cNvPr id="271387" name="Line 1051"/>
              <p:cNvSpPr>
                <a:spLocks noChangeShapeType="1"/>
              </p:cNvSpPr>
              <p:nvPr/>
            </p:nvSpPr>
            <p:spPr bwMode="auto">
              <a:xfrm flipH="1">
                <a:off x="3648" y="1536"/>
                <a:ext cx="9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388" name="Line 1052"/>
              <p:cNvSpPr>
                <a:spLocks noChangeShapeType="1"/>
              </p:cNvSpPr>
              <p:nvPr/>
            </p:nvSpPr>
            <p:spPr bwMode="auto">
              <a:xfrm>
                <a:off x="3648" y="153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1389" name="Group 1053"/>
            <p:cNvGrpSpPr>
              <a:grpSpLocks/>
            </p:cNvGrpSpPr>
            <p:nvPr/>
          </p:nvGrpSpPr>
          <p:grpSpPr bwMode="auto">
            <a:xfrm>
              <a:off x="2208" y="1749"/>
              <a:ext cx="816" cy="384"/>
              <a:chOff x="2208" y="1584"/>
              <a:chExt cx="816" cy="384"/>
            </a:xfrm>
          </p:grpSpPr>
          <p:sp>
            <p:nvSpPr>
              <p:cNvPr id="271390" name="Text Box 1054"/>
              <p:cNvSpPr txBox="1">
                <a:spLocks noChangeArrowheads="1"/>
              </p:cNvSpPr>
              <p:nvPr/>
            </p:nvSpPr>
            <p:spPr bwMode="auto">
              <a:xfrm>
                <a:off x="2208" y="1584"/>
                <a:ext cx="1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latin typeface="+mn-ea"/>
                    <a:ea typeface="+mn-ea"/>
                  </a:rPr>
                  <a:t>A</a:t>
                </a:r>
              </a:p>
            </p:txBody>
          </p:sp>
          <p:grpSp>
            <p:nvGrpSpPr>
              <p:cNvPr id="271391" name="Group 1055"/>
              <p:cNvGrpSpPr>
                <a:grpSpLocks/>
              </p:cNvGrpSpPr>
              <p:nvPr/>
            </p:nvGrpSpPr>
            <p:grpSpPr bwMode="auto">
              <a:xfrm>
                <a:off x="2208" y="1872"/>
                <a:ext cx="816" cy="96"/>
                <a:chOff x="2208" y="1872"/>
                <a:chExt cx="816" cy="96"/>
              </a:xfrm>
            </p:grpSpPr>
            <p:sp>
              <p:nvSpPr>
                <p:cNvPr id="271392" name="Line 1056"/>
                <p:cNvSpPr>
                  <a:spLocks noChangeShapeType="1"/>
                </p:cNvSpPr>
                <p:nvPr/>
              </p:nvSpPr>
              <p:spPr bwMode="auto">
                <a:xfrm flipH="1">
                  <a:off x="2208" y="1920"/>
                  <a:ext cx="81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1393" name="Oval 1057"/>
                <p:cNvSpPr>
                  <a:spLocks noChangeArrowheads="1"/>
                </p:cNvSpPr>
                <p:nvPr/>
              </p:nvSpPr>
              <p:spPr bwMode="auto">
                <a:xfrm>
                  <a:off x="2880" y="187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271394" name="Group 1058"/>
            <p:cNvGrpSpPr>
              <a:grpSpLocks/>
            </p:cNvGrpSpPr>
            <p:nvPr/>
          </p:nvGrpSpPr>
          <p:grpSpPr bwMode="auto">
            <a:xfrm>
              <a:off x="2160" y="2709"/>
              <a:ext cx="864" cy="240"/>
              <a:chOff x="2160" y="2544"/>
              <a:chExt cx="864" cy="240"/>
            </a:xfrm>
          </p:grpSpPr>
          <p:sp>
            <p:nvSpPr>
              <p:cNvPr id="271395" name="Line 1059"/>
              <p:cNvSpPr>
                <a:spLocks noChangeShapeType="1"/>
              </p:cNvSpPr>
              <p:nvPr/>
            </p:nvSpPr>
            <p:spPr bwMode="auto">
              <a:xfrm flipH="1">
                <a:off x="2160" y="2736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396" name="Text Box 1060"/>
              <p:cNvSpPr txBox="1">
                <a:spLocks noChangeArrowheads="1"/>
              </p:cNvSpPr>
              <p:nvPr/>
            </p:nvSpPr>
            <p:spPr bwMode="auto">
              <a:xfrm>
                <a:off x="2208" y="2544"/>
                <a:ext cx="14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latin typeface="+mn-ea"/>
                    <a:ea typeface="+mn-ea"/>
                  </a:rPr>
                  <a:t>B</a:t>
                </a:r>
              </a:p>
            </p:txBody>
          </p:sp>
          <p:sp>
            <p:nvSpPr>
              <p:cNvPr id="271397" name="Oval 1061"/>
              <p:cNvSpPr>
                <a:spLocks noChangeArrowheads="1"/>
              </p:cNvSpPr>
              <p:nvPr/>
            </p:nvSpPr>
            <p:spPr bwMode="auto">
              <a:xfrm>
                <a:off x="2880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1398" name="Group 1062"/>
            <p:cNvGrpSpPr>
              <a:grpSpLocks/>
            </p:cNvGrpSpPr>
            <p:nvPr/>
          </p:nvGrpSpPr>
          <p:grpSpPr bwMode="auto">
            <a:xfrm>
              <a:off x="4032" y="1653"/>
              <a:ext cx="528" cy="1392"/>
              <a:chOff x="4032" y="1488"/>
              <a:chExt cx="528" cy="1392"/>
            </a:xfrm>
          </p:grpSpPr>
          <p:sp>
            <p:nvSpPr>
              <p:cNvPr id="271399" name="Line 1063"/>
              <p:cNvSpPr>
                <a:spLocks noChangeShapeType="1"/>
              </p:cNvSpPr>
              <p:nvPr/>
            </p:nvSpPr>
            <p:spPr bwMode="auto">
              <a:xfrm flipH="1">
                <a:off x="4080" y="2880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00" name="Line 1064"/>
              <p:cNvSpPr>
                <a:spLocks noChangeShapeType="1"/>
              </p:cNvSpPr>
              <p:nvPr/>
            </p:nvSpPr>
            <p:spPr bwMode="auto">
              <a:xfrm flipH="1">
                <a:off x="4080" y="1536"/>
                <a:ext cx="0" cy="13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01" name="Oval 1065"/>
              <p:cNvSpPr>
                <a:spLocks noChangeArrowheads="1"/>
              </p:cNvSpPr>
              <p:nvPr/>
            </p:nvSpPr>
            <p:spPr bwMode="auto">
              <a:xfrm>
                <a:off x="4032" y="14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1402" name="Group 1066"/>
            <p:cNvGrpSpPr>
              <a:grpSpLocks/>
            </p:cNvGrpSpPr>
            <p:nvPr/>
          </p:nvGrpSpPr>
          <p:grpSpPr bwMode="auto">
            <a:xfrm>
              <a:off x="4272" y="2469"/>
              <a:ext cx="288" cy="96"/>
              <a:chOff x="4272" y="2304"/>
              <a:chExt cx="288" cy="96"/>
            </a:xfrm>
          </p:grpSpPr>
          <p:sp>
            <p:nvSpPr>
              <p:cNvPr id="271403" name="Line 1067"/>
              <p:cNvSpPr>
                <a:spLocks noChangeShapeType="1"/>
              </p:cNvSpPr>
              <p:nvPr/>
            </p:nvSpPr>
            <p:spPr bwMode="auto">
              <a:xfrm flipH="1">
                <a:off x="4320" y="2352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04" name="Oval 1068"/>
              <p:cNvSpPr>
                <a:spLocks noChangeArrowheads="1"/>
              </p:cNvSpPr>
              <p:nvPr/>
            </p:nvSpPr>
            <p:spPr bwMode="auto">
              <a:xfrm>
                <a:off x="4272" y="230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1405" name="Group 1069"/>
            <p:cNvGrpSpPr>
              <a:grpSpLocks/>
            </p:cNvGrpSpPr>
            <p:nvPr/>
          </p:nvGrpSpPr>
          <p:grpSpPr bwMode="auto">
            <a:xfrm>
              <a:off x="3744" y="2325"/>
              <a:ext cx="816" cy="1392"/>
              <a:chOff x="3744" y="2160"/>
              <a:chExt cx="816" cy="1392"/>
            </a:xfrm>
          </p:grpSpPr>
          <p:sp>
            <p:nvSpPr>
              <p:cNvPr id="271406" name="Line 1070"/>
              <p:cNvSpPr>
                <a:spLocks noChangeShapeType="1"/>
              </p:cNvSpPr>
              <p:nvPr/>
            </p:nvSpPr>
            <p:spPr bwMode="auto">
              <a:xfrm flipH="1">
                <a:off x="3792" y="3552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07" name="Line 1071"/>
              <p:cNvSpPr>
                <a:spLocks noChangeShapeType="1"/>
              </p:cNvSpPr>
              <p:nvPr/>
            </p:nvSpPr>
            <p:spPr bwMode="auto">
              <a:xfrm flipV="1">
                <a:off x="3792" y="2208"/>
                <a:ext cx="0" cy="13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08" name="Oval 1072"/>
              <p:cNvSpPr>
                <a:spLocks noChangeArrowheads="1"/>
              </p:cNvSpPr>
              <p:nvPr/>
            </p:nvSpPr>
            <p:spPr bwMode="auto">
              <a:xfrm>
                <a:off x="3744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1409" name="Group 1073"/>
            <p:cNvGrpSpPr>
              <a:grpSpLocks/>
            </p:cNvGrpSpPr>
            <p:nvPr/>
          </p:nvGrpSpPr>
          <p:grpSpPr bwMode="auto">
            <a:xfrm>
              <a:off x="2928" y="2901"/>
              <a:ext cx="1632" cy="288"/>
              <a:chOff x="2928" y="2736"/>
              <a:chExt cx="1632" cy="288"/>
            </a:xfrm>
          </p:grpSpPr>
          <p:sp>
            <p:nvSpPr>
              <p:cNvPr id="271410" name="Line 1074"/>
              <p:cNvSpPr>
                <a:spLocks noChangeShapeType="1"/>
              </p:cNvSpPr>
              <p:nvPr/>
            </p:nvSpPr>
            <p:spPr bwMode="auto">
              <a:xfrm flipH="1" flipV="1">
                <a:off x="4128" y="3024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11" name="Line 1075"/>
              <p:cNvSpPr>
                <a:spLocks noChangeShapeType="1"/>
              </p:cNvSpPr>
              <p:nvPr/>
            </p:nvSpPr>
            <p:spPr bwMode="auto">
              <a:xfrm>
                <a:off x="2928" y="273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12" name="Line 1076"/>
              <p:cNvSpPr>
                <a:spLocks noChangeShapeType="1"/>
              </p:cNvSpPr>
              <p:nvPr/>
            </p:nvSpPr>
            <p:spPr bwMode="auto">
              <a:xfrm>
                <a:off x="2928" y="3024"/>
                <a:ext cx="1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1413" name="Group 1077"/>
            <p:cNvGrpSpPr>
              <a:grpSpLocks/>
            </p:cNvGrpSpPr>
            <p:nvPr/>
          </p:nvGrpSpPr>
          <p:grpSpPr bwMode="auto">
            <a:xfrm>
              <a:off x="3504" y="3141"/>
              <a:ext cx="1056" cy="768"/>
              <a:chOff x="3504" y="2976"/>
              <a:chExt cx="1056" cy="768"/>
            </a:xfrm>
          </p:grpSpPr>
          <p:sp>
            <p:nvSpPr>
              <p:cNvPr id="271414" name="Line 1078"/>
              <p:cNvSpPr>
                <a:spLocks noChangeShapeType="1"/>
              </p:cNvSpPr>
              <p:nvPr/>
            </p:nvSpPr>
            <p:spPr bwMode="auto">
              <a:xfrm flipH="1">
                <a:off x="3552" y="3744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15" name="Line 1079"/>
              <p:cNvSpPr>
                <a:spLocks noChangeShapeType="1"/>
              </p:cNvSpPr>
              <p:nvPr/>
            </p:nvSpPr>
            <p:spPr bwMode="auto">
              <a:xfrm flipV="1">
                <a:off x="3552" y="3024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16" name="Oval 1080"/>
              <p:cNvSpPr>
                <a:spLocks noChangeArrowheads="1"/>
              </p:cNvSpPr>
              <p:nvPr/>
            </p:nvSpPr>
            <p:spPr bwMode="auto">
              <a:xfrm>
                <a:off x="3504" y="297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1417" name="Group 1081"/>
            <p:cNvGrpSpPr>
              <a:grpSpLocks/>
            </p:cNvGrpSpPr>
            <p:nvPr/>
          </p:nvGrpSpPr>
          <p:grpSpPr bwMode="auto">
            <a:xfrm>
              <a:off x="4560" y="1605"/>
              <a:ext cx="334" cy="2379"/>
              <a:chOff x="4560" y="1440"/>
              <a:chExt cx="334" cy="2379"/>
            </a:xfrm>
          </p:grpSpPr>
          <p:grpSp>
            <p:nvGrpSpPr>
              <p:cNvPr id="271418" name="Group 1082"/>
              <p:cNvGrpSpPr>
                <a:grpSpLocks/>
              </p:cNvGrpSpPr>
              <p:nvPr/>
            </p:nvGrpSpPr>
            <p:grpSpPr bwMode="auto">
              <a:xfrm>
                <a:off x="4577" y="1440"/>
                <a:ext cx="317" cy="363"/>
                <a:chOff x="1020" y="1706"/>
                <a:chExt cx="317" cy="363"/>
              </a:xfrm>
            </p:grpSpPr>
            <p:sp>
              <p:nvSpPr>
                <p:cNvPr id="271419" name="Rectangle 1083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1420" name="Oval 1084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71421" name="Group 1085"/>
              <p:cNvGrpSpPr>
                <a:grpSpLocks/>
              </p:cNvGrpSpPr>
              <p:nvPr/>
            </p:nvGrpSpPr>
            <p:grpSpPr bwMode="auto">
              <a:xfrm>
                <a:off x="4560" y="2112"/>
                <a:ext cx="317" cy="363"/>
                <a:chOff x="1020" y="1706"/>
                <a:chExt cx="317" cy="363"/>
              </a:xfrm>
            </p:grpSpPr>
            <p:sp>
              <p:nvSpPr>
                <p:cNvPr id="271422" name="Rectangle 1086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1423" name="Oval 1087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71424" name="Group 1088"/>
              <p:cNvGrpSpPr>
                <a:grpSpLocks/>
              </p:cNvGrpSpPr>
              <p:nvPr/>
            </p:nvGrpSpPr>
            <p:grpSpPr bwMode="auto">
              <a:xfrm>
                <a:off x="4560" y="2784"/>
                <a:ext cx="317" cy="363"/>
                <a:chOff x="1020" y="1706"/>
                <a:chExt cx="317" cy="363"/>
              </a:xfrm>
            </p:grpSpPr>
            <p:sp>
              <p:nvSpPr>
                <p:cNvPr id="271425" name="Rectangle 1089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1426" name="Oval 1090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71427" name="Group 1091"/>
              <p:cNvGrpSpPr>
                <a:grpSpLocks/>
              </p:cNvGrpSpPr>
              <p:nvPr/>
            </p:nvGrpSpPr>
            <p:grpSpPr bwMode="auto">
              <a:xfrm>
                <a:off x="4560" y="3456"/>
                <a:ext cx="317" cy="363"/>
                <a:chOff x="1020" y="1706"/>
                <a:chExt cx="317" cy="363"/>
              </a:xfrm>
            </p:grpSpPr>
            <p:sp>
              <p:nvSpPr>
                <p:cNvPr id="271428" name="Rectangle 1092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1429" name="Oval 1093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271430" name="Group 1094"/>
            <p:cNvGrpSpPr>
              <a:grpSpLocks/>
            </p:cNvGrpSpPr>
            <p:nvPr/>
          </p:nvGrpSpPr>
          <p:grpSpPr bwMode="auto">
            <a:xfrm>
              <a:off x="4879" y="1557"/>
              <a:ext cx="737" cy="2256"/>
              <a:chOff x="4879" y="1392"/>
              <a:chExt cx="737" cy="2256"/>
            </a:xfrm>
          </p:grpSpPr>
          <p:sp>
            <p:nvSpPr>
              <p:cNvPr id="271431" name="Line 1095"/>
              <p:cNvSpPr>
                <a:spLocks noChangeShapeType="1"/>
              </p:cNvSpPr>
              <p:nvPr/>
            </p:nvSpPr>
            <p:spPr bwMode="auto">
              <a:xfrm>
                <a:off x="4896" y="1632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32" name="Line 1096"/>
              <p:cNvSpPr>
                <a:spLocks noChangeShapeType="1"/>
              </p:cNvSpPr>
              <p:nvPr/>
            </p:nvSpPr>
            <p:spPr bwMode="auto">
              <a:xfrm>
                <a:off x="4896" y="230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33" name="Line 1097"/>
              <p:cNvSpPr>
                <a:spLocks noChangeShapeType="1"/>
              </p:cNvSpPr>
              <p:nvPr/>
            </p:nvSpPr>
            <p:spPr bwMode="auto">
              <a:xfrm>
                <a:off x="4879" y="297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34" name="Line 1098"/>
              <p:cNvSpPr>
                <a:spLocks noChangeShapeType="1"/>
              </p:cNvSpPr>
              <p:nvPr/>
            </p:nvSpPr>
            <p:spPr bwMode="auto">
              <a:xfrm>
                <a:off x="4879" y="3648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35" name="Text Box 1099"/>
              <p:cNvSpPr txBox="1">
                <a:spLocks noChangeArrowheads="1"/>
              </p:cNvSpPr>
              <p:nvPr/>
            </p:nvSpPr>
            <p:spPr bwMode="auto">
              <a:xfrm>
                <a:off x="5280" y="139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latin typeface="+mn-ea"/>
                    <a:ea typeface="+mn-ea"/>
                  </a:rPr>
                  <a:t>Y</a:t>
                </a:r>
                <a:r>
                  <a:rPr lang="en-US" altLang="zh-CN" sz="1600" i="1" dirty="0">
                    <a:latin typeface="+mn-ea"/>
                    <a:ea typeface="+mn-ea"/>
                  </a:rPr>
                  <a:t>0</a:t>
                </a:r>
              </a:p>
            </p:txBody>
          </p:sp>
          <p:sp>
            <p:nvSpPr>
              <p:cNvPr id="271436" name="Text Box 1100"/>
              <p:cNvSpPr txBox="1">
                <a:spLocks noChangeArrowheads="1"/>
              </p:cNvSpPr>
              <p:nvPr/>
            </p:nvSpPr>
            <p:spPr bwMode="auto">
              <a:xfrm>
                <a:off x="5328" y="2064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latin typeface="+mn-ea"/>
                    <a:ea typeface="+mn-ea"/>
                  </a:rPr>
                  <a:t>Y</a:t>
                </a:r>
                <a:r>
                  <a:rPr lang="en-US" altLang="zh-CN" sz="1600" i="1" dirty="0">
                    <a:latin typeface="+mn-ea"/>
                    <a:ea typeface="+mn-ea"/>
                  </a:rPr>
                  <a:t>1</a:t>
                </a:r>
              </a:p>
            </p:txBody>
          </p:sp>
          <p:sp>
            <p:nvSpPr>
              <p:cNvPr id="271437" name="Text Box 1101"/>
              <p:cNvSpPr txBox="1">
                <a:spLocks noChangeArrowheads="1"/>
              </p:cNvSpPr>
              <p:nvPr/>
            </p:nvSpPr>
            <p:spPr bwMode="auto">
              <a:xfrm>
                <a:off x="5328" y="268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latin typeface="+mn-ea"/>
                    <a:ea typeface="+mn-ea"/>
                  </a:rPr>
                  <a:t>Y</a:t>
                </a:r>
                <a:r>
                  <a:rPr lang="en-US" altLang="zh-CN" sz="1600" i="1" dirty="0">
                    <a:latin typeface="+mn-ea"/>
                    <a:ea typeface="+mn-ea"/>
                  </a:rPr>
                  <a:t>2</a:t>
                </a:r>
              </a:p>
            </p:txBody>
          </p:sp>
          <p:sp>
            <p:nvSpPr>
              <p:cNvPr id="271438" name="Text Box 1102"/>
              <p:cNvSpPr txBox="1">
                <a:spLocks noChangeArrowheads="1"/>
              </p:cNvSpPr>
              <p:nvPr/>
            </p:nvSpPr>
            <p:spPr bwMode="auto">
              <a:xfrm>
                <a:off x="5280" y="336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latin typeface="+mn-ea"/>
                    <a:ea typeface="+mn-ea"/>
                  </a:rPr>
                  <a:t>Y</a:t>
                </a:r>
                <a:r>
                  <a:rPr lang="en-US" altLang="zh-CN" sz="1600" i="1" dirty="0">
                    <a:latin typeface="+mn-ea"/>
                    <a:ea typeface="+mn-ea"/>
                  </a:rPr>
                  <a:t>3</a:t>
                </a:r>
              </a:p>
            </p:txBody>
          </p:sp>
        </p:grpSp>
      </p:grpSp>
      <p:sp>
        <p:nvSpPr>
          <p:cNvPr id="271439" name="Text Box 1103"/>
          <p:cNvSpPr txBox="1">
            <a:spLocks noChangeArrowheads="1"/>
          </p:cNvSpPr>
          <p:nvPr/>
        </p:nvSpPr>
        <p:spPr bwMode="auto">
          <a:xfrm>
            <a:off x="533400" y="3389238"/>
            <a:ext cx="2362200" cy="83185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問題：一個輸入有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3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個負載！</a:t>
            </a:r>
          </a:p>
        </p:txBody>
      </p:sp>
      <p:grpSp>
        <p:nvGrpSpPr>
          <p:cNvPr id="271440" name="Group 1104"/>
          <p:cNvGrpSpPr>
            <a:grpSpLocks/>
          </p:cNvGrpSpPr>
          <p:nvPr/>
        </p:nvGrpSpPr>
        <p:grpSpPr bwMode="auto">
          <a:xfrm>
            <a:off x="2895600" y="3352800"/>
            <a:ext cx="1600200" cy="1219200"/>
            <a:chOff x="1680" y="2352"/>
            <a:chExt cx="1824" cy="768"/>
          </a:xfrm>
        </p:grpSpPr>
        <p:sp>
          <p:nvSpPr>
            <p:cNvPr id="271441" name="Line 1105"/>
            <p:cNvSpPr>
              <a:spLocks noChangeShapeType="1"/>
            </p:cNvSpPr>
            <p:nvPr/>
          </p:nvSpPr>
          <p:spPr bwMode="auto">
            <a:xfrm flipV="1">
              <a:off x="1680" y="2352"/>
              <a:ext cx="1776" cy="301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  <a:headEnd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1442" name="Line 1106"/>
            <p:cNvSpPr>
              <a:spLocks noChangeShapeType="1"/>
            </p:cNvSpPr>
            <p:nvPr/>
          </p:nvSpPr>
          <p:spPr bwMode="auto">
            <a:xfrm>
              <a:off x="1680" y="2661"/>
              <a:ext cx="1824" cy="459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  <a:headEnd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509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7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1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439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6</a:t>
            </a:r>
            <a:r>
              <a:rPr lang="zh-CN" altLang="en-US" sz="3600" dirty="0"/>
              <a:t>）</a:t>
            </a:r>
          </a:p>
        </p:txBody>
      </p:sp>
      <p:sp>
        <p:nvSpPr>
          <p:cNvPr id="9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44EC7-4DEF-4BEF-9154-C41440F7745A}" type="slidenum">
              <a:rPr lang="en-US" altLang="zh-CN">
                <a:latin typeface="+mn-ea"/>
                <a:ea typeface="+mn-ea"/>
              </a:rPr>
              <a:pPr/>
              <a:t>10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72387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685800" y="1447800"/>
            <a:ext cx="7924800" cy="1905000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b="1" dirty="0">
                <a:latin typeface="+mn-ea"/>
              </a:rPr>
              <a:t>2-4</a:t>
            </a:r>
            <a:r>
              <a:rPr lang="zh-CN" altLang="en-US" b="1" dirty="0">
                <a:latin typeface="+mn-ea"/>
              </a:rPr>
              <a:t>解碼器</a:t>
            </a:r>
          </a:p>
          <a:p>
            <a:pPr lvl="1"/>
            <a:r>
              <a:rPr lang="zh-CN" altLang="en-US" dirty="0">
                <a:latin typeface="+mn-ea"/>
              </a:rPr>
              <a:t>（步驟四）檢查可能出現的問題，並修正設計</a:t>
            </a:r>
          </a:p>
          <a:p>
            <a:pPr lvl="1"/>
            <a:r>
              <a:rPr lang="zh-CN" altLang="en-US" dirty="0">
                <a:latin typeface="+mn-ea"/>
              </a:rPr>
              <a:t>積體電路的設計原則：一個輸入只能按照一個輸入負載計算。</a:t>
            </a:r>
          </a:p>
          <a:p>
            <a:pPr lvl="1"/>
            <a:endParaRPr lang="en-US" altLang="zh-CN" dirty="0">
              <a:latin typeface="+mn-ea"/>
            </a:endParaRPr>
          </a:p>
        </p:txBody>
      </p:sp>
      <p:sp>
        <p:nvSpPr>
          <p:cNvPr id="272388" name="Rectangle 1028"/>
          <p:cNvSpPr>
            <a:spLocks noChangeArrowheads="1"/>
          </p:cNvSpPr>
          <p:nvPr/>
        </p:nvSpPr>
        <p:spPr bwMode="auto">
          <a:xfrm>
            <a:off x="5295900" y="2971800"/>
            <a:ext cx="3076575" cy="3657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72389" name="Group 1029"/>
          <p:cNvGrpSpPr>
            <a:grpSpLocks/>
          </p:cNvGrpSpPr>
          <p:nvPr/>
        </p:nvGrpSpPr>
        <p:grpSpPr bwMode="auto">
          <a:xfrm>
            <a:off x="7989888" y="3001963"/>
            <a:ext cx="925512" cy="3341687"/>
            <a:chOff x="4879" y="1392"/>
            <a:chExt cx="737" cy="2280"/>
          </a:xfrm>
        </p:grpSpPr>
        <p:sp>
          <p:nvSpPr>
            <p:cNvPr id="272390" name="Line 1030"/>
            <p:cNvSpPr>
              <a:spLocks noChangeShapeType="1"/>
            </p:cNvSpPr>
            <p:nvPr/>
          </p:nvSpPr>
          <p:spPr bwMode="auto">
            <a:xfrm>
              <a:off x="4896" y="163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2391" name="Line 1031"/>
            <p:cNvSpPr>
              <a:spLocks noChangeShapeType="1"/>
            </p:cNvSpPr>
            <p:nvPr/>
          </p:nvSpPr>
          <p:spPr bwMode="auto">
            <a:xfrm>
              <a:off x="4896" y="230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2392" name="Line 1032"/>
            <p:cNvSpPr>
              <a:spLocks noChangeShapeType="1"/>
            </p:cNvSpPr>
            <p:nvPr/>
          </p:nvSpPr>
          <p:spPr bwMode="auto">
            <a:xfrm>
              <a:off x="4879" y="297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2393" name="Line 1033"/>
            <p:cNvSpPr>
              <a:spLocks noChangeShapeType="1"/>
            </p:cNvSpPr>
            <p:nvPr/>
          </p:nvSpPr>
          <p:spPr bwMode="auto">
            <a:xfrm>
              <a:off x="4879" y="364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2394" name="Text Box 1034"/>
            <p:cNvSpPr txBox="1">
              <a:spLocks noChangeArrowheads="1"/>
            </p:cNvSpPr>
            <p:nvPr/>
          </p:nvSpPr>
          <p:spPr bwMode="auto">
            <a:xfrm>
              <a:off x="5280" y="1392"/>
              <a:ext cx="288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272395" name="Text Box 1035"/>
            <p:cNvSpPr txBox="1">
              <a:spLocks noChangeArrowheads="1"/>
            </p:cNvSpPr>
            <p:nvPr/>
          </p:nvSpPr>
          <p:spPr bwMode="auto">
            <a:xfrm>
              <a:off x="5328" y="2063"/>
              <a:ext cx="288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272396" name="Text Box 1036"/>
            <p:cNvSpPr txBox="1">
              <a:spLocks noChangeArrowheads="1"/>
            </p:cNvSpPr>
            <p:nvPr/>
          </p:nvSpPr>
          <p:spPr bwMode="auto">
            <a:xfrm>
              <a:off x="5328" y="2688"/>
              <a:ext cx="288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272397" name="Text Box 1037"/>
            <p:cNvSpPr txBox="1">
              <a:spLocks noChangeArrowheads="1"/>
            </p:cNvSpPr>
            <p:nvPr/>
          </p:nvSpPr>
          <p:spPr bwMode="auto">
            <a:xfrm>
              <a:off x="5280" y="3360"/>
              <a:ext cx="288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3</a:t>
              </a:r>
            </a:p>
          </p:txBody>
        </p:sp>
      </p:grpSp>
      <p:sp>
        <p:nvSpPr>
          <p:cNvPr id="272398" name="Text Box 1038"/>
          <p:cNvSpPr txBox="1">
            <a:spLocks noChangeArrowheads="1"/>
          </p:cNvSpPr>
          <p:nvPr/>
        </p:nvSpPr>
        <p:spPr bwMode="auto">
          <a:xfrm>
            <a:off x="304800" y="4654550"/>
            <a:ext cx="2362200" cy="83185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解決辦法：增加一級輸入緩衝</a:t>
            </a:r>
          </a:p>
        </p:txBody>
      </p:sp>
      <p:sp>
        <p:nvSpPr>
          <p:cNvPr id="272399" name="Rectangle 1039"/>
          <p:cNvSpPr>
            <a:spLocks noChangeArrowheads="1"/>
          </p:cNvSpPr>
          <p:nvPr/>
        </p:nvSpPr>
        <p:spPr bwMode="auto">
          <a:xfrm>
            <a:off x="4010025" y="2895600"/>
            <a:ext cx="4371975" cy="381000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00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72400" name="Group 1040"/>
          <p:cNvGrpSpPr>
            <a:grpSpLocks/>
          </p:cNvGrpSpPr>
          <p:nvPr/>
        </p:nvGrpSpPr>
        <p:grpSpPr bwMode="auto">
          <a:xfrm>
            <a:off x="3581400" y="3073400"/>
            <a:ext cx="4425950" cy="3486150"/>
            <a:chOff x="2256" y="1936"/>
            <a:chExt cx="2788" cy="2196"/>
          </a:xfrm>
        </p:grpSpPr>
        <p:grpSp>
          <p:nvGrpSpPr>
            <p:cNvPr id="272401" name="Group 1041"/>
            <p:cNvGrpSpPr>
              <a:grpSpLocks/>
            </p:cNvGrpSpPr>
            <p:nvPr/>
          </p:nvGrpSpPr>
          <p:grpSpPr bwMode="auto">
            <a:xfrm>
              <a:off x="2256" y="2055"/>
              <a:ext cx="900" cy="1284"/>
              <a:chOff x="2256" y="2055"/>
              <a:chExt cx="900" cy="1284"/>
            </a:xfrm>
          </p:grpSpPr>
          <p:grpSp>
            <p:nvGrpSpPr>
              <p:cNvPr id="272402" name="Group 1042"/>
              <p:cNvGrpSpPr>
                <a:grpSpLocks/>
              </p:cNvGrpSpPr>
              <p:nvPr/>
            </p:nvGrpSpPr>
            <p:grpSpPr bwMode="auto">
              <a:xfrm>
                <a:off x="2592" y="2055"/>
                <a:ext cx="545" cy="516"/>
                <a:chOff x="2448" y="1815"/>
                <a:chExt cx="545" cy="516"/>
              </a:xfrm>
            </p:grpSpPr>
            <p:grpSp>
              <p:nvGrpSpPr>
                <p:cNvPr id="272403" name="Group 1043"/>
                <p:cNvGrpSpPr>
                  <a:grpSpLocks/>
                </p:cNvGrpSpPr>
                <p:nvPr/>
              </p:nvGrpSpPr>
              <p:grpSpPr bwMode="auto">
                <a:xfrm>
                  <a:off x="2448" y="1968"/>
                  <a:ext cx="317" cy="363"/>
                  <a:chOff x="1020" y="1706"/>
                  <a:chExt cx="317" cy="363"/>
                </a:xfrm>
              </p:grpSpPr>
              <p:sp>
                <p:nvSpPr>
                  <p:cNvPr id="272404" name="Rectangle 1044"/>
                  <p:cNvSpPr>
                    <a:spLocks noChangeArrowheads="1"/>
                  </p:cNvSpPr>
                  <p:nvPr/>
                </p:nvSpPr>
                <p:spPr bwMode="auto">
                  <a:xfrm>
                    <a:off x="1020" y="1706"/>
                    <a:ext cx="227" cy="363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272405" name="Oval 1045"/>
                  <p:cNvSpPr>
                    <a:spLocks noChangeArrowheads="1"/>
                  </p:cNvSpPr>
                  <p:nvPr/>
                </p:nvSpPr>
                <p:spPr bwMode="auto">
                  <a:xfrm>
                    <a:off x="1247" y="1842"/>
                    <a:ext cx="90" cy="9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aphicFrame>
              <p:nvGraphicFramePr>
                <p:cNvPr id="272406" name="Object 1046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39253570"/>
                    </p:ext>
                  </p:extLst>
                </p:nvPr>
              </p:nvGraphicFramePr>
              <p:xfrm>
                <a:off x="2803" y="1815"/>
                <a:ext cx="190" cy="32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2" imgW="126720" imgH="215640" progId="Equation.3">
                        <p:embed/>
                      </p:oleObj>
                    </mc:Choice>
                    <mc:Fallback>
                      <p:oleObj name="公式" r:id="rId2" imgW="126720" imgH="215640" progId="Equation.3">
                        <p:embed/>
                        <p:pic>
                          <p:nvPicPr>
                            <p:cNvPr id="272406" name="Object 104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03" y="1815"/>
                              <a:ext cx="190" cy="32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72407" name="Group 1047"/>
              <p:cNvGrpSpPr>
                <a:grpSpLocks/>
              </p:cNvGrpSpPr>
              <p:nvPr/>
            </p:nvGrpSpPr>
            <p:grpSpPr bwMode="auto">
              <a:xfrm>
                <a:off x="2592" y="2823"/>
                <a:ext cx="564" cy="516"/>
                <a:chOff x="1968" y="3180"/>
                <a:chExt cx="564" cy="516"/>
              </a:xfrm>
            </p:grpSpPr>
            <p:grpSp>
              <p:nvGrpSpPr>
                <p:cNvPr id="272408" name="Group 1048"/>
                <p:cNvGrpSpPr>
                  <a:grpSpLocks/>
                </p:cNvGrpSpPr>
                <p:nvPr/>
              </p:nvGrpSpPr>
              <p:grpSpPr bwMode="auto">
                <a:xfrm>
                  <a:off x="1968" y="3333"/>
                  <a:ext cx="317" cy="363"/>
                  <a:chOff x="1020" y="1706"/>
                  <a:chExt cx="317" cy="363"/>
                </a:xfrm>
              </p:grpSpPr>
              <p:sp>
                <p:nvSpPr>
                  <p:cNvPr id="272409" name="Rectangle 1049"/>
                  <p:cNvSpPr>
                    <a:spLocks noChangeArrowheads="1"/>
                  </p:cNvSpPr>
                  <p:nvPr/>
                </p:nvSpPr>
                <p:spPr bwMode="auto">
                  <a:xfrm>
                    <a:off x="1020" y="1706"/>
                    <a:ext cx="227" cy="363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272410" name="Oval 1050"/>
                  <p:cNvSpPr>
                    <a:spLocks noChangeArrowheads="1"/>
                  </p:cNvSpPr>
                  <p:nvPr/>
                </p:nvSpPr>
                <p:spPr bwMode="auto">
                  <a:xfrm>
                    <a:off x="1247" y="1842"/>
                    <a:ext cx="90" cy="9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aphicFrame>
              <p:nvGraphicFramePr>
                <p:cNvPr id="272411" name="Object 1051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574874201"/>
                    </p:ext>
                  </p:extLst>
                </p:nvPr>
              </p:nvGraphicFramePr>
              <p:xfrm>
                <a:off x="2304" y="3180"/>
                <a:ext cx="228" cy="32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4" imgW="152280" imgH="215640" progId="Equation.3">
                        <p:embed/>
                      </p:oleObj>
                    </mc:Choice>
                    <mc:Fallback>
                      <p:oleObj name="公式" r:id="rId4" imgW="152280" imgH="215640" progId="Equation.3">
                        <p:embed/>
                        <p:pic>
                          <p:nvPicPr>
                            <p:cNvPr id="272411" name="Object 105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04" y="3180"/>
                              <a:ext cx="228" cy="32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72412" name="Group 1052"/>
              <p:cNvGrpSpPr>
                <a:grpSpLocks/>
              </p:cNvGrpSpPr>
              <p:nvPr/>
            </p:nvGrpSpPr>
            <p:grpSpPr bwMode="auto">
              <a:xfrm>
                <a:off x="2304" y="2064"/>
                <a:ext cx="288" cy="336"/>
                <a:chOff x="2256" y="3024"/>
                <a:chExt cx="288" cy="336"/>
              </a:xfrm>
            </p:grpSpPr>
            <p:sp>
              <p:nvSpPr>
                <p:cNvPr id="272413" name="Text Box 1053"/>
                <p:cNvSpPr txBox="1">
                  <a:spLocks noChangeArrowheads="1"/>
                </p:cNvSpPr>
                <p:nvPr/>
              </p:nvSpPr>
              <p:spPr bwMode="auto">
                <a:xfrm>
                  <a:off x="2256" y="3024"/>
                  <a:ext cx="14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i="1" dirty="0">
                      <a:latin typeface="+mn-ea"/>
                      <a:ea typeface="+mn-ea"/>
                    </a:rPr>
                    <a:t>A</a:t>
                  </a:r>
                </a:p>
              </p:txBody>
            </p:sp>
            <p:sp>
              <p:nvSpPr>
                <p:cNvPr id="272414" name="Line 1054"/>
                <p:cNvSpPr>
                  <a:spLocks noChangeShapeType="1"/>
                </p:cNvSpPr>
                <p:nvPr/>
              </p:nvSpPr>
              <p:spPr bwMode="auto">
                <a:xfrm flipH="1">
                  <a:off x="2256" y="3360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72415" name="Group 1055"/>
              <p:cNvGrpSpPr>
                <a:grpSpLocks/>
              </p:cNvGrpSpPr>
              <p:nvPr/>
            </p:nvGrpSpPr>
            <p:grpSpPr bwMode="auto">
              <a:xfrm>
                <a:off x="2256" y="2938"/>
                <a:ext cx="336" cy="233"/>
                <a:chOff x="2208" y="3984"/>
                <a:chExt cx="336" cy="233"/>
              </a:xfrm>
            </p:grpSpPr>
            <p:sp>
              <p:nvSpPr>
                <p:cNvPr id="272416" name="Line 1056"/>
                <p:cNvSpPr>
                  <a:spLocks noChangeShapeType="1"/>
                </p:cNvSpPr>
                <p:nvPr/>
              </p:nvSpPr>
              <p:spPr bwMode="auto">
                <a:xfrm flipH="1">
                  <a:off x="2208" y="4176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2417" name="Text Box 1057"/>
                <p:cNvSpPr txBox="1">
                  <a:spLocks noChangeArrowheads="1"/>
                </p:cNvSpPr>
                <p:nvPr/>
              </p:nvSpPr>
              <p:spPr bwMode="auto">
                <a:xfrm>
                  <a:off x="2256" y="3984"/>
                  <a:ext cx="144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i="1" dirty="0">
                      <a:latin typeface="+mn-ea"/>
                      <a:ea typeface="+mn-ea"/>
                    </a:rPr>
                    <a:t>B</a:t>
                  </a:r>
                </a:p>
              </p:txBody>
            </p:sp>
          </p:grpSp>
        </p:grpSp>
        <p:grpSp>
          <p:nvGrpSpPr>
            <p:cNvPr id="272418" name="Group 1058"/>
            <p:cNvGrpSpPr>
              <a:grpSpLocks/>
            </p:cNvGrpSpPr>
            <p:nvPr/>
          </p:nvGrpSpPr>
          <p:grpSpPr bwMode="auto">
            <a:xfrm>
              <a:off x="2880" y="1936"/>
              <a:ext cx="2164" cy="2196"/>
              <a:chOff x="2880" y="1936"/>
              <a:chExt cx="2164" cy="2196"/>
            </a:xfrm>
          </p:grpSpPr>
          <p:sp>
            <p:nvSpPr>
              <p:cNvPr id="272419" name="Text Box 1059"/>
              <p:cNvSpPr txBox="1">
                <a:spLocks noChangeArrowheads="1"/>
              </p:cNvSpPr>
              <p:nvPr/>
            </p:nvSpPr>
            <p:spPr bwMode="auto">
              <a:xfrm>
                <a:off x="3840" y="211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latin typeface="+mn-ea"/>
                    <a:ea typeface="+mn-ea"/>
                  </a:rPr>
                  <a:t>A’</a:t>
                </a:r>
              </a:p>
            </p:txBody>
          </p:sp>
          <p:grpSp>
            <p:nvGrpSpPr>
              <p:cNvPr id="272420" name="Group 1060"/>
              <p:cNvGrpSpPr>
                <a:grpSpLocks/>
              </p:cNvGrpSpPr>
              <p:nvPr/>
            </p:nvGrpSpPr>
            <p:grpSpPr bwMode="auto">
              <a:xfrm>
                <a:off x="3589" y="2202"/>
                <a:ext cx="251" cy="335"/>
                <a:chOff x="1020" y="1706"/>
                <a:chExt cx="317" cy="363"/>
              </a:xfrm>
            </p:grpSpPr>
            <p:sp>
              <p:nvSpPr>
                <p:cNvPr id="272421" name="Rectangle 1061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2422" name="Oval 1062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72423" name="Line 1063"/>
              <p:cNvSpPr>
                <a:spLocks noChangeShapeType="1"/>
              </p:cNvSpPr>
              <p:nvPr/>
            </p:nvSpPr>
            <p:spPr bwMode="auto">
              <a:xfrm>
                <a:off x="3830" y="2352"/>
                <a:ext cx="2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72424" name="Group 1064"/>
              <p:cNvGrpSpPr>
                <a:grpSpLocks/>
              </p:cNvGrpSpPr>
              <p:nvPr/>
            </p:nvGrpSpPr>
            <p:grpSpPr bwMode="auto">
              <a:xfrm>
                <a:off x="3564" y="2955"/>
                <a:ext cx="251" cy="335"/>
                <a:chOff x="1020" y="1706"/>
                <a:chExt cx="317" cy="363"/>
              </a:xfrm>
            </p:grpSpPr>
            <p:sp>
              <p:nvSpPr>
                <p:cNvPr id="272425" name="Rectangle 1065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2426" name="Oval 1066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72427" name="Line 1067"/>
              <p:cNvSpPr>
                <a:spLocks noChangeShapeType="1"/>
              </p:cNvSpPr>
              <p:nvPr/>
            </p:nvSpPr>
            <p:spPr bwMode="auto">
              <a:xfrm>
                <a:off x="3840" y="31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28" name="Line 1068"/>
              <p:cNvSpPr>
                <a:spLocks noChangeShapeType="1"/>
              </p:cNvSpPr>
              <p:nvPr/>
            </p:nvSpPr>
            <p:spPr bwMode="auto">
              <a:xfrm flipV="1">
                <a:off x="4608" y="2208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29" name="Line 1069"/>
              <p:cNvSpPr>
                <a:spLocks noChangeShapeType="1"/>
              </p:cNvSpPr>
              <p:nvPr/>
            </p:nvSpPr>
            <p:spPr bwMode="auto">
              <a:xfrm>
                <a:off x="4608" y="2202"/>
                <a:ext cx="1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72430" name="Group 1070"/>
              <p:cNvGrpSpPr>
                <a:grpSpLocks/>
              </p:cNvGrpSpPr>
              <p:nvPr/>
            </p:nvGrpSpPr>
            <p:grpSpPr bwMode="auto">
              <a:xfrm>
                <a:off x="4032" y="2352"/>
                <a:ext cx="764" cy="266"/>
                <a:chOff x="2928" y="1920"/>
                <a:chExt cx="1632" cy="288"/>
              </a:xfrm>
            </p:grpSpPr>
            <p:sp>
              <p:nvSpPr>
                <p:cNvPr id="272431" name="Line 1071"/>
                <p:cNvSpPr>
                  <a:spLocks noChangeShapeType="1"/>
                </p:cNvSpPr>
                <p:nvPr/>
              </p:nvSpPr>
              <p:spPr bwMode="auto">
                <a:xfrm>
                  <a:off x="2928" y="1920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grpSp>
              <p:nvGrpSpPr>
                <p:cNvPr id="272432" name="Group 1072"/>
                <p:cNvGrpSpPr>
                  <a:grpSpLocks/>
                </p:cNvGrpSpPr>
                <p:nvPr/>
              </p:nvGrpSpPr>
              <p:grpSpPr bwMode="auto">
                <a:xfrm>
                  <a:off x="2928" y="2208"/>
                  <a:ext cx="1632" cy="0"/>
                  <a:chOff x="2928" y="2208"/>
                  <a:chExt cx="1632" cy="0"/>
                </a:xfrm>
              </p:grpSpPr>
              <p:sp>
                <p:nvSpPr>
                  <p:cNvPr id="272433" name="Line 107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792" y="2208"/>
                    <a:ext cx="7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272434" name="Line 1074"/>
                  <p:cNvSpPr>
                    <a:spLocks noChangeShapeType="1"/>
                  </p:cNvSpPr>
                  <p:nvPr/>
                </p:nvSpPr>
                <p:spPr bwMode="auto">
                  <a:xfrm>
                    <a:off x="2928" y="2208"/>
                    <a:ext cx="86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272435" name="Group 1075"/>
              <p:cNvGrpSpPr>
                <a:grpSpLocks/>
              </p:cNvGrpSpPr>
              <p:nvPr/>
            </p:nvGrpSpPr>
            <p:grpSpPr bwMode="auto">
              <a:xfrm>
                <a:off x="3120" y="2024"/>
                <a:ext cx="1669" cy="355"/>
                <a:chOff x="3648" y="1536"/>
                <a:chExt cx="923" cy="384"/>
              </a:xfrm>
            </p:grpSpPr>
            <p:sp>
              <p:nvSpPr>
                <p:cNvPr id="272436" name="Line 1076"/>
                <p:cNvSpPr>
                  <a:spLocks noChangeShapeType="1"/>
                </p:cNvSpPr>
                <p:nvPr/>
              </p:nvSpPr>
              <p:spPr bwMode="auto">
                <a:xfrm flipH="1">
                  <a:off x="3648" y="1536"/>
                  <a:ext cx="92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2437" name="Line 1077"/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72438" name="Line 1078"/>
              <p:cNvSpPr>
                <a:spLocks noChangeShapeType="1"/>
              </p:cNvSpPr>
              <p:nvPr/>
            </p:nvSpPr>
            <p:spPr bwMode="auto">
              <a:xfrm flipH="1">
                <a:off x="2918" y="2379"/>
                <a:ext cx="64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39" name="Line 1079"/>
              <p:cNvSpPr>
                <a:spLocks noChangeShapeType="1"/>
              </p:cNvSpPr>
              <p:nvPr/>
            </p:nvSpPr>
            <p:spPr bwMode="auto">
              <a:xfrm flipH="1">
                <a:off x="2880" y="3132"/>
                <a:ext cx="6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40" name="Text Box 1080"/>
              <p:cNvSpPr txBox="1">
                <a:spLocks noChangeArrowheads="1"/>
              </p:cNvSpPr>
              <p:nvPr/>
            </p:nvSpPr>
            <p:spPr bwMode="auto">
              <a:xfrm>
                <a:off x="3840" y="2928"/>
                <a:ext cx="19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latin typeface="+mn-ea"/>
                    <a:ea typeface="+mn-ea"/>
                  </a:rPr>
                  <a:t>B’</a:t>
                </a:r>
              </a:p>
            </p:txBody>
          </p:sp>
          <p:sp>
            <p:nvSpPr>
              <p:cNvPr id="272441" name="Line 1081"/>
              <p:cNvSpPr>
                <a:spLocks noChangeShapeType="1"/>
              </p:cNvSpPr>
              <p:nvPr/>
            </p:nvSpPr>
            <p:spPr bwMode="auto">
              <a:xfrm flipH="1">
                <a:off x="4406" y="3253"/>
                <a:ext cx="3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42" name="Line 1082"/>
              <p:cNvSpPr>
                <a:spLocks noChangeShapeType="1"/>
              </p:cNvSpPr>
              <p:nvPr/>
            </p:nvSpPr>
            <p:spPr bwMode="auto">
              <a:xfrm flipH="1">
                <a:off x="4406" y="2012"/>
                <a:ext cx="0" cy="12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43" name="Oval 1083"/>
              <p:cNvSpPr>
                <a:spLocks noChangeArrowheads="1"/>
              </p:cNvSpPr>
              <p:nvPr/>
            </p:nvSpPr>
            <p:spPr bwMode="auto">
              <a:xfrm>
                <a:off x="4368" y="1968"/>
                <a:ext cx="76" cy="89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72444" name="Group 1084"/>
              <p:cNvGrpSpPr>
                <a:grpSpLocks/>
              </p:cNvGrpSpPr>
              <p:nvPr/>
            </p:nvGrpSpPr>
            <p:grpSpPr bwMode="auto">
              <a:xfrm>
                <a:off x="4552" y="2733"/>
                <a:ext cx="228" cy="89"/>
                <a:chOff x="4272" y="2304"/>
                <a:chExt cx="288" cy="96"/>
              </a:xfrm>
            </p:grpSpPr>
            <p:sp>
              <p:nvSpPr>
                <p:cNvPr id="272445" name="Line 1085"/>
                <p:cNvSpPr>
                  <a:spLocks noChangeShapeType="1"/>
                </p:cNvSpPr>
                <p:nvPr/>
              </p:nvSpPr>
              <p:spPr bwMode="auto">
                <a:xfrm flipH="1">
                  <a:off x="4320" y="235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2446" name="Oval 1086"/>
                <p:cNvSpPr>
                  <a:spLocks noChangeArrowheads="1"/>
                </p:cNvSpPr>
                <p:nvPr/>
              </p:nvSpPr>
              <p:spPr bwMode="auto">
                <a:xfrm>
                  <a:off x="4272" y="230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72447" name="Group 1087"/>
              <p:cNvGrpSpPr>
                <a:grpSpLocks/>
              </p:cNvGrpSpPr>
              <p:nvPr/>
            </p:nvGrpSpPr>
            <p:grpSpPr bwMode="auto">
              <a:xfrm>
                <a:off x="4134" y="2600"/>
                <a:ext cx="646" cy="1285"/>
                <a:chOff x="3744" y="2160"/>
                <a:chExt cx="816" cy="1392"/>
              </a:xfrm>
            </p:grpSpPr>
            <p:sp>
              <p:nvSpPr>
                <p:cNvPr id="272448" name="Line 1088"/>
                <p:cNvSpPr>
                  <a:spLocks noChangeShapeType="1"/>
                </p:cNvSpPr>
                <p:nvPr/>
              </p:nvSpPr>
              <p:spPr bwMode="auto">
                <a:xfrm flipH="1">
                  <a:off x="3792" y="3552"/>
                  <a:ext cx="76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2449" name="Line 1089"/>
                <p:cNvSpPr>
                  <a:spLocks noChangeShapeType="1"/>
                </p:cNvSpPr>
                <p:nvPr/>
              </p:nvSpPr>
              <p:spPr bwMode="auto">
                <a:xfrm flipV="1">
                  <a:off x="3792" y="2208"/>
                  <a:ext cx="0" cy="13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2450" name="Oval 1090"/>
                <p:cNvSpPr>
                  <a:spLocks noChangeArrowheads="1"/>
                </p:cNvSpPr>
                <p:nvPr/>
              </p:nvSpPr>
              <p:spPr bwMode="auto">
                <a:xfrm>
                  <a:off x="3744" y="216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72451" name="Line 1091"/>
              <p:cNvSpPr>
                <a:spLocks noChangeShapeType="1"/>
              </p:cNvSpPr>
              <p:nvPr/>
            </p:nvSpPr>
            <p:spPr bwMode="auto">
              <a:xfrm flipH="1" flipV="1">
                <a:off x="4416" y="340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52" name="Line 1092"/>
              <p:cNvSpPr>
                <a:spLocks noChangeShapeType="1"/>
              </p:cNvSpPr>
              <p:nvPr/>
            </p:nvSpPr>
            <p:spPr bwMode="auto">
              <a:xfrm flipV="1">
                <a:off x="4032" y="3408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53" name="Line 1093"/>
              <p:cNvSpPr>
                <a:spLocks noChangeShapeType="1"/>
              </p:cNvSpPr>
              <p:nvPr/>
            </p:nvSpPr>
            <p:spPr bwMode="auto">
              <a:xfrm flipH="1">
                <a:off x="3982" y="4062"/>
                <a:ext cx="79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54" name="Line 1094"/>
              <p:cNvSpPr>
                <a:spLocks noChangeShapeType="1"/>
              </p:cNvSpPr>
              <p:nvPr/>
            </p:nvSpPr>
            <p:spPr bwMode="auto">
              <a:xfrm flipV="1">
                <a:off x="3984" y="3120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55" name="Oval 1095"/>
              <p:cNvSpPr>
                <a:spLocks noChangeArrowheads="1"/>
              </p:cNvSpPr>
              <p:nvPr/>
            </p:nvSpPr>
            <p:spPr bwMode="auto">
              <a:xfrm>
                <a:off x="3944" y="3354"/>
                <a:ext cx="76" cy="89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72456" name="Group 1096"/>
              <p:cNvGrpSpPr>
                <a:grpSpLocks/>
              </p:cNvGrpSpPr>
              <p:nvPr/>
            </p:nvGrpSpPr>
            <p:grpSpPr bwMode="auto">
              <a:xfrm>
                <a:off x="4780" y="1936"/>
                <a:ext cx="264" cy="2196"/>
                <a:chOff x="4560" y="1440"/>
                <a:chExt cx="334" cy="2379"/>
              </a:xfrm>
            </p:grpSpPr>
            <p:grpSp>
              <p:nvGrpSpPr>
                <p:cNvPr id="272457" name="Group 1097"/>
                <p:cNvGrpSpPr>
                  <a:grpSpLocks/>
                </p:cNvGrpSpPr>
                <p:nvPr/>
              </p:nvGrpSpPr>
              <p:grpSpPr bwMode="auto">
                <a:xfrm>
                  <a:off x="4577" y="1440"/>
                  <a:ext cx="317" cy="363"/>
                  <a:chOff x="1020" y="1706"/>
                  <a:chExt cx="317" cy="363"/>
                </a:xfrm>
              </p:grpSpPr>
              <p:sp>
                <p:nvSpPr>
                  <p:cNvPr id="272458" name="Rectangle 1098"/>
                  <p:cNvSpPr>
                    <a:spLocks noChangeArrowheads="1"/>
                  </p:cNvSpPr>
                  <p:nvPr/>
                </p:nvSpPr>
                <p:spPr bwMode="auto">
                  <a:xfrm>
                    <a:off x="1020" y="1706"/>
                    <a:ext cx="227" cy="363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272459" name="Oval 1099"/>
                  <p:cNvSpPr>
                    <a:spLocks noChangeArrowheads="1"/>
                  </p:cNvSpPr>
                  <p:nvPr/>
                </p:nvSpPr>
                <p:spPr bwMode="auto">
                  <a:xfrm>
                    <a:off x="1247" y="1842"/>
                    <a:ext cx="90" cy="9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272460" name="Group 1100"/>
                <p:cNvGrpSpPr>
                  <a:grpSpLocks/>
                </p:cNvGrpSpPr>
                <p:nvPr/>
              </p:nvGrpSpPr>
              <p:grpSpPr bwMode="auto">
                <a:xfrm>
                  <a:off x="4560" y="2112"/>
                  <a:ext cx="317" cy="363"/>
                  <a:chOff x="1020" y="1706"/>
                  <a:chExt cx="317" cy="363"/>
                </a:xfrm>
              </p:grpSpPr>
              <p:sp>
                <p:nvSpPr>
                  <p:cNvPr id="272461" name="Rectangle 1101"/>
                  <p:cNvSpPr>
                    <a:spLocks noChangeArrowheads="1"/>
                  </p:cNvSpPr>
                  <p:nvPr/>
                </p:nvSpPr>
                <p:spPr bwMode="auto">
                  <a:xfrm>
                    <a:off x="1020" y="1706"/>
                    <a:ext cx="227" cy="363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272462" name="Oval 1102"/>
                  <p:cNvSpPr>
                    <a:spLocks noChangeArrowheads="1"/>
                  </p:cNvSpPr>
                  <p:nvPr/>
                </p:nvSpPr>
                <p:spPr bwMode="auto">
                  <a:xfrm>
                    <a:off x="1247" y="1842"/>
                    <a:ext cx="90" cy="9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272463" name="Group 1103"/>
                <p:cNvGrpSpPr>
                  <a:grpSpLocks/>
                </p:cNvGrpSpPr>
                <p:nvPr/>
              </p:nvGrpSpPr>
              <p:grpSpPr bwMode="auto">
                <a:xfrm>
                  <a:off x="4560" y="2784"/>
                  <a:ext cx="317" cy="363"/>
                  <a:chOff x="1020" y="1706"/>
                  <a:chExt cx="317" cy="363"/>
                </a:xfrm>
              </p:grpSpPr>
              <p:sp>
                <p:nvSpPr>
                  <p:cNvPr id="272464" name="Rectangle 1104"/>
                  <p:cNvSpPr>
                    <a:spLocks noChangeArrowheads="1"/>
                  </p:cNvSpPr>
                  <p:nvPr/>
                </p:nvSpPr>
                <p:spPr bwMode="auto">
                  <a:xfrm>
                    <a:off x="1020" y="1706"/>
                    <a:ext cx="227" cy="363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272465" name="Oval 1105"/>
                  <p:cNvSpPr>
                    <a:spLocks noChangeArrowheads="1"/>
                  </p:cNvSpPr>
                  <p:nvPr/>
                </p:nvSpPr>
                <p:spPr bwMode="auto">
                  <a:xfrm>
                    <a:off x="1247" y="1842"/>
                    <a:ext cx="90" cy="9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272466" name="Group 1106"/>
                <p:cNvGrpSpPr>
                  <a:grpSpLocks/>
                </p:cNvGrpSpPr>
                <p:nvPr/>
              </p:nvGrpSpPr>
              <p:grpSpPr bwMode="auto">
                <a:xfrm>
                  <a:off x="4560" y="3456"/>
                  <a:ext cx="317" cy="363"/>
                  <a:chOff x="1020" y="1706"/>
                  <a:chExt cx="317" cy="363"/>
                </a:xfrm>
              </p:grpSpPr>
              <p:sp>
                <p:nvSpPr>
                  <p:cNvPr id="272467" name="Rectangle 1107"/>
                  <p:cNvSpPr>
                    <a:spLocks noChangeArrowheads="1"/>
                  </p:cNvSpPr>
                  <p:nvPr/>
                </p:nvSpPr>
                <p:spPr bwMode="auto">
                  <a:xfrm>
                    <a:off x="1020" y="1706"/>
                    <a:ext cx="227" cy="363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272468" name="Oval 1108"/>
                  <p:cNvSpPr>
                    <a:spLocks noChangeArrowheads="1"/>
                  </p:cNvSpPr>
                  <p:nvPr/>
                </p:nvSpPr>
                <p:spPr bwMode="auto">
                  <a:xfrm>
                    <a:off x="1247" y="1842"/>
                    <a:ext cx="90" cy="9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</p:grpSp>
          <p:sp>
            <p:nvSpPr>
              <p:cNvPr id="272469" name="Line 1109"/>
              <p:cNvSpPr>
                <a:spLocks noChangeShapeType="1"/>
              </p:cNvSpPr>
              <p:nvPr/>
            </p:nvSpPr>
            <p:spPr bwMode="auto">
              <a:xfrm flipH="1">
                <a:off x="3120" y="2784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70" name="Line 1110"/>
              <p:cNvSpPr>
                <a:spLocks noChangeShapeType="1"/>
              </p:cNvSpPr>
              <p:nvPr/>
            </p:nvSpPr>
            <p:spPr bwMode="auto">
              <a:xfrm>
                <a:off x="3120" y="278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71" name="Oval 1111"/>
              <p:cNvSpPr>
                <a:spLocks noChangeArrowheads="1"/>
              </p:cNvSpPr>
              <p:nvPr/>
            </p:nvSpPr>
            <p:spPr bwMode="auto">
              <a:xfrm>
                <a:off x="3072" y="2311"/>
                <a:ext cx="76" cy="89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72" name="Oval 1112"/>
              <p:cNvSpPr>
                <a:spLocks noChangeArrowheads="1"/>
              </p:cNvSpPr>
              <p:nvPr/>
            </p:nvSpPr>
            <p:spPr bwMode="auto">
              <a:xfrm>
                <a:off x="3072" y="3072"/>
                <a:ext cx="76" cy="89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9202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2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2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8" grpId="0" animBg="1"/>
      <p:bldP spid="272398" grpId="0" animBg="1" autoUpdateAnimBg="0"/>
      <p:bldP spid="27239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7</a:t>
            </a:r>
            <a:r>
              <a:rPr lang="zh-CN" altLang="en-US" sz="3600" dirty="0"/>
              <a:t>）</a:t>
            </a:r>
          </a:p>
        </p:txBody>
      </p:sp>
      <p:sp>
        <p:nvSpPr>
          <p:cNvPr id="8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2E755-0029-45D9-A0C1-DEA76C1D937D}" type="slidenum">
              <a:rPr lang="en-US" altLang="zh-CN">
                <a:latin typeface="+mn-ea"/>
                <a:ea typeface="+mn-ea"/>
              </a:rPr>
              <a:pPr/>
              <a:t>11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73411" name="Text Box 1027"/>
          <p:cNvSpPr txBox="1">
            <a:spLocks noChangeArrowheads="1"/>
          </p:cNvSpPr>
          <p:nvPr/>
        </p:nvSpPr>
        <p:spPr bwMode="auto">
          <a:xfrm>
            <a:off x="1042988" y="6021388"/>
            <a:ext cx="2808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800">
              <a:latin typeface="+mn-ea"/>
              <a:ea typeface="+mn-ea"/>
            </a:endParaRPr>
          </a:p>
        </p:txBody>
      </p:sp>
      <p:sp>
        <p:nvSpPr>
          <p:cNvPr id="273412" name="Text Box 1028"/>
          <p:cNvSpPr txBox="1">
            <a:spLocks noChangeArrowheads="1"/>
          </p:cNvSpPr>
          <p:nvPr/>
        </p:nvSpPr>
        <p:spPr bwMode="auto">
          <a:xfrm>
            <a:off x="381000" y="2743200"/>
            <a:ext cx="3733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輸入緩衝部分使得對外負載只有一個，減輕上一級電路的負擔。</a:t>
            </a:r>
          </a:p>
        </p:txBody>
      </p:sp>
      <p:grpSp>
        <p:nvGrpSpPr>
          <p:cNvPr id="273413" name="Group 1029"/>
          <p:cNvGrpSpPr>
            <a:grpSpLocks/>
          </p:cNvGrpSpPr>
          <p:nvPr/>
        </p:nvGrpSpPr>
        <p:grpSpPr bwMode="auto">
          <a:xfrm>
            <a:off x="4343400" y="2667000"/>
            <a:ext cx="4267200" cy="3048000"/>
            <a:chOff x="96" y="1536"/>
            <a:chExt cx="2688" cy="2352"/>
          </a:xfrm>
        </p:grpSpPr>
        <p:sp>
          <p:nvSpPr>
            <p:cNvPr id="273414" name="Text Box 1030"/>
            <p:cNvSpPr txBox="1">
              <a:spLocks noChangeArrowheads="1"/>
            </p:cNvSpPr>
            <p:nvPr/>
          </p:nvSpPr>
          <p:spPr bwMode="auto">
            <a:xfrm>
              <a:off x="1026" y="3236"/>
              <a:ext cx="11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1800">
                <a:latin typeface="+mn-ea"/>
                <a:ea typeface="+mn-ea"/>
              </a:endParaRPr>
            </a:p>
          </p:txBody>
        </p:sp>
        <p:sp>
          <p:nvSpPr>
            <p:cNvPr id="273415" name="Rectangle 1031"/>
            <p:cNvSpPr>
              <a:spLocks noChangeArrowheads="1"/>
            </p:cNvSpPr>
            <p:nvPr/>
          </p:nvSpPr>
          <p:spPr bwMode="auto">
            <a:xfrm>
              <a:off x="240" y="1536"/>
              <a:ext cx="2213" cy="2352"/>
            </a:xfrm>
            <a:prstGeom prst="rect">
              <a:avLst/>
            </a:prstGeom>
            <a:solidFill>
              <a:srgbClr val="003300">
                <a:alpha val="50000"/>
              </a:srgbClr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73416" name="Group 1032"/>
            <p:cNvGrpSpPr>
              <a:grpSpLocks/>
            </p:cNvGrpSpPr>
            <p:nvPr/>
          </p:nvGrpSpPr>
          <p:grpSpPr bwMode="auto">
            <a:xfrm>
              <a:off x="887" y="1927"/>
              <a:ext cx="261" cy="306"/>
              <a:chOff x="1020" y="1706"/>
              <a:chExt cx="317" cy="363"/>
            </a:xfrm>
          </p:grpSpPr>
          <p:sp>
            <p:nvSpPr>
              <p:cNvPr id="273417" name="Rectangle 1033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3418" name="Oval 1034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3419" name="Group 1035"/>
            <p:cNvGrpSpPr>
              <a:grpSpLocks/>
            </p:cNvGrpSpPr>
            <p:nvPr/>
          </p:nvGrpSpPr>
          <p:grpSpPr bwMode="auto">
            <a:xfrm>
              <a:off x="2166" y="1683"/>
              <a:ext cx="261" cy="307"/>
              <a:chOff x="1020" y="1706"/>
              <a:chExt cx="317" cy="363"/>
            </a:xfrm>
          </p:grpSpPr>
          <p:sp>
            <p:nvSpPr>
              <p:cNvPr id="273420" name="Rectangle 1036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3421" name="Oval 1037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3422" name="Line 1038"/>
            <p:cNvSpPr>
              <a:spLocks noChangeShapeType="1"/>
            </p:cNvSpPr>
            <p:nvPr/>
          </p:nvSpPr>
          <p:spPr bwMode="auto">
            <a:xfrm>
              <a:off x="1152" y="206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23" name="Line 1039"/>
            <p:cNvSpPr>
              <a:spLocks noChangeShapeType="1"/>
            </p:cNvSpPr>
            <p:nvPr/>
          </p:nvSpPr>
          <p:spPr bwMode="auto">
            <a:xfrm flipH="1">
              <a:off x="816" y="177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24" name="Line 1040"/>
            <p:cNvSpPr>
              <a:spLocks noChangeShapeType="1"/>
            </p:cNvSpPr>
            <p:nvPr/>
          </p:nvSpPr>
          <p:spPr bwMode="auto">
            <a:xfrm flipH="1">
              <a:off x="1488" y="230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25" name="Line 1041"/>
            <p:cNvSpPr>
              <a:spLocks noChangeShapeType="1"/>
            </p:cNvSpPr>
            <p:nvPr/>
          </p:nvSpPr>
          <p:spPr bwMode="auto">
            <a:xfrm flipH="1">
              <a:off x="1756" y="2900"/>
              <a:ext cx="3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26" name="Line 1042"/>
            <p:cNvSpPr>
              <a:spLocks noChangeShapeType="1"/>
            </p:cNvSpPr>
            <p:nvPr/>
          </p:nvSpPr>
          <p:spPr bwMode="auto">
            <a:xfrm flipH="1" flipV="1">
              <a:off x="1536" y="345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27" name="Line 1043"/>
            <p:cNvSpPr>
              <a:spLocks noChangeShapeType="1"/>
            </p:cNvSpPr>
            <p:nvPr/>
          </p:nvSpPr>
          <p:spPr bwMode="auto">
            <a:xfrm flipH="1">
              <a:off x="1954" y="2454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28" name="Line 1044"/>
            <p:cNvSpPr>
              <a:spLocks noChangeShapeType="1"/>
            </p:cNvSpPr>
            <p:nvPr/>
          </p:nvSpPr>
          <p:spPr bwMode="auto">
            <a:xfrm flipH="1" flipV="1">
              <a:off x="1796" y="3022"/>
              <a:ext cx="3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29" name="Line 1045"/>
            <p:cNvSpPr>
              <a:spLocks noChangeShapeType="1"/>
            </p:cNvSpPr>
            <p:nvPr/>
          </p:nvSpPr>
          <p:spPr bwMode="auto">
            <a:xfrm flipH="1" flipV="1">
              <a:off x="1296" y="3600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30" name="Line 1046"/>
            <p:cNvSpPr>
              <a:spLocks noChangeShapeType="1"/>
            </p:cNvSpPr>
            <p:nvPr/>
          </p:nvSpPr>
          <p:spPr bwMode="auto">
            <a:xfrm>
              <a:off x="2428" y="1846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31" name="Line 1047"/>
            <p:cNvSpPr>
              <a:spLocks noChangeShapeType="1"/>
            </p:cNvSpPr>
            <p:nvPr/>
          </p:nvSpPr>
          <p:spPr bwMode="auto">
            <a:xfrm flipH="1">
              <a:off x="96" y="2089"/>
              <a:ext cx="2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73432" name="Group 1048"/>
            <p:cNvGrpSpPr>
              <a:grpSpLocks/>
            </p:cNvGrpSpPr>
            <p:nvPr/>
          </p:nvGrpSpPr>
          <p:grpSpPr bwMode="auto">
            <a:xfrm>
              <a:off x="887" y="2616"/>
              <a:ext cx="261" cy="307"/>
              <a:chOff x="1020" y="1706"/>
              <a:chExt cx="317" cy="363"/>
            </a:xfrm>
          </p:grpSpPr>
          <p:sp>
            <p:nvSpPr>
              <p:cNvPr id="273433" name="Rectangle 1049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3434" name="Oval 1050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3435" name="Line 1051"/>
            <p:cNvSpPr>
              <a:spLocks noChangeShapeType="1"/>
            </p:cNvSpPr>
            <p:nvPr/>
          </p:nvSpPr>
          <p:spPr bwMode="auto">
            <a:xfrm>
              <a:off x="816" y="2448"/>
              <a:ext cx="11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36" name="Line 1052"/>
            <p:cNvSpPr>
              <a:spLocks noChangeShapeType="1"/>
            </p:cNvSpPr>
            <p:nvPr/>
          </p:nvSpPr>
          <p:spPr bwMode="auto">
            <a:xfrm flipH="1">
              <a:off x="96" y="2778"/>
              <a:ext cx="2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73437" name="Object 10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5936157"/>
                </p:ext>
              </p:extLst>
            </p:nvPr>
          </p:nvGraphicFramePr>
          <p:xfrm>
            <a:off x="641" y="1791"/>
            <a:ext cx="166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26720" imgH="215640" progId="Equation.3">
                    <p:embed/>
                  </p:oleObj>
                </mc:Choice>
                <mc:Fallback>
                  <p:oleObj name="Equation" r:id="rId3" imgW="126720" imgH="215640" progId="Equation.3">
                    <p:embed/>
                    <p:pic>
                      <p:nvPicPr>
                        <p:cNvPr id="273437" name="Object 10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1" y="1791"/>
                          <a:ext cx="166" cy="29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3438" name="Object 10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6403619"/>
                </p:ext>
              </p:extLst>
            </p:nvPr>
          </p:nvGraphicFramePr>
          <p:xfrm>
            <a:off x="629" y="2513"/>
            <a:ext cx="187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2280" imgH="215640" progId="Equation.3">
                    <p:embed/>
                  </p:oleObj>
                </mc:Choice>
                <mc:Fallback>
                  <p:oleObj name="Equation" r:id="rId5" imgW="152280" imgH="215640" progId="Equation.3">
                    <p:embed/>
                    <p:pic>
                      <p:nvPicPr>
                        <p:cNvPr id="273438" name="Object 10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9" y="2513"/>
                          <a:ext cx="187" cy="27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3439" name="Text Box 1055"/>
            <p:cNvSpPr txBox="1">
              <a:spLocks noChangeArrowheads="1"/>
            </p:cNvSpPr>
            <p:nvPr/>
          </p:nvSpPr>
          <p:spPr bwMode="auto">
            <a:xfrm>
              <a:off x="96" y="1824"/>
              <a:ext cx="119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A</a:t>
              </a:r>
            </a:p>
          </p:txBody>
        </p:sp>
        <p:sp>
          <p:nvSpPr>
            <p:cNvPr id="273440" name="Text Box 1056"/>
            <p:cNvSpPr txBox="1">
              <a:spLocks noChangeArrowheads="1"/>
            </p:cNvSpPr>
            <p:nvPr/>
          </p:nvSpPr>
          <p:spPr bwMode="auto">
            <a:xfrm>
              <a:off x="96" y="2544"/>
              <a:ext cx="119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B</a:t>
              </a:r>
            </a:p>
          </p:txBody>
        </p:sp>
        <p:sp>
          <p:nvSpPr>
            <p:cNvPr id="273441" name="Line 1057"/>
            <p:cNvSpPr>
              <a:spLocks noChangeShapeType="1"/>
            </p:cNvSpPr>
            <p:nvPr/>
          </p:nvSpPr>
          <p:spPr bwMode="auto">
            <a:xfrm flipH="1">
              <a:off x="1756" y="1764"/>
              <a:ext cx="0" cy="1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42" name="Line 1058"/>
            <p:cNvSpPr>
              <a:spLocks noChangeShapeType="1"/>
            </p:cNvSpPr>
            <p:nvPr/>
          </p:nvSpPr>
          <p:spPr bwMode="auto">
            <a:xfrm flipH="1" flipV="1">
              <a:off x="1968" y="192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43" name="Line 1059"/>
            <p:cNvSpPr>
              <a:spLocks noChangeShapeType="1"/>
            </p:cNvSpPr>
            <p:nvPr/>
          </p:nvSpPr>
          <p:spPr bwMode="auto">
            <a:xfrm>
              <a:off x="1968" y="1920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44" name="Line 1060"/>
            <p:cNvSpPr>
              <a:spLocks noChangeShapeType="1"/>
            </p:cNvSpPr>
            <p:nvPr/>
          </p:nvSpPr>
          <p:spPr bwMode="auto">
            <a:xfrm>
              <a:off x="1536" y="2064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45" name="Line 1061"/>
            <p:cNvSpPr>
              <a:spLocks noChangeShapeType="1"/>
            </p:cNvSpPr>
            <p:nvPr/>
          </p:nvSpPr>
          <p:spPr bwMode="auto">
            <a:xfrm>
              <a:off x="1536" y="2304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46" name="Line 1062"/>
            <p:cNvSpPr>
              <a:spLocks noChangeShapeType="1"/>
            </p:cNvSpPr>
            <p:nvPr/>
          </p:nvSpPr>
          <p:spPr bwMode="auto">
            <a:xfrm flipV="1">
              <a:off x="1536" y="2352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47" name="Line 1063"/>
            <p:cNvSpPr>
              <a:spLocks noChangeShapeType="1"/>
            </p:cNvSpPr>
            <p:nvPr/>
          </p:nvSpPr>
          <p:spPr bwMode="auto">
            <a:xfrm>
              <a:off x="1296" y="2784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48" name="Line 1064"/>
            <p:cNvSpPr>
              <a:spLocks noChangeShapeType="1"/>
            </p:cNvSpPr>
            <p:nvPr/>
          </p:nvSpPr>
          <p:spPr bwMode="auto">
            <a:xfrm flipV="1">
              <a:off x="1296" y="3022"/>
              <a:ext cx="500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49" name="Line 1065"/>
            <p:cNvSpPr>
              <a:spLocks noChangeShapeType="1"/>
            </p:cNvSpPr>
            <p:nvPr/>
          </p:nvSpPr>
          <p:spPr bwMode="auto">
            <a:xfrm flipV="1">
              <a:off x="1296" y="302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50" name="Line 1066"/>
            <p:cNvSpPr>
              <a:spLocks noChangeShapeType="1"/>
            </p:cNvSpPr>
            <p:nvPr/>
          </p:nvSpPr>
          <p:spPr bwMode="auto">
            <a:xfrm>
              <a:off x="816" y="1776"/>
              <a:ext cx="0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51" name="Oval 1067"/>
            <p:cNvSpPr>
              <a:spLocks noChangeArrowheads="1"/>
            </p:cNvSpPr>
            <p:nvPr/>
          </p:nvSpPr>
          <p:spPr bwMode="auto">
            <a:xfrm>
              <a:off x="768" y="2048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52" name="Oval 1068"/>
            <p:cNvSpPr>
              <a:spLocks noChangeArrowheads="1"/>
            </p:cNvSpPr>
            <p:nvPr/>
          </p:nvSpPr>
          <p:spPr bwMode="auto">
            <a:xfrm>
              <a:off x="768" y="2738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53" name="Oval 1069"/>
            <p:cNvSpPr>
              <a:spLocks noChangeArrowheads="1"/>
            </p:cNvSpPr>
            <p:nvPr/>
          </p:nvSpPr>
          <p:spPr bwMode="auto">
            <a:xfrm>
              <a:off x="1717" y="1724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54" name="Oval 1070"/>
            <p:cNvSpPr>
              <a:spLocks noChangeArrowheads="1"/>
            </p:cNvSpPr>
            <p:nvPr/>
          </p:nvSpPr>
          <p:spPr bwMode="auto">
            <a:xfrm>
              <a:off x="1914" y="2413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55" name="Oval 1071"/>
            <p:cNvSpPr>
              <a:spLocks noChangeArrowheads="1"/>
            </p:cNvSpPr>
            <p:nvPr/>
          </p:nvSpPr>
          <p:spPr bwMode="auto">
            <a:xfrm>
              <a:off x="1488" y="2256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56" name="Oval 1072"/>
            <p:cNvSpPr>
              <a:spLocks noChangeArrowheads="1"/>
            </p:cNvSpPr>
            <p:nvPr/>
          </p:nvSpPr>
          <p:spPr bwMode="auto">
            <a:xfrm>
              <a:off x="1248" y="2976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73457" name="Group 1073"/>
            <p:cNvGrpSpPr>
              <a:grpSpLocks/>
            </p:cNvGrpSpPr>
            <p:nvPr/>
          </p:nvGrpSpPr>
          <p:grpSpPr bwMode="auto">
            <a:xfrm>
              <a:off x="2152" y="2251"/>
              <a:ext cx="261" cy="307"/>
              <a:chOff x="1020" y="1706"/>
              <a:chExt cx="317" cy="363"/>
            </a:xfrm>
          </p:grpSpPr>
          <p:sp>
            <p:nvSpPr>
              <p:cNvPr id="273458" name="Rectangle 1074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3459" name="Oval 1075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3460" name="Line 1076"/>
            <p:cNvSpPr>
              <a:spLocks noChangeShapeType="1"/>
            </p:cNvSpPr>
            <p:nvPr/>
          </p:nvSpPr>
          <p:spPr bwMode="auto">
            <a:xfrm>
              <a:off x="2428" y="2413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73461" name="Group 1077"/>
            <p:cNvGrpSpPr>
              <a:grpSpLocks/>
            </p:cNvGrpSpPr>
            <p:nvPr/>
          </p:nvGrpSpPr>
          <p:grpSpPr bwMode="auto">
            <a:xfrm>
              <a:off x="2152" y="2819"/>
              <a:ext cx="261" cy="306"/>
              <a:chOff x="1020" y="1706"/>
              <a:chExt cx="317" cy="363"/>
            </a:xfrm>
          </p:grpSpPr>
          <p:sp>
            <p:nvSpPr>
              <p:cNvPr id="273462" name="Rectangle 1078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3463" name="Oval 1079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3464" name="Line 1080"/>
            <p:cNvSpPr>
              <a:spLocks noChangeShapeType="1"/>
            </p:cNvSpPr>
            <p:nvPr/>
          </p:nvSpPr>
          <p:spPr bwMode="auto">
            <a:xfrm>
              <a:off x="2414" y="2981"/>
              <a:ext cx="2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73465" name="Group 1081"/>
            <p:cNvGrpSpPr>
              <a:grpSpLocks/>
            </p:cNvGrpSpPr>
            <p:nvPr/>
          </p:nvGrpSpPr>
          <p:grpSpPr bwMode="auto">
            <a:xfrm>
              <a:off x="2152" y="3386"/>
              <a:ext cx="261" cy="307"/>
              <a:chOff x="1020" y="1706"/>
              <a:chExt cx="317" cy="363"/>
            </a:xfrm>
          </p:grpSpPr>
          <p:sp>
            <p:nvSpPr>
              <p:cNvPr id="273466" name="Rectangle 1082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3467" name="Oval 1083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3468" name="Line 1084"/>
            <p:cNvSpPr>
              <a:spLocks noChangeShapeType="1"/>
            </p:cNvSpPr>
            <p:nvPr/>
          </p:nvSpPr>
          <p:spPr bwMode="auto">
            <a:xfrm>
              <a:off x="2414" y="3549"/>
              <a:ext cx="1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69" name="Text Box 1085"/>
            <p:cNvSpPr txBox="1">
              <a:spLocks noChangeArrowheads="1"/>
            </p:cNvSpPr>
            <p:nvPr/>
          </p:nvSpPr>
          <p:spPr bwMode="auto">
            <a:xfrm>
              <a:off x="2507" y="1643"/>
              <a:ext cx="237" cy="3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273470" name="Text Box 1086"/>
            <p:cNvSpPr txBox="1">
              <a:spLocks noChangeArrowheads="1"/>
            </p:cNvSpPr>
            <p:nvPr/>
          </p:nvSpPr>
          <p:spPr bwMode="auto">
            <a:xfrm>
              <a:off x="2547" y="2210"/>
              <a:ext cx="237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273471" name="Text Box 1087"/>
            <p:cNvSpPr txBox="1">
              <a:spLocks noChangeArrowheads="1"/>
            </p:cNvSpPr>
            <p:nvPr/>
          </p:nvSpPr>
          <p:spPr bwMode="auto">
            <a:xfrm>
              <a:off x="2547" y="2738"/>
              <a:ext cx="237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273472" name="Text Box 1088"/>
            <p:cNvSpPr txBox="1">
              <a:spLocks noChangeArrowheads="1"/>
            </p:cNvSpPr>
            <p:nvPr/>
          </p:nvSpPr>
          <p:spPr bwMode="auto">
            <a:xfrm>
              <a:off x="2507" y="3305"/>
              <a:ext cx="237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3</a:t>
              </a:r>
            </a:p>
          </p:txBody>
        </p:sp>
        <p:grpSp>
          <p:nvGrpSpPr>
            <p:cNvPr id="273473" name="Group 1089"/>
            <p:cNvGrpSpPr>
              <a:grpSpLocks/>
            </p:cNvGrpSpPr>
            <p:nvPr/>
          </p:nvGrpSpPr>
          <p:grpSpPr bwMode="auto">
            <a:xfrm>
              <a:off x="373" y="1927"/>
              <a:ext cx="261" cy="306"/>
              <a:chOff x="1020" y="1706"/>
              <a:chExt cx="317" cy="363"/>
            </a:xfrm>
          </p:grpSpPr>
          <p:sp>
            <p:nvSpPr>
              <p:cNvPr id="273474" name="Rectangle 1090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3475" name="Oval 1091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3476" name="Group 1092"/>
            <p:cNvGrpSpPr>
              <a:grpSpLocks/>
            </p:cNvGrpSpPr>
            <p:nvPr/>
          </p:nvGrpSpPr>
          <p:grpSpPr bwMode="auto">
            <a:xfrm>
              <a:off x="373" y="2616"/>
              <a:ext cx="261" cy="307"/>
              <a:chOff x="1020" y="1706"/>
              <a:chExt cx="317" cy="363"/>
            </a:xfrm>
          </p:grpSpPr>
          <p:sp>
            <p:nvSpPr>
              <p:cNvPr id="273477" name="Rectangle 1093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3478" name="Oval 1094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3479" name="Line 1095"/>
            <p:cNvSpPr>
              <a:spLocks noChangeShapeType="1"/>
            </p:cNvSpPr>
            <p:nvPr/>
          </p:nvSpPr>
          <p:spPr bwMode="auto">
            <a:xfrm>
              <a:off x="649" y="2089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80" name="Line 1096"/>
            <p:cNvSpPr>
              <a:spLocks noChangeShapeType="1"/>
            </p:cNvSpPr>
            <p:nvPr/>
          </p:nvSpPr>
          <p:spPr bwMode="auto">
            <a:xfrm>
              <a:off x="649" y="2778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73481" name="Object 109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2791802"/>
                </p:ext>
              </p:extLst>
            </p:nvPr>
          </p:nvGraphicFramePr>
          <p:xfrm>
            <a:off x="1182" y="1824"/>
            <a:ext cx="211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64880" imgH="177480" progId="Equation.3">
                    <p:embed/>
                  </p:oleObj>
                </mc:Choice>
                <mc:Fallback>
                  <p:oleObj name="Equation" r:id="rId7" imgW="164880" imgH="177480" progId="Equation.3">
                    <p:embed/>
                    <p:pic>
                      <p:nvPicPr>
                        <p:cNvPr id="273481" name="Object 10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2" y="1824"/>
                          <a:ext cx="211" cy="24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3482" name="Object 109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7078069"/>
                </p:ext>
              </p:extLst>
            </p:nvPr>
          </p:nvGraphicFramePr>
          <p:xfrm>
            <a:off x="1172" y="2513"/>
            <a:ext cx="233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77480" imgH="177480" progId="Equation.3">
                    <p:embed/>
                  </p:oleObj>
                </mc:Choice>
                <mc:Fallback>
                  <p:oleObj name="Equation" r:id="rId9" imgW="177480" imgH="177480" progId="Equation.3">
                    <p:embed/>
                    <p:pic>
                      <p:nvPicPr>
                        <p:cNvPr id="273482" name="Object 10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2" y="2513"/>
                          <a:ext cx="233" cy="24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3483" name="Line 1099"/>
            <p:cNvSpPr>
              <a:spLocks noChangeShapeType="1"/>
            </p:cNvSpPr>
            <p:nvPr/>
          </p:nvSpPr>
          <p:spPr bwMode="auto">
            <a:xfrm>
              <a:off x="816" y="2448"/>
              <a:ext cx="0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84" name="Line 1100"/>
            <p:cNvSpPr>
              <a:spLocks noChangeShapeType="1"/>
            </p:cNvSpPr>
            <p:nvPr/>
          </p:nvSpPr>
          <p:spPr bwMode="auto">
            <a:xfrm flipH="1">
              <a:off x="1152" y="278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273485" name="Text Box 1101"/>
          <p:cNvSpPr txBox="1">
            <a:spLocks noChangeArrowheads="1"/>
          </p:cNvSpPr>
          <p:nvPr/>
        </p:nvSpPr>
        <p:spPr bwMode="auto">
          <a:xfrm>
            <a:off x="3810000" y="58674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輸入緩衝電路</a:t>
            </a:r>
          </a:p>
        </p:txBody>
      </p:sp>
      <p:sp>
        <p:nvSpPr>
          <p:cNvPr id="273486" name="Text Box 1102"/>
          <p:cNvSpPr txBox="1">
            <a:spLocks noChangeArrowheads="1"/>
          </p:cNvSpPr>
          <p:nvPr/>
        </p:nvSpPr>
        <p:spPr bwMode="auto">
          <a:xfrm>
            <a:off x="5943600" y="58674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解碼邏輯電路</a:t>
            </a:r>
          </a:p>
        </p:txBody>
      </p:sp>
      <p:sp>
        <p:nvSpPr>
          <p:cNvPr id="273487" name="Rectangle 1103"/>
          <p:cNvSpPr>
            <a:spLocks noChangeArrowheads="1"/>
          </p:cNvSpPr>
          <p:nvPr/>
        </p:nvSpPr>
        <p:spPr bwMode="auto">
          <a:xfrm>
            <a:off x="609600" y="1447800"/>
            <a:ext cx="81534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en-US" altLang="zh-CN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2-4</a:t>
            </a: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</a:t>
            </a:r>
          </a:p>
          <a:p>
            <a:pPr marL="742950" lvl="1" indent="-28575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積體電路由兩部分組成：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輸入緩衝部分和解碼部分。</a:t>
            </a:r>
          </a:p>
        </p:txBody>
      </p:sp>
    </p:spTree>
    <p:extLst>
      <p:ext uri="{BB962C8B-B14F-4D97-AF65-F5344CB8AC3E}">
        <p14:creationId xmlns:p14="http://schemas.microsoft.com/office/powerpoint/2010/main" val="3707370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8</a:t>
            </a:r>
            <a:r>
              <a:rPr lang="zh-CN" altLang="en-US" sz="3600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D0AE7-3C2C-4A81-8187-A999A88DDC26}" type="slidenum">
              <a:rPr lang="en-US" altLang="zh-CN">
                <a:latin typeface="+mn-ea"/>
                <a:ea typeface="+mn-ea"/>
              </a:rPr>
              <a:pPr/>
              <a:t>12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75459" name="Rectangle 1027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latin typeface="+mn-ea"/>
              </a:rPr>
              <a:t>畫邏輯圖要求：</a:t>
            </a:r>
          </a:p>
          <a:p>
            <a:pPr lvl="1">
              <a:spcBef>
                <a:spcPct val="50000"/>
              </a:spcBef>
            </a:pPr>
            <a:r>
              <a:rPr lang="zh-CN" altLang="en-US" dirty="0">
                <a:latin typeface="+mn-ea"/>
              </a:rPr>
              <a:t>邏輯圖要美觀，可讀性要好</a:t>
            </a:r>
          </a:p>
          <a:p>
            <a:r>
              <a:rPr lang="zh-CN" altLang="en-US" dirty="0">
                <a:latin typeface="+mn-ea"/>
              </a:rPr>
              <a:t>具體注意幾個問題：</a:t>
            </a:r>
          </a:p>
          <a:p>
            <a:pPr lvl="1">
              <a:spcBef>
                <a:spcPct val="50000"/>
              </a:spcBef>
            </a:pPr>
            <a:r>
              <a:rPr lang="zh-CN" altLang="en-US" dirty="0">
                <a:latin typeface="+mn-ea"/>
              </a:rPr>
              <a:t>邏輯圖中邏輯門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或邏輯器件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>
                <a:latin typeface="+mn-ea"/>
              </a:rPr>
              <a:t>佈局要合理，邏輯性強</a:t>
            </a:r>
          </a:p>
          <a:p>
            <a:pPr lvl="1"/>
            <a:r>
              <a:rPr lang="zh-CN" altLang="en-US" dirty="0">
                <a:latin typeface="+mn-ea"/>
              </a:rPr>
              <a:t>邏輯圖中的連線佈局合理，無連接交叉點要少</a:t>
            </a:r>
          </a:p>
          <a:p>
            <a:pPr lvl="1"/>
            <a:r>
              <a:rPr lang="zh-CN" altLang="en-US" dirty="0">
                <a:latin typeface="+mn-ea"/>
              </a:rPr>
              <a:t>相接連線的交叉點要畫上連接子</a:t>
            </a:r>
          </a:p>
        </p:txBody>
      </p:sp>
    </p:spTree>
    <p:extLst>
      <p:ext uri="{BB962C8B-B14F-4D97-AF65-F5344CB8AC3E}">
        <p14:creationId xmlns:p14="http://schemas.microsoft.com/office/powerpoint/2010/main" val="3364611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8001000" cy="838200"/>
          </a:xfrm>
        </p:spPr>
        <p:txBody>
          <a:bodyPr/>
          <a:lstStyle/>
          <a:p>
            <a:r>
              <a:rPr lang="en-US" altLang="zh-CN" sz="3600" dirty="0">
                <a:latin typeface="+mn-ea"/>
                <a:ea typeface="+mn-ea"/>
              </a:rPr>
              <a:t>3.3.1 </a:t>
            </a:r>
            <a:r>
              <a:rPr lang="zh-CN" altLang="en-US" sz="3600" dirty="0"/>
              <a:t>解碼器</a:t>
            </a:r>
            <a:r>
              <a:rPr lang="zh-CN" altLang="en-US" sz="3600" dirty="0">
                <a:latin typeface="+mn-ea"/>
                <a:ea typeface="+mn-ea"/>
              </a:rPr>
              <a:t>（</a:t>
            </a:r>
            <a:r>
              <a:rPr lang="en-US" altLang="zh-CN" sz="3600" dirty="0">
                <a:latin typeface="+mn-ea"/>
                <a:ea typeface="+mn-ea"/>
              </a:rPr>
              <a:t>9</a:t>
            </a:r>
            <a:r>
              <a:rPr lang="zh-CN" altLang="en-US" sz="3600" dirty="0">
                <a:latin typeface="+mn-ea"/>
                <a:ea typeface="+mn-ea"/>
              </a:rPr>
              <a:t>）</a:t>
            </a:r>
          </a:p>
        </p:txBody>
      </p:sp>
      <p:sp>
        <p:nvSpPr>
          <p:cNvPr id="9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1A40-D941-4AEA-A71E-1158562F9061}" type="slidenum">
              <a:rPr lang="en-US" altLang="zh-CN">
                <a:latin typeface="+mn-ea"/>
                <a:ea typeface="+mn-ea"/>
              </a:rPr>
              <a:pPr/>
              <a:t>13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76569" name="Rectangle 89"/>
          <p:cNvSpPr>
            <a:spLocks noGrp="1" noChangeArrowheads="1"/>
          </p:cNvSpPr>
          <p:nvPr>
            <p:ph sz="quarter" idx="1"/>
          </p:nvPr>
        </p:nvSpPr>
        <p:spPr>
          <a:xfrm>
            <a:off x="533400" y="1143000"/>
            <a:ext cx="8153400" cy="464820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+mn-ea"/>
              </a:rPr>
              <a:t>2-4</a:t>
            </a:r>
            <a:r>
              <a:rPr lang="zh-CN" altLang="en-US" sz="3200" dirty="0">
                <a:latin typeface="+mn-ea"/>
              </a:rPr>
              <a:t>解碼器的應用舉例</a:t>
            </a:r>
            <a:r>
              <a:rPr lang="en-US" altLang="zh-CN" sz="3200" dirty="0">
                <a:latin typeface="+mn-ea"/>
              </a:rPr>
              <a:t>:CPU</a:t>
            </a:r>
            <a:r>
              <a:rPr lang="zh-CN" altLang="en-US" sz="3200" dirty="0">
                <a:latin typeface="+mn-ea"/>
              </a:rPr>
              <a:t>控制四個設備</a:t>
            </a:r>
          </a:p>
        </p:txBody>
      </p:sp>
      <p:sp>
        <p:nvSpPr>
          <p:cNvPr id="276483" name="Line 3"/>
          <p:cNvSpPr>
            <a:spLocks noChangeShapeType="1"/>
          </p:cNvSpPr>
          <p:nvPr/>
        </p:nvSpPr>
        <p:spPr bwMode="auto">
          <a:xfrm flipV="1">
            <a:off x="1468438" y="3365500"/>
            <a:ext cx="0" cy="53975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76484" name="Line 4"/>
          <p:cNvSpPr>
            <a:spLocks noChangeShapeType="1"/>
          </p:cNvSpPr>
          <p:nvPr/>
        </p:nvSpPr>
        <p:spPr bwMode="auto">
          <a:xfrm flipV="1">
            <a:off x="3132138" y="3365500"/>
            <a:ext cx="0" cy="53975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76485" name="Line 5"/>
          <p:cNvSpPr>
            <a:spLocks noChangeShapeType="1"/>
          </p:cNvSpPr>
          <p:nvPr/>
        </p:nvSpPr>
        <p:spPr bwMode="auto">
          <a:xfrm flipV="1">
            <a:off x="5164138" y="3365500"/>
            <a:ext cx="0" cy="53975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76486" name="Group 6"/>
          <p:cNvGrpSpPr>
            <a:grpSpLocks/>
          </p:cNvGrpSpPr>
          <p:nvPr/>
        </p:nvGrpSpPr>
        <p:grpSpPr bwMode="auto">
          <a:xfrm>
            <a:off x="1468438" y="2622550"/>
            <a:ext cx="5543550" cy="742950"/>
            <a:chOff x="925" y="1652"/>
            <a:chExt cx="3492" cy="468"/>
          </a:xfrm>
        </p:grpSpPr>
        <p:sp>
          <p:nvSpPr>
            <p:cNvPr id="276487" name="Line 7"/>
            <p:cNvSpPr>
              <a:spLocks noChangeShapeType="1"/>
            </p:cNvSpPr>
            <p:nvPr/>
          </p:nvSpPr>
          <p:spPr bwMode="auto">
            <a:xfrm>
              <a:off x="925" y="2120"/>
              <a:ext cx="3492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488" name="Line 8"/>
            <p:cNvSpPr>
              <a:spLocks noChangeShapeType="1"/>
            </p:cNvSpPr>
            <p:nvPr/>
          </p:nvSpPr>
          <p:spPr bwMode="auto">
            <a:xfrm flipV="1">
              <a:off x="1973" y="1652"/>
              <a:ext cx="0" cy="468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276489" name="Line 9"/>
          <p:cNvSpPr>
            <a:spLocks noChangeShapeType="1"/>
          </p:cNvSpPr>
          <p:nvPr/>
        </p:nvSpPr>
        <p:spPr bwMode="auto">
          <a:xfrm flipV="1">
            <a:off x="7011988" y="3365500"/>
            <a:ext cx="0" cy="53975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76490" name="Line 10"/>
          <p:cNvSpPr>
            <a:spLocks noChangeShapeType="1"/>
          </p:cNvSpPr>
          <p:nvPr/>
        </p:nvSpPr>
        <p:spPr bwMode="auto">
          <a:xfrm>
            <a:off x="4332288" y="2149475"/>
            <a:ext cx="923925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76491" name="Line 11"/>
          <p:cNvSpPr>
            <a:spLocks noChangeShapeType="1"/>
          </p:cNvSpPr>
          <p:nvPr/>
        </p:nvSpPr>
        <p:spPr bwMode="auto">
          <a:xfrm>
            <a:off x="4332288" y="2352675"/>
            <a:ext cx="923925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76492" name="Group 12"/>
          <p:cNvGrpSpPr>
            <a:grpSpLocks/>
          </p:cNvGrpSpPr>
          <p:nvPr/>
        </p:nvGrpSpPr>
        <p:grpSpPr bwMode="auto">
          <a:xfrm>
            <a:off x="2843213" y="1676400"/>
            <a:ext cx="1489076" cy="979488"/>
            <a:chOff x="1791" y="1056"/>
            <a:chExt cx="938" cy="617"/>
          </a:xfrm>
        </p:grpSpPr>
        <p:sp>
          <p:nvSpPr>
            <p:cNvPr id="276493" name="Rectangle 13"/>
            <p:cNvSpPr>
              <a:spLocks noChangeArrowheads="1"/>
            </p:cNvSpPr>
            <p:nvPr/>
          </p:nvSpPr>
          <p:spPr bwMode="auto">
            <a:xfrm>
              <a:off x="1798" y="1056"/>
              <a:ext cx="931" cy="5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494" name="Text Box 14"/>
            <p:cNvSpPr txBox="1">
              <a:spLocks noChangeArrowheads="1"/>
            </p:cNvSpPr>
            <p:nvPr/>
          </p:nvSpPr>
          <p:spPr bwMode="auto">
            <a:xfrm>
              <a:off x="1798" y="1184"/>
              <a:ext cx="6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 sz="1800" dirty="0">
                  <a:latin typeface="+mn-ea"/>
                  <a:ea typeface="+mn-ea"/>
                </a:rPr>
                <a:t>CPU</a:t>
              </a:r>
            </a:p>
          </p:txBody>
        </p:sp>
        <p:sp>
          <p:nvSpPr>
            <p:cNvPr id="276495" name="Text Box 15"/>
            <p:cNvSpPr txBox="1">
              <a:spLocks noChangeArrowheads="1"/>
            </p:cNvSpPr>
            <p:nvPr/>
          </p:nvSpPr>
          <p:spPr bwMode="auto">
            <a:xfrm>
              <a:off x="1791" y="1481"/>
              <a:ext cx="6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+mn-ea"/>
                  <a:ea typeface="+mn-ea"/>
                </a:rPr>
                <a:t>D0~D31</a:t>
              </a:r>
            </a:p>
          </p:txBody>
        </p:sp>
        <p:sp>
          <p:nvSpPr>
            <p:cNvPr id="276496" name="Text Box 16"/>
            <p:cNvSpPr txBox="1">
              <a:spLocks noChangeArrowheads="1"/>
            </p:cNvSpPr>
            <p:nvPr/>
          </p:nvSpPr>
          <p:spPr bwMode="auto">
            <a:xfrm>
              <a:off x="2555" y="1269"/>
              <a:ext cx="174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+mn-ea"/>
                  <a:ea typeface="+mn-ea"/>
                </a:rPr>
                <a:t>A0</a:t>
              </a:r>
            </a:p>
          </p:txBody>
        </p:sp>
        <p:sp>
          <p:nvSpPr>
            <p:cNvPr id="276497" name="Text Box 17"/>
            <p:cNvSpPr txBox="1">
              <a:spLocks noChangeArrowheads="1"/>
            </p:cNvSpPr>
            <p:nvPr/>
          </p:nvSpPr>
          <p:spPr bwMode="auto">
            <a:xfrm>
              <a:off x="2555" y="1396"/>
              <a:ext cx="174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+mn-ea"/>
                  <a:ea typeface="+mn-ea"/>
                </a:rPr>
                <a:t>A1</a:t>
              </a:r>
            </a:p>
          </p:txBody>
        </p:sp>
      </p:grpSp>
      <p:grpSp>
        <p:nvGrpSpPr>
          <p:cNvPr id="276498" name="Group 18"/>
          <p:cNvGrpSpPr>
            <a:grpSpLocks/>
          </p:cNvGrpSpPr>
          <p:nvPr/>
        </p:nvGrpSpPr>
        <p:grpSpPr bwMode="auto">
          <a:xfrm>
            <a:off x="5257800" y="1981200"/>
            <a:ext cx="1663700" cy="676275"/>
            <a:chOff x="3311" y="1226"/>
            <a:chExt cx="1048" cy="426"/>
          </a:xfrm>
        </p:grpSpPr>
        <p:sp>
          <p:nvSpPr>
            <p:cNvPr id="276499" name="Rectangle 19"/>
            <p:cNvSpPr>
              <a:spLocks noChangeArrowheads="1"/>
            </p:cNvSpPr>
            <p:nvPr/>
          </p:nvSpPr>
          <p:spPr bwMode="auto">
            <a:xfrm>
              <a:off x="3311" y="1226"/>
              <a:ext cx="932" cy="426"/>
            </a:xfrm>
            <a:prstGeom prst="rect">
              <a:avLst/>
            </a:prstGeom>
            <a:solidFill>
              <a:srgbClr val="FF99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00" name="Text Box 20"/>
            <p:cNvSpPr txBox="1">
              <a:spLocks noChangeArrowheads="1"/>
            </p:cNvSpPr>
            <p:nvPr/>
          </p:nvSpPr>
          <p:spPr bwMode="auto">
            <a:xfrm>
              <a:off x="3602" y="1311"/>
              <a:ext cx="75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latin typeface="+mn-ea"/>
                  <a:ea typeface="+mn-ea"/>
                </a:rPr>
                <a:t>解碼器</a:t>
              </a:r>
            </a:p>
          </p:txBody>
        </p:sp>
        <p:sp>
          <p:nvSpPr>
            <p:cNvPr id="276501" name="Text Box 21"/>
            <p:cNvSpPr txBox="1">
              <a:spLocks noChangeArrowheads="1"/>
            </p:cNvSpPr>
            <p:nvPr/>
          </p:nvSpPr>
          <p:spPr bwMode="auto">
            <a:xfrm>
              <a:off x="3311" y="1311"/>
              <a:ext cx="175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+mn-ea"/>
                  <a:ea typeface="+mn-ea"/>
                </a:rPr>
                <a:t>A0</a:t>
              </a:r>
            </a:p>
          </p:txBody>
        </p:sp>
        <p:sp>
          <p:nvSpPr>
            <p:cNvPr id="276502" name="Text Box 22"/>
            <p:cNvSpPr txBox="1">
              <a:spLocks noChangeArrowheads="1"/>
            </p:cNvSpPr>
            <p:nvPr/>
          </p:nvSpPr>
          <p:spPr bwMode="auto">
            <a:xfrm>
              <a:off x="3311" y="1439"/>
              <a:ext cx="175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+mn-ea"/>
                  <a:ea typeface="+mn-ea"/>
                </a:rPr>
                <a:t>A1</a:t>
              </a:r>
            </a:p>
          </p:txBody>
        </p:sp>
      </p:grpSp>
      <p:grpSp>
        <p:nvGrpSpPr>
          <p:cNvPr id="276503" name="Group 23"/>
          <p:cNvGrpSpPr>
            <a:grpSpLocks/>
          </p:cNvGrpSpPr>
          <p:nvPr/>
        </p:nvGrpSpPr>
        <p:grpSpPr bwMode="auto">
          <a:xfrm>
            <a:off x="914400" y="3568700"/>
            <a:ext cx="1570038" cy="1109663"/>
            <a:chOff x="576" y="2248"/>
            <a:chExt cx="989" cy="699"/>
          </a:xfrm>
        </p:grpSpPr>
        <p:sp>
          <p:nvSpPr>
            <p:cNvPr id="276504" name="Rectangle 24"/>
            <p:cNvSpPr>
              <a:spLocks noChangeArrowheads="1"/>
            </p:cNvSpPr>
            <p:nvPr/>
          </p:nvSpPr>
          <p:spPr bwMode="auto">
            <a:xfrm>
              <a:off x="576" y="2460"/>
              <a:ext cx="989" cy="4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05" name="Text Box 25"/>
            <p:cNvSpPr txBox="1">
              <a:spLocks noChangeArrowheads="1"/>
            </p:cNvSpPr>
            <p:nvPr/>
          </p:nvSpPr>
          <p:spPr bwMode="auto">
            <a:xfrm>
              <a:off x="692" y="2716"/>
              <a:ext cx="64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1800" dirty="0">
                  <a:latin typeface="+mn-ea"/>
                  <a:ea typeface="+mn-ea"/>
                </a:rPr>
                <a:t>外設</a:t>
              </a:r>
              <a:r>
                <a:rPr lang="en-US" altLang="zh-CN" sz="1800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276506" name="Text Box 26"/>
            <p:cNvSpPr txBox="1">
              <a:spLocks noChangeArrowheads="1"/>
            </p:cNvSpPr>
            <p:nvPr/>
          </p:nvSpPr>
          <p:spPr bwMode="auto">
            <a:xfrm>
              <a:off x="576" y="2460"/>
              <a:ext cx="698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+mn-ea"/>
                  <a:ea typeface="+mn-ea"/>
                </a:rPr>
                <a:t>D0~D31</a:t>
              </a:r>
            </a:p>
          </p:txBody>
        </p:sp>
        <p:grpSp>
          <p:nvGrpSpPr>
            <p:cNvPr id="276507" name="Group 27"/>
            <p:cNvGrpSpPr>
              <a:grpSpLocks/>
            </p:cNvGrpSpPr>
            <p:nvPr/>
          </p:nvGrpSpPr>
          <p:grpSpPr bwMode="auto">
            <a:xfrm>
              <a:off x="1158" y="2248"/>
              <a:ext cx="349" cy="85"/>
              <a:chOff x="2160" y="1728"/>
              <a:chExt cx="288" cy="96"/>
            </a:xfrm>
          </p:grpSpPr>
          <p:sp>
            <p:nvSpPr>
              <p:cNvPr id="276508" name="Line 28"/>
              <p:cNvSpPr>
                <a:spLocks noChangeShapeType="1"/>
              </p:cNvSpPr>
              <p:nvPr/>
            </p:nvSpPr>
            <p:spPr bwMode="auto">
              <a:xfrm>
                <a:off x="2160" y="172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09" name="Line 29"/>
              <p:cNvSpPr>
                <a:spLocks noChangeShapeType="1"/>
              </p:cNvSpPr>
              <p:nvPr/>
            </p:nvSpPr>
            <p:spPr bwMode="auto">
              <a:xfrm>
                <a:off x="2256" y="17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10" name="Line 30"/>
              <p:cNvSpPr>
                <a:spLocks noChangeShapeType="1"/>
              </p:cNvSpPr>
              <p:nvPr/>
            </p:nvSpPr>
            <p:spPr bwMode="auto">
              <a:xfrm>
                <a:off x="2256" y="182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11" name="Line 31"/>
              <p:cNvSpPr>
                <a:spLocks noChangeShapeType="1"/>
              </p:cNvSpPr>
              <p:nvPr/>
            </p:nvSpPr>
            <p:spPr bwMode="auto">
              <a:xfrm flipV="1">
                <a:off x="2352" y="17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12" name="Line 32"/>
              <p:cNvSpPr>
                <a:spLocks noChangeShapeType="1"/>
              </p:cNvSpPr>
              <p:nvPr/>
            </p:nvSpPr>
            <p:spPr bwMode="auto">
              <a:xfrm>
                <a:off x="2352" y="172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6513" name="Text Box 33"/>
            <p:cNvSpPr txBox="1">
              <a:spLocks noChangeArrowheads="1"/>
            </p:cNvSpPr>
            <p:nvPr/>
          </p:nvSpPr>
          <p:spPr bwMode="auto">
            <a:xfrm>
              <a:off x="1216" y="2460"/>
              <a:ext cx="23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n-ea"/>
                  <a:ea typeface="+mn-ea"/>
                </a:rPr>
                <a:t>CS</a:t>
              </a:r>
            </a:p>
          </p:txBody>
        </p:sp>
      </p:grpSp>
      <p:grpSp>
        <p:nvGrpSpPr>
          <p:cNvPr id="276514" name="Group 34"/>
          <p:cNvGrpSpPr>
            <a:grpSpLocks/>
          </p:cNvGrpSpPr>
          <p:nvPr/>
        </p:nvGrpSpPr>
        <p:grpSpPr bwMode="auto">
          <a:xfrm>
            <a:off x="2916238" y="3568700"/>
            <a:ext cx="1601788" cy="1109663"/>
            <a:chOff x="1837" y="2248"/>
            <a:chExt cx="1009" cy="699"/>
          </a:xfrm>
        </p:grpSpPr>
        <p:sp>
          <p:nvSpPr>
            <p:cNvPr id="276515" name="Rectangle 35"/>
            <p:cNvSpPr>
              <a:spLocks noChangeArrowheads="1"/>
            </p:cNvSpPr>
            <p:nvPr/>
          </p:nvSpPr>
          <p:spPr bwMode="auto">
            <a:xfrm>
              <a:off x="1856" y="2460"/>
              <a:ext cx="990" cy="4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16" name="Text Box 36"/>
            <p:cNvSpPr txBox="1">
              <a:spLocks noChangeArrowheads="1"/>
            </p:cNvSpPr>
            <p:nvPr/>
          </p:nvSpPr>
          <p:spPr bwMode="auto">
            <a:xfrm>
              <a:off x="2031" y="2716"/>
              <a:ext cx="6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1800" dirty="0">
                  <a:latin typeface="+mn-ea"/>
                  <a:ea typeface="+mn-ea"/>
                </a:rPr>
                <a:t>外設</a:t>
              </a:r>
              <a:r>
                <a:rPr lang="en-US" altLang="zh-CN" sz="18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276517" name="Text Box 37"/>
            <p:cNvSpPr txBox="1">
              <a:spLocks noChangeArrowheads="1"/>
            </p:cNvSpPr>
            <p:nvPr/>
          </p:nvSpPr>
          <p:spPr bwMode="auto">
            <a:xfrm>
              <a:off x="1837" y="2460"/>
              <a:ext cx="699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+mn-ea"/>
                  <a:ea typeface="+mn-ea"/>
                </a:rPr>
                <a:t>D0~D31</a:t>
              </a:r>
            </a:p>
          </p:txBody>
        </p:sp>
        <p:grpSp>
          <p:nvGrpSpPr>
            <p:cNvPr id="276518" name="Group 38"/>
            <p:cNvGrpSpPr>
              <a:grpSpLocks/>
            </p:cNvGrpSpPr>
            <p:nvPr/>
          </p:nvGrpSpPr>
          <p:grpSpPr bwMode="auto">
            <a:xfrm>
              <a:off x="2497" y="2248"/>
              <a:ext cx="349" cy="85"/>
              <a:chOff x="2592" y="1728"/>
              <a:chExt cx="288" cy="96"/>
            </a:xfrm>
          </p:grpSpPr>
          <p:sp>
            <p:nvSpPr>
              <p:cNvPr id="276519" name="Line 39"/>
              <p:cNvSpPr>
                <a:spLocks noChangeShapeType="1"/>
              </p:cNvSpPr>
              <p:nvPr/>
            </p:nvSpPr>
            <p:spPr bwMode="auto">
              <a:xfrm>
                <a:off x="2592" y="182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20" name="Line 40"/>
              <p:cNvSpPr>
                <a:spLocks noChangeShapeType="1"/>
              </p:cNvSpPr>
              <p:nvPr/>
            </p:nvSpPr>
            <p:spPr bwMode="auto">
              <a:xfrm flipV="1">
                <a:off x="2688" y="17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21" name="Line 41"/>
              <p:cNvSpPr>
                <a:spLocks noChangeShapeType="1"/>
              </p:cNvSpPr>
              <p:nvPr/>
            </p:nvSpPr>
            <p:spPr bwMode="auto">
              <a:xfrm>
                <a:off x="2688" y="172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22" name="Line 42"/>
              <p:cNvSpPr>
                <a:spLocks noChangeShapeType="1"/>
              </p:cNvSpPr>
              <p:nvPr/>
            </p:nvSpPr>
            <p:spPr bwMode="auto">
              <a:xfrm>
                <a:off x="2784" y="17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23" name="Line 43"/>
              <p:cNvSpPr>
                <a:spLocks noChangeShapeType="1"/>
              </p:cNvSpPr>
              <p:nvPr/>
            </p:nvSpPr>
            <p:spPr bwMode="auto">
              <a:xfrm>
                <a:off x="2784" y="182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6524" name="Text Box 44"/>
            <p:cNvSpPr txBox="1">
              <a:spLocks noChangeArrowheads="1"/>
            </p:cNvSpPr>
            <p:nvPr/>
          </p:nvSpPr>
          <p:spPr bwMode="auto">
            <a:xfrm>
              <a:off x="2555" y="2460"/>
              <a:ext cx="23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n-ea"/>
                  <a:ea typeface="+mn-ea"/>
                </a:rPr>
                <a:t>CS</a:t>
              </a:r>
            </a:p>
          </p:txBody>
        </p:sp>
      </p:grpSp>
      <p:grpSp>
        <p:nvGrpSpPr>
          <p:cNvPr id="276525" name="Group 45"/>
          <p:cNvGrpSpPr>
            <a:grpSpLocks/>
          </p:cNvGrpSpPr>
          <p:nvPr/>
        </p:nvGrpSpPr>
        <p:grpSpPr bwMode="auto">
          <a:xfrm>
            <a:off x="4990785" y="3568700"/>
            <a:ext cx="1651313" cy="1109663"/>
            <a:chOff x="3137" y="2248"/>
            <a:chExt cx="931" cy="699"/>
          </a:xfrm>
        </p:grpSpPr>
        <p:sp>
          <p:nvSpPr>
            <p:cNvPr id="276526" name="Rectangle 46"/>
            <p:cNvSpPr>
              <a:spLocks noChangeArrowheads="1"/>
            </p:cNvSpPr>
            <p:nvPr/>
          </p:nvSpPr>
          <p:spPr bwMode="auto">
            <a:xfrm>
              <a:off x="3137" y="2460"/>
              <a:ext cx="815" cy="4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27" name="Text Box 47"/>
            <p:cNvSpPr txBox="1">
              <a:spLocks noChangeArrowheads="1"/>
            </p:cNvSpPr>
            <p:nvPr/>
          </p:nvSpPr>
          <p:spPr bwMode="auto">
            <a:xfrm>
              <a:off x="3253" y="2716"/>
              <a:ext cx="6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1800" dirty="0">
                  <a:latin typeface="+mn-ea"/>
                  <a:ea typeface="+mn-ea"/>
                </a:rPr>
                <a:t>外設</a:t>
              </a:r>
              <a:r>
                <a:rPr lang="en-US" altLang="zh-CN" sz="1800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276528" name="Text Box 48"/>
            <p:cNvSpPr txBox="1">
              <a:spLocks noChangeArrowheads="1"/>
            </p:cNvSpPr>
            <p:nvPr/>
          </p:nvSpPr>
          <p:spPr bwMode="auto">
            <a:xfrm>
              <a:off x="3137" y="2460"/>
              <a:ext cx="698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+mn-ea"/>
                  <a:ea typeface="+mn-ea"/>
                </a:rPr>
                <a:t>D0~D31</a:t>
              </a:r>
            </a:p>
          </p:txBody>
        </p:sp>
        <p:grpSp>
          <p:nvGrpSpPr>
            <p:cNvPr id="276529" name="Group 49"/>
            <p:cNvGrpSpPr>
              <a:grpSpLocks/>
            </p:cNvGrpSpPr>
            <p:nvPr/>
          </p:nvGrpSpPr>
          <p:grpSpPr bwMode="auto">
            <a:xfrm>
              <a:off x="3719" y="2248"/>
              <a:ext cx="349" cy="85"/>
              <a:chOff x="2592" y="1728"/>
              <a:chExt cx="288" cy="96"/>
            </a:xfrm>
          </p:grpSpPr>
          <p:sp>
            <p:nvSpPr>
              <p:cNvPr id="276530" name="Line 50"/>
              <p:cNvSpPr>
                <a:spLocks noChangeShapeType="1"/>
              </p:cNvSpPr>
              <p:nvPr/>
            </p:nvSpPr>
            <p:spPr bwMode="auto">
              <a:xfrm>
                <a:off x="2592" y="182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31" name="Line 51"/>
              <p:cNvSpPr>
                <a:spLocks noChangeShapeType="1"/>
              </p:cNvSpPr>
              <p:nvPr/>
            </p:nvSpPr>
            <p:spPr bwMode="auto">
              <a:xfrm flipV="1">
                <a:off x="2688" y="17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32" name="Line 52"/>
              <p:cNvSpPr>
                <a:spLocks noChangeShapeType="1"/>
              </p:cNvSpPr>
              <p:nvPr/>
            </p:nvSpPr>
            <p:spPr bwMode="auto">
              <a:xfrm>
                <a:off x="2688" y="172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33" name="Line 53"/>
              <p:cNvSpPr>
                <a:spLocks noChangeShapeType="1"/>
              </p:cNvSpPr>
              <p:nvPr/>
            </p:nvSpPr>
            <p:spPr bwMode="auto">
              <a:xfrm>
                <a:off x="2784" y="17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34" name="Line 54"/>
              <p:cNvSpPr>
                <a:spLocks noChangeShapeType="1"/>
              </p:cNvSpPr>
              <p:nvPr/>
            </p:nvSpPr>
            <p:spPr bwMode="auto">
              <a:xfrm>
                <a:off x="2784" y="182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6535" name="Text Box 55"/>
            <p:cNvSpPr txBox="1">
              <a:spLocks noChangeArrowheads="1"/>
            </p:cNvSpPr>
            <p:nvPr/>
          </p:nvSpPr>
          <p:spPr bwMode="auto">
            <a:xfrm>
              <a:off x="3719" y="2460"/>
              <a:ext cx="23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n-ea"/>
                  <a:ea typeface="+mn-ea"/>
                </a:rPr>
                <a:t>CS</a:t>
              </a:r>
            </a:p>
          </p:txBody>
        </p:sp>
      </p:grpSp>
      <p:grpSp>
        <p:nvGrpSpPr>
          <p:cNvPr id="276536" name="Group 56"/>
          <p:cNvGrpSpPr>
            <a:grpSpLocks/>
          </p:cNvGrpSpPr>
          <p:nvPr/>
        </p:nvGrpSpPr>
        <p:grpSpPr bwMode="auto">
          <a:xfrm>
            <a:off x="6919918" y="3568702"/>
            <a:ext cx="1385888" cy="1112838"/>
            <a:chOff x="4359" y="2248"/>
            <a:chExt cx="873" cy="701"/>
          </a:xfrm>
        </p:grpSpPr>
        <p:sp>
          <p:nvSpPr>
            <p:cNvPr id="276537" name="Rectangle 57"/>
            <p:cNvSpPr>
              <a:spLocks noChangeArrowheads="1"/>
            </p:cNvSpPr>
            <p:nvPr/>
          </p:nvSpPr>
          <p:spPr bwMode="auto">
            <a:xfrm>
              <a:off x="4359" y="2460"/>
              <a:ext cx="815" cy="4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38" name="Text Box 58"/>
            <p:cNvSpPr txBox="1">
              <a:spLocks noChangeArrowheads="1"/>
            </p:cNvSpPr>
            <p:nvPr/>
          </p:nvSpPr>
          <p:spPr bwMode="auto">
            <a:xfrm>
              <a:off x="4475" y="2716"/>
              <a:ext cx="64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1800" dirty="0">
                  <a:latin typeface="+mn-ea"/>
                  <a:ea typeface="+mn-ea"/>
                </a:rPr>
                <a:t>外設</a:t>
              </a:r>
              <a:r>
                <a:rPr lang="en-US" altLang="zh-CN" sz="1800" dirty="0"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276539" name="Text Box 59"/>
            <p:cNvSpPr txBox="1">
              <a:spLocks noChangeArrowheads="1"/>
            </p:cNvSpPr>
            <p:nvPr/>
          </p:nvSpPr>
          <p:spPr bwMode="auto">
            <a:xfrm>
              <a:off x="4359" y="2460"/>
              <a:ext cx="698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+mn-ea"/>
                  <a:ea typeface="+mn-ea"/>
                </a:rPr>
                <a:t>D0~D31</a:t>
              </a:r>
            </a:p>
          </p:txBody>
        </p:sp>
        <p:grpSp>
          <p:nvGrpSpPr>
            <p:cNvPr id="276540" name="Group 60"/>
            <p:cNvGrpSpPr>
              <a:grpSpLocks/>
            </p:cNvGrpSpPr>
            <p:nvPr/>
          </p:nvGrpSpPr>
          <p:grpSpPr bwMode="auto">
            <a:xfrm>
              <a:off x="4825" y="2248"/>
              <a:ext cx="349" cy="85"/>
              <a:chOff x="2592" y="1728"/>
              <a:chExt cx="288" cy="96"/>
            </a:xfrm>
          </p:grpSpPr>
          <p:sp>
            <p:nvSpPr>
              <p:cNvPr id="276541" name="Line 61"/>
              <p:cNvSpPr>
                <a:spLocks noChangeShapeType="1"/>
              </p:cNvSpPr>
              <p:nvPr/>
            </p:nvSpPr>
            <p:spPr bwMode="auto">
              <a:xfrm>
                <a:off x="2592" y="182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42" name="Line 62"/>
              <p:cNvSpPr>
                <a:spLocks noChangeShapeType="1"/>
              </p:cNvSpPr>
              <p:nvPr/>
            </p:nvSpPr>
            <p:spPr bwMode="auto">
              <a:xfrm flipV="1">
                <a:off x="2688" y="17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43" name="Line 63"/>
              <p:cNvSpPr>
                <a:spLocks noChangeShapeType="1"/>
              </p:cNvSpPr>
              <p:nvPr/>
            </p:nvSpPr>
            <p:spPr bwMode="auto">
              <a:xfrm>
                <a:off x="2688" y="172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44" name="Line 64"/>
              <p:cNvSpPr>
                <a:spLocks noChangeShapeType="1"/>
              </p:cNvSpPr>
              <p:nvPr/>
            </p:nvSpPr>
            <p:spPr bwMode="auto">
              <a:xfrm>
                <a:off x="2784" y="17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45" name="Line 65"/>
              <p:cNvSpPr>
                <a:spLocks noChangeShapeType="1"/>
              </p:cNvSpPr>
              <p:nvPr/>
            </p:nvSpPr>
            <p:spPr bwMode="auto">
              <a:xfrm>
                <a:off x="2784" y="182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6546" name="Text Box 66"/>
            <p:cNvSpPr txBox="1">
              <a:spLocks noChangeArrowheads="1"/>
            </p:cNvSpPr>
            <p:nvPr/>
          </p:nvSpPr>
          <p:spPr bwMode="auto">
            <a:xfrm>
              <a:off x="4941" y="2460"/>
              <a:ext cx="29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n-ea"/>
                  <a:ea typeface="+mn-ea"/>
                </a:rPr>
                <a:t>CS</a:t>
              </a:r>
            </a:p>
          </p:txBody>
        </p:sp>
      </p:grpSp>
      <p:grpSp>
        <p:nvGrpSpPr>
          <p:cNvPr id="276547" name="Group 67"/>
          <p:cNvGrpSpPr>
            <a:grpSpLocks/>
          </p:cNvGrpSpPr>
          <p:nvPr/>
        </p:nvGrpSpPr>
        <p:grpSpPr bwMode="auto">
          <a:xfrm>
            <a:off x="2116138" y="2622550"/>
            <a:ext cx="3325812" cy="1282700"/>
            <a:chOff x="1333" y="1652"/>
            <a:chExt cx="2095" cy="808"/>
          </a:xfrm>
        </p:grpSpPr>
        <p:sp>
          <p:nvSpPr>
            <p:cNvPr id="276548" name="Line 68"/>
            <p:cNvSpPr>
              <a:spLocks noChangeShapeType="1"/>
            </p:cNvSpPr>
            <p:nvPr/>
          </p:nvSpPr>
          <p:spPr bwMode="auto">
            <a:xfrm>
              <a:off x="3428" y="1652"/>
              <a:ext cx="0" cy="21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49" name="Line 69"/>
            <p:cNvSpPr>
              <a:spLocks noChangeShapeType="1"/>
            </p:cNvSpPr>
            <p:nvPr/>
          </p:nvSpPr>
          <p:spPr bwMode="auto">
            <a:xfrm flipH="1">
              <a:off x="1333" y="1865"/>
              <a:ext cx="209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50" name="Line 70"/>
            <p:cNvSpPr>
              <a:spLocks noChangeShapeType="1"/>
            </p:cNvSpPr>
            <p:nvPr/>
          </p:nvSpPr>
          <p:spPr bwMode="auto">
            <a:xfrm>
              <a:off x="1333" y="1865"/>
              <a:ext cx="0" cy="59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51" name="Text Box 71"/>
            <p:cNvSpPr txBox="1">
              <a:spLocks noChangeArrowheads="1"/>
            </p:cNvSpPr>
            <p:nvPr/>
          </p:nvSpPr>
          <p:spPr bwMode="auto">
            <a:xfrm>
              <a:off x="3253" y="1694"/>
              <a:ext cx="175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+mn-ea"/>
                  <a:ea typeface="+mn-ea"/>
                </a:rPr>
                <a:t>Y0</a:t>
              </a:r>
            </a:p>
          </p:txBody>
        </p:sp>
      </p:grpSp>
      <p:grpSp>
        <p:nvGrpSpPr>
          <p:cNvPr id="276552" name="Group 72"/>
          <p:cNvGrpSpPr>
            <a:grpSpLocks/>
          </p:cNvGrpSpPr>
          <p:nvPr/>
        </p:nvGrpSpPr>
        <p:grpSpPr bwMode="auto">
          <a:xfrm>
            <a:off x="4240213" y="2622550"/>
            <a:ext cx="1571625" cy="1282700"/>
            <a:chOff x="2671" y="1652"/>
            <a:chExt cx="990" cy="808"/>
          </a:xfrm>
        </p:grpSpPr>
        <p:sp>
          <p:nvSpPr>
            <p:cNvPr id="276553" name="Line 73"/>
            <p:cNvSpPr>
              <a:spLocks noChangeShapeType="1"/>
            </p:cNvSpPr>
            <p:nvPr/>
          </p:nvSpPr>
          <p:spPr bwMode="auto">
            <a:xfrm>
              <a:off x="3661" y="1652"/>
              <a:ext cx="0" cy="25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54" name="Line 74"/>
            <p:cNvSpPr>
              <a:spLocks noChangeShapeType="1"/>
            </p:cNvSpPr>
            <p:nvPr/>
          </p:nvSpPr>
          <p:spPr bwMode="auto">
            <a:xfrm flipH="1">
              <a:off x="2671" y="1907"/>
              <a:ext cx="99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55" name="Line 75"/>
            <p:cNvSpPr>
              <a:spLocks noChangeShapeType="1"/>
            </p:cNvSpPr>
            <p:nvPr/>
          </p:nvSpPr>
          <p:spPr bwMode="auto">
            <a:xfrm>
              <a:off x="2671" y="1907"/>
              <a:ext cx="0" cy="55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56" name="Text Box 76"/>
            <p:cNvSpPr txBox="1">
              <a:spLocks noChangeArrowheads="1"/>
            </p:cNvSpPr>
            <p:nvPr/>
          </p:nvSpPr>
          <p:spPr bwMode="auto">
            <a:xfrm>
              <a:off x="3486" y="1694"/>
              <a:ext cx="175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+mn-ea"/>
                  <a:ea typeface="+mn-ea"/>
                </a:rPr>
                <a:t>Y1</a:t>
              </a:r>
            </a:p>
          </p:txBody>
        </p:sp>
      </p:grpSp>
      <p:grpSp>
        <p:nvGrpSpPr>
          <p:cNvPr id="276557" name="Group 77"/>
          <p:cNvGrpSpPr>
            <a:grpSpLocks/>
          </p:cNvGrpSpPr>
          <p:nvPr/>
        </p:nvGrpSpPr>
        <p:grpSpPr bwMode="auto">
          <a:xfrm>
            <a:off x="5903913" y="2622550"/>
            <a:ext cx="276225" cy="1282700"/>
            <a:chOff x="3719" y="1652"/>
            <a:chExt cx="174" cy="808"/>
          </a:xfrm>
        </p:grpSpPr>
        <p:sp>
          <p:nvSpPr>
            <p:cNvPr id="276558" name="Line 78"/>
            <p:cNvSpPr>
              <a:spLocks noChangeShapeType="1"/>
            </p:cNvSpPr>
            <p:nvPr/>
          </p:nvSpPr>
          <p:spPr bwMode="auto">
            <a:xfrm>
              <a:off x="3893" y="1652"/>
              <a:ext cx="0" cy="80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59" name="Text Box 79"/>
            <p:cNvSpPr txBox="1">
              <a:spLocks noChangeArrowheads="1"/>
            </p:cNvSpPr>
            <p:nvPr/>
          </p:nvSpPr>
          <p:spPr bwMode="auto">
            <a:xfrm>
              <a:off x="3719" y="1694"/>
              <a:ext cx="174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+mn-ea"/>
                  <a:ea typeface="+mn-ea"/>
                </a:rPr>
                <a:t>Y2</a:t>
              </a:r>
            </a:p>
          </p:txBody>
        </p:sp>
      </p:grpSp>
      <p:grpSp>
        <p:nvGrpSpPr>
          <p:cNvPr id="276560" name="Group 80"/>
          <p:cNvGrpSpPr>
            <a:grpSpLocks/>
          </p:cNvGrpSpPr>
          <p:nvPr/>
        </p:nvGrpSpPr>
        <p:grpSpPr bwMode="auto">
          <a:xfrm>
            <a:off x="6273800" y="2622550"/>
            <a:ext cx="1662113" cy="1282700"/>
            <a:chOff x="3952" y="1652"/>
            <a:chExt cx="1047" cy="808"/>
          </a:xfrm>
        </p:grpSpPr>
        <p:sp>
          <p:nvSpPr>
            <p:cNvPr id="276561" name="Line 81"/>
            <p:cNvSpPr>
              <a:spLocks noChangeShapeType="1"/>
            </p:cNvSpPr>
            <p:nvPr/>
          </p:nvSpPr>
          <p:spPr bwMode="auto">
            <a:xfrm>
              <a:off x="4126" y="1652"/>
              <a:ext cx="0" cy="25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62" name="Line 82"/>
            <p:cNvSpPr>
              <a:spLocks noChangeShapeType="1"/>
            </p:cNvSpPr>
            <p:nvPr/>
          </p:nvSpPr>
          <p:spPr bwMode="auto">
            <a:xfrm>
              <a:off x="4126" y="1907"/>
              <a:ext cx="87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63" name="Line 83"/>
            <p:cNvSpPr>
              <a:spLocks noChangeShapeType="1"/>
            </p:cNvSpPr>
            <p:nvPr/>
          </p:nvSpPr>
          <p:spPr bwMode="auto">
            <a:xfrm>
              <a:off x="4999" y="1907"/>
              <a:ext cx="0" cy="55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64" name="Text Box 84"/>
            <p:cNvSpPr txBox="1">
              <a:spLocks noChangeArrowheads="1"/>
            </p:cNvSpPr>
            <p:nvPr/>
          </p:nvSpPr>
          <p:spPr bwMode="auto">
            <a:xfrm>
              <a:off x="3952" y="1694"/>
              <a:ext cx="174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+mn-ea"/>
                  <a:ea typeface="+mn-ea"/>
                </a:rPr>
                <a:t>Y3</a:t>
              </a:r>
            </a:p>
          </p:txBody>
        </p:sp>
      </p:grpSp>
      <p:sp>
        <p:nvSpPr>
          <p:cNvPr id="276565" name="Text Box 85"/>
          <p:cNvSpPr txBox="1">
            <a:spLocks noChangeArrowheads="1"/>
          </p:cNvSpPr>
          <p:nvPr/>
        </p:nvSpPr>
        <p:spPr bwMode="auto">
          <a:xfrm>
            <a:off x="838200" y="4953000"/>
            <a:ext cx="3048000" cy="160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+mn-ea"/>
                <a:ea typeface="+mn-ea"/>
              </a:rPr>
              <a:t>A0=0</a:t>
            </a:r>
            <a:r>
              <a:rPr lang="zh-CN" altLang="en-US" sz="1800" dirty="0">
                <a:latin typeface="+mn-ea"/>
                <a:ea typeface="+mn-ea"/>
              </a:rPr>
              <a:t>，</a:t>
            </a:r>
            <a:r>
              <a:rPr lang="en-US" altLang="zh-CN" sz="1800" dirty="0">
                <a:latin typeface="+mn-ea"/>
                <a:ea typeface="+mn-ea"/>
              </a:rPr>
              <a:t>A1=0</a:t>
            </a:r>
            <a:r>
              <a:rPr lang="zh-CN" altLang="en-US" sz="1800" dirty="0">
                <a:latin typeface="+mn-ea"/>
                <a:ea typeface="+mn-ea"/>
              </a:rPr>
              <a:t>時，外設</a:t>
            </a:r>
            <a:r>
              <a:rPr lang="en-US" altLang="zh-CN" sz="1800" dirty="0">
                <a:latin typeface="+mn-ea"/>
                <a:ea typeface="+mn-ea"/>
              </a:rPr>
              <a:t>0</a:t>
            </a:r>
            <a:r>
              <a:rPr lang="zh-CN" altLang="en-US" sz="1800" dirty="0">
                <a:latin typeface="+mn-ea"/>
                <a:ea typeface="+mn-ea"/>
              </a:rPr>
              <a:t>工作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+mn-ea"/>
                <a:ea typeface="+mn-ea"/>
              </a:rPr>
              <a:t>A0=1</a:t>
            </a:r>
            <a:r>
              <a:rPr lang="zh-CN" altLang="en-US" sz="1800" dirty="0">
                <a:latin typeface="+mn-ea"/>
                <a:ea typeface="+mn-ea"/>
              </a:rPr>
              <a:t>，</a:t>
            </a:r>
            <a:r>
              <a:rPr lang="en-US" altLang="zh-CN" sz="1800" dirty="0">
                <a:latin typeface="+mn-ea"/>
                <a:ea typeface="+mn-ea"/>
              </a:rPr>
              <a:t>A1=0</a:t>
            </a:r>
            <a:r>
              <a:rPr lang="zh-CN" altLang="en-US" sz="1800" dirty="0">
                <a:latin typeface="+mn-ea"/>
                <a:ea typeface="+mn-ea"/>
              </a:rPr>
              <a:t>時，外設</a:t>
            </a:r>
            <a:r>
              <a:rPr lang="en-US" altLang="zh-CN" sz="1800" dirty="0">
                <a:latin typeface="+mn-ea"/>
                <a:ea typeface="+mn-ea"/>
              </a:rPr>
              <a:t>1</a:t>
            </a:r>
            <a:r>
              <a:rPr lang="zh-CN" altLang="en-US" sz="1800" dirty="0">
                <a:latin typeface="+mn-ea"/>
                <a:ea typeface="+mn-ea"/>
              </a:rPr>
              <a:t>工作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+mn-ea"/>
                <a:ea typeface="+mn-ea"/>
              </a:rPr>
              <a:t>A0=0</a:t>
            </a:r>
            <a:r>
              <a:rPr lang="zh-CN" altLang="en-US" sz="1800" dirty="0">
                <a:latin typeface="+mn-ea"/>
                <a:ea typeface="+mn-ea"/>
              </a:rPr>
              <a:t>，</a:t>
            </a:r>
            <a:r>
              <a:rPr lang="en-US" altLang="zh-CN" sz="1800" dirty="0">
                <a:latin typeface="+mn-ea"/>
                <a:ea typeface="+mn-ea"/>
              </a:rPr>
              <a:t>A1=1</a:t>
            </a:r>
            <a:r>
              <a:rPr lang="zh-CN" altLang="en-US" sz="1800" dirty="0">
                <a:latin typeface="+mn-ea"/>
                <a:ea typeface="+mn-ea"/>
              </a:rPr>
              <a:t>時，外設</a:t>
            </a:r>
            <a:r>
              <a:rPr lang="en-US" altLang="zh-CN" sz="1800" dirty="0">
                <a:latin typeface="+mn-ea"/>
                <a:ea typeface="+mn-ea"/>
              </a:rPr>
              <a:t>2</a:t>
            </a:r>
            <a:r>
              <a:rPr lang="zh-CN" altLang="en-US" sz="1800" dirty="0">
                <a:latin typeface="+mn-ea"/>
                <a:ea typeface="+mn-ea"/>
              </a:rPr>
              <a:t>工作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+mn-ea"/>
                <a:ea typeface="+mn-ea"/>
              </a:rPr>
              <a:t>A0=1</a:t>
            </a:r>
            <a:r>
              <a:rPr lang="zh-CN" altLang="en-US" sz="1800" dirty="0">
                <a:latin typeface="+mn-ea"/>
                <a:ea typeface="+mn-ea"/>
              </a:rPr>
              <a:t>，</a:t>
            </a:r>
            <a:r>
              <a:rPr lang="en-US" altLang="zh-CN" sz="1800" dirty="0">
                <a:latin typeface="+mn-ea"/>
                <a:ea typeface="+mn-ea"/>
              </a:rPr>
              <a:t>A1=1</a:t>
            </a:r>
            <a:r>
              <a:rPr lang="zh-CN" altLang="en-US" sz="1800" dirty="0">
                <a:latin typeface="+mn-ea"/>
                <a:ea typeface="+mn-ea"/>
              </a:rPr>
              <a:t>時，外設</a:t>
            </a:r>
            <a:r>
              <a:rPr lang="en-US" altLang="zh-CN" sz="1800" dirty="0">
                <a:latin typeface="+mn-ea"/>
                <a:ea typeface="+mn-ea"/>
              </a:rPr>
              <a:t>3</a:t>
            </a:r>
            <a:r>
              <a:rPr lang="zh-CN" altLang="en-US" sz="1800" dirty="0">
                <a:latin typeface="+mn-ea"/>
                <a:ea typeface="+mn-ea"/>
              </a:rPr>
              <a:t>工作</a:t>
            </a:r>
          </a:p>
        </p:txBody>
      </p:sp>
      <p:sp>
        <p:nvSpPr>
          <p:cNvPr id="276566" name="Text Box 86"/>
          <p:cNvSpPr txBox="1">
            <a:spLocks noChangeArrowheads="1"/>
          </p:cNvSpPr>
          <p:nvPr/>
        </p:nvSpPr>
        <p:spPr bwMode="auto">
          <a:xfrm>
            <a:off x="4800600" y="4953000"/>
            <a:ext cx="3962400" cy="160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+mn-ea"/>
                <a:ea typeface="+mn-ea"/>
              </a:rPr>
              <a:t>A0=0</a:t>
            </a:r>
            <a:r>
              <a:rPr lang="zh-CN" altLang="en-US" sz="1800" dirty="0">
                <a:latin typeface="+mn-ea"/>
                <a:ea typeface="+mn-ea"/>
              </a:rPr>
              <a:t>，</a:t>
            </a:r>
            <a:r>
              <a:rPr lang="en-US" altLang="zh-CN" sz="1800" dirty="0">
                <a:latin typeface="+mn-ea"/>
                <a:ea typeface="+mn-ea"/>
              </a:rPr>
              <a:t>A1=0</a:t>
            </a:r>
            <a:r>
              <a:rPr lang="zh-CN" altLang="en-US" sz="1800" dirty="0">
                <a:latin typeface="+mn-ea"/>
                <a:ea typeface="+mn-ea"/>
              </a:rPr>
              <a:t>時，</a:t>
            </a:r>
            <a:r>
              <a:rPr lang="en-US" altLang="zh-CN" sz="1800" dirty="0">
                <a:latin typeface="+mn-ea"/>
                <a:ea typeface="+mn-ea"/>
              </a:rPr>
              <a:t>Y0=0</a:t>
            </a:r>
            <a:r>
              <a:rPr lang="zh-CN" altLang="en-US" sz="1800" dirty="0">
                <a:latin typeface="+mn-ea"/>
                <a:ea typeface="+mn-ea"/>
              </a:rPr>
              <a:t>，</a:t>
            </a:r>
            <a:r>
              <a:rPr lang="en-US" altLang="zh-CN" sz="1800" dirty="0">
                <a:latin typeface="+mn-ea"/>
                <a:ea typeface="+mn-ea"/>
              </a:rPr>
              <a:t>Y1,Y2,Y3=1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+mn-ea"/>
                <a:ea typeface="+mn-ea"/>
              </a:rPr>
              <a:t>A0=1</a:t>
            </a:r>
            <a:r>
              <a:rPr lang="zh-CN" altLang="en-US" sz="1800" dirty="0">
                <a:latin typeface="+mn-ea"/>
                <a:ea typeface="+mn-ea"/>
              </a:rPr>
              <a:t>，</a:t>
            </a:r>
            <a:r>
              <a:rPr lang="en-US" altLang="zh-CN" sz="1800" dirty="0">
                <a:latin typeface="+mn-ea"/>
                <a:ea typeface="+mn-ea"/>
              </a:rPr>
              <a:t>A1=0</a:t>
            </a:r>
            <a:r>
              <a:rPr lang="zh-CN" altLang="en-US" sz="1800" dirty="0">
                <a:latin typeface="+mn-ea"/>
                <a:ea typeface="+mn-ea"/>
              </a:rPr>
              <a:t>時，</a:t>
            </a:r>
            <a:r>
              <a:rPr lang="en-US" altLang="zh-CN" sz="1800" dirty="0">
                <a:latin typeface="+mn-ea"/>
                <a:ea typeface="+mn-ea"/>
              </a:rPr>
              <a:t>Y1=0</a:t>
            </a:r>
            <a:r>
              <a:rPr lang="zh-CN" altLang="en-US" sz="1800" dirty="0">
                <a:latin typeface="+mn-ea"/>
                <a:ea typeface="+mn-ea"/>
              </a:rPr>
              <a:t>，</a:t>
            </a:r>
            <a:r>
              <a:rPr lang="en-US" altLang="zh-CN" sz="1800" dirty="0">
                <a:latin typeface="+mn-ea"/>
                <a:ea typeface="+mn-ea"/>
              </a:rPr>
              <a:t>Y0,Y2,Y3=1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+mn-ea"/>
                <a:ea typeface="+mn-ea"/>
              </a:rPr>
              <a:t>A0=0</a:t>
            </a:r>
            <a:r>
              <a:rPr lang="zh-CN" altLang="en-US" sz="1800" dirty="0">
                <a:latin typeface="+mn-ea"/>
                <a:ea typeface="+mn-ea"/>
              </a:rPr>
              <a:t>，</a:t>
            </a:r>
            <a:r>
              <a:rPr lang="en-US" altLang="zh-CN" sz="1800" dirty="0">
                <a:latin typeface="+mn-ea"/>
                <a:ea typeface="+mn-ea"/>
              </a:rPr>
              <a:t>A1=1</a:t>
            </a:r>
            <a:r>
              <a:rPr lang="zh-CN" altLang="en-US" sz="1800" dirty="0">
                <a:latin typeface="+mn-ea"/>
                <a:ea typeface="+mn-ea"/>
              </a:rPr>
              <a:t>時，</a:t>
            </a:r>
            <a:r>
              <a:rPr lang="en-US" altLang="zh-CN" sz="1800" dirty="0">
                <a:latin typeface="+mn-ea"/>
                <a:ea typeface="+mn-ea"/>
              </a:rPr>
              <a:t>Y2=0</a:t>
            </a:r>
            <a:r>
              <a:rPr lang="zh-CN" altLang="en-US" sz="1800" dirty="0">
                <a:latin typeface="+mn-ea"/>
                <a:ea typeface="+mn-ea"/>
              </a:rPr>
              <a:t>，</a:t>
            </a:r>
            <a:r>
              <a:rPr lang="en-US" altLang="zh-CN" sz="1800" dirty="0">
                <a:latin typeface="+mn-ea"/>
                <a:ea typeface="+mn-ea"/>
              </a:rPr>
              <a:t>Y0,Y1,Y3=1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+mn-ea"/>
                <a:ea typeface="+mn-ea"/>
              </a:rPr>
              <a:t>A0=1</a:t>
            </a:r>
            <a:r>
              <a:rPr lang="zh-CN" altLang="en-US" sz="1800" dirty="0">
                <a:latin typeface="+mn-ea"/>
                <a:ea typeface="+mn-ea"/>
              </a:rPr>
              <a:t>，</a:t>
            </a:r>
            <a:r>
              <a:rPr lang="en-US" altLang="zh-CN" sz="1800" dirty="0">
                <a:latin typeface="+mn-ea"/>
                <a:ea typeface="+mn-ea"/>
              </a:rPr>
              <a:t>A1=1</a:t>
            </a:r>
            <a:r>
              <a:rPr lang="zh-CN" altLang="en-US" sz="1800" dirty="0">
                <a:latin typeface="+mn-ea"/>
                <a:ea typeface="+mn-ea"/>
              </a:rPr>
              <a:t>時，</a:t>
            </a:r>
            <a:r>
              <a:rPr lang="en-US" altLang="zh-CN" sz="1800" dirty="0">
                <a:latin typeface="+mn-ea"/>
                <a:ea typeface="+mn-ea"/>
              </a:rPr>
              <a:t>Y3=0</a:t>
            </a:r>
            <a:r>
              <a:rPr lang="zh-CN" altLang="en-US" sz="1800" dirty="0">
                <a:latin typeface="+mn-ea"/>
                <a:ea typeface="+mn-ea"/>
              </a:rPr>
              <a:t>，</a:t>
            </a:r>
            <a:r>
              <a:rPr lang="en-US" altLang="zh-CN" sz="1800" dirty="0">
                <a:latin typeface="+mn-ea"/>
                <a:ea typeface="+mn-ea"/>
              </a:rPr>
              <a:t>Y0,Y1,Y2=1</a:t>
            </a:r>
          </a:p>
        </p:txBody>
      </p:sp>
      <p:sp>
        <p:nvSpPr>
          <p:cNvPr id="276567" name="Text Box 87"/>
          <p:cNvSpPr txBox="1">
            <a:spLocks noChangeArrowheads="1"/>
          </p:cNvSpPr>
          <p:nvPr/>
        </p:nvSpPr>
        <p:spPr bwMode="auto">
          <a:xfrm>
            <a:off x="152400" y="4953000"/>
            <a:ext cx="9144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+mn-ea"/>
                <a:ea typeface="+mn-ea"/>
              </a:rPr>
              <a:t>功能級設計要求：</a:t>
            </a:r>
          </a:p>
        </p:txBody>
      </p:sp>
      <p:sp>
        <p:nvSpPr>
          <p:cNvPr id="276568" name="Text Box 88"/>
          <p:cNvSpPr txBox="1">
            <a:spLocks noChangeArrowheads="1"/>
          </p:cNvSpPr>
          <p:nvPr/>
        </p:nvSpPr>
        <p:spPr bwMode="auto">
          <a:xfrm>
            <a:off x="4038600" y="4953000"/>
            <a:ext cx="9144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+mn-ea"/>
                <a:ea typeface="+mn-ea"/>
              </a:rPr>
              <a:t>信號級設計要求：</a:t>
            </a:r>
          </a:p>
        </p:txBody>
      </p:sp>
    </p:spTree>
    <p:extLst>
      <p:ext uri="{BB962C8B-B14F-4D97-AF65-F5344CB8AC3E}">
        <p14:creationId xmlns:p14="http://schemas.microsoft.com/office/powerpoint/2010/main" val="49171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6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7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76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7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6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7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76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7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7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276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276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500"/>
                                        <p:tgtEl>
                                          <p:spTgt spid="276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6" dur="500"/>
                                        <p:tgtEl>
                                          <p:spTgt spid="276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9" dur="500"/>
                                        <p:tgtEl>
                                          <p:spTgt spid="276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276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3" grpId="0" animBg="1"/>
      <p:bldP spid="276484" grpId="0" animBg="1"/>
      <p:bldP spid="276485" grpId="0" animBg="1"/>
      <p:bldP spid="276489" grpId="0" animBg="1"/>
      <p:bldP spid="276490" grpId="0" animBg="1"/>
      <p:bldP spid="276491" grpId="0" animBg="1"/>
      <p:bldP spid="276565" grpId="0" autoUpdateAnimBg="0"/>
      <p:bldP spid="276566" grpId="0" autoUpdateAnimBg="0"/>
      <p:bldP spid="276567" grpId="0" autoUpdateAnimBg="0"/>
      <p:bldP spid="27656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10</a:t>
            </a:r>
            <a:r>
              <a:rPr lang="zh-CN" altLang="en-US" sz="3600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A2958-7F4F-40CB-8EED-D3B32C89462D}" type="slidenum">
              <a:rPr lang="en-US" altLang="zh-CN">
                <a:latin typeface="+mn-ea"/>
                <a:ea typeface="+mn-ea"/>
              </a:rPr>
              <a:pPr/>
              <a:t>14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77507" name="Rectangle 1027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有使能端的</a:t>
            </a:r>
            <a:r>
              <a:rPr lang="en-US" altLang="zh-CN" dirty="0">
                <a:latin typeface="+mn-ea"/>
              </a:rPr>
              <a:t>2-4</a:t>
            </a:r>
            <a:r>
              <a:rPr lang="zh-CN" altLang="en-US" dirty="0">
                <a:latin typeface="+mn-ea"/>
              </a:rPr>
              <a:t>解碼器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由於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－</a:t>
            </a:r>
            <a:r>
              <a:rPr lang="en-US" altLang="zh-CN" dirty="0">
                <a:latin typeface="+mn-ea"/>
              </a:rPr>
              <a:t>4</a:t>
            </a:r>
            <a:r>
              <a:rPr lang="zh-CN" altLang="en-US" dirty="0">
                <a:latin typeface="+mn-ea"/>
              </a:rPr>
              <a:t>解碼器的</a:t>
            </a:r>
            <a:r>
              <a:rPr lang="en-US" altLang="zh-CN" dirty="0">
                <a:latin typeface="+mn-ea"/>
              </a:rPr>
              <a:t>4</a:t>
            </a:r>
            <a:r>
              <a:rPr lang="zh-CN" altLang="en-US" dirty="0">
                <a:latin typeface="+mn-ea"/>
              </a:rPr>
              <a:t>個輸出是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輸入的邏輯組合，任何一種組合都會有一個輸出有效</a:t>
            </a:r>
          </a:p>
          <a:p>
            <a:pPr lvl="1"/>
            <a:r>
              <a:rPr lang="zh-CN" altLang="en-US" dirty="0">
                <a:latin typeface="+mn-ea"/>
              </a:rPr>
              <a:t>要使所有輸出無效（輸出為高），就需要增加附加邏輯</a:t>
            </a:r>
            <a:r>
              <a:rPr lang="en-US" altLang="zh-CN" dirty="0">
                <a:latin typeface="+mn-ea"/>
              </a:rPr>
              <a:t>——</a:t>
            </a:r>
            <a:r>
              <a:rPr lang="zh-CN" altLang="en-US" dirty="0">
                <a:latin typeface="+mn-ea"/>
              </a:rPr>
              <a:t>使能（</a:t>
            </a:r>
            <a:r>
              <a:rPr lang="en-US" altLang="zh-CN" dirty="0">
                <a:latin typeface="+mn-ea"/>
              </a:rPr>
              <a:t>Enable)</a:t>
            </a:r>
          </a:p>
        </p:txBody>
      </p:sp>
    </p:spTree>
    <p:extLst>
      <p:ext uri="{BB962C8B-B14F-4D97-AF65-F5344CB8AC3E}">
        <p14:creationId xmlns:p14="http://schemas.microsoft.com/office/powerpoint/2010/main" val="2477677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11</a:t>
            </a:r>
            <a:r>
              <a:rPr lang="zh-CN" altLang="en-US" sz="3600" dirty="0"/>
              <a:t>）</a:t>
            </a: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D04E8-F864-4B5E-8912-9542FD1CF404}" type="slidenum">
              <a:rPr lang="en-US" altLang="zh-CN">
                <a:latin typeface="+mn-ea"/>
                <a:ea typeface="+mn-ea"/>
              </a:rPr>
              <a:pPr/>
              <a:t>15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785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有使能端   的</a:t>
            </a:r>
            <a:r>
              <a:rPr lang="en-US" altLang="zh-CN" dirty="0">
                <a:latin typeface="+mn-ea"/>
              </a:rPr>
              <a:t>2-4</a:t>
            </a:r>
            <a:r>
              <a:rPr lang="zh-CN" altLang="en-US" dirty="0">
                <a:latin typeface="+mn-ea"/>
              </a:rPr>
              <a:t>解碼器</a:t>
            </a:r>
          </a:p>
          <a:p>
            <a:pPr lvl="1"/>
            <a:r>
              <a:rPr lang="zh-CN" altLang="en-US" b="1" dirty="0">
                <a:effectLst/>
                <a:latin typeface="+mn-ea"/>
              </a:rPr>
              <a:t>在普通的</a:t>
            </a:r>
            <a:r>
              <a:rPr lang="en-US" altLang="zh-CN" b="1" dirty="0">
                <a:effectLst/>
                <a:latin typeface="+mn-ea"/>
              </a:rPr>
              <a:t>2</a:t>
            </a:r>
            <a:r>
              <a:rPr lang="zh-CN" altLang="en-US" b="1" dirty="0">
                <a:effectLst/>
                <a:latin typeface="+mn-ea"/>
              </a:rPr>
              <a:t>－</a:t>
            </a:r>
            <a:r>
              <a:rPr lang="en-US" altLang="zh-CN" b="1" dirty="0">
                <a:effectLst/>
                <a:latin typeface="+mn-ea"/>
              </a:rPr>
              <a:t>4</a:t>
            </a:r>
            <a:r>
              <a:rPr lang="zh-CN" altLang="en-US" b="1" dirty="0">
                <a:effectLst/>
                <a:latin typeface="+mn-ea"/>
              </a:rPr>
              <a:t>解碼器中設置使能端（</a:t>
            </a:r>
            <a:r>
              <a:rPr lang="en-US" altLang="zh-CN" b="1" dirty="0">
                <a:effectLst/>
                <a:latin typeface="+mn-ea"/>
              </a:rPr>
              <a:t>Enable</a:t>
            </a:r>
            <a:r>
              <a:rPr lang="zh-CN" altLang="en-US" b="1" dirty="0">
                <a:effectLst/>
                <a:latin typeface="+mn-ea"/>
              </a:rPr>
              <a:t>）</a:t>
            </a:r>
          </a:p>
        </p:txBody>
      </p:sp>
      <p:graphicFrame>
        <p:nvGraphicFramePr>
          <p:cNvPr id="2785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794732"/>
              </p:ext>
            </p:extLst>
          </p:nvPr>
        </p:nvGraphicFramePr>
        <p:xfrm>
          <a:off x="3347864" y="1484784"/>
          <a:ext cx="4000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2280" imgH="215640" progId="Equation.3">
                  <p:embed/>
                </p:oleObj>
              </mc:Choice>
              <mc:Fallback>
                <p:oleObj name="公式" r:id="rId2" imgW="152280" imgH="215640" progId="Equation.3">
                  <p:embed/>
                  <p:pic>
                    <p:nvPicPr>
                      <p:cNvPr id="278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1484784"/>
                        <a:ext cx="40005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8534" name="Group 6"/>
          <p:cNvGrpSpPr>
            <a:grpSpLocks/>
          </p:cNvGrpSpPr>
          <p:nvPr/>
        </p:nvGrpSpPr>
        <p:grpSpPr bwMode="auto">
          <a:xfrm>
            <a:off x="5029200" y="2895600"/>
            <a:ext cx="3480769" cy="3044825"/>
            <a:chOff x="657" y="1146"/>
            <a:chExt cx="1905" cy="1918"/>
          </a:xfrm>
        </p:grpSpPr>
        <p:sp>
          <p:nvSpPr>
            <p:cNvPr id="278535" name="Text Box 7"/>
            <p:cNvSpPr txBox="1">
              <a:spLocks noChangeArrowheads="1"/>
            </p:cNvSpPr>
            <p:nvPr/>
          </p:nvSpPr>
          <p:spPr bwMode="auto">
            <a:xfrm>
              <a:off x="1156" y="1146"/>
              <a:ext cx="8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功能表</a:t>
              </a:r>
            </a:p>
          </p:txBody>
        </p:sp>
        <p:sp>
          <p:nvSpPr>
            <p:cNvPr id="278536" name="Rectangle 8"/>
            <p:cNvSpPr>
              <a:spLocks noChangeArrowheads="1"/>
            </p:cNvSpPr>
            <p:nvPr/>
          </p:nvSpPr>
          <p:spPr bwMode="auto">
            <a:xfrm>
              <a:off x="1491" y="2815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1  1  1  0</a:t>
              </a:r>
            </a:p>
          </p:txBody>
        </p:sp>
        <p:sp>
          <p:nvSpPr>
            <p:cNvPr id="278537" name="Rectangle 9"/>
            <p:cNvSpPr>
              <a:spLocks noChangeArrowheads="1"/>
            </p:cNvSpPr>
            <p:nvPr/>
          </p:nvSpPr>
          <p:spPr bwMode="auto">
            <a:xfrm>
              <a:off x="657" y="2815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0  1  1</a:t>
              </a:r>
            </a:p>
          </p:txBody>
        </p:sp>
        <p:sp>
          <p:nvSpPr>
            <p:cNvPr id="278538" name="Rectangle 10"/>
            <p:cNvSpPr>
              <a:spLocks noChangeArrowheads="1"/>
            </p:cNvSpPr>
            <p:nvPr/>
          </p:nvSpPr>
          <p:spPr bwMode="auto">
            <a:xfrm>
              <a:off x="1491" y="2566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1  1  0  1</a:t>
              </a:r>
            </a:p>
          </p:txBody>
        </p:sp>
        <p:sp>
          <p:nvSpPr>
            <p:cNvPr id="278539" name="Rectangle 11"/>
            <p:cNvSpPr>
              <a:spLocks noChangeArrowheads="1"/>
            </p:cNvSpPr>
            <p:nvPr/>
          </p:nvSpPr>
          <p:spPr bwMode="auto">
            <a:xfrm>
              <a:off x="657" y="256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0  0  1</a:t>
              </a:r>
            </a:p>
          </p:txBody>
        </p:sp>
        <p:sp>
          <p:nvSpPr>
            <p:cNvPr id="278540" name="Rectangle 12"/>
            <p:cNvSpPr>
              <a:spLocks noChangeArrowheads="1"/>
            </p:cNvSpPr>
            <p:nvPr/>
          </p:nvSpPr>
          <p:spPr bwMode="auto">
            <a:xfrm>
              <a:off x="1491" y="2317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1  0  1  1</a:t>
              </a:r>
            </a:p>
          </p:txBody>
        </p:sp>
        <p:sp>
          <p:nvSpPr>
            <p:cNvPr id="278541" name="Rectangle 13"/>
            <p:cNvSpPr>
              <a:spLocks noChangeArrowheads="1"/>
            </p:cNvSpPr>
            <p:nvPr/>
          </p:nvSpPr>
          <p:spPr bwMode="auto">
            <a:xfrm>
              <a:off x="657" y="2317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0  1  0</a:t>
              </a:r>
            </a:p>
          </p:txBody>
        </p:sp>
        <p:sp>
          <p:nvSpPr>
            <p:cNvPr id="278542" name="Rectangle 14"/>
            <p:cNvSpPr>
              <a:spLocks noChangeArrowheads="1"/>
            </p:cNvSpPr>
            <p:nvPr/>
          </p:nvSpPr>
          <p:spPr bwMode="auto">
            <a:xfrm>
              <a:off x="1491" y="2068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0  1  1  1</a:t>
              </a:r>
            </a:p>
          </p:txBody>
        </p:sp>
        <p:sp>
          <p:nvSpPr>
            <p:cNvPr id="278543" name="Rectangle 15"/>
            <p:cNvSpPr>
              <a:spLocks noChangeArrowheads="1"/>
            </p:cNvSpPr>
            <p:nvPr/>
          </p:nvSpPr>
          <p:spPr bwMode="auto">
            <a:xfrm>
              <a:off x="657" y="2068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0  0  0</a:t>
              </a:r>
            </a:p>
          </p:txBody>
        </p:sp>
        <p:sp>
          <p:nvSpPr>
            <p:cNvPr id="278544" name="Rectangle 16"/>
            <p:cNvSpPr>
              <a:spLocks noChangeArrowheads="1"/>
            </p:cNvSpPr>
            <p:nvPr/>
          </p:nvSpPr>
          <p:spPr bwMode="auto">
            <a:xfrm>
              <a:off x="1491" y="1819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solidFill>
                    <a:srgbClr val="CC00FF"/>
                  </a:solidFill>
                  <a:latin typeface="+mn-ea"/>
                  <a:ea typeface="+mn-ea"/>
                </a:rPr>
                <a:t>1  1  1  1</a:t>
              </a:r>
            </a:p>
          </p:txBody>
        </p:sp>
        <p:sp>
          <p:nvSpPr>
            <p:cNvPr id="278545" name="Rectangle 17"/>
            <p:cNvSpPr>
              <a:spLocks noChangeArrowheads="1"/>
            </p:cNvSpPr>
            <p:nvPr/>
          </p:nvSpPr>
          <p:spPr bwMode="auto">
            <a:xfrm>
              <a:off x="657" y="1819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solidFill>
                    <a:srgbClr val="CC00FF"/>
                  </a:solidFill>
                  <a:latin typeface="+mn-ea"/>
                  <a:ea typeface="+mn-ea"/>
                </a:rPr>
                <a:t>1  X  </a:t>
              </a:r>
              <a:r>
                <a:rPr lang="en-US" altLang="zh-CN" b="1" dirty="0" err="1">
                  <a:solidFill>
                    <a:srgbClr val="CC00FF"/>
                  </a:solidFill>
                  <a:latin typeface="+mn-ea"/>
                  <a:ea typeface="+mn-ea"/>
                </a:rPr>
                <a:t>X</a:t>
              </a:r>
              <a:endParaRPr lang="en-US" altLang="zh-CN" b="1" dirty="0">
                <a:solidFill>
                  <a:srgbClr val="CC00FF"/>
                </a:solidFill>
                <a:latin typeface="+mn-ea"/>
                <a:ea typeface="+mn-ea"/>
              </a:endParaRPr>
            </a:p>
          </p:txBody>
        </p:sp>
        <p:sp>
          <p:nvSpPr>
            <p:cNvPr id="278546" name="Rectangle 18"/>
            <p:cNvSpPr>
              <a:spLocks noChangeArrowheads="1"/>
            </p:cNvSpPr>
            <p:nvPr/>
          </p:nvSpPr>
          <p:spPr bwMode="auto">
            <a:xfrm>
              <a:off x="1491" y="1570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0  </a:t>
              </a: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1  </a:t>
              </a: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2  </a:t>
              </a: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278547" name="Rectangle 19"/>
            <p:cNvSpPr>
              <a:spLocks noChangeArrowheads="1"/>
            </p:cNvSpPr>
            <p:nvPr/>
          </p:nvSpPr>
          <p:spPr bwMode="auto">
            <a:xfrm>
              <a:off x="657" y="1570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   A  B</a:t>
              </a:r>
            </a:p>
          </p:txBody>
        </p:sp>
        <p:sp>
          <p:nvSpPr>
            <p:cNvPr id="278548" name="Line 20"/>
            <p:cNvSpPr>
              <a:spLocks noChangeShapeType="1"/>
            </p:cNvSpPr>
            <p:nvPr/>
          </p:nvSpPr>
          <p:spPr bwMode="auto">
            <a:xfrm>
              <a:off x="657" y="1570"/>
              <a:ext cx="190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8549" name="Line 21"/>
            <p:cNvSpPr>
              <a:spLocks noChangeShapeType="1"/>
            </p:cNvSpPr>
            <p:nvPr/>
          </p:nvSpPr>
          <p:spPr bwMode="auto">
            <a:xfrm>
              <a:off x="657" y="1819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8550" name="Line 22"/>
            <p:cNvSpPr>
              <a:spLocks noChangeShapeType="1"/>
            </p:cNvSpPr>
            <p:nvPr/>
          </p:nvSpPr>
          <p:spPr bwMode="auto">
            <a:xfrm>
              <a:off x="657" y="2068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8551" name="Line 23"/>
            <p:cNvSpPr>
              <a:spLocks noChangeShapeType="1"/>
            </p:cNvSpPr>
            <p:nvPr/>
          </p:nvSpPr>
          <p:spPr bwMode="auto">
            <a:xfrm>
              <a:off x="657" y="2317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b="1">
                <a:latin typeface="+mn-ea"/>
                <a:ea typeface="+mn-ea"/>
              </a:endParaRPr>
            </a:p>
          </p:txBody>
        </p:sp>
        <p:sp>
          <p:nvSpPr>
            <p:cNvPr id="278552" name="Line 24"/>
            <p:cNvSpPr>
              <a:spLocks noChangeShapeType="1"/>
            </p:cNvSpPr>
            <p:nvPr/>
          </p:nvSpPr>
          <p:spPr bwMode="auto">
            <a:xfrm>
              <a:off x="657" y="2566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8553" name="Line 25"/>
            <p:cNvSpPr>
              <a:spLocks noChangeShapeType="1"/>
            </p:cNvSpPr>
            <p:nvPr/>
          </p:nvSpPr>
          <p:spPr bwMode="auto">
            <a:xfrm>
              <a:off x="657" y="2815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8554" name="Line 26"/>
            <p:cNvSpPr>
              <a:spLocks noChangeShapeType="1"/>
            </p:cNvSpPr>
            <p:nvPr/>
          </p:nvSpPr>
          <p:spPr bwMode="auto">
            <a:xfrm>
              <a:off x="657" y="3064"/>
              <a:ext cx="190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b="1">
                <a:latin typeface="+mn-ea"/>
                <a:ea typeface="+mn-ea"/>
              </a:endParaRPr>
            </a:p>
          </p:txBody>
        </p:sp>
        <p:sp>
          <p:nvSpPr>
            <p:cNvPr id="278555" name="Line 27"/>
            <p:cNvSpPr>
              <a:spLocks noChangeShapeType="1"/>
            </p:cNvSpPr>
            <p:nvPr/>
          </p:nvSpPr>
          <p:spPr bwMode="auto">
            <a:xfrm>
              <a:off x="657" y="1570"/>
              <a:ext cx="0" cy="149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8556" name="Line 28"/>
            <p:cNvSpPr>
              <a:spLocks noChangeShapeType="1"/>
            </p:cNvSpPr>
            <p:nvPr/>
          </p:nvSpPr>
          <p:spPr bwMode="auto">
            <a:xfrm>
              <a:off x="1491" y="1570"/>
              <a:ext cx="0" cy="14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8557" name="Line 29"/>
            <p:cNvSpPr>
              <a:spLocks noChangeShapeType="1"/>
            </p:cNvSpPr>
            <p:nvPr/>
          </p:nvSpPr>
          <p:spPr bwMode="auto">
            <a:xfrm>
              <a:off x="2562" y="1570"/>
              <a:ext cx="0" cy="149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8559" name="Group 31"/>
          <p:cNvGrpSpPr>
            <a:grpSpLocks/>
          </p:cNvGrpSpPr>
          <p:nvPr/>
        </p:nvGrpSpPr>
        <p:grpSpPr bwMode="auto">
          <a:xfrm>
            <a:off x="914400" y="3583161"/>
            <a:ext cx="3271838" cy="1069975"/>
            <a:chOff x="576" y="1920"/>
            <a:chExt cx="2061" cy="674"/>
          </a:xfrm>
        </p:grpSpPr>
        <p:sp>
          <p:nvSpPr>
            <p:cNvPr id="278561" name="Rectangle 33"/>
            <p:cNvSpPr>
              <a:spLocks noChangeArrowheads="1"/>
            </p:cNvSpPr>
            <p:nvPr/>
          </p:nvSpPr>
          <p:spPr bwMode="auto">
            <a:xfrm>
              <a:off x="576" y="1920"/>
              <a:ext cx="20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當   ＝</a:t>
              </a:r>
              <a:r>
                <a:rPr lang="en-US" altLang="zh-CN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0</a:t>
              </a: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，解碼器使能 </a:t>
              </a:r>
            </a:p>
          </p:txBody>
        </p:sp>
        <p:sp>
          <p:nvSpPr>
            <p:cNvPr id="278564" name="Rectangle 36"/>
            <p:cNvSpPr>
              <a:spLocks noChangeArrowheads="1"/>
            </p:cNvSpPr>
            <p:nvPr/>
          </p:nvSpPr>
          <p:spPr bwMode="auto">
            <a:xfrm>
              <a:off x="576" y="2303"/>
              <a:ext cx="192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當   ＝</a:t>
              </a:r>
              <a:r>
                <a:rPr lang="en-US" altLang="zh-CN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</a:t>
              </a: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，解碼器禁止</a:t>
              </a:r>
            </a:p>
          </p:txBody>
        </p:sp>
      </p:grpSp>
      <p:graphicFrame>
        <p:nvGraphicFramePr>
          <p:cNvPr id="482338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480644"/>
              </p:ext>
            </p:extLst>
          </p:nvPr>
        </p:nvGraphicFramePr>
        <p:xfrm>
          <a:off x="1285852" y="3517132"/>
          <a:ext cx="393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2280" imgH="215640" progId="Equation.3">
                  <p:embed/>
                </p:oleObj>
              </mc:Choice>
              <mc:Fallback>
                <p:oleObj name="公式" r:id="rId2" imgW="152280" imgH="215640" progId="Equation.3">
                  <p:embed/>
                  <p:pic>
                    <p:nvPicPr>
                      <p:cNvPr id="482338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52" y="3517132"/>
                        <a:ext cx="3937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39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6090906"/>
              </p:ext>
            </p:extLst>
          </p:nvPr>
        </p:nvGraphicFramePr>
        <p:xfrm>
          <a:off x="1285852" y="4075932"/>
          <a:ext cx="393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2280" imgH="215640" progId="Equation.3">
                  <p:embed/>
                </p:oleObj>
              </mc:Choice>
              <mc:Fallback>
                <p:oleObj name="公式" r:id="rId2" imgW="152280" imgH="215640" progId="Equation.3">
                  <p:embed/>
                  <p:pic>
                    <p:nvPicPr>
                      <p:cNvPr id="482339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52" y="4075932"/>
                        <a:ext cx="3937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4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362876"/>
              </p:ext>
            </p:extLst>
          </p:nvPr>
        </p:nvGraphicFramePr>
        <p:xfrm>
          <a:off x="5231843" y="3571876"/>
          <a:ext cx="276261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2280" imgH="215640" progId="Equation.3">
                  <p:embed/>
                </p:oleObj>
              </mc:Choice>
              <mc:Fallback>
                <p:oleObj name="公式" r:id="rId2" imgW="152280" imgH="215640" progId="Equation.3">
                  <p:embed/>
                  <p:pic>
                    <p:nvPicPr>
                      <p:cNvPr id="48234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1843" y="3571876"/>
                        <a:ext cx="276261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7225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73" name="Rectangle 21"/>
          <p:cNvSpPr>
            <a:spLocks noGrp="1" noChangeArrowheads="1"/>
          </p:cNvSpPr>
          <p:nvPr>
            <p:ph type="title"/>
          </p:nvPr>
        </p:nvSpPr>
        <p:spPr>
          <a:xfrm>
            <a:off x="679450" y="304800"/>
            <a:ext cx="7788275" cy="644525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3.3.1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12</a:t>
            </a:r>
            <a:r>
              <a:rPr lang="zh-CN" altLang="en-US" sz="3600" dirty="0"/>
              <a:t>）</a:t>
            </a:r>
          </a:p>
        </p:txBody>
      </p:sp>
      <p:sp>
        <p:nvSpPr>
          <p:cNvPr id="5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E8FEA-DEDE-42ED-8AE0-F37EA762ED24}" type="slidenum">
              <a:rPr lang="en-US" altLang="zh-CN">
                <a:latin typeface="+mn-ea"/>
                <a:ea typeface="+mn-ea"/>
              </a:rPr>
              <a:pPr/>
              <a:t>16</a:t>
            </a:fld>
            <a:endParaRPr lang="en-US" altLang="zh-CN" dirty="0">
              <a:latin typeface="+mn-ea"/>
              <a:ea typeface="+mn-ea"/>
            </a:endParaRPr>
          </a:p>
        </p:txBody>
      </p:sp>
      <p:graphicFrame>
        <p:nvGraphicFramePr>
          <p:cNvPr id="279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427183"/>
              </p:ext>
            </p:extLst>
          </p:nvPr>
        </p:nvGraphicFramePr>
        <p:xfrm>
          <a:off x="4674860" y="2580324"/>
          <a:ext cx="1746250" cy="269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74360" imgH="1193760" progId="Equation.3">
                  <p:embed/>
                </p:oleObj>
              </mc:Choice>
              <mc:Fallback>
                <p:oleObj name="公式" r:id="rId2" imgW="774360" imgH="1193760" progId="Equation.3">
                  <p:embed/>
                  <p:pic>
                    <p:nvPicPr>
                      <p:cNvPr id="2795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4860" y="2580324"/>
                        <a:ext cx="1746250" cy="269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9575" name="Group 23"/>
          <p:cNvGrpSpPr>
            <a:grpSpLocks/>
          </p:cNvGrpSpPr>
          <p:nvPr/>
        </p:nvGrpSpPr>
        <p:grpSpPr bwMode="auto">
          <a:xfrm>
            <a:off x="1014413" y="2212975"/>
            <a:ext cx="3485579" cy="3044825"/>
            <a:chOff x="657" y="1146"/>
            <a:chExt cx="1905" cy="1918"/>
          </a:xfrm>
        </p:grpSpPr>
        <p:sp>
          <p:nvSpPr>
            <p:cNvPr id="279576" name="Text Box 24"/>
            <p:cNvSpPr txBox="1">
              <a:spLocks noChangeArrowheads="1"/>
            </p:cNvSpPr>
            <p:nvPr/>
          </p:nvSpPr>
          <p:spPr bwMode="auto">
            <a:xfrm>
              <a:off x="1156" y="1146"/>
              <a:ext cx="8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功能表</a:t>
              </a:r>
            </a:p>
          </p:txBody>
        </p:sp>
        <p:sp>
          <p:nvSpPr>
            <p:cNvPr id="279577" name="Rectangle 25"/>
            <p:cNvSpPr>
              <a:spLocks noChangeArrowheads="1"/>
            </p:cNvSpPr>
            <p:nvPr/>
          </p:nvSpPr>
          <p:spPr bwMode="auto">
            <a:xfrm>
              <a:off x="1491" y="2815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1  1  1  0</a:t>
              </a:r>
            </a:p>
          </p:txBody>
        </p:sp>
        <p:sp>
          <p:nvSpPr>
            <p:cNvPr id="279578" name="Rectangle 26"/>
            <p:cNvSpPr>
              <a:spLocks noChangeArrowheads="1"/>
            </p:cNvSpPr>
            <p:nvPr/>
          </p:nvSpPr>
          <p:spPr bwMode="auto">
            <a:xfrm>
              <a:off x="657" y="2815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0  1  1</a:t>
              </a:r>
            </a:p>
          </p:txBody>
        </p:sp>
        <p:sp>
          <p:nvSpPr>
            <p:cNvPr id="279579" name="Rectangle 27"/>
            <p:cNvSpPr>
              <a:spLocks noChangeArrowheads="1"/>
            </p:cNvSpPr>
            <p:nvPr/>
          </p:nvSpPr>
          <p:spPr bwMode="auto">
            <a:xfrm>
              <a:off x="1491" y="2566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1  1  0  1</a:t>
              </a:r>
            </a:p>
          </p:txBody>
        </p:sp>
        <p:sp>
          <p:nvSpPr>
            <p:cNvPr id="279580" name="Rectangle 28"/>
            <p:cNvSpPr>
              <a:spLocks noChangeArrowheads="1"/>
            </p:cNvSpPr>
            <p:nvPr/>
          </p:nvSpPr>
          <p:spPr bwMode="auto">
            <a:xfrm>
              <a:off x="657" y="256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0  0  1</a:t>
              </a:r>
            </a:p>
          </p:txBody>
        </p:sp>
        <p:sp>
          <p:nvSpPr>
            <p:cNvPr id="279581" name="Rectangle 29"/>
            <p:cNvSpPr>
              <a:spLocks noChangeArrowheads="1"/>
            </p:cNvSpPr>
            <p:nvPr/>
          </p:nvSpPr>
          <p:spPr bwMode="auto">
            <a:xfrm>
              <a:off x="1491" y="2317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1  0  1  1</a:t>
              </a:r>
            </a:p>
          </p:txBody>
        </p:sp>
        <p:sp>
          <p:nvSpPr>
            <p:cNvPr id="279582" name="Rectangle 30"/>
            <p:cNvSpPr>
              <a:spLocks noChangeArrowheads="1"/>
            </p:cNvSpPr>
            <p:nvPr/>
          </p:nvSpPr>
          <p:spPr bwMode="auto">
            <a:xfrm>
              <a:off x="657" y="2317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0  1  0</a:t>
              </a:r>
            </a:p>
          </p:txBody>
        </p:sp>
        <p:sp>
          <p:nvSpPr>
            <p:cNvPr id="279583" name="Rectangle 31"/>
            <p:cNvSpPr>
              <a:spLocks noChangeArrowheads="1"/>
            </p:cNvSpPr>
            <p:nvPr/>
          </p:nvSpPr>
          <p:spPr bwMode="auto">
            <a:xfrm>
              <a:off x="1491" y="2068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0  1  1  1</a:t>
              </a:r>
            </a:p>
          </p:txBody>
        </p:sp>
        <p:sp>
          <p:nvSpPr>
            <p:cNvPr id="279584" name="Rectangle 32"/>
            <p:cNvSpPr>
              <a:spLocks noChangeArrowheads="1"/>
            </p:cNvSpPr>
            <p:nvPr/>
          </p:nvSpPr>
          <p:spPr bwMode="auto">
            <a:xfrm>
              <a:off x="657" y="2068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0  0  0</a:t>
              </a:r>
            </a:p>
          </p:txBody>
        </p:sp>
        <p:sp>
          <p:nvSpPr>
            <p:cNvPr id="279585" name="Rectangle 33"/>
            <p:cNvSpPr>
              <a:spLocks noChangeArrowheads="1"/>
            </p:cNvSpPr>
            <p:nvPr/>
          </p:nvSpPr>
          <p:spPr bwMode="auto">
            <a:xfrm>
              <a:off x="1491" y="1819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solidFill>
                    <a:srgbClr val="CC00FF"/>
                  </a:solidFill>
                  <a:latin typeface="Noto Serif SC" panose="02020200000000000000" pitchFamily="18" charset="-122"/>
                  <a:ea typeface="Noto Serif SC" panose="02020200000000000000" pitchFamily="18" charset="-122"/>
                </a:rPr>
                <a:t>1  1  1  1</a:t>
              </a:r>
            </a:p>
          </p:txBody>
        </p:sp>
        <p:sp>
          <p:nvSpPr>
            <p:cNvPr id="279586" name="Rectangle 34"/>
            <p:cNvSpPr>
              <a:spLocks noChangeArrowheads="1"/>
            </p:cNvSpPr>
            <p:nvPr/>
          </p:nvSpPr>
          <p:spPr bwMode="auto">
            <a:xfrm>
              <a:off x="657" y="1819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solidFill>
                    <a:srgbClr val="CC00FF"/>
                  </a:solidFill>
                  <a:latin typeface="Noto Serif SC" panose="02020200000000000000" pitchFamily="18" charset="-122"/>
                  <a:ea typeface="Noto Serif SC" panose="02020200000000000000" pitchFamily="18" charset="-122"/>
                </a:rPr>
                <a:t>1  X  </a:t>
              </a:r>
              <a:r>
                <a:rPr lang="en-US" altLang="zh-CN" b="1" dirty="0" err="1">
                  <a:solidFill>
                    <a:srgbClr val="CC00FF"/>
                  </a:solidFill>
                  <a:latin typeface="Noto Serif SC" panose="02020200000000000000" pitchFamily="18" charset="-122"/>
                  <a:ea typeface="Noto Serif SC" panose="02020200000000000000" pitchFamily="18" charset="-122"/>
                </a:rPr>
                <a:t>X</a:t>
              </a:r>
              <a:endParaRPr lang="en-US" altLang="zh-CN" b="1" dirty="0">
                <a:solidFill>
                  <a:srgbClr val="CC00FF"/>
                </a:solidFill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79587" name="Rectangle 35"/>
            <p:cNvSpPr>
              <a:spLocks noChangeArrowheads="1"/>
            </p:cNvSpPr>
            <p:nvPr/>
          </p:nvSpPr>
          <p:spPr bwMode="auto">
            <a:xfrm>
              <a:off x="1491" y="1527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b="1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0  </a:t>
              </a: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b="1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 </a:t>
              </a: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b="1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2  </a:t>
              </a: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b="1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3</a:t>
              </a:r>
            </a:p>
          </p:txBody>
        </p:sp>
        <p:sp>
          <p:nvSpPr>
            <p:cNvPr id="279588" name="Rectangle 36"/>
            <p:cNvSpPr>
              <a:spLocks noChangeArrowheads="1"/>
            </p:cNvSpPr>
            <p:nvPr/>
          </p:nvSpPr>
          <p:spPr bwMode="auto">
            <a:xfrm>
              <a:off x="657" y="1570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   A  B</a:t>
              </a:r>
            </a:p>
          </p:txBody>
        </p:sp>
        <p:sp>
          <p:nvSpPr>
            <p:cNvPr id="279589" name="Line 37"/>
            <p:cNvSpPr>
              <a:spLocks noChangeShapeType="1"/>
            </p:cNvSpPr>
            <p:nvPr/>
          </p:nvSpPr>
          <p:spPr bwMode="auto">
            <a:xfrm>
              <a:off x="657" y="1570"/>
              <a:ext cx="190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79590" name="Line 38"/>
            <p:cNvSpPr>
              <a:spLocks noChangeShapeType="1"/>
            </p:cNvSpPr>
            <p:nvPr/>
          </p:nvSpPr>
          <p:spPr bwMode="auto">
            <a:xfrm>
              <a:off x="657" y="1819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79591" name="Line 39"/>
            <p:cNvSpPr>
              <a:spLocks noChangeShapeType="1"/>
            </p:cNvSpPr>
            <p:nvPr/>
          </p:nvSpPr>
          <p:spPr bwMode="auto">
            <a:xfrm>
              <a:off x="657" y="2068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79592" name="Line 40"/>
            <p:cNvSpPr>
              <a:spLocks noChangeShapeType="1"/>
            </p:cNvSpPr>
            <p:nvPr/>
          </p:nvSpPr>
          <p:spPr bwMode="auto">
            <a:xfrm>
              <a:off x="657" y="2317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79593" name="Line 41"/>
            <p:cNvSpPr>
              <a:spLocks noChangeShapeType="1"/>
            </p:cNvSpPr>
            <p:nvPr/>
          </p:nvSpPr>
          <p:spPr bwMode="auto">
            <a:xfrm>
              <a:off x="657" y="2566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79594" name="Line 42"/>
            <p:cNvSpPr>
              <a:spLocks noChangeShapeType="1"/>
            </p:cNvSpPr>
            <p:nvPr/>
          </p:nvSpPr>
          <p:spPr bwMode="auto">
            <a:xfrm>
              <a:off x="657" y="2815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79595" name="Line 43"/>
            <p:cNvSpPr>
              <a:spLocks noChangeShapeType="1"/>
            </p:cNvSpPr>
            <p:nvPr/>
          </p:nvSpPr>
          <p:spPr bwMode="auto">
            <a:xfrm>
              <a:off x="657" y="3064"/>
              <a:ext cx="190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79596" name="Line 44"/>
            <p:cNvSpPr>
              <a:spLocks noChangeShapeType="1"/>
            </p:cNvSpPr>
            <p:nvPr/>
          </p:nvSpPr>
          <p:spPr bwMode="auto">
            <a:xfrm>
              <a:off x="657" y="1570"/>
              <a:ext cx="0" cy="149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79597" name="Line 45"/>
            <p:cNvSpPr>
              <a:spLocks noChangeShapeType="1"/>
            </p:cNvSpPr>
            <p:nvPr/>
          </p:nvSpPr>
          <p:spPr bwMode="auto">
            <a:xfrm>
              <a:off x="1491" y="1570"/>
              <a:ext cx="0" cy="14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79598" name="Line 46"/>
            <p:cNvSpPr>
              <a:spLocks noChangeShapeType="1"/>
            </p:cNvSpPr>
            <p:nvPr/>
          </p:nvSpPr>
          <p:spPr bwMode="auto">
            <a:xfrm>
              <a:off x="2562" y="1570"/>
              <a:ext cx="0" cy="149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</p:grpSp>
      <p:grpSp>
        <p:nvGrpSpPr>
          <p:cNvPr id="279600" name="Group 48"/>
          <p:cNvGrpSpPr>
            <a:grpSpLocks/>
          </p:cNvGrpSpPr>
          <p:nvPr/>
        </p:nvGrpSpPr>
        <p:grpSpPr bwMode="auto">
          <a:xfrm>
            <a:off x="609600" y="1203325"/>
            <a:ext cx="8153400" cy="4664075"/>
            <a:chOff x="384" y="758"/>
            <a:chExt cx="5136" cy="2938"/>
          </a:xfrm>
        </p:grpSpPr>
        <p:sp>
          <p:nvSpPr>
            <p:cNvPr id="279601" name="Rectangle 49"/>
            <p:cNvSpPr>
              <a:spLocks noChangeArrowheads="1"/>
            </p:cNvSpPr>
            <p:nvPr/>
          </p:nvSpPr>
          <p:spPr bwMode="auto">
            <a:xfrm>
              <a:off x="384" y="768"/>
              <a:ext cx="5136" cy="29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rgbClr val="CC00FF"/>
                </a:buClr>
                <a:buFont typeface="Wingdings" pitchFamily="2" charset="2"/>
                <a:buChar char="l"/>
              </a:pPr>
              <a:r>
                <a:rPr lang="zh-CN" altLang="en-US" sz="3200" b="1" dirty="0">
                  <a:latin typeface="+mn-ea"/>
                  <a:ea typeface="+mn-ea"/>
                </a:rPr>
                <a:t>有使能端   的</a:t>
              </a:r>
              <a:r>
                <a:rPr lang="en-US" altLang="zh-CN" sz="3200" b="1" dirty="0">
                  <a:latin typeface="+mn-ea"/>
                  <a:ea typeface="+mn-ea"/>
                </a:rPr>
                <a:t>2-4</a:t>
              </a:r>
              <a:r>
                <a:rPr lang="zh-CN" altLang="en-US" sz="3200" b="1" dirty="0">
                  <a:latin typeface="+mn-ea"/>
                  <a:ea typeface="+mn-ea"/>
                </a:rPr>
                <a:t>解碼器</a:t>
              </a:r>
            </a:p>
          </p:txBody>
        </p:sp>
        <p:graphicFrame>
          <p:nvGraphicFramePr>
            <p:cNvPr id="279602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9141562"/>
                </p:ext>
              </p:extLst>
            </p:nvPr>
          </p:nvGraphicFramePr>
          <p:xfrm>
            <a:off x="1766" y="758"/>
            <a:ext cx="252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52280" imgH="215640" progId="Equation.3">
                    <p:embed/>
                  </p:oleObj>
                </mc:Choice>
                <mc:Fallback>
                  <p:oleObj name="公式" r:id="rId4" imgW="152280" imgH="215640" progId="Equation.3">
                    <p:embed/>
                    <p:pic>
                      <p:nvPicPr>
                        <p:cNvPr id="279602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6" y="758"/>
                          <a:ext cx="252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2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329191"/>
              </p:ext>
            </p:extLst>
          </p:nvPr>
        </p:nvGraphicFramePr>
        <p:xfrm>
          <a:off x="1215554" y="2861117"/>
          <a:ext cx="299200" cy="423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2280" imgH="215640" progId="Equation.3">
                  <p:embed/>
                </p:oleObj>
              </mc:Choice>
              <mc:Fallback>
                <p:oleObj name="公式" r:id="rId4" imgW="152280" imgH="215640" progId="Equation.3">
                  <p:embed/>
                  <p:pic>
                    <p:nvPicPr>
                      <p:cNvPr id="52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5554" y="2861117"/>
                        <a:ext cx="299200" cy="4238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6443663" y="2276475"/>
            <a:ext cx="2303462" cy="2730501"/>
            <a:chOff x="6443663" y="2276475"/>
            <a:chExt cx="2303462" cy="2730501"/>
          </a:xfrm>
        </p:grpSpPr>
        <p:grpSp>
          <p:nvGrpSpPr>
            <p:cNvPr id="279555" name="Group 3"/>
            <p:cNvGrpSpPr>
              <a:grpSpLocks/>
            </p:cNvGrpSpPr>
            <p:nvPr/>
          </p:nvGrpSpPr>
          <p:grpSpPr bwMode="auto">
            <a:xfrm>
              <a:off x="6443663" y="2276475"/>
              <a:ext cx="2303462" cy="2730501"/>
              <a:chOff x="4059" y="1434"/>
              <a:chExt cx="1451" cy="1720"/>
            </a:xfrm>
          </p:grpSpPr>
          <p:grpSp>
            <p:nvGrpSpPr>
              <p:cNvPr id="279556" name="Group 4"/>
              <p:cNvGrpSpPr>
                <a:grpSpLocks/>
              </p:cNvGrpSpPr>
              <p:nvPr/>
            </p:nvGrpSpPr>
            <p:grpSpPr bwMode="auto">
              <a:xfrm>
                <a:off x="4149" y="1888"/>
                <a:ext cx="1044" cy="1266"/>
                <a:chOff x="4149" y="1888"/>
                <a:chExt cx="1044" cy="1266"/>
              </a:xfrm>
            </p:grpSpPr>
            <p:sp>
              <p:nvSpPr>
                <p:cNvPr id="279557" name="Rectangle 5"/>
                <p:cNvSpPr>
                  <a:spLocks noChangeArrowheads="1"/>
                </p:cNvSpPr>
                <p:nvPr/>
              </p:nvSpPr>
              <p:spPr bwMode="auto">
                <a:xfrm>
                  <a:off x="4331" y="1888"/>
                  <a:ext cx="681" cy="1225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Noto Serif SC" panose="02020200000000000000" pitchFamily="18" charset="-122"/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79558" name="Line 6"/>
                <p:cNvSpPr>
                  <a:spLocks noChangeShapeType="1"/>
                </p:cNvSpPr>
                <p:nvPr/>
              </p:nvSpPr>
              <p:spPr bwMode="auto">
                <a:xfrm>
                  <a:off x="4149" y="2115"/>
                  <a:ext cx="18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Noto Serif SC" panose="02020200000000000000" pitchFamily="18" charset="-122"/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79559" name="Line 7"/>
                <p:cNvSpPr>
                  <a:spLocks noChangeShapeType="1"/>
                </p:cNvSpPr>
                <p:nvPr/>
              </p:nvSpPr>
              <p:spPr bwMode="auto">
                <a:xfrm>
                  <a:off x="4150" y="2886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Noto Serif SC" panose="02020200000000000000" pitchFamily="18" charset="-122"/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79560" name="Line 8"/>
                <p:cNvSpPr>
                  <a:spLocks noChangeShapeType="1"/>
                </p:cNvSpPr>
                <p:nvPr/>
              </p:nvSpPr>
              <p:spPr bwMode="auto">
                <a:xfrm>
                  <a:off x="5011" y="2024"/>
                  <a:ext cx="18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Noto Serif SC" panose="02020200000000000000" pitchFamily="18" charset="-122"/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79561" name="Line 9"/>
                <p:cNvSpPr>
                  <a:spLocks noChangeShapeType="1"/>
                </p:cNvSpPr>
                <p:nvPr/>
              </p:nvSpPr>
              <p:spPr bwMode="auto">
                <a:xfrm>
                  <a:off x="5011" y="2341"/>
                  <a:ext cx="18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Noto Serif SC" panose="02020200000000000000" pitchFamily="18" charset="-122"/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79562" name="Line 10"/>
                <p:cNvSpPr>
                  <a:spLocks noChangeShapeType="1"/>
                </p:cNvSpPr>
                <p:nvPr/>
              </p:nvSpPr>
              <p:spPr bwMode="auto">
                <a:xfrm>
                  <a:off x="5011" y="2659"/>
                  <a:ext cx="18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Noto Serif SC" panose="02020200000000000000" pitchFamily="18" charset="-122"/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79563" name="Line 11"/>
                <p:cNvSpPr>
                  <a:spLocks noChangeShapeType="1"/>
                </p:cNvSpPr>
                <p:nvPr/>
              </p:nvSpPr>
              <p:spPr bwMode="auto">
                <a:xfrm>
                  <a:off x="5011" y="2976"/>
                  <a:ext cx="18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Noto Serif SC" panose="02020200000000000000" pitchFamily="18" charset="-122"/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79564" name="Rectangle 12"/>
                <p:cNvSpPr>
                  <a:spLocks noChangeArrowheads="1"/>
                </p:cNvSpPr>
                <p:nvPr/>
              </p:nvSpPr>
              <p:spPr bwMode="auto">
                <a:xfrm>
                  <a:off x="4739" y="1888"/>
                  <a:ext cx="325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>
                      <a:latin typeface="Noto Serif SC" panose="02020200000000000000" pitchFamily="18" charset="-122"/>
                      <a:ea typeface="Noto Serif SC" panose="02020200000000000000" pitchFamily="18" charset="-122"/>
                      <a:cs typeface="Times New Roman" pitchFamily="18" charset="0"/>
                    </a:rPr>
                    <a:t>Y</a:t>
                  </a:r>
                  <a:r>
                    <a:rPr lang="en-US" altLang="zh-CN" baseline="-30000" dirty="0">
                      <a:latin typeface="Noto Serif SC" panose="02020200000000000000" pitchFamily="18" charset="-122"/>
                      <a:ea typeface="Noto Serif SC" panose="02020200000000000000" pitchFamily="18" charset="-122"/>
                      <a:cs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279565" name="Line 13"/>
                <p:cNvSpPr>
                  <a:spLocks noChangeShapeType="1"/>
                </p:cNvSpPr>
                <p:nvPr/>
              </p:nvSpPr>
              <p:spPr bwMode="auto">
                <a:xfrm>
                  <a:off x="4150" y="2523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Noto Serif SC" panose="02020200000000000000" pitchFamily="18" charset="-122"/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79566" name="Rectangle 14"/>
                <p:cNvSpPr>
                  <a:spLocks noChangeArrowheads="1"/>
                </p:cNvSpPr>
                <p:nvPr/>
              </p:nvSpPr>
              <p:spPr bwMode="auto">
                <a:xfrm>
                  <a:off x="4740" y="2205"/>
                  <a:ext cx="310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>
                      <a:latin typeface="Noto Serif SC" panose="02020200000000000000" pitchFamily="18" charset="-122"/>
                      <a:ea typeface="Noto Serif SC" panose="02020200000000000000" pitchFamily="18" charset="-122"/>
                      <a:cs typeface="Times New Roman" pitchFamily="18" charset="0"/>
                    </a:rPr>
                    <a:t>Y</a:t>
                  </a:r>
                  <a:r>
                    <a:rPr lang="en-US" altLang="zh-CN" baseline="-30000" dirty="0">
                      <a:latin typeface="Noto Serif SC" panose="02020200000000000000" pitchFamily="18" charset="-122"/>
                      <a:ea typeface="Noto Serif SC" panose="02020200000000000000" pitchFamily="18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279567" name="Rectangle 15"/>
                <p:cNvSpPr>
                  <a:spLocks noChangeArrowheads="1"/>
                </p:cNvSpPr>
                <p:nvPr/>
              </p:nvSpPr>
              <p:spPr bwMode="auto">
                <a:xfrm>
                  <a:off x="4740" y="2523"/>
                  <a:ext cx="32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>
                      <a:latin typeface="Noto Serif SC" panose="02020200000000000000" pitchFamily="18" charset="-122"/>
                      <a:ea typeface="Noto Serif SC" panose="02020200000000000000" pitchFamily="18" charset="-122"/>
                      <a:cs typeface="Times New Roman" pitchFamily="18" charset="0"/>
                    </a:rPr>
                    <a:t>Y</a:t>
                  </a:r>
                  <a:r>
                    <a:rPr lang="en-US" altLang="zh-CN" baseline="-30000" dirty="0">
                      <a:latin typeface="Noto Serif SC" panose="02020200000000000000" pitchFamily="18" charset="-122"/>
                      <a:ea typeface="Noto Serif SC" panose="02020200000000000000" pitchFamily="18" charset="-122"/>
                      <a:cs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279568" name="Rectangle 16"/>
                <p:cNvSpPr>
                  <a:spLocks noChangeArrowheads="1"/>
                </p:cNvSpPr>
                <p:nvPr/>
              </p:nvSpPr>
              <p:spPr bwMode="auto">
                <a:xfrm>
                  <a:off x="4740" y="2863"/>
                  <a:ext cx="32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>
                      <a:latin typeface="Noto Serif SC" panose="02020200000000000000" pitchFamily="18" charset="-122"/>
                      <a:ea typeface="Noto Serif SC" panose="02020200000000000000" pitchFamily="18" charset="-122"/>
                      <a:cs typeface="Times New Roman" pitchFamily="18" charset="0"/>
                    </a:rPr>
                    <a:t>Y</a:t>
                  </a:r>
                  <a:r>
                    <a:rPr lang="en-US" altLang="zh-CN" baseline="-30000" dirty="0">
                      <a:latin typeface="Noto Serif SC" panose="02020200000000000000" pitchFamily="18" charset="-122"/>
                      <a:ea typeface="Noto Serif SC" panose="02020200000000000000" pitchFamily="18" charset="-122"/>
                      <a:cs typeface="Times New Roman" pitchFamily="18" charset="0"/>
                    </a:rPr>
                    <a:t>3</a:t>
                  </a:r>
                </a:p>
              </p:txBody>
            </p:sp>
            <p:sp>
              <p:nvSpPr>
                <p:cNvPr id="279569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332" y="2024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 b="1" dirty="0">
                      <a:latin typeface="Noto Serif SC" panose="02020200000000000000" pitchFamily="18" charset="-122"/>
                      <a:ea typeface="Noto Serif SC" panose="02020200000000000000" pitchFamily="18" charset="-122"/>
                    </a:rPr>
                    <a:t>A</a:t>
                  </a:r>
                </a:p>
              </p:txBody>
            </p:sp>
            <p:sp>
              <p:nvSpPr>
                <p:cNvPr id="279570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4332" y="2428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 b="1" dirty="0">
                      <a:latin typeface="Noto Serif SC" panose="02020200000000000000" pitchFamily="18" charset="-122"/>
                      <a:ea typeface="Noto Serif SC" panose="02020200000000000000" pitchFamily="18" charset="-122"/>
                    </a:rPr>
                    <a:t>B</a:t>
                  </a:r>
                </a:p>
              </p:txBody>
            </p:sp>
          </p:grpSp>
          <p:sp>
            <p:nvSpPr>
              <p:cNvPr id="279572" name="Text Box 20"/>
              <p:cNvSpPr txBox="1">
                <a:spLocks noChangeArrowheads="1"/>
              </p:cNvSpPr>
              <p:nvPr/>
            </p:nvSpPr>
            <p:spPr bwMode="auto">
              <a:xfrm>
                <a:off x="4059" y="1434"/>
                <a:ext cx="1451" cy="5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Noto Serif SC" panose="02020200000000000000" pitchFamily="18" charset="-122"/>
                    <a:ea typeface="Noto Serif SC" panose="02020200000000000000" pitchFamily="18" charset="-122"/>
                  </a:rPr>
                  <a:t>邏輯示意圖</a:t>
                </a:r>
              </a:p>
              <a:p>
                <a:pPr>
                  <a:spcBef>
                    <a:spcPct val="50000"/>
                  </a:spcBef>
                </a:pPr>
                <a:endParaRPr lang="en-US" altLang="zh-CN" sz="1800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</p:grpSp>
        <p:graphicFrame>
          <p:nvGraphicFramePr>
            <p:cNvPr id="54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6893215"/>
                </p:ext>
              </p:extLst>
            </p:nvPr>
          </p:nvGraphicFramePr>
          <p:xfrm>
            <a:off x="6929454" y="4339945"/>
            <a:ext cx="322734" cy="457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52280" imgH="215640" progId="Equation.3">
                    <p:embed/>
                  </p:oleObj>
                </mc:Choice>
                <mc:Fallback>
                  <p:oleObj name="公式" r:id="rId4" imgW="152280" imgH="215640" progId="Equation.3">
                    <p:embed/>
                    <p:pic>
                      <p:nvPicPr>
                        <p:cNvPr id="54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9454" y="4339945"/>
                          <a:ext cx="322734" cy="457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3369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13</a:t>
            </a:r>
            <a:r>
              <a:rPr lang="zh-CN" altLang="en-US" sz="3600" dirty="0"/>
              <a:t>）</a:t>
            </a:r>
          </a:p>
        </p:txBody>
      </p:sp>
      <p:sp>
        <p:nvSpPr>
          <p:cNvPr id="9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5776-D27C-4F99-9E57-F38B6CC6A171}" type="slidenum">
              <a:rPr lang="en-US" altLang="zh-CN">
                <a:latin typeface="+mn-ea"/>
                <a:ea typeface="+mn-ea"/>
              </a:rPr>
              <a:pPr/>
              <a:t>17</a:t>
            </a:fld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280579" name="Group 3"/>
          <p:cNvGrpSpPr>
            <a:grpSpLocks/>
          </p:cNvGrpSpPr>
          <p:nvPr/>
        </p:nvGrpSpPr>
        <p:grpSpPr bwMode="auto">
          <a:xfrm>
            <a:off x="3733800" y="2286000"/>
            <a:ext cx="4953000" cy="3962400"/>
            <a:chOff x="2352" y="1440"/>
            <a:chExt cx="3120" cy="2496"/>
          </a:xfrm>
        </p:grpSpPr>
        <p:sp>
          <p:nvSpPr>
            <p:cNvPr id="280580" name="Text Box 4"/>
            <p:cNvSpPr txBox="1">
              <a:spLocks noChangeArrowheads="1"/>
            </p:cNvSpPr>
            <p:nvPr/>
          </p:nvSpPr>
          <p:spPr bwMode="auto">
            <a:xfrm>
              <a:off x="3431" y="3244"/>
              <a:ext cx="11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1800">
                <a:latin typeface="+mn-ea"/>
                <a:ea typeface="+mn-ea"/>
              </a:endParaRPr>
            </a:p>
          </p:txBody>
        </p:sp>
        <p:sp>
          <p:nvSpPr>
            <p:cNvPr id="280581" name="Rectangle 5"/>
            <p:cNvSpPr>
              <a:spLocks noChangeArrowheads="1"/>
            </p:cNvSpPr>
            <p:nvPr/>
          </p:nvSpPr>
          <p:spPr bwMode="auto">
            <a:xfrm>
              <a:off x="2544" y="1440"/>
              <a:ext cx="2569" cy="2496"/>
            </a:xfrm>
            <a:prstGeom prst="rect">
              <a:avLst/>
            </a:prstGeom>
            <a:solidFill>
              <a:srgbClr val="003300">
                <a:alpha val="50000"/>
              </a:srgbClr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80582" name="Group 6"/>
            <p:cNvGrpSpPr>
              <a:grpSpLocks/>
            </p:cNvGrpSpPr>
            <p:nvPr/>
          </p:nvGrpSpPr>
          <p:grpSpPr bwMode="auto">
            <a:xfrm>
              <a:off x="3270" y="1855"/>
              <a:ext cx="303" cy="325"/>
              <a:chOff x="1020" y="1706"/>
              <a:chExt cx="317" cy="363"/>
            </a:xfrm>
          </p:grpSpPr>
          <p:sp>
            <p:nvSpPr>
              <p:cNvPr id="280583" name="Rectangle 7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584" name="Oval 8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80585" name="Group 9"/>
            <p:cNvGrpSpPr>
              <a:grpSpLocks/>
            </p:cNvGrpSpPr>
            <p:nvPr/>
          </p:nvGrpSpPr>
          <p:grpSpPr bwMode="auto">
            <a:xfrm>
              <a:off x="4755" y="1596"/>
              <a:ext cx="303" cy="326"/>
              <a:chOff x="1020" y="1706"/>
              <a:chExt cx="317" cy="363"/>
            </a:xfrm>
          </p:grpSpPr>
          <p:sp>
            <p:nvSpPr>
              <p:cNvPr id="280586" name="Rectangle 10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587" name="Oval 11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0588" name="Line 12"/>
            <p:cNvSpPr>
              <a:spLocks noChangeShapeType="1"/>
            </p:cNvSpPr>
            <p:nvPr/>
          </p:nvSpPr>
          <p:spPr bwMode="auto">
            <a:xfrm>
              <a:off x="3578" y="2000"/>
              <a:ext cx="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589" name="Line 13"/>
            <p:cNvSpPr>
              <a:spLocks noChangeShapeType="1"/>
            </p:cNvSpPr>
            <p:nvPr/>
          </p:nvSpPr>
          <p:spPr bwMode="auto">
            <a:xfrm flipH="1">
              <a:off x="3188" y="1695"/>
              <a:ext cx="15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590" name="Line 14"/>
            <p:cNvSpPr>
              <a:spLocks noChangeShapeType="1"/>
            </p:cNvSpPr>
            <p:nvPr/>
          </p:nvSpPr>
          <p:spPr bwMode="auto">
            <a:xfrm flipH="1">
              <a:off x="3968" y="2255"/>
              <a:ext cx="7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591" name="Line 15"/>
            <p:cNvSpPr>
              <a:spLocks noChangeShapeType="1"/>
            </p:cNvSpPr>
            <p:nvPr/>
          </p:nvSpPr>
          <p:spPr bwMode="auto">
            <a:xfrm flipH="1" flipV="1">
              <a:off x="4176" y="288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592" name="Line 16"/>
            <p:cNvSpPr>
              <a:spLocks noChangeShapeType="1"/>
            </p:cNvSpPr>
            <p:nvPr/>
          </p:nvSpPr>
          <p:spPr bwMode="auto">
            <a:xfrm flipH="1" flipV="1">
              <a:off x="4032" y="3456"/>
              <a:ext cx="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593" name="Line 17"/>
            <p:cNvSpPr>
              <a:spLocks noChangeShapeType="1"/>
            </p:cNvSpPr>
            <p:nvPr/>
          </p:nvSpPr>
          <p:spPr bwMode="auto">
            <a:xfrm flipH="1" flipV="1">
              <a:off x="4320" y="297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594" name="Line 18"/>
            <p:cNvSpPr>
              <a:spLocks noChangeShapeType="1"/>
            </p:cNvSpPr>
            <p:nvPr/>
          </p:nvSpPr>
          <p:spPr bwMode="auto">
            <a:xfrm flipH="1" flipV="1">
              <a:off x="3744" y="3552"/>
              <a:ext cx="10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595" name="Line 19"/>
            <p:cNvSpPr>
              <a:spLocks noChangeShapeType="1"/>
            </p:cNvSpPr>
            <p:nvPr/>
          </p:nvSpPr>
          <p:spPr bwMode="auto">
            <a:xfrm>
              <a:off x="5059" y="1769"/>
              <a:ext cx="2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596" name="Line 20"/>
            <p:cNvSpPr>
              <a:spLocks noChangeShapeType="1"/>
            </p:cNvSpPr>
            <p:nvPr/>
          </p:nvSpPr>
          <p:spPr bwMode="auto">
            <a:xfrm flipH="1">
              <a:off x="2352" y="2027"/>
              <a:ext cx="3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80597" name="Group 21"/>
            <p:cNvGrpSpPr>
              <a:grpSpLocks/>
            </p:cNvGrpSpPr>
            <p:nvPr/>
          </p:nvGrpSpPr>
          <p:grpSpPr bwMode="auto">
            <a:xfrm>
              <a:off x="3270" y="2586"/>
              <a:ext cx="303" cy="326"/>
              <a:chOff x="1020" y="1706"/>
              <a:chExt cx="317" cy="363"/>
            </a:xfrm>
          </p:grpSpPr>
          <p:sp>
            <p:nvSpPr>
              <p:cNvPr id="280598" name="Rectangle 22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599" name="Oval 23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0600" name="Line 24"/>
            <p:cNvSpPr>
              <a:spLocks noChangeShapeType="1"/>
            </p:cNvSpPr>
            <p:nvPr/>
          </p:nvSpPr>
          <p:spPr bwMode="auto">
            <a:xfrm flipV="1">
              <a:off x="3168" y="2352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01" name="Line 25"/>
            <p:cNvSpPr>
              <a:spLocks noChangeShapeType="1"/>
            </p:cNvSpPr>
            <p:nvPr/>
          </p:nvSpPr>
          <p:spPr bwMode="auto">
            <a:xfrm flipH="1">
              <a:off x="2352" y="2758"/>
              <a:ext cx="3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80602" name="Object 26"/>
            <p:cNvGraphicFramePr>
              <a:graphicFrameLocks noChangeAspect="1"/>
            </p:cNvGraphicFramePr>
            <p:nvPr/>
          </p:nvGraphicFramePr>
          <p:xfrm>
            <a:off x="2949" y="1769"/>
            <a:ext cx="21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90440" imgH="253800" progId="Equation.3">
                    <p:embed/>
                  </p:oleObj>
                </mc:Choice>
                <mc:Fallback>
                  <p:oleObj name="Equation" r:id="rId2" imgW="190440" imgH="253800" progId="Equation.3">
                    <p:embed/>
                    <p:pic>
                      <p:nvPicPr>
                        <p:cNvPr id="280602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9" y="1769"/>
                          <a:ext cx="218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0603" name="Object 27"/>
            <p:cNvGraphicFramePr>
              <a:graphicFrameLocks noChangeAspect="1"/>
            </p:cNvGraphicFramePr>
            <p:nvPr/>
          </p:nvGraphicFramePr>
          <p:xfrm>
            <a:off x="2949" y="2500"/>
            <a:ext cx="218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90440" imgH="253800" progId="Equation.3">
                    <p:embed/>
                  </p:oleObj>
                </mc:Choice>
                <mc:Fallback>
                  <p:oleObj name="Equation" r:id="rId4" imgW="190440" imgH="253800" progId="Equation.3">
                    <p:embed/>
                    <p:pic>
                      <p:nvPicPr>
                        <p:cNvPr id="280603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9" y="2500"/>
                          <a:ext cx="218" cy="2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0604" name="Text Box 28"/>
            <p:cNvSpPr txBox="1">
              <a:spLocks noChangeArrowheads="1"/>
            </p:cNvSpPr>
            <p:nvPr/>
          </p:nvSpPr>
          <p:spPr bwMode="auto">
            <a:xfrm>
              <a:off x="2352" y="1746"/>
              <a:ext cx="1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A</a:t>
              </a:r>
            </a:p>
          </p:txBody>
        </p:sp>
        <p:sp>
          <p:nvSpPr>
            <p:cNvPr id="280605" name="Text Box 29"/>
            <p:cNvSpPr txBox="1">
              <a:spLocks noChangeArrowheads="1"/>
            </p:cNvSpPr>
            <p:nvPr/>
          </p:nvSpPr>
          <p:spPr bwMode="auto">
            <a:xfrm>
              <a:off x="2352" y="2510"/>
              <a:ext cx="13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B</a:t>
              </a:r>
            </a:p>
          </p:txBody>
        </p:sp>
        <p:sp>
          <p:nvSpPr>
            <p:cNvPr id="280606" name="Line 30"/>
            <p:cNvSpPr>
              <a:spLocks noChangeShapeType="1"/>
            </p:cNvSpPr>
            <p:nvPr/>
          </p:nvSpPr>
          <p:spPr bwMode="auto">
            <a:xfrm flipH="1">
              <a:off x="4176" y="1680"/>
              <a:ext cx="0" cy="12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07" name="Line 31"/>
            <p:cNvSpPr>
              <a:spLocks noChangeShapeType="1"/>
            </p:cNvSpPr>
            <p:nvPr/>
          </p:nvSpPr>
          <p:spPr bwMode="auto">
            <a:xfrm flipH="1" flipV="1">
              <a:off x="4416" y="1776"/>
              <a:ext cx="0" cy="6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08" name="Line 32"/>
            <p:cNvSpPr>
              <a:spLocks noChangeShapeType="1"/>
            </p:cNvSpPr>
            <p:nvPr/>
          </p:nvSpPr>
          <p:spPr bwMode="auto">
            <a:xfrm>
              <a:off x="4416" y="177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09" name="Line 33"/>
            <p:cNvSpPr>
              <a:spLocks noChangeShapeType="1"/>
            </p:cNvSpPr>
            <p:nvPr/>
          </p:nvSpPr>
          <p:spPr bwMode="auto">
            <a:xfrm>
              <a:off x="4023" y="2000"/>
              <a:ext cx="0" cy="2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0" name="Line 34"/>
            <p:cNvSpPr>
              <a:spLocks noChangeShapeType="1"/>
            </p:cNvSpPr>
            <p:nvPr/>
          </p:nvSpPr>
          <p:spPr bwMode="auto">
            <a:xfrm>
              <a:off x="4023" y="2255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1" name="Line 35"/>
            <p:cNvSpPr>
              <a:spLocks noChangeShapeType="1"/>
            </p:cNvSpPr>
            <p:nvPr/>
          </p:nvSpPr>
          <p:spPr bwMode="auto">
            <a:xfrm flipH="1" flipV="1">
              <a:off x="4023" y="2306"/>
              <a:ext cx="9" cy="1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2" name="Line 36"/>
            <p:cNvSpPr>
              <a:spLocks noChangeShapeType="1"/>
            </p:cNvSpPr>
            <p:nvPr/>
          </p:nvSpPr>
          <p:spPr bwMode="auto">
            <a:xfrm>
              <a:off x="3745" y="2764"/>
              <a:ext cx="0" cy="2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3" name="Line 37"/>
            <p:cNvSpPr>
              <a:spLocks noChangeShapeType="1"/>
            </p:cNvSpPr>
            <p:nvPr/>
          </p:nvSpPr>
          <p:spPr bwMode="auto">
            <a:xfrm flipV="1">
              <a:off x="3744" y="297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4" name="Line 38"/>
            <p:cNvSpPr>
              <a:spLocks noChangeShapeType="1"/>
            </p:cNvSpPr>
            <p:nvPr/>
          </p:nvSpPr>
          <p:spPr bwMode="auto">
            <a:xfrm flipV="1">
              <a:off x="3744" y="3019"/>
              <a:ext cx="1" cy="5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5" name="Line 39"/>
            <p:cNvSpPr>
              <a:spLocks noChangeShapeType="1"/>
            </p:cNvSpPr>
            <p:nvPr/>
          </p:nvSpPr>
          <p:spPr bwMode="auto">
            <a:xfrm>
              <a:off x="3188" y="1695"/>
              <a:ext cx="0" cy="3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6" name="Oval 40"/>
            <p:cNvSpPr>
              <a:spLocks noChangeArrowheads="1"/>
            </p:cNvSpPr>
            <p:nvPr/>
          </p:nvSpPr>
          <p:spPr bwMode="auto">
            <a:xfrm>
              <a:off x="3132" y="1983"/>
              <a:ext cx="92" cy="8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7" name="Oval 41"/>
            <p:cNvSpPr>
              <a:spLocks noChangeArrowheads="1"/>
            </p:cNvSpPr>
            <p:nvPr/>
          </p:nvSpPr>
          <p:spPr bwMode="auto">
            <a:xfrm>
              <a:off x="3132" y="2716"/>
              <a:ext cx="92" cy="8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8" name="Oval 42"/>
            <p:cNvSpPr>
              <a:spLocks noChangeArrowheads="1"/>
            </p:cNvSpPr>
            <p:nvPr/>
          </p:nvSpPr>
          <p:spPr bwMode="auto">
            <a:xfrm>
              <a:off x="4128" y="1680"/>
              <a:ext cx="91" cy="8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9" name="Oval 43"/>
            <p:cNvSpPr>
              <a:spLocks noChangeArrowheads="1"/>
            </p:cNvSpPr>
            <p:nvPr/>
          </p:nvSpPr>
          <p:spPr bwMode="auto">
            <a:xfrm>
              <a:off x="4368" y="2304"/>
              <a:ext cx="92" cy="8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20" name="Oval 44"/>
            <p:cNvSpPr>
              <a:spLocks noChangeArrowheads="1"/>
            </p:cNvSpPr>
            <p:nvPr/>
          </p:nvSpPr>
          <p:spPr bwMode="auto">
            <a:xfrm>
              <a:off x="3968" y="2204"/>
              <a:ext cx="91" cy="8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21" name="Oval 45"/>
            <p:cNvSpPr>
              <a:spLocks noChangeArrowheads="1"/>
            </p:cNvSpPr>
            <p:nvPr/>
          </p:nvSpPr>
          <p:spPr bwMode="auto">
            <a:xfrm>
              <a:off x="3696" y="2928"/>
              <a:ext cx="92" cy="8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80622" name="Group 46"/>
            <p:cNvGrpSpPr>
              <a:grpSpLocks/>
            </p:cNvGrpSpPr>
            <p:nvPr/>
          </p:nvGrpSpPr>
          <p:grpSpPr bwMode="auto">
            <a:xfrm>
              <a:off x="4752" y="2208"/>
              <a:ext cx="303" cy="326"/>
              <a:chOff x="1020" y="1706"/>
              <a:chExt cx="317" cy="363"/>
            </a:xfrm>
          </p:grpSpPr>
          <p:sp>
            <p:nvSpPr>
              <p:cNvPr id="280623" name="Rectangle 47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24" name="Oval 48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0625" name="Line 49"/>
            <p:cNvSpPr>
              <a:spLocks noChangeShapeType="1"/>
            </p:cNvSpPr>
            <p:nvPr/>
          </p:nvSpPr>
          <p:spPr bwMode="auto">
            <a:xfrm>
              <a:off x="5059" y="2371"/>
              <a:ext cx="2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80626" name="Group 50"/>
            <p:cNvGrpSpPr>
              <a:grpSpLocks/>
            </p:cNvGrpSpPr>
            <p:nvPr/>
          </p:nvGrpSpPr>
          <p:grpSpPr bwMode="auto">
            <a:xfrm>
              <a:off x="4752" y="2802"/>
              <a:ext cx="289" cy="324"/>
              <a:chOff x="1020" y="1706"/>
              <a:chExt cx="317" cy="363"/>
            </a:xfrm>
          </p:grpSpPr>
          <p:sp>
            <p:nvSpPr>
              <p:cNvPr id="280627" name="Rectangle 51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28" name="Oval 52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0629" name="Line 53"/>
            <p:cNvSpPr>
              <a:spLocks noChangeShapeType="1"/>
            </p:cNvSpPr>
            <p:nvPr/>
          </p:nvSpPr>
          <p:spPr bwMode="auto">
            <a:xfrm>
              <a:off x="5043" y="2973"/>
              <a:ext cx="2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80630" name="Group 54"/>
            <p:cNvGrpSpPr>
              <a:grpSpLocks/>
            </p:cNvGrpSpPr>
            <p:nvPr/>
          </p:nvGrpSpPr>
          <p:grpSpPr bwMode="auto">
            <a:xfrm>
              <a:off x="4752" y="3408"/>
              <a:ext cx="303" cy="326"/>
              <a:chOff x="1020" y="1706"/>
              <a:chExt cx="317" cy="363"/>
            </a:xfrm>
          </p:grpSpPr>
          <p:sp>
            <p:nvSpPr>
              <p:cNvPr id="280631" name="Rectangle 55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32" name="Oval 56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0633" name="Line 57"/>
            <p:cNvSpPr>
              <a:spLocks noChangeShapeType="1"/>
            </p:cNvSpPr>
            <p:nvPr/>
          </p:nvSpPr>
          <p:spPr bwMode="auto">
            <a:xfrm>
              <a:off x="5043" y="3576"/>
              <a:ext cx="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34" name="Text Box 58"/>
            <p:cNvSpPr txBox="1">
              <a:spLocks noChangeArrowheads="1"/>
            </p:cNvSpPr>
            <p:nvPr/>
          </p:nvSpPr>
          <p:spPr bwMode="auto">
            <a:xfrm>
              <a:off x="5150" y="1554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280635" name="Text Box 59"/>
            <p:cNvSpPr txBox="1">
              <a:spLocks noChangeArrowheads="1"/>
            </p:cNvSpPr>
            <p:nvPr/>
          </p:nvSpPr>
          <p:spPr bwMode="auto">
            <a:xfrm>
              <a:off x="5197" y="2155"/>
              <a:ext cx="2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280636" name="Text Box 60"/>
            <p:cNvSpPr txBox="1">
              <a:spLocks noChangeArrowheads="1"/>
            </p:cNvSpPr>
            <p:nvPr/>
          </p:nvSpPr>
          <p:spPr bwMode="auto">
            <a:xfrm>
              <a:off x="5197" y="2716"/>
              <a:ext cx="2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280637" name="Text Box 61"/>
            <p:cNvSpPr txBox="1">
              <a:spLocks noChangeArrowheads="1"/>
            </p:cNvSpPr>
            <p:nvPr/>
          </p:nvSpPr>
          <p:spPr bwMode="auto">
            <a:xfrm>
              <a:off x="5150" y="3317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3</a:t>
              </a:r>
            </a:p>
          </p:txBody>
        </p:sp>
        <p:grpSp>
          <p:nvGrpSpPr>
            <p:cNvPr id="280638" name="Group 62"/>
            <p:cNvGrpSpPr>
              <a:grpSpLocks/>
            </p:cNvGrpSpPr>
            <p:nvPr/>
          </p:nvGrpSpPr>
          <p:grpSpPr bwMode="auto">
            <a:xfrm>
              <a:off x="2674" y="1855"/>
              <a:ext cx="302" cy="325"/>
              <a:chOff x="1020" y="1706"/>
              <a:chExt cx="317" cy="363"/>
            </a:xfrm>
          </p:grpSpPr>
          <p:sp>
            <p:nvSpPr>
              <p:cNvPr id="280639" name="Rectangle 63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40" name="Oval 64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80641" name="Group 65"/>
            <p:cNvGrpSpPr>
              <a:grpSpLocks/>
            </p:cNvGrpSpPr>
            <p:nvPr/>
          </p:nvGrpSpPr>
          <p:grpSpPr bwMode="auto">
            <a:xfrm>
              <a:off x="2674" y="2586"/>
              <a:ext cx="302" cy="326"/>
              <a:chOff x="1020" y="1706"/>
              <a:chExt cx="317" cy="363"/>
            </a:xfrm>
          </p:grpSpPr>
          <p:sp>
            <p:nvSpPr>
              <p:cNvPr id="280642" name="Rectangle 66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43" name="Oval 67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0644" name="Line 68"/>
            <p:cNvSpPr>
              <a:spLocks noChangeShapeType="1"/>
            </p:cNvSpPr>
            <p:nvPr/>
          </p:nvSpPr>
          <p:spPr bwMode="auto">
            <a:xfrm>
              <a:off x="2994" y="2027"/>
              <a:ext cx="2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45" name="Line 69"/>
            <p:cNvSpPr>
              <a:spLocks noChangeShapeType="1"/>
            </p:cNvSpPr>
            <p:nvPr/>
          </p:nvSpPr>
          <p:spPr bwMode="auto">
            <a:xfrm>
              <a:off x="2994" y="2758"/>
              <a:ext cx="2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80646" name="Object 70"/>
            <p:cNvGraphicFramePr>
              <a:graphicFrameLocks noChangeAspect="1"/>
            </p:cNvGraphicFramePr>
            <p:nvPr/>
          </p:nvGraphicFramePr>
          <p:xfrm>
            <a:off x="3578" y="1797"/>
            <a:ext cx="254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28600" imgH="203040" progId="Equation.3">
                    <p:embed/>
                  </p:oleObj>
                </mc:Choice>
                <mc:Fallback>
                  <p:oleObj name="Equation" r:id="rId6" imgW="228600" imgH="203040" progId="Equation.3">
                    <p:embed/>
                    <p:pic>
                      <p:nvPicPr>
                        <p:cNvPr id="280646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8" y="1797"/>
                          <a:ext cx="254" cy="2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0647" name="Object 71"/>
            <p:cNvGraphicFramePr>
              <a:graphicFrameLocks noChangeAspect="1"/>
            </p:cNvGraphicFramePr>
            <p:nvPr/>
          </p:nvGraphicFramePr>
          <p:xfrm>
            <a:off x="3573" y="2526"/>
            <a:ext cx="254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28600" imgH="203040" progId="Equation.3">
                    <p:embed/>
                  </p:oleObj>
                </mc:Choice>
                <mc:Fallback>
                  <p:oleObj name="Equation" r:id="rId8" imgW="228600" imgH="203040" progId="Equation.3">
                    <p:embed/>
                    <p:pic>
                      <p:nvPicPr>
                        <p:cNvPr id="280647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3" y="2526"/>
                          <a:ext cx="254" cy="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0648" name="Line 72"/>
            <p:cNvSpPr>
              <a:spLocks noChangeShapeType="1"/>
            </p:cNvSpPr>
            <p:nvPr/>
          </p:nvSpPr>
          <p:spPr bwMode="auto">
            <a:xfrm>
              <a:off x="3168" y="23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49" name="Line 73"/>
            <p:cNvSpPr>
              <a:spLocks noChangeShapeType="1"/>
            </p:cNvSpPr>
            <p:nvPr/>
          </p:nvSpPr>
          <p:spPr bwMode="auto">
            <a:xfrm flipH="1">
              <a:off x="3578" y="2764"/>
              <a:ext cx="1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0650" name="Group 74"/>
          <p:cNvGrpSpPr>
            <a:grpSpLocks/>
          </p:cNvGrpSpPr>
          <p:nvPr/>
        </p:nvGrpSpPr>
        <p:grpSpPr bwMode="auto">
          <a:xfrm>
            <a:off x="3733800" y="2971800"/>
            <a:ext cx="3810000" cy="3184525"/>
            <a:chOff x="2352" y="1872"/>
            <a:chExt cx="2400" cy="2006"/>
          </a:xfrm>
        </p:grpSpPr>
        <p:graphicFrame>
          <p:nvGraphicFramePr>
            <p:cNvPr id="280651" name="Object 7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4124653"/>
                </p:ext>
              </p:extLst>
            </p:nvPr>
          </p:nvGraphicFramePr>
          <p:xfrm>
            <a:off x="2352" y="3399"/>
            <a:ext cx="216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52280" imgH="215640" progId="Equation.3">
                    <p:embed/>
                  </p:oleObj>
                </mc:Choice>
                <mc:Fallback>
                  <p:oleObj name="公式" r:id="rId10" imgW="152280" imgH="215640" progId="Equation.3">
                    <p:embed/>
                    <p:pic>
                      <p:nvPicPr>
                        <p:cNvPr id="280651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3399"/>
                          <a:ext cx="216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0652" name="Group 76"/>
            <p:cNvGrpSpPr>
              <a:grpSpLocks/>
            </p:cNvGrpSpPr>
            <p:nvPr/>
          </p:nvGrpSpPr>
          <p:grpSpPr bwMode="auto">
            <a:xfrm>
              <a:off x="2352" y="1872"/>
              <a:ext cx="2400" cy="2006"/>
              <a:chOff x="2352" y="1872"/>
              <a:chExt cx="2400" cy="2006"/>
            </a:xfrm>
          </p:grpSpPr>
          <p:grpSp>
            <p:nvGrpSpPr>
              <p:cNvPr id="280653" name="Group 77"/>
              <p:cNvGrpSpPr>
                <a:grpSpLocks/>
              </p:cNvGrpSpPr>
              <p:nvPr/>
            </p:nvGrpSpPr>
            <p:grpSpPr bwMode="auto">
              <a:xfrm>
                <a:off x="2688" y="3552"/>
                <a:ext cx="302" cy="326"/>
                <a:chOff x="1020" y="1706"/>
                <a:chExt cx="317" cy="363"/>
              </a:xfrm>
            </p:grpSpPr>
            <p:sp>
              <p:nvSpPr>
                <p:cNvPr id="280654" name="Rectangle 78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80655" name="Oval 79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80656" name="Line 80"/>
              <p:cNvSpPr>
                <a:spLocks noChangeShapeType="1"/>
              </p:cNvSpPr>
              <p:nvPr/>
            </p:nvSpPr>
            <p:spPr bwMode="auto">
              <a:xfrm flipH="1">
                <a:off x="2352" y="3704"/>
                <a:ext cx="336" cy="0"/>
              </a:xfrm>
              <a:prstGeom prst="line">
                <a:avLst/>
              </a:prstGeom>
              <a:ln>
                <a:headEnd/>
                <a:tailEnd/>
              </a:ln>
              <a:effec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57" name="Line 81"/>
              <p:cNvSpPr>
                <a:spLocks noChangeShapeType="1"/>
              </p:cNvSpPr>
              <p:nvPr/>
            </p:nvSpPr>
            <p:spPr bwMode="auto">
              <a:xfrm>
                <a:off x="2976" y="3696"/>
                <a:ext cx="1776" cy="0"/>
              </a:xfrm>
              <a:prstGeom prst="line">
                <a:avLst/>
              </a:prstGeom>
              <a:ln>
                <a:headEnd/>
                <a:tailEnd/>
              </a:ln>
              <a:effec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58" name="Line 82"/>
              <p:cNvSpPr>
                <a:spLocks noChangeShapeType="1"/>
              </p:cNvSpPr>
              <p:nvPr/>
            </p:nvSpPr>
            <p:spPr bwMode="auto">
              <a:xfrm flipH="1">
                <a:off x="4560" y="1872"/>
                <a:ext cx="0" cy="1824"/>
              </a:xfrm>
              <a:prstGeom prst="line">
                <a:avLst/>
              </a:prstGeom>
              <a:ln>
                <a:headEnd/>
                <a:tailEnd/>
              </a:ln>
              <a:effec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59" name="Line 83"/>
              <p:cNvSpPr>
                <a:spLocks noChangeShapeType="1"/>
              </p:cNvSpPr>
              <p:nvPr/>
            </p:nvSpPr>
            <p:spPr bwMode="auto">
              <a:xfrm flipH="1">
                <a:off x="4560" y="1872"/>
                <a:ext cx="192" cy="0"/>
              </a:xfrm>
              <a:prstGeom prst="line">
                <a:avLst/>
              </a:prstGeom>
              <a:ln>
                <a:headEnd/>
                <a:tailEnd/>
              </a:ln>
              <a:effec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60" name="Line 84"/>
              <p:cNvSpPr>
                <a:spLocks noChangeShapeType="1"/>
              </p:cNvSpPr>
              <p:nvPr/>
            </p:nvSpPr>
            <p:spPr bwMode="auto">
              <a:xfrm flipH="1">
                <a:off x="4560" y="2448"/>
                <a:ext cx="192" cy="0"/>
              </a:xfrm>
              <a:prstGeom prst="line">
                <a:avLst/>
              </a:prstGeom>
              <a:ln>
                <a:headEnd/>
                <a:tailEnd/>
              </a:ln>
              <a:effec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61" name="Line 85"/>
              <p:cNvSpPr>
                <a:spLocks noChangeShapeType="1"/>
              </p:cNvSpPr>
              <p:nvPr/>
            </p:nvSpPr>
            <p:spPr bwMode="auto">
              <a:xfrm flipH="1">
                <a:off x="4560" y="3072"/>
                <a:ext cx="192" cy="0"/>
              </a:xfrm>
              <a:prstGeom prst="line">
                <a:avLst/>
              </a:prstGeom>
              <a:ln>
                <a:headEnd/>
                <a:tailEnd/>
              </a:ln>
              <a:effec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62" name="Oval 86"/>
              <p:cNvSpPr>
                <a:spLocks noChangeArrowheads="1"/>
              </p:cNvSpPr>
              <p:nvPr/>
            </p:nvSpPr>
            <p:spPr bwMode="auto">
              <a:xfrm>
                <a:off x="4512" y="2400"/>
                <a:ext cx="92" cy="86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63" name="Oval 87"/>
              <p:cNvSpPr>
                <a:spLocks noChangeArrowheads="1"/>
              </p:cNvSpPr>
              <p:nvPr/>
            </p:nvSpPr>
            <p:spPr bwMode="auto">
              <a:xfrm>
                <a:off x="4512" y="3024"/>
                <a:ext cx="92" cy="86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64" name="Oval 88"/>
              <p:cNvSpPr>
                <a:spLocks noChangeArrowheads="1"/>
              </p:cNvSpPr>
              <p:nvPr/>
            </p:nvSpPr>
            <p:spPr bwMode="auto">
              <a:xfrm>
                <a:off x="4512" y="3648"/>
                <a:ext cx="92" cy="86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aphicFrame>
        <p:nvGraphicFramePr>
          <p:cNvPr id="280665" name="Object 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679005"/>
              </p:ext>
            </p:extLst>
          </p:nvPr>
        </p:nvGraphicFramePr>
        <p:xfrm>
          <a:off x="1162050" y="2762250"/>
          <a:ext cx="1746250" cy="269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74360" imgH="1193760" progId="Equation.3">
                  <p:embed/>
                </p:oleObj>
              </mc:Choice>
              <mc:Fallback>
                <p:oleObj name="公式" r:id="rId12" imgW="774360" imgH="1193760" progId="Equation.3">
                  <p:embed/>
                  <p:pic>
                    <p:nvPicPr>
                      <p:cNvPr id="280665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0" y="2762250"/>
                        <a:ext cx="1746250" cy="269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0666" name="Group 90"/>
          <p:cNvGrpSpPr>
            <a:grpSpLocks/>
          </p:cNvGrpSpPr>
          <p:nvPr/>
        </p:nvGrpSpPr>
        <p:grpSpPr bwMode="auto">
          <a:xfrm>
            <a:off x="437416" y="1266825"/>
            <a:ext cx="8153400" cy="4676775"/>
            <a:chOff x="384" y="750"/>
            <a:chExt cx="5136" cy="2946"/>
          </a:xfrm>
        </p:grpSpPr>
        <p:sp>
          <p:nvSpPr>
            <p:cNvPr id="280667" name="Rectangle 91"/>
            <p:cNvSpPr>
              <a:spLocks noChangeArrowheads="1"/>
            </p:cNvSpPr>
            <p:nvPr/>
          </p:nvSpPr>
          <p:spPr bwMode="auto">
            <a:xfrm>
              <a:off x="384" y="768"/>
              <a:ext cx="5136" cy="29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rgbClr val="CC00FF"/>
                </a:buClr>
                <a:buFont typeface="Wingdings" pitchFamily="2" charset="2"/>
                <a:buChar char="l"/>
              </a:pPr>
              <a:r>
                <a:rPr lang="zh-CN" altLang="en-US" sz="32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有使能端   的</a:t>
              </a:r>
              <a:r>
                <a:rPr lang="en-US" altLang="zh-CN" sz="32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2-4</a:t>
              </a:r>
              <a:r>
                <a:rPr lang="zh-CN" altLang="en-US" sz="32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解碼器</a:t>
              </a:r>
            </a:p>
            <a:p>
              <a:pPr marL="742950" lvl="1" indent="-285750">
                <a:spcBef>
                  <a:spcPct val="20000"/>
                </a:spcBef>
                <a:buClr>
                  <a:srgbClr val="CC00FF"/>
                </a:buClr>
                <a:buFont typeface="Wingdings" pitchFamily="2" charset="2"/>
                <a:buChar char="Ø"/>
              </a:pP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根據運算式畫出邏輯圖</a:t>
              </a:r>
            </a:p>
          </p:txBody>
        </p:sp>
        <p:graphicFrame>
          <p:nvGraphicFramePr>
            <p:cNvPr id="280668" name="Object 9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4761107"/>
                </p:ext>
              </p:extLst>
            </p:nvPr>
          </p:nvGraphicFramePr>
          <p:xfrm>
            <a:off x="1673" y="750"/>
            <a:ext cx="252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52280" imgH="215640" progId="Equation.3">
                    <p:embed/>
                  </p:oleObj>
                </mc:Choice>
                <mc:Fallback>
                  <p:oleObj name="公式" r:id="rId14" imgW="152280" imgH="215640" progId="Equation.3">
                    <p:embed/>
                    <p:pic>
                      <p:nvPicPr>
                        <p:cNvPr id="280668" name="Object 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3" y="750"/>
                          <a:ext cx="252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3641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280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14</a:t>
            </a:r>
            <a:r>
              <a:rPr lang="zh-CN" altLang="en-US" sz="3600" dirty="0"/>
              <a:t>）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8616-25B5-4FB0-9C1E-6EF9D1390C81}" type="slidenum">
              <a:rPr lang="en-US" altLang="zh-CN">
                <a:latin typeface="+mn-ea"/>
                <a:ea typeface="+mn-ea"/>
              </a:rPr>
              <a:pPr/>
              <a:t>18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816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解碼器使能端   的作用</a:t>
            </a: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在積體電路中增加控制使能</a:t>
            </a:r>
            <a:r>
              <a:rPr lang="en-US" altLang="zh-CN" b="1" dirty="0">
                <a:latin typeface="+mn-ea"/>
              </a:rPr>
              <a:t>(Enable)</a:t>
            </a:r>
            <a:r>
              <a:rPr lang="zh-CN" altLang="en-US" b="1" dirty="0">
                <a:latin typeface="+mn-ea"/>
              </a:rPr>
              <a:t>端  ，是電路設計中常用的技術，使得積體電路更加靈活、可靠。</a:t>
            </a:r>
          </a:p>
          <a:p>
            <a:pPr lvl="1"/>
            <a:r>
              <a:rPr lang="zh-CN" altLang="en-US" b="1" dirty="0">
                <a:latin typeface="+mn-ea"/>
              </a:rPr>
              <a:t>靈活：用於擴展</a:t>
            </a:r>
          </a:p>
          <a:p>
            <a:pPr lvl="1"/>
            <a:r>
              <a:rPr lang="zh-CN" altLang="en-US" b="1" dirty="0">
                <a:latin typeface="+mn-ea"/>
              </a:rPr>
              <a:t>可靠：用於選通</a:t>
            </a:r>
          </a:p>
        </p:txBody>
      </p:sp>
      <p:graphicFrame>
        <p:nvGraphicFramePr>
          <p:cNvPr id="2816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667664"/>
              </p:ext>
            </p:extLst>
          </p:nvPr>
        </p:nvGraphicFramePr>
        <p:xfrm>
          <a:off x="2051720" y="2774928"/>
          <a:ext cx="360040" cy="510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2280" imgH="215640" progId="Equation.3">
                  <p:embed/>
                </p:oleObj>
              </mc:Choice>
              <mc:Fallback>
                <p:oleObj name="公式" r:id="rId2" imgW="152280" imgH="215640" progId="Equation.3">
                  <p:embed/>
                  <p:pic>
                    <p:nvPicPr>
                      <p:cNvPr id="2816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2774928"/>
                        <a:ext cx="360040" cy="5100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780100"/>
              </p:ext>
            </p:extLst>
          </p:nvPr>
        </p:nvGraphicFramePr>
        <p:xfrm>
          <a:off x="4283968" y="1556792"/>
          <a:ext cx="355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2280" imgH="215640" progId="Equation.3">
                  <p:embed/>
                </p:oleObj>
              </mc:Choice>
              <mc:Fallback>
                <p:oleObj name="公式" r:id="rId2" imgW="152280" imgH="215640" progId="Equation.3">
                  <p:embed/>
                  <p:pic>
                    <p:nvPicPr>
                      <p:cNvPr id="48538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1556792"/>
                        <a:ext cx="3556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1260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15</a:t>
            </a:r>
            <a:r>
              <a:rPr lang="zh-CN" altLang="en-US" sz="3600" dirty="0"/>
              <a:t>）</a:t>
            </a:r>
          </a:p>
        </p:txBody>
      </p:sp>
      <p:sp>
        <p:nvSpPr>
          <p:cNvPr id="8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8E6BE-615D-4D75-B6D0-4001057D2B0A}" type="slidenum">
              <a:rPr lang="en-US" altLang="zh-CN">
                <a:latin typeface="+mn-ea"/>
                <a:ea typeface="+mn-ea"/>
              </a:rPr>
              <a:pPr/>
              <a:t>19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82627" name="Rectangle 3"/>
          <p:cNvSpPr>
            <a:spLocks noChangeArrowheads="1"/>
          </p:cNvSpPr>
          <p:nvPr/>
        </p:nvSpPr>
        <p:spPr bwMode="auto">
          <a:xfrm>
            <a:off x="762000" y="3733800"/>
            <a:ext cx="3505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高位輸入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C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用作選片，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A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、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B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用於選中片內解碼。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914400" y="5334000"/>
            <a:ext cx="2209800" cy="83099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FFFF00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C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＝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選中片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II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。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 </a:t>
            </a:r>
          </a:p>
        </p:txBody>
      </p:sp>
      <p:grpSp>
        <p:nvGrpSpPr>
          <p:cNvPr id="282629" name="Group 5"/>
          <p:cNvGrpSpPr>
            <a:grpSpLocks/>
          </p:cNvGrpSpPr>
          <p:nvPr/>
        </p:nvGrpSpPr>
        <p:grpSpPr bwMode="auto">
          <a:xfrm>
            <a:off x="495304" y="1285926"/>
            <a:ext cx="6076959" cy="1774462"/>
            <a:chOff x="312" y="799"/>
            <a:chExt cx="3333" cy="1392"/>
          </a:xfrm>
        </p:grpSpPr>
        <p:sp>
          <p:nvSpPr>
            <p:cNvPr id="282630" name="Rectangle 6"/>
            <p:cNvSpPr>
              <a:spLocks noChangeArrowheads="1"/>
            </p:cNvSpPr>
            <p:nvPr/>
          </p:nvSpPr>
          <p:spPr bwMode="auto">
            <a:xfrm>
              <a:off x="312" y="799"/>
              <a:ext cx="3333" cy="13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rgbClr val="CC00FF"/>
                </a:buClr>
                <a:buFont typeface="Wingdings" pitchFamily="2" charset="2"/>
                <a:buChar char="l"/>
              </a:pPr>
              <a:r>
                <a:rPr lang="zh-CN" altLang="en-US" sz="32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解碼器使能端  的作用</a:t>
              </a:r>
            </a:p>
            <a:p>
              <a:pPr marL="742950" lvl="1" indent="-285750">
                <a:spcBef>
                  <a:spcPct val="20000"/>
                </a:spcBef>
                <a:buClr>
                  <a:srgbClr val="CC00FF"/>
                </a:buClr>
                <a:buFont typeface="Wingdings" pitchFamily="2" charset="2"/>
                <a:buChar char="Ø"/>
              </a:pPr>
              <a:r>
                <a:rPr lang="zh-CN" altLang="en-US" sz="24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用於多片擴展（作用一）</a:t>
              </a:r>
              <a:r>
                <a:rPr lang="en-US" altLang="zh-CN" sz="24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:</a:t>
              </a:r>
            </a:p>
            <a:p>
              <a:pPr marL="742950" lvl="1" indent="-285750">
                <a:spcBef>
                  <a:spcPct val="20000"/>
                </a:spcBef>
                <a:buClr>
                  <a:srgbClr val="CC00FF"/>
                </a:buClr>
              </a:pP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例</a:t>
              </a:r>
              <a:r>
                <a:rPr lang="en-US" altLang="zh-CN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:</a:t>
              </a: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用兩片帶使能端的</a:t>
              </a:r>
              <a:r>
                <a:rPr lang="en-US" altLang="zh-CN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2-4</a:t>
              </a: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解碼器</a:t>
              </a:r>
              <a:br>
                <a:rPr lang="en-US" altLang="zh-CN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</a:b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組成</a:t>
              </a:r>
              <a:r>
                <a:rPr lang="en-US" altLang="zh-CN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3-8</a:t>
              </a: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解碼器</a:t>
              </a:r>
            </a:p>
          </p:txBody>
        </p:sp>
        <p:graphicFrame>
          <p:nvGraphicFramePr>
            <p:cNvPr id="282631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622661"/>
                </p:ext>
              </p:extLst>
            </p:nvPr>
          </p:nvGraphicFramePr>
          <p:xfrm>
            <a:off x="1865" y="855"/>
            <a:ext cx="252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52280" imgH="215640" progId="Equation.3">
                    <p:embed/>
                  </p:oleObj>
                </mc:Choice>
                <mc:Fallback>
                  <p:oleObj name="公式" r:id="rId2" imgW="152280" imgH="215640" progId="Equation.3">
                    <p:embed/>
                    <p:pic>
                      <p:nvPicPr>
                        <p:cNvPr id="282631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5" y="855"/>
                          <a:ext cx="252" cy="3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2632" name="Group 8"/>
          <p:cNvGrpSpPr>
            <a:grpSpLocks/>
          </p:cNvGrpSpPr>
          <p:nvPr/>
        </p:nvGrpSpPr>
        <p:grpSpPr bwMode="auto">
          <a:xfrm>
            <a:off x="6400800" y="2133601"/>
            <a:ext cx="1657350" cy="2009776"/>
            <a:chOff x="4032" y="1344"/>
            <a:chExt cx="1044" cy="1266"/>
          </a:xfrm>
        </p:grpSpPr>
        <p:sp>
          <p:nvSpPr>
            <p:cNvPr id="282633" name="Rectangle 9"/>
            <p:cNvSpPr>
              <a:spLocks noChangeArrowheads="1"/>
            </p:cNvSpPr>
            <p:nvPr/>
          </p:nvSpPr>
          <p:spPr bwMode="auto">
            <a:xfrm>
              <a:off x="4214" y="1344"/>
              <a:ext cx="681" cy="12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34" name="Line 10"/>
            <p:cNvSpPr>
              <a:spLocks noChangeShapeType="1"/>
            </p:cNvSpPr>
            <p:nvPr/>
          </p:nvSpPr>
          <p:spPr bwMode="auto">
            <a:xfrm>
              <a:off x="4032" y="158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35" name="Line 11"/>
            <p:cNvSpPr>
              <a:spLocks noChangeShapeType="1"/>
            </p:cNvSpPr>
            <p:nvPr/>
          </p:nvSpPr>
          <p:spPr bwMode="auto">
            <a:xfrm>
              <a:off x="4894" y="148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36" name="Line 12"/>
            <p:cNvSpPr>
              <a:spLocks noChangeShapeType="1"/>
            </p:cNvSpPr>
            <p:nvPr/>
          </p:nvSpPr>
          <p:spPr bwMode="auto">
            <a:xfrm>
              <a:off x="4894" y="1797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37" name="Line 13"/>
            <p:cNvSpPr>
              <a:spLocks noChangeShapeType="1"/>
            </p:cNvSpPr>
            <p:nvPr/>
          </p:nvSpPr>
          <p:spPr bwMode="auto">
            <a:xfrm>
              <a:off x="4894" y="2115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38" name="Line 14"/>
            <p:cNvSpPr>
              <a:spLocks noChangeShapeType="1"/>
            </p:cNvSpPr>
            <p:nvPr/>
          </p:nvSpPr>
          <p:spPr bwMode="auto">
            <a:xfrm>
              <a:off x="4894" y="2432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39" name="Rectangle 15"/>
            <p:cNvSpPr>
              <a:spLocks noChangeArrowheads="1"/>
            </p:cNvSpPr>
            <p:nvPr/>
          </p:nvSpPr>
          <p:spPr bwMode="auto">
            <a:xfrm>
              <a:off x="4622" y="1344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82640" name="Line 16"/>
            <p:cNvSpPr>
              <a:spLocks noChangeShapeType="1"/>
            </p:cNvSpPr>
            <p:nvPr/>
          </p:nvSpPr>
          <p:spPr bwMode="auto">
            <a:xfrm>
              <a:off x="4033" y="1920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41" name="Rectangle 17"/>
            <p:cNvSpPr>
              <a:spLocks noChangeArrowheads="1"/>
            </p:cNvSpPr>
            <p:nvPr/>
          </p:nvSpPr>
          <p:spPr bwMode="auto">
            <a:xfrm>
              <a:off x="4623" y="1661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82642" name="Rectangle 18"/>
            <p:cNvSpPr>
              <a:spLocks noChangeArrowheads="1"/>
            </p:cNvSpPr>
            <p:nvPr/>
          </p:nvSpPr>
          <p:spPr bwMode="auto">
            <a:xfrm>
              <a:off x="4623" y="1979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82643" name="Rectangle 19"/>
            <p:cNvSpPr>
              <a:spLocks noChangeArrowheads="1"/>
            </p:cNvSpPr>
            <p:nvPr/>
          </p:nvSpPr>
          <p:spPr bwMode="auto">
            <a:xfrm>
              <a:off x="4623" y="2319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3</a:t>
              </a:r>
            </a:p>
          </p:txBody>
        </p:sp>
        <p:sp>
          <p:nvSpPr>
            <p:cNvPr id="282644" name="Text Box 20"/>
            <p:cNvSpPr txBox="1">
              <a:spLocks noChangeArrowheads="1"/>
            </p:cNvSpPr>
            <p:nvPr/>
          </p:nvSpPr>
          <p:spPr bwMode="auto">
            <a:xfrm>
              <a:off x="4215" y="1480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latin typeface="+mn-ea"/>
                  <a:ea typeface="+mn-ea"/>
                </a:rPr>
                <a:t>A</a:t>
              </a:r>
            </a:p>
          </p:txBody>
        </p:sp>
        <p:sp>
          <p:nvSpPr>
            <p:cNvPr id="282645" name="Text Box 21"/>
            <p:cNvSpPr txBox="1">
              <a:spLocks noChangeArrowheads="1"/>
            </p:cNvSpPr>
            <p:nvPr/>
          </p:nvSpPr>
          <p:spPr bwMode="auto">
            <a:xfrm>
              <a:off x="4215" y="1824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latin typeface="+mn-ea"/>
                  <a:ea typeface="+mn-ea"/>
                </a:rPr>
                <a:t>B</a:t>
              </a:r>
            </a:p>
          </p:txBody>
        </p:sp>
        <p:sp>
          <p:nvSpPr>
            <p:cNvPr id="282646" name="Line 22"/>
            <p:cNvSpPr>
              <a:spLocks noChangeShapeType="1"/>
            </p:cNvSpPr>
            <p:nvPr/>
          </p:nvSpPr>
          <p:spPr bwMode="auto">
            <a:xfrm>
              <a:off x="4034" y="2256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82647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9470490"/>
                </p:ext>
              </p:extLst>
            </p:nvPr>
          </p:nvGraphicFramePr>
          <p:xfrm>
            <a:off x="4241" y="2146"/>
            <a:ext cx="18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52280" imgH="215640" progId="Equation.3">
                    <p:embed/>
                  </p:oleObj>
                </mc:Choice>
                <mc:Fallback>
                  <p:oleObj name="公式" r:id="rId4" imgW="152280" imgH="215640" progId="Equation.3">
                    <p:embed/>
                    <p:pic>
                      <p:nvPicPr>
                        <p:cNvPr id="282647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2146"/>
                          <a:ext cx="18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2648" name="Rectangle 24"/>
            <p:cNvSpPr>
              <a:spLocks noChangeArrowheads="1"/>
            </p:cNvSpPr>
            <p:nvPr/>
          </p:nvSpPr>
          <p:spPr bwMode="auto">
            <a:xfrm>
              <a:off x="4452" y="1824"/>
              <a:ext cx="2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+mn-ea"/>
                  <a:ea typeface="+mn-ea"/>
                </a:rPr>
                <a:t>I</a:t>
              </a:r>
            </a:p>
          </p:txBody>
        </p:sp>
      </p:grpSp>
      <p:grpSp>
        <p:nvGrpSpPr>
          <p:cNvPr id="282649" name="Group 25"/>
          <p:cNvGrpSpPr>
            <a:grpSpLocks/>
          </p:cNvGrpSpPr>
          <p:nvPr/>
        </p:nvGrpSpPr>
        <p:grpSpPr bwMode="auto">
          <a:xfrm>
            <a:off x="6400800" y="4267201"/>
            <a:ext cx="1657350" cy="2009776"/>
            <a:chOff x="4032" y="2688"/>
            <a:chExt cx="1044" cy="1266"/>
          </a:xfrm>
        </p:grpSpPr>
        <p:sp>
          <p:nvSpPr>
            <p:cNvPr id="282650" name="Rectangle 26"/>
            <p:cNvSpPr>
              <a:spLocks noChangeArrowheads="1"/>
            </p:cNvSpPr>
            <p:nvPr/>
          </p:nvSpPr>
          <p:spPr bwMode="auto">
            <a:xfrm>
              <a:off x="4214" y="2688"/>
              <a:ext cx="681" cy="12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51" name="Line 27"/>
            <p:cNvSpPr>
              <a:spLocks noChangeShapeType="1"/>
            </p:cNvSpPr>
            <p:nvPr/>
          </p:nvSpPr>
          <p:spPr bwMode="auto">
            <a:xfrm>
              <a:off x="4032" y="292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52" name="Line 28"/>
            <p:cNvSpPr>
              <a:spLocks noChangeShapeType="1"/>
            </p:cNvSpPr>
            <p:nvPr/>
          </p:nvSpPr>
          <p:spPr bwMode="auto">
            <a:xfrm>
              <a:off x="4894" y="282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53" name="Line 29"/>
            <p:cNvSpPr>
              <a:spLocks noChangeShapeType="1"/>
            </p:cNvSpPr>
            <p:nvPr/>
          </p:nvSpPr>
          <p:spPr bwMode="auto">
            <a:xfrm>
              <a:off x="4894" y="3141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54" name="Line 30"/>
            <p:cNvSpPr>
              <a:spLocks noChangeShapeType="1"/>
            </p:cNvSpPr>
            <p:nvPr/>
          </p:nvSpPr>
          <p:spPr bwMode="auto">
            <a:xfrm>
              <a:off x="4894" y="3459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55" name="Line 31"/>
            <p:cNvSpPr>
              <a:spLocks noChangeShapeType="1"/>
            </p:cNvSpPr>
            <p:nvPr/>
          </p:nvSpPr>
          <p:spPr bwMode="auto">
            <a:xfrm>
              <a:off x="4894" y="377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56" name="Rectangle 32"/>
            <p:cNvSpPr>
              <a:spLocks noChangeArrowheads="1"/>
            </p:cNvSpPr>
            <p:nvPr/>
          </p:nvSpPr>
          <p:spPr bwMode="auto">
            <a:xfrm>
              <a:off x="4622" y="2688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82657" name="Line 33"/>
            <p:cNvSpPr>
              <a:spLocks noChangeShapeType="1"/>
            </p:cNvSpPr>
            <p:nvPr/>
          </p:nvSpPr>
          <p:spPr bwMode="auto">
            <a:xfrm>
              <a:off x="4033" y="3312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58" name="Rectangle 34"/>
            <p:cNvSpPr>
              <a:spLocks noChangeArrowheads="1"/>
            </p:cNvSpPr>
            <p:nvPr/>
          </p:nvSpPr>
          <p:spPr bwMode="auto">
            <a:xfrm>
              <a:off x="4623" y="3005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82659" name="Rectangle 35"/>
            <p:cNvSpPr>
              <a:spLocks noChangeArrowheads="1"/>
            </p:cNvSpPr>
            <p:nvPr/>
          </p:nvSpPr>
          <p:spPr bwMode="auto">
            <a:xfrm>
              <a:off x="4623" y="3323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82660" name="Rectangle 36"/>
            <p:cNvSpPr>
              <a:spLocks noChangeArrowheads="1"/>
            </p:cNvSpPr>
            <p:nvPr/>
          </p:nvSpPr>
          <p:spPr bwMode="auto">
            <a:xfrm>
              <a:off x="4623" y="3663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3</a:t>
              </a:r>
            </a:p>
          </p:txBody>
        </p:sp>
        <p:sp>
          <p:nvSpPr>
            <p:cNvPr id="282661" name="Text Box 37"/>
            <p:cNvSpPr txBox="1">
              <a:spLocks noChangeArrowheads="1"/>
            </p:cNvSpPr>
            <p:nvPr/>
          </p:nvSpPr>
          <p:spPr bwMode="auto">
            <a:xfrm>
              <a:off x="4215" y="2824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latin typeface="+mn-ea"/>
                  <a:ea typeface="+mn-ea"/>
                </a:rPr>
                <a:t>A</a:t>
              </a:r>
            </a:p>
          </p:txBody>
        </p:sp>
        <p:sp>
          <p:nvSpPr>
            <p:cNvPr id="282662" name="Text Box 38"/>
            <p:cNvSpPr txBox="1">
              <a:spLocks noChangeArrowheads="1"/>
            </p:cNvSpPr>
            <p:nvPr/>
          </p:nvSpPr>
          <p:spPr bwMode="auto">
            <a:xfrm>
              <a:off x="4215" y="3228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latin typeface="+mn-ea"/>
                  <a:ea typeface="+mn-ea"/>
                </a:rPr>
                <a:t>B</a:t>
              </a:r>
            </a:p>
          </p:txBody>
        </p:sp>
        <p:sp>
          <p:nvSpPr>
            <p:cNvPr id="282663" name="Line 39"/>
            <p:cNvSpPr>
              <a:spLocks noChangeShapeType="1"/>
            </p:cNvSpPr>
            <p:nvPr/>
          </p:nvSpPr>
          <p:spPr bwMode="auto">
            <a:xfrm>
              <a:off x="4034" y="3648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82664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3319166"/>
                </p:ext>
              </p:extLst>
            </p:nvPr>
          </p:nvGraphicFramePr>
          <p:xfrm>
            <a:off x="4226" y="3478"/>
            <a:ext cx="18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80" imgH="215640" progId="Equation.3">
                    <p:embed/>
                  </p:oleObj>
                </mc:Choice>
                <mc:Fallback>
                  <p:oleObj name="Equation" r:id="rId6" imgW="152280" imgH="215640" progId="Equation.3">
                    <p:embed/>
                    <p:pic>
                      <p:nvPicPr>
                        <p:cNvPr id="282664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6" y="3478"/>
                          <a:ext cx="18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2665" name="Rectangle 41"/>
            <p:cNvSpPr>
              <a:spLocks noChangeArrowheads="1"/>
            </p:cNvSpPr>
            <p:nvPr/>
          </p:nvSpPr>
          <p:spPr bwMode="auto">
            <a:xfrm>
              <a:off x="4392" y="3120"/>
              <a:ext cx="3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+mn-ea"/>
                  <a:ea typeface="+mn-ea"/>
                </a:rPr>
                <a:t>II</a:t>
              </a:r>
            </a:p>
          </p:txBody>
        </p:sp>
      </p:grpSp>
      <p:sp>
        <p:nvSpPr>
          <p:cNvPr id="282666" name="Rectangle 42"/>
          <p:cNvSpPr>
            <a:spLocks noChangeArrowheads="1"/>
          </p:cNvSpPr>
          <p:nvPr/>
        </p:nvSpPr>
        <p:spPr bwMode="auto">
          <a:xfrm>
            <a:off x="891435" y="4800600"/>
            <a:ext cx="2254143" cy="46166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C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＝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0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選中片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I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，</a:t>
            </a:r>
          </a:p>
        </p:txBody>
      </p:sp>
      <p:grpSp>
        <p:nvGrpSpPr>
          <p:cNvPr id="282667" name="Group 43"/>
          <p:cNvGrpSpPr>
            <a:grpSpLocks/>
          </p:cNvGrpSpPr>
          <p:nvPr/>
        </p:nvGrpSpPr>
        <p:grpSpPr bwMode="auto">
          <a:xfrm>
            <a:off x="5638800" y="5486400"/>
            <a:ext cx="762000" cy="576263"/>
            <a:chOff x="3552" y="3456"/>
            <a:chExt cx="480" cy="363"/>
          </a:xfrm>
        </p:grpSpPr>
        <p:grpSp>
          <p:nvGrpSpPr>
            <p:cNvPr id="282668" name="Group 44"/>
            <p:cNvGrpSpPr>
              <a:grpSpLocks/>
            </p:cNvGrpSpPr>
            <p:nvPr/>
          </p:nvGrpSpPr>
          <p:grpSpPr bwMode="auto">
            <a:xfrm>
              <a:off x="3552" y="3456"/>
              <a:ext cx="317" cy="363"/>
              <a:chOff x="1020" y="1706"/>
              <a:chExt cx="317" cy="363"/>
            </a:xfrm>
          </p:grpSpPr>
          <p:sp>
            <p:nvSpPr>
              <p:cNvPr id="282669" name="Rectangle 45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2670" name="Oval 46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2671" name="Line 47"/>
            <p:cNvSpPr>
              <a:spLocks noChangeShapeType="1"/>
            </p:cNvSpPr>
            <p:nvPr/>
          </p:nvSpPr>
          <p:spPr bwMode="auto">
            <a:xfrm>
              <a:off x="3888" y="364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2672" name="Group 48"/>
          <p:cNvGrpSpPr>
            <a:grpSpLocks/>
          </p:cNvGrpSpPr>
          <p:nvPr/>
        </p:nvGrpSpPr>
        <p:grpSpPr bwMode="auto">
          <a:xfrm>
            <a:off x="6019800" y="2514600"/>
            <a:ext cx="381000" cy="2209800"/>
            <a:chOff x="3792" y="1584"/>
            <a:chExt cx="240" cy="1392"/>
          </a:xfrm>
        </p:grpSpPr>
        <p:sp>
          <p:nvSpPr>
            <p:cNvPr id="282673" name="Line 49"/>
            <p:cNvSpPr>
              <a:spLocks noChangeShapeType="1"/>
            </p:cNvSpPr>
            <p:nvPr/>
          </p:nvSpPr>
          <p:spPr bwMode="auto">
            <a:xfrm flipV="1">
              <a:off x="3840" y="1584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74" name="Line 50"/>
            <p:cNvSpPr>
              <a:spLocks noChangeShapeType="1"/>
            </p:cNvSpPr>
            <p:nvPr/>
          </p:nvSpPr>
          <p:spPr bwMode="auto">
            <a:xfrm>
              <a:off x="3840" y="158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75" name="Oval 51"/>
            <p:cNvSpPr>
              <a:spLocks noChangeArrowheads="1"/>
            </p:cNvSpPr>
            <p:nvPr/>
          </p:nvSpPr>
          <p:spPr bwMode="auto">
            <a:xfrm>
              <a:off x="3792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2676" name="Group 52"/>
          <p:cNvGrpSpPr>
            <a:grpSpLocks/>
          </p:cNvGrpSpPr>
          <p:nvPr/>
        </p:nvGrpSpPr>
        <p:grpSpPr bwMode="auto">
          <a:xfrm>
            <a:off x="5715000" y="3048000"/>
            <a:ext cx="685800" cy="2286000"/>
            <a:chOff x="3600" y="1920"/>
            <a:chExt cx="432" cy="1440"/>
          </a:xfrm>
        </p:grpSpPr>
        <p:sp>
          <p:nvSpPr>
            <p:cNvPr id="282677" name="Line 53"/>
            <p:cNvSpPr>
              <a:spLocks noChangeShapeType="1"/>
            </p:cNvSpPr>
            <p:nvPr/>
          </p:nvSpPr>
          <p:spPr bwMode="auto">
            <a:xfrm flipV="1">
              <a:off x="3648" y="1920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78" name="Line 54"/>
            <p:cNvSpPr>
              <a:spLocks noChangeShapeType="1"/>
            </p:cNvSpPr>
            <p:nvPr/>
          </p:nvSpPr>
          <p:spPr bwMode="auto">
            <a:xfrm flipV="1">
              <a:off x="3648" y="192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79" name="Oval 55"/>
            <p:cNvSpPr>
              <a:spLocks noChangeArrowheads="1"/>
            </p:cNvSpPr>
            <p:nvPr/>
          </p:nvSpPr>
          <p:spPr bwMode="auto">
            <a:xfrm>
              <a:off x="3600" y="326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2680" name="Group 56"/>
          <p:cNvGrpSpPr>
            <a:grpSpLocks/>
          </p:cNvGrpSpPr>
          <p:nvPr/>
        </p:nvGrpSpPr>
        <p:grpSpPr bwMode="auto">
          <a:xfrm>
            <a:off x="5410200" y="3581400"/>
            <a:ext cx="990600" cy="2286000"/>
            <a:chOff x="3408" y="2256"/>
            <a:chExt cx="624" cy="1440"/>
          </a:xfrm>
        </p:grpSpPr>
        <p:sp>
          <p:nvSpPr>
            <p:cNvPr id="282681" name="Line 57"/>
            <p:cNvSpPr>
              <a:spLocks noChangeShapeType="1"/>
            </p:cNvSpPr>
            <p:nvPr/>
          </p:nvSpPr>
          <p:spPr bwMode="auto">
            <a:xfrm flipH="1">
              <a:off x="3456" y="225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82" name="Line 58"/>
            <p:cNvSpPr>
              <a:spLocks noChangeShapeType="1"/>
            </p:cNvSpPr>
            <p:nvPr/>
          </p:nvSpPr>
          <p:spPr bwMode="auto">
            <a:xfrm>
              <a:off x="3456" y="2256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83" name="Oval 59"/>
            <p:cNvSpPr>
              <a:spLocks noChangeArrowheads="1"/>
            </p:cNvSpPr>
            <p:nvPr/>
          </p:nvSpPr>
          <p:spPr bwMode="auto">
            <a:xfrm>
              <a:off x="3408" y="36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2684" name="Group 60"/>
          <p:cNvGrpSpPr>
            <a:grpSpLocks/>
          </p:cNvGrpSpPr>
          <p:nvPr/>
        </p:nvGrpSpPr>
        <p:grpSpPr bwMode="auto">
          <a:xfrm>
            <a:off x="4800602" y="4419605"/>
            <a:ext cx="1600200" cy="461963"/>
            <a:chOff x="3024" y="2784"/>
            <a:chExt cx="1008" cy="291"/>
          </a:xfrm>
        </p:grpSpPr>
        <p:sp>
          <p:nvSpPr>
            <p:cNvPr id="282685" name="Line 61"/>
            <p:cNvSpPr>
              <a:spLocks noChangeShapeType="1"/>
            </p:cNvSpPr>
            <p:nvPr/>
          </p:nvSpPr>
          <p:spPr bwMode="auto">
            <a:xfrm flipH="1">
              <a:off x="3216" y="2928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86" name="Rectangle 62"/>
            <p:cNvSpPr>
              <a:spLocks noChangeArrowheads="1"/>
            </p:cNvSpPr>
            <p:nvPr/>
          </p:nvSpPr>
          <p:spPr bwMode="auto">
            <a:xfrm>
              <a:off x="3024" y="2784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A</a:t>
              </a:r>
            </a:p>
          </p:txBody>
        </p:sp>
      </p:grpSp>
      <p:grpSp>
        <p:nvGrpSpPr>
          <p:cNvPr id="282687" name="Group 63"/>
          <p:cNvGrpSpPr>
            <a:grpSpLocks/>
          </p:cNvGrpSpPr>
          <p:nvPr/>
        </p:nvGrpSpPr>
        <p:grpSpPr bwMode="auto">
          <a:xfrm>
            <a:off x="4800600" y="5029205"/>
            <a:ext cx="1600200" cy="461963"/>
            <a:chOff x="3024" y="3168"/>
            <a:chExt cx="1008" cy="291"/>
          </a:xfrm>
        </p:grpSpPr>
        <p:sp>
          <p:nvSpPr>
            <p:cNvPr id="282688" name="Line 64"/>
            <p:cNvSpPr>
              <a:spLocks noChangeShapeType="1"/>
            </p:cNvSpPr>
            <p:nvPr/>
          </p:nvSpPr>
          <p:spPr bwMode="auto">
            <a:xfrm flipH="1">
              <a:off x="3216" y="331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89" name="Rectangle 65"/>
            <p:cNvSpPr>
              <a:spLocks noChangeArrowheads="1"/>
            </p:cNvSpPr>
            <p:nvPr/>
          </p:nvSpPr>
          <p:spPr bwMode="auto">
            <a:xfrm>
              <a:off x="3024" y="3168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B</a:t>
              </a:r>
            </a:p>
          </p:txBody>
        </p:sp>
      </p:grpSp>
      <p:grpSp>
        <p:nvGrpSpPr>
          <p:cNvPr id="282690" name="Group 66"/>
          <p:cNvGrpSpPr>
            <a:grpSpLocks/>
          </p:cNvGrpSpPr>
          <p:nvPr/>
        </p:nvGrpSpPr>
        <p:grpSpPr bwMode="auto">
          <a:xfrm>
            <a:off x="4800603" y="5562606"/>
            <a:ext cx="838200" cy="461963"/>
            <a:chOff x="3024" y="3504"/>
            <a:chExt cx="528" cy="291"/>
          </a:xfrm>
        </p:grpSpPr>
        <p:sp>
          <p:nvSpPr>
            <p:cNvPr id="282691" name="Line 67"/>
            <p:cNvSpPr>
              <a:spLocks noChangeShapeType="1"/>
            </p:cNvSpPr>
            <p:nvPr/>
          </p:nvSpPr>
          <p:spPr bwMode="auto">
            <a:xfrm flipH="1">
              <a:off x="3216" y="364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92" name="Rectangle 68"/>
            <p:cNvSpPr>
              <a:spLocks noChangeArrowheads="1"/>
            </p:cNvSpPr>
            <p:nvPr/>
          </p:nvSpPr>
          <p:spPr bwMode="auto">
            <a:xfrm>
              <a:off x="3024" y="3504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C</a:t>
              </a:r>
            </a:p>
          </p:txBody>
        </p:sp>
      </p:grpSp>
      <p:grpSp>
        <p:nvGrpSpPr>
          <p:cNvPr id="282693" name="Group 69"/>
          <p:cNvGrpSpPr>
            <a:grpSpLocks/>
          </p:cNvGrpSpPr>
          <p:nvPr/>
        </p:nvGrpSpPr>
        <p:grpSpPr bwMode="auto">
          <a:xfrm>
            <a:off x="8001000" y="2057400"/>
            <a:ext cx="533400" cy="4191000"/>
            <a:chOff x="5040" y="1296"/>
            <a:chExt cx="336" cy="2640"/>
          </a:xfrm>
        </p:grpSpPr>
        <p:sp>
          <p:nvSpPr>
            <p:cNvPr id="282694" name="Rectangle 70"/>
            <p:cNvSpPr>
              <a:spLocks noChangeArrowheads="1"/>
            </p:cNvSpPr>
            <p:nvPr/>
          </p:nvSpPr>
          <p:spPr bwMode="auto">
            <a:xfrm>
              <a:off x="5040" y="1296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282695" name="Rectangle 71"/>
            <p:cNvSpPr>
              <a:spLocks noChangeArrowheads="1"/>
            </p:cNvSpPr>
            <p:nvPr/>
          </p:nvSpPr>
          <p:spPr bwMode="auto">
            <a:xfrm>
              <a:off x="5040" y="1632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282696" name="Rectangle 72"/>
            <p:cNvSpPr>
              <a:spLocks noChangeArrowheads="1"/>
            </p:cNvSpPr>
            <p:nvPr/>
          </p:nvSpPr>
          <p:spPr bwMode="auto">
            <a:xfrm>
              <a:off x="5057" y="1968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282697" name="Rectangle 73"/>
            <p:cNvSpPr>
              <a:spLocks noChangeArrowheads="1"/>
            </p:cNvSpPr>
            <p:nvPr/>
          </p:nvSpPr>
          <p:spPr bwMode="auto">
            <a:xfrm>
              <a:off x="5040" y="2304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282698" name="Rectangle 74"/>
            <p:cNvSpPr>
              <a:spLocks noChangeArrowheads="1"/>
            </p:cNvSpPr>
            <p:nvPr/>
          </p:nvSpPr>
          <p:spPr bwMode="auto">
            <a:xfrm>
              <a:off x="5040" y="2640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282699" name="Rectangle 75"/>
            <p:cNvSpPr>
              <a:spLocks noChangeArrowheads="1"/>
            </p:cNvSpPr>
            <p:nvPr/>
          </p:nvSpPr>
          <p:spPr bwMode="auto">
            <a:xfrm>
              <a:off x="5040" y="2976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5</a:t>
              </a:r>
            </a:p>
          </p:txBody>
        </p:sp>
        <p:sp>
          <p:nvSpPr>
            <p:cNvPr id="282700" name="Rectangle 76"/>
            <p:cNvSpPr>
              <a:spLocks noChangeArrowheads="1"/>
            </p:cNvSpPr>
            <p:nvPr/>
          </p:nvSpPr>
          <p:spPr bwMode="auto">
            <a:xfrm>
              <a:off x="5040" y="3312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6</a:t>
              </a:r>
            </a:p>
          </p:txBody>
        </p:sp>
        <p:sp>
          <p:nvSpPr>
            <p:cNvPr id="282701" name="Rectangle 77"/>
            <p:cNvSpPr>
              <a:spLocks noChangeArrowheads="1"/>
            </p:cNvSpPr>
            <p:nvPr/>
          </p:nvSpPr>
          <p:spPr bwMode="auto">
            <a:xfrm>
              <a:off x="5040" y="3648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7</a:t>
              </a:r>
            </a:p>
          </p:txBody>
        </p:sp>
      </p:grpSp>
      <p:sp>
        <p:nvSpPr>
          <p:cNvPr id="282702" name="Line 78"/>
          <p:cNvSpPr>
            <a:spLocks noChangeShapeType="1"/>
          </p:cNvSpPr>
          <p:nvPr/>
        </p:nvSpPr>
        <p:spPr bwMode="auto">
          <a:xfrm flipV="1">
            <a:off x="3124200" y="3219451"/>
            <a:ext cx="3894138" cy="1809749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2703" name="Line 79"/>
          <p:cNvSpPr>
            <a:spLocks noChangeShapeType="1"/>
          </p:cNvSpPr>
          <p:nvPr/>
        </p:nvSpPr>
        <p:spPr bwMode="auto">
          <a:xfrm flipV="1">
            <a:off x="3124199" y="5149852"/>
            <a:ext cx="3911601" cy="412748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16642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2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2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282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282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82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4" dur="500"/>
                                        <p:tgtEl>
                                          <p:spTgt spid="282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2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2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5" dur="500"/>
                                        <p:tgtEl>
                                          <p:spTgt spid="2827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6" dur="500"/>
                                        <p:tgtEl>
                                          <p:spTgt spid="2827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7" grpId="0" autoUpdateAnimBg="0"/>
      <p:bldP spid="282628" grpId="0" animBg="1" autoUpdateAnimBg="0"/>
      <p:bldP spid="282666" grpId="0" animBg="1" autoUpdateAnimBg="0"/>
      <p:bldP spid="282702" grpId="0" animBg="1"/>
      <p:bldP spid="28270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16</a:t>
            </a:r>
            <a:r>
              <a:rPr lang="zh-CN" altLang="en-US" sz="3600" dirty="0"/>
              <a:t>）</a:t>
            </a:r>
          </a:p>
        </p:txBody>
      </p:sp>
      <p:sp>
        <p:nvSpPr>
          <p:cNvPr id="1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F15F-98E8-4932-B88B-2A9DF325E7AE}" type="slidenum">
              <a:rPr lang="en-US" altLang="zh-CN">
                <a:latin typeface="+mn-ea"/>
                <a:ea typeface="+mn-ea"/>
              </a:rPr>
              <a:pPr/>
              <a:t>20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83651" name="Rectangle 2051"/>
          <p:cNvSpPr>
            <a:spLocks noGrp="1" noChangeArrowheads="1"/>
          </p:cNvSpPr>
          <p:nvPr>
            <p:ph sz="quarter" idx="1"/>
          </p:nvPr>
        </p:nvSpPr>
        <p:spPr>
          <a:xfrm>
            <a:off x="457200" y="1371600"/>
            <a:ext cx="8534400" cy="4648200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effectLst/>
              </a:rPr>
              <a:t>用兩片</a:t>
            </a:r>
            <a:r>
              <a:rPr lang="en-US" altLang="zh-CN" sz="3200" b="1" dirty="0">
                <a:effectLst/>
              </a:rPr>
              <a:t>2-4</a:t>
            </a:r>
            <a:r>
              <a:rPr lang="zh-CN" altLang="en-US" sz="3200" b="1" dirty="0">
                <a:effectLst/>
              </a:rPr>
              <a:t>解碼器組成</a:t>
            </a:r>
            <a:r>
              <a:rPr lang="en-US" altLang="zh-CN" sz="3200" b="1" dirty="0">
                <a:effectLst/>
              </a:rPr>
              <a:t>3-8</a:t>
            </a:r>
            <a:r>
              <a:rPr lang="zh-CN" altLang="en-US" sz="3200" b="1" dirty="0">
                <a:effectLst/>
              </a:rPr>
              <a:t>解碼器的真值表</a:t>
            </a:r>
          </a:p>
        </p:txBody>
      </p:sp>
      <p:grpSp>
        <p:nvGrpSpPr>
          <p:cNvPr id="283652" name="Group 2052"/>
          <p:cNvGrpSpPr>
            <a:grpSpLocks/>
          </p:cNvGrpSpPr>
          <p:nvPr/>
        </p:nvGrpSpPr>
        <p:grpSpPr bwMode="auto">
          <a:xfrm>
            <a:off x="5134725" y="2362200"/>
            <a:ext cx="3821951" cy="4150794"/>
            <a:chOff x="3030" y="1296"/>
            <a:chExt cx="2346" cy="2663"/>
          </a:xfrm>
        </p:grpSpPr>
        <p:grpSp>
          <p:nvGrpSpPr>
            <p:cNvPr id="283653" name="Group 2053"/>
            <p:cNvGrpSpPr>
              <a:grpSpLocks/>
            </p:cNvGrpSpPr>
            <p:nvPr/>
          </p:nvGrpSpPr>
          <p:grpSpPr bwMode="auto">
            <a:xfrm>
              <a:off x="4032" y="1344"/>
              <a:ext cx="1044" cy="1274"/>
              <a:chOff x="4032" y="1344"/>
              <a:chExt cx="1044" cy="1274"/>
            </a:xfrm>
          </p:grpSpPr>
          <p:sp>
            <p:nvSpPr>
              <p:cNvPr id="283654" name="Rectangle 2054"/>
              <p:cNvSpPr>
                <a:spLocks noChangeArrowheads="1"/>
              </p:cNvSpPr>
              <p:nvPr/>
            </p:nvSpPr>
            <p:spPr bwMode="auto">
              <a:xfrm>
                <a:off x="4214" y="1344"/>
                <a:ext cx="681" cy="122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55" name="Line 2055"/>
              <p:cNvSpPr>
                <a:spLocks noChangeShapeType="1"/>
              </p:cNvSpPr>
              <p:nvPr/>
            </p:nvSpPr>
            <p:spPr bwMode="auto">
              <a:xfrm>
                <a:off x="4032" y="1584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56" name="Line 2056"/>
              <p:cNvSpPr>
                <a:spLocks noChangeShapeType="1"/>
              </p:cNvSpPr>
              <p:nvPr/>
            </p:nvSpPr>
            <p:spPr bwMode="auto">
              <a:xfrm>
                <a:off x="4894" y="1480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57" name="Line 2057"/>
              <p:cNvSpPr>
                <a:spLocks noChangeShapeType="1"/>
              </p:cNvSpPr>
              <p:nvPr/>
            </p:nvSpPr>
            <p:spPr bwMode="auto">
              <a:xfrm>
                <a:off x="4894" y="1797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58" name="Line 2058"/>
              <p:cNvSpPr>
                <a:spLocks noChangeShapeType="1"/>
              </p:cNvSpPr>
              <p:nvPr/>
            </p:nvSpPr>
            <p:spPr bwMode="auto">
              <a:xfrm>
                <a:off x="4894" y="2115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59" name="Line 2059"/>
              <p:cNvSpPr>
                <a:spLocks noChangeShapeType="1"/>
              </p:cNvSpPr>
              <p:nvPr/>
            </p:nvSpPr>
            <p:spPr bwMode="auto">
              <a:xfrm>
                <a:off x="4894" y="243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60" name="Rectangle 2060"/>
              <p:cNvSpPr>
                <a:spLocks noChangeArrowheads="1"/>
              </p:cNvSpPr>
              <p:nvPr/>
            </p:nvSpPr>
            <p:spPr bwMode="auto">
              <a:xfrm>
                <a:off x="4622" y="1344"/>
                <a:ext cx="27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283661" name="Line 2061"/>
              <p:cNvSpPr>
                <a:spLocks noChangeShapeType="1"/>
              </p:cNvSpPr>
              <p:nvPr/>
            </p:nvSpPr>
            <p:spPr bwMode="auto">
              <a:xfrm>
                <a:off x="4033" y="1920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62" name="Rectangle 2062"/>
              <p:cNvSpPr>
                <a:spLocks noChangeArrowheads="1"/>
              </p:cNvSpPr>
              <p:nvPr/>
            </p:nvSpPr>
            <p:spPr bwMode="auto">
              <a:xfrm>
                <a:off x="4623" y="1661"/>
                <a:ext cx="27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283663" name="Rectangle 2063"/>
              <p:cNvSpPr>
                <a:spLocks noChangeArrowheads="1"/>
              </p:cNvSpPr>
              <p:nvPr/>
            </p:nvSpPr>
            <p:spPr bwMode="auto">
              <a:xfrm>
                <a:off x="4623" y="1979"/>
                <a:ext cx="27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283664" name="Rectangle 2064"/>
              <p:cNvSpPr>
                <a:spLocks noChangeArrowheads="1"/>
              </p:cNvSpPr>
              <p:nvPr/>
            </p:nvSpPr>
            <p:spPr bwMode="auto">
              <a:xfrm>
                <a:off x="4623" y="2322"/>
                <a:ext cx="27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283665" name="Text Box 2065"/>
              <p:cNvSpPr txBox="1">
                <a:spLocks noChangeArrowheads="1"/>
              </p:cNvSpPr>
              <p:nvPr/>
            </p:nvSpPr>
            <p:spPr bwMode="auto">
              <a:xfrm>
                <a:off x="4214" y="1480"/>
                <a:ext cx="228" cy="2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+mn-ea"/>
                    <a:ea typeface="+mn-ea"/>
                  </a:rPr>
                  <a:t>A</a:t>
                </a:r>
              </a:p>
            </p:txBody>
          </p:sp>
          <p:sp>
            <p:nvSpPr>
              <p:cNvPr id="283666" name="Text Box 2066"/>
              <p:cNvSpPr txBox="1">
                <a:spLocks noChangeArrowheads="1"/>
              </p:cNvSpPr>
              <p:nvPr/>
            </p:nvSpPr>
            <p:spPr bwMode="auto">
              <a:xfrm>
                <a:off x="4214" y="1824"/>
                <a:ext cx="228" cy="2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+mn-ea"/>
                    <a:ea typeface="+mn-ea"/>
                  </a:rPr>
                  <a:t>B</a:t>
                </a:r>
              </a:p>
            </p:txBody>
          </p:sp>
          <p:sp>
            <p:nvSpPr>
              <p:cNvPr id="283667" name="Line 2067"/>
              <p:cNvSpPr>
                <a:spLocks noChangeShapeType="1"/>
              </p:cNvSpPr>
              <p:nvPr/>
            </p:nvSpPr>
            <p:spPr bwMode="auto">
              <a:xfrm>
                <a:off x="4034" y="2256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83668" name="Object 206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65665917"/>
                  </p:ext>
                </p:extLst>
              </p:nvPr>
            </p:nvGraphicFramePr>
            <p:xfrm>
              <a:off x="4226" y="2134"/>
              <a:ext cx="180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80" imgH="215640" progId="Equation.3">
                      <p:embed/>
                    </p:oleObj>
                  </mc:Choice>
                  <mc:Fallback>
                    <p:oleObj name="Equation" r:id="rId2" imgW="152280" imgH="215640" progId="Equation.3">
                      <p:embed/>
                      <p:pic>
                        <p:nvPicPr>
                          <p:cNvPr id="283668" name="Object 206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6" y="2134"/>
                            <a:ext cx="180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3669" name="Rectangle 2069"/>
              <p:cNvSpPr>
                <a:spLocks noChangeArrowheads="1"/>
              </p:cNvSpPr>
              <p:nvPr/>
            </p:nvSpPr>
            <p:spPr bwMode="auto">
              <a:xfrm>
                <a:off x="4455" y="1824"/>
                <a:ext cx="209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I</a:t>
                </a:r>
              </a:p>
            </p:txBody>
          </p:sp>
        </p:grpSp>
        <p:grpSp>
          <p:nvGrpSpPr>
            <p:cNvPr id="283670" name="Group 2070"/>
            <p:cNvGrpSpPr>
              <a:grpSpLocks/>
            </p:cNvGrpSpPr>
            <p:nvPr/>
          </p:nvGrpSpPr>
          <p:grpSpPr bwMode="auto">
            <a:xfrm>
              <a:off x="4032" y="2688"/>
              <a:ext cx="1044" cy="1271"/>
              <a:chOff x="4032" y="2688"/>
              <a:chExt cx="1044" cy="1271"/>
            </a:xfrm>
          </p:grpSpPr>
          <p:sp>
            <p:nvSpPr>
              <p:cNvPr id="283671" name="Rectangle 2071"/>
              <p:cNvSpPr>
                <a:spLocks noChangeArrowheads="1"/>
              </p:cNvSpPr>
              <p:nvPr/>
            </p:nvSpPr>
            <p:spPr bwMode="auto">
              <a:xfrm>
                <a:off x="4214" y="2688"/>
                <a:ext cx="681" cy="122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72" name="Line 2072"/>
              <p:cNvSpPr>
                <a:spLocks noChangeShapeType="1"/>
              </p:cNvSpPr>
              <p:nvPr/>
            </p:nvSpPr>
            <p:spPr bwMode="auto">
              <a:xfrm>
                <a:off x="4032" y="2928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73" name="Line 2073"/>
              <p:cNvSpPr>
                <a:spLocks noChangeShapeType="1"/>
              </p:cNvSpPr>
              <p:nvPr/>
            </p:nvSpPr>
            <p:spPr bwMode="auto">
              <a:xfrm>
                <a:off x="4894" y="2824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74" name="Line 2074"/>
              <p:cNvSpPr>
                <a:spLocks noChangeShapeType="1"/>
              </p:cNvSpPr>
              <p:nvPr/>
            </p:nvSpPr>
            <p:spPr bwMode="auto">
              <a:xfrm>
                <a:off x="4894" y="3141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75" name="Line 2075"/>
              <p:cNvSpPr>
                <a:spLocks noChangeShapeType="1"/>
              </p:cNvSpPr>
              <p:nvPr/>
            </p:nvSpPr>
            <p:spPr bwMode="auto">
              <a:xfrm>
                <a:off x="4894" y="3459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76" name="Line 2076"/>
              <p:cNvSpPr>
                <a:spLocks noChangeShapeType="1"/>
              </p:cNvSpPr>
              <p:nvPr/>
            </p:nvSpPr>
            <p:spPr bwMode="auto">
              <a:xfrm>
                <a:off x="4894" y="3776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77" name="Rectangle 2077"/>
              <p:cNvSpPr>
                <a:spLocks noChangeArrowheads="1"/>
              </p:cNvSpPr>
              <p:nvPr/>
            </p:nvSpPr>
            <p:spPr bwMode="auto">
              <a:xfrm>
                <a:off x="4622" y="2688"/>
                <a:ext cx="27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283678" name="Line 2078"/>
              <p:cNvSpPr>
                <a:spLocks noChangeShapeType="1"/>
              </p:cNvSpPr>
              <p:nvPr/>
            </p:nvSpPr>
            <p:spPr bwMode="auto">
              <a:xfrm>
                <a:off x="4033" y="3312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79" name="Rectangle 2079"/>
              <p:cNvSpPr>
                <a:spLocks noChangeArrowheads="1"/>
              </p:cNvSpPr>
              <p:nvPr/>
            </p:nvSpPr>
            <p:spPr bwMode="auto">
              <a:xfrm>
                <a:off x="4623" y="3005"/>
                <a:ext cx="27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283680" name="Rectangle 2080"/>
              <p:cNvSpPr>
                <a:spLocks noChangeArrowheads="1"/>
              </p:cNvSpPr>
              <p:nvPr/>
            </p:nvSpPr>
            <p:spPr bwMode="auto">
              <a:xfrm>
                <a:off x="4623" y="3323"/>
                <a:ext cx="27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283681" name="Rectangle 2081"/>
              <p:cNvSpPr>
                <a:spLocks noChangeArrowheads="1"/>
              </p:cNvSpPr>
              <p:nvPr/>
            </p:nvSpPr>
            <p:spPr bwMode="auto">
              <a:xfrm>
                <a:off x="4623" y="3663"/>
                <a:ext cx="27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283682" name="Text Box 2082"/>
              <p:cNvSpPr txBox="1">
                <a:spLocks noChangeArrowheads="1"/>
              </p:cNvSpPr>
              <p:nvPr/>
            </p:nvSpPr>
            <p:spPr bwMode="auto">
              <a:xfrm>
                <a:off x="4214" y="2824"/>
                <a:ext cx="228" cy="2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+mn-ea"/>
                    <a:ea typeface="+mn-ea"/>
                  </a:rPr>
                  <a:t>A</a:t>
                </a:r>
              </a:p>
            </p:txBody>
          </p:sp>
          <p:sp>
            <p:nvSpPr>
              <p:cNvPr id="283683" name="Text Box 2083"/>
              <p:cNvSpPr txBox="1">
                <a:spLocks noChangeArrowheads="1"/>
              </p:cNvSpPr>
              <p:nvPr/>
            </p:nvSpPr>
            <p:spPr bwMode="auto">
              <a:xfrm>
                <a:off x="4214" y="3228"/>
                <a:ext cx="228" cy="2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+mn-ea"/>
                    <a:ea typeface="+mn-ea"/>
                  </a:rPr>
                  <a:t>B</a:t>
                </a:r>
              </a:p>
            </p:txBody>
          </p:sp>
          <p:sp>
            <p:nvSpPr>
              <p:cNvPr id="283684" name="Line 2084"/>
              <p:cNvSpPr>
                <a:spLocks noChangeShapeType="1"/>
              </p:cNvSpPr>
              <p:nvPr/>
            </p:nvSpPr>
            <p:spPr bwMode="auto">
              <a:xfrm>
                <a:off x="4034" y="3648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83685" name="Object 208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71016022"/>
                  </p:ext>
                </p:extLst>
              </p:nvPr>
            </p:nvGraphicFramePr>
            <p:xfrm>
              <a:off x="4226" y="3478"/>
              <a:ext cx="180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52280" imgH="215640" progId="Equation.3">
                      <p:embed/>
                    </p:oleObj>
                  </mc:Choice>
                  <mc:Fallback>
                    <p:oleObj name="Equation" r:id="rId4" imgW="152280" imgH="215640" progId="Equation.3">
                      <p:embed/>
                      <p:pic>
                        <p:nvPicPr>
                          <p:cNvPr id="283685" name="Object 208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6" y="3478"/>
                            <a:ext cx="180" cy="2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3686" name="Rectangle 2086"/>
              <p:cNvSpPr>
                <a:spLocks noChangeArrowheads="1"/>
              </p:cNvSpPr>
              <p:nvPr/>
            </p:nvSpPr>
            <p:spPr bwMode="auto">
              <a:xfrm>
                <a:off x="4398" y="3120"/>
                <a:ext cx="304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II</a:t>
                </a:r>
              </a:p>
            </p:txBody>
          </p:sp>
        </p:grpSp>
        <p:grpSp>
          <p:nvGrpSpPr>
            <p:cNvPr id="283687" name="Group 2087"/>
            <p:cNvGrpSpPr>
              <a:grpSpLocks/>
            </p:cNvGrpSpPr>
            <p:nvPr/>
          </p:nvGrpSpPr>
          <p:grpSpPr bwMode="auto">
            <a:xfrm>
              <a:off x="3552" y="3456"/>
              <a:ext cx="480" cy="363"/>
              <a:chOff x="3552" y="3456"/>
              <a:chExt cx="480" cy="363"/>
            </a:xfrm>
          </p:grpSpPr>
          <p:grpSp>
            <p:nvGrpSpPr>
              <p:cNvPr id="283688" name="Group 2088"/>
              <p:cNvGrpSpPr>
                <a:grpSpLocks/>
              </p:cNvGrpSpPr>
              <p:nvPr/>
            </p:nvGrpSpPr>
            <p:grpSpPr bwMode="auto">
              <a:xfrm>
                <a:off x="3552" y="3456"/>
                <a:ext cx="317" cy="363"/>
                <a:chOff x="1020" y="1706"/>
                <a:chExt cx="317" cy="363"/>
              </a:xfrm>
            </p:grpSpPr>
            <p:sp>
              <p:nvSpPr>
                <p:cNvPr id="283689" name="Rectangle 2089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83690" name="Oval 2090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83691" name="Line 2091"/>
              <p:cNvSpPr>
                <a:spLocks noChangeShapeType="1"/>
              </p:cNvSpPr>
              <p:nvPr/>
            </p:nvSpPr>
            <p:spPr bwMode="auto">
              <a:xfrm>
                <a:off x="3888" y="364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83692" name="Group 2092"/>
            <p:cNvGrpSpPr>
              <a:grpSpLocks/>
            </p:cNvGrpSpPr>
            <p:nvPr/>
          </p:nvGrpSpPr>
          <p:grpSpPr bwMode="auto">
            <a:xfrm>
              <a:off x="3792" y="1584"/>
              <a:ext cx="240" cy="1392"/>
              <a:chOff x="3792" y="1584"/>
              <a:chExt cx="240" cy="1392"/>
            </a:xfrm>
          </p:grpSpPr>
          <p:sp>
            <p:nvSpPr>
              <p:cNvPr id="283693" name="Line 2093"/>
              <p:cNvSpPr>
                <a:spLocks noChangeShapeType="1"/>
              </p:cNvSpPr>
              <p:nvPr/>
            </p:nvSpPr>
            <p:spPr bwMode="auto">
              <a:xfrm flipV="1">
                <a:off x="3840" y="1584"/>
                <a:ext cx="0" cy="13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94" name="Line 2094"/>
              <p:cNvSpPr>
                <a:spLocks noChangeShapeType="1"/>
              </p:cNvSpPr>
              <p:nvPr/>
            </p:nvSpPr>
            <p:spPr bwMode="auto">
              <a:xfrm>
                <a:off x="3840" y="158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95" name="Oval 2095"/>
              <p:cNvSpPr>
                <a:spLocks noChangeArrowheads="1"/>
              </p:cNvSpPr>
              <p:nvPr/>
            </p:nvSpPr>
            <p:spPr bwMode="auto">
              <a:xfrm>
                <a:off x="3792" y="288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83696" name="Group 2096"/>
            <p:cNvGrpSpPr>
              <a:grpSpLocks/>
            </p:cNvGrpSpPr>
            <p:nvPr/>
          </p:nvGrpSpPr>
          <p:grpSpPr bwMode="auto">
            <a:xfrm>
              <a:off x="3600" y="1920"/>
              <a:ext cx="432" cy="1440"/>
              <a:chOff x="3600" y="1920"/>
              <a:chExt cx="432" cy="1440"/>
            </a:xfrm>
          </p:grpSpPr>
          <p:sp>
            <p:nvSpPr>
              <p:cNvPr id="283697" name="Line 2097"/>
              <p:cNvSpPr>
                <a:spLocks noChangeShapeType="1"/>
              </p:cNvSpPr>
              <p:nvPr/>
            </p:nvSpPr>
            <p:spPr bwMode="auto">
              <a:xfrm flipV="1">
                <a:off x="3648" y="1920"/>
                <a:ext cx="0" cy="13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98" name="Line 2098"/>
              <p:cNvSpPr>
                <a:spLocks noChangeShapeType="1"/>
              </p:cNvSpPr>
              <p:nvPr/>
            </p:nvSpPr>
            <p:spPr bwMode="auto">
              <a:xfrm flipV="1">
                <a:off x="3648" y="1920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99" name="Oval 2099"/>
              <p:cNvSpPr>
                <a:spLocks noChangeArrowheads="1"/>
              </p:cNvSpPr>
              <p:nvPr/>
            </p:nvSpPr>
            <p:spPr bwMode="auto">
              <a:xfrm>
                <a:off x="3600" y="326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83700" name="Group 2100"/>
            <p:cNvGrpSpPr>
              <a:grpSpLocks/>
            </p:cNvGrpSpPr>
            <p:nvPr/>
          </p:nvGrpSpPr>
          <p:grpSpPr bwMode="auto">
            <a:xfrm>
              <a:off x="3408" y="2256"/>
              <a:ext cx="624" cy="1440"/>
              <a:chOff x="3408" y="2256"/>
              <a:chExt cx="624" cy="1440"/>
            </a:xfrm>
          </p:grpSpPr>
          <p:sp>
            <p:nvSpPr>
              <p:cNvPr id="283701" name="Line 2101"/>
              <p:cNvSpPr>
                <a:spLocks noChangeShapeType="1"/>
              </p:cNvSpPr>
              <p:nvPr/>
            </p:nvSpPr>
            <p:spPr bwMode="auto">
              <a:xfrm flipH="1">
                <a:off x="3456" y="2256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702" name="Line 2102"/>
              <p:cNvSpPr>
                <a:spLocks noChangeShapeType="1"/>
              </p:cNvSpPr>
              <p:nvPr/>
            </p:nvSpPr>
            <p:spPr bwMode="auto">
              <a:xfrm>
                <a:off x="3456" y="2256"/>
                <a:ext cx="0" cy="13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703" name="Oval 2103"/>
              <p:cNvSpPr>
                <a:spLocks noChangeArrowheads="1"/>
              </p:cNvSpPr>
              <p:nvPr/>
            </p:nvSpPr>
            <p:spPr bwMode="auto">
              <a:xfrm>
                <a:off x="3408" y="36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83704" name="Group 2104"/>
            <p:cNvGrpSpPr>
              <a:grpSpLocks/>
            </p:cNvGrpSpPr>
            <p:nvPr/>
          </p:nvGrpSpPr>
          <p:grpSpPr bwMode="auto">
            <a:xfrm>
              <a:off x="3032" y="2784"/>
              <a:ext cx="1000" cy="296"/>
              <a:chOff x="3032" y="2784"/>
              <a:chExt cx="1000" cy="296"/>
            </a:xfrm>
          </p:grpSpPr>
          <p:sp>
            <p:nvSpPr>
              <p:cNvPr id="283705" name="Line 2105"/>
              <p:cNvSpPr>
                <a:spLocks noChangeShapeType="1"/>
              </p:cNvSpPr>
              <p:nvPr/>
            </p:nvSpPr>
            <p:spPr bwMode="auto">
              <a:xfrm flipH="1">
                <a:off x="3216" y="2928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706" name="Rectangle 2106"/>
              <p:cNvSpPr>
                <a:spLocks noChangeArrowheads="1"/>
              </p:cNvSpPr>
              <p:nvPr/>
            </p:nvSpPr>
            <p:spPr bwMode="auto">
              <a:xfrm>
                <a:off x="3032" y="2784"/>
                <a:ext cx="209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+mn-ea"/>
                    <a:ea typeface="+mn-ea"/>
                  </a:rPr>
                  <a:t>A</a:t>
                </a:r>
              </a:p>
            </p:txBody>
          </p:sp>
        </p:grpSp>
        <p:grpSp>
          <p:nvGrpSpPr>
            <p:cNvPr id="283707" name="Group 2107"/>
            <p:cNvGrpSpPr>
              <a:grpSpLocks/>
            </p:cNvGrpSpPr>
            <p:nvPr/>
          </p:nvGrpSpPr>
          <p:grpSpPr bwMode="auto">
            <a:xfrm>
              <a:off x="3030" y="3168"/>
              <a:ext cx="1002" cy="296"/>
              <a:chOff x="3030" y="3168"/>
              <a:chExt cx="1002" cy="296"/>
            </a:xfrm>
          </p:grpSpPr>
          <p:sp>
            <p:nvSpPr>
              <p:cNvPr id="283708" name="Line 2108"/>
              <p:cNvSpPr>
                <a:spLocks noChangeShapeType="1"/>
              </p:cNvSpPr>
              <p:nvPr/>
            </p:nvSpPr>
            <p:spPr bwMode="auto">
              <a:xfrm flipH="1">
                <a:off x="3216" y="3312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709" name="Rectangle 2109"/>
              <p:cNvSpPr>
                <a:spLocks noChangeArrowheads="1"/>
              </p:cNvSpPr>
              <p:nvPr/>
            </p:nvSpPr>
            <p:spPr bwMode="auto">
              <a:xfrm>
                <a:off x="3030" y="3168"/>
                <a:ext cx="209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+mn-ea"/>
                    <a:ea typeface="+mn-ea"/>
                  </a:rPr>
                  <a:t>B</a:t>
                </a:r>
              </a:p>
            </p:txBody>
          </p:sp>
        </p:grpSp>
        <p:grpSp>
          <p:nvGrpSpPr>
            <p:cNvPr id="283710" name="Group 2110"/>
            <p:cNvGrpSpPr>
              <a:grpSpLocks/>
            </p:cNvGrpSpPr>
            <p:nvPr/>
          </p:nvGrpSpPr>
          <p:grpSpPr bwMode="auto">
            <a:xfrm>
              <a:off x="3032" y="3504"/>
              <a:ext cx="520" cy="296"/>
              <a:chOff x="3032" y="3504"/>
              <a:chExt cx="520" cy="296"/>
            </a:xfrm>
          </p:grpSpPr>
          <p:sp>
            <p:nvSpPr>
              <p:cNvPr id="283711" name="Line 2111"/>
              <p:cNvSpPr>
                <a:spLocks noChangeShapeType="1"/>
              </p:cNvSpPr>
              <p:nvPr/>
            </p:nvSpPr>
            <p:spPr bwMode="auto">
              <a:xfrm flipH="1">
                <a:off x="3216" y="364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712" name="Rectangle 2112"/>
              <p:cNvSpPr>
                <a:spLocks noChangeArrowheads="1"/>
              </p:cNvSpPr>
              <p:nvPr/>
            </p:nvSpPr>
            <p:spPr bwMode="auto">
              <a:xfrm>
                <a:off x="3032" y="3504"/>
                <a:ext cx="209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+mn-ea"/>
                    <a:ea typeface="+mn-ea"/>
                  </a:rPr>
                  <a:t>C</a:t>
                </a:r>
              </a:p>
            </p:txBody>
          </p:sp>
        </p:grpSp>
        <p:grpSp>
          <p:nvGrpSpPr>
            <p:cNvPr id="283713" name="Group 2113"/>
            <p:cNvGrpSpPr>
              <a:grpSpLocks/>
            </p:cNvGrpSpPr>
            <p:nvPr/>
          </p:nvGrpSpPr>
          <p:grpSpPr bwMode="auto">
            <a:xfrm>
              <a:off x="5040" y="1296"/>
              <a:ext cx="336" cy="2648"/>
              <a:chOff x="5040" y="1296"/>
              <a:chExt cx="336" cy="2648"/>
            </a:xfrm>
          </p:grpSpPr>
          <p:sp>
            <p:nvSpPr>
              <p:cNvPr id="283714" name="Rectangle 2114"/>
              <p:cNvSpPr>
                <a:spLocks noChangeArrowheads="1"/>
              </p:cNvSpPr>
              <p:nvPr/>
            </p:nvSpPr>
            <p:spPr bwMode="auto">
              <a:xfrm>
                <a:off x="5040" y="1296"/>
                <a:ext cx="319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0</a:t>
                </a:r>
              </a:p>
            </p:txBody>
          </p:sp>
          <p:sp>
            <p:nvSpPr>
              <p:cNvPr id="283715" name="Rectangle 2115"/>
              <p:cNvSpPr>
                <a:spLocks noChangeArrowheads="1"/>
              </p:cNvSpPr>
              <p:nvPr/>
            </p:nvSpPr>
            <p:spPr bwMode="auto">
              <a:xfrm>
                <a:off x="5040" y="1632"/>
                <a:ext cx="319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1</a:t>
                </a:r>
              </a:p>
            </p:txBody>
          </p:sp>
          <p:sp>
            <p:nvSpPr>
              <p:cNvPr id="283716" name="Rectangle 2116"/>
              <p:cNvSpPr>
                <a:spLocks noChangeArrowheads="1"/>
              </p:cNvSpPr>
              <p:nvPr/>
            </p:nvSpPr>
            <p:spPr bwMode="auto">
              <a:xfrm>
                <a:off x="5056" y="1968"/>
                <a:ext cx="320" cy="2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2</a:t>
                </a:r>
              </a:p>
            </p:txBody>
          </p:sp>
          <p:sp>
            <p:nvSpPr>
              <p:cNvPr id="283717" name="Rectangle 2117"/>
              <p:cNvSpPr>
                <a:spLocks noChangeArrowheads="1"/>
              </p:cNvSpPr>
              <p:nvPr/>
            </p:nvSpPr>
            <p:spPr bwMode="auto">
              <a:xfrm>
                <a:off x="5040" y="2304"/>
                <a:ext cx="319" cy="2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3</a:t>
                </a:r>
              </a:p>
            </p:txBody>
          </p:sp>
          <p:sp>
            <p:nvSpPr>
              <p:cNvPr id="283718" name="Rectangle 2118"/>
              <p:cNvSpPr>
                <a:spLocks noChangeArrowheads="1"/>
              </p:cNvSpPr>
              <p:nvPr/>
            </p:nvSpPr>
            <p:spPr bwMode="auto">
              <a:xfrm>
                <a:off x="5040" y="2640"/>
                <a:ext cx="319" cy="2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4</a:t>
                </a:r>
              </a:p>
            </p:txBody>
          </p:sp>
          <p:sp>
            <p:nvSpPr>
              <p:cNvPr id="283719" name="Rectangle 2119"/>
              <p:cNvSpPr>
                <a:spLocks noChangeArrowheads="1"/>
              </p:cNvSpPr>
              <p:nvPr/>
            </p:nvSpPr>
            <p:spPr bwMode="auto">
              <a:xfrm>
                <a:off x="5040" y="2976"/>
                <a:ext cx="319" cy="2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5</a:t>
                </a:r>
              </a:p>
            </p:txBody>
          </p:sp>
          <p:sp>
            <p:nvSpPr>
              <p:cNvPr id="283720" name="Rectangle 2120"/>
              <p:cNvSpPr>
                <a:spLocks noChangeArrowheads="1"/>
              </p:cNvSpPr>
              <p:nvPr/>
            </p:nvSpPr>
            <p:spPr bwMode="auto">
              <a:xfrm>
                <a:off x="5040" y="3312"/>
                <a:ext cx="319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6</a:t>
                </a:r>
              </a:p>
            </p:txBody>
          </p:sp>
          <p:sp>
            <p:nvSpPr>
              <p:cNvPr id="283721" name="Rectangle 2121"/>
              <p:cNvSpPr>
                <a:spLocks noChangeArrowheads="1"/>
              </p:cNvSpPr>
              <p:nvPr/>
            </p:nvSpPr>
            <p:spPr bwMode="auto">
              <a:xfrm>
                <a:off x="5040" y="3648"/>
                <a:ext cx="319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7</a:t>
                </a:r>
              </a:p>
            </p:txBody>
          </p:sp>
        </p:grpSp>
      </p:grpSp>
      <p:grpSp>
        <p:nvGrpSpPr>
          <p:cNvPr id="283766" name="Group 2166"/>
          <p:cNvGrpSpPr>
            <a:grpSpLocks/>
          </p:cNvGrpSpPr>
          <p:nvPr/>
        </p:nvGrpSpPr>
        <p:grpSpPr bwMode="auto">
          <a:xfrm>
            <a:off x="566738" y="2041525"/>
            <a:ext cx="4563098" cy="4356100"/>
            <a:chOff x="357" y="1286"/>
            <a:chExt cx="2496" cy="2744"/>
          </a:xfrm>
        </p:grpSpPr>
        <p:sp>
          <p:nvSpPr>
            <p:cNvPr id="283722" name="Text Box 2122"/>
            <p:cNvSpPr txBox="1">
              <a:spLocks noChangeArrowheads="1"/>
            </p:cNvSpPr>
            <p:nvPr/>
          </p:nvSpPr>
          <p:spPr bwMode="auto">
            <a:xfrm>
              <a:off x="837" y="1286"/>
              <a:ext cx="17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真      值      表</a:t>
              </a:r>
            </a:p>
          </p:txBody>
        </p:sp>
        <p:sp>
          <p:nvSpPr>
            <p:cNvPr id="283725" name="Rectangle 2125"/>
            <p:cNvSpPr>
              <a:spLocks noChangeArrowheads="1"/>
            </p:cNvSpPr>
            <p:nvPr/>
          </p:nvSpPr>
          <p:spPr bwMode="auto">
            <a:xfrm>
              <a:off x="1246" y="2069"/>
              <a:ext cx="155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kern="1400" spc="2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0  1  1  1  1  1  1  1</a:t>
              </a:r>
            </a:p>
          </p:txBody>
        </p:sp>
        <p:sp>
          <p:nvSpPr>
            <p:cNvPr id="283726" name="Rectangle 2126"/>
            <p:cNvSpPr>
              <a:spLocks noChangeArrowheads="1"/>
            </p:cNvSpPr>
            <p:nvPr/>
          </p:nvSpPr>
          <p:spPr bwMode="auto">
            <a:xfrm>
              <a:off x="421" y="2091"/>
              <a:ext cx="76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Courier New" panose="02070309020205020404" pitchFamily="49" charset="0"/>
                  <a:ea typeface="Noto Serif SC" panose="02020200000000000000" pitchFamily="18" charset="-122"/>
                  <a:cs typeface="Courier New" panose="02070309020205020404" pitchFamily="49" charset="0"/>
                </a:rPr>
                <a:t>0 0 0</a:t>
              </a:r>
            </a:p>
          </p:txBody>
        </p:sp>
        <p:sp>
          <p:nvSpPr>
            <p:cNvPr id="283727" name="Rectangle 2127"/>
            <p:cNvSpPr>
              <a:spLocks noChangeArrowheads="1"/>
            </p:cNvSpPr>
            <p:nvPr/>
          </p:nvSpPr>
          <p:spPr bwMode="auto">
            <a:xfrm>
              <a:off x="1235" y="1863"/>
              <a:ext cx="108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83728" name="Rectangle 2128"/>
            <p:cNvSpPr>
              <a:spLocks noChangeArrowheads="1"/>
            </p:cNvSpPr>
            <p:nvPr/>
          </p:nvSpPr>
          <p:spPr bwMode="auto">
            <a:xfrm>
              <a:off x="387" y="1863"/>
              <a:ext cx="84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   </a:t>
              </a:r>
            </a:p>
          </p:txBody>
        </p:sp>
        <p:sp>
          <p:nvSpPr>
            <p:cNvPr id="283729" name="Rectangle 2129"/>
            <p:cNvSpPr>
              <a:spLocks noChangeArrowheads="1"/>
            </p:cNvSpPr>
            <p:nvPr/>
          </p:nvSpPr>
          <p:spPr bwMode="auto">
            <a:xfrm>
              <a:off x="1236" y="1820"/>
              <a:ext cx="161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0 </a:t>
              </a: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</a:t>
              </a: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2 </a:t>
              </a: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3 </a:t>
              </a: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4 </a:t>
              </a: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5 </a:t>
              </a: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6 </a:t>
              </a: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7</a:t>
              </a:r>
            </a:p>
          </p:txBody>
        </p:sp>
        <p:sp>
          <p:nvSpPr>
            <p:cNvPr id="283730" name="Rectangle 2130"/>
            <p:cNvSpPr>
              <a:spLocks noChangeArrowheads="1"/>
            </p:cNvSpPr>
            <p:nvPr/>
          </p:nvSpPr>
          <p:spPr bwMode="auto">
            <a:xfrm>
              <a:off x="387" y="1842"/>
              <a:ext cx="84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 A  B  C</a:t>
              </a:r>
            </a:p>
          </p:txBody>
        </p:sp>
        <p:sp>
          <p:nvSpPr>
            <p:cNvPr id="283731" name="Line 2131"/>
            <p:cNvSpPr>
              <a:spLocks noChangeShapeType="1"/>
            </p:cNvSpPr>
            <p:nvPr/>
          </p:nvSpPr>
          <p:spPr bwMode="auto">
            <a:xfrm>
              <a:off x="357" y="1622"/>
              <a:ext cx="24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83732" name="Line 2132"/>
            <p:cNvSpPr>
              <a:spLocks noChangeShapeType="1"/>
            </p:cNvSpPr>
            <p:nvPr/>
          </p:nvSpPr>
          <p:spPr bwMode="auto">
            <a:xfrm flipV="1">
              <a:off x="357" y="1862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83733" name="Line 2133"/>
            <p:cNvSpPr>
              <a:spLocks noChangeShapeType="1"/>
            </p:cNvSpPr>
            <p:nvPr/>
          </p:nvSpPr>
          <p:spPr bwMode="auto">
            <a:xfrm flipV="1">
              <a:off x="357" y="2102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83734" name="Line 2134"/>
            <p:cNvSpPr>
              <a:spLocks noChangeShapeType="1"/>
            </p:cNvSpPr>
            <p:nvPr/>
          </p:nvSpPr>
          <p:spPr bwMode="auto">
            <a:xfrm flipV="1">
              <a:off x="357" y="2342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83735" name="Line 2135"/>
            <p:cNvSpPr>
              <a:spLocks noChangeShapeType="1"/>
            </p:cNvSpPr>
            <p:nvPr/>
          </p:nvSpPr>
          <p:spPr bwMode="auto">
            <a:xfrm flipV="1">
              <a:off x="357" y="2582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83736" name="Line 2136"/>
            <p:cNvSpPr>
              <a:spLocks noChangeShapeType="1"/>
            </p:cNvSpPr>
            <p:nvPr/>
          </p:nvSpPr>
          <p:spPr bwMode="auto">
            <a:xfrm flipV="1">
              <a:off x="357" y="2822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83737" name="Line 2137"/>
            <p:cNvSpPr>
              <a:spLocks noChangeShapeType="1"/>
            </p:cNvSpPr>
            <p:nvPr/>
          </p:nvSpPr>
          <p:spPr bwMode="auto">
            <a:xfrm>
              <a:off x="357" y="4022"/>
              <a:ext cx="24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83738" name="Line 2138"/>
            <p:cNvSpPr>
              <a:spLocks noChangeShapeType="1"/>
            </p:cNvSpPr>
            <p:nvPr/>
          </p:nvSpPr>
          <p:spPr bwMode="auto">
            <a:xfrm>
              <a:off x="357" y="1622"/>
              <a:ext cx="0" cy="24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83739" name="Line 2139"/>
            <p:cNvSpPr>
              <a:spLocks noChangeShapeType="1"/>
            </p:cNvSpPr>
            <p:nvPr/>
          </p:nvSpPr>
          <p:spPr bwMode="auto">
            <a:xfrm>
              <a:off x="1173" y="1622"/>
              <a:ext cx="1" cy="2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83740" name="Line 2140"/>
            <p:cNvSpPr>
              <a:spLocks noChangeShapeType="1"/>
            </p:cNvSpPr>
            <p:nvPr/>
          </p:nvSpPr>
          <p:spPr bwMode="auto">
            <a:xfrm>
              <a:off x="2805" y="1632"/>
              <a:ext cx="0" cy="239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83741" name="Rectangle 2141"/>
            <p:cNvSpPr>
              <a:spLocks noChangeArrowheads="1"/>
            </p:cNvSpPr>
            <p:nvPr/>
          </p:nvSpPr>
          <p:spPr bwMode="auto">
            <a:xfrm>
              <a:off x="1998" y="2506"/>
              <a:ext cx="121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1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 </a:t>
              </a:r>
              <a:endParaRPr lang="en-US" altLang="zh-CN" sz="1800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83742" name="Rectangle 2142"/>
            <p:cNvSpPr>
              <a:spLocks noChangeArrowheads="1"/>
            </p:cNvSpPr>
            <p:nvPr/>
          </p:nvSpPr>
          <p:spPr bwMode="auto">
            <a:xfrm>
              <a:off x="387" y="1622"/>
              <a:ext cx="84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輸   入</a:t>
              </a:r>
            </a:p>
          </p:txBody>
        </p:sp>
        <p:sp>
          <p:nvSpPr>
            <p:cNvPr id="283743" name="Rectangle 2143"/>
            <p:cNvSpPr>
              <a:spLocks noChangeArrowheads="1"/>
            </p:cNvSpPr>
            <p:nvPr/>
          </p:nvSpPr>
          <p:spPr bwMode="auto">
            <a:xfrm>
              <a:off x="1217" y="1622"/>
              <a:ext cx="108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輸    出</a:t>
              </a:r>
            </a:p>
          </p:txBody>
        </p:sp>
        <p:sp>
          <p:nvSpPr>
            <p:cNvPr id="283745" name="Rectangle 2145"/>
            <p:cNvSpPr>
              <a:spLocks noChangeArrowheads="1"/>
            </p:cNvSpPr>
            <p:nvPr/>
          </p:nvSpPr>
          <p:spPr bwMode="auto">
            <a:xfrm>
              <a:off x="1236" y="2331"/>
              <a:ext cx="156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pc="2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1  0  1  1  1  1  1  1</a:t>
              </a:r>
            </a:p>
          </p:txBody>
        </p:sp>
        <p:sp>
          <p:nvSpPr>
            <p:cNvPr id="283746" name="Rectangle 2146"/>
            <p:cNvSpPr>
              <a:spLocks noChangeArrowheads="1"/>
            </p:cNvSpPr>
            <p:nvPr/>
          </p:nvSpPr>
          <p:spPr bwMode="auto">
            <a:xfrm>
              <a:off x="421" y="2331"/>
              <a:ext cx="76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Courier New" panose="02070309020205020404" pitchFamily="49" charset="0"/>
                  <a:ea typeface="Noto Serif SC" panose="02020200000000000000" pitchFamily="18" charset="-122"/>
                  <a:cs typeface="Courier New" panose="02070309020205020404" pitchFamily="49" charset="0"/>
                </a:rPr>
                <a:t>1 0 0</a:t>
              </a:r>
            </a:p>
          </p:txBody>
        </p:sp>
        <p:sp>
          <p:nvSpPr>
            <p:cNvPr id="283747" name="Rectangle 2147"/>
            <p:cNvSpPr>
              <a:spLocks noChangeArrowheads="1"/>
            </p:cNvSpPr>
            <p:nvPr/>
          </p:nvSpPr>
          <p:spPr bwMode="auto">
            <a:xfrm>
              <a:off x="421" y="2571"/>
              <a:ext cx="76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Courier New" panose="02070309020205020404" pitchFamily="49" charset="0"/>
                  <a:ea typeface="Noto Serif SC" panose="02020200000000000000" pitchFamily="18" charset="-122"/>
                  <a:cs typeface="Courier New" panose="02070309020205020404" pitchFamily="49" charset="0"/>
                </a:rPr>
                <a:t>0 1 0</a:t>
              </a:r>
            </a:p>
          </p:txBody>
        </p:sp>
        <p:sp>
          <p:nvSpPr>
            <p:cNvPr id="283748" name="Rectangle 2148"/>
            <p:cNvSpPr>
              <a:spLocks noChangeArrowheads="1"/>
            </p:cNvSpPr>
            <p:nvPr/>
          </p:nvSpPr>
          <p:spPr bwMode="auto">
            <a:xfrm>
              <a:off x="421" y="2811"/>
              <a:ext cx="76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Courier New" panose="02070309020205020404" pitchFamily="49" charset="0"/>
                  <a:ea typeface="Noto Serif SC" panose="02020200000000000000" pitchFamily="18" charset="-122"/>
                  <a:cs typeface="Courier New" panose="02070309020205020404" pitchFamily="49" charset="0"/>
                </a:rPr>
                <a:t>1 1 0</a:t>
              </a:r>
            </a:p>
          </p:txBody>
        </p:sp>
        <p:sp>
          <p:nvSpPr>
            <p:cNvPr id="283749" name="Rectangle 2149"/>
            <p:cNvSpPr>
              <a:spLocks noChangeArrowheads="1"/>
            </p:cNvSpPr>
            <p:nvPr/>
          </p:nvSpPr>
          <p:spPr bwMode="auto">
            <a:xfrm>
              <a:off x="1236" y="2571"/>
              <a:ext cx="156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pc="2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1  1  0  1  1  1  1  1</a:t>
              </a:r>
            </a:p>
          </p:txBody>
        </p:sp>
        <p:sp>
          <p:nvSpPr>
            <p:cNvPr id="283750" name="Rectangle 2150"/>
            <p:cNvSpPr>
              <a:spLocks noChangeArrowheads="1"/>
            </p:cNvSpPr>
            <p:nvPr/>
          </p:nvSpPr>
          <p:spPr bwMode="auto">
            <a:xfrm>
              <a:off x="1236" y="2811"/>
              <a:ext cx="156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pc="2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1  1  1  0  1  1  1  1</a:t>
              </a:r>
            </a:p>
          </p:txBody>
        </p:sp>
        <p:sp>
          <p:nvSpPr>
            <p:cNvPr id="283751" name="Rectangle 2151"/>
            <p:cNvSpPr>
              <a:spLocks noChangeArrowheads="1"/>
            </p:cNvSpPr>
            <p:nvPr/>
          </p:nvSpPr>
          <p:spPr bwMode="auto">
            <a:xfrm>
              <a:off x="1235" y="3272"/>
              <a:ext cx="157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pc="2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1  1  1  1  1  0  1  1</a:t>
              </a:r>
            </a:p>
          </p:txBody>
        </p:sp>
        <p:sp>
          <p:nvSpPr>
            <p:cNvPr id="283752" name="Rectangle 2152"/>
            <p:cNvSpPr>
              <a:spLocks noChangeArrowheads="1"/>
            </p:cNvSpPr>
            <p:nvPr/>
          </p:nvSpPr>
          <p:spPr bwMode="auto">
            <a:xfrm>
              <a:off x="421" y="3291"/>
              <a:ext cx="76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Courier New" panose="02070309020205020404" pitchFamily="49" charset="0"/>
                  <a:ea typeface="Noto Serif SC" panose="02020200000000000000" pitchFamily="18" charset="-122"/>
                  <a:cs typeface="Courier New" panose="02070309020205020404" pitchFamily="49" charset="0"/>
                </a:rPr>
                <a:t>1 0 1</a:t>
              </a:r>
            </a:p>
          </p:txBody>
        </p:sp>
        <p:sp>
          <p:nvSpPr>
            <p:cNvPr id="283753" name="Line 2153"/>
            <p:cNvSpPr>
              <a:spLocks noChangeShapeType="1"/>
            </p:cNvSpPr>
            <p:nvPr/>
          </p:nvSpPr>
          <p:spPr bwMode="auto">
            <a:xfrm flipV="1">
              <a:off x="357" y="3062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83754" name="Line 2154"/>
            <p:cNvSpPr>
              <a:spLocks noChangeShapeType="1"/>
            </p:cNvSpPr>
            <p:nvPr/>
          </p:nvSpPr>
          <p:spPr bwMode="auto">
            <a:xfrm flipV="1">
              <a:off x="357" y="3302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83755" name="Line 2155"/>
            <p:cNvSpPr>
              <a:spLocks noChangeShapeType="1"/>
            </p:cNvSpPr>
            <p:nvPr/>
          </p:nvSpPr>
          <p:spPr bwMode="auto">
            <a:xfrm flipV="1">
              <a:off x="357" y="3531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83756" name="Line 2156"/>
            <p:cNvSpPr>
              <a:spLocks noChangeShapeType="1"/>
            </p:cNvSpPr>
            <p:nvPr/>
          </p:nvSpPr>
          <p:spPr bwMode="auto">
            <a:xfrm flipV="1">
              <a:off x="357" y="3782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83757" name="Rectangle 2157"/>
            <p:cNvSpPr>
              <a:spLocks noChangeArrowheads="1"/>
            </p:cNvSpPr>
            <p:nvPr/>
          </p:nvSpPr>
          <p:spPr bwMode="auto">
            <a:xfrm>
              <a:off x="1998" y="3706"/>
              <a:ext cx="121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1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 </a:t>
              </a:r>
              <a:endParaRPr lang="en-US" altLang="zh-CN" sz="1800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83759" name="Rectangle 2159"/>
            <p:cNvSpPr>
              <a:spLocks noChangeArrowheads="1"/>
            </p:cNvSpPr>
            <p:nvPr/>
          </p:nvSpPr>
          <p:spPr bwMode="auto">
            <a:xfrm>
              <a:off x="1236" y="3531"/>
              <a:ext cx="156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pc="2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1  1  1  1  1  1  0  1</a:t>
              </a:r>
            </a:p>
          </p:txBody>
        </p:sp>
        <p:sp>
          <p:nvSpPr>
            <p:cNvPr id="283760" name="Rectangle 2160"/>
            <p:cNvSpPr>
              <a:spLocks noChangeArrowheads="1"/>
            </p:cNvSpPr>
            <p:nvPr/>
          </p:nvSpPr>
          <p:spPr bwMode="auto">
            <a:xfrm>
              <a:off x="421" y="3531"/>
              <a:ext cx="76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Courier New" panose="02070309020205020404" pitchFamily="49" charset="0"/>
                  <a:ea typeface="Noto Serif SC" panose="02020200000000000000" pitchFamily="18" charset="-122"/>
                  <a:cs typeface="Courier New" panose="02070309020205020404" pitchFamily="49" charset="0"/>
                </a:rPr>
                <a:t>0 1 1</a:t>
              </a:r>
            </a:p>
          </p:txBody>
        </p:sp>
        <p:sp>
          <p:nvSpPr>
            <p:cNvPr id="283761" name="Rectangle 2161"/>
            <p:cNvSpPr>
              <a:spLocks noChangeArrowheads="1"/>
            </p:cNvSpPr>
            <p:nvPr/>
          </p:nvSpPr>
          <p:spPr bwMode="auto">
            <a:xfrm>
              <a:off x="421" y="3771"/>
              <a:ext cx="76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Courier New" panose="02070309020205020404" pitchFamily="49" charset="0"/>
                  <a:ea typeface="Noto Serif SC" panose="02020200000000000000" pitchFamily="18" charset="-122"/>
                  <a:cs typeface="Courier New" panose="02070309020205020404" pitchFamily="49" charset="0"/>
                </a:rPr>
                <a:t>1 1 1</a:t>
              </a:r>
            </a:p>
          </p:txBody>
        </p:sp>
        <p:sp>
          <p:nvSpPr>
            <p:cNvPr id="283762" name="Rectangle 2162"/>
            <p:cNvSpPr>
              <a:spLocks noChangeArrowheads="1"/>
            </p:cNvSpPr>
            <p:nvPr/>
          </p:nvSpPr>
          <p:spPr bwMode="auto">
            <a:xfrm>
              <a:off x="1236" y="3771"/>
              <a:ext cx="156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pc="2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1  1  1  1  1  1  1  0</a:t>
              </a:r>
            </a:p>
          </p:txBody>
        </p:sp>
        <p:sp>
          <p:nvSpPr>
            <p:cNvPr id="283763" name="Rectangle 2163"/>
            <p:cNvSpPr>
              <a:spLocks noChangeArrowheads="1"/>
            </p:cNvSpPr>
            <p:nvPr/>
          </p:nvSpPr>
          <p:spPr bwMode="auto">
            <a:xfrm>
              <a:off x="421" y="3051"/>
              <a:ext cx="76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b="1" dirty="0">
                  <a:latin typeface="Courier New" panose="02070309020205020404" pitchFamily="49" charset="0"/>
                  <a:ea typeface="Noto Serif SC" panose="02020200000000000000" pitchFamily="18" charset="-122"/>
                  <a:cs typeface="Courier New" panose="02070309020205020404" pitchFamily="49" charset="0"/>
                </a:rPr>
                <a:t>0 0 1</a:t>
              </a:r>
            </a:p>
          </p:txBody>
        </p:sp>
        <p:sp>
          <p:nvSpPr>
            <p:cNvPr id="283764" name="Rectangle 2164"/>
            <p:cNvSpPr>
              <a:spLocks noChangeArrowheads="1"/>
            </p:cNvSpPr>
            <p:nvPr/>
          </p:nvSpPr>
          <p:spPr bwMode="auto">
            <a:xfrm>
              <a:off x="1236" y="3051"/>
              <a:ext cx="156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pc="2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1  1  1  1  0  1  1  1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128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17</a:t>
            </a:r>
            <a:r>
              <a:rPr lang="zh-CN" altLang="en-US" sz="3600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664E8-6C1C-49F0-8BE3-B412E858C59C}" type="slidenum">
              <a:rPr lang="en-US" altLang="zh-CN">
                <a:latin typeface="+mn-ea"/>
                <a:ea typeface="+mn-ea"/>
              </a:rPr>
              <a:pPr/>
              <a:t>21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84675" name="Rectangle 3"/>
          <p:cNvSpPr>
            <a:spLocks noChangeArrowheads="1"/>
          </p:cNvSpPr>
          <p:nvPr/>
        </p:nvSpPr>
        <p:spPr bwMode="auto">
          <a:xfrm>
            <a:off x="609600" y="14478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用</a:t>
            </a:r>
            <a:r>
              <a:rPr lang="en-US" altLang="zh-CN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2</a:t>
            </a: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－</a:t>
            </a:r>
            <a:r>
              <a:rPr lang="en-US" altLang="zh-CN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4</a:t>
            </a: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解碼器構成</a:t>
            </a:r>
            <a:r>
              <a:rPr lang="en-US" altLang="zh-CN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4</a:t>
            </a: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－</a:t>
            </a:r>
            <a:r>
              <a:rPr lang="en-US" altLang="zh-CN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16</a:t>
            </a: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</a:t>
            </a:r>
          </a:p>
          <a:p>
            <a:pPr marL="742950" lvl="1" indent="-28575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需要使用</a:t>
            </a:r>
            <a:r>
              <a:rPr lang="en-US" altLang="zh-CN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   ?  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片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2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－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4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491880" y="3541067"/>
            <a:ext cx="20313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ea typeface="Noto Serif SC" panose="02020200000000000000" pitchFamily="18" charset="-122"/>
              </a:rPr>
              <a:t>答案：</a:t>
            </a:r>
            <a:r>
              <a:rPr lang="en-US" altLang="zh-CN" sz="3200" dirty="0">
                <a:ea typeface="Noto Serif SC" panose="02020200000000000000" pitchFamily="18" charset="-122"/>
              </a:rPr>
              <a:t>5</a:t>
            </a:r>
            <a:r>
              <a:rPr lang="zh-CN" altLang="en-US" sz="3200" dirty="0">
                <a:ea typeface="Noto Serif SC" panose="02020200000000000000" pitchFamily="18" charset="-122"/>
              </a:rPr>
              <a:t>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616" y="5233257"/>
            <a:ext cx="4943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zh-CN" altLang="en-US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問題：</a:t>
            </a:r>
            <a:r>
              <a:rPr lang="en-US" altLang="zh-CN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32</a:t>
            </a:r>
            <a:r>
              <a:rPr lang="zh-CN" altLang="en-US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－</a:t>
            </a:r>
            <a:r>
              <a:rPr lang="en-US" altLang="zh-CN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2</a:t>
            </a:r>
            <a:r>
              <a:rPr lang="en-US" altLang="zh-CN" b="1" baseline="30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32</a:t>
            </a:r>
            <a:r>
              <a:rPr lang="zh-CN" altLang="en-US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解碼器，如何搭建？</a:t>
            </a:r>
          </a:p>
        </p:txBody>
      </p:sp>
    </p:spTree>
    <p:extLst>
      <p:ext uri="{BB962C8B-B14F-4D97-AF65-F5344CB8AC3E}">
        <p14:creationId xmlns:p14="http://schemas.microsoft.com/office/powerpoint/2010/main" val="1221422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18</a:t>
            </a:r>
            <a:r>
              <a:rPr lang="zh-CN" altLang="en-US" sz="3600" dirty="0"/>
              <a:t>）</a:t>
            </a:r>
          </a:p>
        </p:txBody>
      </p:sp>
      <p:sp>
        <p:nvSpPr>
          <p:cNvPr id="15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92F11-B421-4C94-9456-B94B90235E81}" type="slidenum">
              <a:rPr lang="en-US" altLang="zh-CN">
                <a:latin typeface="+mn-ea"/>
                <a:ea typeface="+mn-ea"/>
              </a:rPr>
              <a:pPr/>
              <a:t>22</a:t>
            </a:fld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285699" name="Group 3"/>
          <p:cNvGrpSpPr>
            <a:grpSpLocks/>
          </p:cNvGrpSpPr>
          <p:nvPr/>
        </p:nvGrpSpPr>
        <p:grpSpPr bwMode="auto">
          <a:xfrm>
            <a:off x="3733800" y="2362200"/>
            <a:ext cx="1600200" cy="1447800"/>
            <a:chOff x="2208" y="2496"/>
            <a:chExt cx="1008" cy="912"/>
          </a:xfrm>
        </p:grpSpPr>
        <p:sp>
          <p:nvSpPr>
            <p:cNvPr id="285700" name="Rectangle 4"/>
            <p:cNvSpPr>
              <a:spLocks noChangeArrowheads="1"/>
            </p:cNvSpPr>
            <p:nvPr/>
          </p:nvSpPr>
          <p:spPr bwMode="auto">
            <a:xfrm>
              <a:off x="2208" y="2688"/>
              <a:ext cx="1008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701" name="Rectangle 5"/>
            <p:cNvSpPr>
              <a:spLocks noChangeArrowheads="1"/>
            </p:cNvSpPr>
            <p:nvPr/>
          </p:nvSpPr>
          <p:spPr bwMode="auto">
            <a:xfrm>
              <a:off x="2208" y="2896"/>
              <a:ext cx="28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85702" name="Rectangle 6"/>
            <p:cNvSpPr>
              <a:spLocks noChangeArrowheads="1"/>
            </p:cNvSpPr>
            <p:nvPr/>
          </p:nvSpPr>
          <p:spPr bwMode="auto">
            <a:xfrm>
              <a:off x="2452" y="2896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85703" name="Rectangle 7"/>
            <p:cNvSpPr>
              <a:spLocks noChangeArrowheads="1"/>
            </p:cNvSpPr>
            <p:nvPr/>
          </p:nvSpPr>
          <p:spPr bwMode="auto">
            <a:xfrm>
              <a:off x="2688" y="2896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85704" name="Rectangle 8"/>
            <p:cNvSpPr>
              <a:spLocks noChangeArrowheads="1"/>
            </p:cNvSpPr>
            <p:nvPr/>
          </p:nvSpPr>
          <p:spPr bwMode="auto">
            <a:xfrm>
              <a:off x="2928" y="2896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3</a:t>
              </a:r>
            </a:p>
          </p:txBody>
        </p:sp>
        <p:sp>
          <p:nvSpPr>
            <p:cNvPr id="285705" name="Text Box 9"/>
            <p:cNvSpPr txBox="1">
              <a:spLocks noChangeArrowheads="1"/>
            </p:cNvSpPr>
            <p:nvPr/>
          </p:nvSpPr>
          <p:spPr bwMode="auto">
            <a:xfrm>
              <a:off x="2304" y="2640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A</a:t>
              </a:r>
            </a:p>
          </p:txBody>
        </p:sp>
        <p:graphicFrame>
          <p:nvGraphicFramePr>
            <p:cNvPr id="28570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3044727"/>
                </p:ext>
              </p:extLst>
            </p:nvPr>
          </p:nvGraphicFramePr>
          <p:xfrm>
            <a:off x="2844" y="2681"/>
            <a:ext cx="18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2280" imgH="215640" progId="Equation.3">
                    <p:embed/>
                  </p:oleObj>
                </mc:Choice>
                <mc:Fallback>
                  <p:oleObj name="Equation" r:id="rId2" imgW="152280" imgH="215640" progId="Equation.3">
                    <p:embed/>
                    <p:pic>
                      <p:nvPicPr>
                        <p:cNvPr id="285706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4" y="2681"/>
                          <a:ext cx="18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5707" name="Line 11"/>
            <p:cNvSpPr>
              <a:spLocks noChangeShapeType="1"/>
            </p:cNvSpPr>
            <p:nvPr/>
          </p:nvSpPr>
          <p:spPr bwMode="auto">
            <a:xfrm>
              <a:off x="2304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708" name="Line 12"/>
            <p:cNvSpPr>
              <a:spLocks noChangeShapeType="1"/>
            </p:cNvSpPr>
            <p:nvPr/>
          </p:nvSpPr>
          <p:spPr bwMode="auto">
            <a:xfrm>
              <a:off x="2544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709" name="Line 13"/>
            <p:cNvSpPr>
              <a:spLocks noChangeShapeType="1"/>
            </p:cNvSpPr>
            <p:nvPr/>
          </p:nvSpPr>
          <p:spPr bwMode="auto">
            <a:xfrm>
              <a:off x="2784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710" name="Line 14"/>
            <p:cNvSpPr>
              <a:spLocks noChangeShapeType="1"/>
            </p:cNvSpPr>
            <p:nvPr/>
          </p:nvSpPr>
          <p:spPr bwMode="auto">
            <a:xfrm>
              <a:off x="3024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711" name="Text Box 15"/>
            <p:cNvSpPr txBox="1">
              <a:spLocks noChangeArrowheads="1"/>
            </p:cNvSpPr>
            <p:nvPr/>
          </p:nvSpPr>
          <p:spPr bwMode="auto">
            <a:xfrm>
              <a:off x="2544" y="2640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B</a:t>
              </a:r>
            </a:p>
          </p:txBody>
        </p:sp>
        <p:sp>
          <p:nvSpPr>
            <p:cNvPr id="285712" name="Line 16"/>
            <p:cNvSpPr>
              <a:spLocks noChangeShapeType="1"/>
            </p:cNvSpPr>
            <p:nvPr/>
          </p:nvSpPr>
          <p:spPr bwMode="auto">
            <a:xfrm>
              <a:off x="2448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713" name="Line 17"/>
            <p:cNvSpPr>
              <a:spLocks noChangeShapeType="1"/>
            </p:cNvSpPr>
            <p:nvPr/>
          </p:nvSpPr>
          <p:spPr bwMode="auto">
            <a:xfrm>
              <a:off x="2688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714" name="Line 18"/>
            <p:cNvSpPr>
              <a:spLocks noChangeShapeType="1"/>
            </p:cNvSpPr>
            <p:nvPr/>
          </p:nvSpPr>
          <p:spPr bwMode="auto">
            <a:xfrm>
              <a:off x="2928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5715" name="Group 19"/>
          <p:cNvGrpSpPr>
            <a:grpSpLocks/>
          </p:cNvGrpSpPr>
          <p:nvPr/>
        </p:nvGrpSpPr>
        <p:grpSpPr bwMode="auto">
          <a:xfrm>
            <a:off x="685800" y="4419600"/>
            <a:ext cx="1600200" cy="1447800"/>
            <a:chOff x="432" y="2592"/>
            <a:chExt cx="1008" cy="912"/>
          </a:xfrm>
        </p:grpSpPr>
        <p:grpSp>
          <p:nvGrpSpPr>
            <p:cNvPr id="285716" name="Group 20"/>
            <p:cNvGrpSpPr>
              <a:grpSpLocks/>
            </p:cNvGrpSpPr>
            <p:nvPr/>
          </p:nvGrpSpPr>
          <p:grpSpPr bwMode="auto">
            <a:xfrm>
              <a:off x="432" y="2592"/>
              <a:ext cx="1008" cy="912"/>
              <a:chOff x="960" y="2496"/>
              <a:chExt cx="1008" cy="912"/>
            </a:xfrm>
          </p:grpSpPr>
          <p:sp>
            <p:nvSpPr>
              <p:cNvPr id="285717" name="Rectangle 21"/>
              <p:cNvSpPr>
                <a:spLocks noChangeArrowheads="1"/>
              </p:cNvSpPr>
              <p:nvPr/>
            </p:nvSpPr>
            <p:spPr bwMode="auto">
              <a:xfrm>
                <a:off x="960" y="2688"/>
                <a:ext cx="100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18" name="Rectangle 22"/>
              <p:cNvSpPr>
                <a:spLocks noChangeArrowheads="1"/>
              </p:cNvSpPr>
              <p:nvPr/>
            </p:nvSpPr>
            <p:spPr bwMode="auto">
              <a:xfrm>
                <a:off x="960" y="2915"/>
                <a:ext cx="28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285719" name="Rectangle 23"/>
              <p:cNvSpPr>
                <a:spLocks noChangeArrowheads="1"/>
              </p:cNvSpPr>
              <p:nvPr/>
            </p:nvSpPr>
            <p:spPr bwMode="auto">
              <a:xfrm>
                <a:off x="1204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285720" name="Rectangle 24"/>
              <p:cNvSpPr>
                <a:spLocks noChangeArrowheads="1"/>
              </p:cNvSpPr>
              <p:nvPr/>
            </p:nvSpPr>
            <p:spPr bwMode="auto">
              <a:xfrm>
                <a:off x="1440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285721" name="Rectangle 25"/>
              <p:cNvSpPr>
                <a:spLocks noChangeArrowheads="1"/>
              </p:cNvSpPr>
              <p:nvPr/>
            </p:nvSpPr>
            <p:spPr bwMode="auto">
              <a:xfrm>
                <a:off x="1680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285722" name="Text Box 26"/>
              <p:cNvSpPr txBox="1">
                <a:spLocks noChangeArrowheads="1"/>
              </p:cNvSpPr>
              <p:nvPr/>
            </p:nvSpPr>
            <p:spPr bwMode="auto">
              <a:xfrm>
                <a:off x="1056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+mn-ea"/>
                    <a:ea typeface="+mn-ea"/>
                  </a:rPr>
                  <a:t>A</a:t>
                </a:r>
              </a:p>
            </p:txBody>
          </p:sp>
          <p:graphicFrame>
            <p:nvGraphicFramePr>
              <p:cNvPr id="285723" name="Object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24808555"/>
                  </p:ext>
                </p:extLst>
              </p:nvPr>
            </p:nvGraphicFramePr>
            <p:xfrm>
              <a:off x="1596" y="2681"/>
              <a:ext cx="180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152280" imgH="215640" progId="Equation.3">
                      <p:embed/>
                    </p:oleObj>
                  </mc:Choice>
                  <mc:Fallback>
                    <p:oleObj name="公式" r:id="rId4" imgW="152280" imgH="215640" progId="Equation.3">
                      <p:embed/>
                      <p:pic>
                        <p:nvPicPr>
                          <p:cNvPr id="285723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96" y="2681"/>
                            <a:ext cx="180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5724" name="Line 28"/>
              <p:cNvSpPr>
                <a:spLocks noChangeShapeType="1"/>
              </p:cNvSpPr>
              <p:nvPr/>
            </p:nvSpPr>
            <p:spPr bwMode="auto">
              <a:xfrm>
                <a:off x="1056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25" name="Line 29"/>
              <p:cNvSpPr>
                <a:spLocks noChangeShapeType="1"/>
              </p:cNvSpPr>
              <p:nvPr/>
            </p:nvSpPr>
            <p:spPr bwMode="auto">
              <a:xfrm>
                <a:off x="1296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26" name="Line 30"/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27" name="Line 31"/>
              <p:cNvSpPr>
                <a:spLocks noChangeShapeType="1"/>
              </p:cNvSpPr>
              <p:nvPr/>
            </p:nvSpPr>
            <p:spPr bwMode="auto">
              <a:xfrm>
                <a:off x="1776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28" name="Text Box 32"/>
              <p:cNvSpPr txBox="1">
                <a:spLocks noChangeArrowheads="1"/>
              </p:cNvSpPr>
              <p:nvPr/>
            </p:nvSpPr>
            <p:spPr bwMode="auto">
              <a:xfrm>
                <a:off x="1296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+mn-ea"/>
                    <a:ea typeface="+mn-ea"/>
                  </a:rPr>
                  <a:t>B</a:t>
                </a:r>
              </a:p>
            </p:txBody>
          </p:sp>
          <p:sp>
            <p:nvSpPr>
              <p:cNvPr id="285729" name="Line 33"/>
              <p:cNvSpPr>
                <a:spLocks noChangeShapeType="1"/>
              </p:cNvSpPr>
              <p:nvPr/>
            </p:nvSpPr>
            <p:spPr bwMode="auto">
              <a:xfrm>
                <a:off x="1200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30" name="Line 34"/>
              <p:cNvSpPr>
                <a:spLocks noChangeShapeType="1"/>
              </p:cNvSpPr>
              <p:nvPr/>
            </p:nvSpPr>
            <p:spPr bwMode="auto">
              <a:xfrm>
                <a:off x="1440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31" name="Line 35"/>
              <p:cNvSpPr>
                <a:spLocks noChangeShapeType="1"/>
              </p:cNvSpPr>
              <p:nvPr/>
            </p:nvSpPr>
            <p:spPr bwMode="auto">
              <a:xfrm>
                <a:off x="1680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5732" name="Rectangle 36"/>
            <p:cNvSpPr>
              <a:spLocks noChangeArrowheads="1"/>
            </p:cNvSpPr>
            <p:nvPr/>
          </p:nvSpPr>
          <p:spPr bwMode="auto">
            <a:xfrm>
              <a:off x="805" y="2928"/>
              <a:ext cx="2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+mn-ea"/>
                  <a:ea typeface="+mn-ea"/>
                </a:rPr>
                <a:t>I</a:t>
              </a:r>
            </a:p>
          </p:txBody>
        </p:sp>
      </p:grpSp>
      <p:grpSp>
        <p:nvGrpSpPr>
          <p:cNvPr id="285733" name="Group 37"/>
          <p:cNvGrpSpPr>
            <a:grpSpLocks/>
          </p:cNvGrpSpPr>
          <p:nvPr/>
        </p:nvGrpSpPr>
        <p:grpSpPr bwMode="auto">
          <a:xfrm>
            <a:off x="2590800" y="4419600"/>
            <a:ext cx="1600200" cy="1447800"/>
            <a:chOff x="1632" y="2592"/>
            <a:chExt cx="1008" cy="912"/>
          </a:xfrm>
        </p:grpSpPr>
        <p:grpSp>
          <p:nvGrpSpPr>
            <p:cNvPr id="285734" name="Group 38"/>
            <p:cNvGrpSpPr>
              <a:grpSpLocks/>
            </p:cNvGrpSpPr>
            <p:nvPr/>
          </p:nvGrpSpPr>
          <p:grpSpPr bwMode="auto">
            <a:xfrm>
              <a:off x="1632" y="2592"/>
              <a:ext cx="1008" cy="912"/>
              <a:chOff x="2208" y="2496"/>
              <a:chExt cx="1008" cy="912"/>
            </a:xfrm>
          </p:grpSpPr>
          <p:sp>
            <p:nvSpPr>
              <p:cNvPr id="285735" name="Rectangle 39"/>
              <p:cNvSpPr>
                <a:spLocks noChangeArrowheads="1"/>
              </p:cNvSpPr>
              <p:nvPr/>
            </p:nvSpPr>
            <p:spPr bwMode="auto">
              <a:xfrm>
                <a:off x="2208" y="2688"/>
                <a:ext cx="100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36" name="Rectangle 40"/>
              <p:cNvSpPr>
                <a:spLocks noChangeArrowheads="1"/>
              </p:cNvSpPr>
              <p:nvPr/>
            </p:nvSpPr>
            <p:spPr bwMode="auto">
              <a:xfrm>
                <a:off x="2208" y="2915"/>
                <a:ext cx="28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285737" name="Rectangle 41"/>
              <p:cNvSpPr>
                <a:spLocks noChangeArrowheads="1"/>
              </p:cNvSpPr>
              <p:nvPr/>
            </p:nvSpPr>
            <p:spPr bwMode="auto">
              <a:xfrm>
                <a:off x="2452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285738" name="Rectangle 42"/>
              <p:cNvSpPr>
                <a:spLocks noChangeArrowheads="1"/>
              </p:cNvSpPr>
              <p:nvPr/>
            </p:nvSpPr>
            <p:spPr bwMode="auto">
              <a:xfrm>
                <a:off x="2688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285739" name="Rectangle 43"/>
              <p:cNvSpPr>
                <a:spLocks noChangeArrowheads="1"/>
              </p:cNvSpPr>
              <p:nvPr/>
            </p:nvSpPr>
            <p:spPr bwMode="auto">
              <a:xfrm>
                <a:off x="2928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285740" name="Text Box 44"/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+mn-ea"/>
                    <a:ea typeface="+mn-ea"/>
                  </a:rPr>
                  <a:t>A</a:t>
                </a:r>
              </a:p>
            </p:txBody>
          </p:sp>
          <p:graphicFrame>
            <p:nvGraphicFramePr>
              <p:cNvPr id="285741" name="Object 4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36392391"/>
                  </p:ext>
                </p:extLst>
              </p:nvPr>
            </p:nvGraphicFramePr>
            <p:xfrm>
              <a:off x="2844" y="2681"/>
              <a:ext cx="180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52280" imgH="215640" progId="Equation.3">
                      <p:embed/>
                    </p:oleObj>
                  </mc:Choice>
                  <mc:Fallback>
                    <p:oleObj name="Equation" r:id="rId6" imgW="152280" imgH="215640" progId="Equation.3">
                      <p:embed/>
                      <p:pic>
                        <p:nvPicPr>
                          <p:cNvPr id="285741" name="Object 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44" y="2681"/>
                            <a:ext cx="180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5742" name="Line 46"/>
              <p:cNvSpPr>
                <a:spLocks noChangeShapeType="1"/>
              </p:cNvSpPr>
              <p:nvPr/>
            </p:nvSpPr>
            <p:spPr bwMode="auto">
              <a:xfrm>
                <a:off x="230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43" name="Line 47"/>
              <p:cNvSpPr>
                <a:spLocks noChangeShapeType="1"/>
              </p:cNvSpPr>
              <p:nvPr/>
            </p:nvSpPr>
            <p:spPr bwMode="auto">
              <a:xfrm>
                <a:off x="254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44" name="Line 48"/>
              <p:cNvSpPr>
                <a:spLocks noChangeShapeType="1"/>
              </p:cNvSpPr>
              <p:nvPr/>
            </p:nvSpPr>
            <p:spPr bwMode="auto">
              <a:xfrm>
                <a:off x="278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45" name="Line 49"/>
              <p:cNvSpPr>
                <a:spLocks noChangeShapeType="1"/>
              </p:cNvSpPr>
              <p:nvPr/>
            </p:nvSpPr>
            <p:spPr bwMode="auto">
              <a:xfrm>
                <a:off x="302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46" name="Text Box 50"/>
              <p:cNvSpPr txBox="1">
                <a:spLocks noChangeArrowheads="1"/>
              </p:cNvSpPr>
              <p:nvPr/>
            </p:nvSpPr>
            <p:spPr bwMode="auto">
              <a:xfrm>
                <a:off x="254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+mn-ea"/>
                    <a:ea typeface="+mn-ea"/>
                  </a:rPr>
                  <a:t>B</a:t>
                </a:r>
              </a:p>
            </p:txBody>
          </p:sp>
          <p:sp>
            <p:nvSpPr>
              <p:cNvPr id="285747" name="Line 51"/>
              <p:cNvSpPr>
                <a:spLocks noChangeShapeType="1"/>
              </p:cNvSpPr>
              <p:nvPr/>
            </p:nvSpPr>
            <p:spPr bwMode="auto">
              <a:xfrm>
                <a:off x="244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48" name="Line 52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49" name="Line 53"/>
              <p:cNvSpPr>
                <a:spLocks noChangeShapeType="1"/>
              </p:cNvSpPr>
              <p:nvPr/>
            </p:nvSpPr>
            <p:spPr bwMode="auto">
              <a:xfrm>
                <a:off x="292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5750" name="Rectangle 54"/>
            <p:cNvSpPr>
              <a:spLocks noChangeArrowheads="1"/>
            </p:cNvSpPr>
            <p:nvPr/>
          </p:nvSpPr>
          <p:spPr bwMode="auto">
            <a:xfrm>
              <a:off x="1955" y="2928"/>
              <a:ext cx="3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+mn-ea"/>
                  <a:ea typeface="+mn-ea"/>
                </a:rPr>
                <a:t>II</a:t>
              </a:r>
            </a:p>
          </p:txBody>
        </p:sp>
      </p:grpSp>
      <p:grpSp>
        <p:nvGrpSpPr>
          <p:cNvPr id="285751" name="Group 55"/>
          <p:cNvGrpSpPr>
            <a:grpSpLocks/>
          </p:cNvGrpSpPr>
          <p:nvPr/>
        </p:nvGrpSpPr>
        <p:grpSpPr bwMode="auto">
          <a:xfrm>
            <a:off x="4495800" y="4419600"/>
            <a:ext cx="1600200" cy="1447800"/>
            <a:chOff x="2832" y="2592"/>
            <a:chExt cx="1008" cy="912"/>
          </a:xfrm>
        </p:grpSpPr>
        <p:grpSp>
          <p:nvGrpSpPr>
            <p:cNvPr id="285752" name="Group 56"/>
            <p:cNvGrpSpPr>
              <a:grpSpLocks/>
            </p:cNvGrpSpPr>
            <p:nvPr/>
          </p:nvGrpSpPr>
          <p:grpSpPr bwMode="auto">
            <a:xfrm>
              <a:off x="2832" y="2592"/>
              <a:ext cx="1008" cy="912"/>
              <a:chOff x="2208" y="2496"/>
              <a:chExt cx="1008" cy="912"/>
            </a:xfrm>
          </p:grpSpPr>
          <p:sp>
            <p:nvSpPr>
              <p:cNvPr id="285753" name="Rectangle 57"/>
              <p:cNvSpPr>
                <a:spLocks noChangeArrowheads="1"/>
              </p:cNvSpPr>
              <p:nvPr/>
            </p:nvSpPr>
            <p:spPr bwMode="auto">
              <a:xfrm>
                <a:off x="2208" y="2688"/>
                <a:ext cx="100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54" name="Rectangle 58"/>
              <p:cNvSpPr>
                <a:spLocks noChangeArrowheads="1"/>
              </p:cNvSpPr>
              <p:nvPr/>
            </p:nvSpPr>
            <p:spPr bwMode="auto">
              <a:xfrm>
                <a:off x="2208" y="2915"/>
                <a:ext cx="28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285755" name="Rectangle 59"/>
              <p:cNvSpPr>
                <a:spLocks noChangeArrowheads="1"/>
              </p:cNvSpPr>
              <p:nvPr/>
            </p:nvSpPr>
            <p:spPr bwMode="auto">
              <a:xfrm>
                <a:off x="2452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285756" name="Rectangle 60"/>
              <p:cNvSpPr>
                <a:spLocks noChangeArrowheads="1"/>
              </p:cNvSpPr>
              <p:nvPr/>
            </p:nvSpPr>
            <p:spPr bwMode="auto">
              <a:xfrm>
                <a:off x="2688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285757" name="Rectangle 61"/>
              <p:cNvSpPr>
                <a:spLocks noChangeArrowheads="1"/>
              </p:cNvSpPr>
              <p:nvPr/>
            </p:nvSpPr>
            <p:spPr bwMode="auto">
              <a:xfrm>
                <a:off x="2928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285758" name="Text Box 62"/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+mn-ea"/>
                    <a:ea typeface="+mn-ea"/>
                  </a:rPr>
                  <a:t>A</a:t>
                </a:r>
              </a:p>
            </p:txBody>
          </p:sp>
          <p:graphicFrame>
            <p:nvGraphicFramePr>
              <p:cNvPr id="285759" name="Object 6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64632725"/>
                  </p:ext>
                </p:extLst>
              </p:nvPr>
            </p:nvGraphicFramePr>
            <p:xfrm>
              <a:off x="2844" y="2681"/>
              <a:ext cx="180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52280" imgH="215640" progId="Equation.3">
                      <p:embed/>
                    </p:oleObj>
                  </mc:Choice>
                  <mc:Fallback>
                    <p:oleObj name="Equation" r:id="rId8" imgW="152280" imgH="215640" progId="Equation.3">
                      <p:embed/>
                      <p:pic>
                        <p:nvPicPr>
                          <p:cNvPr id="285759" name="Object 6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44" y="2681"/>
                            <a:ext cx="180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5760" name="Line 64"/>
              <p:cNvSpPr>
                <a:spLocks noChangeShapeType="1"/>
              </p:cNvSpPr>
              <p:nvPr/>
            </p:nvSpPr>
            <p:spPr bwMode="auto">
              <a:xfrm>
                <a:off x="230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61" name="Line 65"/>
              <p:cNvSpPr>
                <a:spLocks noChangeShapeType="1"/>
              </p:cNvSpPr>
              <p:nvPr/>
            </p:nvSpPr>
            <p:spPr bwMode="auto">
              <a:xfrm>
                <a:off x="254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62" name="Line 66"/>
              <p:cNvSpPr>
                <a:spLocks noChangeShapeType="1"/>
              </p:cNvSpPr>
              <p:nvPr/>
            </p:nvSpPr>
            <p:spPr bwMode="auto">
              <a:xfrm>
                <a:off x="278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63" name="Line 67"/>
              <p:cNvSpPr>
                <a:spLocks noChangeShapeType="1"/>
              </p:cNvSpPr>
              <p:nvPr/>
            </p:nvSpPr>
            <p:spPr bwMode="auto">
              <a:xfrm>
                <a:off x="302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64" name="Text Box 68"/>
              <p:cNvSpPr txBox="1">
                <a:spLocks noChangeArrowheads="1"/>
              </p:cNvSpPr>
              <p:nvPr/>
            </p:nvSpPr>
            <p:spPr bwMode="auto">
              <a:xfrm>
                <a:off x="254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+mn-ea"/>
                    <a:ea typeface="+mn-ea"/>
                  </a:rPr>
                  <a:t>B</a:t>
                </a:r>
              </a:p>
            </p:txBody>
          </p:sp>
          <p:sp>
            <p:nvSpPr>
              <p:cNvPr id="285765" name="Line 69"/>
              <p:cNvSpPr>
                <a:spLocks noChangeShapeType="1"/>
              </p:cNvSpPr>
              <p:nvPr/>
            </p:nvSpPr>
            <p:spPr bwMode="auto">
              <a:xfrm>
                <a:off x="244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66" name="Line 70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67" name="Line 71"/>
              <p:cNvSpPr>
                <a:spLocks noChangeShapeType="1"/>
              </p:cNvSpPr>
              <p:nvPr/>
            </p:nvSpPr>
            <p:spPr bwMode="auto">
              <a:xfrm>
                <a:off x="292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5768" name="Rectangle 72"/>
            <p:cNvSpPr>
              <a:spLocks noChangeArrowheads="1"/>
            </p:cNvSpPr>
            <p:nvPr/>
          </p:nvSpPr>
          <p:spPr bwMode="auto">
            <a:xfrm>
              <a:off x="3097" y="2928"/>
              <a:ext cx="4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+mn-ea"/>
                  <a:ea typeface="+mn-ea"/>
                </a:rPr>
                <a:t>III</a:t>
              </a:r>
            </a:p>
          </p:txBody>
        </p:sp>
      </p:grpSp>
      <p:grpSp>
        <p:nvGrpSpPr>
          <p:cNvPr id="285769" name="Group 73"/>
          <p:cNvGrpSpPr>
            <a:grpSpLocks/>
          </p:cNvGrpSpPr>
          <p:nvPr/>
        </p:nvGrpSpPr>
        <p:grpSpPr bwMode="auto">
          <a:xfrm>
            <a:off x="6324600" y="4419600"/>
            <a:ext cx="1600200" cy="1447800"/>
            <a:chOff x="3984" y="2592"/>
            <a:chExt cx="1008" cy="912"/>
          </a:xfrm>
        </p:grpSpPr>
        <p:grpSp>
          <p:nvGrpSpPr>
            <p:cNvPr id="285770" name="Group 74"/>
            <p:cNvGrpSpPr>
              <a:grpSpLocks/>
            </p:cNvGrpSpPr>
            <p:nvPr/>
          </p:nvGrpSpPr>
          <p:grpSpPr bwMode="auto">
            <a:xfrm>
              <a:off x="3984" y="2592"/>
              <a:ext cx="1008" cy="912"/>
              <a:chOff x="2208" y="2496"/>
              <a:chExt cx="1008" cy="912"/>
            </a:xfrm>
          </p:grpSpPr>
          <p:sp>
            <p:nvSpPr>
              <p:cNvPr id="285771" name="Rectangle 75"/>
              <p:cNvSpPr>
                <a:spLocks noChangeArrowheads="1"/>
              </p:cNvSpPr>
              <p:nvPr/>
            </p:nvSpPr>
            <p:spPr bwMode="auto">
              <a:xfrm>
                <a:off x="2208" y="2688"/>
                <a:ext cx="100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72" name="Rectangle 76"/>
              <p:cNvSpPr>
                <a:spLocks noChangeArrowheads="1"/>
              </p:cNvSpPr>
              <p:nvPr/>
            </p:nvSpPr>
            <p:spPr bwMode="auto">
              <a:xfrm>
                <a:off x="2208" y="2915"/>
                <a:ext cx="28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285773" name="Rectangle 77"/>
              <p:cNvSpPr>
                <a:spLocks noChangeArrowheads="1"/>
              </p:cNvSpPr>
              <p:nvPr/>
            </p:nvSpPr>
            <p:spPr bwMode="auto">
              <a:xfrm>
                <a:off x="2452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285774" name="Rectangle 78"/>
              <p:cNvSpPr>
                <a:spLocks noChangeArrowheads="1"/>
              </p:cNvSpPr>
              <p:nvPr/>
            </p:nvSpPr>
            <p:spPr bwMode="auto">
              <a:xfrm>
                <a:off x="2688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285775" name="Rectangle 79"/>
              <p:cNvSpPr>
                <a:spLocks noChangeArrowheads="1"/>
              </p:cNvSpPr>
              <p:nvPr/>
            </p:nvSpPr>
            <p:spPr bwMode="auto">
              <a:xfrm>
                <a:off x="2928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285776" name="Text Box 80"/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+mn-ea"/>
                    <a:ea typeface="+mn-ea"/>
                  </a:rPr>
                  <a:t>A</a:t>
                </a:r>
              </a:p>
            </p:txBody>
          </p:sp>
          <p:graphicFrame>
            <p:nvGraphicFramePr>
              <p:cNvPr id="285777" name="Object 8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71301020"/>
                  </p:ext>
                </p:extLst>
              </p:nvPr>
            </p:nvGraphicFramePr>
            <p:xfrm>
              <a:off x="2844" y="2681"/>
              <a:ext cx="180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52280" imgH="215640" progId="Equation.3">
                      <p:embed/>
                    </p:oleObj>
                  </mc:Choice>
                  <mc:Fallback>
                    <p:oleObj name="Equation" r:id="rId10" imgW="152280" imgH="215640" progId="Equation.3">
                      <p:embed/>
                      <p:pic>
                        <p:nvPicPr>
                          <p:cNvPr id="285777" name="Object 8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44" y="2681"/>
                            <a:ext cx="180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5778" name="Line 82"/>
              <p:cNvSpPr>
                <a:spLocks noChangeShapeType="1"/>
              </p:cNvSpPr>
              <p:nvPr/>
            </p:nvSpPr>
            <p:spPr bwMode="auto">
              <a:xfrm>
                <a:off x="230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79" name="Line 83"/>
              <p:cNvSpPr>
                <a:spLocks noChangeShapeType="1"/>
              </p:cNvSpPr>
              <p:nvPr/>
            </p:nvSpPr>
            <p:spPr bwMode="auto">
              <a:xfrm>
                <a:off x="254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80" name="Line 84"/>
              <p:cNvSpPr>
                <a:spLocks noChangeShapeType="1"/>
              </p:cNvSpPr>
              <p:nvPr/>
            </p:nvSpPr>
            <p:spPr bwMode="auto">
              <a:xfrm>
                <a:off x="278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81" name="Line 85"/>
              <p:cNvSpPr>
                <a:spLocks noChangeShapeType="1"/>
              </p:cNvSpPr>
              <p:nvPr/>
            </p:nvSpPr>
            <p:spPr bwMode="auto">
              <a:xfrm>
                <a:off x="302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82" name="Text Box 86"/>
              <p:cNvSpPr txBox="1">
                <a:spLocks noChangeArrowheads="1"/>
              </p:cNvSpPr>
              <p:nvPr/>
            </p:nvSpPr>
            <p:spPr bwMode="auto">
              <a:xfrm>
                <a:off x="254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+mn-ea"/>
                    <a:ea typeface="+mn-ea"/>
                  </a:rPr>
                  <a:t>B</a:t>
                </a:r>
              </a:p>
            </p:txBody>
          </p:sp>
          <p:sp>
            <p:nvSpPr>
              <p:cNvPr id="285783" name="Line 87"/>
              <p:cNvSpPr>
                <a:spLocks noChangeShapeType="1"/>
              </p:cNvSpPr>
              <p:nvPr/>
            </p:nvSpPr>
            <p:spPr bwMode="auto">
              <a:xfrm>
                <a:off x="244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84" name="Line 88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85" name="Line 89"/>
              <p:cNvSpPr>
                <a:spLocks noChangeShapeType="1"/>
              </p:cNvSpPr>
              <p:nvPr/>
            </p:nvSpPr>
            <p:spPr bwMode="auto">
              <a:xfrm>
                <a:off x="292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5786" name="Rectangle 90"/>
            <p:cNvSpPr>
              <a:spLocks noChangeArrowheads="1"/>
            </p:cNvSpPr>
            <p:nvPr/>
          </p:nvSpPr>
          <p:spPr bwMode="auto">
            <a:xfrm>
              <a:off x="4286" y="2928"/>
              <a:ext cx="3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+mn-ea"/>
                  <a:ea typeface="+mn-ea"/>
                </a:rPr>
                <a:t>IV</a:t>
              </a:r>
            </a:p>
          </p:txBody>
        </p:sp>
      </p:grpSp>
      <p:grpSp>
        <p:nvGrpSpPr>
          <p:cNvPr id="285787" name="Group 91"/>
          <p:cNvGrpSpPr>
            <a:grpSpLocks/>
          </p:cNvGrpSpPr>
          <p:nvPr/>
        </p:nvGrpSpPr>
        <p:grpSpPr bwMode="auto">
          <a:xfrm>
            <a:off x="658813" y="5791206"/>
            <a:ext cx="7296150" cy="461963"/>
            <a:chOff x="415" y="3648"/>
            <a:chExt cx="4596" cy="291"/>
          </a:xfrm>
        </p:grpSpPr>
        <p:sp>
          <p:nvSpPr>
            <p:cNvPr id="285788" name="Rectangle 92"/>
            <p:cNvSpPr>
              <a:spLocks noChangeArrowheads="1"/>
            </p:cNvSpPr>
            <p:nvPr/>
          </p:nvSpPr>
          <p:spPr bwMode="auto">
            <a:xfrm>
              <a:off x="415" y="3648"/>
              <a:ext cx="29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285789" name="Rectangle 93"/>
            <p:cNvSpPr>
              <a:spLocks noChangeArrowheads="1"/>
            </p:cNvSpPr>
            <p:nvPr/>
          </p:nvSpPr>
          <p:spPr bwMode="auto">
            <a:xfrm>
              <a:off x="1135" y="3648"/>
              <a:ext cx="29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285790" name="Rectangle 94"/>
            <p:cNvSpPr>
              <a:spLocks noChangeArrowheads="1"/>
            </p:cNvSpPr>
            <p:nvPr/>
          </p:nvSpPr>
          <p:spPr bwMode="auto">
            <a:xfrm>
              <a:off x="1598" y="3648"/>
              <a:ext cx="29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285791" name="Rectangle 95"/>
            <p:cNvSpPr>
              <a:spLocks noChangeArrowheads="1"/>
            </p:cNvSpPr>
            <p:nvPr/>
          </p:nvSpPr>
          <p:spPr bwMode="auto">
            <a:xfrm>
              <a:off x="2366" y="3648"/>
              <a:ext cx="29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7</a:t>
              </a:r>
            </a:p>
          </p:txBody>
        </p:sp>
        <p:sp>
          <p:nvSpPr>
            <p:cNvPr id="285792" name="Rectangle 96"/>
            <p:cNvSpPr>
              <a:spLocks noChangeArrowheads="1"/>
            </p:cNvSpPr>
            <p:nvPr/>
          </p:nvSpPr>
          <p:spPr bwMode="auto">
            <a:xfrm>
              <a:off x="2815" y="3648"/>
              <a:ext cx="29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8</a:t>
              </a:r>
            </a:p>
          </p:txBody>
        </p:sp>
        <p:sp>
          <p:nvSpPr>
            <p:cNvPr id="285793" name="Rectangle 97"/>
            <p:cNvSpPr>
              <a:spLocks noChangeArrowheads="1"/>
            </p:cNvSpPr>
            <p:nvPr/>
          </p:nvSpPr>
          <p:spPr bwMode="auto">
            <a:xfrm>
              <a:off x="3503" y="3648"/>
              <a:ext cx="3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11</a:t>
              </a:r>
            </a:p>
          </p:txBody>
        </p:sp>
        <p:sp>
          <p:nvSpPr>
            <p:cNvPr id="285794" name="Rectangle 98"/>
            <p:cNvSpPr>
              <a:spLocks noChangeArrowheads="1"/>
            </p:cNvSpPr>
            <p:nvPr/>
          </p:nvSpPr>
          <p:spPr bwMode="auto">
            <a:xfrm>
              <a:off x="3951" y="3648"/>
              <a:ext cx="3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12</a:t>
              </a:r>
            </a:p>
          </p:txBody>
        </p:sp>
        <p:sp>
          <p:nvSpPr>
            <p:cNvPr id="285795" name="Rectangle 99"/>
            <p:cNvSpPr>
              <a:spLocks noChangeArrowheads="1"/>
            </p:cNvSpPr>
            <p:nvPr/>
          </p:nvSpPr>
          <p:spPr bwMode="auto">
            <a:xfrm>
              <a:off x="4655" y="3648"/>
              <a:ext cx="3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15</a:t>
              </a:r>
            </a:p>
          </p:txBody>
        </p:sp>
        <p:sp>
          <p:nvSpPr>
            <p:cNvPr id="285796" name="Rectangle 100"/>
            <p:cNvSpPr>
              <a:spLocks noChangeArrowheads="1"/>
            </p:cNvSpPr>
            <p:nvPr/>
          </p:nvSpPr>
          <p:spPr bwMode="auto">
            <a:xfrm>
              <a:off x="669" y="3648"/>
              <a:ext cx="5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……</a:t>
              </a:r>
              <a:endParaRPr lang="en-US" altLang="zh-CN" sz="2400" b="1" baseline="-25000" dirty="0">
                <a:latin typeface="+mn-ea"/>
                <a:ea typeface="+mn-ea"/>
              </a:endParaRPr>
            </a:p>
          </p:txBody>
        </p:sp>
        <p:sp>
          <p:nvSpPr>
            <p:cNvPr id="285797" name="Rectangle 101"/>
            <p:cNvSpPr>
              <a:spLocks noChangeArrowheads="1"/>
            </p:cNvSpPr>
            <p:nvPr/>
          </p:nvSpPr>
          <p:spPr bwMode="auto">
            <a:xfrm>
              <a:off x="1869" y="3648"/>
              <a:ext cx="5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……</a:t>
              </a:r>
              <a:endParaRPr lang="en-US" altLang="zh-CN" sz="2400" b="1" baseline="-25000" dirty="0">
                <a:latin typeface="+mn-ea"/>
                <a:ea typeface="+mn-ea"/>
              </a:endParaRPr>
            </a:p>
          </p:txBody>
        </p:sp>
        <p:sp>
          <p:nvSpPr>
            <p:cNvPr id="285798" name="Rectangle 102"/>
            <p:cNvSpPr>
              <a:spLocks noChangeArrowheads="1"/>
            </p:cNvSpPr>
            <p:nvPr/>
          </p:nvSpPr>
          <p:spPr bwMode="auto">
            <a:xfrm>
              <a:off x="3049" y="3648"/>
              <a:ext cx="5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……</a:t>
              </a:r>
              <a:endParaRPr lang="en-US" altLang="zh-CN" sz="2400" b="1" baseline="-25000" dirty="0">
                <a:latin typeface="+mn-ea"/>
                <a:ea typeface="+mn-ea"/>
              </a:endParaRPr>
            </a:p>
          </p:txBody>
        </p:sp>
        <p:sp>
          <p:nvSpPr>
            <p:cNvPr id="285799" name="Rectangle 103"/>
            <p:cNvSpPr>
              <a:spLocks noChangeArrowheads="1"/>
            </p:cNvSpPr>
            <p:nvPr/>
          </p:nvSpPr>
          <p:spPr bwMode="auto">
            <a:xfrm>
              <a:off x="4249" y="3648"/>
              <a:ext cx="5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……</a:t>
              </a:r>
              <a:endParaRPr lang="en-US" altLang="zh-CN" sz="2400" b="1" baseline="-25000" dirty="0">
                <a:latin typeface="+mn-ea"/>
                <a:ea typeface="+mn-ea"/>
              </a:endParaRPr>
            </a:p>
          </p:txBody>
        </p:sp>
      </p:grpSp>
      <p:grpSp>
        <p:nvGrpSpPr>
          <p:cNvPr id="285800" name="Group 104"/>
          <p:cNvGrpSpPr>
            <a:grpSpLocks/>
          </p:cNvGrpSpPr>
          <p:nvPr/>
        </p:nvGrpSpPr>
        <p:grpSpPr bwMode="auto">
          <a:xfrm>
            <a:off x="1828800" y="3810000"/>
            <a:ext cx="2057400" cy="609600"/>
            <a:chOff x="1152" y="2400"/>
            <a:chExt cx="1296" cy="384"/>
          </a:xfrm>
        </p:grpSpPr>
        <p:sp>
          <p:nvSpPr>
            <p:cNvPr id="285801" name="Line 105"/>
            <p:cNvSpPr>
              <a:spLocks noChangeShapeType="1"/>
            </p:cNvSpPr>
            <p:nvPr/>
          </p:nvSpPr>
          <p:spPr bwMode="auto">
            <a:xfrm flipH="1">
              <a:off x="1152" y="2400"/>
              <a:ext cx="1296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02" name="Line 106"/>
            <p:cNvSpPr>
              <a:spLocks noChangeShapeType="1"/>
            </p:cNvSpPr>
            <p:nvPr/>
          </p:nvSpPr>
          <p:spPr bwMode="auto">
            <a:xfrm>
              <a:off x="1152" y="2400"/>
              <a:ext cx="0" cy="384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5803" name="Group 107"/>
          <p:cNvGrpSpPr>
            <a:grpSpLocks/>
          </p:cNvGrpSpPr>
          <p:nvPr/>
        </p:nvGrpSpPr>
        <p:grpSpPr bwMode="auto">
          <a:xfrm>
            <a:off x="3733800" y="3810000"/>
            <a:ext cx="533400" cy="609600"/>
            <a:chOff x="2352" y="2400"/>
            <a:chExt cx="336" cy="384"/>
          </a:xfrm>
        </p:grpSpPr>
        <p:sp>
          <p:nvSpPr>
            <p:cNvPr id="285804" name="Line 108"/>
            <p:cNvSpPr>
              <a:spLocks noChangeShapeType="1"/>
            </p:cNvSpPr>
            <p:nvPr/>
          </p:nvSpPr>
          <p:spPr bwMode="auto">
            <a:xfrm>
              <a:off x="2688" y="2400"/>
              <a:ext cx="0" cy="144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05" name="Line 109"/>
            <p:cNvSpPr>
              <a:spLocks noChangeShapeType="1"/>
            </p:cNvSpPr>
            <p:nvPr/>
          </p:nvSpPr>
          <p:spPr bwMode="auto">
            <a:xfrm flipH="1">
              <a:off x="2352" y="2544"/>
              <a:ext cx="336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06" name="Line 110"/>
            <p:cNvSpPr>
              <a:spLocks noChangeShapeType="1"/>
            </p:cNvSpPr>
            <p:nvPr/>
          </p:nvSpPr>
          <p:spPr bwMode="auto">
            <a:xfrm>
              <a:off x="2352" y="2544"/>
              <a:ext cx="0" cy="24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5807" name="Group 111"/>
          <p:cNvGrpSpPr>
            <a:grpSpLocks/>
          </p:cNvGrpSpPr>
          <p:nvPr/>
        </p:nvGrpSpPr>
        <p:grpSpPr bwMode="auto">
          <a:xfrm>
            <a:off x="4648200" y="3810000"/>
            <a:ext cx="990600" cy="685800"/>
            <a:chOff x="2928" y="2400"/>
            <a:chExt cx="624" cy="432"/>
          </a:xfrm>
        </p:grpSpPr>
        <p:sp>
          <p:nvSpPr>
            <p:cNvPr id="285808" name="Line 112"/>
            <p:cNvSpPr>
              <a:spLocks noChangeShapeType="1"/>
            </p:cNvSpPr>
            <p:nvPr/>
          </p:nvSpPr>
          <p:spPr bwMode="auto">
            <a:xfrm>
              <a:off x="2928" y="2400"/>
              <a:ext cx="0" cy="144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09" name="Line 113"/>
            <p:cNvSpPr>
              <a:spLocks noChangeShapeType="1"/>
            </p:cNvSpPr>
            <p:nvPr/>
          </p:nvSpPr>
          <p:spPr bwMode="auto">
            <a:xfrm>
              <a:off x="2928" y="2544"/>
              <a:ext cx="624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10" name="Line 114"/>
            <p:cNvSpPr>
              <a:spLocks noChangeShapeType="1"/>
            </p:cNvSpPr>
            <p:nvPr/>
          </p:nvSpPr>
          <p:spPr bwMode="auto">
            <a:xfrm>
              <a:off x="3552" y="2544"/>
              <a:ext cx="0" cy="288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5811" name="Group 115"/>
          <p:cNvGrpSpPr>
            <a:grpSpLocks/>
          </p:cNvGrpSpPr>
          <p:nvPr/>
        </p:nvGrpSpPr>
        <p:grpSpPr bwMode="auto">
          <a:xfrm>
            <a:off x="5029200" y="3810000"/>
            <a:ext cx="2438400" cy="609600"/>
            <a:chOff x="3168" y="2400"/>
            <a:chExt cx="1536" cy="384"/>
          </a:xfrm>
        </p:grpSpPr>
        <p:sp>
          <p:nvSpPr>
            <p:cNvPr id="285812" name="Line 116"/>
            <p:cNvSpPr>
              <a:spLocks noChangeShapeType="1"/>
            </p:cNvSpPr>
            <p:nvPr/>
          </p:nvSpPr>
          <p:spPr bwMode="auto">
            <a:xfrm>
              <a:off x="3168" y="2400"/>
              <a:ext cx="1536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13" name="Line 117"/>
            <p:cNvSpPr>
              <a:spLocks noChangeShapeType="1"/>
            </p:cNvSpPr>
            <p:nvPr/>
          </p:nvSpPr>
          <p:spPr bwMode="auto">
            <a:xfrm>
              <a:off x="4704" y="2400"/>
              <a:ext cx="0" cy="384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5814" name="Group 118"/>
          <p:cNvGrpSpPr>
            <a:grpSpLocks/>
          </p:cNvGrpSpPr>
          <p:nvPr/>
        </p:nvGrpSpPr>
        <p:grpSpPr bwMode="auto">
          <a:xfrm>
            <a:off x="990600" y="1828800"/>
            <a:ext cx="5715000" cy="2667000"/>
            <a:chOff x="624" y="960"/>
            <a:chExt cx="3600" cy="1680"/>
          </a:xfrm>
        </p:grpSpPr>
        <p:sp>
          <p:nvSpPr>
            <p:cNvPr id="285815" name="Line 119"/>
            <p:cNvSpPr>
              <a:spLocks noChangeShapeType="1"/>
            </p:cNvSpPr>
            <p:nvPr/>
          </p:nvSpPr>
          <p:spPr bwMode="auto">
            <a:xfrm flipH="1">
              <a:off x="672" y="960"/>
              <a:ext cx="4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16" name="Line 120"/>
            <p:cNvSpPr>
              <a:spLocks noChangeShapeType="1"/>
            </p:cNvSpPr>
            <p:nvPr/>
          </p:nvSpPr>
          <p:spPr bwMode="auto">
            <a:xfrm>
              <a:off x="672" y="2592"/>
              <a:ext cx="35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17" name="Oval 121"/>
            <p:cNvSpPr>
              <a:spLocks noChangeArrowheads="1"/>
            </p:cNvSpPr>
            <p:nvPr/>
          </p:nvSpPr>
          <p:spPr bwMode="auto">
            <a:xfrm>
              <a:off x="624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18" name="Oval 122"/>
            <p:cNvSpPr>
              <a:spLocks noChangeArrowheads="1"/>
            </p:cNvSpPr>
            <p:nvPr/>
          </p:nvSpPr>
          <p:spPr bwMode="auto">
            <a:xfrm>
              <a:off x="1824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19" name="Oval 123"/>
            <p:cNvSpPr>
              <a:spLocks noChangeArrowheads="1"/>
            </p:cNvSpPr>
            <p:nvPr/>
          </p:nvSpPr>
          <p:spPr bwMode="auto">
            <a:xfrm>
              <a:off x="3024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5820" name="Group 124"/>
          <p:cNvGrpSpPr>
            <a:grpSpLocks/>
          </p:cNvGrpSpPr>
          <p:nvPr/>
        </p:nvGrpSpPr>
        <p:grpSpPr bwMode="auto">
          <a:xfrm>
            <a:off x="1371600" y="1828800"/>
            <a:ext cx="5715000" cy="2590800"/>
            <a:chOff x="864" y="1152"/>
            <a:chExt cx="3600" cy="1632"/>
          </a:xfrm>
        </p:grpSpPr>
        <p:sp>
          <p:nvSpPr>
            <p:cNvPr id="285821" name="Line 125"/>
            <p:cNvSpPr>
              <a:spLocks noChangeShapeType="1"/>
            </p:cNvSpPr>
            <p:nvPr/>
          </p:nvSpPr>
          <p:spPr bwMode="auto">
            <a:xfrm>
              <a:off x="2112" y="26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22" name="Line 126"/>
            <p:cNvSpPr>
              <a:spLocks noChangeShapeType="1"/>
            </p:cNvSpPr>
            <p:nvPr/>
          </p:nvSpPr>
          <p:spPr bwMode="auto">
            <a:xfrm>
              <a:off x="3312" y="26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85823" name="Group 127"/>
            <p:cNvGrpSpPr>
              <a:grpSpLocks/>
            </p:cNvGrpSpPr>
            <p:nvPr/>
          </p:nvGrpSpPr>
          <p:grpSpPr bwMode="auto">
            <a:xfrm>
              <a:off x="864" y="1152"/>
              <a:ext cx="3600" cy="1632"/>
              <a:chOff x="864" y="960"/>
              <a:chExt cx="3600" cy="1632"/>
            </a:xfrm>
          </p:grpSpPr>
          <p:sp>
            <p:nvSpPr>
              <p:cNvPr id="285824" name="Line 128"/>
              <p:cNvSpPr>
                <a:spLocks noChangeShapeType="1"/>
              </p:cNvSpPr>
              <p:nvPr/>
            </p:nvSpPr>
            <p:spPr bwMode="auto">
              <a:xfrm>
                <a:off x="912" y="960"/>
                <a:ext cx="0" cy="16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825" name="Line 129"/>
              <p:cNvSpPr>
                <a:spLocks noChangeShapeType="1"/>
              </p:cNvSpPr>
              <p:nvPr/>
            </p:nvSpPr>
            <p:spPr bwMode="auto">
              <a:xfrm>
                <a:off x="912" y="2448"/>
                <a:ext cx="35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826" name="Line 130"/>
              <p:cNvSpPr>
                <a:spLocks noChangeShapeType="1"/>
              </p:cNvSpPr>
              <p:nvPr/>
            </p:nvSpPr>
            <p:spPr bwMode="auto">
              <a:xfrm flipV="1">
                <a:off x="4464" y="24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827" name="Oval 131"/>
              <p:cNvSpPr>
                <a:spLocks noChangeArrowheads="1"/>
              </p:cNvSpPr>
              <p:nvPr/>
            </p:nvSpPr>
            <p:spPr bwMode="auto">
              <a:xfrm>
                <a:off x="864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828" name="Oval 132"/>
              <p:cNvSpPr>
                <a:spLocks noChangeArrowheads="1"/>
              </p:cNvSpPr>
              <p:nvPr/>
            </p:nvSpPr>
            <p:spPr bwMode="auto">
              <a:xfrm>
                <a:off x="2064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829" name="Oval 133"/>
              <p:cNvSpPr>
                <a:spLocks noChangeArrowheads="1"/>
              </p:cNvSpPr>
              <p:nvPr/>
            </p:nvSpPr>
            <p:spPr bwMode="auto">
              <a:xfrm>
                <a:off x="3264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85830" name="Group 134"/>
          <p:cNvGrpSpPr>
            <a:grpSpLocks/>
          </p:cNvGrpSpPr>
          <p:nvPr/>
        </p:nvGrpSpPr>
        <p:grpSpPr bwMode="auto">
          <a:xfrm>
            <a:off x="1828800" y="1828800"/>
            <a:ext cx="2286000" cy="533400"/>
            <a:chOff x="1152" y="1152"/>
            <a:chExt cx="1440" cy="336"/>
          </a:xfrm>
        </p:grpSpPr>
        <p:sp>
          <p:nvSpPr>
            <p:cNvPr id="285831" name="Line 135"/>
            <p:cNvSpPr>
              <a:spLocks noChangeShapeType="1"/>
            </p:cNvSpPr>
            <p:nvPr/>
          </p:nvSpPr>
          <p:spPr bwMode="auto">
            <a:xfrm flipH="1">
              <a:off x="1152" y="1488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32" name="Line 136"/>
            <p:cNvSpPr>
              <a:spLocks noChangeShapeType="1"/>
            </p:cNvSpPr>
            <p:nvPr/>
          </p:nvSpPr>
          <p:spPr bwMode="auto">
            <a:xfrm flipV="1">
              <a:off x="1152" y="115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5833" name="Group 137"/>
          <p:cNvGrpSpPr>
            <a:grpSpLocks/>
          </p:cNvGrpSpPr>
          <p:nvPr/>
        </p:nvGrpSpPr>
        <p:grpSpPr bwMode="auto">
          <a:xfrm>
            <a:off x="2133600" y="1828800"/>
            <a:ext cx="2362200" cy="533400"/>
            <a:chOff x="1344" y="1152"/>
            <a:chExt cx="1488" cy="336"/>
          </a:xfrm>
        </p:grpSpPr>
        <p:sp>
          <p:nvSpPr>
            <p:cNvPr id="285834" name="Line 138"/>
            <p:cNvSpPr>
              <a:spLocks noChangeShapeType="1"/>
            </p:cNvSpPr>
            <p:nvPr/>
          </p:nvSpPr>
          <p:spPr bwMode="auto">
            <a:xfrm flipV="1">
              <a:off x="2832" y="134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85835" name="Group 139"/>
            <p:cNvGrpSpPr>
              <a:grpSpLocks/>
            </p:cNvGrpSpPr>
            <p:nvPr/>
          </p:nvGrpSpPr>
          <p:grpSpPr bwMode="auto">
            <a:xfrm>
              <a:off x="1344" y="1152"/>
              <a:ext cx="1488" cy="192"/>
              <a:chOff x="1344" y="1152"/>
              <a:chExt cx="1488" cy="192"/>
            </a:xfrm>
          </p:grpSpPr>
          <p:sp>
            <p:nvSpPr>
              <p:cNvPr id="285836" name="Line 140"/>
              <p:cNvSpPr>
                <a:spLocks noChangeShapeType="1"/>
              </p:cNvSpPr>
              <p:nvPr/>
            </p:nvSpPr>
            <p:spPr bwMode="auto">
              <a:xfrm flipH="1">
                <a:off x="1344" y="1344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837" name="Line 141"/>
              <p:cNvSpPr>
                <a:spLocks noChangeShapeType="1"/>
              </p:cNvSpPr>
              <p:nvPr/>
            </p:nvSpPr>
            <p:spPr bwMode="auto">
              <a:xfrm flipV="1">
                <a:off x="1344" y="115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85840" name="Group 144"/>
          <p:cNvGrpSpPr>
            <a:grpSpLocks/>
          </p:cNvGrpSpPr>
          <p:nvPr/>
        </p:nvGrpSpPr>
        <p:grpSpPr bwMode="auto">
          <a:xfrm>
            <a:off x="890588" y="1447800"/>
            <a:ext cx="1471612" cy="457200"/>
            <a:chOff x="561" y="912"/>
            <a:chExt cx="927" cy="288"/>
          </a:xfrm>
        </p:grpSpPr>
        <p:sp>
          <p:nvSpPr>
            <p:cNvPr id="285841" name="Rectangle 145"/>
            <p:cNvSpPr>
              <a:spLocks noChangeArrowheads="1"/>
            </p:cNvSpPr>
            <p:nvPr/>
          </p:nvSpPr>
          <p:spPr bwMode="auto">
            <a:xfrm>
              <a:off x="561" y="912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A</a:t>
              </a:r>
            </a:p>
          </p:txBody>
        </p:sp>
        <p:sp>
          <p:nvSpPr>
            <p:cNvPr id="285842" name="Rectangle 146"/>
            <p:cNvSpPr>
              <a:spLocks noChangeArrowheads="1"/>
            </p:cNvSpPr>
            <p:nvPr/>
          </p:nvSpPr>
          <p:spPr bwMode="auto">
            <a:xfrm>
              <a:off x="806" y="912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B</a:t>
              </a:r>
            </a:p>
          </p:txBody>
        </p:sp>
        <p:sp>
          <p:nvSpPr>
            <p:cNvPr id="285843" name="Text Box 147"/>
            <p:cNvSpPr txBox="1">
              <a:spLocks noChangeArrowheads="1"/>
            </p:cNvSpPr>
            <p:nvPr/>
          </p:nvSpPr>
          <p:spPr bwMode="auto">
            <a:xfrm>
              <a:off x="1008" y="91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C</a:t>
              </a:r>
            </a:p>
          </p:txBody>
        </p:sp>
        <p:sp>
          <p:nvSpPr>
            <p:cNvPr id="285844" name="Text Box 148"/>
            <p:cNvSpPr txBox="1">
              <a:spLocks noChangeArrowheads="1"/>
            </p:cNvSpPr>
            <p:nvPr/>
          </p:nvSpPr>
          <p:spPr bwMode="auto">
            <a:xfrm>
              <a:off x="1248" y="91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D</a:t>
              </a:r>
            </a:p>
          </p:txBody>
        </p:sp>
      </p:grpSp>
      <p:sp>
        <p:nvSpPr>
          <p:cNvPr id="285845" name="Text Box 149"/>
          <p:cNvSpPr txBox="1">
            <a:spLocks noChangeArrowheads="1"/>
          </p:cNvSpPr>
          <p:nvPr/>
        </p:nvSpPr>
        <p:spPr bwMode="auto">
          <a:xfrm>
            <a:off x="4572000" y="1905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+mn-ea"/>
                <a:ea typeface="+mn-ea"/>
              </a:rPr>
              <a:t>“0”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097462" y="2247900"/>
            <a:ext cx="3815942" cy="571500"/>
            <a:chOff x="5097462" y="2247900"/>
            <a:chExt cx="3815942" cy="571500"/>
          </a:xfrm>
        </p:grpSpPr>
        <p:grpSp>
          <p:nvGrpSpPr>
            <p:cNvPr id="3" name="组合 2"/>
            <p:cNvGrpSpPr/>
            <p:nvPr/>
          </p:nvGrpSpPr>
          <p:grpSpPr>
            <a:xfrm>
              <a:off x="6008896" y="2247900"/>
              <a:ext cx="2904508" cy="461665"/>
              <a:chOff x="5868533" y="2362200"/>
              <a:chExt cx="2904508" cy="461665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6126163" y="2362200"/>
                <a:ext cx="26468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ea typeface="Noto Serif SC" panose="02020200000000000000" pitchFamily="18" charset="-122"/>
                  </a:rPr>
                  <a:t>可以有什麼作用？</a:t>
                </a:r>
              </a:p>
            </p:txBody>
          </p:sp>
          <p:graphicFrame>
            <p:nvGraphicFramePr>
              <p:cNvPr id="150" name="Object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99721230"/>
                  </p:ext>
                </p:extLst>
              </p:nvPr>
            </p:nvGraphicFramePr>
            <p:xfrm>
              <a:off x="5868533" y="2362200"/>
              <a:ext cx="285750" cy="4048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152280" imgH="215640" progId="Equation.3">
                      <p:embed/>
                    </p:oleObj>
                  </mc:Choice>
                  <mc:Fallback>
                    <p:oleObj name="公式" r:id="rId4" imgW="152280" imgH="215640" progId="Equation.3">
                      <p:embed/>
                      <p:pic>
                        <p:nvPicPr>
                          <p:cNvPr id="15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68533" y="2362200"/>
                            <a:ext cx="285750" cy="4048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5" name="直接箭头连接符 4"/>
            <p:cNvCxnSpPr/>
            <p:nvPr/>
          </p:nvCxnSpPr>
          <p:spPr>
            <a:xfrm flipH="1">
              <a:off x="5097462" y="2709565"/>
              <a:ext cx="746126" cy="10983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632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85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5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85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285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285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8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285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28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8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5" dur="500"/>
                                        <p:tgtEl>
                                          <p:spTgt spid="285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0" dur="500"/>
                                        <p:tgtEl>
                                          <p:spTgt spid="285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285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0" dur="500"/>
                                        <p:tgtEl>
                                          <p:spTgt spid="28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84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19</a:t>
            </a:r>
            <a:r>
              <a:rPr lang="zh-CN" altLang="en-US" sz="3600" dirty="0"/>
              <a:t>）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3C4B-5816-4CA6-9840-06E27CCE2DAD}" type="slidenum">
              <a:rPr lang="en-US" altLang="zh-CN">
                <a:latin typeface="+mn-ea"/>
                <a:ea typeface="+mn-ea"/>
              </a:rPr>
              <a:pPr/>
              <a:t>23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867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b="1" dirty="0">
                <a:latin typeface="+mn-ea"/>
              </a:rPr>
              <a:t>    </a:t>
            </a:r>
            <a:r>
              <a:rPr lang="zh-CN" altLang="en-US" b="1" dirty="0">
                <a:latin typeface="+mn-ea"/>
              </a:rPr>
              <a:t>用作選通（作用二）</a:t>
            </a:r>
            <a:endParaRPr lang="zh-CN" altLang="en-US" sz="2400" b="1" dirty="0">
              <a:effectLst/>
              <a:latin typeface="+mn-ea"/>
            </a:endParaRPr>
          </a:p>
          <a:p>
            <a:pPr lvl="1"/>
            <a:r>
              <a:rPr lang="zh-CN" altLang="en-US" b="1" dirty="0">
                <a:effectLst/>
                <a:latin typeface="+mn-ea"/>
              </a:rPr>
              <a:t>為什麼需要選通？</a:t>
            </a:r>
          </a:p>
          <a:p>
            <a:pPr lvl="1">
              <a:buFont typeface="Wingdings" pitchFamily="2" charset="2"/>
              <a:buNone/>
            </a:pPr>
            <a:r>
              <a:rPr lang="zh-CN" altLang="en-US" b="1" dirty="0">
                <a:effectLst/>
                <a:latin typeface="+mn-ea"/>
              </a:rPr>
              <a:t>     針對門電路的傳輸延遲造成的競爭、冒險問題提出的。</a:t>
            </a:r>
          </a:p>
        </p:txBody>
      </p:sp>
      <p:graphicFrame>
        <p:nvGraphicFramePr>
          <p:cNvPr id="2867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741748"/>
              </p:ext>
            </p:extLst>
          </p:nvPr>
        </p:nvGraphicFramePr>
        <p:xfrm>
          <a:off x="1691680" y="1484784"/>
          <a:ext cx="4000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2280" imgH="215640" progId="Equation.3">
                  <p:embed/>
                </p:oleObj>
              </mc:Choice>
              <mc:Fallback>
                <p:oleObj name="公式" r:id="rId2" imgW="152280" imgH="215640" progId="Equation.3">
                  <p:embed/>
                  <p:pic>
                    <p:nvPicPr>
                      <p:cNvPr id="2867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1484784"/>
                        <a:ext cx="400050" cy="566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516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20</a:t>
            </a:r>
            <a:r>
              <a:rPr lang="zh-CN" altLang="en-US" sz="3600" dirty="0"/>
              <a:t>）</a:t>
            </a:r>
          </a:p>
        </p:txBody>
      </p:sp>
      <p:sp>
        <p:nvSpPr>
          <p:cNvPr id="5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F2E14-F65E-4196-A9B3-FBAF3F3C63A4}" type="slidenum">
              <a:rPr lang="en-US" altLang="zh-CN">
                <a:latin typeface="+mn-ea"/>
                <a:ea typeface="+mn-ea"/>
              </a:rPr>
              <a:pPr/>
              <a:t>24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87746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3200" b="1" dirty="0">
                <a:effectLst/>
                <a:latin typeface="+mn-ea"/>
              </a:rPr>
              <a:t>門電路的傳輸延遲造成會競爭、冒險</a:t>
            </a:r>
          </a:p>
          <a:p>
            <a:pPr lvl="1">
              <a:spcBef>
                <a:spcPct val="50000"/>
              </a:spcBef>
              <a:buNone/>
            </a:pPr>
            <a:r>
              <a:rPr lang="zh-CN" altLang="en-US" b="1" dirty="0">
                <a:effectLst/>
                <a:latin typeface="+mn-ea"/>
              </a:rPr>
              <a:t>   二輸</a:t>
            </a:r>
            <a:r>
              <a:rPr lang="zh-CN" altLang="en-US" b="1" dirty="0">
                <a:latin typeface="+mn-ea"/>
              </a:rPr>
              <a:t>入反及閘</a:t>
            </a:r>
            <a:r>
              <a:rPr lang="zh-CN" altLang="en-US" b="1" dirty="0">
                <a:effectLst/>
                <a:latin typeface="+mn-ea"/>
              </a:rPr>
              <a:t>的輸入為 </a:t>
            </a:r>
            <a:r>
              <a:rPr lang="en-US" altLang="zh-CN" b="1" dirty="0">
                <a:effectLst/>
                <a:latin typeface="+mn-ea"/>
              </a:rPr>
              <a:t>A </a:t>
            </a:r>
            <a:r>
              <a:rPr lang="zh-CN" altLang="en-US" b="1" dirty="0">
                <a:effectLst/>
                <a:latin typeface="+mn-ea"/>
              </a:rPr>
              <a:t>和  時</a:t>
            </a:r>
            <a:r>
              <a:rPr lang="en-US" altLang="zh-CN" b="1" dirty="0">
                <a:effectLst/>
                <a:latin typeface="+mn-ea"/>
              </a:rPr>
              <a:t>,      </a:t>
            </a:r>
            <a:r>
              <a:rPr lang="zh-CN" altLang="en-US" b="1" dirty="0">
                <a:effectLst/>
                <a:latin typeface="+mn-ea"/>
              </a:rPr>
              <a:t>滯後於</a:t>
            </a:r>
            <a:r>
              <a:rPr lang="en-US" altLang="zh-CN" b="1" dirty="0">
                <a:effectLst/>
                <a:latin typeface="+mn-ea"/>
              </a:rPr>
              <a:t>A </a:t>
            </a:r>
            <a:r>
              <a:rPr lang="zh-CN" altLang="en-US" b="1" dirty="0">
                <a:effectLst/>
                <a:latin typeface="+mn-ea"/>
              </a:rPr>
              <a:t>，則</a:t>
            </a:r>
            <a:r>
              <a:rPr lang="en-US" altLang="zh-CN" b="1" dirty="0">
                <a:effectLst/>
                <a:latin typeface="+mn-ea"/>
              </a:rPr>
              <a:t>Y</a:t>
            </a:r>
            <a:r>
              <a:rPr lang="zh-CN" altLang="en-US" b="1" dirty="0">
                <a:effectLst/>
                <a:latin typeface="+mn-ea"/>
              </a:rPr>
              <a:t>會出現尖峰信號（反及閘上升沿有尖峰）</a:t>
            </a:r>
          </a:p>
        </p:txBody>
      </p:sp>
      <p:graphicFrame>
        <p:nvGraphicFramePr>
          <p:cNvPr id="2877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715594"/>
              </p:ext>
            </p:extLst>
          </p:nvPr>
        </p:nvGraphicFramePr>
        <p:xfrm>
          <a:off x="7984946" y="2117035"/>
          <a:ext cx="331470" cy="563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6720" imgH="215640" progId="Equation.3">
                  <p:embed/>
                </p:oleObj>
              </mc:Choice>
              <mc:Fallback>
                <p:oleObj name="公式" r:id="rId2" imgW="126720" imgH="215640" progId="Equation.3">
                  <p:embed/>
                  <p:pic>
                    <p:nvPicPr>
                      <p:cNvPr id="2877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4946" y="2117035"/>
                        <a:ext cx="331470" cy="5634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26258"/>
              </p:ext>
            </p:extLst>
          </p:nvPr>
        </p:nvGraphicFramePr>
        <p:xfrm>
          <a:off x="6913338" y="2117035"/>
          <a:ext cx="348167" cy="591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6720" imgH="215640" progId="Equation.3">
                  <p:embed/>
                </p:oleObj>
              </mc:Choice>
              <mc:Fallback>
                <p:oleObj name="公式" r:id="rId4" imgW="126720" imgH="215640" progId="Equation.3">
                  <p:embed/>
                  <p:pic>
                    <p:nvPicPr>
                      <p:cNvPr id="2877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3338" y="2117035"/>
                        <a:ext cx="348167" cy="5918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7750" name="Group 6"/>
          <p:cNvGrpSpPr>
            <a:grpSpLocks/>
          </p:cNvGrpSpPr>
          <p:nvPr/>
        </p:nvGrpSpPr>
        <p:grpSpPr bwMode="auto">
          <a:xfrm>
            <a:off x="785812" y="4040088"/>
            <a:ext cx="3098800" cy="1371600"/>
            <a:chOff x="480" y="2064"/>
            <a:chExt cx="1952" cy="864"/>
          </a:xfrm>
        </p:grpSpPr>
        <p:grpSp>
          <p:nvGrpSpPr>
            <p:cNvPr id="287751" name="Group 7"/>
            <p:cNvGrpSpPr>
              <a:grpSpLocks/>
            </p:cNvGrpSpPr>
            <p:nvPr/>
          </p:nvGrpSpPr>
          <p:grpSpPr bwMode="auto">
            <a:xfrm>
              <a:off x="864" y="2544"/>
              <a:ext cx="336" cy="384"/>
              <a:chOff x="1020" y="1706"/>
              <a:chExt cx="317" cy="363"/>
            </a:xfrm>
          </p:grpSpPr>
          <p:sp>
            <p:nvSpPr>
              <p:cNvPr id="287752" name="Rectangle 8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7753" name="Oval 9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7754" name="Line 10"/>
            <p:cNvSpPr>
              <a:spLocks noChangeShapeType="1"/>
            </p:cNvSpPr>
            <p:nvPr/>
          </p:nvSpPr>
          <p:spPr bwMode="auto">
            <a:xfrm>
              <a:off x="1200" y="273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7755" name="Line 11"/>
            <p:cNvSpPr>
              <a:spLocks noChangeShapeType="1"/>
            </p:cNvSpPr>
            <p:nvPr/>
          </p:nvSpPr>
          <p:spPr bwMode="auto">
            <a:xfrm flipH="1">
              <a:off x="720" y="273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87756" name="Group 12"/>
            <p:cNvGrpSpPr>
              <a:grpSpLocks/>
            </p:cNvGrpSpPr>
            <p:nvPr/>
          </p:nvGrpSpPr>
          <p:grpSpPr bwMode="auto">
            <a:xfrm>
              <a:off x="1728" y="2256"/>
              <a:ext cx="624" cy="384"/>
              <a:chOff x="720" y="2544"/>
              <a:chExt cx="624" cy="384"/>
            </a:xfrm>
          </p:grpSpPr>
          <p:grpSp>
            <p:nvGrpSpPr>
              <p:cNvPr id="287757" name="Group 13"/>
              <p:cNvGrpSpPr>
                <a:grpSpLocks/>
              </p:cNvGrpSpPr>
              <p:nvPr/>
            </p:nvGrpSpPr>
            <p:grpSpPr bwMode="auto">
              <a:xfrm>
                <a:off x="864" y="2544"/>
                <a:ext cx="336" cy="384"/>
                <a:chOff x="1020" y="1706"/>
                <a:chExt cx="317" cy="363"/>
              </a:xfrm>
            </p:grpSpPr>
            <p:sp>
              <p:nvSpPr>
                <p:cNvPr id="287758" name="Rectangle 14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87759" name="Oval 15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87760" name="Line 16"/>
              <p:cNvSpPr>
                <a:spLocks noChangeShapeType="1"/>
              </p:cNvSpPr>
              <p:nvPr/>
            </p:nvSpPr>
            <p:spPr bwMode="auto">
              <a:xfrm>
                <a:off x="1200" y="2736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7761" name="Line 17"/>
              <p:cNvSpPr>
                <a:spLocks noChangeShapeType="1"/>
              </p:cNvSpPr>
              <p:nvPr/>
            </p:nvSpPr>
            <p:spPr bwMode="auto">
              <a:xfrm flipH="1">
                <a:off x="720" y="264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7762" name="Line 18"/>
              <p:cNvSpPr>
                <a:spLocks noChangeShapeType="1"/>
              </p:cNvSpPr>
              <p:nvPr/>
            </p:nvSpPr>
            <p:spPr bwMode="auto">
              <a:xfrm flipH="1">
                <a:off x="720" y="283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7763" name="Line 19"/>
            <p:cNvSpPr>
              <a:spLocks noChangeShapeType="1"/>
            </p:cNvSpPr>
            <p:nvPr/>
          </p:nvSpPr>
          <p:spPr bwMode="auto">
            <a:xfrm flipV="1">
              <a:off x="720" y="235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7764" name="Line 20"/>
            <p:cNvSpPr>
              <a:spLocks noChangeShapeType="1"/>
            </p:cNvSpPr>
            <p:nvPr/>
          </p:nvSpPr>
          <p:spPr bwMode="auto">
            <a:xfrm flipH="1">
              <a:off x="528" y="2352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7765" name="Line 21"/>
            <p:cNvSpPr>
              <a:spLocks noChangeShapeType="1"/>
            </p:cNvSpPr>
            <p:nvPr/>
          </p:nvSpPr>
          <p:spPr bwMode="auto">
            <a:xfrm flipH="1">
              <a:off x="1344" y="254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7766" name="Line 22"/>
            <p:cNvSpPr>
              <a:spLocks noChangeShapeType="1"/>
            </p:cNvSpPr>
            <p:nvPr/>
          </p:nvSpPr>
          <p:spPr bwMode="auto">
            <a:xfrm>
              <a:off x="1344" y="254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7767" name="Rectangle 23"/>
            <p:cNvSpPr>
              <a:spLocks noChangeArrowheads="1"/>
            </p:cNvSpPr>
            <p:nvPr/>
          </p:nvSpPr>
          <p:spPr bwMode="auto">
            <a:xfrm>
              <a:off x="480" y="2064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A</a:t>
              </a:r>
            </a:p>
          </p:txBody>
        </p:sp>
        <p:sp>
          <p:nvSpPr>
            <p:cNvPr id="287768" name="Rectangle 24"/>
            <p:cNvSpPr>
              <a:spLocks noChangeArrowheads="1"/>
            </p:cNvSpPr>
            <p:nvPr/>
          </p:nvSpPr>
          <p:spPr bwMode="auto">
            <a:xfrm>
              <a:off x="2208" y="2064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</a:p>
          </p:txBody>
        </p:sp>
        <p:graphicFrame>
          <p:nvGraphicFramePr>
            <p:cNvPr id="287769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384731"/>
                </p:ext>
              </p:extLst>
            </p:nvPr>
          </p:nvGraphicFramePr>
          <p:xfrm>
            <a:off x="1434" y="2583"/>
            <a:ext cx="180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26720" imgH="215640" progId="Equation.3">
                    <p:embed/>
                  </p:oleObj>
                </mc:Choice>
                <mc:Fallback>
                  <p:oleObj name="公式" r:id="rId6" imgW="126720" imgH="215640" progId="Equation.3">
                    <p:embed/>
                    <p:pic>
                      <p:nvPicPr>
                        <p:cNvPr id="287769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4" y="2583"/>
                          <a:ext cx="180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7770" name="Group 26"/>
          <p:cNvGrpSpPr>
            <a:grpSpLocks/>
          </p:cNvGrpSpPr>
          <p:nvPr/>
        </p:nvGrpSpPr>
        <p:grpSpPr bwMode="auto">
          <a:xfrm>
            <a:off x="609601" y="5478363"/>
            <a:ext cx="3968751" cy="542925"/>
            <a:chOff x="2688" y="2010"/>
            <a:chExt cx="2500" cy="342"/>
          </a:xfrm>
        </p:grpSpPr>
        <p:sp>
          <p:nvSpPr>
            <p:cNvPr id="287771" name="Rectangle 27"/>
            <p:cNvSpPr>
              <a:spLocks noChangeArrowheads="1"/>
            </p:cNvSpPr>
            <p:nvPr/>
          </p:nvSpPr>
          <p:spPr bwMode="auto">
            <a:xfrm>
              <a:off x="2688" y="2064"/>
              <a:ext cx="19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理想情況：</a:t>
              </a:r>
            </a:p>
          </p:txBody>
        </p:sp>
        <p:graphicFrame>
          <p:nvGraphicFramePr>
            <p:cNvPr id="287772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1000240"/>
                </p:ext>
              </p:extLst>
            </p:nvPr>
          </p:nvGraphicFramePr>
          <p:xfrm>
            <a:off x="3676" y="2010"/>
            <a:ext cx="1512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066680" imgH="241200" progId="Equation.3">
                    <p:embed/>
                  </p:oleObj>
                </mc:Choice>
                <mc:Fallback>
                  <p:oleObj name="公式" r:id="rId8" imgW="1066680" imgH="241200" progId="Equation.3">
                    <p:embed/>
                    <p:pic>
                      <p:nvPicPr>
                        <p:cNvPr id="287772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6" y="2010"/>
                          <a:ext cx="1512" cy="3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7773" name="Rectangle 29"/>
          <p:cNvSpPr>
            <a:spLocks noChangeArrowheads="1"/>
          </p:cNvSpPr>
          <p:nvPr/>
        </p:nvSpPr>
        <p:spPr bwMode="auto">
          <a:xfrm>
            <a:off x="5103586" y="3623939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實際情況：</a:t>
            </a:r>
          </a:p>
        </p:txBody>
      </p:sp>
      <p:grpSp>
        <p:nvGrpSpPr>
          <p:cNvPr id="287774" name="Group 30"/>
          <p:cNvGrpSpPr>
            <a:grpSpLocks/>
          </p:cNvGrpSpPr>
          <p:nvPr/>
        </p:nvGrpSpPr>
        <p:grpSpPr bwMode="auto">
          <a:xfrm>
            <a:off x="5257800" y="4083773"/>
            <a:ext cx="2590800" cy="461963"/>
            <a:chOff x="3312" y="2302"/>
            <a:chExt cx="1632" cy="291"/>
          </a:xfrm>
        </p:grpSpPr>
        <p:sp>
          <p:nvSpPr>
            <p:cNvPr id="287775" name="Line 31"/>
            <p:cNvSpPr>
              <a:spLocks noChangeShapeType="1"/>
            </p:cNvSpPr>
            <p:nvPr/>
          </p:nvSpPr>
          <p:spPr bwMode="auto">
            <a:xfrm>
              <a:off x="3312" y="2592"/>
              <a:ext cx="20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7776" name="Line 32"/>
            <p:cNvSpPr>
              <a:spLocks noChangeShapeType="1"/>
            </p:cNvSpPr>
            <p:nvPr/>
          </p:nvSpPr>
          <p:spPr bwMode="auto">
            <a:xfrm flipV="1">
              <a:off x="3515" y="230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7777" name="Line 33"/>
            <p:cNvSpPr>
              <a:spLocks noChangeShapeType="1"/>
            </p:cNvSpPr>
            <p:nvPr/>
          </p:nvSpPr>
          <p:spPr bwMode="auto">
            <a:xfrm>
              <a:off x="3515" y="2302"/>
              <a:ext cx="1429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7778" name="Group 34"/>
          <p:cNvGrpSpPr>
            <a:grpSpLocks/>
          </p:cNvGrpSpPr>
          <p:nvPr/>
        </p:nvGrpSpPr>
        <p:grpSpPr bwMode="auto">
          <a:xfrm>
            <a:off x="5181600" y="4772744"/>
            <a:ext cx="2667000" cy="457200"/>
            <a:chOff x="3264" y="2736"/>
            <a:chExt cx="1680" cy="288"/>
          </a:xfrm>
        </p:grpSpPr>
        <p:sp>
          <p:nvSpPr>
            <p:cNvPr id="287779" name="Line 35"/>
            <p:cNvSpPr>
              <a:spLocks noChangeShapeType="1"/>
            </p:cNvSpPr>
            <p:nvPr/>
          </p:nvSpPr>
          <p:spPr bwMode="auto">
            <a:xfrm>
              <a:off x="3264" y="2736"/>
              <a:ext cx="5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7780" name="Line 36"/>
            <p:cNvSpPr>
              <a:spLocks noChangeShapeType="1"/>
            </p:cNvSpPr>
            <p:nvPr/>
          </p:nvSpPr>
          <p:spPr bwMode="auto">
            <a:xfrm flipV="1">
              <a:off x="3787" y="27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7781" name="Line 37"/>
            <p:cNvSpPr>
              <a:spLocks noChangeShapeType="1"/>
            </p:cNvSpPr>
            <p:nvPr/>
          </p:nvSpPr>
          <p:spPr bwMode="auto">
            <a:xfrm>
              <a:off x="3787" y="3024"/>
              <a:ext cx="11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7782" name="Group 38"/>
          <p:cNvGrpSpPr>
            <a:grpSpLocks/>
          </p:cNvGrpSpPr>
          <p:nvPr/>
        </p:nvGrpSpPr>
        <p:grpSpPr bwMode="auto">
          <a:xfrm>
            <a:off x="4800600" y="4086945"/>
            <a:ext cx="379413" cy="2062163"/>
            <a:chOff x="3024" y="2304"/>
            <a:chExt cx="239" cy="1299"/>
          </a:xfrm>
        </p:grpSpPr>
        <p:sp>
          <p:nvSpPr>
            <p:cNvPr id="287783" name="Rectangle 39"/>
            <p:cNvSpPr>
              <a:spLocks noChangeArrowheads="1"/>
            </p:cNvSpPr>
            <p:nvPr/>
          </p:nvSpPr>
          <p:spPr bwMode="auto">
            <a:xfrm>
              <a:off x="3024" y="2304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A</a:t>
              </a:r>
            </a:p>
          </p:txBody>
        </p:sp>
        <p:graphicFrame>
          <p:nvGraphicFramePr>
            <p:cNvPr id="287784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9925060"/>
                </p:ext>
              </p:extLst>
            </p:nvPr>
          </p:nvGraphicFramePr>
          <p:xfrm>
            <a:off x="3039" y="2651"/>
            <a:ext cx="180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26720" imgH="215640" progId="Equation.3">
                    <p:embed/>
                  </p:oleObj>
                </mc:Choice>
                <mc:Fallback>
                  <p:oleObj name="公式" r:id="rId10" imgW="126720" imgH="215640" progId="Equation.3">
                    <p:embed/>
                    <p:pic>
                      <p:nvPicPr>
                        <p:cNvPr id="287784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9" y="2651"/>
                          <a:ext cx="180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785" name="Rectangle 41"/>
            <p:cNvSpPr>
              <a:spLocks noChangeArrowheads="1"/>
            </p:cNvSpPr>
            <p:nvPr/>
          </p:nvSpPr>
          <p:spPr bwMode="auto">
            <a:xfrm>
              <a:off x="3039" y="3312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</a:p>
          </p:txBody>
        </p:sp>
      </p:grpSp>
      <p:sp>
        <p:nvSpPr>
          <p:cNvPr id="287786" name="Line 42"/>
          <p:cNvSpPr>
            <a:spLocks noChangeShapeType="1"/>
          </p:cNvSpPr>
          <p:nvPr/>
        </p:nvSpPr>
        <p:spPr bwMode="auto">
          <a:xfrm>
            <a:off x="5580112" y="3934544"/>
            <a:ext cx="0" cy="2590800"/>
          </a:xfrm>
          <a:prstGeom prst="line">
            <a:avLst/>
          </a:prstGeom>
          <a:ln>
            <a:prstDash val="lgDash"/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7787" name="Line 43"/>
          <p:cNvSpPr>
            <a:spLocks noChangeShapeType="1"/>
          </p:cNvSpPr>
          <p:nvPr/>
        </p:nvSpPr>
        <p:spPr bwMode="auto">
          <a:xfrm>
            <a:off x="6012160" y="3934544"/>
            <a:ext cx="0" cy="2590800"/>
          </a:xfrm>
          <a:prstGeom prst="line">
            <a:avLst/>
          </a:prstGeom>
          <a:ln>
            <a:prstDash val="lgDash"/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7788" name="Line 44"/>
          <p:cNvSpPr>
            <a:spLocks noChangeShapeType="1"/>
          </p:cNvSpPr>
          <p:nvPr/>
        </p:nvSpPr>
        <p:spPr bwMode="auto">
          <a:xfrm>
            <a:off x="5257800" y="5610944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7789" name="Line 45"/>
          <p:cNvSpPr>
            <a:spLocks noChangeShapeType="1"/>
          </p:cNvSpPr>
          <p:nvPr/>
        </p:nvSpPr>
        <p:spPr bwMode="auto">
          <a:xfrm>
            <a:off x="6172200" y="5610944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7790" name="Line 46"/>
          <p:cNvSpPr>
            <a:spLocks noChangeShapeType="1"/>
          </p:cNvSpPr>
          <p:nvPr/>
        </p:nvSpPr>
        <p:spPr bwMode="auto">
          <a:xfrm>
            <a:off x="6172200" y="6068144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7791" name="Line 47"/>
          <p:cNvSpPr>
            <a:spLocks noChangeShapeType="1"/>
          </p:cNvSpPr>
          <p:nvPr/>
        </p:nvSpPr>
        <p:spPr bwMode="auto">
          <a:xfrm flipV="1">
            <a:off x="6553200" y="5610944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7792" name="Line 48"/>
          <p:cNvSpPr>
            <a:spLocks noChangeShapeType="1"/>
          </p:cNvSpPr>
          <p:nvPr/>
        </p:nvSpPr>
        <p:spPr bwMode="auto">
          <a:xfrm>
            <a:off x="6553200" y="5610944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7793" name="Line 49"/>
          <p:cNvSpPr>
            <a:spLocks noChangeShapeType="1"/>
          </p:cNvSpPr>
          <p:nvPr/>
        </p:nvSpPr>
        <p:spPr bwMode="auto">
          <a:xfrm>
            <a:off x="6553200" y="3934544"/>
            <a:ext cx="0" cy="2590800"/>
          </a:xfrm>
          <a:prstGeom prst="line">
            <a:avLst/>
          </a:prstGeom>
          <a:ln>
            <a:prstDash val="lgDash"/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7794" name="Rectangle 50" descr="深色下对角线"/>
          <p:cNvSpPr>
            <a:spLocks noChangeArrowheads="1"/>
          </p:cNvSpPr>
          <p:nvPr/>
        </p:nvSpPr>
        <p:spPr bwMode="auto">
          <a:xfrm>
            <a:off x="6156176" y="5610944"/>
            <a:ext cx="381000" cy="457200"/>
          </a:xfrm>
          <a:prstGeom prst="rect">
            <a:avLst/>
          </a:prstGeom>
          <a:pattFill prst="dkDnDiag">
            <a:fgClr>
              <a:srgbClr val="FF66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7795" name="Rectangle 51"/>
          <p:cNvSpPr>
            <a:spLocks noChangeArrowheads="1"/>
          </p:cNvSpPr>
          <p:nvPr/>
        </p:nvSpPr>
        <p:spPr bwMode="auto">
          <a:xfrm>
            <a:off x="7239000" y="5763344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負向尖峰</a:t>
            </a:r>
          </a:p>
        </p:txBody>
      </p:sp>
    </p:spTree>
    <p:extLst>
      <p:ext uri="{BB962C8B-B14F-4D97-AF65-F5344CB8AC3E}">
        <p14:creationId xmlns:p14="http://schemas.microsoft.com/office/powerpoint/2010/main" val="187668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7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7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7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7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287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287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7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87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7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87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7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87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877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77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28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287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8" dur="500"/>
                                        <p:tgtEl>
                                          <p:spTgt spid="287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287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8" dur="500"/>
                                        <p:tgtEl>
                                          <p:spTgt spid="287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87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87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87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87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73" grpId="0" autoUpdateAnimBg="0"/>
      <p:bldP spid="287786" grpId="0" animBg="1"/>
      <p:bldP spid="287787" grpId="0" animBg="1"/>
      <p:bldP spid="287788" grpId="0" animBg="1"/>
      <p:bldP spid="287789" grpId="0" animBg="1"/>
      <p:bldP spid="287790" grpId="0" animBg="1"/>
      <p:bldP spid="287791" grpId="0" animBg="1"/>
      <p:bldP spid="287792" grpId="0" animBg="1"/>
      <p:bldP spid="287793" grpId="0" animBg="1"/>
      <p:bldP spid="287794" grpId="0" animBg="1"/>
      <p:bldP spid="28779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1" name="Rectangle 10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21</a:t>
            </a:r>
            <a:r>
              <a:rPr lang="zh-CN" altLang="en-US" sz="3600" dirty="0"/>
              <a:t>）</a:t>
            </a:r>
          </a:p>
        </p:txBody>
      </p:sp>
      <p:sp>
        <p:nvSpPr>
          <p:cNvPr id="5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D411-2DA7-45A3-ABC1-AA4B84BDFD5C}" type="slidenum">
              <a:rPr lang="en-US" altLang="zh-CN">
                <a:latin typeface="+mn-ea"/>
                <a:ea typeface="+mn-ea"/>
              </a:rPr>
              <a:pPr/>
              <a:t>25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88772" name="Rectangle 1028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3200" b="1" dirty="0">
                <a:effectLst/>
                <a:latin typeface="+mn-ea"/>
              </a:rPr>
              <a:t>門電路的傳輸延遲造成會競爭、冒險</a:t>
            </a:r>
          </a:p>
          <a:p>
            <a:pPr lvl="1">
              <a:spcBef>
                <a:spcPct val="50000"/>
              </a:spcBef>
              <a:buNone/>
            </a:pPr>
            <a:r>
              <a:rPr lang="zh-CN" altLang="en-US" b="1" dirty="0">
                <a:effectLst/>
                <a:latin typeface="+mn-ea"/>
              </a:rPr>
              <a:t>   二輸入</a:t>
            </a:r>
            <a:r>
              <a:rPr lang="zh-CN" altLang="en-US" b="1" dirty="0">
                <a:latin typeface="+mn-ea"/>
              </a:rPr>
              <a:t>反或閘</a:t>
            </a:r>
            <a:r>
              <a:rPr lang="zh-CN" altLang="en-US" b="1" dirty="0">
                <a:effectLst/>
                <a:latin typeface="+mn-ea"/>
              </a:rPr>
              <a:t>的輸入為 </a:t>
            </a:r>
            <a:r>
              <a:rPr lang="en-US" altLang="zh-CN" b="1" dirty="0">
                <a:effectLst/>
                <a:latin typeface="+mn-ea"/>
              </a:rPr>
              <a:t>A </a:t>
            </a:r>
            <a:r>
              <a:rPr lang="zh-CN" altLang="en-US" b="1" dirty="0">
                <a:effectLst/>
                <a:latin typeface="+mn-ea"/>
              </a:rPr>
              <a:t>和  時</a:t>
            </a:r>
            <a:r>
              <a:rPr lang="en-US" altLang="zh-CN" b="1" dirty="0">
                <a:effectLst/>
                <a:latin typeface="+mn-ea"/>
              </a:rPr>
              <a:t>,     </a:t>
            </a:r>
            <a:r>
              <a:rPr lang="zh-CN" altLang="en-US" b="1" dirty="0">
                <a:effectLst/>
                <a:latin typeface="+mn-ea"/>
              </a:rPr>
              <a:t>滯後於</a:t>
            </a:r>
            <a:r>
              <a:rPr lang="en-US" altLang="zh-CN" b="1" dirty="0">
                <a:effectLst/>
                <a:latin typeface="+mn-ea"/>
              </a:rPr>
              <a:t>A </a:t>
            </a:r>
            <a:r>
              <a:rPr lang="zh-CN" altLang="en-US" b="1" dirty="0">
                <a:effectLst/>
                <a:latin typeface="+mn-ea"/>
              </a:rPr>
              <a:t>，則</a:t>
            </a:r>
            <a:r>
              <a:rPr lang="en-US" altLang="zh-CN" b="1" dirty="0">
                <a:effectLst/>
                <a:latin typeface="+mn-ea"/>
              </a:rPr>
              <a:t>Y</a:t>
            </a:r>
            <a:r>
              <a:rPr lang="zh-CN" altLang="en-US" b="1" dirty="0">
                <a:effectLst/>
                <a:latin typeface="+mn-ea"/>
              </a:rPr>
              <a:t>會出現尖峰信號（反或閘下降沿有尖峰）</a:t>
            </a:r>
          </a:p>
        </p:txBody>
      </p:sp>
      <p:sp>
        <p:nvSpPr>
          <p:cNvPr id="288770" name="Line 1026"/>
          <p:cNvSpPr>
            <a:spLocks noChangeShapeType="1"/>
          </p:cNvSpPr>
          <p:nvPr/>
        </p:nvSpPr>
        <p:spPr bwMode="auto">
          <a:xfrm>
            <a:off x="6553200" y="4006552"/>
            <a:ext cx="0" cy="2590800"/>
          </a:xfrm>
          <a:prstGeom prst="line">
            <a:avLst/>
          </a:prstGeom>
          <a:ln>
            <a:prstDash val="lgDash"/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88773" name="Group 1029"/>
          <p:cNvGrpSpPr>
            <a:grpSpLocks/>
          </p:cNvGrpSpPr>
          <p:nvPr/>
        </p:nvGrpSpPr>
        <p:grpSpPr bwMode="auto">
          <a:xfrm>
            <a:off x="762001" y="3840633"/>
            <a:ext cx="3098800" cy="1371600"/>
            <a:chOff x="480" y="2064"/>
            <a:chExt cx="1952" cy="864"/>
          </a:xfrm>
        </p:grpSpPr>
        <p:grpSp>
          <p:nvGrpSpPr>
            <p:cNvPr id="288774" name="Group 1030"/>
            <p:cNvGrpSpPr>
              <a:grpSpLocks/>
            </p:cNvGrpSpPr>
            <p:nvPr/>
          </p:nvGrpSpPr>
          <p:grpSpPr bwMode="auto">
            <a:xfrm>
              <a:off x="864" y="2544"/>
              <a:ext cx="336" cy="384"/>
              <a:chOff x="1020" y="1706"/>
              <a:chExt cx="317" cy="363"/>
            </a:xfrm>
          </p:grpSpPr>
          <p:sp>
            <p:nvSpPr>
              <p:cNvPr id="288775" name="Rectangle 1031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8776" name="Oval 1032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8777" name="Line 1033"/>
            <p:cNvSpPr>
              <a:spLocks noChangeShapeType="1"/>
            </p:cNvSpPr>
            <p:nvPr/>
          </p:nvSpPr>
          <p:spPr bwMode="auto">
            <a:xfrm>
              <a:off x="1200" y="273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8778" name="Line 1034"/>
            <p:cNvSpPr>
              <a:spLocks noChangeShapeType="1"/>
            </p:cNvSpPr>
            <p:nvPr/>
          </p:nvSpPr>
          <p:spPr bwMode="auto">
            <a:xfrm flipH="1">
              <a:off x="720" y="273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88779" name="Group 1035"/>
            <p:cNvGrpSpPr>
              <a:grpSpLocks/>
            </p:cNvGrpSpPr>
            <p:nvPr/>
          </p:nvGrpSpPr>
          <p:grpSpPr bwMode="auto">
            <a:xfrm>
              <a:off x="1728" y="2256"/>
              <a:ext cx="624" cy="384"/>
              <a:chOff x="720" y="2544"/>
              <a:chExt cx="624" cy="384"/>
            </a:xfrm>
          </p:grpSpPr>
          <p:grpSp>
            <p:nvGrpSpPr>
              <p:cNvPr id="288780" name="Group 1036"/>
              <p:cNvGrpSpPr>
                <a:grpSpLocks/>
              </p:cNvGrpSpPr>
              <p:nvPr/>
            </p:nvGrpSpPr>
            <p:grpSpPr bwMode="auto">
              <a:xfrm>
                <a:off x="864" y="2544"/>
                <a:ext cx="336" cy="384"/>
                <a:chOff x="1020" y="1706"/>
                <a:chExt cx="317" cy="363"/>
              </a:xfrm>
            </p:grpSpPr>
            <p:sp>
              <p:nvSpPr>
                <p:cNvPr id="288781" name="Rectangle 1037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88782" name="Oval 1038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88783" name="Line 1039"/>
              <p:cNvSpPr>
                <a:spLocks noChangeShapeType="1"/>
              </p:cNvSpPr>
              <p:nvPr/>
            </p:nvSpPr>
            <p:spPr bwMode="auto">
              <a:xfrm>
                <a:off x="1200" y="2736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8784" name="Line 1040"/>
              <p:cNvSpPr>
                <a:spLocks noChangeShapeType="1"/>
              </p:cNvSpPr>
              <p:nvPr/>
            </p:nvSpPr>
            <p:spPr bwMode="auto">
              <a:xfrm flipH="1">
                <a:off x="720" y="264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8785" name="Line 1041"/>
              <p:cNvSpPr>
                <a:spLocks noChangeShapeType="1"/>
              </p:cNvSpPr>
              <p:nvPr/>
            </p:nvSpPr>
            <p:spPr bwMode="auto">
              <a:xfrm flipH="1">
                <a:off x="720" y="283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8786" name="Line 1042"/>
            <p:cNvSpPr>
              <a:spLocks noChangeShapeType="1"/>
            </p:cNvSpPr>
            <p:nvPr/>
          </p:nvSpPr>
          <p:spPr bwMode="auto">
            <a:xfrm flipV="1">
              <a:off x="720" y="235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8787" name="Line 1043"/>
            <p:cNvSpPr>
              <a:spLocks noChangeShapeType="1"/>
            </p:cNvSpPr>
            <p:nvPr/>
          </p:nvSpPr>
          <p:spPr bwMode="auto">
            <a:xfrm flipH="1">
              <a:off x="528" y="2352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8788" name="Line 1044"/>
            <p:cNvSpPr>
              <a:spLocks noChangeShapeType="1"/>
            </p:cNvSpPr>
            <p:nvPr/>
          </p:nvSpPr>
          <p:spPr bwMode="auto">
            <a:xfrm flipH="1">
              <a:off x="1344" y="254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8789" name="Line 1045"/>
            <p:cNvSpPr>
              <a:spLocks noChangeShapeType="1"/>
            </p:cNvSpPr>
            <p:nvPr/>
          </p:nvSpPr>
          <p:spPr bwMode="auto">
            <a:xfrm>
              <a:off x="1344" y="254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8790" name="Rectangle 1046"/>
            <p:cNvSpPr>
              <a:spLocks noChangeArrowheads="1"/>
            </p:cNvSpPr>
            <p:nvPr/>
          </p:nvSpPr>
          <p:spPr bwMode="auto">
            <a:xfrm>
              <a:off x="480" y="2064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A</a:t>
              </a:r>
            </a:p>
          </p:txBody>
        </p:sp>
        <p:sp>
          <p:nvSpPr>
            <p:cNvPr id="288791" name="Rectangle 1047"/>
            <p:cNvSpPr>
              <a:spLocks noChangeArrowheads="1"/>
            </p:cNvSpPr>
            <p:nvPr/>
          </p:nvSpPr>
          <p:spPr bwMode="auto">
            <a:xfrm>
              <a:off x="2208" y="2064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</a:p>
          </p:txBody>
        </p:sp>
        <p:graphicFrame>
          <p:nvGraphicFramePr>
            <p:cNvPr id="288792" name="Object 10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4757926"/>
                </p:ext>
              </p:extLst>
            </p:nvPr>
          </p:nvGraphicFramePr>
          <p:xfrm>
            <a:off x="1434" y="2583"/>
            <a:ext cx="180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26720" imgH="215640" progId="Equation.3">
                    <p:embed/>
                  </p:oleObj>
                </mc:Choice>
                <mc:Fallback>
                  <p:oleObj name="公式" r:id="rId2" imgW="126720" imgH="215640" progId="Equation.3">
                    <p:embed/>
                    <p:pic>
                      <p:nvPicPr>
                        <p:cNvPr id="288792" name="Object 10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4" y="2583"/>
                          <a:ext cx="180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8793" name="Rectangle 1049"/>
            <p:cNvSpPr>
              <a:spLocks noChangeArrowheads="1"/>
            </p:cNvSpPr>
            <p:nvPr/>
          </p:nvSpPr>
          <p:spPr bwMode="auto">
            <a:xfrm>
              <a:off x="1872" y="2304"/>
              <a:ext cx="27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zh-CN" altLang="en-US" b="1" dirty="0">
                  <a:latin typeface="+mn-ea"/>
                  <a:ea typeface="+mn-ea"/>
                </a:rPr>
                <a:t>＋</a:t>
              </a:r>
            </a:p>
          </p:txBody>
        </p:sp>
      </p:grpSp>
      <p:graphicFrame>
        <p:nvGraphicFramePr>
          <p:cNvPr id="288794" name="Object 10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982450"/>
              </p:ext>
            </p:extLst>
          </p:nvPr>
        </p:nvGraphicFramePr>
        <p:xfrm>
          <a:off x="6958524" y="2204864"/>
          <a:ext cx="2857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6720" imgH="215640" progId="Equation.3">
                  <p:embed/>
                </p:oleObj>
              </mc:Choice>
              <mc:Fallback>
                <p:oleObj name="公式" r:id="rId4" imgW="126720" imgH="215640" progId="Equation.3">
                  <p:embed/>
                  <p:pic>
                    <p:nvPicPr>
                      <p:cNvPr id="288794" name="Object 10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8524" y="2204864"/>
                        <a:ext cx="285750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95" name="Object 10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379867"/>
              </p:ext>
            </p:extLst>
          </p:nvPr>
        </p:nvGraphicFramePr>
        <p:xfrm>
          <a:off x="7958658" y="2204864"/>
          <a:ext cx="2857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6720" imgH="215640" progId="Equation.3">
                  <p:embed/>
                </p:oleObj>
              </mc:Choice>
              <mc:Fallback>
                <p:oleObj name="公式" r:id="rId6" imgW="126720" imgH="215640" progId="Equation.3">
                  <p:embed/>
                  <p:pic>
                    <p:nvPicPr>
                      <p:cNvPr id="288795" name="Object 1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8658" y="2204864"/>
                        <a:ext cx="285750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8796" name="Group 1052"/>
          <p:cNvGrpSpPr>
            <a:grpSpLocks/>
          </p:cNvGrpSpPr>
          <p:nvPr/>
        </p:nvGrpSpPr>
        <p:grpSpPr bwMode="auto">
          <a:xfrm>
            <a:off x="609600" y="5550371"/>
            <a:ext cx="4038601" cy="542925"/>
            <a:chOff x="384" y="3141"/>
            <a:chExt cx="2544" cy="342"/>
          </a:xfrm>
        </p:grpSpPr>
        <p:sp>
          <p:nvSpPr>
            <p:cNvPr id="288797" name="Rectangle 1053"/>
            <p:cNvSpPr>
              <a:spLocks noChangeArrowheads="1"/>
            </p:cNvSpPr>
            <p:nvPr/>
          </p:nvSpPr>
          <p:spPr bwMode="auto">
            <a:xfrm>
              <a:off x="384" y="3168"/>
              <a:ext cx="19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理想情況：</a:t>
              </a:r>
            </a:p>
          </p:txBody>
        </p:sp>
        <p:graphicFrame>
          <p:nvGraphicFramePr>
            <p:cNvPr id="288798" name="Object 10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0276178"/>
                </p:ext>
              </p:extLst>
            </p:nvPr>
          </p:nvGraphicFramePr>
          <p:xfrm>
            <a:off x="1344" y="3141"/>
            <a:ext cx="1584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117440" imgH="241200" progId="Equation.3">
                    <p:embed/>
                  </p:oleObj>
                </mc:Choice>
                <mc:Fallback>
                  <p:oleObj name="公式" r:id="rId8" imgW="1117440" imgH="241200" progId="Equation.3">
                    <p:embed/>
                    <p:pic>
                      <p:nvPicPr>
                        <p:cNvPr id="288798" name="Object 10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141"/>
                          <a:ext cx="1584" cy="3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8799" name="Rectangle 1055"/>
          <p:cNvSpPr>
            <a:spLocks noChangeArrowheads="1"/>
          </p:cNvSpPr>
          <p:nvPr/>
        </p:nvSpPr>
        <p:spPr bwMode="auto">
          <a:xfrm>
            <a:off x="5052392" y="3549352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實際情況：</a:t>
            </a:r>
          </a:p>
        </p:txBody>
      </p:sp>
      <p:grpSp>
        <p:nvGrpSpPr>
          <p:cNvPr id="288800" name="Group 1056"/>
          <p:cNvGrpSpPr>
            <a:grpSpLocks/>
          </p:cNvGrpSpPr>
          <p:nvPr/>
        </p:nvGrpSpPr>
        <p:grpSpPr bwMode="auto">
          <a:xfrm>
            <a:off x="5257800" y="4158952"/>
            <a:ext cx="2590800" cy="457200"/>
            <a:chOff x="3312" y="2400"/>
            <a:chExt cx="1632" cy="288"/>
          </a:xfrm>
        </p:grpSpPr>
        <p:sp>
          <p:nvSpPr>
            <p:cNvPr id="288801" name="Line 1057"/>
            <p:cNvSpPr>
              <a:spLocks noChangeShapeType="1"/>
            </p:cNvSpPr>
            <p:nvPr/>
          </p:nvSpPr>
          <p:spPr bwMode="auto">
            <a:xfrm>
              <a:off x="3312" y="2400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8802" name="Line 1058"/>
            <p:cNvSpPr>
              <a:spLocks noChangeShapeType="1"/>
            </p:cNvSpPr>
            <p:nvPr/>
          </p:nvSpPr>
          <p:spPr bwMode="auto">
            <a:xfrm flipV="1">
              <a:off x="3515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8803" name="Line 1059"/>
            <p:cNvSpPr>
              <a:spLocks noChangeShapeType="1"/>
            </p:cNvSpPr>
            <p:nvPr/>
          </p:nvSpPr>
          <p:spPr bwMode="auto">
            <a:xfrm>
              <a:off x="3515" y="2688"/>
              <a:ext cx="14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8804" name="Group 1060"/>
          <p:cNvGrpSpPr>
            <a:grpSpLocks/>
          </p:cNvGrpSpPr>
          <p:nvPr/>
        </p:nvGrpSpPr>
        <p:grpSpPr bwMode="auto">
          <a:xfrm>
            <a:off x="5181600" y="4844752"/>
            <a:ext cx="2667000" cy="457200"/>
            <a:chOff x="3264" y="2832"/>
            <a:chExt cx="1680" cy="288"/>
          </a:xfrm>
        </p:grpSpPr>
        <p:sp>
          <p:nvSpPr>
            <p:cNvPr id="288805" name="Line 1061"/>
            <p:cNvSpPr>
              <a:spLocks noChangeShapeType="1"/>
            </p:cNvSpPr>
            <p:nvPr/>
          </p:nvSpPr>
          <p:spPr bwMode="auto">
            <a:xfrm>
              <a:off x="3264" y="3120"/>
              <a:ext cx="5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8806" name="Line 1062"/>
            <p:cNvSpPr>
              <a:spLocks noChangeShapeType="1"/>
            </p:cNvSpPr>
            <p:nvPr/>
          </p:nvSpPr>
          <p:spPr bwMode="auto">
            <a:xfrm flipV="1">
              <a:off x="3787" y="283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8807" name="Line 1063"/>
            <p:cNvSpPr>
              <a:spLocks noChangeShapeType="1"/>
            </p:cNvSpPr>
            <p:nvPr/>
          </p:nvSpPr>
          <p:spPr bwMode="auto">
            <a:xfrm>
              <a:off x="3787" y="2832"/>
              <a:ext cx="11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8808" name="Group 1064"/>
          <p:cNvGrpSpPr>
            <a:grpSpLocks/>
          </p:cNvGrpSpPr>
          <p:nvPr/>
        </p:nvGrpSpPr>
        <p:grpSpPr bwMode="auto">
          <a:xfrm>
            <a:off x="4791075" y="4158953"/>
            <a:ext cx="388938" cy="2062163"/>
            <a:chOff x="3018" y="2304"/>
            <a:chExt cx="245" cy="1299"/>
          </a:xfrm>
        </p:grpSpPr>
        <p:sp>
          <p:nvSpPr>
            <p:cNvPr id="288809" name="Rectangle 1065"/>
            <p:cNvSpPr>
              <a:spLocks noChangeArrowheads="1"/>
            </p:cNvSpPr>
            <p:nvPr/>
          </p:nvSpPr>
          <p:spPr bwMode="auto">
            <a:xfrm>
              <a:off x="3024" y="2304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A</a:t>
              </a:r>
            </a:p>
          </p:txBody>
        </p:sp>
        <p:graphicFrame>
          <p:nvGraphicFramePr>
            <p:cNvPr id="288810" name="Object 10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171127"/>
                </p:ext>
              </p:extLst>
            </p:nvPr>
          </p:nvGraphicFramePr>
          <p:xfrm>
            <a:off x="3018" y="2775"/>
            <a:ext cx="180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26720" imgH="215640" progId="Equation.3">
                    <p:embed/>
                  </p:oleObj>
                </mc:Choice>
                <mc:Fallback>
                  <p:oleObj name="公式" r:id="rId10" imgW="126720" imgH="215640" progId="Equation.3">
                    <p:embed/>
                    <p:pic>
                      <p:nvPicPr>
                        <p:cNvPr id="288810" name="Object 10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8" y="2775"/>
                          <a:ext cx="180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8811" name="Rectangle 1067"/>
            <p:cNvSpPr>
              <a:spLocks noChangeArrowheads="1"/>
            </p:cNvSpPr>
            <p:nvPr/>
          </p:nvSpPr>
          <p:spPr bwMode="auto">
            <a:xfrm>
              <a:off x="3039" y="3312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Y</a:t>
              </a:r>
            </a:p>
          </p:txBody>
        </p:sp>
      </p:grpSp>
      <p:sp>
        <p:nvSpPr>
          <p:cNvPr id="288812" name="Line 1068"/>
          <p:cNvSpPr>
            <a:spLocks noChangeShapeType="1"/>
          </p:cNvSpPr>
          <p:nvPr/>
        </p:nvSpPr>
        <p:spPr bwMode="auto">
          <a:xfrm>
            <a:off x="5580112" y="4006552"/>
            <a:ext cx="0" cy="2590800"/>
          </a:xfrm>
          <a:prstGeom prst="line">
            <a:avLst/>
          </a:prstGeom>
          <a:ln>
            <a:prstDash val="lgDash"/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8813" name="Line 1069"/>
          <p:cNvSpPr>
            <a:spLocks noChangeShapeType="1"/>
          </p:cNvSpPr>
          <p:nvPr/>
        </p:nvSpPr>
        <p:spPr bwMode="auto">
          <a:xfrm>
            <a:off x="6012160" y="4006552"/>
            <a:ext cx="0" cy="2590800"/>
          </a:xfrm>
          <a:prstGeom prst="line">
            <a:avLst/>
          </a:prstGeom>
          <a:ln>
            <a:prstDash val="lgDash"/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8814" name="Line 1070"/>
          <p:cNvSpPr>
            <a:spLocks noChangeShapeType="1"/>
          </p:cNvSpPr>
          <p:nvPr/>
        </p:nvSpPr>
        <p:spPr bwMode="auto">
          <a:xfrm>
            <a:off x="5257800" y="6140152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8815" name="Line 1071"/>
          <p:cNvSpPr>
            <a:spLocks noChangeShapeType="1"/>
          </p:cNvSpPr>
          <p:nvPr/>
        </p:nvSpPr>
        <p:spPr bwMode="auto">
          <a:xfrm>
            <a:off x="6172200" y="5759152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8816" name="Line 1072"/>
          <p:cNvSpPr>
            <a:spLocks noChangeShapeType="1"/>
          </p:cNvSpPr>
          <p:nvPr/>
        </p:nvSpPr>
        <p:spPr bwMode="auto">
          <a:xfrm>
            <a:off x="6172200" y="5759152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8817" name="Line 1073"/>
          <p:cNvSpPr>
            <a:spLocks noChangeShapeType="1"/>
          </p:cNvSpPr>
          <p:nvPr/>
        </p:nvSpPr>
        <p:spPr bwMode="auto">
          <a:xfrm flipV="1">
            <a:off x="6553200" y="5759152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8818" name="Line 1074"/>
          <p:cNvSpPr>
            <a:spLocks noChangeShapeType="1"/>
          </p:cNvSpPr>
          <p:nvPr/>
        </p:nvSpPr>
        <p:spPr bwMode="auto">
          <a:xfrm>
            <a:off x="6553200" y="6140152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8819" name="Rectangle 1075" descr="深色下对角线"/>
          <p:cNvSpPr>
            <a:spLocks noChangeArrowheads="1"/>
          </p:cNvSpPr>
          <p:nvPr/>
        </p:nvSpPr>
        <p:spPr bwMode="auto">
          <a:xfrm>
            <a:off x="6172200" y="5759152"/>
            <a:ext cx="381000" cy="381000"/>
          </a:xfrm>
          <a:prstGeom prst="rect">
            <a:avLst/>
          </a:prstGeom>
          <a:pattFill prst="dkDnDiag">
            <a:fgClr>
              <a:srgbClr val="FF66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8820" name="Text Box 1076"/>
          <p:cNvSpPr txBox="1">
            <a:spLocks noChangeArrowheads="1"/>
          </p:cNvSpPr>
          <p:nvPr/>
        </p:nvSpPr>
        <p:spPr bwMode="auto">
          <a:xfrm>
            <a:off x="7086600" y="5530552"/>
            <a:ext cx="1728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正向尖峰</a:t>
            </a:r>
          </a:p>
        </p:txBody>
      </p:sp>
    </p:spTree>
    <p:extLst>
      <p:ext uri="{BB962C8B-B14F-4D97-AF65-F5344CB8AC3E}">
        <p14:creationId xmlns:p14="http://schemas.microsoft.com/office/powerpoint/2010/main" val="381194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8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288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0" dur="500"/>
                                        <p:tgtEl>
                                          <p:spTgt spid="288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8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8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8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8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88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8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8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8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288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500"/>
                                        <p:tgtEl>
                                          <p:spTgt spid="288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288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88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88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88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8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8" dur="500"/>
                                        <p:tgtEl>
                                          <p:spTgt spid="288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88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88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88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88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0" grpId="0" animBg="1"/>
      <p:bldP spid="288799" grpId="0" autoUpdateAnimBg="0"/>
      <p:bldP spid="288812" grpId="0" animBg="1"/>
      <p:bldP spid="288813" grpId="0" animBg="1"/>
      <p:bldP spid="288814" grpId="0" animBg="1"/>
      <p:bldP spid="288815" grpId="0" animBg="1"/>
      <p:bldP spid="288816" grpId="0" animBg="1"/>
      <p:bldP spid="288817" grpId="0" animBg="1"/>
      <p:bldP spid="288818" grpId="0" animBg="1"/>
      <p:bldP spid="288819" grpId="0" animBg="1"/>
      <p:bldP spid="288820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22</a:t>
            </a:r>
            <a:r>
              <a:rPr lang="zh-CN" altLang="en-US" sz="3600" dirty="0"/>
              <a:t>）</a:t>
            </a: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9BE9-1916-4A58-BCD7-220DFCF172EA}" type="slidenum">
              <a:rPr lang="en-US" altLang="zh-CN">
                <a:latin typeface="+mn-ea"/>
                <a:ea typeface="+mn-ea"/>
              </a:rPr>
              <a:pPr/>
              <a:t>26</a:t>
            </a:fld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289795" name="Group 1027"/>
          <p:cNvGrpSpPr>
            <a:grpSpLocks/>
          </p:cNvGrpSpPr>
          <p:nvPr/>
        </p:nvGrpSpPr>
        <p:grpSpPr bwMode="auto">
          <a:xfrm>
            <a:off x="476250" y="1700212"/>
            <a:ext cx="4095750" cy="1001713"/>
            <a:chOff x="192" y="1786"/>
            <a:chExt cx="2340" cy="631"/>
          </a:xfrm>
        </p:grpSpPr>
        <p:sp>
          <p:nvSpPr>
            <p:cNvPr id="289796" name="Rectangle 1028"/>
            <p:cNvSpPr>
              <a:spLocks noChangeArrowheads="1"/>
            </p:cNvSpPr>
            <p:nvPr/>
          </p:nvSpPr>
          <p:spPr bwMode="auto">
            <a:xfrm>
              <a:off x="192" y="1816"/>
              <a:ext cx="2340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buClr>
                  <a:srgbClr val="CC00FF"/>
                </a:buClr>
                <a:buFont typeface="Wingdings" pitchFamily="2" charset="2"/>
                <a:buChar char="l"/>
              </a:pPr>
              <a:r>
                <a:rPr lang="en-US" altLang="zh-CN" sz="32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     </a:t>
              </a:r>
              <a:r>
                <a:rPr lang="zh-CN" altLang="en-US" sz="32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端用於選通 </a:t>
              </a:r>
            </a:p>
            <a:p>
              <a:pPr>
                <a:buClr>
                  <a:srgbClr val="FFFF00"/>
                </a:buClr>
                <a:buFont typeface="Wingdings" pitchFamily="2" charset="2"/>
                <a:buNone/>
              </a:pPr>
              <a:endPara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graphicFrame>
          <p:nvGraphicFramePr>
            <p:cNvPr id="289797" name="Object 10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8225954"/>
                </p:ext>
              </p:extLst>
            </p:nvPr>
          </p:nvGraphicFramePr>
          <p:xfrm>
            <a:off x="492" y="1786"/>
            <a:ext cx="230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52280" imgH="215640" progId="Equation.3">
                    <p:embed/>
                  </p:oleObj>
                </mc:Choice>
                <mc:Fallback>
                  <p:oleObj name="公式" r:id="rId2" imgW="152280" imgH="215640" progId="Equation.3">
                    <p:embed/>
                    <p:pic>
                      <p:nvPicPr>
                        <p:cNvPr id="289797" name="Object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" y="1786"/>
                          <a:ext cx="230" cy="3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9798" name="Text Box 1030"/>
          <p:cNvSpPr txBox="1">
            <a:spLocks noChangeArrowheads="1"/>
          </p:cNvSpPr>
          <p:nvPr/>
        </p:nvSpPr>
        <p:spPr bwMode="auto">
          <a:xfrm>
            <a:off x="1619250" y="3213100"/>
            <a:ext cx="6192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800">
              <a:latin typeface="+mn-ea"/>
              <a:ea typeface="+mn-ea"/>
            </a:endParaRPr>
          </a:p>
        </p:txBody>
      </p:sp>
      <p:sp>
        <p:nvSpPr>
          <p:cNvPr id="289799" name="Rectangle 1031"/>
          <p:cNvSpPr>
            <a:spLocks noChangeArrowheads="1"/>
          </p:cNvSpPr>
          <p:nvPr/>
        </p:nvSpPr>
        <p:spPr bwMode="auto">
          <a:xfrm>
            <a:off x="1143000" y="2438400"/>
            <a:ext cx="6629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2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－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4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解碼器中設置二級緩衝，目的是均衡負載，</a:t>
            </a:r>
          </a:p>
        </p:txBody>
      </p:sp>
      <p:sp>
        <p:nvSpPr>
          <p:cNvPr id="289800" name="Rectangle 1032"/>
          <p:cNvSpPr>
            <a:spLocks noChangeArrowheads="1"/>
          </p:cNvSpPr>
          <p:nvPr/>
        </p:nvSpPr>
        <p:spPr bwMode="auto">
          <a:xfrm>
            <a:off x="1219200" y="2971800"/>
            <a:ext cx="6553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但是由於信號傳輸的延遲，會在輸出端產生“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0”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重疊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(Overlap)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和尖峰信號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(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有些書中稱為毛刺，英文詞為：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Spike, Glitch) 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。</a:t>
            </a:r>
          </a:p>
        </p:txBody>
      </p:sp>
      <p:grpSp>
        <p:nvGrpSpPr>
          <p:cNvPr id="289801" name="Group 1033"/>
          <p:cNvGrpSpPr>
            <a:grpSpLocks/>
          </p:cNvGrpSpPr>
          <p:nvPr/>
        </p:nvGrpSpPr>
        <p:grpSpPr bwMode="auto">
          <a:xfrm>
            <a:off x="1219200" y="4064004"/>
            <a:ext cx="6400800" cy="584201"/>
            <a:chOff x="384" y="3568"/>
            <a:chExt cx="4032" cy="368"/>
          </a:xfrm>
        </p:grpSpPr>
        <p:sp>
          <p:nvSpPr>
            <p:cNvPr id="289802" name="Rectangle 1034"/>
            <p:cNvSpPr>
              <a:spLocks noChangeArrowheads="1"/>
            </p:cNvSpPr>
            <p:nvPr/>
          </p:nvSpPr>
          <p:spPr bwMode="auto">
            <a:xfrm>
              <a:off x="384" y="3648"/>
              <a:ext cx="40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為消除尖峰和重疊，增加了    。</a:t>
              </a:r>
            </a:p>
          </p:txBody>
        </p:sp>
        <p:graphicFrame>
          <p:nvGraphicFramePr>
            <p:cNvPr id="289803" name="Object 10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4349950"/>
                </p:ext>
              </p:extLst>
            </p:nvPr>
          </p:nvGraphicFramePr>
          <p:xfrm>
            <a:off x="2723" y="3568"/>
            <a:ext cx="278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52280" imgH="215640" progId="Equation.3">
                    <p:embed/>
                  </p:oleObj>
                </mc:Choice>
                <mc:Fallback>
                  <p:oleObj name="公式" r:id="rId4" imgW="152280" imgH="215640" progId="Equation.3">
                    <p:embed/>
                    <p:pic>
                      <p:nvPicPr>
                        <p:cNvPr id="289803" name="Object 10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3" y="3568"/>
                          <a:ext cx="278" cy="3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7661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9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9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9" grpId="0" autoUpdateAnimBg="0"/>
      <p:bldP spid="28980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24" name="Rectangle 103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382000" cy="585788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23</a:t>
            </a:r>
            <a:r>
              <a:rPr lang="zh-CN" altLang="en-US" sz="3600" dirty="0"/>
              <a:t>）</a:t>
            </a:r>
          </a:p>
        </p:txBody>
      </p:sp>
      <p:sp>
        <p:nvSpPr>
          <p:cNvPr id="1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669AA-A1C0-4300-AF25-27A09F1A68B1}" type="slidenum">
              <a:rPr lang="en-US" altLang="zh-CN">
                <a:latin typeface="+mn-ea"/>
                <a:ea typeface="+mn-ea"/>
              </a:rPr>
              <a:pPr/>
              <a:t>27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90818" name="Rectangle 1026"/>
          <p:cNvSpPr>
            <a:spLocks noGrp="1" noChangeArrowheads="1"/>
          </p:cNvSpPr>
          <p:nvPr>
            <p:ph sz="quarter" idx="1"/>
          </p:nvPr>
        </p:nvSpPr>
        <p:spPr>
          <a:xfrm>
            <a:off x="457200" y="1052736"/>
            <a:ext cx="8229600" cy="5314727"/>
          </a:xfrm>
          <a:noFill/>
          <a:ln/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3200" dirty="0">
                <a:latin typeface="+mn-ea"/>
              </a:rPr>
              <a:t>若無使能端，延遲產生尖峰和</a:t>
            </a:r>
            <a:r>
              <a:rPr lang="zh-CN" altLang="en-US" sz="3200" b="1" dirty="0">
                <a:effectLst/>
                <a:latin typeface="+mn-ea"/>
              </a:rPr>
              <a:t>零重疊問題</a:t>
            </a:r>
          </a:p>
          <a:p>
            <a:pPr lvl="1">
              <a:spcBef>
                <a:spcPct val="0"/>
              </a:spcBef>
            </a:pPr>
            <a:r>
              <a:rPr lang="zh-CN" altLang="en-US" sz="2800" b="1" dirty="0">
                <a:effectLst/>
                <a:latin typeface="+mn-ea"/>
              </a:rPr>
              <a:t>若</a:t>
            </a:r>
            <a:r>
              <a:rPr lang="en-US" altLang="zh-CN" sz="2800" b="1" dirty="0">
                <a:effectLst/>
                <a:latin typeface="+mn-ea"/>
              </a:rPr>
              <a:t>A B</a:t>
            </a:r>
            <a:r>
              <a:rPr lang="zh-CN" altLang="en-US" sz="2800" b="1" dirty="0">
                <a:effectLst/>
                <a:latin typeface="+mn-ea"/>
              </a:rPr>
              <a:t>同時到來：從</a:t>
            </a:r>
            <a:r>
              <a:rPr lang="en-US" altLang="zh-CN" sz="2800" b="1" dirty="0">
                <a:effectLst/>
                <a:latin typeface="+mn-ea"/>
              </a:rPr>
              <a:t>11</a:t>
            </a:r>
            <a:r>
              <a:rPr lang="zh-CN" altLang="en-US" sz="2800" b="1" dirty="0">
                <a:effectLst/>
                <a:latin typeface="+mn-ea"/>
              </a:rPr>
              <a:t>變到</a:t>
            </a:r>
            <a:r>
              <a:rPr lang="en-US" altLang="zh-CN" sz="2800" b="1" dirty="0">
                <a:effectLst/>
                <a:latin typeface="+mn-ea"/>
              </a:rPr>
              <a:t>00</a:t>
            </a:r>
          </a:p>
        </p:txBody>
      </p:sp>
      <p:grpSp>
        <p:nvGrpSpPr>
          <p:cNvPr id="290819" name="Group 1027"/>
          <p:cNvGrpSpPr>
            <a:grpSpLocks/>
          </p:cNvGrpSpPr>
          <p:nvPr/>
        </p:nvGrpSpPr>
        <p:grpSpPr bwMode="auto">
          <a:xfrm>
            <a:off x="4643437" y="5732463"/>
            <a:ext cx="4043361" cy="608012"/>
            <a:chOff x="2914" y="3466"/>
            <a:chExt cx="2547" cy="383"/>
          </a:xfrm>
        </p:grpSpPr>
        <p:sp>
          <p:nvSpPr>
            <p:cNvPr id="290820" name="Line 1028"/>
            <p:cNvSpPr>
              <a:spLocks noChangeShapeType="1"/>
            </p:cNvSpPr>
            <p:nvPr/>
          </p:nvSpPr>
          <p:spPr bwMode="auto">
            <a:xfrm>
              <a:off x="3783" y="3558"/>
              <a:ext cx="9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21" name="Line 1029"/>
            <p:cNvSpPr>
              <a:spLocks noChangeShapeType="1"/>
            </p:cNvSpPr>
            <p:nvPr/>
          </p:nvSpPr>
          <p:spPr bwMode="auto">
            <a:xfrm>
              <a:off x="4735" y="355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22" name="Line 1030"/>
            <p:cNvSpPr>
              <a:spLocks noChangeShapeType="1"/>
            </p:cNvSpPr>
            <p:nvPr/>
          </p:nvSpPr>
          <p:spPr bwMode="auto">
            <a:xfrm>
              <a:off x="4735" y="3694"/>
              <a:ext cx="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823" name="Object 10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7452195"/>
                </p:ext>
              </p:extLst>
            </p:nvPr>
          </p:nvGraphicFramePr>
          <p:xfrm>
            <a:off x="2914" y="3466"/>
            <a:ext cx="818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596880" imgH="279360" progId="Equation.3">
                    <p:embed/>
                  </p:oleObj>
                </mc:Choice>
                <mc:Fallback>
                  <p:oleObj name="公式" r:id="rId2" imgW="596880" imgH="279360" progId="Equation.3">
                    <p:embed/>
                    <p:pic>
                      <p:nvPicPr>
                        <p:cNvPr id="290823" name="Object 10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4" y="3466"/>
                          <a:ext cx="818" cy="3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0825" name="Group 1033"/>
          <p:cNvGrpSpPr>
            <a:grpSpLocks/>
          </p:cNvGrpSpPr>
          <p:nvPr/>
        </p:nvGrpSpPr>
        <p:grpSpPr bwMode="auto">
          <a:xfrm>
            <a:off x="179512" y="2514600"/>
            <a:ext cx="4321175" cy="3733800"/>
            <a:chOff x="96" y="1536"/>
            <a:chExt cx="2722" cy="2352"/>
          </a:xfrm>
        </p:grpSpPr>
        <p:sp>
          <p:nvSpPr>
            <p:cNvPr id="290826" name="Text Box 1034"/>
            <p:cNvSpPr txBox="1">
              <a:spLocks noChangeArrowheads="1"/>
            </p:cNvSpPr>
            <p:nvPr/>
          </p:nvSpPr>
          <p:spPr bwMode="auto">
            <a:xfrm>
              <a:off x="1026" y="3236"/>
              <a:ext cx="1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1800">
                <a:latin typeface="+mn-ea"/>
                <a:ea typeface="+mn-ea"/>
              </a:endParaRPr>
            </a:p>
          </p:txBody>
        </p:sp>
        <p:sp>
          <p:nvSpPr>
            <p:cNvPr id="290827" name="Rectangle 1035"/>
            <p:cNvSpPr>
              <a:spLocks noChangeArrowheads="1"/>
            </p:cNvSpPr>
            <p:nvPr/>
          </p:nvSpPr>
          <p:spPr bwMode="auto">
            <a:xfrm>
              <a:off x="240" y="1536"/>
              <a:ext cx="2213" cy="2352"/>
            </a:xfrm>
            <a:prstGeom prst="rect">
              <a:avLst/>
            </a:prstGeom>
            <a:solidFill>
              <a:srgbClr val="003300">
                <a:alpha val="50000"/>
              </a:srgbClr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0828" name="Group 1036"/>
            <p:cNvGrpSpPr>
              <a:grpSpLocks/>
            </p:cNvGrpSpPr>
            <p:nvPr/>
          </p:nvGrpSpPr>
          <p:grpSpPr bwMode="auto">
            <a:xfrm>
              <a:off x="887" y="1927"/>
              <a:ext cx="261" cy="306"/>
              <a:chOff x="1020" y="1706"/>
              <a:chExt cx="317" cy="363"/>
            </a:xfrm>
          </p:grpSpPr>
          <p:sp>
            <p:nvSpPr>
              <p:cNvPr id="290829" name="Rectangle 1037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0830" name="Oval 1038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90831" name="Group 1039"/>
            <p:cNvGrpSpPr>
              <a:grpSpLocks/>
            </p:cNvGrpSpPr>
            <p:nvPr/>
          </p:nvGrpSpPr>
          <p:grpSpPr bwMode="auto">
            <a:xfrm>
              <a:off x="2166" y="1683"/>
              <a:ext cx="261" cy="307"/>
              <a:chOff x="1020" y="1706"/>
              <a:chExt cx="317" cy="363"/>
            </a:xfrm>
          </p:grpSpPr>
          <p:sp>
            <p:nvSpPr>
              <p:cNvPr id="290832" name="Rectangle 1040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0833" name="Oval 1041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0834" name="Line 1042"/>
            <p:cNvSpPr>
              <a:spLocks noChangeShapeType="1"/>
            </p:cNvSpPr>
            <p:nvPr/>
          </p:nvSpPr>
          <p:spPr bwMode="auto">
            <a:xfrm>
              <a:off x="1152" y="206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35" name="Line 1043"/>
            <p:cNvSpPr>
              <a:spLocks noChangeShapeType="1"/>
            </p:cNvSpPr>
            <p:nvPr/>
          </p:nvSpPr>
          <p:spPr bwMode="auto">
            <a:xfrm flipH="1">
              <a:off x="816" y="177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36" name="Line 1044"/>
            <p:cNvSpPr>
              <a:spLocks noChangeShapeType="1"/>
            </p:cNvSpPr>
            <p:nvPr/>
          </p:nvSpPr>
          <p:spPr bwMode="auto">
            <a:xfrm flipH="1">
              <a:off x="1488" y="230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37" name="Line 1045"/>
            <p:cNvSpPr>
              <a:spLocks noChangeShapeType="1"/>
            </p:cNvSpPr>
            <p:nvPr/>
          </p:nvSpPr>
          <p:spPr bwMode="auto">
            <a:xfrm flipH="1">
              <a:off x="1756" y="2900"/>
              <a:ext cx="3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38" name="Line 1046"/>
            <p:cNvSpPr>
              <a:spLocks noChangeShapeType="1"/>
            </p:cNvSpPr>
            <p:nvPr/>
          </p:nvSpPr>
          <p:spPr bwMode="auto">
            <a:xfrm flipH="1" flipV="1">
              <a:off x="1536" y="345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39" name="Line 1047"/>
            <p:cNvSpPr>
              <a:spLocks noChangeShapeType="1"/>
            </p:cNvSpPr>
            <p:nvPr/>
          </p:nvSpPr>
          <p:spPr bwMode="auto">
            <a:xfrm flipH="1">
              <a:off x="1954" y="2454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40" name="Line 1048"/>
            <p:cNvSpPr>
              <a:spLocks noChangeShapeType="1"/>
            </p:cNvSpPr>
            <p:nvPr/>
          </p:nvSpPr>
          <p:spPr bwMode="auto">
            <a:xfrm flipH="1" flipV="1">
              <a:off x="1796" y="3022"/>
              <a:ext cx="3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41" name="Line 1049"/>
            <p:cNvSpPr>
              <a:spLocks noChangeShapeType="1"/>
            </p:cNvSpPr>
            <p:nvPr/>
          </p:nvSpPr>
          <p:spPr bwMode="auto">
            <a:xfrm flipH="1" flipV="1">
              <a:off x="1296" y="3600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42" name="Line 1050"/>
            <p:cNvSpPr>
              <a:spLocks noChangeShapeType="1"/>
            </p:cNvSpPr>
            <p:nvPr/>
          </p:nvSpPr>
          <p:spPr bwMode="auto">
            <a:xfrm>
              <a:off x="2428" y="1846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43" name="Line 1051"/>
            <p:cNvSpPr>
              <a:spLocks noChangeShapeType="1"/>
            </p:cNvSpPr>
            <p:nvPr/>
          </p:nvSpPr>
          <p:spPr bwMode="auto">
            <a:xfrm flipH="1">
              <a:off x="96" y="2089"/>
              <a:ext cx="2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0844" name="Group 1052"/>
            <p:cNvGrpSpPr>
              <a:grpSpLocks/>
            </p:cNvGrpSpPr>
            <p:nvPr/>
          </p:nvGrpSpPr>
          <p:grpSpPr bwMode="auto">
            <a:xfrm>
              <a:off x="887" y="2616"/>
              <a:ext cx="261" cy="307"/>
              <a:chOff x="1020" y="1706"/>
              <a:chExt cx="317" cy="363"/>
            </a:xfrm>
          </p:grpSpPr>
          <p:sp>
            <p:nvSpPr>
              <p:cNvPr id="290845" name="Rectangle 1053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0846" name="Oval 1054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0847" name="Line 1055"/>
            <p:cNvSpPr>
              <a:spLocks noChangeShapeType="1"/>
            </p:cNvSpPr>
            <p:nvPr/>
          </p:nvSpPr>
          <p:spPr bwMode="auto">
            <a:xfrm>
              <a:off x="816" y="2448"/>
              <a:ext cx="11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48" name="Line 1056"/>
            <p:cNvSpPr>
              <a:spLocks noChangeShapeType="1"/>
            </p:cNvSpPr>
            <p:nvPr/>
          </p:nvSpPr>
          <p:spPr bwMode="auto">
            <a:xfrm flipH="1">
              <a:off x="96" y="2778"/>
              <a:ext cx="2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849" name="Object 10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5249743"/>
                </p:ext>
              </p:extLst>
            </p:nvPr>
          </p:nvGraphicFramePr>
          <p:xfrm>
            <a:off x="641" y="1865"/>
            <a:ext cx="125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215640" progId="Equation.3">
                    <p:embed/>
                  </p:oleObj>
                </mc:Choice>
                <mc:Fallback>
                  <p:oleObj name="Equation" r:id="rId4" imgW="126720" imgH="215640" progId="Equation.3">
                    <p:embed/>
                    <p:pic>
                      <p:nvPicPr>
                        <p:cNvPr id="290849" name="Object 10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1" y="1865"/>
                          <a:ext cx="125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0850" name="Object 10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0955519"/>
                </p:ext>
              </p:extLst>
            </p:nvPr>
          </p:nvGraphicFramePr>
          <p:xfrm>
            <a:off x="629" y="2554"/>
            <a:ext cx="150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80" imgH="215640" progId="Equation.3">
                    <p:embed/>
                  </p:oleObj>
                </mc:Choice>
                <mc:Fallback>
                  <p:oleObj name="Equation" r:id="rId6" imgW="152280" imgH="215640" progId="Equation.3">
                    <p:embed/>
                    <p:pic>
                      <p:nvPicPr>
                        <p:cNvPr id="290850" name="Object 10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9" y="2554"/>
                          <a:ext cx="150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0851" name="Text Box 1059"/>
            <p:cNvSpPr txBox="1">
              <a:spLocks noChangeArrowheads="1"/>
            </p:cNvSpPr>
            <p:nvPr/>
          </p:nvSpPr>
          <p:spPr bwMode="auto">
            <a:xfrm>
              <a:off x="96" y="1824"/>
              <a:ext cx="1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A</a:t>
              </a:r>
            </a:p>
          </p:txBody>
        </p:sp>
        <p:sp>
          <p:nvSpPr>
            <p:cNvPr id="290852" name="Text Box 1060"/>
            <p:cNvSpPr txBox="1">
              <a:spLocks noChangeArrowheads="1"/>
            </p:cNvSpPr>
            <p:nvPr/>
          </p:nvSpPr>
          <p:spPr bwMode="auto">
            <a:xfrm>
              <a:off x="96" y="2544"/>
              <a:ext cx="11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B</a:t>
              </a:r>
            </a:p>
          </p:txBody>
        </p:sp>
        <p:sp>
          <p:nvSpPr>
            <p:cNvPr id="290853" name="Line 1061"/>
            <p:cNvSpPr>
              <a:spLocks noChangeShapeType="1"/>
            </p:cNvSpPr>
            <p:nvPr/>
          </p:nvSpPr>
          <p:spPr bwMode="auto">
            <a:xfrm flipH="1">
              <a:off x="1756" y="1764"/>
              <a:ext cx="0" cy="1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54" name="Line 1062"/>
            <p:cNvSpPr>
              <a:spLocks noChangeShapeType="1"/>
            </p:cNvSpPr>
            <p:nvPr/>
          </p:nvSpPr>
          <p:spPr bwMode="auto">
            <a:xfrm flipH="1" flipV="1">
              <a:off x="1968" y="192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55" name="Line 1063"/>
            <p:cNvSpPr>
              <a:spLocks noChangeShapeType="1"/>
            </p:cNvSpPr>
            <p:nvPr/>
          </p:nvSpPr>
          <p:spPr bwMode="auto">
            <a:xfrm>
              <a:off x="1968" y="1920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56" name="Line 1064"/>
            <p:cNvSpPr>
              <a:spLocks noChangeShapeType="1"/>
            </p:cNvSpPr>
            <p:nvPr/>
          </p:nvSpPr>
          <p:spPr bwMode="auto">
            <a:xfrm>
              <a:off x="1536" y="2064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57" name="Line 1065"/>
            <p:cNvSpPr>
              <a:spLocks noChangeShapeType="1"/>
            </p:cNvSpPr>
            <p:nvPr/>
          </p:nvSpPr>
          <p:spPr bwMode="auto">
            <a:xfrm>
              <a:off x="1536" y="2304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58" name="Line 1066"/>
            <p:cNvSpPr>
              <a:spLocks noChangeShapeType="1"/>
            </p:cNvSpPr>
            <p:nvPr/>
          </p:nvSpPr>
          <p:spPr bwMode="auto">
            <a:xfrm flipV="1">
              <a:off x="1536" y="2352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59" name="Line 1067"/>
            <p:cNvSpPr>
              <a:spLocks noChangeShapeType="1"/>
            </p:cNvSpPr>
            <p:nvPr/>
          </p:nvSpPr>
          <p:spPr bwMode="auto">
            <a:xfrm>
              <a:off x="1296" y="2784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60" name="Line 1068"/>
            <p:cNvSpPr>
              <a:spLocks noChangeShapeType="1"/>
            </p:cNvSpPr>
            <p:nvPr/>
          </p:nvSpPr>
          <p:spPr bwMode="auto">
            <a:xfrm flipV="1">
              <a:off x="1296" y="3022"/>
              <a:ext cx="500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61" name="Line 1069"/>
            <p:cNvSpPr>
              <a:spLocks noChangeShapeType="1"/>
            </p:cNvSpPr>
            <p:nvPr/>
          </p:nvSpPr>
          <p:spPr bwMode="auto">
            <a:xfrm flipV="1">
              <a:off x="1296" y="302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62" name="Line 1070"/>
            <p:cNvSpPr>
              <a:spLocks noChangeShapeType="1"/>
            </p:cNvSpPr>
            <p:nvPr/>
          </p:nvSpPr>
          <p:spPr bwMode="auto">
            <a:xfrm>
              <a:off x="816" y="1776"/>
              <a:ext cx="0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63" name="Oval 1071"/>
            <p:cNvSpPr>
              <a:spLocks noChangeArrowheads="1"/>
            </p:cNvSpPr>
            <p:nvPr/>
          </p:nvSpPr>
          <p:spPr bwMode="auto">
            <a:xfrm>
              <a:off x="768" y="2048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64" name="Oval 1072"/>
            <p:cNvSpPr>
              <a:spLocks noChangeArrowheads="1"/>
            </p:cNvSpPr>
            <p:nvPr/>
          </p:nvSpPr>
          <p:spPr bwMode="auto">
            <a:xfrm>
              <a:off x="768" y="2738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65" name="Oval 1073"/>
            <p:cNvSpPr>
              <a:spLocks noChangeArrowheads="1"/>
            </p:cNvSpPr>
            <p:nvPr/>
          </p:nvSpPr>
          <p:spPr bwMode="auto">
            <a:xfrm>
              <a:off x="1717" y="1724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66" name="Oval 1074"/>
            <p:cNvSpPr>
              <a:spLocks noChangeArrowheads="1"/>
            </p:cNvSpPr>
            <p:nvPr/>
          </p:nvSpPr>
          <p:spPr bwMode="auto">
            <a:xfrm>
              <a:off x="1914" y="2413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67" name="Oval 1075"/>
            <p:cNvSpPr>
              <a:spLocks noChangeArrowheads="1"/>
            </p:cNvSpPr>
            <p:nvPr/>
          </p:nvSpPr>
          <p:spPr bwMode="auto">
            <a:xfrm>
              <a:off x="1488" y="2256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68" name="Oval 1076"/>
            <p:cNvSpPr>
              <a:spLocks noChangeArrowheads="1"/>
            </p:cNvSpPr>
            <p:nvPr/>
          </p:nvSpPr>
          <p:spPr bwMode="auto">
            <a:xfrm>
              <a:off x="1248" y="2976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0869" name="Group 1077"/>
            <p:cNvGrpSpPr>
              <a:grpSpLocks/>
            </p:cNvGrpSpPr>
            <p:nvPr/>
          </p:nvGrpSpPr>
          <p:grpSpPr bwMode="auto">
            <a:xfrm>
              <a:off x="2152" y="2251"/>
              <a:ext cx="261" cy="307"/>
              <a:chOff x="1020" y="1706"/>
              <a:chExt cx="317" cy="363"/>
            </a:xfrm>
          </p:grpSpPr>
          <p:sp>
            <p:nvSpPr>
              <p:cNvPr id="290870" name="Rectangle 1078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0871" name="Oval 1079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0872" name="Line 1080"/>
            <p:cNvSpPr>
              <a:spLocks noChangeShapeType="1"/>
            </p:cNvSpPr>
            <p:nvPr/>
          </p:nvSpPr>
          <p:spPr bwMode="auto">
            <a:xfrm>
              <a:off x="2428" y="2413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0873" name="Group 1081"/>
            <p:cNvGrpSpPr>
              <a:grpSpLocks/>
            </p:cNvGrpSpPr>
            <p:nvPr/>
          </p:nvGrpSpPr>
          <p:grpSpPr bwMode="auto">
            <a:xfrm>
              <a:off x="2152" y="2819"/>
              <a:ext cx="261" cy="306"/>
              <a:chOff x="1020" y="1706"/>
              <a:chExt cx="317" cy="363"/>
            </a:xfrm>
          </p:grpSpPr>
          <p:sp>
            <p:nvSpPr>
              <p:cNvPr id="290874" name="Rectangle 1082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0875" name="Oval 1083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0876" name="Line 1084"/>
            <p:cNvSpPr>
              <a:spLocks noChangeShapeType="1"/>
            </p:cNvSpPr>
            <p:nvPr/>
          </p:nvSpPr>
          <p:spPr bwMode="auto">
            <a:xfrm>
              <a:off x="2414" y="2981"/>
              <a:ext cx="2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0877" name="Group 1085"/>
            <p:cNvGrpSpPr>
              <a:grpSpLocks/>
            </p:cNvGrpSpPr>
            <p:nvPr/>
          </p:nvGrpSpPr>
          <p:grpSpPr bwMode="auto">
            <a:xfrm>
              <a:off x="2152" y="3386"/>
              <a:ext cx="261" cy="307"/>
              <a:chOff x="1020" y="1706"/>
              <a:chExt cx="317" cy="363"/>
            </a:xfrm>
          </p:grpSpPr>
          <p:sp>
            <p:nvSpPr>
              <p:cNvPr id="290878" name="Rectangle 1086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0879" name="Oval 1087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0880" name="Line 1088"/>
            <p:cNvSpPr>
              <a:spLocks noChangeShapeType="1"/>
            </p:cNvSpPr>
            <p:nvPr/>
          </p:nvSpPr>
          <p:spPr bwMode="auto">
            <a:xfrm>
              <a:off x="2414" y="3549"/>
              <a:ext cx="1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81" name="Text Box 1089"/>
            <p:cNvSpPr txBox="1">
              <a:spLocks noChangeArrowheads="1"/>
            </p:cNvSpPr>
            <p:nvPr/>
          </p:nvSpPr>
          <p:spPr bwMode="auto">
            <a:xfrm>
              <a:off x="2541" y="1568"/>
              <a:ext cx="2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290882" name="Text Box 1090"/>
            <p:cNvSpPr txBox="1">
              <a:spLocks noChangeArrowheads="1"/>
            </p:cNvSpPr>
            <p:nvPr/>
          </p:nvSpPr>
          <p:spPr bwMode="auto">
            <a:xfrm>
              <a:off x="2581" y="2135"/>
              <a:ext cx="2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290883" name="Text Box 1091"/>
            <p:cNvSpPr txBox="1">
              <a:spLocks noChangeArrowheads="1"/>
            </p:cNvSpPr>
            <p:nvPr/>
          </p:nvSpPr>
          <p:spPr bwMode="auto">
            <a:xfrm>
              <a:off x="2581" y="2686"/>
              <a:ext cx="2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290884" name="Text Box 1092"/>
            <p:cNvSpPr txBox="1">
              <a:spLocks noChangeArrowheads="1"/>
            </p:cNvSpPr>
            <p:nvPr/>
          </p:nvSpPr>
          <p:spPr bwMode="auto">
            <a:xfrm>
              <a:off x="2541" y="3275"/>
              <a:ext cx="2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3</a:t>
              </a:r>
            </a:p>
          </p:txBody>
        </p:sp>
        <p:grpSp>
          <p:nvGrpSpPr>
            <p:cNvPr id="290885" name="Group 1093"/>
            <p:cNvGrpSpPr>
              <a:grpSpLocks/>
            </p:cNvGrpSpPr>
            <p:nvPr/>
          </p:nvGrpSpPr>
          <p:grpSpPr bwMode="auto">
            <a:xfrm>
              <a:off x="373" y="1927"/>
              <a:ext cx="261" cy="306"/>
              <a:chOff x="1020" y="1706"/>
              <a:chExt cx="317" cy="363"/>
            </a:xfrm>
          </p:grpSpPr>
          <p:sp>
            <p:nvSpPr>
              <p:cNvPr id="290886" name="Rectangle 1094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0887" name="Oval 1095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90888" name="Group 1096"/>
            <p:cNvGrpSpPr>
              <a:grpSpLocks/>
            </p:cNvGrpSpPr>
            <p:nvPr/>
          </p:nvGrpSpPr>
          <p:grpSpPr bwMode="auto">
            <a:xfrm>
              <a:off x="373" y="2616"/>
              <a:ext cx="261" cy="307"/>
              <a:chOff x="1020" y="1706"/>
              <a:chExt cx="317" cy="363"/>
            </a:xfrm>
          </p:grpSpPr>
          <p:sp>
            <p:nvSpPr>
              <p:cNvPr id="290889" name="Rectangle 1097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0890" name="Oval 1098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0891" name="Line 1099"/>
            <p:cNvSpPr>
              <a:spLocks noChangeShapeType="1"/>
            </p:cNvSpPr>
            <p:nvPr/>
          </p:nvSpPr>
          <p:spPr bwMode="auto">
            <a:xfrm>
              <a:off x="649" y="2089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92" name="Line 1100"/>
            <p:cNvSpPr>
              <a:spLocks noChangeShapeType="1"/>
            </p:cNvSpPr>
            <p:nvPr/>
          </p:nvSpPr>
          <p:spPr bwMode="auto">
            <a:xfrm>
              <a:off x="649" y="2778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893" name="Object 110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8472310"/>
                </p:ext>
              </p:extLst>
            </p:nvPr>
          </p:nvGraphicFramePr>
          <p:xfrm>
            <a:off x="1182" y="1885"/>
            <a:ext cx="158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4880" imgH="177480" progId="Equation.3">
                    <p:embed/>
                  </p:oleObj>
                </mc:Choice>
                <mc:Fallback>
                  <p:oleObj name="Equation" r:id="rId8" imgW="164880" imgH="177480" progId="Equation.3">
                    <p:embed/>
                    <p:pic>
                      <p:nvPicPr>
                        <p:cNvPr id="290893" name="Object 1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2" y="1885"/>
                          <a:ext cx="158" cy="1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0894" name="Object 110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5113080"/>
                </p:ext>
              </p:extLst>
            </p:nvPr>
          </p:nvGraphicFramePr>
          <p:xfrm>
            <a:off x="1172" y="2572"/>
            <a:ext cx="170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7480" imgH="177480" progId="Equation.3">
                    <p:embed/>
                  </p:oleObj>
                </mc:Choice>
                <mc:Fallback>
                  <p:oleObj name="Equation" r:id="rId10" imgW="177480" imgH="177480" progId="Equation.3">
                    <p:embed/>
                    <p:pic>
                      <p:nvPicPr>
                        <p:cNvPr id="290894" name="Object 11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2" y="2572"/>
                          <a:ext cx="170" cy="1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0895" name="Line 1103"/>
            <p:cNvSpPr>
              <a:spLocks noChangeShapeType="1"/>
            </p:cNvSpPr>
            <p:nvPr/>
          </p:nvSpPr>
          <p:spPr bwMode="auto">
            <a:xfrm>
              <a:off x="816" y="2448"/>
              <a:ext cx="0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96" name="Line 1104"/>
            <p:cNvSpPr>
              <a:spLocks noChangeShapeType="1"/>
            </p:cNvSpPr>
            <p:nvPr/>
          </p:nvSpPr>
          <p:spPr bwMode="auto">
            <a:xfrm flipH="1">
              <a:off x="1152" y="278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290897" name="Line 1105"/>
          <p:cNvSpPr>
            <a:spLocks noChangeShapeType="1"/>
          </p:cNvSpPr>
          <p:nvPr/>
        </p:nvSpPr>
        <p:spPr bwMode="auto">
          <a:xfrm>
            <a:off x="6796088" y="1795463"/>
            <a:ext cx="0" cy="4537075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0898" name="Line 1106"/>
          <p:cNvSpPr>
            <a:spLocks noChangeShapeType="1"/>
          </p:cNvSpPr>
          <p:nvPr/>
        </p:nvSpPr>
        <p:spPr bwMode="auto">
          <a:xfrm>
            <a:off x="7162800" y="1795463"/>
            <a:ext cx="0" cy="4537075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0899" name="Line 1107"/>
          <p:cNvSpPr>
            <a:spLocks noChangeShapeType="1"/>
          </p:cNvSpPr>
          <p:nvPr/>
        </p:nvSpPr>
        <p:spPr bwMode="auto">
          <a:xfrm>
            <a:off x="7543800" y="1830388"/>
            <a:ext cx="0" cy="4537075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90900" name="Group 1108"/>
          <p:cNvGrpSpPr>
            <a:grpSpLocks/>
          </p:cNvGrpSpPr>
          <p:nvPr/>
        </p:nvGrpSpPr>
        <p:grpSpPr bwMode="auto">
          <a:xfrm>
            <a:off x="7162800" y="2420940"/>
            <a:ext cx="739775" cy="2303464"/>
            <a:chOff x="4512" y="1402"/>
            <a:chExt cx="466" cy="1451"/>
          </a:xfrm>
        </p:grpSpPr>
        <p:sp>
          <p:nvSpPr>
            <p:cNvPr id="290901" name="Rectangle 1109"/>
            <p:cNvSpPr>
              <a:spLocks noChangeArrowheads="1"/>
            </p:cNvSpPr>
            <p:nvPr/>
          </p:nvSpPr>
          <p:spPr bwMode="auto">
            <a:xfrm>
              <a:off x="4512" y="1402"/>
              <a:ext cx="226" cy="13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02" name="Rectangle 1110"/>
            <p:cNvSpPr>
              <a:spLocks noChangeArrowheads="1"/>
            </p:cNvSpPr>
            <p:nvPr/>
          </p:nvSpPr>
          <p:spPr bwMode="auto">
            <a:xfrm>
              <a:off x="4512" y="2355"/>
              <a:ext cx="226" cy="13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03" name="Rectangle 1111"/>
            <p:cNvSpPr>
              <a:spLocks noChangeArrowheads="1"/>
            </p:cNvSpPr>
            <p:nvPr/>
          </p:nvSpPr>
          <p:spPr bwMode="auto">
            <a:xfrm>
              <a:off x="4752" y="2717"/>
              <a:ext cx="226" cy="13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90904" name="Group 1112"/>
          <p:cNvGrpSpPr>
            <a:grpSpLocks/>
          </p:cNvGrpSpPr>
          <p:nvPr/>
        </p:nvGrpSpPr>
        <p:grpSpPr bwMode="auto">
          <a:xfrm>
            <a:off x="7162800" y="2781303"/>
            <a:ext cx="739775" cy="2506665"/>
            <a:chOff x="4512" y="1629"/>
            <a:chExt cx="466" cy="1579"/>
          </a:xfrm>
        </p:grpSpPr>
        <p:sp>
          <p:nvSpPr>
            <p:cNvPr id="290905" name="Rectangle 1113"/>
            <p:cNvSpPr>
              <a:spLocks noChangeArrowheads="1"/>
            </p:cNvSpPr>
            <p:nvPr/>
          </p:nvSpPr>
          <p:spPr bwMode="auto">
            <a:xfrm>
              <a:off x="4512" y="1629"/>
              <a:ext cx="226" cy="136"/>
            </a:xfrm>
            <a:prstGeom prst="rect">
              <a:avLst/>
            </a:prstGeom>
            <a:solidFill>
              <a:srgbClr val="FF00FF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1800">
                <a:latin typeface="+mn-ea"/>
                <a:ea typeface="+mn-ea"/>
              </a:endParaRPr>
            </a:p>
          </p:txBody>
        </p:sp>
        <p:sp>
          <p:nvSpPr>
            <p:cNvPr id="290906" name="Rectangle 1114"/>
            <p:cNvSpPr>
              <a:spLocks noChangeArrowheads="1"/>
            </p:cNvSpPr>
            <p:nvPr/>
          </p:nvSpPr>
          <p:spPr bwMode="auto">
            <a:xfrm>
              <a:off x="4512" y="2128"/>
              <a:ext cx="226" cy="136"/>
            </a:xfrm>
            <a:prstGeom prst="rect">
              <a:avLst/>
            </a:prstGeom>
            <a:solidFill>
              <a:srgbClr val="FF00FF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1800">
                <a:latin typeface="+mn-ea"/>
                <a:ea typeface="+mn-ea"/>
              </a:endParaRPr>
            </a:p>
          </p:txBody>
        </p:sp>
        <p:sp>
          <p:nvSpPr>
            <p:cNvPr id="290907" name="Rectangle 1115"/>
            <p:cNvSpPr>
              <a:spLocks noChangeArrowheads="1"/>
            </p:cNvSpPr>
            <p:nvPr/>
          </p:nvSpPr>
          <p:spPr bwMode="auto">
            <a:xfrm>
              <a:off x="4752" y="3072"/>
              <a:ext cx="226" cy="136"/>
            </a:xfrm>
            <a:prstGeom prst="rect">
              <a:avLst/>
            </a:prstGeom>
            <a:solidFill>
              <a:srgbClr val="FF00FF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1800">
                <a:latin typeface="+mn-ea"/>
                <a:ea typeface="+mn-ea"/>
              </a:endParaRPr>
            </a:p>
          </p:txBody>
        </p:sp>
      </p:grpSp>
      <p:grpSp>
        <p:nvGrpSpPr>
          <p:cNvPr id="290908" name="Group 1116"/>
          <p:cNvGrpSpPr>
            <a:grpSpLocks/>
          </p:cNvGrpSpPr>
          <p:nvPr/>
        </p:nvGrpSpPr>
        <p:grpSpPr bwMode="auto">
          <a:xfrm>
            <a:off x="5589587" y="1982788"/>
            <a:ext cx="3070225" cy="358775"/>
            <a:chOff x="3527" y="1202"/>
            <a:chExt cx="1934" cy="226"/>
          </a:xfrm>
        </p:grpSpPr>
        <p:sp>
          <p:nvSpPr>
            <p:cNvPr id="290909" name="Line 1117"/>
            <p:cNvSpPr>
              <a:spLocks noChangeShapeType="1"/>
            </p:cNvSpPr>
            <p:nvPr/>
          </p:nvSpPr>
          <p:spPr bwMode="auto">
            <a:xfrm>
              <a:off x="3783" y="1291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10" name="Line 1118"/>
            <p:cNvSpPr>
              <a:spLocks noChangeShapeType="1"/>
            </p:cNvSpPr>
            <p:nvPr/>
          </p:nvSpPr>
          <p:spPr bwMode="auto">
            <a:xfrm>
              <a:off x="4281" y="1427"/>
              <a:ext cx="1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11" name="Line 1119"/>
            <p:cNvSpPr>
              <a:spLocks noChangeShapeType="1"/>
            </p:cNvSpPr>
            <p:nvPr/>
          </p:nvSpPr>
          <p:spPr bwMode="auto">
            <a:xfrm>
              <a:off x="4282" y="129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912" name="Object 11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9949259"/>
                </p:ext>
              </p:extLst>
            </p:nvPr>
          </p:nvGraphicFramePr>
          <p:xfrm>
            <a:off x="3527" y="1202"/>
            <a:ext cx="174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26720" imgH="164880" progId="Equation.3">
                    <p:embed/>
                  </p:oleObj>
                </mc:Choice>
                <mc:Fallback>
                  <p:oleObj name="公式" r:id="rId12" imgW="126720" imgH="164880" progId="Equation.3">
                    <p:embed/>
                    <p:pic>
                      <p:nvPicPr>
                        <p:cNvPr id="290912" name="Object 11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7" y="1202"/>
                          <a:ext cx="174" cy="2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0913" name="Group 1121"/>
          <p:cNvGrpSpPr>
            <a:grpSpLocks/>
          </p:cNvGrpSpPr>
          <p:nvPr/>
        </p:nvGrpSpPr>
        <p:grpSpPr bwMode="auto">
          <a:xfrm>
            <a:off x="5589587" y="2276872"/>
            <a:ext cx="3082925" cy="468313"/>
            <a:chOff x="3818" y="1394"/>
            <a:chExt cx="1942" cy="295"/>
          </a:xfrm>
        </p:grpSpPr>
        <p:sp>
          <p:nvSpPr>
            <p:cNvPr id="290914" name="Line 1122"/>
            <p:cNvSpPr>
              <a:spLocks noChangeShapeType="1"/>
            </p:cNvSpPr>
            <p:nvPr/>
          </p:nvSpPr>
          <p:spPr bwMode="auto">
            <a:xfrm>
              <a:off x="4808" y="1488"/>
              <a:ext cx="9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15" name="Line 1123"/>
            <p:cNvSpPr>
              <a:spLocks noChangeShapeType="1"/>
            </p:cNvSpPr>
            <p:nvPr/>
          </p:nvSpPr>
          <p:spPr bwMode="auto">
            <a:xfrm>
              <a:off x="4800" y="149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16" name="Line 1124"/>
            <p:cNvSpPr>
              <a:spLocks noChangeShapeType="1"/>
            </p:cNvSpPr>
            <p:nvPr/>
          </p:nvSpPr>
          <p:spPr bwMode="auto">
            <a:xfrm flipH="1">
              <a:off x="4080" y="1632"/>
              <a:ext cx="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917" name="Object 11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426347"/>
                </p:ext>
              </p:extLst>
            </p:nvPr>
          </p:nvGraphicFramePr>
          <p:xfrm>
            <a:off x="3818" y="1394"/>
            <a:ext cx="174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26720" imgH="215640" progId="Equation.3">
                    <p:embed/>
                  </p:oleObj>
                </mc:Choice>
                <mc:Fallback>
                  <p:oleObj name="公式" r:id="rId14" imgW="126720" imgH="215640" progId="Equation.3">
                    <p:embed/>
                    <p:pic>
                      <p:nvPicPr>
                        <p:cNvPr id="290917" name="Object 11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8" y="1394"/>
                          <a:ext cx="174" cy="2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0918" name="Group 1126"/>
          <p:cNvGrpSpPr>
            <a:grpSpLocks/>
          </p:cNvGrpSpPr>
          <p:nvPr/>
        </p:nvGrpSpPr>
        <p:grpSpPr bwMode="auto">
          <a:xfrm>
            <a:off x="5559426" y="2708920"/>
            <a:ext cx="3127375" cy="385763"/>
            <a:chOff x="3502" y="1692"/>
            <a:chExt cx="1970" cy="243"/>
          </a:xfrm>
        </p:grpSpPr>
        <p:sp>
          <p:nvSpPr>
            <p:cNvPr id="290919" name="Line 1127"/>
            <p:cNvSpPr>
              <a:spLocks noChangeShapeType="1"/>
            </p:cNvSpPr>
            <p:nvPr/>
          </p:nvSpPr>
          <p:spPr bwMode="auto">
            <a:xfrm flipH="1">
              <a:off x="3800" y="1728"/>
              <a:ext cx="9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20" name="Line 1128"/>
            <p:cNvSpPr>
              <a:spLocks noChangeShapeType="1"/>
            </p:cNvSpPr>
            <p:nvPr/>
          </p:nvSpPr>
          <p:spPr bwMode="auto">
            <a:xfrm>
              <a:off x="4746" y="1872"/>
              <a:ext cx="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21" name="Line 1129"/>
            <p:cNvSpPr>
              <a:spLocks noChangeShapeType="1"/>
            </p:cNvSpPr>
            <p:nvPr/>
          </p:nvSpPr>
          <p:spPr bwMode="auto">
            <a:xfrm>
              <a:off x="4752" y="172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922" name="Object 11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810980"/>
                </p:ext>
              </p:extLst>
            </p:nvPr>
          </p:nvGraphicFramePr>
          <p:xfrm>
            <a:off x="3502" y="1692"/>
            <a:ext cx="226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64880" imgH="177480" progId="Equation.3">
                    <p:embed/>
                  </p:oleObj>
                </mc:Choice>
                <mc:Fallback>
                  <p:oleObj name="公式" r:id="rId16" imgW="164880" imgH="177480" progId="Equation.3">
                    <p:embed/>
                    <p:pic>
                      <p:nvPicPr>
                        <p:cNvPr id="290922" name="Object 11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2" y="1692"/>
                          <a:ext cx="226" cy="2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0923" name="Group 1131"/>
          <p:cNvGrpSpPr>
            <a:grpSpLocks/>
          </p:cNvGrpSpPr>
          <p:nvPr/>
        </p:nvGrpSpPr>
        <p:grpSpPr bwMode="auto">
          <a:xfrm>
            <a:off x="5486400" y="3141539"/>
            <a:ext cx="3168650" cy="358775"/>
            <a:chOff x="3465" y="192"/>
            <a:chExt cx="1996" cy="226"/>
          </a:xfrm>
        </p:grpSpPr>
        <p:sp>
          <p:nvSpPr>
            <p:cNvPr id="290924" name="Line 1132"/>
            <p:cNvSpPr>
              <a:spLocks noChangeShapeType="1"/>
            </p:cNvSpPr>
            <p:nvPr/>
          </p:nvSpPr>
          <p:spPr bwMode="auto">
            <a:xfrm flipH="1">
              <a:off x="3783" y="281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25" name="Line 1133"/>
            <p:cNvSpPr>
              <a:spLocks noChangeShapeType="1"/>
            </p:cNvSpPr>
            <p:nvPr/>
          </p:nvSpPr>
          <p:spPr bwMode="auto">
            <a:xfrm>
              <a:off x="4282" y="28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26" name="Line 1134"/>
            <p:cNvSpPr>
              <a:spLocks noChangeShapeType="1"/>
            </p:cNvSpPr>
            <p:nvPr/>
          </p:nvSpPr>
          <p:spPr bwMode="auto">
            <a:xfrm>
              <a:off x="4282" y="417"/>
              <a:ext cx="11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927" name="Object 11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7578349"/>
                </p:ext>
              </p:extLst>
            </p:nvPr>
          </p:nvGraphicFramePr>
          <p:xfrm>
            <a:off x="3465" y="192"/>
            <a:ext cx="20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52280" imgH="164880" progId="Equation.3">
                    <p:embed/>
                  </p:oleObj>
                </mc:Choice>
                <mc:Fallback>
                  <p:oleObj name="公式" r:id="rId18" imgW="152280" imgH="164880" progId="Equation.3">
                    <p:embed/>
                    <p:pic>
                      <p:nvPicPr>
                        <p:cNvPr id="290927" name="Object 11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5" y="192"/>
                          <a:ext cx="209" cy="2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0928" name="Group 1136"/>
          <p:cNvGrpSpPr>
            <a:grpSpLocks/>
          </p:cNvGrpSpPr>
          <p:nvPr/>
        </p:nvGrpSpPr>
        <p:grpSpPr bwMode="auto">
          <a:xfrm>
            <a:off x="5486400" y="3392735"/>
            <a:ext cx="3163888" cy="468313"/>
            <a:chOff x="3468" y="2120"/>
            <a:chExt cx="1993" cy="295"/>
          </a:xfrm>
        </p:grpSpPr>
        <p:sp>
          <p:nvSpPr>
            <p:cNvPr id="290929" name="Line 1137"/>
            <p:cNvSpPr>
              <a:spLocks noChangeShapeType="1"/>
            </p:cNvSpPr>
            <p:nvPr/>
          </p:nvSpPr>
          <p:spPr bwMode="auto">
            <a:xfrm>
              <a:off x="4509" y="2243"/>
              <a:ext cx="9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30" name="Line 1138"/>
            <p:cNvSpPr>
              <a:spLocks noChangeShapeType="1"/>
            </p:cNvSpPr>
            <p:nvPr/>
          </p:nvSpPr>
          <p:spPr bwMode="auto">
            <a:xfrm>
              <a:off x="4512" y="2243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31" name="Line 1139"/>
            <p:cNvSpPr>
              <a:spLocks noChangeShapeType="1"/>
            </p:cNvSpPr>
            <p:nvPr/>
          </p:nvSpPr>
          <p:spPr bwMode="auto">
            <a:xfrm flipH="1">
              <a:off x="3786" y="2379"/>
              <a:ext cx="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932" name="Object 11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9690212"/>
                </p:ext>
              </p:extLst>
            </p:nvPr>
          </p:nvGraphicFramePr>
          <p:xfrm>
            <a:off x="3468" y="2120"/>
            <a:ext cx="209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52280" imgH="215640" progId="Equation.3">
                    <p:embed/>
                  </p:oleObj>
                </mc:Choice>
                <mc:Fallback>
                  <p:oleObj name="公式" r:id="rId20" imgW="152280" imgH="215640" progId="Equation.3">
                    <p:embed/>
                    <p:pic>
                      <p:nvPicPr>
                        <p:cNvPr id="290932" name="Object 11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8" y="2120"/>
                          <a:ext cx="209" cy="2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0933" name="Group 1141"/>
          <p:cNvGrpSpPr>
            <a:grpSpLocks/>
          </p:cNvGrpSpPr>
          <p:nvPr/>
        </p:nvGrpSpPr>
        <p:grpSpPr bwMode="auto">
          <a:xfrm>
            <a:off x="5484813" y="3861048"/>
            <a:ext cx="3201987" cy="385763"/>
            <a:chOff x="3448" y="2418"/>
            <a:chExt cx="2017" cy="243"/>
          </a:xfrm>
        </p:grpSpPr>
        <p:sp>
          <p:nvSpPr>
            <p:cNvPr id="290934" name="Line 1142"/>
            <p:cNvSpPr>
              <a:spLocks noChangeShapeType="1"/>
            </p:cNvSpPr>
            <p:nvPr/>
          </p:nvSpPr>
          <p:spPr bwMode="auto">
            <a:xfrm>
              <a:off x="4739" y="244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35" name="Line 1143"/>
            <p:cNvSpPr>
              <a:spLocks noChangeShapeType="1"/>
            </p:cNvSpPr>
            <p:nvPr/>
          </p:nvSpPr>
          <p:spPr bwMode="auto">
            <a:xfrm>
              <a:off x="4739" y="2592"/>
              <a:ext cx="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36" name="Line 1144"/>
            <p:cNvSpPr>
              <a:spLocks noChangeShapeType="1"/>
            </p:cNvSpPr>
            <p:nvPr/>
          </p:nvSpPr>
          <p:spPr bwMode="auto">
            <a:xfrm flipH="1">
              <a:off x="3779" y="2448"/>
              <a:ext cx="9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937" name="Object 11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4249508"/>
                </p:ext>
              </p:extLst>
            </p:nvPr>
          </p:nvGraphicFramePr>
          <p:xfrm>
            <a:off x="3448" y="2418"/>
            <a:ext cx="244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77480" imgH="177480" progId="Equation.3">
                    <p:embed/>
                  </p:oleObj>
                </mc:Choice>
                <mc:Fallback>
                  <p:oleObj name="公式" r:id="rId22" imgW="177480" imgH="177480" progId="Equation.3">
                    <p:embed/>
                    <p:pic>
                      <p:nvPicPr>
                        <p:cNvPr id="290937" name="Object 11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8" y="2418"/>
                          <a:ext cx="244" cy="2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0938" name="Group 1146"/>
          <p:cNvGrpSpPr>
            <a:grpSpLocks/>
          </p:cNvGrpSpPr>
          <p:nvPr/>
        </p:nvGrpSpPr>
        <p:grpSpPr bwMode="auto">
          <a:xfrm>
            <a:off x="4643437" y="4259560"/>
            <a:ext cx="4043361" cy="609600"/>
            <a:chOff x="2914" y="2583"/>
            <a:chExt cx="2547" cy="384"/>
          </a:xfrm>
        </p:grpSpPr>
        <p:sp>
          <p:nvSpPr>
            <p:cNvPr id="290939" name="Line 1147"/>
            <p:cNvSpPr>
              <a:spLocks noChangeShapeType="1"/>
            </p:cNvSpPr>
            <p:nvPr/>
          </p:nvSpPr>
          <p:spPr bwMode="auto">
            <a:xfrm>
              <a:off x="4735" y="2742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40" name="Line 1148"/>
            <p:cNvSpPr>
              <a:spLocks noChangeShapeType="1"/>
            </p:cNvSpPr>
            <p:nvPr/>
          </p:nvSpPr>
          <p:spPr bwMode="auto">
            <a:xfrm flipH="1">
              <a:off x="3783" y="2742"/>
              <a:ext cx="9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41" name="Line 1149"/>
            <p:cNvSpPr>
              <a:spLocks noChangeShapeType="1"/>
            </p:cNvSpPr>
            <p:nvPr/>
          </p:nvSpPr>
          <p:spPr bwMode="auto">
            <a:xfrm>
              <a:off x="4962" y="2742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42" name="Line 1150"/>
            <p:cNvSpPr>
              <a:spLocks noChangeShapeType="1"/>
            </p:cNvSpPr>
            <p:nvPr/>
          </p:nvSpPr>
          <p:spPr bwMode="auto">
            <a:xfrm>
              <a:off x="4735" y="2878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43" name="Line 1151"/>
            <p:cNvSpPr>
              <a:spLocks noChangeShapeType="1"/>
            </p:cNvSpPr>
            <p:nvPr/>
          </p:nvSpPr>
          <p:spPr bwMode="auto">
            <a:xfrm>
              <a:off x="4962" y="2742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944" name="Object 11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7058125"/>
                </p:ext>
              </p:extLst>
            </p:nvPr>
          </p:nvGraphicFramePr>
          <p:xfrm>
            <a:off x="2914" y="2583"/>
            <a:ext cx="836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609480" imgH="279360" progId="Equation.3">
                    <p:embed/>
                  </p:oleObj>
                </mc:Choice>
                <mc:Fallback>
                  <p:oleObj name="公式" r:id="rId24" imgW="609480" imgH="279360" progId="Equation.3">
                    <p:embed/>
                    <p:pic>
                      <p:nvPicPr>
                        <p:cNvPr id="290944" name="Object 11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4" y="2583"/>
                          <a:ext cx="836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0945" name="Group 1153"/>
          <p:cNvGrpSpPr>
            <a:grpSpLocks/>
          </p:cNvGrpSpPr>
          <p:nvPr/>
        </p:nvGrpSpPr>
        <p:grpSpPr bwMode="auto">
          <a:xfrm>
            <a:off x="4645025" y="4743454"/>
            <a:ext cx="4041774" cy="606426"/>
            <a:chOff x="2915" y="2824"/>
            <a:chExt cx="2546" cy="382"/>
          </a:xfrm>
        </p:grpSpPr>
        <p:sp>
          <p:nvSpPr>
            <p:cNvPr id="290946" name="Line 1154"/>
            <p:cNvSpPr>
              <a:spLocks noChangeShapeType="1"/>
            </p:cNvSpPr>
            <p:nvPr/>
          </p:nvSpPr>
          <p:spPr bwMode="auto">
            <a:xfrm>
              <a:off x="4735" y="3015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47" name="Line 1155"/>
            <p:cNvSpPr>
              <a:spLocks noChangeShapeType="1"/>
            </p:cNvSpPr>
            <p:nvPr/>
          </p:nvSpPr>
          <p:spPr bwMode="auto">
            <a:xfrm flipH="1">
              <a:off x="3779" y="3024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48" name="Line 1156"/>
            <p:cNvSpPr>
              <a:spLocks noChangeShapeType="1"/>
            </p:cNvSpPr>
            <p:nvPr/>
          </p:nvSpPr>
          <p:spPr bwMode="auto">
            <a:xfrm>
              <a:off x="4962" y="3015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49" name="Line 1157"/>
            <p:cNvSpPr>
              <a:spLocks noChangeShapeType="1"/>
            </p:cNvSpPr>
            <p:nvPr/>
          </p:nvSpPr>
          <p:spPr bwMode="auto">
            <a:xfrm>
              <a:off x="4735" y="3151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50" name="Line 1158"/>
            <p:cNvSpPr>
              <a:spLocks noChangeShapeType="1"/>
            </p:cNvSpPr>
            <p:nvPr/>
          </p:nvSpPr>
          <p:spPr bwMode="auto">
            <a:xfrm>
              <a:off x="4962" y="3015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951" name="Object 11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9083130"/>
                </p:ext>
              </p:extLst>
            </p:nvPr>
          </p:nvGraphicFramePr>
          <p:xfrm>
            <a:off x="2915" y="2824"/>
            <a:ext cx="907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60240" imgH="279360" progId="Equation.3">
                    <p:embed/>
                  </p:oleObj>
                </mc:Choice>
                <mc:Fallback>
                  <p:oleObj name="Equation" r:id="rId26" imgW="660240" imgH="279360" progId="Equation.3">
                    <p:embed/>
                    <p:pic>
                      <p:nvPicPr>
                        <p:cNvPr id="290951" name="Object 11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5" y="2824"/>
                          <a:ext cx="907" cy="3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0952" name="Group 1160"/>
          <p:cNvGrpSpPr>
            <a:grpSpLocks/>
          </p:cNvGrpSpPr>
          <p:nvPr/>
        </p:nvGrpSpPr>
        <p:grpSpPr bwMode="auto">
          <a:xfrm>
            <a:off x="7543800" y="5453067"/>
            <a:ext cx="358775" cy="639763"/>
            <a:chOff x="4752" y="3312"/>
            <a:chExt cx="226" cy="403"/>
          </a:xfrm>
        </p:grpSpPr>
        <p:sp>
          <p:nvSpPr>
            <p:cNvPr id="290953" name="Rectangle 1161"/>
            <p:cNvSpPr>
              <a:spLocks noChangeArrowheads="1"/>
            </p:cNvSpPr>
            <p:nvPr/>
          </p:nvSpPr>
          <p:spPr bwMode="auto">
            <a:xfrm>
              <a:off x="4752" y="3312"/>
              <a:ext cx="226" cy="136"/>
            </a:xfrm>
            <a:prstGeom prst="rect">
              <a:avLst/>
            </a:prstGeom>
            <a:solidFill>
              <a:srgbClr val="00FF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1800">
                <a:latin typeface="+mn-ea"/>
                <a:ea typeface="+mn-ea"/>
              </a:endParaRPr>
            </a:p>
          </p:txBody>
        </p:sp>
        <p:sp>
          <p:nvSpPr>
            <p:cNvPr id="290954" name="Rectangle 1162"/>
            <p:cNvSpPr>
              <a:spLocks noChangeArrowheads="1"/>
            </p:cNvSpPr>
            <p:nvPr/>
          </p:nvSpPr>
          <p:spPr bwMode="auto">
            <a:xfrm>
              <a:off x="4752" y="3579"/>
              <a:ext cx="226" cy="136"/>
            </a:xfrm>
            <a:prstGeom prst="rect">
              <a:avLst/>
            </a:prstGeom>
            <a:solidFill>
              <a:srgbClr val="00FF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1800">
                <a:latin typeface="+mn-ea"/>
                <a:ea typeface="+mn-ea"/>
              </a:endParaRPr>
            </a:p>
          </p:txBody>
        </p:sp>
      </p:grpSp>
      <p:grpSp>
        <p:nvGrpSpPr>
          <p:cNvPr id="290955" name="Group 1163"/>
          <p:cNvGrpSpPr>
            <a:grpSpLocks/>
          </p:cNvGrpSpPr>
          <p:nvPr/>
        </p:nvGrpSpPr>
        <p:grpSpPr bwMode="auto">
          <a:xfrm>
            <a:off x="4627563" y="5259388"/>
            <a:ext cx="4041776" cy="552450"/>
            <a:chOff x="2915" y="3168"/>
            <a:chExt cx="2546" cy="348"/>
          </a:xfrm>
        </p:grpSpPr>
        <p:sp>
          <p:nvSpPr>
            <p:cNvPr id="290956" name="Line 1164"/>
            <p:cNvSpPr>
              <a:spLocks noChangeShapeType="1"/>
            </p:cNvSpPr>
            <p:nvPr/>
          </p:nvSpPr>
          <p:spPr bwMode="auto">
            <a:xfrm>
              <a:off x="4962" y="3287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57" name="Line 1165"/>
            <p:cNvSpPr>
              <a:spLocks noChangeShapeType="1"/>
            </p:cNvSpPr>
            <p:nvPr/>
          </p:nvSpPr>
          <p:spPr bwMode="auto">
            <a:xfrm>
              <a:off x="4962" y="3287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58" name="Line 1166"/>
            <p:cNvSpPr>
              <a:spLocks noChangeShapeType="1"/>
            </p:cNvSpPr>
            <p:nvPr/>
          </p:nvSpPr>
          <p:spPr bwMode="auto">
            <a:xfrm flipH="1">
              <a:off x="3783" y="3423"/>
              <a:ext cx="11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959" name="Object 11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9134498"/>
                </p:ext>
              </p:extLst>
            </p:nvPr>
          </p:nvGraphicFramePr>
          <p:xfrm>
            <a:off x="2915" y="3168"/>
            <a:ext cx="958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698400" imgH="253800" progId="Equation.3">
                    <p:embed/>
                  </p:oleObj>
                </mc:Choice>
                <mc:Fallback>
                  <p:oleObj name="公式" r:id="rId28" imgW="698400" imgH="253800" progId="Equation.3">
                    <p:embed/>
                    <p:pic>
                      <p:nvPicPr>
                        <p:cNvPr id="290959" name="Object 11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5" y="3168"/>
                          <a:ext cx="958" cy="3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26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9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90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90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9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9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29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29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90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290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290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9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290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9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290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29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90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97" grpId="0" animBg="1"/>
      <p:bldP spid="290898" grpId="0" animBg="1"/>
      <p:bldP spid="29089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12" name="Rectangle 1096"/>
          <p:cNvSpPr>
            <a:spLocks noGrp="1" noChangeArrowheads="1"/>
          </p:cNvSpPr>
          <p:nvPr>
            <p:ph type="title"/>
          </p:nvPr>
        </p:nvSpPr>
        <p:spPr>
          <a:xfrm>
            <a:off x="428596" y="357166"/>
            <a:ext cx="8382000" cy="1357322"/>
          </a:xfrm>
          <a:noFill/>
          <a:ln/>
        </p:spPr>
        <p:txBody>
          <a:bodyPr>
            <a:normAutofit/>
          </a:bodyPr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24</a:t>
            </a:r>
            <a:r>
              <a:rPr lang="zh-CN" altLang="en-US" sz="3600" dirty="0"/>
              <a:t>）</a:t>
            </a:r>
          </a:p>
        </p:txBody>
      </p:sp>
      <p:sp>
        <p:nvSpPr>
          <p:cNvPr id="7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34F71-3CB4-4FEC-BE30-F53CD56066DF}" type="slidenum">
              <a:rPr lang="en-US" altLang="zh-CN">
                <a:latin typeface="+mn-ea"/>
                <a:ea typeface="+mn-ea"/>
              </a:rPr>
              <a:pPr/>
              <a:t>28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91842" name="Rectangle 1026"/>
          <p:cNvSpPr>
            <a:spLocks noChangeArrowheads="1"/>
          </p:cNvSpPr>
          <p:nvPr/>
        </p:nvSpPr>
        <p:spPr bwMode="auto">
          <a:xfrm>
            <a:off x="251520" y="2180699"/>
            <a:ext cx="426402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若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A B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同時到來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(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無偏移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Skew)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。從功能表上分析，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A B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從“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11”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變到“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00”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時，輸出應從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Y</a:t>
            </a:r>
            <a:r>
              <a:rPr lang="en-US" altLang="zh-CN" sz="2400" b="1" baseline="-25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3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=0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變成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Y</a:t>
            </a:r>
            <a:r>
              <a:rPr lang="en-US" altLang="zh-CN" sz="2400" b="1" baseline="-25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0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=0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，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Y</a:t>
            </a:r>
            <a:r>
              <a:rPr lang="en-US" altLang="zh-CN" sz="2400" b="1" baseline="-25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Y</a:t>
            </a:r>
            <a:r>
              <a:rPr lang="en-US" altLang="zh-CN" sz="2400" b="1" baseline="-25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2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保持為“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1” 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。</a:t>
            </a:r>
          </a:p>
          <a:p>
            <a:endParaRPr lang="zh-CN" altLang="en-US" sz="2400" b="1" dirty="0">
              <a:latin typeface="Noto Serif SC" panose="02020200000000000000" pitchFamily="18" charset="-122"/>
              <a:ea typeface="Noto Serif SC" panose="02020200000000000000" pitchFamily="18" charset="-122"/>
            </a:endParaRPr>
          </a:p>
          <a:p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但是，由於門的傳輸延遲，造成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Y</a:t>
            </a:r>
            <a:r>
              <a:rPr lang="en-US" altLang="zh-CN" sz="2400" b="1" baseline="-25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 </a:t>
            </a:r>
            <a:r>
              <a:rPr lang="en-US" altLang="zh-CN" sz="18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, 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Y</a:t>
            </a:r>
            <a:r>
              <a:rPr lang="en-US" altLang="zh-CN" sz="2400" b="1" baseline="-25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2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上出現了</a:t>
            </a:r>
            <a:r>
              <a:rPr lang="zh-CN" altLang="en-US" sz="2400" b="1" dirty="0">
                <a:solidFill>
                  <a:srgbClr val="CC00FF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尖峰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，同時， 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Y</a:t>
            </a:r>
            <a:r>
              <a:rPr lang="en-US" altLang="zh-CN" sz="2400" b="1" baseline="-25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3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,Y</a:t>
            </a:r>
            <a:r>
              <a:rPr lang="en-US" altLang="zh-CN" sz="2400" b="1" baseline="-25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0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有一段時間同時為“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0”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，即</a:t>
            </a:r>
            <a:r>
              <a:rPr lang="zh-CN" altLang="en-US" sz="2400" b="1" dirty="0">
                <a:solidFill>
                  <a:srgbClr val="CC00FF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零重疊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。</a:t>
            </a:r>
          </a:p>
        </p:txBody>
      </p:sp>
      <p:grpSp>
        <p:nvGrpSpPr>
          <p:cNvPr id="291843" name="Group 1027"/>
          <p:cNvGrpSpPr>
            <a:grpSpLocks/>
          </p:cNvGrpSpPr>
          <p:nvPr/>
        </p:nvGrpSpPr>
        <p:grpSpPr bwMode="auto">
          <a:xfrm>
            <a:off x="4491042" y="1795463"/>
            <a:ext cx="4043367" cy="4572000"/>
            <a:chOff x="2829" y="1131"/>
            <a:chExt cx="2547" cy="2880"/>
          </a:xfrm>
        </p:grpSpPr>
        <p:grpSp>
          <p:nvGrpSpPr>
            <p:cNvPr id="291844" name="Group 1028"/>
            <p:cNvGrpSpPr>
              <a:grpSpLocks/>
            </p:cNvGrpSpPr>
            <p:nvPr/>
          </p:nvGrpSpPr>
          <p:grpSpPr bwMode="auto">
            <a:xfrm>
              <a:off x="2829" y="3591"/>
              <a:ext cx="2547" cy="383"/>
              <a:chOff x="2914" y="3446"/>
              <a:chExt cx="2547" cy="383"/>
            </a:xfrm>
          </p:grpSpPr>
          <p:sp>
            <p:nvSpPr>
              <p:cNvPr id="291845" name="Line 1029"/>
              <p:cNvSpPr>
                <a:spLocks noChangeShapeType="1"/>
              </p:cNvSpPr>
              <p:nvPr/>
            </p:nvSpPr>
            <p:spPr bwMode="auto">
              <a:xfrm>
                <a:off x="3783" y="3558"/>
                <a:ext cx="9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46" name="Line 1030"/>
              <p:cNvSpPr>
                <a:spLocks noChangeShapeType="1"/>
              </p:cNvSpPr>
              <p:nvPr/>
            </p:nvSpPr>
            <p:spPr bwMode="auto">
              <a:xfrm>
                <a:off x="4735" y="3558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47" name="Line 1031"/>
              <p:cNvSpPr>
                <a:spLocks noChangeShapeType="1"/>
              </p:cNvSpPr>
              <p:nvPr/>
            </p:nvSpPr>
            <p:spPr bwMode="auto">
              <a:xfrm>
                <a:off x="4735" y="3694"/>
                <a:ext cx="7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91848" name="Object 10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9556224"/>
                  </p:ext>
                </p:extLst>
              </p:nvPr>
            </p:nvGraphicFramePr>
            <p:xfrm>
              <a:off x="2914" y="3446"/>
              <a:ext cx="818" cy="3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" imgW="596880" imgH="279360" progId="Equation.3">
                      <p:embed/>
                    </p:oleObj>
                  </mc:Choice>
                  <mc:Fallback>
                    <p:oleObj name="公式" r:id="rId3" imgW="596880" imgH="279360" progId="Equation.3">
                      <p:embed/>
                      <p:pic>
                        <p:nvPicPr>
                          <p:cNvPr id="291848" name="Object 10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4" y="3446"/>
                            <a:ext cx="818" cy="38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91849" name="Line 1033"/>
            <p:cNvSpPr>
              <a:spLocks noChangeShapeType="1"/>
            </p:cNvSpPr>
            <p:nvPr/>
          </p:nvSpPr>
          <p:spPr bwMode="auto">
            <a:xfrm>
              <a:off x="4185" y="1131"/>
              <a:ext cx="0" cy="285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1850" name="Line 1034"/>
            <p:cNvSpPr>
              <a:spLocks noChangeShapeType="1"/>
            </p:cNvSpPr>
            <p:nvPr/>
          </p:nvSpPr>
          <p:spPr bwMode="auto">
            <a:xfrm>
              <a:off x="4416" y="1131"/>
              <a:ext cx="0" cy="285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1851" name="Line 1035"/>
            <p:cNvSpPr>
              <a:spLocks noChangeShapeType="1"/>
            </p:cNvSpPr>
            <p:nvPr/>
          </p:nvSpPr>
          <p:spPr bwMode="auto">
            <a:xfrm>
              <a:off x="4656" y="1153"/>
              <a:ext cx="0" cy="285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1852" name="Group 1036"/>
            <p:cNvGrpSpPr>
              <a:grpSpLocks/>
            </p:cNvGrpSpPr>
            <p:nvPr/>
          </p:nvGrpSpPr>
          <p:grpSpPr bwMode="auto">
            <a:xfrm>
              <a:off x="4416" y="1803"/>
              <a:ext cx="466" cy="1240"/>
              <a:chOff x="4512" y="1680"/>
              <a:chExt cx="466" cy="1240"/>
            </a:xfrm>
          </p:grpSpPr>
          <p:sp>
            <p:nvSpPr>
              <p:cNvPr id="291853" name="Rectangle 1037"/>
              <p:cNvSpPr>
                <a:spLocks noChangeArrowheads="1"/>
              </p:cNvSpPr>
              <p:nvPr/>
            </p:nvSpPr>
            <p:spPr bwMode="auto">
              <a:xfrm>
                <a:off x="4512" y="1680"/>
                <a:ext cx="226" cy="136"/>
              </a:xfrm>
              <a:prstGeom prst="rect">
                <a:avLst/>
              </a:prstGeom>
              <a:solidFill>
                <a:srgbClr val="FF0000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54" name="Rectangle 1038"/>
              <p:cNvSpPr>
                <a:spLocks noChangeArrowheads="1"/>
              </p:cNvSpPr>
              <p:nvPr/>
            </p:nvSpPr>
            <p:spPr bwMode="auto">
              <a:xfrm>
                <a:off x="4512" y="2448"/>
                <a:ext cx="226" cy="136"/>
              </a:xfrm>
              <a:prstGeom prst="rect">
                <a:avLst/>
              </a:prstGeom>
              <a:solidFill>
                <a:srgbClr val="FF0000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55" name="Rectangle 1039"/>
              <p:cNvSpPr>
                <a:spLocks noChangeArrowheads="1"/>
              </p:cNvSpPr>
              <p:nvPr/>
            </p:nvSpPr>
            <p:spPr bwMode="auto">
              <a:xfrm>
                <a:off x="4752" y="2784"/>
                <a:ext cx="226" cy="136"/>
              </a:xfrm>
              <a:prstGeom prst="rect">
                <a:avLst/>
              </a:prstGeom>
              <a:solidFill>
                <a:srgbClr val="FF0000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91856" name="Group 1040"/>
            <p:cNvGrpSpPr>
              <a:grpSpLocks/>
            </p:cNvGrpSpPr>
            <p:nvPr/>
          </p:nvGrpSpPr>
          <p:grpSpPr bwMode="auto">
            <a:xfrm>
              <a:off x="4416" y="2043"/>
              <a:ext cx="466" cy="1288"/>
              <a:chOff x="4512" y="1920"/>
              <a:chExt cx="466" cy="1288"/>
            </a:xfrm>
          </p:grpSpPr>
          <p:sp>
            <p:nvSpPr>
              <p:cNvPr id="291857" name="Rectangle 1041"/>
              <p:cNvSpPr>
                <a:spLocks noChangeArrowheads="1"/>
              </p:cNvSpPr>
              <p:nvPr/>
            </p:nvSpPr>
            <p:spPr bwMode="auto">
              <a:xfrm>
                <a:off x="4512" y="1920"/>
                <a:ext cx="226" cy="136"/>
              </a:xfrm>
              <a:prstGeom prst="rect">
                <a:avLst/>
              </a:prstGeom>
              <a:solidFill>
                <a:srgbClr val="FF00FF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1800">
                  <a:latin typeface="+mn-ea"/>
                  <a:ea typeface="+mn-ea"/>
                </a:endParaRPr>
              </a:p>
            </p:txBody>
          </p:sp>
          <p:sp>
            <p:nvSpPr>
              <p:cNvPr id="291858" name="Rectangle 1042"/>
              <p:cNvSpPr>
                <a:spLocks noChangeArrowheads="1"/>
              </p:cNvSpPr>
              <p:nvPr/>
            </p:nvSpPr>
            <p:spPr bwMode="auto">
              <a:xfrm>
                <a:off x="4512" y="2160"/>
                <a:ext cx="226" cy="136"/>
              </a:xfrm>
              <a:prstGeom prst="rect">
                <a:avLst/>
              </a:prstGeom>
              <a:solidFill>
                <a:srgbClr val="FF00FF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1800">
                  <a:latin typeface="+mn-ea"/>
                  <a:ea typeface="+mn-ea"/>
                </a:endParaRPr>
              </a:p>
            </p:txBody>
          </p:sp>
          <p:sp>
            <p:nvSpPr>
              <p:cNvPr id="291859" name="Rectangle 1043"/>
              <p:cNvSpPr>
                <a:spLocks noChangeArrowheads="1"/>
              </p:cNvSpPr>
              <p:nvPr/>
            </p:nvSpPr>
            <p:spPr bwMode="auto">
              <a:xfrm>
                <a:off x="4752" y="3072"/>
                <a:ext cx="226" cy="136"/>
              </a:xfrm>
              <a:prstGeom prst="rect">
                <a:avLst/>
              </a:prstGeom>
              <a:solidFill>
                <a:srgbClr val="FF00FF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1800">
                  <a:latin typeface="+mn-ea"/>
                  <a:ea typeface="+mn-ea"/>
                </a:endParaRPr>
              </a:p>
            </p:txBody>
          </p:sp>
        </p:grpSp>
        <p:grpSp>
          <p:nvGrpSpPr>
            <p:cNvPr id="291860" name="Group 1044"/>
            <p:cNvGrpSpPr>
              <a:grpSpLocks/>
            </p:cNvGrpSpPr>
            <p:nvPr/>
          </p:nvGrpSpPr>
          <p:grpSpPr bwMode="auto">
            <a:xfrm>
              <a:off x="3425" y="1249"/>
              <a:ext cx="1934" cy="226"/>
              <a:chOff x="3527" y="1202"/>
              <a:chExt cx="1934" cy="226"/>
            </a:xfrm>
          </p:grpSpPr>
          <p:sp>
            <p:nvSpPr>
              <p:cNvPr id="291861" name="Line 1045"/>
              <p:cNvSpPr>
                <a:spLocks noChangeShapeType="1"/>
              </p:cNvSpPr>
              <p:nvPr/>
            </p:nvSpPr>
            <p:spPr bwMode="auto">
              <a:xfrm>
                <a:off x="3783" y="1291"/>
                <a:ext cx="49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62" name="Line 1046"/>
              <p:cNvSpPr>
                <a:spLocks noChangeShapeType="1"/>
              </p:cNvSpPr>
              <p:nvPr/>
            </p:nvSpPr>
            <p:spPr bwMode="auto">
              <a:xfrm>
                <a:off x="4281" y="1427"/>
                <a:ext cx="11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63" name="Line 1047"/>
              <p:cNvSpPr>
                <a:spLocks noChangeShapeType="1"/>
              </p:cNvSpPr>
              <p:nvPr/>
            </p:nvSpPr>
            <p:spPr bwMode="auto">
              <a:xfrm>
                <a:off x="4282" y="1291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91864" name="Object 104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74888781"/>
                  </p:ext>
                </p:extLst>
              </p:nvPr>
            </p:nvGraphicFramePr>
            <p:xfrm>
              <a:off x="3527" y="1202"/>
              <a:ext cx="174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126720" imgH="164880" progId="Equation.3">
                      <p:embed/>
                    </p:oleObj>
                  </mc:Choice>
                  <mc:Fallback>
                    <p:oleObj name="公式" r:id="rId5" imgW="126720" imgH="164880" progId="Equation.3">
                      <p:embed/>
                      <p:pic>
                        <p:nvPicPr>
                          <p:cNvPr id="291864" name="Object 104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27" y="1202"/>
                            <a:ext cx="174" cy="22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1865" name="Group 1049"/>
            <p:cNvGrpSpPr>
              <a:grpSpLocks/>
            </p:cNvGrpSpPr>
            <p:nvPr/>
          </p:nvGrpSpPr>
          <p:grpSpPr bwMode="auto">
            <a:xfrm>
              <a:off x="3424" y="1721"/>
              <a:ext cx="1943" cy="295"/>
              <a:chOff x="3817" y="1394"/>
              <a:chExt cx="1943" cy="295"/>
            </a:xfrm>
          </p:grpSpPr>
          <p:sp>
            <p:nvSpPr>
              <p:cNvPr id="291866" name="Line 1050"/>
              <p:cNvSpPr>
                <a:spLocks noChangeShapeType="1"/>
              </p:cNvSpPr>
              <p:nvPr/>
            </p:nvSpPr>
            <p:spPr bwMode="auto">
              <a:xfrm>
                <a:off x="4808" y="1488"/>
                <a:ext cx="9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67" name="Line 1051"/>
              <p:cNvSpPr>
                <a:spLocks noChangeShapeType="1"/>
              </p:cNvSpPr>
              <p:nvPr/>
            </p:nvSpPr>
            <p:spPr bwMode="auto">
              <a:xfrm>
                <a:off x="4800" y="149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68" name="Line 1052"/>
              <p:cNvSpPr>
                <a:spLocks noChangeShapeType="1"/>
              </p:cNvSpPr>
              <p:nvPr/>
            </p:nvSpPr>
            <p:spPr bwMode="auto">
              <a:xfrm flipH="1">
                <a:off x="4080" y="1632"/>
                <a:ext cx="7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91869" name="Object 105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38147548"/>
                  </p:ext>
                </p:extLst>
              </p:nvPr>
            </p:nvGraphicFramePr>
            <p:xfrm>
              <a:off x="3817" y="1394"/>
              <a:ext cx="174" cy="2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7" imgW="126720" imgH="215640" progId="Equation.3">
                      <p:embed/>
                    </p:oleObj>
                  </mc:Choice>
                  <mc:Fallback>
                    <p:oleObj name="公式" r:id="rId7" imgW="126720" imgH="215640" progId="Equation.3">
                      <p:embed/>
                      <p:pic>
                        <p:nvPicPr>
                          <p:cNvPr id="291869" name="Object 10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17" y="1394"/>
                            <a:ext cx="174" cy="29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1870" name="Group 1054"/>
            <p:cNvGrpSpPr>
              <a:grpSpLocks/>
            </p:cNvGrpSpPr>
            <p:nvPr/>
          </p:nvGrpSpPr>
          <p:grpSpPr bwMode="auto">
            <a:xfrm>
              <a:off x="3405" y="1981"/>
              <a:ext cx="1971" cy="243"/>
              <a:chOff x="3501" y="1692"/>
              <a:chExt cx="1971" cy="243"/>
            </a:xfrm>
          </p:grpSpPr>
          <p:sp>
            <p:nvSpPr>
              <p:cNvPr id="291871" name="Line 1055"/>
              <p:cNvSpPr>
                <a:spLocks noChangeShapeType="1"/>
              </p:cNvSpPr>
              <p:nvPr/>
            </p:nvSpPr>
            <p:spPr bwMode="auto">
              <a:xfrm flipH="1">
                <a:off x="3800" y="1728"/>
                <a:ext cx="9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72" name="Line 1056"/>
              <p:cNvSpPr>
                <a:spLocks noChangeShapeType="1"/>
              </p:cNvSpPr>
              <p:nvPr/>
            </p:nvSpPr>
            <p:spPr bwMode="auto">
              <a:xfrm>
                <a:off x="4746" y="1872"/>
                <a:ext cx="7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73" name="Line 1057"/>
              <p:cNvSpPr>
                <a:spLocks noChangeShapeType="1"/>
              </p:cNvSpPr>
              <p:nvPr/>
            </p:nvSpPr>
            <p:spPr bwMode="auto">
              <a:xfrm>
                <a:off x="4752" y="1728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91874" name="Object 105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25248055"/>
                  </p:ext>
                </p:extLst>
              </p:nvPr>
            </p:nvGraphicFramePr>
            <p:xfrm>
              <a:off x="3501" y="1692"/>
              <a:ext cx="227" cy="2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9" imgW="164880" imgH="177480" progId="Equation.3">
                      <p:embed/>
                    </p:oleObj>
                  </mc:Choice>
                  <mc:Fallback>
                    <p:oleObj name="公式" r:id="rId9" imgW="164880" imgH="177480" progId="Equation.3">
                      <p:embed/>
                      <p:pic>
                        <p:nvPicPr>
                          <p:cNvPr id="291874" name="Object 10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1" y="1692"/>
                            <a:ext cx="227" cy="24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1875" name="Group 1059"/>
            <p:cNvGrpSpPr>
              <a:grpSpLocks/>
            </p:cNvGrpSpPr>
            <p:nvPr/>
          </p:nvGrpSpPr>
          <p:grpSpPr bwMode="auto">
            <a:xfrm>
              <a:off x="3678" y="1581"/>
              <a:ext cx="1678" cy="136"/>
              <a:chOff x="3783" y="1971"/>
              <a:chExt cx="1678" cy="136"/>
            </a:xfrm>
          </p:grpSpPr>
          <p:sp>
            <p:nvSpPr>
              <p:cNvPr id="291876" name="Line 1060"/>
              <p:cNvSpPr>
                <a:spLocks noChangeShapeType="1"/>
              </p:cNvSpPr>
              <p:nvPr/>
            </p:nvSpPr>
            <p:spPr bwMode="auto">
              <a:xfrm flipH="1">
                <a:off x="3783" y="1971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77" name="Line 1061"/>
              <p:cNvSpPr>
                <a:spLocks noChangeShapeType="1"/>
              </p:cNvSpPr>
              <p:nvPr/>
            </p:nvSpPr>
            <p:spPr bwMode="auto">
              <a:xfrm>
                <a:off x="4282" y="1971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78" name="Line 1062"/>
              <p:cNvSpPr>
                <a:spLocks noChangeShapeType="1"/>
              </p:cNvSpPr>
              <p:nvPr/>
            </p:nvSpPr>
            <p:spPr bwMode="auto">
              <a:xfrm>
                <a:off x="4282" y="2107"/>
                <a:ext cx="11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91880" name="Group 1064"/>
            <p:cNvGrpSpPr>
              <a:grpSpLocks/>
            </p:cNvGrpSpPr>
            <p:nvPr/>
          </p:nvGrpSpPr>
          <p:grpSpPr bwMode="auto">
            <a:xfrm>
              <a:off x="3424" y="2183"/>
              <a:ext cx="1929" cy="295"/>
              <a:chOff x="3532" y="2140"/>
              <a:chExt cx="1929" cy="295"/>
            </a:xfrm>
          </p:grpSpPr>
          <p:sp>
            <p:nvSpPr>
              <p:cNvPr id="291881" name="Line 1065"/>
              <p:cNvSpPr>
                <a:spLocks noChangeShapeType="1"/>
              </p:cNvSpPr>
              <p:nvPr/>
            </p:nvSpPr>
            <p:spPr bwMode="auto">
              <a:xfrm>
                <a:off x="4509" y="2243"/>
                <a:ext cx="9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82" name="Line 1066"/>
              <p:cNvSpPr>
                <a:spLocks noChangeShapeType="1"/>
              </p:cNvSpPr>
              <p:nvPr/>
            </p:nvSpPr>
            <p:spPr bwMode="auto">
              <a:xfrm>
                <a:off x="4512" y="224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83" name="Line 1067"/>
              <p:cNvSpPr>
                <a:spLocks noChangeShapeType="1"/>
              </p:cNvSpPr>
              <p:nvPr/>
            </p:nvSpPr>
            <p:spPr bwMode="auto">
              <a:xfrm flipH="1">
                <a:off x="3786" y="2379"/>
                <a:ext cx="7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91884" name="Object 106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35706540"/>
                  </p:ext>
                </p:extLst>
              </p:nvPr>
            </p:nvGraphicFramePr>
            <p:xfrm>
              <a:off x="3532" y="2140"/>
              <a:ext cx="209" cy="2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1" imgW="152280" imgH="215640" progId="Equation.3">
                      <p:embed/>
                    </p:oleObj>
                  </mc:Choice>
                  <mc:Fallback>
                    <p:oleObj name="公式" r:id="rId11" imgW="152280" imgH="215640" progId="Equation.3">
                      <p:embed/>
                      <p:pic>
                        <p:nvPicPr>
                          <p:cNvPr id="291884" name="Object 106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32" y="2140"/>
                            <a:ext cx="209" cy="29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1885" name="Group 1069"/>
            <p:cNvGrpSpPr>
              <a:grpSpLocks/>
            </p:cNvGrpSpPr>
            <p:nvPr/>
          </p:nvGrpSpPr>
          <p:grpSpPr bwMode="auto">
            <a:xfrm>
              <a:off x="3407" y="2461"/>
              <a:ext cx="1969" cy="250"/>
              <a:chOff x="3496" y="2342"/>
              <a:chExt cx="1969" cy="250"/>
            </a:xfrm>
          </p:grpSpPr>
          <p:sp>
            <p:nvSpPr>
              <p:cNvPr id="291886" name="Line 1070"/>
              <p:cNvSpPr>
                <a:spLocks noChangeShapeType="1"/>
              </p:cNvSpPr>
              <p:nvPr/>
            </p:nvSpPr>
            <p:spPr bwMode="auto">
              <a:xfrm>
                <a:off x="4739" y="2448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87" name="Line 1071"/>
              <p:cNvSpPr>
                <a:spLocks noChangeShapeType="1"/>
              </p:cNvSpPr>
              <p:nvPr/>
            </p:nvSpPr>
            <p:spPr bwMode="auto">
              <a:xfrm>
                <a:off x="4739" y="2592"/>
                <a:ext cx="7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88" name="Line 1072"/>
              <p:cNvSpPr>
                <a:spLocks noChangeShapeType="1"/>
              </p:cNvSpPr>
              <p:nvPr/>
            </p:nvSpPr>
            <p:spPr bwMode="auto">
              <a:xfrm flipH="1">
                <a:off x="3779" y="2448"/>
                <a:ext cx="9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91889" name="Object 107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53608989"/>
                  </p:ext>
                </p:extLst>
              </p:nvPr>
            </p:nvGraphicFramePr>
            <p:xfrm>
              <a:off x="3496" y="2342"/>
              <a:ext cx="244" cy="2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3" imgW="177480" imgH="177480" progId="Equation.3">
                      <p:embed/>
                    </p:oleObj>
                  </mc:Choice>
                  <mc:Fallback>
                    <p:oleObj name="公式" r:id="rId13" imgW="177480" imgH="177480" progId="Equation.3">
                      <p:embed/>
                      <p:pic>
                        <p:nvPicPr>
                          <p:cNvPr id="291889" name="Object 107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96" y="2342"/>
                            <a:ext cx="244" cy="24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1890" name="Group 1074"/>
            <p:cNvGrpSpPr>
              <a:grpSpLocks/>
            </p:cNvGrpSpPr>
            <p:nvPr/>
          </p:nvGrpSpPr>
          <p:grpSpPr bwMode="auto">
            <a:xfrm>
              <a:off x="2853" y="2728"/>
              <a:ext cx="2523" cy="384"/>
              <a:chOff x="2938" y="2583"/>
              <a:chExt cx="2523" cy="384"/>
            </a:xfrm>
          </p:grpSpPr>
          <p:sp>
            <p:nvSpPr>
              <p:cNvPr id="291891" name="Line 1075"/>
              <p:cNvSpPr>
                <a:spLocks noChangeShapeType="1"/>
              </p:cNvSpPr>
              <p:nvPr/>
            </p:nvSpPr>
            <p:spPr bwMode="auto">
              <a:xfrm>
                <a:off x="4735" y="2742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92" name="Line 1076"/>
              <p:cNvSpPr>
                <a:spLocks noChangeShapeType="1"/>
              </p:cNvSpPr>
              <p:nvPr/>
            </p:nvSpPr>
            <p:spPr bwMode="auto">
              <a:xfrm flipH="1">
                <a:off x="3783" y="2742"/>
                <a:ext cx="9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93" name="Line 1077"/>
              <p:cNvSpPr>
                <a:spLocks noChangeShapeType="1"/>
              </p:cNvSpPr>
              <p:nvPr/>
            </p:nvSpPr>
            <p:spPr bwMode="auto">
              <a:xfrm>
                <a:off x="4962" y="2742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94" name="Line 1078"/>
              <p:cNvSpPr>
                <a:spLocks noChangeShapeType="1"/>
              </p:cNvSpPr>
              <p:nvPr/>
            </p:nvSpPr>
            <p:spPr bwMode="auto">
              <a:xfrm>
                <a:off x="4735" y="2878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95" name="Line 1079"/>
              <p:cNvSpPr>
                <a:spLocks noChangeShapeType="1"/>
              </p:cNvSpPr>
              <p:nvPr/>
            </p:nvSpPr>
            <p:spPr bwMode="auto">
              <a:xfrm>
                <a:off x="4962" y="2742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91896" name="Object 108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92273131"/>
                  </p:ext>
                </p:extLst>
              </p:nvPr>
            </p:nvGraphicFramePr>
            <p:xfrm>
              <a:off x="2938" y="2583"/>
              <a:ext cx="836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5" imgW="609480" imgH="279360" progId="Equation.3">
                      <p:embed/>
                    </p:oleObj>
                  </mc:Choice>
                  <mc:Fallback>
                    <p:oleObj name="公式" r:id="rId15" imgW="609480" imgH="279360" progId="Equation.3">
                      <p:embed/>
                      <p:pic>
                        <p:nvPicPr>
                          <p:cNvPr id="291896" name="Object 108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38" y="2583"/>
                            <a:ext cx="836" cy="3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1897" name="Group 1081"/>
            <p:cNvGrpSpPr>
              <a:grpSpLocks/>
            </p:cNvGrpSpPr>
            <p:nvPr/>
          </p:nvGrpSpPr>
          <p:grpSpPr bwMode="auto">
            <a:xfrm>
              <a:off x="2840" y="2988"/>
              <a:ext cx="2536" cy="382"/>
              <a:chOff x="2925" y="2824"/>
              <a:chExt cx="2536" cy="382"/>
            </a:xfrm>
          </p:grpSpPr>
          <p:sp>
            <p:nvSpPr>
              <p:cNvPr id="291898" name="Line 1082"/>
              <p:cNvSpPr>
                <a:spLocks noChangeShapeType="1"/>
              </p:cNvSpPr>
              <p:nvPr/>
            </p:nvSpPr>
            <p:spPr bwMode="auto">
              <a:xfrm>
                <a:off x="4735" y="3015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99" name="Line 1083"/>
              <p:cNvSpPr>
                <a:spLocks noChangeShapeType="1"/>
              </p:cNvSpPr>
              <p:nvPr/>
            </p:nvSpPr>
            <p:spPr bwMode="auto">
              <a:xfrm flipH="1">
                <a:off x="3779" y="3024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900" name="Line 1084"/>
              <p:cNvSpPr>
                <a:spLocks noChangeShapeType="1"/>
              </p:cNvSpPr>
              <p:nvPr/>
            </p:nvSpPr>
            <p:spPr bwMode="auto">
              <a:xfrm>
                <a:off x="4962" y="3015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901" name="Line 1085"/>
              <p:cNvSpPr>
                <a:spLocks noChangeShapeType="1"/>
              </p:cNvSpPr>
              <p:nvPr/>
            </p:nvSpPr>
            <p:spPr bwMode="auto">
              <a:xfrm>
                <a:off x="4735" y="3151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902" name="Line 1086"/>
              <p:cNvSpPr>
                <a:spLocks noChangeShapeType="1"/>
              </p:cNvSpPr>
              <p:nvPr/>
            </p:nvSpPr>
            <p:spPr bwMode="auto">
              <a:xfrm>
                <a:off x="4962" y="3015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91903" name="Object 108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75084086"/>
                  </p:ext>
                </p:extLst>
              </p:nvPr>
            </p:nvGraphicFramePr>
            <p:xfrm>
              <a:off x="2925" y="2824"/>
              <a:ext cx="907" cy="3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660240" imgH="279360" progId="Equation.3">
                      <p:embed/>
                    </p:oleObj>
                  </mc:Choice>
                  <mc:Fallback>
                    <p:oleObj name="公式" r:id="rId17" imgW="660240" imgH="279360" progId="Equation.3">
                      <p:embed/>
                      <p:pic>
                        <p:nvPicPr>
                          <p:cNvPr id="291903" name="Object 108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5" y="2824"/>
                            <a:ext cx="907" cy="38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1904" name="Group 1088"/>
            <p:cNvGrpSpPr>
              <a:grpSpLocks/>
            </p:cNvGrpSpPr>
            <p:nvPr/>
          </p:nvGrpSpPr>
          <p:grpSpPr bwMode="auto">
            <a:xfrm>
              <a:off x="4656" y="3435"/>
              <a:ext cx="226" cy="424"/>
              <a:chOff x="4752" y="3312"/>
              <a:chExt cx="226" cy="424"/>
            </a:xfrm>
          </p:grpSpPr>
          <p:sp>
            <p:nvSpPr>
              <p:cNvPr id="291905" name="Rectangle 1089"/>
              <p:cNvSpPr>
                <a:spLocks noChangeArrowheads="1"/>
              </p:cNvSpPr>
              <p:nvPr/>
            </p:nvSpPr>
            <p:spPr bwMode="auto">
              <a:xfrm>
                <a:off x="4752" y="3312"/>
                <a:ext cx="226" cy="136"/>
              </a:xfrm>
              <a:prstGeom prst="rect">
                <a:avLst/>
              </a:prstGeom>
              <a:solidFill>
                <a:srgbClr val="00FF00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1800">
                  <a:latin typeface="+mn-ea"/>
                  <a:ea typeface="+mn-ea"/>
                </a:endParaRPr>
              </a:p>
            </p:txBody>
          </p:sp>
          <p:sp>
            <p:nvSpPr>
              <p:cNvPr id="291906" name="Rectangle 1090"/>
              <p:cNvSpPr>
                <a:spLocks noChangeArrowheads="1"/>
              </p:cNvSpPr>
              <p:nvPr/>
            </p:nvSpPr>
            <p:spPr bwMode="auto">
              <a:xfrm>
                <a:off x="4752" y="3600"/>
                <a:ext cx="226" cy="136"/>
              </a:xfrm>
              <a:prstGeom prst="rect">
                <a:avLst/>
              </a:prstGeom>
              <a:solidFill>
                <a:srgbClr val="00FF00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1800">
                  <a:latin typeface="+mn-ea"/>
                  <a:ea typeface="+mn-ea"/>
                </a:endParaRPr>
              </a:p>
            </p:txBody>
          </p:sp>
        </p:grpSp>
        <p:grpSp>
          <p:nvGrpSpPr>
            <p:cNvPr id="291907" name="Group 1091"/>
            <p:cNvGrpSpPr>
              <a:grpSpLocks/>
            </p:cNvGrpSpPr>
            <p:nvPr/>
          </p:nvGrpSpPr>
          <p:grpSpPr bwMode="auto">
            <a:xfrm>
              <a:off x="2829" y="3313"/>
              <a:ext cx="2536" cy="348"/>
              <a:chOff x="2925" y="3168"/>
              <a:chExt cx="2536" cy="348"/>
            </a:xfrm>
          </p:grpSpPr>
          <p:sp>
            <p:nvSpPr>
              <p:cNvPr id="291908" name="Line 1092"/>
              <p:cNvSpPr>
                <a:spLocks noChangeShapeType="1"/>
              </p:cNvSpPr>
              <p:nvPr/>
            </p:nvSpPr>
            <p:spPr bwMode="auto">
              <a:xfrm>
                <a:off x="4962" y="3287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909" name="Line 1093"/>
              <p:cNvSpPr>
                <a:spLocks noChangeShapeType="1"/>
              </p:cNvSpPr>
              <p:nvPr/>
            </p:nvSpPr>
            <p:spPr bwMode="auto">
              <a:xfrm>
                <a:off x="4962" y="3287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910" name="Line 1094"/>
              <p:cNvSpPr>
                <a:spLocks noChangeShapeType="1"/>
              </p:cNvSpPr>
              <p:nvPr/>
            </p:nvSpPr>
            <p:spPr bwMode="auto">
              <a:xfrm flipH="1">
                <a:off x="3783" y="3423"/>
                <a:ext cx="11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91911" name="Object 109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09508656"/>
                  </p:ext>
                </p:extLst>
              </p:nvPr>
            </p:nvGraphicFramePr>
            <p:xfrm>
              <a:off x="2925" y="3168"/>
              <a:ext cx="958" cy="3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9" imgW="698400" imgH="253800" progId="Equation.3">
                      <p:embed/>
                    </p:oleObj>
                  </mc:Choice>
                  <mc:Fallback>
                    <p:oleObj name="公式" r:id="rId19" imgW="698400" imgH="253800" progId="Equation.3">
                      <p:embed/>
                      <p:pic>
                        <p:nvPicPr>
                          <p:cNvPr id="291911" name="Object 109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5" y="3168"/>
                            <a:ext cx="958" cy="34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" name="TextBox 1"/>
          <p:cNvSpPr txBox="1"/>
          <p:nvPr/>
        </p:nvSpPr>
        <p:spPr>
          <a:xfrm>
            <a:off x="8676456" y="5330180"/>
            <a:ext cx="411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C00FF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零重疊</a:t>
            </a:r>
          </a:p>
        </p:txBody>
      </p:sp>
      <p:cxnSp>
        <p:nvCxnSpPr>
          <p:cNvPr id="4" name="直接箭头连接符 3"/>
          <p:cNvCxnSpPr>
            <a:stCxn id="2" idx="1"/>
            <a:endCxn id="291905" idx="3"/>
          </p:cNvCxnSpPr>
          <p:nvPr/>
        </p:nvCxnSpPr>
        <p:spPr>
          <a:xfrm flipH="1" flipV="1">
            <a:off x="7750176" y="5561013"/>
            <a:ext cx="926280" cy="3693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2" idx="1"/>
            <a:endCxn id="291906" idx="3"/>
          </p:cNvCxnSpPr>
          <p:nvPr/>
        </p:nvCxnSpPr>
        <p:spPr>
          <a:xfrm flipH="1">
            <a:off x="7750176" y="5930345"/>
            <a:ext cx="926280" cy="878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8696560" y="4326195"/>
            <a:ext cx="411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C00FF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尖峰</a:t>
            </a:r>
          </a:p>
        </p:txBody>
      </p:sp>
      <p:cxnSp>
        <p:nvCxnSpPr>
          <p:cNvPr id="8" name="直接箭头连接符 7"/>
          <p:cNvCxnSpPr>
            <a:stCxn id="79" idx="1"/>
            <a:endCxn id="291893" idx="1"/>
          </p:cNvCxnSpPr>
          <p:nvPr/>
        </p:nvCxnSpPr>
        <p:spPr>
          <a:xfrm flipH="1">
            <a:off x="7742240" y="4741694"/>
            <a:ext cx="954320" cy="573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79" idx="1"/>
            <a:endCxn id="291900" idx="1"/>
          </p:cNvCxnSpPr>
          <p:nvPr/>
        </p:nvCxnSpPr>
        <p:spPr>
          <a:xfrm flipH="1">
            <a:off x="7742240" y="4741694"/>
            <a:ext cx="954320" cy="5208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1" name="Object 11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479891"/>
              </p:ext>
            </p:extLst>
          </p:nvPr>
        </p:nvGraphicFramePr>
        <p:xfrm>
          <a:off x="5392340" y="2348880"/>
          <a:ext cx="33178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52280" imgH="164880" progId="Equation.3">
                  <p:embed/>
                </p:oleObj>
              </mc:Choice>
              <mc:Fallback>
                <p:oleObj name="公式" r:id="rId21" imgW="152280" imgH="164880" progId="Equation.3">
                  <p:embed/>
                  <p:pic>
                    <p:nvPicPr>
                      <p:cNvPr id="81" name="Object 11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2340" y="2348880"/>
                        <a:ext cx="331788" cy="35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363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1" name="Rectangle 10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25</a:t>
            </a:r>
            <a:r>
              <a:rPr lang="zh-CN" altLang="en-US" sz="3600" dirty="0"/>
              <a:t>）</a:t>
            </a:r>
          </a:p>
        </p:txBody>
      </p:sp>
      <p:sp>
        <p:nvSpPr>
          <p:cNvPr id="1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2FBDB-F17C-4F48-BF2B-EF3B6B0D62A8}" type="slidenum">
              <a:rPr lang="en-US" altLang="zh-CN">
                <a:latin typeface="+mn-ea"/>
                <a:ea typeface="+mn-ea"/>
              </a:rPr>
              <a:pPr/>
              <a:t>29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93890" name="Rectangle 1026"/>
          <p:cNvSpPr>
            <a:spLocks noGrp="1" noChangeArrowheads="1"/>
          </p:cNvSpPr>
          <p:nvPr>
            <p:ph sz="quarter" idx="1"/>
          </p:nvPr>
        </p:nvSpPr>
        <p:spPr>
          <a:xfrm>
            <a:off x="539070" y="1411288"/>
            <a:ext cx="8497426" cy="45720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400" b="1" dirty="0">
                <a:effectLst/>
              </a:rPr>
              <a:t>當</a:t>
            </a:r>
            <a:r>
              <a:rPr lang="en-US" altLang="zh-CN" sz="2400" b="1" dirty="0">
                <a:effectLst/>
              </a:rPr>
              <a:t>A B</a:t>
            </a:r>
            <a:r>
              <a:rPr lang="zh-CN" altLang="en-US" sz="2400" b="1" dirty="0">
                <a:effectLst/>
              </a:rPr>
              <a:t>從“</a:t>
            </a:r>
            <a:r>
              <a:rPr lang="en-US" altLang="zh-CN" sz="2400" b="1" dirty="0">
                <a:effectLst/>
              </a:rPr>
              <a:t>11”</a:t>
            </a:r>
            <a:r>
              <a:rPr lang="zh-CN" altLang="en-US" sz="2400" b="1" dirty="0">
                <a:effectLst/>
              </a:rPr>
              <a:t>變到“</a:t>
            </a:r>
            <a:r>
              <a:rPr lang="en-US" altLang="zh-CN" sz="2400" b="1" dirty="0">
                <a:effectLst/>
              </a:rPr>
              <a:t>00”</a:t>
            </a:r>
            <a:r>
              <a:rPr lang="zh-CN" altLang="en-US" sz="2400" b="1" dirty="0">
                <a:effectLst/>
              </a:rPr>
              <a:t>時，輸出應從</a:t>
            </a:r>
            <a:r>
              <a:rPr lang="en-US" altLang="zh-CN" sz="2400" b="1" dirty="0">
                <a:effectLst/>
              </a:rPr>
              <a:t>Y</a:t>
            </a:r>
            <a:r>
              <a:rPr lang="en-US" altLang="zh-CN" sz="2400" b="1" baseline="-25000" dirty="0">
                <a:effectLst/>
              </a:rPr>
              <a:t>3</a:t>
            </a:r>
            <a:r>
              <a:rPr lang="en-US" altLang="zh-CN" sz="2400" b="1" dirty="0">
                <a:effectLst/>
              </a:rPr>
              <a:t>=0</a:t>
            </a:r>
            <a:r>
              <a:rPr lang="zh-CN" altLang="en-US" sz="2400" b="1" dirty="0">
                <a:effectLst/>
              </a:rPr>
              <a:t>變成</a:t>
            </a:r>
            <a:r>
              <a:rPr lang="en-US" altLang="zh-CN" sz="2400" b="1" dirty="0">
                <a:effectLst/>
              </a:rPr>
              <a:t>Y</a:t>
            </a:r>
            <a:r>
              <a:rPr lang="en-US" altLang="zh-CN" sz="2400" b="1" baseline="-25000" dirty="0">
                <a:effectLst/>
              </a:rPr>
              <a:t>0</a:t>
            </a:r>
            <a:r>
              <a:rPr lang="en-US" altLang="zh-CN" sz="2400" b="1" dirty="0">
                <a:effectLst/>
              </a:rPr>
              <a:t>=0</a:t>
            </a:r>
            <a:r>
              <a:rPr lang="zh-CN" altLang="en-US" sz="2400" b="1" dirty="0">
                <a:effectLst/>
              </a:rPr>
              <a:t>。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effectLst/>
              </a:rPr>
              <a:t>假設</a:t>
            </a:r>
            <a:r>
              <a:rPr lang="en-US" altLang="zh-CN" sz="2400" b="1" dirty="0">
                <a:effectLst/>
              </a:rPr>
              <a:t>A B</a:t>
            </a:r>
            <a:r>
              <a:rPr lang="zh-CN" altLang="en-US" sz="2400" b="1" dirty="0">
                <a:effectLst/>
              </a:rPr>
              <a:t>不能同時到來，存在偏移</a:t>
            </a:r>
            <a:r>
              <a:rPr lang="en-US" altLang="zh-CN" sz="2400" b="1" dirty="0">
                <a:effectLst/>
              </a:rPr>
              <a:t>(Skew)</a:t>
            </a:r>
            <a:r>
              <a:rPr lang="zh-CN" altLang="en-US" sz="2400" b="1" dirty="0">
                <a:effectLst/>
              </a:rPr>
              <a:t>，導致尖峰信號更寬。</a:t>
            </a:r>
          </a:p>
        </p:txBody>
      </p:sp>
      <p:grpSp>
        <p:nvGrpSpPr>
          <p:cNvPr id="293892" name="Group 1028"/>
          <p:cNvGrpSpPr>
            <a:grpSpLocks/>
          </p:cNvGrpSpPr>
          <p:nvPr/>
        </p:nvGrpSpPr>
        <p:grpSpPr bwMode="auto">
          <a:xfrm>
            <a:off x="5508625" y="2535832"/>
            <a:ext cx="3151188" cy="358775"/>
            <a:chOff x="3476" y="1202"/>
            <a:chExt cx="1985" cy="226"/>
          </a:xfrm>
        </p:grpSpPr>
        <p:sp>
          <p:nvSpPr>
            <p:cNvPr id="293893" name="Line 1029"/>
            <p:cNvSpPr>
              <a:spLocks noChangeShapeType="1"/>
            </p:cNvSpPr>
            <p:nvPr/>
          </p:nvSpPr>
          <p:spPr bwMode="auto">
            <a:xfrm>
              <a:off x="3783" y="1291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894" name="Line 1030"/>
            <p:cNvSpPr>
              <a:spLocks noChangeShapeType="1"/>
            </p:cNvSpPr>
            <p:nvPr/>
          </p:nvSpPr>
          <p:spPr bwMode="auto">
            <a:xfrm>
              <a:off x="4281" y="1427"/>
              <a:ext cx="1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895" name="Line 1031"/>
            <p:cNvSpPr>
              <a:spLocks noChangeShapeType="1"/>
            </p:cNvSpPr>
            <p:nvPr/>
          </p:nvSpPr>
          <p:spPr bwMode="auto">
            <a:xfrm>
              <a:off x="4282" y="129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3896" name="Object 10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5965276"/>
                </p:ext>
              </p:extLst>
            </p:nvPr>
          </p:nvGraphicFramePr>
          <p:xfrm>
            <a:off x="3476" y="1202"/>
            <a:ext cx="174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6720" imgH="164880" progId="Equation.3">
                    <p:embed/>
                  </p:oleObj>
                </mc:Choice>
                <mc:Fallback>
                  <p:oleObj name="Equation" r:id="rId2" imgW="126720" imgH="164880" progId="Equation.3">
                    <p:embed/>
                    <p:pic>
                      <p:nvPicPr>
                        <p:cNvPr id="293896" name="Object 10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6" y="1202"/>
                          <a:ext cx="174" cy="2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3897" name="Group 1033"/>
          <p:cNvGrpSpPr>
            <a:grpSpLocks/>
          </p:cNvGrpSpPr>
          <p:nvPr/>
        </p:nvGrpSpPr>
        <p:grpSpPr bwMode="auto">
          <a:xfrm>
            <a:off x="5486400" y="2993032"/>
            <a:ext cx="3168650" cy="358775"/>
            <a:chOff x="3456" y="1982"/>
            <a:chExt cx="1996" cy="226"/>
          </a:xfrm>
        </p:grpSpPr>
        <p:sp>
          <p:nvSpPr>
            <p:cNvPr id="293898" name="Line 1034"/>
            <p:cNvSpPr>
              <a:spLocks noChangeShapeType="1"/>
            </p:cNvSpPr>
            <p:nvPr/>
          </p:nvSpPr>
          <p:spPr bwMode="auto">
            <a:xfrm flipH="1">
              <a:off x="3744" y="2016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899" name="Line 1035"/>
            <p:cNvSpPr>
              <a:spLocks noChangeShapeType="1"/>
            </p:cNvSpPr>
            <p:nvPr/>
          </p:nvSpPr>
          <p:spPr bwMode="auto">
            <a:xfrm>
              <a:off x="4608" y="202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00" name="Line 1036"/>
            <p:cNvSpPr>
              <a:spLocks noChangeShapeType="1"/>
            </p:cNvSpPr>
            <p:nvPr/>
          </p:nvSpPr>
          <p:spPr bwMode="auto">
            <a:xfrm>
              <a:off x="4608" y="2160"/>
              <a:ext cx="844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3901" name="Object 10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688414"/>
                </p:ext>
              </p:extLst>
            </p:nvPr>
          </p:nvGraphicFramePr>
          <p:xfrm>
            <a:off x="3456" y="1982"/>
            <a:ext cx="20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52280" imgH="164880" progId="Equation.3">
                    <p:embed/>
                  </p:oleObj>
                </mc:Choice>
                <mc:Fallback>
                  <p:oleObj name="公式" r:id="rId4" imgW="152280" imgH="164880" progId="Equation.3">
                    <p:embed/>
                    <p:pic>
                      <p:nvPicPr>
                        <p:cNvPr id="293901" name="Object 10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982"/>
                          <a:ext cx="209" cy="2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3902" name="Group 1038"/>
          <p:cNvGrpSpPr>
            <a:grpSpLocks/>
          </p:cNvGrpSpPr>
          <p:nvPr/>
        </p:nvGrpSpPr>
        <p:grpSpPr bwMode="auto">
          <a:xfrm>
            <a:off x="4749800" y="3356569"/>
            <a:ext cx="3936999" cy="608013"/>
            <a:chOff x="2992" y="2211"/>
            <a:chExt cx="2480" cy="383"/>
          </a:xfrm>
        </p:grpSpPr>
        <p:sp>
          <p:nvSpPr>
            <p:cNvPr id="293903" name="Line 1039"/>
            <p:cNvSpPr>
              <a:spLocks noChangeShapeType="1"/>
            </p:cNvSpPr>
            <p:nvPr/>
          </p:nvSpPr>
          <p:spPr bwMode="auto">
            <a:xfrm flipV="1">
              <a:off x="3792" y="2352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04" name="Line 1040"/>
            <p:cNvSpPr>
              <a:spLocks noChangeShapeType="1"/>
            </p:cNvSpPr>
            <p:nvPr/>
          </p:nvSpPr>
          <p:spPr bwMode="auto">
            <a:xfrm>
              <a:off x="4896" y="2352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05" name="Line 1041"/>
            <p:cNvSpPr>
              <a:spLocks noChangeShapeType="1"/>
            </p:cNvSpPr>
            <p:nvPr/>
          </p:nvSpPr>
          <p:spPr bwMode="auto">
            <a:xfrm flipV="1">
              <a:off x="4896" y="2494"/>
              <a:ext cx="576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3906" name="Object 10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0866210"/>
                </p:ext>
              </p:extLst>
            </p:nvPr>
          </p:nvGraphicFramePr>
          <p:xfrm>
            <a:off x="2992" y="2211"/>
            <a:ext cx="818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596880" imgH="279360" progId="Equation.3">
                    <p:embed/>
                  </p:oleObj>
                </mc:Choice>
                <mc:Fallback>
                  <p:oleObj name="公式" r:id="rId6" imgW="596880" imgH="279360" progId="Equation.3">
                    <p:embed/>
                    <p:pic>
                      <p:nvPicPr>
                        <p:cNvPr id="293906" name="Object 10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2" y="2211"/>
                          <a:ext cx="818" cy="3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3907" name="Group 1043"/>
          <p:cNvGrpSpPr>
            <a:grpSpLocks/>
          </p:cNvGrpSpPr>
          <p:nvPr/>
        </p:nvGrpSpPr>
        <p:grpSpPr bwMode="auto">
          <a:xfrm>
            <a:off x="4745038" y="4024910"/>
            <a:ext cx="3941763" cy="608013"/>
            <a:chOff x="2989" y="2632"/>
            <a:chExt cx="2483" cy="383"/>
          </a:xfrm>
        </p:grpSpPr>
        <p:sp>
          <p:nvSpPr>
            <p:cNvPr id="293908" name="Line 1044"/>
            <p:cNvSpPr>
              <a:spLocks noChangeShapeType="1"/>
            </p:cNvSpPr>
            <p:nvPr/>
          </p:nvSpPr>
          <p:spPr bwMode="auto">
            <a:xfrm>
              <a:off x="5088" y="2784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3909" name="Group 1045"/>
            <p:cNvGrpSpPr>
              <a:grpSpLocks/>
            </p:cNvGrpSpPr>
            <p:nvPr/>
          </p:nvGrpSpPr>
          <p:grpSpPr bwMode="auto">
            <a:xfrm>
              <a:off x="2989" y="2632"/>
              <a:ext cx="2483" cy="383"/>
              <a:chOff x="2989" y="2632"/>
              <a:chExt cx="2483" cy="383"/>
            </a:xfrm>
          </p:grpSpPr>
          <p:sp>
            <p:nvSpPr>
              <p:cNvPr id="293910" name="Line 1046"/>
              <p:cNvSpPr>
                <a:spLocks noChangeShapeType="1"/>
              </p:cNvSpPr>
              <p:nvPr/>
            </p:nvSpPr>
            <p:spPr bwMode="auto">
              <a:xfrm>
                <a:off x="5088" y="278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93911" name="Group 1047"/>
              <p:cNvGrpSpPr>
                <a:grpSpLocks/>
              </p:cNvGrpSpPr>
              <p:nvPr/>
            </p:nvGrpSpPr>
            <p:grpSpPr bwMode="auto">
              <a:xfrm>
                <a:off x="2989" y="2632"/>
                <a:ext cx="2099" cy="383"/>
                <a:chOff x="2989" y="2632"/>
                <a:chExt cx="2099" cy="383"/>
              </a:xfrm>
            </p:grpSpPr>
            <p:sp>
              <p:nvSpPr>
                <p:cNvPr id="293912" name="Line 1048"/>
                <p:cNvSpPr>
                  <a:spLocks noChangeShapeType="1"/>
                </p:cNvSpPr>
                <p:nvPr/>
              </p:nvSpPr>
              <p:spPr bwMode="auto">
                <a:xfrm>
                  <a:off x="4512" y="2784"/>
                  <a:ext cx="0" cy="1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93913" name="Line 1049"/>
                <p:cNvSpPr>
                  <a:spLocks noChangeShapeType="1"/>
                </p:cNvSpPr>
                <p:nvPr/>
              </p:nvSpPr>
              <p:spPr bwMode="auto">
                <a:xfrm flipH="1">
                  <a:off x="3792" y="2784"/>
                  <a:ext cx="7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93914" name="Line 1050"/>
                <p:cNvSpPr>
                  <a:spLocks noChangeShapeType="1"/>
                </p:cNvSpPr>
                <p:nvPr/>
              </p:nvSpPr>
              <p:spPr bwMode="auto">
                <a:xfrm flipV="1">
                  <a:off x="4512" y="2928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graphicFrame>
              <p:nvGraphicFramePr>
                <p:cNvPr id="293915" name="Object 1051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01079809"/>
                    </p:ext>
                  </p:extLst>
                </p:nvPr>
              </p:nvGraphicFramePr>
              <p:xfrm>
                <a:off x="2989" y="2632"/>
                <a:ext cx="836" cy="38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8" imgW="609480" imgH="279360" progId="Equation.3">
                        <p:embed/>
                      </p:oleObj>
                    </mc:Choice>
                    <mc:Fallback>
                      <p:oleObj name="Equation" r:id="rId8" imgW="609480" imgH="279360" progId="Equation.3">
                        <p:embed/>
                        <p:pic>
                          <p:nvPicPr>
                            <p:cNvPr id="293915" name="Object 105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89" y="2632"/>
                              <a:ext cx="836" cy="38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pSp>
        <p:nvGrpSpPr>
          <p:cNvPr id="293916" name="Group 1052"/>
          <p:cNvGrpSpPr>
            <a:grpSpLocks/>
          </p:cNvGrpSpPr>
          <p:nvPr/>
        </p:nvGrpSpPr>
        <p:grpSpPr bwMode="auto">
          <a:xfrm>
            <a:off x="4645025" y="4723407"/>
            <a:ext cx="4041774" cy="552450"/>
            <a:chOff x="2926" y="3072"/>
            <a:chExt cx="2546" cy="348"/>
          </a:xfrm>
        </p:grpSpPr>
        <p:sp>
          <p:nvSpPr>
            <p:cNvPr id="293917" name="Line 1053"/>
            <p:cNvSpPr>
              <a:spLocks noChangeShapeType="1"/>
            </p:cNvSpPr>
            <p:nvPr/>
          </p:nvSpPr>
          <p:spPr bwMode="auto">
            <a:xfrm>
              <a:off x="4704" y="316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18" name="Line 1054"/>
            <p:cNvSpPr>
              <a:spLocks noChangeShapeType="1"/>
            </p:cNvSpPr>
            <p:nvPr/>
          </p:nvSpPr>
          <p:spPr bwMode="auto">
            <a:xfrm>
              <a:off x="4704" y="317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19" name="Line 1055"/>
            <p:cNvSpPr>
              <a:spLocks noChangeShapeType="1"/>
            </p:cNvSpPr>
            <p:nvPr/>
          </p:nvSpPr>
          <p:spPr bwMode="auto">
            <a:xfrm flipH="1">
              <a:off x="3794" y="3312"/>
              <a:ext cx="9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3920" name="Object 10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1911449"/>
                </p:ext>
              </p:extLst>
            </p:nvPr>
          </p:nvGraphicFramePr>
          <p:xfrm>
            <a:off x="2926" y="3072"/>
            <a:ext cx="958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98400" imgH="253800" progId="Equation.3">
                    <p:embed/>
                  </p:oleObj>
                </mc:Choice>
                <mc:Fallback>
                  <p:oleObj name="Equation" r:id="rId10" imgW="698400" imgH="253800" progId="Equation.3">
                    <p:embed/>
                    <p:pic>
                      <p:nvPicPr>
                        <p:cNvPr id="293920" name="Object 10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6" y="3072"/>
                          <a:ext cx="958" cy="3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3921" name="Line 1057"/>
          <p:cNvSpPr>
            <a:spLocks noChangeShapeType="1"/>
          </p:cNvSpPr>
          <p:nvPr/>
        </p:nvSpPr>
        <p:spPr bwMode="auto">
          <a:xfrm>
            <a:off x="6781800" y="2970807"/>
            <a:ext cx="0" cy="2438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22" name="Line 1058"/>
          <p:cNvSpPr>
            <a:spLocks noChangeShapeType="1"/>
          </p:cNvSpPr>
          <p:nvPr/>
        </p:nvSpPr>
        <p:spPr bwMode="auto">
          <a:xfrm>
            <a:off x="7315200" y="2589807"/>
            <a:ext cx="0" cy="457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23" name="Line 1059"/>
          <p:cNvSpPr>
            <a:spLocks noChangeShapeType="1"/>
          </p:cNvSpPr>
          <p:nvPr/>
        </p:nvSpPr>
        <p:spPr bwMode="auto">
          <a:xfrm flipH="1">
            <a:off x="6781800" y="2742207"/>
            <a:ext cx="5334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24" name="Freeform 1060"/>
          <p:cNvSpPr>
            <a:spLocks/>
          </p:cNvSpPr>
          <p:nvPr/>
        </p:nvSpPr>
        <p:spPr bwMode="auto">
          <a:xfrm>
            <a:off x="6565900" y="2818407"/>
            <a:ext cx="596900" cy="1600200"/>
          </a:xfrm>
          <a:custGeom>
            <a:avLst/>
            <a:gdLst>
              <a:gd name="T0" fmla="*/ 136 w 376"/>
              <a:gd name="T1" fmla="*/ 0 h 1008"/>
              <a:gd name="T2" fmla="*/ 40 w 376"/>
              <a:gd name="T3" fmla="*/ 672 h 1008"/>
              <a:gd name="T4" fmla="*/ 376 w 376"/>
              <a:gd name="T5" fmla="*/ 1008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6" h="1008">
                <a:moveTo>
                  <a:pt x="136" y="0"/>
                </a:moveTo>
                <a:cubicBezTo>
                  <a:pt x="68" y="252"/>
                  <a:pt x="0" y="504"/>
                  <a:pt x="40" y="672"/>
                </a:cubicBezTo>
                <a:cubicBezTo>
                  <a:pt x="80" y="840"/>
                  <a:pt x="320" y="952"/>
                  <a:pt x="376" y="1008"/>
                </a:cubicBezTo>
              </a:path>
            </a:pathLst>
          </a:cu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25" name="Freeform 1061"/>
          <p:cNvSpPr>
            <a:spLocks/>
          </p:cNvSpPr>
          <p:nvPr/>
        </p:nvSpPr>
        <p:spPr bwMode="auto">
          <a:xfrm>
            <a:off x="6324600" y="2818407"/>
            <a:ext cx="1143000" cy="2209800"/>
          </a:xfrm>
          <a:custGeom>
            <a:avLst/>
            <a:gdLst>
              <a:gd name="T0" fmla="*/ 136 w 376"/>
              <a:gd name="T1" fmla="*/ 0 h 1008"/>
              <a:gd name="T2" fmla="*/ 40 w 376"/>
              <a:gd name="T3" fmla="*/ 672 h 1008"/>
              <a:gd name="T4" fmla="*/ 376 w 376"/>
              <a:gd name="T5" fmla="*/ 1008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6" h="1008">
                <a:moveTo>
                  <a:pt x="136" y="0"/>
                </a:moveTo>
                <a:cubicBezTo>
                  <a:pt x="68" y="252"/>
                  <a:pt x="0" y="504"/>
                  <a:pt x="40" y="672"/>
                </a:cubicBezTo>
                <a:cubicBezTo>
                  <a:pt x="80" y="840"/>
                  <a:pt x="320" y="952"/>
                  <a:pt x="376" y="1008"/>
                </a:cubicBezTo>
              </a:path>
            </a:pathLst>
          </a:cu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solidFill>
                <a:srgbClr val="CC00FF"/>
              </a:solidFill>
              <a:latin typeface="+mn-ea"/>
              <a:ea typeface="+mn-ea"/>
            </a:endParaRPr>
          </a:p>
        </p:txBody>
      </p:sp>
      <p:sp>
        <p:nvSpPr>
          <p:cNvPr id="293926" name="Freeform 1062"/>
          <p:cNvSpPr>
            <a:spLocks/>
          </p:cNvSpPr>
          <p:nvPr/>
        </p:nvSpPr>
        <p:spPr bwMode="auto">
          <a:xfrm>
            <a:off x="7086600" y="3123207"/>
            <a:ext cx="609600" cy="609600"/>
          </a:xfrm>
          <a:custGeom>
            <a:avLst/>
            <a:gdLst>
              <a:gd name="T0" fmla="*/ 136 w 376"/>
              <a:gd name="T1" fmla="*/ 0 h 1008"/>
              <a:gd name="T2" fmla="*/ 40 w 376"/>
              <a:gd name="T3" fmla="*/ 672 h 1008"/>
              <a:gd name="T4" fmla="*/ 376 w 376"/>
              <a:gd name="T5" fmla="*/ 1008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6" h="1008">
                <a:moveTo>
                  <a:pt x="136" y="0"/>
                </a:moveTo>
                <a:cubicBezTo>
                  <a:pt x="68" y="252"/>
                  <a:pt x="0" y="504"/>
                  <a:pt x="40" y="672"/>
                </a:cubicBezTo>
                <a:cubicBezTo>
                  <a:pt x="80" y="840"/>
                  <a:pt x="320" y="952"/>
                  <a:pt x="376" y="1008"/>
                </a:cubicBezTo>
              </a:path>
            </a:pathLst>
          </a:cu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27" name="Freeform 1063"/>
          <p:cNvSpPr>
            <a:spLocks/>
          </p:cNvSpPr>
          <p:nvPr/>
        </p:nvSpPr>
        <p:spPr bwMode="auto">
          <a:xfrm>
            <a:off x="6934200" y="3123207"/>
            <a:ext cx="1066800" cy="1219200"/>
          </a:xfrm>
          <a:custGeom>
            <a:avLst/>
            <a:gdLst>
              <a:gd name="T0" fmla="*/ 136 w 376"/>
              <a:gd name="T1" fmla="*/ 0 h 1008"/>
              <a:gd name="T2" fmla="*/ 40 w 376"/>
              <a:gd name="T3" fmla="*/ 672 h 1008"/>
              <a:gd name="T4" fmla="*/ 376 w 376"/>
              <a:gd name="T5" fmla="*/ 1008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6" h="1008">
                <a:moveTo>
                  <a:pt x="136" y="0"/>
                </a:moveTo>
                <a:cubicBezTo>
                  <a:pt x="68" y="252"/>
                  <a:pt x="0" y="504"/>
                  <a:pt x="40" y="672"/>
                </a:cubicBezTo>
                <a:cubicBezTo>
                  <a:pt x="80" y="840"/>
                  <a:pt x="320" y="952"/>
                  <a:pt x="376" y="1008"/>
                </a:cubicBezTo>
              </a:path>
            </a:pathLst>
          </a:cu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28" name="Line 1064"/>
          <p:cNvSpPr>
            <a:spLocks noChangeShapeType="1"/>
          </p:cNvSpPr>
          <p:nvPr/>
        </p:nvSpPr>
        <p:spPr bwMode="auto">
          <a:xfrm>
            <a:off x="7162800" y="4342407"/>
            <a:ext cx="0" cy="457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29" name="Line 1065"/>
          <p:cNvSpPr>
            <a:spLocks noChangeShapeType="1"/>
          </p:cNvSpPr>
          <p:nvPr/>
        </p:nvSpPr>
        <p:spPr bwMode="auto">
          <a:xfrm>
            <a:off x="8077200" y="4342407"/>
            <a:ext cx="0" cy="457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0" name="Line 1066"/>
          <p:cNvSpPr>
            <a:spLocks noChangeShapeType="1"/>
          </p:cNvSpPr>
          <p:nvPr/>
        </p:nvSpPr>
        <p:spPr bwMode="auto">
          <a:xfrm flipH="1">
            <a:off x="7162800" y="4723407"/>
            <a:ext cx="9144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1" name="Line 1067"/>
          <p:cNvSpPr>
            <a:spLocks noChangeShapeType="1"/>
          </p:cNvSpPr>
          <p:nvPr/>
        </p:nvSpPr>
        <p:spPr bwMode="auto">
          <a:xfrm>
            <a:off x="7162800" y="4952007"/>
            <a:ext cx="0" cy="457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2" name="Line 1068"/>
          <p:cNvSpPr>
            <a:spLocks noChangeShapeType="1"/>
          </p:cNvSpPr>
          <p:nvPr/>
        </p:nvSpPr>
        <p:spPr bwMode="auto">
          <a:xfrm>
            <a:off x="7467600" y="4952007"/>
            <a:ext cx="0" cy="457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3" name="Line 1069"/>
          <p:cNvSpPr>
            <a:spLocks noChangeShapeType="1"/>
          </p:cNvSpPr>
          <p:nvPr/>
        </p:nvSpPr>
        <p:spPr bwMode="auto">
          <a:xfrm flipH="1">
            <a:off x="7162800" y="5333007"/>
            <a:ext cx="3048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4" name="Line 1070"/>
          <p:cNvSpPr>
            <a:spLocks noChangeShapeType="1"/>
          </p:cNvSpPr>
          <p:nvPr/>
        </p:nvSpPr>
        <p:spPr bwMode="auto">
          <a:xfrm>
            <a:off x="8077200" y="3504207"/>
            <a:ext cx="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5" name="Line 1071"/>
          <p:cNvSpPr>
            <a:spLocks noChangeShapeType="1"/>
          </p:cNvSpPr>
          <p:nvPr/>
        </p:nvSpPr>
        <p:spPr bwMode="auto">
          <a:xfrm flipH="1">
            <a:off x="7772400" y="3656607"/>
            <a:ext cx="3048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6" name="Line 1072"/>
          <p:cNvSpPr>
            <a:spLocks noChangeShapeType="1"/>
          </p:cNvSpPr>
          <p:nvPr/>
        </p:nvSpPr>
        <p:spPr bwMode="auto">
          <a:xfrm flipH="1">
            <a:off x="6781800" y="4875807"/>
            <a:ext cx="6858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7" name="Line 1073"/>
          <p:cNvSpPr>
            <a:spLocks noChangeShapeType="1"/>
          </p:cNvSpPr>
          <p:nvPr/>
        </p:nvSpPr>
        <p:spPr bwMode="auto">
          <a:xfrm flipH="1">
            <a:off x="6781800" y="4723407"/>
            <a:ext cx="3810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8" name="Line 1074"/>
          <p:cNvSpPr>
            <a:spLocks noChangeShapeType="1"/>
          </p:cNvSpPr>
          <p:nvPr/>
        </p:nvSpPr>
        <p:spPr bwMode="auto">
          <a:xfrm>
            <a:off x="7315200" y="3351807"/>
            <a:ext cx="0" cy="990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9" name="Line 1075"/>
          <p:cNvSpPr>
            <a:spLocks noChangeShapeType="1"/>
          </p:cNvSpPr>
          <p:nvPr/>
        </p:nvSpPr>
        <p:spPr bwMode="auto">
          <a:xfrm flipH="1">
            <a:off x="7315200" y="4266207"/>
            <a:ext cx="7620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40" name="Line 1076"/>
          <p:cNvSpPr>
            <a:spLocks noChangeShapeType="1"/>
          </p:cNvSpPr>
          <p:nvPr/>
        </p:nvSpPr>
        <p:spPr bwMode="auto">
          <a:xfrm>
            <a:off x="7772400" y="2818407"/>
            <a:ext cx="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41" name="Line 1077"/>
          <p:cNvSpPr>
            <a:spLocks noChangeShapeType="1"/>
          </p:cNvSpPr>
          <p:nvPr/>
        </p:nvSpPr>
        <p:spPr bwMode="auto">
          <a:xfrm flipH="1">
            <a:off x="7315200" y="3123207"/>
            <a:ext cx="4572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42" name="Text Box 1078"/>
          <p:cNvSpPr txBox="1">
            <a:spLocks noChangeArrowheads="1"/>
          </p:cNvSpPr>
          <p:nvPr/>
        </p:nvSpPr>
        <p:spPr bwMode="auto">
          <a:xfrm>
            <a:off x="6477000" y="2208807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 err="1">
                <a:latin typeface="+mn-ea"/>
                <a:ea typeface="+mn-ea"/>
              </a:rPr>
              <a:t>t</a:t>
            </a:r>
            <a:r>
              <a:rPr lang="en-US" altLang="zh-CN" sz="2800" baseline="-25000" dirty="0" err="1">
                <a:latin typeface="+mn-ea"/>
                <a:ea typeface="+mn-ea"/>
              </a:rPr>
              <a:t>skew</a:t>
            </a:r>
            <a:endParaRPr lang="en-US" altLang="zh-CN" sz="3200" baseline="-25000" dirty="0">
              <a:latin typeface="+mn-ea"/>
              <a:ea typeface="+mn-ea"/>
            </a:endParaRPr>
          </a:p>
        </p:txBody>
      </p:sp>
      <p:grpSp>
        <p:nvGrpSpPr>
          <p:cNvPr id="293943" name="Group 1079"/>
          <p:cNvGrpSpPr>
            <a:grpSpLocks/>
          </p:cNvGrpSpPr>
          <p:nvPr/>
        </p:nvGrpSpPr>
        <p:grpSpPr bwMode="auto">
          <a:xfrm>
            <a:off x="7467600" y="3809007"/>
            <a:ext cx="1676400" cy="1981200"/>
            <a:chOff x="4656" y="2496"/>
            <a:chExt cx="1056" cy="1248"/>
          </a:xfrm>
        </p:grpSpPr>
        <p:sp>
          <p:nvSpPr>
            <p:cNvPr id="293944" name="Text Box 1080"/>
            <p:cNvSpPr txBox="1">
              <a:spLocks noChangeArrowheads="1"/>
            </p:cNvSpPr>
            <p:nvPr/>
          </p:nvSpPr>
          <p:spPr bwMode="auto">
            <a:xfrm>
              <a:off x="4944" y="3456"/>
              <a:ext cx="76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 err="1">
                  <a:latin typeface="+mn-ea"/>
                  <a:ea typeface="+mn-ea"/>
                </a:rPr>
                <a:t>t</a:t>
              </a:r>
              <a:r>
                <a:rPr lang="en-US" altLang="zh-CN" sz="2800" baseline="-25000" dirty="0" err="1">
                  <a:latin typeface="+mn-ea"/>
                  <a:ea typeface="+mn-ea"/>
                </a:rPr>
                <a:t>overlap</a:t>
              </a:r>
              <a:endParaRPr lang="en-US" altLang="zh-CN" sz="3200" baseline="-25000" dirty="0">
                <a:latin typeface="+mn-ea"/>
                <a:ea typeface="+mn-ea"/>
              </a:endParaRPr>
            </a:p>
          </p:txBody>
        </p:sp>
        <p:sp>
          <p:nvSpPr>
            <p:cNvPr id="293945" name="Line 1081"/>
            <p:cNvSpPr>
              <a:spLocks noChangeShapeType="1"/>
            </p:cNvSpPr>
            <p:nvPr/>
          </p:nvSpPr>
          <p:spPr bwMode="auto">
            <a:xfrm flipH="1" flipV="1">
              <a:off x="4656" y="3504"/>
              <a:ext cx="432" cy="144"/>
            </a:xfrm>
            <a:prstGeom prst="line">
              <a:avLst/>
            </a:prstGeom>
            <a:ln>
              <a:solidFill>
                <a:srgbClr val="0070C0"/>
              </a:solidFill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46" name="Line 1082"/>
            <p:cNvSpPr>
              <a:spLocks noChangeShapeType="1"/>
            </p:cNvSpPr>
            <p:nvPr/>
          </p:nvSpPr>
          <p:spPr bwMode="auto">
            <a:xfrm flipH="1" flipV="1">
              <a:off x="4992" y="2496"/>
              <a:ext cx="192" cy="1152"/>
            </a:xfrm>
            <a:prstGeom prst="line">
              <a:avLst/>
            </a:prstGeom>
            <a:ln>
              <a:solidFill>
                <a:srgbClr val="0070C0"/>
              </a:solidFill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93947" name="Group 1083"/>
          <p:cNvGrpSpPr>
            <a:grpSpLocks/>
          </p:cNvGrpSpPr>
          <p:nvPr/>
        </p:nvGrpSpPr>
        <p:grpSpPr bwMode="auto">
          <a:xfrm>
            <a:off x="6172200" y="4723407"/>
            <a:ext cx="1371600" cy="1295400"/>
            <a:chOff x="3888" y="3072"/>
            <a:chExt cx="864" cy="816"/>
          </a:xfrm>
        </p:grpSpPr>
        <p:sp>
          <p:nvSpPr>
            <p:cNvPr id="293948" name="Text Box 1084"/>
            <p:cNvSpPr txBox="1">
              <a:spLocks noChangeArrowheads="1"/>
            </p:cNvSpPr>
            <p:nvPr/>
          </p:nvSpPr>
          <p:spPr bwMode="auto">
            <a:xfrm>
              <a:off x="3888" y="3600"/>
              <a:ext cx="76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 err="1">
                  <a:latin typeface="+mn-ea"/>
                  <a:ea typeface="+mn-ea"/>
                </a:rPr>
                <a:t>t</a:t>
              </a:r>
              <a:r>
                <a:rPr lang="en-US" altLang="zh-CN" sz="2800" baseline="-25000" dirty="0" err="1">
                  <a:latin typeface="+mn-ea"/>
                  <a:ea typeface="+mn-ea"/>
                </a:rPr>
                <a:t>spike</a:t>
              </a:r>
              <a:endParaRPr lang="en-US" altLang="zh-CN" sz="3200" baseline="-25000" dirty="0">
                <a:latin typeface="+mn-ea"/>
                <a:ea typeface="+mn-ea"/>
              </a:endParaRPr>
            </a:p>
          </p:txBody>
        </p:sp>
        <p:sp>
          <p:nvSpPr>
            <p:cNvPr id="293949" name="Line 1085"/>
            <p:cNvSpPr>
              <a:spLocks noChangeShapeType="1"/>
            </p:cNvSpPr>
            <p:nvPr/>
          </p:nvSpPr>
          <p:spPr bwMode="auto">
            <a:xfrm flipV="1">
              <a:off x="4224" y="3072"/>
              <a:ext cx="528" cy="672"/>
            </a:xfrm>
            <a:prstGeom prst="line">
              <a:avLst/>
            </a:prstGeom>
            <a:ln>
              <a:solidFill>
                <a:srgbClr val="00B050"/>
              </a:solidFill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293950" name="Rectangle 1086"/>
          <p:cNvSpPr>
            <a:spLocks noChangeArrowheads="1"/>
          </p:cNvSpPr>
          <p:nvPr/>
        </p:nvSpPr>
        <p:spPr bwMode="auto">
          <a:xfrm>
            <a:off x="7148296" y="4941168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FF9933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293951" name="Rectangle 1087"/>
          <p:cNvSpPr>
            <a:spLocks noChangeArrowheads="1"/>
          </p:cNvSpPr>
          <p:nvPr/>
        </p:nvSpPr>
        <p:spPr bwMode="auto">
          <a:xfrm>
            <a:off x="6843496" y="4799607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FF9933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293952" name="Rectangle 1088"/>
          <p:cNvSpPr>
            <a:spLocks noChangeArrowheads="1"/>
          </p:cNvSpPr>
          <p:nvPr/>
        </p:nvSpPr>
        <p:spPr bwMode="auto">
          <a:xfrm>
            <a:off x="6767296" y="4342407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FF9933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293953" name="Rectangle 1089"/>
          <p:cNvSpPr>
            <a:spLocks noChangeArrowheads="1"/>
          </p:cNvSpPr>
          <p:nvPr/>
        </p:nvSpPr>
        <p:spPr bwMode="auto">
          <a:xfrm>
            <a:off x="7522946" y="3885207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FF9933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293954" name="Rectangle 1090"/>
          <p:cNvSpPr>
            <a:spLocks noChangeArrowheads="1"/>
          </p:cNvSpPr>
          <p:nvPr/>
        </p:nvSpPr>
        <p:spPr bwMode="auto">
          <a:xfrm>
            <a:off x="7751546" y="3275607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FF9933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293955" name="Rectangle 1091"/>
          <p:cNvSpPr>
            <a:spLocks noChangeArrowheads="1"/>
          </p:cNvSpPr>
          <p:nvPr/>
        </p:nvSpPr>
        <p:spPr bwMode="auto">
          <a:xfrm>
            <a:off x="7370546" y="2708920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FF9933"/>
                </a:solidFill>
                <a:latin typeface="+mn-ea"/>
                <a:ea typeface="+mn-ea"/>
              </a:rPr>
              <a:t>2</a:t>
            </a:r>
          </a:p>
        </p:txBody>
      </p:sp>
      <p:grpSp>
        <p:nvGrpSpPr>
          <p:cNvPr id="293956" name="Group 1092"/>
          <p:cNvGrpSpPr>
            <a:grpSpLocks/>
          </p:cNvGrpSpPr>
          <p:nvPr/>
        </p:nvGrpSpPr>
        <p:grpSpPr bwMode="auto">
          <a:xfrm>
            <a:off x="381000" y="2437407"/>
            <a:ext cx="4206875" cy="3733800"/>
            <a:chOff x="96" y="1536"/>
            <a:chExt cx="2650" cy="2352"/>
          </a:xfrm>
        </p:grpSpPr>
        <p:sp>
          <p:nvSpPr>
            <p:cNvPr id="293957" name="Text Box 1093"/>
            <p:cNvSpPr txBox="1">
              <a:spLocks noChangeArrowheads="1"/>
            </p:cNvSpPr>
            <p:nvPr/>
          </p:nvSpPr>
          <p:spPr bwMode="auto">
            <a:xfrm>
              <a:off x="1026" y="3236"/>
              <a:ext cx="1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1800">
                <a:latin typeface="+mn-ea"/>
                <a:ea typeface="+mn-ea"/>
              </a:endParaRPr>
            </a:p>
          </p:txBody>
        </p:sp>
        <p:sp>
          <p:nvSpPr>
            <p:cNvPr id="293958" name="Rectangle 1094"/>
            <p:cNvSpPr>
              <a:spLocks noChangeArrowheads="1"/>
            </p:cNvSpPr>
            <p:nvPr/>
          </p:nvSpPr>
          <p:spPr bwMode="auto">
            <a:xfrm>
              <a:off x="240" y="1536"/>
              <a:ext cx="2213" cy="2352"/>
            </a:xfrm>
            <a:prstGeom prst="rect">
              <a:avLst/>
            </a:prstGeom>
            <a:solidFill>
              <a:srgbClr val="003300">
                <a:alpha val="50000"/>
              </a:srgbClr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3959" name="Group 1095"/>
            <p:cNvGrpSpPr>
              <a:grpSpLocks/>
            </p:cNvGrpSpPr>
            <p:nvPr/>
          </p:nvGrpSpPr>
          <p:grpSpPr bwMode="auto">
            <a:xfrm>
              <a:off x="887" y="1927"/>
              <a:ext cx="261" cy="306"/>
              <a:chOff x="1020" y="1706"/>
              <a:chExt cx="317" cy="363"/>
            </a:xfrm>
          </p:grpSpPr>
          <p:sp>
            <p:nvSpPr>
              <p:cNvPr id="293960" name="Rectangle 1096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3961" name="Oval 1097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93962" name="Group 1098"/>
            <p:cNvGrpSpPr>
              <a:grpSpLocks/>
            </p:cNvGrpSpPr>
            <p:nvPr/>
          </p:nvGrpSpPr>
          <p:grpSpPr bwMode="auto">
            <a:xfrm>
              <a:off x="2166" y="1683"/>
              <a:ext cx="261" cy="307"/>
              <a:chOff x="1020" y="1706"/>
              <a:chExt cx="317" cy="363"/>
            </a:xfrm>
          </p:grpSpPr>
          <p:sp>
            <p:nvSpPr>
              <p:cNvPr id="293963" name="Rectangle 1099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3964" name="Oval 1100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3965" name="Line 1101"/>
            <p:cNvSpPr>
              <a:spLocks noChangeShapeType="1"/>
            </p:cNvSpPr>
            <p:nvPr/>
          </p:nvSpPr>
          <p:spPr bwMode="auto">
            <a:xfrm>
              <a:off x="1152" y="206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66" name="Line 1102"/>
            <p:cNvSpPr>
              <a:spLocks noChangeShapeType="1"/>
            </p:cNvSpPr>
            <p:nvPr/>
          </p:nvSpPr>
          <p:spPr bwMode="auto">
            <a:xfrm flipH="1">
              <a:off x="816" y="177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67" name="Line 1103"/>
            <p:cNvSpPr>
              <a:spLocks noChangeShapeType="1"/>
            </p:cNvSpPr>
            <p:nvPr/>
          </p:nvSpPr>
          <p:spPr bwMode="auto">
            <a:xfrm flipH="1">
              <a:off x="1488" y="230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68" name="Line 1104"/>
            <p:cNvSpPr>
              <a:spLocks noChangeShapeType="1"/>
            </p:cNvSpPr>
            <p:nvPr/>
          </p:nvSpPr>
          <p:spPr bwMode="auto">
            <a:xfrm flipH="1">
              <a:off x="1756" y="2900"/>
              <a:ext cx="3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69" name="Line 1105"/>
            <p:cNvSpPr>
              <a:spLocks noChangeShapeType="1"/>
            </p:cNvSpPr>
            <p:nvPr/>
          </p:nvSpPr>
          <p:spPr bwMode="auto">
            <a:xfrm flipH="1" flipV="1">
              <a:off x="1536" y="345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70" name="Line 1106"/>
            <p:cNvSpPr>
              <a:spLocks noChangeShapeType="1"/>
            </p:cNvSpPr>
            <p:nvPr/>
          </p:nvSpPr>
          <p:spPr bwMode="auto">
            <a:xfrm flipH="1">
              <a:off x="1954" y="2454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71" name="Line 1107"/>
            <p:cNvSpPr>
              <a:spLocks noChangeShapeType="1"/>
            </p:cNvSpPr>
            <p:nvPr/>
          </p:nvSpPr>
          <p:spPr bwMode="auto">
            <a:xfrm flipH="1" flipV="1">
              <a:off x="1796" y="3022"/>
              <a:ext cx="3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72" name="Line 1108"/>
            <p:cNvSpPr>
              <a:spLocks noChangeShapeType="1"/>
            </p:cNvSpPr>
            <p:nvPr/>
          </p:nvSpPr>
          <p:spPr bwMode="auto">
            <a:xfrm flipH="1" flipV="1">
              <a:off x="1296" y="3600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73" name="Line 1109"/>
            <p:cNvSpPr>
              <a:spLocks noChangeShapeType="1"/>
            </p:cNvSpPr>
            <p:nvPr/>
          </p:nvSpPr>
          <p:spPr bwMode="auto">
            <a:xfrm>
              <a:off x="2428" y="1846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74" name="Line 1110"/>
            <p:cNvSpPr>
              <a:spLocks noChangeShapeType="1"/>
            </p:cNvSpPr>
            <p:nvPr/>
          </p:nvSpPr>
          <p:spPr bwMode="auto">
            <a:xfrm flipH="1">
              <a:off x="96" y="2089"/>
              <a:ext cx="2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3975" name="Group 1111"/>
            <p:cNvGrpSpPr>
              <a:grpSpLocks/>
            </p:cNvGrpSpPr>
            <p:nvPr/>
          </p:nvGrpSpPr>
          <p:grpSpPr bwMode="auto">
            <a:xfrm>
              <a:off x="887" y="2616"/>
              <a:ext cx="261" cy="307"/>
              <a:chOff x="1020" y="1706"/>
              <a:chExt cx="317" cy="363"/>
            </a:xfrm>
          </p:grpSpPr>
          <p:sp>
            <p:nvSpPr>
              <p:cNvPr id="293976" name="Rectangle 1112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3977" name="Oval 1113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3978" name="Line 1114"/>
            <p:cNvSpPr>
              <a:spLocks noChangeShapeType="1"/>
            </p:cNvSpPr>
            <p:nvPr/>
          </p:nvSpPr>
          <p:spPr bwMode="auto">
            <a:xfrm>
              <a:off x="816" y="2448"/>
              <a:ext cx="11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79" name="Line 1115"/>
            <p:cNvSpPr>
              <a:spLocks noChangeShapeType="1"/>
            </p:cNvSpPr>
            <p:nvPr/>
          </p:nvSpPr>
          <p:spPr bwMode="auto">
            <a:xfrm flipH="1">
              <a:off x="96" y="2778"/>
              <a:ext cx="2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3980" name="Object 11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4706349"/>
                </p:ext>
              </p:extLst>
            </p:nvPr>
          </p:nvGraphicFramePr>
          <p:xfrm>
            <a:off x="641" y="1865"/>
            <a:ext cx="125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6720" imgH="215640" progId="Equation.3">
                    <p:embed/>
                  </p:oleObj>
                </mc:Choice>
                <mc:Fallback>
                  <p:oleObj name="Equation" r:id="rId12" imgW="126720" imgH="215640" progId="Equation.3">
                    <p:embed/>
                    <p:pic>
                      <p:nvPicPr>
                        <p:cNvPr id="293980" name="Object 11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1" y="1865"/>
                          <a:ext cx="125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3981" name="Object 11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3431048"/>
                </p:ext>
              </p:extLst>
            </p:nvPr>
          </p:nvGraphicFramePr>
          <p:xfrm>
            <a:off x="628" y="2554"/>
            <a:ext cx="15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52280" imgH="215640" progId="Equation.3">
                    <p:embed/>
                  </p:oleObj>
                </mc:Choice>
                <mc:Fallback>
                  <p:oleObj name="Equation" r:id="rId14" imgW="152280" imgH="215640" progId="Equation.3">
                    <p:embed/>
                    <p:pic>
                      <p:nvPicPr>
                        <p:cNvPr id="293981" name="Object 11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" y="2554"/>
                          <a:ext cx="151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3982" name="Text Box 1118"/>
            <p:cNvSpPr txBox="1">
              <a:spLocks noChangeArrowheads="1"/>
            </p:cNvSpPr>
            <p:nvPr/>
          </p:nvSpPr>
          <p:spPr bwMode="auto">
            <a:xfrm>
              <a:off x="96" y="1824"/>
              <a:ext cx="1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A</a:t>
              </a:r>
            </a:p>
          </p:txBody>
        </p:sp>
        <p:sp>
          <p:nvSpPr>
            <p:cNvPr id="293983" name="Text Box 1119"/>
            <p:cNvSpPr txBox="1">
              <a:spLocks noChangeArrowheads="1"/>
            </p:cNvSpPr>
            <p:nvPr/>
          </p:nvSpPr>
          <p:spPr bwMode="auto">
            <a:xfrm>
              <a:off x="96" y="2544"/>
              <a:ext cx="11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B</a:t>
              </a:r>
            </a:p>
          </p:txBody>
        </p:sp>
        <p:sp>
          <p:nvSpPr>
            <p:cNvPr id="293984" name="Line 1120"/>
            <p:cNvSpPr>
              <a:spLocks noChangeShapeType="1"/>
            </p:cNvSpPr>
            <p:nvPr/>
          </p:nvSpPr>
          <p:spPr bwMode="auto">
            <a:xfrm flipH="1">
              <a:off x="1756" y="1764"/>
              <a:ext cx="0" cy="1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85" name="Line 1121"/>
            <p:cNvSpPr>
              <a:spLocks noChangeShapeType="1"/>
            </p:cNvSpPr>
            <p:nvPr/>
          </p:nvSpPr>
          <p:spPr bwMode="auto">
            <a:xfrm flipH="1" flipV="1">
              <a:off x="1968" y="192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86" name="Line 1122"/>
            <p:cNvSpPr>
              <a:spLocks noChangeShapeType="1"/>
            </p:cNvSpPr>
            <p:nvPr/>
          </p:nvSpPr>
          <p:spPr bwMode="auto">
            <a:xfrm>
              <a:off x="1968" y="1920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87" name="Line 1123"/>
            <p:cNvSpPr>
              <a:spLocks noChangeShapeType="1"/>
            </p:cNvSpPr>
            <p:nvPr/>
          </p:nvSpPr>
          <p:spPr bwMode="auto">
            <a:xfrm>
              <a:off x="1536" y="2064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88" name="Line 1124"/>
            <p:cNvSpPr>
              <a:spLocks noChangeShapeType="1"/>
            </p:cNvSpPr>
            <p:nvPr/>
          </p:nvSpPr>
          <p:spPr bwMode="auto">
            <a:xfrm>
              <a:off x="1536" y="2304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89" name="Line 1125"/>
            <p:cNvSpPr>
              <a:spLocks noChangeShapeType="1"/>
            </p:cNvSpPr>
            <p:nvPr/>
          </p:nvSpPr>
          <p:spPr bwMode="auto">
            <a:xfrm flipV="1">
              <a:off x="1536" y="2352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0" name="Line 1126"/>
            <p:cNvSpPr>
              <a:spLocks noChangeShapeType="1"/>
            </p:cNvSpPr>
            <p:nvPr/>
          </p:nvSpPr>
          <p:spPr bwMode="auto">
            <a:xfrm>
              <a:off x="1296" y="2784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1" name="Line 1127"/>
            <p:cNvSpPr>
              <a:spLocks noChangeShapeType="1"/>
            </p:cNvSpPr>
            <p:nvPr/>
          </p:nvSpPr>
          <p:spPr bwMode="auto">
            <a:xfrm flipV="1">
              <a:off x="1296" y="3022"/>
              <a:ext cx="500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2" name="Line 1128"/>
            <p:cNvSpPr>
              <a:spLocks noChangeShapeType="1"/>
            </p:cNvSpPr>
            <p:nvPr/>
          </p:nvSpPr>
          <p:spPr bwMode="auto">
            <a:xfrm flipV="1">
              <a:off x="1296" y="302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3" name="Line 1129"/>
            <p:cNvSpPr>
              <a:spLocks noChangeShapeType="1"/>
            </p:cNvSpPr>
            <p:nvPr/>
          </p:nvSpPr>
          <p:spPr bwMode="auto">
            <a:xfrm>
              <a:off x="816" y="1776"/>
              <a:ext cx="0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4" name="Oval 1130"/>
            <p:cNvSpPr>
              <a:spLocks noChangeArrowheads="1"/>
            </p:cNvSpPr>
            <p:nvPr/>
          </p:nvSpPr>
          <p:spPr bwMode="auto">
            <a:xfrm>
              <a:off x="768" y="2048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5" name="Oval 1131"/>
            <p:cNvSpPr>
              <a:spLocks noChangeArrowheads="1"/>
            </p:cNvSpPr>
            <p:nvPr/>
          </p:nvSpPr>
          <p:spPr bwMode="auto">
            <a:xfrm>
              <a:off x="768" y="2738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6" name="Oval 1132"/>
            <p:cNvSpPr>
              <a:spLocks noChangeArrowheads="1"/>
            </p:cNvSpPr>
            <p:nvPr/>
          </p:nvSpPr>
          <p:spPr bwMode="auto">
            <a:xfrm>
              <a:off x="1717" y="1724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7" name="Oval 1133"/>
            <p:cNvSpPr>
              <a:spLocks noChangeArrowheads="1"/>
            </p:cNvSpPr>
            <p:nvPr/>
          </p:nvSpPr>
          <p:spPr bwMode="auto">
            <a:xfrm>
              <a:off x="1914" y="2413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8" name="Oval 1134"/>
            <p:cNvSpPr>
              <a:spLocks noChangeArrowheads="1"/>
            </p:cNvSpPr>
            <p:nvPr/>
          </p:nvSpPr>
          <p:spPr bwMode="auto">
            <a:xfrm>
              <a:off x="1488" y="2256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9" name="Oval 1135"/>
            <p:cNvSpPr>
              <a:spLocks noChangeArrowheads="1"/>
            </p:cNvSpPr>
            <p:nvPr/>
          </p:nvSpPr>
          <p:spPr bwMode="auto">
            <a:xfrm>
              <a:off x="1248" y="2976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4000" name="Group 1136"/>
            <p:cNvGrpSpPr>
              <a:grpSpLocks/>
            </p:cNvGrpSpPr>
            <p:nvPr/>
          </p:nvGrpSpPr>
          <p:grpSpPr bwMode="auto">
            <a:xfrm>
              <a:off x="2152" y="2251"/>
              <a:ext cx="261" cy="307"/>
              <a:chOff x="1020" y="1706"/>
              <a:chExt cx="317" cy="363"/>
            </a:xfrm>
          </p:grpSpPr>
          <p:sp>
            <p:nvSpPr>
              <p:cNvPr id="294001" name="Rectangle 1137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4002" name="Oval 1138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4003" name="Line 1139"/>
            <p:cNvSpPr>
              <a:spLocks noChangeShapeType="1"/>
            </p:cNvSpPr>
            <p:nvPr/>
          </p:nvSpPr>
          <p:spPr bwMode="auto">
            <a:xfrm>
              <a:off x="2428" y="2413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4004" name="Group 1140"/>
            <p:cNvGrpSpPr>
              <a:grpSpLocks/>
            </p:cNvGrpSpPr>
            <p:nvPr/>
          </p:nvGrpSpPr>
          <p:grpSpPr bwMode="auto">
            <a:xfrm>
              <a:off x="2152" y="2819"/>
              <a:ext cx="261" cy="306"/>
              <a:chOff x="1020" y="1706"/>
              <a:chExt cx="317" cy="363"/>
            </a:xfrm>
          </p:grpSpPr>
          <p:sp>
            <p:nvSpPr>
              <p:cNvPr id="294005" name="Rectangle 1141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4006" name="Oval 1142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4007" name="Line 1143"/>
            <p:cNvSpPr>
              <a:spLocks noChangeShapeType="1"/>
            </p:cNvSpPr>
            <p:nvPr/>
          </p:nvSpPr>
          <p:spPr bwMode="auto">
            <a:xfrm>
              <a:off x="2414" y="2981"/>
              <a:ext cx="2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4008" name="Group 1144"/>
            <p:cNvGrpSpPr>
              <a:grpSpLocks/>
            </p:cNvGrpSpPr>
            <p:nvPr/>
          </p:nvGrpSpPr>
          <p:grpSpPr bwMode="auto">
            <a:xfrm>
              <a:off x="2152" y="3386"/>
              <a:ext cx="261" cy="307"/>
              <a:chOff x="1020" y="1706"/>
              <a:chExt cx="317" cy="363"/>
            </a:xfrm>
          </p:grpSpPr>
          <p:sp>
            <p:nvSpPr>
              <p:cNvPr id="294009" name="Rectangle 1145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4010" name="Oval 1146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4011" name="Line 1147"/>
            <p:cNvSpPr>
              <a:spLocks noChangeShapeType="1"/>
            </p:cNvSpPr>
            <p:nvPr/>
          </p:nvSpPr>
          <p:spPr bwMode="auto">
            <a:xfrm>
              <a:off x="2414" y="3549"/>
              <a:ext cx="1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4012" name="Text Box 1148"/>
            <p:cNvSpPr txBox="1">
              <a:spLocks noChangeArrowheads="1"/>
            </p:cNvSpPr>
            <p:nvPr/>
          </p:nvSpPr>
          <p:spPr bwMode="auto">
            <a:xfrm>
              <a:off x="2507" y="1600"/>
              <a:ext cx="2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294013" name="Text Box 1149"/>
            <p:cNvSpPr txBox="1">
              <a:spLocks noChangeArrowheads="1"/>
            </p:cNvSpPr>
            <p:nvPr/>
          </p:nvSpPr>
          <p:spPr bwMode="auto">
            <a:xfrm>
              <a:off x="2509" y="2161"/>
              <a:ext cx="2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294014" name="Text Box 1150"/>
            <p:cNvSpPr txBox="1">
              <a:spLocks noChangeArrowheads="1"/>
            </p:cNvSpPr>
            <p:nvPr/>
          </p:nvSpPr>
          <p:spPr bwMode="auto">
            <a:xfrm>
              <a:off x="2509" y="2738"/>
              <a:ext cx="2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294015" name="Text Box 1151"/>
            <p:cNvSpPr txBox="1">
              <a:spLocks noChangeArrowheads="1"/>
            </p:cNvSpPr>
            <p:nvPr/>
          </p:nvSpPr>
          <p:spPr bwMode="auto">
            <a:xfrm>
              <a:off x="2507" y="3305"/>
              <a:ext cx="2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3</a:t>
              </a:r>
            </a:p>
          </p:txBody>
        </p:sp>
        <p:grpSp>
          <p:nvGrpSpPr>
            <p:cNvPr id="294016" name="Group 1152"/>
            <p:cNvGrpSpPr>
              <a:grpSpLocks/>
            </p:cNvGrpSpPr>
            <p:nvPr/>
          </p:nvGrpSpPr>
          <p:grpSpPr bwMode="auto">
            <a:xfrm>
              <a:off x="373" y="1927"/>
              <a:ext cx="261" cy="306"/>
              <a:chOff x="1020" y="1706"/>
              <a:chExt cx="317" cy="363"/>
            </a:xfrm>
          </p:grpSpPr>
          <p:sp>
            <p:nvSpPr>
              <p:cNvPr id="294017" name="Rectangle 1153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4018" name="Oval 1154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94019" name="Group 1155"/>
            <p:cNvGrpSpPr>
              <a:grpSpLocks/>
            </p:cNvGrpSpPr>
            <p:nvPr/>
          </p:nvGrpSpPr>
          <p:grpSpPr bwMode="auto">
            <a:xfrm>
              <a:off x="373" y="2616"/>
              <a:ext cx="261" cy="307"/>
              <a:chOff x="1020" y="1706"/>
              <a:chExt cx="317" cy="363"/>
            </a:xfrm>
          </p:grpSpPr>
          <p:sp>
            <p:nvSpPr>
              <p:cNvPr id="294020" name="Rectangle 1156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4021" name="Oval 1157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4022" name="Line 1158"/>
            <p:cNvSpPr>
              <a:spLocks noChangeShapeType="1"/>
            </p:cNvSpPr>
            <p:nvPr/>
          </p:nvSpPr>
          <p:spPr bwMode="auto">
            <a:xfrm>
              <a:off x="649" y="2089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4023" name="Line 1159"/>
            <p:cNvSpPr>
              <a:spLocks noChangeShapeType="1"/>
            </p:cNvSpPr>
            <p:nvPr/>
          </p:nvSpPr>
          <p:spPr bwMode="auto">
            <a:xfrm>
              <a:off x="649" y="2778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4024" name="Object 11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6298179"/>
                </p:ext>
              </p:extLst>
            </p:nvPr>
          </p:nvGraphicFramePr>
          <p:xfrm>
            <a:off x="1182" y="1885"/>
            <a:ext cx="158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64880" imgH="177480" progId="Equation.3">
                    <p:embed/>
                  </p:oleObj>
                </mc:Choice>
                <mc:Fallback>
                  <p:oleObj name="Equation" r:id="rId16" imgW="164880" imgH="177480" progId="Equation.3">
                    <p:embed/>
                    <p:pic>
                      <p:nvPicPr>
                        <p:cNvPr id="294024" name="Object 11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2" y="1885"/>
                          <a:ext cx="158" cy="1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4025" name="Object 11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7595811"/>
                </p:ext>
              </p:extLst>
            </p:nvPr>
          </p:nvGraphicFramePr>
          <p:xfrm>
            <a:off x="1172" y="2572"/>
            <a:ext cx="170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77480" imgH="177480" progId="Equation.3">
                    <p:embed/>
                  </p:oleObj>
                </mc:Choice>
                <mc:Fallback>
                  <p:oleObj name="Equation" r:id="rId18" imgW="177480" imgH="177480" progId="Equation.3">
                    <p:embed/>
                    <p:pic>
                      <p:nvPicPr>
                        <p:cNvPr id="294025" name="Object 11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2" y="2572"/>
                          <a:ext cx="170" cy="1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4026" name="Line 1162"/>
            <p:cNvSpPr>
              <a:spLocks noChangeShapeType="1"/>
            </p:cNvSpPr>
            <p:nvPr/>
          </p:nvSpPr>
          <p:spPr bwMode="auto">
            <a:xfrm>
              <a:off x="816" y="2448"/>
              <a:ext cx="0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4027" name="Line 1163"/>
            <p:cNvSpPr>
              <a:spLocks noChangeShapeType="1"/>
            </p:cNvSpPr>
            <p:nvPr/>
          </p:nvSpPr>
          <p:spPr bwMode="auto">
            <a:xfrm flipH="1">
              <a:off x="1152" y="278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294028" name="Rectangle 1164"/>
          <p:cNvSpPr>
            <a:spLocks noChangeArrowheads="1"/>
          </p:cNvSpPr>
          <p:nvPr/>
        </p:nvSpPr>
        <p:spPr bwMode="auto">
          <a:xfrm>
            <a:off x="939610" y="6263734"/>
            <a:ext cx="40158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b="1" dirty="0" err="1">
                <a:latin typeface="Noto Serif SC" panose="02020200000000000000" pitchFamily="18" charset="-122"/>
                <a:ea typeface="Noto Serif SC" panose="02020200000000000000" pitchFamily="18" charset="-122"/>
              </a:rPr>
              <a:t>t</a:t>
            </a:r>
            <a:r>
              <a:rPr lang="en-US" altLang="zh-CN" sz="2400" b="1" baseline="-30000" dirty="0" err="1">
                <a:latin typeface="Noto Serif SC" panose="02020200000000000000" pitchFamily="18" charset="-122"/>
                <a:ea typeface="Noto Serif SC" panose="02020200000000000000" pitchFamily="18" charset="-122"/>
              </a:rPr>
              <a:t>spike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加寬、兩處出現零重疊 </a:t>
            </a:r>
          </a:p>
        </p:txBody>
      </p:sp>
      <p:sp>
        <p:nvSpPr>
          <p:cNvPr id="294029" name="Text Box 1165"/>
          <p:cNvSpPr txBox="1">
            <a:spLocks noChangeArrowheads="1"/>
          </p:cNvSpPr>
          <p:nvPr/>
        </p:nvSpPr>
        <p:spPr bwMode="auto">
          <a:xfrm>
            <a:off x="5256534" y="6094456"/>
            <a:ext cx="27717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 err="1">
                <a:latin typeface="Noto Serif SC" panose="02020200000000000000" pitchFamily="18" charset="-122"/>
                <a:ea typeface="Noto Serif SC" panose="02020200000000000000" pitchFamily="18" charset="-122"/>
              </a:rPr>
              <a:t>t</a:t>
            </a:r>
            <a:r>
              <a:rPr lang="en-US" altLang="zh-CN" sz="2000" b="1" baseline="-30000" dirty="0" err="1">
                <a:latin typeface="Noto Serif SC" panose="02020200000000000000" pitchFamily="18" charset="-122"/>
                <a:ea typeface="Noto Serif SC" panose="02020200000000000000" pitchFamily="18" charset="-122"/>
              </a:rPr>
              <a:t>overlap</a:t>
            </a:r>
            <a:r>
              <a:rPr lang="en-US" altLang="zh-CN" sz="20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=1</a:t>
            </a:r>
            <a:r>
              <a:rPr lang="zh-CN" altLang="en-US" sz="20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級延遲</a:t>
            </a:r>
          </a:p>
        </p:txBody>
      </p:sp>
      <p:sp>
        <p:nvSpPr>
          <p:cNvPr id="294030" name="Text Box 1166"/>
          <p:cNvSpPr txBox="1">
            <a:spLocks noChangeArrowheads="1"/>
          </p:cNvSpPr>
          <p:nvPr/>
        </p:nvSpPr>
        <p:spPr bwMode="auto">
          <a:xfrm>
            <a:off x="5256534" y="6381328"/>
            <a:ext cx="35639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 err="1">
                <a:latin typeface="Noto Serif SC" panose="02020200000000000000" pitchFamily="18" charset="-122"/>
                <a:ea typeface="Noto Serif SC" panose="02020200000000000000" pitchFamily="18" charset="-122"/>
              </a:rPr>
              <a:t>t</a:t>
            </a:r>
            <a:r>
              <a:rPr lang="en-US" altLang="zh-CN" sz="2000" b="1" baseline="-30000" dirty="0" err="1">
                <a:latin typeface="Noto Serif SC" panose="02020200000000000000" pitchFamily="18" charset="-122"/>
                <a:ea typeface="Noto Serif SC" panose="02020200000000000000" pitchFamily="18" charset="-122"/>
              </a:rPr>
              <a:t>spike</a:t>
            </a:r>
            <a:r>
              <a:rPr lang="en-US" altLang="zh-CN" sz="20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 = t</a:t>
            </a:r>
            <a:r>
              <a:rPr lang="en-US" altLang="zh-CN" sz="2000" b="1" baseline="-30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skew</a:t>
            </a:r>
            <a:r>
              <a:rPr lang="en-US" altLang="zh-CN" sz="20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+1</a:t>
            </a:r>
            <a:r>
              <a:rPr lang="zh-CN" altLang="en-US" sz="20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級延遲</a:t>
            </a:r>
          </a:p>
        </p:txBody>
      </p:sp>
    </p:spTree>
    <p:extLst>
      <p:ext uri="{BB962C8B-B14F-4D97-AF65-F5344CB8AC3E}">
        <p14:creationId xmlns:p14="http://schemas.microsoft.com/office/powerpoint/2010/main" val="122800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9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93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93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3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3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293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2939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29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3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3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93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29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293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2939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293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93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93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93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3" dur="500"/>
                                        <p:tgtEl>
                                          <p:spTgt spid="2939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8" dur="500"/>
                                        <p:tgtEl>
                                          <p:spTgt spid="293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3" dur="500"/>
                                        <p:tgtEl>
                                          <p:spTgt spid="293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93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93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93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93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93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29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6" dur="500"/>
                                        <p:tgtEl>
                                          <p:spTgt spid="293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939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939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7" dur="500"/>
                                        <p:tgtEl>
                                          <p:spTgt spid="2939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2" dur="500"/>
                                        <p:tgtEl>
                                          <p:spTgt spid="293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7" dur="500"/>
                                        <p:tgtEl>
                                          <p:spTgt spid="2939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93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93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293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1" dur="500"/>
                                        <p:tgtEl>
                                          <p:spTgt spid="293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6" dur="500"/>
                                        <p:tgtEl>
                                          <p:spTgt spid="293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93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93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293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0" dur="500"/>
                                        <p:tgtEl>
                                          <p:spTgt spid="2939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921" grpId="0" animBg="1"/>
      <p:bldP spid="293922" grpId="0" animBg="1"/>
      <p:bldP spid="293923" grpId="0" animBg="1"/>
      <p:bldP spid="293924" grpId="0" animBg="1"/>
      <p:bldP spid="293925" grpId="0" animBg="1"/>
      <p:bldP spid="293926" grpId="0" animBg="1"/>
      <p:bldP spid="293927" grpId="0" animBg="1"/>
      <p:bldP spid="293928" grpId="0" animBg="1"/>
      <p:bldP spid="293929" grpId="0" animBg="1"/>
      <p:bldP spid="293930" grpId="0" animBg="1"/>
      <p:bldP spid="293931" grpId="0" animBg="1"/>
      <p:bldP spid="293932" grpId="0" animBg="1"/>
      <p:bldP spid="293933" grpId="0" animBg="1"/>
      <p:bldP spid="293934" grpId="0" animBg="1"/>
      <p:bldP spid="293935" grpId="0" animBg="1"/>
      <p:bldP spid="293936" grpId="0" animBg="1"/>
      <p:bldP spid="293937" grpId="0" animBg="1"/>
      <p:bldP spid="293938" grpId="0" animBg="1"/>
      <p:bldP spid="293939" grpId="0" animBg="1"/>
      <p:bldP spid="293940" grpId="0" animBg="1"/>
      <p:bldP spid="293941" grpId="0" animBg="1"/>
      <p:bldP spid="293942" grpId="0" autoUpdateAnimBg="0"/>
      <p:bldP spid="293950" grpId="0" autoUpdateAnimBg="0"/>
      <p:bldP spid="293951" grpId="0" autoUpdateAnimBg="0"/>
      <p:bldP spid="293952" grpId="0" autoUpdateAnimBg="0"/>
      <p:bldP spid="293953" grpId="0" autoUpdateAnimBg="0"/>
      <p:bldP spid="293954" grpId="0" autoUpdateAnimBg="0"/>
      <p:bldP spid="293955" grpId="0" autoUpdateAnimBg="0"/>
      <p:bldP spid="294028" grpId="0" autoUpdateAnimBg="0"/>
      <p:bldP spid="294029" grpId="0" autoUpdateAnimBg="0"/>
      <p:bldP spid="294030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26</a:t>
            </a:r>
            <a:r>
              <a:rPr lang="zh-CN" altLang="en-US" sz="3600" dirty="0"/>
              <a:t>）</a:t>
            </a: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9135-F485-4E36-8503-FF8FD5110CE8}" type="slidenum">
              <a:rPr lang="en-US" altLang="zh-CN">
                <a:latin typeface="+mn-ea"/>
                <a:ea typeface="+mn-ea"/>
              </a:rPr>
              <a:pPr/>
              <a:t>30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94914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609600" y="1524000"/>
            <a:ext cx="8153400" cy="4648200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+mn-ea"/>
              </a:rPr>
              <a:t>用使能端可以消除延遲產生尖峰和</a:t>
            </a:r>
            <a:r>
              <a:rPr lang="zh-CN" altLang="en-US" sz="3200" b="1" dirty="0">
                <a:effectLst/>
                <a:latin typeface="+mn-ea"/>
              </a:rPr>
              <a:t>零重疊</a:t>
            </a:r>
          </a:p>
          <a:p>
            <a:pPr lvl="1">
              <a:spcBef>
                <a:spcPct val="50000"/>
              </a:spcBef>
            </a:pPr>
            <a:r>
              <a:rPr lang="zh-CN" altLang="en-US" sz="2800" b="1" dirty="0">
                <a:effectLst/>
                <a:latin typeface="+mn-ea"/>
              </a:rPr>
              <a:t>在</a:t>
            </a:r>
            <a:r>
              <a:rPr lang="en-US" altLang="zh-CN" sz="2800" b="1" dirty="0">
                <a:effectLst/>
                <a:latin typeface="+mn-ea"/>
              </a:rPr>
              <a:t>A B</a:t>
            </a:r>
            <a:r>
              <a:rPr lang="zh-CN" altLang="en-US" sz="2800" b="1" dirty="0">
                <a:effectLst/>
                <a:latin typeface="+mn-ea"/>
              </a:rPr>
              <a:t>變化期間，輸出是不穩定的，可能會出現尖峰信號。加一個能覆蓋輸入變化的正脈衝</a:t>
            </a:r>
            <a:r>
              <a:rPr lang="en-US" altLang="zh-CN" sz="2800" b="1" dirty="0">
                <a:effectLst/>
                <a:latin typeface="+mn-ea"/>
              </a:rPr>
              <a:t>(   </a:t>
            </a:r>
            <a:r>
              <a:rPr lang="zh-CN" altLang="en-US" sz="2800" b="1" dirty="0">
                <a:effectLst/>
                <a:latin typeface="+mn-ea"/>
              </a:rPr>
              <a:t>＝</a:t>
            </a:r>
            <a:r>
              <a:rPr lang="en-US" altLang="zh-CN" sz="2800" b="1" dirty="0">
                <a:effectLst/>
                <a:latin typeface="+mn-ea"/>
              </a:rPr>
              <a:t>1)</a:t>
            </a:r>
            <a:r>
              <a:rPr lang="zh-CN" altLang="en-US" sz="2800" b="1" dirty="0">
                <a:effectLst/>
                <a:latin typeface="+mn-ea"/>
              </a:rPr>
              <a:t>，使得</a:t>
            </a:r>
            <a:r>
              <a:rPr lang="en-US" altLang="zh-CN" sz="2800" b="1" dirty="0">
                <a:effectLst/>
                <a:latin typeface="+mn-ea"/>
              </a:rPr>
              <a:t>A B</a:t>
            </a:r>
            <a:r>
              <a:rPr lang="zh-CN" altLang="en-US" sz="2800" b="1" dirty="0">
                <a:effectLst/>
                <a:latin typeface="+mn-ea"/>
              </a:rPr>
              <a:t>變化期間強制 </a:t>
            </a:r>
            <a:r>
              <a:rPr lang="en-US" altLang="zh-CN" sz="2800" b="1" dirty="0">
                <a:effectLst/>
                <a:latin typeface="+mn-ea"/>
              </a:rPr>
              <a:t>Y</a:t>
            </a:r>
            <a:r>
              <a:rPr lang="en-US" altLang="zh-CN" sz="2800" b="1" baseline="-25000" dirty="0">
                <a:effectLst/>
                <a:latin typeface="+mn-ea"/>
              </a:rPr>
              <a:t>0</a:t>
            </a:r>
            <a:r>
              <a:rPr lang="en-US" altLang="zh-CN" sz="2800" b="1" dirty="0">
                <a:effectLst/>
                <a:latin typeface="+mn-ea"/>
              </a:rPr>
              <a:t>~Y</a:t>
            </a:r>
            <a:r>
              <a:rPr lang="en-US" altLang="zh-CN" sz="2800" b="1" baseline="-25000" dirty="0">
                <a:effectLst/>
                <a:latin typeface="+mn-ea"/>
              </a:rPr>
              <a:t>3</a:t>
            </a:r>
            <a:r>
              <a:rPr lang="en-US" altLang="zh-CN" sz="2800" b="1" dirty="0">
                <a:effectLst/>
                <a:latin typeface="+mn-ea"/>
              </a:rPr>
              <a:t>=1</a:t>
            </a:r>
            <a:r>
              <a:rPr lang="zh-CN" altLang="en-US" sz="2800" b="1" dirty="0">
                <a:effectLst/>
                <a:latin typeface="+mn-ea"/>
              </a:rPr>
              <a:t>，即可消除輸出端的干擾。</a:t>
            </a:r>
          </a:p>
          <a:p>
            <a:pPr>
              <a:spcBef>
                <a:spcPct val="50000"/>
              </a:spcBef>
            </a:pPr>
            <a:endParaRPr lang="en-US" altLang="zh-CN" sz="2000" b="1" dirty="0">
              <a:effectLst/>
              <a:latin typeface="+mn-ea"/>
            </a:endParaRPr>
          </a:p>
        </p:txBody>
      </p:sp>
      <p:graphicFrame>
        <p:nvGraphicFramePr>
          <p:cNvPr id="2949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0127046"/>
              </p:ext>
            </p:extLst>
          </p:nvPr>
        </p:nvGraphicFramePr>
        <p:xfrm>
          <a:off x="899592" y="4221088"/>
          <a:ext cx="2774995" cy="2530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2" imgW="1724040" imgH="1571760" progId="PBrush">
                  <p:embed/>
                </p:oleObj>
              </mc:Choice>
              <mc:Fallback>
                <p:oleObj name="BMP 图像" r:id="rId2" imgW="1724040" imgH="1571760" progId="PBrush">
                  <p:embed/>
                  <p:pic>
                    <p:nvPicPr>
                      <p:cNvPr id="2949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221088"/>
                        <a:ext cx="2774995" cy="25303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616615"/>
              </p:ext>
            </p:extLst>
          </p:nvPr>
        </p:nvGraphicFramePr>
        <p:xfrm>
          <a:off x="1643042" y="3143248"/>
          <a:ext cx="28575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2280" imgH="215640" progId="Equation.3">
                  <p:embed/>
                </p:oleObj>
              </mc:Choice>
              <mc:Fallback>
                <p:oleObj name="公式" r:id="rId4" imgW="152280" imgH="215640" progId="Equation.3">
                  <p:embed/>
                  <p:pic>
                    <p:nvPicPr>
                      <p:cNvPr id="2949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42" y="3143248"/>
                        <a:ext cx="285750" cy="40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919" name="Rectangle 7"/>
          <p:cNvSpPr>
            <a:spLocks noChangeArrowheads="1"/>
          </p:cNvSpPr>
          <p:nvPr/>
        </p:nvSpPr>
        <p:spPr bwMode="auto">
          <a:xfrm>
            <a:off x="4067176" y="4149726"/>
            <a:ext cx="480131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抑制尖峰和零重疊的使能正信號應</a:t>
            </a:r>
          </a:p>
          <a:p>
            <a:r>
              <a:rPr lang="zh-CN" altLang="en-US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先於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（或同時）解碼器的變數輸入</a:t>
            </a:r>
            <a:endParaRPr lang="en-US" altLang="zh-CN" sz="2400" b="1" dirty="0">
              <a:latin typeface="Noto Serif SC" panose="02020200000000000000" pitchFamily="18" charset="-122"/>
              <a:ea typeface="Noto Serif SC" panose="02020200000000000000" pitchFamily="18" charset="-122"/>
            </a:endParaRPr>
          </a:p>
          <a:p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變化前到來，正信號撤除應滯後於</a:t>
            </a:r>
            <a:endParaRPr lang="en-US" altLang="zh-CN" sz="2400" b="1" dirty="0">
              <a:latin typeface="Noto Serif SC" panose="02020200000000000000" pitchFamily="18" charset="-122"/>
              <a:ea typeface="Noto Serif SC" panose="02020200000000000000" pitchFamily="18" charset="-122"/>
            </a:endParaRPr>
          </a:p>
          <a:p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變數輸入的變化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(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至少滯後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級緩衝</a:t>
            </a:r>
            <a:endParaRPr lang="en-US" altLang="zh-CN" sz="2400" b="1" dirty="0">
              <a:latin typeface="Noto Serif SC" panose="02020200000000000000" pitchFamily="18" charset="-122"/>
              <a:ea typeface="Noto Serif SC" panose="02020200000000000000" pitchFamily="18" charset="-122"/>
            </a:endParaRPr>
          </a:p>
          <a:p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的延遲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)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。</a:t>
            </a:r>
          </a:p>
          <a:p>
            <a:r>
              <a:rPr lang="zh-CN" altLang="en-US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但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也不能太寬，否則速度會慢。</a:t>
            </a:r>
          </a:p>
        </p:txBody>
      </p:sp>
    </p:spTree>
    <p:extLst>
      <p:ext uri="{BB962C8B-B14F-4D97-AF65-F5344CB8AC3E}">
        <p14:creationId xmlns:p14="http://schemas.microsoft.com/office/powerpoint/2010/main" val="26619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27</a:t>
            </a:r>
            <a:r>
              <a:rPr lang="zh-CN" altLang="en-US" sz="3600" dirty="0"/>
              <a:t>）</a:t>
            </a:r>
          </a:p>
        </p:txBody>
      </p:sp>
      <p:sp>
        <p:nvSpPr>
          <p:cNvPr id="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BCF6-4A38-4F22-AFF1-F41549E23EA7}" type="slidenum">
              <a:rPr lang="en-US" altLang="zh-CN"/>
              <a:pPr/>
              <a:t>31</a:t>
            </a:fld>
            <a:endParaRPr lang="en-US" altLang="zh-CN" dirty="0"/>
          </a:p>
        </p:txBody>
      </p:sp>
      <p:sp>
        <p:nvSpPr>
          <p:cNvPr id="295939" name="Rectangle 1027"/>
          <p:cNvSpPr>
            <a:spLocks noChangeArrowheads="1"/>
          </p:cNvSpPr>
          <p:nvPr/>
        </p:nvSpPr>
        <p:spPr bwMode="auto">
          <a:xfrm>
            <a:off x="878366" y="1771006"/>
            <a:ext cx="82301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使用    來抑制零重疊和尖峰，解碼器的輸出波形變窄了。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 </a:t>
            </a:r>
          </a:p>
        </p:txBody>
      </p:sp>
      <p:graphicFrame>
        <p:nvGraphicFramePr>
          <p:cNvPr id="295940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577170"/>
              </p:ext>
            </p:extLst>
          </p:nvPr>
        </p:nvGraphicFramePr>
        <p:xfrm>
          <a:off x="1618332" y="1628800"/>
          <a:ext cx="43338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2280" imgH="215640" progId="Equation.3">
                  <p:embed/>
                </p:oleObj>
              </mc:Choice>
              <mc:Fallback>
                <p:oleObj name="公式" r:id="rId2" imgW="152280" imgH="215640" progId="Equation.3">
                  <p:embed/>
                  <p:pic>
                    <p:nvPicPr>
                      <p:cNvPr id="29594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8332" y="1628800"/>
                        <a:ext cx="433388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5941" name="Group 1029"/>
          <p:cNvGrpSpPr>
            <a:grpSpLocks/>
          </p:cNvGrpSpPr>
          <p:nvPr/>
        </p:nvGrpSpPr>
        <p:grpSpPr bwMode="auto">
          <a:xfrm>
            <a:off x="5060950" y="2795588"/>
            <a:ext cx="3038475" cy="3802062"/>
            <a:chOff x="3188" y="1761"/>
            <a:chExt cx="1914" cy="2395"/>
          </a:xfrm>
        </p:grpSpPr>
        <p:graphicFrame>
          <p:nvGraphicFramePr>
            <p:cNvPr id="295942" name="Object 1030"/>
            <p:cNvGraphicFramePr>
              <a:graphicFrameLocks noChangeAspect="1"/>
            </p:cNvGraphicFramePr>
            <p:nvPr/>
          </p:nvGraphicFramePr>
          <p:xfrm>
            <a:off x="3188" y="2069"/>
            <a:ext cx="1914" cy="2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4" imgW="2314286" imgH="2647619" progId="PBrush">
                    <p:embed/>
                  </p:oleObj>
                </mc:Choice>
                <mc:Fallback>
                  <p:oleObj name="位图图像" r:id="rId4" imgW="2314286" imgH="2647619" progId="PBrush">
                    <p:embed/>
                    <p:pic>
                      <p:nvPicPr>
                        <p:cNvPr id="295942" name="Object 10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8" y="2069"/>
                          <a:ext cx="1914" cy="2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5943" name="Rectangle 1031"/>
            <p:cNvSpPr>
              <a:spLocks noChangeArrowheads="1"/>
            </p:cNvSpPr>
            <p:nvPr/>
          </p:nvSpPr>
          <p:spPr bwMode="auto">
            <a:xfrm>
              <a:off x="3833" y="1761"/>
              <a:ext cx="63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使用</a:t>
              </a:r>
              <a:r>
                <a:rPr lang="en-US" altLang="zh-CN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E</a:t>
              </a:r>
            </a:p>
          </p:txBody>
        </p:sp>
        <p:sp>
          <p:nvSpPr>
            <p:cNvPr id="295944" name="Line 1032"/>
            <p:cNvSpPr>
              <a:spLocks noChangeShapeType="1"/>
            </p:cNvSpPr>
            <p:nvPr/>
          </p:nvSpPr>
          <p:spPr bwMode="auto">
            <a:xfrm>
              <a:off x="4286" y="1797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45" name="Line 1033"/>
            <p:cNvSpPr>
              <a:spLocks noChangeShapeType="1"/>
            </p:cNvSpPr>
            <p:nvPr/>
          </p:nvSpPr>
          <p:spPr bwMode="auto">
            <a:xfrm flipV="1">
              <a:off x="3470" y="2296"/>
              <a:ext cx="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46" name="Line 1034"/>
            <p:cNvSpPr>
              <a:spLocks noChangeShapeType="1"/>
            </p:cNvSpPr>
            <p:nvPr/>
          </p:nvSpPr>
          <p:spPr bwMode="auto">
            <a:xfrm flipV="1">
              <a:off x="3651" y="2296"/>
              <a:ext cx="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47" name="Line 1035"/>
            <p:cNvSpPr>
              <a:spLocks noChangeShapeType="1"/>
            </p:cNvSpPr>
            <p:nvPr/>
          </p:nvSpPr>
          <p:spPr bwMode="auto">
            <a:xfrm flipV="1">
              <a:off x="3833" y="2296"/>
              <a:ext cx="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48" name="Line 1036"/>
            <p:cNvSpPr>
              <a:spLocks noChangeShapeType="1"/>
            </p:cNvSpPr>
            <p:nvPr/>
          </p:nvSpPr>
          <p:spPr bwMode="auto">
            <a:xfrm flipV="1">
              <a:off x="4014" y="2296"/>
              <a:ext cx="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49" name="Line 1037"/>
            <p:cNvSpPr>
              <a:spLocks noChangeShapeType="1"/>
            </p:cNvSpPr>
            <p:nvPr/>
          </p:nvSpPr>
          <p:spPr bwMode="auto">
            <a:xfrm flipV="1">
              <a:off x="4195" y="2296"/>
              <a:ext cx="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50" name="Line 1038"/>
            <p:cNvSpPr>
              <a:spLocks noChangeShapeType="1"/>
            </p:cNvSpPr>
            <p:nvPr/>
          </p:nvSpPr>
          <p:spPr bwMode="auto">
            <a:xfrm flipV="1">
              <a:off x="3878" y="2886"/>
              <a:ext cx="0" cy="9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51" name="Line 1039"/>
            <p:cNvSpPr>
              <a:spLocks noChangeShapeType="1"/>
            </p:cNvSpPr>
            <p:nvPr/>
          </p:nvSpPr>
          <p:spPr bwMode="auto">
            <a:xfrm flipV="1">
              <a:off x="3969" y="2886"/>
              <a:ext cx="0" cy="9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52" name="Line 1040"/>
            <p:cNvSpPr>
              <a:spLocks noChangeShapeType="1"/>
            </p:cNvSpPr>
            <p:nvPr/>
          </p:nvSpPr>
          <p:spPr bwMode="auto">
            <a:xfrm flipV="1">
              <a:off x="3787" y="2886"/>
              <a:ext cx="0" cy="7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53" name="Line 1041"/>
            <p:cNvSpPr>
              <a:spLocks noChangeShapeType="1"/>
            </p:cNvSpPr>
            <p:nvPr/>
          </p:nvSpPr>
          <p:spPr bwMode="auto">
            <a:xfrm flipV="1">
              <a:off x="3696" y="2886"/>
              <a:ext cx="0" cy="7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54" name="Line 1042"/>
            <p:cNvSpPr>
              <a:spLocks noChangeShapeType="1"/>
            </p:cNvSpPr>
            <p:nvPr/>
          </p:nvSpPr>
          <p:spPr bwMode="auto">
            <a:xfrm flipV="1">
              <a:off x="3606" y="2886"/>
              <a:ext cx="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55" name="Line 1043"/>
            <p:cNvSpPr>
              <a:spLocks noChangeShapeType="1"/>
            </p:cNvSpPr>
            <p:nvPr/>
          </p:nvSpPr>
          <p:spPr bwMode="auto">
            <a:xfrm flipV="1">
              <a:off x="3515" y="2886"/>
              <a:ext cx="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56" name="Line 1044"/>
            <p:cNvSpPr>
              <a:spLocks noChangeShapeType="1"/>
            </p:cNvSpPr>
            <p:nvPr/>
          </p:nvSpPr>
          <p:spPr bwMode="auto">
            <a:xfrm flipV="1">
              <a:off x="3424" y="2886"/>
              <a:ext cx="0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57" name="Line 1045"/>
            <p:cNvSpPr>
              <a:spLocks noChangeShapeType="1"/>
            </p:cNvSpPr>
            <p:nvPr/>
          </p:nvSpPr>
          <p:spPr bwMode="auto">
            <a:xfrm flipV="1">
              <a:off x="3334" y="2886"/>
              <a:ext cx="0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58" name="Line 1046"/>
            <p:cNvSpPr>
              <a:spLocks noChangeShapeType="1"/>
            </p:cNvSpPr>
            <p:nvPr/>
          </p:nvSpPr>
          <p:spPr bwMode="auto">
            <a:xfrm flipV="1">
              <a:off x="3334" y="2296"/>
              <a:ext cx="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</p:grpSp>
      <p:grpSp>
        <p:nvGrpSpPr>
          <p:cNvPr id="295959" name="Group 1047"/>
          <p:cNvGrpSpPr>
            <a:grpSpLocks/>
          </p:cNvGrpSpPr>
          <p:nvPr/>
        </p:nvGrpSpPr>
        <p:grpSpPr bwMode="auto">
          <a:xfrm>
            <a:off x="1547664" y="2752340"/>
            <a:ext cx="3168352" cy="4094353"/>
            <a:chOff x="1080" y="1874"/>
            <a:chExt cx="1800" cy="2381"/>
          </a:xfrm>
        </p:grpSpPr>
        <p:graphicFrame>
          <p:nvGraphicFramePr>
            <p:cNvPr id="295960" name="Object 10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7878761"/>
                </p:ext>
              </p:extLst>
            </p:nvPr>
          </p:nvGraphicFramePr>
          <p:xfrm>
            <a:off x="1080" y="2224"/>
            <a:ext cx="1671" cy="18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像" r:id="rId6" imgW="1882080" imgH="2187000" progId="Paint.Picture">
                    <p:embed/>
                  </p:oleObj>
                </mc:Choice>
                <mc:Fallback>
                  <p:oleObj name="BMP 图像" r:id="rId6" imgW="1882080" imgH="2187000" progId="Paint.Picture">
                    <p:embed/>
                    <p:pic>
                      <p:nvPicPr>
                        <p:cNvPr id="295960" name="Object 10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0" y="2224"/>
                          <a:ext cx="1671" cy="18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5961" name="Rectangle 1049"/>
            <p:cNvSpPr>
              <a:spLocks noChangeArrowheads="1"/>
            </p:cNvSpPr>
            <p:nvPr/>
          </p:nvSpPr>
          <p:spPr bwMode="auto">
            <a:xfrm>
              <a:off x="1474" y="1874"/>
              <a:ext cx="790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不使用 </a:t>
              </a:r>
              <a:r>
                <a:rPr lang="en-US" altLang="zh-CN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E</a:t>
              </a:r>
            </a:p>
          </p:txBody>
        </p:sp>
        <p:sp>
          <p:nvSpPr>
            <p:cNvPr id="295962" name="Line 1050"/>
            <p:cNvSpPr>
              <a:spLocks noChangeShapeType="1"/>
            </p:cNvSpPr>
            <p:nvPr/>
          </p:nvSpPr>
          <p:spPr bwMode="auto">
            <a:xfrm>
              <a:off x="2109" y="1891"/>
              <a:ext cx="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63" name="Text Box 1051"/>
            <p:cNvSpPr txBox="1">
              <a:spLocks noChangeArrowheads="1"/>
            </p:cNvSpPr>
            <p:nvPr/>
          </p:nvSpPr>
          <p:spPr bwMode="auto">
            <a:xfrm>
              <a:off x="2517" y="3879"/>
              <a:ext cx="363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solidFill>
                    <a:schemeClr val="bg1"/>
                  </a:solidFill>
                  <a:latin typeface="Noto Serif SC" panose="02020200000000000000" pitchFamily="18" charset="-122"/>
                  <a:ea typeface="Noto Serif SC" panose="02020200000000000000" pitchFamily="18" charset="-122"/>
                </a:rPr>
                <a:t>“0”</a:t>
              </a:r>
            </a:p>
          </p:txBody>
        </p:sp>
        <p:sp>
          <p:nvSpPr>
            <p:cNvPr id="295964" name="Line 1052"/>
            <p:cNvSpPr>
              <a:spLocks noChangeShapeType="1"/>
            </p:cNvSpPr>
            <p:nvPr/>
          </p:nvSpPr>
          <p:spPr bwMode="auto">
            <a:xfrm flipV="1">
              <a:off x="1292" y="2296"/>
              <a:ext cx="0" cy="7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65" name="Line 1053"/>
            <p:cNvSpPr>
              <a:spLocks noChangeShapeType="1"/>
            </p:cNvSpPr>
            <p:nvPr/>
          </p:nvSpPr>
          <p:spPr bwMode="auto">
            <a:xfrm flipV="1">
              <a:off x="1474" y="2296"/>
              <a:ext cx="0" cy="10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66" name="Line 1054"/>
            <p:cNvSpPr>
              <a:spLocks noChangeShapeType="1"/>
            </p:cNvSpPr>
            <p:nvPr/>
          </p:nvSpPr>
          <p:spPr bwMode="auto">
            <a:xfrm flipV="1">
              <a:off x="1655" y="2296"/>
              <a:ext cx="0" cy="13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67" name="Line 1055"/>
            <p:cNvSpPr>
              <a:spLocks noChangeShapeType="1"/>
            </p:cNvSpPr>
            <p:nvPr/>
          </p:nvSpPr>
          <p:spPr bwMode="auto">
            <a:xfrm flipV="1">
              <a:off x="1854" y="2296"/>
              <a:ext cx="0" cy="13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68" name="Line 1056"/>
            <p:cNvSpPr>
              <a:spLocks noChangeShapeType="1"/>
            </p:cNvSpPr>
            <p:nvPr/>
          </p:nvSpPr>
          <p:spPr bwMode="auto">
            <a:xfrm flipV="1">
              <a:off x="2035" y="2296"/>
              <a:ext cx="0" cy="7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69" name="Line 1057"/>
            <p:cNvSpPr>
              <a:spLocks noChangeShapeType="1"/>
            </p:cNvSpPr>
            <p:nvPr/>
          </p:nvSpPr>
          <p:spPr bwMode="auto">
            <a:xfrm flipV="1">
              <a:off x="2217" y="2296"/>
              <a:ext cx="0" cy="10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70" name="Line 1058"/>
            <p:cNvSpPr>
              <a:spLocks noChangeShapeType="1"/>
            </p:cNvSpPr>
            <p:nvPr/>
          </p:nvSpPr>
          <p:spPr bwMode="auto">
            <a:xfrm flipV="1">
              <a:off x="2426" y="2296"/>
              <a:ext cx="0" cy="13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95971" name="Line 1059"/>
            <p:cNvSpPr>
              <a:spLocks noChangeShapeType="1"/>
            </p:cNvSpPr>
            <p:nvPr/>
          </p:nvSpPr>
          <p:spPr bwMode="auto">
            <a:xfrm flipV="1">
              <a:off x="2608" y="2296"/>
              <a:ext cx="0" cy="13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57976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382000" cy="52705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28</a:t>
            </a:r>
            <a:r>
              <a:rPr lang="zh-CN" altLang="en-US" sz="3600" dirty="0"/>
              <a:t>）</a:t>
            </a:r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E9BEC-914F-4C7E-8192-D56A3331424D}" type="slidenum">
              <a:rPr lang="en-US" altLang="zh-CN"/>
              <a:pPr/>
              <a:t>32</a:t>
            </a:fld>
            <a:endParaRPr lang="en-US" altLang="zh-CN" dirty="0"/>
          </a:p>
        </p:txBody>
      </p:sp>
      <p:grpSp>
        <p:nvGrpSpPr>
          <p:cNvPr id="198659" name="Group 3"/>
          <p:cNvGrpSpPr>
            <a:grpSpLocks/>
          </p:cNvGrpSpPr>
          <p:nvPr/>
        </p:nvGrpSpPr>
        <p:grpSpPr bwMode="auto">
          <a:xfrm>
            <a:off x="3216275" y="2819400"/>
            <a:ext cx="3717925" cy="3200400"/>
            <a:chOff x="816" y="1872"/>
            <a:chExt cx="2342" cy="2016"/>
          </a:xfrm>
        </p:grpSpPr>
        <p:sp>
          <p:nvSpPr>
            <p:cNvPr id="198660" name="Rectangle 4"/>
            <p:cNvSpPr>
              <a:spLocks noChangeArrowheads="1"/>
            </p:cNvSpPr>
            <p:nvPr/>
          </p:nvSpPr>
          <p:spPr bwMode="auto">
            <a:xfrm>
              <a:off x="2304" y="1872"/>
              <a:ext cx="672" cy="201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98661" name="Line 5"/>
            <p:cNvSpPr>
              <a:spLocks noChangeShapeType="1"/>
            </p:cNvSpPr>
            <p:nvPr/>
          </p:nvSpPr>
          <p:spPr bwMode="auto">
            <a:xfrm>
              <a:off x="2121" y="2395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98662" name="Line 6"/>
            <p:cNvSpPr>
              <a:spLocks noChangeShapeType="1"/>
            </p:cNvSpPr>
            <p:nvPr/>
          </p:nvSpPr>
          <p:spPr bwMode="auto">
            <a:xfrm>
              <a:off x="2976" y="196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98663" name="Line 7"/>
            <p:cNvSpPr>
              <a:spLocks noChangeShapeType="1"/>
            </p:cNvSpPr>
            <p:nvPr/>
          </p:nvSpPr>
          <p:spPr bwMode="auto">
            <a:xfrm>
              <a:off x="2976" y="225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98664" name="Line 8"/>
            <p:cNvSpPr>
              <a:spLocks noChangeShapeType="1"/>
            </p:cNvSpPr>
            <p:nvPr/>
          </p:nvSpPr>
          <p:spPr bwMode="auto">
            <a:xfrm>
              <a:off x="2976" y="254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98665" name="Line 9"/>
            <p:cNvSpPr>
              <a:spLocks noChangeShapeType="1"/>
            </p:cNvSpPr>
            <p:nvPr/>
          </p:nvSpPr>
          <p:spPr bwMode="auto">
            <a:xfrm>
              <a:off x="2976" y="278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98666" name="Rectangle 10"/>
            <p:cNvSpPr>
              <a:spLocks noChangeArrowheads="1"/>
            </p:cNvSpPr>
            <p:nvPr/>
          </p:nvSpPr>
          <p:spPr bwMode="auto">
            <a:xfrm>
              <a:off x="2759" y="1872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98667" name="Line 11"/>
            <p:cNvSpPr>
              <a:spLocks noChangeShapeType="1"/>
            </p:cNvSpPr>
            <p:nvPr/>
          </p:nvSpPr>
          <p:spPr bwMode="auto">
            <a:xfrm>
              <a:off x="2122" y="2803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98668" name="Rectangle 12"/>
            <p:cNvSpPr>
              <a:spLocks noChangeArrowheads="1"/>
            </p:cNvSpPr>
            <p:nvPr/>
          </p:nvSpPr>
          <p:spPr bwMode="auto">
            <a:xfrm>
              <a:off x="2759" y="2160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98669" name="Rectangle 13"/>
            <p:cNvSpPr>
              <a:spLocks noChangeArrowheads="1"/>
            </p:cNvSpPr>
            <p:nvPr/>
          </p:nvSpPr>
          <p:spPr bwMode="auto">
            <a:xfrm>
              <a:off x="2759" y="244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198670" name="Rectangle 14"/>
            <p:cNvSpPr>
              <a:spLocks noChangeArrowheads="1"/>
            </p:cNvSpPr>
            <p:nvPr/>
          </p:nvSpPr>
          <p:spPr bwMode="auto">
            <a:xfrm>
              <a:off x="2759" y="292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4</a:t>
              </a:r>
            </a:p>
          </p:txBody>
        </p:sp>
        <p:sp>
          <p:nvSpPr>
            <p:cNvPr id="198671" name="Text Box 15"/>
            <p:cNvSpPr txBox="1">
              <a:spLocks noChangeArrowheads="1"/>
            </p:cNvSpPr>
            <p:nvPr/>
          </p:nvSpPr>
          <p:spPr bwMode="auto">
            <a:xfrm>
              <a:off x="2304" y="2304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ea typeface="Noto Serif SC" panose="02020200000000000000" pitchFamily="18" charset="-122"/>
                </a:rPr>
                <a:t>A</a:t>
              </a:r>
            </a:p>
          </p:txBody>
        </p:sp>
        <p:sp>
          <p:nvSpPr>
            <p:cNvPr id="198672" name="Text Box 16"/>
            <p:cNvSpPr txBox="1">
              <a:spLocks noChangeArrowheads="1"/>
            </p:cNvSpPr>
            <p:nvPr/>
          </p:nvSpPr>
          <p:spPr bwMode="auto">
            <a:xfrm>
              <a:off x="2304" y="2708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ea typeface="Noto Serif SC" panose="02020200000000000000" pitchFamily="18" charset="-122"/>
                </a:rPr>
                <a:t>B</a:t>
              </a:r>
            </a:p>
          </p:txBody>
        </p:sp>
        <p:sp>
          <p:nvSpPr>
            <p:cNvPr id="198673" name="Text Box 17"/>
            <p:cNvSpPr txBox="1">
              <a:spLocks noChangeArrowheads="1"/>
            </p:cNvSpPr>
            <p:nvPr/>
          </p:nvSpPr>
          <p:spPr bwMode="auto">
            <a:xfrm>
              <a:off x="816" y="2256"/>
              <a:ext cx="1200" cy="1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3</a:t>
              </a: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－</a:t>
              </a:r>
              <a:r>
                <a:rPr lang="en-US" altLang="zh-CN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8</a:t>
              </a: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解碼器邏輯示意圖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C</a:t>
              </a: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為最高位，</a:t>
              </a:r>
              <a:r>
                <a:rPr lang="en-US" altLang="zh-CN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A</a:t>
              </a: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為最低位</a:t>
              </a:r>
            </a:p>
          </p:txBody>
        </p:sp>
        <p:sp>
          <p:nvSpPr>
            <p:cNvPr id="198674" name="Line 18"/>
            <p:cNvSpPr>
              <a:spLocks noChangeShapeType="1"/>
            </p:cNvSpPr>
            <p:nvPr/>
          </p:nvSpPr>
          <p:spPr bwMode="auto">
            <a:xfrm>
              <a:off x="2976" y="302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98675" name="Line 19"/>
            <p:cNvSpPr>
              <a:spLocks noChangeShapeType="1"/>
            </p:cNvSpPr>
            <p:nvPr/>
          </p:nvSpPr>
          <p:spPr bwMode="auto">
            <a:xfrm>
              <a:off x="2976" y="326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98676" name="Line 20"/>
            <p:cNvSpPr>
              <a:spLocks noChangeShapeType="1"/>
            </p:cNvSpPr>
            <p:nvPr/>
          </p:nvSpPr>
          <p:spPr bwMode="auto">
            <a:xfrm>
              <a:off x="2976" y="350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98677" name="Line 21"/>
            <p:cNvSpPr>
              <a:spLocks noChangeShapeType="1"/>
            </p:cNvSpPr>
            <p:nvPr/>
          </p:nvSpPr>
          <p:spPr bwMode="auto">
            <a:xfrm>
              <a:off x="2976" y="374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98678" name="Rectangle 22"/>
            <p:cNvSpPr>
              <a:spLocks noChangeArrowheads="1"/>
            </p:cNvSpPr>
            <p:nvPr/>
          </p:nvSpPr>
          <p:spPr bwMode="auto">
            <a:xfrm>
              <a:off x="2759" y="268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25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198679" name="Rectangle 23"/>
            <p:cNvSpPr>
              <a:spLocks noChangeArrowheads="1"/>
            </p:cNvSpPr>
            <p:nvPr/>
          </p:nvSpPr>
          <p:spPr bwMode="auto">
            <a:xfrm>
              <a:off x="2759" y="316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198680" name="Rectangle 24"/>
            <p:cNvSpPr>
              <a:spLocks noChangeArrowheads="1"/>
            </p:cNvSpPr>
            <p:nvPr/>
          </p:nvSpPr>
          <p:spPr bwMode="auto">
            <a:xfrm>
              <a:off x="2759" y="340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6</a:t>
              </a:r>
            </a:p>
          </p:txBody>
        </p:sp>
        <p:sp>
          <p:nvSpPr>
            <p:cNvPr id="198681" name="Rectangle 25"/>
            <p:cNvSpPr>
              <a:spLocks noChangeArrowheads="1"/>
            </p:cNvSpPr>
            <p:nvPr/>
          </p:nvSpPr>
          <p:spPr bwMode="auto">
            <a:xfrm>
              <a:off x="2759" y="364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198682" name="Line 26"/>
            <p:cNvSpPr>
              <a:spLocks noChangeShapeType="1"/>
            </p:cNvSpPr>
            <p:nvPr/>
          </p:nvSpPr>
          <p:spPr bwMode="auto">
            <a:xfrm>
              <a:off x="2122" y="316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98683" name="Text Box 27"/>
            <p:cNvSpPr txBox="1">
              <a:spLocks noChangeArrowheads="1"/>
            </p:cNvSpPr>
            <p:nvPr/>
          </p:nvSpPr>
          <p:spPr bwMode="auto">
            <a:xfrm>
              <a:off x="2304" y="3072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ea typeface="Noto Serif SC" panose="02020200000000000000" pitchFamily="18" charset="-122"/>
                </a:rPr>
                <a:t>C</a:t>
              </a:r>
            </a:p>
          </p:txBody>
        </p:sp>
      </p:grpSp>
      <p:sp>
        <p:nvSpPr>
          <p:cNvPr id="198684" name="Rectangle 28"/>
          <p:cNvSpPr>
            <a:spLocks noChangeArrowheads="1"/>
          </p:cNvSpPr>
          <p:nvPr/>
        </p:nvSpPr>
        <p:spPr bwMode="auto">
          <a:xfrm>
            <a:off x="533400" y="11430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en-US" altLang="zh-CN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3-8</a:t>
            </a: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</a:t>
            </a:r>
          </a:p>
          <a:p>
            <a:pPr marL="742950" lvl="1" indent="-285750"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定義：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3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－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8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解碼器是指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3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輸入－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8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輸出的變數解碼器。</a:t>
            </a:r>
          </a:p>
          <a:p>
            <a:pPr marL="742950" lvl="1" indent="-285750"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邏輯示意圖</a:t>
            </a:r>
          </a:p>
        </p:txBody>
      </p:sp>
    </p:spTree>
    <p:extLst>
      <p:ext uri="{BB962C8B-B14F-4D97-AF65-F5344CB8AC3E}">
        <p14:creationId xmlns:p14="http://schemas.microsoft.com/office/powerpoint/2010/main" val="9861137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976313" y="304800"/>
            <a:ext cx="7788275" cy="52705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29</a:t>
            </a:r>
            <a:r>
              <a:rPr lang="zh-CN" altLang="en-US" sz="3600" dirty="0"/>
              <a:t>）</a:t>
            </a:r>
          </a:p>
        </p:txBody>
      </p:sp>
      <p:sp>
        <p:nvSpPr>
          <p:cNvPr id="5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A606-4903-40CE-A4C1-84A84DFDCE0E}" type="slidenum">
              <a:rPr lang="en-US" altLang="zh-CN"/>
              <a:pPr/>
              <a:t>33</a:t>
            </a:fld>
            <a:endParaRPr lang="en-US" altLang="zh-CN" dirty="0"/>
          </a:p>
        </p:txBody>
      </p:sp>
      <p:sp>
        <p:nvSpPr>
          <p:cNvPr id="199683" name="Text Box 3"/>
          <p:cNvSpPr txBox="1">
            <a:spLocks noChangeArrowheads="1"/>
          </p:cNvSpPr>
          <p:nvPr/>
        </p:nvSpPr>
        <p:spPr bwMode="auto">
          <a:xfrm>
            <a:off x="8001000" y="2209800"/>
            <a:ext cx="9144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只用反及閘實現的輸出運算式</a:t>
            </a:r>
          </a:p>
        </p:txBody>
      </p:sp>
      <p:graphicFrame>
        <p:nvGraphicFramePr>
          <p:cNvPr id="1996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338673"/>
              </p:ext>
            </p:extLst>
          </p:nvPr>
        </p:nvGraphicFramePr>
        <p:xfrm>
          <a:off x="5808663" y="2139950"/>
          <a:ext cx="1800225" cy="463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74360" imgH="2412720" progId="Equation.3">
                  <p:embed/>
                </p:oleObj>
              </mc:Choice>
              <mc:Fallback>
                <p:oleObj name="公式" r:id="rId2" imgW="774360" imgH="2412720" progId="Equation.3">
                  <p:embed/>
                  <p:pic>
                    <p:nvPicPr>
                      <p:cNvPr id="1996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663" y="2139950"/>
                        <a:ext cx="1800225" cy="4637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85" name="Text Box 5"/>
          <p:cNvSpPr txBox="1">
            <a:spLocks noChangeArrowheads="1"/>
          </p:cNvSpPr>
          <p:nvPr/>
        </p:nvSpPr>
        <p:spPr bwMode="auto">
          <a:xfrm>
            <a:off x="5791200" y="167640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輸出運算式</a:t>
            </a:r>
          </a:p>
        </p:txBody>
      </p:sp>
      <p:grpSp>
        <p:nvGrpSpPr>
          <p:cNvPr id="199686" name="Group 6"/>
          <p:cNvGrpSpPr>
            <a:grpSpLocks/>
          </p:cNvGrpSpPr>
          <p:nvPr/>
        </p:nvGrpSpPr>
        <p:grpSpPr bwMode="auto">
          <a:xfrm>
            <a:off x="685800" y="2209800"/>
            <a:ext cx="4943475" cy="4357688"/>
            <a:chOff x="0" y="1200"/>
            <a:chExt cx="3114" cy="2745"/>
          </a:xfrm>
        </p:grpSpPr>
        <p:sp>
          <p:nvSpPr>
            <p:cNvPr id="199687" name="Text Box 7"/>
            <p:cNvSpPr txBox="1">
              <a:spLocks noChangeArrowheads="1"/>
            </p:cNvSpPr>
            <p:nvPr/>
          </p:nvSpPr>
          <p:spPr bwMode="auto">
            <a:xfrm>
              <a:off x="576" y="1200"/>
              <a:ext cx="187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真      值      表</a:t>
              </a:r>
            </a:p>
          </p:txBody>
        </p:sp>
        <p:sp>
          <p:nvSpPr>
            <p:cNvPr id="199688" name="Rectangle 8"/>
            <p:cNvSpPr>
              <a:spLocks noChangeArrowheads="1"/>
            </p:cNvSpPr>
            <p:nvPr/>
          </p:nvSpPr>
          <p:spPr bwMode="auto">
            <a:xfrm>
              <a:off x="1037" y="2013"/>
              <a:ext cx="181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kern="1400" spc="32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0 1 1 1 1 1 1 1</a:t>
              </a:r>
            </a:p>
          </p:txBody>
        </p:sp>
        <p:sp>
          <p:nvSpPr>
            <p:cNvPr id="199689" name="Rectangle 9"/>
            <p:cNvSpPr>
              <a:spLocks noChangeArrowheads="1"/>
            </p:cNvSpPr>
            <p:nvPr/>
          </p:nvSpPr>
          <p:spPr bwMode="auto">
            <a:xfrm>
              <a:off x="96" y="201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0  0  0</a:t>
              </a:r>
            </a:p>
          </p:txBody>
        </p:sp>
        <p:sp>
          <p:nvSpPr>
            <p:cNvPr id="199690" name="Rectangle 10"/>
            <p:cNvSpPr>
              <a:spLocks noChangeArrowheads="1"/>
            </p:cNvSpPr>
            <p:nvPr/>
          </p:nvSpPr>
          <p:spPr bwMode="auto">
            <a:xfrm>
              <a:off x="959" y="1777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199691" name="Rectangle 11"/>
            <p:cNvSpPr>
              <a:spLocks noChangeArrowheads="1"/>
            </p:cNvSpPr>
            <p:nvPr/>
          </p:nvSpPr>
          <p:spPr bwMode="auto">
            <a:xfrm>
              <a:off x="125" y="1777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   </a:t>
              </a:r>
            </a:p>
          </p:txBody>
        </p:sp>
        <p:sp>
          <p:nvSpPr>
            <p:cNvPr id="199692" name="Rectangle 12"/>
            <p:cNvSpPr>
              <a:spLocks noChangeArrowheads="1"/>
            </p:cNvSpPr>
            <p:nvPr/>
          </p:nvSpPr>
          <p:spPr bwMode="auto">
            <a:xfrm>
              <a:off x="1018" y="1776"/>
              <a:ext cx="20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sz="2000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0  </a:t>
              </a:r>
              <a:r>
                <a:rPr lang="en-US" altLang="zh-CN" sz="2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sz="2000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 </a:t>
              </a:r>
              <a:r>
                <a:rPr lang="en-US" altLang="zh-CN" sz="2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sz="2000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2  </a:t>
              </a:r>
              <a:r>
                <a:rPr lang="en-US" altLang="zh-CN" sz="2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sz="2000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3  </a:t>
              </a:r>
              <a:r>
                <a:rPr lang="en-US" altLang="zh-CN" sz="2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sz="2000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4  </a:t>
              </a:r>
              <a:r>
                <a:rPr lang="en-US" altLang="zh-CN" sz="2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sz="2000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5  </a:t>
              </a:r>
              <a:r>
                <a:rPr lang="en-US" altLang="zh-CN" sz="2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sz="2000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6  </a:t>
              </a:r>
              <a:r>
                <a:rPr lang="en-US" altLang="zh-CN" sz="2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Y</a:t>
              </a:r>
              <a:r>
                <a:rPr lang="en-US" altLang="zh-CN" sz="2000" baseline="-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7</a:t>
              </a:r>
            </a:p>
          </p:txBody>
        </p:sp>
        <p:sp>
          <p:nvSpPr>
            <p:cNvPr id="199693" name="Rectangle 13"/>
            <p:cNvSpPr>
              <a:spLocks noChangeArrowheads="1"/>
            </p:cNvSpPr>
            <p:nvPr/>
          </p:nvSpPr>
          <p:spPr bwMode="auto">
            <a:xfrm>
              <a:off x="125" y="177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A  B  C</a:t>
              </a:r>
            </a:p>
          </p:txBody>
        </p:sp>
        <p:sp>
          <p:nvSpPr>
            <p:cNvPr id="199694" name="Line 14"/>
            <p:cNvSpPr>
              <a:spLocks noChangeShapeType="1"/>
            </p:cNvSpPr>
            <p:nvPr/>
          </p:nvSpPr>
          <p:spPr bwMode="auto">
            <a:xfrm>
              <a:off x="96" y="1536"/>
              <a:ext cx="288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199695" name="Line 15"/>
            <p:cNvSpPr>
              <a:spLocks noChangeShapeType="1"/>
            </p:cNvSpPr>
            <p:nvPr/>
          </p:nvSpPr>
          <p:spPr bwMode="auto">
            <a:xfrm flipV="1">
              <a:off x="96" y="1776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199696" name="Line 16"/>
            <p:cNvSpPr>
              <a:spLocks noChangeShapeType="1"/>
            </p:cNvSpPr>
            <p:nvPr/>
          </p:nvSpPr>
          <p:spPr bwMode="auto">
            <a:xfrm flipV="1">
              <a:off x="96" y="2016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199697" name="Line 17"/>
            <p:cNvSpPr>
              <a:spLocks noChangeShapeType="1"/>
            </p:cNvSpPr>
            <p:nvPr/>
          </p:nvSpPr>
          <p:spPr bwMode="auto">
            <a:xfrm flipV="1">
              <a:off x="96" y="2256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199698" name="Line 18"/>
            <p:cNvSpPr>
              <a:spLocks noChangeShapeType="1"/>
            </p:cNvSpPr>
            <p:nvPr/>
          </p:nvSpPr>
          <p:spPr bwMode="auto">
            <a:xfrm flipV="1">
              <a:off x="96" y="2496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199699" name="Line 19"/>
            <p:cNvSpPr>
              <a:spLocks noChangeShapeType="1"/>
            </p:cNvSpPr>
            <p:nvPr/>
          </p:nvSpPr>
          <p:spPr bwMode="auto">
            <a:xfrm flipV="1">
              <a:off x="96" y="2736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199700" name="Line 20"/>
            <p:cNvSpPr>
              <a:spLocks noChangeShapeType="1"/>
            </p:cNvSpPr>
            <p:nvPr/>
          </p:nvSpPr>
          <p:spPr bwMode="auto">
            <a:xfrm>
              <a:off x="96" y="3936"/>
              <a:ext cx="288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199701" name="Line 21"/>
            <p:cNvSpPr>
              <a:spLocks noChangeShapeType="1"/>
            </p:cNvSpPr>
            <p:nvPr/>
          </p:nvSpPr>
          <p:spPr bwMode="auto">
            <a:xfrm>
              <a:off x="96" y="1536"/>
              <a:ext cx="0" cy="24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199702" name="Line 22"/>
            <p:cNvSpPr>
              <a:spLocks noChangeShapeType="1"/>
            </p:cNvSpPr>
            <p:nvPr/>
          </p:nvSpPr>
          <p:spPr bwMode="auto">
            <a:xfrm>
              <a:off x="959" y="1528"/>
              <a:ext cx="1" cy="2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199703" name="Line 23"/>
            <p:cNvSpPr>
              <a:spLocks noChangeShapeType="1"/>
            </p:cNvSpPr>
            <p:nvPr/>
          </p:nvSpPr>
          <p:spPr bwMode="auto">
            <a:xfrm>
              <a:off x="2976" y="1536"/>
              <a:ext cx="0" cy="24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graphicFrame>
          <p:nvGraphicFramePr>
            <p:cNvPr id="199704" name="Object 24"/>
            <p:cNvGraphicFramePr>
              <a:graphicFrameLocks noChangeAspect="1"/>
            </p:cNvGraphicFramePr>
            <p:nvPr/>
          </p:nvGraphicFramePr>
          <p:xfrm>
            <a:off x="0" y="1237"/>
            <a:ext cx="152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39680" imgH="279000" progId="Equation.3">
                    <p:embed/>
                  </p:oleObj>
                </mc:Choice>
                <mc:Fallback>
                  <p:oleObj name="公式" r:id="rId4" imgW="139680" imgH="279000" progId="Equation.3">
                    <p:embed/>
                    <p:pic>
                      <p:nvPicPr>
                        <p:cNvPr id="199704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237"/>
                          <a:ext cx="152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9705" name="Rectangle 25"/>
            <p:cNvSpPr>
              <a:spLocks noChangeArrowheads="1"/>
            </p:cNvSpPr>
            <p:nvPr/>
          </p:nvSpPr>
          <p:spPr bwMode="auto">
            <a:xfrm>
              <a:off x="1709" y="2420"/>
              <a:ext cx="139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1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 </a:t>
              </a:r>
              <a:endParaRPr lang="en-US" altLang="zh-CN" sz="1800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199706" name="Rectangle 26"/>
            <p:cNvSpPr>
              <a:spLocks noChangeArrowheads="1"/>
            </p:cNvSpPr>
            <p:nvPr/>
          </p:nvSpPr>
          <p:spPr bwMode="auto">
            <a:xfrm>
              <a:off x="125" y="153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輸   入</a:t>
              </a:r>
            </a:p>
          </p:txBody>
        </p:sp>
        <p:sp>
          <p:nvSpPr>
            <p:cNvPr id="199707" name="Rectangle 27"/>
            <p:cNvSpPr>
              <a:spLocks noChangeArrowheads="1"/>
            </p:cNvSpPr>
            <p:nvPr/>
          </p:nvSpPr>
          <p:spPr bwMode="auto">
            <a:xfrm>
              <a:off x="941" y="1536"/>
              <a:ext cx="168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  輸        出</a:t>
              </a:r>
            </a:p>
          </p:txBody>
        </p:sp>
        <p:sp>
          <p:nvSpPr>
            <p:cNvPr id="199708" name="Rectangle 28"/>
            <p:cNvSpPr>
              <a:spLocks noChangeArrowheads="1"/>
            </p:cNvSpPr>
            <p:nvPr/>
          </p:nvSpPr>
          <p:spPr bwMode="auto">
            <a:xfrm>
              <a:off x="2718" y="2410"/>
              <a:ext cx="139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1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 </a:t>
              </a:r>
              <a:endParaRPr lang="en-US" altLang="zh-CN" sz="1800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199709" name="Rectangle 29"/>
            <p:cNvSpPr>
              <a:spLocks noChangeArrowheads="1"/>
            </p:cNvSpPr>
            <p:nvPr/>
          </p:nvSpPr>
          <p:spPr bwMode="auto">
            <a:xfrm>
              <a:off x="1045" y="2243"/>
              <a:ext cx="181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kern="1400" spc="32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1 0 1 1 1 1 1 1</a:t>
              </a:r>
            </a:p>
          </p:txBody>
        </p:sp>
        <p:sp>
          <p:nvSpPr>
            <p:cNvPr id="199710" name="Rectangle 30"/>
            <p:cNvSpPr>
              <a:spLocks noChangeArrowheads="1"/>
            </p:cNvSpPr>
            <p:nvPr/>
          </p:nvSpPr>
          <p:spPr bwMode="auto">
            <a:xfrm>
              <a:off x="96" y="225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1  0  0</a:t>
              </a:r>
            </a:p>
          </p:txBody>
        </p:sp>
        <p:sp>
          <p:nvSpPr>
            <p:cNvPr id="199711" name="Rectangle 31"/>
            <p:cNvSpPr>
              <a:spLocks noChangeArrowheads="1"/>
            </p:cNvSpPr>
            <p:nvPr/>
          </p:nvSpPr>
          <p:spPr bwMode="auto">
            <a:xfrm>
              <a:off x="96" y="249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0  1  0</a:t>
              </a:r>
            </a:p>
          </p:txBody>
        </p:sp>
        <p:sp>
          <p:nvSpPr>
            <p:cNvPr id="199712" name="Rectangle 32"/>
            <p:cNvSpPr>
              <a:spLocks noChangeArrowheads="1"/>
            </p:cNvSpPr>
            <p:nvPr/>
          </p:nvSpPr>
          <p:spPr bwMode="auto">
            <a:xfrm>
              <a:off x="96" y="273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1  1  0</a:t>
              </a:r>
            </a:p>
          </p:txBody>
        </p:sp>
        <p:sp>
          <p:nvSpPr>
            <p:cNvPr id="199713" name="Rectangle 33"/>
            <p:cNvSpPr>
              <a:spLocks noChangeArrowheads="1"/>
            </p:cNvSpPr>
            <p:nvPr/>
          </p:nvSpPr>
          <p:spPr bwMode="auto">
            <a:xfrm>
              <a:off x="1045" y="2483"/>
              <a:ext cx="180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kern="1400" spc="32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1 1 0 1 1 1 1 1</a:t>
              </a:r>
            </a:p>
          </p:txBody>
        </p:sp>
        <p:sp>
          <p:nvSpPr>
            <p:cNvPr id="199714" name="Rectangle 34"/>
            <p:cNvSpPr>
              <a:spLocks noChangeArrowheads="1"/>
            </p:cNvSpPr>
            <p:nvPr/>
          </p:nvSpPr>
          <p:spPr bwMode="auto">
            <a:xfrm>
              <a:off x="1045" y="2723"/>
              <a:ext cx="181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kern="1400" spc="32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1 1 1 0 1 1 1 1</a:t>
              </a:r>
            </a:p>
          </p:txBody>
        </p:sp>
        <p:sp>
          <p:nvSpPr>
            <p:cNvPr id="199715" name="Rectangle 35"/>
            <p:cNvSpPr>
              <a:spLocks noChangeArrowheads="1"/>
            </p:cNvSpPr>
            <p:nvPr/>
          </p:nvSpPr>
          <p:spPr bwMode="auto">
            <a:xfrm>
              <a:off x="1045" y="3213"/>
              <a:ext cx="181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kern="1400" spc="32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1 1 1 1 1 0 1 1</a:t>
              </a:r>
            </a:p>
          </p:txBody>
        </p:sp>
        <p:sp>
          <p:nvSpPr>
            <p:cNvPr id="199716" name="Rectangle 36"/>
            <p:cNvSpPr>
              <a:spLocks noChangeArrowheads="1"/>
            </p:cNvSpPr>
            <p:nvPr/>
          </p:nvSpPr>
          <p:spPr bwMode="auto">
            <a:xfrm>
              <a:off x="96" y="321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1  0  1</a:t>
              </a:r>
            </a:p>
          </p:txBody>
        </p:sp>
        <p:sp>
          <p:nvSpPr>
            <p:cNvPr id="199717" name="Line 37"/>
            <p:cNvSpPr>
              <a:spLocks noChangeShapeType="1"/>
            </p:cNvSpPr>
            <p:nvPr/>
          </p:nvSpPr>
          <p:spPr bwMode="auto">
            <a:xfrm flipV="1">
              <a:off x="96" y="2976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199718" name="Line 38"/>
            <p:cNvSpPr>
              <a:spLocks noChangeShapeType="1"/>
            </p:cNvSpPr>
            <p:nvPr/>
          </p:nvSpPr>
          <p:spPr bwMode="auto">
            <a:xfrm flipV="1">
              <a:off x="96" y="3216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199719" name="Line 39"/>
            <p:cNvSpPr>
              <a:spLocks noChangeShapeType="1"/>
            </p:cNvSpPr>
            <p:nvPr/>
          </p:nvSpPr>
          <p:spPr bwMode="auto">
            <a:xfrm flipV="1">
              <a:off x="96" y="3456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199720" name="Line 40"/>
            <p:cNvSpPr>
              <a:spLocks noChangeShapeType="1"/>
            </p:cNvSpPr>
            <p:nvPr/>
          </p:nvSpPr>
          <p:spPr bwMode="auto">
            <a:xfrm flipV="1">
              <a:off x="96" y="3696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199721" name="Rectangle 41"/>
            <p:cNvSpPr>
              <a:spLocks noChangeArrowheads="1"/>
            </p:cNvSpPr>
            <p:nvPr/>
          </p:nvSpPr>
          <p:spPr bwMode="auto">
            <a:xfrm>
              <a:off x="1709" y="3620"/>
              <a:ext cx="139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1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 </a:t>
              </a:r>
              <a:endParaRPr lang="en-US" altLang="zh-CN" sz="1800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199722" name="Rectangle 42"/>
            <p:cNvSpPr>
              <a:spLocks noChangeArrowheads="1"/>
            </p:cNvSpPr>
            <p:nvPr/>
          </p:nvSpPr>
          <p:spPr bwMode="auto">
            <a:xfrm>
              <a:off x="2718" y="3610"/>
              <a:ext cx="139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1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 </a:t>
              </a:r>
              <a:endParaRPr lang="en-US" altLang="zh-CN" sz="1800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199723" name="Rectangle 43"/>
            <p:cNvSpPr>
              <a:spLocks noChangeArrowheads="1"/>
            </p:cNvSpPr>
            <p:nvPr/>
          </p:nvSpPr>
          <p:spPr bwMode="auto">
            <a:xfrm>
              <a:off x="1045" y="3443"/>
              <a:ext cx="181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kern="1400" spc="32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1 1 1 1 1 1 0 1</a:t>
              </a:r>
            </a:p>
          </p:txBody>
        </p:sp>
        <p:sp>
          <p:nvSpPr>
            <p:cNvPr id="199724" name="Rectangle 44"/>
            <p:cNvSpPr>
              <a:spLocks noChangeArrowheads="1"/>
            </p:cNvSpPr>
            <p:nvPr/>
          </p:nvSpPr>
          <p:spPr bwMode="auto">
            <a:xfrm>
              <a:off x="96" y="345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0  1  1</a:t>
              </a:r>
            </a:p>
          </p:txBody>
        </p:sp>
        <p:sp>
          <p:nvSpPr>
            <p:cNvPr id="199725" name="Rectangle 45"/>
            <p:cNvSpPr>
              <a:spLocks noChangeArrowheads="1"/>
            </p:cNvSpPr>
            <p:nvPr/>
          </p:nvSpPr>
          <p:spPr bwMode="auto">
            <a:xfrm>
              <a:off x="96" y="369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1  1  1</a:t>
              </a:r>
            </a:p>
          </p:txBody>
        </p:sp>
        <p:sp>
          <p:nvSpPr>
            <p:cNvPr id="199726" name="Rectangle 46"/>
            <p:cNvSpPr>
              <a:spLocks noChangeArrowheads="1"/>
            </p:cNvSpPr>
            <p:nvPr/>
          </p:nvSpPr>
          <p:spPr bwMode="auto">
            <a:xfrm>
              <a:off x="1045" y="3683"/>
              <a:ext cx="181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kern="1400" spc="32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1 1 1 1 1 1 1 0</a:t>
              </a:r>
            </a:p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en-US" altLang="zh-CN" kern="1400" spc="320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199727" name="Rectangle 47"/>
            <p:cNvSpPr>
              <a:spLocks noChangeArrowheads="1"/>
            </p:cNvSpPr>
            <p:nvPr/>
          </p:nvSpPr>
          <p:spPr bwMode="auto">
            <a:xfrm>
              <a:off x="96" y="297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0  0  1</a:t>
              </a:r>
            </a:p>
          </p:txBody>
        </p:sp>
        <p:sp>
          <p:nvSpPr>
            <p:cNvPr id="199728" name="Rectangle 48"/>
            <p:cNvSpPr>
              <a:spLocks noChangeArrowheads="1"/>
            </p:cNvSpPr>
            <p:nvPr/>
          </p:nvSpPr>
          <p:spPr bwMode="auto">
            <a:xfrm>
              <a:off x="1045" y="2963"/>
              <a:ext cx="181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kern="1400" spc="32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1 1 1 1 0 1 1 1</a:t>
              </a:r>
            </a:p>
          </p:txBody>
        </p:sp>
      </p:grpSp>
      <p:sp>
        <p:nvSpPr>
          <p:cNvPr id="199729" name="Rectangle 49"/>
          <p:cNvSpPr>
            <a:spLocks noChangeArrowheads="1"/>
          </p:cNvSpPr>
          <p:nvPr/>
        </p:nvSpPr>
        <p:spPr bwMode="auto">
          <a:xfrm>
            <a:off x="533400" y="11430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en-US" altLang="zh-CN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3-8</a:t>
            </a: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</a:t>
            </a:r>
          </a:p>
          <a:p>
            <a:pPr marL="742950" lvl="1" indent="-28575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真值表和邏輯運算式</a:t>
            </a:r>
          </a:p>
        </p:txBody>
      </p:sp>
    </p:spTree>
    <p:extLst>
      <p:ext uri="{BB962C8B-B14F-4D97-AF65-F5344CB8AC3E}">
        <p14:creationId xmlns:p14="http://schemas.microsoft.com/office/powerpoint/2010/main" val="6268251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43" name="Rectangle 139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001000" cy="762000"/>
          </a:xfrm>
          <a:noFill/>
          <a:ln/>
        </p:spPr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30</a:t>
            </a:r>
            <a:r>
              <a:rPr lang="zh-CN" altLang="en-US" sz="3600" dirty="0"/>
              <a:t>）</a:t>
            </a:r>
          </a:p>
        </p:txBody>
      </p:sp>
      <p:sp>
        <p:nvSpPr>
          <p:cNvPr id="14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A027-4CB0-4A38-BEAB-6C47EC580BB3}" type="slidenum">
              <a:rPr lang="en-US" altLang="zh-CN"/>
              <a:pPr/>
              <a:t>34</a:t>
            </a:fld>
            <a:endParaRPr lang="en-US" altLang="zh-CN" dirty="0"/>
          </a:p>
        </p:txBody>
      </p:sp>
      <p:sp>
        <p:nvSpPr>
          <p:cNvPr id="200706" name="Rectangle 2"/>
          <p:cNvSpPr>
            <a:spLocks noChangeArrowheads="1"/>
          </p:cNvSpPr>
          <p:nvPr/>
        </p:nvSpPr>
        <p:spPr bwMode="auto">
          <a:xfrm>
            <a:off x="3352800" y="1828800"/>
            <a:ext cx="4800600" cy="472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grpSp>
        <p:nvGrpSpPr>
          <p:cNvPr id="200707" name="Group 3"/>
          <p:cNvGrpSpPr>
            <a:grpSpLocks/>
          </p:cNvGrpSpPr>
          <p:nvPr/>
        </p:nvGrpSpPr>
        <p:grpSpPr bwMode="auto">
          <a:xfrm>
            <a:off x="2514600" y="1728727"/>
            <a:ext cx="6305384" cy="4672073"/>
            <a:chOff x="720" y="445"/>
            <a:chExt cx="4594" cy="3875"/>
          </a:xfrm>
        </p:grpSpPr>
        <p:grpSp>
          <p:nvGrpSpPr>
            <p:cNvPr id="200708" name="Group 4"/>
            <p:cNvGrpSpPr>
              <a:grpSpLocks/>
            </p:cNvGrpSpPr>
            <p:nvPr/>
          </p:nvGrpSpPr>
          <p:grpSpPr bwMode="auto">
            <a:xfrm>
              <a:off x="1584" y="1680"/>
              <a:ext cx="317" cy="363"/>
              <a:chOff x="1020" y="1706"/>
              <a:chExt cx="317" cy="363"/>
            </a:xfrm>
          </p:grpSpPr>
          <p:sp>
            <p:nvSpPr>
              <p:cNvPr id="200709" name="Rectangle 5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0710" name="Oval 6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200711" name="Group 7"/>
            <p:cNvGrpSpPr>
              <a:grpSpLocks/>
            </p:cNvGrpSpPr>
            <p:nvPr/>
          </p:nvGrpSpPr>
          <p:grpSpPr bwMode="auto">
            <a:xfrm>
              <a:off x="4320" y="576"/>
              <a:ext cx="317" cy="363"/>
              <a:chOff x="1020" y="1706"/>
              <a:chExt cx="317" cy="363"/>
            </a:xfrm>
          </p:grpSpPr>
          <p:sp>
            <p:nvSpPr>
              <p:cNvPr id="200712" name="Rectangle 8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0713" name="Oval 9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00714" name="Line 10"/>
            <p:cNvSpPr>
              <a:spLocks noChangeShapeType="1"/>
            </p:cNvSpPr>
            <p:nvPr/>
          </p:nvSpPr>
          <p:spPr bwMode="auto">
            <a:xfrm>
              <a:off x="1920" y="187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15" name="Line 11"/>
            <p:cNvSpPr>
              <a:spLocks noChangeShapeType="1"/>
            </p:cNvSpPr>
            <p:nvPr/>
          </p:nvSpPr>
          <p:spPr bwMode="auto">
            <a:xfrm>
              <a:off x="4656" y="76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16" name="Line 12"/>
            <p:cNvSpPr>
              <a:spLocks noChangeShapeType="1"/>
            </p:cNvSpPr>
            <p:nvPr/>
          </p:nvSpPr>
          <p:spPr bwMode="auto">
            <a:xfrm flipH="1">
              <a:off x="768" y="187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200717" name="Group 13"/>
            <p:cNvGrpSpPr>
              <a:grpSpLocks/>
            </p:cNvGrpSpPr>
            <p:nvPr/>
          </p:nvGrpSpPr>
          <p:grpSpPr bwMode="auto">
            <a:xfrm>
              <a:off x="1584" y="2256"/>
              <a:ext cx="317" cy="363"/>
              <a:chOff x="1020" y="1706"/>
              <a:chExt cx="317" cy="363"/>
            </a:xfrm>
          </p:grpSpPr>
          <p:sp>
            <p:nvSpPr>
              <p:cNvPr id="200718" name="Rectangle 14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0719" name="Oval 15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00720" name="Line 16"/>
            <p:cNvSpPr>
              <a:spLocks noChangeShapeType="1"/>
            </p:cNvSpPr>
            <p:nvPr/>
          </p:nvSpPr>
          <p:spPr bwMode="auto">
            <a:xfrm flipH="1">
              <a:off x="720" y="244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aphicFrame>
          <p:nvGraphicFramePr>
            <p:cNvPr id="200721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8007092"/>
                </p:ext>
              </p:extLst>
            </p:nvPr>
          </p:nvGraphicFramePr>
          <p:xfrm>
            <a:off x="1891" y="1527"/>
            <a:ext cx="190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6720" imgH="215640" progId="Equation.3">
                    <p:embed/>
                  </p:oleObj>
                </mc:Choice>
                <mc:Fallback>
                  <p:oleObj name="Equation" r:id="rId2" imgW="126720" imgH="215640" progId="Equation.3">
                    <p:embed/>
                    <p:pic>
                      <p:nvPicPr>
                        <p:cNvPr id="200721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1" y="1527"/>
                          <a:ext cx="190" cy="3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0722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9507548"/>
                </p:ext>
              </p:extLst>
            </p:nvPr>
          </p:nvGraphicFramePr>
          <p:xfrm>
            <a:off x="1919" y="2094"/>
            <a:ext cx="229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280" imgH="215640" progId="Equation.3">
                    <p:embed/>
                  </p:oleObj>
                </mc:Choice>
                <mc:Fallback>
                  <p:oleObj name="Equation" r:id="rId4" imgW="152280" imgH="215640" progId="Equation.3">
                    <p:embed/>
                    <p:pic>
                      <p:nvPicPr>
                        <p:cNvPr id="200722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9" y="2094"/>
                          <a:ext cx="229" cy="3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0723" name="Text Box 19"/>
            <p:cNvSpPr txBox="1">
              <a:spLocks noChangeArrowheads="1"/>
            </p:cNvSpPr>
            <p:nvPr/>
          </p:nvSpPr>
          <p:spPr bwMode="auto">
            <a:xfrm>
              <a:off x="817" y="1536"/>
              <a:ext cx="143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ea typeface="Noto Serif SC" panose="02020200000000000000" pitchFamily="18" charset="-122"/>
                </a:rPr>
                <a:t>A</a:t>
              </a:r>
            </a:p>
          </p:txBody>
        </p:sp>
        <p:sp>
          <p:nvSpPr>
            <p:cNvPr id="200724" name="Text Box 20"/>
            <p:cNvSpPr txBox="1">
              <a:spLocks noChangeArrowheads="1"/>
            </p:cNvSpPr>
            <p:nvPr/>
          </p:nvSpPr>
          <p:spPr bwMode="auto">
            <a:xfrm>
              <a:off x="817" y="2168"/>
              <a:ext cx="143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ea typeface="Noto Serif SC" panose="02020200000000000000" pitchFamily="18" charset="-122"/>
                </a:rPr>
                <a:t>B</a:t>
              </a:r>
            </a:p>
          </p:txBody>
        </p:sp>
        <p:sp>
          <p:nvSpPr>
            <p:cNvPr id="200725" name="Line 21"/>
            <p:cNvSpPr>
              <a:spLocks noChangeShapeType="1"/>
            </p:cNvSpPr>
            <p:nvPr/>
          </p:nvSpPr>
          <p:spPr bwMode="auto">
            <a:xfrm>
              <a:off x="2112" y="14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26" name="Oval 22"/>
            <p:cNvSpPr>
              <a:spLocks noChangeArrowheads="1"/>
            </p:cNvSpPr>
            <p:nvPr/>
          </p:nvSpPr>
          <p:spPr bwMode="auto">
            <a:xfrm>
              <a:off x="2064" y="182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27" name="Oval 23"/>
            <p:cNvSpPr>
              <a:spLocks noChangeArrowheads="1"/>
            </p:cNvSpPr>
            <p:nvPr/>
          </p:nvSpPr>
          <p:spPr bwMode="auto">
            <a:xfrm>
              <a:off x="2160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200728" name="Group 24"/>
            <p:cNvGrpSpPr>
              <a:grpSpLocks/>
            </p:cNvGrpSpPr>
            <p:nvPr/>
          </p:nvGrpSpPr>
          <p:grpSpPr bwMode="auto">
            <a:xfrm>
              <a:off x="4320" y="1056"/>
              <a:ext cx="317" cy="363"/>
              <a:chOff x="1020" y="1706"/>
              <a:chExt cx="317" cy="363"/>
            </a:xfrm>
          </p:grpSpPr>
          <p:sp>
            <p:nvSpPr>
              <p:cNvPr id="200729" name="Rectangle 25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0730" name="Oval 26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00731" name="Line 27"/>
            <p:cNvSpPr>
              <a:spLocks noChangeShapeType="1"/>
            </p:cNvSpPr>
            <p:nvPr/>
          </p:nvSpPr>
          <p:spPr bwMode="auto">
            <a:xfrm>
              <a:off x="4656" y="124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200732" name="Group 28"/>
            <p:cNvGrpSpPr>
              <a:grpSpLocks/>
            </p:cNvGrpSpPr>
            <p:nvPr/>
          </p:nvGrpSpPr>
          <p:grpSpPr bwMode="auto">
            <a:xfrm>
              <a:off x="4320" y="1536"/>
              <a:ext cx="317" cy="363"/>
              <a:chOff x="1020" y="1706"/>
              <a:chExt cx="317" cy="363"/>
            </a:xfrm>
          </p:grpSpPr>
          <p:sp>
            <p:nvSpPr>
              <p:cNvPr id="200733" name="Rectangle 29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0734" name="Oval 30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00735" name="Line 31"/>
            <p:cNvSpPr>
              <a:spLocks noChangeShapeType="1"/>
            </p:cNvSpPr>
            <p:nvPr/>
          </p:nvSpPr>
          <p:spPr bwMode="auto">
            <a:xfrm>
              <a:off x="4639" y="172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200736" name="Group 32"/>
            <p:cNvGrpSpPr>
              <a:grpSpLocks/>
            </p:cNvGrpSpPr>
            <p:nvPr/>
          </p:nvGrpSpPr>
          <p:grpSpPr bwMode="auto">
            <a:xfrm>
              <a:off x="4320" y="2016"/>
              <a:ext cx="317" cy="363"/>
              <a:chOff x="1020" y="1706"/>
              <a:chExt cx="317" cy="363"/>
            </a:xfrm>
          </p:grpSpPr>
          <p:sp>
            <p:nvSpPr>
              <p:cNvPr id="200737" name="Rectangle 33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0738" name="Oval 34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00739" name="Line 35"/>
            <p:cNvSpPr>
              <a:spLocks noChangeShapeType="1"/>
            </p:cNvSpPr>
            <p:nvPr/>
          </p:nvSpPr>
          <p:spPr bwMode="auto">
            <a:xfrm>
              <a:off x="4639" y="220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40" name="Text Box 36"/>
            <p:cNvSpPr txBox="1">
              <a:spLocks noChangeArrowheads="1"/>
            </p:cNvSpPr>
            <p:nvPr/>
          </p:nvSpPr>
          <p:spPr bwMode="auto">
            <a:xfrm>
              <a:off x="5026" y="445"/>
              <a:ext cx="288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ea typeface="Noto Serif SC" panose="02020200000000000000" pitchFamily="18" charset="-122"/>
                </a:rPr>
                <a:t>Y</a:t>
              </a:r>
              <a:r>
                <a:rPr lang="en-US" altLang="zh-CN" sz="1600" i="1" dirty="0">
                  <a:ea typeface="Noto Serif SC" panose="02020200000000000000" pitchFamily="18" charset="-122"/>
                </a:rPr>
                <a:t>0</a:t>
              </a:r>
            </a:p>
          </p:txBody>
        </p:sp>
        <p:sp>
          <p:nvSpPr>
            <p:cNvPr id="200741" name="Text Box 37"/>
            <p:cNvSpPr txBox="1">
              <a:spLocks noChangeArrowheads="1"/>
            </p:cNvSpPr>
            <p:nvPr/>
          </p:nvSpPr>
          <p:spPr bwMode="auto">
            <a:xfrm>
              <a:off x="5026" y="926"/>
              <a:ext cx="288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ea typeface="Noto Serif SC" panose="02020200000000000000" pitchFamily="18" charset="-122"/>
                </a:rPr>
                <a:t>Y</a:t>
              </a:r>
              <a:r>
                <a:rPr lang="en-US" altLang="zh-CN" sz="1600" i="1" dirty="0">
                  <a:ea typeface="Noto Serif SC" panose="02020200000000000000" pitchFamily="18" charset="-122"/>
                </a:rPr>
                <a:t>1</a:t>
              </a:r>
            </a:p>
          </p:txBody>
        </p:sp>
        <p:sp>
          <p:nvSpPr>
            <p:cNvPr id="200742" name="Text Box 38"/>
            <p:cNvSpPr txBox="1">
              <a:spLocks noChangeArrowheads="1"/>
            </p:cNvSpPr>
            <p:nvPr/>
          </p:nvSpPr>
          <p:spPr bwMode="auto">
            <a:xfrm>
              <a:off x="5026" y="1405"/>
              <a:ext cx="288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ea typeface="Noto Serif SC" panose="02020200000000000000" pitchFamily="18" charset="-122"/>
                </a:rPr>
                <a:t>Y</a:t>
              </a:r>
              <a:r>
                <a:rPr lang="en-US" altLang="zh-CN" sz="1600" i="1" dirty="0">
                  <a:ea typeface="Noto Serif SC" panose="02020200000000000000" pitchFamily="18" charset="-122"/>
                </a:rPr>
                <a:t>2</a:t>
              </a:r>
            </a:p>
          </p:txBody>
        </p:sp>
        <p:sp>
          <p:nvSpPr>
            <p:cNvPr id="200743" name="Text Box 39"/>
            <p:cNvSpPr txBox="1">
              <a:spLocks noChangeArrowheads="1"/>
            </p:cNvSpPr>
            <p:nvPr/>
          </p:nvSpPr>
          <p:spPr bwMode="auto">
            <a:xfrm>
              <a:off x="5026" y="1885"/>
              <a:ext cx="288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ea typeface="Noto Serif SC" panose="02020200000000000000" pitchFamily="18" charset="-122"/>
                </a:rPr>
                <a:t>Y</a:t>
              </a:r>
              <a:r>
                <a:rPr lang="en-US" altLang="zh-CN" sz="1600" i="1" dirty="0">
                  <a:ea typeface="Noto Serif SC" panose="02020200000000000000" pitchFamily="18" charset="-122"/>
                </a:rPr>
                <a:t>3</a:t>
              </a:r>
            </a:p>
          </p:txBody>
        </p:sp>
        <p:grpSp>
          <p:nvGrpSpPr>
            <p:cNvPr id="200744" name="Group 40"/>
            <p:cNvGrpSpPr>
              <a:grpSpLocks/>
            </p:cNvGrpSpPr>
            <p:nvPr/>
          </p:nvGrpSpPr>
          <p:grpSpPr bwMode="auto">
            <a:xfrm>
              <a:off x="1584" y="2832"/>
              <a:ext cx="317" cy="363"/>
              <a:chOff x="1020" y="1706"/>
              <a:chExt cx="317" cy="363"/>
            </a:xfrm>
          </p:grpSpPr>
          <p:sp>
            <p:nvSpPr>
              <p:cNvPr id="200745" name="Rectangle 41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0746" name="Oval 42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00747" name="Line 43"/>
            <p:cNvSpPr>
              <a:spLocks noChangeShapeType="1"/>
            </p:cNvSpPr>
            <p:nvPr/>
          </p:nvSpPr>
          <p:spPr bwMode="auto">
            <a:xfrm flipH="1">
              <a:off x="720" y="3024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aphicFrame>
          <p:nvGraphicFramePr>
            <p:cNvPr id="200748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0515915"/>
                </p:ext>
              </p:extLst>
            </p:nvPr>
          </p:nvGraphicFramePr>
          <p:xfrm>
            <a:off x="1929" y="2671"/>
            <a:ext cx="209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9680" imgH="215640" progId="Equation.3">
                    <p:embed/>
                  </p:oleObj>
                </mc:Choice>
                <mc:Fallback>
                  <p:oleObj name="Equation" r:id="rId6" imgW="139680" imgH="215640" progId="Equation.3">
                    <p:embed/>
                    <p:pic>
                      <p:nvPicPr>
                        <p:cNvPr id="200748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9" y="2671"/>
                          <a:ext cx="209" cy="3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0749" name="Text Box 45"/>
            <p:cNvSpPr txBox="1">
              <a:spLocks noChangeArrowheads="1"/>
            </p:cNvSpPr>
            <p:nvPr/>
          </p:nvSpPr>
          <p:spPr bwMode="auto">
            <a:xfrm>
              <a:off x="817" y="2745"/>
              <a:ext cx="143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ea typeface="Noto Serif SC" panose="02020200000000000000" pitchFamily="18" charset="-122"/>
                </a:rPr>
                <a:t>C</a:t>
              </a:r>
            </a:p>
          </p:txBody>
        </p:sp>
        <p:sp>
          <p:nvSpPr>
            <p:cNvPr id="200750" name="Oval 46"/>
            <p:cNvSpPr>
              <a:spLocks noChangeArrowheads="1"/>
            </p:cNvSpPr>
            <p:nvPr/>
          </p:nvSpPr>
          <p:spPr bwMode="auto">
            <a:xfrm>
              <a:off x="2304" y="29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200751" name="Group 47"/>
            <p:cNvGrpSpPr>
              <a:grpSpLocks/>
            </p:cNvGrpSpPr>
            <p:nvPr/>
          </p:nvGrpSpPr>
          <p:grpSpPr bwMode="auto">
            <a:xfrm>
              <a:off x="4320" y="2517"/>
              <a:ext cx="317" cy="363"/>
              <a:chOff x="1020" y="1706"/>
              <a:chExt cx="317" cy="363"/>
            </a:xfrm>
          </p:grpSpPr>
          <p:sp>
            <p:nvSpPr>
              <p:cNvPr id="200752" name="Rectangle 48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0753" name="Oval 49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00754" name="Line 50"/>
            <p:cNvSpPr>
              <a:spLocks noChangeShapeType="1"/>
            </p:cNvSpPr>
            <p:nvPr/>
          </p:nvSpPr>
          <p:spPr bwMode="auto">
            <a:xfrm>
              <a:off x="4639" y="2709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200755" name="Group 51"/>
            <p:cNvGrpSpPr>
              <a:grpSpLocks/>
            </p:cNvGrpSpPr>
            <p:nvPr/>
          </p:nvGrpSpPr>
          <p:grpSpPr bwMode="auto">
            <a:xfrm>
              <a:off x="4320" y="2976"/>
              <a:ext cx="317" cy="363"/>
              <a:chOff x="1020" y="1706"/>
              <a:chExt cx="317" cy="363"/>
            </a:xfrm>
          </p:grpSpPr>
          <p:sp>
            <p:nvSpPr>
              <p:cNvPr id="200756" name="Rectangle 52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0757" name="Oval 53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00758" name="Line 54"/>
            <p:cNvSpPr>
              <a:spLocks noChangeShapeType="1"/>
            </p:cNvSpPr>
            <p:nvPr/>
          </p:nvSpPr>
          <p:spPr bwMode="auto">
            <a:xfrm>
              <a:off x="4656" y="316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200759" name="Group 55"/>
            <p:cNvGrpSpPr>
              <a:grpSpLocks/>
            </p:cNvGrpSpPr>
            <p:nvPr/>
          </p:nvGrpSpPr>
          <p:grpSpPr bwMode="auto">
            <a:xfrm>
              <a:off x="4320" y="3456"/>
              <a:ext cx="317" cy="363"/>
              <a:chOff x="1020" y="1706"/>
              <a:chExt cx="317" cy="363"/>
            </a:xfrm>
          </p:grpSpPr>
          <p:sp>
            <p:nvSpPr>
              <p:cNvPr id="200760" name="Rectangle 56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0761" name="Oval 57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00762" name="Line 58"/>
            <p:cNvSpPr>
              <a:spLocks noChangeShapeType="1"/>
            </p:cNvSpPr>
            <p:nvPr/>
          </p:nvSpPr>
          <p:spPr bwMode="auto">
            <a:xfrm>
              <a:off x="4656" y="364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200763" name="Group 59"/>
            <p:cNvGrpSpPr>
              <a:grpSpLocks/>
            </p:cNvGrpSpPr>
            <p:nvPr/>
          </p:nvGrpSpPr>
          <p:grpSpPr bwMode="auto">
            <a:xfrm>
              <a:off x="4320" y="3957"/>
              <a:ext cx="317" cy="363"/>
              <a:chOff x="1020" y="1706"/>
              <a:chExt cx="317" cy="363"/>
            </a:xfrm>
          </p:grpSpPr>
          <p:sp>
            <p:nvSpPr>
              <p:cNvPr id="200764" name="Rectangle 60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0765" name="Oval 61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00766" name="Line 62"/>
            <p:cNvSpPr>
              <a:spLocks noChangeShapeType="1"/>
            </p:cNvSpPr>
            <p:nvPr/>
          </p:nvSpPr>
          <p:spPr bwMode="auto">
            <a:xfrm>
              <a:off x="4656" y="412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67" name="Text Box 63"/>
            <p:cNvSpPr txBox="1">
              <a:spLocks noChangeArrowheads="1"/>
            </p:cNvSpPr>
            <p:nvPr/>
          </p:nvSpPr>
          <p:spPr bwMode="auto">
            <a:xfrm>
              <a:off x="5026" y="2365"/>
              <a:ext cx="288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ea typeface="Noto Serif SC" panose="02020200000000000000" pitchFamily="18" charset="-122"/>
                </a:rPr>
                <a:t>Y</a:t>
              </a:r>
              <a:r>
                <a:rPr lang="en-US" altLang="zh-CN" sz="1600" i="1" dirty="0">
                  <a:ea typeface="Noto Serif SC" panose="02020200000000000000" pitchFamily="18" charset="-122"/>
                </a:rPr>
                <a:t>4</a:t>
              </a:r>
            </a:p>
          </p:txBody>
        </p:sp>
        <p:sp>
          <p:nvSpPr>
            <p:cNvPr id="200768" name="Text Box 64"/>
            <p:cNvSpPr txBox="1">
              <a:spLocks noChangeArrowheads="1"/>
            </p:cNvSpPr>
            <p:nvPr/>
          </p:nvSpPr>
          <p:spPr bwMode="auto">
            <a:xfrm>
              <a:off x="5026" y="2845"/>
              <a:ext cx="288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ea typeface="Noto Serif SC" panose="02020200000000000000" pitchFamily="18" charset="-122"/>
                </a:rPr>
                <a:t>Y</a:t>
              </a:r>
              <a:r>
                <a:rPr lang="en-US" altLang="zh-CN" sz="1600" i="1" dirty="0">
                  <a:ea typeface="Noto Serif SC" panose="02020200000000000000" pitchFamily="18" charset="-122"/>
                </a:rPr>
                <a:t>5</a:t>
              </a:r>
            </a:p>
          </p:txBody>
        </p:sp>
        <p:sp>
          <p:nvSpPr>
            <p:cNvPr id="200769" name="Text Box 65"/>
            <p:cNvSpPr txBox="1">
              <a:spLocks noChangeArrowheads="1"/>
            </p:cNvSpPr>
            <p:nvPr/>
          </p:nvSpPr>
          <p:spPr bwMode="auto">
            <a:xfrm>
              <a:off x="5026" y="3325"/>
              <a:ext cx="288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ea typeface="Noto Serif SC" panose="02020200000000000000" pitchFamily="18" charset="-122"/>
                </a:rPr>
                <a:t>Y</a:t>
              </a:r>
              <a:r>
                <a:rPr lang="en-US" altLang="zh-CN" sz="1600" i="1" dirty="0">
                  <a:ea typeface="Noto Serif SC" panose="02020200000000000000" pitchFamily="18" charset="-122"/>
                </a:rPr>
                <a:t>6</a:t>
              </a:r>
            </a:p>
          </p:txBody>
        </p:sp>
        <p:sp>
          <p:nvSpPr>
            <p:cNvPr id="200770" name="Text Box 66"/>
            <p:cNvSpPr txBox="1">
              <a:spLocks noChangeArrowheads="1"/>
            </p:cNvSpPr>
            <p:nvPr/>
          </p:nvSpPr>
          <p:spPr bwMode="auto">
            <a:xfrm>
              <a:off x="5026" y="3805"/>
              <a:ext cx="288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ea typeface="Noto Serif SC" panose="02020200000000000000" pitchFamily="18" charset="-122"/>
                </a:rPr>
                <a:t>Y</a:t>
              </a:r>
              <a:r>
                <a:rPr lang="en-US" altLang="zh-CN" sz="1600" i="1" dirty="0">
                  <a:ea typeface="Noto Serif SC" panose="02020200000000000000" pitchFamily="18" charset="-122"/>
                </a:rPr>
                <a:t>7</a:t>
              </a:r>
            </a:p>
          </p:txBody>
        </p:sp>
        <p:grpSp>
          <p:nvGrpSpPr>
            <p:cNvPr id="200771" name="Group 67"/>
            <p:cNvGrpSpPr>
              <a:grpSpLocks/>
            </p:cNvGrpSpPr>
            <p:nvPr/>
          </p:nvGrpSpPr>
          <p:grpSpPr bwMode="auto">
            <a:xfrm>
              <a:off x="2496" y="1680"/>
              <a:ext cx="317" cy="363"/>
              <a:chOff x="1020" y="1706"/>
              <a:chExt cx="317" cy="363"/>
            </a:xfrm>
          </p:grpSpPr>
          <p:sp>
            <p:nvSpPr>
              <p:cNvPr id="200772" name="Rectangle 68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0773" name="Oval 69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200774" name="Group 70"/>
            <p:cNvGrpSpPr>
              <a:grpSpLocks/>
            </p:cNvGrpSpPr>
            <p:nvPr/>
          </p:nvGrpSpPr>
          <p:grpSpPr bwMode="auto">
            <a:xfrm>
              <a:off x="2496" y="2256"/>
              <a:ext cx="317" cy="363"/>
              <a:chOff x="1020" y="1706"/>
              <a:chExt cx="317" cy="363"/>
            </a:xfrm>
          </p:grpSpPr>
          <p:sp>
            <p:nvSpPr>
              <p:cNvPr id="200775" name="Rectangle 71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0776" name="Oval 72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200777" name="Group 73"/>
            <p:cNvGrpSpPr>
              <a:grpSpLocks/>
            </p:cNvGrpSpPr>
            <p:nvPr/>
          </p:nvGrpSpPr>
          <p:grpSpPr bwMode="auto">
            <a:xfrm>
              <a:off x="2496" y="2832"/>
              <a:ext cx="317" cy="363"/>
              <a:chOff x="1020" y="1706"/>
              <a:chExt cx="317" cy="363"/>
            </a:xfrm>
          </p:grpSpPr>
          <p:sp>
            <p:nvSpPr>
              <p:cNvPr id="200778" name="Rectangle 74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0779" name="Oval 75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00780" name="Line 76"/>
            <p:cNvSpPr>
              <a:spLocks noChangeShapeType="1"/>
            </p:cNvSpPr>
            <p:nvPr/>
          </p:nvSpPr>
          <p:spPr bwMode="auto">
            <a:xfrm>
              <a:off x="1920" y="244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81" name="Line 77"/>
            <p:cNvSpPr>
              <a:spLocks noChangeShapeType="1"/>
            </p:cNvSpPr>
            <p:nvPr/>
          </p:nvSpPr>
          <p:spPr bwMode="auto">
            <a:xfrm>
              <a:off x="1920" y="302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82" name="Line 78"/>
            <p:cNvSpPr>
              <a:spLocks noChangeShapeType="1"/>
            </p:cNvSpPr>
            <p:nvPr/>
          </p:nvSpPr>
          <p:spPr bwMode="auto">
            <a:xfrm>
              <a:off x="2208" y="768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83" name="Line 79"/>
            <p:cNvSpPr>
              <a:spLocks noChangeShapeType="1"/>
            </p:cNvSpPr>
            <p:nvPr/>
          </p:nvSpPr>
          <p:spPr bwMode="auto">
            <a:xfrm>
              <a:off x="2352" y="864"/>
              <a:ext cx="0" cy="2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84" name="Line 80"/>
            <p:cNvSpPr>
              <a:spLocks noChangeShapeType="1"/>
            </p:cNvSpPr>
            <p:nvPr/>
          </p:nvSpPr>
          <p:spPr bwMode="auto">
            <a:xfrm>
              <a:off x="2832" y="187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85" name="Line 81"/>
            <p:cNvSpPr>
              <a:spLocks noChangeShapeType="1"/>
            </p:cNvSpPr>
            <p:nvPr/>
          </p:nvSpPr>
          <p:spPr bwMode="auto">
            <a:xfrm>
              <a:off x="2784" y="244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86" name="Line 82"/>
            <p:cNvSpPr>
              <a:spLocks noChangeShapeType="1"/>
            </p:cNvSpPr>
            <p:nvPr/>
          </p:nvSpPr>
          <p:spPr bwMode="auto">
            <a:xfrm>
              <a:off x="2784" y="302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aphicFrame>
          <p:nvGraphicFramePr>
            <p:cNvPr id="200787" name="Object 8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3826377"/>
                </p:ext>
              </p:extLst>
            </p:nvPr>
          </p:nvGraphicFramePr>
          <p:xfrm>
            <a:off x="2794" y="1557"/>
            <a:ext cx="246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4880" imgH="177480" progId="Equation.3">
                    <p:embed/>
                  </p:oleObj>
                </mc:Choice>
                <mc:Fallback>
                  <p:oleObj name="Equation" r:id="rId8" imgW="164880" imgH="177480" progId="Equation.3">
                    <p:embed/>
                    <p:pic>
                      <p:nvPicPr>
                        <p:cNvPr id="200787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4" y="1557"/>
                          <a:ext cx="246" cy="26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0788" name="Object 8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9797770"/>
                </p:ext>
              </p:extLst>
            </p:nvPr>
          </p:nvGraphicFramePr>
          <p:xfrm>
            <a:off x="2785" y="2134"/>
            <a:ext cx="265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7480" imgH="177480" progId="Equation.3">
                    <p:embed/>
                  </p:oleObj>
                </mc:Choice>
                <mc:Fallback>
                  <p:oleObj name="Equation" r:id="rId10" imgW="177480" imgH="177480" progId="Equation.3">
                    <p:embed/>
                    <p:pic>
                      <p:nvPicPr>
                        <p:cNvPr id="200788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5" y="2134"/>
                          <a:ext cx="265" cy="2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0789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5600925"/>
                </p:ext>
              </p:extLst>
            </p:nvPr>
          </p:nvGraphicFramePr>
          <p:xfrm>
            <a:off x="2784" y="2719"/>
            <a:ext cx="266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77480" imgH="177480" progId="Equation.3">
                    <p:embed/>
                  </p:oleObj>
                </mc:Choice>
                <mc:Fallback>
                  <p:oleObj name="公式" r:id="rId12" imgW="177480" imgH="177480" progId="Equation.3">
                    <p:embed/>
                    <p:pic>
                      <p:nvPicPr>
                        <p:cNvPr id="200789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2719"/>
                          <a:ext cx="266" cy="2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0790" name="Line 86"/>
            <p:cNvSpPr>
              <a:spLocks noChangeShapeType="1"/>
            </p:cNvSpPr>
            <p:nvPr/>
          </p:nvSpPr>
          <p:spPr bwMode="auto">
            <a:xfrm flipH="1">
              <a:off x="4080" y="259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91" name="Line 87"/>
            <p:cNvSpPr>
              <a:spLocks noChangeShapeType="1"/>
            </p:cNvSpPr>
            <p:nvPr/>
          </p:nvSpPr>
          <p:spPr bwMode="auto">
            <a:xfrm flipH="1">
              <a:off x="3888" y="268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92" name="Line 88"/>
            <p:cNvSpPr>
              <a:spLocks noChangeShapeType="1"/>
            </p:cNvSpPr>
            <p:nvPr/>
          </p:nvSpPr>
          <p:spPr bwMode="auto">
            <a:xfrm flipH="1">
              <a:off x="3120" y="278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93" name="Line 89"/>
            <p:cNvSpPr>
              <a:spLocks noChangeShapeType="1"/>
            </p:cNvSpPr>
            <p:nvPr/>
          </p:nvSpPr>
          <p:spPr bwMode="auto">
            <a:xfrm flipH="1">
              <a:off x="3504" y="307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94" name="Line 90"/>
            <p:cNvSpPr>
              <a:spLocks noChangeShapeType="1"/>
            </p:cNvSpPr>
            <p:nvPr/>
          </p:nvSpPr>
          <p:spPr bwMode="auto">
            <a:xfrm flipH="1">
              <a:off x="3888" y="316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95" name="Line 91"/>
            <p:cNvSpPr>
              <a:spLocks noChangeShapeType="1"/>
            </p:cNvSpPr>
            <p:nvPr/>
          </p:nvSpPr>
          <p:spPr bwMode="auto">
            <a:xfrm flipH="1">
              <a:off x="3120" y="326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96" name="Line 92"/>
            <p:cNvSpPr>
              <a:spLocks noChangeShapeType="1"/>
            </p:cNvSpPr>
            <p:nvPr/>
          </p:nvSpPr>
          <p:spPr bwMode="auto">
            <a:xfrm flipH="1">
              <a:off x="4080" y="355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97" name="Line 93"/>
            <p:cNvSpPr>
              <a:spLocks noChangeShapeType="1"/>
            </p:cNvSpPr>
            <p:nvPr/>
          </p:nvSpPr>
          <p:spPr bwMode="auto">
            <a:xfrm flipH="1">
              <a:off x="3312" y="3648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98" name="Line 94"/>
            <p:cNvSpPr>
              <a:spLocks noChangeShapeType="1"/>
            </p:cNvSpPr>
            <p:nvPr/>
          </p:nvSpPr>
          <p:spPr bwMode="auto">
            <a:xfrm flipH="1">
              <a:off x="3120" y="374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799" name="Line 95"/>
            <p:cNvSpPr>
              <a:spLocks noChangeShapeType="1"/>
            </p:cNvSpPr>
            <p:nvPr/>
          </p:nvSpPr>
          <p:spPr bwMode="auto">
            <a:xfrm flipH="1">
              <a:off x="4080" y="67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00" name="Line 96"/>
            <p:cNvSpPr>
              <a:spLocks noChangeShapeType="1"/>
            </p:cNvSpPr>
            <p:nvPr/>
          </p:nvSpPr>
          <p:spPr bwMode="auto">
            <a:xfrm flipH="1">
              <a:off x="4080" y="7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01" name="Line 97"/>
            <p:cNvSpPr>
              <a:spLocks noChangeShapeType="1"/>
            </p:cNvSpPr>
            <p:nvPr/>
          </p:nvSpPr>
          <p:spPr bwMode="auto">
            <a:xfrm flipH="1">
              <a:off x="4080" y="86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02" name="Line 98"/>
            <p:cNvSpPr>
              <a:spLocks noChangeShapeType="1"/>
            </p:cNvSpPr>
            <p:nvPr/>
          </p:nvSpPr>
          <p:spPr bwMode="auto">
            <a:xfrm flipH="1">
              <a:off x="3504" y="115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03" name="Line 99"/>
            <p:cNvSpPr>
              <a:spLocks noChangeShapeType="1"/>
            </p:cNvSpPr>
            <p:nvPr/>
          </p:nvSpPr>
          <p:spPr bwMode="auto">
            <a:xfrm flipH="1">
              <a:off x="3888" y="124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04" name="Line 100"/>
            <p:cNvSpPr>
              <a:spLocks noChangeShapeType="1"/>
            </p:cNvSpPr>
            <p:nvPr/>
          </p:nvSpPr>
          <p:spPr bwMode="auto">
            <a:xfrm flipH="1">
              <a:off x="3696" y="1344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05" name="Line 101"/>
            <p:cNvSpPr>
              <a:spLocks noChangeShapeType="1"/>
            </p:cNvSpPr>
            <p:nvPr/>
          </p:nvSpPr>
          <p:spPr bwMode="auto">
            <a:xfrm flipH="1">
              <a:off x="4080" y="163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06" name="Line 102"/>
            <p:cNvSpPr>
              <a:spLocks noChangeShapeType="1"/>
            </p:cNvSpPr>
            <p:nvPr/>
          </p:nvSpPr>
          <p:spPr bwMode="auto">
            <a:xfrm flipH="1">
              <a:off x="3312" y="1728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07" name="Line 103"/>
            <p:cNvSpPr>
              <a:spLocks noChangeShapeType="1"/>
            </p:cNvSpPr>
            <p:nvPr/>
          </p:nvSpPr>
          <p:spPr bwMode="auto">
            <a:xfrm flipH="1">
              <a:off x="3696" y="1824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08" name="Line 104"/>
            <p:cNvSpPr>
              <a:spLocks noChangeShapeType="1"/>
            </p:cNvSpPr>
            <p:nvPr/>
          </p:nvSpPr>
          <p:spPr bwMode="auto">
            <a:xfrm flipH="1">
              <a:off x="3504" y="211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09" name="Line 105"/>
            <p:cNvSpPr>
              <a:spLocks noChangeShapeType="1"/>
            </p:cNvSpPr>
            <p:nvPr/>
          </p:nvSpPr>
          <p:spPr bwMode="auto">
            <a:xfrm flipH="1">
              <a:off x="3312" y="2208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10" name="Line 106"/>
            <p:cNvSpPr>
              <a:spLocks noChangeShapeType="1"/>
            </p:cNvSpPr>
            <p:nvPr/>
          </p:nvSpPr>
          <p:spPr bwMode="auto">
            <a:xfrm flipH="1">
              <a:off x="3696" y="2304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11" name="Line 107"/>
            <p:cNvSpPr>
              <a:spLocks noChangeShapeType="1"/>
            </p:cNvSpPr>
            <p:nvPr/>
          </p:nvSpPr>
          <p:spPr bwMode="auto">
            <a:xfrm flipH="1">
              <a:off x="3504" y="403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12" name="Line 108"/>
            <p:cNvSpPr>
              <a:spLocks noChangeShapeType="1"/>
            </p:cNvSpPr>
            <p:nvPr/>
          </p:nvSpPr>
          <p:spPr bwMode="auto">
            <a:xfrm flipH="1">
              <a:off x="3312" y="4128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13" name="Line 109"/>
            <p:cNvSpPr>
              <a:spLocks noChangeShapeType="1"/>
            </p:cNvSpPr>
            <p:nvPr/>
          </p:nvSpPr>
          <p:spPr bwMode="auto">
            <a:xfrm flipH="1">
              <a:off x="3120" y="422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14" name="Line 110"/>
            <p:cNvSpPr>
              <a:spLocks noChangeShapeType="1"/>
            </p:cNvSpPr>
            <p:nvPr/>
          </p:nvSpPr>
          <p:spPr bwMode="auto">
            <a:xfrm flipV="1">
              <a:off x="2112" y="672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15" name="Line 111"/>
            <p:cNvSpPr>
              <a:spLocks noChangeShapeType="1"/>
            </p:cNvSpPr>
            <p:nvPr/>
          </p:nvSpPr>
          <p:spPr bwMode="auto">
            <a:xfrm>
              <a:off x="2112" y="672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16" name="Line 112"/>
            <p:cNvSpPr>
              <a:spLocks noChangeShapeType="1"/>
            </p:cNvSpPr>
            <p:nvPr/>
          </p:nvSpPr>
          <p:spPr bwMode="auto">
            <a:xfrm>
              <a:off x="4080" y="672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17" name="Line 113"/>
            <p:cNvSpPr>
              <a:spLocks noChangeShapeType="1"/>
            </p:cNvSpPr>
            <p:nvPr/>
          </p:nvSpPr>
          <p:spPr bwMode="auto">
            <a:xfrm flipV="1">
              <a:off x="2208" y="768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18" name="Line 114"/>
            <p:cNvSpPr>
              <a:spLocks noChangeShapeType="1"/>
            </p:cNvSpPr>
            <p:nvPr/>
          </p:nvSpPr>
          <p:spPr bwMode="auto">
            <a:xfrm flipH="1">
              <a:off x="2352" y="864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19" name="Oval 115"/>
            <p:cNvSpPr>
              <a:spLocks noChangeArrowheads="1"/>
            </p:cNvSpPr>
            <p:nvPr/>
          </p:nvSpPr>
          <p:spPr bwMode="auto">
            <a:xfrm>
              <a:off x="4032" y="62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20" name="Line 116"/>
            <p:cNvSpPr>
              <a:spLocks noChangeShapeType="1"/>
            </p:cNvSpPr>
            <p:nvPr/>
          </p:nvSpPr>
          <p:spPr bwMode="auto">
            <a:xfrm>
              <a:off x="3888" y="768"/>
              <a:ext cx="0" cy="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21" name="Line 117"/>
            <p:cNvSpPr>
              <a:spLocks noChangeShapeType="1"/>
            </p:cNvSpPr>
            <p:nvPr/>
          </p:nvSpPr>
          <p:spPr bwMode="auto">
            <a:xfrm>
              <a:off x="3696" y="86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22" name="Oval 118"/>
            <p:cNvSpPr>
              <a:spLocks noChangeArrowheads="1"/>
            </p:cNvSpPr>
            <p:nvPr/>
          </p:nvSpPr>
          <p:spPr bwMode="auto">
            <a:xfrm>
              <a:off x="3840" y="72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23" name="Oval 119"/>
            <p:cNvSpPr>
              <a:spLocks noChangeArrowheads="1"/>
            </p:cNvSpPr>
            <p:nvPr/>
          </p:nvSpPr>
          <p:spPr bwMode="auto">
            <a:xfrm>
              <a:off x="3648" y="8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24" name="Line 120"/>
            <p:cNvSpPr>
              <a:spLocks noChangeShapeType="1"/>
            </p:cNvSpPr>
            <p:nvPr/>
          </p:nvSpPr>
          <p:spPr bwMode="auto">
            <a:xfrm>
              <a:off x="3504" y="1152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25" name="Line 121"/>
            <p:cNvSpPr>
              <a:spLocks noChangeShapeType="1"/>
            </p:cNvSpPr>
            <p:nvPr/>
          </p:nvSpPr>
          <p:spPr bwMode="auto">
            <a:xfrm>
              <a:off x="3312" y="1728"/>
              <a:ext cx="0" cy="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26" name="Line 122"/>
            <p:cNvSpPr>
              <a:spLocks noChangeShapeType="1"/>
            </p:cNvSpPr>
            <p:nvPr/>
          </p:nvSpPr>
          <p:spPr bwMode="auto">
            <a:xfrm>
              <a:off x="3120" y="278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27" name="Oval 123"/>
            <p:cNvSpPr>
              <a:spLocks noChangeArrowheads="1"/>
            </p:cNvSpPr>
            <p:nvPr/>
          </p:nvSpPr>
          <p:spPr bwMode="auto">
            <a:xfrm>
              <a:off x="3456" y="182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28" name="Oval 124"/>
            <p:cNvSpPr>
              <a:spLocks noChangeArrowheads="1"/>
            </p:cNvSpPr>
            <p:nvPr/>
          </p:nvSpPr>
          <p:spPr bwMode="auto">
            <a:xfrm>
              <a:off x="3264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29" name="Oval 125"/>
            <p:cNvSpPr>
              <a:spLocks noChangeArrowheads="1"/>
            </p:cNvSpPr>
            <p:nvPr/>
          </p:nvSpPr>
          <p:spPr bwMode="auto">
            <a:xfrm>
              <a:off x="3072" y="29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30" name="Oval 126"/>
            <p:cNvSpPr>
              <a:spLocks noChangeArrowheads="1"/>
            </p:cNvSpPr>
            <p:nvPr/>
          </p:nvSpPr>
          <p:spPr bwMode="auto">
            <a:xfrm>
              <a:off x="3648" y="12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31" name="Oval 127"/>
            <p:cNvSpPr>
              <a:spLocks noChangeArrowheads="1"/>
            </p:cNvSpPr>
            <p:nvPr/>
          </p:nvSpPr>
          <p:spPr bwMode="auto">
            <a:xfrm>
              <a:off x="3840" y="12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32" name="Oval 128"/>
            <p:cNvSpPr>
              <a:spLocks noChangeArrowheads="1"/>
            </p:cNvSpPr>
            <p:nvPr/>
          </p:nvSpPr>
          <p:spPr bwMode="auto">
            <a:xfrm>
              <a:off x="4032" y="15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33" name="Oval 129"/>
            <p:cNvSpPr>
              <a:spLocks noChangeArrowheads="1"/>
            </p:cNvSpPr>
            <p:nvPr/>
          </p:nvSpPr>
          <p:spPr bwMode="auto">
            <a:xfrm>
              <a:off x="3648" y="17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34" name="Oval 130"/>
            <p:cNvSpPr>
              <a:spLocks noChangeArrowheads="1"/>
            </p:cNvSpPr>
            <p:nvPr/>
          </p:nvSpPr>
          <p:spPr bwMode="auto">
            <a:xfrm>
              <a:off x="3456" y="206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35" name="Oval 131"/>
            <p:cNvSpPr>
              <a:spLocks noChangeArrowheads="1"/>
            </p:cNvSpPr>
            <p:nvPr/>
          </p:nvSpPr>
          <p:spPr bwMode="auto">
            <a:xfrm>
              <a:off x="3264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36" name="Oval 132"/>
            <p:cNvSpPr>
              <a:spLocks noChangeArrowheads="1"/>
            </p:cNvSpPr>
            <p:nvPr/>
          </p:nvSpPr>
          <p:spPr bwMode="auto">
            <a:xfrm>
              <a:off x="3840" y="264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37" name="Oval 133"/>
            <p:cNvSpPr>
              <a:spLocks noChangeArrowheads="1"/>
            </p:cNvSpPr>
            <p:nvPr/>
          </p:nvSpPr>
          <p:spPr bwMode="auto">
            <a:xfrm>
              <a:off x="4032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38" name="Oval 134"/>
            <p:cNvSpPr>
              <a:spLocks noChangeArrowheads="1"/>
            </p:cNvSpPr>
            <p:nvPr/>
          </p:nvSpPr>
          <p:spPr bwMode="auto">
            <a:xfrm>
              <a:off x="3072" y="32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39" name="Oval 135"/>
            <p:cNvSpPr>
              <a:spLocks noChangeArrowheads="1"/>
            </p:cNvSpPr>
            <p:nvPr/>
          </p:nvSpPr>
          <p:spPr bwMode="auto">
            <a:xfrm>
              <a:off x="3456" y="302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40" name="Oval 136"/>
            <p:cNvSpPr>
              <a:spLocks noChangeArrowheads="1"/>
            </p:cNvSpPr>
            <p:nvPr/>
          </p:nvSpPr>
          <p:spPr bwMode="auto">
            <a:xfrm>
              <a:off x="3264" y="36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0841" name="Oval 137"/>
            <p:cNvSpPr>
              <a:spLocks noChangeArrowheads="1"/>
            </p:cNvSpPr>
            <p:nvPr/>
          </p:nvSpPr>
          <p:spPr bwMode="auto">
            <a:xfrm>
              <a:off x="3072" y="36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aphicFrame>
        <p:nvGraphicFramePr>
          <p:cNvPr id="200842" name="Object 1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0416209"/>
              </p:ext>
            </p:extLst>
          </p:nvPr>
        </p:nvGraphicFramePr>
        <p:xfrm>
          <a:off x="627063" y="2063750"/>
          <a:ext cx="1800225" cy="463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774360" imgH="2412720" progId="Equation.3">
                  <p:embed/>
                </p:oleObj>
              </mc:Choice>
              <mc:Fallback>
                <p:oleObj name="公式" r:id="rId14" imgW="774360" imgH="2412720" progId="Equation.3">
                  <p:embed/>
                  <p:pic>
                    <p:nvPicPr>
                      <p:cNvPr id="200842" name="Object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63" y="2063750"/>
                        <a:ext cx="1800225" cy="463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844" name="Rectangle 140"/>
          <p:cNvSpPr>
            <a:spLocks noChangeArrowheads="1"/>
          </p:cNvSpPr>
          <p:nvPr/>
        </p:nvSpPr>
        <p:spPr bwMode="auto">
          <a:xfrm>
            <a:off x="533400" y="1143000"/>
            <a:ext cx="83820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en-US" altLang="zh-CN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3-8</a:t>
            </a: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解碼器：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按照輸出運算式畫出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3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－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8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解碼器的邏輯圖</a:t>
            </a:r>
          </a:p>
        </p:txBody>
      </p:sp>
    </p:spTree>
    <p:extLst>
      <p:ext uri="{BB962C8B-B14F-4D97-AF65-F5344CB8AC3E}">
        <p14:creationId xmlns:p14="http://schemas.microsoft.com/office/powerpoint/2010/main" val="35089046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31</a:t>
            </a:r>
            <a:r>
              <a:rPr lang="zh-CN" altLang="en-US" sz="3600" dirty="0"/>
              <a:t>）</a:t>
            </a:r>
          </a:p>
        </p:txBody>
      </p:sp>
      <p:sp>
        <p:nvSpPr>
          <p:cNvPr id="7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92659-2EEC-439D-8D80-5E8310DEB5E3}" type="slidenum">
              <a:rPr lang="en-US" altLang="zh-CN"/>
              <a:pPr/>
              <a:t>35</a:t>
            </a:fld>
            <a:endParaRPr lang="en-US" altLang="zh-CN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3-8</a:t>
            </a:r>
            <a:r>
              <a:rPr lang="zh-CN" altLang="en-US" dirty="0"/>
              <a:t>解碼器擴展成</a:t>
            </a:r>
            <a:r>
              <a:rPr lang="en-US" altLang="zh-CN" dirty="0"/>
              <a:t>4-16</a:t>
            </a:r>
            <a:r>
              <a:rPr lang="zh-CN" altLang="en-US" dirty="0"/>
              <a:t>解碼器</a:t>
            </a:r>
          </a:p>
        </p:txBody>
      </p:sp>
      <p:sp>
        <p:nvSpPr>
          <p:cNvPr id="201732" name="Text Box 4"/>
          <p:cNvSpPr txBox="1">
            <a:spLocks noChangeArrowheads="1"/>
          </p:cNvSpPr>
          <p:nvPr/>
        </p:nvSpPr>
        <p:spPr bwMode="auto">
          <a:xfrm>
            <a:off x="685800" y="22860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輸入</a:t>
            </a:r>
          </a:p>
        </p:txBody>
      </p:sp>
      <p:sp>
        <p:nvSpPr>
          <p:cNvPr id="201733" name="Text Box 5"/>
          <p:cNvSpPr txBox="1">
            <a:spLocks noChangeArrowheads="1"/>
          </p:cNvSpPr>
          <p:nvPr/>
        </p:nvSpPr>
        <p:spPr bwMode="auto">
          <a:xfrm>
            <a:off x="609600" y="5943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輸出</a:t>
            </a:r>
          </a:p>
        </p:txBody>
      </p:sp>
      <p:grpSp>
        <p:nvGrpSpPr>
          <p:cNvPr id="201734" name="Group 6"/>
          <p:cNvGrpSpPr>
            <a:grpSpLocks/>
          </p:cNvGrpSpPr>
          <p:nvPr/>
        </p:nvGrpSpPr>
        <p:grpSpPr bwMode="auto">
          <a:xfrm>
            <a:off x="1519238" y="2286000"/>
            <a:ext cx="5378450" cy="4132263"/>
            <a:chOff x="957" y="1440"/>
            <a:chExt cx="3388" cy="2603"/>
          </a:xfrm>
        </p:grpSpPr>
        <p:sp>
          <p:nvSpPr>
            <p:cNvPr id="201735" name="Rectangle 7"/>
            <p:cNvSpPr>
              <a:spLocks noChangeArrowheads="1"/>
            </p:cNvSpPr>
            <p:nvPr/>
          </p:nvSpPr>
          <p:spPr bwMode="auto">
            <a:xfrm>
              <a:off x="957" y="2688"/>
              <a:ext cx="1498" cy="91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36" name="Rectangle 8"/>
            <p:cNvSpPr>
              <a:spLocks noChangeArrowheads="1"/>
            </p:cNvSpPr>
            <p:nvPr/>
          </p:nvSpPr>
          <p:spPr bwMode="auto">
            <a:xfrm>
              <a:off x="2755" y="2689"/>
              <a:ext cx="1559" cy="91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37" name="Line 9"/>
            <p:cNvSpPr>
              <a:spLocks noChangeShapeType="1"/>
            </p:cNvSpPr>
            <p:nvPr/>
          </p:nvSpPr>
          <p:spPr bwMode="auto">
            <a:xfrm>
              <a:off x="1076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38" name="Line 10"/>
            <p:cNvSpPr>
              <a:spLocks noChangeShapeType="1"/>
            </p:cNvSpPr>
            <p:nvPr/>
          </p:nvSpPr>
          <p:spPr bwMode="auto">
            <a:xfrm>
              <a:off x="1256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39" name="Line 11"/>
            <p:cNvSpPr>
              <a:spLocks noChangeShapeType="1"/>
            </p:cNvSpPr>
            <p:nvPr/>
          </p:nvSpPr>
          <p:spPr bwMode="auto">
            <a:xfrm>
              <a:off x="1436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40" name="Line 12"/>
            <p:cNvSpPr>
              <a:spLocks noChangeShapeType="1"/>
            </p:cNvSpPr>
            <p:nvPr/>
          </p:nvSpPr>
          <p:spPr bwMode="auto">
            <a:xfrm>
              <a:off x="161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41" name="Line 13"/>
            <p:cNvSpPr>
              <a:spLocks noChangeShapeType="1"/>
            </p:cNvSpPr>
            <p:nvPr/>
          </p:nvSpPr>
          <p:spPr bwMode="auto">
            <a:xfrm>
              <a:off x="179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42" name="Line 14"/>
            <p:cNvSpPr>
              <a:spLocks noChangeShapeType="1"/>
            </p:cNvSpPr>
            <p:nvPr/>
          </p:nvSpPr>
          <p:spPr bwMode="auto">
            <a:xfrm>
              <a:off x="197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43" name="Line 15"/>
            <p:cNvSpPr>
              <a:spLocks noChangeShapeType="1"/>
            </p:cNvSpPr>
            <p:nvPr/>
          </p:nvSpPr>
          <p:spPr bwMode="auto">
            <a:xfrm>
              <a:off x="215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44" name="Line 16"/>
            <p:cNvSpPr>
              <a:spLocks noChangeShapeType="1"/>
            </p:cNvSpPr>
            <p:nvPr/>
          </p:nvSpPr>
          <p:spPr bwMode="auto">
            <a:xfrm>
              <a:off x="233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45" name="Line 17"/>
            <p:cNvSpPr>
              <a:spLocks noChangeShapeType="1"/>
            </p:cNvSpPr>
            <p:nvPr/>
          </p:nvSpPr>
          <p:spPr bwMode="auto">
            <a:xfrm>
              <a:off x="287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46" name="Line 18"/>
            <p:cNvSpPr>
              <a:spLocks noChangeShapeType="1"/>
            </p:cNvSpPr>
            <p:nvPr/>
          </p:nvSpPr>
          <p:spPr bwMode="auto">
            <a:xfrm>
              <a:off x="305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47" name="Line 19"/>
            <p:cNvSpPr>
              <a:spLocks noChangeShapeType="1"/>
            </p:cNvSpPr>
            <p:nvPr/>
          </p:nvSpPr>
          <p:spPr bwMode="auto">
            <a:xfrm>
              <a:off x="323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48" name="Line 20"/>
            <p:cNvSpPr>
              <a:spLocks noChangeShapeType="1"/>
            </p:cNvSpPr>
            <p:nvPr/>
          </p:nvSpPr>
          <p:spPr bwMode="auto">
            <a:xfrm>
              <a:off x="341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49" name="Line 21"/>
            <p:cNvSpPr>
              <a:spLocks noChangeShapeType="1"/>
            </p:cNvSpPr>
            <p:nvPr/>
          </p:nvSpPr>
          <p:spPr bwMode="auto">
            <a:xfrm>
              <a:off x="359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50" name="Line 22"/>
            <p:cNvSpPr>
              <a:spLocks noChangeShapeType="1"/>
            </p:cNvSpPr>
            <p:nvPr/>
          </p:nvSpPr>
          <p:spPr bwMode="auto">
            <a:xfrm>
              <a:off x="377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51" name="Line 23"/>
            <p:cNvSpPr>
              <a:spLocks noChangeShapeType="1"/>
            </p:cNvSpPr>
            <p:nvPr/>
          </p:nvSpPr>
          <p:spPr bwMode="auto">
            <a:xfrm>
              <a:off x="3954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52" name="Line 24"/>
            <p:cNvSpPr>
              <a:spLocks noChangeShapeType="1"/>
            </p:cNvSpPr>
            <p:nvPr/>
          </p:nvSpPr>
          <p:spPr bwMode="auto">
            <a:xfrm>
              <a:off x="4134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53" name="Line 25"/>
            <p:cNvSpPr>
              <a:spLocks noChangeShapeType="1"/>
            </p:cNvSpPr>
            <p:nvPr/>
          </p:nvSpPr>
          <p:spPr bwMode="auto">
            <a:xfrm>
              <a:off x="1056" y="1968"/>
              <a:ext cx="0" cy="7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54" name="Line 26"/>
            <p:cNvSpPr>
              <a:spLocks noChangeShapeType="1"/>
            </p:cNvSpPr>
            <p:nvPr/>
          </p:nvSpPr>
          <p:spPr bwMode="auto">
            <a:xfrm>
              <a:off x="1296" y="1968"/>
              <a:ext cx="0" cy="7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55" name="Line 27"/>
            <p:cNvSpPr>
              <a:spLocks noChangeShapeType="1"/>
            </p:cNvSpPr>
            <p:nvPr/>
          </p:nvSpPr>
          <p:spPr bwMode="auto">
            <a:xfrm>
              <a:off x="1536" y="1968"/>
              <a:ext cx="0" cy="7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56" name="Line 28"/>
            <p:cNvSpPr>
              <a:spLocks noChangeShapeType="1"/>
            </p:cNvSpPr>
            <p:nvPr/>
          </p:nvSpPr>
          <p:spPr bwMode="auto">
            <a:xfrm>
              <a:off x="2016" y="1728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57" name="Line 29"/>
            <p:cNvSpPr>
              <a:spLocks noChangeShapeType="1"/>
            </p:cNvSpPr>
            <p:nvPr/>
          </p:nvSpPr>
          <p:spPr bwMode="auto">
            <a:xfrm>
              <a:off x="2875" y="2566"/>
              <a:ext cx="0" cy="1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58" name="Line 30"/>
            <p:cNvSpPr>
              <a:spLocks noChangeShapeType="1"/>
            </p:cNvSpPr>
            <p:nvPr/>
          </p:nvSpPr>
          <p:spPr bwMode="auto">
            <a:xfrm>
              <a:off x="3176" y="2444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59" name="Line 31"/>
            <p:cNvSpPr>
              <a:spLocks noChangeShapeType="1"/>
            </p:cNvSpPr>
            <p:nvPr/>
          </p:nvSpPr>
          <p:spPr bwMode="auto">
            <a:xfrm>
              <a:off x="3474" y="2323"/>
              <a:ext cx="0" cy="3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60" name="Line 32"/>
            <p:cNvSpPr>
              <a:spLocks noChangeShapeType="1"/>
            </p:cNvSpPr>
            <p:nvPr/>
          </p:nvSpPr>
          <p:spPr bwMode="auto">
            <a:xfrm>
              <a:off x="3696" y="1968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61" name="Line 33"/>
            <p:cNvSpPr>
              <a:spLocks noChangeShapeType="1"/>
            </p:cNvSpPr>
            <p:nvPr/>
          </p:nvSpPr>
          <p:spPr bwMode="auto">
            <a:xfrm>
              <a:off x="1076" y="2566"/>
              <a:ext cx="17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62" name="Line 34"/>
            <p:cNvSpPr>
              <a:spLocks noChangeShapeType="1"/>
            </p:cNvSpPr>
            <p:nvPr/>
          </p:nvSpPr>
          <p:spPr bwMode="auto">
            <a:xfrm>
              <a:off x="1317" y="2444"/>
              <a:ext cx="18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63" name="Line 35"/>
            <p:cNvSpPr>
              <a:spLocks noChangeShapeType="1"/>
            </p:cNvSpPr>
            <p:nvPr/>
          </p:nvSpPr>
          <p:spPr bwMode="auto">
            <a:xfrm>
              <a:off x="1556" y="2323"/>
              <a:ext cx="19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64" name="Line 36"/>
            <p:cNvSpPr>
              <a:spLocks noChangeShapeType="1"/>
            </p:cNvSpPr>
            <p:nvPr/>
          </p:nvSpPr>
          <p:spPr bwMode="auto">
            <a:xfrm>
              <a:off x="3456" y="19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65" name="Text Box 37"/>
            <p:cNvSpPr txBox="1">
              <a:spLocks noChangeArrowheads="1"/>
            </p:cNvSpPr>
            <p:nvPr/>
          </p:nvSpPr>
          <p:spPr bwMode="auto">
            <a:xfrm>
              <a:off x="1556" y="2932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ea typeface="Noto Serif SC" panose="02020200000000000000" pitchFamily="18" charset="-122"/>
                </a:rPr>
                <a:t>I</a:t>
              </a:r>
            </a:p>
          </p:txBody>
        </p:sp>
        <p:sp>
          <p:nvSpPr>
            <p:cNvPr id="201766" name="Text Box 38"/>
            <p:cNvSpPr txBox="1">
              <a:spLocks noChangeArrowheads="1"/>
            </p:cNvSpPr>
            <p:nvPr/>
          </p:nvSpPr>
          <p:spPr bwMode="auto">
            <a:xfrm>
              <a:off x="3415" y="2932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ea typeface="Noto Serif SC" panose="02020200000000000000" pitchFamily="18" charset="-122"/>
                </a:rPr>
                <a:t>II</a:t>
              </a:r>
            </a:p>
          </p:txBody>
        </p:sp>
        <p:sp>
          <p:nvSpPr>
            <p:cNvPr id="201767" name="Rectangle 39"/>
            <p:cNvSpPr>
              <a:spLocks noChangeArrowheads="1"/>
            </p:cNvSpPr>
            <p:nvPr/>
          </p:nvSpPr>
          <p:spPr bwMode="auto">
            <a:xfrm>
              <a:off x="960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0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1768" name="Rectangle 40"/>
            <p:cNvSpPr>
              <a:spLocks noChangeArrowheads="1"/>
            </p:cNvSpPr>
            <p:nvPr/>
          </p:nvSpPr>
          <p:spPr bwMode="auto">
            <a:xfrm>
              <a:off x="1146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1769" name="Rectangle 41"/>
            <p:cNvSpPr>
              <a:spLocks noChangeArrowheads="1"/>
            </p:cNvSpPr>
            <p:nvPr/>
          </p:nvSpPr>
          <p:spPr bwMode="auto">
            <a:xfrm>
              <a:off x="1327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2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1770" name="Rectangle 42"/>
            <p:cNvSpPr>
              <a:spLocks noChangeArrowheads="1"/>
            </p:cNvSpPr>
            <p:nvPr/>
          </p:nvSpPr>
          <p:spPr bwMode="auto">
            <a:xfrm>
              <a:off x="1509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3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1771" name="Rectangle 43"/>
            <p:cNvSpPr>
              <a:spLocks noChangeArrowheads="1"/>
            </p:cNvSpPr>
            <p:nvPr/>
          </p:nvSpPr>
          <p:spPr bwMode="auto">
            <a:xfrm>
              <a:off x="1690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4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1772" name="Rectangle 44"/>
            <p:cNvSpPr>
              <a:spLocks noChangeArrowheads="1"/>
            </p:cNvSpPr>
            <p:nvPr/>
          </p:nvSpPr>
          <p:spPr bwMode="auto">
            <a:xfrm>
              <a:off x="1872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5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1773" name="Rectangle 45"/>
            <p:cNvSpPr>
              <a:spLocks noChangeArrowheads="1"/>
            </p:cNvSpPr>
            <p:nvPr/>
          </p:nvSpPr>
          <p:spPr bwMode="auto">
            <a:xfrm>
              <a:off x="2008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6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1774" name="Rectangle 46"/>
            <p:cNvSpPr>
              <a:spLocks noChangeArrowheads="1"/>
            </p:cNvSpPr>
            <p:nvPr/>
          </p:nvSpPr>
          <p:spPr bwMode="auto">
            <a:xfrm>
              <a:off x="2189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7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1775" name="Rectangle 47"/>
            <p:cNvSpPr>
              <a:spLocks noChangeArrowheads="1"/>
            </p:cNvSpPr>
            <p:nvPr/>
          </p:nvSpPr>
          <p:spPr bwMode="auto">
            <a:xfrm>
              <a:off x="2755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8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1776" name="Rectangle 48"/>
            <p:cNvSpPr>
              <a:spLocks noChangeArrowheads="1"/>
            </p:cNvSpPr>
            <p:nvPr/>
          </p:nvSpPr>
          <p:spPr bwMode="auto">
            <a:xfrm>
              <a:off x="2941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9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1777" name="Rectangle 49"/>
            <p:cNvSpPr>
              <a:spLocks noChangeArrowheads="1"/>
            </p:cNvSpPr>
            <p:nvPr/>
          </p:nvSpPr>
          <p:spPr bwMode="auto">
            <a:xfrm>
              <a:off x="3122" y="3696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10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1778" name="Rectangle 50"/>
            <p:cNvSpPr>
              <a:spLocks noChangeArrowheads="1"/>
            </p:cNvSpPr>
            <p:nvPr/>
          </p:nvSpPr>
          <p:spPr bwMode="auto">
            <a:xfrm>
              <a:off x="3304" y="3696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11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1779" name="Rectangle 51"/>
            <p:cNvSpPr>
              <a:spLocks noChangeArrowheads="1"/>
            </p:cNvSpPr>
            <p:nvPr/>
          </p:nvSpPr>
          <p:spPr bwMode="auto">
            <a:xfrm>
              <a:off x="3485" y="3696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12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1780" name="Rectangle 52"/>
            <p:cNvSpPr>
              <a:spLocks noChangeArrowheads="1"/>
            </p:cNvSpPr>
            <p:nvPr/>
          </p:nvSpPr>
          <p:spPr bwMode="auto">
            <a:xfrm>
              <a:off x="3667" y="3696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13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1781" name="Rectangle 53"/>
            <p:cNvSpPr>
              <a:spLocks noChangeArrowheads="1"/>
            </p:cNvSpPr>
            <p:nvPr/>
          </p:nvSpPr>
          <p:spPr bwMode="auto">
            <a:xfrm>
              <a:off x="3803" y="3696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14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1782" name="Rectangle 54"/>
            <p:cNvSpPr>
              <a:spLocks noChangeArrowheads="1"/>
            </p:cNvSpPr>
            <p:nvPr/>
          </p:nvSpPr>
          <p:spPr bwMode="auto">
            <a:xfrm>
              <a:off x="3984" y="3696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15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1783" name="Text Box 55"/>
            <p:cNvSpPr txBox="1">
              <a:spLocks noChangeArrowheads="1"/>
            </p:cNvSpPr>
            <p:nvPr/>
          </p:nvSpPr>
          <p:spPr bwMode="auto">
            <a:xfrm>
              <a:off x="957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</a:p>
          </p:txBody>
        </p:sp>
        <p:sp>
          <p:nvSpPr>
            <p:cNvPr id="201784" name="Text Box 56"/>
            <p:cNvSpPr txBox="1">
              <a:spLocks noChangeArrowheads="1"/>
            </p:cNvSpPr>
            <p:nvPr/>
          </p:nvSpPr>
          <p:spPr bwMode="auto">
            <a:xfrm>
              <a:off x="1184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B</a:t>
              </a:r>
            </a:p>
          </p:txBody>
        </p:sp>
        <p:sp>
          <p:nvSpPr>
            <p:cNvPr id="201785" name="Text Box 57"/>
            <p:cNvSpPr txBox="1">
              <a:spLocks noChangeArrowheads="1"/>
            </p:cNvSpPr>
            <p:nvPr/>
          </p:nvSpPr>
          <p:spPr bwMode="auto">
            <a:xfrm>
              <a:off x="1411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C</a:t>
              </a:r>
            </a:p>
          </p:txBody>
        </p:sp>
        <p:graphicFrame>
          <p:nvGraphicFramePr>
            <p:cNvPr id="201786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6780683"/>
                </p:ext>
              </p:extLst>
            </p:nvPr>
          </p:nvGraphicFramePr>
          <p:xfrm>
            <a:off x="1913" y="2683"/>
            <a:ext cx="220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90440" imgH="253800" progId="Equation.3">
                    <p:embed/>
                  </p:oleObj>
                </mc:Choice>
                <mc:Fallback>
                  <p:oleObj name="Equation" r:id="rId2" imgW="190440" imgH="253800" progId="Equation.3">
                    <p:embed/>
                    <p:pic>
                      <p:nvPicPr>
                        <p:cNvPr id="201786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3" y="2683"/>
                          <a:ext cx="220" cy="2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1787" name="Text Box 59"/>
            <p:cNvSpPr txBox="1">
              <a:spLocks noChangeArrowheads="1"/>
            </p:cNvSpPr>
            <p:nvPr/>
          </p:nvSpPr>
          <p:spPr bwMode="auto">
            <a:xfrm>
              <a:off x="2817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</a:p>
          </p:txBody>
        </p:sp>
        <p:sp>
          <p:nvSpPr>
            <p:cNvPr id="201788" name="Text Box 60"/>
            <p:cNvSpPr txBox="1">
              <a:spLocks noChangeArrowheads="1"/>
            </p:cNvSpPr>
            <p:nvPr/>
          </p:nvSpPr>
          <p:spPr bwMode="auto">
            <a:xfrm>
              <a:off x="3089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B</a:t>
              </a:r>
            </a:p>
          </p:txBody>
        </p:sp>
        <p:sp>
          <p:nvSpPr>
            <p:cNvPr id="201789" name="Text Box 61"/>
            <p:cNvSpPr txBox="1">
              <a:spLocks noChangeArrowheads="1"/>
            </p:cNvSpPr>
            <p:nvPr/>
          </p:nvSpPr>
          <p:spPr bwMode="auto">
            <a:xfrm>
              <a:off x="3361" y="2683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C</a:t>
              </a:r>
            </a:p>
          </p:txBody>
        </p:sp>
        <p:graphicFrame>
          <p:nvGraphicFramePr>
            <p:cNvPr id="201790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2346073"/>
                </p:ext>
              </p:extLst>
            </p:nvPr>
          </p:nvGraphicFramePr>
          <p:xfrm>
            <a:off x="3603" y="2683"/>
            <a:ext cx="219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90440" imgH="253800" progId="Equation.3">
                    <p:embed/>
                  </p:oleObj>
                </mc:Choice>
                <mc:Fallback>
                  <p:oleObj name="Equation" r:id="rId4" imgW="190440" imgH="253800" progId="Equation.3">
                    <p:embed/>
                    <p:pic>
                      <p:nvPicPr>
                        <p:cNvPr id="20179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3" y="2683"/>
                          <a:ext cx="219" cy="2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1791" name="Text Box 63"/>
            <p:cNvSpPr txBox="1">
              <a:spLocks noChangeArrowheads="1"/>
            </p:cNvSpPr>
            <p:nvPr/>
          </p:nvSpPr>
          <p:spPr bwMode="auto">
            <a:xfrm>
              <a:off x="986" y="1536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</a:p>
          </p:txBody>
        </p:sp>
        <p:sp>
          <p:nvSpPr>
            <p:cNvPr id="201792" name="Text Box 64"/>
            <p:cNvSpPr txBox="1">
              <a:spLocks noChangeArrowheads="1"/>
            </p:cNvSpPr>
            <p:nvPr/>
          </p:nvSpPr>
          <p:spPr bwMode="auto">
            <a:xfrm>
              <a:off x="1213" y="1536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B</a:t>
              </a:r>
            </a:p>
          </p:txBody>
        </p:sp>
        <p:sp>
          <p:nvSpPr>
            <p:cNvPr id="201793" name="Text Box 65"/>
            <p:cNvSpPr txBox="1">
              <a:spLocks noChangeArrowheads="1"/>
            </p:cNvSpPr>
            <p:nvPr/>
          </p:nvSpPr>
          <p:spPr bwMode="auto">
            <a:xfrm>
              <a:off x="1440" y="1536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C</a:t>
              </a:r>
            </a:p>
          </p:txBody>
        </p:sp>
        <p:sp>
          <p:nvSpPr>
            <p:cNvPr id="201794" name="Text Box 66"/>
            <p:cNvSpPr txBox="1">
              <a:spLocks noChangeArrowheads="1"/>
            </p:cNvSpPr>
            <p:nvPr/>
          </p:nvSpPr>
          <p:spPr bwMode="auto">
            <a:xfrm>
              <a:off x="1893" y="1536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D</a:t>
              </a:r>
            </a:p>
          </p:txBody>
        </p:sp>
        <p:sp>
          <p:nvSpPr>
            <p:cNvPr id="201795" name="AutoShape 67"/>
            <p:cNvSpPr>
              <a:spLocks/>
            </p:cNvSpPr>
            <p:nvPr/>
          </p:nvSpPr>
          <p:spPr bwMode="auto">
            <a:xfrm rot="5400000">
              <a:off x="1489" y="1055"/>
              <a:ext cx="91" cy="862"/>
            </a:xfrm>
            <a:prstGeom prst="leftBracket">
              <a:avLst>
                <a:gd name="adj" fmla="val 78938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796" name="AutoShape 68"/>
            <p:cNvSpPr>
              <a:spLocks/>
            </p:cNvSpPr>
            <p:nvPr/>
          </p:nvSpPr>
          <p:spPr bwMode="auto">
            <a:xfrm rot="16200000">
              <a:off x="2544" y="2411"/>
              <a:ext cx="45" cy="3220"/>
            </a:xfrm>
            <a:prstGeom prst="leftBracket">
              <a:avLst>
                <a:gd name="adj" fmla="val 59629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zh-CN" altLang="zh-CN" sz="18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201797" name="Group 69"/>
            <p:cNvGrpSpPr>
              <a:grpSpLocks/>
            </p:cNvGrpSpPr>
            <p:nvPr/>
          </p:nvGrpSpPr>
          <p:grpSpPr bwMode="auto">
            <a:xfrm>
              <a:off x="3120" y="1776"/>
              <a:ext cx="317" cy="363"/>
              <a:chOff x="1020" y="1706"/>
              <a:chExt cx="317" cy="363"/>
            </a:xfrm>
          </p:grpSpPr>
          <p:sp>
            <p:nvSpPr>
              <p:cNvPr id="201798" name="Rectangle 70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1799" name="Oval 71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01800" name="Line 72"/>
            <p:cNvSpPr>
              <a:spLocks noChangeShapeType="1"/>
            </p:cNvSpPr>
            <p:nvPr/>
          </p:nvSpPr>
          <p:spPr bwMode="auto">
            <a:xfrm>
              <a:off x="2016" y="1968"/>
              <a:ext cx="1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801" name="Oval 73"/>
            <p:cNvSpPr>
              <a:spLocks noChangeArrowheads="1"/>
            </p:cNvSpPr>
            <p:nvPr/>
          </p:nvSpPr>
          <p:spPr bwMode="auto">
            <a:xfrm>
              <a:off x="1968" y="192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802" name="Oval 74"/>
            <p:cNvSpPr>
              <a:spLocks noChangeArrowheads="1"/>
            </p:cNvSpPr>
            <p:nvPr/>
          </p:nvSpPr>
          <p:spPr bwMode="auto">
            <a:xfrm>
              <a:off x="1488" y="225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803" name="Oval 75"/>
            <p:cNvSpPr>
              <a:spLocks noChangeArrowheads="1"/>
            </p:cNvSpPr>
            <p:nvPr/>
          </p:nvSpPr>
          <p:spPr bwMode="auto">
            <a:xfrm>
              <a:off x="1248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1804" name="Oval 76"/>
            <p:cNvSpPr>
              <a:spLocks noChangeArrowheads="1"/>
            </p:cNvSpPr>
            <p:nvPr/>
          </p:nvSpPr>
          <p:spPr bwMode="auto">
            <a:xfrm>
              <a:off x="1008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18242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32</a:t>
            </a:r>
            <a:r>
              <a:rPr lang="zh-CN" altLang="en-US" sz="3600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99F16-6FCA-41B0-83E4-E5F9FEADED24}" type="slidenum">
              <a:rPr lang="en-US" altLang="zh-CN">
                <a:solidFill>
                  <a:schemeClr val="tx1"/>
                </a:solidFill>
              </a:rPr>
              <a:pPr/>
              <a:t>36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027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981200"/>
            <a:ext cx="8229600" cy="4114800"/>
          </a:xfrm>
        </p:spPr>
        <p:txBody>
          <a:bodyPr>
            <a:normAutofit/>
          </a:bodyPr>
          <a:lstStyle/>
          <a:p>
            <a:r>
              <a:rPr lang="zh-CN" altLang="en-US" dirty="0"/>
              <a:t>有多個使能端的解碼器件</a:t>
            </a:r>
            <a:r>
              <a:rPr lang="en-US" altLang="zh-CN" dirty="0"/>
              <a:t>——</a:t>
            </a:r>
            <a:r>
              <a:rPr lang="zh-CN" altLang="en-US" dirty="0"/>
              <a:t>典型器件</a:t>
            </a:r>
          </a:p>
          <a:p>
            <a:pPr lvl="1"/>
            <a:r>
              <a:rPr lang="zh-CN" altLang="en-US" b="1" dirty="0"/>
              <a:t>器件一： </a:t>
            </a:r>
            <a:r>
              <a:rPr lang="en-US" altLang="zh-CN" b="1" dirty="0"/>
              <a:t>74LS</a:t>
            </a:r>
            <a:r>
              <a:rPr lang="zh-CN" altLang="en-US" b="1" dirty="0"/>
              <a:t>（</a:t>
            </a:r>
            <a:r>
              <a:rPr lang="en-US" altLang="zh-CN" b="1" dirty="0"/>
              <a:t>HCT</a:t>
            </a:r>
            <a:r>
              <a:rPr lang="zh-CN" altLang="en-US" b="1" dirty="0"/>
              <a:t>，</a:t>
            </a:r>
            <a:r>
              <a:rPr lang="en-US" altLang="zh-CN" b="1" dirty="0"/>
              <a:t>HC</a:t>
            </a:r>
            <a:r>
              <a:rPr lang="zh-CN" altLang="en-US" b="1" dirty="0"/>
              <a:t>）</a:t>
            </a:r>
            <a:r>
              <a:rPr lang="en-US" altLang="zh-CN" b="1" dirty="0"/>
              <a:t>139  </a:t>
            </a:r>
          </a:p>
          <a:p>
            <a:pPr lvl="1">
              <a:buFont typeface="Wingdings" pitchFamily="2" charset="2"/>
              <a:buNone/>
            </a:pPr>
            <a:r>
              <a:rPr lang="en-US" altLang="zh-CN" b="1" dirty="0"/>
              <a:t>           </a:t>
            </a:r>
            <a:r>
              <a:rPr lang="zh-CN" altLang="en-US" sz="2400" dirty="0"/>
              <a:t>功能：雙</a:t>
            </a:r>
            <a:r>
              <a:rPr lang="en-US" altLang="zh-CN" sz="2400" dirty="0"/>
              <a:t>2-4</a:t>
            </a:r>
            <a:r>
              <a:rPr lang="zh-CN" altLang="en-US" sz="2400" dirty="0"/>
              <a:t>解碼器</a:t>
            </a:r>
          </a:p>
          <a:p>
            <a:pPr lvl="1"/>
            <a:r>
              <a:rPr lang="zh-CN" altLang="en-US" b="1" dirty="0"/>
              <a:t>器件二：</a:t>
            </a:r>
            <a:r>
              <a:rPr lang="en-US" altLang="zh-CN" b="1" dirty="0"/>
              <a:t>74LS</a:t>
            </a:r>
            <a:r>
              <a:rPr lang="zh-CN" altLang="en-US" b="1" dirty="0"/>
              <a:t>（</a:t>
            </a:r>
            <a:r>
              <a:rPr lang="en-US" altLang="zh-CN" b="1" dirty="0"/>
              <a:t>HCT</a:t>
            </a:r>
            <a:r>
              <a:rPr lang="zh-CN" altLang="en-US" b="1" dirty="0"/>
              <a:t>，</a:t>
            </a:r>
            <a:r>
              <a:rPr lang="en-US" altLang="zh-CN" b="1" dirty="0"/>
              <a:t>HC</a:t>
            </a:r>
            <a:r>
              <a:rPr lang="zh-CN" altLang="en-US" b="1" dirty="0"/>
              <a:t>）</a:t>
            </a:r>
            <a:r>
              <a:rPr lang="en-US" altLang="zh-CN" b="1" dirty="0"/>
              <a:t>138</a:t>
            </a:r>
            <a:endParaRPr lang="zh-CN" altLang="en-US" b="1" dirty="0"/>
          </a:p>
          <a:p>
            <a:pPr>
              <a:buFont typeface="Wingdings" pitchFamily="2" charset="2"/>
              <a:buNone/>
            </a:pPr>
            <a:r>
              <a:rPr lang="zh-CN" altLang="en-US" sz="2400" b="1" dirty="0"/>
              <a:t>                功能： </a:t>
            </a:r>
            <a:r>
              <a:rPr lang="en-US" altLang="zh-CN" sz="2400" b="1" dirty="0"/>
              <a:t>3-8  </a:t>
            </a:r>
            <a:r>
              <a:rPr lang="zh-CN" altLang="en-US" sz="2400" b="1" dirty="0"/>
              <a:t>解碼器（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個使能端）</a:t>
            </a:r>
          </a:p>
          <a:p>
            <a:pPr lvl="1"/>
            <a:r>
              <a:rPr lang="zh-CN" altLang="en-US" b="1" dirty="0"/>
              <a:t>器件三：</a:t>
            </a:r>
            <a:r>
              <a:rPr lang="en-US" altLang="zh-CN" b="1" dirty="0"/>
              <a:t>74 LS</a:t>
            </a:r>
            <a:r>
              <a:rPr lang="zh-CN" altLang="en-US" b="1" dirty="0"/>
              <a:t>（</a:t>
            </a:r>
            <a:r>
              <a:rPr lang="en-US" altLang="zh-CN" b="1" dirty="0"/>
              <a:t>HCT</a:t>
            </a:r>
            <a:r>
              <a:rPr lang="zh-CN" altLang="en-US" b="1" dirty="0"/>
              <a:t>，</a:t>
            </a:r>
            <a:r>
              <a:rPr lang="en-US" altLang="zh-CN" b="1" dirty="0"/>
              <a:t>HC</a:t>
            </a:r>
            <a:r>
              <a:rPr lang="zh-CN" altLang="en-US" b="1" dirty="0"/>
              <a:t>）</a:t>
            </a:r>
            <a:r>
              <a:rPr lang="en-US" altLang="zh-CN" b="1" dirty="0"/>
              <a:t>154 </a:t>
            </a:r>
          </a:p>
          <a:p>
            <a:pPr>
              <a:buFont typeface="Wingdings" pitchFamily="2" charset="2"/>
              <a:buNone/>
            </a:pPr>
            <a:r>
              <a:rPr lang="zh-CN" altLang="en-US" sz="2400" b="1" dirty="0"/>
              <a:t>                功能：</a:t>
            </a:r>
            <a:r>
              <a:rPr lang="en-US" altLang="zh-CN" sz="2400" b="1" dirty="0"/>
              <a:t>4-16 </a:t>
            </a:r>
            <a:r>
              <a:rPr lang="zh-CN" altLang="en-US" sz="2400" b="1" dirty="0"/>
              <a:t>解碼器（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個使能端）</a:t>
            </a:r>
          </a:p>
          <a:p>
            <a:pPr>
              <a:buFont typeface="Wingdings" pitchFamily="2" charset="2"/>
              <a:buNone/>
            </a:pP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2701550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1045916F-C574-4A8F-A0FD-CE6A1AC6921A}" type="slidenum">
              <a:rPr lang="en-US" altLang="zh-CN">
                <a:solidFill>
                  <a:schemeClr val="tx1"/>
                </a:solidFill>
              </a:rPr>
              <a:pPr/>
              <a:t>37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203778" name="Picture 2" descr="4-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1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24E8DE7-1B2E-4E66-A052-56D8D6DA4CDF}"/>
              </a:ext>
            </a:extLst>
          </p:cNvPr>
          <p:cNvSpPr txBox="1"/>
          <p:nvPr/>
        </p:nvSpPr>
        <p:spPr>
          <a:xfrm>
            <a:off x="251520" y="7099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ea typeface="Noto Serif SC" panose="02020200000000000000" pitchFamily="18" charset="-122"/>
              </a:rPr>
              <a:t>74LS138</a:t>
            </a:r>
            <a:endParaRPr lang="zh-CN" altLang="en-US" dirty="0">
              <a:ea typeface="Noto Serif SC" panose="020202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1752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33</a:t>
            </a:r>
            <a:r>
              <a:rPr lang="zh-CN" altLang="en-US" sz="3600" dirty="0"/>
              <a:t>）</a:t>
            </a:r>
          </a:p>
        </p:txBody>
      </p:sp>
      <p:sp>
        <p:nvSpPr>
          <p:cNvPr id="10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D2554-7289-419C-A139-D09AFC198DAC}" type="slidenum">
              <a:rPr lang="en-US" altLang="zh-CN"/>
              <a:pPr/>
              <a:t>38</a:t>
            </a:fld>
            <a:endParaRPr lang="en-US" altLang="zh-CN" dirty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r>
              <a:rPr lang="zh-CN" altLang="en-US" dirty="0"/>
              <a:t>用作擴展：</a:t>
            </a:r>
            <a:r>
              <a:rPr lang="zh-CN" altLang="en-US" sz="2400" dirty="0"/>
              <a:t>具有多個使能端的</a:t>
            </a:r>
            <a:r>
              <a:rPr lang="en-US" altLang="zh-CN" sz="2400" dirty="0"/>
              <a:t>3-8</a:t>
            </a:r>
            <a:r>
              <a:rPr lang="zh-CN" altLang="en-US" sz="2400" dirty="0"/>
              <a:t>解碼器擴展為</a:t>
            </a:r>
            <a:r>
              <a:rPr lang="en-US" altLang="zh-CN" sz="2400" dirty="0"/>
              <a:t>4-16</a:t>
            </a:r>
            <a:r>
              <a:rPr lang="zh-CN" altLang="en-US" sz="2400" dirty="0"/>
              <a:t>解碼器</a:t>
            </a:r>
          </a:p>
        </p:txBody>
      </p:sp>
      <p:grpSp>
        <p:nvGrpSpPr>
          <p:cNvPr id="205828" name="Group 4"/>
          <p:cNvGrpSpPr>
            <a:grpSpLocks/>
          </p:cNvGrpSpPr>
          <p:nvPr/>
        </p:nvGrpSpPr>
        <p:grpSpPr bwMode="auto">
          <a:xfrm>
            <a:off x="2567384" y="4241797"/>
            <a:ext cx="2452687" cy="2066923"/>
            <a:chOff x="1053" y="2672"/>
            <a:chExt cx="1545" cy="1302"/>
          </a:xfrm>
        </p:grpSpPr>
        <p:sp>
          <p:nvSpPr>
            <p:cNvPr id="205829" name="Rectangle 5"/>
            <p:cNvSpPr>
              <a:spLocks noChangeArrowheads="1"/>
            </p:cNvSpPr>
            <p:nvPr/>
          </p:nvSpPr>
          <p:spPr bwMode="auto">
            <a:xfrm>
              <a:off x="1056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0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5830" name="Rectangle 6"/>
            <p:cNvSpPr>
              <a:spLocks noChangeArrowheads="1"/>
            </p:cNvSpPr>
            <p:nvPr/>
          </p:nvSpPr>
          <p:spPr bwMode="auto">
            <a:xfrm>
              <a:off x="1242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5831" name="Rectangle 7"/>
            <p:cNvSpPr>
              <a:spLocks noChangeArrowheads="1"/>
            </p:cNvSpPr>
            <p:nvPr/>
          </p:nvSpPr>
          <p:spPr bwMode="auto">
            <a:xfrm>
              <a:off x="1423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2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5832" name="Rectangle 8"/>
            <p:cNvSpPr>
              <a:spLocks noChangeArrowheads="1"/>
            </p:cNvSpPr>
            <p:nvPr/>
          </p:nvSpPr>
          <p:spPr bwMode="auto">
            <a:xfrm>
              <a:off x="1605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3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5833" name="Rectangle 9"/>
            <p:cNvSpPr>
              <a:spLocks noChangeArrowheads="1"/>
            </p:cNvSpPr>
            <p:nvPr/>
          </p:nvSpPr>
          <p:spPr bwMode="auto">
            <a:xfrm>
              <a:off x="1786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4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5834" name="Rectangle 10"/>
            <p:cNvSpPr>
              <a:spLocks noChangeArrowheads="1"/>
            </p:cNvSpPr>
            <p:nvPr/>
          </p:nvSpPr>
          <p:spPr bwMode="auto">
            <a:xfrm>
              <a:off x="1968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5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5835" name="Rectangle 11"/>
            <p:cNvSpPr>
              <a:spLocks noChangeArrowheads="1"/>
            </p:cNvSpPr>
            <p:nvPr/>
          </p:nvSpPr>
          <p:spPr bwMode="auto">
            <a:xfrm>
              <a:off x="2104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6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5836" name="Rectangle 12"/>
            <p:cNvSpPr>
              <a:spLocks noChangeArrowheads="1"/>
            </p:cNvSpPr>
            <p:nvPr/>
          </p:nvSpPr>
          <p:spPr bwMode="auto">
            <a:xfrm>
              <a:off x="2285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7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5837" name="Text Box 13"/>
            <p:cNvSpPr txBox="1">
              <a:spLocks noChangeArrowheads="1"/>
            </p:cNvSpPr>
            <p:nvPr/>
          </p:nvSpPr>
          <p:spPr bwMode="auto">
            <a:xfrm>
              <a:off x="1053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</a:p>
          </p:txBody>
        </p:sp>
        <p:sp>
          <p:nvSpPr>
            <p:cNvPr id="205838" name="Text Box 14"/>
            <p:cNvSpPr txBox="1">
              <a:spLocks noChangeArrowheads="1"/>
            </p:cNvSpPr>
            <p:nvPr/>
          </p:nvSpPr>
          <p:spPr bwMode="auto">
            <a:xfrm>
              <a:off x="1280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B</a:t>
              </a:r>
            </a:p>
          </p:txBody>
        </p:sp>
        <p:sp>
          <p:nvSpPr>
            <p:cNvPr id="205839" name="Text Box 15"/>
            <p:cNvSpPr txBox="1">
              <a:spLocks noChangeArrowheads="1"/>
            </p:cNvSpPr>
            <p:nvPr/>
          </p:nvSpPr>
          <p:spPr bwMode="auto">
            <a:xfrm>
              <a:off x="1507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C</a:t>
              </a:r>
            </a:p>
          </p:txBody>
        </p:sp>
        <p:graphicFrame>
          <p:nvGraphicFramePr>
            <p:cNvPr id="205840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8964787"/>
                </p:ext>
              </p:extLst>
            </p:nvPr>
          </p:nvGraphicFramePr>
          <p:xfrm>
            <a:off x="1756" y="2672"/>
            <a:ext cx="205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77480" imgH="228600" progId="Equation.3">
                    <p:embed/>
                  </p:oleObj>
                </mc:Choice>
                <mc:Fallback>
                  <p:oleObj name="公式" r:id="rId2" imgW="177480" imgH="228600" progId="Equation.3">
                    <p:embed/>
                    <p:pic>
                      <p:nvPicPr>
                        <p:cNvPr id="20584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6" y="2672"/>
                          <a:ext cx="205" cy="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841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3742840"/>
                </p:ext>
              </p:extLst>
            </p:nvPr>
          </p:nvGraphicFramePr>
          <p:xfrm>
            <a:off x="2014" y="2713"/>
            <a:ext cx="29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53800" imgH="228600" progId="Equation.3">
                    <p:embed/>
                  </p:oleObj>
                </mc:Choice>
                <mc:Fallback>
                  <p:oleObj name="公式" r:id="rId4" imgW="253800" imgH="228600" progId="Equation.3">
                    <p:embed/>
                    <p:pic>
                      <p:nvPicPr>
                        <p:cNvPr id="205841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4" y="2713"/>
                          <a:ext cx="294" cy="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842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2554815"/>
                </p:ext>
              </p:extLst>
            </p:nvPr>
          </p:nvGraphicFramePr>
          <p:xfrm>
            <a:off x="2280" y="2713"/>
            <a:ext cx="308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66400" imgH="228600" progId="Equation.3">
                    <p:embed/>
                  </p:oleObj>
                </mc:Choice>
                <mc:Fallback>
                  <p:oleObj name="公式" r:id="rId6" imgW="266400" imgH="228600" progId="Equation.3">
                    <p:embed/>
                    <p:pic>
                      <p:nvPicPr>
                        <p:cNvPr id="205842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0" y="2713"/>
                          <a:ext cx="308" cy="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843" name="Rectangle 19"/>
            <p:cNvSpPr>
              <a:spLocks noChangeArrowheads="1"/>
            </p:cNvSpPr>
            <p:nvPr/>
          </p:nvSpPr>
          <p:spPr bwMode="auto">
            <a:xfrm>
              <a:off x="1056" y="2700"/>
              <a:ext cx="1498" cy="91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44" name="Line 20"/>
            <p:cNvSpPr>
              <a:spLocks noChangeShapeType="1"/>
            </p:cNvSpPr>
            <p:nvPr/>
          </p:nvSpPr>
          <p:spPr bwMode="auto">
            <a:xfrm>
              <a:off x="1175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45" name="Line 21"/>
            <p:cNvSpPr>
              <a:spLocks noChangeShapeType="1"/>
            </p:cNvSpPr>
            <p:nvPr/>
          </p:nvSpPr>
          <p:spPr bwMode="auto">
            <a:xfrm>
              <a:off x="1355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46" name="Line 22"/>
            <p:cNvSpPr>
              <a:spLocks noChangeShapeType="1"/>
            </p:cNvSpPr>
            <p:nvPr/>
          </p:nvSpPr>
          <p:spPr bwMode="auto">
            <a:xfrm>
              <a:off x="1535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47" name="Line 23"/>
            <p:cNvSpPr>
              <a:spLocks noChangeShapeType="1"/>
            </p:cNvSpPr>
            <p:nvPr/>
          </p:nvSpPr>
          <p:spPr bwMode="auto">
            <a:xfrm>
              <a:off x="171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48" name="Line 24"/>
            <p:cNvSpPr>
              <a:spLocks noChangeShapeType="1"/>
            </p:cNvSpPr>
            <p:nvPr/>
          </p:nvSpPr>
          <p:spPr bwMode="auto">
            <a:xfrm>
              <a:off x="189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49" name="Line 25"/>
            <p:cNvSpPr>
              <a:spLocks noChangeShapeType="1"/>
            </p:cNvSpPr>
            <p:nvPr/>
          </p:nvSpPr>
          <p:spPr bwMode="auto">
            <a:xfrm>
              <a:off x="207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50" name="Line 26"/>
            <p:cNvSpPr>
              <a:spLocks noChangeShapeType="1"/>
            </p:cNvSpPr>
            <p:nvPr/>
          </p:nvSpPr>
          <p:spPr bwMode="auto">
            <a:xfrm>
              <a:off x="225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51" name="Line 27"/>
            <p:cNvSpPr>
              <a:spLocks noChangeShapeType="1"/>
            </p:cNvSpPr>
            <p:nvPr/>
          </p:nvSpPr>
          <p:spPr bwMode="auto">
            <a:xfrm>
              <a:off x="243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52" name="Text Box 28"/>
            <p:cNvSpPr txBox="1">
              <a:spLocks noChangeArrowheads="1"/>
            </p:cNvSpPr>
            <p:nvPr/>
          </p:nvSpPr>
          <p:spPr bwMode="auto">
            <a:xfrm>
              <a:off x="1655" y="2943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ea typeface="Noto Serif SC" panose="02020200000000000000" pitchFamily="18" charset="-122"/>
                </a:rPr>
                <a:t>I</a:t>
              </a:r>
            </a:p>
          </p:txBody>
        </p:sp>
      </p:grpSp>
      <p:grpSp>
        <p:nvGrpSpPr>
          <p:cNvPr id="205853" name="Group 29"/>
          <p:cNvGrpSpPr>
            <a:grpSpLocks/>
          </p:cNvGrpSpPr>
          <p:nvPr/>
        </p:nvGrpSpPr>
        <p:grpSpPr bwMode="auto">
          <a:xfrm>
            <a:off x="5426471" y="4241797"/>
            <a:ext cx="2601913" cy="2066923"/>
            <a:chOff x="2854" y="2672"/>
            <a:chExt cx="1639" cy="1302"/>
          </a:xfrm>
        </p:grpSpPr>
        <p:sp>
          <p:nvSpPr>
            <p:cNvPr id="205854" name="Rectangle 30"/>
            <p:cNvSpPr>
              <a:spLocks noChangeArrowheads="1"/>
            </p:cNvSpPr>
            <p:nvPr/>
          </p:nvSpPr>
          <p:spPr bwMode="auto">
            <a:xfrm>
              <a:off x="2874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8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5855" name="Rectangle 31"/>
            <p:cNvSpPr>
              <a:spLocks noChangeArrowheads="1"/>
            </p:cNvSpPr>
            <p:nvPr/>
          </p:nvSpPr>
          <p:spPr bwMode="auto">
            <a:xfrm>
              <a:off x="3060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9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5856" name="Rectangle 32"/>
            <p:cNvSpPr>
              <a:spLocks noChangeArrowheads="1"/>
            </p:cNvSpPr>
            <p:nvPr/>
          </p:nvSpPr>
          <p:spPr bwMode="auto">
            <a:xfrm>
              <a:off x="3241" y="3743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10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5857" name="Rectangle 33"/>
            <p:cNvSpPr>
              <a:spLocks noChangeArrowheads="1"/>
            </p:cNvSpPr>
            <p:nvPr/>
          </p:nvSpPr>
          <p:spPr bwMode="auto">
            <a:xfrm>
              <a:off x="3423" y="3743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11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5858" name="Rectangle 34"/>
            <p:cNvSpPr>
              <a:spLocks noChangeArrowheads="1"/>
            </p:cNvSpPr>
            <p:nvPr/>
          </p:nvSpPr>
          <p:spPr bwMode="auto">
            <a:xfrm>
              <a:off x="3604" y="3743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12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5859" name="Rectangle 35"/>
            <p:cNvSpPr>
              <a:spLocks noChangeArrowheads="1"/>
            </p:cNvSpPr>
            <p:nvPr/>
          </p:nvSpPr>
          <p:spPr bwMode="auto">
            <a:xfrm>
              <a:off x="3786" y="3743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13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5860" name="Rectangle 36"/>
            <p:cNvSpPr>
              <a:spLocks noChangeArrowheads="1"/>
            </p:cNvSpPr>
            <p:nvPr/>
          </p:nvSpPr>
          <p:spPr bwMode="auto">
            <a:xfrm>
              <a:off x="3951" y="3743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14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5861" name="Rectangle 37"/>
            <p:cNvSpPr>
              <a:spLocks noChangeArrowheads="1"/>
            </p:cNvSpPr>
            <p:nvPr/>
          </p:nvSpPr>
          <p:spPr bwMode="auto">
            <a:xfrm>
              <a:off x="4132" y="3743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15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5862" name="Text Box 38"/>
            <p:cNvSpPr txBox="1">
              <a:spLocks noChangeArrowheads="1"/>
            </p:cNvSpPr>
            <p:nvPr/>
          </p:nvSpPr>
          <p:spPr bwMode="auto">
            <a:xfrm>
              <a:off x="2913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</a:p>
          </p:txBody>
        </p:sp>
        <p:sp>
          <p:nvSpPr>
            <p:cNvPr id="205863" name="Text Box 39"/>
            <p:cNvSpPr txBox="1">
              <a:spLocks noChangeArrowheads="1"/>
            </p:cNvSpPr>
            <p:nvPr/>
          </p:nvSpPr>
          <p:spPr bwMode="auto">
            <a:xfrm>
              <a:off x="3185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B</a:t>
              </a:r>
            </a:p>
          </p:txBody>
        </p:sp>
        <p:sp>
          <p:nvSpPr>
            <p:cNvPr id="205864" name="Text Box 40"/>
            <p:cNvSpPr txBox="1">
              <a:spLocks noChangeArrowheads="1"/>
            </p:cNvSpPr>
            <p:nvPr/>
          </p:nvSpPr>
          <p:spPr bwMode="auto">
            <a:xfrm>
              <a:off x="3457" y="2683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C</a:t>
              </a:r>
            </a:p>
          </p:txBody>
        </p:sp>
        <p:graphicFrame>
          <p:nvGraphicFramePr>
            <p:cNvPr id="205865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793930"/>
                </p:ext>
              </p:extLst>
            </p:nvPr>
          </p:nvGraphicFramePr>
          <p:xfrm>
            <a:off x="3706" y="2672"/>
            <a:ext cx="205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77480" imgH="228600" progId="Equation.3">
                    <p:embed/>
                  </p:oleObj>
                </mc:Choice>
                <mc:Fallback>
                  <p:oleObj name="公式" r:id="rId8" imgW="177480" imgH="228600" progId="Equation.3">
                    <p:embed/>
                    <p:pic>
                      <p:nvPicPr>
                        <p:cNvPr id="205865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6" y="2672"/>
                          <a:ext cx="205" cy="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866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5036514"/>
                </p:ext>
              </p:extLst>
            </p:nvPr>
          </p:nvGraphicFramePr>
          <p:xfrm>
            <a:off x="3920" y="2713"/>
            <a:ext cx="29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53800" imgH="228600" progId="Equation.3">
                    <p:embed/>
                  </p:oleObj>
                </mc:Choice>
                <mc:Fallback>
                  <p:oleObj name="公式" r:id="rId10" imgW="253800" imgH="228600" progId="Equation.3">
                    <p:embed/>
                    <p:pic>
                      <p:nvPicPr>
                        <p:cNvPr id="205866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0" y="2713"/>
                          <a:ext cx="294" cy="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867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1486696"/>
                </p:ext>
              </p:extLst>
            </p:nvPr>
          </p:nvGraphicFramePr>
          <p:xfrm>
            <a:off x="4185" y="2699"/>
            <a:ext cx="30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66400" imgH="228600" progId="Equation.3">
                    <p:embed/>
                  </p:oleObj>
                </mc:Choice>
                <mc:Fallback>
                  <p:oleObj name="公式" r:id="rId12" imgW="266400" imgH="228600" progId="Equation.3">
                    <p:embed/>
                    <p:pic>
                      <p:nvPicPr>
                        <p:cNvPr id="205867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5" y="2699"/>
                          <a:ext cx="308" cy="2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868" name="Rectangle 44"/>
            <p:cNvSpPr>
              <a:spLocks noChangeArrowheads="1"/>
            </p:cNvSpPr>
            <p:nvPr/>
          </p:nvSpPr>
          <p:spPr bwMode="auto">
            <a:xfrm>
              <a:off x="2854" y="2700"/>
              <a:ext cx="1559" cy="91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69" name="Line 45"/>
            <p:cNvSpPr>
              <a:spLocks noChangeShapeType="1"/>
            </p:cNvSpPr>
            <p:nvPr/>
          </p:nvSpPr>
          <p:spPr bwMode="auto">
            <a:xfrm>
              <a:off x="297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70" name="Line 46"/>
            <p:cNvSpPr>
              <a:spLocks noChangeShapeType="1"/>
            </p:cNvSpPr>
            <p:nvPr/>
          </p:nvSpPr>
          <p:spPr bwMode="auto">
            <a:xfrm>
              <a:off x="315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71" name="Line 47"/>
            <p:cNvSpPr>
              <a:spLocks noChangeShapeType="1"/>
            </p:cNvSpPr>
            <p:nvPr/>
          </p:nvSpPr>
          <p:spPr bwMode="auto">
            <a:xfrm>
              <a:off x="333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72" name="Line 48"/>
            <p:cNvSpPr>
              <a:spLocks noChangeShapeType="1"/>
            </p:cNvSpPr>
            <p:nvPr/>
          </p:nvSpPr>
          <p:spPr bwMode="auto">
            <a:xfrm>
              <a:off x="351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73" name="Line 49"/>
            <p:cNvSpPr>
              <a:spLocks noChangeShapeType="1"/>
            </p:cNvSpPr>
            <p:nvPr/>
          </p:nvSpPr>
          <p:spPr bwMode="auto">
            <a:xfrm>
              <a:off x="369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74" name="Line 50"/>
            <p:cNvSpPr>
              <a:spLocks noChangeShapeType="1"/>
            </p:cNvSpPr>
            <p:nvPr/>
          </p:nvSpPr>
          <p:spPr bwMode="auto">
            <a:xfrm>
              <a:off x="387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75" name="Line 51"/>
            <p:cNvSpPr>
              <a:spLocks noChangeShapeType="1"/>
            </p:cNvSpPr>
            <p:nvPr/>
          </p:nvSpPr>
          <p:spPr bwMode="auto">
            <a:xfrm>
              <a:off x="4053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76" name="Line 52"/>
            <p:cNvSpPr>
              <a:spLocks noChangeShapeType="1"/>
            </p:cNvSpPr>
            <p:nvPr/>
          </p:nvSpPr>
          <p:spPr bwMode="auto">
            <a:xfrm>
              <a:off x="4233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77" name="Text Box 53"/>
            <p:cNvSpPr txBox="1">
              <a:spLocks noChangeArrowheads="1"/>
            </p:cNvSpPr>
            <p:nvPr/>
          </p:nvSpPr>
          <p:spPr bwMode="auto">
            <a:xfrm>
              <a:off x="3514" y="2943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ea typeface="Noto Serif SC" panose="02020200000000000000" pitchFamily="18" charset="-122"/>
                </a:rPr>
                <a:t>II</a:t>
              </a:r>
            </a:p>
          </p:txBody>
        </p:sp>
      </p:grpSp>
      <p:grpSp>
        <p:nvGrpSpPr>
          <p:cNvPr id="205878" name="Group 54"/>
          <p:cNvGrpSpPr>
            <a:grpSpLocks/>
          </p:cNvGrpSpPr>
          <p:nvPr/>
        </p:nvGrpSpPr>
        <p:grpSpPr bwMode="auto">
          <a:xfrm>
            <a:off x="3575446" y="3167063"/>
            <a:ext cx="647700" cy="1119187"/>
            <a:chOff x="1688" y="1995"/>
            <a:chExt cx="408" cy="705"/>
          </a:xfrm>
        </p:grpSpPr>
        <p:sp>
          <p:nvSpPr>
            <p:cNvPr id="205879" name="Line 55"/>
            <p:cNvSpPr>
              <a:spLocks noChangeShapeType="1"/>
            </p:cNvSpPr>
            <p:nvPr/>
          </p:nvSpPr>
          <p:spPr bwMode="auto">
            <a:xfrm>
              <a:off x="1894" y="2211"/>
              <a:ext cx="0" cy="4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80" name="Text Box 56"/>
            <p:cNvSpPr txBox="1">
              <a:spLocks noChangeArrowheads="1"/>
            </p:cNvSpPr>
            <p:nvPr/>
          </p:nvSpPr>
          <p:spPr bwMode="auto">
            <a:xfrm>
              <a:off x="1688" y="1995"/>
              <a:ext cx="40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/>
                  <a:ea typeface="Noto Serif SC" panose="02020200000000000000" pitchFamily="18" charset="-122"/>
                </a:rPr>
                <a:t>“</a:t>
              </a:r>
              <a:r>
                <a:rPr lang="en-US" altLang="zh-CN" dirty="0">
                  <a:ea typeface="Noto Serif SC" panose="02020200000000000000" pitchFamily="18" charset="-122"/>
                </a:rPr>
                <a:t>1</a:t>
              </a:r>
              <a:r>
                <a:rPr lang="en-US" altLang="zh-CN" dirty="0">
                  <a:latin typeface="Arial"/>
                  <a:ea typeface="Noto Serif SC" panose="02020200000000000000" pitchFamily="18" charset="-122"/>
                </a:rPr>
                <a:t>”</a:t>
              </a:r>
              <a:endParaRPr lang="en-US" altLang="zh-CN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205881" name="Group 57"/>
          <p:cNvGrpSpPr>
            <a:grpSpLocks/>
          </p:cNvGrpSpPr>
          <p:nvPr/>
        </p:nvGrpSpPr>
        <p:grpSpPr bwMode="auto">
          <a:xfrm>
            <a:off x="2567384" y="2092326"/>
            <a:ext cx="2376487" cy="1016000"/>
            <a:chOff x="1053" y="1318"/>
            <a:chExt cx="1497" cy="640"/>
          </a:xfrm>
        </p:grpSpPr>
        <p:graphicFrame>
          <p:nvGraphicFramePr>
            <p:cNvPr id="205882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3430283"/>
                </p:ext>
              </p:extLst>
            </p:nvPr>
          </p:nvGraphicFramePr>
          <p:xfrm>
            <a:off x="2233" y="1675"/>
            <a:ext cx="176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52280" imgH="215640" progId="Equation.3">
                    <p:embed/>
                  </p:oleObj>
                </mc:Choice>
                <mc:Fallback>
                  <p:oleObj name="公式" r:id="rId14" imgW="152280" imgH="215640" progId="Equation.3">
                    <p:embed/>
                    <p:pic>
                      <p:nvPicPr>
                        <p:cNvPr id="205882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3" y="1675"/>
                          <a:ext cx="176" cy="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5883" name="Group 59"/>
            <p:cNvGrpSpPr>
              <a:grpSpLocks/>
            </p:cNvGrpSpPr>
            <p:nvPr/>
          </p:nvGrpSpPr>
          <p:grpSpPr bwMode="auto">
            <a:xfrm>
              <a:off x="1053" y="1318"/>
              <a:ext cx="1134" cy="640"/>
              <a:chOff x="1053" y="1318"/>
              <a:chExt cx="1134" cy="640"/>
            </a:xfrm>
          </p:grpSpPr>
          <p:sp>
            <p:nvSpPr>
              <p:cNvPr id="205884" name="Text Box 60"/>
              <p:cNvSpPr txBox="1">
                <a:spLocks noChangeArrowheads="1"/>
              </p:cNvSpPr>
              <p:nvPr/>
            </p:nvSpPr>
            <p:spPr bwMode="auto">
              <a:xfrm>
                <a:off x="1960" y="1727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grpSp>
            <p:nvGrpSpPr>
              <p:cNvPr id="205885" name="Group 61"/>
              <p:cNvGrpSpPr>
                <a:grpSpLocks/>
              </p:cNvGrpSpPr>
              <p:nvPr/>
            </p:nvGrpSpPr>
            <p:grpSpPr bwMode="auto">
              <a:xfrm>
                <a:off x="1053" y="1318"/>
                <a:ext cx="998" cy="640"/>
                <a:chOff x="1053" y="1318"/>
                <a:chExt cx="998" cy="640"/>
              </a:xfrm>
            </p:grpSpPr>
            <p:sp>
              <p:nvSpPr>
                <p:cNvPr id="205886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1474" y="1318"/>
                  <a:ext cx="40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1800" dirty="0">
                      <a:ea typeface="Noto Serif SC" panose="02020200000000000000" pitchFamily="18" charset="-122"/>
                    </a:rPr>
                    <a:t>輸入</a:t>
                  </a:r>
                </a:p>
              </p:txBody>
            </p:sp>
            <p:sp>
              <p:nvSpPr>
                <p:cNvPr id="205887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1053" y="1727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 dirty="0">
                      <a:ea typeface="Noto Serif SC" panose="02020200000000000000" pitchFamily="18" charset="-122"/>
                    </a:rPr>
                    <a:t>A</a:t>
                  </a:r>
                </a:p>
              </p:txBody>
            </p:sp>
            <p:sp>
              <p:nvSpPr>
                <p:cNvPr id="205888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1280" y="1727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 dirty="0">
                      <a:ea typeface="Noto Serif SC" panose="02020200000000000000" pitchFamily="18" charset="-122"/>
                    </a:rPr>
                    <a:t>B</a:t>
                  </a:r>
                </a:p>
              </p:txBody>
            </p:sp>
            <p:sp>
              <p:nvSpPr>
                <p:cNvPr id="205889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1507" y="1727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 dirty="0">
                      <a:ea typeface="Noto Serif SC" panose="02020200000000000000" pitchFamily="18" charset="-122"/>
                    </a:rPr>
                    <a:t>C</a:t>
                  </a:r>
                </a:p>
              </p:txBody>
            </p:sp>
            <p:sp>
              <p:nvSpPr>
                <p:cNvPr id="205890" name="AutoShape 66"/>
                <p:cNvSpPr>
                  <a:spLocks/>
                </p:cNvSpPr>
                <p:nvPr/>
              </p:nvSpPr>
              <p:spPr bwMode="auto">
                <a:xfrm rot="5400000">
                  <a:off x="1574" y="1209"/>
                  <a:ext cx="91" cy="862"/>
                </a:xfrm>
                <a:prstGeom prst="leftBracket">
                  <a:avLst>
                    <a:gd name="adj" fmla="val 78938"/>
                  </a:avLst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</p:grpSp>
        <p:sp>
          <p:nvSpPr>
            <p:cNvPr id="205891" name="Text Box 67"/>
            <p:cNvSpPr txBox="1">
              <a:spLocks noChangeArrowheads="1"/>
            </p:cNvSpPr>
            <p:nvPr/>
          </p:nvSpPr>
          <p:spPr bwMode="auto">
            <a:xfrm>
              <a:off x="2142" y="1499"/>
              <a:ext cx="4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ea typeface="Noto Serif SC" panose="02020200000000000000" pitchFamily="18" charset="-122"/>
                </a:rPr>
                <a:t>使能</a:t>
              </a:r>
            </a:p>
          </p:txBody>
        </p:sp>
      </p:grpSp>
      <p:grpSp>
        <p:nvGrpSpPr>
          <p:cNvPr id="205892" name="Group 68"/>
          <p:cNvGrpSpPr>
            <a:grpSpLocks/>
          </p:cNvGrpSpPr>
          <p:nvPr/>
        </p:nvGrpSpPr>
        <p:grpSpPr bwMode="auto">
          <a:xfrm>
            <a:off x="2567384" y="6346825"/>
            <a:ext cx="5111750" cy="511175"/>
            <a:chOff x="1053" y="3998"/>
            <a:chExt cx="3220" cy="322"/>
          </a:xfrm>
        </p:grpSpPr>
        <p:sp>
          <p:nvSpPr>
            <p:cNvPr id="205893" name="AutoShape 69"/>
            <p:cNvSpPr>
              <a:spLocks/>
            </p:cNvSpPr>
            <p:nvPr/>
          </p:nvSpPr>
          <p:spPr bwMode="auto">
            <a:xfrm rot="16200000">
              <a:off x="2640" y="2411"/>
              <a:ext cx="45" cy="3220"/>
            </a:xfrm>
            <a:prstGeom prst="leftBracket">
              <a:avLst>
                <a:gd name="adj" fmla="val 59629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zh-CN" altLang="zh-CN" sz="1800" dirty="0">
                <a:ea typeface="Noto Serif SC" panose="02020200000000000000" pitchFamily="18" charset="-122"/>
              </a:endParaRPr>
            </a:p>
          </p:txBody>
        </p:sp>
        <p:sp>
          <p:nvSpPr>
            <p:cNvPr id="205894" name="Text Box 70"/>
            <p:cNvSpPr txBox="1">
              <a:spLocks noChangeArrowheads="1"/>
            </p:cNvSpPr>
            <p:nvPr/>
          </p:nvSpPr>
          <p:spPr bwMode="auto">
            <a:xfrm>
              <a:off x="2460" y="4089"/>
              <a:ext cx="4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ea typeface="Noto Serif SC" panose="02020200000000000000" pitchFamily="18" charset="-122"/>
                </a:rPr>
                <a:t>輸出</a:t>
              </a:r>
            </a:p>
          </p:txBody>
        </p:sp>
      </p:grpSp>
      <p:grpSp>
        <p:nvGrpSpPr>
          <p:cNvPr id="205895" name="Group 71"/>
          <p:cNvGrpSpPr>
            <a:grpSpLocks/>
          </p:cNvGrpSpPr>
          <p:nvPr/>
        </p:nvGrpSpPr>
        <p:grpSpPr bwMode="auto">
          <a:xfrm>
            <a:off x="2699146" y="3124200"/>
            <a:ext cx="2917825" cy="1162050"/>
            <a:chOff x="1136" y="1968"/>
            <a:chExt cx="1838" cy="732"/>
          </a:xfrm>
        </p:grpSpPr>
        <p:sp>
          <p:nvSpPr>
            <p:cNvPr id="205896" name="Line 72"/>
            <p:cNvSpPr>
              <a:spLocks noChangeShapeType="1"/>
            </p:cNvSpPr>
            <p:nvPr/>
          </p:nvSpPr>
          <p:spPr bwMode="auto">
            <a:xfrm>
              <a:off x="1175" y="1968"/>
              <a:ext cx="0" cy="7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97" name="Line 73"/>
            <p:cNvSpPr>
              <a:spLocks noChangeShapeType="1"/>
            </p:cNvSpPr>
            <p:nvPr/>
          </p:nvSpPr>
          <p:spPr bwMode="auto">
            <a:xfrm>
              <a:off x="2974" y="2577"/>
              <a:ext cx="0" cy="1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98" name="Line 74"/>
            <p:cNvSpPr>
              <a:spLocks noChangeShapeType="1"/>
            </p:cNvSpPr>
            <p:nvPr/>
          </p:nvSpPr>
          <p:spPr bwMode="auto">
            <a:xfrm>
              <a:off x="1175" y="2577"/>
              <a:ext cx="17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899" name="Oval 75"/>
            <p:cNvSpPr>
              <a:spLocks noChangeArrowheads="1"/>
            </p:cNvSpPr>
            <p:nvPr/>
          </p:nvSpPr>
          <p:spPr bwMode="auto">
            <a:xfrm>
              <a:off x="1136" y="2523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205900" name="Group 76"/>
          <p:cNvGrpSpPr>
            <a:grpSpLocks/>
          </p:cNvGrpSpPr>
          <p:nvPr/>
        </p:nvGrpSpPr>
        <p:grpSpPr bwMode="auto">
          <a:xfrm>
            <a:off x="3059509" y="3124200"/>
            <a:ext cx="3035301" cy="1162050"/>
            <a:chOff x="1363" y="1968"/>
            <a:chExt cx="1912" cy="732"/>
          </a:xfrm>
        </p:grpSpPr>
        <p:sp>
          <p:nvSpPr>
            <p:cNvPr id="205901" name="Line 77"/>
            <p:cNvSpPr>
              <a:spLocks noChangeShapeType="1"/>
            </p:cNvSpPr>
            <p:nvPr/>
          </p:nvSpPr>
          <p:spPr bwMode="auto">
            <a:xfrm>
              <a:off x="1416" y="1968"/>
              <a:ext cx="0" cy="7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902" name="Line 78"/>
            <p:cNvSpPr>
              <a:spLocks noChangeShapeType="1"/>
            </p:cNvSpPr>
            <p:nvPr/>
          </p:nvSpPr>
          <p:spPr bwMode="auto">
            <a:xfrm>
              <a:off x="3275" y="2455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903" name="Line 79"/>
            <p:cNvSpPr>
              <a:spLocks noChangeShapeType="1"/>
            </p:cNvSpPr>
            <p:nvPr/>
          </p:nvSpPr>
          <p:spPr bwMode="auto">
            <a:xfrm>
              <a:off x="1416" y="2455"/>
              <a:ext cx="18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904" name="Oval 80"/>
            <p:cNvSpPr>
              <a:spLocks noChangeArrowheads="1"/>
            </p:cNvSpPr>
            <p:nvPr/>
          </p:nvSpPr>
          <p:spPr bwMode="auto">
            <a:xfrm>
              <a:off x="1363" y="2387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205905" name="Group 81"/>
          <p:cNvGrpSpPr>
            <a:grpSpLocks/>
          </p:cNvGrpSpPr>
          <p:nvPr/>
        </p:nvGrpSpPr>
        <p:grpSpPr bwMode="auto">
          <a:xfrm>
            <a:off x="3419871" y="3124200"/>
            <a:ext cx="3148013" cy="1162050"/>
            <a:chOff x="1590" y="1968"/>
            <a:chExt cx="1983" cy="732"/>
          </a:xfrm>
        </p:grpSpPr>
        <p:sp>
          <p:nvSpPr>
            <p:cNvPr id="205906" name="Line 82"/>
            <p:cNvSpPr>
              <a:spLocks noChangeShapeType="1"/>
            </p:cNvSpPr>
            <p:nvPr/>
          </p:nvSpPr>
          <p:spPr bwMode="auto">
            <a:xfrm>
              <a:off x="1655" y="1968"/>
              <a:ext cx="0" cy="7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907" name="Line 83"/>
            <p:cNvSpPr>
              <a:spLocks noChangeShapeType="1"/>
            </p:cNvSpPr>
            <p:nvPr/>
          </p:nvSpPr>
          <p:spPr bwMode="auto">
            <a:xfrm>
              <a:off x="3573" y="2334"/>
              <a:ext cx="0" cy="3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908" name="Line 84"/>
            <p:cNvSpPr>
              <a:spLocks noChangeShapeType="1"/>
            </p:cNvSpPr>
            <p:nvPr/>
          </p:nvSpPr>
          <p:spPr bwMode="auto">
            <a:xfrm>
              <a:off x="1655" y="2334"/>
              <a:ext cx="19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5909" name="Oval 85"/>
            <p:cNvSpPr>
              <a:spLocks noChangeArrowheads="1"/>
            </p:cNvSpPr>
            <p:nvPr/>
          </p:nvSpPr>
          <p:spPr bwMode="auto">
            <a:xfrm>
              <a:off x="1590" y="2251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205910" name="Group 86"/>
          <p:cNvGrpSpPr>
            <a:grpSpLocks/>
          </p:cNvGrpSpPr>
          <p:nvPr/>
        </p:nvGrpSpPr>
        <p:grpSpPr bwMode="auto">
          <a:xfrm>
            <a:off x="4248546" y="3124200"/>
            <a:ext cx="2701925" cy="1162050"/>
            <a:chOff x="2112" y="1968"/>
            <a:chExt cx="1702" cy="732"/>
          </a:xfrm>
        </p:grpSpPr>
        <p:sp>
          <p:nvSpPr>
            <p:cNvPr id="205911" name="Line 87"/>
            <p:cNvSpPr>
              <a:spLocks noChangeShapeType="1"/>
            </p:cNvSpPr>
            <p:nvPr/>
          </p:nvSpPr>
          <p:spPr bwMode="auto">
            <a:xfrm>
              <a:off x="2135" y="1968"/>
              <a:ext cx="0" cy="732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05912" name="Line 88"/>
            <p:cNvSpPr>
              <a:spLocks noChangeShapeType="1"/>
            </p:cNvSpPr>
            <p:nvPr/>
          </p:nvSpPr>
          <p:spPr bwMode="auto">
            <a:xfrm>
              <a:off x="3814" y="2211"/>
              <a:ext cx="0" cy="489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05913" name="Line 89"/>
            <p:cNvSpPr>
              <a:spLocks noChangeShapeType="1"/>
            </p:cNvSpPr>
            <p:nvPr/>
          </p:nvSpPr>
          <p:spPr bwMode="auto">
            <a:xfrm>
              <a:off x="2135" y="2211"/>
              <a:ext cx="1679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05914" name="Oval 90"/>
            <p:cNvSpPr>
              <a:spLocks noChangeArrowheads="1"/>
            </p:cNvSpPr>
            <p:nvPr/>
          </p:nvSpPr>
          <p:spPr bwMode="auto">
            <a:xfrm>
              <a:off x="2112" y="2160"/>
              <a:ext cx="96" cy="96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5915" name="Group 91"/>
          <p:cNvGrpSpPr>
            <a:grpSpLocks/>
          </p:cNvGrpSpPr>
          <p:nvPr/>
        </p:nvGrpSpPr>
        <p:grpSpPr bwMode="auto">
          <a:xfrm>
            <a:off x="4572396" y="3124200"/>
            <a:ext cx="3140075" cy="1162050"/>
            <a:chOff x="2316" y="1968"/>
            <a:chExt cx="1978" cy="732"/>
          </a:xfrm>
        </p:grpSpPr>
        <p:grpSp>
          <p:nvGrpSpPr>
            <p:cNvPr id="205916" name="Group 92"/>
            <p:cNvGrpSpPr>
              <a:grpSpLocks/>
            </p:cNvGrpSpPr>
            <p:nvPr/>
          </p:nvGrpSpPr>
          <p:grpSpPr bwMode="auto">
            <a:xfrm>
              <a:off x="2316" y="1968"/>
              <a:ext cx="1978" cy="732"/>
              <a:chOff x="2316" y="1968"/>
              <a:chExt cx="1978" cy="732"/>
            </a:xfrm>
          </p:grpSpPr>
          <p:sp>
            <p:nvSpPr>
              <p:cNvPr id="205917" name="Line 93"/>
              <p:cNvSpPr>
                <a:spLocks noChangeShapeType="1"/>
              </p:cNvSpPr>
              <p:nvPr/>
            </p:nvSpPr>
            <p:spPr bwMode="auto">
              <a:xfrm>
                <a:off x="2374" y="1968"/>
                <a:ext cx="0" cy="7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5918" name="Line 94"/>
              <p:cNvSpPr>
                <a:spLocks noChangeShapeType="1"/>
              </p:cNvSpPr>
              <p:nvPr/>
            </p:nvSpPr>
            <p:spPr bwMode="auto">
              <a:xfrm>
                <a:off x="4053" y="2089"/>
                <a:ext cx="0" cy="6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5919" name="Line 95"/>
              <p:cNvSpPr>
                <a:spLocks noChangeShapeType="1"/>
              </p:cNvSpPr>
              <p:nvPr/>
            </p:nvSpPr>
            <p:spPr bwMode="auto">
              <a:xfrm>
                <a:off x="4294" y="2089"/>
                <a:ext cx="0" cy="6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5920" name="Line 96"/>
              <p:cNvSpPr>
                <a:spLocks noChangeShapeType="1"/>
              </p:cNvSpPr>
              <p:nvPr/>
            </p:nvSpPr>
            <p:spPr bwMode="auto">
              <a:xfrm>
                <a:off x="2374" y="2089"/>
                <a:ext cx="1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5921" name="Oval 97"/>
              <p:cNvSpPr>
                <a:spLocks noChangeArrowheads="1"/>
              </p:cNvSpPr>
              <p:nvPr/>
            </p:nvSpPr>
            <p:spPr bwMode="auto">
              <a:xfrm>
                <a:off x="2316" y="20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05922" name="Oval 98"/>
            <p:cNvSpPr>
              <a:spLocks noChangeArrowheads="1"/>
            </p:cNvSpPr>
            <p:nvPr/>
          </p:nvSpPr>
          <p:spPr bwMode="auto">
            <a:xfrm>
              <a:off x="3994" y="202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353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5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20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205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205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205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205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205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34</a:t>
            </a:r>
            <a:r>
              <a:rPr lang="zh-CN" altLang="en-US" sz="3600" dirty="0"/>
              <a:t>）</a:t>
            </a:r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6354-4B07-418E-91AF-A1D5E30FB9D4}" type="slidenum">
              <a:rPr lang="en-US" altLang="zh-CN">
                <a:solidFill>
                  <a:schemeClr val="tx1"/>
                </a:solidFill>
              </a:rPr>
              <a:pPr/>
              <a:t>39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0685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3</a:t>
            </a:r>
            <a:r>
              <a:rPr lang="zh-CN" altLang="en-US" dirty="0"/>
              <a:t>－</a:t>
            </a:r>
            <a:r>
              <a:rPr lang="en-US" altLang="zh-CN" dirty="0"/>
              <a:t>8</a:t>
            </a:r>
            <a:r>
              <a:rPr lang="zh-CN" altLang="en-US" dirty="0"/>
              <a:t>解碼器分配地址區</a:t>
            </a:r>
          </a:p>
          <a:p>
            <a:pPr lvl="1"/>
            <a:r>
              <a:rPr lang="en-US" altLang="zh-CN" dirty="0"/>
              <a:t>CPU</a:t>
            </a:r>
            <a:r>
              <a:rPr lang="zh-CN" altLang="en-US" dirty="0"/>
              <a:t>的位址空間：</a:t>
            </a:r>
            <a:r>
              <a:rPr lang="en-US" altLang="zh-CN" dirty="0"/>
              <a:t>A</a:t>
            </a:r>
            <a:r>
              <a:rPr lang="en-US" altLang="zh-CN" baseline="-25000" dirty="0"/>
              <a:t>7</a:t>
            </a:r>
            <a:r>
              <a:rPr lang="en-US" altLang="zh-CN" dirty="0"/>
              <a:t>~A</a:t>
            </a:r>
            <a:r>
              <a:rPr lang="en-US" altLang="zh-CN" baseline="-25000" dirty="0"/>
              <a:t>0 </a:t>
            </a:r>
            <a:r>
              <a:rPr lang="zh-CN" altLang="en-US" dirty="0"/>
              <a:t>共有</a:t>
            </a:r>
            <a:r>
              <a:rPr lang="en-US" altLang="zh-CN" dirty="0"/>
              <a:t>256</a:t>
            </a:r>
            <a:r>
              <a:rPr lang="zh-CN" altLang="en-US" dirty="0"/>
              <a:t>個位址空間</a:t>
            </a:r>
          </a:p>
          <a:p>
            <a:pPr lvl="1"/>
            <a:r>
              <a:rPr lang="zh-CN" altLang="en-US" dirty="0"/>
              <a:t>每個</a:t>
            </a:r>
            <a:r>
              <a:rPr lang="en-US" altLang="zh-CN" dirty="0"/>
              <a:t>ROM</a:t>
            </a:r>
            <a:r>
              <a:rPr lang="zh-CN" altLang="en-US" dirty="0"/>
              <a:t>有</a:t>
            </a:r>
            <a:r>
              <a:rPr lang="en-US" altLang="zh-CN" dirty="0"/>
              <a:t>32</a:t>
            </a:r>
            <a:r>
              <a:rPr lang="zh-CN" altLang="en-US" dirty="0"/>
              <a:t>個位址空間</a:t>
            </a:r>
          </a:p>
          <a:p>
            <a:pPr>
              <a:buFont typeface="Wingdings" pitchFamily="2" charset="2"/>
              <a:buNone/>
            </a:pPr>
            <a:endParaRPr lang="en-US" altLang="zh-CN" dirty="0"/>
          </a:p>
        </p:txBody>
      </p:sp>
      <p:grpSp>
        <p:nvGrpSpPr>
          <p:cNvPr id="206852" name="Group 4"/>
          <p:cNvGrpSpPr>
            <a:grpSpLocks/>
          </p:cNvGrpSpPr>
          <p:nvPr/>
        </p:nvGrpSpPr>
        <p:grpSpPr bwMode="auto">
          <a:xfrm>
            <a:off x="1413792" y="4116288"/>
            <a:ext cx="2647950" cy="1403350"/>
            <a:chOff x="3024" y="912"/>
            <a:chExt cx="1668" cy="884"/>
          </a:xfrm>
        </p:grpSpPr>
        <p:sp>
          <p:nvSpPr>
            <p:cNvPr id="206853" name="Rectangle 5"/>
            <p:cNvSpPr>
              <a:spLocks noChangeArrowheads="1"/>
            </p:cNvSpPr>
            <p:nvPr/>
          </p:nvSpPr>
          <p:spPr bwMode="auto">
            <a:xfrm>
              <a:off x="3084" y="1056"/>
              <a:ext cx="1593" cy="62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54" name="Line 6"/>
            <p:cNvSpPr>
              <a:spLocks noChangeShapeType="1"/>
            </p:cNvSpPr>
            <p:nvPr/>
          </p:nvSpPr>
          <p:spPr bwMode="auto">
            <a:xfrm>
              <a:off x="3218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55" name="Line 7"/>
            <p:cNvSpPr>
              <a:spLocks noChangeShapeType="1"/>
            </p:cNvSpPr>
            <p:nvPr/>
          </p:nvSpPr>
          <p:spPr bwMode="auto">
            <a:xfrm>
              <a:off x="3402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56" name="Line 8"/>
            <p:cNvSpPr>
              <a:spLocks noChangeShapeType="1"/>
            </p:cNvSpPr>
            <p:nvPr/>
          </p:nvSpPr>
          <p:spPr bwMode="auto">
            <a:xfrm>
              <a:off x="3586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57" name="Line 9"/>
            <p:cNvSpPr>
              <a:spLocks noChangeShapeType="1"/>
            </p:cNvSpPr>
            <p:nvPr/>
          </p:nvSpPr>
          <p:spPr bwMode="auto">
            <a:xfrm>
              <a:off x="3770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58" name="Line 10"/>
            <p:cNvSpPr>
              <a:spLocks noChangeShapeType="1"/>
            </p:cNvSpPr>
            <p:nvPr/>
          </p:nvSpPr>
          <p:spPr bwMode="auto">
            <a:xfrm>
              <a:off x="3953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59" name="Line 11"/>
            <p:cNvSpPr>
              <a:spLocks noChangeShapeType="1"/>
            </p:cNvSpPr>
            <p:nvPr/>
          </p:nvSpPr>
          <p:spPr bwMode="auto">
            <a:xfrm>
              <a:off x="4137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60" name="Line 12"/>
            <p:cNvSpPr>
              <a:spLocks noChangeShapeType="1"/>
            </p:cNvSpPr>
            <p:nvPr/>
          </p:nvSpPr>
          <p:spPr bwMode="auto">
            <a:xfrm>
              <a:off x="4320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61" name="Line 13"/>
            <p:cNvSpPr>
              <a:spLocks noChangeShapeType="1"/>
            </p:cNvSpPr>
            <p:nvPr/>
          </p:nvSpPr>
          <p:spPr bwMode="auto">
            <a:xfrm>
              <a:off x="4504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62" name="Line 14"/>
            <p:cNvSpPr>
              <a:spLocks noChangeShapeType="1"/>
            </p:cNvSpPr>
            <p:nvPr/>
          </p:nvSpPr>
          <p:spPr bwMode="auto">
            <a:xfrm>
              <a:off x="3153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63" name="Rectangle 15"/>
            <p:cNvSpPr>
              <a:spLocks noChangeArrowheads="1"/>
            </p:cNvSpPr>
            <p:nvPr/>
          </p:nvSpPr>
          <p:spPr bwMode="auto">
            <a:xfrm>
              <a:off x="3043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0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6864" name="Rectangle 16"/>
            <p:cNvSpPr>
              <a:spLocks noChangeArrowheads="1"/>
            </p:cNvSpPr>
            <p:nvPr/>
          </p:nvSpPr>
          <p:spPr bwMode="auto">
            <a:xfrm>
              <a:off x="3234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6865" name="Rectangle 17"/>
            <p:cNvSpPr>
              <a:spLocks noChangeArrowheads="1"/>
            </p:cNvSpPr>
            <p:nvPr/>
          </p:nvSpPr>
          <p:spPr bwMode="auto">
            <a:xfrm>
              <a:off x="3418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2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6866" name="Rectangle 18"/>
            <p:cNvSpPr>
              <a:spLocks noChangeArrowheads="1"/>
            </p:cNvSpPr>
            <p:nvPr/>
          </p:nvSpPr>
          <p:spPr bwMode="auto">
            <a:xfrm>
              <a:off x="3605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3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6867" name="Rectangle 19"/>
            <p:cNvSpPr>
              <a:spLocks noChangeArrowheads="1"/>
            </p:cNvSpPr>
            <p:nvPr/>
          </p:nvSpPr>
          <p:spPr bwMode="auto">
            <a:xfrm>
              <a:off x="3789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4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6868" name="Rectangle 20"/>
            <p:cNvSpPr>
              <a:spLocks noChangeArrowheads="1"/>
            </p:cNvSpPr>
            <p:nvPr/>
          </p:nvSpPr>
          <p:spPr bwMode="auto">
            <a:xfrm>
              <a:off x="3976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5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6869" name="Rectangle 21"/>
            <p:cNvSpPr>
              <a:spLocks noChangeArrowheads="1"/>
            </p:cNvSpPr>
            <p:nvPr/>
          </p:nvSpPr>
          <p:spPr bwMode="auto">
            <a:xfrm>
              <a:off x="4200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6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6870" name="Rectangle 22"/>
            <p:cNvSpPr>
              <a:spLocks noChangeArrowheads="1"/>
            </p:cNvSpPr>
            <p:nvPr/>
          </p:nvSpPr>
          <p:spPr bwMode="auto">
            <a:xfrm>
              <a:off x="4379" y="1440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7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6871" name="Text Box 23"/>
            <p:cNvSpPr txBox="1">
              <a:spLocks noChangeArrowheads="1"/>
            </p:cNvSpPr>
            <p:nvPr/>
          </p:nvSpPr>
          <p:spPr bwMode="auto">
            <a:xfrm>
              <a:off x="3024" y="1056"/>
              <a:ext cx="151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0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1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2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3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4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5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6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7</a:t>
              </a:r>
            </a:p>
          </p:txBody>
        </p:sp>
        <p:sp>
          <p:nvSpPr>
            <p:cNvPr id="206872" name="Line 24"/>
            <p:cNvSpPr>
              <a:spLocks noChangeShapeType="1"/>
            </p:cNvSpPr>
            <p:nvPr/>
          </p:nvSpPr>
          <p:spPr bwMode="auto">
            <a:xfrm>
              <a:off x="3312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73" name="Line 25"/>
            <p:cNvSpPr>
              <a:spLocks noChangeShapeType="1"/>
            </p:cNvSpPr>
            <p:nvPr/>
          </p:nvSpPr>
          <p:spPr bwMode="auto">
            <a:xfrm>
              <a:off x="3456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74" name="Line 26"/>
            <p:cNvSpPr>
              <a:spLocks noChangeShapeType="1"/>
            </p:cNvSpPr>
            <p:nvPr/>
          </p:nvSpPr>
          <p:spPr bwMode="auto">
            <a:xfrm>
              <a:off x="3648" y="912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75" name="Line 27"/>
            <p:cNvSpPr>
              <a:spLocks noChangeShapeType="1"/>
            </p:cNvSpPr>
            <p:nvPr/>
          </p:nvSpPr>
          <p:spPr bwMode="auto">
            <a:xfrm>
              <a:off x="3792" y="912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76" name="Text Box 28"/>
            <p:cNvSpPr txBox="1">
              <a:spLocks noChangeArrowheads="1"/>
            </p:cNvSpPr>
            <p:nvPr/>
          </p:nvSpPr>
          <p:spPr bwMode="auto">
            <a:xfrm>
              <a:off x="3282" y="1296"/>
              <a:ext cx="109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ea typeface="Noto Serif SC" panose="02020200000000000000" pitchFamily="18" charset="-122"/>
                </a:rPr>
                <a:t>        CPU</a:t>
              </a:r>
            </a:p>
          </p:txBody>
        </p:sp>
        <p:sp>
          <p:nvSpPr>
            <p:cNvPr id="206877" name="Line 29"/>
            <p:cNvSpPr>
              <a:spLocks noChangeShapeType="1"/>
            </p:cNvSpPr>
            <p:nvPr/>
          </p:nvSpPr>
          <p:spPr bwMode="auto">
            <a:xfrm>
              <a:off x="3969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78" name="Line 30"/>
            <p:cNvSpPr>
              <a:spLocks noChangeShapeType="1"/>
            </p:cNvSpPr>
            <p:nvPr/>
          </p:nvSpPr>
          <p:spPr bwMode="auto">
            <a:xfrm>
              <a:off x="4128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79" name="Line 31"/>
            <p:cNvSpPr>
              <a:spLocks noChangeShapeType="1"/>
            </p:cNvSpPr>
            <p:nvPr/>
          </p:nvSpPr>
          <p:spPr bwMode="auto">
            <a:xfrm>
              <a:off x="4272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206880" name="Group 32"/>
          <p:cNvGrpSpPr>
            <a:grpSpLocks/>
          </p:cNvGrpSpPr>
          <p:nvPr/>
        </p:nvGrpSpPr>
        <p:grpSpPr bwMode="auto">
          <a:xfrm>
            <a:off x="4995192" y="3887688"/>
            <a:ext cx="2097088" cy="2133600"/>
            <a:chOff x="1824" y="2976"/>
            <a:chExt cx="1321" cy="1344"/>
          </a:xfrm>
        </p:grpSpPr>
        <p:sp>
          <p:nvSpPr>
            <p:cNvPr id="206881" name="Rectangle 33"/>
            <p:cNvSpPr>
              <a:spLocks noChangeArrowheads="1"/>
            </p:cNvSpPr>
            <p:nvPr/>
          </p:nvSpPr>
          <p:spPr bwMode="auto">
            <a:xfrm>
              <a:off x="1869" y="3312"/>
              <a:ext cx="1185" cy="624"/>
            </a:xfrm>
            <a:prstGeom prst="rect">
              <a:avLst/>
            </a:prstGeom>
            <a:solidFill>
              <a:srgbClr val="660066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82" name="Line 34"/>
            <p:cNvSpPr>
              <a:spLocks noChangeShapeType="1"/>
            </p:cNvSpPr>
            <p:nvPr/>
          </p:nvSpPr>
          <p:spPr bwMode="auto">
            <a:xfrm>
              <a:off x="1968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83" name="Line 35"/>
            <p:cNvSpPr>
              <a:spLocks noChangeShapeType="1"/>
            </p:cNvSpPr>
            <p:nvPr/>
          </p:nvSpPr>
          <p:spPr bwMode="auto">
            <a:xfrm>
              <a:off x="2105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84" name="Line 36"/>
            <p:cNvSpPr>
              <a:spLocks noChangeShapeType="1"/>
            </p:cNvSpPr>
            <p:nvPr/>
          </p:nvSpPr>
          <p:spPr bwMode="auto">
            <a:xfrm>
              <a:off x="2242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85" name="Line 37"/>
            <p:cNvSpPr>
              <a:spLocks noChangeShapeType="1"/>
            </p:cNvSpPr>
            <p:nvPr/>
          </p:nvSpPr>
          <p:spPr bwMode="auto">
            <a:xfrm>
              <a:off x="2379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86" name="Line 38"/>
            <p:cNvSpPr>
              <a:spLocks noChangeShapeType="1"/>
            </p:cNvSpPr>
            <p:nvPr/>
          </p:nvSpPr>
          <p:spPr bwMode="auto">
            <a:xfrm>
              <a:off x="2515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87" name="Line 39"/>
            <p:cNvSpPr>
              <a:spLocks noChangeShapeType="1"/>
            </p:cNvSpPr>
            <p:nvPr/>
          </p:nvSpPr>
          <p:spPr bwMode="auto">
            <a:xfrm>
              <a:off x="2652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88" name="Line 40"/>
            <p:cNvSpPr>
              <a:spLocks noChangeShapeType="1"/>
            </p:cNvSpPr>
            <p:nvPr/>
          </p:nvSpPr>
          <p:spPr bwMode="auto">
            <a:xfrm>
              <a:off x="2788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89" name="Line 41"/>
            <p:cNvSpPr>
              <a:spLocks noChangeShapeType="1"/>
            </p:cNvSpPr>
            <p:nvPr/>
          </p:nvSpPr>
          <p:spPr bwMode="auto">
            <a:xfrm>
              <a:off x="2925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90" name="Line 42"/>
            <p:cNvSpPr>
              <a:spLocks noChangeShapeType="1"/>
            </p:cNvSpPr>
            <p:nvPr/>
          </p:nvSpPr>
          <p:spPr bwMode="auto">
            <a:xfrm>
              <a:off x="1920" y="3168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891" name="Rectangle 43"/>
            <p:cNvSpPr>
              <a:spLocks noChangeArrowheads="1"/>
            </p:cNvSpPr>
            <p:nvPr/>
          </p:nvSpPr>
          <p:spPr bwMode="auto">
            <a:xfrm>
              <a:off x="1838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0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6892" name="Rectangle 44"/>
            <p:cNvSpPr>
              <a:spLocks noChangeArrowheads="1"/>
            </p:cNvSpPr>
            <p:nvPr/>
          </p:nvSpPr>
          <p:spPr bwMode="auto">
            <a:xfrm>
              <a:off x="1980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6893" name="Rectangle 45"/>
            <p:cNvSpPr>
              <a:spLocks noChangeArrowheads="1"/>
            </p:cNvSpPr>
            <p:nvPr/>
          </p:nvSpPr>
          <p:spPr bwMode="auto">
            <a:xfrm>
              <a:off x="2117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2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6894" name="Rectangle 46"/>
            <p:cNvSpPr>
              <a:spLocks noChangeArrowheads="1"/>
            </p:cNvSpPr>
            <p:nvPr/>
          </p:nvSpPr>
          <p:spPr bwMode="auto">
            <a:xfrm>
              <a:off x="2256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3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6895" name="Rectangle 47"/>
            <p:cNvSpPr>
              <a:spLocks noChangeArrowheads="1"/>
            </p:cNvSpPr>
            <p:nvPr/>
          </p:nvSpPr>
          <p:spPr bwMode="auto">
            <a:xfrm>
              <a:off x="2393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4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6896" name="Rectangle 48"/>
            <p:cNvSpPr>
              <a:spLocks noChangeArrowheads="1"/>
            </p:cNvSpPr>
            <p:nvPr/>
          </p:nvSpPr>
          <p:spPr bwMode="auto">
            <a:xfrm>
              <a:off x="2532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5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6897" name="Rectangle 49"/>
            <p:cNvSpPr>
              <a:spLocks noChangeArrowheads="1"/>
            </p:cNvSpPr>
            <p:nvPr/>
          </p:nvSpPr>
          <p:spPr bwMode="auto">
            <a:xfrm>
              <a:off x="2699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6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6898" name="Rectangle 50"/>
            <p:cNvSpPr>
              <a:spLocks noChangeArrowheads="1"/>
            </p:cNvSpPr>
            <p:nvPr/>
          </p:nvSpPr>
          <p:spPr bwMode="auto">
            <a:xfrm>
              <a:off x="2832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7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6899" name="Text Box 51"/>
            <p:cNvSpPr txBox="1">
              <a:spLocks noChangeArrowheads="1"/>
            </p:cNvSpPr>
            <p:nvPr/>
          </p:nvSpPr>
          <p:spPr bwMode="auto">
            <a:xfrm>
              <a:off x="1824" y="3312"/>
              <a:ext cx="96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0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1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2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3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4</a:t>
              </a:r>
            </a:p>
          </p:txBody>
        </p:sp>
        <p:sp>
          <p:nvSpPr>
            <p:cNvPr id="206900" name="Line 52"/>
            <p:cNvSpPr>
              <a:spLocks noChangeShapeType="1"/>
            </p:cNvSpPr>
            <p:nvPr/>
          </p:nvSpPr>
          <p:spPr bwMode="auto">
            <a:xfrm>
              <a:off x="2112" y="3168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901" name="Line 53"/>
            <p:cNvSpPr>
              <a:spLocks noChangeShapeType="1"/>
            </p:cNvSpPr>
            <p:nvPr/>
          </p:nvSpPr>
          <p:spPr bwMode="auto">
            <a:xfrm>
              <a:off x="2256" y="3168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902" name="Line 54"/>
            <p:cNvSpPr>
              <a:spLocks noChangeShapeType="1"/>
            </p:cNvSpPr>
            <p:nvPr/>
          </p:nvSpPr>
          <p:spPr bwMode="auto">
            <a:xfrm>
              <a:off x="2448" y="3168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aphicFrame>
          <p:nvGraphicFramePr>
            <p:cNvPr id="206903" name="Object 55"/>
            <p:cNvGraphicFramePr>
              <a:graphicFrameLocks noChangeAspect="1"/>
            </p:cNvGraphicFramePr>
            <p:nvPr/>
          </p:nvGraphicFramePr>
          <p:xfrm>
            <a:off x="2784" y="3312"/>
            <a:ext cx="210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04920" imgH="279000" progId="Equation.3">
                    <p:embed/>
                  </p:oleObj>
                </mc:Choice>
                <mc:Fallback>
                  <p:oleObj name="Equation" r:id="rId2" imgW="304920" imgH="279000" progId="Equation.3">
                    <p:embed/>
                    <p:pic>
                      <p:nvPicPr>
                        <p:cNvPr id="206903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3312"/>
                          <a:ext cx="210" cy="2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904" name="Line 56"/>
            <p:cNvSpPr>
              <a:spLocks noChangeShapeType="1"/>
            </p:cNvSpPr>
            <p:nvPr/>
          </p:nvSpPr>
          <p:spPr bwMode="auto">
            <a:xfrm>
              <a:off x="2928" y="3168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905" name="Line 57"/>
            <p:cNvSpPr>
              <a:spLocks noChangeShapeType="1"/>
            </p:cNvSpPr>
            <p:nvPr/>
          </p:nvSpPr>
          <p:spPr bwMode="auto">
            <a:xfrm>
              <a:off x="2640" y="3168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906" name="Text Box 58"/>
            <p:cNvSpPr txBox="1">
              <a:spLocks noChangeArrowheads="1"/>
            </p:cNvSpPr>
            <p:nvPr/>
          </p:nvSpPr>
          <p:spPr bwMode="auto">
            <a:xfrm>
              <a:off x="2016" y="3552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32</a:t>
              </a:r>
              <a:r>
                <a:rPr lang="en-US" altLang="zh-CN" sz="1800" dirty="0">
                  <a:ea typeface="Noto Serif SC" panose="02020200000000000000" pitchFamily="18" charset="-122"/>
                  <a:cs typeface="Tahoma" pitchFamily="34" charset="0"/>
                </a:rPr>
                <a:t>x8 R0M</a:t>
              </a:r>
              <a:endParaRPr lang="en-US" altLang="zh-CN" sz="1800" dirty="0">
                <a:ea typeface="Noto Serif SC" panose="02020200000000000000" pitchFamily="18" charset="-122"/>
              </a:endParaRPr>
            </a:p>
          </p:txBody>
        </p:sp>
        <p:sp>
          <p:nvSpPr>
            <p:cNvPr id="206907" name="Line 59"/>
            <p:cNvSpPr>
              <a:spLocks noChangeShapeType="1"/>
            </p:cNvSpPr>
            <p:nvPr/>
          </p:nvSpPr>
          <p:spPr bwMode="auto">
            <a:xfrm>
              <a:off x="1920" y="2976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908" name="Line 60"/>
            <p:cNvSpPr>
              <a:spLocks noChangeShapeType="1"/>
            </p:cNvSpPr>
            <p:nvPr/>
          </p:nvSpPr>
          <p:spPr bwMode="auto">
            <a:xfrm>
              <a:off x="2112" y="2976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909" name="Line 61"/>
            <p:cNvSpPr>
              <a:spLocks noChangeShapeType="1"/>
            </p:cNvSpPr>
            <p:nvPr/>
          </p:nvSpPr>
          <p:spPr bwMode="auto">
            <a:xfrm>
              <a:off x="2256" y="2976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910" name="Line 62"/>
            <p:cNvSpPr>
              <a:spLocks noChangeShapeType="1"/>
            </p:cNvSpPr>
            <p:nvPr/>
          </p:nvSpPr>
          <p:spPr bwMode="auto">
            <a:xfrm>
              <a:off x="2448" y="2976"/>
              <a:ext cx="0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911" name="Line 63"/>
            <p:cNvSpPr>
              <a:spLocks noChangeShapeType="1"/>
            </p:cNvSpPr>
            <p:nvPr/>
          </p:nvSpPr>
          <p:spPr bwMode="auto">
            <a:xfrm>
              <a:off x="2928" y="321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912" name="Line 64"/>
            <p:cNvSpPr>
              <a:spLocks noChangeShapeType="1"/>
            </p:cNvSpPr>
            <p:nvPr/>
          </p:nvSpPr>
          <p:spPr bwMode="auto">
            <a:xfrm>
              <a:off x="2640" y="2976"/>
              <a:ext cx="0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6913" name="Text Box 65"/>
            <p:cNvSpPr txBox="1">
              <a:spLocks noChangeArrowheads="1"/>
            </p:cNvSpPr>
            <p:nvPr/>
          </p:nvSpPr>
          <p:spPr bwMode="auto">
            <a:xfrm>
              <a:off x="1872" y="2976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0 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1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2 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3 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4</a:t>
              </a:r>
            </a:p>
          </p:txBody>
        </p:sp>
        <p:sp>
          <p:nvSpPr>
            <p:cNvPr id="206914" name="Text Box 66"/>
            <p:cNvSpPr txBox="1">
              <a:spLocks noChangeArrowheads="1"/>
            </p:cNvSpPr>
            <p:nvPr/>
          </p:nvSpPr>
          <p:spPr bwMode="auto">
            <a:xfrm>
              <a:off x="1968" y="4089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    ROM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57057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924800" cy="914400"/>
          </a:xfrm>
        </p:spPr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3</a:t>
            </a:r>
            <a:r>
              <a:rPr lang="zh-CN" altLang="en-US" dirty="0"/>
              <a:t>－</a:t>
            </a:r>
            <a:r>
              <a:rPr lang="en-US" altLang="zh-CN" dirty="0"/>
              <a:t>8</a:t>
            </a:r>
            <a:r>
              <a:rPr lang="zh-CN" altLang="en-US" dirty="0"/>
              <a:t>解碼器分配地址區</a:t>
            </a:r>
            <a:r>
              <a:rPr lang="en-US" altLang="zh-CN" dirty="0"/>
              <a:t>(1)</a:t>
            </a:r>
          </a:p>
        </p:txBody>
      </p:sp>
      <p:sp>
        <p:nvSpPr>
          <p:cNvPr id="18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BB6B-FB60-4DBA-AE7A-6A5A0ACB16EF}" type="slidenum">
              <a:rPr lang="en-US" altLang="zh-CN">
                <a:solidFill>
                  <a:schemeClr val="tx1"/>
                </a:solidFill>
              </a:rPr>
              <a:pPr/>
              <a:t>40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grpSp>
        <p:nvGrpSpPr>
          <p:cNvPr id="207875" name="Group 3"/>
          <p:cNvGrpSpPr>
            <a:grpSpLocks/>
          </p:cNvGrpSpPr>
          <p:nvPr/>
        </p:nvGrpSpPr>
        <p:grpSpPr bwMode="auto">
          <a:xfrm>
            <a:off x="4800600" y="1447800"/>
            <a:ext cx="2647950" cy="1403350"/>
            <a:chOff x="3024" y="912"/>
            <a:chExt cx="1668" cy="884"/>
          </a:xfrm>
        </p:grpSpPr>
        <p:sp>
          <p:nvSpPr>
            <p:cNvPr id="207876" name="Rectangle 4"/>
            <p:cNvSpPr>
              <a:spLocks noChangeArrowheads="1"/>
            </p:cNvSpPr>
            <p:nvPr/>
          </p:nvSpPr>
          <p:spPr bwMode="auto">
            <a:xfrm>
              <a:off x="3084" y="1056"/>
              <a:ext cx="1593" cy="62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877" name="Line 5"/>
            <p:cNvSpPr>
              <a:spLocks noChangeShapeType="1"/>
            </p:cNvSpPr>
            <p:nvPr/>
          </p:nvSpPr>
          <p:spPr bwMode="auto">
            <a:xfrm>
              <a:off x="3218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878" name="Line 6"/>
            <p:cNvSpPr>
              <a:spLocks noChangeShapeType="1"/>
            </p:cNvSpPr>
            <p:nvPr/>
          </p:nvSpPr>
          <p:spPr bwMode="auto">
            <a:xfrm>
              <a:off x="3402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879" name="Line 7"/>
            <p:cNvSpPr>
              <a:spLocks noChangeShapeType="1"/>
            </p:cNvSpPr>
            <p:nvPr/>
          </p:nvSpPr>
          <p:spPr bwMode="auto">
            <a:xfrm>
              <a:off x="3586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880" name="Line 8"/>
            <p:cNvSpPr>
              <a:spLocks noChangeShapeType="1"/>
            </p:cNvSpPr>
            <p:nvPr/>
          </p:nvSpPr>
          <p:spPr bwMode="auto">
            <a:xfrm>
              <a:off x="3770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881" name="Line 9"/>
            <p:cNvSpPr>
              <a:spLocks noChangeShapeType="1"/>
            </p:cNvSpPr>
            <p:nvPr/>
          </p:nvSpPr>
          <p:spPr bwMode="auto">
            <a:xfrm>
              <a:off x="3953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882" name="Line 10"/>
            <p:cNvSpPr>
              <a:spLocks noChangeShapeType="1"/>
            </p:cNvSpPr>
            <p:nvPr/>
          </p:nvSpPr>
          <p:spPr bwMode="auto">
            <a:xfrm>
              <a:off x="4137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883" name="Line 11"/>
            <p:cNvSpPr>
              <a:spLocks noChangeShapeType="1"/>
            </p:cNvSpPr>
            <p:nvPr/>
          </p:nvSpPr>
          <p:spPr bwMode="auto">
            <a:xfrm>
              <a:off x="4320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884" name="Line 12"/>
            <p:cNvSpPr>
              <a:spLocks noChangeShapeType="1"/>
            </p:cNvSpPr>
            <p:nvPr/>
          </p:nvSpPr>
          <p:spPr bwMode="auto">
            <a:xfrm>
              <a:off x="4504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885" name="Line 13"/>
            <p:cNvSpPr>
              <a:spLocks noChangeShapeType="1"/>
            </p:cNvSpPr>
            <p:nvPr/>
          </p:nvSpPr>
          <p:spPr bwMode="auto">
            <a:xfrm>
              <a:off x="3153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886" name="Rectangle 14"/>
            <p:cNvSpPr>
              <a:spLocks noChangeArrowheads="1"/>
            </p:cNvSpPr>
            <p:nvPr/>
          </p:nvSpPr>
          <p:spPr bwMode="auto">
            <a:xfrm>
              <a:off x="3043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0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7887" name="Rectangle 15"/>
            <p:cNvSpPr>
              <a:spLocks noChangeArrowheads="1"/>
            </p:cNvSpPr>
            <p:nvPr/>
          </p:nvSpPr>
          <p:spPr bwMode="auto">
            <a:xfrm>
              <a:off x="3234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7888" name="Rectangle 16"/>
            <p:cNvSpPr>
              <a:spLocks noChangeArrowheads="1"/>
            </p:cNvSpPr>
            <p:nvPr/>
          </p:nvSpPr>
          <p:spPr bwMode="auto">
            <a:xfrm>
              <a:off x="3418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2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7889" name="Rectangle 17"/>
            <p:cNvSpPr>
              <a:spLocks noChangeArrowheads="1"/>
            </p:cNvSpPr>
            <p:nvPr/>
          </p:nvSpPr>
          <p:spPr bwMode="auto">
            <a:xfrm>
              <a:off x="3605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3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7890" name="Rectangle 18"/>
            <p:cNvSpPr>
              <a:spLocks noChangeArrowheads="1"/>
            </p:cNvSpPr>
            <p:nvPr/>
          </p:nvSpPr>
          <p:spPr bwMode="auto">
            <a:xfrm>
              <a:off x="3789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4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7891" name="Rectangle 19"/>
            <p:cNvSpPr>
              <a:spLocks noChangeArrowheads="1"/>
            </p:cNvSpPr>
            <p:nvPr/>
          </p:nvSpPr>
          <p:spPr bwMode="auto">
            <a:xfrm>
              <a:off x="3976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5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7892" name="Rectangle 20"/>
            <p:cNvSpPr>
              <a:spLocks noChangeArrowheads="1"/>
            </p:cNvSpPr>
            <p:nvPr/>
          </p:nvSpPr>
          <p:spPr bwMode="auto">
            <a:xfrm>
              <a:off x="4200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6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7893" name="Rectangle 21"/>
            <p:cNvSpPr>
              <a:spLocks noChangeArrowheads="1"/>
            </p:cNvSpPr>
            <p:nvPr/>
          </p:nvSpPr>
          <p:spPr bwMode="auto">
            <a:xfrm>
              <a:off x="4379" y="1440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7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7894" name="Text Box 22"/>
            <p:cNvSpPr txBox="1">
              <a:spLocks noChangeArrowheads="1"/>
            </p:cNvSpPr>
            <p:nvPr/>
          </p:nvSpPr>
          <p:spPr bwMode="auto">
            <a:xfrm>
              <a:off x="3024" y="1056"/>
              <a:ext cx="15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0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1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2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3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4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5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6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7</a:t>
              </a:r>
            </a:p>
          </p:txBody>
        </p:sp>
        <p:sp>
          <p:nvSpPr>
            <p:cNvPr id="207895" name="Line 23"/>
            <p:cNvSpPr>
              <a:spLocks noChangeShapeType="1"/>
            </p:cNvSpPr>
            <p:nvPr/>
          </p:nvSpPr>
          <p:spPr bwMode="auto">
            <a:xfrm>
              <a:off x="3312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896" name="Line 24"/>
            <p:cNvSpPr>
              <a:spLocks noChangeShapeType="1"/>
            </p:cNvSpPr>
            <p:nvPr/>
          </p:nvSpPr>
          <p:spPr bwMode="auto">
            <a:xfrm>
              <a:off x="3456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897" name="Line 25"/>
            <p:cNvSpPr>
              <a:spLocks noChangeShapeType="1"/>
            </p:cNvSpPr>
            <p:nvPr/>
          </p:nvSpPr>
          <p:spPr bwMode="auto">
            <a:xfrm>
              <a:off x="3648" y="912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898" name="Line 26"/>
            <p:cNvSpPr>
              <a:spLocks noChangeShapeType="1"/>
            </p:cNvSpPr>
            <p:nvPr/>
          </p:nvSpPr>
          <p:spPr bwMode="auto">
            <a:xfrm>
              <a:off x="3792" y="912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899" name="Text Box 27"/>
            <p:cNvSpPr txBox="1">
              <a:spLocks noChangeArrowheads="1"/>
            </p:cNvSpPr>
            <p:nvPr/>
          </p:nvSpPr>
          <p:spPr bwMode="auto">
            <a:xfrm>
              <a:off x="3282" y="1296"/>
              <a:ext cx="109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ea typeface="Noto Serif SC" panose="02020200000000000000" pitchFamily="18" charset="-122"/>
                </a:rPr>
                <a:t>        CPU</a:t>
              </a:r>
            </a:p>
          </p:txBody>
        </p:sp>
        <p:sp>
          <p:nvSpPr>
            <p:cNvPr id="207900" name="Line 28"/>
            <p:cNvSpPr>
              <a:spLocks noChangeShapeType="1"/>
            </p:cNvSpPr>
            <p:nvPr/>
          </p:nvSpPr>
          <p:spPr bwMode="auto">
            <a:xfrm>
              <a:off x="3969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901" name="Line 29"/>
            <p:cNvSpPr>
              <a:spLocks noChangeShapeType="1"/>
            </p:cNvSpPr>
            <p:nvPr/>
          </p:nvSpPr>
          <p:spPr bwMode="auto">
            <a:xfrm>
              <a:off x="4128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902" name="Line 30"/>
            <p:cNvSpPr>
              <a:spLocks noChangeShapeType="1"/>
            </p:cNvSpPr>
            <p:nvPr/>
          </p:nvSpPr>
          <p:spPr bwMode="auto">
            <a:xfrm>
              <a:off x="4272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207903" name="Group 31"/>
          <p:cNvGrpSpPr>
            <a:grpSpLocks/>
          </p:cNvGrpSpPr>
          <p:nvPr/>
        </p:nvGrpSpPr>
        <p:grpSpPr bwMode="auto">
          <a:xfrm>
            <a:off x="762000" y="1447800"/>
            <a:ext cx="6248400" cy="3276600"/>
            <a:chOff x="480" y="912"/>
            <a:chExt cx="3936" cy="2064"/>
          </a:xfrm>
        </p:grpSpPr>
        <p:sp>
          <p:nvSpPr>
            <p:cNvPr id="207904" name="Line 32"/>
            <p:cNvSpPr>
              <a:spLocks noChangeShapeType="1"/>
            </p:cNvSpPr>
            <p:nvPr/>
          </p:nvSpPr>
          <p:spPr bwMode="auto">
            <a:xfrm>
              <a:off x="480" y="912"/>
              <a:ext cx="0" cy="2064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905" name="Line 33"/>
            <p:cNvSpPr>
              <a:spLocks noChangeShapeType="1"/>
            </p:cNvSpPr>
            <p:nvPr/>
          </p:nvSpPr>
          <p:spPr bwMode="auto">
            <a:xfrm flipH="1">
              <a:off x="480" y="2976"/>
              <a:ext cx="3936" cy="0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207906" name="Line 34"/>
          <p:cNvSpPr>
            <a:spLocks noChangeShapeType="1"/>
          </p:cNvSpPr>
          <p:nvPr/>
        </p:nvSpPr>
        <p:spPr bwMode="auto">
          <a:xfrm>
            <a:off x="2743200" y="4191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grpSp>
        <p:nvGrpSpPr>
          <p:cNvPr id="207910" name="Group 38"/>
          <p:cNvGrpSpPr>
            <a:grpSpLocks/>
          </p:cNvGrpSpPr>
          <p:nvPr/>
        </p:nvGrpSpPr>
        <p:grpSpPr bwMode="auto">
          <a:xfrm>
            <a:off x="4724400" y="4267200"/>
            <a:ext cx="2743200" cy="762000"/>
            <a:chOff x="2976" y="2688"/>
            <a:chExt cx="1728" cy="480"/>
          </a:xfrm>
        </p:grpSpPr>
        <p:sp>
          <p:nvSpPr>
            <p:cNvPr id="207911" name="Line 39"/>
            <p:cNvSpPr>
              <a:spLocks noChangeShapeType="1"/>
            </p:cNvSpPr>
            <p:nvPr/>
          </p:nvSpPr>
          <p:spPr bwMode="auto">
            <a:xfrm>
              <a:off x="2976" y="2688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912" name="Line 40"/>
            <p:cNvSpPr>
              <a:spLocks noChangeShapeType="1"/>
            </p:cNvSpPr>
            <p:nvPr/>
          </p:nvSpPr>
          <p:spPr bwMode="auto">
            <a:xfrm>
              <a:off x="4704" y="2688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207913" name="Text Box 41"/>
          <p:cNvSpPr txBox="1">
            <a:spLocks noChangeArrowheads="1"/>
          </p:cNvSpPr>
          <p:nvPr/>
        </p:nvSpPr>
        <p:spPr bwMode="auto">
          <a:xfrm>
            <a:off x="4876800" y="3886200"/>
            <a:ext cx="6096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800" dirty="0">
                <a:latin typeface="Arial"/>
                <a:ea typeface="Noto Serif SC" panose="02020200000000000000" pitchFamily="18" charset="-122"/>
              </a:rPr>
              <a:t>…</a:t>
            </a:r>
            <a:endParaRPr lang="en-US" altLang="zh-CN" sz="4800" dirty="0">
              <a:ea typeface="Noto Serif SC" panose="02020200000000000000" pitchFamily="18" charset="-122"/>
            </a:endParaRPr>
          </a:p>
        </p:txBody>
      </p:sp>
      <p:sp>
        <p:nvSpPr>
          <p:cNvPr id="207914" name="Text Box 42"/>
          <p:cNvSpPr txBox="1">
            <a:spLocks noChangeArrowheads="1"/>
          </p:cNvSpPr>
          <p:nvPr/>
        </p:nvSpPr>
        <p:spPr bwMode="auto">
          <a:xfrm>
            <a:off x="5029200" y="5410200"/>
            <a:ext cx="6858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800" dirty="0">
                <a:latin typeface="Arial"/>
                <a:ea typeface="Noto Serif SC" panose="02020200000000000000" pitchFamily="18" charset="-122"/>
              </a:rPr>
              <a:t>…</a:t>
            </a:r>
            <a:endParaRPr lang="en-US" altLang="zh-CN" sz="4800" dirty="0">
              <a:ea typeface="Noto Serif SC" panose="02020200000000000000" pitchFamily="18" charset="-122"/>
            </a:endParaRPr>
          </a:p>
        </p:txBody>
      </p:sp>
      <p:grpSp>
        <p:nvGrpSpPr>
          <p:cNvPr id="207915" name="Group 43"/>
          <p:cNvGrpSpPr>
            <a:grpSpLocks/>
          </p:cNvGrpSpPr>
          <p:nvPr/>
        </p:nvGrpSpPr>
        <p:grpSpPr bwMode="auto">
          <a:xfrm>
            <a:off x="914400" y="2895600"/>
            <a:ext cx="7772400" cy="3581400"/>
            <a:chOff x="576" y="1824"/>
            <a:chExt cx="4896" cy="2256"/>
          </a:xfrm>
        </p:grpSpPr>
        <p:sp>
          <p:nvSpPr>
            <p:cNvPr id="207916" name="Line 44"/>
            <p:cNvSpPr>
              <a:spLocks noChangeShapeType="1"/>
            </p:cNvSpPr>
            <p:nvPr/>
          </p:nvSpPr>
          <p:spPr bwMode="auto">
            <a:xfrm>
              <a:off x="5472" y="1824"/>
              <a:ext cx="0" cy="2256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917" name="Line 45"/>
            <p:cNvSpPr>
              <a:spLocks noChangeShapeType="1"/>
            </p:cNvSpPr>
            <p:nvPr/>
          </p:nvSpPr>
          <p:spPr bwMode="auto">
            <a:xfrm flipH="1">
              <a:off x="576" y="4080"/>
              <a:ext cx="4896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207918" name="Line 46"/>
          <p:cNvSpPr>
            <a:spLocks noChangeShapeType="1"/>
          </p:cNvSpPr>
          <p:nvPr/>
        </p:nvSpPr>
        <p:spPr bwMode="auto">
          <a:xfrm>
            <a:off x="2743200" y="1447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207919" name="Line 47"/>
          <p:cNvSpPr>
            <a:spLocks noChangeShapeType="1"/>
          </p:cNvSpPr>
          <p:nvPr/>
        </p:nvSpPr>
        <p:spPr bwMode="auto">
          <a:xfrm>
            <a:off x="3200400" y="1447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207920" name="Line 48"/>
          <p:cNvSpPr>
            <a:spLocks noChangeShapeType="1"/>
          </p:cNvSpPr>
          <p:nvPr/>
        </p:nvSpPr>
        <p:spPr bwMode="auto">
          <a:xfrm>
            <a:off x="3657600" y="1447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grpSp>
        <p:nvGrpSpPr>
          <p:cNvPr id="207921" name="Group 49"/>
          <p:cNvGrpSpPr>
            <a:grpSpLocks/>
          </p:cNvGrpSpPr>
          <p:nvPr/>
        </p:nvGrpSpPr>
        <p:grpSpPr bwMode="auto">
          <a:xfrm>
            <a:off x="2514600" y="2819400"/>
            <a:ext cx="2630488" cy="1447800"/>
            <a:chOff x="1584" y="1776"/>
            <a:chExt cx="1657" cy="912"/>
          </a:xfrm>
        </p:grpSpPr>
        <p:sp>
          <p:nvSpPr>
            <p:cNvPr id="207922" name="Line 50"/>
            <p:cNvSpPr>
              <a:spLocks noChangeShapeType="1"/>
            </p:cNvSpPr>
            <p:nvPr/>
          </p:nvSpPr>
          <p:spPr bwMode="auto">
            <a:xfrm>
              <a:off x="1920" y="254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207923" name="Group 51"/>
            <p:cNvGrpSpPr>
              <a:grpSpLocks/>
            </p:cNvGrpSpPr>
            <p:nvPr/>
          </p:nvGrpSpPr>
          <p:grpSpPr bwMode="auto">
            <a:xfrm>
              <a:off x="1584" y="1776"/>
              <a:ext cx="1657" cy="912"/>
              <a:chOff x="1584" y="1776"/>
              <a:chExt cx="1657" cy="912"/>
            </a:xfrm>
          </p:grpSpPr>
          <p:sp>
            <p:nvSpPr>
              <p:cNvPr id="207924" name="Rectangle 52"/>
              <p:cNvSpPr>
                <a:spLocks noChangeArrowheads="1"/>
              </p:cNvSpPr>
              <p:nvPr/>
            </p:nvSpPr>
            <p:spPr bwMode="auto">
              <a:xfrm>
                <a:off x="1584" y="2112"/>
                <a:ext cx="1559" cy="432"/>
              </a:xfrm>
              <a:prstGeom prst="rect">
                <a:avLst/>
              </a:prstGeom>
              <a:solidFill>
                <a:srgbClr val="000000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25" name="Line 53"/>
              <p:cNvSpPr>
                <a:spLocks noChangeShapeType="1"/>
              </p:cNvSpPr>
              <p:nvPr/>
            </p:nvSpPr>
            <p:spPr bwMode="auto">
              <a:xfrm>
                <a:off x="1728" y="2544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26" name="Line 54"/>
              <p:cNvSpPr>
                <a:spLocks noChangeShapeType="1"/>
              </p:cNvSpPr>
              <p:nvPr/>
            </p:nvSpPr>
            <p:spPr bwMode="auto">
              <a:xfrm>
                <a:off x="2088" y="2544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27" name="Line 55"/>
              <p:cNvSpPr>
                <a:spLocks noChangeShapeType="1"/>
              </p:cNvSpPr>
              <p:nvPr/>
            </p:nvSpPr>
            <p:spPr bwMode="auto">
              <a:xfrm>
                <a:off x="2268" y="2544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28" name="Line 56"/>
              <p:cNvSpPr>
                <a:spLocks noChangeShapeType="1"/>
              </p:cNvSpPr>
              <p:nvPr/>
            </p:nvSpPr>
            <p:spPr bwMode="auto">
              <a:xfrm>
                <a:off x="2448" y="2544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29" name="Line 57"/>
              <p:cNvSpPr>
                <a:spLocks noChangeShapeType="1"/>
              </p:cNvSpPr>
              <p:nvPr/>
            </p:nvSpPr>
            <p:spPr bwMode="auto">
              <a:xfrm>
                <a:off x="2628" y="2544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30" name="Line 58"/>
              <p:cNvSpPr>
                <a:spLocks noChangeShapeType="1"/>
              </p:cNvSpPr>
              <p:nvPr/>
            </p:nvSpPr>
            <p:spPr bwMode="auto">
              <a:xfrm>
                <a:off x="2807" y="2544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31" name="Line 59"/>
              <p:cNvSpPr>
                <a:spLocks noChangeShapeType="1"/>
              </p:cNvSpPr>
              <p:nvPr/>
            </p:nvSpPr>
            <p:spPr bwMode="auto">
              <a:xfrm>
                <a:off x="2976" y="254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32" name="Line 60"/>
              <p:cNvSpPr>
                <a:spLocks noChangeShapeType="1"/>
              </p:cNvSpPr>
              <p:nvPr/>
            </p:nvSpPr>
            <p:spPr bwMode="auto">
              <a:xfrm>
                <a:off x="1728" y="1968"/>
                <a:ext cx="0" cy="1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33" name="Rectangle 61"/>
              <p:cNvSpPr>
                <a:spLocks noChangeArrowheads="1"/>
              </p:cNvSpPr>
              <p:nvPr/>
            </p:nvSpPr>
            <p:spPr bwMode="auto">
              <a:xfrm>
                <a:off x="1638" y="2304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Y</a:t>
                </a:r>
                <a:r>
                  <a:rPr lang="en-US" altLang="zh-CN" sz="1800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0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207934" name="Rectangle 62"/>
              <p:cNvSpPr>
                <a:spLocks noChangeArrowheads="1"/>
              </p:cNvSpPr>
              <p:nvPr/>
            </p:nvSpPr>
            <p:spPr bwMode="auto">
              <a:xfrm>
                <a:off x="1824" y="2304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Y</a:t>
                </a:r>
                <a:r>
                  <a:rPr lang="en-US" altLang="zh-CN" sz="1800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1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207935" name="Rectangle 63"/>
              <p:cNvSpPr>
                <a:spLocks noChangeArrowheads="1"/>
              </p:cNvSpPr>
              <p:nvPr/>
            </p:nvSpPr>
            <p:spPr bwMode="auto">
              <a:xfrm>
                <a:off x="2005" y="2304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Y</a:t>
                </a:r>
                <a:r>
                  <a:rPr lang="en-US" altLang="zh-CN" sz="1800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2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207936" name="Rectangle 64"/>
              <p:cNvSpPr>
                <a:spLocks noChangeArrowheads="1"/>
              </p:cNvSpPr>
              <p:nvPr/>
            </p:nvSpPr>
            <p:spPr bwMode="auto">
              <a:xfrm>
                <a:off x="2187" y="2304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Y</a:t>
                </a:r>
                <a:r>
                  <a:rPr lang="en-US" altLang="zh-CN" sz="1800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3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207937" name="Rectangle 65"/>
              <p:cNvSpPr>
                <a:spLocks noChangeArrowheads="1"/>
              </p:cNvSpPr>
              <p:nvPr/>
            </p:nvSpPr>
            <p:spPr bwMode="auto">
              <a:xfrm>
                <a:off x="2368" y="2304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Y</a:t>
                </a:r>
                <a:r>
                  <a:rPr lang="en-US" altLang="zh-CN" sz="1800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4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207938" name="Rectangle 66"/>
              <p:cNvSpPr>
                <a:spLocks noChangeArrowheads="1"/>
              </p:cNvSpPr>
              <p:nvPr/>
            </p:nvSpPr>
            <p:spPr bwMode="auto">
              <a:xfrm>
                <a:off x="2550" y="2304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Y</a:t>
                </a:r>
                <a:r>
                  <a:rPr lang="en-US" altLang="zh-CN" sz="1800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5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207939" name="Rectangle 67"/>
              <p:cNvSpPr>
                <a:spLocks noChangeArrowheads="1"/>
              </p:cNvSpPr>
              <p:nvPr/>
            </p:nvSpPr>
            <p:spPr bwMode="auto">
              <a:xfrm>
                <a:off x="2736" y="2304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Y</a:t>
                </a:r>
                <a:r>
                  <a:rPr lang="en-US" altLang="zh-CN" sz="1800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6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207940" name="Rectangle 68"/>
              <p:cNvSpPr>
                <a:spLocks noChangeArrowheads="1"/>
              </p:cNvSpPr>
              <p:nvPr/>
            </p:nvSpPr>
            <p:spPr bwMode="auto">
              <a:xfrm>
                <a:off x="2928" y="2304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Y</a:t>
                </a:r>
                <a:r>
                  <a:rPr lang="en-US" altLang="zh-CN" sz="1800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7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207941" name="Text Box 69"/>
              <p:cNvSpPr txBox="1">
                <a:spLocks noChangeArrowheads="1"/>
              </p:cNvSpPr>
              <p:nvPr/>
            </p:nvSpPr>
            <p:spPr bwMode="auto">
              <a:xfrm>
                <a:off x="1665" y="2103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A</a:t>
                </a:r>
              </a:p>
            </p:txBody>
          </p:sp>
          <p:sp>
            <p:nvSpPr>
              <p:cNvPr id="207942" name="Text Box 70"/>
              <p:cNvSpPr txBox="1">
                <a:spLocks noChangeArrowheads="1"/>
              </p:cNvSpPr>
              <p:nvPr/>
            </p:nvSpPr>
            <p:spPr bwMode="auto">
              <a:xfrm>
                <a:off x="1937" y="2103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B</a:t>
                </a:r>
              </a:p>
            </p:txBody>
          </p:sp>
          <p:sp>
            <p:nvSpPr>
              <p:cNvPr id="207943" name="Text Box 71"/>
              <p:cNvSpPr txBox="1">
                <a:spLocks noChangeArrowheads="1"/>
              </p:cNvSpPr>
              <p:nvPr/>
            </p:nvSpPr>
            <p:spPr bwMode="auto">
              <a:xfrm>
                <a:off x="2209" y="2107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C</a:t>
                </a:r>
              </a:p>
            </p:txBody>
          </p:sp>
          <p:graphicFrame>
            <p:nvGraphicFramePr>
              <p:cNvPr id="207944" name="Object 72"/>
              <p:cNvGraphicFramePr>
                <a:graphicFrameLocks noChangeAspect="1"/>
              </p:cNvGraphicFramePr>
              <p:nvPr/>
            </p:nvGraphicFramePr>
            <p:xfrm>
              <a:off x="2640" y="2112"/>
              <a:ext cx="219" cy="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241560" imgH="304560" progId="Equation.3">
                      <p:embed/>
                    </p:oleObj>
                  </mc:Choice>
                  <mc:Fallback>
                    <p:oleObj name="Equation" r:id="rId2" imgW="241560" imgH="304560" progId="Equation.3">
                      <p:embed/>
                      <p:pic>
                        <p:nvPicPr>
                          <p:cNvPr id="207944" name="Object 7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0" y="2112"/>
                            <a:ext cx="219" cy="27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7945" name="Line 73"/>
              <p:cNvSpPr>
                <a:spLocks noChangeShapeType="1"/>
              </p:cNvSpPr>
              <p:nvPr/>
            </p:nvSpPr>
            <p:spPr bwMode="auto">
              <a:xfrm>
                <a:off x="2016" y="1968"/>
                <a:ext cx="0" cy="1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46" name="Line 74"/>
              <p:cNvSpPr>
                <a:spLocks noChangeShapeType="1"/>
              </p:cNvSpPr>
              <p:nvPr/>
            </p:nvSpPr>
            <p:spPr bwMode="auto">
              <a:xfrm>
                <a:off x="2304" y="1968"/>
                <a:ext cx="0" cy="1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47" name="Line 75"/>
              <p:cNvSpPr>
                <a:spLocks noChangeShapeType="1"/>
              </p:cNvSpPr>
              <p:nvPr/>
            </p:nvSpPr>
            <p:spPr bwMode="auto">
              <a:xfrm>
                <a:off x="2733" y="1991"/>
                <a:ext cx="0" cy="1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aphicFrame>
            <p:nvGraphicFramePr>
              <p:cNvPr id="207948" name="Object 76"/>
              <p:cNvGraphicFramePr>
                <a:graphicFrameLocks noChangeAspect="1"/>
              </p:cNvGraphicFramePr>
              <p:nvPr/>
            </p:nvGraphicFramePr>
            <p:xfrm>
              <a:off x="2873" y="2112"/>
              <a:ext cx="233" cy="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54160" imgH="304560" progId="Equation.3">
                      <p:embed/>
                    </p:oleObj>
                  </mc:Choice>
                  <mc:Fallback>
                    <p:oleObj name="Equation" r:id="rId4" imgW="254160" imgH="304560" progId="Equation.3">
                      <p:embed/>
                      <p:pic>
                        <p:nvPicPr>
                          <p:cNvPr id="207948" name="Object 7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3" y="2112"/>
                            <a:ext cx="233" cy="27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7949" name="Line 77"/>
              <p:cNvSpPr>
                <a:spLocks noChangeShapeType="1"/>
              </p:cNvSpPr>
              <p:nvPr/>
            </p:nvSpPr>
            <p:spPr bwMode="auto">
              <a:xfrm>
                <a:off x="2973" y="1991"/>
                <a:ext cx="0" cy="1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50" name="Text Box 78"/>
              <p:cNvSpPr txBox="1">
                <a:spLocks noChangeArrowheads="1"/>
              </p:cNvSpPr>
              <p:nvPr/>
            </p:nvSpPr>
            <p:spPr bwMode="auto">
              <a:xfrm>
                <a:off x="2592" y="1776"/>
                <a:ext cx="57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800" dirty="0">
                    <a:latin typeface="Noto Serif SC" panose="02020200000000000000" pitchFamily="18" charset="-122"/>
                    <a:ea typeface="Noto Serif SC" panose="02020200000000000000" pitchFamily="18" charset="-122"/>
                  </a:rPr>
                  <a:t>使  能</a:t>
                </a:r>
              </a:p>
            </p:txBody>
          </p:sp>
          <p:sp>
            <p:nvSpPr>
              <p:cNvPr id="207951" name="Text Box 79"/>
              <p:cNvSpPr txBox="1">
                <a:spLocks noChangeArrowheads="1"/>
              </p:cNvSpPr>
              <p:nvPr/>
            </p:nvSpPr>
            <p:spPr bwMode="auto">
              <a:xfrm>
                <a:off x="1728" y="1872"/>
                <a:ext cx="107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A</a:t>
                </a:r>
                <a:r>
                  <a:rPr lang="en-US" altLang="zh-CN" sz="1800" baseline="-25000" dirty="0">
                    <a:ea typeface="Noto Serif SC" panose="02020200000000000000" pitchFamily="18" charset="-122"/>
                  </a:rPr>
                  <a:t>5     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A</a:t>
                </a:r>
                <a:r>
                  <a:rPr lang="en-US" altLang="zh-CN" sz="1800" baseline="-25000" dirty="0">
                    <a:ea typeface="Noto Serif SC" panose="02020200000000000000" pitchFamily="18" charset="-122"/>
                  </a:rPr>
                  <a:t>6    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A</a:t>
                </a:r>
                <a:r>
                  <a:rPr lang="en-US" altLang="zh-CN" sz="1800" baseline="-25000" dirty="0">
                    <a:ea typeface="Noto Serif SC" panose="02020200000000000000" pitchFamily="18" charset="-122"/>
                  </a:rPr>
                  <a:t>7  </a:t>
                </a:r>
              </a:p>
            </p:txBody>
          </p:sp>
        </p:grpSp>
      </p:grpSp>
      <p:grpSp>
        <p:nvGrpSpPr>
          <p:cNvPr id="207952" name="Group 80"/>
          <p:cNvGrpSpPr>
            <a:grpSpLocks/>
          </p:cNvGrpSpPr>
          <p:nvPr/>
        </p:nvGrpSpPr>
        <p:grpSpPr bwMode="auto">
          <a:xfrm>
            <a:off x="762000" y="1066801"/>
            <a:ext cx="6172200" cy="461963"/>
            <a:chOff x="480" y="672"/>
            <a:chExt cx="3888" cy="291"/>
          </a:xfrm>
        </p:grpSpPr>
        <p:sp>
          <p:nvSpPr>
            <p:cNvPr id="207953" name="Line 81"/>
            <p:cNvSpPr>
              <a:spLocks noChangeShapeType="1"/>
            </p:cNvSpPr>
            <p:nvPr/>
          </p:nvSpPr>
          <p:spPr bwMode="auto">
            <a:xfrm flipH="1">
              <a:off x="480" y="912"/>
              <a:ext cx="3888" cy="0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  <p:sp>
          <p:nvSpPr>
            <p:cNvPr id="207954" name="Text Box 82"/>
            <p:cNvSpPr txBox="1">
              <a:spLocks noChangeArrowheads="1"/>
            </p:cNvSpPr>
            <p:nvPr/>
          </p:nvSpPr>
          <p:spPr bwMode="auto">
            <a:xfrm>
              <a:off x="960" y="672"/>
              <a:ext cx="12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位址匯流排</a:t>
              </a:r>
            </a:p>
          </p:txBody>
        </p:sp>
      </p:grpSp>
      <p:grpSp>
        <p:nvGrpSpPr>
          <p:cNvPr id="207955" name="Group 83"/>
          <p:cNvGrpSpPr>
            <a:grpSpLocks/>
          </p:cNvGrpSpPr>
          <p:nvPr/>
        </p:nvGrpSpPr>
        <p:grpSpPr bwMode="auto">
          <a:xfrm>
            <a:off x="5029200" y="2514602"/>
            <a:ext cx="4007482" cy="830263"/>
            <a:chOff x="3168" y="1584"/>
            <a:chExt cx="2390" cy="523"/>
          </a:xfrm>
        </p:grpSpPr>
        <p:sp>
          <p:nvSpPr>
            <p:cNvPr id="207956" name="Line 84"/>
            <p:cNvSpPr>
              <a:spLocks noChangeShapeType="1"/>
            </p:cNvSpPr>
            <p:nvPr/>
          </p:nvSpPr>
          <p:spPr bwMode="auto">
            <a:xfrm flipH="1">
              <a:off x="3168" y="1824"/>
              <a:ext cx="2304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957" name="Text Box 85"/>
            <p:cNvSpPr txBox="1">
              <a:spLocks noChangeArrowheads="1"/>
            </p:cNvSpPr>
            <p:nvPr/>
          </p:nvSpPr>
          <p:spPr bwMode="auto">
            <a:xfrm>
              <a:off x="4656" y="1584"/>
              <a:ext cx="902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資料匯流排</a:t>
              </a:r>
            </a:p>
          </p:txBody>
        </p:sp>
      </p:grpSp>
      <p:grpSp>
        <p:nvGrpSpPr>
          <p:cNvPr id="207958" name="Group 86"/>
          <p:cNvGrpSpPr>
            <a:grpSpLocks/>
          </p:cNvGrpSpPr>
          <p:nvPr/>
        </p:nvGrpSpPr>
        <p:grpSpPr bwMode="auto">
          <a:xfrm>
            <a:off x="685800" y="4724400"/>
            <a:ext cx="2097088" cy="2133600"/>
            <a:chOff x="432" y="2976"/>
            <a:chExt cx="1321" cy="1344"/>
          </a:xfrm>
        </p:grpSpPr>
        <p:grpSp>
          <p:nvGrpSpPr>
            <p:cNvPr id="207959" name="Group 87"/>
            <p:cNvGrpSpPr>
              <a:grpSpLocks/>
            </p:cNvGrpSpPr>
            <p:nvPr/>
          </p:nvGrpSpPr>
          <p:grpSpPr bwMode="auto">
            <a:xfrm>
              <a:off x="432" y="2976"/>
              <a:ext cx="1321" cy="1076"/>
              <a:chOff x="432" y="2976"/>
              <a:chExt cx="1321" cy="1076"/>
            </a:xfrm>
          </p:grpSpPr>
          <p:sp>
            <p:nvSpPr>
              <p:cNvPr id="207960" name="Rectangle 88"/>
              <p:cNvSpPr>
                <a:spLocks noChangeArrowheads="1"/>
              </p:cNvSpPr>
              <p:nvPr/>
            </p:nvSpPr>
            <p:spPr bwMode="auto">
              <a:xfrm>
                <a:off x="480" y="3312"/>
                <a:ext cx="1185" cy="624"/>
              </a:xfrm>
              <a:prstGeom prst="rect">
                <a:avLst/>
              </a:prstGeom>
              <a:solidFill>
                <a:srgbClr val="660066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61" name="Line 89"/>
              <p:cNvSpPr>
                <a:spLocks noChangeShapeType="1"/>
              </p:cNvSpPr>
              <p:nvPr/>
            </p:nvSpPr>
            <p:spPr bwMode="auto">
              <a:xfrm>
                <a:off x="576" y="3936"/>
                <a:ext cx="0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62" name="Line 90"/>
              <p:cNvSpPr>
                <a:spLocks noChangeShapeType="1"/>
              </p:cNvSpPr>
              <p:nvPr/>
            </p:nvSpPr>
            <p:spPr bwMode="auto">
              <a:xfrm>
                <a:off x="713" y="3936"/>
                <a:ext cx="0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63" name="Line 91"/>
              <p:cNvSpPr>
                <a:spLocks noChangeShapeType="1"/>
              </p:cNvSpPr>
              <p:nvPr/>
            </p:nvSpPr>
            <p:spPr bwMode="auto">
              <a:xfrm>
                <a:off x="850" y="3936"/>
                <a:ext cx="0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64" name="Line 92"/>
              <p:cNvSpPr>
                <a:spLocks noChangeShapeType="1"/>
              </p:cNvSpPr>
              <p:nvPr/>
            </p:nvSpPr>
            <p:spPr bwMode="auto">
              <a:xfrm>
                <a:off x="987" y="3936"/>
                <a:ext cx="0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65" name="Line 93"/>
              <p:cNvSpPr>
                <a:spLocks noChangeShapeType="1"/>
              </p:cNvSpPr>
              <p:nvPr/>
            </p:nvSpPr>
            <p:spPr bwMode="auto">
              <a:xfrm>
                <a:off x="1123" y="3936"/>
                <a:ext cx="0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66" name="Line 94"/>
              <p:cNvSpPr>
                <a:spLocks noChangeShapeType="1"/>
              </p:cNvSpPr>
              <p:nvPr/>
            </p:nvSpPr>
            <p:spPr bwMode="auto">
              <a:xfrm>
                <a:off x="1260" y="3936"/>
                <a:ext cx="0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67" name="Line 95"/>
              <p:cNvSpPr>
                <a:spLocks noChangeShapeType="1"/>
              </p:cNvSpPr>
              <p:nvPr/>
            </p:nvSpPr>
            <p:spPr bwMode="auto">
              <a:xfrm>
                <a:off x="1396" y="3936"/>
                <a:ext cx="0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68" name="Line 96"/>
              <p:cNvSpPr>
                <a:spLocks noChangeShapeType="1"/>
              </p:cNvSpPr>
              <p:nvPr/>
            </p:nvSpPr>
            <p:spPr bwMode="auto">
              <a:xfrm>
                <a:off x="1533" y="3936"/>
                <a:ext cx="0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69" name="Line 97"/>
              <p:cNvSpPr>
                <a:spLocks noChangeShapeType="1"/>
              </p:cNvSpPr>
              <p:nvPr/>
            </p:nvSpPr>
            <p:spPr bwMode="auto">
              <a:xfrm>
                <a:off x="528" y="2976"/>
                <a:ext cx="0" cy="3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70" name="Rectangle 98"/>
              <p:cNvSpPr>
                <a:spLocks noChangeArrowheads="1"/>
              </p:cNvSpPr>
              <p:nvPr/>
            </p:nvSpPr>
            <p:spPr bwMode="auto">
              <a:xfrm>
                <a:off x="446" y="3703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D</a:t>
                </a:r>
                <a:r>
                  <a:rPr lang="en-US" altLang="zh-CN" sz="1800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0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207971" name="Rectangle 99"/>
              <p:cNvSpPr>
                <a:spLocks noChangeArrowheads="1"/>
              </p:cNvSpPr>
              <p:nvPr/>
            </p:nvSpPr>
            <p:spPr bwMode="auto">
              <a:xfrm>
                <a:off x="588" y="3703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D</a:t>
                </a:r>
                <a:r>
                  <a:rPr lang="en-US" altLang="zh-CN" sz="1800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1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207972" name="Rectangle 100"/>
              <p:cNvSpPr>
                <a:spLocks noChangeArrowheads="1"/>
              </p:cNvSpPr>
              <p:nvPr/>
            </p:nvSpPr>
            <p:spPr bwMode="auto">
              <a:xfrm>
                <a:off x="725" y="3703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D</a:t>
                </a:r>
                <a:r>
                  <a:rPr lang="en-US" altLang="zh-CN" sz="1800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2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207973" name="Rectangle 101"/>
              <p:cNvSpPr>
                <a:spLocks noChangeArrowheads="1"/>
              </p:cNvSpPr>
              <p:nvPr/>
            </p:nvSpPr>
            <p:spPr bwMode="auto">
              <a:xfrm>
                <a:off x="864" y="3703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D</a:t>
                </a:r>
                <a:r>
                  <a:rPr lang="en-US" altLang="zh-CN" sz="1800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3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207974" name="Rectangle 102"/>
              <p:cNvSpPr>
                <a:spLocks noChangeArrowheads="1"/>
              </p:cNvSpPr>
              <p:nvPr/>
            </p:nvSpPr>
            <p:spPr bwMode="auto">
              <a:xfrm>
                <a:off x="1001" y="3703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D</a:t>
                </a:r>
                <a:r>
                  <a:rPr lang="en-US" altLang="zh-CN" sz="1800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4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207975" name="Rectangle 103"/>
              <p:cNvSpPr>
                <a:spLocks noChangeArrowheads="1"/>
              </p:cNvSpPr>
              <p:nvPr/>
            </p:nvSpPr>
            <p:spPr bwMode="auto">
              <a:xfrm>
                <a:off x="1140" y="3703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D</a:t>
                </a:r>
                <a:r>
                  <a:rPr lang="en-US" altLang="zh-CN" sz="1800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5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207976" name="Rectangle 104"/>
              <p:cNvSpPr>
                <a:spLocks noChangeArrowheads="1"/>
              </p:cNvSpPr>
              <p:nvPr/>
            </p:nvSpPr>
            <p:spPr bwMode="auto">
              <a:xfrm>
                <a:off x="1307" y="3703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D</a:t>
                </a:r>
                <a:r>
                  <a:rPr lang="en-US" altLang="zh-CN" sz="1800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6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207977" name="Rectangle 105"/>
              <p:cNvSpPr>
                <a:spLocks noChangeArrowheads="1"/>
              </p:cNvSpPr>
              <p:nvPr/>
            </p:nvSpPr>
            <p:spPr bwMode="auto">
              <a:xfrm>
                <a:off x="1440" y="3696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D</a:t>
                </a:r>
                <a:r>
                  <a:rPr lang="en-US" altLang="zh-CN" sz="1800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7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207978" name="Text Box 106"/>
              <p:cNvSpPr txBox="1">
                <a:spLocks noChangeArrowheads="1"/>
              </p:cNvSpPr>
              <p:nvPr/>
            </p:nvSpPr>
            <p:spPr bwMode="auto">
              <a:xfrm>
                <a:off x="432" y="3312"/>
                <a:ext cx="960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A</a:t>
                </a:r>
                <a:r>
                  <a:rPr lang="en-US" altLang="zh-CN" sz="1800" baseline="-25000" dirty="0">
                    <a:ea typeface="Noto Serif SC" panose="02020200000000000000" pitchFamily="18" charset="-122"/>
                  </a:rPr>
                  <a:t>0 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A</a:t>
                </a:r>
                <a:r>
                  <a:rPr lang="en-US" altLang="zh-CN" sz="1800" baseline="-25000" dirty="0">
                    <a:ea typeface="Noto Serif SC" panose="02020200000000000000" pitchFamily="18" charset="-122"/>
                  </a:rPr>
                  <a:t>1 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A</a:t>
                </a:r>
                <a:r>
                  <a:rPr lang="en-US" altLang="zh-CN" sz="1800" baseline="-25000" dirty="0">
                    <a:ea typeface="Noto Serif SC" panose="02020200000000000000" pitchFamily="18" charset="-122"/>
                  </a:rPr>
                  <a:t>2 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A</a:t>
                </a:r>
                <a:r>
                  <a:rPr lang="en-US" altLang="zh-CN" sz="1800" baseline="-25000" dirty="0">
                    <a:ea typeface="Noto Serif SC" panose="02020200000000000000" pitchFamily="18" charset="-122"/>
                  </a:rPr>
                  <a:t>3 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A</a:t>
                </a:r>
                <a:r>
                  <a:rPr lang="en-US" altLang="zh-CN" sz="1800" baseline="-25000" dirty="0">
                    <a:ea typeface="Noto Serif SC" panose="02020200000000000000" pitchFamily="18" charset="-122"/>
                  </a:rPr>
                  <a:t>4</a:t>
                </a:r>
              </a:p>
            </p:txBody>
          </p:sp>
          <p:sp>
            <p:nvSpPr>
              <p:cNvPr id="207979" name="Line 107"/>
              <p:cNvSpPr>
                <a:spLocks noChangeShapeType="1"/>
              </p:cNvSpPr>
              <p:nvPr/>
            </p:nvSpPr>
            <p:spPr bwMode="auto">
              <a:xfrm>
                <a:off x="720" y="2976"/>
                <a:ext cx="0" cy="3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80" name="Line 108"/>
              <p:cNvSpPr>
                <a:spLocks noChangeShapeType="1"/>
              </p:cNvSpPr>
              <p:nvPr/>
            </p:nvSpPr>
            <p:spPr bwMode="auto">
              <a:xfrm>
                <a:off x="864" y="2976"/>
                <a:ext cx="0" cy="3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81" name="Line 109"/>
              <p:cNvSpPr>
                <a:spLocks noChangeShapeType="1"/>
              </p:cNvSpPr>
              <p:nvPr/>
            </p:nvSpPr>
            <p:spPr bwMode="auto">
              <a:xfrm>
                <a:off x="1056" y="2976"/>
                <a:ext cx="0" cy="3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aphicFrame>
            <p:nvGraphicFramePr>
              <p:cNvPr id="207982" name="Object 110"/>
              <p:cNvGraphicFramePr>
                <a:graphicFrameLocks noChangeAspect="1"/>
              </p:cNvGraphicFramePr>
              <p:nvPr/>
            </p:nvGraphicFramePr>
            <p:xfrm>
              <a:off x="1392" y="3312"/>
              <a:ext cx="210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304920" imgH="279000" progId="Equation.3">
                      <p:embed/>
                    </p:oleObj>
                  </mc:Choice>
                  <mc:Fallback>
                    <p:oleObj name="Equation" r:id="rId6" imgW="304920" imgH="279000" progId="Equation.3">
                      <p:embed/>
                      <p:pic>
                        <p:nvPicPr>
                          <p:cNvPr id="207982" name="Object 1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2" y="3312"/>
                            <a:ext cx="210" cy="2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7983" name="Line 111"/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0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84" name="Line 112"/>
              <p:cNvSpPr>
                <a:spLocks noChangeShapeType="1"/>
              </p:cNvSpPr>
              <p:nvPr/>
            </p:nvSpPr>
            <p:spPr bwMode="auto">
              <a:xfrm>
                <a:off x="1248" y="2976"/>
                <a:ext cx="0" cy="3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85" name="Text Box 113"/>
              <p:cNvSpPr txBox="1">
                <a:spLocks noChangeArrowheads="1"/>
              </p:cNvSpPr>
              <p:nvPr/>
            </p:nvSpPr>
            <p:spPr bwMode="auto">
              <a:xfrm>
                <a:off x="624" y="3552"/>
                <a:ext cx="81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32</a:t>
                </a:r>
                <a:r>
                  <a:rPr lang="en-US" altLang="zh-CN" sz="1800" dirty="0">
                    <a:ea typeface="Noto Serif SC" panose="02020200000000000000" pitchFamily="18" charset="-122"/>
                    <a:cs typeface="Tahoma" pitchFamily="34" charset="0"/>
                  </a:rPr>
                  <a:t>x8 R0M</a:t>
                </a:r>
                <a:endParaRPr lang="en-US" altLang="zh-CN" sz="18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86" name="Text Box 114"/>
              <p:cNvSpPr txBox="1">
                <a:spLocks noChangeArrowheads="1"/>
              </p:cNvSpPr>
              <p:nvPr/>
            </p:nvSpPr>
            <p:spPr bwMode="auto">
              <a:xfrm>
                <a:off x="480" y="2976"/>
                <a:ext cx="11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A</a:t>
                </a:r>
                <a:r>
                  <a:rPr lang="en-US" altLang="zh-CN" sz="1800" baseline="-25000" dirty="0">
                    <a:ea typeface="Noto Serif SC" panose="02020200000000000000" pitchFamily="18" charset="-122"/>
                  </a:rPr>
                  <a:t>0  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A</a:t>
                </a:r>
                <a:r>
                  <a:rPr lang="en-US" altLang="zh-CN" sz="1800" baseline="-25000" dirty="0">
                    <a:ea typeface="Noto Serif SC" panose="02020200000000000000" pitchFamily="18" charset="-122"/>
                  </a:rPr>
                  <a:t>1 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A</a:t>
                </a:r>
                <a:r>
                  <a:rPr lang="en-US" altLang="zh-CN" sz="1800" baseline="-25000" dirty="0">
                    <a:ea typeface="Noto Serif SC" panose="02020200000000000000" pitchFamily="18" charset="-122"/>
                  </a:rPr>
                  <a:t>2  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A</a:t>
                </a:r>
                <a:r>
                  <a:rPr lang="en-US" altLang="zh-CN" sz="1800" baseline="-25000" dirty="0">
                    <a:ea typeface="Noto Serif SC" panose="02020200000000000000" pitchFamily="18" charset="-122"/>
                  </a:rPr>
                  <a:t>3  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A</a:t>
                </a:r>
                <a:r>
                  <a:rPr lang="en-US" altLang="zh-CN" sz="1800" baseline="-25000" dirty="0">
                    <a:ea typeface="Noto Serif SC" panose="02020200000000000000" pitchFamily="18" charset="-122"/>
                  </a:rPr>
                  <a:t>4</a:t>
                </a:r>
              </a:p>
            </p:txBody>
          </p:sp>
          <p:sp>
            <p:nvSpPr>
              <p:cNvPr id="207987" name="Line 115"/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07988" name="Text Box 116"/>
            <p:cNvSpPr txBox="1">
              <a:spLocks noChangeArrowheads="1"/>
            </p:cNvSpPr>
            <p:nvPr/>
          </p:nvSpPr>
          <p:spPr bwMode="auto">
            <a:xfrm>
              <a:off x="576" y="4089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ea typeface="Noto Serif SC" panose="02020200000000000000" pitchFamily="18" charset="-122"/>
                </a:rPr>
                <a:t>第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0</a:t>
              </a:r>
              <a:r>
                <a:rPr lang="zh-CN" altLang="en-US" sz="1800" dirty="0">
                  <a:ea typeface="Noto Serif SC" panose="02020200000000000000" pitchFamily="18" charset="-122"/>
                </a:rPr>
                <a:t>片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ROM</a:t>
              </a:r>
            </a:p>
          </p:txBody>
        </p:sp>
      </p:grpSp>
      <p:grpSp>
        <p:nvGrpSpPr>
          <p:cNvPr id="207989" name="Group 117"/>
          <p:cNvGrpSpPr>
            <a:grpSpLocks/>
          </p:cNvGrpSpPr>
          <p:nvPr/>
        </p:nvGrpSpPr>
        <p:grpSpPr bwMode="auto">
          <a:xfrm>
            <a:off x="2895600" y="4724400"/>
            <a:ext cx="2097088" cy="2133600"/>
            <a:chOff x="1824" y="2976"/>
            <a:chExt cx="1321" cy="1344"/>
          </a:xfrm>
        </p:grpSpPr>
        <p:sp>
          <p:nvSpPr>
            <p:cNvPr id="207990" name="Rectangle 118"/>
            <p:cNvSpPr>
              <a:spLocks noChangeArrowheads="1"/>
            </p:cNvSpPr>
            <p:nvPr/>
          </p:nvSpPr>
          <p:spPr bwMode="auto">
            <a:xfrm>
              <a:off x="1869" y="3312"/>
              <a:ext cx="1185" cy="624"/>
            </a:xfrm>
            <a:prstGeom prst="rect">
              <a:avLst/>
            </a:prstGeom>
            <a:solidFill>
              <a:srgbClr val="660066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991" name="Line 119"/>
            <p:cNvSpPr>
              <a:spLocks noChangeShapeType="1"/>
            </p:cNvSpPr>
            <p:nvPr/>
          </p:nvSpPr>
          <p:spPr bwMode="auto">
            <a:xfrm>
              <a:off x="1968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992" name="Line 120"/>
            <p:cNvSpPr>
              <a:spLocks noChangeShapeType="1"/>
            </p:cNvSpPr>
            <p:nvPr/>
          </p:nvSpPr>
          <p:spPr bwMode="auto">
            <a:xfrm>
              <a:off x="2105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993" name="Line 121"/>
            <p:cNvSpPr>
              <a:spLocks noChangeShapeType="1"/>
            </p:cNvSpPr>
            <p:nvPr/>
          </p:nvSpPr>
          <p:spPr bwMode="auto">
            <a:xfrm>
              <a:off x="2242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994" name="Line 122"/>
            <p:cNvSpPr>
              <a:spLocks noChangeShapeType="1"/>
            </p:cNvSpPr>
            <p:nvPr/>
          </p:nvSpPr>
          <p:spPr bwMode="auto">
            <a:xfrm>
              <a:off x="2379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995" name="Line 123"/>
            <p:cNvSpPr>
              <a:spLocks noChangeShapeType="1"/>
            </p:cNvSpPr>
            <p:nvPr/>
          </p:nvSpPr>
          <p:spPr bwMode="auto">
            <a:xfrm>
              <a:off x="2515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996" name="Line 124"/>
            <p:cNvSpPr>
              <a:spLocks noChangeShapeType="1"/>
            </p:cNvSpPr>
            <p:nvPr/>
          </p:nvSpPr>
          <p:spPr bwMode="auto">
            <a:xfrm>
              <a:off x="2652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997" name="Line 125"/>
            <p:cNvSpPr>
              <a:spLocks noChangeShapeType="1"/>
            </p:cNvSpPr>
            <p:nvPr/>
          </p:nvSpPr>
          <p:spPr bwMode="auto">
            <a:xfrm>
              <a:off x="2788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998" name="Line 126"/>
            <p:cNvSpPr>
              <a:spLocks noChangeShapeType="1"/>
            </p:cNvSpPr>
            <p:nvPr/>
          </p:nvSpPr>
          <p:spPr bwMode="auto">
            <a:xfrm>
              <a:off x="2925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7999" name="Line 127"/>
            <p:cNvSpPr>
              <a:spLocks noChangeShapeType="1"/>
            </p:cNvSpPr>
            <p:nvPr/>
          </p:nvSpPr>
          <p:spPr bwMode="auto">
            <a:xfrm>
              <a:off x="1920" y="3168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00" name="Rectangle 128"/>
            <p:cNvSpPr>
              <a:spLocks noChangeArrowheads="1"/>
            </p:cNvSpPr>
            <p:nvPr/>
          </p:nvSpPr>
          <p:spPr bwMode="auto">
            <a:xfrm>
              <a:off x="1838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0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8001" name="Rectangle 129"/>
            <p:cNvSpPr>
              <a:spLocks noChangeArrowheads="1"/>
            </p:cNvSpPr>
            <p:nvPr/>
          </p:nvSpPr>
          <p:spPr bwMode="auto">
            <a:xfrm>
              <a:off x="1980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8002" name="Rectangle 130"/>
            <p:cNvSpPr>
              <a:spLocks noChangeArrowheads="1"/>
            </p:cNvSpPr>
            <p:nvPr/>
          </p:nvSpPr>
          <p:spPr bwMode="auto">
            <a:xfrm>
              <a:off x="2117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2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8003" name="Rectangle 131"/>
            <p:cNvSpPr>
              <a:spLocks noChangeArrowheads="1"/>
            </p:cNvSpPr>
            <p:nvPr/>
          </p:nvSpPr>
          <p:spPr bwMode="auto">
            <a:xfrm>
              <a:off x="2256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3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8004" name="Rectangle 132"/>
            <p:cNvSpPr>
              <a:spLocks noChangeArrowheads="1"/>
            </p:cNvSpPr>
            <p:nvPr/>
          </p:nvSpPr>
          <p:spPr bwMode="auto">
            <a:xfrm>
              <a:off x="2393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4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8005" name="Rectangle 133"/>
            <p:cNvSpPr>
              <a:spLocks noChangeArrowheads="1"/>
            </p:cNvSpPr>
            <p:nvPr/>
          </p:nvSpPr>
          <p:spPr bwMode="auto">
            <a:xfrm>
              <a:off x="2532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5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8006" name="Rectangle 134"/>
            <p:cNvSpPr>
              <a:spLocks noChangeArrowheads="1"/>
            </p:cNvSpPr>
            <p:nvPr/>
          </p:nvSpPr>
          <p:spPr bwMode="auto">
            <a:xfrm>
              <a:off x="2699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6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8007" name="Rectangle 135"/>
            <p:cNvSpPr>
              <a:spLocks noChangeArrowheads="1"/>
            </p:cNvSpPr>
            <p:nvPr/>
          </p:nvSpPr>
          <p:spPr bwMode="auto">
            <a:xfrm>
              <a:off x="2832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7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8008" name="Text Box 136"/>
            <p:cNvSpPr txBox="1">
              <a:spLocks noChangeArrowheads="1"/>
            </p:cNvSpPr>
            <p:nvPr/>
          </p:nvSpPr>
          <p:spPr bwMode="auto">
            <a:xfrm>
              <a:off x="1824" y="3312"/>
              <a:ext cx="96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0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1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2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3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4</a:t>
              </a:r>
            </a:p>
          </p:txBody>
        </p:sp>
        <p:sp>
          <p:nvSpPr>
            <p:cNvPr id="208009" name="Line 137"/>
            <p:cNvSpPr>
              <a:spLocks noChangeShapeType="1"/>
            </p:cNvSpPr>
            <p:nvPr/>
          </p:nvSpPr>
          <p:spPr bwMode="auto">
            <a:xfrm>
              <a:off x="2112" y="3168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10" name="Line 138"/>
            <p:cNvSpPr>
              <a:spLocks noChangeShapeType="1"/>
            </p:cNvSpPr>
            <p:nvPr/>
          </p:nvSpPr>
          <p:spPr bwMode="auto">
            <a:xfrm>
              <a:off x="2256" y="3168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11" name="Line 139"/>
            <p:cNvSpPr>
              <a:spLocks noChangeShapeType="1"/>
            </p:cNvSpPr>
            <p:nvPr/>
          </p:nvSpPr>
          <p:spPr bwMode="auto">
            <a:xfrm>
              <a:off x="2448" y="3168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aphicFrame>
          <p:nvGraphicFramePr>
            <p:cNvPr id="208012" name="Object 140"/>
            <p:cNvGraphicFramePr>
              <a:graphicFrameLocks noChangeAspect="1"/>
            </p:cNvGraphicFramePr>
            <p:nvPr/>
          </p:nvGraphicFramePr>
          <p:xfrm>
            <a:off x="2784" y="3312"/>
            <a:ext cx="210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04920" imgH="279000" progId="Equation.3">
                    <p:embed/>
                  </p:oleObj>
                </mc:Choice>
                <mc:Fallback>
                  <p:oleObj name="Equation" r:id="rId6" imgW="304920" imgH="279000" progId="Equation.3">
                    <p:embed/>
                    <p:pic>
                      <p:nvPicPr>
                        <p:cNvPr id="208012" name="Object 1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3312"/>
                          <a:ext cx="210" cy="2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013" name="Line 141"/>
            <p:cNvSpPr>
              <a:spLocks noChangeShapeType="1"/>
            </p:cNvSpPr>
            <p:nvPr/>
          </p:nvSpPr>
          <p:spPr bwMode="auto">
            <a:xfrm>
              <a:off x="2928" y="3168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14" name="Line 142"/>
            <p:cNvSpPr>
              <a:spLocks noChangeShapeType="1"/>
            </p:cNvSpPr>
            <p:nvPr/>
          </p:nvSpPr>
          <p:spPr bwMode="auto">
            <a:xfrm>
              <a:off x="2640" y="3168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15" name="Text Box 143"/>
            <p:cNvSpPr txBox="1">
              <a:spLocks noChangeArrowheads="1"/>
            </p:cNvSpPr>
            <p:nvPr/>
          </p:nvSpPr>
          <p:spPr bwMode="auto">
            <a:xfrm>
              <a:off x="2016" y="3552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32</a:t>
              </a:r>
              <a:r>
                <a:rPr lang="en-US" altLang="zh-CN" sz="1800" dirty="0">
                  <a:ea typeface="Noto Serif SC" panose="02020200000000000000" pitchFamily="18" charset="-122"/>
                  <a:cs typeface="Tahoma" pitchFamily="34" charset="0"/>
                </a:rPr>
                <a:t>x8 R0M</a:t>
              </a:r>
              <a:endParaRPr lang="en-US" altLang="zh-CN" sz="1800" dirty="0">
                <a:ea typeface="Noto Serif SC" panose="02020200000000000000" pitchFamily="18" charset="-122"/>
              </a:endParaRPr>
            </a:p>
          </p:txBody>
        </p:sp>
        <p:sp>
          <p:nvSpPr>
            <p:cNvPr id="208016" name="Line 144"/>
            <p:cNvSpPr>
              <a:spLocks noChangeShapeType="1"/>
            </p:cNvSpPr>
            <p:nvPr/>
          </p:nvSpPr>
          <p:spPr bwMode="auto">
            <a:xfrm>
              <a:off x="1920" y="2976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17" name="Line 145"/>
            <p:cNvSpPr>
              <a:spLocks noChangeShapeType="1"/>
            </p:cNvSpPr>
            <p:nvPr/>
          </p:nvSpPr>
          <p:spPr bwMode="auto">
            <a:xfrm>
              <a:off x="2112" y="2976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18" name="Line 146"/>
            <p:cNvSpPr>
              <a:spLocks noChangeShapeType="1"/>
            </p:cNvSpPr>
            <p:nvPr/>
          </p:nvSpPr>
          <p:spPr bwMode="auto">
            <a:xfrm>
              <a:off x="2256" y="2976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19" name="Line 147"/>
            <p:cNvSpPr>
              <a:spLocks noChangeShapeType="1"/>
            </p:cNvSpPr>
            <p:nvPr/>
          </p:nvSpPr>
          <p:spPr bwMode="auto">
            <a:xfrm>
              <a:off x="2448" y="2976"/>
              <a:ext cx="0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20" name="Line 148"/>
            <p:cNvSpPr>
              <a:spLocks noChangeShapeType="1"/>
            </p:cNvSpPr>
            <p:nvPr/>
          </p:nvSpPr>
          <p:spPr bwMode="auto">
            <a:xfrm>
              <a:off x="2928" y="321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21" name="Line 149"/>
            <p:cNvSpPr>
              <a:spLocks noChangeShapeType="1"/>
            </p:cNvSpPr>
            <p:nvPr/>
          </p:nvSpPr>
          <p:spPr bwMode="auto">
            <a:xfrm>
              <a:off x="2640" y="2976"/>
              <a:ext cx="0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22" name="Text Box 150"/>
            <p:cNvSpPr txBox="1">
              <a:spLocks noChangeArrowheads="1"/>
            </p:cNvSpPr>
            <p:nvPr/>
          </p:nvSpPr>
          <p:spPr bwMode="auto">
            <a:xfrm>
              <a:off x="1872" y="2976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0 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1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2 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3 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4</a:t>
              </a:r>
            </a:p>
          </p:txBody>
        </p:sp>
        <p:sp>
          <p:nvSpPr>
            <p:cNvPr id="208023" name="Text Box 151"/>
            <p:cNvSpPr txBox="1">
              <a:spLocks noChangeArrowheads="1"/>
            </p:cNvSpPr>
            <p:nvPr/>
          </p:nvSpPr>
          <p:spPr bwMode="auto">
            <a:xfrm>
              <a:off x="1968" y="4089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ea typeface="Noto Serif SC" panose="02020200000000000000" pitchFamily="18" charset="-122"/>
                </a:rPr>
                <a:t>第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1</a:t>
              </a:r>
              <a:r>
                <a:rPr lang="zh-CN" altLang="en-US" sz="1800" dirty="0">
                  <a:ea typeface="Noto Serif SC" panose="02020200000000000000" pitchFamily="18" charset="-122"/>
                </a:rPr>
                <a:t>片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ROM</a:t>
              </a:r>
            </a:p>
          </p:txBody>
        </p:sp>
      </p:grpSp>
      <p:grpSp>
        <p:nvGrpSpPr>
          <p:cNvPr id="208024" name="Group 152"/>
          <p:cNvGrpSpPr>
            <a:grpSpLocks/>
          </p:cNvGrpSpPr>
          <p:nvPr/>
        </p:nvGrpSpPr>
        <p:grpSpPr bwMode="auto">
          <a:xfrm>
            <a:off x="5715000" y="4724400"/>
            <a:ext cx="2097088" cy="2133600"/>
            <a:chOff x="3600" y="2976"/>
            <a:chExt cx="1321" cy="1344"/>
          </a:xfrm>
        </p:grpSpPr>
        <p:sp>
          <p:nvSpPr>
            <p:cNvPr id="208025" name="Rectangle 153"/>
            <p:cNvSpPr>
              <a:spLocks noChangeArrowheads="1"/>
            </p:cNvSpPr>
            <p:nvPr/>
          </p:nvSpPr>
          <p:spPr bwMode="auto">
            <a:xfrm>
              <a:off x="3600" y="3312"/>
              <a:ext cx="1230" cy="624"/>
            </a:xfrm>
            <a:prstGeom prst="rect">
              <a:avLst/>
            </a:prstGeom>
            <a:solidFill>
              <a:srgbClr val="660066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26" name="Line 154"/>
            <p:cNvSpPr>
              <a:spLocks noChangeShapeType="1"/>
            </p:cNvSpPr>
            <p:nvPr/>
          </p:nvSpPr>
          <p:spPr bwMode="auto">
            <a:xfrm>
              <a:off x="3744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27" name="Line 155"/>
            <p:cNvSpPr>
              <a:spLocks noChangeShapeType="1"/>
            </p:cNvSpPr>
            <p:nvPr/>
          </p:nvSpPr>
          <p:spPr bwMode="auto">
            <a:xfrm>
              <a:off x="3881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28" name="Line 156"/>
            <p:cNvSpPr>
              <a:spLocks noChangeShapeType="1"/>
            </p:cNvSpPr>
            <p:nvPr/>
          </p:nvSpPr>
          <p:spPr bwMode="auto">
            <a:xfrm>
              <a:off x="4018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29" name="Line 157"/>
            <p:cNvSpPr>
              <a:spLocks noChangeShapeType="1"/>
            </p:cNvSpPr>
            <p:nvPr/>
          </p:nvSpPr>
          <p:spPr bwMode="auto">
            <a:xfrm>
              <a:off x="4155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30" name="Line 158"/>
            <p:cNvSpPr>
              <a:spLocks noChangeShapeType="1"/>
            </p:cNvSpPr>
            <p:nvPr/>
          </p:nvSpPr>
          <p:spPr bwMode="auto">
            <a:xfrm>
              <a:off x="4291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31" name="Line 159"/>
            <p:cNvSpPr>
              <a:spLocks noChangeShapeType="1"/>
            </p:cNvSpPr>
            <p:nvPr/>
          </p:nvSpPr>
          <p:spPr bwMode="auto">
            <a:xfrm>
              <a:off x="4428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32" name="Line 160"/>
            <p:cNvSpPr>
              <a:spLocks noChangeShapeType="1"/>
            </p:cNvSpPr>
            <p:nvPr/>
          </p:nvSpPr>
          <p:spPr bwMode="auto">
            <a:xfrm>
              <a:off x="4564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33" name="Line 161"/>
            <p:cNvSpPr>
              <a:spLocks noChangeShapeType="1"/>
            </p:cNvSpPr>
            <p:nvPr/>
          </p:nvSpPr>
          <p:spPr bwMode="auto">
            <a:xfrm>
              <a:off x="4701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34" name="Rectangle 162"/>
            <p:cNvSpPr>
              <a:spLocks noChangeArrowheads="1"/>
            </p:cNvSpPr>
            <p:nvPr/>
          </p:nvSpPr>
          <p:spPr bwMode="auto">
            <a:xfrm>
              <a:off x="3614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0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8035" name="Rectangle 163"/>
            <p:cNvSpPr>
              <a:spLocks noChangeArrowheads="1"/>
            </p:cNvSpPr>
            <p:nvPr/>
          </p:nvSpPr>
          <p:spPr bwMode="auto">
            <a:xfrm>
              <a:off x="3756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8036" name="Rectangle 164"/>
            <p:cNvSpPr>
              <a:spLocks noChangeArrowheads="1"/>
            </p:cNvSpPr>
            <p:nvPr/>
          </p:nvSpPr>
          <p:spPr bwMode="auto">
            <a:xfrm>
              <a:off x="3893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2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8037" name="Rectangle 165"/>
            <p:cNvSpPr>
              <a:spLocks noChangeArrowheads="1"/>
            </p:cNvSpPr>
            <p:nvPr/>
          </p:nvSpPr>
          <p:spPr bwMode="auto">
            <a:xfrm>
              <a:off x="4032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3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8038" name="Rectangle 166"/>
            <p:cNvSpPr>
              <a:spLocks noChangeArrowheads="1"/>
            </p:cNvSpPr>
            <p:nvPr/>
          </p:nvSpPr>
          <p:spPr bwMode="auto">
            <a:xfrm>
              <a:off x="4169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4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8039" name="Rectangle 167"/>
            <p:cNvSpPr>
              <a:spLocks noChangeArrowheads="1"/>
            </p:cNvSpPr>
            <p:nvPr/>
          </p:nvSpPr>
          <p:spPr bwMode="auto">
            <a:xfrm>
              <a:off x="4308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5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8040" name="Rectangle 168"/>
            <p:cNvSpPr>
              <a:spLocks noChangeArrowheads="1"/>
            </p:cNvSpPr>
            <p:nvPr/>
          </p:nvSpPr>
          <p:spPr bwMode="auto">
            <a:xfrm>
              <a:off x="4475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6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8041" name="Rectangle 169"/>
            <p:cNvSpPr>
              <a:spLocks noChangeArrowheads="1"/>
            </p:cNvSpPr>
            <p:nvPr/>
          </p:nvSpPr>
          <p:spPr bwMode="auto">
            <a:xfrm>
              <a:off x="4608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D</a:t>
              </a:r>
              <a:r>
                <a:rPr lang="en-US" altLang="zh-CN" sz="1800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7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208042" name="Text Box 170"/>
            <p:cNvSpPr txBox="1">
              <a:spLocks noChangeArrowheads="1"/>
            </p:cNvSpPr>
            <p:nvPr/>
          </p:nvSpPr>
          <p:spPr bwMode="auto">
            <a:xfrm>
              <a:off x="3600" y="3312"/>
              <a:ext cx="96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0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1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2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3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4</a:t>
              </a:r>
            </a:p>
          </p:txBody>
        </p:sp>
        <p:graphicFrame>
          <p:nvGraphicFramePr>
            <p:cNvPr id="208043" name="Object 171"/>
            <p:cNvGraphicFramePr>
              <a:graphicFrameLocks noChangeAspect="1"/>
            </p:cNvGraphicFramePr>
            <p:nvPr/>
          </p:nvGraphicFramePr>
          <p:xfrm>
            <a:off x="4560" y="3312"/>
            <a:ext cx="210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04920" imgH="279000" progId="Equation.3">
                    <p:embed/>
                  </p:oleObj>
                </mc:Choice>
                <mc:Fallback>
                  <p:oleObj name="Equation" r:id="rId9" imgW="304920" imgH="279000" progId="Equation.3">
                    <p:embed/>
                    <p:pic>
                      <p:nvPicPr>
                        <p:cNvPr id="208043" name="Object 1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3312"/>
                          <a:ext cx="210" cy="2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044" name="Line 172"/>
            <p:cNvSpPr>
              <a:spLocks noChangeShapeType="1"/>
            </p:cNvSpPr>
            <p:nvPr/>
          </p:nvSpPr>
          <p:spPr bwMode="auto">
            <a:xfrm>
              <a:off x="4704" y="3168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45" name="Text Box 173"/>
            <p:cNvSpPr txBox="1">
              <a:spLocks noChangeArrowheads="1"/>
            </p:cNvSpPr>
            <p:nvPr/>
          </p:nvSpPr>
          <p:spPr bwMode="auto">
            <a:xfrm>
              <a:off x="3792" y="3552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32</a:t>
              </a:r>
              <a:r>
                <a:rPr lang="en-US" altLang="zh-CN" sz="1800" dirty="0">
                  <a:ea typeface="Noto Serif SC" panose="02020200000000000000" pitchFamily="18" charset="-122"/>
                  <a:cs typeface="Tahoma" pitchFamily="34" charset="0"/>
                </a:rPr>
                <a:t>x8 R0M</a:t>
              </a:r>
              <a:endParaRPr lang="en-US" altLang="zh-CN" sz="1800" dirty="0">
                <a:ea typeface="Noto Serif SC" panose="02020200000000000000" pitchFamily="18" charset="-122"/>
              </a:endParaRPr>
            </a:p>
          </p:txBody>
        </p:sp>
        <p:sp>
          <p:nvSpPr>
            <p:cNvPr id="208046" name="Line 174"/>
            <p:cNvSpPr>
              <a:spLocks noChangeShapeType="1"/>
            </p:cNvSpPr>
            <p:nvPr/>
          </p:nvSpPr>
          <p:spPr bwMode="auto">
            <a:xfrm>
              <a:off x="3648" y="2976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47" name="Line 175"/>
            <p:cNvSpPr>
              <a:spLocks noChangeShapeType="1"/>
            </p:cNvSpPr>
            <p:nvPr/>
          </p:nvSpPr>
          <p:spPr bwMode="auto">
            <a:xfrm>
              <a:off x="3840" y="2976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48" name="Line 176"/>
            <p:cNvSpPr>
              <a:spLocks noChangeShapeType="1"/>
            </p:cNvSpPr>
            <p:nvPr/>
          </p:nvSpPr>
          <p:spPr bwMode="auto">
            <a:xfrm>
              <a:off x="3984" y="2976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49" name="Line 177"/>
            <p:cNvSpPr>
              <a:spLocks noChangeShapeType="1"/>
            </p:cNvSpPr>
            <p:nvPr/>
          </p:nvSpPr>
          <p:spPr bwMode="auto">
            <a:xfrm>
              <a:off x="4176" y="2976"/>
              <a:ext cx="0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50" name="Line 178"/>
            <p:cNvSpPr>
              <a:spLocks noChangeShapeType="1"/>
            </p:cNvSpPr>
            <p:nvPr/>
          </p:nvSpPr>
          <p:spPr bwMode="auto">
            <a:xfrm>
              <a:off x="4704" y="321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51" name="Line 179"/>
            <p:cNvSpPr>
              <a:spLocks noChangeShapeType="1"/>
            </p:cNvSpPr>
            <p:nvPr/>
          </p:nvSpPr>
          <p:spPr bwMode="auto">
            <a:xfrm>
              <a:off x="4368" y="2976"/>
              <a:ext cx="0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8052" name="Text Box 180"/>
            <p:cNvSpPr txBox="1">
              <a:spLocks noChangeArrowheads="1"/>
            </p:cNvSpPr>
            <p:nvPr/>
          </p:nvSpPr>
          <p:spPr bwMode="auto">
            <a:xfrm>
              <a:off x="3600" y="2976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0 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1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2 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3  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A</a:t>
              </a:r>
              <a:r>
                <a:rPr lang="en-US" altLang="zh-CN" sz="1800" baseline="-25000" dirty="0">
                  <a:ea typeface="Noto Serif SC" panose="02020200000000000000" pitchFamily="18" charset="-122"/>
                </a:rPr>
                <a:t>4</a:t>
              </a:r>
            </a:p>
          </p:txBody>
        </p:sp>
        <p:sp>
          <p:nvSpPr>
            <p:cNvPr id="208053" name="Text Box 181"/>
            <p:cNvSpPr txBox="1">
              <a:spLocks noChangeArrowheads="1"/>
            </p:cNvSpPr>
            <p:nvPr/>
          </p:nvSpPr>
          <p:spPr bwMode="auto">
            <a:xfrm>
              <a:off x="3696" y="4089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ea typeface="Noto Serif SC" panose="02020200000000000000" pitchFamily="18" charset="-122"/>
                </a:rPr>
                <a:t>第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7</a:t>
              </a:r>
              <a:r>
                <a:rPr lang="zh-CN" altLang="en-US" sz="1800" dirty="0">
                  <a:ea typeface="Noto Serif SC" panose="02020200000000000000" pitchFamily="18" charset="-122"/>
                </a:rPr>
                <a:t>片</a:t>
              </a:r>
              <a:r>
                <a:rPr lang="en-US" altLang="zh-CN" sz="1800" dirty="0">
                  <a:ea typeface="Noto Serif SC" panose="02020200000000000000" pitchFamily="18" charset="-122"/>
                </a:rPr>
                <a:t>ROM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048000" y="4225925"/>
            <a:ext cx="1600200" cy="879475"/>
            <a:chOff x="3048000" y="4225925"/>
            <a:chExt cx="1600200" cy="879475"/>
          </a:xfrm>
        </p:grpSpPr>
        <p:grpSp>
          <p:nvGrpSpPr>
            <p:cNvPr id="207907" name="Group 35"/>
            <p:cNvGrpSpPr>
              <a:grpSpLocks/>
            </p:cNvGrpSpPr>
            <p:nvPr/>
          </p:nvGrpSpPr>
          <p:grpSpPr bwMode="auto">
            <a:xfrm>
              <a:off x="3048000" y="4419600"/>
              <a:ext cx="1600200" cy="685800"/>
              <a:chOff x="1920" y="2784"/>
              <a:chExt cx="1008" cy="432"/>
            </a:xfrm>
          </p:grpSpPr>
          <p:sp>
            <p:nvSpPr>
              <p:cNvPr id="207908" name="Line 36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909" name="Line 37"/>
              <p:cNvSpPr>
                <a:spLocks noChangeShapeType="1"/>
              </p:cNvSpPr>
              <p:nvPr/>
            </p:nvSpPr>
            <p:spPr bwMode="auto">
              <a:xfrm>
                <a:off x="2928" y="2784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183" name="Line 54"/>
            <p:cNvSpPr>
              <a:spLocks noChangeShapeType="1"/>
            </p:cNvSpPr>
            <p:nvPr/>
          </p:nvSpPr>
          <p:spPr bwMode="auto">
            <a:xfrm>
              <a:off x="3048000" y="4225925"/>
              <a:ext cx="0" cy="193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261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7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07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0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08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0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20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20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207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4" dur="500"/>
                                        <p:tgtEl>
                                          <p:spTgt spid="207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20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500"/>
                                        <p:tgtEl>
                                          <p:spTgt spid="20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20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906" grpId="0" animBg="1"/>
      <p:bldP spid="207913" grpId="0" autoUpdateAnimBg="0"/>
      <p:bldP spid="207914" grpId="0" autoUpdateAnimBg="0"/>
      <p:bldP spid="207918" grpId="0" animBg="1"/>
      <p:bldP spid="207919" grpId="0" animBg="1"/>
      <p:bldP spid="2079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01000" cy="1431925"/>
          </a:xfrm>
        </p:spPr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3</a:t>
            </a:r>
            <a:r>
              <a:rPr lang="zh-CN" altLang="en-US" dirty="0"/>
              <a:t>－</a:t>
            </a:r>
            <a:r>
              <a:rPr lang="en-US" altLang="zh-CN" dirty="0"/>
              <a:t>8</a:t>
            </a:r>
            <a:r>
              <a:rPr lang="zh-CN" altLang="en-US" dirty="0"/>
              <a:t>解碼器分配地址區（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50D66-7645-434D-929F-8EED9C43D6D7}" type="slidenum">
              <a:rPr lang="en-US" altLang="zh-CN"/>
              <a:pPr/>
              <a:t>41</a:t>
            </a:fld>
            <a:endParaRPr lang="en-US" altLang="zh-CN" dirty="0"/>
          </a:p>
        </p:txBody>
      </p:sp>
      <p:sp>
        <p:nvSpPr>
          <p:cNvPr id="2088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981200"/>
            <a:ext cx="8458200" cy="6096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zh-CN" altLang="en-US" dirty="0"/>
              <a:t>位址空間的對應關係如圖：</a:t>
            </a:r>
          </a:p>
        </p:txBody>
      </p:sp>
      <p:grpSp>
        <p:nvGrpSpPr>
          <p:cNvPr id="208900" name="Group 4"/>
          <p:cNvGrpSpPr>
            <a:grpSpLocks/>
          </p:cNvGrpSpPr>
          <p:nvPr/>
        </p:nvGrpSpPr>
        <p:grpSpPr bwMode="auto">
          <a:xfrm>
            <a:off x="685800" y="2641600"/>
            <a:ext cx="7848600" cy="3454400"/>
            <a:chOff x="432" y="2064"/>
            <a:chExt cx="4944" cy="2176"/>
          </a:xfrm>
        </p:grpSpPr>
        <p:grpSp>
          <p:nvGrpSpPr>
            <p:cNvPr id="208901" name="Group 5"/>
            <p:cNvGrpSpPr>
              <a:grpSpLocks/>
            </p:cNvGrpSpPr>
            <p:nvPr/>
          </p:nvGrpSpPr>
          <p:grpSpPr bwMode="auto">
            <a:xfrm>
              <a:off x="432" y="2304"/>
              <a:ext cx="4944" cy="1936"/>
              <a:chOff x="912" y="2384"/>
              <a:chExt cx="4944" cy="1936"/>
            </a:xfrm>
          </p:grpSpPr>
          <p:grpSp>
            <p:nvGrpSpPr>
              <p:cNvPr id="208902" name="Group 6"/>
              <p:cNvGrpSpPr>
                <a:grpSpLocks/>
              </p:cNvGrpSpPr>
              <p:nvPr/>
            </p:nvGrpSpPr>
            <p:grpSpPr bwMode="auto">
              <a:xfrm>
                <a:off x="3744" y="2384"/>
                <a:ext cx="1152" cy="1920"/>
                <a:chOff x="3264" y="2400"/>
                <a:chExt cx="1152" cy="1920"/>
              </a:xfrm>
            </p:grpSpPr>
            <p:sp>
              <p:nvSpPr>
                <p:cNvPr id="208903" name="Rectangle 7"/>
                <p:cNvSpPr>
                  <a:spLocks noChangeArrowheads="1"/>
                </p:cNvSpPr>
                <p:nvPr/>
              </p:nvSpPr>
              <p:spPr bwMode="auto">
                <a:xfrm>
                  <a:off x="3264" y="2400"/>
                  <a:ext cx="1152" cy="192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08904" name="Line 8"/>
                <p:cNvSpPr>
                  <a:spLocks noChangeShapeType="1"/>
                </p:cNvSpPr>
                <p:nvPr/>
              </p:nvSpPr>
              <p:spPr bwMode="auto">
                <a:xfrm>
                  <a:off x="3264" y="264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08905" name="Line 9"/>
                <p:cNvSpPr>
                  <a:spLocks noChangeShapeType="1"/>
                </p:cNvSpPr>
                <p:nvPr/>
              </p:nvSpPr>
              <p:spPr bwMode="auto">
                <a:xfrm>
                  <a:off x="3264" y="288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08906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3264" y="312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08907" name="Line 11"/>
                <p:cNvSpPr>
                  <a:spLocks noChangeShapeType="1"/>
                </p:cNvSpPr>
                <p:nvPr/>
              </p:nvSpPr>
              <p:spPr bwMode="auto">
                <a:xfrm>
                  <a:off x="3264" y="336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08908" name="Line 12"/>
                <p:cNvSpPr>
                  <a:spLocks noChangeShapeType="1"/>
                </p:cNvSpPr>
                <p:nvPr/>
              </p:nvSpPr>
              <p:spPr bwMode="auto">
                <a:xfrm>
                  <a:off x="3264" y="360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08909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3264" y="384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08910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3264" y="408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208911" name="Text Box 15"/>
              <p:cNvSpPr txBox="1">
                <a:spLocks noChangeArrowheads="1"/>
              </p:cNvSpPr>
              <p:nvPr/>
            </p:nvSpPr>
            <p:spPr bwMode="auto">
              <a:xfrm>
                <a:off x="2448" y="2400"/>
                <a:ext cx="81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(0</a:t>
                </a:r>
                <a:r>
                  <a:rPr lang="zh-CN" altLang="en-US" sz="1800" dirty="0">
                    <a:ea typeface="Noto Serif SC" panose="02020200000000000000" pitchFamily="18" charset="-122"/>
                  </a:rPr>
                  <a:t>～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31)</a:t>
                </a:r>
              </a:p>
            </p:txBody>
          </p:sp>
          <p:sp>
            <p:nvSpPr>
              <p:cNvPr id="208912" name="Text Box 16"/>
              <p:cNvSpPr txBox="1">
                <a:spLocks noChangeArrowheads="1"/>
              </p:cNvSpPr>
              <p:nvPr/>
            </p:nvSpPr>
            <p:spPr bwMode="auto">
              <a:xfrm>
                <a:off x="2448" y="2640"/>
                <a:ext cx="81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(32</a:t>
                </a:r>
                <a:r>
                  <a:rPr lang="zh-CN" altLang="en-US" sz="1800" dirty="0">
                    <a:ea typeface="Noto Serif SC" panose="02020200000000000000" pitchFamily="18" charset="-122"/>
                  </a:rPr>
                  <a:t>～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63)</a:t>
                </a:r>
              </a:p>
            </p:txBody>
          </p:sp>
          <p:sp>
            <p:nvSpPr>
              <p:cNvPr id="208913" name="Text Box 17"/>
              <p:cNvSpPr txBox="1">
                <a:spLocks noChangeArrowheads="1"/>
              </p:cNvSpPr>
              <p:nvPr/>
            </p:nvSpPr>
            <p:spPr bwMode="auto">
              <a:xfrm>
                <a:off x="2448" y="2880"/>
                <a:ext cx="81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(64</a:t>
                </a:r>
                <a:r>
                  <a:rPr lang="zh-CN" altLang="en-US" sz="1800" dirty="0">
                    <a:ea typeface="Noto Serif SC" panose="02020200000000000000" pitchFamily="18" charset="-122"/>
                  </a:rPr>
                  <a:t>～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95)</a:t>
                </a:r>
              </a:p>
            </p:txBody>
          </p:sp>
          <p:sp>
            <p:nvSpPr>
              <p:cNvPr id="208914" name="Text Box 18"/>
              <p:cNvSpPr txBox="1">
                <a:spLocks noChangeArrowheads="1"/>
              </p:cNvSpPr>
              <p:nvPr/>
            </p:nvSpPr>
            <p:spPr bwMode="auto">
              <a:xfrm>
                <a:off x="2448" y="3120"/>
                <a:ext cx="81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(96</a:t>
                </a:r>
                <a:r>
                  <a:rPr lang="zh-CN" altLang="en-US" sz="1800" dirty="0">
                    <a:ea typeface="Noto Serif SC" panose="02020200000000000000" pitchFamily="18" charset="-122"/>
                  </a:rPr>
                  <a:t>～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127)</a:t>
                </a:r>
              </a:p>
            </p:txBody>
          </p:sp>
          <p:sp>
            <p:nvSpPr>
              <p:cNvPr id="208915" name="Text Box 19"/>
              <p:cNvSpPr txBox="1">
                <a:spLocks noChangeArrowheads="1"/>
              </p:cNvSpPr>
              <p:nvPr/>
            </p:nvSpPr>
            <p:spPr bwMode="auto">
              <a:xfrm>
                <a:off x="2448" y="3360"/>
                <a:ext cx="91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(128</a:t>
                </a:r>
                <a:r>
                  <a:rPr lang="zh-CN" altLang="en-US" sz="1800" dirty="0">
                    <a:ea typeface="Noto Serif SC" panose="02020200000000000000" pitchFamily="18" charset="-122"/>
                  </a:rPr>
                  <a:t>～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159)</a:t>
                </a:r>
              </a:p>
            </p:txBody>
          </p:sp>
          <p:sp>
            <p:nvSpPr>
              <p:cNvPr id="208916" name="Text Box 20"/>
              <p:cNvSpPr txBox="1">
                <a:spLocks noChangeArrowheads="1"/>
              </p:cNvSpPr>
              <p:nvPr/>
            </p:nvSpPr>
            <p:spPr bwMode="auto">
              <a:xfrm>
                <a:off x="2448" y="3600"/>
                <a:ext cx="91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(160</a:t>
                </a:r>
                <a:r>
                  <a:rPr lang="zh-CN" altLang="en-US" sz="1800" dirty="0">
                    <a:ea typeface="Noto Serif SC" panose="02020200000000000000" pitchFamily="18" charset="-122"/>
                  </a:rPr>
                  <a:t>～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191)</a:t>
                </a:r>
              </a:p>
            </p:txBody>
          </p:sp>
          <p:sp>
            <p:nvSpPr>
              <p:cNvPr id="208917" name="Text Box 21"/>
              <p:cNvSpPr txBox="1">
                <a:spLocks noChangeArrowheads="1"/>
              </p:cNvSpPr>
              <p:nvPr/>
            </p:nvSpPr>
            <p:spPr bwMode="auto">
              <a:xfrm>
                <a:off x="2448" y="3840"/>
                <a:ext cx="91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(192</a:t>
                </a:r>
                <a:r>
                  <a:rPr lang="zh-CN" altLang="en-US" sz="1800" dirty="0">
                    <a:ea typeface="Noto Serif SC" panose="02020200000000000000" pitchFamily="18" charset="-122"/>
                  </a:rPr>
                  <a:t>～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223)</a:t>
                </a:r>
              </a:p>
            </p:txBody>
          </p:sp>
          <p:sp>
            <p:nvSpPr>
              <p:cNvPr id="208918" name="Text Box 22"/>
              <p:cNvSpPr txBox="1">
                <a:spLocks noChangeArrowheads="1"/>
              </p:cNvSpPr>
              <p:nvPr/>
            </p:nvSpPr>
            <p:spPr bwMode="auto">
              <a:xfrm>
                <a:off x="2448" y="4089"/>
                <a:ext cx="91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(224</a:t>
                </a:r>
                <a:r>
                  <a:rPr lang="zh-CN" altLang="en-US" sz="1800" dirty="0">
                    <a:ea typeface="Noto Serif SC" panose="02020200000000000000" pitchFamily="18" charset="-122"/>
                  </a:rPr>
                  <a:t>～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255)</a:t>
                </a:r>
              </a:p>
            </p:txBody>
          </p:sp>
          <p:sp>
            <p:nvSpPr>
              <p:cNvPr id="208919" name="Text Box 23"/>
              <p:cNvSpPr txBox="1">
                <a:spLocks noChangeArrowheads="1"/>
              </p:cNvSpPr>
              <p:nvPr/>
            </p:nvSpPr>
            <p:spPr bwMode="auto">
              <a:xfrm>
                <a:off x="4896" y="2384"/>
                <a:ext cx="960" cy="19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700" b="1" dirty="0">
                    <a:ea typeface="Noto Serif SC" panose="02020200000000000000" pitchFamily="18" charset="-122"/>
                  </a:rPr>
                  <a:t>第</a:t>
                </a:r>
                <a:r>
                  <a:rPr lang="en-US" altLang="zh-CN" sz="1700" b="1" dirty="0">
                    <a:ea typeface="Noto Serif SC" panose="02020200000000000000" pitchFamily="18" charset="-122"/>
                  </a:rPr>
                  <a:t>0</a:t>
                </a:r>
                <a:r>
                  <a:rPr lang="zh-CN" altLang="en-US" sz="1700" b="1" dirty="0">
                    <a:ea typeface="Noto Serif SC" panose="02020200000000000000" pitchFamily="18" charset="-122"/>
                  </a:rPr>
                  <a:t>片</a:t>
                </a:r>
                <a:r>
                  <a:rPr lang="en-US" altLang="zh-CN" sz="1700" b="1" dirty="0">
                    <a:ea typeface="Noto Serif SC" panose="02020200000000000000" pitchFamily="18" charset="-122"/>
                  </a:rPr>
                  <a:t>ROM</a:t>
                </a:r>
              </a:p>
              <a:p>
                <a:pPr>
                  <a:spcBef>
                    <a:spcPct val="50000"/>
                  </a:spcBef>
                </a:pPr>
                <a:r>
                  <a:rPr lang="zh-CN" altLang="en-US" sz="1700" b="1" dirty="0">
                    <a:ea typeface="Noto Serif SC" panose="02020200000000000000" pitchFamily="18" charset="-122"/>
                  </a:rPr>
                  <a:t>第</a:t>
                </a:r>
                <a:r>
                  <a:rPr lang="en-US" altLang="zh-CN" sz="1700" b="1" dirty="0">
                    <a:ea typeface="Noto Serif SC" panose="02020200000000000000" pitchFamily="18" charset="-122"/>
                  </a:rPr>
                  <a:t>1</a:t>
                </a:r>
                <a:r>
                  <a:rPr lang="zh-CN" altLang="en-US" sz="1700" b="1" dirty="0">
                    <a:ea typeface="Noto Serif SC" panose="02020200000000000000" pitchFamily="18" charset="-122"/>
                  </a:rPr>
                  <a:t>片</a:t>
                </a:r>
                <a:r>
                  <a:rPr lang="en-US" altLang="zh-CN" sz="1700" b="1" dirty="0">
                    <a:ea typeface="Noto Serif SC" panose="02020200000000000000" pitchFamily="18" charset="-122"/>
                  </a:rPr>
                  <a:t>ROM</a:t>
                </a:r>
              </a:p>
              <a:p>
                <a:pPr>
                  <a:spcBef>
                    <a:spcPct val="50000"/>
                  </a:spcBef>
                </a:pPr>
                <a:r>
                  <a:rPr lang="zh-CN" altLang="en-US" sz="1700" b="1" dirty="0">
                    <a:ea typeface="Noto Serif SC" panose="02020200000000000000" pitchFamily="18" charset="-122"/>
                  </a:rPr>
                  <a:t>第</a:t>
                </a:r>
                <a:r>
                  <a:rPr lang="en-US" altLang="zh-CN" sz="1700" b="1" dirty="0">
                    <a:ea typeface="Noto Serif SC" panose="02020200000000000000" pitchFamily="18" charset="-122"/>
                  </a:rPr>
                  <a:t>2</a:t>
                </a:r>
                <a:r>
                  <a:rPr lang="zh-CN" altLang="en-US" sz="1700" b="1" dirty="0">
                    <a:ea typeface="Noto Serif SC" panose="02020200000000000000" pitchFamily="18" charset="-122"/>
                  </a:rPr>
                  <a:t>片</a:t>
                </a:r>
                <a:r>
                  <a:rPr lang="en-US" altLang="zh-CN" sz="1700" b="1" dirty="0">
                    <a:ea typeface="Noto Serif SC" panose="02020200000000000000" pitchFamily="18" charset="-122"/>
                  </a:rPr>
                  <a:t>ROM</a:t>
                </a:r>
              </a:p>
              <a:p>
                <a:pPr>
                  <a:spcBef>
                    <a:spcPct val="50000"/>
                  </a:spcBef>
                </a:pPr>
                <a:r>
                  <a:rPr lang="zh-CN" altLang="en-US" sz="1700" b="1" dirty="0">
                    <a:ea typeface="Noto Serif SC" panose="02020200000000000000" pitchFamily="18" charset="-122"/>
                  </a:rPr>
                  <a:t>第</a:t>
                </a:r>
                <a:r>
                  <a:rPr lang="en-US" altLang="zh-CN" sz="1700" b="1" dirty="0">
                    <a:ea typeface="Noto Serif SC" panose="02020200000000000000" pitchFamily="18" charset="-122"/>
                  </a:rPr>
                  <a:t>3</a:t>
                </a:r>
                <a:r>
                  <a:rPr lang="zh-CN" altLang="en-US" sz="1700" b="1" dirty="0">
                    <a:ea typeface="Noto Serif SC" panose="02020200000000000000" pitchFamily="18" charset="-122"/>
                  </a:rPr>
                  <a:t>片</a:t>
                </a:r>
                <a:r>
                  <a:rPr lang="en-US" altLang="zh-CN" sz="1700" b="1" dirty="0">
                    <a:ea typeface="Noto Serif SC" panose="02020200000000000000" pitchFamily="18" charset="-122"/>
                  </a:rPr>
                  <a:t>ROM</a:t>
                </a:r>
              </a:p>
              <a:p>
                <a:pPr>
                  <a:spcBef>
                    <a:spcPct val="50000"/>
                  </a:spcBef>
                </a:pPr>
                <a:r>
                  <a:rPr lang="zh-CN" altLang="en-US" sz="1700" b="1" dirty="0">
                    <a:ea typeface="Noto Serif SC" panose="02020200000000000000" pitchFamily="18" charset="-122"/>
                  </a:rPr>
                  <a:t>第</a:t>
                </a:r>
                <a:r>
                  <a:rPr lang="en-US" altLang="zh-CN" sz="1700" b="1" dirty="0">
                    <a:ea typeface="Noto Serif SC" panose="02020200000000000000" pitchFamily="18" charset="-122"/>
                  </a:rPr>
                  <a:t>4</a:t>
                </a:r>
                <a:r>
                  <a:rPr lang="zh-CN" altLang="en-US" sz="1700" b="1" dirty="0">
                    <a:ea typeface="Noto Serif SC" panose="02020200000000000000" pitchFamily="18" charset="-122"/>
                  </a:rPr>
                  <a:t>片</a:t>
                </a:r>
                <a:r>
                  <a:rPr lang="en-US" altLang="zh-CN" sz="1700" b="1" dirty="0">
                    <a:ea typeface="Noto Serif SC" panose="02020200000000000000" pitchFamily="18" charset="-122"/>
                  </a:rPr>
                  <a:t>ROM</a:t>
                </a:r>
              </a:p>
              <a:p>
                <a:pPr>
                  <a:spcBef>
                    <a:spcPct val="50000"/>
                  </a:spcBef>
                </a:pPr>
                <a:r>
                  <a:rPr lang="zh-CN" altLang="en-US" sz="1700" b="1" dirty="0">
                    <a:ea typeface="Noto Serif SC" panose="02020200000000000000" pitchFamily="18" charset="-122"/>
                  </a:rPr>
                  <a:t>第</a:t>
                </a:r>
                <a:r>
                  <a:rPr lang="en-US" altLang="zh-CN" sz="1700" b="1" dirty="0">
                    <a:ea typeface="Noto Serif SC" panose="02020200000000000000" pitchFamily="18" charset="-122"/>
                  </a:rPr>
                  <a:t>5</a:t>
                </a:r>
                <a:r>
                  <a:rPr lang="zh-CN" altLang="en-US" sz="1700" b="1" dirty="0">
                    <a:ea typeface="Noto Serif SC" panose="02020200000000000000" pitchFamily="18" charset="-122"/>
                  </a:rPr>
                  <a:t>片</a:t>
                </a:r>
                <a:r>
                  <a:rPr lang="en-US" altLang="zh-CN" sz="1700" b="1" dirty="0">
                    <a:ea typeface="Noto Serif SC" panose="02020200000000000000" pitchFamily="18" charset="-122"/>
                  </a:rPr>
                  <a:t>ROM</a:t>
                </a:r>
              </a:p>
              <a:p>
                <a:pPr>
                  <a:spcBef>
                    <a:spcPct val="50000"/>
                  </a:spcBef>
                </a:pPr>
                <a:r>
                  <a:rPr lang="zh-CN" altLang="en-US" sz="1700" b="1" dirty="0">
                    <a:ea typeface="Noto Serif SC" panose="02020200000000000000" pitchFamily="18" charset="-122"/>
                  </a:rPr>
                  <a:t>第</a:t>
                </a:r>
                <a:r>
                  <a:rPr lang="en-US" altLang="zh-CN" sz="1700" b="1" dirty="0">
                    <a:ea typeface="Noto Serif SC" panose="02020200000000000000" pitchFamily="18" charset="-122"/>
                  </a:rPr>
                  <a:t>6</a:t>
                </a:r>
                <a:r>
                  <a:rPr lang="zh-CN" altLang="en-US" sz="1700" b="1" dirty="0">
                    <a:ea typeface="Noto Serif SC" panose="02020200000000000000" pitchFamily="18" charset="-122"/>
                  </a:rPr>
                  <a:t>片</a:t>
                </a:r>
                <a:r>
                  <a:rPr lang="en-US" altLang="zh-CN" sz="1700" b="1" dirty="0">
                    <a:ea typeface="Noto Serif SC" panose="02020200000000000000" pitchFamily="18" charset="-122"/>
                  </a:rPr>
                  <a:t>ROM</a:t>
                </a:r>
              </a:p>
              <a:p>
                <a:pPr>
                  <a:spcBef>
                    <a:spcPct val="50000"/>
                  </a:spcBef>
                </a:pPr>
                <a:r>
                  <a:rPr lang="zh-CN" altLang="en-US" sz="1700" b="1" dirty="0">
                    <a:ea typeface="Noto Serif SC" panose="02020200000000000000" pitchFamily="18" charset="-122"/>
                  </a:rPr>
                  <a:t>第</a:t>
                </a:r>
                <a:r>
                  <a:rPr lang="en-US" altLang="zh-CN" sz="1700" b="1" dirty="0">
                    <a:ea typeface="Noto Serif SC" panose="02020200000000000000" pitchFamily="18" charset="-122"/>
                  </a:rPr>
                  <a:t>7</a:t>
                </a:r>
                <a:r>
                  <a:rPr lang="zh-CN" altLang="en-US" sz="1700" b="1" dirty="0">
                    <a:ea typeface="Noto Serif SC" panose="02020200000000000000" pitchFamily="18" charset="-122"/>
                  </a:rPr>
                  <a:t>片</a:t>
                </a:r>
                <a:r>
                  <a:rPr lang="en-US" altLang="zh-CN" sz="1700" b="1" dirty="0">
                    <a:ea typeface="Noto Serif SC" panose="02020200000000000000" pitchFamily="18" charset="-122"/>
                  </a:rPr>
                  <a:t>ROM</a:t>
                </a:r>
              </a:p>
            </p:txBody>
          </p:sp>
          <p:sp>
            <p:nvSpPr>
              <p:cNvPr id="208920" name="Rectangle 24"/>
              <p:cNvSpPr>
                <a:spLocks noChangeArrowheads="1"/>
              </p:cNvSpPr>
              <p:nvPr/>
            </p:nvSpPr>
            <p:spPr bwMode="auto">
              <a:xfrm>
                <a:off x="912" y="2400"/>
                <a:ext cx="2400" cy="19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21" name="Line 25"/>
              <p:cNvSpPr>
                <a:spLocks noChangeShapeType="1"/>
              </p:cNvSpPr>
              <p:nvPr/>
            </p:nvSpPr>
            <p:spPr bwMode="auto">
              <a:xfrm>
                <a:off x="912" y="2640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22" name="Line 26"/>
              <p:cNvSpPr>
                <a:spLocks noChangeShapeType="1"/>
              </p:cNvSpPr>
              <p:nvPr/>
            </p:nvSpPr>
            <p:spPr bwMode="auto">
              <a:xfrm flipV="1">
                <a:off x="912" y="3120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23" name="Line 27"/>
              <p:cNvSpPr>
                <a:spLocks noChangeShapeType="1"/>
              </p:cNvSpPr>
              <p:nvPr/>
            </p:nvSpPr>
            <p:spPr bwMode="auto">
              <a:xfrm>
                <a:off x="912" y="3360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24" name="Line 28"/>
              <p:cNvSpPr>
                <a:spLocks noChangeShapeType="1"/>
              </p:cNvSpPr>
              <p:nvPr/>
            </p:nvSpPr>
            <p:spPr bwMode="auto">
              <a:xfrm>
                <a:off x="912" y="3600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25" name="Line 29"/>
              <p:cNvSpPr>
                <a:spLocks noChangeShapeType="1"/>
              </p:cNvSpPr>
              <p:nvPr/>
            </p:nvSpPr>
            <p:spPr bwMode="auto">
              <a:xfrm flipV="1">
                <a:off x="912" y="3840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26" name="Line 30"/>
              <p:cNvSpPr>
                <a:spLocks noChangeShapeType="1"/>
              </p:cNvSpPr>
              <p:nvPr/>
            </p:nvSpPr>
            <p:spPr bwMode="auto">
              <a:xfrm flipV="1">
                <a:off x="912" y="4080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27" name="Text Box 31"/>
              <p:cNvSpPr txBox="1">
                <a:spLocks noChangeArrowheads="1"/>
              </p:cNvSpPr>
              <p:nvPr/>
            </p:nvSpPr>
            <p:spPr bwMode="auto">
              <a:xfrm>
                <a:off x="912" y="2400"/>
                <a:ext cx="1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CC00FF"/>
                    </a:solidFill>
                    <a:ea typeface="Noto Serif SC" panose="02020200000000000000" pitchFamily="18" charset="-122"/>
                  </a:rPr>
                  <a:t>000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00000~</a:t>
                </a:r>
                <a:r>
                  <a:rPr lang="en-US" altLang="zh-CN" sz="1800" dirty="0">
                    <a:solidFill>
                      <a:srgbClr val="CC00FF"/>
                    </a:solidFill>
                    <a:ea typeface="Noto Serif SC" panose="02020200000000000000" pitchFamily="18" charset="-122"/>
                  </a:rPr>
                  <a:t>000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11111</a:t>
                </a:r>
              </a:p>
            </p:txBody>
          </p:sp>
          <p:sp>
            <p:nvSpPr>
              <p:cNvPr id="208928" name="Text Box 32"/>
              <p:cNvSpPr txBox="1">
                <a:spLocks noChangeArrowheads="1"/>
              </p:cNvSpPr>
              <p:nvPr/>
            </p:nvSpPr>
            <p:spPr bwMode="auto">
              <a:xfrm>
                <a:off x="912" y="2640"/>
                <a:ext cx="1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CC00FF"/>
                    </a:solidFill>
                    <a:ea typeface="Noto Serif SC" panose="02020200000000000000" pitchFamily="18" charset="-122"/>
                  </a:rPr>
                  <a:t>001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00000~</a:t>
                </a:r>
                <a:r>
                  <a:rPr lang="en-US" altLang="zh-CN" sz="1800" dirty="0">
                    <a:solidFill>
                      <a:srgbClr val="CC00FF"/>
                    </a:solidFill>
                    <a:ea typeface="Noto Serif SC" panose="02020200000000000000" pitchFamily="18" charset="-122"/>
                  </a:rPr>
                  <a:t>001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11111</a:t>
                </a:r>
              </a:p>
            </p:txBody>
          </p:sp>
          <p:sp>
            <p:nvSpPr>
              <p:cNvPr id="208929" name="Text Box 33"/>
              <p:cNvSpPr txBox="1">
                <a:spLocks noChangeArrowheads="1"/>
              </p:cNvSpPr>
              <p:nvPr/>
            </p:nvSpPr>
            <p:spPr bwMode="auto">
              <a:xfrm>
                <a:off x="912" y="2880"/>
                <a:ext cx="1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CC00FF"/>
                    </a:solidFill>
                    <a:ea typeface="Noto Serif SC" panose="02020200000000000000" pitchFamily="18" charset="-122"/>
                  </a:rPr>
                  <a:t>010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00000~</a:t>
                </a:r>
                <a:r>
                  <a:rPr lang="en-US" altLang="zh-CN" sz="1800" dirty="0">
                    <a:solidFill>
                      <a:srgbClr val="CC00FF"/>
                    </a:solidFill>
                    <a:ea typeface="Noto Serif SC" panose="02020200000000000000" pitchFamily="18" charset="-122"/>
                  </a:rPr>
                  <a:t>010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11111</a:t>
                </a:r>
              </a:p>
            </p:txBody>
          </p:sp>
          <p:sp>
            <p:nvSpPr>
              <p:cNvPr id="208930" name="Text Box 34"/>
              <p:cNvSpPr txBox="1">
                <a:spLocks noChangeArrowheads="1"/>
              </p:cNvSpPr>
              <p:nvPr/>
            </p:nvSpPr>
            <p:spPr bwMode="auto">
              <a:xfrm>
                <a:off x="912" y="3120"/>
                <a:ext cx="1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CC00FF"/>
                    </a:solidFill>
                    <a:ea typeface="Noto Serif SC" panose="02020200000000000000" pitchFamily="18" charset="-122"/>
                  </a:rPr>
                  <a:t>011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00000~</a:t>
                </a:r>
                <a:r>
                  <a:rPr lang="en-US" altLang="zh-CN" sz="1800" dirty="0">
                    <a:solidFill>
                      <a:srgbClr val="CC00FF"/>
                    </a:solidFill>
                    <a:ea typeface="Noto Serif SC" panose="02020200000000000000" pitchFamily="18" charset="-122"/>
                  </a:rPr>
                  <a:t>011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11111</a:t>
                </a:r>
              </a:p>
            </p:txBody>
          </p:sp>
          <p:sp>
            <p:nvSpPr>
              <p:cNvPr id="208931" name="Text Box 35"/>
              <p:cNvSpPr txBox="1">
                <a:spLocks noChangeArrowheads="1"/>
              </p:cNvSpPr>
              <p:nvPr/>
            </p:nvSpPr>
            <p:spPr bwMode="auto">
              <a:xfrm>
                <a:off x="912" y="3360"/>
                <a:ext cx="1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CC00FF"/>
                    </a:solidFill>
                    <a:ea typeface="Noto Serif SC" panose="02020200000000000000" pitchFamily="18" charset="-122"/>
                  </a:rPr>
                  <a:t>100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00000~</a:t>
                </a:r>
                <a:r>
                  <a:rPr lang="en-US" altLang="zh-CN" sz="1800" dirty="0">
                    <a:solidFill>
                      <a:srgbClr val="CC00FF"/>
                    </a:solidFill>
                    <a:ea typeface="Noto Serif SC" panose="02020200000000000000" pitchFamily="18" charset="-122"/>
                  </a:rPr>
                  <a:t>100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11111</a:t>
                </a:r>
              </a:p>
            </p:txBody>
          </p:sp>
          <p:sp>
            <p:nvSpPr>
              <p:cNvPr id="208932" name="Text Box 36"/>
              <p:cNvSpPr txBox="1">
                <a:spLocks noChangeArrowheads="1"/>
              </p:cNvSpPr>
              <p:nvPr/>
            </p:nvSpPr>
            <p:spPr bwMode="auto">
              <a:xfrm>
                <a:off x="912" y="3600"/>
                <a:ext cx="1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CC00FF"/>
                    </a:solidFill>
                    <a:ea typeface="Noto Serif SC" panose="02020200000000000000" pitchFamily="18" charset="-122"/>
                  </a:rPr>
                  <a:t>101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00000~</a:t>
                </a:r>
                <a:r>
                  <a:rPr lang="en-US" altLang="zh-CN" sz="1800" dirty="0">
                    <a:solidFill>
                      <a:srgbClr val="CC00FF"/>
                    </a:solidFill>
                    <a:ea typeface="Noto Serif SC" panose="02020200000000000000" pitchFamily="18" charset="-122"/>
                  </a:rPr>
                  <a:t>101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11111</a:t>
                </a:r>
              </a:p>
            </p:txBody>
          </p:sp>
          <p:sp>
            <p:nvSpPr>
              <p:cNvPr id="208933" name="Text Box 37"/>
              <p:cNvSpPr txBox="1">
                <a:spLocks noChangeArrowheads="1"/>
              </p:cNvSpPr>
              <p:nvPr/>
            </p:nvSpPr>
            <p:spPr bwMode="auto">
              <a:xfrm>
                <a:off x="912" y="3840"/>
                <a:ext cx="1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CC00FF"/>
                    </a:solidFill>
                    <a:ea typeface="Noto Serif SC" panose="02020200000000000000" pitchFamily="18" charset="-122"/>
                  </a:rPr>
                  <a:t>110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00000</a:t>
                </a:r>
                <a:r>
                  <a:rPr lang="en-US" altLang="zh-CN" sz="1800" dirty="0">
                    <a:solidFill>
                      <a:srgbClr val="CC00FF"/>
                    </a:solidFill>
                    <a:ea typeface="Noto Serif SC" panose="02020200000000000000" pitchFamily="18" charset="-122"/>
                  </a:rPr>
                  <a:t>~110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11111</a:t>
                </a:r>
              </a:p>
            </p:txBody>
          </p:sp>
          <p:sp>
            <p:nvSpPr>
              <p:cNvPr id="208934" name="Text Box 38"/>
              <p:cNvSpPr txBox="1">
                <a:spLocks noChangeArrowheads="1"/>
              </p:cNvSpPr>
              <p:nvPr/>
            </p:nvSpPr>
            <p:spPr bwMode="auto">
              <a:xfrm>
                <a:off x="912" y="4089"/>
                <a:ext cx="1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CC00FF"/>
                    </a:solidFill>
                    <a:ea typeface="Noto Serif SC" panose="02020200000000000000" pitchFamily="18" charset="-122"/>
                  </a:rPr>
                  <a:t>111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00000~</a:t>
                </a:r>
                <a:r>
                  <a:rPr lang="en-US" altLang="zh-CN" sz="1800" dirty="0">
                    <a:solidFill>
                      <a:srgbClr val="CC00FF"/>
                    </a:solidFill>
                    <a:ea typeface="Noto Serif SC" panose="02020200000000000000" pitchFamily="18" charset="-122"/>
                  </a:rPr>
                  <a:t>111</a:t>
                </a:r>
                <a:r>
                  <a:rPr lang="en-US" altLang="zh-CN" sz="1800" dirty="0">
                    <a:ea typeface="Noto Serif SC" panose="02020200000000000000" pitchFamily="18" charset="-122"/>
                  </a:rPr>
                  <a:t>11111</a:t>
                </a:r>
              </a:p>
            </p:txBody>
          </p:sp>
          <p:sp>
            <p:nvSpPr>
              <p:cNvPr id="208935" name="Line 39"/>
              <p:cNvSpPr>
                <a:spLocks noChangeShapeType="1"/>
              </p:cNvSpPr>
              <p:nvPr/>
            </p:nvSpPr>
            <p:spPr bwMode="auto">
              <a:xfrm>
                <a:off x="912" y="2880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36" name="Line 40"/>
              <p:cNvSpPr>
                <a:spLocks noChangeShapeType="1"/>
              </p:cNvSpPr>
              <p:nvPr/>
            </p:nvSpPr>
            <p:spPr bwMode="auto">
              <a:xfrm>
                <a:off x="912" y="3120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37" name="Line 41"/>
              <p:cNvSpPr>
                <a:spLocks noChangeShapeType="1"/>
              </p:cNvSpPr>
              <p:nvPr/>
            </p:nvSpPr>
            <p:spPr bwMode="auto">
              <a:xfrm>
                <a:off x="912" y="3360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38" name="Line 42"/>
              <p:cNvSpPr>
                <a:spLocks noChangeShapeType="1"/>
              </p:cNvSpPr>
              <p:nvPr/>
            </p:nvSpPr>
            <p:spPr bwMode="auto">
              <a:xfrm>
                <a:off x="912" y="3600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39" name="Line 43"/>
              <p:cNvSpPr>
                <a:spLocks noChangeShapeType="1"/>
              </p:cNvSpPr>
              <p:nvPr/>
            </p:nvSpPr>
            <p:spPr bwMode="auto">
              <a:xfrm>
                <a:off x="912" y="3840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40" name="Line 44"/>
              <p:cNvSpPr>
                <a:spLocks noChangeShapeType="1"/>
              </p:cNvSpPr>
              <p:nvPr/>
            </p:nvSpPr>
            <p:spPr bwMode="auto">
              <a:xfrm>
                <a:off x="912" y="4080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41" name="Text Box 45"/>
              <p:cNvSpPr txBox="1">
                <a:spLocks noChangeArrowheads="1"/>
              </p:cNvSpPr>
              <p:nvPr/>
            </p:nvSpPr>
            <p:spPr bwMode="auto">
              <a:xfrm>
                <a:off x="3792" y="2400"/>
                <a:ext cx="10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00000~11111</a:t>
                </a:r>
              </a:p>
            </p:txBody>
          </p:sp>
          <p:sp>
            <p:nvSpPr>
              <p:cNvPr id="208942" name="Text Box 46"/>
              <p:cNvSpPr txBox="1">
                <a:spLocks noChangeArrowheads="1"/>
              </p:cNvSpPr>
              <p:nvPr/>
            </p:nvSpPr>
            <p:spPr bwMode="auto">
              <a:xfrm>
                <a:off x="3792" y="2640"/>
                <a:ext cx="10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00000~11111</a:t>
                </a:r>
              </a:p>
            </p:txBody>
          </p:sp>
          <p:sp>
            <p:nvSpPr>
              <p:cNvPr id="208943" name="Text Box 47"/>
              <p:cNvSpPr txBox="1">
                <a:spLocks noChangeArrowheads="1"/>
              </p:cNvSpPr>
              <p:nvPr/>
            </p:nvSpPr>
            <p:spPr bwMode="auto">
              <a:xfrm>
                <a:off x="3792" y="2880"/>
                <a:ext cx="10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00000~11111</a:t>
                </a:r>
              </a:p>
            </p:txBody>
          </p:sp>
          <p:sp>
            <p:nvSpPr>
              <p:cNvPr id="208944" name="Text Box 48"/>
              <p:cNvSpPr txBox="1">
                <a:spLocks noChangeArrowheads="1"/>
              </p:cNvSpPr>
              <p:nvPr/>
            </p:nvSpPr>
            <p:spPr bwMode="auto">
              <a:xfrm>
                <a:off x="3792" y="3120"/>
                <a:ext cx="10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00000~11111</a:t>
                </a:r>
              </a:p>
            </p:txBody>
          </p:sp>
          <p:sp>
            <p:nvSpPr>
              <p:cNvPr id="208945" name="Text Box 49"/>
              <p:cNvSpPr txBox="1">
                <a:spLocks noChangeArrowheads="1"/>
              </p:cNvSpPr>
              <p:nvPr/>
            </p:nvSpPr>
            <p:spPr bwMode="auto">
              <a:xfrm>
                <a:off x="3792" y="3360"/>
                <a:ext cx="10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00000~11111</a:t>
                </a:r>
              </a:p>
            </p:txBody>
          </p:sp>
          <p:sp>
            <p:nvSpPr>
              <p:cNvPr id="208946" name="Text Box 50"/>
              <p:cNvSpPr txBox="1">
                <a:spLocks noChangeArrowheads="1"/>
              </p:cNvSpPr>
              <p:nvPr/>
            </p:nvSpPr>
            <p:spPr bwMode="auto">
              <a:xfrm>
                <a:off x="3792" y="3609"/>
                <a:ext cx="10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00000~11111</a:t>
                </a:r>
              </a:p>
            </p:txBody>
          </p:sp>
          <p:sp>
            <p:nvSpPr>
              <p:cNvPr id="208947" name="Text Box 51"/>
              <p:cNvSpPr txBox="1">
                <a:spLocks noChangeArrowheads="1"/>
              </p:cNvSpPr>
              <p:nvPr/>
            </p:nvSpPr>
            <p:spPr bwMode="auto">
              <a:xfrm>
                <a:off x="3792" y="3849"/>
                <a:ext cx="10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00000~11111</a:t>
                </a:r>
              </a:p>
            </p:txBody>
          </p:sp>
          <p:sp>
            <p:nvSpPr>
              <p:cNvPr id="208948" name="Text Box 52"/>
              <p:cNvSpPr txBox="1">
                <a:spLocks noChangeArrowheads="1"/>
              </p:cNvSpPr>
              <p:nvPr/>
            </p:nvSpPr>
            <p:spPr bwMode="auto">
              <a:xfrm>
                <a:off x="3792" y="4089"/>
                <a:ext cx="10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ea typeface="Noto Serif SC" panose="02020200000000000000" pitchFamily="18" charset="-122"/>
                  </a:rPr>
                  <a:t>00000~11111</a:t>
                </a:r>
              </a:p>
            </p:txBody>
          </p:sp>
          <p:sp>
            <p:nvSpPr>
              <p:cNvPr id="208949" name="Line 53"/>
              <p:cNvSpPr>
                <a:spLocks noChangeShapeType="1"/>
              </p:cNvSpPr>
              <p:nvPr/>
            </p:nvSpPr>
            <p:spPr bwMode="auto">
              <a:xfrm>
                <a:off x="3312" y="2496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50" name="Line 54"/>
              <p:cNvSpPr>
                <a:spLocks noChangeShapeType="1"/>
              </p:cNvSpPr>
              <p:nvPr/>
            </p:nvSpPr>
            <p:spPr bwMode="auto">
              <a:xfrm>
                <a:off x="3312" y="2736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51" name="Line 55"/>
              <p:cNvSpPr>
                <a:spLocks noChangeShapeType="1"/>
              </p:cNvSpPr>
              <p:nvPr/>
            </p:nvSpPr>
            <p:spPr bwMode="auto">
              <a:xfrm>
                <a:off x="3312" y="2976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52" name="Line 56"/>
              <p:cNvSpPr>
                <a:spLocks noChangeShapeType="1"/>
              </p:cNvSpPr>
              <p:nvPr/>
            </p:nvSpPr>
            <p:spPr bwMode="auto">
              <a:xfrm>
                <a:off x="3312" y="3216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53" name="Line 57"/>
              <p:cNvSpPr>
                <a:spLocks noChangeShapeType="1"/>
              </p:cNvSpPr>
              <p:nvPr/>
            </p:nvSpPr>
            <p:spPr bwMode="auto">
              <a:xfrm>
                <a:off x="3312" y="3504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54" name="Line 58"/>
              <p:cNvSpPr>
                <a:spLocks noChangeShapeType="1"/>
              </p:cNvSpPr>
              <p:nvPr/>
            </p:nvSpPr>
            <p:spPr bwMode="auto">
              <a:xfrm>
                <a:off x="3312" y="3744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55" name="Line 59"/>
              <p:cNvSpPr>
                <a:spLocks noChangeShapeType="1"/>
              </p:cNvSpPr>
              <p:nvPr/>
            </p:nvSpPr>
            <p:spPr bwMode="auto">
              <a:xfrm>
                <a:off x="3312" y="3984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956" name="Line 60"/>
              <p:cNvSpPr>
                <a:spLocks noChangeShapeType="1"/>
              </p:cNvSpPr>
              <p:nvPr/>
            </p:nvSpPr>
            <p:spPr bwMode="auto">
              <a:xfrm>
                <a:off x="3312" y="4224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08957" name="Text Box 61"/>
            <p:cNvSpPr txBox="1">
              <a:spLocks noChangeArrowheads="1"/>
            </p:cNvSpPr>
            <p:nvPr/>
          </p:nvSpPr>
          <p:spPr bwMode="auto">
            <a:xfrm>
              <a:off x="3168" y="2064"/>
              <a:ext cx="13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ROM</a:t>
              </a:r>
              <a:r>
                <a:rPr lang="zh-CN" altLang="en-US" sz="24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位址空間</a:t>
              </a:r>
            </a:p>
          </p:txBody>
        </p:sp>
        <p:sp>
          <p:nvSpPr>
            <p:cNvPr id="208958" name="Text Box 62"/>
            <p:cNvSpPr txBox="1">
              <a:spLocks noChangeArrowheads="1"/>
            </p:cNvSpPr>
            <p:nvPr/>
          </p:nvSpPr>
          <p:spPr bwMode="auto">
            <a:xfrm>
              <a:off x="624" y="2064"/>
              <a:ext cx="21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CPU</a:t>
              </a:r>
              <a:r>
                <a:rPr lang="zh-CN" altLang="en-US" sz="24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位址空間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21694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35</a:t>
            </a:r>
            <a:r>
              <a:rPr lang="zh-CN" altLang="en-US" sz="3600" dirty="0"/>
              <a:t>）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62AE-5586-4DC4-BA6F-749A843C228C}" type="slidenum">
              <a:rPr lang="en-US" altLang="zh-CN">
                <a:solidFill>
                  <a:schemeClr val="tx1"/>
                </a:solidFill>
              </a:rPr>
              <a:pPr/>
              <a:t>42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099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905000"/>
            <a:ext cx="8229600" cy="4724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dirty="0"/>
              <a:t>用解碼器完成位址分配</a:t>
            </a:r>
            <a:r>
              <a:rPr lang="zh-CN" altLang="en-US" sz="2400" b="1" dirty="0"/>
              <a:t>    </a:t>
            </a:r>
            <a:endParaRPr lang="zh-CN" altLang="en-US" sz="2800" b="1" dirty="0"/>
          </a:p>
          <a:p>
            <a:pPr>
              <a:lnSpc>
                <a:spcPct val="8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400" dirty="0"/>
              <a:t>    地址線有</a:t>
            </a:r>
            <a:r>
              <a:rPr lang="en-US" altLang="zh-CN" sz="2400" dirty="0"/>
              <a:t>10</a:t>
            </a:r>
            <a:r>
              <a:rPr lang="zh-CN" altLang="en-US" sz="2400" dirty="0"/>
              <a:t>位，可以表示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10</a:t>
            </a:r>
            <a:r>
              <a:rPr lang="zh-CN" altLang="en-US" sz="2400" dirty="0"/>
              <a:t>＝</a:t>
            </a:r>
            <a:r>
              <a:rPr lang="en-US" altLang="zh-CN" sz="2400" dirty="0"/>
              <a:t>1K</a:t>
            </a:r>
            <a:r>
              <a:rPr lang="zh-CN" altLang="en-US" sz="2400" dirty="0"/>
              <a:t>個位址空間；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    地</a:t>
            </a:r>
            <a:r>
              <a:rPr lang="zh-CN" altLang="en-US" sz="2400" b="1" dirty="0"/>
              <a:t>址線有</a:t>
            </a:r>
            <a:r>
              <a:rPr lang="en-US" altLang="zh-CN" sz="2400" b="1" dirty="0"/>
              <a:t>20</a:t>
            </a:r>
            <a:r>
              <a:rPr lang="zh-CN" altLang="en-US" sz="2400" b="1" dirty="0"/>
              <a:t>位，可以表示</a:t>
            </a:r>
            <a:r>
              <a:rPr lang="en-US" altLang="zh-CN" sz="2400" b="1" dirty="0"/>
              <a:t>2</a:t>
            </a:r>
            <a:r>
              <a:rPr lang="en-US" altLang="zh-CN" sz="2400" b="1" baseline="30000" dirty="0"/>
              <a:t>20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1M</a:t>
            </a:r>
            <a:r>
              <a:rPr lang="zh-CN" altLang="en-US" sz="2400" b="1" dirty="0"/>
              <a:t>個位址空間；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b="1" dirty="0"/>
              <a:t>    地址線有</a:t>
            </a:r>
            <a:r>
              <a:rPr lang="en-US" altLang="zh-CN" sz="2400" b="1" dirty="0"/>
              <a:t>30</a:t>
            </a:r>
            <a:r>
              <a:rPr lang="zh-CN" altLang="en-US" sz="2400" b="1" dirty="0"/>
              <a:t>位，可以表示</a:t>
            </a:r>
            <a:r>
              <a:rPr lang="en-US" altLang="zh-CN" sz="2400" b="1" dirty="0"/>
              <a:t>2</a:t>
            </a:r>
            <a:r>
              <a:rPr lang="en-US" altLang="zh-CN" sz="2400" b="1" baseline="30000" dirty="0"/>
              <a:t>30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1G</a:t>
            </a:r>
            <a:r>
              <a:rPr lang="zh-CN" altLang="en-US" sz="2400" b="1" dirty="0"/>
              <a:t>個位址空間；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b="1" dirty="0"/>
              <a:t>    </a:t>
            </a:r>
            <a:r>
              <a:rPr lang="en-US" altLang="zh-CN" sz="2400" b="1" dirty="0"/>
              <a:t>32</a:t>
            </a:r>
            <a:r>
              <a:rPr lang="zh-CN" altLang="en-US" sz="2400" b="1" dirty="0"/>
              <a:t>位位址可以表示</a:t>
            </a:r>
            <a:r>
              <a:rPr lang="en-US" altLang="zh-CN" sz="2400" b="1" dirty="0"/>
              <a:t>4G</a:t>
            </a:r>
            <a:r>
              <a:rPr lang="zh-CN" altLang="en-US" sz="2400" b="1" dirty="0"/>
              <a:t>地址；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b="1" dirty="0"/>
              <a:t>    </a:t>
            </a:r>
            <a:r>
              <a:rPr lang="en-US" altLang="zh-CN" sz="2400" b="1" dirty="0"/>
              <a:t>16M</a:t>
            </a:r>
            <a:r>
              <a:rPr lang="zh-CN" altLang="en-US" sz="2400" b="1" dirty="0"/>
              <a:t>記憶體需要</a:t>
            </a:r>
            <a:r>
              <a:rPr lang="en-US" altLang="zh-CN" sz="2400" b="1" dirty="0"/>
              <a:t>24</a:t>
            </a:r>
            <a:r>
              <a:rPr lang="zh-CN" altLang="en-US" sz="2400" b="1" dirty="0"/>
              <a:t>位地址。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baseline="30000" dirty="0"/>
              <a:t>    </a:t>
            </a:r>
          </a:p>
        </p:txBody>
      </p:sp>
      <p:sp>
        <p:nvSpPr>
          <p:cNvPr id="209924" name="Text Box 4"/>
          <p:cNvSpPr txBox="1">
            <a:spLocks noChangeArrowheads="1"/>
          </p:cNvSpPr>
          <p:nvPr/>
        </p:nvSpPr>
        <p:spPr bwMode="auto">
          <a:xfrm>
            <a:off x="6227763" y="4437063"/>
            <a:ext cx="2592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800" dirty="0">
              <a:ea typeface="Noto Serif SC" panose="020202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98557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36</a:t>
            </a:r>
            <a:r>
              <a:rPr lang="zh-CN" altLang="en-US" sz="3600" dirty="0"/>
              <a:t>）</a:t>
            </a:r>
          </a:p>
        </p:txBody>
      </p:sp>
      <p:sp>
        <p:nvSpPr>
          <p:cNvPr id="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F7D8D-6E74-4DE5-88BC-6DA9576E80E5}" type="slidenum">
              <a:rPr lang="en-US" altLang="zh-CN"/>
              <a:pPr/>
              <a:t>43</a:t>
            </a:fld>
            <a:endParaRPr lang="en-US" altLang="zh-CN" dirty="0"/>
          </a:p>
        </p:txBody>
      </p:sp>
      <p:sp>
        <p:nvSpPr>
          <p:cNvPr id="2109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zh-CN" altLang="en-US" b="1" dirty="0">
                <a:effectLst/>
              </a:rPr>
              <a:t>解碼器用作數據分配器（</a:t>
            </a:r>
            <a:r>
              <a:rPr lang="en-US" altLang="zh-CN" b="1" dirty="0">
                <a:effectLst/>
              </a:rPr>
              <a:t>Demultiplexer</a:t>
            </a:r>
            <a:r>
              <a:rPr lang="zh-CN" altLang="en-US" b="1" dirty="0">
                <a:effectLst/>
              </a:rPr>
              <a:t>）</a:t>
            </a:r>
            <a:endParaRPr lang="zh-CN" altLang="en-US" sz="2400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數據分配：將輸入資料在位址控制下連接到多個輸出通道</a:t>
            </a:r>
          </a:p>
        </p:txBody>
      </p:sp>
      <p:grpSp>
        <p:nvGrpSpPr>
          <p:cNvPr id="210968" name="Group 24"/>
          <p:cNvGrpSpPr>
            <a:grpSpLocks/>
          </p:cNvGrpSpPr>
          <p:nvPr/>
        </p:nvGrpSpPr>
        <p:grpSpPr bwMode="auto">
          <a:xfrm>
            <a:off x="6293026" y="3717032"/>
            <a:ext cx="1652588" cy="1960563"/>
            <a:chOff x="3648" y="2160"/>
            <a:chExt cx="1041" cy="1235"/>
          </a:xfrm>
        </p:grpSpPr>
        <p:grpSp>
          <p:nvGrpSpPr>
            <p:cNvPr id="210969" name="Group 25"/>
            <p:cNvGrpSpPr>
              <a:grpSpLocks/>
            </p:cNvGrpSpPr>
            <p:nvPr/>
          </p:nvGrpSpPr>
          <p:grpSpPr bwMode="auto">
            <a:xfrm>
              <a:off x="3648" y="2448"/>
              <a:ext cx="1041" cy="947"/>
              <a:chOff x="2208" y="2496"/>
              <a:chExt cx="1041" cy="947"/>
            </a:xfrm>
          </p:grpSpPr>
          <p:sp>
            <p:nvSpPr>
              <p:cNvPr id="210970" name="Rectangle 26"/>
              <p:cNvSpPr>
                <a:spLocks noChangeArrowheads="1"/>
              </p:cNvSpPr>
              <p:nvPr/>
            </p:nvSpPr>
            <p:spPr bwMode="auto">
              <a:xfrm>
                <a:off x="2208" y="2688"/>
                <a:ext cx="1008" cy="5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0971" name="Rectangle 27"/>
              <p:cNvSpPr>
                <a:spLocks noChangeArrowheads="1"/>
              </p:cNvSpPr>
              <p:nvPr/>
            </p:nvSpPr>
            <p:spPr bwMode="auto">
              <a:xfrm>
                <a:off x="2208" y="2976"/>
                <a:ext cx="33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210972" name="Rectangle 28"/>
              <p:cNvSpPr>
                <a:spLocks noChangeArrowheads="1"/>
              </p:cNvSpPr>
              <p:nvPr/>
            </p:nvSpPr>
            <p:spPr bwMode="auto">
              <a:xfrm>
                <a:off x="2452" y="2976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210973" name="Rectangle 29"/>
              <p:cNvSpPr>
                <a:spLocks noChangeArrowheads="1"/>
              </p:cNvSpPr>
              <p:nvPr/>
            </p:nvSpPr>
            <p:spPr bwMode="auto">
              <a:xfrm>
                <a:off x="2688" y="2976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210974" name="Rectangle 30"/>
              <p:cNvSpPr>
                <a:spLocks noChangeArrowheads="1"/>
              </p:cNvSpPr>
              <p:nvPr/>
            </p:nvSpPr>
            <p:spPr bwMode="auto">
              <a:xfrm>
                <a:off x="2928" y="2976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210975" name="Text Box 31"/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Symbol" pitchFamily="18" charset="2"/>
                    <a:ea typeface="Noto Serif SC" panose="02020200000000000000" pitchFamily="18" charset="-122"/>
                  </a:rPr>
                  <a:t>A</a:t>
                </a:r>
              </a:p>
            </p:txBody>
          </p:sp>
          <p:graphicFrame>
            <p:nvGraphicFramePr>
              <p:cNvPr id="210976" name="Object 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00016599"/>
                  </p:ext>
                </p:extLst>
              </p:nvPr>
            </p:nvGraphicFramePr>
            <p:xfrm>
              <a:off x="2844" y="2681"/>
              <a:ext cx="180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152280" imgH="215640" progId="Equation.3">
                      <p:embed/>
                    </p:oleObj>
                  </mc:Choice>
                  <mc:Fallback>
                    <p:oleObj name="公式" r:id="rId2" imgW="152280" imgH="215640" progId="Equation.3">
                      <p:embed/>
                      <p:pic>
                        <p:nvPicPr>
                          <p:cNvPr id="210976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44" y="2681"/>
                            <a:ext cx="180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0977" name="Line 33"/>
              <p:cNvSpPr>
                <a:spLocks noChangeShapeType="1"/>
              </p:cNvSpPr>
              <p:nvPr/>
            </p:nvSpPr>
            <p:spPr bwMode="auto">
              <a:xfrm>
                <a:off x="2304" y="3251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0978" name="Line 34"/>
              <p:cNvSpPr>
                <a:spLocks noChangeShapeType="1"/>
              </p:cNvSpPr>
              <p:nvPr/>
            </p:nvSpPr>
            <p:spPr bwMode="auto">
              <a:xfrm>
                <a:off x="2544" y="3251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0979" name="Line 35"/>
              <p:cNvSpPr>
                <a:spLocks noChangeShapeType="1"/>
              </p:cNvSpPr>
              <p:nvPr/>
            </p:nvSpPr>
            <p:spPr bwMode="auto">
              <a:xfrm>
                <a:off x="2784" y="3251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0980" name="Line 36"/>
              <p:cNvSpPr>
                <a:spLocks noChangeShapeType="1"/>
              </p:cNvSpPr>
              <p:nvPr/>
            </p:nvSpPr>
            <p:spPr bwMode="auto">
              <a:xfrm>
                <a:off x="3024" y="3251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0981" name="Text Box 37"/>
              <p:cNvSpPr txBox="1">
                <a:spLocks noChangeArrowheads="1"/>
              </p:cNvSpPr>
              <p:nvPr/>
            </p:nvSpPr>
            <p:spPr bwMode="auto">
              <a:xfrm>
                <a:off x="254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Symbol" pitchFamily="18" charset="2"/>
                    <a:ea typeface="Noto Serif SC" panose="02020200000000000000" pitchFamily="18" charset="-122"/>
                  </a:rPr>
                  <a:t>B</a:t>
                </a:r>
              </a:p>
            </p:txBody>
          </p:sp>
          <p:sp>
            <p:nvSpPr>
              <p:cNvPr id="210982" name="Line 38"/>
              <p:cNvSpPr>
                <a:spLocks noChangeShapeType="1"/>
              </p:cNvSpPr>
              <p:nvPr/>
            </p:nvSpPr>
            <p:spPr bwMode="auto">
              <a:xfrm>
                <a:off x="244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0983" name="Line 39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0984" name="Line 40"/>
              <p:cNvSpPr>
                <a:spLocks noChangeShapeType="1"/>
              </p:cNvSpPr>
              <p:nvPr/>
            </p:nvSpPr>
            <p:spPr bwMode="auto">
              <a:xfrm>
                <a:off x="292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10985" name="Rectangle 41"/>
            <p:cNvSpPr>
              <a:spLocks noChangeArrowheads="1"/>
            </p:cNvSpPr>
            <p:nvPr/>
          </p:nvSpPr>
          <p:spPr bwMode="auto">
            <a:xfrm>
              <a:off x="3744" y="216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itchFamily="18" charset="0"/>
                  <a:ea typeface="Noto Serif SC" panose="02020200000000000000" pitchFamily="18" charset="-122"/>
                </a:rPr>
                <a:t>C</a:t>
              </a:r>
              <a:r>
                <a:rPr lang="en-US" altLang="zh-CN" sz="2400" baseline="-25000" dirty="0">
                  <a:latin typeface="Times New Roman" pitchFamily="18" charset="0"/>
                  <a:ea typeface="Noto Serif SC" panose="02020200000000000000" pitchFamily="18" charset="-122"/>
                </a:rPr>
                <a:t>1</a:t>
              </a:r>
            </a:p>
          </p:txBody>
        </p:sp>
        <p:sp>
          <p:nvSpPr>
            <p:cNvPr id="210986" name="Rectangle 42"/>
            <p:cNvSpPr>
              <a:spLocks noChangeArrowheads="1"/>
            </p:cNvSpPr>
            <p:nvPr/>
          </p:nvSpPr>
          <p:spPr bwMode="auto">
            <a:xfrm>
              <a:off x="3984" y="216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itchFamily="18" charset="0"/>
                  <a:ea typeface="Noto Serif SC" panose="02020200000000000000" pitchFamily="18" charset="-122"/>
                </a:rPr>
                <a:t>C</a:t>
              </a:r>
              <a:r>
                <a:rPr lang="en-US" altLang="zh-CN" sz="2400" baseline="-25000" dirty="0">
                  <a:latin typeface="Times New Roman" pitchFamily="18" charset="0"/>
                  <a:ea typeface="Noto Serif SC" panose="02020200000000000000" pitchFamily="18" charset="-122"/>
                </a:rPr>
                <a:t>2</a:t>
              </a:r>
            </a:p>
          </p:txBody>
        </p:sp>
        <p:sp>
          <p:nvSpPr>
            <p:cNvPr id="210987" name="Rectangle 43"/>
            <p:cNvSpPr>
              <a:spLocks noChangeArrowheads="1"/>
            </p:cNvSpPr>
            <p:nvPr/>
          </p:nvSpPr>
          <p:spPr bwMode="auto">
            <a:xfrm>
              <a:off x="4204" y="2160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itchFamily="18" charset="0"/>
                  <a:ea typeface="Noto Serif SC" panose="02020200000000000000" pitchFamily="18" charset="-122"/>
                </a:rPr>
                <a:t>Din</a:t>
              </a:r>
            </a:p>
          </p:txBody>
        </p:sp>
      </p:grpSp>
      <p:graphicFrame>
        <p:nvGraphicFramePr>
          <p:cNvPr id="21094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322795"/>
              </p:ext>
            </p:extLst>
          </p:nvPr>
        </p:nvGraphicFramePr>
        <p:xfrm>
          <a:off x="1187624" y="3869431"/>
          <a:ext cx="3960813" cy="2286000"/>
        </p:xfrm>
        <a:graphic>
          <a:graphicData uri="http://schemas.openxmlformats.org/drawingml/2006/table">
            <a:tbl>
              <a:tblPr/>
              <a:tblGrid>
                <a:gridCol w="1633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Din  C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 C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Y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  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Y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  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Y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2  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Y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0/1   0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0/1    1    1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0/1   1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    0/1    1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0/1   0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    1    0/1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0/1   1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    1    1    0/1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1311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81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37</a:t>
            </a:r>
            <a:r>
              <a:rPr lang="zh-CN" altLang="en-US" sz="3600" dirty="0"/>
              <a:t>）</a:t>
            </a:r>
          </a:p>
        </p:txBody>
      </p:sp>
      <p:sp>
        <p:nvSpPr>
          <p:cNvPr id="15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413C-54BB-4693-AA45-DF5E9AC75B50}" type="slidenum">
              <a:rPr lang="en-US" altLang="zh-CN">
                <a:solidFill>
                  <a:schemeClr val="tx1"/>
                </a:solidFill>
              </a:rPr>
              <a:pPr/>
              <a:t>44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11970" name="Line 2"/>
          <p:cNvSpPr>
            <a:spLocks noChangeShapeType="1"/>
          </p:cNvSpPr>
          <p:nvPr/>
        </p:nvSpPr>
        <p:spPr bwMode="auto">
          <a:xfrm>
            <a:off x="44196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211971" name="Line 3"/>
          <p:cNvSpPr>
            <a:spLocks noChangeShapeType="1"/>
          </p:cNvSpPr>
          <p:nvPr/>
        </p:nvSpPr>
        <p:spPr bwMode="auto">
          <a:xfrm>
            <a:off x="48768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211972" name="Line 4"/>
          <p:cNvSpPr>
            <a:spLocks noChangeShapeType="1"/>
          </p:cNvSpPr>
          <p:nvPr/>
        </p:nvSpPr>
        <p:spPr bwMode="auto">
          <a:xfrm>
            <a:off x="54102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211973" name="Line 5"/>
          <p:cNvSpPr>
            <a:spLocks noChangeShapeType="1"/>
          </p:cNvSpPr>
          <p:nvPr/>
        </p:nvSpPr>
        <p:spPr bwMode="auto">
          <a:xfrm>
            <a:off x="57912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211974" name="Line 6"/>
          <p:cNvSpPr>
            <a:spLocks noChangeShapeType="1"/>
          </p:cNvSpPr>
          <p:nvPr/>
        </p:nvSpPr>
        <p:spPr bwMode="auto">
          <a:xfrm>
            <a:off x="62484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211975" name="Line 7"/>
          <p:cNvSpPr>
            <a:spLocks noChangeShapeType="1"/>
          </p:cNvSpPr>
          <p:nvPr/>
        </p:nvSpPr>
        <p:spPr bwMode="auto">
          <a:xfrm>
            <a:off x="66294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211976" name="Line 8"/>
          <p:cNvSpPr>
            <a:spLocks noChangeShapeType="1"/>
          </p:cNvSpPr>
          <p:nvPr/>
        </p:nvSpPr>
        <p:spPr bwMode="auto">
          <a:xfrm>
            <a:off x="68580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211977" name="Line 9"/>
          <p:cNvSpPr>
            <a:spLocks noChangeShapeType="1"/>
          </p:cNvSpPr>
          <p:nvPr/>
        </p:nvSpPr>
        <p:spPr bwMode="auto">
          <a:xfrm>
            <a:off x="73152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211978" name="Line 10"/>
          <p:cNvSpPr>
            <a:spLocks noChangeShapeType="1"/>
          </p:cNvSpPr>
          <p:nvPr/>
        </p:nvSpPr>
        <p:spPr bwMode="auto">
          <a:xfrm>
            <a:off x="75438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211979" name="Line 11"/>
          <p:cNvSpPr>
            <a:spLocks noChangeShapeType="1"/>
          </p:cNvSpPr>
          <p:nvPr/>
        </p:nvSpPr>
        <p:spPr bwMode="auto">
          <a:xfrm>
            <a:off x="78486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211980" name="Line 12"/>
          <p:cNvSpPr>
            <a:spLocks noChangeShapeType="1"/>
          </p:cNvSpPr>
          <p:nvPr/>
        </p:nvSpPr>
        <p:spPr bwMode="auto">
          <a:xfrm>
            <a:off x="83058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grpSp>
        <p:nvGrpSpPr>
          <p:cNvPr id="211982" name="Group 14"/>
          <p:cNvGrpSpPr>
            <a:grpSpLocks/>
          </p:cNvGrpSpPr>
          <p:nvPr/>
        </p:nvGrpSpPr>
        <p:grpSpPr bwMode="auto">
          <a:xfrm>
            <a:off x="762002" y="4419600"/>
            <a:ext cx="1652588" cy="1905000"/>
            <a:chOff x="3648" y="2160"/>
            <a:chExt cx="1041" cy="1200"/>
          </a:xfrm>
        </p:grpSpPr>
        <p:grpSp>
          <p:nvGrpSpPr>
            <p:cNvPr id="211983" name="Group 15"/>
            <p:cNvGrpSpPr>
              <a:grpSpLocks/>
            </p:cNvGrpSpPr>
            <p:nvPr/>
          </p:nvGrpSpPr>
          <p:grpSpPr bwMode="auto">
            <a:xfrm>
              <a:off x="3648" y="2448"/>
              <a:ext cx="1041" cy="912"/>
              <a:chOff x="2208" y="2496"/>
              <a:chExt cx="1041" cy="912"/>
            </a:xfrm>
          </p:grpSpPr>
          <p:sp>
            <p:nvSpPr>
              <p:cNvPr id="211984" name="Rectangle 16"/>
              <p:cNvSpPr>
                <a:spLocks noChangeArrowheads="1"/>
              </p:cNvSpPr>
              <p:nvPr/>
            </p:nvSpPr>
            <p:spPr bwMode="auto">
              <a:xfrm>
                <a:off x="2208" y="2688"/>
                <a:ext cx="100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1985" name="Rectangle 17"/>
              <p:cNvSpPr>
                <a:spLocks noChangeArrowheads="1"/>
              </p:cNvSpPr>
              <p:nvPr/>
            </p:nvSpPr>
            <p:spPr bwMode="auto">
              <a:xfrm>
                <a:off x="2208" y="2976"/>
                <a:ext cx="33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211986" name="Rectangle 18"/>
              <p:cNvSpPr>
                <a:spLocks noChangeArrowheads="1"/>
              </p:cNvSpPr>
              <p:nvPr/>
            </p:nvSpPr>
            <p:spPr bwMode="auto">
              <a:xfrm>
                <a:off x="2452" y="2976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211987" name="Rectangle 19"/>
              <p:cNvSpPr>
                <a:spLocks noChangeArrowheads="1"/>
              </p:cNvSpPr>
              <p:nvPr/>
            </p:nvSpPr>
            <p:spPr bwMode="auto">
              <a:xfrm>
                <a:off x="2688" y="2976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211988" name="Rectangle 20"/>
              <p:cNvSpPr>
                <a:spLocks noChangeArrowheads="1"/>
              </p:cNvSpPr>
              <p:nvPr/>
            </p:nvSpPr>
            <p:spPr bwMode="auto">
              <a:xfrm>
                <a:off x="2928" y="2976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Times New Roman" pitchFamily="18" charset="0"/>
                    <a:ea typeface="Noto Serif SC" panose="02020200000000000000" pitchFamily="18" charset="-122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211989" name="Text Box 21"/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Symbol" pitchFamily="18" charset="2"/>
                    <a:ea typeface="Noto Serif SC" panose="02020200000000000000" pitchFamily="18" charset="-122"/>
                  </a:rPr>
                  <a:t>A</a:t>
                </a:r>
              </a:p>
            </p:txBody>
          </p:sp>
          <p:graphicFrame>
            <p:nvGraphicFramePr>
              <p:cNvPr id="211990" name="Object 2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31168993"/>
                  </p:ext>
                </p:extLst>
              </p:nvPr>
            </p:nvGraphicFramePr>
            <p:xfrm>
              <a:off x="2844" y="2688"/>
              <a:ext cx="180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80" imgH="215640" progId="Equation.3">
                      <p:embed/>
                    </p:oleObj>
                  </mc:Choice>
                  <mc:Fallback>
                    <p:oleObj name="Equation" r:id="rId2" imgW="152280" imgH="215640" progId="Equation.3">
                      <p:embed/>
                      <p:pic>
                        <p:nvPicPr>
                          <p:cNvPr id="21199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44" y="2688"/>
                            <a:ext cx="180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1991" name="Line 23"/>
              <p:cNvSpPr>
                <a:spLocks noChangeShapeType="1"/>
              </p:cNvSpPr>
              <p:nvPr/>
            </p:nvSpPr>
            <p:spPr bwMode="auto">
              <a:xfrm>
                <a:off x="230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1992" name="Line 24"/>
              <p:cNvSpPr>
                <a:spLocks noChangeShapeType="1"/>
              </p:cNvSpPr>
              <p:nvPr/>
            </p:nvSpPr>
            <p:spPr bwMode="auto">
              <a:xfrm>
                <a:off x="254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1993" name="Line 25"/>
              <p:cNvSpPr>
                <a:spLocks noChangeShapeType="1"/>
              </p:cNvSpPr>
              <p:nvPr/>
            </p:nvSpPr>
            <p:spPr bwMode="auto">
              <a:xfrm>
                <a:off x="278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1994" name="Line 26"/>
              <p:cNvSpPr>
                <a:spLocks noChangeShapeType="1"/>
              </p:cNvSpPr>
              <p:nvPr/>
            </p:nvSpPr>
            <p:spPr bwMode="auto">
              <a:xfrm>
                <a:off x="302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1995" name="Text Box 27"/>
              <p:cNvSpPr txBox="1">
                <a:spLocks noChangeArrowheads="1"/>
              </p:cNvSpPr>
              <p:nvPr/>
            </p:nvSpPr>
            <p:spPr bwMode="auto">
              <a:xfrm>
                <a:off x="254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Symbol" pitchFamily="18" charset="2"/>
                    <a:ea typeface="Noto Serif SC" panose="02020200000000000000" pitchFamily="18" charset="-122"/>
                  </a:rPr>
                  <a:t>B</a:t>
                </a:r>
              </a:p>
            </p:txBody>
          </p:sp>
          <p:sp>
            <p:nvSpPr>
              <p:cNvPr id="211996" name="Line 28"/>
              <p:cNvSpPr>
                <a:spLocks noChangeShapeType="1"/>
              </p:cNvSpPr>
              <p:nvPr/>
            </p:nvSpPr>
            <p:spPr bwMode="auto">
              <a:xfrm>
                <a:off x="244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1997" name="Line 29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1998" name="Line 30"/>
              <p:cNvSpPr>
                <a:spLocks noChangeShapeType="1"/>
              </p:cNvSpPr>
              <p:nvPr/>
            </p:nvSpPr>
            <p:spPr bwMode="auto">
              <a:xfrm>
                <a:off x="292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11999" name="Rectangle 31"/>
            <p:cNvSpPr>
              <a:spLocks noChangeArrowheads="1"/>
            </p:cNvSpPr>
            <p:nvPr/>
          </p:nvSpPr>
          <p:spPr bwMode="auto">
            <a:xfrm>
              <a:off x="3744" y="216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itchFamily="18" charset="0"/>
                  <a:ea typeface="Noto Serif SC" panose="02020200000000000000" pitchFamily="18" charset="-122"/>
                </a:rPr>
                <a:t>C</a:t>
              </a:r>
              <a:r>
                <a:rPr lang="en-US" altLang="zh-CN" sz="2400" baseline="-25000" dirty="0">
                  <a:latin typeface="Times New Roman" pitchFamily="18" charset="0"/>
                  <a:ea typeface="Noto Serif SC" panose="02020200000000000000" pitchFamily="18" charset="-122"/>
                </a:rPr>
                <a:t>1</a:t>
              </a:r>
            </a:p>
          </p:txBody>
        </p:sp>
        <p:sp>
          <p:nvSpPr>
            <p:cNvPr id="212000" name="Rectangle 32"/>
            <p:cNvSpPr>
              <a:spLocks noChangeArrowheads="1"/>
            </p:cNvSpPr>
            <p:nvPr/>
          </p:nvSpPr>
          <p:spPr bwMode="auto">
            <a:xfrm>
              <a:off x="3984" y="216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itchFamily="18" charset="0"/>
                  <a:ea typeface="Noto Serif SC" panose="02020200000000000000" pitchFamily="18" charset="-122"/>
                </a:rPr>
                <a:t>C</a:t>
              </a:r>
              <a:r>
                <a:rPr lang="en-US" altLang="zh-CN" sz="2400" baseline="-25000" dirty="0">
                  <a:latin typeface="Times New Roman" pitchFamily="18" charset="0"/>
                  <a:ea typeface="Noto Serif SC" panose="02020200000000000000" pitchFamily="18" charset="-122"/>
                </a:rPr>
                <a:t>2</a:t>
              </a:r>
            </a:p>
          </p:txBody>
        </p:sp>
        <p:sp>
          <p:nvSpPr>
            <p:cNvPr id="212001" name="Rectangle 33"/>
            <p:cNvSpPr>
              <a:spLocks noChangeArrowheads="1"/>
            </p:cNvSpPr>
            <p:nvPr/>
          </p:nvSpPr>
          <p:spPr bwMode="auto">
            <a:xfrm>
              <a:off x="4204" y="2160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itchFamily="18" charset="0"/>
                  <a:ea typeface="Noto Serif SC" panose="02020200000000000000" pitchFamily="18" charset="-122"/>
                </a:rPr>
                <a:t>Din</a:t>
              </a:r>
            </a:p>
          </p:txBody>
        </p:sp>
      </p:grpSp>
      <p:grpSp>
        <p:nvGrpSpPr>
          <p:cNvPr id="212002" name="Group 34"/>
          <p:cNvGrpSpPr>
            <a:grpSpLocks/>
          </p:cNvGrpSpPr>
          <p:nvPr/>
        </p:nvGrpSpPr>
        <p:grpSpPr bwMode="auto">
          <a:xfrm>
            <a:off x="3397250" y="2514600"/>
            <a:ext cx="5365750" cy="685800"/>
            <a:chOff x="1996" y="1296"/>
            <a:chExt cx="3380" cy="432"/>
          </a:xfrm>
        </p:grpSpPr>
        <p:grpSp>
          <p:nvGrpSpPr>
            <p:cNvPr id="212003" name="Group 35"/>
            <p:cNvGrpSpPr>
              <a:grpSpLocks/>
            </p:cNvGrpSpPr>
            <p:nvPr/>
          </p:nvGrpSpPr>
          <p:grpSpPr bwMode="auto">
            <a:xfrm>
              <a:off x="2256" y="1296"/>
              <a:ext cx="3120" cy="288"/>
              <a:chOff x="2256" y="1296"/>
              <a:chExt cx="3120" cy="288"/>
            </a:xfrm>
          </p:grpSpPr>
          <p:sp>
            <p:nvSpPr>
              <p:cNvPr id="212004" name="Line 36"/>
              <p:cNvSpPr>
                <a:spLocks noChangeShapeType="1"/>
              </p:cNvSpPr>
              <p:nvPr/>
            </p:nvSpPr>
            <p:spPr bwMode="auto">
              <a:xfrm>
                <a:off x="2256" y="158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2005" name="Line 37"/>
              <p:cNvSpPr>
                <a:spLocks noChangeShapeType="1"/>
              </p:cNvSpPr>
              <p:nvPr/>
            </p:nvSpPr>
            <p:spPr bwMode="auto">
              <a:xfrm flipV="1">
                <a:off x="2640" y="129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2006" name="Line 38"/>
              <p:cNvSpPr>
                <a:spLocks noChangeShapeType="1"/>
              </p:cNvSpPr>
              <p:nvPr/>
            </p:nvSpPr>
            <p:spPr bwMode="auto">
              <a:xfrm>
                <a:off x="2640" y="1296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2007" name="Line 39"/>
              <p:cNvSpPr>
                <a:spLocks noChangeShapeType="1"/>
              </p:cNvSpPr>
              <p:nvPr/>
            </p:nvSpPr>
            <p:spPr bwMode="auto">
              <a:xfrm>
                <a:off x="3504" y="129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2008" name="Line 40"/>
              <p:cNvSpPr>
                <a:spLocks noChangeShapeType="1"/>
              </p:cNvSpPr>
              <p:nvPr/>
            </p:nvSpPr>
            <p:spPr bwMode="auto">
              <a:xfrm>
                <a:off x="3504" y="1584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2009" name="Line 41"/>
              <p:cNvSpPr>
                <a:spLocks noChangeShapeType="1"/>
              </p:cNvSpPr>
              <p:nvPr/>
            </p:nvSpPr>
            <p:spPr bwMode="auto">
              <a:xfrm flipV="1">
                <a:off x="4176" y="129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2010" name="Line 42"/>
              <p:cNvSpPr>
                <a:spLocks noChangeShapeType="1"/>
              </p:cNvSpPr>
              <p:nvPr/>
            </p:nvSpPr>
            <p:spPr bwMode="auto">
              <a:xfrm>
                <a:off x="4176" y="129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2011" name="Line 43"/>
              <p:cNvSpPr>
                <a:spLocks noChangeShapeType="1"/>
              </p:cNvSpPr>
              <p:nvPr/>
            </p:nvSpPr>
            <p:spPr bwMode="auto">
              <a:xfrm>
                <a:off x="4800" y="129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2012" name="Line 44"/>
              <p:cNvSpPr>
                <a:spLocks noChangeShapeType="1"/>
              </p:cNvSpPr>
              <p:nvPr/>
            </p:nvSpPr>
            <p:spPr bwMode="auto">
              <a:xfrm>
                <a:off x="4800" y="1584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12013" name="Rectangle 45"/>
            <p:cNvSpPr>
              <a:spLocks noChangeArrowheads="1"/>
            </p:cNvSpPr>
            <p:nvPr/>
          </p:nvSpPr>
          <p:spPr bwMode="auto">
            <a:xfrm>
              <a:off x="1996" y="144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itchFamily="18" charset="0"/>
                  <a:ea typeface="Noto Serif SC" panose="02020200000000000000" pitchFamily="18" charset="-122"/>
                </a:rPr>
                <a:t>C</a:t>
              </a:r>
              <a:r>
                <a:rPr lang="en-US" altLang="zh-CN" sz="2400" baseline="-25000" dirty="0">
                  <a:latin typeface="Times New Roman" pitchFamily="18" charset="0"/>
                  <a:ea typeface="Noto Serif SC" panose="02020200000000000000" pitchFamily="18" charset="-122"/>
                </a:rPr>
                <a:t>1</a:t>
              </a:r>
            </a:p>
          </p:txBody>
        </p:sp>
      </p:grpSp>
      <p:grpSp>
        <p:nvGrpSpPr>
          <p:cNvPr id="212014" name="Group 46"/>
          <p:cNvGrpSpPr>
            <a:grpSpLocks/>
          </p:cNvGrpSpPr>
          <p:nvPr/>
        </p:nvGrpSpPr>
        <p:grpSpPr bwMode="auto">
          <a:xfrm>
            <a:off x="3352800" y="3276600"/>
            <a:ext cx="5486400" cy="609600"/>
            <a:chOff x="1968" y="1632"/>
            <a:chExt cx="3456" cy="384"/>
          </a:xfrm>
        </p:grpSpPr>
        <p:sp>
          <p:nvSpPr>
            <p:cNvPr id="212015" name="Line 47"/>
            <p:cNvSpPr>
              <a:spLocks noChangeShapeType="1"/>
            </p:cNvSpPr>
            <p:nvPr/>
          </p:nvSpPr>
          <p:spPr bwMode="auto">
            <a:xfrm>
              <a:off x="2256" y="1920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12016" name="Line 48"/>
            <p:cNvSpPr>
              <a:spLocks noChangeShapeType="1"/>
            </p:cNvSpPr>
            <p:nvPr/>
          </p:nvSpPr>
          <p:spPr bwMode="auto">
            <a:xfrm flipV="1">
              <a:off x="2928" y="163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12017" name="Line 49"/>
            <p:cNvSpPr>
              <a:spLocks noChangeShapeType="1"/>
            </p:cNvSpPr>
            <p:nvPr/>
          </p:nvSpPr>
          <p:spPr bwMode="auto">
            <a:xfrm>
              <a:off x="2928" y="1632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12018" name="Line 50"/>
            <p:cNvSpPr>
              <a:spLocks noChangeShapeType="1"/>
            </p:cNvSpPr>
            <p:nvPr/>
          </p:nvSpPr>
          <p:spPr bwMode="auto">
            <a:xfrm>
              <a:off x="3792" y="163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12019" name="Line 51"/>
            <p:cNvSpPr>
              <a:spLocks noChangeShapeType="1"/>
            </p:cNvSpPr>
            <p:nvPr/>
          </p:nvSpPr>
          <p:spPr bwMode="auto">
            <a:xfrm>
              <a:off x="3792" y="1920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12020" name="Line 52"/>
            <p:cNvSpPr>
              <a:spLocks noChangeShapeType="1"/>
            </p:cNvSpPr>
            <p:nvPr/>
          </p:nvSpPr>
          <p:spPr bwMode="auto">
            <a:xfrm flipV="1">
              <a:off x="4464" y="163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12021" name="Line 53"/>
            <p:cNvSpPr>
              <a:spLocks noChangeShapeType="1"/>
            </p:cNvSpPr>
            <p:nvPr/>
          </p:nvSpPr>
          <p:spPr bwMode="auto">
            <a:xfrm>
              <a:off x="4464" y="163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12022" name="Line 54"/>
            <p:cNvSpPr>
              <a:spLocks noChangeShapeType="1"/>
            </p:cNvSpPr>
            <p:nvPr/>
          </p:nvSpPr>
          <p:spPr bwMode="auto">
            <a:xfrm>
              <a:off x="5088" y="163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12023" name="Line 55"/>
            <p:cNvSpPr>
              <a:spLocks noChangeShapeType="1"/>
            </p:cNvSpPr>
            <p:nvPr/>
          </p:nvSpPr>
          <p:spPr bwMode="auto">
            <a:xfrm>
              <a:off x="5088" y="192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12024" name="Rectangle 56"/>
            <p:cNvSpPr>
              <a:spLocks noChangeArrowheads="1"/>
            </p:cNvSpPr>
            <p:nvPr/>
          </p:nvSpPr>
          <p:spPr bwMode="auto">
            <a:xfrm>
              <a:off x="1968" y="172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itchFamily="18" charset="0"/>
                  <a:ea typeface="Noto Serif SC" panose="02020200000000000000" pitchFamily="18" charset="-122"/>
                </a:rPr>
                <a:t>C</a:t>
              </a:r>
              <a:r>
                <a:rPr lang="en-US" altLang="zh-CN" sz="2400" baseline="-25000" dirty="0">
                  <a:latin typeface="Times New Roman" pitchFamily="18" charset="0"/>
                  <a:ea typeface="Noto Serif SC" panose="02020200000000000000" pitchFamily="18" charset="-122"/>
                </a:rPr>
                <a:t>2</a:t>
              </a:r>
            </a:p>
          </p:txBody>
        </p:sp>
      </p:grpSp>
      <p:grpSp>
        <p:nvGrpSpPr>
          <p:cNvPr id="212025" name="Group 57"/>
          <p:cNvGrpSpPr>
            <a:grpSpLocks/>
          </p:cNvGrpSpPr>
          <p:nvPr/>
        </p:nvGrpSpPr>
        <p:grpSpPr bwMode="auto">
          <a:xfrm>
            <a:off x="3276600" y="1600200"/>
            <a:ext cx="5562600" cy="685800"/>
            <a:chOff x="1920" y="2016"/>
            <a:chExt cx="3504" cy="432"/>
          </a:xfrm>
        </p:grpSpPr>
        <p:grpSp>
          <p:nvGrpSpPr>
            <p:cNvPr id="212026" name="Group 58"/>
            <p:cNvGrpSpPr>
              <a:grpSpLocks/>
            </p:cNvGrpSpPr>
            <p:nvPr/>
          </p:nvGrpSpPr>
          <p:grpSpPr bwMode="auto">
            <a:xfrm>
              <a:off x="2304" y="2160"/>
              <a:ext cx="3120" cy="288"/>
              <a:chOff x="2304" y="2160"/>
              <a:chExt cx="3120" cy="288"/>
            </a:xfrm>
          </p:grpSpPr>
          <p:sp>
            <p:nvSpPr>
              <p:cNvPr id="212027" name="Line 59"/>
              <p:cNvSpPr>
                <a:spLocks noChangeShapeType="1"/>
              </p:cNvSpPr>
              <p:nvPr/>
            </p:nvSpPr>
            <p:spPr bwMode="auto">
              <a:xfrm>
                <a:off x="2304" y="2160"/>
                <a:ext cx="960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28" name="Line 60"/>
              <p:cNvSpPr>
                <a:spLocks noChangeShapeType="1"/>
              </p:cNvSpPr>
              <p:nvPr/>
            </p:nvSpPr>
            <p:spPr bwMode="auto">
              <a:xfrm>
                <a:off x="3264" y="2160"/>
                <a:ext cx="0" cy="288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29" name="Line 61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76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30" name="Line 62"/>
              <p:cNvSpPr>
                <a:spLocks noChangeShapeType="1"/>
              </p:cNvSpPr>
              <p:nvPr/>
            </p:nvSpPr>
            <p:spPr bwMode="auto">
              <a:xfrm flipV="1">
                <a:off x="4032" y="2160"/>
                <a:ext cx="0" cy="288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31" name="Line 63"/>
              <p:cNvSpPr>
                <a:spLocks noChangeShapeType="1"/>
              </p:cNvSpPr>
              <p:nvPr/>
            </p:nvSpPr>
            <p:spPr bwMode="auto">
              <a:xfrm>
                <a:off x="4032" y="2160"/>
                <a:ext cx="576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32" name="Line 64"/>
              <p:cNvSpPr>
                <a:spLocks noChangeShapeType="1"/>
              </p:cNvSpPr>
              <p:nvPr/>
            </p:nvSpPr>
            <p:spPr bwMode="auto">
              <a:xfrm>
                <a:off x="4608" y="2160"/>
                <a:ext cx="0" cy="288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33" name="Line 65"/>
              <p:cNvSpPr>
                <a:spLocks noChangeShapeType="1"/>
              </p:cNvSpPr>
              <p:nvPr/>
            </p:nvSpPr>
            <p:spPr bwMode="auto">
              <a:xfrm>
                <a:off x="4608" y="2448"/>
                <a:ext cx="816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2034" name="Rectangle 66"/>
            <p:cNvSpPr>
              <a:spLocks noChangeArrowheads="1"/>
            </p:cNvSpPr>
            <p:nvPr/>
          </p:nvSpPr>
          <p:spPr bwMode="auto">
            <a:xfrm>
              <a:off x="1920" y="2016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itchFamily="18" charset="0"/>
                  <a:ea typeface="Noto Serif SC" panose="02020200000000000000" pitchFamily="18" charset="-122"/>
                </a:rPr>
                <a:t>Din</a:t>
              </a:r>
            </a:p>
          </p:txBody>
        </p:sp>
      </p:grpSp>
      <p:grpSp>
        <p:nvGrpSpPr>
          <p:cNvPr id="212035" name="Group 67"/>
          <p:cNvGrpSpPr>
            <a:grpSpLocks/>
          </p:cNvGrpSpPr>
          <p:nvPr/>
        </p:nvGrpSpPr>
        <p:grpSpPr bwMode="auto">
          <a:xfrm>
            <a:off x="4419600" y="4724400"/>
            <a:ext cx="457200" cy="457200"/>
            <a:chOff x="2640" y="3024"/>
            <a:chExt cx="288" cy="288"/>
          </a:xfrm>
        </p:grpSpPr>
        <p:sp>
          <p:nvSpPr>
            <p:cNvPr id="212036" name="Rectangle 68"/>
            <p:cNvSpPr>
              <a:spLocks noChangeArrowheads="1"/>
            </p:cNvSpPr>
            <p:nvPr/>
          </p:nvSpPr>
          <p:spPr bwMode="auto">
            <a:xfrm>
              <a:off x="2688" y="30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 dirty="0">
                  <a:latin typeface="Symbol" pitchFamily="18" charset="2"/>
                  <a:ea typeface="Noto Serif SC" panose="02020200000000000000" pitchFamily="18" charset="-122"/>
                </a:rPr>
                <a:t>1</a:t>
              </a:r>
            </a:p>
          </p:txBody>
        </p:sp>
        <p:sp>
          <p:nvSpPr>
            <p:cNvPr id="212037" name="Line 69"/>
            <p:cNvSpPr>
              <a:spLocks noChangeShapeType="1"/>
            </p:cNvSpPr>
            <p:nvPr/>
          </p:nvSpPr>
          <p:spPr bwMode="auto">
            <a:xfrm>
              <a:off x="2640" y="3024"/>
              <a:ext cx="288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2038" name="Group 70"/>
          <p:cNvGrpSpPr>
            <a:grpSpLocks/>
          </p:cNvGrpSpPr>
          <p:nvPr/>
        </p:nvGrpSpPr>
        <p:grpSpPr bwMode="auto">
          <a:xfrm>
            <a:off x="5410200" y="5715000"/>
            <a:ext cx="381000" cy="457200"/>
            <a:chOff x="3264" y="3648"/>
            <a:chExt cx="240" cy="288"/>
          </a:xfrm>
        </p:grpSpPr>
        <p:sp>
          <p:nvSpPr>
            <p:cNvPr id="212039" name="Line 71"/>
            <p:cNvSpPr>
              <a:spLocks noChangeShapeType="1"/>
            </p:cNvSpPr>
            <p:nvPr/>
          </p:nvSpPr>
          <p:spPr bwMode="auto">
            <a:xfrm>
              <a:off x="3264" y="3936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212040" name="Group 72"/>
            <p:cNvGrpSpPr>
              <a:grpSpLocks/>
            </p:cNvGrpSpPr>
            <p:nvPr/>
          </p:nvGrpSpPr>
          <p:grpSpPr bwMode="auto">
            <a:xfrm>
              <a:off x="3264" y="3648"/>
              <a:ext cx="240" cy="288"/>
              <a:chOff x="3264" y="3648"/>
              <a:chExt cx="240" cy="288"/>
            </a:xfrm>
          </p:grpSpPr>
          <p:sp>
            <p:nvSpPr>
              <p:cNvPr id="212041" name="Rectangle 73"/>
              <p:cNvSpPr>
                <a:spLocks noChangeArrowheads="1"/>
              </p:cNvSpPr>
              <p:nvPr/>
            </p:nvSpPr>
            <p:spPr bwMode="auto">
              <a:xfrm>
                <a:off x="3264" y="364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Symbol" pitchFamily="18" charset="2"/>
                    <a:ea typeface="Noto Serif SC" panose="02020200000000000000" pitchFamily="18" charset="-122"/>
                  </a:rPr>
                  <a:t>0</a:t>
                </a:r>
              </a:p>
            </p:txBody>
          </p:sp>
          <p:sp>
            <p:nvSpPr>
              <p:cNvPr id="212043" name="Line 75"/>
              <p:cNvSpPr>
                <a:spLocks noChangeShapeType="1"/>
              </p:cNvSpPr>
              <p:nvPr/>
            </p:nvSpPr>
            <p:spPr bwMode="auto">
              <a:xfrm>
                <a:off x="3264" y="3936"/>
                <a:ext cx="240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12044" name="Group 76"/>
          <p:cNvGrpSpPr>
            <a:grpSpLocks/>
          </p:cNvGrpSpPr>
          <p:nvPr/>
        </p:nvGrpSpPr>
        <p:grpSpPr bwMode="auto">
          <a:xfrm>
            <a:off x="3398841" y="4038601"/>
            <a:ext cx="515938" cy="2198688"/>
            <a:chOff x="1997" y="2592"/>
            <a:chExt cx="325" cy="1385"/>
          </a:xfrm>
        </p:grpSpPr>
        <p:sp>
          <p:nvSpPr>
            <p:cNvPr id="212045" name="Rectangle 77"/>
            <p:cNvSpPr>
              <a:spLocks noChangeArrowheads="1"/>
            </p:cNvSpPr>
            <p:nvPr/>
          </p:nvSpPr>
          <p:spPr bwMode="auto">
            <a:xfrm>
              <a:off x="2001" y="259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12046" name="Rectangle 78"/>
            <p:cNvSpPr>
              <a:spLocks noChangeArrowheads="1"/>
            </p:cNvSpPr>
            <p:nvPr/>
          </p:nvSpPr>
          <p:spPr bwMode="auto">
            <a:xfrm>
              <a:off x="1997" y="2976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12047" name="Rectangle 79"/>
            <p:cNvSpPr>
              <a:spLocks noChangeArrowheads="1"/>
            </p:cNvSpPr>
            <p:nvPr/>
          </p:nvSpPr>
          <p:spPr bwMode="auto">
            <a:xfrm>
              <a:off x="1997" y="3686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212048" name="Rectangle 80"/>
            <p:cNvSpPr>
              <a:spLocks noChangeArrowheads="1"/>
            </p:cNvSpPr>
            <p:nvPr/>
          </p:nvSpPr>
          <p:spPr bwMode="auto">
            <a:xfrm>
              <a:off x="2001" y="331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2</a:t>
              </a:r>
            </a:p>
          </p:txBody>
        </p:sp>
      </p:grpSp>
      <p:grpSp>
        <p:nvGrpSpPr>
          <p:cNvPr id="212049" name="Group 81"/>
          <p:cNvGrpSpPr>
            <a:grpSpLocks/>
          </p:cNvGrpSpPr>
          <p:nvPr/>
        </p:nvGrpSpPr>
        <p:grpSpPr bwMode="auto">
          <a:xfrm>
            <a:off x="3810000" y="4191000"/>
            <a:ext cx="609600" cy="457200"/>
            <a:chOff x="2256" y="2688"/>
            <a:chExt cx="384" cy="288"/>
          </a:xfrm>
        </p:grpSpPr>
        <p:sp>
          <p:nvSpPr>
            <p:cNvPr id="212050" name="Line 82"/>
            <p:cNvSpPr>
              <a:spLocks noChangeShapeType="1"/>
            </p:cNvSpPr>
            <p:nvPr/>
          </p:nvSpPr>
          <p:spPr bwMode="auto">
            <a:xfrm>
              <a:off x="2256" y="2688"/>
              <a:ext cx="384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51" name="Rectangle 83"/>
            <p:cNvSpPr>
              <a:spLocks noChangeArrowheads="1"/>
            </p:cNvSpPr>
            <p:nvPr/>
          </p:nvSpPr>
          <p:spPr bwMode="auto">
            <a:xfrm>
              <a:off x="2325" y="268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Symbol" pitchFamily="18" charset="2"/>
                  <a:ea typeface="Noto Serif SC" panose="02020200000000000000" pitchFamily="18" charset="-122"/>
                </a:rPr>
                <a:t>1</a:t>
              </a:r>
            </a:p>
          </p:txBody>
        </p:sp>
      </p:grpSp>
      <p:grpSp>
        <p:nvGrpSpPr>
          <p:cNvPr id="212052" name="Group 84"/>
          <p:cNvGrpSpPr>
            <a:grpSpLocks/>
          </p:cNvGrpSpPr>
          <p:nvPr/>
        </p:nvGrpSpPr>
        <p:grpSpPr bwMode="auto">
          <a:xfrm>
            <a:off x="4876800" y="5715000"/>
            <a:ext cx="533400" cy="457200"/>
            <a:chOff x="2928" y="3648"/>
            <a:chExt cx="336" cy="288"/>
          </a:xfrm>
        </p:grpSpPr>
        <p:sp>
          <p:nvSpPr>
            <p:cNvPr id="212053" name="Line 85"/>
            <p:cNvSpPr>
              <a:spLocks noChangeShapeType="1"/>
            </p:cNvSpPr>
            <p:nvPr/>
          </p:nvSpPr>
          <p:spPr bwMode="auto">
            <a:xfrm>
              <a:off x="2928" y="3696"/>
              <a:ext cx="336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54" name="Rectangle 86"/>
            <p:cNvSpPr>
              <a:spLocks noChangeArrowheads="1"/>
            </p:cNvSpPr>
            <p:nvPr/>
          </p:nvSpPr>
          <p:spPr bwMode="auto">
            <a:xfrm>
              <a:off x="3004" y="36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Symbol" pitchFamily="18" charset="2"/>
                  <a:ea typeface="Noto Serif SC" panose="02020200000000000000" pitchFamily="18" charset="-122"/>
                </a:rPr>
                <a:t>1</a:t>
              </a:r>
            </a:p>
          </p:txBody>
        </p:sp>
      </p:grpSp>
      <p:grpSp>
        <p:nvGrpSpPr>
          <p:cNvPr id="212055" name="Group 87"/>
          <p:cNvGrpSpPr>
            <a:grpSpLocks/>
          </p:cNvGrpSpPr>
          <p:nvPr/>
        </p:nvGrpSpPr>
        <p:grpSpPr bwMode="auto">
          <a:xfrm>
            <a:off x="5791200" y="5105400"/>
            <a:ext cx="457200" cy="457200"/>
            <a:chOff x="3504" y="3264"/>
            <a:chExt cx="288" cy="288"/>
          </a:xfrm>
        </p:grpSpPr>
        <p:sp>
          <p:nvSpPr>
            <p:cNvPr id="212056" name="Line 88"/>
            <p:cNvSpPr>
              <a:spLocks noChangeShapeType="1"/>
            </p:cNvSpPr>
            <p:nvPr/>
          </p:nvSpPr>
          <p:spPr bwMode="auto">
            <a:xfrm>
              <a:off x="3504" y="3504"/>
              <a:ext cx="288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57" name="Rectangle 89"/>
            <p:cNvSpPr>
              <a:spLocks noChangeArrowheads="1"/>
            </p:cNvSpPr>
            <p:nvPr/>
          </p:nvSpPr>
          <p:spPr bwMode="auto">
            <a:xfrm>
              <a:off x="3552" y="32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Symbol" pitchFamily="18" charset="2"/>
                  <a:ea typeface="Noto Serif SC" panose="02020200000000000000" pitchFamily="18" charset="-122"/>
                </a:rPr>
                <a:t>0</a:t>
              </a:r>
            </a:p>
          </p:txBody>
        </p:sp>
      </p:grpSp>
      <p:grpSp>
        <p:nvGrpSpPr>
          <p:cNvPr id="212058" name="Group 90"/>
          <p:cNvGrpSpPr>
            <a:grpSpLocks/>
          </p:cNvGrpSpPr>
          <p:nvPr/>
        </p:nvGrpSpPr>
        <p:grpSpPr bwMode="auto">
          <a:xfrm>
            <a:off x="6248400" y="4114800"/>
            <a:ext cx="381000" cy="457200"/>
            <a:chOff x="3792" y="2640"/>
            <a:chExt cx="240" cy="288"/>
          </a:xfrm>
        </p:grpSpPr>
        <p:sp>
          <p:nvSpPr>
            <p:cNvPr id="212059" name="Line 91"/>
            <p:cNvSpPr>
              <a:spLocks noChangeShapeType="1"/>
            </p:cNvSpPr>
            <p:nvPr/>
          </p:nvSpPr>
          <p:spPr bwMode="auto">
            <a:xfrm>
              <a:off x="3792" y="2880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60" name="Rectangle 92"/>
            <p:cNvSpPr>
              <a:spLocks noChangeArrowheads="1"/>
            </p:cNvSpPr>
            <p:nvPr/>
          </p:nvSpPr>
          <p:spPr bwMode="auto">
            <a:xfrm>
              <a:off x="3820" y="264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Symbol" pitchFamily="18" charset="2"/>
                  <a:ea typeface="Noto Serif SC" panose="02020200000000000000" pitchFamily="18" charset="-122"/>
                </a:rPr>
                <a:t>0</a:t>
              </a:r>
            </a:p>
          </p:txBody>
        </p:sp>
      </p:grpSp>
      <p:grpSp>
        <p:nvGrpSpPr>
          <p:cNvPr id="212061" name="Group 93"/>
          <p:cNvGrpSpPr>
            <a:grpSpLocks/>
          </p:cNvGrpSpPr>
          <p:nvPr/>
        </p:nvGrpSpPr>
        <p:grpSpPr bwMode="auto">
          <a:xfrm>
            <a:off x="6553200" y="4114800"/>
            <a:ext cx="336550" cy="457200"/>
            <a:chOff x="3984" y="2640"/>
            <a:chExt cx="212" cy="288"/>
          </a:xfrm>
        </p:grpSpPr>
        <p:sp>
          <p:nvSpPr>
            <p:cNvPr id="212063" name="Line 95"/>
            <p:cNvSpPr>
              <a:spLocks noChangeShapeType="1"/>
            </p:cNvSpPr>
            <p:nvPr/>
          </p:nvSpPr>
          <p:spPr bwMode="auto">
            <a:xfrm>
              <a:off x="4032" y="2688"/>
              <a:ext cx="144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64" name="Rectangle 96"/>
            <p:cNvSpPr>
              <a:spLocks noChangeArrowheads="1"/>
            </p:cNvSpPr>
            <p:nvPr/>
          </p:nvSpPr>
          <p:spPr bwMode="auto">
            <a:xfrm>
              <a:off x="3984" y="264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Symbol" pitchFamily="18" charset="2"/>
                  <a:ea typeface="Noto Serif SC" panose="02020200000000000000" pitchFamily="18" charset="-122"/>
                </a:rPr>
                <a:t>1</a:t>
              </a:r>
            </a:p>
          </p:txBody>
        </p:sp>
      </p:grpSp>
      <p:grpSp>
        <p:nvGrpSpPr>
          <p:cNvPr id="212065" name="Group 97"/>
          <p:cNvGrpSpPr>
            <a:grpSpLocks/>
          </p:cNvGrpSpPr>
          <p:nvPr/>
        </p:nvGrpSpPr>
        <p:grpSpPr bwMode="auto">
          <a:xfrm>
            <a:off x="6858000" y="4648200"/>
            <a:ext cx="457200" cy="457200"/>
            <a:chOff x="4176" y="2976"/>
            <a:chExt cx="288" cy="288"/>
          </a:xfrm>
        </p:grpSpPr>
        <p:sp>
          <p:nvSpPr>
            <p:cNvPr id="212066" name="Line 98"/>
            <p:cNvSpPr>
              <a:spLocks noChangeShapeType="1"/>
            </p:cNvSpPr>
            <p:nvPr/>
          </p:nvSpPr>
          <p:spPr bwMode="auto">
            <a:xfrm>
              <a:off x="4176" y="3024"/>
              <a:ext cx="288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67" name="Rectangle 99"/>
            <p:cNvSpPr>
              <a:spLocks noChangeArrowheads="1"/>
            </p:cNvSpPr>
            <p:nvPr/>
          </p:nvSpPr>
          <p:spPr bwMode="auto">
            <a:xfrm>
              <a:off x="4204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Symbol" pitchFamily="18" charset="2"/>
                  <a:ea typeface="Noto Serif SC" panose="02020200000000000000" pitchFamily="18" charset="-122"/>
                </a:rPr>
                <a:t>1</a:t>
              </a:r>
            </a:p>
          </p:txBody>
        </p:sp>
      </p:grpSp>
      <p:grpSp>
        <p:nvGrpSpPr>
          <p:cNvPr id="212068" name="Group 100"/>
          <p:cNvGrpSpPr>
            <a:grpSpLocks/>
          </p:cNvGrpSpPr>
          <p:nvPr/>
        </p:nvGrpSpPr>
        <p:grpSpPr bwMode="auto">
          <a:xfrm>
            <a:off x="7239000" y="5715000"/>
            <a:ext cx="336550" cy="457200"/>
            <a:chOff x="4416" y="3648"/>
            <a:chExt cx="212" cy="288"/>
          </a:xfrm>
        </p:grpSpPr>
        <p:sp>
          <p:nvSpPr>
            <p:cNvPr id="212069" name="Line 101"/>
            <p:cNvSpPr>
              <a:spLocks noChangeShapeType="1"/>
            </p:cNvSpPr>
            <p:nvPr/>
          </p:nvSpPr>
          <p:spPr bwMode="auto">
            <a:xfrm>
              <a:off x="4464" y="3696"/>
              <a:ext cx="144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70" name="Rectangle 102"/>
            <p:cNvSpPr>
              <a:spLocks noChangeArrowheads="1"/>
            </p:cNvSpPr>
            <p:nvPr/>
          </p:nvSpPr>
          <p:spPr bwMode="auto">
            <a:xfrm>
              <a:off x="4416" y="36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Symbol" pitchFamily="18" charset="2"/>
                  <a:ea typeface="Noto Serif SC" panose="02020200000000000000" pitchFamily="18" charset="-122"/>
                </a:rPr>
                <a:t>1</a:t>
              </a:r>
            </a:p>
          </p:txBody>
        </p:sp>
      </p:grpSp>
      <p:grpSp>
        <p:nvGrpSpPr>
          <p:cNvPr id="212071" name="Group 103"/>
          <p:cNvGrpSpPr>
            <a:grpSpLocks/>
          </p:cNvGrpSpPr>
          <p:nvPr/>
        </p:nvGrpSpPr>
        <p:grpSpPr bwMode="auto">
          <a:xfrm>
            <a:off x="7543800" y="5715000"/>
            <a:ext cx="336550" cy="457200"/>
            <a:chOff x="4608" y="3648"/>
            <a:chExt cx="212" cy="288"/>
          </a:xfrm>
        </p:grpSpPr>
        <p:sp>
          <p:nvSpPr>
            <p:cNvPr id="212073" name="Line 105"/>
            <p:cNvSpPr>
              <a:spLocks noChangeShapeType="1"/>
            </p:cNvSpPr>
            <p:nvPr/>
          </p:nvSpPr>
          <p:spPr bwMode="auto">
            <a:xfrm>
              <a:off x="4608" y="3936"/>
              <a:ext cx="192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74" name="Rectangle 106"/>
            <p:cNvSpPr>
              <a:spLocks noChangeArrowheads="1"/>
            </p:cNvSpPr>
            <p:nvPr/>
          </p:nvSpPr>
          <p:spPr bwMode="auto">
            <a:xfrm>
              <a:off x="4608" y="36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Symbol" pitchFamily="18" charset="2"/>
                  <a:ea typeface="Noto Serif SC" panose="02020200000000000000" pitchFamily="18" charset="-122"/>
                </a:rPr>
                <a:t>0</a:t>
              </a:r>
            </a:p>
          </p:txBody>
        </p:sp>
      </p:grpSp>
      <p:grpSp>
        <p:nvGrpSpPr>
          <p:cNvPr id="212075" name="Group 107"/>
          <p:cNvGrpSpPr>
            <a:grpSpLocks/>
          </p:cNvGrpSpPr>
          <p:nvPr/>
        </p:nvGrpSpPr>
        <p:grpSpPr bwMode="auto">
          <a:xfrm>
            <a:off x="7848600" y="5105400"/>
            <a:ext cx="457200" cy="457200"/>
            <a:chOff x="4800" y="3264"/>
            <a:chExt cx="288" cy="288"/>
          </a:xfrm>
        </p:grpSpPr>
        <p:sp>
          <p:nvSpPr>
            <p:cNvPr id="212076" name="Line 108"/>
            <p:cNvSpPr>
              <a:spLocks noChangeShapeType="1"/>
            </p:cNvSpPr>
            <p:nvPr/>
          </p:nvSpPr>
          <p:spPr bwMode="auto">
            <a:xfrm>
              <a:off x="4800" y="3504"/>
              <a:ext cx="288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77" name="Rectangle 109"/>
            <p:cNvSpPr>
              <a:spLocks noChangeArrowheads="1"/>
            </p:cNvSpPr>
            <p:nvPr/>
          </p:nvSpPr>
          <p:spPr bwMode="auto">
            <a:xfrm>
              <a:off x="4848" y="32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Symbol" pitchFamily="18" charset="2"/>
                  <a:ea typeface="Noto Serif SC" panose="02020200000000000000" pitchFamily="18" charset="-122"/>
                </a:rPr>
                <a:t>0</a:t>
              </a:r>
            </a:p>
          </p:txBody>
        </p:sp>
      </p:grpSp>
      <p:grpSp>
        <p:nvGrpSpPr>
          <p:cNvPr id="212078" name="Group 110"/>
          <p:cNvGrpSpPr>
            <a:grpSpLocks/>
          </p:cNvGrpSpPr>
          <p:nvPr/>
        </p:nvGrpSpPr>
        <p:grpSpPr bwMode="auto">
          <a:xfrm>
            <a:off x="8305800" y="4114800"/>
            <a:ext cx="457200" cy="457200"/>
            <a:chOff x="5088" y="2640"/>
            <a:chExt cx="288" cy="288"/>
          </a:xfrm>
        </p:grpSpPr>
        <p:sp>
          <p:nvSpPr>
            <p:cNvPr id="212079" name="Line 111"/>
            <p:cNvSpPr>
              <a:spLocks noChangeShapeType="1"/>
            </p:cNvSpPr>
            <p:nvPr/>
          </p:nvSpPr>
          <p:spPr bwMode="auto">
            <a:xfrm>
              <a:off x="5088" y="2880"/>
              <a:ext cx="288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80" name="Rectangle 112"/>
            <p:cNvSpPr>
              <a:spLocks noChangeArrowheads="1"/>
            </p:cNvSpPr>
            <p:nvPr/>
          </p:nvSpPr>
          <p:spPr bwMode="auto">
            <a:xfrm>
              <a:off x="5164" y="264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Symbol" pitchFamily="18" charset="2"/>
                  <a:ea typeface="Noto Serif SC" panose="02020200000000000000" pitchFamily="18" charset="-122"/>
                </a:rPr>
                <a:t>0</a:t>
              </a:r>
            </a:p>
          </p:txBody>
        </p:sp>
      </p:grpSp>
      <p:grpSp>
        <p:nvGrpSpPr>
          <p:cNvPr id="212081" name="Group 113"/>
          <p:cNvGrpSpPr>
            <a:grpSpLocks/>
          </p:cNvGrpSpPr>
          <p:nvPr/>
        </p:nvGrpSpPr>
        <p:grpSpPr bwMode="auto">
          <a:xfrm>
            <a:off x="3862388" y="1196752"/>
            <a:ext cx="4929188" cy="477838"/>
            <a:chOff x="2289" y="902"/>
            <a:chExt cx="3105" cy="301"/>
          </a:xfrm>
        </p:grpSpPr>
        <p:sp>
          <p:nvSpPr>
            <p:cNvPr id="212082" name="Rectangle 114"/>
            <p:cNvSpPr>
              <a:spLocks noChangeArrowheads="1"/>
            </p:cNvSpPr>
            <p:nvPr/>
          </p:nvSpPr>
          <p:spPr bwMode="auto">
            <a:xfrm>
              <a:off x="2289" y="90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12083" name="Rectangle 115"/>
            <p:cNvSpPr>
              <a:spLocks noChangeArrowheads="1"/>
            </p:cNvSpPr>
            <p:nvPr/>
          </p:nvSpPr>
          <p:spPr bwMode="auto">
            <a:xfrm>
              <a:off x="2625" y="91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12084" name="Rectangle 116"/>
            <p:cNvSpPr>
              <a:spLocks noChangeArrowheads="1"/>
            </p:cNvSpPr>
            <p:nvPr/>
          </p:nvSpPr>
          <p:spPr bwMode="auto">
            <a:xfrm>
              <a:off x="3057" y="91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212085" name="Rectangle 117"/>
            <p:cNvSpPr>
              <a:spLocks noChangeArrowheads="1"/>
            </p:cNvSpPr>
            <p:nvPr/>
          </p:nvSpPr>
          <p:spPr bwMode="auto">
            <a:xfrm>
              <a:off x="3489" y="91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12086" name="Rectangle 118"/>
            <p:cNvSpPr>
              <a:spLocks noChangeArrowheads="1"/>
            </p:cNvSpPr>
            <p:nvPr/>
          </p:nvSpPr>
          <p:spPr bwMode="auto">
            <a:xfrm>
              <a:off x="3777" y="91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12087" name="Rectangle 119"/>
            <p:cNvSpPr>
              <a:spLocks noChangeArrowheads="1"/>
            </p:cNvSpPr>
            <p:nvPr/>
          </p:nvSpPr>
          <p:spPr bwMode="auto">
            <a:xfrm>
              <a:off x="4161" y="91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12088" name="Rectangle 120"/>
            <p:cNvSpPr>
              <a:spLocks noChangeArrowheads="1"/>
            </p:cNvSpPr>
            <p:nvPr/>
          </p:nvSpPr>
          <p:spPr bwMode="auto">
            <a:xfrm>
              <a:off x="4445" y="91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212089" name="Rectangle 121"/>
            <p:cNvSpPr>
              <a:spLocks noChangeArrowheads="1"/>
            </p:cNvSpPr>
            <p:nvPr/>
          </p:nvSpPr>
          <p:spPr bwMode="auto">
            <a:xfrm>
              <a:off x="4785" y="91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12090" name="Rectangle 122"/>
            <p:cNvSpPr>
              <a:spLocks noChangeArrowheads="1"/>
            </p:cNvSpPr>
            <p:nvPr/>
          </p:nvSpPr>
          <p:spPr bwMode="auto">
            <a:xfrm>
              <a:off x="5073" y="91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212091" name="Group 123"/>
          <p:cNvGrpSpPr>
            <a:grpSpLocks/>
          </p:cNvGrpSpPr>
          <p:nvPr/>
        </p:nvGrpSpPr>
        <p:grpSpPr bwMode="auto">
          <a:xfrm>
            <a:off x="4419600" y="1447800"/>
            <a:ext cx="3886200" cy="762000"/>
            <a:chOff x="2640" y="912"/>
            <a:chExt cx="2448" cy="480"/>
          </a:xfrm>
        </p:grpSpPr>
        <p:sp>
          <p:nvSpPr>
            <p:cNvPr id="212092" name="Line 124"/>
            <p:cNvSpPr>
              <a:spLocks noChangeShapeType="1"/>
            </p:cNvSpPr>
            <p:nvPr/>
          </p:nvSpPr>
          <p:spPr bwMode="auto">
            <a:xfrm>
              <a:off x="2640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12093" name="Line 125"/>
            <p:cNvSpPr>
              <a:spLocks noChangeShapeType="1"/>
            </p:cNvSpPr>
            <p:nvPr/>
          </p:nvSpPr>
          <p:spPr bwMode="auto">
            <a:xfrm>
              <a:off x="2928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12094" name="Line 126"/>
            <p:cNvSpPr>
              <a:spLocks noChangeShapeType="1"/>
            </p:cNvSpPr>
            <p:nvPr/>
          </p:nvSpPr>
          <p:spPr bwMode="auto">
            <a:xfrm>
              <a:off x="3504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12095" name="Line 127"/>
            <p:cNvSpPr>
              <a:spLocks noChangeShapeType="1"/>
            </p:cNvSpPr>
            <p:nvPr/>
          </p:nvSpPr>
          <p:spPr bwMode="auto">
            <a:xfrm>
              <a:off x="3792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12096" name="Line 128"/>
            <p:cNvSpPr>
              <a:spLocks noChangeShapeType="1"/>
            </p:cNvSpPr>
            <p:nvPr/>
          </p:nvSpPr>
          <p:spPr bwMode="auto">
            <a:xfrm>
              <a:off x="4032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12097" name="Line 129"/>
            <p:cNvSpPr>
              <a:spLocks noChangeShapeType="1"/>
            </p:cNvSpPr>
            <p:nvPr/>
          </p:nvSpPr>
          <p:spPr bwMode="auto">
            <a:xfrm>
              <a:off x="4464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12098" name="Line 130"/>
            <p:cNvSpPr>
              <a:spLocks noChangeShapeType="1"/>
            </p:cNvSpPr>
            <p:nvPr/>
          </p:nvSpPr>
          <p:spPr bwMode="auto">
            <a:xfrm>
              <a:off x="4800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12099" name="Line 131"/>
            <p:cNvSpPr>
              <a:spLocks noChangeShapeType="1"/>
            </p:cNvSpPr>
            <p:nvPr/>
          </p:nvSpPr>
          <p:spPr bwMode="auto">
            <a:xfrm>
              <a:off x="5088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aphicFrame>
        <p:nvGraphicFramePr>
          <p:cNvPr id="212122" name="Group 1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455288"/>
              </p:ext>
            </p:extLst>
          </p:nvPr>
        </p:nvGraphicFramePr>
        <p:xfrm>
          <a:off x="228600" y="2057400"/>
          <a:ext cx="3124200" cy="2026285"/>
        </p:xfrm>
        <a:graphic>
          <a:graphicData uri="http://schemas.openxmlformats.org/drawingml/2006/table">
            <a:tbl>
              <a:tblPr/>
              <a:tblGrid>
                <a:gridCol w="128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Din  C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 C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2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Y</a:t>
                      </a:r>
                      <a:r>
                        <a:rPr kumimoji="0" lang="en-US" altLang="zh-CN" sz="20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Y</a:t>
                      </a:r>
                      <a:r>
                        <a:rPr kumimoji="0" lang="en-US" altLang="zh-CN" sz="20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Y</a:t>
                      </a:r>
                      <a:r>
                        <a:rPr kumimoji="0" lang="en-US" altLang="zh-CN" sz="20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2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Y</a:t>
                      </a:r>
                      <a:r>
                        <a:rPr kumimoji="0" lang="en-US" altLang="zh-CN" sz="20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3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0/1   0    0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0/1    1    1    1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0/1   1    0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    0/1    1    1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0/1   0    1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    1    0/1    1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0/1   1    1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    1    1    0/1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80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1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120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21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212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21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21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1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21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21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1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500"/>
                                        <p:tgtEl>
                                          <p:spTgt spid="21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1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500"/>
                                        <p:tgtEl>
                                          <p:spTgt spid="21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1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4" dur="500"/>
                                        <p:tgtEl>
                                          <p:spTgt spid="21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21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4" dur="500"/>
                                        <p:tgtEl>
                                          <p:spTgt spid="21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21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4" dur="500"/>
                                        <p:tgtEl>
                                          <p:spTgt spid="21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21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4" dur="500"/>
                                        <p:tgtEl>
                                          <p:spTgt spid="21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21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4" dur="500"/>
                                        <p:tgtEl>
                                          <p:spTgt spid="21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212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212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0" grpId="0" animBg="1"/>
      <p:bldP spid="211971" grpId="0" animBg="1"/>
      <p:bldP spid="211972" grpId="0" animBg="1"/>
      <p:bldP spid="211973" grpId="0" animBg="1"/>
      <p:bldP spid="211974" grpId="0" animBg="1"/>
      <p:bldP spid="211975" grpId="0" animBg="1"/>
      <p:bldP spid="211976" grpId="0" animBg="1"/>
      <p:bldP spid="211977" grpId="0" animBg="1"/>
      <p:bldP spid="211978" grpId="0" animBg="1"/>
      <p:bldP spid="211979" grpId="0" animBg="1"/>
      <p:bldP spid="21198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382000" cy="52705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39</a:t>
            </a:r>
            <a:r>
              <a:rPr lang="zh-CN" altLang="en-US" sz="3600" dirty="0"/>
              <a:t>）</a:t>
            </a:r>
          </a:p>
        </p:txBody>
      </p:sp>
      <p:sp>
        <p:nvSpPr>
          <p:cNvPr id="4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2286-5623-44D8-82BE-DA96173E9EB3}" type="slidenum">
              <a:rPr lang="en-US" altLang="zh-CN"/>
              <a:pPr/>
              <a:t>45</a:t>
            </a:fld>
            <a:endParaRPr lang="en-US" altLang="zh-CN" dirty="0"/>
          </a:p>
        </p:txBody>
      </p:sp>
      <p:sp>
        <p:nvSpPr>
          <p:cNvPr id="298001" name="Text Box 17"/>
          <p:cNvSpPr txBox="1">
            <a:spLocks noChangeArrowheads="1"/>
          </p:cNvSpPr>
          <p:nvPr/>
        </p:nvSpPr>
        <p:spPr bwMode="auto">
          <a:xfrm>
            <a:off x="1295400" y="3352800"/>
            <a:ext cx="35814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4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－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16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解碼器邏輯示意圖</a:t>
            </a: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D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為最高位，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A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為最低位</a:t>
            </a:r>
          </a:p>
        </p:txBody>
      </p:sp>
      <p:sp>
        <p:nvSpPr>
          <p:cNvPr id="298012" name="Rectangle 28"/>
          <p:cNvSpPr>
            <a:spLocks noChangeArrowheads="1"/>
          </p:cNvSpPr>
          <p:nvPr/>
        </p:nvSpPr>
        <p:spPr bwMode="auto">
          <a:xfrm>
            <a:off x="533400" y="11430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en-US" altLang="zh-CN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4-16</a:t>
            </a: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</a:t>
            </a:r>
          </a:p>
          <a:p>
            <a:pPr marL="742950" lvl="1" indent="-285750"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定義：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4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－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16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解碼器是指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4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輸入－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16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輸出的變數解碼器。</a:t>
            </a:r>
          </a:p>
          <a:p>
            <a:pPr marL="742950" lvl="1" indent="-285750"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邏輯示意圖</a:t>
            </a:r>
          </a:p>
        </p:txBody>
      </p:sp>
      <p:grpSp>
        <p:nvGrpSpPr>
          <p:cNvPr id="298047" name="Group 63"/>
          <p:cNvGrpSpPr>
            <a:grpSpLocks/>
          </p:cNvGrpSpPr>
          <p:nvPr/>
        </p:nvGrpSpPr>
        <p:grpSpPr bwMode="auto">
          <a:xfrm>
            <a:off x="5220072" y="2514600"/>
            <a:ext cx="1646237" cy="3810000"/>
            <a:chOff x="3331" y="1584"/>
            <a:chExt cx="1037" cy="2400"/>
          </a:xfrm>
        </p:grpSpPr>
        <p:sp>
          <p:nvSpPr>
            <p:cNvPr id="297988" name="Rectangle 4"/>
            <p:cNvSpPr>
              <a:spLocks noChangeArrowheads="1"/>
            </p:cNvSpPr>
            <p:nvPr/>
          </p:nvSpPr>
          <p:spPr bwMode="auto">
            <a:xfrm>
              <a:off x="3514" y="1584"/>
              <a:ext cx="672" cy="2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7989" name="Line 5"/>
            <p:cNvSpPr>
              <a:spLocks noChangeShapeType="1"/>
            </p:cNvSpPr>
            <p:nvPr/>
          </p:nvSpPr>
          <p:spPr bwMode="auto">
            <a:xfrm>
              <a:off x="3331" y="2155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7990" name="Line 6"/>
            <p:cNvSpPr>
              <a:spLocks noChangeShapeType="1"/>
            </p:cNvSpPr>
            <p:nvPr/>
          </p:nvSpPr>
          <p:spPr bwMode="auto">
            <a:xfrm>
              <a:off x="4186" y="168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7991" name="Line 7"/>
            <p:cNvSpPr>
              <a:spLocks noChangeShapeType="1"/>
            </p:cNvSpPr>
            <p:nvPr/>
          </p:nvSpPr>
          <p:spPr bwMode="auto">
            <a:xfrm>
              <a:off x="4186" y="182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7992" name="Line 8"/>
            <p:cNvSpPr>
              <a:spLocks noChangeShapeType="1"/>
            </p:cNvSpPr>
            <p:nvPr/>
          </p:nvSpPr>
          <p:spPr bwMode="auto">
            <a:xfrm>
              <a:off x="4186" y="196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7993" name="Line 9"/>
            <p:cNvSpPr>
              <a:spLocks noChangeShapeType="1"/>
            </p:cNvSpPr>
            <p:nvPr/>
          </p:nvSpPr>
          <p:spPr bwMode="auto">
            <a:xfrm>
              <a:off x="4186" y="2112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7994" name="Rectangle 10"/>
            <p:cNvSpPr>
              <a:spLocks noChangeArrowheads="1"/>
            </p:cNvSpPr>
            <p:nvPr/>
          </p:nvSpPr>
          <p:spPr bwMode="auto">
            <a:xfrm>
              <a:off x="3936" y="1584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97995" name="Line 11"/>
            <p:cNvSpPr>
              <a:spLocks noChangeShapeType="1"/>
            </p:cNvSpPr>
            <p:nvPr/>
          </p:nvSpPr>
          <p:spPr bwMode="auto">
            <a:xfrm>
              <a:off x="3332" y="2563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7996" name="Rectangle 12"/>
            <p:cNvSpPr>
              <a:spLocks noChangeArrowheads="1"/>
            </p:cNvSpPr>
            <p:nvPr/>
          </p:nvSpPr>
          <p:spPr bwMode="auto">
            <a:xfrm>
              <a:off x="3936" y="172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97997" name="Rectangle 13"/>
            <p:cNvSpPr>
              <a:spLocks noChangeArrowheads="1"/>
            </p:cNvSpPr>
            <p:nvPr/>
          </p:nvSpPr>
          <p:spPr bwMode="auto">
            <a:xfrm>
              <a:off x="3936" y="1872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97998" name="Rectangle 14"/>
            <p:cNvSpPr>
              <a:spLocks noChangeArrowheads="1"/>
            </p:cNvSpPr>
            <p:nvPr/>
          </p:nvSpPr>
          <p:spPr bwMode="auto">
            <a:xfrm>
              <a:off x="3936" y="2160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4</a:t>
              </a:r>
            </a:p>
          </p:txBody>
        </p:sp>
        <p:sp>
          <p:nvSpPr>
            <p:cNvPr id="297999" name="Text Box 15"/>
            <p:cNvSpPr txBox="1">
              <a:spLocks noChangeArrowheads="1"/>
            </p:cNvSpPr>
            <p:nvPr/>
          </p:nvSpPr>
          <p:spPr bwMode="auto">
            <a:xfrm>
              <a:off x="3514" y="2064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ea typeface="Noto Serif SC" panose="02020200000000000000" pitchFamily="18" charset="-122"/>
                </a:rPr>
                <a:t>A</a:t>
              </a:r>
            </a:p>
          </p:txBody>
        </p:sp>
        <p:sp>
          <p:nvSpPr>
            <p:cNvPr id="298000" name="Text Box 16"/>
            <p:cNvSpPr txBox="1">
              <a:spLocks noChangeArrowheads="1"/>
            </p:cNvSpPr>
            <p:nvPr/>
          </p:nvSpPr>
          <p:spPr bwMode="auto">
            <a:xfrm>
              <a:off x="3514" y="2468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ea typeface="Noto Serif SC" panose="02020200000000000000" pitchFamily="18" charset="-122"/>
                </a:rPr>
                <a:t>B</a:t>
              </a:r>
            </a:p>
          </p:txBody>
        </p:sp>
        <p:sp>
          <p:nvSpPr>
            <p:cNvPr id="298002" name="Line 18"/>
            <p:cNvSpPr>
              <a:spLocks noChangeShapeType="1"/>
            </p:cNvSpPr>
            <p:nvPr/>
          </p:nvSpPr>
          <p:spPr bwMode="auto">
            <a:xfrm>
              <a:off x="4186" y="225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8003" name="Line 19"/>
            <p:cNvSpPr>
              <a:spLocks noChangeShapeType="1"/>
            </p:cNvSpPr>
            <p:nvPr/>
          </p:nvSpPr>
          <p:spPr bwMode="auto">
            <a:xfrm>
              <a:off x="4186" y="240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8004" name="Line 20"/>
            <p:cNvSpPr>
              <a:spLocks noChangeShapeType="1"/>
            </p:cNvSpPr>
            <p:nvPr/>
          </p:nvSpPr>
          <p:spPr bwMode="auto">
            <a:xfrm>
              <a:off x="4186" y="254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8005" name="Line 21"/>
            <p:cNvSpPr>
              <a:spLocks noChangeShapeType="1"/>
            </p:cNvSpPr>
            <p:nvPr/>
          </p:nvSpPr>
          <p:spPr bwMode="auto">
            <a:xfrm>
              <a:off x="4186" y="268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8006" name="Rectangle 22"/>
            <p:cNvSpPr>
              <a:spLocks noChangeArrowheads="1"/>
            </p:cNvSpPr>
            <p:nvPr/>
          </p:nvSpPr>
          <p:spPr bwMode="auto">
            <a:xfrm>
              <a:off x="3936" y="2016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25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298007" name="Rectangle 23"/>
            <p:cNvSpPr>
              <a:spLocks noChangeArrowheads="1"/>
            </p:cNvSpPr>
            <p:nvPr/>
          </p:nvSpPr>
          <p:spPr bwMode="auto">
            <a:xfrm>
              <a:off x="3936" y="2304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298008" name="Rectangle 24"/>
            <p:cNvSpPr>
              <a:spLocks noChangeArrowheads="1"/>
            </p:cNvSpPr>
            <p:nvPr/>
          </p:nvSpPr>
          <p:spPr bwMode="auto">
            <a:xfrm>
              <a:off x="3936" y="244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6</a:t>
              </a:r>
            </a:p>
          </p:txBody>
        </p:sp>
        <p:sp>
          <p:nvSpPr>
            <p:cNvPr id="298009" name="Rectangle 25"/>
            <p:cNvSpPr>
              <a:spLocks noChangeArrowheads="1"/>
            </p:cNvSpPr>
            <p:nvPr/>
          </p:nvSpPr>
          <p:spPr bwMode="auto">
            <a:xfrm>
              <a:off x="3936" y="2592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298010" name="Line 26"/>
            <p:cNvSpPr>
              <a:spLocks noChangeShapeType="1"/>
            </p:cNvSpPr>
            <p:nvPr/>
          </p:nvSpPr>
          <p:spPr bwMode="auto">
            <a:xfrm>
              <a:off x="3332" y="292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8011" name="Text Box 27"/>
            <p:cNvSpPr txBox="1">
              <a:spLocks noChangeArrowheads="1"/>
            </p:cNvSpPr>
            <p:nvPr/>
          </p:nvSpPr>
          <p:spPr bwMode="auto">
            <a:xfrm>
              <a:off x="3514" y="2832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ea typeface="Noto Serif SC" panose="02020200000000000000" pitchFamily="18" charset="-122"/>
                </a:rPr>
                <a:t>C</a:t>
              </a:r>
            </a:p>
          </p:txBody>
        </p:sp>
        <p:sp>
          <p:nvSpPr>
            <p:cNvPr id="298013" name="Line 29"/>
            <p:cNvSpPr>
              <a:spLocks noChangeShapeType="1"/>
            </p:cNvSpPr>
            <p:nvPr/>
          </p:nvSpPr>
          <p:spPr bwMode="auto">
            <a:xfrm>
              <a:off x="3335" y="3272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8014" name="Text Box 30"/>
            <p:cNvSpPr txBox="1">
              <a:spLocks noChangeArrowheads="1"/>
            </p:cNvSpPr>
            <p:nvPr/>
          </p:nvSpPr>
          <p:spPr bwMode="auto">
            <a:xfrm>
              <a:off x="3517" y="3177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ea typeface="Noto Serif SC" panose="02020200000000000000" pitchFamily="18" charset="-122"/>
                </a:rPr>
                <a:t>D</a:t>
              </a:r>
            </a:p>
          </p:txBody>
        </p:sp>
        <p:sp>
          <p:nvSpPr>
            <p:cNvPr id="298031" name="Line 47"/>
            <p:cNvSpPr>
              <a:spLocks noChangeShapeType="1"/>
            </p:cNvSpPr>
            <p:nvPr/>
          </p:nvSpPr>
          <p:spPr bwMode="auto">
            <a:xfrm>
              <a:off x="4186" y="2832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8032" name="Line 48"/>
            <p:cNvSpPr>
              <a:spLocks noChangeShapeType="1"/>
            </p:cNvSpPr>
            <p:nvPr/>
          </p:nvSpPr>
          <p:spPr bwMode="auto">
            <a:xfrm>
              <a:off x="4186" y="297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8033" name="Line 49"/>
            <p:cNvSpPr>
              <a:spLocks noChangeShapeType="1"/>
            </p:cNvSpPr>
            <p:nvPr/>
          </p:nvSpPr>
          <p:spPr bwMode="auto">
            <a:xfrm>
              <a:off x="4186" y="312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8034" name="Line 50"/>
            <p:cNvSpPr>
              <a:spLocks noChangeShapeType="1"/>
            </p:cNvSpPr>
            <p:nvPr/>
          </p:nvSpPr>
          <p:spPr bwMode="auto">
            <a:xfrm>
              <a:off x="4186" y="326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8035" name="Rectangle 51"/>
            <p:cNvSpPr>
              <a:spLocks noChangeArrowheads="1"/>
            </p:cNvSpPr>
            <p:nvPr/>
          </p:nvSpPr>
          <p:spPr bwMode="auto">
            <a:xfrm>
              <a:off x="3936" y="2736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298036" name="Rectangle 52"/>
            <p:cNvSpPr>
              <a:spLocks noChangeArrowheads="1"/>
            </p:cNvSpPr>
            <p:nvPr/>
          </p:nvSpPr>
          <p:spPr bwMode="auto">
            <a:xfrm>
              <a:off x="3936" y="2880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9</a:t>
              </a:r>
            </a:p>
          </p:txBody>
        </p:sp>
        <p:sp>
          <p:nvSpPr>
            <p:cNvPr id="298037" name="Rectangle 53"/>
            <p:cNvSpPr>
              <a:spLocks noChangeArrowheads="1"/>
            </p:cNvSpPr>
            <p:nvPr/>
          </p:nvSpPr>
          <p:spPr bwMode="auto">
            <a:xfrm>
              <a:off x="3936" y="3024"/>
              <a:ext cx="27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10</a:t>
              </a:r>
            </a:p>
          </p:txBody>
        </p:sp>
        <p:sp>
          <p:nvSpPr>
            <p:cNvPr id="298038" name="Rectangle 54"/>
            <p:cNvSpPr>
              <a:spLocks noChangeArrowheads="1"/>
            </p:cNvSpPr>
            <p:nvPr/>
          </p:nvSpPr>
          <p:spPr bwMode="auto">
            <a:xfrm>
              <a:off x="3936" y="3312"/>
              <a:ext cx="27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12</a:t>
              </a:r>
            </a:p>
          </p:txBody>
        </p:sp>
        <p:sp>
          <p:nvSpPr>
            <p:cNvPr id="298039" name="Line 55"/>
            <p:cNvSpPr>
              <a:spLocks noChangeShapeType="1"/>
            </p:cNvSpPr>
            <p:nvPr/>
          </p:nvSpPr>
          <p:spPr bwMode="auto">
            <a:xfrm>
              <a:off x="4186" y="340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8040" name="Line 56"/>
            <p:cNvSpPr>
              <a:spLocks noChangeShapeType="1"/>
            </p:cNvSpPr>
            <p:nvPr/>
          </p:nvSpPr>
          <p:spPr bwMode="auto">
            <a:xfrm>
              <a:off x="4186" y="3552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8041" name="Line 57"/>
            <p:cNvSpPr>
              <a:spLocks noChangeShapeType="1"/>
            </p:cNvSpPr>
            <p:nvPr/>
          </p:nvSpPr>
          <p:spPr bwMode="auto">
            <a:xfrm>
              <a:off x="4186" y="369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8042" name="Line 58"/>
            <p:cNvSpPr>
              <a:spLocks noChangeShapeType="1"/>
            </p:cNvSpPr>
            <p:nvPr/>
          </p:nvSpPr>
          <p:spPr bwMode="auto">
            <a:xfrm>
              <a:off x="4186" y="384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8043" name="Rectangle 59"/>
            <p:cNvSpPr>
              <a:spLocks noChangeArrowheads="1"/>
            </p:cNvSpPr>
            <p:nvPr/>
          </p:nvSpPr>
          <p:spPr bwMode="auto">
            <a:xfrm>
              <a:off x="3936" y="3168"/>
              <a:ext cx="26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25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11</a:t>
              </a:r>
            </a:p>
          </p:txBody>
        </p:sp>
        <p:sp>
          <p:nvSpPr>
            <p:cNvPr id="298044" name="Rectangle 60"/>
            <p:cNvSpPr>
              <a:spLocks noChangeArrowheads="1"/>
            </p:cNvSpPr>
            <p:nvPr/>
          </p:nvSpPr>
          <p:spPr bwMode="auto">
            <a:xfrm>
              <a:off x="3936" y="3456"/>
              <a:ext cx="27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13</a:t>
              </a:r>
            </a:p>
          </p:txBody>
        </p:sp>
        <p:sp>
          <p:nvSpPr>
            <p:cNvPr id="298045" name="Rectangle 61"/>
            <p:cNvSpPr>
              <a:spLocks noChangeArrowheads="1"/>
            </p:cNvSpPr>
            <p:nvPr/>
          </p:nvSpPr>
          <p:spPr bwMode="auto">
            <a:xfrm>
              <a:off x="3936" y="3600"/>
              <a:ext cx="27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14</a:t>
              </a:r>
            </a:p>
          </p:txBody>
        </p:sp>
        <p:sp>
          <p:nvSpPr>
            <p:cNvPr id="298046" name="Rectangle 62"/>
            <p:cNvSpPr>
              <a:spLocks noChangeArrowheads="1"/>
            </p:cNvSpPr>
            <p:nvPr/>
          </p:nvSpPr>
          <p:spPr bwMode="auto">
            <a:xfrm>
              <a:off x="3936" y="3744"/>
              <a:ext cx="27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Times New Roman" pitchFamily="18" charset="0"/>
                  <a:ea typeface="Noto Serif SC" panose="02020200000000000000" pitchFamily="18" charset="-122"/>
                  <a:cs typeface="Times New Roman" pitchFamily="18" charset="0"/>
                </a:rPr>
                <a:t>15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20206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9329-BE12-403C-B04F-9FB848BC17D3}" type="slidenum">
              <a:rPr lang="en-US" altLang="zh-CN">
                <a:solidFill>
                  <a:schemeClr val="tx1"/>
                </a:solidFill>
              </a:rPr>
              <a:pPr/>
              <a:t>46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299012" name="Picture 4" descr="4-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76737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40</a:t>
            </a:r>
            <a:r>
              <a:rPr lang="zh-CN" altLang="en-US" sz="3600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582A-E8B7-4063-9245-1BB1B43F63D6}" type="slidenum">
              <a:rPr lang="en-US" altLang="zh-CN">
                <a:solidFill>
                  <a:schemeClr val="tx1"/>
                </a:solidFill>
              </a:rPr>
              <a:pPr/>
              <a:t>47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000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itchFamily="18" charset="0"/>
              </a:rPr>
              <a:t>4-16</a:t>
            </a:r>
            <a:r>
              <a:rPr lang="zh-CN" altLang="en-US" b="1" dirty="0">
                <a:latin typeface="Times New Roman" pitchFamily="18" charset="0"/>
              </a:rPr>
              <a:t>解碼器</a:t>
            </a: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</a:rPr>
              <a:t>存在的問題</a:t>
            </a:r>
          </a:p>
          <a:p>
            <a:pPr lvl="2">
              <a:spcBef>
                <a:spcPct val="50000"/>
              </a:spcBef>
            </a:pPr>
            <a:r>
              <a:rPr lang="zh-CN" altLang="en-US" dirty="0"/>
              <a:t>緩衝門的負載較大：第一級緩衝門</a:t>
            </a:r>
            <a:r>
              <a:rPr lang="en-US" altLang="zh-CN" dirty="0"/>
              <a:t>(</a:t>
            </a:r>
            <a:r>
              <a:rPr lang="zh-CN" altLang="en-US" dirty="0"/>
              <a:t>反變數）負載</a:t>
            </a:r>
            <a:r>
              <a:rPr lang="en-US" altLang="zh-CN" dirty="0"/>
              <a:t>9</a:t>
            </a:r>
            <a:r>
              <a:rPr lang="zh-CN" altLang="en-US" dirty="0"/>
              <a:t>個負載，第二級緩衝門（原變數）</a:t>
            </a:r>
            <a:r>
              <a:rPr lang="en-US" altLang="zh-CN" dirty="0"/>
              <a:t>8</a:t>
            </a:r>
            <a:r>
              <a:rPr lang="zh-CN" altLang="en-US" dirty="0"/>
              <a:t>個負載</a:t>
            </a:r>
          </a:p>
          <a:p>
            <a:pPr lvl="2">
              <a:spcBef>
                <a:spcPct val="50000"/>
              </a:spcBef>
            </a:pPr>
            <a:r>
              <a:rPr lang="zh-CN" altLang="en-US" dirty="0"/>
              <a:t>使能端及閘的負載有</a:t>
            </a:r>
            <a:r>
              <a:rPr lang="en-US" altLang="zh-CN" dirty="0"/>
              <a:t>16</a:t>
            </a:r>
            <a:r>
              <a:rPr lang="zh-CN" altLang="en-US" dirty="0"/>
              <a:t>個，必須在製造晶片時增大驅動能力</a:t>
            </a:r>
          </a:p>
        </p:txBody>
      </p:sp>
    </p:spTree>
    <p:extLst>
      <p:ext uri="{BB962C8B-B14F-4D97-AF65-F5344CB8AC3E}">
        <p14:creationId xmlns:p14="http://schemas.microsoft.com/office/powerpoint/2010/main" val="2826665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+mn-ea"/>
                <a:ea typeface="+mn-ea"/>
              </a:rPr>
              <a:t>3.3.1  </a:t>
            </a:r>
            <a:r>
              <a:rPr lang="zh-CN" altLang="en-US" sz="3600" dirty="0">
                <a:latin typeface="+mn-ea"/>
                <a:ea typeface="+mn-ea"/>
              </a:rPr>
              <a:t>解碼器（</a:t>
            </a:r>
            <a:r>
              <a:rPr lang="en-US" altLang="zh-CN" sz="3600" dirty="0">
                <a:latin typeface="+mn-ea"/>
                <a:ea typeface="+mn-ea"/>
              </a:rPr>
              <a:t>41</a:t>
            </a:r>
            <a:r>
              <a:rPr lang="zh-CN" altLang="en-US" sz="3600" dirty="0">
                <a:latin typeface="+mn-ea"/>
                <a:ea typeface="+mn-ea"/>
              </a:rPr>
              <a:t>）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915-56EB-4072-98E5-9EF114665F8A}" type="slidenum">
              <a:rPr lang="en-US" altLang="zh-CN">
                <a:solidFill>
                  <a:schemeClr val="tx1"/>
                </a:solidFill>
                <a:latin typeface="+mn-ea"/>
                <a:ea typeface="+mn-ea"/>
              </a:rPr>
              <a:pPr/>
              <a:t>48</a:t>
            </a:fld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40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447800"/>
            <a:ext cx="8534400" cy="4648200"/>
          </a:xfrm>
        </p:spPr>
        <p:txBody>
          <a:bodyPr/>
          <a:lstStyle/>
          <a:p>
            <a:r>
              <a:rPr lang="zh-CN" altLang="en-US" b="1" dirty="0">
                <a:latin typeface="+mn-ea"/>
              </a:rPr>
              <a:t>當輸入變數數增大</a:t>
            </a:r>
          </a:p>
          <a:p>
            <a:pPr lvl="1">
              <a:spcBef>
                <a:spcPct val="50000"/>
              </a:spcBef>
            </a:pPr>
            <a:r>
              <a:rPr lang="zh-CN" altLang="en-US" sz="2800" dirty="0">
                <a:effectLst/>
                <a:latin typeface="+mn-ea"/>
              </a:rPr>
              <a:t>當解碼器的輸入變數數</a:t>
            </a:r>
            <a:r>
              <a:rPr lang="en-US" altLang="zh-CN" sz="2800" dirty="0">
                <a:effectLst/>
                <a:latin typeface="+mn-ea"/>
              </a:rPr>
              <a:t>N</a:t>
            </a:r>
            <a:r>
              <a:rPr lang="zh-CN" altLang="en-US" sz="2800" dirty="0">
                <a:effectLst/>
                <a:latin typeface="+mn-ea"/>
              </a:rPr>
              <a:t>增大時，用單級解碼器不能實現</a:t>
            </a:r>
          </a:p>
        </p:txBody>
      </p:sp>
      <p:sp>
        <p:nvSpPr>
          <p:cNvPr id="214020" name="Rectangle 4"/>
          <p:cNvSpPr>
            <a:spLocks noChangeArrowheads="1"/>
          </p:cNvSpPr>
          <p:nvPr/>
        </p:nvSpPr>
        <p:spPr bwMode="auto">
          <a:xfrm>
            <a:off x="786656" y="3082498"/>
            <a:ext cx="8077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92100" indent="-292100"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ü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解碼部分反及閘的輸入端數會增多：輸入端數為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N+1(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使能端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)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個。 </a:t>
            </a:r>
          </a:p>
        </p:txBody>
      </p:sp>
      <p:sp>
        <p:nvSpPr>
          <p:cNvPr id="214021" name="Rectangle 5"/>
          <p:cNvSpPr>
            <a:spLocks noChangeArrowheads="1"/>
          </p:cNvSpPr>
          <p:nvPr/>
        </p:nvSpPr>
        <p:spPr bwMode="auto">
          <a:xfrm>
            <a:off x="296862" y="5949280"/>
            <a:ext cx="83137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採用多級解碼技術可以減少負載： 用在大量存放區片內的解碼結構。 </a:t>
            </a:r>
          </a:p>
        </p:txBody>
      </p:sp>
      <p:sp>
        <p:nvSpPr>
          <p:cNvPr id="214022" name="Rectangle 6"/>
          <p:cNvSpPr>
            <a:spLocks noChangeArrowheads="1"/>
          </p:cNvSpPr>
          <p:nvPr/>
        </p:nvSpPr>
        <p:spPr bwMode="auto">
          <a:xfrm>
            <a:off x="714348" y="3893619"/>
            <a:ext cx="80772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ü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二級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Buffer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的每個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Buffer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的輸出負載加重</a:t>
            </a:r>
          </a:p>
          <a:p>
            <a:pPr lvl="1"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v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 負載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: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第一級為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2</a:t>
            </a:r>
            <a:r>
              <a:rPr lang="en-US" altLang="zh-CN" sz="2400" baseline="30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N</a:t>
            </a:r>
            <a:r>
              <a:rPr lang="zh-CN" altLang="en-US" sz="2400" baseline="30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－</a:t>
            </a:r>
            <a:r>
              <a:rPr lang="en-US" altLang="zh-CN" sz="2400" baseline="30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＋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，第二級為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2</a:t>
            </a:r>
            <a:r>
              <a:rPr lang="en-US" altLang="zh-CN" sz="2400" baseline="30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N</a:t>
            </a:r>
            <a:r>
              <a:rPr lang="zh-CN" altLang="en-US" sz="2400" baseline="30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－</a:t>
            </a:r>
            <a:r>
              <a:rPr lang="en-US" altLang="zh-CN" sz="2400" baseline="30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，使能端為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2</a:t>
            </a:r>
            <a:r>
              <a:rPr lang="en-US" altLang="zh-CN" sz="2400" baseline="30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N     </a:t>
            </a:r>
            <a:endParaRPr lang="en-US" altLang="zh-CN" sz="2400" dirty="0">
              <a:latin typeface="Noto Serif SC" panose="02020200000000000000" pitchFamily="18" charset="-122"/>
              <a:ea typeface="Noto Serif SC" panose="02020200000000000000" pitchFamily="18" charset="-122"/>
            </a:endParaRPr>
          </a:p>
        </p:txBody>
      </p:sp>
      <p:sp>
        <p:nvSpPr>
          <p:cNvPr id="214023" name="Rectangle 7"/>
          <p:cNvSpPr>
            <a:spLocks noChangeArrowheads="1"/>
          </p:cNvSpPr>
          <p:nvPr/>
        </p:nvSpPr>
        <p:spPr bwMode="auto">
          <a:xfrm>
            <a:off x="1187624" y="4820959"/>
            <a:ext cx="7467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81000" indent="-381000"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v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例如，當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N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＝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11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時，每個解碼門至少有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12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個輸入，第一級緩衝門有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1025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個負載，第二級緩衝門有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1024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個負載，這是不可實現的。</a:t>
            </a:r>
          </a:p>
        </p:txBody>
      </p:sp>
    </p:spTree>
    <p:extLst>
      <p:ext uri="{BB962C8B-B14F-4D97-AF65-F5344CB8AC3E}">
        <p14:creationId xmlns:p14="http://schemas.microsoft.com/office/powerpoint/2010/main" val="336457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0" grpId="0" autoUpdateAnimBg="0"/>
      <p:bldP spid="214021" grpId="0" autoUpdateAnimBg="0"/>
      <p:bldP spid="214022" grpId="0" autoUpdateAnimBg="0"/>
      <p:bldP spid="214023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41</a:t>
            </a:r>
            <a:r>
              <a:rPr lang="zh-CN" altLang="en-US" sz="3600" dirty="0"/>
              <a:t>）</a:t>
            </a:r>
          </a:p>
        </p:txBody>
      </p:sp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150CF-C3C6-4D59-8BE1-1327DBC8466D}" type="slidenum">
              <a:rPr lang="en-US" altLang="zh-CN"/>
              <a:pPr/>
              <a:t>49</a:t>
            </a:fld>
            <a:endParaRPr lang="en-US" altLang="zh-CN" dirty="0"/>
          </a:p>
        </p:txBody>
      </p:sp>
      <p:sp>
        <p:nvSpPr>
          <p:cNvPr id="3010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143000"/>
            <a:ext cx="7924800" cy="4648200"/>
          </a:xfrm>
        </p:spPr>
        <p:txBody>
          <a:bodyPr/>
          <a:lstStyle/>
          <a:p>
            <a:r>
              <a:rPr lang="zh-CN" altLang="en-US" dirty="0"/>
              <a:t>多級解碼</a:t>
            </a:r>
          </a:p>
          <a:p>
            <a:pPr lvl="1">
              <a:buNone/>
            </a:pPr>
            <a:r>
              <a:rPr lang="zh-CN" altLang="en-US" dirty="0"/>
              <a:t>考察</a:t>
            </a:r>
            <a:r>
              <a:rPr lang="en-US" altLang="zh-CN" dirty="0"/>
              <a:t>4</a:t>
            </a:r>
            <a:r>
              <a:rPr lang="zh-CN" altLang="en-US" dirty="0"/>
              <a:t>－</a:t>
            </a:r>
            <a:r>
              <a:rPr lang="en-US" altLang="zh-CN" dirty="0"/>
              <a:t>16</a:t>
            </a:r>
            <a:r>
              <a:rPr lang="zh-CN" altLang="en-US" dirty="0"/>
              <a:t>變數解碼器</a:t>
            </a:r>
          </a:p>
          <a:p>
            <a:pPr lvl="1"/>
            <a:endParaRPr lang="en-US" altLang="zh-CN" dirty="0"/>
          </a:p>
        </p:txBody>
      </p:sp>
      <p:graphicFrame>
        <p:nvGraphicFramePr>
          <p:cNvPr id="3010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5862587"/>
              </p:ext>
            </p:extLst>
          </p:nvPr>
        </p:nvGraphicFramePr>
        <p:xfrm>
          <a:off x="533400" y="2209800"/>
          <a:ext cx="366077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63560" imgH="279360" progId="Equation.3">
                  <p:embed/>
                </p:oleObj>
              </mc:Choice>
              <mc:Fallback>
                <p:oleObj name="公式" r:id="rId2" imgW="1663560" imgH="279360" progId="Equation.3">
                  <p:embed/>
                  <p:pic>
                    <p:nvPicPr>
                      <p:cNvPr id="3010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209800"/>
                        <a:ext cx="3660775" cy="614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6681658"/>
              </p:ext>
            </p:extLst>
          </p:nvPr>
        </p:nvGraphicFramePr>
        <p:xfrm>
          <a:off x="504825" y="2728913"/>
          <a:ext cx="366077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63560" imgH="279360" progId="Equation.3">
                  <p:embed/>
                </p:oleObj>
              </mc:Choice>
              <mc:Fallback>
                <p:oleObj name="公式" r:id="rId4" imgW="1663560" imgH="279360" progId="Equation.3">
                  <p:embed/>
                  <p:pic>
                    <p:nvPicPr>
                      <p:cNvPr id="3010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" y="2728913"/>
                        <a:ext cx="3660775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616039"/>
              </p:ext>
            </p:extLst>
          </p:nvPr>
        </p:nvGraphicFramePr>
        <p:xfrm>
          <a:off x="498475" y="3340100"/>
          <a:ext cx="3605213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38000" imgH="279360" progId="Equation.3">
                  <p:embed/>
                </p:oleObj>
              </mc:Choice>
              <mc:Fallback>
                <p:oleObj name="公式" r:id="rId6" imgW="1638000" imgH="279360" progId="Equation.3">
                  <p:embed/>
                  <p:pic>
                    <p:nvPicPr>
                      <p:cNvPr id="3010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" y="3340100"/>
                        <a:ext cx="3605213" cy="614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439025"/>
              </p:ext>
            </p:extLst>
          </p:nvPr>
        </p:nvGraphicFramePr>
        <p:xfrm>
          <a:off x="498475" y="3871913"/>
          <a:ext cx="3633788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50960" imgH="279360" progId="Equation.3">
                  <p:embed/>
                </p:oleObj>
              </mc:Choice>
              <mc:Fallback>
                <p:oleObj name="公式" r:id="rId8" imgW="1650960" imgH="279360" progId="Equation.3">
                  <p:embed/>
                  <p:pic>
                    <p:nvPicPr>
                      <p:cNvPr id="3010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" y="3871913"/>
                        <a:ext cx="3633788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239675"/>
              </p:ext>
            </p:extLst>
          </p:nvPr>
        </p:nvGraphicFramePr>
        <p:xfrm>
          <a:off x="490538" y="4418013"/>
          <a:ext cx="3659187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63560" imgH="279360" progId="Equation.3">
                  <p:embed/>
                </p:oleObj>
              </mc:Choice>
              <mc:Fallback>
                <p:oleObj name="公式" r:id="rId10" imgW="1663560" imgH="279360" progId="Equation.3">
                  <p:embed/>
                  <p:pic>
                    <p:nvPicPr>
                      <p:cNvPr id="3010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38" y="4418013"/>
                        <a:ext cx="3659187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7167359"/>
              </p:ext>
            </p:extLst>
          </p:nvPr>
        </p:nvGraphicFramePr>
        <p:xfrm>
          <a:off x="442913" y="4960938"/>
          <a:ext cx="36322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650960" imgH="279360" progId="Equation.3">
                  <p:embed/>
                </p:oleObj>
              </mc:Choice>
              <mc:Fallback>
                <p:oleObj name="公式" r:id="rId12" imgW="1650960" imgH="279360" progId="Equation.3">
                  <p:embed/>
                  <p:pic>
                    <p:nvPicPr>
                      <p:cNvPr id="3010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3" y="4960938"/>
                        <a:ext cx="3632200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248743"/>
              </p:ext>
            </p:extLst>
          </p:nvPr>
        </p:nvGraphicFramePr>
        <p:xfrm>
          <a:off x="434975" y="5549900"/>
          <a:ext cx="357822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625400" imgH="279360" progId="Equation.3">
                  <p:embed/>
                </p:oleObj>
              </mc:Choice>
              <mc:Fallback>
                <p:oleObj name="公式" r:id="rId14" imgW="1625400" imgH="279360" progId="Equation.3">
                  <p:embed/>
                  <p:pic>
                    <p:nvPicPr>
                      <p:cNvPr id="30106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75" y="5549900"/>
                        <a:ext cx="3578225" cy="614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9439442"/>
              </p:ext>
            </p:extLst>
          </p:nvPr>
        </p:nvGraphicFramePr>
        <p:xfrm>
          <a:off x="360363" y="6096000"/>
          <a:ext cx="360521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638000" imgH="279360" progId="Equation.3">
                  <p:embed/>
                </p:oleObj>
              </mc:Choice>
              <mc:Fallback>
                <p:oleObj name="公式" r:id="rId16" imgW="1638000" imgH="279360" progId="Equation.3">
                  <p:embed/>
                  <p:pic>
                    <p:nvPicPr>
                      <p:cNvPr id="30106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363" y="6096000"/>
                        <a:ext cx="3605212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559876"/>
              </p:ext>
            </p:extLst>
          </p:nvPr>
        </p:nvGraphicFramePr>
        <p:xfrm>
          <a:off x="4465638" y="2203450"/>
          <a:ext cx="3633787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650960" imgH="279360" progId="Equation.3">
                  <p:embed/>
                </p:oleObj>
              </mc:Choice>
              <mc:Fallback>
                <p:oleObj name="公式" r:id="rId18" imgW="1650960" imgH="279360" progId="Equation.3">
                  <p:embed/>
                  <p:pic>
                    <p:nvPicPr>
                      <p:cNvPr id="30106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5638" y="2203450"/>
                        <a:ext cx="3633787" cy="614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524014"/>
              </p:ext>
            </p:extLst>
          </p:nvPr>
        </p:nvGraphicFramePr>
        <p:xfrm>
          <a:off x="4438650" y="2722563"/>
          <a:ext cx="363061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650960" imgH="279360" progId="Equation.3">
                  <p:embed/>
                </p:oleObj>
              </mc:Choice>
              <mc:Fallback>
                <p:oleObj name="公式" r:id="rId20" imgW="1650960" imgH="279360" progId="Equation.3">
                  <p:embed/>
                  <p:pic>
                    <p:nvPicPr>
                      <p:cNvPr id="30106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8650" y="2722563"/>
                        <a:ext cx="3630613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6415624"/>
              </p:ext>
            </p:extLst>
          </p:nvPr>
        </p:nvGraphicFramePr>
        <p:xfrm>
          <a:off x="4391025" y="3332163"/>
          <a:ext cx="3659188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663560" imgH="279360" progId="Equation.3">
                  <p:embed/>
                </p:oleObj>
              </mc:Choice>
              <mc:Fallback>
                <p:oleObj name="公式" r:id="rId22" imgW="1663560" imgH="279360" progId="Equation.3">
                  <p:embed/>
                  <p:pic>
                    <p:nvPicPr>
                      <p:cNvPr id="30107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025" y="3332163"/>
                        <a:ext cx="3659188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7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712735"/>
              </p:ext>
            </p:extLst>
          </p:nvPr>
        </p:nvGraphicFramePr>
        <p:xfrm>
          <a:off x="4403725" y="3863975"/>
          <a:ext cx="3662363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663560" imgH="279360" progId="Equation.3">
                  <p:embed/>
                </p:oleObj>
              </mc:Choice>
              <mc:Fallback>
                <p:oleObj name="公式" r:id="rId24" imgW="1663560" imgH="279360" progId="Equation.3">
                  <p:embed/>
                  <p:pic>
                    <p:nvPicPr>
                      <p:cNvPr id="30107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3725" y="3863975"/>
                        <a:ext cx="3662363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7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1568931"/>
              </p:ext>
            </p:extLst>
          </p:nvPr>
        </p:nvGraphicFramePr>
        <p:xfrm>
          <a:off x="4452938" y="4413250"/>
          <a:ext cx="357505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625400" imgH="279360" progId="Equation.3">
                  <p:embed/>
                </p:oleObj>
              </mc:Choice>
              <mc:Fallback>
                <p:oleObj name="公式" r:id="rId26" imgW="1625400" imgH="279360" progId="Equation.3">
                  <p:embed/>
                  <p:pic>
                    <p:nvPicPr>
                      <p:cNvPr id="30107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2938" y="4413250"/>
                        <a:ext cx="3575050" cy="614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7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729075"/>
              </p:ext>
            </p:extLst>
          </p:nvPr>
        </p:nvGraphicFramePr>
        <p:xfrm>
          <a:off x="4391025" y="4954588"/>
          <a:ext cx="35750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625400" imgH="279360" progId="Equation.3">
                  <p:embed/>
                </p:oleObj>
              </mc:Choice>
              <mc:Fallback>
                <p:oleObj name="公式" r:id="rId28" imgW="1625400" imgH="279360" progId="Equation.3">
                  <p:embed/>
                  <p:pic>
                    <p:nvPicPr>
                      <p:cNvPr id="30107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025" y="4954588"/>
                        <a:ext cx="3575050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7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117551"/>
              </p:ext>
            </p:extLst>
          </p:nvPr>
        </p:nvGraphicFramePr>
        <p:xfrm>
          <a:off x="4383088" y="5543550"/>
          <a:ext cx="352107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600200" imgH="279360" progId="Equation.3">
                  <p:embed/>
                </p:oleObj>
              </mc:Choice>
              <mc:Fallback>
                <p:oleObj name="公式" r:id="rId30" imgW="1600200" imgH="279360" progId="Equation.3">
                  <p:embed/>
                  <p:pic>
                    <p:nvPicPr>
                      <p:cNvPr id="30107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088" y="5543550"/>
                        <a:ext cx="3521075" cy="614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7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516292"/>
              </p:ext>
            </p:extLst>
          </p:nvPr>
        </p:nvGraphicFramePr>
        <p:xfrm>
          <a:off x="4368800" y="6116638"/>
          <a:ext cx="354965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612800" imgH="253800" progId="Equation.3">
                  <p:embed/>
                </p:oleObj>
              </mc:Choice>
              <mc:Fallback>
                <p:oleObj name="公式" r:id="rId32" imgW="1612800" imgH="253800" progId="Equation.3">
                  <p:embed/>
                  <p:pic>
                    <p:nvPicPr>
                      <p:cNvPr id="30107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800" y="6116638"/>
                        <a:ext cx="3549650" cy="560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9468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0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0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0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0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0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0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0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0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0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0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4624"/>
            <a:ext cx="7772400" cy="1143000"/>
          </a:xfrm>
        </p:spPr>
        <p:txBody>
          <a:bodyPr/>
          <a:lstStyle/>
          <a:p>
            <a:r>
              <a:rPr lang="en-US" altLang="zh-CN" sz="3600" dirty="0">
                <a:latin typeface="+mn-ea"/>
                <a:ea typeface="+mn-ea"/>
              </a:rPr>
              <a:t>3.3.1  </a:t>
            </a:r>
            <a:r>
              <a:rPr lang="zh-CN" altLang="en-US" sz="3600" dirty="0">
                <a:latin typeface="+mn-ea"/>
                <a:ea typeface="+mn-ea"/>
              </a:rPr>
              <a:t>解碼器（</a:t>
            </a:r>
            <a:r>
              <a:rPr lang="en-US" altLang="zh-CN" sz="3600" dirty="0">
                <a:latin typeface="+mn-ea"/>
                <a:ea typeface="+mn-ea"/>
              </a:rPr>
              <a:t>41</a:t>
            </a:r>
            <a:r>
              <a:rPr lang="zh-CN" altLang="en-US" sz="3600" dirty="0">
                <a:latin typeface="+mn-ea"/>
                <a:ea typeface="+mn-ea"/>
              </a:rPr>
              <a:t>）</a:t>
            </a:r>
          </a:p>
        </p:txBody>
      </p:sp>
      <p:sp>
        <p:nvSpPr>
          <p:cNvPr id="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A9B1E-C8F4-4C10-A82A-87D7B2D2BDC0}" type="slidenum">
              <a:rPr lang="en-US" altLang="zh-CN">
                <a:solidFill>
                  <a:schemeClr val="tx1"/>
                </a:solidFill>
                <a:latin typeface="+mn-ea"/>
                <a:ea typeface="+mn-ea"/>
              </a:rPr>
              <a:pPr/>
              <a:t>50</a:t>
            </a:fld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020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052736"/>
            <a:ext cx="8229600" cy="4525963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多級解碼</a:t>
            </a:r>
          </a:p>
          <a:p>
            <a:pPr lvl="1"/>
            <a:endParaRPr lang="en-US" altLang="zh-CN" dirty="0">
              <a:latin typeface="+mn-ea"/>
            </a:endParaRPr>
          </a:p>
        </p:txBody>
      </p:sp>
      <p:graphicFrame>
        <p:nvGraphicFramePr>
          <p:cNvPr id="3020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597978"/>
              </p:ext>
            </p:extLst>
          </p:nvPr>
        </p:nvGraphicFramePr>
        <p:xfrm>
          <a:off x="1403648" y="1591320"/>
          <a:ext cx="6734175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60360" imgH="507960" progId="Equation.3">
                  <p:embed/>
                </p:oleObj>
              </mc:Choice>
              <mc:Fallback>
                <p:oleObj name="公式" r:id="rId2" imgW="3060360" imgH="507960" progId="Equation.3">
                  <p:embed/>
                  <p:pic>
                    <p:nvPicPr>
                      <p:cNvPr id="3020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1591320"/>
                        <a:ext cx="6734175" cy="1117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9237268"/>
              </p:ext>
            </p:extLst>
          </p:nvPr>
        </p:nvGraphicFramePr>
        <p:xfrm>
          <a:off x="144464" y="2808288"/>
          <a:ext cx="204484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31560" imgH="279360" progId="Equation.3">
                  <p:embed/>
                </p:oleObj>
              </mc:Choice>
              <mc:Fallback>
                <p:oleObj name="公式" r:id="rId4" imgW="1231560" imgH="279360" progId="Equation.3">
                  <p:embed/>
                  <p:pic>
                    <p:nvPicPr>
                      <p:cNvPr id="30209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4" y="2808288"/>
                        <a:ext cx="2044840" cy="5159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8337038"/>
              </p:ext>
            </p:extLst>
          </p:nvPr>
        </p:nvGraphicFramePr>
        <p:xfrm>
          <a:off x="169863" y="3452813"/>
          <a:ext cx="2046266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18960" imgH="279360" progId="Equation.3">
                  <p:embed/>
                </p:oleObj>
              </mc:Choice>
              <mc:Fallback>
                <p:oleObj name="公式" r:id="rId6" imgW="1218960" imgH="279360" progId="Equation.3">
                  <p:embed/>
                  <p:pic>
                    <p:nvPicPr>
                      <p:cNvPr id="30210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863" y="3452813"/>
                        <a:ext cx="2046266" cy="5222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611812"/>
              </p:ext>
            </p:extLst>
          </p:nvPr>
        </p:nvGraphicFramePr>
        <p:xfrm>
          <a:off x="193675" y="4027488"/>
          <a:ext cx="2002061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06360" imgH="279360" progId="Equation.3">
                  <p:embed/>
                </p:oleObj>
              </mc:Choice>
              <mc:Fallback>
                <p:oleObj name="公式" r:id="rId8" imgW="1206360" imgH="279360" progId="Equation.3">
                  <p:embed/>
                  <p:pic>
                    <p:nvPicPr>
                      <p:cNvPr id="30210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" y="4027488"/>
                        <a:ext cx="2002061" cy="517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704061"/>
              </p:ext>
            </p:extLst>
          </p:nvPr>
        </p:nvGraphicFramePr>
        <p:xfrm>
          <a:off x="193675" y="4724400"/>
          <a:ext cx="2002061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18960" imgH="279360" progId="Equation.3">
                  <p:embed/>
                </p:oleObj>
              </mc:Choice>
              <mc:Fallback>
                <p:oleObj name="公式" r:id="rId10" imgW="1218960" imgH="279360" progId="Equation.3">
                  <p:embed/>
                  <p:pic>
                    <p:nvPicPr>
                      <p:cNvPr id="30210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" y="4724400"/>
                        <a:ext cx="2002061" cy="511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852269"/>
              </p:ext>
            </p:extLst>
          </p:nvPr>
        </p:nvGraphicFramePr>
        <p:xfrm>
          <a:off x="2339975" y="2795588"/>
          <a:ext cx="205269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06360" imgH="279360" progId="Equation.3">
                  <p:embed/>
                </p:oleObj>
              </mc:Choice>
              <mc:Fallback>
                <p:oleObj name="公式" r:id="rId12" imgW="1206360" imgH="279360" progId="Equation.3">
                  <p:embed/>
                  <p:pic>
                    <p:nvPicPr>
                      <p:cNvPr id="30210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795588"/>
                        <a:ext cx="2052690" cy="5349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232806"/>
              </p:ext>
            </p:extLst>
          </p:nvPr>
        </p:nvGraphicFramePr>
        <p:xfrm>
          <a:off x="2352675" y="3429000"/>
          <a:ext cx="2075309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06360" imgH="279360" progId="Equation.3">
                  <p:embed/>
                </p:oleObj>
              </mc:Choice>
              <mc:Fallback>
                <p:oleObj name="公式" r:id="rId14" imgW="1206360" imgH="279360" progId="Equation.3">
                  <p:embed/>
                  <p:pic>
                    <p:nvPicPr>
                      <p:cNvPr id="30210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675" y="3429000"/>
                        <a:ext cx="2075309" cy="5413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605415"/>
              </p:ext>
            </p:extLst>
          </p:nvPr>
        </p:nvGraphicFramePr>
        <p:xfrm>
          <a:off x="2390775" y="4038600"/>
          <a:ext cx="2008866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180800" imgH="279360" progId="Equation.3">
                  <p:embed/>
                </p:oleObj>
              </mc:Choice>
              <mc:Fallback>
                <p:oleObj name="公式" r:id="rId16" imgW="1180800" imgH="279360" progId="Equation.3">
                  <p:embed/>
                  <p:pic>
                    <p:nvPicPr>
                      <p:cNvPr id="30210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4038600"/>
                        <a:ext cx="2008866" cy="533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148751"/>
              </p:ext>
            </p:extLst>
          </p:nvPr>
        </p:nvGraphicFramePr>
        <p:xfrm>
          <a:off x="2390775" y="4724400"/>
          <a:ext cx="2008866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193760" imgH="279360" progId="Equation.3">
                  <p:embed/>
                </p:oleObj>
              </mc:Choice>
              <mc:Fallback>
                <p:oleObj name="公式" r:id="rId18" imgW="1193760" imgH="279360" progId="Equation.3">
                  <p:embed/>
                  <p:pic>
                    <p:nvPicPr>
                      <p:cNvPr id="30210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4724400"/>
                        <a:ext cx="2008866" cy="5286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799923"/>
              </p:ext>
            </p:extLst>
          </p:nvPr>
        </p:nvGraphicFramePr>
        <p:xfrm>
          <a:off x="4549775" y="2808288"/>
          <a:ext cx="2110457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206360" imgH="279360" progId="Equation.3">
                  <p:embed/>
                </p:oleObj>
              </mc:Choice>
              <mc:Fallback>
                <p:oleObj name="公式" r:id="rId20" imgW="1206360" imgH="279360" progId="Equation.3">
                  <p:embed/>
                  <p:pic>
                    <p:nvPicPr>
                      <p:cNvPr id="30210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9775" y="2808288"/>
                        <a:ext cx="2110457" cy="544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894140"/>
              </p:ext>
            </p:extLst>
          </p:nvPr>
        </p:nvGraphicFramePr>
        <p:xfrm>
          <a:off x="4549775" y="3429000"/>
          <a:ext cx="2110457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206360" imgH="279360" progId="Equation.3">
                  <p:embed/>
                </p:oleObj>
              </mc:Choice>
              <mc:Fallback>
                <p:oleObj name="公式" r:id="rId22" imgW="1206360" imgH="279360" progId="Equation.3">
                  <p:embed/>
                  <p:pic>
                    <p:nvPicPr>
                      <p:cNvPr id="302108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9775" y="3429000"/>
                        <a:ext cx="2110457" cy="5476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105022"/>
              </p:ext>
            </p:extLst>
          </p:nvPr>
        </p:nvGraphicFramePr>
        <p:xfrm>
          <a:off x="4564064" y="4043363"/>
          <a:ext cx="2083454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231560" imgH="279360" progId="Equation.3">
                  <p:embed/>
                </p:oleObj>
              </mc:Choice>
              <mc:Fallback>
                <p:oleObj name="公式" r:id="rId24" imgW="1231560" imgH="279360" progId="Equation.3">
                  <p:embed/>
                  <p:pic>
                    <p:nvPicPr>
                      <p:cNvPr id="302109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4" y="4043363"/>
                        <a:ext cx="2083454" cy="528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1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571027"/>
              </p:ext>
            </p:extLst>
          </p:nvPr>
        </p:nvGraphicFramePr>
        <p:xfrm>
          <a:off x="4576763" y="4713288"/>
          <a:ext cx="206071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231560" imgH="279360" progId="Equation.3">
                  <p:embed/>
                </p:oleObj>
              </mc:Choice>
              <mc:Fallback>
                <p:oleObj name="公式" r:id="rId26" imgW="1231560" imgH="279360" progId="Equation.3">
                  <p:embed/>
                  <p:pic>
                    <p:nvPicPr>
                      <p:cNvPr id="30211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763" y="4713288"/>
                        <a:ext cx="2060715" cy="523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1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234171"/>
              </p:ext>
            </p:extLst>
          </p:nvPr>
        </p:nvGraphicFramePr>
        <p:xfrm>
          <a:off x="6784975" y="2795588"/>
          <a:ext cx="2190956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206360" imgH="279360" progId="Equation.3">
                  <p:embed/>
                </p:oleObj>
              </mc:Choice>
              <mc:Fallback>
                <p:oleObj name="公式" r:id="rId28" imgW="1206360" imgH="279360" progId="Equation.3">
                  <p:embed/>
                  <p:pic>
                    <p:nvPicPr>
                      <p:cNvPr id="30211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4975" y="2795588"/>
                        <a:ext cx="2190956" cy="5349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1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201212"/>
              </p:ext>
            </p:extLst>
          </p:nvPr>
        </p:nvGraphicFramePr>
        <p:xfrm>
          <a:off x="6784975" y="3429000"/>
          <a:ext cx="2190956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206360" imgH="279360" progId="Equation.3">
                  <p:embed/>
                </p:oleObj>
              </mc:Choice>
              <mc:Fallback>
                <p:oleObj name="公式" r:id="rId30" imgW="1206360" imgH="279360" progId="Equation.3">
                  <p:embed/>
                  <p:pic>
                    <p:nvPicPr>
                      <p:cNvPr id="302112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4975" y="3429000"/>
                        <a:ext cx="2190956" cy="5349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1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946797"/>
              </p:ext>
            </p:extLst>
          </p:nvPr>
        </p:nvGraphicFramePr>
        <p:xfrm>
          <a:off x="6797675" y="4027488"/>
          <a:ext cx="21668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193760" imgH="279360" progId="Equation.3">
                  <p:embed/>
                </p:oleObj>
              </mc:Choice>
              <mc:Fallback>
                <p:oleObj name="公式" r:id="rId32" imgW="1193760" imgH="279360" progId="Equation.3">
                  <p:embed/>
                  <p:pic>
                    <p:nvPicPr>
                      <p:cNvPr id="302113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7675" y="4027488"/>
                        <a:ext cx="2166813" cy="533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14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8244377"/>
              </p:ext>
            </p:extLst>
          </p:nvPr>
        </p:nvGraphicFramePr>
        <p:xfrm>
          <a:off x="6810375" y="4724400"/>
          <a:ext cx="214267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1193760" imgH="253800" progId="Equation.3">
                  <p:embed/>
                </p:oleObj>
              </mc:Choice>
              <mc:Fallback>
                <p:oleObj name="公式" r:id="rId34" imgW="1193760" imgH="253800" progId="Equation.3">
                  <p:embed/>
                  <p:pic>
                    <p:nvPicPr>
                      <p:cNvPr id="302114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0375" y="4724400"/>
                        <a:ext cx="2142670" cy="4810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2129" name="Group 49"/>
          <p:cNvGrpSpPr>
            <a:grpSpLocks/>
          </p:cNvGrpSpPr>
          <p:nvPr/>
        </p:nvGrpSpPr>
        <p:grpSpPr bwMode="auto">
          <a:xfrm>
            <a:off x="76200" y="2743200"/>
            <a:ext cx="8991600" cy="2590800"/>
            <a:chOff x="48" y="1728"/>
            <a:chExt cx="5664" cy="1632"/>
          </a:xfrm>
        </p:grpSpPr>
        <p:sp>
          <p:nvSpPr>
            <p:cNvPr id="302115" name="Line 35"/>
            <p:cNvSpPr>
              <a:spLocks noChangeShapeType="1"/>
            </p:cNvSpPr>
            <p:nvPr/>
          </p:nvSpPr>
          <p:spPr bwMode="auto">
            <a:xfrm>
              <a:off x="48" y="1728"/>
              <a:ext cx="5664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  <p:grpSp>
          <p:nvGrpSpPr>
            <p:cNvPr id="302125" name="Group 45"/>
            <p:cNvGrpSpPr>
              <a:grpSpLocks/>
            </p:cNvGrpSpPr>
            <p:nvPr/>
          </p:nvGrpSpPr>
          <p:grpSpPr bwMode="auto">
            <a:xfrm>
              <a:off x="48" y="1728"/>
              <a:ext cx="5664" cy="1632"/>
              <a:chOff x="48" y="1584"/>
              <a:chExt cx="5664" cy="1632"/>
            </a:xfrm>
          </p:grpSpPr>
          <p:sp>
            <p:nvSpPr>
              <p:cNvPr id="302116" name="Line 36"/>
              <p:cNvSpPr>
                <a:spLocks noChangeShapeType="1"/>
              </p:cNvSpPr>
              <p:nvPr/>
            </p:nvSpPr>
            <p:spPr bwMode="auto">
              <a:xfrm>
                <a:off x="48" y="1968"/>
                <a:ext cx="5664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302117" name="Line 37"/>
              <p:cNvSpPr>
                <a:spLocks noChangeShapeType="1"/>
              </p:cNvSpPr>
              <p:nvPr/>
            </p:nvSpPr>
            <p:spPr bwMode="auto">
              <a:xfrm>
                <a:off x="48" y="2352"/>
                <a:ext cx="5664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302118" name="Line 38"/>
              <p:cNvSpPr>
                <a:spLocks noChangeShapeType="1"/>
              </p:cNvSpPr>
              <p:nvPr/>
            </p:nvSpPr>
            <p:spPr bwMode="auto">
              <a:xfrm>
                <a:off x="48" y="2736"/>
                <a:ext cx="5664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302119" name="Line 39"/>
              <p:cNvSpPr>
                <a:spLocks noChangeShapeType="1"/>
              </p:cNvSpPr>
              <p:nvPr/>
            </p:nvSpPr>
            <p:spPr bwMode="auto">
              <a:xfrm>
                <a:off x="48" y="3216"/>
                <a:ext cx="5664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302120" name="Line 40"/>
              <p:cNvSpPr>
                <a:spLocks noChangeShapeType="1"/>
              </p:cNvSpPr>
              <p:nvPr/>
            </p:nvSpPr>
            <p:spPr bwMode="auto">
              <a:xfrm>
                <a:off x="48" y="1584"/>
                <a:ext cx="0" cy="1632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302121" name="Line 41"/>
              <p:cNvSpPr>
                <a:spLocks noChangeShapeType="1"/>
              </p:cNvSpPr>
              <p:nvPr/>
            </p:nvSpPr>
            <p:spPr bwMode="auto">
              <a:xfrm>
                <a:off x="1488" y="1584"/>
                <a:ext cx="0" cy="1632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302122" name="Line 42"/>
              <p:cNvSpPr>
                <a:spLocks noChangeShapeType="1"/>
              </p:cNvSpPr>
              <p:nvPr/>
            </p:nvSpPr>
            <p:spPr bwMode="auto">
              <a:xfrm>
                <a:off x="2880" y="1584"/>
                <a:ext cx="0" cy="1632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302123" name="Line 43"/>
              <p:cNvSpPr>
                <a:spLocks noChangeShapeType="1"/>
              </p:cNvSpPr>
              <p:nvPr/>
            </p:nvSpPr>
            <p:spPr bwMode="auto">
              <a:xfrm>
                <a:off x="4286" y="1584"/>
                <a:ext cx="0" cy="1632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302124" name="Line 44"/>
              <p:cNvSpPr>
                <a:spLocks noChangeShapeType="1"/>
              </p:cNvSpPr>
              <p:nvPr/>
            </p:nvSpPr>
            <p:spPr bwMode="auto">
              <a:xfrm>
                <a:off x="5712" y="1584"/>
                <a:ext cx="0" cy="1632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</p:grpSp>
      </p:grpSp>
      <p:sp>
        <p:nvSpPr>
          <p:cNvPr id="302126" name="Rectangle 46"/>
          <p:cNvSpPr>
            <a:spLocks noChangeArrowheads="1"/>
          </p:cNvSpPr>
          <p:nvPr/>
        </p:nvSpPr>
        <p:spPr bwMode="auto">
          <a:xfrm>
            <a:off x="0" y="5867400"/>
            <a:ext cx="9144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ü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考察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E,F,G,H,W,X,Y,Z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，每個出現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4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次，意味著它們共有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4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個負載。</a:t>
            </a:r>
          </a:p>
        </p:txBody>
      </p:sp>
      <p:sp>
        <p:nvSpPr>
          <p:cNvPr id="302127" name="Rectangle 47"/>
          <p:cNvSpPr>
            <a:spLocks noChangeArrowheads="1"/>
          </p:cNvSpPr>
          <p:nvPr/>
        </p:nvSpPr>
        <p:spPr bwMode="auto">
          <a:xfrm>
            <a:off x="0" y="5410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ü"/>
            </a:pP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A,B,C,D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和它們的反變數，都出現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8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次，說明它們共有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8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個負載。</a:t>
            </a:r>
          </a:p>
        </p:txBody>
      </p:sp>
      <p:sp>
        <p:nvSpPr>
          <p:cNvPr id="302128" name="Rectangle 48"/>
          <p:cNvSpPr>
            <a:spLocks noChangeArrowheads="1"/>
          </p:cNvSpPr>
          <p:nvPr/>
        </p:nvSpPr>
        <p:spPr bwMode="auto">
          <a:xfrm>
            <a:off x="0" y="6248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ü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說明經過變換後，負載數降低了一半。</a:t>
            </a:r>
          </a:p>
        </p:txBody>
      </p:sp>
    </p:spTree>
    <p:extLst>
      <p:ext uri="{BB962C8B-B14F-4D97-AF65-F5344CB8AC3E}">
        <p14:creationId xmlns:p14="http://schemas.microsoft.com/office/powerpoint/2010/main" val="34991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2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0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0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0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0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0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02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0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0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02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02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0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30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302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02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302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126" grpId="0" autoUpdateAnimBg="0"/>
      <p:bldP spid="302127" grpId="0" autoUpdateAnimBg="0"/>
      <p:bldP spid="302128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二級解碼</a:t>
            </a:r>
          </a:p>
        </p:txBody>
      </p:sp>
      <p:sp>
        <p:nvSpPr>
          <p:cNvPr id="3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6F97-3FAD-4D77-98F4-F2249EA9B59E}" type="slidenum">
              <a:rPr lang="en-US" altLang="zh-CN">
                <a:solidFill>
                  <a:schemeClr val="tx1"/>
                </a:solidFill>
              </a:rPr>
              <a:pPr/>
              <a:t>51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215043" name="Object 3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058687735"/>
              </p:ext>
            </p:extLst>
          </p:nvPr>
        </p:nvGraphicFramePr>
        <p:xfrm>
          <a:off x="1116013" y="2060575"/>
          <a:ext cx="1616075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3448163" imgH="8777143" progId="">
                  <p:embed/>
                </p:oleObj>
              </mc:Choice>
              <mc:Fallback>
                <p:oleObj name="Image" r:id="rId2" imgW="3448163" imgH="8777143" progId="">
                  <p:embed/>
                  <p:pic>
                    <p:nvPicPr>
                      <p:cNvPr id="215043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060575"/>
                        <a:ext cx="1616075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295521"/>
              </p:ext>
            </p:extLst>
          </p:nvPr>
        </p:nvGraphicFramePr>
        <p:xfrm>
          <a:off x="2700338" y="2060575"/>
          <a:ext cx="855662" cy="410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1831837" imgH="8777143" progId="">
                  <p:embed/>
                </p:oleObj>
              </mc:Choice>
              <mc:Fallback>
                <p:oleObj name="Image" r:id="rId4" imgW="1831837" imgH="8777143" progId="">
                  <p:embed/>
                  <p:pic>
                    <p:nvPicPr>
                      <p:cNvPr id="2150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060575"/>
                        <a:ext cx="855662" cy="410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6846604"/>
              </p:ext>
            </p:extLst>
          </p:nvPr>
        </p:nvGraphicFramePr>
        <p:xfrm>
          <a:off x="3505200" y="2060575"/>
          <a:ext cx="2795588" cy="302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5897143" imgH="6435918" progId="">
                  <p:embed/>
                </p:oleObj>
              </mc:Choice>
              <mc:Fallback>
                <p:oleObj name="Image" r:id="rId6" imgW="5897143" imgH="6435918" progId="">
                  <p:embed/>
                  <p:pic>
                    <p:nvPicPr>
                      <p:cNvPr id="2150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060575"/>
                        <a:ext cx="2795588" cy="302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151929"/>
              </p:ext>
            </p:extLst>
          </p:nvPr>
        </p:nvGraphicFramePr>
        <p:xfrm>
          <a:off x="3505200" y="5049838"/>
          <a:ext cx="2819400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8" imgW="5877551" imgH="2351020" progId="">
                  <p:embed/>
                </p:oleObj>
              </mc:Choice>
              <mc:Fallback>
                <p:oleObj name="Image" r:id="rId8" imgW="5877551" imgH="2351020" progId="">
                  <p:embed/>
                  <p:pic>
                    <p:nvPicPr>
                      <p:cNvPr id="2150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049838"/>
                        <a:ext cx="2819400" cy="11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932104"/>
              </p:ext>
            </p:extLst>
          </p:nvPr>
        </p:nvGraphicFramePr>
        <p:xfrm>
          <a:off x="6516688" y="476250"/>
          <a:ext cx="2333625" cy="287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0" imgW="4016327" imgH="4956735" progId="">
                  <p:embed/>
                </p:oleObj>
              </mc:Choice>
              <mc:Fallback>
                <p:oleObj name="Image" r:id="rId10" imgW="4016327" imgH="4956735" progId="">
                  <p:embed/>
                  <p:pic>
                    <p:nvPicPr>
                      <p:cNvPr id="2150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476250"/>
                        <a:ext cx="2333625" cy="287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4" name="Text Box 34"/>
          <p:cNvSpPr txBox="1">
            <a:spLocks noChangeArrowheads="1"/>
          </p:cNvSpPr>
          <p:nvPr/>
        </p:nvSpPr>
        <p:spPr bwMode="auto">
          <a:xfrm>
            <a:off x="1116013" y="1412875"/>
            <a:ext cx="4968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用兩級解碼電路實現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4-16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</a:t>
            </a:r>
          </a:p>
        </p:txBody>
      </p:sp>
      <p:grpSp>
        <p:nvGrpSpPr>
          <p:cNvPr id="215077" name="Group 37"/>
          <p:cNvGrpSpPr>
            <a:grpSpLocks/>
          </p:cNvGrpSpPr>
          <p:nvPr/>
        </p:nvGrpSpPr>
        <p:grpSpPr bwMode="auto">
          <a:xfrm>
            <a:off x="898526" y="3559175"/>
            <a:ext cx="8137525" cy="3140074"/>
            <a:chOff x="566" y="2242"/>
            <a:chExt cx="5126" cy="1978"/>
          </a:xfrm>
        </p:grpSpPr>
        <p:grpSp>
          <p:nvGrpSpPr>
            <p:cNvPr id="215048" name="Group 8"/>
            <p:cNvGrpSpPr>
              <a:grpSpLocks/>
            </p:cNvGrpSpPr>
            <p:nvPr/>
          </p:nvGrpSpPr>
          <p:grpSpPr bwMode="auto">
            <a:xfrm>
              <a:off x="4105" y="2242"/>
              <a:ext cx="1532" cy="1597"/>
              <a:chOff x="4105" y="2242"/>
              <a:chExt cx="1532" cy="1597"/>
            </a:xfrm>
          </p:grpSpPr>
          <p:sp>
            <p:nvSpPr>
              <p:cNvPr id="215049" name="Rectangle 9"/>
              <p:cNvSpPr>
                <a:spLocks noChangeArrowheads="1"/>
              </p:cNvSpPr>
              <p:nvPr/>
            </p:nvSpPr>
            <p:spPr bwMode="auto">
              <a:xfrm>
                <a:off x="4423" y="2568"/>
                <a:ext cx="816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215050" name="Rectangle 10"/>
              <p:cNvSpPr>
                <a:spLocks noChangeArrowheads="1"/>
              </p:cNvSpPr>
              <p:nvPr/>
            </p:nvSpPr>
            <p:spPr bwMode="auto">
              <a:xfrm>
                <a:off x="4105" y="3294"/>
                <a:ext cx="544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215051" name="Rectangle 11"/>
              <p:cNvSpPr>
                <a:spLocks noChangeArrowheads="1"/>
              </p:cNvSpPr>
              <p:nvPr/>
            </p:nvSpPr>
            <p:spPr bwMode="auto">
              <a:xfrm>
                <a:off x="5057" y="3294"/>
                <a:ext cx="544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215052" name="Line 12"/>
              <p:cNvSpPr>
                <a:spLocks noChangeShapeType="1"/>
              </p:cNvSpPr>
              <p:nvPr/>
            </p:nvSpPr>
            <p:spPr bwMode="auto">
              <a:xfrm>
                <a:off x="4694" y="2840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215053" name="Line 13"/>
              <p:cNvSpPr>
                <a:spLocks noChangeShapeType="1"/>
              </p:cNvSpPr>
              <p:nvPr/>
            </p:nvSpPr>
            <p:spPr bwMode="auto">
              <a:xfrm>
                <a:off x="4967" y="2840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215054" name="Line 14"/>
              <p:cNvSpPr>
                <a:spLocks noChangeShapeType="1"/>
              </p:cNvSpPr>
              <p:nvPr/>
            </p:nvSpPr>
            <p:spPr bwMode="auto">
              <a:xfrm>
                <a:off x="5284" y="3022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215055" name="Line 15"/>
              <p:cNvSpPr>
                <a:spLocks noChangeShapeType="1"/>
              </p:cNvSpPr>
              <p:nvPr/>
            </p:nvSpPr>
            <p:spPr bwMode="auto">
              <a:xfrm>
                <a:off x="4377" y="3022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215056" name="Line 16"/>
              <p:cNvSpPr>
                <a:spLocks noChangeShapeType="1"/>
              </p:cNvSpPr>
              <p:nvPr/>
            </p:nvSpPr>
            <p:spPr bwMode="auto">
              <a:xfrm>
                <a:off x="4377" y="3022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215057" name="Line 17"/>
              <p:cNvSpPr>
                <a:spLocks noChangeShapeType="1"/>
              </p:cNvSpPr>
              <p:nvPr/>
            </p:nvSpPr>
            <p:spPr bwMode="auto">
              <a:xfrm>
                <a:off x="4967" y="3022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215058" name="Line 18"/>
              <p:cNvSpPr>
                <a:spLocks noChangeShapeType="1"/>
              </p:cNvSpPr>
              <p:nvPr/>
            </p:nvSpPr>
            <p:spPr bwMode="auto">
              <a:xfrm flipV="1">
                <a:off x="4830" y="2296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215059" name="Line 19"/>
              <p:cNvSpPr>
                <a:spLocks noChangeShapeType="1"/>
              </p:cNvSpPr>
              <p:nvPr/>
            </p:nvSpPr>
            <p:spPr bwMode="auto">
              <a:xfrm flipV="1">
                <a:off x="4377" y="3566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215060" name="Line 20"/>
              <p:cNvSpPr>
                <a:spLocks noChangeShapeType="1"/>
              </p:cNvSpPr>
              <p:nvPr/>
            </p:nvSpPr>
            <p:spPr bwMode="auto">
              <a:xfrm flipV="1">
                <a:off x="5329" y="3566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215061" name="Line 21"/>
              <p:cNvSpPr>
                <a:spLocks noChangeShapeType="1"/>
              </p:cNvSpPr>
              <p:nvPr/>
            </p:nvSpPr>
            <p:spPr bwMode="auto">
              <a:xfrm>
                <a:off x="4332" y="3657"/>
                <a:ext cx="90" cy="9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215062" name="Line 22"/>
              <p:cNvSpPr>
                <a:spLocks noChangeShapeType="1"/>
              </p:cNvSpPr>
              <p:nvPr/>
            </p:nvSpPr>
            <p:spPr bwMode="auto">
              <a:xfrm>
                <a:off x="5285" y="3657"/>
                <a:ext cx="90" cy="9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215063" name="Line 23"/>
              <p:cNvSpPr>
                <a:spLocks noChangeShapeType="1"/>
              </p:cNvSpPr>
              <p:nvPr/>
            </p:nvSpPr>
            <p:spPr bwMode="auto">
              <a:xfrm>
                <a:off x="5239" y="3113"/>
                <a:ext cx="90" cy="9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215064" name="Line 24"/>
              <p:cNvSpPr>
                <a:spLocks noChangeShapeType="1"/>
              </p:cNvSpPr>
              <p:nvPr/>
            </p:nvSpPr>
            <p:spPr bwMode="auto">
              <a:xfrm>
                <a:off x="4332" y="3113"/>
                <a:ext cx="90" cy="9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215065" name="Line 25"/>
              <p:cNvSpPr>
                <a:spLocks noChangeShapeType="1"/>
              </p:cNvSpPr>
              <p:nvPr/>
            </p:nvSpPr>
            <p:spPr bwMode="auto">
              <a:xfrm>
                <a:off x="4786" y="2387"/>
                <a:ext cx="90" cy="9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graphicFrame>
            <p:nvGraphicFramePr>
              <p:cNvPr id="215066" name="Object 2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9450864"/>
                  </p:ext>
                </p:extLst>
              </p:nvPr>
            </p:nvGraphicFramePr>
            <p:xfrm>
              <a:off x="4431" y="3612"/>
              <a:ext cx="157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114120" imgH="164880" progId="Equation.3">
                      <p:embed/>
                    </p:oleObj>
                  </mc:Choice>
                  <mc:Fallback>
                    <p:oleObj name="公式" r:id="rId12" imgW="114120" imgH="164880" progId="Equation.3">
                      <p:embed/>
                      <p:pic>
                        <p:nvPicPr>
                          <p:cNvPr id="215066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31" y="3612"/>
                            <a:ext cx="157" cy="22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067" name="Object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01215822"/>
                  </p:ext>
                </p:extLst>
              </p:nvPr>
            </p:nvGraphicFramePr>
            <p:xfrm>
              <a:off x="5428" y="3612"/>
              <a:ext cx="158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114120" imgH="164880" progId="Equation.3">
                      <p:embed/>
                    </p:oleObj>
                  </mc:Choice>
                  <mc:Fallback>
                    <p:oleObj name="公式" r:id="rId14" imgW="114120" imgH="164880" progId="Equation.3">
                      <p:embed/>
                      <p:pic>
                        <p:nvPicPr>
                          <p:cNvPr id="215067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28" y="3612"/>
                            <a:ext cx="158" cy="22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068" name="Object 2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53017052"/>
                  </p:ext>
                </p:extLst>
              </p:nvPr>
            </p:nvGraphicFramePr>
            <p:xfrm>
              <a:off x="4107" y="3286"/>
              <a:ext cx="577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6" imgW="419040" imgH="203040" progId="Equation.3">
                      <p:embed/>
                    </p:oleObj>
                  </mc:Choice>
                  <mc:Fallback>
                    <p:oleObj name="公式" r:id="rId16" imgW="419040" imgH="203040" progId="Equation.3">
                      <p:embed/>
                      <p:pic>
                        <p:nvPicPr>
                          <p:cNvPr id="215068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07" y="3286"/>
                            <a:ext cx="577" cy="27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069" name="Object 2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27344449"/>
                  </p:ext>
                </p:extLst>
              </p:nvPr>
            </p:nvGraphicFramePr>
            <p:xfrm>
              <a:off x="5060" y="3286"/>
              <a:ext cx="577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419040" imgH="203040" progId="Equation.3">
                      <p:embed/>
                    </p:oleObj>
                  </mc:Choice>
                  <mc:Fallback>
                    <p:oleObj name="公式" r:id="rId18" imgW="419040" imgH="203040" progId="Equation.3">
                      <p:embed/>
                      <p:pic>
                        <p:nvPicPr>
                          <p:cNvPr id="215069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60" y="3286"/>
                            <a:ext cx="577" cy="27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070" name="Object 3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67135153"/>
                  </p:ext>
                </p:extLst>
              </p:nvPr>
            </p:nvGraphicFramePr>
            <p:xfrm>
              <a:off x="4396" y="3013"/>
              <a:ext cx="227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164880" imgH="203040" progId="Equation.3">
                      <p:embed/>
                    </p:oleObj>
                  </mc:Choice>
                  <mc:Fallback>
                    <p:oleObj name="公式" r:id="rId20" imgW="164880" imgH="203040" progId="Equation.3">
                      <p:embed/>
                      <p:pic>
                        <p:nvPicPr>
                          <p:cNvPr id="21507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96" y="3013"/>
                            <a:ext cx="227" cy="28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071" name="Object 3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0542004"/>
                  </p:ext>
                </p:extLst>
              </p:nvPr>
            </p:nvGraphicFramePr>
            <p:xfrm>
              <a:off x="5320" y="3013"/>
              <a:ext cx="227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2" imgW="164880" imgH="203040" progId="Equation.3">
                      <p:embed/>
                    </p:oleObj>
                  </mc:Choice>
                  <mc:Fallback>
                    <p:oleObj name="公式" r:id="rId22" imgW="164880" imgH="203040" progId="Equation.3">
                      <p:embed/>
                      <p:pic>
                        <p:nvPicPr>
                          <p:cNvPr id="215071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0" y="3013"/>
                            <a:ext cx="227" cy="28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072" name="Object 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69224084"/>
                  </p:ext>
                </p:extLst>
              </p:nvPr>
            </p:nvGraphicFramePr>
            <p:xfrm>
              <a:off x="4561" y="2525"/>
              <a:ext cx="577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419040" imgH="203040" progId="Equation.3">
                      <p:embed/>
                    </p:oleObj>
                  </mc:Choice>
                  <mc:Fallback>
                    <p:oleObj name="公式" r:id="rId24" imgW="419040" imgH="203040" progId="Equation.3">
                      <p:embed/>
                      <p:pic>
                        <p:nvPicPr>
                          <p:cNvPr id="215072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1" y="2525"/>
                            <a:ext cx="577" cy="27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073" name="Object 3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34397341"/>
                  </p:ext>
                </p:extLst>
              </p:nvPr>
            </p:nvGraphicFramePr>
            <p:xfrm>
              <a:off x="4838" y="2242"/>
              <a:ext cx="228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6" imgW="164880" imgH="203040" progId="Equation.3">
                      <p:embed/>
                    </p:oleObj>
                  </mc:Choice>
                  <mc:Fallback>
                    <p:oleObj name="公式" r:id="rId26" imgW="164880" imgH="203040" progId="Equation.3">
                      <p:embed/>
                      <p:pic>
                        <p:nvPicPr>
                          <p:cNvPr id="215073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38" y="2242"/>
                            <a:ext cx="228" cy="28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15076" name="Text Box 36"/>
            <p:cNvSpPr txBox="1">
              <a:spLocks noChangeArrowheads="1"/>
            </p:cNvSpPr>
            <p:nvPr/>
          </p:nvSpPr>
          <p:spPr bwMode="auto">
            <a:xfrm>
              <a:off x="566" y="3929"/>
              <a:ext cx="512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(2X2</a:t>
              </a:r>
              <a:r>
                <a:rPr lang="en-US" altLang="zh-CN" b="1" baseline="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2</a:t>
              </a:r>
              <a:r>
                <a:rPr lang="zh-CN" altLang="en-US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表示</a:t>
              </a: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2</a:t>
              </a:r>
              <a:r>
                <a:rPr lang="zh-CN" altLang="en-US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輸入及閘</a:t>
              </a: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4</a:t>
              </a:r>
              <a:r>
                <a:rPr lang="zh-CN" altLang="en-US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個，</a:t>
              </a: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2X2</a:t>
              </a:r>
              <a:r>
                <a:rPr lang="en-US" altLang="zh-CN" b="1" baseline="300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4</a:t>
              </a:r>
              <a:r>
                <a:rPr lang="zh-CN" altLang="en-US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表示</a:t>
              </a: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2</a:t>
              </a:r>
              <a:r>
                <a:rPr lang="zh-CN" altLang="en-US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輸入反及閘</a:t>
              </a: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16</a:t>
              </a:r>
              <a:r>
                <a:rPr lang="zh-CN" altLang="en-US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個</a:t>
              </a:r>
              <a:r>
                <a:rPr lang="en-US" altLang="zh-CN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)</a:t>
              </a:r>
              <a:endParaRPr lang="en-US" altLang="zh-CN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 rot="5400000">
            <a:off x="1835696" y="350100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ea typeface="Noto Serif SC" panose="02020200000000000000" pitchFamily="18" charset="-122"/>
              </a:rPr>
              <a:t>…</a:t>
            </a:r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80112" y="5566380"/>
            <a:ext cx="144016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57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15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1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15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1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4" grpId="0" autoUpdateAnimBg="0"/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二級解碼</a:t>
            </a:r>
          </a:p>
        </p:txBody>
      </p:sp>
      <p:sp>
        <p:nvSpPr>
          <p:cNvPr id="15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47AE-C4B8-42D0-9154-B42387ADC6C2}" type="slidenum">
              <a:rPr lang="en-US" altLang="zh-CN">
                <a:solidFill>
                  <a:schemeClr val="tx1"/>
                </a:solidFill>
                <a:latin typeface="+mn-ea"/>
                <a:ea typeface="+mn-ea"/>
              </a:rPr>
              <a:pPr/>
              <a:t>52</a:t>
            </a:fld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216067" name="Group 3"/>
          <p:cNvGrpSpPr>
            <a:grpSpLocks/>
          </p:cNvGrpSpPr>
          <p:nvPr/>
        </p:nvGrpSpPr>
        <p:grpSpPr bwMode="auto">
          <a:xfrm>
            <a:off x="5934075" y="1204913"/>
            <a:ext cx="2455863" cy="2535238"/>
            <a:chOff x="3917" y="1652"/>
            <a:chExt cx="1547" cy="1597"/>
          </a:xfrm>
        </p:grpSpPr>
        <p:sp>
          <p:nvSpPr>
            <p:cNvPr id="216068" name="Rectangle 4"/>
            <p:cNvSpPr>
              <a:spLocks noChangeArrowheads="1"/>
            </p:cNvSpPr>
            <p:nvPr/>
          </p:nvSpPr>
          <p:spPr bwMode="auto">
            <a:xfrm>
              <a:off x="4241" y="1978"/>
              <a:ext cx="816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69" name="Rectangle 5"/>
            <p:cNvSpPr>
              <a:spLocks noChangeArrowheads="1"/>
            </p:cNvSpPr>
            <p:nvPr/>
          </p:nvSpPr>
          <p:spPr bwMode="auto">
            <a:xfrm>
              <a:off x="3923" y="2704"/>
              <a:ext cx="544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0" name="Rectangle 6"/>
            <p:cNvSpPr>
              <a:spLocks noChangeArrowheads="1"/>
            </p:cNvSpPr>
            <p:nvPr/>
          </p:nvSpPr>
          <p:spPr bwMode="auto">
            <a:xfrm>
              <a:off x="4875" y="2704"/>
              <a:ext cx="544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1" name="Line 7"/>
            <p:cNvSpPr>
              <a:spLocks noChangeShapeType="1"/>
            </p:cNvSpPr>
            <p:nvPr/>
          </p:nvSpPr>
          <p:spPr bwMode="auto">
            <a:xfrm>
              <a:off x="4512" y="2250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2" name="Line 8"/>
            <p:cNvSpPr>
              <a:spLocks noChangeShapeType="1"/>
            </p:cNvSpPr>
            <p:nvPr/>
          </p:nvSpPr>
          <p:spPr bwMode="auto">
            <a:xfrm>
              <a:off x="4785" y="2250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3" name="Line 9"/>
            <p:cNvSpPr>
              <a:spLocks noChangeShapeType="1"/>
            </p:cNvSpPr>
            <p:nvPr/>
          </p:nvSpPr>
          <p:spPr bwMode="auto">
            <a:xfrm>
              <a:off x="5102" y="2432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4" name="Line 10"/>
            <p:cNvSpPr>
              <a:spLocks noChangeShapeType="1"/>
            </p:cNvSpPr>
            <p:nvPr/>
          </p:nvSpPr>
          <p:spPr bwMode="auto">
            <a:xfrm>
              <a:off x="4195" y="2432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5" name="Line 11"/>
            <p:cNvSpPr>
              <a:spLocks noChangeShapeType="1"/>
            </p:cNvSpPr>
            <p:nvPr/>
          </p:nvSpPr>
          <p:spPr bwMode="auto">
            <a:xfrm>
              <a:off x="4195" y="243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6" name="Line 12"/>
            <p:cNvSpPr>
              <a:spLocks noChangeShapeType="1"/>
            </p:cNvSpPr>
            <p:nvPr/>
          </p:nvSpPr>
          <p:spPr bwMode="auto">
            <a:xfrm>
              <a:off x="4785" y="243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7" name="Line 13"/>
            <p:cNvSpPr>
              <a:spLocks noChangeShapeType="1"/>
            </p:cNvSpPr>
            <p:nvPr/>
          </p:nvSpPr>
          <p:spPr bwMode="auto">
            <a:xfrm flipV="1">
              <a:off x="4648" y="1706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8" name="Line 14"/>
            <p:cNvSpPr>
              <a:spLocks noChangeShapeType="1"/>
            </p:cNvSpPr>
            <p:nvPr/>
          </p:nvSpPr>
          <p:spPr bwMode="auto">
            <a:xfrm flipV="1">
              <a:off x="4195" y="2976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9" name="Line 15"/>
            <p:cNvSpPr>
              <a:spLocks noChangeShapeType="1"/>
            </p:cNvSpPr>
            <p:nvPr/>
          </p:nvSpPr>
          <p:spPr bwMode="auto">
            <a:xfrm flipV="1">
              <a:off x="5147" y="2976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80" name="Line 16"/>
            <p:cNvSpPr>
              <a:spLocks noChangeShapeType="1"/>
            </p:cNvSpPr>
            <p:nvPr/>
          </p:nvSpPr>
          <p:spPr bwMode="auto">
            <a:xfrm>
              <a:off x="4150" y="3067"/>
              <a:ext cx="9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81" name="Line 17"/>
            <p:cNvSpPr>
              <a:spLocks noChangeShapeType="1"/>
            </p:cNvSpPr>
            <p:nvPr/>
          </p:nvSpPr>
          <p:spPr bwMode="auto">
            <a:xfrm>
              <a:off x="5103" y="3067"/>
              <a:ext cx="9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82" name="Line 18"/>
            <p:cNvSpPr>
              <a:spLocks noChangeShapeType="1"/>
            </p:cNvSpPr>
            <p:nvPr/>
          </p:nvSpPr>
          <p:spPr bwMode="auto">
            <a:xfrm>
              <a:off x="5057" y="2523"/>
              <a:ext cx="9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83" name="Line 19"/>
            <p:cNvSpPr>
              <a:spLocks noChangeShapeType="1"/>
            </p:cNvSpPr>
            <p:nvPr/>
          </p:nvSpPr>
          <p:spPr bwMode="auto">
            <a:xfrm>
              <a:off x="4150" y="2523"/>
              <a:ext cx="9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84" name="Line 20"/>
            <p:cNvSpPr>
              <a:spLocks noChangeShapeType="1"/>
            </p:cNvSpPr>
            <p:nvPr/>
          </p:nvSpPr>
          <p:spPr bwMode="auto">
            <a:xfrm>
              <a:off x="4604" y="1797"/>
              <a:ext cx="9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16085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4546521"/>
                </p:ext>
              </p:extLst>
            </p:nvPr>
          </p:nvGraphicFramePr>
          <p:xfrm>
            <a:off x="4240" y="3022"/>
            <a:ext cx="175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26720" imgH="164880" progId="Equation.3">
                    <p:embed/>
                  </p:oleObj>
                </mc:Choice>
                <mc:Fallback>
                  <p:oleObj name="公式" r:id="rId2" imgW="126720" imgH="164880" progId="Equation.3">
                    <p:embed/>
                    <p:pic>
                      <p:nvPicPr>
                        <p:cNvPr id="216085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0" y="3022"/>
                          <a:ext cx="175" cy="2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086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8468209"/>
                </p:ext>
              </p:extLst>
            </p:nvPr>
          </p:nvGraphicFramePr>
          <p:xfrm>
            <a:off x="5238" y="3022"/>
            <a:ext cx="175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26720" imgH="164880" progId="Equation.3">
                    <p:embed/>
                  </p:oleObj>
                </mc:Choice>
                <mc:Fallback>
                  <p:oleObj name="公式" r:id="rId4" imgW="126720" imgH="164880" progId="Equation.3">
                    <p:embed/>
                    <p:pic>
                      <p:nvPicPr>
                        <p:cNvPr id="216086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8" y="3022"/>
                          <a:ext cx="175" cy="2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087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8912335"/>
                </p:ext>
              </p:extLst>
            </p:nvPr>
          </p:nvGraphicFramePr>
          <p:xfrm>
            <a:off x="3917" y="2696"/>
            <a:ext cx="594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431640" imgH="203040" progId="Equation.3">
                    <p:embed/>
                  </p:oleObj>
                </mc:Choice>
                <mc:Fallback>
                  <p:oleObj name="公式" r:id="rId6" imgW="431640" imgH="203040" progId="Equation.3">
                    <p:embed/>
                    <p:pic>
                      <p:nvPicPr>
                        <p:cNvPr id="216087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7" y="2696"/>
                          <a:ext cx="594" cy="2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088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4101514"/>
                </p:ext>
              </p:extLst>
            </p:nvPr>
          </p:nvGraphicFramePr>
          <p:xfrm>
            <a:off x="4869" y="2696"/>
            <a:ext cx="595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31640" imgH="203040" progId="Equation.3">
                    <p:embed/>
                  </p:oleObj>
                </mc:Choice>
                <mc:Fallback>
                  <p:oleObj name="Equation" r:id="rId8" imgW="431640" imgH="203040" progId="Equation.3">
                    <p:embed/>
                    <p:pic>
                      <p:nvPicPr>
                        <p:cNvPr id="216088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9" y="2696"/>
                          <a:ext cx="595" cy="2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089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2840291"/>
                </p:ext>
              </p:extLst>
            </p:nvPr>
          </p:nvGraphicFramePr>
          <p:xfrm>
            <a:off x="4213" y="2424"/>
            <a:ext cx="228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4880" imgH="203040" progId="Equation.3">
                    <p:embed/>
                  </p:oleObj>
                </mc:Choice>
                <mc:Fallback>
                  <p:oleObj name="Equation" r:id="rId10" imgW="164880" imgH="203040" progId="Equation.3">
                    <p:embed/>
                    <p:pic>
                      <p:nvPicPr>
                        <p:cNvPr id="216089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3" y="2424"/>
                          <a:ext cx="228" cy="2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090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0145841"/>
                </p:ext>
              </p:extLst>
            </p:nvPr>
          </p:nvGraphicFramePr>
          <p:xfrm>
            <a:off x="5156" y="2424"/>
            <a:ext cx="228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4880" imgH="203040" progId="Equation.3">
                    <p:embed/>
                  </p:oleObj>
                </mc:Choice>
                <mc:Fallback>
                  <p:oleObj name="Equation" r:id="rId12" imgW="164880" imgH="203040" progId="Equation.3">
                    <p:embed/>
                    <p:pic>
                      <p:nvPicPr>
                        <p:cNvPr id="21609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6" y="2424"/>
                          <a:ext cx="228" cy="2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091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3774937"/>
                </p:ext>
              </p:extLst>
            </p:nvPr>
          </p:nvGraphicFramePr>
          <p:xfrm>
            <a:off x="4379" y="1935"/>
            <a:ext cx="577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419040" imgH="203040" progId="Equation.3">
                    <p:embed/>
                  </p:oleObj>
                </mc:Choice>
                <mc:Fallback>
                  <p:oleObj name="公式" r:id="rId14" imgW="419040" imgH="203040" progId="Equation.3">
                    <p:embed/>
                    <p:pic>
                      <p:nvPicPr>
                        <p:cNvPr id="216091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9" y="1935"/>
                          <a:ext cx="577" cy="2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092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3292152"/>
                </p:ext>
              </p:extLst>
            </p:nvPr>
          </p:nvGraphicFramePr>
          <p:xfrm>
            <a:off x="4656" y="1652"/>
            <a:ext cx="228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64880" imgH="203040" progId="Equation.3">
                    <p:embed/>
                  </p:oleObj>
                </mc:Choice>
                <mc:Fallback>
                  <p:oleObj name="公式" r:id="rId16" imgW="164880" imgH="203040" progId="Equation.3">
                    <p:embed/>
                    <p:pic>
                      <p:nvPicPr>
                        <p:cNvPr id="216092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652"/>
                          <a:ext cx="228" cy="2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6093" name="Text Box 29"/>
          <p:cNvSpPr txBox="1">
            <a:spLocks noChangeArrowheads="1"/>
          </p:cNvSpPr>
          <p:nvPr/>
        </p:nvSpPr>
        <p:spPr bwMode="auto">
          <a:xfrm>
            <a:off x="1086984" y="1454150"/>
            <a:ext cx="720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用兩級解碼實現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8-256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</a:t>
            </a:r>
          </a:p>
        </p:txBody>
      </p:sp>
      <p:grpSp>
        <p:nvGrpSpPr>
          <p:cNvPr id="216094" name="Group 30"/>
          <p:cNvGrpSpPr>
            <a:grpSpLocks/>
          </p:cNvGrpSpPr>
          <p:nvPr/>
        </p:nvGrpSpPr>
        <p:grpSpPr bwMode="auto">
          <a:xfrm>
            <a:off x="149225" y="1773238"/>
            <a:ext cx="5464175" cy="4968875"/>
            <a:chOff x="94" y="1117"/>
            <a:chExt cx="3442" cy="3130"/>
          </a:xfrm>
        </p:grpSpPr>
        <p:grpSp>
          <p:nvGrpSpPr>
            <p:cNvPr id="216095" name="Group 31"/>
            <p:cNvGrpSpPr>
              <a:grpSpLocks/>
            </p:cNvGrpSpPr>
            <p:nvPr/>
          </p:nvGrpSpPr>
          <p:grpSpPr bwMode="auto">
            <a:xfrm>
              <a:off x="94" y="1341"/>
              <a:ext cx="3330" cy="2906"/>
              <a:chOff x="94" y="1341"/>
              <a:chExt cx="3330" cy="2906"/>
            </a:xfrm>
          </p:grpSpPr>
          <p:sp>
            <p:nvSpPr>
              <p:cNvPr id="216096" name="Line 32"/>
              <p:cNvSpPr>
                <a:spLocks noChangeShapeType="1"/>
              </p:cNvSpPr>
              <p:nvPr/>
            </p:nvSpPr>
            <p:spPr bwMode="auto">
              <a:xfrm>
                <a:off x="703" y="1616"/>
                <a:ext cx="25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097" name="Line 33"/>
              <p:cNvSpPr>
                <a:spLocks noChangeShapeType="1"/>
              </p:cNvSpPr>
              <p:nvPr/>
            </p:nvSpPr>
            <p:spPr bwMode="auto">
              <a:xfrm>
                <a:off x="703" y="1979"/>
                <a:ext cx="25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098" name="Line 34"/>
              <p:cNvSpPr>
                <a:spLocks noChangeShapeType="1"/>
              </p:cNvSpPr>
              <p:nvPr/>
            </p:nvSpPr>
            <p:spPr bwMode="auto">
              <a:xfrm>
                <a:off x="703" y="3385"/>
                <a:ext cx="25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099" name="Line 35"/>
              <p:cNvSpPr>
                <a:spLocks noChangeShapeType="1"/>
              </p:cNvSpPr>
              <p:nvPr/>
            </p:nvSpPr>
            <p:spPr bwMode="auto">
              <a:xfrm>
                <a:off x="1111" y="1344"/>
                <a:ext cx="0" cy="23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00" name="Line 36"/>
              <p:cNvSpPr>
                <a:spLocks noChangeShapeType="1"/>
              </p:cNvSpPr>
              <p:nvPr/>
            </p:nvSpPr>
            <p:spPr bwMode="auto">
              <a:xfrm>
                <a:off x="1565" y="1344"/>
                <a:ext cx="0" cy="23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01" name="Line 37"/>
              <p:cNvSpPr>
                <a:spLocks noChangeShapeType="1"/>
              </p:cNvSpPr>
              <p:nvPr/>
            </p:nvSpPr>
            <p:spPr bwMode="auto">
              <a:xfrm>
                <a:off x="3016" y="1344"/>
                <a:ext cx="0" cy="23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16102" name="Group 38"/>
              <p:cNvGrpSpPr>
                <a:grpSpLocks/>
              </p:cNvGrpSpPr>
              <p:nvPr/>
            </p:nvGrpSpPr>
            <p:grpSpPr bwMode="auto">
              <a:xfrm rot="-2514530">
                <a:off x="1110" y="1341"/>
                <a:ext cx="359" cy="181"/>
                <a:chOff x="2064" y="3748"/>
                <a:chExt cx="589" cy="272"/>
              </a:xfrm>
            </p:grpSpPr>
            <p:sp>
              <p:nvSpPr>
                <p:cNvPr id="216103" name="Rectangle 39"/>
                <p:cNvSpPr>
                  <a:spLocks noChangeArrowheads="1"/>
                </p:cNvSpPr>
                <p:nvPr/>
              </p:nvSpPr>
              <p:spPr bwMode="auto">
                <a:xfrm>
                  <a:off x="2200" y="3748"/>
                  <a:ext cx="181" cy="27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04" name="Oval 40"/>
                <p:cNvSpPr>
                  <a:spLocks noChangeArrowheads="1"/>
                </p:cNvSpPr>
                <p:nvPr/>
              </p:nvSpPr>
              <p:spPr bwMode="auto">
                <a:xfrm>
                  <a:off x="2381" y="3839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05" name="Line 41"/>
                <p:cNvSpPr>
                  <a:spLocks noChangeShapeType="1"/>
                </p:cNvSpPr>
                <p:nvPr/>
              </p:nvSpPr>
              <p:spPr bwMode="auto">
                <a:xfrm>
                  <a:off x="2472" y="3884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06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2064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07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2064" y="397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08" name="Group 44"/>
              <p:cNvGrpSpPr>
                <a:grpSpLocks/>
              </p:cNvGrpSpPr>
              <p:nvPr/>
            </p:nvGrpSpPr>
            <p:grpSpPr bwMode="auto">
              <a:xfrm rot="-2514530">
                <a:off x="1565" y="1344"/>
                <a:ext cx="359" cy="181"/>
                <a:chOff x="2064" y="3748"/>
                <a:chExt cx="589" cy="272"/>
              </a:xfrm>
            </p:grpSpPr>
            <p:sp>
              <p:nvSpPr>
                <p:cNvPr id="216109" name="Rectangle 45"/>
                <p:cNvSpPr>
                  <a:spLocks noChangeArrowheads="1"/>
                </p:cNvSpPr>
                <p:nvPr/>
              </p:nvSpPr>
              <p:spPr bwMode="auto">
                <a:xfrm>
                  <a:off x="2200" y="3748"/>
                  <a:ext cx="181" cy="27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10" name="Oval 46"/>
                <p:cNvSpPr>
                  <a:spLocks noChangeArrowheads="1"/>
                </p:cNvSpPr>
                <p:nvPr/>
              </p:nvSpPr>
              <p:spPr bwMode="auto">
                <a:xfrm>
                  <a:off x="2381" y="3839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11" name="Line 47"/>
                <p:cNvSpPr>
                  <a:spLocks noChangeShapeType="1"/>
                </p:cNvSpPr>
                <p:nvPr/>
              </p:nvSpPr>
              <p:spPr bwMode="auto">
                <a:xfrm>
                  <a:off x="2472" y="3884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12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2064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13" name="Line 49"/>
                <p:cNvSpPr>
                  <a:spLocks noChangeShapeType="1"/>
                </p:cNvSpPr>
                <p:nvPr/>
              </p:nvSpPr>
              <p:spPr bwMode="auto">
                <a:xfrm flipH="1">
                  <a:off x="2064" y="397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14" name="Group 50"/>
              <p:cNvGrpSpPr>
                <a:grpSpLocks/>
              </p:cNvGrpSpPr>
              <p:nvPr/>
            </p:nvGrpSpPr>
            <p:grpSpPr bwMode="auto">
              <a:xfrm rot="-2514530">
                <a:off x="1568" y="1706"/>
                <a:ext cx="359" cy="181"/>
                <a:chOff x="2064" y="3748"/>
                <a:chExt cx="589" cy="272"/>
              </a:xfrm>
            </p:grpSpPr>
            <p:sp>
              <p:nvSpPr>
                <p:cNvPr id="216115" name="Rectangle 51"/>
                <p:cNvSpPr>
                  <a:spLocks noChangeArrowheads="1"/>
                </p:cNvSpPr>
                <p:nvPr/>
              </p:nvSpPr>
              <p:spPr bwMode="auto">
                <a:xfrm>
                  <a:off x="2200" y="3748"/>
                  <a:ext cx="181" cy="27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16" name="Oval 52"/>
                <p:cNvSpPr>
                  <a:spLocks noChangeArrowheads="1"/>
                </p:cNvSpPr>
                <p:nvPr/>
              </p:nvSpPr>
              <p:spPr bwMode="auto">
                <a:xfrm>
                  <a:off x="2381" y="3839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17" name="Line 53"/>
                <p:cNvSpPr>
                  <a:spLocks noChangeShapeType="1"/>
                </p:cNvSpPr>
                <p:nvPr/>
              </p:nvSpPr>
              <p:spPr bwMode="auto">
                <a:xfrm>
                  <a:off x="2472" y="3884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18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2064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19" name="Line 55"/>
                <p:cNvSpPr>
                  <a:spLocks noChangeShapeType="1"/>
                </p:cNvSpPr>
                <p:nvPr/>
              </p:nvSpPr>
              <p:spPr bwMode="auto">
                <a:xfrm flipH="1">
                  <a:off x="2064" y="397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20" name="Group 56"/>
              <p:cNvGrpSpPr>
                <a:grpSpLocks/>
              </p:cNvGrpSpPr>
              <p:nvPr/>
            </p:nvGrpSpPr>
            <p:grpSpPr bwMode="auto">
              <a:xfrm rot="-2514530">
                <a:off x="1111" y="1706"/>
                <a:ext cx="359" cy="181"/>
                <a:chOff x="2064" y="3748"/>
                <a:chExt cx="589" cy="272"/>
              </a:xfrm>
            </p:grpSpPr>
            <p:sp>
              <p:nvSpPr>
                <p:cNvPr id="216121" name="Rectangle 57"/>
                <p:cNvSpPr>
                  <a:spLocks noChangeArrowheads="1"/>
                </p:cNvSpPr>
                <p:nvPr/>
              </p:nvSpPr>
              <p:spPr bwMode="auto">
                <a:xfrm>
                  <a:off x="2200" y="3748"/>
                  <a:ext cx="181" cy="27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22" name="Oval 58"/>
                <p:cNvSpPr>
                  <a:spLocks noChangeArrowheads="1"/>
                </p:cNvSpPr>
                <p:nvPr/>
              </p:nvSpPr>
              <p:spPr bwMode="auto">
                <a:xfrm>
                  <a:off x="2381" y="3839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23" name="Line 59"/>
                <p:cNvSpPr>
                  <a:spLocks noChangeShapeType="1"/>
                </p:cNvSpPr>
                <p:nvPr/>
              </p:nvSpPr>
              <p:spPr bwMode="auto">
                <a:xfrm>
                  <a:off x="2472" y="3884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24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2064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25" name="Line 61"/>
                <p:cNvSpPr>
                  <a:spLocks noChangeShapeType="1"/>
                </p:cNvSpPr>
                <p:nvPr/>
              </p:nvSpPr>
              <p:spPr bwMode="auto">
                <a:xfrm flipH="1">
                  <a:off x="2064" y="397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26" name="Group 62"/>
              <p:cNvGrpSpPr>
                <a:grpSpLocks/>
              </p:cNvGrpSpPr>
              <p:nvPr/>
            </p:nvGrpSpPr>
            <p:grpSpPr bwMode="auto">
              <a:xfrm rot="-2514530">
                <a:off x="1111" y="3113"/>
                <a:ext cx="359" cy="181"/>
                <a:chOff x="2064" y="3748"/>
                <a:chExt cx="589" cy="272"/>
              </a:xfrm>
            </p:grpSpPr>
            <p:sp>
              <p:nvSpPr>
                <p:cNvPr id="216127" name="Rectangle 63"/>
                <p:cNvSpPr>
                  <a:spLocks noChangeArrowheads="1"/>
                </p:cNvSpPr>
                <p:nvPr/>
              </p:nvSpPr>
              <p:spPr bwMode="auto">
                <a:xfrm>
                  <a:off x="2200" y="3748"/>
                  <a:ext cx="181" cy="27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28" name="Oval 64"/>
                <p:cNvSpPr>
                  <a:spLocks noChangeArrowheads="1"/>
                </p:cNvSpPr>
                <p:nvPr/>
              </p:nvSpPr>
              <p:spPr bwMode="auto">
                <a:xfrm>
                  <a:off x="2381" y="3839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29" name="Line 65"/>
                <p:cNvSpPr>
                  <a:spLocks noChangeShapeType="1"/>
                </p:cNvSpPr>
                <p:nvPr/>
              </p:nvSpPr>
              <p:spPr bwMode="auto">
                <a:xfrm>
                  <a:off x="2472" y="3884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30" name="Line 66"/>
                <p:cNvSpPr>
                  <a:spLocks noChangeShapeType="1"/>
                </p:cNvSpPr>
                <p:nvPr/>
              </p:nvSpPr>
              <p:spPr bwMode="auto">
                <a:xfrm flipH="1">
                  <a:off x="2064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31" name="Line 67"/>
                <p:cNvSpPr>
                  <a:spLocks noChangeShapeType="1"/>
                </p:cNvSpPr>
                <p:nvPr/>
              </p:nvSpPr>
              <p:spPr bwMode="auto">
                <a:xfrm flipH="1">
                  <a:off x="2064" y="397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32" name="Group 68"/>
              <p:cNvGrpSpPr>
                <a:grpSpLocks/>
              </p:cNvGrpSpPr>
              <p:nvPr/>
            </p:nvGrpSpPr>
            <p:grpSpPr bwMode="auto">
              <a:xfrm rot="-2514530">
                <a:off x="1565" y="3113"/>
                <a:ext cx="359" cy="181"/>
                <a:chOff x="2064" y="3748"/>
                <a:chExt cx="589" cy="272"/>
              </a:xfrm>
            </p:grpSpPr>
            <p:sp>
              <p:nvSpPr>
                <p:cNvPr id="216133" name="Rectangle 69"/>
                <p:cNvSpPr>
                  <a:spLocks noChangeArrowheads="1"/>
                </p:cNvSpPr>
                <p:nvPr/>
              </p:nvSpPr>
              <p:spPr bwMode="auto">
                <a:xfrm>
                  <a:off x="2200" y="3748"/>
                  <a:ext cx="181" cy="27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34" name="Oval 70"/>
                <p:cNvSpPr>
                  <a:spLocks noChangeArrowheads="1"/>
                </p:cNvSpPr>
                <p:nvPr/>
              </p:nvSpPr>
              <p:spPr bwMode="auto">
                <a:xfrm>
                  <a:off x="2381" y="3839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35" name="Line 71"/>
                <p:cNvSpPr>
                  <a:spLocks noChangeShapeType="1"/>
                </p:cNvSpPr>
                <p:nvPr/>
              </p:nvSpPr>
              <p:spPr bwMode="auto">
                <a:xfrm>
                  <a:off x="2472" y="3884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36" name="Line 72"/>
                <p:cNvSpPr>
                  <a:spLocks noChangeShapeType="1"/>
                </p:cNvSpPr>
                <p:nvPr/>
              </p:nvSpPr>
              <p:spPr bwMode="auto">
                <a:xfrm flipH="1">
                  <a:off x="2064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37" name="Line 73"/>
                <p:cNvSpPr>
                  <a:spLocks noChangeShapeType="1"/>
                </p:cNvSpPr>
                <p:nvPr/>
              </p:nvSpPr>
              <p:spPr bwMode="auto">
                <a:xfrm flipH="1">
                  <a:off x="2064" y="397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38" name="Group 74"/>
              <p:cNvGrpSpPr>
                <a:grpSpLocks/>
              </p:cNvGrpSpPr>
              <p:nvPr/>
            </p:nvGrpSpPr>
            <p:grpSpPr bwMode="auto">
              <a:xfrm rot="-2514530">
                <a:off x="3020" y="3113"/>
                <a:ext cx="359" cy="181"/>
                <a:chOff x="2064" y="3748"/>
                <a:chExt cx="589" cy="272"/>
              </a:xfrm>
            </p:grpSpPr>
            <p:sp>
              <p:nvSpPr>
                <p:cNvPr id="216139" name="Rectangle 75"/>
                <p:cNvSpPr>
                  <a:spLocks noChangeArrowheads="1"/>
                </p:cNvSpPr>
                <p:nvPr/>
              </p:nvSpPr>
              <p:spPr bwMode="auto">
                <a:xfrm>
                  <a:off x="2200" y="3748"/>
                  <a:ext cx="181" cy="27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40" name="Oval 76"/>
                <p:cNvSpPr>
                  <a:spLocks noChangeArrowheads="1"/>
                </p:cNvSpPr>
                <p:nvPr/>
              </p:nvSpPr>
              <p:spPr bwMode="auto">
                <a:xfrm>
                  <a:off x="2381" y="3839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41" name="Line 77"/>
                <p:cNvSpPr>
                  <a:spLocks noChangeShapeType="1"/>
                </p:cNvSpPr>
                <p:nvPr/>
              </p:nvSpPr>
              <p:spPr bwMode="auto">
                <a:xfrm>
                  <a:off x="2472" y="3884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42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2064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43" name="Line 79"/>
                <p:cNvSpPr>
                  <a:spLocks noChangeShapeType="1"/>
                </p:cNvSpPr>
                <p:nvPr/>
              </p:nvSpPr>
              <p:spPr bwMode="auto">
                <a:xfrm flipH="1">
                  <a:off x="2064" y="397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16144" name="Rectangle 80"/>
              <p:cNvSpPr>
                <a:spLocks noChangeArrowheads="1"/>
              </p:cNvSpPr>
              <p:nvPr/>
            </p:nvSpPr>
            <p:spPr bwMode="auto">
              <a:xfrm>
                <a:off x="476" y="1389"/>
                <a:ext cx="227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45" name="Line 81"/>
              <p:cNvSpPr>
                <a:spLocks noChangeShapeType="1"/>
              </p:cNvSpPr>
              <p:nvPr/>
            </p:nvSpPr>
            <p:spPr bwMode="auto">
              <a:xfrm>
                <a:off x="340" y="1480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46" name="Line 82"/>
              <p:cNvSpPr>
                <a:spLocks noChangeShapeType="1"/>
              </p:cNvSpPr>
              <p:nvPr/>
            </p:nvSpPr>
            <p:spPr bwMode="auto">
              <a:xfrm>
                <a:off x="340" y="1570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47" name="Line 83"/>
              <p:cNvSpPr>
                <a:spLocks noChangeShapeType="1"/>
              </p:cNvSpPr>
              <p:nvPr/>
            </p:nvSpPr>
            <p:spPr bwMode="auto">
              <a:xfrm>
                <a:off x="340" y="1661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48" name="Line 84"/>
              <p:cNvSpPr>
                <a:spLocks noChangeShapeType="1"/>
              </p:cNvSpPr>
              <p:nvPr/>
            </p:nvSpPr>
            <p:spPr bwMode="auto">
              <a:xfrm>
                <a:off x="340" y="1752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49" name="Rectangle 85"/>
              <p:cNvSpPr>
                <a:spLocks noChangeArrowheads="1"/>
              </p:cNvSpPr>
              <p:nvPr/>
            </p:nvSpPr>
            <p:spPr bwMode="auto">
              <a:xfrm>
                <a:off x="476" y="1843"/>
                <a:ext cx="227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50" name="Line 86"/>
              <p:cNvSpPr>
                <a:spLocks noChangeShapeType="1"/>
              </p:cNvSpPr>
              <p:nvPr/>
            </p:nvSpPr>
            <p:spPr bwMode="auto">
              <a:xfrm>
                <a:off x="340" y="1934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51" name="Line 87"/>
              <p:cNvSpPr>
                <a:spLocks noChangeShapeType="1"/>
              </p:cNvSpPr>
              <p:nvPr/>
            </p:nvSpPr>
            <p:spPr bwMode="auto">
              <a:xfrm>
                <a:off x="340" y="2024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52" name="Line 88"/>
              <p:cNvSpPr>
                <a:spLocks noChangeShapeType="1"/>
              </p:cNvSpPr>
              <p:nvPr/>
            </p:nvSpPr>
            <p:spPr bwMode="auto">
              <a:xfrm>
                <a:off x="340" y="2115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53" name="Line 89"/>
              <p:cNvSpPr>
                <a:spLocks noChangeShapeType="1"/>
              </p:cNvSpPr>
              <p:nvPr/>
            </p:nvSpPr>
            <p:spPr bwMode="auto">
              <a:xfrm>
                <a:off x="340" y="2206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54" name="Rectangle 90"/>
              <p:cNvSpPr>
                <a:spLocks noChangeArrowheads="1"/>
              </p:cNvSpPr>
              <p:nvPr/>
            </p:nvSpPr>
            <p:spPr bwMode="auto">
              <a:xfrm>
                <a:off x="476" y="3158"/>
                <a:ext cx="227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55" name="Line 91"/>
              <p:cNvSpPr>
                <a:spLocks noChangeShapeType="1"/>
              </p:cNvSpPr>
              <p:nvPr/>
            </p:nvSpPr>
            <p:spPr bwMode="auto">
              <a:xfrm>
                <a:off x="340" y="3249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56" name="Line 92"/>
              <p:cNvSpPr>
                <a:spLocks noChangeShapeType="1"/>
              </p:cNvSpPr>
              <p:nvPr/>
            </p:nvSpPr>
            <p:spPr bwMode="auto">
              <a:xfrm>
                <a:off x="340" y="3339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57" name="Line 93"/>
              <p:cNvSpPr>
                <a:spLocks noChangeShapeType="1"/>
              </p:cNvSpPr>
              <p:nvPr/>
            </p:nvSpPr>
            <p:spPr bwMode="auto">
              <a:xfrm>
                <a:off x="340" y="3430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58" name="Line 94"/>
              <p:cNvSpPr>
                <a:spLocks noChangeShapeType="1"/>
              </p:cNvSpPr>
              <p:nvPr/>
            </p:nvSpPr>
            <p:spPr bwMode="auto">
              <a:xfrm>
                <a:off x="340" y="3521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16159" name="Group 95"/>
              <p:cNvGrpSpPr>
                <a:grpSpLocks/>
              </p:cNvGrpSpPr>
              <p:nvPr/>
            </p:nvGrpSpPr>
            <p:grpSpPr bwMode="auto">
              <a:xfrm rot="16200000">
                <a:off x="906" y="3635"/>
                <a:ext cx="363" cy="408"/>
                <a:chOff x="476" y="3612"/>
                <a:chExt cx="363" cy="408"/>
              </a:xfrm>
            </p:grpSpPr>
            <p:sp>
              <p:nvSpPr>
                <p:cNvPr id="216160" name="Rectangle 96"/>
                <p:cNvSpPr>
                  <a:spLocks noChangeArrowheads="1"/>
                </p:cNvSpPr>
                <p:nvPr/>
              </p:nvSpPr>
              <p:spPr bwMode="auto">
                <a:xfrm>
                  <a:off x="612" y="3612"/>
                  <a:ext cx="227" cy="40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61" name="Line 97"/>
                <p:cNvSpPr>
                  <a:spLocks noChangeShapeType="1"/>
                </p:cNvSpPr>
                <p:nvPr/>
              </p:nvSpPr>
              <p:spPr bwMode="auto">
                <a:xfrm>
                  <a:off x="476" y="370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62" name="Line 98"/>
                <p:cNvSpPr>
                  <a:spLocks noChangeShapeType="1"/>
                </p:cNvSpPr>
                <p:nvPr/>
              </p:nvSpPr>
              <p:spPr bwMode="auto">
                <a:xfrm>
                  <a:off x="476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63" name="Line 99"/>
                <p:cNvSpPr>
                  <a:spLocks noChangeShapeType="1"/>
                </p:cNvSpPr>
                <p:nvPr/>
              </p:nvSpPr>
              <p:spPr bwMode="auto">
                <a:xfrm>
                  <a:off x="476" y="388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64" name="Line 100"/>
                <p:cNvSpPr>
                  <a:spLocks noChangeShapeType="1"/>
                </p:cNvSpPr>
                <p:nvPr/>
              </p:nvSpPr>
              <p:spPr bwMode="auto">
                <a:xfrm>
                  <a:off x="476" y="3975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65" name="Group 101"/>
              <p:cNvGrpSpPr>
                <a:grpSpLocks/>
              </p:cNvGrpSpPr>
              <p:nvPr/>
            </p:nvGrpSpPr>
            <p:grpSpPr bwMode="auto">
              <a:xfrm rot="16200000">
                <a:off x="1360" y="3635"/>
                <a:ext cx="363" cy="408"/>
                <a:chOff x="476" y="3612"/>
                <a:chExt cx="363" cy="408"/>
              </a:xfrm>
            </p:grpSpPr>
            <p:sp>
              <p:nvSpPr>
                <p:cNvPr id="216166" name="Rectangle 102"/>
                <p:cNvSpPr>
                  <a:spLocks noChangeArrowheads="1"/>
                </p:cNvSpPr>
                <p:nvPr/>
              </p:nvSpPr>
              <p:spPr bwMode="auto">
                <a:xfrm>
                  <a:off x="612" y="3612"/>
                  <a:ext cx="227" cy="40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67" name="Line 103"/>
                <p:cNvSpPr>
                  <a:spLocks noChangeShapeType="1"/>
                </p:cNvSpPr>
                <p:nvPr/>
              </p:nvSpPr>
              <p:spPr bwMode="auto">
                <a:xfrm>
                  <a:off x="476" y="370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68" name="Line 104"/>
                <p:cNvSpPr>
                  <a:spLocks noChangeShapeType="1"/>
                </p:cNvSpPr>
                <p:nvPr/>
              </p:nvSpPr>
              <p:spPr bwMode="auto">
                <a:xfrm>
                  <a:off x="476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69" name="Line 105"/>
                <p:cNvSpPr>
                  <a:spLocks noChangeShapeType="1"/>
                </p:cNvSpPr>
                <p:nvPr/>
              </p:nvSpPr>
              <p:spPr bwMode="auto">
                <a:xfrm>
                  <a:off x="476" y="388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70" name="Line 106"/>
                <p:cNvSpPr>
                  <a:spLocks noChangeShapeType="1"/>
                </p:cNvSpPr>
                <p:nvPr/>
              </p:nvSpPr>
              <p:spPr bwMode="auto">
                <a:xfrm>
                  <a:off x="476" y="3975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71" name="Group 107"/>
              <p:cNvGrpSpPr>
                <a:grpSpLocks/>
              </p:cNvGrpSpPr>
              <p:nvPr/>
            </p:nvGrpSpPr>
            <p:grpSpPr bwMode="auto">
              <a:xfrm rot="16200000">
                <a:off x="2857" y="3635"/>
                <a:ext cx="363" cy="408"/>
                <a:chOff x="476" y="3612"/>
                <a:chExt cx="363" cy="408"/>
              </a:xfrm>
            </p:grpSpPr>
            <p:sp>
              <p:nvSpPr>
                <p:cNvPr id="216172" name="Rectangle 108"/>
                <p:cNvSpPr>
                  <a:spLocks noChangeArrowheads="1"/>
                </p:cNvSpPr>
                <p:nvPr/>
              </p:nvSpPr>
              <p:spPr bwMode="auto">
                <a:xfrm>
                  <a:off x="612" y="3612"/>
                  <a:ext cx="227" cy="40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73" name="Line 109"/>
                <p:cNvSpPr>
                  <a:spLocks noChangeShapeType="1"/>
                </p:cNvSpPr>
                <p:nvPr/>
              </p:nvSpPr>
              <p:spPr bwMode="auto">
                <a:xfrm>
                  <a:off x="476" y="370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74" name="Line 110"/>
                <p:cNvSpPr>
                  <a:spLocks noChangeShapeType="1"/>
                </p:cNvSpPr>
                <p:nvPr/>
              </p:nvSpPr>
              <p:spPr bwMode="auto">
                <a:xfrm>
                  <a:off x="476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75" name="Line 111"/>
                <p:cNvSpPr>
                  <a:spLocks noChangeShapeType="1"/>
                </p:cNvSpPr>
                <p:nvPr/>
              </p:nvSpPr>
              <p:spPr bwMode="auto">
                <a:xfrm>
                  <a:off x="476" y="388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76" name="Line 112"/>
                <p:cNvSpPr>
                  <a:spLocks noChangeShapeType="1"/>
                </p:cNvSpPr>
                <p:nvPr/>
              </p:nvSpPr>
              <p:spPr bwMode="auto">
                <a:xfrm>
                  <a:off x="476" y="3975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77" name="Group 113"/>
              <p:cNvGrpSpPr>
                <a:grpSpLocks/>
              </p:cNvGrpSpPr>
              <p:nvPr/>
            </p:nvGrpSpPr>
            <p:grpSpPr bwMode="auto">
              <a:xfrm rot="-2514530">
                <a:off x="3016" y="1344"/>
                <a:ext cx="359" cy="181"/>
                <a:chOff x="2064" y="3748"/>
                <a:chExt cx="589" cy="272"/>
              </a:xfrm>
            </p:grpSpPr>
            <p:sp>
              <p:nvSpPr>
                <p:cNvPr id="216178" name="Rectangle 114"/>
                <p:cNvSpPr>
                  <a:spLocks noChangeArrowheads="1"/>
                </p:cNvSpPr>
                <p:nvPr/>
              </p:nvSpPr>
              <p:spPr bwMode="auto">
                <a:xfrm>
                  <a:off x="2200" y="3748"/>
                  <a:ext cx="181" cy="27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79" name="Oval 115"/>
                <p:cNvSpPr>
                  <a:spLocks noChangeArrowheads="1"/>
                </p:cNvSpPr>
                <p:nvPr/>
              </p:nvSpPr>
              <p:spPr bwMode="auto">
                <a:xfrm>
                  <a:off x="2381" y="3839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80" name="Line 116"/>
                <p:cNvSpPr>
                  <a:spLocks noChangeShapeType="1"/>
                </p:cNvSpPr>
                <p:nvPr/>
              </p:nvSpPr>
              <p:spPr bwMode="auto">
                <a:xfrm>
                  <a:off x="2472" y="3884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81" name="Line 117"/>
                <p:cNvSpPr>
                  <a:spLocks noChangeShapeType="1"/>
                </p:cNvSpPr>
                <p:nvPr/>
              </p:nvSpPr>
              <p:spPr bwMode="auto">
                <a:xfrm flipH="1">
                  <a:off x="2064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82" name="Line 118"/>
                <p:cNvSpPr>
                  <a:spLocks noChangeShapeType="1"/>
                </p:cNvSpPr>
                <p:nvPr/>
              </p:nvSpPr>
              <p:spPr bwMode="auto">
                <a:xfrm flipH="1">
                  <a:off x="2064" y="397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83" name="Group 119"/>
              <p:cNvGrpSpPr>
                <a:grpSpLocks/>
              </p:cNvGrpSpPr>
              <p:nvPr/>
            </p:nvGrpSpPr>
            <p:grpSpPr bwMode="auto">
              <a:xfrm rot="-2514530">
                <a:off x="3016" y="1706"/>
                <a:ext cx="359" cy="181"/>
                <a:chOff x="2064" y="3748"/>
                <a:chExt cx="589" cy="272"/>
              </a:xfrm>
            </p:grpSpPr>
            <p:sp>
              <p:nvSpPr>
                <p:cNvPr id="216184" name="Rectangle 120"/>
                <p:cNvSpPr>
                  <a:spLocks noChangeArrowheads="1"/>
                </p:cNvSpPr>
                <p:nvPr/>
              </p:nvSpPr>
              <p:spPr bwMode="auto">
                <a:xfrm>
                  <a:off x="2200" y="3748"/>
                  <a:ext cx="181" cy="27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85" name="Oval 121"/>
                <p:cNvSpPr>
                  <a:spLocks noChangeArrowheads="1"/>
                </p:cNvSpPr>
                <p:nvPr/>
              </p:nvSpPr>
              <p:spPr bwMode="auto">
                <a:xfrm>
                  <a:off x="2381" y="3839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86" name="Line 122"/>
                <p:cNvSpPr>
                  <a:spLocks noChangeShapeType="1"/>
                </p:cNvSpPr>
                <p:nvPr/>
              </p:nvSpPr>
              <p:spPr bwMode="auto">
                <a:xfrm>
                  <a:off x="2472" y="3884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87" name="Line 123"/>
                <p:cNvSpPr>
                  <a:spLocks noChangeShapeType="1"/>
                </p:cNvSpPr>
                <p:nvPr/>
              </p:nvSpPr>
              <p:spPr bwMode="auto">
                <a:xfrm flipH="1">
                  <a:off x="2064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88" name="Line 124"/>
                <p:cNvSpPr>
                  <a:spLocks noChangeShapeType="1"/>
                </p:cNvSpPr>
                <p:nvPr/>
              </p:nvSpPr>
              <p:spPr bwMode="auto">
                <a:xfrm flipH="1">
                  <a:off x="2064" y="397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16189" name="Line 125"/>
              <p:cNvSpPr>
                <a:spLocks noChangeShapeType="1"/>
              </p:cNvSpPr>
              <p:nvPr/>
            </p:nvSpPr>
            <p:spPr bwMode="auto">
              <a:xfrm>
                <a:off x="567" y="2341"/>
                <a:ext cx="0" cy="7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90" name="Line 126"/>
              <p:cNvSpPr>
                <a:spLocks noChangeShapeType="1"/>
              </p:cNvSpPr>
              <p:nvPr/>
            </p:nvSpPr>
            <p:spPr bwMode="auto">
              <a:xfrm>
                <a:off x="1837" y="3793"/>
                <a:ext cx="9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91" name="Line 127"/>
              <p:cNvSpPr>
                <a:spLocks noChangeShapeType="1"/>
              </p:cNvSpPr>
              <p:nvPr/>
            </p:nvSpPr>
            <p:spPr bwMode="auto">
              <a:xfrm>
                <a:off x="1247" y="2115"/>
                <a:ext cx="0" cy="9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92" name="Line 128"/>
              <p:cNvSpPr>
                <a:spLocks noChangeShapeType="1"/>
              </p:cNvSpPr>
              <p:nvPr/>
            </p:nvSpPr>
            <p:spPr bwMode="auto">
              <a:xfrm>
                <a:off x="1701" y="2115"/>
                <a:ext cx="0" cy="9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93" name="Line 129"/>
              <p:cNvSpPr>
                <a:spLocks noChangeShapeType="1"/>
              </p:cNvSpPr>
              <p:nvPr/>
            </p:nvSpPr>
            <p:spPr bwMode="auto">
              <a:xfrm>
                <a:off x="3107" y="2115"/>
                <a:ext cx="0" cy="9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94" name="Line 130"/>
              <p:cNvSpPr>
                <a:spLocks noChangeShapeType="1"/>
              </p:cNvSpPr>
              <p:nvPr/>
            </p:nvSpPr>
            <p:spPr bwMode="auto">
              <a:xfrm flipV="1">
                <a:off x="1882" y="3248"/>
                <a:ext cx="99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95" name="Line 131"/>
              <p:cNvSpPr>
                <a:spLocks noChangeShapeType="1"/>
              </p:cNvSpPr>
              <p:nvPr/>
            </p:nvSpPr>
            <p:spPr bwMode="auto">
              <a:xfrm flipV="1">
                <a:off x="1882" y="1480"/>
                <a:ext cx="99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96" name="Line 132"/>
              <p:cNvSpPr>
                <a:spLocks noChangeShapeType="1"/>
              </p:cNvSpPr>
              <p:nvPr/>
            </p:nvSpPr>
            <p:spPr bwMode="auto">
              <a:xfrm flipV="1">
                <a:off x="1882" y="1887"/>
                <a:ext cx="99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97" name="Text Box 133"/>
              <p:cNvSpPr txBox="1">
                <a:spLocks noChangeArrowheads="1"/>
              </p:cNvSpPr>
              <p:nvPr/>
            </p:nvSpPr>
            <p:spPr bwMode="auto">
              <a:xfrm>
                <a:off x="2835" y="4016"/>
                <a:ext cx="58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latin typeface="+mn-ea"/>
                    <a:ea typeface="+mn-ea"/>
                  </a:rPr>
                  <a:t>ABCD</a:t>
                </a:r>
              </a:p>
            </p:txBody>
          </p:sp>
          <p:graphicFrame>
            <p:nvGraphicFramePr>
              <p:cNvPr id="216198" name="Object 13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19727409"/>
                  </p:ext>
                </p:extLst>
              </p:nvPr>
            </p:nvGraphicFramePr>
            <p:xfrm>
              <a:off x="908" y="4020"/>
              <a:ext cx="405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431640" imgH="215640" progId="Equation.3">
                      <p:embed/>
                    </p:oleObj>
                  </mc:Choice>
                  <mc:Fallback>
                    <p:oleObj name="Equation" r:id="rId18" imgW="431640" imgH="215640" progId="Equation.3">
                      <p:embed/>
                      <p:pic>
                        <p:nvPicPr>
                          <p:cNvPr id="216198" name="Object 1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08" y="4020"/>
                            <a:ext cx="405" cy="2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6199" name="Text Box 135"/>
              <p:cNvSpPr txBox="1">
                <a:spLocks noChangeArrowheads="1"/>
              </p:cNvSpPr>
              <p:nvPr/>
            </p:nvSpPr>
            <p:spPr bwMode="auto">
              <a:xfrm>
                <a:off x="94" y="3204"/>
                <a:ext cx="291" cy="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latin typeface="+mn-ea"/>
                    <a:ea typeface="+mn-ea"/>
                  </a:rPr>
                  <a:t>EFGH</a:t>
                </a:r>
              </a:p>
            </p:txBody>
          </p:sp>
        </p:grpSp>
        <p:sp>
          <p:nvSpPr>
            <p:cNvPr id="216200" name="Text Box 136"/>
            <p:cNvSpPr txBox="1">
              <a:spLocks noChangeArrowheads="1"/>
            </p:cNvSpPr>
            <p:nvPr/>
          </p:nvSpPr>
          <p:spPr bwMode="auto">
            <a:xfrm>
              <a:off x="1338" y="111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800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+mn-ea"/>
                  <a:ea typeface="+mn-ea"/>
                  <a:cs typeface="Times New Roman" pitchFamily="18" charset="0"/>
                </a:rPr>
                <a:t>0</a:t>
              </a:r>
              <a:r>
                <a:rPr lang="en-US" altLang="zh-CN" sz="1800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216201" name="Text Box 137"/>
            <p:cNvSpPr txBox="1">
              <a:spLocks noChangeArrowheads="1"/>
            </p:cNvSpPr>
            <p:nvPr/>
          </p:nvSpPr>
          <p:spPr bwMode="auto">
            <a:xfrm>
              <a:off x="1338" y="1566"/>
              <a:ext cx="28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+mn-ea"/>
                  <a:ea typeface="+mn-ea"/>
                  <a:cs typeface="Times New Roman" pitchFamily="18" charset="0"/>
                </a:rPr>
                <a:t>1</a:t>
              </a:r>
              <a:r>
                <a:rPr lang="en-US" altLang="zh-CN" sz="1800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216202" name="Text Box 138"/>
            <p:cNvSpPr txBox="1">
              <a:spLocks noChangeArrowheads="1"/>
            </p:cNvSpPr>
            <p:nvPr/>
          </p:nvSpPr>
          <p:spPr bwMode="auto">
            <a:xfrm>
              <a:off x="3157" y="2840"/>
              <a:ext cx="37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+mn-ea"/>
                  <a:ea typeface="+mn-ea"/>
                  <a:cs typeface="Times New Roman" pitchFamily="18" charset="0"/>
                </a:rPr>
                <a:t>255</a:t>
              </a:r>
              <a:r>
                <a:rPr lang="en-US" altLang="zh-CN" sz="1800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216203" name="Text Box 139"/>
            <p:cNvSpPr txBox="1">
              <a:spLocks noChangeArrowheads="1"/>
            </p:cNvSpPr>
            <p:nvPr/>
          </p:nvSpPr>
          <p:spPr bwMode="auto">
            <a:xfrm>
              <a:off x="1247" y="2791"/>
              <a:ext cx="33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+mn-ea"/>
                  <a:ea typeface="+mn-ea"/>
                  <a:cs typeface="Times New Roman" pitchFamily="18" charset="0"/>
                </a:rPr>
                <a:t>15</a:t>
              </a:r>
              <a:r>
                <a:rPr lang="en-US" altLang="zh-CN" sz="1800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216204" name="Text Box 140"/>
            <p:cNvSpPr txBox="1">
              <a:spLocks noChangeArrowheads="1"/>
            </p:cNvSpPr>
            <p:nvPr/>
          </p:nvSpPr>
          <p:spPr bwMode="auto">
            <a:xfrm>
              <a:off x="1701" y="1117"/>
              <a:ext cx="33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+mn-ea"/>
                  <a:ea typeface="+mn-ea"/>
                  <a:cs typeface="Times New Roman" pitchFamily="18" charset="0"/>
                </a:rPr>
                <a:t>16</a:t>
              </a:r>
              <a:r>
                <a:rPr lang="en-US" altLang="zh-CN" sz="1800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216205" name="Text Box 141"/>
            <p:cNvSpPr txBox="1">
              <a:spLocks noChangeArrowheads="1"/>
            </p:cNvSpPr>
            <p:nvPr/>
          </p:nvSpPr>
          <p:spPr bwMode="auto">
            <a:xfrm>
              <a:off x="1793" y="2795"/>
              <a:ext cx="33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sz="1800" baseline="-30000" dirty="0">
                  <a:latin typeface="+mn-ea"/>
                  <a:ea typeface="+mn-ea"/>
                  <a:cs typeface="Times New Roman" pitchFamily="18" charset="0"/>
                </a:rPr>
                <a:t>31</a:t>
              </a:r>
              <a:r>
                <a:rPr lang="en-US" altLang="zh-CN" sz="1800" dirty="0">
                  <a:latin typeface="+mn-ea"/>
                  <a:ea typeface="+mn-ea"/>
                </a:rPr>
                <a:t> </a:t>
              </a:r>
            </a:p>
          </p:txBody>
        </p:sp>
      </p:grpSp>
      <p:grpSp>
        <p:nvGrpSpPr>
          <p:cNvPr id="216211" name="Group 147"/>
          <p:cNvGrpSpPr>
            <a:grpSpLocks/>
          </p:cNvGrpSpPr>
          <p:nvPr/>
        </p:nvGrpSpPr>
        <p:grpSpPr bwMode="auto">
          <a:xfrm>
            <a:off x="103196" y="2133600"/>
            <a:ext cx="430213" cy="990600"/>
            <a:chOff x="4097" y="3552"/>
            <a:chExt cx="271" cy="624"/>
          </a:xfrm>
        </p:grpSpPr>
        <p:sp>
          <p:nvSpPr>
            <p:cNvPr id="216206" name="Text Box 142"/>
            <p:cNvSpPr txBox="1">
              <a:spLocks noChangeArrowheads="1"/>
            </p:cNvSpPr>
            <p:nvPr/>
          </p:nvSpPr>
          <p:spPr bwMode="auto">
            <a:xfrm>
              <a:off x="4097" y="3552"/>
              <a:ext cx="271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dirty="0">
                  <a:latin typeface="+mn-ea"/>
                  <a:ea typeface="+mn-ea"/>
                </a:rPr>
                <a:t>E F  G H</a:t>
              </a:r>
            </a:p>
          </p:txBody>
        </p:sp>
        <p:sp>
          <p:nvSpPr>
            <p:cNvPr id="216207" name="Line 143"/>
            <p:cNvSpPr>
              <a:spLocks noChangeShapeType="1"/>
            </p:cNvSpPr>
            <p:nvPr/>
          </p:nvSpPr>
          <p:spPr bwMode="auto">
            <a:xfrm>
              <a:off x="4320" y="355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208" name="Line 144"/>
            <p:cNvSpPr>
              <a:spLocks noChangeShapeType="1"/>
            </p:cNvSpPr>
            <p:nvPr/>
          </p:nvSpPr>
          <p:spPr bwMode="auto">
            <a:xfrm>
              <a:off x="4320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209" name="Line 145"/>
            <p:cNvSpPr>
              <a:spLocks noChangeShapeType="1"/>
            </p:cNvSpPr>
            <p:nvPr/>
          </p:nvSpPr>
          <p:spPr bwMode="auto">
            <a:xfrm>
              <a:off x="4320" y="384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210" name="Line 146"/>
            <p:cNvSpPr>
              <a:spLocks noChangeShapeType="1"/>
            </p:cNvSpPr>
            <p:nvPr/>
          </p:nvSpPr>
          <p:spPr bwMode="auto">
            <a:xfrm>
              <a:off x="4320" y="398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216212" name="Rectangle 148"/>
          <p:cNvSpPr>
            <a:spLocks noChangeArrowheads="1"/>
          </p:cNvSpPr>
          <p:nvPr/>
        </p:nvSpPr>
        <p:spPr bwMode="auto">
          <a:xfrm>
            <a:off x="5638800" y="3962400"/>
            <a:ext cx="3124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v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負載：每個反變數為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8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＋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，原變數為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8 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。每個及閘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16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個負載。</a:t>
            </a:r>
          </a:p>
        </p:txBody>
      </p:sp>
      <p:sp>
        <p:nvSpPr>
          <p:cNvPr id="216214" name="Rectangle 150"/>
          <p:cNvSpPr>
            <a:spLocks noChangeArrowheads="1"/>
          </p:cNvSpPr>
          <p:nvPr/>
        </p:nvSpPr>
        <p:spPr bwMode="auto">
          <a:xfrm>
            <a:off x="5638800" y="5153025"/>
            <a:ext cx="3124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v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負載：如果用一級解碼，則每個原變數負載為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128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，每個反變數負載為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129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3190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6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212" grpId="0" autoUpdateAnimBg="0"/>
      <p:bldP spid="216214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62AE-5586-4DC4-BA6F-749A843C228C}" type="slidenum">
              <a:rPr lang="en-US" altLang="zh-CN">
                <a:solidFill>
                  <a:schemeClr val="tx1"/>
                </a:solidFill>
              </a:rPr>
              <a:pPr/>
              <a:t>53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099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4366" y="1214422"/>
            <a:ext cx="8229600" cy="470059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dirty="0"/>
              <a:t>大量存放區的位址解碼</a:t>
            </a:r>
            <a:r>
              <a:rPr lang="zh-CN" altLang="en-US" sz="2400" b="1" dirty="0"/>
              <a:t>   </a:t>
            </a:r>
            <a:endParaRPr lang="zh-CN" altLang="en-US" sz="2800" b="1" dirty="0"/>
          </a:p>
          <a:p>
            <a:pPr>
              <a:lnSpc>
                <a:spcPct val="8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400" dirty="0"/>
              <a:t>    地址線有</a:t>
            </a:r>
            <a:r>
              <a:rPr lang="en-US" altLang="zh-CN" sz="2400" dirty="0"/>
              <a:t>10</a:t>
            </a:r>
            <a:r>
              <a:rPr lang="zh-CN" altLang="en-US" sz="2400" dirty="0"/>
              <a:t>位，可以表示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10</a:t>
            </a:r>
            <a:r>
              <a:rPr lang="zh-CN" altLang="en-US" sz="2400" dirty="0"/>
              <a:t>＝</a:t>
            </a:r>
            <a:r>
              <a:rPr lang="en-US" altLang="zh-CN" sz="2400" dirty="0"/>
              <a:t>1K</a:t>
            </a:r>
            <a:r>
              <a:rPr lang="zh-CN" altLang="en-US" sz="2400" dirty="0"/>
              <a:t>個位址空間；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    地址線有</a:t>
            </a:r>
            <a:r>
              <a:rPr lang="en-US" altLang="zh-CN" sz="2400" b="1" dirty="0"/>
              <a:t>20</a:t>
            </a:r>
            <a:r>
              <a:rPr lang="zh-CN" altLang="en-US" sz="2400" b="1" dirty="0"/>
              <a:t>位，可以表示</a:t>
            </a:r>
            <a:r>
              <a:rPr lang="en-US" altLang="zh-CN" sz="2400" b="1" dirty="0"/>
              <a:t>2</a:t>
            </a:r>
            <a:r>
              <a:rPr lang="en-US" altLang="zh-CN" sz="2400" b="1" baseline="30000" dirty="0"/>
              <a:t>20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1M</a:t>
            </a:r>
            <a:r>
              <a:rPr lang="zh-CN" altLang="en-US" sz="2400" b="1" dirty="0"/>
              <a:t>個位址空間；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b="1" dirty="0"/>
              <a:t>    地址線有</a:t>
            </a:r>
            <a:r>
              <a:rPr lang="en-US" altLang="zh-CN" sz="2400" b="1" dirty="0"/>
              <a:t>30</a:t>
            </a:r>
            <a:r>
              <a:rPr lang="zh-CN" altLang="en-US" sz="2400" b="1" dirty="0"/>
              <a:t>位，可以表示</a:t>
            </a:r>
            <a:r>
              <a:rPr lang="en-US" altLang="zh-CN" sz="2400" b="1" dirty="0"/>
              <a:t>2</a:t>
            </a:r>
            <a:r>
              <a:rPr lang="en-US" altLang="zh-CN" sz="2400" b="1" baseline="30000" dirty="0"/>
              <a:t>30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1G</a:t>
            </a:r>
            <a:r>
              <a:rPr lang="zh-CN" altLang="en-US" sz="2400" b="1" dirty="0"/>
              <a:t>個位址空間；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b="1" dirty="0"/>
              <a:t>    </a:t>
            </a:r>
            <a:r>
              <a:rPr lang="en-US" altLang="zh-CN" sz="2400" b="1" dirty="0"/>
              <a:t>32</a:t>
            </a:r>
            <a:r>
              <a:rPr lang="zh-CN" altLang="en-US" sz="2400" b="1" dirty="0"/>
              <a:t>位位址可以表示</a:t>
            </a:r>
            <a:r>
              <a:rPr lang="en-US" altLang="zh-CN" sz="2400" b="1" dirty="0"/>
              <a:t>4G</a:t>
            </a:r>
            <a:r>
              <a:rPr lang="zh-CN" altLang="en-US" sz="2400" b="1" dirty="0"/>
              <a:t>地址；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b="1" dirty="0"/>
              <a:t>    </a:t>
            </a:r>
            <a:r>
              <a:rPr lang="en-US" altLang="zh-CN" sz="2400" b="1" dirty="0"/>
              <a:t>16M</a:t>
            </a:r>
            <a:r>
              <a:rPr lang="zh-CN" altLang="en-US" sz="2400" b="1" dirty="0"/>
              <a:t>記憶體需要</a:t>
            </a:r>
            <a:r>
              <a:rPr lang="en-US" altLang="zh-CN" sz="2400" b="1" dirty="0"/>
              <a:t>24</a:t>
            </a:r>
            <a:r>
              <a:rPr lang="zh-CN" altLang="en-US" sz="2400" b="1" dirty="0"/>
              <a:t>位地址。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baseline="30000" dirty="0"/>
              <a:t>    </a:t>
            </a:r>
          </a:p>
        </p:txBody>
      </p:sp>
      <p:sp>
        <p:nvSpPr>
          <p:cNvPr id="209924" name="Text Box 4"/>
          <p:cNvSpPr txBox="1">
            <a:spLocks noChangeArrowheads="1"/>
          </p:cNvSpPr>
          <p:nvPr/>
        </p:nvSpPr>
        <p:spPr bwMode="auto">
          <a:xfrm>
            <a:off x="6227763" y="4437063"/>
            <a:ext cx="2592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800" dirty="0">
              <a:ea typeface="Noto Serif SC" panose="02020200000000000000" pitchFamily="18" charset="-122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3643314"/>
            <a:ext cx="4249472" cy="296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2985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42</a:t>
            </a:r>
            <a:r>
              <a:rPr lang="zh-CN" altLang="en-US" sz="3600" dirty="0"/>
              <a:t>）</a:t>
            </a:r>
            <a:br>
              <a:rPr lang="zh-CN" altLang="en-US" sz="3600" dirty="0"/>
            </a:br>
            <a:r>
              <a:rPr lang="en-US" altLang="zh-CN" sz="3600" dirty="0"/>
              <a:t>——</a:t>
            </a:r>
            <a:r>
              <a:rPr lang="zh-CN" altLang="en-US" sz="3600" dirty="0"/>
              <a:t>變數解碼器小結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FFD10-EDF6-4D13-ACE0-234BA6B2F4E4}" type="slidenum">
              <a:rPr lang="en-US" altLang="zh-CN">
                <a:solidFill>
                  <a:schemeClr val="tx1"/>
                </a:solidFill>
              </a:rPr>
              <a:pPr/>
              <a:t>54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170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447800"/>
            <a:ext cx="8610600" cy="46482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dirty="0"/>
              <a:t>解碼器的功能分類：</a:t>
            </a:r>
            <a:endParaRPr lang="zh-CN" altLang="en-US" sz="2400" dirty="0">
              <a:effectLst/>
              <a:latin typeface="Arial" charset="0"/>
            </a:endParaRP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effectLst/>
              </a:rPr>
              <a:t>變數解碼器：用來表示輸入變數狀態的全部組合</a:t>
            </a:r>
            <a:r>
              <a:rPr lang="en-US" altLang="zh-CN" b="1" dirty="0">
                <a:effectLst/>
              </a:rPr>
              <a:t>,N</a:t>
            </a:r>
            <a:r>
              <a:rPr lang="zh-CN" altLang="en-US" b="1" dirty="0">
                <a:effectLst/>
              </a:rPr>
              <a:t>位輸入，</a:t>
            </a:r>
            <a:r>
              <a:rPr lang="en-US" altLang="zh-CN" b="1" dirty="0">
                <a:effectLst/>
              </a:rPr>
              <a:t>2</a:t>
            </a:r>
            <a:r>
              <a:rPr lang="en-US" altLang="zh-CN" b="1" baseline="30000" dirty="0">
                <a:effectLst/>
                <a:latin typeface="Arial" charset="0"/>
              </a:rPr>
              <a:t>N</a:t>
            </a:r>
            <a:r>
              <a:rPr lang="zh-CN" altLang="en-US" b="1" dirty="0">
                <a:effectLst/>
              </a:rPr>
              <a:t>輸出。</a:t>
            </a:r>
          </a:p>
          <a:p>
            <a:pPr lvl="2"/>
            <a:r>
              <a:rPr lang="en-US" altLang="zh-CN" sz="2400" b="1" dirty="0">
                <a:effectLst/>
              </a:rPr>
              <a:t>2-4</a:t>
            </a:r>
            <a:r>
              <a:rPr lang="zh-CN" altLang="en-US" sz="2400" b="1" dirty="0">
                <a:effectLst/>
              </a:rPr>
              <a:t>解碼器：設計，存在的問題：競爭與冒險</a:t>
            </a:r>
          </a:p>
          <a:p>
            <a:pPr lvl="2">
              <a:buFont typeface="Wingdings" pitchFamily="2" charset="2"/>
              <a:buNone/>
            </a:pPr>
            <a:r>
              <a:rPr lang="zh-CN" altLang="en-US" sz="2400" b="1" dirty="0">
                <a:effectLst/>
              </a:rPr>
              <a:t>             使能端，作用：擴展、消除競爭與冒險</a:t>
            </a:r>
          </a:p>
          <a:p>
            <a:pPr lvl="2"/>
            <a:r>
              <a:rPr lang="en-US" altLang="zh-CN" sz="2400" b="1" dirty="0">
                <a:effectLst/>
              </a:rPr>
              <a:t>3-8</a:t>
            </a:r>
            <a:r>
              <a:rPr lang="zh-CN" altLang="en-US" sz="2400" b="1" dirty="0">
                <a:effectLst/>
              </a:rPr>
              <a:t>解碼器：應用：位址分配，資料選擇</a:t>
            </a:r>
          </a:p>
          <a:p>
            <a:pPr lvl="2"/>
            <a:r>
              <a:rPr lang="zh-CN" altLang="en-US" sz="2400" b="1" dirty="0">
                <a:effectLst/>
              </a:rPr>
              <a:t>多級解碼器：二級解碼：</a:t>
            </a:r>
            <a:r>
              <a:rPr lang="en-US" altLang="zh-CN" sz="2400" b="1" dirty="0">
                <a:effectLst/>
              </a:rPr>
              <a:t>4-16</a:t>
            </a:r>
            <a:r>
              <a:rPr lang="zh-CN" altLang="en-US" sz="2400" b="1" dirty="0">
                <a:effectLst/>
              </a:rPr>
              <a:t>解碼器和</a:t>
            </a:r>
            <a:r>
              <a:rPr lang="en-US" altLang="zh-CN" sz="2400" b="1" dirty="0">
                <a:effectLst/>
              </a:rPr>
              <a:t>8-256</a:t>
            </a:r>
            <a:r>
              <a:rPr lang="zh-CN" altLang="en-US" sz="2400" b="1" dirty="0">
                <a:effectLst/>
              </a:rPr>
              <a:t>解碼器</a:t>
            </a:r>
          </a:p>
        </p:txBody>
      </p:sp>
    </p:spTree>
    <p:extLst>
      <p:ext uri="{BB962C8B-B14F-4D97-AF65-F5344CB8AC3E}">
        <p14:creationId xmlns:p14="http://schemas.microsoft.com/office/powerpoint/2010/main" val="19692430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43</a:t>
            </a:r>
            <a:r>
              <a:rPr lang="zh-CN" altLang="en-US" sz="3600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EB20B-F0A3-42DC-AAAE-CB677576EC57}" type="slidenum">
              <a:rPr lang="en-US" altLang="zh-CN"/>
              <a:pPr/>
              <a:t>55</a:t>
            </a:fld>
            <a:endParaRPr lang="en-US" altLang="zh-CN" dirty="0"/>
          </a:p>
        </p:txBody>
      </p:sp>
      <p:sp>
        <p:nvSpPr>
          <p:cNvPr id="2181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zh-CN" altLang="en-US" dirty="0"/>
              <a:t>解碼器的功能分類：</a:t>
            </a:r>
            <a:endParaRPr lang="zh-CN" altLang="en-US" sz="2400" dirty="0">
              <a:effectLst/>
              <a:latin typeface="Arial" charset="0"/>
            </a:endParaRP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effectLst/>
              </a:rPr>
              <a:t>變數解碼器</a:t>
            </a: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solidFill>
                  <a:srgbClr val="CC00FF"/>
                </a:solidFill>
                <a:effectLst/>
              </a:rPr>
              <a:t>碼制解碼器</a:t>
            </a:r>
            <a:r>
              <a:rPr lang="zh-CN" altLang="en-US" b="1" dirty="0">
                <a:effectLst/>
              </a:rPr>
              <a:t>：如</a:t>
            </a:r>
            <a:r>
              <a:rPr lang="en-US" altLang="zh-CN" b="1" dirty="0">
                <a:effectLst/>
              </a:rPr>
              <a:t>8421</a:t>
            </a:r>
            <a:r>
              <a:rPr lang="zh-CN" altLang="en-US" b="1" dirty="0">
                <a:effectLst/>
              </a:rPr>
              <a:t>碼變換為迴圈碼等</a:t>
            </a: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effectLst/>
              </a:rPr>
              <a:t>顯示解碼器：控制數碼管顯示</a:t>
            </a:r>
          </a:p>
          <a:p>
            <a:pPr lvl="1">
              <a:buFont typeface="Wingdings" pitchFamily="2" charset="2"/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063329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44</a:t>
            </a:r>
            <a:r>
              <a:rPr lang="zh-CN" altLang="en-US" sz="3600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B8FA-8CED-4059-8BE7-F0061CA33761}" type="slidenum">
              <a:rPr lang="en-US" altLang="zh-CN">
                <a:solidFill>
                  <a:schemeClr val="tx1"/>
                </a:solidFill>
              </a:rPr>
              <a:pPr/>
              <a:t>56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191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b="1" dirty="0">
                <a:effectLst/>
              </a:rPr>
              <a:t>碼制解碼器：將一種編碼變換為另外一種編碼的邏輯電路。</a:t>
            </a:r>
          </a:p>
          <a:p>
            <a:pPr lvl="1">
              <a:buNone/>
            </a:pPr>
            <a:r>
              <a:rPr lang="zh-CN" altLang="en-US" dirty="0"/>
              <a:t>  二</a:t>
            </a:r>
            <a:r>
              <a:rPr lang="en-US" altLang="zh-CN" dirty="0"/>
              <a:t>—</a:t>
            </a:r>
            <a:r>
              <a:rPr lang="zh-CN" altLang="en-US" dirty="0"/>
              <a:t>十進位解碼器</a:t>
            </a:r>
          </a:p>
        </p:txBody>
      </p:sp>
    </p:spTree>
    <p:extLst>
      <p:ext uri="{BB962C8B-B14F-4D97-AF65-F5344CB8AC3E}">
        <p14:creationId xmlns:p14="http://schemas.microsoft.com/office/powerpoint/2010/main" val="34163643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45</a:t>
            </a:r>
            <a:r>
              <a:rPr lang="zh-CN" altLang="en-US" sz="3600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B28DF-95F0-4426-A2C6-E3BD778FCD1A}" type="slidenum">
              <a:rPr lang="en-US" altLang="zh-CN">
                <a:latin typeface="+mn-ea"/>
                <a:ea typeface="+mn-ea"/>
              </a:rPr>
              <a:pPr/>
              <a:t>57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20163" name="Rectangle 3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r>
              <a:rPr lang="zh-CN" altLang="en-US" b="1" dirty="0">
                <a:effectLst/>
                <a:latin typeface="+mn-ea"/>
              </a:rPr>
              <a:t>碼制解碼器：將一種編碼變換為另外一種編碼的邏輯電路。</a:t>
            </a:r>
          </a:p>
          <a:p>
            <a:pPr lvl="1">
              <a:buNone/>
            </a:pPr>
            <a:r>
              <a:rPr lang="zh-CN" altLang="en-US" dirty="0">
                <a:latin typeface="+mn-ea"/>
              </a:rPr>
              <a:t> 二</a:t>
            </a:r>
            <a:r>
              <a:rPr lang="en-US" altLang="zh-CN" dirty="0">
                <a:latin typeface="+mn-ea"/>
              </a:rPr>
              <a:t>—</a:t>
            </a:r>
            <a:r>
              <a:rPr lang="zh-CN" altLang="en-US" dirty="0">
                <a:latin typeface="+mn-ea"/>
              </a:rPr>
              <a:t>十進位解碼器：</a:t>
            </a:r>
            <a:endParaRPr lang="en-US" altLang="zh-CN" dirty="0">
              <a:latin typeface="+mn-ea"/>
            </a:endParaRPr>
          </a:p>
          <a:p>
            <a:pPr lvl="1">
              <a:buNone/>
            </a:pPr>
            <a:r>
              <a:rPr lang="en-US" altLang="zh-CN" dirty="0">
                <a:latin typeface="+mn-ea"/>
              </a:rPr>
              <a:t>   </a:t>
            </a:r>
            <a:r>
              <a:rPr lang="zh-CN" altLang="en-US" dirty="0">
                <a:latin typeface="+mn-ea"/>
              </a:rPr>
              <a:t>十進位的二進位編碼（二進位編碼的十進位數字，也叫</a:t>
            </a:r>
            <a:r>
              <a:rPr lang="en-US" altLang="zh-CN" dirty="0">
                <a:latin typeface="+mn-ea"/>
              </a:rPr>
              <a:t>BCD</a:t>
            </a:r>
            <a:r>
              <a:rPr lang="zh-CN" altLang="en-US" dirty="0">
                <a:latin typeface="+mn-ea"/>
              </a:rPr>
              <a:t>編碼：</a:t>
            </a:r>
            <a:r>
              <a:rPr lang="en-US" altLang="zh-CN" dirty="0">
                <a:latin typeface="+mn-ea"/>
              </a:rPr>
              <a:t>Binary-Coded to Decimal, BCD</a:t>
            </a:r>
            <a:r>
              <a:rPr lang="zh-CN" altLang="en-US" dirty="0">
                <a:latin typeface="+mn-ea"/>
              </a:rPr>
              <a:t>）</a:t>
            </a:r>
          </a:p>
          <a:p>
            <a:pPr lvl="2">
              <a:spcBef>
                <a:spcPct val="0"/>
              </a:spcBef>
            </a:pP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、不</a:t>
            </a:r>
            <a:r>
              <a:rPr lang="zh-CN" altLang="en-US" b="1" dirty="0">
                <a:effectLst/>
                <a:latin typeface="+mn-ea"/>
              </a:rPr>
              <a:t>完全解碼的</a:t>
            </a:r>
            <a:r>
              <a:rPr lang="en-US" altLang="zh-CN" b="1" dirty="0">
                <a:effectLst/>
                <a:latin typeface="+mn-ea"/>
              </a:rPr>
              <a:t>BCD</a:t>
            </a:r>
            <a:r>
              <a:rPr lang="zh-CN" altLang="en-US" b="1" dirty="0">
                <a:effectLst/>
                <a:latin typeface="+mn-ea"/>
              </a:rPr>
              <a:t>解碼器</a:t>
            </a:r>
            <a:endParaRPr lang="zh-CN" altLang="en-US" dirty="0">
              <a:latin typeface="+mn-ea"/>
            </a:endParaRPr>
          </a:p>
          <a:p>
            <a:pPr lvl="2">
              <a:spcBef>
                <a:spcPct val="0"/>
              </a:spcBef>
            </a:pP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、</a:t>
            </a:r>
            <a:r>
              <a:rPr lang="zh-CN" altLang="en-US" b="1" dirty="0">
                <a:effectLst/>
                <a:latin typeface="+mn-ea"/>
              </a:rPr>
              <a:t>完全解碼的</a:t>
            </a:r>
            <a:r>
              <a:rPr lang="en-US" altLang="zh-CN" b="1" dirty="0">
                <a:effectLst/>
                <a:latin typeface="+mn-ea"/>
              </a:rPr>
              <a:t>BCD</a:t>
            </a:r>
            <a:r>
              <a:rPr lang="zh-CN" altLang="en-US" b="1" dirty="0">
                <a:effectLst/>
                <a:latin typeface="+mn-ea"/>
              </a:rPr>
              <a:t>解碼器</a:t>
            </a:r>
          </a:p>
          <a:p>
            <a:pPr lvl="1"/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09654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46</a:t>
            </a:r>
            <a:r>
              <a:rPr lang="zh-CN" altLang="en-US" sz="3600" dirty="0"/>
              <a:t>）</a:t>
            </a:r>
          </a:p>
        </p:txBody>
      </p:sp>
      <p:sp>
        <p:nvSpPr>
          <p:cNvPr id="10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5397D-65BB-44E4-AC4A-04532D299B22}" type="slidenum">
              <a:rPr lang="en-US" altLang="zh-CN">
                <a:solidFill>
                  <a:schemeClr val="tx1"/>
                </a:solidFill>
                <a:latin typeface="+mn-ea"/>
                <a:ea typeface="+mn-ea"/>
              </a:rPr>
              <a:pPr/>
              <a:t>58</a:t>
            </a:fld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21284" name="Rectangle 100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r>
              <a:rPr lang="en-US" altLang="zh-CN" dirty="0"/>
              <a:t>8-4-2-1 </a:t>
            </a:r>
            <a:r>
              <a:rPr lang="zh-CN" altLang="en-US" dirty="0"/>
              <a:t>碼表示十進位數字</a:t>
            </a:r>
          </a:p>
        </p:txBody>
      </p:sp>
      <p:grpSp>
        <p:nvGrpSpPr>
          <p:cNvPr id="221187" name="Group 3"/>
          <p:cNvGrpSpPr>
            <a:grpSpLocks/>
          </p:cNvGrpSpPr>
          <p:nvPr/>
        </p:nvGrpSpPr>
        <p:grpSpPr bwMode="auto">
          <a:xfrm>
            <a:off x="396875" y="2349500"/>
            <a:ext cx="4032250" cy="3887788"/>
            <a:chOff x="1429" y="1389"/>
            <a:chExt cx="2540" cy="2449"/>
          </a:xfrm>
        </p:grpSpPr>
        <p:sp>
          <p:nvSpPr>
            <p:cNvPr id="221188" name="Rectangle 4"/>
            <p:cNvSpPr>
              <a:spLocks noChangeArrowheads="1"/>
            </p:cNvSpPr>
            <p:nvPr/>
          </p:nvSpPr>
          <p:spPr bwMode="auto">
            <a:xfrm>
              <a:off x="3428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89" name="Rectangle 5"/>
            <p:cNvSpPr>
              <a:spLocks noChangeArrowheads="1"/>
            </p:cNvSpPr>
            <p:nvPr/>
          </p:nvSpPr>
          <p:spPr bwMode="auto">
            <a:xfrm>
              <a:off x="2888" y="3304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0" name="Rectangle 6"/>
            <p:cNvSpPr>
              <a:spLocks noChangeArrowheads="1"/>
            </p:cNvSpPr>
            <p:nvPr/>
          </p:nvSpPr>
          <p:spPr bwMode="auto">
            <a:xfrm>
              <a:off x="2347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1" name="Rectangle 7"/>
            <p:cNvSpPr>
              <a:spLocks noChangeArrowheads="1"/>
            </p:cNvSpPr>
            <p:nvPr/>
          </p:nvSpPr>
          <p:spPr bwMode="auto">
            <a:xfrm>
              <a:off x="1806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2" name="Rectangle 8"/>
            <p:cNvSpPr>
              <a:spLocks noChangeArrowheads="1"/>
            </p:cNvSpPr>
            <p:nvPr/>
          </p:nvSpPr>
          <p:spPr bwMode="auto">
            <a:xfrm>
              <a:off x="3428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3" name="Rectangle 9"/>
            <p:cNvSpPr>
              <a:spLocks noChangeArrowheads="1"/>
            </p:cNvSpPr>
            <p:nvPr/>
          </p:nvSpPr>
          <p:spPr bwMode="auto">
            <a:xfrm>
              <a:off x="2888" y="2770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4" name="Rectangle 10"/>
            <p:cNvSpPr>
              <a:spLocks noChangeArrowheads="1"/>
            </p:cNvSpPr>
            <p:nvPr/>
          </p:nvSpPr>
          <p:spPr bwMode="auto">
            <a:xfrm>
              <a:off x="2347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5" name="Rectangle 11"/>
            <p:cNvSpPr>
              <a:spLocks noChangeArrowheads="1"/>
            </p:cNvSpPr>
            <p:nvPr/>
          </p:nvSpPr>
          <p:spPr bwMode="auto">
            <a:xfrm>
              <a:off x="1806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6" name="Rectangle 12"/>
            <p:cNvSpPr>
              <a:spLocks noChangeArrowheads="1"/>
            </p:cNvSpPr>
            <p:nvPr/>
          </p:nvSpPr>
          <p:spPr bwMode="auto">
            <a:xfrm>
              <a:off x="3428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7" name="Rectangle 13"/>
            <p:cNvSpPr>
              <a:spLocks noChangeArrowheads="1"/>
            </p:cNvSpPr>
            <p:nvPr/>
          </p:nvSpPr>
          <p:spPr bwMode="auto">
            <a:xfrm>
              <a:off x="2888" y="2235"/>
              <a:ext cx="540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8" name="Rectangle 14"/>
            <p:cNvSpPr>
              <a:spLocks noChangeArrowheads="1"/>
            </p:cNvSpPr>
            <p:nvPr/>
          </p:nvSpPr>
          <p:spPr bwMode="auto">
            <a:xfrm>
              <a:off x="2347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9" name="Rectangle 15"/>
            <p:cNvSpPr>
              <a:spLocks noChangeArrowheads="1"/>
            </p:cNvSpPr>
            <p:nvPr/>
          </p:nvSpPr>
          <p:spPr bwMode="auto">
            <a:xfrm>
              <a:off x="1806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200" name="Rectangle 16"/>
            <p:cNvSpPr>
              <a:spLocks noChangeArrowheads="1"/>
            </p:cNvSpPr>
            <p:nvPr/>
          </p:nvSpPr>
          <p:spPr bwMode="auto">
            <a:xfrm>
              <a:off x="3428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201" name="Rectangle 17"/>
            <p:cNvSpPr>
              <a:spLocks noChangeArrowheads="1"/>
            </p:cNvSpPr>
            <p:nvPr/>
          </p:nvSpPr>
          <p:spPr bwMode="auto">
            <a:xfrm>
              <a:off x="2888" y="1701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202" name="Rectangle 18"/>
            <p:cNvSpPr>
              <a:spLocks noChangeArrowheads="1"/>
            </p:cNvSpPr>
            <p:nvPr/>
          </p:nvSpPr>
          <p:spPr bwMode="auto">
            <a:xfrm>
              <a:off x="2347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203" name="Rectangle 19"/>
            <p:cNvSpPr>
              <a:spLocks noChangeArrowheads="1"/>
            </p:cNvSpPr>
            <p:nvPr/>
          </p:nvSpPr>
          <p:spPr bwMode="auto">
            <a:xfrm>
              <a:off x="1806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204" name="Line 20"/>
            <p:cNvSpPr>
              <a:spLocks noChangeShapeType="1"/>
            </p:cNvSpPr>
            <p:nvPr/>
          </p:nvSpPr>
          <p:spPr bwMode="auto">
            <a:xfrm>
              <a:off x="1806" y="1701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05" name="Line 21"/>
            <p:cNvSpPr>
              <a:spLocks noChangeShapeType="1"/>
            </p:cNvSpPr>
            <p:nvPr/>
          </p:nvSpPr>
          <p:spPr bwMode="auto">
            <a:xfrm>
              <a:off x="1806" y="2235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06" name="Line 22"/>
            <p:cNvSpPr>
              <a:spLocks noChangeShapeType="1"/>
            </p:cNvSpPr>
            <p:nvPr/>
          </p:nvSpPr>
          <p:spPr bwMode="auto">
            <a:xfrm>
              <a:off x="1806" y="2770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07" name="Line 23"/>
            <p:cNvSpPr>
              <a:spLocks noChangeShapeType="1"/>
            </p:cNvSpPr>
            <p:nvPr/>
          </p:nvSpPr>
          <p:spPr bwMode="auto">
            <a:xfrm>
              <a:off x="1806" y="3304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08" name="Line 24"/>
            <p:cNvSpPr>
              <a:spLocks noChangeShapeType="1"/>
            </p:cNvSpPr>
            <p:nvPr/>
          </p:nvSpPr>
          <p:spPr bwMode="auto">
            <a:xfrm>
              <a:off x="1806" y="3838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09" name="Line 25"/>
            <p:cNvSpPr>
              <a:spLocks noChangeShapeType="1"/>
            </p:cNvSpPr>
            <p:nvPr/>
          </p:nvSpPr>
          <p:spPr bwMode="auto">
            <a:xfrm>
              <a:off x="1806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10" name="Line 26"/>
            <p:cNvSpPr>
              <a:spLocks noChangeShapeType="1"/>
            </p:cNvSpPr>
            <p:nvPr/>
          </p:nvSpPr>
          <p:spPr bwMode="auto">
            <a:xfrm>
              <a:off x="2347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11" name="Line 27"/>
            <p:cNvSpPr>
              <a:spLocks noChangeShapeType="1"/>
            </p:cNvSpPr>
            <p:nvPr/>
          </p:nvSpPr>
          <p:spPr bwMode="auto">
            <a:xfrm>
              <a:off x="288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12" name="Line 28"/>
            <p:cNvSpPr>
              <a:spLocks noChangeShapeType="1"/>
            </p:cNvSpPr>
            <p:nvPr/>
          </p:nvSpPr>
          <p:spPr bwMode="auto">
            <a:xfrm>
              <a:off x="342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13" name="Line 29"/>
            <p:cNvSpPr>
              <a:spLocks noChangeShapeType="1"/>
            </p:cNvSpPr>
            <p:nvPr/>
          </p:nvSpPr>
          <p:spPr bwMode="auto">
            <a:xfrm>
              <a:off x="3969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14" name="Line 30"/>
            <p:cNvSpPr>
              <a:spLocks noChangeShapeType="1"/>
            </p:cNvSpPr>
            <p:nvPr/>
          </p:nvSpPr>
          <p:spPr bwMode="auto">
            <a:xfrm flipH="1" flipV="1">
              <a:off x="1429" y="1389"/>
              <a:ext cx="362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21215" name="Group 31"/>
          <p:cNvGrpSpPr>
            <a:grpSpLocks/>
          </p:cNvGrpSpPr>
          <p:nvPr/>
        </p:nvGrpSpPr>
        <p:grpSpPr bwMode="auto">
          <a:xfrm>
            <a:off x="250825" y="1989138"/>
            <a:ext cx="865188" cy="1177925"/>
            <a:chOff x="1337" y="1162"/>
            <a:chExt cx="545" cy="742"/>
          </a:xfrm>
        </p:grpSpPr>
        <p:sp>
          <p:nvSpPr>
            <p:cNvPr id="221216" name="Text Box 32"/>
            <p:cNvSpPr txBox="1">
              <a:spLocks noChangeArrowheads="1"/>
            </p:cNvSpPr>
            <p:nvPr/>
          </p:nvSpPr>
          <p:spPr bwMode="auto">
            <a:xfrm>
              <a:off x="1472" y="116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B</a:t>
              </a:r>
            </a:p>
          </p:txBody>
        </p:sp>
        <p:sp>
          <p:nvSpPr>
            <p:cNvPr id="221217" name="Text Box 33"/>
            <p:cNvSpPr txBox="1">
              <a:spLocks noChangeArrowheads="1"/>
            </p:cNvSpPr>
            <p:nvPr/>
          </p:nvSpPr>
          <p:spPr bwMode="auto">
            <a:xfrm>
              <a:off x="1609" y="1344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A</a:t>
              </a:r>
            </a:p>
          </p:txBody>
        </p:sp>
        <p:sp>
          <p:nvSpPr>
            <p:cNvPr id="221218" name="Text Box 34"/>
            <p:cNvSpPr txBox="1">
              <a:spLocks noChangeArrowheads="1"/>
            </p:cNvSpPr>
            <p:nvPr/>
          </p:nvSpPr>
          <p:spPr bwMode="auto">
            <a:xfrm>
              <a:off x="1337" y="148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D</a:t>
              </a:r>
            </a:p>
          </p:txBody>
        </p:sp>
        <p:sp>
          <p:nvSpPr>
            <p:cNvPr id="221219" name="Text Box 35"/>
            <p:cNvSpPr txBox="1">
              <a:spLocks noChangeArrowheads="1"/>
            </p:cNvSpPr>
            <p:nvPr/>
          </p:nvSpPr>
          <p:spPr bwMode="auto">
            <a:xfrm>
              <a:off x="1473" y="1616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C</a:t>
              </a:r>
            </a:p>
          </p:txBody>
        </p:sp>
      </p:grpSp>
      <p:grpSp>
        <p:nvGrpSpPr>
          <p:cNvPr id="221220" name="Group 36"/>
          <p:cNvGrpSpPr>
            <a:grpSpLocks/>
          </p:cNvGrpSpPr>
          <p:nvPr/>
        </p:nvGrpSpPr>
        <p:grpSpPr bwMode="auto">
          <a:xfrm>
            <a:off x="1187450" y="2349500"/>
            <a:ext cx="3168650" cy="457200"/>
            <a:chOff x="1927" y="1389"/>
            <a:chExt cx="1996" cy="288"/>
          </a:xfrm>
        </p:grpSpPr>
        <p:sp>
          <p:nvSpPr>
            <p:cNvPr id="221221" name="Text Box 37"/>
            <p:cNvSpPr txBox="1">
              <a:spLocks noChangeArrowheads="1"/>
            </p:cNvSpPr>
            <p:nvPr/>
          </p:nvSpPr>
          <p:spPr bwMode="auto">
            <a:xfrm>
              <a:off x="1927" y="1389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00</a:t>
              </a:r>
            </a:p>
          </p:txBody>
        </p:sp>
        <p:sp>
          <p:nvSpPr>
            <p:cNvPr id="221222" name="Text Box 38"/>
            <p:cNvSpPr txBox="1">
              <a:spLocks noChangeArrowheads="1"/>
            </p:cNvSpPr>
            <p:nvPr/>
          </p:nvSpPr>
          <p:spPr bwMode="auto">
            <a:xfrm>
              <a:off x="3016" y="1389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11</a:t>
              </a:r>
            </a:p>
          </p:txBody>
        </p:sp>
        <p:sp>
          <p:nvSpPr>
            <p:cNvPr id="221223" name="Text Box 39"/>
            <p:cNvSpPr txBox="1">
              <a:spLocks noChangeArrowheads="1"/>
            </p:cNvSpPr>
            <p:nvPr/>
          </p:nvSpPr>
          <p:spPr bwMode="auto">
            <a:xfrm>
              <a:off x="2472" y="1389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01</a:t>
              </a:r>
            </a:p>
          </p:txBody>
        </p:sp>
        <p:sp>
          <p:nvSpPr>
            <p:cNvPr id="221224" name="Text Box 40"/>
            <p:cNvSpPr txBox="1">
              <a:spLocks noChangeArrowheads="1"/>
            </p:cNvSpPr>
            <p:nvPr/>
          </p:nvSpPr>
          <p:spPr bwMode="auto">
            <a:xfrm>
              <a:off x="3560" y="1389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10</a:t>
              </a:r>
            </a:p>
          </p:txBody>
        </p:sp>
      </p:grpSp>
      <p:grpSp>
        <p:nvGrpSpPr>
          <p:cNvPr id="221225" name="Group 41"/>
          <p:cNvGrpSpPr>
            <a:grpSpLocks/>
          </p:cNvGrpSpPr>
          <p:nvPr/>
        </p:nvGrpSpPr>
        <p:grpSpPr bwMode="auto">
          <a:xfrm>
            <a:off x="468313" y="3116263"/>
            <a:ext cx="576262" cy="2905125"/>
            <a:chOff x="1474" y="1872"/>
            <a:chExt cx="363" cy="1830"/>
          </a:xfrm>
        </p:grpSpPr>
        <p:sp>
          <p:nvSpPr>
            <p:cNvPr id="221226" name="Text Box 42"/>
            <p:cNvSpPr txBox="1">
              <a:spLocks noChangeArrowheads="1"/>
            </p:cNvSpPr>
            <p:nvPr/>
          </p:nvSpPr>
          <p:spPr bwMode="auto">
            <a:xfrm>
              <a:off x="1474" y="187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00</a:t>
              </a:r>
            </a:p>
          </p:txBody>
        </p:sp>
        <p:sp>
          <p:nvSpPr>
            <p:cNvPr id="221227" name="Text Box 43"/>
            <p:cNvSpPr txBox="1">
              <a:spLocks noChangeArrowheads="1"/>
            </p:cNvSpPr>
            <p:nvPr/>
          </p:nvSpPr>
          <p:spPr bwMode="auto">
            <a:xfrm>
              <a:off x="1474" y="2915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11</a:t>
              </a:r>
            </a:p>
          </p:txBody>
        </p:sp>
        <p:sp>
          <p:nvSpPr>
            <p:cNvPr id="221228" name="Text Box 44"/>
            <p:cNvSpPr txBox="1">
              <a:spLocks noChangeArrowheads="1"/>
            </p:cNvSpPr>
            <p:nvPr/>
          </p:nvSpPr>
          <p:spPr bwMode="auto">
            <a:xfrm>
              <a:off x="1474" y="2371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01</a:t>
              </a:r>
            </a:p>
          </p:txBody>
        </p:sp>
        <p:sp>
          <p:nvSpPr>
            <p:cNvPr id="221229" name="Text Box 45"/>
            <p:cNvSpPr txBox="1">
              <a:spLocks noChangeArrowheads="1"/>
            </p:cNvSpPr>
            <p:nvPr/>
          </p:nvSpPr>
          <p:spPr bwMode="auto">
            <a:xfrm>
              <a:off x="1474" y="3414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10</a:t>
              </a:r>
            </a:p>
          </p:txBody>
        </p:sp>
      </p:grpSp>
      <p:sp>
        <p:nvSpPr>
          <p:cNvPr id="221230" name="Rectangle 46"/>
          <p:cNvSpPr>
            <a:spLocks noChangeArrowheads="1"/>
          </p:cNvSpPr>
          <p:nvPr/>
        </p:nvSpPr>
        <p:spPr bwMode="auto">
          <a:xfrm>
            <a:off x="2087563" y="3044825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  <a:cs typeface="Times New Roman" pitchFamily="18" charset="0"/>
              </a:rPr>
              <a:t>1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221231" name="Rectangle 47"/>
          <p:cNvSpPr>
            <a:spLocks noChangeArrowheads="1"/>
          </p:cNvSpPr>
          <p:nvPr/>
        </p:nvSpPr>
        <p:spPr bwMode="auto">
          <a:xfrm>
            <a:off x="1187450" y="30464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  <a:cs typeface="Times New Roman" pitchFamily="18" charset="0"/>
              </a:rPr>
              <a:t>0</a:t>
            </a:r>
            <a:endParaRPr lang="en-US" altLang="zh-CN" sz="2400" b="1" dirty="0"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221232" name="Rectangle 48"/>
          <p:cNvSpPr>
            <a:spLocks noChangeArrowheads="1"/>
          </p:cNvSpPr>
          <p:nvPr/>
        </p:nvSpPr>
        <p:spPr bwMode="auto">
          <a:xfrm>
            <a:off x="2916238" y="3044825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  <a:cs typeface="Times New Roman" pitchFamily="18" charset="0"/>
              </a:rPr>
              <a:t>3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221233" name="Rectangle 49"/>
          <p:cNvSpPr>
            <a:spLocks noChangeArrowheads="1"/>
          </p:cNvSpPr>
          <p:nvPr/>
        </p:nvSpPr>
        <p:spPr bwMode="auto">
          <a:xfrm>
            <a:off x="3779838" y="3044825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  <a:cs typeface="Times New Roman" pitchFamily="18" charset="0"/>
              </a:rPr>
              <a:t>2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221234" name="Rectangle 50"/>
          <p:cNvSpPr>
            <a:spLocks noChangeArrowheads="1"/>
          </p:cNvSpPr>
          <p:nvPr/>
        </p:nvSpPr>
        <p:spPr bwMode="auto">
          <a:xfrm>
            <a:off x="2089150" y="38369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  <a:cs typeface="Times New Roman" pitchFamily="18" charset="0"/>
              </a:rPr>
              <a:t>5</a:t>
            </a:r>
            <a:endParaRPr lang="en-US" altLang="zh-CN" sz="2400" b="1" dirty="0"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221235" name="Rectangle 51"/>
          <p:cNvSpPr>
            <a:spLocks noChangeArrowheads="1"/>
          </p:cNvSpPr>
          <p:nvPr/>
        </p:nvSpPr>
        <p:spPr bwMode="auto">
          <a:xfrm>
            <a:off x="1225550" y="38385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  <a:cs typeface="Times New Roman" pitchFamily="18" charset="0"/>
              </a:rPr>
              <a:t>4</a:t>
            </a:r>
            <a:endParaRPr lang="en-US" altLang="zh-CN" sz="2400" b="1" dirty="0"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221236" name="Rectangle 52"/>
          <p:cNvSpPr>
            <a:spLocks noChangeArrowheads="1"/>
          </p:cNvSpPr>
          <p:nvPr/>
        </p:nvSpPr>
        <p:spPr bwMode="auto">
          <a:xfrm>
            <a:off x="2952750" y="38369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  <a:cs typeface="Times New Roman" pitchFamily="18" charset="0"/>
              </a:rPr>
              <a:t>7</a:t>
            </a:r>
            <a:endParaRPr lang="en-US" altLang="zh-CN" sz="2400" b="1" dirty="0"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221237" name="Rectangle 53"/>
          <p:cNvSpPr>
            <a:spLocks noChangeArrowheads="1"/>
          </p:cNvSpPr>
          <p:nvPr/>
        </p:nvSpPr>
        <p:spPr bwMode="auto">
          <a:xfrm>
            <a:off x="3817938" y="3860800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  <a:cs typeface="Times New Roman" pitchFamily="18" charset="0"/>
              </a:rPr>
              <a:t>6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221238" name="Rectangle 54"/>
          <p:cNvSpPr>
            <a:spLocks noChangeArrowheads="1"/>
          </p:cNvSpPr>
          <p:nvPr/>
        </p:nvSpPr>
        <p:spPr bwMode="auto">
          <a:xfrm>
            <a:off x="2089150" y="4769793"/>
            <a:ext cx="4347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  <a:cs typeface="Times New Roman" pitchFamily="18" charset="0"/>
              </a:rPr>
              <a:t>X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221239" name="Rectangle 55"/>
          <p:cNvSpPr>
            <a:spLocks noChangeArrowheads="1"/>
          </p:cNvSpPr>
          <p:nvPr/>
        </p:nvSpPr>
        <p:spPr bwMode="auto">
          <a:xfrm>
            <a:off x="1225550" y="4723756"/>
            <a:ext cx="4347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  <a:cs typeface="Times New Roman" pitchFamily="18" charset="0"/>
              </a:rPr>
              <a:t>X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221240" name="Rectangle 56"/>
          <p:cNvSpPr>
            <a:spLocks noChangeArrowheads="1"/>
          </p:cNvSpPr>
          <p:nvPr/>
        </p:nvSpPr>
        <p:spPr bwMode="auto">
          <a:xfrm>
            <a:off x="2916238" y="4769793"/>
            <a:ext cx="4347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  <a:cs typeface="Times New Roman" pitchFamily="18" charset="0"/>
              </a:rPr>
              <a:t>X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221241" name="Rectangle 57"/>
          <p:cNvSpPr>
            <a:spLocks noChangeArrowheads="1"/>
          </p:cNvSpPr>
          <p:nvPr/>
        </p:nvSpPr>
        <p:spPr bwMode="auto">
          <a:xfrm>
            <a:off x="3779838" y="4769793"/>
            <a:ext cx="4347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  <a:cs typeface="Times New Roman" pitchFamily="18" charset="0"/>
              </a:rPr>
              <a:t>X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221242" name="Rectangle 58"/>
          <p:cNvSpPr>
            <a:spLocks noChangeArrowheads="1"/>
          </p:cNvSpPr>
          <p:nvPr/>
        </p:nvSpPr>
        <p:spPr bwMode="auto">
          <a:xfrm>
            <a:off x="2124075" y="5564188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  <a:cs typeface="Times New Roman" pitchFamily="18" charset="0"/>
              </a:rPr>
              <a:t>9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221243" name="Rectangle 59"/>
          <p:cNvSpPr>
            <a:spLocks noChangeArrowheads="1"/>
          </p:cNvSpPr>
          <p:nvPr/>
        </p:nvSpPr>
        <p:spPr bwMode="auto">
          <a:xfrm>
            <a:off x="1225550" y="55657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  <a:cs typeface="Times New Roman" pitchFamily="18" charset="0"/>
              </a:rPr>
              <a:t>8</a:t>
            </a:r>
            <a:endParaRPr lang="en-US" altLang="zh-CN" sz="2400" b="1" dirty="0"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221244" name="Rectangle 60"/>
          <p:cNvSpPr>
            <a:spLocks noChangeArrowheads="1"/>
          </p:cNvSpPr>
          <p:nvPr/>
        </p:nvSpPr>
        <p:spPr bwMode="auto">
          <a:xfrm>
            <a:off x="2987675" y="5561956"/>
            <a:ext cx="4347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  <a:cs typeface="Times New Roman" pitchFamily="18" charset="0"/>
              </a:rPr>
              <a:t>X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221245" name="Rectangle 61"/>
          <p:cNvSpPr>
            <a:spLocks noChangeArrowheads="1"/>
          </p:cNvSpPr>
          <p:nvPr/>
        </p:nvSpPr>
        <p:spPr bwMode="auto">
          <a:xfrm>
            <a:off x="3817938" y="5561956"/>
            <a:ext cx="4347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  <a:cs typeface="Times New Roman" pitchFamily="18" charset="0"/>
              </a:rPr>
              <a:t>X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 </a:t>
            </a:r>
          </a:p>
        </p:txBody>
      </p:sp>
      <p:graphicFrame>
        <p:nvGraphicFramePr>
          <p:cNvPr id="221246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759694"/>
              </p:ext>
            </p:extLst>
          </p:nvPr>
        </p:nvGraphicFramePr>
        <p:xfrm>
          <a:off x="5435600" y="2166704"/>
          <a:ext cx="2616200" cy="4663440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十進位數字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8421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125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305800" cy="1066800"/>
          </a:xfrm>
        </p:spPr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47</a:t>
            </a:r>
            <a:r>
              <a:rPr lang="zh-CN" altLang="en-US" sz="3600" dirty="0"/>
              <a:t>）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9109-6998-4FED-A646-905CE1213B50}" type="slidenum">
              <a:rPr lang="en-US" altLang="zh-CN">
                <a:latin typeface="+mn-ea"/>
                <a:ea typeface="+mn-ea"/>
              </a:rPr>
              <a:pPr/>
              <a:t>59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22212" name="Rectangle 4"/>
          <p:cNvSpPr>
            <a:spLocks noChangeArrowheads="1"/>
          </p:cNvSpPr>
          <p:nvPr/>
        </p:nvSpPr>
        <p:spPr bwMode="auto">
          <a:xfrm>
            <a:off x="609600" y="14478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Noto Serif SC" panose="02020200000000000000" pitchFamily="18" charset="-122"/>
                <a:ea typeface="Noto Serif SC" panose="02020200000000000000" pitchFamily="18" charset="-122"/>
              </a:rPr>
              <a:t>不</a:t>
            </a: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完全解碼的</a:t>
            </a:r>
            <a:r>
              <a:rPr lang="en-US" altLang="zh-CN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BCD </a:t>
            </a: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解碼器的功能表</a:t>
            </a:r>
          </a:p>
        </p:txBody>
      </p:sp>
      <p:graphicFrame>
        <p:nvGraphicFramePr>
          <p:cNvPr id="3" name="对象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831639598"/>
              </p:ext>
            </p:extLst>
          </p:nvPr>
        </p:nvGraphicFramePr>
        <p:xfrm>
          <a:off x="2819400" y="1981200"/>
          <a:ext cx="3884613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7699592" imgH="9364898" progId="">
                  <p:embed/>
                </p:oleObj>
              </mc:Choice>
              <mc:Fallback>
                <p:oleObj name="Image" r:id="rId2" imgW="7699592" imgH="9364898" progId="">
                  <p:embed/>
                  <p:pic>
                    <p:nvPicPr>
                      <p:cNvPr id="3" name="对象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981200"/>
                        <a:ext cx="3884613" cy="472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73288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763000" cy="838200"/>
          </a:xfrm>
        </p:spPr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48</a:t>
            </a:r>
            <a:r>
              <a:rPr lang="zh-CN" altLang="en-US" sz="3600" dirty="0"/>
              <a:t>）</a:t>
            </a:r>
          </a:p>
        </p:txBody>
      </p:sp>
      <p:sp>
        <p:nvSpPr>
          <p:cNvPr id="6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8103D-01F1-446A-AEB9-858735ABE710}" type="slidenum">
              <a:rPr lang="en-US" altLang="zh-CN">
                <a:latin typeface="+mn-ea"/>
                <a:ea typeface="+mn-ea"/>
              </a:rPr>
              <a:pPr/>
              <a:t>60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23235" name="Rectangle 3"/>
          <p:cNvSpPr>
            <a:spLocks noChangeArrowheads="1"/>
          </p:cNvSpPr>
          <p:nvPr/>
        </p:nvSpPr>
        <p:spPr bwMode="auto">
          <a:xfrm>
            <a:off x="833438" y="1986906"/>
            <a:ext cx="80970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當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ABCD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＝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0101~1111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時，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Y</a:t>
            </a:r>
            <a:r>
              <a:rPr lang="en-US" altLang="zh-CN" sz="2400" b="1" baseline="-30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0~9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均為任意值，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Y</a:t>
            </a:r>
            <a:r>
              <a:rPr lang="en-US" altLang="zh-CN" sz="2400" b="1" baseline="-30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0~9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運算式為 </a:t>
            </a:r>
          </a:p>
        </p:txBody>
      </p:sp>
      <p:graphicFrame>
        <p:nvGraphicFramePr>
          <p:cNvPr id="2232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8217384"/>
              </p:ext>
            </p:extLst>
          </p:nvPr>
        </p:nvGraphicFramePr>
        <p:xfrm>
          <a:off x="6108700" y="2633663"/>
          <a:ext cx="1803400" cy="376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863280" imgH="1447560" progId="Equation.3">
                  <p:embed/>
                </p:oleObj>
              </mc:Choice>
              <mc:Fallback>
                <p:oleObj name="公式" r:id="rId3" imgW="863280" imgH="1447560" progId="Equation.3">
                  <p:embed/>
                  <p:pic>
                    <p:nvPicPr>
                      <p:cNvPr id="2232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0" y="2633663"/>
                        <a:ext cx="1803400" cy="3767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3237" name="Group 5"/>
          <p:cNvGrpSpPr>
            <a:grpSpLocks/>
          </p:cNvGrpSpPr>
          <p:nvPr/>
        </p:nvGrpSpPr>
        <p:grpSpPr bwMode="auto">
          <a:xfrm>
            <a:off x="838200" y="2286000"/>
            <a:ext cx="4184650" cy="4268788"/>
            <a:chOff x="528" y="1440"/>
            <a:chExt cx="2636" cy="2689"/>
          </a:xfrm>
        </p:grpSpPr>
        <p:grpSp>
          <p:nvGrpSpPr>
            <p:cNvPr id="223238" name="Group 6"/>
            <p:cNvGrpSpPr>
              <a:grpSpLocks/>
            </p:cNvGrpSpPr>
            <p:nvPr/>
          </p:nvGrpSpPr>
          <p:grpSpPr bwMode="auto">
            <a:xfrm>
              <a:off x="624" y="1680"/>
              <a:ext cx="2540" cy="2449"/>
              <a:chOff x="1429" y="1389"/>
              <a:chExt cx="2540" cy="2449"/>
            </a:xfrm>
          </p:grpSpPr>
          <p:sp>
            <p:nvSpPr>
              <p:cNvPr id="223239" name="Rectangle 7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0" name="Rectangle 8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1" name="Rectangle 9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2" name="Rectangle 10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3" name="Rectangle 11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4" name="Rectangle 12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5" name="Rectangle 13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6" name="Rectangle 14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7" name="Rectangle 15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8" name="Rectangle 16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9" name="Rectangle 17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50" name="Rectangle 18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51" name="Rectangle 19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52" name="Rectangle 20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53" name="Rectangle 21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54" name="Rectangle 22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55" name="Line 23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56" name="Line 24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57" name="Line 25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58" name="Line 26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59" name="Line 27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60" name="Line 28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61" name="Line 29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62" name="Line 30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63" name="Line 31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64" name="Line 32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65" name="Line 33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3266" name="Group 34"/>
            <p:cNvGrpSpPr>
              <a:grpSpLocks/>
            </p:cNvGrpSpPr>
            <p:nvPr/>
          </p:nvGrpSpPr>
          <p:grpSpPr bwMode="auto">
            <a:xfrm>
              <a:off x="528" y="1440"/>
              <a:ext cx="545" cy="742"/>
              <a:chOff x="1337" y="1162"/>
              <a:chExt cx="545" cy="742"/>
            </a:xfrm>
          </p:grpSpPr>
          <p:sp>
            <p:nvSpPr>
              <p:cNvPr id="223267" name="Text Box 35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+mn-ea"/>
                    <a:ea typeface="+mn-ea"/>
                  </a:rPr>
                  <a:t>B</a:t>
                </a:r>
              </a:p>
            </p:txBody>
          </p:sp>
          <p:sp>
            <p:nvSpPr>
              <p:cNvPr id="223268" name="Text Box 36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+mn-ea"/>
                    <a:ea typeface="+mn-ea"/>
                  </a:rPr>
                  <a:t>A</a:t>
                </a:r>
              </a:p>
            </p:txBody>
          </p:sp>
          <p:sp>
            <p:nvSpPr>
              <p:cNvPr id="223269" name="Text Box 37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+mn-ea"/>
                    <a:ea typeface="+mn-ea"/>
                  </a:rPr>
                  <a:t>D</a:t>
                </a:r>
              </a:p>
            </p:txBody>
          </p:sp>
          <p:sp>
            <p:nvSpPr>
              <p:cNvPr id="223270" name="Text Box 38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+mn-ea"/>
                    <a:ea typeface="+mn-ea"/>
                  </a:rPr>
                  <a:t>C</a:t>
                </a:r>
              </a:p>
            </p:txBody>
          </p:sp>
        </p:grpSp>
        <p:grpSp>
          <p:nvGrpSpPr>
            <p:cNvPr id="223271" name="Group 39"/>
            <p:cNvGrpSpPr>
              <a:grpSpLocks/>
            </p:cNvGrpSpPr>
            <p:nvPr/>
          </p:nvGrpSpPr>
          <p:grpSpPr bwMode="auto">
            <a:xfrm>
              <a:off x="1118" y="1667"/>
              <a:ext cx="1996" cy="288"/>
              <a:chOff x="1927" y="1389"/>
              <a:chExt cx="1996" cy="288"/>
            </a:xfrm>
          </p:grpSpPr>
          <p:sp>
            <p:nvSpPr>
              <p:cNvPr id="223272" name="Text Box 40"/>
              <p:cNvSpPr txBox="1">
                <a:spLocks noChangeArrowheads="1"/>
              </p:cNvSpPr>
              <p:nvPr/>
            </p:nvSpPr>
            <p:spPr bwMode="auto">
              <a:xfrm>
                <a:off x="1927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+mn-ea"/>
                    <a:ea typeface="+mn-ea"/>
                  </a:rPr>
                  <a:t>00</a:t>
                </a:r>
              </a:p>
            </p:txBody>
          </p:sp>
          <p:sp>
            <p:nvSpPr>
              <p:cNvPr id="223273" name="Text Box 41"/>
              <p:cNvSpPr txBox="1">
                <a:spLocks noChangeArrowheads="1"/>
              </p:cNvSpPr>
              <p:nvPr/>
            </p:nvSpPr>
            <p:spPr bwMode="auto">
              <a:xfrm>
                <a:off x="3016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+mn-ea"/>
                    <a:ea typeface="+mn-ea"/>
                  </a:rPr>
                  <a:t>11</a:t>
                </a:r>
              </a:p>
            </p:txBody>
          </p:sp>
          <p:sp>
            <p:nvSpPr>
              <p:cNvPr id="223274" name="Text Box 42"/>
              <p:cNvSpPr txBox="1">
                <a:spLocks noChangeArrowheads="1"/>
              </p:cNvSpPr>
              <p:nvPr/>
            </p:nvSpPr>
            <p:spPr bwMode="auto">
              <a:xfrm>
                <a:off x="2472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+mn-ea"/>
                    <a:ea typeface="+mn-ea"/>
                  </a:rPr>
                  <a:t>01</a:t>
                </a:r>
              </a:p>
            </p:txBody>
          </p:sp>
          <p:sp>
            <p:nvSpPr>
              <p:cNvPr id="223275" name="Text Box 43"/>
              <p:cNvSpPr txBox="1">
                <a:spLocks noChangeArrowheads="1"/>
              </p:cNvSpPr>
              <p:nvPr/>
            </p:nvSpPr>
            <p:spPr bwMode="auto">
              <a:xfrm>
                <a:off x="3560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+mn-ea"/>
                    <a:ea typeface="+mn-ea"/>
                  </a:rPr>
                  <a:t>10</a:t>
                </a:r>
              </a:p>
            </p:txBody>
          </p:sp>
        </p:grpSp>
        <p:grpSp>
          <p:nvGrpSpPr>
            <p:cNvPr id="223276" name="Group 44"/>
            <p:cNvGrpSpPr>
              <a:grpSpLocks/>
            </p:cNvGrpSpPr>
            <p:nvPr/>
          </p:nvGrpSpPr>
          <p:grpSpPr bwMode="auto">
            <a:xfrm>
              <a:off x="665" y="2150"/>
              <a:ext cx="363" cy="1830"/>
              <a:chOff x="1474" y="1872"/>
              <a:chExt cx="363" cy="1830"/>
            </a:xfrm>
          </p:grpSpPr>
          <p:sp>
            <p:nvSpPr>
              <p:cNvPr id="223277" name="Text Box 45"/>
              <p:cNvSpPr txBox="1">
                <a:spLocks noChangeArrowheads="1"/>
              </p:cNvSpPr>
              <p:nvPr/>
            </p:nvSpPr>
            <p:spPr bwMode="auto">
              <a:xfrm>
                <a:off x="1474" y="18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+mn-ea"/>
                    <a:ea typeface="+mn-ea"/>
                  </a:rPr>
                  <a:t>00</a:t>
                </a:r>
              </a:p>
            </p:txBody>
          </p:sp>
          <p:sp>
            <p:nvSpPr>
              <p:cNvPr id="223278" name="Text Box 46"/>
              <p:cNvSpPr txBox="1">
                <a:spLocks noChangeArrowheads="1"/>
              </p:cNvSpPr>
              <p:nvPr/>
            </p:nvSpPr>
            <p:spPr bwMode="auto">
              <a:xfrm>
                <a:off x="1474" y="291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+mn-ea"/>
                    <a:ea typeface="+mn-ea"/>
                  </a:rPr>
                  <a:t>11</a:t>
                </a:r>
              </a:p>
            </p:txBody>
          </p:sp>
          <p:sp>
            <p:nvSpPr>
              <p:cNvPr id="223279" name="Text Box 47"/>
              <p:cNvSpPr txBox="1">
                <a:spLocks noChangeArrowheads="1"/>
              </p:cNvSpPr>
              <p:nvPr/>
            </p:nvSpPr>
            <p:spPr bwMode="auto">
              <a:xfrm>
                <a:off x="1474" y="2371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+mn-ea"/>
                    <a:ea typeface="+mn-ea"/>
                  </a:rPr>
                  <a:t>01</a:t>
                </a:r>
              </a:p>
            </p:txBody>
          </p:sp>
          <p:sp>
            <p:nvSpPr>
              <p:cNvPr id="223280" name="Text Box 48"/>
              <p:cNvSpPr txBox="1">
                <a:spLocks noChangeArrowheads="1"/>
              </p:cNvSpPr>
              <p:nvPr/>
            </p:nvSpPr>
            <p:spPr bwMode="auto">
              <a:xfrm>
                <a:off x="1474" y="341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+mn-ea"/>
                    <a:ea typeface="+mn-ea"/>
                  </a:rPr>
                  <a:t>10</a:t>
                </a:r>
              </a:p>
            </p:txBody>
          </p:sp>
        </p:grpSp>
        <p:sp>
          <p:nvSpPr>
            <p:cNvPr id="223281" name="Rectangle 49"/>
            <p:cNvSpPr>
              <a:spLocks noChangeArrowheads="1"/>
            </p:cNvSpPr>
            <p:nvPr/>
          </p:nvSpPr>
          <p:spPr bwMode="auto">
            <a:xfrm>
              <a:off x="1056" y="2111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sz="2400" baseline="-25000" dirty="0">
                  <a:latin typeface="+mn-ea"/>
                  <a:ea typeface="+mn-ea"/>
                  <a:cs typeface="Times New Roman" pitchFamily="18" charset="0"/>
                </a:rPr>
                <a:t>0</a:t>
              </a:r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=0</a:t>
              </a:r>
              <a:endParaRPr lang="en-US" altLang="zh-CN" sz="2400" b="1" dirty="0">
                <a:latin typeface="+mn-ea"/>
                <a:ea typeface="+mn-ea"/>
                <a:cs typeface="Times New Roman" pitchFamily="18" charset="0"/>
              </a:endParaRPr>
            </a:p>
          </p:txBody>
        </p:sp>
        <p:sp>
          <p:nvSpPr>
            <p:cNvPr id="223282" name="Rectangle 50"/>
            <p:cNvSpPr>
              <a:spLocks noChangeArrowheads="1"/>
            </p:cNvSpPr>
            <p:nvPr/>
          </p:nvSpPr>
          <p:spPr bwMode="auto">
            <a:xfrm>
              <a:off x="1686" y="3192"/>
              <a:ext cx="2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X</a:t>
              </a:r>
              <a:r>
                <a:rPr lang="en-US" altLang="zh-CN" sz="2400" b="1" dirty="0">
                  <a:latin typeface="+mn-ea"/>
                  <a:ea typeface="+mn-ea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23283" name="Rectangle 51"/>
            <p:cNvSpPr>
              <a:spLocks noChangeArrowheads="1"/>
            </p:cNvSpPr>
            <p:nvPr/>
          </p:nvSpPr>
          <p:spPr bwMode="auto">
            <a:xfrm>
              <a:off x="1142" y="3163"/>
              <a:ext cx="2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X</a:t>
              </a:r>
              <a:r>
                <a:rPr lang="en-US" altLang="zh-CN" sz="2400" b="1" dirty="0">
                  <a:latin typeface="+mn-ea"/>
                  <a:ea typeface="+mn-ea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23284" name="Rectangle 52"/>
            <p:cNvSpPr>
              <a:spLocks noChangeArrowheads="1"/>
            </p:cNvSpPr>
            <p:nvPr/>
          </p:nvSpPr>
          <p:spPr bwMode="auto">
            <a:xfrm>
              <a:off x="2207" y="3192"/>
              <a:ext cx="2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X</a:t>
              </a:r>
              <a:r>
                <a:rPr lang="en-US" altLang="zh-CN" sz="2400" b="1" dirty="0">
                  <a:latin typeface="+mn-ea"/>
                  <a:ea typeface="+mn-ea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23285" name="Rectangle 53"/>
            <p:cNvSpPr>
              <a:spLocks noChangeArrowheads="1"/>
            </p:cNvSpPr>
            <p:nvPr/>
          </p:nvSpPr>
          <p:spPr bwMode="auto">
            <a:xfrm>
              <a:off x="2751" y="3192"/>
              <a:ext cx="2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X</a:t>
              </a:r>
              <a:r>
                <a:rPr lang="en-US" altLang="zh-CN" sz="2400" b="1" dirty="0">
                  <a:latin typeface="+mn-ea"/>
                  <a:ea typeface="+mn-ea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23286" name="Rectangle 54"/>
            <p:cNvSpPr>
              <a:spLocks noChangeArrowheads="1"/>
            </p:cNvSpPr>
            <p:nvPr/>
          </p:nvSpPr>
          <p:spPr bwMode="auto">
            <a:xfrm>
              <a:off x="2252" y="3691"/>
              <a:ext cx="2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X</a:t>
              </a:r>
              <a:r>
                <a:rPr lang="en-US" altLang="zh-CN" sz="2400" b="1" dirty="0">
                  <a:latin typeface="+mn-ea"/>
                  <a:ea typeface="+mn-ea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23287" name="Rectangle 55"/>
            <p:cNvSpPr>
              <a:spLocks noChangeArrowheads="1"/>
            </p:cNvSpPr>
            <p:nvPr/>
          </p:nvSpPr>
          <p:spPr bwMode="auto">
            <a:xfrm>
              <a:off x="2775" y="3691"/>
              <a:ext cx="2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X</a:t>
              </a:r>
              <a:r>
                <a:rPr lang="en-US" altLang="zh-CN" sz="2400" b="1" dirty="0">
                  <a:latin typeface="+mn-ea"/>
                  <a:ea typeface="+mn-ea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23288" name="Rectangle 56"/>
            <p:cNvSpPr>
              <a:spLocks noChangeArrowheads="1"/>
            </p:cNvSpPr>
            <p:nvPr/>
          </p:nvSpPr>
          <p:spPr bwMode="auto">
            <a:xfrm>
              <a:off x="1584" y="2111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sz="2400" baseline="-25000" dirty="0">
                  <a:latin typeface="+mn-ea"/>
                  <a:ea typeface="+mn-ea"/>
                  <a:cs typeface="Times New Roman" pitchFamily="18" charset="0"/>
                </a:rPr>
                <a:t>1</a:t>
              </a:r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=0</a:t>
              </a:r>
              <a:endParaRPr lang="en-US" altLang="zh-CN" sz="2400" b="1" dirty="0">
                <a:latin typeface="+mn-ea"/>
                <a:ea typeface="+mn-ea"/>
                <a:cs typeface="Times New Roman" pitchFamily="18" charset="0"/>
              </a:endParaRPr>
            </a:p>
          </p:txBody>
        </p:sp>
        <p:sp>
          <p:nvSpPr>
            <p:cNvPr id="223289" name="Rectangle 57"/>
            <p:cNvSpPr>
              <a:spLocks noChangeArrowheads="1"/>
            </p:cNvSpPr>
            <p:nvPr/>
          </p:nvSpPr>
          <p:spPr bwMode="auto">
            <a:xfrm>
              <a:off x="2112" y="2111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sz="2400" baseline="-25000" dirty="0">
                  <a:latin typeface="+mn-ea"/>
                  <a:ea typeface="+mn-ea"/>
                  <a:cs typeface="Times New Roman" pitchFamily="18" charset="0"/>
                </a:rPr>
                <a:t>3</a:t>
              </a:r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=0</a:t>
              </a:r>
              <a:endParaRPr lang="en-US" altLang="zh-CN" sz="2400" b="1" dirty="0">
                <a:latin typeface="+mn-ea"/>
                <a:ea typeface="+mn-ea"/>
                <a:cs typeface="Times New Roman" pitchFamily="18" charset="0"/>
              </a:endParaRPr>
            </a:p>
          </p:txBody>
        </p:sp>
        <p:sp>
          <p:nvSpPr>
            <p:cNvPr id="223290" name="Rectangle 58"/>
            <p:cNvSpPr>
              <a:spLocks noChangeArrowheads="1"/>
            </p:cNvSpPr>
            <p:nvPr/>
          </p:nvSpPr>
          <p:spPr bwMode="auto">
            <a:xfrm>
              <a:off x="2640" y="2111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sz="2400" baseline="-25000" dirty="0">
                  <a:latin typeface="+mn-ea"/>
                  <a:ea typeface="+mn-ea"/>
                  <a:cs typeface="Times New Roman" pitchFamily="18" charset="0"/>
                </a:rPr>
                <a:t>2</a:t>
              </a:r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=0</a:t>
              </a:r>
              <a:endParaRPr lang="en-US" altLang="zh-CN" sz="2400" b="1" dirty="0">
                <a:latin typeface="+mn-ea"/>
                <a:ea typeface="+mn-ea"/>
                <a:cs typeface="Times New Roman" pitchFamily="18" charset="0"/>
              </a:endParaRPr>
            </a:p>
          </p:txBody>
        </p:sp>
        <p:sp>
          <p:nvSpPr>
            <p:cNvPr id="223291" name="Rectangle 59"/>
            <p:cNvSpPr>
              <a:spLocks noChangeArrowheads="1"/>
            </p:cNvSpPr>
            <p:nvPr/>
          </p:nvSpPr>
          <p:spPr bwMode="auto">
            <a:xfrm>
              <a:off x="1056" y="2639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sz="2400" baseline="-25000" dirty="0">
                  <a:latin typeface="+mn-ea"/>
                  <a:ea typeface="+mn-ea"/>
                  <a:cs typeface="Times New Roman" pitchFamily="18" charset="0"/>
                </a:rPr>
                <a:t>4</a:t>
              </a:r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=0</a:t>
              </a:r>
              <a:endParaRPr lang="en-US" altLang="zh-CN" sz="2400" b="1" dirty="0">
                <a:latin typeface="+mn-ea"/>
                <a:ea typeface="+mn-ea"/>
                <a:cs typeface="Times New Roman" pitchFamily="18" charset="0"/>
              </a:endParaRPr>
            </a:p>
          </p:txBody>
        </p:sp>
        <p:sp>
          <p:nvSpPr>
            <p:cNvPr id="223292" name="Rectangle 60"/>
            <p:cNvSpPr>
              <a:spLocks noChangeArrowheads="1"/>
            </p:cNvSpPr>
            <p:nvPr/>
          </p:nvSpPr>
          <p:spPr bwMode="auto">
            <a:xfrm>
              <a:off x="1584" y="2639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sz="2400" baseline="-25000" dirty="0">
                  <a:latin typeface="+mn-ea"/>
                  <a:ea typeface="+mn-ea"/>
                  <a:cs typeface="Times New Roman" pitchFamily="18" charset="0"/>
                </a:rPr>
                <a:t>5</a:t>
              </a:r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=0</a:t>
              </a:r>
              <a:endParaRPr lang="en-US" altLang="zh-CN" sz="2400" b="1" dirty="0">
                <a:latin typeface="+mn-ea"/>
                <a:ea typeface="+mn-ea"/>
                <a:cs typeface="Times New Roman" pitchFamily="18" charset="0"/>
              </a:endParaRPr>
            </a:p>
          </p:txBody>
        </p:sp>
        <p:sp>
          <p:nvSpPr>
            <p:cNvPr id="223293" name="Rectangle 61"/>
            <p:cNvSpPr>
              <a:spLocks noChangeArrowheads="1"/>
            </p:cNvSpPr>
            <p:nvPr/>
          </p:nvSpPr>
          <p:spPr bwMode="auto">
            <a:xfrm>
              <a:off x="2112" y="2639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sz="2400" baseline="-25000" dirty="0">
                  <a:latin typeface="+mn-ea"/>
                  <a:ea typeface="+mn-ea"/>
                  <a:cs typeface="Times New Roman" pitchFamily="18" charset="0"/>
                </a:rPr>
                <a:t>7</a:t>
              </a:r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=0</a:t>
              </a:r>
              <a:endParaRPr lang="en-US" altLang="zh-CN" sz="2400" b="1" dirty="0">
                <a:latin typeface="+mn-ea"/>
                <a:ea typeface="+mn-ea"/>
                <a:cs typeface="Times New Roman" pitchFamily="18" charset="0"/>
              </a:endParaRPr>
            </a:p>
          </p:txBody>
        </p:sp>
        <p:sp>
          <p:nvSpPr>
            <p:cNvPr id="223294" name="Rectangle 62"/>
            <p:cNvSpPr>
              <a:spLocks noChangeArrowheads="1"/>
            </p:cNvSpPr>
            <p:nvPr/>
          </p:nvSpPr>
          <p:spPr bwMode="auto">
            <a:xfrm>
              <a:off x="2640" y="2639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sz="2400" baseline="-25000" dirty="0">
                  <a:latin typeface="+mn-ea"/>
                  <a:ea typeface="+mn-ea"/>
                  <a:cs typeface="Times New Roman" pitchFamily="18" charset="0"/>
                </a:rPr>
                <a:t>6</a:t>
              </a:r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=0</a:t>
              </a:r>
              <a:endParaRPr lang="en-US" altLang="zh-CN" sz="2400" b="1" dirty="0">
                <a:latin typeface="+mn-ea"/>
                <a:ea typeface="+mn-ea"/>
                <a:cs typeface="Times New Roman" pitchFamily="18" charset="0"/>
              </a:endParaRPr>
            </a:p>
          </p:txBody>
        </p:sp>
        <p:sp>
          <p:nvSpPr>
            <p:cNvPr id="223295" name="Rectangle 63"/>
            <p:cNvSpPr>
              <a:spLocks noChangeArrowheads="1"/>
            </p:cNvSpPr>
            <p:nvPr/>
          </p:nvSpPr>
          <p:spPr bwMode="auto">
            <a:xfrm>
              <a:off x="1056" y="3695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sz="2400" baseline="-25000" dirty="0">
                  <a:latin typeface="+mn-ea"/>
                  <a:ea typeface="+mn-ea"/>
                  <a:cs typeface="Times New Roman" pitchFamily="18" charset="0"/>
                </a:rPr>
                <a:t>8</a:t>
              </a:r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=0</a:t>
              </a:r>
              <a:endParaRPr lang="en-US" altLang="zh-CN" sz="2400" b="1" dirty="0">
                <a:latin typeface="+mn-ea"/>
                <a:ea typeface="+mn-ea"/>
                <a:cs typeface="Times New Roman" pitchFamily="18" charset="0"/>
              </a:endParaRPr>
            </a:p>
          </p:txBody>
        </p:sp>
        <p:sp>
          <p:nvSpPr>
            <p:cNvPr id="223296" name="Rectangle 64"/>
            <p:cNvSpPr>
              <a:spLocks noChangeArrowheads="1"/>
            </p:cNvSpPr>
            <p:nvPr/>
          </p:nvSpPr>
          <p:spPr bwMode="auto">
            <a:xfrm>
              <a:off x="1584" y="3695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sz="2400" baseline="-25000" dirty="0">
                  <a:latin typeface="+mn-ea"/>
                  <a:ea typeface="+mn-ea"/>
                  <a:cs typeface="Times New Roman" pitchFamily="18" charset="0"/>
                </a:rPr>
                <a:t>9</a:t>
              </a:r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=0</a:t>
              </a:r>
              <a:endParaRPr lang="en-US" altLang="zh-CN" sz="2400" b="1" dirty="0">
                <a:latin typeface="+mn-ea"/>
                <a:ea typeface="+mn-ea"/>
                <a:cs typeface="Times New Roman" pitchFamily="18" charset="0"/>
              </a:endParaRPr>
            </a:p>
          </p:txBody>
        </p:sp>
      </p:grpSp>
      <p:sp>
        <p:nvSpPr>
          <p:cNvPr id="223297" name="Rectangle 65"/>
          <p:cNvSpPr>
            <a:spLocks noChangeArrowheads="1"/>
          </p:cNvSpPr>
          <p:nvPr/>
        </p:nvSpPr>
        <p:spPr bwMode="auto">
          <a:xfrm>
            <a:off x="533400" y="12954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不完全解碼的</a:t>
            </a:r>
            <a:r>
              <a:rPr lang="en-US" altLang="zh-CN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BCD</a:t>
            </a: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解碼器邏輯化簡</a:t>
            </a:r>
          </a:p>
        </p:txBody>
      </p:sp>
    </p:spTree>
    <p:extLst>
      <p:ext uri="{BB962C8B-B14F-4D97-AF65-F5344CB8AC3E}">
        <p14:creationId xmlns:p14="http://schemas.microsoft.com/office/powerpoint/2010/main" val="10563589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79450" y="304800"/>
            <a:ext cx="8085138" cy="644525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49</a:t>
            </a:r>
            <a:r>
              <a:rPr lang="zh-CN" altLang="en-US" sz="3600" dirty="0"/>
              <a:t>）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2864B-07D8-4F15-A02B-675ED6D47A55}" type="slidenum">
              <a:rPr lang="en-US" altLang="zh-CN"/>
              <a:pPr/>
              <a:t>61</a:t>
            </a:fld>
            <a:endParaRPr lang="en-US" altLang="zh-CN" dirty="0"/>
          </a:p>
        </p:txBody>
      </p:sp>
      <p:graphicFrame>
        <p:nvGraphicFramePr>
          <p:cNvPr id="225283" name="Object 3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477274025"/>
              </p:ext>
            </p:extLst>
          </p:nvPr>
        </p:nvGraphicFramePr>
        <p:xfrm>
          <a:off x="4569296" y="2025352"/>
          <a:ext cx="26670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6142041" imgH="10530612" progId="">
                  <p:embed/>
                </p:oleObj>
              </mc:Choice>
              <mc:Fallback>
                <p:oleObj name="Image" r:id="rId2" imgW="6142041" imgH="10530612" progId="">
                  <p:embed/>
                  <p:pic>
                    <p:nvPicPr>
                      <p:cNvPr id="225283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9296" y="2025352"/>
                        <a:ext cx="2667000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577206"/>
              </p:ext>
            </p:extLst>
          </p:nvPr>
        </p:nvGraphicFramePr>
        <p:xfrm>
          <a:off x="1652339" y="2533352"/>
          <a:ext cx="2328863" cy="376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63280" imgH="1447560" progId="Equation.3">
                  <p:embed/>
                </p:oleObj>
              </mc:Choice>
              <mc:Fallback>
                <p:oleObj name="公式" r:id="rId4" imgW="863280" imgH="1447560" progId="Equation.3">
                  <p:embed/>
                  <p:pic>
                    <p:nvPicPr>
                      <p:cNvPr id="2252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339" y="2533352"/>
                        <a:ext cx="2328863" cy="3767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285" name="Rectangle 5"/>
          <p:cNvSpPr>
            <a:spLocks noChangeArrowheads="1"/>
          </p:cNvSpPr>
          <p:nvPr/>
        </p:nvSpPr>
        <p:spPr bwMode="auto">
          <a:xfrm>
            <a:off x="533400" y="12954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不完全解碼的</a:t>
            </a:r>
            <a:r>
              <a:rPr lang="en-US" altLang="zh-CN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BCD</a:t>
            </a: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解碼器邏輯圖</a:t>
            </a:r>
          </a:p>
        </p:txBody>
      </p:sp>
    </p:spTree>
    <p:extLst>
      <p:ext uri="{BB962C8B-B14F-4D97-AF65-F5344CB8AC3E}">
        <p14:creationId xmlns:p14="http://schemas.microsoft.com/office/powerpoint/2010/main" val="35183568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50</a:t>
            </a:r>
            <a:r>
              <a:rPr lang="zh-CN" altLang="en-US" sz="3600" dirty="0"/>
              <a:t>）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C930B-177F-4BF9-ADB1-69DF694EEF55}" type="slidenum">
              <a:rPr lang="en-US" altLang="zh-CN"/>
              <a:pPr/>
              <a:t>62</a:t>
            </a:fld>
            <a:endParaRPr lang="en-US" altLang="zh-CN" dirty="0"/>
          </a:p>
        </p:txBody>
      </p:sp>
      <p:graphicFrame>
        <p:nvGraphicFramePr>
          <p:cNvPr id="226308" name="Object 4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640610632"/>
              </p:ext>
            </p:extLst>
          </p:nvPr>
        </p:nvGraphicFramePr>
        <p:xfrm>
          <a:off x="5783932" y="3225800"/>
          <a:ext cx="2172444" cy="2518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76240" imgH="1015920" progId="Equation.3">
                  <p:embed/>
                </p:oleObj>
              </mc:Choice>
              <mc:Fallback>
                <p:oleObj name="公式" r:id="rId2" imgW="876240" imgH="1015920" progId="Equation.3">
                  <p:embed/>
                  <p:pic>
                    <p:nvPicPr>
                      <p:cNvPr id="226308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3932" y="3225800"/>
                        <a:ext cx="2172444" cy="25187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307" name="Rectangle 3"/>
          <p:cNvSpPr>
            <a:spLocks noChangeArrowheads="1"/>
          </p:cNvSpPr>
          <p:nvPr/>
        </p:nvSpPr>
        <p:spPr bwMode="auto">
          <a:xfrm>
            <a:off x="762000" y="1748264"/>
            <a:ext cx="743023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當輸入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ABCD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出現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0101~1111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時，解碼器輸出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Y</a:t>
            </a:r>
            <a:r>
              <a:rPr lang="en-US" altLang="zh-CN" sz="2400" b="1" baseline="-30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0~9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均為</a:t>
            </a:r>
          </a:p>
          <a:p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“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1”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，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Y</a:t>
            </a:r>
            <a:r>
              <a:rPr lang="en-US" altLang="zh-CN" sz="2400" b="1" baseline="-30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0~9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運算式為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 </a:t>
            </a:r>
          </a:p>
        </p:txBody>
      </p:sp>
      <p:graphicFrame>
        <p:nvGraphicFramePr>
          <p:cNvPr id="2263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472456"/>
              </p:ext>
            </p:extLst>
          </p:nvPr>
        </p:nvGraphicFramePr>
        <p:xfrm>
          <a:off x="2047850" y="2590800"/>
          <a:ext cx="3446463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7738776" imgH="9237551" progId="">
                  <p:embed/>
                </p:oleObj>
              </mc:Choice>
              <mc:Fallback>
                <p:oleObj name="Image" r:id="rId4" imgW="7738776" imgH="9237551" progId="">
                  <p:embed/>
                  <p:pic>
                    <p:nvPicPr>
                      <p:cNvPr id="2263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50" y="2590800"/>
                        <a:ext cx="3446463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310" name="Rectangle 6"/>
          <p:cNvSpPr>
            <a:spLocks noChangeArrowheads="1"/>
          </p:cNvSpPr>
          <p:nvPr/>
        </p:nvSpPr>
        <p:spPr bwMode="auto">
          <a:xfrm>
            <a:off x="533400" y="12954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完全解碼的</a:t>
            </a:r>
            <a:r>
              <a:rPr lang="en-US" altLang="zh-CN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BCD</a:t>
            </a: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</a:t>
            </a:r>
          </a:p>
        </p:txBody>
      </p:sp>
    </p:spTree>
    <p:extLst>
      <p:ext uri="{BB962C8B-B14F-4D97-AF65-F5344CB8AC3E}">
        <p14:creationId xmlns:p14="http://schemas.microsoft.com/office/powerpoint/2010/main" val="14529546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51</a:t>
            </a:r>
            <a:r>
              <a:rPr lang="zh-CN" altLang="en-US" sz="3600" dirty="0"/>
              <a:t>）</a:t>
            </a:r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39738-4B5F-4B30-A726-D4A903218EAF}" type="slidenum">
              <a:rPr lang="en-US" altLang="zh-CN"/>
              <a:pPr/>
              <a:t>63</a:t>
            </a:fld>
            <a:endParaRPr lang="en-US" altLang="zh-CN" dirty="0"/>
          </a:p>
        </p:txBody>
      </p:sp>
      <p:graphicFrame>
        <p:nvGraphicFramePr>
          <p:cNvPr id="227332" name="Object 4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310783749"/>
              </p:ext>
            </p:extLst>
          </p:nvPr>
        </p:nvGraphicFramePr>
        <p:xfrm>
          <a:off x="1406525" y="2198688"/>
          <a:ext cx="2646363" cy="306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76240" imgH="1015920" progId="Equation.3">
                  <p:embed/>
                </p:oleObj>
              </mc:Choice>
              <mc:Fallback>
                <p:oleObj name="公式" r:id="rId2" imgW="876240" imgH="1015920" progId="Equation.3">
                  <p:embed/>
                  <p:pic>
                    <p:nvPicPr>
                      <p:cNvPr id="227332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525" y="2198688"/>
                        <a:ext cx="2646363" cy="3068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1" name="Object 3"/>
          <p:cNvGraphicFramePr>
            <a:graphicFrameLocks noChangeAspect="1"/>
          </p:cNvGraphicFramePr>
          <p:nvPr/>
        </p:nvGraphicFramePr>
        <p:xfrm>
          <a:off x="5562600" y="2133600"/>
          <a:ext cx="2446338" cy="446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6778776" imgH="12372245" progId="">
                  <p:embed/>
                </p:oleObj>
              </mc:Choice>
              <mc:Fallback>
                <p:oleObj name="Image" r:id="rId4" imgW="6778776" imgH="12372245" progId="">
                  <p:embed/>
                  <p:pic>
                    <p:nvPicPr>
                      <p:cNvPr id="2273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133600"/>
                        <a:ext cx="2446338" cy="446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33" name="Rectangle 5"/>
          <p:cNvSpPr>
            <a:spLocks noChangeArrowheads="1"/>
          </p:cNvSpPr>
          <p:nvPr/>
        </p:nvSpPr>
        <p:spPr bwMode="auto">
          <a:xfrm>
            <a:off x="533400" y="12954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完全解碼的</a:t>
            </a:r>
            <a:r>
              <a:rPr lang="en-US" altLang="zh-CN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BCD</a:t>
            </a: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解碼器邏輯圖</a:t>
            </a:r>
          </a:p>
        </p:txBody>
      </p:sp>
    </p:spTree>
    <p:extLst>
      <p:ext uri="{BB962C8B-B14F-4D97-AF65-F5344CB8AC3E}">
        <p14:creationId xmlns:p14="http://schemas.microsoft.com/office/powerpoint/2010/main" val="34950841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52</a:t>
            </a:r>
            <a:r>
              <a:rPr lang="zh-CN" altLang="en-US" sz="3600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6DEE-9B6E-4AFD-AF44-464E3207E4D5}" type="slidenum">
              <a:rPr lang="en-US" altLang="zh-CN"/>
              <a:pPr/>
              <a:t>64</a:t>
            </a:fld>
            <a:endParaRPr lang="en-US" altLang="zh-CN" dirty="0"/>
          </a:p>
        </p:txBody>
      </p:sp>
      <p:sp>
        <p:nvSpPr>
          <p:cNvPr id="2283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zh-CN" altLang="en-US" dirty="0"/>
              <a:t>解碼器的功能分類：</a:t>
            </a:r>
            <a:endParaRPr lang="zh-CN" altLang="en-US" sz="2400" dirty="0">
              <a:effectLst/>
              <a:latin typeface="Arial" charset="0"/>
            </a:endParaRP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effectLst/>
              </a:rPr>
              <a:t>變數解碼器</a:t>
            </a: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effectLst/>
              </a:rPr>
              <a:t>碼制解碼器</a:t>
            </a: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solidFill>
                  <a:srgbClr val="CC00FF"/>
                </a:solidFill>
                <a:effectLst/>
              </a:rPr>
              <a:t>顯示解碼器</a:t>
            </a:r>
            <a:r>
              <a:rPr lang="zh-CN" altLang="en-US" b="1" dirty="0">
                <a:effectLst/>
              </a:rPr>
              <a:t>：控制數碼管顯示</a:t>
            </a:r>
          </a:p>
          <a:p>
            <a:pPr lvl="1">
              <a:buFont typeface="Wingdings" pitchFamily="2" charset="2"/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254032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53</a:t>
            </a:r>
            <a:r>
              <a:rPr lang="zh-CN" altLang="en-US" sz="3600" dirty="0"/>
              <a:t>）</a:t>
            </a:r>
            <a:endParaRPr lang="zh-CN" altLang="en-US" dirty="0"/>
          </a:p>
        </p:txBody>
      </p:sp>
      <p:sp>
        <p:nvSpPr>
          <p:cNvPr id="3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975EC-9C59-46C9-9427-7CDEE0303A85}" type="slidenum">
              <a:rPr lang="en-US" altLang="zh-CN"/>
              <a:pPr/>
              <a:t>65</a:t>
            </a:fld>
            <a:endParaRPr lang="en-US" altLang="zh-CN" dirty="0"/>
          </a:p>
        </p:txBody>
      </p:sp>
      <p:sp>
        <p:nvSpPr>
          <p:cNvPr id="305157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246063" y="1447800"/>
            <a:ext cx="7924800" cy="4648200"/>
          </a:xfrm>
        </p:spPr>
        <p:txBody>
          <a:bodyPr/>
          <a:lstStyle/>
          <a:p>
            <a:r>
              <a:rPr lang="zh-CN" altLang="en-US" dirty="0"/>
              <a:t>顯示解碼器</a:t>
            </a:r>
          </a:p>
          <a:p>
            <a:pPr lvl="1"/>
            <a:r>
              <a:rPr lang="zh-CN" altLang="en-US" sz="2800" dirty="0"/>
              <a:t>一個七段數碼管有</a:t>
            </a:r>
            <a:r>
              <a:rPr lang="en-US" altLang="zh-CN" sz="2800" dirty="0"/>
              <a:t>7</a:t>
            </a:r>
            <a:r>
              <a:rPr lang="zh-CN" altLang="en-US" sz="2800" dirty="0"/>
              <a:t>個控制端輸入</a:t>
            </a:r>
            <a:r>
              <a:rPr lang="en-US" altLang="zh-CN" sz="2800" dirty="0"/>
              <a:t>a</a:t>
            </a:r>
            <a:r>
              <a:rPr lang="zh-CN" altLang="en-US" sz="2800" dirty="0"/>
              <a:t>～</a:t>
            </a:r>
            <a:r>
              <a:rPr lang="en-US" altLang="zh-CN" sz="2800" dirty="0"/>
              <a:t>g</a:t>
            </a:r>
            <a:r>
              <a:rPr lang="zh-CN" altLang="en-US" sz="2800" dirty="0"/>
              <a:t>，分別對應與數碼管的</a:t>
            </a:r>
            <a:r>
              <a:rPr lang="en-US" altLang="zh-CN" sz="2800" dirty="0"/>
              <a:t>7</a:t>
            </a:r>
            <a:r>
              <a:rPr lang="zh-CN" altLang="en-US" sz="2800" dirty="0"/>
              <a:t>段。有些數碼管是</a:t>
            </a:r>
            <a:r>
              <a:rPr lang="en-US" altLang="zh-CN" sz="2800" dirty="0"/>
              <a:t>8</a:t>
            </a:r>
            <a:r>
              <a:rPr lang="zh-CN" altLang="en-US" sz="2800" dirty="0"/>
              <a:t>個輸入，在右下方有一個小數點。</a:t>
            </a:r>
          </a:p>
        </p:txBody>
      </p:sp>
      <p:grpSp>
        <p:nvGrpSpPr>
          <p:cNvPr id="305205" name="Group 53"/>
          <p:cNvGrpSpPr>
            <a:grpSpLocks/>
          </p:cNvGrpSpPr>
          <p:nvPr/>
        </p:nvGrpSpPr>
        <p:grpSpPr bwMode="auto">
          <a:xfrm>
            <a:off x="5715000" y="3200400"/>
            <a:ext cx="2438400" cy="3429000"/>
            <a:chOff x="4128" y="2064"/>
            <a:chExt cx="1536" cy="2160"/>
          </a:xfrm>
        </p:grpSpPr>
        <p:sp>
          <p:nvSpPr>
            <p:cNvPr id="305159" name="Rectangle 7"/>
            <p:cNvSpPr>
              <a:spLocks noChangeArrowheads="1"/>
            </p:cNvSpPr>
            <p:nvPr/>
          </p:nvSpPr>
          <p:spPr bwMode="auto">
            <a:xfrm>
              <a:off x="4128" y="2064"/>
              <a:ext cx="1536" cy="2160"/>
            </a:xfrm>
            <a:prstGeom prst="rect">
              <a:avLst/>
            </a:prstGeom>
            <a:solidFill>
              <a:srgbClr val="3333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305199" name="Group 47"/>
            <p:cNvGrpSpPr>
              <a:grpSpLocks/>
            </p:cNvGrpSpPr>
            <p:nvPr/>
          </p:nvGrpSpPr>
          <p:grpSpPr bwMode="auto">
            <a:xfrm>
              <a:off x="4608" y="2496"/>
              <a:ext cx="672" cy="1200"/>
              <a:chOff x="4560" y="2304"/>
              <a:chExt cx="672" cy="1200"/>
            </a:xfrm>
          </p:grpSpPr>
          <p:sp>
            <p:nvSpPr>
              <p:cNvPr id="305176" name="Line 24"/>
              <p:cNvSpPr>
                <a:spLocks noChangeShapeType="1"/>
              </p:cNvSpPr>
              <p:nvPr/>
            </p:nvSpPr>
            <p:spPr bwMode="auto">
              <a:xfrm>
                <a:off x="4608" y="2304"/>
                <a:ext cx="576" cy="0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5177" name="Line 25"/>
              <p:cNvSpPr>
                <a:spLocks noChangeShapeType="1"/>
              </p:cNvSpPr>
              <p:nvPr/>
            </p:nvSpPr>
            <p:spPr bwMode="auto">
              <a:xfrm>
                <a:off x="4608" y="2880"/>
                <a:ext cx="576" cy="0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5178" name="Line 26"/>
              <p:cNvSpPr>
                <a:spLocks noChangeShapeType="1"/>
              </p:cNvSpPr>
              <p:nvPr/>
            </p:nvSpPr>
            <p:spPr bwMode="auto">
              <a:xfrm>
                <a:off x="4608" y="3504"/>
                <a:ext cx="576" cy="0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5180" name="Line 28"/>
              <p:cNvSpPr>
                <a:spLocks noChangeShapeType="1"/>
              </p:cNvSpPr>
              <p:nvPr/>
            </p:nvSpPr>
            <p:spPr bwMode="auto">
              <a:xfrm>
                <a:off x="4560" y="2304"/>
                <a:ext cx="0" cy="576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5181" name="Line 29"/>
              <p:cNvSpPr>
                <a:spLocks noChangeShapeType="1"/>
              </p:cNvSpPr>
              <p:nvPr/>
            </p:nvSpPr>
            <p:spPr bwMode="auto">
              <a:xfrm>
                <a:off x="5232" y="2304"/>
                <a:ext cx="0" cy="576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5182" name="Line 30"/>
              <p:cNvSpPr>
                <a:spLocks noChangeShapeType="1"/>
              </p:cNvSpPr>
              <p:nvPr/>
            </p:nvSpPr>
            <p:spPr bwMode="auto">
              <a:xfrm>
                <a:off x="4560" y="2928"/>
                <a:ext cx="0" cy="576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5183" name="Line 31"/>
              <p:cNvSpPr>
                <a:spLocks noChangeShapeType="1"/>
              </p:cNvSpPr>
              <p:nvPr/>
            </p:nvSpPr>
            <p:spPr bwMode="auto">
              <a:xfrm>
                <a:off x="5232" y="2928"/>
                <a:ext cx="0" cy="576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</p:grpSp>
      <p:sp>
        <p:nvSpPr>
          <p:cNvPr id="305185" name="Text Box 33"/>
          <p:cNvSpPr txBox="1">
            <a:spLocks noChangeArrowheads="1"/>
          </p:cNvSpPr>
          <p:nvPr/>
        </p:nvSpPr>
        <p:spPr bwMode="auto">
          <a:xfrm>
            <a:off x="6705600" y="3200400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FFFF00"/>
                </a:solidFill>
                <a:ea typeface="Noto Serif SC" panose="02020200000000000000" pitchFamily="18" charset="-122"/>
              </a:rPr>
              <a:t>a</a:t>
            </a:r>
          </a:p>
        </p:txBody>
      </p:sp>
      <p:sp>
        <p:nvSpPr>
          <p:cNvPr id="305186" name="Text Box 34"/>
          <p:cNvSpPr txBox="1">
            <a:spLocks noChangeArrowheads="1"/>
          </p:cNvSpPr>
          <p:nvPr/>
        </p:nvSpPr>
        <p:spPr bwMode="auto">
          <a:xfrm>
            <a:off x="7620000" y="4038600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FFFF00"/>
                </a:solidFill>
                <a:ea typeface="Noto Serif SC" panose="02020200000000000000" pitchFamily="18" charset="-122"/>
              </a:rPr>
              <a:t>b</a:t>
            </a:r>
          </a:p>
        </p:txBody>
      </p:sp>
      <p:sp>
        <p:nvSpPr>
          <p:cNvPr id="305187" name="Text Box 35"/>
          <p:cNvSpPr txBox="1">
            <a:spLocks noChangeArrowheads="1"/>
          </p:cNvSpPr>
          <p:nvPr/>
        </p:nvSpPr>
        <p:spPr bwMode="auto">
          <a:xfrm>
            <a:off x="7620000" y="4876800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FFFF00"/>
                </a:solidFill>
                <a:ea typeface="Noto Serif SC" panose="02020200000000000000" pitchFamily="18" charset="-122"/>
              </a:rPr>
              <a:t>c</a:t>
            </a:r>
          </a:p>
        </p:txBody>
      </p:sp>
      <p:sp>
        <p:nvSpPr>
          <p:cNvPr id="305188" name="Text Box 36"/>
          <p:cNvSpPr txBox="1">
            <a:spLocks noChangeArrowheads="1"/>
          </p:cNvSpPr>
          <p:nvPr/>
        </p:nvSpPr>
        <p:spPr bwMode="auto">
          <a:xfrm>
            <a:off x="6858000" y="5973763"/>
            <a:ext cx="457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FFFF00"/>
                </a:solidFill>
                <a:ea typeface="Noto Serif SC" panose="02020200000000000000" pitchFamily="18" charset="-122"/>
              </a:rPr>
              <a:t>d</a:t>
            </a:r>
          </a:p>
        </p:txBody>
      </p:sp>
      <p:sp>
        <p:nvSpPr>
          <p:cNvPr id="305189" name="Text Box 37"/>
          <p:cNvSpPr txBox="1">
            <a:spLocks noChangeArrowheads="1"/>
          </p:cNvSpPr>
          <p:nvPr/>
        </p:nvSpPr>
        <p:spPr bwMode="auto">
          <a:xfrm>
            <a:off x="5867400" y="4953000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FFFF00"/>
                </a:solidFill>
                <a:ea typeface="Noto Serif SC" panose="02020200000000000000" pitchFamily="18" charset="-122"/>
              </a:rPr>
              <a:t>e</a:t>
            </a:r>
          </a:p>
        </p:txBody>
      </p:sp>
      <p:sp>
        <p:nvSpPr>
          <p:cNvPr id="305190" name="Text Box 38"/>
          <p:cNvSpPr txBox="1">
            <a:spLocks noChangeArrowheads="1"/>
          </p:cNvSpPr>
          <p:nvPr/>
        </p:nvSpPr>
        <p:spPr bwMode="auto">
          <a:xfrm>
            <a:off x="5867400" y="4038600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FFFF00"/>
                </a:solidFill>
                <a:ea typeface="Noto Serif SC" panose="02020200000000000000" pitchFamily="18" charset="-122"/>
              </a:rPr>
              <a:t>f</a:t>
            </a:r>
          </a:p>
        </p:txBody>
      </p:sp>
      <p:sp>
        <p:nvSpPr>
          <p:cNvPr id="305191" name="Text Box 39"/>
          <p:cNvSpPr txBox="1">
            <a:spLocks noChangeArrowheads="1"/>
          </p:cNvSpPr>
          <p:nvPr/>
        </p:nvSpPr>
        <p:spPr bwMode="auto">
          <a:xfrm>
            <a:off x="6781800" y="4144963"/>
            <a:ext cx="457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FFFF00"/>
                </a:solidFill>
                <a:ea typeface="Noto Serif SC" panose="02020200000000000000" pitchFamily="18" charset="-122"/>
              </a:rPr>
              <a:t>g</a:t>
            </a:r>
          </a:p>
        </p:txBody>
      </p:sp>
      <p:grpSp>
        <p:nvGrpSpPr>
          <p:cNvPr id="305202" name="Group 50"/>
          <p:cNvGrpSpPr>
            <a:grpSpLocks/>
          </p:cNvGrpSpPr>
          <p:nvPr/>
        </p:nvGrpSpPr>
        <p:grpSpPr bwMode="auto">
          <a:xfrm>
            <a:off x="4648200" y="3657601"/>
            <a:ext cx="1066800" cy="2678113"/>
            <a:chOff x="3456" y="2160"/>
            <a:chExt cx="672" cy="1687"/>
          </a:xfrm>
        </p:grpSpPr>
        <p:grpSp>
          <p:nvGrpSpPr>
            <p:cNvPr id="305200" name="Group 48"/>
            <p:cNvGrpSpPr>
              <a:grpSpLocks/>
            </p:cNvGrpSpPr>
            <p:nvPr/>
          </p:nvGrpSpPr>
          <p:grpSpPr bwMode="auto">
            <a:xfrm>
              <a:off x="3648" y="2304"/>
              <a:ext cx="480" cy="1440"/>
              <a:chOff x="3648" y="2304"/>
              <a:chExt cx="480" cy="1440"/>
            </a:xfrm>
          </p:grpSpPr>
          <p:sp>
            <p:nvSpPr>
              <p:cNvPr id="305192" name="Line 40"/>
              <p:cNvSpPr>
                <a:spLocks noChangeShapeType="1"/>
              </p:cNvSpPr>
              <p:nvPr/>
            </p:nvSpPr>
            <p:spPr bwMode="auto">
              <a:xfrm>
                <a:off x="3648" y="230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5193" name="Line 41"/>
              <p:cNvSpPr>
                <a:spLocks noChangeShapeType="1"/>
              </p:cNvSpPr>
              <p:nvPr/>
            </p:nvSpPr>
            <p:spPr bwMode="auto">
              <a:xfrm>
                <a:off x="3648" y="254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5194" name="Line 42"/>
              <p:cNvSpPr>
                <a:spLocks noChangeShapeType="1"/>
              </p:cNvSpPr>
              <p:nvPr/>
            </p:nvSpPr>
            <p:spPr bwMode="auto">
              <a:xfrm>
                <a:off x="3648" y="278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5195" name="Line 43"/>
              <p:cNvSpPr>
                <a:spLocks noChangeShapeType="1"/>
              </p:cNvSpPr>
              <p:nvPr/>
            </p:nvSpPr>
            <p:spPr bwMode="auto">
              <a:xfrm>
                <a:off x="3648" y="302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5196" name="Line 44"/>
              <p:cNvSpPr>
                <a:spLocks noChangeShapeType="1"/>
              </p:cNvSpPr>
              <p:nvPr/>
            </p:nvSpPr>
            <p:spPr bwMode="auto">
              <a:xfrm>
                <a:off x="3648" y="326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5197" name="Line 45"/>
              <p:cNvSpPr>
                <a:spLocks noChangeShapeType="1"/>
              </p:cNvSpPr>
              <p:nvPr/>
            </p:nvSpPr>
            <p:spPr bwMode="auto">
              <a:xfrm>
                <a:off x="3648" y="350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5198" name="Line 46"/>
              <p:cNvSpPr>
                <a:spLocks noChangeShapeType="1"/>
              </p:cNvSpPr>
              <p:nvPr/>
            </p:nvSpPr>
            <p:spPr bwMode="auto">
              <a:xfrm>
                <a:off x="3648" y="374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305201" name="Text Box 49"/>
            <p:cNvSpPr txBox="1">
              <a:spLocks noChangeArrowheads="1"/>
            </p:cNvSpPr>
            <p:nvPr/>
          </p:nvSpPr>
          <p:spPr bwMode="auto">
            <a:xfrm>
              <a:off x="3456" y="2160"/>
              <a:ext cx="336" cy="1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dirty="0">
                  <a:ea typeface="Noto Serif SC" panose="02020200000000000000" pitchFamily="18" charset="-122"/>
                </a:rPr>
                <a:t>a</a:t>
              </a:r>
            </a:p>
            <a:p>
              <a:r>
                <a:rPr lang="en-US" altLang="zh-CN" sz="2400" dirty="0">
                  <a:ea typeface="Noto Serif SC" panose="02020200000000000000" pitchFamily="18" charset="-122"/>
                </a:rPr>
                <a:t>b</a:t>
              </a:r>
            </a:p>
            <a:p>
              <a:r>
                <a:rPr lang="en-US" altLang="zh-CN" sz="2400" dirty="0">
                  <a:ea typeface="Noto Serif SC" panose="02020200000000000000" pitchFamily="18" charset="-122"/>
                </a:rPr>
                <a:t>c</a:t>
              </a:r>
            </a:p>
            <a:p>
              <a:r>
                <a:rPr lang="en-US" altLang="zh-CN" sz="2400" dirty="0">
                  <a:ea typeface="Noto Serif SC" panose="02020200000000000000" pitchFamily="18" charset="-122"/>
                </a:rPr>
                <a:t>d</a:t>
              </a:r>
            </a:p>
            <a:p>
              <a:r>
                <a:rPr lang="en-US" altLang="zh-CN" sz="2400" dirty="0">
                  <a:ea typeface="Noto Serif SC" panose="02020200000000000000" pitchFamily="18" charset="-122"/>
                </a:rPr>
                <a:t>e</a:t>
              </a:r>
            </a:p>
            <a:p>
              <a:r>
                <a:rPr lang="en-US" altLang="zh-CN" sz="2400" dirty="0">
                  <a:ea typeface="Noto Serif SC" panose="02020200000000000000" pitchFamily="18" charset="-122"/>
                </a:rPr>
                <a:t>f</a:t>
              </a:r>
            </a:p>
            <a:p>
              <a:r>
                <a:rPr lang="en-US" altLang="zh-CN" sz="2400" dirty="0">
                  <a:ea typeface="Noto Serif SC" panose="02020200000000000000" pitchFamily="18" charset="-122"/>
                </a:rPr>
                <a:t>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2493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5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5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5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5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5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5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5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5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5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5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5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5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5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05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5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05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85" grpId="0" autoUpdateAnimBg="0"/>
      <p:bldP spid="305186" grpId="0" autoUpdateAnimBg="0"/>
      <p:bldP spid="305187" grpId="0" autoUpdateAnimBg="0"/>
      <p:bldP spid="305188" grpId="0" autoUpdateAnimBg="0"/>
      <p:bldP spid="305189" grpId="0" autoUpdateAnimBg="0"/>
      <p:bldP spid="305190" grpId="0" autoUpdateAnimBg="0"/>
      <p:bldP spid="305191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54</a:t>
            </a:r>
            <a:r>
              <a:rPr lang="zh-CN" altLang="en-US" sz="3600" dirty="0"/>
              <a:t>）</a:t>
            </a:r>
            <a:endParaRPr lang="zh-CN" altLang="en-US" dirty="0"/>
          </a:p>
        </p:txBody>
      </p:sp>
      <p:sp>
        <p:nvSpPr>
          <p:cNvPr id="5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95790-D253-4040-B268-E39DEC502C95}" type="slidenum">
              <a:rPr lang="en-US" altLang="zh-CN">
                <a:latin typeface="+mn-ea"/>
                <a:ea typeface="+mn-ea"/>
              </a:rPr>
              <a:pPr/>
              <a:t>66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308228" name="Rectangle 4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r>
              <a:rPr lang="zh-CN" altLang="en-US" dirty="0">
                <a:latin typeface="+mn-ea"/>
              </a:rPr>
              <a:t>顯示解碼器</a:t>
            </a:r>
          </a:p>
        </p:txBody>
      </p:sp>
      <p:sp>
        <p:nvSpPr>
          <p:cNvPr id="308276" name="Rectangle 52"/>
          <p:cNvSpPr>
            <a:spLocks noChangeArrowheads="1"/>
          </p:cNvSpPr>
          <p:nvPr/>
        </p:nvSpPr>
        <p:spPr bwMode="auto">
          <a:xfrm>
            <a:off x="228600" y="2179712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七段數碼管分為共陽極顯示和共陰極顯示兩種</a:t>
            </a:r>
          </a:p>
        </p:txBody>
      </p:sp>
      <p:sp>
        <p:nvSpPr>
          <p:cNvPr id="308283" name="Rectangle 59"/>
          <p:cNvSpPr>
            <a:spLocks noChangeArrowheads="1"/>
          </p:cNvSpPr>
          <p:nvPr/>
        </p:nvSpPr>
        <p:spPr bwMode="auto">
          <a:xfrm>
            <a:off x="228600" y="2612402"/>
            <a:ext cx="3581400" cy="3120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90500" indent="-19050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一般來說，共陽極顯示的數碼管有一個管腳為“低”，則對應的段點亮，為“高”則滅。</a:t>
            </a:r>
          </a:p>
          <a:p>
            <a:pPr marL="190500" indent="-19050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共陰極顯示的數碼管有一個管腳為“高”，則對應的段點亮，為“低”則滅。</a:t>
            </a:r>
          </a:p>
        </p:txBody>
      </p:sp>
      <p:grpSp>
        <p:nvGrpSpPr>
          <p:cNvPr id="308288" name="Group 64"/>
          <p:cNvGrpSpPr>
            <a:grpSpLocks/>
          </p:cNvGrpSpPr>
          <p:nvPr/>
        </p:nvGrpSpPr>
        <p:grpSpPr bwMode="auto">
          <a:xfrm>
            <a:off x="3810000" y="2600325"/>
            <a:ext cx="2667000" cy="3876675"/>
            <a:chOff x="2400" y="1638"/>
            <a:chExt cx="1680" cy="2442"/>
          </a:xfrm>
        </p:grpSpPr>
        <p:grpSp>
          <p:nvGrpSpPr>
            <p:cNvPr id="308281" name="Group 57"/>
            <p:cNvGrpSpPr>
              <a:grpSpLocks/>
            </p:cNvGrpSpPr>
            <p:nvPr/>
          </p:nvGrpSpPr>
          <p:grpSpPr bwMode="auto">
            <a:xfrm>
              <a:off x="2400" y="1638"/>
              <a:ext cx="1680" cy="2065"/>
              <a:chOff x="1632" y="1686"/>
              <a:chExt cx="1680" cy="2065"/>
            </a:xfrm>
          </p:grpSpPr>
          <p:grpSp>
            <p:nvGrpSpPr>
              <p:cNvPr id="308229" name="Group 5"/>
              <p:cNvGrpSpPr>
                <a:grpSpLocks/>
              </p:cNvGrpSpPr>
              <p:nvPr/>
            </p:nvGrpSpPr>
            <p:grpSpPr bwMode="auto">
              <a:xfrm>
                <a:off x="2304" y="2064"/>
                <a:ext cx="768" cy="1680"/>
                <a:chOff x="4128" y="2064"/>
                <a:chExt cx="1536" cy="2160"/>
              </a:xfrm>
            </p:grpSpPr>
            <p:sp>
              <p:nvSpPr>
                <p:cNvPr id="308230" name="Rectangle 6"/>
                <p:cNvSpPr>
                  <a:spLocks noChangeArrowheads="1"/>
                </p:cNvSpPr>
                <p:nvPr/>
              </p:nvSpPr>
              <p:spPr bwMode="auto">
                <a:xfrm>
                  <a:off x="4128" y="2064"/>
                  <a:ext cx="1536" cy="2160"/>
                </a:xfrm>
                <a:prstGeom prst="rect">
                  <a:avLst/>
                </a:prstGeom>
                <a:solidFill>
                  <a:srgbClr val="333333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Noto Serif SC" panose="02020200000000000000" pitchFamily="18" charset="-122"/>
                    <a:ea typeface="Noto Serif SC" panose="02020200000000000000" pitchFamily="18" charset="-122"/>
                  </a:endParaRPr>
                </a:p>
              </p:txBody>
            </p:sp>
            <p:grpSp>
              <p:nvGrpSpPr>
                <p:cNvPr id="308231" name="Group 7"/>
                <p:cNvGrpSpPr>
                  <a:grpSpLocks/>
                </p:cNvGrpSpPr>
                <p:nvPr/>
              </p:nvGrpSpPr>
              <p:grpSpPr bwMode="auto">
                <a:xfrm>
                  <a:off x="4608" y="2496"/>
                  <a:ext cx="672" cy="1200"/>
                  <a:chOff x="4560" y="2304"/>
                  <a:chExt cx="672" cy="1200"/>
                </a:xfrm>
              </p:grpSpPr>
              <p:sp>
                <p:nvSpPr>
                  <p:cNvPr id="308232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4608" y="2304"/>
                    <a:ext cx="576" cy="0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33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4608" y="2880"/>
                    <a:ext cx="576" cy="0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34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4608" y="3504"/>
                    <a:ext cx="576" cy="0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35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4560" y="2304"/>
                    <a:ext cx="0" cy="576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36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5232" y="2304"/>
                    <a:ext cx="0" cy="576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37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4560" y="2928"/>
                    <a:ext cx="0" cy="576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38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5232" y="2928"/>
                    <a:ext cx="0" cy="576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</p:grpSp>
          </p:grpSp>
          <p:grpSp>
            <p:nvGrpSpPr>
              <p:cNvPr id="308246" name="Group 22"/>
              <p:cNvGrpSpPr>
                <a:grpSpLocks/>
              </p:cNvGrpSpPr>
              <p:nvPr/>
            </p:nvGrpSpPr>
            <p:grpSpPr bwMode="auto">
              <a:xfrm>
                <a:off x="1632" y="2064"/>
                <a:ext cx="672" cy="1687"/>
                <a:chOff x="3456" y="2160"/>
                <a:chExt cx="672" cy="1687"/>
              </a:xfrm>
            </p:grpSpPr>
            <p:grpSp>
              <p:nvGrpSpPr>
                <p:cNvPr id="308247" name="Group 23"/>
                <p:cNvGrpSpPr>
                  <a:grpSpLocks/>
                </p:cNvGrpSpPr>
                <p:nvPr/>
              </p:nvGrpSpPr>
              <p:grpSpPr bwMode="auto">
                <a:xfrm>
                  <a:off x="3648" y="2304"/>
                  <a:ext cx="480" cy="1440"/>
                  <a:chOff x="3648" y="2304"/>
                  <a:chExt cx="480" cy="1440"/>
                </a:xfrm>
              </p:grpSpPr>
              <p:sp>
                <p:nvSpPr>
                  <p:cNvPr id="308248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30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49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54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50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78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51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02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52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26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53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0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54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74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</p:grpSp>
            <p:sp>
              <p:nvSpPr>
                <p:cNvPr id="308255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3456" y="2160"/>
                  <a:ext cx="336" cy="16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400" dirty="0">
                      <a:latin typeface="Noto Serif SC" panose="02020200000000000000" pitchFamily="18" charset="-122"/>
                      <a:ea typeface="Noto Serif SC" panose="02020200000000000000" pitchFamily="18" charset="-122"/>
                    </a:rPr>
                    <a:t>a</a:t>
                  </a:r>
                </a:p>
                <a:p>
                  <a:r>
                    <a:rPr lang="en-US" altLang="zh-CN" sz="2400" dirty="0">
                      <a:latin typeface="Noto Serif SC" panose="02020200000000000000" pitchFamily="18" charset="-122"/>
                      <a:ea typeface="Noto Serif SC" panose="02020200000000000000" pitchFamily="18" charset="-122"/>
                    </a:rPr>
                    <a:t>b</a:t>
                  </a:r>
                </a:p>
                <a:p>
                  <a:r>
                    <a:rPr lang="en-US" altLang="zh-CN" sz="2400" dirty="0">
                      <a:latin typeface="Noto Serif SC" panose="02020200000000000000" pitchFamily="18" charset="-122"/>
                      <a:ea typeface="Noto Serif SC" panose="02020200000000000000" pitchFamily="18" charset="-122"/>
                    </a:rPr>
                    <a:t>c</a:t>
                  </a:r>
                </a:p>
                <a:p>
                  <a:r>
                    <a:rPr lang="en-US" altLang="zh-CN" sz="2400" dirty="0">
                      <a:latin typeface="Noto Serif SC" panose="02020200000000000000" pitchFamily="18" charset="-122"/>
                      <a:ea typeface="Noto Serif SC" panose="02020200000000000000" pitchFamily="18" charset="-122"/>
                    </a:rPr>
                    <a:t>d</a:t>
                  </a:r>
                </a:p>
                <a:p>
                  <a:r>
                    <a:rPr lang="en-US" altLang="zh-CN" sz="2400" dirty="0">
                      <a:latin typeface="Noto Serif SC" panose="02020200000000000000" pitchFamily="18" charset="-122"/>
                      <a:ea typeface="Noto Serif SC" panose="02020200000000000000" pitchFamily="18" charset="-122"/>
                    </a:rPr>
                    <a:t>e</a:t>
                  </a:r>
                </a:p>
                <a:p>
                  <a:r>
                    <a:rPr lang="en-US" altLang="zh-CN" sz="2400" dirty="0">
                      <a:latin typeface="Noto Serif SC" panose="02020200000000000000" pitchFamily="18" charset="-122"/>
                      <a:ea typeface="Noto Serif SC" panose="02020200000000000000" pitchFamily="18" charset="-122"/>
                    </a:rPr>
                    <a:t>f</a:t>
                  </a:r>
                </a:p>
                <a:p>
                  <a:r>
                    <a:rPr lang="en-US" altLang="zh-CN" sz="2400" dirty="0">
                      <a:latin typeface="Noto Serif SC" panose="02020200000000000000" pitchFamily="18" charset="-122"/>
                      <a:ea typeface="Noto Serif SC" panose="02020200000000000000" pitchFamily="18" charset="-122"/>
                    </a:rPr>
                    <a:t>g</a:t>
                  </a:r>
                </a:p>
              </p:txBody>
            </p:sp>
          </p:grpSp>
          <p:sp>
            <p:nvSpPr>
              <p:cNvPr id="308277" name="Line 53"/>
              <p:cNvSpPr>
                <a:spLocks noChangeShapeType="1"/>
              </p:cNvSpPr>
              <p:nvPr/>
            </p:nvSpPr>
            <p:spPr bwMode="auto">
              <a:xfrm flipV="1">
                <a:off x="2688" y="172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308278" name="Text Box 54"/>
              <p:cNvSpPr txBox="1">
                <a:spLocks noChangeArrowheads="1"/>
              </p:cNvSpPr>
              <p:nvPr/>
            </p:nvSpPr>
            <p:spPr bwMode="auto">
              <a:xfrm>
                <a:off x="2688" y="1686"/>
                <a:ext cx="62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 err="1">
                    <a:latin typeface="Noto Serif SC" panose="02020200000000000000" pitchFamily="18" charset="-122"/>
                    <a:ea typeface="Noto Serif SC" panose="02020200000000000000" pitchFamily="18" charset="-122"/>
                  </a:rPr>
                  <a:t>Vcc</a:t>
                </a:r>
                <a:endPara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308285" name="Rectangle 61"/>
            <p:cNvSpPr>
              <a:spLocks noChangeArrowheads="1"/>
            </p:cNvSpPr>
            <p:nvPr/>
          </p:nvSpPr>
          <p:spPr bwMode="auto">
            <a:xfrm>
              <a:off x="2736" y="3792"/>
              <a:ext cx="10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共陽極顯示</a:t>
              </a:r>
            </a:p>
          </p:txBody>
        </p:sp>
      </p:grpSp>
      <p:grpSp>
        <p:nvGrpSpPr>
          <p:cNvPr id="308287" name="Group 63"/>
          <p:cNvGrpSpPr>
            <a:grpSpLocks/>
          </p:cNvGrpSpPr>
          <p:nvPr/>
        </p:nvGrpSpPr>
        <p:grpSpPr bwMode="auto">
          <a:xfrm>
            <a:off x="6400800" y="2438400"/>
            <a:ext cx="2438400" cy="4038600"/>
            <a:chOff x="4032" y="1536"/>
            <a:chExt cx="1536" cy="2544"/>
          </a:xfrm>
        </p:grpSpPr>
        <p:grpSp>
          <p:nvGrpSpPr>
            <p:cNvPr id="308284" name="Group 60"/>
            <p:cNvGrpSpPr>
              <a:grpSpLocks/>
            </p:cNvGrpSpPr>
            <p:nvPr/>
          </p:nvGrpSpPr>
          <p:grpSpPr bwMode="auto">
            <a:xfrm>
              <a:off x="4032" y="1536"/>
              <a:ext cx="1536" cy="2129"/>
              <a:chOff x="4032" y="1478"/>
              <a:chExt cx="1536" cy="2129"/>
            </a:xfrm>
          </p:grpSpPr>
          <p:grpSp>
            <p:nvGrpSpPr>
              <p:cNvPr id="308256" name="Group 32"/>
              <p:cNvGrpSpPr>
                <a:grpSpLocks/>
              </p:cNvGrpSpPr>
              <p:nvPr/>
            </p:nvGrpSpPr>
            <p:grpSpPr bwMode="auto">
              <a:xfrm>
                <a:off x="4704" y="1920"/>
                <a:ext cx="768" cy="1680"/>
                <a:chOff x="4128" y="2064"/>
                <a:chExt cx="1536" cy="2160"/>
              </a:xfrm>
            </p:grpSpPr>
            <p:sp>
              <p:nvSpPr>
                <p:cNvPr id="308257" name="Rectangle 33"/>
                <p:cNvSpPr>
                  <a:spLocks noChangeArrowheads="1"/>
                </p:cNvSpPr>
                <p:nvPr/>
              </p:nvSpPr>
              <p:spPr bwMode="auto">
                <a:xfrm>
                  <a:off x="4128" y="2064"/>
                  <a:ext cx="1536" cy="2160"/>
                </a:xfrm>
                <a:prstGeom prst="rect">
                  <a:avLst/>
                </a:prstGeom>
                <a:solidFill>
                  <a:srgbClr val="333333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Noto Serif SC" panose="02020200000000000000" pitchFamily="18" charset="-122"/>
                    <a:ea typeface="Noto Serif SC" panose="02020200000000000000" pitchFamily="18" charset="-122"/>
                  </a:endParaRPr>
                </a:p>
              </p:txBody>
            </p:sp>
            <p:grpSp>
              <p:nvGrpSpPr>
                <p:cNvPr id="308258" name="Group 34"/>
                <p:cNvGrpSpPr>
                  <a:grpSpLocks/>
                </p:cNvGrpSpPr>
                <p:nvPr/>
              </p:nvGrpSpPr>
              <p:grpSpPr bwMode="auto">
                <a:xfrm>
                  <a:off x="4608" y="2496"/>
                  <a:ext cx="672" cy="1200"/>
                  <a:chOff x="4560" y="2304"/>
                  <a:chExt cx="672" cy="1200"/>
                </a:xfrm>
              </p:grpSpPr>
              <p:sp>
                <p:nvSpPr>
                  <p:cNvPr id="308259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4608" y="2304"/>
                    <a:ext cx="576" cy="0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60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4608" y="2880"/>
                    <a:ext cx="576" cy="0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61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4608" y="3504"/>
                    <a:ext cx="576" cy="0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62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4560" y="2304"/>
                    <a:ext cx="0" cy="576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63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5232" y="2304"/>
                    <a:ext cx="0" cy="576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64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4560" y="2928"/>
                    <a:ext cx="0" cy="576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65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5232" y="2928"/>
                    <a:ext cx="0" cy="576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</p:grpSp>
          </p:grpSp>
          <p:grpSp>
            <p:nvGrpSpPr>
              <p:cNvPr id="308266" name="Group 42"/>
              <p:cNvGrpSpPr>
                <a:grpSpLocks/>
              </p:cNvGrpSpPr>
              <p:nvPr/>
            </p:nvGrpSpPr>
            <p:grpSpPr bwMode="auto">
              <a:xfrm>
                <a:off x="4032" y="1920"/>
                <a:ext cx="672" cy="1687"/>
                <a:chOff x="3456" y="2160"/>
                <a:chExt cx="672" cy="1687"/>
              </a:xfrm>
            </p:grpSpPr>
            <p:grpSp>
              <p:nvGrpSpPr>
                <p:cNvPr id="308267" name="Group 43"/>
                <p:cNvGrpSpPr>
                  <a:grpSpLocks/>
                </p:cNvGrpSpPr>
                <p:nvPr/>
              </p:nvGrpSpPr>
              <p:grpSpPr bwMode="auto">
                <a:xfrm>
                  <a:off x="3648" y="2304"/>
                  <a:ext cx="480" cy="1440"/>
                  <a:chOff x="3648" y="2304"/>
                  <a:chExt cx="480" cy="1440"/>
                </a:xfrm>
              </p:grpSpPr>
              <p:sp>
                <p:nvSpPr>
                  <p:cNvPr id="308268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30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69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54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70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78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71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02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72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26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73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0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8274" name="Line 50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74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Noto Serif SC" panose="02020200000000000000" pitchFamily="18" charset="-122"/>
                      <a:ea typeface="Noto Serif SC" panose="02020200000000000000" pitchFamily="18" charset="-122"/>
                    </a:endParaRPr>
                  </a:p>
                </p:txBody>
              </p:sp>
            </p:grpSp>
            <p:sp>
              <p:nvSpPr>
                <p:cNvPr id="308275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3456" y="2160"/>
                  <a:ext cx="336" cy="16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400" dirty="0">
                      <a:latin typeface="Noto Serif SC" panose="02020200000000000000" pitchFamily="18" charset="-122"/>
                      <a:ea typeface="Noto Serif SC" panose="02020200000000000000" pitchFamily="18" charset="-122"/>
                    </a:rPr>
                    <a:t>a</a:t>
                  </a:r>
                </a:p>
                <a:p>
                  <a:r>
                    <a:rPr lang="en-US" altLang="zh-CN" sz="2400" dirty="0">
                      <a:latin typeface="Noto Serif SC" panose="02020200000000000000" pitchFamily="18" charset="-122"/>
                      <a:ea typeface="Noto Serif SC" panose="02020200000000000000" pitchFamily="18" charset="-122"/>
                    </a:rPr>
                    <a:t>b</a:t>
                  </a:r>
                </a:p>
                <a:p>
                  <a:r>
                    <a:rPr lang="en-US" altLang="zh-CN" sz="2400" dirty="0">
                      <a:latin typeface="Noto Serif SC" panose="02020200000000000000" pitchFamily="18" charset="-122"/>
                      <a:ea typeface="Noto Serif SC" panose="02020200000000000000" pitchFamily="18" charset="-122"/>
                    </a:rPr>
                    <a:t>c</a:t>
                  </a:r>
                </a:p>
                <a:p>
                  <a:r>
                    <a:rPr lang="en-US" altLang="zh-CN" sz="2400" dirty="0">
                      <a:latin typeface="Noto Serif SC" panose="02020200000000000000" pitchFamily="18" charset="-122"/>
                      <a:ea typeface="Noto Serif SC" panose="02020200000000000000" pitchFamily="18" charset="-122"/>
                    </a:rPr>
                    <a:t>d</a:t>
                  </a:r>
                </a:p>
                <a:p>
                  <a:r>
                    <a:rPr lang="en-US" altLang="zh-CN" sz="2400" dirty="0">
                      <a:latin typeface="Noto Serif SC" panose="02020200000000000000" pitchFamily="18" charset="-122"/>
                      <a:ea typeface="Noto Serif SC" panose="02020200000000000000" pitchFamily="18" charset="-122"/>
                    </a:rPr>
                    <a:t>e</a:t>
                  </a:r>
                </a:p>
                <a:p>
                  <a:r>
                    <a:rPr lang="en-US" altLang="zh-CN" sz="2400" dirty="0">
                      <a:latin typeface="Noto Serif SC" panose="02020200000000000000" pitchFamily="18" charset="-122"/>
                      <a:ea typeface="Noto Serif SC" panose="02020200000000000000" pitchFamily="18" charset="-122"/>
                    </a:rPr>
                    <a:t>f</a:t>
                  </a:r>
                </a:p>
                <a:p>
                  <a:r>
                    <a:rPr lang="en-US" altLang="zh-CN" sz="2400" dirty="0">
                      <a:latin typeface="Noto Serif SC" panose="02020200000000000000" pitchFamily="18" charset="-122"/>
                      <a:ea typeface="Noto Serif SC" panose="02020200000000000000" pitchFamily="18" charset="-122"/>
                    </a:rPr>
                    <a:t>g</a:t>
                  </a:r>
                </a:p>
              </p:txBody>
            </p:sp>
          </p:grpSp>
          <p:sp>
            <p:nvSpPr>
              <p:cNvPr id="308279" name="Line 55"/>
              <p:cNvSpPr>
                <a:spLocks noChangeShapeType="1"/>
              </p:cNvSpPr>
              <p:nvPr/>
            </p:nvSpPr>
            <p:spPr bwMode="auto">
              <a:xfrm flipV="1">
                <a:off x="5088" y="158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308280" name="Text Box 56"/>
              <p:cNvSpPr txBox="1">
                <a:spLocks noChangeArrowheads="1"/>
              </p:cNvSpPr>
              <p:nvPr/>
            </p:nvSpPr>
            <p:spPr bwMode="auto">
              <a:xfrm>
                <a:off x="5088" y="1478"/>
                <a:ext cx="480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 err="1">
                    <a:latin typeface="Noto Serif SC" panose="02020200000000000000" pitchFamily="18" charset="-122"/>
                    <a:ea typeface="Noto Serif SC" panose="02020200000000000000" pitchFamily="18" charset="-122"/>
                  </a:rPr>
                  <a:t>Gnd</a:t>
                </a:r>
                <a:endPara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308286" name="Rectangle 62"/>
            <p:cNvSpPr>
              <a:spLocks noChangeArrowheads="1"/>
            </p:cNvSpPr>
            <p:nvPr/>
          </p:nvSpPr>
          <p:spPr bwMode="auto">
            <a:xfrm>
              <a:off x="4320" y="3792"/>
              <a:ext cx="10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zh-CN" altLang="en-US" sz="24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共陰極顯示</a:t>
              </a:r>
            </a:p>
          </p:txBody>
        </p:sp>
      </p:grpSp>
      <p:sp>
        <p:nvSpPr>
          <p:cNvPr id="308289" name="Rectangle 65"/>
          <p:cNvSpPr>
            <a:spLocks noChangeArrowheads="1"/>
          </p:cNvSpPr>
          <p:nvPr/>
        </p:nvSpPr>
        <p:spPr bwMode="auto">
          <a:xfrm>
            <a:off x="228600" y="5715000"/>
            <a:ext cx="3352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92100" indent="-29210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我們教材用共陽極顯示數碼管講解</a:t>
            </a:r>
          </a:p>
        </p:txBody>
      </p:sp>
    </p:spTree>
    <p:extLst>
      <p:ext uri="{BB962C8B-B14F-4D97-AF65-F5344CB8AC3E}">
        <p14:creationId xmlns:p14="http://schemas.microsoft.com/office/powerpoint/2010/main" val="84850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8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8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8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76" grpId="0" autoUpdateAnimBg="0"/>
      <p:bldP spid="308283" grpId="0" autoUpdateAnimBg="0"/>
      <p:bldP spid="308289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55</a:t>
            </a:r>
            <a:r>
              <a:rPr lang="zh-CN" altLang="en-US" sz="3600" dirty="0"/>
              <a:t>）</a:t>
            </a:r>
            <a:endParaRPr lang="zh-CN" altLang="en-US" dirty="0"/>
          </a:p>
        </p:txBody>
      </p:sp>
      <p:sp>
        <p:nvSpPr>
          <p:cNvPr id="3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5FEDB-FAE5-4EEB-8A38-95C0315784A0}" type="slidenum">
              <a:rPr lang="en-US" altLang="zh-CN">
                <a:latin typeface="+mn-ea"/>
                <a:ea typeface="+mn-ea"/>
              </a:rPr>
              <a:pPr/>
              <a:t>67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3102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46063" y="1447800"/>
            <a:ext cx="7924800" cy="4648200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顯示解碼器</a:t>
            </a:r>
          </a:p>
        </p:txBody>
      </p:sp>
      <p:sp>
        <p:nvSpPr>
          <p:cNvPr id="310286" name="Rectangle 14"/>
          <p:cNvSpPr>
            <a:spLocks noChangeArrowheads="1"/>
          </p:cNvSpPr>
          <p:nvPr/>
        </p:nvSpPr>
        <p:spPr bwMode="auto">
          <a:xfrm>
            <a:off x="152400" y="2133600"/>
            <a:ext cx="5580063" cy="127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762000" lvl="1" indent="-30480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當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a=0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時，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a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段亮，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a=1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時，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a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段滅。</a:t>
            </a:r>
          </a:p>
          <a:p>
            <a:pPr marL="762000" lvl="1" indent="-30480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其它變數相同。</a:t>
            </a:r>
          </a:p>
        </p:txBody>
      </p:sp>
      <p:sp>
        <p:nvSpPr>
          <p:cNvPr id="310304" name="Rectangle 32"/>
          <p:cNvSpPr>
            <a:spLocks noChangeArrowheads="1"/>
          </p:cNvSpPr>
          <p:nvPr/>
        </p:nvSpPr>
        <p:spPr bwMode="auto">
          <a:xfrm>
            <a:off x="169863" y="3089275"/>
            <a:ext cx="524033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762000" lvl="1" indent="-30480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7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段數碼管可以顯示從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0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～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9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的數字。要顯示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0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時，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g=1,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其它變數＝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0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；顯示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2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時，</a:t>
            </a:r>
            <a:r>
              <a:rPr lang="en-US" altLang="zh-CN" sz="2400" dirty="0" err="1">
                <a:latin typeface="Noto Serif SC" panose="02020200000000000000" pitchFamily="18" charset="-122"/>
                <a:ea typeface="Noto Serif SC" panose="02020200000000000000" pitchFamily="18" charset="-122"/>
              </a:rPr>
              <a:t>a,b,g,e,d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=0,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其它變數＝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。</a:t>
            </a:r>
          </a:p>
        </p:txBody>
      </p:sp>
      <p:sp>
        <p:nvSpPr>
          <p:cNvPr id="310305" name="Rectangle 33"/>
          <p:cNvSpPr>
            <a:spLocks noChangeArrowheads="1"/>
          </p:cNvSpPr>
          <p:nvPr/>
        </p:nvSpPr>
        <p:spPr bwMode="auto">
          <a:xfrm>
            <a:off x="169863" y="4765675"/>
            <a:ext cx="51641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762000" lvl="1" indent="-30480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顯示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0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～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9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中的任何一個分別對應於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a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～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g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的一組編碼</a:t>
            </a:r>
          </a:p>
        </p:txBody>
      </p:sp>
      <p:grpSp>
        <p:nvGrpSpPr>
          <p:cNvPr id="310308" name="Group 36"/>
          <p:cNvGrpSpPr>
            <a:grpSpLocks/>
          </p:cNvGrpSpPr>
          <p:nvPr/>
        </p:nvGrpSpPr>
        <p:grpSpPr bwMode="auto">
          <a:xfrm>
            <a:off x="5486400" y="2362200"/>
            <a:ext cx="3505200" cy="4343400"/>
            <a:chOff x="3456" y="1488"/>
            <a:chExt cx="2208" cy="2736"/>
          </a:xfrm>
        </p:grpSpPr>
        <p:grpSp>
          <p:nvGrpSpPr>
            <p:cNvPr id="310276" name="Group 4"/>
            <p:cNvGrpSpPr>
              <a:grpSpLocks/>
            </p:cNvGrpSpPr>
            <p:nvPr/>
          </p:nvGrpSpPr>
          <p:grpSpPr bwMode="auto">
            <a:xfrm>
              <a:off x="4128" y="2064"/>
              <a:ext cx="1536" cy="2160"/>
              <a:chOff x="4128" y="2064"/>
              <a:chExt cx="1536" cy="2160"/>
            </a:xfrm>
          </p:grpSpPr>
          <p:sp>
            <p:nvSpPr>
              <p:cNvPr id="310277" name="Rectangle 5"/>
              <p:cNvSpPr>
                <a:spLocks noChangeArrowheads="1"/>
              </p:cNvSpPr>
              <p:nvPr/>
            </p:nvSpPr>
            <p:spPr bwMode="auto">
              <a:xfrm>
                <a:off x="4128" y="2064"/>
                <a:ext cx="1536" cy="2160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310278" name="Group 6"/>
              <p:cNvGrpSpPr>
                <a:grpSpLocks/>
              </p:cNvGrpSpPr>
              <p:nvPr/>
            </p:nvGrpSpPr>
            <p:grpSpPr bwMode="auto">
              <a:xfrm>
                <a:off x="4608" y="2496"/>
                <a:ext cx="672" cy="1200"/>
                <a:chOff x="4560" y="2304"/>
                <a:chExt cx="672" cy="1200"/>
              </a:xfrm>
            </p:grpSpPr>
            <p:sp>
              <p:nvSpPr>
                <p:cNvPr id="310279" name="Line 7"/>
                <p:cNvSpPr>
                  <a:spLocks noChangeShapeType="1"/>
                </p:cNvSpPr>
                <p:nvPr/>
              </p:nvSpPr>
              <p:spPr bwMode="auto">
                <a:xfrm>
                  <a:off x="4608" y="2304"/>
                  <a:ext cx="576" cy="0"/>
                </a:xfrm>
                <a:prstGeom prst="line">
                  <a:avLst/>
                </a:prstGeom>
                <a:noFill/>
                <a:ln w="1270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280" name="Line 8"/>
                <p:cNvSpPr>
                  <a:spLocks noChangeShapeType="1"/>
                </p:cNvSpPr>
                <p:nvPr/>
              </p:nvSpPr>
              <p:spPr bwMode="auto">
                <a:xfrm>
                  <a:off x="4608" y="2880"/>
                  <a:ext cx="576" cy="0"/>
                </a:xfrm>
                <a:prstGeom prst="line">
                  <a:avLst/>
                </a:prstGeom>
                <a:noFill/>
                <a:ln w="1270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281" name="Line 9"/>
                <p:cNvSpPr>
                  <a:spLocks noChangeShapeType="1"/>
                </p:cNvSpPr>
                <p:nvPr/>
              </p:nvSpPr>
              <p:spPr bwMode="auto">
                <a:xfrm>
                  <a:off x="4608" y="3504"/>
                  <a:ext cx="576" cy="0"/>
                </a:xfrm>
                <a:prstGeom prst="line">
                  <a:avLst/>
                </a:prstGeom>
                <a:noFill/>
                <a:ln w="1270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282" name="Line 10"/>
                <p:cNvSpPr>
                  <a:spLocks noChangeShapeType="1"/>
                </p:cNvSpPr>
                <p:nvPr/>
              </p:nvSpPr>
              <p:spPr bwMode="auto">
                <a:xfrm>
                  <a:off x="4560" y="2304"/>
                  <a:ext cx="0" cy="576"/>
                </a:xfrm>
                <a:prstGeom prst="line">
                  <a:avLst/>
                </a:prstGeom>
                <a:noFill/>
                <a:ln w="1270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283" name="Line 11"/>
                <p:cNvSpPr>
                  <a:spLocks noChangeShapeType="1"/>
                </p:cNvSpPr>
                <p:nvPr/>
              </p:nvSpPr>
              <p:spPr bwMode="auto">
                <a:xfrm>
                  <a:off x="5232" y="2304"/>
                  <a:ext cx="0" cy="576"/>
                </a:xfrm>
                <a:prstGeom prst="line">
                  <a:avLst/>
                </a:prstGeom>
                <a:noFill/>
                <a:ln w="1270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284" name="Line 12"/>
                <p:cNvSpPr>
                  <a:spLocks noChangeShapeType="1"/>
                </p:cNvSpPr>
                <p:nvPr/>
              </p:nvSpPr>
              <p:spPr bwMode="auto">
                <a:xfrm>
                  <a:off x="4560" y="2928"/>
                  <a:ext cx="0" cy="576"/>
                </a:xfrm>
                <a:prstGeom prst="line">
                  <a:avLst/>
                </a:prstGeom>
                <a:noFill/>
                <a:ln w="1270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285" name="Line 13"/>
                <p:cNvSpPr>
                  <a:spLocks noChangeShapeType="1"/>
                </p:cNvSpPr>
                <p:nvPr/>
              </p:nvSpPr>
              <p:spPr bwMode="auto">
                <a:xfrm>
                  <a:off x="5232" y="2928"/>
                  <a:ext cx="0" cy="576"/>
                </a:xfrm>
                <a:prstGeom prst="line">
                  <a:avLst/>
                </a:prstGeom>
                <a:noFill/>
                <a:ln w="1270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310287" name="Text Box 15"/>
            <p:cNvSpPr txBox="1">
              <a:spLocks noChangeArrowheads="1"/>
            </p:cNvSpPr>
            <p:nvPr/>
          </p:nvSpPr>
          <p:spPr bwMode="auto">
            <a:xfrm>
              <a:off x="4752" y="2064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FF00"/>
                  </a:solidFill>
                  <a:latin typeface="+mn-ea"/>
                  <a:ea typeface="+mn-ea"/>
                </a:rPr>
                <a:t>a</a:t>
              </a:r>
            </a:p>
          </p:txBody>
        </p:sp>
        <p:sp>
          <p:nvSpPr>
            <p:cNvPr id="310288" name="Text Box 16"/>
            <p:cNvSpPr txBox="1">
              <a:spLocks noChangeArrowheads="1"/>
            </p:cNvSpPr>
            <p:nvPr/>
          </p:nvSpPr>
          <p:spPr bwMode="auto">
            <a:xfrm>
              <a:off x="5328" y="2592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FF00"/>
                  </a:solidFill>
                  <a:latin typeface="+mn-ea"/>
                  <a:ea typeface="+mn-ea"/>
                </a:rPr>
                <a:t>b</a:t>
              </a:r>
            </a:p>
          </p:txBody>
        </p:sp>
        <p:sp>
          <p:nvSpPr>
            <p:cNvPr id="310289" name="Text Box 17"/>
            <p:cNvSpPr txBox="1">
              <a:spLocks noChangeArrowheads="1"/>
            </p:cNvSpPr>
            <p:nvPr/>
          </p:nvSpPr>
          <p:spPr bwMode="auto">
            <a:xfrm>
              <a:off x="5328" y="3120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FF00"/>
                  </a:solidFill>
                  <a:latin typeface="+mn-ea"/>
                  <a:ea typeface="+mn-ea"/>
                </a:rPr>
                <a:t>c</a:t>
              </a:r>
            </a:p>
          </p:txBody>
        </p:sp>
        <p:sp>
          <p:nvSpPr>
            <p:cNvPr id="310290" name="Text Box 18"/>
            <p:cNvSpPr txBox="1">
              <a:spLocks noChangeArrowheads="1"/>
            </p:cNvSpPr>
            <p:nvPr/>
          </p:nvSpPr>
          <p:spPr bwMode="auto">
            <a:xfrm>
              <a:off x="4848" y="3811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FF00"/>
                  </a:solidFill>
                  <a:latin typeface="+mn-ea"/>
                  <a:ea typeface="+mn-ea"/>
                </a:rPr>
                <a:t>d</a:t>
              </a:r>
            </a:p>
          </p:txBody>
        </p:sp>
        <p:sp>
          <p:nvSpPr>
            <p:cNvPr id="310291" name="Text Box 19"/>
            <p:cNvSpPr txBox="1">
              <a:spLocks noChangeArrowheads="1"/>
            </p:cNvSpPr>
            <p:nvPr/>
          </p:nvSpPr>
          <p:spPr bwMode="auto">
            <a:xfrm>
              <a:off x="4224" y="3168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FF00"/>
                  </a:solidFill>
                  <a:latin typeface="+mn-ea"/>
                  <a:ea typeface="+mn-ea"/>
                </a:rPr>
                <a:t>e</a:t>
              </a:r>
            </a:p>
          </p:txBody>
        </p:sp>
        <p:sp>
          <p:nvSpPr>
            <p:cNvPr id="310292" name="Text Box 20"/>
            <p:cNvSpPr txBox="1">
              <a:spLocks noChangeArrowheads="1"/>
            </p:cNvSpPr>
            <p:nvPr/>
          </p:nvSpPr>
          <p:spPr bwMode="auto">
            <a:xfrm>
              <a:off x="4224" y="2592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FF00"/>
                  </a:solidFill>
                  <a:latin typeface="+mn-ea"/>
                  <a:ea typeface="+mn-ea"/>
                </a:rPr>
                <a:t>f</a:t>
              </a:r>
            </a:p>
          </p:txBody>
        </p:sp>
        <p:sp>
          <p:nvSpPr>
            <p:cNvPr id="310293" name="Text Box 21"/>
            <p:cNvSpPr txBox="1">
              <a:spLocks noChangeArrowheads="1"/>
            </p:cNvSpPr>
            <p:nvPr/>
          </p:nvSpPr>
          <p:spPr bwMode="auto">
            <a:xfrm>
              <a:off x="4800" y="2659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FF00"/>
                  </a:solidFill>
                  <a:latin typeface="+mn-ea"/>
                  <a:ea typeface="+mn-ea"/>
                </a:rPr>
                <a:t>g</a:t>
              </a:r>
            </a:p>
          </p:txBody>
        </p:sp>
        <p:grpSp>
          <p:nvGrpSpPr>
            <p:cNvPr id="310294" name="Group 22"/>
            <p:cNvGrpSpPr>
              <a:grpSpLocks/>
            </p:cNvGrpSpPr>
            <p:nvPr/>
          </p:nvGrpSpPr>
          <p:grpSpPr bwMode="auto">
            <a:xfrm>
              <a:off x="3456" y="2352"/>
              <a:ext cx="672" cy="1687"/>
              <a:chOff x="3456" y="2160"/>
              <a:chExt cx="672" cy="1687"/>
            </a:xfrm>
          </p:grpSpPr>
          <p:grpSp>
            <p:nvGrpSpPr>
              <p:cNvPr id="310295" name="Group 23"/>
              <p:cNvGrpSpPr>
                <a:grpSpLocks/>
              </p:cNvGrpSpPr>
              <p:nvPr/>
            </p:nvGrpSpPr>
            <p:grpSpPr bwMode="auto">
              <a:xfrm>
                <a:off x="3648" y="2304"/>
                <a:ext cx="480" cy="1440"/>
                <a:chOff x="3648" y="2304"/>
                <a:chExt cx="480" cy="1440"/>
              </a:xfrm>
            </p:grpSpPr>
            <p:sp>
              <p:nvSpPr>
                <p:cNvPr id="310296" name="Line 24"/>
                <p:cNvSpPr>
                  <a:spLocks noChangeShapeType="1"/>
                </p:cNvSpPr>
                <p:nvPr/>
              </p:nvSpPr>
              <p:spPr bwMode="auto">
                <a:xfrm>
                  <a:off x="3648" y="230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297" name="Line 25"/>
                <p:cNvSpPr>
                  <a:spLocks noChangeShapeType="1"/>
                </p:cNvSpPr>
                <p:nvPr/>
              </p:nvSpPr>
              <p:spPr bwMode="auto">
                <a:xfrm>
                  <a:off x="3648" y="254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298" name="Line 26"/>
                <p:cNvSpPr>
                  <a:spLocks noChangeShapeType="1"/>
                </p:cNvSpPr>
                <p:nvPr/>
              </p:nvSpPr>
              <p:spPr bwMode="auto">
                <a:xfrm>
                  <a:off x="3648" y="278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299" name="Line 27"/>
                <p:cNvSpPr>
                  <a:spLocks noChangeShapeType="1"/>
                </p:cNvSpPr>
                <p:nvPr/>
              </p:nvSpPr>
              <p:spPr bwMode="auto">
                <a:xfrm>
                  <a:off x="3648" y="302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300" name="Line 28"/>
                <p:cNvSpPr>
                  <a:spLocks noChangeShapeType="1"/>
                </p:cNvSpPr>
                <p:nvPr/>
              </p:nvSpPr>
              <p:spPr bwMode="auto">
                <a:xfrm>
                  <a:off x="3648" y="326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301" name="Line 29"/>
                <p:cNvSpPr>
                  <a:spLocks noChangeShapeType="1"/>
                </p:cNvSpPr>
                <p:nvPr/>
              </p:nvSpPr>
              <p:spPr bwMode="auto">
                <a:xfrm>
                  <a:off x="3648" y="350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302" name="Line 30"/>
                <p:cNvSpPr>
                  <a:spLocks noChangeShapeType="1"/>
                </p:cNvSpPr>
                <p:nvPr/>
              </p:nvSpPr>
              <p:spPr bwMode="auto">
                <a:xfrm>
                  <a:off x="3648" y="374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10303" name="Text Box 31"/>
              <p:cNvSpPr txBox="1">
                <a:spLocks noChangeArrowheads="1"/>
              </p:cNvSpPr>
              <p:nvPr/>
            </p:nvSpPr>
            <p:spPr bwMode="auto">
              <a:xfrm>
                <a:off x="3456" y="2160"/>
                <a:ext cx="336" cy="16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400" dirty="0">
                    <a:latin typeface="+mn-ea"/>
                    <a:ea typeface="+mn-ea"/>
                  </a:rPr>
                  <a:t>a</a:t>
                </a:r>
              </a:p>
              <a:p>
                <a:r>
                  <a:rPr lang="en-US" altLang="zh-CN" sz="2400" dirty="0">
                    <a:latin typeface="+mn-ea"/>
                    <a:ea typeface="+mn-ea"/>
                  </a:rPr>
                  <a:t>b</a:t>
                </a:r>
              </a:p>
              <a:p>
                <a:r>
                  <a:rPr lang="en-US" altLang="zh-CN" sz="2400" dirty="0">
                    <a:latin typeface="+mn-ea"/>
                    <a:ea typeface="+mn-ea"/>
                  </a:rPr>
                  <a:t>c</a:t>
                </a:r>
              </a:p>
              <a:p>
                <a:r>
                  <a:rPr lang="en-US" altLang="zh-CN" sz="2400" dirty="0">
                    <a:latin typeface="+mn-ea"/>
                    <a:ea typeface="+mn-ea"/>
                  </a:rPr>
                  <a:t>d</a:t>
                </a:r>
              </a:p>
              <a:p>
                <a:r>
                  <a:rPr lang="en-US" altLang="zh-CN" sz="2400" dirty="0">
                    <a:latin typeface="+mn-ea"/>
                    <a:ea typeface="+mn-ea"/>
                  </a:rPr>
                  <a:t>e</a:t>
                </a:r>
              </a:p>
              <a:p>
                <a:r>
                  <a:rPr lang="en-US" altLang="zh-CN" sz="2400" dirty="0">
                    <a:latin typeface="+mn-ea"/>
                    <a:ea typeface="+mn-ea"/>
                  </a:rPr>
                  <a:t>f</a:t>
                </a:r>
              </a:p>
              <a:p>
                <a:r>
                  <a:rPr lang="en-US" altLang="zh-CN" sz="2400" dirty="0">
                    <a:latin typeface="+mn-ea"/>
                    <a:ea typeface="+mn-ea"/>
                  </a:rPr>
                  <a:t>g</a:t>
                </a:r>
              </a:p>
            </p:txBody>
          </p:sp>
        </p:grpSp>
        <p:sp>
          <p:nvSpPr>
            <p:cNvPr id="310306" name="Line 34"/>
            <p:cNvSpPr>
              <a:spLocks noChangeShapeType="1"/>
            </p:cNvSpPr>
            <p:nvPr/>
          </p:nvSpPr>
          <p:spPr bwMode="auto">
            <a:xfrm flipV="1">
              <a:off x="4944" y="168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0307" name="Text Box 35"/>
            <p:cNvSpPr txBox="1">
              <a:spLocks noChangeArrowheads="1"/>
            </p:cNvSpPr>
            <p:nvPr/>
          </p:nvSpPr>
          <p:spPr bwMode="auto">
            <a:xfrm>
              <a:off x="4896" y="1488"/>
              <a:ext cx="43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dirty="0" err="1">
                  <a:latin typeface="+mn-ea"/>
                  <a:ea typeface="+mn-ea"/>
                </a:rPr>
                <a:t>Vcc</a:t>
              </a:r>
              <a:endParaRPr lang="en-US" altLang="zh-CN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896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0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86" grpId="0" autoUpdateAnimBg="0"/>
      <p:bldP spid="310304" grpId="0" autoUpdateAnimBg="0"/>
      <p:bldP spid="310305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>
          <a:xfrm>
            <a:off x="396875" y="332656"/>
            <a:ext cx="8229600" cy="1143000"/>
          </a:xfrm>
        </p:spPr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56</a:t>
            </a:r>
            <a:r>
              <a:rPr lang="zh-CN" altLang="en-US" sz="3600" dirty="0"/>
              <a:t>）</a:t>
            </a:r>
            <a:endParaRPr lang="zh-CN" altLang="en-US" dirty="0"/>
          </a:p>
        </p:txBody>
      </p:sp>
      <p:sp>
        <p:nvSpPr>
          <p:cNvPr id="6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8EF92-0BA6-48E9-A96B-64833B0221A4}" type="slidenum">
              <a:rPr lang="en-US" altLang="zh-CN">
                <a:latin typeface="+mn-ea"/>
                <a:ea typeface="+mn-ea"/>
              </a:rPr>
              <a:pPr/>
              <a:t>68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3061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顯示解碼器</a:t>
            </a:r>
          </a:p>
          <a:p>
            <a:pPr lvl="1"/>
            <a:r>
              <a:rPr lang="zh-CN" altLang="en-US" dirty="0">
                <a:latin typeface="+mn-ea"/>
              </a:rPr>
              <a:t>數字邏輯電路中用</a:t>
            </a:r>
            <a:r>
              <a:rPr lang="en-US" altLang="zh-CN" dirty="0">
                <a:latin typeface="+mn-ea"/>
              </a:rPr>
              <a:t>BCD</a:t>
            </a:r>
            <a:r>
              <a:rPr lang="zh-CN" altLang="en-US" dirty="0">
                <a:latin typeface="+mn-ea"/>
              </a:rPr>
              <a:t>碼表示十進位數字</a:t>
            </a:r>
          </a:p>
        </p:txBody>
      </p:sp>
      <p:grpSp>
        <p:nvGrpSpPr>
          <p:cNvPr id="306238" name="Group 62"/>
          <p:cNvGrpSpPr>
            <a:grpSpLocks/>
          </p:cNvGrpSpPr>
          <p:nvPr/>
        </p:nvGrpSpPr>
        <p:grpSpPr bwMode="auto">
          <a:xfrm>
            <a:off x="5486400" y="3124200"/>
            <a:ext cx="3505200" cy="3429000"/>
            <a:chOff x="3456" y="1968"/>
            <a:chExt cx="2208" cy="2160"/>
          </a:xfrm>
        </p:grpSpPr>
        <p:sp>
          <p:nvSpPr>
            <p:cNvPr id="306180" name="Rectangle 4"/>
            <p:cNvSpPr>
              <a:spLocks noChangeArrowheads="1"/>
            </p:cNvSpPr>
            <p:nvPr/>
          </p:nvSpPr>
          <p:spPr bwMode="auto">
            <a:xfrm>
              <a:off x="4128" y="1968"/>
              <a:ext cx="1536" cy="2160"/>
            </a:xfrm>
            <a:prstGeom prst="rect">
              <a:avLst/>
            </a:prstGeom>
            <a:solidFill>
              <a:srgbClr val="3333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306181" name="Group 5"/>
            <p:cNvGrpSpPr>
              <a:grpSpLocks/>
            </p:cNvGrpSpPr>
            <p:nvPr/>
          </p:nvGrpSpPr>
          <p:grpSpPr bwMode="auto">
            <a:xfrm>
              <a:off x="4560" y="2400"/>
              <a:ext cx="672" cy="1200"/>
              <a:chOff x="4560" y="2304"/>
              <a:chExt cx="672" cy="1200"/>
            </a:xfrm>
          </p:grpSpPr>
          <p:sp>
            <p:nvSpPr>
              <p:cNvPr id="306182" name="Line 6"/>
              <p:cNvSpPr>
                <a:spLocks noChangeShapeType="1"/>
              </p:cNvSpPr>
              <p:nvPr/>
            </p:nvSpPr>
            <p:spPr bwMode="auto">
              <a:xfrm>
                <a:off x="4608" y="2304"/>
                <a:ext cx="576" cy="0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183" name="Line 7"/>
              <p:cNvSpPr>
                <a:spLocks noChangeShapeType="1"/>
              </p:cNvSpPr>
              <p:nvPr/>
            </p:nvSpPr>
            <p:spPr bwMode="auto">
              <a:xfrm>
                <a:off x="4608" y="2880"/>
                <a:ext cx="576" cy="0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184" name="Line 8"/>
              <p:cNvSpPr>
                <a:spLocks noChangeShapeType="1"/>
              </p:cNvSpPr>
              <p:nvPr/>
            </p:nvSpPr>
            <p:spPr bwMode="auto">
              <a:xfrm>
                <a:off x="4608" y="3504"/>
                <a:ext cx="576" cy="0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185" name="Line 9"/>
              <p:cNvSpPr>
                <a:spLocks noChangeShapeType="1"/>
              </p:cNvSpPr>
              <p:nvPr/>
            </p:nvSpPr>
            <p:spPr bwMode="auto">
              <a:xfrm>
                <a:off x="4560" y="2304"/>
                <a:ext cx="0" cy="576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186" name="Line 10"/>
              <p:cNvSpPr>
                <a:spLocks noChangeShapeType="1"/>
              </p:cNvSpPr>
              <p:nvPr/>
            </p:nvSpPr>
            <p:spPr bwMode="auto">
              <a:xfrm>
                <a:off x="5232" y="2304"/>
                <a:ext cx="0" cy="576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187" name="Line 11"/>
              <p:cNvSpPr>
                <a:spLocks noChangeShapeType="1"/>
              </p:cNvSpPr>
              <p:nvPr/>
            </p:nvSpPr>
            <p:spPr bwMode="auto">
              <a:xfrm>
                <a:off x="4560" y="2928"/>
                <a:ext cx="0" cy="576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188" name="Line 12"/>
              <p:cNvSpPr>
                <a:spLocks noChangeShapeType="1"/>
              </p:cNvSpPr>
              <p:nvPr/>
            </p:nvSpPr>
            <p:spPr bwMode="auto">
              <a:xfrm>
                <a:off x="5232" y="2928"/>
                <a:ext cx="0" cy="576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306189" name="Text Box 13"/>
            <p:cNvSpPr txBox="1">
              <a:spLocks noChangeArrowheads="1"/>
            </p:cNvSpPr>
            <p:nvPr/>
          </p:nvSpPr>
          <p:spPr bwMode="auto">
            <a:xfrm>
              <a:off x="4704" y="1968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FF00"/>
                  </a:solidFill>
                  <a:latin typeface="+mn-ea"/>
                  <a:ea typeface="+mn-ea"/>
                </a:rPr>
                <a:t>a</a:t>
              </a:r>
            </a:p>
          </p:txBody>
        </p:sp>
        <p:sp>
          <p:nvSpPr>
            <p:cNvPr id="306190" name="Text Box 14"/>
            <p:cNvSpPr txBox="1">
              <a:spLocks noChangeArrowheads="1"/>
            </p:cNvSpPr>
            <p:nvPr/>
          </p:nvSpPr>
          <p:spPr bwMode="auto">
            <a:xfrm>
              <a:off x="5328" y="2496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FF00"/>
                  </a:solidFill>
                  <a:latin typeface="+mn-ea"/>
                  <a:ea typeface="+mn-ea"/>
                </a:rPr>
                <a:t>b</a:t>
              </a:r>
            </a:p>
          </p:txBody>
        </p:sp>
        <p:sp>
          <p:nvSpPr>
            <p:cNvPr id="306191" name="Text Box 15"/>
            <p:cNvSpPr txBox="1">
              <a:spLocks noChangeArrowheads="1"/>
            </p:cNvSpPr>
            <p:nvPr/>
          </p:nvSpPr>
          <p:spPr bwMode="auto">
            <a:xfrm>
              <a:off x="5328" y="3024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FF00"/>
                  </a:solidFill>
                  <a:latin typeface="+mn-ea"/>
                  <a:ea typeface="+mn-ea"/>
                </a:rPr>
                <a:t>c</a:t>
              </a:r>
            </a:p>
          </p:txBody>
        </p:sp>
        <p:sp>
          <p:nvSpPr>
            <p:cNvPr id="306192" name="Text Box 16"/>
            <p:cNvSpPr txBox="1">
              <a:spLocks noChangeArrowheads="1"/>
            </p:cNvSpPr>
            <p:nvPr/>
          </p:nvSpPr>
          <p:spPr bwMode="auto">
            <a:xfrm>
              <a:off x="4800" y="3715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FF00"/>
                  </a:solidFill>
                  <a:latin typeface="+mn-ea"/>
                  <a:ea typeface="+mn-ea"/>
                </a:rPr>
                <a:t>d</a:t>
              </a:r>
            </a:p>
          </p:txBody>
        </p:sp>
        <p:sp>
          <p:nvSpPr>
            <p:cNvPr id="306193" name="Text Box 17"/>
            <p:cNvSpPr txBox="1">
              <a:spLocks noChangeArrowheads="1"/>
            </p:cNvSpPr>
            <p:nvPr/>
          </p:nvSpPr>
          <p:spPr bwMode="auto">
            <a:xfrm>
              <a:off x="4176" y="3072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FF00"/>
                  </a:solidFill>
                  <a:latin typeface="+mn-ea"/>
                  <a:ea typeface="+mn-ea"/>
                </a:rPr>
                <a:t>e</a:t>
              </a:r>
            </a:p>
          </p:txBody>
        </p:sp>
        <p:sp>
          <p:nvSpPr>
            <p:cNvPr id="306194" name="Text Box 18"/>
            <p:cNvSpPr txBox="1">
              <a:spLocks noChangeArrowheads="1"/>
            </p:cNvSpPr>
            <p:nvPr/>
          </p:nvSpPr>
          <p:spPr bwMode="auto">
            <a:xfrm>
              <a:off x="4176" y="2496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FF00"/>
                  </a:solidFill>
                  <a:latin typeface="+mn-ea"/>
                  <a:ea typeface="+mn-ea"/>
                </a:rPr>
                <a:t>f</a:t>
              </a:r>
            </a:p>
          </p:txBody>
        </p:sp>
        <p:sp>
          <p:nvSpPr>
            <p:cNvPr id="306195" name="Text Box 19"/>
            <p:cNvSpPr txBox="1">
              <a:spLocks noChangeArrowheads="1"/>
            </p:cNvSpPr>
            <p:nvPr/>
          </p:nvSpPr>
          <p:spPr bwMode="auto">
            <a:xfrm>
              <a:off x="4752" y="2563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FF00"/>
                  </a:solidFill>
                  <a:latin typeface="+mn-ea"/>
                  <a:ea typeface="+mn-ea"/>
                </a:rPr>
                <a:t>g</a:t>
              </a:r>
            </a:p>
          </p:txBody>
        </p:sp>
        <p:grpSp>
          <p:nvGrpSpPr>
            <p:cNvPr id="306196" name="Group 20"/>
            <p:cNvGrpSpPr>
              <a:grpSpLocks/>
            </p:cNvGrpSpPr>
            <p:nvPr/>
          </p:nvGrpSpPr>
          <p:grpSpPr bwMode="auto">
            <a:xfrm>
              <a:off x="3456" y="2256"/>
              <a:ext cx="672" cy="1687"/>
              <a:chOff x="3456" y="2160"/>
              <a:chExt cx="672" cy="1687"/>
            </a:xfrm>
          </p:grpSpPr>
          <p:grpSp>
            <p:nvGrpSpPr>
              <p:cNvPr id="306197" name="Group 21"/>
              <p:cNvGrpSpPr>
                <a:grpSpLocks/>
              </p:cNvGrpSpPr>
              <p:nvPr/>
            </p:nvGrpSpPr>
            <p:grpSpPr bwMode="auto">
              <a:xfrm>
                <a:off x="3648" y="2304"/>
                <a:ext cx="480" cy="1440"/>
                <a:chOff x="3648" y="2304"/>
                <a:chExt cx="480" cy="1440"/>
              </a:xfrm>
            </p:grpSpPr>
            <p:sp>
              <p:nvSpPr>
                <p:cNvPr id="306198" name="Line 22"/>
                <p:cNvSpPr>
                  <a:spLocks noChangeShapeType="1"/>
                </p:cNvSpPr>
                <p:nvPr/>
              </p:nvSpPr>
              <p:spPr bwMode="auto">
                <a:xfrm>
                  <a:off x="3648" y="230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06199" name="Line 23"/>
                <p:cNvSpPr>
                  <a:spLocks noChangeShapeType="1"/>
                </p:cNvSpPr>
                <p:nvPr/>
              </p:nvSpPr>
              <p:spPr bwMode="auto">
                <a:xfrm>
                  <a:off x="3648" y="254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06200" name="Line 24"/>
                <p:cNvSpPr>
                  <a:spLocks noChangeShapeType="1"/>
                </p:cNvSpPr>
                <p:nvPr/>
              </p:nvSpPr>
              <p:spPr bwMode="auto">
                <a:xfrm>
                  <a:off x="3648" y="278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06201" name="Line 25"/>
                <p:cNvSpPr>
                  <a:spLocks noChangeShapeType="1"/>
                </p:cNvSpPr>
                <p:nvPr/>
              </p:nvSpPr>
              <p:spPr bwMode="auto">
                <a:xfrm>
                  <a:off x="3648" y="302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06202" name="Line 26"/>
                <p:cNvSpPr>
                  <a:spLocks noChangeShapeType="1"/>
                </p:cNvSpPr>
                <p:nvPr/>
              </p:nvSpPr>
              <p:spPr bwMode="auto">
                <a:xfrm>
                  <a:off x="3648" y="326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06203" name="Line 27"/>
                <p:cNvSpPr>
                  <a:spLocks noChangeShapeType="1"/>
                </p:cNvSpPr>
                <p:nvPr/>
              </p:nvSpPr>
              <p:spPr bwMode="auto">
                <a:xfrm>
                  <a:off x="3648" y="350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06204" name="Line 28"/>
                <p:cNvSpPr>
                  <a:spLocks noChangeShapeType="1"/>
                </p:cNvSpPr>
                <p:nvPr/>
              </p:nvSpPr>
              <p:spPr bwMode="auto">
                <a:xfrm>
                  <a:off x="3648" y="374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06205" name="Text Box 29"/>
              <p:cNvSpPr txBox="1">
                <a:spLocks noChangeArrowheads="1"/>
              </p:cNvSpPr>
              <p:nvPr/>
            </p:nvSpPr>
            <p:spPr bwMode="auto">
              <a:xfrm>
                <a:off x="3456" y="2160"/>
                <a:ext cx="336" cy="16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400" dirty="0">
                    <a:latin typeface="+mn-ea"/>
                    <a:ea typeface="+mn-ea"/>
                  </a:rPr>
                  <a:t>a</a:t>
                </a:r>
              </a:p>
              <a:p>
                <a:r>
                  <a:rPr lang="en-US" altLang="zh-CN" sz="2400" dirty="0">
                    <a:latin typeface="+mn-ea"/>
                    <a:ea typeface="+mn-ea"/>
                  </a:rPr>
                  <a:t>b</a:t>
                </a:r>
              </a:p>
              <a:p>
                <a:r>
                  <a:rPr lang="en-US" altLang="zh-CN" sz="2400" dirty="0">
                    <a:latin typeface="+mn-ea"/>
                    <a:ea typeface="+mn-ea"/>
                  </a:rPr>
                  <a:t>c</a:t>
                </a:r>
              </a:p>
              <a:p>
                <a:r>
                  <a:rPr lang="en-US" altLang="zh-CN" sz="2400" dirty="0">
                    <a:latin typeface="+mn-ea"/>
                    <a:ea typeface="+mn-ea"/>
                  </a:rPr>
                  <a:t>d</a:t>
                </a:r>
              </a:p>
              <a:p>
                <a:r>
                  <a:rPr lang="en-US" altLang="zh-CN" sz="2400" dirty="0">
                    <a:latin typeface="+mn-ea"/>
                    <a:ea typeface="+mn-ea"/>
                  </a:rPr>
                  <a:t>e</a:t>
                </a:r>
              </a:p>
              <a:p>
                <a:r>
                  <a:rPr lang="en-US" altLang="zh-CN" sz="2400" dirty="0">
                    <a:latin typeface="+mn-ea"/>
                    <a:ea typeface="+mn-ea"/>
                  </a:rPr>
                  <a:t>f</a:t>
                </a:r>
              </a:p>
              <a:p>
                <a:r>
                  <a:rPr lang="en-US" altLang="zh-CN" sz="2400" dirty="0">
                    <a:latin typeface="+mn-ea"/>
                    <a:ea typeface="+mn-ea"/>
                  </a:rPr>
                  <a:t>g</a:t>
                </a:r>
              </a:p>
            </p:txBody>
          </p:sp>
        </p:grpSp>
      </p:grpSp>
      <p:sp>
        <p:nvSpPr>
          <p:cNvPr id="306236" name="Rectangle 60"/>
          <p:cNvSpPr>
            <a:spLocks noChangeArrowheads="1"/>
          </p:cNvSpPr>
          <p:nvPr/>
        </p:nvSpPr>
        <p:spPr bwMode="auto">
          <a:xfrm>
            <a:off x="381000" y="2594429"/>
            <a:ext cx="8077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762000" lvl="1" indent="-30480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在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BCD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碼和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7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段數碼管編碼之間需要一個顯示解碼器。</a:t>
            </a:r>
          </a:p>
        </p:txBody>
      </p:sp>
      <p:sp>
        <p:nvSpPr>
          <p:cNvPr id="306237" name="Rectangle 61"/>
          <p:cNvSpPr>
            <a:spLocks noChangeArrowheads="1"/>
          </p:cNvSpPr>
          <p:nvPr/>
        </p:nvSpPr>
        <p:spPr bwMode="auto">
          <a:xfrm>
            <a:off x="401216" y="3352800"/>
            <a:ext cx="2514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將</a:t>
            </a:r>
            <a:r>
              <a:rPr lang="en-US" altLang="zh-CN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BCD</a:t>
            </a: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碼轉換為數碼管對應的編碼</a:t>
            </a:r>
          </a:p>
        </p:txBody>
      </p:sp>
      <p:sp>
        <p:nvSpPr>
          <p:cNvPr id="306239" name="Rectangle 63"/>
          <p:cNvSpPr>
            <a:spLocks noChangeArrowheads="1"/>
          </p:cNvSpPr>
          <p:nvPr/>
        </p:nvSpPr>
        <p:spPr bwMode="auto">
          <a:xfrm>
            <a:off x="401216" y="4832350"/>
            <a:ext cx="2514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顯示解碼器的實質是碼制解碼器</a:t>
            </a:r>
          </a:p>
        </p:txBody>
      </p:sp>
      <p:grpSp>
        <p:nvGrpSpPr>
          <p:cNvPr id="306241" name="Group 65"/>
          <p:cNvGrpSpPr>
            <a:grpSpLocks/>
          </p:cNvGrpSpPr>
          <p:nvPr/>
        </p:nvGrpSpPr>
        <p:grpSpPr bwMode="auto">
          <a:xfrm>
            <a:off x="2987675" y="3048000"/>
            <a:ext cx="2270125" cy="3733800"/>
            <a:chOff x="1882" y="1920"/>
            <a:chExt cx="1430" cy="2352"/>
          </a:xfrm>
        </p:grpSpPr>
        <p:grpSp>
          <p:nvGrpSpPr>
            <p:cNvPr id="306206" name="Group 30"/>
            <p:cNvGrpSpPr>
              <a:grpSpLocks/>
            </p:cNvGrpSpPr>
            <p:nvPr/>
          </p:nvGrpSpPr>
          <p:grpSpPr bwMode="auto">
            <a:xfrm>
              <a:off x="1882" y="1920"/>
              <a:ext cx="1430" cy="2352"/>
              <a:chOff x="720" y="1392"/>
              <a:chExt cx="1430" cy="2352"/>
            </a:xfrm>
          </p:grpSpPr>
          <p:sp>
            <p:nvSpPr>
              <p:cNvPr id="306207" name="Rectangle 31"/>
              <p:cNvSpPr>
                <a:spLocks noChangeArrowheads="1"/>
              </p:cNvSpPr>
              <p:nvPr/>
            </p:nvSpPr>
            <p:spPr bwMode="auto">
              <a:xfrm>
                <a:off x="912" y="1392"/>
                <a:ext cx="1056" cy="23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08" name="Line 32"/>
              <p:cNvSpPr>
                <a:spLocks noChangeShapeType="1"/>
              </p:cNvSpPr>
              <p:nvPr/>
            </p:nvSpPr>
            <p:spPr bwMode="auto">
              <a:xfrm>
                <a:off x="729" y="1675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09" name="Line 33"/>
              <p:cNvSpPr>
                <a:spLocks noChangeShapeType="1"/>
              </p:cNvSpPr>
              <p:nvPr/>
            </p:nvSpPr>
            <p:spPr bwMode="auto">
              <a:xfrm>
                <a:off x="1968" y="1776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10" name="Line 34"/>
              <p:cNvSpPr>
                <a:spLocks noChangeShapeType="1"/>
              </p:cNvSpPr>
              <p:nvPr/>
            </p:nvSpPr>
            <p:spPr bwMode="auto">
              <a:xfrm>
                <a:off x="1968" y="2064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11" name="Line 35"/>
              <p:cNvSpPr>
                <a:spLocks noChangeShapeType="1"/>
              </p:cNvSpPr>
              <p:nvPr/>
            </p:nvSpPr>
            <p:spPr bwMode="auto">
              <a:xfrm>
                <a:off x="1968" y="235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12" name="Line 36"/>
              <p:cNvSpPr>
                <a:spLocks noChangeShapeType="1"/>
              </p:cNvSpPr>
              <p:nvPr/>
            </p:nvSpPr>
            <p:spPr bwMode="auto">
              <a:xfrm>
                <a:off x="1968" y="259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13" name="Rectangle 37"/>
              <p:cNvSpPr>
                <a:spLocks noChangeArrowheads="1"/>
              </p:cNvSpPr>
              <p:nvPr/>
            </p:nvSpPr>
            <p:spPr bwMode="auto">
              <a:xfrm>
                <a:off x="1872" y="1680"/>
                <a:ext cx="8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a</a:t>
                </a:r>
                <a:endParaRPr lang="en-US" altLang="zh-CN" baseline="-30000" dirty="0">
                  <a:latin typeface="+mn-ea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306214" name="Line 38"/>
              <p:cNvSpPr>
                <a:spLocks noChangeShapeType="1"/>
              </p:cNvSpPr>
              <p:nvPr/>
            </p:nvSpPr>
            <p:spPr bwMode="auto">
              <a:xfrm>
                <a:off x="730" y="1919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15" name="Rectangle 39"/>
              <p:cNvSpPr>
                <a:spLocks noChangeArrowheads="1"/>
              </p:cNvSpPr>
              <p:nvPr/>
            </p:nvSpPr>
            <p:spPr bwMode="auto">
              <a:xfrm>
                <a:off x="1872" y="1968"/>
                <a:ext cx="9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b</a:t>
                </a:r>
                <a:endParaRPr lang="en-US" altLang="zh-CN" baseline="-30000" dirty="0">
                  <a:latin typeface="+mn-ea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306216" name="Rectangle 40"/>
              <p:cNvSpPr>
                <a:spLocks noChangeArrowheads="1"/>
              </p:cNvSpPr>
              <p:nvPr/>
            </p:nvSpPr>
            <p:spPr bwMode="auto">
              <a:xfrm>
                <a:off x="1872" y="2256"/>
                <a:ext cx="8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c</a:t>
                </a:r>
                <a:endParaRPr lang="en-US" altLang="zh-CN" baseline="-30000" dirty="0">
                  <a:latin typeface="+mn-ea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306217" name="Rectangle 41"/>
              <p:cNvSpPr>
                <a:spLocks noChangeArrowheads="1"/>
              </p:cNvSpPr>
              <p:nvPr/>
            </p:nvSpPr>
            <p:spPr bwMode="auto">
              <a:xfrm>
                <a:off x="1872" y="2736"/>
                <a:ext cx="8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e</a:t>
                </a:r>
                <a:endParaRPr lang="en-US" altLang="zh-CN" baseline="-30000" dirty="0">
                  <a:latin typeface="+mn-ea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306218" name="Text Box 42"/>
              <p:cNvSpPr txBox="1">
                <a:spLocks noChangeArrowheads="1"/>
              </p:cNvSpPr>
              <p:nvPr/>
            </p:nvSpPr>
            <p:spPr bwMode="auto">
              <a:xfrm>
                <a:off x="912" y="1584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+mn-ea"/>
                    <a:ea typeface="+mn-ea"/>
                  </a:rPr>
                  <a:t>A</a:t>
                </a:r>
              </a:p>
            </p:txBody>
          </p:sp>
          <p:sp>
            <p:nvSpPr>
              <p:cNvPr id="306219" name="Text Box 43"/>
              <p:cNvSpPr txBox="1">
                <a:spLocks noChangeArrowheads="1"/>
              </p:cNvSpPr>
              <p:nvPr/>
            </p:nvSpPr>
            <p:spPr bwMode="auto">
              <a:xfrm>
                <a:off x="912" y="1824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+mn-ea"/>
                    <a:ea typeface="+mn-ea"/>
                  </a:rPr>
                  <a:t>B</a:t>
                </a:r>
              </a:p>
            </p:txBody>
          </p:sp>
          <p:sp>
            <p:nvSpPr>
              <p:cNvPr id="306220" name="Line 44"/>
              <p:cNvSpPr>
                <a:spLocks noChangeShapeType="1"/>
              </p:cNvSpPr>
              <p:nvPr/>
            </p:nvSpPr>
            <p:spPr bwMode="auto">
              <a:xfrm>
                <a:off x="1968" y="283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21" name="Line 45"/>
              <p:cNvSpPr>
                <a:spLocks noChangeShapeType="1"/>
              </p:cNvSpPr>
              <p:nvPr/>
            </p:nvSpPr>
            <p:spPr bwMode="auto">
              <a:xfrm>
                <a:off x="1968" y="307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22" name="Line 46"/>
              <p:cNvSpPr>
                <a:spLocks noChangeShapeType="1"/>
              </p:cNvSpPr>
              <p:nvPr/>
            </p:nvSpPr>
            <p:spPr bwMode="auto">
              <a:xfrm>
                <a:off x="1968" y="331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23" name="Rectangle 47"/>
              <p:cNvSpPr>
                <a:spLocks noChangeArrowheads="1"/>
              </p:cNvSpPr>
              <p:nvPr/>
            </p:nvSpPr>
            <p:spPr bwMode="auto">
              <a:xfrm>
                <a:off x="1872" y="2496"/>
                <a:ext cx="9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d</a:t>
                </a:r>
                <a:endParaRPr lang="en-US" altLang="zh-CN" baseline="-25000" dirty="0">
                  <a:latin typeface="+mn-ea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306224" name="Rectangle 48"/>
              <p:cNvSpPr>
                <a:spLocks noChangeArrowheads="1"/>
              </p:cNvSpPr>
              <p:nvPr/>
            </p:nvSpPr>
            <p:spPr bwMode="auto">
              <a:xfrm>
                <a:off x="1872" y="2976"/>
                <a:ext cx="5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f</a:t>
                </a:r>
                <a:endParaRPr lang="en-US" altLang="zh-CN" baseline="-30000" dirty="0">
                  <a:latin typeface="+mn-ea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306225" name="Rectangle 49"/>
              <p:cNvSpPr>
                <a:spLocks noChangeArrowheads="1"/>
              </p:cNvSpPr>
              <p:nvPr/>
            </p:nvSpPr>
            <p:spPr bwMode="auto">
              <a:xfrm>
                <a:off x="1872" y="3216"/>
                <a:ext cx="9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g</a:t>
                </a:r>
              </a:p>
            </p:txBody>
          </p:sp>
          <p:sp>
            <p:nvSpPr>
              <p:cNvPr id="306226" name="Line 50"/>
              <p:cNvSpPr>
                <a:spLocks noChangeShapeType="1"/>
              </p:cNvSpPr>
              <p:nvPr/>
            </p:nvSpPr>
            <p:spPr bwMode="auto">
              <a:xfrm>
                <a:off x="720" y="2160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27" name="Text Box 51"/>
              <p:cNvSpPr txBox="1">
                <a:spLocks noChangeArrowheads="1"/>
              </p:cNvSpPr>
              <p:nvPr/>
            </p:nvSpPr>
            <p:spPr bwMode="auto">
              <a:xfrm>
                <a:off x="912" y="2064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+mn-ea"/>
                    <a:ea typeface="+mn-ea"/>
                  </a:rPr>
                  <a:t>C</a:t>
                </a:r>
              </a:p>
            </p:txBody>
          </p:sp>
          <p:sp>
            <p:nvSpPr>
              <p:cNvPr id="306228" name="Line 52"/>
              <p:cNvSpPr>
                <a:spLocks noChangeShapeType="1"/>
              </p:cNvSpPr>
              <p:nvPr/>
            </p:nvSpPr>
            <p:spPr bwMode="auto">
              <a:xfrm>
                <a:off x="730" y="2399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29" name="Text Box 53"/>
              <p:cNvSpPr txBox="1">
                <a:spLocks noChangeArrowheads="1"/>
              </p:cNvSpPr>
              <p:nvPr/>
            </p:nvSpPr>
            <p:spPr bwMode="auto">
              <a:xfrm>
                <a:off x="912" y="2304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+mn-ea"/>
                    <a:ea typeface="+mn-ea"/>
                  </a:rPr>
                  <a:t>D</a:t>
                </a:r>
              </a:p>
            </p:txBody>
          </p:sp>
          <p:sp>
            <p:nvSpPr>
              <p:cNvPr id="306230" name="Line 54"/>
              <p:cNvSpPr>
                <a:spLocks noChangeShapeType="1"/>
              </p:cNvSpPr>
              <p:nvPr/>
            </p:nvSpPr>
            <p:spPr bwMode="auto">
              <a:xfrm>
                <a:off x="730" y="2899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31" name="Text Box 55"/>
              <p:cNvSpPr txBox="1">
                <a:spLocks noChangeArrowheads="1"/>
              </p:cNvSpPr>
              <p:nvPr/>
            </p:nvSpPr>
            <p:spPr bwMode="auto">
              <a:xfrm>
                <a:off x="912" y="2804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+mn-ea"/>
                    <a:ea typeface="+mn-ea"/>
                  </a:rPr>
                  <a:t>LT</a:t>
                </a:r>
              </a:p>
            </p:txBody>
          </p:sp>
          <p:sp>
            <p:nvSpPr>
              <p:cNvPr id="306232" name="Line 56"/>
              <p:cNvSpPr>
                <a:spLocks noChangeShapeType="1"/>
              </p:cNvSpPr>
              <p:nvPr/>
            </p:nvSpPr>
            <p:spPr bwMode="auto">
              <a:xfrm>
                <a:off x="720" y="3216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33" name="Text Box 57"/>
              <p:cNvSpPr txBox="1">
                <a:spLocks noChangeArrowheads="1"/>
              </p:cNvSpPr>
              <p:nvPr/>
            </p:nvSpPr>
            <p:spPr bwMode="auto">
              <a:xfrm>
                <a:off x="912" y="3120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+mn-ea"/>
                    <a:ea typeface="+mn-ea"/>
                  </a:rPr>
                  <a:t>RBI</a:t>
                </a:r>
              </a:p>
            </p:txBody>
          </p:sp>
          <p:sp>
            <p:nvSpPr>
              <p:cNvPr id="306234" name="Line 58"/>
              <p:cNvSpPr>
                <a:spLocks noChangeShapeType="1"/>
              </p:cNvSpPr>
              <p:nvPr/>
            </p:nvSpPr>
            <p:spPr bwMode="auto">
              <a:xfrm>
                <a:off x="730" y="3551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35" name="Text Box 59"/>
              <p:cNvSpPr txBox="1">
                <a:spLocks noChangeArrowheads="1"/>
              </p:cNvSpPr>
              <p:nvPr/>
            </p:nvSpPr>
            <p:spPr bwMode="auto">
              <a:xfrm>
                <a:off x="912" y="3456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+mn-ea"/>
                    <a:ea typeface="+mn-ea"/>
                  </a:rPr>
                  <a:t>BI/RBO</a:t>
                </a:r>
              </a:p>
            </p:txBody>
          </p:sp>
        </p:grpSp>
        <p:sp>
          <p:nvSpPr>
            <p:cNvPr id="306240" name="Text Box 64"/>
            <p:cNvSpPr txBox="1">
              <a:spLocks noChangeArrowheads="1"/>
            </p:cNvSpPr>
            <p:nvPr/>
          </p:nvSpPr>
          <p:spPr bwMode="auto">
            <a:xfrm>
              <a:off x="2496" y="2256"/>
              <a:ext cx="384" cy="1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+mn-ea"/>
                  <a:ea typeface="+mn-ea"/>
                </a:rPr>
                <a:t>顯示解碼器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9698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0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06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06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06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236" grpId="0" autoUpdateAnimBg="0"/>
      <p:bldP spid="306237" grpId="0" autoUpdateAnimBg="0"/>
      <p:bldP spid="306239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382000" cy="446088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57</a:t>
            </a:r>
            <a:r>
              <a:rPr lang="zh-CN" altLang="en-US" sz="3600" dirty="0"/>
              <a:t>）</a:t>
            </a:r>
            <a:endParaRPr lang="zh-CN" altLang="en-US" dirty="0"/>
          </a:p>
        </p:txBody>
      </p:sp>
      <p:sp>
        <p:nvSpPr>
          <p:cNvPr id="24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93A9-DFB5-40FD-9F08-74D740AF88A4}" type="slidenum">
              <a:rPr lang="en-US" altLang="zh-CN"/>
              <a:pPr/>
              <a:t>69</a:t>
            </a:fld>
            <a:endParaRPr lang="en-US" altLang="zh-CN" dirty="0"/>
          </a:p>
        </p:txBody>
      </p:sp>
      <p:graphicFrame>
        <p:nvGraphicFramePr>
          <p:cNvPr id="229379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185863" y="838200"/>
          <a:ext cx="654208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932245" imgH="1655060" progId="">
                  <p:embed/>
                </p:oleObj>
              </mc:Choice>
              <mc:Fallback>
                <p:oleObj name="Image" r:id="rId2" imgW="10932245" imgH="1655060" progId="">
                  <p:embed/>
                  <p:pic>
                    <p:nvPicPr>
                      <p:cNvPr id="229379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863" y="838200"/>
                        <a:ext cx="6542087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782" name="Group 4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112874"/>
              </p:ext>
            </p:extLst>
          </p:nvPr>
        </p:nvGraphicFramePr>
        <p:xfrm>
          <a:off x="899592" y="1905000"/>
          <a:ext cx="7482410" cy="4645563"/>
        </p:xfrm>
        <a:graphic>
          <a:graphicData uri="http://schemas.openxmlformats.org/drawingml/2006/table">
            <a:tbl>
              <a:tblPr/>
              <a:tblGrid>
                <a:gridCol w="944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75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67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779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34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68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50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564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顯示數位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A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B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C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D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a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b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c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d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e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f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g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2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3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5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6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7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8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9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A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B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D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E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F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erif SC" panose="02020200000000000000" pitchFamily="18" charset="-122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91392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58</a:t>
            </a:r>
            <a:r>
              <a:rPr lang="zh-CN" altLang="en-US" sz="3600" dirty="0"/>
              <a:t>）</a:t>
            </a:r>
            <a:endParaRPr lang="zh-CN" altLang="en-US" dirty="0"/>
          </a:p>
        </p:txBody>
      </p:sp>
      <p:sp>
        <p:nvSpPr>
          <p:cNvPr id="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6A7E-CEC8-4F4A-8DE5-5DC4F8E6A453}" type="slidenum">
              <a:rPr lang="en-US" altLang="zh-CN"/>
              <a:pPr/>
              <a:t>70</a:t>
            </a:fld>
            <a:endParaRPr lang="en-US" altLang="zh-CN" dirty="0"/>
          </a:p>
        </p:txBody>
      </p:sp>
      <p:sp>
        <p:nvSpPr>
          <p:cNvPr id="3031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顯示解碼器</a:t>
            </a:r>
          </a:p>
          <a:p>
            <a:pPr lvl="1"/>
            <a:r>
              <a:rPr lang="zh-CN" altLang="en-US" dirty="0"/>
              <a:t>寫出各個變數的邏輯運算式</a:t>
            </a:r>
          </a:p>
          <a:p>
            <a:pPr lvl="2"/>
            <a:r>
              <a:rPr lang="zh-CN" altLang="en-US" dirty="0">
                <a:latin typeface="+mn-ea"/>
              </a:rPr>
              <a:t>寫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的邏輯運算式</a:t>
            </a:r>
          </a:p>
        </p:txBody>
      </p:sp>
      <p:grpSp>
        <p:nvGrpSpPr>
          <p:cNvPr id="303108" name="Group 4"/>
          <p:cNvGrpSpPr>
            <a:grpSpLocks/>
          </p:cNvGrpSpPr>
          <p:nvPr/>
        </p:nvGrpSpPr>
        <p:grpSpPr bwMode="auto">
          <a:xfrm>
            <a:off x="914400" y="2817813"/>
            <a:ext cx="3200400" cy="3278187"/>
            <a:chOff x="2736" y="1344"/>
            <a:chExt cx="2016" cy="2065"/>
          </a:xfrm>
        </p:grpSpPr>
        <p:grpSp>
          <p:nvGrpSpPr>
            <p:cNvPr id="303109" name="Group 5"/>
            <p:cNvGrpSpPr>
              <a:grpSpLocks/>
            </p:cNvGrpSpPr>
            <p:nvPr/>
          </p:nvGrpSpPr>
          <p:grpSpPr bwMode="auto">
            <a:xfrm>
              <a:off x="2880" y="1632"/>
              <a:ext cx="1872" cy="1777"/>
              <a:chOff x="1429" y="1389"/>
              <a:chExt cx="2540" cy="2449"/>
            </a:xfrm>
          </p:grpSpPr>
          <p:sp>
            <p:nvSpPr>
              <p:cNvPr id="303110" name="Rectangle 6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Noto Serif SC" panose="02020200000000000000" pitchFamily="18" charset="-122"/>
                  </a:rPr>
                  <a:t>1</a:t>
                </a:r>
              </a:p>
            </p:txBody>
          </p:sp>
          <p:sp>
            <p:nvSpPr>
              <p:cNvPr id="303111" name="Rectangle 7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Noto Serif SC" panose="02020200000000000000" pitchFamily="18" charset="-122"/>
                  </a:rPr>
                  <a:t>1</a:t>
                </a:r>
              </a:p>
            </p:txBody>
          </p:sp>
          <p:sp>
            <p:nvSpPr>
              <p:cNvPr id="303112" name="Rectangle 8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Noto Serif SC" panose="02020200000000000000" pitchFamily="18" charset="-122"/>
                  </a:rPr>
                  <a:t>0</a:t>
                </a:r>
              </a:p>
            </p:txBody>
          </p:sp>
          <p:sp>
            <p:nvSpPr>
              <p:cNvPr id="303113" name="Rectangle 9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Noto Serif SC" panose="02020200000000000000" pitchFamily="18" charset="-122"/>
                  </a:rPr>
                  <a:t>0</a:t>
                </a:r>
              </a:p>
            </p:txBody>
          </p:sp>
          <p:sp>
            <p:nvSpPr>
              <p:cNvPr id="303114" name="Rectangle 10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Noto Serif SC" panose="02020200000000000000" pitchFamily="18" charset="-122"/>
                  </a:rPr>
                  <a:t>1</a:t>
                </a:r>
              </a:p>
            </p:txBody>
          </p:sp>
          <p:sp>
            <p:nvSpPr>
              <p:cNvPr id="303115" name="Rectangle 11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Noto Serif SC" panose="02020200000000000000" pitchFamily="18" charset="-122"/>
                  </a:rPr>
                  <a:t>1</a:t>
                </a:r>
              </a:p>
            </p:txBody>
          </p:sp>
          <p:sp>
            <p:nvSpPr>
              <p:cNvPr id="303116" name="Rectangle 12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Noto Serif SC" panose="02020200000000000000" pitchFamily="18" charset="-122"/>
                  </a:rPr>
                  <a:t>0</a:t>
                </a:r>
              </a:p>
            </p:txBody>
          </p:sp>
          <p:sp>
            <p:nvSpPr>
              <p:cNvPr id="303117" name="Rectangle 13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Noto Serif SC" panose="02020200000000000000" pitchFamily="18" charset="-122"/>
                  </a:rPr>
                  <a:t>1</a:t>
                </a:r>
              </a:p>
            </p:txBody>
          </p:sp>
          <p:sp>
            <p:nvSpPr>
              <p:cNvPr id="303118" name="Rectangle 14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Noto Serif SC" panose="02020200000000000000" pitchFamily="18" charset="-122"/>
                  </a:rPr>
                  <a:t>1</a:t>
                </a:r>
              </a:p>
            </p:txBody>
          </p:sp>
          <p:sp>
            <p:nvSpPr>
              <p:cNvPr id="303119" name="Rectangle 15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Noto Serif SC" panose="02020200000000000000" pitchFamily="18" charset="-122"/>
                  </a:rPr>
                  <a:t>0</a:t>
                </a:r>
              </a:p>
            </p:txBody>
          </p:sp>
          <p:sp>
            <p:nvSpPr>
              <p:cNvPr id="303120" name="Rectangle 16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Noto Serif SC" panose="02020200000000000000" pitchFamily="18" charset="-122"/>
                  </a:rPr>
                  <a:t>0</a:t>
                </a:r>
              </a:p>
            </p:txBody>
          </p:sp>
          <p:sp>
            <p:nvSpPr>
              <p:cNvPr id="303121" name="Rectangle 17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Noto Serif SC" panose="02020200000000000000" pitchFamily="18" charset="-122"/>
                  </a:rPr>
                  <a:t>1</a:t>
                </a:r>
              </a:p>
            </p:txBody>
          </p:sp>
          <p:sp>
            <p:nvSpPr>
              <p:cNvPr id="303122" name="Rectangle 18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Noto Serif SC" panose="02020200000000000000" pitchFamily="18" charset="-122"/>
                  </a:rPr>
                  <a:t>0</a:t>
                </a:r>
              </a:p>
            </p:txBody>
          </p:sp>
          <p:sp>
            <p:nvSpPr>
              <p:cNvPr id="303123" name="Rectangle 19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Noto Serif SC" panose="02020200000000000000" pitchFamily="18" charset="-122"/>
                  </a:rPr>
                  <a:t>0</a:t>
                </a:r>
              </a:p>
            </p:txBody>
          </p:sp>
          <p:sp>
            <p:nvSpPr>
              <p:cNvPr id="303124" name="Rectangle 20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Noto Serif SC" panose="02020200000000000000" pitchFamily="18" charset="-122"/>
                  </a:rPr>
                  <a:t>1</a:t>
                </a:r>
              </a:p>
            </p:txBody>
          </p:sp>
          <p:sp>
            <p:nvSpPr>
              <p:cNvPr id="303125" name="Rectangle 21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Noto Serif SC" panose="02020200000000000000" pitchFamily="18" charset="-122"/>
                  </a:rPr>
                  <a:t>0</a:t>
                </a:r>
              </a:p>
            </p:txBody>
          </p:sp>
          <p:sp>
            <p:nvSpPr>
              <p:cNvPr id="303126" name="Line 22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3127" name="Line 23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3128" name="Line 24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3129" name="Line 25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3130" name="Line 26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3131" name="Line 27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3132" name="Line 28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3133" name="Line 29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3134" name="Line 30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3135" name="Line 31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3136" name="Line 32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303137" name="Group 33"/>
            <p:cNvGrpSpPr>
              <a:grpSpLocks/>
            </p:cNvGrpSpPr>
            <p:nvPr/>
          </p:nvGrpSpPr>
          <p:grpSpPr bwMode="auto">
            <a:xfrm>
              <a:off x="2736" y="1344"/>
              <a:ext cx="545" cy="742"/>
              <a:chOff x="1337" y="1162"/>
              <a:chExt cx="545" cy="742"/>
            </a:xfrm>
          </p:grpSpPr>
          <p:sp>
            <p:nvSpPr>
              <p:cNvPr id="303138" name="Text Box 34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B</a:t>
                </a:r>
              </a:p>
            </p:txBody>
          </p:sp>
          <p:sp>
            <p:nvSpPr>
              <p:cNvPr id="303139" name="Text Box 35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A</a:t>
                </a:r>
              </a:p>
            </p:txBody>
          </p:sp>
          <p:sp>
            <p:nvSpPr>
              <p:cNvPr id="303140" name="Text Box 36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sp>
            <p:nvSpPr>
              <p:cNvPr id="303141" name="Text Box 37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C</a:t>
                </a:r>
              </a:p>
            </p:txBody>
          </p:sp>
        </p:grpSp>
        <p:grpSp>
          <p:nvGrpSpPr>
            <p:cNvPr id="303142" name="Group 38"/>
            <p:cNvGrpSpPr>
              <a:grpSpLocks/>
            </p:cNvGrpSpPr>
            <p:nvPr/>
          </p:nvGrpSpPr>
          <p:grpSpPr bwMode="auto">
            <a:xfrm>
              <a:off x="3189" y="1584"/>
              <a:ext cx="1563" cy="288"/>
              <a:chOff x="3189" y="1488"/>
              <a:chExt cx="1563" cy="288"/>
            </a:xfrm>
          </p:grpSpPr>
          <p:sp>
            <p:nvSpPr>
              <p:cNvPr id="303143" name="Text Box 39"/>
              <p:cNvSpPr txBox="1">
                <a:spLocks noChangeArrowheads="1"/>
              </p:cNvSpPr>
              <p:nvPr/>
            </p:nvSpPr>
            <p:spPr bwMode="auto">
              <a:xfrm>
                <a:off x="31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00</a:t>
                </a:r>
              </a:p>
            </p:txBody>
          </p:sp>
          <p:sp>
            <p:nvSpPr>
              <p:cNvPr id="303144" name="Text Box 40"/>
              <p:cNvSpPr txBox="1">
                <a:spLocks noChangeArrowheads="1"/>
              </p:cNvSpPr>
              <p:nvPr/>
            </p:nvSpPr>
            <p:spPr bwMode="auto">
              <a:xfrm>
                <a:off x="3984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11</a:t>
                </a:r>
              </a:p>
            </p:txBody>
          </p:sp>
          <p:sp>
            <p:nvSpPr>
              <p:cNvPr id="303145" name="Text Box 41"/>
              <p:cNvSpPr txBox="1">
                <a:spLocks noChangeArrowheads="1"/>
              </p:cNvSpPr>
              <p:nvPr/>
            </p:nvSpPr>
            <p:spPr bwMode="auto">
              <a:xfrm>
                <a:off x="3600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01</a:t>
                </a:r>
              </a:p>
            </p:txBody>
          </p:sp>
          <p:sp>
            <p:nvSpPr>
              <p:cNvPr id="303146" name="Text Box 42"/>
              <p:cNvSpPr txBox="1">
                <a:spLocks noChangeArrowheads="1"/>
              </p:cNvSpPr>
              <p:nvPr/>
            </p:nvSpPr>
            <p:spPr bwMode="auto">
              <a:xfrm>
                <a:off x="43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10</a:t>
                </a:r>
              </a:p>
            </p:txBody>
          </p:sp>
        </p:grpSp>
        <p:grpSp>
          <p:nvGrpSpPr>
            <p:cNvPr id="303147" name="Group 43"/>
            <p:cNvGrpSpPr>
              <a:grpSpLocks/>
            </p:cNvGrpSpPr>
            <p:nvPr/>
          </p:nvGrpSpPr>
          <p:grpSpPr bwMode="auto">
            <a:xfrm>
              <a:off x="2805" y="1968"/>
              <a:ext cx="363" cy="1392"/>
              <a:chOff x="2736" y="1968"/>
              <a:chExt cx="363" cy="1392"/>
            </a:xfrm>
          </p:grpSpPr>
          <p:sp>
            <p:nvSpPr>
              <p:cNvPr id="303148" name="Text Box 44"/>
              <p:cNvSpPr txBox="1">
                <a:spLocks noChangeArrowheads="1"/>
              </p:cNvSpPr>
              <p:nvPr/>
            </p:nvSpPr>
            <p:spPr bwMode="auto">
              <a:xfrm>
                <a:off x="2736" y="196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00</a:t>
                </a:r>
              </a:p>
            </p:txBody>
          </p:sp>
          <p:sp>
            <p:nvSpPr>
              <p:cNvPr id="303149" name="Text Box 45"/>
              <p:cNvSpPr txBox="1">
                <a:spLocks noChangeArrowheads="1"/>
              </p:cNvSpPr>
              <p:nvPr/>
            </p:nvSpPr>
            <p:spPr bwMode="auto">
              <a:xfrm>
                <a:off x="2736" y="26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11</a:t>
                </a:r>
              </a:p>
            </p:txBody>
          </p:sp>
          <p:sp>
            <p:nvSpPr>
              <p:cNvPr id="303150" name="Text Box 46"/>
              <p:cNvSpPr txBox="1">
                <a:spLocks noChangeArrowheads="1"/>
              </p:cNvSpPr>
              <p:nvPr/>
            </p:nvSpPr>
            <p:spPr bwMode="auto">
              <a:xfrm>
                <a:off x="2736" y="23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01</a:t>
                </a:r>
              </a:p>
            </p:txBody>
          </p:sp>
          <p:sp>
            <p:nvSpPr>
              <p:cNvPr id="303151" name="Text Box 47"/>
              <p:cNvSpPr txBox="1">
                <a:spLocks noChangeArrowheads="1"/>
              </p:cNvSpPr>
              <p:nvPr/>
            </p:nvSpPr>
            <p:spPr bwMode="auto">
              <a:xfrm>
                <a:off x="2736" y="30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10</a:t>
                </a:r>
              </a:p>
            </p:txBody>
          </p:sp>
        </p:grpSp>
      </p:grpSp>
      <p:sp>
        <p:nvSpPr>
          <p:cNvPr id="303152" name="Rectangle 48"/>
          <p:cNvSpPr>
            <a:spLocks noChangeArrowheads="1"/>
          </p:cNvSpPr>
          <p:nvPr/>
        </p:nvSpPr>
        <p:spPr bwMode="auto">
          <a:xfrm>
            <a:off x="2971800" y="4953000"/>
            <a:ext cx="990600" cy="9906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grpSp>
        <p:nvGrpSpPr>
          <p:cNvPr id="303155" name="Group 51"/>
          <p:cNvGrpSpPr>
            <a:grpSpLocks/>
          </p:cNvGrpSpPr>
          <p:nvPr/>
        </p:nvGrpSpPr>
        <p:grpSpPr bwMode="auto">
          <a:xfrm>
            <a:off x="1600200" y="4343400"/>
            <a:ext cx="2438400" cy="1066800"/>
            <a:chOff x="1008" y="2160"/>
            <a:chExt cx="1536" cy="672"/>
          </a:xfrm>
        </p:grpSpPr>
        <p:sp>
          <p:nvSpPr>
            <p:cNvPr id="303153" name="Rectangle 49"/>
            <p:cNvSpPr>
              <a:spLocks noChangeArrowheads="1"/>
            </p:cNvSpPr>
            <p:nvPr/>
          </p:nvSpPr>
          <p:spPr bwMode="auto">
            <a:xfrm>
              <a:off x="1008" y="2160"/>
              <a:ext cx="336" cy="672"/>
            </a:xfrm>
            <a:prstGeom prst="rect">
              <a:avLst/>
            </a:prstGeom>
            <a:solidFill>
              <a:srgbClr val="FF66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03154" name="Rectangle 50"/>
            <p:cNvSpPr>
              <a:spLocks noChangeArrowheads="1"/>
            </p:cNvSpPr>
            <p:nvPr/>
          </p:nvSpPr>
          <p:spPr bwMode="auto">
            <a:xfrm>
              <a:off x="2208" y="2160"/>
              <a:ext cx="336" cy="672"/>
            </a:xfrm>
            <a:prstGeom prst="rect">
              <a:avLst/>
            </a:prstGeom>
            <a:solidFill>
              <a:srgbClr val="FF66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303156" name="Rectangle 52"/>
          <p:cNvSpPr>
            <a:spLocks noChangeArrowheads="1"/>
          </p:cNvSpPr>
          <p:nvPr/>
        </p:nvSpPr>
        <p:spPr bwMode="auto">
          <a:xfrm>
            <a:off x="2286000" y="3657600"/>
            <a:ext cx="533400" cy="533400"/>
          </a:xfrm>
          <a:prstGeom prst="rect">
            <a:avLst/>
          </a:prstGeom>
          <a:solidFill>
            <a:srgbClr val="99CC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graphicFrame>
        <p:nvGraphicFramePr>
          <p:cNvPr id="303157" name="Object 53"/>
          <p:cNvGraphicFramePr>
            <a:graphicFrameLocks noChangeAspect="1"/>
          </p:cNvGraphicFramePr>
          <p:nvPr/>
        </p:nvGraphicFramePr>
        <p:xfrm>
          <a:off x="4643438" y="4271974"/>
          <a:ext cx="3734386" cy="585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96800" imgH="215640" progId="Equation.3">
                  <p:embed/>
                </p:oleObj>
              </mc:Choice>
              <mc:Fallback>
                <p:oleObj name="公式" r:id="rId2" imgW="1396800" imgH="215640" progId="Equation.3">
                  <p:embed/>
                  <p:pic>
                    <p:nvPicPr>
                      <p:cNvPr id="303157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271974"/>
                        <a:ext cx="3734386" cy="5857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058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3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3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0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0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03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52" grpId="0" animBg="1"/>
      <p:bldP spid="30315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59</a:t>
            </a:r>
            <a:r>
              <a:rPr lang="zh-CN" altLang="en-US" sz="3600" dirty="0"/>
              <a:t>）</a:t>
            </a:r>
            <a:endParaRPr lang="zh-CN" altLang="en-US" dirty="0"/>
          </a:p>
        </p:txBody>
      </p:sp>
      <p:sp>
        <p:nvSpPr>
          <p:cNvPr id="5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7195" y="6165304"/>
            <a:ext cx="536373" cy="509141"/>
          </a:xfrm>
        </p:spPr>
        <p:txBody>
          <a:bodyPr/>
          <a:lstStyle/>
          <a:p>
            <a:fld id="{DCA3ACF2-1F33-4B35-AA42-94B295A1697F}" type="slidenum">
              <a:rPr lang="en-US" altLang="zh-CN"/>
              <a:pPr/>
              <a:t>71</a:t>
            </a:fld>
            <a:endParaRPr lang="en-US" altLang="zh-CN" dirty="0"/>
          </a:p>
        </p:txBody>
      </p:sp>
      <p:sp>
        <p:nvSpPr>
          <p:cNvPr id="3041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顯示解碼器</a:t>
            </a:r>
          </a:p>
          <a:p>
            <a:pPr lvl="1"/>
            <a:r>
              <a:rPr lang="zh-CN" altLang="en-US" dirty="0"/>
              <a:t>寫出各個變數的邏輯運算式</a:t>
            </a:r>
          </a:p>
          <a:p>
            <a:endParaRPr lang="en-US" altLang="zh-CN" dirty="0"/>
          </a:p>
        </p:txBody>
      </p:sp>
      <p:grpSp>
        <p:nvGrpSpPr>
          <p:cNvPr id="304132" name="Group 4"/>
          <p:cNvGrpSpPr>
            <a:grpSpLocks/>
          </p:cNvGrpSpPr>
          <p:nvPr/>
        </p:nvGrpSpPr>
        <p:grpSpPr bwMode="auto">
          <a:xfrm>
            <a:off x="914400" y="2817813"/>
            <a:ext cx="3200400" cy="3278187"/>
            <a:chOff x="2736" y="1344"/>
            <a:chExt cx="2016" cy="2065"/>
          </a:xfrm>
        </p:grpSpPr>
        <p:grpSp>
          <p:nvGrpSpPr>
            <p:cNvPr id="304133" name="Group 5"/>
            <p:cNvGrpSpPr>
              <a:grpSpLocks/>
            </p:cNvGrpSpPr>
            <p:nvPr/>
          </p:nvGrpSpPr>
          <p:grpSpPr bwMode="auto">
            <a:xfrm>
              <a:off x="2880" y="1632"/>
              <a:ext cx="1872" cy="1777"/>
              <a:chOff x="1429" y="1389"/>
              <a:chExt cx="2540" cy="2449"/>
            </a:xfrm>
          </p:grpSpPr>
          <p:sp>
            <p:nvSpPr>
              <p:cNvPr id="304134" name="Rectangle 6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a typeface="Noto Serif SC" panose="02020200000000000000" pitchFamily="18" charset="-122"/>
                  </a:rPr>
                  <a:t>1</a:t>
                </a:r>
              </a:p>
            </p:txBody>
          </p:sp>
          <p:sp>
            <p:nvSpPr>
              <p:cNvPr id="304135" name="Rectangle 7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a typeface="Noto Serif SC" panose="02020200000000000000" pitchFamily="18" charset="-122"/>
                  </a:rPr>
                  <a:t>1</a:t>
                </a:r>
              </a:p>
            </p:txBody>
          </p:sp>
          <p:sp>
            <p:nvSpPr>
              <p:cNvPr id="304136" name="Rectangle 8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a typeface="Noto Serif SC" panose="02020200000000000000" pitchFamily="18" charset="-122"/>
                  </a:rPr>
                  <a:t>0</a:t>
                </a:r>
              </a:p>
            </p:txBody>
          </p:sp>
          <p:sp>
            <p:nvSpPr>
              <p:cNvPr id="304137" name="Rectangle 9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a typeface="Noto Serif SC" panose="02020200000000000000" pitchFamily="18" charset="-122"/>
                  </a:rPr>
                  <a:t>0</a:t>
                </a:r>
              </a:p>
            </p:txBody>
          </p:sp>
          <p:sp>
            <p:nvSpPr>
              <p:cNvPr id="304138" name="Rectangle 10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a typeface="Noto Serif SC" panose="02020200000000000000" pitchFamily="18" charset="-122"/>
                  </a:rPr>
                  <a:t>1</a:t>
                </a:r>
              </a:p>
            </p:txBody>
          </p:sp>
          <p:sp>
            <p:nvSpPr>
              <p:cNvPr id="304139" name="Rectangle 11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a typeface="Noto Serif SC" panose="02020200000000000000" pitchFamily="18" charset="-122"/>
                  </a:rPr>
                  <a:t>1</a:t>
                </a:r>
              </a:p>
            </p:txBody>
          </p:sp>
          <p:sp>
            <p:nvSpPr>
              <p:cNvPr id="304140" name="Rectangle 12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a typeface="Noto Serif SC" panose="02020200000000000000" pitchFamily="18" charset="-122"/>
                  </a:rPr>
                  <a:t>1</a:t>
                </a:r>
              </a:p>
            </p:txBody>
          </p:sp>
          <p:sp>
            <p:nvSpPr>
              <p:cNvPr id="304141" name="Rectangle 13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a typeface="Noto Serif SC" panose="02020200000000000000" pitchFamily="18" charset="-122"/>
                  </a:rPr>
                  <a:t>0</a:t>
                </a:r>
              </a:p>
            </p:txBody>
          </p:sp>
          <p:sp>
            <p:nvSpPr>
              <p:cNvPr id="304142" name="Rectangle 14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a typeface="Noto Serif SC" panose="02020200000000000000" pitchFamily="18" charset="-122"/>
                  </a:rPr>
                  <a:t>1</a:t>
                </a:r>
              </a:p>
            </p:txBody>
          </p:sp>
          <p:sp>
            <p:nvSpPr>
              <p:cNvPr id="304143" name="Rectangle 15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a typeface="Noto Serif SC" panose="02020200000000000000" pitchFamily="18" charset="-122"/>
                  </a:rPr>
                  <a:t>0</a:t>
                </a:r>
              </a:p>
            </p:txBody>
          </p:sp>
          <p:sp>
            <p:nvSpPr>
              <p:cNvPr id="304144" name="Rectangle 16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a typeface="Noto Serif SC" panose="02020200000000000000" pitchFamily="18" charset="-122"/>
                  </a:rPr>
                  <a:t>1</a:t>
                </a:r>
              </a:p>
            </p:txBody>
          </p:sp>
          <p:sp>
            <p:nvSpPr>
              <p:cNvPr id="304145" name="Rectangle 17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a typeface="Noto Serif SC" panose="02020200000000000000" pitchFamily="18" charset="-122"/>
                  </a:rPr>
                  <a:t>0</a:t>
                </a:r>
              </a:p>
            </p:txBody>
          </p:sp>
          <p:sp>
            <p:nvSpPr>
              <p:cNvPr id="304146" name="Rectangle 18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a typeface="Noto Serif SC" panose="02020200000000000000" pitchFamily="18" charset="-122"/>
                  </a:rPr>
                  <a:t>0</a:t>
                </a:r>
              </a:p>
            </p:txBody>
          </p:sp>
          <p:sp>
            <p:nvSpPr>
              <p:cNvPr id="304147" name="Rectangle 19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a typeface="Noto Serif SC" panose="02020200000000000000" pitchFamily="18" charset="-122"/>
                  </a:rPr>
                  <a:t>0</a:t>
                </a:r>
              </a:p>
            </p:txBody>
          </p:sp>
          <p:sp>
            <p:nvSpPr>
              <p:cNvPr id="304148" name="Rectangle 20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a typeface="Noto Serif SC" panose="02020200000000000000" pitchFamily="18" charset="-122"/>
                  </a:rPr>
                  <a:t>0</a:t>
                </a:r>
              </a:p>
            </p:txBody>
          </p:sp>
          <p:sp>
            <p:nvSpPr>
              <p:cNvPr id="304149" name="Rectangle 21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sz="2800" dirty="0">
                    <a:ea typeface="Noto Serif SC" panose="02020200000000000000" pitchFamily="18" charset="-122"/>
                  </a:rPr>
                  <a:t>0</a:t>
                </a:r>
              </a:p>
            </p:txBody>
          </p:sp>
          <p:sp>
            <p:nvSpPr>
              <p:cNvPr id="304150" name="Line 22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4151" name="Line 23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4152" name="Line 24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4153" name="Line 25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4154" name="Line 26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4155" name="Line 27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4156" name="Line 28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4157" name="Line 29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4158" name="Line 30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4159" name="Line 31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4160" name="Line 32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304161" name="Group 33"/>
            <p:cNvGrpSpPr>
              <a:grpSpLocks/>
            </p:cNvGrpSpPr>
            <p:nvPr/>
          </p:nvGrpSpPr>
          <p:grpSpPr bwMode="auto">
            <a:xfrm>
              <a:off x="2736" y="1344"/>
              <a:ext cx="545" cy="742"/>
              <a:chOff x="1337" y="1162"/>
              <a:chExt cx="545" cy="742"/>
            </a:xfrm>
          </p:grpSpPr>
          <p:sp>
            <p:nvSpPr>
              <p:cNvPr id="304162" name="Text Box 34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B</a:t>
                </a:r>
              </a:p>
            </p:txBody>
          </p:sp>
          <p:sp>
            <p:nvSpPr>
              <p:cNvPr id="304163" name="Text Box 35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A</a:t>
                </a:r>
              </a:p>
            </p:txBody>
          </p:sp>
          <p:sp>
            <p:nvSpPr>
              <p:cNvPr id="304164" name="Text Box 36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sp>
            <p:nvSpPr>
              <p:cNvPr id="304165" name="Text Box 37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C</a:t>
                </a:r>
              </a:p>
            </p:txBody>
          </p:sp>
        </p:grpSp>
        <p:grpSp>
          <p:nvGrpSpPr>
            <p:cNvPr id="304166" name="Group 38"/>
            <p:cNvGrpSpPr>
              <a:grpSpLocks/>
            </p:cNvGrpSpPr>
            <p:nvPr/>
          </p:nvGrpSpPr>
          <p:grpSpPr bwMode="auto">
            <a:xfrm>
              <a:off x="3189" y="1584"/>
              <a:ext cx="1563" cy="288"/>
              <a:chOff x="3189" y="1488"/>
              <a:chExt cx="1563" cy="288"/>
            </a:xfrm>
          </p:grpSpPr>
          <p:sp>
            <p:nvSpPr>
              <p:cNvPr id="304167" name="Text Box 39"/>
              <p:cNvSpPr txBox="1">
                <a:spLocks noChangeArrowheads="1"/>
              </p:cNvSpPr>
              <p:nvPr/>
            </p:nvSpPr>
            <p:spPr bwMode="auto">
              <a:xfrm>
                <a:off x="31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00</a:t>
                </a:r>
              </a:p>
            </p:txBody>
          </p:sp>
          <p:sp>
            <p:nvSpPr>
              <p:cNvPr id="304168" name="Text Box 40"/>
              <p:cNvSpPr txBox="1">
                <a:spLocks noChangeArrowheads="1"/>
              </p:cNvSpPr>
              <p:nvPr/>
            </p:nvSpPr>
            <p:spPr bwMode="auto">
              <a:xfrm>
                <a:off x="3984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11</a:t>
                </a:r>
              </a:p>
            </p:txBody>
          </p:sp>
          <p:sp>
            <p:nvSpPr>
              <p:cNvPr id="304169" name="Text Box 41"/>
              <p:cNvSpPr txBox="1">
                <a:spLocks noChangeArrowheads="1"/>
              </p:cNvSpPr>
              <p:nvPr/>
            </p:nvSpPr>
            <p:spPr bwMode="auto">
              <a:xfrm>
                <a:off x="3600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01</a:t>
                </a:r>
              </a:p>
            </p:txBody>
          </p:sp>
          <p:sp>
            <p:nvSpPr>
              <p:cNvPr id="304170" name="Text Box 42"/>
              <p:cNvSpPr txBox="1">
                <a:spLocks noChangeArrowheads="1"/>
              </p:cNvSpPr>
              <p:nvPr/>
            </p:nvSpPr>
            <p:spPr bwMode="auto">
              <a:xfrm>
                <a:off x="43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10</a:t>
                </a:r>
              </a:p>
            </p:txBody>
          </p:sp>
        </p:grpSp>
        <p:grpSp>
          <p:nvGrpSpPr>
            <p:cNvPr id="304171" name="Group 43"/>
            <p:cNvGrpSpPr>
              <a:grpSpLocks/>
            </p:cNvGrpSpPr>
            <p:nvPr/>
          </p:nvGrpSpPr>
          <p:grpSpPr bwMode="auto">
            <a:xfrm>
              <a:off x="2805" y="1968"/>
              <a:ext cx="363" cy="1392"/>
              <a:chOff x="2736" y="1968"/>
              <a:chExt cx="363" cy="1392"/>
            </a:xfrm>
          </p:grpSpPr>
          <p:sp>
            <p:nvSpPr>
              <p:cNvPr id="304172" name="Text Box 44"/>
              <p:cNvSpPr txBox="1">
                <a:spLocks noChangeArrowheads="1"/>
              </p:cNvSpPr>
              <p:nvPr/>
            </p:nvSpPr>
            <p:spPr bwMode="auto">
              <a:xfrm>
                <a:off x="2736" y="196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00</a:t>
                </a:r>
              </a:p>
            </p:txBody>
          </p:sp>
          <p:sp>
            <p:nvSpPr>
              <p:cNvPr id="304173" name="Text Box 45"/>
              <p:cNvSpPr txBox="1">
                <a:spLocks noChangeArrowheads="1"/>
              </p:cNvSpPr>
              <p:nvPr/>
            </p:nvSpPr>
            <p:spPr bwMode="auto">
              <a:xfrm>
                <a:off x="2736" y="26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11</a:t>
                </a:r>
              </a:p>
            </p:txBody>
          </p:sp>
          <p:sp>
            <p:nvSpPr>
              <p:cNvPr id="304174" name="Text Box 46"/>
              <p:cNvSpPr txBox="1">
                <a:spLocks noChangeArrowheads="1"/>
              </p:cNvSpPr>
              <p:nvPr/>
            </p:nvSpPr>
            <p:spPr bwMode="auto">
              <a:xfrm>
                <a:off x="2736" y="23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01</a:t>
                </a:r>
              </a:p>
            </p:txBody>
          </p:sp>
          <p:sp>
            <p:nvSpPr>
              <p:cNvPr id="304175" name="Text Box 47"/>
              <p:cNvSpPr txBox="1">
                <a:spLocks noChangeArrowheads="1"/>
              </p:cNvSpPr>
              <p:nvPr/>
            </p:nvSpPr>
            <p:spPr bwMode="auto">
              <a:xfrm>
                <a:off x="2736" y="30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10</a:t>
                </a:r>
              </a:p>
            </p:txBody>
          </p:sp>
        </p:grpSp>
      </p:grpSp>
      <p:sp>
        <p:nvSpPr>
          <p:cNvPr id="304176" name="Rectangle 48"/>
          <p:cNvSpPr>
            <a:spLocks noChangeArrowheads="1"/>
          </p:cNvSpPr>
          <p:nvPr/>
        </p:nvSpPr>
        <p:spPr bwMode="auto">
          <a:xfrm>
            <a:off x="2971800" y="4953000"/>
            <a:ext cx="990600" cy="9906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304179" name="Rectangle 51"/>
          <p:cNvSpPr>
            <a:spLocks noChangeArrowheads="1"/>
          </p:cNvSpPr>
          <p:nvPr/>
        </p:nvSpPr>
        <p:spPr bwMode="auto">
          <a:xfrm>
            <a:off x="2286000" y="4343400"/>
            <a:ext cx="533400" cy="1066800"/>
          </a:xfrm>
          <a:prstGeom prst="rect">
            <a:avLst/>
          </a:prstGeom>
          <a:solidFill>
            <a:schemeClr val="fol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304180" name="Rectangle 52"/>
          <p:cNvSpPr>
            <a:spLocks noChangeArrowheads="1"/>
          </p:cNvSpPr>
          <p:nvPr/>
        </p:nvSpPr>
        <p:spPr bwMode="auto">
          <a:xfrm>
            <a:off x="3505200" y="4343400"/>
            <a:ext cx="533400" cy="1066800"/>
          </a:xfrm>
          <a:prstGeom prst="rect">
            <a:avLst/>
          </a:prstGeom>
          <a:solidFill>
            <a:srgbClr val="FF66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graphicFrame>
        <p:nvGraphicFramePr>
          <p:cNvPr id="304182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042341"/>
              </p:ext>
            </p:extLst>
          </p:nvPr>
        </p:nvGraphicFramePr>
        <p:xfrm>
          <a:off x="4471988" y="3733800"/>
          <a:ext cx="38576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73120" imgH="215640" progId="Equation.3">
                  <p:embed/>
                </p:oleObj>
              </mc:Choice>
              <mc:Fallback>
                <p:oleObj name="公式" r:id="rId2" imgW="1473120" imgH="215640" progId="Equation.3">
                  <p:embed/>
                  <p:pic>
                    <p:nvPicPr>
                      <p:cNvPr id="304182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988" y="3733800"/>
                        <a:ext cx="3857625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0527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4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4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30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30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0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76" grpId="0" animBg="1"/>
      <p:bldP spid="304179" grpId="0" animBg="1"/>
      <p:bldP spid="30418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97632" y="180926"/>
            <a:ext cx="8229600" cy="1143000"/>
          </a:xfrm>
        </p:spPr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60</a:t>
            </a:r>
            <a:r>
              <a:rPr lang="zh-CN" altLang="en-US" sz="3600" dirty="0"/>
              <a:t>）</a:t>
            </a:r>
            <a:endParaRPr lang="zh-CN" altLang="en-US" dirty="0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79512" y="6165304"/>
            <a:ext cx="504056" cy="437133"/>
          </a:xfrm>
        </p:spPr>
        <p:txBody>
          <a:bodyPr/>
          <a:lstStyle/>
          <a:p>
            <a:fld id="{DCABB7A6-E620-4EFA-B99D-87D715890D5E}" type="slidenum">
              <a:rPr lang="en-US" altLang="zh-CN">
                <a:solidFill>
                  <a:schemeClr val="tx1"/>
                </a:solidFill>
                <a:latin typeface="+mn-ea"/>
                <a:ea typeface="+mn-ea"/>
              </a:rPr>
              <a:pPr/>
              <a:t>72</a:t>
            </a:fld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07206" name="Rectangle 6"/>
          <p:cNvSpPr>
            <a:spLocks noGrp="1" noChangeArrowheads="1"/>
          </p:cNvSpPr>
          <p:nvPr>
            <p:ph sz="quarter" idx="1"/>
          </p:nvPr>
        </p:nvSpPr>
        <p:spPr>
          <a:xfrm>
            <a:off x="497632" y="1214423"/>
            <a:ext cx="8229600" cy="642942"/>
          </a:xfrm>
          <a:noFill/>
          <a:ln/>
        </p:spPr>
        <p:txBody>
          <a:bodyPr/>
          <a:lstStyle/>
          <a:p>
            <a:r>
              <a:rPr lang="zh-CN" altLang="en-US" dirty="0">
                <a:latin typeface="+mn-ea"/>
              </a:rPr>
              <a:t>顯示解碼器</a:t>
            </a:r>
          </a:p>
        </p:txBody>
      </p:sp>
      <p:sp>
        <p:nvSpPr>
          <p:cNvPr id="307204" name="Rectangle 4"/>
          <p:cNvSpPr>
            <a:spLocks noChangeArrowheads="1"/>
          </p:cNvSpPr>
          <p:nvPr/>
        </p:nvSpPr>
        <p:spPr bwMode="auto">
          <a:xfrm>
            <a:off x="1000100" y="1857364"/>
            <a:ext cx="7499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用同樣的方法寫出各個變數的邏輯運算式</a:t>
            </a:r>
          </a:p>
        </p:txBody>
      </p:sp>
      <p:graphicFrame>
        <p:nvGraphicFramePr>
          <p:cNvPr id="3072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0562452"/>
              </p:ext>
            </p:extLst>
          </p:nvPr>
        </p:nvGraphicFramePr>
        <p:xfrm>
          <a:off x="1243508" y="2428868"/>
          <a:ext cx="392271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98320" imgH="215640" progId="Equation.3">
                  <p:embed/>
                </p:oleObj>
              </mc:Choice>
              <mc:Fallback>
                <p:oleObj name="公式" r:id="rId2" imgW="1498320" imgH="215640" progId="Equation.3">
                  <p:embed/>
                  <p:pic>
                    <p:nvPicPr>
                      <p:cNvPr id="3072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508" y="2428868"/>
                        <a:ext cx="3922713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643053"/>
              </p:ext>
            </p:extLst>
          </p:nvPr>
        </p:nvGraphicFramePr>
        <p:xfrm>
          <a:off x="1243508" y="3030538"/>
          <a:ext cx="38576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73120" imgH="215640" progId="Equation.3">
                  <p:embed/>
                </p:oleObj>
              </mc:Choice>
              <mc:Fallback>
                <p:oleObj name="公式" r:id="rId4" imgW="1473120" imgH="215640" progId="Equation.3">
                  <p:embed/>
                  <p:pic>
                    <p:nvPicPr>
                      <p:cNvPr id="3072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508" y="3030538"/>
                        <a:ext cx="3857625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2404620"/>
              </p:ext>
            </p:extLst>
          </p:nvPr>
        </p:nvGraphicFramePr>
        <p:xfrm>
          <a:off x="1243508" y="3573016"/>
          <a:ext cx="259556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90360" imgH="215640" progId="Equation.3">
                  <p:embed/>
                </p:oleObj>
              </mc:Choice>
              <mc:Fallback>
                <p:oleObj name="公式" r:id="rId6" imgW="990360" imgH="215640" progId="Equation.3">
                  <p:embed/>
                  <p:pic>
                    <p:nvPicPr>
                      <p:cNvPr id="3072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508" y="3573016"/>
                        <a:ext cx="2595562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872802"/>
              </p:ext>
            </p:extLst>
          </p:nvPr>
        </p:nvGraphicFramePr>
        <p:xfrm>
          <a:off x="1243508" y="4071942"/>
          <a:ext cx="41925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00200" imgH="215640" progId="Equation.3">
                  <p:embed/>
                </p:oleObj>
              </mc:Choice>
              <mc:Fallback>
                <p:oleObj name="公式" r:id="rId8" imgW="1600200" imgH="215640" progId="Equation.3">
                  <p:embed/>
                  <p:pic>
                    <p:nvPicPr>
                      <p:cNvPr id="3072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508" y="4071942"/>
                        <a:ext cx="4192588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893146"/>
              </p:ext>
            </p:extLst>
          </p:nvPr>
        </p:nvGraphicFramePr>
        <p:xfrm>
          <a:off x="1243508" y="4653136"/>
          <a:ext cx="21637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25480" imgH="215640" progId="Equation.3">
                  <p:embed/>
                </p:oleObj>
              </mc:Choice>
              <mc:Fallback>
                <p:oleObj name="公式" r:id="rId10" imgW="825480" imgH="215640" progId="Equation.3">
                  <p:embed/>
                  <p:pic>
                    <p:nvPicPr>
                      <p:cNvPr id="3072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508" y="4653136"/>
                        <a:ext cx="216376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734338"/>
              </p:ext>
            </p:extLst>
          </p:nvPr>
        </p:nvGraphicFramePr>
        <p:xfrm>
          <a:off x="1243508" y="5214950"/>
          <a:ext cx="379571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447560" imgH="215640" progId="Equation.3">
                  <p:embed/>
                </p:oleObj>
              </mc:Choice>
              <mc:Fallback>
                <p:oleObj name="公式" r:id="rId12" imgW="1447560" imgH="215640" progId="Equation.3">
                  <p:embed/>
                  <p:pic>
                    <p:nvPicPr>
                      <p:cNvPr id="3072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508" y="5214950"/>
                        <a:ext cx="3795713" cy="60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822502"/>
              </p:ext>
            </p:extLst>
          </p:nvPr>
        </p:nvGraphicFramePr>
        <p:xfrm>
          <a:off x="1243508" y="5877272"/>
          <a:ext cx="299720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143000" imgH="241200" progId="Equation.3">
                  <p:embed/>
                </p:oleObj>
              </mc:Choice>
              <mc:Fallback>
                <p:oleObj name="公式" r:id="rId14" imgW="1143000" imgH="241200" progId="Equation.3">
                  <p:embed/>
                  <p:pic>
                    <p:nvPicPr>
                      <p:cNvPr id="3072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508" y="5877272"/>
                        <a:ext cx="2997200" cy="681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3673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0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07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07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07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7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07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61</a:t>
            </a:r>
            <a:r>
              <a:rPr lang="zh-CN" altLang="en-US" sz="3600" dirty="0"/>
              <a:t>）</a:t>
            </a:r>
            <a:endParaRPr lang="zh-CN" altLang="en-US" dirty="0"/>
          </a:p>
        </p:txBody>
      </p:sp>
      <p:sp>
        <p:nvSpPr>
          <p:cNvPr id="4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F346-F269-449B-B9B8-375AA8E9AA45}" type="slidenum">
              <a:rPr lang="en-US" altLang="zh-CN">
                <a:latin typeface="+mn-ea"/>
                <a:ea typeface="+mn-ea"/>
              </a:rPr>
              <a:pPr/>
              <a:t>73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3112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顯示解碼器</a:t>
            </a:r>
          </a:p>
          <a:p>
            <a:pPr lvl="1"/>
            <a:r>
              <a:rPr lang="zh-CN" altLang="en-US" sz="2800" dirty="0">
                <a:latin typeface="+mn-ea"/>
              </a:rPr>
              <a:t>顯示解碼器控制功能輸入：</a:t>
            </a:r>
            <a:r>
              <a:rPr lang="en-US" altLang="zh-CN" sz="2800" dirty="0">
                <a:latin typeface="+mn-ea"/>
              </a:rPr>
              <a:t>LT,RBI,BI/RBO</a:t>
            </a:r>
          </a:p>
          <a:p>
            <a:pPr lvl="1"/>
            <a:r>
              <a:rPr lang="zh-CN" altLang="en-US" sz="2800" dirty="0">
                <a:latin typeface="+mn-ea"/>
              </a:rPr>
              <a:t>主要用於對數碼管的測試和其他一些應用。</a:t>
            </a:r>
          </a:p>
        </p:txBody>
      </p:sp>
      <p:grpSp>
        <p:nvGrpSpPr>
          <p:cNvPr id="311300" name="Group 4"/>
          <p:cNvGrpSpPr>
            <a:grpSpLocks/>
          </p:cNvGrpSpPr>
          <p:nvPr/>
        </p:nvGrpSpPr>
        <p:grpSpPr bwMode="auto">
          <a:xfrm>
            <a:off x="3526011" y="3048000"/>
            <a:ext cx="2270125" cy="3733800"/>
            <a:chOff x="1882" y="1920"/>
            <a:chExt cx="1430" cy="2352"/>
          </a:xfrm>
        </p:grpSpPr>
        <p:grpSp>
          <p:nvGrpSpPr>
            <p:cNvPr id="311301" name="Group 5"/>
            <p:cNvGrpSpPr>
              <a:grpSpLocks/>
            </p:cNvGrpSpPr>
            <p:nvPr/>
          </p:nvGrpSpPr>
          <p:grpSpPr bwMode="auto">
            <a:xfrm>
              <a:off x="1882" y="1920"/>
              <a:ext cx="1430" cy="2352"/>
              <a:chOff x="720" y="1392"/>
              <a:chExt cx="1430" cy="2352"/>
            </a:xfrm>
          </p:grpSpPr>
          <p:sp>
            <p:nvSpPr>
              <p:cNvPr id="311302" name="Rectangle 6"/>
              <p:cNvSpPr>
                <a:spLocks noChangeArrowheads="1"/>
              </p:cNvSpPr>
              <p:nvPr/>
            </p:nvSpPr>
            <p:spPr bwMode="auto">
              <a:xfrm>
                <a:off x="912" y="1392"/>
                <a:ext cx="1056" cy="23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03" name="Line 7"/>
              <p:cNvSpPr>
                <a:spLocks noChangeShapeType="1"/>
              </p:cNvSpPr>
              <p:nvPr/>
            </p:nvSpPr>
            <p:spPr bwMode="auto">
              <a:xfrm>
                <a:off x="729" y="1675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04" name="Line 8"/>
              <p:cNvSpPr>
                <a:spLocks noChangeShapeType="1"/>
              </p:cNvSpPr>
              <p:nvPr/>
            </p:nvSpPr>
            <p:spPr bwMode="auto">
              <a:xfrm>
                <a:off x="1968" y="1776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05" name="Line 9"/>
              <p:cNvSpPr>
                <a:spLocks noChangeShapeType="1"/>
              </p:cNvSpPr>
              <p:nvPr/>
            </p:nvSpPr>
            <p:spPr bwMode="auto">
              <a:xfrm>
                <a:off x="1968" y="2064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06" name="Line 10"/>
              <p:cNvSpPr>
                <a:spLocks noChangeShapeType="1"/>
              </p:cNvSpPr>
              <p:nvPr/>
            </p:nvSpPr>
            <p:spPr bwMode="auto">
              <a:xfrm>
                <a:off x="1968" y="235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07" name="Line 11"/>
              <p:cNvSpPr>
                <a:spLocks noChangeShapeType="1"/>
              </p:cNvSpPr>
              <p:nvPr/>
            </p:nvSpPr>
            <p:spPr bwMode="auto">
              <a:xfrm>
                <a:off x="1968" y="259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08" name="Rectangle 12"/>
              <p:cNvSpPr>
                <a:spLocks noChangeArrowheads="1"/>
              </p:cNvSpPr>
              <p:nvPr/>
            </p:nvSpPr>
            <p:spPr bwMode="auto">
              <a:xfrm>
                <a:off x="1823" y="1680"/>
                <a:ext cx="8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ea"/>
                    <a:ea typeface="+mn-ea"/>
                    <a:cs typeface="Times New Roman" pitchFamily="18" charset="0"/>
                  </a:rPr>
                  <a:t>a</a:t>
                </a:r>
                <a:endParaRPr lang="en-US" altLang="zh-CN" baseline="-30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311309" name="Line 13"/>
              <p:cNvSpPr>
                <a:spLocks noChangeShapeType="1"/>
              </p:cNvSpPr>
              <p:nvPr/>
            </p:nvSpPr>
            <p:spPr bwMode="auto">
              <a:xfrm>
                <a:off x="730" y="1919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10" name="Rectangle 14"/>
              <p:cNvSpPr>
                <a:spLocks noChangeArrowheads="1"/>
              </p:cNvSpPr>
              <p:nvPr/>
            </p:nvSpPr>
            <p:spPr bwMode="auto">
              <a:xfrm>
                <a:off x="1823" y="1968"/>
                <a:ext cx="9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ea"/>
                    <a:ea typeface="+mn-ea"/>
                    <a:cs typeface="Times New Roman" pitchFamily="18" charset="0"/>
                  </a:rPr>
                  <a:t>b</a:t>
                </a:r>
                <a:endParaRPr lang="en-US" altLang="zh-CN" baseline="-30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311311" name="Rectangle 15"/>
              <p:cNvSpPr>
                <a:spLocks noChangeArrowheads="1"/>
              </p:cNvSpPr>
              <p:nvPr/>
            </p:nvSpPr>
            <p:spPr bwMode="auto">
              <a:xfrm>
                <a:off x="1823" y="2256"/>
                <a:ext cx="8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ea"/>
                    <a:ea typeface="+mn-ea"/>
                    <a:cs typeface="Times New Roman" pitchFamily="18" charset="0"/>
                  </a:rPr>
                  <a:t>c</a:t>
                </a:r>
                <a:endParaRPr lang="en-US" altLang="zh-CN" baseline="-30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311312" name="Rectangle 16"/>
              <p:cNvSpPr>
                <a:spLocks noChangeArrowheads="1"/>
              </p:cNvSpPr>
              <p:nvPr/>
            </p:nvSpPr>
            <p:spPr bwMode="auto">
              <a:xfrm>
                <a:off x="1823" y="2736"/>
                <a:ext cx="8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ea"/>
                    <a:ea typeface="+mn-ea"/>
                    <a:cs typeface="Times New Roman" pitchFamily="18" charset="0"/>
                  </a:rPr>
                  <a:t>e</a:t>
                </a:r>
                <a:endParaRPr lang="en-US" altLang="zh-CN" baseline="-30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311313" name="Text Box 17"/>
              <p:cNvSpPr txBox="1">
                <a:spLocks noChangeArrowheads="1"/>
              </p:cNvSpPr>
              <p:nvPr/>
            </p:nvSpPr>
            <p:spPr bwMode="auto">
              <a:xfrm>
                <a:off x="912" y="1584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+mn-ea"/>
                    <a:ea typeface="+mn-ea"/>
                  </a:rPr>
                  <a:t>A</a:t>
                </a:r>
              </a:p>
            </p:txBody>
          </p:sp>
          <p:sp>
            <p:nvSpPr>
              <p:cNvPr id="311314" name="Text Box 18"/>
              <p:cNvSpPr txBox="1">
                <a:spLocks noChangeArrowheads="1"/>
              </p:cNvSpPr>
              <p:nvPr/>
            </p:nvSpPr>
            <p:spPr bwMode="auto">
              <a:xfrm>
                <a:off x="912" y="1824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+mn-ea"/>
                    <a:ea typeface="+mn-ea"/>
                  </a:rPr>
                  <a:t>B</a:t>
                </a:r>
              </a:p>
            </p:txBody>
          </p:sp>
          <p:sp>
            <p:nvSpPr>
              <p:cNvPr id="311315" name="Line 19"/>
              <p:cNvSpPr>
                <a:spLocks noChangeShapeType="1"/>
              </p:cNvSpPr>
              <p:nvPr/>
            </p:nvSpPr>
            <p:spPr bwMode="auto">
              <a:xfrm>
                <a:off x="1968" y="283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16" name="Line 20"/>
              <p:cNvSpPr>
                <a:spLocks noChangeShapeType="1"/>
              </p:cNvSpPr>
              <p:nvPr/>
            </p:nvSpPr>
            <p:spPr bwMode="auto">
              <a:xfrm>
                <a:off x="1968" y="307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17" name="Line 21"/>
              <p:cNvSpPr>
                <a:spLocks noChangeShapeType="1"/>
              </p:cNvSpPr>
              <p:nvPr/>
            </p:nvSpPr>
            <p:spPr bwMode="auto">
              <a:xfrm>
                <a:off x="1968" y="331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18" name="Rectangle 22"/>
              <p:cNvSpPr>
                <a:spLocks noChangeArrowheads="1"/>
              </p:cNvSpPr>
              <p:nvPr/>
            </p:nvSpPr>
            <p:spPr bwMode="auto">
              <a:xfrm>
                <a:off x="1823" y="2496"/>
                <a:ext cx="9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ea"/>
                    <a:ea typeface="+mn-ea"/>
                    <a:cs typeface="Times New Roman" pitchFamily="18" charset="0"/>
                  </a:rPr>
                  <a:t>d</a:t>
                </a:r>
                <a:endParaRPr lang="en-US" altLang="zh-CN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311319" name="Rectangle 23"/>
              <p:cNvSpPr>
                <a:spLocks noChangeArrowheads="1"/>
              </p:cNvSpPr>
              <p:nvPr/>
            </p:nvSpPr>
            <p:spPr bwMode="auto">
              <a:xfrm>
                <a:off x="1823" y="2976"/>
                <a:ext cx="5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ea"/>
                    <a:ea typeface="+mn-ea"/>
                    <a:cs typeface="Times New Roman" pitchFamily="18" charset="0"/>
                  </a:rPr>
                  <a:t>f</a:t>
                </a:r>
                <a:endParaRPr lang="en-US" altLang="zh-CN" baseline="-30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311320" name="Rectangle 24"/>
              <p:cNvSpPr>
                <a:spLocks noChangeArrowheads="1"/>
              </p:cNvSpPr>
              <p:nvPr/>
            </p:nvSpPr>
            <p:spPr bwMode="auto">
              <a:xfrm>
                <a:off x="1823" y="3216"/>
                <a:ext cx="9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ea"/>
                    <a:ea typeface="+mn-ea"/>
                    <a:cs typeface="Times New Roman" pitchFamily="18" charset="0"/>
                  </a:rPr>
                  <a:t>g</a:t>
                </a:r>
              </a:p>
            </p:txBody>
          </p:sp>
          <p:sp>
            <p:nvSpPr>
              <p:cNvPr id="311321" name="Line 25"/>
              <p:cNvSpPr>
                <a:spLocks noChangeShapeType="1"/>
              </p:cNvSpPr>
              <p:nvPr/>
            </p:nvSpPr>
            <p:spPr bwMode="auto">
              <a:xfrm>
                <a:off x="720" y="2160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22" name="Text Box 26"/>
              <p:cNvSpPr txBox="1">
                <a:spLocks noChangeArrowheads="1"/>
              </p:cNvSpPr>
              <p:nvPr/>
            </p:nvSpPr>
            <p:spPr bwMode="auto">
              <a:xfrm>
                <a:off x="912" y="2064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+mn-ea"/>
                    <a:ea typeface="+mn-ea"/>
                  </a:rPr>
                  <a:t>C</a:t>
                </a:r>
              </a:p>
            </p:txBody>
          </p:sp>
          <p:sp>
            <p:nvSpPr>
              <p:cNvPr id="311323" name="Line 27"/>
              <p:cNvSpPr>
                <a:spLocks noChangeShapeType="1"/>
              </p:cNvSpPr>
              <p:nvPr/>
            </p:nvSpPr>
            <p:spPr bwMode="auto">
              <a:xfrm>
                <a:off x="730" y="2399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24" name="Text Box 28"/>
              <p:cNvSpPr txBox="1">
                <a:spLocks noChangeArrowheads="1"/>
              </p:cNvSpPr>
              <p:nvPr/>
            </p:nvSpPr>
            <p:spPr bwMode="auto">
              <a:xfrm>
                <a:off x="912" y="2304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+mn-ea"/>
                    <a:ea typeface="+mn-ea"/>
                  </a:rPr>
                  <a:t>D</a:t>
                </a:r>
              </a:p>
            </p:txBody>
          </p:sp>
          <p:sp>
            <p:nvSpPr>
              <p:cNvPr id="311325" name="Line 29"/>
              <p:cNvSpPr>
                <a:spLocks noChangeShapeType="1"/>
              </p:cNvSpPr>
              <p:nvPr/>
            </p:nvSpPr>
            <p:spPr bwMode="auto">
              <a:xfrm>
                <a:off x="730" y="2899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26" name="Text Box 30"/>
              <p:cNvSpPr txBox="1">
                <a:spLocks noChangeArrowheads="1"/>
              </p:cNvSpPr>
              <p:nvPr/>
            </p:nvSpPr>
            <p:spPr bwMode="auto">
              <a:xfrm>
                <a:off x="912" y="2804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+mn-ea"/>
                    <a:ea typeface="+mn-ea"/>
                  </a:rPr>
                  <a:t>LT</a:t>
                </a:r>
              </a:p>
            </p:txBody>
          </p:sp>
          <p:sp>
            <p:nvSpPr>
              <p:cNvPr id="311327" name="Line 31"/>
              <p:cNvSpPr>
                <a:spLocks noChangeShapeType="1"/>
              </p:cNvSpPr>
              <p:nvPr/>
            </p:nvSpPr>
            <p:spPr bwMode="auto">
              <a:xfrm>
                <a:off x="720" y="3216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28" name="Text Box 32"/>
              <p:cNvSpPr txBox="1">
                <a:spLocks noChangeArrowheads="1"/>
              </p:cNvSpPr>
              <p:nvPr/>
            </p:nvSpPr>
            <p:spPr bwMode="auto">
              <a:xfrm>
                <a:off x="912" y="3120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+mn-ea"/>
                    <a:ea typeface="+mn-ea"/>
                  </a:rPr>
                  <a:t>RBI</a:t>
                </a:r>
              </a:p>
            </p:txBody>
          </p:sp>
          <p:sp>
            <p:nvSpPr>
              <p:cNvPr id="311329" name="Line 33"/>
              <p:cNvSpPr>
                <a:spLocks noChangeShapeType="1"/>
              </p:cNvSpPr>
              <p:nvPr/>
            </p:nvSpPr>
            <p:spPr bwMode="auto">
              <a:xfrm>
                <a:off x="730" y="3551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30" name="Text Box 34"/>
              <p:cNvSpPr txBox="1">
                <a:spLocks noChangeArrowheads="1"/>
              </p:cNvSpPr>
              <p:nvPr/>
            </p:nvSpPr>
            <p:spPr bwMode="auto">
              <a:xfrm>
                <a:off x="912" y="3456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+mn-ea"/>
                    <a:ea typeface="+mn-ea"/>
                  </a:rPr>
                  <a:t>BI/RBO</a:t>
                </a:r>
              </a:p>
            </p:txBody>
          </p:sp>
        </p:grpSp>
        <p:sp>
          <p:nvSpPr>
            <p:cNvPr id="311331" name="Text Box 35"/>
            <p:cNvSpPr txBox="1">
              <a:spLocks noChangeArrowheads="1"/>
            </p:cNvSpPr>
            <p:nvPr/>
          </p:nvSpPr>
          <p:spPr bwMode="auto">
            <a:xfrm>
              <a:off x="2496" y="2256"/>
              <a:ext cx="384" cy="1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顯示解碼器</a:t>
              </a: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3131840" y="5289550"/>
            <a:ext cx="1673696" cy="1523826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1313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解碼器（</a:t>
            </a:r>
            <a:r>
              <a:rPr lang="en-US" altLang="zh-CN" sz="3600" dirty="0"/>
              <a:t>63</a:t>
            </a:r>
            <a:r>
              <a:rPr lang="zh-CN" altLang="en-US" sz="3600" dirty="0"/>
              <a:t>）</a:t>
            </a:r>
            <a:br>
              <a:rPr lang="zh-CN" altLang="en-US" sz="3600" dirty="0"/>
            </a:br>
            <a:r>
              <a:rPr lang="en-US" altLang="zh-CN" sz="3600" dirty="0"/>
              <a:t>——</a:t>
            </a:r>
            <a:r>
              <a:rPr lang="zh-CN" altLang="en-US" sz="3600" dirty="0"/>
              <a:t>小結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31A2-871A-49F6-AF5F-5DA3E3710378}" type="slidenum">
              <a:rPr lang="en-US" altLang="zh-CN"/>
              <a:pPr/>
              <a:t>74</a:t>
            </a:fld>
            <a:endParaRPr lang="en-US" altLang="zh-CN" dirty="0"/>
          </a:p>
        </p:txBody>
      </p:sp>
      <p:sp>
        <p:nvSpPr>
          <p:cNvPr id="2314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00034" y="1500174"/>
            <a:ext cx="8229600" cy="4525963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dirty="0"/>
              <a:t>解碼器的功能分類：</a:t>
            </a:r>
            <a:endParaRPr lang="zh-CN" altLang="en-US" sz="2400" dirty="0">
              <a:effectLst/>
              <a:latin typeface="Arial" charset="0"/>
            </a:endParaRPr>
          </a:p>
          <a:p>
            <a:pPr lvl="1">
              <a:spcBef>
                <a:spcPct val="50000"/>
              </a:spcBef>
            </a:pPr>
            <a:r>
              <a:rPr lang="zh-CN" altLang="en-US" dirty="0">
                <a:effectLst/>
              </a:rPr>
              <a:t>變數解碼器</a:t>
            </a:r>
          </a:p>
          <a:p>
            <a:pPr lvl="1">
              <a:spcBef>
                <a:spcPct val="50000"/>
              </a:spcBef>
            </a:pPr>
            <a:r>
              <a:rPr lang="zh-CN" altLang="en-US" dirty="0">
                <a:effectLst/>
              </a:rPr>
              <a:t>碼制解碼器</a:t>
            </a:r>
          </a:p>
          <a:p>
            <a:pPr lvl="1">
              <a:spcBef>
                <a:spcPct val="50000"/>
              </a:spcBef>
            </a:pPr>
            <a:r>
              <a:rPr lang="zh-CN" altLang="en-US" dirty="0">
                <a:effectLst/>
              </a:rPr>
              <a:t>顯示解碼器：控制數碼管顯示</a:t>
            </a:r>
          </a:p>
          <a:p>
            <a:pPr lvl="1">
              <a:buFont typeface="Wingdings" pitchFamily="2" charset="2"/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1582494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  </a:t>
            </a:r>
            <a:r>
              <a:rPr lang="zh-CN" altLang="en-US" sz="3600" dirty="0"/>
              <a:t>常用的中規模組合邏輯電路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8088B-B443-4CA4-B9F0-310D3F8D257C}" type="slidenum">
              <a:rPr lang="en-US" altLang="zh-CN">
                <a:latin typeface="+mn-ea"/>
                <a:ea typeface="+mn-ea"/>
              </a:rPr>
              <a:pPr/>
              <a:t>75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173059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1066800" y="1981200"/>
            <a:ext cx="7753350" cy="44005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b="1" dirty="0">
                <a:latin typeface="+mn-ea"/>
              </a:rPr>
              <a:t>3.3.1 </a:t>
            </a:r>
            <a:r>
              <a:rPr lang="zh-CN" altLang="en-US" b="1" dirty="0">
                <a:latin typeface="+mn-ea"/>
              </a:rPr>
              <a:t>解碼器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>
                <a:solidFill>
                  <a:srgbClr val="CC00FF"/>
                </a:solidFill>
                <a:latin typeface="+mn-ea"/>
              </a:rPr>
              <a:t>3.3.2 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資料選擇器</a:t>
            </a:r>
          </a:p>
          <a:p>
            <a:pPr>
              <a:buNone/>
            </a:pPr>
            <a:r>
              <a:rPr lang="en-US" altLang="zh-CN" dirty="0">
                <a:latin typeface="+mn-ea"/>
              </a:rPr>
              <a:t>3.3.3 </a:t>
            </a:r>
            <a:r>
              <a:rPr lang="zh-CN" altLang="en-US" dirty="0">
                <a:latin typeface="+mn-ea"/>
              </a:rPr>
              <a:t>編碼器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>
                <a:latin typeface="+mn-ea"/>
              </a:rPr>
              <a:t>3.3.4 </a:t>
            </a:r>
            <a:r>
              <a:rPr lang="zh-CN" altLang="en-US" b="1" dirty="0">
                <a:latin typeface="+mn-ea"/>
              </a:rPr>
              <a:t>資料比較器</a:t>
            </a:r>
          </a:p>
          <a:p>
            <a:pPr>
              <a:buNone/>
            </a:pPr>
            <a:r>
              <a:rPr lang="en-US" altLang="zh-CN" dirty="0">
                <a:latin typeface="+mn-ea"/>
              </a:rPr>
              <a:t>3.3.5 </a:t>
            </a:r>
            <a:r>
              <a:rPr lang="zh-CN" altLang="en-US" dirty="0">
                <a:latin typeface="+mn-ea"/>
              </a:rPr>
              <a:t>同位器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>
                <a:latin typeface="+mn-ea"/>
              </a:rPr>
              <a:t>3.3.6 </a:t>
            </a:r>
            <a:r>
              <a:rPr lang="zh-CN" altLang="en-US" b="1" dirty="0">
                <a:latin typeface="+mn-ea"/>
              </a:rPr>
              <a:t>運算器（算數邏輯單元 </a:t>
            </a:r>
            <a:r>
              <a:rPr lang="en-US" altLang="zh-CN" b="1" dirty="0">
                <a:latin typeface="+mn-ea"/>
              </a:rPr>
              <a:t>ALU</a:t>
            </a:r>
            <a:r>
              <a:rPr lang="zh-CN" altLang="en-US" b="1" dirty="0">
                <a:latin typeface="+mn-ea"/>
              </a:rPr>
              <a:t>）</a:t>
            </a:r>
          </a:p>
        </p:txBody>
      </p:sp>
      <p:sp>
        <p:nvSpPr>
          <p:cNvPr id="173060" name="Rectangle 1028"/>
          <p:cNvSpPr>
            <a:spLocks noChangeArrowheads="1"/>
          </p:cNvSpPr>
          <p:nvPr/>
        </p:nvSpPr>
        <p:spPr bwMode="auto">
          <a:xfrm>
            <a:off x="381000" y="2564904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CC00FF"/>
                </a:solidFill>
                <a:latin typeface="+mn-ea"/>
                <a:ea typeface="+mn-ea"/>
                <a:sym typeface="Wingdings 3" pitchFamily="18" charset="2"/>
              </a:rPr>
              <a:t></a:t>
            </a:r>
            <a:endParaRPr lang="en-US" altLang="zh-CN" sz="3600" b="1" dirty="0">
              <a:solidFill>
                <a:srgbClr val="CC00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8549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9" grpId="0" autoUpdateAnimBg="0"/>
      <p:bldP spid="173060" grpId="0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資料選擇器</a:t>
            </a:r>
            <a:r>
              <a:rPr lang="en-US" altLang="zh-CN" sz="3600" dirty="0"/>
              <a:t>(1)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8B7D-E254-46D3-8E94-F1D4DF7CE115}" type="slidenum">
              <a:rPr lang="en-US" altLang="zh-CN">
                <a:latin typeface="+mn-ea"/>
                <a:ea typeface="+mn-ea"/>
              </a:rPr>
              <a:pPr/>
              <a:t>76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3174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資料選擇器</a:t>
            </a:r>
          </a:p>
          <a:p>
            <a:pPr lvl="1"/>
            <a:r>
              <a:rPr lang="zh-CN" altLang="en-US" dirty="0">
                <a:latin typeface="+mn-ea"/>
              </a:rPr>
              <a:t>在選擇控制的信號作用下，能從多個輸入資料中選擇一個或多個作為輸出。</a:t>
            </a:r>
          </a:p>
          <a:p>
            <a:pPr lvl="1"/>
            <a:r>
              <a:rPr lang="zh-CN" altLang="en-US" dirty="0">
                <a:latin typeface="+mn-ea"/>
              </a:rPr>
              <a:t>多輸入單輸出資料選擇器</a:t>
            </a:r>
          </a:p>
          <a:p>
            <a:pPr lvl="1"/>
            <a:r>
              <a:rPr lang="zh-CN" altLang="en-US" dirty="0">
                <a:latin typeface="+mn-ea"/>
              </a:rPr>
              <a:t>多輸入多輸出資料選擇器</a:t>
            </a:r>
          </a:p>
          <a:p>
            <a:pPr lvl="1"/>
            <a:endParaRPr lang="en-US" altLang="zh-CN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7974000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資料選擇器</a:t>
            </a:r>
            <a:r>
              <a:rPr lang="en-US" altLang="zh-CN" sz="3600" dirty="0"/>
              <a:t>(2)</a:t>
            </a:r>
          </a:p>
        </p:txBody>
      </p:sp>
      <p:sp>
        <p:nvSpPr>
          <p:cNvPr id="5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37736-E1A4-45B5-953E-B7D74B52AC85}" type="slidenum">
              <a:rPr lang="en-US" altLang="zh-CN">
                <a:latin typeface="+mn-ea"/>
                <a:ea typeface="+mn-ea"/>
              </a:rPr>
              <a:pPr/>
              <a:t>77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318511" name="Rectangle 47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r>
              <a:rPr lang="en-US" altLang="zh-CN" b="1" dirty="0">
                <a:latin typeface="+mn-ea"/>
              </a:rPr>
              <a:t>4</a:t>
            </a:r>
            <a:r>
              <a:rPr lang="zh-CN" altLang="en-US" b="1" dirty="0">
                <a:latin typeface="+mn-ea"/>
              </a:rPr>
              <a:t>選</a:t>
            </a:r>
            <a:r>
              <a:rPr lang="en-US" altLang="zh-CN" b="1" dirty="0">
                <a:latin typeface="+mn-ea"/>
              </a:rPr>
              <a:t>1</a:t>
            </a:r>
            <a:r>
              <a:rPr lang="zh-CN" altLang="en-US" b="1" dirty="0">
                <a:latin typeface="+mn-ea"/>
              </a:rPr>
              <a:t>資料選擇器</a:t>
            </a:r>
          </a:p>
          <a:p>
            <a:pPr lvl="1"/>
            <a:r>
              <a:rPr lang="en-US" altLang="zh-CN" b="1" dirty="0">
                <a:latin typeface="+mn-ea"/>
              </a:rPr>
              <a:t>4</a:t>
            </a:r>
            <a:r>
              <a:rPr lang="zh-CN" altLang="en-US" b="1" dirty="0">
                <a:latin typeface="+mn-ea"/>
              </a:rPr>
              <a:t>輸入，</a:t>
            </a:r>
            <a:r>
              <a:rPr lang="en-US" altLang="zh-CN" b="1" dirty="0">
                <a:latin typeface="+mn-ea"/>
              </a:rPr>
              <a:t>1</a:t>
            </a:r>
            <a:r>
              <a:rPr lang="zh-CN" altLang="en-US" b="1" dirty="0">
                <a:latin typeface="+mn-ea"/>
              </a:rPr>
              <a:t>輸出，</a:t>
            </a:r>
            <a:r>
              <a:rPr lang="en-US" altLang="zh-CN" b="1" dirty="0">
                <a:latin typeface="+mn-ea"/>
              </a:rPr>
              <a:t>2</a:t>
            </a:r>
            <a:r>
              <a:rPr lang="zh-CN" altLang="en-US" b="1" dirty="0">
                <a:latin typeface="+mn-ea"/>
              </a:rPr>
              <a:t>個選擇控制</a:t>
            </a:r>
          </a:p>
          <a:p>
            <a:pPr lvl="1"/>
            <a:endParaRPr lang="en-US" altLang="zh-CN" b="1" dirty="0">
              <a:latin typeface="+mn-ea"/>
            </a:endParaRPr>
          </a:p>
        </p:txBody>
      </p:sp>
      <p:graphicFrame>
        <p:nvGraphicFramePr>
          <p:cNvPr id="31846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169408"/>
              </p:ext>
            </p:extLst>
          </p:nvPr>
        </p:nvGraphicFramePr>
        <p:xfrm>
          <a:off x="1447800" y="3048000"/>
          <a:ext cx="2665413" cy="2071688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20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20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20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20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1849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9336992"/>
              </p:ext>
            </p:extLst>
          </p:nvPr>
        </p:nvGraphicFramePr>
        <p:xfrm>
          <a:off x="646113" y="5410200"/>
          <a:ext cx="495776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16120" imgH="253800" progId="Equation.3">
                  <p:embed/>
                </p:oleObj>
              </mc:Choice>
              <mc:Fallback>
                <p:oleObj name="公式" r:id="rId2" imgW="2616120" imgH="253800" progId="Equation.3">
                  <p:embed/>
                  <p:pic>
                    <p:nvPicPr>
                      <p:cNvPr id="31849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3" y="5410200"/>
                        <a:ext cx="4957762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5257800" y="3276600"/>
            <a:ext cx="2663825" cy="1584325"/>
            <a:chOff x="3312" y="2064"/>
            <a:chExt cx="1678" cy="998"/>
          </a:xfrm>
        </p:grpSpPr>
        <p:sp>
          <p:nvSpPr>
            <p:cNvPr id="318495" name="Rectangle 31"/>
            <p:cNvSpPr>
              <a:spLocks noChangeArrowheads="1"/>
            </p:cNvSpPr>
            <p:nvPr/>
          </p:nvSpPr>
          <p:spPr bwMode="auto">
            <a:xfrm>
              <a:off x="3538" y="2291"/>
              <a:ext cx="1452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8496" name="Line 32"/>
            <p:cNvSpPr>
              <a:spLocks noChangeShapeType="1"/>
            </p:cNvSpPr>
            <p:nvPr/>
          </p:nvSpPr>
          <p:spPr bwMode="auto">
            <a:xfrm>
              <a:off x="3312" y="2427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8497" name="Line 33"/>
            <p:cNvSpPr>
              <a:spLocks noChangeShapeType="1"/>
            </p:cNvSpPr>
            <p:nvPr/>
          </p:nvSpPr>
          <p:spPr bwMode="auto">
            <a:xfrm>
              <a:off x="3312" y="2699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8498" name="Line 34"/>
            <p:cNvSpPr>
              <a:spLocks noChangeShapeType="1"/>
            </p:cNvSpPr>
            <p:nvPr/>
          </p:nvSpPr>
          <p:spPr bwMode="auto">
            <a:xfrm flipV="1">
              <a:off x="4037" y="206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8499" name="Line 35"/>
            <p:cNvSpPr>
              <a:spLocks noChangeShapeType="1"/>
            </p:cNvSpPr>
            <p:nvPr/>
          </p:nvSpPr>
          <p:spPr bwMode="auto">
            <a:xfrm flipV="1">
              <a:off x="4309" y="206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8500" name="Line 36"/>
            <p:cNvSpPr>
              <a:spLocks noChangeShapeType="1"/>
            </p:cNvSpPr>
            <p:nvPr/>
          </p:nvSpPr>
          <p:spPr bwMode="auto">
            <a:xfrm flipV="1">
              <a:off x="4582" y="206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8501" name="Line 37"/>
            <p:cNvSpPr>
              <a:spLocks noChangeShapeType="1"/>
            </p:cNvSpPr>
            <p:nvPr/>
          </p:nvSpPr>
          <p:spPr bwMode="auto">
            <a:xfrm flipV="1">
              <a:off x="4808" y="206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8502" name="Line 38"/>
            <p:cNvSpPr>
              <a:spLocks noChangeShapeType="1"/>
            </p:cNvSpPr>
            <p:nvPr/>
          </p:nvSpPr>
          <p:spPr bwMode="auto">
            <a:xfrm flipV="1">
              <a:off x="4309" y="283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8503" name="Rectangle 39"/>
            <p:cNvSpPr>
              <a:spLocks noChangeArrowheads="1"/>
            </p:cNvSpPr>
            <p:nvPr/>
          </p:nvSpPr>
          <p:spPr bwMode="auto">
            <a:xfrm>
              <a:off x="3538" y="2336"/>
              <a:ext cx="28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</a:pPr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S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1</a:t>
              </a:r>
            </a:p>
          </p:txBody>
        </p:sp>
        <p:sp>
          <p:nvSpPr>
            <p:cNvPr id="318504" name="Rectangle 40"/>
            <p:cNvSpPr>
              <a:spLocks noChangeArrowheads="1"/>
            </p:cNvSpPr>
            <p:nvPr/>
          </p:nvSpPr>
          <p:spPr bwMode="auto">
            <a:xfrm>
              <a:off x="3538" y="2563"/>
              <a:ext cx="28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S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0</a:t>
              </a:r>
            </a:p>
          </p:txBody>
        </p:sp>
        <p:sp>
          <p:nvSpPr>
            <p:cNvPr id="318505" name="Rectangle 41"/>
            <p:cNvSpPr>
              <a:spLocks noChangeArrowheads="1"/>
            </p:cNvSpPr>
            <p:nvPr/>
          </p:nvSpPr>
          <p:spPr bwMode="auto">
            <a:xfrm>
              <a:off x="4672" y="2291"/>
              <a:ext cx="29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0</a:t>
              </a:r>
            </a:p>
          </p:txBody>
        </p:sp>
        <p:sp>
          <p:nvSpPr>
            <p:cNvPr id="318506" name="Rectangle 42"/>
            <p:cNvSpPr>
              <a:spLocks noChangeArrowheads="1"/>
            </p:cNvSpPr>
            <p:nvPr/>
          </p:nvSpPr>
          <p:spPr bwMode="auto">
            <a:xfrm>
              <a:off x="4464" y="2291"/>
              <a:ext cx="29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1</a:t>
              </a:r>
            </a:p>
          </p:txBody>
        </p:sp>
        <p:sp>
          <p:nvSpPr>
            <p:cNvPr id="318507" name="Rectangle 43"/>
            <p:cNvSpPr>
              <a:spLocks noChangeArrowheads="1"/>
            </p:cNvSpPr>
            <p:nvPr/>
          </p:nvSpPr>
          <p:spPr bwMode="auto">
            <a:xfrm>
              <a:off x="4219" y="2291"/>
              <a:ext cx="29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2</a:t>
              </a:r>
            </a:p>
          </p:txBody>
        </p:sp>
        <p:sp>
          <p:nvSpPr>
            <p:cNvPr id="318508" name="Rectangle 44"/>
            <p:cNvSpPr>
              <a:spLocks noChangeArrowheads="1"/>
            </p:cNvSpPr>
            <p:nvPr/>
          </p:nvSpPr>
          <p:spPr bwMode="auto">
            <a:xfrm>
              <a:off x="3901" y="2291"/>
              <a:ext cx="29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3</a:t>
              </a:r>
            </a:p>
          </p:txBody>
        </p:sp>
        <p:sp>
          <p:nvSpPr>
            <p:cNvPr id="318509" name="Rectangle 45"/>
            <p:cNvSpPr>
              <a:spLocks noChangeArrowheads="1"/>
            </p:cNvSpPr>
            <p:nvPr/>
          </p:nvSpPr>
          <p:spPr bwMode="auto">
            <a:xfrm>
              <a:off x="4198" y="2568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518562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11" name="Rectangle 2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資料選擇器</a:t>
            </a:r>
            <a:r>
              <a:rPr lang="en-US" altLang="zh-CN" sz="3600" dirty="0"/>
              <a:t>(3)</a:t>
            </a:r>
          </a:p>
        </p:txBody>
      </p:sp>
      <p:sp>
        <p:nvSpPr>
          <p:cNvPr id="9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FFE25-80FF-48D7-8A89-46E9F7DD014F}" type="slidenum">
              <a:rPr lang="en-US" altLang="zh-CN">
                <a:latin typeface="+mn-ea"/>
                <a:ea typeface="+mn-ea"/>
              </a:rPr>
              <a:pPr/>
              <a:t>78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319512" name="Rectangle 24"/>
          <p:cNvSpPr>
            <a:spLocks noGrp="1" noChangeArrowheads="1"/>
          </p:cNvSpPr>
          <p:nvPr>
            <p:ph sz="quarter" idx="1"/>
          </p:nvPr>
        </p:nvSpPr>
        <p:spPr>
          <a:xfrm>
            <a:off x="609600" y="1371600"/>
            <a:ext cx="7924800" cy="4648200"/>
          </a:xfrm>
        </p:spPr>
        <p:txBody>
          <a:bodyPr/>
          <a:lstStyle/>
          <a:p>
            <a:r>
              <a:rPr lang="en-US" altLang="zh-CN" b="1" dirty="0">
                <a:latin typeface="+mn-ea"/>
              </a:rPr>
              <a:t>4</a:t>
            </a:r>
            <a:r>
              <a:rPr lang="zh-CN" altLang="en-US" b="1" dirty="0">
                <a:latin typeface="+mn-ea"/>
              </a:rPr>
              <a:t>選</a:t>
            </a:r>
            <a:r>
              <a:rPr lang="en-US" altLang="zh-CN" b="1" dirty="0">
                <a:latin typeface="+mn-ea"/>
              </a:rPr>
              <a:t>1</a:t>
            </a:r>
            <a:r>
              <a:rPr lang="zh-CN" altLang="en-US" b="1" dirty="0">
                <a:latin typeface="+mn-ea"/>
              </a:rPr>
              <a:t>資料選擇器邏輯圖</a:t>
            </a:r>
            <a:endParaRPr lang="zh-CN" altLang="en-US" dirty="0">
              <a:latin typeface="+mn-ea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14400" y="3124200"/>
            <a:ext cx="3505200" cy="1524000"/>
            <a:chOff x="576" y="1968"/>
            <a:chExt cx="2208" cy="960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1824" y="1968"/>
              <a:ext cx="336" cy="384"/>
              <a:chOff x="1968" y="2112"/>
              <a:chExt cx="336" cy="384"/>
            </a:xfrm>
          </p:grpSpPr>
          <p:sp>
            <p:nvSpPr>
              <p:cNvPr id="319492" name="Rectangle 4"/>
              <p:cNvSpPr>
                <a:spLocks noChangeArrowheads="1"/>
              </p:cNvSpPr>
              <p:nvPr/>
            </p:nvSpPr>
            <p:spPr bwMode="auto">
              <a:xfrm>
                <a:off x="1968" y="2112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9493" name="Oval 5"/>
              <p:cNvSpPr>
                <a:spLocks noChangeArrowheads="1"/>
              </p:cNvSpPr>
              <p:nvPr/>
            </p:nvSpPr>
            <p:spPr bwMode="auto">
              <a:xfrm>
                <a:off x="2208" y="22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" name="Group 6"/>
            <p:cNvGrpSpPr>
              <a:grpSpLocks/>
            </p:cNvGrpSpPr>
            <p:nvPr/>
          </p:nvGrpSpPr>
          <p:grpSpPr bwMode="auto">
            <a:xfrm>
              <a:off x="1824" y="2544"/>
              <a:ext cx="336" cy="384"/>
              <a:chOff x="1968" y="2112"/>
              <a:chExt cx="336" cy="384"/>
            </a:xfrm>
          </p:grpSpPr>
          <p:sp>
            <p:nvSpPr>
              <p:cNvPr id="319495" name="Rectangle 7"/>
              <p:cNvSpPr>
                <a:spLocks noChangeArrowheads="1"/>
              </p:cNvSpPr>
              <p:nvPr/>
            </p:nvSpPr>
            <p:spPr bwMode="auto">
              <a:xfrm>
                <a:off x="1968" y="2112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9496" name="Oval 8"/>
              <p:cNvSpPr>
                <a:spLocks noChangeArrowheads="1"/>
              </p:cNvSpPr>
              <p:nvPr/>
            </p:nvSpPr>
            <p:spPr bwMode="auto">
              <a:xfrm>
                <a:off x="2208" y="22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5" name="Group 9"/>
            <p:cNvGrpSpPr>
              <a:grpSpLocks/>
            </p:cNvGrpSpPr>
            <p:nvPr/>
          </p:nvGrpSpPr>
          <p:grpSpPr bwMode="auto">
            <a:xfrm>
              <a:off x="1056" y="1968"/>
              <a:ext cx="336" cy="384"/>
              <a:chOff x="1968" y="2112"/>
              <a:chExt cx="336" cy="384"/>
            </a:xfrm>
          </p:grpSpPr>
          <p:sp>
            <p:nvSpPr>
              <p:cNvPr id="319498" name="Rectangle 10"/>
              <p:cNvSpPr>
                <a:spLocks noChangeArrowheads="1"/>
              </p:cNvSpPr>
              <p:nvPr/>
            </p:nvSpPr>
            <p:spPr bwMode="auto">
              <a:xfrm>
                <a:off x="1968" y="2112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9499" name="Oval 11"/>
              <p:cNvSpPr>
                <a:spLocks noChangeArrowheads="1"/>
              </p:cNvSpPr>
              <p:nvPr/>
            </p:nvSpPr>
            <p:spPr bwMode="auto">
              <a:xfrm>
                <a:off x="2208" y="22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6" name="Group 12"/>
            <p:cNvGrpSpPr>
              <a:grpSpLocks/>
            </p:cNvGrpSpPr>
            <p:nvPr/>
          </p:nvGrpSpPr>
          <p:grpSpPr bwMode="auto">
            <a:xfrm>
              <a:off x="1056" y="2544"/>
              <a:ext cx="336" cy="384"/>
              <a:chOff x="1968" y="2112"/>
              <a:chExt cx="336" cy="384"/>
            </a:xfrm>
          </p:grpSpPr>
          <p:sp>
            <p:nvSpPr>
              <p:cNvPr id="319501" name="Rectangle 13"/>
              <p:cNvSpPr>
                <a:spLocks noChangeArrowheads="1"/>
              </p:cNvSpPr>
              <p:nvPr/>
            </p:nvSpPr>
            <p:spPr bwMode="auto">
              <a:xfrm>
                <a:off x="1968" y="2112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9502" name="Oval 14"/>
              <p:cNvSpPr>
                <a:spLocks noChangeArrowheads="1"/>
              </p:cNvSpPr>
              <p:nvPr/>
            </p:nvSpPr>
            <p:spPr bwMode="auto">
              <a:xfrm>
                <a:off x="2208" y="22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319503" name="Line 15"/>
            <p:cNvSpPr>
              <a:spLocks noChangeShapeType="1"/>
            </p:cNvSpPr>
            <p:nvPr/>
          </p:nvSpPr>
          <p:spPr bwMode="auto">
            <a:xfrm flipH="1">
              <a:off x="768" y="216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04" name="Line 16"/>
            <p:cNvSpPr>
              <a:spLocks noChangeShapeType="1"/>
            </p:cNvSpPr>
            <p:nvPr/>
          </p:nvSpPr>
          <p:spPr bwMode="auto">
            <a:xfrm flipH="1">
              <a:off x="768" y="273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05" name="Line 17"/>
            <p:cNvSpPr>
              <a:spLocks noChangeShapeType="1"/>
            </p:cNvSpPr>
            <p:nvPr/>
          </p:nvSpPr>
          <p:spPr bwMode="auto">
            <a:xfrm flipH="1">
              <a:off x="1392" y="216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06" name="Line 18"/>
            <p:cNvSpPr>
              <a:spLocks noChangeShapeType="1"/>
            </p:cNvSpPr>
            <p:nvPr/>
          </p:nvSpPr>
          <p:spPr bwMode="auto">
            <a:xfrm flipH="1">
              <a:off x="1392" y="273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07" name="Text Box 19"/>
            <p:cNvSpPr txBox="1">
              <a:spLocks noChangeArrowheads="1"/>
            </p:cNvSpPr>
            <p:nvPr/>
          </p:nvSpPr>
          <p:spPr bwMode="auto">
            <a:xfrm>
              <a:off x="576" y="20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S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319508" name="Text Box 20"/>
            <p:cNvSpPr txBox="1">
              <a:spLocks noChangeArrowheads="1"/>
            </p:cNvSpPr>
            <p:nvPr/>
          </p:nvSpPr>
          <p:spPr bwMode="auto">
            <a:xfrm>
              <a:off x="576" y="25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S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319509" name="Line 21"/>
            <p:cNvSpPr>
              <a:spLocks noChangeShapeType="1"/>
            </p:cNvSpPr>
            <p:nvPr/>
          </p:nvSpPr>
          <p:spPr bwMode="auto">
            <a:xfrm flipH="1">
              <a:off x="2160" y="216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10" name="Line 22"/>
            <p:cNvSpPr>
              <a:spLocks noChangeShapeType="1"/>
            </p:cNvSpPr>
            <p:nvPr/>
          </p:nvSpPr>
          <p:spPr bwMode="auto">
            <a:xfrm flipH="1">
              <a:off x="2160" y="273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aphicFrame>
        <p:nvGraphicFramePr>
          <p:cNvPr id="31951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744412"/>
              </p:ext>
            </p:extLst>
          </p:nvPr>
        </p:nvGraphicFramePr>
        <p:xfrm>
          <a:off x="785813" y="2209800"/>
          <a:ext cx="52863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16120" imgH="253800" progId="Equation.3">
                  <p:embed/>
                </p:oleObj>
              </mc:Choice>
              <mc:Fallback>
                <p:oleObj name="Equation" r:id="rId2" imgW="2616120" imgH="253800" progId="Equation.3">
                  <p:embed/>
                  <p:pic>
                    <p:nvPicPr>
                      <p:cNvPr id="319513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2209800"/>
                        <a:ext cx="5286375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6248402" y="2819400"/>
            <a:ext cx="1855788" cy="3048000"/>
            <a:chOff x="3936" y="1776"/>
            <a:chExt cx="1169" cy="1920"/>
          </a:xfrm>
        </p:grpSpPr>
        <p:sp>
          <p:nvSpPr>
            <p:cNvPr id="319515" name="Rectangle 27"/>
            <p:cNvSpPr>
              <a:spLocks noChangeArrowheads="1"/>
            </p:cNvSpPr>
            <p:nvPr/>
          </p:nvSpPr>
          <p:spPr bwMode="auto">
            <a:xfrm>
              <a:off x="4224" y="1776"/>
              <a:ext cx="288" cy="19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16" name="Text Box 28"/>
            <p:cNvSpPr txBox="1">
              <a:spLocks noChangeArrowheads="1"/>
            </p:cNvSpPr>
            <p:nvPr/>
          </p:nvSpPr>
          <p:spPr bwMode="auto">
            <a:xfrm>
              <a:off x="4224" y="2630"/>
              <a:ext cx="2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+mn-ea"/>
                  <a:ea typeface="+mn-ea"/>
                </a:rPr>
                <a:t>＋</a:t>
              </a:r>
            </a:p>
          </p:txBody>
        </p:sp>
        <p:sp>
          <p:nvSpPr>
            <p:cNvPr id="319517" name="Rectangle 29"/>
            <p:cNvSpPr>
              <a:spLocks noChangeArrowheads="1"/>
            </p:cNvSpPr>
            <p:nvPr/>
          </p:nvSpPr>
          <p:spPr bwMode="auto">
            <a:xfrm>
              <a:off x="3936" y="1776"/>
              <a:ext cx="288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18" name="Line 30"/>
            <p:cNvSpPr>
              <a:spLocks noChangeShapeType="1"/>
            </p:cNvSpPr>
            <p:nvPr/>
          </p:nvSpPr>
          <p:spPr bwMode="auto">
            <a:xfrm>
              <a:off x="4512" y="273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19" name="Rectangle 31"/>
            <p:cNvSpPr>
              <a:spLocks noChangeArrowheads="1"/>
            </p:cNvSpPr>
            <p:nvPr/>
          </p:nvSpPr>
          <p:spPr bwMode="auto">
            <a:xfrm>
              <a:off x="4881" y="2592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endParaRPr lang="en-US" altLang="zh-CN" sz="2400" b="1" baseline="-25000" dirty="0">
                <a:latin typeface="+mn-ea"/>
                <a:ea typeface="+mn-ea"/>
              </a:endParaRPr>
            </a:p>
          </p:txBody>
        </p:sp>
        <p:sp>
          <p:nvSpPr>
            <p:cNvPr id="319520" name="Rectangle 32"/>
            <p:cNvSpPr>
              <a:spLocks noChangeArrowheads="1"/>
            </p:cNvSpPr>
            <p:nvPr/>
          </p:nvSpPr>
          <p:spPr bwMode="auto">
            <a:xfrm>
              <a:off x="3936" y="2256"/>
              <a:ext cx="288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21" name="Rectangle 33"/>
            <p:cNvSpPr>
              <a:spLocks noChangeArrowheads="1"/>
            </p:cNvSpPr>
            <p:nvPr/>
          </p:nvSpPr>
          <p:spPr bwMode="auto">
            <a:xfrm>
              <a:off x="3936" y="2736"/>
              <a:ext cx="288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22" name="Rectangle 34"/>
            <p:cNvSpPr>
              <a:spLocks noChangeArrowheads="1"/>
            </p:cNvSpPr>
            <p:nvPr/>
          </p:nvSpPr>
          <p:spPr bwMode="auto">
            <a:xfrm>
              <a:off x="3936" y="3216"/>
              <a:ext cx="288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8" name="Group 35"/>
          <p:cNvGrpSpPr>
            <a:grpSpLocks/>
          </p:cNvGrpSpPr>
          <p:nvPr/>
        </p:nvGrpSpPr>
        <p:grpSpPr bwMode="auto">
          <a:xfrm>
            <a:off x="2438400" y="2971800"/>
            <a:ext cx="3810000" cy="533400"/>
            <a:chOff x="1536" y="1872"/>
            <a:chExt cx="2400" cy="336"/>
          </a:xfrm>
        </p:grpSpPr>
        <p:sp>
          <p:nvSpPr>
            <p:cNvPr id="319524" name="Oval 36"/>
            <p:cNvSpPr>
              <a:spLocks noChangeArrowheads="1"/>
            </p:cNvSpPr>
            <p:nvPr/>
          </p:nvSpPr>
          <p:spPr bwMode="auto">
            <a:xfrm>
              <a:off x="1536" y="2112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25" name="Line 37"/>
            <p:cNvSpPr>
              <a:spLocks noChangeShapeType="1"/>
            </p:cNvSpPr>
            <p:nvPr/>
          </p:nvSpPr>
          <p:spPr bwMode="auto">
            <a:xfrm flipV="1">
              <a:off x="1584" y="187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26" name="Line 38"/>
            <p:cNvSpPr>
              <a:spLocks noChangeShapeType="1"/>
            </p:cNvSpPr>
            <p:nvPr/>
          </p:nvSpPr>
          <p:spPr bwMode="auto">
            <a:xfrm>
              <a:off x="1584" y="1872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9" name="Group 39"/>
          <p:cNvGrpSpPr>
            <a:grpSpLocks/>
          </p:cNvGrpSpPr>
          <p:nvPr/>
        </p:nvGrpSpPr>
        <p:grpSpPr bwMode="auto">
          <a:xfrm>
            <a:off x="2438400" y="3200400"/>
            <a:ext cx="3810000" cy="1219200"/>
            <a:chOff x="1536" y="2016"/>
            <a:chExt cx="2400" cy="768"/>
          </a:xfrm>
        </p:grpSpPr>
        <p:sp>
          <p:nvSpPr>
            <p:cNvPr id="319528" name="Line 40"/>
            <p:cNvSpPr>
              <a:spLocks noChangeShapeType="1"/>
            </p:cNvSpPr>
            <p:nvPr/>
          </p:nvSpPr>
          <p:spPr bwMode="auto">
            <a:xfrm flipV="1">
              <a:off x="1584" y="249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29" name="Oval 41"/>
            <p:cNvSpPr>
              <a:spLocks noChangeArrowheads="1"/>
            </p:cNvSpPr>
            <p:nvPr/>
          </p:nvSpPr>
          <p:spPr bwMode="auto">
            <a:xfrm>
              <a:off x="1536" y="2688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30" name="Line 42"/>
            <p:cNvSpPr>
              <a:spLocks noChangeShapeType="1"/>
            </p:cNvSpPr>
            <p:nvPr/>
          </p:nvSpPr>
          <p:spPr bwMode="auto">
            <a:xfrm>
              <a:off x="1584" y="2496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31" name="Line 43"/>
            <p:cNvSpPr>
              <a:spLocks noChangeShapeType="1"/>
            </p:cNvSpPr>
            <p:nvPr/>
          </p:nvSpPr>
          <p:spPr bwMode="auto">
            <a:xfrm flipV="1">
              <a:off x="2592" y="2016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32" name="Line 44"/>
            <p:cNvSpPr>
              <a:spLocks noChangeShapeType="1"/>
            </p:cNvSpPr>
            <p:nvPr/>
          </p:nvSpPr>
          <p:spPr bwMode="auto">
            <a:xfrm>
              <a:off x="2592" y="201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0" name="Group 45"/>
          <p:cNvGrpSpPr>
            <a:grpSpLocks/>
          </p:cNvGrpSpPr>
          <p:nvPr/>
        </p:nvGrpSpPr>
        <p:grpSpPr bwMode="auto">
          <a:xfrm>
            <a:off x="990600" y="4648200"/>
            <a:ext cx="2819400" cy="1600200"/>
            <a:chOff x="624" y="2928"/>
            <a:chExt cx="1776" cy="1008"/>
          </a:xfrm>
        </p:grpSpPr>
        <p:sp>
          <p:nvSpPr>
            <p:cNvPr id="319534" name="Line 46"/>
            <p:cNvSpPr>
              <a:spLocks noChangeShapeType="1"/>
            </p:cNvSpPr>
            <p:nvPr/>
          </p:nvSpPr>
          <p:spPr bwMode="auto">
            <a:xfrm>
              <a:off x="1008" y="3168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35" name="Text Box 47"/>
            <p:cNvSpPr txBox="1">
              <a:spLocks noChangeArrowheads="1"/>
            </p:cNvSpPr>
            <p:nvPr/>
          </p:nvSpPr>
          <p:spPr bwMode="auto"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D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319536" name="Text Box 48"/>
            <p:cNvSpPr txBox="1">
              <a:spLocks noChangeArrowheads="1"/>
            </p:cNvSpPr>
            <p:nvPr/>
          </p:nvSpPr>
          <p:spPr bwMode="auto">
            <a:xfrm>
              <a:off x="624" y="316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D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319537" name="Line 49"/>
            <p:cNvSpPr>
              <a:spLocks noChangeShapeType="1"/>
            </p:cNvSpPr>
            <p:nvPr/>
          </p:nvSpPr>
          <p:spPr bwMode="auto">
            <a:xfrm>
              <a:off x="1008" y="3360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38" name="Line 50"/>
            <p:cNvSpPr>
              <a:spLocks noChangeShapeType="1"/>
            </p:cNvSpPr>
            <p:nvPr/>
          </p:nvSpPr>
          <p:spPr bwMode="auto">
            <a:xfrm>
              <a:off x="1008" y="3552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39" name="Text Box 51"/>
            <p:cNvSpPr txBox="1">
              <a:spLocks noChangeArrowheads="1"/>
            </p:cNvSpPr>
            <p:nvPr/>
          </p:nvSpPr>
          <p:spPr bwMode="auto">
            <a:xfrm>
              <a:off x="624" y="340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D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319540" name="Text Box 52"/>
            <p:cNvSpPr txBox="1">
              <a:spLocks noChangeArrowheads="1"/>
            </p:cNvSpPr>
            <p:nvPr/>
          </p:nvSpPr>
          <p:spPr bwMode="auto">
            <a:xfrm>
              <a:off x="624" y="364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D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319541" name="Line 53"/>
            <p:cNvSpPr>
              <a:spLocks noChangeShapeType="1"/>
            </p:cNvSpPr>
            <p:nvPr/>
          </p:nvSpPr>
          <p:spPr bwMode="auto">
            <a:xfrm>
              <a:off x="1008" y="3792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1" name="Group 54"/>
          <p:cNvGrpSpPr>
            <a:grpSpLocks/>
          </p:cNvGrpSpPr>
          <p:nvPr/>
        </p:nvGrpSpPr>
        <p:grpSpPr bwMode="auto">
          <a:xfrm>
            <a:off x="3810000" y="3429000"/>
            <a:ext cx="2438400" cy="1600200"/>
            <a:chOff x="2400" y="2160"/>
            <a:chExt cx="1536" cy="1008"/>
          </a:xfrm>
        </p:grpSpPr>
        <p:sp>
          <p:nvSpPr>
            <p:cNvPr id="319543" name="Line 55"/>
            <p:cNvSpPr>
              <a:spLocks noChangeShapeType="1"/>
            </p:cNvSpPr>
            <p:nvPr/>
          </p:nvSpPr>
          <p:spPr bwMode="auto">
            <a:xfrm>
              <a:off x="2400" y="316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44" name="Line 56"/>
            <p:cNvSpPr>
              <a:spLocks noChangeShapeType="1"/>
            </p:cNvSpPr>
            <p:nvPr/>
          </p:nvSpPr>
          <p:spPr bwMode="auto">
            <a:xfrm flipV="1">
              <a:off x="2928" y="2160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45" name="Line 57"/>
            <p:cNvSpPr>
              <a:spLocks noChangeShapeType="1"/>
            </p:cNvSpPr>
            <p:nvPr/>
          </p:nvSpPr>
          <p:spPr bwMode="auto">
            <a:xfrm>
              <a:off x="2928" y="2160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2" name="Group 58"/>
          <p:cNvGrpSpPr>
            <a:grpSpLocks/>
          </p:cNvGrpSpPr>
          <p:nvPr/>
        </p:nvGrpSpPr>
        <p:grpSpPr bwMode="auto">
          <a:xfrm>
            <a:off x="4419600" y="3429000"/>
            <a:ext cx="1828800" cy="304800"/>
            <a:chOff x="2784" y="2160"/>
            <a:chExt cx="1152" cy="192"/>
          </a:xfrm>
        </p:grpSpPr>
        <p:sp>
          <p:nvSpPr>
            <p:cNvPr id="319547" name="Line 59"/>
            <p:cNvSpPr>
              <a:spLocks noChangeShapeType="1"/>
            </p:cNvSpPr>
            <p:nvPr/>
          </p:nvSpPr>
          <p:spPr bwMode="auto">
            <a:xfrm flipV="1">
              <a:off x="2784" y="216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48" name="Line 60"/>
            <p:cNvSpPr>
              <a:spLocks noChangeShapeType="1"/>
            </p:cNvSpPr>
            <p:nvPr/>
          </p:nvSpPr>
          <p:spPr bwMode="auto">
            <a:xfrm>
              <a:off x="2784" y="2352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3" name="Group 61"/>
          <p:cNvGrpSpPr>
            <a:grpSpLocks/>
          </p:cNvGrpSpPr>
          <p:nvPr/>
        </p:nvGrpSpPr>
        <p:grpSpPr bwMode="auto">
          <a:xfrm>
            <a:off x="3810000" y="4191000"/>
            <a:ext cx="2438400" cy="1143000"/>
            <a:chOff x="2400" y="2640"/>
            <a:chExt cx="1536" cy="720"/>
          </a:xfrm>
        </p:grpSpPr>
        <p:sp>
          <p:nvSpPr>
            <p:cNvPr id="319550" name="Line 62"/>
            <p:cNvSpPr>
              <a:spLocks noChangeShapeType="1"/>
            </p:cNvSpPr>
            <p:nvPr/>
          </p:nvSpPr>
          <p:spPr bwMode="auto">
            <a:xfrm>
              <a:off x="2400" y="336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51" name="Line 63"/>
            <p:cNvSpPr>
              <a:spLocks noChangeShapeType="1"/>
            </p:cNvSpPr>
            <p:nvPr/>
          </p:nvSpPr>
          <p:spPr bwMode="auto">
            <a:xfrm flipV="1">
              <a:off x="3120" y="2640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52" name="Line 64"/>
            <p:cNvSpPr>
              <a:spLocks noChangeShapeType="1"/>
            </p:cNvSpPr>
            <p:nvPr/>
          </p:nvSpPr>
          <p:spPr bwMode="auto">
            <a:xfrm>
              <a:off x="3120" y="264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4" name="Group 65"/>
          <p:cNvGrpSpPr>
            <a:grpSpLocks/>
          </p:cNvGrpSpPr>
          <p:nvPr/>
        </p:nvGrpSpPr>
        <p:grpSpPr bwMode="auto">
          <a:xfrm>
            <a:off x="4038600" y="3886200"/>
            <a:ext cx="2209800" cy="152400"/>
            <a:chOff x="2544" y="2448"/>
            <a:chExt cx="1392" cy="96"/>
          </a:xfrm>
        </p:grpSpPr>
        <p:sp>
          <p:nvSpPr>
            <p:cNvPr id="319554" name="Line 66"/>
            <p:cNvSpPr>
              <a:spLocks noChangeShapeType="1"/>
            </p:cNvSpPr>
            <p:nvPr/>
          </p:nvSpPr>
          <p:spPr bwMode="auto">
            <a:xfrm>
              <a:off x="2592" y="24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55" name="Oval 67"/>
            <p:cNvSpPr>
              <a:spLocks noChangeArrowheads="1"/>
            </p:cNvSpPr>
            <p:nvPr/>
          </p:nvSpPr>
          <p:spPr bwMode="auto">
            <a:xfrm>
              <a:off x="2544" y="2448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5" name="Group 68"/>
          <p:cNvGrpSpPr>
            <a:grpSpLocks/>
          </p:cNvGrpSpPr>
          <p:nvPr/>
        </p:nvGrpSpPr>
        <p:grpSpPr bwMode="auto">
          <a:xfrm>
            <a:off x="3733800" y="2895600"/>
            <a:ext cx="2514600" cy="1676400"/>
            <a:chOff x="2352" y="1824"/>
            <a:chExt cx="1584" cy="1056"/>
          </a:xfrm>
        </p:grpSpPr>
        <p:sp>
          <p:nvSpPr>
            <p:cNvPr id="319557" name="Line 69"/>
            <p:cNvSpPr>
              <a:spLocks noChangeShapeType="1"/>
            </p:cNvSpPr>
            <p:nvPr/>
          </p:nvSpPr>
          <p:spPr bwMode="auto">
            <a:xfrm>
              <a:off x="240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58" name="Line 70"/>
            <p:cNvSpPr>
              <a:spLocks noChangeShapeType="1"/>
            </p:cNvSpPr>
            <p:nvPr/>
          </p:nvSpPr>
          <p:spPr bwMode="auto">
            <a:xfrm>
              <a:off x="2400" y="2880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59" name="Oval 71"/>
            <p:cNvSpPr>
              <a:spLocks noChangeArrowheads="1"/>
            </p:cNvSpPr>
            <p:nvPr/>
          </p:nvSpPr>
          <p:spPr bwMode="auto">
            <a:xfrm>
              <a:off x="2352" y="1824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6" name="Group 72"/>
          <p:cNvGrpSpPr>
            <a:grpSpLocks/>
          </p:cNvGrpSpPr>
          <p:nvPr/>
        </p:nvGrpSpPr>
        <p:grpSpPr bwMode="auto">
          <a:xfrm>
            <a:off x="3581400" y="4343400"/>
            <a:ext cx="2667000" cy="457200"/>
            <a:chOff x="2256" y="2736"/>
            <a:chExt cx="1680" cy="288"/>
          </a:xfrm>
        </p:grpSpPr>
        <p:sp>
          <p:nvSpPr>
            <p:cNvPr id="319561" name="Line 73"/>
            <p:cNvSpPr>
              <a:spLocks noChangeShapeType="1"/>
            </p:cNvSpPr>
            <p:nvPr/>
          </p:nvSpPr>
          <p:spPr bwMode="auto">
            <a:xfrm flipH="1">
              <a:off x="2256" y="27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62" name="Line 74"/>
            <p:cNvSpPr>
              <a:spLocks noChangeShapeType="1"/>
            </p:cNvSpPr>
            <p:nvPr/>
          </p:nvSpPr>
          <p:spPr bwMode="auto">
            <a:xfrm>
              <a:off x="2256" y="3024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7" name="Group 75"/>
          <p:cNvGrpSpPr>
            <a:grpSpLocks/>
          </p:cNvGrpSpPr>
          <p:nvPr/>
        </p:nvGrpSpPr>
        <p:grpSpPr bwMode="auto">
          <a:xfrm>
            <a:off x="3733800" y="5029200"/>
            <a:ext cx="2514600" cy="609600"/>
            <a:chOff x="2352" y="3168"/>
            <a:chExt cx="1584" cy="384"/>
          </a:xfrm>
        </p:grpSpPr>
        <p:sp>
          <p:nvSpPr>
            <p:cNvPr id="319564" name="Line 76"/>
            <p:cNvSpPr>
              <a:spLocks noChangeShapeType="1"/>
            </p:cNvSpPr>
            <p:nvPr/>
          </p:nvSpPr>
          <p:spPr bwMode="auto">
            <a:xfrm>
              <a:off x="2352" y="355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65" name="Line 77"/>
            <p:cNvSpPr>
              <a:spLocks noChangeShapeType="1"/>
            </p:cNvSpPr>
            <p:nvPr/>
          </p:nvSpPr>
          <p:spPr bwMode="auto">
            <a:xfrm flipV="1">
              <a:off x="3312" y="316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66" name="Line 78"/>
            <p:cNvSpPr>
              <a:spLocks noChangeShapeType="1"/>
            </p:cNvSpPr>
            <p:nvPr/>
          </p:nvSpPr>
          <p:spPr bwMode="auto">
            <a:xfrm>
              <a:off x="3312" y="3168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8" name="Group 79"/>
          <p:cNvGrpSpPr>
            <a:grpSpLocks/>
          </p:cNvGrpSpPr>
          <p:nvPr/>
        </p:nvGrpSpPr>
        <p:grpSpPr bwMode="auto">
          <a:xfrm>
            <a:off x="5562600" y="3657600"/>
            <a:ext cx="685800" cy="1676400"/>
            <a:chOff x="3504" y="2304"/>
            <a:chExt cx="432" cy="1056"/>
          </a:xfrm>
        </p:grpSpPr>
        <p:sp>
          <p:nvSpPr>
            <p:cNvPr id="319568" name="Line 80"/>
            <p:cNvSpPr>
              <a:spLocks noChangeShapeType="1"/>
            </p:cNvSpPr>
            <p:nvPr/>
          </p:nvSpPr>
          <p:spPr bwMode="auto">
            <a:xfrm flipV="1">
              <a:off x="3552" y="235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69" name="Oval 81"/>
            <p:cNvSpPr>
              <a:spLocks noChangeArrowheads="1"/>
            </p:cNvSpPr>
            <p:nvPr/>
          </p:nvSpPr>
          <p:spPr bwMode="auto">
            <a:xfrm>
              <a:off x="3504" y="2304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70" name="Line 82"/>
            <p:cNvSpPr>
              <a:spLocks noChangeShapeType="1"/>
            </p:cNvSpPr>
            <p:nvPr/>
          </p:nvSpPr>
          <p:spPr bwMode="auto">
            <a:xfrm>
              <a:off x="3552" y="336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9" name="Group 83"/>
          <p:cNvGrpSpPr>
            <a:grpSpLocks/>
          </p:cNvGrpSpPr>
          <p:nvPr/>
        </p:nvGrpSpPr>
        <p:grpSpPr bwMode="auto">
          <a:xfrm>
            <a:off x="5867400" y="4724400"/>
            <a:ext cx="381000" cy="838200"/>
            <a:chOff x="3696" y="2976"/>
            <a:chExt cx="240" cy="528"/>
          </a:xfrm>
        </p:grpSpPr>
        <p:sp>
          <p:nvSpPr>
            <p:cNvPr id="319572" name="Line 84"/>
            <p:cNvSpPr>
              <a:spLocks noChangeShapeType="1"/>
            </p:cNvSpPr>
            <p:nvPr/>
          </p:nvSpPr>
          <p:spPr bwMode="auto">
            <a:xfrm>
              <a:off x="3744" y="302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73" name="Line 85"/>
            <p:cNvSpPr>
              <a:spLocks noChangeShapeType="1"/>
            </p:cNvSpPr>
            <p:nvPr/>
          </p:nvSpPr>
          <p:spPr bwMode="auto">
            <a:xfrm>
              <a:off x="3744" y="350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74" name="Oval 86"/>
            <p:cNvSpPr>
              <a:spLocks noChangeArrowheads="1"/>
            </p:cNvSpPr>
            <p:nvPr/>
          </p:nvSpPr>
          <p:spPr bwMode="auto">
            <a:xfrm>
              <a:off x="3696" y="2976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0" name="Group 87"/>
          <p:cNvGrpSpPr>
            <a:grpSpLocks/>
          </p:cNvGrpSpPr>
          <p:nvPr/>
        </p:nvGrpSpPr>
        <p:grpSpPr bwMode="auto">
          <a:xfrm>
            <a:off x="3810000" y="5791200"/>
            <a:ext cx="2438400" cy="228600"/>
            <a:chOff x="2400" y="3648"/>
            <a:chExt cx="1536" cy="144"/>
          </a:xfrm>
        </p:grpSpPr>
        <p:sp>
          <p:nvSpPr>
            <p:cNvPr id="319576" name="Line 88"/>
            <p:cNvSpPr>
              <a:spLocks noChangeShapeType="1"/>
            </p:cNvSpPr>
            <p:nvPr/>
          </p:nvSpPr>
          <p:spPr bwMode="auto">
            <a:xfrm>
              <a:off x="2400" y="3792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77" name="Line 89"/>
            <p:cNvSpPr>
              <a:spLocks noChangeShapeType="1"/>
            </p:cNvSpPr>
            <p:nvPr/>
          </p:nvSpPr>
          <p:spPr bwMode="auto">
            <a:xfrm flipV="1">
              <a:off x="3456" y="36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78" name="Line 90"/>
            <p:cNvSpPr>
              <a:spLocks noChangeShapeType="1"/>
            </p:cNvSpPr>
            <p:nvPr/>
          </p:nvSpPr>
          <p:spPr bwMode="auto">
            <a:xfrm flipH="1">
              <a:off x="3456" y="364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7936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資料選擇器</a:t>
            </a:r>
            <a:r>
              <a:rPr lang="en-US" altLang="zh-CN" sz="3600" dirty="0"/>
              <a:t>(4)</a:t>
            </a:r>
          </a:p>
        </p:txBody>
      </p:sp>
      <p:sp>
        <p:nvSpPr>
          <p:cNvPr id="1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7DDE-09FE-4D84-AD7F-50317317D3E7}" type="slidenum">
              <a:rPr lang="en-US" altLang="zh-CN">
                <a:latin typeface="+mn-ea"/>
                <a:ea typeface="+mn-ea"/>
              </a:rPr>
              <a:pPr/>
              <a:t>79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320514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499872" y="1318418"/>
            <a:ext cx="8229600" cy="4525963"/>
          </a:xfrm>
        </p:spPr>
        <p:txBody>
          <a:bodyPr/>
          <a:lstStyle/>
          <a:p>
            <a:r>
              <a:rPr lang="en-US" altLang="zh-CN" b="1" dirty="0">
                <a:latin typeface="+mn-ea"/>
              </a:rPr>
              <a:t>4</a:t>
            </a:r>
            <a:r>
              <a:rPr lang="zh-CN" altLang="en-US" b="1" dirty="0">
                <a:latin typeface="+mn-ea"/>
              </a:rPr>
              <a:t>選</a:t>
            </a:r>
            <a:r>
              <a:rPr lang="en-US" altLang="zh-CN" b="1" dirty="0">
                <a:latin typeface="+mn-ea"/>
              </a:rPr>
              <a:t>1</a:t>
            </a:r>
            <a:r>
              <a:rPr lang="zh-CN" altLang="en-US" b="1" dirty="0">
                <a:latin typeface="+mn-ea"/>
              </a:rPr>
              <a:t>資料選擇器邏輯圖</a:t>
            </a:r>
          </a:p>
          <a:p>
            <a:pPr lvl="1"/>
            <a:r>
              <a:rPr lang="zh-CN" altLang="en-US" b="1" dirty="0">
                <a:latin typeface="+mn-ea"/>
              </a:rPr>
              <a:t>如果設計使能端，需要加在什麼地方？</a:t>
            </a:r>
            <a:endParaRPr lang="zh-CN" altLang="en-US" dirty="0">
              <a:latin typeface="+mn-ea"/>
            </a:endParaRPr>
          </a:p>
          <a:p>
            <a:endParaRPr lang="en-US" altLang="zh-CN" dirty="0">
              <a:latin typeface="+mn-ea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14400" y="2514600"/>
            <a:ext cx="7646988" cy="3429000"/>
            <a:chOff x="576" y="1584"/>
            <a:chExt cx="4817" cy="2160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576" y="1776"/>
              <a:ext cx="2208" cy="960"/>
              <a:chOff x="576" y="1968"/>
              <a:chExt cx="2208" cy="960"/>
            </a:xfrm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1824" y="1968"/>
                <a:ext cx="336" cy="384"/>
                <a:chOff x="1968" y="2112"/>
                <a:chExt cx="336" cy="384"/>
              </a:xfrm>
            </p:grpSpPr>
            <p:sp>
              <p:nvSpPr>
                <p:cNvPr id="320519" name="Rectangle 7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20520" name="Oval 8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5" name="Group 9"/>
              <p:cNvGrpSpPr>
                <a:grpSpLocks/>
              </p:cNvGrpSpPr>
              <p:nvPr/>
            </p:nvGrpSpPr>
            <p:grpSpPr bwMode="auto">
              <a:xfrm>
                <a:off x="1824" y="2544"/>
                <a:ext cx="336" cy="384"/>
                <a:chOff x="1968" y="2112"/>
                <a:chExt cx="336" cy="384"/>
              </a:xfrm>
            </p:grpSpPr>
            <p:sp>
              <p:nvSpPr>
                <p:cNvPr id="320522" name="Rectangle 10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20523" name="Oval 11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6" name="Group 12"/>
              <p:cNvGrpSpPr>
                <a:grpSpLocks/>
              </p:cNvGrpSpPr>
              <p:nvPr/>
            </p:nvGrpSpPr>
            <p:grpSpPr bwMode="auto">
              <a:xfrm>
                <a:off x="1056" y="1968"/>
                <a:ext cx="336" cy="384"/>
                <a:chOff x="1968" y="2112"/>
                <a:chExt cx="336" cy="384"/>
              </a:xfrm>
            </p:grpSpPr>
            <p:sp>
              <p:nvSpPr>
                <p:cNvPr id="320525" name="Rectangle 13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20526" name="Oval 14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7" name="Group 15"/>
              <p:cNvGrpSpPr>
                <a:grpSpLocks/>
              </p:cNvGrpSpPr>
              <p:nvPr/>
            </p:nvGrpSpPr>
            <p:grpSpPr bwMode="auto">
              <a:xfrm>
                <a:off x="1056" y="2544"/>
                <a:ext cx="336" cy="384"/>
                <a:chOff x="1968" y="2112"/>
                <a:chExt cx="336" cy="384"/>
              </a:xfrm>
            </p:grpSpPr>
            <p:sp>
              <p:nvSpPr>
                <p:cNvPr id="320528" name="Rectangle 16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20529" name="Oval 17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20530" name="Line 18"/>
              <p:cNvSpPr>
                <a:spLocks noChangeShapeType="1"/>
              </p:cNvSpPr>
              <p:nvPr/>
            </p:nvSpPr>
            <p:spPr bwMode="auto">
              <a:xfrm flipH="1">
                <a:off x="768" y="216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31" name="Line 19"/>
              <p:cNvSpPr>
                <a:spLocks noChangeShapeType="1"/>
              </p:cNvSpPr>
              <p:nvPr/>
            </p:nvSpPr>
            <p:spPr bwMode="auto">
              <a:xfrm flipH="1">
                <a:off x="768" y="273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32" name="Line 20"/>
              <p:cNvSpPr>
                <a:spLocks noChangeShapeType="1"/>
              </p:cNvSpPr>
              <p:nvPr/>
            </p:nvSpPr>
            <p:spPr bwMode="auto">
              <a:xfrm flipH="1">
                <a:off x="1392" y="216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33" name="Line 21"/>
              <p:cNvSpPr>
                <a:spLocks noChangeShapeType="1"/>
              </p:cNvSpPr>
              <p:nvPr/>
            </p:nvSpPr>
            <p:spPr bwMode="auto">
              <a:xfrm flipH="1">
                <a:off x="1392" y="2736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34" name="Text Box 22"/>
              <p:cNvSpPr txBox="1"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+mn-ea"/>
                    <a:ea typeface="+mn-ea"/>
                  </a:rPr>
                  <a:t>S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0</a:t>
                </a:r>
              </a:p>
            </p:txBody>
          </p:sp>
          <p:sp>
            <p:nvSpPr>
              <p:cNvPr id="320535" name="Text Box 23"/>
              <p:cNvSpPr txBox="1"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+mn-ea"/>
                    <a:ea typeface="+mn-ea"/>
                  </a:rPr>
                  <a:t>S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1</a:t>
                </a:r>
              </a:p>
            </p:txBody>
          </p:sp>
          <p:sp>
            <p:nvSpPr>
              <p:cNvPr id="320536" name="Line 24"/>
              <p:cNvSpPr>
                <a:spLocks noChangeShapeType="1"/>
              </p:cNvSpPr>
              <p:nvPr/>
            </p:nvSpPr>
            <p:spPr bwMode="auto">
              <a:xfrm flipH="1">
                <a:off x="2160" y="216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37" name="Line 25"/>
              <p:cNvSpPr>
                <a:spLocks noChangeShapeType="1"/>
              </p:cNvSpPr>
              <p:nvPr/>
            </p:nvSpPr>
            <p:spPr bwMode="auto">
              <a:xfrm flipH="1">
                <a:off x="2160" y="273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8" name="Group 26"/>
            <p:cNvGrpSpPr>
              <a:grpSpLocks/>
            </p:cNvGrpSpPr>
            <p:nvPr/>
          </p:nvGrpSpPr>
          <p:grpSpPr bwMode="auto">
            <a:xfrm>
              <a:off x="4224" y="1584"/>
              <a:ext cx="1169" cy="1920"/>
              <a:chOff x="3936" y="1776"/>
              <a:chExt cx="1169" cy="1920"/>
            </a:xfrm>
          </p:grpSpPr>
          <p:sp>
            <p:nvSpPr>
              <p:cNvPr id="320539" name="Rectangle 27"/>
              <p:cNvSpPr>
                <a:spLocks noChangeArrowheads="1"/>
              </p:cNvSpPr>
              <p:nvPr/>
            </p:nvSpPr>
            <p:spPr bwMode="auto">
              <a:xfrm>
                <a:off x="4224" y="1776"/>
                <a:ext cx="288" cy="19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40" name="Text Box 28"/>
              <p:cNvSpPr txBox="1">
                <a:spLocks noChangeArrowheads="1"/>
              </p:cNvSpPr>
              <p:nvPr/>
            </p:nvSpPr>
            <p:spPr bwMode="auto">
              <a:xfrm>
                <a:off x="4224" y="2630"/>
                <a:ext cx="28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dirty="0">
                    <a:latin typeface="+mn-ea"/>
                    <a:ea typeface="+mn-ea"/>
                  </a:rPr>
                  <a:t>＋</a:t>
                </a:r>
              </a:p>
            </p:txBody>
          </p:sp>
          <p:sp>
            <p:nvSpPr>
              <p:cNvPr id="320541" name="Rectangle 29"/>
              <p:cNvSpPr>
                <a:spLocks noChangeArrowheads="1"/>
              </p:cNvSpPr>
              <p:nvPr/>
            </p:nvSpPr>
            <p:spPr bwMode="auto">
              <a:xfrm>
                <a:off x="3936" y="1776"/>
                <a:ext cx="288" cy="4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42" name="Line 30"/>
              <p:cNvSpPr>
                <a:spLocks noChangeShapeType="1"/>
              </p:cNvSpPr>
              <p:nvPr/>
            </p:nvSpPr>
            <p:spPr bwMode="auto">
              <a:xfrm>
                <a:off x="4512" y="273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43" name="Rectangle 31"/>
              <p:cNvSpPr>
                <a:spLocks noChangeArrowheads="1"/>
              </p:cNvSpPr>
              <p:nvPr/>
            </p:nvSpPr>
            <p:spPr bwMode="auto">
              <a:xfrm>
                <a:off x="4881" y="2592"/>
                <a:ext cx="22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+mn-ea"/>
                    <a:ea typeface="+mn-ea"/>
                  </a:rPr>
                  <a:t>Y</a:t>
                </a:r>
                <a:endParaRPr lang="en-US" altLang="zh-CN" sz="2400" b="1" baseline="-25000" dirty="0">
                  <a:latin typeface="+mn-ea"/>
                  <a:ea typeface="+mn-ea"/>
                </a:endParaRPr>
              </a:p>
            </p:txBody>
          </p:sp>
          <p:sp>
            <p:nvSpPr>
              <p:cNvPr id="320544" name="Rectangle 32"/>
              <p:cNvSpPr>
                <a:spLocks noChangeArrowheads="1"/>
              </p:cNvSpPr>
              <p:nvPr/>
            </p:nvSpPr>
            <p:spPr bwMode="auto">
              <a:xfrm>
                <a:off x="3936" y="2256"/>
                <a:ext cx="288" cy="4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45" name="Rectangle 33"/>
              <p:cNvSpPr>
                <a:spLocks noChangeArrowheads="1"/>
              </p:cNvSpPr>
              <p:nvPr/>
            </p:nvSpPr>
            <p:spPr bwMode="auto">
              <a:xfrm>
                <a:off x="3936" y="2736"/>
                <a:ext cx="288" cy="4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46" name="Rectangle 34"/>
              <p:cNvSpPr>
                <a:spLocks noChangeArrowheads="1"/>
              </p:cNvSpPr>
              <p:nvPr/>
            </p:nvSpPr>
            <p:spPr bwMode="auto">
              <a:xfrm>
                <a:off x="3936" y="3216"/>
                <a:ext cx="288" cy="4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9" name="Group 35"/>
            <p:cNvGrpSpPr>
              <a:grpSpLocks/>
            </p:cNvGrpSpPr>
            <p:nvPr/>
          </p:nvGrpSpPr>
          <p:grpSpPr bwMode="auto">
            <a:xfrm>
              <a:off x="1544" y="1680"/>
              <a:ext cx="2680" cy="336"/>
              <a:chOff x="1543" y="1872"/>
              <a:chExt cx="2393" cy="336"/>
            </a:xfrm>
          </p:grpSpPr>
          <p:sp>
            <p:nvSpPr>
              <p:cNvPr id="320549" name="Line 37"/>
              <p:cNvSpPr>
                <a:spLocks noChangeShapeType="1"/>
              </p:cNvSpPr>
              <p:nvPr/>
            </p:nvSpPr>
            <p:spPr bwMode="auto">
              <a:xfrm flipV="1">
                <a:off x="1584" y="1872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50" name="Line 38"/>
              <p:cNvSpPr>
                <a:spLocks noChangeShapeType="1"/>
              </p:cNvSpPr>
              <p:nvPr/>
            </p:nvSpPr>
            <p:spPr bwMode="auto">
              <a:xfrm>
                <a:off x="1584" y="1872"/>
                <a:ext cx="23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48" name="Oval 36"/>
              <p:cNvSpPr>
                <a:spLocks noChangeArrowheads="1"/>
              </p:cNvSpPr>
              <p:nvPr/>
            </p:nvSpPr>
            <p:spPr bwMode="auto">
              <a:xfrm>
                <a:off x="1543" y="2112"/>
                <a:ext cx="80" cy="9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320551" name="Line 39"/>
            <p:cNvSpPr>
              <a:spLocks noChangeShapeType="1"/>
            </p:cNvSpPr>
            <p:nvPr/>
          </p:nvSpPr>
          <p:spPr bwMode="auto">
            <a:xfrm flipV="1">
              <a:off x="1511" y="23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552" name="Oval 40"/>
            <p:cNvSpPr>
              <a:spLocks noChangeArrowheads="1"/>
            </p:cNvSpPr>
            <p:nvPr/>
          </p:nvSpPr>
          <p:spPr bwMode="auto">
            <a:xfrm>
              <a:off x="1463" y="2496"/>
              <a:ext cx="94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553" name="Line 41"/>
            <p:cNvSpPr>
              <a:spLocks noChangeShapeType="1"/>
            </p:cNvSpPr>
            <p:nvPr/>
          </p:nvSpPr>
          <p:spPr bwMode="auto">
            <a:xfrm>
              <a:off x="1511" y="2304"/>
              <a:ext cx="11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554" name="Line 42"/>
            <p:cNvSpPr>
              <a:spLocks noChangeShapeType="1"/>
            </p:cNvSpPr>
            <p:nvPr/>
          </p:nvSpPr>
          <p:spPr bwMode="auto">
            <a:xfrm flipV="1">
              <a:off x="2592" y="182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555" name="Line 43"/>
            <p:cNvSpPr>
              <a:spLocks noChangeShapeType="1"/>
            </p:cNvSpPr>
            <p:nvPr/>
          </p:nvSpPr>
          <p:spPr bwMode="auto">
            <a:xfrm>
              <a:off x="2592" y="1824"/>
              <a:ext cx="1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10" name="Group 44"/>
            <p:cNvGrpSpPr>
              <a:grpSpLocks/>
            </p:cNvGrpSpPr>
            <p:nvPr/>
          </p:nvGrpSpPr>
          <p:grpSpPr bwMode="auto">
            <a:xfrm>
              <a:off x="624" y="2736"/>
              <a:ext cx="1776" cy="1008"/>
              <a:chOff x="624" y="2928"/>
              <a:chExt cx="1776" cy="1008"/>
            </a:xfrm>
          </p:grpSpPr>
          <p:sp>
            <p:nvSpPr>
              <p:cNvPr id="320557" name="Line 45"/>
              <p:cNvSpPr>
                <a:spLocks noChangeShapeType="1"/>
              </p:cNvSpPr>
              <p:nvPr/>
            </p:nvSpPr>
            <p:spPr bwMode="auto">
              <a:xfrm>
                <a:off x="1008" y="3168"/>
                <a:ext cx="1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58" name="Text Box 46"/>
              <p:cNvSpPr txBox="1">
                <a:spLocks noChangeArrowheads="1"/>
              </p:cNvSpPr>
              <p:nvPr/>
            </p:nvSpPr>
            <p:spPr bwMode="auto">
              <a:xfrm>
                <a:off x="624" y="292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+mn-ea"/>
                    <a:ea typeface="+mn-ea"/>
                  </a:rPr>
                  <a:t>D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0</a:t>
                </a:r>
              </a:p>
            </p:txBody>
          </p:sp>
          <p:sp>
            <p:nvSpPr>
              <p:cNvPr id="320559" name="Text Box 47"/>
              <p:cNvSpPr txBox="1">
                <a:spLocks noChangeArrowheads="1"/>
              </p:cNvSpPr>
              <p:nvPr/>
            </p:nvSpPr>
            <p:spPr bwMode="auto">
              <a:xfrm>
                <a:off x="624" y="316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+mn-ea"/>
                    <a:ea typeface="+mn-ea"/>
                  </a:rPr>
                  <a:t>D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1</a:t>
                </a:r>
              </a:p>
            </p:txBody>
          </p:sp>
          <p:sp>
            <p:nvSpPr>
              <p:cNvPr id="320560" name="Line 48"/>
              <p:cNvSpPr>
                <a:spLocks noChangeShapeType="1"/>
              </p:cNvSpPr>
              <p:nvPr/>
            </p:nvSpPr>
            <p:spPr bwMode="auto">
              <a:xfrm>
                <a:off x="1008" y="3360"/>
                <a:ext cx="1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61" name="Line 49"/>
              <p:cNvSpPr>
                <a:spLocks noChangeShapeType="1"/>
              </p:cNvSpPr>
              <p:nvPr/>
            </p:nvSpPr>
            <p:spPr bwMode="auto">
              <a:xfrm>
                <a:off x="1008" y="3552"/>
                <a:ext cx="1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62" name="Text Box 50"/>
              <p:cNvSpPr txBox="1">
                <a:spLocks noChangeArrowheads="1"/>
              </p:cNvSpPr>
              <p:nvPr/>
            </p:nvSpPr>
            <p:spPr bwMode="auto">
              <a:xfrm>
                <a:off x="624" y="340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+mn-ea"/>
                    <a:ea typeface="+mn-ea"/>
                  </a:rPr>
                  <a:t>D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2</a:t>
                </a:r>
              </a:p>
            </p:txBody>
          </p:sp>
          <p:sp>
            <p:nvSpPr>
              <p:cNvPr id="320563" name="Text Box 51"/>
              <p:cNvSpPr txBox="1">
                <a:spLocks noChangeArrowheads="1"/>
              </p:cNvSpPr>
              <p:nvPr/>
            </p:nvSpPr>
            <p:spPr bwMode="auto">
              <a:xfrm>
                <a:off x="624" y="364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+mn-ea"/>
                    <a:ea typeface="+mn-ea"/>
                  </a:rPr>
                  <a:t>D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3</a:t>
                </a:r>
              </a:p>
            </p:txBody>
          </p:sp>
          <p:sp>
            <p:nvSpPr>
              <p:cNvPr id="320564" name="Line 52"/>
              <p:cNvSpPr>
                <a:spLocks noChangeShapeType="1"/>
              </p:cNvSpPr>
              <p:nvPr/>
            </p:nvSpPr>
            <p:spPr bwMode="auto">
              <a:xfrm>
                <a:off x="1008" y="3792"/>
                <a:ext cx="1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1" name="Group 53"/>
            <p:cNvGrpSpPr>
              <a:grpSpLocks/>
            </p:cNvGrpSpPr>
            <p:nvPr/>
          </p:nvGrpSpPr>
          <p:grpSpPr bwMode="auto">
            <a:xfrm>
              <a:off x="2400" y="1968"/>
              <a:ext cx="1824" cy="1008"/>
              <a:chOff x="2400" y="2160"/>
              <a:chExt cx="1536" cy="1008"/>
            </a:xfrm>
          </p:grpSpPr>
          <p:sp>
            <p:nvSpPr>
              <p:cNvPr id="320566" name="Line 54"/>
              <p:cNvSpPr>
                <a:spLocks noChangeShapeType="1"/>
              </p:cNvSpPr>
              <p:nvPr/>
            </p:nvSpPr>
            <p:spPr bwMode="auto">
              <a:xfrm>
                <a:off x="2400" y="3168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67" name="Line 55"/>
              <p:cNvSpPr>
                <a:spLocks noChangeShapeType="1"/>
              </p:cNvSpPr>
              <p:nvPr/>
            </p:nvSpPr>
            <p:spPr bwMode="auto">
              <a:xfrm flipV="1">
                <a:off x="2928" y="2160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68" name="Line 56"/>
              <p:cNvSpPr>
                <a:spLocks noChangeShapeType="1"/>
              </p:cNvSpPr>
              <p:nvPr/>
            </p:nvSpPr>
            <p:spPr bwMode="auto">
              <a:xfrm>
                <a:off x="2928" y="2160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2" name="Group 57"/>
            <p:cNvGrpSpPr>
              <a:grpSpLocks/>
            </p:cNvGrpSpPr>
            <p:nvPr/>
          </p:nvGrpSpPr>
          <p:grpSpPr bwMode="auto">
            <a:xfrm>
              <a:off x="2784" y="1968"/>
              <a:ext cx="1440" cy="192"/>
              <a:chOff x="2784" y="2160"/>
              <a:chExt cx="1152" cy="192"/>
            </a:xfrm>
          </p:grpSpPr>
          <p:sp>
            <p:nvSpPr>
              <p:cNvPr id="320570" name="Line 58"/>
              <p:cNvSpPr>
                <a:spLocks noChangeShapeType="1"/>
              </p:cNvSpPr>
              <p:nvPr/>
            </p:nvSpPr>
            <p:spPr bwMode="auto">
              <a:xfrm flipV="1">
                <a:off x="2784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71" name="Line 59"/>
              <p:cNvSpPr>
                <a:spLocks noChangeShapeType="1"/>
              </p:cNvSpPr>
              <p:nvPr/>
            </p:nvSpPr>
            <p:spPr bwMode="auto">
              <a:xfrm>
                <a:off x="2784" y="2352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3" name="Group 60"/>
            <p:cNvGrpSpPr>
              <a:grpSpLocks/>
            </p:cNvGrpSpPr>
            <p:nvPr/>
          </p:nvGrpSpPr>
          <p:grpSpPr bwMode="auto">
            <a:xfrm>
              <a:off x="2400" y="2448"/>
              <a:ext cx="1824" cy="720"/>
              <a:chOff x="2400" y="2640"/>
              <a:chExt cx="1536" cy="720"/>
            </a:xfrm>
          </p:grpSpPr>
          <p:sp>
            <p:nvSpPr>
              <p:cNvPr id="320573" name="Line 61"/>
              <p:cNvSpPr>
                <a:spLocks noChangeShapeType="1"/>
              </p:cNvSpPr>
              <p:nvPr/>
            </p:nvSpPr>
            <p:spPr bwMode="auto">
              <a:xfrm>
                <a:off x="2400" y="3360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74" name="Line 62"/>
              <p:cNvSpPr>
                <a:spLocks noChangeShapeType="1"/>
              </p:cNvSpPr>
              <p:nvPr/>
            </p:nvSpPr>
            <p:spPr bwMode="auto">
              <a:xfrm flipV="1">
                <a:off x="3120" y="2640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75" name="Line 63"/>
              <p:cNvSpPr>
                <a:spLocks noChangeShapeType="1"/>
              </p:cNvSpPr>
              <p:nvPr/>
            </p:nvSpPr>
            <p:spPr bwMode="auto">
              <a:xfrm>
                <a:off x="3120" y="2640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4" name="Group 64"/>
            <p:cNvGrpSpPr>
              <a:grpSpLocks/>
            </p:cNvGrpSpPr>
            <p:nvPr/>
          </p:nvGrpSpPr>
          <p:grpSpPr bwMode="auto">
            <a:xfrm>
              <a:off x="2544" y="2256"/>
              <a:ext cx="1680" cy="96"/>
              <a:chOff x="2544" y="2448"/>
              <a:chExt cx="1392" cy="96"/>
            </a:xfrm>
          </p:grpSpPr>
          <p:sp>
            <p:nvSpPr>
              <p:cNvPr id="320577" name="Line 65"/>
              <p:cNvSpPr>
                <a:spLocks noChangeShapeType="1"/>
              </p:cNvSpPr>
              <p:nvPr/>
            </p:nvSpPr>
            <p:spPr bwMode="auto">
              <a:xfrm>
                <a:off x="2592" y="2496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78" name="Oval 66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81" cy="9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5" name="Group 67"/>
            <p:cNvGrpSpPr>
              <a:grpSpLocks/>
            </p:cNvGrpSpPr>
            <p:nvPr/>
          </p:nvGrpSpPr>
          <p:grpSpPr bwMode="auto">
            <a:xfrm>
              <a:off x="2365" y="1632"/>
              <a:ext cx="1859" cy="1056"/>
              <a:chOff x="2363" y="1824"/>
              <a:chExt cx="1573" cy="1056"/>
            </a:xfrm>
          </p:grpSpPr>
          <p:sp>
            <p:nvSpPr>
              <p:cNvPr id="320580" name="Line 68"/>
              <p:cNvSpPr>
                <a:spLocks noChangeShapeType="1"/>
              </p:cNvSpPr>
              <p:nvPr/>
            </p:nvSpPr>
            <p:spPr bwMode="auto">
              <a:xfrm>
                <a:off x="2400" y="1872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81" name="Line 69"/>
              <p:cNvSpPr>
                <a:spLocks noChangeShapeType="1"/>
              </p:cNvSpPr>
              <p:nvPr/>
            </p:nvSpPr>
            <p:spPr bwMode="auto">
              <a:xfrm>
                <a:off x="2400" y="2880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82" name="Oval 70"/>
              <p:cNvSpPr>
                <a:spLocks noChangeArrowheads="1"/>
              </p:cNvSpPr>
              <p:nvPr/>
            </p:nvSpPr>
            <p:spPr bwMode="auto">
              <a:xfrm>
                <a:off x="2363" y="1824"/>
                <a:ext cx="75" cy="9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6" name="Group 71"/>
            <p:cNvGrpSpPr>
              <a:grpSpLocks/>
            </p:cNvGrpSpPr>
            <p:nvPr/>
          </p:nvGrpSpPr>
          <p:grpSpPr bwMode="auto">
            <a:xfrm>
              <a:off x="2256" y="2544"/>
              <a:ext cx="1968" cy="288"/>
              <a:chOff x="2256" y="2736"/>
              <a:chExt cx="1680" cy="288"/>
            </a:xfrm>
          </p:grpSpPr>
          <p:sp>
            <p:nvSpPr>
              <p:cNvPr id="320584" name="Line 72"/>
              <p:cNvSpPr>
                <a:spLocks noChangeShapeType="1"/>
              </p:cNvSpPr>
              <p:nvPr/>
            </p:nvSpPr>
            <p:spPr bwMode="auto">
              <a:xfrm flipH="1">
                <a:off x="2256" y="273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85" name="Line 73"/>
              <p:cNvSpPr>
                <a:spLocks noChangeShapeType="1"/>
              </p:cNvSpPr>
              <p:nvPr/>
            </p:nvSpPr>
            <p:spPr bwMode="auto">
              <a:xfrm>
                <a:off x="2256" y="3024"/>
                <a:ext cx="1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7" name="Group 74"/>
            <p:cNvGrpSpPr>
              <a:grpSpLocks/>
            </p:cNvGrpSpPr>
            <p:nvPr/>
          </p:nvGrpSpPr>
          <p:grpSpPr bwMode="auto">
            <a:xfrm>
              <a:off x="2352" y="2976"/>
              <a:ext cx="1872" cy="384"/>
              <a:chOff x="2352" y="3168"/>
              <a:chExt cx="1584" cy="384"/>
            </a:xfrm>
          </p:grpSpPr>
          <p:sp>
            <p:nvSpPr>
              <p:cNvPr id="320587" name="Line 75"/>
              <p:cNvSpPr>
                <a:spLocks noChangeShapeType="1"/>
              </p:cNvSpPr>
              <p:nvPr/>
            </p:nvSpPr>
            <p:spPr bwMode="auto">
              <a:xfrm>
                <a:off x="2352" y="355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88" name="Line 76"/>
              <p:cNvSpPr>
                <a:spLocks noChangeShapeType="1"/>
              </p:cNvSpPr>
              <p:nvPr/>
            </p:nvSpPr>
            <p:spPr bwMode="auto">
              <a:xfrm flipV="1">
                <a:off x="3312" y="316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89" name="Line 77"/>
              <p:cNvSpPr>
                <a:spLocks noChangeShapeType="1"/>
              </p:cNvSpPr>
              <p:nvPr/>
            </p:nvSpPr>
            <p:spPr bwMode="auto">
              <a:xfrm>
                <a:off x="3312" y="316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8" name="Group 78"/>
            <p:cNvGrpSpPr>
              <a:grpSpLocks/>
            </p:cNvGrpSpPr>
            <p:nvPr/>
          </p:nvGrpSpPr>
          <p:grpSpPr bwMode="auto">
            <a:xfrm>
              <a:off x="3620" y="2112"/>
              <a:ext cx="607" cy="1056"/>
              <a:chOff x="3516" y="2304"/>
              <a:chExt cx="420" cy="1056"/>
            </a:xfrm>
          </p:grpSpPr>
          <p:sp>
            <p:nvSpPr>
              <p:cNvPr id="320591" name="Line 79"/>
              <p:cNvSpPr>
                <a:spLocks noChangeShapeType="1"/>
              </p:cNvSpPr>
              <p:nvPr/>
            </p:nvSpPr>
            <p:spPr bwMode="auto">
              <a:xfrm flipV="1">
                <a:off x="3552" y="2352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92" name="Oval 80"/>
              <p:cNvSpPr>
                <a:spLocks noChangeArrowheads="1"/>
              </p:cNvSpPr>
              <p:nvPr/>
            </p:nvSpPr>
            <p:spPr bwMode="auto">
              <a:xfrm>
                <a:off x="3516" y="2304"/>
                <a:ext cx="67" cy="9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93" name="Line 81"/>
              <p:cNvSpPr>
                <a:spLocks noChangeShapeType="1"/>
              </p:cNvSpPr>
              <p:nvPr/>
            </p:nvSpPr>
            <p:spPr bwMode="auto">
              <a:xfrm>
                <a:off x="3552" y="3360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320594" name="Line 82"/>
            <p:cNvSpPr>
              <a:spLocks noChangeShapeType="1"/>
            </p:cNvSpPr>
            <p:nvPr/>
          </p:nvSpPr>
          <p:spPr bwMode="auto">
            <a:xfrm>
              <a:off x="3744" y="283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595" name="Line 83"/>
            <p:cNvSpPr>
              <a:spLocks noChangeShapeType="1"/>
            </p:cNvSpPr>
            <p:nvPr/>
          </p:nvSpPr>
          <p:spPr bwMode="auto">
            <a:xfrm>
              <a:off x="3744" y="331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596" name="Oval 84"/>
            <p:cNvSpPr>
              <a:spLocks noChangeArrowheads="1"/>
            </p:cNvSpPr>
            <p:nvPr/>
          </p:nvSpPr>
          <p:spPr bwMode="auto">
            <a:xfrm>
              <a:off x="3696" y="2784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19" name="Group 85"/>
            <p:cNvGrpSpPr>
              <a:grpSpLocks/>
            </p:cNvGrpSpPr>
            <p:nvPr/>
          </p:nvGrpSpPr>
          <p:grpSpPr bwMode="auto">
            <a:xfrm>
              <a:off x="2400" y="3456"/>
              <a:ext cx="1824" cy="144"/>
              <a:chOff x="2400" y="3648"/>
              <a:chExt cx="1536" cy="144"/>
            </a:xfrm>
          </p:grpSpPr>
          <p:sp>
            <p:nvSpPr>
              <p:cNvPr id="320598" name="Line 86"/>
              <p:cNvSpPr>
                <a:spLocks noChangeShapeType="1"/>
              </p:cNvSpPr>
              <p:nvPr/>
            </p:nvSpPr>
            <p:spPr bwMode="auto">
              <a:xfrm>
                <a:off x="2400" y="3792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99" name="Line 87"/>
              <p:cNvSpPr>
                <a:spLocks noChangeShapeType="1"/>
              </p:cNvSpPr>
              <p:nvPr/>
            </p:nvSpPr>
            <p:spPr bwMode="auto">
              <a:xfrm flipV="1">
                <a:off x="3456" y="36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600" name="Line 88"/>
              <p:cNvSpPr>
                <a:spLocks noChangeShapeType="1"/>
              </p:cNvSpPr>
              <p:nvPr/>
            </p:nvSpPr>
            <p:spPr bwMode="auto">
              <a:xfrm flipH="1">
                <a:off x="3456" y="3648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0" name="Group 89"/>
          <p:cNvGrpSpPr>
            <a:grpSpLocks/>
          </p:cNvGrpSpPr>
          <p:nvPr/>
        </p:nvGrpSpPr>
        <p:grpSpPr bwMode="auto">
          <a:xfrm>
            <a:off x="1095375" y="2514600"/>
            <a:ext cx="5610225" cy="3937000"/>
            <a:chOff x="690" y="1584"/>
            <a:chExt cx="3534" cy="2480"/>
          </a:xfrm>
        </p:grpSpPr>
        <p:graphicFrame>
          <p:nvGraphicFramePr>
            <p:cNvPr id="320602" name="Object 9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9537853"/>
                </p:ext>
              </p:extLst>
            </p:nvPr>
          </p:nvGraphicFramePr>
          <p:xfrm>
            <a:off x="690" y="3858"/>
            <a:ext cx="145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2280" imgH="215640" progId="Equation.3">
                    <p:embed/>
                  </p:oleObj>
                </mc:Choice>
                <mc:Fallback>
                  <p:oleObj name="Equation" r:id="rId2" imgW="152280" imgH="215640" progId="Equation.3">
                    <p:embed/>
                    <p:pic>
                      <p:nvPicPr>
                        <p:cNvPr id="320602" name="Object 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0" y="3858"/>
                          <a:ext cx="145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0603" name="Line 91"/>
            <p:cNvSpPr>
              <a:spLocks noChangeShapeType="1"/>
            </p:cNvSpPr>
            <p:nvPr/>
          </p:nvSpPr>
          <p:spPr bwMode="auto">
            <a:xfrm>
              <a:off x="1644" y="3984"/>
              <a:ext cx="23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604" name="Line 92"/>
            <p:cNvSpPr>
              <a:spLocks noChangeShapeType="1"/>
            </p:cNvSpPr>
            <p:nvPr/>
          </p:nvSpPr>
          <p:spPr bwMode="auto">
            <a:xfrm flipH="1" flipV="1">
              <a:off x="3984" y="1584"/>
              <a:ext cx="0" cy="240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605" name="Line 93"/>
            <p:cNvSpPr>
              <a:spLocks noChangeShapeType="1"/>
            </p:cNvSpPr>
            <p:nvPr/>
          </p:nvSpPr>
          <p:spPr bwMode="auto">
            <a:xfrm flipH="1">
              <a:off x="3984" y="1584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606" name="Line 94"/>
            <p:cNvSpPr>
              <a:spLocks noChangeShapeType="1"/>
            </p:cNvSpPr>
            <p:nvPr/>
          </p:nvSpPr>
          <p:spPr bwMode="auto">
            <a:xfrm>
              <a:off x="3984" y="2069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607" name="Oval 95"/>
            <p:cNvSpPr>
              <a:spLocks noChangeArrowheads="1"/>
            </p:cNvSpPr>
            <p:nvPr/>
          </p:nvSpPr>
          <p:spPr bwMode="auto">
            <a:xfrm>
              <a:off x="3937" y="2021"/>
              <a:ext cx="91" cy="96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solidFill>
                  <a:schemeClr val="accent2"/>
                </a:solidFill>
                <a:latin typeface="+mn-ea"/>
                <a:ea typeface="+mn-ea"/>
              </a:endParaRPr>
            </a:p>
          </p:txBody>
        </p:sp>
        <p:sp>
          <p:nvSpPr>
            <p:cNvPr id="320608" name="Line 96"/>
            <p:cNvSpPr>
              <a:spLocks noChangeShapeType="1"/>
            </p:cNvSpPr>
            <p:nvPr/>
          </p:nvSpPr>
          <p:spPr bwMode="auto">
            <a:xfrm>
              <a:off x="3984" y="2592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609" name="Oval 97"/>
            <p:cNvSpPr>
              <a:spLocks noChangeArrowheads="1"/>
            </p:cNvSpPr>
            <p:nvPr/>
          </p:nvSpPr>
          <p:spPr bwMode="auto">
            <a:xfrm>
              <a:off x="3942" y="2543"/>
              <a:ext cx="90" cy="96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610" name="Line 98"/>
            <p:cNvSpPr>
              <a:spLocks noChangeShapeType="1"/>
            </p:cNvSpPr>
            <p:nvPr/>
          </p:nvSpPr>
          <p:spPr bwMode="auto">
            <a:xfrm>
              <a:off x="3984" y="3072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611" name="Oval 99"/>
            <p:cNvSpPr>
              <a:spLocks noChangeArrowheads="1"/>
            </p:cNvSpPr>
            <p:nvPr/>
          </p:nvSpPr>
          <p:spPr bwMode="auto">
            <a:xfrm>
              <a:off x="3936" y="3023"/>
              <a:ext cx="102" cy="96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101" name="Rectangle 16"/>
          <p:cNvSpPr>
            <a:spLocks noChangeArrowheads="1"/>
          </p:cNvSpPr>
          <p:nvPr/>
        </p:nvSpPr>
        <p:spPr bwMode="auto">
          <a:xfrm>
            <a:off x="2076872" y="6021288"/>
            <a:ext cx="3810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03" name="Oval 17"/>
          <p:cNvSpPr>
            <a:spLocks noChangeArrowheads="1"/>
          </p:cNvSpPr>
          <p:nvPr/>
        </p:nvSpPr>
        <p:spPr bwMode="auto">
          <a:xfrm>
            <a:off x="2457872" y="6249888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04" name="Line 19"/>
          <p:cNvSpPr>
            <a:spLocks noChangeShapeType="1"/>
          </p:cNvSpPr>
          <p:nvPr/>
        </p:nvSpPr>
        <p:spPr bwMode="auto">
          <a:xfrm flipH="1">
            <a:off x="1619672" y="632608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05" name="Line 21"/>
          <p:cNvSpPr>
            <a:spLocks noChangeShapeType="1"/>
          </p:cNvSpPr>
          <p:nvPr/>
        </p:nvSpPr>
        <p:spPr bwMode="auto">
          <a:xfrm flipH="1">
            <a:off x="2610272" y="6326088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1819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4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資料選擇器</a:t>
            </a:r>
            <a:r>
              <a:rPr lang="en-US" altLang="zh-CN" sz="3600" dirty="0"/>
              <a:t>(5)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8AB1B-BB17-4908-A146-75A75E25443D}" type="slidenum">
              <a:rPr lang="en-US" altLang="zh-CN">
                <a:latin typeface="+mn-ea"/>
                <a:ea typeface="+mn-ea"/>
              </a:rPr>
              <a:pPr/>
              <a:t>80</a:t>
            </a:fld>
            <a:endParaRPr lang="en-US" altLang="zh-CN" dirty="0">
              <a:latin typeface="+mn-ea"/>
              <a:ea typeface="+mn-ea"/>
            </a:endParaRPr>
          </a:p>
        </p:txBody>
      </p:sp>
      <p:pic>
        <p:nvPicPr>
          <p:cNvPr id="321539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885" y="2580169"/>
            <a:ext cx="6171429" cy="365714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21538" name="Rectangle 2"/>
          <p:cNvSpPr>
            <a:spLocks noChangeArrowheads="1"/>
          </p:cNvSpPr>
          <p:nvPr/>
        </p:nvSpPr>
        <p:spPr bwMode="auto">
          <a:xfrm>
            <a:off x="685800" y="1447800"/>
            <a:ext cx="7924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有使能端的雙</a:t>
            </a:r>
            <a:r>
              <a:rPr lang="en-US" altLang="zh-CN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4</a:t>
            </a: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選</a:t>
            </a:r>
            <a:r>
              <a:rPr lang="en-US" altLang="zh-CN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</a:t>
            </a: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資料選擇器</a:t>
            </a:r>
          </a:p>
          <a:p>
            <a:pPr marL="742950" lvl="1" indent="-28575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注意輸出結構，提供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正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反兩個輸出</a:t>
            </a:r>
          </a:p>
          <a:p>
            <a:pPr marL="342900" indent="-342900">
              <a:spcBef>
                <a:spcPct val="20000"/>
              </a:spcBef>
              <a:buClr>
                <a:srgbClr val="FFFF00"/>
              </a:buClr>
              <a:buFont typeface="Wingdings" pitchFamily="2" charset="2"/>
              <a:buChar char="l"/>
            </a:pP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  <a:latin typeface="Noto Serif SC" panose="02020200000000000000" pitchFamily="18" charset="-122"/>
              <a:ea typeface="Noto Serif SC" panose="02020200000000000000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A88983-F734-417A-A6DB-B00DCC65E6A3}"/>
              </a:ext>
            </a:extLst>
          </p:cNvPr>
          <p:cNvSpPr txBox="1"/>
          <p:nvPr/>
        </p:nvSpPr>
        <p:spPr>
          <a:xfrm>
            <a:off x="7580097" y="5935824"/>
            <a:ext cx="1313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ea typeface="Noto Serif SC" panose="02020200000000000000" pitchFamily="18" charset="-122"/>
              </a:rPr>
              <a:t>74LS153</a:t>
            </a:r>
            <a:endParaRPr lang="zh-CN" altLang="en-US" dirty="0">
              <a:ea typeface="Noto Serif SC" panose="020202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550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E7F5A-D377-4451-BA48-1D0B0CEBCAE8}" type="slidenum">
              <a:rPr lang="en-US" altLang="zh-CN">
                <a:latin typeface="+mn-ea"/>
                <a:ea typeface="+mn-ea"/>
              </a:rPr>
              <a:pPr/>
              <a:t>81</a:t>
            </a:fld>
            <a:endParaRPr lang="en-US" altLang="zh-CN" dirty="0">
              <a:latin typeface="+mn-ea"/>
              <a:ea typeface="+mn-ea"/>
            </a:endParaRPr>
          </a:p>
        </p:txBody>
      </p:sp>
      <p:graphicFrame>
        <p:nvGraphicFramePr>
          <p:cNvPr id="322562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035067"/>
              </p:ext>
            </p:extLst>
          </p:nvPr>
        </p:nvGraphicFramePr>
        <p:xfrm>
          <a:off x="4648200" y="381000"/>
          <a:ext cx="2976563" cy="6217920"/>
        </p:xfrm>
        <a:graphic>
          <a:graphicData uri="http://schemas.openxmlformats.org/drawingml/2006/table">
            <a:tbl>
              <a:tblPr/>
              <a:tblGrid>
                <a:gridCol w="595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53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S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S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S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S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Y</a:t>
                      </a:r>
                      <a:endParaRPr kumimoji="0" lang="en-US" altLang="zh-CN" sz="18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975">
                <a:tc rowSpan="3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075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563">
                <a:tc rowSpan="3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488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563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975">
                <a:tc rowSpan="3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563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7975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7975">
                <a:tc rowSpan="3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Noto Serif SC" panose="02020200000000000000" pitchFamily="18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9563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7975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Noto Serif SC" panose="02020200000000000000" pitchFamily="18" charset="-122"/>
                          <a:cs typeface="Times New Roman" pitchFamily="18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322655" name="Text Box 95"/>
          <p:cNvSpPr txBox="1">
            <a:spLocks noChangeArrowheads="1"/>
          </p:cNvSpPr>
          <p:nvPr/>
        </p:nvSpPr>
        <p:spPr bwMode="auto">
          <a:xfrm>
            <a:off x="685800" y="3048000"/>
            <a:ext cx="2374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16</a:t>
            </a:r>
            <a:r>
              <a:rPr lang="zh-CN" altLang="en-US" sz="28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選</a:t>
            </a:r>
            <a:r>
              <a:rPr lang="en-US" altLang="zh-CN" sz="28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</a:t>
            </a:r>
            <a:r>
              <a:rPr lang="zh-CN" altLang="en-US" sz="28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功能表</a:t>
            </a:r>
          </a:p>
        </p:txBody>
      </p:sp>
      <p:sp>
        <p:nvSpPr>
          <p:cNvPr id="322656" name="Text Box 96"/>
          <p:cNvSpPr txBox="1">
            <a:spLocks noChangeArrowheads="1"/>
          </p:cNvSpPr>
          <p:nvPr/>
        </p:nvSpPr>
        <p:spPr bwMode="auto">
          <a:xfrm>
            <a:off x="381000" y="4648200"/>
            <a:ext cx="3886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兩種不同的擴展方案，從功能表上分析，可以先選低兩位，也可以先選高兩位。</a:t>
            </a:r>
          </a:p>
        </p:txBody>
      </p:sp>
      <p:sp>
        <p:nvSpPr>
          <p:cNvPr id="322657" name="Rectangle 97"/>
          <p:cNvSpPr>
            <a:spLocks noChangeArrowheads="1"/>
          </p:cNvSpPr>
          <p:nvPr/>
        </p:nvSpPr>
        <p:spPr bwMode="auto">
          <a:xfrm>
            <a:off x="304800" y="228600"/>
            <a:ext cx="38862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FF9933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選擇器擴展</a:t>
            </a:r>
            <a:r>
              <a:rPr lang="en-US" altLang="zh-CN" sz="3600" b="1" dirty="0">
                <a:solidFill>
                  <a:srgbClr val="FF9933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:</a:t>
            </a:r>
            <a:r>
              <a:rPr lang="zh-CN" altLang="en-US" sz="3200" b="1" dirty="0">
                <a:solidFill>
                  <a:srgbClr val="FF9933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用雙</a:t>
            </a:r>
            <a:r>
              <a:rPr lang="en-US" altLang="zh-CN" sz="3200" b="1" dirty="0">
                <a:solidFill>
                  <a:srgbClr val="FF9933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4</a:t>
            </a:r>
            <a:r>
              <a:rPr lang="zh-CN" altLang="en-US" sz="3200" b="1" dirty="0">
                <a:solidFill>
                  <a:srgbClr val="FF9933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選</a:t>
            </a:r>
            <a:r>
              <a:rPr lang="en-US" altLang="zh-CN" sz="3200" b="1" dirty="0">
                <a:solidFill>
                  <a:srgbClr val="FF9933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1</a:t>
            </a:r>
            <a:r>
              <a:rPr lang="zh-CN" altLang="en-US" sz="3200" b="1" dirty="0">
                <a:solidFill>
                  <a:srgbClr val="FF9933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選擇器擴展成</a:t>
            </a:r>
            <a:r>
              <a:rPr lang="en-US" altLang="zh-CN" sz="3200" b="1" dirty="0">
                <a:solidFill>
                  <a:srgbClr val="FF9933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16</a:t>
            </a:r>
            <a:r>
              <a:rPr lang="zh-CN" altLang="en-US" sz="3200" b="1" dirty="0">
                <a:solidFill>
                  <a:srgbClr val="FF9933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選</a:t>
            </a:r>
            <a:r>
              <a:rPr lang="en-US" altLang="zh-CN" sz="3200" b="1" dirty="0">
                <a:solidFill>
                  <a:srgbClr val="FF9933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1</a:t>
            </a:r>
            <a:r>
              <a:rPr lang="zh-CN" altLang="en-US" sz="3200" b="1" dirty="0">
                <a:solidFill>
                  <a:srgbClr val="FF9933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選擇器</a:t>
            </a:r>
          </a:p>
        </p:txBody>
      </p:sp>
      <p:grpSp>
        <p:nvGrpSpPr>
          <p:cNvPr id="2" name="Group 98"/>
          <p:cNvGrpSpPr>
            <a:grpSpLocks/>
          </p:cNvGrpSpPr>
          <p:nvPr/>
        </p:nvGrpSpPr>
        <p:grpSpPr bwMode="auto">
          <a:xfrm>
            <a:off x="5867400" y="381000"/>
            <a:ext cx="1752600" cy="1828800"/>
            <a:chOff x="3696" y="240"/>
            <a:chExt cx="1104" cy="1152"/>
          </a:xfrm>
        </p:grpSpPr>
        <p:sp>
          <p:nvSpPr>
            <p:cNvPr id="322659" name="Line 99"/>
            <p:cNvSpPr>
              <a:spLocks noChangeShapeType="1"/>
            </p:cNvSpPr>
            <p:nvPr/>
          </p:nvSpPr>
          <p:spPr bwMode="auto">
            <a:xfrm>
              <a:off x="3696" y="240"/>
              <a:ext cx="0" cy="11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60" name="Line 100"/>
            <p:cNvSpPr>
              <a:spLocks noChangeShapeType="1"/>
            </p:cNvSpPr>
            <p:nvPr/>
          </p:nvSpPr>
          <p:spPr bwMode="auto">
            <a:xfrm flipH="1">
              <a:off x="3696" y="240"/>
              <a:ext cx="110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61" name="Line 101"/>
            <p:cNvSpPr>
              <a:spLocks noChangeShapeType="1"/>
            </p:cNvSpPr>
            <p:nvPr/>
          </p:nvSpPr>
          <p:spPr bwMode="auto">
            <a:xfrm>
              <a:off x="4800" y="240"/>
              <a:ext cx="0" cy="11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62" name="Line 102"/>
            <p:cNvSpPr>
              <a:spLocks noChangeShapeType="1"/>
            </p:cNvSpPr>
            <p:nvPr/>
          </p:nvSpPr>
          <p:spPr bwMode="auto">
            <a:xfrm flipH="1">
              <a:off x="3696" y="1392"/>
              <a:ext cx="110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3" name="Group 103"/>
          <p:cNvGrpSpPr>
            <a:grpSpLocks/>
          </p:cNvGrpSpPr>
          <p:nvPr/>
        </p:nvGrpSpPr>
        <p:grpSpPr bwMode="auto">
          <a:xfrm>
            <a:off x="5867400" y="2209800"/>
            <a:ext cx="1752600" cy="1447800"/>
            <a:chOff x="3696" y="240"/>
            <a:chExt cx="1104" cy="1152"/>
          </a:xfrm>
        </p:grpSpPr>
        <p:sp>
          <p:nvSpPr>
            <p:cNvPr id="322664" name="Line 104"/>
            <p:cNvSpPr>
              <a:spLocks noChangeShapeType="1"/>
            </p:cNvSpPr>
            <p:nvPr/>
          </p:nvSpPr>
          <p:spPr bwMode="auto">
            <a:xfrm>
              <a:off x="3696" y="240"/>
              <a:ext cx="0" cy="11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65" name="Line 105"/>
            <p:cNvSpPr>
              <a:spLocks noChangeShapeType="1"/>
            </p:cNvSpPr>
            <p:nvPr/>
          </p:nvSpPr>
          <p:spPr bwMode="auto">
            <a:xfrm flipH="1">
              <a:off x="3696" y="240"/>
              <a:ext cx="110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66" name="Line 106"/>
            <p:cNvSpPr>
              <a:spLocks noChangeShapeType="1"/>
            </p:cNvSpPr>
            <p:nvPr/>
          </p:nvSpPr>
          <p:spPr bwMode="auto">
            <a:xfrm>
              <a:off x="4800" y="240"/>
              <a:ext cx="0" cy="11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67" name="Line 107"/>
            <p:cNvSpPr>
              <a:spLocks noChangeShapeType="1"/>
            </p:cNvSpPr>
            <p:nvPr/>
          </p:nvSpPr>
          <p:spPr bwMode="auto">
            <a:xfrm flipH="1">
              <a:off x="3696" y="1392"/>
              <a:ext cx="110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4" name="Group 108"/>
          <p:cNvGrpSpPr>
            <a:grpSpLocks/>
          </p:cNvGrpSpPr>
          <p:nvPr/>
        </p:nvGrpSpPr>
        <p:grpSpPr bwMode="auto">
          <a:xfrm>
            <a:off x="5867400" y="3657600"/>
            <a:ext cx="1752600" cy="1447800"/>
            <a:chOff x="3696" y="240"/>
            <a:chExt cx="1104" cy="1152"/>
          </a:xfrm>
        </p:grpSpPr>
        <p:sp>
          <p:nvSpPr>
            <p:cNvPr id="322669" name="Line 109"/>
            <p:cNvSpPr>
              <a:spLocks noChangeShapeType="1"/>
            </p:cNvSpPr>
            <p:nvPr/>
          </p:nvSpPr>
          <p:spPr bwMode="auto">
            <a:xfrm>
              <a:off x="3696" y="240"/>
              <a:ext cx="0" cy="11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70" name="Line 110"/>
            <p:cNvSpPr>
              <a:spLocks noChangeShapeType="1"/>
            </p:cNvSpPr>
            <p:nvPr/>
          </p:nvSpPr>
          <p:spPr bwMode="auto">
            <a:xfrm flipH="1">
              <a:off x="3696" y="240"/>
              <a:ext cx="110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71" name="Line 111"/>
            <p:cNvSpPr>
              <a:spLocks noChangeShapeType="1"/>
            </p:cNvSpPr>
            <p:nvPr/>
          </p:nvSpPr>
          <p:spPr bwMode="auto">
            <a:xfrm>
              <a:off x="4800" y="240"/>
              <a:ext cx="0" cy="11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72" name="Line 112"/>
            <p:cNvSpPr>
              <a:spLocks noChangeShapeType="1"/>
            </p:cNvSpPr>
            <p:nvPr/>
          </p:nvSpPr>
          <p:spPr bwMode="auto">
            <a:xfrm flipH="1">
              <a:off x="3696" y="1392"/>
              <a:ext cx="110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5" name="Group 113"/>
          <p:cNvGrpSpPr>
            <a:grpSpLocks/>
          </p:cNvGrpSpPr>
          <p:nvPr/>
        </p:nvGrpSpPr>
        <p:grpSpPr bwMode="auto">
          <a:xfrm>
            <a:off x="5867400" y="5105400"/>
            <a:ext cx="1752600" cy="1447800"/>
            <a:chOff x="3696" y="240"/>
            <a:chExt cx="1104" cy="1152"/>
          </a:xfrm>
        </p:grpSpPr>
        <p:sp>
          <p:nvSpPr>
            <p:cNvPr id="322674" name="Line 114"/>
            <p:cNvSpPr>
              <a:spLocks noChangeShapeType="1"/>
            </p:cNvSpPr>
            <p:nvPr/>
          </p:nvSpPr>
          <p:spPr bwMode="auto">
            <a:xfrm>
              <a:off x="3696" y="240"/>
              <a:ext cx="0" cy="11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75" name="Line 115"/>
            <p:cNvSpPr>
              <a:spLocks noChangeShapeType="1"/>
            </p:cNvSpPr>
            <p:nvPr/>
          </p:nvSpPr>
          <p:spPr bwMode="auto">
            <a:xfrm flipH="1">
              <a:off x="3696" y="240"/>
              <a:ext cx="110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76" name="Line 116"/>
            <p:cNvSpPr>
              <a:spLocks noChangeShapeType="1"/>
            </p:cNvSpPr>
            <p:nvPr/>
          </p:nvSpPr>
          <p:spPr bwMode="auto">
            <a:xfrm>
              <a:off x="4800" y="240"/>
              <a:ext cx="0" cy="11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77" name="Line 117"/>
            <p:cNvSpPr>
              <a:spLocks noChangeShapeType="1"/>
            </p:cNvSpPr>
            <p:nvPr/>
          </p:nvSpPr>
          <p:spPr bwMode="auto">
            <a:xfrm flipH="1">
              <a:off x="3696" y="1392"/>
              <a:ext cx="110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886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2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2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2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2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655" grpId="0" autoUpdateAnimBg="0"/>
      <p:bldP spid="322656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634" name="Rectangle 50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583613" cy="1431925"/>
          </a:xfrm>
        </p:spPr>
        <p:txBody>
          <a:bodyPr/>
          <a:lstStyle/>
          <a:p>
            <a:r>
              <a:rPr lang="zh-CN" altLang="en-US" sz="3200" dirty="0"/>
              <a:t>選擇器擴展</a:t>
            </a:r>
            <a:r>
              <a:rPr lang="zh-CN" altLang="en-US" dirty="0"/>
              <a:t>：</a:t>
            </a:r>
            <a:r>
              <a:rPr lang="zh-CN" altLang="en-US" sz="3200" dirty="0"/>
              <a:t>用雙</a:t>
            </a:r>
            <a:r>
              <a:rPr lang="en-US" altLang="zh-CN" sz="3200" dirty="0"/>
              <a:t>4</a:t>
            </a:r>
            <a:r>
              <a:rPr lang="zh-CN" altLang="en-US" sz="3200" dirty="0"/>
              <a:t>選</a:t>
            </a:r>
            <a:r>
              <a:rPr lang="en-US" altLang="zh-CN" sz="3200" dirty="0"/>
              <a:t>1</a:t>
            </a:r>
            <a:r>
              <a:rPr lang="zh-CN" altLang="en-US" sz="3200" dirty="0"/>
              <a:t>選擇器</a:t>
            </a:r>
            <a:r>
              <a:rPr lang="en-US" altLang="zh-CN" sz="3200" dirty="0"/>
              <a:t>(</a:t>
            </a:r>
            <a:r>
              <a:rPr lang="zh-CN" altLang="en-US" sz="3200" dirty="0"/>
              <a:t>無使能端</a:t>
            </a:r>
            <a:r>
              <a:rPr lang="en-US" altLang="zh-CN" sz="3200" dirty="0"/>
              <a:t>)</a:t>
            </a:r>
            <a:br>
              <a:rPr lang="en-US" altLang="zh-CN" sz="3200" dirty="0"/>
            </a:br>
            <a:r>
              <a:rPr lang="en-US" altLang="zh-CN" sz="3200" dirty="0"/>
              <a:t>                     </a:t>
            </a:r>
            <a:r>
              <a:rPr lang="zh-CN" altLang="en-US" sz="3200" dirty="0"/>
              <a:t>擴展成</a:t>
            </a:r>
            <a:r>
              <a:rPr lang="en-US" altLang="zh-CN" sz="3200" dirty="0"/>
              <a:t>16</a:t>
            </a:r>
            <a:r>
              <a:rPr lang="zh-CN" altLang="en-US" sz="3200" dirty="0"/>
              <a:t>選</a:t>
            </a:r>
            <a:r>
              <a:rPr lang="en-US" altLang="zh-CN" sz="3200" dirty="0"/>
              <a:t>1</a:t>
            </a:r>
            <a:r>
              <a:rPr lang="zh-CN" altLang="en-US" sz="3200" dirty="0"/>
              <a:t>選擇器</a:t>
            </a:r>
          </a:p>
        </p:txBody>
      </p:sp>
      <p:sp>
        <p:nvSpPr>
          <p:cNvPr id="10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2B665-CCFF-4C95-99C8-10E992BFCD88}" type="slidenum">
              <a:rPr lang="en-US" altLang="zh-CN">
                <a:latin typeface="+mn-ea"/>
                <a:ea typeface="+mn-ea"/>
              </a:rPr>
              <a:pPr/>
              <a:t>82</a:t>
            </a:fld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667000" y="2536825"/>
            <a:ext cx="6270625" cy="2982913"/>
            <a:chOff x="1680" y="1598"/>
            <a:chExt cx="3950" cy="1879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1680" y="1632"/>
              <a:ext cx="1671" cy="679"/>
              <a:chOff x="1655" y="1616"/>
              <a:chExt cx="1671" cy="679"/>
            </a:xfrm>
          </p:grpSpPr>
          <p:sp>
            <p:nvSpPr>
              <p:cNvPr id="323588" name="Rectangle 4"/>
              <p:cNvSpPr>
                <a:spLocks noChangeArrowheads="1"/>
              </p:cNvSpPr>
              <p:nvPr/>
            </p:nvSpPr>
            <p:spPr bwMode="auto">
              <a:xfrm>
                <a:off x="1701" y="1752"/>
                <a:ext cx="1515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589" name="Line 5"/>
              <p:cNvSpPr>
                <a:spLocks noChangeShapeType="1"/>
              </p:cNvSpPr>
              <p:nvPr/>
            </p:nvSpPr>
            <p:spPr bwMode="auto">
              <a:xfrm>
                <a:off x="2541" y="1752"/>
                <a:ext cx="0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590" name="Line 6"/>
              <p:cNvSpPr>
                <a:spLocks noChangeShapeType="1"/>
              </p:cNvSpPr>
              <p:nvPr/>
            </p:nvSpPr>
            <p:spPr bwMode="auto">
              <a:xfrm flipV="1">
                <a:off x="1960" y="161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591" name="Line 7"/>
              <p:cNvSpPr>
                <a:spLocks noChangeShapeType="1"/>
              </p:cNvSpPr>
              <p:nvPr/>
            </p:nvSpPr>
            <p:spPr bwMode="auto">
              <a:xfrm flipV="1">
                <a:off x="2459" y="161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592" name="Line 8"/>
              <p:cNvSpPr>
                <a:spLocks noChangeShapeType="1"/>
              </p:cNvSpPr>
              <p:nvPr/>
            </p:nvSpPr>
            <p:spPr bwMode="auto">
              <a:xfrm flipV="1">
                <a:off x="2587" y="161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593" name="Line 9"/>
              <p:cNvSpPr>
                <a:spLocks noChangeShapeType="1"/>
              </p:cNvSpPr>
              <p:nvPr/>
            </p:nvSpPr>
            <p:spPr bwMode="auto">
              <a:xfrm flipV="1">
                <a:off x="3086" y="161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594" name="Rectangle 10"/>
              <p:cNvSpPr>
                <a:spLocks noChangeArrowheads="1"/>
              </p:cNvSpPr>
              <p:nvPr/>
            </p:nvSpPr>
            <p:spPr bwMode="auto">
              <a:xfrm>
                <a:off x="1666" y="1980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S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0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595" name="Rectangle 11"/>
              <p:cNvSpPr>
                <a:spLocks noChangeArrowheads="1"/>
              </p:cNvSpPr>
              <p:nvPr/>
            </p:nvSpPr>
            <p:spPr bwMode="auto">
              <a:xfrm>
                <a:off x="1655" y="1799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S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1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596" name="Rectangle 12"/>
              <p:cNvSpPr>
                <a:spLocks noChangeArrowheads="1"/>
              </p:cNvSpPr>
              <p:nvPr/>
            </p:nvSpPr>
            <p:spPr bwMode="auto">
              <a:xfrm>
                <a:off x="1869" y="1686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D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0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597" name="Rectangle 13"/>
              <p:cNvSpPr>
                <a:spLocks noChangeArrowheads="1"/>
              </p:cNvSpPr>
              <p:nvPr/>
            </p:nvSpPr>
            <p:spPr bwMode="auto">
              <a:xfrm>
                <a:off x="2306" y="1686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D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3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598" name="Rectangle 14"/>
              <p:cNvSpPr>
                <a:spLocks noChangeArrowheads="1"/>
              </p:cNvSpPr>
              <p:nvPr/>
            </p:nvSpPr>
            <p:spPr bwMode="auto">
              <a:xfrm>
                <a:off x="2112" y="2004"/>
                <a:ext cx="27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599" name="Rectangle 15"/>
              <p:cNvSpPr>
                <a:spLocks noChangeArrowheads="1"/>
              </p:cNvSpPr>
              <p:nvPr/>
            </p:nvSpPr>
            <p:spPr bwMode="auto">
              <a:xfrm>
                <a:off x="2541" y="1686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D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0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00" name="Rectangle 16"/>
              <p:cNvSpPr>
                <a:spLocks noChangeArrowheads="1"/>
              </p:cNvSpPr>
              <p:nvPr/>
            </p:nvSpPr>
            <p:spPr bwMode="auto">
              <a:xfrm>
                <a:off x="2978" y="1686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D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3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01" name="Rectangle 17"/>
              <p:cNvSpPr>
                <a:spLocks noChangeArrowheads="1"/>
              </p:cNvSpPr>
              <p:nvPr/>
            </p:nvSpPr>
            <p:spPr bwMode="auto">
              <a:xfrm>
                <a:off x="2742" y="2004"/>
                <a:ext cx="27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02" name="Line 18"/>
              <p:cNvSpPr>
                <a:spLocks noChangeShapeType="1"/>
              </p:cNvSpPr>
              <p:nvPr/>
            </p:nvSpPr>
            <p:spPr bwMode="auto">
              <a:xfrm>
                <a:off x="2102" y="1842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03" name="Line 19"/>
              <p:cNvSpPr>
                <a:spLocks noChangeShapeType="1"/>
              </p:cNvSpPr>
              <p:nvPr/>
            </p:nvSpPr>
            <p:spPr bwMode="auto">
              <a:xfrm>
                <a:off x="2775" y="1842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" name="Group 20"/>
            <p:cNvGrpSpPr>
              <a:grpSpLocks/>
            </p:cNvGrpSpPr>
            <p:nvPr/>
          </p:nvGrpSpPr>
          <p:grpSpPr bwMode="auto">
            <a:xfrm>
              <a:off x="3959" y="1598"/>
              <a:ext cx="1671" cy="679"/>
              <a:chOff x="1655" y="1616"/>
              <a:chExt cx="1671" cy="679"/>
            </a:xfrm>
          </p:grpSpPr>
          <p:sp>
            <p:nvSpPr>
              <p:cNvPr id="323605" name="Rectangle 21"/>
              <p:cNvSpPr>
                <a:spLocks noChangeArrowheads="1"/>
              </p:cNvSpPr>
              <p:nvPr/>
            </p:nvSpPr>
            <p:spPr bwMode="auto">
              <a:xfrm>
                <a:off x="1701" y="1752"/>
                <a:ext cx="1515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06" name="Line 22"/>
              <p:cNvSpPr>
                <a:spLocks noChangeShapeType="1"/>
              </p:cNvSpPr>
              <p:nvPr/>
            </p:nvSpPr>
            <p:spPr bwMode="auto">
              <a:xfrm>
                <a:off x="2541" y="1752"/>
                <a:ext cx="0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07" name="Line 23"/>
              <p:cNvSpPr>
                <a:spLocks noChangeShapeType="1"/>
              </p:cNvSpPr>
              <p:nvPr/>
            </p:nvSpPr>
            <p:spPr bwMode="auto">
              <a:xfrm flipV="1">
                <a:off x="1960" y="161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08" name="Line 24"/>
              <p:cNvSpPr>
                <a:spLocks noChangeShapeType="1"/>
              </p:cNvSpPr>
              <p:nvPr/>
            </p:nvSpPr>
            <p:spPr bwMode="auto">
              <a:xfrm flipV="1">
                <a:off x="2459" y="161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09" name="Line 25"/>
              <p:cNvSpPr>
                <a:spLocks noChangeShapeType="1"/>
              </p:cNvSpPr>
              <p:nvPr/>
            </p:nvSpPr>
            <p:spPr bwMode="auto">
              <a:xfrm flipV="1">
                <a:off x="2587" y="161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10" name="Line 26"/>
              <p:cNvSpPr>
                <a:spLocks noChangeShapeType="1"/>
              </p:cNvSpPr>
              <p:nvPr/>
            </p:nvSpPr>
            <p:spPr bwMode="auto">
              <a:xfrm flipV="1">
                <a:off x="3086" y="161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11" name="Rectangle 27"/>
              <p:cNvSpPr>
                <a:spLocks noChangeArrowheads="1"/>
              </p:cNvSpPr>
              <p:nvPr/>
            </p:nvSpPr>
            <p:spPr bwMode="auto">
              <a:xfrm>
                <a:off x="1666" y="1980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S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0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12" name="Rectangle 28"/>
              <p:cNvSpPr>
                <a:spLocks noChangeArrowheads="1"/>
              </p:cNvSpPr>
              <p:nvPr/>
            </p:nvSpPr>
            <p:spPr bwMode="auto">
              <a:xfrm>
                <a:off x="1655" y="1799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S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1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13" name="Rectangle 29"/>
              <p:cNvSpPr>
                <a:spLocks noChangeArrowheads="1"/>
              </p:cNvSpPr>
              <p:nvPr/>
            </p:nvSpPr>
            <p:spPr bwMode="auto">
              <a:xfrm>
                <a:off x="1869" y="1686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D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0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14" name="Rectangle 30"/>
              <p:cNvSpPr>
                <a:spLocks noChangeArrowheads="1"/>
              </p:cNvSpPr>
              <p:nvPr/>
            </p:nvSpPr>
            <p:spPr bwMode="auto">
              <a:xfrm>
                <a:off x="2306" y="1686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D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3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15" name="Rectangle 31"/>
              <p:cNvSpPr>
                <a:spLocks noChangeArrowheads="1"/>
              </p:cNvSpPr>
              <p:nvPr/>
            </p:nvSpPr>
            <p:spPr bwMode="auto">
              <a:xfrm>
                <a:off x="2112" y="2004"/>
                <a:ext cx="27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16" name="Rectangle 32"/>
              <p:cNvSpPr>
                <a:spLocks noChangeArrowheads="1"/>
              </p:cNvSpPr>
              <p:nvPr/>
            </p:nvSpPr>
            <p:spPr bwMode="auto">
              <a:xfrm>
                <a:off x="2541" y="1686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D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0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17" name="Rectangle 33"/>
              <p:cNvSpPr>
                <a:spLocks noChangeArrowheads="1"/>
              </p:cNvSpPr>
              <p:nvPr/>
            </p:nvSpPr>
            <p:spPr bwMode="auto">
              <a:xfrm>
                <a:off x="2978" y="1686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D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3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18" name="Rectangle 34"/>
              <p:cNvSpPr>
                <a:spLocks noChangeArrowheads="1"/>
              </p:cNvSpPr>
              <p:nvPr/>
            </p:nvSpPr>
            <p:spPr bwMode="auto">
              <a:xfrm>
                <a:off x="2742" y="2004"/>
                <a:ext cx="27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19" name="Line 35"/>
              <p:cNvSpPr>
                <a:spLocks noChangeShapeType="1"/>
              </p:cNvSpPr>
              <p:nvPr/>
            </p:nvSpPr>
            <p:spPr bwMode="auto">
              <a:xfrm>
                <a:off x="2102" y="1842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20" name="Line 36"/>
              <p:cNvSpPr>
                <a:spLocks noChangeShapeType="1"/>
              </p:cNvSpPr>
              <p:nvPr/>
            </p:nvSpPr>
            <p:spPr bwMode="auto">
              <a:xfrm>
                <a:off x="2775" y="1842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5" name="Group 37"/>
            <p:cNvGrpSpPr>
              <a:grpSpLocks/>
            </p:cNvGrpSpPr>
            <p:nvPr/>
          </p:nvGrpSpPr>
          <p:grpSpPr bwMode="auto">
            <a:xfrm>
              <a:off x="2208" y="2868"/>
              <a:ext cx="1671" cy="609"/>
              <a:chOff x="2208" y="2854"/>
              <a:chExt cx="1671" cy="609"/>
            </a:xfrm>
          </p:grpSpPr>
          <p:sp>
            <p:nvSpPr>
              <p:cNvPr id="323622" name="Rectangle 38"/>
              <p:cNvSpPr>
                <a:spLocks noChangeArrowheads="1"/>
              </p:cNvSpPr>
              <p:nvPr/>
            </p:nvSpPr>
            <p:spPr bwMode="auto">
              <a:xfrm>
                <a:off x="2254" y="2920"/>
                <a:ext cx="1515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23" name="Line 39"/>
              <p:cNvSpPr>
                <a:spLocks noChangeShapeType="1"/>
              </p:cNvSpPr>
              <p:nvPr/>
            </p:nvSpPr>
            <p:spPr bwMode="auto">
              <a:xfrm>
                <a:off x="3094" y="2920"/>
                <a:ext cx="0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24" name="Rectangle 40"/>
              <p:cNvSpPr>
                <a:spLocks noChangeArrowheads="1"/>
              </p:cNvSpPr>
              <p:nvPr/>
            </p:nvSpPr>
            <p:spPr bwMode="auto">
              <a:xfrm>
                <a:off x="2219" y="3148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S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0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25" name="Rectangle 41"/>
              <p:cNvSpPr>
                <a:spLocks noChangeArrowheads="1"/>
              </p:cNvSpPr>
              <p:nvPr/>
            </p:nvSpPr>
            <p:spPr bwMode="auto">
              <a:xfrm>
                <a:off x="2208" y="2967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S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1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26" name="Rectangle 42"/>
              <p:cNvSpPr>
                <a:spLocks noChangeArrowheads="1"/>
              </p:cNvSpPr>
              <p:nvPr/>
            </p:nvSpPr>
            <p:spPr bwMode="auto">
              <a:xfrm>
                <a:off x="2422" y="2854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D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0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27" name="Rectangle 43"/>
              <p:cNvSpPr>
                <a:spLocks noChangeArrowheads="1"/>
              </p:cNvSpPr>
              <p:nvPr/>
            </p:nvSpPr>
            <p:spPr bwMode="auto">
              <a:xfrm>
                <a:off x="2859" y="2854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D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3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28" name="Rectangle 44"/>
              <p:cNvSpPr>
                <a:spLocks noChangeArrowheads="1"/>
              </p:cNvSpPr>
              <p:nvPr/>
            </p:nvSpPr>
            <p:spPr bwMode="auto">
              <a:xfrm>
                <a:off x="2665" y="3172"/>
                <a:ext cx="27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29" name="Rectangle 45"/>
              <p:cNvSpPr>
                <a:spLocks noChangeArrowheads="1"/>
              </p:cNvSpPr>
              <p:nvPr/>
            </p:nvSpPr>
            <p:spPr bwMode="auto">
              <a:xfrm>
                <a:off x="3094" y="2854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D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0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30" name="Rectangle 46"/>
              <p:cNvSpPr>
                <a:spLocks noChangeArrowheads="1"/>
              </p:cNvSpPr>
              <p:nvPr/>
            </p:nvSpPr>
            <p:spPr bwMode="auto">
              <a:xfrm>
                <a:off x="3531" y="2854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D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3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31" name="Rectangle 47"/>
              <p:cNvSpPr>
                <a:spLocks noChangeArrowheads="1"/>
              </p:cNvSpPr>
              <p:nvPr/>
            </p:nvSpPr>
            <p:spPr bwMode="auto">
              <a:xfrm>
                <a:off x="3295" y="3172"/>
                <a:ext cx="27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32" name="Line 48"/>
              <p:cNvSpPr>
                <a:spLocks noChangeShapeType="1"/>
              </p:cNvSpPr>
              <p:nvPr/>
            </p:nvSpPr>
            <p:spPr bwMode="auto">
              <a:xfrm>
                <a:off x="2655" y="3010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33" name="Line 49"/>
              <p:cNvSpPr>
                <a:spLocks noChangeShapeType="1"/>
              </p:cNvSpPr>
              <p:nvPr/>
            </p:nvSpPr>
            <p:spPr bwMode="auto">
              <a:xfrm>
                <a:off x="3328" y="3010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3505200" y="3581400"/>
            <a:ext cx="533400" cy="1066800"/>
            <a:chOff x="2208" y="2256"/>
            <a:chExt cx="336" cy="672"/>
          </a:xfrm>
        </p:grpSpPr>
        <p:sp>
          <p:nvSpPr>
            <p:cNvPr id="323636" name="Line 52"/>
            <p:cNvSpPr>
              <a:spLocks noChangeShapeType="1"/>
            </p:cNvSpPr>
            <p:nvPr/>
          </p:nvSpPr>
          <p:spPr bwMode="auto">
            <a:xfrm flipH="1" flipV="1">
              <a:off x="2544" y="259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37" name="Line 53"/>
            <p:cNvSpPr>
              <a:spLocks noChangeShapeType="1"/>
            </p:cNvSpPr>
            <p:nvPr/>
          </p:nvSpPr>
          <p:spPr bwMode="auto">
            <a:xfrm flipH="1" flipV="1">
              <a:off x="2208" y="259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38" name="Line 54"/>
            <p:cNvSpPr>
              <a:spLocks noChangeShapeType="1"/>
            </p:cNvSpPr>
            <p:nvPr/>
          </p:nvSpPr>
          <p:spPr bwMode="auto">
            <a:xfrm>
              <a:off x="2208" y="225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7" name="Group 55"/>
          <p:cNvGrpSpPr>
            <a:grpSpLocks/>
          </p:cNvGrpSpPr>
          <p:nvPr/>
        </p:nvGrpSpPr>
        <p:grpSpPr bwMode="auto">
          <a:xfrm>
            <a:off x="4495800" y="3581400"/>
            <a:ext cx="2667000" cy="1066800"/>
            <a:chOff x="2832" y="2256"/>
            <a:chExt cx="1680" cy="672"/>
          </a:xfrm>
        </p:grpSpPr>
        <p:sp>
          <p:nvSpPr>
            <p:cNvPr id="323640" name="Line 56"/>
            <p:cNvSpPr>
              <a:spLocks noChangeShapeType="1"/>
            </p:cNvSpPr>
            <p:nvPr/>
          </p:nvSpPr>
          <p:spPr bwMode="auto">
            <a:xfrm flipH="1" flipV="1">
              <a:off x="2832" y="268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41" name="Line 57"/>
            <p:cNvSpPr>
              <a:spLocks noChangeShapeType="1"/>
            </p:cNvSpPr>
            <p:nvPr/>
          </p:nvSpPr>
          <p:spPr bwMode="auto">
            <a:xfrm flipH="1">
              <a:off x="4512" y="225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42" name="Line 58"/>
            <p:cNvSpPr>
              <a:spLocks noChangeShapeType="1"/>
            </p:cNvSpPr>
            <p:nvPr/>
          </p:nvSpPr>
          <p:spPr bwMode="auto">
            <a:xfrm flipH="1">
              <a:off x="2832" y="2688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323643" name="Line 59"/>
          <p:cNvSpPr>
            <a:spLocks noChangeShapeType="1"/>
          </p:cNvSpPr>
          <p:nvPr/>
        </p:nvSpPr>
        <p:spPr bwMode="auto">
          <a:xfrm>
            <a:off x="4343400" y="548640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8" name="Group 60"/>
          <p:cNvGrpSpPr>
            <a:grpSpLocks/>
          </p:cNvGrpSpPr>
          <p:nvPr/>
        </p:nvGrpSpPr>
        <p:grpSpPr bwMode="auto">
          <a:xfrm>
            <a:off x="1143000" y="2025650"/>
            <a:ext cx="7764463" cy="3521076"/>
            <a:chOff x="720" y="1266"/>
            <a:chExt cx="4891" cy="2218"/>
          </a:xfrm>
        </p:grpSpPr>
        <p:sp>
          <p:nvSpPr>
            <p:cNvPr id="323645" name="Rectangle 61"/>
            <p:cNvSpPr>
              <a:spLocks noChangeArrowheads="1"/>
            </p:cNvSpPr>
            <p:nvPr/>
          </p:nvSpPr>
          <p:spPr bwMode="auto">
            <a:xfrm>
              <a:off x="2493" y="1266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4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grpSp>
          <p:nvGrpSpPr>
            <p:cNvPr id="9" name="Group 62"/>
            <p:cNvGrpSpPr>
              <a:grpSpLocks/>
            </p:cNvGrpSpPr>
            <p:nvPr/>
          </p:nvGrpSpPr>
          <p:grpSpPr bwMode="auto">
            <a:xfrm>
              <a:off x="720" y="1276"/>
              <a:ext cx="4891" cy="2208"/>
              <a:chOff x="703" y="1266"/>
              <a:chExt cx="4891" cy="2208"/>
            </a:xfrm>
          </p:grpSpPr>
          <p:sp>
            <p:nvSpPr>
              <p:cNvPr id="323647" name="Line 63"/>
              <p:cNvSpPr>
                <a:spLocks noChangeShapeType="1"/>
              </p:cNvSpPr>
              <p:nvPr/>
            </p:nvSpPr>
            <p:spPr bwMode="auto">
              <a:xfrm flipH="1">
                <a:off x="1610" y="3067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48" name="Line 64"/>
              <p:cNvSpPr>
                <a:spLocks noChangeShapeType="1"/>
              </p:cNvSpPr>
              <p:nvPr/>
            </p:nvSpPr>
            <p:spPr bwMode="auto">
              <a:xfrm flipH="1">
                <a:off x="1610" y="3384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49" name="Rectangle 65"/>
              <p:cNvSpPr>
                <a:spLocks noChangeArrowheads="1"/>
              </p:cNvSpPr>
              <p:nvPr/>
            </p:nvSpPr>
            <p:spPr bwMode="auto">
              <a:xfrm>
                <a:off x="1394" y="2865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S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3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3650" name="Rectangle 66"/>
              <p:cNvSpPr>
                <a:spLocks noChangeArrowheads="1"/>
              </p:cNvSpPr>
              <p:nvPr/>
            </p:nvSpPr>
            <p:spPr bwMode="auto">
              <a:xfrm>
                <a:off x="1384" y="3183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S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2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grpSp>
            <p:nvGrpSpPr>
              <p:cNvPr id="10" name="Group 67"/>
              <p:cNvGrpSpPr>
                <a:grpSpLocks/>
              </p:cNvGrpSpPr>
              <p:nvPr/>
            </p:nvGrpSpPr>
            <p:grpSpPr bwMode="auto">
              <a:xfrm>
                <a:off x="703" y="1266"/>
                <a:ext cx="4891" cy="1029"/>
                <a:chOff x="703" y="1266"/>
                <a:chExt cx="4891" cy="1029"/>
              </a:xfrm>
            </p:grpSpPr>
            <p:sp>
              <p:nvSpPr>
                <p:cNvPr id="323652" name="Line 68"/>
                <p:cNvSpPr>
                  <a:spLocks noChangeShapeType="1"/>
                </p:cNvSpPr>
                <p:nvPr/>
              </p:nvSpPr>
              <p:spPr bwMode="auto">
                <a:xfrm flipH="1">
                  <a:off x="912" y="1968"/>
                  <a:ext cx="81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23653" name="Line 69"/>
                <p:cNvSpPr>
                  <a:spLocks noChangeShapeType="1"/>
                </p:cNvSpPr>
                <p:nvPr/>
              </p:nvSpPr>
              <p:spPr bwMode="auto">
                <a:xfrm flipH="1">
                  <a:off x="912" y="2112"/>
                  <a:ext cx="77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23654" name="Rectangle 70"/>
                <p:cNvSpPr>
                  <a:spLocks noChangeArrowheads="1"/>
                </p:cNvSpPr>
                <p:nvPr/>
              </p:nvSpPr>
              <p:spPr bwMode="auto">
                <a:xfrm>
                  <a:off x="713" y="1686"/>
                  <a:ext cx="33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dirty="0">
                      <a:latin typeface="+mn-ea"/>
                      <a:ea typeface="+mn-ea"/>
                      <a:cs typeface="Times New Roman" pitchFamily="18" charset="0"/>
                    </a:rPr>
                    <a:t>S</a:t>
                  </a:r>
                  <a:r>
                    <a:rPr lang="en-US" altLang="zh-CN" baseline="-30000" dirty="0">
                      <a:latin typeface="+mn-ea"/>
                      <a:ea typeface="+mn-ea"/>
                      <a:cs typeface="Times New Roman" pitchFamily="18" charset="0"/>
                    </a:rPr>
                    <a:t>1</a:t>
                  </a:r>
                  <a:r>
                    <a:rPr lang="en-US" altLang="zh-CN" dirty="0">
                      <a:latin typeface="+mn-ea"/>
                      <a:ea typeface="+mn-ea"/>
                    </a:rPr>
                    <a:t> </a:t>
                  </a:r>
                </a:p>
              </p:txBody>
            </p:sp>
            <p:sp>
              <p:nvSpPr>
                <p:cNvPr id="323655" name="Rectangle 71"/>
                <p:cNvSpPr>
                  <a:spLocks noChangeArrowheads="1"/>
                </p:cNvSpPr>
                <p:nvPr/>
              </p:nvSpPr>
              <p:spPr bwMode="auto">
                <a:xfrm>
                  <a:off x="703" y="2004"/>
                  <a:ext cx="33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dirty="0">
                      <a:latin typeface="+mn-ea"/>
                      <a:ea typeface="+mn-ea"/>
                      <a:cs typeface="Times New Roman" pitchFamily="18" charset="0"/>
                    </a:rPr>
                    <a:t>S</a:t>
                  </a:r>
                  <a:r>
                    <a:rPr lang="en-US" altLang="zh-CN" baseline="-30000" dirty="0">
                      <a:latin typeface="+mn-ea"/>
                      <a:ea typeface="+mn-ea"/>
                      <a:cs typeface="Times New Roman" pitchFamily="18" charset="0"/>
                    </a:rPr>
                    <a:t>0</a:t>
                  </a:r>
                  <a:r>
                    <a:rPr lang="en-US" altLang="zh-CN" dirty="0">
                      <a:latin typeface="+mn-ea"/>
                      <a:ea typeface="+mn-ea"/>
                    </a:rPr>
                    <a:t> </a:t>
                  </a:r>
                </a:p>
              </p:txBody>
            </p:sp>
            <p:sp>
              <p:nvSpPr>
                <p:cNvPr id="323656" name="Rectangle 72"/>
                <p:cNvSpPr>
                  <a:spLocks noChangeArrowheads="1"/>
                </p:cNvSpPr>
                <p:nvPr/>
              </p:nvSpPr>
              <p:spPr bwMode="auto">
                <a:xfrm>
                  <a:off x="1858" y="1266"/>
                  <a:ext cx="34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dirty="0">
                      <a:latin typeface="+mn-ea"/>
                      <a:ea typeface="+mn-ea"/>
                      <a:cs typeface="Times New Roman" pitchFamily="18" charset="0"/>
                    </a:rPr>
                    <a:t>D</a:t>
                  </a:r>
                  <a:r>
                    <a:rPr lang="en-US" altLang="zh-CN" baseline="-30000" dirty="0">
                      <a:latin typeface="+mn-ea"/>
                      <a:ea typeface="+mn-ea"/>
                      <a:cs typeface="Times New Roman" pitchFamily="18" charset="0"/>
                    </a:rPr>
                    <a:t>0</a:t>
                  </a:r>
                  <a:r>
                    <a:rPr lang="en-US" altLang="zh-CN" dirty="0">
                      <a:latin typeface="+mn-ea"/>
                      <a:ea typeface="+mn-ea"/>
                    </a:rPr>
                    <a:t> </a:t>
                  </a:r>
                </a:p>
              </p:txBody>
            </p:sp>
            <p:sp>
              <p:nvSpPr>
                <p:cNvPr id="323657" name="Rectangle 73"/>
                <p:cNvSpPr>
                  <a:spLocks noChangeArrowheads="1"/>
                </p:cNvSpPr>
                <p:nvPr/>
              </p:nvSpPr>
              <p:spPr bwMode="auto">
                <a:xfrm>
                  <a:off x="2295" y="1266"/>
                  <a:ext cx="34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dirty="0">
                      <a:latin typeface="+mn-ea"/>
                      <a:ea typeface="+mn-ea"/>
                      <a:cs typeface="Times New Roman" pitchFamily="18" charset="0"/>
                    </a:rPr>
                    <a:t>D</a:t>
                  </a:r>
                  <a:r>
                    <a:rPr lang="en-US" altLang="zh-CN" baseline="-30000" dirty="0">
                      <a:latin typeface="+mn-ea"/>
                      <a:ea typeface="+mn-ea"/>
                      <a:cs typeface="Times New Roman" pitchFamily="18" charset="0"/>
                    </a:rPr>
                    <a:t>3</a:t>
                  </a:r>
                  <a:r>
                    <a:rPr lang="en-US" altLang="zh-CN" dirty="0">
                      <a:latin typeface="+mn-ea"/>
                      <a:ea typeface="+mn-ea"/>
                    </a:rPr>
                    <a:t> </a:t>
                  </a:r>
                </a:p>
              </p:txBody>
            </p:sp>
            <p:sp>
              <p:nvSpPr>
                <p:cNvPr id="323658" name="Rectangle 74"/>
                <p:cNvSpPr>
                  <a:spLocks noChangeArrowheads="1"/>
                </p:cNvSpPr>
                <p:nvPr/>
              </p:nvSpPr>
              <p:spPr bwMode="auto">
                <a:xfrm>
                  <a:off x="2930" y="1266"/>
                  <a:ext cx="34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dirty="0">
                      <a:latin typeface="+mn-ea"/>
                      <a:ea typeface="+mn-ea"/>
                      <a:cs typeface="Times New Roman" pitchFamily="18" charset="0"/>
                    </a:rPr>
                    <a:t>D</a:t>
                  </a:r>
                  <a:r>
                    <a:rPr lang="en-US" altLang="zh-CN" baseline="-30000" dirty="0">
                      <a:latin typeface="+mn-ea"/>
                      <a:ea typeface="+mn-ea"/>
                      <a:cs typeface="Times New Roman" pitchFamily="18" charset="0"/>
                    </a:rPr>
                    <a:t>7</a:t>
                  </a:r>
                  <a:r>
                    <a:rPr lang="en-US" altLang="zh-CN" dirty="0">
                      <a:latin typeface="+mn-ea"/>
                      <a:ea typeface="+mn-ea"/>
                    </a:rPr>
                    <a:t> </a:t>
                  </a:r>
                </a:p>
              </p:txBody>
            </p:sp>
            <p:sp>
              <p:nvSpPr>
                <p:cNvPr id="323659" name="Line 75"/>
                <p:cNvSpPr>
                  <a:spLocks noChangeShapeType="1"/>
                </p:cNvSpPr>
                <p:nvPr/>
              </p:nvSpPr>
              <p:spPr bwMode="auto">
                <a:xfrm>
                  <a:off x="2092" y="1422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23660" name="Line 76"/>
                <p:cNvSpPr>
                  <a:spLocks noChangeShapeType="1"/>
                </p:cNvSpPr>
                <p:nvPr/>
              </p:nvSpPr>
              <p:spPr bwMode="auto">
                <a:xfrm>
                  <a:off x="2727" y="1422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grpSp>
              <p:nvGrpSpPr>
                <p:cNvPr id="11" name="Group 77"/>
                <p:cNvGrpSpPr>
                  <a:grpSpLocks/>
                </p:cNvGrpSpPr>
                <p:nvPr/>
              </p:nvGrpSpPr>
              <p:grpSpPr bwMode="auto">
                <a:xfrm>
                  <a:off x="4110" y="1266"/>
                  <a:ext cx="1484" cy="291"/>
                  <a:chOff x="4110" y="1266"/>
                  <a:chExt cx="1484" cy="291"/>
                </a:xfrm>
              </p:grpSpPr>
              <p:sp>
                <p:nvSpPr>
                  <p:cNvPr id="323662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4110" y="1266"/>
                    <a:ext cx="348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 dirty="0">
                        <a:latin typeface="+mn-ea"/>
                        <a:ea typeface="+mn-ea"/>
                        <a:cs typeface="Times New Roman" pitchFamily="18" charset="0"/>
                      </a:rPr>
                      <a:t>D</a:t>
                    </a:r>
                    <a:r>
                      <a:rPr lang="en-US" altLang="zh-CN" baseline="-30000" dirty="0">
                        <a:latin typeface="+mn-ea"/>
                        <a:ea typeface="+mn-ea"/>
                        <a:cs typeface="Times New Roman" pitchFamily="18" charset="0"/>
                      </a:rPr>
                      <a:t>8</a:t>
                    </a:r>
                    <a:r>
                      <a:rPr lang="en-US" altLang="zh-CN" dirty="0">
                        <a:latin typeface="+mn-ea"/>
                        <a:ea typeface="+mn-ea"/>
                      </a:rPr>
                      <a:t> </a:t>
                    </a:r>
                  </a:p>
                </p:txBody>
              </p:sp>
              <p:sp>
                <p:nvSpPr>
                  <p:cNvPr id="323663" name="Rectangle 79"/>
                  <p:cNvSpPr>
                    <a:spLocks noChangeArrowheads="1"/>
                  </p:cNvSpPr>
                  <p:nvPr/>
                </p:nvSpPr>
                <p:spPr bwMode="auto">
                  <a:xfrm>
                    <a:off x="4547" y="1266"/>
                    <a:ext cx="412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 dirty="0">
                        <a:latin typeface="+mn-ea"/>
                        <a:ea typeface="+mn-ea"/>
                        <a:cs typeface="Times New Roman" pitchFamily="18" charset="0"/>
                      </a:rPr>
                      <a:t>D</a:t>
                    </a:r>
                    <a:r>
                      <a:rPr lang="en-US" altLang="zh-CN" baseline="-30000" dirty="0">
                        <a:latin typeface="+mn-ea"/>
                        <a:ea typeface="+mn-ea"/>
                        <a:cs typeface="Times New Roman" pitchFamily="18" charset="0"/>
                      </a:rPr>
                      <a:t>11</a:t>
                    </a:r>
                    <a:r>
                      <a:rPr lang="en-US" altLang="zh-CN" dirty="0">
                        <a:latin typeface="+mn-ea"/>
                        <a:ea typeface="+mn-ea"/>
                      </a:rPr>
                      <a:t> </a:t>
                    </a:r>
                  </a:p>
                </p:txBody>
              </p:sp>
              <p:sp>
                <p:nvSpPr>
                  <p:cNvPr id="323664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4745" y="1266"/>
                    <a:ext cx="412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 dirty="0">
                        <a:latin typeface="+mn-ea"/>
                        <a:ea typeface="+mn-ea"/>
                        <a:cs typeface="Times New Roman" pitchFamily="18" charset="0"/>
                      </a:rPr>
                      <a:t>D</a:t>
                    </a:r>
                    <a:r>
                      <a:rPr lang="en-US" altLang="zh-CN" baseline="-30000" dirty="0">
                        <a:latin typeface="+mn-ea"/>
                        <a:ea typeface="+mn-ea"/>
                        <a:cs typeface="Times New Roman" pitchFamily="18" charset="0"/>
                      </a:rPr>
                      <a:t>12</a:t>
                    </a:r>
                    <a:r>
                      <a:rPr lang="en-US" altLang="zh-CN" dirty="0">
                        <a:latin typeface="+mn-ea"/>
                        <a:ea typeface="+mn-ea"/>
                      </a:rPr>
                      <a:t> </a:t>
                    </a:r>
                  </a:p>
                </p:txBody>
              </p:sp>
              <p:sp>
                <p:nvSpPr>
                  <p:cNvPr id="323665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5182" y="1266"/>
                    <a:ext cx="412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 dirty="0">
                        <a:latin typeface="+mn-ea"/>
                        <a:ea typeface="+mn-ea"/>
                        <a:cs typeface="Times New Roman" pitchFamily="18" charset="0"/>
                      </a:rPr>
                      <a:t>D</a:t>
                    </a:r>
                    <a:r>
                      <a:rPr lang="en-US" altLang="zh-CN" baseline="-30000" dirty="0">
                        <a:latin typeface="+mn-ea"/>
                        <a:ea typeface="+mn-ea"/>
                        <a:cs typeface="Times New Roman" pitchFamily="18" charset="0"/>
                      </a:rPr>
                      <a:t>15</a:t>
                    </a:r>
                    <a:r>
                      <a:rPr lang="en-US" altLang="zh-CN" dirty="0">
                        <a:latin typeface="+mn-ea"/>
                        <a:ea typeface="+mn-ea"/>
                      </a:rPr>
                      <a:t> </a:t>
                    </a:r>
                  </a:p>
                </p:txBody>
              </p:sp>
              <p:sp>
                <p:nvSpPr>
                  <p:cNvPr id="323666" name="Line 82"/>
                  <p:cNvSpPr>
                    <a:spLocks noChangeShapeType="1"/>
                  </p:cNvSpPr>
                  <p:nvPr/>
                </p:nvSpPr>
                <p:spPr bwMode="auto">
                  <a:xfrm>
                    <a:off x="4344" y="1422"/>
                    <a:ext cx="22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lg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323667" name="Line 83"/>
                  <p:cNvSpPr>
                    <a:spLocks noChangeShapeType="1"/>
                  </p:cNvSpPr>
                  <p:nvPr/>
                </p:nvSpPr>
                <p:spPr bwMode="auto">
                  <a:xfrm>
                    <a:off x="5024" y="1422"/>
                    <a:ext cx="22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lg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</p:grpSp>
        </p:grpSp>
      </p:grpSp>
      <p:sp>
        <p:nvSpPr>
          <p:cNvPr id="323668" name="Text Box 84"/>
          <p:cNvSpPr txBox="1">
            <a:spLocks noChangeArrowheads="1"/>
          </p:cNvSpPr>
          <p:nvPr/>
        </p:nvSpPr>
        <p:spPr bwMode="auto">
          <a:xfrm>
            <a:off x="685800" y="6019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邏輯結構：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S</a:t>
            </a:r>
            <a:r>
              <a:rPr lang="en-US" altLang="zh-CN" sz="2400" b="1" baseline="-25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 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S</a:t>
            </a:r>
            <a:r>
              <a:rPr lang="en-US" altLang="zh-CN" sz="2400" b="1" baseline="-25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0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控制第一層選擇，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S</a:t>
            </a:r>
            <a:r>
              <a:rPr lang="en-US" altLang="zh-CN" sz="2400" b="1" baseline="-25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3 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S</a:t>
            </a:r>
            <a:r>
              <a:rPr lang="en-US" altLang="zh-CN" sz="2400" b="1" baseline="-250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2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控制第二層選擇。</a:t>
            </a:r>
          </a:p>
        </p:txBody>
      </p:sp>
      <p:sp>
        <p:nvSpPr>
          <p:cNvPr id="323669" name="Rectangle 85"/>
          <p:cNvSpPr>
            <a:spLocks noChangeArrowheads="1"/>
          </p:cNvSpPr>
          <p:nvPr/>
        </p:nvSpPr>
        <p:spPr bwMode="auto">
          <a:xfrm>
            <a:off x="457200" y="1685751"/>
            <a:ext cx="2327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兩級選擇結構</a:t>
            </a:r>
          </a:p>
        </p:txBody>
      </p:sp>
      <p:grpSp>
        <p:nvGrpSpPr>
          <p:cNvPr id="12" name="Group 86"/>
          <p:cNvGrpSpPr>
            <a:grpSpLocks/>
          </p:cNvGrpSpPr>
          <p:nvPr/>
        </p:nvGrpSpPr>
        <p:grpSpPr bwMode="auto">
          <a:xfrm>
            <a:off x="4267200" y="3581400"/>
            <a:ext cx="228600" cy="1066800"/>
            <a:chOff x="2688" y="2256"/>
            <a:chExt cx="144" cy="672"/>
          </a:xfrm>
        </p:grpSpPr>
        <p:sp>
          <p:nvSpPr>
            <p:cNvPr id="323671" name="Line 87"/>
            <p:cNvSpPr>
              <a:spLocks noChangeShapeType="1"/>
            </p:cNvSpPr>
            <p:nvPr/>
          </p:nvSpPr>
          <p:spPr bwMode="auto">
            <a:xfrm>
              <a:off x="2688" y="254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72" name="Line 88"/>
            <p:cNvSpPr>
              <a:spLocks noChangeShapeType="1"/>
            </p:cNvSpPr>
            <p:nvPr/>
          </p:nvSpPr>
          <p:spPr bwMode="auto">
            <a:xfrm>
              <a:off x="2688" y="254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73" name="Line 89"/>
            <p:cNvSpPr>
              <a:spLocks noChangeShapeType="1"/>
            </p:cNvSpPr>
            <p:nvPr/>
          </p:nvSpPr>
          <p:spPr bwMode="auto">
            <a:xfrm>
              <a:off x="2832" y="225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3" name="Group 90"/>
          <p:cNvGrpSpPr>
            <a:grpSpLocks/>
          </p:cNvGrpSpPr>
          <p:nvPr/>
        </p:nvGrpSpPr>
        <p:grpSpPr bwMode="auto">
          <a:xfrm>
            <a:off x="1760538" y="3048000"/>
            <a:ext cx="4564063" cy="685800"/>
            <a:chOff x="1109" y="1920"/>
            <a:chExt cx="2875" cy="432"/>
          </a:xfrm>
        </p:grpSpPr>
        <p:sp>
          <p:nvSpPr>
            <p:cNvPr id="323675" name="Line 91"/>
            <p:cNvSpPr>
              <a:spLocks noChangeShapeType="1"/>
            </p:cNvSpPr>
            <p:nvPr/>
          </p:nvSpPr>
          <p:spPr bwMode="auto">
            <a:xfrm flipH="1" flipV="1">
              <a:off x="3696" y="192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76" name="Line 92"/>
            <p:cNvSpPr>
              <a:spLocks noChangeShapeType="1"/>
            </p:cNvSpPr>
            <p:nvPr/>
          </p:nvSpPr>
          <p:spPr bwMode="auto">
            <a:xfrm>
              <a:off x="1152" y="196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77" name="Line 93"/>
            <p:cNvSpPr>
              <a:spLocks noChangeShapeType="1"/>
            </p:cNvSpPr>
            <p:nvPr/>
          </p:nvSpPr>
          <p:spPr bwMode="auto">
            <a:xfrm>
              <a:off x="1152" y="2352"/>
              <a:ext cx="25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78" name="Line 94"/>
            <p:cNvSpPr>
              <a:spLocks noChangeShapeType="1"/>
            </p:cNvSpPr>
            <p:nvPr/>
          </p:nvSpPr>
          <p:spPr bwMode="auto">
            <a:xfrm flipV="1">
              <a:off x="3696" y="192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79" name="Oval 95"/>
            <p:cNvSpPr>
              <a:spLocks noChangeArrowheads="1"/>
            </p:cNvSpPr>
            <p:nvPr/>
          </p:nvSpPr>
          <p:spPr bwMode="auto">
            <a:xfrm>
              <a:off x="1109" y="194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4" name="Group 96"/>
          <p:cNvGrpSpPr>
            <a:grpSpLocks/>
          </p:cNvGrpSpPr>
          <p:nvPr/>
        </p:nvGrpSpPr>
        <p:grpSpPr bwMode="auto">
          <a:xfrm>
            <a:off x="2136775" y="3314706"/>
            <a:ext cx="4187825" cy="571501"/>
            <a:chOff x="1346" y="2088"/>
            <a:chExt cx="2638" cy="360"/>
          </a:xfrm>
        </p:grpSpPr>
        <p:sp>
          <p:nvSpPr>
            <p:cNvPr id="323681" name="Line 97"/>
            <p:cNvSpPr>
              <a:spLocks noChangeShapeType="1"/>
            </p:cNvSpPr>
            <p:nvPr/>
          </p:nvSpPr>
          <p:spPr bwMode="auto">
            <a:xfrm flipH="1">
              <a:off x="3840" y="211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82" name="Line 98"/>
            <p:cNvSpPr>
              <a:spLocks noChangeShapeType="1"/>
            </p:cNvSpPr>
            <p:nvPr/>
          </p:nvSpPr>
          <p:spPr bwMode="auto">
            <a:xfrm>
              <a:off x="1392" y="211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83" name="Line 99"/>
            <p:cNvSpPr>
              <a:spLocks noChangeShapeType="1"/>
            </p:cNvSpPr>
            <p:nvPr/>
          </p:nvSpPr>
          <p:spPr bwMode="auto">
            <a:xfrm>
              <a:off x="1392" y="2448"/>
              <a:ext cx="2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84" name="Line 100"/>
            <p:cNvSpPr>
              <a:spLocks noChangeShapeType="1"/>
            </p:cNvSpPr>
            <p:nvPr/>
          </p:nvSpPr>
          <p:spPr bwMode="auto">
            <a:xfrm flipH="1">
              <a:off x="3840" y="211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85" name="Oval 101"/>
            <p:cNvSpPr>
              <a:spLocks noChangeArrowheads="1"/>
            </p:cNvSpPr>
            <p:nvPr/>
          </p:nvSpPr>
          <p:spPr bwMode="auto">
            <a:xfrm>
              <a:off x="1346" y="20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5" name="Group 102"/>
          <p:cNvGrpSpPr>
            <a:grpSpLocks/>
          </p:cNvGrpSpPr>
          <p:nvPr/>
        </p:nvGrpSpPr>
        <p:grpSpPr bwMode="auto">
          <a:xfrm>
            <a:off x="4800600" y="3505200"/>
            <a:ext cx="3352800" cy="1143000"/>
            <a:chOff x="3024" y="2208"/>
            <a:chExt cx="2112" cy="720"/>
          </a:xfrm>
        </p:grpSpPr>
        <p:sp>
          <p:nvSpPr>
            <p:cNvPr id="323687" name="Line 103"/>
            <p:cNvSpPr>
              <a:spLocks noChangeShapeType="1"/>
            </p:cNvSpPr>
            <p:nvPr/>
          </p:nvSpPr>
          <p:spPr bwMode="auto">
            <a:xfrm>
              <a:off x="5136" y="2208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88" name="Line 104"/>
            <p:cNvSpPr>
              <a:spLocks noChangeShapeType="1"/>
            </p:cNvSpPr>
            <p:nvPr/>
          </p:nvSpPr>
          <p:spPr bwMode="auto">
            <a:xfrm>
              <a:off x="3024" y="2832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89" name="Line 105"/>
            <p:cNvSpPr>
              <a:spLocks noChangeShapeType="1"/>
            </p:cNvSpPr>
            <p:nvPr/>
          </p:nvSpPr>
          <p:spPr bwMode="auto">
            <a:xfrm flipH="1" flipV="1">
              <a:off x="3024" y="28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461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323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2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643" grpId="0" animBg="1"/>
      <p:bldP spid="323668" grpId="0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35520" y="7144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選擇器擴展</a:t>
            </a:r>
            <a:r>
              <a:rPr lang="zh-CN" altLang="en-US" dirty="0"/>
              <a:t>：</a:t>
            </a:r>
            <a:r>
              <a:rPr lang="zh-CN" altLang="en-US" sz="3200" dirty="0"/>
              <a:t>用雙</a:t>
            </a:r>
            <a:r>
              <a:rPr lang="en-US" altLang="zh-CN" sz="3200" dirty="0"/>
              <a:t>4</a:t>
            </a:r>
            <a:r>
              <a:rPr lang="zh-CN" altLang="en-US" sz="3200" dirty="0"/>
              <a:t>選</a:t>
            </a:r>
            <a:r>
              <a:rPr lang="en-US" altLang="zh-CN" sz="3200" dirty="0"/>
              <a:t>1</a:t>
            </a:r>
            <a:r>
              <a:rPr lang="zh-CN" altLang="en-US" sz="3200" dirty="0"/>
              <a:t>選擇器</a:t>
            </a:r>
            <a:r>
              <a:rPr lang="en-US" altLang="zh-CN" sz="3200" dirty="0"/>
              <a:t>(</a:t>
            </a:r>
            <a:r>
              <a:rPr lang="zh-CN" altLang="en-US" sz="3200" dirty="0">
                <a:solidFill>
                  <a:srgbClr val="CC00FF"/>
                </a:solidFill>
              </a:rPr>
              <a:t>有使能端</a:t>
            </a:r>
            <a:r>
              <a:rPr lang="en-US" altLang="zh-CN" sz="3200" dirty="0"/>
              <a:t>)</a:t>
            </a:r>
            <a:br>
              <a:rPr lang="en-US" altLang="zh-CN" sz="3200" dirty="0"/>
            </a:br>
            <a:r>
              <a:rPr lang="en-US" altLang="zh-CN" sz="3200" dirty="0"/>
              <a:t>                     </a:t>
            </a:r>
            <a:r>
              <a:rPr lang="zh-CN" altLang="en-US" sz="3200" dirty="0"/>
              <a:t>擴展成</a:t>
            </a:r>
            <a:r>
              <a:rPr lang="en-US" altLang="zh-CN" sz="3200" dirty="0"/>
              <a:t>16</a:t>
            </a:r>
            <a:r>
              <a:rPr lang="zh-CN" altLang="en-US" sz="3200" dirty="0"/>
              <a:t>選</a:t>
            </a:r>
            <a:r>
              <a:rPr lang="en-US" altLang="zh-CN" sz="3200" dirty="0"/>
              <a:t>1</a:t>
            </a:r>
            <a:r>
              <a:rPr lang="zh-CN" altLang="en-US" sz="3200" dirty="0"/>
              <a:t>選擇器</a:t>
            </a:r>
          </a:p>
        </p:txBody>
      </p:sp>
      <p:sp>
        <p:nvSpPr>
          <p:cNvPr id="1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36888-B310-49CF-B85D-BC0A13B927E1}" type="slidenum">
              <a:rPr lang="en-US" altLang="zh-CN">
                <a:latin typeface="+mn-ea"/>
                <a:ea typeface="+mn-ea"/>
              </a:rPr>
              <a:pPr/>
              <a:t>83</a:t>
            </a:fld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622925" y="3429000"/>
            <a:ext cx="3455988" cy="1295400"/>
            <a:chOff x="3405" y="2448"/>
            <a:chExt cx="2177" cy="816"/>
          </a:xfrm>
        </p:grpSpPr>
        <p:sp>
          <p:nvSpPr>
            <p:cNvPr id="324612" name="Rectangle 4"/>
            <p:cNvSpPr>
              <a:spLocks noChangeArrowheads="1"/>
            </p:cNvSpPr>
            <p:nvPr/>
          </p:nvSpPr>
          <p:spPr bwMode="auto">
            <a:xfrm>
              <a:off x="3499" y="2592"/>
              <a:ext cx="1970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13" name="Line 5"/>
            <p:cNvSpPr>
              <a:spLocks noChangeShapeType="1"/>
            </p:cNvSpPr>
            <p:nvPr/>
          </p:nvSpPr>
          <p:spPr bwMode="auto">
            <a:xfrm>
              <a:off x="4605" y="2592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14" name="Line 6"/>
            <p:cNvSpPr>
              <a:spLocks noChangeShapeType="1"/>
            </p:cNvSpPr>
            <p:nvPr/>
          </p:nvSpPr>
          <p:spPr bwMode="auto">
            <a:xfrm flipV="1">
              <a:off x="3984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15" name="Line 7"/>
            <p:cNvSpPr>
              <a:spLocks noChangeShapeType="1"/>
            </p:cNvSpPr>
            <p:nvPr/>
          </p:nvSpPr>
          <p:spPr bwMode="auto">
            <a:xfrm flipV="1">
              <a:off x="4464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16" name="Line 8"/>
            <p:cNvSpPr>
              <a:spLocks noChangeShapeType="1"/>
            </p:cNvSpPr>
            <p:nvPr/>
          </p:nvSpPr>
          <p:spPr bwMode="auto">
            <a:xfrm flipV="1">
              <a:off x="4896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17" name="Line 9"/>
            <p:cNvSpPr>
              <a:spLocks noChangeShapeType="1"/>
            </p:cNvSpPr>
            <p:nvPr/>
          </p:nvSpPr>
          <p:spPr bwMode="auto">
            <a:xfrm flipV="1">
              <a:off x="5376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18" name="Rectangle 10"/>
            <p:cNvSpPr>
              <a:spLocks noChangeArrowheads="1"/>
            </p:cNvSpPr>
            <p:nvPr/>
          </p:nvSpPr>
          <p:spPr bwMode="auto">
            <a:xfrm>
              <a:off x="3464" y="2798"/>
              <a:ext cx="33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S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0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19" name="Rectangle 11"/>
            <p:cNvSpPr>
              <a:spLocks noChangeArrowheads="1"/>
            </p:cNvSpPr>
            <p:nvPr/>
          </p:nvSpPr>
          <p:spPr bwMode="auto">
            <a:xfrm>
              <a:off x="3453" y="2617"/>
              <a:ext cx="33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S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1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20" name="Rectangle 12"/>
            <p:cNvSpPr>
              <a:spLocks noChangeArrowheads="1"/>
            </p:cNvSpPr>
            <p:nvPr/>
          </p:nvSpPr>
          <p:spPr bwMode="auto">
            <a:xfrm>
              <a:off x="3871" y="2514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0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21" name="Rectangle 13"/>
            <p:cNvSpPr>
              <a:spLocks noChangeArrowheads="1"/>
            </p:cNvSpPr>
            <p:nvPr/>
          </p:nvSpPr>
          <p:spPr bwMode="auto">
            <a:xfrm>
              <a:off x="4367" y="2514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3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22" name="Rectangle 14"/>
            <p:cNvSpPr>
              <a:spLocks noChangeArrowheads="1"/>
            </p:cNvSpPr>
            <p:nvPr/>
          </p:nvSpPr>
          <p:spPr bwMode="auto">
            <a:xfrm>
              <a:off x="4221" y="2822"/>
              <a:ext cx="27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23" name="Rectangle 15"/>
            <p:cNvSpPr>
              <a:spLocks noChangeArrowheads="1"/>
            </p:cNvSpPr>
            <p:nvPr/>
          </p:nvSpPr>
          <p:spPr bwMode="auto">
            <a:xfrm>
              <a:off x="4797" y="2514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0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24" name="Rectangle 16"/>
            <p:cNvSpPr>
              <a:spLocks noChangeArrowheads="1"/>
            </p:cNvSpPr>
            <p:nvPr/>
          </p:nvSpPr>
          <p:spPr bwMode="auto">
            <a:xfrm>
              <a:off x="5234" y="2514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3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25" name="Rectangle 17"/>
            <p:cNvSpPr>
              <a:spLocks noChangeArrowheads="1"/>
            </p:cNvSpPr>
            <p:nvPr/>
          </p:nvSpPr>
          <p:spPr bwMode="auto">
            <a:xfrm>
              <a:off x="5043" y="2822"/>
              <a:ext cx="27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26" name="Line 18"/>
            <p:cNvSpPr>
              <a:spLocks noChangeShapeType="1"/>
            </p:cNvSpPr>
            <p:nvPr/>
          </p:nvSpPr>
          <p:spPr bwMode="auto">
            <a:xfrm>
              <a:off x="4104" y="2660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27" name="Line 19"/>
            <p:cNvSpPr>
              <a:spLocks noChangeShapeType="1"/>
            </p:cNvSpPr>
            <p:nvPr/>
          </p:nvSpPr>
          <p:spPr bwMode="auto">
            <a:xfrm>
              <a:off x="5031" y="2670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324628" name="Object 20"/>
            <p:cNvGraphicFramePr>
              <a:graphicFrameLocks noChangeAspect="1"/>
            </p:cNvGraphicFramePr>
            <p:nvPr/>
          </p:nvGraphicFramePr>
          <p:xfrm>
            <a:off x="3693" y="2592"/>
            <a:ext cx="240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79720" imgH="253800" progId="Equation.3">
                    <p:embed/>
                  </p:oleObj>
                </mc:Choice>
                <mc:Fallback>
                  <p:oleObj name="Equation" r:id="rId2" imgW="279720" imgH="253800" progId="Equation.3">
                    <p:embed/>
                    <p:pic>
                      <p:nvPicPr>
                        <p:cNvPr id="324628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3" y="2592"/>
                          <a:ext cx="240" cy="2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4629" name="Object 21"/>
            <p:cNvGraphicFramePr>
              <a:graphicFrameLocks noChangeAspect="1"/>
            </p:cNvGraphicFramePr>
            <p:nvPr/>
          </p:nvGraphicFramePr>
          <p:xfrm>
            <a:off x="4605" y="2592"/>
            <a:ext cx="240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79720" imgH="253800" progId="Equation.3">
                    <p:embed/>
                  </p:oleObj>
                </mc:Choice>
                <mc:Fallback>
                  <p:oleObj name="Equation" r:id="rId4" imgW="279720" imgH="253800" progId="Equation.3">
                    <p:embed/>
                    <p:pic>
                      <p:nvPicPr>
                        <p:cNvPr id="324629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5" y="2592"/>
                          <a:ext cx="240" cy="2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4630" name="Line 22"/>
            <p:cNvSpPr>
              <a:spLocks noChangeShapeType="1"/>
            </p:cNvSpPr>
            <p:nvPr/>
          </p:nvSpPr>
          <p:spPr bwMode="auto">
            <a:xfrm flipV="1">
              <a:off x="3792" y="244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31" name="Line 23"/>
            <p:cNvSpPr>
              <a:spLocks noChangeShapeType="1"/>
            </p:cNvSpPr>
            <p:nvPr/>
          </p:nvSpPr>
          <p:spPr bwMode="auto">
            <a:xfrm flipV="1">
              <a:off x="4701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32" name="Line 24"/>
            <p:cNvSpPr>
              <a:spLocks noChangeShapeType="1"/>
            </p:cNvSpPr>
            <p:nvPr/>
          </p:nvSpPr>
          <p:spPr bwMode="auto">
            <a:xfrm flipV="1">
              <a:off x="4317" y="312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33" name="Line 25"/>
            <p:cNvSpPr>
              <a:spLocks noChangeShapeType="1"/>
            </p:cNvSpPr>
            <p:nvPr/>
          </p:nvSpPr>
          <p:spPr bwMode="auto">
            <a:xfrm flipV="1">
              <a:off x="5181" y="312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34" name="Line 26"/>
            <p:cNvSpPr>
              <a:spLocks noChangeShapeType="1"/>
            </p:cNvSpPr>
            <p:nvPr/>
          </p:nvSpPr>
          <p:spPr bwMode="auto">
            <a:xfrm flipH="1">
              <a:off x="3405" y="27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35" name="Line 27"/>
            <p:cNvSpPr>
              <a:spLocks noChangeShapeType="1"/>
            </p:cNvSpPr>
            <p:nvPr/>
          </p:nvSpPr>
          <p:spPr bwMode="auto">
            <a:xfrm flipH="1">
              <a:off x="3405" y="297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1889125" y="3429000"/>
            <a:ext cx="3455988" cy="1295400"/>
            <a:chOff x="1053" y="2448"/>
            <a:chExt cx="2177" cy="816"/>
          </a:xfrm>
        </p:grpSpPr>
        <p:sp>
          <p:nvSpPr>
            <p:cNvPr id="324637" name="Rectangle 29"/>
            <p:cNvSpPr>
              <a:spLocks noChangeArrowheads="1"/>
            </p:cNvSpPr>
            <p:nvPr/>
          </p:nvSpPr>
          <p:spPr bwMode="auto">
            <a:xfrm>
              <a:off x="1147" y="2592"/>
              <a:ext cx="1970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38" name="Line 30"/>
            <p:cNvSpPr>
              <a:spLocks noChangeShapeType="1"/>
            </p:cNvSpPr>
            <p:nvPr/>
          </p:nvSpPr>
          <p:spPr bwMode="auto">
            <a:xfrm>
              <a:off x="2253" y="2592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39" name="Line 31"/>
            <p:cNvSpPr>
              <a:spLocks noChangeShapeType="1"/>
            </p:cNvSpPr>
            <p:nvPr/>
          </p:nvSpPr>
          <p:spPr bwMode="auto">
            <a:xfrm flipV="1">
              <a:off x="1632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40" name="Line 32"/>
            <p:cNvSpPr>
              <a:spLocks noChangeShapeType="1"/>
            </p:cNvSpPr>
            <p:nvPr/>
          </p:nvSpPr>
          <p:spPr bwMode="auto">
            <a:xfrm flipV="1">
              <a:off x="2112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41" name="Line 33"/>
            <p:cNvSpPr>
              <a:spLocks noChangeShapeType="1"/>
            </p:cNvSpPr>
            <p:nvPr/>
          </p:nvSpPr>
          <p:spPr bwMode="auto">
            <a:xfrm flipV="1">
              <a:off x="2544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42" name="Line 34"/>
            <p:cNvSpPr>
              <a:spLocks noChangeShapeType="1"/>
            </p:cNvSpPr>
            <p:nvPr/>
          </p:nvSpPr>
          <p:spPr bwMode="auto">
            <a:xfrm flipV="1">
              <a:off x="3024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43" name="Rectangle 35"/>
            <p:cNvSpPr>
              <a:spLocks noChangeArrowheads="1"/>
            </p:cNvSpPr>
            <p:nvPr/>
          </p:nvSpPr>
          <p:spPr bwMode="auto">
            <a:xfrm>
              <a:off x="1112" y="2798"/>
              <a:ext cx="33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S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0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44" name="Rectangle 36"/>
            <p:cNvSpPr>
              <a:spLocks noChangeArrowheads="1"/>
            </p:cNvSpPr>
            <p:nvPr/>
          </p:nvSpPr>
          <p:spPr bwMode="auto">
            <a:xfrm>
              <a:off x="1101" y="2617"/>
              <a:ext cx="33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S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1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45" name="Rectangle 37"/>
            <p:cNvSpPr>
              <a:spLocks noChangeArrowheads="1"/>
            </p:cNvSpPr>
            <p:nvPr/>
          </p:nvSpPr>
          <p:spPr bwMode="auto">
            <a:xfrm>
              <a:off x="1519" y="2514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0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46" name="Rectangle 38"/>
            <p:cNvSpPr>
              <a:spLocks noChangeArrowheads="1"/>
            </p:cNvSpPr>
            <p:nvPr/>
          </p:nvSpPr>
          <p:spPr bwMode="auto">
            <a:xfrm>
              <a:off x="2015" y="2514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3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47" name="Rectangle 39"/>
            <p:cNvSpPr>
              <a:spLocks noChangeArrowheads="1"/>
            </p:cNvSpPr>
            <p:nvPr/>
          </p:nvSpPr>
          <p:spPr bwMode="auto">
            <a:xfrm>
              <a:off x="1869" y="2822"/>
              <a:ext cx="27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48" name="Rectangle 40"/>
            <p:cNvSpPr>
              <a:spLocks noChangeArrowheads="1"/>
            </p:cNvSpPr>
            <p:nvPr/>
          </p:nvSpPr>
          <p:spPr bwMode="auto">
            <a:xfrm>
              <a:off x="2445" y="2514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0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49" name="Rectangle 41"/>
            <p:cNvSpPr>
              <a:spLocks noChangeArrowheads="1"/>
            </p:cNvSpPr>
            <p:nvPr/>
          </p:nvSpPr>
          <p:spPr bwMode="auto">
            <a:xfrm>
              <a:off x="2882" y="2514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3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50" name="Rectangle 42"/>
            <p:cNvSpPr>
              <a:spLocks noChangeArrowheads="1"/>
            </p:cNvSpPr>
            <p:nvPr/>
          </p:nvSpPr>
          <p:spPr bwMode="auto">
            <a:xfrm>
              <a:off x="2691" y="2822"/>
              <a:ext cx="27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51" name="Line 43"/>
            <p:cNvSpPr>
              <a:spLocks noChangeShapeType="1"/>
            </p:cNvSpPr>
            <p:nvPr/>
          </p:nvSpPr>
          <p:spPr bwMode="auto">
            <a:xfrm>
              <a:off x="1752" y="2660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52" name="Line 44"/>
            <p:cNvSpPr>
              <a:spLocks noChangeShapeType="1"/>
            </p:cNvSpPr>
            <p:nvPr/>
          </p:nvSpPr>
          <p:spPr bwMode="auto">
            <a:xfrm>
              <a:off x="2679" y="2670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324653" name="Object 45"/>
            <p:cNvGraphicFramePr>
              <a:graphicFrameLocks noChangeAspect="1"/>
            </p:cNvGraphicFramePr>
            <p:nvPr/>
          </p:nvGraphicFramePr>
          <p:xfrm>
            <a:off x="1341" y="2592"/>
            <a:ext cx="240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9720" imgH="253800" progId="Equation.3">
                    <p:embed/>
                  </p:oleObj>
                </mc:Choice>
                <mc:Fallback>
                  <p:oleObj name="Equation" r:id="rId6" imgW="279720" imgH="253800" progId="Equation.3">
                    <p:embed/>
                    <p:pic>
                      <p:nvPicPr>
                        <p:cNvPr id="324653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1" y="2592"/>
                          <a:ext cx="240" cy="2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4654" name="Object 46"/>
            <p:cNvGraphicFramePr>
              <a:graphicFrameLocks noChangeAspect="1"/>
            </p:cNvGraphicFramePr>
            <p:nvPr/>
          </p:nvGraphicFramePr>
          <p:xfrm>
            <a:off x="2253" y="2592"/>
            <a:ext cx="240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79720" imgH="253800" progId="Equation.3">
                    <p:embed/>
                  </p:oleObj>
                </mc:Choice>
                <mc:Fallback>
                  <p:oleObj name="Equation" r:id="rId4" imgW="279720" imgH="253800" progId="Equation.3">
                    <p:embed/>
                    <p:pic>
                      <p:nvPicPr>
                        <p:cNvPr id="324654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3" y="2592"/>
                          <a:ext cx="240" cy="2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4655" name="Line 47"/>
            <p:cNvSpPr>
              <a:spLocks noChangeShapeType="1"/>
            </p:cNvSpPr>
            <p:nvPr/>
          </p:nvSpPr>
          <p:spPr bwMode="auto">
            <a:xfrm flipV="1">
              <a:off x="1437" y="244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56" name="Line 48"/>
            <p:cNvSpPr>
              <a:spLocks noChangeShapeType="1"/>
            </p:cNvSpPr>
            <p:nvPr/>
          </p:nvSpPr>
          <p:spPr bwMode="auto">
            <a:xfrm flipV="1">
              <a:off x="2352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57" name="Line 49"/>
            <p:cNvSpPr>
              <a:spLocks noChangeShapeType="1"/>
            </p:cNvSpPr>
            <p:nvPr/>
          </p:nvSpPr>
          <p:spPr bwMode="auto">
            <a:xfrm flipV="1">
              <a:off x="1965" y="312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58" name="Line 50"/>
            <p:cNvSpPr>
              <a:spLocks noChangeShapeType="1"/>
            </p:cNvSpPr>
            <p:nvPr/>
          </p:nvSpPr>
          <p:spPr bwMode="auto">
            <a:xfrm flipV="1">
              <a:off x="2829" y="312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59" name="Line 51"/>
            <p:cNvSpPr>
              <a:spLocks noChangeShapeType="1"/>
            </p:cNvSpPr>
            <p:nvPr/>
          </p:nvSpPr>
          <p:spPr bwMode="auto">
            <a:xfrm flipH="1">
              <a:off x="1053" y="27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60" name="Line 52"/>
            <p:cNvSpPr>
              <a:spLocks noChangeShapeType="1"/>
            </p:cNvSpPr>
            <p:nvPr/>
          </p:nvSpPr>
          <p:spPr bwMode="auto">
            <a:xfrm flipH="1">
              <a:off x="1053" y="297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4" name="Group 53"/>
          <p:cNvGrpSpPr>
            <a:grpSpLocks/>
          </p:cNvGrpSpPr>
          <p:nvPr/>
        </p:nvGrpSpPr>
        <p:grpSpPr bwMode="auto">
          <a:xfrm>
            <a:off x="1055688" y="1484313"/>
            <a:ext cx="1304925" cy="1341437"/>
            <a:chOff x="528" y="1223"/>
            <a:chExt cx="822" cy="845"/>
          </a:xfrm>
        </p:grpSpPr>
        <p:sp>
          <p:nvSpPr>
            <p:cNvPr id="324662" name="Rectangle 54"/>
            <p:cNvSpPr>
              <a:spLocks noChangeArrowheads="1"/>
            </p:cNvSpPr>
            <p:nvPr/>
          </p:nvSpPr>
          <p:spPr bwMode="auto">
            <a:xfrm>
              <a:off x="710" y="1223"/>
              <a:ext cx="448" cy="84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63" name="Line 55"/>
            <p:cNvSpPr>
              <a:spLocks noChangeShapeType="1"/>
            </p:cNvSpPr>
            <p:nvPr/>
          </p:nvSpPr>
          <p:spPr bwMode="auto">
            <a:xfrm>
              <a:off x="528" y="1680"/>
              <a:ext cx="182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64" name="Line 56"/>
            <p:cNvSpPr>
              <a:spLocks noChangeShapeType="1"/>
            </p:cNvSpPr>
            <p:nvPr/>
          </p:nvSpPr>
          <p:spPr bwMode="auto">
            <a:xfrm>
              <a:off x="529" y="1392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65" name="Line 57"/>
            <p:cNvSpPr>
              <a:spLocks noChangeShapeType="1"/>
            </p:cNvSpPr>
            <p:nvPr/>
          </p:nvSpPr>
          <p:spPr bwMode="auto">
            <a:xfrm>
              <a:off x="1168" y="134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66" name="Line 58"/>
            <p:cNvSpPr>
              <a:spLocks noChangeShapeType="1"/>
            </p:cNvSpPr>
            <p:nvPr/>
          </p:nvSpPr>
          <p:spPr bwMode="auto">
            <a:xfrm>
              <a:off x="1168" y="153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67" name="Line 59"/>
            <p:cNvSpPr>
              <a:spLocks noChangeShapeType="1"/>
            </p:cNvSpPr>
            <p:nvPr/>
          </p:nvSpPr>
          <p:spPr bwMode="auto">
            <a:xfrm>
              <a:off x="1168" y="172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68" name="Line 60"/>
            <p:cNvSpPr>
              <a:spLocks noChangeShapeType="1"/>
            </p:cNvSpPr>
            <p:nvPr/>
          </p:nvSpPr>
          <p:spPr bwMode="auto">
            <a:xfrm>
              <a:off x="1168" y="192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69" name="Rectangle 61"/>
            <p:cNvSpPr>
              <a:spLocks noChangeArrowheads="1"/>
            </p:cNvSpPr>
            <p:nvPr/>
          </p:nvSpPr>
          <p:spPr bwMode="auto">
            <a:xfrm>
              <a:off x="896" y="1223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0</a:t>
              </a:r>
            </a:p>
          </p:txBody>
        </p:sp>
        <p:sp>
          <p:nvSpPr>
            <p:cNvPr id="324670" name="Line 62"/>
            <p:cNvSpPr>
              <a:spLocks noChangeShapeType="1"/>
            </p:cNvSpPr>
            <p:nvPr/>
          </p:nvSpPr>
          <p:spPr bwMode="auto">
            <a:xfrm>
              <a:off x="529" y="1872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71" name="Rectangle 63"/>
            <p:cNvSpPr>
              <a:spLocks noChangeArrowheads="1"/>
            </p:cNvSpPr>
            <p:nvPr/>
          </p:nvSpPr>
          <p:spPr bwMode="auto">
            <a:xfrm>
              <a:off x="897" y="1393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1</a:t>
              </a:r>
            </a:p>
          </p:txBody>
        </p:sp>
        <p:sp>
          <p:nvSpPr>
            <p:cNvPr id="324672" name="Rectangle 64"/>
            <p:cNvSpPr>
              <a:spLocks noChangeArrowheads="1"/>
            </p:cNvSpPr>
            <p:nvPr/>
          </p:nvSpPr>
          <p:spPr bwMode="auto">
            <a:xfrm>
              <a:off x="897" y="1571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2</a:t>
              </a:r>
            </a:p>
          </p:txBody>
        </p:sp>
        <p:sp>
          <p:nvSpPr>
            <p:cNvPr id="324673" name="Rectangle 65"/>
            <p:cNvSpPr>
              <a:spLocks noChangeArrowheads="1"/>
            </p:cNvSpPr>
            <p:nvPr/>
          </p:nvSpPr>
          <p:spPr bwMode="auto">
            <a:xfrm>
              <a:off x="897" y="1777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Y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3</a:t>
              </a:r>
            </a:p>
          </p:txBody>
        </p:sp>
        <p:sp>
          <p:nvSpPr>
            <p:cNvPr id="324674" name="Text Box 66"/>
            <p:cNvSpPr txBox="1">
              <a:spLocks noChangeArrowheads="1"/>
            </p:cNvSpPr>
            <p:nvPr/>
          </p:nvSpPr>
          <p:spPr bwMode="auto">
            <a:xfrm>
              <a:off x="711" y="1593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latin typeface="+mn-ea"/>
                  <a:ea typeface="+mn-ea"/>
                </a:rPr>
                <a:t>A</a:t>
              </a:r>
            </a:p>
          </p:txBody>
        </p:sp>
        <p:sp>
          <p:nvSpPr>
            <p:cNvPr id="324675" name="Text Box 67"/>
            <p:cNvSpPr txBox="1">
              <a:spLocks noChangeArrowheads="1"/>
            </p:cNvSpPr>
            <p:nvPr/>
          </p:nvSpPr>
          <p:spPr bwMode="auto">
            <a:xfrm>
              <a:off x="711" y="1785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latin typeface="+mn-ea"/>
                  <a:ea typeface="+mn-ea"/>
                </a:rPr>
                <a:t>B</a:t>
              </a:r>
            </a:p>
          </p:txBody>
        </p:sp>
        <p:graphicFrame>
          <p:nvGraphicFramePr>
            <p:cNvPr id="324676" name="Object 6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1527644"/>
                </p:ext>
              </p:extLst>
            </p:nvPr>
          </p:nvGraphicFramePr>
          <p:xfrm>
            <a:off x="711" y="1254"/>
            <a:ext cx="170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52280" imgH="215640" progId="Equation.3">
                    <p:embed/>
                  </p:oleObj>
                </mc:Choice>
                <mc:Fallback>
                  <p:oleObj name="公式" r:id="rId9" imgW="152280" imgH="215640" progId="Equation.3">
                    <p:embed/>
                    <p:pic>
                      <p:nvPicPr>
                        <p:cNvPr id="324676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1" y="1254"/>
                          <a:ext cx="170" cy="2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69"/>
          <p:cNvGrpSpPr>
            <a:grpSpLocks/>
          </p:cNvGrpSpPr>
          <p:nvPr/>
        </p:nvGrpSpPr>
        <p:grpSpPr bwMode="auto">
          <a:xfrm>
            <a:off x="2727325" y="1187452"/>
            <a:ext cx="6381750" cy="488951"/>
            <a:chOff x="1581" y="1036"/>
            <a:chExt cx="4020" cy="308"/>
          </a:xfrm>
        </p:grpSpPr>
        <p:sp>
          <p:nvSpPr>
            <p:cNvPr id="324678" name="Rectangle 70"/>
            <p:cNvSpPr>
              <a:spLocks noChangeArrowheads="1"/>
            </p:cNvSpPr>
            <p:nvPr/>
          </p:nvSpPr>
          <p:spPr bwMode="auto">
            <a:xfrm>
              <a:off x="2496" y="1036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4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79" name="Rectangle 71"/>
            <p:cNvSpPr>
              <a:spLocks noChangeArrowheads="1"/>
            </p:cNvSpPr>
            <p:nvPr/>
          </p:nvSpPr>
          <p:spPr bwMode="auto">
            <a:xfrm>
              <a:off x="1581" y="1046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0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80" name="Rectangle 72"/>
            <p:cNvSpPr>
              <a:spLocks noChangeArrowheads="1"/>
            </p:cNvSpPr>
            <p:nvPr/>
          </p:nvSpPr>
          <p:spPr bwMode="auto">
            <a:xfrm>
              <a:off x="2018" y="1046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3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81" name="Rectangle 73"/>
            <p:cNvSpPr>
              <a:spLocks noChangeArrowheads="1"/>
            </p:cNvSpPr>
            <p:nvPr/>
          </p:nvSpPr>
          <p:spPr bwMode="auto">
            <a:xfrm>
              <a:off x="2834" y="1046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7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82" name="Line 74"/>
            <p:cNvSpPr>
              <a:spLocks noChangeShapeType="1"/>
            </p:cNvSpPr>
            <p:nvPr/>
          </p:nvSpPr>
          <p:spPr bwMode="auto">
            <a:xfrm>
              <a:off x="1815" y="1202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83" name="Line 75"/>
            <p:cNvSpPr>
              <a:spLocks noChangeShapeType="1"/>
            </p:cNvSpPr>
            <p:nvPr/>
          </p:nvSpPr>
          <p:spPr bwMode="auto">
            <a:xfrm>
              <a:off x="2647" y="1202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84" name="Rectangle 76"/>
            <p:cNvSpPr>
              <a:spLocks noChangeArrowheads="1"/>
            </p:cNvSpPr>
            <p:nvPr/>
          </p:nvSpPr>
          <p:spPr bwMode="auto">
            <a:xfrm>
              <a:off x="3881" y="1053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8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85" name="Rectangle 77"/>
            <p:cNvSpPr>
              <a:spLocks noChangeArrowheads="1"/>
            </p:cNvSpPr>
            <p:nvPr/>
          </p:nvSpPr>
          <p:spPr bwMode="auto">
            <a:xfrm>
              <a:off x="4318" y="1053"/>
              <a:ext cx="4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11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86" name="Rectangle 78"/>
            <p:cNvSpPr>
              <a:spLocks noChangeArrowheads="1"/>
            </p:cNvSpPr>
            <p:nvPr/>
          </p:nvSpPr>
          <p:spPr bwMode="auto">
            <a:xfrm>
              <a:off x="4752" y="1046"/>
              <a:ext cx="4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12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87" name="Rectangle 79"/>
            <p:cNvSpPr>
              <a:spLocks noChangeArrowheads="1"/>
            </p:cNvSpPr>
            <p:nvPr/>
          </p:nvSpPr>
          <p:spPr bwMode="auto">
            <a:xfrm>
              <a:off x="5189" y="1046"/>
              <a:ext cx="4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15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4688" name="Line 80"/>
            <p:cNvSpPr>
              <a:spLocks noChangeShapeType="1"/>
            </p:cNvSpPr>
            <p:nvPr/>
          </p:nvSpPr>
          <p:spPr bwMode="auto">
            <a:xfrm>
              <a:off x="4115" y="1209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89" name="Line 81"/>
            <p:cNvSpPr>
              <a:spLocks noChangeShapeType="1"/>
            </p:cNvSpPr>
            <p:nvPr/>
          </p:nvSpPr>
          <p:spPr bwMode="auto">
            <a:xfrm>
              <a:off x="5031" y="1202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6" name="Group 82"/>
          <p:cNvGrpSpPr>
            <a:grpSpLocks/>
          </p:cNvGrpSpPr>
          <p:nvPr/>
        </p:nvGrpSpPr>
        <p:grpSpPr bwMode="auto">
          <a:xfrm>
            <a:off x="2351088" y="1676400"/>
            <a:ext cx="152400" cy="1752600"/>
            <a:chOff x="1344" y="1344"/>
            <a:chExt cx="96" cy="1104"/>
          </a:xfrm>
        </p:grpSpPr>
        <p:sp>
          <p:nvSpPr>
            <p:cNvPr id="324691" name="Line 83"/>
            <p:cNvSpPr>
              <a:spLocks noChangeShapeType="1"/>
            </p:cNvSpPr>
            <p:nvPr/>
          </p:nvSpPr>
          <p:spPr bwMode="auto">
            <a:xfrm>
              <a:off x="1344" y="1344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92" name="Line 84"/>
            <p:cNvSpPr>
              <a:spLocks noChangeShapeType="1"/>
            </p:cNvSpPr>
            <p:nvPr/>
          </p:nvSpPr>
          <p:spPr bwMode="auto">
            <a:xfrm>
              <a:off x="1440" y="1344"/>
              <a:ext cx="0" cy="110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7" name="Group 85"/>
          <p:cNvGrpSpPr>
            <a:grpSpLocks/>
          </p:cNvGrpSpPr>
          <p:nvPr/>
        </p:nvGrpSpPr>
        <p:grpSpPr bwMode="auto">
          <a:xfrm>
            <a:off x="2351088" y="1981200"/>
            <a:ext cx="1600200" cy="1447800"/>
            <a:chOff x="1344" y="1536"/>
            <a:chExt cx="1008" cy="912"/>
          </a:xfrm>
        </p:grpSpPr>
        <p:sp>
          <p:nvSpPr>
            <p:cNvPr id="324694" name="Line 86"/>
            <p:cNvSpPr>
              <a:spLocks noChangeShapeType="1"/>
            </p:cNvSpPr>
            <p:nvPr/>
          </p:nvSpPr>
          <p:spPr bwMode="auto">
            <a:xfrm>
              <a:off x="1344" y="1536"/>
              <a:ext cx="100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95" name="Line 87"/>
            <p:cNvSpPr>
              <a:spLocks noChangeShapeType="1"/>
            </p:cNvSpPr>
            <p:nvPr/>
          </p:nvSpPr>
          <p:spPr bwMode="auto">
            <a:xfrm flipH="1">
              <a:off x="2352" y="1536"/>
              <a:ext cx="0" cy="91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8" name="Group 88"/>
          <p:cNvGrpSpPr>
            <a:grpSpLocks/>
          </p:cNvGrpSpPr>
          <p:nvPr/>
        </p:nvGrpSpPr>
        <p:grpSpPr bwMode="auto">
          <a:xfrm>
            <a:off x="2351088" y="2286000"/>
            <a:ext cx="3886200" cy="1143000"/>
            <a:chOff x="1344" y="1728"/>
            <a:chExt cx="2448" cy="720"/>
          </a:xfrm>
        </p:grpSpPr>
        <p:sp>
          <p:nvSpPr>
            <p:cNvPr id="324697" name="Line 89"/>
            <p:cNvSpPr>
              <a:spLocks noChangeShapeType="1"/>
            </p:cNvSpPr>
            <p:nvPr/>
          </p:nvSpPr>
          <p:spPr bwMode="auto">
            <a:xfrm>
              <a:off x="1344" y="1728"/>
              <a:ext cx="244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98" name="Line 90"/>
            <p:cNvSpPr>
              <a:spLocks noChangeShapeType="1"/>
            </p:cNvSpPr>
            <p:nvPr/>
          </p:nvSpPr>
          <p:spPr bwMode="auto">
            <a:xfrm>
              <a:off x="3792" y="1728"/>
              <a:ext cx="0" cy="72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9" name="Group 91"/>
          <p:cNvGrpSpPr>
            <a:grpSpLocks/>
          </p:cNvGrpSpPr>
          <p:nvPr/>
        </p:nvGrpSpPr>
        <p:grpSpPr bwMode="auto">
          <a:xfrm>
            <a:off x="2274888" y="2590800"/>
            <a:ext cx="5410200" cy="838200"/>
            <a:chOff x="1296" y="1920"/>
            <a:chExt cx="3408" cy="528"/>
          </a:xfrm>
        </p:grpSpPr>
        <p:sp>
          <p:nvSpPr>
            <p:cNvPr id="324700" name="Line 92"/>
            <p:cNvSpPr>
              <a:spLocks noChangeShapeType="1"/>
            </p:cNvSpPr>
            <p:nvPr/>
          </p:nvSpPr>
          <p:spPr bwMode="auto">
            <a:xfrm>
              <a:off x="1296" y="1920"/>
              <a:ext cx="340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01" name="Line 93"/>
            <p:cNvSpPr>
              <a:spLocks noChangeShapeType="1"/>
            </p:cNvSpPr>
            <p:nvPr/>
          </p:nvSpPr>
          <p:spPr bwMode="auto">
            <a:xfrm>
              <a:off x="4704" y="1920"/>
              <a:ext cx="0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0" name="Group 94"/>
          <p:cNvGrpSpPr>
            <a:grpSpLocks/>
          </p:cNvGrpSpPr>
          <p:nvPr/>
        </p:nvGrpSpPr>
        <p:grpSpPr bwMode="auto">
          <a:xfrm>
            <a:off x="581025" y="3789365"/>
            <a:ext cx="703263" cy="1806576"/>
            <a:chOff x="229" y="2675"/>
            <a:chExt cx="443" cy="1138"/>
          </a:xfrm>
        </p:grpSpPr>
        <p:sp>
          <p:nvSpPr>
            <p:cNvPr id="324703" name="Line 95"/>
            <p:cNvSpPr>
              <a:spLocks noChangeShapeType="1"/>
            </p:cNvSpPr>
            <p:nvPr/>
          </p:nvSpPr>
          <p:spPr bwMode="auto">
            <a:xfrm>
              <a:off x="490" y="3024"/>
              <a:ext cx="182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04" name="Line 96"/>
            <p:cNvSpPr>
              <a:spLocks noChangeShapeType="1"/>
            </p:cNvSpPr>
            <p:nvPr/>
          </p:nvSpPr>
          <p:spPr bwMode="auto">
            <a:xfrm>
              <a:off x="480" y="3504"/>
              <a:ext cx="182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05" name="Line 97"/>
            <p:cNvSpPr>
              <a:spLocks noChangeShapeType="1"/>
            </p:cNvSpPr>
            <p:nvPr/>
          </p:nvSpPr>
          <p:spPr bwMode="auto">
            <a:xfrm>
              <a:off x="490" y="3696"/>
              <a:ext cx="182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11" name="Group 98"/>
            <p:cNvGrpSpPr>
              <a:grpSpLocks/>
            </p:cNvGrpSpPr>
            <p:nvPr/>
          </p:nvGrpSpPr>
          <p:grpSpPr bwMode="auto">
            <a:xfrm>
              <a:off x="229" y="2675"/>
              <a:ext cx="356" cy="1138"/>
              <a:chOff x="229" y="2675"/>
              <a:chExt cx="356" cy="1138"/>
            </a:xfrm>
          </p:grpSpPr>
          <p:sp>
            <p:nvSpPr>
              <p:cNvPr id="324707" name="Rectangle 99"/>
              <p:cNvSpPr>
                <a:spLocks noChangeArrowheads="1"/>
              </p:cNvSpPr>
              <p:nvPr/>
            </p:nvSpPr>
            <p:spPr bwMode="auto">
              <a:xfrm>
                <a:off x="248" y="2675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S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3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4708" name="Rectangle 100"/>
              <p:cNvSpPr>
                <a:spLocks noChangeArrowheads="1"/>
              </p:cNvSpPr>
              <p:nvPr/>
            </p:nvSpPr>
            <p:spPr bwMode="auto">
              <a:xfrm>
                <a:off x="240" y="2860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S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2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4709" name="Rectangle 101"/>
              <p:cNvSpPr>
                <a:spLocks noChangeArrowheads="1"/>
              </p:cNvSpPr>
              <p:nvPr/>
            </p:nvSpPr>
            <p:spPr bwMode="auto">
              <a:xfrm>
                <a:off x="240" y="3292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S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1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4710" name="Rectangle 102"/>
              <p:cNvSpPr>
                <a:spLocks noChangeArrowheads="1"/>
              </p:cNvSpPr>
              <p:nvPr/>
            </p:nvSpPr>
            <p:spPr bwMode="auto">
              <a:xfrm>
                <a:off x="229" y="3522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S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0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</p:txBody>
          </p:sp>
        </p:grpSp>
        <p:sp>
          <p:nvSpPr>
            <p:cNvPr id="324711" name="Line 103"/>
            <p:cNvSpPr>
              <a:spLocks noChangeShapeType="1"/>
            </p:cNvSpPr>
            <p:nvPr/>
          </p:nvSpPr>
          <p:spPr bwMode="auto">
            <a:xfrm>
              <a:off x="490" y="2877"/>
              <a:ext cx="182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2" name="Group 104"/>
          <p:cNvGrpSpPr>
            <a:grpSpLocks/>
          </p:cNvGrpSpPr>
          <p:nvPr/>
        </p:nvGrpSpPr>
        <p:grpSpPr bwMode="auto">
          <a:xfrm>
            <a:off x="674688" y="2514600"/>
            <a:ext cx="609600" cy="1600200"/>
            <a:chOff x="288" y="1872"/>
            <a:chExt cx="384" cy="1008"/>
          </a:xfrm>
        </p:grpSpPr>
        <p:sp>
          <p:nvSpPr>
            <p:cNvPr id="324713" name="Line 105"/>
            <p:cNvSpPr>
              <a:spLocks noChangeShapeType="1"/>
            </p:cNvSpPr>
            <p:nvPr/>
          </p:nvSpPr>
          <p:spPr bwMode="auto">
            <a:xfrm flipV="1">
              <a:off x="672" y="2496"/>
              <a:ext cx="0" cy="384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14" name="Line 106"/>
            <p:cNvSpPr>
              <a:spLocks noChangeShapeType="1"/>
            </p:cNvSpPr>
            <p:nvPr/>
          </p:nvSpPr>
          <p:spPr bwMode="auto">
            <a:xfrm flipH="1">
              <a:off x="288" y="2496"/>
              <a:ext cx="384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15" name="Line 107"/>
            <p:cNvSpPr>
              <a:spLocks noChangeShapeType="1"/>
            </p:cNvSpPr>
            <p:nvPr/>
          </p:nvSpPr>
          <p:spPr bwMode="auto">
            <a:xfrm flipV="1">
              <a:off x="288" y="1872"/>
              <a:ext cx="0" cy="624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16" name="Line 108"/>
            <p:cNvSpPr>
              <a:spLocks noChangeShapeType="1"/>
            </p:cNvSpPr>
            <p:nvPr/>
          </p:nvSpPr>
          <p:spPr bwMode="auto">
            <a:xfrm flipV="1">
              <a:off x="288" y="1872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3" name="Group 109"/>
          <p:cNvGrpSpPr>
            <a:grpSpLocks/>
          </p:cNvGrpSpPr>
          <p:nvPr/>
        </p:nvGrpSpPr>
        <p:grpSpPr bwMode="auto">
          <a:xfrm>
            <a:off x="1055688" y="2209800"/>
            <a:ext cx="381000" cy="2133600"/>
            <a:chOff x="528" y="1680"/>
            <a:chExt cx="240" cy="1344"/>
          </a:xfrm>
        </p:grpSpPr>
        <p:sp>
          <p:nvSpPr>
            <p:cNvPr id="324718" name="Line 110"/>
            <p:cNvSpPr>
              <a:spLocks noChangeShapeType="1"/>
            </p:cNvSpPr>
            <p:nvPr/>
          </p:nvSpPr>
          <p:spPr bwMode="auto">
            <a:xfrm>
              <a:off x="672" y="3024"/>
              <a:ext cx="96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19" name="Line 111"/>
            <p:cNvSpPr>
              <a:spLocks noChangeShapeType="1"/>
            </p:cNvSpPr>
            <p:nvPr/>
          </p:nvSpPr>
          <p:spPr bwMode="auto">
            <a:xfrm flipV="1">
              <a:off x="768" y="2400"/>
              <a:ext cx="0" cy="624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20" name="Line 112"/>
            <p:cNvSpPr>
              <a:spLocks noChangeShapeType="1"/>
            </p:cNvSpPr>
            <p:nvPr/>
          </p:nvSpPr>
          <p:spPr bwMode="auto">
            <a:xfrm flipH="1">
              <a:off x="528" y="2400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21" name="Line 113"/>
            <p:cNvSpPr>
              <a:spLocks noChangeShapeType="1"/>
            </p:cNvSpPr>
            <p:nvPr/>
          </p:nvSpPr>
          <p:spPr bwMode="auto">
            <a:xfrm>
              <a:off x="528" y="1680"/>
              <a:ext cx="0" cy="72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4" name="Group 114"/>
          <p:cNvGrpSpPr>
            <a:grpSpLocks/>
          </p:cNvGrpSpPr>
          <p:nvPr/>
        </p:nvGrpSpPr>
        <p:grpSpPr bwMode="auto">
          <a:xfrm>
            <a:off x="1284288" y="3962400"/>
            <a:ext cx="4343400" cy="1219200"/>
            <a:chOff x="672" y="2784"/>
            <a:chExt cx="2736" cy="768"/>
          </a:xfrm>
        </p:grpSpPr>
        <p:sp>
          <p:nvSpPr>
            <p:cNvPr id="324723" name="Line 115"/>
            <p:cNvSpPr>
              <a:spLocks noChangeShapeType="1"/>
            </p:cNvSpPr>
            <p:nvPr/>
          </p:nvSpPr>
          <p:spPr bwMode="auto">
            <a:xfrm>
              <a:off x="672" y="3504"/>
              <a:ext cx="26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24" name="Line 116"/>
            <p:cNvSpPr>
              <a:spLocks noChangeShapeType="1"/>
            </p:cNvSpPr>
            <p:nvPr/>
          </p:nvSpPr>
          <p:spPr bwMode="auto">
            <a:xfrm flipV="1">
              <a:off x="864" y="2784"/>
              <a:ext cx="0" cy="72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25" name="Line 117"/>
            <p:cNvSpPr>
              <a:spLocks noChangeShapeType="1"/>
            </p:cNvSpPr>
            <p:nvPr/>
          </p:nvSpPr>
          <p:spPr bwMode="auto">
            <a:xfrm>
              <a:off x="864" y="2784"/>
              <a:ext cx="192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26" name="Line 118"/>
            <p:cNvSpPr>
              <a:spLocks noChangeShapeType="1"/>
            </p:cNvSpPr>
            <p:nvPr/>
          </p:nvSpPr>
          <p:spPr bwMode="auto">
            <a:xfrm flipV="1">
              <a:off x="3312" y="2784"/>
              <a:ext cx="0" cy="72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27" name="Line 119"/>
            <p:cNvSpPr>
              <a:spLocks noChangeShapeType="1"/>
            </p:cNvSpPr>
            <p:nvPr/>
          </p:nvSpPr>
          <p:spPr bwMode="auto">
            <a:xfrm>
              <a:off x="3312" y="2784"/>
              <a:ext cx="96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28" name="Oval 120"/>
            <p:cNvSpPr>
              <a:spLocks noChangeArrowheads="1"/>
            </p:cNvSpPr>
            <p:nvPr/>
          </p:nvSpPr>
          <p:spPr bwMode="auto">
            <a:xfrm>
              <a:off x="816" y="3456"/>
              <a:ext cx="96" cy="96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5" name="Group 121"/>
          <p:cNvGrpSpPr>
            <a:grpSpLocks/>
          </p:cNvGrpSpPr>
          <p:nvPr/>
        </p:nvGrpSpPr>
        <p:grpSpPr bwMode="auto">
          <a:xfrm>
            <a:off x="1284288" y="4267200"/>
            <a:ext cx="4343400" cy="1219200"/>
            <a:chOff x="672" y="2976"/>
            <a:chExt cx="2736" cy="768"/>
          </a:xfrm>
        </p:grpSpPr>
        <p:sp>
          <p:nvSpPr>
            <p:cNvPr id="324730" name="Line 122"/>
            <p:cNvSpPr>
              <a:spLocks noChangeShapeType="1"/>
            </p:cNvSpPr>
            <p:nvPr/>
          </p:nvSpPr>
          <p:spPr bwMode="auto">
            <a:xfrm>
              <a:off x="672" y="3696"/>
              <a:ext cx="2736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31" name="Line 123"/>
            <p:cNvSpPr>
              <a:spLocks noChangeShapeType="1"/>
            </p:cNvSpPr>
            <p:nvPr/>
          </p:nvSpPr>
          <p:spPr bwMode="auto">
            <a:xfrm flipV="1">
              <a:off x="960" y="2976"/>
              <a:ext cx="0" cy="72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32" name="Line 124"/>
            <p:cNvSpPr>
              <a:spLocks noChangeShapeType="1"/>
            </p:cNvSpPr>
            <p:nvPr/>
          </p:nvSpPr>
          <p:spPr bwMode="auto">
            <a:xfrm>
              <a:off x="960" y="2976"/>
              <a:ext cx="96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33" name="Line 125"/>
            <p:cNvSpPr>
              <a:spLocks noChangeShapeType="1"/>
            </p:cNvSpPr>
            <p:nvPr/>
          </p:nvSpPr>
          <p:spPr bwMode="auto">
            <a:xfrm>
              <a:off x="3408" y="2976"/>
              <a:ext cx="0" cy="72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34" name="Oval 126"/>
            <p:cNvSpPr>
              <a:spLocks noChangeArrowheads="1"/>
            </p:cNvSpPr>
            <p:nvPr/>
          </p:nvSpPr>
          <p:spPr bwMode="auto">
            <a:xfrm>
              <a:off x="912" y="3648"/>
              <a:ext cx="96" cy="96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6" name="Group 127"/>
          <p:cNvGrpSpPr>
            <a:grpSpLocks/>
          </p:cNvGrpSpPr>
          <p:nvPr/>
        </p:nvGrpSpPr>
        <p:grpSpPr bwMode="auto">
          <a:xfrm>
            <a:off x="3341688" y="4724400"/>
            <a:ext cx="5638800" cy="1143000"/>
            <a:chOff x="1968" y="3264"/>
            <a:chExt cx="3552" cy="720"/>
          </a:xfrm>
        </p:grpSpPr>
        <p:sp>
          <p:nvSpPr>
            <p:cNvPr id="324736" name="Line 128"/>
            <p:cNvSpPr>
              <a:spLocks noChangeShapeType="1"/>
            </p:cNvSpPr>
            <p:nvPr/>
          </p:nvSpPr>
          <p:spPr bwMode="auto">
            <a:xfrm>
              <a:off x="1968" y="326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37" name="Line 129"/>
            <p:cNvSpPr>
              <a:spLocks noChangeShapeType="1"/>
            </p:cNvSpPr>
            <p:nvPr/>
          </p:nvSpPr>
          <p:spPr bwMode="auto">
            <a:xfrm>
              <a:off x="2832" y="326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38" name="Line 130"/>
            <p:cNvSpPr>
              <a:spLocks noChangeShapeType="1"/>
            </p:cNvSpPr>
            <p:nvPr/>
          </p:nvSpPr>
          <p:spPr bwMode="auto">
            <a:xfrm>
              <a:off x="4320" y="326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39" name="Line 131"/>
            <p:cNvSpPr>
              <a:spLocks noChangeShapeType="1"/>
            </p:cNvSpPr>
            <p:nvPr/>
          </p:nvSpPr>
          <p:spPr bwMode="auto">
            <a:xfrm>
              <a:off x="5184" y="326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40" name="Line 132"/>
            <p:cNvSpPr>
              <a:spLocks noChangeShapeType="1"/>
            </p:cNvSpPr>
            <p:nvPr/>
          </p:nvSpPr>
          <p:spPr bwMode="auto">
            <a:xfrm>
              <a:off x="1968" y="3984"/>
              <a:ext cx="35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7" name="Group 133"/>
          <p:cNvGrpSpPr>
            <a:grpSpLocks/>
          </p:cNvGrpSpPr>
          <p:nvPr/>
        </p:nvGrpSpPr>
        <p:grpSpPr bwMode="auto">
          <a:xfrm>
            <a:off x="2808288" y="1600200"/>
            <a:ext cx="5943600" cy="1828800"/>
            <a:chOff x="1632" y="1296"/>
            <a:chExt cx="3744" cy="1152"/>
          </a:xfrm>
        </p:grpSpPr>
        <p:sp>
          <p:nvSpPr>
            <p:cNvPr id="324742" name="Line 134"/>
            <p:cNvSpPr>
              <a:spLocks noChangeShapeType="1"/>
            </p:cNvSpPr>
            <p:nvPr/>
          </p:nvSpPr>
          <p:spPr bwMode="auto">
            <a:xfrm>
              <a:off x="1632" y="1296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43" name="Line 135"/>
            <p:cNvSpPr>
              <a:spLocks noChangeShapeType="1"/>
            </p:cNvSpPr>
            <p:nvPr/>
          </p:nvSpPr>
          <p:spPr bwMode="auto">
            <a:xfrm>
              <a:off x="2112" y="1296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44" name="Line 136"/>
            <p:cNvSpPr>
              <a:spLocks noChangeShapeType="1"/>
            </p:cNvSpPr>
            <p:nvPr/>
          </p:nvSpPr>
          <p:spPr bwMode="auto">
            <a:xfrm>
              <a:off x="2544" y="1296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45" name="Line 137"/>
            <p:cNvSpPr>
              <a:spLocks noChangeShapeType="1"/>
            </p:cNvSpPr>
            <p:nvPr/>
          </p:nvSpPr>
          <p:spPr bwMode="auto">
            <a:xfrm>
              <a:off x="3024" y="1296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46" name="Line 138"/>
            <p:cNvSpPr>
              <a:spLocks noChangeShapeType="1"/>
            </p:cNvSpPr>
            <p:nvPr/>
          </p:nvSpPr>
          <p:spPr bwMode="auto">
            <a:xfrm>
              <a:off x="3984" y="1296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47" name="Line 139"/>
            <p:cNvSpPr>
              <a:spLocks noChangeShapeType="1"/>
            </p:cNvSpPr>
            <p:nvPr/>
          </p:nvSpPr>
          <p:spPr bwMode="auto">
            <a:xfrm>
              <a:off x="4464" y="1296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48" name="Line 140"/>
            <p:cNvSpPr>
              <a:spLocks noChangeShapeType="1"/>
            </p:cNvSpPr>
            <p:nvPr/>
          </p:nvSpPr>
          <p:spPr bwMode="auto">
            <a:xfrm>
              <a:off x="4896" y="1296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49" name="Line 141"/>
            <p:cNvSpPr>
              <a:spLocks noChangeShapeType="1"/>
            </p:cNvSpPr>
            <p:nvPr/>
          </p:nvSpPr>
          <p:spPr bwMode="auto">
            <a:xfrm>
              <a:off x="5376" y="1296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324750" name="Text Box 142"/>
          <p:cNvSpPr txBox="1">
            <a:spLocks noChangeArrowheads="1"/>
          </p:cNvSpPr>
          <p:nvPr/>
        </p:nvSpPr>
        <p:spPr bwMode="auto">
          <a:xfrm>
            <a:off x="503237" y="5853113"/>
            <a:ext cx="80613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高兩位元控制端經解碼後分別控制資料選擇器的使能端</a:t>
            </a:r>
            <a:r>
              <a:rPr lang="en-US" altLang="zh-CN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E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，</a:t>
            </a:r>
          </a:p>
          <a:p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以實現擴展。此處的輸出級是三態門，因此可以“線與”。</a:t>
            </a:r>
          </a:p>
        </p:txBody>
      </p:sp>
    </p:spTree>
    <p:extLst>
      <p:ext uri="{BB962C8B-B14F-4D97-AF65-F5344CB8AC3E}">
        <p14:creationId xmlns:p14="http://schemas.microsoft.com/office/powerpoint/2010/main" val="1628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24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750" grpId="0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資料選擇器</a:t>
            </a:r>
            <a:r>
              <a:rPr lang="en-US" altLang="zh-CN" sz="3600" dirty="0"/>
              <a:t>(6)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D3279-28BD-4F4E-961C-BD3C2E509099}" type="slidenum">
              <a:rPr lang="en-US" altLang="zh-CN">
                <a:latin typeface="+mn-ea"/>
                <a:ea typeface="+mn-ea"/>
              </a:rPr>
              <a:pPr/>
              <a:t>84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3256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同學們想一想，還有沒有其它擴展方法？</a:t>
            </a:r>
          </a:p>
        </p:txBody>
      </p:sp>
      <p:sp>
        <p:nvSpPr>
          <p:cNvPr id="3" name="矩形 2"/>
          <p:cNvSpPr/>
          <p:nvPr/>
        </p:nvSpPr>
        <p:spPr>
          <a:xfrm>
            <a:off x="3275856" y="2060848"/>
            <a:ext cx="3176488" cy="450892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r"/>
            <a:r>
              <a:rPr lang="zh-CN" altLang="en-US" sz="287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ea typeface="Noto Serif SC" panose="02020200000000000000" pitchFamily="18" charset="-122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96910875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資料選擇器</a:t>
            </a:r>
            <a:r>
              <a:rPr lang="en-US" altLang="zh-CN" sz="3600" dirty="0"/>
              <a:t>(7)</a:t>
            </a:r>
          </a:p>
        </p:txBody>
      </p:sp>
      <p:sp>
        <p:nvSpPr>
          <p:cNvPr id="6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F3EF4-8B64-4D99-99B2-4461A3DE5981}" type="slidenum">
              <a:rPr lang="en-US" altLang="zh-CN">
                <a:latin typeface="+mn-ea"/>
                <a:ea typeface="+mn-ea"/>
              </a:rPr>
              <a:pPr/>
              <a:t>85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3266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77826" y="1408838"/>
            <a:ext cx="8229600" cy="4525963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資料選擇器用於匯流排發送控制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793876" y="2141538"/>
            <a:ext cx="5722938" cy="1368425"/>
            <a:chOff x="1134" y="1253"/>
            <a:chExt cx="3605" cy="86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018" y="1253"/>
              <a:ext cx="499" cy="726"/>
              <a:chOff x="1610" y="1752"/>
              <a:chExt cx="499" cy="726"/>
            </a:xfrm>
          </p:grpSpPr>
          <p:sp>
            <p:nvSpPr>
              <p:cNvPr id="326662" name="Rectangle 6"/>
              <p:cNvSpPr>
                <a:spLocks noChangeArrowheads="1"/>
              </p:cNvSpPr>
              <p:nvPr/>
            </p:nvSpPr>
            <p:spPr bwMode="auto">
              <a:xfrm>
                <a:off x="1746" y="2024"/>
                <a:ext cx="363" cy="18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63" name="Oval 7"/>
              <p:cNvSpPr>
                <a:spLocks noChangeArrowheads="1"/>
              </p:cNvSpPr>
              <p:nvPr/>
            </p:nvSpPr>
            <p:spPr bwMode="auto">
              <a:xfrm>
                <a:off x="1882" y="1933"/>
                <a:ext cx="91" cy="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64" name="Line 8"/>
              <p:cNvSpPr>
                <a:spLocks noChangeShapeType="1"/>
              </p:cNvSpPr>
              <p:nvPr/>
            </p:nvSpPr>
            <p:spPr bwMode="auto">
              <a:xfrm flipV="1">
                <a:off x="1927" y="1752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65" name="Line 9"/>
              <p:cNvSpPr>
                <a:spLocks noChangeShapeType="1"/>
              </p:cNvSpPr>
              <p:nvPr/>
            </p:nvSpPr>
            <p:spPr bwMode="auto">
              <a:xfrm flipH="1">
                <a:off x="1610" y="2115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66" name="Line 10"/>
              <p:cNvSpPr>
                <a:spLocks noChangeShapeType="1"/>
              </p:cNvSpPr>
              <p:nvPr/>
            </p:nvSpPr>
            <p:spPr bwMode="auto">
              <a:xfrm>
                <a:off x="1927" y="2205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67" name="Line 11"/>
              <p:cNvSpPr>
                <a:spLocks noChangeShapeType="1"/>
              </p:cNvSpPr>
              <p:nvPr/>
            </p:nvSpPr>
            <p:spPr bwMode="auto">
              <a:xfrm>
                <a:off x="1610" y="2115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2698" y="1253"/>
              <a:ext cx="499" cy="726"/>
              <a:chOff x="1610" y="1752"/>
              <a:chExt cx="499" cy="726"/>
            </a:xfrm>
          </p:grpSpPr>
          <p:sp>
            <p:nvSpPr>
              <p:cNvPr id="326669" name="Rectangle 13"/>
              <p:cNvSpPr>
                <a:spLocks noChangeArrowheads="1"/>
              </p:cNvSpPr>
              <p:nvPr/>
            </p:nvSpPr>
            <p:spPr bwMode="auto">
              <a:xfrm>
                <a:off x="1746" y="2024"/>
                <a:ext cx="363" cy="18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70" name="Oval 14"/>
              <p:cNvSpPr>
                <a:spLocks noChangeArrowheads="1"/>
              </p:cNvSpPr>
              <p:nvPr/>
            </p:nvSpPr>
            <p:spPr bwMode="auto">
              <a:xfrm>
                <a:off x="1882" y="1933"/>
                <a:ext cx="91" cy="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71" name="Line 15"/>
              <p:cNvSpPr>
                <a:spLocks noChangeShapeType="1"/>
              </p:cNvSpPr>
              <p:nvPr/>
            </p:nvSpPr>
            <p:spPr bwMode="auto">
              <a:xfrm flipV="1">
                <a:off x="1927" y="1752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72" name="Line 16"/>
              <p:cNvSpPr>
                <a:spLocks noChangeShapeType="1"/>
              </p:cNvSpPr>
              <p:nvPr/>
            </p:nvSpPr>
            <p:spPr bwMode="auto">
              <a:xfrm flipH="1">
                <a:off x="1610" y="2115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73" name="Line 17"/>
              <p:cNvSpPr>
                <a:spLocks noChangeShapeType="1"/>
              </p:cNvSpPr>
              <p:nvPr/>
            </p:nvSpPr>
            <p:spPr bwMode="auto">
              <a:xfrm>
                <a:off x="1927" y="2205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74" name="Line 18"/>
              <p:cNvSpPr>
                <a:spLocks noChangeShapeType="1"/>
              </p:cNvSpPr>
              <p:nvPr/>
            </p:nvSpPr>
            <p:spPr bwMode="auto">
              <a:xfrm>
                <a:off x="1610" y="2115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5" name="Group 19"/>
            <p:cNvGrpSpPr>
              <a:grpSpLocks/>
            </p:cNvGrpSpPr>
            <p:nvPr/>
          </p:nvGrpSpPr>
          <p:grpSpPr bwMode="auto">
            <a:xfrm>
              <a:off x="3832" y="1253"/>
              <a:ext cx="499" cy="726"/>
              <a:chOff x="1610" y="1752"/>
              <a:chExt cx="499" cy="726"/>
            </a:xfrm>
          </p:grpSpPr>
          <p:sp>
            <p:nvSpPr>
              <p:cNvPr id="326676" name="Rectangle 20"/>
              <p:cNvSpPr>
                <a:spLocks noChangeArrowheads="1"/>
              </p:cNvSpPr>
              <p:nvPr/>
            </p:nvSpPr>
            <p:spPr bwMode="auto">
              <a:xfrm>
                <a:off x="1746" y="2024"/>
                <a:ext cx="363" cy="18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77" name="Oval 21"/>
              <p:cNvSpPr>
                <a:spLocks noChangeArrowheads="1"/>
              </p:cNvSpPr>
              <p:nvPr/>
            </p:nvSpPr>
            <p:spPr bwMode="auto">
              <a:xfrm>
                <a:off x="1882" y="1933"/>
                <a:ext cx="91" cy="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78" name="Line 22"/>
              <p:cNvSpPr>
                <a:spLocks noChangeShapeType="1"/>
              </p:cNvSpPr>
              <p:nvPr/>
            </p:nvSpPr>
            <p:spPr bwMode="auto">
              <a:xfrm flipV="1">
                <a:off x="1927" y="1752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79" name="Line 23"/>
              <p:cNvSpPr>
                <a:spLocks noChangeShapeType="1"/>
              </p:cNvSpPr>
              <p:nvPr/>
            </p:nvSpPr>
            <p:spPr bwMode="auto">
              <a:xfrm flipH="1">
                <a:off x="1610" y="2115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80" name="Line 24"/>
              <p:cNvSpPr>
                <a:spLocks noChangeShapeType="1"/>
              </p:cNvSpPr>
              <p:nvPr/>
            </p:nvSpPr>
            <p:spPr bwMode="auto">
              <a:xfrm>
                <a:off x="1927" y="2205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81" name="Line 25"/>
              <p:cNvSpPr>
                <a:spLocks noChangeShapeType="1"/>
              </p:cNvSpPr>
              <p:nvPr/>
            </p:nvSpPr>
            <p:spPr bwMode="auto">
              <a:xfrm>
                <a:off x="1610" y="2115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6" name="Group 26"/>
            <p:cNvGrpSpPr>
              <a:grpSpLocks/>
            </p:cNvGrpSpPr>
            <p:nvPr/>
          </p:nvGrpSpPr>
          <p:grpSpPr bwMode="auto">
            <a:xfrm>
              <a:off x="1337" y="1253"/>
              <a:ext cx="499" cy="726"/>
              <a:chOff x="1610" y="1752"/>
              <a:chExt cx="499" cy="726"/>
            </a:xfrm>
          </p:grpSpPr>
          <p:sp>
            <p:nvSpPr>
              <p:cNvPr id="326683" name="Rectangle 27"/>
              <p:cNvSpPr>
                <a:spLocks noChangeArrowheads="1"/>
              </p:cNvSpPr>
              <p:nvPr/>
            </p:nvSpPr>
            <p:spPr bwMode="auto">
              <a:xfrm>
                <a:off x="1746" y="2024"/>
                <a:ext cx="363" cy="18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84" name="Oval 28"/>
              <p:cNvSpPr>
                <a:spLocks noChangeArrowheads="1"/>
              </p:cNvSpPr>
              <p:nvPr/>
            </p:nvSpPr>
            <p:spPr bwMode="auto">
              <a:xfrm>
                <a:off x="1882" y="1933"/>
                <a:ext cx="91" cy="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85" name="Line 29"/>
              <p:cNvSpPr>
                <a:spLocks noChangeShapeType="1"/>
              </p:cNvSpPr>
              <p:nvPr/>
            </p:nvSpPr>
            <p:spPr bwMode="auto">
              <a:xfrm flipV="1">
                <a:off x="1927" y="1752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86" name="Line 30"/>
              <p:cNvSpPr>
                <a:spLocks noChangeShapeType="1"/>
              </p:cNvSpPr>
              <p:nvPr/>
            </p:nvSpPr>
            <p:spPr bwMode="auto">
              <a:xfrm flipH="1">
                <a:off x="1610" y="2115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87" name="Line 31"/>
              <p:cNvSpPr>
                <a:spLocks noChangeShapeType="1"/>
              </p:cNvSpPr>
              <p:nvPr/>
            </p:nvSpPr>
            <p:spPr bwMode="auto">
              <a:xfrm>
                <a:off x="1927" y="2205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88" name="Line 32"/>
              <p:cNvSpPr>
                <a:spLocks noChangeShapeType="1"/>
              </p:cNvSpPr>
              <p:nvPr/>
            </p:nvSpPr>
            <p:spPr bwMode="auto">
              <a:xfrm>
                <a:off x="1610" y="2115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326689" name="Line 33"/>
            <p:cNvSpPr>
              <a:spLocks noChangeShapeType="1"/>
            </p:cNvSpPr>
            <p:nvPr/>
          </p:nvSpPr>
          <p:spPr bwMode="auto">
            <a:xfrm>
              <a:off x="1201" y="1253"/>
              <a:ext cx="353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6690" name="Text Box 34"/>
            <p:cNvSpPr txBox="1">
              <a:spLocks noChangeArrowheads="1"/>
            </p:cNvSpPr>
            <p:nvPr/>
          </p:nvSpPr>
          <p:spPr bwMode="auto">
            <a:xfrm>
              <a:off x="1655" y="1752"/>
              <a:ext cx="2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A</a:t>
              </a:r>
            </a:p>
          </p:txBody>
        </p:sp>
        <p:sp>
          <p:nvSpPr>
            <p:cNvPr id="326691" name="Text Box 35"/>
            <p:cNvSpPr txBox="1">
              <a:spLocks noChangeArrowheads="1"/>
            </p:cNvSpPr>
            <p:nvPr/>
          </p:nvSpPr>
          <p:spPr bwMode="auto">
            <a:xfrm>
              <a:off x="2335" y="1752"/>
              <a:ext cx="2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B</a:t>
              </a:r>
            </a:p>
          </p:txBody>
        </p:sp>
        <p:sp>
          <p:nvSpPr>
            <p:cNvPr id="326692" name="Text Box 36"/>
            <p:cNvSpPr txBox="1">
              <a:spLocks noChangeArrowheads="1"/>
            </p:cNvSpPr>
            <p:nvPr/>
          </p:nvSpPr>
          <p:spPr bwMode="auto">
            <a:xfrm>
              <a:off x="3016" y="1752"/>
              <a:ext cx="2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C</a:t>
              </a:r>
            </a:p>
          </p:txBody>
        </p:sp>
        <p:graphicFrame>
          <p:nvGraphicFramePr>
            <p:cNvPr id="326693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8780703"/>
                </p:ext>
              </p:extLst>
            </p:nvPr>
          </p:nvGraphicFramePr>
          <p:xfrm>
            <a:off x="1134" y="1973"/>
            <a:ext cx="525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685800" imgH="177480" progId="Equation.3">
                    <p:embed/>
                  </p:oleObj>
                </mc:Choice>
                <mc:Fallback>
                  <p:oleObj name="公式" r:id="rId2" imgW="685800" imgH="177480" progId="Equation.3">
                    <p:embed/>
                    <p:pic>
                      <p:nvPicPr>
                        <p:cNvPr id="326693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4" y="1973"/>
                          <a:ext cx="525" cy="1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6694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1000990"/>
                </p:ext>
              </p:extLst>
            </p:nvPr>
          </p:nvGraphicFramePr>
          <p:xfrm>
            <a:off x="1807" y="1973"/>
            <a:ext cx="533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698400" imgH="177480" progId="Equation.3">
                    <p:embed/>
                  </p:oleObj>
                </mc:Choice>
                <mc:Fallback>
                  <p:oleObj name="公式" r:id="rId4" imgW="698400" imgH="177480" progId="Equation.3">
                    <p:embed/>
                    <p:pic>
                      <p:nvPicPr>
                        <p:cNvPr id="326694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7" y="1973"/>
                          <a:ext cx="533" cy="1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6695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1705525"/>
                </p:ext>
              </p:extLst>
            </p:nvPr>
          </p:nvGraphicFramePr>
          <p:xfrm>
            <a:off x="2487" y="1979"/>
            <a:ext cx="533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698400" imgH="177480" progId="Equation.3">
                    <p:embed/>
                  </p:oleObj>
                </mc:Choice>
                <mc:Fallback>
                  <p:oleObj name="公式" r:id="rId6" imgW="698400" imgH="177480" progId="Equation.3">
                    <p:embed/>
                    <p:pic>
                      <p:nvPicPr>
                        <p:cNvPr id="326695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7" y="1979"/>
                          <a:ext cx="533" cy="1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6696" name="Line 40"/>
            <p:cNvSpPr>
              <a:spLocks noChangeShapeType="1"/>
            </p:cNvSpPr>
            <p:nvPr/>
          </p:nvSpPr>
          <p:spPr bwMode="auto">
            <a:xfrm>
              <a:off x="3288" y="1661"/>
              <a:ext cx="4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326697" name="AutoShape 41"/>
          <p:cNvSpPr>
            <a:spLocks noChangeArrowheads="1"/>
          </p:cNvSpPr>
          <p:nvPr/>
        </p:nvSpPr>
        <p:spPr bwMode="auto">
          <a:xfrm>
            <a:off x="4421188" y="3797300"/>
            <a:ext cx="649287" cy="576263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7" name="Group 42"/>
          <p:cNvGrpSpPr>
            <a:grpSpLocks/>
          </p:cNvGrpSpPr>
          <p:nvPr/>
        </p:nvGrpSpPr>
        <p:grpSpPr bwMode="auto">
          <a:xfrm>
            <a:off x="1828800" y="4419601"/>
            <a:ext cx="5905500" cy="2262188"/>
            <a:chOff x="1156" y="2840"/>
            <a:chExt cx="3720" cy="1425"/>
          </a:xfrm>
        </p:grpSpPr>
        <p:grpSp>
          <p:nvGrpSpPr>
            <p:cNvPr id="8" name="Group 43"/>
            <p:cNvGrpSpPr>
              <a:grpSpLocks/>
            </p:cNvGrpSpPr>
            <p:nvPr/>
          </p:nvGrpSpPr>
          <p:grpSpPr bwMode="auto">
            <a:xfrm>
              <a:off x="1156" y="2840"/>
              <a:ext cx="3720" cy="1425"/>
              <a:chOff x="1156" y="2840"/>
              <a:chExt cx="3720" cy="1425"/>
            </a:xfrm>
          </p:grpSpPr>
          <p:sp>
            <p:nvSpPr>
              <p:cNvPr id="326700" name="Line 44"/>
              <p:cNvSpPr>
                <a:spLocks noChangeShapeType="1"/>
              </p:cNvSpPr>
              <p:nvPr/>
            </p:nvSpPr>
            <p:spPr bwMode="auto">
              <a:xfrm>
                <a:off x="1247" y="2840"/>
                <a:ext cx="3629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326701" name="Rectangle 45"/>
              <p:cNvSpPr>
                <a:spLocks noChangeArrowheads="1"/>
              </p:cNvSpPr>
              <p:nvPr/>
            </p:nvSpPr>
            <p:spPr bwMode="auto">
              <a:xfrm>
                <a:off x="1429" y="3249"/>
                <a:ext cx="1224" cy="5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326702" name="Line 46"/>
              <p:cNvSpPr>
                <a:spLocks noChangeShapeType="1"/>
              </p:cNvSpPr>
              <p:nvPr/>
            </p:nvSpPr>
            <p:spPr bwMode="auto">
              <a:xfrm flipH="1">
                <a:off x="1156" y="3339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326703" name="Line 47"/>
              <p:cNvSpPr>
                <a:spLocks noChangeShapeType="1"/>
              </p:cNvSpPr>
              <p:nvPr/>
            </p:nvSpPr>
            <p:spPr bwMode="auto">
              <a:xfrm flipH="1">
                <a:off x="1156" y="3521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326704" name="Line 48"/>
              <p:cNvSpPr>
                <a:spLocks noChangeShapeType="1"/>
              </p:cNvSpPr>
              <p:nvPr/>
            </p:nvSpPr>
            <p:spPr bwMode="auto">
              <a:xfrm flipH="1">
                <a:off x="1156" y="3702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326705" name="Line 49"/>
              <p:cNvSpPr>
                <a:spLocks noChangeShapeType="1"/>
              </p:cNvSpPr>
              <p:nvPr/>
            </p:nvSpPr>
            <p:spPr bwMode="auto">
              <a:xfrm>
                <a:off x="1565" y="379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326706" name="Line 50"/>
              <p:cNvSpPr>
                <a:spLocks noChangeShapeType="1"/>
              </p:cNvSpPr>
              <p:nvPr/>
            </p:nvSpPr>
            <p:spPr bwMode="auto">
              <a:xfrm>
                <a:off x="1701" y="379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326707" name="Line 51"/>
              <p:cNvSpPr>
                <a:spLocks noChangeShapeType="1"/>
              </p:cNvSpPr>
              <p:nvPr/>
            </p:nvSpPr>
            <p:spPr bwMode="auto">
              <a:xfrm>
                <a:off x="1837" y="379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326708" name="Line 52"/>
              <p:cNvSpPr>
                <a:spLocks noChangeShapeType="1"/>
              </p:cNvSpPr>
              <p:nvPr/>
            </p:nvSpPr>
            <p:spPr bwMode="auto">
              <a:xfrm>
                <a:off x="1973" y="379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326709" name="Line 53"/>
              <p:cNvSpPr>
                <a:spLocks noChangeShapeType="1"/>
              </p:cNvSpPr>
              <p:nvPr/>
            </p:nvSpPr>
            <p:spPr bwMode="auto">
              <a:xfrm>
                <a:off x="2109" y="379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326710" name="Line 54"/>
              <p:cNvSpPr>
                <a:spLocks noChangeShapeType="1"/>
              </p:cNvSpPr>
              <p:nvPr/>
            </p:nvSpPr>
            <p:spPr bwMode="auto">
              <a:xfrm>
                <a:off x="2245" y="379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326711" name="Line 55"/>
              <p:cNvSpPr>
                <a:spLocks noChangeShapeType="1"/>
              </p:cNvSpPr>
              <p:nvPr/>
            </p:nvSpPr>
            <p:spPr bwMode="auto">
              <a:xfrm>
                <a:off x="2381" y="379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326712" name="Line 56"/>
              <p:cNvSpPr>
                <a:spLocks noChangeShapeType="1"/>
              </p:cNvSpPr>
              <p:nvPr/>
            </p:nvSpPr>
            <p:spPr bwMode="auto">
              <a:xfrm>
                <a:off x="2517" y="379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  <p:sp>
            <p:nvSpPr>
              <p:cNvPr id="326713" name="Rectangle 57"/>
              <p:cNvSpPr>
                <a:spLocks noChangeArrowheads="1"/>
              </p:cNvSpPr>
              <p:nvPr/>
            </p:nvSpPr>
            <p:spPr bwMode="auto">
              <a:xfrm>
                <a:off x="1429" y="3183"/>
                <a:ext cx="35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Noto Serif SC" panose="02020200000000000000" pitchFamily="18" charset="-122"/>
                    <a:ea typeface="Noto Serif SC" panose="02020200000000000000" pitchFamily="18" charset="-122"/>
                    <a:cs typeface="Times New Roman" pitchFamily="18" charset="0"/>
                  </a:rPr>
                  <a:t>S</a:t>
                </a:r>
                <a:r>
                  <a:rPr lang="en-US" altLang="zh-CN" baseline="-30000" dirty="0">
                    <a:latin typeface="Noto Serif SC" panose="02020200000000000000" pitchFamily="18" charset="-122"/>
                    <a:ea typeface="Noto Serif SC" panose="02020200000000000000" pitchFamily="18" charset="-122"/>
                    <a:cs typeface="Times New Roman" pitchFamily="18" charset="0"/>
                  </a:rPr>
                  <a:t>0</a:t>
                </a:r>
                <a:r>
                  <a:rPr lang="en-US" altLang="zh-CN" dirty="0">
                    <a:latin typeface="Noto Serif SC" panose="02020200000000000000" pitchFamily="18" charset="-122"/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326714" name="Rectangle 58"/>
              <p:cNvSpPr>
                <a:spLocks noChangeArrowheads="1"/>
              </p:cNvSpPr>
              <p:nvPr/>
            </p:nvSpPr>
            <p:spPr bwMode="auto">
              <a:xfrm>
                <a:off x="1429" y="3319"/>
                <a:ext cx="33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Noto Serif SC" panose="02020200000000000000" pitchFamily="18" charset="-122"/>
                    <a:ea typeface="Noto Serif SC" panose="02020200000000000000" pitchFamily="18" charset="-122"/>
                    <a:cs typeface="Times New Roman" pitchFamily="18" charset="0"/>
                  </a:rPr>
                  <a:t>S</a:t>
                </a:r>
                <a:r>
                  <a:rPr lang="en-US" altLang="zh-CN" baseline="-30000" dirty="0">
                    <a:latin typeface="Noto Serif SC" panose="02020200000000000000" pitchFamily="18" charset="-122"/>
                    <a:ea typeface="Noto Serif SC" panose="02020200000000000000" pitchFamily="18" charset="-122"/>
                    <a:cs typeface="Times New Roman" pitchFamily="18" charset="0"/>
                  </a:rPr>
                  <a:t>1</a:t>
                </a:r>
                <a:r>
                  <a:rPr lang="en-US" altLang="zh-CN" dirty="0">
                    <a:latin typeface="Noto Serif SC" panose="02020200000000000000" pitchFamily="18" charset="-122"/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326715" name="Rectangle 59"/>
              <p:cNvSpPr>
                <a:spLocks noChangeArrowheads="1"/>
              </p:cNvSpPr>
              <p:nvPr/>
            </p:nvSpPr>
            <p:spPr bwMode="auto">
              <a:xfrm>
                <a:off x="1429" y="3501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Noto Serif SC" panose="02020200000000000000" pitchFamily="18" charset="-122"/>
                    <a:ea typeface="Noto Serif SC" panose="02020200000000000000" pitchFamily="18" charset="-122"/>
                    <a:cs typeface="Times New Roman" pitchFamily="18" charset="0"/>
                  </a:rPr>
                  <a:t>S</a:t>
                </a:r>
                <a:r>
                  <a:rPr lang="en-US" altLang="zh-CN" baseline="-30000" dirty="0">
                    <a:latin typeface="Noto Serif SC" panose="02020200000000000000" pitchFamily="18" charset="-122"/>
                    <a:ea typeface="Noto Serif SC" panose="02020200000000000000" pitchFamily="18" charset="-122"/>
                    <a:cs typeface="Times New Roman" pitchFamily="18" charset="0"/>
                  </a:rPr>
                  <a:t>2</a:t>
                </a:r>
                <a:r>
                  <a:rPr lang="en-US" altLang="zh-CN" dirty="0">
                    <a:latin typeface="Noto Serif SC" panose="02020200000000000000" pitchFamily="18" charset="-122"/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326716" name="Text Box 60"/>
              <p:cNvSpPr txBox="1">
                <a:spLocks noChangeArrowheads="1"/>
              </p:cNvSpPr>
              <p:nvPr/>
            </p:nvSpPr>
            <p:spPr bwMode="auto">
              <a:xfrm>
                <a:off x="1474" y="3974"/>
                <a:ext cx="22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Noto Serif SC" panose="02020200000000000000" pitchFamily="18" charset="-122"/>
                    <a:ea typeface="Noto Serif SC" panose="02020200000000000000" pitchFamily="18" charset="-122"/>
                  </a:rPr>
                  <a:t>A</a:t>
                </a:r>
              </a:p>
            </p:txBody>
          </p:sp>
          <p:sp>
            <p:nvSpPr>
              <p:cNvPr id="326717" name="Text Box 61"/>
              <p:cNvSpPr txBox="1">
                <a:spLocks noChangeArrowheads="1"/>
              </p:cNvSpPr>
              <p:nvPr/>
            </p:nvSpPr>
            <p:spPr bwMode="auto">
              <a:xfrm>
                <a:off x="1610" y="3974"/>
                <a:ext cx="22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Noto Serif SC" panose="02020200000000000000" pitchFamily="18" charset="-122"/>
                    <a:ea typeface="Noto Serif SC" panose="02020200000000000000" pitchFamily="18" charset="-122"/>
                  </a:rPr>
                  <a:t>B</a:t>
                </a:r>
              </a:p>
            </p:txBody>
          </p:sp>
          <p:sp>
            <p:nvSpPr>
              <p:cNvPr id="326718" name="Text Box 62"/>
              <p:cNvSpPr txBox="1">
                <a:spLocks noChangeArrowheads="1"/>
              </p:cNvSpPr>
              <p:nvPr/>
            </p:nvSpPr>
            <p:spPr bwMode="auto">
              <a:xfrm>
                <a:off x="1746" y="3974"/>
                <a:ext cx="22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Noto Serif SC" panose="02020200000000000000" pitchFamily="18" charset="-122"/>
                    <a:ea typeface="Noto Serif SC" panose="02020200000000000000" pitchFamily="18" charset="-122"/>
                  </a:rPr>
                  <a:t>C</a:t>
                </a:r>
              </a:p>
            </p:txBody>
          </p:sp>
          <p:sp>
            <p:nvSpPr>
              <p:cNvPr id="326719" name="Text Box 63"/>
              <p:cNvSpPr txBox="1">
                <a:spLocks noChangeArrowheads="1"/>
              </p:cNvSpPr>
              <p:nvPr/>
            </p:nvSpPr>
            <p:spPr bwMode="auto">
              <a:xfrm>
                <a:off x="2427" y="3974"/>
                <a:ext cx="22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Noto Serif SC" panose="02020200000000000000" pitchFamily="18" charset="-122"/>
                    <a:ea typeface="Noto Serif SC" panose="02020200000000000000" pitchFamily="18" charset="-122"/>
                  </a:rPr>
                  <a:t>H</a:t>
                </a:r>
              </a:p>
            </p:txBody>
          </p:sp>
          <p:sp>
            <p:nvSpPr>
              <p:cNvPr id="326720" name="Line 64"/>
              <p:cNvSpPr>
                <a:spLocks noChangeShapeType="1"/>
              </p:cNvSpPr>
              <p:nvPr/>
            </p:nvSpPr>
            <p:spPr bwMode="auto">
              <a:xfrm flipV="1">
                <a:off x="2018" y="2840"/>
                <a:ext cx="0" cy="40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326721" name="Text Box 65"/>
            <p:cNvSpPr txBox="1">
              <a:spLocks noChangeArrowheads="1"/>
            </p:cNvSpPr>
            <p:nvPr/>
          </p:nvSpPr>
          <p:spPr bwMode="auto">
            <a:xfrm>
              <a:off x="1701" y="3294"/>
              <a:ext cx="1065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8</a:t>
              </a:r>
              <a:r>
                <a: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選</a:t>
              </a:r>
              <a:r>
                <a:rPr lang="en-US" altLang="zh-CN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</a:t>
              </a:r>
              <a:r>
                <a:rPr lang="zh-CN" altLang="en-US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資料選擇器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930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26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97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資料選擇器</a:t>
            </a:r>
            <a:r>
              <a:rPr lang="en-US" altLang="zh-CN" sz="3600" dirty="0"/>
              <a:t>(8)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F64E-05E9-4A13-8A3B-24680D379445}" type="slidenum">
              <a:rPr lang="en-US" altLang="zh-CN">
                <a:latin typeface="+mn-ea"/>
                <a:ea typeface="+mn-ea"/>
              </a:rPr>
              <a:pPr/>
              <a:t>86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3276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解碼器與資料選擇器實現邏輯函數</a:t>
            </a:r>
          </a:p>
          <a:p>
            <a:pPr lvl="1"/>
            <a:r>
              <a:rPr lang="zh-CN" altLang="en-US" b="1" dirty="0">
                <a:solidFill>
                  <a:srgbClr val="CC00FF"/>
                </a:solidFill>
                <a:latin typeface="+mn-ea"/>
              </a:rPr>
              <a:t>解碼器：</a:t>
            </a:r>
            <a:r>
              <a:rPr lang="zh-CN" altLang="en-US" b="1" dirty="0">
                <a:latin typeface="+mn-ea"/>
              </a:rPr>
              <a:t>可以看成是</a:t>
            </a:r>
            <a:r>
              <a:rPr lang="en-US" altLang="zh-CN" b="1" dirty="0">
                <a:latin typeface="+mn-ea"/>
              </a:rPr>
              <a:t>N</a:t>
            </a:r>
            <a:r>
              <a:rPr lang="zh-CN" altLang="en-US" b="1" dirty="0">
                <a:latin typeface="+mn-ea"/>
              </a:rPr>
              <a:t>個輸入變數組成的</a:t>
            </a:r>
            <a:r>
              <a:rPr lang="en-US" altLang="zh-CN" b="1" dirty="0">
                <a:latin typeface="+mn-ea"/>
              </a:rPr>
              <a:t>2</a:t>
            </a:r>
            <a:r>
              <a:rPr lang="en-US" altLang="zh-CN" b="1" baseline="30000" dirty="0">
                <a:latin typeface="+mn-ea"/>
              </a:rPr>
              <a:t>N</a:t>
            </a:r>
            <a:r>
              <a:rPr lang="zh-CN" altLang="en-US" b="1" dirty="0">
                <a:latin typeface="+mn-ea"/>
              </a:rPr>
              <a:t>個最小項。</a:t>
            </a:r>
          </a:p>
          <a:p>
            <a:pPr lvl="1"/>
            <a:r>
              <a:rPr lang="zh-CN" altLang="en-US" b="1" dirty="0">
                <a:latin typeface="+mn-ea"/>
              </a:rPr>
              <a:t>如果再加一級反及閘，可組成“與非</a:t>
            </a:r>
            <a:r>
              <a:rPr lang="en-US" altLang="zh-CN" b="1" dirty="0">
                <a:latin typeface="+mn-ea"/>
              </a:rPr>
              <a:t>-</a:t>
            </a:r>
            <a:r>
              <a:rPr lang="zh-CN" altLang="en-US" b="1" dirty="0">
                <a:latin typeface="+mn-ea"/>
              </a:rPr>
              <a:t>與非”邏輯，也可表達“與</a:t>
            </a:r>
            <a:r>
              <a:rPr lang="en-US" altLang="zh-CN" b="1" dirty="0">
                <a:latin typeface="+mn-ea"/>
              </a:rPr>
              <a:t>-</a:t>
            </a:r>
            <a:r>
              <a:rPr lang="zh-CN" altLang="en-US" b="1" dirty="0">
                <a:latin typeface="+mn-ea"/>
              </a:rPr>
              <a:t>或”邏輯。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即可用解碼器實現“與</a:t>
            </a:r>
            <a:r>
              <a:rPr lang="en-US" altLang="zh-CN" b="1" dirty="0">
                <a:solidFill>
                  <a:srgbClr val="CC00FF"/>
                </a:solidFill>
                <a:latin typeface="+mn-ea"/>
              </a:rPr>
              <a:t>-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或”邏輯函數。</a:t>
            </a:r>
            <a:endParaRPr lang="zh-CN" altLang="en-US" sz="1800" b="1" dirty="0">
              <a:solidFill>
                <a:srgbClr val="CC00FF"/>
              </a:solidFill>
              <a:latin typeface="+mn-ea"/>
            </a:endParaRPr>
          </a:p>
          <a:p>
            <a:r>
              <a:rPr lang="zh-CN" altLang="en-US" dirty="0">
                <a:latin typeface="+mn-ea"/>
              </a:rPr>
              <a:t>如何用解碼器實現如下函數：</a:t>
            </a:r>
          </a:p>
        </p:txBody>
      </p:sp>
      <p:graphicFrame>
        <p:nvGraphicFramePr>
          <p:cNvPr id="3276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67510"/>
              </p:ext>
            </p:extLst>
          </p:nvPr>
        </p:nvGraphicFramePr>
        <p:xfrm>
          <a:off x="1331640" y="5226397"/>
          <a:ext cx="686752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79480" imgH="253800" progId="Equation.3">
                  <p:embed/>
                </p:oleObj>
              </mc:Choice>
              <mc:Fallback>
                <p:oleObj name="公式" r:id="rId2" imgW="2679480" imgH="253800" progId="Equation.3">
                  <p:embed/>
                  <p:pic>
                    <p:nvPicPr>
                      <p:cNvPr id="3276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5226397"/>
                        <a:ext cx="6867525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853554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14" name="Rectangle 10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534400" cy="838200"/>
          </a:xfrm>
        </p:spPr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資料選擇器</a:t>
            </a:r>
            <a:r>
              <a:rPr lang="en-US" altLang="zh-CN" sz="3600" dirty="0"/>
              <a:t>(9)</a:t>
            </a:r>
          </a:p>
        </p:txBody>
      </p:sp>
      <p:sp>
        <p:nvSpPr>
          <p:cNvPr id="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1FB1-54C0-42F3-B408-C9EC3FF872AB}" type="slidenum">
              <a:rPr lang="en-US" altLang="zh-CN">
                <a:latin typeface="+mn-ea"/>
                <a:ea typeface="+mn-ea"/>
              </a:rPr>
              <a:pPr/>
              <a:t>87</a:t>
            </a:fld>
            <a:endParaRPr lang="en-US" altLang="zh-CN" dirty="0">
              <a:latin typeface="+mn-ea"/>
              <a:ea typeface="+mn-ea"/>
            </a:endParaRPr>
          </a:p>
        </p:txBody>
      </p:sp>
      <p:graphicFrame>
        <p:nvGraphicFramePr>
          <p:cNvPr id="3287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449215"/>
              </p:ext>
            </p:extLst>
          </p:nvPr>
        </p:nvGraphicFramePr>
        <p:xfrm>
          <a:off x="3298825" y="2070100"/>
          <a:ext cx="1385888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23600" imgH="279360" progId="Equation.3">
                  <p:embed/>
                </p:oleObj>
              </mc:Choice>
              <mc:Fallback>
                <p:oleObj name="公式" r:id="rId2" imgW="723600" imgH="279360" progId="Equation.3">
                  <p:embed/>
                  <p:pic>
                    <p:nvPicPr>
                      <p:cNvPr id="3287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825" y="2070100"/>
                        <a:ext cx="1385888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153650"/>
              </p:ext>
            </p:extLst>
          </p:nvPr>
        </p:nvGraphicFramePr>
        <p:xfrm>
          <a:off x="3316288" y="2592388"/>
          <a:ext cx="136842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11000" imgH="279360" progId="Equation.3">
                  <p:embed/>
                </p:oleObj>
              </mc:Choice>
              <mc:Fallback>
                <p:oleObj name="公式" r:id="rId4" imgW="711000" imgH="279360" progId="Equation.3">
                  <p:embed/>
                  <p:pic>
                    <p:nvPicPr>
                      <p:cNvPr id="3287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288" y="2592388"/>
                        <a:ext cx="1368425" cy="541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455026"/>
              </p:ext>
            </p:extLst>
          </p:nvPr>
        </p:nvGraphicFramePr>
        <p:xfrm>
          <a:off x="3317875" y="3136900"/>
          <a:ext cx="144462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11000" imgH="279360" progId="Equation.3">
                  <p:embed/>
                </p:oleObj>
              </mc:Choice>
              <mc:Fallback>
                <p:oleObj name="公式" r:id="rId6" imgW="711000" imgH="279360" progId="Equation.3">
                  <p:embed/>
                  <p:pic>
                    <p:nvPicPr>
                      <p:cNvPr id="3287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75" y="3136900"/>
                        <a:ext cx="1444625" cy="56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293034"/>
              </p:ext>
            </p:extLst>
          </p:nvPr>
        </p:nvGraphicFramePr>
        <p:xfrm>
          <a:off x="3316288" y="3651250"/>
          <a:ext cx="13684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11000" imgH="279360" progId="Equation.3">
                  <p:embed/>
                </p:oleObj>
              </mc:Choice>
              <mc:Fallback>
                <p:oleObj name="公式" r:id="rId8" imgW="711000" imgH="279360" progId="Equation.3">
                  <p:embed/>
                  <p:pic>
                    <p:nvPicPr>
                      <p:cNvPr id="3287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288" y="3651250"/>
                        <a:ext cx="1368425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6411562"/>
              </p:ext>
            </p:extLst>
          </p:nvPr>
        </p:nvGraphicFramePr>
        <p:xfrm>
          <a:off x="3316288" y="4189413"/>
          <a:ext cx="1525587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11000" imgH="279360" progId="Equation.3">
                  <p:embed/>
                </p:oleObj>
              </mc:Choice>
              <mc:Fallback>
                <p:oleObj name="公式" r:id="rId10" imgW="711000" imgH="279360" progId="Equation.3">
                  <p:embed/>
                  <p:pic>
                    <p:nvPicPr>
                      <p:cNvPr id="3287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288" y="4189413"/>
                        <a:ext cx="1525587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964984"/>
              </p:ext>
            </p:extLst>
          </p:nvPr>
        </p:nvGraphicFramePr>
        <p:xfrm>
          <a:off x="3317875" y="4764088"/>
          <a:ext cx="144462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11000" imgH="279360" progId="Equation.3">
                  <p:embed/>
                </p:oleObj>
              </mc:Choice>
              <mc:Fallback>
                <p:oleObj name="公式" r:id="rId12" imgW="711000" imgH="279360" progId="Equation.3">
                  <p:embed/>
                  <p:pic>
                    <p:nvPicPr>
                      <p:cNvPr id="3287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75" y="4764088"/>
                        <a:ext cx="1444625" cy="569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2557632"/>
              </p:ext>
            </p:extLst>
          </p:nvPr>
        </p:nvGraphicFramePr>
        <p:xfrm>
          <a:off x="3327400" y="5334000"/>
          <a:ext cx="141922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98400" imgH="279360" progId="Equation.3">
                  <p:embed/>
                </p:oleObj>
              </mc:Choice>
              <mc:Fallback>
                <p:oleObj name="公式" r:id="rId14" imgW="698400" imgH="279360" progId="Equation.3">
                  <p:embed/>
                  <p:pic>
                    <p:nvPicPr>
                      <p:cNvPr id="3287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5334000"/>
                        <a:ext cx="1419225" cy="56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433350"/>
              </p:ext>
            </p:extLst>
          </p:nvPr>
        </p:nvGraphicFramePr>
        <p:xfrm>
          <a:off x="3330575" y="5934075"/>
          <a:ext cx="141922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698400" imgH="253800" progId="Equation.3">
                  <p:embed/>
                </p:oleObj>
              </mc:Choice>
              <mc:Fallback>
                <p:oleObj name="公式" r:id="rId16" imgW="698400" imgH="253800" progId="Equation.3">
                  <p:embed/>
                  <p:pic>
                    <p:nvPicPr>
                      <p:cNvPr id="3287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0575" y="5934075"/>
                        <a:ext cx="1419225" cy="515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4648200" y="3657600"/>
            <a:ext cx="1066800" cy="914400"/>
            <a:chOff x="2928" y="2304"/>
            <a:chExt cx="672" cy="576"/>
          </a:xfrm>
        </p:grpSpPr>
        <p:sp>
          <p:nvSpPr>
            <p:cNvPr id="328716" name="Line 12"/>
            <p:cNvSpPr>
              <a:spLocks noChangeShapeType="1"/>
            </p:cNvSpPr>
            <p:nvPr/>
          </p:nvSpPr>
          <p:spPr bwMode="auto">
            <a:xfrm>
              <a:off x="2928" y="2304"/>
              <a:ext cx="288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28717" name="Line 13"/>
            <p:cNvSpPr>
              <a:spLocks noChangeShapeType="1"/>
            </p:cNvSpPr>
            <p:nvPr/>
          </p:nvSpPr>
          <p:spPr bwMode="auto">
            <a:xfrm>
              <a:off x="3216" y="2304"/>
              <a:ext cx="0" cy="576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28718" name="Line 14"/>
            <p:cNvSpPr>
              <a:spLocks noChangeShapeType="1"/>
            </p:cNvSpPr>
            <p:nvPr/>
          </p:nvSpPr>
          <p:spPr bwMode="auto">
            <a:xfrm flipV="1">
              <a:off x="3216" y="2880"/>
              <a:ext cx="384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4648200" y="3124200"/>
            <a:ext cx="1066800" cy="1219200"/>
            <a:chOff x="2928" y="1968"/>
            <a:chExt cx="672" cy="768"/>
          </a:xfrm>
          <a:effectLst/>
        </p:grpSpPr>
        <p:sp>
          <p:nvSpPr>
            <p:cNvPr id="328720" name="Line 16"/>
            <p:cNvSpPr>
              <a:spLocks noChangeShapeType="1"/>
            </p:cNvSpPr>
            <p:nvPr/>
          </p:nvSpPr>
          <p:spPr bwMode="auto">
            <a:xfrm>
              <a:off x="2928" y="1968"/>
              <a:ext cx="528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28721" name="Line 17"/>
            <p:cNvSpPr>
              <a:spLocks noChangeShapeType="1"/>
            </p:cNvSpPr>
            <p:nvPr/>
          </p:nvSpPr>
          <p:spPr bwMode="auto">
            <a:xfrm flipV="1">
              <a:off x="3456" y="2736"/>
              <a:ext cx="144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28722" name="Line 18"/>
            <p:cNvSpPr>
              <a:spLocks noChangeShapeType="1"/>
            </p:cNvSpPr>
            <p:nvPr/>
          </p:nvSpPr>
          <p:spPr bwMode="auto">
            <a:xfrm flipH="1">
              <a:off x="3456" y="1968"/>
              <a:ext cx="0" cy="768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</p:grp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4648200" y="4800600"/>
            <a:ext cx="1066800" cy="1600200"/>
            <a:chOff x="2928" y="3024"/>
            <a:chExt cx="672" cy="1008"/>
          </a:xfrm>
        </p:grpSpPr>
        <p:sp>
          <p:nvSpPr>
            <p:cNvPr id="328724" name="Line 20"/>
            <p:cNvSpPr>
              <a:spLocks noChangeShapeType="1"/>
            </p:cNvSpPr>
            <p:nvPr/>
          </p:nvSpPr>
          <p:spPr bwMode="auto">
            <a:xfrm flipV="1">
              <a:off x="2928" y="4032"/>
              <a:ext cx="528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28725" name="Line 21"/>
            <p:cNvSpPr>
              <a:spLocks noChangeShapeType="1"/>
            </p:cNvSpPr>
            <p:nvPr/>
          </p:nvSpPr>
          <p:spPr bwMode="auto">
            <a:xfrm flipV="1">
              <a:off x="3456" y="3024"/>
              <a:ext cx="0" cy="1008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28726" name="Line 22"/>
            <p:cNvSpPr>
              <a:spLocks noChangeShapeType="1"/>
            </p:cNvSpPr>
            <p:nvPr/>
          </p:nvSpPr>
          <p:spPr bwMode="auto">
            <a:xfrm>
              <a:off x="3456" y="3024"/>
              <a:ext cx="144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</p:grp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5715000" y="4114800"/>
            <a:ext cx="990600" cy="914400"/>
            <a:chOff x="3600" y="2592"/>
            <a:chExt cx="624" cy="576"/>
          </a:xfrm>
        </p:grpSpPr>
        <p:sp>
          <p:nvSpPr>
            <p:cNvPr id="328728" name="Rectangle 24"/>
            <p:cNvSpPr>
              <a:spLocks noChangeArrowheads="1"/>
            </p:cNvSpPr>
            <p:nvPr/>
          </p:nvSpPr>
          <p:spPr bwMode="auto">
            <a:xfrm>
              <a:off x="3600" y="2592"/>
              <a:ext cx="288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29" name="Oval 25"/>
            <p:cNvSpPr>
              <a:spLocks noChangeArrowheads="1"/>
            </p:cNvSpPr>
            <p:nvPr/>
          </p:nvSpPr>
          <p:spPr bwMode="auto">
            <a:xfrm>
              <a:off x="3893" y="2832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30" name="Line 26"/>
            <p:cNvSpPr>
              <a:spLocks noChangeShapeType="1"/>
            </p:cNvSpPr>
            <p:nvPr/>
          </p:nvSpPr>
          <p:spPr bwMode="auto">
            <a:xfrm>
              <a:off x="3995" y="2880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31" name="Text Box 27"/>
            <p:cNvSpPr txBox="1">
              <a:spLocks noChangeArrowheads="1"/>
            </p:cNvSpPr>
            <p:nvPr/>
          </p:nvSpPr>
          <p:spPr bwMode="auto">
            <a:xfrm>
              <a:off x="3998" y="2596"/>
              <a:ext cx="22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F</a:t>
              </a:r>
            </a:p>
          </p:txBody>
        </p:sp>
      </p:grpSp>
      <p:graphicFrame>
        <p:nvGraphicFramePr>
          <p:cNvPr id="32873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4284773"/>
              </p:ext>
            </p:extLst>
          </p:nvPr>
        </p:nvGraphicFramePr>
        <p:xfrm>
          <a:off x="1138238" y="1371600"/>
          <a:ext cx="686752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679480" imgH="253800" progId="Equation.3">
                  <p:embed/>
                </p:oleObj>
              </mc:Choice>
              <mc:Fallback>
                <p:oleObj name="公式" r:id="rId18" imgW="2679480" imgH="253800" progId="Equation.3">
                  <p:embed/>
                  <p:pic>
                    <p:nvPicPr>
                      <p:cNvPr id="32873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38" y="1371600"/>
                        <a:ext cx="6867525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1447800" y="2133600"/>
            <a:ext cx="3200400" cy="4495800"/>
            <a:chOff x="912" y="1344"/>
            <a:chExt cx="2016" cy="2832"/>
          </a:xfrm>
        </p:grpSpPr>
        <p:grpSp>
          <p:nvGrpSpPr>
            <p:cNvPr id="7" name="Group 30"/>
            <p:cNvGrpSpPr>
              <a:grpSpLocks/>
            </p:cNvGrpSpPr>
            <p:nvPr/>
          </p:nvGrpSpPr>
          <p:grpSpPr bwMode="auto">
            <a:xfrm>
              <a:off x="912" y="1344"/>
              <a:ext cx="1137" cy="2832"/>
              <a:chOff x="912" y="1344"/>
              <a:chExt cx="1137" cy="2832"/>
            </a:xfrm>
          </p:grpSpPr>
          <p:sp>
            <p:nvSpPr>
              <p:cNvPr id="328735" name="Rectangle 31"/>
              <p:cNvSpPr>
                <a:spLocks noChangeArrowheads="1"/>
              </p:cNvSpPr>
              <p:nvPr/>
            </p:nvSpPr>
            <p:spPr bwMode="auto">
              <a:xfrm>
                <a:off x="1230" y="1344"/>
                <a:ext cx="726" cy="28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8736" name="Line 32"/>
              <p:cNvSpPr>
                <a:spLocks noChangeShapeType="1"/>
              </p:cNvSpPr>
              <p:nvPr/>
            </p:nvSpPr>
            <p:spPr bwMode="auto">
              <a:xfrm>
                <a:off x="912" y="2065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8737" name="Line 33"/>
              <p:cNvSpPr>
                <a:spLocks noChangeShapeType="1"/>
              </p:cNvSpPr>
              <p:nvPr/>
            </p:nvSpPr>
            <p:spPr bwMode="auto">
              <a:xfrm>
                <a:off x="912" y="2519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8738" name="Line 34"/>
              <p:cNvSpPr>
                <a:spLocks noChangeShapeType="1"/>
              </p:cNvSpPr>
              <p:nvPr/>
            </p:nvSpPr>
            <p:spPr bwMode="auto">
              <a:xfrm>
                <a:off x="912" y="3018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8739" name="Text Box 35"/>
              <p:cNvSpPr txBox="1">
                <a:spLocks noChangeArrowheads="1"/>
              </p:cNvSpPr>
              <p:nvPr/>
            </p:nvSpPr>
            <p:spPr bwMode="auto">
              <a:xfrm>
                <a:off x="1230" y="1929"/>
                <a:ext cx="22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+mn-ea"/>
                    <a:ea typeface="+mn-ea"/>
                  </a:rPr>
                  <a:t>A</a:t>
                </a:r>
              </a:p>
            </p:txBody>
          </p:sp>
          <p:sp>
            <p:nvSpPr>
              <p:cNvPr id="328740" name="Text Box 36"/>
              <p:cNvSpPr txBox="1">
                <a:spLocks noChangeArrowheads="1"/>
              </p:cNvSpPr>
              <p:nvPr/>
            </p:nvSpPr>
            <p:spPr bwMode="auto">
              <a:xfrm>
                <a:off x="1230" y="2405"/>
                <a:ext cx="22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+mn-ea"/>
                    <a:ea typeface="+mn-ea"/>
                  </a:rPr>
                  <a:t>B</a:t>
                </a:r>
              </a:p>
            </p:txBody>
          </p:sp>
          <p:sp>
            <p:nvSpPr>
              <p:cNvPr id="328741" name="Text Box 37"/>
              <p:cNvSpPr txBox="1">
                <a:spLocks noChangeArrowheads="1"/>
              </p:cNvSpPr>
              <p:nvPr/>
            </p:nvSpPr>
            <p:spPr bwMode="auto">
              <a:xfrm>
                <a:off x="1230" y="2859"/>
                <a:ext cx="22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+mn-ea"/>
                    <a:ea typeface="+mn-ea"/>
                  </a:rPr>
                  <a:t>C</a:t>
                </a:r>
              </a:p>
            </p:txBody>
          </p:sp>
          <p:sp>
            <p:nvSpPr>
              <p:cNvPr id="328742" name="Rectangle 38"/>
              <p:cNvSpPr>
                <a:spLocks noChangeArrowheads="1"/>
              </p:cNvSpPr>
              <p:nvPr/>
            </p:nvSpPr>
            <p:spPr bwMode="auto">
              <a:xfrm>
                <a:off x="1728" y="1803"/>
                <a:ext cx="253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dirty="0">
                    <a:latin typeface="+mn-ea"/>
                    <a:ea typeface="+mn-ea"/>
                  </a:rPr>
                  <a:t>Y</a:t>
                </a:r>
                <a:r>
                  <a:rPr lang="en-US" altLang="zh-CN" sz="1600" baseline="-25000" dirty="0">
                    <a:latin typeface="+mn-ea"/>
                    <a:ea typeface="+mn-ea"/>
                  </a:rPr>
                  <a:t>1 </a:t>
                </a:r>
              </a:p>
            </p:txBody>
          </p:sp>
          <p:sp>
            <p:nvSpPr>
              <p:cNvPr id="328743" name="Rectangle 39"/>
              <p:cNvSpPr>
                <a:spLocks noChangeArrowheads="1"/>
              </p:cNvSpPr>
              <p:nvPr/>
            </p:nvSpPr>
            <p:spPr bwMode="auto">
              <a:xfrm>
                <a:off x="1728" y="2149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dirty="0">
                    <a:latin typeface="+mn-ea"/>
                    <a:ea typeface="+mn-ea"/>
                  </a:rPr>
                  <a:t>Y</a:t>
                </a:r>
                <a:r>
                  <a:rPr lang="en-US" altLang="zh-CN" sz="1600" baseline="-25000" dirty="0">
                    <a:latin typeface="+mn-ea"/>
                    <a:ea typeface="+mn-ea"/>
                  </a:rPr>
                  <a:t>2</a:t>
                </a:r>
                <a:r>
                  <a:rPr lang="en-US" altLang="zh-CN" sz="1600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8744" name="Rectangle 40"/>
              <p:cNvSpPr>
                <a:spLocks noChangeArrowheads="1"/>
              </p:cNvSpPr>
              <p:nvPr/>
            </p:nvSpPr>
            <p:spPr bwMode="auto">
              <a:xfrm>
                <a:off x="1728" y="3891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dirty="0">
                    <a:latin typeface="+mn-ea"/>
                    <a:ea typeface="+mn-ea"/>
                  </a:rPr>
                  <a:t>Y</a:t>
                </a:r>
                <a:r>
                  <a:rPr lang="en-US" altLang="zh-CN" sz="1600" baseline="-25000" dirty="0">
                    <a:latin typeface="+mn-ea"/>
                    <a:ea typeface="+mn-ea"/>
                  </a:rPr>
                  <a:t>7</a:t>
                </a:r>
                <a:r>
                  <a:rPr lang="en-US" altLang="zh-CN" sz="1600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8745" name="Rectangle 41"/>
              <p:cNvSpPr>
                <a:spLocks noChangeArrowheads="1"/>
              </p:cNvSpPr>
              <p:nvPr/>
            </p:nvSpPr>
            <p:spPr bwMode="auto">
              <a:xfrm>
                <a:off x="1728" y="1439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itchFamily="18" charset="0"/>
                  </a:rPr>
                  <a:t>Y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itchFamily="18" charset="0"/>
                  </a:rPr>
                  <a:t>0</a:t>
                </a:r>
                <a:r>
                  <a:rPr lang="en-US" altLang="zh-CN" sz="1600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8746" name="Rectangle 42"/>
              <p:cNvSpPr>
                <a:spLocks noChangeArrowheads="1"/>
              </p:cNvSpPr>
              <p:nvPr/>
            </p:nvSpPr>
            <p:spPr bwMode="auto">
              <a:xfrm>
                <a:off x="1728" y="2464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dirty="0">
                    <a:latin typeface="+mn-ea"/>
                    <a:ea typeface="+mn-ea"/>
                  </a:rPr>
                  <a:t>Y</a:t>
                </a:r>
                <a:r>
                  <a:rPr lang="en-US" altLang="zh-CN" sz="1600" baseline="-25000" dirty="0">
                    <a:latin typeface="+mn-ea"/>
                    <a:ea typeface="+mn-ea"/>
                  </a:rPr>
                  <a:t>3</a:t>
                </a:r>
                <a:r>
                  <a:rPr lang="en-US" altLang="zh-CN" sz="1600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8747" name="Rectangle 43"/>
              <p:cNvSpPr>
                <a:spLocks noChangeArrowheads="1"/>
              </p:cNvSpPr>
              <p:nvPr/>
            </p:nvSpPr>
            <p:spPr bwMode="auto">
              <a:xfrm>
                <a:off x="1728" y="2811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dirty="0">
                    <a:latin typeface="+mn-ea"/>
                    <a:ea typeface="+mn-ea"/>
                  </a:rPr>
                  <a:t>Y</a:t>
                </a:r>
                <a:r>
                  <a:rPr lang="en-US" altLang="zh-CN" sz="1600" baseline="-25000" dirty="0">
                    <a:latin typeface="+mn-ea"/>
                    <a:ea typeface="+mn-ea"/>
                  </a:rPr>
                  <a:t>4</a:t>
                </a:r>
                <a:r>
                  <a:rPr lang="en-US" altLang="zh-CN" sz="1600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8748" name="Rectangle 44"/>
              <p:cNvSpPr>
                <a:spLocks noChangeArrowheads="1"/>
              </p:cNvSpPr>
              <p:nvPr/>
            </p:nvSpPr>
            <p:spPr bwMode="auto">
              <a:xfrm>
                <a:off x="1728" y="3147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dirty="0">
                    <a:latin typeface="+mn-ea"/>
                    <a:ea typeface="+mn-ea"/>
                  </a:rPr>
                  <a:t>Y</a:t>
                </a:r>
                <a:r>
                  <a:rPr lang="en-US" altLang="zh-CN" sz="1600" baseline="-25000" dirty="0">
                    <a:latin typeface="+mn-ea"/>
                    <a:ea typeface="+mn-ea"/>
                  </a:rPr>
                  <a:t>5</a:t>
                </a:r>
                <a:r>
                  <a:rPr lang="en-US" altLang="zh-CN" sz="1600" dirty="0"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328749" name="Rectangle 45"/>
              <p:cNvSpPr>
                <a:spLocks noChangeArrowheads="1"/>
              </p:cNvSpPr>
              <p:nvPr/>
            </p:nvSpPr>
            <p:spPr bwMode="auto">
              <a:xfrm>
                <a:off x="1728" y="3520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dirty="0">
                    <a:latin typeface="+mn-ea"/>
                    <a:ea typeface="+mn-ea"/>
                  </a:rPr>
                  <a:t>Y</a:t>
                </a:r>
                <a:r>
                  <a:rPr lang="en-US" altLang="zh-CN" sz="1600" baseline="-25000" dirty="0">
                    <a:latin typeface="+mn-ea"/>
                    <a:ea typeface="+mn-ea"/>
                  </a:rPr>
                  <a:t>6</a:t>
                </a:r>
                <a:r>
                  <a:rPr lang="en-US" altLang="zh-CN" sz="1600" dirty="0">
                    <a:latin typeface="+mn-ea"/>
                    <a:ea typeface="+mn-ea"/>
                  </a:rPr>
                  <a:t> </a:t>
                </a:r>
              </a:p>
            </p:txBody>
          </p:sp>
        </p:grpSp>
        <p:sp>
          <p:nvSpPr>
            <p:cNvPr id="328750" name="Line 46"/>
            <p:cNvSpPr>
              <a:spLocks noChangeShapeType="1"/>
            </p:cNvSpPr>
            <p:nvPr/>
          </p:nvSpPr>
          <p:spPr bwMode="auto">
            <a:xfrm>
              <a:off x="1968" y="163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51" name="Line 47"/>
            <p:cNvSpPr>
              <a:spLocks noChangeShapeType="1"/>
            </p:cNvSpPr>
            <p:nvPr/>
          </p:nvSpPr>
          <p:spPr bwMode="auto">
            <a:xfrm>
              <a:off x="1968" y="1968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52" name="Line 48"/>
            <p:cNvSpPr>
              <a:spLocks noChangeShapeType="1"/>
            </p:cNvSpPr>
            <p:nvPr/>
          </p:nvSpPr>
          <p:spPr bwMode="auto">
            <a:xfrm>
              <a:off x="1968" y="2304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53" name="Line 49"/>
            <p:cNvSpPr>
              <a:spLocks noChangeShapeType="1"/>
            </p:cNvSpPr>
            <p:nvPr/>
          </p:nvSpPr>
          <p:spPr bwMode="auto">
            <a:xfrm>
              <a:off x="1968" y="259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54" name="Line 50"/>
            <p:cNvSpPr>
              <a:spLocks noChangeShapeType="1"/>
            </p:cNvSpPr>
            <p:nvPr/>
          </p:nvSpPr>
          <p:spPr bwMode="auto">
            <a:xfrm>
              <a:off x="1968" y="2976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55" name="Line 51"/>
            <p:cNvSpPr>
              <a:spLocks noChangeShapeType="1"/>
            </p:cNvSpPr>
            <p:nvPr/>
          </p:nvSpPr>
          <p:spPr bwMode="auto">
            <a:xfrm>
              <a:off x="1968" y="331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56" name="Line 52"/>
            <p:cNvSpPr>
              <a:spLocks noChangeShapeType="1"/>
            </p:cNvSpPr>
            <p:nvPr/>
          </p:nvSpPr>
          <p:spPr bwMode="auto">
            <a:xfrm>
              <a:off x="1920" y="3696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57" name="Line 53"/>
            <p:cNvSpPr>
              <a:spLocks noChangeShapeType="1"/>
            </p:cNvSpPr>
            <p:nvPr/>
          </p:nvSpPr>
          <p:spPr bwMode="auto">
            <a:xfrm>
              <a:off x="1968" y="403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aphicFrame>
        <p:nvGraphicFramePr>
          <p:cNvPr id="328758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7331873"/>
              </p:ext>
            </p:extLst>
          </p:nvPr>
        </p:nvGraphicFramePr>
        <p:xfrm>
          <a:off x="5187950" y="1951038"/>
          <a:ext cx="257175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002960" imgH="279360" progId="Equation.3">
                  <p:embed/>
                </p:oleObj>
              </mc:Choice>
              <mc:Fallback>
                <p:oleObj name="公式" r:id="rId20" imgW="1002960" imgH="279360" progId="Equation.3">
                  <p:embed/>
                  <p:pic>
                    <p:nvPicPr>
                      <p:cNvPr id="328758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7950" y="1951038"/>
                        <a:ext cx="2571750" cy="715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55"/>
          <p:cNvGrpSpPr>
            <a:grpSpLocks/>
          </p:cNvGrpSpPr>
          <p:nvPr/>
        </p:nvGrpSpPr>
        <p:grpSpPr bwMode="auto">
          <a:xfrm>
            <a:off x="990600" y="3048001"/>
            <a:ext cx="381000" cy="1909763"/>
            <a:chOff x="624" y="1920"/>
            <a:chExt cx="240" cy="1203"/>
          </a:xfrm>
        </p:grpSpPr>
        <p:sp>
          <p:nvSpPr>
            <p:cNvPr id="328760" name="Text Box 56"/>
            <p:cNvSpPr txBox="1">
              <a:spLocks noChangeArrowheads="1"/>
            </p:cNvSpPr>
            <p:nvPr/>
          </p:nvSpPr>
          <p:spPr bwMode="auto">
            <a:xfrm>
              <a:off x="624" y="1920"/>
              <a:ext cx="24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A</a:t>
              </a:r>
            </a:p>
          </p:txBody>
        </p:sp>
        <p:sp>
          <p:nvSpPr>
            <p:cNvPr id="328761" name="Text Box 57"/>
            <p:cNvSpPr txBox="1">
              <a:spLocks noChangeArrowheads="1"/>
            </p:cNvSpPr>
            <p:nvPr/>
          </p:nvSpPr>
          <p:spPr bwMode="auto">
            <a:xfrm>
              <a:off x="624" y="2390"/>
              <a:ext cx="24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B</a:t>
              </a:r>
            </a:p>
          </p:txBody>
        </p:sp>
        <p:sp>
          <p:nvSpPr>
            <p:cNvPr id="328762" name="Text Box 58"/>
            <p:cNvSpPr txBox="1">
              <a:spLocks noChangeArrowheads="1"/>
            </p:cNvSpPr>
            <p:nvPr/>
          </p:nvSpPr>
          <p:spPr bwMode="auto">
            <a:xfrm>
              <a:off x="624" y="2832"/>
              <a:ext cx="24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098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8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8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8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8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8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8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8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資料選擇器</a:t>
            </a:r>
            <a:r>
              <a:rPr lang="en-US" altLang="zh-CN" sz="3600" dirty="0"/>
              <a:t>(10)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12155-80FB-40C7-8694-6AA3A8147076}" type="slidenum">
              <a:rPr lang="en-US" altLang="zh-CN">
                <a:latin typeface="+mn-ea"/>
                <a:ea typeface="+mn-ea"/>
              </a:rPr>
              <a:pPr/>
              <a:t>88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3297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>
                <a:latin typeface="+mn-ea"/>
              </a:rPr>
              <a:t>解碼器與資料選擇器實現邏輯函數</a:t>
            </a: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effectLst/>
                <a:latin typeface="+mn-ea"/>
              </a:rPr>
              <a:t>數據選擇器</a:t>
            </a:r>
            <a:r>
              <a:rPr lang="en-US" altLang="zh-CN" b="1" dirty="0">
                <a:effectLst/>
                <a:latin typeface="+mn-ea"/>
              </a:rPr>
              <a:t>: </a:t>
            </a:r>
            <a:r>
              <a:rPr lang="zh-CN" altLang="en-US" b="1" dirty="0">
                <a:solidFill>
                  <a:srgbClr val="CC00FF"/>
                </a:solidFill>
                <a:effectLst/>
                <a:latin typeface="+mn-ea"/>
              </a:rPr>
              <a:t>邏輯結構就是與</a:t>
            </a:r>
            <a:r>
              <a:rPr lang="en-US" altLang="zh-CN" b="1" dirty="0">
                <a:solidFill>
                  <a:srgbClr val="CC00FF"/>
                </a:solidFill>
                <a:effectLst/>
                <a:latin typeface="+mn-ea"/>
              </a:rPr>
              <a:t>-</a:t>
            </a:r>
            <a:r>
              <a:rPr lang="zh-CN" altLang="en-US" b="1" dirty="0">
                <a:solidFill>
                  <a:srgbClr val="CC00FF"/>
                </a:solidFill>
                <a:effectLst/>
                <a:latin typeface="+mn-ea"/>
              </a:rPr>
              <a:t>或運算式</a:t>
            </a:r>
            <a:r>
              <a:rPr lang="zh-CN" altLang="en-US" b="1" dirty="0">
                <a:effectLst/>
                <a:latin typeface="+mn-ea"/>
              </a:rPr>
              <a:t>。</a:t>
            </a:r>
          </a:p>
          <a:p>
            <a:pPr lvl="2">
              <a:spcBef>
                <a:spcPct val="50000"/>
              </a:spcBef>
            </a:pPr>
            <a:r>
              <a:rPr lang="zh-CN" altLang="en-US" b="1" dirty="0">
                <a:effectLst/>
                <a:latin typeface="+mn-ea"/>
              </a:rPr>
              <a:t>如：</a:t>
            </a:r>
            <a:r>
              <a:rPr lang="en-US" altLang="zh-CN" b="1" dirty="0">
                <a:effectLst/>
                <a:latin typeface="+mn-ea"/>
              </a:rPr>
              <a:t>4</a:t>
            </a:r>
            <a:r>
              <a:rPr lang="zh-CN" altLang="en-US" b="1" dirty="0">
                <a:effectLst/>
                <a:latin typeface="+mn-ea"/>
              </a:rPr>
              <a:t>選</a:t>
            </a:r>
            <a:r>
              <a:rPr lang="en-US" altLang="zh-CN" b="1" dirty="0">
                <a:effectLst/>
                <a:latin typeface="+mn-ea"/>
              </a:rPr>
              <a:t>1</a:t>
            </a:r>
            <a:r>
              <a:rPr lang="zh-CN" altLang="en-US" b="1" dirty="0">
                <a:effectLst/>
                <a:latin typeface="+mn-ea"/>
              </a:rPr>
              <a:t>選擇器：</a:t>
            </a:r>
          </a:p>
          <a:p>
            <a:pPr lvl="2">
              <a:spcBef>
                <a:spcPct val="50000"/>
              </a:spcBef>
            </a:pPr>
            <a:endParaRPr lang="zh-CN" altLang="en-US" b="1" dirty="0">
              <a:effectLst/>
              <a:latin typeface="+mn-ea"/>
            </a:endParaRP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solidFill>
                  <a:srgbClr val="CC00FF"/>
                </a:solidFill>
                <a:effectLst/>
                <a:latin typeface="+mn-ea"/>
              </a:rPr>
              <a:t>資料選擇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器</a:t>
            </a:r>
            <a:r>
              <a:rPr lang="zh-CN" altLang="en-US" b="1" dirty="0">
                <a:effectLst/>
                <a:latin typeface="+mn-ea"/>
              </a:rPr>
              <a:t>可以看成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是</a:t>
            </a:r>
            <a:r>
              <a:rPr lang="en-US" altLang="zh-CN" b="1" dirty="0">
                <a:solidFill>
                  <a:srgbClr val="CC00FF"/>
                </a:solidFill>
                <a:latin typeface="+mn-ea"/>
              </a:rPr>
              <a:t>N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個控制端的</a:t>
            </a:r>
            <a:r>
              <a:rPr lang="en-US" altLang="zh-CN" b="1" dirty="0">
                <a:solidFill>
                  <a:srgbClr val="CC00FF"/>
                </a:solidFill>
                <a:latin typeface="+mn-ea"/>
              </a:rPr>
              <a:t>2</a:t>
            </a:r>
            <a:r>
              <a:rPr lang="en-US" altLang="zh-CN" b="1" baseline="30000" dirty="0">
                <a:solidFill>
                  <a:srgbClr val="CC00FF"/>
                </a:solidFill>
                <a:latin typeface="+mn-ea"/>
              </a:rPr>
              <a:t>N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個最小項和</a:t>
            </a:r>
            <a:r>
              <a:rPr lang="en-US" altLang="zh-CN" b="1" dirty="0">
                <a:solidFill>
                  <a:srgbClr val="CC00FF"/>
                </a:solidFill>
                <a:latin typeface="+mn-ea"/>
              </a:rPr>
              <a:t>2</a:t>
            </a:r>
            <a:r>
              <a:rPr lang="en-US" altLang="zh-CN" b="1" baseline="30000" dirty="0">
                <a:solidFill>
                  <a:srgbClr val="CC00FF"/>
                </a:solidFill>
                <a:latin typeface="+mn-ea"/>
              </a:rPr>
              <a:t>N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個輸入組成的“與</a:t>
            </a:r>
            <a:r>
              <a:rPr lang="en-US" altLang="zh-CN" b="1" dirty="0">
                <a:solidFill>
                  <a:srgbClr val="CC00FF"/>
                </a:solidFill>
                <a:latin typeface="+mn-ea"/>
              </a:rPr>
              <a:t>-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或”運算式。</a:t>
            </a:r>
            <a:r>
              <a:rPr lang="zh-CN" altLang="en-US" b="1" dirty="0">
                <a:latin typeface="+mn-ea"/>
              </a:rPr>
              <a:t>選擇某些輸入為“</a:t>
            </a:r>
            <a:r>
              <a:rPr lang="en-US" altLang="zh-CN" b="1" dirty="0">
                <a:latin typeface="+mn-ea"/>
              </a:rPr>
              <a:t>1”</a:t>
            </a:r>
            <a:r>
              <a:rPr lang="zh-CN" altLang="en-US" b="1" dirty="0">
                <a:latin typeface="+mn-ea"/>
              </a:rPr>
              <a:t>，就是選中這些最小項組成邏輯函數。</a:t>
            </a:r>
            <a:endParaRPr lang="zh-CN" altLang="en-US" b="1" dirty="0">
              <a:effectLst/>
              <a:latin typeface="+mn-ea"/>
            </a:endParaRPr>
          </a:p>
          <a:p>
            <a:endParaRPr lang="en-US" altLang="zh-CN" sz="2400" dirty="0">
              <a:latin typeface="+mn-ea"/>
            </a:endParaRPr>
          </a:p>
        </p:txBody>
      </p:sp>
      <p:graphicFrame>
        <p:nvGraphicFramePr>
          <p:cNvPr id="3297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931455"/>
              </p:ext>
            </p:extLst>
          </p:nvPr>
        </p:nvGraphicFramePr>
        <p:xfrm>
          <a:off x="2474913" y="3276600"/>
          <a:ext cx="495776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16120" imgH="253800" progId="Equation.3">
                  <p:embed/>
                </p:oleObj>
              </mc:Choice>
              <mc:Fallback>
                <p:oleObj name="公式" r:id="rId2" imgW="2616120" imgH="253800" progId="Equation.3">
                  <p:embed/>
                  <p:pic>
                    <p:nvPicPr>
                      <p:cNvPr id="3297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913" y="3276600"/>
                        <a:ext cx="4957762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339669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>
          <a:xfrm>
            <a:off x="679450" y="304800"/>
            <a:ext cx="7862888" cy="644525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資料選擇器</a:t>
            </a:r>
            <a:r>
              <a:rPr lang="en-US" altLang="zh-CN" sz="3600" dirty="0"/>
              <a:t>(11)</a:t>
            </a:r>
          </a:p>
        </p:txBody>
      </p:sp>
      <p:sp>
        <p:nvSpPr>
          <p:cNvPr id="7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541F-5AD4-4456-94DA-4AB83F8714FA}" type="slidenum">
              <a:rPr lang="en-US" altLang="zh-CN">
                <a:latin typeface="+mn-ea"/>
                <a:ea typeface="+mn-ea"/>
              </a:rPr>
              <a:pPr/>
              <a:t>89</a:t>
            </a:fld>
            <a:endParaRPr lang="en-US" altLang="zh-CN" dirty="0">
              <a:latin typeface="+mn-ea"/>
              <a:ea typeface="+mn-ea"/>
            </a:endParaRPr>
          </a:p>
        </p:txBody>
      </p:sp>
      <p:graphicFrame>
        <p:nvGraphicFramePr>
          <p:cNvPr id="330755" name="Object 3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239620275"/>
              </p:ext>
            </p:extLst>
          </p:nvPr>
        </p:nvGraphicFramePr>
        <p:xfrm>
          <a:off x="536575" y="2711450"/>
          <a:ext cx="26638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44520" imgH="215640" progId="Equation.3">
                  <p:embed/>
                </p:oleObj>
              </mc:Choice>
              <mc:Fallback>
                <p:oleObj name="公式" r:id="rId2" imgW="1244520" imgH="215640" progId="Equation.3">
                  <p:embed/>
                  <p:pic>
                    <p:nvPicPr>
                      <p:cNvPr id="330755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" y="2711450"/>
                        <a:ext cx="26638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207404"/>
              </p:ext>
            </p:extLst>
          </p:nvPr>
        </p:nvGraphicFramePr>
        <p:xfrm>
          <a:off x="5791200" y="3048000"/>
          <a:ext cx="3167063" cy="257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5426939" imgH="4408163" progId="">
                  <p:embed/>
                </p:oleObj>
              </mc:Choice>
              <mc:Fallback>
                <p:oleObj name="Image" r:id="rId4" imgW="5426939" imgH="4408163" progId="">
                  <p:embed/>
                  <p:pic>
                    <p:nvPicPr>
                      <p:cNvPr id="3307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048000"/>
                        <a:ext cx="3167063" cy="2573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0757" name="Text Box 5"/>
          <p:cNvSpPr txBox="1">
            <a:spLocks noChangeArrowheads="1"/>
          </p:cNvSpPr>
          <p:nvPr/>
        </p:nvSpPr>
        <p:spPr bwMode="auto">
          <a:xfrm>
            <a:off x="695325" y="1463675"/>
            <a:ext cx="8220075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解碼器與資料選擇器實現邏輯函數</a:t>
            </a:r>
          </a:p>
          <a:p>
            <a:pPr lvl="1"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用八選一資料選擇器實現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3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變數函數：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304925" y="3852864"/>
            <a:ext cx="1492250" cy="1936750"/>
            <a:chOff x="822" y="2427"/>
            <a:chExt cx="940" cy="1220"/>
          </a:xfrm>
        </p:grpSpPr>
        <p:sp>
          <p:nvSpPr>
            <p:cNvPr id="330759" name="Rectangle 7"/>
            <p:cNvSpPr>
              <a:spLocks noChangeArrowheads="1"/>
            </p:cNvSpPr>
            <p:nvPr/>
          </p:nvSpPr>
          <p:spPr bwMode="auto">
            <a:xfrm>
              <a:off x="822" y="2427"/>
              <a:ext cx="544" cy="272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1248" y="2688"/>
              <a:ext cx="514" cy="959"/>
              <a:chOff x="1440" y="2208"/>
              <a:chExt cx="514" cy="959"/>
            </a:xfrm>
          </p:grpSpPr>
          <p:graphicFrame>
            <p:nvGraphicFramePr>
              <p:cNvPr id="330761" name="Object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87145906"/>
                  </p:ext>
                </p:extLst>
              </p:nvPr>
            </p:nvGraphicFramePr>
            <p:xfrm>
              <a:off x="1690" y="2916"/>
              <a:ext cx="264" cy="2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228600" imgH="215640" progId="Equation.DSMT4">
                      <p:embed/>
                    </p:oleObj>
                  </mc:Choice>
                  <mc:Fallback>
                    <p:oleObj name="Equation" r:id="rId6" imgW="228600" imgH="215640" progId="Equation.DSMT4">
                      <p:embed/>
                      <p:pic>
                        <p:nvPicPr>
                          <p:cNvPr id="330761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90" y="2916"/>
                            <a:ext cx="264" cy="25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0762" name="Line 10"/>
              <p:cNvSpPr>
                <a:spLocks noChangeShapeType="1"/>
              </p:cNvSpPr>
              <p:nvPr/>
            </p:nvSpPr>
            <p:spPr bwMode="auto">
              <a:xfrm flipH="1" flipV="1">
                <a:off x="1440" y="2208"/>
                <a:ext cx="432" cy="72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685800" y="4267201"/>
            <a:ext cx="2133600" cy="1541463"/>
            <a:chOff x="432" y="2688"/>
            <a:chExt cx="1344" cy="971"/>
          </a:xfrm>
        </p:grpSpPr>
        <p:grpSp>
          <p:nvGrpSpPr>
            <p:cNvPr id="5" name="Group 12"/>
            <p:cNvGrpSpPr>
              <a:grpSpLocks/>
            </p:cNvGrpSpPr>
            <p:nvPr/>
          </p:nvGrpSpPr>
          <p:grpSpPr bwMode="auto">
            <a:xfrm>
              <a:off x="432" y="2688"/>
              <a:ext cx="1344" cy="272"/>
              <a:chOff x="624" y="2208"/>
              <a:chExt cx="1344" cy="272"/>
            </a:xfrm>
          </p:grpSpPr>
          <p:sp>
            <p:nvSpPr>
              <p:cNvPr id="330765" name="Rectangle 13"/>
              <p:cNvSpPr>
                <a:spLocks noChangeArrowheads="1"/>
              </p:cNvSpPr>
              <p:nvPr/>
            </p:nvSpPr>
            <p:spPr bwMode="auto">
              <a:xfrm>
                <a:off x="1680" y="2208"/>
                <a:ext cx="288" cy="272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66" name="Rectangle 14"/>
              <p:cNvSpPr>
                <a:spLocks noChangeArrowheads="1"/>
              </p:cNvSpPr>
              <p:nvPr/>
            </p:nvSpPr>
            <p:spPr bwMode="auto">
              <a:xfrm>
                <a:off x="624" y="2208"/>
                <a:ext cx="288" cy="272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6" name="Group 15"/>
            <p:cNvGrpSpPr>
              <a:grpSpLocks/>
            </p:cNvGrpSpPr>
            <p:nvPr/>
          </p:nvGrpSpPr>
          <p:grpSpPr bwMode="auto">
            <a:xfrm>
              <a:off x="576" y="2976"/>
              <a:ext cx="1008" cy="683"/>
              <a:chOff x="768" y="2496"/>
              <a:chExt cx="1008" cy="683"/>
            </a:xfrm>
          </p:grpSpPr>
          <p:graphicFrame>
            <p:nvGraphicFramePr>
              <p:cNvPr id="330768" name="Object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48233107"/>
                  </p:ext>
                </p:extLst>
              </p:nvPr>
            </p:nvGraphicFramePr>
            <p:xfrm>
              <a:off x="1109" y="2929"/>
              <a:ext cx="256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215640" imgH="215640" progId="Equation.DSMT4">
                      <p:embed/>
                    </p:oleObj>
                  </mc:Choice>
                  <mc:Fallback>
                    <p:oleObj name="Equation" r:id="rId8" imgW="215640" imgH="215640" progId="Equation.DSMT4">
                      <p:embed/>
                      <p:pic>
                        <p:nvPicPr>
                          <p:cNvPr id="330768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9" y="2929"/>
                            <a:ext cx="256" cy="2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0769" name="Line 17"/>
              <p:cNvSpPr>
                <a:spLocks noChangeShapeType="1"/>
              </p:cNvSpPr>
              <p:nvPr/>
            </p:nvSpPr>
            <p:spPr bwMode="auto">
              <a:xfrm flipH="1" flipV="1">
                <a:off x="768" y="2496"/>
                <a:ext cx="432" cy="43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70" name="Line 18"/>
              <p:cNvSpPr>
                <a:spLocks noChangeShapeType="1"/>
              </p:cNvSpPr>
              <p:nvPr/>
            </p:nvSpPr>
            <p:spPr bwMode="auto">
              <a:xfrm flipV="1">
                <a:off x="1200" y="2496"/>
                <a:ext cx="576" cy="43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7" name="Group 19"/>
          <p:cNvGrpSpPr>
            <a:grpSpLocks/>
          </p:cNvGrpSpPr>
          <p:nvPr/>
        </p:nvGrpSpPr>
        <p:grpSpPr bwMode="auto">
          <a:xfrm>
            <a:off x="492125" y="3924299"/>
            <a:ext cx="1028700" cy="1857375"/>
            <a:chOff x="310" y="2472"/>
            <a:chExt cx="648" cy="1170"/>
          </a:xfrm>
        </p:grpSpPr>
        <p:sp>
          <p:nvSpPr>
            <p:cNvPr id="330772" name="Rectangle 20"/>
            <p:cNvSpPr>
              <a:spLocks noChangeArrowheads="1"/>
            </p:cNvSpPr>
            <p:nvPr/>
          </p:nvSpPr>
          <p:spPr bwMode="auto">
            <a:xfrm>
              <a:off x="505" y="2472"/>
              <a:ext cx="453" cy="409"/>
            </a:xfrm>
            <a:prstGeom prst="rect">
              <a:avLst/>
            </a:prstGeom>
            <a:solidFill>
              <a:srgbClr val="FF00FF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8" name="Group 21"/>
            <p:cNvGrpSpPr>
              <a:grpSpLocks/>
            </p:cNvGrpSpPr>
            <p:nvPr/>
          </p:nvGrpSpPr>
          <p:grpSpPr bwMode="auto">
            <a:xfrm>
              <a:off x="310" y="2832"/>
              <a:ext cx="410" cy="810"/>
              <a:chOff x="502" y="2352"/>
              <a:chExt cx="410" cy="810"/>
            </a:xfrm>
          </p:grpSpPr>
          <p:graphicFrame>
            <p:nvGraphicFramePr>
              <p:cNvPr id="330774" name="Object 2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56543931"/>
                  </p:ext>
                </p:extLst>
              </p:nvPr>
            </p:nvGraphicFramePr>
            <p:xfrm>
              <a:off x="502" y="2903"/>
              <a:ext cx="184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52280" imgH="215640" progId="Equation.DSMT4">
                      <p:embed/>
                    </p:oleObj>
                  </mc:Choice>
                  <mc:Fallback>
                    <p:oleObj name="Equation" r:id="rId10" imgW="152280" imgH="215640" progId="Equation.DSMT4">
                      <p:embed/>
                      <p:pic>
                        <p:nvPicPr>
                          <p:cNvPr id="330774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" y="2903"/>
                            <a:ext cx="184" cy="25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0775" name="Line 23"/>
              <p:cNvSpPr>
                <a:spLocks noChangeShapeType="1"/>
              </p:cNvSpPr>
              <p:nvPr/>
            </p:nvSpPr>
            <p:spPr bwMode="auto">
              <a:xfrm flipV="1">
                <a:off x="576" y="2352"/>
                <a:ext cx="336" cy="576"/>
              </a:xfrm>
              <a:prstGeom prst="line">
                <a:avLst/>
              </a:prstGeom>
              <a:noFill/>
              <a:ln w="38100">
                <a:solidFill>
                  <a:srgbClr val="FF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9" name="Group 24"/>
          <p:cNvGrpSpPr>
            <a:grpSpLocks/>
          </p:cNvGrpSpPr>
          <p:nvPr/>
        </p:nvGrpSpPr>
        <p:grpSpPr bwMode="auto">
          <a:xfrm>
            <a:off x="166688" y="3111497"/>
            <a:ext cx="2728912" cy="1677986"/>
            <a:chOff x="960" y="3203"/>
            <a:chExt cx="1719" cy="1057"/>
          </a:xfrm>
        </p:grpSpPr>
        <p:grpSp>
          <p:nvGrpSpPr>
            <p:cNvPr id="10" name="Group 25"/>
            <p:cNvGrpSpPr>
              <a:grpSpLocks/>
            </p:cNvGrpSpPr>
            <p:nvPr/>
          </p:nvGrpSpPr>
          <p:grpSpPr bwMode="auto">
            <a:xfrm>
              <a:off x="1249" y="3696"/>
              <a:ext cx="1391" cy="509"/>
              <a:chOff x="576" y="1947"/>
              <a:chExt cx="1391" cy="509"/>
            </a:xfrm>
          </p:grpSpPr>
          <p:sp>
            <p:nvSpPr>
              <p:cNvPr id="330778" name="Rectangle 26"/>
              <p:cNvSpPr>
                <a:spLocks noChangeArrowheads="1"/>
              </p:cNvSpPr>
              <p:nvPr/>
            </p:nvSpPr>
            <p:spPr bwMode="auto">
              <a:xfrm>
                <a:off x="1279" y="1947"/>
                <a:ext cx="344" cy="2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dirty="0">
                    <a:latin typeface="+mn-ea"/>
                    <a:ea typeface="+mn-ea"/>
                  </a:rPr>
                  <a:t>1</a:t>
                </a:r>
              </a:p>
            </p:txBody>
          </p:sp>
          <p:sp>
            <p:nvSpPr>
              <p:cNvPr id="330779" name="Line 27"/>
              <p:cNvSpPr>
                <a:spLocks noChangeShapeType="1"/>
              </p:cNvSpPr>
              <p:nvPr/>
            </p:nvSpPr>
            <p:spPr bwMode="auto">
              <a:xfrm>
                <a:off x="591" y="1947"/>
                <a:ext cx="137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80" name="Line 28"/>
              <p:cNvSpPr>
                <a:spLocks noChangeShapeType="1"/>
              </p:cNvSpPr>
              <p:nvPr/>
            </p:nvSpPr>
            <p:spPr bwMode="auto">
              <a:xfrm>
                <a:off x="591" y="2202"/>
                <a:ext cx="13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81" name="Line 29"/>
              <p:cNvSpPr>
                <a:spLocks noChangeShapeType="1"/>
              </p:cNvSpPr>
              <p:nvPr/>
            </p:nvSpPr>
            <p:spPr bwMode="auto">
              <a:xfrm>
                <a:off x="576" y="2448"/>
                <a:ext cx="137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82" name="Line 30"/>
              <p:cNvSpPr>
                <a:spLocks noChangeShapeType="1"/>
              </p:cNvSpPr>
              <p:nvPr/>
            </p:nvSpPr>
            <p:spPr bwMode="auto">
              <a:xfrm>
                <a:off x="591" y="1947"/>
                <a:ext cx="0" cy="509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83" name="Line 31"/>
              <p:cNvSpPr>
                <a:spLocks noChangeShapeType="1"/>
              </p:cNvSpPr>
              <p:nvPr/>
            </p:nvSpPr>
            <p:spPr bwMode="auto">
              <a:xfrm>
                <a:off x="1279" y="1947"/>
                <a:ext cx="0" cy="50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1" name="Group 32"/>
            <p:cNvGrpSpPr>
              <a:grpSpLocks/>
            </p:cNvGrpSpPr>
            <p:nvPr/>
          </p:nvGrpSpPr>
          <p:grpSpPr bwMode="auto">
            <a:xfrm>
              <a:off x="960" y="3203"/>
              <a:ext cx="1719" cy="1057"/>
              <a:chOff x="293" y="1475"/>
              <a:chExt cx="1719" cy="1057"/>
            </a:xfrm>
          </p:grpSpPr>
          <p:sp>
            <p:nvSpPr>
              <p:cNvPr id="330785" name="Rectangle 33"/>
              <p:cNvSpPr>
                <a:spLocks noChangeArrowheads="1"/>
              </p:cNvSpPr>
              <p:nvPr/>
            </p:nvSpPr>
            <p:spPr bwMode="auto">
              <a:xfrm>
                <a:off x="1628" y="2223"/>
                <a:ext cx="344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dirty="0">
                    <a:latin typeface="+mn-ea"/>
                    <a:ea typeface="+mn-ea"/>
                  </a:rPr>
                  <a:t>1</a:t>
                </a:r>
              </a:p>
            </p:txBody>
          </p:sp>
          <p:sp>
            <p:nvSpPr>
              <p:cNvPr id="330786" name="Rectangle 34"/>
              <p:cNvSpPr>
                <a:spLocks noChangeArrowheads="1"/>
              </p:cNvSpPr>
              <p:nvPr/>
            </p:nvSpPr>
            <p:spPr bwMode="auto">
              <a:xfrm>
                <a:off x="1284" y="2202"/>
                <a:ext cx="344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dirty="0">
                    <a:latin typeface="+mn-ea"/>
                    <a:ea typeface="+mn-ea"/>
                  </a:rPr>
                  <a:t>0</a:t>
                </a:r>
              </a:p>
            </p:txBody>
          </p:sp>
          <p:sp>
            <p:nvSpPr>
              <p:cNvPr id="330787" name="Rectangle 35"/>
              <p:cNvSpPr>
                <a:spLocks noChangeArrowheads="1"/>
              </p:cNvSpPr>
              <p:nvPr/>
            </p:nvSpPr>
            <p:spPr bwMode="auto">
              <a:xfrm>
                <a:off x="940" y="2202"/>
                <a:ext cx="344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dirty="0">
                    <a:latin typeface="+mn-ea"/>
                    <a:ea typeface="+mn-ea"/>
                  </a:rPr>
                  <a:t>1</a:t>
                </a:r>
              </a:p>
            </p:txBody>
          </p:sp>
          <p:sp>
            <p:nvSpPr>
              <p:cNvPr id="330788" name="Rectangle 36"/>
              <p:cNvSpPr>
                <a:spLocks noChangeArrowheads="1"/>
              </p:cNvSpPr>
              <p:nvPr/>
            </p:nvSpPr>
            <p:spPr bwMode="auto">
              <a:xfrm>
                <a:off x="596" y="2202"/>
                <a:ext cx="344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dirty="0">
                    <a:latin typeface="+mn-ea"/>
                    <a:ea typeface="+mn-ea"/>
                  </a:rPr>
                  <a:t>1</a:t>
                </a:r>
              </a:p>
            </p:txBody>
          </p:sp>
          <p:sp>
            <p:nvSpPr>
              <p:cNvPr id="330789" name="Rectangle 37"/>
              <p:cNvSpPr>
                <a:spLocks noChangeArrowheads="1"/>
              </p:cNvSpPr>
              <p:nvPr/>
            </p:nvSpPr>
            <p:spPr bwMode="auto">
              <a:xfrm>
                <a:off x="1628" y="1968"/>
                <a:ext cx="344" cy="2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dirty="0">
                    <a:latin typeface="+mn-ea"/>
                    <a:ea typeface="+mn-ea"/>
                  </a:rPr>
                  <a:t>0</a:t>
                </a:r>
              </a:p>
            </p:txBody>
          </p:sp>
          <p:sp>
            <p:nvSpPr>
              <p:cNvPr id="330790" name="Rectangle 38"/>
              <p:cNvSpPr>
                <a:spLocks noChangeArrowheads="1"/>
              </p:cNvSpPr>
              <p:nvPr/>
            </p:nvSpPr>
            <p:spPr bwMode="auto">
              <a:xfrm>
                <a:off x="940" y="1947"/>
                <a:ext cx="344" cy="2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dirty="0">
                    <a:latin typeface="+mn-ea"/>
                    <a:ea typeface="+mn-ea"/>
                  </a:rPr>
                  <a:t>1</a:t>
                </a:r>
              </a:p>
            </p:txBody>
          </p:sp>
          <p:sp>
            <p:nvSpPr>
              <p:cNvPr id="330791" name="Rectangle 39"/>
              <p:cNvSpPr>
                <a:spLocks noChangeArrowheads="1"/>
              </p:cNvSpPr>
              <p:nvPr/>
            </p:nvSpPr>
            <p:spPr bwMode="auto">
              <a:xfrm>
                <a:off x="581" y="1968"/>
                <a:ext cx="344" cy="2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dirty="0">
                    <a:latin typeface="+mn-ea"/>
                    <a:ea typeface="+mn-ea"/>
                  </a:rPr>
                  <a:t>1</a:t>
                </a:r>
              </a:p>
            </p:txBody>
          </p:sp>
          <p:sp>
            <p:nvSpPr>
              <p:cNvPr id="330792" name="Line 40"/>
              <p:cNvSpPr>
                <a:spLocks noChangeShapeType="1"/>
              </p:cNvSpPr>
              <p:nvPr/>
            </p:nvSpPr>
            <p:spPr bwMode="auto">
              <a:xfrm>
                <a:off x="940" y="1968"/>
                <a:ext cx="0" cy="50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93" name="Line 41"/>
              <p:cNvSpPr>
                <a:spLocks noChangeShapeType="1"/>
              </p:cNvSpPr>
              <p:nvPr/>
            </p:nvSpPr>
            <p:spPr bwMode="auto">
              <a:xfrm>
                <a:off x="1628" y="1968"/>
                <a:ext cx="0" cy="50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94" name="Line 42"/>
              <p:cNvSpPr>
                <a:spLocks noChangeShapeType="1"/>
              </p:cNvSpPr>
              <p:nvPr/>
            </p:nvSpPr>
            <p:spPr bwMode="auto">
              <a:xfrm>
                <a:off x="1972" y="1968"/>
                <a:ext cx="0" cy="509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95" name="Line 43"/>
              <p:cNvSpPr>
                <a:spLocks noChangeShapeType="1"/>
              </p:cNvSpPr>
              <p:nvPr/>
            </p:nvSpPr>
            <p:spPr bwMode="auto">
              <a:xfrm flipH="1" flipV="1">
                <a:off x="384" y="1720"/>
                <a:ext cx="227" cy="22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96" name="Text Box 44"/>
              <p:cNvSpPr txBox="1">
                <a:spLocks noChangeArrowheads="1"/>
              </p:cNvSpPr>
              <p:nvPr/>
            </p:nvSpPr>
            <p:spPr bwMode="auto">
              <a:xfrm>
                <a:off x="384" y="1475"/>
                <a:ext cx="22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+mn-ea"/>
                    <a:ea typeface="+mn-ea"/>
                  </a:rPr>
                  <a:t>B</a:t>
                </a:r>
              </a:p>
            </p:txBody>
          </p:sp>
          <p:sp>
            <p:nvSpPr>
              <p:cNvPr id="330797" name="Text Box 45"/>
              <p:cNvSpPr txBox="1">
                <a:spLocks noChangeArrowheads="1"/>
              </p:cNvSpPr>
              <p:nvPr/>
            </p:nvSpPr>
            <p:spPr bwMode="auto">
              <a:xfrm>
                <a:off x="482" y="1584"/>
                <a:ext cx="22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+mn-ea"/>
                    <a:ea typeface="+mn-ea"/>
                  </a:rPr>
                  <a:t>A</a:t>
                </a:r>
              </a:p>
            </p:txBody>
          </p:sp>
          <p:sp>
            <p:nvSpPr>
              <p:cNvPr id="330798" name="Text Box 46"/>
              <p:cNvSpPr txBox="1">
                <a:spLocks noChangeArrowheads="1"/>
              </p:cNvSpPr>
              <p:nvPr/>
            </p:nvSpPr>
            <p:spPr bwMode="auto">
              <a:xfrm>
                <a:off x="293" y="1766"/>
                <a:ext cx="22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+mn-ea"/>
                    <a:ea typeface="+mn-ea"/>
                  </a:rPr>
                  <a:t>C</a:t>
                </a:r>
              </a:p>
            </p:txBody>
          </p:sp>
          <p:sp>
            <p:nvSpPr>
              <p:cNvPr id="330799" name="Text Box 47"/>
              <p:cNvSpPr txBox="1">
                <a:spLocks noChangeArrowheads="1"/>
              </p:cNvSpPr>
              <p:nvPr/>
            </p:nvSpPr>
            <p:spPr bwMode="auto">
              <a:xfrm>
                <a:off x="651" y="1697"/>
                <a:ext cx="136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+mn-ea"/>
                    <a:ea typeface="+mn-ea"/>
                  </a:rPr>
                  <a:t>00  01 11 10</a:t>
                </a:r>
              </a:p>
            </p:txBody>
          </p:sp>
          <p:sp>
            <p:nvSpPr>
              <p:cNvPr id="330800" name="Text Box 48"/>
              <p:cNvSpPr txBox="1">
                <a:spLocks noChangeArrowheads="1"/>
              </p:cNvSpPr>
              <p:nvPr/>
            </p:nvSpPr>
            <p:spPr bwMode="auto">
              <a:xfrm>
                <a:off x="379" y="1947"/>
                <a:ext cx="22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+mn-ea"/>
                    <a:ea typeface="+mn-ea"/>
                  </a:rPr>
                  <a:t>0</a:t>
                </a:r>
              </a:p>
            </p:txBody>
          </p:sp>
          <p:sp>
            <p:nvSpPr>
              <p:cNvPr id="330801" name="Text Box 49"/>
              <p:cNvSpPr txBox="1">
                <a:spLocks noChangeArrowheads="1"/>
              </p:cNvSpPr>
              <p:nvPr/>
            </p:nvSpPr>
            <p:spPr bwMode="auto">
              <a:xfrm>
                <a:off x="379" y="2241"/>
                <a:ext cx="22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+mn-ea"/>
                    <a:ea typeface="+mn-ea"/>
                  </a:rPr>
                  <a:t>1</a:t>
                </a:r>
              </a:p>
            </p:txBody>
          </p:sp>
        </p:grpSp>
      </p:grpSp>
      <p:grpSp>
        <p:nvGrpSpPr>
          <p:cNvPr id="12" name="Group 50"/>
          <p:cNvGrpSpPr>
            <a:grpSpLocks/>
          </p:cNvGrpSpPr>
          <p:nvPr/>
        </p:nvGrpSpPr>
        <p:grpSpPr bwMode="auto">
          <a:xfrm>
            <a:off x="2895600" y="3124201"/>
            <a:ext cx="2881313" cy="1733551"/>
            <a:chOff x="2400" y="2928"/>
            <a:chExt cx="1815" cy="1092"/>
          </a:xfrm>
        </p:grpSpPr>
        <p:grpSp>
          <p:nvGrpSpPr>
            <p:cNvPr id="13" name="Group 51"/>
            <p:cNvGrpSpPr>
              <a:grpSpLocks/>
            </p:cNvGrpSpPr>
            <p:nvPr/>
          </p:nvGrpSpPr>
          <p:grpSpPr bwMode="auto">
            <a:xfrm>
              <a:off x="2784" y="3427"/>
              <a:ext cx="1391" cy="538"/>
              <a:chOff x="576" y="1918"/>
              <a:chExt cx="1391" cy="538"/>
            </a:xfrm>
          </p:grpSpPr>
          <p:sp>
            <p:nvSpPr>
              <p:cNvPr id="330804" name="Rectangle 52"/>
              <p:cNvSpPr>
                <a:spLocks noChangeArrowheads="1"/>
              </p:cNvSpPr>
              <p:nvPr/>
            </p:nvSpPr>
            <p:spPr bwMode="auto">
              <a:xfrm>
                <a:off x="1279" y="1918"/>
                <a:ext cx="344" cy="2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dirty="0">
                    <a:latin typeface="+mn-ea"/>
                    <a:ea typeface="+mn-ea"/>
                  </a:rPr>
                  <a:t>D</a:t>
                </a:r>
                <a:r>
                  <a:rPr lang="en-US" altLang="zh-CN" baseline="-25000" dirty="0">
                    <a:latin typeface="+mn-ea"/>
                    <a:ea typeface="+mn-ea"/>
                  </a:rPr>
                  <a:t>3</a:t>
                </a:r>
              </a:p>
            </p:txBody>
          </p:sp>
          <p:sp>
            <p:nvSpPr>
              <p:cNvPr id="330805" name="Line 53"/>
              <p:cNvSpPr>
                <a:spLocks noChangeShapeType="1"/>
              </p:cNvSpPr>
              <p:nvPr/>
            </p:nvSpPr>
            <p:spPr bwMode="auto">
              <a:xfrm>
                <a:off x="591" y="1947"/>
                <a:ext cx="137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806" name="Line 54"/>
              <p:cNvSpPr>
                <a:spLocks noChangeShapeType="1"/>
              </p:cNvSpPr>
              <p:nvPr/>
            </p:nvSpPr>
            <p:spPr bwMode="auto">
              <a:xfrm>
                <a:off x="591" y="2202"/>
                <a:ext cx="13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807" name="Line 55"/>
              <p:cNvSpPr>
                <a:spLocks noChangeShapeType="1"/>
              </p:cNvSpPr>
              <p:nvPr/>
            </p:nvSpPr>
            <p:spPr bwMode="auto">
              <a:xfrm>
                <a:off x="576" y="2448"/>
                <a:ext cx="137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808" name="Line 56"/>
              <p:cNvSpPr>
                <a:spLocks noChangeShapeType="1"/>
              </p:cNvSpPr>
              <p:nvPr/>
            </p:nvSpPr>
            <p:spPr bwMode="auto">
              <a:xfrm>
                <a:off x="591" y="1947"/>
                <a:ext cx="0" cy="509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809" name="Line 57"/>
              <p:cNvSpPr>
                <a:spLocks noChangeShapeType="1"/>
              </p:cNvSpPr>
              <p:nvPr/>
            </p:nvSpPr>
            <p:spPr bwMode="auto">
              <a:xfrm>
                <a:off x="1279" y="1947"/>
                <a:ext cx="0" cy="50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330810" name="Rectangle 58"/>
            <p:cNvSpPr>
              <a:spLocks noChangeArrowheads="1"/>
            </p:cNvSpPr>
            <p:nvPr/>
          </p:nvSpPr>
          <p:spPr bwMode="auto">
            <a:xfrm>
              <a:off x="3831" y="3682"/>
              <a:ext cx="344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+mn-ea"/>
                  <a:ea typeface="+mn-ea"/>
                </a:rPr>
                <a:t>D</a:t>
              </a:r>
              <a:r>
                <a:rPr lang="en-US" altLang="zh-CN" baseline="-25000" dirty="0">
                  <a:latin typeface="+mn-ea"/>
                  <a:ea typeface="+mn-ea"/>
                </a:rPr>
                <a:t>6</a:t>
              </a:r>
            </a:p>
          </p:txBody>
        </p:sp>
        <p:sp>
          <p:nvSpPr>
            <p:cNvPr id="330811" name="Rectangle 59"/>
            <p:cNvSpPr>
              <a:spLocks noChangeArrowheads="1"/>
            </p:cNvSpPr>
            <p:nvPr/>
          </p:nvSpPr>
          <p:spPr bwMode="auto">
            <a:xfrm>
              <a:off x="3487" y="3661"/>
              <a:ext cx="344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+mn-ea"/>
                  <a:ea typeface="+mn-ea"/>
                </a:rPr>
                <a:t>D</a:t>
              </a:r>
              <a:r>
                <a:rPr lang="en-US" altLang="zh-CN" baseline="-25000" dirty="0">
                  <a:latin typeface="+mn-ea"/>
                  <a:ea typeface="+mn-ea"/>
                </a:rPr>
                <a:t>7</a:t>
              </a:r>
            </a:p>
          </p:txBody>
        </p:sp>
        <p:sp>
          <p:nvSpPr>
            <p:cNvPr id="330812" name="Rectangle 60"/>
            <p:cNvSpPr>
              <a:spLocks noChangeArrowheads="1"/>
            </p:cNvSpPr>
            <p:nvPr/>
          </p:nvSpPr>
          <p:spPr bwMode="auto">
            <a:xfrm>
              <a:off x="3143" y="3661"/>
              <a:ext cx="344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+mn-ea"/>
                  <a:ea typeface="+mn-ea"/>
                </a:rPr>
                <a:t>D</a:t>
              </a:r>
              <a:r>
                <a:rPr lang="en-US" altLang="zh-CN" baseline="-25000" dirty="0">
                  <a:latin typeface="+mn-ea"/>
                  <a:ea typeface="+mn-ea"/>
                </a:rPr>
                <a:t>5</a:t>
              </a:r>
            </a:p>
          </p:txBody>
        </p:sp>
        <p:sp>
          <p:nvSpPr>
            <p:cNvPr id="330813" name="Rectangle 61"/>
            <p:cNvSpPr>
              <a:spLocks noChangeArrowheads="1"/>
            </p:cNvSpPr>
            <p:nvPr/>
          </p:nvSpPr>
          <p:spPr bwMode="auto">
            <a:xfrm>
              <a:off x="2799" y="3661"/>
              <a:ext cx="344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+mn-ea"/>
                  <a:ea typeface="+mn-ea"/>
                </a:rPr>
                <a:t>D</a:t>
              </a:r>
              <a:r>
                <a:rPr lang="en-US" altLang="zh-CN" baseline="-25000" dirty="0"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330814" name="Rectangle 62"/>
            <p:cNvSpPr>
              <a:spLocks noChangeArrowheads="1"/>
            </p:cNvSpPr>
            <p:nvPr/>
          </p:nvSpPr>
          <p:spPr bwMode="auto">
            <a:xfrm>
              <a:off x="3831" y="3427"/>
              <a:ext cx="344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+mn-ea"/>
                  <a:ea typeface="+mn-ea"/>
                </a:rPr>
                <a:t>D</a:t>
              </a:r>
              <a:r>
                <a:rPr lang="en-US" altLang="zh-CN" baseline="-25000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330815" name="Rectangle 63"/>
            <p:cNvSpPr>
              <a:spLocks noChangeArrowheads="1"/>
            </p:cNvSpPr>
            <p:nvPr/>
          </p:nvSpPr>
          <p:spPr bwMode="auto">
            <a:xfrm>
              <a:off x="3143" y="3427"/>
              <a:ext cx="344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+mn-ea"/>
                  <a:ea typeface="+mn-ea"/>
                </a:rPr>
                <a:t>D</a:t>
              </a:r>
              <a:r>
                <a:rPr lang="en-US" altLang="zh-CN" baseline="-250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330816" name="Rectangle 64"/>
            <p:cNvSpPr>
              <a:spLocks noChangeArrowheads="1"/>
            </p:cNvSpPr>
            <p:nvPr/>
          </p:nvSpPr>
          <p:spPr bwMode="auto">
            <a:xfrm>
              <a:off x="2784" y="3427"/>
              <a:ext cx="344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+mn-ea"/>
                  <a:ea typeface="+mn-ea"/>
                </a:rPr>
                <a:t>D</a:t>
              </a:r>
              <a:r>
                <a:rPr lang="en-US" altLang="zh-CN" baseline="-25000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330817" name="Line 65"/>
            <p:cNvSpPr>
              <a:spLocks noChangeShapeType="1"/>
            </p:cNvSpPr>
            <p:nvPr/>
          </p:nvSpPr>
          <p:spPr bwMode="auto">
            <a:xfrm>
              <a:off x="3143" y="3456"/>
              <a:ext cx="0" cy="5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0818" name="Line 66"/>
            <p:cNvSpPr>
              <a:spLocks noChangeShapeType="1"/>
            </p:cNvSpPr>
            <p:nvPr/>
          </p:nvSpPr>
          <p:spPr bwMode="auto">
            <a:xfrm>
              <a:off x="3831" y="3456"/>
              <a:ext cx="0" cy="5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0819" name="Line 67"/>
            <p:cNvSpPr>
              <a:spLocks noChangeShapeType="1"/>
            </p:cNvSpPr>
            <p:nvPr/>
          </p:nvSpPr>
          <p:spPr bwMode="auto">
            <a:xfrm>
              <a:off x="4175" y="3456"/>
              <a:ext cx="0" cy="50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0820" name="Line 68"/>
            <p:cNvSpPr>
              <a:spLocks noChangeShapeType="1"/>
            </p:cNvSpPr>
            <p:nvPr/>
          </p:nvSpPr>
          <p:spPr bwMode="auto">
            <a:xfrm flipH="1" flipV="1">
              <a:off x="2448" y="3072"/>
              <a:ext cx="366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0821" name="Text Box 69"/>
            <p:cNvSpPr txBox="1">
              <a:spLocks noChangeArrowheads="1"/>
            </p:cNvSpPr>
            <p:nvPr/>
          </p:nvSpPr>
          <p:spPr bwMode="auto">
            <a:xfrm>
              <a:off x="2640" y="3072"/>
              <a:ext cx="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S</a:t>
              </a:r>
              <a:r>
                <a:rPr lang="en-US" altLang="zh-CN" baseline="-25000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330822" name="Text Box 70"/>
            <p:cNvSpPr txBox="1">
              <a:spLocks noChangeArrowheads="1"/>
            </p:cNvSpPr>
            <p:nvPr/>
          </p:nvSpPr>
          <p:spPr bwMode="auto">
            <a:xfrm>
              <a:off x="2854" y="3185"/>
              <a:ext cx="13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00  01 11 10</a:t>
              </a:r>
            </a:p>
          </p:txBody>
        </p:sp>
        <p:sp>
          <p:nvSpPr>
            <p:cNvPr id="330823" name="Text Box 71"/>
            <p:cNvSpPr txBox="1">
              <a:spLocks noChangeArrowheads="1"/>
            </p:cNvSpPr>
            <p:nvPr/>
          </p:nvSpPr>
          <p:spPr bwMode="auto">
            <a:xfrm>
              <a:off x="2582" y="3435"/>
              <a:ext cx="2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330824" name="Text Box 72"/>
            <p:cNvSpPr txBox="1">
              <a:spLocks noChangeArrowheads="1"/>
            </p:cNvSpPr>
            <p:nvPr/>
          </p:nvSpPr>
          <p:spPr bwMode="auto">
            <a:xfrm>
              <a:off x="2582" y="3729"/>
              <a:ext cx="2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330825" name="Text Box 73"/>
            <p:cNvSpPr txBox="1">
              <a:spLocks noChangeArrowheads="1"/>
            </p:cNvSpPr>
            <p:nvPr/>
          </p:nvSpPr>
          <p:spPr bwMode="auto">
            <a:xfrm>
              <a:off x="2448" y="2928"/>
              <a:ext cx="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S</a:t>
              </a:r>
              <a:r>
                <a:rPr lang="en-US" altLang="zh-CN" baseline="-250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330826" name="Text Box 74"/>
            <p:cNvSpPr txBox="1">
              <a:spLocks noChangeArrowheads="1"/>
            </p:cNvSpPr>
            <p:nvPr/>
          </p:nvSpPr>
          <p:spPr bwMode="auto">
            <a:xfrm>
              <a:off x="2400" y="3216"/>
              <a:ext cx="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S</a:t>
              </a:r>
              <a:r>
                <a:rPr lang="en-US" altLang="zh-CN" baseline="-25000" dirty="0">
                  <a:latin typeface="+mn-ea"/>
                  <a:ea typeface="+mn-ea"/>
                </a:rPr>
                <a:t>2</a:t>
              </a:r>
            </a:p>
          </p:txBody>
        </p:sp>
      </p:grpSp>
      <p:sp>
        <p:nvSpPr>
          <p:cNvPr id="330827" name="Rectangle 75"/>
          <p:cNvSpPr>
            <a:spLocks noChangeArrowheads="1"/>
          </p:cNvSpPr>
          <p:nvPr/>
        </p:nvSpPr>
        <p:spPr bwMode="auto">
          <a:xfrm>
            <a:off x="3200400" y="5029200"/>
            <a:ext cx="25590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八選一資料選擇器功能的坎諾圖</a:t>
            </a:r>
          </a:p>
        </p:txBody>
      </p:sp>
      <p:sp>
        <p:nvSpPr>
          <p:cNvPr id="330828" name="Rectangle 76"/>
          <p:cNvSpPr>
            <a:spLocks noChangeArrowheads="1"/>
          </p:cNvSpPr>
          <p:nvPr/>
        </p:nvSpPr>
        <p:spPr bwMode="auto">
          <a:xfrm>
            <a:off x="6127750" y="5791200"/>
            <a:ext cx="2559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CC00FF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注意對應關係</a:t>
            </a:r>
          </a:p>
        </p:txBody>
      </p:sp>
    </p:spTree>
    <p:extLst>
      <p:ext uri="{BB962C8B-B14F-4D97-AF65-F5344CB8AC3E}">
        <p14:creationId xmlns:p14="http://schemas.microsoft.com/office/powerpoint/2010/main" val="3636337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30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30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827" grpId="0" autoUpdateAnimBg="0"/>
      <p:bldP spid="330828" grpId="0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>
          <a:xfrm>
            <a:off x="828675" y="304800"/>
            <a:ext cx="7618413" cy="703263"/>
          </a:xfrm>
        </p:spPr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資料選擇器</a:t>
            </a:r>
            <a:r>
              <a:rPr lang="en-US" altLang="zh-CN" sz="3600" dirty="0"/>
              <a:t>(12)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8E6C-7FE1-43D6-B469-C92ED437339D}" type="slidenum">
              <a:rPr lang="en-US" altLang="zh-CN">
                <a:latin typeface="+mn-ea"/>
                <a:ea typeface="+mn-ea"/>
              </a:rPr>
              <a:pPr/>
              <a:t>90</a:t>
            </a:fld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2" name="Group 66"/>
          <p:cNvGrpSpPr>
            <a:grpSpLocks/>
          </p:cNvGrpSpPr>
          <p:nvPr/>
        </p:nvGrpSpPr>
        <p:grpSpPr bwMode="auto">
          <a:xfrm>
            <a:off x="695325" y="1463675"/>
            <a:ext cx="8220075" cy="1951038"/>
            <a:chOff x="438" y="922"/>
            <a:chExt cx="5178" cy="1229"/>
          </a:xfrm>
        </p:grpSpPr>
        <p:graphicFrame>
          <p:nvGraphicFramePr>
            <p:cNvPr id="331835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7061784"/>
                </p:ext>
              </p:extLst>
            </p:nvPr>
          </p:nvGraphicFramePr>
          <p:xfrm>
            <a:off x="1545" y="1824"/>
            <a:ext cx="2158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447560" imgH="215640" progId="Equation.3">
                    <p:embed/>
                  </p:oleObj>
                </mc:Choice>
                <mc:Fallback>
                  <p:oleObj name="公式" r:id="rId2" imgW="1447560" imgH="215640" progId="Equation.3">
                    <p:embed/>
                    <p:pic>
                      <p:nvPicPr>
                        <p:cNvPr id="331835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5" y="1824"/>
                          <a:ext cx="2158" cy="3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1836" name="Text Box 60"/>
            <p:cNvSpPr txBox="1">
              <a:spLocks noChangeArrowheads="1"/>
            </p:cNvSpPr>
            <p:nvPr/>
          </p:nvSpPr>
          <p:spPr bwMode="auto">
            <a:xfrm>
              <a:off x="912" y="1824"/>
              <a:ext cx="45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例</a:t>
              </a:r>
              <a:r>
                <a:rPr lang="en-US" altLang="zh-CN" sz="28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:</a:t>
              </a:r>
            </a:p>
          </p:txBody>
        </p:sp>
        <p:sp>
          <p:nvSpPr>
            <p:cNvPr id="331837" name="Text Box 61"/>
            <p:cNvSpPr txBox="1">
              <a:spLocks noChangeArrowheads="1"/>
            </p:cNvSpPr>
            <p:nvPr/>
          </p:nvSpPr>
          <p:spPr bwMode="auto">
            <a:xfrm>
              <a:off x="438" y="922"/>
              <a:ext cx="5178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rgbClr val="CC00FF"/>
                </a:buClr>
                <a:buFont typeface="Wingdings" pitchFamily="2" charset="2"/>
                <a:buChar char="l"/>
              </a:pPr>
              <a:r>
                <a:rPr lang="zh-CN" altLang="en-US" sz="32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解碼器與資料選擇器實現邏輯函數</a:t>
              </a:r>
            </a:p>
            <a:p>
              <a:pPr lvl="1">
                <a:buClr>
                  <a:srgbClr val="FFFF00"/>
                </a:buClr>
                <a:buFont typeface="Wingdings" pitchFamily="2" charset="2"/>
                <a:buChar char="Ø"/>
              </a:pPr>
              <a:endPara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endParaRPr>
            </a:p>
            <a:p>
              <a:pPr lvl="1">
                <a:buClr>
                  <a:srgbClr val="CC00FF"/>
                </a:buClr>
                <a:buFont typeface="Wingdings" pitchFamily="2" charset="2"/>
                <a:buChar char="Ø"/>
              </a:pPr>
              <a:r>
                <a:rPr lang="en-US" altLang="zh-CN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8</a:t>
              </a: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選</a:t>
              </a:r>
              <a:r>
                <a:rPr lang="en-US" altLang="zh-CN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1</a:t>
              </a: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資料選擇器可以實現</a:t>
              </a:r>
              <a:r>
                <a:rPr lang="en-US" altLang="zh-CN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4</a:t>
              </a:r>
              <a:r>
                <a:rPr lang="zh-CN" altLang="en-US" sz="2400" b="1" dirty="0">
                  <a:latin typeface="Noto Serif SC" panose="02020200000000000000" pitchFamily="18" charset="-122"/>
                  <a:ea typeface="Noto Serif SC" panose="02020200000000000000" pitchFamily="18" charset="-122"/>
                </a:rPr>
                <a:t>變數函數：</a:t>
              </a:r>
            </a:p>
          </p:txBody>
        </p:sp>
      </p:grpSp>
      <p:sp>
        <p:nvSpPr>
          <p:cNvPr id="331839" name="Rectangle 63"/>
          <p:cNvSpPr>
            <a:spLocks noChangeArrowheads="1"/>
          </p:cNvSpPr>
          <p:nvPr/>
        </p:nvSpPr>
        <p:spPr bwMode="auto">
          <a:xfrm>
            <a:off x="1066800" y="3581400"/>
            <a:ext cx="4054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思：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3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個變數用在選擇控制端</a:t>
            </a:r>
          </a:p>
        </p:txBody>
      </p:sp>
      <p:sp>
        <p:nvSpPr>
          <p:cNvPr id="331840" name="Rectangle 64"/>
          <p:cNvSpPr>
            <a:spLocks noChangeArrowheads="1"/>
          </p:cNvSpPr>
          <p:nvPr/>
        </p:nvSpPr>
        <p:spPr bwMode="auto">
          <a:xfrm>
            <a:off x="1143000" y="4953000"/>
            <a:ext cx="3240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C00FF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1</a:t>
            </a:r>
            <a:r>
              <a:rPr lang="zh-CN" altLang="en-US" sz="2400" b="1" dirty="0">
                <a:solidFill>
                  <a:srgbClr val="CC00FF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個變數在資料登錄端</a:t>
            </a:r>
            <a:r>
              <a:rPr lang="en-US" altLang="zh-CN" sz="2400" b="1" dirty="0">
                <a:solidFill>
                  <a:srgbClr val="CC00FF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!</a:t>
            </a:r>
          </a:p>
        </p:txBody>
      </p:sp>
      <p:sp>
        <p:nvSpPr>
          <p:cNvPr id="331841" name="Rectangle 65"/>
          <p:cNvSpPr>
            <a:spLocks noChangeArrowheads="1"/>
          </p:cNvSpPr>
          <p:nvPr/>
        </p:nvSpPr>
        <p:spPr bwMode="auto">
          <a:xfrm>
            <a:off x="1066800" y="4191000"/>
            <a:ext cx="731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總共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4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個變數，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3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個用在選擇端，另一個變數怎麼辦？</a:t>
            </a:r>
          </a:p>
        </p:txBody>
      </p:sp>
    </p:spTree>
    <p:extLst>
      <p:ext uri="{BB962C8B-B14F-4D97-AF65-F5344CB8AC3E}">
        <p14:creationId xmlns:p14="http://schemas.microsoft.com/office/powerpoint/2010/main" val="393246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1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1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1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839" grpId="0" autoUpdateAnimBg="0"/>
      <p:bldP spid="331840" grpId="0" autoUpdateAnimBg="0"/>
      <p:bldP spid="331841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資料選擇器</a:t>
            </a:r>
            <a:r>
              <a:rPr lang="en-US" altLang="zh-CN" sz="3600" dirty="0"/>
              <a:t>(13)</a:t>
            </a:r>
          </a:p>
        </p:txBody>
      </p:sp>
      <p:sp>
        <p:nvSpPr>
          <p:cNvPr id="1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F3A88-BB0B-4805-B132-1237E16CD16E}" type="slidenum">
              <a:rPr lang="en-US" altLang="zh-CN">
                <a:latin typeface="+mn-ea"/>
                <a:ea typeface="+mn-ea"/>
              </a:rPr>
              <a:pPr/>
              <a:t>91</a:t>
            </a:fld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2" name="Group 75"/>
          <p:cNvGrpSpPr>
            <a:grpSpLocks/>
          </p:cNvGrpSpPr>
          <p:nvPr/>
        </p:nvGrpSpPr>
        <p:grpSpPr bwMode="auto">
          <a:xfrm>
            <a:off x="5427663" y="4551213"/>
            <a:ext cx="360362" cy="461963"/>
            <a:chOff x="3515" y="2779"/>
            <a:chExt cx="227" cy="291"/>
          </a:xfrm>
        </p:grpSpPr>
        <p:sp>
          <p:nvSpPr>
            <p:cNvPr id="332876" name="Text Box 76"/>
            <p:cNvSpPr txBox="1">
              <a:spLocks noChangeArrowheads="1"/>
            </p:cNvSpPr>
            <p:nvPr/>
          </p:nvSpPr>
          <p:spPr bwMode="auto">
            <a:xfrm>
              <a:off x="3515" y="2779"/>
              <a:ext cx="2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E</a:t>
              </a:r>
            </a:p>
          </p:txBody>
        </p:sp>
        <p:sp>
          <p:nvSpPr>
            <p:cNvPr id="332877" name="Line 77"/>
            <p:cNvSpPr>
              <a:spLocks noChangeShapeType="1"/>
            </p:cNvSpPr>
            <p:nvPr/>
          </p:nvSpPr>
          <p:spPr bwMode="auto">
            <a:xfrm>
              <a:off x="3560" y="277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3" name="Group 78"/>
          <p:cNvGrpSpPr>
            <a:grpSpLocks/>
          </p:cNvGrpSpPr>
          <p:nvPr/>
        </p:nvGrpSpPr>
        <p:grpSpPr bwMode="auto">
          <a:xfrm>
            <a:off x="5788024" y="4640262"/>
            <a:ext cx="2713038" cy="1901824"/>
            <a:chOff x="3742" y="2779"/>
            <a:chExt cx="1709" cy="1198"/>
          </a:xfrm>
        </p:grpSpPr>
        <p:sp>
          <p:nvSpPr>
            <p:cNvPr id="332879" name="Rectangle 79"/>
            <p:cNvSpPr>
              <a:spLocks noChangeArrowheads="1"/>
            </p:cNvSpPr>
            <p:nvPr/>
          </p:nvSpPr>
          <p:spPr bwMode="auto">
            <a:xfrm>
              <a:off x="3969" y="2870"/>
              <a:ext cx="1360" cy="6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80" name="Line 80"/>
            <p:cNvSpPr>
              <a:spLocks noChangeShapeType="1"/>
            </p:cNvSpPr>
            <p:nvPr/>
          </p:nvSpPr>
          <p:spPr bwMode="auto">
            <a:xfrm flipH="1">
              <a:off x="3742" y="3142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81" name="Line 81"/>
            <p:cNvSpPr>
              <a:spLocks noChangeShapeType="1"/>
            </p:cNvSpPr>
            <p:nvPr/>
          </p:nvSpPr>
          <p:spPr bwMode="auto">
            <a:xfrm flipH="1">
              <a:off x="3742" y="3324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82" name="Line 82"/>
            <p:cNvSpPr>
              <a:spLocks noChangeShapeType="1"/>
            </p:cNvSpPr>
            <p:nvPr/>
          </p:nvSpPr>
          <p:spPr bwMode="auto">
            <a:xfrm flipH="1">
              <a:off x="3742" y="350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83" name="Line 83"/>
            <p:cNvSpPr>
              <a:spLocks noChangeShapeType="1"/>
            </p:cNvSpPr>
            <p:nvPr/>
          </p:nvSpPr>
          <p:spPr bwMode="auto">
            <a:xfrm flipV="1">
              <a:off x="4059" y="2825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84" name="Line 84"/>
            <p:cNvSpPr>
              <a:spLocks noChangeShapeType="1"/>
            </p:cNvSpPr>
            <p:nvPr/>
          </p:nvSpPr>
          <p:spPr bwMode="auto">
            <a:xfrm flipH="1">
              <a:off x="3742" y="2825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85" name="Line 85"/>
            <p:cNvSpPr>
              <a:spLocks noChangeShapeType="1"/>
            </p:cNvSpPr>
            <p:nvPr/>
          </p:nvSpPr>
          <p:spPr bwMode="auto">
            <a:xfrm flipV="1">
              <a:off x="4513" y="2779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86" name="Line 86"/>
            <p:cNvSpPr>
              <a:spLocks noChangeShapeType="1"/>
            </p:cNvSpPr>
            <p:nvPr/>
          </p:nvSpPr>
          <p:spPr bwMode="auto">
            <a:xfrm flipV="1">
              <a:off x="5193" y="2779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87" name="Line 87"/>
            <p:cNvSpPr>
              <a:spLocks noChangeShapeType="1"/>
            </p:cNvSpPr>
            <p:nvPr/>
          </p:nvSpPr>
          <p:spPr bwMode="auto">
            <a:xfrm>
              <a:off x="4604" y="3550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88" name="Rectangle 88"/>
            <p:cNvSpPr>
              <a:spLocks noChangeArrowheads="1"/>
            </p:cNvSpPr>
            <p:nvPr/>
          </p:nvSpPr>
          <p:spPr bwMode="auto">
            <a:xfrm>
              <a:off x="3974" y="3008"/>
              <a:ext cx="2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dirty="0">
                  <a:latin typeface="+mn-ea"/>
                  <a:ea typeface="+mn-ea"/>
                  <a:cs typeface="Times New Roman" pitchFamily="18" charset="0"/>
                </a:rPr>
                <a:t>S</a:t>
              </a:r>
              <a:r>
                <a:rPr lang="en-US" altLang="zh-CN" sz="1800" baseline="-30000" dirty="0">
                  <a:latin typeface="+mn-ea"/>
                  <a:ea typeface="+mn-ea"/>
                  <a:cs typeface="Times New Roman" pitchFamily="18" charset="0"/>
                </a:rPr>
                <a:t>2</a:t>
              </a:r>
            </a:p>
          </p:txBody>
        </p:sp>
        <p:sp>
          <p:nvSpPr>
            <p:cNvPr id="332889" name="Rectangle 89"/>
            <p:cNvSpPr>
              <a:spLocks noChangeArrowheads="1"/>
            </p:cNvSpPr>
            <p:nvPr/>
          </p:nvSpPr>
          <p:spPr bwMode="auto">
            <a:xfrm>
              <a:off x="3974" y="3189"/>
              <a:ext cx="2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dirty="0">
                  <a:latin typeface="+mn-ea"/>
                  <a:ea typeface="+mn-ea"/>
                  <a:cs typeface="Times New Roman" pitchFamily="18" charset="0"/>
                </a:rPr>
                <a:t>S</a:t>
              </a:r>
              <a:r>
                <a:rPr lang="en-US" altLang="zh-CN" sz="1800" baseline="-30000" dirty="0">
                  <a:latin typeface="+mn-ea"/>
                  <a:ea typeface="+mn-ea"/>
                  <a:cs typeface="Times New Roman" pitchFamily="18" charset="0"/>
                </a:rPr>
                <a:t>1</a:t>
              </a:r>
            </a:p>
          </p:txBody>
        </p:sp>
        <p:sp>
          <p:nvSpPr>
            <p:cNvPr id="332890" name="Rectangle 90"/>
            <p:cNvSpPr>
              <a:spLocks noChangeArrowheads="1"/>
            </p:cNvSpPr>
            <p:nvPr/>
          </p:nvSpPr>
          <p:spPr bwMode="auto">
            <a:xfrm>
              <a:off x="3974" y="3369"/>
              <a:ext cx="2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dirty="0">
                  <a:latin typeface="+mn-ea"/>
                  <a:ea typeface="+mn-ea"/>
                  <a:cs typeface="Times New Roman" pitchFamily="18" charset="0"/>
                </a:rPr>
                <a:t>S</a:t>
              </a:r>
              <a:r>
                <a:rPr lang="en-US" altLang="zh-CN" sz="1800" baseline="-30000" dirty="0">
                  <a:latin typeface="+mn-ea"/>
                  <a:ea typeface="+mn-ea"/>
                  <a:cs typeface="Times New Roman" pitchFamily="18" charset="0"/>
                </a:rPr>
                <a:t>0</a:t>
              </a:r>
            </a:p>
          </p:txBody>
        </p:sp>
        <p:sp>
          <p:nvSpPr>
            <p:cNvPr id="332891" name="Text Box 91"/>
            <p:cNvSpPr txBox="1">
              <a:spLocks noChangeArrowheads="1"/>
            </p:cNvSpPr>
            <p:nvPr/>
          </p:nvSpPr>
          <p:spPr bwMode="auto">
            <a:xfrm>
              <a:off x="4649" y="3686"/>
              <a:ext cx="3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F</a:t>
              </a:r>
            </a:p>
          </p:txBody>
        </p:sp>
        <p:sp>
          <p:nvSpPr>
            <p:cNvPr id="332892" name="Text Box 92"/>
            <p:cNvSpPr txBox="1">
              <a:spLocks noChangeArrowheads="1"/>
            </p:cNvSpPr>
            <p:nvPr/>
          </p:nvSpPr>
          <p:spPr bwMode="auto">
            <a:xfrm>
              <a:off x="4105" y="2870"/>
              <a:ext cx="107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dirty="0">
                  <a:latin typeface="+mn-ea"/>
                  <a:ea typeface="+mn-ea"/>
                </a:rPr>
                <a:t>D</a:t>
              </a:r>
              <a:r>
                <a:rPr lang="en-US" altLang="zh-CN" sz="1000" b="1" dirty="0">
                  <a:latin typeface="+mn-ea"/>
                  <a:ea typeface="+mn-ea"/>
                </a:rPr>
                <a:t>0 </a:t>
              </a:r>
              <a:r>
                <a:rPr lang="en-US" altLang="zh-CN" sz="1400" b="1" dirty="0">
                  <a:latin typeface="+mn-ea"/>
                  <a:ea typeface="+mn-ea"/>
                </a:rPr>
                <a:t>D</a:t>
              </a:r>
              <a:r>
                <a:rPr lang="en-US" altLang="zh-CN" sz="1000" b="1" dirty="0">
                  <a:latin typeface="+mn-ea"/>
                  <a:ea typeface="+mn-ea"/>
                </a:rPr>
                <a:t>1 </a:t>
              </a:r>
              <a:r>
                <a:rPr lang="en-US" altLang="zh-CN" sz="1400" b="1" dirty="0">
                  <a:latin typeface="+mn-ea"/>
                  <a:ea typeface="+mn-ea"/>
                </a:rPr>
                <a:t>D</a:t>
              </a:r>
              <a:r>
                <a:rPr lang="en-US" altLang="zh-CN" sz="1000" b="1" dirty="0">
                  <a:latin typeface="+mn-ea"/>
                  <a:ea typeface="+mn-ea"/>
                </a:rPr>
                <a:t>2 </a:t>
              </a:r>
              <a:r>
                <a:rPr lang="en-US" altLang="zh-CN" sz="1400" b="1" dirty="0">
                  <a:latin typeface="+mn-ea"/>
                  <a:ea typeface="+mn-ea"/>
                </a:rPr>
                <a:t>D</a:t>
              </a:r>
              <a:r>
                <a:rPr lang="en-US" altLang="zh-CN" sz="1000" b="1" dirty="0">
                  <a:latin typeface="+mn-ea"/>
                  <a:ea typeface="+mn-ea"/>
                </a:rPr>
                <a:t>3 </a:t>
              </a:r>
              <a:r>
                <a:rPr lang="en-US" altLang="zh-CN" sz="1400" b="1" dirty="0">
                  <a:latin typeface="+mn-ea"/>
                  <a:ea typeface="+mn-ea"/>
                </a:rPr>
                <a:t>D</a:t>
              </a:r>
              <a:r>
                <a:rPr lang="en-US" altLang="zh-CN" sz="1000" b="1" dirty="0">
                  <a:latin typeface="+mn-ea"/>
                  <a:ea typeface="+mn-ea"/>
                </a:rPr>
                <a:t>4 </a:t>
              </a:r>
              <a:r>
                <a:rPr lang="en-US" altLang="zh-CN" sz="1400" b="1" dirty="0">
                  <a:latin typeface="+mn-ea"/>
                  <a:ea typeface="+mn-ea"/>
                </a:rPr>
                <a:t>D</a:t>
              </a:r>
              <a:r>
                <a:rPr lang="en-US" altLang="zh-CN" sz="1000" b="1" dirty="0">
                  <a:latin typeface="+mn-ea"/>
                  <a:ea typeface="+mn-ea"/>
                </a:rPr>
                <a:t>5 </a:t>
              </a:r>
              <a:r>
                <a:rPr lang="en-US" altLang="zh-CN" sz="1400" b="1" dirty="0">
                  <a:latin typeface="+mn-ea"/>
                  <a:ea typeface="+mn-ea"/>
                </a:rPr>
                <a:t>D</a:t>
              </a:r>
              <a:r>
                <a:rPr lang="en-US" altLang="zh-CN" sz="1000" b="1" dirty="0">
                  <a:latin typeface="+mn-ea"/>
                  <a:ea typeface="+mn-ea"/>
                </a:rPr>
                <a:t>6</a:t>
              </a:r>
            </a:p>
          </p:txBody>
        </p:sp>
        <p:sp>
          <p:nvSpPr>
            <p:cNvPr id="332893" name="Text Box 93"/>
            <p:cNvSpPr txBox="1">
              <a:spLocks noChangeArrowheads="1"/>
            </p:cNvSpPr>
            <p:nvPr/>
          </p:nvSpPr>
          <p:spPr bwMode="auto">
            <a:xfrm>
              <a:off x="5088" y="2870"/>
              <a:ext cx="36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dirty="0">
                  <a:latin typeface="+mn-ea"/>
                  <a:ea typeface="+mn-ea"/>
                </a:rPr>
                <a:t>D</a:t>
              </a:r>
              <a:r>
                <a:rPr lang="en-US" altLang="zh-CN" sz="1000" b="1" dirty="0">
                  <a:latin typeface="+mn-ea"/>
                  <a:ea typeface="+mn-ea"/>
                </a:rPr>
                <a:t>7</a:t>
              </a:r>
            </a:p>
          </p:txBody>
        </p:sp>
      </p:grpSp>
      <p:grpSp>
        <p:nvGrpSpPr>
          <p:cNvPr id="4" name="Group 94"/>
          <p:cNvGrpSpPr>
            <a:grpSpLocks/>
          </p:cNvGrpSpPr>
          <p:nvPr/>
        </p:nvGrpSpPr>
        <p:grpSpPr bwMode="auto">
          <a:xfrm>
            <a:off x="5411782" y="3595690"/>
            <a:ext cx="384175" cy="2506665"/>
            <a:chOff x="3505" y="2148"/>
            <a:chExt cx="242" cy="1579"/>
          </a:xfrm>
        </p:grpSpPr>
        <p:sp>
          <p:nvSpPr>
            <p:cNvPr id="332895" name="Text Box 95"/>
            <p:cNvSpPr txBox="1">
              <a:spLocks noChangeArrowheads="1"/>
            </p:cNvSpPr>
            <p:nvPr/>
          </p:nvSpPr>
          <p:spPr bwMode="auto">
            <a:xfrm>
              <a:off x="3566" y="2148"/>
              <a:ext cx="18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n-ea"/>
                  <a:ea typeface="+mn-ea"/>
                </a:rPr>
                <a:t>N</a:t>
              </a:r>
            </a:p>
          </p:txBody>
        </p:sp>
        <p:sp>
          <p:nvSpPr>
            <p:cNvPr id="332896" name="Text Box 96"/>
            <p:cNvSpPr txBox="1">
              <a:spLocks noChangeArrowheads="1"/>
            </p:cNvSpPr>
            <p:nvPr/>
          </p:nvSpPr>
          <p:spPr bwMode="auto">
            <a:xfrm>
              <a:off x="3505" y="2990"/>
              <a:ext cx="1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C</a:t>
              </a:r>
            </a:p>
          </p:txBody>
        </p:sp>
        <p:sp>
          <p:nvSpPr>
            <p:cNvPr id="332897" name="Text Box 97"/>
            <p:cNvSpPr txBox="1">
              <a:spLocks noChangeArrowheads="1"/>
            </p:cNvSpPr>
            <p:nvPr/>
          </p:nvSpPr>
          <p:spPr bwMode="auto">
            <a:xfrm>
              <a:off x="3515" y="3220"/>
              <a:ext cx="1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B</a:t>
              </a:r>
            </a:p>
          </p:txBody>
        </p:sp>
        <p:sp>
          <p:nvSpPr>
            <p:cNvPr id="332898" name="Text Box 98"/>
            <p:cNvSpPr txBox="1">
              <a:spLocks noChangeArrowheads="1"/>
            </p:cNvSpPr>
            <p:nvPr/>
          </p:nvSpPr>
          <p:spPr bwMode="auto">
            <a:xfrm>
              <a:off x="3505" y="3436"/>
              <a:ext cx="1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A</a:t>
              </a:r>
            </a:p>
          </p:txBody>
        </p:sp>
      </p:grpSp>
      <p:sp>
        <p:nvSpPr>
          <p:cNvPr id="332899" name="Text Box 99"/>
          <p:cNvSpPr txBox="1">
            <a:spLocks noChangeArrowheads="1"/>
          </p:cNvSpPr>
          <p:nvPr/>
        </p:nvSpPr>
        <p:spPr bwMode="auto">
          <a:xfrm>
            <a:off x="609600" y="1219200"/>
            <a:ext cx="82200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zh-CN" altLang="en-US" sz="32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解碼器與資料選擇器實現邏輯函數：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8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選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資料選擇器可以實現</a:t>
            </a:r>
            <a:r>
              <a:rPr lang="en-US" altLang="zh-CN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4</a:t>
            </a:r>
            <a:r>
              <a:rPr lang="zh-CN" altLang="en-US" sz="2400" b="1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變數函數</a:t>
            </a:r>
          </a:p>
        </p:txBody>
      </p:sp>
      <p:grpSp>
        <p:nvGrpSpPr>
          <p:cNvPr id="5" name="Group 100"/>
          <p:cNvGrpSpPr>
            <a:grpSpLocks/>
          </p:cNvGrpSpPr>
          <p:nvPr/>
        </p:nvGrpSpPr>
        <p:grpSpPr bwMode="auto">
          <a:xfrm>
            <a:off x="6796088" y="3848100"/>
            <a:ext cx="2195512" cy="936625"/>
            <a:chOff x="4377" y="2280"/>
            <a:chExt cx="1383" cy="590"/>
          </a:xfrm>
        </p:grpSpPr>
        <p:grpSp>
          <p:nvGrpSpPr>
            <p:cNvPr id="6" name="Group 101"/>
            <p:cNvGrpSpPr>
              <a:grpSpLocks/>
            </p:cNvGrpSpPr>
            <p:nvPr/>
          </p:nvGrpSpPr>
          <p:grpSpPr bwMode="auto">
            <a:xfrm>
              <a:off x="4377" y="2280"/>
              <a:ext cx="1383" cy="590"/>
              <a:chOff x="4377" y="2280"/>
              <a:chExt cx="1383" cy="590"/>
            </a:xfrm>
          </p:grpSpPr>
          <p:sp>
            <p:nvSpPr>
              <p:cNvPr id="332902" name="Text Box 102"/>
              <p:cNvSpPr txBox="1">
                <a:spLocks noChangeArrowheads="1"/>
              </p:cNvSpPr>
              <p:nvPr/>
            </p:nvSpPr>
            <p:spPr bwMode="auto">
              <a:xfrm>
                <a:off x="5239" y="2280"/>
                <a:ext cx="5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+mn-ea"/>
                    <a:ea typeface="+mn-ea"/>
                  </a:rPr>
                  <a:t>“1”</a:t>
                </a:r>
              </a:p>
            </p:txBody>
          </p:sp>
          <p:sp>
            <p:nvSpPr>
              <p:cNvPr id="332903" name="Line 103"/>
              <p:cNvSpPr>
                <a:spLocks noChangeShapeType="1"/>
              </p:cNvSpPr>
              <p:nvPr/>
            </p:nvSpPr>
            <p:spPr bwMode="auto">
              <a:xfrm flipV="1">
                <a:off x="4377" y="2552"/>
                <a:ext cx="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2904" name="Line 104"/>
              <p:cNvSpPr>
                <a:spLocks noChangeShapeType="1"/>
              </p:cNvSpPr>
              <p:nvPr/>
            </p:nvSpPr>
            <p:spPr bwMode="auto">
              <a:xfrm flipV="1">
                <a:off x="4649" y="2552"/>
                <a:ext cx="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2905" name="Line 105"/>
              <p:cNvSpPr>
                <a:spLocks noChangeShapeType="1"/>
              </p:cNvSpPr>
              <p:nvPr/>
            </p:nvSpPr>
            <p:spPr bwMode="auto">
              <a:xfrm flipV="1">
                <a:off x="4785" y="2552"/>
                <a:ext cx="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2906" name="Line 106"/>
              <p:cNvSpPr>
                <a:spLocks noChangeShapeType="1"/>
              </p:cNvSpPr>
              <p:nvPr/>
            </p:nvSpPr>
            <p:spPr bwMode="auto">
              <a:xfrm>
                <a:off x="4377" y="2552"/>
                <a:ext cx="10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332907" name="Oval 107"/>
            <p:cNvSpPr>
              <a:spLocks noChangeArrowheads="1"/>
            </p:cNvSpPr>
            <p:nvPr/>
          </p:nvSpPr>
          <p:spPr bwMode="auto">
            <a:xfrm>
              <a:off x="4608" y="24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908" name="Oval 108"/>
            <p:cNvSpPr>
              <a:spLocks noChangeArrowheads="1"/>
            </p:cNvSpPr>
            <p:nvPr/>
          </p:nvSpPr>
          <p:spPr bwMode="auto">
            <a:xfrm>
              <a:off x="4752" y="24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7" name="Group 109"/>
          <p:cNvGrpSpPr>
            <a:grpSpLocks/>
          </p:cNvGrpSpPr>
          <p:nvPr/>
        </p:nvGrpSpPr>
        <p:grpSpPr bwMode="auto">
          <a:xfrm>
            <a:off x="7011988" y="4316414"/>
            <a:ext cx="1979612" cy="461962"/>
            <a:chOff x="4513" y="2575"/>
            <a:chExt cx="1247" cy="291"/>
          </a:xfrm>
        </p:grpSpPr>
        <p:sp>
          <p:nvSpPr>
            <p:cNvPr id="332910" name="Text Box 110"/>
            <p:cNvSpPr txBox="1">
              <a:spLocks noChangeArrowheads="1"/>
            </p:cNvSpPr>
            <p:nvPr/>
          </p:nvSpPr>
          <p:spPr bwMode="auto">
            <a:xfrm>
              <a:off x="5353" y="2575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“0”</a:t>
              </a:r>
            </a:p>
          </p:txBody>
        </p:sp>
        <p:sp>
          <p:nvSpPr>
            <p:cNvPr id="332911" name="Line 111"/>
            <p:cNvSpPr>
              <a:spLocks noChangeShapeType="1"/>
            </p:cNvSpPr>
            <p:nvPr/>
          </p:nvSpPr>
          <p:spPr bwMode="auto">
            <a:xfrm>
              <a:off x="4513" y="2779"/>
              <a:ext cx="10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912" name="Oval 112"/>
            <p:cNvSpPr>
              <a:spLocks noChangeArrowheads="1"/>
            </p:cNvSpPr>
            <p:nvPr/>
          </p:nvSpPr>
          <p:spPr bwMode="auto">
            <a:xfrm>
              <a:off x="5136" y="273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8" name="Group 113"/>
          <p:cNvGrpSpPr>
            <a:grpSpLocks/>
          </p:cNvGrpSpPr>
          <p:nvPr/>
        </p:nvGrpSpPr>
        <p:grpSpPr bwMode="auto">
          <a:xfrm>
            <a:off x="5572125" y="3848100"/>
            <a:ext cx="2303463" cy="936625"/>
            <a:chOff x="3606" y="2280"/>
            <a:chExt cx="1451" cy="590"/>
          </a:xfrm>
        </p:grpSpPr>
        <p:grpSp>
          <p:nvGrpSpPr>
            <p:cNvPr id="9" name="Group 114"/>
            <p:cNvGrpSpPr>
              <a:grpSpLocks/>
            </p:cNvGrpSpPr>
            <p:nvPr/>
          </p:nvGrpSpPr>
          <p:grpSpPr bwMode="auto">
            <a:xfrm>
              <a:off x="3606" y="2280"/>
              <a:ext cx="1451" cy="590"/>
              <a:chOff x="3606" y="2280"/>
              <a:chExt cx="1451" cy="590"/>
            </a:xfrm>
          </p:grpSpPr>
          <p:sp>
            <p:nvSpPr>
              <p:cNvPr id="332915" name="Line 115"/>
              <p:cNvSpPr>
                <a:spLocks noChangeShapeType="1"/>
              </p:cNvSpPr>
              <p:nvPr/>
            </p:nvSpPr>
            <p:spPr bwMode="auto">
              <a:xfrm flipV="1">
                <a:off x="5057" y="2689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10" name="Group 116"/>
              <p:cNvGrpSpPr>
                <a:grpSpLocks/>
              </p:cNvGrpSpPr>
              <p:nvPr/>
            </p:nvGrpSpPr>
            <p:grpSpPr bwMode="auto">
              <a:xfrm>
                <a:off x="3606" y="2280"/>
                <a:ext cx="1451" cy="590"/>
                <a:chOff x="3606" y="2280"/>
                <a:chExt cx="1451" cy="590"/>
              </a:xfrm>
            </p:grpSpPr>
            <p:sp>
              <p:nvSpPr>
                <p:cNvPr id="332917" name="Line 117"/>
                <p:cNvSpPr>
                  <a:spLocks noChangeShapeType="1"/>
                </p:cNvSpPr>
                <p:nvPr/>
              </p:nvSpPr>
              <p:spPr bwMode="auto">
                <a:xfrm flipV="1">
                  <a:off x="4241" y="2416"/>
                  <a:ext cx="0" cy="45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32918" name="Line 118"/>
                <p:cNvSpPr>
                  <a:spLocks noChangeShapeType="1"/>
                </p:cNvSpPr>
                <p:nvPr/>
              </p:nvSpPr>
              <p:spPr bwMode="auto">
                <a:xfrm flipV="1">
                  <a:off x="4921" y="2416"/>
                  <a:ext cx="0" cy="45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grpSp>
              <p:nvGrpSpPr>
                <p:cNvPr id="11" name="Group 119"/>
                <p:cNvGrpSpPr>
                  <a:grpSpLocks/>
                </p:cNvGrpSpPr>
                <p:nvPr/>
              </p:nvGrpSpPr>
              <p:grpSpPr bwMode="auto">
                <a:xfrm>
                  <a:off x="3833" y="2280"/>
                  <a:ext cx="271" cy="273"/>
                  <a:chOff x="3833" y="3475"/>
                  <a:chExt cx="271" cy="273"/>
                </a:xfrm>
              </p:grpSpPr>
              <p:sp>
                <p:nvSpPr>
                  <p:cNvPr id="332920" name="Rectangle 120"/>
                  <p:cNvSpPr>
                    <a:spLocks noChangeArrowheads="1"/>
                  </p:cNvSpPr>
                  <p:nvPr/>
                </p:nvSpPr>
                <p:spPr bwMode="auto">
                  <a:xfrm>
                    <a:off x="3833" y="3475"/>
                    <a:ext cx="181" cy="273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332921" name="Oval 121"/>
                  <p:cNvSpPr>
                    <a:spLocks noChangeArrowheads="1"/>
                  </p:cNvSpPr>
                  <p:nvPr/>
                </p:nvSpPr>
                <p:spPr bwMode="auto">
                  <a:xfrm>
                    <a:off x="4014" y="3566"/>
                    <a:ext cx="90" cy="9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332922" name="Line 122"/>
                <p:cNvSpPr>
                  <a:spLocks noChangeShapeType="1"/>
                </p:cNvSpPr>
                <p:nvPr/>
              </p:nvSpPr>
              <p:spPr bwMode="auto">
                <a:xfrm>
                  <a:off x="4105" y="2416"/>
                  <a:ext cx="81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32923" name="Line 123"/>
                <p:cNvSpPr>
                  <a:spLocks noChangeShapeType="1"/>
                </p:cNvSpPr>
                <p:nvPr/>
              </p:nvSpPr>
              <p:spPr bwMode="auto">
                <a:xfrm flipH="1">
                  <a:off x="3606" y="2416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32924" name="Line 124"/>
                <p:cNvSpPr>
                  <a:spLocks noChangeShapeType="1"/>
                </p:cNvSpPr>
                <p:nvPr/>
              </p:nvSpPr>
              <p:spPr bwMode="auto">
                <a:xfrm>
                  <a:off x="3696" y="2416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32925" name="Line 125"/>
                <p:cNvSpPr>
                  <a:spLocks noChangeShapeType="1"/>
                </p:cNvSpPr>
                <p:nvPr/>
              </p:nvSpPr>
              <p:spPr bwMode="auto">
                <a:xfrm>
                  <a:off x="3696" y="2689"/>
                  <a:ext cx="136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32926" name="Oval 126"/>
                <p:cNvSpPr>
                  <a:spLocks noChangeArrowheads="1"/>
                </p:cNvSpPr>
                <p:nvPr/>
              </p:nvSpPr>
              <p:spPr bwMode="auto">
                <a:xfrm>
                  <a:off x="4176" y="235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332927" name="Oval 127"/>
            <p:cNvSpPr>
              <a:spLocks noChangeArrowheads="1"/>
            </p:cNvSpPr>
            <p:nvPr/>
          </p:nvSpPr>
          <p:spPr bwMode="auto">
            <a:xfrm>
              <a:off x="3648" y="235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332928" name="Rectangle 128"/>
          <p:cNvSpPr>
            <a:spLocks noChangeArrowheads="1"/>
          </p:cNvSpPr>
          <p:nvPr/>
        </p:nvSpPr>
        <p:spPr bwMode="auto">
          <a:xfrm>
            <a:off x="107504" y="2060848"/>
            <a:ext cx="24929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FFFF00"/>
              </a:buClr>
              <a:buFont typeface="Wingdings" pitchFamily="2" charset="2"/>
              <a:buNone/>
            </a:pPr>
            <a:r>
              <a:rPr lang="zh-CN" altLang="en-US" dirty="0">
                <a:latin typeface="+mn-ea"/>
                <a:ea typeface="+mn-ea"/>
              </a:rPr>
              <a:t>令</a:t>
            </a:r>
            <a:r>
              <a:rPr lang="en-US" altLang="zh-CN" dirty="0">
                <a:latin typeface="+mn-ea"/>
                <a:ea typeface="+mn-ea"/>
              </a:rPr>
              <a:t>A=S</a:t>
            </a:r>
            <a:r>
              <a:rPr lang="en-US" altLang="zh-CN" baseline="-25000" dirty="0">
                <a:latin typeface="+mn-ea"/>
                <a:ea typeface="+mn-ea"/>
              </a:rPr>
              <a:t>0</a:t>
            </a:r>
            <a:r>
              <a:rPr lang="en-US" altLang="zh-CN" dirty="0">
                <a:latin typeface="+mn-ea"/>
                <a:ea typeface="+mn-ea"/>
              </a:rPr>
              <a:t>,B=S</a:t>
            </a:r>
            <a:r>
              <a:rPr lang="en-US" altLang="zh-CN" baseline="-25000" dirty="0">
                <a:latin typeface="+mn-ea"/>
                <a:ea typeface="+mn-ea"/>
              </a:rPr>
              <a:t>1</a:t>
            </a:r>
            <a:r>
              <a:rPr lang="en-US" altLang="zh-CN" dirty="0">
                <a:latin typeface="+mn-ea"/>
                <a:ea typeface="+mn-ea"/>
              </a:rPr>
              <a:t>,C=S</a:t>
            </a:r>
            <a:r>
              <a:rPr lang="en-US" altLang="zh-CN" baseline="-25000" dirty="0">
                <a:latin typeface="+mn-ea"/>
                <a:ea typeface="+mn-ea"/>
              </a:rPr>
              <a:t>2</a:t>
            </a:r>
          </a:p>
        </p:txBody>
      </p:sp>
      <p:grpSp>
        <p:nvGrpSpPr>
          <p:cNvPr id="12" name="Group 140"/>
          <p:cNvGrpSpPr>
            <a:grpSpLocks/>
          </p:cNvGrpSpPr>
          <p:nvPr/>
        </p:nvGrpSpPr>
        <p:grpSpPr bwMode="auto">
          <a:xfrm>
            <a:off x="76199" y="2493987"/>
            <a:ext cx="5257801" cy="3743325"/>
            <a:chOff x="240" y="1866"/>
            <a:chExt cx="3168" cy="2358"/>
          </a:xfrm>
        </p:grpSpPr>
        <p:sp>
          <p:nvSpPr>
            <p:cNvPr id="332807" name="Rectangle 7"/>
            <p:cNvSpPr>
              <a:spLocks noChangeArrowheads="1"/>
            </p:cNvSpPr>
            <p:nvPr/>
          </p:nvSpPr>
          <p:spPr bwMode="auto">
            <a:xfrm>
              <a:off x="986" y="3929"/>
              <a:ext cx="45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7</a:t>
              </a:r>
            </a:p>
          </p:txBody>
        </p:sp>
        <p:sp>
          <p:nvSpPr>
            <p:cNvPr id="332808" name="Rectangle 8"/>
            <p:cNvSpPr>
              <a:spLocks noChangeArrowheads="1"/>
            </p:cNvSpPr>
            <p:nvPr/>
          </p:nvSpPr>
          <p:spPr bwMode="auto">
            <a:xfrm>
              <a:off x="288" y="3960"/>
              <a:ext cx="7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+mn-ea"/>
                  <a:ea typeface="+mn-ea"/>
                </a:rPr>
                <a:t>1 1 1</a:t>
              </a:r>
            </a:p>
          </p:txBody>
        </p:sp>
        <p:sp>
          <p:nvSpPr>
            <p:cNvPr id="332812" name="Rectangle 12"/>
            <p:cNvSpPr>
              <a:spLocks noChangeArrowheads="1"/>
            </p:cNvSpPr>
            <p:nvPr/>
          </p:nvSpPr>
          <p:spPr bwMode="auto">
            <a:xfrm>
              <a:off x="986" y="3702"/>
              <a:ext cx="45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6</a:t>
              </a:r>
            </a:p>
          </p:txBody>
        </p:sp>
        <p:sp>
          <p:nvSpPr>
            <p:cNvPr id="332813" name="Rectangle 13"/>
            <p:cNvSpPr>
              <a:spLocks noChangeArrowheads="1"/>
            </p:cNvSpPr>
            <p:nvPr/>
          </p:nvSpPr>
          <p:spPr bwMode="auto">
            <a:xfrm>
              <a:off x="302" y="3711"/>
              <a:ext cx="650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pc="100" dirty="0">
                  <a:latin typeface="+mn-ea"/>
                  <a:ea typeface="+mn-ea"/>
                </a:rPr>
                <a:t>0 1 1</a:t>
              </a:r>
            </a:p>
          </p:txBody>
        </p:sp>
        <p:sp>
          <p:nvSpPr>
            <p:cNvPr id="332817" name="Rectangle 17"/>
            <p:cNvSpPr>
              <a:spLocks noChangeArrowheads="1"/>
            </p:cNvSpPr>
            <p:nvPr/>
          </p:nvSpPr>
          <p:spPr bwMode="auto">
            <a:xfrm>
              <a:off x="986" y="3430"/>
              <a:ext cx="45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5</a:t>
              </a:r>
            </a:p>
          </p:txBody>
        </p:sp>
        <p:sp>
          <p:nvSpPr>
            <p:cNvPr id="332818" name="Rectangle 18"/>
            <p:cNvSpPr>
              <a:spLocks noChangeArrowheads="1"/>
            </p:cNvSpPr>
            <p:nvPr/>
          </p:nvSpPr>
          <p:spPr bwMode="auto">
            <a:xfrm>
              <a:off x="302" y="3462"/>
              <a:ext cx="650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pc="100" dirty="0">
                  <a:latin typeface="+mn-ea"/>
                  <a:ea typeface="+mn-ea"/>
                </a:rPr>
                <a:t>1 0 1</a:t>
              </a:r>
            </a:p>
          </p:txBody>
        </p:sp>
        <p:sp>
          <p:nvSpPr>
            <p:cNvPr id="332822" name="Rectangle 22"/>
            <p:cNvSpPr>
              <a:spLocks noChangeArrowheads="1"/>
            </p:cNvSpPr>
            <p:nvPr/>
          </p:nvSpPr>
          <p:spPr bwMode="auto">
            <a:xfrm>
              <a:off x="986" y="3158"/>
              <a:ext cx="45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4</a:t>
              </a:r>
            </a:p>
          </p:txBody>
        </p:sp>
        <p:sp>
          <p:nvSpPr>
            <p:cNvPr id="332823" name="Rectangle 23"/>
            <p:cNvSpPr>
              <a:spLocks noChangeArrowheads="1"/>
            </p:cNvSpPr>
            <p:nvPr/>
          </p:nvSpPr>
          <p:spPr bwMode="auto">
            <a:xfrm>
              <a:off x="302" y="3213"/>
              <a:ext cx="650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pc="100" dirty="0">
                  <a:latin typeface="+mn-ea"/>
                  <a:ea typeface="+mn-ea"/>
                </a:rPr>
                <a:t>0 0 1</a:t>
              </a:r>
            </a:p>
          </p:txBody>
        </p:sp>
        <p:sp>
          <p:nvSpPr>
            <p:cNvPr id="332827" name="Rectangle 27"/>
            <p:cNvSpPr>
              <a:spLocks noChangeArrowheads="1"/>
            </p:cNvSpPr>
            <p:nvPr/>
          </p:nvSpPr>
          <p:spPr bwMode="auto">
            <a:xfrm>
              <a:off x="986" y="2931"/>
              <a:ext cx="45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3</a:t>
              </a:r>
            </a:p>
          </p:txBody>
        </p:sp>
        <p:sp>
          <p:nvSpPr>
            <p:cNvPr id="332828" name="Rectangle 28"/>
            <p:cNvSpPr>
              <a:spLocks noChangeArrowheads="1"/>
            </p:cNvSpPr>
            <p:nvPr/>
          </p:nvSpPr>
          <p:spPr bwMode="auto">
            <a:xfrm>
              <a:off x="302" y="2964"/>
              <a:ext cx="650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pc="100" dirty="0">
                  <a:latin typeface="+mn-ea"/>
                  <a:ea typeface="+mn-ea"/>
                </a:rPr>
                <a:t>1 1 0</a:t>
              </a:r>
            </a:p>
          </p:txBody>
        </p:sp>
        <p:sp>
          <p:nvSpPr>
            <p:cNvPr id="332832" name="Rectangle 32"/>
            <p:cNvSpPr>
              <a:spLocks noChangeArrowheads="1"/>
            </p:cNvSpPr>
            <p:nvPr/>
          </p:nvSpPr>
          <p:spPr bwMode="auto">
            <a:xfrm>
              <a:off x="986" y="2659"/>
              <a:ext cx="45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2</a:t>
              </a:r>
            </a:p>
          </p:txBody>
        </p:sp>
        <p:sp>
          <p:nvSpPr>
            <p:cNvPr id="332833" name="Rectangle 33"/>
            <p:cNvSpPr>
              <a:spLocks noChangeArrowheads="1"/>
            </p:cNvSpPr>
            <p:nvPr/>
          </p:nvSpPr>
          <p:spPr bwMode="auto">
            <a:xfrm>
              <a:off x="302" y="2688"/>
              <a:ext cx="650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pc="100" dirty="0">
                  <a:latin typeface="+mn-ea"/>
                  <a:ea typeface="+mn-ea"/>
                </a:rPr>
                <a:t>0 1 0</a:t>
              </a:r>
            </a:p>
          </p:txBody>
        </p:sp>
        <p:sp>
          <p:nvSpPr>
            <p:cNvPr id="332837" name="Rectangle 37"/>
            <p:cNvSpPr>
              <a:spLocks noChangeArrowheads="1"/>
            </p:cNvSpPr>
            <p:nvPr/>
          </p:nvSpPr>
          <p:spPr bwMode="auto">
            <a:xfrm>
              <a:off x="986" y="2387"/>
              <a:ext cx="45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1</a:t>
              </a:r>
            </a:p>
          </p:txBody>
        </p:sp>
        <p:sp>
          <p:nvSpPr>
            <p:cNvPr id="332838" name="Rectangle 38"/>
            <p:cNvSpPr>
              <a:spLocks noChangeArrowheads="1"/>
            </p:cNvSpPr>
            <p:nvPr/>
          </p:nvSpPr>
          <p:spPr bwMode="auto">
            <a:xfrm>
              <a:off x="302" y="2439"/>
              <a:ext cx="650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pc="100" dirty="0">
                  <a:latin typeface="+mn-ea"/>
                  <a:ea typeface="+mn-ea"/>
                </a:rPr>
                <a:t>1 0 0</a:t>
              </a:r>
            </a:p>
          </p:txBody>
        </p:sp>
        <p:sp>
          <p:nvSpPr>
            <p:cNvPr id="332842" name="Rectangle 42"/>
            <p:cNvSpPr>
              <a:spLocks noChangeArrowheads="1"/>
            </p:cNvSpPr>
            <p:nvPr/>
          </p:nvSpPr>
          <p:spPr bwMode="auto">
            <a:xfrm>
              <a:off x="986" y="2160"/>
              <a:ext cx="45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0</a:t>
              </a:r>
            </a:p>
          </p:txBody>
        </p:sp>
        <p:sp>
          <p:nvSpPr>
            <p:cNvPr id="332843" name="Rectangle 43"/>
            <p:cNvSpPr>
              <a:spLocks noChangeArrowheads="1"/>
            </p:cNvSpPr>
            <p:nvPr/>
          </p:nvSpPr>
          <p:spPr bwMode="auto">
            <a:xfrm>
              <a:off x="302" y="2160"/>
              <a:ext cx="650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pc="100" dirty="0">
                  <a:latin typeface="+mn-ea"/>
                  <a:ea typeface="+mn-ea"/>
                </a:rPr>
                <a:t>0 0 0</a:t>
              </a:r>
            </a:p>
          </p:txBody>
        </p:sp>
        <p:sp>
          <p:nvSpPr>
            <p:cNvPr id="332844" name="Rectangle 44"/>
            <p:cNvSpPr>
              <a:spLocks noChangeArrowheads="1"/>
            </p:cNvSpPr>
            <p:nvPr/>
          </p:nvSpPr>
          <p:spPr bwMode="auto">
            <a:xfrm>
              <a:off x="1796" y="1866"/>
              <a:ext cx="150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zh-CN" altLang="en-US" dirty="0">
                  <a:latin typeface="+mn-ea"/>
                  <a:ea typeface="+mn-ea"/>
                </a:rPr>
                <a:t>函數</a:t>
              </a:r>
              <a:r>
                <a:rPr lang="en-US" altLang="zh-CN" dirty="0">
                  <a:latin typeface="+mn-ea"/>
                  <a:ea typeface="+mn-ea"/>
                </a:rPr>
                <a:t>F</a:t>
              </a:r>
              <a:r>
                <a:rPr lang="zh-CN" altLang="en-US" dirty="0">
                  <a:latin typeface="+mn-ea"/>
                  <a:ea typeface="+mn-ea"/>
                </a:rPr>
                <a:t>的值</a:t>
              </a:r>
            </a:p>
          </p:txBody>
        </p:sp>
        <p:sp>
          <p:nvSpPr>
            <p:cNvPr id="332847" name="Rectangle 47"/>
            <p:cNvSpPr>
              <a:spLocks noChangeArrowheads="1"/>
            </p:cNvSpPr>
            <p:nvPr/>
          </p:nvSpPr>
          <p:spPr bwMode="auto">
            <a:xfrm>
              <a:off x="972" y="1866"/>
              <a:ext cx="53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zh-CN" altLang="en-US" dirty="0">
                  <a:latin typeface="+mn-ea"/>
                  <a:ea typeface="+mn-ea"/>
                </a:rPr>
                <a:t>輸入</a:t>
              </a:r>
            </a:p>
          </p:txBody>
        </p:sp>
        <p:sp>
          <p:nvSpPr>
            <p:cNvPr id="332848" name="Rectangle 48"/>
            <p:cNvSpPr>
              <a:spLocks noChangeArrowheads="1"/>
            </p:cNvSpPr>
            <p:nvPr/>
          </p:nvSpPr>
          <p:spPr bwMode="auto">
            <a:xfrm>
              <a:off x="240" y="1866"/>
              <a:ext cx="81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S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0 </a:t>
              </a:r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S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1 </a:t>
              </a:r>
              <a:r>
                <a:rPr lang="en-US" altLang="zh-CN" dirty="0">
                  <a:latin typeface="+mn-ea"/>
                  <a:ea typeface="+mn-ea"/>
                  <a:cs typeface="Times New Roman" pitchFamily="18" charset="0"/>
                </a:rPr>
                <a:t>S</a:t>
              </a:r>
              <a:r>
                <a:rPr lang="en-US" altLang="zh-CN" baseline="-30000" dirty="0">
                  <a:latin typeface="+mn-ea"/>
                  <a:ea typeface="+mn-ea"/>
                  <a:cs typeface="Times New Roman" pitchFamily="18" charset="0"/>
                </a:rPr>
                <a:t>2</a:t>
              </a:r>
              <a:endParaRPr lang="en-US" altLang="zh-CN" dirty="0">
                <a:latin typeface="+mn-ea"/>
                <a:ea typeface="+mn-ea"/>
              </a:endParaRPr>
            </a:p>
          </p:txBody>
        </p:sp>
        <p:sp>
          <p:nvSpPr>
            <p:cNvPr id="332849" name="Line 49"/>
            <p:cNvSpPr>
              <a:spLocks noChangeShapeType="1"/>
            </p:cNvSpPr>
            <p:nvPr/>
          </p:nvSpPr>
          <p:spPr bwMode="auto">
            <a:xfrm>
              <a:off x="240" y="1920"/>
              <a:ext cx="316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0" name="Line 50"/>
            <p:cNvSpPr>
              <a:spLocks noChangeShapeType="1"/>
            </p:cNvSpPr>
            <p:nvPr/>
          </p:nvSpPr>
          <p:spPr bwMode="auto">
            <a:xfrm flipV="1">
              <a:off x="240" y="2160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1" name="Line 51"/>
            <p:cNvSpPr>
              <a:spLocks noChangeShapeType="1"/>
            </p:cNvSpPr>
            <p:nvPr/>
          </p:nvSpPr>
          <p:spPr bwMode="auto">
            <a:xfrm flipV="1">
              <a:off x="240" y="2448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2" name="Line 52"/>
            <p:cNvSpPr>
              <a:spLocks noChangeShapeType="1"/>
            </p:cNvSpPr>
            <p:nvPr/>
          </p:nvSpPr>
          <p:spPr bwMode="auto">
            <a:xfrm flipV="1">
              <a:off x="240" y="2688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3" name="Line 53"/>
            <p:cNvSpPr>
              <a:spLocks noChangeShapeType="1"/>
            </p:cNvSpPr>
            <p:nvPr/>
          </p:nvSpPr>
          <p:spPr bwMode="auto">
            <a:xfrm flipV="1">
              <a:off x="240" y="2976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4" name="Line 54"/>
            <p:cNvSpPr>
              <a:spLocks noChangeShapeType="1"/>
            </p:cNvSpPr>
            <p:nvPr/>
          </p:nvSpPr>
          <p:spPr bwMode="auto">
            <a:xfrm>
              <a:off x="240" y="3213"/>
              <a:ext cx="3168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5" name="Line 55"/>
            <p:cNvSpPr>
              <a:spLocks noChangeShapeType="1"/>
            </p:cNvSpPr>
            <p:nvPr/>
          </p:nvSpPr>
          <p:spPr bwMode="auto">
            <a:xfrm flipV="1">
              <a:off x="240" y="3456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6" name="Line 56"/>
            <p:cNvSpPr>
              <a:spLocks noChangeShapeType="1"/>
            </p:cNvSpPr>
            <p:nvPr/>
          </p:nvSpPr>
          <p:spPr bwMode="auto">
            <a:xfrm flipV="1">
              <a:off x="240" y="3696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7" name="Line 57"/>
            <p:cNvSpPr>
              <a:spLocks noChangeShapeType="1"/>
            </p:cNvSpPr>
            <p:nvPr/>
          </p:nvSpPr>
          <p:spPr bwMode="auto">
            <a:xfrm>
              <a:off x="240" y="3984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8" name="Line 58"/>
            <p:cNvSpPr>
              <a:spLocks noChangeShapeType="1"/>
            </p:cNvSpPr>
            <p:nvPr/>
          </p:nvSpPr>
          <p:spPr bwMode="auto">
            <a:xfrm>
              <a:off x="240" y="4224"/>
              <a:ext cx="316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9" name="Line 59"/>
            <p:cNvSpPr>
              <a:spLocks noChangeShapeType="1"/>
            </p:cNvSpPr>
            <p:nvPr/>
          </p:nvSpPr>
          <p:spPr bwMode="auto">
            <a:xfrm>
              <a:off x="240" y="1920"/>
              <a:ext cx="0" cy="228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60" name="Line 60"/>
            <p:cNvSpPr>
              <a:spLocks noChangeShapeType="1"/>
            </p:cNvSpPr>
            <p:nvPr/>
          </p:nvSpPr>
          <p:spPr bwMode="auto">
            <a:xfrm>
              <a:off x="986" y="1924"/>
              <a:ext cx="0" cy="22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64" name="Line 64"/>
            <p:cNvSpPr>
              <a:spLocks noChangeShapeType="1"/>
            </p:cNvSpPr>
            <p:nvPr/>
          </p:nvSpPr>
          <p:spPr bwMode="auto">
            <a:xfrm>
              <a:off x="3408" y="1920"/>
              <a:ext cx="0" cy="228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929" name="Line 129"/>
            <p:cNvSpPr>
              <a:spLocks noChangeShapeType="1"/>
            </p:cNvSpPr>
            <p:nvPr/>
          </p:nvSpPr>
          <p:spPr bwMode="auto">
            <a:xfrm>
              <a:off x="1449" y="1914"/>
              <a:ext cx="0" cy="22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548838"/>
              </p:ext>
            </p:extLst>
          </p:nvPr>
        </p:nvGraphicFramePr>
        <p:xfrm>
          <a:off x="4642572" y="1700808"/>
          <a:ext cx="3025772" cy="451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47560" imgH="215640" progId="Equation.3">
                  <p:embed/>
                </p:oleObj>
              </mc:Choice>
              <mc:Fallback>
                <p:oleObj name="公式" r:id="rId2" imgW="1447560" imgH="215640" progId="Equation.3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2572" y="1700808"/>
                        <a:ext cx="3025772" cy="4518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638959"/>
              </p:ext>
            </p:extLst>
          </p:nvPr>
        </p:nvGraphicFramePr>
        <p:xfrm>
          <a:off x="2185626" y="2960712"/>
          <a:ext cx="2962492" cy="355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03240" imgH="215640" progId="Equation.3">
                  <p:embed/>
                </p:oleObj>
              </mc:Choice>
              <mc:Fallback>
                <p:oleObj name="公式" r:id="rId4" imgW="1803240" imgH="215640" progId="Equation.3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626" y="2960712"/>
                        <a:ext cx="2962492" cy="355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507012"/>
              </p:ext>
            </p:extLst>
          </p:nvPr>
        </p:nvGraphicFramePr>
        <p:xfrm>
          <a:off x="2185626" y="5053384"/>
          <a:ext cx="29622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03240" imgH="215640" progId="Equation.3">
                  <p:embed/>
                </p:oleObj>
              </mc:Choice>
              <mc:Fallback>
                <p:oleObj name="公式" r:id="rId6" imgW="1803240" imgH="215640" progId="Equation.3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626" y="5053384"/>
                        <a:ext cx="296227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735006"/>
              </p:ext>
            </p:extLst>
          </p:nvPr>
        </p:nvGraphicFramePr>
        <p:xfrm>
          <a:off x="2185626" y="5449424"/>
          <a:ext cx="29622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03240" imgH="215640" progId="Equation.3">
                  <p:embed/>
                </p:oleObj>
              </mc:Choice>
              <mc:Fallback>
                <p:oleObj name="公式" r:id="rId8" imgW="1803240" imgH="215640" progId="Equation.3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626" y="5449424"/>
                        <a:ext cx="296227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087056"/>
              </p:ext>
            </p:extLst>
          </p:nvPr>
        </p:nvGraphicFramePr>
        <p:xfrm>
          <a:off x="2185626" y="3790918"/>
          <a:ext cx="28797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752480" imgH="215640" progId="Equation.3">
                  <p:embed/>
                </p:oleObj>
              </mc:Choice>
              <mc:Fallback>
                <p:oleObj name="公式" r:id="rId10" imgW="1752480" imgH="215640" progId="Equation.3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626" y="3790918"/>
                        <a:ext cx="28797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693521"/>
              </p:ext>
            </p:extLst>
          </p:nvPr>
        </p:nvGraphicFramePr>
        <p:xfrm>
          <a:off x="2185626" y="4645049"/>
          <a:ext cx="2857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739880" imgH="215640" progId="Equation.3">
                  <p:embed/>
                </p:oleObj>
              </mc:Choice>
              <mc:Fallback>
                <p:oleObj name="公式" r:id="rId12" imgW="1739880" imgH="215640" progId="Equation.3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626" y="4645049"/>
                        <a:ext cx="2857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947010"/>
              </p:ext>
            </p:extLst>
          </p:nvPr>
        </p:nvGraphicFramePr>
        <p:xfrm>
          <a:off x="2185626" y="5835206"/>
          <a:ext cx="28797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52480" imgH="215640" progId="Equation.3">
                  <p:embed/>
                </p:oleObj>
              </mc:Choice>
              <mc:Fallback>
                <p:oleObj name="公式" r:id="rId14" imgW="1752480" imgH="215640" progId="Equation.3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626" y="5835206"/>
                        <a:ext cx="28797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149039"/>
              </p:ext>
            </p:extLst>
          </p:nvPr>
        </p:nvGraphicFramePr>
        <p:xfrm>
          <a:off x="2185626" y="3403625"/>
          <a:ext cx="2857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739880" imgH="215640" progId="Equation.3">
                  <p:embed/>
                </p:oleObj>
              </mc:Choice>
              <mc:Fallback>
                <p:oleObj name="公式" r:id="rId16" imgW="1739880" imgH="215640" progId="Equation.3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626" y="3403625"/>
                        <a:ext cx="2857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224581"/>
              </p:ext>
            </p:extLst>
          </p:nvPr>
        </p:nvGraphicFramePr>
        <p:xfrm>
          <a:off x="2185626" y="4280717"/>
          <a:ext cx="2857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739880" imgH="215640" progId="Equation.3">
                  <p:embed/>
                </p:oleObj>
              </mc:Choice>
              <mc:Fallback>
                <p:oleObj name="公式" r:id="rId18" imgW="1739880" imgH="215640" progId="Equation.3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626" y="4280717"/>
                        <a:ext cx="2857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679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2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2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928" grpId="0" autoUpdateAnimBg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D2FB4-380D-4149-98AA-437924325B99}" type="slidenum">
              <a:rPr lang="en-US" altLang="zh-CN"/>
              <a:pPr/>
              <a:t>92</a:t>
            </a:fld>
            <a:endParaRPr lang="en-US" altLang="zh-CN" dirty="0"/>
          </a:p>
        </p:txBody>
      </p:sp>
      <p:sp>
        <p:nvSpPr>
          <p:cNvPr id="4782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作業</a:t>
            </a:r>
            <a:r>
              <a:rPr lang="en-US" altLang="zh-CN" sz="3600" dirty="0"/>
              <a:t>:  4.3, 4.5,  4.6, 4.10,  4.15,  4.22</a:t>
            </a:r>
          </a:p>
        </p:txBody>
      </p:sp>
      <p:pic>
        <p:nvPicPr>
          <p:cNvPr id="6133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063364"/>
            <a:ext cx="7632848" cy="2961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  <a:pPr/>
              <a:t>93</a:t>
            </a:fld>
            <a:endParaRPr lang="en-US" altLang="zh-CN" dirty="0"/>
          </a:p>
        </p:txBody>
      </p:sp>
      <p:pic>
        <p:nvPicPr>
          <p:cNvPr id="6144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548680"/>
            <a:ext cx="8114531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353029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  <a:pPr/>
              <a:t>94</a:t>
            </a:fld>
            <a:endParaRPr lang="en-US" altLang="zh-CN" dirty="0"/>
          </a:p>
        </p:txBody>
      </p:sp>
      <p:pic>
        <p:nvPicPr>
          <p:cNvPr id="6154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48680"/>
            <a:ext cx="7907510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4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4621438"/>
            <a:ext cx="7992889" cy="645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695273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  <a:pPr/>
              <a:t>95</a:t>
            </a:fld>
            <a:endParaRPr lang="en-US" altLang="zh-CN" dirty="0"/>
          </a:p>
        </p:txBody>
      </p:sp>
      <p:pic>
        <p:nvPicPr>
          <p:cNvPr id="6164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48680"/>
            <a:ext cx="81499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4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2686854"/>
            <a:ext cx="8149997" cy="1237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136164D-19D3-482F-95AB-1BB795BA828C}"/>
              </a:ext>
            </a:extLst>
          </p:cNvPr>
          <p:cNvSpPr txBox="1"/>
          <p:nvPr/>
        </p:nvSpPr>
        <p:spPr>
          <a:xfrm>
            <a:off x="2435654" y="5147900"/>
            <a:ext cx="6528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注</a:t>
            </a:r>
            <a:r>
              <a:rPr lang="en-US" altLang="zh-CN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2</a:t>
            </a:r>
            <a:r>
              <a:rPr lang="zh-CN" altLang="en-US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：“四位元二選一”是指一個晶片裡面包含</a:t>
            </a:r>
            <a:r>
              <a:rPr lang="en-US" altLang="zh-CN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4</a:t>
            </a:r>
            <a:r>
              <a:rPr lang="zh-CN" altLang="en-US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個二選一選擇器。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59A197-689E-4263-8C73-A087A66227D5}"/>
              </a:ext>
            </a:extLst>
          </p:cNvPr>
          <p:cNvSpPr txBox="1"/>
          <p:nvPr/>
        </p:nvSpPr>
        <p:spPr>
          <a:xfrm>
            <a:off x="2437430" y="4074326"/>
            <a:ext cx="62521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注</a:t>
            </a:r>
            <a:r>
              <a:rPr lang="en-US" altLang="zh-CN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</a:t>
            </a:r>
            <a:r>
              <a:rPr lang="zh-CN" altLang="en-US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：要求用</a:t>
            </a:r>
            <a:r>
              <a:rPr lang="en-US" altLang="zh-CN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2</a:t>
            </a:r>
            <a:r>
              <a:rPr lang="zh-CN" altLang="en-US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種方法實現：第一種方法要求只用門電路來實現；第二種方法只用“</a:t>
            </a:r>
            <a:r>
              <a:rPr lang="en-US" altLang="zh-CN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</a:t>
            </a:r>
            <a:r>
              <a:rPr lang="zh-CN" altLang="en-US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個</a:t>
            </a:r>
            <a:r>
              <a:rPr lang="en-US" altLang="zh-CN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8</a:t>
            </a:r>
            <a:r>
              <a:rPr lang="zh-CN" altLang="en-US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選</a:t>
            </a:r>
            <a:r>
              <a:rPr lang="en-US" altLang="zh-CN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1”+“1</a:t>
            </a:r>
            <a:r>
              <a:rPr lang="zh-CN" altLang="en-US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個</a:t>
            </a:r>
            <a:r>
              <a:rPr lang="en-US" altLang="zh-CN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4</a:t>
            </a:r>
            <a:r>
              <a:rPr lang="zh-CN" altLang="en-US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位</a:t>
            </a:r>
            <a:r>
              <a:rPr lang="en-US" altLang="zh-CN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2</a:t>
            </a:r>
            <a:r>
              <a:rPr lang="zh-CN" altLang="en-US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選</a:t>
            </a:r>
            <a:r>
              <a:rPr lang="en-US" altLang="zh-CN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1”</a:t>
            </a:r>
            <a:r>
              <a:rPr lang="zh-CN" altLang="en-US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來實現，不用其他門。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C136BF-D095-4627-B515-1E34A9FF0B00}"/>
              </a:ext>
            </a:extLst>
          </p:cNvPr>
          <p:cNvSpPr txBox="1"/>
          <p:nvPr/>
        </p:nvSpPr>
        <p:spPr>
          <a:xfrm>
            <a:off x="2435654" y="1254663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注：解碼器有使能端。</a:t>
            </a:r>
          </a:p>
        </p:txBody>
      </p:sp>
    </p:spTree>
    <p:extLst>
      <p:ext uri="{BB962C8B-B14F-4D97-AF65-F5344CB8AC3E}">
        <p14:creationId xmlns:p14="http://schemas.microsoft.com/office/powerpoint/2010/main" val="20269527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数字逻辑课程2014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ersonnalisé 1">
      <a:majorFont>
        <a:latin typeface="Noto Serif"/>
        <a:ea typeface="Noto Serif SC"/>
        <a:cs typeface=""/>
      </a:majorFont>
      <a:minorFont>
        <a:latin typeface="Noto Serif"/>
        <a:ea typeface="Noto Serif SC"/>
        <a:cs typeface="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数字逻辑课程2014</Template>
  <TotalTime>22931</TotalTime>
  <Words>7095</Words>
  <Application>Microsoft Office PowerPoint</Application>
  <PresentationFormat>Affichage à l'écran (4:3)</PresentationFormat>
  <Paragraphs>1806</Paragraphs>
  <Slides>95</Slides>
  <Notes>4</Notes>
  <HiddenSlides>0</HiddenSlides>
  <MMClips>0</MMClips>
  <ScaleCrop>false</ScaleCrop>
  <HeadingPairs>
    <vt:vector size="8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5</vt:i4>
      </vt:variant>
      <vt:variant>
        <vt:lpstr>Titres des diapositives</vt:lpstr>
      </vt:variant>
      <vt:variant>
        <vt:i4>95</vt:i4>
      </vt:variant>
    </vt:vector>
  </HeadingPairs>
  <TitlesOfParts>
    <vt:vector size="110" baseType="lpstr">
      <vt:lpstr>Noto Serif SC</vt:lpstr>
      <vt:lpstr>Arial</vt:lpstr>
      <vt:lpstr>Courier New</vt:lpstr>
      <vt:lpstr>Noto Serif</vt:lpstr>
      <vt:lpstr>Symbol</vt:lpstr>
      <vt:lpstr>Tahoma</vt:lpstr>
      <vt:lpstr>Times New Roman</vt:lpstr>
      <vt:lpstr>Wingdings</vt:lpstr>
      <vt:lpstr>Wingdings 2</vt:lpstr>
      <vt:lpstr>数字逻辑课程2014</vt:lpstr>
      <vt:lpstr>公式</vt:lpstr>
      <vt:lpstr>Equation</vt:lpstr>
      <vt:lpstr>BMP 图像</vt:lpstr>
      <vt:lpstr>位图图像</vt:lpstr>
      <vt:lpstr>Image</vt:lpstr>
      <vt:lpstr>數位邏輯電路</vt:lpstr>
      <vt:lpstr>第三章   組合邏輯電路</vt:lpstr>
      <vt:lpstr>組合邏輯電路的分析與設計</vt:lpstr>
      <vt:lpstr>3.3  常用的中規模組合邏輯電路</vt:lpstr>
      <vt:lpstr>3.3.1  解碼器（1）</vt:lpstr>
      <vt:lpstr>3.3.1 解碼器（2）</vt:lpstr>
      <vt:lpstr>3.3.1 解碼器（3）</vt:lpstr>
      <vt:lpstr>3.3.1 解碼器（4）</vt:lpstr>
      <vt:lpstr>3.3.1 解碼器（5）</vt:lpstr>
      <vt:lpstr>3.3.1 解碼器（6）</vt:lpstr>
      <vt:lpstr>3.3.1 解碼器（7）</vt:lpstr>
      <vt:lpstr>3.3.1 解碼器（8）</vt:lpstr>
      <vt:lpstr>3.3.1 解碼器（9）</vt:lpstr>
      <vt:lpstr>3.3.1 解碼器（10）</vt:lpstr>
      <vt:lpstr>3.3.1 解碼器（11）</vt:lpstr>
      <vt:lpstr>3.3.1 解碼器（12）</vt:lpstr>
      <vt:lpstr>3.3.1 解碼器（13）</vt:lpstr>
      <vt:lpstr>3.3.1 解碼器（14）</vt:lpstr>
      <vt:lpstr>3.3.1 解碼器（15）</vt:lpstr>
      <vt:lpstr>3.3.1  解碼器（16）</vt:lpstr>
      <vt:lpstr>3.3.1  解碼器（17）</vt:lpstr>
      <vt:lpstr>3.3.1  解碼器（18）</vt:lpstr>
      <vt:lpstr>3.3.1  解碼器（19）</vt:lpstr>
      <vt:lpstr>3.3.1  解碼器（20）</vt:lpstr>
      <vt:lpstr>3.3.1  解碼器（21）</vt:lpstr>
      <vt:lpstr>3.3.1  解碼器（22）</vt:lpstr>
      <vt:lpstr>3.3.1  解碼器（23）</vt:lpstr>
      <vt:lpstr>3.3.1  解碼器（24）</vt:lpstr>
      <vt:lpstr>3.3.1  解碼器（25）</vt:lpstr>
      <vt:lpstr>3.3.1  解碼器（26）</vt:lpstr>
      <vt:lpstr>3.3.1  解碼器（27）</vt:lpstr>
      <vt:lpstr>3.3.1  解碼器（28）</vt:lpstr>
      <vt:lpstr>3.3.1  解碼器（29）</vt:lpstr>
      <vt:lpstr>3.3.1  解碼器（30）</vt:lpstr>
      <vt:lpstr>3.3.1  解碼器（31）</vt:lpstr>
      <vt:lpstr>3.3.1  解碼器（32）</vt:lpstr>
      <vt:lpstr>Présentation PowerPoint</vt:lpstr>
      <vt:lpstr>3.3.1  解碼器（33）</vt:lpstr>
      <vt:lpstr>3.3.1  解碼器（34）</vt:lpstr>
      <vt:lpstr>用3－8解碼器分配地址區(1)</vt:lpstr>
      <vt:lpstr>用3－8解碼器分配地址區（2）</vt:lpstr>
      <vt:lpstr>3.3.1  解碼器（35）</vt:lpstr>
      <vt:lpstr>3.3.1  解碼器（36）</vt:lpstr>
      <vt:lpstr>3.3.1  解碼器（37）</vt:lpstr>
      <vt:lpstr>3.3.1  解碼器（39）</vt:lpstr>
      <vt:lpstr>Présentation PowerPoint</vt:lpstr>
      <vt:lpstr>3.3.1  解碼器（40）</vt:lpstr>
      <vt:lpstr>3.3.1  解碼器（41）</vt:lpstr>
      <vt:lpstr>3.3.1  解碼器（41）</vt:lpstr>
      <vt:lpstr>3.3.1  解碼器（41）</vt:lpstr>
      <vt:lpstr>二級解碼</vt:lpstr>
      <vt:lpstr>二級解碼</vt:lpstr>
      <vt:lpstr>Présentation PowerPoint</vt:lpstr>
      <vt:lpstr>3.3.1  解碼器（42） ——變數解碼器小結</vt:lpstr>
      <vt:lpstr>3.3.1  解碼器（43）</vt:lpstr>
      <vt:lpstr>3.3.1  解碼器（44）</vt:lpstr>
      <vt:lpstr>3.3.1  解碼器（45）</vt:lpstr>
      <vt:lpstr>3.3.1  解碼器（46）</vt:lpstr>
      <vt:lpstr>3.3.1  解碼器（47）</vt:lpstr>
      <vt:lpstr>3.3.1  解碼器（48）</vt:lpstr>
      <vt:lpstr>3.3.1  解碼器（49）</vt:lpstr>
      <vt:lpstr>3.3.1  解碼器（50）</vt:lpstr>
      <vt:lpstr>3.3.1  解碼器（51）</vt:lpstr>
      <vt:lpstr>3.3.1  解碼器（52）</vt:lpstr>
      <vt:lpstr>3.3.1  解碼器（53）</vt:lpstr>
      <vt:lpstr>3.3.1  解碼器（54）</vt:lpstr>
      <vt:lpstr>3.3.1  解碼器（55）</vt:lpstr>
      <vt:lpstr>3.3.1  解碼器（56）</vt:lpstr>
      <vt:lpstr>3.3.1  解碼器（57）</vt:lpstr>
      <vt:lpstr>3.3.1  解碼器（58）</vt:lpstr>
      <vt:lpstr>3.3.1  解碼器（59）</vt:lpstr>
      <vt:lpstr>3.3.1  解碼器（60）</vt:lpstr>
      <vt:lpstr>3.3.1  解碼器（61）</vt:lpstr>
      <vt:lpstr>3.3.1  解碼器（63） ——小結</vt:lpstr>
      <vt:lpstr>3.3  常用的中規模組合邏輯電路</vt:lpstr>
      <vt:lpstr>3.3.2  資料選擇器(1)</vt:lpstr>
      <vt:lpstr>3.3.2  資料選擇器(2)</vt:lpstr>
      <vt:lpstr>3.3.2  資料選擇器(3)</vt:lpstr>
      <vt:lpstr>3.3.2  資料選擇器(4)</vt:lpstr>
      <vt:lpstr>3.3.2  資料選擇器(5)</vt:lpstr>
      <vt:lpstr>Présentation PowerPoint</vt:lpstr>
      <vt:lpstr>選擇器擴展：用雙4選1選擇器(無使能端)                      擴展成16選1選擇器</vt:lpstr>
      <vt:lpstr>選擇器擴展：用雙4選1選擇器(有使能端)                      擴展成16選1選擇器</vt:lpstr>
      <vt:lpstr>3.3.3  資料選擇器(6)</vt:lpstr>
      <vt:lpstr>3.3.2  資料選擇器(7)</vt:lpstr>
      <vt:lpstr>3.3.2  資料選擇器(8)</vt:lpstr>
      <vt:lpstr>3.3.2  資料選擇器(9)</vt:lpstr>
      <vt:lpstr>3.3.2  資料選擇器(10)</vt:lpstr>
      <vt:lpstr>3.3.2  資料選擇器(11)</vt:lpstr>
      <vt:lpstr>3.3.2  資料選擇器(12)</vt:lpstr>
      <vt:lpstr>3.3.2  資料選擇器(13)</vt:lpstr>
      <vt:lpstr>Présentation PowerPoint</vt:lpstr>
      <vt:lpstr>Présentation PowerPoint</vt:lpstr>
      <vt:lpstr>Présentation PowerPoint</vt:lpstr>
      <vt:lpstr>Présentation PowerPoint</vt:lpstr>
    </vt:vector>
  </TitlesOfParts>
  <Company>cs-lab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逻辑代数及逻辑函数的化简</dc:title>
  <dc:creator>cs-lab23</dc:creator>
  <cp:lastModifiedBy>Terry C.</cp:lastModifiedBy>
  <cp:revision>368</cp:revision>
  <dcterms:created xsi:type="dcterms:W3CDTF">2002-01-07T08:53:03Z</dcterms:created>
  <dcterms:modified xsi:type="dcterms:W3CDTF">2025-03-22T14:17:46Z</dcterms:modified>
</cp:coreProperties>
</file>